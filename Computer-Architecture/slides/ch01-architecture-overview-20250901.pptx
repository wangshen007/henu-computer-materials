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66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044775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044775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82853" y="706247"/>
            <a:ext cx="11291570" cy="0"/>
          </a:xfrm>
          <a:custGeom>
            <a:avLst/>
            <a:gdLst/>
            <a:ahLst/>
            <a:cxnLst/>
            <a:rect l="l" t="t" r="r" b="b"/>
            <a:pathLst>
              <a:path w="11291570">
                <a:moveTo>
                  <a:pt x="0" y="0"/>
                </a:moveTo>
                <a:lnTo>
                  <a:pt x="11290985" y="0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4360" y="331597"/>
            <a:ext cx="280670" cy="274955"/>
          </a:xfrm>
          <a:custGeom>
            <a:avLst/>
            <a:gdLst/>
            <a:ahLst/>
            <a:cxnLst/>
            <a:rect l="l" t="t" r="r" b="b"/>
            <a:pathLst>
              <a:path w="280670" h="274955">
                <a:moveTo>
                  <a:pt x="67360" y="0"/>
                </a:moveTo>
                <a:lnTo>
                  <a:pt x="2806" y="41528"/>
                </a:lnTo>
                <a:lnTo>
                  <a:pt x="148742" y="135508"/>
                </a:lnTo>
                <a:lnTo>
                  <a:pt x="0" y="231266"/>
                </a:lnTo>
                <a:lnTo>
                  <a:pt x="67360" y="274700"/>
                </a:lnTo>
                <a:lnTo>
                  <a:pt x="280657" y="137287"/>
                </a:lnTo>
                <a:lnTo>
                  <a:pt x="67360" y="0"/>
                </a:lnTo>
                <a:close/>
              </a:path>
            </a:pathLst>
          </a:custGeom>
          <a:solidFill>
            <a:srgbClr val="005D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552" y="331597"/>
            <a:ext cx="280035" cy="274955"/>
          </a:xfrm>
          <a:custGeom>
            <a:avLst/>
            <a:gdLst/>
            <a:ahLst/>
            <a:cxnLst/>
            <a:rect l="l" t="t" r="r" b="b"/>
            <a:pathLst>
              <a:path w="280034" h="274955">
                <a:moveTo>
                  <a:pt x="67233" y="0"/>
                </a:moveTo>
                <a:lnTo>
                  <a:pt x="2806" y="41528"/>
                </a:lnTo>
                <a:lnTo>
                  <a:pt x="148462" y="135508"/>
                </a:lnTo>
                <a:lnTo>
                  <a:pt x="0" y="231266"/>
                </a:lnTo>
                <a:lnTo>
                  <a:pt x="67233" y="274700"/>
                </a:lnTo>
                <a:lnTo>
                  <a:pt x="279425" y="137287"/>
                </a:lnTo>
                <a:lnTo>
                  <a:pt x="67233" y="0"/>
                </a:lnTo>
                <a:close/>
              </a:path>
            </a:pathLst>
          </a:custGeom>
          <a:solidFill>
            <a:srgbClr val="3992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72439" y="331597"/>
            <a:ext cx="280035" cy="274955"/>
          </a:xfrm>
          <a:custGeom>
            <a:avLst/>
            <a:gdLst/>
            <a:ahLst/>
            <a:cxnLst/>
            <a:rect l="l" t="t" r="r" b="b"/>
            <a:pathLst>
              <a:path w="280034" h="274955">
                <a:moveTo>
                  <a:pt x="66535" y="0"/>
                </a:moveTo>
                <a:lnTo>
                  <a:pt x="2806" y="41528"/>
                </a:lnTo>
                <a:lnTo>
                  <a:pt x="148463" y="135508"/>
                </a:lnTo>
                <a:lnTo>
                  <a:pt x="0" y="231266"/>
                </a:lnTo>
                <a:lnTo>
                  <a:pt x="66535" y="274700"/>
                </a:lnTo>
                <a:lnTo>
                  <a:pt x="279425" y="137287"/>
                </a:lnTo>
                <a:lnTo>
                  <a:pt x="66535" y="0"/>
                </a:lnTo>
                <a:close/>
              </a:path>
            </a:pathLst>
          </a:custGeom>
          <a:solidFill>
            <a:srgbClr val="F79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6474002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9648444" y="0"/>
                </a:lnTo>
                <a:lnTo>
                  <a:pt x="0" y="0"/>
                </a:lnTo>
                <a:lnTo>
                  <a:pt x="0" y="383997"/>
                </a:lnTo>
                <a:lnTo>
                  <a:pt x="9648444" y="383997"/>
                </a:lnTo>
                <a:lnTo>
                  <a:pt x="12192000" y="3839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044775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49082" y="2050745"/>
            <a:ext cx="4476750" cy="3546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044775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4360" y="331597"/>
            <a:ext cx="280670" cy="274955"/>
          </a:xfrm>
          <a:custGeom>
            <a:avLst/>
            <a:gdLst/>
            <a:ahLst/>
            <a:cxnLst/>
            <a:rect l="l" t="t" r="r" b="b"/>
            <a:pathLst>
              <a:path w="280670" h="274955">
                <a:moveTo>
                  <a:pt x="67360" y="0"/>
                </a:moveTo>
                <a:lnTo>
                  <a:pt x="2806" y="41528"/>
                </a:lnTo>
                <a:lnTo>
                  <a:pt x="148742" y="135508"/>
                </a:lnTo>
                <a:lnTo>
                  <a:pt x="0" y="231266"/>
                </a:lnTo>
                <a:lnTo>
                  <a:pt x="67360" y="274700"/>
                </a:lnTo>
                <a:lnTo>
                  <a:pt x="280657" y="137287"/>
                </a:lnTo>
                <a:lnTo>
                  <a:pt x="67360" y="0"/>
                </a:lnTo>
                <a:close/>
              </a:path>
            </a:pathLst>
          </a:custGeom>
          <a:solidFill>
            <a:srgbClr val="005D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06552" y="331597"/>
            <a:ext cx="280035" cy="274955"/>
          </a:xfrm>
          <a:custGeom>
            <a:avLst/>
            <a:gdLst/>
            <a:ahLst/>
            <a:cxnLst/>
            <a:rect l="l" t="t" r="r" b="b"/>
            <a:pathLst>
              <a:path w="280034" h="274955">
                <a:moveTo>
                  <a:pt x="67233" y="0"/>
                </a:moveTo>
                <a:lnTo>
                  <a:pt x="2806" y="41528"/>
                </a:lnTo>
                <a:lnTo>
                  <a:pt x="148462" y="135508"/>
                </a:lnTo>
                <a:lnTo>
                  <a:pt x="0" y="231266"/>
                </a:lnTo>
                <a:lnTo>
                  <a:pt x="67233" y="274700"/>
                </a:lnTo>
                <a:lnTo>
                  <a:pt x="279425" y="137287"/>
                </a:lnTo>
                <a:lnTo>
                  <a:pt x="67233" y="0"/>
                </a:lnTo>
                <a:close/>
              </a:path>
            </a:pathLst>
          </a:custGeom>
          <a:solidFill>
            <a:srgbClr val="3992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72439" y="331597"/>
            <a:ext cx="280035" cy="274955"/>
          </a:xfrm>
          <a:custGeom>
            <a:avLst/>
            <a:gdLst/>
            <a:ahLst/>
            <a:cxnLst/>
            <a:rect l="l" t="t" r="r" b="b"/>
            <a:pathLst>
              <a:path w="280034" h="274955">
                <a:moveTo>
                  <a:pt x="66535" y="0"/>
                </a:moveTo>
                <a:lnTo>
                  <a:pt x="2806" y="41528"/>
                </a:lnTo>
                <a:lnTo>
                  <a:pt x="148463" y="135508"/>
                </a:lnTo>
                <a:lnTo>
                  <a:pt x="0" y="231266"/>
                </a:lnTo>
                <a:lnTo>
                  <a:pt x="66535" y="274700"/>
                </a:lnTo>
                <a:lnTo>
                  <a:pt x="279425" y="137287"/>
                </a:lnTo>
                <a:lnTo>
                  <a:pt x="66535" y="0"/>
                </a:lnTo>
                <a:close/>
              </a:path>
            </a:pathLst>
          </a:custGeom>
          <a:solidFill>
            <a:srgbClr val="F79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6474002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9648444" y="0"/>
                </a:lnTo>
                <a:lnTo>
                  <a:pt x="0" y="0"/>
                </a:lnTo>
                <a:lnTo>
                  <a:pt x="0" y="383997"/>
                </a:lnTo>
                <a:lnTo>
                  <a:pt x="9648444" y="383997"/>
                </a:lnTo>
                <a:lnTo>
                  <a:pt x="12192000" y="3839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0153" y="150368"/>
            <a:ext cx="11316970" cy="6365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044775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8151" y="1479377"/>
            <a:ext cx="5093335" cy="397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u="heavy" spc="25" dirty="0">
                <a:uFill>
                  <a:solidFill>
                    <a:srgbClr val="7E7E7E"/>
                  </a:solidFill>
                </a:uFill>
              </a:rPr>
              <a:t>  </a:t>
            </a:r>
            <a:r>
              <a:rPr u="heavy" dirty="0">
                <a:uFill>
                  <a:solidFill>
                    <a:srgbClr val="7E7E7E"/>
                  </a:solidFill>
                </a:uFill>
              </a:rPr>
              <a:t>章节目</a:t>
            </a:r>
            <a:r>
              <a:rPr u="heavy" spc="-50" dirty="0">
                <a:uFill>
                  <a:solidFill>
                    <a:srgbClr val="7E7E7E"/>
                  </a:solidFill>
                </a:uFill>
              </a:rPr>
              <a:t>录</a:t>
            </a:r>
            <a:r>
              <a:rPr u="heavy" dirty="0">
                <a:uFill>
                  <a:solidFill>
                    <a:srgbClr val="7E7E7E"/>
                  </a:solidFill>
                </a:uFill>
              </a:rPr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23057" y="1652142"/>
            <a:ext cx="570865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23900" lvl="1" indent="-711200">
              <a:lnSpc>
                <a:spcPct val="100000"/>
              </a:lnSpc>
              <a:spcBef>
                <a:spcPts val="95"/>
              </a:spcBef>
              <a:buClr>
                <a:srgbClr val="000000"/>
              </a:buClr>
              <a:buAutoNum type="arabicPeriod"/>
              <a:tabLst>
                <a:tab pos="723900" algn="l"/>
              </a:tabLst>
            </a:pPr>
            <a:r>
              <a:rPr sz="2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微软雅黑"/>
                <a:cs typeface="微软雅黑"/>
                <a:hlinkClick r:id="rId2" action="ppaction://hlinksldjump"/>
              </a:rPr>
              <a:t>计算机系统结构的基本概念</a:t>
            </a:r>
            <a:endParaRPr sz="2800">
              <a:latin typeface="微软雅黑"/>
              <a:cs typeface="微软雅黑"/>
            </a:endParaRPr>
          </a:p>
          <a:p>
            <a:pPr marL="723900" lvl="1" indent="-711200">
              <a:lnSpc>
                <a:spcPct val="100000"/>
              </a:lnSpc>
              <a:spcBef>
                <a:spcPts val="3360"/>
              </a:spcBef>
              <a:buClr>
                <a:srgbClr val="000000"/>
              </a:buClr>
              <a:buAutoNum type="arabicPeriod"/>
              <a:tabLst>
                <a:tab pos="723900" algn="l"/>
              </a:tabLst>
            </a:pPr>
            <a:r>
              <a:rPr sz="2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微软雅黑"/>
                <a:cs typeface="微软雅黑"/>
              </a:rPr>
              <a:t>计算机系统的设计</a:t>
            </a:r>
            <a:endParaRPr sz="2800">
              <a:latin typeface="微软雅黑"/>
              <a:cs typeface="微软雅黑"/>
            </a:endParaRPr>
          </a:p>
          <a:p>
            <a:pPr marL="723900" lvl="1" indent="-711200">
              <a:lnSpc>
                <a:spcPct val="100000"/>
              </a:lnSpc>
              <a:spcBef>
                <a:spcPts val="3360"/>
              </a:spcBef>
              <a:buClr>
                <a:srgbClr val="000000"/>
              </a:buClr>
              <a:buAutoNum type="arabicPeriod"/>
              <a:tabLst>
                <a:tab pos="723900" algn="l"/>
              </a:tabLst>
            </a:pPr>
            <a:r>
              <a:rPr sz="2800" u="sng" spc="-4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微软雅黑"/>
                <a:cs typeface="微软雅黑"/>
              </a:rPr>
              <a:t>计算机系统的性能评测</a:t>
            </a:r>
            <a:endParaRPr sz="2800">
              <a:latin typeface="微软雅黑"/>
              <a:cs typeface="微软雅黑"/>
            </a:endParaRPr>
          </a:p>
          <a:p>
            <a:pPr marL="723900" lvl="1" indent="-711200">
              <a:lnSpc>
                <a:spcPct val="100000"/>
              </a:lnSpc>
              <a:spcBef>
                <a:spcPts val="3365"/>
              </a:spcBef>
              <a:buClr>
                <a:srgbClr val="000000"/>
              </a:buClr>
              <a:buAutoNum type="arabicPeriod"/>
              <a:tabLst>
                <a:tab pos="723900" algn="l"/>
              </a:tabLst>
            </a:pPr>
            <a:r>
              <a:rPr sz="2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微软雅黑"/>
                <a:cs typeface="微软雅黑"/>
              </a:rPr>
              <a:t>计算机系统结构的发展</a:t>
            </a:r>
            <a:endParaRPr sz="2800">
              <a:latin typeface="微软雅黑"/>
              <a:cs typeface="微软雅黑"/>
            </a:endParaRPr>
          </a:p>
          <a:p>
            <a:pPr marL="723900" lvl="1" indent="-711200">
              <a:lnSpc>
                <a:spcPct val="100000"/>
              </a:lnSpc>
              <a:spcBef>
                <a:spcPts val="3360"/>
              </a:spcBef>
              <a:buClr>
                <a:srgbClr val="000000"/>
              </a:buClr>
              <a:buAutoNum type="arabicPeriod"/>
              <a:tabLst>
                <a:tab pos="723900" algn="l"/>
              </a:tabLst>
            </a:pPr>
            <a:r>
              <a:rPr sz="2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微软雅黑"/>
                <a:cs typeface="微软雅黑"/>
              </a:rPr>
              <a:t>计算机系统结构中并行性的发展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2853" y="706247"/>
            <a:ext cx="11291570" cy="0"/>
          </a:xfrm>
          <a:custGeom>
            <a:avLst/>
            <a:gdLst/>
            <a:ahLst/>
            <a:cxnLst/>
            <a:rect l="l" t="t" r="r" b="b"/>
            <a:pathLst>
              <a:path w="11291570">
                <a:moveTo>
                  <a:pt x="0" y="0"/>
                </a:moveTo>
                <a:lnTo>
                  <a:pt x="11290985" y="0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4360" y="331597"/>
            <a:ext cx="807720" cy="274955"/>
            <a:chOff x="144360" y="331597"/>
            <a:chExt cx="807720" cy="274955"/>
          </a:xfrm>
        </p:grpSpPr>
        <p:sp>
          <p:nvSpPr>
            <p:cNvPr id="4" name="object 4"/>
            <p:cNvSpPr/>
            <p:nvPr/>
          </p:nvSpPr>
          <p:spPr>
            <a:xfrm>
              <a:off x="144360" y="331597"/>
              <a:ext cx="280670" cy="274955"/>
            </a:xfrm>
            <a:custGeom>
              <a:avLst/>
              <a:gdLst/>
              <a:ahLst/>
              <a:cxnLst/>
              <a:rect l="l" t="t" r="r" b="b"/>
              <a:pathLst>
                <a:path w="280670" h="274955">
                  <a:moveTo>
                    <a:pt x="67360" y="0"/>
                  </a:moveTo>
                  <a:lnTo>
                    <a:pt x="2806" y="41528"/>
                  </a:lnTo>
                  <a:lnTo>
                    <a:pt x="148742" y="135508"/>
                  </a:lnTo>
                  <a:lnTo>
                    <a:pt x="0" y="231266"/>
                  </a:lnTo>
                  <a:lnTo>
                    <a:pt x="67360" y="274700"/>
                  </a:lnTo>
                  <a:lnTo>
                    <a:pt x="280657" y="137287"/>
                  </a:lnTo>
                  <a:lnTo>
                    <a:pt x="67360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552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7233" y="0"/>
                  </a:moveTo>
                  <a:lnTo>
                    <a:pt x="2806" y="41528"/>
                  </a:lnTo>
                  <a:lnTo>
                    <a:pt x="148462" y="135508"/>
                  </a:lnTo>
                  <a:lnTo>
                    <a:pt x="0" y="231266"/>
                  </a:lnTo>
                  <a:lnTo>
                    <a:pt x="67233" y="274700"/>
                  </a:lnTo>
                  <a:lnTo>
                    <a:pt x="279425" y="137287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2439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6535" y="0"/>
                  </a:moveTo>
                  <a:lnTo>
                    <a:pt x="2806" y="41528"/>
                  </a:lnTo>
                  <a:lnTo>
                    <a:pt x="148463" y="135508"/>
                  </a:lnTo>
                  <a:lnTo>
                    <a:pt x="0" y="231266"/>
                  </a:lnTo>
                  <a:lnTo>
                    <a:pt x="66535" y="274700"/>
                  </a:lnTo>
                  <a:lnTo>
                    <a:pt x="279425" y="137287"/>
                  </a:lnTo>
                  <a:lnTo>
                    <a:pt x="66535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6474002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9648444" y="0"/>
                </a:lnTo>
                <a:lnTo>
                  <a:pt x="0" y="0"/>
                </a:lnTo>
                <a:lnTo>
                  <a:pt x="0" y="383997"/>
                </a:lnTo>
                <a:lnTo>
                  <a:pt x="9648444" y="383997"/>
                </a:lnTo>
                <a:lnTo>
                  <a:pt x="12192000" y="3839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99819" y="150368"/>
            <a:ext cx="56184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3900" algn="l"/>
              </a:tabLst>
            </a:pPr>
            <a:r>
              <a:rPr u="none" spc="-25" dirty="0">
                <a:latin typeface="Times New Roman"/>
                <a:cs typeface="Times New Roman"/>
              </a:rPr>
              <a:t>1.1</a:t>
            </a:r>
            <a:r>
              <a:rPr u="none" dirty="0">
                <a:latin typeface="Times New Roman"/>
                <a:cs typeface="Times New Roman"/>
              </a:rPr>
              <a:t>	</a:t>
            </a:r>
            <a:r>
              <a:rPr u="none" spc="-10" dirty="0"/>
              <a:t>计算机系统结构的基本概念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79030" y="218948"/>
            <a:ext cx="4465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sz="2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1.1.1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800" b="1" spc="-40" dirty="0">
                <a:solidFill>
                  <a:srgbClr val="006FC0"/>
                </a:solidFill>
                <a:latin typeface="微软雅黑"/>
                <a:cs typeface="微软雅黑"/>
              </a:rPr>
              <a:t>计算机系统的层次结构</a:t>
            </a:r>
            <a:endParaRPr sz="2800">
              <a:latin typeface="微软雅黑"/>
              <a:cs typeface="微软雅黑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663055" y="867248"/>
            <a:ext cx="5547995" cy="3723004"/>
            <a:chOff x="6663055" y="867248"/>
            <a:chExt cx="5547995" cy="3723004"/>
          </a:xfrm>
        </p:grpSpPr>
        <p:sp>
          <p:nvSpPr>
            <p:cNvPr id="11" name="object 11"/>
            <p:cNvSpPr/>
            <p:nvPr/>
          </p:nvSpPr>
          <p:spPr>
            <a:xfrm>
              <a:off x="6682105" y="4535931"/>
              <a:ext cx="5509895" cy="34925"/>
            </a:xfrm>
            <a:custGeom>
              <a:avLst/>
              <a:gdLst/>
              <a:ahLst/>
              <a:cxnLst/>
              <a:rect l="l" t="t" r="r" b="b"/>
              <a:pathLst>
                <a:path w="5509895" h="34925">
                  <a:moveTo>
                    <a:pt x="0" y="34925"/>
                  </a:moveTo>
                  <a:lnTo>
                    <a:pt x="5509895" y="0"/>
                  </a:lnTo>
                </a:path>
              </a:pathLst>
            </a:custGeom>
            <a:ln w="3810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52716" y="876138"/>
              <a:ext cx="4022725" cy="575310"/>
            </a:xfrm>
            <a:custGeom>
              <a:avLst/>
              <a:gdLst/>
              <a:ahLst/>
              <a:cxnLst/>
              <a:rect l="l" t="t" r="r" b="b"/>
              <a:pathLst>
                <a:path w="4022725" h="575310">
                  <a:moveTo>
                    <a:pt x="4022141" y="0"/>
                  </a:moveTo>
                  <a:lnTo>
                    <a:pt x="0" y="0"/>
                  </a:lnTo>
                  <a:lnTo>
                    <a:pt x="0" y="575139"/>
                  </a:lnTo>
                  <a:lnTo>
                    <a:pt x="4022141" y="575139"/>
                  </a:lnTo>
                  <a:lnTo>
                    <a:pt x="4022141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52716" y="876138"/>
              <a:ext cx="4022725" cy="575310"/>
            </a:xfrm>
            <a:custGeom>
              <a:avLst/>
              <a:gdLst/>
              <a:ahLst/>
              <a:cxnLst/>
              <a:rect l="l" t="t" r="r" b="b"/>
              <a:pathLst>
                <a:path w="4022725" h="575310">
                  <a:moveTo>
                    <a:pt x="0" y="575139"/>
                  </a:moveTo>
                  <a:lnTo>
                    <a:pt x="4022141" y="575139"/>
                  </a:lnTo>
                  <a:lnTo>
                    <a:pt x="4022141" y="0"/>
                  </a:lnTo>
                  <a:lnTo>
                    <a:pt x="0" y="0"/>
                  </a:lnTo>
                  <a:lnTo>
                    <a:pt x="0" y="575139"/>
                  </a:lnTo>
                  <a:close/>
                </a:path>
              </a:pathLst>
            </a:custGeom>
            <a:ln w="177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861593" y="987356"/>
            <a:ext cx="400494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10"/>
              </a:spcBef>
            </a:pPr>
            <a:r>
              <a:rPr sz="2050" spc="-160" dirty="0">
                <a:latin typeface="宋体"/>
                <a:cs typeface="宋体"/>
              </a:rPr>
              <a:t>第 </a:t>
            </a:r>
            <a:r>
              <a:rPr sz="2050" b="1" dirty="0">
                <a:latin typeface="Times New Roman"/>
                <a:cs typeface="Times New Roman"/>
              </a:rPr>
              <a:t>6</a:t>
            </a:r>
            <a:r>
              <a:rPr sz="2050" b="1" spc="10" dirty="0">
                <a:latin typeface="Times New Roman"/>
                <a:cs typeface="Times New Roman"/>
              </a:rPr>
              <a:t> </a:t>
            </a:r>
            <a:r>
              <a:rPr sz="2050" spc="55" dirty="0">
                <a:latin typeface="宋体"/>
                <a:cs typeface="宋体"/>
              </a:rPr>
              <a:t>级：应用语言机器</a:t>
            </a:r>
            <a:endParaRPr sz="2050">
              <a:latin typeface="宋体"/>
              <a:cs typeface="宋体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737237" y="1445316"/>
            <a:ext cx="112395" cy="405130"/>
            <a:chOff x="9737237" y="1445316"/>
            <a:chExt cx="112395" cy="405130"/>
          </a:xfrm>
        </p:grpSpPr>
        <p:sp>
          <p:nvSpPr>
            <p:cNvPr id="16" name="object 16"/>
            <p:cNvSpPr/>
            <p:nvPr/>
          </p:nvSpPr>
          <p:spPr>
            <a:xfrm>
              <a:off x="9740412" y="1448808"/>
              <a:ext cx="106045" cy="398145"/>
            </a:xfrm>
            <a:custGeom>
              <a:avLst/>
              <a:gdLst/>
              <a:ahLst/>
              <a:cxnLst/>
              <a:rect l="l" t="t" r="r" b="b"/>
              <a:pathLst>
                <a:path w="106045" h="398144">
                  <a:moveTo>
                    <a:pt x="0" y="249416"/>
                  </a:moveTo>
                  <a:lnTo>
                    <a:pt x="55955" y="398078"/>
                  </a:lnTo>
                  <a:lnTo>
                    <a:pt x="83798" y="314610"/>
                  </a:lnTo>
                  <a:lnTo>
                    <a:pt x="55955" y="314610"/>
                  </a:lnTo>
                  <a:lnTo>
                    <a:pt x="49590" y="308930"/>
                  </a:lnTo>
                  <a:lnTo>
                    <a:pt x="43224" y="308930"/>
                  </a:lnTo>
                  <a:lnTo>
                    <a:pt x="43224" y="286042"/>
                  </a:lnTo>
                  <a:lnTo>
                    <a:pt x="0" y="249416"/>
                  </a:lnTo>
                  <a:close/>
                </a:path>
                <a:path w="106045" h="398144">
                  <a:moveTo>
                    <a:pt x="55955" y="308930"/>
                  </a:moveTo>
                  <a:lnTo>
                    <a:pt x="49590" y="308930"/>
                  </a:lnTo>
                  <a:lnTo>
                    <a:pt x="55955" y="314610"/>
                  </a:lnTo>
                  <a:lnTo>
                    <a:pt x="55955" y="308930"/>
                  </a:lnTo>
                  <a:close/>
                </a:path>
                <a:path w="106045" h="398144">
                  <a:moveTo>
                    <a:pt x="105545" y="249416"/>
                  </a:moveTo>
                  <a:lnTo>
                    <a:pt x="68019" y="285295"/>
                  </a:lnTo>
                  <a:lnTo>
                    <a:pt x="68019" y="303003"/>
                  </a:lnTo>
                  <a:lnTo>
                    <a:pt x="62295" y="308930"/>
                  </a:lnTo>
                  <a:lnTo>
                    <a:pt x="55955" y="308930"/>
                  </a:lnTo>
                  <a:lnTo>
                    <a:pt x="55955" y="314610"/>
                  </a:lnTo>
                  <a:lnTo>
                    <a:pt x="83798" y="314610"/>
                  </a:lnTo>
                  <a:lnTo>
                    <a:pt x="105545" y="249416"/>
                  </a:lnTo>
                  <a:close/>
                </a:path>
                <a:path w="106045" h="398144">
                  <a:moveTo>
                    <a:pt x="43224" y="286042"/>
                  </a:moveTo>
                  <a:lnTo>
                    <a:pt x="43224" y="308930"/>
                  </a:lnTo>
                  <a:lnTo>
                    <a:pt x="62295" y="308930"/>
                  </a:lnTo>
                  <a:lnTo>
                    <a:pt x="68019" y="303003"/>
                  </a:lnTo>
                  <a:lnTo>
                    <a:pt x="68019" y="296830"/>
                  </a:lnTo>
                  <a:lnTo>
                    <a:pt x="55955" y="296830"/>
                  </a:lnTo>
                  <a:lnTo>
                    <a:pt x="43224" y="286042"/>
                  </a:lnTo>
                  <a:close/>
                </a:path>
                <a:path w="106045" h="398144">
                  <a:moveTo>
                    <a:pt x="55955" y="0"/>
                  </a:moveTo>
                  <a:lnTo>
                    <a:pt x="49590" y="0"/>
                  </a:lnTo>
                  <a:lnTo>
                    <a:pt x="43224" y="6173"/>
                  </a:lnTo>
                  <a:lnTo>
                    <a:pt x="43224" y="286042"/>
                  </a:lnTo>
                  <a:lnTo>
                    <a:pt x="55955" y="296830"/>
                  </a:lnTo>
                  <a:lnTo>
                    <a:pt x="68019" y="285295"/>
                  </a:lnTo>
                  <a:lnTo>
                    <a:pt x="68019" y="6173"/>
                  </a:lnTo>
                  <a:lnTo>
                    <a:pt x="62295" y="6173"/>
                  </a:lnTo>
                  <a:lnTo>
                    <a:pt x="55955" y="0"/>
                  </a:lnTo>
                  <a:close/>
                </a:path>
                <a:path w="106045" h="398144">
                  <a:moveTo>
                    <a:pt x="68019" y="285295"/>
                  </a:moveTo>
                  <a:lnTo>
                    <a:pt x="55955" y="296830"/>
                  </a:lnTo>
                  <a:lnTo>
                    <a:pt x="68019" y="296830"/>
                  </a:lnTo>
                  <a:lnTo>
                    <a:pt x="68019" y="285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40412" y="1448808"/>
              <a:ext cx="106045" cy="398145"/>
            </a:xfrm>
            <a:custGeom>
              <a:avLst/>
              <a:gdLst/>
              <a:ahLst/>
              <a:cxnLst/>
              <a:rect l="l" t="t" r="r" b="b"/>
              <a:pathLst>
                <a:path w="106045" h="398144">
                  <a:moveTo>
                    <a:pt x="68019" y="12347"/>
                  </a:moveTo>
                  <a:lnTo>
                    <a:pt x="68019" y="296830"/>
                  </a:lnTo>
                  <a:lnTo>
                    <a:pt x="68019" y="303003"/>
                  </a:lnTo>
                  <a:lnTo>
                    <a:pt x="62295" y="308930"/>
                  </a:lnTo>
                  <a:lnTo>
                    <a:pt x="55955" y="308930"/>
                  </a:lnTo>
                  <a:lnTo>
                    <a:pt x="55955" y="314610"/>
                  </a:lnTo>
                  <a:lnTo>
                    <a:pt x="49590" y="308930"/>
                  </a:lnTo>
                  <a:lnTo>
                    <a:pt x="43224" y="308930"/>
                  </a:lnTo>
                  <a:lnTo>
                    <a:pt x="43224" y="303003"/>
                  </a:lnTo>
                  <a:lnTo>
                    <a:pt x="43224" y="296830"/>
                  </a:lnTo>
                  <a:lnTo>
                    <a:pt x="43224" y="12347"/>
                  </a:lnTo>
                  <a:lnTo>
                    <a:pt x="43224" y="6173"/>
                  </a:lnTo>
                  <a:lnTo>
                    <a:pt x="49590" y="0"/>
                  </a:lnTo>
                  <a:lnTo>
                    <a:pt x="55955" y="0"/>
                  </a:lnTo>
                  <a:lnTo>
                    <a:pt x="62295" y="6173"/>
                  </a:lnTo>
                  <a:lnTo>
                    <a:pt x="68019" y="6173"/>
                  </a:lnTo>
                  <a:lnTo>
                    <a:pt x="68019" y="12347"/>
                  </a:lnTo>
                  <a:close/>
                </a:path>
                <a:path w="106045" h="398144">
                  <a:moveTo>
                    <a:pt x="55955" y="296830"/>
                  </a:moveTo>
                  <a:lnTo>
                    <a:pt x="105545" y="249416"/>
                  </a:lnTo>
                  <a:lnTo>
                    <a:pt x="55955" y="398078"/>
                  </a:lnTo>
                  <a:lnTo>
                    <a:pt x="0" y="249416"/>
                  </a:lnTo>
                  <a:lnTo>
                    <a:pt x="55955" y="296830"/>
                  </a:lnTo>
                  <a:close/>
                </a:path>
              </a:pathLst>
            </a:custGeom>
            <a:ln w="62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852716" y="1837083"/>
            <a:ext cx="4022725" cy="581660"/>
          </a:xfrm>
          <a:prstGeom prst="rect">
            <a:avLst/>
          </a:prstGeom>
          <a:solidFill>
            <a:srgbClr val="99FF66"/>
          </a:solidFill>
          <a:ln w="17754">
            <a:solidFill>
              <a:srgbClr val="000000"/>
            </a:solidFill>
          </a:ln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2050" spc="-160" dirty="0">
                <a:latin typeface="宋体"/>
                <a:cs typeface="宋体"/>
              </a:rPr>
              <a:t>第 </a:t>
            </a:r>
            <a:r>
              <a:rPr sz="2050" b="1" dirty="0">
                <a:latin typeface="Times New Roman"/>
                <a:cs typeface="Times New Roman"/>
              </a:rPr>
              <a:t>5</a:t>
            </a:r>
            <a:r>
              <a:rPr sz="2050" b="1" spc="10" dirty="0">
                <a:latin typeface="Times New Roman"/>
                <a:cs typeface="Times New Roman"/>
              </a:rPr>
              <a:t> </a:t>
            </a:r>
            <a:r>
              <a:rPr sz="2050" spc="55" dirty="0">
                <a:latin typeface="宋体"/>
                <a:cs typeface="宋体"/>
              </a:rPr>
              <a:t>级：高级语言机器</a:t>
            </a:r>
            <a:endParaRPr sz="2050">
              <a:latin typeface="宋体"/>
              <a:cs typeface="宋体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737272" y="2412675"/>
            <a:ext cx="112395" cy="403860"/>
            <a:chOff x="9737272" y="2412675"/>
            <a:chExt cx="112395" cy="403860"/>
          </a:xfrm>
        </p:grpSpPr>
        <p:sp>
          <p:nvSpPr>
            <p:cNvPr id="20" name="object 20"/>
            <p:cNvSpPr/>
            <p:nvPr/>
          </p:nvSpPr>
          <p:spPr>
            <a:xfrm>
              <a:off x="9740412" y="2415853"/>
              <a:ext cx="106045" cy="397510"/>
            </a:xfrm>
            <a:custGeom>
              <a:avLst/>
              <a:gdLst/>
              <a:ahLst/>
              <a:cxnLst/>
              <a:rect l="l" t="t" r="r" b="b"/>
              <a:pathLst>
                <a:path w="106045" h="397510">
                  <a:moveTo>
                    <a:pt x="0" y="249169"/>
                  </a:moveTo>
                  <a:lnTo>
                    <a:pt x="55955" y="397337"/>
                  </a:lnTo>
                  <a:lnTo>
                    <a:pt x="85792" y="308189"/>
                  </a:lnTo>
                  <a:lnTo>
                    <a:pt x="49590" y="308189"/>
                  </a:lnTo>
                  <a:lnTo>
                    <a:pt x="43224" y="302263"/>
                  </a:lnTo>
                  <a:lnTo>
                    <a:pt x="43224" y="285795"/>
                  </a:lnTo>
                  <a:lnTo>
                    <a:pt x="0" y="249169"/>
                  </a:lnTo>
                  <a:close/>
                </a:path>
                <a:path w="106045" h="397510">
                  <a:moveTo>
                    <a:pt x="43224" y="285795"/>
                  </a:moveTo>
                  <a:lnTo>
                    <a:pt x="43224" y="302263"/>
                  </a:lnTo>
                  <a:lnTo>
                    <a:pt x="49590" y="308189"/>
                  </a:lnTo>
                  <a:lnTo>
                    <a:pt x="55955" y="308189"/>
                  </a:lnTo>
                  <a:lnTo>
                    <a:pt x="62295" y="302263"/>
                  </a:lnTo>
                  <a:lnTo>
                    <a:pt x="68019" y="302263"/>
                  </a:lnTo>
                  <a:lnTo>
                    <a:pt x="68019" y="296583"/>
                  </a:lnTo>
                  <a:lnTo>
                    <a:pt x="55955" y="296583"/>
                  </a:lnTo>
                  <a:lnTo>
                    <a:pt x="43224" y="285795"/>
                  </a:lnTo>
                  <a:close/>
                </a:path>
                <a:path w="106045" h="397510">
                  <a:moveTo>
                    <a:pt x="105545" y="249169"/>
                  </a:moveTo>
                  <a:lnTo>
                    <a:pt x="68019" y="285048"/>
                  </a:lnTo>
                  <a:lnTo>
                    <a:pt x="68019" y="302263"/>
                  </a:lnTo>
                  <a:lnTo>
                    <a:pt x="62295" y="302263"/>
                  </a:lnTo>
                  <a:lnTo>
                    <a:pt x="55955" y="308189"/>
                  </a:lnTo>
                  <a:lnTo>
                    <a:pt x="85792" y="308189"/>
                  </a:lnTo>
                  <a:lnTo>
                    <a:pt x="105545" y="249169"/>
                  </a:lnTo>
                  <a:close/>
                </a:path>
                <a:path w="106045" h="397510">
                  <a:moveTo>
                    <a:pt x="62295" y="0"/>
                  </a:moveTo>
                  <a:lnTo>
                    <a:pt x="43224" y="0"/>
                  </a:lnTo>
                  <a:lnTo>
                    <a:pt x="43224" y="285795"/>
                  </a:lnTo>
                  <a:lnTo>
                    <a:pt x="55955" y="296583"/>
                  </a:lnTo>
                  <a:lnTo>
                    <a:pt x="68019" y="285048"/>
                  </a:lnTo>
                  <a:lnTo>
                    <a:pt x="68019" y="6173"/>
                  </a:lnTo>
                  <a:lnTo>
                    <a:pt x="62295" y="0"/>
                  </a:lnTo>
                  <a:close/>
                </a:path>
                <a:path w="106045" h="397510">
                  <a:moveTo>
                    <a:pt x="68019" y="285048"/>
                  </a:moveTo>
                  <a:lnTo>
                    <a:pt x="55955" y="296583"/>
                  </a:lnTo>
                  <a:lnTo>
                    <a:pt x="68019" y="296583"/>
                  </a:lnTo>
                  <a:lnTo>
                    <a:pt x="68019" y="285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740412" y="2415853"/>
              <a:ext cx="106045" cy="397510"/>
            </a:xfrm>
            <a:custGeom>
              <a:avLst/>
              <a:gdLst/>
              <a:ahLst/>
              <a:cxnLst/>
              <a:rect l="l" t="t" r="r" b="b"/>
              <a:pathLst>
                <a:path w="106045" h="397510">
                  <a:moveTo>
                    <a:pt x="68019" y="12100"/>
                  </a:moveTo>
                  <a:lnTo>
                    <a:pt x="68019" y="296583"/>
                  </a:lnTo>
                  <a:lnTo>
                    <a:pt x="68019" y="302263"/>
                  </a:lnTo>
                  <a:lnTo>
                    <a:pt x="62295" y="302263"/>
                  </a:lnTo>
                  <a:lnTo>
                    <a:pt x="55955" y="308189"/>
                  </a:lnTo>
                  <a:lnTo>
                    <a:pt x="49590" y="308189"/>
                  </a:lnTo>
                  <a:lnTo>
                    <a:pt x="43224" y="302263"/>
                  </a:lnTo>
                  <a:lnTo>
                    <a:pt x="43224" y="296583"/>
                  </a:lnTo>
                  <a:lnTo>
                    <a:pt x="43224" y="12100"/>
                  </a:lnTo>
                  <a:lnTo>
                    <a:pt x="43224" y="6173"/>
                  </a:lnTo>
                  <a:lnTo>
                    <a:pt x="43224" y="0"/>
                  </a:lnTo>
                  <a:lnTo>
                    <a:pt x="49590" y="0"/>
                  </a:lnTo>
                  <a:lnTo>
                    <a:pt x="55955" y="0"/>
                  </a:lnTo>
                  <a:lnTo>
                    <a:pt x="62295" y="0"/>
                  </a:lnTo>
                  <a:lnTo>
                    <a:pt x="68019" y="6173"/>
                  </a:lnTo>
                  <a:lnTo>
                    <a:pt x="68019" y="12100"/>
                  </a:lnTo>
                  <a:close/>
                </a:path>
                <a:path w="106045" h="397510">
                  <a:moveTo>
                    <a:pt x="55955" y="296583"/>
                  </a:moveTo>
                  <a:lnTo>
                    <a:pt x="105545" y="249169"/>
                  </a:lnTo>
                  <a:lnTo>
                    <a:pt x="55955" y="397337"/>
                  </a:lnTo>
                  <a:lnTo>
                    <a:pt x="0" y="249169"/>
                  </a:lnTo>
                  <a:lnTo>
                    <a:pt x="55955" y="296583"/>
                  </a:lnTo>
                  <a:close/>
                </a:path>
              </a:pathLst>
            </a:custGeom>
            <a:ln w="62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852716" y="2803436"/>
            <a:ext cx="4022725" cy="575945"/>
          </a:xfrm>
          <a:prstGeom prst="rect">
            <a:avLst/>
          </a:prstGeom>
          <a:solidFill>
            <a:srgbClr val="99FF66"/>
          </a:solidFill>
          <a:ln w="17754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85"/>
              </a:spcBef>
            </a:pPr>
            <a:r>
              <a:rPr sz="2050" spc="-160" dirty="0">
                <a:latin typeface="宋体"/>
                <a:cs typeface="宋体"/>
              </a:rPr>
              <a:t>第 </a:t>
            </a:r>
            <a:r>
              <a:rPr sz="2050" b="1" dirty="0">
                <a:latin typeface="Times New Roman"/>
                <a:cs typeface="Times New Roman"/>
              </a:rPr>
              <a:t>4</a:t>
            </a:r>
            <a:r>
              <a:rPr sz="2050" b="1" spc="10" dirty="0">
                <a:latin typeface="Times New Roman"/>
                <a:cs typeface="Times New Roman"/>
              </a:rPr>
              <a:t> </a:t>
            </a:r>
            <a:r>
              <a:rPr sz="2050" spc="55" dirty="0">
                <a:latin typeface="宋体"/>
                <a:cs typeface="宋体"/>
              </a:rPr>
              <a:t>级：汇编语言机器</a:t>
            </a:r>
            <a:endParaRPr sz="2050">
              <a:latin typeface="宋体"/>
              <a:cs typeface="宋体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737272" y="3373545"/>
            <a:ext cx="112395" cy="403860"/>
            <a:chOff x="9737272" y="3373545"/>
            <a:chExt cx="112395" cy="403860"/>
          </a:xfrm>
        </p:grpSpPr>
        <p:sp>
          <p:nvSpPr>
            <p:cNvPr id="24" name="object 24"/>
            <p:cNvSpPr/>
            <p:nvPr/>
          </p:nvSpPr>
          <p:spPr>
            <a:xfrm>
              <a:off x="9740412" y="3376723"/>
              <a:ext cx="106045" cy="397510"/>
            </a:xfrm>
            <a:custGeom>
              <a:avLst/>
              <a:gdLst/>
              <a:ahLst/>
              <a:cxnLst/>
              <a:rect l="l" t="t" r="r" b="b"/>
              <a:pathLst>
                <a:path w="106045" h="397510">
                  <a:moveTo>
                    <a:pt x="0" y="249169"/>
                  </a:moveTo>
                  <a:lnTo>
                    <a:pt x="55955" y="397090"/>
                  </a:lnTo>
                  <a:lnTo>
                    <a:pt x="83689" y="314363"/>
                  </a:lnTo>
                  <a:lnTo>
                    <a:pt x="55955" y="314363"/>
                  </a:lnTo>
                  <a:lnTo>
                    <a:pt x="49590" y="308189"/>
                  </a:lnTo>
                  <a:lnTo>
                    <a:pt x="43224" y="308189"/>
                  </a:lnTo>
                  <a:lnTo>
                    <a:pt x="43224" y="285795"/>
                  </a:lnTo>
                  <a:lnTo>
                    <a:pt x="0" y="249169"/>
                  </a:lnTo>
                  <a:close/>
                </a:path>
                <a:path w="106045" h="397510">
                  <a:moveTo>
                    <a:pt x="55955" y="308189"/>
                  </a:moveTo>
                  <a:lnTo>
                    <a:pt x="49590" y="308189"/>
                  </a:lnTo>
                  <a:lnTo>
                    <a:pt x="55955" y="314363"/>
                  </a:lnTo>
                  <a:lnTo>
                    <a:pt x="55955" y="308189"/>
                  </a:lnTo>
                  <a:close/>
                </a:path>
                <a:path w="106045" h="397510">
                  <a:moveTo>
                    <a:pt x="105545" y="249169"/>
                  </a:moveTo>
                  <a:lnTo>
                    <a:pt x="68019" y="285048"/>
                  </a:lnTo>
                  <a:lnTo>
                    <a:pt x="68019" y="302016"/>
                  </a:lnTo>
                  <a:lnTo>
                    <a:pt x="62295" y="308189"/>
                  </a:lnTo>
                  <a:lnTo>
                    <a:pt x="55955" y="308189"/>
                  </a:lnTo>
                  <a:lnTo>
                    <a:pt x="55955" y="314363"/>
                  </a:lnTo>
                  <a:lnTo>
                    <a:pt x="83689" y="314363"/>
                  </a:lnTo>
                  <a:lnTo>
                    <a:pt x="105545" y="249169"/>
                  </a:lnTo>
                  <a:close/>
                </a:path>
                <a:path w="106045" h="397510">
                  <a:moveTo>
                    <a:pt x="43224" y="285795"/>
                  </a:moveTo>
                  <a:lnTo>
                    <a:pt x="43224" y="308189"/>
                  </a:lnTo>
                  <a:lnTo>
                    <a:pt x="62295" y="308189"/>
                  </a:lnTo>
                  <a:lnTo>
                    <a:pt x="68019" y="302016"/>
                  </a:lnTo>
                  <a:lnTo>
                    <a:pt x="68019" y="296583"/>
                  </a:lnTo>
                  <a:lnTo>
                    <a:pt x="55955" y="296583"/>
                  </a:lnTo>
                  <a:lnTo>
                    <a:pt x="43224" y="285795"/>
                  </a:lnTo>
                  <a:close/>
                </a:path>
                <a:path w="106045" h="397510">
                  <a:moveTo>
                    <a:pt x="55955" y="0"/>
                  </a:moveTo>
                  <a:lnTo>
                    <a:pt x="49590" y="0"/>
                  </a:lnTo>
                  <a:lnTo>
                    <a:pt x="43224" y="5926"/>
                  </a:lnTo>
                  <a:lnTo>
                    <a:pt x="43224" y="285795"/>
                  </a:lnTo>
                  <a:lnTo>
                    <a:pt x="55955" y="296583"/>
                  </a:lnTo>
                  <a:lnTo>
                    <a:pt x="68019" y="285048"/>
                  </a:lnTo>
                  <a:lnTo>
                    <a:pt x="68019" y="5926"/>
                  </a:lnTo>
                  <a:lnTo>
                    <a:pt x="62295" y="5926"/>
                  </a:lnTo>
                  <a:lnTo>
                    <a:pt x="55955" y="0"/>
                  </a:lnTo>
                  <a:close/>
                </a:path>
                <a:path w="106045" h="397510">
                  <a:moveTo>
                    <a:pt x="68019" y="285048"/>
                  </a:moveTo>
                  <a:lnTo>
                    <a:pt x="55955" y="296583"/>
                  </a:lnTo>
                  <a:lnTo>
                    <a:pt x="68019" y="296583"/>
                  </a:lnTo>
                  <a:lnTo>
                    <a:pt x="68019" y="2850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740412" y="3376723"/>
              <a:ext cx="106045" cy="397510"/>
            </a:xfrm>
            <a:custGeom>
              <a:avLst/>
              <a:gdLst/>
              <a:ahLst/>
              <a:cxnLst/>
              <a:rect l="l" t="t" r="r" b="b"/>
              <a:pathLst>
                <a:path w="106045" h="397510">
                  <a:moveTo>
                    <a:pt x="68019" y="11606"/>
                  </a:moveTo>
                  <a:lnTo>
                    <a:pt x="68019" y="296583"/>
                  </a:lnTo>
                  <a:lnTo>
                    <a:pt x="68019" y="302016"/>
                  </a:lnTo>
                  <a:lnTo>
                    <a:pt x="62295" y="308189"/>
                  </a:lnTo>
                  <a:lnTo>
                    <a:pt x="55955" y="308189"/>
                  </a:lnTo>
                  <a:lnTo>
                    <a:pt x="55955" y="314363"/>
                  </a:lnTo>
                  <a:lnTo>
                    <a:pt x="49590" y="308189"/>
                  </a:lnTo>
                  <a:lnTo>
                    <a:pt x="43224" y="308189"/>
                  </a:lnTo>
                  <a:lnTo>
                    <a:pt x="43224" y="302016"/>
                  </a:lnTo>
                  <a:lnTo>
                    <a:pt x="43224" y="296583"/>
                  </a:lnTo>
                  <a:lnTo>
                    <a:pt x="43224" y="11606"/>
                  </a:lnTo>
                  <a:lnTo>
                    <a:pt x="43224" y="5926"/>
                  </a:lnTo>
                  <a:lnTo>
                    <a:pt x="49590" y="0"/>
                  </a:lnTo>
                  <a:lnTo>
                    <a:pt x="55955" y="0"/>
                  </a:lnTo>
                  <a:lnTo>
                    <a:pt x="62295" y="5926"/>
                  </a:lnTo>
                  <a:lnTo>
                    <a:pt x="68019" y="5926"/>
                  </a:lnTo>
                  <a:lnTo>
                    <a:pt x="68019" y="11606"/>
                  </a:lnTo>
                  <a:close/>
                </a:path>
                <a:path w="106045" h="397510">
                  <a:moveTo>
                    <a:pt x="55955" y="296583"/>
                  </a:moveTo>
                  <a:lnTo>
                    <a:pt x="105545" y="249169"/>
                  </a:lnTo>
                  <a:lnTo>
                    <a:pt x="55955" y="397090"/>
                  </a:lnTo>
                  <a:lnTo>
                    <a:pt x="0" y="249169"/>
                  </a:lnTo>
                  <a:lnTo>
                    <a:pt x="55955" y="296583"/>
                  </a:lnTo>
                  <a:close/>
                </a:path>
              </a:pathLst>
            </a:custGeom>
            <a:ln w="62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852716" y="3764134"/>
            <a:ext cx="4022725" cy="581660"/>
          </a:xfrm>
          <a:prstGeom prst="rect">
            <a:avLst/>
          </a:prstGeom>
          <a:solidFill>
            <a:srgbClr val="99FF66"/>
          </a:solidFill>
          <a:ln w="17754">
            <a:solidFill>
              <a:srgbClr val="000000"/>
            </a:solidFill>
          </a:ln>
        </p:spPr>
        <p:txBody>
          <a:bodyPr vert="horz" wrap="square" lIns="0" tIns="131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5"/>
              </a:spcBef>
            </a:pPr>
            <a:r>
              <a:rPr sz="2050" spc="-190" dirty="0">
                <a:latin typeface="宋体"/>
                <a:cs typeface="宋体"/>
              </a:rPr>
              <a:t>第 </a:t>
            </a:r>
            <a:r>
              <a:rPr sz="2050" dirty="0">
                <a:latin typeface="宋体"/>
                <a:cs typeface="宋体"/>
              </a:rPr>
              <a:t>3</a:t>
            </a:r>
            <a:r>
              <a:rPr sz="2050" spc="-5" dirty="0">
                <a:latin typeface="宋体"/>
                <a:cs typeface="宋体"/>
              </a:rPr>
              <a:t> 级：操作系统机器</a:t>
            </a:r>
            <a:endParaRPr sz="2050">
              <a:latin typeface="宋体"/>
              <a:cs typeface="宋体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737238" y="4339460"/>
            <a:ext cx="112395" cy="404495"/>
            <a:chOff x="9737238" y="4339460"/>
            <a:chExt cx="112395" cy="404495"/>
          </a:xfrm>
        </p:grpSpPr>
        <p:sp>
          <p:nvSpPr>
            <p:cNvPr id="28" name="object 28"/>
            <p:cNvSpPr/>
            <p:nvPr/>
          </p:nvSpPr>
          <p:spPr>
            <a:xfrm>
              <a:off x="9740413" y="4342953"/>
              <a:ext cx="106045" cy="398145"/>
            </a:xfrm>
            <a:custGeom>
              <a:avLst/>
              <a:gdLst/>
              <a:ahLst/>
              <a:cxnLst/>
              <a:rect l="l" t="t" r="r" b="b"/>
              <a:pathLst>
                <a:path w="106045" h="398145">
                  <a:moveTo>
                    <a:pt x="0" y="249169"/>
                  </a:moveTo>
                  <a:lnTo>
                    <a:pt x="55955" y="397831"/>
                  </a:lnTo>
                  <a:lnTo>
                    <a:pt x="85627" y="308881"/>
                  </a:lnTo>
                  <a:lnTo>
                    <a:pt x="49590" y="308881"/>
                  </a:lnTo>
                  <a:lnTo>
                    <a:pt x="43224" y="302806"/>
                  </a:lnTo>
                  <a:lnTo>
                    <a:pt x="43224" y="285890"/>
                  </a:lnTo>
                  <a:lnTo>
                    <a:pt x="0" y="249169"/>
                  </a:lnTo>
                  <a:close/>
                </a:path>
                <a:path w="106045" h="398145">
                  <a:moveTo>
                    <a:pt x="43224" y="285890"/>
                  </a:moveTo>
                  <a:lnTo>
                    <a:pt x="43224" y="302806"/>
                  </a:lnTo>
                  <a:lnTo>
                    <a:pt x="49590" y="308881"/>
                  </a:lnTo>
                  <a:lnTo>
                    <a:pt x="55955" y="308881"/>
                  </a:lnTo>
                  <a:lnTo>
                    <a:pt x="62295" y="302806"/>
                  </a:lnTo>
                  <a:lnTo>
                    <a:pt x="68019" y="302806"/>
                  </a:lnTo>
                  <a:lnTo>
                    <a:pt x="68019" y="296706"/>
                  </a:lnTo>
                  <a:lnTo>
                    <a:pt x="55955" y="296706"/>
                  </a:lnTo>
                  <a:lnTo>
                    <a:pt x="43224" y="285890"/>
                  </a:lnTo>
                  <a:close/>
                </a:path>
                <a:path w="106045" h="398145">
                  <a:moveTo>
                    <a:pt x="105545" y="249169"/>
                  </a:moveTo>
                  <a:lnTo>
                    <a:pt x="68019" y="285142"/>
                  </a:lnTo>
                  <a:lnTo>
                    <a:pt x="68019" y="302806"/>
                  </a:lnTo>
                  <a:lnTo>
                    <a:pt x="62295" y="302806"/>
                  </a:lnTo>
                  <a:lnTo>
                    <a:pt x="55955" y="308881"/>
                  </a:lnTo>
                  <a:lnTo>
                    <a:pt x="85627" y="308881"/>
                  </a:lnTo>
                  <a:lnTo>
                    <a:pt x="105545" y="249169"/>
                  </a:lnTo>
                  <a:close/>
                </a:path>
                <a:path w="106045" h="398145">
                  <a:moveTo>
                    <a:pt x="62295" y="0"/>
                  </a:moveTo>
                  <a:lnTo>
                    <a:pt x="43224" y="0"/>
                  </a:lnTo>
                  <a:lnTo>
                    <a:pt x="43224" y="285890"/>
                  </a:lnTo>
                  <a:lnTo>
                    <a:pt x="55955" y="296706"/>
                  </a:lnTo>
                  <a:lnTo>
                    <a:pt x="68019" y="285142"/>
                  </a:lnTo>
                  <a:lnTo>
                    <a:pt x="68019" y="6074"/>
                  </a:lnTo>
                  <a:lnTo>
                    <a:pt x="62295" y="0"/>
                  </a:lnTo>
                  <a:close/>
                </a:path>
                <a:path w="106045" h="398145">
                  <a:moveTo>
                    <a:pt x="68019" y="285142"/>
                  </a:moveTo>
                  <a:lnTo>
                    <a:pt x="55955" y="296706"/>
                  </a:lnTo>
                  <a:lnTo>
                    <a:pt x="68019" y="296706"/>
                  </a:lnTo>
                  <a:lnTo>
                    <a:pt x="68019" y="2851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740413" y="4342953"/>
              <a:ext cx="106045" cy="398145"/>
            </a:xfrm>
            <a:custGeom>
              <a:avLst/>
              <a:gdLst/>
              <a:ahLst/>
              <a:cxnLst/>
              <a:rect l="l" t="t" r="r" b="b"/>
              <a:pathLst>
                <a:path w="106045" h="398145">
                  <a:moveTo>
                    <a:pt x="68019" y="12174"/>
                  </a:moveTo>
                  <a:lnTo>
                    <a:pt x="68019" y="296706"/>
                  </a:lnTo>
                  <a:lnTo>
                    <a:pt x="68019" y="302806"/>
                  </a:lnTo>
                  <a:lnTo>
                    <a:pt x="62295" y="302806"/>
                  </a:lnTo>
                  <a:lnTo>
                    <a:pt x="55955" y="308881"/>
                  </a:lnTo>
                  <a:lnTo>
                    <a:pt x="49590" y="308881"/>
                  </a:lnTo>
                  <a:lnTo>
                    <a:pt x="43224" y="302806"/>
                  </a:lnTo>
                  <a:lnTo>
                    <a:pt x="43224" y="296706"/>
                  </a:lnTo>
                  <a:lnTo>
                    <a:pt x="43224" y="12174"/>
                  </a:lnTo>
                  <a:lnTo>
                    <a:pt x="43224" y="6074"/>
                  </a:lnTo>
                  <a:lnTo>
                    <a:pt x="43224" y="0"/>
                  </a:lnTo>
                  <a:lnTo>
                    <a:pt x="49590" y="0"/>
                  </a:lnTo>
                  <a:lnTo>
                    <a:pt x="55955" y="0"/>
                  </a:lnTo>
                  <a:lnTo>
                    <a:pt x="62295" y="0"/>
                  </a:lnTo>
                  <a:lnTo>
                    <a:pt x="68019" y="6074"/>
                  </a:lnTo>
                  <a:lnTo>
                    <a:pt x="68019" y="12174"/>
                  </a:lnTo>
                  <a:close/>
                </a:path>
                <a:path w="106045" h="398145">
                  <a:moveTo>
                    <a:pt x="55955" y="296706"/>
                  </a:moveTo>
                  <a:lnTo>
                    <a:pt x="105545" y="249169"/>
                  </a:lnTo>
                  <a:lnTo>
                    <a:pt x="55955" y="397831"/>
                  </a:lnTo>
                  <a:lnTo>
                    <a:pt x="0" y="249169"/>
                  </a:lnTo>
                  <a:lnTo>
                    <a:pt x="55955" y="296706"/>
                  </a:lnTo>
                  <a:close/>
                </a:path>
              </a:pathLst>
            </a:custGeom>
            <a:ln w="62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852716" y="4731055"/>
            <a:ext cx="4022725" cy="575310"/>
          </a:xfrm>
          <a:prstGeom prst="rect">
            <a:avLst/>
          </a:prstGeom>
          <a:solidFill>
            <a:srgbClr val="FFCC00"/>
          </a:solidFill>
          <a:ln w="17754">
            <a:solidFill>
              <a:srgbClr val="00000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388620">
              <a:lnSpc>
                <a:spcPct val="100000"/>
              </a:lnSpc>
              <a:spcBef>
                <a:spcPts val="985"/>
              </a:spcBef>
            </a:pPr>
            <a:r>
              <a:rPr sz="2050" spc="-180" dirty="0">
                <a:latin typeface="宋体"/>
                <a:cs typeface="宋体"/>
              </a:rPr>
              <a:t>第 </a:t>
            </a:r>
            <a:r>
              <a:rPr sz="2050" dirty="0">
                <a:latin typeface="宋体"/>
                <a:cs typeface="宋体"/>
              </a:rPr>
              <a:t>2 级：传统机器语言机器</a:t>
            </a:r>
            <a:endParaRPr sz="2050">
              <a:latin typeface="宋体"/>
              <a:cs typeface="宋体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737273" y="5300571"/>
            <a:ext cx="112395" cy="403860"/>
            <a:chOff x="9737273" y="5300571"/>
            <a:chExt cx="112395" cy="403860"/>
          </a:xfrm>
        </p:grpSpPr>
        <p:sp>
          <p:nvSpPr>
            <p:cNvPr id="32" name="object 32"/>
            <p:cNvSpPr/>
            <p:nvPr/>
          </p:nvSpPr>
          <p:spPr>
            <a:xfrm>
              <a:off x="9740413" y="5303749"/>
              <a:ext cx="106045" cy="397510"/>
            </a:xfrm>
            <a:custGeom>
              <a:avLst/>
              <a:gdLst/>
              <a:ahLst/>
              <a:cxnLst/>
              <a:rect l="l" t="t" r="r" b="b"/>
              <a:pathLst>
                <a:path w="106045" h="397510">
                  <a:moveTo>
                    <a:pt x="0" y="249194"/>
                  </a:moveTo>
                  <a:lnTo>
                    <a:pt x="55955" y="397238"/>
                  </a:lnTo>
                  <a:lnTo>
                    <a:pt x="83708" y="314388"/>
                  </a:lnTo>
                  <a:lnTo>
                    <a:pt x="55955" y="314388"/>
                  </a:lnTo>
                  <a:lnTo>
                    <a:pt x="49590" y="308288"/>
                  </a:lnTo>
                  <a:lnTo>
                    <a:pt x="43224" y="308288"/>
                  </a:lnTo>
                  <a:lnTo>
                    <a:pt x="43224" y="285896"/>
                  </a:lnTo>
                  <a:lnTo>
                    <a:pt x="0" y="249194"/>
                  </a:lnTo>
                  <a:close/>
                </a:path>
                <a:path w="106045" h="397510">
                  <a:moveTo>
                    <a:pt x="55955" y="308288"/>
                  </a:moveTo>
                  <a:lnTo>
                    <a:pt x="49590" y="308288"/>
                  </a:lnTo>
                  <a:lnTo>
                    <a:pt x="55955" y="314388"/>
                  </a:lnTo>
                  <a:lnTo>
                    <a:pt x="55955" y="308288"/>
                  </a:lnTo>
                  <a:close/>
                </a:path>
                <a:path w="106045" h="397510">
                  <a:moveTo>
                    <a:pt x="105545" y="249194"/>
                  </a:moveTo>
                  <a:lnTo>
                    <a:pt x="68019" y="285148"/>
                  </a:lnTo>
                  <a:lnTo>
                    <a:pt x="68019" y="302806"/>
                  </a:lnTo>
                  <a:lnTo>
                    <a:pt x="62295" y="308288"/>
                  </a:lnTo>
                  <a:lnTo>
                    <a:pt x="55955" y="308288"/>
                  </a:lnTo>
                  <a:lnTo>
                    <a:pt x="55955" y="314388"/>
                  </a:lnTo>
                  <a:lnTo>
                    <a:pt x="83708" y="314388"/>
                  </a:lnTo>
                  <a:lnTo>
                    <a:pt x="105545" y="249194"/>
                  </a:lnTo>
                  <a:close/>
                </a:path>
                <a:path w="106045" h="397510">
                  <a:moveTo>
                    <a:pt x="43224" y="285896"/>
                  </a:moveTo>
                  <a:lnTo>
                    <a:pt x="43224" y="308288"/>
                  </a:lnTo>
                  <a:lnTo>
                    <a:pt x="62295" y="308288"/>
                  </a:lnTo>
                  <a:lnTo>
                    <a:pt x="68019" y="302806"/>
                  </a:lnTo>
                  <a:lnTo>
                    <a:pt x="68019" y="296706"/>
                  </a:lnTo>
                  <a:lnTo>
                    <a:pt x="55955" y="296706"/>
                  </a:lnTo>
                  <a:lnTo>
                    <a:pt x="43224" y="285896"/>
                  </a:lnTo>
                  <a:close/>
                </a:path>
                <a:path w="106045" h="397510">
                  <a:moveTo>
                    <a:pt x="55955" y="0"/>
                  </a:moveTo>
                  <a:lnTo>
                    <a:pt x="49590" y="0"/>
                  </a:lnTo>
                  <a:lnTo>
                    <a:pt x="43224" y="6099"/>
                  </a:lnTo>
                  <a:lnTo>
                    <a:pt x="43224" y="285896"/>
                  </a:lnTo>
                  <a:lnTo>
                    <a:pt x="55955" y="296706"/>
                  </a:lnTo>
                  <a:lnTo>
                    <a:pt x="68019" y="285148"/>
                  </a:lnTo>
                  <a:lnTo>
                    <a:pt x="68019" y="6099"/>
                  </a:lnTo>
                  <a:lnTo>
                    <a:pt x="62295" y="6099"/>
                  </a:lnTo>
                  <a:lnTo>
                    <a:pt x="55955" y="0"/>
                  </a:lnTo>
                  <a:close/>
                </a:path>
                <a:path w="106045" h="397510">
                  <a:moveTo>
                    <a:pt x="68019" y="285148"/>
                  </a:moveTo>
                  <a:lnTo>
                    <a:pt x="55955" y="296706"/>
                  </a:lnTo>
                  <a:lnTo>
                    <a:pt x="68019" y="296706"/>
                  </a:lnTo>
                  <a:lnTo>
                    <a:pt x="68019" y="2851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740413" y="5303749"/>
              <a:ext cx="106045" cy="397510"/>
            </a:xfrm>
            <a:custGeom>
              <a:avLst/>
              <a:gdLst/>
              <a:ahLst/>
              <a:cxnLst/>
              <a:rect l="l" t="t" r="r" b="b"/>
              <a:pathLst>
                <a:path w="106045" h="397510">
                  <a:moveTo>
                    <a:pt x="68019" y="12199"/>
                  </a:moveTo>
                  <a:lnTo>
                    <a:pt x="68019" y="296706"/>
                  </a:lnTo>
                  <a:lnTo>
                    <a:pt x="68019" y="302806"/>
                  </a:lnTo>
                  <a:lnTo>
                    <a:pt x="62295" y="308288"/>
                  </a:lnTo>
                  <a:lnTo>
                    <a:pt x="55955" y="308288"/>
                  </a:lnTo>
                  <a:lnTo>
                    <a:pt x="55955" y="314388"/>
                  </a:lnTo>
                  <a:lnTo>
                    <a:pt x="49590" y="308288"/>
                  </a:lnTo>
                  <a:lnTo>
                    <a:pt x="43224" y="308288"/>
                  </a:lnTo>
                  <a:lnTo>
                    <a:pt x="43224" y="302806"/>
                  </a:lnTo>
                  <a:lnTo>
                    <a:pt x="43224" y="296706"/>
                  </a:lnTo>
                  <a:lnTo>
                    <a:pt x="43224" y="12199"/>
                  </a:lnTo>
                  <a:lnTo>
                    <a:pt x="43224" y="6099"/>
                  </a:lnTo>
                  <a:lnTo>
                    <a:pt x="49590" y="0"/>
                  </a:lnTo>
                  <a:lnTo>
                    <a:pt x="55955" y="0"/>
                  </a:lnTo>
                  <a:lnTo>
                    <a:pt x="62295" y="6099"/>
                  </a:lnTo>
                  <a:lnTo>
                    <a:pt x="68019" y="6099"/>
                  </a:lnTo>
                  <a:lnTo>
                    <a:pt x="68019" y="12199"/>
                  </a:lnTo>
                  <a:close/>
                </a:path>
                <a:path w="106045" h="397510">
                  <a:moveTo>
                    <a:pt x="55955" y="296706"/>
                  </a:moveTo>
                  <a:lnTo>
                    <a:pt x="105545" y="249194"/>
                  </a:lnTo>
                  <a:lnTo>
                    <a:pt x="55955" y="397238"/>
                  </a:lnTo>
                  <a:lnTo>
                    <a:pt x="0" y="249194"/>
                  </a:lnTo>
                  <a:lnTo>
                    <a:pt x="55955" y="296706"/>
                  </a:lnTo>
                  <a:close/>
                </a:path>
              </a:pathLst>
            </a:custGeom>
            <a:ln w="62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852717" y="5691856"/>
            <a:ext cx="4022725" cy="581660"/>
          </a:xfrm>
          <a:prstGeom prst="rect">
            <a:avLst/>
          </a:prstGeom>
          <a:solidFill>
            <a:srgbClr val="FFCC00"/>
          </a:solidFill>
          <a:ln w="17754">
            <a:solidFill>
              <a:srgbClr val="000000"/>
            </a:solidFill>
          </a:ln>
        </p:spPr>
        <p:txBody>
          <a:bodyPr vert="horz" wrap="square" lIns="0" tIns="130810" rIns="0" bIns="0" rtlCol="0">
            <a:spAutoFit/>
          </a:bodyPr>
          <a:lstStyle/>
          <a:p>
            <a:pPr marL="789940">
              <a:lnSpc>
                <a:spcPct val="100000"/>
              </a:lnSpc>
              <a:spcBef>
                <a:spcPts val="1030"/>
              </a:spcBef>
            </a:pPr>
            <a:r>
              <a:rPr sz="2050" spc="-190" dirty="0">
                <a:latin typeface="宋体"/>
                <a:cs typeface="宋体"/>
              </a:rPr>
              <a:t>第 </a:t>
            </a:r>
            <a:r>
              <a:rPr sz="2050" dirty="0">
                <a:latin typeface="宋体"/>
                <a:cs typeface="宋体"/>
              </a:rPr>
              <a:t>1</a:t>
            </a:r>
            <a:r>
              <a:rPr sz="2050" spc="-5" dirty="0">
                <a:latin typeface="宋体"/>
                <a:cs typeface="宋体"/>
              </a:rPr>
              <a:t> 级：微程序机器</a:t>
            </a:r>
            <a:endParaRPr sz="2050">
              <a:latin typeface="宋体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7531100" y="924178"/>
            <a:ext cx="264795" cy="3457575"/>
          </a:xfrm>
          <a:custGeom>
            <a:avLst/>
            <a:gdLst/>
            <a:ahLst/>
            <a:cxnLst/>
            <a:rect l="l" t="t" r="r" b="b"/>
            <a:pathLst>
              <a:path w="264795" h="3457575">
                <a:moveTo>
                  <a:pt x="264668" y="3457575"/>
                </a:moveTo>
                <a:lnTo>
                  <a:pt x="206497" y="3430590"/>
                </a:lnTo>
                <a:lnTo>
                  <a:pt x="181925" y="3399252"/>
                </a:lnTo>
                <a:lnTo>
                  <a:pt x="161425" y="3358143"/>
                </a:lnTo>
                <a:lnTo>
                  <a:pt x="145795" y="3308859"/>
                </a:lnTo>
                <a:lnTo>
                  <a:pt x="135832" y="3252994"/>
                </a:lnTo>
                <a:lnTo>
                  <a:pt x="132333" y="3192145"/>
                </a:lnTo>
                <a:lnTo>
                  <a:pt x="132333" y="1994154"/>
                </a:lnTo>
                <a:lnTo>
                  <a:pt x="128842" y="1933304"/>
                </a:lnTo>
                <a:lnTo>
                  <a:pt x="118894" y="1877439"/>
                </a:lnTo>
                <a:lnTo>
                  <a:pt x="103282" y="1828155"/>
                </a:lnTo>
                <a:lnTo>
                  <a:pt x="82795" y="1787046"/>
                </a:lnTo>
                <a:lnTo>
                  <a:pt x="58225" y="1755708"/>
                </a:lnTo>
                <a:lnTo>
                  <a:pt x="0" y="1728724"/>
                </a:lnTo>
                <a:lnTo>
                  <a:pt x="30363" y="1721718"/>
                </a:lnTo>
                <a:lnTo>
                  <a:pt x="82795" y="1670440"/>
                </a:lnTo>
                <a:lnTo>
                  <a:pt x="103282" y="1629345"/>
                </a:lnTo>
                <a:lnTo>
                  <a:pt x="118894" y="1580063"/>
                </a:lnTo>
                <a:lnTo>
                  <a:pt x="128842" y="1524183"/>
                </a:lnTo>
                <a:lnTo>
                  <a:pt x="132333" y="1463294"/>
                </a:lnTo>
                <a:lnTo>
                  <a:pt x="132333" y="265430"/>
                </a:lnTo>
                <a:lnTo>
                  <a:pt x="135832" y="204580"/>
                </a:lnTo>
                <a:lnTo>
                  <a:pt x="145795" y="148715"/>
                </a:lnTo>
                <a:lnTo>
                  <a:pt x="161425" y="99431"/>
                </a:lnTo>
                <a:lnTo>
                  <a:pt x="181925" y="58322"/>
                </a:lnTo>
                <a:lnTo>
                  <a:pt x="206497" y="26984"/>
                </a:lnTo>
                <a:lnTo>
                  <a:pt x="234344" y="7012"/>
                </a:lnTo>
                <a:lnTo>
                  <a:pt x="264668" y="0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529194" y="4830698"/>
            <a:ext cx="264795" cy="1368425"/>
          </a:xfrm>
          <a:custGeom>
            <a:avLst/>
            <a:gdLst/>
            <a:ahLst/>
            <a:cxnLst/>
            <a:rect l="l" t="t" r="r" b="b"/>
            <a:pathLst>
              <a:path w="264795" h="1368425">
                <a:moveTo>
                  <a:pt x="264668" y="1368412"/>
                </a:moveTo>
                <a:lnTo>
                  <a:pt x="213183" y="1360155"/>
                </a:lnTo>
                <a:lnTo>
                  <a:pt x="171116" y="1337640"/>
                </a:lnTo>
                <a:lnTo>
                  <a:pt x="142742" y="1304247"/>
                </a:lnTo>
                <a:lnTo>
                  <a:pt x="132333" y="1263357"/>
                </a:lnTo>
                <a:lnTo>
                  <a:pt x="132333" y="789266"/>
                </a:lnTo>
                <a:lnTo>
                  <a:pt x="121925" y="748373"/>
                </a:lnTo>
                <a:lnTo>
                  <a:pt x="93551" y="714957"/>
                </a:lnTo>
                <a:lnTo>
                  <a:pt x="51484" y="692417"/>
                </a:lnTo>
                <a:lnTo>
                  <a:pt x="0" y="684148"/>
                </a:lnTo>
                <a:lnTo>
                  <a:pt x="51484" y="675899"/>
                </a:lnTo>
                <a:lnTo>
                  <a:pt x="93551" y="653399"/>
                </a:lnTo>
                <a:lnTo>
                  <a:pt x="121925" y="620015"/>
                </a:lnTo>
                <a:lnTo>
                  <a:pt x="132333" y="579119"/>
                </a:lnTo>
                <a:lnTo>
                  <a:pt x="132333" y="105028"/>
                </a:lnTo>
                <a:lnTo>
                  <a:pt x="142742" y="64133"/>
                </a:lnTo>
                <a:lnTo>
                  <a:pt x="171116" y="30749"/>
                </a:lnTo>
                <a:lnTo>
                  <a:pt x="213183" y="8249"/>
                </a:lnTo>
                <a:lnTo>
                  <a:pt x="264668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654165" y="2442464"/>
            <a:ext cx="944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FF0000"/>
                </a:solidFill>
                <a:latin typeface="宋体"/>
                <a:cs typeface="宋体"/>
              </a:rPr>
              <a:t>虚拟机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37452" y="5320690"/>
            <a:ext cx="945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FF0000"/>
                </a:solidFill>
                <a:latin typeface="宋体"/>
                <a:cs typeface="宋体"/>
              </a:rPr>
              <a:t>物理机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634" y="566041"/>
            <a:ext cx="6511290" cy="6292215"/>
          </a:xfrm>
          <a:custGeom>
            <a:avLst/>
            <a:gdLst/>
            <a:ahLst/>
            <a:cxnLst/>
            <a:rect l="l" t="t" r="r" b="b"/>
            <a:pathLst>
              <a:path w="6511290" h="6292215">
                <a:moveTo>
                  <a:pt x="6511035" y="6291958"/>
                </a:moveTo>
                <a:lnTo>
                  <a:pt x="6511035" y="0"/>
                </a:lnTo>
                <a:lnTo>
                  <a:pt x="0" y="0"/>
                </a:lnTo>
                <a:lnTo>
                  <a:pt x="0" y="6291958"/>
                </a:lnTo>
              </a:path>
            </a:pathLst>
          </a:custGeom>
          <a:ln w="9525">
            <a:solidFill>
              <a:srgbClr val="2D75B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9524" y="523599"/>
            <a:ext cx="6408420" cy="594423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535"/>
              </a:spcBef>
              <a:buClr>
                <a:srgbClr val="0000FF"/>
              </a:buClr>
              <a:buFont typeface="Wingdings"/>
              <a:buChar char=""/>
              <a:tabLst>
                <a:tab pos="298450" algn="l"/>
              </a:tabLst>
            </a:pPr>
            <a:r>
              <a:rPr sz="2400" spc="-5" dirty="0">
                <a:latin typeface="微软雅黑"/>
                <a:cs typeface="微软雅黑"/>
              </a:rPr>
              <a:t>物理机：用硬件实现的机器</a:t>
            </a:r>
            <a:endParaRPr sz="2400">
              <a:latin typeface="微软雅黑"/>
              <a:cs typeface="微软雅黑"/>
            </a:endParaRPr>
          </a:p>
          <a:p>
            <a:pPr marL="298450" indent="-285750">
              <a:lnSpc>
                <a:spcPct val="100000"/>
              </a:lnSpc>
              <a:spcBef>
                <a:spcPts val="1440"/>
              </a:spcBef>
              <a:buClr>
                <a:srgbClr val="0000FF"/>
              </a:buClr>
              <a:buFont typeface="Wingdings"/>
              <a:buChar char=""/>
              <a:tabLst>
                <a:tab pos="298450" algn="l"/>
              </a:tabLst>
            </a:pPr>
            <a:r>
              <a:rPr sz="2400" spc="-10" dirty="0">
                <a:latin typeface="微软雅黑"/>
                <a:cs typeface="微软雅黑"/>
              </a:rPr>
              <a:t>虚拟机：由软件实现的机器（实际就是软件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96520" marR="207645" indent="-83820">
              <a:lnSpc>
                <a:spcPct val="150000"/>
              </a:lnSpc>
              <a:spcBef>
                <a:spcPts val="5"/>
              </a:spcBef>
              <a:buClr>
                <a:srgbClr val="0000FF"/>
              </a:buClr>
              <a:buFont typeface="Wingdings"/>
              <a:buChar char=""/>
              <a:tabLst>
                <a:tab pos="96520" algn="l"/>
                <a:tab pos="298450" algn="l"/>
              </a:tabLst>
            </a:pPr>
            <a:r>
              <a:rPr sz="2400" spc="-5" dirty="0">
                <a:latin typeface="微软雅黑"/>
                <a:cs typeface="微软雅黑"/>
              </a:rPr>
              <a:t>	透明性：在计算机技术中，把这种本来存在的事物或属性，但从某种角度看好像又不存在</a:t>
            </a:r>
            <a:r>
              <a:rPr sz="2400" spc="-20" dirty="0">
                <a:latin typeface="微软雅黑"/>
                <a:cs typeface="微软雅黑"/>
              </a:rPr>
              <a:t>的概念</a:t>
            </a:r>
            <a:endParaRPr sz="2400">
              <a:latin typeface="微软雅黑"/>
              <a:cs typeface="微软雅黑"/>
            </a:endParaRPr>
          </a:p>
          <a:p>
            <a:pPr marL="96520" marR="309245" indent="-83820">
              <a:lnSpc>
                <a:spcPct val="150000"/>
              </a:lnSpc>
              <a:buClr>
                <a:srgbClr val="0000FF"/>
              </a:buClr>
              <a:buFont typeface="Wingdings"/>
              <a:buChar char=""/>
              <a:tabLst>
                <a:tab pos="96520" algn="l"/>
                <a:tab pos="298450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	语言实现的两种技术</a:t>
            </a:r>
            <a:r>
              <a:rPr sz="2400" spc="-5" dirty="0">
                <a:latin typeface="微软雅黑"/>
                <a:cs typeface="微软雅黑"/>
              </a:rPr>
              <a:t>：各机器级的实现主要</a:t>
            </a:r>
            <a:r>
              <a:rPr sz="2400" spc="-15" dirty="0">
                <a:latin typeface="微软雅黑"/>
                <a:cs typeface="微软雅黑"/>
              </a:rPr>
              <a:t>靠翻译或解释，或两者的结合</a:t>
            </a:r>
            <a:endParaRPr sz="2400">
              <a:latin typeface="微软雅黑"/>
              <a:cs typeface="微软雅黑"/>
            </a:endParaRPr>
          </a:p>
          <a:p>
            <a:pPr marL="755015" marR="199390" lvl="1" indent="-285750" algn="just">
              <a:lnSpc>
                <a:spcPct val="150000"/>
              </a:lnSpc>
              <a:spcBef>
                <a:spcPts val="155"/>
              </a:spcBef>
              <a:buClr>
                <a:srgbClr val="EC7C30"/>
              </a:buClr>
              <a:buFont typeface="Wingdings"/>
              <a:buChar char=""/>
              <a:tabLst>
                <a:tab pos="756285" algn="l"/>
              </a:tabLst>
            </a:pP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翻译：</a:t>
            </a:r>
            <a:r>
              <a:rPr sz="1800" dirty="0">
                <a:solidFill>
                  <a:srgbClr val="006FC0"/>
                </a:solidFill>
                <a:latin typeface="宋体"/>
                <a:cs typeface="宋体"/>
              </a:rPr>
              <a:t>先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全部</a:t>
            </a:r>
            <a:r>
              <a:rPr sz="1800" dirty="0">
                <a:solidFill>
                  <a:srgbClr val="006FC0"/>
                </a:solidFill>
                <a:latin typeface="宋体"/>
                <a:cs typeface="宋体"/>
              </a:rPr>
              <a:t>翻译转换（例如词法分析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—</a:t>
            </a:r>
            <a:r>
              <a:rPr sz="1800" dirty="0">
                <a:solidFill>
                  <a:srgbClr val="006FC0"/>
                </a:solidFill>
                <a:latin typeface="宋体"/>
                <a:cs typeface="宋体"/>
              </a:rPr>
              <a:t>语法分析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—</a:t>
            </a:r>
            <a:r>
              <a:rPr sz="1800" spc="-50" dirty="0">
                <a:solidFill>
                  <a:srgbClr val="006FC0"/>
                </a:solidFill>
                <a:latin typeface="宋体"/>
                <a:cs typeface="宋体"/>
              </a:rPr>
              <a:t>代	</a:t>
            </a:r>
            <a:r>
              <a:rPr sz="1800" spc="-5" dirty="0">
                <a:solidFill>
                  <a:srgbClr val="006FC0"/>
                </a:solidFill>
                <a:latin typeface="宋体"/>
                <a:cs typeface="宋体"/>
              </a:rPr>
              <a:t>码优化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006FC0"/>
                </a:solidFill>
                <a:latin typeface="宋体"/>
                <a:cs typeface="宋体"/>
              </a:rPr>
              <a:t>存储分配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—</a:t>
            </a:r>
            <a:r>
              <a:rPr sz="1800" dirty="0">
                <a:solidFill>
                  <a:srgbClr val="006FC0"/>
                </a:solidFill>
                <a:latin typeface="宋体"/>
                <a:cs typeface="宋体"/>
              </a:rPr>
              <a:t>代码生成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006FC0"/>
                </a:solidFill>
                <a:latin typeface="宋体"/>
                <a:cs typeface="宋体"/>
              </a:rPr>
              <a:t>目标程序）再执行。</a:t>
            </a:r>
            <a:r>
              <a:rPr sz="1800" spc="-25" dirty="0">
                <a:solidFill>
                  <a:srgbClr val="FF0000"/>
                </a:solidFill>
                <a:latin typeface="宋体"/>
                <a:cs typeface="宋体"/>
              </a:rPr>
              <a:t>执行	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时间快（例如可重复</a:t>
            </a:r>
            <a:r>
              <a:rPr sz="1800" spc="-50" dirty="0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endParaRPr sz="1800">
              <a:latin typeface="宋体"/>
              <a:cs typeface="宋体"/>
            </a:endParaRPr>
          </a:p>
          <a:p>
            <a:pPr marL="755015" marR="156845" lvl="1" indent="-285750" algn="just">
              <a:lnSpc>
                <a:spcPct val="150000"/>
              </a:lnSpc>
              <a:spcBef>
                <a:spcPts val="5"/>
              </a:spcBef>
              <a:buClr>
                <a:srgbClr val="EC7C30"/>
              </a:buClr>
              <a:buFont typeface="Wingdings"/>
              <a:buChar char=""/>
              <a:tabLst>
                <a:tab pos="756285" algn="l"/>
              </a:tabLst>
            </a:pP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解释程序</a:t>
            </a:r>
            <a:r>
              <a:rPr sz="1800" dirty="0">
                <a:solidFill>
                  <a:srgbClr val="006FC0"/>
                </a:solidFill>
                <a:latin typeface="宋体"/>
                <a:cs typeface="宋体"/>
              </a:rPr>
              <a:t>：源程序输入，执行时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逐句</a:t>
            </a:r>
            <a:r>
              <a:rPr sz="1800" dirty="0">
                <a:solidFill>
                  <a:srgbClr val="006FC0"/>
                </a:solidFill>
                <a:latin typeface="宋体"/>
                <a:cs typeface="宋体"/>
              </a:rPr>
              <a:t>翻译并执行（</a:t>
            </a:r>
            <a:r>
              <a:rPr sz="1800" spc="-25" dirty="0">
                <a:solidFill>
                  <a:srgbClr val="006FC0"/>
                </a:solidFill>
                <a:latin typeface="宋体"/>
                <a:cs typeface="宋体"/>
              </a:rPr>
              <a:t>无目	</a:t>
            </a:r>
            <a:r>
              <a:rPr sz="1800" dirty="0">
                <a:solidFill>
                  <a:srgbClr val="006FC0"/>
                </a:solidFill>
                <a:latin typeface="宋体"/>
                <a:cs typeface="宋体"/>
              </a:rPr>
              <a:t>标程序）</a:t>
            </a:r>
            <a:r>
              <a:rPr sz="1800" spc="-10" dirty="0">
                <a:solidFill>
                  <a:srgbClr val="006FC0"/>
                </a:solidFill>
                <a:latin typeface="宋体"/>
                <a:cs typeface="宋体"/>
              </a:rPr>
              <a:t>。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执行时间慢，占用内存少。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2853" y="706247"/>
            <a:ext cx="11291570" cy="0"/>
          </a:xfrm>
          <a:custGeom>
            <a:avLst/>
            <a:gdLst/>
            <a:ahLst/>
            <a:cxnLst/>
            <a:rect l="l" t="t" r="r" b="b"/>
            <a:pathLst>
              <a:path w="11291570">
                <a:moveTo>
                  <a:pt x="0" y="0"/>
                </a:moveTo>
                <a:lnTo>
                  <a:pt x="11290985" y="0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4360" y="331597"/>
            <a:ext cx="807720" cy="274955"/>
            <a:chOff x="144360" y="331597"/>
            <a:chExt cx="807720" cy="274955"/>
          </a:xfrm>
        </p:grpSpPr>
        <p:sp>
          <p:nvSpPr>
            <p:cNvPr id="4" name="object 4"/>
            <p:cNvSpPr/>
            <p:nvPr/>
          </p:nvSpPr>
          <p:spPr>
            <a:xfrm>
              <a:off x="144360" y="331597"/>
              <a:ext cx="280670" cy="274955"/>
            </a:xfrm>
            <a:custGeom>
              <a:avLst/>
              <a:gdLst/>
              <a:ahLst/>
              <a:cxnLst/>
              <a:rect l="l" t="t" r="r" b="b"/>
              <a:pathLst>
                <a:path w="280670" h="274955">
                  <a:moveTo>
                    <a:pt x="67360" y="0"/>
                  </a:moveTo>
                  <a:lnTo>
                    <a:pt x="2806" y="41528"/>
                  </a:lnTo>
                  <a:lnTo>
                    <a:pt x="148742" y="135508"/>
                  </a:lnTo>
                  <a:lnTo>
                    <a:pt x="0" y="231266"/>
                  </a:lnTo>
                  <a:lnTo>
                    <a:pt x="67360" y="274700"/>
                  </a:lnTo>
                  <a:lnTo>
                    <a:pt x="280657" y="137287"/>
                  </a:lnTo>
                  <a:lnTo>
                    <a:pt x="67360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552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7233" y="0"/>
                  </a:moveTo>
                  <a:lnTo>
                    <a:pt x="2806" y="41528"/>
                  </a:lnTo>
                  <a:lnTo>
                    <a:pt x="148462" y="135508"/>
                  </a:lnTo>
                  <a:lnTo>
                    <a:pt x="0" y="231266"/>
                  </a:lnTo>
                  <a:lnTo>
                    <a:pt x="67233" y="274700"/>
                  </a:lnTo>
                  <a:lnTo>
                    <a:pt x="279425" y="137287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2439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6535" y="0"/>
                  </a:moveTo>
                  <a:lnTo>
                    <a:pt x="2806" y="41528"/>
                  </a:lnTo>
                  <a:lnTo>
                    <a:pt x="148463" y="135508"/>
                  </a:lnTo>
                  <a:lnTo>
                    <a:pt x="0" y="231266"/>
                  </a:lnTo>
                  <a:lnTo>
                    <a:pt x="66535" y="274700"/>
                  </a:lnTo>
                  <a:lnTo>
                    <a:pt x="279425" y="137287"/>
                  </a:lnTo>
                  <a:lnTo>
                    <a:pt x="66535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0" y="1406652"/>
            <a:ext cx="12192000" cy="5451475"/>
            <a:chOff x="0" y="1406652"/>
            <a:chExt cx="12192000" cy="5451475"/>
          </a:xfrm>
        </p:grpSpPr>
        <p:sp>
          <p:nvSpPr>
            <p:cNvPr id="8" name="object 8"/>
            <p:cNvSpPr/>
            <p:nvPr/>
          </p:nvSpPr>
          <p:spPr>
            <a:xfrm>
              <a:off x="0" y="6474002"/>
              <a:ext cx="12192000" cy="384175"/>
            </a:xfrm>
            <a:custGeom>
              <a:avLst/>
              <a:gdLst/>
              <a:ahLst/>
              <a:cxnLst/>
              <a:rect l="l" t="t" r="r" b="b"/>
              <a:pathLst>
                <a:path w="12192000" h="384175">
                  <a:moveTo>
                    <a:pt x="12192000" y="0"/>
                  </a:moveTo>
                  <a:lnTo>
                    <a:pt x="9648444" y="0"/>
                  </a:lnTo>
                  <a:lnTo>
                    <a:pt x="0" y="0"/>
                  </a:lnTo>
                  <a:lnTo>
                    <a:pt x="0" y="383997"/>
                  </a:lnTo>
                  <a:lnTo>
                    <a:pt x="9648444" y="383997"/>
                  </a:lnTo>
                  <a:lnTo>
                    <a:pt x="12192000" y="3839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447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9910" y="1406652"/>
              <a:ext cx="8550910" cy="519099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99819" y="150368"/>
            <a:ext cx="56184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3900" algn="l"/>
              </a:tabLst>
            </a:pPr>
            <a:r>
              <a:rPr u="none" spc="-25" dirty="0">
                <a:latin typeface="Times New Roman"/>
                <a:cs typeface="Times New Roman"/>
              </a:rPr>
              <a:t>1.1</a:t>
            </a:r>
            <a:r>
              <a:rPr u="none" dirty="0">
                <a:latin typeface="Times New Roman"/>
                <a:cs typeface="Times New Roman"/>
              </a:rPr>
              <a:t>	</a:t>
            </a:r>
            <a:r>
              <a:rPr u="none" spc="-10" dirty="0"/>
              <a:t>计算机系统结构的基本概念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29590" y="870026"/>
            <a:ext cx="52787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45" dirty="0">
                <a:solidFill>
                  <a:srgbClr val="EC7C30"/>
                </a:solidFill>
                <a:latin typeface="微软雅黑"/>
                <a:cs typeface="微软雅黑"/>
              </a:rPr>
              <a:t>概念性结构：例如计算机组成的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79030" y="255269"/>
            <a:ext cx="4465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sz="2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1.1.2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800" b="1" spc="-40" dirty="0">
                <a:solidFill>
                  <a:srgbClr val="006FC0"/>
                </a:solidFill>
                <a:latin typeface="微软雅黑"/>
                <a:cs typeface="微软雅黑"/>
              </a:rPr>
              <a:t>计算机系统结构的定义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2853" y="706247"/>
            <a:ext cx="11291570" cy="0"/>
          </a:xfrm>
          <a:custGeom>
            <a:avLst/>
            <a:gdLst/>
            <a:ahLst/>
            <a:cxnLst/>
            <a:rect l="l" t="t" r="r" b="b"/>
            <a:pathLst>
              <a:path w="11291570">
                <a:moveTo>
                  <a:pt x="0" y="0"/>
                </a:moveTo>
                <a:lnTo>
                  <a:pt x="11290985" y="0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4360" y="331597"/>
            <a:ext cx="807720" cy="274955"/>
            <a:chOff x="144360" y="331597"/>
            <a:chExt cx="807720" cy="274955"/>
          </a:xfrm>
        </p:grpSpPr>
        <p:sp>
          <p:nvSpPr>
            <p:cNvPr id="4" name="object 4"/>
            <p:cNvSpPr/>
            <p:nvPr/>
          </p:nvSpPr>
          <p:spPr>
            <a:xfrm>
              <a:off x="144360" y="331597"/>
              <a:ext cx="280670" cy="274955"/>
            </a:xfrm>
            <a:custGeom>
              <a:avLst/>
              <a:gdLst/>
              <a:ahLst/>
              <a:cxnLst/>
              <a:rect l="l" t="t" r="r" b="b"/>
              <a:pathLst>
                <a:path w="280670" h="274955">
                  <a:moveTo>
                    <a:pt x="67360" y="0"/>
                  </a:moveTo>
                  <a:lnTo>
                    <a:pt x="2806" y="41528"/>
                  </a:lnTo>
                  <a:lnTo>
                    <a:pt x="148742" y="135508"/>
                  </a:lnTo>
                  <a:lnTo>
                    <a:pt x="0" y="231266"/>
                  </a:lnTo>
                  <a:lnTo>
                    <a:pt x="67360" y="274700"/>
                  </a:lnTo>
                  <a:lnTo>
                    <a:pt x="280657" y="137287"/>
                  </a:lnTo>
                  <a:lnTo>
                    <a:pt x="67360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552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7233" y="0"/>
                  </a:moveTo>
                  <a:lnTo>
                    <a:pt x="2806" y="41528"/>
                  </a:lnTo>
                  <a:lnTo>
                    <a:pt x="148462" y="135508"/>
                  </a:lnTo>
                  <a:lnTo>
                    <a:pt x="0" y="231266"/>
                  </a:lnTo>
                  <a:lnTo>
                    <a:pt x="67233" y="274700"/>
                  </a:lnTo>
                  <a:lnTo>
                    <a:pt x="279425" y="137287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2439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6535" y="0"/>
                  </a:moveTo>
                  <a:lnTo>
                    <a:pt x="2806" y="41528"/>
                  </a:lnTo>
                  <a:lnTo>
                    <a:pt x="148463" y="135508"/>
                  </a:lnTo>
                  <a:lnTo>
                    <a:pt x="0" y="231266"/>
                  </a:lnTo>
                  <a:lnTo>
                    <a:pt x="66535" y="274700"/>
                  </a:lnTo>
                  <a:lnTo>
                    <a:pt x="279425" y="137287"/>
                  </a:lnTo>
                  <a:lnTo>
                    <a:pt x="66535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6474002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9648444" y="0"/>
                </a:lnTo>
                <a:lnTo>
                  <a:pt x="0" y="0"/>
                </a:lnTo>
                <a:lnTo>
                  <a:pt x="0" y="383997"/>
                </a:lnTo>
                <a:lnTo>
                  <a:pt x="9648444" y="383997"/>
                </a:lnTo>
                <a:lnTo>
                  <a:pt x="12192000" y="3839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99819" y="150368"/>
            <a:ext cx="56184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3900" algn="l"/>
              </a:tabLst>
            </a:pPr>
            <a:r>
              <a:rPr u="none" spc="-25" dirty="0">
                <a:latin typeface="Times New Roman"/>
                <a:cs typeface="Times New Roman"/>
              </a:rPr>
              <a:t>1.1</a:t>
            </a:r>
            <a:r>
              <a:rPr u="none" dirty="0">
                <a:latin typeface="Times New Roman"/>
                <a:cs typeface="Times New Roman"/>
              </a:rPr>
              <a:t>	</a:t>
            </a:r>
            <a:r>
              <a:rPr u="none" spc="-10" dirty="0"/>
              <a:t>计算机系统结构的基本概念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8739" y="870026"/>
            <a:ext cx="12135485" cy="4381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45" dirty="0">
                <a:solidFill>
                  <a:srgbClr val="EC7C30"/>
                </a:solidFill>
                <a:latin typeface="微软雅黑"/>
                <a:cs typeface="微软雅黑"/>
              </a:rPr>
              <a:t>功能特性，例如：</a:t>
            </a:r>
            <a:endParaRPr sz="2800">
              <a:latin typeface="微软雅黑"/>
              <a:cs typeface="微软雅黑"/>
            </a:endParaRPr>
          </a:p>
          <a:p>
            <a:pPr marL="1346200" lvl="1" indent="-419100">
              <a:lnSpc>
                <a:spcPct val="100000"/>
              </a:lnSpc>
              <a:spcBef>
                <a:spcPts val="2014"/>
              </a:spcBef>
              <a:buClr>
                <a:srgbClr val="F4B083"/>
              </a:buClr>
              <a:buSzPct val="97500"/>
              <a:buFont typeface="Arial"/>
              <a:buChar char="•"/>
              <a:tabLst>
                <a:tab pos="1346200" algn="l"/>
              </a:tabLst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(1)</a:t>
            </a:r>
            <a:r>
              <a:rPr sz="2000" spc="-5" dirty="0">
                <a:solidFill>
                  <a:srgbClr val="FF0000"/>
                </a:solidFill>
                <a:latin typeface="微软雅黑"/>
                <a:cs typeface="微软雅黑"/>
              </a:rPr>
              <a:t>数据表示：</a:t>
            </a:r>
            <a:r>
              <a:rPr sz="2000" spc="-20" dirty="0">
                <a:solidFill>
                  <a:srgbClr val="006FC0"/>
                </a:solidFill>
                <a:latin typeface="微软雅黑"/>
                <a:cs typeface="微软雅黑"/>
              </a:rPr>
              <a:t>硬件能直接识别和处理的数据类型和格式等的数据表示；</a:t>
            </a:r>
            <a:endParaRPr sz="2000">
              <a:latin typeface="微软雅黑"/>
              <a:cs typeface="微软雅黑"/>
            </a:endParaRPr>
          </a:p>
          <a:p>
            <a:pPr marL="1410335" lvl="1" indent="-483234">
              <a:lnSpc>
                <a:spcPct val="100000"/>
              </a:lnSpc>
              <a:spcBef>
                <a:spcPts val="2014"/>
              </a:spcBef>
              <a:buClr>
                <a:srgbClr val="F4B083"/>
              </a:buClr>
              <a:buSzPct val="97500"/>
              <a:buFont typeface="Arial"/>
              <a:buChar char="•"/>
              <a:tabLst>
                <a:tab pos="1410335" algn="l"/>
              </a:tabLst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(2)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寻址规则：</a:t>
            </a:r>
            <a:r>
              <a:rPr sz="2000" spc="-30" dirty="0">
                <a:solidFill>
                  <a:srgbClr val="006FC0"/>
                </a:solidFill>
                <a:latin typeface="微软雅黑"/>
                <a:cs typeface="微软雅黑"/>
              </a:rPr>
              <a:t>最小可寻址单位、 寻址种类、地址计算等的寻址方式；</a:t>
            </a:r>
            <a:endParaRPr sz="2000">
              <a:latin typeface="微软雅黑"/>
              <a:cs typeface="微软雅黑"/>
            </a:endParaRPr>
          </a:p>
          <a:p>
            <a:pPr marL="1410335" lvl="1" indent="-483234">
              <a:lnSpc>
                <a:spcPct val="100000"/>
              </a:lnSpc>
              <a:spcBef>
                <a:spcPts val="2020"/>
              </a:spcBef>
              <a:buClr>
                <a:srgbClr val="F4B083"/>
              </a:buClr>
              <a:buSzPct val="97500"/>
              <a:buFont typeface="Arial"/>
              <a:buChar char="•"/>
              <a:tabLst>
                <a:tab pos="1410335" algn="l"/>
              </a:tabLst>
            </a:pP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(3)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寄存器定义：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通用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/</a:t>
            </a:r>
            <a:r>
              <a:rPr sz="2000" spc="-20" dirty="0">
                <a:solidFill>
                  <a:srgbClr val="006FC0"/>
                </a:solidFill>
                <a:latin typeface="微软雅黑"/>
                <a:cs typeface="微软雅黑"/>
              </a:rPr>
              <a:t>专用寄存器的设置、数量、字长、使用约定等的寄存器组织；</a:t>
            </a:r>
            <a:endParaRPr sz="2000">
              <a:latin typeface="微软雅黑"/>
              <a:cs typeface="微软雅黑"/>
            </a:endParaRPr>
          </a:p>
          <a:p>
            <a:pPr marL="1155700" lvl="1" indent="-228600">
              <a:lnSpc>
                <a:spcPct val="100000"/>
              </a:lnSpc>
              <a:spcBef>
                <a:spcPts val="2030"/>
              </a:spcBef>
              <a:buClr>
                <a:srgbClr val="F4B083"/>
              </a:buClr>
              <a:buSzPct val="97500"/>
              <a:buFont typeface="Arial"/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（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4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）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指令集等：</a:t>
            </a:r>
            <a:r>
              <a:rPr sz="2000" spc="-40" dirty="0">
                <a:solidFill>
                  <a:srgbClr val="006FC0"/>
                </a:solidFill>
                <a:latin typeface="微软雅黑"/>
                <a:cs typeface="微软雅黑"/>
              </a:rPr>
              <a:t>二进制或汇编级指令的操作类型、 格式、 排序方式、 控制机构等的指令系统；</a:t>
            </a:r>
            <a:endParaRPr sz="2000">
              <a:latin typeface="微软雅黑"/>
              <a:cs typeface="微软雅黑"/>
            </a:endParaRPr>
          </a:p>
          <a:p>
            <a:pPr marL="1155700" lvl="1" indent="-228600">
              <a:lnSpc>
                <a:spcPct val="100000"/>
              </a:lnSpc>
              <a:spcBef>
                <a:spcPts val="2014"/>
              </a:spcBef>
              <a:buClr>
                <a:srgbClr val="F4B083"/>
              </a:buClr>
              <a:buSzPct val="97500"/>
              <a:buFont typeface="Arial"/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（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5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）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存储系统：</a:t>
            </a:r>
            <a:r>
              <a:rPr sz="2000" spc="-20" dirty="0">
                <a:solidFill>
                  <a:srgbClr val="006FC0"/>
                </a:solidFill>
                <a:latin typeface="微软雅黑"/>
                <a:cs typeface="微软雅黑"/>
              </a:rPr>
              <a:t>内存的最小编址单位、编址方式、容量、最大可编址空间等的存储系统组织；</a:t>
            </a:r>
            <a:endParaRPr sz="2000">
              <a:latin typeface="微软雅黑"/>
              <a:cs typeface="微软雅黑"/>
            </a:endParaRPr>
          </a:p>
          <a:p>
            <a:pPr marL="1155700" lvl="1" indent="-228600">
              <a:lnSpc>
                <a:spcPct val="100000"/>
              </a:lnSpc>
              <a:spcBef>
                <a:spcPts val="2020"/>
              </a:spcBef>
              <a:buClr>
                <a:srgbClr val="F4B083"/>
              </a:buClr>
              <a:buSzPct val="97500"/>
              <a:buFont typeface="Arial"/>
              <a:buChar char="•"/>
              <a:tabLst>
                <a:tab pos="1155700" algn="l"/>
              </a:tabLst>
            </a:pP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（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6</a:t>
            </a: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）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中断系统：</a:t>
            </a:r>
            <a:r>
              <a:rPr sz="2000" spc="-20" dirty="0">
                <a:solidFill>
                  <a:srgbClr val="006FC0"/>
                </a:solidFill>
                <a:latin typeface="微软雅黑"/>
                <a:cs typeface="微软雅黑"/>
              </a:rPr>
              <a:t>中断的分类与分级、中断处理程序功能及入口地址等的中断机构；</a:t>
            </a:r>
            <a:endParaRPr sz="2000">
              <a:latin typeface="微软雅黑"/>
              <a:cs typeface="微软雅黑"/>
            </a:endParaRPr>
          </a:p>
          <a:p>
            <a:pPr marL="1155700" lvl="1" indent="-228600">
              <a:lnSpc>
                <a:spcPct val="100000"/>
              </a:lnSpc>
              <a:spcBef>
                <a:spcPts val="2025"/>
              </a:spcBef>
              <a:buClr>
                <a:srgbClr val="F4B083"/>
              </a:buClr>
              <a:buSzPct val="97500"/>
              <a:buFont typeface="Arial"/>
              <a:buChar char="•"/>
              <a:tabLst>
                <a:tab pos="1155700" algn="l"/>
              </a:tabLst>
            </a:pPr>
            <a:r>
              <a:rPr sz="2000" spc="-10" dirty="0">
                <a:solidFill>
                  <a:srgbClr val="006FC0"/>
                </a:solidFill>
                <a:latin typeface="微软雅黑"/>
                <a:cs typeface="微软雅黑"/>
              </a:rPr>
              <a:t>（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7</a:t>
            </a:r>
            <a:r>
              <a:rPr sz="2000" spc="-10" dirty="0">
                <a:solidFill>
                  <a:srgbClr val="006FC0"/>
                </a:solidFill>
                <a:latin typeface="微软雅黑"/>
                <a:cs typeface="微软雅黑"/>
              </a:rPr>
              <a:t>）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I/O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结构：</a:t>
            </a:r>
            <a:r>
              <a:rPr sz="2000" spc="-40" dirty="0">
                <a:solidFill>
                  <a:srgbClr val="006FC0"/>
                </a:solidFill>
                <a:latin typeface="微软雅黑"/>
                <a:cs typeface="微软雅黑"/>
              </a:rPr>
              <a:t>输入输出设备的连接、 使用方式、 流量、 操作结束、 出错指示等的机器级</a:t>
            </a:r>
            <a:r>
              <a:rPr sz="2000" spc="-10" dirty="0">
                <a:solidFill>
                  <a:srgbClr val="006FC0"/>
                </a:solidFill>
                <a:latin typeface="Times New Roman"/>
                <a:cs typeface="Times New Roman"/>
              </a:rPr>
              <a:t>I/O</a:t>
            </a:r>
            <a:r>
              <a:rPr sz="2000" spc="-30" dirty="0">
                <a:solidFill>
                  <a:srgbClr val="006FC0"/>
                </a:solidFill>
                <a:latin typeface="微软雅黑"/>
                <a:cs typeface="微软雅黑"/>
              </a:rPr>
              <a:t>结构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79030" y="255269"/>
            <a:ext cx="4465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sz="2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1.1.2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800" b="1" spc="-40" dirty="0">
                <a:solidFill>
                  <a:srgbClr val="006FC0"/>
                </a:solidFill>
                <a:latin typeface="微软雅黑"/>
                <a:cs typeface="微软雅黑"/>
              </a:rPr>
              <a:t>计算机系统结构的定义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2853" y="706247"/>
            <a:ext cx="11291570" cy="0"/>
          </a:xfrm>
          <a:custGeom>
            <a:avLst/>
            <a:gdLst/>
            <a:ahLst/>
            <a:cxnLst/>
            <a:rect l="l" t="t" r="r" b="b"/>
            <a:pathLst>
              <a:path w="11291570">
                <a:moveTo>
                  <a:pt x="0" y="0"/>
                </a:moveTo>
                <a:lnTo>
                  <a:pt x="11290985" y="0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4360" y="331597"/>
            <a:ext cx="807720" cy="274955"/>
            <a:chOff x="144360" y="331597"/>
            <a:chExt cx="807720" cy="274955"/>
          </a:xfrm>
        </p:grpSpPr>
        <p:sp>
          <p:nvSpPr>
            <p:cNvPr id="4" name="object 4"/>
            <p:cNvSpPr/>
            <p:nvPr/>
          </p:nvSpPr>
          <p:spPr>
            <a:xfrm>
              <a:off x="144360" y="331597"/>
              <a:ext cx="280670" cy="274955"/>
            </a:xfrm>
            <a:custGeom>
              <a:avLst/>
              <a:gdLst/>
              <a:ahLst/>
              <a:cxnLst/>
              <a:rect l="l" t="t" r="r" b="b"/>
              <a:pathLst>
                <a:path w="280670" h="274955">
                  <a:moveTo>
                    <a:pt x="67360" y="0"/>
                  </a:moveTo>
                  <a:lnTo>
                    <a:pt x="2806" y="41528"/>
                  </a:lnTo>
                  <a:lnTo>
                    <a:pt x="148742" y="135508"/>
                  </a:lnTo>
                  <a:lnTo>
                    <a:pt x="0" y="231266"/>
                  </a:lnTo>
                  <a:lnTo>
                    <a:pt x="67360" y="274700"/>
                  </a:lnTo>
                  <a:lnTo>
                    <a:pt x="280657" y="137287"/>
                  </a:lnTo>
                  <a:lnTo>
                    <a:pt x="67360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552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7233" y="0"/>
                  </a:moveTo>
                  <a:lnTo>
                    <a:pt x="2806" y="41528"/>
                  </a:lnTo>
                  <a:lnTo>
                    <a:pt x="148462" y="135508"/>
                  </a:lnTo>
                  <a:lnTo>
                    <a:pt x="0" y="231266"/>
                  </a:lnTo>
                  <a:lnTo>
                    <a:pt x="67233" y="274700"/>
                  </a:lnTo>
                  <a:lnTo>
                    <a:pt x="279425" y="137287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2439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6535" y="0"/>
                  </a:moveTo>
                  <a:lnTo>
                    <a:pt x="2806" y="41528"/>
                  </a:lnTo>
                  <a:lnTo>
                    <a:pt x="148463" y="135508"/>
                  </a:lnTo>
                  <a:lnTo>
                    <a:pt x="0" y="231266"/>
                  </a:lnTo>
                  <a:lnTo>
                    <a:pt x="66535" y="274700"/>
                  </a:lnTo>
                  <a:lnTo>
                    <a:pt x="279425" y="137287"/>
                  </a:lnTo>
                  <a:lnTo>
                    <a:pt x="66535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6474002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9648444" y="0"/>
                </a:lnTo>
                <a:lnTo>
                  <a:pt x="0" y="0"/>
                </a:lnTo>
                <a:lnTo>
                  <a:pt x="0" y="383997"/>
                </a:lnTo>
                <a:lnTo>
                  <a:pt x="9648444" y="383997"/>
                </a:lnTo>
                <a:lnTo>
                  <a:pt x="12192000" y="3839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99819" y="150368"/>
            <a:ext cx="56184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3900" algn="l"/>
              </a:tabLst>
            </a:pPr>
            <a:r>
              <a:rPr u="none" spc="-25" dirty="0">
                <a:latin typeface="Times New Roman"/>
                <a:cs typeface="Times New Roman"/>
              </a:rPr>
              <a:t>1.1</a:t>
            </a:r>
            <a:r>
              <a:rPr u="none" dirty="0">
                <a:latin typeface="Times New Roman"/>
                <a:cs typeface="Times New Roman"/>
              </a:rPr>
              <a:t>	</a:t>
            </a:r>
            <a:r>
              <a:rPr u="none" spc="-10" dirty="0"/>
              <a:t>计算机系统结构的基本概念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479030" y="255269"/>
            <a:ext cx="4465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1065" algn="l"/>
              </a:tabLst>
            </a:pPr>
            <a:r>
              <a:rPr sz="2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1.1.2</a:t>
            </a:r>
            <a:r>
              <a:rPr sz="2800" b="1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2800" b="1" spc="-40" dirty="0">
                <a:solidFill>
                  <a:srgbClr val="006FC0"/>
                </a:solidFill>
                <a:latin typeface="微软雅黑"/>
                <a:cs typeface="微软雅黑"/>
              </a:rPr>
              <a:t>计算机系统结构的定义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39" y="739896"/>
            <a:ext cx="11082020" cy="2329180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2055"/>
              </a:spcBef>
              <a:buClr>
                <a:srgbClr val="0000FF"/>
              </a:buClr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40" dirty="0">
                <a:latin typeface="微软雅黑"/>
                <a:cs typeface="微软雅黑"/>
              </a:rPr>
              <a:t>计算机系统结构的实质</a:t>
            </a:r>
            <a:endParaRPr sz="2800">
              <a:latin typeface="微软雅黑"/>
              <a:cs typeface="微软雅黑"/>
            </a:endParaRPr>
          </a:p>
          <a:p>
            <a:pPr marL="705485" lvl="1" indent="-236220">
              <a:lnSpc>
                <a:spcPct val="100000"/>
              </a:lnSpc>
              <a:spcBef>
                <a:spcPts val="1680"/>
              </a:spcBef>
              <a:buClr>
                <a:srgbClr val="F4B083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15" dirty="0">
                <a:solidFill>
                  <a:srgbClr val="006FC0"/>
                </a:solidFill>
                <a:latin typeface="微软雅黑"/>
                <a:cs typeface="微软雅黑"/>
              </a:rPr>
              <a:t>确定计算机系统中软硬件的界面，界面之上是软件实现的功能，界面之下是硬</a:t>
            </a:r>
            <a:endParaRPr sz="2400">
              <a:latin typeface="微软雅黑"/>
              <a:cs typeface="微软雅黑"/>
            </a:endParaRPr>
          </a:p>
          <a:p>
            <a:pPr marL="698500">
              <a:lnSpc>
                <a:spcPct val="100000"/>
              </a:lnSpc>
              <a:spcBef>
                <a:spcPts val="819"/>
              </a:spcBef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件和固件实现的功能。</a:t>
            </a:r>
            <a:endParaRPr sz="24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0"/>
              </a:spcBef>
              <a:buClr>
                <a:srgbClr val="F4B083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b="1" dirty="0">
                <a:solidFill>
                  <a:srgbClr val="C00000"/>
                </a:solidFill>
                <a:latin typeface="微软雅黑"/>
                <a:cs typeface="微软雅黑"/>
              </a:rPr>
              <a:t>指令集结构：用硬件实现的指令集，</a:t>
            </a:r>
            <a:r>
              <a:rPr sz="2400" b="1" spc="-25" dirty="0">
                <a:latin typeface="黑体"/>
                <a:cs typeface="黑体"/>
              </a:rPr>
              <a:t>软硬件之间的主要界面</a:t>
            </a:r>
            <a:endParaRPr sz="2400">
              <a:latin typeface="黑体"/>
              <a:cs typeface="黑体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74897" y="2866555"/>
            <a:ext cx="5617210" cy="2581910"/>
            <a:chOff x="6574897" y="2866555"/>
            <a:chExt cx="5617210" cy="25819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74897" y="3387364"/>
              <a:ext cx="5617102" cy="206068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03310" y="2866555"/>
              <a:ext cx="2207005" cy="101812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6379" y="5104938"/>
            <a:ext cx="10607675" cy="1280160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205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35" dirty="0">
                <a:latin typeface="微软雅黑"/>
                <a:cs typeface="微软雅黑"/>
              </a:rPr>
              <a:t>广义的系统结构定义：指令系统结构、组成、硬件（微体系结构</a:t>
            </a:r>
            <a:r>
              <a:rPr sz="2800" spc="-50" dirty="0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 marL="705485" lvl="1" indent="-236220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计算机设计的三个方面，提出了对计算机系统结构的量化方法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4010" y="3156839"/>
            <a:ext cx="2459990" cy="2237740"/>
          </a:xfrm>
          <a:prstGeom prst="rect">
            <a:avLst/>
          </a:prstGeom>
          <a:solidFill>
            <a:srgbClr val="FFE699"/>
          </a:solidFill>
        </p:spPr>
        <p:txBody>
          <a:bodyPr vert="horz" wrap="square" lIns="0" tIns="17081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345"/>
              </a:spcBef>
            </a:pPr>
            <a:r>
              <a:rPr sz="2800" spc="-40" dirty="0">
                <a:solidFill>
                  <a:srgbClr val="006FC0"/>
                </a:solidFill>
                <a:latin typeface="微软雅黑"/>
                <a:cs typeface="微软雅黑"/>
              </a:rPr>
              <a:t>上下贯通</a:t>
            </a:r>
            <a:endParaRPr sz="2800">
              <a:latin typeface="微软雅黑"/>
              <a:cs typeface="微软雅黑"/>
            </a:endParaRPr>
          </a:p>
          <a:p>
            <a:pPr marL="358140" marR="673100" indent="-88900">
              <a:lnSpc>
                <a:spcPts val="6050"/>
              </a:lnSpc>
              <a:spcBef>
                <a:spcPts val="650"/>
              </a:spcBef>
            </a:pPr>
            <a:r>
              <a:rPr sz="2800" spc="-45" dirty="0">
                <a:solidFill>
                  <a:srgbClr val="006FC0"/>
                </a:solidFill>
                <a:latin typeface="微软雅黑"/>
                <a:cs typeface="微软雅黑"/>
              </a:rPr>
              <a:t>上知天文</a:t>
            </a:r>
            <a:r>
              <a:rPr sz="2800" spc="-40" dirty="0">
                <a:solidFill>
                  <a:srgbClr val="006FC0"/>
                </a:solidFill>
                <a:latin typeface="微软雅黑"/>
                <a:cs typeface="微软雅黑"/>
              </a:rPr>
              <a:t>下知地理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153" y="218694"/>
            <a:ext cx="113169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1.1.3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计算机组成和计算机实</a:t>
            </a:r>
            <a:r>
              <a:rPr spc="-50" dirty="0"/>
              <a:t>现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5160" y="620312"/>
            <a:ext cx="11694160" cy="5753100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206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45" dirty="0">
                <a:latin typeface="微软雅黑"/>
                <a:cs typeface="微软雅黑"/>
              </a:rPr>
              <a:t>计算机组成：计算机系统结构的逻辑实现</a:t>
            </a:r>
            <a:endParaRPr sz="28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包含物理机器级中的数据流和控制流的组成以及逻辑设计等。</a:t>
            </a:r>
            <a:endParaRPr sz="2400">
              <a:latin typeface="微软雅黑"/>
              <a:cs typeface="微软雅黑"/>
            </a:endParaRPr>
          </a:p>
          <a:p>
            <a:pPr marL="705485" lvl="1" indent="-236220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着眼于</a:t>
            </a:r>
            <a:r>
              <a:rPr sz="2400" spc="-15" dirty="0">
                <a:solidFill>
                  <a:srgbClr val="006FC0"/>
                </a:solidFill>
                <a:latin typeface="微软雅黑"/>
                <a:cs typeface="微软雅黑"/>
              </a:rPr>
              <a:t>：物理机器级内各事件的排序方式与控制方式、各部件的功能以及各部件之</a:t>
            </a:r>
            <a:endParaRPr sz="2400">
              <a:latin typeface="微软雅黑"/>
              <a:cs typeface="微软雅黑"/>
            </a:endParaRPr>
          </a:p>
          <a:p>
            <a:pPr marL="698500">
              <a:lnSpc>
                <a:spcPct val="100000"/>
              </a:lnSpc>
              <a:spcBef>
                <a:spcPts val="820"/>
              </a:spcBef>
            </a:pP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间的联系。</a:t>
            </a:r>
            <a:endParaRPr sz="2400">
              <a:latin typeface="微软雅黑"/>
              <a:cs typeface="微软雅黑"/>
            </a:endParaRPr>
          </a:p>
          <a:p>
            <a:pPr marL="698500" marR="6985" lvl="1" indent="-229870">
              <a:lnSpc>
                <a:spcPct val="128299"/>
              </a:lnSpc>
              <a:spcBef>
                <a:spcPts val="875"/>
              </a:spcBef>
              <a:buSzPct val="93750"/>
              <a:buFont typeface="Wingdings"/>
              <a:buChar char=""/>
              <a:tabLst>
                <a:tab pos="698500" algn="l"/>
                <a:tab pos="705485" algn="l"/>
              </a:tabLst>
            </a:pPr>
            <a:r>
              <a:rPr sz="2400" dirty="0">
                <a:solidFill>
                  <a:srgbClr val="EC7C30"/>
                </a:solidFill>
                <a:latin typeface="微软雅黑"/>
                <a:cs typeface="微软雅黑"/>
              </a:rPr>
              <a:t>	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计算机组成设计要解决的问题是在所希望达到的性能和价格，怎样最佳、最合理地</a:t>
            </a:r>
            <a:r>
              <a:rPr sz="2400" spc="-15" dirty="0">
                <a:solidFill>
                  <a:srgbClr val="006FC0"/>
                </a:solidFill>
                <a:latin typeface="微软雅黑"/>
                <a:cs typeface="微软雅黑"/>
              </a:rPr>
              <a:t>把各种设备和部件组织成计算机，以实现所确定的系统结构。</a:t>
            </a:r>
            <a:endParaRPr sz="2400">
              <a:latin typeface="微软雅黑"/>
              <a:cs typeface="微软雅黑"/>
            </a:endParaRPr>
          </a:p>
          <a:p>
            <a:pPr marL="292735" indent="-279400">
              <a:lnSpc>
                <a:spcPct val="100000"/>
              </a:lnSpc>
              <a:spcBef>
                <a:spcPts val="249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2735" algn="l"/>
              </a:tabLst>
            </a:pPr>
            <a:r>
              <a:rPr sz="2800" spc="-45" dirty="0">
                <a:latin typeface="微软雅黑"/>
                <a:cs typeface="微软雅黑"/>
              </a:rPr>
              <a:t>计算实现：计算机组成的物理实现</a:t>
            </a:r>
            <a:endParaRPr sz="2800">
              <a:latin typeface="微软雅黑"/>
              <a:cs typeface="微软雅黑"/>
            </a:endParaRPr>
          </a:p>
          <a:p>
            <a:pPr marL="700405" marR="5080" lvl="1" indent="-229870">
              <a:lnSpc>
                <a:spcPct val="128299"/>
              </a:lnSpc>
              <a:spcBef>
                <a:spcPts val="875"/>
              </a:spcBef>
              <a:buSzPct val="93750"/>
              <a:buFont typeface="Wingdings"/>
              <a:buChar char=""/>
              <a:tabLst>
                <a:tab pos="700405" algn="l"/>
                <a:tab pos="707390" algn="l"/>
              </a:tabLst>
            </a:pPr>
            <a:r>
              <a:rPr sz="2400" dirty="0">
                <a:solidFill>
                  <a:srgbClr val="EC7C30"/>
                </a:solidFill>
                <a:latin typeface="微软雅黑"/>
                <a:cs typeface="微软雅黑"/>
              </a:rPr>
              <a:t>	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包括处理机、主存等部件的物理结构，器件的集成度和速度，模块、插件、底板的划分与连接，信号传输，电源、冷却及整机装配技术等。</a:t>
            </a:r>
            <a:endParaRPr sz="2400">
              <a:latin typeface="微软雅黑"/>
              <a:cs typeface="微软雅黑"/>
            </a:endParaRPr>
          </a:p>
          <a:p>
            <a:pPr marL="707390" lvl="1" indent="-236854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7390" algn="l"/>
              </a:tabLst>
            </a:pPr>
            <a:r>
              <a:rPr sz="2400" spc="-5" dirty="0">
                <a:solidFill>
                  <a:srgbClr val="FF0000"/>
                </a:solidFill>
                <a:latin typeface="微软雅黑"/>
                <a:cs typeface="微软雅黑"/>
              </a:rPr>
              <a:t>着眼于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：器件技术（起主导作用）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、微组装技术。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7860" y="35186"/>
            <a:ext cx="11916410" cy="4709160"/>
          </a:xfrm>
          <a:prstGeom prst="rect">
            <a:avLst/>
          </a:prstGeom>
        </p:spPr>
        <p:txBody>
          <a:bodyPr vert="horz" wrap="square" lIns="0" tIns="220345" rIns="0" bIns="0" rtlCol="0">
            <a:spAutoFit/>
          </a:bodyPr>
          <a:lstStyle/>
          <a:p>
            <a:pPr marL="624840">
              <a:lnSpc>
                <a:spcPct val="100000"/>
              </a:lnSpc>
              <a:spcBef>
                <a:spcPts val="1735"/>
              </a:spcBef>
              <a:tabLst>
                <a:tab pos="11915775" algn="l"/>
              </a:tabLst>
            </a:pPr>
            <a:r>
              <a:rPr sz="2700" b="1" u="heavy" spc="105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  </a:t>
            </a:r>
            <a:r>
              <a:rPr sz="2700" b="1" u="heavy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计算机系统结构、</a:t>
            </a:r>
            <a:r>
              <a:rPr sz="2700" b="1" u="heavy" spc="-120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 </a:t>
            </a:r>
            <a:r>
              <a:rPr sz="2700" b="1" u="heavy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计算机组成和计算机实</a:t>
            </a:r>
            <a:r>
              <a:rPr sz="2700" b="1" u="heavy" spc="-50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现</a:t>
            </a:r>
            <a:r>
              <a:rPr sz="2700" b="1" u="heavy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	</a:t>
            </a:r>
            <a:endParaRPr sz="2700">
              <a:latin typeface="微软雅黑"/>
              <a:cs typeface="微软雅黑"/>
            </a:endParaRPr>
          </a:p>
          <a:p>
            <a:pPr marL="278130" indent="-278130">
              <a:lnSpc>
                <a:spcPct val="100000"/>
              </a:lnSpc>
              <a:spcBef>
                <a:spcPts val="1695"/>
              </a:spcBef>
              <a:buClr>
                <a:srgbClr val="0000FF"/>
              </a:buClr>
              <a:buSzPct val="92857"/>
              <a:buFont typeface="Wingdings"/>
              <a:buChar char=""/>
              <a:tabLst>
                <a:tab pos="278130" algn="l"/>
              </a:tabLst>
            </a:pPr>
            <a:r>
              <a:rPr sz="2800" spc="-45" dirty="0">
                <a:latin typeface="微软雅黑"/>
                <a:cs typeface="微软雅黑"/>
              </a:rPr>
              <a:t>三者关系</a:t>
            </a:r>
            <a:endParaRPr sz="2800">
              <a:latin typeface="微软雅黑"/>
              <a:cs typeface="微软雅黑"/>
            </a:endParaRPr>
          </a:p>
          <a:p>
            <a:pPr marL="692785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69278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系相同的系统结构，计算机组成可以不同</a:t>
            </a:r>
            <a:endParaRPr sz="2400">
              <a:latin typeface="微软雅黑"/>
              <a:cs typeface="微软雅黑"/>
            </a:endParaRPr>
          </a:p>
          <a:p>
            <a:pPr marL="692785" lvl="1" indent="-236220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692785" algn="l"/>
              </a:tabLst>
            </a:pPr>
            <a:r>
              <a:rPr sz="2400" spc="-15" dirty="0">
                <a:solidFill>
                  <a:srgbClr val="006FC0"/>
                </a:solidFill>
                <a:latin typeface="微软雅黑"/>
                <a:cs typeface="微软雅黑"/>
              </a:rPr>
              <a:t>一种组成可以有多种不同的实现方法</a:t>
            </a:r>
            <a:endParaRPr sz="2400">
              <a:latin typeface="微软雅黑"/>
              <a:cs typeface="微软雅黑"/>
            </a:endParaRPr>
          </a:p>
          <a:p>
            <a:pPr marL="692785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69278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采用不同的系统结构会使采用不同组成技术有所差异</a:t>
            </a:r>
            <a:endParaRPr sz="2400">
              <a:latin typeface="微软雅黑"/>
              <a:cs typeface="微软雅黑"/>
            </a:endParaRPr>
          </a:p>
          <a:p>
            <a:pPr marL="692785" lvl="1" indent="-236854">
              <a:lnSpc>
                <a:spcPct val="100000"/>
              </a:lnSpc>
              <a:spcBef>
                <a:spcPts val="1689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692785" algn="l"/>
              </a:tabLst>
            </a:pP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组成也会影响结构</a:t>
            </a:r>
            <a:endParaRPr sz="2400">
              <a:latin typeface="微软雅黑"/>
              <a:cs typeface="微软雅黑"/>
            </a:endParaRPr>
          </a:p>
          <a:p>
            <a:pPr marL="457200">
              <a:lnSpc>
                <a:spcPct val="100000"/>
              </a:lnSpc>
              <a:spcBef>
                <a:spcPts val="1735"/>
              </a:spcBef>
            </a:pPr>
            <a:r>
              <a:rPr sz="2350" spc="-50" dirty="0">
                <a:solidFill>
                  <a:srgbClr val="EC7C30"/>
                </a:solidFill>
                <a:latin typeface="Wingdings"/>
                <a:cs typeface="Wingdings"/>
              </a:rPr>
              <a:t></a:t>
            </a:r>
            <a:endParaRPr sz="2350">
              <a:latin typeface="Wingdings"/>
              <a:cs typeface="Wingdings"/>
            </a:endParaRPr>
          </a:p>
          <a:p>
            <a:pPr marL="1905">
              <a:lnSpc>
                <a:spcPct val="100000"/>
              </a:lnSpc>
              <a:spcBef>
                <a:spcPts val="825"/>
              </a:spcBef>
            </a:pPr>
            <a:r>
              <a:rPr sz="2750" spc="-50" dirty="0">
                <a:solidFill>
                  <a:srgbClr val="0000FF"/>
                </a:solidFill>
                <a:latin typeface="Wingdings"/>
                <a:cs typeface="Wingdings"/>
              </a:rPr>
              <a:t></a:t>
            </a:r>
            <a:endParaRPr sz="2750">
              <a:latin typeface="Wingdings"/>
              <a:cs typeface="Wingding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8194" y="1536649"/>
            <a:ext cx="49155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546600" algn="l"/>
              </a:tabLst>
            </a:pPr>
            <a:r>
              <a:rPr sz="2800" u="none" spc="-2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sz="2800" u="none" spc="-40" dirty="0">
                <a:solidFill>
                  <a:srgbClr val="000000"/>
                </a:solidFill>
              </a:rPr>
              <a:t>、指令系统的</a:t>
            </a:r>
            <a:r>
              <a:rPr sz="2800" u="none" spc="-35" dirty="0">
                <a:solidFill>
                  <a:srgbClr val="EC7C30"/>
                </a:solidFill>
              </a:rPr>
              <a:t>确</a:t>
            </a:r>
            <a:r>
              <a:rPr sz="2800" u="none" spc="-40" dirty="0">
                <a:solidFill>
                  <a:srgbClr val="EC7C30"/>
                </a:solidFill>
              </a:rPr>
              <a:t>定</a:t>
            </a:r>
            <a:r>
              <a:rPr sz="2800" u="none" spc="-40" dirty="0">
                <a:solidFill>
                  <a:srgbClr val="000000"/>
                </a:solidFill>
              </a:rPr>
              <a:t>属于</a:t>
            </a:r>
            <a:r>
              <a:rPr sz="2800" u="none" spc="-50" dirty="0">
                <a:solidFill>
                  <a:srgbClr val="000000"/>
                </a:solidFill>
              </a:rPr>
              <a:t>（</a:t>
            </a:r>
            <a:r>
              <a:rPr sz="2800" u="none" dirty="0">
                <a:solidFill>
                  <a:srgbClr val="000000"/>
                </a:solidFill>
              </a:rPr>
              <a:t>	</a:t>
            </a:r>
            <a:r>
              <a:rPr sz="2800" u="none" spc="-50" dirty="0">
                <a:solidFill>
                  <a:srgbClr val="000000"/>
                </a:solidFill>
              </a:rPr>
              <a:t>）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7394" y="2883788"/>
            <a:ext cx="23406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微软雅黑"/>
                <a:cs typeface="微软雅黑"/>
              </a:rPr>
              <a:t>计算机系统结构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26122" y="2883788"/>
            <a:ext cx="167893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微软雅黑"/>
                <a:cs typeface="微软雅黑"/>
              </a:rPr>
              <a:t>计算机组成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7394" y="4598670"/>
            <a:ext cx="167893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微软雅黑"/>
                <a:cs typeface="微软雅黑"/>
              </a:rPr>
              <a:t>计算机实现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94321" y="4705858"/>
            <a:ext cx="6877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" dirty="0">
                <a:latin typeface="微软雅黑"/>
                <a:cs typeface="微软雅黑"/>
              </a:rPr>
              <a:t>其他</a:t>
            </a:r>
            <a:endParaRPr sz="2600">
              <a:latin typeface="微软雅黑"/>
              <a:cs typeface="微软雅黑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58925" y="2837688"/>
            <a:ext cx="539750" cy="539750"/>
            <a:chOff x="1558925" y="2837688"/>
            <a:chExt cx="539750" cy="539750"/>
          </a:xfrm>
        </p:grpSpPr>
        <p:sp>
          <p:nvSpPr>
            <p:cNvPr id="9" name="object 9"/>
            <p:cNvSpPr/>
            <p:nvPr/>
          </p:nvSpPr>
          <p:spPr>
            <a:xfrm>
              <a:off x="1571625" y="285038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0"/>
                  </a:lnTo>
                  <a:lnTo>
                    <a:pt x="167457" y="16080"/>
                  </a:lnTo>
                  <a:lnTo>
                    <a:pt x="127395" y="35094"/>
                  </a:lnTo>
                  <a:lnTo>
                    <a:pt x="91500" y="60458"/>
                  </a:lnTo>
                  <a:lnTo>
                    <a:pt x="60500" y="91447"/>
                  </a:lnTo>
                  <a:lnTo>
                    <a:pt x="35122" y="127338"/>
                  </a:lnTo>
                  <a:lnTo>
                    <a:pt x="16095" y="167406"/>
                  </a:lnTo>
                  <a:lnTo>
                    <a:pt x="4145" y="210926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71625" y="285038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26"/>
                  </a:lnTo>
                  <a:lnTo>
                    <a:pt x="16095" y="167406"/>
                  </a:lnTo>
                  <a:lnTo>
                    <a:pt x="35122" y="127338"/>
                  </a:lnTo>
                  <a:lnTo>
                    <a:pt x="60500" y="91447"/>
                  </a:lnTo>
                  <a:lnTo>
                    <a:pt x="91500" y="60458"/>
                  </a:lnTo>
                  <a:lnTo>
                    <a:pt x="127395" y="35094"/>
                  </a:lnTo>
                  <a:lnTo>
                    <a:pt x="167457" y="16080"/>
                  </a:lnTo>
                  <a:lnTo>
                    <a:pt x="210960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60" y="510204"/>
                  </a:lnTo>
                  <a:lnTo>
                    <a:pt x="167457" y="498254"/>
                  </a:lnTo>
                  <a:lnTo>
                    <a:pt x="127395" y="479227"/>
                  </a:lnTo>
                  <a:lnTo>
                    <a:pt x="91500" y="453849"/>
                  </a:lnTo>
                  <a:lnTo>
                    <a:pt x="60500" y="422849"/>
                  </a:lnTo>
                  <a:lnTo>
                    <a:pt x="35122" y="386954"/>
                  </a:lnTo>
                  <a:lnTo>
                    <a:pt x="16095" y="346892"/>
                  </a:lnTo>
                  <a:lnTo>
                    <a:pt x="4145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45107" y="2966085"/>
            <a:ext cx="168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91276" y="2835275"/>
            <a:ext cx="527050" cy="527050"/>
            <a:chOff x="5891276" y="2835275"/>
            <a:chExt cx="527050" cy="527050"/>
          </a:xfrm>
        </p:grpSpPr>
        <p:sp>
          <p:nvSpPr>
            <p:cNvPr id="13" name="object 13"/>
            <p:cNvSpPr/>
            <p:nvPr/>
          </p:nvSpPr>
          <p:spPr>
            <a:xfrm>
              <a:off x="5897626" y="28416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5"/>
                  </a:lnTo>
                  <a:lnTo>
                    <a:pt x="167457" y="16095"/>
                  </a:lnTo>
                  <a:lnTo>
                    <a:pt x="127395" y="35122"/>
                  </a:lnTo>
                  <a:lnTo>
                    <a:pt x="91500" y="60500"/>
                  </a:lnTo>
                  <a:lnTo>
                    <a:pt x="60500" y="91500"/>
                  </a:lnTo>
                  <a:lnTo>
                    <a:pt x="35122" y="127395"/>
                  </a:lnTo>
                  <a:lnTo>
                    <a:pt x="16095" y="167457"/>
                  </a:lnTo>
                  <a:lnTo>
                    <a:pt x="4145" y="210960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423" y="510204"/>
                  </a:lnTo>
                  <a:lnTo>
                    <a:pt x="346943" y="498254"/>
                  </a:lnTo>
                  <a:lnTo>
                    <a:pt x="387011" y="479227"/>
                  </a:lnTo>
                  <a:lnTo>
                    <a:pt x="422902" y="453849"/>
                  </a:lnTo>
                  <a:lnTo>
                    <a:pt x="453891" y="422849"/>
                  </a:lnTo>
                  <a:lnTo>
                    <a:pt x="479255" y="386954"/>
                  </a:lnTo>
                  <a:lnTo>
                    <a:pt x="498269" y="346892"/>
                  </a:lnTo>
                  <a:lnTo>
                    <a:pt x="510209" y="303389"/>
                  </a:lnTo>
                  <a:lnTo>
                    <a:pt x="514350" y="257175"/>
                  </a:lnTo>
                  <a:lnTo>
                    <a:pt x="510209" y="210960"/>
                  </a:lnTo>
                  <a:lnTo>
                    <a:pt x="498269" y="167457"/>
                  </a:lnTo>
                  <a:lnTo>
                    <a:pt x="479255" y="127395"/>
                  </a:lnTo>
                  <a:lnTo>
                    <a:pt x="453891" y="91500"/>
                  </a:lnTo>
                  <a:lnTo>
                    <a:pt x="422902" y="60500"/>
                  </a:lnTo>
                  <a:lnTo>
                    <a:pt x="387011" y="35122"/>
                  </a:lnTo>
                  <a:lnTo>
                    <a:pt x="346943" y="16095"/>
                  </a:lnTo>
                  <a:lnTo>
                    <a:pt x="303423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97626" y="28416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60"/>
                  </a:lnTo>
                  <a:lnTo>
                    <a:pt x="16095" y="167457"/>
                  </a:lnTo>
                  <a:lnTo>
                    <a:pt x="35122" y="127395"/>
                  </a:lnTo>
                  <a:lnTo>
                    <a:pt x="60500" y="91500"/>
                  </a:lnTo>
                  <a:lnTo>
                    <a:pt x="91500" y="60500"/>
                  </a:lnTo>
                  <a:lnTo>
                    <a:pt x="127395" y="35122"/>
                  </a:lnTo>
                  <a:lnTo>
                    <a:pt x="167457" y="16095"/>
                  </a:lnTo>
                  <a:lnTo>
                    <a:pt x="210960" y="4145"/>
                  </a:lnTo>
                  <a:lnTo>
                    <a:pt x="257175" y="0"/>
                  </a:lnTo>
                  <a:lnTo>
                    <a:pt x="303423" y="4145"/>
                  </a:lnTo>
                  <a:lnTo>
                    <a:pt x="346943" y="16095"/>
                  </a:lnTo>
                  <a:lnTo>
                    <a:pt x="387011" y="35122"/>
                  </a:lnTo>
                  <a:lnTo>
                    <a:pt x="422902" y="60500"/>
                  </a:lnTo>
                  <a:lnTo>
                    <a:pt x="453891" y="91500"/>
                  </a:lnTo>
                  <a:lnTo>
                    <a:pt x="479255" y="127395"/>
                  </a:lnTo>
                  <a:lnTo>
                    <a:pt x="498269" y="167457"/>
                  </a:lnTo>
                  <a:lnTo>
                    <a:pt x="510209" y="210960"/>
                  </a:lnTo>
                  <a:lnTo>
                    <a:pt x="514350" y="257175"/>
                  </a:lnTo>
                  <a:lnTo>
                    <a:pt x="510209" y="303389"/>
                  </a:lnTo>
                  <a:lnTo>
                    <a:pt x="498269" y="346892"/>
                  </a:lnTo>
                  <a:lnTo>
                    <a:pt x="479255" y="386954"/>
                  </a:lnTo>
                  <a:lnTo>
                    <a:pt x="453891" y="422849"/>
                  </a:lnTo>
                  <a:lnTo>
                    <a:pt x="422902" y="453849"/>
                  </a:lnTo>
                  <a:lnTo>
                    <a:pt x="387011" y="479227"/>
                  </a:lnTo>
                  <a:lnTo>
                    <a:pt x="346943" y="498254"/>
                  </a:lnTo>
                  <a:lnTo>
                    <a:pt x="303423" y="510204"/>
                  </a:lnTo>
                  <a:lnTo>
                    <a:pt x="257175" y="514350"/>
                  </a:lnTo>
                  <a:lnTo>
                    <a:pt x="210960" y="510204"/>
                  </a:lnTo>
                  <a:lnTo>
                    <a:pt x="167457" y="498254"/>
                  </a:lnTo>
                  <a:lnTo>
                    <a:pt x="127395" y="479227"/>
                  </a:lnTo>
                  <a:lnTo>
                    <a:pt x="91500" y="453849"/>
                  </a:lnTo>
                  <a:lnTo>
                    <a:pt x="60500" y="422849"/>
                  </a:lnTo>
                  <a:lnTo>
                    <a:pt x="35122" y="386954"/>
                  </a:lnTo>
                  <a:lnTo>
                    <a:pt x="16095" y="346892"/>
                  </a:lnTo>
                  <a:lnTo>
                    <a:pt x="4145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78982" y="2957322"/>
            <a:ext cx="153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5275" y="4558538"/>
            <a:ext cx="527050" cy="527050"/>
            <a:chOff x="1565275" y="4558538"/>
            <a:chExt cx="527050" cy="527050"/>
          </a:xfrm>
        </p:grpSpPr>
        <p:sp>
          <p:nvSpPr>
            <p:cNvPr id="17" name="object 17"/>
            <p:cNvSpPr/>
            <p:nvPr/>
          </p:nvSpPr>
          <p:spPr>
            <a:xfrm>
              <a:off x="1571625" y="456488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0"/>
                  </a:lnTo>
                  <a:lnTo>
                    <a:pt x="167457" y="16080"/>
                  </a:lnTo>
                  <a:lnTo>
                    <a:pt x="127395" y="35094"/>
                  </a:lnTo>
                  <a:lnTo>
                    <a:pt x="91500" y="60458"/>
                  </a:lnTo>
                  <a:lnTo>
                    <a:pt x="60500" y="91447"/>
                  </a:lnTo>
                  <a:lnTo>
                    <a:pt x="35122" y="127338"/>
                  </a:lnTo>
                  <a:lnTo>
                    <a:pt x="16095" y="167406"/>
                  </a:lnTo>
                  <a:lnTo>
                    <a:pt x="4145" y="210926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71625" y="456488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26"/>
                  </a:lnTo>
                  <a:lnTo>
                    <a:pt x="16095" y="167406"/>
                  </a:lnTo>
                  <a:lnTo>
                    <a:pt x="35122" y="127338"/>
                  </a:lnTo>
                  <a:lnTo>
                    <a:pt x="60500" y="91447"/>
                  </a:lnTo>
                  <a:lnTo>
                    <a:pt x="91500" y="60458"/>
                  </a:lnTo>
                  <a:lnTo>
                    <a:pt x="127395" y="35094"/>
                  </a:lnTo>
                  <a:lnTo>
                    <a:pt x="167457" y="16080"/>
                  </a:lnTo>
                  <a:lnTo>
                    <a:pt x="210960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60" y="510204"/>
                  </a:lnTo>
                  <a:lnTo>
                    <a:pt x="167457" y="498254"/>
                  </a:lnTo>
                  <a:lnTo>
                    <a:pt x="127395" y="479227"/>
                  </a:lnTo>
                  <a:lnTo>
                    <a:pt x="91500" y="453849"/>
                  </a:lnTo>
                  <a:lnTo>
                    <a:pt x="60500" y="422849"/>
                  </a:lnTo>
                  <a:lnTo>
                    <a:pt x="35122" y="386954"/>
                  </a:lnTo>
                  <a:lnTo>
                    <a:pt x="16095" y="346892"/>
                  </a:lnTo>
                  <a:lnTo>
                    <a:pt x="4145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48154" y="4680965"/>
            <a:ext cx="1612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91276" y="4494148"/>
            <a:ext cx="527050" cy="527050"/>
            <a:chOff x="5891276" y="4494148"/>
            <a:chExt cx="527050" cy="527050"/>
          </a:xfrm>
        </p:grpSpPr>
        <p:sp>
          <p:nvSpPr>
            <p:cNvPr id="21" name="object 21"/>
            <p:cNvSpPr/>
            <p:nvPr/>
          </p:nvSpPr>
          <p:spPr>
            <a:xfrm>
              <a:off x="5897626" y="450049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5"/>
                  </a:lnTo>
                  <a:lnTo>
                    <a:pt x="167457" y="16095"/>
                  </a:lnTo>
                  <a:lnTo>
                    <a:pt x="127395" y="35122"/>
                  </a:lnTo>
                  <a:lnTo>
                    <a:pt x="91500" y="60500"/>
                  </a:lnTo>
                  <a:lnTo>
                    <a:pt x="60500" y="91500"/>
                  </a:lnTo>
                  <a:lnTo>
                    <a:pt x="35122" y="127395"/>
                  </a:lnTo>
                  <a:lnTo>
                    <a:pt x="16095" y="167457"/>
                  </a:lnTo>
                  <a:lnTo>
                    <a:pt x="4145" y="210960"/>
                  </a:lnTo>
                  <a:lnTo>
                    <a:pt x="0" y="257175"/>
                  </a:lnTo>
                  <a:lnTo>
                    <a:pt x="4145" y="303423"/>
                  </a:lnTo>
                  <a:lnTo>
                    <a:pt x="16095" y="346943"/>
                  </a:lnTo>
                  <a:lnTo>
                    <a:pt x="35122" y="387011"/>
                  </a:lnTo>
                  <a:lnTo>
                    <a:pt x="60500" y="422902"/>
                  </a:lnTo>
                  <a:lnTo>
                    <a:pt x="91500" y="453891"/>
                  </a:lnTo>
                  <a:lnTo>
                    <a:pt x="127395" y="479255"/>
                  </a:lnTo>
                  <a:lnTo>
                    <a:pt x="167457" y="498269"/>
                  </a:lnTo>
                  <a:lnTo>
                    <a:pt x="210960" y="510209"/>
                  </a:lnTo>
                  <a:lnTo>
                    <a:pt x="257175" y="514350"/>
                  </a:lnTo>
                  <a:lnTo>
                    <a:pt x="303423" y="510209"/>
                  </a:lnTo>
                  <a:lnTo>
                    <a:pt x="346943" y="498269"/>
                  </a:lnTo>
                  <a:lnTo>
                    <a:pt x="387011" y="479255"/>
                  </a:lnTo>
                  <a:lnTo>
                    <a:pt x="422902" y="453891"/>
                  </a:lnTo>
                  <a:lnTo>
                    <a:pt x="453891" y="422902"/>
                  </a:lnTo>
                  <a:lnTo>
                    <a:pt x="479255" y="387011"/>
                  </a:lnTo>
                  <a:lnTo>
                    <a:pt x="498269" y="346943"/>
                  </a:lnTo>
                  <a:lnTo>
                    <a:pt x="510209" y="303423"/>
                  </a:lnTo>
                  <a:lnTo>
                    <a:pt x="514350" y="257175"/>
                  </a:lnTo>
                  <a:lnTo>
                    <a:pt x="510209" y="210960"/>
                  </a:lnTo>
                  <a:lnTo>
                    <a:pt x="498269" y="167457"/>
                  </a:lnTo>
                  <a:lnTo>
                    <a:pt x="479255" y="127395"/>
                  </a:lnTo>
                  <a:lnTo>
                    <a:pt x="453891" y="91500"/>
                  </a:lnTo>
                  <a:lnTo>
                    <a:pt x="422902" y="60500"/>
                  </a:lnTo>
                  <a:lnTo>
                    <a:pt x="387011" y="35122"/>
                  </a:lnTo>
                  <a:lnTo>
                    <a:pt x="346943" y="16095"/>
                  </a:lnTo>
                  <a:lnTo>
                    <a:pt x="303423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897626" y="450049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60"/>
                  </a:lnTo>
                  <a:lnTo>
                    <a:pt x="16095" y="167457"/>
                  </a:lnTo>
                  <a:lnTo>
                    <a:pt x="35122" y="127395"/>
                  </a:lnTo>
                  <a:lnTo>
                    <a:pt x="60500" y="91500"/>
                  </a:lnTo>
                  <a:lnTo>
                    <a:pt x="91500" y="60500"/>
                  </a:lnTo>
                  <a:lnTo>
                    <a:pt x="127395" y="35122"/>
                  </a:lnTo>
                  <a:lnTo>
                    <a:pt x="167457" y="16095"/>
                  </a:lnTo>
                  <a:lnTo>
                    <a:pt x="210960" y="4145"/>
                  </a:lnTo>
                  <a:lnTo>
                    <a:pt x="257175" y="0"/>
                  </a:lnTo>
                  <a:lnTo>
                    <a:pt x="303423" y="4145"/>
                  </a:lnTo>
                  <a:lnTo>
                    <a:pt x="346943" y="16095"/>
                  </a:lnTo>
                  <a:lnTo>
                    <a:pt x="387011" y="35122"/>
                  </a:lnTo>
                  <a:lnTo>
                    <a:pt x="422902" y="60500"/>
                  </a:lnTo>
                  <a:lnTo>
                    <a:pt x="453891" y="91500"/>
                  </a:lnTo>
                  <a:lnTo>
                    <a:pt x="479255" y="127395"/>
                  </a:lnTo>
                  <a:lnTo>
                    <a:pt x="498269" y="167457"/>
                  </a:lnTo>
                  <a:lnTo>
                    <a:pt x="510209" y="210960"/>
                  </a:lnTo>
                  <a:lnTo>
                    <a:pt x="514350" y="257175"/>
                  </a:lnTo>
                  <a:lnTo>
                    <a:pt x="510209" y="303423"/>
                  </a:lnTo>
                  <a:lnTo>
                    <a:pt x="498269" y="346943"/>
                  </a:lnTo>
                  <a:lnTo>
                    <a:pt x="479255" y="387011"/>
                  </a:lnTo>
                  <a:lnTo>
                    <a:pt x="453891" y="422902"/>
                  </a:lnTo>
                  <a:lnTo>
                    <a:pt x="422902" y="453891"/>
                  </a:lnTo>
                  <a:lnTo>
                    <a:pt x="387011" y="479255"/>
                  </a:lnTo>
                  <a:lnTo>
                    <a:pt x="346943" y="498269"/>
                  </a:lnTo>
                  <a:lnTo>
                    <a:pt x="303423" y="510209"/>
                  </a:lnTo>
                  <a:lnTo>
                    <a:pt x="257175" y="514350"/>
                  </a:lnTo>
                  <a:lnTo>
                    <a:pt x="210960" y="510209"/>
                  </a:lnTo>
                  <a:lnTo>
                    <a:pt x="167457" y="498269"/>
                  </a:lnTo>
                  <a:lnTo>
                    <a:pt x="127395" y="479255"/>
                  </a:lnTo>
                  <a:lnTo>
                    <a:pt x="91500" y="453891"/>
                  </a:lnTo>
                  <a:lnTo>
                    <a:pt x="60500" y="422902"/>
                  </a:lnTo>
                  <a:lnTo>
                    <a:pt x="35122" y="387011"/>
                  </a:lnTo>
                  <a:lnTo>
                    <a:pt x="16095" y="346943"/>
                  </a:lnTo>
                  <a:lnTo>
                    <a:pt x="4145" y="303423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065265" y="4616577"/>
            <a:ext cx="180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896350" y="6196012"/>
            <a:ext cx="1581150" cy="449580"/>
            <a:chOff x="8896350" y="6196012"/>
            <a:chExt cx="1581150" cy="449580"/>
          </a:xfrm>
        </p:grpSpPr>
        <p:sp>
          <p:nvSpPr>
            <p:cNvPr id="25" name="object 25"/>
            <p:cNvSpPr/>
            <p:nvPr/>
          </p:nvSpPr>
          <p:spPr>
            <a:xfrm>
              <a:off x="8915400" y="6215062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579" y="0"/>
                  </a:lnTo>
                  <a:lnTo>
                    <a:pt x="41898" y="5389"/>
                  </a:lnTo>
                  <a:lnTo>
                    <a:pt x="20097" y="20088"/>
                  </a:lnTo>
                  <a:lnTo>
                    <a:pt x="5393" y="41887"/>
                  </a:lnTo>
                  <a:lnTo>
                    <a:pt x="0" y="68579"/>
                  </a:lnTo>
                  <a:lnTo>
                    <a:pt x="0" y="342900"/>
                  </a:lnTo>
                  <a:lnTo>
                    <a:pt x="5393" y="369592"/>
                  </a:lnTo>
                  <a:lnTo>
                    <a:pt x="20097" y="391391"/>
                  </a:lnTo>
                  <a:lnTo>
                    <a:pt x="41898" y="406090"/>
                  </a:lnTo>
                  <a:lnTo>
                    <a:pt x="68579" y="411480"/>
                  </a:lnTo>
                  <a:lnTo>
                    <a:pt x="1474470" y="411480"/>
                  </a:lnTo>
                  <a:lnTo>
                    <a:pt x="1501151" y="406090"/>
                  </a:lnTo>
                  <a:lnTo>
                    <a:pt x="1522952" y="391391"/>
                  </a:lnTo>
                  <a:lnTo>
                    <a:pt x="1537656" y="369592"/>
                  </a:lnTo>
                  <a:lnTo>
                    <a:pt x="1543050" y="342900"/>
                  </a:lnTo>
                  <a:lnTo>
                    <a:pt x="1543050" y="68579"/>
                  </a:lnTo>
                  <a:lnTo>
                    <a:pt x="1537656" y="41887"/>
                  </a:lnTo>
                  <a:lnTo>
                    <a:pt x="1522952" y="20088"/>
                  </a:lnTo>
                  <a:lnTo>
                    <a:pt x="1501151" y="5389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15400" y="6215062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579"/>
                  </a:moveTo>
                  <a:lnTo>
                    <a:pt x="5393" y="41887"/>
                  </a:lnTo>
                  <a:lnTo>
                    <a:pt x="20097" y="20088"/>
                  </a:lnTo>
                  <a:lnTo>
                    <a:pt x="41898" y="5389"/>
                  </a:lnTo>
                  <a:lnTo>
                    <a:pt x="68579" y="0"/>
                  </a:lnTo>
                  <a:lnTo>
                    <a:pt x="1474470" y="0"/>
                  </a:lnTo>
                  <a:lnTo>
                    <a:pt x="1501151" y="5389"/>
                  </a:lnTo>
                  <a:lnTo>
                    <a:pt x="1522952" y="20088"/>
                  </a:lnTo>
                  <a:lnTo>
                    <a:pt x="1537656" y="41887"/>
                  </a:lnTo>
                  <a:lnTo>
                    <a:pt x="1543050" y="68579"/>
                  </a:lnTo>
                  <a:lnTo>
                    <a:pt x="1543050" y="342900"/>
                  </a:lnTo>
                  <a:lnTo>
                    <a:pt x="1537656" y="369592"/>
                  </a:lnTo>
                  <a:lnTo>
                    <a:pt x="1522952" y="391391"/>
                  </a:lnTo>
                  <a:lnTo>
                    <a:pt x="1501151" y="406090"/>
                  </a:lnTo>
                  <a:lnTo>
                    <a:pt x="1474470" y="411480"/>
                  </a:lnTo>
                  <a:lnTo>
                    <a:pt x="68579" y="411480"/>
                  </a:lnTo>
                  <a:lnTo>
                    <a:pt x="41898" y="406090"/>
                  </a:lnTo>
                  <a:lnTo>
                    <a:pt x="20097" y="391391"/>
                  </a:lnTo>
                  <a:lnTo>
                    <a:pt x="5393" y="369592"/>
                  </a:lnTo>
                  <a:lnTo>
                    <a:pt x="0" y="342900"/>
                  </a:lnTo>
                  <a:lnTo>
                    <a:pt x="0" y="6857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472930" y="6279591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0" dirty="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29" name="object 29"/>
            <p:cNvSpPr/>
            <p:nvPr/>
          </p:nvSpPr>
          <p:spPr>
            <a:xfrm>
              <a:off x="190500" y="0"/>
              <a:ext cx="12001500" cy="635000"/>
            </a:xfrm>
            <a:custGeom>
              <a:avLst/>
              <a:gdLst/>
              <a:ahLst/>
              <a:cxnLst/>
              <a:rect l="l" t="t" r="r" b="b"/>
              <a:pathLst>
                <a:path w="12001500" h="635000">
                  <a:moveTo>
                    <a:pt x="0" y="635000"/>
                  </a:moveTo>
                  <a:lnTo>
                    <a:pt x="12001500" y="635000"/>
                  </a:lnTo>
                  <a:lnTo>
                    <a:pt x="12001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04899" y="187578"/>
            <a:ext cx="6400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808080"/>
                </a:solidFill>
                <a:latin typeface="微软雅黑"/>
                <a:cs typeface="微软雅黑"/>
              </a:rPr>
              <a:t>0.5</a:t>
            </a:r>
            <a:r>
              <a:rPr sz="2000" spc="-60" dirty="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98194" y="1536649"/>
            <a:ext cx="98920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23095" algn="l"/>
              </a:tabLst>
            </a:pPr>
            <a:r>
              <a:rPr sz="2800" u="none" spc="-20" dirty="0">
                <a:solidFill>
                  <a:srgbClr val="000000"/>
                </a:solidFill>
                <a:latin typeface="Times New Roman"/>
                <a:cs typeface="Times New Roman"/>
              </a:rPr>
              <a:t>2</a:t>
            </a:r>
            <a:r>
              <a:rPr sz="2800" u="none" spc="-35" dirty="0">
                <a:solidFill>
                  <a:srgbClr val="000000"/>
                </a:solidFill>
              </a:rPr>
              <a:t>、指令的实现（取指令</a:t>
            </a:r>
            <a:r>
              <a:rPr sz="2800" u="none" spc="-30" dirty="0">
                <a:solidFill>
                  <a:srgbClr val="000000"/>
                </a:solidFill>
              </a:rPr>
              <a:t>、</a:t>
            </a:r>
            <a:r>
              <a:rPr sz="2800" u="none" spc="-35" dirty="0">
                <a:solidFill>
                  <a:srgbClr val="000000"/>
                </a:solidFill>
              </a:rPr>
              <a:t>分析指令、取操作数等）属于</a:t>
            </a:r>
            <a:r>
              <a:rPr sz="2800" u="none" spc="-50" dirty="0">
                <a:solidFill>
                  <a:srgbClr val="000000"/>
                </a:solidFill>
              </a:rPr>
              <a:t>（</a:t>
            </a:r>
            <a:r>
              <a:rPr sz="2800" u="none" dirty="0">
                <a:solidFill>
                  <a:srgbClr val="000000"/>
                </a:solidFill>
              </a:rPr>
              <a:t>	</a:t>
            </a:r>
            <a:r>
              <a:rPr sz="2800" u="none" spc="-50" dirty="0">
                <a:solidFill>
                  <a:srgbClr val="000000"/>
                </a:solidFill>
              </a:rPr>
              <a:t>）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7394" y="2883788"/>
            <a:ext cx="23406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微软雅黑"/>
                <a:cs typeface="微软雅黑"/>
              </a:rPr>
              <a:t>计算机系统结构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66229" y="2948177"/>
            <a:ext cx="167893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微软雅黑"/>
                <a:cs typeface="微软雅黑"/>
              </a:rPr>
              <a:t>计算机组成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61589" y="4384294"/>
            <a:ext cx="167893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微软雅黑"/>
                <a:cs typeface="微软雅黑"/>
              </a:rPr>
              <a:t>计算机实现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98181" y="4341367"/>
            <a:ext cx="68707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" dirty="0">
                <a:latin typeface="微软雅黑"/>
                <a:cs typeface="微软雅黑"/>
              </a:rPr>
              <a:t>其他</a:t>
            </a:r>
            <a:endParaRPr sz="2600">
              <a:latin typeface="微软雅黑"/>
              <a:cs typeface="微软雅黑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65275" y="2844038"/>
            <a:ext cx="527050" cy="527050"/>
            <a:chOff x="1565275" y="2844038"/>
            <a:chExt cx="527050" cy="527050"/>
          </a:xfrm>
        </p:grpSpPr>
        <p:sp>
          <p:nvSpPr>
            <p:cNvPr id="9" name="object 9"/>
            <p:cNvSpPr/>
            <p:nvPr/>
          </p:nvSpPr>
          <p:spPr>
            <a:xfrm>
              <a:off x="1571625" y="285038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0"/>
                  </a:lnTo>
                  <a:lnTo>
                    <a:pt x="167457" y="16080"/>
                  </a:lnTo>
                  <a:lnTo>
                    <a:pt x="127395" y="35094"/>
                  </a:lnTo>
                  <a:lnTo>
                    <a:pt x="91500" y="60458"/>
                  </a:lnTo>
                  <a:lnTo>
                    <a:pt x="60500" y="91447"/>
                  </a:lnTo>
                  <a:lnTo>
                    <a:pt x="35122" y="127338"/>
                  </a:lnTo>
                  <a:lnTo>
                    <a:pt x="16095" y="167406"/>
                  </a:lnTo>
                  <a:lnTo>
                    <a:pt x="4145" y="210926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71625" y="285038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26"/>
                  </a:lnTo>
                  <a:lnTo>
                    <a:pt x="16095" y="167406"/>
                  </a:lnTo>
                  <a:lnTo>
                    <a:pt x="35122" y="127338"/>
                  </a:lnTo>
                  <a:lnTo>
                    <a:pt x="60500" y="91447"/>
                  </a:lnTo>
                  <a:lnTo>
                    <a:pt x="91500" y="60458"/>
                  </a:lnTo>
                  <a:lnTo>
                    <a:pt x="127395" y="35094"/>
                  </a:lnTo>
                  <a:lnTo>
                    <a:pt x="167457" y="16080"/>
                  </a:lnTo>
                  <a:lnTo>
                    <a:pt x="210960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60" y="510204"/>
                  </a:lnTo>
                  <a:lnTo>
                    <a:pt x="167457" y="498254"/>
                  </a:lnTo>
                  <a:lnTo>
                    <a:pt x="127395" y="479227"/>
                  </a:lnTo>
                  <a:lnTo>
                    <a:pt x="91500" y="453849"/>
                  </a:lnTo>
                  <a:lnTo>
                    <a:pt x="60500" y="422849"/>
                  </a:lnTo>
                  <a:lnTo>
                    <a:pt x="35122" y="386954"/>
                  </a:lnTo>
                  <a:lnTo>
                    <a:pt x="16095" y="346892"/>
                  </a:lnTo>
                  <a:lnTo>
                    <a:pt x="4145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45107" y="2966085"/>
            <a:ext cx="168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78550" y="2837688"/>
            <a:ext cx="539750" cy="539750"/>
            <a:chOff x="6178550" y="2837688"/>
            <a:chExt cx="539750" cy="539750"/>
          </a:xfrm>
        </p:grpSpPr>
        <p:sp>
          <p:nvSpPr>
            <p:cNvPr id="13" name="object 13"/>
            <p:cNvSpPr/>
            <p:nvPr/>
          </p:nvSpPr>
          <p:spPr>
            <a:xfrm>
              <a:off x="6191250" y="285038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0"/>
                  </a:lnTo>
                  <a:lnTo>
                    <a:pt x="167457" y="16080"/>
                  </a:lnTo>
                  <a:lnTo>
                    <a:pt x="127395" y="35094"/>
                  </a:lnTo>
                  <a:lnTo>
                    <a:pt x="91500" y="60458"/>
                  </a:lnTo>
                  <a:lnTo>
                    <a:pt x="60500" y="91447"/>
                  </a:lnTo>
                  <a:lnTo>
                    <a:pt x="35122" y="127338"/>
                  </a:lnTo>
                  <a:lnTo>
                    <a:pt x="16095" y="167406"/>
                  </a:lnTo>
                  <a:lnTo>
                    <a:pt x="4145" y="210926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191250" y="2850388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26"/>
                  </a:lnTo>
                  <a:lnTo>
                    <a:pt x="16095" y="167406"/>
                  </a:lnTo>
                  <a:lnTo>
                    <a:pt x="35122" y="127338"/>
                  </a:lnTo>
                  <a:lnTo>
                    <a:pt x="60500" y="91447"/>
                  </a:lnTo>
                  <a:lnTo>
                    <a:pt x="91500" y="60458"/>
                  </a:lnTo>
                  <a:lnTo>
                    <a:pt x="127395" y="35094"/>
                  </a:lnTo>
                  <a:lnTo>
                    <a:pt x="167457" y="16080"/>
                  </a:lnTo>
                  <a:lnTo>
                    <a:pt x="210960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60" y="510204"/>
                  </a:lnTo>
                  <a:lnTo>
                    <a:pt x="167457" y="498254"/>
                  </a:lnTo>
                  <a:lnTo>
                    <a:pt x="127395" y="479227"/>
                  </a:lnTo>
                  <a:lnTo>
                    <a:pt x="91500" y="453849"/>
                  </a:lnTo>
                  <a:lnTo>
                    <a:pt x="60500" y="422849"/>
                  </a:lnTo>
                  <a:lnTo>
                    <a:pt x="35122" y="386954"/>
                  </a:lnTo>
                  <a:lnTo>
                    <a:pt x="16095" y="346892"/>
                  </a:lnTo>
                  <a:lnTo>
                    <a:pt x="4145" y="303389"/>
                  </a:lnTo>
                  <a:lnTo>
                    <a:pt x="0" y="25717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372859" y="2966085"/>
            <a:ext cx="153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5275" y="4301363"/>
            <a:ext cx="527050" cy="527050"/>
            <a:chOff x="1565275" y="4301363"/>
            <a:chExt cx="527050" cy="527050"/>
          </a:xfrm>
        </p:grpSpPr>
        <p:sp>
          <p:nvSpPr>
            <p:cNvPr id="17" name="object 17"/>
            <p:cNvSpPr/>
            <p:nvPr/>
          </p:nvSpPr>
          <p:spPr>
            <a:xfrm>
              <a:off x="1571625" y="430771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0"/>
                  </a:lnTo>
                  <a:lnTo>
                    <a:pt x="167457" y="16080"/>
                  </a:lnTo>
                  <a:lnTo>
                    <a:pt x="127395" y="35094"/>
                  </a:lnTo>
                  <a:lnTo>
                    <a:pt x="91500" y="60458"/>
                  </a:lnTo>
                  <a:lnTo>
                    <a:pt x="60500" y="91447"/>
                  </a:lnTo>
                  <a:lnTo>
                    <a:pt x="35122" y="127338"/>
                  </a:lnTo>
                  <a:lnTo>
                    <a:pt x="16095" y="167406"/>
                  </a:lnTo>
                  <a:lnTo>
                    <a:pt x="4145" y="210926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26"/>
                  </a:lnTo>
                  <a:lnTo>
                    <a:pt x="498254" y="167406"/>
                  </a:lnTo>
                  <a:lnTo>
                    <a:pt x="479227" y="127338"/>
                  </a:lnTo>
                  <a:lnTo>
                    <a:pt x="453849" y="91447"/>
                  </a:lnTo>
                  <a:lnTo>
                    <a:pt x="422849" y="60458"/>
                  </a:lnTo>
                  <a:lnTo>
                    <a:pt x="386954" y="35094"/>
                  </a:lnTo>
                  <a:lnTo>
                    <a:pt x="346892" y="16080"/>
                  </a:lnTo>
                  <a:lnTo>
                    <a:pt x="303389" y="4140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71625" y="4307713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26"/>
                  </a:lnTo>
                  <a:lnTo>
                    <a:pt x="16095" y="167406"/>
                  </a:lnTo>
                  <a:lnTo>
                    <a:pt x="35122" y="127338"/>
                  </a:lnTo>
                  <a:lnTo>
                    <a:pt x="60500" y="91447"/>
                  </a:lnTo>
                  <a:lnTo>
                    <a:pt x="91500" y="60458"/>
                  </a:lnTo>
                  <a:lnTo>
                    <a:pt x="127395" y="35094"/>
                  </a:lnTo>
                  <a:lnTo>
                    <a:pt x="167457" y="16080"/>
                  </a:lnTo>
                  <a:lnTo>
                    <a:pt x="210960" y="4140"/>
                  </a:lnTo>
                  <a:lnTo>
                    <a:pt x="257175" y="0"/>
                  </a:lnTo>
                  <a:lnTo>
                    <a:pt x="303389" y="4140"/>
                  </a:lnTo>
                  <a:lnTo>
                    <a:pt x="346892" y="16080"/>
                  </a:lnTo>
                  <a:lnTo>
                    <a:pt x="386954" y="35094"/>
                  </a:lnTo>
                  <a:lnTo>
                    <a:pt x="422849" y="60458"/>
                  </a:lnTo>
                  <a:lnTo>
                    <a:pt x="453849" y="91447"/>
                  </a:lnTo>
                  <a:lnTo>
                    <a:pt x="479227" y="127338"/>
                  </a:lnTo>
                  <a:lnTo>
                    <a:pt x="498254" y="167406"/>
                  </a:lnTo>
                  <a:lnTo>
                    <a:pt x="510204" y="210926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60" y="510204"/>
                  </a:lnTo>
                  <a:lnTo>
                    <a:pt x="167457" y="498254"/>
                  </a:lnTo>
                  <a:lnTo>
                    <a:pt x="127395" y="479227"/>
                  </a:lnTo>
                  <a:lnTo>
                    <a:pt x="91500" y="453849"/>
                  </a:lnTo>
                  <a:lnTo>
                    <a:pt x="60500" y="422849"/>
                  </a:lnTo>
                  <a:lnTo>
                    <a:pt x="35122" y="386954"/>
                  </a:lnTo>
                  <a:lnTo>
                    <a:pt x="16095" y="346892"/>
                  </a:lnTo>
                  <a:lnTo>
                    <a:pt x="4145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48154" y="4423664"/>
            <a:ext cx="1612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微软雅黑"/>
                <a:cs typeface="微软雅黑"/>
              </a:rPr>
              <a:t>C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89650" y="4279900"/>
            <a:ext cx="527050" cy="527050"/>
            <a:chOff x="6089650" y="4279900"/>
            <a:chExt cx="527050" cy="527050"/>
          </a:xfrm>
        </p:grpSpPr>
        <p:sp>
          <p:nvSpPr>
            <p:cNvPr id="21" name="object 21"/>
            <p:cNvSpPr/>
            <p:nvPr/>
          </p:nvSpPr>
          <p:spPr>
            <a:xfrm>
              <a:off x="6096000" y="428625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57175" y="0"/>
                  </a:moveTo>
                  <a:lnTo>
                    <a:pt x="210960" y="4145"/>
                  </a:lnTo>
                  <a:lnTo>
                    <a:pt x="167457" y="16095"/>
                  </a:lnTo>
                  <a:lnTo>
                    <a:pt x="127395" y="35122"/>
                  </a:lnTo>
                  <a:lnTo>
                    <a:pt x="91500" y="60500"/>
                  </a:lnTo>
                  <a:lnTo>
                    <a:pt x="60500" y="91500"/>
                  </a:lnTo>
                  <a:lnTo>
                    <a:pt x="35122" y="127395"/>
                  </a:lnTo>
                  <a:lnTo>
                    <a:pt x="16095" y="167457"/>
                  </a:lnTo>
                  <a:lnTo>
                    <a:pt x="4145" y="210960"/>
                  </a:lnTo>
                  <a:lnTo>
                    <a:pt x="0" y="257175"/>
                  </a:lnTo>
                  <a:lnTo>
                    <a:pt x="4145" y="303389"/>
                  </a:lnTo>
                  <a:lnTo>
                    <a:pt x="16095" y="346892"/>
                  </a:lnTo>
                  <a:lnTo>
                    <a:pt x="35122" y="386954"/>
                  </a:lnTo>
                  <a:lnTo>
                    <a:pt x="60500" y="422849"/>
                  </a:lnTo>
                  <a:lnTo>
                    <a:pt x="91500" y="453849"/>
                  </a:lnTo>
                  <a:lnTo>
                    <a:pt x="127395" y="479227"/>
                  </a:lnTo>
                  <a:lnTo>
                    <a:pt x="167457" y="498254"/>
                  </a:lnTo>
                  <a:lnTo>
                    <a:pt x="210960" y="510204"/>
                  </a:lnTo>
                  <a:lnTo>
                    <a:pt x="257175" y="514350"/>
                  </a:lnTo>
                  <a:lnTo>
                    <a:pt x="303389" y="510204"/>
                  </a:lnTo>
                  <a:lnTo>
                    <a:pt x="346892" y="498254"/>
                  </a:lnTo>
                  <a:lnTo>
                    <a:pt x="386954" y="479227"/>
                  </a:lnTo>
                  <a:lnTo>
                    <a:pt x="422849" y="453849"/>
                  </a:lnTo>
                  <a:lnTo>
                    <a:pt x="453849" y="422849"/>
                  </a:lnTo>
                  <a:lnTo>
                    <a:pt x="479227" y="386954"/>
                  </a:lnTo>
                  <a:lnTo>
                    <a:pt x="498254" y="346892"/>
                  </a:lnTo>
                  <a:lnTo>
                    <a:pt x="510204" y="303389"/>
                  </a:lnTo>
                  <a:lnTo>
                    <a:pt x="514350" y="257175"/>
                  </a:lnTo>
                  <a:lnTo>
                    <a:pt x="510204" y="210960"/>
                  </a:lnTo>
                  <a:lnTo>
                    <a:pt x="498254" y="167457"/>
                  </a:lnTo>
                  <a:lnTo>
                    <a:pt x="479227" y="127395"/>
                  </a:lnTo>
                  <a:lnTo>
                    <a:pt x="453849" y="91500"/>
                  </a:lnTo>
                  <a:lnTo>
                    <a:pt x="422849" y="60500"/>
                  </a:lnTo>
                  <a:lnTo>
                    <a:pt x="386954" y="35122"/>
                  </a:lnTo>
                  <a:lnTo>
                    <a:pt x="346892" y="16095"/>
                  </a:lnTo>
                  <a:lnTo>
                    <a:pt x="303389" y="4145"/>
                  </a:lnTo>
                  <a:lnTo>
                    <a:pt x="257175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96000" y="428625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0" y="257175"/>
                  </a:moveTo>
                  <a:lnTo>
                    <a:pt x="4145" y="210960"/>
                  </a:lnTo>
                  <a:lnTo>
                    <a:pt x="16095" y="167457"/>
                  </a:lnTo>
                  <a:lnTo>
                    <a:pt x="35122" y="127395"/>
                  </a:lnTo>
                  <a:lnTo>
                    <a:pt x="60500" y="91500"/>
                  </a:lnTo>
                  <a:lnTo>
                    <a:pt x="91500" y="60500"/>
                  </a:lnTo>
                  <a:lnTo>
                    <a:pt x="127395" y="35122"/>
                  </a:lnTo>
                  <a:lnTo>
                    <a:pt x="167457" y="16095"/>
                  </a:lnTo>
                  <a:lnTo>
                    <a:pt x="210960" y="4145"/>
                  </a:lnTo>
                  <a:lnTo>
                    <a:pt x="257175" y="0"/>
                  </a:lnTo>
                  <a:lnTo>
                    <a:pt x="303389" y="4145"/>
                  </a:lnTo>
                  <a:lnTo>
                    <a:pt x="346892" y="16095"/>
                  </a:lnTo>
                  <a:lnTo>
                    <a:pt x="386954" y="35122"/>
                  </a:lnTo>
                  <a:lnTo>
                    <a:pt x="422849" y="60500"/>
                  </a:lnTo>
                  <a:lnTo>
                    <a:pt x="453849" y="91500"/>
                  </a:lnTo>
                  <a:lnTo>
                    <a:pt x="479227" y="127395"/>
                  </a:lnTo>
                  <a:lnTo>
                    <a:pt x="498254" y="167457"/>
                  </a:lnTo>
                  <a:lnTo>
                    <a:pt x="510204" y="210960"/>
                  </a:lnTo>
                  <a:lnTo>
                    <a:pt x="514350" y="257175"/>
                  </a:lnTo>
                  <a:lnTo>
                    <a:pt x="510204" y="303389"/>
                  </a:lnTo>
                  <a:lnTo>
                    <a:pt x="498254" y="346892"/>
                  </a:lnTo>
                  <a:lnTo>
                    <a:pt x="479227" y="386954"/>
                  </a:lnTo>
                  <a:lnTo>
                    <a:pt x="453849" y="422849"/>
                  </a:lnTo>
                  <a:lnTo>
                    <a:pt x="422849" y="453849"/>
                  </a:lnTo>
                  <a:lnTo>
                    <a:pt x="386954" y="479227"/>
                  </a:lnTo>
                  <a:lnTo>
                    <a:pt x="346892" y="498254"/>
                  </a:lnTo>
                  <a:lnTo>
                    <a:pt x="303389" y="510204"/>
                  </a:lnTo>
                  <a:lnTo>
                    <a:pt x="257175" y="514350"/>
                  </a:lnTo>
                  <a:lnTo>
                    <a:pt x="210960" y="510204"/>
                  </a:lnTo>
                  <a:lnTo>
                    <a:pt x="167457" y="498254"/>
                  </a:lnTo>
                  <a:lnTo>
                    <a:pt x="127395" y="479227"/>
                  </a:lnTo>
                  <a:lnTo>
                    <a:pt x="91500" y="453849"/>
                  </a:lnTo>
                  <a:lnTo>
                    <a:pt x="60500" y="422849"/>
                  </a:lnTo>
                  <a:lnTo>
                    <a:pt x="35122" y="386954"/>
                  </a:lnTo>
                  <a:lnTo>
                    <a:pt x="16095" y="346892"/>
                  </a:lnTo>
                  <a:lnTo>
                    <a:pt x="4145" y="303389"/>
                  </a:lnTo>
                  <a:lnTo>
                    <a:pt x="0" y="2571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63766" y="4402328"/>
            <a:ext cx="1803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solidFill>
                  <a:srgbClr val="FFFFFF"/>
                </a:solidFill>
                <a:latin typeface="微软雅黑"/>
                <a:cs typeface="微软雅黑"/>
              </a:rPr>
              <a:t>D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896350" y="6196012"/>
            <a:ext cx="1581150" cy="449580"/>
            <a:chOff x="8896350" y="6196012"/>
            <a:chExt cx="1581150" cy="449580"/>
          </a:xfrm>
        </p:grpSpPr>
        <p:sp>
          <p:nvSpPr>
            <p:cNvPr id="25" name="object 25"/>
            <p:cNvSpPr/>
            <p:nvPr/>
          </p:nvSpPr>
          <p:spPr>
            <a:xfrm>
              <a:off x="8915400" y="6215062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1474470" y="0"/>
                  </a:moveTo>
                  <a:lnTo>
                    <a:pt x="68579" y="0"/>
                  </a:lnTo>
                  <a:lnTo>
                    <a:pt x="41898" y="5389"/>
                  </a:lnTo>
                  <a:lnTo>
                    <a:pt x="20097" y="20088"/>
                  </a:lnTo>
                  <a:lnTo>
                    <a:pt x="5393" y="41887"/>
                  </a:lnTo>
                  <a:lnTo>
                    <a:pt x="0" y="68579"/>
                  </a:lnTo>
                  <a:lnTo>
                    <a:pt x="0" y="342900"/>
                  </a:lnTo>
                  <a:lnTo>
                    <a:pt x="5393" y="369592"/>
                  </a:lnTo>
                  <a:lnTo>
                    <a:pt x="20097" y="391391"/>
                  </a:lnTo>
                  <a:lnTo>
                    <a:pt x="41898" y="406090"/>
                  </a:lnTo>
                  <a:lnTo>
                    <a:pt x="68579" y="411480"/>
                  </a:lnTo>
                  <a:lnTo>
                    <a:pt x="1474470" y="411480"/>
                  </a:lnTo>
                  <a:lnTo>
                    <a:pt x="1501151" y="406090"/>
                  </a:lnTo>
                  <a:lnTo>
                    <a:pt x="1522952" y="391391"/>
                  </a:lnTo>
                  <a:lnTo>
                    <a:pt x="1537656" y="369592"/>
                  </a:lnTo>
                  <a:lnTo>
                    <a:pt x="1543050" y="342900"/>
                  </a:lnTo>
                  <a:lnTo>
                    <a:pt x="1543050" y="68579"/>
                  </a:lnTo>
                  <a:lnTo>
                    <a:pt x="1537656" y="41887"/>
                  </a:lnTo>
                  <a:lnTo>
                    <a:pt x="1522952" y="20088"/>
                  </a:lnTo>
                  <a:lnTo>
                    <a:pt x="1501151" y="5389"/>
                  </a:lnTo>
                  <a:lnTo>
                    <a:pt x="1474470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915400" y="6215062"/>
              <a:ext cx="1543050" cy="411480"/>
            </a:xfrm>
            <a:custGeom>
              <a:avLst/>
              <a:gdLst/>
              <a:ahLst/>
              <a:cxnLst/>
              <a:rect l="l" t="t" r="r" b="b"/>
              <a:pathLst>
                <a:path w="1543050" h="411479">
                  <a:moveTo>
                    <a:pt x="0" y="68579"/>
                  </a:moveTo>
                  <a:lnTo>
                    <a:pt x="5393" y="41887"/>
                  </a:lnTo>
                  <a:lnTo>
                    <a:pt x="20097" y="20088"/>
                  </a:lnTo>
                  <a:lnTo>
                    <a:pt x="41898" y="5389"/>
                  </a:lnTo>
                  <a:lnTo>
                    <a:pt x="68579" y="0"/>
                  </a:lnTo>
                  <a:lnTo>
                    <a:pt x="1474470" y="0"/>
                  </a:lnTo>
                  <a:lnTo>
                    <a:pt x="1501151" y="5389"/>
                  </a:lnTo>
                  <a:lnTo>
                    <a:pt x="1522952" y="20088"/>
                  </a:lnTo>
                  <a:lnTo>
                    <a:pt x="1537656" y="41887"/>
                  </a:lnTo>
                  <a:lnTo>
                    <a:pt x="1543050" y="68579"/>
                  </a:lnTo>
                  <a:lnTo>
                    <a:pt x="1543050" y="342900"/>
                  </a:lnTo>
                  <a:lnTo>
                    <a:pt x="1537656" y="369592"/>
                  </a:lnTo>
                  <a:lnTo>
                    <a:pt x="1522952" y="391391"/>
                  </a:lnTo>
                  <a:lnTo>
                    <a:pt x="1501151" y="406090"/>
                  </a:lnTo>
                  <a:lnTo>
                    <a:pt x="1474470" y="411480"/>
                  </a:lnTo>
                  <a:lnTo>
                    <a:pt x="68579" y="411480"/>
                  </a:lnTo>
                  <a:lnTo>
                    <a:pt x="41898" y="406090"/>
                  </a:lnTo>
                  <a:lnTo>
                    <a:pt x="20097" y="391391"/>
                  </a:lnTo>
                  <a:lnTo>
                    <a:pt x="5393" y="369592"/>
                  </a:lnTo>
                  <a:lnTo>
                    <a:pt x="0" y="342900"/>
                  </a:lnTo>
                  <a:lnTo>
                    <a:pt x="0" y="68579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9472930" y="6279591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0" dirty="0">
                <a:solidFill>
                  <a:srgbClr val="FFFFFF"/>
                </a:solidFill>
                <a:latin typeface="微软雅黑"/>
                <a:cs typeface="微软雅黑"/>
              </a:rPr>
              <a:t>提交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29" name="object 29"/>
            <p:cNvSpPr/>
            <p:nvPr/>
          </p:nvSpPr>
          <p:spPr>
            <a:xfrm>
              <a:off x="190500" y="0"/>
              <a:ext cx="12001500" cy="635000"/>
            </a:xfrm>
            <a:custGeom>
              <a:avLst/>
              <a:gdLst/>
              <a:ahLst/>
              <a:cxnLst/>
              <a:rect l="l" t="t" r="r" b="b"/>
              <a:pathLst>
                <a:path w="12001500" h="635000">
                  <a:moveTo>
                    <a:pt x="0" y="635000"/>
                  </a:moveTo>
                  <a:lnTo>
                    <a:pt x="12001500" y="635000"/>
                  </a:lnTo>
                  <a:lnTo>
                    <a:pt x="12001500" y="0"/>
                  </a:lnTo>
                  <a:lnTo>
                    <a:pt x="0" y="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F6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0"/>
              <a:ext cx="190500" cy="635000"/>
            </a:xfrm>
            <a:custGeom>
              <a:avLst/>
              <a:gdLst/>
              <a:ahLst/>
              <a:cxnLst/>
              <a:rect l="l" t="t" r="r" b="b"/>
              <a:pathLst>
                <a:path w="190500" h="635000">
                  <a:moveTo>
                    <a:pt x="190500" y="0"/>
                  </a:moveTo>
                  <a:lnTo>
                    <a:pt x="0" y="0"/>
                  </a:lnTo>
                  <a:lnTo>
                    <a:pt x="0" y="635000"/>
                  </a:lnTo>
                  <a:lnTo>
                    <a:pt x="190500" y="6350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629E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32943" y="93090"/>
            <a:ext cx="10179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0" dirty="0">
                <a:latin typeface="微软雅黑"/>
                <a:cs typeface="微软雅黑"/>
              </a:rPr>
              <a:t>单选题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04899" y="187578"/>
            <a:ext cx="6400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808080"/>
                </a:solidFill>
                <a:latin typeface="微软雅黑"/>
                <a:cs typeface="微软雅黑"/>
              </a:rPr>
              <a:t>0.5</a:t>
            </a:r>
            <a:r>
              <a:rPr sz="2000" spc="-60" dirty="0">
                <a:solidFill>
                  <a:srgbClr val="808080"/>
                </a:solidFill>
                <a:latin typeface="微软雅黑"/>
                <a:cs typeface="微软雅黑"/>
              </a:rPr>
              <a:t>分</a:t>
            </a:r>
            <a:endParaRPr sz="2000">
              <a:latin typeface="微软雅黑"/>
              <a:cs typeface="微软雅黑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5571" y="1103420"/>
            <a:ext cx="10572115" cy="4142104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206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40" dirty="0">
                <a:latin typeface="微软雅黑"/>
                <a:cs typeface="微软雅黑"/>
              </a:rPr>
              <a:t>常见的</a:t>
            </a:r>
            <a:r>
              <a:rPr sz="2800" spc="-40" dirty="0">
                <a:solidFill>
                  <a:srgbClr val="FF0000"/>
                </a:solidFill>
                <a:latin typeface="微软雅黑"/>
                <a:cs typeface="微软雅黑"/>
              </a:rPr>
              <a:t>计算机系统结构分类法</a:t>
            </a:r>
            <a:r>
              <a:rPr sz="2800" spc="-40" dirty="0">
                <a:latin typeface="微软雅黑"/>
                <a:cs typeface="微软雅黑"/>
              </a:rPr>
              <a:t>有</a:t>
            </a:r>
            <a:r>
              <a:rPr sz="2800" spc="-20" dirty="0">
                <a:latin typeface="Times New Roman"/>
                <a:cs typeface="Times New Roman"/>
              </a:rPr>
              <a:t>3</a:t>
            </a:r>
            <a:r>
              <a:rPr sz="2800" spc="-45" dirty="0">
                <a:latin typeface="微软雅黑"/>
                <a:cs typeface="微软雅黑"/>
              </a:rPr>
              <a:t>种：</a:t>
            </a:r>
            <a:endParaRPr sz="2800">
              <a:latin typeface="微软雅黑"/>
              <a:cs typeface="微软雅黑"/>
            </a:endParaRPr>
          </a:p>
          <a:p>
            <a:pPr marL="704850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4850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Flynn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分类法、冯氏分类法和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Handler</a:t>
            </a:r>
            <a:r>
              <a:rPr sz="2400" spc="-40" dirty="0">
                <a:solidFill>
                  <a:srgbClr val="006FC0"/>
                </a:solidFill>
                <a:latin typeface="微软雅黑"/>
                <a:cs typeface="微软雅黑"/>
              </a:rPr>
              <a:t>分类法 。</a:t>
            </a:r>
            <a:endParaRPr sz="2400">
              <a:latin typeface="微软雅黑"/>
              <a:cs typeface="微软雅黑"/>
            </a:endParaRPr>
          </a:p>
          <a:p>
            <a:pPr marL="290830" indent="-279400">
              <a:lnSpc>
                <a:spcPct val="100000"/>
              </a:lnSpc>
              <a:spcBef>
                <a:spcPts val="1350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20" dirty="0">
                <a:latin typeface="Times New Roman"/>
                <a:cs typeface="Times New Roman"/>
              </a:rPr>
              <a:t>Flynn</a:t>
            </a:r>
            <a:r>
              <a:rPr sz="2800" spc="-45" dirty="0">
                <a:latin typeface="微软雅黑"/>
                <a:cs typeface="微软雅黑"/>
              </a:rPr>
              <a:t>分类法</a:t>
            </a:r>
            <a:endParaRPr sz="2800">
              <a:latin typeface="微软雅黑"/>
              <a:cs typeface="微软雅黑"/>
            </a:endParaRPr>
          </a:p>
          <a:p>
            <a:pPr marL="704850" lvl="1" indent="-236854">
              <a:lnSpc>
                <a:spcPct val="100000"/>
              </a:lnSpc>
              <a:spcBef>
                <a:spcPts val="167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4850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按照指令流和数据流的多倍性进行分类</a:t>
            </a:r>
            <a:endParaRPr sz="2400">
              <a:latin typeface="微软雅黑"/>
              <a:cs typeface="微软雅黑"/>
            </a:endParaRPr>
          </a:p>
          <a:p>
            <a:pPr marL="1155065" lvl="2" indent="-227965">
              <a:lnSpc>
                <a:spcPct val="100000"/>
              </a:lnSpc>
              <a:spcBef>
                <a:spcPts val="202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065" algn="l"/>
              </a:tabLst>
            </a:pP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指令流：计算机执行的指令序列</a:t>
            </a:r>
            <a:endParaRPr sz="2000">
              <a:latin typeface="微软雅黑"/>
              <a:cs typeface="微软雅黑"/>
            </a:endParaRPr>
          </a:p>
          <a:p>
            <a:pPr marL="1155065" lvl="2" indent="-227965">
              <a:lnSpc>
                <a:spcPct val="100000"/>
              </a:lnSpc>
              <a:spcBef>
                <a:spcPts val="202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065" algn="l"/>
              </a:tabLst>
            </a:pP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数据流：由指令流调用的数据序列</a:t>
            </a:r>
            <a:endParaRPr sz="2000">
              <a:latin typeface="微软雅黑"/>
              <a:cs typeface="微软雅黑"/>
            </a:endParaRPr>
          </a:p>
          <a:p>
            <a:pPr marL="1155065" lvl="2" indent="-227965">
              <a:lnSpc>
                <a:spcPct val="100000"/>
              </a:lnSpc>
              <a:spcBef>
                <a:spcPts val="2014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065" algn="l"/>
              </a:tabLst>
            </a:pP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多倍性：在系统最受限的部件上，同时处于同一执行阶段的指令或数据的最大数目。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6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1.1.4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/>
              <a:t>计算机系统结构的分</a:t>
            </a:r>
            <a:r>
              <a:rPr spc="-50" dirty="0"/>
              <a:t>类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1258" y="980693"/>
            <a:ext cx="69970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10" dirty="0">
                <a:latin typeface="Times New Roman"/>
                <a:cs typeface="Times New Roman"/>
              </a:rPr>
              <a:t>Flynn</a:t>
            </a:r>
            <a:r>
              <a:rPr sz="2800" spc="-35" dirty="0">
                <a:latin typeface="微软雅黑"/>
                <a:cs typeface="微软雅黑"/>
              </a:rPr>
              <a:t>分类法：</a:t>
            </a:r>
            <a:r>
              <a:rPr sz="2800" spc="-35" dirty="0">
                <a:solidFill>
                  <a:srgbClr val="3A3838"/>
                </a:solidFill>
                <a:latin typeface="微软雅黑"/>
                <a:cs typeface="微软雅黑"/>
              </a:rPr>
              <a:t>把计算机系统的结构分为</a:t>
            </a:r>
            <a:r>
              <a:rPr sz="2800" spc="-10" dirty="0">
                <a:solidFill>
                  <a:srgbClr val="3A3838"/>
                </a:solidFill>
                <a:latin typeface="Times New Roman"/>
                <a:cs typeface="Times New Roman"/>
              </a:rPr>
              <a:t>4</a:t>
            </a:r>
            <a:r>
              <a:rPr sz="2800" spc="-50" dirty="0">
                <a:solidFill>
                  <a:srgbClr val="3A3838"/>
                </a:solidFill>
                <a:latin typeface="微软雅黑"/>
                <a:cs typeface="微软雅黑"/>
              </a:rPr>
              <a:t>类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6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1.1.4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/>
              <a:t>计算机系统结构的分</a:t>
            </a:r>
            <a:r>
              <a:rPr spc="-50" dirty="0"/>
              <a:t>类</a:t>
            </a:r>
            <a:r>
              <a:rPr dirty="0"/>
              <a:t>	</a:t>
            </a:r>
          </a:p>
        </p:txBody>
      </p:sp>
      <p:sp>
        <p:nvSpPr>
          <p:cNvPr id="4" name="object 4"/>
          <p:cNvSpPr/>
          <p:nvPr/>
        </p:nvSpPr>
        <p:spPr>
          <a:xfrm>
            <a:off x="3301110" y="5637352"/>
            <a:ext cx="6991350" cy="708025"/>
          </a:xfrm>
          <a:custGeom>
            <a:avLst/>
            <a:gdLst/>
            <a:ahLst/>
            <a:cxnLst/>
            <a:rect l="l" t="t" r="r" b="b"/>
            <a:pathLst>
              <a:path w="6991350" h="708025">
                <a:moveTo>
                  <a:pt x="6991223" y="0"/>
                </a:moveTo>
                <a:lnTo>
                  <a:pt x="0" y="0"/>
                </a:lnTo>
                <a:lnTo>
                  <a:pt x="0" y="707885"/>
                </a:lnTo>
                <a:lnTo>
                  <a:pt x="6991223" y="707885"/>
                </a:lnTo>
                <a:lnTo>
                  <a:pt x="699122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6155" y="1687067"/>
          <a:ext cx="11211559" cy="5118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2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91440">
                        <a:lnSpc>
                          <a:spcPts val="2785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单指令流单数据流</a:t>
                      </a:r>
                      <a:r>
                        <a:rPr sz="2400" spc="-2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SISD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785"/>
                        </a:lnSpc>
                        <a:spcBef>
                          <a:spcPts val="280"/>
                        </a:spcBef>
                      </a:pPr>
                      <a:r>
                        <a:rPr sz="240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多指令流单数据流</a:t>
                      </a:r>
                      <a:r>
                        <a:rPr sz="2400" spc="-2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MISD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ts val="2780"/>
                        </a:lnSpc>
                      </a:pPr>
                      <a:r>
                        <a:rPr sz="240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2400" spc="-3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2400" spc="-4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2400" spc="-3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780"/>
                        </a:lnSpc>
                      </a:pPr>
                      <a:r>
                        <a:rPr sz="240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2400" spc="-5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2400" spc="-4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2400" spc="-3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2525">
                <a:tc>
                  <a:txBody>
                    <a:bodyPr/>
                    <a:lstStyle/>
                    <a:p>
                      <a:pPr marL="91440">
                        <a:lnSpc>
                          <a:spcPts val="2875"/>
                        </a:lnSpc>
                      </a:pP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）</a:t>
                      </a:r>
                      <a:r>
                        <a:rPr sz="2400" spc="-5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--</a:t>
                      </a:r>
                      <a:r>
                        <a:rPr sz="2400" spc="-15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主要应用于流水技术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75"/>
                        </a:lnSpc>
                      </a:pP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）</a:t>
                      </a:r>
                      <a:r>
                        <a:rPr sz="2400" spc="-5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--</a:t>
                      </a:r>
                      <a:r>
                        <a:rPr sz="2400" spc="-15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数据流计算机为代表，数据就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spc="-5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绪才可使用，以数据为驱动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marL="91440">
                        <a:lnSpc>
                          <a:spcPts val="2785"/>
                        </a:lnSpc>
                        <a:spcBef>
                          <a:spcPts val="284"/>
                        </a:spcBef>
                      </a:pPr>
                      <a:r>
                        <a:rPr sz="240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单指令流多数据流</a:t>
                      </a:r>
                      <a:r>
                        <a:rPr sz="2400" spc="-2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SIMD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785"/>
                        </a:lnSpc>
                        <a:spcBef>
                          <a:spcPts val="284"/>
                        </a:spcBef>
                      </a:pPr>
                      <a:r>
                        <a:rPr sz="240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多指令流多数据流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MIMD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Multiple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361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ts val="2785"/>
                        </a:lnSpc>
                      </a:pPr>
                      <a:r>
                        <a:rPr sz="240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（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2400" spc="-25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2400" spc="-35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2400" spc="-25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2400" spc="-3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2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785"/>
                        </a:lnSpc>
                      </a:pP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Instruction</a:t>
                      </a:r>
                      <a:r>
                        <a:rPr sz="2400" spc="-4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2400" spc="-3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2400" spc="-35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2400" spc="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）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ts val="2780"/>
                        </a:lnSpc>
                      </a:pP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微软雅黑"/>
                          <a:cs typeface="微软雅黑"/>
                        </a:rPr>
                        <a:t>）</a:t>
                      </a: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---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以向量处理机为代表，向量中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780"/>
                        </a:lnSpc>
                      </a:pPr>
                      <a:r>
                        <a:rPr sz="2400" spc="-10" dirty="0">
                          <a:solidFill>
                            <a:srgbClr val="0071A9"/>
                          </a:solidFill>
                          <a:latin typeface="Times New Roman"/>
                          <a:cs typeface="Times New Roman"/>
                        </a:rPr>
                        <a:t>---</a:t>
                      </a:r>
                      <a:r>
                        <a:rPr sz="2400" spc="-5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以多核处理器、多处理器、多计算机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91440">
                        <a:lnSpc>
                          <a:spcPts val="2875"/>
                        </a:lnSpc>
                      </a:pPr>
                      <a:r>
                        <a:rPr sz="2400" spc="-1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的元素以空间并行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875"/>
                        </a:lnSpc>
                      </a:pPr>
                      <a:r>
                        <a:rPr sz="2400" spc="-20" dirty="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为代表</a:t>
                      </a:r>
                      <a:endParaRPr sz="2400">
                        <a:latin typeface="微软雅黑"/>
                        <a:cs typeface="微软雅黑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9455">
                <a:tc gridSpan="2">
                  <a:txBody>
                    <a:bodyPr/>
                    <a:lstStyle/>
                    <a:p>
                      <a:pPr marL="685165"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4000" spc="-45" dirty="0">
                          <a:solidFill>
                            <a:srgbClr val="FFFF00"/>
                          </a:solidFill>
                          <a:latin typeface="宋体"/>
                          <a:cs typeface="宋体"/>
                        </a:rPr>
                        <a:t>最终，都聚焦于并行</a:t>
                      </a:r>
                      <a:endParaRPr sz="4000">
                        <a:latin typeface="宋体"/>
                        <a:cs typeface="宋体"/>
                      </a:endParaRPr>
                    </a:p>
                  </a:txBody>
                  <a:tcPr marL="0" marR="0" marT="234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874820"/>
            <a:ext cx="6254750" cy="4302125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206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45" dirty="0">
                <a:latin typeface="微软雅黑"/>
                <a:cs typeface="微软雅黑"/>
              </a:rPr>
              <a:t>冯氏分类法</a:t>
            </a:r>
            <a:endParaRPr sz="28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用系统的最大并行度对计算机进行分类。</a:t>
            </a:r>
            <a:endParaRPr sz="2400">
              <a:latin typeface="微软雅黑"/>
              <a:cs typeface="微软雅黑"/>
            </a:endParaRPr>
          </a:p>
          <a:p>
            <a:pPr marL="698500" marR="53975" lvl="1" indent="-229870">
              <a:lnSpc>
                <a:spcPct val="128400"/>
              </a:lnSpc>
              <a:spcBef>
                <a:spcPts val="860"/>
              </a:spcBef>
              <a:buSzPct val="93750"/>
              <a:buFont typeface="Wingdings"/>
              <a:buChar char=""/>
              <a:tabLst>
                <a:tab pos="698500" algn="l"/>
                <a:tab pos="705485" algn="l"/>
              </a:tabLst>
            </a:pPr>
            <a:r>
              <a:rPr sz="2400" dirty="0">
                <a:solidFill>
                  <a:srgbClr val="EC7C30"/>
                </a:solidFill>
                <a:latin typeface="微软雅黑"/>
                <a:cs typeface="微软雅黑"/>
              </a:rPr>
              <a:t>	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最大并行度：计算机系统在单位时间内能够处理的最大的二进制位数。</a:t>
            </a:r>
            <a:endParaRPr sz="2400">
              <a:latin typeface="微软雅黑"/>
              <a:cs typeface="微软雅黑"/>
            </a:endParaRPr>
          </a:p>
          <a:p>
            <a:pPr marL="1155700" marR="5080" lvl="2" indent="-229235">
              <a:lnSpc>
                <a:spcPct val="154200"/>
              </a:lnSpc>
              <a:spcBef>
                <a:spcPts val="72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用平面直角坐标系中的一个点代表一个计算机</a:t>
            </a:r>
            <a:r>
              <a:rPr sz="2000" spc="-5" dirty="0">
                <a:solidFill>
                  <a:srgbClr val="D50092"/>
                </a:solidFill>
                <a:latin typeface="微软雅黑"/>
                <a:cs typeface="微软雅黑"/>
              </a:rPr>
              <a:t>系统，其横坐标表示字宽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（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n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位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，纵坐标表</a:t>
            </a:r>
            <a:r>
              <a:rPr sz="2000" spc="-5" dirty="0">
                <a:solidFill>
                  <a:srgbClr val="D50092"/>
                </a:solidFill>
                <a:latin typeface="微软雅黑"/>
                <a:cs typeface="微软雅黑"/>
              </a:rPr>
              <a:t>示一次能同时处理的字数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（</a:t>
            </a:r>
            <a:r>
              <a:rPr sz="2000" spc="-20" dirty="0">
                <a:solidFill>
                  <a:srgbClr val="D50092"/>
                </a:solidFill>
                <a:latin typeface="Times New Roman"/>
                <a:cs typeface="Times New Roman"/>
              </a:rPr>
              <a:t>m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字）。</a:t>
            </a:r>
            <a:r>
              <a:rPr sz="2000" spc="-20" dirty="0">
                <a:solidFill>
                  <a:srgbClr val="D50092"/>
                </a:solidFill>
                <a:latin typeface="Times New Roman"/>
                <a:cs typeface="Times New Roman"/>
              </a:rPr>
              <a:t>m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×</a:t>
            </a:r>
            <a:r>
              <a:rPr sz="2000" spc="-20" dirty="0">
                <a:solidFill>
                  <a:srgbClr val="D50092"/>
                </a:solidFill>
                <a:latin typeface="Times New Roman"/>
                <a:cs typeface="Times New Roman"/>
              </a:rPr>
              <a:t>n</a:t>
            </a:r>
            <a:r>
              <a:rPr sz="2000" spc="-25" dirty="0">
                <a:solidFill>
                  <a:srgbClr val="D50092"/>
                </a:solidFill>
                <a:latin typeface="微软雅黑"/>
                <a:cs typeface="微软雅黑"/>
              </a:rPr>
              <a:t>就表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示了其最大并行度。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6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1.1.4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/>
              <a:t>计算机系统结构的分</a:t>
            </a:r>
            <a:r>
              <a:rPr spc="-50" dirty="0"/>
              <a:t>类</a:t>
            </a:r>
            <a:r>
              <a:rPr dirty="0"/>
              <a:t>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47408" y="3300074"/>
            <a:ext cx="588010" cy="4673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39"/>
              </a:lnSpc>
              <a:spcBef>
                <a:spcPts val="95"/>
              </a:spcBef>
            </a:pPr>
            <a:r>
              <a:rPr sz="1500" spc="-50" dirty="0">
                <a:latin typeface="宋体"/>
                <a:cs typeface="宋体"/>
              </a:rPr>
              <a:t>位片宽</a:t>
            </a:r>
            <a:endParaRPr sz="1500">
              <a:latin typeface="宋体"/>
              <a:cs typeface="宋体"/>
            </a:endParaRPr>
          </a:p>
          <a:p>
            <a:pPr marL="57150">
              <a:lnSpc>
                <a:spcPts val="1739"/>
              </a:lnSpc>
            </a:pPr>
            <a:r>
              <a:rPr sz="1500" spc="-25" dirty="0">
                <a:latin typeface="宋体"/>
                <a:cs typeface="宋体"/>
              </a:rPr>
              <a:t>（m）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12920" y="1629238"/>
            <a:ext cx="49720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latin typeface="宋体"/>
                <a:cs typeface="宋体"/>
              </a:rPr>
              <a:t>16384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86563" y="2399948"/>
            <a:ext cx="318770" cy="477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80"/>
              </a:lnSpc>
              <a:spcBef>
                <a:spcPts val="95"/>
              </a:spcBef>
            </a:pPr>
            <a:r>
              <a:rPr sz="1500" spc="-25" dirty="0">
                <a:latin typeface="宋体"/>
                <a:cs typeface="宋体"/>
              </a:rPr>
              <a:t>288</a:t>
            </a:r>
            <a:endParaRPr sz="1500">
              <a:latin typeface="宋体"/>
              <a:cs typeface="宋体"/>
            </a:endParaRPr>
          </a:p>
          <a:p>
            <a:pPr marL="22860">
              <a:lnSpc>
                <a:spcPts val="1780"/>
              </a:lnSpc>
            </a:pPr>
            <a:r>
              <a:rPr sz="1500" spc="-25" dirty="0">
                <a:latin typeface="宋体"/>
                <a:cs typeface="宋体"/>
              </a:rPr>
              <a:t>256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00796" y="3046616"/>
            <a:ext cx="21399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" dirty="0">
                <a:latin typeface="宋体"/>
                <a:cs typeface="宋体"/>
              </a:rPr>
              <a:t>64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00796" y="3692892"/>
            <a:ext cx="21399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" dirty="0">
                <a:latin typeface="宋体"/>
                <a:cs typeface="宋体"/>
              </a:rPr>
              <a:t>32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96185" y="4334557"/>
            <a:ext cx="21399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" dirty="0">
                <a:latin typeface="宋体"/>
                <a:cs typeface="宋体"/>
              </a:rPr>
              <a:t>16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63448" y="5130241"/>
            <a:ext cx="12065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0" dirty="0">
                <a:latin typeface="宋体"/>
                <a:cs typeface="宋体"/>
              </a:rPr>
              <a:t>1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54608" y="5130241"/>
            <a:ext cx="21399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" dirty="0">
                <a:latin typeface="宋体"/>
                <a:cs typeface="宋体"/>
              </a:rPr>
              <a:t>32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1510" y="5130241"/>
            <a:ext cx="21399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25" dirty="0">
                <a:latin typeface="宋体"/>
                <a:cs typeface="宋体"/>
              </a:rPr>
              <a:t>64</a:t>
            </a:r>
            <a:endParaRPr sz="1500">
              <a:latin typeface="宋体"/>
              <a:cs typeface="宋体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727295" y="1459216"/>
            <a:ext cx="260985" cy="3681095"/>
            <a:chOff x="7727295" y="1459216"/>
            <a:chExt cx="260985" cy="3681095"/>
          </a:xfrm>
        </p:grpSpPr>
        <p:sp>
          <p:nvSpPr>
            <p:cNvPr id="14" name="object 14"/>
            <p:cNvSpPr/>
            <p:nvPr/>
          </p:nvSpPr>
          <p:spPr>
            <a:xfrm>
              <a:off x="7730152" y="1462073"/>
              <a:ext cx="85090" cy="3675379"/>
            </a:xfrm>
            <a:custGeom>
              <a:avLst/>
              <a:gdLst/>
              <a:ahLst/>
              <a:cxnLst/>
              <a:rect l="l" t="t" r="r" b="b"/>
              <a:pathLst>
                <a:path w="85090" h="3675379">
                  <a:moveTo>
                    <a:pt x="44563" y="84761"/>
                  </a:moveTo>
                  <a:lnTo>
                    <a:pt x="29716" y="97986"/>
                  </a:lnTo>
                  <a:lnTo>
                    <a:pt x="29716" y="3664779"/>
                  </a:lnTo>
                  <a:lnTo>
                    <a:pt x="34845" y="3669885"/>
                  </a:lnTo>
                  <a:lnTo>
                    <a:pt x="39456" y="3674992"/>
                  </a:lnTo>
                  <a:lnTo>
                    <a:pt x="44564" y="3674992"/>
                  </a:lnTo>
                  <a:lnTo>
                    <a:pt x="54821" y="3664779"/>
                  </a:lnTo>
                  <a:lnTo>
                    <a:pt x="54820" y="94946"/>
                  </a:lnTo>
                  <a:lnTo>
                    <a:pt x="44563" y="84761"/>
                  </a:lnTo>
                  <a:close/>
                </a:path>
                <a:path w="85090" h="3675379">
                  <a:moveTo>
                    <a:pt x="44563" y="0"/>
                  </a:moveTo>
                  <a:lnTo>
                    <a:pt x="0" y="124454"/>
                  </a:lnTo>
                  <a:lnTo>
                    <a:pt x="29716" y="97986"/>
                  </a:lnTo>
                  <a:lnTo>
                    <a:pt x="29716" y="84761"/>
                  </a:lnTo>
                  <a:lnTo>
                    <a:pt x="34844" y="79593"/>
                  </a:lnTo>
                  <a:lnTo>
                    <a:pt x="39456" y="74424"/>
                  </a:lnTo>
                  <a:lnTo>
                    <a:pt x="68467" y="74424"/>
                  </a:lnTo>
                  <a:lnTo>
                    <a:pt x="44563" y="0"/>
                  </a:lnTo>
                  <a:close/>
                </a:path>
                <a:path w="85090" h="3675379">
                  <a:moveTo>
                    <a:pt x="68467" y="74424"/>
                  </a:moveTo>
                  <a:lnTo>
                    <a:pt x="44563" y="74424"/>
                  </a:lnTo>
                  <a:lnTo>
                    <a:pt x="54820" y="84761"/>
                  </a:lnTo>
                  <a:lnTo>
                    <a:pt x="54820" y="94946"/>
                  </a:lnTo>
                  <a:lnTo>
                    <a:pt x="84536" y="124454"/>
                  </a:lnTo>
                  <a:lnTo>
                    <a:pt x="68467" y="74424"/>
                  </a:lnTo>
                  <a:close/>
                </a:path>
                <a:path w="85090" h="3675379">
                  <a:moveTo>
                    <a:pt x="44563" y="74424"/>
                  </a:moveTo>
                  <a:lnTo>
                    <a:pt x="39456" y="74424"/>
                  </a:lnTo>
                  <a:lnTo>
                    <a:pt x="34844" y="79593"/>
                  </a:lnTo>
                  <a:lnTo>
                    <a:pt x="29716" y="84761"/>
                  </a:lnTo>
                  <a:lnTo>
                    <a:pt x="29716" y="97986"/>
                  </a:lnTo>
                  <a:lnTo>
                    <a:pt x="44563" y="84761"/>
                  </a:lnTo>
                  <a:lnTo>
                    <a:pt x="54820" y="84761"/>
                  </a:lnTo>
                  <a:lnTo>
                    <a:pt x="44563" y="74424"/>
                  </a:lnTo>
                  <a:close/>
                </a:path>
                <a:path w="85090" h="3675379">
                  <a:moveTo>
                    <a:pt x="54820" y="84761"/>
                  </a:moveTo>
                  <a:lnTo>
                    <a:pt x="44563" y="84761"/>
                  </a:lnTo>
                  <a:lnTo>
                    <a:pt x="54820" y="94946"/>
                  </a:lnTo>
                  <a:lnTo>
                    <a:pt x="54820" y="847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30152" y="1462073"/>
              <a:ext cx="85090" cy="3675379"/>
            </a:xfrm>
            <a:custGeom>
              <a:avLst/>
              <a:gdLst/>
              <a:ahLst/>
              <a:cxnLst/>
              <a:rect l="l" t="t" r="r" b="b"/>
              <a:pathLst>
                <a:path w="85090" h="3675379">
                  <a:moveTo>
                    <a:pt x="29716" y="3664779"/>
                  </a:moveTo>
                  <a:lnTo>
                    <a:pt x="29716" y="84761"/>
                  </a:lnTo>
                  <a:lnTo>
                    <a:pt x="34844" y="79593"/>
                  </a:lnTo>
                  <a:lnTo>
                    <a:pt x="39456" y="74424"/>
                  </a:lnTo>
                  <a:lnTo>
                    <a:pt x="44563" y="74424"/>
                  </a:lnTo>
                  <a:lnTo>
                    <a:pt x="49692" y="79593"/>
                  </a:lnTo>
                  <a:lnTo>
                    <a:pt x="54820" y="84761"/>
                  </a:lnTo>
                  <a:lnTo>
                    <a:pt x="54821" y="3664779"/>
                  </a:lnTo>
                  <a:lnTo>
                    <a:pt x="49692" y="3669885"/>
                  </a:lnTo>
                  <a:lnTo>
                    <a:pt x="44564" y="3674992"/>
                  </a:lnTo>
                  <a:lnTo>
                    <a:pt x="39456" y="3674992"/>
                  </a:lnTo>
                  <a:lnTo>
                    <a:pt x="34845" y="3669885"/>
                  </a:lnTo>
                  <a:lnTo>
                    <a:pt x="29716" y="3664779"/>
                  </a:lnTo>
                  <a:close/>
                </a:path>
                <a:path w="85090" h="3675379">
                  <a:moveTo>
                    <a:pt x="44563" y="84761"/>
                  </a:moveTo>
                  <a:lnTo>
                    <a:pt x="0" y="124454"/>
                  </a:lnTo>
                  <a:lnTo>
                    <a:pt x="44563" y="0"/>
                  </a:lnTo>
                  <a:lnTo>
                    <a:pt x="84536" y="124454"/>
                  </a:lnTo>
                  <a:lnTo>
                    <a:pt x="44563" y="84761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64997" y="1775278"/>
              <a:ext cx="168910" cy="20320"/>
            </a:xfrm>
            <a:custGeom>
              <a:avLst/>
              <a:gdLst/>
              <a:ahLst/>
              <a:cxnLst/>
              <a:rect l="l" t="t" r="r" b="b"/>
              <a:pathLst>
                <a:path w="168909" h="20319">
                  <a:moveTo>
                    <a:pt x="54283" y="0"/>
                  </a:moveTo>
                  <a:lnTo>
                    <a:pt x="9719" y="0"/>
                  </a:lnTo>
                  <a:lnTo>
                    <a:pt x="4611" y="5168"/>
                  </a:lnTo>
                  <a:lnTo>
                    <a:pt x="0" y="5168"/>
                  </a:lnTo>
                  <a:lnTo>
                    <a:pt x="0" y="14884"/>
                  </a:lnTo>
                  <a:lnTo>
                    <a:pt x="4611" y="14884"/>
                  </a:lnTo>
                  <a:lnTo>
                    <a:pt x="9719" y="19846"/>
                  </a:lnTo>
                  <a:lnTo>
                    <a:pt x="54283" y="19846"/>
                  </a:lnTo>
                  <a:lnTo>
                    <a:pt x="59411" y="14884"/>
                  </a:lnTo>
                  <a:lnTo>
                    <a:pt x="59411" y="5168"/>
                  </a:lnTo>
                  <a:lnTo>
                    <a:pt x="54283" y="0"/>
                  </a:lnTo>
                  <a:close/>
                </a:path>
                <a:path w="168909" h="20319">
                  <a:moveTo>
                    <a:pt x="163903" y="14884"/>
                  </a:moveTo>
                  <a:lnTo>
                    <a:pt x="114232" y="14884"/>
                  </a:lnTo>
                  <a:lnTo>
                    <a:pt x="114232" y="19846"/>
                  </a:lnTo>
                  <a:lnTo>
                    <a:pt x="163903" y="19846"/>
                  </a:lnTo>
                  <a:lnTo>
                    <a:pt x="163903" y="14884"/>
                  </a:lnTo>
                  <a:close/>
                </a:path>
                <a:path w="168909" h="20319">
                  <a:moveTo>
                    <a:pt x="168515" y="5168"/>
                  </a:moveTo>
                  <a:lnTo>
                    <a:pt x="109103" y="5168"/>
                  </a:lnTo>
                  <a:lnTo>
                    <a:pt x="109103" y="14884"/>
                  </a:lnTo>
                  <a:lnTo>
                    <a:pt x="168515" y="14884"/>
                  </a:lnTo>
                  <a:lnTo>
                    <a:pt x="168515" y="5168"/>
                  </a:lnTo>
                  <a:close/>
                </a:path>
                <a:path w="168909" h="20319">
                  <a:moveTo>
                    <a:pt x="163903" y="0"/>
                  </a:moveTo>
                  <a:lnTo>
                    <a:pt x="114232" y="0"/>
                  </a:lnTo>
                  <a:lnTo>
                    <a:pt x="114232" y="5168"/>
                  </a:lnTo>
                  <a:lnTo>
                    <a:pt x="163903" y="5168"/>
                  </a:lnTo>
                  <a:lnTo>
                    <a:pt x="1639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64997" y="1775278"/>
              <a:ext cx="168910" cy="20320"/>
            </a:xfrm>
            <a:custGeom>
              <a:avLst/>
              <a:gdLst/>
              <a:ahLst/>
              <a:cxnLst/>
              <a:rect l="l" t="t" r="r" b="b"/>
              <a:pathLst>
                <a:path w="168909" h="20319">
                  <a:moveTo>
                    <a:pt x="9719" y="0"/>
                  </a:moveTo>
                  <a:lnTo>
                    <a:pt x="54283" y="0"/>
                  </a:lnTo>
                  <a:lnTo>
                    <a:pt x="59411" y="5168"/>
                  </a:lnTo>
                  <a:lnTo>
                    <a:pt x="59411" y="10130"/>
                  </a:lnTo>
                  <a:lnTo>
                    <a:pt x="59411" y="14884"/>
                  </a:lnTo>
                  <a:lnTo>
                    <a:pt x="54283" y="19846"/>
                  </a:lnTo>
                  <a:lnTo>
                    <a:pt x="9719" y="19846"/>
                  </a:lnTo>
                  <a:lnTo>
                    <a:pt x="4611" y="14884"/>
                  </a:lnTo>
                  <a:lnTo>
                    <a:pt x="0" y="14884"/>
                  </a:lnTo>
                  <a:lnTo>
                    <a:pt x="0" y="10130"/>
                  </a:lnTo>
                  <a:lnTo>
                    <a:pt x="0" y="5168"/>
                  </a:lnTo>
                  <a:lnTo>
                    <a:pt x="4611" y="5168"/>
                  </a:lnTo>
                  <a:lnTo>
                    <a:pt x="9719" y="0"/>
                  </a:lnTo>
                  <a:close/>
                </a:path>
                <a:path w="168909" h="20319">
                  <a:moveTo>
                    <a:pt x="114232" y="0"/>
                  </a:moveTo>
                  <a:lnTo>
                    <a:pt x="163903" y="0"/>
                  </a:lnTo>
                  <a:lnTo>
                    <a:pt x="163903" y="5168"/>
                  </a:lnTo>
                  <a:lnTo>
                    <a:pt x="168515" y="5168"/>
                  </a:lnTo>
                  <a:lnTo>
                    <a:pt x="168515" y="10130"/>
                  </a:lnTo>
                  <a:lnTo>
                    <a:pt x="168515" y="14884"/>
                  </a:lnTo>
                  <a:lnTo>
                    <a:pt x="163903" y="14884"/>
                  </a:lnTo>
                  <a:lnTo>
                    <a:pt x="163903" y="19846"/>
                  </a:lnTo>
                  <a:lnTo>
                    <a:pt x="114232" y="19846"/>
                  </a:lnTo>
                  <a:lnTo>
                    <a:pt x="114232" y="14884"/>
                  </a:lnTo>
                  <a:lnTo>
                    <a:pt x="109103" y="14884"/>
                  </a:lnTo>
                  <a:lnTo>
                    <a:pt x="109103" y="10130"/>
                  </a:lnTo>
                  <a:lnTo>
                    <a:pt x="109103" y="5168"/>
                  </a:lnTo>
                  <a:lnTo>
                    <a:pt x="114232" y="5168"/>
                  </a:lnTo>
                  <a:lnTo>
                    <a:pt x="114232" y="0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938640" y="1775278"/>
              <a:ext cx="15240" cy="3327400"/>
            </a:xfrm>
            <a:custGeom>
              <a:avLst/>
              <a:gdLst/>
              <a:ahLst/>
              <a:cxnLst/>
              <a:rect l="l" t="t" r="r" b="b"/>
              <a:pathLst>
                <a:path w="15240" h="3327400">
                  <a:moveTo>
                    <a:pt x="14847" y="5168"/>
                  </a:moveTo>
                  <a:lnTo>
                    <a:pt x="0" y="5168"/>
                  </a:lnTo>
                  <a:lnTo>
                    <a:pt x="0" y="64708"/>
                  </a:lnTo>
                  <a:lnTo>
                    <a:pt x="14847" y="64708"/>
                  </a:lnTo>
                  <a:lnTo>
                    <a:pt x="14847" y="5168"/>
                  </a:lnTo>
                  <a:close/>
                </a:path>
                <a:path w="15240" h="3327400">
                  <a:moveTo>
                    <a:pt x="9739" y="0"/>
                  </a:moveTo>
                  <a:lnTo>
                    <a:pt x="5128" y="5168"/>
                  </a:lnTo>
                  <a:lnTo>
                    <a:pt x="9739" y="5168"/>
                  </a:lnTo>
                  <a:lnTo>
                    <a:pt x="9739" y="0"/>
                  </a:lnTo>
                  <a:close/>
                </a:path>
                <a:path w="15240" h="3327400">
                  <a:moveTo>
                    <a:pt x="9739" y="109569"/>
                  </a:moveTo>
                  <a:lnTo>
                    <a:pt x="5128" y="109569"/>
                  </a:lnTo>
                  <a:lnTo>
                    <a:pt x="0" y="114324"/>
                  </a:lnTo>
                  <a:lnTo>
                    <a:pt x="0" y="169316"/>
                  </a:lnTo>
                  <a:lnTo>
                    <a:pt x="5128" y="173864"/>
                  </a:lnTo>
                  <a:lnTo>
                    <a:pt x="9739" y="173864"/>
                  </a:lnTo>
                  <a:lnTo>
                    <a:pt x="14847" y="169316"/>
                  </a:lnTo>
                  <a:lnTo>
                    <a:pt x="14847" y="114324"/>
                  </a:lnTo>
                  <a:lnTo>
                    <a:pt x="9739" y="109569"/>
                  </a:lnTo>
                  <a:close/>
                </a:path>
                <a:path w="15240" h="3327400">
                  <a:moveTo>
                    <a:pt x="9739" y="218726"/>
                  </a:moveTo>
                  <a:lnTo>
                    <a:pt x="5128" y="218726"/>
                  </a:lnTo>
                  <a:lnTo>
                    <a:pt x="0" y="223894"/>
                  </a:lnTo>
                  <a:lnTo>
                    <a:pt x="0" y="278472"/>
                  </a:lnTo>
                  <a:lnTo>
                    <a:pt x="5128" y="283641"/>
                  </a:lnTo>
                  <a:lnTo>
                    <a:pt x="9739" y="283641"/>
                  </a:lnTo>
                  <a:lnTo>
                    <a:pt x="14847" y="278472"/>
                  </a:lnTo>
                  <a:lnTo>
                    <a:pt x="14847" y="223894"/>
                  </a:lnTo>
                  <a:lnTo>
                    <a:pt x="9739" y="218726"/>
                  </a:lnTo>
                  <a:close/>
                </a:path>
                <a:path w="15240" h="3327400">
                  <a:moveTo>
                    <a:pt x="9739" y="388249"/>
                  </a:moveTo>
                  <a:lnTo>
                    <a:pt x="5128" y="388249"/>
                  </a:lnTo>
                  <a:lnTo>
                    <a:pt x="9739" y="392797"/>
                  </a:lnTo>
                  <a:lnTo>
                    <a:pt x="9739" y="388249"/>
                  </a:lnTo>
                  <a:close/>
                </a:path>
                <a:path w="15240" h="3327400">
                  <a:moveTo>
                    <a:pt x="9739" y="328502"/>
                  </a:moveTo>
                  <a:lnTo>
                    <a:pt x="5128" y="328502"/>
                  </a:lnTo>
                  <a:lnTo>
                    <a:pt x="0" y="333050"/>
                  </a:lnTo>
                  <a:lnTo>
                    <a:pt x="0" y="388249"/>
                  </a:lnTo>
                  <a:lnTo>
                    <a:pt x="14847" y="388249"/>
                  </a:lnTo>
                  <a:lnTo>
                    <a:pt x="14847" y="333050"/>
                  </a:lnTo>
                  <a:lnTo>
                    <a:pt x="9739" y="328502"/>
                  </a:lnTo>
                  <a:close/>
                </a:path>
                <a:path w="15240" h="3327400">
                  <a:moveTo>
                    <a:pt x="14847" y="437659"/>
                  </a:moveTo>
                  <a:lnTo>
                    <a:pt x="0" y="437659"/>
                  </a:lnTo>
                  <a:lnTo>
                    <a:pt x="0" y="497405"/>
                  </a:lnTo>
                  <a:lnTo>
                    <a:pt x="14847" y="497405"/>
                  </a:lnTo>
                  <a:lnTo>
                    <a:pt x="14847" y="437659"/>
                  </a:lnTo>
                  <a:close/>
                </a:path>
                <a:path w="15240" h="3327400">
                  <a:moveTo>
                    <a:pt x="14847" y="547228"/>
                  </a:moveTo>
                  <a:lnTo>
                    <a:pt x="0" y="547228"/>
                  </a:lnTo>
                  <a:lnTo>
                    <a:pt x="0" y="606975"/>
                  </a:lnTo>
                  <a:lnTo>
                    <a:pt x="14847" y="606975"/>
                  </a:lnTo>
                  <a:lnTo>
                    <a:pt x="14847" y="547228"/>
                  </a:lnTo>
                  <a:close/>
                </a:path>
                <a:path w="15240" h="3327400">
                  <a:moveTo>
                    <a:pt x="14847" y="656385"/>
                  </a:moveTo>
                  <a:lnTo>
                    <a:pt x="0" y="656385"/>
                  </a:lnTo>
                  <a:lnTo>
                    <a:pt x="0" y="716131"/>
                  </a:lnTo>
                  <a:lnTo>
                    <a:pt x="14847" y="716131"/>
                  </a:lnTo>
                  <a:lnTo>
                    <a:pt x="14847" y="656385"/>
                  </a:lnTo>
                  <a:close/>
                </a:path>
                <a:path w="15240" h="3327400">
                  <a:moveTo>
                    <a:pt x="14847" y="766161"/>
                  </a:moveTo>
                  <a:lnTo>
                    <a:pt x="0" y="766161"/>
                  </a:lnTo>
                  <a:lnTo>
                    <a:pt x="0" y="825701"/>
                  </a:lnTo>
                  <a:lnTo>
                    <a:pt x="14847" y="825701"/>
                  </a:lnTo>
                  <a:lnTo>
                    <a:pt x="14847" y="766161"/>
                  </a:lnTo>
                  <a:close/>
                </a:path>
                <a:path w="15240" h="3327400">
                  <a:moveTo>
                    <a:pt x="14847" y="875318"/>
                  </a:moveTo>
                  <a:lnTo>
                    <a:pt x="0" y="875318"/>
                  </a:lnTo>
                  <a:lnTo>
                    <a:pt x="0" y="934857"/>
                  </a:lnTo>
                  <a:lnTo>
                    <a:pt x="14847" y="934857"/>
                  </a:lnTo>
                  <a:lnTo>
                    <a:pt x="14847" y="875318"/>
                  </a:lnTo>
                  <a:close/>
                </a:path>
                <a:path w="15240" h="3327400">
                  <a:moveTo>
                    <a:pt x="9740" y="870149"/>
                  </a:moveTo>
                  <a:lnTo>
                    <a:pt x="5128" y="875318"/>
                  </a:lnTo>
                  <a:lnTo>
                    <a:pt x="9740" y="875318"/>
                  </a:lnTo>
                  <a:lnTo>
                    <a:pt x="9740" y="870149"/>
                  </a:lnTo>
                  <a:close/>
                </a:path>
                <a:path w="15240" h="3327400">
                  <a:moveTo>
                    <a:pt x="9740" y="979926"/>
                  </a:moveTo>
                  <a:lnTo>
                    <a:pt x="5128" y="979926"/>
                  </a:lnTo>
                  <a:lnTo>
                    <a:pt x="0" y="984887"/>
                  </a:lnTo>
                  <a:lnTo>
                    <a:pt x="0" y="1039466"/>
                  </a:lnTo>
                  <a:lnTo>
                    <a:pt x="5128" y="1044634"/>
                  </a:lnTo>
                  <a:lnTo>
                    <a:pt x="9740" y="1044634"/>
                  </a:lnTo>
                  <a:lnTo>
                    <a:pt x="14847" y="1039466"/>
                  </a:lnTo>
                  <a:lnTo>
                    <a:pt x="14847" y="984887"/>
                  </a:lnTo>
                  <a:lnTo>
                    <a:pt x="9740" y="979926"/>
                  </a:lnTo>
                  <a:close/>
                </a:path>
                <a:path w="15240" h="3327400">
                  <a:moveTo>
                    <a:pt x="9740" y="1088875"/>
                  </a:moveTo>
                  <a:lnTo>
                    <a:pt x="5128" y="1088875"/>
                  </a:lnTo>
                  <a:lnTo>
                    <a:pt x="0" y="1094044"/>
                  </a:lnTo>
                  <a:lnTo>
                    <a:pt x="0" y="1148622"/>
                  </a:lnTo>
                  <a:lnTo>
                    <a:pt x="5128" y="1153790"/>
                  </a:lnTo>
                  <a:lnTo>
                    <a:pt x="9740" y="1153790"/>
                  </a:lnTo>
                  <a:lnTo>
                    <a:pt x="14847" y="1148622"/>
                  </a:lnTo>
                  <a:lnTo>
                    <a:pt x="14847" y="1094044"/>
                  </a:lnTo>
                  <a:lnTo>
                    <a:pt x="9740" y="1088875"/>
                  </a:lnTo>
                  <a:close/>
                </a:path>
                <a:path w="15240" h="3327400">
                  <a:moveTo>
                    <a:pt x="9740" y="1258398"/>
                  </a:moveTo>
                  <a:lnTo>
                    <a:pt x="5128" y="1258398"/>
                  </a:lnTo>
                  <a:lnTo>
                    <a:pt x="9740" y="1263360"/>
                  </a:lnTo>
                  <a:lnTo>
                    <a:pt x="9740" y="1258398"/>
                  </a:lnTo>
                  <a:close/>
                </a:path>
                <a:path w="15240" h="3327400">
                  <a:moveTo>
                    <a:pt x="9740" y="1198652"/>
                  </a:moveTo>
                  <a:lnTo>
                    <a:pt x="5128" y="1198652"/>
                  </a:lnTo>
                  <a:lnTo>
                    <a:pt x="0" y="1203820"/>
                  </a:lnTo>
                  <a:lnTo>
                    <a:pt x="0" y="1258398"/>
                  </a:lnTo>
                  <a:lnTo>
                    <a:pt x="14847" y="1258398"/>
                  </a:lnTo>
                  <a:lnTo>
                    <a:pt x="14847" y="1203820"/>
                  </a:lnTo>
                  <a:lnTo>
                    <a:pt x="9740" y="1198652"/>
                  </a:lnTo>
                  <a:close/>
                </a:path>
                <a:path w="15240" h="3327400">
                  <a:moveTo>
                    <a:pt x="14847" y="1307808"/>
                  </a:moveTo>
                  <a:lnTo>
                    <a:pt x="0" y="1307808"/>
                  </a:lnTo>
                  <a:lnTo>
                    <a:pt x="0" y="1367555"/>
                  </a:lnTo>
                  <a:lnTo>
                    <a:pt x="14847" y="1367555"/>
                  </a:lnTo>
                  <a:lnTo>
                    <a:pt x="14847" y="1307808"/>
                  </a:lnTo>
                  <a:close/>
                </a:path>
                <a:path w="15240" h="3327400">
                  <a:moveTo>
                    <a:pt x="14847" y="1417378"/>
                  </a:moveTo>
                  <a:lnTo>
                    <a:pt x="0" y="1417378"/>
                  </a:lnTo>
                  <a:lnTo>
                    <a:pt x="0" y="1477125"/>
                  </a:lnTo>
                  <a:lnTo>
                    <a:pt x="14847" y="1477125"/>
                  </a:lnTo>
                  <a:lnTo>
                    <a:pt x="14847" y="1417378"/>
                  </a:lnTo>
                  <a:close/>
                </a:path>
                <a:path w="15240" h="3327400">
                  <a:moveTo>
                    <a:pt x="14847" y="1526534"/>
                  </a:moveTo>
                  <a:lnTo>
                    <a:pt x="0" y="1526534"/>
                  </a:lnTo>
                  <a:lnTo>
                    <a:pt x="0" y="1586281"/>
                  </a:lnTo>
                  <a:lnTo>
                    <a:pt x="14847" y="1586281"/>
                  </a:lnTo>
                  <a:lnTo>
                    <a:pt x="14847" y="1526534"/>
                  </a:lnTo>
                  <a:close/>
                </a:path>
                <a:path w="15240" h="3327400">
                  <a:moveTo>
                    <a:pt x="14847" y="1636311"/>
                  </a:moveTo>
                  <a:lnTo>
                    <a:pt x="0" y="1636311"/>
                  </a:lnTo>
                  <a:lnTo>
                    <a:pt x="0" y="1695851"/>
                  </a:lnTo>
                  <a:lnTo>
                    <a:pt x="14847" y="1695851"/>
                  </a:lnTo>
                  <a:lnTo>
                    <a:pt x="14847" y="1636311"/>
                  </a:lnTo>
                  <a:close/>
                </a:path>
                <a:path w="15240" h="3327400">
                  <a:moveTo>
                    <a:pt x="14847" y="1745467"/>
                  </a:moveTo>
                  <a:lnTo>
                    <a:pt x="0" y="1745467"/>
                  </a:lnTo>
                  <a:lnTo>
                    <a:pt x="0" y="1805007"/>
                  </a:lnTo>
                  <a:lnTo>
                    <a:pt x="14847" y="1805007"/>
                  </a:lnTo>
                  <a:lnTo>
                    <a:pt x="14847" y="1745467"/>
                  </a:lnTo>
                  <a:close/>
                </a:path>
                <a:path w="15240" h="3327400">
                  <a:moveTo>
                    <a:pt x="9740" y="1740919"/>
                  </a:moveTo>
                  <a:lnTo>
                    <a:pt x="5128" y="1745467"/>
                  </a:lnTo>
                  <a:lnTo>
                    <a:pt x="9740" y="1745467"/>
                  </a:lnTo>
                  <a:lnTo>
                    <a:pt x="9740" y="1740919"/>
                  </a:lnTo>
                  <a:close/>
                </a:path>
                <a:path w="15240" h="3327400">
                  <a:moveTo>
                    <a:pt x="9740" y="1850075"/>
                  </a:moveTo>
                  <a:lnTo>
                    <a:pt x="5128" y="1850075"/>
                  </a:lnTo>
                  <a:lnTo>
                    <a:pt x="0" y="1855037"/>
                  </a:lnTo>
                  <a:lnTo>
                    <a:pt x="0" y="1909615"/>
                  </a:lnTo>
                  <a:lnTo>
                    <a:pt x="5128" y="1914784"/>
                  </a:lnTo>
                  <a:lnTo>
                    <a:pt x="9740" y="1914784"/>
                  </a:lnTo>
                  <a:lnTo>
                    <a:pt x="14848" y="1909615"/>
                  </a:lnTo>
                  <a:lnTo>
                    <a:pt x="14847" y="1855037"/>
                  </a:lnTo>
                  <a:lnTo>
                    <a:pt x="9740" y="1850075"/>
                  </a:lnTo>
                  <a:close/>
                </a:path>
                <a:path w="15240" h="3327400">
                  <a:moveTo>
                    <a:pt x="9740" y="1959128"/>
                  </a:moveTo>
                  <a:lnTo>
                    <a:pt x="5128" y="1959128"/>
                  </a:lnTo>
                  <a:lnTo>
                    <a:pt x="0" y="1964235"/>
                  </a:lnTo>
                  <a:lnTo>
                    <a:pt x="0" y="2018813"/>
                  </a:lnTo>
                  <a:lnTo>
                    <a:pt x="5128" y="2023899"/>
                  </a:lnTo>
                  <a:lnTo>
                    <a:pt x="9740" y="2023899"/>
                  </a:lnTo>
                  <a:lnTo>
                    <a:pt x="14848" y="2018813"/>
                  </a:lnTo>
                  <a:lnTo>
                    <a:pt x="14848" y="1964235"/>
                  </a:lnTo>
                  <a:lnTo>
                    <a:pt x="9740" y="1959128"/>
                  </a:lnTo>
                  <a:close/>
                </a:path>
                <a:path w="15240" h="3327400">
                  <a:moveTo>
                    <a:pt x="9740" y="2128465"/>
                  </a:moveTo>
                  <a:lnTo>
                    <a:pt x="5128" y="2128465"/>
                  </a:lnTo>
                  <a:lnTo>
                    <a:pt x="9740" y="2133572"/>
                  </a:lnTo>
                  <a:lnTo>
                    <a:pt x="9740" y="2128465"/>
                  </a:lnTo>
                  <a:close/>
                </a:path>
                <a:path w="15240" h="3327400">
                  <a:moveTo>
                    <a:pt x="9740" y="2068802"/>
                  </a:moveTo>
                  <a:lnTo>
                    <a:pt x="5128" y="2068802"/>
                  </a:lnTo>
                  <a:lnTo>
                    <a:pt x="0" y="2073887"/>
                  </a:lnTo>
                  <a:lnTo>
                    <a:pt x="0" y="2128465"/>
                  </a:lnTo>
                  <a:lnTo>
                    <a:pt x="14848" y="2128465"/>
                  </a:lnTo>
                  <a:lnTo>
                    <a:pt x="14848" y="2073887"/>
                  </a:lnTo>
                  <a:lnTo>
                    <a:pt x="9740" y="2068802"/>
                  </a:lnTo>
                  <a:close/>
                </a:path>
                <a:path w="15240" h="3327400">
                  <a:moveTo>
                    <a:pt x="14848" y="2177937"/>
                  </a:moveTo>
                  <a:lnTo>
                    <a:pt x="0" y="2177937"/>
                  </a:lnTo>
                  <a:lnTo>
                    <a:pt x="0" y="2237622"/>
                  </a:lnTo>
                  <a:lnTo>
                    <a:pt x="14848" y="2237622"/>
                  </a:lnTo>
                  <a:lnTo>
                    <a:pt x="14848" y="2177937"/>
                  </a:lnTo>
                  <a:close/>
                </a:path>
                <a:path w="15240" h="3327400">
                  <a:moveTo>
                    <a:pt x="14848" y="2287610"/>
                  </a:moveTo>
                  <a:lnTo>
                    <a:pt x="0" y="2287610"/>
                  </a:lnTo>
                  <a:lnTo>
                    <a:pt x="0" y="2347274"/>
                  </a:lnTo>
                  <a:lnTo>
                    <a:pt x="14848" y="2347274"/>
                  </a:lnTo>
                  <a:lnTo>
                    <a:pt x="14848" y="2287610"/>
                  </a:lnTo>
                  <a:close/>
                </a:path>
                <a:path w="15240" h="3327400">
                  <a:moveTo>
                    <a:pt x="14848" y="2396767"/>
                  </a:moveTo>
                  <a:lnTo>
                    <a:pt x="0" y="2396767"/>
                  </a:lnTo>
                  <a:lnTo>
                    <a:pt x="0" y="2456431"/>
                  </a:lnTo>
                  <a:lnTo>
                    <a:pt x="14848" y="2456431"/>
                  </a:lnTo>
                  <a:lnTo>
                    <a:pt x="14848" y="2396767"/>
                  </a:lnTo>
                  <a:close/>
                </a:path>
                <a:path w="15240" h="3327400">
                  <a:moveTo>
                    <a:pt x="14848" y="2506419"/>
                  </a:moveTo>
                  <a:lnTo>
                    <a:pt x="0" y="2506419"/>
                  </a:lnTo>
                  <a:lnTo>
                    <a:pt x="0" y="2566104"/>
                  </a:lnTo>
                  <a:lnTo>
                    <a:pt x="14848" y="2566104"/>
                  </a:lnTo>
                  <a:lnTo>
                    <a:pt x="14848" y="2506419"/>
                  </a:lnTo>
                  <a:close/>
                </a:path>
                <a:path w="15240" h="3327400">
                  <a:moveTo>
                    <a:pt x="14848" y="2615576"/>
                  </a:moveTo>
                  <a:lnTo>
                    <a:pt x="0" y="2615576"/>
                  </a:lnTo>
                  <a:lnTo>
                    <a:pt x="0" y="2675239"/>
                  </a:lnTo>
                  <a:lnTo>
                    <a:pt x="14848" y="2675239"/>
                  </a:lnTo>
                  <a:lnTo>
                    <a:pt x="14848" y="2615576"/>
                  </a:lnTo>
                  <a:close/>
                </a:path>
                <a:path w="15240" h="3327400">
                  <a:moveTo>
                    <a:pt x="9740" y="2610986"/>
                  </a:moveTo>
                  <a:lnTo>
                    <a:pt x="5128" y="2615576"/>
                  </a:lnTo>
                  <a:lnTo>
                    <a:pt x="9740" y="2615576"/>
                  </a:lnTo>
                  <a:lnTo>
                    <a:pt x="9740" y="2610986"/>
                  </a:lnTo>
                  <a:close/>
                </a:path>
                <a:path w="15240" h="3327400">
                  <a:moveTo>
                    <a:pt x="9740" y="2720142"/>
                  </a:moveTo>
                  <a:lnTo>
                    <a:pt x="5128" y="2720142"/>
                  </a:lnTo>
                  <a:lnTo>
                    <a:pt x="0" y="2725228"/>
                  </a:lnTo>
                  <a:lnTo>
                    <a:pt x="0" y="2779806"/>
                  </a:lnTo>
                  <a:lnTo>
                    <a:pt x="5128" y="2784913"/>
                  </a:lnTo>
                  <a:lnTo>
                    <a:pt x="9740" y="2784913"/>
                  </a:lnTo>
                  <a:lnTo>
                    <a:pt x="14848" y="2779806"/>
                  </a:lnTo>
                  <a:lnTo>
                    <a:pt x="14848" y="2725228"/>
                  </a:lnTo>
                  <a:lnTo>
                    <a:pt x="9740" y="2720142"/>
                  </a:lnTo>
                  <a:close/>
                </a:path>
                <a:path w="15240" h="3327400">
                  <a:moveTo>
                    <a:pt x="9740" y="2829795"/>
                  </a:moveTo>
                  <a:lnTo>
                    <a:pt x="5128" y="2829795"/>
                  </a:lnTo>
                  <a:lnTo>
                    <a:pt x="0" y="2834384"/>
                  </a:lnTo>
                  <a:lnTo>
                    <a:pt x="0" y="2889479"/>
                  </a:lnTo>
                  <a:lnTo>
                    <a:pt x="5128" y="2894069"/>
                  </a:lnTo>
                  <a:lnTo>
                    <a:pt x="9740" y="2894069"/>
                  </a:lnTo>
                  <a:lnTo>
                    <a:pt x="14848" y="2889479"/>
                  </a:lnTo>
                  <a:lnTo>
                    <a:pt x="14848" y="2834384"/>
                  </a:lnTo>
                  <a:lnTo>
                    <a:pt x="9740" y="2829795"/>
                  </a:lnTo>
                  <a:close/>
                </a:path>
                <a:path w="15240" h="3327400">
                  <a:moveTo>
                    <a:pt x="9740" y="2998615"/>
                  </a:moveTo>
                  <a:lnTo>
                    <a:pt x="5128" y="2998615"/>
                  </a:lnTo>
                  <a:lnTo>
                    <a:pt x="9740" y="3003722"/>
                  </a:lnTo>
                  <a:lnTo>
                    <a:pt x="9740" y="2998615"/>
                  </a:lnTo>
                  <a:close/>
                </a:path>
                <a:path w="15240" h="3327400">
                  <a:moveTo>
                    <a:pt x="9740" y="2938951"/>
                  </a:moveTo>
                  <a:lnTo>
                    <a:pt x="5128" y="2938951"/>
                  </a:lnTo>
                  <a:lnTo>
                    <a:pt x="0" y="2944058"/>
                  </a:lnTo>
                  <a:lnTo>
                    <a:pt x="0" y="2998615"/>
                  </a:lnTo>
                  <a:lnTo>
                    <a:pt x="14848" y="2998615"/>
                  </a:lnTo>
                  <a:lnTo>
                    <a:pt x="14848" y="2944058"/>
                  </a:lnTo>
                  <a:lnTo>
                    <a:pt x="9740" y="2938951"/>
                  </a:lnTo>
                  <a:close/>
                </a:path>
                <a:path w="15240" h="3327400">
                  <a:moveTo>
                    <a:pt x="14848" y="3048604"/>
                  </a:moveTo>
                  <a:lnTo>
                    <a:pt x="0" y="3048604"/>
                  </a:lnTo>
                  <a:lnTo>
                    <a:pt x="0" y="3108288"/>
                  </a:lnTo>
                  <a:lnTo>
                    <a:pt x="14848" y="3108288"/>
                  </a:lnTo>
                  <a:lnTo>
                    <a:pt x="14848" y="3048604"/>
                  </a:lnTo>
                  <a:close/>
                </a:path>
                <a:path w="15240" h="3327400">
                  <a:moveTo>
                    <a:pt x="14848" y="3157760"/>
                  </a:moveTo>
                  <a:lnTo>
                    <a:pt x="0" y="3157760"/>
                  </a:lnTo>
                  <a:lnTo>
                    <a:pt x="0" y="3217445"/>
                  </a:lnTo>
                  <a:lnTo>
                    <a:pt x="14848" y="3217445"/>
                  </a:lnTo>
                  <a:lnTo>
                    <a:pt x="14848" y="3157760"/>
                  </a:lnTo>
                  <a:close/>
                </a:path>
                <a:path w="15240" h="3327400">
                  <a:moveTo>
                    <a:pt x="14848" y="3267433"/>
                  </a:moveTo>
                  <a:lnTo>
                    <a:pt x="0" y="3267433"/>
                  </a:lnTo>
                  <a:lnTo>
                    <a:pt x="0" y="3327097"/>
                  </a:lnTo>
                  <a:lnTo>
                    <a:pt x="14848" y="3327097"/>
                  </a:lnTo>
                  <a:lnTo>
                    <a:pt x="14848" y="32674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38640" y="1775278"/>
              <a:ext cx="15240" cy="3327400"/>
            </a:xfrm>
            <a:custGeom>
              <a:avLst/>
              <a:gdLst/>
              <a:ahLst/>
              <a:cxnLst/>
              <a:rect l="l" t="t" r="r" b="b"/>
              <a:pathLst>
                <a:path w="15240" h="3327400">
                  <a:moveTo>
                    <a:pt x="14847" y="10130"/>
                  </a:moveTo>
                  <a:lnTo>
                    <a:pt x="14847" y="54578"/>
                  </a:lnTo>
                  <a:lnTo>
                    <a:pt x="14847" y="59746"/>
                  </a:lnTo>
                  <a:lnTo>
                    <a:pt x="14847" y="64708"/>
                  </a:lnTo>
                  <a:lnTo>
                    <a:pt x="9739" y="64708"/>
                  </a:lnTo>
                  <a:lnTo>
                    <a:pt x="5128" y="64708"/>
                  </a:lnTo>
                  <a:lnTo>
                    <a:pt x="0" y="64708"/>
                  </a:lnTo>
                  <a:lnTo>
                    <a:pt x="0" y="59746"/>
                  </a:lnTo>
                  <a:lnTo>
                    <a:pt x="0" y="54578"/>
                  </a:lnTo>
                  <a:lnTo>
                    <a:pt x="0" y="10130"/>
                  </a:lnTo>
                  <a:lnTo>
                    <a:pt x="0" y="5168"/>
                  </a:lnTo>
                  <a:lnTo>
                    <a:pt x="5128" y="5168"/>
                  </a:lnTo>
                  <a:lnTo>
                    <a:pt x="9739" y="0"/>
                  </a:lnTo>
                  <a:lnTo>
                    <a:pt x="9739" y="5168"/>
                  </a:lnTo>
                  <a:lnTo>
                    <a:pt x="14847" y="5168"/>
                  </a:lnTo>
                  <a:lnTo>
                    <a:pt x="14847" y="10130"/>
                  </a:lnTo>
                  <a:close/>
                </a:path>
                <a:path w="15240" h="3327400">
                  <a:moveTo>
                    <a:pt x="14847" y="119286"/>
                  </a:moveTo>
                  <a:lnTo>
                    <a:pt x="14847" y="164147"/>
                  </a:lnTo>
                  <a:lnTo>
                    <a:pt x="14847" y="169316"/>
                  </a:lnTo>
                  <a:lnTo>
                    <a:pt x="9739" y="173864"/>
                  </a:lnTo>
                  <a:lnTo>
                    <a:pt x="5128" y="173864"/>
                  </a:lnTo>
                  <a:lnTo>
                    <a:pt x="0" y="169316"/>
                  </a:lnTo>
                  <a:lnTo>
                    <a:pt x="0" y="164147"/>
                  </a:lnTo>
                  <a:lnTo>
                    <a:pt x="0" y="119286"/>
                  </a:lnTo>
                  <a:lnTo>
                    <a:pt x="0" y="114324"/>
                  </a:lnTo>
                  <a:lnTo>
                    <a:pt x="5128" y="109569"/>
                  </a:lnTo>
                  <a:lnTo>
                    <a:pt x="9739" y="109569"/>
                  </a:lnTo>
                  <a:lnTo>
                    <a:pt x="14847" y="114324"/>
                  </a:lnTo>
                  <a:lnTo>
                    <a:pt x="14847" y="119286"/>
                  </a:lnTo>
                  <a:close/>
                </a:path>
                <a:path w="15240" h="3327400">
                  <a:moveTo>
                    <a:pt x="14847" y="229062"/>
                  </a:moveTo>
                  <a:lnTo>
                    <a:pt x="14847" y="273304"/>
                  </a:lnTo>
                  <a:lnTo>
                    <a:pt x="14847" y="278472"/>
                  </a:lnTo>
                  <a:lnTo>
                    <a:pt x="9739" y="283641"/>
                  </a:lnTo>
                  <a:lnTo>
                    <a:pt x="5128" y="283641"/>
                  </a:lnTo>
                  <a:lnTo>
                    <a:pt x="0" y="278472"/>
                  </a:lnTo>
                  <a:lnTo>
                    <a:pt x="0" y="273304"/>
                  </a:lnTo>
                  <a:lnTo>
                    <a:pt x="0" y="229062"/>
                  </a:lnTo>
                  <a:lnTo>
                    <a:pt x="0" y="223894"/>
                  </a:lnTo>
                  <a:lnTo>
                    <a:pt x="5128" y="218726"/>
                  </a:lnTo>
                  <a:lnTo>
                    <a:pt x="9739" y="218726"/>
                  </a:lnTo>
                  <a:lnTo>
                    <a:pt x="14847" y="223894"/>
                  </a:lnTo>
                  <a:lnTo>
                    <a:pt x="14847" y="229062"/>
                  </a:lnTo>
                  <a:close/>
                </a:path>
                <a:path w="15240" h="3327400">
                  <a:moveTo>
                    <a:pt x="14847" y="338219"/>
                  </a:moveTo>
                  <a:lnTo>
                    <a:pt x="14847" y="383080"/>
                  </a:lnTo>
                  <a:lnTo>
                    <a:pt x="14847" y="388249"/>
                  </a:lnTo>
                  <a:lnTo>
                    <a:pt x="9739" y="388249"/>
                  </a:lnTo>
                  <a:lnTo>
                    <a:pt x="9739" y="392797"/>
                  </a:lnTo>
                  <a:lnTo>
                    <a:pt x="5128" y="388249"/>
                  </a:lnTo>
                  <a:lnTo>
                    <a:pt x="0" y="388249"/>
                  </a:lnTo>
                  <a:lnTo>
                    <a:pt x="0" y="383080"/>
                  </a:lnTo>
                  <a:lnTo>
                    <a:pt x="0" y="338219"/>
                  </a:lnTo>
                  <a:lnTo>
                    <a:pt x="0" y="333050"/>
                  </a:lnTo>
                  <a:lnTo>
                    <a:pt x="5128" y="328502"/>
                  </a:lnTo>
                  <a:lnTo>
                    <a:pt x="9739" y="328502"/>
                  </a:lnTo>
                  <a:lnTo>
                    <a:pt x="14847" y="333050"/>
                  </a:lnTo>
                  <a:lnTo>
                    <a:pt x="14847" y="338219"/>
                  </a:lnTo>
                  <a:close/>
                </a:path>
                <a:path w="15240" h="3327400">
                  <a:moveTo>
                    <a:pt x="14847" y="447789"/>
                  </a:moveTo>
                  <a:lnTo>
                    <a:pt x="14847" y="492237"/>
                  </a:lnTo>
                  <a:lnTo>
                    <a:pt x="14847" y="497405"/>
                  </a:lnTo>
                  <a:lnTo>
                    <a:pt x="9740" y="497405"/>
                  </a:lnTo>
                  <a:lnTo>
                    <a:pt x="5128" y="497405"/>
                  </a:lnTo>
                  <a:lnTo>
                    <a:pt x="0" y="497405"/>
                  </a:lnTo>
                  <a:lnTo>
                    <a:pt x="0" y="492237"/>
                  </a:lnTo>
                  <a:lnTo>
                    <a:pt x="0" y="447789"/>
                  </a:lnTo>
                  <a:lnTo>
                    <a:pt x="0" y="442827"/>
                  </a:lnTo>
                  <a:lnTo>
                    <a:pt x="0" y="437659"/>
                  </a:lnTo>
                  <a:lnTo>
                    <a:pt x="5128" y="437659"/>
                  </a:lnTo>
                  <a:lnTo>
                    <a:pt x="9739" y="437659"/>
                  </a:lnTo>
                  <a:lnTo>
                    <a:pt x="14847" y="437659"/>
                  </a:lnTo>
                  <a:lnTo>
                    <a:pt x="14847" y="442827"/>
                  </a:lnTo>
                  <a:lnTo>
                    <a:pt x="14847" y="447789"/>
                  </a:lnTo>
                  <a:close/>
                </a:path>
                <a:path w="15240" h="3327400">
                  <a:moveTo>
                    <a:pt x="14847" y="551983"/>
                  </a:moveTo>
                  <a:lnTo>
                    <a:pt x="14847" y="601807"/>
                  </a:lnTo>
                  <a:lnTo>
                    <a:pt x="14847" y="606975"/>
                  </a:lnTo>
                  <a:lnTo>
                    <a:pt x="9740" y="606975"/>
                  </a:lnTo>
                  <a:lnTo>
                    <a:pt x="5128" y="606975"/>
                  </a:lnTo>
                  <a:lnTo>
                    <a:pt x="0" y="606975"/>
                  </a:lnTo>
                  <a:lnTo>
                    <a:pt x="0" y="601807"/>
                  </a:lnTo>
                  <a:lnTo>
                    <a:pt x="0" y="551983"/>
                  </a:lnTo>
                  <a:lnTo>
                    <a:pt x="0" y="547228"/>
                  </a:lnTo>
                  <a:lnTo>
                    <a:pt x="5128" y="547228"/>
                  </a:lnTo>
                  <a:lnTo>
                    <a:pt x="9740" y="547228"/>
                  </a:lnTo>
                  <a:lnTo>
                    <a:pt x="14847" y="547228"/>
                  </a:lnTo>
                  <a:lnTo>
                    <a:pt x="14847" y="551983"/>
                  </a:lnTo>
                  <a:close/>
                </a:path>
                <a:path w="15240" h="3327400">
                  <a:moveTo>
                    <a:pt x="14847" y="661553"/>
                  </a:moveTo>
                  <a:lnTo>
                    <a:pt x="14847" y="710963"/>
                  </a:lnTo>
                  <a:lnTo>
                    <a:pt x="14847" y="716131"/>
                  </a:lnTo>
                  <a:lnTo>
                    <a:pt x="9740" y="716131"/>
                  </a:lnTo>
                  <a:lnTo>
                    <a:pt x="5128" y="716131"/>
                  </a:lnTo>
                  <a:lnTo>
                    <a:pt x="0" y="716131"/>
                  </a:lnTo>
                  <a:lnTo>
                    <a:pt x="0" y="710963"/>
                  </a:lnTo>
                  <a:lnTo>
                    <a:pt x="0" y="661553"/>
                  </a:lnTo>
                  <a:lnTo>
                    <a:pt x="0" y="656385"/>
                  </a:lnTo>
                  <a:lnTo>
                    <a:pt x="5128" y="656385"/>
                  </a:lnTo>
                  <a:lnTo>
                    <a:pt x="9740" y="656385"/>
                  </a:lnTo>
                  <a:lnTo>
                    <a:pt x="14847" y="656385"/>
                  </a:lnTo>
                  <a:lnTo>
                    <a:pt x="14847" y="661553"/>
                  </a:lnTo>
                  <a:close/>
                </a:path>
                <a:path w="15240" h="3327400">
                  <a:moveTo>
                    <a:pt x="14847" y="770709"/>
                  </a:moveTo>
                  <a:lnTo>
                    <a:pt x="14847" y="820739"/>
                  </a:lnTo>
                  <a:lnTo>
                    <a:pt x="14847" y="825701"/>
                  </a:lnTo>
                  <a:lnTo>
                    <a:pt x="9740" y="825701"/>
                  </a:lnTo>
                  <a:lnTo>
                    <a:pt x="5128" y="825701"/>
                  </a:lnTo>
                  <a:lnTo>
                    <a:pt x="0" y="825701"/>
                  </a:lnTo>
                  <a:lnTo>
                    <a:pt x="0" y="820739"/>
                  </a:lnTo>
                  <a:lnTo>
                    <a:pt x="0" y="770709"/>
                  </a:lnTo>
                  <a:lnTo>
                    <a:pt x="0" y="766161"/>
                  </a:lnTo>
                  <a:lnTo>
                    <a:pt x="5128" y="766161"/>
                  </a:lnTo>
                  <a:lnTo>
                    <a:pt x="9740" y="766161"/>
                  </a:lnTo>
                  <a:lnTo>
                    <a:pt x="14847" y="766161"/>
                  </a:lnTo>
                  <a:lnTo>
                    <a:pt x="14847" y="770709"/>
                  </a:lnTo>
                  <a:close/>
                </a:path>
                <a:path w="15240" h="3327400">
                  <a:moveTo>
                    <a:pt x="14847" y="880279"/>
                  </a:moveTo>
                  <a:lnTo>
                    <a:pt x="14847" y="925348"/>
                  </a:lnTo>
                  <a:lnTo>
                    <a:pt x="14847" y="929896"/>
                  </a:lnTo>
                  <a:lnTo>
                    <a:pt x="14847" y="934857"/>
                  </a:lnTo>
                  <a:lnTo>
                    <a:pt x="9740" y="934857"/>
                  </a:lnTo>
                  <a:lnTo>
                    <a:pt x="5128" y="934857"/>
                  </a:lnTo>
                  <a:lnTo>
                    <a:pt x="0" y="934857"/>
                  </a:lnTo>
                  <a:lnTo>
                    <a:pt x="0" y="929896"/>
                  </a:lnTo>
                  <a:lnTo>
                    <a:pt x="0" y="925348"/>
                  </a:lnTo>
                  <a:lnTo>
                    <a:pt x="0" y="880279"/>
                  </a:lnTo>
                  <a:lnTo>
                    <a:pt x="0" y="875318"/>
                  </a:lnTo>
                  <a:lnTo>
                    <a:pt x="5128" y="875318"/>
                  </a:lnTo>
                  <a:lnTo>
                    <a:pt x="9740" y="870149"/>
                  </a:lnTo>
                  <a:lnTo>
                    <a:pt x="9740" y="875318"/>
                  </a:lnTo>
                  <a:lnTo>
                    <a:pt x="14847" y="875318"/>
                  </a:lnTo>
                  <a:lnTo>
                    <a:pt x="14847" y="880279"/>
                  </a:lnTo>
                  <a:close/>
                </a:path>
                <a:path w="15240" h="3327400">
                  <a:moveTo>
                    <a:pt x="14847" y="989436"/>
                  </a:moveTo>
                  <a:lnTo>
                    <a:pt x="14847" y="1034297"/>
                  </a:lnTo>
                  <a:lnTo>
                    <a:pt x="14847" y="1039466"/>
                  </a:lnTo>
                  <a:lnTo>
                    <a:pt x="9740" y="1044634"/>
                  </a:lnTo>
                  <a:lnTo>
                    <a:pt x="5128" y="1044634"/>
                  </a:lnTo>
                  <a:lnTo>
                    <a:pt x="0" y="1039466"/>
                  </a:lnTo>
                  <a:lnTo>
                    <a:pt x="0" y="1034297"/>
                  </a:lnTo>
                  <a:lnTo>
                    <a:pt x="0" y="989436"/>
                  </a:lnTo>
                  <a:lnTo>
                    <a:pt x="0" y="984887"/>
                  </a:lnTo>
                  <a:lnTo>
                    <a:pt x="5128" y="979926"/>
                  </a:lnTo>
                  <a:lnTo>
                    <a:pt x="9740" y="979926"/>
                  </a:lnTo>
                  <a:lnTo>
                    <a:pt x="14847" y="984887"/>
                  </a:lnTo>
                  <a:lnTo>
                    <a:pt x="14847" y="989436"/>
                  </a:lnTo>
                  <a:close/>
                </a:path>
                <a:path w="15240" h="3327400">
                  <a:moveTo>
                    <a:pt x="14847" y="1099212"/>
                  </a:moveTo>
                  <a:lnTo>
                    <a:pt x="14847" y="1144074"/>
                  </a:lnTo>
                  <a:lnTo>
                    <a:pt x="14847" y="1148622"/>
                  </a:lnTo>
                  <a:lnTo>
                    <a:pt x="9740" y="1153790"/>
                  </a:lnTo>
                  <a:lnTo>
                    <a:pt x="5128" y="1153790"/>
                  </a:lnTo>
                  <a:lnTo>
                    <a:pt x="0" y="1148622"/>
                  </a:lnTo>
                  <a:lnTo>
                    <a:pt x="0" y="1144074"/>
                  </a:lnTo>
                  <a:lnTo>
                    <a:pt x="0" y="1099212"/>
                  </a:lnTo>
                  <a:lnTo>
                    <a:pt x="0" y="1094044"/>
                  </a:lnTo>
                  <a:lnTo>
                    <a:pt x="5128" y="1088875"/>
                  </a:lnTo>
                  <a:lnTo>
                    <a:pt x="9740" y="1088875"/>
                  </a:lnTo>
                  <a:lnTo>
                    <a:pt x="14847" y="1094044"/>
                  </a:lnTo>
                  <a:lnTo>
                    <a:pt x="14847" y="1099212"/>
                  </a:lnTo>
                  <a:close/>
                </a:path>
                <a:path w="15240" h="3327400">
                  <a:moveTo>
                    <a:pt x="14847" y="1208368"/>
                  </a:moveTo>
                  <a:lnTo>
                    <a:pt x="14847" y="1253230"/>
                  </a:lnTo>
                  <a:lnTo>
                    <a:pt x="14847" y="1258398"/>
                  </a:lnTo>
                  <a:lnTo>
                    <a:pt x="9740" y="1258398"/>
                  </a:lnTo>
                  <a:lnTo>
                    <a:pt x="9740" y="1263360"/>
                  </a:lnTo>
                  <a:lnTo>
                    <a:pt x="5128" y="1258398"/>
                  </a:lnTo>
                  <a:lnTo>
                    <a:pt x="0" y="1258398"/>
                  </a:lnTo>
                  <a:lnTo>
                    <a:pt x="0" y="1253230"/>
                  </a:lnTo>
                  <a:lnTo>
                    <a:pt x="0" y="1208368"/>
                  </a:lnTo>
                  <a:lnTo>
                    <a:pt x="0" y="1203820"/>
                  </a:lnTo>
                  <a:lnTo>
                    <a:pt x="5128" y="1198652"/>
                  </a:lnTo>
                  <a:lnTo>
                    <a:pt x="9740" y="1198652"/>
                  </a:lnTo>
                  <a:lnTo>
                    <a:pt x="14847" y="1203820"/>
                  </a:lnTo>
                  <a:lnTo>
                    <a:pt x="14847" y="1208368"/>
                  </a:lnTo>
                  <a:close/>
                </a:path>
                <a:path w="15240" h="3327400">
                  <a:moveTo>
                    <a:pt x="14847" y="1317938"/>
                  </a:moveTo>
                  <a:lnTo>
                    <a:pt x="14847" y="1362800"/>
                  </a:lnTo>
                  <a:lnTo>
                    <a:pt x="14847" y="1367555"/>
                  </a:lnTo>
                  <a:lnTo>
                    <a:pt x="9740" y="1367555"/>
                  </a:lnTo>
                  <a:lnTo>
                    <a:pt x="5128" y="1367555"/>
                  </a:lnTo>
                  <a:lnTo>
                    <a:pt x="0" y="1367555"/>
                  </a:lnTo>
                  <a:lnTo>
                    <a:pt x="0" y="1362800"/>
                  </a:lnTo>
                  <a:lnTo>
                    <a:pt x="0" y="1317938"/>
                  </a:lnTo>
                  <a:lnTo>
                    <a:pt x="0" y="1312977"/>
                  </a:lnTo>
                  <a:lnTo>
                    <a:pt x="0" y="1307808"/>
                  </a:lnTo>
                  <a:lnTo>
                    <a:pt x="5128" y="1307808"/>
                  </a:lnTo>
                  <a:lnTo>
                    <a:pt x="9740" y="1307808"/>
                  </a:lnTo>
                  <a:lnTo>
                    <a:pt x="14847" y="1307808"/>
                  </a:lnTo>
                  <a:lnTo>
                    <a:pt x="14847" y="1312977"/>
                  </a:lnTo>
                  <a:lnTo>
                    <a:pt x="14847" y="1317938"/>
                  </a:lnTo>
                  <a:close/>
                </a:path>
                <a:path w="15240" h="3327400">
                  <a:moveTo>
                    <a:pt x="14847" y="1422546"/>
                  </a:moveTo>
                  <a:lnTo>
                    <a:pt x="14847" y="1471956"/>
                  </a:lnTo>
                  <a:lnTo>
                    <a:pt x="14847" y="1477125"/>
                  </a:lnTo>
                  <a:lnTo>
                    <a:pt x="9740" y="1477125"/>
                  </a:lnTo>
                  <a:lnTo>
                    <a:pt x="5128" y="1477125"/>
                  </a:lnTo>
                  <a:lnTo>
                    <a:pt x="0" y="1477125"/>
                  </a:lnTo>
                  <a:lnTo>
                    <a:pt x="0" y="1471956"/>
                  </a:lnTo>
                  <a:lnTo>
                    <a:pt x="0" y="1422546"/>
                  </a:lnTo>
                  <a:lnTo>
                    <a:pt x="0" y="1417378"/>
                  </a:lnTo>
                  <a:lnTo>
                    <a:pt x="5128" y="1417378"/>
                  </a:lnTo>
                  <a:lnTo>
                    <a:pt x="9740" y="1417378"/>
                  </a:lnTo>
                  <a:lnTo>
                    <a:pt x="14847" y="1417378"/>
                  </a:lnTo>
                  <a:lnTo>
                    <a:pt x="14847" y="1422546"/>
                  </a:lnTo>
                  <a:close/>
                </a:path>
                <a:path w="15240" h="3327400">
                  <a:moveTo>
                    <a:pt x="14847" y="1531703"/>
                  </a:moveTo>
                  <a:lnTo>
                    <a:pt x="14847" y="1581733"/>
                  </a:lnTo>
                  <a:lnTo>
                    <a:pt x="14847" y="1586281"/>
                  </a:lnTo>
                  <a:lnTo>
                    <a:pt x="9740" y="1586281"/>
                  </a:lnTo>
                  <a:lnTo>
                    <a:pt x="5128" y="1586281"/>
                  </a:lnTo>
                  <a:lnTo>
                    <a:pt x="0" y="1586281"/>
                  </a:lnTo>
                  <a:lnTo>
                    <a:pt x="0" y="1581733"/>
                  </a:lnTo>
                  <a:lnTo>
                    <a:pt x="0" y="1531703"/>
                  </a:lnTo>
                  <a:lnTo>
                    <a:pt x="0" y="1526534"/>
                  </a:lnTo>
                  <a:lnTo>
                    <a:pt x="5128" y="1526534"/>
                  </a:lnTo>
                  <a:lnTo>
                    <a:pt x="9740" y="1526534"/>
                  </a:lnTo>
                  <a:lnTo>
                    <a:pt x="14847" y="1526534"/>
                  </a:lnTo>
                  <a:lnTo>
                    <a:pt x="14847" y="1531703"/>
                  </a:lnTo>
                  <a:close/>
                </a:path>
                <a:path w="15240" h="3327400">
                  <a:moveTo>
                    <a:pt x="14847" y="1641273"/>
                  </a:moveTo>
                  <a:lnTo>
                    <a:pt x="14847" y="1690889"/>
                  </a:lnTo>
                  <a:lnTo>
                    <a:pt x="14847" y="1695851"/>
                  </a:lnTo>
                  <a:lnTo>
                    <a:pt x="9740" y="1695851"/>
                  </a:lnTo>
                  <a:lnTo>
                    <a:pt x="5128" y="1695851"/>
                  </a:lnTo>
                  <a:lnTo>
                    <a:pt x="0" y="1695851"/>
                  </a:lnTo>
                  <a:lnTo>
                    <a:pt x="0" y="1690889"/>
                  </a:lnTo>
                  <a:lnTo>
                    <a:pt x="0" y="1641273"/>
                  </a:lnTo>
                  <a:lnTo>
                    <a:pt x="0" y="1636311"/>
                  </a:lnTo>
                  <a:lnTo>
                    <a:pt x="5128" y="1636311"/>
                  </a:lnTo>
                  <a:lnTo>
                    <a:pt x="9740" y="1636311"/>
                  </a:lnTo>
                  <a:lnTo>
                    <a:pt x="14847" y="1636311"/>
                  </a:lnTo>
                  <a:lnTo>
                    <a:pt x="14847" y="1641273"/>
                  </a:lnTo>
                  <a:close/>
                </a:path>
                <a:path w="15240" h="3327400">
                  <a:moveTo>
                    <a:pt x="14847" y="1750429"/>
                  </a:moveTo>
                  <a:lnTo>
                    <a:pt x="14847" y="1795497"/>
                  </a:lnTo>
                  <a:lnTo>
                    <a:pt x="14847" y="1800459"/>
                  </a:lnTo>
                  <a:lnTo>
                    <a:pt x="14847" y="1805007"/>
                  </a:lnTo>
                  <a:lnTo>
                    <a:pt x="9740" y="1805007"/>
                  </a:lnTo>
                  <a:lnTo>
                    <a:pt x="5128" y="1805007"/>
                  </a:lnTo>
                  <a:lnTo>
                    <a:pt x="0" y="1805007"/>
                  </a:lnTo>
                  <a:lnTo>
                    <a:pt x="0" y="1800459"/>
                  </a:lnTo>
                  <a:lnTo>
                    <a:pt x="0" y="1795497"/>
                  </a:lnTo>
                  <a:lnTo>
                    <a:pt x="0" y="1750429"/>
                  </a:lnTo>
                  <a:lnTo>
                    <a:pt x="0" y="1745467"/>
                  </a:lnTo>
                  <a:lnTo>
                    <a:pt x="5128" y="1745467"/>
                  </a:lnTo>
                  <a:lnTo>
                    <a:pt x="9740" y="1740919"/>
                  </a:lnTo>
                  <a:lnTo>
                    <a:pt x="9740" y="1745467"/>
                  </a:lnTo>
                  <a:lnTo>
                    <a:pt x="14847" y="1745467"/>
                  </a:lnTo>
                  <a:lnTo>
                    <a:pt x="14847" y="1750429"/>
                  </a:lnTo>
                  <a:close/>
                </a:path>
                <a:path w="15240" h="3327400">
                  <a:moveTo>
                    <a:pt x="14848" y="1860205"/>
                  </a:moveTo>
                  <a:lnTo>
                    <a:pt x="14848" y="1904654"/>
                  </a:lnTo>
                  <a:lnTo>
                    <a:pt x="14848" y="1909615"/>
                  </a:lnTo>
                  <a:lnTo>
                    <a:pt x="9740" y="1914784"/>
                  </a:lnTo>
                  <a:lnTo>
                    <a:pt x="5128" y="1914784"/>
                  </a:lnTo>
                  <a:lnTo>
                    <a:pt x="0" y="1909615"/>
                  </a:lnTo>
                  <a:lnTo>
                    <a:pt x="0" y="1904654"/>
                  </a:lnTo>
                  <a:lnTo>
                    <a:pt x="0" y="1860205"/>
                  </a:lnTo>
                  <a:lnTo>
                    <a:pt x="0" y="1855037"/>
                  </a:lnTo>
                  <a:lnTo>
                    <a:pt x="5128" y="1850075"/>
                  </a:lnTo>
                  <a:lnTo>
                    <a:pt x="9740" y="1850075"/>
                  </a:lnTo>
                  <a:lnTo>
                    <a:pt x="14847" y="1855037"/>
                  </a:lnTo>
                  <a:lnTo>
                    <a:pt x="14848" y="1860205"/>
                  </a:lnTo>
                  <a:close/>
                </a:path>
                <a:path w="15240" h="3327400">
                  <a:moveTo>
                    <a:pt x="14848" y="1969341"/>
                  </a:moveTo>
                  <a:lnTo>
                    <a:pt x="14848" y="2014223"/>
                  </a:lnTo>
                  <a:lnTo>
                    <a:pt x="14848" y="2018813"/>
                  </a:lnTo>
                  <a:lnTo>
                    <a:pt x="9740" y="2023899"/>
                  </a:lnTo>
                  <a:lnTo>
                    <a:pt x="5128" y="2023899"/>
                  </a:lnTo>
                  <a:lnTo>
                    <a:pt x="0" y="2018813"/>
                  </a:lnTo>
                  <a:lnTo>
                    <a:pt x="0" y="2014223"/>
                  </a:lnTo>
                  <a:lnTo>
                    <a:pt x="0" y="1969341"/>
                  </a:lnTo>
                  <a:lnTo>
                    <a:pt x="0" y="1964235"/>
                  </a:lnTo>
                  <a:lnTo>
                    <a:pt x="5128" y="1959128"/>
                  </a:lnTo>
                  <a:lnTo>
                    <a:pt x="9740" y="1959128"/>
                  </a:lnTo>
                  <a:lnTo>
                    <a:pt x="14848" y="1964235"/>
                  </a:lnTo>
                  <a:lnTo>
                    <a:pt x="14848" y="1969341"/>
                  </a:lnTo>
                  <a:close/>
                </a:path>
                <a:path w="15240" h="3327400">
                  <a:moveTo>
                    <a:pt x="14848" y="2078477"/>
                  </a:moveTo>
                  <a:lnTo>
                    <a:pt x="14848" y="2123359"/>
                  </a:lnTo>
                  <a:lnTo>
                    <a:pt x="14848" y="2128465"/>
                  </a:lnTo>
                  <a:lnTo>
                    <a:pt x="9740" y="2128465"/>
                  </a:lnTo>
                  <a:lnTo>
                    <a:pt x="9740" y="2133572"/>
                  </a:lnTo>
                  <a:lnTo>
                    <a:pt x="5128" y="2128465"/>
                  </a:lnTo>
                  <a:lnTo>
                    <a:pt x="0" y="2128465"/>
                  </a:lnTo>
                  <a:lnTo>
                    <a:pt x="0" y="2123359"/>
                  </a:lnTo>
                  <a:lnTo>
                    <a:pt x="0" y="2078477"/>
                  </a:lnTo>
                  <a:lnTo>
                    <a:pt x="0" y="2073887"/>
                  </a:lnTo>
                  <a:lnTo>
                    <a:pt x="5128" y="2068802"/>
                  </a:lnTo>
                  <a:lnTo>
                    <a:pt x="9740" y="2068802"/>
                  </a:lnTo>
                  <a:lnTo>
                    <a:pt x="14848" y="2073887"/>
                  </a:lnTo>
                  <a:lnTo>
                    <a:pt x="14848" y="2078477"/>
                  </a:lnTo>
                  <a:close/>
                </a:path>
                <a:path w="15240" h="3327400">
                  <a:moveTo>
                    <a:pt x="14848" y="2188150"/>
                  </a:moveTo>
                  <a:lnTo>
                    <a:pt x="14848" y="2233032"/>
                  </a:lnTo>
                  <a:lnTo>
                    <a:pt x="14848" y="2237622"/>
                  </a:lnTo>
                  <a:lnTo>
                    <a:pt x="9740" y="2237622"/>
                  </a:lnTo>
                  <a:lnTo>
                    <a:pt x="5128" y="2237622"/>
                  </a:lnTo>
                  <a:lnTo>
                    <a:pt x="0" y="2237622"/>
                  </a:lnTo>
                  <a:lnTo>
                    <a:pt x="0" y="2233032"/>
                  </a:lnTo>
                  <a:lnTo>
                    <a:pt x="0" y="2188150"/>
                  </a:lnTo>
                  <a:lnTo>
                    <a:pt x="0" y="2183044"/>
                  </a:lnTo>
                  <a:lnTo>
                    <a:pt x="0" y="2177937"/>
                  </a:lnTo>
                  <a:lnTo>
                    <a:pt x="5128" y="2177937"/>
                  </a:lnTo>
                  <a:lnTo>
                    <a:pt x="9740" y="2177937"/>
                  </a:lnTo>
                  <a:lnTo>
                    <a:pt x="14848" y="2177937"/>
                  </a:lnTo>
                  <a:lnTo>
                    <a:pt x="14848" y="2183044"/>
                  </a:lnTo>
                  <a:lnTo>
                    <a:pt x="14848" y="2188150"/>
                  </a:lnTo>
                  <a:close/>
                </a:path>
                <a:path w="15240" h="3327400">
                  <a:moveTo>
                    <a:pt x="14848" y="2292717"/>
                  </a:moveTo>
                  <a:lnTo>
                    <a:pt x="14848" y="2342189"/>
                  </a:lnTo>
                  <a:lnTo>
                    <a:pt x="14848" y="2347274"/>
                  </a:lnTo>
                  <a:lnTo>
                    <a:pt x="9740" y="2347274"/>
                  </a:lnTo>
                  <a:lnTo>
                    <a:pt x="5128" y="2347274"/>
                  </a:lnTo>
                  <a:lnTo>
                    <a:pt x="0" y="2347274"/>
                  </a:lnTo>
                  <a:lnTo>
                    <a:pt x="0" y="2342189"/>
                  </a:lnTo>
                  <a:lnTo>
                    <a:pt x="0" y="2292717"/>
                  </a:lnTo>
                  <a:lnTo>
                    <a:pt x="0" y="2287610"/>
                  </a:lnTo>
                  <a:lnTo>
                    <a:pt x="5128" y="2287610"/>
                  </a:lnTo>
                  <a:lnTo>
                    <a:pt x="9740" y="2287610"/>
                  </a:lnTo>
                  <a:lnTo>
                    <a:pt x="14848" y="2287610"/>
                  </a:lnTo>
                  <a:lnTo>
                    <a:pt x="14848" y="2292717"/>
                  </a:lnTo>
                  <a:close/>
                </a:path>
                <a:path w="15240" h="3327400">
                  <a:moveTo>
                    <a:pt x="14848" y="2401852"/>
                  </a:moveTo>
                  <a:lnTo>
                    <a:pt x="14848" y="2451841"/>
                  </a:lnTo>
                  <a:lnTo>
                    <a:pt x="14848" y="2456431"/>
                  </a:lnTo>
                  <a:lnTo>
                    <a:pt x="9740" y="2456431"/>
                  </a:lnTo>
                  <a:lnTo>
                    <a:pt x="5128" y="2456431"/>
                  </a:lnTo>
                  <a:lnTo>
                    <a:pt x="0" y="2456431"/>
                  </a:lnTo>
                  <a:lnTo>
                    <a:pt x="0" y="2451841"/>
                  </a:lnTo>
                  <a:lnTo>
                    <a:pt x="0" y="2401852"/>
                  </a:lnTo>
                  <a:lnTo>
                    <a:pt x="0" y="2396767"/>
                  </a:lnTo>
                  <a:lnTo>
                    <a:pt x="5128" y="2396767"/>
                  </a:lnTo>
                  <a:lnTo>
                    <a:pt x="9740" y="2396767"/>
                  </a:lnTo>
                  <a:lnTo>
                    <a:pt x="14848" y="2396767"/>
                  </a:lnTo>
                  <a:lnTo>
                    <a:pt x="14848" y="2401852"/>
                  </a:lnTo>
                  <a:close/>
                </a:path>
                <a:path w="15240" h="3327400">
                  <a:moveTo>
                    <a:pt x="14848" y="2511526"/>
                  </a:moveTo>
                  <a:lnTo>
                    <a:pt x="14848" y="2560997"/>
                  </a:lnTo>
                  <a:lnTo>
                    <a:pt x="14848" y="2566104"/>
                  </a:lnTo>
                  <a:lnTo>
                    <a:pt x="9740" y="2566104"/>
                  </a:lnTo>
                  <a:lnTo>
                    <a:pt x="5128" y="2566104"/>
                  </a:lnTo>
                  <a:lnTo>
                    <a:pt x="0" y="2566104"/>
                  </a:lnTo>
                  <a:lnTo>
                    <a:pt x="0" y="2560997"/>
                  </a:lnTo>
                  <a:lnTo>
                    <a:pt x="0" y="2511526"/>
                  </a:lnTo>
                  <a:lnTo>
                    <a:pt x="0" y="2506419"/>
                  </a:lnTo>
                  <a:lnTo>
                    <a:pt x="5128" y="2506419"/>
                  </a:lnTo>
                  <a:lnTo>
                    <a:pt x="9740" y="2506419"/>
                  </a:lnTo>
                  <a:lnTo>
                    <a:pt x="14848" y="2506419"/>
                  </a:lnTo>
                  <a:lnTo>
                    <a:pt x="14848" y="2511526"/>
                  </a:lnTo>
                  <a:close/>
                </a:path>
                <a:path w="15240" h="3327400">
                  <a:moveTo>
                    <a:pt x="14848" y="2620682"/>
                  </a:moveTo>
                  <a:lnTo>
                    <a:pt x="14848" y="2665564"/>
                  </a:lnTo>
                  <a:lnTo>
                    <a:pt x="14848" y="2670650"/>
                  </a:lnTo>
                  <a:lnTo>
                    <a:pt x="14848" y="2675239"/>
                  </a:lnTo>
                  <a:lnTo>
                    <a:pt x="9740" y="2675239"/>
                  </a:lnTo>
                  <a:lnTo>
                    <a:pt x="5128" y="2675239"/>
                  </a:lnTo>
                  <a:lnTo>
                    <a:pt x="0" y="2675239"/>
                  </a:lnTo>
                  <a:lnTo>
                    <a:pt x="0" y="2670650"/>
                  </a:lnTo>
                  <a:lnTo>
                    <a:pt x="0" y="2665564"/>
                  </a:lnTo>
                  <a:lnTo>
                    <a:pt x="0" y="2620682"/>
                  </a:lnTo>
                  <a:lnTo>
                    <a:pt x="0" y="2615576"/>
                  </a:lnTo>
                  <a:lnTo>
                    <a:pt x="5128" y="2615576"/>
                  </a:lnTo>
                  <a:lnTo>
                    <a:pt x="9740" y="2610986"/>
                  </a:lnTo>
                  <a:lnTo>
                    <a:pt x="9740" y="2615576"/>
                  </a:lnTo>
                  <a:lnTo>
                    <a:pt x="14848" y="2615576"/>
                  </a:lnTo>
                  <a:lnTo>
                    <a:pt x="14848" y="2620682"/>
                  </a:lnTo>
                  <a:close/>
                </a:path>
                <a:path w="15240" h="3327400">
                  <a:moveTo>
                    <a:pt x="14848" y="2730334"/>
                  </a:moveTo>
                  <a:lnTo>
                    <a:pt x="14848" y="2774721"/>
                  </a:lnTo>
                  <a:lnTo>
                    <a:pt x="14848" y="2779806"/>
                  </a:lnTo>
                  <a:lnTo>
                    <a:pt x="9740" y="2784913"/>
                  </a:lnTo>
                  <a:lnTo>
                    <a:pt x="5128" y="2784913"/>
                  </a:lnTo>
                  <a:lnTo>
                    <a:pt x="0" y="2779806"/>
                  </a:lnTo>
                  <a:lnTo>
                    <a:pt x="0" y="2774721"/>
                  </a:lnTo>
                  <a:lnTo>
                    <a:pt x="0" y="2730334"/>
                  </a:lnTo>
                  <a:lnTo>
                    <a:pt x="0" y="2725228"/>
                  </a:lnTo>
                  <a:lnTo>
                    <a:pt x="5128" y="2720142"/>
                  </a:lnTo>
                  <a:lnTo>
                    <a:pt x="9740" y="2720142"/>
                  </a:lnTo>
                  <a:lnTo>
                    <a:pt x="14848" y="2725228"/>
                  </a:lnTo>
                  <a:lnTo>
                    <a:pt x="14848" y="2730334"/>
                  </a:lnTo>
                  <a:close/>
                </a:path>
                <a:path w="15240" h="3327400">
                  <a:moveTo>
                    <a:pt x="14848" y="2839491"/>
                  </a:moveTo>
                  <a:lnTo>
                    <a:pt x="14848" y="2884373"/>
                  </a:lnTo>
                  <a:lnTo>
                    <a:pt x="14848" y="2889479"/>
                  </a:lnTo>
                  <a:lnTo>
                    <a:pt x="9740" y="2894069"/>
                  </a:lnTo>
                  <a:lnTo>
                    <a:pt x="5128" y="2894069"/>
                  </a:lnTo>
                  <a:lnTo>
                    <a:pt x="0" y="2889479"/>
                  </a:lnTo>
                  <a:lnTo>
                    <a:pt x="0" y="2884373"/>
                  </a:lnTo>
                  <a:lnTo>
                    <a:pt x="0" y="2839491"/>
                  </a:lnTo>
                  <a:lnTo>
                    <a:pt x="0" y="2834384"/>
                  </a:lnTo>
                  <a:lnTo>
                    <a:pt x="5128" y="2829795"/>
                  </a:lnTo>
                  <a:lnTo>
                    <a:pt x="9740" y="2829795"/>
                  </a:lnTo>
                  <a:lnTo>
                    <a:pt x="14848" y="2834384"/>
                  </a:lnTo>
                  <a:lnTo>
                    <a:pt x="14848" y="2839491"/>
                  </a:lnTo>
                  <a:close/>
                </a:path>
                <a:path w="15240" h="3327400">
                  <a:moveTo>
                    <a:pt x="14848" y="2949143"/>
                  </a:moveTo>
                  <a:lnTo>
                    <a:pt x="14848" y="2993529"/>
                  </a:lnTo>
                  <a:lnTo>
                    <a:pt x="14848" y="2998615"/>
                  </a:lnTo>
                  <a:lnTo>
                    <a:pt x="9740" y="2998615"/>
                  </a:lnTo>
                  <a:lnTo>
                    <a:pt x="9740" y="3003721"/>
                  </a:lnTo>
                  <a:lnTo>
                    <a:pt x="5128" y="2998615"/>
                  </a:lnTo>
                  <a:lnTo>
                    <a:pt x="0" y="2998615"/>
                  </a:lnTo>
                  <a:lnTo>
                    <a:pt x="0" y="2993529"/>
                  </a:lnTo>
                  <a:lnTo>
                    <a:pt x="0" y="2949143"/>
                  </a:lnTo>
                  <a:lnTo>
                    <a:pt x="0" y="2944058"/>
                  </a:lnTo>
                  <a:lnTo>
                    <a:pt x="5128" y="2938951"/>
                  </a:lnTo>
                  <a:lnTo>
                    <a:pt x="9740" y="2938951"/>
                  </a:lnTo>
                  <a:lnTo>
                    <a:pt x="14848" y="2944058"/>
                  </a:lnTo>
                  <a:lnTo>
                    <a:pt x="14848" y="2949143"/>
                  </a:lnTo>
                  <a:close/>
                </a:path>
                <a:path w="15240" h="3327400">
                  <a:moveTo>
                    <a:pt x="14848" y="3058300"/>
                  </a:moveTo>
                  <a:lnTo>
                    <a:pt x="14848" y="3103182"/>
                  </a:lnTo>
                  <a:lnTo>
                    <a:pt x="14848" y="3108288"/>
                  </a:lnTo>
                  <a:lnTo>
                    <a:pt x="9740" y="3108288"/>
                  </a:lnTo>
                  <a:lnTo>
                    <a:pt x="5128" y="3108288"/>
                  </a:lnTo>
                  <a:lnTo>
                    <a:pt x="0" y="3108288"/>
                  </a:lnTo>
                  <a:lnTo>
                    <a:pt x="0" y="3103182"/>
                  </a:lnTo>
                  <a:lnTo>
                    <a:pt x="0" y="3058300"/>
                  </a:lnTo>
                  <a:lnTo>
                    <a:pt x="0" y="3053193"/>
                  </a:lnTo>
                  <a:lnTo>
                    <a:pt x="0" y="3048604"/>
                  </a:lnTo>
                  <a:lnTo>
                    <a:pt x="5128" y="3048604"/>
                  </a:lnTo>
                  <a:lnTo>
                    <a:pt x="9740" y="3048604"/>
                  </a:lnTo>
                  <a:lnTo>
                    <a:pt x="14848" y="3048604"/>
                  </a:lnTo>
                  <a:lnTo>
                    <a:pt x="14848" y="3053193"/>
                  </a:lnTo>
                  <a:lnTo>
                    <a:pt x="14848" y="3058300"/>
                  </a:lnTo>
                  <a:close/>
                </a:path>
                <a:path w="15240" h="3327400">
                  <a:moveTo>
                    <a:pt x="14848" y="3162866"/>
                  </a:moveTo>
                  <a:lnTo>
                    <a:pt x="14848" y="3212338"/>
                  </a:lnTo>
                  <a:lnTo>
                    <a:pt x="14848" y="3217445"/>
                  </a:lnTo>
                  <a:lnTo>
                    <a:pt x="9740" y="3217445"/>
                  </a:lnTo>
                  <a:lnTo>
                    <a:pt x="5128" y="3217445"/>
                  </a:lnTo>
                  <a:lnTo>
                    <a:pt x="0" y="3217445"/>
                  </a:lnTo>
                  <a:lnTo>
                    <a:pt x="0" y="3212338"/>
                  </a:lnTo>
                  <a:lnTo>
                    <a:pt x="0" y="3162866"/>
                  </a:lnTo>
                  <a:lnTo>
                    <a:pt x="0" y="3157760"/>
                  </a:lnTo>
                  <a:lnTo>
                    <a:pt x="5128" y="3157760"/>
                  </a:lnTo>
                  <a:lnTo>
                    <a:pt x="9740" y="3157760"/>
                  </a:lnTo>
                  <a:lnTo>
                    <a:pt x="14848" y="3157760"/>
                  </a:lnTo>
                  <a:lnTo>
                    <a:pt x="14848" y="3162866"/>
                  </a:lnTo>
                  <a:close/>
                </a:path>
                <a:path w="15240" h="3327400">
                  <a:moveTo>
                    <a:pt x="14848" y="3272023"/>
                  </a:moveTo>
                  <a:lnTo>
                    <a:pt x="14848" y="3321991"/>
                  </a:lnTo>
                  <a:lnTo>
                    <a:pt x="14848" y="3327097"/>
                  </a:lnTo>
                  <a:lnTo>
                    <a:pt x="9740" y="3327097"/>
                  </a:lnTo>
                  <a:lnTo>
                    <a:pt x="5128" y="3327097"/>
                  </a:lnTo>
                  <a:lnTo>
                    <a:pt x="0" y="3327097"/>
                  </a:lnTo>
                  <a:lnTo>
                    <a:pt x="0" y="3321991"/>
                  </a:lnTo>
                  <a:lnTo>
                    <a:pt x="0" y="3272023"/>
                  </a:lnTo>
                  <a:lnTo>
                    <a:pt x="0" y="3267433"/>
                  </a:lnTo>
                  <a:lnTo>
                    <a:pt x="5128" y="3267433"/>
                  </a:lnTo>
                  <a:lnTo>
                    <a:pt x="9740" y="3267433"/>
                  </a:lnTo>
                  <a:lnTo>
                    <a:pt x="14848" y="3267433"/>
                  </a:lnTo>
                  <a:lnTo>
                    <a:pt x="14848" y="3272023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15583" y="1752262"/>
              <a:ext cx="64769" cy="65405"/>
            </a:xfrm>
            <a:custGeom>
              <a:avLst/>
              <a:gdLst/>
              <a:ahLst/>
              <a:cxnLst/>
              <a:rect l="l" t="t" r="r" b="b"/>
              <a:pathLst>
                <a:path w="64770" h="65405">
                  <a:moveTo>
                    <a:pt x="64542" y="0"/>
                  </a:moveTo>
                  <a:lnTo>
                    <a:pt x="0" y="0"/>
                  </a:lnTo>
                  <a:lnTo>
                    <a:pt x="0" y="64776"/>
                  </a:lnTo>
                  <a:lnTo>
                    <a:pt x="64542" y="64776"/>
                  </a:lnTo>
                  <a:lnTo>
                    <a:pt x="64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15583" y="1752262"/>
              <a:ext cx="64769" cy="65405"/>
            </a:xfrm>
            <a:custGeom>
              <a:avLst/>
              <a:gdLst/>
              <a:ahLst/>
              <a:cxnLst/>
              <a:rect l="l" t="t" r="r" b="b"/>
              <a:pathLst>
                <a:path w="64770" h="65405">
                  <a:moveTo>
                    <a:pt x="0" y="64776"/>
                  </a:moveTo>
                  <a:lnTo>
                    <a:pt x="64542" y="64776"/>
                  </a:lnTo>
                  <a:lnTo>
                    <a:pt x="64542" y="0"/>
                  </a:lnTo>
                  <a:lnTo>
                    <a:pt x="0" y="0"/>
                  </a:lnTo>
                  <a:lnTo>
                    <a:pt x="0" y="64776"/>
                  </a:lnTo>
                  <a:close/>
                </a:path>
              </a:pathLst>
            </a:custGeom>
            <a:ln w="14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952575" y="1500235"/>
            <a:ext cx="869950" cy="44767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indent="84455">
              <a:lnSpc>
                <a:spcPts val="1530"/>
              </a:lnSpc>
              <a:spcBef>
                <a:spcPts val="370"/>
              </a:spcBef>
            </a:pPr>
            <a:r>
              <a:rPr sz="1500" spc="-25" dirty="0">
                <a:latin typeface="宋体"/>
                <a:cs typeface="宋体"/>
              </a:rPr>
              <a:t>MPP (1,16384)</a:t>
            </a:r>
            <a:endParaRPr sz="1500">
              <a:latin typeface="宋体"/>
              <a:cs typeface="宋体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757011" y="2543130"/>
            <a:ext cx="3753485" cy="2626995"/>
            <a:chOff x="7757011" y="2543130"/>
            <a:chExt cx="3753485" cy="2626995"/>
          </a:xfrm>
        </p:grpSpPr>
        <p:sp>
          <p:nvSpPr>
            <p:cNvPr id="24" name="object 24"/>
            <p:cNvSpPr/>
            <p:nvPr/>
          </p:nvSpPr>
          <p:spPr>
            <a:xfrm>
              <a:off x="7764997" y="2545987"/>
              <a:ext cx="2015489" cy="20320"/>
            </a:xfrm>
            <a:custGeom>
              <a:avLst/>
              <a:gdLst/>
              <a:ahLst/>
              <a:cxnLst/>
              <a:rect l="l" t="t" r="r" b="b"/>
              <a:pathLst>
                <a:path w="2015490" h="20319">
                  <a:moveTo>
                    <a:pt x="54283" y="0"/>
                  </a:moveTo>
                  <a:lnTo>
                    <a:pt x="9719" y="0"/>
                  </a:lnTo>
                  <a:lnTo>
                    <a:pt x="4611" y="5168"/>
                  </a:lnTo>
                  <a:lnTo>
                    <a:pt x="0" y="5168"/>
                  </a:lnTo>
                  <a:lnTo>
                    <a:pt x="0" y="15298"/>
                  </a:lnTo>
                  <a:lnTo>
                    <a:pt x="4611" y="15298"/>
                  </a:lnTo>
                  <a:lnTo>
                    <a:pt x="9719" y="19846"/>
                  </a:lnTo>
                  <a:lnTo>
                    <a:pt x="54283" y="19846"/>
                  </a:lnTo>
                  <a:lnTo>
                    <a:pt x="59411" y="15298"/>
                  </a:lnTo>
                  <a:lnTo>
                    <a:pt x="59411" y="5168"/>
                  </a:lnTo>
                  <a:lnTo>
                    <a:pt x="54283" y="0"/>
                  </a:lnTo>
                  <a:close/>
                </a:path>
                <a:path w="2015490" h="20319">
                  <a:moveTo>
                    <a:pt x="163903" y="15298"/>
                  </a:moveTo>
                  <a:lnTo>
                    <a:pt x="114232" y="15298"/>
                  </a:lnTo>
                  <a:lnTo>
                    <a:pt x="114232" y="19846"/>
                  </a:lnTo>
                  <a:lnTo>
                    <a:pt x="163903" y="19846"/>
                  </a:lnTo>
                  <a:lnTo>
                    <a:pt x="163903" y="15298"/>
                  </a:lnTo>
                  <a:close/>
                </a:path>
                <a:path w="2015490" h="20319">
                  <a:moveTo>
                    <a:pt x="168515" y="5168"/>
                  </a:moveTo>
                  <a:lnTo>
                    <a:pt x="109103" y="5168"/>
                  </a:lnTo>
                  <a:lnTo>
                    <a:pt x="109103" y="15298"/>
                  </a:lnTo>
                  <a:lnTo>
                    <a:pt x="168515" y="15298"/>
                  </a:lnTo>
                  <a:lnTo>
                    <a:pt x="168515" y="5168"/>
                  </a:lnTo>
                  <a:close/>
                </a:path>
                <a:path w="2015490" h="20319">
                  <a:moveTo>
                    <a:pt x="163903" y="0"/>
                  </a:moveTo>
                  <a:lnTo>
                    <a:pt x="114232" y="0"/>
                  </a:lnTo>
                  <a:lnTo>
                    <a:pt x="114232" y="5168"/>
                  </a:lnTo>
                  <a:lnTo>
                    <a:pt x="163903" y="5168"/>
                  </a:lnTo>
                  <a:lnTo>
                    <a:pt x="163903" y="0"/>
                  </a:lnTo>
                  <a:close/>
                </a:path>
                <a:path w="2015490" h="20319">
                  <a:moveTo>
                    <a:pt x="273007" y="15298"/>
                  </a:moveTo>
                  <a:lnTo>
                    <a:pt x="223335" y="15298"/>
                  </a:lnTo>
                  <a:lnTo>
                    <a:pt x="223335" y="19846"/>
                  </a:lnTo>
                  <a:lnTo>
                    <a:pt x="273007" y="19846"/>
                  </a:lnTo>
                  <a:lnTo>
                    <a:pt x="273007" y="15298"/>
                  </a:lnTo>
                  <a:close/>
                </a:path>
                <a:path w="2015490" h="20319">
                  <a:moveTo>
                    <a:pt x="277619" y="5168"/>
                  </a:moveTo>
                  <a:lnTo>
                    <a:pt x="218207" y="5168"/>
                  </a:lnTo>
                  <a:lnTo>
                    <a:pt x="218207" y="15298"/>
                  </a:lnTo>
                  <a:lnTo>
                    <a:pt x="277619" y="15298"/>
                  </a:lnTo>
                  <a:lnTo>
                    <a:pt x="277619" y="5168"/>
                  </a:lnTo>
                  <a:close/>
                </a:path>
                <a:path w="2015490" h="20319">
                  <a:moveTo>
                    <a:pt x="273007" y="0"/>
                  </a:moveTo>
                  <a:lnTo>
                    <a:pt x="223335" y="0"/>
                  </a:lnTo>
                  <a:lnTo>
                    <a:pt x="223335" y="5168"/>
                  </a:lnTo>
                  <a:lnTo>
                    <a:pt x="273007" y="5168"/>
                  </a:lnTo>
                  <a:lnTo>
                    <a:pt x="273007" y="0"/>
                  </a:lnTo>
                  <a:close/>
                </a:path>
                <a:path w="2015490" h="20319">
                  <a:moveTo>
                    <a:pt x="382111" y="15298"/>
                  </a:moveTo>
                  <a:lnTo>
                    <a:pt x="332439" y="15298"/>
                  </a:lnTo>
                  <a:lnTo>
                    <a:pt x="332439" y="19846"/>
                  </a:lnTo>
                  <a:lnTo>
                    <a:pt x="382111" y="19846"/>
                  </a:lnTo>
                  <a:lnTo>
                    <a:pt x="382111" y="15298"/>
                  </a:lnTo>
                  <a:close/>
                </a:path>
                <a:path w="2015490" h="20319">
                  <a:moveTo>
                    <a:pt x="387239" y="5168"/>
                  </a:moveTo>
                  <a:lnTo>
                    <a:pt x="327311" y="5168"/>
                  </a:lnTo>
                  <a:lnTo>
                    <a:pt x="327311" y="15298"/>
                  </a:lnTo>
                  <a:lnTo>
                    <a:pt x="387239" y="15298"/>
                  </a:lnTo>
                  <a:lnTo>
                    <a:pt x="387239" y="5168"/>
                  </a:lnTo>
                  <a:close/>
                </a:path>
                <a:path w="2015490" h="20319">
                  <a:moveTo>
                    <a:pt x="382111" y="0"/>
                  </a:moveTo>
                  <a:lnTo>
                    <a:pt x="332439" y="0"/>
                  </a:lnTo>
                  <a:lnTo>
                    <a:pt x="332439" y="5168"/>
                  </a:lnTo>
                  <a:lnTo>
                    <a:pt x="382111" y="5168"/>
                  </a:lnTo>
                  <a:lnTo>
                    <a:pt x="382111" y="0"/>
                  </a:lnTo>
                  <a:close/>
                </a:path>
                <a:path w="2015490" h="20319">
                  <a:moveTo>
                    <a:pt x="486107" y="0"/>
                  </a:moveTo>
                  <a:lnTo>
                    <a:pt x="441543" y="0"/>
                  </a:lnTo>
                  <a:lnTo>
                    <a:pt x="436932" y="5168"/>
                  </a:lnTo>
                  <a:lnTo>
                    <a:pt x="431803" y="10130"/>
                  </a:lnTo>
                  <a:lnTo>
                    <a:pt x="436932" y="15298"/>
                  </a:lnTo>
                  <a:lnTo>
                    <a:pt x="441543" y="19846"/>
                  </a:lnTo>
                  <a:lnTo>
                    <a:pt x="486107" y="19846"/>
                  </a:lnTo>
                  <a:lnTo>
                    <a:pt x="491235" y="15298"/>
                  </a:lnTo>
                  <a:lnTo>
                    <a:pt x="496343" y="15298"/>
                  </a:lnTo>
                  <a:lnTo>
                    <a:pt x="496343" y="5168"/>
                  </a:lnTo>
                  <a:lnTo>
                    <a:pt x="491235" y="5168"/>
                  </a:lnTo>
                  <a:lnTo>
                    <a:pt x="486107" y="0"/>
                  </a:lnTo>
                  <a:close/>
                </a:path>
                <a:path w="2015490" h="20319">
                  <a:moveTo>
                    <a:pt x="600339" y="15298"/>
                  </a:moveTo>
                  <a:lnTo>
                    <a:pt x="546035" y="15298"/>
                  </a:lnTo>
                  <a:lnTo>
                    <a:pt x="550647" y="19846"/>
                  </a:lnTo>
                  <a:lnTo>
                    <a:pt x="595728" y="19846"/>
                  </a:lnTo>
                  <a:lnTo>
                    <a:pt x="600339" y="15298"/>
                  </a:lnTo>
                  <a:close/>
                </a:path>
                <a:path w="2015490" h="20319">
                  <a:moveTo>
                    <a:pt x="605447" y="5168"/>
                  </a:moveTo>
                  <a:lnTo>
                    <a:pt x="540907" y="5168"/>
                  </a:lnTo>
                  <a:lnTo>
                    <a:pt x="540907" y="15298"/>
                  </a:lnTo>
                  <a:lnTo>
                    <a:pt x="605447" y="15298"/>
                  </a:lnTo>
                  <a:lnTo>
                    <a:pt x="605447" y="5168"/>
                  </a:lnTo>
                  <a:close/>
                </a:path>
                <a:path w="2015490" h="20319">
                  <a:moveTo>
                    <a:pt x="595728" y="0"/>
                  </a:moveTo>
                  <a:lnTo>
                    <a:pt x="550647" y="0"/>
                  </a:lnTo>
                  <a:lnTo>
                    <a:pt x="546035" y="5168"/>
                  </a:lnTo>
                  <a:lnTo>
                    <a:pt x="600339" y="5168"/>
                  </a:lnTo>
                  <a:lnTo>
                    <a:pt x="595728" y="0"/>
                  </a:lnTo>
                  <a:close/>
                </a:path>
                <a:path w="2015490" h="20319">
                  <a:moveTo>
                    <a:pt x="709939" y="15298"/>
                  </a:moveTo>
                  <a:lnTo>
                    <a:pt x="655139" y="15298"/>
                  </a:lnTo>
                  <a:lnTo>
                    <a:pt x="660268" y="19846"/>
                  </a:lnTo>
                  <a:lnTo>
                    <a:pt x="704831" y="19846"/>
                  </a:lnTo>
                  <a:lnTo>
                    <a:pt x="709939" y="15298"/>
                  </a:lnTo>
                  <a:close/>
                </a:path>
                <a:path w="2015490" h="20319">
                  <a:moveTo>
                    <a:pt x="714551" y="5168"/>
                  </a:moveTo>
                  <a:lnTo>
                    <a:pt x="650011" y="5168"/>
                  </a:lnTo>
                  <a:lnTo>
                    <a:pt x="650011" y="15298"/>
                  </a:lnTo>
                  <a:lnTo>
                    <a:pt x="714551" y="15298"/>
                  </a:lnTo>
                  <a:lnTo>
                    <a:pt x="714551" y="5168"/>
                  </a:lnTo>
                  <a:close/>
                </a:path>
                <a:path w="2015490" h="20319">
                  <a:moveTo>
                    <a:pt x="704831" y="0"/>
                  </a:moveTo>
                  <a:lnTo>
                    <a:pt x="660268" y="0"/>
                  </a:lnTo>
                  <a:lnTo>
                    <a:pt x="655139" y="5168"/>
                  </a:lnTo>
                  <a:lnTo>
                    <a:pt x="709939" y="5168"/>
                  </a:lnTo>
                  <a:lnTo>
                    <a:pt x="704831" y="0"/>
                  </a:lnTo>
                  <a:close/>
                </a:path>
                <a:path w="2015490" h="20319">
                  <a:moveTo>
                    <a:pt x="813935" y="0"/>
                  </a:moveTo>
                  <a:lnTo>
                    <a:pt x="769371" y="0"/>
                  </a:lnTo>
                  <a:lnTo>
                    <a:pt x="764243" y="5168"/>
                  </a:lnTo>
                  <a:lnTo>
                    <a:pt x="759114" y="5168"/>
                  </a:lnTo>
                  <a:lnTo>
                    <a:pt x="759114" y="15298"/>
                  </a:lnTo>
                  <a:lnTo>
                    <a:pt x="764243" y="15298"/>
                  </a:lnTo>
                  <a:lnTo>
                    <a:pt x="769371" y="19846"/>
                  </a:lnTo>
                  <a:lnTo>
                    <a:pt x="813935" y="19846"/>
                  </a:lnTo>
                  <a:lnTo>
                    <a:pt x="819064" y="15298"/>
                  </a:lnTo>
                  <a:lnTo>
                    <a:pt x="823675" y="10130"/>
                  </a:lnTo>
                  <a:lnTo>
                    <a:pt x="819064" y="5168"/>
                  </a:lnTo>
                  <a:lnTo>
                    <a:pt x="813935" y="0"/>
                  </a:lnTo>
                  <a:close/>
                </a:path>
                <a:path w="2015490" h="20319">
                  <a:moveTo>
                    <a:pt x="923060" y="0"/>
                  </a:moveTo>
                  <a:lnTo>
                    <a:pt x="878392" y="0"/>
                  </a:lnTo>
                  <a:lnTo>
                    <a:pt x="873429" y="5168"/>
                  </a:lnTo>
                  <a:lnTo>
                    <a:pt x="868673" y="5168"/>
                  </a:lnTo>
                  <a:lnTo>
                    <a:pt x="868673" y="15298"/>
                  </a:lnTo>
                  <a:lnTo>
                    <a:pt x="873429" y="15298"/>
                  </a:lnTo>
                  <a:lnTo>
                    <a:pt x="878392" y="19846"/>
                  </a:lnTo>
                  <a:lnTo>
                    <a:pt x="923060" y="19846"/>
                  </a:lnTo>
                  <a:lnTo>
                    <a:pt x="928229" y="15298"/>
                  </a:lnTo>
                  <a:lnTo>
                    <a:pt x="928229" y="5168"/>
                  </a:lnTo>
                  <a:lnTo>
                    <a:pt x="923060" y="0"/>
                  </a:lnTo>
                  <a:close/>
                </a:path>
                <a:path w="2015490" h="20319">
                  <a:moveTo>
                    <a:pt x="1032246" y="15298"/>
                  </a:moveTo>
                  <a:lnTo>
                    <a:pt x="983029" y="15298"/>
                  </a:lnTo>
                  <a:lnTo>
                    <a:pt x="983029" y="19846"/>
                  </a:lnTo>
                  <a:lnTo>
                    <a:pt x="1032246" y="19846"/>
                  </a:lnTo>
                  <a:lnTo>
                    <a:pt x="1032246" y="15298"/>
                  </a:lnTo>
                  <a:close/>
                </a:path>
                <a:path w="2015490" h="20319">
                  <a:moveTo>
                    <a:pt x="1037209" y="5168"/>
                  </a:moveTo>
                  <a:lnTo>
                    <a:pt x="977860" y="5168"/>
                  </a:lnTo>
                  <a:lnTo>
                    <a:pt x="977860" y="15298"/>
                  </a:lnTo>
                  <a:lnTo>
                    <a:pt x="1037209" y="15298"/>
                  </a:lnTo>
                  <a:lnTo>
                    <a:pt x="1037209" y="5168"/>
                  </a:lnTo>
                  <a:close/>
                </a:path>
                <a:path w="2015490" h="20319">
                  <a:moveTo>
                    <a:pt x="1032246" y="0"/>
                  </a:moveTo>
                  <a:lnTo>
                    <a:pt x="983029" y="0"/>
                  </a:lnTo>
                  <a:lnTo>
                    <a:pt x="983029" y="5168"/>
                  </a:lnTo>
                  <a:lnTo>
                    <a:pt x="1032246" y="5168"/>
                  </a:lnTo>
                  <a:lnTo>
                    <a:pt x="1032246" y="0"/>
                  </a:lnTo>
                  <a:close/>
                </a:path>
                <a:path w="2015490" h="20319">
                  <a:moveTo>
                    <a:pt x="1141846" y="15298"/>
                  </a:moveTo>
                  <a:lnTo>
                    <a:pt x="1092009" y="15298"/>
                  </a:lnTo>
                  <a:lnTo>
                    <a:pt x="1092009" y="19846"/>
                  </a:lnTo>
                  <a:lnTo>
                    <a:pt x="1141846" y="19846"/>
                  </a:lnTo>
                  <a:lnTo>
                    <a:pt x="1141846" y="15298"/>
                  </a:lnTo>
                  <a:close/>
                </a:path>
                <a:path w="2015490" h="20319">
                  <a:moveTo>
                    <a:pt x="1146395" y="5168"/>
                  </a:moveTo>
                  <a:lnTo>
                    <a:pt x="1087046" y="5168"/>
                  </a:lnTo>
                  <a:lnTo>
                    <a:pt x="1087046" y="15298"/>
                  </a:lnTo>
                  <a:lnTo>
                    <a:pt x="1146395" y="15298"/>
                  </a:lnTo>
                  <a:lnTo>
                    <a:pt x="1146395" y="5168"/>
                  </a:lnTo>
                  <a:close/>
                </a:path>
                <a:path w="2015490" h="20319">
                  <a:moveTo>
                    <a:pt x="1141846" y="0"/>
                  </a:moveTo>
                  <a:lnTo>
                    <a:pt x="1092009" y="0"/>
                  </a:lnTo>
                  <a:lnTo>
                    <a:pt x="1092009" y="5168"/>
                  </a:lnTo>
                  <a:lnTo>
                    <a:pt x="1141846" y="5168"/>
                  </a:lnTo>
                  <a:lnTo>
                    <a:pt x="1141846" y="0"/>
                  </a:lnTo>
                  <a:close/>
                </a:path>
                <a:path w="2015490" h="20319">
                  <a:moveTo>
                    <a:pt x="1250826" y="15298"/>
                  </a:moveTo>
                  <a:lnTo>
                    <a:pt x="1201196" y="15298"/>
                  </a:lnTo>
                  <a:lnTo>
                    <a:pt x="1201196" y="19846"/>
                  </a:lnTo>
                  <a:lnTo>
                    <a:pt x="1250826" y="19846"/>
                  </a:lnTo>
                  <a:lnTo>
                    <a:pt x="1250826" y="15298"/>
                  </a:lnTo>
                  <a:close/>
                </a:path>
                <a:path w="2015490" h="20319">
                  <a:moveTo>
                    <a:pt x="1255375" y="5168"/>
                  </a:moveTo>
                  <a:lnTo>
                    <a:pt x="1196026" y="5168"/>
                  </a:lnTo>
                  <a:lnTo>
                    <a:pt x="1196026" y="15298"/>
                  </a:lnTo>
                  <a:lnTo>
                    <a:pt x="1255375" y="15298"/>
                  </a:lnTo>
                  <a:lnTo>
                    <a:pt x="1255375" y="5168"/>
                  </a:lnTo>
                  <a:close/>
                </a:path>
                <a:path w="2015490" h="20319">
                  <a:moveTo>
                    <a:pt x="1250826" y="0"/>
                  </a:moveTo>
                  <a:lnTo>
                    <a:pt x="1201196" y="0"/>
                  </a:lnTo>
                  <a:lnTo>
                    <a:pt x="1201196" y="5168"/>
                  </a:lnTo>
                  <a:lnTo>
                    <a:pt x="1250826" y="5168"/>
                  </a:lnTo>
                  <a:lnTo>
                    <a:pt x="1250826" y="0"/>
                  </a:lnTo>
                  <a:close/>
                </a:path>
                <a:path w="2015490" h="20319">
                  <a:moveTo>
                    <a:pt x="1354842" y="0"/>
                  </a:moveTo>
                  <a:lnTo>
                    <a:pt x="1310382" y="0"/>
                  </a:lnTo>
                  <a:lnTo>
                    <a:pt x="1305212" y="5168"/>
                  </a:lnTo>
                  <a:lnTo>
                    <a:pt x="1300456" y="10130"/>
                  </a:lnTo>
                  <a:lnTo>
                    <a:pt x="1305212" y="15298"/>
                  </a:lnTo>
                  <a:lnTo>
                    <a:pt x="1310382" y="19846"/>
                  </a:lnTo>
                  <a:lnTo>
                    <a:pt x="1354842" y="19846"/>
                  </a:lnTo>
                  <a:lnTo>
                    <a:pt x="1360012" y="15298"/>
                  </a:lnTo>
                  <a:lnTo>
                    <a:pt x="1365182" y="15298"/>
                  </a:lnTo>
                  <a:lnTo>
                    <a:pt x="1365182" y="5168"/>
                  </a:lnTo>
                  <a:lnTo>
                    <a:pt x="1360012" y="5168"/>
                  </a:lnTo>
                  <a:lnTo>
                    <a:pt x="1354842" y="0"/>
                  </a:lnTo>
                  <a:close/>
                </a:path>
                <a:path w="2015490" h="20319">
                  <a:moveTo>
                    <a:pt x="1468992" y="15298"/>
                  </a:moveTo>
                  <a:lnTo>
                    <a:pt x="1414812" y="15298"/>
                  </a:lnTo>
                  <a:lnTo>
                    <a:pt x="1419362" y="19846"/>
                  </a:lnTo>
                  <a:lnTo>
                    <a:pt x="1464029" y="19846"/>
                  </a:lnTo>
                  <a:lnTo>
                    <a:pt x="1468992" y="15298"/>
                  </a:lnTo>
                  <a:close/>
                </a:path>
                <a:path w="2015490" h="20319">
                  <a:moveTo>
                    <a:pt x="1474162" y="5168"/>
                  </a:moveTo>
                  <a:lnTo>
                    <a:pt x="1409642" y="5168"/>
                  </a:lnTo>
                  <a:lnTo>
                    <a:pt x="1409642" y="15298"/>
                  </a:lnTo>
                  <a:lnTo>
                    <a:pt x="1474162" y="15298"/>
                  </a:lnTo>
                  <a:lnTo>
                    <a:pt x="1474162" y="5168"/>
                  </a:lnTo>
                  <a:close/>
                </a:path>
                <a:path w="2015490" h="20319">
                  <a:moveTo>
                    <a:pt x="1464029" y="0"/>
                  </a:moveTo>
                  <a:lnTo>
                    <a:pt x="1419362" y="0"/>
                  </a:lnTo>
                  <a:lnTo>
                    <a:pt x="1414812" y="5168"/>
                  </a:lnTo>
                  <a:lnTo>
                    <a:pt x="1468992" y="5168"/>
                  </a:lnTo>
                  <a:lnTo>
                    <a:pt x="1464029" y="0"/>
                  </a:lnTo>
                  <a:close/>
                </a:path>
                <a:path w="2015490" h="20319">
                  <a:moveTo>
                    <a:pt x="1578178" y="15298"/>
                  </a:moveTo>
                  <a:lnTo>
                    <a:pt x="1523792" y="15298"/>
                  </a:lnTo>
                  <a:lnTo>
                    <a:pt x="1528548" y="19846"/>
                  </a:lnTo>
                  <a:lnTo>
                    <a:pt x="1573629" y="19846"/>
                  </a:lnTo>
                  <a:lnTo>
                    <a:pt x="1578178" y="15298"/>
                  </a:lnTo>
                  <a:close/>
                </a:path>
                <a:path w="2015490" h="20319">
                  <a:moveTo>
                    <a:pt x="1583348" y="5168"/>
                  </a:moveTo>
                  <a:lnTo>
                    <a:pt x="1518829" y="5168"/>
                  </a:lnTo>
                  <a:lnTo>
                    <a:pt x="1518829" y="15298"/>
                  </a:lnTo>
                  <a:lnTo>
                    <a:pt x="1583348" y="15298"/>
                  </a:lnTo>
                  <a:lnTo>
                    <a:pt x="1583348" y="5168"/>
                  </a:lnTo>
                  <a:close/>
                </a:path>
                <a:path w="2015490" h="20319">
                  <a:moveTo>
                    <a:pt x="1573629" y="0"/>
                  </a:moveTo>
                  <a:lnTo>
                    <a:pt x="1528548" y="0"/>
                  </a:lnTo>
                  <a:lnTo>
                    <a:pt x="1523792" y="5168"/>
                  </a:lnTo>
                  <a:lnTo>
                    <a:pt x="1578178" y="5168"/>
                  </a:lnTo>
                  <a:lnTo>
                    <a:pt x="1573629" y="0"/>
                  </a:lnTo>
                  <a:close/>
                </a:path>
                <a:path w="2015490" h="20319">
                  <a:moveTo>
                    <a:pt x="1682609" y="0"/>
                  </a:moveTo>
                  <a:lnTo>
                    <a:pt x="1638148" y="0"/>
                  </a:lnTo>
                  <a:lnTo>
                    <a:pt x="1632978" y="5168"/>
                  </a:lnTo>
                  <a:lnTo>
                    <a:pt x="1627809" y="5168"/>
                  </a:lnTo>
                  <a:lnTo>
                    <a:pt x="1627809" y="15298"/>
                  </a:lnTo>
                  <a:lnTo>
                    <a:pt x="1632978" y="15298"/>
                  </a:lnTo>
                  <a:lnTo>
                    <a:pt x="1638148" y="19846"/>
                  </a:lnTo>
                  <a:lnTo>
                    <a:pt x="1682609" y="19846"/>
                  </a:lnTo>
                  <a:lnTo>
                    <a:pt x="1687778" y="15298"/>
                  </a:lnTo>
                  <a:lnTo>
                    <a:pt x="1692328" y="10130"/>
                  </a:lnTo>
                  <a:lnTo>
                    <a:pt x="1687778" y="5168"/>
                  </a:lnTo>
                  <a:lnTo>
                    <a:pt x="1682609" y="0"/>
                  </a:lnTo>
                  <a:close/>
                </a:path>
                <a:path w="2015490" h="20319">
                  <a:moveTo>
                    <a:pt x="1791795" y="0"/>
                  </a:moveTo>
                  <a:lnTo>
                    <a:pt x="1747128" y="0"/>
                  </a:lnTo>
                  <a:lnTo>
                    <a:pt x="1742165" y="5168"/>
                  </a:lnTo>
                  <a:lnTo>
                    <a:pt x="1736995" y="5168"/>
                  </a:lnTo>
                  <a:lnTo>
                    <a:pt x="1736995" y="15298"/>
                  </a:lnTo>
                  <a:lnTo>
                    <a:pt x="1742165" y="15298"/>
                  </a:lnTo>
                  <a:lnTo>
                    <a:pt x="1747128" y="19846"/>
                  </a:lnTo>
                  <a:lnTo>
                    <a:pt x="1791795" y="19846"/>
                  </a:lnTo>
                  <a:lnTo>
                    <a:pt x="1796965" y="15298"/>
                  </a:lnTo>
                  <a:lnTo>
                    <a:pt x="1796965" y="5168"/>
                  </a:lnTo>
                  <a:lnTo>
                    <a:pt x="1791795" y="0"/>
                  </a:lnTo>
                  <a:close/>
                </a:path>
                <a:path w="2015490" h="20319">
                  <a:moveTo>
                    <a:pt x="1900982" y="15298"/>
                  </a:moveTo>
                  <a:lnTo>
                    <a:pt x="1851145" y="15298"/>
                  </a:lnTo>
                  <a:lnTo>
                    <a:pt x="1851145" y="19846"/>
                  </a:lnTo>
                  <a:lnTo>
                    <a:pt x="1900982" y="19846"/>
                  </a:lnTo>
                  <a:lnTo>
                    <a:pt x="1900982" y="15298"/>
                  </a:lnTo>
                  <a:close/>
                </a:path>
                <a:path w="2015490" h="20319">
                  <a:moveTo>
                    <a:pt x="1905945" y="5168"/>
                  </a:moveTo>
                  <a:lnTo>
                    <a:pt x="1846595" y="5168"/>
                  </a:lnTo>
                  <a:lnTo>
                    <a:pt x="1846595" y="15298"/>
                  </a:lnTo>
                  <a:lnTo>
                    <a:pt x="1905945" y="15298"/>
                  </a:lnTo>
                  <a:lnTo>
                    <a:pt x="1905945" y="5168"/>
                  </a:lnTo>
                  <a:close/>
                </a:path>
                <a:path w="2015490" h="20319">
                  <a:moveTo>
                    <a:pt x="1900982" y="0"/>
                  </a:moveTo>
                  <a:lnTo>
                    <a:pt x="1851145" y="0"/>
                  </a:lnTo>
                  <a:lnTo>
                    <a:pt x="1851145" y="5168"/>
                  </a:lnTo>
                  <a:lnTo>
                    <a:pt x="1900982" y="5168"/>
                  </a:lnTo>
                  <a:lnTo>
                    <a:pt x="1900982" y="0"/>
                  </a:lnTo>
                  <a:close/>
                </a:path>
                <a:path w="2015490" h="20319">
                  <a:moveTo>
                    <a:pt x="2009961" y="15298"/>
                  </a:moveTo>
                  <a:lnTo>
                    <a:pt x="1960745" y="15298"/>
                  </a:lnTo>
                  <a:lnTo>
                    <a:pt x="1960745" y="19846"/>
                  </a:lnTo>
                  <a:lnTo>
                    <a:pt x="2009961" y="19846"/>
                  </a:lnTo>
                  <a:lnTo>
                    <a:pt x="2009961" y="15298"/>
                  </a:lnTo>
                  <a:close/>
                </a:path>
                <a:path w="2015490" h="20319">
                  <a:moveTo>
                    <a:pt x="2015131" y="5168"/>
                  </a:moveTo>
                  <a:lnTo>
                    <a:pt x="1955782" y="5168"/>
                  </a:lnTo>
                  <a:lnTo>
                    <a:pt x="1955782" y="15298"/>
                  </a:lnTo>
                  <a:lnTo>
                    <a:pt x="2015131" y="15298"/>
                  </a:lnTo>
                  <a:lnTo>
                    <a:pt x="2015131" y="5168"/>
                  </a:lnTo>
                  <a:close/>
                </a:path>
                <a:path w="2015490" h="20319">
                  <a:moveTo>
                    <a:pt x="2009961" y="0"/>
                  </a:moveTo>
                  <a:lnTo>
                    <a:pt x="1960745" y="0"/>
                  </a:lnTo>
                  <a:lnTo>
                    <a:pt x="1960745" y="5168"/>
                  </a:lnTo>
                  <a:lnTo>
                    <a:pt x="2009961" y="5168"/>
                  </a:lnTo>
                  <a:lnTo>
                    <a:pt x="20099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64997" y="2545987"/>
              <a:ext cx="2015489" cy="20320"/>
            </a:xfrm>
            <a:custGeom>
              <a:avLst/>
              <a:gdLst/>
              <a:ahLst/>
              <a:cxnLst/>
              <a:rect l="l" t="t" r="r" b="b"/>
              <a:pathLst>
                <a:path w="2015490" h="20319">
                  <a:moveTo>
                    <a:pt x="9719" y="0"/>
                  </a:moveTo>
                  <a:lnTo>
                    <a:pt x="54283" y="0"/>
                  </a:lnTo>
                  <a:lnTo>
                    <a:pt x="59411" y="5168"/>
                  </a:lnTo>
                  <a:lnTo>
                    <a:pt x="59411" y="10130"/>
                  </a:lnTo>
                  <a:lnTo>
                    <a:pt x="59411" y="15298"/>
                  </a:lnTo>
                  <a:lnTo>
                    <a:pt x="54283" y="19846"/>
                  </a:lnTo>
                  <a:lnTo>
                    <a:pt x="9719" y="19846"/>
                  </a:lnTo>
                  <a:lnTo>
                    <a:pt x="4611" y="15298"/>
                  </a:lnTo>
                  <a:lnTo>
                    <a:pt x="0" y="15298"/>
                  </a:lnTo>
                  <a:lnTo>
                    <a:pt x="0" y="10130"/>
                  </a:lnTo>
                  <a:lnTo>
                    <a:pt x="0" y="5168"/>
                  </a:lnTo>
                  <a:lnTo>
                    <a:pt x="4611" y="5168"/>
                  </a:lnTo>
                  <a:lnTo>
                    <a:pt x="9719" y="0"/>
                  </a:lnTo>
                  <a:close/>
                </a:path>
                <a:path w="2015490" h="20319">
                  <a:moveTo>
                    <a:pt x="114232" y="0"/>
                  </a:moveTo>
                  <a:lnTo>
                    <a:pt x="163903" y="0"/>
                  </a:lnTo>
                  <a:lnTo>
                    <a:pt x="163903" y="5168"/>
                  </a:lnTo>
                  <a:lnTo>
                    <a:pt x="168515" y="5168"/>
                  </a:lnTo>
                  <a:lnTo>
                    <a:pt x="168515" y="10130"/>
                  </a:lnTo>
                  <a:lnTo>
                    <a:pt x="168515" y="15298"/>
                  </a:lnTo>
                  <a:lnTo>
                    <a:pt x="163903" y="15298"/>
                  </a:lnTo>
                  <a:lnTo>
                    <a:pt x="163903" y="19846"/>
                  </a:lnTo>
                  <a:lnTo>
                    <a:pt x="114232" y="19846"/>
                  </a:lnTo>
                  <a:lnTo>
                    <a:pt x="114232" y="15298"/>
                  </a:lnTo>
                  <a:lnTo>
                    <a:pt x="109103" y="15298"/>
                  </a:lnTo>
                  <a:lnTo>
                    <a:pt x="109103" y="10130"/>
                  </a:lnTo>
                  <a:lnTo>
                    <a:pt x="109103" y="5168"/>
                  </a:lnTo>
                  <a:lnTo>
                    <a:pt x="114232" y="5168"/>
                  </a:lnTo>
                  <a:lnTo>
                    <a:pt x="114232" y="0"/>
                  </a:lnTo>
                  <a:close/>
                </a:path>
                <a:path w="2015490" h="20319">
                  <a:moveTo>
                    <a:pt x="223335" y="0"/>
                  </a:moveTo>
                  <a:lnTo>
                    <a:pt x="273007" y="0"/>
                  </a:lnTo>
                  <a:lnTo>
                    <a:pt x="273007" y="5168"/>
                  </a:lnTo>
                  <a:lnTo>
                    <a:pt x="277619" y="5168"/>
                  </a:lnTo>
                  <a:lnTo>
                    <a:pt x="277619" y="10130"/>
                  </a:lnTo>
                  <a:lnTo>
                    <a:pt x="277619" y="15298"/>
                  </a:lnTo>
                  <a:lnTo>
                    <a:pt x="273007" y="15298"/>
                  </a:lnTo>
                  <a:lnTo>
                    <a:pt x="273007" y="19846"/>
                  </a:lnTo>
                  <a:lnTo>
                    <a:pt x="223335" y="19846"/>
                  </a:lnTo>
                  <a:lnTo>
                    <a:pt x="223335" y="15298"/>
                  </a:lnTo>
                  <a:lnTo>
                    <a:pt x="218207" y="15298"/>
                  </a:lnTo>
                  <a:lnTo>
                    <a:pt x="218207" y="10130"/>
                  </a:lnTo>
                  <a:lnTo>
                    <a:pt x="218207" y="5168"/>
                  </a:lnTo>
                  <a:lnTo>
                    <a:pt x="223335" y="5168"/>
                  </a:lnTo>
                  <a:lnTo>
                    <a:pt x="223335" y="0"/>
                  </a:lnTo>
                  <a:close/>
                </a:path>
                <a:path w="2015490" h="20319">
                  <a:moveTo>
                    <a:pt x="332439" y="0"/>
                  </a:moveTo>
                  <a:lnTo>
                    <a:pt x="382111" y="0"/>
                  </a:lnTo>
                  <a:lnTo>
                    <a:pt x="382111" y="5168"/>
                  </a:lnTo>
                  <a:lnTo>
                    <a:pt x="387239" y="5168"/>
                  </a:lnTo>
                  <a:lnTo>
                    <a:pt x="387239" y="10130"/>
                  </a:lnTo>
                  <a:lnTo>
                    <a:pt x="387239" y="15298"/>
                  </a:lnTo>
                  <a:lnTo>
                    <a:pt x="382111" y="15298"/>
                  </a:lnTo>
                  <a:lnTo>
                    <a:pt x="382111" y="19846"/>
                  </a:lnTo>
                  <a:lnTo>
                    <a:pt x="332439" y="19846"/>
                  </a:lnTo>
                  <a:lnTo>
                    <a:pt x="332439" y="15298"/>
                  </a:lnTo>
                  <a:lnTo>
                    <a:pt x="327311" y="15298"/>
                  </a:lnTo>
                  <a:lnTo>
                    <a:pt x="327311" y="10130"/>
                  </a:lnTo>
                  <a:lnTo>
                    <a:pt x="327311" y="5168"/>
                  </a:lnTo>
                  <a:lnTo>
                    <a:pt x="332439" y="5168"/>
                  </a:lnTo>
                  <a:lnTo>
                    <a:pt x="332439" y="0"/>
                  </a:lnTo>
                  <a:close/>
                </a:path>
                <a:path w="2015490" h="20319">
                  <a:moveTo>
                    <a:pt x="441543" y="0"/>
                  </a:moveTo>
                  <a:lnTo>
                    <a:pt x="486107" y="0"/>
                  </a:lnTo>
                  <a:lnTo>
                    <a:pt x="491235" y="5168"/>
                  </a:lnTo>
                  <a:lnTo>
                    <a:pt x="496343" y="5168"/>
                  </a:lnTo>
                  <a:lnTo>
                    <a:pt x="496343" y="10130"/>
                  </a:lnTo>
                  <a:lnTo>
                    <a:pt x="496343" y="15298"/>
                  </a:lnTo>
                  <a:lnTo>
                    <a:pt x="491235" y="15298"/>
                  </a:lnTo>
                  <a:lnTo>
                    <a:pt x="486107" y="19846"/>
                  </a:lnTo>
                  <a:lnTo>
                    <a:pt x="441543" y="19846"/>
                  </a:lnTo>
                  <a:lnTo>
                    <a:pt x="436932" y="15298"/>
                  </a:lnTo>
                  <a:lnTo>
                    <a:pt x="431803" y="10130"/>
                  </a:lnTo>
                  <a:lnTo>
                    <a:pt x="436932" y="5168"/>
                  </a:lnTo>
                  <a:lnTo>
                    <a:pt x="441543" y="0"/>
                  </a:lnTo>
                  <a:close/>
                </a:path>
                <a:path w="2015490" h="20319">
                  <a:moveTo>
                    <a:pt x="550647" y="0"/>
                  </a:moveTo>
                  <a:lnTo>
                    <a:pt x="595728" y="0"/>
                  </a:lnTo>
                  <a:lnTo>
                    <a:pt x="600339" y="5168"/>
                  </a:lnTo>
                  <a:lnTo>
                    <a:pt x="605447" y="5168"/>
                  </a:lnTo>
                  <a:lnTo>
                    <a:pt x="605447" y="10130"/>
                  </a:lnTo>
                  <a:lnTo>
                    <a:pt x="605447" y="15298"/>
                  </a:lnTo>
                  <a:lnTo>
                    <a:pt x="600339" y="15298"/>
                  </a:lnTo>
                  <a:lnTo>
                    <a:pt x="595728" y="19846"/>
                  </a:lnTo>
                  <a:lnTo>
                    <a:pt x="550647" y="19846"/>
                  </a:lnTo>
                  <a:lnTo>
                    <a:pt x="546035" y="15298"/>
                  </a:lnTo>
                  <a:lnTo>
                    <a:pt x="540907" y="15298"/>
                  </a:lnTo>
                  <a:lnTo>
                    <a:pt x="540907" y="10130"/>
                  </a:lnTo>
                  <a:lnTo>
                    <a:pt x="540907" y="5168"/>
                  </a:lnTo>
                  <a:lnTo>
                    <a:pt x="546035" y="5168"/>
                  </a:lnTo>
                  <a:lnTo>
                    <a:pt x="550647" y="0"/>
                  </a:lnTo>
                  <a:close/>
                </a:path>
                <a:path w="2015490" h="20319">
                  <a:moveTo>
                    <a:pt x="660268" y="0"/>
                  </a:moveTo>
                  <a:lnTo>
                    <a:pt x="704831" y="0"/>
                  </a:lnTo>
                  <a:lnTo>
                    <a:pt x="709939" y="5168"/>
                  </a:lnTo>
                  <a:lnTo>
                    <a:pt x="714551" y="5168"/>
                  </a:lnTo>
                  <a:lnTo>
                    <a:pt x="714551" y="10130"/>
                  </a:lnTo>
                  <a:lnTo>
                    <a:pt x="714551" y="15298"/>
                  </a:lnTo>
                  <a:lnTo>
                    <a:pt x="709939" y="15298"/>
                  </a:lnTo>
                  <a:lnTo>
                    <a:pt x="704831" y="19846"/>
                  </a:lnTo>
                  <a:lnTo>
                    <a:pt x="660268" y="19846"/>
                  </a:lnTo>
                  <a:lnTo>
                    <a:pt x="655139" y="15298"/>
                  </a:lnTo>
                  <a:lnTo>
                    <a:pt x="650011" y="15298"/>
                  </a:lnTo>
                  <a:lnTo>
                    <a:pt x="650011" y="10130"/>
                  </a:lnTo>
                  <a:lnTo>
                    <a:pt x="650011" y="5168"/>
                  </a:lnTo>
                  <a:lnTo>
                    <a:pt x="655139" y="5168"/>
                  </a:lnTo>
                  <a:lnTo>
                    <a:pt x="660268" y="0"/>
                  </a:lnTo>
                  <a:close/>
                </a:path>
                <a:path w="2015490" h="20319">
                  <a:moveTo>
                    <a:pt x="769371" y="0"/>
                  </a:moveTo>
                  <a:lnTo>
                    <a:pt x="813935" y="0"/>
                  </a:lnTo>
                  <a:lnTo>
                    <a:pt x="819064" y="5168"/>
                  </a:lnTo>
                  <a:lnTo>
                    <a:pt x="823675" y="10130"/>
                  </a:lnTo>
                  <a:lnTo>
                    <a:pt x="819064" y="15298"/>
                  </a:lnTo>
                  <a:lnTo>
                    <a:pt x="813935" y="19846"/>
                  </a:lnTo>
                  <a:lnTo>
                    <a:pt x="769371" y="19846"/>
                  </a:lnTo>
                  <a:lnTo>
                    <a:pt x="764243" y="15298"/>
                  </a:lnTo>
                  <a:lnTo>
                    <a:pt x="759114" y="15298"/>
                  </a:lnTo>
                  <a:lnTo>
                    <a:pt x="759114" y="10130"/>
                  </a:lnTo>
                  <a:lnTo>
                    <a:pt x="759114" y="5168"/>
                  </a:lnTo>
                  <a:lnTo>
                    <a:pt x="764243" y="5168"/>
                  </a:lnTo>
                  <a:lnTo>
                    <a:pt x="769371" y="0"/>
                  </a:lnTo>
                  <a:close/>
                </a:path>
                <a:path w="2015490" h="20319">
                  <a:moveTo>
                    <a:pt x="878392" y="0"/>
                  </a:moveTo>
                  <a:lnTo>
                    <a:pt x="923060" y="0"/>
                  </a:lnTo>
                  <a:lnTo>
                    <a:pt x="928229" y="5168"/>
                  </a:lnTo>
                  <a:lnTo>
                    <a:pt x="928229" y="10130"/>
                  </a:lnTo>
                  <a:lnTo>
                    <a:pt x="928229" y="15298"/>
                  </a:lnTo>
                  <a:lnTo>
                    <a:pt x="923060" y="19846"/>
                  </a:lnTo>
                  <a:lnTo>
                    <a:pt x="878392" y="19846"/>
                  </a:lnTo>
                  <a:lnTo>
                    <a:pt x="873429" y="15298"/>
                  </a:lnTo>
                  <a:lnTo>
                    <a:pt x="868673" y="15298"/>
                  </a:lnTo>
                  <a:lnTo>
                    <a:pt x="868673" y="10130"/>
                  </a:lnTo>
                  <a:lnTo>
                    <a:pt x="868673" y="5168"/>
                  </a:lnTo>
                  <a:lnTo>
                    <a:pt x="873429" y="5168"/>
                  </a:lnTo>
                  <a:lnTo>
                    <a:pt x="878392" y="0"/>
                  </a:lnTo>
                  <a:close/>
                </a:path>
                <a:path w="2015490" h="20319">
                  <a:moveTo>
                    <a:pt x="983029" y="0"/>
                  </a:moveTo>
                  <a:lnTo>
                    <a:pt x="1032246" y="0"/>
                  </a:lnTo>
                  <a:lnTo>
                    <a:pt x="1032246" y="5168"/>
                  </a:lnTo>
                  <a:lnTo>
                    <a:pt x="1037209" y="5168"/>
                  </a:lnTo>
                  <a:lnTo>
                    <a:pt x="1037209" y="10130"/>
                  </a:lnTo>
                  <a:lnTo>
                    <a:pt x="1037209" y="15298"/>
                  </a:lnTo>
                  <a:lnTo>
                    <a:pt x="1032246" y="15298"/>
                  </a:lnTo>
                  <a:lnTo>
                    <a:pt x="1032246" y="19846"/>
                  </a:lnTo>
                  <a:lnTo>
                    <a:pt x="983029" y="19846"/>
                  </a:lnTo>
                  <a:lnTo>
                    <a:pt x="983029" y="15298"/>
                  </a:lnTo>
                  <a:lnTo>
                    <a:pt x="977860" y="15298"/>
                  </a:lnTo>
                  <a:lnTo>
                    <a:pt x="977860" y="10130"/>
                  </a:lnTo>
                  <a:lnTo>
                    <a:pt x="977860" y="5168"/>
                  </a:lnTo>
                  <a:lnTo>
                    <a:pt x="983029" y="5168"/>
                  </a:lnTo>
                  <a:lnTo>
                    <a:pt x="983029" y="0"/>
                  </a:lnTo>
                  <a:close/>
                </a:path>
                <a:path w="2015490" h="20319">
                  <a:moveTo>
                    <a:pt x="1092009" y="0"/>
                  </a:moveTo>
                  <a:lnTo>
                    <a:pt x="1141846" y="0"/>
                  </a:lnTo>
                  <a:lnTo>
                    <a:pt x="1141846" y="5168"/>
                  </a:lnTo>
                  <a:lnTo>
                    <a:pt x="1146396" y="5168"/>
                  </a:lnTo>
                  <a:lnTo>
                    <a:pt x="1146396" y="10130"/>
                  </a:lnTo>
                  <a:lnTo>
                    <a:pt x="1146396" y="15298"/>
                  </a:lnTo>
                  <a:lnTo>
                    <a:pt x="1141846" y="15298"/>
                  </a:lnTo>
                  <a:lnTo>
                    <a:pt x="1141846" y="19846"/>
                  </a:lnTo>
                  <a:lnTo>
                    <a:pt x="1092009" y="19846"/>
                  </a:lnTo>
                  <a:lnTo>
                    <a:pt x="1092009" y="15298"/>
                  </a:lnTo>
                  <a:lnTo>
                    <a:pt x="1087046" y="15298"/>
                  </a:lnTo>
                  <a:lnTo>
                    <a:pt x="1087046" y="10130"/>
                  </a:lnTo>
                  <a:lnTo>
                    <a:pt x="1087046" y="5168"/>
                  </a:lnTo>
                  <a:lnTo>
                    <a:pt x="1092009" y="5168"/>
                  </a:lnTo>
                  <a:lnTo>
                    <a:pt x="1092009" y="0"/>
                  </a:lnTo>
                  <a:close/>
                </a:path>
                <a:path w="2015490" h="20319">
                  <a:moveTo>
                    <a:pt x="1201196" y="0"/>
                  </a:moveTo>
                  <a:lnTo>
                    <a:pt x="1250826" y="0"/>
                  </a:lnTo>
                  <a:lnTo>
                    <a:pt x="1250826" y="5168"/>
                  </a:lnTo>
                  <a:lnTo>
                    <a:pt x="1255375" y="5168"/>
                  </a:lnTo>
                  <a:lnTo>
                    <a:pt x="1255375" y="10130"/>
                  </a:lnTo>
                  <a:lnTo>
                    <a:pt x="1255375" y="15298"/>
                  </a:lnTo>
                  <a:lnTo>
                    <a:pt x="1250826" y="15298"/>
                  </a:lnTo>
                  <a:lnTo>
                    <a:pt x="1250826" y="19846"/>
                  </a:lnTo>
                  <a:lnTo>
                    <a:pt x="1201196" y="19846"/>
                  </a:lnTo>
                  <a:lnTo>
                    <a:pt x="1201196" y="15298"/>
                  </a:lnTo>
                  <a:lnTo>
                    <a:pt x="1196026" y="15298"/>
                  </a:lnTo>
                  <a:lnTo>
                    <a:pt x="1196026" y="10130"/>
                  </a:lnTo>
                  <a:lnTo>
                    <a:pt x="1196026" y="5168"/>
                  </a:lnTo>
                  <a:lnTo>
                    <a:pt x="1201196" y="5168"/>
                  </a:lnTo>
                  <a:lnTo>
                    <a:pt x="1201196" y="0"/>
                  </a:lnTo>
                  <a:close/>
                </a:path>
                <a:path w="2015490" h="20319">
                  <a:moveTo>
                    <a:pt x="1310382" y="0"/>
                  </a:moveTo>
                  <a:lnTo>
                    <a:pt x="1354842" y="0"/>
                  </a:lnTo>
                  <a:lnTo>
                    <a:pt x="1360012" y="5168"/>
                  </a:lnTo>
                  <a:lnTo>
                    <a:pt x="1365182" y="5168"/>
                  </a:lnTo>
                  <a:lnTo>
                    <a:pt x="1365182" y="10130"/>
                  </a:lnTo>
                  <a:lnTo>
                    <a:pt x="1365182" y="15298"/>
                  </a:lnTo>
                  <a:lnTo>
                    <a:pt x="1360012" y="15298"/>
                  </a:lnTo>
                  <a:lnTo>
                    <a:pt x="1354842" y="19846"/>
                  </a:lnTo>
                  <a:lnTo>
                    <a:pt x="1310382" y="19846"/>
                  </a:lnTo>
                  <a:lnTo>
                    <a:pt x="1305212" y="15298"/>
                  </a:lnTo>
                  <a:lnTo>
                    <a:pt x="1300456" y="10130"/>
                  </a:lnTo>
                  <a:lnTo>
                    <a:pt x="1305212" y="5168"/>
                  </a:lnTo>
                  <a:lnTo>
                    <a:pt x="1310382" y="0"/>
                  </a:lnTo>
                  <a:close/>
                </a:path>
                <a:path w="2015490" h="20319">
                  <a:moveTo>
                    <a:pt x="1419362" y="0"/>
                  </a:moveTo>
                  <a:lnTo>
                    <a:pt x="1464029" y="0"/>
                  </a:lnTo>
                  <a:lnTo>
                    <a:pt x="1468992" y="5168"/>
                  </a:lnTo>
                  <a:lnTo>
                    <a:pt x="1474162" y="5168"/>
                  </a:lnTo>
                  <a:lnTo>
                    <a:pt x="1474162" y="10130"/>
                  </a:lnTo>
                  <a:lnTo>
                    <a:pt x="1474162" y="15298"/>
                  </a:lnTo>
                  <a:lnTo>
                    <a:pt x="1468992" y="15298"/>
                  </a:lnTo>
                  <a:lnTo>
                    <a:pt x="1464029" y="19846"/>
                  </a:lnTo>
                  <a:lnTo>
                    <a:pt x="1419362" y="19846"/>
                  </a:lnTo>
                  <a:lnTo>
                    <a:pt x="1414812" y="15298"/>
                  </a:lnTo>
                  <a:lnTo>
                    <a:pt x="1409642" y="15298"/>
                  </a:lnTo>
                  <a:lnTo>
                    <a:pt x="1409642" y="10130"/>
                  </a:lnTo>
                  <a:lnTo>
                    <a:pt x="1409642" y="5168"/>
                  </a:lnTo>
                  <a:lnTo>
                    <a:pt x="1414812" y="5168"/>
                  </a:lnTo>
                  <a:lnTo>
                    <a:pt x="1419362" y="0"/>
                  </a:lnTo>
                  <a:close/>
                </a:path>
                <a:path w="2015490" h="20319">
                  <a:moveTo>
                    <a:pt x="1528548" y="0"/>
                  </a:moveTo>
                  <a:lnTo>
                    <a:pt x="1573629" y="0"/>
                  </a:lnTo>
                  <a:lnTo>
                    <a:pt x="1578178" y="5168"/>
                  </a:lnTo>
                  <a:lnTo>
                    <a:pt x="1583348" y="5168"/>
                  </a:lnTo>
                  <a:lnTo>
                    <a:pt x="1583348" y="10130"/>
                  </a:lnTo>
                  <a:lnTo>
                    <a:pt x="1583348" y="15298"/>
                  </a:lnTo>
                  <a:lnTo>
                    <a:pt x="1578178" y="15298"/>
                  </a:lnTo>
                  <a:lnTo>
                    <a:pt x="1573629" y="19846"/>
                  </a:lnTo>
                  <a:lnTo>
                    <a:pt x="1528548" y="19846"/>
                  </a:lnTo>
                  <a:lnTo>
                    <a:pt x="1523792" y="15298"/>
                  </a:lnTo>
                  <a:lnTo>
                    <a:pt x="1518829" y="15298"/>
                  </a:lnTo>
                  <a:lnTo>
                    <a:pt x="1518829" y="10130"/>
                  </a:lnTo>
                  <a:lnTo>
                    <a:pt x="1518829" y="5168"/>
                  </a:lnTo>
                  <a:lnTo>
                    <a:pt x="1523792" y="5168"/>
                  </a:lnTo>
                  <a:lnTo>
                    <a:pt x="1528548" y="0"/>
                  </a:lnTo>
                  <a:close/>
                </a:path>
                <a:path w="2015490" h="20319">
                  <a:moveTo>
                    <a:pt x="1638148" y="0"/>
                  </a:moveTo>
                  <a:lnTo>
                    <a:pt x="1682609" y="0"/>
                  </a:lnTo>
                  <a:lnTo>
                    <a:pt x="1687778" y="5168"/>
                  </a:lnTo>
                  <a:lnTo>
                    <a:pt x="1692328" y="10130"/>
                  </a:lnTo>
                  <a:lnTo>
                    <a:pt x="1687779" y="15298"/>
                  </a:lnTo>
                  <a:lnTo>
                    <a:pt x="1682609" y="19846"/>
                  </a:lnTo>
                  <a:lnTo>
                    <a:pt x="1638148" y="19846"/>
                  </a:lnTo>
                  <a:lnTo>
                    <a:pt x="1632978" y="15298"/>
                  </a:lnTo>
                  <a:lnTo>
                    <a:pt x="1627809" y="15298"/>
                  </a:lnTo>
                  <a:lnTo>
                    <a:pt x="1627809" y="10130"/>
                  </a:lnTo>
                  <a:lnTo>
                    <a:pt x="1627809" y="5168"/>
                  </a:lnTo>
                  <a:lnTo>
                    <a:pt x="1632978" y="5168"/>
                  </a:lnTo>
                  <a:lnTo>
                    <a:pt x="1638148" y="0"/>
                  </a:lnTo>
                  <a:close/>
                </a:path>
                <a:path w="2015490" h="20319">
                  <a:moveTo>
                    <a:pt x="1747128" y="0"/>
                  </a:moveTo>
                  <a:lnTo>
                    <a:pt x="1791795" y="0"/>
                  </a:lnTo>
                  <a:lnTo>
                    <a:pt x="1796965" y="5168"/>
                  </a:lnTo>
                  <a:lnTo>
                    <a:pt x="1796965" y="10130"/>
                  </a:lnTo>
                  <a:lnTo>
                    <a:pt x="1796965" y="15298"/>
                  </a:lnTo>
                  <a:lnTo>
                    <a:pt x="1791795" y="19846"/>
                  </a:lnTo>
                  <a:lnTo>
                    <a:pt x="1747128" y="19846"/>
                  </a:lnTo>
                  <a:lnTo>
                    <a:pt x="1742165" y="15298"/>
                  </a:lnTo>
                  <a:lnTo>
                    <a:pt x="1736995" y="15298"/>
                  </a:lnTo>
                  <a:lnTo>
                    <a:pt x="1736995" y="10130"/>
                  </a:lnTo>
                  <a:lnTo>
                    <a:pt x="1736995" y="5168"/>
                  </a:lnTo>
                  <a:lnTo>
                    <a:pt x="1742165" y="5168"/>
                  </a:lnTo>
                  <a:lnTo>
                    <a:pt x="1747128" y="0"/>
                  </a:lnTo>
                  <a:close/>
                </a:path>
                <a:path w="2015490" h="20319">
                  <a:moveTo>
                    <a:pt x="1851145" y="0"/>
                  </a:moveTo>
                  <a:lnTo>
                    <a:pt x="1900982" y="0"/>
                  </a:lnTo>
                  <a:lnTo>
                    <a:pt x="1900982" y="5168"/>
                  </a:lnTo>
                  <a:lnTo>
                    <a:pt x="1905945" y="5168"/>
                  </a:lnTo>
                  <a:lnTo>
                    <a:pt x="1905945" y="10130"/>
                  </a:lnTo>
                  <a:lnTo>
                    <a:pt x="1905945" y="15298"/>
                  </a:lnTo>
                  <a:lnTo>
                    <a:pt x="1900982" y="15298"/>
                  </a:lnTo>
                  <a:lnTo>
                    <a:pt x="1900982" y="19846"/>
                  </a:lnTo>
                  <a:lnTo>
                    <a:pt x="1851145" y="19846"/>
                  </a:lnTo>
                  <a:lnTo>
                    <a:pt x="1851145" y="15298"/>
                  </a:lnTo>
                  <a:lnTo>
                    <a:pt x="1846595" y="15298"/>
                  </a:lnTo>
                  <a:lnTo>
                    <a:pt x="1846595" y="10130"/>
                  </a:lnTo>
                  <a:lnTo>
                    <a:pt x="1846595" y="5168"/>
                  </a:lnTo>
                  <a:lnTo>
                    <a:pt x="1851145" y="5168"/>
                  </a:lnTo>
                  <a:lnTo>
                    <a:pt x="1851145" y="0"/>
                  </a:lnTo>
                  <a:close/>
                </a:path>
                <a:path w="2015490" h="20319">
                  <a:moveTo>
                    <a:pt x="1960745" y="0"/>
                  </a:moveTo>
                  <a:lnTo>
                    <a:pt x="2009961" y="0"/>
                  </a:lnTo>
                  <a:lnTo>
                    <a:pt x="2009961" y="5168"/>
                  </a:lnTo>
                  <a:lnTo>
                    <a:pt x="2015131" y="5168"/>
                  </a:lnTo>
                  <a:lnTo>
                    <a:pt x="2015131" y="10130"/>
                  </a:lnTo>
                  <a:lnTo>
                    <a:pt x="2015131" y="15298"/>
                  </a:lnTo>
                  <a:lnTo>
                    <a:pt x="2009961" y="15298"/>
                  </a:lnTo>
                  <a:lnTo>
                    <a:pt x="2009961" y="19846"/>
                  </a:lnTo>
                  <a:lnTo>
                    <a:pt x="1960745" y="19846"/>
                  </a:lnTo>
                  <a:lnTo>
                    <a:pt x="1960745" y="15298"/>
                  </a:lnTo>
                  <a:lnTo>
                    <a:pt x="1955782" y="15298"/>
                  </a:lnTo>
                  <a:lnTo>
                    <a:pt x="1955782" y="10130"/>
                  </a:lnTo>
                  <a:lnTo>
                    <a:pt x="1955782" y="5168"/>
                  </a:lnTo>
                  <a:lnTo>
                    <a:pt x="1960745" y="5168"/>
                  </a:lnTo>
                  <a:lnTo>
                    <a:pt x="1960745" y="0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764997" y="3192656"/>
              <a:ext cx="3187065" cy="15240"/>
            </a:xfrm>
            <a:custGeom>
              <a:avLst/>
              <a:gdLst/>
              <a:ahLst/>
              <a:cxnLst/>
              <a:rect l="l" t="t" r="r" b="b"/>
              <a:pathLst>
                <a:path w="3187065" h="15239">
                  <a:moveTo>
                    <a:pt x="59411" y="0"/>
                  </a:moveTo>
                  <a:lnTo>
                    <a:pt x="0" y="0"/>
                  </a:lnTo>
                  <a:lnTo>
                    <a:pt x="0" y="9716"/>
                  </a:lnTo>
                  <a:lnTo>
                    <a:pt x="9719" y="14884"/>
                  </a:lnTo>
                  <a:lnTo>
                    <a:pt x="54283" y="14884"/>
                  </a:lnTo>
                  <a:lnTo>
                    <a:pt x="59411" y="9716"/>
                  </a:lnTo>
                  <a:lnTo>
                    <a:pt x="59411" y="0"/>
                  </a:lnTo>
                  <a:close/>
                </a:path>
                <a:path w="3187065" h="15239">
                  <a:moveTo>
                    <a:pt x="168515" y="0"/>
                  </a:moveTo>
                  <a:lnTo>
                    <a:pt x="109103" y="0"/>
                  </a:lnTo>
                  <a:lnTo>
                    <a:pt x="109103" y="9716"/>
                  </a:lnTo>
                  <a:lnTo>
                    <a:pt x="114232" y="14884"/>
                  </a:lnTo>
                  <a:lnTo>
                    <a:pt x="163903" y="14884"/>
                  </a:lnTo>
                  <a:lnTo>
                    <a:pt x="168515" y="9716"/>
                  </a:lnTo>
                  <a:lnTo>
                    <a:pt x="168515" y="0"/>
                  </a:lnTo>
                  <a:close/>
                </a:path>
                <a:path w="3187065" h="15239">
                  <a:moveTo>
                    <a:pt x="277619" y="0"/>
                  </a:moveTo>
                  <a:lnTo>
                    <a:pt x="218207" y="0"/>
                  </a:lnTo>
                  <a:lnTo>
                    <a:pt x="218207" y="9716"/>
                  </a:lnTo>
                  <a:lnTo>
                    <a:pt x="223335" y="14884"/>
                  </a:lnTo>
                  <a:lnTo>
                    <a:pt x="273007" y="14884"/>
                  </a:lnTo>
                  <a:lnTo>
                    <a:pt x="277619" y="9716"/>
                  </a:lnTo>
                  <a:lnTo>
                    <a:pt x="277619" y="0"/>
                  </a:lnTo>
                  <a:close/>
                </a:path>
                <a:path w="3187065" h="15239">
                  <a:moveTo>
                    <a:pt x="387239" y="0"/>
                  </a:moveTo>
                  <a:lnTo>
                    <a:pt x="327311" y="0"/>
                  </a:lnTo>
                  <a:lnTo>
                    <a:pt x="327311" y="9716"/>
                  </a:lnTo>
                  <a:lnTo>
                    <a:pt x="332439" y="14884"/>
                  </a:lnTo>
                  <a:lnTo>
                    <a:pt x="382111" y="14884"/>
                  </a:lnTo>
                  <a:lnTo>
                    <a:pt x="387239" y="9716"/>
                  </a:lnTo>
                  <a:lnTo>
                    <a:pt x="387239" y="0"/>
                  </a:lnTo>
                  <a:close/>
                </a:path>
                <a:path w="3187065" h="15239">
                  <a:moveTo>
                    <a:pt x="496343" y="0"/>
                  </a:moveTo>
                  <a:lnTo>
                    <a:pt x="436932" y="0"/>
                  </a:lnTo>
                  <a:lnTo>
                    <a:pt x="436932" y="5168"/>
                  </a:lnTo>
                  <a:lnTo>
                    <a:pt x="431803" y="5168"/>
                  </a:lnTo>
                  <a:lnTo>
                    <a:pt x="436932" y="9716"/>
                  </a:lnTo>
                  <a:lnTo>
                    <a:pt x="441543" y="14884"/>
                  </a:lnTo>
                  <a:lnTo>
                    <a:pt x="486107" y="14884"/>
                  </a:lnTo>
                  <a:lnTo>
                    <a:pt x="496343" y="9716"/>
                  </a:lnTo>
                  <a:lnTo>
                    <a:pt x="496343" y="0"/>
                  </a:lnTo>
                  <a:close/>
                </a:path>
                <a:path w="3187065" h="15239">
                  <a:moveTo>
                    <a:pt x="600339" y="9716"/>
                  </a:moveTo>
                  <a:lnTo>
                    <a:pt x="546035" y="9716"/>
                  </a:lnTo>
                  <a:lnTo>
                    <a:pt x="550647" y="14884"/>
                  </a:lnTo>
                  <a:lnTo>
                    <a:pt x="595728" y="14884"/>
                  </a:lnTo>
                  <a:lnTo>
                    <a:pt x="600339" y="9716"/>
                  </a:lnTo>
                  <a:close/>
                </a:path>
                <a:path w="3187065" h="15239">
                  <a:moveTo>
                    <a:pt x="600339" y="0"/>
                  </a:moveTo>
                  <a:lnTo>
                    <a:pt x="546035" y="0"/>
                  </a:lnTo>
                  <a:lnTo>
                    <a:pt x="540907" y="5168"/>
                  </a:lnTo>
                  <a:lnTo>
                    <a:pt x="540907" y="9716"/>
                  </a:lnTo>
                  <a:lnTo>
                    <a:pt x="605447" y="9716"/>
                  </a:lnTo>
                  <a:lnTo>
                    <a:pt x="605447" y="5168"/>
                  </a:lnTo>
                  <a:lnTo>
                    <a:pt x="600339" y="0"/>
                  </a:lnTo>
                  <a:close/>
                </a:path>
                <a:path w="3187065" h="15239">
                  <a:moveTo>
                    <a:pt x="709939" y="9716"/>
                  </a:moveTo>
                  <a:lnTo>
                    <a:pt x="655139" y="9716"/>
                  </a:lnTo>
                  <a:lnTo>
                    <a:pt x="660268" y="14884"/>
                  </a:lnTo>
                  <a:lnTo>
                    <a:pt x="704831" y="14884"/>
                  </a:lnTo>
                  <a:lnTo>
                    <a:pt x="709939" y="9716"/>
                  </a:lnTo>
                  <a:close/>
                </a:path>
                <a:path w="3187065" h="15239">
                  <a:moveTo>
                    <a:pt x="709939" y="0"/>
                  </a:moveTo>
                  <a:lnTo>
                    <a:pt x="655139" y="0"/>
                  </a:lnTo>
                  <a:lnTo>
                    <a:pt x="650011" y="5168"/>
                  </a:lnTo>
                  <a:lnTo>
                    <a:pt x="650011" y="9716"/>
                  </a:lnTo>
                  <a:lnTo>
                    <a:pt x="714551" y="9716"/>
                  </a:lnTo>
                  <a:lnTo>
                    <a:pt x="714551" y="5168"/>
                  </a:lnTo>
                  <a:lnTo>
                    <a:pt x="709939" y="0"/>
                  </a:lnTo>
                  <a:close/>
                </a:path>
                <a:path w="3187065" h="15239">
                  <a:moveTo>
                    <a:pt x="819064" y="0"/>
                  </a:moveTo>
                  <a:lnTo>
                    <a:pt x="764243" y="0"/>
                  </a:lnTo>
                  <a:lnTo>
                    <a:pt x="759114" y="5168"/>
                  </a:lnTo>
                  <a:lnTo>
                    <a:pt x="759114" y="9716"/>
                  </a:lnTo>
                  <a:lnTo>
                    <a:pt x="764243" y="9716"/>
                  </a:lnTo>
                  <a:lnTo>
                    <a:pt x="769371" y="14884"/>
                  </a:lnTo>
                  <a:lnTo>
                    <a:pt x="813935" y="14884"/>
                  </a:lnTo>
                  <a:lnTo>
                    <a:pt x="819064" y="9716"/>
                  </a:lnTo>
                  <a:lnTo>
                    <a:pt x="823675" y="5168"/>
                  </a:lnTo>
                  <a:lnTo>
                    <a:pt x="819064" y="5168"/>
                  </a:lnTo>
                  <a:lnTo>
                    <a:pt x="819064" y="0"/>
                  </a:lnTo>
                  <a:close/>
                </a:path>
                <a:path w="3187065" h="15239">
                  <a:moveTo>
                    <a:pt x="928229" y="0"/>
                  </a:moveTo>
                  <a:lnTo>
                    <a:pt x="868673" y="0"/>
                  </a:lnTo>
                  <a:lnTo>
                    <a:pt x="868673" y="9716"/>
                  </a:lnTo>
                  <a:lnTo>
                    <a:pt x="878392" y="14884"/>
                  </a:lnTo>
                  <a:lnTo>
                    <a:pt x="923060" y="14884"/>
                  </a:lnTo>
                  <a:lnTo>
                    <a:pt x="928229" y="9716"/>
                  </a:lnTo>
                  <a:lnTo>
                    <a:pt x="928229" y="0"/>
                  </a:lnTo>
                  <a:close/>
                </a:path>
                <a:path w="3187065" h="15239">
                  <a:moveTo>
                    <a:pt x="1037209" y="0"/>
                  </a:moveTo>
                  <a:lnTo>
                    <a:pt x="977860" y="0"/>
                  </a:lnTo>
                  <a:lnTo>
                    <a:pt x="977860" y="9716"/>
                  </a:lnTo>
                  <a:lnTo>
                    <a:pt x="983029" y="14884"/>
                  </a:lnTo>
                  <a:lnTo>
                    <a:pt x="1032246" y="14884"/>
                  </a:lnTo>
                  <a:lnTo>
                    <a:pt x="1037209" y="9716"/>
                  </a:lnTo>
                  <a:lnTo>
                    <a:pt x="1037209" y="0"/>
                  </a:lnTo>
                  <a:close/>
                </a:path>
                <a:path w="3187065" h="15239">
                  <a:moveTo>
                    <a:pt x="1146395" y="0"/>
                  </a:moveTo>
                  <a:lnTo>
                    <a:pt x="1087046" y="0"/>
                  </a:lnTo>
                  <a:lnTo>
                    <a:pt x="1087046" y="9716"/>
                  </a:lnTo>
                  <a:lnTo>
                    <a:pt x="1092009" y="14884"/>
                  </a:lnTo>
                  <a:lnTo>
                    <a:pt x="1141846" y="14884"/>
                  </a:lnTo>
                  <a:lnTo>
                    <a:pt x="1146395" y="9716"/>
                  </a:lnTo>
                  <a:lnTo>
                    <a:pt x="1146395" y="0"/>
                  </a:lnTo>
                  <a:close/>
                </a:path>
                <a:path w="3187065" h="15239">
                  <a:moveTo>
                    <a:pt x="1255375" y="0"/>
                  </a:moveTo>
                  <a:lnTo>
                    <a:pt x="1196026" y="0"/>
                  </a:lnTo>
                  <a:lnTo>
                    <a:pt x="1196026" y="9716"/>
                  </a:lnTo>
                  <a:lnTo>
                    <a:pt x="1201196" y="14884"/>
                  </a:lnTo>
                  <a:lnTo>
                    <a:pt x="1250826" y="14884"/>
                  </a:lnTo>
                  <a:lnTo>
                    <a:pt x="1255375" y="9716"/>
                  </a:lnTo>
                  <a:lnTo>
                    <a:pt x="1255375" y="0"/>
                  </a:lnTo>
                  <a:close/>
                </a:path>
                <a:path w="3187065" h="15239">
                  <a:moveTo>
                    <a:pt x="1365182" y="0"/>
                  </a:moveTo>
                  <a:lnTo>
                    <a:pt x="1305212" y="0"/>
                  </a:lnTo>
                  <a:lnTo>
                    <a:pt x="1305212" y="5168"/>
                  </a:lnTo>
                  <a:lnTo>
                    <a:pt x="1300456" y="5168"/>
                  </a:lnTo>
                  <a:lnTo>
                    <a:pt x="1305212" y="9716"/>
                  </a:lnTo>
                  <a:lnTo>
                    <a:pt x="1310382" y="14884"/>
                  </a:lnTo>
                  <a:lnTo>
                    <a:pt x="1354842" y="14884"/>
                  </a:lnTo>
                  <a:lnTo>
                    <a:pt x="1365182" y="9716"/>
                  </a:lnTo>
                  <a:lnTo>
                    <a:pt x="1365182" y="0"/>
                  </a:lnTo>
                  <a:close/>
                </a:path>
                <a:path w="3187065" h="15239">
                  <a:moveTo>
                    <a:pt x="1468992" y="9716"/>
                  </a:moveTo>
                  <a:lnTo>
                    <a:pt x="1414812" y="9716"/>
                  </a:lnTo>
                  <a:lnTo>
                    <a:pt x="1419362" y="14884"/>
                  </a:lnTo>
                  <a:lnTo>
                    <a:pt x="1464029" y="14884"/>
                  </a:lnTo>
                  <a:lnTo>
                    <a:pt x="1468992" y="9716"/>
                  </a:lnTo>
                  <a:close/>
                </a:path>
                <a:path w="3187065" h="15239">
                  <a:moveTo>
                    <a:pt x="1468992" y="0"/>
                  </a:moveTo>
                  <a:lnTo>
                    <a:pt x="1414812" y="0"/>
                  </a:lnTo>
                  <a:lnTo>
                    <a:pt x="1409642" y="5168"/>
                  </a:lnTo>
                  <a:lnTo>
                    <a:pt x="1409642" y="9716"/>
                  </a:lnTo>
                  <a:lnTo>
                    <a:pt x="1474162" y="9716"/>
                  </a:lnTo>
                  <a:lnTo>
                    <a:pt x="1474162" y="5168"/>
                  </a:lnTo>
                  <a:lnTo>
                    <a:pt x="1468992" y="0"/>
                  </a:lnTo>
                  <a:close/>
                </a:path>
                <a:path w="3187065" h="15239">
                  <a:moveTo>
                    <a:pt x="1578178" y="9716"/>
                  </a:moveTo>
                  <a:lnTo>
                    <a:pt x="1523792" y="9716"/>
                  </a:lnTo>
                  <a:lnTo>
                    <a:pt x="1528548" y="14884"/>
                  </a:lnTo>
                  <a:lnTo>
                    <a:pt x="1573629" y="14884"/>
                  </a:lnTo>
                  <a:lnTo>
                    <a:pt x="1578178" y="9716"/>
                  </a:lnTo>
                  <a:close/>
                </a:path>
                <a:path w="3187065" h="15239">
                  <a:moveTo>
                    <a:pt x="1578178" y="0"/>
                  </a:moveTo>
                  <a:lnTo>
                    <a:pt x="1523792" y="0"/>
                  </a:lnTo>
                  <a:lnTo>
                    <a:pt x="1518829" y="5168"/>
                  </a:lnTo>
                  <a:lnTo>
                    <a:pt x="1518829" y="9716"/>
                  </a:lnTo>
                  <a:lnTo>
                    <a:pt x="1583348" y="9716"/>
                  </a:lnTo>
                  <a:lnTo>
                    <a:pt x="1583348" y="5168"/>
                  </a:lnTo>
                  <a:lnTo>
                    <a:pt x="1578178" y="0"/>
                  </a:lnTo>
                  <a:close/>
                </a:path>
                <a:path w="3187065" h="15239">
                  <a:moveTo>
                    <a:pt x="1687778" y="0"/>
                  </a:moveTo>
                  <a:lnTo>
                    <a:pt x="1632978" y="0"/>
                  </a:lnTo>
                  <a:lnTo>
                    <a:pt x="1627809" y="5168"/>
                  </a:lnTo>
                  <a:lnTo>
                    <a:pt x="1627809" y="9716"/>
                  </a:lnTo>
                  <a:lnTo>
                    <a:pt x="1632978" y="9716"/>
                  </a:lnTo>
                  <a:lnTo>
                    <a:pt x="1638148" y="14884"/>
                  </a:lnTo>
                  <a:lnTo>
                    <a:pt x="1682609" y="14884"/>
                  </a:lnTo>
                  <a:lnTo>
                    <a:pt x="1692328" y="5168"/>
                  </a:lnTo>
                  <a:lnTo>
                    <a:pt x="1687778" y="5168"/>
                  </a:lnTo>
                  <a:lnTo>
                    <a:pt x="1687778" y="0"/>
                  </a:lnTo>
                  <a:close/>
                </a:path>
                <a:path w="3187065" h="15239">
                  <a:moveTo>
                    <a:pt x="1796965" y="0"/>
                  </a:moveTo>
                  <a:lnTo>
                    <a:pt x="1736995" y="0"/>
                  </a:lnTo>
                  <a:lnTo>
                    <a:pt x="1736995" y="9716"/>
                  </a:lnTo>
                  <a:lnTo>
                    <a:pt x="1747128" y="14884"/>
                  </a:lnTo>
                  <a:lnTo>
                    <a:pt x="1791795" y="14884"/>
                  </a:lnTo>
                  <a:lnTo>
                    <a:pt x="1796965" y="9716"/>
                  </a:lnTo>
                  <a:lnTo>
                    <a:pt x="1796965" y="0"/>
                  </a:lnTo>
                  <a:close/>
                </a:path>
                <a:path w="3187065" h="15239">
                  <a:moveTo>
                    <a:pt x="1905945" y="0"/>
                  </a:moveTo>
                  <a:lnTo>
                    <a:pt x="1846595" y="0"/>
                  </a:lnTo>
                  <a:lnTo>
                    <a:pt x="1846595" y="9716"/>
                  </a:lnTo>
                  <a:lnTo>
                    <a:pt x="1851145" y="14884"/>
                  </a:lnTo>
                  <a:lnTo>
                    <a:pt x="1900982" y="14884"/>
                  </a:lnTo>
                  <a:lnTo>
                    <a:pt x="1905945" y="9716"/>
                  </a:lnTo>
                  <a:lnTo>
                    <a:pt x="1905945" y="0"/>
                  </a:lnTo>
                  <a:close/>
                </a:path>
                <a:path w="3187065" h="15239">
                  <a:moveTo>
                    <a:pt x="2015131" y="0"/>
                  </a:moveTo>
                  <a:lnTo>
                    <a:pt x="1955782" y="0"/>
                  </a:lnTo>
                  <a:lnTo>
                    <a:pt x="1955782" y="9716"/>
                  </a:lnTo>
                  <a:lnTo>
                    <a:pt x="1960745" y="14884"/>
                  </a:lnTo>
                  <a:lnTo>
                    <a:pt x="2009961" y="14884"/>
                  </a:lnTo>
                  <a:lnTo>
                    <a:pt x="2015131" y="9716"/>
                  </a:lnTo>
                  <a:lnTo>
                    <a:pt x="2015131" y="0"/>
                  </a:lnTo>
                  <a:close/>
                </a:path>
                <a:path w="3187065" h="15239">
                  <a:moveTo>
                    <a:pt x="2124318" y="0"/>
                  </a:moveTo>
                  <a:lnTo>
                    <a:pt x="2064761" y="0"/>
                  </a:lnTo>
                  <a:lnTo>
                    <a:pt x="2064761" y="9716"/>
                  </a:lnTo>
                  <a:lnTo>
                    <a:pt x="2069931" y="14884"/>
                  </a:lnTo>
                  <a:lnTo>
                    <a:pt x="2119561" y="14884"/>
                  </a:lnTo>
                  <a:lnTo>
                    <a:pt x="2124318" y="9716"/>
                  </a:lnTo>
                  <a:lnTo>
                    <a:pt x="2124318" y="0"/>
                  </a:lnTo>
                  <a:close/>
                </a:path>
                <a:path w="3187065" h="15239">
                  <a:moveTo>
                    <a:pt x="2233918" y="0"/>
                  </a:moveTo>
                  <a:lnTo>
                    <a:pt x="2173948" y="0"/>
                  </a:lnTo>
                  <a:lnTo>
                    <a:pt x="2173948" y="5168"/>
                  </a:lnTo>
                  <a:lnTo>
                    <a:pt x="2169398" y="5168"/>
                  </a:lnTo>
                  <a:lnTo>
                    <a:pt x="2179118" y="14884"/>
                  </a:lnTo>
                  <a:lnTo>
                    <a:pt x="2223578" y="14884"/>
                  </a:lnTo>
                  <a:lnTo>
                    <a:pt x="2233918" y="9716"/>
                  </a:lnTo>
                  <a:lnTo>
                    <a:pt x="2233918" y="0"/>
                  </a:lnTo>
                  <a:close/>
                </a:path>
                <a:path w="3187065" h="15239">
                  <a:moveTo>
                    <a:pt x="2337728" y="9716"/>
                  </a:moveTo>
                  <a:lnTo>
                    <a:pt x="2282927" y="9716"/>
                  </a:lnTo>
                  <a:lnTo>
                    <a:pt x="2288097" y="14884"/>
                  </a:lnTo>
                  <a:lnTo>
                    <a:pt x="2332764" y="14884"/>
                  </a:lnTo>
                  <a:lnTo>
                    <a:pt x="2337728" y="9716"/>
                  </a:lnTo>
                  <a:close/>
                </a:path>
                <a:path w="3187065" h="15239">
                  <a:moveTo>
                    <a:pt x="2337728" y="0"/>
                  </a:moveTo>
                  <a:lnTo>
                    <a:pt x="2282927" y="0"/>
                  </a:lnTo>
                  <a:lnTo>
                    <a:pt x="2278378" y="5168"/>
                  </a:lnTo>
                  <a:lnTo>
                    <a:pt x="2278378" y="9716"/>
                  </a:lnTo>
                  <a:lnTo>
                    <a:pt x="2342897" y="9716"/>
                  </a:lnTo>
                  <a:lnTo>
                    <a:pt x="2342897" y="5168"/>
                  </a:lnTo>
                  <a:lnTo>
                    <a:pt x="2337728" y="0"/>
                  </a:lnTo>
                  <a:close/>
                </a:path>
                <a:path w="3187065" h="15239">
                  <a:moveTo>
                    <a:pt x="2446914" y="9716"/>
                  </a:moveTo>
                  <a:lnTo>
                    <a:pt x="2392734" y="9716"/>
                  </a:lnTo>
                  <a:lnTo>
                    <a:pt x="2397284" y="14884"/>
                  </a:lnTo>
                  <a:lnTo>
                    <a:pt x="2442365" y="14884"/>
                  </a:lnTo>
                  <a:lnTo>
                    <a:pt x="2446914" y="9716"/>
                  </a:lnTo>
                  <a:close/>
                </a:path>
                <a:path w="3187065" h="15239">
                  <a:moveTo>
                    <a:pt x="2446914" y="0"/>
                  </a:moveTo>
                  <a:lnTo>
                    <a:pt x="2392734" y="0"/>
                  </a:lnTo>
                  <a:lnTo>
                    <a:pt x="2387565" y="5168"/>
                  </a:lnTo>
                  <a:lnTo>
                    <a:pt x="2387565" y="9716"/>
                  </a:lnTo>
                  <a:lnTo>
                    <a:pt x="2452084" y="9716"/>
                  </a:lnTo>
                  <a:lnTo>
                    <a:pt x="2452084" y="5168"/>
                  </a:lnTo>
                  <a:lnTo>
                    <a:pt x="2446914" y="0"/>
                  </a:lnTo>
                  <a:close/>
                </a:path>
                <a:path w="3187065" h="15239">
                  <a:moveTo>
                    <a:pt x="2556100" y="0"/>
                  </a:moveTo>
                  <a:lnTo>
                    <a:pt x="2501714" y="0"/>
                  </a:lnTo>
                  <a:lnTo>
                    <a:pt x="2496544" y="5168"/>
                  </a:lnTo>
                  <a:lnTo>
                    <a:pt x="2496544" y="9716"/>
                  </a:lnTo>
                  <a:lnTo>
                    <a:pt x="2501714" y="9716"/>
                  </a:lnTo>
                  <a:lnTo>
                    <a:pt x="2506263" y="14884"/>
                  </a:lnTo>
                  <a:lnTo>
                    <a:pt x="2551344" y="14884"/>
                  </a:lnTo>
                  <a:lnTo>
                    <a:pt x="2556100" y="9716"/>
                  </a:lnTo>
                  <a:lnTo>
                    <a:pt x="2561063" y="5168"/>
                  </a:lnTo>
                  <a:lnTo>
                    <a:pt x="2556100" y="5168"/>
                  </a:lnTo>
                  <a:lnTo>
                    <a:pt x="2556100" y="0"/>
                  </a:lnTo>
                  <a:close/>
                </a:path>
                <a:path w="3187065" h="15239">
                  <a:moveTo>
                    <a:pt x="2665701" y="0"/>
                  </a:moveTo>
                  <a:lnTo>
                    <a:pt x="2605731" y="0"/>
                  </a:lnTo>
                  <a:lnTo>
                    <a:pt x="2605731" y="9716"/>
                  </a:lnTo>
                  <a:lnTo>
                    <a:pt x="2615864" y="14884"/>
                  </a:lnTo>
                  <a:lnTo>
                    <a:pt x="2660531" y="14884"/>
                  </a:lnTo>
                  <a:lnTo>
                    <a:pt x="2665701" y="9716"/>
                  </a:lnTo>
                  <a:lnTo>
                    <a:pt x="2665701" y="0"/>
                  </a:lnTo>
                  <a:close/>
                </a:path>
                <a:path w="3187065" h="15239">
                  <a:moveTo>
                    <a:pt x="2774680" y="0"/>
                  </a:moveTo>
                  <a:lnTo>
                    <a:pt x="2714917" y="0"/>
                  </a:lnTo>
                  <a:lnTo>
                    <a:pt x="2714917" y="9716"/>
                  </a:lnTo>
                  <a:lnTo>
                    <a:pt x="2719880" y="14884"/>
                  </a:lnTo>
                  <a:lnTo>
                    <a:pt x="2769717" y="14884"/>
                  </a:lnTo>
                  <a:lnTo>
                    <a:pt x="2774680" y="9716"/>
                  </a:lnTo>
                  <a:lnTo>
                    <a:pt x="2774680" y="0"/>
                  </a:lnTo>
                  <a:close/>
                </a:path>
                <a:path w="3187065" h="15239">
                  <a:moveTo>
                    <a:pt x="2883867" y="0"/>
                  </a:moveTo>
                  <a:lnTo>
                    <a:pt x="2824517" y="0"/>
                  </a:lnTo>
                  <a:lnTo>
                    <a:pt x="2824517" y="9716"/>
                  </a:lnTo>
                  <a:lnTo>
                    <a:pt x="2829067" y="14884"/>
                  </a:lnTo>
                  <a:lnTo>
                    <a:pt x="2878697" y="14884"/>
                  </a:lnTo>
                  <a:lnTo>
                    <a:pt x="2883867" y="9716"/>
                  </a:lnTo>
                  <a:lnTo>
                    <a:pt x="2883867" y="0"/>
                  </a:lnTo>
                  <a:close/>
                </a:path>
                <a:path w="3187065" h="15239">
                  <a:moveTo>
                    <a:pt x="2993053" y="0"/>
                  </a:moveTo>
                  <a:lnTo>
                    <a:pt x="2933497" y="0"/>
                  </a:lnTo>
                  <a:lnTo>
                    <a:pt x="2933497" y="9716"/>
                  </a:lnTo>
                  <a:lnTo>
                    <a:pt x="2938667" y="14884"/>
                  </a:lnTo>
                  <a:lnTo>
                    <a:pt x="2987883" y="14884"/>
                  </a:lnTo>
                  <a:lnTo>
                    <a:pt x="2993053" y="9716"/>
                  </a:lnTo>
                  <a:lnTo>
                    <a:pt x="2993053" y="0"/>
                  </a:lnTo>
                  <a:close/>
                </a:path>
                <a:path w="3187065" h="15239">
                  <a:moveTo>
                    <a:pt x="3102033" y="0"/>
                  </a:moveTo>
                  <a:lnTo>
                    <a:pt x="3042683" y="0"/>
                  </a:lnTo>
                  <a:lnTo>
                    <a:pt x="3042683" y="5168"/>
                  </a:lnTo>
                  <a:lnTo>
                    <a:pt x="3037514" y="5168"/>
                  </a:lnTo>
                  <a:lnTo>
                    <a:pt x="3042683" y="9716"/>
                  </a:lnTo>
                  <a:lnTo>
                    <a:pt x="3047853" y="14884"/>
                  </a:lnTo>
                  <a:lnTo>
                    <a:pt x="3092314" y="14884"/>
                  </a:lnTo>
                  <a:lnTo>
                    <a:pt x="3102033" y="9716"/>
                  </a:lnTo>
                  <a:lnTo>
                    <a:pt x="3102033" y="0"/>
                  </a:lnTo>
                  <a:close/>
                </a:path>
                <a:path w="3187065" h="15239">
                  <a:moveTo>
                    <a:pt x="3181441" y="9716"/>
                  </a:moveTo>
                  <a:lnTo>
                    <a:pt x="3151663" y="9716"/>
                  </a:lnTo>
                  <a:lnTo>
                    <a:pt x="3156833" y="14884"/>
                  </a:lnTo>
                  <a:lnTo>
                    <a:pt x="3176892" y="14884"/>
                  </a:lnTo>
                  <a:lnTo>
                    <a:pt x="3181441" y="9716"/>
                  </a:lnTo>
                  <a:close/>
                </a:path>
                <a:path w="3187065" h="15239">
                  <a:moveTo>
                    <a:pt x="3181441" y="0"/>
                  </a:moveTo>
                  <a:lnTo>
                    <a:pt x="3151663" y="0"/>
                  </a:lnTo>
                  <a:lnTo>
                    <a:pt x="3147114" y="5168"/>
                  </a:lnTo>
                  <a:lnTo>
                    <a:pt x="3147114" y="9716"/>
                  </a:lnTo>
                  <a:lnTo>
                    <a:pt x="3186611" y="9716"/>
                  </a:lnTo>
                  <a:lnTo>
                    <a:pt x="3186611" y="5168"/>
                  </a:lnTo>
                  <a:lnTo>
                    <a:pt x="31814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764997" y="3192656"/>
              <a:ext cx="3187065" cy="15240"/>
            </a:xfrm>
            <a:custGeom>
              <a:avLst/>
              <a:gdLst/>
              <a:ahLst/>
              <a:cxnLst/>
              <a:rect l="l" t="t" r="r" b="b"/>
              <a:pathLst>
                <a:path w="3187065" h="15239">
                  <a:moveTo>
                    <a:pt x="9719" y="0"/>
                  </a:moveTo>
                  <a:lnTo>
                    <a:pt x="54283" y="0"/>
                  </a:lnTo>
                  <a:lnTo>
                    <a:pt x="59411" y="0"/>
                  </a:lnTo>
                  <a:lnTo>
                    <a:pt x="59411" y="5168"/>
                  </a:lnTo>
                  <a:lnTo>
                    <a:pt x="59411" y="9716"/>
                  </a:lnTo>
                  <a:lnTo>
                    <a:pt x="54283" y="14884"/>
                  </a:lnTo>
                  <a:lnTo>
                    <a:pt x="9719" y="14884"/>
                  </a:lnTo>
                  <a:lnTo>
                    <a:pt x="0" y="0"/>
                  </a:lnTo>
                  <a:lnTo>
                    <a:pt x="4611" y="0"/>
                  </a:lnTo>
                  <a:lnTo>
                    <a:pt x="9719" y="0"/>
                  </a:lnTo>
                  <a:close/>
                </a:path>
                <a:path w="3187065" h="15239">
                  <a:moveTo>
                    <a:pt x="114232" y="0"/>
                  </a:moveTo>
                  <a:lnTo>
                    <a:pt x="163903" y="0"/>
                  </a:lnTo>
                  <a:lnTo>
                    <a:pt x="168515" y="0"/>
                  </a:lnTo>
                  <a:lnTo>
                    <a:pt x="168515" y="5168"/>
                  </a:lnTo>
                  <a:lnTo>
                    <a:pt x="168515" y="9716"/>
                  </a:lnTo>
                  <a:lnTo>
                    <a:pt x="163903" y="14884"/>
                  </a:lnTo>
                  <a:lnTo>
                    <a:pt x="114232" y="14884"/>
                  </a:lnTo>
                  <a:lnTo>
                    <a:pt x="109103" y="0"/>
                  </a:lnTo>
                  <a:lnTo>
                    <a:pt x="114232" y="0"/>
                  </a:lnTo>
                  <a:close/>
                </a:path>
                <a:path w="3187065" h="15239">
                  <a:moveTo>
                    <a:pt x="223335" y="0"/>
                  </a:moveTo>
                  <a:lnTo>
                    <a:pt x="273007" y="0"/>
                  </a:lnTo>
                  <a:lnTo>
                    <a:pt x="277619" y="0"/>
                  </a:lnTo>
                  <a:lnTo>
                    <a:pt x="277619" y="5168"/>
                  </a:lnTo>
                  <a:lnTo>
                    <a:pt x="277619" y="9716"/>
                  </a:lnTo>
                  <a:lnTo>
                    <a:pt x="273007" y="14884"/>
                  </a:lnTo>
                  <a:lnTo>
                    <a:pt x="223335" y="14884"/>
                  </a:lnTo>
                  <a:lnTo>
                    <a:pt x="218207" y="0"/>
                  </a:lnTo>
                  <a:lnTo>
                    <a:pt x="223335" y="0"/>
                  </a:lnTo>
                  <a:close/>
                </a:path>
                <a:path w="3187065" h="15239">
                  <a:moveTo>
                    <a:pt x="332439" y="0"/>
                  </a:moveTo>
                  <a:lnTo>
                    <a:pt x="382111" y="0"/>
                  </a:lnTo>
                  <a:lnTo>
                    <a:pt x="387239" y="0"/>
                  </a:lnTo>
                  <a:lnTo>
                    <a:pt x="387239" y="5168"/>
                  </a:lnTo>
                  <a:lnTo>
                    <a:pt x="387239" y="9716"/>
                  </a:lnTo>
                  <a:lnTo>
                    <a:pt x="382111" y="14884"/>
                  </a:lnTo>
                  <a:lnTo>
                    <a:pt x="332439" y="14884"/>
                  </a:lnTo>
                  <a:lnTo>
                    <a:pt x="327311" y="0"/>
                  </a:lnTo>
                  <a:lnTo>
                    <a:pt x="332439" y="0"/>
                  </a:lnTo>
                  <a:close/>
                </a:path>
                <a:path w="3187065" h="15239">
                  <a:moveTo>
                    <a:pt x="441543" y="0"/>
                  </a:moveTo>
                  <a:lnTo>
                    <a:pt x="486107" y="0"/>
                  </a:lnTo>
                  <a:lnTo>
                    <a:pt x="491235" y="0"/>
                  </a:lnTo>
                  <a:lnTo>
                    <a:pt x="496343" y="0"/>
                  </a:lnTo>
                  <a:lnTo>
                    <a:pt x="496343" y="5168"/>
                  </a:lnTo>
                  <a:lnTo>
                    <a:pt x="496343" y="9716"/>
                  </a:lnTo>
                  <a:lnTo>
                    <a:pt x="486107" y="14884"/>
                  </a:lnTo>
                  <a:lnTo>
                    <a:pt x="441543" y="14884"/>
                  </a:lnTo>
                  <a:lnTo>
                    <a:pt x="436932" y="9716"/>
                  </a:lnTo>
                  <a:lnTo>
                    <a:pt x="431803" y="5168"/>
                  </a:lnTo>
                  <a:lnTo>
                    <a:pt x="436932" y="5168"/>
                  </a:lnTo>
                  <a:lnTo>
                    <a:pt x="436932" y="0"/>
                  </a:lnTo>
                  <a:lnTo>
                    <a:pt x="441543" y="0"/>
                  </a:lnTo>
                  <a:close/>
                </a:path>
                <a:path w="3187065" h="15239">
                  <a:moveTo>
                    <a:pt x="550647" y="0"/>
                  </a:moveTo>
                  <a:lnTo>
                    <a:pt x="595728" y="0"/>
                  </a:lnTo>
                  <a:lnTo>
                    <a:pt x="600339" y="0"/>
                  </a:lnTo>
                  <a:lnTo>
                    <a:pt x="605447" y="5168"/>
                  </a:lnTo>
                  <a:lnTo>
                    <a:pt x="605447" y="9716"/>
                  </a:lnTo>
                  <a:lnTo>
                    <a:pt x="600339" y="9716"/>
                  </a:lnTo>
                  <a:lnTo>
                    <a:pt x="595728" y="14884"/>
                  </a:lnTo>
                  <a:lnTo>
                    <a:pt x="550647" y="14884"/>
                  </a:lnTo>
                  <a:lnTo>
                    <a:pt x="546035" y="9716"/>
                  </a:lnTo>
                  <a:lnTo>
                    <a:pt x="540907" y="9716"/>
                  </a:lnTo>
                  <a:lnTo>
                    <a:pt x="540907" y="5168"/>
                  </a:lnTo>
                  <a:lnTo>
                    <a:pt x="546035" y="0"/>
                  </a:lnTo>
                  <a:lnTo>
                    <a:pt x="550647" y="0"/>
                  </a:lnTo>
                  <a:close/>
                </a:path>
                <a:path w="3187065" h="15239">
                  <a:moveTo>
                    <a:pt x="660268" y="0"/>
                  </a:moveTo>
                  <a:lnTo>
                    <a:pt x="704831" y="0"/>
                  </a:lnTo>
                  <a:lnTo>
                    <a:pt x="709939" y="0"/>
                  </a:lnTo>
                  <a:lnTo>
                    <a:pt x="714551" y="5168"/>
                  </a:lnTo>
                  <a:lnTo>
                    <a:pt x="714551" y="9716"/>
                  </a:lnTo>
                  <a:lnTo>
                    <a:pt x="709939" y="9716"/>
                  </a:lnTo>
                  <a:lnTo>
                    <a:pt x="704831" y="14884"/>
                  </a:lnTo>
                  <a:lnTo>
                    <a:pt x="660268" y="14884"/>
                  </a:lnTo>
                  <a:lnTo>
                    <a:pt x="655139" y="9716"/>
                  </a:lnTo>
                  <a:lnTo>
                    <a:pt x="650011" y="9716"/>
                  </a:lnTo>
                  <a:lnTo>
                    <a:pt x="650011" y="5168"/>
                  </a:lnTo>
                  <a:lnTo>
                    <a:pt x="655139" y="0"/>
                  </a:lnTo>
                  <a:lnTo>
                    <a:pt x="660268" y="0"/>
                  </a:lnTo>
                  <a:close/>
                </a:path>
                <a:path w="3187065" h="15239">
                  <a:moveTo>
                    <a:pt x="769371" y="0"/>
                  </a:moveTo>
                  <a:lnTo>
                    <a:pt x="813935" y="0"/>
                  </a:lnTo>
                  <a:lnTo>
                    <a:pt x="819064" y="0"/>
                  </a:lnTo>
                  <a:lnTo>
                    <a:pt x="819064" y="5168"/>
                  </a:lnTo>
                  <a:lnTo>
                    <a:pt x="823675" y="5168"/>
                  </a:lnTo>
                  <a:lnTo>
                    <a:pt x="819064" y="9716"/>
                  </a:lnTo>
                  <a:lnTo>
                    <a:pt x="813935" y="14884"/>
                  </a:lnTo>
                  <a:lnTo>
                    <a:pt x="769371" y="14884"/>
                  </a:lnTo>
                  <a:lnTo>
                    <a:pt x="764243" y="9716"/>
                  </a:lnTo>
                  <a:lnTo>
                    <a:pt x="759114" y="9716"/>
                  </a:lnTo>
                  <a:lnTo>
                    <a:pt x="759114" y="5168"/>
                  </a:lnTo>
                  <a:lnTo>
                    <a:pt x="764243" y="0"/>
                  </a:lnTo>
                  <a:lnTo>
                    <a:pt x="769371" y="0"/>
                  </a:lnTo>
                  <a:close/>
                </a:path>
                <a:path w="3187065" h="15239">
                  <a:moveTo>
                    <a:pt x="878392" y="0"/>
                  </a:moveTo>
                  <a:lnTo>
                    <a:pt x="923060" y="0"/>
                  </a:lnTo>
                  <a:lnTo>
                    <a:pt x="928229" y="0"/>
                  </a:lnTo>
                  <a:lnTo>
                    <a:pt x="928229" y="5168"/>
                  </a:lnTo>
                  <a:lnTo>
                    <a:pt x="928229" y="9716"/>
                  </a:lnTo>
                  <a:lnTo>
                    <a:pt x="923060" y="14884"/>
                  </a:lnTo>
                  <a:lnTo>
                    <a:pt x="878392" y="14884"/>
                  </a:lnTo>
                  <a:lnTo>
                    <a:pt x="868673" y="0"/>
                  </a:lnTo>
                  <a:lnTo>
                    <a:pt x="873429" y="0"/>
                  </a:lnTo>
                  <a:lnTo>
                    <a:pt x="878392" y="0"/>
                  </a:lnTo>
                  <a:close/>
                </a:path>
                <a:path w="3187065" h="15239">
                  <a:moveTo>
                    <a:pt x="983029" y="0"/>
                  </a:moveTo>
                  <a:lnTo>
                    <a:pt x="1032246" y="0"/>
                  </a:lnTo>
                  <a:lnTo>
                    <a:pt x="1037209" y="0"/>
                  </a:lnTo>
                  <a:lnTo>
                    <a:pt x="1037209" y="5168"/>
                  </a:lnTo>
                  <a:lnTo>
                    <a:pt x="1037209" y="9716"/>
                  </a:lnTo>
                  <a:lnTo>
                    <a:pt x="1032246" y="14884"/>
                  </a:lnTo>
                  <a:lnTo>
                    <a:pt x="983029" y="14884"/>
                  </a:lnTo>
                  <a:lnTo>
                    <a:pt x="977860" y="0"/>
                  </a:lnTo>
                  <a:lnTo>
                    <a:pt x="983029" y="0"/>
                  </a:lnTo>
                  <a:close/>
                </a:path>
                <a:path w="3187065" h="15239">
                  <a:moveTo>
                    <a:pt x="1092009" y="0"/>
                  </a:moveTo>
                  <a:lnTo>
                    <a:pt x="1141846" y="0"/>
                  </a:lnTo>
                  <a:lnTo>
                    <a:pt x="1146396" y="0"/>
                  </a:lnTo>
                  <a:lnTo>
                    <a:pt x="1146396" y="5168"/>
                  </a:lnTo>
                  <a:lnTo>
                    <a:pt x="1146396" y="9716"/>
                  </a:lnTo>
                  <a:lnTo>
                    <a:pt x="1141846" y="14884"/>
                  </a:lnTo>
                  <a:lnTo>
                    <a:pt x="1092009" y="14884"/>
                  </a:lnTo>
                  <a:lnTo>
                    <a:pt x="1087046" y="0"/>
                  </a:lnTo>
                  <a:lnTo>
                    <a:pt x="1092009" y="0"/>
                  </a:lnTo>
                  <a:close/>
                </a:path>
                <a:path w="3187065" h="15239">
                  <a:moveTo>
                    <a:pt x="1201196" y="0"/>
                  </a:moveTo>
                  <a:lnTo>
                    <a:pt x="1250826" y="0"/>
                  </a:lnTo>
                  <a:lnTo>
                    <a:pt x="1255375" y="0"/>
                  </a:lnTo>
                  <a:lnTo>
                    <a:pt x="1255375" y="5168"/>
                  </a:lnTo>
                  <a:lnTo>
                    <a:pt x="1255375" y="9716"/>
                  </a:lnTo>
                  <a:lnTo>
                    <a:pt x="1250826" y="14884"/>
                  </a:lnTo>
                  <a:lnTo>
                    <a:pt x="1201196" y="14884"/>
                  </a:lnTo>
                  <a:lnTo>
                    <a:pt x="1196026" y="0"/>
                  </a:lnTo>
                  <a:lnTo>
                    <a:pt x="1201196" y="0"/>
                  </a:lnTo>
                  <a:close/>
                </a:path>
                <a:path w="3187065" h="15239">
                  <a:moveTo>
                    <a:pt x="1310382" y="0"/>
                  </a:moveTo>
                  <a:lnTo>
                    <a:pt x="1354842" y="0"/>
                  </a:lnTo>
                  <a:lnTo>
                    <a:pt x="1360012" y="0"/>
                  </a:lnTo>
                  <a:lnTo>
                    <a:pt x="1365182" y="0"/>
                  </a:lnTo>
                  <a:lnTo>
                    <a:pt x="1365182" y="5168"/>
                  </a:lnTo>
                  <a:lnTo>
                    <a:pt x="1365182" y="9716"/>
                  </a:lnTo>
                  <a:lnTo>
                    <a:pt x="1354842" y="14884"/>
                  </a:lnTo>
                  <a:lnTo>
                    <a:pt x="1310382" y="14884"/>
                  </a:lnTo>
                  <a:lnTo>
                    <a:pt x="1305212" y="9716"/>
                  </a:lnTo>
                  <a:lnTo>
                    <a:pt x="1300456" y="5168"/>
                  </a:lnTo>
                  <a:lnTo>
                    <a:pt x="1305212" y="5168"/>
                  </a:lnTo>
                  <a:lnTo>
                    <a:pt x="1305212" y="0"/>
                  </a:lnTo>
                  <a:lnTo>
                    <a:pt x="1310382" y="0"/>
                  </a:lnTo>
                  <a:close/>
                </a:path>
                <a:path w="3187065" h="15239">
                  <a:moveTo>
                    <a:pt x="1419362" y="0"/>
                  </a:moveTo>
                  <a:lnTo>
                    <a:pt x="1464029" y="0"/>
                  </a:lnTo>
                  <a:lnTo>
                    <a:pt x="1468992" y="0"/>
                  </a:lnTo>
                  <a:lnTo>
                    <a:pt x="1474162" y="5168"/>
                  </a:lnTo>
                  <a:lnTo>
                    <a:pt x="1474162" y="9716"/>
                  </a:lnTo>
                  <a:lnTo>
                    <a:pt x="1468992" y="9716"/>
                  </a:lnTo>
                  <a:lnTo>
                    <a:pt x="1464029" y="14884"/>
                  </a:lnTo>
                  <a:lnTo>
                    <a:pt x="1419362" y="14884"/>
                  </a:lnTo>
                  <a:lnTo>
                    <a:pt x="1414812" y="9716"/>
                  </a:lnTo>
                  <a:lnTo>
                    <a:pt x="1409642" y="9716"/>
                  </a:lnTo>
                  <a:lnTo>
                    <a:pt x="1409642" y="5168"/>
                  </a:lnTo>
                  <a:lnTo>
                    <a:pt x="1414812" y="0"/>
                  </a:lnTo>
                  <a:lnTo>
                    <a:pt x="1419362" y="0"/>
                  </a:lnTo>
                  <a:close/>
                </a:path>
                <a:path w="3187065" h="15239">
                  <a:moveTo>
                    <a:pt x="1528548" y="0"/>
                  </a:moveTo>
                  <a:lnTo>
                    <a:pt x="1573629" y="0"/>
                  </a:lnTo>
                  <a:lnTo>
                    <a:pt x="1578178" y="0"/>
                  </a:lnTo>
                  <a:lnTo>
                    <a:pt x="1583348" y="5168"/>
                  </a:lnTo>
                  <a:lnTo>
                    <a:pt x="1583348" y="9716"/>
                  </a:lnTo>
                  <a:lnTo>
                    <a:pt x="1578178" y="9716"/>
                  </a:lnTo>
                  <a:lnTo>
                    <a:pt x="1573629" y="14884"/>
                  </a:lnTo>
                  <a:lnTo>
                    <a:pt x="1528548" y="14884"/>
                  </a:lnTo>
                  <a:lnTo>
                    <a:pt x="1523792" y="9716"/>
                  </a:lnTo>
                  <a:lnTo>
                    <a:pt x="1518829" y="9716"/>
                  </a:lnTo>
                  <a:lnTo>
                    <a:pt x="1518829" y="5168"/>
                  </a:lnTo>
                  <a:lnTo>
                    <a:pt x="1523792" y="0"/>
                  </a:lnTo>
                  <a:lnTo>
                    <a:pt x="1528548" y="0"/>
                  </a:lnTo>
                  <a:close/>
                </a:path>
                <a:path w="3187065" h="15239">
                  <a:moveTo>
                    <a:pt x="1638148" y="0"/>
                  </a:moveTo>
                  <a:lnTo>
                    <a:pt x="1682609" y="0"/>
                  </a:lnTo>
                  <a:lnTo>
                    <a:pt x="1687778" y="0"/>
                  </a:lnTo>
                  <a:lnTo>
                    <a:pt x="1687779" y="5168"/>
                  </a:lnTo>
                  <a:lnTo>
                    <a:pt x="1692328" y="5168"/>
                  </a:lnTo>
                  <a:lnTo>
                    <a:pt x="1687779" y="9716"/>
                  </a:lnTo>
                  <a:lnTo>
                    <a:pt x="1682609" y="14884"/>
                  </a:lnTo>
                  <a:lnTo>
                    <a:pt x="1638148" y="14884"/>
                  </a:lnTo>
                  <a:lnTo>
                    <a:pt x="1632978" y="9716"/>
                  </a:lnTo>
                  <a:lnTo>
                    <a:pt x="1627809" y="9716"/>
                  </a:lnTo>
                  <a:lnTo>
                    <a:pt x="1627809" y="5168"/>
                  </a:lnTo>
                  <a:lnTo>
                    <a:pt x="1632978" y="0"/>
                  </a:lnTo>
                  <a:lnTo>
                    <a:pt x="1638148" y="0"/>
                  </a:lnTo>
                  <a:close/>
                </a:path>
                <a:path w="3187065" h="15239">
                  <a:moveTo>
                    <a:pt x="1747128" y="0"/>
                  </a:moveTo>
                  <a:lnTo>
                    <a:pt x="1791795" y="0"/>
                  </a:lnTo>
                  <a:lnTo>
                    <a:pt x="1796965" y="0"/>
                  </a:lnTo>
                  <a:lnTo>
                    <a:pt x="1796965" y="5168"/>
                  </a:lnTo>
                  <a:lnTo>
                    <a:pt x="1796965" y="9716"/>
                  </a:lnTo>
                  <a:lnTo>
                    <a:pt x="1791795" y="14884"/>
                  </a:lnTo>
                  <a:lnTo>
                    <a:pt x="1747128" y="14884"/>
                  </a:lnTo>
                  <a:lnTo>
                    <a:pt x="1736995" y="0"/>
                  </a:lnTo>
                  <a:lnTo>
                    <a:pt x="1742165" y="0"/>
                  </a:lnTo>
                  <a:lnTo>
                    <a:pt x="1747128" y="0"/>
                  </a:lnTo>
                  <a:close/>
                </a:path>
                <a:path w="3187065" h="15239">
                  <a:moveTo>
                    <a:pt x="1851145" y="0"/>
                  </a:moveTo>
                  <a:lnTo>
                    <a:pt x="1900982" y="0"/>
                  </a:lnTo>
                  <a:lnTo>
                    <a:pt x="1905945" y="0"/>
                  </a:lnTo>
                  <a:lnTo>
                    <a:pt x="1905945" y="5168"/>
                  </a:lnTo>
                  <a:lnTo>
                    <a:pt x="1905945" y="9716"/>
                  </a:lnTo>
                  <a:lnTo>
                    <a:pt x="1900982" y="14884"/>
                  </a:lnTo>
                  <a:lnTo>
                    <a:pt x="1851145" y="14884"/>
                  </a:lnTo>
                  <a:lnTo>
                    <a:pt x="1846595" y="0"/>
                  </a:lnTo>
                  <a:lnTo>
                    <a:pt x="1851145" y="0"/>
                  </a:lnTo>
                  <a:close/>
                </a:path>
                <a:path w="3187065" h="15239">
                  <a:moveTo>
                    <a:pt x="1960745" y="0"/>
                  </a:moveTo>
                  <a:lnTo>
                    <a:pt x="2009961" y="0"/>
                  </a:lnTo>
                  <a:lnTo>
                    <a:pt x="2015131" y="0"/>
                  </a:lnTo>
                  <a:lnTo>
                    <a:pt x="2015131" y="5168"/>
                  </a:lnTo>
                  <a:lnTo>
                    <a:pt x="2015131" y="9716"/>
                  </a:lnTo>
                  <a:lnTo>
                    <a:pt x="2009961" y="14884"/>
                  </a:lnTo>
                  <a:lnTo>
                    <a:pt x="1960745" y="14884"/>
                  </a:lnTo>
                  <a:lnTo>
                    <a:pt x="1955782" y="0"/>
                  </a:lnTo>
                  <a:lnTo>
                    <a:pt x="1960745" y="0"/>
                  </a:lnTo>
                  <a:close/>
                </a:path>
                <a:path w="3187065" h="15239">
                  <a:moveTo>
                    <a:pt x="2069931" y="0"/>
                  </a:moveTo>
                  <a:lnTo>
                    <a:pt x="2119561" y="0"/>
                  </a:lnTo>
                  <a:lnTo>
                    <a:pt x="2124318" y="0"/>
                  </a:lnTo>
                  <a:lnTo>
                    <a:pt x="2124318" y="5168"/>
                  </a:lnTo>
                  <a:lnTo>
                    <a:pt x="2124318" y="9716"/>
                  </a:lnTo>
                  <a:lnTo>
                    <a:pt x="2119561" y="14884"/>
                  </a:lnTo>
                  <a:lnTo>
                    <a:pt x="2069931" y="14884"/>
                  </a:lnTo>
                  <a:lnTo>
                    <a:pt x="2064761" y="0"/>
                  </a:lnTo>
                  <a:lnTo>
                    <a:pt x="2069931" y="0"/>
                  </a:lnTo>
                  <a:close/>
                </a:path>
                <a:path w="3187065" h="15239">
                  <a:moveTo>
                    <a:pt x="2179118" y="0"/>
                  </a:moveTo>
                  <a:lnTo>
                    <a:pt x="2223578" y="0"/>
                  </a:lnTo>
                  <a:lnTo>
                    <a:pt x="2228748" y="0"/>
                  </a:lnTo>
                  <a:lnTo>
                    <a:pt x="2233918" y="0"/>
                  </a:lnTo>
                  <a:lnTo>
                    <a:pt x="2233918" y="5168"/>
                  </a:lnTo>
                  <a:lnTo>
                    <a:pt x="2233918" y="9716"/>
                  </a:lnTo>
                  <a:lnTo>
                    <a:pt x="2223578" y="14884"/>
                  </a:lnTo>
                  <a:lnTo>
                    <a:pt x="2179118" y="14884"/>
                  </a:lnTo>
                  <a:lnTo>
                    <a:pt x="2173948" y="9716"/>
                  </a:lnTo>
                  <a:lnTo>
                    <a:pt x="2169398" y="5168"/>
                  </a:lnTo>
                  <a:lnTo>
                    <a:pt x="2173948" y="5168"/>
                  </a:lnTo>
                  <a:lnTo>
                    <a:pt x="2173948" y="0"/>
                  </a:lnTo>
                  <a:lnTo>
                    <a:pt x="2179118" y="0"/>
                  </a:lnTo>
                  <a:close/>
                </a:path>
                <a:path w="3187065" h="15239">
                  <a:moveTo>
                    <a:pt x="2288097" y="0"/>
                  </a:moveTo>
                  <a:lnTo>
                    <a:pt x="2332765" y="0"/>
                  </a:lnTo>
                  <a:lnTo>
                    <a:pt x="2337728" y="0"/>
                  </a:lnTo>
                  <a:lnTo>
                    <a:pt x="2342897" y="5168"/>
                  </a:lnTo>
                  <a:lnTo>
                    <a:pt x="2342897" y="9716"/>
                  </a:lnTo>
                  <a:lnTo>
                    <a:pt x="2337728" y="9716"/>
                  </a:lnTo>
                  <a:lnTo>
                    <a:pt x="2332765" y="14884"/>
                  </a:lnTo>
                  <a:lnTo>
                    <a:pt x="2288097" y="14884"/>
                  </a:lnTo>
                  <a:lnTo>
                    <a:pt x="2282928" y="9716"/>
                  </a:lnTo>
                  <a:lnTo>
                    <a:pt x="2278378" y="9716"/>
                  </a:lnTo>
                  <a:lnTo>
                    <a:pt x="2278378" y="5168"/>
                  </a:lnTo>
                  <a:lnTo>
                    <a:pt x="2282928" y="0"/>
                  </a:lnTo>
                  <a:lnTo>
                    <a:pt x="2288097" y="0"/>
                  </a:lnTo>
                  <a:close/>
                </a:path>
                <a:path w="3187065" h="15239">
                  <a:moveTo>
                    <a:pt x="2397284" y="0"/>
                  </a:moveTo>
                  <a:lnTo>
                    <a:pt x="2442365" y="0"/>
                  </a:lnTo>
                  <a:lnTo>
                    <a:pt x="2446914" y="0"/>
                  </a:lnTo>
                  <a:lnTo>
                    <a:pt x="2452084" y="5168"/>
                  </a:lnTo>
                  <a:lnTo>
                    <a:pt x="2452084" y="9716"/>
                  </a:lnTo>
                  <a:lnTo>
                    <a:pt x="2446914" y="9716"/>
                  </a:lnTo>
                  <a:lnTo>
                    <a:pt x="2442365" y="14884"/>
                  </a:lnTo>
                  <a:lnTo>
                    <a:pt x="2397284" y="14884"/>
                  </a:lnTo>
                  <a:lnTo>
                    <a:pt x="2392734" y="9716"/>
                  </a:lnTo>
                  <a:lnTo>
                    <a:pt x="2387565" y="9716"/>
                  </a:lnTo>
                  <a:lnTo>
                    <a:pt x="2387565" y="5168"/>
                  </a:lnTo>
                  <a:lnTo>
                    <a:pt x="2392734" y="0"/>
                  </a:lnTo>
                  <a:lnTo>
                    <a:pt x="2397284" y="0"/>
                  </a:lnTo>
                  <a:close/>
                </a:path>
                <a:path w="3187065" h="15239">
                  <a:moveTo>
                    <a:pt x="2506264" y="0"/>
                  </a:moveTo>
                  <a:lnTo>
                    <a:pt x="2551344" y="0"/>
                  </a:lnTo>
                  <a:lnTo>
                    <a:pt x="2556101" y="0"/>
                  </a:lnTo>
                  <a:lnTo>
                    <a:pt x="2556101" y="5168"/>
                  </a:lnTo>
                  <a:lnTo>
                    <a:pt x="2561064" y="5168"/>
                  </a:lnTo>
                  <a:lnTo>
                    <a:pt x="2556101" y="9716"/>
                  </a:lnTo>
                  <a:lnTo>
                    <a:pt x="2551344" y="14884"/>
                  </a:lnTo>
                  <a:lnTo>
                    <a:pt x="2506264" y="14884"/>
                  </a:lnTo>
                  <a:lnTo>
                    <a:pt x="2501714" y="9716"/>
                  </a:lnTo>
                  <a:lnTo>
                    <a:pt x="2496544" y="9716"/>
                  </a:lnTo>
                  <a:lnTo>
                    <a:pt x="2496544" y="5168"/>
                  </a:lnTo>
                  <a:lnTo>
                    <a:pt x="2501714" y="0"/>
                  </a:lnTo>
                  <a:lnTo>
                    <a:pt x="2506264" y="0"/>
                  </a:lnTo>
                  <a:close/>
                </a:path>
                <a:path w="3187065" h="15239">
                  <a:moveTo>
                    <a:pt x="2615864" y="0"/>
                  </a:moveTo>
                  <a:lnTo>
                    <a:pt x="2660531" y="0"/>
                  </a:lnTo>
                  <a:lnTo>
                    <a:pt x="2665701" y="0"/>
                  </a:lnTo>
                  <a:lnTo>
                    <a:pt x="2665701" y="5168"/>
                  </a:lnTo>
                  <a:lnTo>
                    <a:pt x="2665701" y="9716"/>
                  </a:lnTo>
                  <a:lnTo>
                    <a:pt x="2660531" y="14884"/>
                  </a:lnTo>
                  <a:lnTo>
                    <a:pt x="2615864" y="14884"/>
                  </a:lnTo>
                  <a:lnTo>
                    <a:pt x="2605731" y="0"/>
                  </a:lnTo>
                  <a:lnTo>
                    <a:pt x="2610901" y="0"/>
                  </a:lnTo>
                  <a:lnTo>
                    <a:pt x="2615864" y="0"/>
                  </a:lnTo>
                  <a:close/>
                </a:path>
                <a:path w="3187065" h="15239">
                  <a:moveTo>
                    <a:pt x="2719880" y="0"/>
                  </a:moveTo>
                  <a:lnTo>
                    <a:pt x="2769717" y="0"/>
                  </a:lnTo>
                  <a:lnTo>
                    <a:pt x="2774680" y="0"/>
                  </a:lnTo>
                  <a:lnTo>
                    <a:pt x="2774680" y="5168"/>
                  </a:lnTo>
                  <a:lnTo>
                    <a:pt x="2774680" y="9716"/>
                  </a:lnTo>
                  <a:lnTo>
                    <a:pt x="2769717" y="14884"/>
                  </a:lnTo>
                  <a:lnTo>
                    <a:pt x="2719880" y="14884"/>
                  </a:lnTo>
                  <a:lnTo>
                    <a:pt x="2714917" y="0"/>
                  </a:lnTo>
                  <a:lnTo>
                    <a:pt x="2719880" y="0"/>
                  </a:lnTo>
                  <a:close/>
                </a:path>
                <a:path w="3187065" h="15239">
                  <a:moveTo>
                    <a:pt x="2829067" y="0"/>
                  </a:moveTo>
                  <a:lnTo>
                    <a:pt x="2878697" y="0"/>
                  </a:lnTo>
                  <a:lnTo>
                    <a:pt x="2883867" y="0"/>
                  </a:lnTo>
                  <a:lnTo>
                    <a:pt x="2883867" y="5168"/>
                  </a:lnTo>
                  <a:lnTo>
                    <a:pt x="2883867" y="9716"/>
                  </a:lnTo>
                  <a:lnTo>
                    <a:pt x="2878697" y="14884"/>
                  </a:lnTo>
                  <a:lnTo>
                    <a:pt x="2829067" y="14884"/>
                  </a:lnTo>
                  <a:lnTo>
                    <a:pt x="2824517" y="0"/>
                  </a:lnTo>
                  <a:lnTo>
                    <a:pt x="2829067" y="0"/>
                  </a:lnTo>
                  <a:close/>
                </a:path>
                <a:path w="3187065" h="15239">
                  <a:moveTo>
                    <a:pt x="2938667" y="0"/>
                  </a:moveTo>
                  <a:lnTo>
                    <a:pt x="2987883" y="0"/>
                  </a:lnTo>
                  <a:lnTo>
                    <a:pt x="2993053" y="0"/>
                  </a:lnTo>
                  <a:lnTo>
                    <a:pt x="2993053" y="5168"/>
                  </a:lnTo>
                  <a:lnTo>
                    <a:pt x="2993053" y="9716"/>
                  </a:lnTo>
                  <a:lnTo>
                    <a:pt x="2987883" y="14884"/>
                  </a:lnTo>
                  <a:lnTo>
                    <a:pt x="2938667" y="14884"/>
                  </a:lnTo>
                  <a:lnTo>
                    <a:pt x="2933497" y="0"/>
                  </a:lnTo>
                  <a:lnTo>
                    <a:pt x="2938667" y="0"/>
                  </a:lnTo>
                  <a:close/>
                </a:path>
                <a:path w="3187065" h="15239">
                  <a:moveTo>
                    <a:pt x="3047853" y="0"/>
                  </a:moveTo>
                  <a:lnTo>
                    <a:pt x="3092314" y="0"/>
                  </a:lnTo>
                  <a:lnTo>
                    <a:pt x="3097484" y="0"/>
                  </a:lnTo>
                  <a:lnTo>
                    <a:pt x="3102033" y="0"/>
                  </a:lnTo>
                  <a:lnTo>
                    <a:pt x="3102033" y="5168"/>
                  </a:lnTo>
                  <a:lnTo>
                    <a:pt x="3102033" y="9716"/>
                  </a:lnTo>
                  <a:lnTo>
                    <a:pt x="3092314" y="14884"/>
                  </a:lnTo>
                  <a:lnTo>
                    <a:pt x="3047853" y="14884"/>
                  </a:lnTo>
                  <a:lnTo>
                    <a:pt x="3042683" y="9716"/>
                  </a:lnTo>
                  <a:lnTo>
                    <a:pt x="3037514" y="5168"/>
                  </a:lnTo>
                  <a:lnTo>
                    <a:pt x="3042683" y="5168"/>
                  </a:lnTo>
                  <a:lnTo>
                    <a:pt x="3042683" y="0"/>
                  </a:lnTo>
                  <a:lnTo>
                    <a:pt x="3047853" y="0"/>
                  </a:lnTo>
                  <a:close/>
                </a:path>
                <a:path w="3187065" h="15239">
                  <a:moveTo>
                    <a:pt x="3156833" y="0"/>
                  </a:moveTo>
                  <a:lnTo>
                    <a:pt x="3176892" y="0"/>
                  </a:lnTo>
                  <a:lnTo>
                    <a:pt x="3181441" y="0"/>
                  </a:lnTo>
                  <a:lnTo>
                    <a:pt x="3186611" y="5168"/>
                  </a:lnTo>
                  <a:lnTo>
                    <a:pt x="3186611" y="9716"/>
                  </a:lnTo>
                  <a:lnTo>
                    <a:pt x="3181441" y="9716"/>
                  </a:lnTo>
                  <a:lnTo>
                    <a:pt x="3176892" y="14884"/>
                  </a:lnTo>
                  <a:lnTo>
                    <a:pt x="3156833" y="14884"/>
                  </a:lnTo>
                  <a:lnTo>
                    <a:pt x="3151663" y="9716"/>
                  </a:lnTo>
                  <a:lnTo>
                    <a:pt x="3147114" y="9716"/>
                  </a:lnTo>
                  <a:lnTo>
                    <a:pt x="3147114" y="5168"/>
                  </a:lnTo>
                  <a:lnTo>
                    <a:pt x="3151663" y="0"/>
                  </a:lnTo>
                  <a:lnTo>
                    <a:pt x="3156833" y="0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764997" y="3833867"/>
              <a:ext cx="3187065" cy="15875"/>
            </a:xfrm>
            <a:custGeom>
              <a:avLst/>
              <a:gdLst/>
              <a:ahLst/>
              <a:cxnLst/>
              <a:rect l="l" t="t" r="r" b="b"/>
              <a:pathLst>
                <a:path w="3187065" h="15875">
                  <a:moveTo>
                    <a:pt x="59411" y="0"/>
                  </a:moveTo>
                  <a:lnTo>
                    <a:pt x="0" y="0"/>
                  </a:lnTo>
                  <a:lnTo>
                    <a:pt x="0" y="15298"/>
                  </a:lnTo>
                  <a:lnTo>
                    <a:pt x="59411" y="15298"/>
                  </a:lnTo>
                  <a:lnTo>
                    <a:pt x="59411" y="0"/>
                  </a:lnTo>
                  <a:close/>
                </a:path>
                <a:path w="3187065" h="15875">
                  <a:moveTo>
                    <a:pt x="168515" y="0"/>
                  </a:moveTo>
                  <a:lnTo>
                    <a:pt x="109103" y="0"/>
                  </a:lnTo>
                  <a:lnTo>
                    <a:pt x="109103" y="15298"/>
                  </a:lnTo>
                  <a:lnTo>
                    <a:pt x="168515" y="15298"/>
                  </a:lnTo>
                  <a:lnTo>
                    <a:pt x="168515" y="0"/>
                  </a:lnTo>
                  <a:close/>
                </a:path>
                <a:path w="3187065" h="15875">
                  <a:moveTo>
                    <a:pt x="277619" y="0"/>
                  </a:moveTo>
                  <a:lnTo>
                    <a:pt x="218207" y="0"/>
                  </a:lnTo>
                  <a:lnTo>
                    <a:pt x="218207" y="15298"/>
                  </a:lnTo>
                  <a:lnTo>
                    <a:pt x="277619" y="15298"/>
                  </a:lnTo>
                  <a:lnTo>
                    <a:pt x="277619" y="0"/>
                  </a:lnTo>
                  <a:close/>
                </a:path>
                <a:path w="3187065" h="15875">
                  <a:moveTo>
                    <a:pt x="387239" y="0"/>
                  </a:moveTo>
                  <a:lnTo>
                    <a:pt x="327311" y="0"/>
                  </a:lnTo>
                  <a:lnTo>
                    <a:pt x="327311" y="15298"/>
                  </a:lnTo>
                  <a:lnTo>
                    <a:pt x="387239" y="15298"/>
                  </a:lnTo>
                  <a:lnTo>
                    <a:pt x="387239" y="0"/>
                  </a:lnTo>
                  <a:close/>
                </a:path>
                <a:path w="3187065" h="15875">
                  <a:moveTo>
                    <a:pt x="496343" y="0"/>
                  </a:moveTo>
                  <a:lnTo>
                    <a:pt x="436932" y="0"/>
                  </a:lnTo>
                  <a:lnTo>
                    <a:pt x="436932" y="5106"/>
                  </a:lnTo>
                  <a:lnTo>
                    <a:pt x="431803" y="5106"/>
                  </a:lnTo>
                  <a:lnTo>
                    <a:pt x="436932" y="10212"/>
                  </a:lnTo>
                  <a:lnTo>
                    <a:pt x="436932" y="15298"/>
                  </a:lnTo>
                  <a:lnTo>
                    <a:pt x="496343" y="15298"/>
                  </a:lnTo>
                  <a:lnTo>
                    <a:pt x="496343" y="0"/>
                  </a:lnTo>
                  <a:close/>
                </a:path>
                <a:path w="3187065" h="15875">
                  <a:moveTo>
                    <a:pt x="600339" y="0"/>
                  </a:moveTo>
                  <a:lnTo>
                    <a:pt x="546035" y="0"/>
                  </a:lnTo>
                  <a:lnTo>
                    <a:pt x="540907" y="5106"/>
                  </a:lnTo>
                  <a:lnTo>
                    <a:pt x="540907" y="10212"/>
                  </a:lnTo>
                  <a:lnTo>
                    <a:pt x="546035" y="15298"/>
                  </a:lnTo>
                  <a:lnTo>
                    <a:pt x="600339" y="15298"/>
                  </a:lnTo>
                  <a:lnTo>
                    <a:pt x="605447" y="10212"/>
                  </a:lnTo>
                  <a:lnTo>
                    <a:pt x="605447" y="5106"/>
                  </a:lnTo>
                  <a:lnTo>
                    <a:pt x="600339" y="0"/>
                  </a:lnTo>
                  <a:close/>
                </a:path>
                <a:path w="3187065" h="15875">
                  <a:moveTo>
                    <a:pt x="709939" y="0"/>
                  </a:moveTo>
                  <a:lnTo>
                    <a:pt x="655139" y="0"/>
                  </a:lnTo>
                  <a:lnTo>
                    <a:pt x="650011" y="5106"/>
                  </a:lnTo>
                  <a:lnTo>
                    <a:pt x="650011" y="10212"/>
                  </a:lnTo>
                  <a:lnTo>
                    <a:pt x="655139" y="15298"/>
                  </a:lnTo>
                  <a:lnTo>
                    <a:pt x="709939" y="15298"/>
                  </a:lnTo>
                  <a:lnTo>
                    <a:pt x="714551" y="10212"/>
                  </a:lnTo>
                  <a:lnTo>
                    <a:pt x="714551" y="5106"/>
                  </a:lnTo>
                  <a:lnTo>
                    <a:pt x="709939" y="0"/>
                  </a:lnTo>
                  <a:close/>
                </a:path>
                <a:path w="3187065" h="15875">
                  <a:moveTo>
                    <a:pt x="819064" y="0"/>
                  </a:moveTo>
                  <a:lnTo>
                    <a:pt x="764243" y="0"/>
                  </a:lnTo>
                  <a:lnTo>
                    <a:pt x="759114" y="5106"/>
                  </a:lnTo>
                  <a:lnTo>
                    <a:pt x="759114" y="10212"/>
                  </a:lnTo>
                  <a:lnTo>
                    <a:pt x="764243" y="15298"/>
                  </a:lnTo>
                  <a:lnTo>
                    <a:pt x="819064" y="15298"/>
                  </a:lnTo>
                  <a:lnTo>
                    <a:pt x="819064" y="10212"/>
                  </a:lnTo>
                  <a:lnTo>
                    <a:pt x="823675" y="5106"/>
                  </a:lnTo>
                  <a:lnTo>
                    <a:pt x="819064" y="5106"/>
                  </a:lnTo>
                  <a:lnTo>
                    <a:pt x="819064" y="0"/>
                  </a:lnTo>
                  <a:close/>
                </a:path>
                <a:path w="3187065" h="15875">
                  <a:moveTo>
                    <a:pt x="928229" y="0"/>
                  </a:moveTo>
                  <a:lnTo>
                    <a:pt x="868673" y="0"/>
                  </a:lnTo>
                  <a:lnTo>
                    <a:pt x="868673" y="15298"/>
                  </a:lnTo>
                  <a:lnTo>
                    <a:pt x="928229" y="15298"/>
                  </a:lnTo>
                  <a:lnTo>
                    <a:pt x="928229" y="0"/>
                  </a:lnTo>
                  <a:close/>
                </a:path>
                <a:path w="3187065" h="15875">
                  <a:moveTo>
                    <a:pt x="1037209" y="0"/>
                  </a:moveTo>
                  <a:lnTo>
                    <a:pt x="977860" y="0"/>
                  </a:lnTo>
                  <a:lnTo>
                    <a:pt x="977860" y="15298"/>
                  </a:lnTo>
                  <a:lnTo>
                    <a:pt x="1037209" y="15298"/>
                  </a:lnTo>
                  <a:lnTo>
                    <a:pt x="1037209" y="0"/>
                  </a:lnTo>
                  <a:close/>
                </a:path>
                <a:path w="3187065" h="15875">
                  <a:moveTo>
                    <a:pt x="1146395" y="0"/>
                  </a:moveTo>
                  <a:lnTo>
                    <a:pt x="1087046" y="0"/>
                  </a:lnTo>
                  <a:lnTo>
                    <a:pt x="1087046" y="15298"/>
                  </a:lnTo>
                  <a:lnTo>
                    <a:pt x="1146395" y="15298"/>
                  </a:lnTo>
                  <a:lnTo>
                    <a:pt x="1146395" y="0"/>
                  </a:lnTo>
                  <a:close/>
                </a:path>
                <a:path w="3187065" h="15875">
                  <a:moveTo>
                    <a:pt x="1255375" y="0"/>
                  </a:moveTo>
                  <a:lnTo>
                    <a:pt x="1196026" y="0"/>
                  </a:lnTo>
                  <a:lnTo>
                    <a:pt x="1196026" y="15298"/>
                  </a:lnTo>
                  <a:lnTo>
                    <a:pt x="1255375" y="15298"/>
                  </a:lnTo>
                  <a:lnTo>
                    <a:pt x="1255375" y="0"/>
                  </a:lnTo>
                  <a:close/>
                </a:path>
                <a:path w="3187065" h="15875">
                  <a:moveTo>
                    <a:pt x="1365182" y="0"/>
                  </a:moveTo>
                  <a:lnTo>
                    <a:pt x="1305212" y="0"/>
                  </a:lnTo>
                  <a:lnTo>
                    <a:pt x="1305212" y="5106"/>
                  </a:lnTo>
                  <a:lnTo>
                    <a:pt x="1300456" y="5106"/>
                  </a:lnTo>
                  <a:lnTo>
                    <a:pt x="1305212" y="10212"/>
                  </a:lnTo>
                  <a:lnTo>
                    <a:pt x="1305212" y="15298"/>
                  </a:lnTo>
                  <a:lnTo>
                    <a:pt x="1365182" y="15298"/>
                  </a:lnTo>
                  <a:lnTo>
                    <a:pt x="1365182" y="0"/>
                  </a:lnTo>
                  <a:close/>
                </a:path>
                <a:path w="3187065" h="15875">
                  <a:moveTo>
                    <a:pt x="1468992" y="0"/>
                  </a:moveTo>
                  <a:lnTo>
                    <a:pt x="1414812" y="0"/>
                  </a:lnTo>
                  <a:lnTo>
                    <a:pt x="1409642" y="5106"/>
                  </a:lnTo>
                  <a:lnTo>
                    <a:pt x="1409642" y="10212"/>
                  </a:lnTo>
                  <a:lnTo>
                    <a:pt x="1414812" y="15298"/>
                  </a:lnTo>
                  <a:lnTo>
                    <a:pt x="1468992" y="15298"/>
                  </a:lnTo>
                  <a:lnTo>
                    <a:pt x="1474162" y="10212"/>
                  </a:lnTo>
                  <a:lnTo>
                    <a:pt x="1474162" y="5106"/>
                  </a:lnTo>
                  <a:lnTo>
                    <a:pt x="1468992" y="0"/>
                  </a:lnTo>
                  <a:close/>
                </a:path>
                <a:path w="3187065" h="15875">
                  <a:moveTo>
                    <a:pt x="1578178" y="0"/>
                  </a:moveTo>
                  <a:lnTo>
                    <a:pt x="1523792" y="0"/>
                  </a:lnTo>
                  <a:lnTo>
                    <a:pt x="1518829" y="5106"/>
                  </a:lnTo>
                  <a:lnTo>
                    <a:pt x="1518829" y="10212"/>
                  </a:lnTo>
                  <a:lnTo>
                    <a:pt x="1523792" y="15298"/>
                  </a:lnTo>
                  <a:lnTo>
                    <a:pt x="1578178" y="15298"/>
                  </a:lnTo>
                  <a:lnTo>
                    <a:pt x="1583348" y="10212"/>
                  </a:lnTo>
                  <a:lnTo>
                    <a:pt x="1583348" y="5106"/>
                  </a:lnTo>
                  <a:lnTo>
                    <a:pt x="1578178" y="0"/>
                  </a:lnTo>
                  <a:close/>
                </a:path>
                <a:path w="3187065" h="15875">
                  <a:moveTo>
                    <a:pt x="1687778" y="0"/>
                  </a:moveTo>
                  <a:lnTo>
                    <a:pt x="1632978" y="0"/>
                  </a:lnTo>
                  <a:lnTo>
                    <a:pt x="1627809" y="5106"/>
                  </a:lnTo>
                  <a:lnTo>
                    <a:pt x="1627809" y="10212"/>
                  </a:lnTo>
                  <a:lnTo>
                    <a:pt x="1632978" y="15298"/>
                  </a:lnTo>
                  <a:lnTo>
                    <a:pt x="1687778" y="15298"/>
                  </a:lnTo>
                  <a:lnTo>
                    <a:pt x="1687778" y="10212"/>
                  </a:lnTo>
                  <a:lnTo>
                    <a:pt x="1692328" y="5106"/>
                  </a:lnTo>
                  <a:lnTo>
                    <a:pt x="1687778" y="5106"/>
                  </a:lnTo>
                  <a:lnTo>
                    <a:pt x="1687778" y="0"/>
                  </a:lnTo>
                  <a:close/>
                </a:path>
                <a:path w="3187065" h="15875">
                  <a:moveTo>
                    <a:pt x="1796965" y="0"/>
                  </a:moveTo>
                  <a:lnTo>
                    <a:pt x="1736995" y="0"/>
                  </a:lnTo>
                  <a:lnTo>
                    <a:pt x="1736995" y="15298"/>
                  </a:lnTo>
                  <a:lnTo>
                    <a:pt x="1796965" y="15298"/>
                  </a:lnTo>
                  <a:lnTo>
                    <a:pt x="1796965" y="0"/>
                  </a:lnTo>
                  <a:close/>
                </a:path>
                <a:path w="3187065" h="15875">
                  <a:moveTo>
                    <a:pt x="1905945" y="0"/>
                  </a:moveTo>
                  <a:lnTo>
                    <a:pt x="1846595" y="0"/>
                  </a:lnTo>
                  <a:lnTo>
                    <a:pt x="1846595" y="15298"/>
                  </a:lnTo>
                  <a:lnTo>
                    <a:pt x="1905945" y="15298"/>
                  </a:lnTo>
                  <a:lnTo>
                    <a:pt x="1905945" y="0"/>
                  </a:lnTo>
                  <a:close/>
                </a:path>
                <a:path w="3187065" h="15875">
                  <a:moveTo>
                    <a:pt x="2015131" y="0"/>
                  </a:moveTo>
                  <a:lnTo>
                    <a:pt x="1955782" y="0"/>
                  </a:lnTo>
                  <a:lnTo>
                    <a:pt x="1955782" y="15298"/>
                  </a:lnTo>
                  <a:lnTo>
                    <a:pt x="2015131" y="15298"/>
                  </a:lnTo>
                  <a:lnTo>
                    <a:pt x="2015131" y="0"/>
                  </a:lnTo>
                  <a:close/>
                </a:path>
                <a:path w="3187065" h="15875">
                  <a:moveTo>
                    <a:pt x="2124318" y="0"/>
                  </a:moveTo>
                  <a:lnTo>
                    <a:pt x="2064761" y="0"/>
                  </a:lnTo>
                  <a:lnTo>
                    <a:pt x="2064761" y="15298"/>
                  </a:lnTo>
                  <a:lnTo>
                    <a:pt x="2124318" y="15298"/>
                  </a:lnTo>
                  <a:lnTo>
                    <a:pt x="2124318" y="0"/>
                  </a:lnTo>
                  <a:close/>
                </a:path>
                <a:path w="3187065" h="15875">
                  <a:moveTo>
                    <a:pt x="2233918" y="0"/>
                  </a:moveTo>
                  <a:lnTo>
                    <a:pt x="2173948" y="0"/>
                  </a:lnTo>
                  <a:lnTo>
                    <a:pt x="2173948" y="5106"/>
                  </a:lnTo>
                  <a:lnTo>
                    <a:pt x="2169398" y="5106"/>
                  </a:lnTo>
                  <a:lnTo>
                    <a:pt x="2173948" y="10212"/>
                  </a:lnTo>
                  <a:lnTo>
                    <a:pt x="2173948" y="15298"/>
                  </a:lnTo>
                  <a:lnTo>
                    <a:pt x="2233918" y="15298"/>
                  </a:lnTo>
                  <a:lnTo>
                    <a:pt x="2233918" y="0"/>
                  </a:lnTo>
                  <a:close/>
                </a:path>
                <a:path w="3187065" h="15875">
                  <a:moveTo>
                    <a:pt x="2337728" y="0"/>
                  </a:moveTo>
                  <a:lnTo>
                    <a:pt x="2282927" y="0"/>
                  </a:lnTo>
                  <a:lnTo>
                    <a:pt x="2278378" y="5106"/>
                  </a:lnTo>
                  <a:lnTo>
                    <a:pt x="2278378" y="10212"/>
                  </a:lnTo>
                  <a:lnTo>
                    <a:pt x="2282927" y="15298"/>
                  </a:lnTo>
                  <a:lnTo>
                    <a:pt x="2337728" y="15298"/>
                  </a:lnTo>
                  <a:lnTo>
                    <a:pt x="2342897" y="10212"/>
                  </a:lnTo>
                  <a:lnTo>
                    <a:pt x="2342897" y="5106"/>
                  </a:lnTo>
                  <a:lnTo>
                    <a:pt x="2337728" y="0"/>
                  </a:lnTo>
                  <a:close/>
                </a:path>
                <a:path w="3187065" h="15875">
                  <a:moveTo>
                    <a:pt x="2446914" y="0"/>
                  </a:moveTo>
                  <a:lnTo>
                    <a:pt x="2392734" y="0"/>
                  </a:lnTo>
                  <a:lnTo>
                    <a:pt x="2387565" y="5106"/>
                  </a:lnTo>
                  <a:lnTo>
                    <a:pt x="2387565" y="10212"/>
                  </a:lnTo>
                  <a:lnTo>
                    <a:pt x="2392734" y="15298"/>
                  </a:lnTo>
                  <a:lnTo>
                    <a:pt x="2446914" y="15298"/>
                  </a:lnTo>
                  <a:lnTo>
                    <a:pt x="2452084" y="10212"/>
                  </a:lnTo>
                  <a:lnTo>
                    <a:pt x="2452084" y="5106"/>
                  </a:lnTo>
                  <a:lnTo>
                    <a:pt x="2446914" y="0"/>
                  </a:lnTo>
                  <a:close/>
                </a:path>
                <a:path w="3187065" h="15875">
                  <a:moveTo>
                    <a:pt x="2556100" y="0"/>
                  </a:moveTo>
                  <a:lnTo>
                    <a:pt x="2501714" y="0"/>
                  </a:lnTo>
                  <a:lnTo>
                    <a:pt x="2496544" y="5106"/>
                  </a:lnTo>
                  <a:lnTo>
                    <a:pt x="2496544" y="10212"/>
                  </a:lnTo>
                  <a:lnTo>
                    <a:pt x="2501714" y="15298"/>
                  </a:lnTo>
                  <a:lnTo>
                    <a:pt x="2556100" y="15298"/>
                  </a:lnTo>
                  <a:lnTo>
                    <a:pt x="2556100" y="10212"/>
                  </a:lnTo>
                  <a:lnTo>
                    <a:pt x="2561063" y="5106"/>
                  </a:lnTo>
                  <a:lnTo>
                    <a:pt x="2556100" y="5106"/>
                  </a:lnTo>
                  <a:lnTo>
                    <a:pt x="2556100" y="0"/>
                  </a:lnTo>
                  <a:close/>
                </a:path>
                <a:path w="3187065" h="15875">
                  <a:moveTo>
                    <a:pt x="2665701" y="0"/>
                  </a:moveTo>
                  <a:lnTo>
                    <a:pt x="2605731" y="0"/>
                  </a:lnTo>
                  <a:lnTo>
                    <a:pt x="2605731" y="15298"/>
                  </a:lnTo>
                  <a:lnTo>
                    <a:pt x="2665701" y="15298"/>
                  </a:lnTo>
                  <a:lnTo>
                    <a:pt x="2665701" y="0"/>
                  </a:lnTo>
                  <a:close/>
                </a:path>
                <a:path w="3187065" h="15875">
                  <a:moveTo>
                    <a:pt x="2774680" y="0"/>
                  </a:moveTo>
                  <a:lnTo>
                    <a:pt x="2714917" y="0"/>
                  </a:lnTo>
                  <a:lnTo>
                    <a:pt x="2714917" y="15298"/>
                  </a:lnTo>
                  <a:lnTo>
                    <a:pt x="2774680" y="15298"/>
                  </a:lnTo>
                  <a:lnTo>
                    <a:pt x="2774680" y="0"/>
                  </a:lnTo>
                  <a:close/>
                </a:path>
                <a:path w="3187065" h="15875">
                  <a:moveTo>
                    <a:pt x="2883867" y="0"/>
                  </a:moveTo>
                  <a:lnTo>
                    <a:pt x="2824517" y="0"/>
                  </a:lnTo>
                  <a:lnTo>
                    <a:pt x="2824517" y="15298"/>
                  </a:lnTo>
                  <a:lnTo>
                    <a:pt x="2883867" y="15298"/>
                  </a:lnTo>
                  <a:lnTo>
                    <a:pt x="2883867" y="0"/>
                  </a:lnTo>
                  <a:close/>
                </a:path>
                <a:path w="3187065" h="15875">
                  <a:moveTo>
                    <a:pt x="2993053" y="0"/>
                  </a:moveTo>
                  <a:lnTo>
                    <a:pt x="2933497" y="0"/>
                  </a:lnTo>
                  <a:lnTo>
                    <a:pt x="2933497" y="15298"/>
                  </a:lnTo>
                  <a:lnTo>
                    <a:pt x="2993053" y="15298"/>
                  </a:lnTo>
                  <a:lnTo>
                    <a:pt x="2993053" y="0"/>
                  </a:lnTo>
                  <a:close/>
                </a:path>
                <a:path w="3187065" h="15875">
                  <a:moveTo>
                    <a:pt x="3102033" y="0"/>
                  </a:moveTo>
                  <a:lnTo>
                    <a:pt x="3042683" y="0"/>
                  </a:lnTo>
                  <a:lnTo>
                    <a:pt x="3042683" y="5106"/>
                  </a:lnTo>
                  <a:lnTo>
                    <a:pt x="3037514" y="5106"/>
                  </a:lnTo>
                  <a:lnTo>
                    <a:pt x="3042683" y="10212"/>
                  </a:lnTo>
                  <a:lnTo>
                    <a:pt x="3042683" y="15298"/>
                  </a:lnTo>
                  <a:lnTo>
                    <a:pt x="3102033" y="15298"/>
                  </a:lnTo>
                  <a:lnTo>
                    <a:pt x="3102033" y="0"/>
                  </a:lnTo>
                  <a:close/>
                </a:path>
                <a:path w="3187065" h="15875">
                  <a:moveTo>
                    <a:pt x="3181441" y="0"/>
                  </a:moveTo>
                  <a:lnTo>
                    <a:pt x="3151663" y="0"/>
                  </a:lnTo>
                  <a:lnTo>
                    <a:pt x="3147114" y="5106"/>
                  </a:lnTo>
                  <a:lnTo>
                    <a:pt x="3147114" y="10212"/>
                  </a:lnTo>
                  <a:lnTo>
                    <a:pt x="3151663" y="15298"/>
                  </a:lnTo>
                  <a:lnTo>
                    <a:pt x="3181441" y="15298"/>
                  </a:lnTo>
                  <a:lnTo>
                    <a:pt x="3186611" y="10212"/>
                  </a:lnTo>
                  <a:lnTo>
                    <a:pt x="3186611" y="5106"/>
                  </a:lnTo>
                  <a:lnTo>
                    <a:pt x="31814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64997" y="3833867"/>
              <a:ext cx="3187065" cy="15875"/>
            </a:xfrm>
            <a:custGeom>
              <a:avLst/>
              <a:gdLst/>
              <a:ahLst/>
              <a:cxnLst/>
              <a:rect l="l" t="t" r="r" b="b"/>
              <a:pathLst>
                <a:path w="3187065" h="15875">
                  <a:moveTo>
                    <a:pt x="9719" y="0"/>
                  </a:moveTo>
                  <a:lnTo>
                    <a:pt x="54283" y="0"/>
                  </a:lnTo>
                  <a:lnTo>
                    <a:pt x="59411" y="0"/>
                  </a:lnTo>
                  <a:lnTo>
                    <a:pt x="59411" y="5106"/>
                  </a:lnTo>
                  <a:lnTo>
                    <a:pt x="59411" y="10212"/>
                  </a:lnTo>
                  <a:lnTo>
                    <a:pt x="59411" y="15298"/>
                  </a:lnTo>
                  <a:lnTo>
                    <a:pt x="54283" y="15298"/>
                  </a:lnTo>
                  <a:lnTo>
                    <a:pt x="9719" y="15298"/>
                  </a:lnTo>
                  <a:lnTo>
                    <a:pt x="4611" y="15298"/>
                  </a:lnTo>
                  <a:lnTo>
                    <a:pt x="0" y="15298"/>
                  </a:lnTo>
                  <a:lnTo>
                    <a:pt x="0" y="10212"/>
                  </a:lnTo>
                  <a:lnTo>
                    <a:pt x="0" y="5106"/>
                  </a:lnTo>
                  <a:lnTo>
                    <a:pt x="0" y="0"/>
                  </a:lnTo>
                  <a:lnTo>
                    <a:pt x="9719" y="0"/>
                  </a:lnTo>
                  <a:close/>
                </a:path>
                <a:path w="3187065" h="15875">
                  <a:moveTo>
                    <a:pt x="114232" y="0"/>
                  </a:moveTo>
                  <a:lnTo>
                    <a:pt x="163903" y="0"/>
                  </a:lnTo>
                  <a:lnTo>
                    <a:pt x="168515" y="0"/>
                  </a:lnTo>
                  <a:lnTo>
                    <a:pt x="168515" y="5106"/>
                  </a:lnTo>
                  <a:lnTo>
                    <a:pt x="168515" y="10212"/>
                  </a:lnTo>
                  <a:lnTo>
                    <a:pt x="168515" y="15298"/>
                  </a:lnTo>
                  <a:lnTo>
                    <a:pt x="109103" y="15298"/>
                  </a:lnTo>
                  <a:lnTo>
                    <a:pt x="109103" y="10212"/>
                  </a:lnTo>
                  <a:lnTo>
                    <a:pt x="109103" y="5106"/>
                  </a:lnTo>
                  <a:lnTo>
                    <a:pt x="109103" y="0"/>
                  </a:lnTo>
                  <a:lnTo>
                    <a:pt x="114232" y="0"/>
                  </a:lnTo>
                  <a:close/>
                </a:path>
                <a:path w="3187065" h="15875">
                  <a:moveTo>
                    <a:pt x="223335" y="0"/>
                  </a:moveTo>
                  <a:lnTo>
                    <a:pt x="273007" y="0"/>
                  </a:lnTo>
                  <a:lnTo>
                    <a:pt x="277619" y="0"/>
                  </a:lnTo>
                  <a:lnTo>
                    <a:pt x="277619" y="5106"/>
                  </a:lnTo>
                  <a:lnTo>
                    <a:pt x="277619" y="10212"/>
                  </a:lnTo>
                  <a:lnTo>
                    <a:pt x="277619" y="15298"/>
                  </a:lnTo>
                  <a:lnTo>
                    <a:pt x="218207" y="15298"/>
                  </a:lnTo>
                  <a:lnTo>
                    <a:pt x="218207" y="10212"/>
                  </a:lnTo>
                  <a:lnTo>
                    <a:pt x="218207" y="5106"/>
                  </a:lnTo>
                  <a:lnTo>
                    <a:pt x="218207" y="0"/>
                  </a:lnTo>
                  <a:lnTo>
                    <a:pt x="223335" y="0"/>
                  </a:lnTo>
                  <a:close/>
                </a:path>
                <a:path w="3187065" h="15875">
                  <a:moveTo>
                    <a:pt x="332439" y="0"/>
                  </a:moveTo>
                  <a:lnTo>
                    <a:pt x="382111" y="0"/>
                  </a:lnTo>
                  <a:lnTo>
                    <a:pt x="387239" y="0"/>
                  </a:lnTo>
                  <a:lnTo>
                    <a:pt x="387239" y="5106"/>
                  </a:lnTo>
                  <a:lnTo>
                    <a:pt x="387239" y="10212"/>
                  </a:lnTo>
                  <a:lnTo>
                    <a:pt x="387239" y="15298"/>
                  </a:lnTo>
                  <a:lnTo>
                    <a:pt x="327311" y="15298"/>
                  </a:lnTo>
                  <a:lnTo>
                    <a:pt x="327311" y="10212"/>
                  </a:lnTo>
                  <a:lnTo>
                    <a:pt x="327311" y="5106"/>
                  </a:lnTo>
                  <a:lnTo>
                    <a:pt x="327311" y="0"/>
                  </a:lnTo>
                  <a:lnTo>
                    <a:pt x="332439" y="0"/>
                  </a:lnTo>
                  <a:close/>
                </a:path>
                <a:path w="3187065" h="15875">
                  <a:moveTo>
                    <a:pt x="441543" y="0"/>
                  </a:moveTo>
                  <a:lnTo>
                    <a:pt x="486107" y="0"/>
                  </a:lnTo>
                  <a:lnTo>
                    <a:pt x="496343" y="0"/>
                  </a:lnTo>
                  <a:lnTo>
                    <a:pt x="496343" y="5106"/>
                  </a:lnTo>
                  <a:lnTo>
                    <a:pt x="496343" y="10212"/>
                  </a:lnTo>
                  <a:lnTo>
                    <a:pt x="496343" y="15298"/>
                  </a:lnTo>
                  <a:lnTo>
                    <a:pt x="491235" y="15298"/>
                  </a:lnTo>
                  <a:lnTo>
                    <a:pt x="486107" y="15298"/>
                  </a:lnTo>
                  <a:lnTo>
                    <a:pt x="441543" y="15298"/>
                  </a:lnTo>
                  <a:lnTo>
                    <a:pt x="436932" y="15298"/>
                  </a:lnTo>
                  <a:lnTo>
                    <a:pt x="436932" y="10212"/>
                  </a:lnTo>
                  <a:lnTo>
                    <a:pt x="431803" y="5106"/>
                  </a:lnTo>
                  <a:lnTo>
                    <a:pt x="436932" y="5106"/>
                  </a:lnTo>
                  <a:lnTo>
                    <a:pt x="436932" y="0"/>
                  </a:lnTo>
                  <a:lnTo>
                    <a:pt x="441543" y="0"/>
                  </a:lnTo>
                  <a:close/>
                </a:path>
                <a:path w="3187065" h="15875">
                  <a:moveTo>
                    <a:pt x="550647" y="0"/>
                  </a:moveTo>
                  <a:lnTo>
                    <a:pt x="595728" y="0"/>
                  </a:lnTo>
                  <a:lnTo>
                    <a:pt x="600339" y="0"/>
                  </a:lnTo>
                  <a:lnTo>
                    <a:pt x="605447" y="5106"/>
                  </a:lnTo>
                  <a:lnTo>
                    <a:pt x="605447" y="10212"/>
                  </a:lnTo>
                  <a:lnTo>
                    <a:pt x="600339" y="15298"/>
                  </a:lnTo>
                  <a:lnTo>
                    <a:pt x="595728" y="15298"/>
                  </a:lnTo>
                  <a:lnTo>
                    <a:pt x="550647" y="15298"/>
                  </a:lnTo>
                  <a:lnTo>
                    <a:pt x="546035" y="15298"/>
                  </a:lnTo>
                  <a:lnTo>
                    <a:pt x="540907" y="10212"/>
                  </a:lnTo>
                  <a:lnTo>
                    <a:pt x="540907" y="5106"/>
                  </a:lnTo>
                  <a:lnTo>
                    <a:pt x="546035" y="0"/>
                  </a:lnTo>
                  <a:lnTo>
                    <a:pt x="550647" y="0"/>
                  </a:lnTo>
                  <a:close/>
                </a:path>
                <a:path w="3187065" h="15875">
                  <a:moveTo>
                    <a:pt x="660268" y="0"/>
                  </a:moveTo>
                  <a:lnTo>
                    <a:pt x="704831" y="0"/>
                  </a:lnTo>
                  <a:lnTo>
                    <a:pt x="709939" y="0"/>
                  </a:lnTo>
                  <a:lnTo>
                    <a:pt x="714551" y="5106"/>
                  </a:lnTo>
                  <a:lnTo>
                    <a:pt x="714551" y="10212"/>
                  </a:lnTo>
                  <a:lnTo>
                    <a:pt x="709939" y="15298"/>
                  </a:lnTo>
                  <a:lnTo>
                    <a:pt x="704831" y="15298"/>
                  </a:lnTo>
                  <a:lnTo>
                    <a:pt x="660268" y="15298"/>
                  </a:lnTo>
                  <a:lnTo>
                    <a:pt x="655139" y="15298"/>
                  </a:lnTo>
                  <a:lnTo>
                    <a:pt x="650011" y="10212"/>
                  </a:lnTo>
                  <a:lnTo>
                    <a:pt x="650011" y="5106"/>
                  </a:lnTo>
                  <a:lnTo>
                    <a:pt x="655139" y="0"/>
                  </a:lnTo>
                  <a:lnTo>
                    <a:pt x="660268" y="0"/>
                  </a:lnTo>
                  <a:close/>
                </a:path>
                <a:path w="3187065" h="15875">
                  <a:moveTo>
                    <a:pt x="769371" y="0"/>
                  </a:moveTo>
                  <a:lnTo>
                    <a:pt x="813935" y="0"/>
                  </a:lnTo>
                  <a:lnTo>
                    <a:pt x="819064" y="0"/>
                  </a:lnTo>
                  <a:lnTo>
                    <a:pt x="819064" y="5106"/>
                  </a:lnTo>
                  <a:lnTo>
                    <a:pt x="823675" y="5106"/>
                  </a:lnTo>
                  <a:lnTo>
                    <a:pt x="819064" y="10212"/>
                  </a:lnTo>
                  <a:lnTo>
                    <a:pt x="819064" y="15298"/>
                  </a:lnTo>
                  <a:lnTo>
                    <a:pt x="813935" y="15298"/>
                  </a:lnTo>
                  <a:lnTo>
                    <a:pt x="769371" y="15298"/>
                  </a:lnTo>
                  <a:lnTo>
                    <a:pt x="764243" y="15298"/>
                  </a:lnTo>
                  <a:lnTo>
                    <a:pt x="759114" y="10212"/>
                  </a:lnTo>
                  <a:lnTo>
                    <a:pt x="759114" y="5106"/>
                  </a:lnTo>
                  <a:lnTo>
                    <a:pt x="764243" y="0"/>
                  </a:lnTo>
                  <a:lnTo>
                    <a:pt x="769371" y="0"/>
                  </a:lnTo>
                  <a:close/>
                </a:path>
                <a:path w="3187065" h="15875">
                  <a:moveTo>
                    <a:pt x="878392" y="0"/>
                  </a:moveTo>
                  <a:lnTo>
                    <a:pt x="923060" y="0"/>
                  </a:lnTo>
                  <a:lnTo>
                    <a:pt x="928229" y="0"/>
                  </a:lnTo>
                  <a:lnTo>
                    <a:pt x="928229" y="5106"/>
                  </a:lnTo>
                  <a:lnTo>
                    <a:pt x="928229" y="10212"/>
                  </a:lnTo>
                  <a:lnTo>
                    <a:pt x="928229" y="15298"/>
                  </a:lnTo>
                  <a:lnTo>
                    <a:pt x="923060" y="15298"/>
                  </a:lnTo>
                  <a:lnTo>
                    <a:pt x="878392" y="15298"/>
                  </a:lnTo>
                  <a:lnTo>
                    <a:pt x="873429" y="15298"/>
                  </a:lnTo>
                  <a:lnTo>
                    <a:pt x="868673" y="15298"/>
                  </a:lnTo>
                  <a:lnTo>
                    <a:pt x="868673" y="10212"/>
                  </a:lnTo>
                  <a:lnTo>
                    <a:pt x="868673" y="5106"/>
                  </a:lnTo>
                  <a:lnTo>
                    <a:pt x="868673" y="0"/>
                  </a:lnTo>
                  <a:lnTo>
                    <a:pt x="878392" y="0"/>
                  </a:lnTo>
                  <a:close/>
                </a:path>
                <a:path w="3187065" h="15875">
                  <a:moveTo>
                    <a:pt x="983029" y="0"/>
                  </a:moveTo>
                  <a:lnTo>
                    <a:pt x="1032246" y="0"/>
                  </a:lnTo>
                  <a:lnTo>
                    <a:pt x="1037209" y="0"/>
                  </a:lnTo>
                  <a:lnTo>
                    <a:pt x="1037209" y="5106"/>
                  </a:lnTo>
                  <a:lnTo>
                    <a:pt x="1037209" y="10212"/>
                  </a:lnTo>
                  <a:lnTo>
                    <a:pt x="1037209" y="15298"/>
                  </a:lnTo>
                  <a:lnTo>
                    <a:pt x="977860" y="15298"/>
                  </a:lnTo>
                  <a:lnTo>
                    <a:pt x="977860" y="10212"/>
                  </a:lnTo>
                  <a:lnTo>
                    <a:pt x="977860" y="5106"/>
                  </a:lnTo>
                  <a:lnTo>
                    <a:pt x="977860" y="0"/>
                  </a:lnTo>
                  <a:lnTo>
                    <a:pt x="983029" y="0"/>
                  </a:lnTo>
                  <a:close/>
                </a:path>
                <a:path w="3187065" h="15875">
                  <a:moveTo>
                    <a:pt x="1092009" y="0"/>
                  </a:moveTo>
                  <a:lnTo>
                    <a:pt x="1141846" y="0"/>
                  </a:lnTo>
                  <a:lnTo>
                    <a:pt x="1146396" y="0"/>
                  </a:lnTo>
                  <a:lnTo>
                    <a:pt x="1146396" y="5106"/>
                  </a:lnTo>
                  <a:lnTo>
                    <a:pt x="1146396" y="10212"/>
                  </a:lnTo>
                  <a:lnTo>
                    <a:pt x="1146396" y="15298"/>
                  </a:lnTo>
                  <a:lnTo>
                    <a:pt x="1087046" y="15298"/>
                  </a:lnTo>
                  <a:lnTo>
                    <a:pt x="1087046" y="10212"/>
                  </a:lnTo>
                  <a:lnTo>
                    <a:pt x="1087046" y="5106"/>
                  </a:lnTo>
                  <a:lnTo>
                    <a:pt x="1087046" y="0"/>
                  </a:lnTo>
                  <a:lnTo>
                    <a:pt x="1092009" y="0"/>
                  </a:lnTo>
                  <a:close/>
                </a:path>
                <a:path w="3187065" h="15875">
                  <a:moveTo>
                    <a:pt x="1201196" y="0"/>
                  </a:moveTo>
                  <a:lnTo>
                    <a:pt x="1250826" y="0"/>
                  </a:lnTo>
                  <a:lnTo>
                    <a:pt x="1255375" y="0"/>
                  </a:lnTo>
                  <a:lnTo>
                    <a:pt x="1255375" y="5106"/>
                  </a:lnTo>
                  <a:lnTo>
                    <a:pt x="1255375" y="10212"/>
                  </a:lnTo>
                  <a:lnTo>
                    <a:pt x="1255375" y="15298"/>
                  </a:lnTo>
                  <a:lnTo>
                    <a:pt x="1196026" y="15298"/>
                  </a:lnTo>
                  <a:lnTo>
                    <a:pt x="1196026" y="10212"/>
                  </a:lnTo>
                  <a:lnTo>
                    <a:pt x="1196026" y="5106"/>
                  </a:lnTo>
                  <a:lnTo>
                    <a:pt x="1196026" y="0"/>
                  </a:lnTo>
                  <a:lnTo>
                    <a:pt x="1201196" y="0"/>
                  </a:lnTo>
                  <a:close/>
                </a:path>
                <a:path w="3187065" h="15875">
                  <a:moveTo>
                    <a:pt x="1310382" y="0"/>
                  </a:moveTo>
                  <a:lnTo>
                    <a:pt x="1354842" y="0"/>
                  </a:lnTo>
                  <a:lnTo>
                    <a:pt x="1365182" y="0"/>
                  </a:lnTo>
                  <a:lnTo>
                    <a:pt x="1365182" y="5106"/>
                  </a:lnTo>
                  <a:lnTo>
                    <a:pt x="1365182" y="10212"/>
                  </a:lnTo>
                  <a:lnTo>
                    <a:pt x="1365182" y="15298"/>
                  </a:lnTo>
                  <a:lnTo>
                    <a:pt x="1360012" y="15298"/>
                  </a:lnTo>
                  <a:lnTo>
                    <a:pt x="1354842" y="15298"/>
                  </a:lnTo>
                  <a:lnTo>
                    <a:pt x="1310382" y="15298"/>
                  </a:lnTo>
                  <a:lnTo>
                    <a:pt x="1305212" y="15298"/>
                  </a:lnTo>
                  <a:lnTo>
                    <a:pt x="1305212" y="10212"/>
                  </a:lnTo>
                  <a:lnTo>
                    <a:pt x="1300456" y="5106"/>
                  </a:lnTo>
                  <a:lnTo>
                    <a:pt x="1305212" y="5106"/>
                  </a:lnTo>
                  <a:lnTo>
                    <a:pt x="1305212" y="0"/>
                  </a:lnTo>
                  <a:lnTo>
                    <a:pt x="1310382" y="0"/>
                  </a:lnTo>
                  <a:close/>
                </a:path>
                <a:path w="3187065" h="15875">
                  <a:moveTo>
                    <a:pt x="1419362" y="0"/>
                  </a:moveTo>
                  <a:lnTo>
                    <a:pt x="1464029" y="0"/>
                  </a:lnTo>
                  <a:lnTo>
                    <a:pt x="1468992" y="0"/>
                  </a:lnTo>
                  <a:lnTo>
                    <a:pt x="1474162" y="5106"/>
                  </a:lnTo>
                  <a:lnTo>
                    <a:pt x="1474162" y="10212"/>
                  </a:lnTo>
                  <a:lnTo>
                    <a:pt x="1468992" y="15298"/>
                  </a:lnTo>
                  <a:lnTo>
                    <a:pt x="1464029" y="15298"/>
                  </a:lnTo>
                  <a:lnTo>
                    <a:pt x="1419362" y="15298"/>
                  </a:lnTo>
                  <a:lnTo>
                    <a:pt x="1414812" y="15298"/>
                  </a:lnTo>
                  <a:lnTo>
                    <a:pt x="1409642" y="10212"/>
                  </a:lnTo>
                  <a:lnTo>
                    <a:pt x="1409642" y="5106"/>
                  </a:lnTo>
                  <a:lnTo>
                    <a:pt x="1414812" y="0"/>
                  </a:lnTo>
                  <a:lnTo>
                    <a:pt x="1419362" y="0"/>
                  </a:lnTo>
                  <a:close/>
                </a:path>
                <a:path w="3187065" h="15875">
                  <a:moveTo>
                    <a:pt x="1528548" y="0"/>
                  </a:moveTo>
                  <a:lnTo>
                    <a:pt x="1573629" y="0"/>
                  </a:lnTo>
                  <a:lnTo>
                    <a:pt x="1578178" y="0"/>
                  </a:lnTo>
                  <a:lnTo>
                    <a:pt x="1583348" y="5106"/>
                  </a:lnTo>
                  <a:lnTo>
                    <a:pt x="1583348" y="10212"/>
                  </a:lnTo>
                  <a:lnTo>
                    <a:pt x="1578178" y="15298"/>
                  </a:lnTo>
                  <a:lnTo>
                    <a:pt x="1573629" y="15298"/>
                  </a:lnTo>
                  <a:lnTo>
                    <a:pt x="1528548" y="15298"/>
                  </a:lnTo>
                  <a:lnTo>
                    <a:pt x="1523792" y="15298"/>
                  </a:lnTo>
                  <a:lnTo>
                    <a:pt x="1518829" y="10212"/>
                  </a:lnTo>
                  <a:lnTo>
                    <a:pt x="1518829" y="5106"/>
                  </a:lnTo>
                  <a:lnTo>
                    <a:pt x="1523792" y="0"/>
                  </a:lnTo>
                  <a:lnTo>
                    <a:pt x="1528548" y="0"/>
                  </a:lnTo>
                  <a:close/>
                </a:path>
                <a:path w="3187065" h="15875">
                  <a:moveTo>
                    <a:pt x="1638148" y="0"/>
                  </a:moveTo>
                  <a:lnTo>
                    <a:pt x="1682609" y="0"/>
                  </a:lnTo>
                  <a:lnTo>
                    <a:pt x="1687778" y="0"/>
                  </a:lnTo>
                  <a:lnTo>
                    <a:pt x="1687779" y="5106"/>
                  </a:lnTo>
                  <a:lnTo>
                    <a:pt x="1692328" y="5106"/>
                  </a:lnTo>
                  <a:lnTo>
                    <a:pt x="1687779" y="10212"/>
                  </a:lnTo>
                  <a:lnTo>
                    <a:pt x="1687779" y="15298"/>
                  </a:lnTo>
                  <a:lnTo>
                    <a:pt x="1682609" y="15298"/>
                  </a:lnTo>
                  <a:lnTo>
                    <a:pt x="1638148" y="15298"/>
                  </a:lnTo>
                  <a:lnTo>
                    <a:pt x="1632978" y="15298"/>
                  </a:lnTo>
                  <a:lnTo>
                    <a:pt x="1627809" y="10212"/>
                  </a:lnTo>
                  <a:lnTo>
                    <a:pt x="1627809" y="5106"/>
                  </a:lnTo>
                  <a:lnTo>
                    <a:pt x="1632978" y="0"/>
                  </a:lnTo>
                  <a:lnTo>
                    <a:pt x="1638148" y="0"/>
                  </a:lnTo>
                  <a:close/>
                </a:path>
                <a:path w="3187065" h="15875">
                  <a:moveTo>
                    <a:pt x="1747128" y="0"/>
                  </a:moveTo>
                  <a:lnTo>
                    <a:pt x="1791795" y="0"/>
                  </a:lnTo>
                  <a:lnTo>
                    <a:pt x="1796965" y="0"/>
                  </a:lnTo>
                  <a:lnTo>
                    <a:pt x="1796965" y="5106"/>
                  </a:lnTo>
                  <a:lnTo>
                    <a:pt x="1796965" y="10212"/>
                  </a:lnTo>
                  <a:lnTo>
                    <a:pt x="1796965" y="15298"/>
                  </a:lnTo>
                  <a:lnTo>
                    <a:pt x="1791795" y="15298"/>
                  </a:lnTo>
                  <a:lnTo>
                    <a:pt x="1747128" y="15298"/>
                  </a:lnTo>
                  <a:lnTo>
                    <a:pt x="1742165" y="15298"/>
                  </a:lnTo>
                  <a:lnTo>
                    <a:pt x="1736995" y="15298"/>
                  </a:lnTo>
                  <a:lnTo>
                    <a:pt x="1736995" y="10212"/>
                  </a:lnTo>
                  <a:lnTo>
                    <a:pt x="1736995" y="5106"/>
                  </a:lnTo>
                  <a:lnTo>
                    <a:pt x="1736995" y="0"/>
                  </a:lnTo>
                  <a:lnTo>
                    <a:pt x="1747128" y="0"/>
                  </a:lnTo>
                  <a:close/>
                </a:path>
                <a:path w="3187065" h="15875">
                  <a:moveTo>
                    <a:pt x="1851145" y="0"/>
                  </a:moveTo>
                  <a:lnTo>
                    <a:pt x="1900982" y="0"/>
                  </a:lnTo>
                  <a:lnTo>
                    <a:pt x="1905945" y="0"/>
                  </a:lnTo>
                  <a:lnTo>
                    <a:pt x="1905945" y="5106"/>
                  </a:lnTo>
                  <a:lnTo>
                    <a:pt x="1905945" y="10212"/>
                  </a:lnTo>
                  <a:lnTo>
                    <a:pt x="1905945" y="15298"/>
                  </a:lnTo>
                  <a:lnTo>
                    <a:pt x="1846595" y="15298"/>
                  </a:lnTo>
                  <a:lnTo>
                    <a:pt x="1846595" y="10212"/>
                  </a:lnTo>
                  <a:lnTo>
                    <a:pt x="1846595" y="5106"/>
                  </a:lnTo>
                  <a:lnTo>
                    <a:pt x="1846595" y="0"/>
                  </a:lnTo>
                  <a:lnTo>
                    <a:pt x="1851145" y="0"/>
                  </a:lnTo>
                  <a:close/>
                </a:path>
                <a:path w="3187065" h="15875">
                  <a:moveTo>
                    <a:pt x="1960745" y="0"/>
                  </a:moveTo>
                  <a:lnTo>
                    <a:pt x="2009961" y="0"/>
                  </a:lnTo>
                  <a:lnTo>
                    <a:pt x="2015131" y="0"/>
                  </a:lnTo>
                  <a:lnTo>
                    <a:pt x="2015131" y="5106"/>
                  </a:lnTo>
                  <a:lnTo>
                    <a:pt x="2015131" y="10212"/>
                  </a:lnTo>
                  <a:lnTo>
                    <a:pt x="2015131" y="15298"/>
                  </a:lnTo>
                  <a:lnTo>
                    <a:pt x="1955782" y="15298"/>
                  </a:lnTo>
                  <a:lnTo>
                    <a:pt x="1955782" y="10212"/>
                  </a:lnTo>
                  <a:lnTo>
                    <a:pt x="1955782" y="5106"/>
                  </a:lnTo>
                  <a:lnTo>
                    <a:pt x="1955782" y="0"/>
                  </a:lnTo>
                  <a:lnTo>
                    <a:pt x="1960745" y="0"/>
                  </a:lnTo>
                  <a:close/>
                </a:path>
                <a:path w="3187065" h="15875">
                  <a:moveTo>
                    <a:pt x="2069931" y="0"/>
                  </a:moveTo>
                  <a:lnTo>
                    <a:pt x="2119561" y="0"/>
                  </a:lnTo>
                  <a:lnTo>
                    <a:pt x="2124318" y="0"/>
                  </a:lnTo>
                  <a:lnTo>
                    <a:pt x="2124318" y="5106"/>
                  </a:lnTo>
                  <a:lnTo>
                    <a:pt x="2124318" y="10212"/>
                  </a:lnTo>
                  <a:lnTo>
                    <a:pt x="2124318" y="15298"/>
                  </a:lnTo>
                  <a:lnTo>
                    <a:pt x="2064761" y="15298"/>
                  </a:lnTo>
                  <a:lnTo>
                    <a:pt x="2064761" y="10212"/>
                  </a:lnTo>
                  <a:lnTo>
                    <a:pt x="2064761" y="5106"/>
                  </a:lnTo>
                  <a:lnTo>
                    <a:pt x="2064761" y="0"/>
                  </a:lnTo>
                  <a:lnTo>
                    <a:pt x="2069931" y="0"/>
                  </a:lnTo>
                  <a:close/>
                </a:path>
                <a:path w="3187065" h="15875">
                  <a:moveTo>
                    <a:pt x="2179118" y="0"/>
                  </a:moveTo>
                  <a:lnTo>
                    <a:pt x="2223578" y="0"/>
                  </a:lnTo>
                  <a:lnTo>
                    <a:pt x="2233918" y="0"/>
                  </a:lnTo>
                  <a:lnTo>
                    <a:pt x="2233918" y="5106"/>
                  </a:lnTo>
                  <a:lnTo>
                    <a:pt x="2233918" y="10212"/>
                  </a:lnTo>
                  <a:lnTo>
                    <a:pt x="2233918" y="15298"/>
                  </a:lnTo>
                  <a:lnTo>
                    <a:pt x="2228748" y="15298"/>
                  </a:lnTo>
                  <a:lnTo>
                    <a:pt x="2223578" y="15298"/>
                  </a:lnTo>
                  <a:lnTo>
                    <a:pt x="2179118" y="15298"/>
                  </a:lnTo>
                  <a:lnTo>
                    <a:pt x="2173948" y="15298"/>
                  </a:lnTo>
                  <a:lnTo>
                    <a:pt x="2173948" y="10212"/>
                  </a:lnTo>
                  <a:lnTo>
                    <a:pt x="2169398" y="5106"/>
                  </a:lnTo>
                  <a:lnTo>
                    <a:pt x="2173948" y="5106"/>
                  </a:lnTo>
                  <a:lnTo>
                    <a:pt x="2173948" y="0"/>
                  </a:lnTo>
                  <a:lnTo>
                    <a:pt x="2179118" y="0"/>
                  </a:lnTo>
                  <a:close/>
                </a:path>
                <a:path w="3187065" h="15875">
                  <a:moveTo>
                    <a:pt x="2288097" y="0"/>
                  </a:moveTo>
                  <a:lnTo>
                    <a:pt x="2332765" y="0"/>
                  </a:lnTo>
                  <a:lnTo>
                    <a:pt x="2337728" y="0"/>
                  </a:lnTo>
                  <a:lnTo>
                    <a:pt x="2342897" y="5106"/>
                  </a:lnTo>
                  <a:lnTo>
                    <a:pt x="2342897" y="10212"/>
                  </a:lnTo>
                  <a:lnTo>
                    <a:pt x="2337728" y="15298"/>
                  </a:lnTo>
                  <a:lnTo>
                    <a:pt x="2332765" y="15298"/>
                  </a:lnTo>
                  <a:lnTo>
                    <a:pt x="2288097" y="15298"/>
                  </a:lnTo>
                  <a:lnTo>
                    <a:pt x="2282928" y="15298"/>
                  </a:lnTo>
                  <a:lnTo>
                    <a:pt x="2278378" y="10212"/>
                  </a:lnTo>
                  <a:lnTo>
                    <a:pt x="2278378" y="5106"/>
                  </a:lnTo>
                  <a:lnTo>
                    <a:pt x="2282928" y="0"/>
                  </a:lnTo>
                  <a:lnTo>
                    <a:pt x="2288097" y="0"/>
                  </a:lnTo>
                  <a:close/>
                </a:path>
                <a:path w="3187065" h="15875">
                  <a:moveTo>
                    <a:pt x="2397284" y="0"/>
                  </a:moveTo>
                  <a:lnTo>
                    <a:pt x="2442365" y="0"/>
                  </a:lnTo>
                  <a:lnTo>
                    <a:pt x="2446914" y="0"/>
                  </a:lnTo>
                  <a:lnTo>
                    <a:pt x="2452084" y="5106"/>
                  </a:lnTo>
                  <a:lnTo>
                    <a:pt x="2452084" y="10212"/>
                  </a:lnTo>
                  <a:lnTo>
                    <a:pt x="2446914" y="15298"/>
                  </a:lnTo>
                  <a:lnTo>
                    <a:pt x="2442365" y="15298"/>
                  </a:lnTo>
                  <a:lnTo>
                    <a:pt x="2397284" y="15298"/>
                  </a:lnTo>
                  <a:lnTo>
                    <a:pt x="2392734" y="15298"/>
                  </a:lnTo>
                  <a:lnTo>
                    <a:pt x="2387565" y="10212"/>
                  </a:lnTo>
                  <a:lnTo>
                    <a:pt x="2387565" y="5106"/>
                  </a:lnTo>
                  <a:lnTo>
                    <a:pt x="2392734" y="0"/>
                  </a:lnTo>
                  <a:lnTo>
                    <a:pt x="2397284" y="0"/>
                  </a:lnTo>
                  <a:close/>
                </a:path>
                <a:path w="3187065" h="15875">
                  <a:moveTo>
                    <a:pt x="2506264" y="0"/>
                  </a:moveTo>
                  <a:lnTo>
                    <a:pt x="2551344" y="0"/>
                  </a:lnTo>
                  <a:lnTo>
                    <a:pt x="2556101" y="0"/>
                  </a:lnTo>
                  <a:lnTo>
                    <a:pt x="2556101" y="5106"/>
                  </a:lnTo>
                  <a:lnTo>
                    <a:pt x="2561064" y="5106"/>
                  </a:lnTo>
                  <a:lnTo>
                    <a:pt x="2556101" y="10212"/>
                  </a:lnTo>
                  <a:lnTo>
                    <a:pt x="2556101" y="15298"/>
                  </a:lnTo>
                  <a:lnTo>
                    <a:pt x="2551344" y="15298"/>
                  </a:lnTo>
                  <a:lnTo>
                    <a:pt x="2506264" y="15298"/>
                  </a:lnTo>
                  <a:lnTo>
                    <a:pt x="2501714" y="15298"/>
                  </a:lnTo>
                  <a:lnTo>
                    <a:pt x="2496544" y="10212"/>
                  </a:lnTo>
                  <a:lnTo>
                    <a:pt x="2496544" y="5106"/>
                  </a:lnTo>
                  <a:lnTo>
                    <a:pt x="2501714" y="0"/>
                  </a:lnTo>
                  <a:lnTo>
                    <a:pt x="2506264" y="0"/>
                  </a:lnTo>
                  <a:close/>
                </a:path>
                <a:path w="3187065" h="15875">
                  <a:moveTo>
                    <a:pt x="2615864" y="0"/>
                  </a:moveTo>
                  <a:lnTo>
                    <a:pt x="2660531" y="0"/>
                  </a:lnTo>
                  <a:lnTo>
                    <a:pt x="2665701" y="0"/>
                  </a:lnTo>
                  <a:lnTo>
                    <a:pt x="2665701" y="5106"/>
                  </a:lnTo>
                  <a:lnTo>
                    <a:pt x="2665701" y="10212"/>
                  </a:lnTo>
                  <a:lnTo>
                    <a:pt x="2665701" y="15298"/>
                  </a:lnTo>
                  <a:lnTo>
                    <a:pt x="2660531" y="15298"/>
                  </a:lnTo>
                  <a:lnTo>
                    <a:pt x="2615864" y="15298"/>
                  </a:lnTo>
                  <a:lnTo>
                    <a:pt x="2610901" y="15298"/>
                  </a:lnTo>
                  <a:lnTo>
                    <a:pt x="2605731" y="15298"/>
                  </a:lnTo>
                  <a:lnTo>
                    <a:pt x="2605731" y="10212"/>
                  </a:lnTo>
                  <a:lnTo>
                    <a:pt x="2605731" y="5106"/>
                  </a:lnTo>
                  <a:lnTo>
                    <a:pt x="2605731" y="0"/>
                  </a:lnTo>
                  <a:lnTo>
                    <a:pt x="2615864" y="0"/>
                  </a:lnTo>
                  <a:close/>
                </a:path>
                <a:path w="3187065" h="15875">
                  <a:moveTo>
                    <a:pt x="2719880" y="0"/>
                  </a:moveTo>
                  <a:lnTo>
                    <a:pt x="2769717" y="0"/>
                  </a:lnTo>
                  <a:lnTo>
                    <a:pt x="2774680" y="0"/>
                  </a:lnTo>
                  <a:lnTo>
                    <a:pt x="2774680" y="5106"/>
                  </a:lnTo>
                  <a:lnTo>
                    <a:pt x="2774680" y="10212"/>
                  </a:lnTo>
                  <a:lnTo>
                    <a:pt x="2774680" y="15298"/>
                  </a:lnTo>
                  <a:lnTo>
                    <a:pt x="2714917" y="15298"/>
                  </a:lnTo>
                  <a:lnTo>
                    <a:pt x="2714917" y="10212"/>
                  </a:lnTo>
                  <a:lnTo>
                    <a:pt x="2714917" y="5106"/>
                  </a:lnTo>
                  <a:lnTo>
                    <a:pt x="2714917" y="0"/>
                  </a:lnTo>
                  <a:lnTo>
                    <a:pt x="2719880" y="0"/>
                  </a:lnTo>
                  <a:close/>
                </a:path>
                <a:path w="3187065" h="15875">
                  <a:moveTo>
                    <a:pt x="2829067" y="0"/>
                  </a:moveTo>
                  <a:lnTo>
                    <a:pt x="2878697" y="0"/>
                  </a:lnTo>
                  <a:lnTo>
                    <a:pt x="2883867" y="0"/>
                  </a:lnTo>
                  <a:lnTo>
                    <a:pt x="2883867" y="5106"/>
                  </a:lnTo>
                  <a:lnTo>
                    <a:pt x="2883867" y="10212"/>
                  </a:lnTo>
                  <a:lnTo>
                    <a:pt x="2883867" y="15298"/>
                  </a:lnTo>
                  <a:lnTo>
                    <a:pt x="2824517" y="15298"/>
                  </a:lnTo>
                  <a:lnTo>
                    <a:pt x="2824517" y="10212"/>
                  </a:lnTo>
                  <a:lnTo>
                    <a:pt x="2824517" y="5106"/>
                  </a:lnTo>
                  <a:lnTo>
                    <a:pt x="2824517" y="0"/>
                  </a:lnTo>
                  <a:lnTo>
                    <a:pt x="2829067" y="0"/>
                  </a:lnTo>
                  <a:close/>
                </a:path>
                <a:path w="3187065" h="15875">
                  <a:moveTo>
                    <a:pt x="2938667" y="0"/>
                  </a:moveTo>
                  <a:lnTo>
                    <a:pt x="2987883" y="0"/>
                  </a:lnTo>
                  <a:lnTo>
                    <a:pt x="2993053" y="0"/>
                  </a:lnTo>
                  <a:lnTo>
                    <a:pt x="2993053" y="5106"/>
                  </a:lnTo>
                  <a:lnTo>
                    <a:pt x="2993053" y="10212"/>
                  </a:lnTo>
                  <a:lnTo>
                    <a:pt x="2993053" y="15298"/>
                  </a:lnTo>
                  <a:lnTo>
                    <a:pt x="2933497" y="15298"/>
                  </a:lnTo>
                  <a:lnTo>
                    <a:pt x="2933497" y="10212"/>
                  </a:lnTo>
                  <a:lnTo>
                    <a:pt x="2933497" y="5106"/>
                  </a:lnTo>
                  <a:lnTo>
                    <a:pt x="2933497" y="0"/>
                  </a:lnTo>
                  <a:lnTo>
                    <a:pt x="2938667" y="0"/>
                  </a:lnTo>
                  <a:close/>
                </a:path>
                <a:path w="3187065" h="15875">
                  <a:moveTo>
                    <a:pt x="3047853" y="0"/>
                  </a:moveTo>
                  <a:lnTo>
                    <a:pt x="3092314" y="0"/>
                  </a:lnTo>
                  <a:lnTo>
                    <a:pt x="3102033" y="0"/>
                  </a:lnTo>
                  <a:lnTo>
                    <a:pt x="3102033" y="5106"/>
                  </a:lnTo>
                  <a:lnTo>
                    <a:pt x="3102033" y="10212"/>
                  </a:lnTo>
                  <a:lnTo>
                    <a:pt x="3102033" y="15298"/>
                  </a:lnTo>
                  <a:lnTo>
                    <a:pt x="3097484" y="15298"/>
                  </a:lnTo>
                  <a:lnTo>
                    <a:pt x="3092314" y="15298"/>
                  </a:lnTo>
                  <a:lnTo>
                    <a:pt x="3047853" y="15298"/>
                  </a:lnTo>
                  <a:lnTo>
                    <a:pt x="3042683" y="15298"/>
                  </a:lnTo>
                  <a:lnTo>
                    <a:pt x="3042683" y="10212"/>
                  </a:lnTo>
                  <a:lnTo>
                    <a:pt x="3037514" y="5106"/>
                  </a:lnTo>
                  <a:lnTo>
                    <a:pt x="3042683" y="5106"/>
                  </a:lnTo>
                  <a:lnTo>
                    <a:pt x="3042683" y="0"/>
                  </a:lnTo>
                  <a:lnTo>
                    <a:pt x="3047853" y="0"/>
                  </a:lnTo>
                  <a:close/>
                </a:path>
                <a:path w="3187065" h="15875">
                  <a:moveTo>
                    <a:pt x="3156833" y="0"/>
                  </a:moveTo>
                  <a:lnTo>
                    <a:pt x="3176892" y="0"/>
                  </a:lnTo>
                  <a:lnTo>
                    <a:pt x="3181441" y="0"/>
                  </a:lnTo>
                  <a:lnTo>
                    <a:pt x="3186611" y="5106"/>
                  </a:lnTo>
                  <a:lnTo>
                    <a:pt x="3186611" y="10212"/>
                  </a:lnTo>
                  <a:lnTo>
                    <a:pt x="3181441" y="15298"/>
                  </a:lnTo>
                  <a:lnTo>
                    <a:pt x="3176892" y="15298"/>
                  </a:lnTo>
                  <a:lnTo>
                    <a:pt x="3156833" y="15298"/>
                  </a:lnTo>
                  <a:lnTo>
                    <a:pt x="3151663" y="15298"/>
                  </a:lnTo>
                  <a:lnTo>
                    <a:pt x="3147114" y="10212"/>
                  </a:lnTo>
                  <a:lnTo>
                    <a:pt x="3147114" y="5106"/>
                  </a:lnTo>
                  <a:lnTo>
                    <a:pt x="3151663" y="0"/>
                  </a:lnTo>
                  <a:lnTo>
                    <a:pt x="3156833" y="0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59869" y="5082487"/>
              <a:ext cx="3747770" cy="84455"/>
            </a:xfrm>
            <a:custGeom>
              <a:avLst/>
              <a:gdLst/>
              <a:ahLst/>
              <a:cxnLst/>
              <a:rect l="l" t="t" r="r" b="b"/>
              <a:pathLst>
                <a:path w="3747770" h="84454">
                  <a:moveTo>
                    <a:pt x="3623522" y="0"/>
                  </a:moveTo>
                  <a:lnTo>
                    <a:pt x="3663433" y="44365"/>
                  </a:lnTo>
                  <a:lnTo>
                    <a:pt x="3623522" y="84162"/>
                  </a:lnTo>
                  <a:lnTo>
                    <a:pt x="3715604" y="54578"/>
                  </a:lnTo>
                  <a:lnTo>
                    <a:pt x="3668190" y="54578"/>
                  </a:lnTo>
                  <a:lnTo>
                    <a:pt x="3673153" y="49471"/>
                  </a:lnTo>
                  <a:lnTo>
                    <a:pt x="3673153" y="34690"/>
                  </a:lnTo>
                  <a:lnTo>
                    <a:pt x="3720378" y="34690"/>
                  </a:lnTo>
                  <a:lnTo>
                    <a:pt x="3623522" y="0"/>
                  </a:lnTo>
                  <a:close/>
                </a:path>
                <a:path w="3747770" h="84454">
                  <a:moveTo>
                    <a:pt x="3654730" y="34690"/>
                  </a:moveTo>
                  <a:lnTo>
                    <a:pt x="5128" y="34690"/>
                  </a:lnTo>
                  <a:lnTo>
                    <a:pt x="5128" y="39775"/>
                  </a:lnTo>
                  <a:lnTo>
                    <a:pt x="0" y="44365"/>
                  </a:lnTo>
                  <a:lnTo>
                    <a:pt x="5128" y="49471"/>
                  </a:lnTo>
                  <a:lnTo>
                    <a:pt x="9739" y="54578"/>
                  </a:lnTo>
                  <a:lnTo>
                    <a:pt x="3653191" y="54578"/>
                  </a:lnTo>
                  <a:lnTo>
                    <a:pt x="3663433" y="44365"/>
                  </a:lnTo>
                  <a:lnTo>
                    <a:pt x="3654730" y="34690"/>
                  </a:lnTo>
                  <a:close/>
                </a:path>
                <a:path w="3747770" h="84454">
                  <a:moveTo>
                    <a:pt x="3720378" y="34690"/>
                  </a:moveTo>
                  <a:lnTo>
                    <a:pt x="3673153" y="34690"/>
                  </a:lnTo>
                  <a:lnTo>
                    <a:pt x="3673153" y="49471"/>
                  </a:lnTo>
                  <a:lnTo>
                    <a:pt x="3668190" y="54578"/>
                  </a:lnTo>
                  <a:lnTo>
                    <a:pt x="3715604" y="54578"/>
                  </a:lnTo>
                  <a:lnTo>
                    <a:pt x="3747391" y="44365"/>
                  </a:lnTo>
                  <a:lnTo>
                    <a:pt x="3720378" y="346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59869" y="5082487"/>
              <a:ext cx="3747770" cy="84455"/>
            </a:xfrm>
            <a:custGeom>
              <a:avLst/>
              <a:gdLst/>
              <a:ahLst/>
              <a:cxnLst/>
              <a:rect l="l" t="t" r="r" b="b"/>
              <a:pathLst>
                <a:path w="3747770" h="84454">
                  <a:moveTo>
                    <a:pt x="14847" y="34690"/>
                  </a:moveTo>
                  <a:lnTo>
                    <a:pt x="3663433" y="34690"/>
                  </a:lnTo>
                  <a:lnTo>
                    <a:pt x="3668190" y="34690"/>
                  </a:lnTo>
                  <a:lnTo>
                    <a:pt x="3673153" y="34690"/>
                  </a:lnTo>
                  <a:lnTo>
                    <a:pt x="3673153" y="39775"/>
                  </a:lnTo>
                  <a:lnTo>
                    <a:pt x="3673153" y="44365"/>
                  </a:lnTo>
                  <a:lnTo>
                    <a:pt x="3673153" y="49471"/>
                  </a:lnTo>
                  <a:lnTo>
                    <a:pt x="3668190" y="54578"/>
                  </a:lnTo>
                  <a:lnTo>
                    <a:pt x="3663433" y="54578"/>
                  </a:lnTo>
                  <a:lnTo>
                    <a:pt x="14847" y="54578"/>
                  </a:lnTo>
                  <a:lnTo>
                    <a:pt x="9739" y="54578"/>
                  </a:lnTo>
                  <a:lnTo>
                    <a:pt x="5128" y="49471"/>
                  </a:lnTo>
                  <a:lnTo>
                    <a:pt x="0" y="44365"/>
                  </a:lnTo>
                  <a:lnTo>
                    <a:pt x="5128" y="39775"/>
                  </a:lnTo>
                  <a:lnTo>
                    <a:pt x="5128" y="34690"/>
                  </a:lnTo>
                  <a:lnTo>
                    <a:pt x="9739" y="34690"/>
                  </a:lnTo>
                  <a:lnTo>
                    <a:pt x="14847" y="34690"/>
                  </a:lnTo>
                  <a:close/>
                </a:path>
                <a:path w="3747770" h="84454">
                  <a:moveTo>
                    <a:pt x="3663433" y="44365"/>
                  </a:moveTo>
                  <a:lnTo>
                    <a:pt x="3623522" y="0"/>
                  </a:lnTo>
                  <a:lnTo>
                    <a:pt x="3747391" y="44365"/>
                  </a:lnTo>
                  <a:lnTo>
                    <a:pt x="3623522" y="84162"/>
                  </a:lnTo>
                  <a:lnTo>
                    <a:pt x="3663433" y="44365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2436" y="2744608"/>
              <a:ext cx="225115" cy="7962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764997" y="4475512"/>
              <a:ext cx="1037590" cy="15240"/>
            </a:xfrm>
            <a:custGeom>
              <a:avLst/>
              <a:gdLst/>
              <a:ahLst/>
              <a:cxnLst/>
              <a:rect l="l" t="t" r="r" b="b"/>
              <a:pathLst>
                <a:path w="1037590" h="15239">
                  <a:moveTo>
                    <a:pt x="59411" y="0"/>
                  </a:moveTo>
                  <a:lnTo>
                    <a:pt x="0" y="0"/>
                  </a:lnTo>
                  <a:lnTo>
                    <a:pt x="0" y="14802"/>
                  </a:lnTo>
                  <a:lnTo>
                    <a:pt x="59411" y="14802"/>
                  </a:lnTo>
                  <a:lnTo>
                    <a:pt x="59411" y="0"/>
                  </a:lnTo>
                  <a:close/>
                </a:path>
                <a:path w="1037590" h="15239">
                  <a:moveTo>
                    <a:pt x="168515" y="0"/>
                  </a:moveTo>
                  <a:lnTo>
                    <a:pt x="109103" y="0"/>
                  </a:lnTo>
                  <a:lnTo>
                    <a:pt x="109103" y="14802"/>
                  </a:lnTo>
                  <a:lnTo>
                    <a:pt x="168515" y="14802"/>
                  </a:lnTo>
                  <a:lnTo>
                    <a:pt x="168515" y="0"/>
                  </a:lnTo>
                  <a:close/>
                </a:path>
                <a:path w="1037590" h="15239">
                  <a:moveTo>
                    <a:pt x="277619" y="0"/>
                  </a:moveTo>
                  <a:lnTo>
                    <a:pt x="218207" y="0"/>
                  </a:lnTo>
                  <a:lnTo>
                    <a:pt x="218207" y="14802"/>
                  </a:lnTo>
                  <a:lnTo>
                    <a:pt x="277619" y="14802"/>
                  </a:lnTo>
                  <a:lnTo>
                    <a:pt x="277619" y="0"/>
                  </a:lnTo>
                  <a:close/>
                </a:path>
                <a:path w="1037590" h="15239">
                  <a:moveTo>
                    <a:pt x="387239" y="0"/>
                  </a:moveTo>
                  <a:lnTo>
                    <a:pt x="327311" y="0"/>
                  </a:lnTo>
                  <a:lnTo>
                    <a:pt x="327311" y="14802"/>
                  </a:lnTo>
                  <a:lnTo>
                    <a:pt x="387239" y="14802"/>
                  </a:lnTo>
                  <a:lnTo>
                    <a:pt x="387239" y="0"/>
                  </a:lnTo>
                  <a:close/>
                </a:path>
                <a:path w="1037590" h="15239">
                  <a:moveTo>
                    <a:pt x="496343" y="0"/>
                  </a:moveTo>
                  <a:lnTo>
                    <a:pt x="436932" y="0"/>
                  </a:lnTo>
                  <a:lnTo>
                    <a:pt x="436932" y="5106"/>
                  </a:lnTo>
                  <a:lnTo>
                    <a:pt x="431803" y="10212"/>
                  </a:lnTo>
                  <a:lnTo>
                    <a:pt x="436932" y="10212"/>
                  </a:lnTo>
                  <a:lnTo>
                    <a:pt x="436932" y="14802"/>
                  </a:lnTo>
                  <a:lnTo>
                    <a:pt x="496343" y="14802"/>
                  </a:lnTo>
                  <a:lnTo>
                    <a:pt x="496343" y="0"/>
                  </a:lnTo>
                  <a:close/>
                </a:path>
                <a:path w="1037590" h="15239">
                  <a:moveTo>
                    <a:pt x="600339" y="0"/>
                  </a:moveTo>
                  <a:lnTo>
                    <a:pt x="546035" y="0"/>
                  </a:lnTo>
                  <a:lnTo>
                    <a:pt x="540907" y="5106"/>
                  </a:lnTo>
                  <a:lnTo>
                    <a:pt x="540907" y="10212"/>
                  </a:lnTo>
                  <a:lnTo>
                    <a:pt x="546035" y="14802"/>
                  </a:lnTo>
                  <a:lnTo>
                    <a:pt x="600339" y="14802"/>
                  </a:lnTo>
                  <a:lnTo>
                    <a:pt x="605447" y="10212"/>
                  </a:lnTo>
                  <a:lnTo>
                    <a:pt x="605447" y="5106"/>
                  </a:lnTo>
                  <a:lnTo>
                    <a:pt x="600339" y="0"/>
                  </a:lnTo>
                  <a:close/>
                </a:path>
                <a:path w="1037590" h="15239">
                  <a:moveTo>
                    <a:pt x="709939" y="0"/>
                  </a:moveTo>
                  <a:lnTo>
                    <a:pt x="655139" y="0"/>
                  </a:lnTo>
                  <a:lnTo>
                    <a:pt x="650011" y="5106"/>
                  </a:lnTo>
                  <a:lnTo>
                    <a:pt x="650011" y="10212"/>
                  </a:lnTo>
                  <a:lnTo>
                    <a:pt x="655139" y="14802"/>
                  </a:lnTo>
                  <a:lnTo>
                    <a:pt x="709939" y="14802"/>
                  </a:lnTo>
                  <a:lnTo>
                    <a:pt x="714551" y="10212"/>
                  </a:lnTo>
                  <a:lnTo>
                    <a:pt x="714551" y="5106"/>
                  </a:lnTo>
                  <a:lnTo>
                    <a:pt x="709939" y="0"/>
                  </a:lnTo>
                  <a:close/>
                </a:path>
                <a:path w="1037590" h="15239">
                  <a:moveTo>
                    <a:pt x="819064" y="0"/>
                  </a:moveTo>
                  <a:lnTo>
                    <a:pt x="764243" y="0"/>
                  </a:lnTo>
                  <a:lnTo>
                    <a:pt x="759114" y="5106"/>
                  </a:lnTo>
                  <a:lnTo>
                    <a:pt x="759114" y="10212"/>
                  </a:lnTo>
                  <a:lnTo>
                    <a:pt x="764243" y="14802"/>
                  </a:lnTo>
                  <a:lnTo>
                    <a:pt x="819064" y="14802"/>
                  </a:lnTo>
                  <a:lnTo>
                    <a:pt x="819064" y="10212"/>
                  </a:lnTo>
                  <a:lnTo>
                    <a:pt x="823675" y="10212"/>
                  </a:lnTo>
                  <a:lnTo>
                    <a:pt x="819064" y="5106"/>
                  </a:lnTo>
                  <a:lnTo>
                    <a:pt x="819064" y="0"/>
                  </a:lnTo>
                  <a:close/>
                </a:path>
                <a:path w="1037590" h="15239">
                  <a:moveTo>
                    <a:pt x="928229" y="0"/>
                  </a:moveTo>
                  <a:lnTo>
                    <a:pt x="868673" y="0"/>
                  </a:lnTo>
                  <a:lnTo>
                    <a:pt x="868673" y="14802"/>
                  </a:lnTo>
                  <a:lnTo>
                    <a:pt x="928229" y="14802"/>
                  </a:lnTo>
                  <a:lnTo>
                    <a:pt x="928229" y="0"/>
                  </a:lnTo>
                  <a:close/>
                </a:path>
                <a:path w="1037590" h="15239">
                  <a:moveTo>
                    <a:pt x="1037209" y="0"/>
                  </a:moveTo>
                  <a:lnTo>
                    <a:pt x="977860" y="0"/>
                  </a:lnTo>
                  <a:lnTo>
                    <a:pt x="977860" y="14802"/>
                  </a:lnTo>
                  <a:lnTo>
                    <a:pt x="1037209" y="14802"/>
                  </a:lnTo>
                  <a:lnTo>
                    <a:pt x="103720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764997" y="4475512"/>
              <a:ext cx="1037590" cy="15240"/>
            </a:xfrm>
            <a:custGeom>
              <a:avLst/>
              <a:gdLst/>
              <a:ahLst/>
              <a:cxnLst/>
              <a:rect l="l" t="t" r="r" b="b"/>
              <a:pathLst>
                <a:path w="1037590" h="15239">
                  <a:moveTo>
                    <a:pt x="9719" y="0"/>
                  </a:moveTo>
                  <a:lnTo>
                    <a:pt x="54283" y="0"/>
                  </a:lnTo>
                  <a:lnTo>
                    <a:pt x="59411" y="0"/>
                  </a:lnTo>
                  <a:lnTo>
                    <a:pt x="59411" y="5106"/>
                  </a:lnTo>
                  <a:lnTo>
                    <a:pt x="59411" y="10212"/>
                  </a:lnTo>
                  <a:lnTo>
                    <a:pt x="59411" y="14802"/>
                  </a:lnTo>
                  <a:lnTo>
                    <a:pt x="54283" y="14802"/>
                  </a:lnTo>
                  <a:lnTo>
                    <a:pt x="9719" y="14802"/>
                  </a:lnTo>
                  <a:lnTo>
                    <a:pt x="4611" y="14802"/>
                  </a:lnTo>
                  <a:lnTo>
                    <a:pt x="0" y="14802"/>
                  </a:lnTo>
                  <a:lnTo>
                    <a:pt x="0" y="10212"/>
                  </a:lnTo>
                  <a:lnTo>
                    <a:pt x="0" y="5106"/>
                  </a:lnTo>
                  <a:lnTo>
                    <a:pt x="0" y="0"/>
                  </a:lnTo>
                  <a:lnTo>
                    <a:pt x="4611" y="0"/>
                  </a:lnTo>
                  <a:lnTo>
                    <a:pt x="9719" y="0"/>
                  </a:lnTo>
                  <a:close/>
                </a:path>
                <a:path w="1037590" h="15239">
                  <a:moveTo>
                    <a:pt x="114232" y="0"/>
                  </a:moveTo>
                  <a:lnTo>
                    <a:pt x="163903" y="0"/>
                  </a:lnTo>
                  <a:lnTo>
                    <a:pt x="168515" y="0"/>
                  </a:lnTo>
                  <a:lnTo>
                    <a:pt x="168515" y="5106"/>
                  </a:lnTo>
                  <a:lnTo>
                    <a:pt x="168515" y="10212"/>
                  </a:lnTo>
                  <a:lnTo>
                    <a:pt x="168515" y="14802"/>
                  </a:lnTo>
                  <a:lnTo>
                    <a:pt x="163903" y="14802"/>
                  </a:lnTo>
                  <a:lnTo>
                    <a:pt x="114232" y="14802"/>
                  </a:lnTo>
                  <a:lnTo>
                    <a:pt x="109103" y="14802"/>
                  </a:lnTo>
                  <a:lnTo>
                    <a:pt x="109103" y="10212"/>
                  </a:lnTo>
                  <a:lnTo>
                    <a:pt x="109103" y="5106"/>
                  </a:lnTo>
                  <a:lnTo>
                    <a:pt x="109103" y="0"/>
                  </a:lnTo>
                  <a:lnTo>
                    <a:pt x="114232" y="0"/>
                  </a:lnTo>
                  <a:close/>
                </a:path>
                <a:path w="1037590" h="15239">
                  <a:moveTo>
                    <a:pt x="223335" y="0"/>
                  </a:moveTo>
                  <a:lnTo>
                    <a:pt x="273007" y="0"/>
                  </a:lnTo>
                  <a:lnTo>
                    <a:pt x="277619" y="0"/>
                  </a:lnTo>
                  <a:lnTo>
                    <a:pt x="277619" y="5106"/>
                  </a:lnTo>
                  <a:lnTo>
                    <a:pt x="277619" y="10212"/>
                  </a:lnTo>
                  <a:lnTo>
                    <a:pt x="277619" y="14802"/>
                  </a:lnTo>
                  <a:lnTo>
                    <a:pt x="273007" y="14802"/>
                  </a:lnTo>
                  <a:lnTo>
                    <a:pt x="223335" y="14802"/>
                  </a:lnTo>
                  <a:lnTo>
                    <a:pt x="218207" y="14802"/>
                  </a:lnTo>
                  <a:lnTo>
                    <a:pt x="218207" y="10212"/>
                  </a:lnTo>
                  <a:lnTo>
                    <a:pt x="218207" y="5106"/>
                  </a:lnTo>
                  <a:lnTo>
                    <a:pt x="218207" y="0"/>
                  </a:lnTo>
                  <a:lnTo>
                    <a:pt x="223335" y="0"/>
                  </a:lnTo>
                  <a:close/>
                </a:path>
                <a:path w="1037590" h="15239">
                  <a:moveTo>
                    <a:pt x="332439" y="0"/>
                  </a:moveTo>
                  <a:lnTo>
                    <a:pt x="382111" y="0"/>
                  </a:lnTo>
                  <a:lnTo>
                    <a:pt x="387239" y="0"/>
                  </a:lnTo>
                  <a:lnTo>
                    <a:pt x="387239" y="5106"/>
                  </a:lnTo>
                  <a:lnTo>
                    <a:pt x="387239" y="10212"/>
                  </a:lnTo>
                  <a:lnTo>
                    <a:pt x="387239" y="14802"/>
                  </a:lnTo>
                  <a:lnTo>
                    <a:pt x="382111" y="14802"/>
                  </a:lnTo>
                  <a:lnTo>
                    <a:pt x="332439" y="14802"/>
                  </a:lnTo>
                  <a:lnTo>
                    <a:pt x="327311" y="14802"/>
                  </a:lnTo>
                  <a:lnTo>
                    <a:pt x="327311" y="10212"/>
                  </a:lnTo>
                  <a:lnTo>
                    <a:pt x="327311" y="5106"/>
                  </a:lnTo>
                  <a:lnTo>
                    <a:pt x="327311" y="0"/>
                  </a:lnTo>
                  <a:lnTo>
                    <a:pt x="332439" y="0"/>
                  </a:lnTo>
                  <a:close/>
                </a:path>
                <a:path w="1037590" h="15239">
                  <a:moveTo>
                    <a:pt x="441543" y="0"/>
                  </a:moveTo>
                  <a:lnTo>
                    <a:pt x="486107" y="0"/>
                  </a:lnTo>
                  <a:lnTo>
                    <a:pt x="491235" y="0"/>
                  </a:lnTo>
                  <a:lnTo>
                    <a:pt x="496343" y="0"/>
                  </a:lnTo>
                  <a:lnTo>
                    <a:pt x="496343" y="5106"/>
                  </a:lnTo>
                  <a:lnTo>
                    <a:pt x="496343" y="10212"/>
                  </a:lnTo>
                  <a:lnTo>
                    <a:pt x="496343" y="14802"/>
                  </a:lnTo>
                  <a:lnTo>
                    <a:pt x="491235" y="14802"/>
                  </a:lnTo>
                  <a:lnTo>
                    <a:pt x="486107" y="14802"/>
                  </a:lnTo>
                  <a:lnTo>
                    <a:pt x="441543" y="14802"/>
                  </a:lnTo>
                  <a:lnTo>
                    <a:pt x="436932" y="14802"/>
                  </a:lnTo>
                  <a:lnTo>
                    <a:pt x="436932" y="10212"/>
                  </a:lnTo>
                  <a:lnTo>
                    <a:pt x="431803" y="10212"/>
                  </a:lnTo>
                  <a:lnTo>
                    <a:pt x="436932" y="5106"/>
                  </a:lnTo>
                  <a:lnTo>
                    <a:pt x="436932" y="0"/>
                  </a:lnTo>
                  <a:lnTo>
                    <a:pt x="441543" y="0"/>
                  </a:lnTo>
                  <a:close/>
                </a:path>
                <a:path w="1037590" h="15239">
                  <a:moveTo>
                    <a:pt x="550647" y="0"/>
                  </a:moveTo>
                  <a:lnTo>
                    <a:pt x="595728" y="0"/>
                  </a:lnTo>
                  <a:lnTo>
                    <a:pt x="600339" y="0"/>
                  </a:lnTo>
                  <a:lnTo>
                    <a:pt x="605447" y="5106"/>
                  </a:lnTo>
                  <a:lnTo>
                    <a:pt x="605447" y="10212"/>
                  </a:lnTo>
                  <a:lnTo>
                    <a:pt x="600339" y="14802"/>
                  </a:lnTo>
                  <a:lnTo>
                    <a:pt x="595728" y="14802"/>
                  </a:lnTo>
                  <a:lnTo>
                    <a:pt x="550647" y="14802"/>
                  </a:lnTo>
                  <a:lnTo>
                    <a:pt x="546035" y="14802"/>
                  </a:lnTo>
                  <a:lnTo>
                    <a:pt x="540907" y="10212"/>
                  </a:lnTo>
                  <a:lnTo>
                    <a:pt x="540907" y="5106"/>
                  </a:lnTo>
                  <a:lnTo>
                    <a:pt x="546035" y="0"/>
                  </a:lnTo>
                  <a:lnTo>
                    <a:pt x="550647" y="0"/>
                  </a:lnTo>
                  <a:close/>
                </a:path>
                <a:path w="1037590" h="15239">
                  <a:moveTo>
                    <a:pt x="660268" y="0"/>
                  </a:moveTo>
                  <a:lnTo>
                    <a:pt x="704831" y="0"/>
                  </a:lnTo>
                  <a:lnTo>
                    <a:pt x="709939" y="0"/>
                  </a:lnTo>
                  <a:lnTo>
                    <a:pt x="714551" y="5106"/>
                  </a:lnTo>
                  <a:lnTo>
                    <a:pt x="714551" y="10212"/>
                  </a:lnTo>
                  <a:lnTo>
                    <a:pt x="709939" y="14802"/>
                  </a:lnTo>
                  <a:lnTo>
                    <a:pt x="704831" y="14802"/>
                  </a:lnTo>
                  <a:lnTo>
                    <a:pt x="660268" y="14802"/>
                  </a:lnTo>
                  <a:lnTo>
                    <a:pt x="655139" y="14802"/>
                  </a:lnTo>
                  <a:lnTo>
                    <a:pt x="650011" y="10212"/>
                  </a:lnTo>
                  <a:lnTo>
                    <a:pt x="650011" y="5106"/>
                  </a:lnTo>
                  <a:lnTo>
                    <a:pt x="655139" y="0"/>
                  </a:lnTo>
                  <a:lnTo>
                    <a:pt x="660268" y="0"/>
                  </a:lnTo>
                  <a:close/>
                </a:path>
                <a:path w="1037590" h="15239">
                  <a:moveTo>
                    <a:pt x="769371" y="0"/>
                  </a:moveTo>
                  <a:lnTo>
                    <a:pt x="813935" y="0"/>
                  </a:lnTo>
                  <a:lnTo>
                    <a:pt x="819064" y="0"/>
                  </a:lnTo>
                  <a:lnTo>
                    <a:pt x="819064" y="5106"/>
                  </a:lnTo>
                  <a:lnTo>
                    <a:pt x="823675" y="10212"/>
                  </a:lnTo>
                  <a:lnTo>
                    <a:pt x="819064" y="10212"/>
                  </a:lnTo>
                  <a:lnTo>
                    <a:pt x="819064" y="14802"/>
                  </a:lnTo>
                  <a:lnTo>
                    <a:pt x="813935" y="14802"/>
                  </a:lnTo>
                  <a:lnTo>
                    <a:pt x="769371" y="14802"/>
                  </a:lnTo>
                  <a:lnTo>
                    <a:pt x="764243" y="14802"/>
                  </a:lnTo>
                  <a:lnTo>
                    <a:pt x="759114" y="10212"/>
                  </a:lnTo>
                  <a:lnTo>
                    <a:pt x="759114" y="5106"/>
                  </a:lnTo>
                  <a:lnTo>
                    <a:pt x="764243" y="0"/>
                  </a:lnTo>
                  <a:lnTo>
                    <a:pt x="769371" y="0"/>
                  </a:lnTo>
                  <a:close/>
                </a:path>
                <a:path w="1037590" h="15239">
                  <a:moveTo>
                    <a:pt x="878392" y="0"/>
                  </a:moveTo>
                  <a:lnTo>
                    <a:pt x="923060" y="0"/>
                  </a:lnTo>
                  <a:lnTo>
                    <a:pt x="928229" y="0"/>
                  </a:lnTo>
                  <a:lnTo>
                    <a:pt x="928229" y="5106"/>
                  </a:lnTo>
                  <a:lnTo>
                    <a:pt x="928229" y="10212"/>
                  </a:lnTo>
                  <a:lnTo>
                    <a:pt x="928229" y="14802"/>
                  </a:lnTo>
                  <a:lnTo>
                    <a:pt x="923060" y="14802"/>
                  </a:lnTo>
                  <a:lnTo>
                    <a:pt x="878392" y="14802"/>
                  </a:lnTo>
                  <a:lnTo>
                    <a:pt x="873429" y="14802"/>
                  </a:lnTo>
                  <a:lnTo>
                    <a:pt x="868673" y="14802"/>
                  </a:lnTo>
                  <a:lnTo>
                    <a:pt x="868673" y="10212"/>
                  </a:lnTo>
                  <a:lnTo>
                    <a:pt x="868673" y="5106"/>
                  </a:lnTo>
                  <a:lnTo>
                    <a:pt x="868673" y="0"/>
                  </a:lnTo>
                  <a:lnTo>
                    <a:pt x="873429" y="0"/>
                  </a:lnTo>
                  <a:lnTo>
                    <a:pt x="878392" y="0"/>
                  </a:lnTo>
                  <a:close/>
                </a:path>
                <a:path w="1037590" h="15239">
                  <a:moveTo>
                    <a:pt x="983029" y="0"/>
                  </a:moveTo>
                  <a:lnTo>
                    <a:pt x="1032246" y="0"/>
                  </a:lnTo>
                  <a:lnTo>
                    <a:pt x="1037209" y="0"/>
                  </a:lnTo>
                  <a:lnTo>
                    <a:pt x="1037209" y="5106"/>
                  </a:lnTo>
                  <a:lnTo>
                    <a:pt x="1037209" y="10212"/>
                  </a:lnTo>
                  <a:lnTo>
                    <a:pt x="1037209" y="14802"/>
                  </a:lnTo>
                  <a:lnTo>
                    <a:pt x="1032246" y="14802"/>
                  </a:lnTo>
                  <a:lnTo>
                    <a:pt x="983029" y="14802"/>
                  </a:lnTo>
                  <a:lnTo>
                    <a:pt x="977860" y="14802"/>
                  </a:lnTo>
                  <a:lnTo>
                    <a:pt x="977860" y="10212"/>
                  </a:lnTo>
                  <a:lnTo>
                    <a:pt x="977860" y="5106"/>
                  </a:lnTo>
                  <a:lnTo>
                    <a:pt x="977860" y="0"/>
                  </a:lnTo>
                  <a:lnTo>
                    <a:pt x="983029" y="0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764997" y="4923342"/>
              <a:ext cx="3430270" cy="20320"/>
            </a:xfrm>
            <a:custGeom>
              <a:avLst/>
              <a:gdLst/>
              <a:ahLst/>
              <a:cxnLst/>
              <a:rect l="l" t="t" r="r" b="b"/>
              <a:pathLst>
                <a:path w="3430270" h="20320">
                  <a:moveTo>
                    <a:pt x="54283" y="0"/>
                  </a:moveTo>
                  <a:lnTo>
                    <a:pt x="9719" y="0"/>
                  </a:lnTo>
                  <a:lnTo>
                    <a:pt x="4611" y="4589"/>
                  </a:lnTo>
                  <a:lnTo>
                    <a:pt x="0" y="4589"/>
                  </a:lnTo>
                  <a:lnTo>
                    <a:pt x="0" y="14802"/>
                  </a:lnTo>
                  <a:lnTo>
                    <a:pt x="9719" y="19908"/>
                  </a:lnTo>
                  <a:lnTo>
                    <a:pt x="54283" y="19908"/>
                  </a:lnTo>
                  <a:lnTo>
                    <a:pt x="59411" y="14802"/>
                  </a:lnTo>
                  <a:lnTo>
                    <a:pt x="59411" y="4589"/>
                  </a:lnTo>
                  <a:lnTo>
                    <a:pt x="54283" y="0"/>
                  </a:lnTo>
                  <a:close/>
                </a:path>
                <a:path w="3430270" h="20320">
                  <a:moveTo>
                    <a:pt x="168515" y="4589"/>
                  </a:moveTo>
                  <a:lnTo>
                    <a:pt x="109103" y="4589"/>
                  </a:lnTo>
                  <a:lnTo>
                    <a:pt x="109103" y="14802"/>
                  </a:lnTo>
                  <a:lnTo>
                    <a:pt x="114232" y="19908"/>
                  </a:lnTo>
                  <a:lnTo>
                    <a:pt x="163903" y="19908"/>
                  </a:lnTo>
                  <a:lnTo>
                    <a:pt x="168515" y="14802"/>
                  </a:lnTo>
                  <a:lnTo>
                    <a:pt x="168515" y="4589"/>
                  </a:lnTo>
                  <a:close/>
                </a:path>
                <a:path w="3430270" h="20320">
                  <a:moveTo>
                    <a:pt x="163903" y="0"/>
                  </a:moveTo>
                  <a:lnTo>
                    <a:pt x="114232" y="0"/>
                  </a:lnTo>
                  <a:lnTo>
                    <a:pt x="114232" y="4589"/>
                  </a:lnTo>
                  <a:lnTo>
                    <a:pt x="163903" y="4589"/>
                  </a:lnTo>
                  <a:lnTo>
                    <a:pt x="163903" y="0"/>
                  </a:lnTo>
                  <a:close/>
                </a:path>
                <a:path w="3430270" h="20320">
                  <a:moveTo>
                    <a:pt x="277619" y="4589"/>
                  </a:moveTo>
                  <a:lnTo>
                    <a:pt x="218207" y="4589"/>
                  </a:lnTo>
                  <a:lnTo>
                    <a:pt x="218207" y="14802"/>
                  </a:lnTo>
                  <a:lnTo>
                    <a:pt x="223335" y="19908"/>
                  </a:lnTo>
                  <a:lnTo>
                    <a:pt x="273007" y="19908"/>
                  </a:lnTo>
                  <a:lnTo>
                    <a:pt x="277619" y="14802"/>
                  </a:lnTo>
                  <a:lnTo>
                    <a:pt x="277619" y="4589"/>
                  </a:lnTo>
                  <a:close/>
                </a:path>
                <a:path w="3430270" h="20320">
                  <a:moveTo>
                    <a:pt x="273007" y="0"/>
                  </a:moveTo>
                  <a:lnTo>
                    <a:pt x="223335" y="0"/>
                  </a:lnTo>
                  <a:lnTo>
                    <a:pt x="223335" y="4589"/>
                  </a:lnTo>
                  <a:lnTo>
                    <a:pt x="273007" y="4589"/>
                  </a:lnTo>
                  <a:lnTo>
                    <a:pt x="273007" y="0"/>
                  </a:lnTo>
                  <a:close/>
                </a:path>
                <a:path w="3430270" h="20320">
                  <a:moveTo>
                    <a:pt x="387239" y="4589"/>
                  </a:moveTo>
                  <a:lnTo>
                    <a:pt x="327311" y="4589"/>
                  </a:lnTo>
                  <a:lnTo>
                    <a:pt x="327311" y="14802"/>
                  </a:lnTo>
                  <a:lnTo>
                    <a:pt x="332439" y="19908"/>
                  </a:lnTo>
                  <a:lnTo>
                    <a:pt x="382111" y="19908"/>
                  </a:lnTo>
                  <a:lnTo>
                    <a:pt x="387239" y="14802"/>
                  </a:lnTo>
                  <a:lnTo>
                    <a:pt x="387239" y="4589"/>
                  </a:lnTo>
                  <a:close/>
                </a:path>
                <a:path w="3430270" h="20320">
                  <a:moveTo>
                    <a:pt x="382111" y="0"/>
                  </a:moveTo>
                  <a:lnTo>
                    <a:pt x="332439" y="0"/>
                  </a:lnTo>
                  <a:lnTo>
                    <a:pt x="332439" y="4589"/>
                  </a:lnTo>
                  <a:lnTo>
                    <a:pt x="382111" y="4589"/>
                  </a:lnTo>
                  <a:lnTo>
                    <a:pt x="382111" y="0"/>
                  </a:lnTo>
                  <a:close/>
                </a:path>
                <a:path w="3430270" h="20320">
                  <a:moveTo>
                    <a:pt x="486107" y="0"/>
                  </a:moveTo>
                  <a:lnTo>
                    <a:pt x="441543" y="0"/>
                  </a:lnTo>
                  <a:lnTo>
                    <a:pt x="431803" y="9695"/>
                  </a:lnTo>
                  <a:lnTo>
                    <a:pt x="436932" y="14802"/>
                  </a:lnTo>
                  <a:lnTo>
                    <a:pt x="441543" y="19908"/>
                  </a:lnTo>
                  <a:lnTo>
                    <a:pt x="486107" y="19908"/>
                  </a:lnTo>
                  <a:lnTo>
                    <a:pt x="496343" y="14802"/>
                  </a:lnTo>
                  <a:lnTo>
                    <a:pt x="496343" y="4589"/>
                  </a:lnTo>
                  <a:lnTo>
                    <a:pt x="491235" y="4589"/>
                  </a:lnTo>
                  <a:lnTo>
                    <a:pt x="486107" y="0"/>
                  </a:lnTo>
                  <a:close/>
                </a:path>
                <a:path w="3430270" h="20320">
                  <a:moveTo>
                    <a:pt x="600339" y="14802"/>
                  </a:moveTo>
                  <a:lnTo>
                    <a:pt x="546035" y="14802"/>
                  </a:lnTo>
                  <a:lnTo>
                    <a:pt x="550647" y="19908"/>
                  </a:lnTo>
                  <a:lnTo>
                    <a:pt x="595728" y="19908"/>
                  </a:lnTo>
                  <a:lnTo>
                    <a:pt x="600339" y="14802"/>
                  </a:lnTo>
                  <a:close/>
                </a:path>
                <a:path w="3430270" h="20320">
                  <a:moveTo>
                    <a:pt x="605447" y="4589"/>
                  </a:moveTo>
                  <a:lnTo>
                    <a:pt x="540907" y="4589"/>
                  </a:lnTo>
                  <a:lnTo>
                    <a:pt x="540907" y="14802"/>
                  </a:lnTo>
                  <a:lnTo>
                    <a:pt x="605447" y="14802"/>
                  </a:lnTo>
                  <a:lnTo>
                    <a:pt x="605447" y="4589"/>
                  </a:lnTo>
                  <a:close/>
                </a:path>
                <a:path w="3430270" h="20320">
                  <a:moveTo>
                    <a:pt x="595728" y="0"/>
                  </a:moveTo>
                  <a:lnTo>
                    <a:pt x="550647" y="0"/>
                  </a:lnTo>
                  <a:lnTo>
                    <a:pt x="546035" y="4589"/>
                  </a:lnTo>
                  <a:lnTo>
                    <a:pt x="600339" y="4589"/>
                  </a:lnTo>
                  <a:lnTo>
                    <a:pt x="595728" y="0"/>
                  </a:lnTo>
                  <a:close/>
                </a:path>
                <a:path w="3430270" h="20320">
                  <a:moveTo>
                    <a:pt x="709939" y="14802"/>
                  </a:moveTo>
                  <a:lnTo>
                    <a:pt x="655139" y="14802"/>
                  </a:lnTo>
                  <a:lnTo>
                    <a:pt x="660268" y="19908"/>
                  </a:lnTo>
                  <a:lnTo>
                    <a:pt x="704831" y="19908"/>
                  </a:lnTo>
                  <a:lnTo>
                    <a:pt x="709939" y="14802"/>
                  </a:lnTo>
                  <a:close/>
                </a:path>
                <a:path w="3430270" h="20320">
                  <a:moveTo>
                    <a:pt x="714551" y="4589"/>
                  </a:moveTo>
                  <a:lnTo>
                    <a:pt x="650011" y="4589"/>
                  </a:lnTo>
                  <a:lnTo>
                    <a:pt x="650011" y="14802"/>
                  </a:lnTo>
                  <a:lnTo>
                    <a:pt x="714551" y="14802"/>
                  </a:lnTo>
                  <a:lnTo>
                    <a:pt x="714551" y="4589"/>
                  </a:lnTo>
                  <a:close/>
                </a:path>
                <a:path w="3430270" h="20320">
                  <a:moveTo>
                    <a:pt x="704831" y="0"/>
                  </a:moveTo>
                  <a:lnTo>
                    <a:pt x="660268" y="0"/>
                  </a:lnTo>
                  <a:lnTo>
                    <a:pt x="655139" y="4589"/>
                  </a:lnTo>
                  <a:lnTo>
                    <a:pt x="709939" y="4589"/>
                  </a:lnTo>
                  <a:lnTo>
                    <a:pt x="704831" y="0"/>
                  </a:lnTo>
                  <a:close/>
                </a:path>
                <a:path w="3430270" h="20320">
                  <a:moveTo>
                    <a:pt x="813935" y="0"/>
                  </a:moveTo>
                  <a:lnTo>
                    <a:pt x="769371" y="0"/>
                  </a:lnTo>
                  <a:lnTo>
                    <a:pt x="764243" y="4589"/>
                  </a:lnTo>
                  <a:lnTo>
                    <a:pt x="759114" y="4589"/>
                  </a:lnTo>
                  <a:lnTo>
                    <a:pt x="759114" y="14802"/>
                  </a:lnTo>
                  <a:lnTo>
                    <a:pt x="764243" y="14802"/>
                  </a:lnTo>
                  <a:lnTo>
                    <a:pt x="769371" y="19908"/>
                  </a:lnTo>
                  <a:lnTo>
                    <a:pt x="813935" y="19908"/>
                  </a:lnTo>
                  <a:lnTo>
                    <a:pt x="819064" y="14802"/>
                  </a:lnTo>
                  <a:lnTo>
                    <a:pt x="823675" y="9695"/>
                  </a:lnTo>
                  <a:lnTo>
                    <a:pt x="819064" y="4589"/>
                  </a:lnTo>
                  <a:lnTo>
                    <a:pt x="813935" y="0"/>
                  </a:lnTo>
                  <a:close/>
                </a:path>
                <a:path w="3430270" h="20320">
                  <a:moveTo>
                    <a:pt x="923060" y="0"/>
                  </a:moveTo>
                  <a:lnTo>
                    <a:pt x="878392" y="0"/>
                  </a:lnTo>
                  <a:lnTo>
                    <a:pt x="873429" y="4589"/>
                  </a:lnTo>
                  <a:lnTo>
                    <a:pt x="868673" y="4589"/>
                  </a:lnTo>
                  <a:lnTo>
                    <a:pt x="868673" y="14802"/>
                  </a:lnTo>
                  <a:lnTo>
                    <a:pt x="878392" y="19908"/>
                  </a:lnTo>
                  <a:lnTo>
                    <a:pt x="923060" y="19908"/>
                  </a:lnTo>
                  <a:lnTo>
                    <a:pt x="928229" y="14802"/>
                  </a:lnTo>
                  <a:lnTo>
                    <a:pt x="928229" y="4589"/>
                  </a:lnTo>
                  <a:lnTo>
                    <a:pt x="923060" y="0"/>
                  </a:lnTo>
                  <a:close/>
                </a:path>
                <a:path w="3430270" h="20320">
                  <a:moveTo>
                    <a:pt x="1037209" y="4589"/>
                  </a:moveTo>
                  <a:lnTo>
                    <a:pt x="977860" y="4589"/>
                  </a:lnTo>
                  <a:lnTo>
                    <a:pt x="977860" y="14802"/>
                  </a:lnTo>
                  <a:lnTo>
                    <a:pt x="983029" y="19908"/>
                  </a:lnTo>
                  <a:lnTo>
                    <a:pt x="1032246" y="19908"/>
                  </a:lnTo>
                  <a:lnTo>
                    <a:pt x="1037209" y="14802"/>
                  </a:lnTo>
                  <a:lnTo>
                    <a:pt x="1037209" y="4589"/>
                  </a:lnTo>
                  <a:close/>
                </a:path>
                <a:path w="3430270" h="20320">
                  <a:moveTo>
                    <a:pt x="1032246" y="0"/>
                  </a:moveTo>
                  <a:lnTo>
                    <a:pt x="983029" y="0"/>
                  </a:lnTo>
                  <a:lnTo>
                    <a:pt x="983029" y="4589"/>
                  </a:lnTo>
                  <a:lnTo>
                    <a:pt x="1032246" y="4589"/>
                  </a:lnTo>
                  <a:lnTo>
                    <a:pt x="1032246" y="0"/>
                  </a:lnTo>
                  <a:close/>
                </a:path>
                <a:path w="3430270" h="20320">
                  <a:moveTo>
                    <a:pt x="1146395" y="4589"/>
                  </a:moveTo>
                  <a:lnTo>
                    <a:pt x="1087046" y="4589"/>
                  </a:lnTo>
                  <a:lnTo>
                    <a:pt x="1087046" y="14802"/>
                  </a:lnTo>
                  <a:lnTo>
                    <a:pt x="1092009" y="19908"/>
                  </a:lnTo>
                  <a:lnTo>
                    <a:pt x="1141846" y="19908"/>
                  </a:lnTo>
                  <a:lnTo>
                    <a:pt x="1146395" y="14802"/>
                  </a:lnTo>
                  <a:lnTo>
                    <a:pt x="1146395" y="4589"/>
                  </a:lnTo>
                  <a:close/>
                </a:path>
                <a:path w="3430270" h="20320">
                  <a:moveTo>
                    <a:pt x="1141846" y="0"/>
                  </a:moveTo>
                  <a:lnTo>
                    <a:pt x="1092009" y="0"/>
                  </a:lnTo>
                  <a:lnTo>
                    <a:pt x="1092009" y="4589"/>
                  </a:lnTo>
                  <a:lnTo>
                    <a:pt x="1141846" y="4589"/>
                  </a:lnTo>
                  <a:lnTo>
                    <a:pt x="1141846" y="0"/>
                  </a:lnTo>
                  <a:close/>
                </a:path>
                <a:path w="3430270" h="20320">
                  <a:moveTo>
                    <a:pt x="1255375" y="4589"/>
                  </a:moveTo>
                  <a:lnTo>
                    <a:pt x="1196026" y="4589"/>
                  </a:lnTo>
                  <a:lnTo>
                    <a:pt x="1196026" y="14802"/>
                  </a:lnTo>
                  <a:lnTo>
                    <a:pt x="1201196" y="19908"/>
                  </a:lnTo>
                  <a:lnTo>
                    <a:pt x="1250826" y="19908"/>
                  </a:lnTo>
                  <a:lnTo>
                    <a:pt x="1255375" y="14802"/>
                  </a:lnTo>
                  <a:lnTo>
                    <a:pt x="1255375" y="4589"/>
                  </a:lnTo>
                  <a:close/>
                </a:path>
                <a:path w="3430270" h="20320">
                  <a:moveTo>
                    <a:pt x="1250826" y="0"/>
                  </a:moveTo>
                  <a:lnTo>
                    <a:pt x="1201196" y="0"/>
                  </a:lnTo>
                  <a:lnTo>
                    <a:pt x="1201196" y="4589"/>
                  </a:lnTo>
                  <a:lnTo>
                    <a:pt x="1250826" y="4589"/>
                  </a:lnTo>
                  <a:lnTo>
                    <a:pt x="1250826" y="0"/>
                  </a:lnTo>
                  <a:close/>
                </a:path>
                <a:path w="3430270" h="20320">
                  <a:moveTo>
                    <a:pt x="1354842" y="0"/>
                  </a:moveTo>
                  <a:lnTo>
                    <a:pt x="1310382" y="0"/>
                  </a:lnTo>
                  <a:lnTo>
                    <a:pt x="1305212" y="4589"/>
                  </a:lnTo>
                  <a:lnTo>
                    <a:pt x="1300456" y="9695"/>
                  </a:lnTo>
                  <a:lnTo>
                    <a:pt x="1305212" y="14802"/>
                  </a:lnTo>
                  <a:lnTo>
                    <a:pt x="1310382" y="19908"/>
                  </a:lnTo>
                  <a:lnTo>
                    <a:pt x="1354842" y="19908"/>
                  </a:lnTo>
                  <a:lnTo>
                    <a:pt x="1365182" y="14802"/>
                  </a:lnTo>
                  <a:lnTo>
                    <a:pt x="1365182" y="4589"/>
                  </a:lnTo>
                  <a:lnTo>
                    <a:pt x="1360012" y="4589"/>
                  </a:lnTo>
                  <a:lnTo>
                    <a:pt x="1354842" y="0"/>
                  </a:lnTo>
                  <a:close/>
                </a:path>
                <a:path w="3430270" h="20320">
                  <a:moveTo>
                    <a:pt x="1468992" y="14802"/>
                  </a:moveTo>
                  <a:lnTo>
                    <a:pt x="1414812" y="14802"/>
                  </a:lnTo>
                  <a:lnTo>
                    <a:pt x="1419362" y="19908"/>
                  </a:lnTo>
                  <a:lnTo>
                    <a:pt x="1464029" y="19908"/>
                  </a:lnTo>
                  <a:lnTo>
                    <a:pt x="1468992" y="14802"/>
                  </a:lnTo>
                  <a:close/>
                </a:path>
                <a:path w="3430270" h="20320">
                  <a:moveTo>
                    <a:pt x="1474162" y="4589"/>
                  </a:moveTo>
                  <a:lnTo>
                    <a:pt x="1409642" y="4589"/>
                  </a:lnTo>
                  <a:lnTo>
                    <a:pt x="1409642" y="14802"/>
                  </a:lnTo>
                  <a:lnTo>
                    <a:pt x="1474162" y="14802"/>
                  </a:lnTo>
                  <a:lnTo>
                    <a:pt x="1474162" y="4589"/>
                  </a:lnTo>
                  <a:close/>
                </a:path>
                <a:path w="3430270" h="20320">
                  <a:moveTo>
                    <a:pt x="1464029" y="0"/>
                  </a:moveTo>
                  <a:lnTo>
                    <a:pt x="1419362" y="0"/>
                  </a:lnTo>
                  <a:lnTo>
                    <a:pt x="1414812" y="4589"/>
                  </a:lnTo>
                  <a:lnTo>
                    <a:pt x="1468992" y="4589"/>
                  </a:lnTo>
                  <a:lnTo>
                    <a:pt x="1464029" y="0"/>
                  </a:lnTo>
                  <a:close/>
                </a:path>
                <a:path w="3430270" h="20320">
                  <a:moveTo>
                    <a:pt x="1578178" y="14802"/>
                  </a:moveTo>
                  <a:lnTo>
                    <a:pt x="1523792" y="14802"/>
                  </a:lnTo>
                  <a:lnTo>
                    <a:pt x="1528548" y="19908"/>
                  </a:lnTo>
                  <a:lnTo>
                    <a:pt x="1573629" y="19908"/>
                  </a:lnTo>
                  <a:lnTo>
                    <a:pt x="1578178" y="14802"/>
                  </a:lnTo>
                  <a:close/>
                </a:path>
                <a:path w="3430270" h="20320">
                  <a:moveTo>
                    <a:pt x="1583348" y="4589"/>
                  </a:moveTo>
                  <a:lnTo>
                    <a:pt x="1518829" y="4589"/>
                  </a:lnTo>
                  <a:lnTo>
                    <a:pt x="1518829" y="14802"/>
                  </a:lnTo>
                  <a:lnTo>
                    <a:pt x="1583348" y="14802"/>
                  </a:lnTo>
                  <a:lnTo>
                    <a:pt x="1583348" y="4589"/>
                  </a:lnTo>
                  <a:close/>
                </a:path>
                <a:path w="3430270" h="20320">
                  <a:moveTo>
                    <a:pt x="1573629" y="0"/>
                  </a:moveTo>
                  <a:lnTo>
                    <a:pt x="1528548" y="0"/>
                  </a:lnTo>
                  <a:lnTo>
                    <a:pt x="1523792" y="4589"/>
                  </a:lnTo>
                  <a:lnTo>
                    <a:pt x="1578178" y="4589"/>
                  </a:lnTo>
                  <a:lnTo>
                    <a:pt x="1573629" y="0"/>
                  </a:lnTo>
                  <a:close/>
                </a:path>
                <a:path w="3430270" h="20320">
                  <a:moveTo>
                    <a:pt x="1682609" y="0"/>
                  </a:moveTo>
                  <a:lnTo>
                    <a:pt x="1638148" y="0"/>
                  </a:lnTo>
                  <a:lnTo>
                    <a:pt x="1632978" y="4589"/>
                  </a:lnTo>
                  <a:lnTo>
                    <a:pt x="1627809" y="4589"/>
                  </a:lnTo>
                  <a:lnTo>
                    <a:pt x="1627809" y="14802"/>
                  </a:lnTo>
                  <a:lnTo>
                    <a:pt x="1632978" y="14802"/>
                  </a:lnTo>
                  <a:lnTo>
                    <a:pt x="1638148" y="19908"/>
                  </a:lnTo>
                  <a:lnTo>
                    <a:pt x="1682609" y="19908"/>
                  </a:lnTo>
                  <a:lnTo>
                    <a:pt x="1687778" y="14802"/>
                  </a:lnTo>
                  <a:lnTo>
                    <a:pt x="1692328" y="9695"/>
                  </a:lnTo>
                  <a:lnTo>
                    <a:pt x="1687778" y="4589"/>
                  </a:lnTo>
                  <a:lnTo>
                    <a:pt x="1682609" y="0"/>
                  </a:lnTo>
                  <a:close/>
                </a:path>
                <a:path w="3430270" h="20320">
                  <a:moveTo>
                    <a:pt x="1791795" y="0"/>
                  </a:moveTo>
                  <a:lnTo>
                    <a:pt x="1747128" y="0"/>
                  </a:lnTo>
                  <a:lnTo>
                    <a:pt x="1742165" y="4589"/>
                  </a:lnTo>
                  <a:lnTo>
                    <a:pt x="1736995" y="4589"/>
                  </a:lnTo>
                  <a:lnTo>
                    <a:pt x="1736995" y="14802"/>
                  </a:lnTo>
                  <a:lnTo>
                    <a:pt x="1747128" y="19908"/>
                  </a:lnTo>
                  <a:lnTo>
                    <a:pt x="1791795" y="19908"/>
                  </a:lnTo>
                  <a:lnTo>
                    <a:pt x="1796965" y="14802"/>
                  </a:lnTo>
                  <a:lnTo>
                    <a:pt x="1796965" y="4589"/>
                  </a:lnTo>
                  <a:lnTo>
                    <a:pt x="1791795" y="0"/>
                  </a:lnTo>
                  <a:close/>
                </a:path>
                <a:path w="3430270" h="20320">
                  <a:moveTo>
                    <a:pt x="1905945" y="4589"/>
                  </a:moveTo>
                  <a:lnTo>
                    <a:pt x="1846595" y="4589"/>
                  </a:lnTo>
                  <a:lnTo>
                    <a:pt x="1846595" y="14802"/>
                  </a:lnTo>
                  <a:lnTo>
                    <a:pt x="1851145" y="19908"/>
                  </a:lnTo>
                  <a:lnTo>
                    <a:pt x="1900982" y="19908"/>
                  </a:lnTo>
                  <a:lnTo>
                    <a:pt x="1905945" y="14802"/>
                  </a:lnTo>
                  <a:lnTo>
                    <a:pt x="1905945" y="4589"/>
                  </a:lnTo>
                  <a:close/>
                </a:path>
                <a:path w="3430270" h="20320">
                  <a:moveTo>
                    <a:pt x="1900982" y="0"/>
                  </a:moveTo>
                  <a:lnTo>
                    <a:pt x="1851145" y="0"/>
                  </a:lnTo>
                  <a:lnTo>
                    <a:pt x="1851145" y="4589"/>
                  </a:lnTo>
                  <a:lnTo>
                    <a:pt x="1900982" y="4589"/>
                  </a:lnTo>
                  <a:lnTo>
                    <a:pt x="1900982" y="0"/>
                  </a:lnTo>
                  <a:close/>
                </a:path>
                <a:path w="3430270" h="20320">
                  <a:moveTo>
                    <a:pt x="2015131" y="4589"/>
                  </a:moveTo>
                  <a:lnTo>
                    <a:pt x="1955782" y="4589"/>
                  </a:lnTo>
                  <a:lnTo>
                    <a:pt x="1955782" y="14802"/>
                  </a:lnTo>
                  <a:lnTo>
                    <a:pt x="1960745" y="19908"/>
                  </a:lnTo>
                  <a:lnTo>
                    <a:pt x="2009961" y="19908"/>
                  </a:lnTo>
                  <a:lnTo>
                    <a:pt x="2015131" y="14802"/>
                  </a:lnTo>
                  <a:lnTo>
                    <a:pt x="2015131" y="4589"/>
                  </a:lnTo>
                  <a:close/>
                </a:path>
                <a:path w="3430270" h="20320">
                  <a:moveTo>
                    <a:pt x="2009961" y="0"/>
                  </a:moveTo>
                  <a:lnTo>
                    <a:pt x="1960745" y="0"/>
                  </a:lnTo>
                  <a:lnTo>
                    <a:pt x="1960745" y="4589"/>
                  </a:lnTo>
                  <a:lnTo>
                    <a:pt x="2009961" y="4589"/>
                  </a:lnTo>
                  <a:lnTo>
                    <a:pt x="2009961" y="0"/>
                  </a:lnTo>
                  <a:close/>
                </a:path>
                <a:path w="3430270" h="20320">
                  <a:moveTo>
                    <a:pt x="2124318" y="4589"/>
                  </a:moveTo>
                  <a:lnTo>
                    <a:pt x="2064761" y="4589"/>
                  </a:lnTo>
                  <a:lnTo>
                    <a:pt x="2064761" y="14802"/>
                  </a:lnTo>
                  <a:lnTo>
                    <a:pt x="2069931" y="19908"/>
                  </a:lnTo>
                  <a:lnTo>
                    <a:pt x="2119561" y="19908"/>
                  </a:lnTo>
                  <a:lnTo>
                    <a:pt x="2124318" y="14802"/>
                  </a:lnTo>
                  <a:lnTo>
                    <a:pt x="2124318" y="4589"/>
                  </a:lnTo>
                  <a:close/>
                </a:path>
                <a:path w="3430270" h="20320">
                  <a:moveTo>
                    <a:pt x="2119561" y="0"/>
                  </a:moveTo>
                  <a:lnTo>
                    <a:pt x="2069931" y="0"/>
                  </a:lnTo>
                  <a:lnTo>
                    <a:pt x="2069931" y="4589"/>
                  </a:lnTo>
                  <a:lnTo>
                    <a:pt x="2119561" y="4589"/>
                  </a:lnTo>
                  <a:lnTo>
                    <a:pt x="2119561" y="0"/>
                  </a:lnTo>
                  <a:close/>
                </a:path>
                <a:path w="3430270" h="20320">
                  <a:moveTo>
                    <a:pt x="2223578" y="0"/>
                  </a:moveTo>
                  <a:lnTo>
                    <a:pt x="2179118" y="0"/>
                  </a:lnTo>
                  <a:lnTo>
                    <a:pt x="2173948" y="4589"/>
                  </a:lnTo>
                  <a:lnTo>
                    <a:pt x="2169398" y="9695"/>
                  </a:lnTo>
                  <a:lnTo>
                    <a:pt x="2173948" y="14802"/>
                  </a:lnTo>
                  <a:lnTo>
                    <a:pt x="2179118" y="19908"/>
                  </a:lnTo>
                  <a:lnTo>
                    <a:pt x="2223578" y="19908"/>
                  </a:lnTo>
                  <a:lnTo>
                    <a:pt x="2233918" y="14802"/>
                  </a:lnTo>
                  <a:lnTo>
                    <a:pt x="2233918" y="4589"/>
                  </a:lnTo>
                  <a:lnTo>
                    <a:pt x="2228748" y="4589"/>
                  </a:lnTo>
                  <a:lnTo>
                    <a:pt x="2223578" y="0"/>
                  </a:lnTo>
                  <a:close/>
                </a:path>
                <a:path w="3430270" h="20320">
                  <a:moveTo>
                    <a:pt x="2337728" y="14802"/>
                  </a:moveTo>
                  <a:lnTo>
                    <a:pt x="2282927" y="14802"/>
                  </a:lnTo>
                  <a:lnTo>
                    <a:pt x="2288097" y="19908"/>
                  </a:lnTo>
                  <a:lnTo>
                    <a:pt x="2332764" y="19908"/>
                  </a:lnTo>
                  <a:lnTo>
                    <a:pt x="2337728" y="14802"/>
                  </a:lnTo>
                  <a:close/>
                </a:path>
                <a:path w="3430270" h="20320">
                  <a:moveTo>
                    <a:pt x="2342897" y="4589"/>
                  </a:moveTo>
                  <a:lnTo>
                    <a:pt x="2278378" y="4589"/>
                  </a:lnTo>
                  <a:lnTo>
                    <a:pt x="2278378" y="14802"/>
                  </a:lnTo>
                  <a:lnTo>
                    <a:pt x="2342897" y="14802"/>
                  </a:lnTo>
                  <a:lnTo>
                    <a:pt x="2342897" y="4589"/>
                  </a:lnTo>
                  <a:close/>
                </a:path>
                <a:path w="3430270" h="20320">
                  <a:moveTo>
                    <a:pt x="2332764" y="0"/>
                  </a:moveTo>
                  <a:lnTo>
                    <a:pt x="2288097" y="0"/>
                  </a:lnTo>
                  <a:lnTo>
                    <a:pt x="2282927" y="4589"/>
                  </a:lnTo>
                  <a:lnTo>
                    <a:pt x="2337728" y="4589"/>
                  </a:lnTo>
                  <a:lnTo>
                    <a:pt x="2332764" y="0"/>
                  </a:lnTo>
                  <a:close/>
                </a:path>
                <a:path w="3430270" h="20320">
                  <a:moveTo>
                    <a:pt x="2446914" y="14802"/>
                  </a:moveTo>
                  <a:lnTo>
                    <a:pt x="2392734" y="14802"/>
                  </a:lnTo>
                  <a:lnTo>
                    <a:pt x="2397284" y="19908"/>
                  </a:lnTo>
                  <a:lnTo>
                    <a:pt x="2442365" y="19908"/>
                  </a:lnTo>
                  <a:lnTo>
                    <a:pt x="2446914" y="14802"/>
                  </a:lnTo>
                  <a:close/>
                </a:path>
                <a:path w="3430270" h="20320">
                  <a:moveTo>
                    <a:pt x="2452084" y="4589"/>
                  </a:moveTo>
                  <a:lnTo>
                    <a:pt x="2387565" y="4589"/>
                  </a:lnTo>
                  <a:lnTo>
                    <a:pt x="2387565" y="14802"/>
                  </a:lnTo>
                  <a:lnTo>
                    <a:pt x="2452084" y="14802"/>
                  </a:lnTo>
                  <a:lnTo>
                    <a:pt x="2452084" y="4589"/>
                  </a:lnTo>
                  <a:close/>
                </a:path>
                <a:path w="3430270" h="20320">
                  <a:moveTo>
                    <a:pt x="2442365" y="0"/>
                  </a:moveTo>
                  <a:lnTo>
                    <a:pt x="2397284" y="0"/>
                  </a:lnTo>
                  <a:lnTo>
                    <a:pt x="2392734" y="4589"/>
                  </a:lnTo>
                  <a:lnTo>
                    <a:pt x="2446914" y="4589"/>
                  </a:lnTo>
                  <a:lnTo>
                    <a:pt x="2442365" y="0"/>
                  </a:lnTo>
                  <a:close/>
                </a:path>
                <a:path w="3430270" h="20320">
                  <a:moveTo>
                    <a:pt x="2551344" y="0"/>
                  </a:moveTo>
                  <a:lnTo>
                    <a:pt x="2506263" y="0"/>
                  </a:lnTo>
                  <a:lnTo>
                    <a:pt x="2501714" y="4589"/>
                  </a:lnTo>
                  <a:lnTo>
                    <a:pt x="2496544" y="4589"/>
                  </a:lnTo>
                  <a:lnTo>
                    <a:pt x="2496544" y="14802"/>
                  </a:lnTo>
                  <a:lnTo>
                    <a:pt x="2501714" y="14802"/>
                  </a:lnTo>
                  <a:lnTo>
                    <a:pt x="2506263" y="19908"/>
                  </a:lnTo>
                  <a:lnTo>
                    <a:pt x="2551344" y="19908"/>
                  </a:lnTo>
                  <a:lnTo>
                    <a:pt x="2556100" y="14802"/>
                  </a:lnTo>
                  <a:lnTo>
                    <a:pt x="2561063" y="9695"/>
                  </a:lnTo>
                  <a:lnTo>
                    <a:pt x="2556100" y="4589"/>
                  </a:lnTo>
                  <a:lnTo>
                    <a:pt x="2551344" y="0"/>
                  </a:lnTo>
                  <a:close/>
                </a:path>
                <a:path w="3430270" h="20320">
                  <a:moveTo>
                    <a:pt x="2660531" y="0"/>
                  </a:moveTo>
                  <a:lnTo>
                    <a:pt x="2615864" y="0"/>
                  </a:lnTo>
                  <a:lnTo>
                    <a:pt x="2610901" y="4589"/>
                  </a:lnTo>
                  <a:lnTo>
                    <a:pt x="2605731" y="4589"/>
                  </a:lnTo>
                  <a:lnTo>
                    <a:pt x="2605731" y="14802"/>
                  </a:lnTo>
                  <a:lnTo>
                    <a:pt x="2615864" y="19908"/>
                  </a:lnTo>
                  <a:lnTo>
                    <a:pt x="2660531" y="19908"/>
                  </a:lnTo>
                  <a:lnTo>
                    <a:pt x="2665701" y="14802"/>
                  </a:lnTo>
                  <a:lnTo>
                    <a:pt x="2665701" y="4589"/>
                  </a:lnTo>
                  <a:lnTo>
                    <a:pt x="2660531" y="0"/>
                  </a:lnTo>
                  <a:close/>
                </a:path>
                <a:path w="3430270" h="20320">
                  <a:moveTo>
                    <a:pt x="2774680" y="4589"/>
                  </a:moveTo>
                  <a:lnTo>
                    <a:pt x="2714917" y="4589"/>
                  </a:lnTo>
                  <a:lnTo>
                    <a:pt x="2714917" y="14802"/>
                  </a:lnTo>
                  <a:lnTo>
                    <a:pt x="2719880" y="19908"/>
                  </a:lnTo>
                  <a:lnTo>
                    <a:pt x="2769717" y="19908"/>
                  </a:lnTo>
                  <a:lnTo>
                    <a:pt x="2774680" y="14802"/>
                  </a:lnTo>
                  <a:lnTo>
                    <a:pt x="2774680" y="4589"/>
                  </a:lnTo>
                  <a:close/>
                </a:path>
                <a:path w="3430270" h="20320">
                  <a:moveTo>
                    <a:pt x="2769717" y="0"/>
                  </a:moveTo>
                  <a:lnTo>
                    <a:pt x="2719880" y="0"/>
                  </a:lnTo>
                  <a:lnTo>
                    <a:pt x="2719880" y="4589"/>
                  </a:lnTo>
                  <a:lnTo>
                    <a:pt x="2769717" y="4589"/>
                  </a:lnTo>
                  <a:lnTo>
                    <a:pt x="2769717" y="0"/>
                  </a:lnTo>
                  <a:close/>
                </a:path>
                <a:path w="3430270" h="20320">
                  <a:moveTo>
                    <a:pt x="2883867" y="4589"/>
                  </a:moveTo>
                  <a:lnTo>
                    <a:pt x="2824517" y="4589"/>
                  </a:lnTo>
                  <a:lnTo>
                    <a:pt x="2824517" y="14802"/>
                  </a:lnTo>
                  <a:lnTo>
                    <a:pt x="2829067" y="19908"/>
                  </a:lnTo>
                  <a:lnTo>
                    <a:pt x="2878697" y="19908"/>
                  </a:lnTo>
                  <a:lnTo>
                    <a:pt x="2883867" y="14802"/>
                  </a:lnTo>
                  <a:lnTo>
                    <a:pt x="2883867" y="4589"/>
                  </a:lnTo>
                  <a:close/>
                </a:path>
                <a:path w="3430270" h="20320">
                  <a:moveTo>
                    <a:pt x="2878697" y="0"/>
                  </a:moveTo>
                  <a:lnTo>
                    <a:pt x="2829067" y="0"/>
                  </a:lnTo>
                  <a:lnTo>
                    <a:pt x="2829067" y="4589"/>
                  </a:lnTo>
                  <a:lnTo>
                    <a:pt x="2878697" y="4589"/>
                  </a:lnTo>
                  <a:lnTo>
                    <a:pt x="2878697" y="0"/>
                  </a:lnTo>
                  <a:close/>
                </a:path>
                <a:path w="3430270" h="20320">
                  <a:moveTo>
                    <a:pt x="2993053" y="4589"/>
                  </a:moveTo>
                  <a:lnTo>
                    <a:pt x="2933497" y="4589"/>
                  </a:lnTo>
                  <a:lnTo>
                    <a:pt x="2933497" y="14802"/>
                  </a:lnTo>
                  <a:lnTo>
                    <a:pt x="2938667" y="19908"/>
                  </a:lnTo>
                  <a:lnTo>
                    <a:pt x="2987883" y="19908"/>
                  </a:lnTo>
                  <a:lnTo>
                    <a:pt x="2993053" y="14802"/>
                  </a:lnTo>
                  <a:lnTo>
                    <a:pt x="2993053" y="4589"/>
                  </a:lnTo>
                  <a:close/>
                </a:path>
                <a:path w="3430270" h="20320">
                  <a:moveTo>
                    <a:pt x="2987883" y="0"/>
                  </a:moveTo>
                  <a:lnTo>
                    <a:pt x="2938667" y="0"/>
                  </a:lnTo>
                  <a:lnTo>
                    <a:pt x="2938667" y="4589"/>
                  </a:lnTo>
                  <a:lnTo>
                    <a:pt x="2987883" y="4589"/>
                  </a:lnTo>
                  <a:lnTo>
                    <a:pt x="2987883" y="0"/>
                  </a:lnTo>
                  <a:close/>
                </a:path>
                <a:path w="3430270" h="20320">
                  <a:moveTo>
                    <a:pt x="3092314" y="0"/>
                  </a:moveTo>
                  <a:lnTo>
                    <a:pt x="3047853" y="0"/>
                  </a:lnTo>
                  <a:lnTo>
                    <a:pt x="3042683" y="4589"/>
                  </a:lnTo>
                  <a:lnTo>
                    <a:pt x="3037514" y="9695"/>
                  </a:lnTo>
                  <a:lnTo>
                    <a:pt x="3047853" y="19908"/>
                  </a:lnTo>
                  <a:lnTo>
                    <a:pt x="3092314" y="19908"/>
                  </a:lnTo>
                  <a:lnTo>
                    <a:pt x="3102033" y="14802"/>
                  </a:lnTo>
                  <a:lnTo>
                    <a:pt x="3102033" y="4589"/>
                  </a:lnTo>
                  <a:lnTo>
                    <a:pt x="3097483" y="4589"/>
                  </a:lnTo>
                  <a:lnTo>
                    <a:pt x="3092314" y="0"/>
                  </a:lnTo>
                  <a:close/>
                </a:path>
                <a:path w="3430270" h="20320">
                  <a:moveTo>
                    <a:pt x="3206670" y="14802"/>
                  </a:moveTo>
                  <a:lnTo>
                    <a:pt x="3151663" y="14802"/>
                  </a:lnTo>
                  <a:lnTo>
                    <a:pt x="3156833" y="19908"/>
                  </a:lnTo>
                  <a:lnTo>
                    <a:pt x="3201500" y="19908"/>
                  </a:lnTo>
                  <a:lnTo>
                    <a:pt x="3206670" y="14802"/>
                  </a:lnTo>
                  <a:close/>
                </a:path>
                <a:path w="3430270" h="20320">
                  <a:moveTo>
                    <a:pt x="3211633" y="4589"/>
                  </a:moveTo>
                  <a:lnTo>
                    <a:pt x="3147114" y="4589"/>
                  </a:lnTo>
                  <a:lnTo>
                    <a:pt x="3147114" y="14802"/>
                  </a:lnTo>
                  <a:lnTo>
                    <a:pt x="3211633" y="14802"/>
                  </a:lnTo>
                  <a:lnTo>
                    <a:pt x="3211633" y="4589"/>
                  </a:lnTo>
                  <a:close/>
                </a:path>
                <a:path w="3430270" h="20320">
                  <a:moveTo>
                    <a:pt x="3201500" y="0"/>
                  </a:moveTo>
                  <a:lnTo>
                    <a:pt x="3156833" y="0"/>
                  </a:lnTo>
                  <a:lnTo>
                    <a:pt x="3151663" y="4589"/>
                  </a:lnTo>
                  <a:lnTo>
                    <a:pt x="3206670" y="4589"/>
                  </a:lnTo>
                  <a:lnTo>
                    <a:pt x="3201500" y="0"/>
                  </a:lnTo>
                  <a:close/>
                </a:path>
                <a:path w="3430270" h="20320">
                  <a:moveTo>
                    <a:pt x="3315650" y="14802"/>
                  </a:moveTo>
                  <a:lnTo>
                    <a:pt x="3260850" y="14802"/>
                  </a:lnTo>
                  <a:lnTo>
                    <a:pt x="3266019" y="19908"/>
                  </a:lnTo>
                  <a:lnTo>
                    <a:pt x="3310480" y="19908"/>
                  </a:lnTo>
                  <a:lnTo>
                    <a:pt x="3315650" y="14802"/>
                  </a:lnTo>
                  <a:close/>
                </a:path>
                <a:path w="3430270" h="20320">
                  <a:moveTo>
                    <a:pt x="3320819" y="4589"/>
                  </a:moveTo>
                  <a:lnTo>
                    <a:pt x="3256300" y="4589"/>
                  </a:lnTo>
                  <a:lnTo>
                    <a:pt x="3256300" y="14802"/>
                  </a:lnTo>
                  <a:lnTo>
                    <a:pt x="3320819" y="14802"/>
                  </a:lnTo>
                  <a:lnTo>
                    <a:pt x="3320819" y="4589"/>
                  </a:lnTo>
                  <a:close/>
                </a:path>
                <a:path w="3430270" h="20320">
                  <a:moveTo>
                    <a:pt x="3310480" y="0"/>
                  </a:moveTo>
                  <a:lnTo>
                    <a:pt x="3266019" y="0"/>
                  </a:lnTo>
                  <a:lnTo>
                    <a:pt x="3260850" y="4589"/>
                  </a:lnTo>
                  <a:lnTo>
                    <a:pt x="3315650" y="4589"/>
                  </a:lnTo>
                  <a:lnTo>
                    <a:pt x="3310480" y="0"/>
                  </a:lnTo>
                  <a:close/>
                </a:path>
                <a:path w="3430270" h="20320">
                  <a:moveTo>
                    <a:pt x="3420080" y="0"/>
                  </a:moveTo>
                  <a:lnTo>
                    <a:pt x="3374999" y="0"/>
                  </a:lnTo>
                  <a:lnTo>
                    <a:pt x="3370450" y="4589"/>
                  </a:lnTo>
                  <a:lnTo>
                    <a:pt x="3365280" y="4589"/>
                  </a:lnTo>
                  <a:lnTo>
                    <a:pt x="3365280" y="14802"/>
                  </a:lnTo>
                  <a:lnTo>
                    <a:pt x="3370450" y="14802"/>
                  </a:lnTo>
                  <a:lnTo>
                    <a:pt x="3374999" y="19908"/>
                  </a:lnTo>
                  <a:lnTo>
                    <a:pt x="3420080" y="19908"/>
                  </a:lnTo>
                  <a:lnTo>
                    <a:pt x="3424836" y="14802"/>
                  </a:lnTo>
                  <a:lnTo>
                    <a:pt x="3430006" y="9695"/>
                  </a:lnTo>
                  <a:lnTo>
                    <a:pt x="3424836" y="4589"/>
                  </a:lnTo>
                  <a:lnTo>
                    <a:pt x="34200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64997" y="4923342"/>
              <a:ext cx="3430270" cy="20320"/>
            </a:xfrm>
            <a:custGeom>
              <a:avLst/>
              <a:gdLst/>
              <a:ahLst/>
              <a:cxnLst/>
              <a:rect l="l" t="t" r="r" b="b"/>
              <a:pathLst>
                <a:path w="3430270" h="20320">
                  <a:moveTo>
                    <a:pt x="9719" y="0"/>
                  </a:moveTo>
                  <a:lnTo>
                    <a:pt x="54283" y="0"/>
                  </a:lnTo>
                  <a:lnTo>
                    <a:pt x="59411" y="4589"/>
                  </a:lnTo>
                  <a:lnTo>
                    <a:pt x="59411" y="9695"/>
                  </a:lnTo>
                  <a:lnTo>
                    <a:pt x="59411" y="14802"/>
                  </a:lnTo>
                  <a:lnTo>
                    <a:pt x="54283" y="19908"/>
                  </a:lnTo>
                  <a:lnTo>
                    <a:pt x="9719" y="19908"/>
                  </a:lnTo>
                  <a:lnTo>
                    <a:pt x="0" y="14802"/>
                  </a:lnTo>
                  <a:lnTo>
                    <a:pt x="0" y="9695"/>
                  </a:lnTo>
                  <a:lnTo>
                    <a:pt x="0" y="4589"/>
                  </a:lnTo>
                  <a:lnTo>
                    <a:pt x="4611" y="4589"/>
                  </a:lnTo>
                  <a:lnTo>
                    <a:pt x="9719" y="0"/>
                  </a:lnTo>
                  <a:close/>
                </a:path>
                <a:path w="3430270" h="20320">
                  <a:moveTo>
                    <a:pt x="114232" y="0"/>
                  </a:moveTo>
                  <a:lnTo>
                    <a:pt x="163903" y="0"/>
                  </a:lnTo>
                  <a:lnTo>
                    <a:pt x="163903" y="4589"/>
                  </a:lnTo>
                  <a:lnTo>
                    <a:pt x="168515" y="4589"/>
                  </a:lnTo>
                  <a:lnTo>
                    <a:pt x="168515" y="9695"/>
                  </a:lnTo>
                  <a:lnTo>
                    <a:pt x="168515" y="14802"/>
                  </a:lnTo>
                  <a:lnTo>
                    <a:pt x="163903" y="19908"/>
                  </a:lnTo>
                  <a:lnTo>
                    <a:pt x="114232" y="19908"/>
                  </a:lnTo>
                  <a:lnTo>
                    <a:pt x="109103" y="14802"/>
                  </a:lnTo>
                  <a:lnTo>
                    <a:pt x="109103" y="9695"/>
                  </a:lnTo>
                  <a:lnTo>
                    <a:pt x="109103" y="4589"/>
                  </a:lnTo>
                  <a:lnTo>
                    <a:pt x="114232" y="4589"/>
                  </a:lnTo>
                  <a:lnTo>
                    <a:pt x="114232" y="0"/>
                  </a:lnTo>
                  <a:close/>
                </a:path>
                <a:path w="3430270" h="20320">
                  <a:moveTo>
                    <a:pt x="223335" y="0"/>
                  </a:moveTo>
                  <a:lnTo>
                    <a:pt x="273007" y="0"/>
                  </a:lnTo>
                  <a:lnTo>
                    <a:pt x="273007" y="4589"/>
                  </a:lnTo>
                  <a:lnTo>
                    <a:pt x="277619" y="4589"/>
                  </a:lnTo>
                  <a:lnTo>
                    <a:pt x="277619" y="9695"/>
                  </a:lnTo>
                  <a:lnTo>
                    <a:pt x="277619" y="14802"/>
                  </a:lnTo>
                  <a:lnTo>
                    <a:pt x="273007" y="19908"/>
                  </a:lnTo>
                  <a:lnTo>
                    <a:pt x="223335" y="19908"/>
                  </a:lnTo>
                  <a:lnTo>
                    <a:pt x="218207" y="14802"/>
                  </a:lnTo>
                  <a:lnTo>
                    <a:pt x="218207" y="9695"/>
                  </a:lnTo>
                  <a:lnTo>
                    <a:pt x="218207" y="4589"/>
                  </a:lnTo>
                  <a:lnTo>
                    <a:pt x="223335" y="4589"/>
                  </a:lnTo>
                  <a:lnTo>
                    <a:pt x="223335" y="0"/>
                  </a:lnTo>
                  <a:close/>
                </a:path>
                <a:path w="3430270" h="20320">
                  <a:moveTo>
                    <a:pt x="332439" y="0"/>
                  </a:moveTo>
                  <a:lnTo>
                    <a:pt x="382111" y="0"/>
                  </a:lnTo>
                  <a:lnTo>
                    <a:pt x="382111" y="4589"/>
                  </a:lnTo>
                  <a:lnTo>
                    <a:pt x="387239" y="4589"/>
                  </a:lnTo>
                  <a:lnTo>
                    <a:pt x="387239" y="9695"/>
                  </a:lnTo>
                  <a:lnTo>
                    <a:pt x="387239" y="14802"/>
                  </a:lnTo>
                  <a:lnTo>
                    <a:pt x="382111" y="19908"/>
                  </a:lnTo>
                  <a:lnTo>
                    <a:pt x="332439" y="19908"/>
                  </a:lnTo>
                  <a:lnTo>
                    <a:pt x="327311" y="14802"/>
                  </a:lnTo>
                  <a:lnTo>
                    <a:pt x="327311" y="9695"/>
                  </a:lnTo>
                  <a:lnTo>
                    <a:pt x="327311" y="4589"/>
                  </a:lnTo>
                  <a:lnTo>
                    <a:pt x="332439" y="4589"/>
                  </a:lnTo>
                  <a:lnTo>
                    <a:pt x="332439" y="0"/>
                  </a:lnTo>
                  <a:close/>
                </a:path>
                <a:path w="3430270" h="20320">
                  <a:moveTo>
                    <a:pt x="441543" y="0"/>
                  </a:moveTo>
                  <a:lnTo>
                    <a:pt x="486107" y="0"/>
                  </a:lnTo>
                  <a:lnTo>
                    <a:pt x="491235" y="4589"/>
                  </a:lnTo>
                  <a:lnTo>
                    <a:pt x="496343" y="4589"/>
                  </a:lnTo>
                  <a:lnTo>
                    <a:pt x="496343" y="9695"/>
                  </a:lnTo>
                  <a:lnTo>
                    <a:pt x="496343" y="14802"/>
                  </a:lnTo>
                  <a:lnTo>
                    <a:pt x="486107" y="19908"/>
                  </a:lnTo>
                  <a:lnTo>
                    <a:pt x="441543" y="19908"/>
                  </a:lnTo>
                  <a:lnTo>
                    <a:pt x="436932" y="14802"/>
                  </a:lnTo>
                  <a:lnTo>
                    <a:pt x="431803" y="9695"/>
                  </a:lnTo>
                  <a:lnTo>
                    <a:pt x="436932" y="4589"/>
                  </a:lnTo>
                  <a:lnTo>
                    <a:pt x="441543" y="0"/>
                  </a:lnTo>
                  <a:close/>
                </a:path>
                <a:path w="3430270" h="20320">
                  <a:moveTo>
                    <a:pt x="550647" y="0"/>
                  </a:moveTo>
                  <a:lnTo>
                    <a:pt x="595728" y="0"/>
                  </a:lnTo>
                  <a:lnTo>
                    <a:pt x="600339" y="4589"/>
                  </a:lnTo>
                  <a:lnTo>
                    <a:pt x="605447" y="4589"/>
                  </a:lnTo>
                  <a:lnTo>
                    <a:pt x="605447" y="9695"/>
                  </a:lnTo>
                  <a:lnTo>
                    <a:pt x="605447" y="14802"/>
                  </a:lnTo>
                  <a:lnTo>
                    <a:pt x="600339" y="14802"/>
                  </a:lnTo>
                  <a:lnTo>
                    <a:pt x="595728" y="19908"/>
                  </a:lnTo>
                  <a:lnTo>
                    <a:pt x="550647" y="19908"/>
                  </a:lnTo>
                  <a:lnTo>
                    <a:pt x="546035" y="14802"/>
                  </a:lnTo>
                  <a:lnTo>
                    <a:pt x="540907" y="14802"/>
                  </a:lnTo>
                  <a:lnTo>
                    <a:pt x="540907" y="9695"/>
                  </a:lnTo>
                  <a:lnTo>
                    <a:pt x="540907" y="4589"/>
                  </a:lnTo>
                  <a:lnTo>
                    <a:pt x="546035" y="4589"/>
                  </a:lnTo>
                  <a:lnTo>
                    <a:pt x="550647" y="0"/>
                  </a:lnTo>
                  <a:close/>
                </a:path>
                <a:path w="3430270" h="20320">
                  <a:moveTo>
                    <a:pt x="660268" y="0"/>
                  </a:moveTo>
                  <a:lnTo>
                    <a:pt x="704831" y="0"/>
                  </a:lnTo>
                  <a:lnTo>
                    <a:pt x="709939" y="4589"/>
                  </a:lnTo>
                  <a:lnTo>
                    <a:pt x="714551" y="4589"/>
                  </a:lnTo>
                  <a:lnTo>
                    <a:pt x="714551" y="9695"/>
                  </a:lnTo>
                  <a:lnTo>
                    <a:pt x="714551" y="14802"/>
                  </a:lnTo>
                  <a:lnTo>
                    <a:pt x="709939" y="14802"/>
                  </a:lnTo>
                  <a:lnTo>
                    <a:pt x="704831" y="19908"/>
                  </a:lnTo>
                  <a:lnTo>
                    <a:pt x="660268" y="19908"/>
                  </a:lnTo>
                  <a:lnTo>
                    <a:pt x="655139" y="14802"/>
                  </a:lnTo>
                  <a:lnTo>
                    <a:pt x="650011" y="14802"/>
                  </a:lnTo>
                  <a:lnTo>
                    <a:pt x="650011" y="9695"/>
                  </a:lnTo>
                  <a:lnTo>
                    <a:pt x="650011" y="4589"/>
                  </a:lnTo>
                  <a:lnTo>
                    <a:pt x="655139" y="4589"/>
                  </a:lnTo>
                  <a:lnTo>
                    <a:pt x="660268" y="0"/>
                  </a:lnTo>
                  <a:close/>
                </a:path>
                <a:path w="3430270" h="20320">
                  <a:moveTo>
                    <a:pt x="769371" y="0"/>
                  </a:moveTo>
                  <a:lnTo>
                    <a:pt x="813935" y="0"/>
                  </a:lnTo>
                  <a:lnTo>
                    <a:pt x="819064" y="4589"/>
                  </a:lnTo>
                  <a:lnTo>
                    <a:pt x="823675" y="9695"/>
                  </a:lnTo>
                  <a:lnTo>
                    <a:pt x="819064" y="14802"/>
                  </a:lnTo>
                  <a:lnTo>
                    <a:pt x="813935" y="19908"/>
                  </a:lnTo>
                  <a:lnTo>
                    <a:pt x="769371" y="19908"/>
                  </a:lnTo>
                  <a:lnTo>
                    <a:pt x="764243" y="14802"/>
                  </a:lnTo>
                  <a:lnTo>
                    <a:pt x="759114" y="14802"/>
                  </a:lnTo>
                  <a:lnTo>
                    <a:pt x="759114" y="9695"/>
                  </a:lnTo>
                  <a:lnTo>
                    <a:pt x="759114" y="4589"/>
                  </a:lnTo>
                  <a:lnTo>
                    <a:pt x="764243" y="4589"/>
                  </a:lnTo>
                  <a:lnTo>
                    <a:pt x="769371" y="0"/>
                  </a:lnTo>
                  <a:close/>
                </a:path>
                <a:path w="3430270" h="20320">
                  <a:moveTo>
                    <a:pt x="878392" y="0"/>
                  </a:moveTo>
                  <a:lnTo>
                    <a:pt x="923060" y="0"/>
                  </a:lnTo>
                  <a:lnTo>
                    <a:pt x="928229" y="4589"/>
                  </a:lnTo>
                  <a:lnTo>
                    <a:pt x="928229" y="9695"/>
                  </a:lnTo>
                  <a:lnTo>
                    <a:pt x="928229" y="14802"/>
                  </a:lnTo>
                  <a:lnTo>
                    <a:pt x="923060" y="19908"/>
                  </a:lnTo>
                  <a:lnTo>
                    <a:pt x="878392" y="19908"/>
                  </a:lnTo>
                  <a:lnTo>
                    <a:pt x="868673" y="14802"/>
                  </a:lnTo>
                  <a:lnTo>
                    <a:pt x="868673" y="9695"/>
                  </a:lnTo>
                  <a:lnTo>
                    <a:pt x="868673" y="4589"/>
                  </a:lnTo>
                  <a:lnTo>
                    <a:pt x="873429" y="4589"/>
                  </a:lnTo>
                  <a:lnTo>
                    <a:pt x="878392" y="0"/>
                  </a:lnTo>
                  <a:close/>
                </a:path>
                <a:path w="3430270" h="20320">
                  <a:moveTo>
                    <a:pt x="983029" y="0"/>
                  </a:moveTo>
                  <a:lnTo>
                    <a:pt x="1032246" y="0"/>
                  </a:lnTo>
                  <a:lnTo>
                    <a:pt x="1032246" y="4589"/>
                  </a:lnTo>
                  <a:lnTo>
                    <a:pt x="1037209" y="4589"/>
                  </a:lnTo>
                  <a:lnTo>
                    <a:pt x="1037209" y="9695"/>
                  </a:lnTo>
                  <a:lnTo>
                    <a:pt x="1037209" y="14802"/>
                  </a:lnTo>
                  <a:lnTo>
                    <a:pt x="1032246" y="19908"/>
                  </a:lnTo>
                  <a:lnTo>
                    <a:pt x="983029" y="19908"/>
                  </a:lnTo>
                  <a:lnTo>
                    <a:pt x="977860" y="14802"/>
                  </a:lnTo>
                  <a:lnTo>
                    <a:pt x="977860" y="9695"/>
                  </a:lnTo>
                  <a:lnTo>
                    <a:pt x="977860" y="4589"/>
                  </a:lnTo>
                  <a:lnTo>
                    <a:pt x="983029" y="4589"/>
                  </a:lnTo>
                  <a:lnTo>
                    <a:pt x="983029" y="0"/>
                  </a:lnTo>
                  <a:close/>
                </a:path>
                <a:path w="3430270" h="20320">
                  <a:moveTo>
                    <a:pt x="1092009" y="0"/>
                  </a:moveTo>
                  <a:lnTo>
                    <a:pt x="1141846" y="0"/>
                  </a:lnTo>
                  <a:lnTo>
                    <a:pt x="1141846" y="4589"/>
                  </a:lnTo>
                  <a:lnTo>
                    <a:pt x="1146396" y="4589"/>
                  </a:lnTo>
                  <a:lnTo>
                    <a:pt x="1146396" y="9695"/>
                  </a:lnTo>
                  <a:lnTo>
                    <a:pt x="1146396" y="14802"/>
                  </a:lnTo>
                  <a:lnTo>
                    <a:pt x="1141846" y="19908"/>
                  </a:lnTo>
                  <a:lnTo>
                    <a:pt x="1092009" y="19908"/>
                  </a:lnTo>
                  <a:lnTo>
                    <a:pt x="1087046" y="14802"/>
                  </a:lnTo>
                  <a:lnTo>
                    <a:pt x="1087046" y="9695"/>
                  </a:lnTo>
                  <a:lnTo>
                    <a:pt x="1087046" y="4589"/>
                  </a:lnTo>
                  <a:lnTo>
                    <a:pt x="1092009" y="4589"/>
                  </a:lnTo>
                  <a:lnTo>
                    <a:pt x="1092009" y="0"/>
                  </a:lnTo>
                  <a:close/>
                </a:path>
                <a:path w="3430270" h="20320">
                  <a:moveTo>
                    <a:pt x="1201196" y="0"/>
                  </a:moveTo>
                  <a:lnTo>
                    <a:pt x="1250826" y="0"/>
                  </a:lnTo>
                  <a:lnTo>
                    <a:pt x="1250826" y="4589"/>
                  </a:lnTo>
                  <a:lnTo>
                    <a:pt x="1255375" y="4589"/>
                  </a:lnTo>
                  <a:lnTo>
                    <a:pt x="1255375" y="9695"/>
                  </a:lnTo>
                  <a:lnTo>
                    <a:pt x="1255375" y="14802"/>
                  </a:lnTo>
                  <a:lnTo>
                    <a:pt x="1250826" y="19908"/>
                  </a:lnTo>
                  <a:lnTo>
                    <a:pt x="1201196" y="19908"/>
                  </a:lnTo>
                  <a:lnTo>
                    <a:pt x="1196026" y="14802"/>
                  </a:lnTo>
                  <a:lnTo>
                    <a:pt x="1196026" y="9695"/>
                  </a:lnTo>
                  <a:lnTo>
                    <a:pt x="1196026" y="4589"/>
                  </a:lnTo>
                  <a:lnTo>
                    <a:pt x="1201196" y="4589"/>
                  </a:lnTo>
                  <a:lnTo>
                    <a:pt x="1201196" y="0"/>
                  </a:lnTo>
                  <a:close/>
                </a:path>
                <a:path w="3430270" h="20320">
                  <a:moveTo>
                    <a:pt x="1310382" y="0"/>
                  </a:moveTo>
                  <a:lnTo>
                    <a:pt x="1354842" y="0"/>
                  </a:lnTo>
                  <a:lnTo>
                    <a:pt x="1360012" y="4589"/>
                  </a:lnTo>
                  <a:lnTo>
                    <a:pt x="1365182" y="4589"/>
                  </a:lnTo>
                  <a:lnTo>
                    <a:pt x="1365182" y="9695"/>
                  </a:lnTo>
                  <a:lnTo>
                    <a:pt x="1365182" y="14802"/>
                  </a:lnTo>
                  <a:lnTo>
                    <a:pt x="1354842" y="19908"/>
                  </a:lnTo>
                  <a:lnTo>
                    <a:pt x="1310382" y="19908"/>
                  </a:lnTo>
                  <a:lnTo>
                    <a:pt x="1305212" y="14802"/>
                  </a:lnTo>
                  <a:lnTo>
                    <a:pt x="1300456" y="9695"/>
                  </a:lnTo>
                  <a:lnTo>
                    <a:pt x="1305212" y="4589"/>
                  </a:lnTo>
                  <a:lnTo>
                    <a:pt x="1310382" y="0"/>
                  </a:lnTo>
                  <a:close/>
                </a:path>
                <a:path w="3430270" h="20320">
                  <a:moveTo>
                    <a:pt x="1419362" y="0"/>
                  </a:moveTo>
                  <a:lnTo>
                    <a:pt x="1464029" y="0"/>
                  </a:lnTo>
                  <a:lnTo>
                    <a:pt x="1468992" y="4589"/>
                  </a:lnTo>
                  <a:lnTo>
                    <a:pt x="1474162" y="4589"/>
                  </a:lnTo>
                  <a:lnTo>
                    <a:pt x="1474162" y="9695"/>
                  </a:lnTo>
                  <a:lnTo>
                    <a:pt x="1474162" y="14802"/>
                  </a:lnTo>
                  <a:lnTo>
                    <a:pt x="1468992" y="14802"/>
                  </a:lnTo>
                  <a:lnTo>
                    <a:pt x="1464029" y="19908"/>
                  </a:lnTo>
                  <a:lnTo>
                    <a:pt x="1419362" y="19908"/>
                  </a:lnTo>
                  <a:lnTo>
                    <a:pt x="1414812" y="14802"/>
                  </a:lnTo>
                  <a:lnTo>
                    <a:pt x="1409642" y="14802"/>
                  </a:lnTo>
                  <a:lnTo>
                    <a:pt x="1409642" y="9695"/>
                  </a:lnTo>
                  <a:lnTo>
                    <a:pt x="1409642" y="4589"/>
                  </a:lnTo>
                  <a:lnTo>
                    <a:pt x="1414812" y="4589"/>
                  </a:lnTo>
                  <a:lnTo>
                    <a:pt x="1419362" y="0"/>
                  </a:lnTo>
                  <a:close/>
                </a:path>
                <a:path w="3430270" h="20320">
                  <a:moveTo>
                    <a:pt x="1528548" y="0"/>
                  </a:moveTo>
                  <a:lnTo>
                    <a:pt x="1573629" y="0"/>
                  </a:lnTo>
                  <a:lnTo>
                    <a:pt x="1578178" y="4589"/>
                  </a:lnTo>
                  <a:lnTo>
                    <a:pt x="1583348" y="4589"/>
                  </a:lnTo>
                  <a:lnTo>
                    <a:pt x="1583348" y="9695"/>
                  </a:lnTo>
                  <a:lnTo>
                    <a:pt x="1583348" y="14802"/>
                  </a:lnTo>
                  <a:lnTo>
                    <a:pt x="1578178" y="14802"/>
                  </a:lnTo>
                  <a:lnTo>
                    <a:pt x="1573629" y="19908"/>
                  </a:lnTo>
                  <a:lnTo>
                    <a:pt x="1528548" y="19908"/>
                  </a:lnTo>
                  <a:lnTo>
                    <a:pt x="1523792" y="14802"/>
                  </a:lnTo>
                  <a:lnTo>
                    <a:pt x="1518829" y="14802"/>
                  </a:lnTo>
                  <a:lnTo>
                    <a:pt x="1518829" y="9695"/>
                  </a:lnTo>
                  <a:lnTo>
                    <a:pt x="1518829" y="4589"/>
                  </a:lnTo>
                  <a:lnTo>
                    <a:pt x="1523792" y="4589"/>
                  </a:lnTo>
                  <a:lnTo>
                    <a:pt x="1528548" y="0"/>
                  </a:lnTo>
                  <a:close/>
                </a:path>
                <a:path w="3430270" h="20320">
                  <a:moveTo>
                    <a:pt x="1638148" y="0"/>
                  </a:moveTo>
                  <a:lnTo>
                    <a:pt x="1682609" y="0"/>
                  </a:lnTo>
                  <a:lnTo>
                    <a:pt x="1687778" y="4589"/>
                  </a:lnTo>
                  <a:lnTo>
                    <a:pt x="1692328" y="9695"/>
                  </a:lnTo>
                  <a:lnTo>
                    <a:pt x="1687779" y="14802"/>
                  </a:lnTo>
                  <a:lnTo>
                    <a:pt x="1682609" y="19908"/>
                  </a:lnTo>
                  <a:lnTo>
                    <a:pt x="1638148" y="19908"/>
                  </a:lnTo>
                  <a:lnTo>
                    <a:pt x="1632978" y="14802"/>
                  </a:lnTo>
                  <a:lnTo>
                    <a:pt x="1627809" y="14802"/>
                  </a:lnTo>
                  <a:lnTo>
                    <a:pt x="1627809" y="9695"/>
                  </a:lnTo>
                  <a:lnTo>
                    <a:pt x="1627809" y="4589"/>
                  </a:lnTo>
                  <a:lnTo>
                    <a:pt x="1632978" y="4589"/>
                  </a:lnTo>
                  <a:lnTo>
                    <a:pt x="1638148" y="0"/>
                  </a:lnTo>
                  <a:close/>
                </a:path>
                <a:path w="3430270" h="20320">
                  <a:moveTo>
                    <a:pt x="1747128" y="0"/>
                  </a:moveTo>
                  <a:lnTo>
                    <a:pt x="1791795" y="0"/>
                  </a:lnTo>
                  <a:lnTo>
                    <a:pt x="1796965" y="4589"/>
                  </a:lnTo>
                  <a:lnTo>
                    <a:pt x="1796965" y="9695"/>
                  </a:lnTo>
                  <a:lnTo>
                    <a:pt x="1796965" y="14802"/>
                  </a:lnTo>
                  <a:lnTo>
                    <a:pt x="1791795" y="19908"/>
                  </a:lnTo>
                  <a:lnTo>
                    <a:pt x="1747128" y="19908"/>
                  </a:lnTo>
                  <a:lnTo>
                    <a:pt x="1736995" y="14802"/>
                  </a:lnTo>
                  <a:lnTo>
                    <a:pt x="1736995" y="9695"/>
                  </a:lnTo>
                  <a:lnTo>
                    <a:pt x="1736995" y="4589"/>
                  </a:lnTo>
                  <a:lnTo>
                    <a:pt x="1742165" y="4589"/>
                  </a:lnTo>
                  <a:lnTo>
                    <a:pt x="1747128" y="0"/>
                  </a:lnTo>
                  <a:close/>
                </a:path>
                <a:path w="3430270" h="20320">
                  <a:moveTo>
                    <a:pt x="1851145" y="0"/>
                  </a:moveTo>
                  <a:lnTo>
                    <a:pt x="1900982" y="0"/>
                  </a:lnTo>
                  <a:lnTo>
                    <a:pt x="1900982" y="4589"/>
                  </a:lnTo>
                  <a:lnTo>
                    <a:pt x="1905945" y="4589"/>
                  </a:lnTo>
                  <a:lnTo>
                    <a:pt x="1905945" y="9695"/>
                  </a:lnTo>
                  <a:lnTo>
                    <a:pt x="1905945" y="14802"/>
                  </a:lnTo>
                  <a:lnTo>
                    <a:pt x="1900982" y="19908"/>
                  </a:lnTo>
                  <a:lnTo>
                    <a:pt x="1851145" y="19908"/>
                  </a:lnTo>
                  <a:lnTo>
                    <a:pt x="1846595" y="14802"/>
                  </a:lnTo>
                  <a:lnTo>
                    <a:pt x="1846595" y="9695"/>
                  </a:lnTo>
                  <a:lnTo>
                    <a:pt x="1846595" y="4589"/>
                  </a:lnTo>
                  <a:lnTo>
                    <a:pt x="1851145" y="4589"/>
                  </a:lnTo>
                  <a:lnTo>
                    <a:pt x="1851145" y="0"/>
                  </a:lnTo>
                  <a:close/>
                </a:path>
                <a:path w="3430270" h="20320">
                  <a:moveTo>
                    <a:pt x="1960745" y="0"/>
                  </a:moveTo>
                  <a:lnTo>
                    <a:pt x="2009961" y="0"/>
                  </a:lnTo>
                  <a:lnTo>
                    <a:pt x="2009961" y="4589"/>
                  </a:lnTo>
                  <a:lnTo>
                    <a:pt x="2015131" y="4589"/>
                  </a:lnTo>
                  <a:lnTo>
                    <a:pt x="2015131" y="9695"/>
                  </a:lnTo>
                  <a:lnTo>
                    <a:pt x="2015131" y="14802"/>
                  </a:lnTo>
                  <a:lnTo>
                    <a:pt x="2009961" y="19908"/>
                  </a:lnTo>
                  <a:lnTo>
                    <a:pt x="1960745" y="19908"/>
                  </a:lnTo>
                  <a:lnTo>
                    <a:pt x="1955782" y="14802"/>
                  </a:lnTo>
                  <a:lnTo>
                    <a:pt x="1955782" y="9695"/>
                  </a:lnTo>
                  <a:lnTo>
                    <a:pt x="1955782" y="4589"/>
                  </a:lnTo>
                  <a:lnTo>
                    <a:pt x="1960745" y="4589"/>
                  </a:lnTo>
                  <a:lnTo>
                    <a:pt x="1960745" y="0"/>
                  </a:lnTo>
                  <a:close/>
                </a:path>
                <a:path w="3430270" h="20320">
                  <a:moveTo>
                    <a:pt x="2069931" y="0"/>
                  </a:moveTo>
                  <a:lnTo>
                    <a:pt x="2119561" y="0"/>
                  </a:lnTo>
                  <a:lnTo>
                    <a:pt x="2119561" y="4589"/>
                  </a:lnTo>
                  <a:lnTo>
                    <a:pt x="2124318" y="4589"/>
                  </a:lnTo>
                  <a:lnTo>
                    <a:pt x="2124318" y="9695"/>
                  </a:lnTo>
                  <a:lnTo>
                    <a:pt x="2124318" y="14802"/>
                  </a:lnTo>
                  <a:lnTo>
                    <a:pt x="2119561" y="19908"/>
                  </a:lnTo>
                  <a:lnTo>
                    <a:pt x="2069931" y="19908"/>
                  </a:lnTo>
                  <a:lnTo>
                    <a:pt x="2064761" y="14802"/>
                  </a:lnTo>
                  <a:lnTo>
                    <a:pt x="2064761" y="9695"/>
                  </a:lnTo>
                  <a:lnTo>
                    <a:pt x="2064761" y="4589"/>
                  </a:lnTo>
                  <a:lnTo>
                    <a:pt x="2069931" y="4589"/>
                  </a:lnTo>
                  <a:lnTo>
                    <a:pt x="2069931" y="0"/>
                  </a:lnTo>
                  <a:close/>
                </a:path>
                <a:path w="3430270" h="20320">
                  <a:moveTo>
                    <a:pt x="2179118" y="0"/>
                  </a:moveTo>
                  <a:lnTo>
                    <a:pt x="2223578" y="0"/>
                  </a:lnTo>
                  <a:lnTo>
                    <a:pt x="2228748" y="4589"/>
                  </a:lnTo>
                  <a:lnTo>
                    <a:pt x="2233918" y="4589"/>
                  </a:lnTo>
                  <a:lnTo>
                    <a:pt x="2233918" y="9695"/>
                  </a:lnTo>
                  <a:lnTo>
                    <a:pt x="2233918" y="14802"/>
                  </a:lnTo>
                  <a:lnTo>
                    <a:pt x="2223578" y="19908"/>
                  </a:lnTo>
                  <a:lnTo>
                    <a:pt x="2179118" y="19908"/>
                  </a:lnTo>
                  <a:lnTo>
                    <a:pt x="2173948" y="14802"/>
                  </a:lnTo>
                  <a:lnTo>
                    <a:pt x="2169398" y="9695"/>
                  </a:lnTo>
                  <a:lnTo>
                    <a:pt x="2173948" y="4589"/>
                  </a:lnTo>
                  <a:lnTo>
                    <a:pt x="2179118" y="0"/>
                  </a:lnTo>
                  <a:close/>
                </a:path>
                <a:path w="3430270" h="20320">
                  <a:moveTo>
                    <a:pt x="2288097" y="0"/>
                  </a:moveTo>
                  <a:lnTo>
                    <a:pt x="2332765" y="0"/>
                  </a:lnTo>
                  <a:lnTo>
                    <a:pt x="2337728" y="4589"/>
                  </a:lnTo>
                  <a:lnTo>
                    <a:pt x="2342897" y="4589"/>
                  </a:lnTo>
                  <a:lnTo>
                    <a:pt x="2342897" y="9695"/>
                  </a:lnTo>
                  <a:lnTo>
                    <a:pt x="2342897" y="14802"/>
                  </a:lnTo>
                  <a:lnTo>
                    <a:pt x="2337728" y="14802"/>
                  </a:lnTo>
                  <a:lnTo>
                    <a:pt x="2332765" y="19908"/>
                  </a:lnTo>
                  <a:lnTo>
                    <a:pt x="2288097" y="19908"/>
                  </a:lnTo>
                  <a:lnTo>
                    <a:pt x="2282928" y="14802"/>
                  </a:lnTo>
                  <a:lnTo>
                    <a:pt x="2278378" y="14802"/>
                  </a:lnTo>
                  <a:lnTo>
                    <a:pt x="2278378" y="9695"/>
                  </a:lnTo>
                  <a:lnTo>
                    <a:pt x="2278378" y="4589"/>
                  </a:lnTo>
                  <a:lnTo>
                    <a:pt x="2282928" y="4589"/>
                  </a:lnTo>
                  <a:lnTo>
                    <a:pt x="2288097" y="0"/>
                  </a:lnTo>
                  <a:close/>
                </a:path>
                <a:path w="3430270" h="20320">
                  <a:moveTo>
                    <a:pt x="2397284" y="0"/>
                  </a:moveTo>
                  <a:lnTo>
                    <a:pt x="2442365" y="0"/>
                  </a:lnTo>
                  <a:lnTo>
                    <a:pt x="2446914" y="4589"/>
                  </a:lnTo>
                  <a:lnTo>
                    <a:pt x="2452084" y="4589"/>
                  </a:lnTo>
                  <a:lnTo>
                    <a:pt x="2452084" y="9695"/>
                  </a:lnTo>
                  <a:lnTo>
                    <a:pt x="2452084" y="14802"/>
                  </a:lnTo>
                  <a:lnTo>
                    <a:pt x="2446914" y="14802"/>
                  </a:lnTo>
                  <a:lnTo>
                    <a:pt x="2442365" y="19908"/>
                  </a:lnTo>
                  <a:lnTo>
                    <a:pt x="2397284" y="19908"/>
                  </a:lnTo>
                  <a:lnTo>
                    <a:pt x="2392734" y="14802"/>
                  </a:lnTo>
                  <a:lnTo>
                    <a:pt x="2387565" y="14802"/>
                  </a:lnTo>
                  <a:lnTo>
                    <a:pt x="2387565" y="9695"/>
                  </a:lnTo>
                  <a:lnTo>
                    <a:pt x="2387565" y="4589"/>
                  </a:lnTo>
                  <a:lnTo>
                    <a:pt x="2392734" y="4589"/>
                  </a:lnTo>
                  <a:lnTo>
                    <a:pt x="2397284" y="0"/>
                  </a:lnTo>
                  <a:close/>
                </a:path>
                <a:path w="3430270" h="20320">
                  <a:moveTo>
                    <a:pt x="2506264" y="0"/>
                  </a:moveTo>
                  <a:lnTo>
                    <a:pt x="2551344" y="0"/>
                  </a:lnTo>
                  <a:lnTo>
                    <a:pt x="2556101" y="4589"/>
                  </a:lnTo>
                  <a:lnTo>
                    <a:pt x="2561064" y="9695"/>
                  </a:lnTo>
                  <a:lnTo>
                    <a:pt x="2556101" y="14802"/>
                  </a:lnTo>
                  <a:lnTo>
                    <a:pt x="2551344" y="19908"/>
                  </a:lnTo>
                  <a:lnTo>
                    <a:pt x="2506264" y="19908"/>
                  </a:lnTo>
                  <a:lnTo>
                    <a:pt x="2501714" y="14802"/>
                  </a:lnTo>
                  <a:lnTo>
                    <a:pt x="2496544" y="14802"/>
                  </a:lnTo>
                  <a:lnTo>
                    <a:pt x="2496544" y="9695"/>
                  </a:lnTo>
                  <a:lnTo>
                    <a:pt x="2496544" y="4589"/>
                  </a:lnTo>
                  <a:lnTo>
                    <a:pt x="2501714" y="4589"/>
                  </a:lnTo>
                  <a:lnTo>
                    <a:pt x="2506264" y="0"/>
                  </a:lnTo>
                  <a:close/>
                </a:path>
                <a:path w="3430270" h="20320">
                  <a:moveTo>
                    <a:pt x="2615864" y="0"/>
                  </a:moveTo>
                  <a:lnTo>
                    <a:pt x="2660531" y="0"/>
                  </a:lnTo>
                  <a:lnTo>
                    <a:pt x="2665701" y="4589"/>
                  </a:lnTo>
                  <a:lnTo>
                    <a:pt x="2665701" y="9695"/>
                  </a:lnTo>
                  <a:lnTo>
                    <a:pt x="2665701" y="14802"/>
                  </a:lnTo>
                  <a:lnTo>
                    <a:pt x="2660531" y="19908"/>
                  </a:lnTo>
                  <a:lnTo>
                    <a:pt x="2615864" y="19908"/>
                  </a:lnTo>
                  <a:lnTo>
                    <a:pt x="2605731" y="14802"/>
                  </a:lnTo>
                  <a:lnTo>
                    <a:pt x="2605731" y="9695"/>
                  </a:lnTo>
                  <a:lnTo>
                    <a:pt x="2605731" y="4589"/>
                  </a:lnTo>
                  <a:lnTo>
                    <a:pt x="2610901" y="4589"/>
                  </a:lnTo>
                  <a:lnTo>
                    <a:pt x="2615864" y="0"/>
                  </a:lnTo>
                  <a:close/>
                </a:path>
                <a:path w="3430270" h="20320">
                  <a:moveTo>
                    <a:pt x="2719880" y="0"/>
                  </a:moveTo>
                  <a:lnTo>
                    <a:pt x="2769717" y="0"/>
                  </a:lnTo>
                  <a:lnTo>
                    <a:pt x="2769717" y="4589"/>
                  </a:lnTo>
                  <a:lnTo>
                    <a:pt x="2774680" y="4589"/>
                  </a:lnTo>
                  <a:lnTo>
                    <a:pt x="2774680" y="9695"/>
                  </a:lnTo>
                  <a:lnTo>
                    <a:pt x="2774680" y="14802"/>
                  </a:lnTo>
                  <a:lnTo>
                    <a:pt x="2769717" y="19908"/>
                  </a:lnTo>
                  <a:lnTo>
                    <a:pt x="2719880" y="19908"/>
                  </a:lnTo>
                  <a:lnTo>
                    <a:pt x="2714917" y="14802"/>
                  </a:lnTo>
                  <a:lnTo>
                    <a:pt x="2714917" y="9695"/>
                  </a:lnTo>
                  <a:lnTo>
                    <a:pt x="2714917" y="4589"/>
                  </a:lnTo>
                  <a:lnTo>
                    <a:pt x="2719880" y="4589"/>
                  </a:lnTo>
                  <a:lnTo>
                    <a:pt x="2719880" y="0"/>
                  </a:lnTo>
                  <a:close/>
                </a:path>
                <a:path w="3430270" h="20320">
                  <a:moveTo>
                    <a:pt x="2829067" y="0"/>
                  </a:moveTo>
                  <a:lnTo>
                    <a:pt x="2878697" y="0"/>
                  </a:lnTo>
                  <a:lnTo>
                    <a:pt x="2878697" y="4589"/>
                  </a:lnTo>
                  <a:lnTo>
                    <a:pt x="2883867" y="4589"/>
                  </a:lnTo>
                  <a:lnTo>
                    <a:pt x="2883867" y="9695"/>
                  </a:lnTo>
                  <a:lnTo>
                    <a:pt x="2883867" y="14802"/>
                  </a:lnTo>
                  <a:lnTo>
                    <a:pt x="2878697" y="19908"/>
                  </a:lnTo>
                  <a:lnTo>
                    <a:pt x="2829067" y="19908"/>
                  </a:lnTo>
                  <a:lnTo>
                    <a:pt x="2824517" y="14802"/>
                  </a:lnTo>
                  <a:lnTo>
                    <a:pt x="2824517" y="9695"/>
                  </a:lnTo>
                  <a:lnTo>
                    <a:pt x="2824517" y="4589"/>
                  </a:lnTo>
                  <a:lnTo>
                    <a:pt x="2829067" y="4589"/>
                  </a:lnTo>
                  <a:lnTo>
                    <a:pt x="2829067" y="0"/>
                  </a:lnTo>
                  <a:close/>
                </a:path>
                <a:path w="3430270" h="20320">
                  <a:moveTo>
                    <a:pt x="2938667" y="0"/>
                  </a:moveTo>
                  <a:lnTo>
                    <a:pt x="2987883" y="0"/>
                  </a:lnTo>
                  <a:lnTo>
                    <a:pt x="2987883" y="4589"/>
                  </a:lnTo>
                  <a:lnTo>
                    <a:pt x="2993053" y="4589"/>
                  </a:lnTo>
                  <a:lnTo>
                    <a:pt x="2993053" y="9695"/>
                  </a:lnTo>
                  <a:lnTo>
                    <a:pt x="2993053" y="14802"/>
                  </a:lnTo>
                  <a:lnTo>
                    <a:pt x="2987883" y="19908"/>
                  </a:lnTo>
                  <a:lnTo>
                    <a:pt x="2938667" y="19908"/>
                  </a:lnTo>
                  <a:lnTo>
                    <a:pt x="2933497" y="14802"/>
                  </a:lnTo>
                  <a:lnTo>
                    <a:pt x="2933497" y="9695"/>
                  </a:lnTo>
                  <a:lnTo>
                    <a:pt x="2933497" y="4589"/>
                  </a:lnTo>
                  <a:lnTo>
                    <a:pt x="2938667" y="4589"/>
                  </a:lnTo>
                  <a:lnTo>
                    <a:pt x="2938667" y="0"/>
                  </a:lnTo>
                  <a:close/>
                </a:path>
                <a:path w="3430270" h="20320">
                  <a:moveTo>
                    <a:pt x="3047853" y="0"/>
                  </a:moveTo>
                  <a:lnTo>
                    <a:pt x="3092314" y="0"/>
                  </a:lnTo>
                  <a:lnTo>
                    <a:pt x="3097484" y="4589"/>
                  </a:lnTo>
                  <a:lnTo>
                    <a:pt x="3102033" y="4589"/>
                  </a:lnTo>
                  <a:lnTo>
                    <a:pt x="3102033" y="9695"/>
                  </a:lnTo>
                  <a:lnTo>
                    <a:pt x="3102033" y="14802"/>
                  </a:lnTo>
                  <a:lnTo>
                    <a:pt x="3092314" y="19908"/>
                  </a:lnTo>
                  <a:lnTo>
                    <a:pt x="3047853" y="19908"/>
                  </a:lnTo>
                  <a:lnTo>
                    <a:pt x="3042683" y="14802"/>
                  </a:lnTo>
                  <a:lnTo>
                    <a:pt x="3037514" y="9695"/>
                  </a:lnTo>
                  <a:lnTo>
                    <a:pt x="3042683" y="4589"/>
                  </a:lnTo>
                  <a:lnTo>
                    <a:pt x="3047853" y="0"/>
                  </a:lnTo>
                  <a:close/>
                </a:path>
                <a:path w="3430270" h="20320">
                  <a:moveTo>
                    <a:pt x="3156833" y="0"/>
                  </a:moveTo>
                  <a:lnTo>
                    <a:pt x="3201500" y="0"/>
                  </a:lnTo>
                  <a:lnTo>
                    <a:pt x="3206670" y="4589"/>
                  </a:lnTo>
                  <a:lnTo>
                    <a:pt x="3211633" y="4589"/>
                  </a:lnTo>
                  <a:lnTo>
                    <a:pt x="3211633" y="9695"/>
                  </a:lnTo>
                  <a:lnTo>
                    <a:pt x="3211633" y="14802"/>
                  </a:lnTo>
                  <a:lnTo>
                    <a:pt x="3206670" y="14802"/>
                  </a:lnTo>
                  <a:lnTo>
                    <a:pt x="3201500" y="19908"/>
                  </a:lnTo>
                  <a:lnTo>
                    <a:pt x="3156833" y="19908"/>
                  </a:lnTo>
                  <a:lnTo>
                    <a:pt x="3151663" y="14802"/>
                  </a:lnTo>
                  <a:lnTo>
                    <a:pt x="3147114" y="14802"/>
                  </a:lnTo>
                  <a:lnTo>
                    <a:pt x="3147114" y="9695"/>
                  </a:lnTo>
                  <a:lnTo>
                    <a:pt x="3147114" y="4589"/>
                  </a:lnTo>
                  <a:lnTo>
                    <a:pt x="3151663" y="4589"/>
                  </a:lnTo>
                  <a:lnTo>
                    <a:pt x="3156833" y="0"/>
                  </a:lnTo>
                  <a:close/>
                </a:path>
                <a:path w="3430270" h="20320">
                  <a:moveTo>
                    <a:pt x="3266019" y="0"/>
                  </a:moveTo>
                  <a:lnTo>
                    <a:pt x="3310480" y="0"/>
                  </a:lnTo>
                  <a:lnTo>
                    <a:pt x="3315650" y="4589"/>
                  </a:lnTo>
                  <a:lnTo>
                    <a:pt x="3320820" y="4589"/>
                  </a:lnTo>
                  <a:lnTo>
                    <a:pt x="3320820" y="9695"/>
                  </a:lnTo>
                  <a:lnTo>
                    <a:pt x="3320820" y="14802"/>
                  </a:lnTo>
                  <a:lnTo>
                    <a:pt x="3315650" y="14802"/>
                  </a:lnTo>
                  <a:lnTo>
                    <a:pt x="3310480" y="19908"/>
                  </a:lnTo>
                  <a:lnTo>
                    <a:pt x="3266019" y="19908"/>
                  </a:lnTo>
                  <a:lnTo>
                    <a:pt x="3260850" y="14802"/>
                  </a:lnTo>
                  <a:lnTo>
                    <a:pt x="3256300" y="14802"/>
                  </a:lnTo>
                  <a:lnTo>
                    <a:pt x="3256300" y="9695"/>
                  </a:lnTo>
                  <a:lnTo>
                    <a:pt x="3256300" y="4589"/>
                  </a:lnTo>
                  <a:lnTo>
                    <a:pt x="3260850" y="4589"/>
                  </a:lnTo>
                  <a:lnTo>
                    <a:pt x="3266019" y="0"/>
                  </a:lnTo>
                  <a:close/>
                </a:path>
                <a:path w="3430270" h="20320">
                  <a:moveTo>
                    <a:pt x="3374999" y="0"/>
                  </a:moveTo>
                  <a:lnTo>
                    <a:pt x="3420080" y="0"/>
                  </a:lnTo>
                  <a:lnTo>
                    <a:pt x="3424836" y="4589"/>
                  </a:lnTo>
                  <a:lnTo>
                    <a:pt x="3430006" y="9695"/>
                  </a:lnTo>
                  <a:lnTo>
                    <a:pt x="3424836" y="14802"/>
                  </a:lnTo>
                  <a:lnTo>
                    <a:pt x="3420080" y="19908"/>
                  </a:lnTo>
                  <a:lnTo>
                    <a:pt x="3374999" y="19908"/>
                  </a:lnTo>
                  <a:lnTo>
                    <a:pt x="3370450" y="14802"/>
                  </a:lnTo>
                  <a:lnTo>
                    <a:pt x="3365280" y="14802"/>
                  </a:lnTo>
                  <a:lnTo>
                    <a:pt x="3365280" y="9695"/>
                  </a:lnTo>
                  <a:lnTo>
                    <a:pt x="3365280" y="4589"/>
                  </a:lnTo>
                  <a:lnTo>
                    <a:pt x="3370450" y="4589"/>
                  </a:lnTo>
                  <a:lnTo>
                    <a:pt x="3374999" y="0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915584" y="4900403"/>
              <a:ext cx="64769" cy="59690"/>
            </a:xfrm>
            <a:custGeom>
              <a:avLst/>
              <a:gdLst/>
              <a:ahLst/>
              <a:cxnLst/>
              <a:rect l="l" t="t" r="r" b="b"/>
              <a:pathLst>
                <a:path w="64770" h="59689">
                  <a:moveTo>
                    <a:pt x="64542" y="0"/>
                  </a:moveTo>
                  <a:lnTo>
                    <a:pt x="0" y="0"/>
                  </a:lnTo>
                  <a:lnTo>
                    <a:pt x="0" y="59676"/>
                  </a:lnTo>
                  <a:lnTo>
                    <a:pt x="64542" y="59676"/>
                  </a:lnTo>
                  <a:lnTo>
                    <a:pt x="64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915584" y="4900403"/>
              <a:ext cx="64769" cy="59690"/>
            </a:xfrm>
            <a:custGeom>
              <a:avLst/>
              <a:gdLst/>
              <a:ahLst/>
              <a:cxnLst/>
              <a:rect l="l" t="t" r="r" b="b"/>
              <a:pathLst>
                <a:path w="64770" h="59689">
                  <a:moveTo>
                    <a:pt x="0" y="59676"/>
                  </a:moveTo>
                  <a:lnTo>
                    <a:pt x="64542" y="59676"/>
                  </a:lnTo>
                  <a:lnTo>
                    <a:pt x="64542" y="0"/>
                  </a:lnTo>
                  <a:lnTo>
                    <a:pt x="0" y="0"/>
                  </a:lnTo>
                  <a:lnTo>
                    <a:pt x="0" y="59676"/>
                  </a:lnTo>
                  <a:close/>
                </a:path>
              </a:pathLst>
            </a:custGeom>
            <a:ln w="14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972552" y="2559134"/>
            <a:ext cx="681355" cy="44830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indent="44450">
              <a:lnSpc>
                <a:spcPts val="1530"/>
              </a:lnSpc>
              <a:spcBef>
                <a:spcPts val="370"/>
              </a:spcBef>
            </a:pPr>
            <a:r>
              <a:rPr sz="1500" spc="-10" dirty="0">
                <a:latin typeface="宋体"/>
                <a:cs typeface="宋体"/>
              </a:rPr>
              <a:t>STARAN </a:t>
            </a:r>
            <a:r>
              <a:rPr sz="1500" spc="-25" dirty="0">
                <a:latin typeface="宋体"/>
                <a:cs typeface="宋体"/>
              </a:rPr>
              <a:t>(1,256)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017116" y="4488596"/>
            <a:ext cx="497205" cy="44323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490"/>
              </a:lnSpc>
              <a:spcBef>
                <a:spcPts val="400"/>
              </a:spcBef>
            </a:pPr>
            <a:r>
              <a:rPr sz="1500" spc="-15" dirty="0">
                <a:latin typeface="宋体"/>
                <a:cs typeface="宋体"/>
              </a:rPr>
              <a:t>EDVAC (1,1)</a:t>
            </a:r>
            <a:endParaRPr sz="1500">
              <a:latin typeface="宋体"/>
              <a:cs typeface="宋体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767084" y="4439852"/>
            <a:ext cx="89535" cy="645795"/>
            <a:chOff x="8767084" y="4439852"/>
            <a:chExt cx="89535" cy="645795"/>
          </a:xfrm>
        </p:grpSpPr>
        <p:sp>
          <p:nvSpPr>
            <p:cNvPr id="42" name="object 42"/>
            <p:cNvSpPr/>
            <p:nvPr/>
          </p:nvSpPr>
          <p:spPr>
            <a:xfrm>
              <a:off x="8807377" y="4475512"/>
              <a:ext cx="15240" cy="607060"/>
            </a:xfrm>
            <a:custGeom>
              <a:avLst/>
              <a:gdLst/>
              <a:ahLst/>
              <a:cxnLst/>
              <a:rect l="l" t="t" r="r" b="b"/>
              <a:pathLst>
                <a:path w="15240" h="607060">
                  <a:moveTo>
                    <a:pt x="14889" y="0"/>
                  </a:moveTo>
                  <a:lnTo>
                    <a:pt x="0" y="0"/>
                  </a:lnTo>
                  <a:lnTo>
                    <a:pt x="0" y="59684"/>
                  </a:lnTo>
                  <a:lnTo>
                    <a:pt x="14889" y="59684"/>
                  </a:lnTo>
                  <a:lnTo>
                    <a:pt x="14889" y="0"/>
                  </a:lnTo>
                  <a:close/>
                </a:path>
                <a:path w="15240" h="607060">
                  <a:moveTo>
                    <a:pt x="14889" y="109673"/>
                  </a:moveTo>
                  <a:lnTo>
                    <a:pt x="0" y="109673"/>
                  </a:lnTo>
                  <a:lnTo>
                    <a:pt x="0" y="169337"/>
                  </a:lnTo>
                  <a:lnTo>
                    <a:pt x="14889" y="169337"/>
                  </a:lnTo>
                  <a:lnTo>
                    <a:pt x="14889" y="109673"/>
                  </a:lnTo>
                  <a:close/>
                </a:path>
                <a:path w="15240" h="607060">
                  <a:moveTo>
                    <a:pt x="14889" y="218829"/>
                  </a:moveTo>
                  <a:lnTo>
                    <a:pt x="0" y="218829"/>
                  </a:lnTo>
                  <a:lnTo>
                    <a:pt x="0" y="278493"/>
                  </a:lnTo>
                  <a:lnTo>
                    <a:pt x="14889" y="278493"/>
                  </a:lnTo>
                  <a:lnTo>
                    <a:pt x="14889" y="218829"/>
                  </a:lnTo>
                  <a:close/>
                </a:path>
                <a:path w="15240" h="607060">
                  <a:moveTo>
                    <a:pt x="14889" y="328482"/>
                  </a:moveTo>
                  <a:lnTo>
                    <a:pt x="0" y="328482"/>
                  </a:lnTo>
                  <a:lnTo>
                    <a:pt x="0" y="388166"/>
                  </a:lnTo>
                  <a:lnTo>
                    <a:pt x="14889" y="388166"/>
                  </a:lnTo>
                  <a:lnTo>
                    <a:pt x="14889" y="328482"/>
                  </a:lnTo>
                  <a:close/>
                </a:path>
                <a:path w="15240" h="607060">
                  <a:moveTo>
                    <a:pt x="14889" y="437638"/>
                  </a:moveTo>
                  <a:lnTo>
                    <a:pt x="0" y="437638"/>
                  </a:lnTo>
                  <a:lnTo>
                    <a:pt x="0" y="497322"/>
                  </a:lnTo>
                  <a:lnTo>
                    <a:pt x="14889" y="497322"/>
                  </a:lnTo>
                  <a:lnTo>
                    <a:pt x="14889" y="437638"/>
                  </a:lnTo>
                  <a:close/>
                </a:path>
                <a:path w="15240" h="607060">
                  <a:moveTo>
                    <a:pt x="9719" y="432532"/>
                  </a:moveTo>
                  <a:lnTo>
                    <a:pt x="4549" y="437638"/>
                  </a:lnTo>
                  <a:lnTo>
                    <a:pt x="9719" y="437638"/>
                  </a:lnTo>
                  <a:lnTo>
                    <a:pt x="9719" y="432532"/>
                  </a:lnTo>
                  <a:close/>
                </a:path>
                <a:path w="15240" h="607060">
                  <a:moveTo>
                    <a:pt x="9719" y="542205"/>
                  </a:moveTo>
                  <a:lnTo>
                    <a:pt x="4549" y="542205"/>
                  </a:lnTo>
                  <a:lnTo>
                    <a:pt x="0" y="547290"/>
                  </a:lnTo>
                  <a:lnTo>
                    <a:pt x="0" y="601869"/>
                  </a:lnTo>
                  <a:lnTo>
                    <a:pt x="4549" y="606975"/>
                  </a:lnTo>
                  <a:lnTo>
                    <a:pt x="9719" y="606975"/>
                  </a:lnTo>
                  <a:lnTo>
                    <a:pt x="14889" y="601869"/>
                  </a:lnTo>
                  <a:lnTo>
                    <a:pt x="14889" y="547290"/>
                  </a:lnTo>
                  <a:lnTo>
                    <a:pt x="9719" y="5422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807377" y="4475512"/>
              <a:ext cx="15240" cy="607060"/>
            </a:xfrm>
            <a:custGeom>
              <a:avLst/>
              <a:gdLst/>
              <a:ahLst/>
              <a:cxnLst/>
              <a:rect l="l" t="t" r="r" b="b"/>
              <a:pathLst>
                <a:path w="15240" h="607060">
                  <a:moveTo>
                    <a:pt x="14889" y="10212"/>
                  </a:moveTo>
                  <a:lnTo>
                    <a:pt x="14889" y="54578"/>
                  </a:lnTo>
                  <a:lnTo>
                    <a:pt x="14889" y="59684"/>
                  </a:lnTo>
                  <a:lnTo>
                    <a:pt x="9719" y="59684"/>
                  </a:lnTo>
                  <a:lnTo>
                    <a:pt x="4549" y="59684"/>
                  </a:lnTo>
                  <a:lnTo>
                    <a:pt x="0" y="59684"/>
                  </a:lnTo>
                  <a:lnTo>
                    <a:pt x="0" y="54578"/>
                  </a:lnTo>
                  <a:lnTo>
                    <a:pt x="0" y="10212"/>
                  </a:lnTo>
                  <a:lnTo>
                    <a:pt x="0" y="5106"/>
                  </a:lnTo>
                  <a:lnTo>
                    <a:pt x="0" y="0"/>
                  </a:lnTo>
                  <a:lnTo>
                    <a:pt x="4549" y="0"/>
                  </a:lnTo>
                  <a:lnTo>
                    <a:pt x="9719" y="0"/>
                  </a:lnTo>
                  <a:lnTo>
                    <a:pt x="14889" y="0"/>
                  </a:lnTo>
                  <a:lnTo>
                    <a:pt x="14889" y="5106"/>
                  </a:lnTo>
                  <a:lnTo>
                    <a:pt x="14889" y="10212"/>
                  </a:lnTo>
                  <a:close/>
                </a:path>
                <a:path w="15240" h="607060">
                  <a:moveTo>
                    <a:pt x="14889" y="114262"/>
                  </a:moveTo>
                  <a:lnTo>
                    <a:pt x="14889" y="164251"/>
                  </a:lnTo>
                  <a:lnTo>
                    <a:pt x="14889" y="169337"/>
                  </a:lnTo>
                  <a:lnTo>
                    <a:pt x="9719" y="169337"/>
                  </a:lnTo>
                  <a:lnTo>
                    <a:pt x="4549" y="169337"/>
                  </a:lnTo>
                  <a:lnTo>
                    <a:pt x="0" y="169337"/>
                  </a:lnTo>
                  <a:lnTo>
                    <a:pt x="0" y="164251"/>
                  </a:lnTo>
                  <a:lnTo>
                    <a:pt x="0" y="114262"/>
                  </a:lnTo>
                  <a:lnTo>
                    <a:pt x="0" y="109673"/>
                  </a:lnTo>
                  <a:lnTo>
                    <a:pt x="4549" y="109673"/>
                  </a:lnTo>
                  <a:lnTo>
                    <a:pt x="9719" y="109673"/>
                  </a:lnTo>
                  <a:lnTo>
                    <a:pt x="14889" y="109673"/>
                  </a:lnTo>
                  <a:lnTo>
                    <a:pt x="14889" y="114262"/>
                  </a:lnTo>
                  <a:close/>
                </a:path>
                <a:path w="15240" h="607060">
                  <a:moveTo>
                    <a:pt x="14889" y="223915"/>
                  </a:moveTo>
                  <a:lnTo>
                    <a:pt x="14889" y="273407"/>
                  </a:lnTo>
                  <a:lnTo>
                    <a:pt x="14889" y="278493"/>
                  </a:lnTo>
                  <a:lnTo>
                    <a:pt x="9719" y="278493"/>
                  </a:lnTo>
                  <a:lnTo>
                    <a:pt x="4549" y="278493"/>
                  </a:lnTo>
                  <a:lnTo>
                    <a:pt x="0" y="278493"/>
                  </a:lnTo>
                  <a:lnTo>
                    <a:pt x="0" y="273407"/>
                  </a:lnTo>
                  <a:lnTo>
                    <a:pt x="0" y="223915"/>
                  </a:lnTo>
                  <a:lnTo>
                    <a:pt x="0" y="218829"/>
                  </a:lnTo>
                  <a:lnTo>
                    <a:pt x="4549" y="218829"/>
                  </a:lnTo>
                  <a:lnTo>
                    <a:pt x="9719" y="218829"/>
                  </a:lnTo>
                  <a:lnTo>
                    <a:pt x="14889" y="218829"/>
                  </a:lnTo>
                  <a:lnTo>
                    <a:pt x="14889" y="223915"/>
                  </a:lnTo>
                  <a:close/>
                </a:path>
                <a:path w="15240" h="607060">
                  <a:moveTo>
                    <a:pt x="14889" y="333071"/>
                  </a:moveTo>
                  <a:lnTo>
                    <a:pt x="14889" y="383060"/>
                  </a:lnTo>
                  <a:lnTo>
                    <a:pt x="14889" y="388166"/>
                  </a:lnTo>
                  <a:lnTo>
                    <a:pt x="9719" y="388166"/>
                  </a:lnTo>
                  <a:lnTo>
                    <a:pt x="4549" y="388166"/>
                  </a:lnTo>
                  <a:lnTo>
                    <a:pt x="0" y="388166"/>
                  </a:lnTo>
                  <a:lnTo>
                    <a:pt x="0" y="383060"/>
                  </a:lnTo>
                  <a:lnTo>
                    <a:pt x="0" y="333071"/>
                  </a:lnTo>
                  <a:lnTo>
                    <a:pt x="0" y="328482"/>
                  </a:lnTo>
                  <a:lnTo>
                    <a:pt x="4549" y="328482"/>
                  </a:lnTo>
                  <a:lnTo>
                    <a:pt x="9719" y="328482"/>
                  </a:lnTo>
                  <a:lnTo>
                    <a:pt x="14889" y="328482"/>
                  </a:lnTo>
                  <a:lnTo>
                    <a:pt x="14889" y="333071"/>
                  </a:lnTo>
                  <a:close/>
                </a:path>
                <a:path w="15240" h="607060">
                  <a:moveTo>
                    <a:pt x="14889" y="442744"/>
                  </a:moveTo>
                  <a:lnTo>
                    <a:pt x="14889" y="487626"/>
                  </a:lnTo>
                  <a:lnTo>
                    <a:pt x="14889" y="492216"/>
                  </a:lnTo>
                  <a:lnTo>
                    <a:pt x="14889" y="497322"/>
                  </a:lnTo>
                  <a:lnTo>
                    <a:pt x="9719" y="497322"/>
                  </a:lnTo>
                  <a:lnTo>
                    <a:pt x="4549" y="497322"/>
                  </a:lnTo>
                  <a:lnTo>
                    <a:pt x="0" y="497322"/>
                  </a:lnTo>
                  <a:lnTo>
                    <a:pt x="0" y="492216"/>
                  </a:lnTo>
                  <a:lnTo>
                    <a:pt x="0" y="487626"/>
                  </a:lnTo>
                  <a:lnTo>
                    <a:pt x="0" y="442744"/>
                  </a:lnTo>
                  <a:lnTo>
                    <a:pt x="0" y="437638"/>
                  </a:lnTo>
                  <a:lnTo>
                    <a:pt x="4549" y="437638"/>
                  </a:lnTo>
                  <a:lnTo>
                    <a:pt x="9719" y="432531"/>
                  </a:lnTo>
                  <a:lnTo>
                    <a:pt x="9719" y="437638"/>
                  </a:lnTo>
                  <a:lnTo>
                    <a:pt x="14889" y="437638"/>
                  </a:lnTo>
                  <a:lnTo>
                    <a:pt x="14889" y="442744"/>
                  </a:lnTo>
                  <a:close/>
                </a:path>
                <a:path w="15240" h="607060">
                  <a:moveTo>
                    <a:pt x="14889" y="551880"/>
                  </a:moveTo>
                  <a:lnTo>
                    <a:pt x="14889" y="596783"/>
                  </a:lnTo>
                  <a:lnTo>
                    <a:pt x="14889" y="601869"/>
                  </a:lnTo>
                  <a:lnTo>
                    <a:pt x="9719" y="606975"/>
                  </a:lnTo>
                  <a:lnTo>
                    <a:pt x="4549" y="606975"/>
                  </a:lnTo>
                  <a:lnTo>
                    <a:pt x="0" y="601869"/>
                  </a:lnTo>
                  <a:lnTo>
                    <a:pt x="0" y="596783"/>
                  </a:lnTo>
                  <a:lnTo>
                    <a:pt x="0" y="551880"/>
                  </a:lnTo>
                  <a:lnTo>
                    <a:pt x="0" y="547290"/>
                  </a:lnTo>
                  <a:lnTo>
                    <a:pt x="4549" y="542205"/>
                  </a:lnTo>
                  <a:lnTo>
                    <a:pt x="9719" y="542205"/>
                  </a:lnTo>
                  <a:lnTo>
                    <a:pt x="14889" y="547290"/>
                  </a:lnTo>
                  <a:lnTo>
                    <a:pt x="14889" y="551880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784423" y="4447472"/>
              <a:ext cx="64769" cy="65405"/>
            </a:xfrm>
            <a:custGeom>
              <a:avLst/>
              <a:gdLst/>
              <a:ahLst/>
              <a:cxnLst/>
              <a:rect l="l" t="t" r="r" b="b"/>
              <a:pathLst>
                <a:path w="64770" h="65404">
                  <a:moveTo>
                    <a:pt x="64542" y="0"/>
                  </a:moveTo>
                  <a:lnTo>
                    <a:pt x="0" y="0"/>
                  </a:lnTo>
                  <a:lnTo>
                    <a:pt x="0" y="64776"/>
                  </a:lnTo>
                  <a:lnTo>
                    <a:pt x="64542" y="64776"/>
                  </a:lnTo>
                  <a:lnTo>
                    <a:pt x="645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784423" y="4447472"/>
              <a:ext cx="64769" cy="65405"/>
            </a:xfrm>
            <a:custGeom>
              <a:avLst/>
              <a:gdLst/>
              <a:ahLst/>
              <a:cxnLst/>
              <a:rect l="l" t="t" r="r" b="b"/>
              <a:pathLst>
                <a:path w="64770" h="65404">
                  <a:moveTo>
                    <a:pt x="0" y="64776"/>
                  </a:moveTo>
                  <a:lnTo>
                    <a:pt x="64542" y="64776"/>
                  </a:lnTo>
                  <a:lnTo>
                    <a:pt x="64542" y="0"/>
                  </a:lnTo>
                  <a:lnTo>
                    <a:pt x="0" y="0"/>
                  </a:lnTo>
                  <a:lnTo>
                    <a:pt x="0" y="64776"/>
                  </a:lnTo>
                  <a:close/>
                </a:path>
              </a:pathLst>
            </a:custGeom>
            <a:ln w="14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774704" y="4900403"/>
              <a:ext cx="69215" cy="59690"/>
            </a:xfrm>
            <a:custGeom>
              <a:avLst/>
              <a:gdLst/>
              <a:ahLst/>
              <a:cxnLst/>
              <a:rect l="l" t="t" r="r" b="b"/>
              <a:pathLst>
                <a:path w="69215" h="59689">
                  <a:moveTo>
                    <a:pt x="69151" y="0"/>
                  </a:moveTo>
                  <a:lnTo>
                    <a:pt x="0" y="0"/>
                  </a:lnTo>
                  <a:lnTo>
                    <a:pt x="0" y="59676"/>
                  </a:lnTo>
                  <a:lnTo>
                    <a:pt x="69151" y="59676"/>
                  </a:lnTo>
                  <a:lnTo>
                    <a:pt x="691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774704" y="4900403"/>
              <a:ext cx="69215" cy="59690"/>
            </a:xfrm>
            <a:custGeom>
              <a:avLst/>
              <a:gdLst/>
              <a:ahLst/>
              <a:cxnLst/>
              <a:rect l="l" t="t" r="r" b="b"/>
              <a:pathLst>
                <a:path w="69215" h="59689">
                  <a:moveTo>
                    <a:pt x="0" y="59676"/>
                  </a:moveTo>
                  <a:lnTo>
                    <a:pt x="69151" y="59676"/>
                  </a:lnTo>
                  <a:lnTo>
                    <a:pt x="69151" y="0"/>
                  </a:lnTo>
                  <a:lnTo>
                    <a:pt x="0" y="0"/>
                  </a:lnTo>
                  <a:lnTo>
                    <a:pt x="0" y="59676"/>
                  </a:lnTo>
                  <a:close/>
                </a:path>
              </a:pathLst>
            </a:custGeom>
            <a:ln w="14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8712167" y="5045050"/>
            <a:ext cx="1044575" cy="65214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500" spc="-25" dirty="0">
                <a:latin typeface="宋体"/>
                <a:cs typeface="宋体"/>
              </a:rPr>
              <a:t>16</a:t>
            </a:r>
            <a:endParaRPr sz="1500">
              <a:latin typeface="宋体"/>
              <a:cs typeface="宋体"/>
            </a:endParaRPr>
          </a:p>
          <a:p>
            <a:pPr marL="186055">
              <a:lnSpc>
                <a:spcPct val="100000"/>
              </a:lnSpc>
              <a:spcBef>
                <a:spcPts val="665"/>
              </a:spcBef>
            </a:pPr>
            <a:r>
              <a:rPr sz="1500" spc="-50" dirty="0">
                <a:latin typeface="宋体"/>
                <a:cs typeface="宋体"/>
              </a:rPr>
              <a:t>字宽</a:t>
            </a:r>
            <a:r>
              <a:rPr sz="1500" spc="-25" dirty="0">
                <a:latin typeface="宋体"/>
                <a:cs typeface="宋体"/>
              </a:rPr>
              <a:t>（n）</a:t>
            </a:r>
            <a:endParaRPr sz="1500">
              <a:latin typeface="宋体"/>
              <a:cs typeface="宋体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9809512" y="2515545"/>
            <a:ext cx="1191260" cy="2589530"/>
            <a:chOff x="9809512" y="2515545"/>
            <a:chExt cx="1191260" cy="2589530"/>
          </a:xfrm>
        </p:grpSpPr>
        <p:sp>
          <p:nvSpPr>
            <p:cNvPr id="50" name="object 50"/>
            <p:cNvSpPr/>
            <p:nvPr/>
          </p:nvSpPr>
          <p:spPr>
            <a:xfrm>
              <a:off x="9849817" y="2545987"/>
              <a:ext cx="15240" cy="2556510"/>
            </a:xfrm>
            <a:custGeom>
              <a:avLst/>
              <a:gdLst/>
              <a:ahLst/>
              <a:cxnLst/>
              <a:rect l="l" t="t" r="r" b="b"/>
              <a:pathLst>
                <a:path w="15240" h="2556510">
                  <a:moveTo>
                    <a:pt x="9719" y="2491617"/>
                  </a:moveTo>
                  <a:lnTo>
                    <a:pt x="0" y="2496723"/>
                  </a:lnTo>
                  <a:lnTo>
                    <a:pt x="0" y="2551281"/>
                  </a:lnTo>
                  <a:lnTo>
                    <a:pt x="4549" y="2556387"/>
                  </a:lnTo>
                  <a:lnTo>
                    <a:pt x="9719" y="2556387"/>
                  </a:lnTo>
                  <a:lnTo>
                    <a:pt x="14889" y="2551281"/>
                  </a:lnTo>
                  <a:lnTo>
                    <a:pt x="14889" y="2496723"/>
                  </a:lnTo>
                  <a:lnTo>
                    <a:pt x="9719" y="2491617"/>
                  </a:lnTo>
                  <a:close/>
                </a:path>
                <a:path w="15240" h="2556510">
                  <a:moveTo>
                    <a:pt x="9719" y="2381944"/>
                  </a:moveTo>
                  <a:lnTo>
                    <a:pt x="0" y="2387050"/>
                  </a:lnTo>
                  <a:lnTo>
                    <a:pt x="0" y="2446735"/>
                  </a:lnTo>
                  <a:lnTo>
                    <a:pt x="14889" y="2446735"/>
                  </a:lnTo>
                  <a:lnTo>
                    <a:pt x="14889" y="2387050"/>
                  </a:lnTo>
                  <a:lnTo>
                    <a:pt x="9719" y="2381944"/>
                  </a:lnTo>
                  <a:close/>
                </a:path>
                <a:path w="15240" h="2556510">
                  <a:moveTo>
                    <a:pt x="14889" y="2277894"/>
                  </a:moveTo>
                  <a:lnTo>
                    <a:pt x="0" y="2277894"/>
                  </a:lnTo>
                  <a:lnTo>
                    <a:pt x="0" y="2337578"/>
                  </a:lnTo>
                  <a:lnTo>
                    <a:pt x="14889" y="2337578"/>
                  </a:lnTo>
                  <a:lnTo>
                    <a:pt x="14889" y="2277894"/>
                  </a:lnTo>
                  <a:close/>
                </a:path>
                <a:path w="15240" h="2556510">
                  <a:moveTo>
                    <a:pt x="14889" y="2168241"/>
                  </a:moveTo>
                  <a:lnTo>
                    <a:pt x="0" y="2168241"/>
                  </a:lnTo>
                  <a:lnTo>
                    <a:pt x="0" y="2227905"/>
                  </a:lnTo>
                  <a:lnTo>
                    <a:pt x="14889" y="2227905"/>
                  </a:lnTo>
                  <a:lnTo>
                    <a:pt x="14889" y="2168241"/>
                  </a:lnTo>
                  <a:close/>
                </a:path>
                <a:path w="15240" h="2556510">
                  <a:moveTo>
                    <a:pt x="14889" y="2059085"/>
                  </a:moveTo>
                  <a:lnTo>
                    <a:pt x="0" y="2059085"/>
                  </a:lnTo>
                  <a:lnTo>
                    <a:pt x="0" y="2118770"/>
                  </a:lnTo>
                  <a:lnTo>
                    <a:pt x="14889" y="2118770"/>
                  </a:lnTo>
                  <a:lnTo>
                    <a:pt x="14889" y="2059085"/>
                  </a:lnTo>
                  <a:close/>
                </a:path>
                <a:path w="15240" h="2556510">
                  <a:moveTo>
                    <a:pt x="14889" y="1949433"/>
                  </a:moveTo>
                  <a:lnTo>
                    <a:pt x="0" y="1949433"/>
                  </a:lnTo>
                  <a:lnTo>
                    <a:pt x="0" y="2009096"/>
                  </a:lnTo>
                  <a:lnTo>
                    <a:pt x="14889" y="2009096"/>
                  </a:lnTo>
                  <a:lnTo>
                    <a:pt x="14889" y="1949433"/>
                  </a:lnTo>
                  <a:close/>
                </a:path>
                <a:path w="15240" h="2556510">
                  <a:moveTo>
                    <a:pt x="9719" y="1899940"/>
                  </a:moveTo>
                  <a:lnTo>
                    <a:pt x="4549" y="1899940"/>
                  </a:lnTo>
                  <a:lnTo>
                    <a:pt x="9719" y="1904530"/>
                  </a:lnTo>
                  <a:lnTo>
                    <a:pt x="9719" y="1899940"/>
                  </a:lnTo>
                  <a:close/>
                </a:path>
                <a:path w="15240" h="2556510">
                  <a:moveTo>
                    <a:pt x="9719" y="1840276"/>
                  </a:moveTo>
                  <a:lnTo>
                    <a:pt x="0" y="1844866"/>
                  </a:lnTo>
                  <a:lnTo>
                    <a:pt x="0" y="1899940"/>
                  </a:lnTo>
                  <a:lnTo>
                    <a:pt x="14889" y="1899940"/>
                  </a:lnTo>
                  <a:lnTo>
                    <a:pt x="14889" y="1844866"/>
                  </a:lnTo>
                  <a:lnTo>
                    <a:pt x="9719" y="1840276"/>
                  </a:lnTo>
                  <a:close/>
                </a:path>
                <a:path w="15240" h="2556510">
                  <a:moveTo>
                    <a:pt x="9719" y="1730603"/>
                  </a:moveTo>
                  <a:lnTo>
                    <a:pt x="0" y="1735709"/>
                  </a:lnTo>
                  <a:lnTo>
                    <a:pt x="0" y="1790288"/>
                  </a:lnTo>
                  <a:lnTo>
                    <a:pt x="4549" y="1795394"/>
                  </a:lnTo>
                  <a:lnTo>
                    <a:pt x="9719" y="1795394"/>
                  </a:lnTo>
                  <a:lnTo>
                    <a:pt x="14889" y="1790288"/>
                  </a:lnTo>
                  <a:lnTo>
                    <a:pt x="14889" y="1735709"/>
                  </a:lnTo>
                  <a:lnTo>
                    <a:pt x="9719" y="1730603"/>
                  </a:lnTo>
                  <a:close/>
                </a:path>
                <a:path w="15240" h="2556510">
                  <a:moveTo>
                    <a:pt x="9719" y="1621467"/>
                  </a:moveTo>
                  <a:lnTo>
                    <a:pt x="0" y="1626057"/>
                  </a:lnTo>
                  <a:lnTo>
                    <a:pt x="0" y="1681131"/>
                  </a:lnTo>
                  <a:lnTo>
                    <a:pt x="4549" y="1685721"/>
                  </a:lnTo>
                  <a:lnTo>
                    <a:pt x="9719" y="1685721"/>
                  </a:lnTo>
                  <a:lnTo>
                    <a:pt x="14889" y="1681131"/>
                  </a:lnTo>
                  <a:lnTo>
                    <a:pt x="14889" y="1626057"/>
                  </a:lnTo>
                  <a:lnTo>
                    <a:pt x="9719" y="1621467"/>
                  </a:lnTo>
                  <a:close/>
                </a:path>
                <a:path w="15240" h="2556510">
                  <a:moveTo>
                    <a:pt x="9719" y="1511794"/>
                  </a:moveTo>
                  <a:lnTo>
                    <a:pt x="0" y="1516901"/>
                  </a:lnTo>
                  <a:lnTo>
                    <a:pt x="0" y="1576564"/>
                  </a:lnTo>
                  <a:lnTo>
                    <a:pt x="14889" y="1576564"/>
                  </a:lnTo>
                  <a:lnTo>
                    <a:pt x="14889" y="1516901"/>
                  </a:lnTo>
                  <a:lnTo>
                    <a:pt x="9719" y="1511794"/>
                  </a:lnTo>
                  <a:close/>
                </a:path>
                <a:path w="15240" h="2556510">
                  <a:moveTo>
                    <a:pt x="14889" y="1407227"/>
                  </a:moveTo>
                  <a:lnTo>
                    <a:pt x="0" y="1407227"/>
                  </a:lnTo>
                  <a:lnTo>
                    <a:pt x="0" y="1466912"/>
                  </a:lnTo>
                  <a:lnTo>
                    <a:pt x="14889" y="1466912"/>
                  </a:lnTo>
                  <a:lnTo>
                    <a:pt x="14889" y="1407227"/>
                  </a:lnTo>
                  <a:close/>
                </a:path>
                <a:path w="15240" h="2556510">
                  <a:moveTo>
                    <a:pt x="14889" y="1298092"/>
                  </a:moveTo>
                  <a:lnTo>
                    <a:pt x="0" y="1298092"/>
                  </a:lnTo>
                  <a:lnTo>
                    <a:pt x="0" y="1357756"/>
                  </a:lnTo>
                  <a:lnTo>
                    <a:pt x="14889" y="1357756"/>
                  </a:lnTo>
                  <a:lnTo>
                    <a:pt x="14889" y="1298092"/>
                  </a:lnTo>
                  <a:close/>
                </a:path>
                <a:path w="15240" h="2556510">
                  <a:moveTo>
                    <a:pt x="14889" y="1188418"/>
                  </a:moveTo>
                  <a:lnTo>
                    <a:pt x="0" y="1188418"/>
                  </a:lnTo>
                  <a:lnTo>
                    <a:pt x="0" y="1248103"/>
                  </a:lnTo>
                  <a:lnTo>
                    <a:pt x="14889" y="1248103"/>
                  </a:lnTo>
                  <a:lnTo>
                    <a:pt x="14889" y="1188418"/>
                  </a:lnTo>
                  <a:close/>
                </a:path>
                <a:path w="15240" h="2556510">
                  <a:moveTo>
                    <a:pt x="14889" y="1079366"/>
                  </a:moveTo>
                  <a:lnTo>
                    <a:pt x="0" y="1079366"/>
                  </a:lnTo>
                  <a:lnTo>
                    <a:pt x="0" y="1138905"/>
                  </a:lnTo>
                  <a:lnTo>
                    <a:pt x="14889" y="1138905"/>
                  </a:lnTo>
                  <a:lnTo>
                    <a:pt x="14889" y="1079366"/>
                  </a:lnTo>
                  <a:close/>
                </a:path>
                <a:path w="15240" h="2556510">
                  <a:moveTo>
                    <a:pt x="9719" y="1029749"/>
                  </a:moveTo>
                  <a:lnTo>
                    <a:pt x="4549" y="1029749"/>
                  </a:lnTo>
                  <a:lnTo>
                    <a:pt x="9719" y="1034297"/>
                  </a:lnTo>
                  <a:lnTo>
                    <a:pt x="9719" y="1029749"/>
                  </a:lnTo>
                  <a:close/>
                </a:path>
                <a:path w="15240" h="2556510">
                  <a:moveTo>
                    <a:pt x="9719" y="970209"/>
                  </a:moveTo>
                  <a:lnTo>
                    <a:pt x="0" y="974757"/>
                  </a:lnTo>
                  <a:lnTo>
                    <a:pt x="0" y="1029749"/>
                  </a:lnTo>
                  <a:lnTo>
                    <a:pt x="14889" y="1029749"/>
                  </a:lnTo>
                  <a:lnTo>
                    <a:pt x="14889" y="974757"/>
                  </a:lnTo>
                  <a:lnTo>
                    <a:pt x="9719" y="970209"/>
                  </a:lnTo>
                  <a:close/>
                </a:path>
                <a:path w="15240" h="2556510">
                  <a:moveTo>
                    <a:pt x="9719" y="860433"/>
                  </a:moveTo>
                  <a:lnTo>
                    <a:pt x="0" y="865601"/>
                  </a:lnTo>
                  <a:lnTo>
                    <a:pt x="0" y="920179"/>
                  </a:lnTo>
                  <a:lnTo>
                    <a:pt x="4549" y="925141"/>
                  </a:lnTo>
                  <a:lnTo>
                    <a:pt x="9719" y="925141"/>
                  </a:lnTo>
                  <a:lnTo>
                    <a:pt x="14889" y="920179"/>
                  </a:lnTo>
                  <a:lnTo>
                    <a:pt x="14889" y="865601"/>
                  </a:lnTo>
                  <a:lnTo>
                    <a:pt x="9719" y="860433"/>
                  </a:lnTo>
                  <a:close/>
                </a:path>
                <a:path w="15240" h="2556510">
                  <a:moveTo>
                    <a:pt x="9719" y="751276"/>
                  </a:moveTo>
                  <a:lnTo>
                    <a:pt x="0" y="755824"/>
                  </a:lnTo>
                  <a:lnTo>
                    <a:pt x="0" y="811023"/>
                  </a:lnTo>
                  <a:lnTo>
                    <a:pt x="4549" y="815571"/>
                  </a:lnTo>
                  <a:lnTo>
                    <a:pt x="9719" y="815571"/>
                  </a:lnTo>
                  <a:lnTo>
                    <a:pt x="14889" y="811023"/>
                  </a:lnTo>
                  <a:lnTo>
                    <a:pt x="14889" y="755824"/>
                  </a:lnTo>
                  <a:lnTo>
                    <a:pt x="9719" y="751276"/>
                  </a:lnTo>
                  <a:close/>
                </a:path>
                <a:path w="15240" h="2556510">
                  <a:moveTo>
                    <a:pt x="9719" y="641706"/>
                  </a:moveTo>
                  <a:lnTo>
                    <a:pt x="0" y="646668"/>
                  </a:lnTo>
                  <a:lnTo>
                    <a:pt x="0" y="706415"/>
                  </a:lnTo>
                  <a:lnTo>
                    <a:pt x="14889" y="706415"/>
                  </a:lnTo>
                  <a:lnTo>
                    <a:pt x="14889" y="646668"/>
                  </a:lnTo>
                  <a:lnTo>
                    <a:pt x="9719" y="641706"/>
                  </a:lnTo>
                  <a:close/>
                </a:path>
                <a:path w="15240" h="2556510">
                  <a:moveTo>
                    <a:pt x="14889" y="537098"/>
                  </a:moveTo>
                  <a:lnTo>
                    <a:pt x="0" y="537098"/>
                  </a:lnTo>
                  <a:lnTo>
                    <a:pt x="0" y="596845"/>
                  </a:lnTo>
                  <a:lnTo>
                    <a:pt x="14889" y="596845"/>
                  </a:lnTo>
                  <a:lnTo>
                    <a:pt x="14889" y="537098"/>
                  </a:lnTo>
                  <a:close/>
                </a:path>
                <a:path w="15240" h="2556510">
                  <a:moveTo>
                    <a:pt x="14889" y="427942"/>
                  </a:moveTo>
                  <a:lnTo>
                    <a:pt x="0" y="427942"/>
                  </a:lnTo>
                  <a:lnTo>
                    <a:pt x="0" y="487689"/>
                  </a:lnTo>
                  <a:lnTo>
                    <a:pt x="14889" y="487689"/>
                  </a:lnTo>
                  <a:lnTo>
                    <a:pt x="14889" y="427942"/>
                  </a:lnTo>
                  <a:close/>
                </a:path>
                <a:path w="15240" h="2556510">
                  <a:moveTo>
                    <a:pt x="14889" y="318165"/>
                  </a:moveTo>
                  <a:lnTo>
                    <a:pt x="0" y="318165"/>
                  </a:lnTo>
                  <a:lnTo>
                    <a:pt x="0" y="377912"/>
                  </a:lnTo>
                  <a:lnTo>
                    <a:pt x="14889" y="377912"/>
                  </a:lnTo>
                  <a:lnTo>
                    <a:pt x="14889" y="318165"/>
                  </a:lnTo>
                  <a:close/>
                </a:path>
                <a:path w="15240" h="2556510">
                  <a:moveTo>
                    <a:pt x="14889" y="209216"/>
                  </a:moveTo>
                  <a:lnTo>
                    <a:pt x="0" y="209216"/>
                  </a:lnTo>
                  <a:lnTo>
                    <a:pt x="0" y="268756"/>
                  </a:lnTo>
                  <a:lnTo>
                    <a:pt x="14889" y="268756"/>
                  </a:lnTo>
                  <a:lnTo>
                    <a:pt x="14889" y="209216"/>
                  </a:lnTo>
                  <a:close/>
                </a:path>
                <a:path w="15240" h="2556510">
                  <a:moveTo>
                    <a:pt x="9719" y="159186"/>
                  </a:moveTo>
                  <a:lnTo>
                    <a:pt x="4549" y="159186"/>
                  </a:lnTo>
                  <a:lnTo>
                    <a:pt x="9719" y="164147"/>
                  </a:lnTo>
                  <a:lnTo>
                    <a:pt x="9719" y="159186"/>
                  </a:lnTo>
                  <a:close/>
                </a:path>
                <a:path w="15240" h="2556510">
                  <a:moveTo>
                    <a:pt x="9719" y="99439"/>
                  </a:moveTo>
                  <a:lnTo>
                    <a:pt x="0" y="104608"/>
                  </a:lnTo>
                  <a:lnTo>
                    <a:pt x="0" y="159186"/>
                  </a:lnTo>
                  <a:lnTo>
                    <a:pt x="14889" y="159186"/>
                  </a:lnTo>
                  <a:lnTo>
                    <a:pt x="14889" y="104608"/>
                  </a:lnTo>
                  <a:lnTo>
                    <a:pt x="9719" y="99439"/>
                  </a:lnTo>
                  <a:close/>
                </a:path>
                <a:path w="15240" h="2556510">
                  <a:moveTo>
                    <a:pt x="14889" y="5168"/>
                  </a:moveTo>
                  <a:lnTo>
                    <a:pt x="0" y="5168"/>
                  </a:lnTo>
                  <a:lnTo>
                    <a:pt x="0" y="50029"/>
                  </a:lnTo>
                  <a:lnTo>
                    <a:pt x="4549" y="54991"/>
                  </a:lnTo>
                  <a:lnTo>
                    <a:pt x="9719" y="54991"/>
                  </a:lnTo>
                  <a:lnTo>
                    <a:pt x="14889" y="50029"/>
                  </a:lnTo>
                  <a:lnTo>
                    <a:pt x="14889" y="5168"/>
                  </a:lnTo>
                  <a:close/>
                </a:path>
                <a:path w="15240" h="2556510">
                  <a:moveTo>
                    <a:pt x="9719" y="0"/>
                  </a:moveTo>
                  <a:lnTo>
                    <a:pt x="4549" y="5168"/>
                  </a:lnTo>
                  <a:lnTo>
                    <a:pt x="9719" y="5168"/>
                  </a:lnTo>
                  <a:lnTo>
                    <a:pt x="97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849817" y="2645427"/>
              <a:ext cx="15240" cy="2457450"/>
            </a:xfrm>
            <a:custGeom>
              <a:avLst/>
              <a:gdLst/>
              <a:ahLst/>
              <a:cxnLst/>
              <a:rect l="l" t="t" r="r" b="b"/>
              <a:pathLst>
                <a:path w="15240" h="2457450">
                  <a:moveTo>
                    <a:pt x="0" y="2446755"/>
                  </a:moveTo>
                  <a:lnTo>
                    <a:pt x="0" y="2401873"/>
                  </a:lnTo>
                  <a:lnTo>
                    <a:pt x="0" y="2397284"/>
                  </a:lnTo>
                  <a:lnTo>
                    <a:pt x="9719" y="2392177"/>
                  </a:lnTo>
                  <a:lnTo>
                    <a:pt x="14889" y="2397284"/>
                  </a:lnTo>
                  <a:lnTo>
                    <a:pt x="14889" y="2401873"/>
                  </a:lnTo>
                  <a:lnTo>
                    <a:pt x="14889" y="2446755"/>
                  </a:lnTo>
                  <a:lnTo>
                    <a:pt x="14889" y="2451841"/>
                  </a:lnTo>
                  <a:lnTo>
                    <a:pt x="9719" y="2456947"/>
                  </a:lnTo>
                  <a:lnTo>
                    <a:pt x="4549" y="2456947"/>
                  </a:lnTo>
                  <a:lnTo>
                    <a:pt x="0" y="2451841"/>
                  </a:lnTo>
                  <a:lnTo>
                    <a:pt x="0" y="2446755"/>
                  </a:lnTo>
                  <a:close/>
                </a:path>
                <a:path w="15240" h="2457450">
                  <a:moveTo>
                    <a:pt x="0" y="2337599"/>
                  </a:moveTo>
                  <a:lnTo>
                    <a:pt x="0" y="2292717"/>
                  </a:lnTo>
                  <a:lnTo>
                    <a:pt x="0" y="2287610"/>
                  </a:lnTo>
                  <a:lnTo>
                    <a:pt x="9719" y="2282504"/>
                  </a:lnTo>
                  <a:lnTo>
                    <a:pt x="14889" y="2287610"/>
                  </a:lnTo>
                  <a:lnTo>
                    <a:pt x="14889" y="2292717"/>
                  </a:lnTo>
                  <a:lnTo>
                    <a:pt x="14889" y="2337599"/>
                  </a:lnTo>
                  <a:lnTo>
                    <a:pt x="14889" y="2342189"/>
                  </a:lnTo>
                  <a:lnTo>
                    <a:pt x="14889" y="2347295"/>
                  </a:lnTo>
                  <a:lnTo>
                    <a:pt x="9719" y="2347295"/>
                  </a:lnTo>
                  <a:lnTo>
                    <a:pt x="4549" y="2347295"/>
                  </a:lnTo>
                  <a:lnTo>
                    <a:pt x="0" y="2347295"/>
                  </a:lnTo>
                  <a:lnTo>
                    <a:pt x="0" y="2342189"/>
                  </a:lnTo>
                  <a:lnTo>
                    <a:pt x="0" y="2337599"/>
                  </a:lnTo>
                  <a:close/>
                </a:path>
                <a:path w="15240" h="2457450">
                  <a:moveTo>
                    <a:pt x="0" y="2233032"/>
                  </a:moveTo>
                  <a:lnTo>
                    <a:pt x="0" y="2183044"/>
                  </a:lnTo>
                  <a:lnTo>
                    <a:pt x="0" y="2178454"/>
                  </a:lnTo>
                  <a:lnTo>
                    <a:pt x="9719" y="2178454"/>
                  </a:lnTo>
                  <a:lnTo>
                    <a:pt x="14889" y="2178454"/>
                  </a:lnTo>
                  <a:lnTo>
                    <a:pt x="14889" y="2183044"/>
                  </a:lnTo>
                  <a:lnTo>
                    <a:pt x="14889" y="2233032"/>
                  </a:lnTo>
                  <a:lnTo>
                    <a:pt x="14889" y="2238139"/>
                  </a:lnTo>
                  <a:lnTo>
                    <a:pt x="9719" y="2238139"/>
                  </a:lnTo>
                  <a:lnTo>
                    <a:pt x="4549" y="2238139"/>
                  </a:lnTo>
                  <a:lnTo>
                    <a:pt x="0" y="2238139"/>
                  </a:lnTo>
                  <a:lnTo>
                    <a:pt x="0" y="2233032"/>
                  </a:lnTo>
                  <a:close/>
                </a:path>
                <a:path w="15240" h="2457450">
                  <a:moveTo>
                    <a:pt x="0" y="2123380"/>
                  </a:moveTo>
                  <a:lnTo>
                    <a:pt x="0" y="2073908"/>
                  </a:lnTo>
                  <a:lnTo>
                    <a:pt x="0" y="2068802"/>
                  </a:lnTo>
                  <a:lnTo>
                    <a:pt x="9719" y="2068802"/>
                  </a:lnTo>
                  <a:lnTo>
                    <a:pt x="14889" y="2068802"/>
                  </a:lnTo>
                  <a:lnTo>
                    <a:pt x="14889" y="2073908"/>
                  </a:lnTo>
                  <a:lnTo>
                    <a:pt x="14889" y="2123380"/>
                  </a:lnTo>
                  <a:lnTo>
                    <a:pt x="14889" y="2128465"/>
                  </a:lnTo>
                  <a:lnTo>
                    <a:pt x="9719" y="2128465"/>
                  </a:lnTo>
                  <a:lnTo>
                    <a:pt x="4549" y="2128465"/>
                  </a:lnTo>
                  <a:lnTo>
                    <a:pt x="0" y="2128465"/>
                  </a:lnTo>
                  <a:lnTo>
                    <a:pt x="0" y="2123380"/>
                  </a:lnTo>
                  <a:close/>
                </a:path>
                <a:path w="15240" h="2457450">
                  <a:moveTo>
                    <a:pt x="0" y="2014223"/>
                  </a:moveTo>
                  <a:lnTo>
                    <a:pt x="0" y="1964235"/>
                  </a:lnTo>
                  <a:lnTo>
                    <a:pt x="0" y="1959645"/>
                  </a:lnTo>
                  <a:lnTo>
                    <a:pt x="9719" y="1959645"/>
                  </a:lnTo>
                  <a:lnTo>
                    <a:pt x="14889" y="1959645"/>
                  </a:lnTo>
                  <a:lnTo>
                    <a:pt x="14889" y="1964235"/>
                  </a:lnTo>
                  <a:lnTo>
                    <a:pt x="14889" y="2014223"/>
                  </a:lnTo>
                  <a:lnTo>
                    <a:pt x="14889" y="2019330"/>
                  </a:lnTo>
                  <a:lnTo>
                    <a:pt x="9719" y="2019330"/>
                  </a:lnTo>
                  <a:lnTo>
                    <a:pt x="4549" y="2019330"/>
                  </a:lnTo>
                  <a:lnTo>
                    <a:pt x="0" y="2019330"/>
                  </a:lnTo>
                  <a:lnTo>
                    <a:pt x="0" y="2014223"/>
                  </a:lnTo>
                  <a:close/>
                </a:path>
                <a:path w="15240" h="2457450">
                  <a:moveTo>
                    <a:pt x="0" y="1904571"/>
                  </a:moveTo>
                  <a:lnTo>
                    <a:pt x="0" y="1860185"/>
                  </a:lnTo>
                  <a:lnTo>
                    <a:pt x="0" y="1855078"/>
                  </a:lnTo>
                  <a:lnTo>
                    <a:pt x="0" y="1849993"/>
                  </a:lnTo>
                  <a:lnTo>
                    <a:pt x="9719" y="1849993"/>
                  </a:lnTo>
                  <a:lnTo>
                    <a:pt x="14889" y="1849993"/>
                  </a:lnTo>
                  <a:lnTo>
                    <a:pt x="14889" y="1855078"/>
                  </a:lnTo>
                  <a:lnTo>
                    <a:pt x="14889" y="1860185"/>
                  </a:lnTo>
                  <a:lnTo>
                    <a:pt x="14889" y="1904571"/>
                  </a:lnTo>
                  <a:lnTo>
                    <a:pt x="14889" y="1909657"/>
                  </a:lnTo>
                  <a:lnTo>
                    <a:pt x="9719" y="1909657"/>
                  </a:lnTo>
                  <a:lnTo>
                    <a:pt x="4549" y="1909657"/>
                  </a:lnTo>
                  <a:lnTo>
                    <a:pt x="0" y="1909657"/>
                  </a:lnTo>
                  <a:lnTo>
                    <a:pt x="0" y="1904571"/>
                  </a:lnTo>
                  <a:close/>
                </a:path>
                <a:path w="15240" h="2457450">
                  <a:moveTo>
                    <a:pt x="0" y="1795415"/>
                  </a:moveTo>
                  <a:lnTo>
                    <a:pt x="0" y="1750532"/>
                  </a:lnTo>
                  <a:lnTo>
                    <a:pt x="0" y="1745426"/>
                  </a:lnTo>
                  <a:lnTo>
                    <a:pt x="9719" y="1740836"/>
                  </a:lnTo>
                  <a:lnTo>
                    <a:pt x="14889" y="1745426"/>
                  </a:lnTo>
                  <a:lnTo>
                    <a:pt x="14889" y="1750532"/>
                  </a:lnTo>
                  <a:lnTo>
                    <a:pt x="14889" y="1795415"/>
                  </a:lnTo>
                  <a:lnTo>
                    <a:pt x="14889" y="1800500"/>
                  </a:lnTo>
                  <a:lnTo>
                    <a:pt x="9719" y="1800500"/>
                  </a:lnTo>
                  <a:lnTo>
                    <a:pt x="9719" y="1805090"/>
                  </a:lnTo>
                  <a:lnTo>
                    <a:pt x="4549" y="1800500"/>
                  </a:lnTo>
                  <a:lnTo>
                    <a:pt x="0" y="1800500"/>
                  </a:lnTo>
                  <a:lnTo>
                    <a:pt x="0" y="1795415"/>
                  </a:lnTo>
                  <a:close/>
                </a:path>
                <a:path w="15240" h="2457450">
                  <a:moveTo>
                    <a:pt x="0" y="1685741"/>
                  </a:moveTo>
                  <a:lnTo>
                    <a:pt x="0" y="1641376"/>
                  </a:lnTo>
                  <a:lnTo>
                    <a:pt x="0" y="1636270"/>
                  </a:lnTo>
                  <a:lnTo>
                    <a:pt x="9719" y="1631163"/>
                  </a:lnTo>
                  <a:lnTo>
                    <a:pt x="14889" y="1636270"/>
                  </a:lnTo>
                  <a:lnTo>
                    <a:pt x="14889" y="1641376"/>
                  </a:lnTo>
                  <a:lnTo>
                    <a:pt x="14889" y="1685741"/>
                  </a:lnTo>
                  <a:lnTo>
                    <a:pt x="14889" y="1690848"/>
                  </a:lnTo>
                  <a:lnTo>
                    <a:pt x="9719" y="1695954"/>
                  </a:lnTo>
                  <a:lnTo>
                    <a:pt x="4549" y="1695954"/>
                  </a:lnTo>
                  <a:lnTo>
                    <a:pt x="0" y="1690848"/>
                  </a:lnTo>
                  <a:lnTo>
                    <a:pt x="0" y="1685741"/>
                  </a:lnTo>
                  <a:close/>
                </a:path>
                <a:path w="15240" h="2457450">
                  <a:moveTo>
                    <a:pt x="0" y="1576585"/>
                  </a:moveTo>
                  <a:lnTo>
                    <a:pt x="0" y="1531703"/>
                  </a:lnTo>
                  <a:lnTo>
                    <a:pt x="0" y="1526617"/>
                  </a:lnTo>
                  <a:lnTo>
                    <a:pt x="9719" y="1522028"/>
                  </a:lnTo>
                  <a:lnTo>
                    <a:pt x="14889" y="1526617"/>
                  </a:lnTo>
                  <a:lnTo>
                    <a:pt x="14889" y="1531703"/>
                  </a:lnTo>
                  <a:lnTo>
                    <a:pt x="14889" y="1576585"/>
                  </a:lnTo>
                  <a:lnTo>
                    <a:pt x="14889" y="1581691"/>
                  </a:lnTo>
                  <a:lnTo>
                    <a:pt x="9719" y="1586281"/>
                  </a:lnTo>
                  <a:lnTo>
                    <a:pt x="4549" y="1586281"/>
                  </a:lnTo>
                  <a:lnTo>
                    <a:pt x="0" y="1581691"/>
                  </a:lnTo>
                  <a:lnTo>
                    <a:pt x="0" y="1576585"/>
                  </a:lnTo>
                  <a:close/>
                </a:path>
                <a:path w="15240" h="2457450">
                  <a:moveTo>
                    <a:pt x="0" y="1466933"/>
                  </a:moveTo>
                  <a:lnTo>
                    <a:pt x="0" y="1422567"/>
                  </a:lnTo>
                  <a:lnTo>
                    <a:pt x="0" y="1417461"/>
                  </a:lnTo>
                  <a:lnTo>
                    <a:pt x="9719" y="1412354"/>
                  </a:lnTo>
                  <a:lnTo>
                    <a:pt x="14889" y="1417461"/>
                  </a:lnTo>
                  <a:lnTo>
                    <a:pt x="14889" y="1422567"/>
                  </a:lnTo>
                  <a:lnTo>
                    <a:pt x="14889" y="1466933"/>
                  </a:lnTo>
                  <a:lnTo>
                    <a:pt x="14889" y="1472039"/>
                  </a:lnTo>
                  <a:lnTo>
                    <a:pt x="14889" y="1477125"/>
                  </a:lnTo>
                  <a:lnTo>
                    <a:pt x="9719" y="1477125"/>
                  </a:lnTo>
                  <a:lnTo>
                    <a:pt x="4549" y="1477125"/>
                  </a:lnTo>
                  <a:lnTo>
                    <a:pt x="0" y="1477125"/>
                  </a:lnTo>
                  <a:lnTo>
                    <a:pt x="0" y="1472039"/>
                  </a:lnTo>
                  <a:lnTo>
                    <a:pt x="0" y="1466933"/>
                  </a:lnTo>
                  <a:close/>
                </a:path>
                <a:path w="15240" h="2457450">
                  <a:moveTo>
                    <a:pt x="0" y="1362883"/>
                  </a:moveTo>
                  <a:lnTo>
                    <a:pt x="0" y="1312894"/>
                  </a:lnTo>
                  <a:lnTo>
                    <a:pt x="0" y="1307788"/>
                  </a:lnTo>
                  <a:lnTo>
                    <a:pt x="9719" y="1307788"/>
                  </a:lnTo>
                  <a:lnTo>
                    <a:pt x="14889" y="1307788"/>
                  </a:lnTo>
                  <a:lnTo>
                    <a:pt x="14889" y="1312894"/>
                  </a:lnTo>
                  <a:lnTo>
                    <a:pt x="14889" y="1362883"/>
                  </a:lnTo>
                  <a:lnTo>
                    <a:pt x="14889" y="1367472"/>
                  </a:lnTo>
                  <a:lnTo>
                    <a:pt x="9719" y="1367472"/>
                  </a:lnTo>
                  <a:lnTo>
                    <a:pt x="4549" y="1367472"/>
                  </a:lnTo>
                  <a:lnTo>
                    <a:pt x="0" y="1367472"/>
                  </a:lnTo>
                  <a:lnTo>
                    <a:pt x="0" y="1362883"/>
                  </a:lnTo>
                  <a:close/>
                </a:path>
                <a:path w="15240" h="2457450">
                  <a:moveTo>
                    <a:pt x="0" y="1253209"/>
                  </a:moveTo>
                  <a:lnTo>
                    <a:pt x="0" y="1203738"/>
                  </a:lnTo>
                  <a:lnTo>
                    <a:pt x="0" y="1198652"/>
                  </a:lnTo>
                  <a:lnTo>
                    <a:pt x="9719" y="1198652"/>
                  </a:lnTo>
                  <a:lnTo>
                    <a:pt x="14889" y="1198652"/>
                  </a:lnTo>
                  <a:lnTo>
                    <a:pt x="14889" y="1203738"/>
                  </a:lnTo>
                  <a:lnTo>
                    <a:pt x="14889" y="1253209"/>
                  </a:lnTo>
                  <a:lnTo>
                    <a:pt x="14889" y="1258316"/>
                  </a:lnTo>
                  <a:lnTo>
                    <a:pt x="9719" y="1258316"/>
                  </a:lnTo>
                  <a:lnTo>
                    <a:pt x="4549" y="1258316"/>
                  </a:lnTo>
                  <a:lnTo>
                    <a:pt x="0" y="1258316"/>
                  </a:lnTo>
                  <a:lnTo>
                    <a:pt x="0" y="1253209"/>
                  </a:lnTo>
                  <a:close/>
                </a:path>
                <a:path w="15240" h="2457450">
                  <a:moveTo>
                    <a:pt x="0" y="1144074"/>
                  </a:moveTo>
                  <a:lnTo>
                    <a:pt x="0" y="1094085"/>
                  </a:lnTo>
                  <a:lnTo>
                    <a:pt x="0" y="1088979"/>
                  </a:lnTo>
                  <a:lnTo>
                    <a:pt x="9719" y="1088979"/>
                  </a:lnTo>
                  <a:lnTo>
                    <a:pt x="14889" y="1088979"/>
                  </a:lnTo>
                  <a:lnTo>
                    <a:pt x="14889" y="1094085"/>
                  </a:lnTo>
                  <a:lnTo>
                    <a:pt x="14889" y="1144074"/>
                  </a:lnTo>
                  <a:lnTo>
                    <a:pt x="14889" y="1148663"/>
                  </a:lnTo>
                  <a:lnTo>
                    <a:pt x="9719" y="1148663"/>
                  </a:lnTo>
                  <a:lnTo>
                    <a:pt x="4549" y="1148663"/>
                  </a:lnTo>
                  <a:lnTo>
                    <a:pt x="0" y="1148663"/>
                  </a:lnTo>
                  <a:lnTo>
                    <a:pt x="0" y="1144074"/>
                  </a:lnTo>
                  <a:close/>
                </a:path>
                <a:path w="15240" h="2457450">
                  <a:moveTo>
                    <a:pt x="0" y="1034504"/>
                  </a:moveTo>
                  <a:lnTo>
                    <a:pt x="0" y="990056"/>
                  </a:lnTo>
                  <a:lnTo>
                    <a:pt x="0" y="984887"/>
                  </a:lnTo>
                  <a:lnTo>
                    <a:pt x="0" y="979926"/>
                  </a:lnTo>
                  <a:lnTo>
                    <a:pt x="9719" y="979926"/>
                  </a:lnTo>
                  <a:lnTo>
                    <a:pt x="14889" y="979926"/>
                  </a:lnTo>
                  <a:lnTo>
                    <a:pt x="14889" y="984887"/>
                  </a:lnTo>
                  <a:lnTo>
                    <a:pt x="14889" y="990056"/>
                  </a:lnTo>
                  <a:lnTo>
                    <a:pt x="14889" y="1034504"/>
                  </a:lnTo>
                  <a:lnTo>
                    <a:pt x="14889" y="1039466"/>
                  </a:lnTo>
                  <a:lnTo>
                    <a:pt x="9719" y="1039466"/>
                  </a:lnTo>
                  <a:lnTo>
                    <a:pt x="4549" y="1039466"/>
                  </a:lnTo>
                  <a:lnTo>
                    <a:pt x="0" y="1039466"/>
                  </a:lnTo>
                  <a:lnTo>
                    <a:pt x="0" y="1034504"/>
                  </a:lnTo>
                  <a:close/>
                </a:path>
                <a:path w="15240" h="2457450">
                  <a:moveTo>
                    <a:pt x="0" y="925348"/>
                  </a:moveTo>
                  <a:lnTo>
                    <a:pt x="0" y="880279"/>
                  </a:lnTo>
                  <a:lnTo>
                    <a:pt x="0" y="875318"/>
                  </a:lnTo>
                  <a:lnTo>
                    <a:pt x="9719" y="870769"/>
                  </a:lnTo>
                  <a:lnTo>
                    <a:pt x="14889" y="875318"/>
                  </a:lnTo>
                  <a:lnTo>
                    <a:pt x="14889" y="880279"/>
                  </a:lnTo>
                  <a:lnTo>
                    <a:pt x="14889" y="925348"/>
                  </a:lnTo>
                  <a:lnTo>
                    <a:pt x="14889" y="930309"/>
                  </a:lnTo>
                  <a:lnTo>
                    <a:pt x="9719" y="930309"/>
                  </a:lnTo>
                  <a:lnTo>
                    <a:pt x="9719" y="934857"/>
                  </a:lnTo>
                  <a:lnTo>
                    <a:pt x="4549" y="930309"/>
                  </a:lnTo>
                  <a:lnTo>
                    <a:pt x="0" y="930309"/>
                  </a:lnTo>
                  <a:lnTo>
                    <a:pt x="0" y="925348"/>
                  </a:lnTo>
                  <a:close/>
                </a:path>
                <a:path w="15240" h="2457450">
                  <a:moveTo>
                    <a:pt x="0" y="815571"/>
                  </a:moveTo>
                  <a:lnTo>
                    <a:pt x="0" y="771123"/>
                  </a:lnTo>
                  <a:lnTo>
                    <a:pt x="0" y="766161"/>
                  </a:lnTo>
                  <a:lnTo>
                    <a:pt x="9719" y="760993"/>
                  </a:lnTo>
                  <a:lnTo>
                    <a:pt x="14889" y="766161"/>
                  </a:lnTo>
                  <a:lnTo>
                    <a:pt x="14889" y="771123"/>
                  </a:lnTo>
                  <a:lnTo>
                    <a:pt x="14889" y="815571"/>
                  </a:lnTo>
                  <a:lnTo>
                    <a:pt x="14889" y="820739"/>
                  </a:lnTo>
                  <a:lnTo>
                    <a:pt x="9719" y="825701"/>
                  </a:lnTo>
                  <a:lnTo>
                    <a:pt x="4549" y="825701"/>
                  </a:lnTo>
                  <a:lnTo>
                    <a:pt x="0" y="820739"/>
                  </a:lnTo>
                  <a:lnTo>
                    <a:pt x="0" y="815571"/>
                  </a:lnTo>
                  <a:close/>
                </a:path>
                <a:path w="15240" h="2457450">
                  <a:moveTo>
                    <a:pt x="0" y="706415"/>
                  </a:moveTo>
                  <a:lnTo>
                    <a:pt x="0" y="661553"/>
                  </a:lnTo>
                  <a:lnTo>
                    <a:pt x="0" y="656385"/>
                  </a:lnTo>
                  <a:lnTo>
                    <a:pt x="9719" y="651836"/>
                  </a:lnTo>
                  <a:lnTo>
                    <a:pt x="14889" y="656385"/>
                  </a:lnTo>
                  <a:lnTo>
                    <a:pt x="14889" y="661553"/>
                  </a:lnTo>
                  <a:lnTo>
                    <a:pt x="14889" y="706415"/>
                  </a:lnTo>
                  <a:lnTo>
                    <a:pt x="14889" y="711583"/>
                  </a:lnTo>
                  <a:lnTo>
                    <a:pt x="9719" y="716131"/>
                  </a:lnTo>
                  <a:lnTo>
                    <a:pt x="4549" y="716131"/>
                  </a:lnTo>
                  <a:lnTo>
                    <a:pt x="0" y="711583"/>
                  </a:lnTo>
                  <a:lnTo>
                    <a:pt x="0" y="706415"/>
                  </a:lnTo>
                  <a:close/>
                </a:path>
                <a:path w="15240" h="2457450">
                  <a:moveTo>
                    <a:pt x="0" y="596845"/>
                  </a:moveTo>
                  <a:lnTo>
                    <a:pt x="0" y="552397"/>
                  </a:lnTo>
                  <a:lnTo>
                    <a:pt x="0" y="547228"/>
                  </a:lnTo>
                  <a:lnTo>
                    <a:pt x="9719" y="542267"/>
                  </a:lnTo>
                  <a:lnTo>
                    <a:pt x="14889" y="547228"/>
                  </a:lnTo>
                  <a:lnTo>
                    <a:pt x="14889" y="552397"/>
                  </a:lnTo>
                  <a:lnTo>
                    <a:pt x="14889" y="596845"/>
                  </a:lnTo>
                  <a:lnTo>
                    <a:pt x="14889" y="601807"/>
                  </a:lnTo>
                  <a:lnTo>
                    <a:pt x="14889" y="606975"/>
                  </a:lnTo>
                  <a:lnTo>
                    <a:pt x="9719" y="606975"/>
                  </a:lnTo>
                  <a:lnTo>
                    <a:pt x="4549" y="606975"/>
                  </a:lnTo>
                  <a:lnTo>
                    <a:pt x="0" y="606975"/>
                  </a:lnTo>
                  <a:lnTo>
                    <a:pt x="0" y="601807"/>
                  </a:lnTo>
                  <a:lnTo>
                    <a:pt x="0" y="596845"/>
                  </a:lnTo>
                  <a:close/>
                </a:path>
                <a:path w="15240" h="2457450">
                  <a:moveTo>
                    <a:pt x="0" y="492650"/>
                  </a:moveTo>
                  <a:lnTo>
                    <a:pt x="0" y="442827"/>
                  </a:lnTo>
                  <a:lnTo>
                    <a:pt x="0" y="437659"/>
                  </a:lnTo>
                  <a:lnTo>
                    <a:pt x="9719" y="437659"/>
                  </a:lnTo>
                  <a:lnTo>
                    <a:pt x="14889" y="437659"/>
                  </a:lnTo>
                  <a:lnTo>
                    <a:pt x="14889" y="442827"/>
                  </a:lnTo>
                  <a:lnTo>
                    <a:pt x="14889" y="492650"/>
                  </a:lnTo>
                  <a:lnTo>
                    <a:pt x="14889" y="497405"/>
                  </a:lnTo>
                  <a:lnTo>
                    <a:pt x="9719" y="497405"/>
                  </a:lnTo>
                  <a:lnTo>
                    <a:pt x="4549" y="497405"/>
                  </a:lnTo>
                  <a:lnTo>
                    <a:pt x="0" y="497405"/>
                  </a:lnTo>
                  <a:lnTo>
                    <a:pt x="0" y="492650"/>
                  </a:lnTo>
                  <a:close/>
                </a:path>
                <a:path w="15240" h="2457450">
                  <a:moveTo>
                    <a:pt x="0" y="383080"/>
                  </a:moveTo>
                  <a:lnTo>
                    <a:pt x="0" y="333671"/>
                  </a:lnTo>
                  <a:lnTo>
                    <a:pt x="0" y="328502"/>
                  </a:lnTo>
                  <a:lnTo>
                    <a:pt x="9719" y="328502"/>
                  </a:lnTo>
                  <a:lnTo>
                    <a:pt x="14889" y="328502"/>
                  </a:lnTo>
                  <a:lnTo>
                    <a:pt x="14889" y="333671"/>
                  </a:lnTo>
                  <a:lnTo>
                    <a:pt x="14889" y="383080"/>
                  </a:lnTo>
                  <a:lnTo>
                    <a:pt x="14889" y="388249"/>
                  </a:lnTo>
                  <a:lnTo>
                    <a:pt x="9719" y="388249"/>
                  </a:lnTo>
                  <a:lnTo>
                    <a:pt x="4549" y="388249"/>
                  </a:lnTo>
                  <a:lnTo>
                    <a:pt x="0" y="388249"/>
                  </a:lnTo>
                  <a:lnTo>
                    <a:pt x="0" y="383080"/>
                  </a:lnTo>
                  <a:close/>
                </a:path>
                <a:path w="15240" h="2457450">
                  <a:moveTo>
                    <a:pt x="0" y="273924"/>
                  </a:moveTo>
                  <a:lnTo>
                    <a:pt x="0" y="223894"/>
                  </a:lnTo>
                  <a:lnTo>
                    <a:pt x="0" y="218726"/>
                  </a:lnTo>
                  <a:lnTo>
                    <a:pt x="9719" y="218726"/>
                  </a:lnTo>
                  <a:lnTo>
                    <a:pt x="14889" y="218726"/>
                  </a:lnTo>
                  <a:lnTo>
                    <a:pt x="14889" y="223894"/>
                  </a:lnTo>
                  <a:lnTo>
                    <a:pt x="14889" y="273924"/>
                  </a:lnTo>
                  <a:lnTo>
                    <a:pt x="14889" y="278472"/>
                  </a:lnTo>
                  <a:lnTo>
                    <a:pt x="9719" y="278472"/>
                  </a:lnTo>
                  <a:lnTo>
                    <a:pt x="4549" y="278472"/>
                  </a:lnTo>
                  <a:lnTo>
                    <a:pt x="0" y="278472"/>
                  </a:lnTo>
                  <a:lnTo>
                    <a:pt x="0" y="273924"/>
                  </a:lnTo>
                  <a:close/>
                </a:path>
                <a:path w="15240" h="2457450">
                  <a:moveTo>
                    <a:pt x="0" y="164147"/>
                  </a:moveTo>
                  <a:lnTo>
                    <a:pt x="0" y="119286"/>
                  </a:lnTo>
                  <a:lnTo>
                    <a:pt x="0" y="114738"/>
                  </a:lnTo>
                  <a:lnTo>
                    <a:pt x="0" y="109776"/>
                  </a:lnTo>
                  <a:lnTo>
                    <a:pt x="9719" y="109776"/>
                  </a:lnTo>
                  <a:lnTo>
                    <a:pt x="14889" y="109776"/>
                  </a:lnTo>
                  <a:lnTo>
                    <a:pt x="14889" y="114738"/>
                  </a:lnTo>
                  <a:lnTo>
                    <a:pt x="14889" y="119286"/>
                  </a:lnTo>
                  <a:lnTo>
                    <a:pt x="14889" y="164147"/>
                  </a:lnTo>
                  <a:lnTo>
                    <a:pt x="14889" y="169316"/>
                  </a:lnTo>
                  <a:lnTo>
                    <a:pt x="9719" y="169316"/>
                  </a:lnTo>
                  <a:lnTo>
                    <a:pt x="4549" y="169316"/>
                  </a:lnTo>
                  <a:lnTo>
                    <a:pt x="0" y="169316"/>
                  </a:lnTo>
                  <a:lnTo>
                    <a:pt x="0" y="164147"/>
                  </a:lnTo>
                  <a:close/>
                </a:path>
                <a:path w="15240" h="2457450">
                  <a:moveTo>
                    <a:pt x="0" y="55198"/>
                  </a:moveTo>
                  <a:lnTo>
                    <a:pt x="0" y="10130"/>
                  </a:lnTo>
                  <a:lnTo>
                    <a:pt x="0" y="5168"/>
                  </a:lnTo>
                  <a:lnTo>
                    <a:pt x="9719" y="0"/>
                  </a:lnTo>
                  <a:lnTo>
                    <a:pt x="14889" y="5168"/>
                  </a:lnTo>
                  <a:lnTo>
                    <a:pt x="14889" y="10130"/>
                  </a:lnTo>
                  <a:lnTo>
                    <a:pt x="14889" y="55198"/>
                  </a:lnTo>
                  <a:lnTo>
                    <a:pt x="14889" y="59746"/>
                  </a:lnTo>
                  <a:lnTo>
                    <a:pt x="9719" y="59746"/>
                  </a:lnTo>
                  <a:lnTo>
                    <a:pt x="9719" y="64708"/>
                  </a:lnTo>
                  <a:lnTo>
                    <a:pt x="4549" y="59746"/>
                  </a:lnTo>
                  <a:lnTo>
                    <a:pt x="0" y="59746"/>
                  </a:lnTo>
                  <a:lnTo>
                    <a:pt x="0" y="55198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19230" y="2515545"/>
              <a:ext cx="79394" cy="8799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9816938" y="4900403"/>
              <a:ext cx="69215" cy="59690"/>
            </a:xfrm>
            <a:custGeom>
              <a:avLst/>
              <a:gdLst/>
              <a:ahLst/>
              <a:cxnLst/>
              <a:rect l="l" t="t" r="r" b="b"/>
              <a:pathLst>
                <a:path w="69215" h="59689">
                  <a:moveTo>
                    <a:pt x="69151" y="0"/>
                  </a:moveTo>
                  <a:lnTo>
                    <a:pt x="0" y="0"/>
                  </a:lnTo>
                  <a:lnTo>
                    <a:pt x="0" y="59676"/>
                  </a:lnTo>
                  <a:lnTo>
                    <a:pt x="69151" y="59676"/>
                  </a:lnTo>
                  <a:lnTo>
                    <a:pt x="691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816938" y="4900403"/>
              <a:ext cx="69215" cy="59690"/>
            </a:xfrm>
            <a:custGeom>
              <a:avLst/>
              <a:gdLst/>
              <a:ahLst/>
              <a:cxnLst/>
              <a:rect l="l" t="t" r="r" b="b"/>
              <a:pathLst>
                <a:path w="69215" h="59689">
                  <a:moveTo>
                    <a:pt x="0" y="59676"/>
                  </a:moveTo>
                  <a:lnTo>
                    <a:pt x="69151" y="59676"/>
                  </a:lnTo>
                  <a:lnTo>
                    <a:pt x="69151" y="0"/>
                  </a:lnTo>
                  <a:lnTo>
                    <a:pt x="0" y="0"/>
                  </a:lnTo>
                  <a:lnTo>
                    <a:pt x="0" y="59676"/>
                  </a:lnTo>
                  <a:close/>
                </a:path>
              </a:pathLst>
            </a:custGeom>
            <a:ln w="14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956778" y="3192656"/>
              <a:ext cx="15240" cy="1910080"/>
            </a:xfrm>
            <a:custGeom>
              <a:avLst/>
              <a:gdLst/>
              <a:ahLst/>
              <a:cxnLst/>
              <a:rect l="l" t="t" r="r" b="b"/>
              <a:pathLst>
                <a:path w="15240" h="1910079">
                  <a:moveTo>
                    <a:pt x="9719" y="1844948"/>
                  </a:moveTo>
                  <a:lnTo>
                    <a:pt x="4549" y="1850055"/>
                  </a:lnTo>
                  <a:lnTo>
                    <a:pt x="0" y="1850055"/>
                  </a:lnTo>
                  <a:lnTo>
                    <a:pt x="0" y="1904612"/>
                  </a:lnTo>
                  <a:lnTo>
                    <a:pt x="4549" y="1904612"/>
                  </a:lnTo>
                  <a:lnTo>
                    <a:pt x="4549" y="1909719"/>
                  </a:lnTo>
                  <a:lnTo>
                    <a:pt x="9719" y="1909719"/>
                  </a:lnTo>
                  <a:lnTo>
                    <a:pt x="14889" y="1904612"/>
                  </a:lnTo>
                  <a:lnTo>
                    <a:pt x="14889" y="1850055"/>
                  </a:lnTo>
                  <a:lnTo>
                    <a:pt x="9719" y="1844948"/>
                  </a:lnTo>
                  <a:close/>
                </a:path>
                <a:path w="15240" h="1910079">
                  <a:moveTo>
                    <a:pt x="9719" y="1735275"/>
                  </a:moveTo>
                  <a:lnTo>
                    <a:pt x="4549" y="1740382"/>
                  </a:lnTo>
                  <a:lnTo>
                    <a:pt x="0" y="1740382"/>
                  </a:lnTo>
                  <a:lnTo>
                    <a:pt x="0" y="1794960"/>
                  </a:lnTo>
                  <a:lnTo>
                    <a:pt x="4549" y="1800066"/>
                  </a:lnTo>
                  <a:lnTo>
                    <a:pt x="14889" y="1800066"/>
                  </a:lnTo>
                  <a:lnTo>
                    <a:pt x="14889" y="1740382"/>
                  </a:lnTo>
                  <a:lnTo>
                    <a:pt x="9719" y="1735275"/>
                  </a:lnTo>
                  <a:close/>
                </a:path>
                <a:path w="15240" h="1910079">
                  <a:moveTo>
                    <a:pt x="14889" y="1631225"/>
                  </a:moveTo>
                  <a:lnTo>
                    <a:pt x="4549" y="1631225"/>
                  </a:lnTo>
                  <a:lnTo>
                    <a:pt x="0" y="1635815"/>
                  </a:lnTo>
                  <a:lnTo>
                    <a:pt x="0" y="1685803"/>
                  </a:lnTo>
                  <a:lnTo>
                    <a:pt x="4549" y="1690910"/>
                  </a:lnTo>
                  <a:lnTo>
                    <a:pt x="14889" y="1690910"/>
                  </a:lnTo>
                  <a:lnTo>
                    <a:pt x="14889" y="1631225"/>
                  </a:lnTo>
                  <a:close/>
                </a:path>
                <a:path w="15240" h="1910079">
                  <a:moveTo>
                    <a:pt x="14889" y="1521573"/>
                  </a:moveTo>
                  <a:lnTo>
                    <a:pt x="4549" y="1521573"/>
                  </a:lnTo>
                  <a:lnTo>
                    <a:pt x="0" y="1526679"/>
                  </a:lnTo>
                  <a:lnTo>
                    <a:pt x="0" y="1576151"/>
                  </a:lnTo>
                  <a:lnTo>
                    <a:pt x="4549" y="1581237"/>
                  </a:lnTo>
                  <a:lnTo>
                    <a:pt x="14889" y="1581237"/>
                  </a:lnTo>
                  <a:lnTo>
                    <a:pt x="14889" y="1521573"/>
                  </a:lnTo>
                  <a:close/>
                </a:path>
                <a:path w="15240" h="1910079">
                  <a:moveTo>
                    <a:pt x="14889" y="1412416"/>
                  </a:moveTo>
                  <a:lnTo>
                    <a:pt x="4549" y="1412416"/>
                  </a:lnTo>
                  <a:lnTo>
                    <a:pt x="0" y="1417006"/>
                  </a:lnTo>
                  <a:lnTo>
                    <a:pt x="0" y="1466995"/>
                  </a:lnTo>
                  <a:lnTo>
                    <a:pt x="4549" y="1472101"/>
                  </a:lnTo>
                  <a:lnTo>
                    <a:pt x="14889" y="1472101"/>
                  </a:lnTo>
                  <a:lnTo>
                    <a:pt x="14889" y="1412416"/>
                  </a:lnTo>
                  <a:close/>
                </a:path>
                <a:path w="15240" h="1910079">
                  <a:moveTo>
                    <a:pt x="14889" y="1302764"/>
                  </a:moveTo>
                  <a:lnTo>
                    <a:pt x="4549" y="1302764"/>
                  </a:lnTo>
                  <a:lnTo>
                    <a:pt x="0" y="1307850"/>
                  </a:lnTo>
                  <a:lnTo>
                    <a:pt x="0" y="1362428"/>
                  </a:lnTo>
                  <a:lnTo>
                    <a:pt x="14889" y="1362428"/>
                  </a:lnTo>
                  <a:lnTo>
                    <a:pt x="14889" y="1302764"/>
                  </a:lnTo>
                  <a:close/>
                </a:path>
                <a:path w="15240" h="1910079">
                  <a:moveTo>
                    <a:pt x="9719" y="1253271"/>
                  </a:moveTo>
                  <a:lnTo>
                    <a:pt x="4549" y="1253271"/>
                  </a:lnTo>
                  <a:lnTo>
                    <a:pt x="9719" y="1257861"/>
                  </a:lnTo>
                  <a:lnTo>
                    <a:pt x="9719" y="1253271"/>
                  </a:lnTo>
                  <a:close/>
                </a:path>
                <a:path w="15240" h="1910079">
                  <a:moveTo>
                    <a:pt x="9719" y="1193608"/>
                  </a:moveTo>
                  <a:lnTo>
                    <a:pt x="4549" y="1198197"/>
                  </a:lnTo>
                  <a:lnTo>
                    <a:pt x="0" y="1198197"/>
                  </a:lnTo>
                  <a:lnTo>
                    <a:pt x="0" y="1253271"/>
                  </a:lnTo>
                  <a:lnTo>
                    <a:pt x="14889" y="1253271"/>
                  </a:lnTo>
                  <a:lnTo>
                    <a:pt x="14889" y="1198197"/>
                  </a:lnTo>
                  <a:lnTo>
                    <a:pt x="9719" y="1193608"/>
                  </a:lnTo>
                  <a:close/>
                </a:path>
                <a:path w="15240" h="1910079">
                  <a:moveTo>
                    <a:pt x="9719" y="1083934"/>
                  </a:moveTo>
                  <a:lnTo>
                    <a:pt x="4549" y="1089041"/>
                  </a:lnTo>
                  <a:lnTo>
                    <a:pt x="0" y="1089041"/>
                  </a:lnTo>
                  <a:lnTo>
                    <a:pt x="0" y="1143619"/>
                  </a:lnTo>
                  <a:lnTo>
                    <a:pt x="4549" y="1143619"/>
                  </a:lnTo>
                  <a:lnTo>
                    <a:pt x="4549" y="1148725"/>
                  </a:lnTo>
                  <a:lnTo>
                    <a:pt x="9719" y="1148725"/>
                  </a:lnTo>
                  <a:lnTo>
                    <a:pt x="14889" y="1143619"/>
                  </a:lnTo>
                  <a:lnTo>
                    <a:pt x="14889" y="1089041"/>
                  </a:lnTo>
                  <a:lnTo>
                    <a:pt x="9719" y="1083934"/>
                  </a:lnTo>
                  <a:close/>
                </a:path>
                <a:path w="15240" h="1910079">
                  <a:moveTo>
                    <a:pt x="9719" y="974799"/>
                  </a:moveTo>
                  <a:lnTo>
                    <a:pt x="4549" y="979388"/>
                  </a:lnTo>
                  <a:lnTo>
                    <a:pt x="0" y="979388"/>
                  </a:lnTo>
                  <a:lnTo>
                    <a:pt x="0" y="1034463"/>
                  </a:lnTo>
                  <a:lnTo>
                    <a:pt x="4549" y="1034463"/>
                  </a:lnTo>
                  <a:lnTo>
                    <a:pt x="4549" y="1039052"/>
                  </a:lnTo>
                  <a:lnTo>
                    <a:pt x="9719" y="1039052"/>
                  </a:lnTo>
                  <a:lnTo>
                    <a:pt x="14889" y="1034463"/>
                  </a:lnTo>
                  <a:lnTo>
                    <a:pt x="14889" y="979388"/>
                  </a:lnTo>
                  <a:lnTo>
                    <a:pt x="9719" y="974799"/>
                  </a:lnTo>
                  <a:close/>
                </a:path>
                <a:path w="15240" h="1910079">
                  <a:moveTo>
                    <a:pt x="9719" y="865126"/>
                  </a:moveTo>
                  <a:lnTo>
                    <a:pt x="4549" y="870232"/>
                  </a:lnTo>
                  <a:lnTo>
                    <a:pt x="0" y="870232"/>
                  </a:lnTo>
                  <a:lnTo>
                    <a:pt x="0" y="924810"/>
                  </a:lnTo>
                  <a:lnTo>
                    <a:pt x="4549" y="929896"/>
                  </a:lnTo>
                  <a:lnTo>
                    <a:pt x="14889" y="929896"/>
                  </a:lnTo>
                  <a:lnTo>
                    <a:pt x="14889" y="870232"/>
                  </a:lnTo>
                  <a:lnTo>
                    <a:pt x="9719" y="865126"/>
                  </a:lnTo>
                  <a:close/>
                </a:path>
                <a:path w="15240" h="1910079">
                  <a:moveTo>
                    <a:pt x="14889" y="760559"/>
                  </a:moveTo>
                  <a:lnTo>
                    <a:pt x="4549" y="760559"/>
                  </a:lnTo>
                  <a:lnTo>
                    <a:pt x="0" y="765665"/>
                  </a:lnTo>
                  <a:lnTo>
                    <a:pt x="0" y="815654"/>
                  </a:lnTo>
                  <a:lnTo>
                    <a:pt x="4549" y="820243"/>
                  </a:lnTo>
                  <a:lnTo>
                    <a:pt x="14889" y="820243"/>
                  </a:lnTo>
                  <a:lnTo>
                    <a:pt x="14889" y="760559"/>
                  </a:lnTo>
                  <a:close/>
                </a:path>
                <a:path w="15240" h="1910079">
                  <a:moveTo>
                    <a:pt x="14889" y="651423"/>
                  </a:moveTo>
                  <a:lnTo>
                    <a:pt x="4549" y="651423"/>
                  </a:lnTo>
                  <a:lnTo>
                    <a:pt x="0" y="656509"/>
                  </a:lnTo>
                  <a:lnTo>
                    <a:pt x="0" y="705981"/>
                  </a:lnTo>
                  <a:lnTo>
                    <a:pt x="4549" y="711087"/>
                  </a:lnTo>
                  <a:lnTo>
                    <a:pt x="14889" y="711087"/>
                  </a:lnTo>
                  <a:lnTo>
                    <a:pt x="14889" y="651423"/>
                  </a:lnTo>
                  <a:close/>
                </a:path>
                <a:path w="15240" h="1910079">
                  <a:moveTo>
                    <a:pt x="14889" y="541750"/>
                  </a:moveTo>
                  <a:lnTo>
                    <a:pt x="4549" y="541750"/>
                  </a:lnTo>
                  <a:lnTo>
                    <a:pt x="0" y="546856"/>
                  </a:lnTo>
                  <a:lnTo>
                    <a:pt x="0" y="596845"/>
                  </a:lnTo>
                  <a:lnTo>
                    <a:pt x="4549" y="601434"/>
                  </a:lnTo>
                  <a:lnTo>
                    <a:pt x="14889" y="601434"/>
                  </a:lnTo>
                  <a:lnTo>
                    <a:pt x="14889" y="541750"/>
                  </a:lnTo>
                  <a:close/>
                </a:path>
                <a:path w="15240" h="1910079">
                  <a:moveTo>
                    <a:pt x="14889" y="432697"/>
                  </a:moveTo>
                  <a:lnTo>
                    <a:pt x="4549" y="432697"/>
                  </a:lnTo>
                  <a:lnTo>
                    <a:pt x="0" y="437659"/>
                  </a:lnTo>
                  <a:lnTo>
                    <a:pt x="0" y="492237"/>
                  </a:lnTo>
                  <a:lnTo>
                    <a:pt x="14889" y="492237"/>
                  </a:lnTo>
                  <a:lnTo>
                    <a:pt x="14889" y="432697"/>
                  </a:lnTo>
                  <a:close/>
                </a:path>
                <a:path w="15240" h="1910079">
                  <a:moveTo>
                    <a:pt x="9719" y="383080"/>
                  </a:moveTo>
                  <a:lnTo>
                    <a:pt x="4549" y="383080"/>
                  </a:lnTo>
                  <a:lnTo>
                    <a:pt x="9719" y="387629"/>
                  </a:lnTo>
                  <a:lnTo>
                    <a:pt x="9719" y="383080"/>
                  </a:lnTo>
                  <a:close/>
                </a:path>
                <a:path w="15240" h="1910079">
                  <a:moveTo>
                    <a:pt x="9719" y="323541"/>
                  </a:moveTo>
                  <a:lnTo>
                    <a:pt x="4549" y="328089"/>
                  </a:lnTo>
                  <a:lnTo>
                    <a:pt x="0" y="328089"/>
                  </a:lnTo>
                  <a:lnTo>
                    <a:pt x="0" y="383080"/>
                  </a:lnTo>
                  <a:lnTo>
                    <a:pt x="14889" y="383080"/>
                  </a:lnTo>
                  <a:lnTo>
                    <a:pt x="14889" y="328089"/>
                  </a:lnTo>
                  <a:lnTo>
                    <a:pt x="9719" y="323541"/>
                  </a:lnTo>
                  <a:close/>
                </a:path>
                <a:path w="15240" h="1910079">
                  <a:moveTo>
                    <a:pt x="9719" y="213764"/>
                  </a:moveTo>
                  <a:lnTo>
                    <a:pt x="4549" y="218932"/>
                  </a:lnTo>
                  <a:lnTo>
                    <a:pt x="0" y="218932"/>
                  </a:lnTo>
                  <a:lnTo>
                    <a:pt x="0" y="273511"/>
                  </a:lnTo>
                  <a:lnTo>
                    <a:pt x="4549" y="273511"/>
                  </a:lnTo>
                  <a:lnTo>
                    <a:pt x="4549" y="278472"/>
                  </a:lnTo>
                  <a:lnTo>
                    <a:pt x="9719" y="278472"/>
                  </a:lnTo>
                  <a:lnTo>
                    <a:pt x="14889" y="273511"/>
                  </a:lnTo>
                  <a:lnTo>
                    <a:pt x="14889" y="218932"/>
                  </a:lnTo>
                  <a:lnTo>
                    <a:pt x="9719" y="213764"/>
                  </a:lnTo>
                  <a:close/>
                </a:path>
                <a:path w="15240" h="1910079">
                  <a:moveTo>
                    <a:pt x="9719" y="104608"/>
                  </a:moveTo>
                  <a:lnTo>
                    <a:pt x="4549" y="109156"/>
                  </a:lnTo>
                  <a:lnTo>
                    <a:pt x="0" y="109156"/>
                  </a:lnTo>
                  <a:lnTo>
                    <a:pt x="0" y="164354"/>
                  </a:lnTo>
                  <a:lnTo>
                    <a:pt x="4549" y="164354"/>
                  </a:lnTo>
                  <a:lnTo>
                    <a:pt x="4549" y="168902"/>
                  </a:lnTo>
                  <a:lnTo>
                    <a:pt x="9719" y="168902"/>
                  </a:lnTo>
                  <a:lnTo>
                    <a:pt x="14889" y="164354"/>
                  </a:lnTo>
                  <a:lnTo>
                    <a:pt x="14889" y="109156"/>
                  </a:lnTo>
                  <a:lnTo>
                    <a:pt x="9719" y="104608"/>
                  </a:lnTo>
                  <a:close/>
                </a:path>
                <a:path w="15240" h="1910079">
                  <a:moveTo>
                    <a:pt x="14889" y="0"/>
                  </a:moveTo>
                  <a:lnTo>
                    <a:pt x="4549" y="0"/>
                  </a:lnTo>
                  <a:lnTo>
                    <a:pt x="0" y="5168"/>
                  </a:lnTo>
                  <a:lnTo>
                    <a:pt x="0" y="54578"/>
                  </a:lnTo>
                  <a:lnTo>
                    <a:pt x="4549" y="59746"/>
                  </a:lnTo>
                  <a:lnTo>
                    <a:pt x="14889" y="59746"/>
                  </a:lnTo>
                  <a:lnTo>
                    <a:pt x="1488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0956778" y="3297264"/>
              <a:ext cx="15240" cy="1805305"/>
            </a:xfrm>
            <a:custGeom>
              <a:avLst/>
              <a:gdLst/>
              <a:ahLst/>
              <a:cxnLst/>
              <a:rect l="l" t="t" r="r" b="b"/>
              <a:pathLst>
                <a:path w="15240" h="1805304">
                  <a:moveTo>
                    <a:pt x="0" y="1794918"/>
                  </a:moveTo>
                  <a:lnTo>
                    <a:pt x="0" y="1750036"/>
                  </a:lnTo>
                  <a:lnTo>
                    <a:pt x="0" y="1745447"/>
                  </a:lnTo>
                  <a:lnTo>
                    <a:pt x="4549" y="1745447"/>
                  </a:lnTo>
                  <a:lnTo>
                    <a:pt x="9719" y="1740340"/>
                  </a:lnTo>
                  <a:lnTo>
                    <a:pt x="14889" y="1745447"/>
                  </a:lnTo>
                  <a:lnTo>
                    <a:pt x="14889" y="1750036"/>
                  </a:lnTo>
                  <a:lnTo>
                    <a:pt x="14889" y="1794918"/>
                  </a:lnTo>
                  <a:lnTo>
                    <a:pt x="14889" y="1800004"/>
                  </a:lnTo>
                  <a:lnTo>
                    <a:pt x="9719" y="1805110"/>
                  </a:lnTo>
                  <a:lnTo>
                    <a:pt x="4549" y="1805110"/>
                  </a:lnTo>
                  <a:lnTo>
                    <a:pt x="4549" y="1800004"/>
                  </a:lnTo>
                  <a:lnTo>
                    <a:pt x="0" y="1800004"/>
                  </a:lnTo>
                  <a:lnTo>
                    <a:pt x="0" y="1794918"/>
                  </a:lnTo>
                  <a:close/>
                </a:path>
                <a:path w="15240" h="1805304">
                  <a:moveTo>
                    <a:pt x="0" y="1685762"/>
                  </a:moveTo>
                  <a:lnTo>
                    <a:pt x="0" y="1640880"/>
                  </a:lnTo>
                  <a:lnTo>
                    <a:pt x="0" y="1635773"/>
                  </a:lnTo>
                  <a:lnTo>
                    <a:pt x="4549" y="1635773"/>
                  </a:lnTo>
                  <a:lnTo>
                    <a:pt x="9719" y="1630667"/>
                  </a:lnTo>
                  <a:lnTo>
                    <a:pt x="14889" y="1635773"/>
                  </a:lnTo>
                  <a:lnTo>
                    <a:pt x="14889" y="1640880"/>
                  </a:lnTo>
                  <a:lnTo>
                    <a:pt x="14889" y="1685762"/>
                  </a:lnTo>
                  <a:lnTo>
                    <a:pt x="14889" y="1690352"/>
                  </a:lnTo>
                  <a:lnTo>
                    <a:pt x="14889" y="1695458"/>
                  </a:lnTo>
                  <a:lnTo>
                    <a:pt x="9719" y="1695458"/>
                  </a:lnTo>
                  <a:lnTo>
                    <a:pt x="4549" y="1695458"/>
                  </a:lnTo>
                  <a:lnTo>
                    <a:pt x="0" y="1690352"/>
                  </a:lnTo>
                  <a:lnTo>
                    <a:pt x="0" y="1685762"/>
                  </a:lnTo>
                  <a:close/>
                </a:path>
                <a:path w="15240" h="1805304">
                  <a:moveTo>
                    <a:pt x="0" y="1581195"/>
                  </a:moveTo>
                  <a:lnTo>
                    <a:pt x="0" y="1531207"/>
                  </a:lnTo>
                  <a:lnTo>
                    <a:pt x="4549" y="1526617"/>
                  </a:lnTo>
                  <a:lnTo>
                    <a:pt x="9719" y="1526617"/>
                  </a:lnTo>
                  <a:lnTo>
                    <a:pt x="14889" y="1526617"/>
                  </a:lnTo>
                  <a:lnTo>
                    <a:pt x="14889" y="1531207"/>
                  </a:lnTo>
                  <a:lnTo>
                    <a:pt x="14889" y="1581195"/>
                  </a:lnTo>
                  <a:lnTo>
                    <a:pt x="14889" y="1586302"/>
                  </a:lnTo>
                  <a:lnTo>
                    <a:pt x="9719" y="1586302"/>
                  </a:lnTo>
                  <a:lnTo>
                    <a:pt x="4549" y="1586302"/>
                  </a:lnTo>
                  <a:lnTo>
                    <a:pt x="0" y="1581195"/>
                  </a:lnTo>
                  <a:close/>
                </a:path>
                <a:path w="15240" h="1805304">
                  <a:moveTo>
                    <a:pt x="0" y="1471543"/>
                  </a:moveTo>
                  <a:lnTo>
                    <a:pt x="0" y="1422071"/>
                  </a:lnTo>
                  <a:lnTo>
                    <a:pt x="4549" y="1416965"/>
                  </a:lnTo>
                  <a:lnTo>
                    <a:pt x="9719" y="1416965"/>
                  </a:lnTo>
                  <a:lnTo>
                    <a:pt x="14889" y="1416965"/>
                  </a:lnTo>
                  <a:lnTo>
                    <a:pt x="14889" y="1422071"/>
                  </a:lnTo>
                  <a:lnTo>
                    <a:pt x="14889" y="1471543"/>
                  </a:lnTo>
                  <a:lnTo>
                    <a:pt x="14889" y="1476628"/>
                  </a:lnTo>
                  <a:lnTo>
                    <a:pt x="9719" y="1476628"/>
                  </a:lnTo>
                  <a:lnTo>
                    <a:pt x="4549" y="1476628"/>
                  </a:lnTo>
                  <a:lnTo>
                    <a:pt x="0" y="1471543"/>
                  </a:lnTo>
                  <a:close/>
                </a:path>
                <a:path w="15240" h="1805304">
                  <a:moveTo>
                    <a:pt x="0" y="1362386"/>
                  </a:moveTo>
                  <a:lnTo>
                    <a:pt x="0" y="1312398"/>
                  </a:lnTo>
                  <a:lnTo>
                    <a:pt x="4549" y="1307808"/>
                  </a:lnTo>
                  <a:lnTo>
                    <a:pt x="9719" y="1307808"/>
                  </a:lnTo>
                  <a:lnTo>
                    <a:pt x="14889" y="1307808"/>
                  </a:lnTo>
                  <a:lnTo>
                    <a:pt x="14889" y="1312398"/>
                  </a:lnTo>
                  <a:lnTo>
                    <a:pt x="14889" y="1362386"/>
                  </a:lnTo>
                  <a:lnTo>
                    <a:pt x="14889" y="1367493"/>
                  </a:lnTo>
                  <a:lnTo>
                    <a:pt x="9719" y="1367493"/>
                  </a:lnTo>
                  <a:lnTo>
                    <a:pt x="4549" y="1367493"/>
                  </a:lnTo>
                  <a:lnTo>
                    <a:pt x="0" y="1362386"/>
                  </a:lnTo>
                  <a:close/>
                </a:path>
                <a:path w="15240" h="1805304">
                  <a:moveTo>
                    <a:pt x="0" y="1252734"/>
                  </a:moveTo>
                  <a:lnTo>
                    <a:pt x="0" y="1208348"/>
                  </a:lnTo>
                  <a:lnTo>
                    <a:pt x="0" y="1203241"/>
                  </a:lnTo>
                  <a:lnTo>
                    <a:pt x="4549" y="1198156"/>
                  </a:lnTo>
                  <a:lnTo>
                    <a:pt x="9719" y="1198156"/>
                  </a:lnTo>
                  <a:lnTo>
                    <a:pt x="14889" y="1198156"/>
                  </a:lnTo>
                  <a:lnTo>
                    <a:pt x="14889" y="1203241"/>
                  </a:lnTo>
                  <a:lnTo>
                    <a:pt x="14889" y="1208348"/>
                  </a:lnTo>
                  <a:lnTo>
                    <a:pt x="14889" y="1252734"/>
                  </a:lnTo>
                  <a:lnTo>
                    <a:pt x="14889" y="1257820"/>
                  </a:lnTo>
                  <a:lnTo>
                    <a:pt x="14889" y="1257820"/>
                  </a:lnTo>
                  <a:lnTo>
                    <a:pt x="0" y="1257820"/>
                  </a:lnTo>
                  <a:lnTo>
                    <a:pt x="0" y="1252734"/>
                  </a:lnTo>
                  <a:close/>
                </a:path>
                <a:path w="15240" h="1805304">
                  <a:moveTo>
                    <a:pt x="0" y="1143578"/>
                  </a:moveTo>
                  <a:lnTo>
                    <a:pt x="0" y="1098695"/>
                  </a:lnTo>
                  <a:lnTo>
                    <a:pt x="0" y="1093589"/>
                  </a:lnTo>
                  <a:lnTo>
                    <a:pt x="4549" y="1093589"/>
                  </a:lnTo>
                  <a:lnTo>
                    <a:pt x="9719" y="1088999"/>
                  </a:lnTo>
                  <a:lnTo>
                    <a:pt x="14889" y="1093589"/>
                  </a:lnTo>
                  <a:lnTo>
                    <a:pt x="14889" y="1098695"/>
                  </a:lnTo>
                  <a:lnTo>
                    <a:pt x="14889" y="1143578"/>
                  </a:lnTo>
                  <a:lnTo>
                    <a:pt x="14889" y="1148663"/>
                  </a:lnTo>
                  <a:lnTo>
                    <a:pt x="9719" y="1148663"/>
                  </a:lnTo>
                  <a:lnTo>
                    <a:pt x="9719" y="1153253"/>
                  </a:lnTo>
                  <a:lnTo>
                    <a:pt x="4549" y="1148663"/>
                  </a:lnTo>
                  <a:lnTo>
                    <a:pt x="0" y="1148663"/>
                  </a:lnTo>
                  <a:lnTo>
                    <a:pt x="0" y="1143578"/>
                  </a:lnTo>
                  <a:close/>
                </a:path>
                <a:path w="15240" h="1805304">
                  <a:moveTo>
                    <a:pt x="0" y="1033904"/>
                  </a:moveTo>
                  <a:lnTo>
                    <a:pt x="0" y="989539"/>
                  </a:lnTo>
                  <a:lnTo>
                    <a:pt x="0" y="984433"/>
                  </a:lnTo>
                  <a:lnTo>
                    <a:pt x="4549" y="984433"/>
                  </a:lnTo>
                  <a:lnTo>
                    <a:pt x="9719" y="979326"/>
                  </a:lnTo>
                  <a:lnTo>
                    <a:pt x="14889" y="984433"/>
                  </a:lnTo>
                  <a:lnTo>
                    <a:pt x="14889" y="989539"/>
                  </a:lnTo>
                  <a:lnTo>
                    <a:pt x="14889" y="1033904"/>
                  </a:lnTo>
                  <a:lnTo>
                    <a:pt x="14889" y="1039011"/>
                  </a:lnTo>
                  <a:lnTo>
                    <a:pt x="9719" y="1044117"/>
                  </a:lnTo>
                  <a:lnTo>
                    <a:pt x="4549" y="1044117"/>
                  </a:lnTo>
                  <a:lnTo>
                    <a:pt x="4549" y="1039011"/>
                  </a:lnTo>
                  <a:lnTo>
                    <a:pt x="0" y="1039011"/>
                  </a:lnTo>
                  <a:lnTo>
                    <a:pt x="0" y="1033904"/>
                  </a:lnTo>
                  <a:close/>
                </a:path>
                <a:path w="15240" h="1805304">
                  <a:moveTo>
                    <a:pt x="0" y="924748"/>
                  </a:moveTo>
                  <a:lnTo>
                    <a:pt x="0" y="879866"/>
                  </a:lnTo>
                  <a:lnTo>
                    <a:pt x="0" y="874780"/>
                  </a:lnTo>
                  <a:lnTo>
                    <a:pt x="4549" y="874780"/>
                  </a:lnTo>
                  <a:lnTo>
                    <a:pt x="9719" y="870191"/>
                  </a:lnTo>
                  <a:lnTo>
                    <a:pt x="14889" y="874780"/>
                  </a:lnTo>
                  <a:lnTo>
                    <a:pt x="14889" y="879866"/>
                  </a:lnTo>
                  <a:lnTo>
                    <a:pt x="14889" y="924748"/>
                  </a:lnTo>
                  <a:lnTo>
                    <a:pt x="14889" y="929854"/>
                  </a:lnTo>
                  <a:lnTo>
                    <a:pt x="9719" y="934444"/>
                  </a:lnTo>
                  <a:lnTo>
                    <a:pt x="4549" y="934444"/>
                  </a:lnTo>
                  <a:lnTo>
                    <a:pt x="4549" y="929854"/>
                  </a:lnTo>
                  <a:lnTo>
                    <a:pt x="0" y="929854"/>
                  </a:lnTo>
                  <a:lnTo>
                    <a:pt x="0" y="924748"/>
                  </a:lnTo>
                  <a:close/>
                </a:path>
                <a:path w="15240" h="1805304">
                  <a:moveTo>
                    <a:pt x="0" y="815096"/>
                  </a:moveTo>
                  <a:lnTo>
                    <a:pt x="0" y="770730"/>
                  </a:lnTo>
                  <a:lnTo>
                    <a:pt x="0" y="765624"/>
                  </a:lnTo>
                  <a:lnTo>
                    <a:pt x="4549" y="765624"/>
                  </a:lnTo>
                  <a:lnTo>
                    <a:pt x="9719" y="760517"/>
                  </a:lnTo>
                  <a:lnTo>
                    <a:pt x="14889" y="765624"/>
                  </a:lnTo>
                  <a:lnTo>
                    <a:pt x="14889" y="770730"/>
                  </a:lnTo>
                  <a:lnTo>
                    <a:pt x="14889" y="815096"/>
                  </a:lnTo>
                  <a:lnTo>
                    <a:pt x="14889" y="820202"/>
                  </a:lnTo>
                  <a:lnTo>
                    <a:pt x="14889" y="825288"/>
                  </a:lnTo>
                  <a:lnTo>
                    <a:pt x="9719" y="825288"/>
                  </a:lnTo>
                  <a:lnTo>
                    <a:pt x="4549" y="825288"/>
                  </a:lnTo>
                  <a:lnTo>
                    <a:pt x="0" y="820202"/>
                  </a:lnTo>
                  <a:lnTo>
                    <a:pt x="0" y="815096"/>
                  </a:lnTo>
                  <a:close/>
                </a:path>
                <a:path w="15240" h="1805304">
                  <a:moveTo>
                    <a:pt x="0" y="711046"/>
                  </a:moveTo>
                  <a:lnTo>
                    <a:pt x="0" y="661057"/>
                  </a:lnTo>
                  <a:lnTo>
                    <a:pt x="4549" y="655951"/>
                  </a:lnTo>
                  <a:lnTo>
                    <a:pt x="9719" y="655951"/>
                  </a:lnTo>
                  <a:lnTo>
                    <a:pt x="14889" y="655951"/>
                  </a:lnTo>
                  <a:lnTo>
                    <a:pt x="14889" y="661057"/>
                  </a:lnTo>
                  <a:lnTo>
                    <a:pt x="14889" y="711046"/>
                  </a:lnTo>
                  <a:lnTo>
                    <a:pt x="14889" y="715635"/>
                  </a:lnTo>
                  <a:lnTo>
                    <a:pt x="9719" y="715635"/>
                  </a:lnTo>
                  <a:lnTo>
                    <a:pt x="4549" y="715635"/>
                  </a:lnTo>
                  <a:lnTo>
                    <a:pt x="0" y="711046"/>
                  </a:lnTo>
                  <a:close/>
                </a:path>
                <a:path w="15240" h="1805304">
                  <a:moveTo>
                    <a:pt x="0" y="601372"/>
                  </a:moveTo>
                  <a:lnTo>
                    <a:pt x="0" y="551901"/>
                  </a:lnTo>
                  <a:lnTo>
                    <a:pt x="4549" y="546815"/>
                  </a:lnTo>
                  <a:lnTo>
                    <a:pt x="9719" y="546815"/>
                  </a:lnTo>
                  <a:lnTo>
                    <a:pt x="14889" y="546815"/>
                  </a:lnTo>
                  <a:lnTo>
                    <a:pt x="14889" y="551901"/>
                  </a:lnTo>
                  <a:lnTo>
                    <a:pt x="14889" y="601372"/>
                  </a:lnTo>
                  <a:lnTo>
                    <a:pt x="14889" y="606479"/>
                  </a:lnTo>
                  <a:lnTo>
                    <a:pt x="9719" y="606479"/>
                  </a:lnTo>
                  <a:lnTo>
                    <a:pt x="4549" y="606479"/>
                  </a:lnTo>
                  <a:lnTo>
                    <a:pt x="0" y="601372"/>
                  </a:lnTo>
                  <a:close/>
                </a:path>
                <a:path w="15240" h="1805304">
                  <a:moveTo>
                    <a:pt x="0" y="492237"/>
                  </a:moveTo>
                  <a:lnTo>
                    <a:pt x="0" y="442248"/>
                  </a:lnTo>
                  <a:lnTo>
                    <a:pt x="4549" y="437142"/>
                  </a:lnTo>
                  <a:lnTo>
                    <a:pt x="9719" y="437142"/>
                  </a:lnTo>
                  <a:lnTo>
                    <a:pt x="14889" y="437142"/>
                  </a:lnTo>
                  <a:lnTo>
                    <a:pt x="14889" y="442248"/>
                  </a:lnTo>
                  <a:lnTo>
                    <a:pt x="14889" y="492237"/>
                  </a:lnTo>
                  <a:lnTo>
                    <a:pt x="14889" y="496826"/>
                  </a:lnTo>
                  <a:lnTo>
                    <a:pt x="9719" y="496826"/>
                  </a:lnTo>
                  <a:lnTo>
                    <a:pt x="4549" y="496826"/>
                  </a:lnTo>
                  <a:lnTo>
                    <a:pt x="0" y="492237"/>
                  </a:lnTo>
                  <a:close/>
                </a:path>
                <a:path w="15240" h="1805304">
                  <a:moveTo>
                    <a:pt x="0" y="382667"/>
                  </a:moveTo>
                  <a:lnTo>
                    <a:pt x="0" y="338219"/>
                  </a:lnTo>
                  <a:lnTo>
                    <a:pt x="0" y="333050"/>
                  </a:lnTo>
                  <a:lnTo>
                    <a:pt x="4549" y="328089"/>
                  </a:lnTo>
                  <a:lnTo>
                    <a:pt x="9719" y="328089"/>
                  </a:lnTo>
                  <a:lnTo>
                    <a:pt x="14889" y="328089"/>
                  </a:lnTo>
                  <a:lnTo>
                    <a:pt x="14889" y="333050"/>
                  </a:lnTo>
                  <a:lnTo>
                    <a:pt x="14889" y="338219"/>
                  </a:lnTo>
                  <a:lnTo>
                    <a:pt x="14889" y="382667"/>
                  </a:lnTo>
                  <a:lnTo>
                    <a:pt x="14889" y="387629"/>
                  </a:lnTo>
                  <a:lnTo>
                    <a:pt x="9719" y="387629"/>
                  </a:lnTo>
                  <a:lnTo>
                    <a:pt x="4549" y="387629"/>
                  </a:lnTo>
                  <a:lnTo>
                    <a:pt x="0" y="387629"/>
                  </a:lnTo>
                  <a:lnTo>
                    <a:pt x="0" y="382667"/>
                  </a:lnTo>
                  <a:close/>
                </a:path>
                <a:path w="15240" h="1805304">
                  <a:moveTo>
                    <a:pt x="0" y="273511"/>
                  </a:moveTo>
                  <a:lnTo>
                    <a:pt x="0" y="228442"/>
                  </a:lnTo>
                  <a:lnTo>
                    <a:pt x="0" y="223481"/>
                  </a:lnTo>
                  <a:lnTo>
                    <a:pt x="4549" y="223481"/>
                  </a:lnTo>
                  <a:lnTo>
                    <a:pt x="9719" y="218932"/>
                  </a:lnTo>
                  <a:lnTo>
                    <a:pt x="14889" y="223481"/>
                  </a:lnTo>
                  <a:lnTo>
                    <a:pt x="14889" y="228442"/>
                  </a:lnTo>
                  <a:lnTo>
                    <a:pt x="14889" y="273511"/>
                  </a:lnTo>
                  <a:lnTo>
                    <a:pt x="14889" y="278472"/>
                  </a:lnTo>
                  <a:lnTo>
                    <a:pt x="9719" y="278472"/>
                  </a:lnTo>
                  <a:lnTo>
                    <a:pt x="9719" y="283020"/>
                  </a:lnTo>
                  <a:lnTo>
                    <a:pt x="4549" y="278472"/>
                  </a:lnTo>
                  <a:lnTo>
                    <a:pt x="0" y="278472"/>
                  </a:lnTo>
                  <a:lnTo>
                    <a:pt x="0" y="273511"/>
                  </a:lnTo>
                  <a:close/>
                </a:path>
                <a:path w="15240" h="1805304">
                  <a:moveTo>
                    <a:pt x="0" y="163734"/>
                  </a:moveTo>
                  <a:lnTo>
                    <a:pt x="0" y="119286"/>
                  </a:lnTo>
                  <a:lnTo>
                    <a:pt x="0" y="114324"/>
                  </a:lnTo>
                  <a:lnTo>
                    <a:pt x="4549" y="114324"/>
                  </a:lnTo>
                  <a:lnTo>
                    <a:pt x="9719" y="109156"/>
                  </a:lnTo>
                  <a:lnTo>
                    <a:pt x="14889" y="114324"/>
                  </a:lnTo>
                  <a:lnTo>
                    <a:pt x="14889" y="119286"/>
                  </a:lnTo>
                  <a:lnTo>
                    <a:pt x="14889" y="163734"/>
                  </a:lnTo>
                  <a:lnTo>
                    <a:pt x="14889" y="168902"/>
                  </a:lnTo>
                  <a:lnTo>
                    <a:pt x="9719" y="173864"/>
                  </a:lnTo>
                  <a:lnTo>
                    <a:pt x="4549" y="173864"/>
                  </a:lnTo>
                  <a:lnTo>
                    <a:pt x="4549" y="168902"/>
                  </a:lnTo>
                  <a:lnTo>
                    <a:pt x="0" y="168902"/>
                  </a:lnTo>
                  <a:lnTo>
                    <a:pt x="0" y="163734"/>
                  </a:lnTo>
                  <a:close/>
                </a:path>
                <a:path w="15240" h="1805304">
                  <a:moveTo>
                    <a:pt x="0" y="54578"/>
                  </a:moveTo>
                  <a:lnTo>
                    <a:pt x="0" y="9716"/>
                  </a:lnTo>
                  <a:lnTo>
                    <a:pt x="0" y="4548"/>
                  </a:lnTo>
                  <a:lnTo>
                    <a:pt x="4549" y="4548"/>
                  </a:lnTo>
                  <a:lnTo>
                    <a:pt x="9719" y="0"/>
                  </a:lnTo>
                  <a:lnTo>
                    <a:pt x="14889" y="4548"/>
                  </a:lnTo>
                  <a:lnTo>
                    <a:pt x="14889" y="9716"/>
                  </a:lnTo>
                  <a:lnTo>
                    <a:pt x="14889" y="54578"/>
                  </a:lnTo>
                  <a:lnTo>
                    <a:pt x="14889" y="59746"/>
                  </a:lnTo>
                  <a:lnTo>
                    <a:pt x="9719" y="64294"/>
                  </a:lnTo>
                  <a:lnTo>
                    <a:pt x="4549" y="64294"/>
                  </a:lnTo>
                  <a:lnTo>
                    <a:pt x="4549" y="59746"/>
                  </a:lnTo>
                  <a:lnTo>
                    <a:pt x="0" y="59746"/>
                  </a:lnTo>
                  <a:lnTo>
                    <a:pt x="0" y="54578"/>
                  </a:lnTo>
                  <a:close/>
                </a:path>
              </a:pathLst>
            </a:custGeom>
            <a:ln w="5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21021" y="3157252"/>
              <a:ext cx="79394" cy="97711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10933618" y="3806328"/>
              <a:ext cx="59690" cy="74930"/>
            </a:xfrm>
            <a:custGeom>
              <a:avLst/>
              <a:gdLst/>
              <a:ahLst/>
              <a:cxnLst/>
              <a:rect l="l" t="t" r="r" b="b"/>
              <a:pathLst>
                <a:path w="59690" h="74929">
                  <a:moveTo>
                    <a:pt x="59419" y="0"/>
                  </a:moveTo>
                  <a:lnTo>
                    <a:pt x="0" y="0"/>
                  </a:lnTo>
                  <a:lnTo>
                    <a:pt x="0" y="74468"/>
                  </a:lnTo>
                  <a:lnTo>
                    <a:pt x="59419" y="74468"/>
                  </a:lnTo>
                  <a:lnTo>
                    <a:pt x="594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933618" y="3806328"/>
              <a:ext cx="59690" cy="74930"/>
            </a:xfrm>
            <a:custGeom>
              <a:avLst/>
              <a:gdLst/>
              <a:ahLst/>
              <a:cxnLst/>
              <a:rect l="l" t="t" r="r" b="b"/>
              <a:pathLst>
                <a:path w="59690" h="74929">
                  <a:moveTo>
                    <a:pt x="0" y="74468"/>
                  </a:moveTo>
                  <a:lnTo>
                    <a:pt x="59419" y="74468"/>
                  </a:lnTo>
                  <a:lnTo>
                    <a:pt x="59419" y="0"/>
                  </a:lnTo>
                  <a:lnTo>
                    <a:pt x="0" y="0"/>
                  </a:lnTo>
                  <a:lnTo>
                    <a:pt x="0" y="74468"/>
                  </a:lnTo>
                  <a:close/>
                </a:path>
              </a:pathLst>
            </a:custGeom>
            <a:ln w="14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854075" y="4453906"/>
            <a:ext cx="105283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latin typeface="宋体"/>
                <a:cs typeface="宋体"/>
              </a:rPr>
              <a:t>IBM</a:t>
            </a:r>
            <a:r>
              <a:rPr sz="1500" spc="-60" dirty="0">
                <a:latin typeface="宋体"/>
                <a:cs typeface="宋体"/>
              </a:rPr>
              <a:t> </a:t>
            </a:r>
            <a:r>
              <a:rPr sz="1500" spc="-10" dirty="0">
                <a:latin typeface="宋体"/>
                <a:cs typeface="宋体"/>
              </a:rPr>
              <a:t>370/168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908254" y="2300508"/>
            <a:ext cx="775335" cy="44830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5080" indent="64135">
              <a:lnSpc>
                <a:spcPts val="1530"/>
              </a:lnSpc>
              <a:spcBef>
                <a:spcPts val="370"/>
              </a:spcBef>
            </a:pPr>
            <a:r>
              <a:rPr sz="1500" spc="-20" dirty="0">
                <a:latin typeface="宋体"/>
                <a:cs typeface="宋体"/>
              </a:rPr>
              <a:t>PEPE </a:t>
            </a:r>
            <a:r>
              <a:rPr sz="1500" spc="-25" dirty="0">
                <a:latin typeface="宋体"/>
                <a:cs typeface="宋体"/>
              </a:rPr>
              <a:t>(32,288)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513164" y="4165220"/>
            <a:ext cx="112395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250" spc="-15" baseline="9259" dirty="0">
                <a:latin typeface="宋体"/>
                <a:cs typeface="宋体"/>
              </a:rPr>
              <a:t>Cmmp</a:t>
            </a:r>
            <a:r>
              <a:rPr sz="1500" spc="-10" dirty="0">
                <a:latin typeface="宋体"/>
                <a:cs typeface="宋体"/>
              </a:rPr>
              <a:t>(16,16)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865813" y="4488596"/>
            <a:ext cx="621030" cy="44323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40005">
              <a:lnSpc>
                <a:spcPts val="1490"/>
              </a:lnSpc>
              <a:spcBef>
                <a:spcPts val="400"/>
              </a:spcBef>
            </a:pPr>
            <a:r>
              <a:rPr sz="1500" spc="-25" dirty="0">
                <a:latin typeface="宋体"/>
                <a:cs typeface="宋体"/>
              </a:rPr>
              <a:t>PDP-</a:t>
            </a:r>
            <a:r>
              <a:rPr sz="1500" spc="-55" dirty="0">
                <a:latin typeface="宋体"/>
                <a:cs typeface="宋体"/>
              </a:rPr>
              <a:t>11 </a:t>
            </a:r>
            <a:r>
              <a:rPr sz="1500" spc="-10" dirty="0">
                <a:latin typeface="宋体"/>
                <a:cs typeface="宋体"/>
              </a:rPr>
              <a:t>(16,1)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1035274" y="2882468"/>
            <a:ext cx="87058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645"/>
              </a:lnSpc>
              <a:spcBef>
                <a:spcPts val="95"/>
              </a:spcBef>
            </a:pPr>
            <a:r>
              <a:rPr sz="1500" dirty="0">
                <a:latin typeface="宋体"/>
                <a:cs typeface="宋体"/>
              </a:rPr>
              <a:t>Illiac</a:t>
            </a:r>
            <a:r>
              <a:rPr sz="1500" spc="-150" dirty="0">
                <a:latin typeface="宋体"/>
                <a:cs typeface="宋体"/>
              </a:rPr>
              <a:t> </a:t>
            </a:r>
            <a:r>
              <a:rPr sz="1500" spc="-50" dirty="0">
                <a:latin typeface="宋体"/>
                <a:cs typeface="宋体"/>
              </a:rPr>
              <a:t>Ⅳ</a:t>
            </a:r>
            <a:endParaRPr sz="1500">
              <a:latin typeface="宋体"/>
              <a:cs typeface="宋体"/>
            </a:endParaRPr>
          </a:p>
          <a:p>
            <a:pPr marL="12700">
              <a:lnSpc>
                <a:spcPts val="1645"/>
              </a:lnSpc>
            </a:pPr>
            <a:r>
              <a:rPr sz="1500" spc="-10" dirty="0">
                <a:latin typeface="宋体"/>
                <a:cs typeface="宋体"/>
              </a:rPr>
              <a:t>(64,64)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015216" y="3548549"/>
            <a:ext cx="681355" cy="4527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indent="19685">
              <a:lnSpc>
                <a:spcPts val="1570"/>
              </a:lnSpc>
              <a:spcBef>
                <a:spcPts val="340"/>
              </a:spcBef>
            </a:pPr>
            <a:r>
              <a:rPr sz="1500" spc="-25" dirty="0">
                <a:latin typeface="宋体"/>
                <a:cs typeface="宋体"/>
              </a:rPr>
              <a:t>TI-ASC (64,32)</a:t>
            </a:r>
            <a:endParaRPr sz="1500">
              <a:latin typeface="宋体"/>
              <a:cs typeface="宋体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908255" y="4647720"/>
            <a:ext cx="58674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latin typeface="宋体"/>
                <a:cs typeface="宋体"/>
              </a:rPr>
              <a:t>(32,1)</a:t>
            </a:r>
            <a:endParaRPr sz="15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874820"/>
            <a:ext cx="11722735" cy="5229225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206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45" dirty="0">
                <a:latin typeface="微软雅黑"/>
                <a:cs typeface="微软雅黑"/>
              </a:rPr>
              <a:t>冯氏分类法</a:t>
            </a:r>
            <a:endParaRPr sz="28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4</a:t>
            </a: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类不同最大并行度的计算机系统结构</a:t>
            </a:r>
            <a:endParaRPr sz="24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2005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spc="-5" dirty="0">
                <a:solidFill>
                  <a:srgbClr val="D50092"/>
                </a:solidFill>
                <a:latin typeface="微软雅黑"/>
                <a:cs typeface="微软雅黑"/>
              </a:rPr>
              <a:t>字串位串：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n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＝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1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，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m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＝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1</a:t>
            </a:r>
            <a:r>
              <a:rPr sz="2000" spc="465" dirty="0">
                <a:solidFill>
                  <a:srgbClr val="D50092"/>
                </a:solidFill>
                <a:latin typeface="微软雅黑"/>
                <a:cs typeface="微软雅黑"/>
              </a:rPr>
              <a:t>。</a:t>
            </a:r>
            <a:r>
              <a:rPr sz="2000" dirty="0">
                <a:solidFill>
                  <a:srgbClr val="D50092"/>
                </a:solidFill>
                <a:latin typeface="Times New Roman"/>
                <a:cs typeface="Times New Roman"/>
              </a:rPr>
              <a:t>(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第一代计算机发展初期的纯串行计算机</a:t>
            </a:r>
            <a:r>
              <a:rPr sz="2000" spc="-50" dirty="0">
                <a:solidFill>
                  <a:srgbClr val="D50092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02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spc="-5" dirty="0">
                <a:solidFill>
                  <a:srgbClr val="D50092"/>
                </a:solidFill>
                <a:latin typeface="微软雅黑"/>
                <a:cs typeface="微软雅黑"/>
              </a:rPr>
              <a:t>字串位并： 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n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＞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1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，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m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＝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1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。这是传统的单处理机，同时处理单个字的多个位，如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16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位、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32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位等。</a:t>
            </a:r>
            <a:endParaRPr sz="20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203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spc="-5" dirty="0">
                <a:solidFill>
                  <a:srgbClr val="D50092"/>
                </a:solidFill>
                <a:latin typeface="微软雅黑"/>
                <a:cs typeface="微软雅黑"/>
              </a:rPr>
              <a:t>字并位串：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n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＝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1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，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m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＞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1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。同时处理多个字的同一位（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位片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r>
              <a:rPr sz="2000" spc="-50" dirty="0">
                <a:solidFill>
                  <a:srgbClr val="D50092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155065" lvl="2" indent="-227965">
              <a:lnSpc>
                <a:spcPct val="100000"/>
              </a:lnSpc>
              <a:spcBef>
                <a:spcPts val="2014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065" algn="l"/>
              </a:tabLst>
            </a:pP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字并位并：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n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＞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1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，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m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＞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1</a:t>
            </a:r>
            <a:r>
              <a:rPr sz="2000" spc="-25" dirty="0">
                <a:solidFill>
                  <a:srgbClr val="D50092"/>
                </a:solidFill>
                <a:latin typeface="微软雅黑"/>
                <a:cs typeface="微软雅黑"/>
              </a:rPr>
              <a:t>。同时处理多个字的多个位</a:t>
            </a:r>
            <a:endParaRPr sz="20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9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10" dirty="0">
                <a:solidFill>
                  <a:srgbClr val="5B9BD4"/>
                </a:solidFill>
                <a:latin typeface="微软雅黑"/>
                <a:cs typeface="微软雅黑"/>
              </a:rPr>
              <a:t>平均并行度</a:t>
            </a:r>
            <a:endParaRPr sz="24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202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与最大并行度密切相关的一个指标。</a:t>
            </a:r>
            <a:endParaRPr sz="20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202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取决于系统的运用程度，与应用程序有关。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6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1.1.4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/>
              <a:t>计算机系统结构的分</a:t>
            </a:r>
            <a:r>
              <a:rPr spc="-50" dirty="0"/>
              <a:t>类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39" y="218694"/>
            <a:ext cx="12158980" cy="1998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9310">
              <a:lnSpc>
                <a:spcPct val="100000"/>
              </a:lnSpc>
              <a:spcBef>
                <a:spcPts val="100"/>
              </a:spcBef>
              <a:tabLst>
                <a:tab pos="12120245" algn="l"/>
              </a:tabLst>
            </a:pPr>
            <a:r>
              <a:rPr sz="3200" b="1" u="sng" spc="600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1.1.4</a:t>
            </a:r>
            <a:r>
              <a:rPr sz="3200" b="1" u="sng" spc="-15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计算机系统结构的分</a:t>
            </a:r>
            <a:r>
              <a:rPr sz="3200" b="1" u="sng" spc="-50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类</a:t>
            </a:r>
            <a:r>
              <a:rPr sz="3200" b="1" u="sng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	</a:t>
            </a:r>
            <a:endParaRPr sz="3200">
              <a:latin typeface="微软雅黑"/>
              <a:cs typeface="微软雅黑"/>
            </a:endParaRPr>
          </a:p>
          <a:p>
            <a:pPr marL="316230" indent="-279400">
              <a:lnSpc>
                <a:spcPct val="100000"/>
              </a:lnSpc>
              <a:spcBef>
                <a:spcPts val="3290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316230" algn="l"/>
              </a:tabLst>
            </a:pPr>
            <a:r>
              <a:rPr sz="2800" spc="-45" dirty="0">
                <a:latin typeface="微软雅黑"/>
                <a:cs typeface="微软雅黑"/>
              </a:rPr>
              <a:t>冯氏分类法</a:t>
            </a:r>
            <a:endParaRPr sz="2800">
              <a:latin typeface="微软雅黑"/>
              <a:cs typeface="微软雅黑"/>
            </a:endParaRPr>
          </a:p>
          <a:p>
            <a:pPr marL="762000">
              <a:lnSpc>
                <a:spcPct val="100000"/>
              </a:lnSpc>
              <a:spcBef>
                <a:spcPts val="2165"/>
              </a:spcBef>
            </a:pPr>
            <a:r>
              <a:rPr sz="2400" dirty="0">
                <a:latin typeface="微软雅黑"/>
                <a:cs typeface="微软雅黑"/>
              </a:rPr>
              <a:t>假设每个时钟周期内能同时处理的二进制位数为</a:t>
            </a:r>
            <a:r>
              <a:rPr sz="2400" spc="-10" dirty="0">
                <a:solidFill>
                  <a:srgbClr val="6600FF"/>
                </a:solidFill>
                <a:latin typeface="微软雅黑"/>
                <a:cs typeface="微软雅黑"/>
              </a:rPr>
              <a:t>P</a:t>
            </a:r>
            <a:r>
              <a:rPr sz="2400" spc="-15" baseline="-20833" dirty="0">
                <a:solidFill>
                  <a:srgbClr val="6600FF"/>
                </a:solidFill>
                <a:latin typeface="微软雅黑"/>
                <a:cs typeface="微软雅黑"/>
              </a:rPr>
              <a:t>i</a:t>
            </a:r>
            <a:r>
              <a:rPr sz="2400" spc="-5" dirty="0">
                <a:latin typeface="微软雅黑"/>
                <a:cs typeface="微软雅黑"/>
              </a:rPr>
              <a:t>，则</a:t>
            </a:r>
            <a:r>
              <a:rPr sz="2400" dirty="0">
                <a:solidFill>
                  <a:srgbClr val="6600FF"/>
                </a:solidFill>
                <a:latin typeface="微软雅黑"/>
                <a:cs typeface="微软雅黑"/>
              </a:rPr>
              <a:t>T</a:t>
            </a:r>
            <a:r>
              <a:rPr sz="2400" spc="-10" dirty="0">
                <a:latin typeface="微软雅黑"/>
                <a:cs typeface="微软雅黑"/>
              </a:rPr>
              <a:t>个时钟周期内的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2374468"/>
            <a:ext cx="2159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微软雅黑"/>
                <a:cs typeface="微软雅黑"/>
              </a:rPr>
              <a:t>平均并行度为：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723" y="4720844"/>
            <a:ext cx="5992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系统在</a:t>
            </a:r>
            <a:r>
              <a:rPr sz="2400" dirty="0">
                <a:solidFill>
                  <a:srgbClr val="6600FF"/>
                </a:solidFill>
                <a:latin typeface="微软雅黑"/>
                <a:cs typeface="微软雅黑"/>
              </a:rPr>
              <a:t>T</a:t>
            </a:r>
            <a:r>
              <a:rPr sz="2400" dirty="0">
                <a:latin typeface="微软雅黑"/>
                <a:cs typeface="微软雅黑"/>
              </a:rPr>
              <a:t>个时钟周期内的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平均利用率</a:t>
            </a:r>
            <a:r>
              <a:rPr sz="2400" spc="-15" dirty="0">
                <a:latin typeface="微软雅黑"/>
                <a:cs typeface="微软雅黑"/>
              </a:rPr>
              <a:t>定义为：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6511" y="2359266"/>
            <a:ext cx="140970" cy="27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i="1" spc="-50" dirty="0">
                <a:latin typeface="Times New Roman"/>
                <a:cs typeface="Times New Roman"/>
              </a:rPr>
              <a:t>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81807" y="2402224"/>
            <a:ext cx="594995" cy="591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550" spc="-37" baseline="-11261" dirty="0">
                <a:latin typeface="Symbol"/>
                <a:cs typeface="Symbol"/>
              </a:rPr>
              <a:t></a:t>
            </a:r>
            <a:r>
              <a:rPr sz="1850" i="1" spc="-25" dirty="0">
                <a:latin typeface="Times New Roman"/>
                <a:cs typeface="Times New Roman"/>
              </a:rPr>
              <a:t>P</a:t>
            </a:r>
            <a:r>
              <a:rPr sz="2475" i="1" spc="-37" baseline="-15151" dirty="0">
                <a:latin typeface="Times New Roman"/>
                <a:cs typeface="Times New Roman"/>
              </a:rPr>
              <a:t>i</a:t>
            </a:r>
            <a:endParaRPr sz="2475" baseline="-1515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55352" y="2983232"/>
            <a:ext cx="1175385" cy="586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ts val="2200"/>
              </a:lnSpc>
              <a:spcBef>
                <a:spcPts val="110"/>
              </a:spcBef>
              <a:tabLst>
                <a:tab pos="1123950" algn="l"/>
              </a:tabLst>
            </a:pPr>
            <a:r>
              <a:rPr sz="2775" i="1" spc="-67" baseline="-21021" dirty="0">
                <a:latin typeface="Times New Roman"/>
                <a:cs typeface="Times New Roman"/>
              </a:rPr>
              <a:t>P</a:t>
            </a:r>
            <a:r>
              <a:rPr sz="2475" i="1" spc="-67" baseline="-40404" dirty="0">
                <a:latin typeface="Times New Roman"/>
                <a:cs typeface="Times New Roman"/>
              </a:rPr>
              <a:t>a</a:t>
            </a:r>
            <a:r>
              <a:rPr sz="2475" i="1" spc="277" baseline="-40404" dirty="0">
                <a:latin typeface="Times New Roman"/>
                <a:cs typeface="Times New Roman"/>
              </a:rPr>
              <a:t> </a:t>
            </a:r>
            <a:r>
              <a:rPr sz="2775" baseline="-21021" dirty="0">
                <a:latin typeface="Symbol"/>
                <a:cs typeface="Symbol"/>
              </a:rPr>
              <a:t></a:t>
            </a:r>
            <a:r>
              <a:rPr sz="2775" spc="-7" baseline="-21021" dirty="0">
                <a:latin typeface="Times New Roman"/>
                <a:cs typeface="Times New Roman"/>
              </a:rPr>
              <a:t> </a:t>
            </a:r>
            <a:r>
              <a:rPr sz="1650" i="1" u="heavy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50" i="1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650" u="heavy" spc="-2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sz="1650" u="heavy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5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650">
              <a:latin typeface="Times New Roman"/>
              <a:cs typeface="Times New Roman"/>
            </a:endParaRPr>
          </a:p>
          <a:p>
            <a:pPr marL="751840">
              <a:lnSpc>
                <a:spcPts val="2200"/>
              </a:lnSpc>
            </a:pPr>
            <a:r>
              <a:rPr sz="1850" i="1" spc="-50" dirty="0">
                <a:latin typeface="Times New Roman"/>
                <a:cs typeface="Times New Roman"/>
              </a:rPr>
              <a:t>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6277" y="4439546"/>
            <a:ext cx="139700" cy="273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i="1" spc="-50" dirty="0">
                <a:latin typeface="Times New Roman"/>
                <a:cs typeface="Times New Roman"/>
              </a:rPr>
              <a:t>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3771" y="5303742"/>
            <a:ext cx="1255395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  <a:tabLst>
                <a:tab pos="752475" algn="l"/>
              </a:tabLst>
            </a:pPr>
            <a:r>
              <a:rPr sz="2200" i="1" spc="-25" dirty="0">
                <a:latin typeface="Times New Roman"/>
                <a:cs typeface="Times New Roman"/>
              </a:rPr>
              <a:t>P</a:t>
            </a:r>
            <a:r>
              <a:rPr sz="2400" i="1" spc="-37" baseline="-19097" dirty="0">
                <a:latin typeface="Times New Roman"/>
                <a:cs typeface="Times New Roman"/>
              </a:rPr>
              <a:t>m</a:t>
            </a:r>
            <a:r>
              <a:rPr sz="2400" i="1" baseline="-19097" dirty="0">
                <a:latin typeface="Times New Roman"/>
                <a:cs typeface="Times New Roman"/>
              </a:rPr>
              <a:t>	</a:t>
            </a:r>
            <a:r>
              <a:rPr sz="2200" i="1" spc="-25" dirty="0">
                <a:latin typeface="Times New Roman"/>
                <a:cs typeface="Times New Roman"/>
              </a:rPr>
              <a:t>TP</a:t>
            </a:r>
            <a:r>
              <a:rPr sz="2400" i="1" spc="-37" baseline="-19097" dirty="0">
                <a:latin typeface="Times New Roman"/>
                <a:cs typeface="Times New Roman"/>
              </a:rPr>
              <a:t>m</a:t>
            </a:r>
            <a:endParaRPr sz="2400" baseline="-19097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02699" y="4888894"/>
            <a:ext cx="198120" cy="36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00" i="1" spc="-50" dirty="0">
                <a:latin typeface="Times New Roman"/>
                <a:cs typeface="Times New Roman"/>
              </a:rPr>
              <a:t>P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20134" y="4596196"/>
            <a:ext cx="61531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50" spc="-30" dirty="0">
                <a:latin typeface="Symbol"/>
                <a:cs typeface="Symbol"/>
              </a:rPr>
              <a:t></a:t>
            </a:r>
            <a:r>
              <a:rPr sz="3250" spc="-400" dirty="0">
                <a:latin typeface="Times New Roman"/>
                <a:cs typeface="Times New Roman"/>
              </a:rPr>
              <a:t> </a:t>
            </a:r>
            <a:r>
              <a:rPr sz="3300" i="1" spc="-37" baseline="13888" dirty="0">
                <a:latin typeface="Times New Roman"/>
                <a:cs typeface="Times New Roman"/>
              </a:rPr>
              <a:t>P</a:t>
            </a:r>
            <a:r>
              <a:rPr sz="1600" i="1" spc="-25" dirty="0"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59493" y="4944530"/>
            <a:ext cx="1837689" cy="384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99770" algn="l"/>
                <a:tab pos="1798955" algn="l"/>
              </a:tabLst>
            </a:pPr>
            <a:r>
              <a:rPr sz="3525" i="1" baseline="-22458" dirty="0">
                <a:latin typeface="Symbol"/>
                <a:cs typeface="Symbol"/>
              </a:rPr>
              <a:t></a:t>
            </a:r>
            <a:r>
              <a:rPr sz="3525" baseline="-22458" dirty="0">
                <a:latin typeface="Times New Roman"/>
                <a:cs typeface="Times New Roman"/>
              </a:rPr>
              <a:t> </a:t>
            </a:r>
            <a:r>
              <a:rPr sz="3300" baseline="-23989" dirty="0">
                <a:latin typeface="Symbol"/>
                <a:cs typeface="Symbol"/>
              </a:rPr>
              <a:t></a:t>
            </a:r>
            <a:r>
              <a:rPr sz="3300" baseline="-23989" dirty="0"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a</a:t>
            </a:r>
            <a:r>
              <a:rPr sz="1600" i="1" u="sng" spc="2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none" spc="175" dirty="0">
                <a:latin typeface="Times New Roman"/>
                <a:cs typeface="Times New Roman"/>
              </a:rPr>
              <a:t> </a:t>
            </a:r>
            <a:r>
              <a:rPr sz="3300" u="none" baseline="-23989" dirty="0">
                <a:latin typeface="Symbol"/>
                <a:cs typeface="Symbol"/>
              </a:rPr>
              <a:t></a:t>
            </a:r>
            <a:r>
              <a:rPr sz="3300" u="none" spc="-30" baseline="-23989" dirty="0">
                <a:latin typeface="Times New Roman"/>
                <a:cs typeface="Times New Roman"/>
              </a:rPr>
              <a:t> </a:t>
            </a:r>
            <a:r>
              <a:rPr sz="1600" i="1" u="sng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600" u="sng" spc="-2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sz="1600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469799"/>
            <a:ext cx="7088505" cy="4685665"/>
          </a:xfrm>
          <a:prstGeom prst="rect">
            <a:avLst/>
          </a:prstGeom>
        </p:spPr>
        <p:txBody>
          <a:bodyPr vert="horz" wrap="square" lIns="0" tIns="26098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205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20" dirty="0">
                <a:latin typeface="Times New Roman"/>
                <a:cs typeface="Times New Roman"/>
              </a:rPr>
              <a:t>Handler</a:t>
            </a:r>
            <a:r>
              <a:rPr sz="2800" spc="-40" dirty="0">
                <a:latin typeface="微软雅黑"/>
                <a:cs typeface="微软雅黑"/>
              </a:rPr>
              <a:t>分类法</a:t>
            </a:r>
            <a:endParaRPr sz="28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根据并行度和流水线对计算机进行分类。</a:t>
            </a:r>
            <a:endParaRPr sz="24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把计算机的硬件结构分成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3</a:t>
            </a:r>
            <a:r>
              <a:rPr sz="2400" spc="-20" dirty="0">
                <a:solidFill>
                  <a:srgbClr val="006FC0"/>
                </a:solidFill>
                <a:latin typeface="微软雅黑"/>
                <a:cs typeface="微软雅黑"/>
              </a:rPr>
              <a:t>个层次</a:t>
            </a:r>
            <a:endParaRPr sz="24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2005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程序控制部件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（</a:t>
            </a:r>
            <a:r>
              <a:rPr sz="2000" spc="-20" dirty="0">
                <a:solidFill>
                  <a:srgbClr val="D50092"/>
                </a:solidFill>
                <a:latin typeface="Times New Roman"/>
                <a:cs typeface="Times New Roman"/>
              </a:rPr>
              <a:t>PCU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的个数</a:t>
            </a:r>
            <a:r>
              <a:rPr sz="2000" spc="-50" dirty="0">
                <a:solidFill>
                  <a:srgbClr val="D50092"/>
                </a:solidFill>
                <a:latin typeface="Times New Roman"/>
                <a:cs typeface="Times New Roman"/>
              </a:rPr>
              <a:t>k</a:t>
            </a:r>
            <a:endParaRPr sz="20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03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算术逻辑部件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（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ALU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r>
              <a:rPr sz="2000" spc="-5" dirty="0">
                <a:solidFill>
                  <a:srgbClr val="D50092"/>
                </a:solidFill>
                <a:latin typeface="微软雅黑"/>
                <a:cs typeface="微软雅黑"/>
              </a:rPr>
              <a:t>或处理部件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（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PE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）的个数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d</a:t>
            </a:r>
            <a:r>
              <a:rPr sz="2000" spc="-50" dirty="0">
                <a:solidFill>
                  <a:srgbClr val="D50092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202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每个算术逻辑部件包含基本逻辑线路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(ELC)</a:t>
            </a:r>
            <a:r>
              <a:rPr sz="2000" spc="-5" dirty="0">
                <a:solidFill>
                  <a:srgbClr val="D50092"/>
                </a:solidFill>
                <a:latin typeface="微软雅黑"/>
                <a:cs typeface="微软雅黑"/>
              </a:rPr>
              <a:t>的套数</a:t>
            </a:r>
            <a:r>
              <a:rPr sz="2000" spc="-20" dirty="0">
                <a:solidFill>
                  <a:srgbClr val="D50092"/>
                </a:solidFill>
                <a:latin typeface="Times New Roman"/>
                <a:cs typeface="Times New Roman"/>
              </a:rPr>
              <a:t>w</a:t>
            </a:r>
            <a:r>
              <a:rPr sz="2000" spc="-50" dirty="0">
                <a:solidFill>
                  <a:srgbClr val="D50092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705485" lvl="1" indent="-236220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20" dirty="0">
                <a:solidFill>
                  <a:srgbClr val="5B9BD4"/>
                </a:solidFill>
                <a:latin typeface="微软雅黑"/>
                <a:cs typeface="微软雅黑"/>
              </a:rPr>
              <a:t>用公式表示</a:t>
            </a:r>
            <a:endParaRPr sz="24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2025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1155700" algn="l"/>
              </a:tabLst>
            </a:pP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（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系统型号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）＝（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k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，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d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，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w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5343855"/>
            <a:ext cx="5403215" cy="95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indent="-236854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spc="-10" dirty="0">
                <a:solidFill>
                  <a:srgbClr val="5B9BD4"/>
                </a:solidFill>
                <a:latin typeface="微软雅黑"/>
                <a:cs typeface="微软雅黑"/>
              </a:rPr>
              <a:t>进一步改进</a:t>
            </a:r>
            <a:endParaRPr sz="2400">
              <a:latin typeface="微软雅黑"/>
              <a:cs typeface="微软雅黑"/>
            </a:endParaRPr>
          </a:p>
          <a:p>
            <a:pPr marL="762635" lvl="1" indent="-292735">
              <a:lnSpc>
                <a:spcPct val="100000"/>
              </a:lnSpc>
              <a:spcBef>
                <a:spcPts val="2010"/>
              </a:spcBef>
              <a:buClr>
                <a:srgbClr val="1F4E79"/>
              </a:buClr>
              <a:buSzPct val="80000"/>
              <a:buFont typeface="Wingdings"/>
              <a:buChar char=""/>
              <a:tabLst>
                <a:tab pos="762635" algn="l"/>
              </a:tabLst>
            </a:pPr>
            <a:r>
              <a:rPr sz="2000" dirty="0">
                <a:solidFill>
                  <a:srgbClr val="D50092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（系统型号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）＝（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k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×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k’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，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d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×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d’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，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w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×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w’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70153" y="218694"/>
            <a:ext cx="113169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60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1.1.4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/>
              <a:t>计算机系统结构的分</a:t>
            </a:r>
            <a:r>
              <a:rPr spc="-50" dirty="0"/>
              <a:t>类</a:t>
            </a:r>
            <a:r>
              <a:rPr dirty="0"/>
              <a:t>	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53910" y="5206127"/>
            <a:ext cx="4320540" cy="11207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10"/>
              </a:spcBef>
              <a:buClr>
                <a:srgbClr val="538235"/>
              </a:buClr>
              <a:buFont typeface="Arial"/>
              <a:buChar char="•"/>
              <a:tabLst>
                <a:tab pos="241300" algn="l"/>
              </a:tabLst>
            </a:pPr>
            <a:r>
              <a:rPr sz="1800" spc="-10" dirty="0">
                <a:solidFill>
                  <a:srgbClr val="6600FF"/>
                </a:solidFill>
                <a:latin typeface="微软雅黑"/>
                <a:cs typeface="微软雅黑"/>
              </a:rPr>
              <a:t>k’</a:t>
            </a:r>
            <a:r>
              <a:rPr sz="1800" spc="-15" dirty="0">
                <a:latin typeface="微软雅黑"/>
                <a:cs typeface="微软雅黑"/>
              </a:rPr>
              <a:t>：宏流水线中程序控制部件的个数</a:t>
            </a:r>
            <a:endParaRPr sz="180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Clr>
                <a:srgbClr val="538235"/>
              </a:buClr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solidFill>
                  <a:srgbClr val="6600FF"/>
                </a:solidFill>
                <a:latin typeface="微软雅黑"/>
                <a:cs typeface="微软雅黑"/>
              </a:rPr>
              <a:t>d’</a:t>
            </a:r>
            <a:r>
              <a:rPr sz="1800" spc="-5" dirty="0">
                <a:latin typeface="微软雅黑"/>
                <a:cs typeface="微软雅黑"/>
              </a:rPr>
              <a:t>：指令流水线中算术逻辑部件的个数</a:t>
            </a:r>
            <a:endParaRPr sz="180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spcBef>
                <a:spcPts val="720"/>
              </a:spcBef>
              <a:buClr>
                <a:srgbClr val="538235"/>
              </a:buClr>
              <a:buFont typeface="Arial"/>
              <a:buChar char="•"/>
              <a:tabLst>
                <a:tab pos="241300" algn="l"/>
              </a:tabLst>
            </a:pPr>
            <a:r>
              <a:rPr sz="1800" spc="-20" dirty="0">
                <a:solidFill>
                  <a:srgbClr val="6600FF"/>
                </a:solidFill>
                <a:latin typeface="微软雅黑"/>
                <a:cs typeface="微软雅黑"/>
              </a:rPr>
              <a:t>w’</a:t>
            </a:r>
            <a:r>
              <a:rPr sz="1800" spc="-15" dirty="0">
                <a:latin typeface="微软雅黑"/>
                <a:cs typeface="微软雅黑"/>
              </a:rPr>
              <a:t>：操作流水线中基本逻辑线路的套数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2853" y="706247"/>
            <a:ext cx="11291570" cy="0"/>
          </a:xfrm>
          <a:custGeom>
            <a:avLst/>
            <a:gdLst/>
            <a:ahLst/>
            <a:cxnLst/>
            <a:rect l="l" t="t" r="r" b="b"/>
            <a:pathLst>
              <a:path w="11291570">
                <a:moveTo>
                  <a:pt x="0" y="0"/>
                </a:moveTo>
                <a:lnTo>
                  <a:pt x="11290985" y="0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4360" y="331597"/>
            <a:ext cx="807720" cy="274955"/>
            <a:chOff x="144360" y="331597"/>
            <a:chExt cx="807720" cy="274955"/>
          </a:xfrm>
        </p:grpSpPr>
        <p:sp>
          <p:nvSpPr>
            <p:cNvPr id="4" name="object 4"/>
            <p:cNvSpPr/>
            <p:nvPr/>
          </p:nvSpPr>
          <p:spPr>
            <a:xfrm>
              <a:off x="144360" y="331597"/>
              <a:ext cx="280670" cy="274955"/>
            </a:xfrm>
            <a:custGeom>
              <a:avLst/>
              <a:gdLst/>
              <a:ahLst/>
              <a:cxnLst/>
              <a:rect l="l" t="t" r="r" b="b"/>
              <a:pathLst>
                <a:path w="280670" h="274955">
                  <a:moveTo>
                    <a:pt x="67360" y="0"/>
                  </a:moveTo>
                  <a:lnTo>
                    <a:pt x="2806" y="41528"/>
                  </a:lnTo>
                  <a:lnTo>
                    <a:pt x="148742" y="135508"/>
                  </a:lnTo>
                  <a:lnTo>
                    <a:pt x="0" y="231266"/>
                  </a:lnTo>
                  <a:lnTo>
                    <a:pt x="67360" y="274700"/>
                  </a:lnTo>
                  <a:lnTo>
                    <a:pt x="280657" y="137287"/>
                  </a:lnTo>
                  <a:lnTo>
                    <a:pt x="67360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552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7233" y="0"/>
                  </a:moveTo>
                  <a:lnTo>
                    <a:pt x="2806" y="41528"/>
                  </a:lnTo>
                  <a:lnTo>
                    <a:pt x="148462" y="135508"/>
                  </a:lnTo>
                  <a:lnTo>
                    <a:pt x="0" y="231266"/>
                  </a:lnTo>
                  <a:lnTo>
                    <a:pt x="67233" y="274700"/>
                  </a:lnTo>
                  <a:lnTo>
                    <a:pt x="279425" y="137287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2439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6535" y="0"/>
                  </a:moveTo>
                  <a:lnTo>
                    <a:pt x="2806" y="41528"/>
                  </a:lnTo>
                  <a:lnTo>
                    <a:pt x="148463" y="135508"/>
                  </a:lnTo>
                  <a:lnTo>
                    <a:pt x="0" y="231266"/>
                  </a:lnTo>
                  <a:lnTo>
                    <a:pt x="66535" y="274700"/>
                  </a:lnTo>
                  <a:lnTo>
                    <a:pt x="279425" y="137287"/>
                  </a:lnTo>
                  <a:lnTo>
                    <a:pt x="66535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6474002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9648444" y="0"/>
                </a:lnTo>
                <a:lnTo>
                  <a:pt x="0" y="0"/>
                </a:lnTo>
                <a:lnTo>
                  <a:pt x="0" y="383997"/>
                </a:lnTo>
                <a:lnTo>
                  <a:pt x="9648444" y="383997"/>
                </a:lnTo>
                <a:lnTo>
                  <a:pt x="12192000" y="3839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0941" y="1240396"/>
            <a:ext cx="9133880" cy="442347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201013" y="198882"/>
            <a:ext cx="40932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865" algn="l"/>
              </a:tabLst>
            </a:pPr>
            <a:r>
              <a:rPr u="none" spc="-25" dirty="0">
                <a:latin typeface="Times New Roman"/>
                <a:cs typeface="Times New Roman"/>
              </a:rPr>
              <a:t>1.2</a:t>
            </a:r>
            <a:r>
              <a:rPr u="none" dirty="0">
                <a:latin typeface="Times New Roman"/>
                <a:cs typeface="Times New Roman"/>
              </a:rPr>
              <a:t>	</a:t>
            </a:r>
            <a:r>
              <a:rPr u="none" spc="-10" dirty="0"/>
              <a:t>计算机系统的设计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5138" y="795572"/>
            <a:ext cx="4160520" cy="4088765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206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20" dirty="0">
                <a:latin typeface="Times New Roman"/>
                <a:cs typeface="Times New Roman"/>
              </a:rPr>
              <a:t>4</a:t>
            </a:r>
            <a:r>
              <a:rPr sz="2800" spc="-45" dirty="0">
                <a:latin typeface="微软雅黑"/>
                <a:cs typeface="微软雅黑"/>
              </a:rPr>
              <a:t>个定量原理：</a:t>
            </a:r>
            <a:endParaRPr sz="28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以经常性事件为重点</a:t>
            </a:r>
            <a:endParaRPr sz="24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10" dirty="0">
                <a:solidFill>
                  <a:srgbClr val="5B9BD4"/>
                </a:solidFill>
                <a:latin typeface="Times New Roman"/>
                <a:cs typeface="Times New Roman"/>
              </a:rPr>
              <a:t>Amdahl</a:t>
            </a:r>
            <a:r>
              <a:rPr sz="2400" spc="-25" dirty="0">
                <a:solidFill>
                  <a:srgbClr val="5B9BD4"/>
                </a:solidFill>
                <a:latin typeface="微软雅黑"/>
                <a:cs typeface="微软雅黑"/>
              </a:rPr>
              <a:t>定律</a:t>
            </a:r>
            <a:endParaRPr sz="24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30" dirty="0">
                <a:solidFill>
                  <a:srgbClr val="5B9BD4"/>
                </a:solidFill>
                <a:latin typeface="Times New Roman"/>
                <a:cs typeface="Times New Roman"/>
              </a:rPr>
              <a:t>CPU</a:t>
            </a:r>
            <a:r>
              <a:rPr sz="2400" spc="-15" dirty="0">
                <a:solidFill>
                  <a:srgbClr val="5B9BD4"/>
                </a:solidFill>
                <a:latin typeface="微软雅黑"/>
                <a:cs typeface="微软雅黑"/>
              </a:rPr>
              <a:t>性能公式</a:t>
            </a:r>
            <a:endParaRPr sz="24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9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10" dirty="0">
                <a:solidFill>
                  <a:srgbClr val="5B9BD4"/>
                </a:solidFill>
                <a:latin typeface="微软雅黑"/>
                <a:cs typeface="微软雅黑"/>
              </a:rPr>
              <a:t>程序的局部性原理</a:t>
            </a:r>
            <a:endParaRPr sz="2400">
              <a:latin typeface="微软雅黑"/>
              <a:cs typeface="微软雅黑"/>
            </a:endParaRPr>
          </a:p>
          <a:p>
            <a:pPr marL="241300" marR="5080" indent="-229870">
              <a:lnSpc>
                <a:spcPct val="110100"/>
              </a:lnSpc>
              <a:spcBef>
                <a:spcPts val="1010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41300" algn="l"/>
                <a:tab pos="290830" algn="l"/>
              </a:tabLst>
            </a:pPr>
            <a:r>
              <a:rPr sz="2800" spc="-40" dirty="0">
                <a:latin typeface="微软雅黑"/>
                <a:cs typeface="微软雅黑"/>
              </a:rPr>
              <a:t>	目标：如何优化上述</a:t>
            </a:r>
            <a:r>
              <a:rPr sz="2800" spc="-20" dirty="0">
                <a:latin typeface="Times New Roman"/>
                <a:cs typeface="Times New Roman"/>
              </a:rPr>
              <a:t>4</a:t>
            </a:r>
            <a:r>
              <a:rPr sz="2800" spc="-50" dirty="0">
                <a:latin typeface="微软雅黑"/>
                <a:cs typeface="微软雅黑"/>
              </a:rPr>
              <a:t>个</a:t>
            </a:r>
            <a:r>
              <a:rPr sz="2800" spc="-40" dirty="0">
                <a:latin typeface="微软雅黑"/>
                <a:cs typeface="微软雅黑"/>
              </a:rPr>
              <a:t>定量操作提高计算机性能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14566" y="284226"/>
            <a:ext cx="494538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025" algn="l"/>
              </a:tabLst>
            </a:pPr>
            <a:r>
              <a:rPr sz="2600" spc="-10" dirty="0">
                <a:solidFill>
                  <a:srgbClr val="0000CC"/>
                </a:solidFill>
                <a:latin typeface="Tahoma"/>
                <a:cs typeface="Tahoma"/>
              </a:rPr>
              <a:t>1.2.1</a:t>
            </a:r>
            <a:r>
              <a:rPr sz="2600" dirty="0">
                <a:solidFill>
                  <a:srgbClr val="0000CC"/>
                </a:solidFill>
                <a:latin typeface="Tahoma"/>
                <a:cs typeface="Tahoma"/>
              </a:rPr>
              <a:t>	</a:t>
            </a:r>
            <a:r>
              <a:rPr sz="2600" spc="-10" dirty="0">
                <a:solidFill>
                  <a:srgbClr val="0000CC"/>
                </a:solidFill>
                <a:latin typeface="黑体"/>
                <a:cs typeface="黑体"/>
              </a:rPr>
              <a:t>计算机系统设计的定量原理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4040" y="963069"/>
            <a:ext cx="7926070" cy="4946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>
              <a:lnSpc>
                <a:spcPct val="128800"/>
              </a:lnSpc>
              <a:spcBef>
                <a:spcPts val="9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	以经常性事件为重点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对经常发生的情况采用优化方法的原则进行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选择，以得到更多的总体上的改进</a:t>
            </a:r>
            <a:r>
              <a:rPr sz="2400" spc="-50" dirty="0">
                <a:solidFill>
                  <a:srgbClr val="538235"/>
                </a:solidFill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400" dirty="0">
                <a:solidFill>
                  <a:srgbClr val="EC7C30"/>
                </a:solidFill>
                <a:latin typeface="微软雅黑"/>
                <a:cs typeface="微软雅黑"/>
              </a:rPr>
              <a:t>优化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是指分配更多的资源、达到更高的性能或者分配更多的电能等。</a:t>
            </a:r>
            <a:endParaRPr sz="2000">
              <a:latin typeface="微软雅黑"/>
              <a:cs typeface="微软雅黑"/>
            </a:endParaRPr>
          </a:p>
          <a:p>
            <a:pPr marL="12700" marR="568325" indent="-1270" algn="just">
              <a:lnSpc>
                <a:spcPct val="148300"/>
              </a:lnSpc>
              <a:spcBef>
                <a:spcPts val="124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	程序的局部性原理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程序执行时所访问的存储器地址分布不是</a:t>
            </a:r>
            <a:r>
              <a:rPr sz="2000" spc="-5" dirty="0">
                <a:solidFill>
                  <a:srgbClr val="D50092"/>
                </a:solidFill>
                <a:latin typeface="微软雅黑"/>
                <a:cs typeface="微软雅黑"/>
              </a:rPr>
              <a:t>随机的，而是相对地簇聚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（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程序执行时间的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90%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都是在执行程序中</a:t>
            </a:r>
            <a:r>
              <a:rPr sz="2000" spc="-50" dirty="0">
                <a:solidFill>
                  <a:srgbClr val="D50092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D50092"/>
                </a:solidFill>
                <a:latin typeface="Times New Roman"/>
                <a:cs typeface="Times New Roman"/>
              </a:rPr>
              <a:t>10%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的代码）</a:t>
            </a:r>
            <a:r>
              <a:rPr sz="2000" spc="-50" dirty="0">
                <a:solidFill>
                  <a:srgbClr val="D50092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2700" marR="584835">
              <a:lnSpc>
                <a:spcPts val="3710"/>
              </a:lnSpc>
              <a:spcBef>
                <a:spcPts val="330"/>
              </a:spcBef>
            </a:pPr>
            <a:r>
              <a:rPr sz="2400" dirty="0">
                <a:solidFill>
                  <a:srgbClr val="EC7C30"/>
                </a:solidFill>
                <a:latin typeface="微软雅黑"/>
                <a:cs typeface="微软雅黑"/>
              </a:rPr>
              <a:t>程序的时间局部性：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程序即将用到的信息很可能就是目前正在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使用的信息。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400" dirty="0">
                <a:solidFill>
                  <a:srgbClr val="EC7C30"/>
                </a:solidFill>
                <a:latin typeface="微软雅黑"/>
                <a:cs typeface="微软雅黑"/>
              </a:rPr>
              <a:t>程序的空间局部性：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程序即将用到的信息很可能与目前正在使</a:t>
            </a: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用的信息。在空间上相邻或者临近。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1013" y="198882"/>
            <a:ext cx="40932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865" algn="l"/>
              </a:tabLst>
            </a:pPr>
            <a:r>
              <a:rPr u="none" spc="-25" dirty="0">
                <a:latin typeface="Times New Roman"/>
                <a:cs typeface="Times New Roman"/>
              </a:rPr>
              <a:t>1.2</a:t>
            </a:r>
            <a:r>
              <a:rPr u="none" dirty="0">
                <a:latin typeface="Times New Roman"/>
                <a:cs typeface="Times New Roman"/>
              </a:rPr>
              <a:t>	</a:t>
            </a:r>
            <a:r>
              <a:rPr u="none" spc="-10" dirty="0"/>
              <a:t>计算机系统的设计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2853" y="706247"/>
            <a:ext cx="11291570" cy="0"/>
          </a:xfrm>
          <a:custGeom>
            <a:avLst/>
            <a:gdLst/>
            <a:ahLst/>
            <a:cxnLst/>
            <a:rect l="l" t="t" r="r" b="b"/>
            <a:pathLst>
              <a:path w="11291570">
                <a:moveTo>
                  <a:pt x="0" y="0"/>
                </a:moveTo>
                <a:lnTo>
                  <a:pt x="11290985" y="0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4360" y="331597"/>
            <a:ext cx="807720" cy="274955"/>
            <a:chOff x="144360" y="331597"/>
            <a:chExt cx="807720" cy="274955"/>
          </a:xfrm>
        </p:grpSpPr>
        <p:sp>
          <p:nvSpPr>
            <p:cNvPr id="4" name="object 4"/>
            <p:cNvSpPr/>
            <p:nvPr/>
          </p:nvSpPr>
          <p:spPr>
            <a:xfrm>
              <a:off x="144360" y="331597"/>
              <a:ext cx="280670" cy="274955"/>
            </a:xfrm>
            <a:custGeom>
              <a:avLst/>
              <a:gdLst/>
              <a:ahLst/>
              <a:cxnLst/>
              <a:rect l="l" t="t" r="r" b="b"/>
              <a:pathLst>
                <a:path w="280670" h="274955">
                  <a:moveTo>
                    <a:pt x="67360" y="0"/>
                  </a:moveTo>
                  <a:lnTo>
                    <a:pt x="2806" y="41528"/>
                  </a:lnTo>
                  <a:lnTo>
                    <a:pt x="148742" y="135508"/>
                  </a:lnTo>
                  <a:lnTo>
                    <a:pt x="0" y="231266"/>
                  </a:lnTo>
                  <a:lnTo>
                    <a:pt x="67360" y="274700"/>
                  </a:lnTo>
                  <a:lnTo>
                    <a:pt x="280657" y="137287"/>
                  </a:lnTo>
                  <a:lnTo>
                    <a:pt x="67360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552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7233" y="0"/>
                  </a:moveTo>
                  <a:lnTo>
                    <a:pt x="2806" y="41528"/>
                  </a:lnTo>
                  <a:lnTo>
                    <a:pt x="148462" y="135508"/>
                  </a:lnTo>
                  <a:lnTo>
                    <a:pt x="0" y="231266"/>
                  </a:lnTo>
                  <a:lnTo>
                    <a:pt x="67233" y="274700"/>
                  </a:lnTo>
                  <a:lnTo>
                    <a:pt x="279425" y="137287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2439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6535" y="0"/>
                  </a:moveTo>
                  <a:lnTo>
                    <a:pt x="2806" y="41528"/>
                  </a:lnTo>
                  <a:lnTo>
                    <a:pt x="148463" y="135508"/>
                  </a:lnTo>
                  <a:lnTo>
                    <a:pt x="0" y="231266"/>
                  </a:lnTo>
                  <a:lnTo>
                    <a:pt x="66535" y="274700"/>
                  </a:lnTo>
                  <a:lnTo>
                    <a:pt x="279425" y="137287"/>
                  </a:lnTo>
                  <a:lnTo>
                    <a:pt x="66535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6474002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9648444" y="0"/>
                </a:lnTo>
                <a:lnTo>
                  <a:pt x="0" y="0"/>
                </a:lnTo>
                <a:lnTo>
                  <a:pt x="0" y="383997"/>
                </a:lnTo>
                <a:lnTo>
                  <a:pt x="9648444" y="383997"/>
                </a:lnTo>
                <a:lnTo>
                  <a:pt x="12192000" y="3839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-15138" y="1045286"/>
            <a:ext cx="2613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20" dirty="0">
                <a:latin typeface="Times New Roman"/>
                <a:cs typeface="Times New Roman"/>
              </a:rPr>
              <a:t>4</a:t>
            </a:r>
            <a:r>
              <a:rPr sz="2800" spc="-45" dirty="0">
                <a:latin typeface="微软雅黑"/>
                <a:cs typeface="微软雅黑"/>
              </a:rPr>
              <a:t>个定量原理：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2061" y="1472564"/>
            <a:ext cx="3004820" cy="234378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248285" indent="-236854">
              <a:lnSpc>
                <a:spcPct val="100000"/>
              </a:lnSpc>
              <a:spcBef>
                <a:spcPts val="17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以经常性事件为重点</a:t>
            </a:r>
            <a:endParaRPr sz="2400">
              <a:latin typeface="微软雅黑"/>
              <a:cs typeface="微软雅黑"/>
            </a:endParaRPr>
          </a:p>
          <a:p>
            <a:pPr marL="248285" indent="-236854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spc="-10" dirty="0">
                <a:solidFill>
                  <a:srgbClr val="5B9BD4"/>
                </a:solidFill>
                <a:latin typeface="Times New Roman"/>
                <a:cs typeface="Times New Roman"/>
              </a:rPr>
              <a:t>Amdahl</a:t>
            </a:r>
            <a:r>
              <a:rPr sz="2400" spc="-25" dirty="0">
                <a:solidFill>
                  <a:srgbClr val="5B9BD4"/>
                </a:solidFill>
                <a:latin typeface="微软雅黑"/>
                <a:cs typeface="微软雅黑"/>
              </a:rPr>
              <a:t>定律</a:t>
            </a:r>
            <a:endParaRPr sz="2400">
              <a:latin typeface="微软雅黑"/>
              <a:cs typeface="微软雅黑"/>
            </a:endParaRPr>
          </a:p>
          <a:p>
            <a:pPr marL="248285" indent="-236854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spc="-30" dirty="0">
                <a:solidFill>
                  <a:srgbClr val="5B9BD4"/>
                </a:solidFill>
                <a:latin typeface="Times New Roman"/>
                <a:cs typeface="Times New Roman"/>
              </a:rPr>
              <a:t>CPU</a:t>
            </a:r>
            <a:r>
              <a:rPr sz="2400" spc="-15" dirty="0">
                <a:solidFill>
                  <a:srgbClr val="5B9BD4"/>
                </a:solidFill>
                <a:latin typeface="微软雅黑"/>
                <a:cs typeface="微软雅黑"/>
              </a:rPr>
              <a:t>性能公式</a:t>
            </a:r>
            <a:endParaRPr sz="2400">
              <a:latin typeface="微软雅黑"/>
              <a:cs typeface="微软雅黑"/>
            </a:endParaRPr>
          </a:p>
          <a:p>
            <a:pPr marL="248285" indent="-236854">
              <a:lnSpc>
                <a:spcPct val="100000"/>
              </a:lnSpc>
              <a:spcBef>
                <a:spcPts val="169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spc="-10" dirty="0">
                <a:solidFill>
                  <a:srgbClr val="5B9BD4"/>
                </a:solidFill>
                <a:latin typeface="微软雅黑"/>
                <a:cs typeface="微软雅黑"/>
              </a:rPr>
              <a:t>程序的局部性原理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-15138" y="3962857"/>
            <a:ext cx="40341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40" dirty="0">
                <a:latin typeface="微软雅黑"/>
                <a:cs typeface="微软雅黑"/>
              </a:rPr>
              <a:t>目标：如何优化上述</a:t>
            </a:r>
            <a:r>
              <a:rPr sz="2800" spc="-20" dirty="0">
                <a:latin typeface="Times New Roman"/>
                <a:cs typeface="Times New Roman"/>
              </a:rPr>
              <a:t>4</a:t>
            </a:r>
            <a:r>
              <a:rPr sz="2800" spc="-50" dirty="0">
                <a:latin typeface="微软雅黑"/>
                <a:cs typeface="微软雅黑"/>
              </a:rPr>
              <a:t>个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3461" y="4432808"/>
            <a:ext cx="39319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latin typeface="微软雅黑"/>
                <a:cs typeface="微软雅黑"/>
              </a:rPr>
              <a:t>定量操作提高计算机性能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4566" y="284226"/>
            <a:ext cx="494538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025" algn="l"/>
              </a:tabLst>
            </a:pPr>
            <a:r>
              <a:rPr sz="2600" spc="-10" dirty="0">
                <a:solidFill>
                  <a:srgbClr val="0000CC"/>
                </a:solidFill>
                <a:latin typeface="Tahoma"/>
                <a:cs typeface="Tahoma"/>
              </a:rPr>
              <a:t>1.2.1</a:t>
            </a:r>
            <a:r>
              <a:rPr sz="2600" dirty="0">
                <a:solidFill>
                  <a:srgbClr val="0000CC"/>
                </a:solidFill>
                <a:latin typeface="Tahoma"/>
                <a:cs typeface="Tahoma"/>
              </a:rPr>
              <a:t>	</a:t>
            </a:r>
            <a:r>
              <a:rPr sz="2600" spc="-10" dirty="0">
                <a:solidFill>
                  <a:srgbClr val="0000CC"/>
                </a:solidFill>
                <a:latin typeface="黑体"/>
                <a:cs typeface="黑体"/>
              </a:rPr>
              <a:t>计算机系统设计的定量原理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84040" y="1454277"/>
            <a:ext cx="7663180" cy="369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270">
              <a:lnSpc>
                <a:spcPct val="128699"/>
              </a:lnSpc>
              <a:spcBef>
                <a:spcPts val="10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	以经常性事件为重点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400" spc="-5" dirty="0">
                <a:solidFill>
                  <a:srgbClr val="D50092"/>
                </a:solidFill>
                <a:latin typeface="微软雅黑"/>
                <a:cs typeface="微软雅黑"/>
              </a:rPr>
              <a:t>对经常发生的情况采用</a:t>
            </a: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优化</a:t>
            </a:r>
            <a:r>
              <a:rPr sz="2400" spc="-20" dirty="0">
                <a:solidFill>
                  <a:srgbClr val="D50092"/>
                </a:solidFill>
                <a:latin typeface="微软雅黑"/>
                <a:cs typeface="微软雅黑"/>
              </a:rPr>
              <a:t>方法的</a:t>
            </a:r>
            <a:r>
              <a:rPr sz="2400" dirty="0">
                <a:solidFill>
                  <a:srgbClr val="D50092"/>
                </a:solidFill>
                <a:latin typeface="微软雅黑"/>
                <a:cs typeface="微软雅黑"/>
              </a:rPr>
              <a:t>原则进行选择，以得到更多的总体上的改进</a:t>
            </a:r>
            <a:r>
              <a:rPr sz="2400" spc="-50" dirty="0">
                <a:solidFill>
                  <a:srgbClr val="538235"/>
                </a:solidFill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12700" marR="15240">
              <a:lnSpc>
                <a:spcPts val="3700"/>
              </a:lnSpc>
              <a:spcBef>
                <a:spcPts val="254"/>
              </a:spcBef>
            </a:pPr>
            <a:r>
              <a:rPr sz="2400" dirty="0">
                <a:solidFill>
                  <a:srgbClr val="0000FF"/>
                </a:solidFill>
                <a:latin typeface="微软雅黑"/>
                <a:cs typeface="微软雅黑"/>
              </a:rPr>
              <a:t>优化</a:t>
            </a:r>
            <a:r>
              <a:rPr sz="2400" spc="-5" dirty="0">
                <a:solidFill>
                  <a:srgbClr val="D50092"/>
                </a:solidFill>
                <a:latin typeface="微软雅黑"/>
                <a:cs typeface="微软雅黑"/>
              </a:rPr>
              <a:t>是指分配更多的资源、达到更高的性能或者分配更多</a:t>
            </a:r>
            <a:r>
              <a:rPr sz="2400" spc="-10" dirty="0">
                <a:solidFill>
                  <a:srgbClr val="D50092"/>
                </a:solidFill>
                <a:latin typeface="微软雅黑"/>
                <a:cs typeface="微软雅黑"/>
              </a:rPr>
              <a:t>的电能等。</a:t>
            </a:r>
            <a:endParaRPr sz="2400">
              <a:latin typeface="微软雅黑"/>
              <a:cs typeface="微软雅黑"/>
            </a:endParaRPr>
          </a:p>
          <a:p>
            <a:pPr marL="12700" marR="395605" indent="-1270">
              <a:lnSpc>
                <a:spcPct val="150000"/>
              </a:lnSpc>
              <a:spcBef>
                <a:spcPts val="14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	例如大概率事件优先原则，将其优化，整体性能将提</a:t>
            </a:r>
            <a:r>
              <a:rPr sz="2400" spc="-20" dirty="0">
                <a:solidFill>
                  <a:srgbClr val="006FC0"/>
                </a:solidFill>
                <a:latin typeface="微软雅黑"/>
                <a:cs typeface="微软雅黑"/>
              </a:rPr>
              <a:t>高很多。</a:t>
            </a:r>
            <a:endParaRPr sz="2400">
              <a:latin typeface="微软雅黑"/>
              <a:cs typeface="微软雅黑"/>
            </a:endParaRPr>
          </a:p>
          <a:p>
            <a:pPr marL="860425" lvl="1" indent="-236854">
              <a:lnSpc>
                <a:spcPct val="100000"/>
              </a:lnSpc>
              <a:spcBef>
                <a:spcPts val="217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860425" algn="l"/>
              </a:tabLst>
            </a:pPr>
            <a:r>
              <a:rPr sz="2400" spc="-5" dirty="0">
                <a:solidFill>
                  <a:srgbClr val="006FC0"/>
                </a:solidFill>
                <a:latin typeface="微软雅黑"/>
                <a:cs typeface="微软雅黑"/>
              </a:rPr>
              <a:t>蓝色代表经常事件，红色代表非经常事件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201013" y="198882"/>
            <a:ext cx="40932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865" algn="l"/>
              </a:tabLst>
            </a:pPr>
            <a:r>
              <a:rPr u="none" spc="-25" dirty="0">
                <a:latin typeface="Times New Roman"/>
                <a:cs typeface="Times New Roman"/>
              </a:rPr>
              <a:t>1.2</a:t>
            </a:r>
            <a:r>
              <a:rPr u="none" dirty="0">
                <a:latin typeface="Times New Roman"/>
                <a:cs typeface="Times New Roman"/>
              </a:rPr>
              <a:t>	</a:t>
            </a:r>
            <a:r>
              <a:rPr u="none" spc="-10" dirty="0"/>
              <a:t>计算机系统的设计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4938395" y="5238470"/>
            <a:ext cx="4458335" cy="1100455"/>
            <a:chOff x="4938395" y="5238470"/>
            <a:chExt cx="4458335" cy="1100455"/>
          </a:xfrm>
        </p:grpSpPr>
        <p:sp>
          <p:nvSpPr>
            <p:cNvPr id="16" name="object 16"/>
            <p:cNvSpPr/>
            <p:nvPr/>
          </p:nvSpPr>
          <p:spPr>
            <a:xfrm>
              <a:off x="4944745" y="5244820"/>
              <a:ext cx="3146425" cy="204470"/>
            </a:xfrm>
            <a:custGeom>
              <a:avLst/>
              <a:gdLst/>
              <a:ahLst/>
              <a:cxnLst/>
              <a:rect l="l" t="t" r="r" b="b"/>
              <a:pathLst>
                <a:path w="3146425" h="204470">
                  <a:moveTo>
                    <a:pt x="0" y="203987"/>
                  </a:moveTo>
                  <a:lnTo>
                    <a:pt x="3146298" y="203987"/>
                  </a:lnTo>
                  <a:lnTo>
                    <a:pt x="3146298" y="0"/>
                  </a:lnTo>
                  <a:lnTo>
                    <a:pt x="0" y="0"/>
                  </a:lnTo>
                  <a:lnTo>
                    <a:pt x="0" y="203987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944745" y="5244820"/>
              <a:ext cx="3172460" cy="204470"/>
            </a:xfrm>
            <a:custGeom>
              <a:avLst/>
              <a:gdLst/>
              <a:ahLst/>
              <a:cxnLst/>
              <a:rect l="l" t="t" r="r" b="b"/>
              <a:pathLst>
                <a:path w="3172459" h="204470">
                  <a:moveTo>
                    <a:pt x="0" y="203987"/>
                  </a:moveTo>
                  <a:lnTo>
                    <a:pt x="3172205" y="203987"/>
                  </a:lnTo>
                  <a:lnTo>
                    <a:pt x="3172205" y="0"/>
                  </a:lnTo>
                  <a:lnTo>
                    <a:pt x="0" y="0"/>
                  </a:lnTo>
                  <a:lnTo>
                    <a:pt x="0" y="203987"/>
                  </a:lnTo>
                  <a:close/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91043" y="5244820"/>
              <a:ext cx="1299210" cy="204470"/>
            </a:xfrm>
            <a:custGeom>
              <a:avLst/>
              <a:gdLst/>
              <a:ahLst/>
              <a:cxnLst/>
              <a:rect l="l" t="t" r="r" b="b"/>
              <a:pathLst>
                <a:path w="1299209" h="204470">
                  <a:moveTo>
                    <a:pt x="1299082" y="0"/>
                  </a:moveTo>
                  <a:lnTo>
                    <a:pt x="0" y="0"/>
                  </a:lnTo>
                  <a:lnTo>
                    <a:pt x="0" y="203987"/>
                  </a:lnTo>
                  <a:lnTo>
                    <a:pt x="1299082" y="203987"/>
                  </a:lnTo>
                  <a:lnTo>
                    <a:pt x="129908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91043" y="5244820"/>
              <a:ext cx="1299210" cy="204470"/>
            </a:xfrm>
            <a:custGeom>
              <a:avLst/>
              <a:gdLst/>
              <a:ahLst/>
              <a:cxnLst/>
              <a:rect l="l" t="t" r="r" b="b"/>
              <a:pathLst>
                <a:path w="1299209" h="204470">
                  <a:moveTo>
                    <a:pt x="0" y="203987"/>
                  </a:moveTo>
                  <a:lnTo>
                    <a:pt x="1299082" y="203987"/>
                  </a:lnTo>
                  <a:lnTo>
                    <a:pt x="1299082" y="0"/>
                  </a:lnTo>
                  <a:lnTo>
                    <a:pt x="0" y="0"/>
                  </a:lnTo>
                  <a:lnTo>
                    <a:pt x="0" y="203987"/>
                  </a:lnTo>
                  <a:close/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59280" y="5661240"/>
              <a:ext cx="257810" cy="204470"/>
            </a:xfrm>
            <a:custGeom>
              <a:avLst/>
              <a:gdLst/>
              <a:ahLst/>
              <a:cxnLst/>
              <a:rect l="l" t="t" r="r" b="b"/>
              <a:pathLst>
                <a:path w="257809" h="204470">
                  <a:moveTo>
                    <a:pt x="0" y="203987"/>
                  </a:moveTo>
                  <a:lnTo>
                    <a:pt x="257670" y="203987"/>
                  </a:lnTo>
                  <a:lnTo>
                    <a:pt x="257670" y="0"/>
                  </a:lnTo>
                  <a:lnTo>
                    <a:pt x="0" y="0"/>
                  </a:lnTo>
                  <a:lnTo>
                    <a:pt x="0" y="203987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44745" y="5661240"/>
              <a:ext cx="3172460" cy="204470"/>
            </a:xfrm>
            <a:custGeom>
              <a:avLst/>
              <a:gdLst/>
              <a:ahLst/>
              <a:cxnLst/>
              <a:rect l="l" t="t" r="r" b="b"/>
              <a:pathLst>
                <a:path w="3172459" h="204470">
                  <a:moveTo>
                    <a:pt x="0" y="203987"/>
                  </a:moveTo>
                  <a:lnTo>
                    <a:pt x="3172205" y="203987"/>
                  </a:lnTo>
                  <a:lnTo>
                    <a:pt x="3172205" y="0"/>
                  </a:lnTo>
                  <a:lnTo>
                    <a:pt x="0" y="0"/>
                  </a:lnTo>
                  <a:lnTo>
                    <a:pt x="0" y="203987"/>
                  </a:lnTo>
                  <a:close/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07426" y="5661253"/>
              <a:ext cx="649605" cy="204470"/>
            </a:xfrm>
            <a:custGeom>
              <a:avLst/>
              <a:gdLst/>
              <a:ahLst/>
              <a:cxnLst/>
              <a:rect l="l" t="t" r="r" b="b"/>
              <a:pathLst>
                <a:path w="649604" h="204470">
                  <a:moveTo>
                    <a:pt x="649566" y="0"/>
                  </a:moveTo>
                  <a:lnTo>
                    <a:pt x="0" y="0"/>
                  </a:lnTo>
                  <a:lnTo>
                    <a:pt x="0" y="203974"/>
                  </a:lnTo>
                  <a:lnTo>
                    <a:pt x="649566" y="203974"/>
                  </a:lnTo>
                  <a:lnTo>
                    <a:pt x="64956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07426" y="5661253"/>
              <a:ext cx="649605" cy="204470"/>
            </a:xfrm>
            <a:custGeom>
              <a:avLst/>
              <a:gdLst/>
              <a:ahLst/>
              <a:cxnLst/>
              <a:rect l="l" t="t" r="r" b="b"/>
              <a:pathLst>
                <a:path w="649604" h="204470">
                  <a:moveTo>
                    <a:pt x="0" y="203974"/>
                  </a:moveTo>
                  <a:lnTo>
                    <a:pt x="649566" y="203974"/>
                  </a:lnTo>
                  <a:lnTo>
                    <a:pt x="649566" y="0"/>
                  </a:lnTo>
                  <a:lnTo>
                    <a:pt x="0" y="0"/>
                  </a:lnTo>
                  <a:lnTo>
                    <a:pt x="0" y="203974"/>
                  </a:lnTo>
                  <a:close/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467473" y="6128092"/>
              <a:ext cx="623570" cy="204470"/>
            </a:xfrm>
            <a:custGeom>
              <a:avLst/>
              <a:gdLst/>
              <a:ahLst/>
              <a:cxnLst/>
              <a:rect l="l" t="t" r="r" b="b"/>
              <a:pathLst>
                <a:path w="623570" h="204470">
                  <a:moveTo>
                    <a:pt x="0" y="203987"/>
                  </a:moveTo>
                  <a:lnTo>
                    <a:pt x="623570" y="203987"/>
                  </a:lnTo>
                  <a:lnTo>
                    <a:pt x="623570" y="0"/>
                  </a:lnTo>
                  <a:lnTo>
                    <a:pt x="0" y="0"/>
                  </a:lnTo>
                  <a:lnTo>
                    <a:pt x="0" y="203987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467473" y="6128092"/>
              <a:ext cx="649605" cy="204470"/>
            </a:xfrm>
            <a:custGeom>
              <a:avLst/>
              <a:gdLst/>
              <a:ahLst/>
              <a:cxnLst/>
              <a:rect l="l" t="t" r="r" b="b"/>
              <a:pathLst>
                <a:path w="649604" h="204470">
                  <a:moveTo>
                    <a:pt x="0" y="203987"/>
                  </a:moveTo>
                  <a:lnTo>
                    <a:pt x="649566" y="203987"/>
                  </a:lnTo>
                  <a:lnTo>
                    <a:pt x="649566" y="0"/>
                  </a:lnTo>
                  <a:lnTo>
                    <a:pt x="0" y="0"/>
                  </a:lnTo>
                  <a:lnTo>
                    <a:pt x="0" y="203987"/>
                  </a:lnTo>
                  <a:close/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91043" y="6127915"/>
              <a:ext cx="1299210" cy="204470"/>
            </a:xfrm>
            <a:custGeom>
              <a:avLst/>
              <a:gdLst/>
              <a:ahLst/>
              <a:cxnLst/>
              <a:rect l="l" t="t" r="r" b="b"/>
              <a:pathLst>
                <a:path w="1299209" h="204470">
                  <a:moveTo>
                    <a:pt x="1299082" y="0"/>
                  </a:moveTo>
                  <a:lnTo>
                    <a:pt x="0" y="0"/>
                  </a:lnTo>
                  <a:lnTo>
                    <a:pt x="0" y="203987"/>
                  </a:lnTo>
                  <a:lnTo>
                    <a:pt x="1299082" y="203987"/>
                  </a:lnTo>
                  <a:lnTo>
                    <a:pt x="129908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91043" y="6127915"/>
              <a:ext cx="1299210" cy="204470"/>
            </a:xfrm>
            <a:custGeom>
              <a:avLst/>
              <a:gdLst/>
              <a:ahLst/>
              <a:cxnLst/>
              <a:rect l="l" t="t" r="r" b="b"/>
              <a:pathLst>
                <a:path w="1299209" h="204470">
                  <a:moveTo>
                    <a:pt x="0" y="203987"/>
                  </a:moveTo>
                  <a:lnTo>
                    <a:pt x="1299082" y="203987"/>
                  </a:lnTo>
                  <a:lnTo>
                    <a:pt x="1299082" y="0"/>
                  </a:lnTo>
                  <a:lnTo>
                    <a:pt x="0" y="0"/>
                  </a:lnTo>
                  <a:lnTo>
                    <a:pt x="0" y="203987"/>
                  </a:lnTo>
                  <a:close/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832595" y="5488330"/>
            <a:ext cx="2769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SzPct val="97222"/>
              <a:buFont typeface="Wingdings"/>
              <a:buChar char=""/>
              <a:tabLst>
                <a:tab pos="240665" algn="l"/>
              </a:tabLst>
            </a:pPr>
            <a:r>
              <a:rPr sz="1800" dirty="0">
                <a:solidFill>
                  <a:srgbClr val="006FC0"/>
                </a:solidFill>
                <a:latin typeface="微软雅黑"/>
                <a:cs typeface="微软雅黑"/>
              </a:rPr>
              <a:t>加快非经常事件时间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10</a:t>
            </a:r>
            <a:r>
              <a:rPr sz="1800" spc="-50" dirty="0">
                <a:solidFill>
                  <a:srgbClr val="006FC0"/>
                </a:solidFill>
                <a:latin typeface="微软雅黑"/>
                <a:cs typeface="微软雅黑"/>
              </a:rPr>
              <a:t>倍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411081" y="6025692"/>
            <a:ext cx="26733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SzPct val="97500"/>
              <a:buFont typeface="Wingdings"/>
              <a:buChar char=""/>
              <a:tabLst>
                <a:tab pos="240665" algn="l"/>
              </a:tabLst>
            </a:pPr>
            <a:r>
              <a:rPr sz="2000" dirty="0">
                <a:solidFill>
                  <a:srgbClr val="006FC0"/>
                </a:solidFill>
                <a:latin typeface="微软雅黑"/>
                <a:cs typeface="微软雅黑"/>
              </a:rPr>
              <a:t>加快经常事件时间</a:t>
            </a:r>
            <a:r>
              <a:rPr sz="2000" dirty="0">
                <a:solidFill>
                  <a:srgbClr val="006FC0"/>
                </a:solidFill>
                <a:latin typeface="Times New Roman"/>
                <a:cs typeface="Times New Roman"/>
              </a:rPr>
              <a:t>5</a:t>
            </a:r>
            <a:r>
              <a:rPr sz="2000" spc="-50" dirty="0">
                <a:solidFill>
                  <a:srgbClr val="006FC0"/>
                </a:solidFill>
                <a:latin typeface="微软雅黑"/>
                <a:cs typeface="微软雅黑"/>
              </a:rPr>
              <a:t>倍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009535" y="5361063"/>
            <a:ext cx="6849745" cy="822325"/>
          </a:xfrm>
          <a:custGeom>
            <a:avLst/>
            <a:gdLst/>
            <a:ahLst/>
            <a:cxnLst/>
            <a:rect l="l" t="t" r="r" b="b"/>
            <a:pathLst>
              <a:path w="6849745" h="822325">
                <a:moveTo>
                  <a:pt x="6849745" y="0"/>
                </a:moveTo>
                <a:lnTo>
                  <a:pt x="0" y="0"/>
                </a:lnTo>
                <a:lnTo>
                  <a:pt x="0" y="821829"/>
                </a:lnTo>
                <a:lnTo>
                  <a:pt x="6849745" y="821829"/>
                </a:lnTo>
                <a:lnTo>
                  <a:pt x="6849745" y="0"/>
                </a:lnTo>
                <a:close/>
              </a:path>
            </a:pathLst>
          </a:custGeom>
          <a:solidFill>
            <a:srgbClr val="F8CAA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088542" y="5520334"/>
            <a:ext cx="6339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655" indent="-277495">
              <a:lnSpc>
                <a:spcPct val="100000"/>
              </a:lnSpc>
              <a:spcBef>
                <a:spcPts val="95"/>
              </a:spcBef>
              <a:buClr>
                <a:srgbClr val="EC7C30"/>
              </a:buClr>
              <a:buSzPct val="94642"/>
              <a:buFont typeface="Wingdings"/>
              <a:buChar char=""/>
              <a:tabLst>
                <a:tab pos="287655" algn="l"/>
              </a:tabLst>
            </a:pPr>
            <a:r>
              <a:rPr sz="2800" spc="-40" dirty="0">
                <a:solidFill>
                  <a:srgbClr val="006FC0"/>
                </a:solidFill>
                <a:latin typeface="微软雅黑"/>
                <a:cs typeface="微软雅黑"/>
              </a:rPr>
              <a:t>加快经常事件，整体事件时间减少很多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15138" y="795572"/>
            <a:ext cx="4160520" cy="4088765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290830" indent="-279400">
              <a:lnSpc>
                <a:spcPct val="100000"/>
              </a:lnSpc>
              <a:spcBef>
                <a:spcPts val="2065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90830" algn="l"/>
              </a:tabLst>
            </a:pPr>
            <a:r>
              <a:rPr sz="2800" spc="-20" dirty="0">
                <a:latin typeface="Times New Roman"/>
                <a:cs typeface="Times New Roman"/>
              </a:rPr>
              <a:t>4</a:t>
            </a:r>
            <a:r>
              <a:rPr sz="2800" spc="-45" dirty="0">
                <a:latin typeface="微软雅黑"/>
                <a:cs typeface="微软雅黑"/>
              </a:rPr>
              <a:t>个定量原理：</a:t>
            </a:r>
            <a:endParaRPr sz="28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以经常性事件为重点</a:t>
            </a:r>
            <a:endParaRPr sz="24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10" dirty="0">
                <a:solidFill>
                  <a:srgbClr val="5B9BD4"/>
                </a:solidFill>
                <a:latin typeface="Times New Roman"/>
                <a:cs typeface="Times New Roman"/>
              </a:rPr>
              <a:t>Amdahl</a:t>
            </a:r>
            <a:r>
              <a:rPr sz="2400" spc="-25" dirty="0">
                <a:solidFill>
                  <a:srgbClr val="5B9BD4"/>
                </a:solidFill>
                <a:latin typeface="微软雅黑"/>
                <a:cs typeface="微软雅黑"/>
              </a:rPr>
              <a:t>定律</a:t>
            </a:r>
            <a:endParaRPr sz="24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8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30" dirty="0">
                <a:solidFill>
                  <a:srgbClr val="5B9BD4"/>
                </a:solidFill>
                <a:latin typeface="Times New Roman"/>
                <a:cs typeface="Times New Roman"/>
              </a:rPr>
              <a:t>CPU</a:t>
            </a:r>
            <a:r>
              <a:rPr sz="2400" spc="-15" dirty="0">
                <a:solidFill>
                  <a:srgbClr val="5B9BD4"/>
                </a:solidFill>
                <a:latin typeface="微软雅黑"/>
                <a:cs typeface="微软雅黑"/>
              </a:rPr>
              <a:t>性能公式</a:t>
            </a:r>
            <a:endParaRPr sz="2400">
              <a:latin typeface="微软雅黑"/>
              <a:cs typeface="微软雅黑"/>
            </a:endParaRPr>
          </a:p>
          <a:p>
            <a:pPr marL="705485" lvl="1" indent="-236854">
              <a:lnSpc>
                <a:spcPct val="100000"/>
              </a:lnSpc>
              <a:spcBef>
                <a:spcPts val="169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705485" algn="l"/>
              </a:tabLst>
            </a:pPr>
            <a:r>
              <a:rPr sz="2400" spc="-10" dirty="0">
                <a:solidFill>
                  <a:srgbClr val="5B9BD4"/>
                </a:solidFill>
                <a:latin typeface="微软雅黑"/>
                <a:cs typeface="微软雅黑"/>
              </a:rPr>
              <a:t>程序的局部性原理</a:t>
            </a:r>
            <a:endParaRPr sz="2400">
              <a:latin typeface="微软雅黑"/>
              <a:cs typeface="微软雅黑"/>
            </a:endParaRPr>
          </a:p>
          <a:p>
            <a:pPr marL="241300" marR="5080" indent="-229870">
              <a:lnSpc>
                <a:spcPct val="110100"/>
              </a:lnSpc>
              <a:spcBef>
                <a:spcPts val="1010"/>
              </a:spcBef>
              <a:buClr>
                <a:srgbClr val="0000FF"/>
              </a:buClr>
              <a:buSzPct val="94642"/>
              <a:buFont typeface="Wingdings"/>
              <a:buChar char=""/>
              <a:tabLst>
                <a:tab pos="241300" algn="l"/>
                <a:tab pos="290830" algn="l"/>
              </a:tabLst>
            </a:pPr>
            <a:r>
              <a:rPr sz="2800" spc="-40" dirty="0">
                <a:latin typeface="微软雅黑"/>
                <a:cs typeface="微软雅黑"/>
              </a:rPr>
              <a:t>	目标：如何优化上述</a:t>
            </a:r>
            <a:r>
              <a:rPr sz="2800" spc="-20" dirty="0">
                <a:latin typeface="Times New Roman"/>
                <a:cs typeface="Times New Roman"/>
              </a:rPr>
              <a:t>4</a:t>
            </a:r>
            <a:r>
              <a:rPr sz="2800" spc="-50" dirty="0">
                <a:latin typeface="微软雅黑"/>
                <a:cs typeface="微软雅黑"/>
              </a:rPr>
              <a:t>个</a:t>
            </a:r>
            <a:r>
              <a:rPr sz="2800" spc="-40" dirty="0">
                <a:latin typeface="微软雅黑"/>
                <a:cs typeface="微软雅黑"/>
              </a:rPr>
              <a:t>定量操作提高计算机性能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14566" y="284226"/>
            <a:ext cx="494538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025" algn="l"/>
              </a:tabLst>
            </a:pPr>
            <a:r>
              <a:rPr sz="2600" spc="-10" dirty="0">
                <a:solidFill>
                  <a:srgbClr val="0000CC"/>
                </a:solidFill>
                <a:latin typeface="Tahoma"/>
                <a:cs typeface="Tahoma"/>
              </a:rPr>
              <a:t>1.2.1</a:t>
            </a:r>
            <a:r>
              <a:rPr sz="2600" dirty="0">
                <a:solidFill>
                  <a:srgbClr val="0000CC"/>
                </a:solidFill>
                <a:latin typeface="Tahoma"/>
                <a:cs typeface="Tahoma"/>
              </a:rPr>
              <a:t>	</a:t>
            </a:r>
            <a:r>
              <a:rPr sz="2600" spc="-10" dirty="0">
                <a:solidFill>
                  <a:srgbClr val="0000CC"/>
                </a:solidFill>
                <a:latin typeface="黑体"/>
                <a:cs typeface="黑体"/>
              </a:rPr>
              <a:t>计算机系统设计的定量原理</a:t>
            </a:r>
            <a:endParaRPr sz="2600">
              <a:latin typeface="黑体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30292" y="1248362"/>
            <a:ext cx="7362825" cy="24301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 indent="-12065" algn="just">
              <a:lnSpc>
                <a:spcPct val="147600"/>
              </a:lnSpc>
              <a:spcBef>
                <a:spcPts val="275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	程序的局部性原理</a:t>
            </a: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程序执行时所访问的存储器地址分布不是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随机的，而是相对地簇聚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（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程序执行时间的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90%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都是在执行程序中</a:t>
            </a:r>
            <a:r>
              <a:rPr sz="2000" spc="-50" dirty="0">
                <a:solidFill>
                  <a:srgbClr val="D50092"/>
                </a:solidFill>
                <a:latin typeface="微软雅黑"/>
                <a:cs typeface="微软雅黑"/>
              </a:rPr>
              <a:t> </a:t>
            </a:r>
            <a:r>
              <a:rPr sz="2000" dirty="0">
                <a:solidFill>
                  <a:srgbClr val="D50092"/>
                </a:solidFill>
                <a:latin typeface="Times New Roman"/>
                <a:cs typeface="Times New Roman"/>
              </a:rPr>
              <a:t>10%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的代码）</a:t>
            </a:r>
            <a:r>
              <a:rPr sz="2000" spc="-50" dirty="0">
                <a:solidFill>
                  <a:srgbClr val="D50092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Clr>
                <a:srgbClr val="EC7C30"/>
              </a:buClr>
              <a:buSzPct val="975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0000FF"/>
                </a:solidFill>
                <a:latin typeface="微软雅黑"/>
                <a:cs typeface="微软雅黑"/>
              </a:rPr>
              <a:t>优化策略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：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cache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引入，</a:t>
            </a:r>
            <a:r>
              <a:rPr sz="2000" spc="-15" dirty="0">
                <a:solidFill>
                  <a:srgbClr val="0000FF"/>
                </a:solidFill>
                <a:latin typeface="微软雅黑"/>
                <a:cs typeface="微软雅黑"/>
              </a:rPr>
              <a:t>提高内存和</a:t>
            </a:r>
            <a:r>
              <a:rPr sz="2000" spc="-25" dirty="0">
                <a:solidFill>
                  <a:srgbClr val="0000FF"/>
                </a:solidFill>
                <a:latin typeface="Times New Roman"/>
                <a:cs typeface="Times New Roman"/>
              </a:rPr>
              <a:t>CPU</a:t>
            </a:r>
            <a:r>
              <a:rPr sz="2000" spc="-20" dirty="0">
                <a:solidFill>
                  <a:srgbClr val="0000FF"/>
                </a:solidFill>
                <a:latin typeface="微软雅黑"/>
                <a:cs typeface="微软雅黑"/>
              </a:rPr>
              <a:t>之间的访问效率</a:t>
            </a:r>
            <a:endParaRPr sz="2000">
              <a:latin typeface="微软雅黑"/>
              <a:cs typeface="微软雅黑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Clr>
                <a:srgbClr val="EC7C30"/>
              </a:buClr>
              <a:buSzPct val="97500"/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solidFill>
                  <a:srgbClr val="0000FF"/>
                </a:solidFill>
                <a:latin typeface="微软雅黑"/>
                <a:cs typeface="微软雅黑"/>
              </a:rPr>
              <a:t>局部性实例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：例如</a:t>
            </a:r>
            <a:r>
              <a:rPr sz="2000" spc="-10" dirty="0">
                <a:solidFill>
                  <a:srgbClr val="D50092"/>
                </a:solidFill>
                <a:latin typeface="Times New Roman"/>
                <a:cs typeface="Times New Roman"/>
              </a:rPr>
              <a:t>for</a:t>
            </a:r>
            <a:r>
              <a:rPr sz="2000" spc="-25" dirty="0">
                <a:solidFill>
                  <a:srgbClr val="D50092"/>
                </a:solidFill>
                <a:latin typeface="微软雅黑"/>
                <a:cs typeface="微软雅黑"/>
              </a:rPr>
              <a:t>循环，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01013" y="198882"/>
            <a:ext cx="40932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865" algn="l"/>
              </a:tabLst>
            </a:pPr>
            <a:r>
              <a:rPr u="none" spc="-25" dirty="0">
                <a:latin typeface="Times New Roman"/>
                <a:cs typeface="Times New Roman"/>
              </a:rPr>
              <a:t>1.2</a:t>
            </a:r>
            <a:r>
              <a:rPr u="none" dirty="0">
                <a:latin typeface="Times New Roman"/>
                <a:cs typeface="Times New Roman"/>
              </a:rPr>
              <a:t>	</a:t>
            </a:r>
            <a:r>
              <a:rPr u="none" spc="-10" dirty="0"/>
              <a:t>计算机系统的设计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88609" y="4721859"/>
          <a:ext cx="6557009" cy="1716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5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时间局部性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空间局部性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30" dirty="0">
                          <a:latin typeface="微软雅黑"/>
                          <a:cs typeface="微软雅黑"/>
                        </a:rPr>
                        <a:t>指令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20" dirty="0">
                          <a:latin typeface="微软雅黑"/>
                          <a:cs typeface="微软雅黑"/>
                        </a:rPr>
                        <a:t>循环语句指令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20" dirty="0">
                          <a:latin typeface="微软雅黑"/>
                          <a:cs typeface="微软雅黑"/>
                        </a:rPr>
                        <a:t>顺序语句指令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latin typeface="微软雅黑"/>
                          <a:cs typeface="微软雅黑"/>
                        </a:rPr>
                        <a:t>数据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微软雅黑"/>
                          <a:cs typeface="微软雅黑"/>
                        </a:rPr>
                        <a:t>循环变量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微软雅黑"/>
                          <a:cs typeface="微软雅黑"/>
                        </a:rPr>
                        <a:t>字符串、数组</a:t>
                      </a:r>
                      <a:endParaRPr sz="1800">
                        <a:latin typeface="微软雅黑"/>
                        <a:cs typeface="微软雅黑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3593465"/>
            <a:ext cx="12198350" cy="3264535"/>
            <a:chOff x="-6350" y="3593465"/>
            <a:chExt cx="12198350" cy="3264535"/>
          </a:xfrm>
        </p:grpSpPr>
        <p:sp>
          <p:nvSpPr>
            <p:cNvPr id="3" name="object 3"/>
            <p:cNvSpPr/>
            <p:nvPr/>
          </p:nvSpPr>
          <p:spPr>
            <a:xfrm>
              <a:off x="0" y="3599815"/>
              <a:ext cx="4443095" cy="3032760"/>
            </a:xfrm>
            <a:custGeom>
              <a:avLst/>
              <a:gdLst/>
              <a:ahLst/>
              <a:cxnLst/>
              <a:rect l="l" t="t" r="r" b="b"/>
              <a:pathLst>
                <a:path w="4443095" h="3032759">
                  <a:moveTo>
                    <a:pt x="3032379" y="0"/>
                  </a:moveTo>
                  <a:lnTo>
                    <a:pt x="2343150" y="609600"/>
                  </a:lnTo>
                  <a:lnTo>
                    <a:pt x="1982851" y="264922"/>
                  </a:lnTo>
                  <a:lnTo>
                    <a:pt x="1740154" y="896112"/>
                  </a:lnTo>
                  <a:lnTo>
                    <a:pt x="901928" y="509016"/>
                  </a:lnTo>
                  <a:lnTo>
                    <a:pt x="1082090" y="1097534"/>
                  </a:lnTo>
                  <a:lnTo>
                    <a:pt x="212344" y="1161161"/>
                  </a:lnTo>
                  <a:lnTo>
                    <a:pt x="784517" y="1627632"/>
                  </a:lnTo>
                  <a:lnTo>
                    <a:pt x="0" y="1801255"/>
                  </a:lnTo>
                  <a:lnTo>
                    <a:pt x="0" y="1823379"/>
                  </a:lnTo>
                  <a:lnTo>
                    <a:pt x="659231" y="2158034"/>
                  </a:lnTo>
                  <a:lnTo>
                    <a:pt x="235750" y="2502725"/>
                  </a:lnTo>
                  <a:lnTo>
                    <a:pt x="964666" y="2560993"/>
                  </a:lnTo>
                  <a:lnTo>
                    <a:pt x="987869" y="3032760"/>
                  </a:lnTo>
                  <a:lnTo>
                    <a:pt x="1528318" y="2544851"/>
                  </a:lnTo>
                  <a:lnTo>
                    <a:pt x="1771269" y="2767672"/>
                  </a:lnTo>
                  <a:lnTo>
                    <a:pt x="2013966" y="2438844"/>
                  </a:lnTo>
                  <a:lnTo>
                    <a:pt x="2374265" y="2645524"/>
                  </a:lnTo>
                  <a:lnTo>
                    <a:pt x="2491867" y="2237359"/>
                  </a:lnTo>
                  <a:lnTo>
                    <a:pt x="3063875" y="2438844"/>
                  </a:lnTo>
                  <a:lnTo>
                    <a:pt x="3001264" y="2014816"/>
                  </a:lnTo>
                  <a:lnTo>
                    <a:pt x="3878707" y="2194814"/>
                  </a:lnTo>
                  <a:lnTo>
                    <a:pt x="3361690" y="1728343"/>
                  </a:lnTo>
                  <a:lnTo>
                    <a:pt x="3752977" y="1585214"/>
                  </a:lnTo>
                  <a:lnTo>
                    <a:pt x="3486912" y="1320038"/>
                  </a:lnTo>
                  <a:lnTo>
                    <a:pt x="4442587" y="932942"/>
                  </a:lnTo>
                  <a:lnTo>
                    <a:pt x="3361690" y="917067"/>
                  </a:lnTo>
                  <a:lnTo>
                    <a:pt x="3698494" y="445389"/>
                  </a:lnTo>
                  <a:lnTo>
                    <a:pt x="2977515" y="811149"/>
                  </a:lnTo>
                  <a:lnTo>
                    <a:pt x="3032379" y="0"/>
                  </a:lnTo>
                  <a:close/>
                </a:path>
              </a:pathLst>
            </a:custGeom>
            <a:solidFill>
              <a:srgbClr val="FFD9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3599815"/>
              <a:ext cx="4443095" cy="3032760"/>
            </a:xfrm>
            <a:custGeom>
              <a:avLst/>
              <a:gdLst/>
              <a:ahLst/>
              <a:cxnLst/>
              <a:rect l="l" t="t" r="r" b="b"/>
              <a:pathLst>
                <a:path w="4443095" h="3032759">
                  <a:moveTo>
                    <a:pt x="0" y="1801255"/>
                  </a:moveTo>
                  <a:lnTo>
                    <a:pt x="784517" y="1627632"/>
                  </a:lnTo>
                  <a:lnTo>
                    <a:pt x="212344" y="1161161"/>
                  </a:lnTo>
                  <a:lnTo>
                    <a:pt x="1082090" y="1097534"/>
                  </a:lnTo>
                  <a:lnTo>
                    <a:pt x="901928" y="509016"/>
                  </a:lnTo>
                  <a:lnTo>
                    <a:pt x="1740154" y="896112"/>
                  </a:lnTo>
                  <a:lnTo>
                    <a:pt x="1982851" y="264922"/>
                  </a:lnTo>
                  <a:lnTo>
                    <a:pt x="2343150" y="609600"/>
                  </a:lnTo>
                  <a:lnTo>
                    <a:pt x="3032379" y="0"/>
                  </a:lnTo>
                  <a:lnTo>
                    <a:pt x="2977515" y="811149"/>
                  </a:lnTo>
                  <a:lnTo>
                    <a:pt x="3698494" y="445389"/>
                  </a:lnTo>
                  <a:lnTo>
                    <a:pt x="3361690" y="917067"/>
                  </a:lnTo>
                  <a:lnTo>
                    <a:pt x="4442587" y="932942"/>
                  </a:lnTo>
                  <a:lnTo>
                    <a:pt x="3486912" y="1320038"/>
                  </a:lnTo>
                  <a:lnTo>
                    <a:pt x="3752977" y="1585214"/>
                  </a:lnTo>
                  <a:lnTo>
                    <a:pt x="3361690" y="1728343"/>
                  </a:lnTo>
                  <a:lnTo>
                    <a:pt x="3878707" y="2194814"/>
                  </a:lnTo>
                  <a:lnTo>
                    <a:pt x="3001264" y="2014816"/>
                  </a:lnTo>
                  <a:lnTo>
                    <a:pt x="3063875" y="2438844"/>
                  </a:lnTo>
                  <a:lnTo>
                    <a:pt x="2491867" y="2237359"/>
                  </a:lnTo>
                  <a:lnTo>
                    <a:pt x="2374265" y="2645524"/>
                  </a:lnTo>
                  <a:lnTo>
                    <a:pt x="2013966" y="2438844"/>
                  </a:lnTo>
                  <a:lnTo>
                    <a:pt x="1771269" y="2767672"/>
                  </a:lnTo>
                  <a:lnTo>
                    <a:pt x="1528318" y="2544851"/>
                  </a:lnTo>
                  <a:lnTo>
                    <a:pt x="987869" y="3032760"/>
                  </a:lnTo>
                  <a:lnTo>
                    <a:pt x="964666" y="2560993"/>
                  </a:lnTo>
                  <a:lnTo>
                    <a:pt x="235750" y="2502725"/>
                  </a:lnTo>
                  <a:lnTo>
                    <a:pt x="659231" y="2158034"/>
                  </a:lnTo>
                  <a:lnTo>
                    <a:pt x="0" y="1823379"/>
                  </a:lnTo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80466" y="887415"/>
            <a:ext cx="11482705" cy="268732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610"/>
              </a:spcBef>
              <a:buClr>
                <a:srgbClr val="0000FF"/>
              </a:buClr>
              <a:buSzPct val="9791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400" spc="-10" dirty="0">
                <a:solidFill>
                  <a:srgbClr val="006FC0"/>
                </a:solidFill>
                <a:latin typeface="微软雅黑"/>
                <a:cs typeface="微软雅黑"/>
              </a:rPr>
              <a:t>、</a:t>
            </a:r>
            <a:r>
              <a:rPr sz="2400" spc="-10" dirty="0">
                <a:latin typeface="Times New Roman"/>
                <a:cs typeface="Times New Roman"/>
              </a:rPr>
              <a:t>Amdahl</a:t>
            </a:r>
            <a:r>
              <a:rPr sz="2400" dirty="0">
                <a:latin typeface="微软雅黑"/>
                <a:cs typeface="微软雅黑"/>
              </a:rPr>
              <a:t>定律</a:t>
            </a:r>
            <a:r>
              <a:rPr sz="2400" spc="-10" dirty="0">
                <a:latin typeface="微软雅黑"/>
                <a:cs typeface="微软雅黑"/>
              </a:rPr>
              <a:t>（</a:t>
            </a:r>
            <a:r>
              <a:rPr sz="2400" dirty="0">
                <a:solidFill>
                  <a:srgbClr val="333333"/>
                </a:solidFill>
                <a:latin typeface="微软雅黑"/>
                <a:cs typeface="微软雅黑"/>
              </a:rPr>
              <a:t>阿姆达尔定律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583565" marR="5080" lvl="1" indent="-342900">
              <a:lnSpc>
                <a:spcPct val="150000"/>
              </a:lnSpc>
              <a:spcBef>
                <a:spcPts val="60"/>
              </a:spcBef>
              <a:buClr>
                <a:srgbClr val="FFC000"/>
              </a:buClr>
              <a:buSzPct val="97727"/>
              <a:buFont typeface="Wingdings"/>
              <a:buChar char=""/>
              <a:tabLst>
                <a:tab pos="583565" algn="l"/>
              </a:tabLst>
            </a:pPr>
            <a:r>
              <a:rPr sz="2200" spc="-35" dirty="0">
                <a:solidFill>
                  <a:srgbClr val="0000FF"/>
                </a:solidFill>
                <a:latin typeface="微软雅黑"/>
                <a:cs typeface="微软雅黑"/>
              </a:rPr>
              <a:t>加快某部件执行速度所能获得的系统性能加速比，受限于该部件的执行时间占系统中总执</a:t>
            </a:r>
            <a:r>
              <a:rPr sz="2200" spc="-30" dirty="0">
                <a:solidFill>
                  <a:srgbClr val="0000FF"/>
                </a:solidFill>
                <a:latin typeface="微软雅黑"/>
                <a:cs typeface="微软雅黑"/>
              </a:rPr>
              <a:t>行时间的百分比。</a:t>
            </a:r>
            <a:r>
              <a:rPr sz="2200" spc="-30" dirty="0">
                <a:solidFill>
                  <a:srgbClr val="D50092"/>
                </a:solidFill>
                <a:latin typeface="微软雅黑"/>
                <a:cs typeface="微软雅黑"/>
              </a:rPr>
              <a:t>（定量指标衡量优化前后的性能变化</a:t>
            </a:r>
            <a:r>
              <a:rPr sz="2200" spc="-50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  <a:p>
            <a:pPr marL="354965" indent="-342265">
              <a:lnSpc>
                <a:spcPct val="100000"/>
              </a:lnSpc>
              <a:spcBef>
                <a:spcPts val="1385"/>
              </a:spcBef>
              <a:buSzPct val="97916"/>
              <a:buFont typeface="Wingdings"/>
              <a:buChar char=""/>
              <a:tabLst>
                <a:tab pos="354965" algn="l"/>
              </a:tabLst>
            </a:pPr>
            <a:r>
              <a:rPr sz="2400" spc="-10" dirty="0">
                <a:solidFill>
                  <a:srgbClr val="0000FF"/>
                </a:solidFill>
                <a:latin typeface="微软雅黑"/>
                <a:cs typeface="微软雅黑"/>
              </a:rPr>
              <a:t>对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改进部分的性能</a:t>
            </a:r>
            <a:r>
              <a:rPr sz="2400" spc="-20" dirty="0">
                <a:solidFill>
                  <a:srgbClr val="0000FF"/>
                </a:solidFill>
                <a:latin typeface="微软雅黑"/>
                <a:cs typeface="微软雅黑"/>
              </a:rPr>
              <a:t>进行量化</a:t>
            </a:r>
            <a:endParaRPr sz="2400">
              <a:latin typeface="微软雅黑"/>
              <a:cs typeface="微软雅黑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Clr>
                <a:srgbClr val="0000FF"/>
              </a:buClr>
              <a:buSzPct val="97916"/>
              <a:buFont typeface="Wingdings"/>
              <a:buChar char=""/>
              <a:tabLst>
                <a:tab pos="354965" algn="l"/>
              </a:tabLst>
            </a:pPr>
            <a:r>
              <a:rPr sz="2400" dirty="0">
                <a:latin typeface="微软雅黑"/>
                <a:cs typeface="微软雅黑"/>
              </a:rPr>
              <a:t>系统性能加速比（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定量指标</a:t>
            </a:r>
            <a:r>
              <a:rPr sz="2400" spc="-25" dirty="0">
                <a:latin typeface="微软雅黑"/>
                <a:cs typeface="微软雅黑"/>
              </a:rPr>
              <a:t>）：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70194" y="4427601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0" y="0"/>
                </a:moveTo>
                <a:lnTo>
                  <a:pt x="20161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18118" y="4427601"/>
            <a:ext cx="2174875" cy="0"/>
          </a:xfrm>
          <a:custGeom>
            <a:avLst/>
            <a:gdLst/>
            <a:ahLst/>
            <a:cxnLst/>
            <a:rect l="l" t="t" r="r" b="b"/>
            <a:pathLst>
              <a:path w="2174875">
                <a:moveTo>
                  <a:pt x="0" y="0"/>
                </a:moveTo>
                <a:lnTo>
                  <a:pt x="21748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581271" y="4234688"/>
            <a:ext cx="2613660" cy="671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45"/>
              </a:lnSpc>
              <a:spcBef>
                <a:spcPts val="100"/>
              </a:spcBef>
            </a:pPr>
            <a:r>
              <a:rPr sz="2400" b="1" spc="-30" dirty="0">
                <a:solidFill>
                  <a:srgbClr val="5B9BD4"/>
                </a:solidFill>
                <a:latin typeface="黑体"/>
                <a:cs typeface="黑体"/>
              </a:rPr>
              <a:t>加速比</a:t>
            </a:r>
            <a:r>
              <a:rPr sz="2400" b="1" spc="-50" dirty="0">
                <a:solidFill>
                  <a:srgbClr val="5B9BD4"/>
                </a:solidFill>
                <a:latin typeface="黑体"/>
                <a:cs typeface="黑体"/>
              </a:rPr>
              <a:t>＝</a:t>
            </a:r>
            <a:endParaRPr sz="2400">
              <a:latin typeface="黑体"/>
              <a:cs typeface="黑体"/>
            </a:endParaRPr>
          </a:p>
          <a:p>
            <a:pPr marL="1381125">
              <a:lnSpc>
                <a:spcPts val="2545"/>
              </a:lnSpc>
            </a:pPr>
            <a:r>
              <a:rPr sz="2400" spc="-15" dirty="0">
                <a:solidFill>
                  <a:srgbClr val="5B9BD4"/>
                </a:solidFill>
                <a:latin typeface="黑体"/>
                <a:cs typeface="黑体"/>
              </a:rPr>
              <a:t>系统性能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24422" y="3956430"/>
            <a:ext cx="190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30" dirty="0">
                <a:solidFill>
                  <a:srgbClr val="5B9BD4"/>
                </a:solidFill>
                <a:latin typeface="黑体"/>
                <a:cs typeface="黑体"/>
              </a:rPr>
              <a:t>系统性能</a:t>
            </a:r>
            <a:r>
              <a:rPr sz="2400" b="1" spc="-60" baseline="-20833" dirty="0">
                <a:solidFill>
                  <a:srgbClr val="5B9BD4"/>
                </a:solidFill>
                <a:latin typeface="黑体"/>
                <a:cs typeface="黑体"/>
              </a:rPr>
              <a:t>改进后</a:t>
            </a:r>
            <a:endParaRPr sz="2400" baseline="-20833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24422" y="4532757"/>
            <a:ext cx="190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B9BD4"/>
                </a:solidFill>
                <a:latin typeface="黑体"/>
                <a:cs typeface="黑体"/>
              </a:rPr>
              <a:t>系统性能</a:t>
            </a:r>
            <a:r>
              <a:rPr sz="2400" b="1" spc="-60" baseline="-20833" dirty="0">
                <a:solidFill>
                  <a:srgbClr val="5B9BD4"/>
                </a:solidFill>
                <a:latin typeface="黑体"/>
                <a:cs typeface="黑体"/>
              </a:rPr>
              <a:t>改进前</a:t>
            </a:r>
            <a:endParaRPr sz="2400" baseline="-20833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01228" y="3927424"/>
            <a:ext cx="2210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总</a:t>
            </a:r>
            <a:r>
              <a:rPr sz="3600" spc="-15" baseline="-3472" dirty="0">
                <a:solidFill>
                  <a:srgbClr val="5B9BD4"/>
                </a:solidFill>
                <a:latin typeface="黑体"/>
                <a:cs typeface="黑体"/>
              </a:rPr>
              <a:t>总</a:t>
            </a: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执</a:t>
            </a:r>
            <a:r>
              <a:rPr sz="3600" spc="-15" baseline="-3472" dirty="0">
                <a:solidFill>
                  <a:srgbClr val="5B9BD4"/>
                </a:solidFill>
                <a:latin typeface="黑体"/>
                <a:cs typeface="黑体"/>
              </a:rPr>
              <a:t>执</a:t>
            </a: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行</a:t>
            </a:r>
            <a:r>
              <a:rPr sz="3600" spc="-15" baseline="-3472" dirty="0">
                <a:solidFill>
                  <a:srgbClr val="5B9BD4"/>
                </a:solidFill>
                <a:latin typeface="黑体"/>
                <a:cs typeface="黑体"/>
              </a:rPr>
              <a:t>行</a:t>
            </a: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时</a:t>
            </a:r>
            <a:r>
              <a:rPr sz="3600" spc="-15" baseline="-3472" dirty="0">
                <a:solidFill>
                  <a:srgbClr val="5B9BD4"/>
                </a:solidFill>
                <a:latin typeface="黑体"/>
                <a:cs typeface="黑体"/>
              </a:rPr>
              <a:t>时</a:t>
            </a: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间</a:t>
            </a:r>
            <a:r>
              <a:rPr sz="3600" spc="-15" baseline="-3472" dirty="0">
                <a:solidFill>
                  <a:srgbClr val="5B9BD4"/>
                </a:solidFill>
                <a:latin typeface="黑体"/>
                <a:cs typeface="黑体"/>
              </a:rPr>
              <a:t>间</a:t>
            </a:r>
            <a:r>
              <a:rPr sz="2400" spc="-2400" baseline="-20833" dirty="0">
                <a:solidFill>
                  <a:srgbClr val="5B9BD4"/>
                </a:solidFill>
                <a:latin typeface="黑体"/>
                <a:cs typeface="黑体"/>
              </a:rPr>
              <a:t>改</a:t>
            </a:r>
            <a:r>
              <a:rPr sz="2400" spc="-1214" baseline="-26041" dirty="0">
                <a:solidFill>
                  <a:srgbClr val="5B9BD4"/>
                </a:solidFill>
                <a:latin typeface="黑体"/>
                <a:cs typeface="黑体"/>
              </a:rPr>
              <a:t>改进</a:t>
            </a:r>
            <a:r>
              <a:rPr sz="2400" spc="-1222" baseline="-20833" dirty="0">
                <a:solidFill>
                  <a:srgbClr val="5B9BD4"/>
                </a:solidFill>
                <a:latin typeface="黑体"/>
                <a:cs typeface="黑体"/>
              </a:rPr>
              <a:t>进前</a:t>
            </a:r>
            <a:r>
              <a:rPr sz="2400" spc="-75" baseline="-26041" dirty="0">
                <a:solidFill>
                  <a:srgbClr val="5B9BD4"/>
                </a:solidFill>
                <a:latin typeface="黑体"/>
                <a:cs typeface="黑体"/>
              </a:rPr>
              <a:t>前</a:t>
            </a:r>
            <a:endParaRPr sz="2400" baseline="-26041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01228" y="4535500"/>
            <a:ext cx="22129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5B9BD4"/>
                </a:solidFill>
                <a:latin typeface="黑体"/>
                <a:cs typeface="黑体"/>
              </a:rPr>
              <a:t>总执行时间</a:t>
            </a:r>
            <a:r>
              <a:rPr sz="2400" spc="-2400" baseline="-15625" dirty="0">
                <a:solidFill>
                  <a:srgbClr val="5B9BD4"/>
                </a:solidFill>
                <a:latin typeface="黑体"/>
                <a:cs typeface="黑体"/>
              </a:rPr>
              <a:t>改</a:t>
            </a:r>
            <a:r>
              <a:rPr sz="2400" spc="-30" baseline="-20833" dirty="0">
                <a:solidFill>
                  <a:srgbClr val="5B9BD4"/>
                </a:solidFill>
                <a:latin typeface="黑体"/>
                <a:cs typeface="黑体"/>
              </a:rPr>
              <a:t>改</a:t>
            </a:r>
            <a:r>
              <a:rPr sz="2400" spc="-2400" baseline="-15625" dirty="0">
                <a:solidFill>
                  <a:srgbClr val="5B9BD4"/>
                </a:solidFill>
                <a:latin typeface="黑体"/>
                <a:cs typeface="黑体"/>
              </a:rPr>
              <a:t>进</a:t>
            </a:r>
            <a:r>
              <a:rPr sz="2400" spc="-30" baseline="-20833" dirty="0">
                <a:solidFill>
                  <a:srgbClr val="5B9BD4"/>
                </a:solidFill>
                <a:latin typeface="黑体"/>
                <a:cs typeface="黑体"/>
              </a:rPr>
              <a:t>进</a:t>
            </a:r>
            <a:r>
              <a:rPr sz="2400" spc="-2400" baseline="-15625" dirty="0">
                <a:solidFill>
                  <a:srgbClr val="5B9BD4"/>
                </a:solidFill>
                <a:latin typeface="黑体"/>
                <a:cs typeface="黑体"/>
              </a:rPr>
              <a:t>后</a:t>
            </a:r>
            <a:r>
              <a:rPr sz="2400" spc="-75" baseline="-20833" dirty="0">
                <a:solidFill>
                  <a:srgbClr val="5B9BD4"/>
                </a:solidFill>
                <a:latin typeface="黑体"/>
                <a:cs typeface="黑体"/>
              </a:rPr>
              <a:t>后</a:t>
            </a:r>
            <a:endParaRPr sz="2400" baseline="-20833">
              <a:latin typeface="黑体"/>
              <a:cs typeface="黑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70194" y="4445000"/>
            <a:ext cx="2016125" cy="0"/>
          </a:xfrm>
          <a:custGeom>
            <a:avLst/>
            <a:gdLst/>
            <a:ahLst/>
            <a:cxnLst/>
            <a:rect l="l" t="t" r="r" b="b"/>
            <a:pathLst>
              <a:path w="2016125">
                <a:moveTo>
                  <a:pt x="0" y="0"/>
                </a:moveTo>
                <a:lnTo>
                  <a:pt x="20161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947152" y="4234688"/>
            <a:ext cx="1929130" cy="67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55"/>
              </a:lnSpc>
              <a:spcBef>
                <a:spcPts val="100"/>
              </a:spcBef>
            </a:pPr>
            <a:r>
              <a:rPr sz="2400" b="1" spc="-50" dirty="0">
                <a:solidFill>
                  <a:srgbClr val="5B9BD4"/>
                </a:solidFill>
                <a:latin typeface="黑体"/>
                <a:cs typeface="黑体"/>
              </a:rPr>
              <a:t>＝</a:t>
            </a:r>
            <a:endParaRPr sz="2400">
              <a:latin typeface="黑体"/>
              <a:cs typeface="黑体"/>
            </a:endParaRPr>
          </a:p>
          <a:p>
            <a:pPr marL="391795">
              <a:lnSpc>
                <a:spcPts val="2555"/>
              </a:lnSpc>
            </a:pPr>
            <a:r>
              <a:rPr sz="2400" spc="-10" dirty="0">
                <a:solidFill>
                  <a:srgbClr val="5B9BD4"/>
                </a:solidFill>
                <a:latin typeface="黑体"/>
                <a:cs typeface="黑体"/>
              </a:rPr>
              <a:t>总执行时间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18118" y="4445000"/>
            <a:ext cx="2174875" cy="0"/>
          </a:xfrm>
          <a:custGeom>
            <a:avLst/>
            <a:gdLst/>
            <a:ahLst/>
            <a:cxnLst/>
            <a:rect l="l" t="t" r="r" b="b"/>
            <a:pathLst>
              <a:path w="2174875">
                <a:moveTo>
                  <a:pt x="0" y="0"/>
                </a:moveTo>
                <a:lnTo>
                  <a:pt x="21748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15034" y="4271009"/>
            <a:ext cx="1653539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spc="-15" dirty="0">
                <a:solidFill>
                  <a:srgbClr val="FF0000"/>
                </a:solidFill>
                <a:latin typeface="微软雅黑"/>
                <a:cs typeface="微软雅黑"/>
              </a:rPr>
              <a:t>能否一次</a:t>
            </a:r>
            <a:r>
              <a:rPr sz="3200" spc="-20" dirty="0">
                <a:solidFill>
                  <a:srgbClr val="FF0000"/>
                </a:solidFill>
                <a:latin typeface="微软雅黑"/>
                <a:cs typeface="微软雅黑"/>
              </a:rPr>
              <a:t>优化全部部件？</a:t>
            </a:r>
            <a:endParaRPr sz="3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153" y="222884"/>
            <a:ext cx="113169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9236582" y="1904619"/>
            <a:ext cx="2174875" cy="0"/>
          </a:xfrm>
          <a:custGeom>
            <a:avLst/>
            <a:gdLst/>
            <a:ahLst/>
            <a:cxnLst/>
            <a:rect l="l" t="t" r="r" b="b"/>
            <a:pathLst>
              <a:path w="2174875">
                <a:moveTo>
                  <a:pt x="0" y="0"/>
                </a:moveTo>
                <a:lnTo>
                  <a:pt x="21748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788657" y="1904619"/>
            <a:ext cx="2016125" cy="17780"/>
          </a:xfrm>
          <a:custGeom>
            <a:avLst/>
            <a:gdLst/>
            <a:ahLst/>
            <a:cxnLst/>
            <a:rect l="l" t="t" r="r" b="b"/>
            <a:pathLst>
              <a:path w="2016125" h="17780">
                <a:moveTo>
                  <a:pt x="0" y="0"/>
                </a:moveTo>
                <a:lnTo>
                  <a:pt x="2016125" y="0"/>
                </a:lnTo>
              </a:path>
              <a:path w="2016125" h="17780">
                <a:moveTo>
                  <a:pt x="0" y="17398"/>
                </a:moveTo>
                <a:lnTo>
                  <a:pt x="2016125" y="1739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42759" y="1991309"/>
            <a:ext cx="19056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3600" baseline="-3472" dirty="0">
                <a:solidFill>
                  <a:srgbClr val="5B9BD4"/>
                </a:solidFill>
                <a:latin typeface="黑体"/>
                <a:cs typeface="黑体"/>
              </a:rPr>
              <a:t>系</a:t>
            </a:r>
            <a:r>
              <a:rPr sz="2400" spc="-10" dirty="0">
                <a:solidFill>
                  <a:srgbClr val="5B9BD4"/>
                </a:solidFill>
                <a:latin typeface="黑体"/>
                <a:cs typeface="黑体"/>
              </a:rPr>
              <a:t>系</a:t>
            </a:r>
            <a:r>
              <a:rPr sz="3600" spc="-3600" baseline="-3472" dirty="0">
                <a:solidFill>
                  <a:srgbClr val="5B9BD4"/>
                </a:solidFill>
                <a:latin typeface="黑体"/>
                <a:cs typeface="黑体"/>
              </a:rPr>
              <a:t>统</a:t>
            </a:r>
            <a:r>
              <a:rPr sz="2400" spc="-10" dirty="0">
                <a:solidFill>
                  <a:srgbClr val="5B9BD4"/>
                </a:solidFill>
                <a:latin typeface="黑体"/>
                <a:cs typeface="黑体"/>
              </a:rPr>
              <a:t>统</a:t>
            </a:r>
            <a:r>
              <a:rPr sz="3600" spc="-3600" baseline="-3472" dirty="0">
                <a:solidFill>
                  <a:srgbClr val="5B9BD4"/>
                </a:solidFill>
                <a:latin typeface="黑体"/>
                <a:cs typeface="黑体"/>
              </a:rPr>
              <a:t>性</a:t>
            </a:r>
            <a:r>
              <a:rPr sz="2400" spc="-10" dirty="0">
                <a:solidFill>
                  <a:srgbClr val="5B9BD4"/>
                </a:solidFill>
                <a:latin typeface="黑体"/>
                <a:cs typeface="黑体"/>
              </a:rPr>
              <a:t>性</a:t>
            </a:r>
            <a:r>
              <a:rPr sz="3600" spc="-3600" baseline="-3472" dirty="0">
                <a:solidFill>
                  <a:srgbClr val="5B9BD4"/>
                </a:solidFill>
                <a:latin typeface="黑体"/>
                <a:cs typeface="黑体"/>
              </a:rPr>
              <a:t>能</a:t>
            </a:r>
            <a:r>
              <a:rPr sz="2400" spc="-10" dirty="0">
                <a:solidFill>
                  <a:srgbClr val="5B9BD4"/>
                </a:solidFill>
                <a:latin typeface="黑体"/>
                <a:cs typeface="黑体"/>
              </a:rPr>
              <a:t>能</a:t>
            </a:r>
            <a:r>
              <a:rPr sz="2400" spc="-2400" baseline="-26041" dirty="0">
                <a:solidFill>
                  <a:srgbClr val="5B9BD4"/>
                </a:solidFill>
                <a:latin typeface="黑体"/>
                <a:cs typeface="黑体"/>
              </a:rPr>
              <a:t>改</a:t>
            </a:r>
            <a:r>
              <a:rPr sz="2400" spc="-44" baseline="-20833" dirty="0">
                <a:solidFill>
                  <a:srgbClr val="5B9BD4"/>
                </a:solidFill>
                <a:latin typeface="黑体"/>
                <a:cs typeface="黑体"/>
              </a:rPr>
              <a:t>改</a:t>
            </a:r>
            <a:r>
              <a:rPr sz="2400" spc="-2400" baseline="-26041" dirty="0">
                <a:solidFill>
                  <a:srgbClr val="5B9BD4"/>
                </a:solidFill>
                <a:latin typeface="黑体"/>
                <a:cs typeface="黑体"/>
              </a:rPr>
              <a:t>进</a:t>
            </a:r>
            <a:r>
              <a:rPr sz="2400" spc="-30" baseline="-20833" dirty="0">
                <a:solidFill>
                  <a:srgbClr val="5B9BD4"/>
                </a:solidFill>
                <a:latin typeface="黑体"/>
                <a:cs typeface="黑体"/>
              </a:rPr>
              <a:t>进</a:t>
            </a:r>
            <a:r>
              <a:rPr sz="2400" spc="-2400" baseline="-26041" dirty="0">
                <a:solidFill>
                  <a:srgbClr val="5B9BD4"/>
                </a:solidFill>
                <a:latin typeface="黑体"/>
                <a:cs typeface="黑体"/>
              </a:rPr>
              <a:t>前</a:t>
            </a:r>
            <a:r>
              <a:rPr sz="2400" spc="-75" baseline="-20833" dirty="0">
                <a:solidFill>
                  <a:srgbClr val="5B9BD4"/>
                </a:solidFill>
                <a:latin typeface="黑体"/>
                <a:cs typeface="黑体"/>
              </a:rPr>
              <a:t>前</a:t>
            </a:r>
            <a:endParaRPr sz="2400" baseline="-20833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19565" y="2012441"/>
            <a:ext cx="2213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b="1" spc="-30" dirty="0">
                <a:solidFill>
                  <a:srgbClr val="5B9BD4"/>
                </a:solidFill>
                <a:latin typeface="黑体"/>
                <a:cs typeface="黑体"/>
              </a:rPr>
              <a:t>总执行时间</a:t>
            </a:r>
            <a:r>
              <a:rPr sz="2400" b="1" spc="-60" baseline="-20833" dirty="0">
                <a:solidFill>
                  <a:srgbClr val="5B9BD4"/>
                </a:solidFill>
                <a:latin typeface="黑体"/>
                <a:cs typeface="黑体"/>
              </a:rPr>
              <a:t>改进后</a:t>
            </a:r>
            <a:endParaRPr sz="2400" baseline="-20833">
              <a:latin typeface="黑体"/>
              <a:cs typeface="黑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6778" y="635647"/>
            <a:ext cx="11031220" cy="1449705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1795"/>
              </a:spcBef>
              <a:buClr>
                <a:srgbClr val="0000FF"/>
              </a:buClr>
              <a:buSzPct val="97916"/>
              <a:buFont typeface="Wingdings"/>
              <a:buChar char=""/>
              <a:tabLst>
                <a:tab pos="38036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、</a:t>
            </a:r>
            <a:r>
              <a:rPr sz="2400" spc="-10" dirty="0">
                <a:latin typeface="Times New Roman"/>
                <a:cs typeface="Times New Roman"/>
              </a:rPr>
              <a:t>Amdahl</a:t>
            </a:r>
            <a:r>
              <a:rPr sz="2400" dirty="0">
                <a:latin typeface="微软雅黑"/>
                <a:cs typeface="微软雅黑"/>
              </a:rPr>
              <a:t>定律（</a:t>
            </a:r>
            <a:r>
              <a:rPr sz="2400" dirty="0">
                <a:solidFill>
                  <a:srgbClr val="333333"/>
                </a:solidFill>
                <a:latin typeface="微软雅黑"/>
                <a:cs typeface="微软雅黑"/>
              </a:rPr>
              <a:t>阿姆达尔定律</a:t>
            </a:r>
            <a:r>
              <a:rPr sz="2400" dirty="0">
                <a:latin typeface="微软雅黑"/>
                <a:cs typeface="微软雅黑"/>
              </a:rPr>
              <a:t>）：系统性能加速比（</a:t>
            </a: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定量指标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6443980">
              <a:lnSpc>
                <a:spcPts val="2465"/>
              </a:lnSpc>
              <a:spcBef>
                <a:spcPts val="1700"/>
              </a:spcBef>
              <a:tabLst>
                <a:tab pos="8820785" algn="l"/>
              </a:tabLst>
            </a:pP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系</a:t>
            </a:r>
            <a:r>
              <a:rPr sz="3600" spc="-15" baseline="3472" dirty="0">
                <a:solidFill>
                  <a:srgbClr val="5B9BD4"/>
                </a:solidFill>
                <a:latin typeface="黑体"/>
                <a:cs typeface="黑体"/>
              </a:rPr>
              <a:t>系</a:t>
            </a: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统</a:t>
            </a:r>
            <a:r>
              <a:rPr sz="3600" spc="-15" baseline="3472" dirty="0">
                <a:solidFill>
                  <a:srgbClr val="5B9BD4"/>
                </a:solidFill>
                <a:latin typeface="黑体"/>
                <a:cs typeface="黑体"/>
              </a:rPr>
              <a:t>统</a:t>
            </a: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性</a:t>
            </a:r>
            <a:r>
              <a:rPr sz="3600" spc="-15" baseline="3472" dirty="0">
                <a:solidFill>
                  <a:srgbClr val="5B9BD4"/>
                </a:solidFill>
                <a:latin typeface="黑体"/>
                <a:cs typeface="黑体"/>
              </a:rPr>
              <a:t>性</a:t>
            </a: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能</a:t>
            </a:r>
            <a:r>
              <a:rPr sz="3600" spc="-15" baseline="3472" dirty="0">
                <a:solidFill>
                  <a:srgbClr val="5B9BD4"/>
                </a:solidFill>
                <a:latin typeface="黑体"/>
                <a:cs typeface="黑体"/>
              </a:rPr>
              <a:t>能</a:t>
            </a:r>
            <a:r>
              <a:rPr sz="2400" b="1" spc="-60" baseline="-20833" dirty="0">
                <a:solidFill>
                  <a:srgbClr val="5B9BD4"/>
                </a:solidFill>
                <a:latin typeface="黑体"/>
                <a:cs typeface="黑体"/>
              </a:rPr>
              <a:t>改</a:t>
            </a:r>
            <a:r>
              <a:rPr sz="2400" b="1" spc="-44" baseline="-20833" dirty="0">
                <a:solidFill>
                  <a:srgbClr val="5B9BD4"/>
                </a:solidFill>
                <a:latin typeface="黑体"/>
                <a:cs typeface="黑体"/>
              </a:rPr>
              <a:t>进</a:t>
            </a:r>
            <a:r>
              <a:rPr sz="2400" b="1" spc="-75" baseline="-20833" dirty="0">
                <a:solidFill>
                  <a:srgbClr val="5B9BD4"/>
                </a:solidFill>
                <a:latin typeface="黑体"/>
                <a:cs typeface="黑体"/>
              </a:rPr>
              <a:t>后</a:t>
            </a:r>
            <a:r>
              <a:rPr sz="2400" b="1" baseline="-20833" dirty="0">
                <a:solidFill>
                  <a:srgbClr val="5B9BD4"/>
                </a:solidFill>
                <a:latin typeface="黑体"/>
                <a:cs typeface="黑体"/>
              </a:rPr>
              <a:t>	</a:t>
            </a:r>
            <a:r>
              <a:rPr sz="3600" b="1" spc="-44" baseline="2314" dirty="0">
                <a:solidFill>
                  <a:srgbClr val="5B9BD4"/>
                </a:solidFill>
                <a:latin typeface="黑体"/>
                <a:cs typeface="黑体"/>
              </a:rPr>
              <a:t>总执行时间</a:t>
            </a:r>
            <a:r>
              <a:rPr sz="2400" b="1" spc="-44" baseline="-17361" dirty="0">
                <a:solidFill>
                  <a:srgbClr val="5B9BD4"/>
                </a:solidFill>
                <a:latin typeface="黑体"/>
                <a:cs typeface="黑体"/>
              </a:rPr>
              <a:t>改</a:t>
            </a:r>
            <a:r>
              <a:rPr sz="2400" b="1" spc="-60" baseline="-17361" dirty="0">
                <a:solidFill>
                  <a:srgbClr val="5B9BD4"/>
                </a:solidFill>
                <a:latin typeface="黑体"/>
                <a:cs typeface="黑体"/>
              </a:rPr>
              <a:t>进</a:t>
            </a:r>
            <a:r>
              <a:rPr sz="2400" b="1" spc="-75" baseline="-17361" dirty="0">
                <a:solidFill>
                  <a:srgbClr val="5B9BD4"/>
                </a:solidFill>
                <a:latin typeface="黑体"/>
                <a:cs typeface="黑体"/>
              </a:rPr>
              <a:t>前</a:t>
            </a:r>
            <a:endParaRPr sz="2400" baseline="-17361">
              <a:latin typeface="黑体"/>
              <a:cs typeface="黑体"/>
            </a:endParaRPr>
          </a:p>
          <a:p>
            <a:pPr marL="5074920">
              <a:lnSpc>
                <a:spcPts val="2465"/>
              </a:lnSpc>
              <a:tabLst>
                <a:tab pos="8441055" algn="l"/>
              </a:tabLst>
            </a:pP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加</a:t>
            </a:r>
            <a:r>
              <a:rPr sz="3600" spc="-15" baseline="-3472" dirty="0">
                <a:solidFill>
                  <a:srgbClr val="5B9BD4"/>
                </a:solidFill>
                <a:latin typeface="黑体"/>
                <a:cs typeface="黑体"/>
              </a:rPr>
              <a:t>加</a:t>
            </a: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速</a:t>
            </a:r>
            <a:r>
              <a:rPr sz="3600" spc="-15" baseline="-3472" dirty="0">
                <a:solidFill>
                  <a:srgbClr val="5B9BD4"/>
                </a:solidFill>
                <a:latin typeface="黑体"/>
                <a:cs typeface="黑体"/>
              </a:rPr>
              <a:t>速</a:t>
            </a:r>
            <a:r>
              <a:rPr sz="2400" spc="-2400" dirty="0">
                <a:solidFill>
                  <a:srgbClr val="5B9BD4"/>
                </a:solidFill>
                <a:latin typeface="黑体"/>
                <a:cs typeface="黑体"/>
              </a:rPr>
              <a:t>比</a:t>
            </a:r>
            <a:r>
              <a:rPr sz="3600" spc="-15" baseline="-3472" dirty="0">
                <a:solidFill>
                  <a:srgbClr val="5B9BD4"/>
                </a:solidFill>
                <a:latin typeface="黑体"/>
                <a:cs typeface="黑体"/>
              </a:rPr>
              <a:t>比</a:t>
            </a:r>
            <a:r>
              <a:rPr sz="2400" spc="-2455" dirty="0">
                <a:solidFill>
                  <a:srgbClr val="5B9BD4"/>
                </a:solidFill>
                <a:latin typeface="黑体"/>
                <a:cs typeface="黑体"/>
              </a:rPr>
              <a:t>＝</a:t>
            </a:r>
            <a:r>
              <a:rPr sz="3600" spc="-82" baseline="-3472" dirty="0">
                <a:solidFill>
                  <a:srgbClr val="5B9BD4"/>
                </a:solidFill>
                <a:latin typeface="黑体"/>
                <a:cs typeface="黑体"/>
              </a:rPr>
              <a:t>＝</a:t>
            </a:r>
            <a:r>
              <a:rPr sz="3600" baseline="-3472" dirty="0">
                <a:solidFill>
                  <a:srgbClr val="5B9BD4"/>
                </a:solidFill>
                <a:latin typeface="黑体"/>
                <a:cs typeface="黑体"/>
              </a:rPr>
              <a:t>	</a:t>
            </a:r>
            <a:r>
              <a:rPr sz="2400" spc="-2455" dirty="0">
                <a:solidFill>
                  <a:srgbClr val="5B9BD4"/>
                </a:solidFill>
                <a:latin typeface="黑体"/>
                <a:cs typeface="黑体"/>
              </a:rPr>
              <a:t>＝</a:t>
            </a:r>
            <a:r>
              <a:rPr sz="3600" spc="-82" baseline="-3472" dirty="0">
                <a:solidFill>
                  <a:srgbClr val="5B9BD4"/>
                </a:solidFill>
                <a:latin typeface="黑体"/>
                <a:cs typeface="黑体"/>
              </a:rPr>
              <a:t>＝</a:t>
            </a:r>
            <a:endParaRPr sz="3600" baseline="-3472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36582" y="1922017"/>
            <a:ext cx="2174875" cy="0"/>
          </a:xfrm>
          <a:custGeom>
            <a:avLst/>
            <a:gdLst/>
            <a:ahLst/>
            <a:cxnLst/>
            <a:rect l="l" t="t" r="r" b="b"/>
            <a:pathLst>
              <a:path w="2174875">
                <a:moveTo>
                  <a:pt x="0" y="0"/>
                </a:moveTo>
                <a:lnTo>
                  <a:pt x="217487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99110" y="2320422"/>
            <a:ext cx="11922125" cy="40538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507365" indent="-456565">
              <a:lnSpc>
                <a:spcPct val="100000"/>
              </a:lnSpc>
              <a:spcBef>
                <a:spcPts val="819"/>
              </a:spcBef>
              <a:buClr>
                <a:srgbClr val="0000FF"/>
              </a:buClr>
              <a:buFont typeface="Wingdings"/>
              <a:buChar char=""/>
              <a:tabLst>
                <a:tab pos="507365" algn="l"/>
              </a:tabLst>
            </a:pPr>
            <a:r>
              <a:rPr sz="2400" spc="-5" dirty="0">
                <a:latin typeface="微软雅黑"/>
                <a:cs typeface="微软雅黑"/>
              </a:rPr>
              <a:t>加速比依赖于</a:t>
            </a:r>
            <a:r>
              <a:rPr sz="2400" spc="-15" dirty="0">
                <a:solidFill>
                  <a:srgbClr val="FF0000"/>
                </a:solidFill>
                <a:latin typeface="微软雅黑"/>
                <a:cs typeface="微软雅黑"/>
              </a:rPr>
              <a:t>两个因素</a:t>
            </a:r>
            <a:endParaRPr sz="2400">
              <a:latin typeface="微软雅黑"/>
              <a:cs typeface="微软雅黑"/>
            </a:endParaRPr>
          </a:p>
          <a:p>
            <a:pPr marL="563245" marR="715010" lvl="1" indent="-227965">
              <a:lnSpc>
                <a:spcPts val="3200"/>
              </a:lnSpc>
              <a:spcBef>
                <a:spcPts val="45"/>
              </a:spcBef>
              <a:buClr>
                <a:srgbClr val="FFC000"/>
              </a:buClr>
              <a:buFont typeface="Wingdings"/>
              <a:buChar char=""/>
              <a:tabLst>
                <a:tab pos="2748280" algn="l"/>
              </a:tabLst>
            </a:pPr>
            <a:r>
              <a:rPr sz="2000" spc="-5" dirty="0">
                <a:solidFill>
                  <a:srgbClr val="FF0000"/>
                </a:solidFill>
                <a:latin typeface="微软雅黑"/>
                <a:cs typeface="微软雅黑"/>
              </a:rPr>
              <a:t>可改进比例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（</a:t>
            </a:r>
            <a:r>
              <a:rPr sz="2000" dirty="0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sz="1950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e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）：</a:t>
            </a:r>
            <a:r>
              <a:rPr sz="2000" spc="-20" dirty="0">
                <a:latin typeface="微软雅黑"/>
                <a:cs typeface="微软雅黑"/>
              </a:rPr>
              <a:t>在改进前的系统中，可改进部分的执行时间在总的执行时间中所占的比例。	</a:t>
            </a:r>
            <a:r>
              <a:rPr sz="2000" dirty="0">
                <a:latin typeface="微软雅黑"/>
                <a:cs typeface="微软雅黑"/>
              </a:rPr>
              <a:t>它总是小于等于</a:t>
            </a:r>
            <a:r>
              <a:rPr sz="2000" dirty="0">
                <a:latin typeface="宋体"/>
                <a:cs typeface="宋体"/>
              </a:rPr>
              <a:t>1</a:t>
            </a:r>
            <a:r>
              <a:rPr sz="2000" spc="-50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525780">
              <a:lnSpc>
                <a:spcPct val="100000"/>
              </a:lnSpc>
              <a:spcBef>
                <a:spcPts val="570"/>
              </a:spcBef>
            </a:pPr>
            <a:r>
              <a:rPr sz="2000" spc="-5" dirty="0">
                <a:solidFill>
                  <a:srgbClr val="006FC0"/>
                </a:solidFill>
                <a:latin typeface="微软雅黑"/>
                <a:cs typeface="微软雅黑"/>
              </a:rPr>
              <a:t>例如：一个需运行</a:t>
            </a:r>
            <a:r>
              <a:rPr sz="2000" spc="-10" dirty="0">
                <a:solidFill>
                  <a:srgbClr val="006FC0"/>
                </a:solidFill>
                <a:latin typeface="宋体"/>
                <a:cs typeface="宋体"/>
              </a:rPr>
              <a:t>60</a:t>
            </a:r>
            <a:r>
              <a:rPr sz="2000" spc="-15" dirty="0">
                <a:solidFill>
                  <a:srgbClr val="006FC0"/>
                </a:solidFill>
                <a:latin typeface="微软雅黑"/>
                <a:cs typeface="微软雅黑"/>
              </a:rPr>
              <a:t>秒的程序中有</a:t>
            </a:r>
            <a:r>
              <a:rPr sz="2000" spc="-10" dirty="0">
                <a:solidFill>
                  <a:srgbClr val="006FC0"/>
                </a:solidFill>
                <a:latin typeface="宋体"/>
                <a:cs typeface="宋体"/>
              </a:rPr>
              <a:t>20</a:t>
            </a:r>
            <a:r>
              <a:rPr sz="2000" spc="-15" dirty="0">
                <a:solidFill>
                  <a:srgbClr val="006FC0"/>
                </a:solidFill>
                <a:latin typeface="微软雅黑"/>
                <a:cs typeface="微软雅黑"/>
              </a:rPr>
              <a:t>秒的运算可以加速，那么这个比例就是</a:t>
            </a:r>
            <a:r>
              <a:rPr sz="2000" spc="-10" dirty="0">
                <a:solidFill>
                  <a:srgbClr val="006FC0"/>
                </a:solidFill>
                <a:latin typeface="宋体"/>
                <a:cs typeface="宋体"/>
              </a:rPr>
              <a:t>20/60</a:t>
            </a:r>
            <a:r>
              <a:rPr sz="2000" spc="-50" dirty="0">
                <a:solidFill>
                  <a:srgbClr val="006FC0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2000">
              <a:latin typeface="微软雅黑"/>
              <a:cs typeface="微软雅黑"/>
            </a:endParaRPr>
          </a:p>
          <a:p>
            <a:pPr marL="563880" marR="142875" lvl="1" indent="-228600">
              <a:lnSpc>
                <a:spcPct val="112500"/>
              </a:lnSpc>
              <a:buClr>
                <a:srgbClr val="FFC000"/>
              </a:buClr>
              <a:buFont typeface="Wingdings"/>
              <a:buChar char=""/>
              <a:tabLst>
                <a:tab pos="563880" algn="l"/>
              </a:tabLst>
            </a:pPr>
            <a:r>
              <a:rPr sz="2000" spc="-5" dirty="0">
                <a:solidFill>
                  <a:srgbClr val="FF0000"/>
                </a:solidFill>
                <a:latin typeface="微软雅黑"/>
                <a:cs typeface="微软雅黑"/>
              </a:rPr>
              <a:t>部件加速比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（</a:t>
            </a:r>
            <a:r>
              <a:rPr sz="2000" dirty="0">
                <a:solidFill>
                  <a:srgbClr val="6600FF"/>
                </a:solidFill>
                <a:latin typeface="Times New Roman"/>
                <a:cs typeface="Times New Roman"/>
              </a:rPr>
              <a:t>S</a:t>
            </a:r>
            <a:r>
              <a:rPr sz="1950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e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）（</a:t>
            </a:r>
            <a:r>
              <a:rPr sz="2000" spc="-5" dirty="0">
                <a:solidFill>
                  <a:srgbClr val="FF0000"/>
                </a:solidFill>
                <a:latin typeface="微软雅黑"/>
                <a:cs typeface="微软雅黑"/>
              </a:rPr>
              <a:t>引入该参数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r>
              <a:rPr sz="2000" spc="-65" dirty="0">
                <a:solidFill>
                  <a:srgbClr val="FF0000"/>
                </a:solidFill>
                <a:latin typeface="微软雅黑"/>
                <a:cs typeface="微软雅黑"/>
              </a:rPr>
              <a:t> ：</a:t>
            </a:r>
            <a:r>
              <a:rPr sz="2000" spc="-10" dirty="0">
                <a:latin typeface="微软雅黑"/>
                <a:cs typeface="微软雅黑"/>
              </a:rPr>
              <a:t>可改进部分改进以后性能提高的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倍数</a:t>
            </a:r>
            <a:r>
              <a:rPr sz="2000" spc="-20" dirty="0">
                <a:latin typeface="微软雅黑"/>
                <a:cs typeface="微软雅黑"/>
              </a:rPr>
              <a:t>。它是改进前所需的执行时</a:t>
            </a:r>
            <a:r>
              <a:rPr sz="2000" spc="-10" dirty="0">
                <a:latin typeface="微软雅黑"/>
                <a:cs typeface="微软雅黑"/>
              </a:rPr>
              <a:t>间与改进后执行时间的比。</a:t>
            </a:r>
            <a:endParaRPr sz="2000">
              <a:latin typeface="微软雅黑"/>
              <a:cs typeface="微软雅黑"/>
            </a:endParaRPr>
          </a:p>
          <a:p>
            <a:pPr marL="780415">
              <a:lnSpc>
                <a:spcPct val="100000"/>
              </a:lnSpc>
              <a:spcBef>
                <a:spcPts val="805"/>
              </a:spcBef>
            </a:pPr>
            <a:r>
              <a:rPr sz="2000" spc="-10" dirty="0">
                <a:latin typeface="微软雅黑"/>
                <a:cs typeface="微软雅黑"/>
              </a:rPr>
              <a:t>一般情况下部件加速比是大于</a:t>
            </a:r>
            <a:r>
              <a:rPr sz="2000" dirty="0">
                <a:latin typeface="宋体"/>
                <a:cs typeface="宋体"/>
              </a:rPr>
              <a:t>1</a:t>
            </a:r>
            <a:r>
              <a:rPr sz="2000" spc="-35" dirty="0">
                <a:latin typeface="微软雅黑"/>
                <a:cs typeface="微软雅黑"/>
              </a:rPr>
              <a:t>的。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2000">
              <a:latin typeface="微软雅黑"/>
              <a:cs typeface="微软雅黑"/>
            </a:endParaRPr>
          </a:p>
          <a:p>
            <a:pPr marL="335280">
              <a:lnSpc>
                <a:spcPct val="100000"/>
              </a:lnSpc>
            </a:pPr>
            <a:r>
              <a:rPr sz="2000" spc="-15" dirty="0">
                <a:solidFill>
                  <a:srgbClr val="006FC0"/>
                </a:solidFill>
                <a:latin typeface="微软雅黑"/>
                <a:cs typeface="微软雅黑"/>
              </a:rPr>
              <a:t>例如：若系统改进后，可改进部分的执行时间是</a:t>
            </a:r>
            <a:r>
              <a:rPr sz="2000" dirty="0">
                <a:solidFill>
                  <a:srgbClr val="006FC0"/>
                </a:solidFill>
                <a:latin typeface="宋体"/>
                <a:cs typeface="宋体"/>
              </a:rPr>
              <a:t>2</a:t>
            </a:r>
            <a:r>
              <a:rPr sz="2000" spc="-15" dirty="0">
                <a:solidFill>
                  <a:srgbClr val="006FC0"/>
                </a:solidFill>
                <a:latin typeface="微软雅黑"/>
                <a:cs typeface="微软雅黑"/>
              </a:rPr>
              <a:t>秒，而改进前其执行时间为</a:t>
            </a:r>
            <a:r>
              <a:rPr sz="2000" dirty="0">
                <a:solidFill>
                  <a:srgbClr val="006FC0"/>
                </a:solidFill>
                <a:latin typeface="宋体"/>
                <a:cs typeface="宋体"/>
              </a:rPr>
              <a:t>5</a:t>
            </a:r>
            <a:r>
              <a:rPr sz="2000" spc="-15" dirty="0">
                <a:solidFill>
                  <a:srgbClr val="006FC0"/>
                </a:solidFill>
                <a:latin typeface="微软雅黑"/>
                <a:cs typeface="微软雅黑"/>
              </a:rPr>
              <a:t>秒，则部件加速比为</a:t>
            </a:r>
            <a:r>
              <a:rPr sz="2000" spc="-10" dirty="0">
                <a:solidFill>
                  <a:srgbClr val="006FC0"/>
                </a:solidFill>
                <a:latin typeface="宋体"/>
                <a:cs typeface="宋体"/>
              </a:rPr>
              <a:t>5/2</a:t>
            </a:r>
            <a:r>
              <a:rPr sz="2000" spc="-50" dirty="0">
                <a:solidFill>
                  <a:srgbClr val="006FC0"/>
                </a:solidFill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898" y="950467"/>
            <a:ext cx="49301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SzPct val="98214"/>
              <a:buFont typeface="Wingdings"/>
              <a:buChar char=""/>
              <a:tabLst>
                <a:tab pos="354965" algn="l"/>
              </a:tabLst>
            </a:pPr>
            <a:r>
              <a:rPr sz="2800" b="1" spc="-10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800" b="1" spc="-35" dirty="0">
                <a:solidFill>
                  <a:srgbClr val="006FC0"/>
                </a:solidFill>
                <a:latin typeface="微软雅黑"/>
                <a:cs typeface="微软雅黑"/>
              </a:rPr>
              <a:t>、</a:t>
            </a:r>
            <a:r>
              <a:rPr sz="2400" spc="-10" dirty="0">
                <a:latin typeface="Times New Roman"/>
                <a:cs typeface="Times New Roman"/>
              </a:rPr>
              <a:t>Amdahl</a:t>
            </a:r>
            <a:r>
              <a:rPr sz="2400" dirty="0">
                <a:latin typeface="微软雅黑"/>
                <a:cs typeface="微软雅黑"/>
              </a:rPr>
              <a:t>定律（阿姆达尔定律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0916" y="3311779"/>
            <a:ext cx="417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indent="-457200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495300" algn="l"/>
              </a:tabLst>
            </a:pPr>
            <a:r>
              <a:rPr sz="2400" dirty="0">
                <a:latin typeface="微软雅黑"/>
                <a:cs typeface="微软雅黑"/>
              </a:rPr>
              <a:t>改进后程序的总执行时间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spc="-37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81136" y="3476818"/>
            <a:ext cx="398780" cy="0"/>
          </a:xfrm>
          <a:custGeom>
            <a:avLst/>
            <a:gdLst/>
            <a:ahLst/>
            <a:cxnLst/>
            <a:rect l="l" t="t" r="r" b="b"/>
            <a:pathLst>
              <a:path w="398779">
                <a:moveTo>
                  <a:pt x="0" y="0"/>
                </a:moveTo>
                <a:lnTo>
                  <a:pt x="398475" y="0"/>
                </a:lnTo>
              </a:path>
            </a:pathLst>
          </a:custGeom>
          <a:ln w="126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08463" y="3270129"/>
            <a:ext cx="1536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95" dirty="0">
                <a:latin typeface="Symbol"/>
                <a:cs typeface="Symbol"/>
              </a:rPr>
              <a:t>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3885" y="3270129"/>
            <a:ext cx="1536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95" dirty="0">
                <a:latin typeface="Symbol"/>
                <a:cs typeface="Symbol"/>
              </a:rPr>
              <a:t>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3885" y="3509140"/>
            <a:ext cx="187833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36725" algn="l"/>
              </a:tabLst>
            </a:pPr>
            <a:r>
              <a:rPr sz="2250" spc="95" dirty="0">
                <a:latin typeface="Symbol"/>
                <a:cs typeface="Symbol"/>
              </a:rPr>
              <a:t></a:t>
            </a:r>
            <a:r>
              <a:rPr sz="2250" dirty="0">
                <a:latin typeface="Times New Roman"/>
                <a:cs typeface="Times New Roman"/>
              </a:rPr>
              <a:t>	</a:t>
            </a:r>
            <a:r>
              <a:rPr sz="2250" spc="95" dirty="0">
                <a:latin typeface="Symbol"/>
                <a:cs typeface="Symbol"/>
              </a:rPr>
              <a:t>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83885" y="3088008"/>
            <a:ext cx="15367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95" dirty="0">
                <a:latin typeface="Symbol"/>
                <a:cs typeface="Symbol"/>
              </a:rPr>
              <a:t>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18886" y="3472465"/>
            <a:ext cx="34544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i="1" spc="160" dirty="0">
                <a:latin typeface="Times New Roman"/>
                <a:cs typeface="Times New Roman"/>
              </a:rPr>
              <a:t>Se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03307" y="3069683"/>
            <a:ext cx="55880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i="1" spc="160" dirty="0">
                <a:latin typeface="Times New Roman"/>
                <a:cs typeface="Times New Roman"/>
              </a:rPr>
              <a:t>Fe</a:t>
            </a:r>
            <a:r>
              <a:rPr sz="2250" i="1" spc="-90" dirty="0">
                <a:latin typeface="Times New Roman"/>
                <a:cs typeface="Times New Roman"/>
              </a:rPr>
              <a:t> </a:t>
            </a:r>
            <a:r>
              <a:rPr sz="3375" spc="142" baseline="-3703" dirty="0">
                <a:latin typeface="Symbol"/>
                <a:cs typeface="Symbol"/>
              </a:rPr>
              <a:t></a:t>
            </a:r>
            <a:endParaRPr sz="3375" baseline="-3703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82086" y="3249882"/>
            <a:ext cx="223202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6880" algn="l"/>
                <a:tab pos="1143000" algn="l"/>
              </a:tabLst>
            </a:pPr>
            <a:r>
              <a:rPr sz="2250" i="1" spc="160" dirty="0">
                <a:latin typeface="Times New Roman"/>
                <a:cs typeface="Times New Roman"/>
              </a:rPr>
              <a:t>T</a:t>
            </a:r>
            <a:r>
              <a:rPr sz="2250" i="1" dirty="0">
                <a:latin typeface="Times New Roman"/>
                <a:cs typeface="Times New Roman"/>
              </a:rPr>
              <a:t>	</a:t>
            </a:r>
            <a:r>
              <a:rPr sz="2250" spc="195" dirty="0">
                <a:latin typeface="Symbol"/>
                <a:cs typeface="Symbol"/>
              </a:rPr>
              <a:t></a:t>
            </a:r>
            <a:r>
              <a:rPr sz="2250" spc="-165" dirty="0">
                <a:latin typeface="Times New Roman"/>
                <a:cs typeface="Times New Roman"/>
              </a:rPr>
              <a:t> </a:t>
            </a:r>
            <a:r>
              <a:rPr sz="2250" i="1" spc="150" dirty="0">
                <a:latin typeface="Times New Roman"/>
                <a:cs typeface="Times New Roman"/>
              </a:rPr>
              <a:t>T</a:t>
            </a:r>
            <a:r>
              <a:rPr sz="2250" i="1" dirty="0">
                <a:latin typeface="Times New Roman"/>
                <a:cs typeface="Times New Roman"/>
              </a:rPr>
              <a:t>	</a:t>
            </a:r>
            <a:r>
              <a:rPr sz="2250" spc="180" dirty="0">
                <a:latin typeface="Times New Roman"/>
                <a:cs typeface="Times New Roman"/>
              </a:rPr>
              <a:t>1</a:t>
            </a:r>
            <a:r>
              <a:rPr sz="2250" spc="-240" dirty="0">
                <a:latin typeface="Times New Roman"/>
                <a:cs typeface="Times New Roman"/>
              </a:rPr>
              <a:t> </a:t>
            </a:r>
            <a:r>
              <a:rPr sz="2250" spc="195" dirty="0">
                <a:latin typeface="Symbol"/>
                <a:cs typeface="Symbol"/>
              </a:rPr>
              <a:t></a:t>
            </a:r>
            <a:r>
              <a:rPr sz="2250" spc="70" dirty="0">
                <a:latin typeface="Times New Roman"/>
                <a:cs typeface="Times New Roman"/>
              </a:rPr>
              <a:t> </a:t>
            </a:r>
            <a:r>
              <a:rPr sz="2250" i="1" spc="160" dirty="0">
                <a:latin typeface="Times New Roman"/>
                <a:cs typeface="Times New Roman"/>
              </a:rPr>
              <a:t>Fe</a:t>
            </a:r>
            <a:r>
              <a:rPr sz="2250" i="1" spc="20" dirty="0">
                <a:latin typeface="Times New Roman"/>
                <a:cs typeface="Times New Roman"/>
              </a:rPr>
              <a:t> </a:t>
            </a:r>
            <a:r>
              <a:rPr sz="2250" spc="145" dirty="0">
                <a:latin typeface="Symbol"/>
                <a:cs typeface="Symbol"/>
              </a:rPr>
              <a:t>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64636" y="3398791"/>
            <a:ext cx="801370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6750" algn="l"/>
              </a:tabLst>
            </a:pPr>
            <a:r>
              <a:rPr sz="1600" i="1" spc="100" dirty="0">
                <a:latin typeface="Times New Roman"/>
                <a:cs typeface="Times New Roman"/>
              </a:rPr>
              <a:t>n</a:t>
            </a:r>
            <a:r>
              <a:rPr sz="1600" i="1" dirty="0">
                <a:latin typeface="Times New Roman"/>
                <a:cs typeface="Times New Roman"/>
              </a:rPr>
              <a:t>	</a:t>
            </a:r>
            <a:r>
              <a:rPr sz="1600" spc="100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8555" y="4876038"/>
            <a:ext cx="63950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7045" indent="-448945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487045" algn="l"/>
              </a:tabLst>
            </a:pPr>
            <a:r>
              <a:rPr sz="2400" dirty="0">
                <a:latin typeface="微软雅黑"/>
                <a:cs typeface="微软雅黑"/>
              </a:rPr>
              <a:t>系统加速比，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r>
              <a:rPr sz="1950" baseline="-21367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sz="2000" spc="-20" dirty="0">
                <a:solidFill>
                  <a:srgbClr val="CC3300"/>
                </a:solidFill>
                <a:latin typeface="黑体"/>
                <a:cs typeface="黑体"/>
              </a:rPr>
              <a:t>为改进前与改进后总执行时间之比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031676" y="5612398"/>
            <a:ext cx="316865" cy="0"/>
          </a:xfrm>
          <a:custGeom>
            <a:avLst/>
            <a:gdLst/>
            <a:ahLst/>
            <a:cxnLst/>
            <a:rect l="l" t="t" r="r" b="b"/>
            <a:pathLst>
              <a:path w="316865">
                <a:moveTo>
                  <a:pt x="0" y="0"/>
                </a:moveTo>
                <a:lnTo>
                  <a:pt x="316754" y="0"/>
                </a:lnTo>
              </a:path>
            </a:pathLst>
          </a:custGeom>
          <a:ln w="16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703249" y="5663989"/>
            <a:ext cx="1297940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50" spc="-97" baseline="-3174" dirty="0">
                <a:latin typeface="Symbol"/>
                <a:cs typeface="Symbol"/>
              </a:rPr>
              <a:t></a:t>
            </a:r>
            <a:r>
              <a:rPr sz="2650" spc="-65" dirty="0">
                <a:latin typeface="Times New Roman"/>
                <a:cs typeface="Times New Roman"/>
              </a:rPr>
              <a:t>1</a:t>
            </a:r>
            <a:r>
              <a:rPr sz="2650" spc="-65" dirty="0">
                <a:latin typeface="Symbol"/>
                <a:cs typeface="Symbol"/>
              </a:rPr>
              <a:t></a:t>
            </a:r>
            <a:r>
              <a:rPr sz="2650" spc="-120" dirty="0">
                <a:latin typeface="Times New Roman"/>
                <a:cs typeface="Times New Roman"/>
              </a:rPr>
              <a:t> </a:t>
            </a:r>
            <a:r>
              <a:rPr sz="2650" i="1" spc="-60" dirty="0">
                <a:latin typeface="Times New Roman"/>
                <a:cs typeface="Times New Roman"/>
              </a:rPr>
              <a:t>Fe</a:t>
            </a:r>
            <a:r>
              <a:rPr sz="5250" spc="-89" baseline="-3174" dirty="0">
                <a:latin typeface="Symbol"/>
                <a:cs typeface="Symbol"/>
              </a:rPr>
              <a:t></a:t>
            </a:r>
            <a:r>
              <a:rPr sz="5250" spc="-660" baseline="-3174" dirty="0">
                <a:latin typeface="Times New Roman"/>
                <a:cs typeface="Times New Roman"/>
              </a:rPr>
              <a:t> </a:t>
            </a:r>
            <a:r>
              <a:rPr sz="2650" spc="-50" dirty="0">
                <a:latin typeface="Symbol"/>
                <a:cs typeface="Symbol"/>
              </a:rPr>
              <a:t>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054819" y="6037041"/>
            <a:ext cx="399415" cy="0"/>
          </a:xfrm>
          <a:custGeom>
            <a:avLst/>
            <a:gdLst/>
            <a:ahLst/>
            <a:cxnLst/>
            <a:rect l="l" t="t" r="r" b="b"/>
            <a:pathLst>
              <a:path w="399415">
                <a:moveTo>
                  <a:pt x="0" y="0"/>
                </a:moveTo>
                <a:lnTo>
                  <a:pt x="399017" y="0"/>
                </a:lnTo>
              </a:path>
            </a:pathLst>
          </a:custGeom>
          <a:ln w="79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705479" y="5612398"/>
            <a:ext cx="1774825" cy="0"/>
          </a:xfrm>
          <a:custGeom>
            <a:avLst/>
            <a:gdLst/>
            <a:ahLst/>
            <a:cxnLst/>
            <a:rect l="l" t="t" r="r" b="b"/>
            <a:pathLst>
              <a:path w="1774825">
                <a:moveTo>
                  <a:pt x="0" y="0"/>
                </a:moveTo>
                <a:lnTo>
                  <a:pt x="1774591" y="0"/>
                </a:lnTo>
              </a:path>
            </a:pathLst>
          </a:custGeom>
          <a:ln w="167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612960" y="5575086"/>
            <a:ext cx="123189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i="1" spc="-50" dirty="0"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86971" y="5839385"/>
            <a:ext cx="123189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i="1" spc="-50" dirty="0"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73588" y="5561307"/>
            <a:ext cx="379095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i="1" spc="-25" dirty="0">
                <a:latin typeface="Times New Roman"/>
                <a:cs typeface="Times New Roman"/>
              </a:rPr>
              <a:t>Fe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018976" y="5608845"/>
            <a:ext cx="21336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i="1" spc="-50" dirty="0">
                <a:latin typeface="Times New Roman"/>
                <a:cs typeface="Times New Roman"/>
              </a:rPr>
              <a:t>T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13119" y="5131306"/>
            <a:ext cx="2002789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1795145" algn="l"/>
              </a:tabLst>
            </a:pPr>
            <a:r>
              <a:rPr sz="3975" baseline="-35639" dirty="0">
                <a:latin typeface="Symbol"/>
                <a:cs typeface="Symbol"/>
              </a:rPr>
              <a:t></a:t>
            </a:r>
            <a:r>
              <a:rPr sz="3975" spc="15" baseline="-35639" dirty="0">
                <a:latin typeface="Times New Roman"/>
                <a:cs typeface="Times New Roman"/>
              </a:rPr>
              <a:t> </a:t>
            </a:r>
            <a:r>
              <a:rPr sz="3975" i="1" spc="-37" baseline="1048" dirty="0">
                <a:latin typeface="Times New Roman"/>
                <a:cs typeface="Times New Roman"/>
              </a:rPr>
              <a:t>T</a:t>
            </a:r>
            <a:r>
              <a:rPr sz="2325" spc="-37" baseline="-23297" dirty="0">
                <a:latin typeface="Times New Roman"/>
                <a:cs typeface="Times New Roman"/>
              </a:rPr>
              <a:t>0</a:t>
            </a:r>
            <a:r>
              <a:rPr sz="2325" baseline="-23297" dirty="0">
                <a:latin typeface="Times New Roman"/>
                <a:cs typeface="Times New Roman"/>
              </a:rPr>
              <a:t>	</a:t>
            </a:r>
            <a:r>
              <a:rPr sz="2650" spc="-5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05816" y="5344575"/>
            <a:ext cx="1330325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131570" algn="l"/>
              </a:tabLst>
            </a:pPr>
            <a:r>
              <a:rPr sz="2650" i="1" spc="-50" dirty="0">
                <a:latin typeface="Times New Roman"/>
                <a:cs typeface="Times New Roman"/>
              </a:rPr>
              <a:t>S</a:t>
            </a:r>
            <a:r>
              <a:rPr sz="2650" i="1" dirty="0">
                <a:latin typeface="Times New Roman"/>
                <a:cs typeface="Times New Roman"/>
              </a:rPr>
              <a:t>	</a:t>
            </a:r>
            <a:r>
              <a:rPr sz="2650" spc="-50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089324" y="6028186"/>
            <a:ext cx="342900" cy="4330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50" i="1" spc="-25" dirty="0">
                <a:latin typeface="Times New Roman"/>
                <a:cs typeface="Times New Roman"/>
              </a:rPr>
              <a:t>Se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568180" y="4575809"/>
            <a:ext cx="257810" cy="15240"/>
          </a:xfrm>
          <a:custGeom>
            <a:avLst/>
            <a:gdLst/>
            <a:ahLst/>
            <a:cxnLst/>
            <a:rect l="l" t="t" r="r" b="b"/>
            <a:pathLst>
              <a:path w="257809" h="15239">
                <a:moveTo>
                  <a:pt x="257555" y="0"/>
                </a:moveTo>
                <a:lnTo>
                  <a:pt x="0" y="0"/>
                </a:lnTo>
                <a:lnTo>
                  <a:pt x="0" y="15239"/>
                </a:lnTo>
                <a:lnTo>
                  <a:pt x="257555" y="15239"/>
                </a:lnTo>
                <a:lnTo>
                  <a:pt x="257555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829175" y="4010914"/>
            <a:ext cx="645541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700" indent="-457200">
              <a:lnSpc>
                <a:spcPts val="2080"/>
              </a:lnSpc>
              <a:spcBef>
                <a:spcPts val="100"/>
              </a:spcBef>
              <a:buClr>
                <a:srgbClr val="0462C1"/>
              </a:buClr>
              <a:buSzPct val="60000"/>
              <a:buFont typeface="Wingdings"/>
              <a:buChar char=""/>
              <a:tabLst>
                <a:tab pos="520700" algn="l"/>
              </a:tabLst>
            </a:pP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T</a:t>
            </a:r>
            <a:r>
              <a:rPr sz="1950" b="1" spc="-15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0</a:t>
            </a:r>
            <a:r>
              <a:rPr sz="2000" b="1" spc="-20" dirty="0">
                <a:latin typeface="宋体"/>
                <a:cs typeface="宋体"/>
              </a:rPr>
              <a:t>：改进前整个程序的执行时间</a:t>
            </a:r>
            <a:endParaRPr sz="2000">
              <a:latin typeface="宋体"/>
              <a:cs typeface="宋体"/>
            </a:endParaRPr>
          </a:p>
          <a:p>
            <a:pPr marR="1452880" algn="r">
              <a:lnSpc>
                <a:spcPts val="1560"/>
              </a:lnSpc>
            </a:pPr>
            <a:r>
              <a:rPr sz="1800" spc="-25" dirty="0">
                <a:solidFill>
                  <a:srgbClr val="0000FF"/>
                </a:solidFill>
                <a:latin typeface="Cambria Math"/>
                <a:cs typeface="Cambria Math"/>
              </a:rPr>
              <a:t>𝐹𝑒</a:t>
            </a:r>
            <a:endParaRPr sz="1800">
              <a:latin typeface="Cambria Math"/>
              <a:cs typeface="Cambria Math"/>
            </a:endParaRPr>
          </a:p>
          <a:p>
            <a:pPr marL="520700" indent="-457200">
              <a:lnSpc>
                <a:spcPts val="2120"/>
              </a:lnSpc>
              <a:buClr>
                <a:srgbClr val="0462C1"/>
              </a:buClr>
              <a:buSzPct val="60000"/>
              <a:buFont typeface="Wingdings"/>
              <a:buChar char=""/>
              <a:tabLst>
                <a:tab pos="520700" algn="l"/>
                <a:tab pos="5109845" algn="l"/>
              </a:tabLst>
            </a:pP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1</a:t>
            </a:r>
            <a:r>
              <a:rPr sz="2000" b="1" spc="-10" dirty="0">
                <a:solidFill>
                  <a:srgbClr val="6600FF"/>
                </a:solidFill>
                <a:latin typeface="宋体"/>
                <a:cs typeface="宋体"/>
              </a:rPr>
              <a:t>－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sz="1950" b="1" spc="-15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e</a:t>
            </a:r>
            <a:r>
              <a:rPr sz="2000" b="1" spc="-10" dirty="0">
                <a:latin typeface="宋体"/>
                <a:cs typeface="宋体"/>
              </a:rPr>
              <a:t>：不可改进比</a:t>
            </a:r>
            <a:r>
              <a:rPr sz="2000" b="1" spc="459" dirty="0">
                <a:latin typeface="宋体"/>
                <a:cs typeface="宋体"/>
              </a:rPr>
              <a:t>例</a:t>
            </a:r>
            <a:r>
              <a:rPr sz="2000" b="1" spc="-20" dirty="0">
                <a:solidFill>
                  <a:srgbClr val="E14B04"/>
                </a:solidFill>
                <a:latin typeface="宋体"/>
                <a:cs typeface="宋体"/>
              </a:rPr>
              <a:t>，</a:t>
            </a:r>
            <a:r>
              <a:rPr sz="2000" b="1" spc="-495" dirty="0">
                <a:solidFill>
                  <a:srgbClr val="E14B04"/>
                </a:solidFill>
                <a:latin typeface="宋体"/>
                <a:cs typeface="宋体"/>
              </a:rPr>
              <a:t> </a:t>
            </a:r>
            <a:r>
              <a:rPr sz="2000" b="1" dirty="0">
                <a:solidFill>
                  <a:srgbClr val="6600FF"/>
                </a:solidFill>
                <a:latin typeface="Times New Roman"/>
                <a:cs typeface="Times New Roman"/>
              </a:rPr>
              <a:t>F</a:t>
            </a:r>
            <a:r>
              <a:rPr sz="1950" b="1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e</a:t>
            </a:r>
            <a:r>
              <a:rPr sz="1950" b="1" spc="15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6600FF"/>
                </a:solidFill>
                <a:latin typeface="宋体"/>
                <a:cs typeface="宋体"/>
              </a:rPr>
              <a:t>改进比例</a:t>
            </a:r>
            <a:r>
              <a:rPr sz="2000" b="1" spc="-885" dirty="0">
                <a:solidFill>
                  <a:srgbClr val="6600FF"/>
                </a:solidFill>
                <a:latin typeface="宋体"/>
                <a:cs typeface="宋体"/>
              </a:rPr>
              <a:t>，</a:t>
            </a:r>
            <a:r>
              <a:rPr sz="2700" spc="-44" baseline="-23148" dirty="0">
                <a:solidFill>
                  <a:srgbClr val="0000FF"/>
                </a:solidFill>
                <a:latin typeface="Cambria Math"/>
                <a:cs typeface="Cambria Math"/>
              </a:rPr>
              <a:t>𝑆</a:t>
            </a:r>
            <a:r>
              <a:rPr sz="2700" spc="-37" baseline="-23148" dirty="0">
                <a:solidFill>
                  <a:srgbClr val="0000FF"/>
                </a:solidFill>
                <a:latin typeface="Cambria Math"/>
                <a:cs typeface="Cambria Math"/>
              </a:rPr>
              <a:t>𝑒</a:t>
            </a:r>
            <a:r>
              <a:rPr sz="2700" baseline="-23148" dirty="0">
                <a:solidFill>
                  <a:srgbClr val="0000FF"/>
                </a:solidFill>
                <a:latin typeface="Cambria Math"/>
                <a:cs typeface="Cambria Math"/>
              </a:rPr>
              <a:t>	</a:t>
            </a:r>
            <a:r>
              <a:rPr sz="2000" b="1" spc="-10" dirty="0">
                <a:solidFill>
                  <a:srgbClr val="6600FF"/>
                </a:solidFill>
                <a:latin typeface="宋体"/>
                <a:cs typeface="宋体"/>
              </a:rPr>
              <a:t>缩短的倍</a:t>
            </a:r>
            <a:r>
              <a:rPr sz="2000" b="1" spc="-50" dirty="0">
                <a:solidFill>
                  <a:srgbClr val="6600FF"/>
                </a:solidFill>
                <a:latin typeface="宋体"/>
                <a:cs typeface="宋体"/>
              </a:rPr>
              <a:t>数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8815" y="1654809"/>
            <a:ext cx="417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indent="-457200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495300" algn="l"/>
              </a:tabLst>
            </a:pPr>
            <a:r>
              <a:rPr sz="2400" dirty="0">
                <a:latin typeface="微软雅黑"/>
                <a:cs typeface="微软雅黑"/>
              </a:rPr>
              <a:t>改进前程序的总执行时间</a:t>
            </a:r>
            <a:r>
              <a:rPr sz="2400" spc="-25" dirty="0">
                <a:latin typeface="Times New Roman"/>
                <a:cs typeface="Times New Roman"/>
              </a:rPr>
              <a:t>T</a:t>
            </a:r>
            <a:r>
              <a:rPr sz="2400" spc="-37" baseline="-20833" dirty="0">
                <a:latin typeface="Times New Roman"/>
                <a:cs typeface="Times New Roman"/>
              </a:rPr>
              <a:t>0</a:t>
            </a:r>
            <a:endParaRPr sz="2400" baseline="-20833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8815" y="2475687"/>
            <a:ext cx="41744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indent="-457200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495300" algn="l"/>
              </a:tabLst>
            </a:pPr>
            <a:r>
              <a:rPr sz="2400" spc="-10" dirty="0">
                <a:latin typeface="微软雅黑"/>
                <a:cs typeface="微软雅黑"/>
              </a:rPr>
              <a:t>改进后程序的总执行时间</a:t>
            </a:r>
            <a:r>
              <a:rPr sz="2400" spc="-25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sz="2400" spc="-37" baseline="-20833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2400" baseline="-20833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14976" y="1584693"/>
            <a:ext cx="2283460" cy="585470"/>
            <a:chOff x="5014976" y="1584693"/>
            <a:chExt cx="2283460" cy="585470"/>
          </a:xfrm>
        </p:grpSpPr>
        <p:sp>
          <p:nvSpPr>
            <p:cNvPr id="31" name="object 31"/>
            <p:cNvSpPr/>
            <p:nvPr/>
          </p:nvSpPr>
          <p:spPr>
            <a:xfrm>
              <a:off x="5021326" y="1591043"/>
              <a:ext cx="2270760" cy="572770"/>
            </a:xfrm>
            <a:custGeom>
              <a:avLst/>
              <a:gdLst/>
              <a:ahLst/>
              <a:cxnLst/>
              <a:rect l="l" t="t" r="r" b="b"/>
              <a:pathLst>
                <a:path w="2270759" h="572769">
                  <a:moveTo>
                    <a:pt x="2270252" y="0"/>
                  </a:moveTo>
                  <a:lnTo>
                    <a:pt x="0" y="0"/>
                  </a:lnTo>
                  <a:lnTo>
                    <a:pt x="0" y="572401"/>
                  </a:lnTo>
                  <a:lnTo>
                    <a:pt x="2270252" y="572401"/>
                  </a:lnTo>
                  <a:lnTo>
                    <a:pt x="227025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021326" y="1591043"/>
              <a:ext cx="2270760" cy="572770"/>
            </a:xfrm>
            <a:custGeom>
              <a:avLst/>
              <a:gdLst/>
              <a:ahLst/>
              <a:cxnLst/>
              <a:rect l="l" t="t" r="r" b="b"/>
              <a:pathLst>
                <a:path w="2270759" h="572769">
                  <a:moveTo>
                    <a:pt x="0" y="572401"/>
                  </a:moveTo>
                  <a:lnTo>
                    <a:pt x="2270252" y="572401"/>
                  </a:lnTo>
                  <a:lnTo>
                    <a:pt x="2270252" y="0"/>
                  </a:lnTo>
                  <a:lnTo>
                    <a:pt x="0" y="0"/>
                  </a:lnTo>
                  <a:lnTo>
                    <a:pt x="0" y="572401"/>
                  </a:lnTo>
                  <a:close/>
                </a:path>
              </a:pathLst>
            </a:custGeom>
            <a:ln w="12700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002276" y="1718259"/>
            <a:ext cx="23088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微软雅黑"/>
                <a:cs typeface="微软雅黑"/>
              </a:rPr>
              <a:t>未改进的比例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- 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1800" b="1" spc="-3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91578" y="1588630"/>
            <a:ext cx="2534920" cy="572770"/>
          </a:xfrm>
          <a:prstGeom prst="rect">
            <a:avLst/>
          </a:prstGeom>
          <a:solidFill>
            <a:srgbClr val="F4B083"/>
          </a:solidFill>
          <a:ln w="12700">
            <a:solidFill>
              <a:srgbClr val="213E58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565150">
              <a:lnSpc>
                <a:spcPct val="100000"/>
              </a:lnSpc>
              <a:spcBef>
                <a:spcPts val="1085"/>
              </a:spcBef>
            </a:pPr>
            <a:r>
              <a:rPr sz="1800" b="1" spc="85" dirty="0">
                <a:solidFill>
                  <a:srgbClr val="FFFFFF"/>
                </a:solidFill>
                <a:latin typeface="微软雅黑"/>
                <a:cs typeface="微软雅黑"/>
              </a:rPr>
              <a:t>改进的比例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1800" b="1" spc="-3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1800" baseline="-20833">
              <a:latin typeface="Times New Roman"/>
              <a:cs typeface="Times New Roman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999354" y="2385809"/>
            <a:ext cx="2283460" cy="585470"/>
            <a:chOff x="4999354" y="2385809"/>
            <a:chExt cx="2283460" cy="585470"/>
          </a:xfrm>
        </p:grpSpPr>
        <p:sp>
          <p:nvSpPr>
            <p:cNvPr id="36" name="object 36"/>
            <p:cNvSpPr/>
            <p:nvPr/>
          </p:nvSpPr>
          <p:spPr>
            <a:xfrm>
              <a:off x="5005704" y="2392159"/>
              <a:ext cx="2270760" cy="572770"/>
            </a:xfrm>
            <a:custGeom>
              <a:avLst/>
              <a:gdLst/>
              <a:ahLst/>
              <a:cxnLst/>
              <a:rect l="l" t="t" r="r" b="b"/>
              <a:pathLst>
                <a:path w="2270759" h="572769">
                  <a:moveTo>
                    <a:pt x="2270252" y="0"/>
                  </a:moveTo>
                  <a:lnTo>
                    <a:pt x="0" y="0"/>
                  </a:lnTo>
                  <a:lnTo>
                    <a:pt x="0" y="572401"/>
                  </a:lnTo>
                  <a:lnTo>
                    <a:pt x="2270252" y="572401"/>
                  </a:lnTo>
                  <a:lnTo>
                    <a:pt x="227025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005704" y="2392159"/>
              <a:ext cx="2270760" cy="572770"/>
            </a:xfrm>
            <a:custGeom>
              <a:avLst/>
              <a:gdLst/>
              <a:ahLst/>
              <a:cxnLst/>
              <a:rect l="l" t="t" r="r" b="b"/>
              <a:pathLst>
                <a:path w="2270759" h="572769">
                  <a:moveTo>
                    <a:pt x="0" y="572401"/>
                  </a:moveTo>
                  <a:lnTo>
                    <a:pt x="2270252" y="572401"/>
                  </a:lnTo>
                  <a:lnTo>
                    <a:pt x="2270252" y="0"/>
                  </a:lnTo>
                  <a:lnTo>
                    <a:pt x="0" y="0"/>
                  </a:lnTo>
                  <a:lnTo>
                    <a:pt x="0" y="572401"/>
                  </a:lnTo>
                  <a:close/>
                </a:path>
              </a:pathLst>
            </a:custGeom>
            <a:ln w="12699">
              <a:solidFill>
                <a:srgbClr val="213E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86654" y="2519934"/>
            <a:ext cx="2308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FFFF"/>
                </a:solidFill>
                <a:latin typeface="微软雅黑"/>
                <a:cs typeface="微软雅黑"/>
              </a:rPr>
              <a:t>未改进的比例 </a:t>
            </a:r>
            <a:r>
              <a:rPr sz="1800" b="1" dirty="0">
                <a:solidFill>
                  <a:srgbClr val="FFFFFF"/>
                </a:solidFill>
                <a:latin typeface="Times New Roman"/>
                <a:cs typeface="Times New Roman"/>
              </a:rPr>
              <a:t>1- </a:t>
            </a:r>
            <a:r>
              <a:rPr sz="18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1800" b="1" spc="-37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275956" y="2389746"/>
            <a:ext cx="1981835" cy="572770"/>
          </a:xfrm>
          <a:prstGeom prst="rect">
            <a:avLst/>
          </a:prstGeom>
          <a:solidFill>
            <a:srgbClr val="F4B083"/>
          </a:solidFill>
          <a:ln w="12700">
            <a:solidFill>
              <a:srgbClr val="213E58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159385">
              <a:lnSpc>
                <a:spcPct val="100000"/>
              </a:lnSpc>
              <a:spcBef>
                <a:spcPts val="1085"/>
              </a:spcBef>
            </a:pPr>
            <a:r>
              <a:rPr sz="1800" b="1" spc="-25" dirty="0">
                <a:solidFill>
                  <a:srgbClr val="FFFFFF"/>
                </a:solidFill>
                <a:latin typeface="微软雅黑"/>
                <a:cs typeface="微软雅黑"/>
              </a:rPr>
              <a:t>改进的比例 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1800" b="1" spc="-3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18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/S</a:t>
            </a:r>
            <a:r>
              <a:rPr sz="1800" b="1" spc="-30" baseline="-20833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076444" y="1459357"/>
            <a:ext cx="2186305" cy="1686560"/>
          </a:xfrm>
          <a:custGeom>
            <a:avLst/>
            <a:gdLst/>
            <a:ahLst/>
            <a:cxnLst/>
            <a:rect l="l" t="t" r="r" b="b"/>
            <a:pathLst>
              <a:path w="2186304" h="1686560">
                <a:moveTo>
                  <a:pt x="0" y="843152"/>
                </a:moveTo>
                <a:lnTo>
                  <a:pt x="1337" y="801067"/>
                </a:lnTo>
                <a:lnTo>
                  <a:pt x="5309" y="759515"/>
                </a:lnTo>
                <a:lnTo>
                  <a:pt x="11853" y="718547"/>
                </a:lnTo>
                <a:lnTo>
                  <a:pt x="20905" y="678209"/>
                </a:lnTo>
                <a:lnTo>
                  <a:pt x="32403" y="638551"/>
                </a:lnTo>
                <a:lnTo>
                  <a:pt x="46285" y="599621"/>
                </a:lnTo>
                <a:lnTo>
                  <a:pt x="62488" y="561467"/>
                </a:lnTo>
                <a:lnTo>
                  <a:pt x="80948" y="524137"/>
                </a:lnTo>
                <a:lnTo>
                  <a:pt x="101605" y="487679"/>
                </a:lnTo>
                <a:lnTo>
                  <a:pt x="124394" y="452143"/>
                </a:lnTo>
                <a:lnTo>
                  <a:pt x="149253" y="417575"/>
                </a:lnTo>
                <a:lnTo>
                  <a:pt x="176119" y="384025"/>
                </a:lnTo>
                <a:lnTo>
                  <a:pt x="204931" y="351541"/>
                </a:lnTo>
                <a:lnTo>
                  <a:pt x="235625" y="320171"/>
                </a:lnTo>
                <a:lnTo>
                  <a:pt x="268138" y="289963"/>
                </a:lnTo>
                <a:lnTo>
                  <a:pt x="302408" y="260965"/>
                </a:lnTo>
                <a:lnTo>
                  <a:pt x="338372" y="233226"/>
                </a:lnTo>
                <a:lnTo>
                  <a:pt x="375968" y="206794"/>
                </a:lnTo>
                <a:lnTo>
                  <a:pt x="415133" y="181718"/>
                </a:lnTo>
                <a:lnTo>
                  <a:pt x="455804" y="158045"/>
                </a:lnTo>
                <a:lnTo>
                  <a:pt x="497919" y="135824"/>
                </a:lnTo>
                <a:lnTo>
                  <a:pt x="541415" y="115104"/>
                </a:lnTo>
                <a:lnTo>
                  <a:pt x="586229" y="95932"/>
                </a:lnTo>
                <a:lnTo>
                  <a:pt x="632298" y="78356"/>
                </a:lnTo>
                <a:lnTo>
                  <a:pt x="679561" y="62426"/>
                </a:lnTo>
                <a:lnTo>
                  <a:pt x="727953" y="48189"/>
                </a:lnTo>
                <a:lnTo>
                  <a:pt x="777414" y="35694"/>
                </a:lnTo>
                <a:lnTo>
                  <a:pt x="827879" y="24988"/>
                </a:lnTo>
                <a:lnTo>
                  <a:pt x="879287" y="16121"/>
                </a:lnTo>
                <a:lnTo>
                  <a:pt x="931575" y="9140"/>
                </a:lnTo>
                <a:lnTo>
                  <a:pt x="984679" y="4094"/>
                </a:lnTo>
                <a:lnTo>
                  <a:pt x="1038538" y="1031"/>
                </a:lnTo>
                <a:lnTo>
                  <a:pt x="1093089" y="0"/>
                </a:lnTo>
                <a:lnTo>
                  <a:pt x="1147639" y="1031"/>
                </a:lnTo>
                <a:lnTo>
                  <a:pt x="1201497" y="4094"/>
                </a:lnTo>
                <a:lnTo>
                  <a:pt x="1254599" y="9140"/>
                </a:lnTo>
                <a:lnTo>
                  <a:pt x="1306885" y="16121"/>
                </a:lnTo>
                <a:lnTo>
                  <a:pt x="1358290" y="24988"/>
                </a:lnTo>
                <a:lnTo>
                  <a:pt x="1408752" y="35694"/>
                </a:lnTo>
                <a:lnTo>
                  <a:pt x="1458209" y="48189"/>
                </a:lnTo>
                <a:lnTo>
                  <a:pt x="1506598" y="62426"/>
                </a:lnTo>
                <a:lnTo>
                  <a:pt x="1553856" y="78356"/>
                </a:lnTo>
                <a:lnTo>
                  <a:pt x="1599921" y="95932"/>
                </a:lnTo>
                <a:lnTo>
                  <a:pt x="1644729" y="115104"/>
                </a:lnTo>
                <a:lnTo>
                  <a:pt x="1688220" y="135824"/>
                </a:lnTo>
                <a:lnTo>
                  <a:pt x="1730329" y="158045"/>
                </a:lnTo>
                <a:lnTo>
                  <a:pt x="1770995" y="181718"/>
                </a:lnTo>
                <a:lnTo>
                  <a:pt x="1810154" y="206794"/>
                </a:lnTo>
                <a:lnTo>
                  <a:pt x="1847744" y="233226"/>
                </a:lnTo>
                <a:lnTo>
                  <a:pt x="1883703" y="260965"/>
                </a:lnTo>
                <a:lnTo>
                  <a:pt x="1917967" y="289963"/>
                </a:lnTo>
                <a:lnTo>
                  <a:pt x="1950475" y="320171"/>
                </a:lnTo>
                <a:lnTo>
                  <a:pt x="1981163" y="351541"/>
                </a:lnTo>
                <a:lnTo>
                  <a:pt x="2009969" y="384025"/>
                </a:lnTo>
                <a:lnTo>
                  <a:pt x="2036830" y="417575"/>
                </a:lnTo>
                <a:lnTo>
                  <a:pt x="2061684" y="452143"/>
                </a:lnTo>
                <a:lnTo>
                  <a:pt x="2084469" y="487679"/>
                </a:lnTo>
                <a:lnTo>
                  <a:pt x="2105120" y="524137"/>
                </a:lnTo>
                <a:lnTo>
                  <a:pt x="2123577" y="561467"/>
                </a:lnTo>
                <a:lnTo>
                  <a:pt x="2139776" y="599621"/>
                </a:lnTo>
                <a:lnTo>
                  <a:pt x="2153654" y="638551"/>
                </a:lnTo>
                <a:lnTo>
                  <a:pt x="2165150" y="678209"/>
                </a:lnTo>
                <a:lnTo>
                  <a:pt x="2174200" y="718547"/>
                </a:lnTo>
                <a:lnTo>
                  <a:pt x="2180742" y="759515"/>
                </a:lnTo>
                <a:lnTo>
                  <a:pt x="2184713" y="801067"/>
                </a:lnTo>
                <a:lnTo>
                  <a:pt x="2186051" y="843152"/>
                </a:lnTo>
                <a:lnTo>
                  <a:pt x="2184713" y="885239"/>
                </a:lnTo>
                <a:lnTo>
                  <a:pt x="2180742" y="926791"/>
                </a:lnTo>
                <a:lnTo>
                  <a:pt x="2174200" y="967761"/>
                </a:lnTo>
                <a:lnTo>
                  <a:pt x="2165150" y="1008101"/>
                </a:lnTo>
                <a:lnTo>
                  <a:pt x="2153654" y="1047762"/>
                </a:lnTo>
                <a:lnTo>
                  <a:pt x="2139776" y="1086695"/>
                </a:lnTo>
                <a:lnTo>
                  <a:pt x="2123577" y="1124853"/>
                </a:lnTo>
                <a:lnTo>
                  <a:pt x="2105120" y="1162187"/>
                </a:lnTo>
                <a:lnTo>
                  <a:pt x="2084469" y="1198649"/>
                </a:lnTo>
                <a:lnTo>
                  <a:pt x="2061684" y="1234190"/>
                </a:lnTo>
                <a:lnTo>
                  <a:pt x="2036830" y="1268762"/>
                </a:lnTo>
                <a:lnTo>
                  <a:pt x="2009969" y="1302318"/>
                </a:lnTo>
                <a:lnTo>
                  <a:pt x="1981163" y="1334808"/>
                </a:lnTo>
                <a:lnTo>
                  <a:pt x="1950475" y="1366183"/>
                </a:lnTo>
                <a:lnTo>
                  <a:pt x="1917967" y="1396397"/>
                </a:lnTo>
                <a:lnTo>
                  <a:pt x="1883703" y="1425401"/>
                </a:lnTo>
                <a:lnTo>
                  <a:pt x="1847744" y="1453145"/>
                </a:lnTo>
                <a:lnTo>
                  <a:pt x="1810154" y="1479583"/>
                </a:lnTo>
                <a:lnTo>
                  <a:pt x="1770995" y="1504665"/>
                </a:lnTo>
                <a:lnTo>
                  <a:pt x="1730329" y="1528343"/>
                </a:lnTo>
                <a:lnTo>
                  <a:pt x="1688220" y="1550569"/>
                </a:lnTo>
                <a:lnTo>
                  <a:pt x="1644729" y="1571295"/>
                </a:lnTo>
                <a:lnTo>
                  <a:pt x="1599921" y="1590472"/>
                </a:lnTo>
                <a:lnTo>
                  <a:pt x="1553856" y="1608052"/>
                </a:lnTo>
                <a:lnTo>
                  <a:pt x="1506598" y="1623987"/>
                </a:lnTo>
                <a:lnTo>
                  <a:pt x="1458209" y="1638228"/>
                </a:lnTo>
                <a:lnTo>
                  <a:pt x="1408752" y="1650727"/>
                </a:lnTo>
                <a:lnTo>
                  <a:pt x="1358290" y="1661436"/>
                </a:lnTo>
                <a:lnTo>
                  <a:pt x="1306885" y="1670306"/>
                </a:lnTo>
                <a:lnTo>
                  <a:pt x="1254599" y="1677289"/>
                </a:lnTo>
                <a:lnTo>
                  <a:pt x="1201497" y="1682336"/>
                </a:lnTo>
                <a:lnTo>
                  <a:pt x="1147639" y="1685400"/>
                </a:lnTo>
                <a:lnTo>
                  <a:pt x="1093089" y="1686432"/>
                </a:lnTo>
                <a:lnTo>
                  <a:pt x="1038538" y="1685400"/>
                </a:lnTo>
                <a:lnTo>
                  <a:pt x="984679" y="1682336"/>
                </a:lnTo>
                <a:lnTo>
                  <a:pt x="931575" y="1677289"/>
                </a:lnTo>
                <a:lnTo>
                  <a:pt x="879287" y="1670306"/>
                </a:lnTo>
                <a:lnTo>
                  <a:pt x="827879" y="1661436"/>
                </a:lnTo>
                <a:lnTo>
                  <a:pt x="777414" y="1650727"/>
                </a:lnTo>
                <a:lnTo>
                  <a:pt x="727953" y="1638228"/>
                </a:lnTo>
                <a:lnTo>
                  <a:pt x="679561" y="1623987"/>
                </a:lnTo>
                <a:lnTo>
                  <a:pt x="632298" y="1608052"/>
                </a:lnTo>
                <a:lnTo>
                  <a:pt x="586229" y="1590472"/>
                </a:lnTo>
                <a:lnTo>
                  <a:pt x="541415" y="1571295"/>
                </a:lnTo>
                <a:lnTo>
                  <a:pt x="497919" y="1550569"/>
                </a:lnTo>
                <a:lnTo>
                  <a:pt x="455804" y="1528343"/>
                </a:lnTo>
                <a:lnTo>
                  <a:pt x="415133" y="1504665"/>
                </a:lnTo>
                <a:lnTo>
                  <a:pt x="375968" y="1479583"/>
                </a:lnTo>
                <a:lnTo>
                  <a:pt x="338372" y="1453145"/>
                </a:lnTo>
                <a:lnTo>
                  <a:pt x="302408" y="1425401"/>
                </a:lnTo>
                <a:lnTo>
                  <a:pt x="268138" y="1396397"/>
                </a:lnTo>
                <a:lnTo>
                  <a:pt x="235625" y="1366183"/>
                </a:lnTo>
                <a:lnTo>
                  <a:pt x="204931" y="1334808"/>
                </a:lnTo>
                <a:lnTo>
                  <a:pt x="176119" y="1302318"/>
                </a:lnTo>
                <a:lnTo>
                  <a:pt x="149253" y="1268762"/>
                </a:lnTo>
                <a:lnTo>
                  <a:pt x="124394" y="1234190"/>
                </a:lnTo>
                <a:lnTo>
                  <a:pt x="101605" y="1198649"/>
                </a:lnTo>
                <a:lnTo>
                  <a:pt x="80948" y="1162187"/>
                </a:lnTo>
                <a:lnTo>
                  <a:pt x="62488" y="1124853"/>
                </a:lnTo>
                <a:lnTo>
                  <a:pt x="46285" y="1086695"/>
                </a:lnTo>
                <a:lnTo>
                  <a:pt x="32403" y="1047762"/>
                </a:lnTo>
                <a:lnTo>
                  <a:pt x="20905" y="1008101"/>
                </a:lnTo>
                <a:lnTo>
                  <a:pt x="11853" y="967761"/>
                </a:lnTo>
                <a:lnTo>
                  <a:pt x="5309" y="926791"/>
                </a:lnTo>
                <a:lnTo>
                  <a:pt x="1337" y="885239"/>
                </a:lnTo>
                <a:lnTo>
                  <a:pt x="0" y="84315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计算机系统的设计</a:t>
            </a:r>
            <a:r>
              <a:rPr spc="-50" dirty="0"/>
              <a:t>者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6697" y="1000759"/>
            <a:ext cx="11560175" cy="101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indent="-236854">
              <a:lnSpc>
                <a:spcPts val="2570"/>
              </a:lnSpc>
              <a:spcBef>
                <a:spcPts val="10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、</a:t>
            </a:r>
            <a:r>
              <a:rPr sz="2400" spc="-10" dirty="0">
                <a:latin typeface="Times New Roman"/>
                <a:cs typeface="Times New Roman"/>
              </a:rPr>
              <a:t>Amdahl</a:t>
            </a:r>
            <a:r>
              <a:rPr sz="2400" dirty="0">
                <a:latin typeface="微软雅黑"/>
                <a:cs typeface="微软雅黑"/>
              </a:rPr>
              <a:t>定律</a:t>
            </a:r>
            <a:r>
              <a:rPr sz="2400" spc="-5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5033645">
              <a:lnSpc>
                <a:spcPts val="2090"/>
              </a:lnSpc>
            </a:pPr>
            <a:r>
              <a:rPr sz="2000" b="1" spc="-10" dirty="0">
                <a:latin typeface="宋体"/>
                <a:cs typeface="宋体"/>
              </a:rPr>
              <a:t>例</a:t>
            </a:r>
            <a:r>
              <a:rPr sz="2000" b="1" dirty="0">
                <a:latin typeface="宋体"/>
                <a:cs typeface="宋体"/>
              </a:rPr>
              <a:t>1.1</a:t>
            </a:r>
            <a:r>
              <a:rPr sz="2000" b="1" spc="-20" dirty="0">
                <a:latin typeface="宋体"/>
                <a:cs typeface="宋体"/>
              </a:rPr>
              <a:t> 将计算机系统中某一功能的处理速度加快</a:t>
            </a:r>
            <a:r>
              <a:rPr sz="2000" b="1" spc="-15" dirty="0">
                <a:solidFill>
                  <a:srgbClr val="9933FF"/>
                </a:solidFill>
                <a:latin typeface="宋体"/>
                <a:cs typeface="宋体"/>
              </a:rPr>
              <a:t>15</a:t>
            </a:r>
            <a:r>
              <a:rPr sz="2000" b="1" spc="-25" dirty="0">
                <a:latin typeface="宋体"/>
                <a:cs typeface="宋体"/>
              </a:rPr>
              <a:t>倍，但</a:t>
            </a:r>
            <a:endParaRPr sz="2000">
              <a:latin typeface="宋体"/>
              <a:cs typeface="宋体"/>
            </a:endParaRPr>
          </a:p>
          <a:p>
            <a:pPr marL="4512310">
              <a:lnSpc>
                <a:spcPct val="100000"/>
              </a:lnSpc>
              <a:spcBef>
                <a:spcPts val="765"/>
              </a:spcBef>
            </a:pPr>
            <a:r>
              <a:rPr sz="2000" b="1" spc="-20" dirty="0">
                <a:latin typeface="宋体"/>
                <a:cs typeface="宋体"/>
              </a:rPr>
              <a:t>该功能的处理时间仅占整个系统运行时间的</a:t>
            </a:r>
            <a:r>
              <a:rPr sz="2000" b="1" spc="-10" dirty="0">
                <a:solidFill>
                  <a:srgbClr val="9933FF"/>
                </a:solidFill>
                <a:latin typeface="宋体"/>
                <a:cs typeface="宋体"/>
              </a:rPr>
              <a:t>40%</a:t>
            </a:r>
            <a:r>
              <a:rPr sz="2000" b="1" spc="-20" dirty="0">
                <a:latin typeface="宋体"/>
                <a:cs typeface="宋体"/>
              </a:rPr>
              <a:t>，则采用此增强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96459" y="2055113"/>
            <a:ext cx="51403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宋体"/>
                <a:cs typeface="宋体"/>
              </a:rPr>
              <a:t>功能方法后，能使整个系统的性能提高多少？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4866" y="2695447"/>
            <a:ext cx="110489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b="1" spc="-50" dirty="0">
                <a:latin typeface="宋体"/>
                <a:cs typeface="宋体"/>
              </a:rPr>
              <a:t>e</a:t>
            </a:r>
            <a:endParaRPr sz="13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54371" y="2547620"/>
            <a:ext cx="35286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CC3300"/>
                </a:solidFill>
                <a:latin typeface="宋体"/>
                <a:cs typeface="宋体"/>
              </a:rPr>
              <a:t>解 </a:t>
            </a:r>
            <a:r>
              <a:rPr sz="2000" b="1" spc="-15" dirty="0">
                <a:latin typeface="宋体"/>
                <a:cs typeface="宋体"/>
              </a:rPr>
              <a:t>由题可知： </a:t>
            </a:r>
            <a:r>
              <a:rPr sz="2000" b="1" dirty="0">
                <a:latin typeface="宋体"/>
                <a:cs typeface="宋体"/>
              </a:rPr>
              <a:t>F</a:t>
            </a:r>
            <a:r>
              <a:rPr sz="2000" b="1" spc="100" dirty="0">
                <a:latin typeface="宋体"/>
                <a:cs typeface="宋体"/>
              </a:rPr>
              <a:t> = </a:t>
            </a:r>
            <a:r>
              <a:rPr sz="2000" b="1" dirty="0">
                <a:latin typeface="宋体"/>
                <a:cs typeface="宋体"/>
              </a:rPr>
              <a:t>40</a:t>
            </a:r>
            <a:r>
              <a:rPr sz="2000" b="1" spc="-10" dirty="0">
                <a:latin typeface="宋体"/>
                <a:cs typeface="宋体"/>
              </a:rPr>
              <a:t>% = </a:t>
            </a:r>
            <a:r>
              <a:rPr sz="2000" b="1" spc="-25" dirty="0">
                <a:latin typeface="宋体"/>
                <a:cs typeface="宋体"/>
              </a:rPr>
              <a:t>0.4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8385" y="3041395"/>
            <a:ext cx="2640965" cy="8235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38530">
              <a:lnSpc>
                <a:spcPct val="100000"/>
              </a:lnSpc>
              <a:spcBef>
                <a:spcPts val="105"/>
              </a:spcBef>
              <a:tabLst>
                <a:tab pos="1281430" algn="l"/>
              </a:tabLst>
            </a:pPr>
            <a:r>
              <a:rPr sz="2000" b="1" spc="-25" dirty="0">
                <a:latin typeface="宋体"/>
                <a:cs typeface="宋体"/>
              </a:rPr>
              <a:t>S</a:t>
            </a:r>
            <a:r>
              <a:rPr sz="1950" b="1" spc="-37" baseline="-21367" dirty="0">
                <a:latin typeface="宋体"/>
                <a:cs typeface="宋体"/>
              </a:rPr>
              <a:t>e</a:t>
            </a:r>
            <a:r>
              <a:rPr sz="1950" b="1" baseline="-21367" dirty="0">
                <a:latin typeface="宋体"/>
                <a:cs typeface="宋体"/>
              </a:rPr>
              <a:t>	</a:t>
            </a:r>
            <a:r>
              <a:rPr sz="2000" b="1" dirty="0">
                <a:latin typeface="宋体"/>
                <a:cs typeface="宋体"/>
              </a:rPr>
              <a:t>=</a:t>
            </a:r>
            <a:r>
              <a:rPr sz="2000" b="1" spc="-10" dirty="0">
                <a:latin typeface="宋体"/>
                <a:cs typeface="宋体"/>
              </a:rPr>
              <a:t> </a:t>
            </a:r>
            <a:r>
              <a:rPr sz="2000" b="1" spc="-25" dirty="0">
                <a:latin typeface="宋体"/>
                <a:cs typeface="宋体"/>
              </a:rPr>
              <a:t>15</a:t>
            </a:r>
            <a:endParaRPr sz="20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475"/>
              </a:spcBef>
            </a:pPr>
            <a:r>
              <a:rPr sz="2000" b="1" spc="-15" dirty="0">
                <a:latin typeface="宋体"/>
                <a:cs typeface="宋体"/>
              </a:rPr>
              <a:t>根据</a:t>
            </a:r>
            <a:r>
              <a:rPr sz="2000" b="1" dirty="0">
                <a:latin typeface="宋体"/>
                <a:cs typeface="宋体"/>
              </a:rPr>
              <a:t>Amdahl</a:t>
            </a:r>
            <a:r>
              <a:rPr sz="2000" b="1" spc="-30" dirty="0">
                <a:latin typeface="宋体"/>
                <a:cs typeface="宋体"/>
              </a:rPr>
              <a:t>定律可知：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6459" y="5492597"/>
            <a:ext cx="69996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277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宋体"/>
                <a:cs typeface="宋体"/>
              </a:rPr>
              <a:t>采用此增强功能方法后，能使整个系统的性能提高到原来</a:t>
            </a:r>
            <a:r>
              <a:rPr sz="2000" b="1" spc="-10" dirty="0">
                <a:latin typeface="宋体"/>
                <a:cs typeface="宋体"/>
              </a:rPr>
              <a:t>的1.6</a:t>
            </a:r>
            <a:r>
              <a:rPr sz="2000" b="1" spc="-30" dirty="0">
                <a:latin typeface="宋体"/>
                <a:cs typeface="宋体"/>
              </a:rPr>
              <a:t>倍。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361574" y="4732192"/>
            <a:ext cx="330835" cy="0"/>
          </a:xfrm>
          <a:custGeom>
            <a:avLst/>
            <a:gdLst/>
            <a:ahLst/>
            <a:cxnLst/>
            <a:rect l="l" t="t" r="r" b="b"/>
            <a:pathLst>
              <a:path w="330834">
                <a:moveTo>
                  <a:pt x="0" y="0"/>
                </a:moveTo>
                <a:lnTo>
                  <a:pt x="330247" y="0"/>
                </a:lnTo>
              </a:path>
            </a:pathLst>
          </a:custGeom>
          <a:ln w="6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93090" y="4370283"/>
            <a:ext cx="1426210" cy="0"/>
          </a:xfrm>
          <a:custGeom>
            <a:avLst/>
            <a:gdLst/>
            <a:ahLst/>
            <a:cxnLst/>
            <a:rect l="l" t="t" r="r" b="b"/>
            <a:pathLst>
              <a:path w="1426209">
                <a:moveTo>
                  <a:pt x="0" y="0"/>
                </a:moveTo>
                <a:lnTo>
                  <a:pt x="1425986" y="0"/>
                </a:lnTo>
              </a:path>
            </a:pathLst>
          </a:custGeom>
          <a:ln w="133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120356" y="4732192"/>
            <a:ext cx="368935" cy="0"/>
          </a:xfrm>
          <a:custGeom>
            <a:avLst/>
            <a:gdLst/>
            <a:ahLst/>
            <a:cxnLst/>
            <a:rect l="l" t="t" r="r" b="b"/>
            <a:pathLst>
              <a:path w="368934">
                <a:moveTo>
                  <a:pt x="0" y="0"/>
                </a:moveTo>
                <a:lnTo>
                  <a:pt x="368313" y="0"/>
                </a:lnTo>
              </a:path>
            </a:pathLst>
          </a:custGeom>
          <a:ln w="66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014103" y="4370283"/>
            <a:ext cx="1501140" cy="0"/>
          </a:xfrm>
          <a:custGeom>
            <a:avLst/>
            <a:gdLst/>
            <a:ahLst/>
            <a:cxnLst/>
            <a:rect l="l" t="t" r="r" b="b"/>
            <a:pathLst>
              <a:path w="1501140">
                <a:moveTo>
                  <a:pt x="0" y="0"/>
                </a:moveTo>
                <a:lnTo>
                  <a:pt x="1501124" y="0"/>
                </a:lnTo>
              </a:path>
            </a:pathLst>
          </a:custGeom>
          <a:ln w="1335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578978" y="4153602"/>
            <a:ext cx="54673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dirty="0">
                <a:latin typeface="Symbol"/>
                <a:cs typeface="Symbol"/>
              </a:rPr>
              <a:t></a:t>
            </a:r>
            <a:r>
              <a:rPr sz="2100" spc="-225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1.6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26434" y="4343859"/>
            <a:ext cx="36131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25" dirty="0">
                <a:latin typeface="Times New Roman"/>
                <a:cs typeface="Times New Roman"/>
              </a:rPr>
              <a:t>0.4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19322" y="4515511"/>
            <a:ext cx="105981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dirty="0">
                <a:latin typeface="Times New Roman"/>
                <a:cs typeface="Times New Roman"/>
              </a:rPr>
              <a:t>(1</a:t>
            </a:r>
            <a:r>
              <a:rPr sz="2100" dirty="0">
                <a:latin typeface="Symbol"/>
                <a:cs typeface="Symbol"/>
              </a:rPr>
              <a:t></a:t>
            </a:r>
            <a:r>
              <a:rPr sz="2100" spc="-18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0.4)</a:t>
            </a:r>
            <a:r>
              <a:rPr sz="2100" spc="-150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Symbol"/>
                <a:cs typeface="Symbol"/>
              </a:rPr>
              <a:t>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392734" y="4727719"/>
            <a:ext cx="205295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768475" algn="l"/>
              </a:tabLst>
            </a:pPr>
            <a:r>
              <a:rPr sz="2100" i="1" spc="-25" dirty="0">
                <a:latin typeface="Times New Roman"/>
                <a:cs typeface="Times New Roman"/>
              </a:rPr>
              <a:t>Se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spc="-25" dirty="0">
                <a:latin typeface="Times New Roman"/>
                <a:cs typeface="Times New Roman"/>
              </a:rPr>
              <a:t>15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84351" y="3981977"/>
            <a:ext cx="16065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0" dirty="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98336" y="4515511"/>
            <a:ext cx="102171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dirty="0">
                <a:latin typeface="Times New Roman"/>
                <a:cs typeface="Times New Roman"/>
              </a:rPr>
              <a:t>(1</a:t>
            </a:r>
            <a:r>
              <a:rPr sz="2100" dirty="0">
                <a:latin typeface="Symbol"/>
                <a:cs typeface="Symbol"/>
              </a:rPr>
              <a:t>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i="1" dirty="0">
                <a:latin typeface="Times New Roman"/>
                <a:cs typeface="Times New Roman"/>
              </a:rPr>
              <a:t>Fe</a:t>
            </a:r>
            <a:r>
              <a:rPr sz="2100" dirty="0">
                <a:latin typeface="Times New Roman"/>
                <a:cs typeface="Times New Roman"/>
              </a:rPr>
              <a:t>)</a:t>
            </a:r>
            <a:r>
              <a:rPr sz="2100" spc="-155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Symbol"/>
                <a:cs typeface="Symbol"/>
              </a:rPr>
              <a:t>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25595" y="3981977"/>
            <a:ext cx="16065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0" dirty="0">
                <a:latin typeface="Times New Roman"/>
                <a:cs typeface="Times New Roman"/>
              </a:rPr>
              <a:t>1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82104" y="4153601"/>
            <a:ext cx="17399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spc="-50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84367" y="4153601"/>
            <a:ext cx="550545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89255" algn="l"/>
              </a:tabLst>
            </a:pPr>
            <a:r>
              <a:rPr sz="2100" i="1" spc="-50" dirty="0">
                <a:latin typeface="Times New Roman"/>
                <a:cs typeface="Times New Roman"/>
              </a:rPr>
              <a:t>S</a:t>
            </a:r>
            <a:r>
              <a:rPr sz="2100" i="1" dirty="0">
                <a:latin typeface="Times New Roman"/>
                <a:cs typeface="Times New Roman"/>
              </a:rPr>
              <a:t>	</a:t>
            </a:r>
            <a:r>
              <a:rPr sz="2100" spc="-50" dirty="0">
                <a:latin typeface="Symbol"/>
                <a:cs typeface="Symbol"/>
              </a:rPr>
              <a:t></a:t>
            </a:r>
            <a:endParaRPr sz="21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80099" y="4343859"/>
            <a:ext cx="299720" cy="3511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00" i="1" spc="-25" dirty="0">
                <a:latin typeface="Times New Roman"/>
                <a:cs typeface="Times New Roman"/>
              </a:rPr>
              <a:t>Fe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44507" y="4276244"/>
            <a:ext cx="1333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i="1" spc="-5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7553" y="1932692"/>
            <a:ext cx="4215765" cy="36042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815"/>
              </a:spcBef>
              <a:buClr>
                <a:srgbClr val="EC7C30"/>
              </a:buClr>
              <a:buFont typeface="Wingdings"/>
              <a:buChar char=""/>
              <a:tabLst>
                <a:tab pos="469900" algn="l"/>
              </a:tabLst>
            </a:pPr>
            <a:r>
              <a:rPr sz="2000" dirty="0">
                <a:latin typeface="黑体"/>
                <a:cs typeface="黑体"/>
              </a:rPr>
              <a:t>Amdahl</a:t>
            </a:r>
            <a:r>
              <a:rPr sz="2000" spc="-10" dirty="0">
                <a:latin typeface="微软雅黑"/>
                <a:cs typeface="微软雅黑"/>
              </a:rPr>
              <a:t>定律：</a:t>
            </a:r>
            <a:r>
              <a:rPr sz="2000" spc="-20" dirty="0">
                <a:solidFill>
                  <a:srgbClr val="CC3300"/>
                </a:solidFill>
                <a:latin typeface="微软雅黑"/>
                <a:cs typeface="微软雅黑"/>
              </a:rPr>
              <a:t>一种性能改进的递</a:t>
            </a:r>
            <a:endParaRPr sz="20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720"/>
              </a:spcBef>
            </a:pPr>
            <a:r>
              <a:rPr sz="2000" spc="-25" dirty="0">
                <a:solidFill>
                  <a:srgbClr val="CC3300"/>
                </a:solidFill>
                <a:latin typeface="微软雅黑"/>
                <a:cs typeface="微软雅黑"/>
              </a:rPr>
              <a:t>减规则</a:t>
            </a:r>
            <a:endParaRPr sz="2000">
              <a:latin typeface="微软雅黑"/>
              <a:cs typeface="微软雅黑"/>
            </a:endParaRPr>
          </a:p>
          <a:p>
            <a:pPr marL="526415" marR="5080" lvl="1" indent="-228600" algn="just">
              <a:lnSpc>
                <a:spcPct val="130000"/>
              </a:lnSpc>
              <a:spcBef>
                <a:spcPts val="555"/>
              </a:spcBef>
              <a:buClr>
                <a:srgbClr val="538235"/>
              </a:buClr>
              <a:buFont typeface="Arial"/>
              <a:buChar char="•"/>
              <a:tabLst>
                <a:tab pos="526415" algn="l"/>
              </a:tabLst>
            </a:pPr>
            <a:r>
              <a:rPr sz="1700" spc="-15" dirty="0">
                <a:latin typeface="微软雅黑"/>
                <a:cs typeface="微软雅黑"/>
              </a:rPr>
              <a:t>如果仅仅对计算任务中的一部分做性能改进，则改进得越多，所得到的总体性</a:t>
            </a:r>
            <a:r>
              <a:rPr sz="1700" spc="-10" dirty="0">
                <a:latin typeface="微软雅黑"/>
                <a:cs typeface="微软雅黑"/>
              </a:rPr>
              <a:t>能的提升就越有限。</a:t>
            </a:r>
            <a:endParaRPr sz="1700">
              <a:latin typeface="微软雅黑"/>
              <a:cs typeface="微软雅黑"/>
            </a:endParaRPr>
          </a:p>
          <a:p>
            <a:pPr marL="469900" marR="112395" indent="-457834" algn="just">
              <a:lnSpc>
                <a:spcPct val="130000"/>
              </a:lnSpc>
              <a:spcBef>
                <a:spcPts val="440"/>
              </a:spcBef>
              <a:buClr>
                <a:srgbClr val="EC7C30"/>
              </a:buClr>
              <a:buFont typeface="Wingdings"/>
              <a:buChar char=""/>
              <a:tabLst>
                <a:tab pos="469900" algn="l"/>
              </a:tabLst>
            </a:pP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重要推论：</a:t>
            </a:r>
            <a:r>
              <a:rPr sz="2000" spc="-15" dirty="0">
                <a:latin typeface="微软雅黑"/>
                <a:cs typeface="微软雅黑"/>
              </a:rPr>
              <a:t>如果只针对整个任务</a:t>
            </a:r>
            <a:r>
              <a:rPr sz="2000" spc="15" dirty="0">
                <a:latin typeface="微软雅黑"/>
                <a:cs typeface="微软雅黑"/>
              </a:rPr>
              <a:t>的一部分进行改进和优化，那么</a:t>
            </a:r>
            <a:r>
              <a:rPr sz="2000" spc="-5" dirty="0">
                <a:latin typeface="微软雅黑"/>
                <a:cs typeface="微软雅黑"/>
              </a:rPr>
              <a:t>所获得的加速比不超过：</a:t>
            </a:r>
            <a:endParaRPr sz="2000">
              <a:latin typeface="微软雅黑"/>
              <a:cs typeface="微软雅黑"/>
            </a:endParaRPr>
          </a:p>
          <a:p>
            <a:pPr marL="1410335">
              <a:lnSpc>
                <a:spcPct val="100000"/>
              </a:lnSpc>
              <a:spcBef>
                <a:spcPts val="1225"/>
              </a:spcBef>
            </a:pPr>
            <a:r>
              <a:rPr sz="2000" spc="-10" dirty="0">
                <a:latin typeface="黑体"/>
                <a:cs typeface="黑体"/>
              </a:rPr>
              <a:t>1/</a:t>
            </a:r>
            <a:r>
              <a:rPr sz="2000" spc="-10" dirty="0">
                <a:latin typeface="微软雅黑"/>
                <a:cs typeface="微软雅黑"/>
              </a:rPr>
              <a:t>（</a:t>
            </a:r>
            <a:r>
              <a:rPr sz="2000" spc="-10" dirty="0">
                <a:latin typeface="黑体"/>
                <a:cs typeface="黑体"/>
              </a:rPr>
              <a:t>1</a:t>
            </a:r>
            <a:r>
              <a:rPr sz="2000" spc="-20" dirty="0">
                <a:latin typeface="微软雅黑"/>
                <a:cs typeface="微软雅黑"/>
              </a:rPr>
              <a:t>－可改进比例</a:t>
            </a:r>
            <a:r>
              <a:rPr sz="2000" spc="-50" dirty="0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898" y="1000759"/>
            <a:ext cx="11297285" cy="144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285" indent="-236854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SzPct val="93750"/>
              <a:buFont typeface="Wingdings"/>
              <a:buChar char=""/>
              <a:tabLst>
                <a:tab pos="248285" algn="l"/>
              </a:tabLst>
            </a:pPr>
            <a:r>
              <a:rPr sz="2400" dirty="0">
                <a:solidFill>
                  <a:srgbClr val="006FC0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006FC0"/>
                </a:solidFill>
                <a:latin typeface="微软雅黑"/>
                <a:cs typeface="微软雅黑"/>
              </a:rPr>
              <a:t>、</a:t>
            </a:r>
            <a:r>
              <a:rPr sz="2400" spc="-10" dirty="0">
                <a:latin typeface="Times New Roman"/>
                <a:cs typeface="Times New Roman"/>
              </a:rPr>
              <a:t>Amdahl</a:t>
            </a:r>
            <a:r>
              <a:rPr sz="2400" dirty="0">
                <a:latin typeface="微软雅黑"/>
                <a:cs typeface="微软雅黑"/>
              </a:rPr>
              <a:t>定律</a:t>
            </a:r>
            <a:r>
              <a:rPr sz="2400" spc="-50" dirty="0">
                <a:solidFill>
                  <a:srgbClr val="006FC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00">
              <a:latin typeface="Times New Roman"/>
              <a:cs typeface="Times New Roman"/>
            </a:endParaRPr>
          </a:p>
          <a:p>
            <a:pPr marL="1052830">
              <a:lnSpc>
                <a:spcPct val="100000"/>
              </a:lnSpc>
            </a:pPr>
            <a:r>
              <a:rPr sz="2000" b="1" spc="-15" dirty="0">
                <a:latin typeface="宋体"/>
                <a:cs typeface="宋体"/>
              </a:rPr>
              <a:t>例</a:t>
            </a:r>
            <a:r>
              <a:rPr sz="2000" b="1" dirty="0">
                <a:latin typeface="宋体"/>
                <a:cs typeface="宋体"/>
              </a:rPr>
              <a:t>1.2</a:t>
            </a:r>
            <a:r>
              <a:rPr sz="2000" b="1" spc="-25" dirty="0">
                <a:latin typeface="宋体"/>
                <a:cs typeface="宋体"/>
              </a:rPr>
              <a:t> 某计算机系统采用浮点运算部件后，使浮点运算速度提高到原来的</a:t>
            </a:r>
            <a:r>
              <a:rPr sz="2000" b="1" spc="-10" dirty="0">
                <a:solidFill>
                  <a:srgbClr val="9933FF"/>
                </a:solidFill>
                <a:latin typeface="宋体"/>
                <a:cs typeface="宋体"/>
              </a:rPr>
              <a:t>25</a:t>
            </a:r>
            <a:r>
              <a:rPr sz="2000" b="1" spc="-25" dirty="0">
                <a:latin typeface="宋体"/>
                <a:cs typeface="宋体"/>
              </a:rPr>
              <a:t>倍，而系统运行</a:t>
            </a:r>
            <a:endParaRPr sz="2000">
              <a:latin typeface="宋体"/>
              <a:cs typeface="宋体"/>
            </a:endParaRPr>
          </a:p>
          <a:p>
            <a:pPr marL="479425">
              <a:lnSpc>
                <a:spcPct val="100000"/>
              </a:lnSpc>
              <a:spcBef>
                <a:spcPts val="725"/>
              </a:spcBef>
            </a:pPr>
            <a:r>
              <a:rPr sz="2000" b="1" spc="-15" dirty="0">
                <a:latin typeface="宋体"/>
                <a:cs typeface="宋体"/>
              </a:rPr>
              <a:t>某一程序的整体性能提高到原来的</a:t>
            </a:r>
            <a:r>
              <a:rPr sz="2000" b="1" spc="-15" dirty="0">
                <a:solidFill>
                  <a:srgbClr val="9933FF"/>
                </a:solidFill>
                <a:latin typeface="宋体"/>
                <a:cs typeface="宋体"/>
              </a:rPr>
              <a:t>4</a:t>
            </a:r>
            <a:r>
              <a:rPr sz="2000" b="1" spc="-25" dirty="0">
                <a:latin typeface="宋体"/>
                <a:cs typeface="宋体"/>
              </a:rPr>
              <a:t>倍，试计算该程序中浮点操作所占的比例。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9568" y="2639949"/>
            <a:ext cx="4131945" cy="8553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  <a:tabLst>
                <a:tab pos="1996439" algn="l"/>
                <a:tab pos="2338070" algn="l"/>
                <a:tab pos="3366770" algn="l"/>
                <a:tab pos="3709670" algn="l"/>
              </a:tabLst>
            </a:pPr>
            <a:r>
              <a:rPr sz="2000" b="1" dirty="0">
                <a:latin typeface="宋体"/>
                <a:cs typeface="宋体"/>
              </a:rPr>
              <a:t>解</a:t>
            </a:r>
            <a:r>
              <a:rPr sz="2000" b="1" spc="-10" dirty="0">
                <a:latin typeface="宋体"/>
                <a:cs typeface="宋体"/>
              </a:rPr>
              <a:t> 由题可知</a:t>
            </a:r>
            <a:r>
              <a:rPr sz="2000" b="1" spc="-50" dirty="0">
                <a:latin typeface="宋体"/>
                <a:cs typeface="宋体"/>
              </a:rPr>
              <a:t>：</a:t>
            </a:r>
            <a:r>
              <a:rPr sz="2000" b="1" dirty="0">
                <a:latin typeface="宋体"/>
                <a:cs typeface="宋体"/>
              </a:rPr>
              <a:t>	</a:t>
            </a:r>
            <a:r>
              <a:rPr sz="2000" b="1" spc="-25" dirty="0">
                <a:latin typeface="宋体"/>
                <a:cs typeface="宋体"/>
              </a:rPr>
              <a:t>S</a:t>
            </a:r>
            <a:r>
              <a:rPr sz="1950" b="1" spc="-37" baseline="-21367" dirty="0">
                <a:latin typeface="宋体"/>
                <a:cs typeface="宋体"/>
              </a:rPr>
              <a:t>e</a:t>
            </a:r>
            <a:r>
              <a:rPr sz="1950" b="1" baseline="-21367" dirty="0">
                <a:latin typeface="宋体"/>
                <a:cs typeface="宋体"/>
              </a:rPr>
              <a:t>	</a:t>
            </a:r>
            <a:r>
              <a:rPr sz="2000" b="1" dirty="0">
                <a:latin typeface="宋体"/>
                <a:cs typeface="宋体"/>
              </a:rPr>
              <a:t>=</a:t>
            </a:r>
            <a:r>
              <a:rPr sz="2000" b="1" spc="-10" dirty="0">
                <a:latin typeface="宋体"/>
                <a:cs typeface="宋体"/>
              </a:rPr>
              <a:t> </a:t>
            </a:r>
            <a:r>
              <a:rPr sz="2000" b="1" spc="-25" dirty="0">
                <a:latin typeface="宋体"/>
                <a:cs typeface="宋体"/>
              </a:rPr>
              <a:t>25</a:t>
            </a:r>
            <a:r>
              <a:rPr sz="2000" b="1" dirty="0">
                <a:latin typeface="宋体"/>
                <a:cs typeface="宋体"/>
              </a:rPr>
              <a:t>	</a:t>
            </a:r>
            <a:r>
              <a:rPr sz="2000" b="1" spc="-25" dirty="0">
                <a:latin typeface="宋体"/>
                <a:cs typeface="宋体"/>
              </a:rPr>
              <a:t>S</a:t>
            </a:r>
            <a:r>
              <a:rPr sz="1950" b="1" spc="-37" baseline="-21367" dirty="0">
                <a:latin typeface="宋体"/>
                <a:cs typeface="宋体"/>
              </a:rPr>
              <a:t>n</a:t>
            </a:r>
            <a:r>
              <a:rPr sz="1950" b="1" baseline="-21367" dirty="0">
                <a:latin typeface="宋体"/>
                <a:cs typeface="宋体"/>
              </a:rPr>
              <a:t>	</a:t>
            </a:r>
            <a:r>
              <a:rPr sz="2000" b="1" dirty="0">
                <a:latin typeface="宋体"/>
                <a:cs typeface="宋体"/>
              </a:rPr>
              <a:t>=</a:t>
            </a:r>
            <a:r>
              <a:rPr sz="2000" b="1" spc="-10" dirty="0">
                <a:latin typeface="宋体"/>
                <a:cs typeface="宋体"/>
              </a:rPr>
              <a:t> </a:t>
            </a:r>
            <a:r>
              <a:rPr sz="2000" b="1" spc="-50" dirty="0">
                <a:latin typeface="宋体"/>
                <a:cs typeface="宋体"/>
              </a:rPr>
              <a:t>4</a:t>
            </a:r>
            <a:endParaRPr sz="2000">
              <a:latin typeface="宋体"/>
              <a:cs typeface="宋体"/>
            </a:endParaRPr>
          </a:p>
          <a:p>
            <a:pPr marL="461645">
              <a:lnSpc>
                <a:spcPct val="100000"/>
              </a:lnSpc>
              <a:spcBef>
                <a:spcPts val="1725"/>
              </a:spcBef>
            </a:pPr>
            <a:r>
              <a:rPr sz="2000" b="1" spc="-15" dirty="0">
                <a:latin typeface="宋体"/>
                <a:cs typeface="宋体"/>
              </a:rPr>
              <a:t>根据</a:t>
            </a:r>
            <a:r>
              <a:rPr sz="2000" b="1" dirty="0">
                <a:latin typeface="宋体"/>
                <a:cs typeface="宋体"/>
              </a:rPr>
              <a:t>Amdahl</a:t>
            </a:r>
            <a:r>
              <a:rPr sz="2000" b="1" spc="-30" dirty="0">
                <a:latin typeface="宋体"/>
                <a:cs typeface="宋体"/>
              </a:rPr>
              <a:t>定律可知：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0574" y="4853432"/>
            <a:ext cx="4633595" cy="893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宋体"/>
                <a:cs typeface="宋体"/>
              </a:rPr>
              <a:t>由此可得：</a:t>
            </a:r>
            <a:r>
              <a:rPr sz="2000" dirty="0">
                <a:latin typeface="Times New Roman"/>
                <a:cs typeface="Times New Roman"/>
              </a:rPr>
              <a:t>Fe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latin typeface="宋体"/>
                <a:cs typeface="宋体"/>
              </a:rPr>
              <a:t>= </a:t>
            </a:r>
            <a:r>
              <a:rPr sz="2000" b="1" spc="-20" dirty="0">
                <a:latin typeface="宋体"/>
                <a:cs typeface="宋体"/>
              </a:rPr>
              <a:t>78.1%</a:t>
            </a:r>
            <a:endParaRPr sz="2000">
              <a:latin typeface="宋体"/>
              <a:cs typeface="宋体"/>
            </a:endParaRPr>
          </a:p>
          <a:p>
            <a:pPr marL="140970">
              <a:lnSpc>
                <a:spcPct val="100000"/>
              </a:lnSpc>
              <a:spcBef>
                <a:spcPts val="2030"/>
              </a:spcBef>
            </a:pPr>
            <a:r>
              <a:rPr sz="2000" b="1" spc="-15" dirty="0">
                <a:latin typeface="宋体"/>
                <a:cs typeface="宋体"/>
              </a:rPr>
              <a:t>即程序中浮点操作所占的比例为</a:t>
            </a:r>
            <a:r>
              <a:rPr sz="2000" b="1" spc="-20" dirty="0">
                <a:latin typeface="宋体"/>
                <a:cs typeface="宋体"/>
              </a:rPr>
              <a:t>78.1</a:t>
            </a:r>
            <a:r>
              <a:rPr sz="2000" b="1" spc="-35" dirty="0">
                <a:latin typeface="宋体"/>
                <a:cs typeface="宋体"/>
              </a:rPr>
              <a:t>%。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55236" y="4158832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5">
                <a:moveTo>
                  <a:pt x="0" y="0"/>
                </a:moveTo>
                <a:lnTo>
                  <a:pt x="347279" y="0"/>
                </a:lnTo>
              </a:path>
            </a:pathLst>
          </a:custGeom>
          <a:ln w="64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590962" y="3779015"/>
            <a:ext cx="1537335" cy="0"/>
          </a:xfrm>
          <a:custGeom>
            <a:avLst/>
            <a:gdLst/>
            <a:ahLst/>
            <a:cxnLst/>
            <a:rect l="l" t="t" r="r" b="b"/>
            <a:pathLst>
              <a:path w="1537334">
                <a:moveTo>
                  <a:pt x="0" y="0"/>
                </a:moveTo>
                <a:lnTo>
                  <a:pt x="1537330" y="0"/>
                </a:lnTo>
              </a:path>
            </a:pathLst>
          </a:custGeom>
          <a:ln w="128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79914" y="4155232"/>
            <a:ext cx="32067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-25" dirty="0">
                <a:latin typeface="Times New Roman"/>
                <a:cs typeface="Times New Roman"/>
              </a:rPr>
              <a:t>25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9613" y="3831263"/>
            <a:ext cx="1546225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050" spc="-280" dirty="0">
                <a:latin typeface="Symbol"/>
                <a:cs typeface="Symbol"/>
              </a:rPr>
              <a:t></a:t>
            </a:r>
            <a:r>
              <a:rPr sz="2250" spc="-280" dirty="0">
                <a:latin typeface="Times New Roman"/>
                <a:cs typeface="Times New Roman"/>
              </a:rPr>
              <a:t>1</a:t>
            </a:r>
            <a:r>
              <a:rPr sz="2250" spc="-285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</a:t>
            </a:r>
            <a:r>
              <a:rPr sz="2250" spc="10" dirty="0">
                <a:latin typeface="Times New Roman"/>
                <a:cs typeface="Times New Roman"/>
              </a:rPr>
              <a:t> </a:t>
            </a:r>
            <a:r>
              <a:rPr sz="2250" i="1" spc="-70" dirty="0">
                <a:latin typeface="Times New Roman"/>
                <a:cs typeface="Times New Roman"/>
              </a:rPr>
              <a:t>Fe</a:t>
            </a:r>
            <a:r>
              <a:rPr sz="3050" spc="-70" dirty="0">
                <a:latin typeface="Symbol"/>
                <a:cs typeface="Symbol"/>
              </a:rPr>
              <a:t></a:t>
            </a:r>
            <a:r>
              <a:rPr sz="3050" spc="-450" dirty="0">
                <a:latin typeface="Times New Roman"/>
                <a:cs typeface="Times New Roman"/>
              </a:rPr>
              <a:t> </a:t>
            </a:r>
            <a:r>
              <a:rPr sz="2250" dirty="0">
                <a:latin typeface="Symbol"/>
                <a:cs typeface="Symbol"/>
              </a:rPr>
              <a:t></a:t>
            </a:r>
            <a:r>
              <a:rPr sz="2250" spc="260" dirty="0">
                <a:latin typeface="Times New Roman"/>
                <a:cs typeface="Times New Roman"/>
              </a:rPr>
              <a:t> </a:t>
            </a:r>
            <a:r>
              <a:rPr sz="3375" i="1" spc="-37" baseline="35802" dirty="0">
                <a:latin typeface="Times New Roman"/>
                <a:cs typeface="Times New Roman"/>
              </a:rPr>
              <a:t>Fe</a:t>
            </a:r>
            <a:endParaRPr sz="3375" baseline="35802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5395" y="3366178"/>
            <a:ext cx="170815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spc="-50" dirty="0">
                <a:latin typeface="Times New Roman"/>
                <a:cs typeface="Times New Roman"/>
              </a:rPr>
              <a:t>1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49145" y="3548402"/>
            <a:ext cx="388620" cy="3733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50" dirty="0">
                <a:latin typeface="Times New Roman"/>
                <a:cs typeface="Times New Roman"/>
              </a:rPr>
              <a:t>4</a:t>
            </a:r>
            <a:r>
              <a:rPr sz="2250" spc="-95" dirty="0">
                <a:latin typeface="Times New Roman"/>
                <a:cs typeface="Times New Roman"/>
              </a:rPr>
              <a:t> </a:t>
            </a: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1108" y="1356436"/>
            <a:ext cx="9150985" cy="4633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105"/>
              </a:spcBef>
              <a:buClr>
                <a:srgbClr val="0000FF"/>
              </a:buClr>
              <a:buAutoNum type="arabicPeriod" startAt="3"/>
              <a:tabLst>
                <a:tab pos="375285" algn="l"/>
              </a:tabLst>
            </a:pPr>
            <a:r>
              <a:rPr sz="2600" spc="-10" dirty="0">
                <a:latin typeface="Times New Roman"/>
                <a:cs typeface="Times New Roman"/>
              </a:rPr>
              <a:t>CPU</a:t>
            </a:r>
            <a:r>
              <a:rPr sz="2600" spc="-20" dirty="0">
                <a:latin typeface="微软雅黑"/>
                <a:cs typeface="微软雅黑"/>
              </a:rPr>
              <a:t>性能公式</a:t>
            </a:r>
            <a:endParaRPr sz="26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65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30" dirty="0">
                <a:latin typeface="微软雅黑"/>
                <a:cs typeface="微软雅黑"/>
              </a:rPr>
              <a:t>执行一个程序所需的</a:t>
            </a:r>
            <a:r>
              <a:rPr sz="2200" spc="-10" dirty="0">
                <a:latin typeface="黑体"/>
                <a:cs typeface="黑体"/>
              </a:rPr>
              <a:t>CPU</a:t>
            </a:r>
            <a:r>
              <a:rPr sz="2200" spc="-40" dirty="0">
                <a:latin typeface="微软雅黑"/>
                <a:cs typeface="微软雅黑"/>
              </a:rPr>
              <a:t>时间</a:t>
            </a:r>
            <a:endParaRPr sz="2200">
              <a:latin typeface="微软雅黑"/>
              <a:cs typeface="微软雅黑"/>
            </a:endParaRPr>
          </a:p>
          <a:p>
            <a:pPr marL="641985" marR="1996439">
              <a:lnSpc>
                <a:spcPts val="4200"/>
              </a:lnSpc>
              <a:spcBef>
                <a:spcPts val="390"/>
              </a:spcBef>
            </a:pPr>
            <a:r>
              <a:rPr sz="2200" spc="-10" dirty="0">
                <a:latin typeface="黑体"/>
                <a:cs typeface="黑体"/>
              </a:rPr>
              <a:t>CPU</a:t>
            </a:r>
            <a:r>
              <a:rPr sz="2200" spc="-25" dirty="0">
                <a:latin typeface="微软雅黑"/>
                <a:cs typeface="微软雅黑"/>
              </a:rPr>
              <a:t>时间 </a:t>
            </a:r>
            <a:r>
              <a:rPr sz="2200" dirty="0">
                <a:latin typeface="Times New Roman"/>
                <a:cs typeface="Times New Roman"/>
              </a:rPr>
              <a:t>= </a:t>
            </a:r>
            <a:r>
              <a:rPr sz="2200" spc="-35" dirty="0">
                <a:latin typeface="微软雅黑"/>
                <a:cs typeface="微软雅黑"/>
              </a:rPr>
              <a:t>执行程序所需的时钟周期数×时钟周期时间其中：时钟周期时间是系统时钟频率的倒数。</a:t>
            </a:r>
            <a:endParaRPr sz="22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16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30" dirty="0">
                <a:latin typeface="微软雅黑"/>
                <a:cs typeface="微软雅黑"/>
              </a:rPr>
              <a:t>每条指令执行的平均时钟周期数</a:t>
            </a:r>
            <a:r>
              <a:rPr sz="2200" spc="-10" dirty="0">
                <a:solidFill>
                  <a:srgbClr val="FF0000"/>
                </a:solidFill>
                <a:latin typeface="黑体"/>
                <a:cs typeface="黑体"/>
              </a:rPr>
              <a:t>CPI</a:t>
            </a:r>
            <a:r>
              <a:rPr sz="2200" spc="-49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2200" dirty="0">
                <a:latin typeface="微软雅黑"/>
                <a:cs typeface="微软雅黑"/>
              </a:rPr>
              <a:t>（</a:t>
            </a:r>
            <a:r>
              <a:rPr sz="2200" dirty="0">
                <a:latin typeface="宋体"/>
                <a:cs typeface="宋体"/>
              </a:rPr>
              <a:t>Cycles Per</a:t>
            </a:r>
            <a:r>
              <a:rPr sz="2200" spc="-5" dirty="0">
                <a:latin typeface="宋体"/>
                <a:cs typeface="宋体"/>
              </a:rPr>
              <a:t> </a:t>
            </a:r>
            <a:r>
              <a:rPr sz="2200" spc="-10" dirty="0">
                <a:latin typeface="宋体"/>
                <a:cs typeface="宋体"/>
              </a:rPr>
              <a:t>Instruction</a:t>
            </a:r>
            <a:r>
              <a:rPr sz="2200" spc="-10" dirty="0"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  <a:p>
            <a:pPr marL="1339850">
              <a:lnSpc>
                <a:spcPct val="100000"/>
              </a:lnSpc>
              <a:spcBef>
                <a:spcPts val="1550"/>
              </a:spcBef>
            </a:pPr>
            <a:r>
              <a:rPr sz="2200" spc="-20" dirty="0">
                <a:latin typeface="黑体"/>
                <a:cs typeface="黑体"/>
              </a:rPr>
              <a:t>CPI</a:t>
            </a:r>
            <a:r>
              <a:rPr sz="2200" spc="-500" dirty="0">
                <a:latin typeface="黑体"/>
                <a:cs typeface="黑体"/>
              </a:rPr>
              <a:t> </a:t>
            </a:r>
            <a:r>
              <a:rPr sz="2200" spc="25" dirty="0">
                <a:latin typeface="Times New Roman"/>
                <a:cs typeface="Times New Roman"/>
              </a:rPr>
              <a:t>= </a:t>
            </a:r>
            <a:r>
              <a:rPr sz="2200" spc="-35" dirty="0">
                <a:latin typeface="微软雅黑"/>
                <a:cs typeface="微软雅黑"/>
              </a:rPr>
              <a:t>执行程序所需的时钟周期数／</a:t>
            </a:r>
            <a:r>
              <a:rPr sz="2200" spc="-25" dirty="0">
                <a:latin typeface="黑体"/>
                <a:cs typeface="黑体"/>
              </a:rPr>
              <a:t>IC</a:t>
            </a:r>
            <a:endParaRPr sz="2200">
              <a:latin typeface="黑体"/>
              <a:cs typeface="黑体"/>
            </a:endParaRPr>
          </a:p>
          <a:p>
            <a:pPr marL="1687830">
              <a:lnSpc>
                <a:spcPct val="100000"/>
              </a:lnSpc>
              <a:spcBef>
                <a:spcPts val="1490"/>
              </a:spcBef>
            </a:pPr>
            <a:r>
              <a:rPr sz="1900" spc="-20" dirty="0">
                <a:solidFill>
                  <a:srgbClr val="FF0000"/>
                </a:solidFill>
                <a:latin typeface="宋体"/>
                <a:cs typeface="宋体"/>
              </a:rPr>
              <a:t>IC</a:t>
            </a:r>
            <a:r>
              <a:rPr sz="1900" spc="-20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sz="1900" spc="-30" dirty="0">
                <a:latin typeface="微软雅黑"/>
                <a:cs typeface="微软雅黑"/>
              </a:rPr>
              <a:t>所执行的指令条数</a:t>
            </a:r>
            <a:endParaRPr sz="19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48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30" dirty="0">
                <a:latin typeface="微软雅黑"/>
                <a:cs typeface="微软雅黑"/>
              </a:rPr>
              <a:t>程序执行的</a:t>
            </a:r>
            <a:r>
              <a:rPr sz="2200" spc="-10" dirty="0">
                <a:latin typeface="黑体"/>
                <a:cs typeface="黑体"/>
              </a:rPr>
              <a:t>CPU</a:t>
            </a:r>
            <a:r>
              <a:rPr sz="2200" spc="-35" dirty="0">
                <a:latin typeface="微软雅黑"/>
                <a:cs typeface="微软雅黑"/>
              </a:rPr>
              <a:t>时间可以写成</a:t>
            </a:r>
            <a:endParaRPr sz="2200">
              <a:latin typeface="微软雅黑"/>
              <a:cs typeface="微软雅黑"/>
            </a:endParaRPr>
          </a:p>
          <a:p>
            <a:pPr marL="1201420">
              <a:lnSpc>
                <a:spcPct val="100000"/>
              </a:lnSpc>
              <a:spcBef>
                <a:spcPts val="1550"/>
              </a:spcBef>
            </a:pPr>
            <a:r>
              <a:rPr sz="2200" spc="-20" dirty="0">
                <a:solidFill>
                  <a:srgbClr val="FF0000"/>
                </a:solidFill>
                <a:latin typeface="黑体"/>
                <a:cs typeface="黑体"/>
              </a:rPr>
              <a:t>CPU</a:t>
            </a:r>
            <a:r>
              <a:rPr sz="2200" spc="-50" dirty="0">
                <a:solidFill>
                  <a:srgbClr val="FF0000"/>
                </a:solidFill>
                <a:latin typeface="微软雅黑"/>
                <a:cs typeface="微软雅黑"/>
              </a:rPr>
              <a:t>时间 </a:t>
            </a:r>
            <a:r>
              <a:rPr sz="2200" spc="5" dirty="0">
                <a:solidFill>
                  <a:srgbClr val="FF0000"/>
                </a:solidFill>
                <a:latin typeface="Times New Roman"/>
                <a:cs typeface="Times New Roman"/>
              </a:rPr>
              <a:t>= </a:t>
            </a:r>
            <a:r>
              <a:rPr sz="2200" dirty="0">
                <a:solidFill>
                  <a:srgbClr val="FF0000"/>
                </a:solidFill>
                <a:latin typeface="黑体"/>
                <a:cs typeface="黑体"/>
              </a:rPr>
              <a:t>IC</a:t>
            </a:r>
            <a:r>
              <a:rPr sz="2200" spc="25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微软雅黑"/>
                <a:cs typeface="微软雅黑"/>
              </a:rPr>
              <a:t>×</a:t>
            </a:r>
            <a:r>
              <a:rPr sz="2200" spc="-20" dirty="0">
                <a:solidFill>
                  <a:srgbClr val="FF0000"/>
                </a:solidFill>
                <a:latin typeface="黑体"/>
                <a:cs typeface="黑体"/>
              </a:rPr>
              <a:t>CPI</a:t>
            </a:r>
            <a:r>
              <a:rPr sz="2200" spc="-540" dirty="0">
                <a:solidFill>
                  <a:srgbClr val="FF0000"/>
                </a:solidFill>
                <a:latin typeface="黑体"/>
                <a:cs typeface="黑体"/>
              </a:rPr>
              <a:t> </a:t>
            </a:r>
            <a:r>
              <a:rPr sz="2200" spc="-40" dirty="0">
                <a:solidFill>
                  <a:srgbClr val="FF0000"/>
                </a:solidFill>
                <a:latin typeface="微软雅黑"/>
                <a:cs typeface="微软雅黑"/>
              </a:rPr>
              <a:t>×时钟周期时间</a:t>
            </a:r>
            <a:endParaRPr sz="2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6654" y="5939129"/>
            <a:ext cx="370268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00" spc="-10" dirty="0">
                <a:latin typeface="宋体"/>
                <a:cs typeface="宋体"/>
              </a:rPr>
              <a:t>CPU</a:t>
            </a:r>
            <a:r>
              <a:rPr sz="1900" spc="50" dirty="0">
                <a:latin typeface="微软雅黑"/>
                <a:cs typeface="微软雅黑"/>
              </a:rPr>
              <a:t>时钟周期数 </a:t>
            </a:r>
            <a:r>
              <a:rPr sz="1900" spc="-5" dirty="0">
                <a:latin typeface="宋体"/>
                <a:cs typeface="宋体"/>
              </a:rPr>
              <a:t>= </a:t>
            </a:r>
            <a:r>
              <a:rPr sz="2600" dirty="0">
                <a:latin typeface="Symbol"/>
                <a:cs typeface="Symbol"/>
              </a:rPr>
              <a:t></a:t>
            </a:r>
            <a:r>
              <a:rPr sz="2600" spc="28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宋体"/>
                <a:cs typeface="宋体"/>
              </a:rPr>
              <a:t>(CPI</a:t>
            </a:r>
            <a:r>
              <a:rPr sz="1875" baseline="-20000" dirty="0">
                <a:latin typeface="宋体"/>
                <a:cs typeface="宋体"/>
              </a:rPr>
              <a:t>i</a:t>
            </a:r>
            <a:r>
              <a:rPr sz="1875" spc="494" baseline="-20000" dirty="0">
                <a:latin typeface="宋体"/>
                <a:cs typeface="宋体"/>
              </a:rPr>
              <a:t> </a:t>
            </a:r>
            <a:r>
              <a:rPr sz="1900" dirty="0">
                <a:latin typeface="Symbol"/>
                <a:cs typeface="Symbol"/>
              </a:rPr>
              <a:t></a:t>
            </a:r>
            <a:r>
              <a:rPr sz="1900" spc="47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宋体"/>
                <a:cs typeface="宋体"/>
              </a:rPr>
              <a:t>IC</a:t>
            </a:r>
            <a:r>
              <a:rPr sz="1875" spc="-30" baseline="-20000" dirty="0">
                <a:latin typeface="宋体"/>
                <a:cs typeface="宋体"/>
              </a:rPr>
              <a:t>i</a:t>
            </a:r>
            <a:r>
              <a:rPr sz="1900" spc="-20" dirty="0">
                <a:latin typeface="宋体"/>
                <a:cs typeface="宋体"/>
              </a:rPr>
              <a:t>)</a:t>
            </a:r>
            <a:endParaRPr sz="19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816" y="971169"/>
            <a:ext cx="6736080" cy="5096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8620" indent="-363220">
              <a:lnSpc>
                <a:spcPct val="100000"/>
              </a:lnSpc>
              <a:spcBef>
                <a:spcPts val="105"/>
              </a:spcBef>
              <a:buClr>
                <a:srgbClr val="0000FF"/>
              </a:buClr>
              <a:buAutoNum type="arabicPeriod" startAt="3"/>
              <a:tabLst>
                <a:tab pos="388620" algn="l"/>
              </a:tabLst>
            </a:pPr>
            <a:r>
              <a:rPr sz="2600" dirty="0">
                <a:latin typeface="Times New Roman"/>
                <a:cs typeface="Times New Roman"/>
              </a:rPr>
              <a:t>CPU</a:t>
            </a:r>
            <a:r>
              <a:rPr sz="2600" spc="-15" dirty="0">
                <a:latin typeface="微软雅黑"/>
                <a:cs typeface="微软雅黑"/>
              </a:rPr>
              <a:t>性能公式</a:t>
            </a:r>
            <a:endParaRPr sz="2600">
              <a:latin typeface="微软雅黑"/>
              <a:cs typeface="微软雅黑"/>
            </a:endParaRPr>
          </a:p>
          <a:p>
            <a:pPr marL="710565" lvl="1" indent="-227965">
              <a:lnSpc>
                <a:spcPct val="100000"/>
              </a:lnSpc>
              <a:spcBef>
                <a:spcPts val="1645"/>
              </a:spcBef>
              <a:buClr>
                <a:srgbClr val="EC7C30"/>
              </a:buClr>
              <a:buSzPct val="95454"/>
              <a:buFont typeface="Wingdings"/>
              <a:buChar char=""/>
              <a:tabLst>
                <a:tab pos="710565" algn="l"/>
              </a:tabLst>
            </a:pPr>
            <a:r>
              <a:rPr sz="2200" spc="-10" dirty="0">
                <a:solidFill>
                  <a:srgbClr val="006FC0"/>
                </a:solidFill>
                <a:latin typeface="黑体"/>
                <a:cs typeface="黑体"/>
              </a:rPr>
              <a:t>CPU</a:t>
            </a:r>
            <a:r>
              <a:rPr sz="2200" spc="-35" dirty="0">
                <a:solidFill>
                  <a:srgbClr val="006FC0"/>
                </a:solidFill>
                <a:latin typeface="微软雅黑"/>
                <a:cs typeface="微软雅黑"/>
              </a:rPr>
              <a:t>的性能取决于三个参数</a:t>
            </a:r>
            <a:endParaRPr sz="2200">
              <a:latin typeface="微软雅黑"/>
              <a:cs typeface="微软雅黑"/>
            </a:endParaRPr>
          </a:p>
          <a:p>
            <a:pPr marL="1167765" lvl="2" indent="-228600">
              <a:lnSpc>
                <a:spcPct val="100000"/>
              </a:lnSpc>
              <a:spcBef>
                <a:spcPts val="1480"/>
              </a:spcBef>
              <a:buClr>
                <a:srgbClr val="538235"/>
              </a:buClr>
              <a:buFont typeface="Arial"/>
              <a:buChar char="•"/>
              <a:tabLst>
                <a:tab pos="1167765" algn="l"/>
              </a:tabLst>
            </a:pPr>
            <a:r>
              <a:rPr sz="1900" spc="-25" dirty="0">
                <a:solidFill>
                  <a:srgbClr val="FF0000"/>
                </a:solidFill>
                <a:latin typeface="微软雅黑"/>
                <a:cs typeface="微软雅黑"/>
              </a:rPr>
              <a:t>时钟周期时间：</a:t>
            </a:r>
            <a:r>
              <a:rPr sz="1900" spc="-30" dirty="0">
                <a:latin typeface="微软雅黑"/>
                <a:cs typeface="微软雅黑"/>
              </a:rPr>
              <a:t>取决于硬件实现技术和计算机组成；</a:t>
            </a:r>
            <a:endParaRPr sz="1900">
              <a:latin typeface="微软雅黑"/>
              <a:cs typeface="微软雅黑"/>
            </a:endParaRPr>
          </a:p>
          <a:p>
            <a:pPr marL="1167765" lvl="2" indent="-228600">
              <a:lnSpc>
                <a:spcPct val="100000"/>
              </a:lnSpc>
              <a:spcBef>
                <a:spcPts val="1415"/>
              </a:spcBef>
              <a:buClr>
                <a:srgbClr val="538235"/>
              </a:buClr>
              <a:buFont typeface="Arial"/>
              <a:buChar char="•"/>
              <a:tabLst>
                <a:tab pos="1167765" algn="l"/>
              </a:tabLst>
            </a:pPr>
            <a:r>
              <a:rPr sz="1900" spc="-20" dirty="0">
                <a:solidFill>
                  <a:srgbClr val="FF0000"/>
                </a:solidFill>
                <a:latin typeface="宋体"/>
                <a:cs typeface="宋体"/>
              </a:rPr>
              <a:t>CPI</a:t>
            </a:r>
            <a:r>
              <a:rPr sz="1900" spc="-20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sz="1900" spc="-30" dirty="0">
                <a:latin typeface="微软雅黑"/>
                <a:cs typeface="微软雅黑"/>
              </a:rPr>
              <a:t>取决于计算机组成和指令系统的结构；</a:t>
            </a:r>
            <a:endParaRPr sz="1900">
              <a:latin typeface="微软雅黑"/>
              <a:cs typeface="微软雅黑"/>
            </a:endParaRPr>
          </a:p>
          <a:p>
            <a:pPr marL="1167765" lvl="2" indent="-228600">
              <a:lnSpc>
                <a:spcPct val="100000"/>
              </a:lnSpc>
              <a:spcBef>
                <a:spcPts val="1405"/>
              </a:spcBef>
              <a:buClr>
                <a:srgbClr val="538235"/>
              </a:buClr>
              <a:buFont typeface="Arial"/>
              <a:buChar char="•"/>
              <a:tabLst>
                <a:tab pos="1167765" algn="l"/>
              </a:tabLst>
            </a:pPr>
            <a:r>
              <a:rPr sz="1900" spc="-25" dirty="0">
                <a:solidFill>
                  <a:srgbClr val="FF0000"/>
                </a:solidFill>
                <a:latin typeface="宋体"/>
                <a:cs typeface="宋体"/>
              </a:rPr>
              <a:t>IC</a:t>
            </a:r>
            <a:r>
              <a:rPr sz="1900" spc="-25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sz="1900" spc="-30" dirty="0">
                <a:latin typeface="微软雅黑"/>
                <a:cs typeface="微软雅黑"/>
              </a:rPr>
              <a:t>取决于指令系统的结构和编译技术。</a:t>
            </a:r>
            <a:endParaRPr sz="1900">
              <a:latin typeface="微软雅黑"/>
              <a:cs typeface="微软雅黑"/>
            </a:endParaRPr>
          </a:p>
          <a:p>
            <a:pPr marL="710565" lvl="1" indent="-227965">
              <a:lnSpc>
                <a:spcPct val="100000"/>
              </a:lnSpc>
              <a:spcBef>
                <a:spcPts val="1490"/>
              </a:spcBef>
              <a:buClr>
                <a:srgbClr val="EC7C30"/>
              </a:buClr>
              <a:buSzPct val="95454"/>
              <a:buFont typeface="Wingdings"/>
              <a:buChar char=""/>
              <a:tabLst>
                <a:tab pos="710565" algn="l"/>
              </a:tabLst>
            </a:pPr>
            <a:r>
              <a:rPr sz="2200" spc="-35" dirty="0">
                <a:solidFill>
                  <a:srgbClr val="006FC0"/>
                </a:solidFill>
                <a:latin typeface="微软雅黑"/>
                <a:cs typeface="微软雅黑"/>
              </a:rPr>
              <a:t>对</a:t>
            </a:r>
            <a:r>
              <a:rPr sz="2200" spc="-10" dirty="0">
                <a:solidFill>
                  <a:srgbClr val="006FC0"/>
                </a:solidFill>
                <a:latin typeface="黑体"/>
                <a:cs typeface="黑体"/>
              </a:rPr>
              <a:t>CPU</a:t>
            </a:r>
            <a:r>
              <a:rPr sz="2200" spc="-35" dirty="0">
                <a:solidFill>
                  <a:srgbClr val="006FC0"/>
                </a:solidFill>
                <a:latin typeface="微软雅黑"/>
                <a:cs typeface="微软雅黑"/>
              </a:rPr>
              <a:t>性能公式进行进一步细化</a:t>
            </a:r>
            <a:endParaRPr sz="2200">
              <a:latin typeface="微软雅黑"/>
              <a:cs typeface="微软雅黑"/>
            </a:endParaRPr>
          </a:p>
          <a:p>
            <a:pPr marL="939165">
              <a:lnSpc>
                <a:spcPct val="100000"/>
              </a:lnSpc>
              <a:spcBef>
                <a:spcPts val="1485"/>
              </a:spcBef>
            </a:pPr>
            <a:r>
              <a:rPr sz="1900" spc="-25" dirty="0">
                <a:latin typeface="微软雅黑"/>
                <a:cs typeface="微软雅黑"/>
              </a:rPr>
              <a:t>假设：计算机系统有</a:t>
            </a:r>
            <a:r>
              <a:rPr sz="1900" spc="-10" dirty="0">
                <a:solidFill>
                  <a:srgbClr val="6600FF"/>
                </a:solidFill>
                <a:latin typeface="宋体"/>
                <a:cs typeface="宋体"/>
              </a:rPr>
              <a:t>n</a:t>
            </a:r>
            <a:r>
              <a:rPr sz="1900" spc="-35" dirty="0">
                <a:latin typeface="微软雅黑"/>
                <a:cs typeface="微软雅黑"/>
              </a:rPr>
              <a:t>种指令；</a:t>
            </a:r>
            <a:endParaRPr sz="1900">
              <a:latin typeface="微软雅黑"/>
              <a:cs typeface="微软雅黑"/>
            </a:endParaRPr>
          </a:p>
          <a:p>
            <a:pPr marL="1663064">
              <a:lnSpc>
                <a:spcPct val="100000"/>
              </a:lnSpc>
              <a:spcBef>
                <a:spcPts val="1405"/>
              </a:spcBef>
            </a:pPr>
            <a:r>
              <a:rPr sz="1900" dirty="0">
                <a:solidFill>
                  <a:srgbClr val="6600FF"/>
                </a:solidFill>
                <a:latin typeface="宋体"/>
                <a:cs typeface="宋体"/>
              </a:rPr>
              <a:t>CPI</a:t>
            </a:r>
            <a:r>
              <a:rPr sz="1875" baseline="-20000" dirty="0">
                <a:solidFill>
                  <a:srgbClr val="6600FF"/>
                </a:solidFill>
                <a:latin typeface="宋体"/>
                <a:cs typeface="宋体"/>
              </a:rPr>
              <a:t>i</a:t>
            </a:r>
            <a:r>
              <a:rPr sz="1875" spc="547" baseline="-20000" dirty="0">
                <a:solidFill>
                  <a:srgbClr val="6600FF"/>
                </a:solidFill>
                <a:latin typeface="宋体"/>
                <a:cs typeface="宋体"/>
              </a:rPr>
              <a:t> </a:t>
            </a:r>
            <a:r>
              <a:rPr sz="1900" spc="-30" dirty="0">
                <a:solidFill>
                  <a:srgbClr val="6600FF"/>
                </a:solidFill>
                <a:latin typeface="微软雅黑"/>
                <a:cs typeface="微软雅黑"/>
              </a:rPr>
              <a:t>：</a:t>
            </a:r>
            <a:r>
              <a:rPr sz="1900" spc="-30" dirty="0">
                <a:latin typeface="微软雅黑"/>
                <a:cs typeface="微软雅黑"/>
              </a:rPr>
              <a:t>第</a:t>
            </a:r>
            <a:r>
              <a:rPr sz="1900" spc="-20" dirty="0">
                <a:latin typeface="宋体"/>
                <a:cs typeface="宋体"/>
              </a:rPr>
              <a:t>i</a:t>
            </a:r>
            <a:r>
              <a:rPr sz="1900" spc="-35" dirty="0">
                <a:latin typeface="微软雅黑"/>
                <a:cs typeface="微软雅黑"/>
              </a:rPr>
              <a:t>种指令的处理时间；</a:t>
            </a:r>
            <a:endParaRPr sz="1900">
              <a:latin typeface="微软雅黑"/>
              <a:cs typeface="微软雅黑"/>
            </a:endParaRPr>
          </a:p>
          <a:p>
            <a:pPr marL="1663064">
              <a:lnSpc>
                <a:spcPct val="100000"/>
              </a:lnSpc>
              <a:spcBef>
                <a:spcPts val="1420"/>
              </a:spcBef>
            </a:pPr>
            <a:r>
              <a:rPr sz="1900" dirty="0">
                <a:solidFill>
                  <a:srgbClr val="6600FF"/>
                </a:solidFill>
                <a:latin typeface="宋体"/>
                <a:cs typeface="宋体"/>
              </a:rPr>
              <a:t>IC</a:t>
            </a:r>
            <a:r>
              <a:rPr sz="1875" baseline="-20000" dirty="0">
                <a:solidFill>
                  <a:srgbClr val="6600FF"/>
                </a:solidFill>
                <a:latin typeface="宋体"/>
                <a:cs typeface="宋体"/>
              </a:rPr>
              <a:t>i</a:t>
            </a:r>
            <a:r>
              <a:rPr sz="1875" spc="607" baseline="-20000" dirty="0">
                <a:solidFill>
                  <a:srgbClr val="6600FF"/>
                </a:solidFill>
                <a:latin typeface="宋体"/>
                <a:cs typeface="宋体"/>
              </a:rPr>
              <a:t> </a:t>
            </a:r>
            <a:r>
              <a:rPr sz="1900" spc="-25" dirty="0">
                <a:solidFill>
                  <a:srgbClr val="6600FF"/>
                </a:solidFill>
                <a:latin typeface="微软雅黑"/>
                <a:cs typeface="微软雅黑"/>
              </a:rPr>
              <a:t>：</a:t>
            </a:r>
            <a:r>
              <a:rPr sz="1900" spc="-25" dirty="0">
                <a:latin typeface="微软雅黑"/>
                <a:cs typeface="微软雅黑"/>
              </a:rPr>
              <a:t>在程序中第</a:t>
            </a:r>
            <a:r>
              <a:rPr sz="1900" spc="-10" dirty="0">
                <a:latin typeface="宋体"/>
                <a:cs typeface="宋体"/>
              </a:rPr>
              <a:t>i</a:t>
            </a:r>
            <a:r>
              <a:rPr sz="1900" spc="-30" dirty="0">
                <a:latin typeface="微软雅黑"/>
                <a:cs typeface="微软雅黑"/>
              </a:rPr>
              <a:t>种指令出现的次数；</a:t>
            </a:r>
            <a:endParaRPr sz="1900">
              <a:latin typeface="微软雅黑"/>
              <a:cs typeface="微软雅黑"/>
            </a:endParaRPr>
          </a:p>
          <a:p>
            <a:pPr marL="939165">
              <a:lnSpc>
                <a:spcPct val="100000"/>
              </a:lnSpc>
              <a:spcBef>
                <a:spcPts val="1415"/>
              </a:spcBef>
            </a:pPr>
            <a:r>
              <a:rPr sz="1900" spc="-40" dirty="0">
                <a:latin typeface="微软雅黑"/>
                <a:cs typeface="微软雅黑"/>
              </a:rPr>
              <a:t>则：</a:t>
            </a:r>
            <a:endParaRPr sz="1900">
              <a:latin typeface="微软雅黑"/>
              <a:cs typeface="微软雅黑"/>
            </a:endParaRPr>
          </a:p>
          <a:p>
            <a:pPr marR="167640" algn="ctr">
              <a:lnSpc>
                <a:spcPct val="100000"/>
              </a:lnSpc>
            </a:pPr>
            <a:r>
              <a:rPr sz="2000" b="1" spc="-50" dirty="0">
                <a:latin typeface="宋体"/>
                <a:cs typeface="宋体"/>
              </a:rPr>
              <a:t>n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8578" y="6222898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宋体"/>
                <a:cs typeface="宋体"/>
              </a:rPr>
              <a:t>i=1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9547" y="3936238"/>
            <a:ext cx="2655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70785" algn="l"/>
              </a:tabLst>
            </a:pPr>
            <a:r>
              <a:rPr sz="2400" dirty="0">
                <a:latin typeface="黑体"/>
                <a:cs typeface="黑体"/>
              </a:rPr>
              <a:t>CPI 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4147" y="4602607"/>
            <a:ext cx="7494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微软雅黑"/>
                <a:cs typeface="微软雅黑"/>
              </a:rPr>
              <a:t>其中：</a:t>
            </a:r>
            <a:r>
              <a:rPr sz="2400" spc="-10" dirty="0">
                <a:latin typeface="黑体"/>
                <a:cs typeface="黑体"/>
              </a:rPr>
              <a:t>(IC</a:t>
            </a:r>
            <a:r>
              <a:rPr sz="2400" spc="-15" baseline="-20833" dirty="0">
                <a:latin typeface="黑体"/>
                <a:cs typeface="黑体"/>
              </a:rPr>
              <a:t>i</a:t>
            </a:r>
            <a:r>
              <a:rPr sz="2400" spc="-10" dirty="0">
                <a:latin typeface="黑体"/>
                <a:cs typeface="黑体"/>
              </a:rPr>
              <a:t>/IC</a:t>
            </a:r>
            <a:r>
              <a:rPr sz="2400" spc="-10" dirty="0">
                <a:latin typeface="宋体"/>
                <a:cs typeface="宋体"/>
              </a:rPr>
              <a:t>)</a:t>
            </a:r>
            <a:r>
              <a:rPr sz="2400" dirty="0">
                <a:latin typeface="微软雅黑"/>
                <a:cs typeface="微软雅黑"/>
              </a:rPr>
              <a:t>反映了第</a:t>
            </a:r>
            <a:r>
              <a:rPr sz="2400" dirty="0">
                <a:latin typeface="宋体"/>
                <a:cs typeface="宋体"/>
              </a:rPr>
              <a:t>i</a:t>
            </a:r>
            <a:r>
              <a:rPr sz="2400" spc="-5" dirty="0">
                <a:latin typeface="微软雅黑"/>
                <a:cs typeface="微软雅黑"/>
              </a:rPr>
              <a:t>种指令在程序中所占的比例。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6751" y="3483305"/>
            <a:ext cx="215265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Symbol"/>
                <a:cs typeface="Symbol"/>
              </a:rPr>
              <a:t></a:t>
            </a:r>
            <a:r>
              <a:rPr sz="2400" spc="-10" dirty="0">
                <a:latin typeface="黑体"/>
                <a:cs typeface="黑体"/>
              </a:rPr>
              <a:t>（CPI</a:t>
            </a:r>
            <a:r>
              <a:rPr sz="2400" spc="-15" baseline="-20833" dirty="0">
                <a:latin typeface="黑体"/>
                <a:cs typeface="黑体"/>
              </a:rPr>
              <a:t>i</a:t>
            </a:r>
            <a:r>
              <a:rPr sz="2400" spc="-10" dirty="0">
                <a:latin typeface="黑体"/>
                <a:cs typeface="黑体"/>
              </a:rPr>
              <a:t>×IC</a:t>
            </a:r>
            <a:r>
              <a:rPr sz="2400" spc="-15" baseline="-20833" dirty="0">
                <a:latin typeface="黑体"/>
                <a:cs typeface="黑体"/>
              </a:rPr>
              <a:t>i</a:t>
            </a:r>
            <a:r>
              <a:rPr sz="2400" spc="-10" dirty="0">
                <a:latin typeface="黑体"/>
                <a:cs typeface="黑体"/>
              </a:rPr>
              <a:t>）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51528" y="4075176"/>
            <a:ext cx="2087880" cy="0"/>
          </a:xfrm>
          <a:custGeom>
            <a:avLst/>
            <a:gdLst/>
            <a:ahLst/>
            <a:cxnLst/>
            <a:rect l="l" t="t" r="r" b="b"/>
            <a:pathLst>
              <a:path w="2087879">
                <a:moveTo>
                  <a:pt x="0" y="0"/>
                </a:moveTo>
                <a:lnTo>
                  <a:pt x="2087626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64654" y="4018279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0" dirty="0">
                <a:latin typeface="黑体"/>
                <a:cs typeface="黑体"/>
              </a:rPr>
              <a:t>i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07582" y="3815588"/>
            <a:ext cx="138938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latin typeface="Symbol"/>
                <a:cs typeface="Symbol"/>
              </a:rPr>
              <a:t></a:t>
            </a:r>
            <a:r>
              <a:rPr sz="2400" spc="-10" dirty="0">
                <a:latin typeface="黑体"/>
                <a:cs typeface="黑体"/>
              </a:rPr>
              <a:t>（CPI</a:t>
            </a:r>
            <a:r>
              <a:rPr sz="2400" spc="-355" dirty="0">
                <a:latin typeface="黑体"/>
                <a:cs typeface="黑体"/>
              </a:rPr>
              <a:t> </a:t>
            </a:r>
            <a:r>
              <a:rPr sz="2400" spc="-50" dirty="0">
                <a:latin typeface="黑体"/>
                <a:cs typeface="黑体"/>
              </a:rPr>
              <a:t>×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97603" y="4050538"/>
            <a:ext cx="1955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286510" algn="l"/>
              </a:tabLst>
            </a:pPr>
            <a:r>
              <a:rPr sz="3600" spc="-37" baseline="1157" dirty="0">
                <a:latin typeface="黑体"/>
                <a:cs typeface="黑体"/>
              </a:rPr>
              <a:t>IC</a:t>
            </a:r>
            <a:r>
              <a:rPr sz="3600" baseline="1157" dirty="0">
                <a:latin typeface="黑体"/>
                <a:cs typeface="黑体"/>
              </a:rPr>
              <a:t>	</a:t>
            </a:r>
            <a:r>
              <a:rPr sz="3600" baseline="20833" dirty="0">
                <a:latin typeface="Times New Roman"/>
                <a:cs typeface="Times New Roman"/>
              </a:rPr>
              <a:t>=</a:t>
            </a:r>
            <a:r>
              <a:rPr sz="3600" spc="-150" baseline="20833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黑体"/>
                <a:cs typeface="黑体"/>
              </a:rPr>
              <a:t>i=1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29143" y="3841495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150" dirty="0">
                <a:latin typeface="黑体"/>
                <a:cs typeface="黑体"/>
              </a:rPr>
              <a:t>&gt;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34505" y="3554729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黑体"/>
                <a:cs typeface="黑体"/>
              </a:rPr>
              <a:t>n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01061" y="4001516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黑体"/>
                <a:cs typeface="黑体"/>
              </a:rPr>
              <a:t>IC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09547" y="2994212"/>
            <a:ext cx="2478405" cy="10312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sz="2400" spc="-10" dirty="0">
                <a:latin typeface="黑体"/>
                <a:cs typeface="黑体"/>
              </a:rPr>
              <a:t>CPI</a:t>
            </a:r>
            <a:r>
              <a:rPr sz="2400" spc="-10" dirty="0">
                <a:latin typeface="微软雅黑"/>
                <a:cs typeface="微软雅黑"/>
              </a:rPr>
              <a:t>可以表示为：</a:t>
            </a:r>
            <a:endParaRPr sz="2400">
              <a:latin typeface="微软雅黑"/>
              <a:cs typeface="微软雅黑"/>
            </a:endParaRPr>
          </a:p>
          <a:p>
            <a:pPr marL="775970">
              <a:lnSpc>
                <a:spcPct val="100000"/>
              </a:lnSpc>
              <a:spcBef>
                <a:spcPts val="1080"/>
              </a:spcBef>
            </a:pP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时钟周期数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 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26948" y="1233255"/>
            <a:ext cx="7637780" cy="18097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0"/>
              </a:spcBef>
            </a:pP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2800" spc="45" dirty="0">
                <a:solidFill>
                  <a:srgbClr val="0000FF"/>
                </a:solidFill>
                <a:latin typeface="Times New Roman"/>
                <a:cs typeface="Times New Roman"/>
              </a:rPr>
              <a:t>. </a:t>
            </a:r>
            <a:r>
              <a:rPr sz="2800" spc="-30" dirty="0">
                <a:latin typeface="Times New Roman"/>
                <a:cs typeface="Times New Roman"/>
              </a:rPr>
              <a:t>CPU</a:t>
            </a:r>
            <a:r>
              <a:rPr sz="2800" spc="-40" dirty="0">
                <a:latin typeface="微软雅黑"/>
                <a:cs typeface="微软雅黑"/>
              </a:rPr>
              <a:t>性能公式</a:t>
            </a:r>
            <a:endParaRPr sz="2800">
              <a:latin typeface="微软雅黑"/>
              <a:cs typeface="微软雅黑"/>
            </a:endParaRPr>
          </a:p>
          <a:p>
            <a:pPr marL="494665">
              <a:lnSpc>
                <a:spcPts val="2470"/>
              </a:lnSpc>
              <a:spcBef>
                <a:spcPts val="520"/>
              </a:spcBef>
            </a:pPr>
            <a:r>
              <a:rPr sz="2400" spc="-10" dirty="0">
                <a:latin typeface="黑体"/>
                <a:cs typeface="黑体"/>
              </a:rPr>
              <a:t>CPU</a:t>
            </a:r>
            <a:r>
              <a:rPr sz="2400" spc="-30" dirty="0">
                <a:latin typeface="微软雅黑"/>
                <a:cs typeface="微软雅黑"/>
              </a:rPr>
              <a:t>时间 </a:t>
            </a:r>
            <a:r>
              <a:rPr sz="2400" spc="10" dirty="0">
                <a:latin typeface="Times New Roman"/>
                <a:cs typeface="Times New Roman"/>
              </a:rPr>
              <a:t>= </a:t>
            </a:r>
            <a:r>
              <a:rPr sz="2400" spc="-15" dirty="0">
                <a:latin typeface="微软雅黑"/>
                <a:cs typeface="微软雅黑"/>
              </a:rPr>
              <a:t>执行程序所需的时钟周期数×时钟周期时间</a:t>
            </a:r>
            <a:endParaRPr sz="2400">
              <a:latin typeface="微软雅黑"/>
              <a:cs typeface="微软雅黑"/>
            </a:endParaRPr>
          </a:p>
          <a:p>
            <a:pPr marL="1732280">
              <a:lnSpc>
                <a:spcPts val="2205"/>
              </a:lnSpc>
            </a:pPr>
            <a:r>
              <a:rPr sz="2400" spc="-50" dirty="0">
                <a:latin typeface="黑体"/>
                <a:cs typeface="黑体"/>
              </a:rPr>
              <a:t>n</a:t>
            </a:r>
            <a:endParaRPr sz="2400">
              <a:latin typeface="黑体"/>
              <a:cs typeface="黑体"/>
            </a:endParaRPr>
          </a:p>
          <a:p>
            <a:pPr marR="482600" algn="ctr">
              <a:lnSpc>
                <a:spcPts val="2790"/>
              </a:lnSpc>
            </a:pPr>
            <a:r>
              <a:rPr sz="2400" spc="90" dirty="0">
                <a:latin typeface="Times New Roman"/>
                <a:cs typeface="Times New Roman"/>
              </a:rPr>
              <a:t>= </a:t>
            </a:r>
            <a:r>
              <a:rPr sz="2800" spc="-10" dirty="0">
                <a:latin typeface="Symbol"/>
                <a:cs typeface="Symbol"/>
              </a:rPr>
              <a:t></a:t>
            </a:r>
            <a:r>
              <a:rPr sz="2400" spc="-10" dirty="0">
                <a:latin typeface="微软雅黑"/>
                <a:cs typeface="微软雅黑"/>
              </a:rPr>
              <a:t>（</a:t>
            </a:r>
            <a:r>
              <a:rPr sz="2400" spc="-10" dirty="0">
                <a:latin typeface="黑体"/>
                <a:cs typeface="黑体"/>
              </a:rPr>
              <a:t>CPI</a:t>
            </a:r>
            <a:r>
              <a:rPr sz="2400" spc="-15" baseline="-20833" dirty="0">
                <a:latin typeface="黑体"/>
                <a:cs typeface="黑体"/>
              </a:rPr>
              <a:t>i</a:t>
            </a:r>
            <a:r>
              <a:rPr sz="2400" spc="-10" dirty="0">
                <a:latin typeface="微软雅黑"/>
                <a:cs typeface="微软雅黑"/>
              </a:rPr>
              <a:t>×</a:t>
            </a:r>
            <a:r>
              <a:rPr sz="2400" spc="-10" dirty="0">
                <a:latin typeface="黑体"/>
                <a:cs typeface="黑体"/>
              </a:rPr>
              <a:t>IC</a:t>
            </a:r>
            <a:r>
              <a:rPr sz="2400" spc="-15" baseline="-20833" dirty="0">
                <a:latin typeface="黑体"/>
                <a:cs typeface="黑体"/>
              </a:rPr>
              <a:t>i</a:t>
            </a:r>
            <a:r>
              <a:rPr sz="2400" spc="-10" dirty="0">
                <a:latin typeface="微软雅黑"/>
                <a:cs typeface="微软雅黑"/>
              </a:rPr>
              <a:t>）</a:t>
            </a:r>
            <a:r>
              <a:rPr sz="2400" spc="-15" dirty="0">
                <a:latin typeface="微软雅黑"/>
                <a:cs typeface="微软雅黑"/>
              </a:rPr>
              <a:t>×时钟周期时间</a:t>
            </a:r>
            <a:endParaRPr sz="2400">
              <a:latin typeface="微软雅黑"/>
              <a:cs typeface="微软雅黑"/>
            </a:endParaRPr>
          </a:p>
          <a:p>
            <a:pPr marL="1631950">
              <a:lnSpc>
                <a:spcPts val="2095"/>
              </a:lnSpc>
            </a:pPr>
            <a:r>
              <a:rPr sz="2000" spc="-25" dirty="0">
                <a:latin typeface="黑体"/>
                <a:cs typeface="黑体"/>
              </a:rPr>
              <a:t>i=1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28998" y="3734180"/>
            <a:ext cx="407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黑体"/>
                <a:cs typeface="黑体"/>
              </a:rPr>
              <a:t>i=1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28947" y="3216097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黑体"/>
                <a:cs typeface="黑体"/>
              </a:rPr>
              <a:t>n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730997" y="3602228"/>
            <a:ext cx="48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黑体"/>
                <a:cs typeface="黑体"/>
              </a:rPr>
              <a:t>IC</a:t>
            </a:r>
            <a:r>
              <a:rPr sz="2400" spc="-37" baseline="-20833" dirty="0">
                <a:latin typeface="黑体"/>
                <a:cs typeface="黑体"/>
              </a:rPr>
              <a:t>i</a:t>
            </a:r>
            <a:endParaRPr sz="2400" baseline="-20833">
              <a:latin typeface="黑体"/>
              <a:cs typeface="黑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32014" y="4003929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黑体"/>
                <a:cs typeface="黑体"/>
              </a:rPr>
              <a:t>IC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709534" y="4032250"/>
            <a:ext cx="503555" cy="0"/>
          </a:xfrm>
          <a:custGeom>
            <a:avLst/>
            <a:gdLst/>
            <a:ahLst/>
            <a:cxnLst/>
            <a:rect l="l" t="t" r="r" b="b"/>
            <a:pathLst>
              <a:path w="503554">
                <a:moveTo>
                  <a:pt x="0" y="0"/>
                </a:moveTo>
                <a:lnTo>
                  <a:pt x="503174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26948" y="5361228"/>
            <a:ext cx="4540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黑体"/>
                <a:cs typeface="黑体"/>
              </a:rPr>
              <a:t>IC</a:t>
            </a:r>
            <a:r>
              <a:rPr sz="2400" baseline="-20833" dirty="0">
                <a:latin typeface="黑体"/>
                <a:cs typeface="黑体"/>
              </a:rPr>
              <a:t>i</a:t>
            </a:r>
            <a:r>
              <a:rPr sz="2400" spc="209" baseline="-20833" dirty="0">
                <a:latin typeface="黑体"/>
                <a:cs typeface="黑体"/>
              </a:rPr>
              <a:t> </a:t>
            </a:r>
            <a:r>
              <a:rPr sz="1800" spc="-10" dirty="0">
                <a:latin typeface="微软雅黑"/>
                <a:cs typeface="微软雅黑"/>
              </a:rPr>
              <a:t>为程序执行过程中第</a:t>
            </a:r>
            <a:r>
              <a:rPr sz="1800" dirty="0">
                <a:latin typeface="微软雅黑"/>
                <a:cs typeface="微软雅黑"/>
              </a:rPr>
              <a:t>i</a:t>
            </a:r>
            <a:r>
              <a:rPr sz="1800" spc="-20" dirty="0">
                <a:latin typeface="微软雅黑"/>
                <a:cs typeface="微软雅黑"/>
              </a:rPr>
              <a:t>种指令出现的次数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11011" y="5419140"/>
            <a:ext cx="6424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3086" dirty="0">
                <a:latin typeface="黑体"/>
                <a:cs typeface="黑体"/>
              </a:rPr>
              <a:t>CPI</a:t>
            </a:r>
            <a:r>
              <a:rPr sz="1800" baseline="-16203" dirty="0">
                <a:latin typeface="黑体"/>
                <a:cs typeface="黑体"/>
              </a:rPr>
              <a:t>i</a:t>
            </a:r>
            <a:r>
              <a:rPr sz="1800" dirty="0">
                <a:latin typeface="微软雅黑"/>
                <a:cs typeface="微软雅黑"/>
              </a:rPr>
              <a:t>为程序执行第i</a:t>
            </a:r>
            <a:r>
              <a:rPr sz="1800" spc="-5" dirty="0">
                <a:latin typeface="微软雅黑"/>
                <a:cs typeface="微软雅黑"/>
              </a:rPr>
              <a:t>种指令所需的平均时钟周期数，</a:t>
            </a:r>
            <a:r>
              <a:rPr sz="1800" spc="-20" dirty="0">
                <a:latin typeface="微软雅黑"/>
                <a:cs typeface="微软雅黑"/>
              </a:rPr>
              <a:t>n</a:t>
            </a:r>
            <a:r>
              <a:rPr sz="1800" spc="-10" dirty="0">
                <a:latin typeface="微软雅黑"/>
                <a:cs typeface="微软雅黑"/>
              </a:rPr>
              <a:t>为指令种数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计算机系统设的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125" y="939799"/>
            <a:ext cx="9950450" cy="3103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2800" spc="45" dirty="0">
                <a:solidFill>
                  <a:srgbClr val="0000FF"/>
                </a:solidFill>
                <a:latin typeface="Times New Roman"/>
                <a:cs typeface="Times New Roman"/>
              </a:rPr>
              <a:t>. </a:t>
            </a:r>
            <a:r>
              <a:rPr sz="2800" spc="-30" dirty="0">
                <a:latin typeface="Times New Roman"/>
                <a:cs typeface="Times New Roman"/>
              </a:rPr>
              <a:t>CPU</a:t>
            </a:r>
            <a:r>
              <a:rPr sz="2800" spc="-40" dirty="0">
                <a:latin typeface="微软雅黑"/>
                <a:cs typeface="微软雅黑"/>
              </a:rPr>
              <a:t>性能公式</a:t>
            </a:r>
            <a:endParaRPr sz="2800">
              <a:latin typeface="微软雅黑"/>
              <a:cs typeface="微软雅黑"/>
            </a:endParaRPr>
          </a:p>
          <a:p>
            <a:pPr marL="97155" marR="5080" indent="115570">
              <a:lnSpc>
                <a:spcPct val="155000"/>
              </a:lnSpc>
              <a:spcBef>
                <a:spcPts val="320"/>
              </a:spcBef>
            </a:pPr>
            <a:r>
              <a:rPr sz="2000" b="1" spc="-20" dirty="0">
                <a:latin typeface="宋体"/>
                <a:cs typeface="宋体"/>
              </a:rPr>
              <a:t>例</a:t>
            </a:r>
            <a:r>
              <a:rPr sz="2000" b="1" dirty="0">
                <a:latin typeface="Times New Roman"/>
                <a:cs typeface="Times New Roman"/>
              </a:rPr>
              <a:t>1.3</a:t>
            </a:r>
            <a:r>
              <a:rPr sz="2000" b="1" spc="19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宋体"/>
                <a:cs typeface="宋体"/>
              </a:rPr>
              <a:t>假设</a:t>
            </a:r>
            <a:r>
              <a:rPr sz="2000" b="1" spc="-15" dirty="0">
                <a:solidFill>
                  <a:srgbClr val="6600FF"/>
                </a:solidFill>
                <a:latin typeface="Times New Roman"/>
                <a:cs typeface="Times New Roman"/>
              </a:rPr>
              <a:t>FP</a:t>
            </a:r>
            <a:r>
              <a:rPr sz="2000" b="1" spc="-15" dirty="0">
                <a:solidFill>
                  <a:srgbClr val="6600FF"/>
                </a:solidFill>
                <a:latin typeface="宋体"/>
                <a:cs typeface="宋体"/>
              </a:rPr>
              <a:t>（浮点数操作</a:t>
            </a:r>
            <a:r>
              <a:rPr sz="2000" b="1" spc="-10" dirty="0">
                <a:solidFill>
                  <a:srgbClr val="6600FF"/>
                </a:solidFill>
                <a:latin typeface="宋体"/>
                <a:cs typeface="宋体"/>
              </a:rPr>
              <a:t>）</a:t>
            </a:r>
            <a:r>
              <a:rPr sz="2000" b="1" spc="-20" dirty="0">
                <a:latin typeface="宋体"/>
                <a:cs typeface="宋体"/>
              </a:rPr>
              <a:t>指令的比例为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25%</a:t>
            </a:r>
            <a:r>
              <a:rPr sz="2000" b="1" spc="-10" dirty="0">
                <a:latin typeface="宋体"/>
                <a:cs typeface="宋体"/>
              </a:rPr>
              <a:t>，其中，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FPSQR</a:t>
            </a:r>
            <a:r>
              <a:rPr sz="2000" b="1" spc="-10" dirty="0">
                <a:solidFill>
                  <a:srgbClr val="6600FF"/>
                </a:solidFill>
                <a:latin typeface="宋体"/>
                <a:cs typeface="宋体"/>
              </a:rPr>
              <a:t>（</a:t>
            </a:r>
            <a:r>
              <a:rPr sz="2000" b="1" spc="-20" dirty="0">
                <a:solidFill>
                  <a:srgbClr val="6600FF"/>
                </a:solidFill>
                <a:latin typeface="宋体"/>
                <a:cs typeface="宋体"/>
              </a:rPr>
              <a:t>浮点数平方根操作）</a:t>
            </a:r>
            <a:r>
              <a:rPr sz="2000" b="1" spc="-10" dirty="0">
                <a:latin typeface="宋体"/>
                <a:cs typeface="宋体"/>
              </a:rPr>
              <a:t>占全部指令的比例为</a:t>
            </a:r>
            <a:r>
              <a:rPr sz="2000" b="1" spc="-20" dirty="0">
                <a:solidFill>
                  <a:srgbClr val="6600FF"/>
                </a:solidFill>
                <a:latin typeface="Times New Roman"/>
                <a:cs typeface="Times New Roman"/>
              </a:rPr>
              <a:t>2%</a:t>
            </a:r>
            <a:r>
              <a:rPr sz="2000" b="1" spc="-20" dirty="0">
                <a:latin typeface="宋体"/>
                <a:cs typeface="宋体"/>
              </a:rPr>
              <a:t>，</a:t>
            </a:r>
            <a:r>
              <a:rPr sz="2000" b="1" spc="-20" dirty="0">
                <a:solidFill>
                  <a:srgbClr val="6600FF"/>
                </a:solidFill>
                <a:latin typeface="Times New Roman"/>
                <a:cs typeface="Times New Roman"/>
              </a:rPr>
              <a:t>FP</a:t>
            </a:r>
            <a:r>
              <a:rPr sz="2000" b="1" spc="-10" dirty="0">
                <a:latin typeface="宋体"/>
                <a:cs typeface="宋体"/>
              </a:rPr>
              <a:t>操作的</a:t>
            </a:r>
            <a:r>
              <a:rPr sz="2000" b="1" spc="-5" dirty="0">
                <a:solidFill>
                  <a:srgbClr val="6600FF"/>
                </a:solidFill>
                <a:latin typeface="Times New Roman"/>
                <a:cs typeface="Times New Roman"/>
              </a:rPr>
              <a:t>CP</a:t>
            </a:r>
            <a:r>
              <a:rPr sz="2000" b="1" spc="5" dirty="0">
                <a:solidFill>
                  <a:srgbClr val="6600FF"/>
                </a:solidFill>
                <a:latin typeface="Times New Roman"/>
                <a:cs typeface="Times New Roman"/>
              </a:rPr>
              <a:t>I</a:t>
            </a:r>
            <a:r>
              <a:rPr sz="2000" b="1" spc="-10" dirty="0">
                <a:latin typeface="宋体"/>
                <a:cs typeface="宋体"/>
              </a:rPr>
              <a:t>为</a:t>
            </a:r>
            <a:r>
              <a:rPr sz="2000" b="1" spc="-5" dirty="0">
                <a:solidFill>
                  <a:srgbClr val="6600FF"/>
                </a:solidFill>
                <a:latin typeface="Times New Roman"/>
                <a:cs typeface="Times New Roman"/>
              </a:rPr>
              <a:t>4</a:t>
            </a:r>
            <a:r>
              <a:rPr sz="2000" b="1" spc="-5" dirty="0">
                <a:latin typeface="宋体"/>
                <a:cs typeface="宋体"/>
              </a:rPr>
              <a:t>，</a:t>
            </a:r>
            <a:r>
              <a:rPr sz="2000" b="1" spc="-5" dirty="0">
                <a:solidFill>
                  <a:srgbClr val="6600FF"/>
                </a:solidFill>
                <a:latin typeface="Times New Roman"/>
                <a:cs typeface="Times New Roman"/>
              </a:rPr>
              <a:t>FPSQR</a:t>
            </a:r>
            <a:r>
              <a:rPr sz="2000" b="1" spc="-15" dirty="0">
                <a:latin typeface="宋体"/>
                <a:cs typeface="宋体"/>
              </a:rPr>
              <a:t>操作的</a:t>
            </a:r>
            <a:r>
              <a:rPr sz="2000" b="1" spc="-15" dirty="0">
                <a:solidFill>
                  <a:srgbClr val="6600FF"/>
                </a:solidFill>
                <a:latin typeface="Times New Roman"/>
                <a:cs typeface="Times New Roman"/>
              </a:rPr>
              <a:t>CPI</a:t>
            </a:r>
            <a:r>
              <a:rPr sz="2000" b="1" spc="-10" dirty="0">
                <a:latin typeface="宋体"/>
                <a:cs typeface="宋体"/>
              </a:rPr>
              <a:t>为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2</a:t>
            </a:r>
            <a:r>
              <a:rPr sz="2000" b="1" dirty="0">
                <a:solidFill>
                  <a:srgbClr val="6600FF"/>
                </a:solidFill>
                <a:latin typeface="Times New Roman"/>
                <a:cs typeface="Times New Roman"/>
              </a:rPr>
              <a:t>0</a:t>
            </a:r>
            <a:r>
              <a:rPr sz="2000" b="1" spc="-40" dirty="0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宋体"/>
                <a:cs typeface="宋体"/>
              </a:rPr>
              <a:t>，其他指令的平均</a:t>
            </a:r>
            <a:r>
              <a:rPr sz="2000" b="1" dirty="0">
                <a:latin typeface="宋体"/>
                <a:cs typeface="宋体"/>
              </a:rPr>
              <a:t> </a:t>
            </a:r>
            <a:r>
              <a:rPr sz="2000" b="1" spc="-5" dirty="0">
                <a:solidFill>
                  <a:srgbClr val="6600FF"/>
                </a:solidFill>
                <a:latin typeface="Times New Roman"/>
                <a:cs typeface="Times New Roman"/>
              </a:rPr>
              <a:t>CP</a:t>
            </a:r>
            <a:r>
              <a:rPr sz="2000" b="1" spc="5" dirty="0">
                <a:solidFill>
                  <a:srgbClr val="6600FF"/>
                </a:solidFill>
                <a:latin typeface="Times New Roman"/>
                <a:cs typeface="Times New Roman"/>
              </a:rPr>
              <a:t>I</a:t>
            </a:r>
            <a:r>
              <a:rPr sz="2000" b="1" spc="-10" dirty="0">
                <a:latin typeface="宋体"/>
                <a:cs typeface="宋体"/>
              </a:rPr>
              <a:t>为</a:t>
            </a:r>
            <a:r>
              <a:rPr sz="2000" b="1" dirty="0">
                <a:solidFill>
                  <a:srgbClr val="6600FF"/>
                </a:solidFill>
                <a:latin typeface="Times New Roman"/>
                <a:cs typeface="Times New Roman"/>
              </a:rPr>
              <a:t>1</a:t>
            </a:r>
            <a:r>
              <a:rPr sz="2000" b="1" spc="5" dirty="0">
                <a:solidFill>
                  <a:srgbClr val="6600FF"/>
                </a:solidFill>
                <a:latin typeface="Times New Roman"/>
                <a:cs typeface="Times New Roman"/>
              </a:rPr>
              <a:t>.</a:t>
            </a:r>
            <a:r>
              <a:rPr sz="2000" b="1" dirty="0">
                <a:solidFill>
                  <a:srgbClr val="6600FF"/>
                </a:solidFill>
                <a:latin typeface="Times New Roman"/>
                <a:cs typeface="Times New Roman"/>
              </a:rPr>
              <a:t>3</a:t>
            </a:r>
            <a:r>
              <a:rPr sz="2000" b="1" spc="10" dirty="0">
                <a:solidFill>
                  <a:srgbClr val="6600FF"/>
                </a:solidFill>
                <a:latin typeface="Times New Roman"/>
                <a:cs typeface="Times New Roman"/>
              </a:rPr>
              <a:t>3</a:t>
            </a:r>
            <a:r>
              <a:rPr sz="2000" b="1" spc="-20" dirty="0">
                <a:latin typeface="宋体"/>
                <a:cs typeface="宋体"/>
              </a:rPr>
              <a:t>。现有两种改进方案，第一种是把</a:t>
            </a:r>
            <a:r>
              <a:rPr sz="2000" b="1" spc="-5" dirty="0">
                <a:solidFill>
                  <a:srgbClr val="6600FF"/>
                </a:solidFill>
                <a:latin typeface="Times New Roman"/>
                <a:cs typeface="Times New Roman"/>
              </a:rPr>
              <a:t>FP</a:t>
            </a:r>
            <a:r>
              <a:rPr sz="2000" b="1" spc="-15" dirty="0">
                <a:solidFill>
                  <a:srgbClr val="6600FF"/>
                </a:solidFill>
                <a:latin typeface="Times New Roman"/>
                <a:cs typeface="Times New Roman"/>
              </a:rPr>
              <a:t>S</a:t>
            </a:r>
            <a:r>
              <a:rPr sz="2000" b="1" spc="-5" dirty="0">
                <a:solidFill>
                  <a:srgbClr val="6600FF"/>
                </a:solidFill>
                <a:latin typeface="Times New Roman"/>
                <a:cs typeface="Times New Roman"/>
              </a:rPr>
              <a:t>QR</a:t>
            </a:r>
            <a:r>
              <a:rPr sz="2000" b="1" spc="-10" dirty="0">
                <a:latin typeface="宋体"/>
                <a:cs typeface="宋体"/>
              </a:rPr>
              <a:t>操作的</a:t>
            </a:r>
            <a:r>
              <a:rPr sz="2000" b="1" spc="-5" dirty="0">
                <a:solidFill>
                  <a:srgbClr val="6600FF"/>
                </a:solidFill>
                <a:latin typeface="Times New Roman"/>
                <a:cs typeface="Times New Roman"/>
              </a:rPr>
              <a:t>CPI</a:t>
            </a:r>
            <a:r>
              <a:rPr sz="2000" b="1" spc="-15" dirty="0">
                <a:latin typeface="宋体"/>
                <a:cs typeface="宋体"/>
              </a:rPr>
              <a:t>减至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2</a:t>
            </a:r>
            <a:r>
              <a:rPr sz="2000" b="1" spc="-20" dirty="0">
                <a:latin typeface="宋体"/>
                <a:cs typeface="宋体"/>
              </a:rPr>
              <a:t>，第二种是把所有</a:t>
            </a:r>
            <a:r>
              <a:rPr sz="2000" b="1" spc="-10" dirty="0">
                <a:latin typeface="宋体"/>
                <a:cs typeface="宋体"/>
              </a:rPr>
              <a:t>的</a:t>
            </a:r>
            <a:r>
              <a:rPr sz="2000" b="1" spc="-20" dirty="0">
                <a:solidFill>
                  <a:srgbClr val="6600FF"/>
                </a:solidFill>
                <a:latin typeface="Times New Roman"/>
                <a:cs typeface="Times New Roman"/>
              </a:rPr>
              <a:t>FP</a:t>
            </a:r>
            <a:r>
              <a:rPr sz="2000" b="1" spc="-10" dirty="0">
                <a:latin typeface="宋体"/>
                <a:cs typeface="宋体"/>
              </a:rPr>
              <a:t>操作的</a:t>
            </a:r>
            <a:r>
              <a:rPr sz="2000" b="1" spc="-5" dirty="0">
                <a:solidFill>
                  <a:srgbClr val="6600FF"/>
                </a:solidFill>
                <a:latin typeface="Times New Roman"/>
                <a:cs typeface="Times New Roman"/>
              </a:rPr>
              <a:t>CP</a:t>
            </a:r>
            <a:r>
              <a:rPr sz="2000" b="1" spc="5" dirty="0">
                <a:solidFill>
                  <a:srgbClr val="6600FF"/>
                </a:solidFill>
                <a:latin typeface="Times New Roman"/>
                <a:cs typeface="Times New Roman"/>
              </a:rPr>
              <a:t>I</a:t>
            </a:r>
            <a:r>
              <a:rPr sz="2000" b="1" spc="-10" dirty="0">
                <a:latin typeface="宋体"/>
                <a:cs typeface="宋体"/>
              </a:rPr>
              <a:t>减至</a:t>
            </a:r>
            <a:r>
              <a:rPr sz="2000" b="1" spc="-5" dirty="0">
                <a:solidFill>
                  <a:srgbClr val="6600FF"/>
                </a:solidFill>
                <a:latin typeface="Times New Roman"/>
                <a:cs typeface="Times New Roman"/>
              </a:rPr>
              <a:t>2</a:t>
            </a:r>
            <a:r>
              <a:rPr sz="2000" b="1" spc="-20" dirty="0">
                <a:latin typeface="宋体"/>
                <a:cs typeface="宋体"/>
              </a:rPr>
              <a:t>，试比较两种方案对系统性能的提高程度。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000">
              <a:latin typeface="宋体"/>
              <a:cs typeface="宋体"/>
            </a:endParaRPr>
          </a:p>
          <a:p>
            <a:pPr marL="155575">
              <a:lnSpc>
                <a:spcPct val="100000"/>
              </a:lnSpc>
            </a:pPr>
            <a:r>
              <a:rPr sz="2000" b="1" spc="-20" dirty="0">
                <a:latin typeface="宋体"/>
                <a:cs typeface="宋体"/>
              </a:rPr>
              <a:t>解 没有改进之前，每条指令的平均时钟周期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CPI</a:t>
            </a:r>
            <a:r>
              <a:rPr sz="2000" b="1" spc="-30" dirty="0">
                <a:latin typeface="宋体"/>
                <a:cs typeface="宋体"/>
              </a:rPr>
              <a:t>为：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73977" y="4703159"/>
            <a:ext cx="471170" cy="0"/>
          </a:xfrm>
          <a:custGeom>
            <a:avLst/>
            <a:gdLst/>
            <a:ahLst/>
            <a:cxnLst/>
            <a:rect l="l" t="t" r="r" b="b"/>
            <a:pathLst>
              <a:path w="471169">
                <a:moveTo>
                  <a:pt x="0" y="0"/>
                </a:moveTo>
                <a:lnTo>
                  <a:pt x="471158" y="0"/>
                </a:lnTo>
              </a:path>
            </a:pathLst>
          </a:custGeom>
          <a:ln w="133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69928" y="4751994"/>
            <a:ext cx="14351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50" dirty="0">
                <a:latin typeface="Symbol"/>
                <a:cs typeface="Symbol"/>
              </a:rPr>
              <a:t>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6307" y="4277653"/>
            <a:ext cx="14351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spc="-50" dirty="0">
                <a:latin typeface="Symbol"/>
                <a:cs typeface="Symbol"/>
              </a:rPr>
              <a:t>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6785" y="4234612"/>
            <a:ext cx="13716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-50" dirty="0">
                <a:latin typeface="Times New Roman"/>
                <a:cs typeface="Times New Roman"/>
              </a:rPr>
              <a:t>n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7781" y="4788020"/>
            <a:ext cx="527050" cy="3879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1700" i="1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Symbol"/>
                <a:cs typeface="Symbol"/>
              </a:rPr>
              <a:t></a:t>
            </a:r>
            <a:r>
              <a:rPr sz="1700" dirty="0">
                <a:latin typeface="Times New Roman"/>
                <a:cs typeface="Times New Roman"/>
              </a:rPr>
              <a:t>1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3525" spc="-75" baseline="7092" dirty="0">
                <a:latin typeface="Symbol"/>
                <a:cs typeface="Symbol"/>
              </a:rPr>
              <a:t></a:t>
            </a:r>
            <a:endParaRPr sz="3525" baseline="7092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3750" y="4620891"/>
            <a:ext cx="87630" cy="2895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700" i="1" spc="-50" dirty="0"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0988" y="4369294"/>
            <a:ext cx="5318125" cy="7181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>
              <a:lnSpc>
                <a:spcPts val="3190"/>
              </a:lnSpc>
              <a:spcBef>
                <a:spcPts val="125"/>
              </a:spcBef>
              <a:tabLst>
                <a:tab pos="723900" algn="l"/>
              </a:tabLst>
            </a:pPr>
            <a:r>
              <a:rPr sz="3525" i="1" spc="-37" baseline="1182" dirty="0">
                <a:latin typeface="Times New Roman"/>
                <a:cs typeface="Times New Roman"/>
              </a:rPr>
              <a:t>CPI</a:t>
            </a:r>
            <a:r>
              <a:rPr sz="3525" i="1" baseline="1182" dirty="0">
                <a:latin typeface="Times New Roman"/>
                <a:cs typeface="Times New Roman"/>
              </a:rPr>
              <a:t>	</a:t>
            </a:r>
            <a:r>
              <a:rPr sz="3525" baseline="1182" dirty="0">
                <a:latin typeface="Symbol"/>
                <a:cs typeface="Symbol"/>
              </a:rPr>
              <a:t></a:t>
            </a:r>
            <a:r>
              <a:rPr sz="3525" spc="277" baseline="1182" dirty="0">
                <a:latin typeface="Times New Roman"/>
                <a:cs typeface="Times New Roman"/>
              </a:rPr>
              <a:t> </a:t>
            </a:r>
            <a:r>
              <a:rPr sz="3525" i="1" baseline="39007" dirty="0">
                <a:latin typeface="Times New Roman"/>
                <a:cs typeface="Times New Roman"/>
              </a:rPr>
              <a:t>IC</a:t>
            </a:r>
            <a:r>
              <a:rPr sz="2550" i="1" baseline="35947" dirty="0">
                <a:latin typeface="Times New Roman"/>
                <a:cs typeface="Times New Roman"/>
              </a:rPr>
              <a:t>i</a:t>
            </a:r>
            <a:r>
              <a:rPr sz="2550" i="1" spc="652" baseline="35947" dirty="0">
                <a:latin typeface="Times New Roman"/>
                <a:cs typeface="Times New Roman"/>
              </a:rPr>
              <a:t> </a:t>
            </a:r>
            <a:r>
              <a:rPr sz="3525" spc="-667" baseline="35460" dirty="0">
                <a:latin typeface="Symbol"/>
                <a:cs typeface="Symbol"/>
              </a:rPr>
              <a:t></a:t>
            </a:r>
            <a:r>
              <a:rPr sz="2350" spc="-445" dirty="0">
                <a:latin typeface="Symbol"/>
                <a:cs typeface="Symbol"/>
              </a:rPr>
              <a:t></a:t>
            </a:r>
            <a:r>
              <a:rPr sz="2350" spc="-55" dirty="0">
                <a:latin typeface="Times New Roman"/>
                <a:cs typeface="Times New Roman"/>
              </a:rPr>
              <a:t> </a:t>
            </a:r>
            <a:r>
              <a:rPr sz="3525" baseline="1182" dirty="0">
                <a:latin typeface="Symbol"/>
                <a:cs typeface="Symbol"/>
              </a:rPr>
              <a:t></a:t>
            </a:r>
            <a:r>
              <a:rPr sz="3525" spc="-127" baseline="1182" dirty="0">
                <a:latin typeface="Times New Roman"/>
                <a:cs typeface="Times New Roman"/>
              </a:rPr>
              <a:t> </a:t>
            </a:r>
            <a:r>
              <a:rPr sz="4725" spc="-232" baseline="1763" dirty="0">
                <a:latin typeface="Symbol"/>
                <a:cs typeface="Symbol"/>
              </a:rPr>
              <a:t></a:t>
            </a:r>
            <a:r>
              <a:rPr sz="3525" spc="-232" baseline="1182" dirty="0">
                <a:latin typeface="Times New Roman"/>
                <a:cs typeface="Times New Roman"/>
              </a:rPr>
              <a:t>4</a:t>
            </a:r>
            <a:r>
              <a:rPr sz="3525" spc="-352" baseline="1182" dirty="0">
                <a:latin typeface="Times New Roman"/>
                <a:cs typeface="Times New Roman"/>
              </a:rPr>
              <a:t> </a:t>
            </a:r>
            <a:r>
              <a:rPr sz="3525" baseline="1182" dirty="0">
                <a:latin typeface="Symbol"/>
                <a:cs typeface="Symbol"/>
              </a:rPr>
              <a:t></a:t>
            </a:r>
            <a:r>
              <a:rPr sz="3525" spc="-165" baseline="1182" dirty="0">
                <a:latin typeface="Times New Roman"/>
                <a:cs typeface="Times New Roman"/>
              </a:rPr>
              <a:t> </a:t>
            </a:r>
            <a:r>
              <a:rPr sz="3525" spc="-67" baseline="1182" dirty="0">
                <a:latin typeface="Times New Roman"/>
                <a:cs typeface="Times New Roman"/>
              </a:rPr>
              <a:t>25%</a:t>
            </a:r>
            <a:r>
              <a:rPr sz="4725" spc="-67" baseline="1763" dirty="0">
                <a:latin typeface="Symbol"/>
                <a:cs typeface="Symbol"/>
              </a:rPr>
              <a:t></a:t>
            </a:r>
            <a:r>
              <a:rPr sz="4725" spc="-667" baseline="1763" dirty="0">
                <a:latin typeface="Times New Roman"/>
                <a:cs typeface="Times New Roman"/>
              </a:rPr>
              <a:t> </a:t>
            </a:r>
            <a:r>
              <a:rPr sz="3525" baseline="1182" dirty="0">
                <a:latin typeface="Symbol"/>
                <a:cs typeface="Symbol"/>
              </a:rPr>
              <a:t></a:t>
            </a:r>
            <a:r>
              <a:rPr sz="3525" spc="-67" baseline="1182" dirty="0">
                <a:latin typeface="Times New Roman"/>
                <a:cs typeface="Times New Roman"/>
              </a:rPr>
              <a:t> </a:t>
            </a:r>
            <a:r>
              <a:rPr sz="4725" spc="-165" baseline="1763" dirty="0">
                <a:latin typeface="Symbol"/>
                <a:cs typeface="Symbol"/>
              </a:rPr>
              <a:t></a:t>
            </a:r>
            <a:r>
              <a:rPr sz="3525" spc="-165" baseline="1182" dirty="0">
                <a:latin typeface="Times New Roman"/>
                <a:cs typeface="Times New Roman"/>
              </a:rPr>
              <a:t>1.33</a:t>
            </a:r>
            <a:r>
              <a:rPr sz="3525" spc="-525" baseline="1182" dirty="0">
                <a:latin typeface="Times New Roman"/>
                <a:cs typeface="Times New Roman"/>
              </a:rPr>
              <a:t> </a:t>
            </a:r>
            <a:r>
              <a:rPr sz="3525" baseline="1182" dirty="0">
                <a:latin typeface="Symbol"/>
                <a:cs typeface="Symbol"/>
              </a:rPr>
              <a:t></a:t>
            </a:r>
            <a:r>
              <a:rPr sz="3525" spc="-240" baseline="1182" dirty="0">
                <a:latin typeface="Times New Roman"/>
                <a:cs typeface="Times New Roman"/>
              </a:rPr>
              <a:t> </a:t>
            </a:r>
            <a:r>
              <a:rPr sz="3525" spc="-67" baseline="1182" dirty="0">
                <a:latin typeface="Times New Roman"/>
                <a:cs typeface="Times New Roman"/>
              </a:rPr>
              <a:t>75%</a:t>
            </a:r>
            <a:r>
              <a:rPr sz="4725" spc="-67" baseline="1763" dirty="0">
                <a:latin typeface="Symbol"/>
                <a:cs typeface="Symbol"/>
              </a:rPr>
              <a:t></a:t>
            </a:r>
            <a:r>
              <a:rPr sz="4725" spc="-675" baseline="1763" dirty="0">
                <a:latin typeface="Times New Roman"/>
                <a:cs typeface="Times New Roman"/>
              </a:rPr>
              <a:t> </a:t>
            </a:r>
            <a:r>
              <a:rPr sz="3525" baseline="1182" dirty="0">
                <a:latin typeface="Symbol"/>
                <a:cs typeface="Symbol"/>
              </a:rPr>
              <a:t></a:t>
            </a:r>
            <a:r>
              <a:rPr sz="3525" spc="-60" baseline="1182" dirty="0">
                <a:latin typeface="Times New Roman"/>
                <a:cs typeface="Times New Roman"/>
              </a:rPr>
              <a:t> </a:t>
            </a:r>
            <a:r>
              <a:rPr sz="3525" spc="-75" baseline="1182" dirty="0">
                <a:latin typeface="Times New Roman"/>
                <a:cs typeface="Times New Roman"/>
              </a:rPr>
              <a:t>2</a:t>
            </a:r>
            <a:endParaRPr sz="3525" baseline="1182">
              <a:latin typeface="Times New Roman"/>
              <a:cs typeface="Times New Roman"/>
            </a:endParaRPr>
          </a:p>
          <a:p>
            <a:pPr marL="1036955">
              <a:lnSpc>
                <a:spcPts val="2230"/>
              </a:lnSpc>
            </a:pPr>
            <a:r>
              <a:rPr sz="2350" i="1" spc="-25" dirty="0">
                <a:latin typeface="Times New Roman"/>
                <a:cs typeface="Times New Roman"/>
              </a:rPr>
              <a:t>IC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520" y="4333141"/>
            <a:ext cx="1376045" cy="553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525" i="1" baseline="1182" dirty="0">
                <a:latin typeface="Times New Roman"/>
                <a:cs typeface="Times New Roman"/>
              </a:rPr>
              <a:t>CPI</a:t>
            </a:r>
            <a:r>
              <a:rPr sz="3525" i="1" spc="345" baseline="1182" dirty="0">
                <a:latin typeface="Times New Roman"/>
                <a:cs typeface="Times New Roman"/>
              </a:rPr>
              <a:t> </a:t>
            </a:r>
            <a:r>
              <a:rPr sz="3525" baseline="1182" dirty="0">
                <a:latin typeface="Symbol"/>
                <a:cs typeface="Symbol"/>
              </a:rPr>
              <a:t></a:t>
            </a:r>
            <a:r>
              <a:rPr sz="3525" spc="-120" baseline="1182" dirty="0">
                <a:latin typeface="Times New Roman"/>
                <a:cs typeface="Times New Roman"/>
              </a:rPr>
              <a:t> </a:t>
            </a:r>
            <a:r>
              <a:rPr sz="5175" spc="179" baseline="-7246" dirty="0">
                <a:latin typeface="Symbol"/>
                <a:cs typeface="Symbol"/>
              </a:rPr>
              <a:t></a:t>
            </a:r>
            <a:r>
              <a:rPr sz="2350" spc="120" dirty="0">
                <a:latin typeface="Symbol"/>
                <a:cs typeface="Symbol"/>
              </a:rPr>
              <a:t></a:t>
            </a:r>
            <a:endParaRPr sz="2350">
              <a:latin typeface="Symbol"/>
              <a:cs typeface="Symbo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8718" y="3083814"/>
            <a:ext cx="4371754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-17576" y="1209243"/>
            <a:ext cx="2673985" cy="1147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3.</a:t>
            </a:r>
            <a:r>
              <a:rPr sz="2800" spc="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Times New Roman"/>
                <a:cs typeface="Times New Roman"/>
              </a:rPr>
              <a:t>CPU</a:t>
            </a:r>
            <a:r>
              <a:rPr sz="2800" spc="-45" dirty="0">
                <a:latin typeface="微软雅黑"/>
                <a:cs typeface="微软雅黑"/>
              </a:rPr>
              <a:t>性能公式</a:t>
            </a:r>
            <a:endParaRPr sz="2800">
              <a:latin typeface="微软雅黑"/>
              <a:cs typeface="微软雅黑"/>
            </a:endParaRPr>
          </a:p>
          <a:p>
            <a:pPr marL="12065">
              <a:lnSpc>
                <a:spcPct val="100000"/>
              </a:lnSpc>
              <a:spcBef>
                <a:spcPts val="3075"/>
              </a:spcBef>
            </a:pPr>
            <a:r>
              <a:rPr sz="2000" b="1" spc="-10" dirty="0">
                <a:latin typeface="宋体"/>
                <a:cs typeface="宋体"/>
              </a:rPr>
              <a:t>（</a:t>
            </a:r>
            <a:r>
              <a:rPr sz="2000" b="1" spc="-10" dirty="0">
                <a:latin typeface="Times New Roman"/>
                <a:cs typeface="Times New Roman"/>
              </a:rPr>
              <a:t>1</a:t>
            </a:r>
            <a:r>
              <a:rPr sz="2000" b="1" spc="-10" dirty="0">
                <a:latin typeface="宋体"/>
                <a:cs typeface="宋体"/>
              </a:rPr>
              <a:t>）</a:t>
            </a:r>
            <a:r>
              <a:rPr sz="2000" b="1" spc="-20" dirty="0">
                <a:latin typeface="宋体"/>
                <a:cs typeface="宋体"/>
              </a:rPr>
              <a:t>采用第一种方案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8023" y="2330043"/>
            <a:ext cx="6356350" cy="95250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1345"/>
              </a:spcBef>
            </a:pPr>
            <a:r>
              <a:rPr sz="2000" b="1" spc="-10" dirty="0">
                <a:latin typeface="Times New Roman"/>
                <a:cs typeface="Times New Roman"/>
              </a:rPr>
              <a:t>FPSQR</a:t>
            </a:r>
            <a:r>
              <a:rPr sz="2000" b="1" spc="-10" dirty="0">
                <a:latin typeface="宋体"/>
                <a:cs typeface="宋体"/>
              </a:rPr>
              <a:t>操作的</a:t>
            </a:r>
            <a:r>
              <a:rPr sz="2000" b="1" spc="-10" dirty="0">
                <a:latin typeface="Times New Roman"/>
                <a:cs typeface="Times New Roman"/>
              </a:rPr>
              <a:t>CPI</a:t>
            </a:r>
            <a:r>
              <a:rPr sz="2000" b="1" spc="-10" dirty="0">
                <a:latin typeface="宋体"/>
                <a:cs typeface="宋体"/>
              </a:rPr>
              <a:t>由</a:t>
            </a:r>
            <a:r>
              <a:rPr sz="2000" b="1" dirty="0">
                <a:solidFill>
                  <a:srgbClr val="6600FF"/>
                </a:solidFill>
                <a:latin typeface="Times New Roman"/>
                <a:cs typeface="Times New Roman"/>
              </a:rPr>
              <a:t>CPI</a:t>
            </a:r>
            <a:r>
              <a:rPr sz="1950" b="1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FPSQR</a:t>
            </a:r>
            <a:r>
              <a:rPr sz="2000" b="1" dirty="0">
                <a:solidFill>
                  <a:srgbClr val="6600FF"/>
                </a:solidFill>
                <a:latin typeface="宋体"/>
                <a:cs typeface="宋体"/>
              </a:rPr>
              <a:t>＝</a:t>
            </a:r>
            <a:r>
              <a:rPr sz="2000" b="1" dirty="0">
                <a:solidFill>
                  <a:srgbClr val="6600FF"/>
                </a:solidFill>
                <a:latin typeface="Times New Roman"/>
                <a:cs typeface="Times New Roman"/>
              </a:rPr>
              <a:t>20</a:t>
            </a:r>
            <a:r>
              <a:rPr sz="2000" b="1" spc="-10" dirty="0">
                <a:latin typeface="宋体"/>
                <a:cs typeface="宋体"/>
              </a:rPr>
              <a:t>减至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CPI’</a:t>
            </a:r>
            <a:r>
              <a:rPr sz="1950" b="1" spc="-15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FPSQR</a:t>
            </a:r>
            <a:r>
              <a:rPr sz="2000" b="1" spc="-10" dirty="0">
                <a:solidFill>
                  <a:srgbClr val="6600FF"/>
                </a:solidFill>
                <a:latin typeface="宋体"/>
                <a:cs typeface="宋体"/>
              </a:rPr>
              <a:t>＝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2</a:t>
            </a:r>
            <a:r>
              <a:rPr sz="2000" b="1" spc="-10" dirty="0">
                <a:latin typeface="宋体"/>
                <a:cs typeface="宋体"/>
              </a:rPr>
              <a:t>，</a:t>
            </a:r>
            <a:endParaRPr sz="20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250"/>
              </a:spcBef>
            </a:pPr>
            <a:r>
              <a:rPr sz="2000" b="1" spc="-25" dirty="0">
                <a:latin typeface="宋体"/>
                <a:cs typeface="宋体"/>
              </a:rPr>
              <a:t>则整个系统的指令平均时钟周期数为：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4227" y="3412693"/>
            <a:ext cx="352615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34310" algn="l"/>
              </a:tabLst>
            </a:pPr>
            <a:r>
              <a:rPr sz="2000" b="1" dirty="0">
                <a:latin typeface="Times New Roman"/>
                <a:cs typeface="Times New Roman"/>
              </a:rPr>
              <a:t>CPI</a:t>
            </a:r>
            <a:r>
              <a:rPr sz="2000" b="1" spc="1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宋体"/>
                <a:cs typeface="宋体"/>
              </a:rPr>
              <a:t>＝</a:t>
            </a:r>
            <a:r>
              <a:rPr sz="2000" b="1" spc="-10" dirty="0">
                <a:latin typeface="Times New Roman"/>
                <a:cs typeface="Times New Roman"/>
              </a:rPr>
              <a:t>CPI―</a:t>
            </a:r>
            <a:r>
              <a:rPr sz="2000" b="1" spc="-10" dirty="0">
                <a:latin typeface="宋体"/>
                <a:cs typeface="宋体"/>
              </a:rPr>
              <a:t>（</a:t>
            </a:r>
            <a:r>
              <a:rPr sz="2000" b="1" spc="-10" dirty="0">
                <a:latin typeface="Times New Roman"/>
                <a:cs typeface="Times New Roman"/>
              </a:rPr>
              <a:t>CPI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Times New Roman"/>
                <a:cs typeface="Times New Roman"/>
              </a:rPr>
              <a:t>―CPI’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139" y="3560826"/>
            <a:ext cx="3639185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741805" algn="l"/>
                <a:tab pos="3072765" algn="l"/>
              </a:tabLst>
            </a:pPr>
            <a:r>
              <a:rPr sz="1300" b="1" spc="-50" dirty="0">
                <a:latin typeface="Times New Roman"/>
                <a:cs typeface="Times New Roman"/>
              </a:rPr>
              <a:t>1</a:t>
            </a:r>
            <a:r>
              <a:rPr sz="1300" b="1" dirty="0">
                <a:latin typeface="Times New Roman"/>
                <a:cs typeface="Times New Roman"/>
              </a:rPr>
              <a:t>	</a:t>
            </a:r>
            <a:r>
              <a:rPr sz="1300" b="1" spc="-20" dirty="0">
                <a:latin typeface="Times New Roman"/>
                <a:cs typeface="Times New Roman"/>
              </a:rPr>
              <a:t>FPSQR</a:t>
            </a:r>
            <a:r>
              <a:rPr sz="1300" b="1" dirty="0">
                <a:latin typeface="Times New Roman"/>
                <a:cs typeface="Times New Roman"/>
              </a:rPr>
              <a:t>	</a:t>
            </a:r>
            <a:r>
              <a:rPr sz="1300" b="1" spc="-10" dirty="0">
                <a:latin typeface="Times New Roman"/>
                <a:cs typeface="Times New Roman"/>
              </a:rPr>
              <a:t>FPSQR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6797" y="3412693"/>
            <a:ext cx="9182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0" dirty="0">
                <a:latin typeface="宋体"/>
                <a:cs typeface="宋体"/>
              </a:rPr>
              <a:t>）×</a:t>
            </a:r>
            <a:r>
              <a:rPr sz="2000" b="1" spc="-20" dirty="0">
                <a:latin typeface="Times New Roman"/>
                <a:cs typeface="Times New Roman"/>
              </a:rPr>
              <a:t>2%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1719" y="3875023"/>
            <a:ext cx="2750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宋体"/>
                <a:cs typeface="宋体"/>
              </a:rPr>
              <a:t>＝</a:t>
            </a:r>
            <a:r>
              <a:rPr sz="2000" b="1" dirty="0">
                <a:latin typeface="Times New Roman"/>
                <a:cs typeface="Times New Roman"/>
              </a:rPr>
              <a:t>2―(20―2)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宋体"/>
                <a:cs typeface="宋体"/>
              </a:rPr>
              <a:t>×</a:t>
            </a:r>
            <a:r>
              <a:rPr sz="2000" b="1" spc="-10" dirty="0">
                <a:latin typeface="Times New Roman"/>
                <a:cs typeface="Times New Roman"/>
              </a:rPr>
              <a:t>2%≈1.64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023" y="4334717"/>
            <a:ext cx="6807834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400" b="1" spc="-25" dirty="0">
                <a:solidFill>
                  <a:srgbClr val="EC7C30"/>
                </a:solidFill>
                <a:latin typeface="宋体"/>
                <a:cs typeface="宋体"/>
              </a:rPr>
              <a:t>或其他计算方法</a:t>
            </a:r>
            <a:r>
              <a:rPr sz="2400" b="1" dirty="0">
                <a:solidFill>
                  <a:srgbClr val="EC7C30"/>
                </a:solidFill>
                <a:latin typeface="Times New Roman"/>
                <a:cs typeface="Times New Roman"/>
              </a:rPr>
              <a:t>(</a:t>
            </a:r>
            <a:r>
              <a:rPr sz="2400" b="1" spc="-25" dirty="0">
                <a:solidFill>
                  <a:srgbClr val="FF0000"/>
                </a:solidFill>
                <a:latin typeface="宋体"/>
                <a:cs typeface="宋体"/>
              </a:rPr>
              <a:t>将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FPSQR</a:t>
            </a:r>
            <a:r>
              <a:rPr sz="2400" b="1" spc="-25" dirty="0">
                <a:solidFill>
                  <a:srgbClr val="FF0000"/>
                </a:solidFill>
                <a:latin typeface="宋体"/>
                <a:cs typeface="宋体"/>
              </a:rPr>
              <a:t>和其他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FP</a:t>
            </a:r>
            <a:r>
              <a:rPr sz="2400" b="1" spc="-25" dirty="0">
                <a:solidFill>
                  <a:srgbClr val="FF0000"/>
                </a:solidFill>
                <a:latin typeface="宋体"/>
                <a:cs typeface="宋体"/>
              </a:rPr>
              <a:t>看成一个整体</a:t>
            </a:r>
            <a:r>
              <a:rPr sz="2400" b="1" spc="-50" dirty="0">
                <a:solidFill>
                  <a:srgbClr val="EC7C30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1445"/>
              </a:spcBef>
            </a:pPr>
            <a:r>
              <a:rPr sz="2400" b="1" spc="-20" dirty="0">
                <a:solidFill>
                  <a:srgbClr val="EC7C30"/>
                </a:solidFill>
                <a:latin typeface="宋体"/>
                <a:cs typeface="宋体"/>
              </a:rPr>
              <a:t>除了</a:t>
            </a:r>
            <a:r>
              <a:rPr sz="2400" b="1" spc="-10" dirty="0">
                <a:solidFill>
                  <a:srgbClr val="EC7C30"/>
                </a:solidFill>
                <a:latin typeface="Times New Roman"/>
                <a:cs typeface="Times New Roman"/>
              </a:rPr>
              <a:t>FPSQR</a:t>
            </a:r>
            <a:r>
              <a:rPr sz="2400" b="1" spc="-20" dirty="0">
                <a:solidFill>
                  <a:srgbClr val="EC7C30"/>
                </a:solidFill>
                <a:latin typeface="宋体"/>
                <a:cs typeface="宋体"/>
              </a:rPr>
              <a:t>指令其他</a:t>
            </a:r>
            <a:r>
              <a:rPr sz="2400" b="1" spc="-10" dirty="0">
                <a:solidFill>
                  <a:srgbClr val="EC7C30"/>
                </a:solidFill>
                <a:latin typeface="Times New Roman"/>
                <a:cs typeface="Times New Roman"/>
              </a:rPr>
              <a:t>FP</a:t>
            </a:r>
            <a:r>
              <a:rPr sz="2400" b="1" spc="-20" dirty="0">
                <a:solidFill>
                  <a:srgbClr val="EC7C30"/>
                </a:solidFill>
                <a:latin typeface="宋体"/>
                <a:cs typeface="宋体"/>
              </a:rPr>
              <a:t>指令的平均</a:t>
            </a:r>
            <a:r>
              <a:rPr sz="2400" b="1" spc="-25" dirty="0">
                <a:solidFill>
                  <a:srgbClr val="EC7C30"/>
                </a:solidFill>
                <a:latin typeface="Times New Roman"/>
                <a:cs typeface="Times New Roman"/>
              </a:rPr>
              <a:t>CPI</a:t>
            </a:r>
            <a:r>
              <a:rPr sz="2400" b="1" spc="-20" dirty="0">
                <a:solidFill>
                  <a:srgbClr val="EC7C30"/>
                </a:solidFill>
                <a:latin typeface="宋体"/>
                <a:cs typeface="宋体"/>
              </a:rPr>
              <a:t>为</a:t>
            </a:r>
            <a:r>
              <a:rPr sz="2400" b="1" spc="-25" dirty="0">
                <a:solidFill>
                  <a:srgbClr val="EC7C30"/>
                </a:solidFill>
                <a:latin typeface="Times New Roman"/>
                <a:cs typeface="Times New Roman"/>
              </a:rPr>
              <a:t>M</a:t>
            </a:r>
            <a:r>
              <a:rPr sz="2400" b="1" spc="-25" dirty="0">
                <a:latin typeface="宋体"/>
                <a:cs typeface="宋体"/>
              </a:rPr>
              <a:t>，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623" y="5616041"/>
            <a:ext cx="10264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492500" algn="l"/>
                <a:tab pos="4937760" algn="l"/>
              </a:tabLst>
            </a:pPr>
            <a:r>
              <a:rPr sz="2400" b="1" spc="-20" dirty="0">
                <a:latin typeface="宋体"/>
                <a:cs typeface="宋体"/>
              </a:rPr>
              <a:t>则</a:t>
            </a:r>
            <a:r>
              <a:rPr sz="2400" b="1" spc="-10" dirty="0">
                <a:latin typeface="Times New Roman"/>
                <a:cs typeface="Times New Roman"/>
              </a:rPr>
              <a:t>M*0.98+20*0.02=2</a:t>
            </a:r>
            <a:r>
              <a:rPr sz="2400" b="1" dirty="0">
                <a:latin typeface="Times New Roman"/>
                <a:cs typeface="Times New Roman"/>
              </a:rPr>
              <a:t>	M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≈ </a:t>
            </a:r>
            <a:r>
              <a:rPr sz="2400" b="1" spc="-20" dirty="0">
                <a:latin typeface="Times New Roman"/>
                <a:cs typeface="Times New Roman"/>
              </a:rPr>
              <a:t>1.63</a:t>
            </a:r>
            <a:r>
              <a:rPr sz="2400" b="1" dirty="0">
                <a:latin typeface="Times New Roman"/>
                <a:cs typeface="Times New Roman"/>
              </a:rPr>
              <a:t>	CPI</a:t>
            </a:r>
            <a:r>
              <a:rPr sz="2400" b="1" baseline="-20833" dirty="0">
                <a:latin typeface="Times New Roman"/>
                <a:cs typeface="Times New Roman"/>
              </a:rPr>
              <a:t>1</a:t>
            </a:r>
            <a:r>
              <a:rPr sz="2400" b="1" dirty="0">
                <a:latin typeface="Times New Roman"/>
                <a:cs typeface="Times New Roman"/>
              </a:rPr>
              <a:t>=1.33*0.75+1.63*0.23+2*0.02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≈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1.64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22895" y="2478404"/>
            <a:ext cx="11068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宋体"/>
                <a:cs typeface="宋体"/>
              </a:rPr>
              <a:t>改进</a:t>
            </a:r>
            <a:r>
              <a:rPr sz="1800" b="1" spc="-10" dirty="0">
                <a:latin typeface="Calibri"/>
                <a:cs typeface="Calibri"/>
              </a:rPr>
              <a:t>FPSQR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22895" y="2889580"/>
            <a:ext cx="48875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宋体"/>
                <a:cs typeface="宋体"/>
              </a:rPr>
              <a:t>已知</a:t>
            </a:r>
            <a:r>
              <a:rPr sz="1800" spc="-10" dirty="0">
                <a:latin typeface="Calibri"/>
                <a:cs typeface="Calibri"/>
              </a:rPr>
              <a:t>FPSQR</a:t>
            </a:r>
            <a:r>
              <a:rPr sz="1800" spc="-10" dirty="0">
                <a:latin typeface="宋体"/>
                <a:cs typeface="宋体"/>
              </a:rPr>
              <a:t>指令和除了</a:t>
            </a:r>
            <a:r>
              <a:rPr sz="1800" spc="-10" dirty="0">
                <a:latin typeface="Calibri"/>
                <a:cs typeface="Calibri"/>
              </a:rPr>
              <a:t>FPSQR</a:t>
            </a:r>
            <a:r>
              <a:rPr sz="1800" spc="-10" dirty="0">
                <a:latin typeface="宋体"/>
                <a:cs typeface="宋体"/>
              </a:rPr>
              <a:t>之外的</a:t>
            </a:r>
            <a:r>
              <a:rPr sz="1800" spc="-10" dirty="0">
                <a:latin typeface="Calibri"/>
                <a:cs typeface="Calibri"/>
              </a:rPr>
              <a:t>FP</a:t>
            </a:r>
            <a:r>
              <a:rPr sz="1800" spc="-20" dirty="0">
                <a:latin typeface="宋体"/>
                <a:cs typeface="宋体"/>
              </a:rPr>
              <a:t>指令和其他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22895" y="3301746"/>
            <a:ext cx="4814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指令的比例，还有</a:t>
            </a:r>
            <a:r>
              <a:rPr sz="1800" spc="-10" dirty="0">
                <a:latin typeface="Calibri"/>
                <a:cs typeface="Calibri"/>
              </a:rPr>
              <a:t>FPSQR</a:t>
            </a:r>
            <a:r>
              <a:rPr sz="1800" dirty="0">
                <a:latin typeface="宋体"/>
                <a:cs typeface="宋体"/>
              </a:rPr>
              <a:t>指令和其他指令的</a:t>
            </a:r>
            <a:r>
              <a:rPr sz="1800" spc="-20" dirty="0">
                <a:latin typeface="Calibri"/>
                <a:cs typeface="Calibri"/>
              </a:rPr>
              <a:t>CPI</a:t>
            </a:r>
            <a:r>
              <a:rPr sz="1800" spc="-20" dirty="0">
                <a:latin typeface="宋体"/>
                <a:cs typeface="宋体"/>
              </a:rPr>
              <a:t>，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22895" y="3713226"/>
            <a:ext cx="4808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缺少</a:t>
            </a:r>
            <a:r>
              <a:rPr sz="1800" dirty="0">
                <a:latin typeface="宋体"/>
                <a:cs typeface="宋体"/>
              </a:rPr>
              <a:t>的是除了</a:t>
            </a:r>
            <a:r>
              <a:rPr sz="1800" spc="-10" dirty="0">
                <a:latin typeface="Calibri"/>
                <a:cs typeface="Calibri"/>
              </a:rPr>
              <a:t>FPSQR</a:t>
            </a:r>
            <a:r>
              <a:rPr sz="1800" dirty="0">
                <a:latin typeface="宋体"/>
                <a:cs typeface="宋体"/>
              </a:rPr>
              <a:t>之外的其他</a:t>
            </a:r>
            <a:r>
              <a:rPr sz="1800" spc="-10" dirty="0">
                <a:latin typeface="Calibri"/>
                <a:cs typeface="Calibri"/>
              </a:rPr>
              <a:t>FP</a:t>
            </a:r>
            <a:r>
              <a:rPr sz="1800" dirty="0">
                <a:latin typeface="宋体"/>
                <a:cs typeface="宋体"/>
              </a:rPr>
              <a:t>指令的平均</a:t>
            </a:r>
            <a:r>
              <a:rPr sz="1800" spc="-25" dirty="0">
                <a:latin typeface="Calibri"/>
                <a:cs typeface="Calibri"/>
              </a:rPr>
              <a:t>CPI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22895" y="4124401"/>
            <a:ext cx="47396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宋体"/>
                <a:cs typeface="宋体"/>
              </a:rPr>
              <a:t>因此</a:t>
            </a:r>
            <a:r>
              <a:rPr sz="1800" spc="-10" dirty="0">
                <a:latin typeface="宋体"/>
                <a:cs typeface="宋体"/>
              </a:rPr>
              <a:t>要先求出除了</a:t>
            </a:r>
            <a:r>
              <a:rPr sz="1800" spc="-10" dirty="0">
                <a:latin typeface="Calibri"/>
                <a:cs typeface="Calibri"/>
              </a:rPr>
              <a:t>FPSQR</a:t>
            </a:r>
            <a:r>
              <a:rPr sz="1800" spc="-10" dirty="0">
                <a:latin typeface="宋体"/>
                <a:cs typeface="宋体"/>
              </a:rPr>
              <a:t>指令外其他</a:t>
            </a:r>
            <a:r>
              <a:rPr sz="1800" spc="-10" dirty="0">
                <a:latin typeface="Calibri"/>
                <a:cs typeface="Calibri"/>
              </a:rPr>
              <a:t>FP</a:t>
            </a:r>
            <a:r>
              <a:rPr sz="1800" spc="-20" dirty="0">
                <a:latin typeface="宋体"/>
                <a:cs typeface="宋体"/>
              </a:rPr>
              <a:t>指令的平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22895" y="4536440"/>
            <a:ext cx="487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均</a:t>
            </a:r>
            <a:r>
              <a:rPr sz="1800" spc="-10" dirty="0">
                <a:latin typeface="Calibri"/>
                <a:cs typeface="Calibri"/>
              </a:rPr>
              <a:t>CPI</a:t>
            </a:r>
            <a:r>
              <a:rPr sz="1800" spc="-5" dirty="0">
                <a:latin typeface="宋体"/>
                <a:cs typeface="宋体"/>
              </a:rPr>
              <a:t>，除了</a:t>
            </a:r>
            <a:r>
              <a:rPr sz="1800" spc="-10" dirty="0">
                <a:latin typeface="Calibri"/>
                <a:cs typeface="Calibri"/>
              </a:rPr>
              <a:t>FPSQR</a:t>
            </a:r>
            <a:r>
              <a:rPr sz="1800" spc="-5" dirty="0">
                <a:latin typeface="宋体"/>
                <a:cs typeface="宋体"/>
              </a:rPr>
              <a:t>指令外其他</a:t>
            </a:r>
            <a:r>
              <a:rPr sz="1800" spc="-10" dirty="0">
                <a:latin typeface="Calibri"/>
                <a:cs typeface="Calibri"/>
              </a:rPr>
              <a:t>FP</a:t>
            </a:r>
            <a:r>
              <a:rPr sz="1800" dirty="0">
                <a:latin typeface="宋体"/>
                <a:cs typeface="宋体"/>
              </a:rPr>
              <a:t>指令的平均</a:t>
            </a:r>
            <a:r>
              <a:rPr sz="1800" spc="-10" dirty="0">
                <a:latin typeface="Calibri"/>
                <a:cs typeface="Calibri"/>
              </a:rPr>
              <a:t>CPI</a:t>
            </a:r>
            <a:r>
              <a:rPr sz="1800" spc="-50" dirty="0">
                <a:latin typeface="宋体"/>
                <a:cs typeface="宋体"/>
              </a:rPr>
              <a:t>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22895" y="4947920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宋体"/>
                <a:cs typeface="宋体"/>
              </a:rPr>
              <a:t>以通过比例算出</a:t>
            </a:r>
            <a:endParaRPr sz="1800">
              <a:latin typeface="宋体"/>
              <a:cs typeface="宋体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8291" y="0"/>
            <a:ext cx="4359402" cy="20834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160" dirty="0">
                <a:latin typeface="Times New Roman"/>
                <a:cs typeface="Times New Roman"/>
              </a:rPr>
              <a:t> 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计算机系统的设</a:t>
            </a:r>
            <a:r>
              <a:rPr spc="-50" dirty="0"/>
              <a:t>计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947" y="1263142"/>
            <a:ext cx="25006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2800" spc="45" dirty="0">
                <a:solidFill>
                  <a:srgbClr val="0000FF"/>
                </a:solidFill>
                <a:latin typeface="Times New Roman"/>
                <a:cs typeface="Times New Roman"/>
              </a:rPr>
              <a:t>. </a:t>
            </a:r>
            <a:r>
              <a:rPr sz="2800" spc="-30" dirty="0">
                <a:latin typeface="Times New Roman"/>
                <a:cs typeface="Times New Roman"/>
              </a:rPr>
              <a:t>CPU</a:t>
            </a:r>
            <a:r>
              <a:rPr sz="2800" spc="-40" dirty="0">
                <a:latin typeface="微软雅黑"/>
                <a:cs typeface="微软雅黑"/>
              </a:rPr>
              <a:t>性能公式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940" y="2150465"/>
            <a:ext cx="12072620" cy="233616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35"/>
              </a:spcBef>
            </a:pPr>
            <a:r>
              <a:rPr sz="2000" b="1" spc="-10" dirty="0">
                <a:latin typeface="宋体"/>
                <a:cs typeface="宋体"/>
              </a:rPr>
              <a:t>（</a:t>
            </a:r>
            <a:r>
              <a:rPr sz="2000" b="1" spc="-10" dirty="0">
                <a:latin typeface="Times New Roman"/>
                <a:cs typeface="Times New Roman"/>
              </a:rPr>
              <a:t>2</a:t>
            </a:r>
            <a:r>
              <a:rPr sz="2000" b="1" spc="-10" dirty="0">
                <a:latin typeface="宋体"/>
                <a:cs typeface="宋体"/>
              </a:rPr>
              <a:t>）</a:t>
            </a:r>
            <a:r>
              <a:rPr sz="2000" b="1" spc="-20" dirty="0">
                <a:latin typeface="宋体"/>
                <a:cs typeface="宋体"/>
              </a:rPr>
              <a:t>采用第二种方案</a:t>
            </a:r>
            <a:endParaRPr sz="2000">
              <a:latin typeface="宋体"/>
              <a:cs typeface="宋体"/>
            </a:endParaRPr>
          </a:p>
          <a:p>
            <a:pPr marL="189865">
              <a:lnSpc>
                <a:spcPct val="100000"/>
              </a:lnSpc>
              <a:spcBef>
                <a:spcPts val="1235"/>
              </a:spcBef>
            </a:pPr>
            <a:r>
              <a:rPr sz="2000" b="1" spc="-10" dirty="0">
                <a:latin typeface="宋体"/>
                <a:cs typeface="宋体"/>
              </a:rPr>
              <a:t>所有</a:t>
            </a:r>
            <a:r>
              <a:rPr sz="20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FP</a:t>
            </a:r>
            <a:r>
              <a:rPr sz="2000" b="1" spc="-15" dirty="0">
                <a:latin typeface="宋体"/>
                <a:cs typeface="宋体"/>
              </a:rPr>
              <a:t>操作的</a:t>
            </a:r>
            <a:r>
              <a:rPr sz="2000" b="1" spc="-10" dirty="0">
                <a:latin typeface="Times New Roman"/>
                <a:cs typeface="Times New Roman"/>
              </a:rPr>
              <a:t>CPI</a:t>
            </a:r>
            <a:r>
              <a:rPr sz="2000" b="1" spc="-10" dirty="0">
                <a:latin typeface="宋体"/>
                <a:cs typeface="宋体"/>
              </a:rPr>
              <a:t>由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CPI</a:t>
            </a:r>
            <a:r>
              <a:rPr sz="1950" b="1" spc="-15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FP</a:t>
            </a:r>
            <a:r>
              <a:rPr sz="2000" b="1" spc="-10" dirty="0">
                <a:solidFill>
                  <a:srgbClr val="6600FF"/>
                </a:solidFill>
                <a:latin typeface="宋体"/>
                <a:cs typeface="宋体"/>
              </a:rPr>
              <a:t>＝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4</a:t>
            </a:r>
            <a:r>
              <a:rPr sz="2000" b="1" spc="-10" dirty="0">
                <a:latin typeface="宋体"/>
                <a:cs typeface="宋体"/>
              </a:rPr>
              <a:t>减至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CPI’</a:t>
            </a:r>
            <a:r>
              <a:rPr sz="1950" b="1" spc="-15" baseline="-21367" dirty="0">
                <a:solidFill>
                  <a:srgbClr val="6600FF"/>
                </a:solidFill>
                <a:latin typeface="Times New Roman"/>
                <a:cs typeface="Times New Roman"/>
              </a:rPr>
              <a:t>FP</a:t>
            </a:r>
            <a:r>
              <a:rPr sz="2000" b="1" spc="-10" dirty="0">
                <a:solidFill>
                  <a:srgbClr val="6600FF"/>
                </a:solidFill>
                <a:latin typeface="宋体"/>
                <a:cs typeface="宋体"/>
              </a:rPr>
              <a:t>＝</a:t>
            </a:r>
            <a:r>
              <a:rPr sz="2000" b="1" spc="-10" dirty="0">
                <a:solidFill>
                  <a:srgbClr val="6600FF"/>
                </a:solidFill>
                <a:latin typeface="Times New Roman"/>
                <a:cs typeface="Times New Roman"/>
              </a:rPr>
              <a:t>2</a:t>
            </a:r>
            <a:r>
              <a:rPr sz="2000" b="1" spc="-20" dirty="0">
                <a:latin typeface="宋体"/>
                <a:cs typeface="宋体"/>
              </a:rPr>
              <a:t>，则整个系统的指令平均时钟周期数为</a:t>
            </a:r>
            <a:r>
              <a:rPr sz="2000" b="1" spc="-10" dirty="0">
                <a:latin typeface="Times New Roman"/>
                <a:cs typeface="Times New Roman"/>
              </a:rPr>
              <a:t>(FPSQR</a:t>
            </a:r>
            <a:r>
              <a:rPr sz="2000" b="1" spc="-15" dirty="0">
                <a:latin typeface="宋体"/>
                <a:cs typeface="宋体"/>
              </a:rPr>
              <a:t>操作不改变</a:t>
            </a:r>
            <a:r>
              <a:rPr sz="2000" b="1" spc="-25" dirty="0">
                <a:latin typeface="Times New Roman"/>
                <a:cs typeface="Times New Roman"/>
              </a:rPr>
              <a:t>)</a:t>
            </a:r>
            <a:r>
              <a:rPr sz="2000" b="1" spc="-25" dirty="0">
                <a:latin typeface="宋体"/>
                <a:cs typeface="宋体"/>
              </a:rPr>
              <a:t>：</a:t>
            </a:r>
            <a:endParaRPr sz="2000">
              <a:latin typeface="宋体"/>
              <a:cs typeface="宋体"/>
            </a:endParaRPr>
          </a:p>
          <a:p>
            <a:pPr marL="889000">
              <a:lnSpc>
                <a:spcPct val="100000"/>
              </a:lnSpc>
              <a:spcBef>
                <a:spcPts val="1250"/>
              </a:spcBef>
              <a:tabLst>
                <a:tab pos="6022340" algn="l"/>
              </a:tabLst>
            </a:pPr>
            <a:r>
              <a:rPr sz="2000" b="1" spc="-10" dirty="0">
                <a:latin typeface="Times New Roman"/>
                <a:cs typeface="Times New Roman"/>
              </a:rPr>
              <a:t>CPI</a:t>
            </a:r>
            <a:r>
              <a:rPr sz="1950" b="1" spc="-15" baseline="-21367" dirty="0">
                <a:latin typeface="Times New Roman"/>
                <a:cs typeface="Times New Roman"/>
              </a:rPr>
              <a:t>2</a:t>
            </a:r>
            <a:r>
              <a:rPr sz="2000" b="1" spc="-10" dirty="0">
                <a:latin typeface="宋体"/>
                <a:cs typeface="宋体"/>
              </a:rPr>
              <a:t>＝</a:t>
            </a:r>
            <a:r>
              <a:rPr sz="2000" b="1" spc="-10" dirty="0">
                <a:latin typeface="Times New Roman"/>
                <a:cs typeface="Times New Roman"/>
              </a:rPr>
              <a:t>CPI―</a:t>
            </a:r>
            <a:r>
              <a:rPr sz="2000" b="1" spc="-10" dirty="0">
                <a:latin typeface="宋体"/>
                <a:cs typeface="宋体"/>
              </a:rPr>
              <a:t>（</a:t>
            </a:r>
            <a:r>
              <a:rPr sz="2000" b="1" spc="-10" dirty="0">
                <a:latin typeface="Times New Roman"/>
                <a:cs typeface="Times New Roman"/>
              </a:rPr>
              <a:t>CPI</a:t>
            </a:r>
            <a:r>
              <a:rPr sz="1950" b="1" spc="-15" baseline="-21367" dirty="0">
                <a:latin typeface="Times New Roman"/>
                <a:cs typeface="Times New Roman"/>
              </a:rPr>
              <a:t>FP</a:t>
            </a:r>
            <a:r>
              <a:rPr sz="2000" b="1" spc="-10" dirty="0">
                <a:latin typeface="Times New Roman"/>
                <a:cs typeface="Times New Roman"/>
              </a:rPr>
              <a:t>―CPI’</a:t>
            </a:r>
            <a:r>
              <a:rPr sz="1950" b="1" spc="-15" baseline="-21367" dirty="0">
                <a:latin typeface="Times New Roman"/>
                <a:cs typeface="Times New Roman"/>
              </a:rPr>
              <a:t>FP</a:t>
            </a:r>
            <a:r>
              <a:rPr sz="2000" b="1" spc="-10" dirty="0">
                <a:latin typeface="宋体"/>
                <a:cs typeface="宋体"/>
              </a:rPr>
              <a:t>）×</a:t>
            </a:r>
            <a:r>
              <a:rPr sz="2000" b="1" spc="-10" dirty="0">
                <a:latin typeface="Times New Roman"/>
                <a:cs typeface="Times New Roman"/>
              </a:rPr>
              <a:t>25%</a:t>
            </a:r>
            <a:r>
              <a:rPr sz="2000" b="1" dirty="0">
                <a:latin typeface="Times New Roman"/>
                <a:cs typeface="Times New Roman"/>
              </a:rPr>
              <a:t>	</a:t>
            </a:r>
            <a:r>
              <a:rPr sz="2000" b="1" spc="-90" dirty="0">
                <a:solidFill>
                  <a:srgbClr val="FF0000"/>
                </a:solidFill>
                <a:latin typeface="宋体"/>
                <a:cs typeface="宋体"/>
              </a:rPr>
              <a:t>或 其他方法：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CPI</a:t>
            </a:r>
            <a:r>
              <a:rPr sz="1950" b="1" spc="-15" baseline="-21367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=0.75*1.33+0.25*2=1.5</a:t>
            </a:r>
            <a:endParaRPr sz="2000">
              <a:latin typeface="Times New Roman"/>
              <a:cs typeface="Times New Roman"/>
            </a:endParaRPr>
          </a:p>
          <a:p>
            <a:pPr marL="1397000">
              <a:lnSpc>
                <a:spcPct val="100000"/>
              </a:lnSpc>
              <a:spcBef>
                <a:spcPts val="1235"/>
              </a:spcBef>
            </a:pPr>
            <a:r>
              <a:rPr sz="2000" b="1" dirty="0">
                <a:latin typeface="宋体"/>
                <a:cs typeface="宋体"/>
              </a:rPr>
              <a:t>＝</a:t>
            </a:r>
            <a:r>
              <a:rPr sz="2000" b="1" dirty="0">
                <a:latin typeface="Times New Roman"/>
                <a:cs typeface="Times New Roman"/>
              </a:rPr>
              <a:t>2―(4―2)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宋体"/>
                <a:cs typeface="宋体"/>
              </a:rPr>
              <a:t>×</a:t>
            </a:r>
            <a:r>
              <a:rPr sz="2000" b="1" spc="-10" dirty="0">
                <a:latin typeface="Times New Roman"/>
                <a:cs typeface="Times New Roman"/>
              </a:rPr>
              <a:t>25%</a:t>
            </a:r>
            <a:r>
              <a:rPr sz="2000" b="1" spc="-10" dirty="0">
                <a:latin typeface="宋体"/>
                <a:cs typeface="宋体"/>
              </a:rPr>
              <a:t>＝</a:t>
            </a:r>
            <a:r>
              <a:rPr sz="2000" b="1" spc="-10" dirty="0">
                <a:latin typeface="Times New Roman"/>
                <a:cs typeface="Times New Roman"/>
              </a:rPr>
              <a:t>1.5</a:t>
            </a:r>
            <a:endParaRPr sz="2000">
              <a:latin typeface="Times New Roman"/>
              <a:cs typeface="Times New Roman"/>
            </a:endParaRPr>
          </a:p>
          <a:p>
            <a:pPr marL="1016000">
              <a:lnSpc>
                <a:spcPct val="100000"/>
              </a:lnSpc>
              <a:spcBef>
                <a:spcPts val="1235"/>
              </a:spcBef>
            </a:pPr>
            <a:r>
              <a:rPr sz="2000" b="1" spc="-25" dirty="0">
                <a:latin typeface="宋体"/>
                <a:cs typeface="宋体"/>
              </a:rPr>
              <a:t>从降低整个系统的指令平均时钟周期数的程度来看，第二种方案优于第一种方案。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7665" y="1191895"/>
            <a:ext cx="67868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改进</a:t>
            </a:r>
            <a:r>
              <a:rPr sz="1800" dirty="0">
                <a:latin typeface="Calibri"/>
                <a:cs typeface="Calibri"/>
              </a:rPr>
              <a:t>FP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宋体"/>
                <a:cs typeface="宋体"/>
              </a:rPr>
              <a:t>操作，</a:t>
            </a:r>
            <a:endParaRPr sz="1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C00000"/>
                </a:solidFill>
                <a:latin typeface="宋体"/>
                <a:cs typeface="宋体"/>
              </a:rPr>
              <a:t>已知</a:t>
            </a:r>
            <a:r>
              <a:rPr sz="1800" dirty="0">
                <a:latin typeface="宋体"/>
                <a:cs typeface="宋体"/>
              </a:rPr>
              <a:t>其他指令的平均</a:t>
            </a:r>
            <a:r>
              <a:rPr sz="1800" spc="-10" dirty="0">
                <a:latin typeface="Calibri"/>
                <a:cs typeface="Calibri"/>
              </a:rPr>
              <a:t>CPI</a:t>
            </a:r>
            <a:r>
              <a:rPr sz="1800" dirty="0">
                <a:latin typeface="宋体"/>
                <a:cs typeface="宋体"/>
              </a:rPr>
              <a:t>和改进后</a:t>
            </a:r>
            <a:r>
              <a:rPr sz="1800" spc="-10" dirty="0">
                <a:latin typeface="Calibri"/>
                <a:cs typeface="Calibri"/>
              </a:rPr>
              <a:t>FP</a:t>
            </a:r>
            <a:r>
              <a:rPr sz="1800" dirty="0">
                <a:latin typeface="宋体"/>
                <a:cs typeface="宋体"/>
              </a:rPr>
              <a:t>操作的平均</a:t>
            </a:r>
            <a:r>
              <a:rPr sz="1800" spc="-10" dirty="0">
                <a:latin typeface="Calibri"/>
                <a:cs typeface="Calibri"/>
              </a:rPr>
              <a:t>CPI</a:t>
            </a:r>
            <a:r>
              <a:rPr sz="1800" spc="-15" dirty="0">
                <a:latin typeface="宋体"/>
                <a:cs typeface="宋体"/>
              </a:rPr>
              <a:t>，两者各自的比例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148" y="1038203"/>
            <a:ext cx="11965305" cy="466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91465" indent="-233045">
              <a:lnSpc>
                <a:spcPct val="150100"/>
              </a:lnSpc>
              <a:spcBef>
                <a:spcPts val="100"/>
              </a:spcBef>
              <a:buClr>
                <a:srgbClr val="0000FF"/>
              </a:buClr>
              <a:buSzPct val="96428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dirty="0"/>
              <a:t>	</a:t>
            </a:r>
            <a:r>
              <a:rPr sz="2800" spc="-40" dirty="0">
                <a:solidFill>
                  <a:srgbClr val="D50092"/>
                </a:solidFill>
                <a:latin typeface="微软雅黑"/>
                <a:cs typeface="微软雅黑"/>
              </a:rPr>
              <a:t>计算机系统设计者的任务</a:t>
            </a:r>
            <a:r>
              <a:rPr sz="2800" spc="-45" dirty="0">
                <a:latin typeface="微软雅黑"/>
                <a:cs typeface="微软雅黑"/>
              </a:rPr>
              <a:t>包括：指令系统的设计、数据表示的设计、功能</a:t>
            </a:r>
            <a:r>
              <a:rPr sz="2800" spc="-40" dirty="0">
                <a:latin typeface="微软雅黑"/>
                <a:cs typeface="微软雅黑"/>
              </a:rPr>
              <a:t>的组织、逻辑设计以及其物理实现等。</a:t>
            </a:r>
            <a:endParaRPr sz="2800">
              <a:latin typeface="微软雅黑"/>
              <a:cs typeface="微软雅黑"/>
            </a:endParaRPr>
          </a:p>
          <a:p>
            <a:pPr marL="294005" indent="-285750">
              <a:lnSpc>
                <a:spcPct val="100000"/>
              </a:lnSpc>
              <a:spcBef>
                <a:spcPts val="2675"/>
              </a:spcBef>
              <a:buClr>
                <a:srgbClr val="0000FF"/>
              </a:buClr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40" dirty="0">
                <a:latin typeface="微软雅黑"/>
                <a:cs typeface="微软雅黑"/>
              </a:rPr>
              <a:t>设计一个计算机系统大致要完成</a:t>
            </a:r>
            <a:r>
              <a:rPr sz="2800" spc="-20" dirty="0">
                <a:solidFill>
                  <a:srgbClr val="6600FF"/>
                </a:solidFill>
                <a:latin typeface="Times New Roman"/>
                <a:cs typeface="Times New Roman"/>
              </a:rPr>
              <a:t>3</a:t>
            </a:r>
            <a:r>
              <a:rPr sz="2800" spc="-40" dirty="0">
                <a:latin typeface="微软雅黑"/>
                <a:cs typeface="微软雅黑"/>
              </a:rPr>
              <a:t>个方面的工作。</a:t>
            </a:r>
            <a:endParaRPr sz="28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205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10" dirty="0">
                <a:latin typeface="Times New Roman"/>
                <a:cs typeface="Times New Roman"/>
              </a:rPr>
              <a:t>1</a:t>
            </a:r>
            <a:r>
              <a:rPr sz="2400" spc="-5" dirty="0">
                <a:latin typeface="微软雅黑"/>
                <a:cs typeface="微软雅黑"/>
              </a:rPr>
              <a:t>、确定用户对计算机系统的功能、价格和性能的要求</a:t>
            </a:r>
            <a:endParaRPr sz="2400">
              <a:latin typeface="微软雅黑"/>
              <a:cs typeface="微软雅黑"/>
            </a:endParaRPr>
          </a:p>
          <a:p>
            <a:pPr marL="1155065" marR="5080" lvl="2" indent="-228600">
              <a:lnSpc>
                <a:spcPct val="150100"/>
              </a:lnSpc>
              <a:spcBef>
                <a:spcPts val="600"/>
              </a:spcBef>
              <a:buFont typeface="Arial"/>
              <a:buChar char="•"/>
              <a:tabLst>
                <a:tab pos="1155065" algn="l"/>
              </a:tabLst>
            </a:pPr>
            <a:r>
              <a:rPr sz="2000" spc="20" dirty="0">
                <a:solidFill>
                  <a:srgbClr val="D50092"/>
                </a:solidFill>
                <a:latin typeface="微软雅黑"/>
                <a:cs typeface="微软雅黑"/>
              </a:rPr>
              <a:t>计算机系统设计者的目标： </a:t>
            </a:r>
            <a:r>
              <a:rPr sz="2000" spc="-20" dirty="0">
                <a:latin typeface="微软雅黑"/>
                <a:cs typeface="微软雅黑"/>
              </a:rPr>
              <a:t>设计出能满足用户的功能需求、有较长的生命周期、且又具有很高的</a:t>
            </a:r>
            <a:r>
              <a:rPr sz="2000" spc="-10" dirty="0">
                <a:latin typeface="微软雅黑"/>
                <a:cs typeface="微软雅黑"/>
              </a:rPr>
              <a:t>性能价格比的系统。</a:t>
            </a:r>
            <a:endParaRPr sz="2000">
              <a:latin typeface="微软雅黑"/>
              <a:cs typeface="微软雅黑"/>
            </a:endParaRPr>
          </a:p>
          <a:p>
            <a:pPr marL="1155065" lvl="2" indent="-227965">
              <a:lnSpc>
                <a:spcPct val="100000"/>
              </a:lnSpc>
              <a:spcBef>
                <a:spcPts val="1695"/>
              </a:spcBef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功能需求</a:t>
            </a:r>
            <a:r>
              <a:rPr sz="2000" spc="-15" dirty="0">
                <a:latin typeface="微软雅黑"/>
                <a:cs typeface="微软雅黑"/>
              </a:rPr>
              <a:t>：根据市场的需要以及所设计系统的应用领域来确定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（</a:t>
            </a:r>
            <a:r>
              <a:rPr sz="2000" spc="-20" dirty="0">
                <a:solidFill>
                  <a:srgbClr val="EC7C30"/>
                </a:solidFill>
                <a:latin typeface="微软雅黑"/>
                <a:cs typeface="微软雅黑"/>
              </a:rPr>
              <a:t>应用领域、软件兼容、操作系统</a:t>
            </a:r>
            <a:endParaRPr sz="2000">
              <a:latin typeface="微软雅黑"/>
              <a:cs typeface="微软雅黑"/>
            </a:endParaRPr>
          </a:p>
          <a:p>
            <a:pPr marL="1155065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EC7C30"/>
                </a:solidFill>
                <a:latin typeface="微软雅黑"/>
                <a:cs typeface="微软雅黑"/>
              </a:rPr>
              <a:t>需求、标准等</a:t>
            </a:r>
            <a:r>
              <a:rPr sz="2000" spc="-50" dirty="0">
                <a:solidFill>
                  <a:srgbClr val="EC7C30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计算机系统设计者的主</a:t>
            </a:r>
            <a:r>
              <a:rPr spc="-15" dirty="0"/>
              <a:t>要</a:t>
            </a:r>
            <a:r>
              <a:rPr dirty="0"/>
              <a:t>任</a:t>
            </a:r>
            <a:r>
              <a:rPr spc="-50" dirty="0"/>
              <a:t>务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276" y="1252549"/>
            <a:ext cx="11588750" cy="3568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40" dirty="0">
                <a:latin typeface="微软雅黑"/>
                <a:cs typeface="微软雅黑"/>
              </a:rPr>
              <a:t>设计一个计算机系统大致要完成</a:t>
            </a:r>
            <a:r>
              <a:rPr sz="2800" spc="-20" dirty="0">
                <a:solidFill>
                  <a:srgbClr val="6600FF"/>
                </a:solidFill>
                <a:latin typeface="Times New Roman"/>
                <a:cs typeface="Times New Roman"/>
              </a:rPr>
              <a:t>3</a:t>
            </a:r>
            <a:r>
              <a:rPr sz="2800" spc="-40" dirty="0">
                <a:latin typeface="微软雅黑"/>
                <a:cs typeface="微软雅黑"/>
              </a:rPr>
              <a:t>个方面的工作。</a:t>
            </a:r>
            <a:endParaRPr sz="28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205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solidFill>
                  <a:srgbClr val="5B9BD4"/>
                </a:solidFill>
                <a:latin typeface="Times New Roman"/>
                <a:cs typeface="Times New Roman"/>
              </a:rPr>
              <a:t>2</a:t>
            </a:r>
            <a:r>
              <a:rPr sz="2400" dirty="0">
                <a:solidFill>
                  <a:srgbClr val="5B9BD4"/>
                </a:solidFill>
                <a:latin typeface="微软雅黑"/>
                <a:cs typeface="微软雅黑"/>
              </a:rPr>
              <a:t>、</a:t>
            </a:r>
            <a:r>
              <a:rPr sz="2400" spc="-10" dirty="0">
                <a:latin typeface="微软雅黑"/>
                <a:cs typeface="微软雅黑"/>
              </a:rPr>
              <a:t>软硬件功能分配</a:t>
            </a:r>
            <a:endParaRPr sz="2400">
              <a:latin typeface="微软雅黑"/>
              <a:cs typeface="微软雅黑"/>
            </a:endParaRPr>
          </a:p>
          <a:p>
            <a:pPr marL="1153795" lvl="2" indent="-227329" algn="just">
              <a:lnSpc>
                <a:spcPct val="100000"/>
              </a:lnSpc>
              <a:spcBef>
                <a:spcPts val="1789"/>
              </a:spcBef>
              <a:buFont typeface="Arial"/>
              <a:buChar char="•"/>
              <a:tabLst>
                <a:tab pos="1153795" algn="l"/>
                <a:tab pos="4775200" algn="l"/>
              </a:tabLst>
            </a:pP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考虑如何优化设计</a:t>
            </a:r>
            <a:r>
              <a:rPr sz="2000" spc="-50" dirty="0">
                <a:solidFill>
                  <a:srgbClr val="D50092"/>
                </a:solidFill>
                <a:latin typeface="微软雅黑"/>
                <a:cs typeface="微软雅黑"/>
              </a:rPr>
              <a:t>？</a:t>
            </a: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	</a:t>
            </a:r>
            <a:r>
              <a:rPr sz="2000" dirty="0">
                <a:latin typeface="微软雅黑"/>
                <a:cs typeface="微软雅黑"/>
              </a:rPr>
              <a:t>必须考虑软硬件功能的</a:t>
            </a:r>
            <a:r>
              <a:rPr sz="2000" spc="-15" dirty="0">
                <a:latin typeface="微软雅黑"/>
                <a:cs typeface="微软雅黑"/>
              </a:rPr>
              <a:t>合</a:t>
            </a:r>
            <a:r>
              <a:rPr sz="2000" dirty="0">
                <a:latin typeface="微软雅黑"/>
                <a:cs typeface="微软雅黑"/>
              </a:rPr>
              <a:t>理分</a:t>
            </a:r>
            <a:r>
              <a:rPr sz="2000" spc="-15" dirty="0">
                <a:latin typeface="微软雅黑"/>
                <a:cs typeface="微软雅黑"/>
              </a:rPr>
              <a:t>配</a:t>
            </a:r>
            <a:r>
              <a:rPr sz="2000" spc="-50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1153795" marR="5080" lvl="2" indent="-227329" algn="just">
              <a:lnSpc>
                <a:spcPct val="150000"/>
              </a:lnSpc>
              <a:spcBef>
                <a:spcPts val="505"/>
              </a:spcBef>
              <a:buFont typeface="Arial"/>
              <a:buChar char="•"/>
              <a:tabLst>
                <a:tab pos="1155700" algn="l"/>
              </a:tabLst>
            </a:pPr>
            <a:r>
              <a:rPr sz="2000" spc="75" dirty="0">
                <a:solidFill>
                  <a:srgbClr val="D50092"/>
                </a:solidFill>
                <a:latin typeface="微软雅黑"/>
                <a:cs typeface="微软雅黑"/>
              </a:rPr>
              <a:t>软件和硬件在实现功能上是等价的   </a:t>
            </a:r>
            <a:r>
              <a:rPr sz="2000" spc="-20" dirty="0">
                <a:latin typeface="微软雅黑"/>
                <a:cs typeface="微软雅黑"/>
              </a:rPr>
              <a:t>用软件实现的优点：设计容易、修改简单，而且可以减	少硬件成本。但是所实现的功能的速度较慢。用硬件实现的优点：速度快、性能高，但它修改	困难，灵活性差。</a:t>
            </a:r>
            <a:endParaRPr sz="2000">
              <a:latin typeface="微软雅黑"/>
              <a:cs typeface="微软雅黑"/>
            </a:endParaRPr>
          </a:p>
          <a:p>
            <a:pPr marL="1153795" lvl="2" indent="-227329" algn="just">
              <a:lnSpc>
                <a:spcPct val="100000"/>
              </a:lnSpc>
              <a:spcBef>
                <a:spcPts val="1710"/>
              </a:spcBef>
              <a:buFont typeface="Arial"/>
              <a:buChar char="•"/>
              <a:tabLst>
                <a:tab pos="1153795" algn="l"/>
              </a:tabLst>
            </a:pP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在软硬件之间进行折中和取舍。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计算机系统设计者的主</a:t>
            </a:r>
            <a:r>
              <a:rPr spc="-15" dirty="0"/>
              <a:t>要</a:t>
            </a:r>
            <a:r>
              <a:rPr dirty="0"/>
              <a:t>任</a:t>
            </a:r>
            <a:r>
              <a:rPr spc="-50" dirty="0"/>
              <a:t>务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070" y="1360754"/>
            <a:ext cx="8793480" cy="2131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40" dirty="0">
                <a:latin typeface="微软雅黑"/>
                <a:cs typeface="微软雅黑"/>
              </a:rPr>
              <a:t>设计一个计算机系统大致要完成</a:t>
            </a:r>
            <a:r>
              <a:rPr sz="2800" spc="-20" dirty="0">
                <a:solidFill>
                  <a:srgbClr val="6600FF"/>
                </a:solidFill>
                <a:latin typeface="Times New Roman"/>
                <a:cs typeface="Times New Roman"/>
              </a:rPr>
              <a:t>3</a:t>
            </a:r>
            <a:r>
              <a:rPr sz="2800" spc="-40" dirty="0">
                <a:latin typeface="微软雅黑"/>
                <a:cs typeface="微软雅黑"/>
              </a:rPr>
              <a:t>个方面的工作。</a:t>
            </a:r>
            <a:endParaRPr sz="28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205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微软雅黑"/>
                <a:cs typeface="微软雅黑"/>
              </a:rPr>
              <a:t>、设计出生命周期长的系统结构</a:t>
            </a:r>
            <a:endParaRPr sz="24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1789"/>
              </a:spcBef>
              <a:buFont typeface="Arial"/>
              <a:buChar char="•"/>
              <a:tabLst>
                <a:tab pos="1155700" algn="l"/>
              </a:tabLst>
            </a:pPr>
            <a:r>
              <a:rPr sz="2000" spc="-10" dirty="0">
                <a:latin typeface="微软雅黑"/>
                <a:cs typeface="微软雅黑"/>
              </a:rPr>
              <a:t>特别注意</a:t>
            </a: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计算机应用</a:t>
            </a:r>
            <a:r>
              <a:rPr sz="2000" spc="-10" dirty="0">
                <a:latin typeface="微软雅黑"/>
                <a:cs typeface="微软雅黑"/>
              </a:rPr>
              <a:t>和</a:t>
            </a:r>
            <a:r>
              <a:rPr sz="2000" spc="-15" dirty="0">
                <a:solidFill>
                  <a:srgbClr val="D50092"/>
                </a:solidFill>
                <a:latin typeface="微软雅黑"/>
                <a:cs typeface="微软雅黑"/>
              </a:rPr>
              <a:t>计算机技术</a:t>
            </a:r>
            <a:r>
              <a:rPr sz="2000" spc="-20" dirty="0">
                <a:latin typeface="微软雅黑"/>
                <a:cs typeface="微软雅黑"/>
              </a:rPr>
              <a:t>的发展趋势</a:t>
            </a:r>
            <a:endParaRPr sz="20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1705"/>
              </a:spcBef>
              <a:buFont typeface="Arial"/>
              <a:buChar char="•"/>
              <a:tabLst>
                <a:tab pos="1155700" algn="l"/>
              </a:tabLst>
            </a:pPr>
            <a:r>
              <a:rPr sz="2000" spc="-20" dirty="0">
                <a:latin typeface="微软雅黑"/>
                <a:cs typeface="微软雅黑"/>
              </a:rPr>
              <a:t>设计出具有一定前瞻性的系统结构，以使得它具有较长的生命周期。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计算机系统设计者的主</a:t>
            </a:r>
            <a:r>
              <a:rPr spc="-15" dirty="0"/>
              <a:t>要</a:t>
            </a:r>
            <a:r>
              <a:rPr dirty="0"/>
              <a:t>任</a:t>
            </a:r>
            <a:r>
              <a:rPr spc="-50" dirty="0"/>
              <a:t>务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04949"/>
            <a:ext cx="5224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40" dirty="0">
                <a:solidFill>
                  <a:srgbClr val="D50092"/>
                </a:solidFill>
                <a:latin typeface="微软雅黑"/>
                <a:cs typeface="微软雅黑"/>
              </a:rPr>
              <a:t>“由上往下</a:t>
            </a:r>
            <a:r>
              <a:rPr sz="2800" spc="-20" dirty="0">
                <a:solidFill>
                  <a:srgbClr val="D50092"/>
                </a:solidFill>
                <a:latin typeface="微软雅黑"/>
                <a:cs typeface="微软雅黑"/>
              </a:rPr>
              <a:t>”（</a:t>
            </a:r>
            <a:r>
              <a:rPr sz="2800" spc="-20" dirty="0">
                <a:solidFill>
                  <a:srgbClr val="D50092"/>
                </a:solidFill>
                <a:latin typeface="Times New Roman"/>
                <a:cs typeface="Times New Roman"/>
              </a:rPr>
              <a:t>top-</a:t>
            </a:r>
            <a:r>
              <a:rPr sz="2800" spc="-25" dirty="0">
                <a:solidFill>
                  <a:srgbClr val="D50092"/>
                </a:solidFill>
                <a:latin typeface="Times New Roman"/>
                <a:cs typeface="Times New Roman"/>
              </a:rPr>
              <a:t>down</a:t>
            </a:r>
            <a:r>
              <a:rPr sz="2800" spc="-25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r>
              <a:rPr sz="2800" spc="-45" dirty="0">
                <a:solidFill>
                  <a:srgbClr val="D50092"/>
                </a:solidFill>
                <a:latin typeface="微软雅黑"/>
                <a:cs typeface="微软雅黑"/>
              </a:rPr>
              <a:t>设计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50594" y="3582161"/>
            <a:ext cx="28638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EC7C30"/>
                </a:solidFill>
                <a:latin typeface="微软雅黑"/>
                <a:cs typeface="微软雅黑"/>
              </a:rPr>
              <a:t>数据类型和格式、基本命令</a:t>
            </a:r>
            <a:r>
              <a:rPr sz="1600" spc="-40" dirty="0">
                <a:solidFill>
                  <a:srgbClr val="5B9BD4"/>
                </a:solidFill>
                <a:latin typeface="微软雅黑"/>
                <a:cs typeface="微软雅黑"/>
              </a:rPr>
              <a:t>等。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计算机系统设计者的主</a:t>
            </a:r>
            <a:r>
              <a:rPr spc="-15" dirty="0"/>
              <a:t>要</a:t>
            </a:r>
            <a:r>
              <a:rPr dirty="0"/>
              <a:t>方</a:t>
            </a:r>
            <a:r>
              <a:rPr spc="-50" dirty="0"/>
              <a:t>法</a:t>
            </a:r>
            <a:r>
              <a:rPr dirty="0"/>
              <a:t>	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115334" y="1239418"/>
            <a:ext cx="2771140" cy="502284"/>
            <a:chOff x="6115334" y="1239418"/>
            <a:chExt cx="2771140" cy="502284"/>
          </a:xfrm>
        </p:grpSpPr>
        <p:sp>
          <p:nvSpPr>
            <p:cNvPr id="6" name="object 6"/>
            <p:cNvSpPr/>
            <p:nvPr/>
          </p:nvSpPr>
          <p:spPr>
            <a:xfrm>
              <a:off x="6122954" y="1247038"/>
              <a:ext cx="2755900" cy="487045"/>
            </a:xfrm>
            <a:custGeom>
              <a:avLst/>
              <a:gdLst/>
              <a:ahLst/>
              <a:cxnLst/>
              <a:rect l="l" t="t" r="r" b="b"/>
              <a:pathLst>
                <a:path w="2755900" h="487044">
                  <a:moveTo>
                    <a:pt x="2755282" y="0"/>
                  </a:moveTo>
                  <a:lnTo>
                    <a:pt x="0" y="0"/>
                  </a:lnTo>
                  <a:lnTo>
                    <a:pt x="0" y="486748"/>
                  </a:lnTo>
                  <a:lnTo>
                    <a:pt x="2755282" y="486748"/>
                  </a:lnTo>
                  <a:lnTo>
                    <a:pt x="2755282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22954" y="1247038"/>
              <a:ext cx="2755900" cy="487045"/>
            </a:xfrm>
            <a:custGeom>
              <a:avLst/>
              <a:gdLst/>
              <a:ahLst/>
              <a:cxnLst/>
              <a:rect l="l" t="t" r="r" b="b"/>
              <a:pathLst>
                <a:path w="2755900" h="487044">
                  <a:moveTo>
                    <a:pt x="0" y="0"/>
                  </a:moveTo>
                  <a:lnTo>
                    <a:pt x="0" y="486748"/>
                  </a:lnTo>
                  <a:lnTo>
                    <a:pt x="2755282" y="486748"/>
                  </a:lnTo>
                  <a:lnTo>
                    <a:pt x="2755282" y="0"/>
                  </a:lnTo>
                </a:path>
              </a:pathLst>
            </a:custGeom>
            <a:ln w="1495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130440" y="1338597"/>
            <a:ext cx="2740660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5300">
              <a:lnSpc>
                <a:spcPct val="100000"/>
              </a:lnSpc>
              <a:spcBef>
                <a:spcPts val="95"/>
              </a:spcBef>
            </a:pPr>
            <a:r>
              <a:rPr sz="1750" spc="-155" dirty="0">
                <a:latin typeface="宋体"/>
                <a:cs typeface="宋体"/>
              </a:rPr>
              <a:t>L6</a:t>
            </a:r>
            <a:r>
              <a:rPr sz="1750" spc="-204" dirty="0">
                <a:latin typeface="宋体"/>
                <a:cs typeface="宋体"/>
              </a:rPr>
              <a:t>：应用语言虚拟机</a:t>
            </a:r>
            <a:endParaRPr sz="1750">
              <a:latin typeface="宋体"/>
              <a:cs typeface="宋体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482719" y="1727601"/>
            <a:ext cx="78740" cy="339725"/>
            <a:chOff x="7482719" y="1727601"/>
            <a:chExt cx="78740" cy="339725"/>
          </a:xfrm>
        </p:grpSpPr>
        <p:sp>
          <p:nvSpPr>
            <p:cNvPr id="10" name="object 10"/>
            <p:cNvSpPr/>
            <p:nvPr/>
          </p:nvSpPr>
          <p:spPr>
            <a:xfrm>
              <a:off x="7484306" y="1729188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0" y="210868"/>
                  </a:moveTo>
                  <a:lnTo>
                    <a:pt x="37675" y="336051"/>
                  </a:lnTo>
                  <a:lnTo>
                    <a:pt x="59607" y="263533"/>
                  </a:lnTo>
                  <a:lnTo>
                    <a:pt x="33427" y="263533"/>
                  </a:lnTo>
                  <a:lnTo>
                    <a:pt x="31211" y="260816"/>
                  </a:lnTo>
                  <a:lnTo>
                    <a:pt x="28810" y="258308"/>
                  </a:lnTo>
                  <a:lnTo>
                    <a:pt x="28810" y="243630"/>
                  </a:lnTo>
                  <a:lnTo>
                    <a:pt x="0" y="210868"/>
                  </a:lnTo>
                  <a:close/>
                </a:path>
                <a:path w="75565" h="336550">
                  <a:moveTo>
                    <a:pt x="28810" y="243630"/>
                  </a:moveTo>
                  <a:lnTo>
                    <a:pt x="28810" y="258308"/>
                  </a:lnTo>
                  <a:lnTo>
                    <a:pt x="31211" y="260816"/>
                  </a:lnTo>
                  <a:lnTo>
                    <a:pt x="33427" y="263533"/>
                  </a:lnTo>
                  <a:lnTo>
                    <a:pt x="42107" y="263533"/>
                  </a:lnTo>
                  <a:lnTo>
                    <a:pt x="46724" y="258308"/>
                  </a:lnTo>
                  <a:lnTo>
                    <a:pt x="46724" y="253710"/>
                  </a:lnTo>
                  <a:lnTo>
                    <a:pt x="37675" y="253710"/>
                  </a:lnTo>
                  <a:lnTo>
                    <a:pt x="28810" y="243630"/>
                  </a:lnTo>
                  <a:close/>
                </a:path>
                <a:path w="75565" h="336550">
                  <a:moveTo>
                    <a:pt x="75535" y="210868"/>
                  </a:moveTo>
                  <a:lnTo>
                    <a:pt x="46724" y="243470"/>
                  </a:lnTo>
                  <a:lnTo>
                    <a:pt x="46724" y="258308"/>
                  </a:lnTo>
                  <a:lnTo>
                    <a:pt x="42107" y="263533"/>
                  </a:lnTo>
                  <a:lnTo>
                    <a:pt x="59607" y="263533"/>
                  </a:lnTo>
                  <a:lnTo>
                    <a:pt x="75535" y="210868"/>
                  </a:lnTo>
                  <a:close/>
                </a:path>
                <a:path w="75565" h="336550">
                  <a:moveTo>
                    <a:pt x="44508" y="2507"/>
                  </a:moveTo>
                  <a:lnTo>
                    <a:pt x="31211" y="2507"/>
                  </a:lnTo>
                  <a:lnTo>
                    <a:pt x="28810" y="7732"/>
                  </a:lnTo>
                  <a:lnTo>
                    <a:pt x="28810" y="243630"/>
                  </a:lnTo>
                  <a:lnTo>
                    <a:pt x="37675" y="253710"/>
                  </a:lnTo>
                  <a:lnTo>
                    <a:pt x="46724" y="243470"/>
                  </a:lnTo>
                  <a:lnTo>
                    <a:pt x="46724" y="7732"/>
                  </a:lnTo>
                  <a:lnTo>
                    <a:pt x="44508" y="2507"/>
                  </a:lnTo>
                  <a:close/>
                </a:path>
                <a:path w="75565" h="336550">
                  <a:moveTo>
                    <a:pt x="46724" y="243470"/>
                  </a:moveTo>
                  <a:lnTo>
                    <a:pt x="37675" y="253710"/>
                  </a:lnTo>
                  <a:lnTo>
                    <a:pt x="46724" y="253710"/>
                  </a:lnTo>
                  <a:lnTo>
                    <a:pt x="46724" y="243470"/>
                  </a:lnTo>
                  <a:close/>
                </a:path>
                <a:path w="75565" h="336550">
                  <a:moveTo>
                    <a:pt x="37675" y="0"/>
                  </a:moveTo>
                  <a:lnTo>
                    <a:pt x="33427" y="2507"/>
                  </a:lnTo>
                  <a:lnTo>
                    <a:pt x="42107" y="2507"/>
                  </a:lnTo>
                  <a:lnTo>
                    <a:pt x="37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484306" y="1729188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46724" y="10240"/>
                  </a:moveTo>
                  <a:lnTo>
                    <a:pt x="46724" y="253710"/>
                  </a:lnTo>
                  <a:lnTo>
                    <a:pt x="46724" y="258308"/>
                  </a:lnTo>
                  <a:lnTo>
                    <a:pt x="44508" y="260816"/>
                  </a:lnTo>
                  <a:lnTo>
                    <a:pt x="42107" y="263533"/>
                  </a:lnTo>
                  <a:lnTo>
                    <a:pt x="37675" y="263533"/>
                  </a:lnTo>
                  <a:lnTo>
                    <a:pt x="33427" y="263533"/>
                  </a:lnTo>
                  <a:lnTo>
                    <a:pt x="31211" y="260816"/>
                  </a:lnTo>
                  <a:lnTo>
                    <a:pt x="28810" y="258308"/>
                  </a:lnTo>
                  <a:lnTo>
                    <a:pt x="28810" y="253710"/>
                  </a:lnTo>
                  <a:lnTo>
                    <a:pt x="28810" y="10240"/>
                  </a:lnTo>
                  <a:lnTo>
                    <a:pt x="28810" y="7732"/>
                  </a:lnTo>
                  <a:lnTo>
                    <a:pt x="31211" y="2507"/>
                  </a:lnTo>
                  <a:lnTo>
                    <a:pt x="33427" y="2507"/>
                  </a:lnTo>
                  <a:lnTo>
                    <a:pt x="37675" y="0"/>
                  </a:lnTo>
                  <a:lnTo>
                    <a:pt x="42107" y="2507"/>
                  </a:lnTo>
                  <a:lnTo>
                    <a:pt x="44508" y="2507"/>
                  </a:lnTo>
                  <a:lnTo>
                    <a:pt x="46724" y="7732"/>
                  </a:lnTo>
                  <a:lnTo>
                    <a:pt x="46724" y="10240"/>
                  </a:lnTo>
                  <a:close/>
                </a:path>
                <a:path w="75565" h="336550">
                  <a:moveTo>
                    <a:pt x="37675" y="253710"/>
                  </a:moveTo>
                  <a:lnTo>
                    <a:pt x="75535" y="210868"/>
                  </a:lnTo>
                  <a:lnTo>
                    <a:pt x="37675" y="336051"/>
                  </a:lnTo>
                  <a:lnTo>
                    <a:pt x="0" y="210868"/>
                  </a:lnTo>
                  <a:lnTo>
                    <a:pt x="37675" y="25371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122954" y="2059723"/>
            <a:ext cx="2755900" cy="489584"/>
          </a:xfrm>
          <a:prstGeom prst="rect">
            <a:avLst/>
          </a:prstGeom>
          <a:solidFill>
            <a:srgbClr val="99FF66"/>
          </a:solidFill>
          <a:ln w="1497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502920">
              <a:lnSpc>
                <a:spcPct val="100000"/>
              </a:lnSpc>
              <a:spcBef>
                <a:spcPts val="835"/>
              </a:spcBef>
            </a:pPr>
            <a:r>
              <a:rPr sz="1750" spc="-155" dirty="0">
                <a:latin typeface="宋体"/>
                <a:cs typeface="宋体"/>
              </a:rPr>
              <a:t>L5</a:t>
            </a:r>
            <a:r>
              <a:rPr sz="1750" spc="-204" dirty="0">
                <a:latin typeface="宋体"/>
                <a:cs typeface="宋体"/>
              </a:rPr>
              <a:t>：高级语言虚拟机</a:t>
            </a:r>
            <a:endParaRPr sz="1750">
              <a:latin typeface="宋体"/>
              <a:cs typeface="宋体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82960" y="2543154"/>
            <a:ext cx="78740" cy="339090"/>
            <a:chOff x="7482960" y="2543154"/>
            <a:chExt cx="78740" cy="339090"/>
          </a:xfrm>
        </p:grpSpPr>
        <p:sp>
          <p:nvSpPr>
            <p:cNvPr id="14" name="object 14"/>
            <p:cNvSpPr/>
            <p:nvPr/>
          </p:nvSpPr>
          <p:spPr>
            <a:xfrm>
              <a:off x="7484307" y="2544448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0" y="210868"/>
                  </a:moveTo>
                  <a:lnTo>
                    <a:pt x="37675" y="336051"/>
                  </a:lnTo>
                  <a:lnTo>
                    <a:pt x="59670" y="263324"/>
                  </a:lnTo>
                  <a:lnTo>
                    <a:pt x="33427" y="263324"/>
                  </a:lnTo>
                  <a:lnTo>
                    <a:pt x="31211" y="260816"/>
                  </a:lnTo>
                  <a:lnTo>
                    <a:pt x="28810" y="258308"/>
                  </a:lnTo>
                  <a:lnTo>
                    <a:pt x="28810" y="243470"/>
                  </a:lnTo>
                  <a:lnTo>
                    <a:pt x="0" y="210868"/>
                  </a:lnTo>
                  <a:close/>
                </a:path>
                <a:path w="75565" h="336550">
                  <a:moveTo>
                    <a:pt x="28810" y="243470"/>
                  </a:moveTo>
                  <a:lnTo>
                    <a:pt x="28810" y="258308"/>
                  </a:lnTo>
                  <a:lnTo>
                    <a:pt x="31211" y="260816"/>
                  </a:lnTo>
                  <a:lnTo>
                    <a:pt x="33427" y="263324"/>
                  </a:lnTo>
                  <a:lnTo>
                    <a:pt x="42107" y="263324"/>
                  </a:lnTo>
                  <a:lnTo>
                    <a:pt x="44508" y="260816"/>
                  </a:lnTo>
                  <a:lnTo>
                    <a:pt x="46724" y="258308"/>
                  </a:lnTo>
                  <a:lnTo>
                    <a:pt x="46724" y="253501"/>
                  </a:lnTo>
                  <a:lnTo>
                    <a:pt x="37675" y="253501"/>
                  </a:lnTo>
                  <a:lnTo>
                    <a:pt x="28810" y="243470"/>
                  </a:lnTo>
                  <a:close/>
                </a:path>
                <a:path w="75565" h="336550">
                  <a:moveTo>
                    <a:pt x="75535" y="210868"/>
                  </a:moveTo>
                  <a:lnTo>
                    <a:pt x="46724" y="243311"/>
                  </a:lnTo>
                  <a:lnTo>
                    <a:pt x="46724" y="258308"/>
                  </a:lnTo>
                  <a:lnTo>
                    <a:pt x="44508" y="260816"/>
                  </a:lnTo>
                  <a:lnTo>
                    <a:pt x="42107" y="263324"/>
                  </a:lnTo>
                  <a:lnTo>
                    <a:pt x="59670" y="263324"/>
                  </a:lnTo>
                  <a:lnTo>
                    <a:pt x="75535" y="210868"/>
                  </a:lnTo>
                  <a:close/>
                </a:path>
                <a:path w="75565" h="336550">
                  <a:moveTo>
                    <a:pt x="44508" y="2507"/>
                  </a:moveTo>
                  <a:lnTo>
                    <a:pt x="31211" y="2507"/>
                  </a:lnTo>
                  <a:lnTo>
                    <a:pt x="28810" y="7732"/>
                  </a:lnTo>
                  <a:lnTo>
                    <a:pt x="28810" y="243470"/>
                  </a:lnTo>
                  <a:lnTo>
                    <a:pt x="37675" y="253501"/>
                  </a:lnTo>
                  <a:lnTo>
                    <a:pt x="46724" y="243311"/>
                  </a:lnTo>
                  <a:lnTo>
                    <a:pt x="46724" y="7732"/>
                  </a:lnTo>
                  <a:lnTo>
                    <a:pt x="44508" y="2507"/>
                  </a:lnTo>
                  <a:close/>
                </a:path>
                <a:path w="75565" h="336550">
                  <a:moveTo>
                    <a:pt x="46724" y="243311"/>
                  </a:moveTo>
                  <a:lnTo>
                    <a:pt x="37675" y="253501"/>
                  </a:lnTo>
                  <a:lnTo>
                    <a:pt x="46724" y="253501"/>
                  </a:lnTo>
                  <a:lnTo>
                    <a:pt x="46724" y="243311"/>
                  </a:lnTo>
                  <a:close/>
                </a:path>
                <a:path w="75565" h="336550">
                  <a:moveTo>
                    <a:pt x="37675" y="0"/>
                  </a:moveTo>
                  <a:lnTo>
                    <a:pt x="33427" y="2507"/>
                  </a:lnTo>
                  <a:lnTo>
                    <a:pt x="42107" y="2507"/>
                  </a:lnTo>
                  <a:lnTo>
                    <a:pt x="37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84307" y="2544448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46724" y="10240"/>
                  </a:moveTo>
                  <a:lnTo>
                    <a:pt x="46724" y="253501"/>
                  </a:lnTo>
                  <a:lnTo>
                    <a:pt x="46724" y="258308"/>
                  </a:lnTo>
                  <a:lnTo>
                    <a:pt x="44508" y="260816"/>
                  </a:lnTo>
                  <a:lnTo>
                    <a:pt x="42107" y="263324"/>
                  </a:lnTo>
                  <a:lnTo>
                    <a:pt x="37675" y="263324"/>
                  </a:lnTo>
                  <a:lnTo>
                    <a:pt x="33427" y="263324"/>
                  </a:lnTo>
                  <a:lnTo>
                    <a:pt x="31211" y="260816"/>
                  </a:lnTo>
                  <a:lnTo>
                    <a:pt x="28810" y="258308"/>
                  </a:lnTo>
                  <a:lnTo>
                    <a:pt x="28810" y="253501"/>
                  </a:lnTo>
                  <a:lnTo>
                    <a:pt x="28810" y="10240"/>
                  </a:lnTo>
                  <a:lnTo>
                    <a:pt x="28810" y="7732"/>
                  </a:lnTo>
                  <a:lnTo>
                    <a:pt x="31211" y="2507"/>
                  </a:lnTo>
                  <a:lnTo>
                    <a:pt x="33427" y="2507"/>
                  </a:lnTo>
                  <a:lnTo>
                    <a:pt x="37675" y="0"/>
                  </a:lnTo>
                  <a:lnTo>
                    <a:pt x="42107" y="2507"/>
                  </a:lnTo>
                  <a:lnTo>
                    <a:pt x="44508" y="2507"/>
                  </a:lnTo>
                  <a:lnTo>
                    <a:pt x="46724" y="7732"/>
                  </a:lnTo>
                  <a:lnTo>
                    <a:pt x="46724" y="10240"/>
                  </a:lnTo>
                  <a:close/>
                </a:path>
                <a:path w="75565" h="336550">
                  <a:moveTo>
                    <a:pt x="37675" y="253501"/>
                  </a:moveTo>
                  <a:lnTo>
                    <a:pt x="75535" y="210868"/>
                  </a:lnTo>
                  <a:lnTo>
                    <a:pt x="37675" y="336051"/>
                  </a:lnTo>
                  <a:lnTo>
                    <a:pt x="0" y="210868"/>
                  </a:lnTo>
                  <a:lnTo>
                    <a:pt x="37675" y="25350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22954" y="2874773"/>
            <a:ext cx="2755900" cy="489584"/>
          </a:xfrm>
          <a:prstGeom prst="rect">
            <a:avLst/>
          </a:prstGeom>
          <a:solidFill>
            <a:srgbClr val="99FF66"/>
          </a:solidFill>
          <a:ln w="14970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502920">
              <a:lnSpc>
                <a:spcPct val="100000"/>
              </a:lnSpc>
              <a:spcBef>
                <a:spcPts val="835"/>
              </a:spcBef>
            </a:pPr>
            <a:r>
              <a:rPr sz="1750" spc="-155" dirty="0">
                <a:latin typeface="宋体"/>
                <a:cs typeface="宋体"/>
              </a:rPr>
              <a:t>L4</a:t>
            </a:r>
            <a:r>
              <a:rPr sz="1750" spc="-204" dirty="0">
                <a:latin typeface="宋体"/>
                <a:cs typeface="宋体"/>
              </a:rPr>
              <a:t>：汇编语言虚拟机</a:t>
            </a:r>
            <a:endParaRPr sz="1750">
              <a:latin typeface="宋体"/>
              <a:cs typeface="宋体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482960" y="3358205"/>
            <a:ext cx="78740" cy="339090"/>
            <a:chOff x="7482960" y="3358205"/>
            <a:chExt cx="78740" cy="339090"/>
          </a:xfrm>
        </p:grpSpPr>
        <p:sp>
          <p:nvSpPr>
            <p:cNvPr id="18" name="object 18"/>
            <p:cNvSpPr/>
            <p:nvPr/>
          </p:nvSpPr>
          <p:spPr>
            <a:xfrm>
              <a:off x="7484307" y="3359499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0" y="210868"/>
                  </a:moveTo>
                  <a:lnTo>
                    <a:pt x="37675" y="336260"/>
                  </a:lnTo>
                  <a:lnTo>
                    <a:pt x="59634" y="263533"/>
                  </a:lnTo>
                  <a:lnTo>
                    <a:pt x="33427" y="263533"/>
                  </a:lnTo>
                  <a:lnTo>
                    <a:pt x="28810" y="258308"/>
                  </a:lnTo>
                  <a:lnTo>
                    <a:pt x="28810" y="243630"/>
                  </a:lnTo>
                  <a:lnTo>
                    <a:pt x="0" y="210868"/>
                  </a:lnTo>
                  <a:close/>
                </a:path>
                <a:path w="75565" h="336550">
                  <a:moveTo>
                    <a:pt x="28810" y="243630"/>
                  </a:moveTo>
                  <a:lnTo>
                    <a:pt x="28810" y="258308"/>
                  </a:lnTo>
                  <a:lnTo>
                    <a:pt x="33427" y="263533"/>
                  </a:lnTo>
                  <a:lnTo>
                    <a:pt x="42107" y="263533"/>
                  </a:lnTo>
                  <a:lnTo>
                    <a:pt x="44508" y="261025"/>
                  </a:lnTo>
                  <a:lnTo>
                    <a:pt x="46724" y="258308"/>
                  </a:lnTo>
                  <a:lnTo>
                    <a:pt x="46724" y="253710"/>
                  </a:lnTo>
                  <a:lnTo>
                    <a:pt x="37675" y="253710"/>
                  </a:lnTo>
                  <a:lnTo>
                    <a:pt x="28810" y="243630"/>
                  </a:lnTo>
                  <a:close/>
                </a:path>
                <a:path w="75565" h="336550">
                  <a:moveTo>
                    <a:pt x="75535" y="210868"/>
                  </a:moveTo>
                  <a:lnTo>
                    <a:pt x="46724" y="243470"/>
                  </a:lnTo>
                  <a:lnTo>
                    <a:pt x="46724" y="258308"/>
                  </a:lnTo>
                  <a:lnTo>
                    <a:pt x="44508" y="261025"/>
                  </a:lnTo>
                  <a:lnTo>
                    <a:pt x="42107" y="263533"/>
                  </a:lnTo>
                  <a:lnTo>
                    <a:pt x="59634" y="263533"/>
                  </a:lnTo>
                  <a:lnTo>
                    <a:pt x="75535" y="210868"/>
                  </a:lnTo>
                  <a:close/>
                </a:path>
                <a:path w="75565" h="336550">
                  <a:moveTo>
                    <a:pt x="44508" y="2507"/>
                  </a:moveTo>
                  <a:lnTo>
                    <a:pt x="31211" y="2507"/>
                  </a:lnTo>
                  <a:lnTo>
                    <a:pt x="28810" y="7732"/>
                  </a:lnTo>
                  <a:lnTo>
                    <a:pt x="28810" y="243630"/>
                  </a:lnTo>
                  <a:lnTo>
                    <a:pt x="37675" y="253710"/>
                  </a:lnTo>
                  <a:lnTo>
                    <a:pt x="46724" y="243470"/>
                  </a:lnTo>
                  <a:lnTo>
                    <a:pt x="46724" y="7732"/>
                  </a:lnTo>
                  <a:lnTo>
                    <a:pt x="44508" y="2507"/>
                  </a:lnTo>
                  <a:close/>
                </a:path>
                <a:path w="75565" h="336550">
                  <a:moveTo>
                    <a:pt x="46724" y="243470"/>
                  </a:moveTo>
                  <a:lnTo>
                    <a:pt x="37675" y="253710"/>
                  </a:lnTo>
                  <a:lnTo>
                    <a:pt x="46724" y="253710"/>
                  </a:lnTo>
                  <a:lnTo>
                    <a:pt x="46724" y="243470"/>
                  </a:lnTo>
                  <a:close/>
                </a:path>
                <a:path w="75565" h="336550">
                  <a:moveTo>
                    <a:pt x="37675" y="0"/>
                  </a:moveTo>
                  <a:lnTo>
                    <a:pt x="33427" y="2507"/>
                  </a:lnTo>
                  <a:lnTo>
                    <a:pt x="42107" y="2507"/>
                  </a:lnTo>
                  <a:lnTo>
                    <a:pt x="37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84307" y="3359499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46724" y="10240"/>
                  </a:moveTo>
                  <a:lnTo>
                    <a:pt x="46724" y="253710"/>
                  </a:lnTo>
                  <a:lnTo>
                    <a:pt x="46724" y="258308"/>
                  </a:lnTo>
                  <a:lnTo>
                    <a:pt x="44508" y="261025"/>
                  </a:lnTo>
                  <a:lnTo>
                    <a:pt x="42107" y="263533"/>
                  </a:lnTo>
                  <a:lnTo>
                    <a:pt x="37675" y="263533"/>
                  </a:lnTo>
                  <a:lnTo>
                    <a:pt x="33427" y="263533"/>
                  </a:lnTo>
                  <a:lnTo>
                    <a:pt x="31211" y="261025"/>
                  </a:lnTo>
                  <a:lnTo>
                    <a:pt x="28810" y="258308"/>
                  </a:lnTo>
                  <a:lnTo>
                    <a:pt x="28810" y="253710"/>
                  </a:lnTo>
                  <a:lnTo>
                    <a:pt x="28810" y="10240"/>
                  </a:lnTo>
                  <a:lnTo>
                    <a:pt x="28810" y="7732"/>
                  </a:lnTo>
                  <a:lnTo>
                    <a:pt x="31211" y="2507"/>
                  </a:lnTo>
                  <a:lnTo>
                    <a:pt x="33427" y="2507"/>
                  </a:lnTo>
                  <a:lnTo>
                    <a:pt x="37675" y="0"/>
                  </a:lnTo>
                  <a:lnTo>
                    <a:pt x="42107" y="2507"/>
                  </a:lnTo>
                  <a:lnTo>
                    <a:pt x="44508" y="2507"/>
                  </a:lnTo>
                  <a:lnTo>
                    <a:pt x="46724" y="7732"/>
                  </a:lnTo>
                  <a:lnTo>
                    <a:pt x="46724" y="10240"/>
                  </a:lnTo>
                  <a:close/>
                </a:path>
                <a:path w="75565" h="336550">
                  <a:moveTo>
                    <a:pt x="37675" y="253710"/>
                  </a:moveTo>
                  <a:lnTo>
                    <a:pt x="75535" y="210868"/>
                  </a:lnTo>
                  <a:lnTo>
                    <a:pt x="37675" y="336260"/>
                  </a:lnTo>
                  <a:lnTo>
                    <a:pt x="0" y="210868"/>
                  </a:lnTo>
                  <a:lnTo>
                    <a:pt x="37675" y="25371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122954" y="3690033"/>
            <a:ext cx="2755900" cy="489584"/>
          </a:xfrm>
          <a:prstGeom prst="rect">
            <a:avLst/>
          </a:prstGeom>
          <a:solidFill>
            <a:srgbClr val="99FF66"/>
          </a:solidFill>
          <a:ln w="14970">
            <a:solidFill>
              <a:srgbClr val="000000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502920">
              <a:lnSpc>
                <a:spcPct val="100000"/>
              </a:lnSpc>
              <a:spcBef>
                <a:spcPts val="840"/>
              </a:spcBef>
            </a:pPr>
            <a:r>
              <a:rPr sz="1750" spc="-155" dirty="0">
                <a:latin typeface="宋体"/>
                <a:cs typeface="宋体"/>
              </a:rPr>
              <a:t>L3</a:t>
            </a:r>
            <a:r>
              <a:rPr sz="1750" spc="-204" dirty="0">
                <a:latin typeface="宋体"/>
                <a:cs typeface="宋体"/>
              </a:rPr>
              <a:t>：操作系统虚拟机</a:t>
            </a:r>
            <a:endParaRPr sz="1750">
              <a:latin typeface="宋体"/>
              <a:cs typeface="宋体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482960" y="4173423"/>
            <a:ext cx="78740" cy="339090"/>
            <a:chOff x="7482960" y="4173423"/>
            <a:chExt cx="78740" cy="339090"/>
          </a:xfrm>
        </p:grpSpPr>
        <p:sp>
          <p:nvSpPr>
            <p:cNvPr id="22" name="object 22"/>
            <p:cNvSpPr/>
            <p:nvPr/>
          </p:nvSpPr>
          <p:spPr>
            <a:xfrm>
              <a:off x="7484307" y="4174717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0" y="210889"/>
                  </a:moveTo>
                  <a:lnTo>
                    <a:pt x="37675" y="336177"/>
                  </a:lnTo>
                  <a:lnTo>
                    <a:pt x="59646" y="263470"/>
                  </a:lnTo>
                  <a:lnTo>
                    <a:pt x="33427" y="263470"/>
                  </a:lnTo>
                  <a:lnTo>
                    <a:pt x="31211" y="260899"/>
                  </a:lnTo>
                  <a:lnTo>
                    <a:pt x="28810" y="258308"/>
                  </a:lnTo>
                  <a:lnTo>
                    <a:pt x="28810" y="243603"/>
                  </a:lnTo>
                  <a:lnTo>
                    <a:pt x="0" y="210889"/>
                  </a:lnTo>
                  <a:close/>
                </a:path>
                <a:path w="75565" h="336550">
                  <a:moveTo>
                    <a:pt x="28810" y="243603"/>
                  </a:moveTo>
                  <a:lnTo>
                    <a:pt x="28810" y="258308"/>
                  </a:lnTo>
                  <a:lnTo>
                    <a:pt x="31211" y="260899"/>
                  </a:lnTo>
                  <a:lnTo>
                    <a:pt x="33427" y="263470"/>
                  </a:lnTo>
                  <a:lnTo>
                    <a:pt x="42107" y="263470"/>
                  </a:lnTo>
                  <a:lnTo>
                    <a:pt x="44508" y="260899"/>
                  </a:lnTo>
                  <a:lnTo>
                    <a:pt x="46724" y="258308"/>
                  </a:lnTo>
                  <a:lnTo>
                    <a:pt x="46724" y="253668"/>
                  </a:lnTo>
                  <a:lnTo>
                    <a:pt x="37675" y="253668"/>
                  </a:lnTo>
                  <a:lnTo>
                    <a:pt x="28810" y="243603"/>
                  </a:lnTo>
                  <a:close/>
                </a:path>
                <a:path w="75565" h="336550">
                  <a:moveTo>
                    <a:pt x="75535" y="210889"/>
                  </a:moveTo>
                  <a:lnTo>
                    <a:pt x="46724" y="243443"/>
                  </a:lnTo>
                  <a:lnTo>
                    <a:pt x="46724" y="258308"/>
                  </a:lnTo>
                  <a:lnTo>
                    <a:pt x="44508" y="260899"/>
                  </a:lnTo>
                  <a:lnTo>
                    <a:pt x="42107" y="263470"/>
                  </a:lnTo>
                  <a:lnTo>
                    <a:pt x="59646" y="263470"/>
                  </a:lnTo>
                  <a:lnTo>
                    <a:pt x="75535" y="210889"/>
                  </a:lnTo>
                  <a:close/>
                </a:path>
                <a:path w="75565" h="336550">
                  <a:moveTo>
                    <a:pt x="44508" y="2570"/>
                  </a:moveTo>
                  <a:lnTo>
                    <a:pt x="31211" y="2570"/>
                  </a:lnTo>
                  <a:lnTo>
                    <a:pt x="28810" y="7732"/>
                  </a:lnTo>
                  <a:lnTo>
                    <a:pt x="28810" y="243603"/>
                  </a:lnTo>
                  <a:lnTo>
                    <a:pt x="37675" y="253668"/>
                  </a:lnTo>
                  <a:lnTo>
                    <a:pt x="46724" y="243443"/>
                  </a:lnTo>
                  <a:lnTo>
                    <a:pt x="46724" y="7732"/>
                  </a:lnTo>
                  <a:lnTo>
                    <a:pt x="44508" y="2570"/>
                  </a:lnTo>
                  <a:close/>
                </a:path>
                <a:path w="75565" h="336550">
                  <a:moveTo>
                    <a:pt x="46724" y="243443"/>
                  </a:moveTo>
                  <a:lnTo>
                    <a:pt x="37675" y="253668"/>
                  </a:lnTo>
                  <a:lnTo>
                    <a:pt x="46724" y="253668"/>
                  </a:lnTo>
                  <a:lnTo>
                    <a:pt x="46724" y="243443"/>
                  </a:lnTo>
                  <a:close/>
                </a:path>
                <a:path w="75565" h="336550">
                  <a:moveTo>
                    <a:pt x="37675" y="0"/>
                  </a:moveTo>
                  <a:lnTo>
                    <a:pt x="33427" y="2570"/>
                  </a:lnTo>
                  <a:lnTo>
                    <a:pt x="42107" y="2570"/>
                  </a:lnTo>
                  <a:lnTo>
                    <a:pt x="37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84307" y="4174717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46724" y="10303"/>
                  </a:moveTo>
                  <a:lnTo>
                    <a:pt x="46724" y="253668"/>
                  </a:lnTo>
                  <a:lnTo>
                    <a:pt x="46724" y="258308"/>
                  </a:lnTo>
                  <a:lnTo>
                    <a:pt x="44508" y="260899"/>
                  </a:lnTo>
                  <a:lnTo>
                    <a:pt x="42107" y="263470"/>
                  </a:lnTo>
                  <a:lnTo>
                    <a:pt x="37675" y="263470"/>
                  </a:lnTo>
                  <a:lnTo>
                    <a:pt x="33427" y="263470"/>
                  </a:lnTo>
                  <a:lnTo>
                    <a:pt x="31211" y="260899"/>
                  </a:lnTo>
                  <a:lnTo>
                    <a:pt x="28810" y="258308"/>
                  </a:lnTo>
                  <a:lnTo>
                    <a:pt x="28810" y="253668"/>
                  </a:lnTo>
                  <a:lnTo>
                    <a:pt x="28810" y="10303"/>
                  </a:lnTo>
                  <a:lnTo>
                    <a:pt x="28810" y="7732"/>
                  </a:lnTo>
                  <a:lnTo>
                    <a:pt x="31211" y="2570"/>
                  </a:lnTo>
                  <a:lnTo>
                    <a:pt x="33427" y="2570"/>
                  </a:lnTo>
                  <a:lnTo>
                    <a:pt x="37675" y="0"/>
                  </a:lnTo>
                  <a:lnTo>
                    <a:pt x="42107" y="2570"/>
                  </a:lnTo>
                  <a:lnTo>
                    <a:pt x="44508" y="2570"/>
                  </a:lnTo>
                  <a:lnTo>
                    <a:pt x="46724" y="7732"/>
                  </a:lnTo>
                  <a:lnTo>
                    <a:pt x="46724" y="10303"/>
                  </a:lnTo>
                  <a:close/>
                </a:path>
                <a:path w="75565" h="336550">
                  <a:moveTo>
                    <a:pt x="37675" y="253668"/>
                  </a:moveTo>
                  <a:lnTo>
                    <a:pt x="75535" y="210889"/>
                  </a:lnTo>
                  <a:lnTo>
                    <a:pt x="37675" y="336177"/>
                  </a:lnTo>
                  <a:lnTo>
                    <a:pt x="0" y="210889"/>
                  </a:lnTo>
                  <a:lnTo>
                    <a:pt x="37675" y="25366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122954" y="4505209"/>
            <a:ext cx="2755900" cy="489584"/>
          </a:xfrm>
          <a:prstGeom prst="rect">
            <a:avLst/>
          </a:prstGeom>
          <a:solidFill>
            <a:srgbClr val="FFCC00"/>
          </a:solidFill>
          <a:ln w="14970">
            <a:solidFill>
              <a:srgbClr val="000000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840"/>
              </a:spcBef>
            </a:pPr>
            <a:r>
              <a:rPr sz="1750" spc="-155" dirty="0">
                <a:latin typeface="宋体"/>
                <a:cs typeface="宋体"/>
              </a:rPr>
              <a:t>L2</a:t>
            </a:r>
            <a:r>
              <a:rPr sz="1750" spc="-210" dirty="0">
                <a:latin typeface="宋体"/>
                <a:cs typeface="宋体"/>
              </a:rPr>
              <a:t>：传统机器语言机器</a:t>
            </a:r>
            <a:endParaRPr sz="1750">
              <a:latin typeface="宋体"/>
              <a:cs typeface="宋体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482960" y="4988599"/>
            <a:ext cx="78740" cy="339090"/>
            <a:chOff x="7482960" y="4988599"/>
            <a:chExt cx="78740" cy="339090"/>
          </a:xfrm>
        </p:grpSpPr>
        <p:sp>
          <p:nvSpPr>
            <p:cNvPr id="26" name="object 26"/>
            <p:cNvSpPr/>
            <p:nvPr/>
          </p:nvSpPr>
          <p:spPr>
            <a:xfrm>
              <a:off x="7484307" y="4989893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0" y="210889"/>
                  </a:moveTo>
                  <a:lnTo>
                    <a:pt x="37675" y="336177"/>
                  </a:lnTo>
                  <a:lnTo>
                    <a:pt x="59646" y="263470"/>
                  </a:lnTo>
                  <a:lnTo>
                    <a:pt x="33427" y="263470"/>
                  </a:lnTo>
                  <a:lnTo>
                    <a:pt x="31211" y="260899"/>
                  </a:lnTo>
                  <a:lnTo>
                    <a:pt x="28810" y="258329"/>
                  </a:lnTo>
                  <a:lnTo>
                    <a:pt x="28810" y="243619"/>
                  </a:lnTo>
                  <a:lnTo>
                    <a:pt x="0" y="210889"/>
                  </a:lnTo>
                  <a:close/>
                </a:path>
                <a:path w="75565" h="336550">
                  <a:moveTo>
                    <a:pt x="28810" y="243619"/>
                  </a:moveTo>
                  <a:lnTo>
                    <a:pt x="28810" y="258329"/>
                  </a:lnTo>
                  <a:lnTo>
                    <a:pt x="31211" y="260899"/>
                  </a:lnTo>
                  <a:lnTo>
                    <a:pt x="33427" y="263470"/>
                  </a:lnTo>
                  <a:lnTo>
                    <a:pt x="42107" y="263470"/>
                  </a:lnTo>
                  <a:lnTo>
                    <a:pt x="44508" y="260899"/>
                  </a:lnTo>
                  <a:lnTo>
                    <a:pt x="46724" y="258329"/>
                  </a:lnTo>
                  <a:lnTo>
                    <a:pt x="46724" y="253689"/>
                  </a:lnTo>
                  <a:lnTo>
                    <a:pt x="37675" y="253689"/>
                  </a:lnTo>
                  <a:lnTo>
                    <a:pt x="28810" y="243619"/>
                  </a:lnTo>
                  <a:close/>
                </a:path>
                <a:path w="75565" h="336550">
                  <a:moveTo>
                    <a:pt x="75535" y="210889"/>
                  </a:moveTo>
                  <a:lnTo>
                    <a:pt x="46724" y="243459"/>
                  </a:lnTo>
                  <a:lnTo>
                    <a:pt x="46724" y="258329"/>
                  </a:lnTo>
                  <a:lnTo>
                    <a:pt x="44508" y="260899"/>
                  </a:lnTo>
                  <a:lnTo>
                    <a:pt x="42107" y="263470"/>
                  </a:lnTo>
                  <a:lnTo>
                    <a:pt x="59646" y="263470"/>
                  </a:lnTo>
                  <a:lnTo>
                    <a:pt x="75535" y="210889"/>
                  </a:lnTo>
                  <a:close/>
                </a:path>
                <a:path w="75565" h="336550">
                  <a:moveTo>
                    <a:pt x="44508" y="2570"/>
                  </a:moveTo>
                  <a:lnTo>
                    <a:pt x="31211" y="2570"/>
                  </a:lnTo>
                  <a:lnTo>
                    <a:pt x="28810" y="7732"/>
                  </a:lnTo>
                  <a:lnTo>
                    <a:pt x="28810" y="243619"/>
                  </a:lnTo>
                  <a:lnTo>
                    <a:pt x="37675" y="253689"/>
                  </a:lnTo>
                  <a:lnTo>
                    <a:pt x="46724" y="243459"/>
                  </a:lnTo>
                  <a:lnTo>
                    <a:pt x="46724" y="7732"/>
                  </a:lnTo>
                  <a:lnTo>
                    <a:pt x="44508" y="2570"/>
                  </a:lnTo>
                  <a:close/>
                </a:path>
                <a:path w="75565" h="336550">
                  <a:moveTo>
                    <a:pt x="46724" y="243459"/>
                  </a:moveTo>
                  <a:lnTo>
                    <a:pt x="37675" y="253689"/>
                  </a:lnTo>
                  <a:lnTo>
                    <a:pt x="46724" y="253689"/>
                  </a:lnTo>
                  <a:lnTo>
                    <a:pt x="46724" y="243459"/>
                  </a:lnTo>
                  <a:close/>
                </a:path>
                <a:path w="75565" h="336550">
                  <a:moveTo>
                    <a:pt x="37675" y="0"/>
                  </a:moveTo>
                  <a:lnTo>
                    <a:pt x="33427" y="2570"/>
                  </a:lnTo>
                  <a:lnTo>
                    <a:pt x="42107" y="2570"/>
                  </a:lnTo>
                  <a:lnTo>
                    <a:pt x="37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484307" y="4989893"/>
              <a:ext cx="75565" cy="336550"/>
            </a:xfrm>
            <a:custGeom>
              <a:avLst/>
              <a:gdLst/>
              <a:ahLst/>
              <a:cxnLst/>
              <a:rect l="l" t="t" r="r" b="b"/>
              <a:pathLst>
                <a:path w="75565" h="336550">
                  <a:moveTo>
                    <a:pt x="46724" y="10303"/>
                  </a:moveTo>
                  <a:lnTo>
                    <a:pt x="46724" y="253689"/>
                  </a:lnTo>
                  <a:lnTo>
                    <a:pt x="46724" y="258329"/>
                  </a:lnTo>
                  <a:lnTo>
                    <a:pt x="44508" y="260899"/>
                  </a:lnTo>
                  <a:lnTo>
                    <a:pt x="42107" y="263470"/>
                  </a:lnTo>
                  <a:lnTo>
                    <a:pt x="37675" y="263470"/>
                  </a:lnTo>
                  <a:lnTo>
                    <a:pt x="33427" y="263470"/>
                  </a:lnTo>
                  <a:lnTo>
                    <a:pt x="31211" y="260899"/>
                  </a:lnTo>
                  <a:lnTo>
                    <a:pt x="28810" y="258329"/>
                  </a:lnTo>
                  <a:lnTo>
                    <a:pt x="28810" y="253689"/>
                  </a:lnTo>
                  <a:lnTo>
                    <a:pt x="28810" y="10303"/>
                  </a:lnTo>
                  <a:lnTo>
                    <a:pt x="28810" y="7732"/>
                  </a:lnTo>
                  <a:lnTo>
                    <a:pt x="31211" y="2570"/>
                  </a:lnTo>
                  <a:lnTo>
                    <a:pt x="33427" y="2570"/>
                  </a:lnTo>
                  <a:lnTo>
                    <a:pt x="37675" y="0"/>
                  </a:lnTo>
                  <a:lnTo>
                    <a:pt x="42107" y="2570"/>
                  </a:lnTo>
                  <a:lnTo>
                    <a:pt x="44508" y="2570"/>
                  </a:lnTo>
                  <a:lnTo>
                    <a:pt x="46724" y="7732"/>
                  </a:lnTo>
                  <a:lnTo>
                    <a:pt x="46724" y="10303"/>
                  </a:lnTo>
                  <a:close/>
                </a:path>
                <a:path w="75565" h="336550">
                  <a:moveTo>
                    <a:pt x="37675" y="253689"/>
                  </a:moveTo>
                  <a:lnTo>
                    <a:pt x="75535" y="210889"/>
                  </a:lnTo>
                  <a:lnTo>
                    <a:pt x="37675" y="336177"/>
                  </a:lnTo>
                  <a:lnTo>
                    <a:pt x="0" y="210889"/>
                  </a:lnTo>
                  <a:lnTo>
                    <a:pt x="37675" y="25368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22955" y="5320394"/>
            <a:ext cx="2793365" cy="489584"/>
          </a:xfrm>
          <a:prstGeom prst="rect">
            <a:avLst/>
          </a:prstGeom>
          <a:solidFill>
            <a:srgbClr val="FFCC00"/>
          </a:solidFill>
          <a:ln w="14971">
            <a:solidFill>
              <a:srgbClr val="000000"/>
            </a:solidFill>
          </a:ln>
        </p:spPr>
        <p:txBody>
          <a:bodyPr vert="horz" wrap="square" lIns="0" tIns="106680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840"/>
              </a:spcBef>
            </a:pPr>
            <a:r>
              <a:rPr sz="1750" spc="-155" dirty="0">
                <a:latin typeface="宋体"/>
                <a:cs typeface="宋体"/>
              </a:rPr>
              <a:t>L1</a:t>
            </a:r>
            <a:r>
              <a:rPr sz="1750" spc="-195" dirty="0">
                <a:latin typeface="宋体"/>
                <a:cs typeface="宋体"/>
              </a:rPr>
              <a:t>：微程序机器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97519" y="1440368"/>
            <a:ext cx="387985" cy="0"/>
          </a:xfrm>
          <a:custGeom>
            <a:avLst/>
            <a:gdLst/>
            <a:ahLst/>
            <a:cxnLst/>
            <a:rect l="l" t="t" r="r" b="b"/>
            <a:pathLst>
              <a:path w="387985">
                <a:moveTo>
                  <a:pt x="0" y="0"/>
                </a:moveTo>
                <a:lnTo>
                  <a:pt x="387926" y="0"/>
                </a:lnTo>
              </a:path>
            </a:pathLst>
          </a:custGeom>
          <a:ln w="15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708151" y="1908916"/>
            <a:ext cx="5134610" cy="1776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84455" indent="-457834">
              <a:lnSpc>
                <a:spcPct val="150000"/>
              </a:lnSpc>
              <a:spcBef>
                <a:spcPts val="95"/>
              </a:spcBef>
              <a:buClr>
                <a:srgbClr val="EC7C30"/>
              </a:buClr>
              <a:buFont typeface="Wingdings"/>
              <a:buChar char=""/>
              <a:tabLst>
                <a:tab pos="469900" algn="l"/>
              </a:tabLst>
            </a:pPr>
            <a:r>
              <a:rPr sz="2400" spc="-5" dirty="0">
                <a:latin typeface="微软雅黑"/>
                <a:cs typeface="微软雅黑"/>
              </a:rPr>
              <a:t>从层次结构中的最上面一级开始，</a:t>
            </a:r>
            <a:r>
              <a:rPr sz="2400" spc="-15" dirty="0">
                <a:latin typeface="微软雅黑"/>
                <a:cs typeface="微软雅黑"/>
              </a:rPr>
              <a:t>逐层往下设计各层的机器</a:t>
            </a:r>
            <a:endParaRPr sz="2400">
              <a:latin typeface="微软雅黑"/>
              <a:cs typeface="微软雅黑"/>
            </a:endParaRPr>
          </a:p>
          <a:p>
            <a:pPr marL="4925695">
              <a:lnSpc>
                <a:spcPts val="1625"/>
              </a:lnSpc>
            </a:pPr>
            <a:r>
              <a:rPr sz="1750" spc="-165" dirty="0">
                <a:solidFill>
                  <a:srgbClr val="FF0000"/>
                </a:solidFill>
                <a:latin typeface="宋体"/>
                <a:cs typeface="宋体"/>
              </a:rPr>
              <a:t>由</a:t>
            </a:r>
            <a:endParaRPr sz="1750">
              <a:latin typeface="宋体"/>
              <a:cs typeface="宋体"/>
            </a:endParaRPr>
          </a:p>
          <a:p>
            <a:pPr marL="755015" lvl="1" indent="-285115">
              <a:lnSpc>
                <a:spcPts val="1705"/>
              </a:lnSpc>
              <a:buFont typeface="Arial"/>
              <a:buChar char="•"/>
              <a:tabLst>
                <a:tab pos="755015" algn="l"/>
              </a:tabLst>
            </a:pPr>
            <a:r>
              <a:rPr sz="1600" spc="-20" dirty="0">
                <a:solidFill>
                  <a:srgbClr val="5B9BD4"/>
                </a:solidFill>
                <a:latin typeface="微软雅黑"/>
                <a:cs typeface="微软雅黑"/>
              </a:rPr>
              <a:t>首先确定面对使用者的那级机器的基本特征、  </a:t>
            </a:r>
            <a:r>
              <a:rPr sz="2625" spc="-75" baseline="4761" dirty="0">
                <a:solidFill>
                  <a:srgbClr val="FF0000"/>
                </a:solidFill>
                <a:latin typeface="宋体"/>
                <a:cs typeface="宋体"/>
              </a:rPr>
              <a:t>上</a:t>
            </a:r>
            <a:endParaRPr sz="2625" baseline="4761">
              <a:latin typeface="宋体"/>
              <a:cs typeface="宋体"/>
            </a:endParaRPr>
          </a:p>
          <a:p>
            <a:pPr marL="4925695">
              <a:lnSpc>
                <a:spcPts val="1825"/>
              </a:lnSpc>
            </a:pPr>
            <a:r>
              <a:rPr sz="1750" spc="-165" dirty="0">
                <a:solidFill>
                  <a:srgbClr val="FF0000"/>
                </a:solidFill>
                <a:latin typeface="宋体"/>
                <a:cs typeface="宋体"/>
              </a:rPr>
              <a:t>往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621529" y="3610541"/>
            <a:ext cx="221615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-155" dirty="0">
                <a:solidFill>
                  <a:srgbClr val="FF0000"/>
                </a:solidFill>
                <a:latin typeface="宋体"/>
                <a:cs typeface="宋体"/>
              </a:rPr>
              <a:t>下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21529" y="3826926"/>
            <a:ext cx="221615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-155" dirty="0">
                <a:solidFill>
                  <a:srgbClr val="FF0000"/>
                </a:solidFill>
                <a:latin typeface="宋体"/>
                <a:cs typeface="宋体"/>
              </a:rPr>
              <a:t>设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40256" y="3862962"/>
            <a:ext cx="4728210" cy="1213485"/>
          </a:xfrm>
          <a:prstGeom prst="rect">
            <a:avLst/>
          </a:prstGeom>
        </p:spPr>
        <p:txBody>
          <a:bodyPr vert="horz" wrap="square" lIns="0" tIns="141605" rIns="0" bIns="0" rtlCol="0">
            <a:spAutoFit/>
          </a:bodyPr>
          <a:lstStyle/>
          <a:p>
            <a:pPr marL="322580" indent="-284480">
              <a:lnSpc>
                <a:spcPct val="100000"/>
              </a:lnSpc>
              <a:spcBef>
                <a:spcPts val="1115"/>
              </a:spcBef>
              <a:buFont typeface="Arial"/>
              <a:buChar char="•"/>
              <a:tabLst>
                <a:tab pos="322580" algn="l"/>
              </a:tabLst>
            </a:pPr>
            <a:r>
              <a:rPr sz="1600" spc="-20" dirty="0">
                <a:solidFill>
                  <a:srgbClr val="5B9BD4"/>
                </a:solidFill>
                <a:latin typeface="微软雅黑"/>
                <a:cs typeface="微软雅黑"/>
              </a:rPr>
              <a:t>然后再逐级往下设计，每级都考虑如何优化上  </a:t>
            </a:r>
            <a:r>
              <a:rPr sz="2625" spc="-75" baseline="-12698" dirty="0">
                <a:solidFill>
                  <a:srgbClr val="FF0000"/>
                </a:solidFill>
                <a:latin typeface="宋体"/>
                <a:cs typeface="宋体"/>
              </a:rPr>
              <a:t>计</a:t>
            </a:r>
            <a:endParaRPr sz="2625" baseline="-12698">
              <a:latin typeface="宋体"/>
              <a:cs typeface="宋体"/>
            </a:endParaRPr>
          </a:p>
          <a:p>
            <a:pPr marL="322580">
              <a:lnSpc>
                <a:spcPct val="100000"/>
              </a:lnSpc>
              <a:spcBef>
                <a:spcPts val="935"/>
              </a:spcBef>
            </a:pPr>
            <a:r>
              <a:rPr sz="1600" spc="-30" dirty="0">
                <a:solidFill>
                  <a:srgbClr val="5B9BD4"/>
                </a:solidFill>
                <a:latin typeface="微软雅黑"/>
                <a:cs typeface="微软雅黑"/>
              </a:rPr>
              <a:t>一级的实现。</a:t>
            </a:r>
            <a:endParaRPr sz="1600">
              <a:latin typeface="微软雅黑"/>
              <a:cs typeface="微软雅黑"/>
            </a:endParaRPr>
          </a:p>
          <a:p>
            <a:pPr marL="322580" indent="-284480">
              <a:lnSpc>
                <a:spcPct val="100000"/>
              </a:lnSpc>
              <a:spcBef>
                <a:spcPts val="1465"/>
              </a:spcBef>
              <a:buClr>
                <a:srgbClr val="5B9BD4"/>
              </a:buClr>
              <a:buFont typeface="Arial"/>
              <a:buChar char="•"/>
              <a:tabLst>
                <a:tab pos="322580" algn="l"/>
              </a:tabLst>
            </a:pPr>
            <a:r>
              <a:rPr sz="1600" spc="-30" dirty="0">
                <a:solidFill>
                  <a:srgbClr val="EC7C30"/>
                </a:solidFill>
                <a:latin typeface="微软雅黑"/>
                <a:cs typeface="微软雅黑"/>
              </a:rPr>
              <a:t>适合于专用机的设计，而不适合通用机的设计。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854003" y="1429252"/>
            <a:ext cx="78740" cy="4161790"/>
            <a:chOff x="5854003" y="1429252"/>
            <a:chExt cx="78740" cy="4161790"/>
          </a:xfrm>
        </p:grpSpPr>
        <p:sp>
          <p:nvSpPr>
            <p:cNvPr id="35" name="object 35"/>
            <p:cNvSpPr/>
            <p:nvPr/>
          </p:nvSpPr>
          <p:spPr>
            <a:xfrm>
              <a:off x="5855349" y="1430545"/>
              <a:ext cx="75565" cy="4159250"/>
            </a:xfrm>
            <a:custGeom>
              <a:avLst/>
              <a:gdLst/>
              <a:ahLst/>
              <a:cxnLst/>
              <a:rect l="l" t="t" r="r" b="b"/>
              <a:pathLst>
                <a:path w="75564" h="4159250">
                  <a:moveTo>
                    <a:pt x="0" y="4033707"/>
                  </a:moveTo>
                  <a:lnTo>
                    <a:pt x="37509" y="4158995"/>
                  </a:lnTo>
                  <a:lnTo>
                    <a:pt x="59537" y="4086309"/>
                  </a:lnTo>
                  <a:lnTo>
                    <a:pt x="32928" y="4086309"/>
                  </a:lnTo>
                  <a:lnTo>
                    <a:pt x="31100" y="4083718"/>
                  </a:lnTo>
                  <a:lnTo>
                    <a:pt x="28810" y="4078577"/>
                  </a:lnTo>
                  <a:lnTo>
                    <a:pt x="28810" y="4066181"/>
                  </a:lnTo>
                  <a:lnTo>
                    <a:pt x="0" y="4033707"/>
                  </a:lnTo>
                  <a:close/>
                </a:path>
                <a:path w="75564" h="4159250">
                  <a:moveTo>
                    <a:pt x="28810" y="4066181"/>
                  </a:moveTo>
                  <a:lnTo>
                    <a:pt x="28810" y="4078577"/>
                  </a:lnTo>
                  <a:lnTo>
                    <a:pt x="31100" y="4083718"/>
                  </a:lnTo>
                  <a:lnTo>
                    <a:pt x="32928" y="4086309"/>
                  </a:lnTo>
                  <a:lnTo>
                    <a:pt x="42089" y="4086309"/>
                  </a:lnTo>
                  <a:lnTo>
                    <a:pt x="44360" y="4083718"/>
                  </a:lnTo>
                  <a:lnTo>
                    <a:pt x="46650" y="4078577"/>
                  </a:lnTo>
                  <a:lnTo>
                    <a:pt x="46650" y="4075985"/>
                  </a:lnTo>
                  <a:lnTo>
                    <a:pt x="37509" y="4075985"/>
                  </a:lnTo>
                  <a:lnTo>
                    <a:pt x="28810" y="4066181"/>
                  </a:lnTo>
                  <a:close/>
                </a:path>
                <a:path w="75564" h="4159250">
                  <a:moveTo>
                    <a:pt x="75479" y="4033707"/>
                  </a:moveTo>
                  <a:lnTo>
                    <a:pt x="46650" y="4065807"/>
                  </a:lnTo>
                  <a:lnTo>
                    <a:pt x="46650" y="4078577"/>
                  </a:lnTo>
                  <a:lnTo>
                    <a:pt x="44360" y="4083718"/>
                  </a:lnTo>
                  <a:lnTo>
                    <a:pt x="42089" y="4086309"/>
                  </a:lnTo>
                  <a:lnTo>
                    <a:pt x="59537" y="4086309"/>
                  </a:lnTo>
                  <a:lnTo>
                    <a:pt x="75479" y="4033707"/>
                  </a:lnTo>
                  <a:close/>
                </a:path>
                <a:path w="75564" h="4159250">
                  <a:moveTo>
                    <a:pt x="37508" y="0"/>
                  </a:moveTo>
                  <a:lnTo>
                    <a:pt x="32928" y="2716"/>
                  </a:lnTo>
                  <a:lnTo>
                    <a:pt x="31100" y="5224"/>
                  </a:lnTo>
                  <a:lnTo>
                    <a:pt x="28810" y="7732"/>
                  </a:lnTo>
                  <a:lnTo>
                    <a:pt x="28810" y="4066181"/>
                  </a:lnTo>
                  <a:lnTo>
                    <a:pt x="37509" y="4075985"/>
                  </a:lnTo>
                  <a:lnTo>
                    <a:pt x="46650" y="4065807"/>
                  </a:lnTo>
                  <a:lnTo>
                    <a:pt x="46650" y="7732"/>
                  </a:lnTo>
                  <a:lnTo>
                    <a:pt x="42088" y="2716"/>
                  </a:lnTo>
                  <a:lnTo>
                    <a:pt x="37508" y="0"/>
                  </a:lnTo>
                  <a:close/>
                </a:path>
                <a:path w="75564" h="4159250">
                  <a:moveTo>
                    <a:pt x="46650" y="4065807"/>
                  </a:moveTo>
                  <a:lnTo>
                    <a:pt x="37509" y="4075985"/>
                  </a:lnTo>
                  <a:lnTo>
                    <a:pt x="46650" y="4075985"/>
                  </a:lnTo>
                  <a:lnTo>
                    <a:pt x="46650" y="40658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55349" y="1430545"/>
              <a:ext cx="75565" cy="4159250"/>
            </a:xfrm>
            <a:custGeom>
              <a:avLst/>
              <a:gdLst/>
              <a:ahLst/>
              <a:cxnLst/>
              <a:rect l="l" t="t" r="r" b="b"/>
              <a:pathLst>
                <a:path w="75564" h="4159250">
                  <a:moveTo>
                    <a:pt x="46650" y="12957"/>
                  </a:moveTo>
                  <a:lnTo>
                    <a:pt x="46650" y="4075985"/>
                  </a:lnTo>
                  <a:lnTo>
                    <a:pt x="46650" y="4078577"/>
                  </a:lnTo>
                  <a:lnTo>
                    <a:pt x="44360" y="4083718"/>
                  </a:lnTo>
                  <a:lnTo>
                    <a:pt x="42089" y="4086309"/>
                  </a:lnTo>
                  <a:lnTo>
                    <a:pt x="37509" y="4086309"/>
                  </a:lnTo>
                  <a:lnTo>
                    <a:pt x="32928" y="4086309"/>
                  </a:lnTo>
                  <a:lnTo>
                    <a:pt x="31100" y="4083718"/>
                  </a:lnTo>
                  <a:lnTo>
                    <a:pt x="28810" y="4078577"/>
                  </a:lnTo>
                  <a:lnTo>
                    <a:pt x="28810" y="4075985"/>
                  </a:lnTo>
                  <a:lnTo>
                    <a:pt x="28810" y="12957"/>
                  </a:lnTo>
                  <a:lnTo>
                    <a:pt x="28810" y="7732"/>
                  </a:lnTo>
                  <a:lnTo>
                    <a:pt x="31100" y="5224"/>
                  </a:lnTo>
                  <a:lnTo>
                    <a:pt x="32928" y="2716"/>
                  </a:lnTo>
                  <a:lnTo>
                    <a:pt x="37508" y="0"/>
                  </a:lnTo>
                  <a:lnTo>
                    <a:pt x="42088" y="2716"/>
                  </a:lnTo>
                  <a:lnTo>
                    <a:pt x="44360" y="5224"/>
                  </a:lnTo>
                  <a:lnTo>
                    <a:pt x="46650" y="7732"/>
                  </a:lnTo>
                  <a:lnTo>
                    <a:pt x="46650" y="12957"/>
                  </a:lnTo>
                  <a:close/>
                </a:path>
                <a:path w="75564" h="4159250">
                  <a:moveTo>
                    <a:pt x="37509" y="4075985"/>
                  </a:moveTo>
                  <a:lnTo>
                    <a:pt x="75479" y="4033707"/>
                  </a:lnTo>
                  <a:lnTo>
                    <a:pt x="37509" y="4158995"/>
                  </a:lnTo>
                  <a:lnTo>
                    <a:pt x="0" y="4033707"/>
                  </a:lnTo>
                  <a:lnTo>
                    <a:pt x="37509" y="40759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9036239" y="1328775"/>
            <a:ext cx="2747010" cy="291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50" spc="-229" dirty="0">
                <a:solidFill>
                  <a:srgbClr val="333399"/>
                </a:solidFill>
                <a:latin typeface="宋体"/>
                <a:cs typeface="宋体"/>
              </a:rPr>
              <a:t>第一步：确定这一级的基本特征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36239" y="2024126"/>
            <a:ext cx="2552065" cy="5918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750" spc="-229" dirty="0">
                <a:solidFill>
                  <a:srgbClr val="333399"/>
                </a:solidFill>
                <a:latin typeface="宋体"/>
                <a:cs typeface="宋体"/>
              </a:rPr>
              <a:t>第二步：设计或选择面向这种</a:t>
            </a:r>
            <a:endParaRPr sz="1750">
              <a:latin typeface="宋体"/>
              <a:cs typeface="宋体"/>
            </a:endParaRPr>
          </a:p>
          <a:p>
            <a:pPr marL="805815">
              <a:lnSpc>
                <a:spcPct val="100000"/>
              </a:lnSpc>
              <a:spcBef>
                <a:spcPts val="130"/>
              </a:spcBef>
            </a:pPr>
            <a:r>
              <a:rPr sz="1750" spc="-204" dirty="0">
                <a:solidFill>
                  <a:srgbClr val="333399"/>
                </a:solidFill>
                <a:latin typeface="宋体"/>
                <a:cs typeface="宋体"/>
              </a:rPr>
              <a:t>应用的高级语言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036239" y="2886567"/>
            <a:ext cx="2669540" cy="5645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719455" marR="5080" indent="-707390">
              <a:lnSpc>
                <a:spcPct val="102400"/>
              </a:lnSpc>
              <a:spcBef>
                <a:spcPts val="45"/>
              </a:spcBef>
            </a:pPr>
            <a:r>
              <a:rPr sz="1750" spc="-280" dirty="0">
                <a:solidFill>
                  <a:srgbClr val="333399"/>
                </a:solidFill>
                <a:latin typeface="宋体"/>
                <a:cs typeface="宋体"/>
              </a:rPr>
              <a:t>第三步：设计适合所用高级语言</a:t>
            </a:r>
            <a:r>
              <a:rPr sz="1750" spc="-204" dirty="0">
                <a:solidFill>
                  <a:srgbClr val="333399"/>
                </a:solidFill>
                <a:latin typeface="宋体"/>
                <a:cs typeface="宋体"/>
              </a:rPr>
              <a:t>编译的中间语言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036239" y="3668564"/>
            <a:ext cx="2552065" cy="60833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750" spc="-229" dirty="0">
                <a:solidFill>
                  <a:srgbClr val="333399"/>
                </a:solidFill>
                <a:latin typeface="宋体"/>
                <a:cs typeface="宋体"/>
              </a:rPr>
              <a:t>第四步：设计面向这种应用的</a:t>
            </a:r>
            <a:endParaRPr sz="1750">
              <a:latin typeface="宋体"/>
              <a:cs typeface="宋体"/>
            </a:endParaRPr>
          </a:p>
          <a:p>
            <a:pPr marL="810260">
              <a:lnSpc>
                <a:spcPct val="100000"/>
              </a:lnSpc>
              <a:spcBef>
                <a:spcPts val="190"/>
              </a:spcBef>
            </a:pPr>
            <a:r>
              <a:rPr sz="1750" spc="-185" dirty="0">
                <a:solidFill>
                  <a:srgbClr val="333399"/>
                </a:solidFill>
                <a:latin typeface="宋体"/>
                <a:cs typeface="宋体"/>
              </a:rPr>
              <a:t>操作系统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036239" y="4479101"/>
            <a:ext cx="2710180" cy="593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2790" marR="5080" indent="-720725">
              <a:lnSpc>
                <a:spcPct val="106300"/>
              </a:lnSpc>
              <a:spcBef>
                <a:spcPts val="100"/>
              </a:spcBef>
            </a:pPr>
            <a:r>
              <a:rPr sz="1750" spc="-260" dirty="0">
                <a:solidFill>
                  <a:srgbClr val="333399"/>
                </a:solidFill>
                <a:latin typeface="宋体"/>
                <a:cs typeface="宋体"/>
              </a:rPr>
              <a:t>第五步：设计面向所用编译程序</a:t>
            </a:r>
            <a:r>
              <a:rPr sz="1750" spc="-220" dirty="0">
                <a:solidFill>
                  <a:srgbClr val="333399"/>
                </a:solidFill>
                <a:latin typeface="宋体"/>
                <a:cs typeface="宋体"/>
              </a:rPr>
              <a:t>和操作系统的机器语言</a:t>
            </a:r>
            <a:endParaRPr sz="175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036239" y="5297356"/>
            <a:ext cx="2552065" cy="60198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750" spc="-229" dirty="0">
                <a:solidFill>
                  <a:srgbClr val="333399"/>
                </a:solidFill>
                <a:latin typeface="宋体"/>
                <a:cs typeface="宋体"/>
              </a:rPr>
              <a:t>第六步：设计面向机器语言的</a:t>
            </a:r>
            <a:endParaRPr sz="1750">
              <a:latin typeface="宋体"/>
              <a:cs typeface="宋体"/>
            </a:endParaRPr>
          </a:p>
          <a:p>
            <a:pPr marL="810260">
              <a:lnSpc>
                <a:spcPct val="100000"/>
              </a:lnSpc>
              <a:spcBef>
                <a:spcPts val="170"/>
              </a:spcBef>
            </a:pPr>
            <a:r>
              <a:rPr sz="1750" spc="-10" dirty="0">
                <a:solidFill>
                  <a:srgbClr val="333399"/>
                </a:solidFill>
                <a:latin typeface="宋体"/>
                <a:cs typeface="宋体"/>
              </a:rPr>
              <a:t>微指令及其硬件</a:t>
            </a:r>
            <a:endParaRPr sz="175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276604"/>
            <a:ext cx="5579745" cy="3826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indent="-285750">
              <a:lnSpc>
                <a:spcPct val="100000"/>
              </a:lnSpc>
              <a:spcBef>
                <a:spcPts val="95"/>
              </a:spcBef>
              <a:buClr>
                <a:srgbClr val="5B9BD4"/>
              </a:buClr>
              <a:buSzPct val="96428"/>
              <a:buFont typeface="Wingdings"/>
              <a:buChar char=""/>
              <a:tabLst>
                <a:tab pos="294005" algn="l"/>
              </a:tabLst>
            </a:pPr>
            <a:r>
              <a:rPr sz="2800" spc="-35" dirty="0">
                <a:solidFill>
                  <a:srgbClr val="D50092"/>
                </a:solidFill>
                <a:latin typeface="微软雅黑"/>
                <a:cs typeface="微软雅黑"/>
              </a:rPr>
              <a:t>“由下往上</a:t>
            </a:r>
            <a:r>
              <a:rPr sz="2800" spc="-20" dirty="0">
                <a:solidFill>
                  <a:srgbClr val="D50092"/>
                </a:solidFill>
                <a:latin typeface="微软雅黑"/>
                <a:cs typeface="微软雅黑"/>
              </a:rPr>
              <a:t>”（</a:t>
            </a:r>
            <a:r>
              <a:rPr sz="2800" spc="-20" dirty="0">
                <a:solidFill>
                  <a:srgbClr val="D50092"/>
                </a:solidFill>
                <a:latin typeface="Times New Roman"/>
                <a:cs typeface="Times New Roman"/>
              </a:rPr>
              <a:t>bottom-</a:t>
            </a:r>
            <a:r>
              <a:rPr sz="2800" spc="-25" dirty="0">
                <a:solidFill>
                  <a:srgbClr val="D50092"/>
                </a:solidFill>
                <a:latin typeface="Times New Roman"/>
                <a:cs typeface="Times New Roman"/>
              </a:rPr>
              <a:t>up</a:t>
            </a:r>
            <a:r>
              <a:rPr sz="2800" spc="-25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r>
              <a:rPr sz="2800" spc="-45" dirty="0">
                <a:solidFill>
                  <a:srgbClr val="D50092"/>
                </a:solidFill>
                <a:latin typeface="微软雅黑"/>
                <a:cs typeface="微软雅黑"/>
              </a:rPr>
              <a:t>设计</a:t>
            </a:r>
            <a:endParaRPr sz="2800">
              <a:latin typeface="微软雅黑"/>
              <a:cs typeface="微软雅黑"/>
            </a:endParaRPr>
          </a:p>
          <a:p>
            <a:pPr marL="984885" marR="5080" lvl="1" indent="-342900" algn="just">
              <a:lnSpc>
                <a:spcPct val="150100"/>
              </a:lnSpc>
              <a:spcBef>
                <a:spcPts val="365"/>
              </a:spcBef>
              <a:buClr>
                <a:srgbClr val="EC7C30"/>
              </a:buClr>
              <a:buFont typeface="Wingdings"/>
              <a:buChar char=""/>
              <a:tabLst>
                <a:tab pos="984885" algn="l"/>
              </a:tabLst>
            </a:pPr>
            <a:r>
              <a:rPr sz="2000" spc="-15" dirty="0">
                <a:latin typeface="微软雅黑"/>
                <a:cs typeface="微软雅黑"/>
              </a:rPr>
              <a:t>从层次结构的最下面一级开始，逐层往上</a:t>
            </a:r>
            <a:r>
              <a:rPr sz="2000" spc="-10" dirty="0">
                <a:latin typeface="微软雅黑"/>
                <a:cs typeface="微软雅黑"/>
              </a:rPr>
              <a:t>设计各层的机器。</a:t>
            </a:r>
            <a:endParaRPr sz="2000">
              <a:latin typeface="微软雅黑"/>
              <a:cs typeface="微软雅黑"/>
            </a:endParaRPr>
          </a:p>
          <a:p>
            <a:pPr marL="1097915" marR="147955" lvl="1" indent="-456565" algn="just">
              <a:lnSpc>
                <a:spcPct val="150100"/>
              </a:lnSpc>
              <a:spcBef>
                <a:spcPts val="49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spc="-5" dirty="0">
                <a:latin typeface="微软雅黑"/>
                <a:cs typeface="微软雅黑"/>
              </a:rPr>
              <a:t>采用这种方法时，</a:t>
            </a:r>
            <a:r>
              <a:rPr sz="2000" spc="-15" dirty="0">
                <a:solidFill>
                  <a:srgbClr val="EC7C30"/>
                </a:solidFill>
                <a:latin typeface="微软雅黑"/>
                <a:cs typeface="微软雅黑"/>
              </a:rPr>
              <a:t>软件技术完全处于被	</a:t>
            </a:r>
            <a:r>
              <a:rPr sz="2000" spc="-10" dirty="0">
                <a:solidFill>
                  <a:srgbClr val="EC7C30"/>
                </a:solidFill>
                <a:latin typeface="微软雅黑"/>
                <a:cs typeface="微软雅黑"/>
              </a:rPr>
              <a:t>动状态，这会造成软件和硬件的脱节</a:t>
            </a:r>
            <a:r>
              <a:rPr sz="2000" spc="-50" dirty="0">
                <a:latin typeface="微软雅黑"/>
                <a:cs typeface="微软雅黑"/>
              </a:rPr>
              <a:t>，	</a:t>
            </a:r>
            <a:r>
              <a:rPr sz="2000" spc="-5" dirty="0">
                <a:latin typeface="微软雅黑"/>
                <a:cs typeface="微软雅黑"/>
              </a:rPr>
              <a:t>使整个系统的效率降低。</a:t>
            </a:r>
            <a:endParaRPr sz="20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705"/>
              </a:spcBef>
            </a:pPr>
            <a:r>
              <a:rPr sz="2000" dirty="0">
                <a:latin typeface="微软雅黑"/>
                <a:cs typeface="微软雅黑"/>
              </a:rPr>
              <a:t>（</a:t>
            </a:r>
            <a:r>
              <a:rPr sz="2000" spc="-15" dirty="0">
                <a:latin typeface="微软雅黑"/>
                <a:cs typeface="微软雅黑"/>
              </a:rPr>
              <a:t>在早期被采用得比较多，现在已经很少</a:t>
            </a:r>
            <a:endParaRPr sz="2000">
              <a:latin typeface="微软雅黑"/>
              <a:cs typeface="微软雅黑"/>
            </a:endParaRPr>
          </a:p>
          <a:p>
            <a:pPr marL="1155700">
              <a:lnSpc>
                <a:spcPct val="100000"/>
              </a:lnSpc>
              <a:spcBef>
                <a:spcPts val="1200"/>
              </a:spcBef>
            </a:pPr>
            <a:r>
              <a:rPr sz="2000" spc="-30" dirty="0">
                <a:latin typeface="微软雅黑"/>
                <a:cs typeface="微软雅黑"/>
              </a:rPr>
              <a:t>被采用了 </a:t>
            </a:r>
            <a:r>
              <a:rPr sz="2000" spc="-50" dirty="0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计算机系统设计者的主</a:t>
            </a:r>
            <a:r>
              <a:rPr spc="-15" dirty="0"/>
              <a:t>要</a:t>
            </a:r>
            <a:r>
              <a:rPr dirty="0"/>
              <a:t>方</a:t>
            </a:r>
            <a:r>
              <a:rPr spc="-50" dirty="0"/>
              <a:t>法</a:t>
            </a:r>
            <a:r>
              <a:rPr dirty="0"/>
              <a:t>	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6150" y="972870"/>
            <a:ext cx="3114040" cy="4912233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0899520" y="1842897"/>
            <a:ext cx="76200" cy="3181350"/>
          </a:xfrm>
          <a:custGeom>
            <a:avLst/>
            <a:gdLst/>
            <a:ahLst/>
            <a:cxnLst/>
            <a:rect l="l" t="t" r="r" b="b"/>
            <a:pathLst>
              <a:path w="76200" h="3181350">
                <a:moveTo>
                  <a:pt x="50800" y="63500"/>
                </a:moveTo>
                <a:lnTo>
                  <a:pt x="25400" y="63500"/>
                </a:lnTo>
                <a:lnTo>
                  <a:pt x="25400" y="3181222"/>
                </a:lnTo>
                <a:lnTo>
                  <a:pt x="50800" y="3181222"/>
                </a:lnTo>
                <a:lnTo>
                  <a:pt x="50800" y="63500"/>
                </a:lnTo>
                <a:close/>
              </a:path>
              <a:path w="76200" h="3181350">
                <a:moveTo>
                  <a:pt x="38100" y="0"/>
                </a:moveTo>
                <a:lnTo>
                  <a:pt x="0" y="76200"/>
                </a:lnTo>
                <a:lnTo>
                  <a:pt x="25400" y="76200"/>
                </a:lnTo>
                <a:lnTo>
                  <a:pt x="2540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3181350">
                <a:moveTo>
                  <a:pt x="69850" y="63500"/>
                </a:moveTo>
                <a:lnTo>
                  <a:pt x="50800" y="63500"/>
                </a:lnTo>
                <a:lnTo>
                  <a:pt x="5080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1.2.2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计算机系统设计者的主</a:t>
            </a:r>
            <a:r>
              <a:rPr spc="-15" dirty="0"/>
              <a:t>要</a:t>
            </a:r>
            <a:r>
              <a:rPr dirty="0"/>
              <a:t>方</a:t>
            </a:r>
            <a:r>
              <a:rPr spc="-50" dirty="0"/>
              <a:t>法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1034542"/>
            <a:ext cx="6188710" cy="4052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200" spc="-20" dirty="0">
                <a:solidFill>
                  <a:srgbClr val="D50092"/>
                </a:solidFill>
                <a:latin typeface="Times New Roman"/>
                <a:cs typeface="Times New Roman"/>
              </a:rPr>
              <a:t>“</a:t>
            </a:r>
            <a:r>
              <a:rPr sz="2200" spc="-30" dirty="0">
                <a:solidFill>
                  <a:srgbClr val="D50092"/>
                </a:solidFill>
                <a:latin typeface="微软雅黑"/>
                <a:cs typeface="微软雅黑"/>
              </a:rPr>
              <a:t>从中间开始</a:t>
            </a:r>
            <a:r>
              <a:rPr sz="2200" spc="-20" dirty="0">
                <a:solidFill>
                  <a:srgbClr val="D50092"/>
                </a:solidFill>
                <a:latin typeface="微软雅黑"/>
                <a:cs typeface="微软雅黑"/>
              </a:rPr>
              <a:t>”（</a:t>
            </a:r>
            <a:r>
              <a:rPr sz="2200" spc="-20" dirty="0">
                <a:solidFill>
                  <a:srgbClr val="D50092"/>
                </a:solidFill>
                <a:latin typeface="Times New Roman"/>
                <a:cs typeface="Times New Roman"/>
              </a:rPr>
              <a:t>middle-out</a:t>
            </a:r>
            <a:r>
              <a:rPr sz="2200" spc="-20" dirty="0">
                <a:solidFill>
                  <a:srgbClr val="D50092"/>
                </a:solidFill>
                <a:latin typeface="微软雅黑"/>
                <a:cs typeface="微软雅黑"/>
              </a:rPr>
              <a:t>）</a:t>
            </a:r>
            <a:r>
              <a:rPr sz="2200" spc="-40" dirty="0">
                <a:solidFill>
                  <a:srgbClr val="D50092"/>
                </a:solidFill>
                <a:latin typeface="微软雅黑"/>
                <a:cs typeface="微软雅黑"/>
              </a:rPr>
              <a:t>设计</a:t>
            </a:r>
            <a:endParaRPr sz="2200">
              <a:latin typeface="微软雅黑"/>
              <a:cs typeface="微软雅黑"/>
            </a:endParaRPr>
          </a:p>
          <a:p>
            <a:pPr marL="1099185" marR="618490" lvl="1" indent="-457200">
              <a:lnSpc>
                <a:spcPct val="155800"/>
              </a:lnSpc>
              <a:spcBef>
                <a:spcPts val="114"/>
              </a:spcBef>
              <a:buClr>
                <a:srgbClr val="EC7C30"/>
              </a:buClr>
              <a:buFont typeface="Wingdings"/>
              <a:buChar char=""/>
              <a:tabLst>
                <a:tab pos="1334135" algn="l"/>
              </a:tabLst>
            </a:pPr>
            <a:r>
              <a:rPr sz="1600" spc="-35" dirty="0">
                <a:latin typeface="微软雅黑"/>
                <a:cs typeface="微软雅黑"/>
              </a:rPr>
              <a:t>“由上往下”和“由下往上”设计方法的主要缺点	</a:t>
            </a:r>
            <a:r>
              <a:rPr sz="1600" spc="-30" dirty="0">
                <a:latin typeface="微软雅黑"/>
                <a:cs typeface="微软雅黑"/>
              </a:rPr>
              <a:t>软、硬件设计分离和脱节</a:t>
            </a:r>
            <a:endParaRPr sz="16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08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1600" spc="-25" dirty="0">
                <a:solidFill>
                  <a:srgbClr val="D50092"/>
                </a:solidFill>
                <a:latin typeface="微软雅黑"/>
                <a:cs typeface="微软雅黑"/>
              </a:rPr>
              <a:t>解决方法：</a:t>
            </a:r>
            <a:r>
              <a:rPr sz="1600" spc="-30" dirty="0">
                <a:latin typeface="微软雅黑"/>
                <a:cs typeface="微软雅黑"/>
              </a:rPr>
              <a:t>综合考虑软、硬件的分工，从中间开始设计。</a:t>
            </a:r>
            <a:endParaRPr sz="16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1080"/>
              </a:spcBef>
              <a:buClr>
                <a:srgbClr val="538235"/>
              </a:buClr>
              <a:buFont typeface="Arial"/>
              <a:buChar char="•"/>
              <a:tabLst>
                <a:tab pos="1155700" algn="l"/>
              </a:tabLst>
            </a:pPr>
            <a:r>
              <a:rPr sz="1600" spc="-30" dirty="0">
                <a:solidFill>
                  <a:srgbClr val="FF0000"/>
                </a:solidFill>
                <a:latin typeface="微软雅黑"/>
                <a:cs typeface="微软雅黑"/>
              </a:rPr>
              <a:t>“中间”</a:t>
            </a:r>
            <a:r>
              <a:rPr sz="1600" spc="-30" dirty="0">
                <a:latin typeface="微软雅黑"/>
                <a:cs typeface="微软雅黑"/>
              </a:rPr>
              <a:t>：层次结构中的软硬件的交界面，目前一般是</a:t>
            </a:r>
            <a:endParaRPr sz="1600">
              <a:latin typeface="微软雅黑"/>
              <a:cs typeface="微软雅黑"/>
            </a:endParaRPr>
          </a:p>
          <a:p>
            <a:pPr marL="382905" algn="ctr">
              <a:lnSpc>
                <a:spcPct val="100000"/>
              </a:lnSpc>
              <a:spcBef>
                <a:spcPts val="575"/>
              </a:spcBef>
            </a:pPr>
            <a:r>
              <a:rPr sz="1600" spc="-35" dirty="0">
                <a:latin typeface="微软雅黑"/>
                <a:cs typeface="微软雅黑"/>
              </a:rPr>
              <a:t>在传统机器语言机器级与操作系统机器级之间。</a:t>
            </a:r>
            <a:endParaRPr sz="16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07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1600" spc="-30" dirty="0">
                <a:latin typeface="微软雅黑"/>
                <a:cs typeface="微软雅黑"/>
              </a:rPr>
              <a:t>从中间开始设计</a:t>
            </a:r>
            <a:endParaRPr sz="16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1080"/>
              </a:spcBef>
              <a:buClr>
                <a:srgbClr val="538235"/>
              </a:buClr>
              <a:buFont typeface="Arial"/>
              <a:buChar char="•"/>
              <a:tabLst>
                <a:tab pos="1155700" algn="l"/>
              </a:tabLst>
            </a:pPr>
            <a:r>
              <a:rPr sz="1600" spc="-30" dirty="0">
                <a:latin typeface="微软雅黑"/>
                <a:cs typeface="微软雅黑"/>
              </a:rPr>
              <a:t>首先要进行软、硬件功能分配，确定好这个界面。</a:t>
            </a:r>
            <a:endParaRPr sz="16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1080"/>
              </a:spcBef>
              <a:buClr>
                <a:srgbClr val="538235"/>
              </a:buClr>
              <a:buFont typeface="Arial"/>
              <a:buChar char="•"/>
              <a:tabLst>
                <a:tab pos="1155700" algn="l"/>
              </a:tabLst>
            </a:pPr>
            <a:r>
              <a:rPr sz="1600" spc="-30" dirty="0">
                <a:latin typeface="微软雅黑"/>
                <a:cs typeface="微软雅黑"/>
              </a:rPr>
              <a:t>然后从这个界面开始，软件设计者开始往上设计操作系</a:t>
            </a:r>
            <a:endParaRPr sz="1600">
              <a:latin typeface="微软雅黑"/>
              <a:cs typeface="微软雅黑"/>
            </a:endParaRPr>
          </a:p>
          <a:p>
            <a:pPr marL="382905" algn="ctr">
              <a:lnSpc>
                <a:spcPct val="100000"/>
              </a:lnSpc>
              <a:spcBef>
                <a:spcPts val="580"/>
              </a:spcBef>
            </a:pPr>
            <a:r>
              <a:rPr sz="1600" spc="-35" dirty="0">
                <a:latin typeface="微软雅黑"/>
                <a:cs typeface="微软雅黑"/>
              </a:rPr>
              <a:t>统、汇编、编译系统等，硬件设计者开始往下设</a:t>
            </a:r>
            <a:endParaRPr sz="16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1070"/>
              </a:spcBef>
              <a:buClr>
                <a:srgbClr val="538235"/>
              </a:buClr>
              <a:buFont typeface="Arial"/>
              <a:buChar char="•"/>
              <a:tabLst>
                <a:tab pos="1155700" algn="l"/>
              </a:tabLst>
            </a:pPr>
            <a:r>
              <a:rPr sz="1600" spc="-30" dirty="0">
                <a:latin typeface="微软雅黑"/>
                <a:cs typeface="微软雅黑"/>
              </a:rPr>
              <a:t>计传统机器级、微程序机器级等。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48245" y="968025"/>
            <a:ext cx="3563620" cy="555625"/>
          </a:xfrm>
          <a:prstGeom prst="rect">
            <a:avLst/>
          </a:prstGeom>
          <a:solidFill>
            <a:srgbClr val="CCFF66"/>
          </a:solidFill>
          <a:ln w="17136">
            <a:solidFill>
              <a:srgbClr val="000000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935"/>
              </a:spcBef>
            </a:pPr>
            <a:r>
              <a:rPr sz="2000" b="1" spc="-30" dirty="0">
                <a:latin typeface="Times New Roman"/>
                <a:cs typeface="Times New Roman"/>
              </a:rPr>
              <a:t>L6</a:t>
            </a:r>
            <a:r>
              <a:rPr sz="2000" spc="-45" dirty="0">
                <a:latin typeface="宋体"/>
                <a:cs typeface="宋体"/>
              </a:rPr>
              <a:t>：应用语言虚拟机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307765" y="1518297"/>
            <a:ext cx="103505" cy="390525"/>
            <a:chOff x="9307765" y="1518297"/>
            <a:chExt cx="103505" cy="390525"/>
          </a:xfrm>
        </p:grpSpPr>
        <p:sp>
          <p:nvSpPr>
            <p:cNvPr id="6" name="object 6"/>
            <p:cNvSpPr/>
            <p:nvPr/>
          </p:nvSpPr>
          <p:spPr>
            <a:xfrm>
              <a:off x="9310719" y="1521250"/>
              <a:ext cx="97790" cy="384810"/>
            </a:xfrm>
            <a:custGeom>
              <a:avLst/>
              <a:gdLst/>
              <a:ahLst/>
              <a:cxnLst/>
              <a:rect l="l" t="t" r="r" b="b"/>
              <a:pathLst>
                <a:path w="97790" h="384810">
                  <a:moveTo>
                    <a:pt x="0" y="240947"/>
                  </a:moveTo>
                  <a:lnTo>
                    <a:pt x="46018" y="384561"/>
                  </a:lnTo>
                  <a:lnTo>
                    <a:pt x="74801" y="303927"/>
                  </a:lnTo>
                  <a:lnTo>
                    <a:pt x="46018" y="303927"/>
                  </a:lnTo>
                  <a:lnTo>
                    <a:pt x="46018" y="298440"/>
                  </a:lnTo>
                  <a:lnTo>
                    <a:pt x="40057" y="298440"/>
                  </a:lnTo>
                  <a:lnTo>
                    <a:pt x="34096" y="292715"/>
                  </a:lnTo>
                  <a:lnTo>
                    <a:pt x="34096" y="274885"/>
                  </a:lnTo>
                  <a:lnTo>
                    <a:pt x="0" y="240947"/>
                  </a:lnTo>
                  <a:close/>
                </a:path>
                <a:path w="97790" h="384810">
                  <a:moveTo>
                    <a:pt x="51264" y="298440"/>
                  </a:moveTo>
                  <a:lnTo>
                    <a:pt x="46018" y="298440"/>
                  </a:lnTo>
                  <a:lnTo>
                    <a:pt x="46018" y="303927"/>
                  </a:lnTo>
                  <a:lnTo>
                    <a:pt x="51264" y="298440"/>
                  </a:lnTo>
                  <a:close/>
                </a:path>
                <a:path w="97790" h="384810">
                  <a:moveTo>
                    <a:pt x="97283" y="240947"/>
                  </a:moveTo>
                  <a:lnTo>
                    <a:pt x="57225" y="276738"/>
                  </a:lnTo>
                  <a:lnTo>
                    <a:pt x="57225" y="298440"/>
                  </a:lnTo>
                  <a:lnTo>
                    <a:pt x="51264" y="298440"/>
                  </a:lnTo>
                  <a:lnTo>
                    <a:pt x="46018" y="303927"/>
                  </a:lnTo>
                  <a:lnTo>
                    <a:pt x="74801" y="303927"/>
                  </a:lnTo>
                  <a:lnTo>
                    <a:pt x="97283" y="240947"/>
                  </a:lnTo>
                  <a:close/>
                </a:path>
                <a:path w="97790" h="384810">
                  <a:moveTo>
                    <a:pt x="34096" y="274885"/>
                  </a:moveTo>
                  <a:lnTo>
                    <a:pt x="34096" y="292715"/>
                  </a:lnTo>
                  <a:lnTo>
                    <a:pt x="40057" y="298440"/>
                  </a:lnTo>
                  <a:lnTo>
                    <a:pt x="57225" y="298440"/>
                  </a:lnTo>
                  <a:lnTo>
                    <a:pt x="57225" y="286751"/>
                  </a:lnTo>
                  <a:lnTo>
                    <a:pt x="46018" y="286751"/>
                  </a:lnTo>
                  <a:lnTo>
                    <a:pt x="34096" y="274885"/>
                  </a:lnTo>
                  <a:close/>
                </a:path>
                <a:path w="97790" h="384810">
                  <a:moveTo>
                    <a:pt x="51264" y="0"/>
                  </a:moveTo>
                  <a:lnTo>
                    <a:pt x="46018" y="0"/>
                  </a:lnTo>
                  <a:lnTo>
                    <a:pt x="40057" y="5964"/>
                  </a:lnTo>
                  <a:lnTo>
                    <a:pt x="34096" y="5964"/>
                  </a:lnTo>
                  <a:lnTo>
                    <a:pt x="34096" y="274885"/>
                  </a:lnTo>
                  <a:lnTo>
                    <a:pt x="46018" y="286751"/>
                  </a:lnTo>
                  <a:lnTo>
                    <a:pt x="57225" y="276738"/>
                  </a:lnTo>
                  <a:lnTo>
                    <a:pt x="57225" y="5964"/>
                  </a:lnTo>
                  <a:lnTo>
                    <a:pt x="51264" y="0"/>
                  </a:lnTo>
                  <a:close/>
                </a:path>
                <a:path w="97790" h="384810">
                  <a:moveTo>
                    <a:pt x="57225" y="276738"/>
                  </a:moveTo>
                  <a:lnTo>
                    <a:pt x="46018" y="286751"/>
                  </a:lnTo>
                  <a:lnTo>
                    <a:pt x="57225" y="286751"/>
                  </a:lnTo>
                  <a:lnTo>
                    <a:pt x="57225" y="2767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310719" y="1521250"/>
              <a:ext cx="97790" cy="384810"/>
            </a:xfrm>
            <a:custGeom>
              <a:avLst/>
              <a:gdLst/>
              <a:ahLst/>
              <a:cxnLst/>
              <a:rect l="l" t="t" r="r" b="b"/>
              <a:pathLst>
                <a:path w="97790" h="384810">
                  <a:moveTo>
                    <a:pt x="57225" y="11928"/>
                  </a:moveTo>
                  <a:lnTo>
                    <a:pt x="57225" y="286751"/>
                  </a:lnTo>
                  <a:lnTo>
                    <a:pt x="57225" y="292715"/>
                  </a:lnTo>
                  <a:lnTo>
                    <a:pt x="57225" y="298441"/>
                  </a:lnTo>
                  <a:lnTo>
                    <a:pt x="51264" y="298441"/>
                  </a:lnTo>
                  <a:lnTo>
                    <a:pt x="46018" y="303927"/>
                  </a:lnTo>
                  <a:lnTo>
                    <a:pt x="46018" y="298441"/>
                  </a:lnTo>
                  <a:lnTo>
                    <a:pt x="40057" y="298441"/>
                  </a:lnTo>
                  <a:lnTo>
                    <a:pt x="34096" y="292715"/>
                  </a:lnTo>
                  <a:lnTo>
                    <a:pt x="34096" y="286751"/>
                  </a:lnTo>
                  <a:lnTo>
                    <a:pt x="34096" y="11928"/>
                  </a:lnTo>
                  <a:lnTo>
                    <a:pt x="34096" y="5964"/>
                  </a:lnTo>
                  <a:lnTo>
                    <a:pt x="40057" y="5964"/>
                  </a:lnTo>
                  <a:lnTo>
                    <a:pt x="46018" y="0"/>
                  </a:lnTo>
                  <a:lnTo>
                    <a:pt x="51264" y="0"/>
                  </a:lnTo>
                  <a:lnTo>
                    <a:pt x="57225" y="5964"/>
                  </a:lnTo>
                  <a:lnTo>
                    <a:pt x="57225" y="11928"/>
                  </a:lnTo>
                  <a:close/>
                </a:path>
                <a:path w="97790" h="384810">
                  <a:moveTo>
                    <a:pt x="46018" y="286751"/>
                  </a:moveTo>
                  <a:lnTo>
                    <a:pt x="97283" y="240947"/>
                  </a:lnTo>
                  <a:lnTo>
                    <a:pt x="46018" y="384561"/>
                  </a:lnTo>
                  <a:lnTo>
                    <a:pt x="0" y="240947"/>
                  </a:lnTo>
                  <a:lnTo>
                    <a:pt x="46018" y="286751"/>
                  </a:lnTo>
                  <a:close/>
                </a:path>
              </a:pathLst>
            </a:custGeom>
            <a:ln w="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548245" y="1896341"/>
            <a:ext cx="3563620" cy="561975"/>
          </a:xfrm>
          <a:prstGeom prst="rect">
            <a:avLst/>
          </a:prstGeom>
          <a:solidFill>
            <a:srgbClr val="CCFF66"/>
          </a:solidFill>
          <a:ln w="17136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975"/>
              </a:spcBef>
            </a:pPr>
            <a:r>
              <a:rPr sz="2000" b="1" spc="-30" dirty="0">
                <a:latin typeface="Times New Roman"/>
                <a:cs typeface="Times New Roman"/>
              </a:rPr>
              <a:t>L5</a:t>
            </a:r>
            <a:r>
              <a:rPr sz="2000" spc="-45" dirty="0">
                <a:latin typeface="宋体"/>
                <a:cs typeface="宋体"/>
              </a:rPr>
              <a:t>：高级语言虚拟机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307765" y="2452505"/>
            <a:ext cx="103505" cy="389890"/>
            <a:chOff x="9307765" y="2452505"/>
            <a:chExt cx="103505" cy="389890"/>
          </a:xfrm>
        </p:grpSpPr>
        <p:sp>
          <p:nvSpPr>
            <p:cNvPr id="10" name="object 10"/>
            <p:cNvSpPr/>
            <p:nvPr/>
          </p:nvSpPr>
          <p:spPr>
            <a:xfrm>
              <a:off x="9310719" y="2455458"/>
              <a:ext cx="97790" cy="384175"/>
            </a:xfrm>
            <a:custGeom>
              <a:avLst/>
              <a:gdLst/>
              <a:ahLst/>
              <a:cxnLst/>
              <a:rect l="l" t="t" r="r" b="b"/>
              <a:pathLst>
                <a:path w="97790" h="384175">
                  <a:moveTo>
                    <a:pt x="0" y="240709"/>
                  </a:moveTo>
                  <a:lnTo>
                    <a:pt x="46018" y="383846"/>
                  </a:lnTo>
                  <a:lnTo>
                    <a:pt x="76862" y="297725"/>
                  </a:lnTo>
                  <a:lnTo>
                    <a:pt x="46018" y="297725"/>
                  </a:lnTo>
                  <a:lnTo>
                    <a:pt x="40057" y="291999"/>
                  </a:lnTo>
                  <a:lnTo>
                    <a:pt x="34096" y="291999"/>
                  </a:lnTo>
                  <a:lnTo>
                    <a:pt x="34096" y="274646"/>
                  </a:lnTo>
                  <a:lnTo>
                    <a:pt x="0" y="240709"/>
                  </a:lnTo>
                  <a:close/>
                </a:path>
                <a:path w="97790" h="384175">
                  <a:moveTo>
                    <a:pt x="34096" y="274646"/>
                  </a:moveTo>
                  <a:lnTo>
                    <a:pt x="34096" y="291999"/>
                  </a:lnTo>
                  <a:lnTo>
                    <a:pt x="40057" y="291999"/>
                  </a:lnTo>
                  <a:lnTo>
                    <a:pt x="46018" y="297725"/>
                  </a:lnTo>
                  <a:lnTo>
                    <a:pt x="51264" y="297725"/>
                  </a:lnTo>
                  <a:lnTo>
                    <a:pt x="57225" y="291999"/>
                  </a:lnTo>
                  <a:lnTo>
                    <a:pt x="57225" y="286512"/>
                  </a:lnTo>
                  <a:lnTo>
                    <a:pt x="46018" y="286512"/>
                  </a:lnTo>
                  <a:lnTo>
                    <a:pt x="34096" y="274646"/>
                  </a:lnTo>
                  <a:close/>
                </a:path>
                <a:path w="97790" h="384175">
                  <a:moveTo>
                    <a:pt x="97283" y="240709"/>
                  </a:moveTo>
                  <a:lnTo>
                    <a:pt x="57225" y="276499"/>
                  </a:lnTo>
                  <a:lnTo>
                    <a:pt x="57225" y="291999"/>
                  </a:lnTo>
                  <a:lnTo>
                    <a:pt x="51264" y="297725"/>
                  </a:lnTo>
                  <a:lnTo>
                    <a:pt x="76862" y="297725"/>
                  </a:lnTo>
                  <a:lnTo>
                    <a:pt x="97283" y="240709"/>
                  </a:lnTo>
                  <a:close/>
                </a:path>
                <a:path w="97790" h="384175">
                  <a:moveTo>
                    <a:pt x="57225" y="0"/>
                  </a:moveTo>
                  <a:lnTo>
                    <a:pt x="40057" y="0"/>
                  </a:lnTo>
                  <a:lnTo>
                    <a:pt x="34096" y="5964"/>
                  </a:lnTo>
                  <a:lnTo>
                    <a:pt x="34096" y="274646"/>
                  </a:lnTo>
                  <a:lnTo>
                    <a:pt x="46018" y="286512"/>
                  </a:lnTo>
                  <a:lnTo>
                    <a:pt x="57225" y="276499"/>
                  </a:lnTo>
                  <a:lnTo>
                    <a:pt x="57225" y="0"/>
                  </a:lnTo>
                  <a:close/>
                </a:path>
                <a:path w="97790" h="384175">
                  <a:moveTo>
                    <a:pt x="57225" y="276499"/>
                  </a:moveTo>
                  <a:lnTo>
                    <a:pt x="46018" y="286512"/>
                  </a:lnTo>
                  <a:lnTo>
                    <a:pt x="57225" y="286512"/>
                  </a:lnTo>
                  <a:lnTo>
                    <a:pt x="57225" y="276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310719" y="2455458"/>
              <a:ext cx="97790" cy="384175"/>
            </a:xfrm>
            <a:custGeom>
              <a:avLst/>
              <a:gdLst/>
              <a:ahLst/>
              <a:cxnLst/>
              <a:rect l="l" t="t" r="r" b="b"/>
              <a:pathLst>
                <a:path w="97790" h="384175">
                  <a:moveTo>
                    <a:pt x="57225" y="11689"/>
                  </a:moveTo>
                  <a:lnTo>
                    <a:pt x="57225" y="286512"/>
                  </a:lnTo>
                  <a:lnTo>
                    <a:pt x="57225" y="291999"/>
                  </a:lnTo>
                  <a:lnTo>
                    <a:pt x="51264" y="297725"/>
                  </a:lnTo>
                  <a:lnTo>
                    <a:pt x="46018" y="297725"/>
                  </a:lnTo>
                  <a:lnTo>
                    <a:pt x="40057" y="291999"/>
                  </a:lnTo>
                  <a:lnTo>
                    <a:pt x="34096" y="291999"/>
                  </a:lnTo>
                  <a:lnTo>
                    <a:pt x="34096" y="286512"/>
                  </a:lnTo>
                  <a:lnTo>
                    <a:pt x="34096" y="11689"/>
                  </a:lnTo>
                  <a:lnTo>
                    <a:pt x="34096" y="5964"/>
                  </a:lnTo>
                  <a:lnTo>
                    <a:pt x="40057" y="0"/>
                  </a:lnTo>
                  <a:lnTo>
                    <a:pt x="46018" y="0"/>
                  </a:lnTo>
                  <a:lnTo>
                    <a:pt x="51264" y="0"/>
                  </a:lnTo>
                  <a:lnTo>
                    <a:pt x="57225" y="0"/>
                  </a:lnTo>
                  <a:lnTo>
                    <a:pt x="57225" y="5964"/>
                  </a:lnTo>
                  <a:lnTo>
                    <a:pt x="57225" y="11689"/>
                  </a:lnTo>
                  <a:close/>
                </a:path>
                <a:path w="97790" h="384175">
                  <a:moveTo>
                    <a:pt x="46018" y="286512"/>
                  </a:moveTo>
                  <a:lnTo>
                    <a:pt x="97283" y="240709"/>
                  </a:lnTo>
                  <a:lnTo>
                    <a:pt x="46018" y="383846"/>
                  </a:lnTo>
                  <a:lnTo>
                    <a:pt x="0" y="240709"/>
                  </a:lnTo>
                  <a:lnTo>
                    <a:pt x="46018" y="286512"/>
                  </a:lnTo>
                  <a:close/>
                </a:path>
              </a:pathLst>
            </a:custGeom>
            <a:ln w="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548245" y="2829881"/>
            <a:ext cx="3563620" cy="556260"/>
          </a:xfrm>
          <a:prstGeom prst="rect">
            <a:avLst/>
          </a:prstGeom>
          <a:solidFill>
            <a:srgbClr val="CCFF66"/>
          </a:solidFill>
          <a:ln w="17136">
            <a:solidFill>
              <a:srgbClr val="000000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930"/>
              </a:spcBef>
            </a:pPr>
            <a:r>
              <a:rPr sz="2000" b="1" spc="-30" dirty="0">
                <a:latin typeface="Times New Roman"/>
                <a:cs typeface="Times New Roman"/>
              </a:rPr>
              <a:t>L4</a:t>
            </a:r>
            <a:r>
              <a:rPr sz="2000" spc="-45" dirty="0">
                <a:latin typeface="宋体"/>
                <a:cs typeface="宋体"/>
              </a:rPr>
              <a:t>：汇编语言虚拟机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307765" y="3380750"/>
            <a:ext cx="103505" cy="389890"/>
            <a:chOff x="9307765" y="3380750"/>
            <a:chExt cx="103505" cy="389890"/>
          </a:xfrm>
        </p:grpSpPr>
        <p:sp>
          <p:nvSpPr>
            <p:cNvPr id="14" name="object 14"/>
            <p:cNvSpPr/>
            <p:nvPr/>
          </p:nvSpPr>
          <p:spPr>
            <a:xfrm>
              <a:off x="9310719" y="3383703"/>
              <a:ext cx="97790" cy="384175"/>
            </a:xfrm>
            <a:custGeom>
              <a:avLst/>
              <a:gdLst/>
              <a:ahLst/>
              <a:cxnLst/>
              <a:rect l="l" t="t" r="r" b="b"/>
              <a:pathLst>
                <a:path w="97790" h="384175">
                  <a:moveTo>
                    <a:pt x="0" y="240709"/>
                  </a:moveTo>
                  <a:lnTo>
                    <a:pt x="46018" y="383607"/>
                  </a:lnTo>
                  <a:lnTo>
                    <a:pt x="74689" y="303689"/>
                  </a:lnTo>
                  <a:lnTo>
                    <a:pt x="46018" y="303689"/>
                  </a:lnTo>
                  <a:lnTo>
                    <a:pt x="46018" y="297725"/>
                  </a:lnTo>
                  <a:lnTo>
                    <a:pt x="40057" y="297725"/>
                  </a:lnTo>
                  <a:lnTo>
                    <a:pt x="34096" y="291761"/>
                  </a:lnTo>
                  <a:lnTo>
                    <a:pt x="34096" y="274646"/>
                  </a:lnTo>
                  <a:lnTo>
                    <a:pt x="0" y="240709"/>
                  </a:lnTo>
                  <a:close/>
                </a:path>
                <a:path w="97790" h="384175">
                  <a:moveTo>
                    <a:pt x="51264" y="297725"/>
                  </a:moveTo>
                  <a:lnTo>
                    <a:pt x="46018" y="297725"/>
                  </a:lnTo>
                  <a:lnTo>
                    <a:pt x="46018" y="303689"/>
                  </a:lnTo>
                  <a:lnTo>
                    <a:pt x="51264" y="297725"/>
                  </a:lnTo>
                  <a:close/>
                </a:path>
                <a:path w="97790" h="384175">
                  <a:moveTo>
                    <a:pt x="97283" y="240709"/>
                  </a:moveTo>
                  <a:lnTo>
                    <a:pt x="57225" y="276499"/>
                  </a:lnTo>
                  <a:lnTo>
                    <a:pt x="57225" y="297725"/>
                  </a:lnTo>
                  <a:lnTo>
                    <a:pt x="51264" y="297725"/>
                  </a:lnTo>
                  <a:lnTo>
                    <a:pt x="46018" y="303689"/>
                  </a:lnTo>
                  <a:lnTo>
                    <a:pt x="74689" y="303689"/>
                  </a:lnTo>
                  <a:lnTo>
                    <a:pt x="97283" y="240709"/>
                  </a:lnTo>
                  <a:close/>
                </a:path>
                <a:path w="97790" h="384175">
                  <a:moveTo>
                    <a:pt x="34096" y="274646"/>
                  </a:moveTo>
                  <a:lnTo>
                    <a:pt x="34096" y="291761"/>
                  </a:lnTo>
                  <a:lnTo>
                    <a:pt x="40057" y="297725"/>
                  </a:lnTo>
                  <a:lnTo>
                    <a:pt x="57225" y="297725"/>
                  </a:lnTo>
                  <a:lnTo>
                    <a:pt x="57225" y="286512"/>
                  </a:lnTo>
                  <a:lnTo>
                    <a:pt x="46018" y="286512"/>
                  </a:lnTo>
                  <a:lnTo>
                    <a:pt x="34096" y="274646"/>
                  </a:lnTo>
                  <a:close/>
                </a:path>
                <a:path w="97790" h="384175">
                  <a:moveTo>
                    <a:pt x="51264" y="0"/>
                  </a:moveTo>
                  <a:lnTo>
                    <a:pt x="46018" y="0"/>
                  </a:lnTo>
                  <a:lnTo>
                    <a:pt x="40057" y="5725"/>
                  </a:lnTo>
                  <a:lnTo>
                    <a:pt x="34096" y="5725"/>
                  </a:lnTo>
                  <a:lnTo>
                    <a:pt x="34096" y="274646"/>
                  </a:lnTo>
                  <a:lnTo>
                    <a:pt x="46018" y="286512"/>
                  </a:lnTo>
                  <a:lnTo>
                    <a:pt x="57225" y="276499"/>
                  </a:lnTo>
                  <a:lnTo>
                    <a:pt x="57225" y="5725"/>
                  </a:lnTo>
                  <a:lnTo>
                    <a:pt x="51264" y="0"/>
                  </a:lnTo>
                  <a:close/>
                </a:path>
                <a:path w="97790" h="384175">
                  <a:moveTo>
                    <a:pt x="57225" y="276499"/>
                  </a:moveTo>
                  <a:lnTo>
                    <a:pt x="46018" y="286512"/>
                  </a:lnTo>
                  <a:lnTo>
                    <a:pt x="57225" y="286512"/>
                  </a:lnTo>
                  <a:lnTo>
                    <a:pt x="57225" y="2764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10719" y="3383703"/>
              <a:ext cx="97790" cy="384175"/>
            </a:xfrm>
            <a:custGeom>
              <a:avLst/>
              <a:gdLst/>
              <a:ahLst/>
              <a:cxnLst/>
              <a:rect l="l" t="t" r="r" b="b"/>
              <a:pathLst>
                <a:path w="97790" h="384175">
                  <a:moveTo>
                    <a:pt x="57225" y="11212"/>
                  </a:moveTo>
                  <a:lnTo>
                    <a:pt x="57225" y="286512"/>
                  </a:lnTo>
                  <a:lnTo>
                    <a:pt x="57225" y="291761"/>
                  </a:lnTo>
                  <a:lnTo>
                    <a:pt x="57225" y="297725"/>
                  </a:lnTo>
                  <a:lnTo>
                    <a:pt x="51264" y="297725"/>
                  </a:lnTo>
                  <a:lnTo>
                    <a:pt x="46018" y="303689"/>
                  </a:lnTo>
                  <a:lnTo>
                    <a:pt x="46018" y="297725"/>
                  </a:lnTo>
                  <a:lnTo>
                    <a:pt x="40057" y="297725"/>
                  </a:lnTo>
                  <a:lnTo>
                    <a:pt x="34096" y="291761"/>
                  </a:lnTo>
                  <a:lnTo>
                    <a:pt x="34096" y="286512"/>
                  </a:lnTo>
                  <a:lnTo>
                    <a:pt x="34096" y="11212"/>
                  </a:lnTo>
                  <a:lnTo>
                    <a:pt x="34096" y="5725"/>
                  </a:lnTo>
                  <a:lnTo>
                    <a:pt x="40057" y="5725"/>
                  </a:lnTo>
                  <a:lnTo>
                    <a:pt x="46018" y="0"/>
                  </a:lnTo>
                  <a:lnTo>
                    <a:pt x="51264" y="0"/>
                  </a:lnTo>
                  <a:lnTo>
                    <a:pt x="57225" y="5725"/>
                  </a:lnTo>
                  <a:lnTo>
                    <a:pt x="57225" y="11212"/>
                  </a:lnTo>
                  <a:close/>
                </a:path>
                <a:path w="97790" h="384175">
                  <a:moveTo>
                    <a:pt x="46018" y="286512"/>
                  </a:moveTo>
                  <a:lnTo>
                    <a:pt x="97283" y="240709"/>
                  </a:lnTo>
                  <a:lnTo>
                    <a:pt x="46018" y="383607"/>
                  </a:lnTo>
                  <a:lnTo>
                    <a:pt x="0" y="240709"/>
                  </a:lnTo>
                  <a:lnTo>
                    <a:pt x="46018" y="286512"/>
                  </a:lnTo>
                  <a:close/>
                </a:path>
              </a:pathLst>
            </a:custGeom>
            <a:ln w="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548245" y="3757959"/>
            <a:ext cx="3563620" cy="561975"/>
          </a:xfrm>
          <a:prstGeom prst="rect">
            <a:avLst/>
          </a:prstGeom>
          <a:solidFill>
            <a:srgbClr val="CCFF66"/>
          </a:solidFill>
          <a:ln w="17136">
            <a:solidFill>
              <a:srgbClr val="000000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980"/>
              </a:spcBef>
            </a:pPr>
            <a:r>
              <a:rPr sz="2000" b="1" spc="-30" dirty="0">
                <a:latin typeface="Times New Roman"/>
                <a:cs typeface="Times New Roman"/>
              </a:rPr>
              <a:t>L3</a:t>
            </a:r>
            <a:r>
              <a:rPr sz="2000" spc="-45" dirty="0">
                <a:latin typeface="宋体"/>
                <a:cs typeface="宋体"/>
              </a:rPr>
              <a:t>：操作系统虚拟机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307544" y="4313949"/>
            <a:ext cx="104139" cy="391160"/>
            <a:chOff x="9307544" y="4313949"/>
            <a:chExt cx="104139" cy="391160"/>
          </a:xfrm>
        </p:grpSpPr>
        <p:sp>
          <p:nvSpPr>
            <p:cNvPr id="18" name="object 18"/>
            <p:cNvSpPr/>
            <p:nvPr/>
          </p:nvSpPr>
          <p:spPr>
            <a:xfrm>
              <a:off x="9310719" y="4317124"/>
              <a:ext cx="97790" cy="384810"/>
            </a:xfrm>
            <a:custGeom>
              <a:avLst/>
              <a:gdLst/>
              <a:ahLst/>
              <a:cxnLst/>
              <a:rect l="l" t="t" r="r" b="b"/>
              <a:pathLst>
                <a:path w="97790" h="384810">
                  <a:moveTo>
                    <a:pt x="0" y="240709"/>
                  </a:moveTo>
                  <a:lnTo>
                    <a:pt x="46018" y="384323"/>
                  </a:lnTo>
                  <a:lnTo>
                    <a:pt x="76692" y="298393"/>
                  </a:lnTo>
                  <a:lnTo>
                    <a:pt x="46018" y="298393"/>
                  </a:lnTo>
                  <a:lnTo>
                    <a:pt x="40057" y="292524"/>
                  </a:lnTo>
                  <a:lnTo>
                    <a:pt x="34096" y="292524"/>
                  </a:lnTo>
                  <a:lnTo>
                    <a:pt x="34096" y="274734"/>
                  </a:lnTo>
                  <a:lnTo>
                    <a:pt x="0" y="240709"/>
                  </a:lnTo>
                  <a:close/>
                </a:path>
                <a:path w="97790" h="384810">
                  <a:moveTo>
                    <a:pt x="34096" y="274734"/>
                  </a:moveTo>
                  <a:lnTo>
                    <a:pt x="34096" y="292524"/>
                  </a:lnTo>
                  <a:lnTo>
                    <a:pt x="40057" y="292524"/>
                  </a:lnTo>
                  <a:lnTo>
                    <a:pt x="46018" y="298393"/>
                  </a:lnTo>
                  <a:lnTo>
                    <a:pt x="51264" y="298393"/>
                  </a:lnTo>
                  <a:lnTo>
                    <a:pt x="57225" y="292524"/>
                  </a:lnTo>
                  <a:lnTo>
                    <a:pt x="57225" y="286632"/>
                  </a:lnTo>
                  <a:lnTo>
                    <a:pt x="46018" y="286632"/>
                  </a:lnTo>
                  <a:lnTo>
                    <a:pt x="34096" y="274734"/>
                  </a:lnTo>
                  <a:close/>
                </a:path>
                <a:path w="97790" h="384810">
                  <a:moveTo>
                    <a:pt x="97283" y="240709"/>
                  </a:moveTo>
                  <a:lnTo>
                    <a:pt x="57225" y="276593"/>
                  </a:lnTo>
                  <a:lnTo>
                    <a:pt x="57225" y="292524"/>
                  </a:lnTo>
                  <a:lnTo>
                    <a:pt x="51264" y="298393"/>
                  </a:lnTo>
                  <a:lnTo>
                    <a:pt x="76692" y="298393"/>
                  </a:lnTo>
                  <a:lnTo>
                    <a:pt x="97283" y="240709"/>
                  </a:lnTo>
                  <a:close/>
                </a:path>
                <a:path w="97790" h="384810">
                  <a:moveTo>
                    <a:pt x="57225" y="0"/>
                  </a:moveTo>
                  <a:lnTo>
                    <a:pt x="40057" y="0"/>
                  </a:lnTo>
                  <a:lnTo>
                    <a:pt x="34096" y="5868"/>
                  </a:lnTo>
                  <a:lnTo>
                    <a:pt x="34096" y="274734"/>
                  </a:lnTo>
                  <a:lnTo>
                    <a:pt x="46018" y="286632"/>
                  </a:lnTo>
                  <a:lnTo>
                    <a:pt x="57225" y="276593"/>
                  </a:lnTo>
                  <a:lnTo>
                    <a:pt x="57225" y="0"/>
                  </a:lnTo>
                  <a:close/>
                </a:path>
                <a:path w="97790" h="384810">
                  <a:moveTo>
                    <a:pt x="57225" y="276593"/>
                  </a:moveTo>
                  <a:lnTo>
                    <a:pt x="46018" y="286632"/>
                  </a:lnTo>
                  <a:lnTo>
                    <a:pt x="57225" y="286632"/>
                  </a:lnTo>
                  <a:lnTo>
                    <a:pt x="57225" y="2765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310719" y="4317124"/>
              <a:ext cx="97790" cy="384810"/>
            </a:xfrm>
            <a:custGeom>
              <a:avLst/>
              <a:gdLst/>
              <a:ahLst/>
              <a:cxnLst/>
              <a:rect l="l" t="t" r="r" b="b"/>
              <a:pathLst>
                <a:path w="97790" h="384810">
                  <a:moveTo>
                    <a:pt x="57225" y="11761"/>
                  </a:moveTo>
                  <a:lnTo>
                    <a:pt x="57225" y="286632"/>
                  </a:lnTo>
                  <a:lnTo>
                    <a:pt x="57225" y="292524"/>
                  </a:lnTo>
                  <a:lnTo>
                    <a:pt x="51264" y="298393"/>
                  </a:lnTo>
                  <a:lnTo>
                    <a:pt x="46018" y="298393"/>
                  </a:lnTo>
                  <a:lnTo>
                    <a:pt x="40057" y="292524"/>
                  </a:lnTo>
                  <a:lnTo>
                    <a:pt x="34096" y="292524"/>
                  </a:lnTo>
                  <a:lnTo>
                    <a:pt x="34096" y="286632"/>
                  </a:lnTo>
                  <a:lnTo>
                    <a:pt x="34096" y="11761"/>
                  </a:lnTo>
                  <a:lnTo>
                    <a:pt x="34096" y="5868"/>
                  </a:lnTo>
                  <a:lnTo>
                    <a:pt x="40057" y="0"/>
                  </a:lnTo>
                  <a:lnTo>
                    <a:pt x="46018" y="0"/>
                  </a:lnTo>
                  <a:lnTo>
                    <a:pt x="51264" y="0"/>
                  </a:lnTo>
                  <a:lnTo>
                    <a:pt x="57225" y="0"/>
                  </a:lnTo>
                  <a:lnTo>
                    <a:pt x="57225" y="5868"/>
                  </a:lnTo>
                  <a:lnTo>
                    <a:pt x="57225" y="11761"/>
                  </a:lnTo>
                  <a:close/>
                </a:path>
                <a:path w="97790" h="384810">
                  <a:moveTo>
                    <a:pt x="46018" y="286632"/>
                  </a:moveTo>
                  <a:lnTo>
                    <a:pt x="97283" y="240709"/>
                  </a:lnTo>
                  <a:lnTo>
                    <a:pt x="46018" y="384323"/>
                  </a:lnTo>
                  <a:lnTo>
                    <a:pt x="0" y="240709"/>
                  </a:lnTo>
                  <a:lnTo>
                    <a:pt x="46018" y="286632"/>
                  </a:lnTo>
                  <a:close/>
                </a:path>
              </a:pathLst>
            </a:custGeom>
            <a:ln w="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548245" y="4692048"/>
            <a:ext cx="3563620" cy="555625"/>
          </a:xfrm>
          <a:prstGeom prst="rect">
            <a:avLst/>
          </a:prstGeom>
          <a:solidFill>
            <a:srgbClr val="FFCC00"/>
          </a:solidFill>
          <a:ln w="17136">
            <a:solidFill>
              <a:srgbClr val="000000"/>
            </a:solidFill>
          </a:ln>
        </p:spPr>
        <p:txBody>
          <a:bodyPr vert="horz" wrap="square" lIns="0" tIns="11811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930"/>
              </a:spcBef>
            </a:pPr>
            <a:r>
              <a:rPr sz="2000" b="1" spc="-30" dirty="0">
                <a:latin typeface="Times New Roman"/>
                <a:cs typeface="Times New Roman"/>
              </a:rPr>
              <a:t>L2</a:t>
            </a:r>
            <a:r>
              <a:rPr sz="2000" spc="-45" dirty="0">
                <a:latin typeface="宋体"/>
                <a:cs typeface="宋体"/>
              </a:rPr>
              <a:t>：传统机器语言机器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307765" y="5242344"/>
            <a:ext cx="103505" cy="389890"/>
            <a:chOff x="9307765" y="5242344"/>
            <a:chExt cx="103505" cy="389890"/>
          </a:xfrm>
        </p:grpSpPr>
        <p:sp>
          <p:nvSpPr>
            <p:cNvPr id="22" name="object 22"/>
            <p:cNvSpPr/>
            <p:nvPr/>
          </p:nvSpPr>
          <p:spPr>
            <a:xfrm>
              <a:off x="9310719" y="5245297"/>
              <a:ext cx="97790" cy="384175"/>
            </a:xfrm>
            <a:custGeom>
              <a:avLst/>
              <a:gdLst/>
              <a:ahLst/>
              <a:cxnLst/>
              <a:rect l="l" t="t" r="r" b="b"/>
              <a:pathLst>
                <a:path w="97790" h="384175">
                  <a:moveTo>
                    <a:pt x="0" y="240732"/>
                  </a:moveTo>
                  <a:lnTo>
                    <a:pt x="46018" y="383750"/>
                  </a:lnTo>
                  <a:lnTo>
                    <a:pt x="74708" y="303713"/>
                  </a:lnTo>
                  <a:lnTo>
                    <a:pt x="46018" y="303713"/>
                  </a:lnTo>
                  <a:lnTo>
                    <a:pt x="46018" y="297820"/>
                  </a:lnTo>
                  <a:lnTo>
                    <a:pt x="40057" y="297820"/>
                  </a:lnTo>
                  <a:lnTo>
                    <a:pt x="34096" y="292524"/>
                  </a:lnTo>
                  <a:lnTo>
                    <a:pt x="34096" y="274741"/>
                  </a:lnTo>
                  <a:lnTo>
                    <a:pt x="0" y="240732"/>
                  </a:lnTo>
                  <a:close/>
                </a:path>
                <a:path w="97790" h="384175">
                  <a:moveTo>
                    <a:pt x="51264" y="297820"/>
                  </a:moveTo>
                  <a:lnTo>
                    <a:pt x="46018" y="297820"/>
                  </a:lnTo>
                  <a:lnTo>
                    <a:pt x="46018" y="303713"/>
                  </a:lnTo>
                  <a:lnTo>
                    <a:pt x="51264" y="297820"/>
                  </a:lnTo>
                  <a:close/>
                </a:path>
                <a:path w="97790" h="384175">
                  <a:moveTo>
                    <a:pt x="97283" y="240732"/>
                  </a:moveTo>
                  <a:lnTo>
                    <a:pt x="57225" y="276598"/>
                  </a:lnTo>
                  <a:lnTo>
                    <a:pt x="57225" y="297820"/>
                  </a:lnTo>
                  <a:lnTo>
                    <a:pt x="51264" y="297820"/>
                  </a:lnTo>
                  <a:lnTo>
                    <a:pt x="46018" y="303713"/>
                  </a:lnTo>
                  <a:lnTo>
                    <a:pt x="74708" y="303713"/>
                  </a:lnTo>
                  <a:lnTo>
                    <a:pt x="97283" y="240732"/>
                  </a:lnTo>
                  <a:close/>
                </a:path>
                <a:path w="97790" h="384175">
                  <a:moveTo>
                    <a:pt x="34096" y="274741"/>
                  </a:moveTo>
                  <a:lnTo>
                    <a:pt x="34096" y="292524"/>
                  </a:lnTo>
                  <a:lnTo>
                    <a:pt x="40057" y="297820"/>
                  </a:lnTo>
                  <a:lnTo>
                    <a:pt x="57225" y="297820"/>
                  </a:lnTo>
                  <a:lnTo>
                    <a:pt x="57225" y="286632"/>
                  </a:lnTo>
                  <a:lnTo>
                    <a:pt x="46018" y="286632"/>
                  </a:lnTo>
                  <a:lnTo>
                    <a:pt x="34096" y="274741"/>
                  </a:lnTo>
                  <a:close/>
                </a:path>
                <a:path w="97790" h="384175">
                  <a:moveTo>
                    <a:pt x="51264" y="0"/>
                  </a:moveTo>
                  <a:lnTo>
                    <a:pt x="46018" y="0"/>
                  </a:lnTo>
                  <a:lnTo>
                    <a:pt x="40057" y="5892"/>
                  </a:lnTo>
                  <a:lnTo>
                    <a:pt x="34096" y="5892"/>
                  </a:lnTo>
                  <a:lnTo>
                    <a:pt x="34096" y="274741"/>
                  </a:lnTo>
                  <a:lnTo>
                    <a:pt x="46018" y="286632"/>
                  </a:lnTo>
                  <a:lnTo>
                    <a:pt x="57225" y="276598"/>
                  </a:lnTo>
                  <a:lnTo>
                    <a:pt x="57225" y="5892"/>
                  </a:lnTo>
                  <a:lnTo>
                    <a:pt x="51264" y="0"/>
                  </a:lnTo>
                  <a:close/>
                </a:path>
                <a:path w="97790" h="384175">
                  <a:moveTo>
                    <a:pt x="57225" y="276598"/>
                  </a:moveTo>
                  <a:lnTo>
                    <a:pt x="46018" y="286632"/>
                  </a:lnTo>
                  <a:lnTo>
                    <a:pt x="57225" y="286632"/>
                  </a:lnTo>
                  <a:lnTo>
                    <a:pt x="57225" y="2765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310719" y="5245297"/>
              <a:ext cx="97790" cy="384175"/>
            </a:xfrm>
            <a:custGeom>
              <a:avLst/>
              <a:gdLst/>
              <a:ahLst/>
              <a:cxnLst/>
              <a:rect l="l" t="t" r="r" b="b"/>
              <a:pathLst>
                <a:path w="97790" h="384175">
                  <a:moveTo>
                    <a:pt x="57225" y="11784"/>
                  </a:moveTo>
                  <a:lnTo>
                    <a:pt x="57225" y="286632"/>
                  </a:lnTo>
                  <a:lnTo>
                    <a:pt x="57225" y="292524"/>
                  </a:lnTo>
                  <a:lnTo>
                    <a:pt x="57225" y="297820"/>
                  </a:lnTo>
                  <a:lnTo>
                    <a:pt x="51264" y="297820"/>
                  </a:lnTo>
                  <a:lnTo>
                    <a:pt x="46018" y="303713"/>
                  </a:lnTo>
                  <a:lnTo>
                    <a:pt x="46018" y="297820"/>
                  </a:lnTo>
                  <a:lnTo>
                    <a:pt x="40057" y="297820"/>
                  </a:lnTo>
                  <a:lnTo>
                    <a:pt x="34096" y="292524"/>
                  </a:lnTo>
                  <a:lnTo>
                    <a:pt x="34096" y="286632"/>
                  </a:lnTo>
                  <a:lnTo>
                    <a:pt x="34096" y="11784"/>
                  </a:lnTo>
                  <a:lnTo>
                    <a:pt x="34096" y="5892"/>
                  </a:lnTo>
                  <a:lnTo>
                    <a:pt x="40057" y="5892"/>
                  </a:lnTo>
                  <a:lnTo>
                    <a:pt x="46018" y="0"/>
                  </a:lnTo>
                  <a:lnTo>
                    <a:pt x="51264" y="0"/>
                  </a:lnTo>
                  <a:lnTo>
                    <a:pt x="57225" y="5892"/>
                  </a:lnTo>
                  <a:lnTo>
                    <a:pt x="57225" y="11784"/>
                  </a:lnTo>
                  <a:close/>
                </a:path>
                <a:path w="97790" h="384175">
                  <a:moveTo>
                    <a:pt x="46018" y="286632"/>
                  </a:moveTo>
                  <a:lnTo>
                    <a:pt x="97283" y="240732"/>
                  </a:lnTo>
                  <a:lnTo>
                    <a:pt x="46018" y="383750"/>
                  </a:lnTo>
                  <a:lnTo>
                    <a:pt x="0" y="240732"/>
                  </a:lnTo>
                  <a:lnTo>
                    <a:pt x="46018" y="286632"/>
                  </a:lnTo>
                  <a:close/>
                </a:path>
              </a:pathLst>
            </a:custGeom>
            <a:ln w="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548245" y="5620226"/>
            <a:ext cx="3609340" cy="561975"/>
          </a:xfrm>
          <a:prstGeom prst="rect">
            <a:avLst/>
          </a:prstGeom>
          <a:solidFill>
            <a:srgbClr val="FFCC00"/>
          </a:solidFill>
          <a:ln w="17136">
            <a:solidFill>
              <a:srgbClr val="000000"/>
            </a:solidFill>
          </a:ln>
        </p:spPr>
        <p:txBody>
          <a:bodyPr vert="horz" wrap="square" lIns="0" tIns="123825" rIns="0" bIns="0" rtlCol="0">
            <a:spAutoFit/>
          </a:bodyPr>
          <a:lstStyle/>
          <a:p>
            <a:pPr marL="904875">
              <a:lnSpc>
                <a:spcPct val="100000"/>
              </a:lnSpc>
              <a:spcBef>
                <a:spcPts val="975"/>
              </a:spcBef>
            </a:pPr>
            <a:r>
              <a:rPr sz="2000" b="1" spc="-35" dirty="0">
                <a:latin typeface="Times New Roman"/>
                <a:cs typeface="Times New Roman"/>
              </a:rPr>
              <a:t>L1</a:t>
            </a:r>
            <a:r>
              <a:rPr sz="2000" spc="-35" dirty="0">
                <a:latin typeface="宋体"/>
                <a:cs typeface="宋体"/>
              </a:rPr>
              <a:t>：微程序机器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86602" y="3652506"/>
            <a:ext cx="278765" cy="18148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5080" algn="just">
              <a:lnSpc>
                <a:spcPts val="1950"/>
              </a:lnSpc>
              <a:spcBef>
                <a:spcPts val="530"/>
              </a:spcBef>
            </a:pPr>
            <a:r>
              <a:rPr sz="2000" spc="-50" dirty="0">
                <a:solidFill>
                  <a:srgbClr val="FF0000"/>
                </a:solidFill>
                <a:latin typeface="宋体"/>
                <a:cs typeface="宋体"/>
              </a:rPr>
              <a:t>从中间开始设计</a:t>
            </a:r>
            <a:endParaRPr sz="2000">
              <a:latin typeface="宋体"/>
              <a:cs typeface="宋体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93637" y="1209358"/>
            <a:ext cx="4708525" cy="4749800"/>
            <a:chOff x="6993637" y="1209358"/>
            <a:chExt cx="4708525" cy="474980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3637" y="4463653"/>
              <a:ext cx="4708485" cy="2299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208040" y="1212312"/>
              <a:ext cx="92710" cy="3173730"/>
            </a:xfrm>
            <a:custGeom>
              <a:avLst/>
              <a:gdLst/>
              <a:ahLst/>
              <a:cxnLst/>
              <a:rect l="l" t="t" r="r" b="b"/>
              <a:pathLst>
                <a:path w="92709" h="3173729">
                  <a:moveTo>
                    <a:pt x="46066" y="91846"/>
                  </a:moveTo>
                  <a:lnTo>
                    <a:pt x="34836" y="104350"/>
                  </a:lnTo>
                  <a:lnTo>
                    <a:pt x="34836" y="3173661"/>
                  </a:lnTo>
                  <a:lnTo>
                    <a:pt x="51979" y="3173661"/>
                  </a:lnTo>
                  <a:lnTo>
                    <a:pt x="57297" y="3168365"/>
                  </a:lnTo>
                  <a:lnTo>
                    <a:pt x="57297" y="104350"/>
                  </a:lnTo>
                  <a:lnTo>
                    <a:pt x="46066" y="91846"/>
                  </a:lnTo>
                  <a:close/>
                </a:path>
                <a:path w="92709" h="3173729">
                  <a:moveTo>
                    <a:pt x="46066" y="0"/>
                  </a:moveTo>
                  <a:lnTo>
                    <a:pt x="0" y="143137"/>
                  </a:lnTo>
                  <a:lnTo>
                    <a:pt x="34836" y="104350"/>
                  </a:lnTo>
                  <a:lnTo>
                    <a:pt x="34836" y="85882"/>
                  </a:lnTo>
                  <a:lnTo>
                    <a:pt x="40153" y="80156"/>
                  </a:lnTo>
                  <a:lnTo>
                    <a:pt x="71863" y="80156"/>
                  </a:lnTo>
                  <a:lnTo>
                    <a:pt x="46066" y="0"/>
                  </a:lnTo>
                  <a:close/>
                </a:path>
                <a:path w="92709" h="3173729">
                  <a:moveTo>
                    <a:pt x="71863" y="80156"/>
                  </a:moveTo>
                  <a:lnTo>
                    <a:pt x="51979" y="80156"/>
                  </a:lnTo>
                  <a:lnTo>
                    <a:pt x="51979" y="85882"/>
                  </a:lnTo>
                  <a:lnTo>
                    <a:pt x="57297" y="91846"/>
                  </a:lnTo>
                  <a:lnTo>
                    <a:pt x="57297" y="104350"/>
                  </a:lnTo>
                  <a:lnTo>
                    <a:pt x="92133" y="143137"/>
                  </a:lnTo>
                  <a:lnTo>
                    <a:pt x="71863" y="80156"/>
                  </a:lnTo>
                  <a:close/>
                </a:path>
                <a:path w="92709" h="3173729">
                  <a:moveTo>
                    <a:pt x="51979" y="80156"/>
                  </a:moveTo>
                  <a:lnTo>
                    <a:pt x="40153" y="80156"/>
                  </a:lnTo>
                  <a:lnTo>
                    <a:pt x="34836" y="85882"/>
                  </a:lnTo>
                  <a:lnTo>
                    <a:pt x="34836" y="104350"/>
                  </a:lnTo>
                  <a:lnTo>
                    <a:pt x="46066" y="91846"/>
                  </a:lnTo>
                  <a:lnTo>
                    <a:pt x="57297" y="91846"/>
                  </a:lnTo>
                  <a:lnTo>
                    <a:pt x="51979" y="85882"/>
                  </a:lnTo>
                  <a:lnTo>
                    <a:pt x="51979" y="80156"/>
                  </a:lnTo>
                  <a:close/>
                </a:path>
                <a:path w="92709" h="3173729">
                  <a:moveTo>
                    <a:pt x="57297" y="91846"/>
                  </a:moveTo>
                  <a:lnTo>
                    <a:pt x="46066" y="91846"/>
                  </a:lnTo>
                  <a:lnTo>
                    <a:pt x="57297" y="104350"/>
                  </a:lnTo>
                  <a:lnTo>
                    <a:pt x="57297" y="918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208040" y="1212312"/>
              <a:ext cx="92710" cy="3173730"/>
            </a:xfrm>
            <a:custGeom>
              <a:avLst/>
              <a:gdLst/>
              <a:ahLst/>
              <a:cxnLst/>
              <a:rect l="l" t="t" r="r" b="b"/>
              <a:pathLst>
                <a:path w="92709" h="3173729">
                  <a:moveTo>
                    <a:pt x="34836" y="3162472"/>
                  </a:moveTo>
                  <a:lnTo>
                    <a:pt x="34836" y="91846"/>
                  </a:lnTo>
                  <a:lnTo>
                    <a:pt x="34836" y="85882"/>
                  </a:lnTo>
                  <a:lnTo>
                    <a:pt x="40153" y="80156"/>
                  </a:lnTo>
                  <a:lnTo>
                    <a:pt x="46066" y="80156"/>
                  </a:lnTo>
                  <a:lnTo>
                    <a:pt x="51979" y="80156"/>
                  </a:lnTo>
                  <a:lnTo>
                    <a:pt x="51979" y="85882"/>
                  </a:lnTo>
                  <a:lnTo>
                    <a:pt x="57297" y="91846"/>
                  </a:lnTo>
                  <a:lnTo>
                    <a:pt x="57297" y="3162472"/>
                  </a:lnTo>
                  <a:lnTo>
                    <a:pt x="57297" y="3168365"/>
                  </a:lnTo>
                  <a:lnTo>
                    <a:pt x="51979" y="3173661"/>
                  </a:lnTo>
                  <a:lnTo>
                    <a:pt x="46066" y="3173661"/>
                  </a:lnTo>
                  <a:lnTo>
                    <a:pt x="40153" y="3173661"/>
                  </a:lnTo>
                  <a:lnTo>
                    <a:pt x="34836" y="3173661"/>
                  </a:lnTo>
                  <a:lnTo>
                    <a:pt x="34836" y="3168365"/>
                  </a:lnTo>
                  <a:lnTo>
                    <a:pt x="34836" y="3162472"/>
                  </a:lnTo>
                  <a:close/>
                </a:path>
                <a:path w="92709" h="3173729">
                  <a:moveTo>
                    <a:pt x="46066" y="91846"/>
                  </a:moveTo>
                  <a:lnTo>
                    <a:pt x="0" y="143137"/>
                  </a:lnTo>
                  <a:lnTo>
                    <a:pt x="46066" y="0"/>
                  </a:lnTo>
                  <a:lnTo>
                    <a:pt x="92133" y="143137"/>
                  </a:lnTo>
                  <a:lnTo>
                    <a:pt x="46066" y="91846"/>
                  </a:lnTo>
                  <a:close/>
                </a:path>
              </a:pathLst>
            </a:custGeom>
            <a:ln w="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64930" y="4377146"/>
              <a:ext cx="177800" cy="189230"/>
            </a:xfrm>
            <a:custGeom>
              <a:avLst/>
              <a:gdLst/>
              <a:ahLst/>
              <a:cxnLst/>
              <a:rect l="l" t="t" r="r" b="b"/>
              <a:pathLst>
                <a:path w="177800" h="189229">
                  <a:moveTo>
                    <a:pt x="0" y="188941"/>
                  </a:moveTo>
                  <a:lnTo>
                    <a:pt x="177184" y="188941"/>
                  </a:lnTo>
                </a:path>
                <a:path w="177800" h="189229">
                  <a:moveTo>
                    <a:pt x="0" y="0"/>
                  </a:moveTo>
                  <a:lnTo>
                    <a:pt x="177184" y="0"/>
                  </a:lnTo>
                </a:path>
              </a:pathLst>
            </a:custGeom>
            <a:ln w="171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96809" y="4557834"/>
              <a:ext cx="97790" cy="1398270"/>
            </a:xfrm>
            <a:custGeom>
              <a:avLst/>
              <a:gdLst/>
              <a:ahLst/>
              <a:cxnLst/>
              <a:rect l="l" t="t" r="r" b="b"/>
              <a:pathLst>
                <a:path w="97790" h="1398270">
                  <a:moveTo>
                    <a:pt x="0" y="1254859"/>
                  </a:moveTo>
                  <a:lnTo>
                    <a:pt x="51383" y="1397877"/>
                  </a:lnTo>
                  <a:lnTo>
                    <a:pt x="77164" y="1317840"/>
                  </a:lnTo>
                  <a:lnTo>
                    <a:pt x="46066" y="1317840"/>
                  </a:lnTo>
                  <a:lnTo>
                    <a:pt x="40177" y="1311947"/>
                  </a:lnTo>
                  <a:lnTo>
                    <a:pt x="40177" y="1295355"/>
                  </a:lnTo>
                  <a:lnTo>
                    <a:pt x="0" y="1254859"/>
                  </a:lnTo>
                  <a:close/>
                </a:path>
                <a:path w="97790" h="1398270">
                  <a:moveTo>
                    <a:pt x="40177" y="1295355"/>
                  </a:moveTo>
                  <a:lnTo>
                    <a:pt x="40177" y="1311947"/>
                  </a:lnTo>
                  <a:lnTo>
                    <a:pt x="46066" y="1317840"/>
                  </a:lnTo>
                  <a:lnTo>
                    <a:pt x="51383" y="1317840"/>
                  </a:lnTo>
                  <a:lnTo>
                    <a:pt x="57297" y="1311947"/>
                  </a:lnTo>
                  <a:lnTo>
                    <a:pt x="63210" y="1311947"/>
                  </a:lnTo>
                  <a:lnTo>
                    <a:pt x="63210" y="1306651"/>
                  </a:lnTo>
                  <a:lnTo>
                    <a:pt x="51383" y="1306651"/>
                  </a:lnTo>
                  <a:lnTo>
                    <a:pt x="40177" y="1295355"/>
                  </a:lnTo>
                  <a:close/>
                </a:path>
                <a:path w="97790" h="1398270">
                  <a:moveTo>
                    <a:pt x="97450" y="1254859"/>
                  </a:moveTo>
                  <a:lnTo>
                    <a:pt x="63210" y="1293355"/>
                  </a:lnTo>
                  <a:lnTo>
                    <a:pt x="63210" y="1311947"/>
                  </a:lnTo>
                  <a:lnTo>
                    <a:pt x="57297" y="1311947"/>
                  </a:lnTo>
                  <a:lnTo>
                    <a:pt x="51383" y="1317840"/>
                  </a:lnTo>
                  <a:lnTo>
                    <a:pt x="77164" y="1317840"/>
                  </a:lnTo>
                  <a:lnTo>
                    <a:pt x="97450" y="1254859"/>
                  </a:lnTo>
                  <a:close/>
                </a:path>
                <a:path w="97790" h="1398270">
                  <a:moveTo>
                    <a:pt x="51383" y="0"/>
                  </a:moveTo>
                  <a:lnTo>
                    <a:pt x="46066" y="0"/>
                  </a:lnTo>
                  <a:lnTo>
                    <a:pt x="40177" y="5892"/>
                  </a:lnTo>
                  <a:lnTo>
                    <a:pt x="40177" y="1295355"/>
                  </a:lnTo>
                  <a:lnTo>
                    <a:pt x="51383" y="1306651"/>
                  </a:lnTo>
                  <a:lnTo>
                    <a:pt x="63210" y="1293355"/>
                  </a:lnTo>
                  <a:lnTo>
                    <a:pt x="63210" y="5892"/>
                  </a:lnTo>
                  <a:lnTo>
                    <a:pt x="57297" y="5892"/>
                  </a:lnTo>
                  <a:lnTo>
                    <a:pt x="51383" y="0"/>
                  </a:lnTo>
                  <a:close/>
                </a:path>
                <a:path w="97790" h="1398270">
                  <a:moveTo>
                    <a:pt x="63210" y="1293355"/>
                  </a:moveTo>
                  <a:lnTo>
                    <a:pt x="51383" y="1306651"/>
                  </a:lnTo>
                  <a:lnTo>
                    <a:pt x="63210" y="1306651"/>
                  </a:lnTo>
                  <a:lnTo>
                    <a:pt x="63210" y="12933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96809" y="4557833"/>
              <a:ext cx="97790" cy="1398270"/>
            </a:xfrm>
            <a:custGeom>
              <a:avLst/>
              <a:gdLst/>
              <a:ahLst/>
              <a:cxnLst/>
              <a:rect l="l" t="t" r="r" b="b"/>
              <a:pathLst>
                <a:path w="97790" h="1398270">
                  <a:moveTo>
                    <a:pt x="63210" y="11784"/>
                  </a:moveTo>
                  <a:lnTo>
                    <a:pt x="63210" y="1306651"/>
                  </a:lnTo>
                  <a:lnTo>
                    <a:pt x="63210" y="1311947"/>
                  </a:lnTo>
                  <a:lnTo>
                    <a:pt x="57297" y="1311947"/>
                  </a:lnTo>
                  <a:lnTo>
                    <a:pt x="51383" y="1317840"/>
                  </a:lnTo>
                  <a:lnTo>
                    <a:pt x="46066" y="1317840"/>
                  </a:lnTo>
                  <a:lnTo>
                    <a:pt x="40177" y="1311947"/>
                  </a:lnTo>
                  <a:lnTo>
                    <a:pt x="40177" y="1306651"/>
                  </a:lnTo>
                  <a:lnTo>
                    <a:pt x="40177" y="11784"/>
                  </a:lnTo>
                  <a:lnTo>
                    <a:pt x="40177" y="5892"/>
                  </a:lnTo>
                  <a:lnTo>
                    <a:pt x="46066" y="0"/>
                  </a:lnTo>
                  <a:lnTo>
                    <a:pt x="51383" y="0"/>
                  </a:lnTo>
                  <a:lnTo>
                    <a:pt x="57297" y="5892"/>
                  </a:lnTo>
                  <a:lnTo>
                    <a:pt x="63210" y="5892"/>
                  </a:lnTo>
                  <a:lnTo>
                    <a:pt x="63210" y="11784"/>
                  </a:lnTo>
                  <a:close/>
                </a:path>
                <a:path w="97790" h="1398270">
                  <a:moveTo>
                    <a:pt x="51383" y="1306651"/>
                  </a:moveTo>
                  <a:lnTo>
                    <a:pt x="97450" y="1254859"/>
                  </a:lnTo>
                  <a:lnTo>
                    <a:pt x="51383" y="1397877"/>
                  </a:lnTo>
                  <a:lnTo>
                    <a:pt x="0" y="1254859"/>
                  </a:lnTo>
                  <a:lnTo>
                    <a:pt x="51383" y="1306651"/>
                  </a:lnTo>
                  <a:close/>
                </a:path>
              </a:pathLst>
            </a:custGeom>
            <a:ln w="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1769206" y="4305903"/>
            <a:ext cx="46291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25" dirty="0">
                <a:solidFill>
                  <a:srgbClr val="FF0000"/>
                </a:solidFill>
                <a:latin typeface="宋体"/>
                <a:cs typeface="宋体"/>
              </a:rPr>
              <a:t>软硬</a:t>
            </a:r>
            <a:endParaRPr sz="17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0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1.3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计算机系统的性能评</a:t>
            </a:r>
            <a:r>
              <a:rPr spc="-50" dirty="0"/>
              <a:t>测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662" y="1362202"/>
            <a:ext cx="10781030" cy="3525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Wingdings"/>
              <a:buChar char=""/>
              <a:tabLst>
                <a:tab pos="469900" algn="l"/>
              </a:tabLst>
            </a:pPr>
            <a:r>
              <a:rPr sz="2800" b="1" spc="-40" dirty="0">
                <a:solidFill>
                  <a:srgbClr val="0071A9"/>
                </a:solidFill>
                <a:latin typeface="微软雅黑"/>
                <a:cs typeface="微软雅黑"/>
              </a:rPr>
              <a:t>评测标准</a:t>
            </a:r>
            <a:endParaRPr sz="2800">
              <a:latin typeface="微软雅黑"/>
              <a:cs typeface="微软雅黑"/>
            </a:endParaRPr>
          </a:p>
          <a:p>
            <a:pPr marL="708660" lvl="1" indent="-243204">
              <a:lnSpc>
                <a:spcPct val="100000"/>
              </a:lnSpc>
              <a:spcBef>
                <a:spcPts val="2045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708660" algn="l"/>
              </a:tabLst>
            </a:pPr>
            <a:r>
              <a:rPr sz="2400" spc="-10" dirty="0">
                <a:latin typeface="微软雅黑"/>
                <a:cs typeface="微软雅黑"/>
              </a:rPr>
              <a:t>不能只看单个指标，用程序说话</a:t>
            </a:r>
            <a:r>
              <a:rPr sz="2400" dirty="0">
                <a:latin typeface="Times New Roman"/>
                <a:cs typeface="Times New Roman"/>
              </a:rPr>
              <a:t>-----</a:t>
            </a:r>
            <a:r>
              <a:rPr sz="2400" spc="-10" dirty="0">
                <a:latin typeface="微软雅黑"/>
                <a:cs typeface="微软雅黑"/>
              </a:rPr>
              <a:t>真实的应用程序（序列基准程序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708660" lvl="1" indent="-243204">
              <a:lnSpc>
                <a:spcPct val="100000"/>
              </a:lnSpc>
              <a:spcBef>
                <a:spcPts val="1935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708660" algn="l"/>
              </a:tabLst>
            </a:pPr>
            <a:r>
              <a:rPr sz="2400" spc="-5" dirty="0">
                <a:latin typeface="微软雅黑"/>
                <a:cs typeface="微软雅黑"/>
              </a:rPr>
              <a:t>计算机系列不同，侧重不同，测试程序也不同</a:t>
            </a:r>
            <a:endParaRPr sz="2400">
              <a:latin typeface="微软雅黑"/>
              <a:cs typeface="微软雅黑"/>
            </a:endParaRPr>
          </a:p>
          <a:p>
            <a:pPr marL="708660" lvl="1" indent="-243204">
              <a:lnSpc>
                <a:spcPct val="100000"/>
              </a:lnSpc>
              <a:spcBef>
                <a:spcPts val="1939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708660" algn="l"/>
              </a:tabLst>
            </a:pPr>
            <a:r>
              <a:rPr sz="2400" spc="-15" dirty="0">
                <a:latin typeface="微软雅黑"/>
                <a:cs typeface="微软雅黑"/>
              </a:rPr>
              <a:t>对测序程序要求：典型，评价全面，但可能不会专注细节</a:t>
            </a:r>
            <a:endParaRPr sz="2400">
              <a:latin typeface="微软雅黑"/>
              <a:cs typeface="微软雅黑"/>
            </a:endParaRPr>
          </a:p>
          <a:p>
            <a:pPr marL="708660" lvl="1" indent="-243204">
              <a:lnSpc>
                <a:spcPct val="100000"/>
              </a:lnSpc>
              <a:spcBef>
                <a:spcPts val="1950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708660" algn="l"/>
              </a:tabLst>
            </a:pPr>
            <a:r>
              <a:rPr sz="2400" spc="-5" dirty="0">
                <a:latin typeface="微软雅黑"/>
                <a:cs typeface="微软雅黑"/>
              </a:rPr>
              <a:t>不同测试程序测试，需要总体如何量化，例如平均？归一化？取值范围？等</a:t>
            </a:r>
            <a:endParaRPr sz="2400">
              <a:latin typeface="微软雅黑"/>
              <a:cs typeface="微软雅黑"/>
            </a:endParaRPr>
          </a:p>
          <a:p>
            <a:pPr marL="708660" lvl="1" indent="-243204">
              <a:lnSpc>
                <a:spcPct val="100000"/>
              </a:lnSpc>
              <a:spcBef>
                <a:spcPts val="1930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708660" algn="l"/>
              </a:tabLst>
            </a:pPr>
            <a:r>
              <a:rPr sz="2400" spc="-5" dirty="0">
                <a:latin typeface="微软雅黑"/>
                <a:cs typeface="微软雅黑"/>
              </a:rPr>
              <a:t>完备的测序文档：详细，操作可复盘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93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z="3000" spc="26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Times New Roman"/>
                <a:cs typeface="Times New Roman"/>
              </a:rPr>
              <a:t>1.3</a:t>
            </a:r>
            <a:r>
              <a:rPr sz="3000" spc="10" dirty="0">
                <a:latin typeface="Times New Roman"/>
                <a:cs typeface="Times New Roman"/>
              </a:rPr>
              <a:t> </a:t>
            </a:r>
            <a:r>
              <a:rPr sz="3000" dirty="0"/>
              <a:t>计</a:t>
            </a:r>
            <a:r>
              <a:rPr sz="3000" spc="-15" dirty="0"/>
              <a:t>算</a:t>
            </a:r>
            <a:r>
              <a:rPr sz="3000" dirty="0"/>
              <a:t>机系统的性能评测（注重三个方面</a:t>
            </a:r>
            <a:r>
              <a:rPr sz="3000" spc="-50" dirty="0"/>
              <a:t>）</a:t>
            </a:r>
            <a:r>
              <a:rPr sz="3000" dirty="0"/>
              <a:t>	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3567" y="1246310"/>
            <a:ext cx="10561955" cy="269684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4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1</a:t>
            </a:r>
            <a:r>
              <a:rPr sz="2800" spc="-40" dirty="0">
                <a:latin typeface="微软雅黑"/>
                <a:cs typeface="微软雅黑"/>
              </a:rPr>
              <a:t>、执行时间和吞吐率</a:t>
            </a:r>
            <a:endParaRPr sz="2800">
              <a:latin typeface="微软雅黑"/>
              <a:cs typeface="微软雅黑"/>
            </a:endParaRPr>
          </a:p>
          <a:p>
            <a:pPr marL="1099185">
              <a:lnSpc>
                <a:spcPct val="100000"/>
              </a:lnSpc>
              <a:spcBef>
                <a:spcPts val="1240"/>
              </a:spcBef>
            </a:pPr>
            <a:r>
              <a:rPr sz="2400" spc="-5" dirty="0">
                <a:latin typeface="微软雅黑"/>
                <a:cs typeface="微软雅黑"/>
              </a:rPr>
              <a:t>如何评测一台计算机的性能，与测试者看问题的角度有关。</a:t>
            </a:r>
            <a:endParaRPr sz="24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32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10" dirty="0">
                <a:solidFill>
                  <a:srgbClr val="D50092"/>
                </a:solidFill>
                <a:latin typeface="微软雅黑"/>
                <a:cs typeface="微软雅黑"/>
              </a:rPr>
              <a:t>用户关心的是：</a:t>
            </a:r>
            <a:r>
              <a:rPr sz="2400" spc="-10" dirty="0">
                <a:latin typeface="微软雅黑"/>
                <a:cs typeface="微软雅黑"/>
              </a:rPr>
              <a:t>单个程序的执行时间（执行单个程序所花的时间很少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1099185" marR="5080" lvl="1" indent="-457200">
              <a:lnSpc>
                <a:spcPct val="128800"/>
              </a:lnSpc>
              <a:spcBef>
                <a:spcPts val="49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solidFill>
                  <a:srgbClr val="D50092"/>
                </a:solidFill>
                <a:latin typeface="微软雅黑"/>
                <a:cs typeface="微软雅黑"/>
              </a:rPr>
              <a:t>数据处理中心的管理员关心的是：</a:t>
            </a:r>
            <a:r>
              <a:rPr sz="2400" dirty="0">
                <a:latin typeface="微软雅黑"/>
                <a:cs typeface="微软雅黑"/>
              </a:rPr>
              <a:t>吞吐率（</a:t>
            </a:r>
            <a:r>
              <a:rPr sz="2400" spc="-5" dirty="0">
                <a:latin typeface="微软雅黑"/>
                <a:cs typeface="微软雅黑"/>
              </a:rPr>
              <a:t>在单位时间里能够完成的任</a:t>
            </a:r>
            <a:r>
              <a:rPr sz="2400" spc="-30" dirty="0">
                <a:latin typeface="微软雅黑"/>
                <a:cs typeface="微软雅黑"/>
              </a:rPr>
              <a:t>务很多 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1.3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计算机系统的性能评</a:t>
            </a:r>
            <a:r>
              <a:rPr spc="-50" dirty="0"/>
              <a:t>测</a:t>
            </a:r>
            <a:r>
              <a:rPr dirty="0"/>
              <a:t>	</a:t>
            </a:r>
          </a:p>
        </p:txBody>
      </p:sp>
      <p:sp>
        <p:nvSpPr>
          <p:cNvPr id="3" name="object 3"/>
          <p:cNvSpPr/>
          <p:nvPr/>
        </p:nvSpPr>
        <p:spPr>
          <a:xfrm>
            <a:off x="2484501" y="3335401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79">
                <a:moveTo>
                  <a:pt x="0" y="0"/>
                </a:moveTo>
                <a:lnTo>
                  <a:pt x="14397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90802" y="892809"/>
            <a:ext cx="6884034" cy="4070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7365" indent="-456565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507365" algn="l"/>
              </a:tabLst>
            </a:pPr>
            <a:r>
              <a:rPr sz="2400" dirty="0">
                <a:latin typeface="微软雅黑"/>
                <a:cs typeface="微软雅黑"/>
              </a:rPr>
              <a:t>假设两台计算机为</a:t>
            </a:r>
            <a:r>
              <a:rPr sz="2400" spc="-35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微软雅黑"/>
                <a:cs typeface="微软雅黑"/>
              </a:rPr>
              <a:t>和</a:t>
            </a:r>
            <a:r>
              <a:rPr sz="2400" spc="-10" dirty="0">
                <a:latin typeface="Times New Roman"/>
                <a:cs typeface="Times New Roman"/>
              </a:rPr>
              <a:t>Y</a:t>
            </a:r>
            <a:r>
              <a:rPr sz="2400" spc="-10" dirty="0">
                <a:latin typeface="微软雅黑"/>
                <a:cs typeface="微软雅黑"/>
              </a:rPr>
              <a:t>，</a:t>
            </a:r>
            <a:r>
              <a:rPr sz="2400" spc="-10" dirty="0">
                <a:solidFill>
                  <a:srgbClr val="D50092"/>
                </a:solidFill>
                <a:latin typeface="黑体"/>
                <a:cs typeface="黑体"/>
              </a:rPr>
              <a:t>X</a:t>
            </a:r>
            <a:r>
              <a:rPr sz="2400" dirty="0">
                <a:solidFill>
                  <a:srgbClr val="D50092"/>
                </a:solidFill>
                <a:latin typeface="微软雅黑"/>
                <a:cs typeface="微软雅黑"/>
              </a:rPr>
              <a:t>比</a:t>
            </a:r>
            <a:r>
              <a:rPr sz="2400" dirty="0">
                <a:solidFill>
                  <a:srgbClr val="D50092"/>
                </a:solidFill>
                <a:latin typeface="黑体"/>
                <a:cs typeface="黑体"/>
              </a:rPr>
              <a:t>Y</a:t>
            </a:r>
            <a:r>
              <a:rPr sz="2400" dirty="0">
                <a:solidFill>
                  <a:srgbClr val="D50092"/>
                </a:solidFill>
                <a:latin typeface="微软雅黑"/>
                <a:cs typeface="微软雅黑"/>
              </a:rPr>
              <a:t>快</a:t>
            </a:r>
            <a:r>
              <a:rPr sz="2400" spc="-50" dirty="0">
                <a:latin typeface="微软雅黑"/>
                <a:cs typeface="微软雅黑"/>
              </a:rPr>
              <a:t>：</a:t>
            </a:r>
            <a:endParaRPr sz="2400">
              <a:latin typeface="微软雅黑"/>
              <a:cs typeface="微软雅黑"/>
            </a:endParaRPr>
          </a:p>
          <a:p>
            <a:pPr marL="431800">
              <a:lnSpc>
                <a:spcPct val="100000"/>
              </a:lnSpc>
              <a:spcBef>
                <a:spcPts val="1945"/>
              </a:spcBef>
            </a:pPr>
            <a:r>
              <a:rPr sz="2400" dirty="0">
                <a:solidFill>
                  <a:srgbClr val="339933"/>
                </a:solidFill>
                <a:latin typeface="微软雅黑"/>
                <a:cs typeface="微软雅黑"/>
              </a:rPr>
              <a:t>对于给定任务，</a:t>
            </a:r>
            <a:r>
              <a:rPr sz="2400" dirty="0">
                <a:solidFill>
                  <a:srgbClr val="339933"/>
                </a:solidFill>
                <a:latin typeface="黑体"/>
                <a:cs typeface="黑体"/>
              </a:rPr>
              <a:t>X</a:t>
            </a:r>
            <a:r>
              <a:rPr sz="2400" dirty="0">
                <a:solidFill>
                  <a:srgbClr val="339933"/>
                </a:solidFill>
                <a:latin typeface="微软雅黑"/>
                <a:cs typeface="微软雅黑"/>
              </a:rPr>
              <a:t>的执行时间比</a:t>
            </a:r>
            <a:r>
              <a:rPr sz="2400" dirty="0">
                <a:solidFill>
                  <a:srgbClr val="339933"/>
                </a:solidFill>
                <a:latin typeface="黑体"/>
                <a:cs typeface="黑体"/>
              </a:rPr>
              <a:t>Y</a:t>
            </a:r>
            <a:r>
              <a:rPr sz="2400" spc="-10" dirty="0">
                <a:solidFill>
                  <a:srgbClr val="339933"/>
                </a:solidFill>
                <a:latin typeface="微软雅黑"/>
                <a:cs typeface="微软雅黑"/>
              </a:rPr>
              <a:t>的执行时间少。</a:t>
            </a:r>
            <a:endParaRPr sz="2400">
              <a:latin typeface="微软雅黑"/>
              <a:cs typeface="微软雅黑"/>
            </a:endParaRPr>
          </a:p>
          <a:p>
            <a:pPr marL="507365" indent="-456565">
              <a:lnSpc>
                <a:spcPct val="100000"/>
              </a:lnSpc>
              <a:spcBef>
                <a:spcPts val="1930"/>
              </a:spcBef>
              <a:buClr>
                <a:srgbClr val="0000FF"/>
              </a:buClr>
              <a:buFont typeface="Wingdings"/>
              <a:buChar char=""/>
              <a:tabLst>
                <a:tab pos="507365" algn="l"/>
              </a:tabLst>
            </a:pPr>
            <a:r>
              <a:rPr sz="2400" spc="-35" dirty="0">
                <a:latin typeface="Times New Roman"/>
                <a:cs typeface="Times New Roman"/>
              </a:rPr>
              <a:t>X</a:t>
            </a:r>
            <a:r>
              <a:rPr sz="2400" spc="-10" dirty="0">
                <a:latin typeface="微软雅黑"/>
                <a:cs typeface="微软雅黑"/>
              </a:rPr>
              <a:t>的性能是</a:t>
            </a:r>
            <a:r>
              <a:rPr sz="2400" spc="-35" dirty="0">
                <a:latin typeface="Times New Roman"/>
                <a:cs typeface="Times New Roman"/>
              </a:rPr>
              <a:t>Y</a:t>
            </a:r>
            <a:r>
              <a:rPr sz="2400" spc="-10" dirty="0">
                <a:latin typeface="微软雅黑"/>
                <a:cs typeface="微软雅黑"/>
              </a:rPr>
              <a:t>的</a:t>
            </a:r>
            <a:r>
              <a:rPr sz="2400" spc="-10" dirty="0">
                <a:solidFill>
                  <a:srgbClr val="D50092"/>
                </a:solidFill>
                <a:latin typeface="黑体"/>
                <a:cs typeface="黑体"/>
              </a:rPr>
              <a:t>n</a:t>
            </a:r>
            <a:r>
              <a:rPr sz="2400" spc="-30" dirty="0">
                <a:solidFill>
                  <a:srgbClr val="D50092"/>
                </a:solidFill>
                <a:latin typeface="微软雅黑"/>
                <a:cs typeface="微软雅黑"/>
              </a:rPr>
              <a:t>倍：</a:t>
            </a:r>
            <a:endParaRPr sz="2400">
              <a:latin typeface="微软雅黑"/>
              <a:cs typeface="微软雅黑"/>
            </a:endParaRPr>
          </a:p>
          <a:p>
            <a:pPr marL="911860">
              <a:lnSpc>
                <a:spcPct val="100000"/>
              </a:lnSpc>
              <a:spcBef>
                <a:spcPts val="3010"/>
              </a:spcBef>
            </a:pPr>
            <a:r>
              <a:rPr sz="2400" spc="-5" dirty="0">
                <a:latin typeface="黑体"/>
                <a:cs typeface="黑体"/>
              </a:rPr>
              <a:t>执行时间</a:t>
            </a:r>
            <a:r>
              <a:rPr sz="2600" dirty="0">
                <a:latin typeface="Tahoma"/>
                <a:cs typeface="Tahoma"/>
              </a:rPr>
              <a:t>Y</a:t>
            </a:r>
            <a:r>
              <a:rPr sz="2600" spc="360" dirty="0">
                <a:latin typeface="Tahoma"/>
                <a:cs typeface="Tahoma"/>
              </a:rPr>
              <a:t> </a:t>
            </a:r>
            <a:r>
              <a:rPr sz="3900" spc="-37" baseline="-43803" dirty="0">
                <a:latin typeface="Tahoma"/>
                <a:cs typeface="Tahoma"/>
              </a:rPr>
              <a:t>=n</a:t>
            </a:r>
            <a:endParaRPr sz="3900" baseline="-43803">
              <a:latin typeface="Tahoma"/>
              <a:cs typeface="Tahoma"/>
            </a:endParaRPr>
          </a:p>
          <a:p>
            <a:pPr marL="899160">
              <a:lnSpc>
                <a:spcPct val="100000"/>
              </a:lnSpc>
              <a:spcBef>
                <a:spcPts val="990"/>
              </a:spcBef>
            </a:pPr>
            <a:r>
              <a:rPr sz="2400" dirty="0">
                <a:latin typeface="黑体"/>
                <a:cs typeface="黑体"/>
              </a:rPr>
              <a:t>执行时间</a:t>
            </a:r>
            <a:r>
              <a:rPr sz="2400" spc="-50" dirty="0">
                <a:latin typeface="Tahoma"/>
                <a:cs typeface="Tahoma"/>
              </a:rPr>
              <a:t>X</a:t>
            </a:r>
            <a:endParaRPr sz="2400">
              <a:latin typeface="Tahoma"/>
              <a:cs typeface="Tahoma"/>
            </a:endParaRPr>
          </a:p>
          <a:p>
            <a:pPr marL="507365" indent="-456565">
              <a:lnSpc>
                <a:spcPts val="2620"/>
              </a:lnSpc>
              <a:spcBef>
                <a:spcPts val="1585"/>
              </a:spcBef>
              <a:buClr>
                <a:srgbClr val="0000FF"/>
              </a:buClr>
              <a:buFont typeface="Wingdings"/>
              <a:buChar char=""/>
              <a:tabLst>
                <a:tab pos="507365" algn="l"/>
              </a:tabLst>
            </a:pPr>
            <a:r>
              <a:rPr sz="2400" spc="-5" dirty="0">
                <a:latin typeface="微软雅黑"/>
                <a:cs typeface="微软雅黑"/>
              </a:rPr>
              <a:t>执行时间与性能成反比：</a:t>
            </a:r>
            <a:endParaRPr sz="2400">
              <a:latin typeface="微软雅黑"/>
              <a:cs typeface="微软雅黑"/>
            </a:endParaRPr>
          </a:p>
          <a:p>
            <a:pPr marR="624840" algn="ctr">
              <a:lnSpc>
                <a:spcPts val="2315"/>
              </a:lnSpc>
              <a:tabLst>
                <a:tab pos="262890" algn="l"/>
                <a:tab pos="720090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2400">
              <a:latin typeface="Tahoma"/>
              <a:cs typeface="Tahoma"/>
            </a:endParaRPr>
          </a:p>
          <a:p>
            <a:pPr marL="264160">
              <a:lnSpc>
                <a:spcPts val="2815"/>
              </a:lnSpc>
              <a:tabLst>
                <a:tab pos="2740660" algn="l"/>
                <a:tab pos="3713479" algn="l"/>
              </a:tabLst>
            </a:pPr>
            <a:r>
              <a:rPr sz="3900" baseline="-39529" dirty="0">
                <a:latin typeface="Tahoma"/>
                <a:cs typeface="Tahoma"/>
              </a:rPr>
              <a:t>n=</a:t>
            </a:r>
            <a:r>
              <a:rPr sz="3900" spc="569" baseline="-39529" dirty="0">
                <a:latin typeface="Tahoma"/>
                <a:cs typeface="Tahoma"/>
              </a:rPr>
              <a:t> </a:t>
            </a:r>
            <a:r>
              <a:rPr sz="2400" spc="-10" dirty="0">
                <a:latin typeface="黑体"/>
                <a:cs typeface="黑体"/>
              </a:rPr>
              <a:t>执行时</a:t>
            </a:r>
            <a:r>
              <a:rPr sz="2400" dirty="0">
                <a:latin typeface="黑体"/>
                <a:cs typeface="黑体"/>
              </a:rPr>
              <a:t>间</a:t>
            </a:r>
            <a:r>
              <a:rPr sz="2600" dirty="0">
                <a:latin typeface="Tahoma"/>
                <a:cs typeface="Tahoma"/>
              </a:rPr>
              <a:t>Y</a:t>
            </a:r>
            <a:r>
              <a:rPr sz="2600" spc="-120" dirty="0">
                <a:latin typeface="Tahoma"/>
                <a:cs typeface="Tahoma"/>
              </a:rPr>
              <a:t> </a:t>
            </a:r>
            <a:r>
              <a:rPr sz="3900" spc="-75" baseline="-39529" dirty="0">
                <a:latin typeface="Tahoma"/>
                <a:cs typeface="Tahoma"/>
              </a:rPr>
              <a:t>=</a:t>
            </a:r>
            <a:r>
              <a:rPr sz="3900" baseline="-39529" dirty="0">
                <a:latin typeface="Tahoma"/>
                <a:cs typeface="Tahoma"/>
              </a:rPr>
              <a:t>	</a:t>
            </a:r>
            <a:r>
              <a:rPr sz="3600" baseline="-9259" dirty="0">
                <a:latin typeface="黑体"/>
                <a:cs typeface="黑体"/>
              </a:rPr>
              <a:t>性能</a:t>
            </a:r>
            <a:r>
              <a:rPr sz="3600" spc="-75" baseline="-9259" dirty="0">
                <a:latin typeface="Tahoma"/>
                <a:cs typeface="Tahoma"/>
              </a:rPr>
              <a:t>Y</a:t>
            </a:r>
            <a:r>
              <a:rPr sz="3600" baseline="-9259" dirty="0">
                <a:latin typeface="Tahoma"/>
                <a:cs typeface="Tahoma"/>
              </a:rPr>
              <a:t>	</a:t>
            </a:r>
            <a:r>
              <a:rPr sz="3900" baseline="-39529" dirty="0">
                <a:latin typeface="Tahoma"/>
                <a:cs typeface="Tahoma"/>
              </a:rPr>
              <a:t>=</a:t>
            </a:r>
            <a:r>
              <a:rPr sz="3900" spc="277" baseline="-39529" dirty="0">
                <a:latin typeface="Tahoma"/>
                <a:cs typeface="Tahoma"/>
              </a:rPr>
              <a:t> </a:t>
            </a:r>
            <a:r>
              <a:rPr sz="3600" baseline="-3472" dirty="0">
                <a:latin typeface="黑体"/>
                <a:cs typeface="黑体"/>
              </a:rPr>
              <a:t>性能</a:t>
            </a:r>
            <a:r>
              <a:rPr sz="3600" spc="-75" baseline="-3472" dirty="0">
                <a:latin typeface="Tahoma"/>
                <a:cs typeface="Tahoma"/>
              </a:rPr>
              <a:t>X</a:t>
            </a:r>
            <a:endParaRPr sz="3600" baseline="-3472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8969" y="5061966"/>
            <a:ext cx="1422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黑体"/>
                <a:cs typeface="黑体"/>
              </a:rPr>
              <a:t>执行时间</a:t>
            </a:r>
            <a:r>
              <a:rPr sz="2400" spc="-50" dirty="0">
                <a:latin typeface="Tahoma"/>
                <a:cs typeface="Tahoma"/>
              </a:rPr>
              <a:t>X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11476" y="5013325"/>
            <a:ext cx="1440180" cy="0"/>
          </a:xfrm>
          <a:custGeom>
            <a:avLst/>
            <a:gdLst/>
            <a:ahLst/>
            <a:cxnLst/>
            <a:rect l="l" t="t" r="r" b="b"/>
            <a:pathLst>
              <a:path w="1440179">
                <a:moveTo>
                  <a:pt x="0" y="0"/>
                </a:moveTo>
                <a:lnTo>
                  <a:pt x="14397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11701" y="5013325"/>
            <a:ext cx="936625" cy="0"/>
          </a:xfrm>
          <a:custGeom>
            <a:avLst/>
            <a:gdLst/>
            <a:ahLst/>
            <a:cxnLst/>
            <a:rect l="l" t="t" r="r" b="b"/>
            <a:pathLst>
              <a:path w="936625">
                <a:moveTo>
                  <a:pt x="0" y="0"/>
                </a:moveTo>
                <a:lnTo>
                  <a:pt x="936625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33747" y="5017389"/>
            <a:ext cx="812165" cy="723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ts val="2745"/>
              </a:lnSpc>
              <a:spcBef>
                <a:spcPts val="100"/>
              </a:spcBef>
              <a:tabLst>
                <a:tab pos="299720" algn="l"/>
                <a:tab pos="742950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745"/>
              </a:lnSpc>
            </a:pPr>
            <a:r>
              <a:rPr sz="2400" dirty="0">
                <a:latin typeface="黑体"/>
                <a:cs typeface="黑体"/>
              </a:rPr>
              <a:t>性能</a:t>
            </a:r>
            <a:r>
              <a:rPr sz="2400" spc="-50" dirty="0">
                <a:latin typeface="Tahoma"/>
                <a:cs typeface="Tahoma"/>
              </a:rPr>
              <a:t>X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3597" y="5034483"/>
            <a:ext cx="811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黑体"/>
                <a:cs typeface="黑体"/>
              </a:rPr>
              <a:t>性能</a:t>
            </a:r>
            <a:r>
              <a:rPr sz="2400" spc="-50" dirty="0">
                <a:latin typeface="Tahoma"/>
                <a:cs typeface="Tahoma"/>
              </a:rPr>
              <a:t>Y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580126" y="5013325"/>
            <a:ext cx="1008380" cy="0"/>
          </a:xfrm>
          <a:custGeom>
            <a:avLst/>
            <a:gdLst/>
            <a:ahLst/>
            <a:cxnLst/>
            <a:rect l="l" t="t" r="r" b="b"/>
            <a:pathLst>
              <a:path w="1008379">
                <a:moveTo>
                  <a:pt x="0" y="0"/>
                </a:moveTo>
                <a:lnTo>
                  <a:pt x="100799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1.3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计算机系统的性能评</a:t>
            </a:r>
            <a:r>
              <a:rPr spc="-50" dirty="0"/>
              <a:t>测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416" y="836498"/>
            <a:ext cx="10627360" cy="4686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1</a:t>
            </a:r>
            <a:r>
              <a:rPr sz="3200" b="1" spc="-35" dirty="0">
                <a:latin typeface="宋体"/>
                <a:cs typeface="宋体"/>
              </a:rPr>
              <a:t>、执行时间和吞吐率</a:t>
            </a:r>
            <a:endParaRPr sz="3200">
              <a:latin typeface="宋体"/>
              <a:cs typeface="宋体"/>
            </a:endParaRPr>
          </a:p>
          <a:p>
            <a:pPr marL="469265" indent="-456565">
              <a:lnSpc>
                <a:spcPct val="100000"/>
              </a:lnSpc>
              <a:spcBef>
                <a:spcPts val="280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800" spc="-45" dirty="0">
                <a:latin typeface="微软雅黑"/>
                <a:cs typeface="微软雅黑"/>
              </a:rPr>
              <a:t>执行时间可以有多种定义：</a:t>
            </a:r>
            <a:endParaRPr sz="2800">
              <a:latin typeface="微软雅黑"/>
              <a:cs typeface="微软雅黑"/>
            </a:endParaRPr>
          </a:p>
          <a:p>
            <a:pPr marL="1099185" marR="71120" lvl="1" indent="-457200">
              <a:lnSpc>
                <a:spcPct val="150000"/>
              </a:lnSpc>
              <a:spcBef>
                <a:spcPts val="60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5" dirty="0">
                <a:latin typeface="微软雅黑"/>
                <a:cs typeface="微软雅黑"/>
              </a:rPr>
              <a:t>计算机完成某一任务所花费的全部时间，包括磁盘访问、存储器访问、</a:t>
            </a:r>
            <a:r>
              <a:rPr sz="2400" spc="-10" dirty="0">
                <a:latin typeface="微软雅黑"/>
                <a:cs typeface="微软雅黑"/>
              </a:rPr>
              <a:t>输入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5" dirty="0">
                <a:latin typeface="微软雅黑"/>
                <a:cs typeface="微软雅黑"/>
              </a:rPr>
              <a:t>输出、操作系统开销等。</a:t>
            </a:r>
            <a:endParaRPr sz="2400">
              <a:latin typeface="微软雅黑"/>
              <a:cs typeface="微软雅黑"/>
            </a:endParaRPr>
          </a:p>
          <a:p>
            <a:pPr marL="1099185" marR="5080" lvl="1" indent="-457200">
              <a:lnSpc>
                <a:spcPct val="150000"/>
              </a:lnSpc>
              <a:spcBef>
                <a:spcPts val="49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30" dirty="0">
                <a:solidFill>
                  <a:srgbClr val="D50092"/>
                </a:solidFill>
                <a:latin typeface="Times New Roman"/>
                <a:cs typeface="Times New Roman"/>
              </a:rPr>
              <a:t>CPU</a:t>
            </a:r>
            <a:r>
              <a:rPr sz="2400" dirty="0">
                <a:solidFill>
                  <a:srgbClr val="D50092"/>
                </a:solidFill>
                <a:latin typeface="微软雅黑"/>
                <a:cs typeface="微软雅黑"/>
              </a:rPr>
              <a:t>时间</a:t>
            </a:r>
            <a:r>
              <a:rPr sz="2400" spc="-25" dirty="0">
                <a:latin typeface="微软雅黑"/>
                <a:cs typeface="微软雅黑"/>
              </a:rPr>
              <a:t>：</a:t>
            </a:r>
            <a:r>
              <a:rPr sz="2400" spc="-25" dirty="0">
                <a:latin typeface="Times New Roman"/>
                <a:cs typeface="Times New Roman"/>
              </a:rPr>
              <a:t>CPU</a:t>
            </a:r>
            <a:r>
              <a:rPr sz="2400" dirty="0">
                <a:latin typeface="微软雅黑"/>
                <a:cs typeface="微软雅黑"/>
              </a:rPr>
              <a:t>执行所给定的程序所花费的时间，不包含</a:t>
            </a:r>
            <a:r>
              <a:rPr sz="2400" spc="-20" dirty="0">
                <a:latin typeface="Times New Roman"/>
                <a:cs typeface="Times New Roman"/>
              </a:rPr>
              <a:t>I/O</a:t>
            </a:r>
            <a:r>
              <a:rPr sz="2400" spc="-10" dirty="0">
                <a:latin typeface="微软雅黑"/>
                <a:cs typeface="微软雅黑"/>
              </a:rPr>
              <a:t>等待时间以</a:t>
            </a:r>
            <a:r>
              <a:rPr sz="2400" spc="-5" dirty="0">
                <a:latin typeface="微软雅黑"/>
                <a:cs typeface="微软雅黑"/>
              </a:rPr>
              <a:t>及运行其它程序的时间。</a:t>
            </a:r>
            <a:endParaRPr sz="2400">
              <a:latin typeface="微软雅黑"/>
              <a:cs typeface="微软雅黑"/>
            </a:endParaRPr>
          </a:p>
          <a:p>
            <a:pPr marL="1556385" lvl="2" indent="-457200">
              <a:lnSpc>
                <a:spcPct val="100000"/>
              </a:lnSpc>
              <a:spcBef>
                <a:spcPts val="1805"/>
              </a:spcBef>
              <a:buClr>
                <a:srgbClr val="538235"/>
              </a:buClr>
              <a:buFont typeface="Arial"/>
              <a:buChar char="•"/>
              <a:tabLst>
                <a:tab pos="1556385" algn="l"/>
              </a:tabLst>
            </a:pPr>
            <a:r>
              <a:rPr sz="2000" dirty="0">
                <a:latin typeface="微软雅黑"/>
                <a:cs typeface="微软雅黑"/>
              </a:rPr>
              <a:t>用户</a:t>
            </a:r>
            <a:r>
              <a:rPr sz="2000" spc="-25" dirty="0">
                <a:latin typeface="Times New Roman"/>
                <a:cs typeface="Times New Roman"/>
              </a:rPr>
              <a:t>CPU</a:t>
            </a:r>
            <a:r>
              <a:rPr sz="2000" spc="-5" dirty="0">
                <a:latin typeface="微软雅黑"/>
                <a:cs typeface="微软雅黑"/>
              </a:rPr>
              <a:t>时间：用户程序所耗费的</a:t>
            </a:r>
            <a:r>
              <a:rPr sz="2000" spc="-25" dirty="0">
                <a:latin typeface="Times New Roman"/>
                <a:cs typeface="Times New Roman"/>
              </a:rPr>
              <a:t>CPU</a:t>
            </a:r>
            <a:r>
              <a:rPr sz="2000" spc="-25" dirty="0">
                <a:latin typeface="微软雅黑"/>
                <a:cs typeface="微软雅黑"/>
              </a:rPr>
              <a:t>时间。</a:t>
            </a:r>
            <a:endParaRPr sz="2000">
              <a:latin typeface="微软雅黑"/>
              <a:cs typeface="微软雅黑"/>
            </a:endParaRPr>
          </a:p>
          <a:p>
            <a:pPr marL="1556385" lvl="2" indent="-457200">
              <a:lnSpc>
                <a:spcPct val="100000"/>
              </a:lnSpc>
              <a:spcBef>
                <a:spcPts val="1705"/>
              </a:spcBef>
              <a:buClr>
                <a:srgbClr val="538235"/>
              </a:buClr>
              <a:buFont typeface="Arial"/>
              <a:buChar char="•"/>
              <a:tabLst>
                <a:tab pos="1556385" algn="l"/>
              </a:tabLst>
            </a:pPr>
            <a:r>
              <a:rPr sz="2000" dirty="0">
                <a:latin typeface="微软雅黑"/>
                <a:cs typeface="微软雅黑"/>
              </a:rPr>
              <a:t>系统</a:t>
            </a:r>
            <a:r>
              <a:rPr sz="2000" spc="-25" dirty="0">
                <a:latin typeface="Times New Roman"/>
                <a:cs typeface="Times New Roman"/>
              </a:rPr>
              <a:t>CPU</a:t>
            </a:r>
            <a:r>
              <a:rPr sz="2000" spc="-20" dirty="0">
                <a:latin typeface="微软雅黑"/>
                <a:cs typeface="微软雅黑"/>
              </a:rPr>
              <a:t>时间：用户程序运行期间操作系统耗费的 </a:t>
            </a:r>
            <a:r>
              <a:rPr sz="2000" spc="-25" dirty="0">
                <a:latin typeface="Times New Roman"/>
                <a:cs typeface="Times New Roman"/>
              </a:rPr>
              <a:t>CPU</a:t>
            </a:r>
            <a:r>
              <a:rPr sz="2000" spc="-20" dirty="0">
                <a:latin typeface="微软雅黑"/>
                <a:cs typeface="微软雅黑"/>
              </a:rPr>
              <a:t>时间。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1.3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计算机系统的性能评</a:t>
            </a:r>
            <a:r>
              <a:rPr spc="-50" dirty="0"/>
              <a:t>测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4518" y="1110742"/>
            <a:ext cx="12086590" cy="4385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2</a:t>
            </a:r>
            <a:r>
              <a:rPr sz="2800" spc="-40" dirty="0">
                <a:latin typeface="微软雅黑"/>
                <a:cs typeface="微软雅黑"/>
              </a:rPr>
              <a:t>、基准测试程序</a:t>
            </a:r>
            <a:endParaRPr sz="28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204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latin typeface="微软雅黑"/>
                <a:cs typeface="微软雅黑"/>
              </a:rPr>
              <a:t>用于测试和比较性能的基准测试程序的最佳选择是</a:t>
            </a:r>
            <a:r>
              <a:rPr sz="2400" dirty="0">
                <a:solidFill>
                  <a:srgbClr val="D50092"/>
                </a:solidFill>
                <a:latin typeface="微软雅黑"/>
                <a:cs typeface="微软雅黑"/>
              </a:rPr>
              <a:t>真实应用程序。</a:t>
            </a:r>
            <a:r>
              <a:rPr sz="2400" dirty="0">
                <a:latin typeface="微软雅黑"/>
                <a:cs typeface="微软雅黑"/>
              </a:rPr>
              <a:t>（例如编译器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93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5" dirty="0">
                <a:latin typeface="微软雅黑"/>
                <a:cs typeface="微软雅黑"/>
              </a:rPr>
              <a:t>以前常采用简化了的程序，例如：</a:t>
            </a:r>
            <a:endParaRPr sz="2400">
              <a:latin typeface="微软雅黑"/>
              <a:cs typeface="微软雅黑"/>
            </a:endParaRPr>
          </a:p>
          <a:p>
            <a:pPr marL="1155065" lvl="2" indent="-227965">
              <a:lnSpc>
                <a:spcPct val="100000"/>
              </a:lnSpc>
              <a:spcBef>
                <a:spcPts val="1800"/>
              </a:spcBef>
              <a:buClr>
                <a:srgbClr val="538235"/>
              </a:buClr>
              <a:buFont typeface="Arial"/>
              <a:buChar char="•"/>
              <a:tabLst>
                <a:tab pos="1155065" algn="l"/>
              </a:tabLst>
            </a:pP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核心测试程序：</a:t>
            </a:r>
            <a:r>
              <a:rPr sz="2000" spc="-30" dirty="0">
                <a:latin typeface="微软雅黑"/>
                <a:cs typeface="微软雅黑"/>
              </a:rPr>
              <a:t>从真实程序中选出的关键代码段构成的小程序。</a:t>
            </a:r>
            <a:endParaRPr sz="2000">
              <a:latin typeface="微软雅黑"/>
              <a:cs typeface="微软雅黑"/>
            </a:endParaRPr>
          </a:p>
          <a:p>
            <a:pPr marL="1155065" lvl="2" indent="-227965">
              <a:lnSpc>
                <a:spcPct val="100000"/>
              </a:lnSpc>
              <a:spcBef>
                <a:spcPts val="1710"/>
              </a:spcBef>
              <a:buClr>
                <a:srgbClr val="538235"/>
              </a:buClr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小测试程序：</a:t>
            </a:r>
            <a:r>
              <a:rPr sz="2000" spc="-20" dirty="0">
                <a:latin typeface="微软雅黑"/>
                <a:cs typeface="微软雅黑"/>
              </a:rPr>
              <a:t>简单的只有几十行的小程序。</a:t>
            </a:r>
            <a:endParaRPr sz="2000">
              <a:latin typeface="微软雅黑"/>
              <a:cs typeface="微软雅黑"/>
            </a:endParaRPr>
          </a:p>
          <a:p>
            <a:pPr marL="1155065" lvl="2" indent="-227965">
              <a:lnSpc>
                <a:spcPct val="100000"/>
              </a:lnSpc>
              <a:spcBef>
                <a:spcPts val="1689"/>
              </a:spcBef>
              <a:buClr>
                <a:srgbClr val="538235"/>
              </a:buClr>
              <a:buFont typeface="Arial"/>
              <a:buChar char="•"/>
              <a:tabLst>
                <a:tab pos="1155065" algn="l"/>
              </a:tabLst>
            </a:pP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合成的测试程序：</a:t>
            </a:r>
            <a:r>
              <a:rPr sz="2000" spc="-20" dirty="0">
                <a:latin typeface="微软雅黑"/>
                <a:cs typeface="微软雅黑"/>
              </a:rPr>
              <a:t>人工合成出来的程序。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20"/>
              </a:spcBef>
            </a:pPr>
            <a:endParaRPr sz="2000">
              <a:latin typeface="微软雅黑"/>
              <a:cs typeface="微软雅黑"/>
            </a:endParaRPr>
          </a:p>
          <a:p>
            <a:pPr marL="641985">
              <a:lnSpc>
                <a:spcPct val="100000"/>
              </a:lnSpc>
            </a:pPr>
            <a:r>
              <a:rPr sz="2400" dirty="0">
                <a:latin typeface="微软雅黑"/>
                <a:cs typeface="微软雅黑"/>
              </a:rPr>
              <a:t>从测试性能的角度来看，上述测试程序不可信了。</a:t>
            </a:r>
            <a:r>
              <a:rPr sz="2400" spc="-10" dirty="0">
                <a:latin typeface="Times New Roman"/>
                <a:cs typeface="Times New Roman"/>
              </a:rPr>
              <a:t>(</a:t>
            </a:r>
            <a:r>
              <a:rPr sz="2400" dirty="0">
                <a:latin typeface="微软雅黑"/>
                <a:cs typeface="微软雅黑"/>
              </a:rPr>
              <a:t>程序小、片面性、人为性等</a:t>
            </a:r>
            <a:r>
              <a:rPr sz="2400" spc="-50" dirty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1.3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计算机系统的性能评</a:t>
            </a:r>
            <a:r>
              <a:rPr spc="-50" dirty="0"/>
              <a:t>测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000" y="882777"/>
            <a:ext cx="8206105" cy="5431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imes New Roman"/>
                <a:cs typeface="Times New Roman"/>
              </a:rPr>
              <a:t>2</a:t>
            </a:r>
            <a:r>
              <a:rPr sz="2800" spc="-40" dirty="0">
                <a:latin typeface="微软雅黑"/>
                <a:cs typeface="微软雅黑"/>
              </a:rPr>
              <a:t>、基准测试程序</a:t>
            </a:r>
            <a:endParaRPr sz="2800">
              <a:latin typeface="微软雅黑"/>
              <a:cs typeface="微软雅黑"/>
            </a:endParaRPr>
          </a:p>
          <a:p>
            <a:pPr marL="420370">
              <a:lnSpc>
                <a:spcPct val="100000"/>
              </a:lnSpc>
              <a:spcBef>
                <a:spcPts val="3015"/>
              </a:spcBef>
            </a:pPr>
            <a:r>
              <a:rPr sz="2400" spc="-5" dirty="0">
                <a:solidFill>
                  <a:srgbClr val="0071A9"/>
                </a:solidFill>
                <a:latin typeface="微软雅黑"/>
                <a:cs typeface="微软雅黑"/>
              </a:rPr>
              <a:t>除上述对测试程序的要求外，另外：</a:t>
            </a:r>
            <a:endParaRPr sz="2400">
              <a:latin typeface="微软雅黑"/>
              <a:cs typeface="微软雅黑"/>
            </a:endParaRPr>
          </a:p>
          <a:p>
            <a:pPr marL="420370" marR="1426210" indent="457200">
              <a:lnSpc>
                <a:spcPct val="147600"/>
              </a:lnSpc>
              <a:spcBef>
                <a:spcPts val="359"/>
              </a:spcBef>
              <a:buClr>
                <a:srgbClr val="EC7C30"/>
              </a:buClr>
              <a:buFont typeface="Wingdings"/>
              <a:buChar char=""/>
              <a:tabLst>
                <a:tab pos="877569" algn="l"/>
              </a:tabLst>
            </a:pPr>
            <a:r>
              <a:rPr sz="2400" dirty="0">
                <a:solidFill>
                  <a:srgbClr val="D50092"/>
                </a:solidFill>
                <a:latin typeface="微软雅黑"/>
                <a:cs typeface="微软雅黑"/>
              </a:rPr>
              <a:t>在什么条件下进行测试？如何测试</a:t>
            </a:r>
            <a:r>
              <a:rPr sz="2400" spc="-10" dirty="0">
                <a:solidFill>
                  <a:srgbClr val="D50092"/>
                </a:solidFill>
                <a:latin typeface="Times New Roman"/>
                <a:cs typeface="Times New Roman"/>
              </a:rPr>
              <a:t>-</a:t>
            </a:r>
            <a:r>
              <a:rPr sz="2400" spc="-15" dirty="0">
                <a:solidFill>
                  <a:srgbClr val="D50092"/>
                </a:solidFill>
                <a:latin typeface="微软雅黑"/>
                <a:cs typeface="微软雅黑"/>
              </a:rPr>
              <a:t>分类等？</a:t>
            </a:r>
            <a:r>
              <a:rPr sz="2400" spc="-5" dirty="0">
                <a:solidFill>
                  <a:srgbClr val="0071A9"/>
                </a:solidFill>
                <a:latin typeface="微软雅黑"/>
                <a:cs typeface="微软雅黑"/>
              </a:rPr>
              <a:t>基准测试程序设计者对制造商的要求</a:t>
            </a:r>
            <a:endParaRPr sz="2400">
              <a:latin typeface="微软雅黑"/>
              <a:cs typeface="微软雅黑"/>
            </a:endParaRPr>
          </a:p>
          <a:p>
            <a:pPr marL="933450" lvl="1" indent="-227965">
              <a:lnSpc>
                <a:spcPct val="100000"/>
              </a:lnSpc>
              <a:spcBef>
                <a:spcPts val="1610"/>
              </a:spcBef>
              <a:buClr>
                <a:srgbClr val="FFC000"/>
              </a:buClr>
              <a:buFont typeface="Wingdings"/>
              <a:buChar char=""/>
              <a:tabLst>
                <a:tab pos="933450" algn="l"/>
              </a:tabLst>
            </a:pPr>
            <a:r>
              <a:rPr sz="2000" spc="-5" dirty="0">
                <a:latin typeface="微软雅黑"/>
                <a:cs typeface="微软雅黑"/>
              </a:rPr>
              <a:t>采用同一种语言编译器；</a:t>
            </a:r>
            <a:endParaRPr sz="2000">
              <a:latin typeface="微软雅黑"/>
              <a:cs typeface="微软雅黑"/>
            </a:endParaRPr>
          </a:p>
          <a:p>
            <a:pPr marL="933450" lvl="1" indent="-227965">
              <a:lnSpc>
                <a:spcPct val="100000"/>
              </a:lnSpc>
              <a:spcBef>
                <a:spcPts val="1465"/>
              </a:spcBef>
              <a:buClr>
                <a:srgbClr val="FFC000"/>
              </a:buClr>
              <a:buFont typeface="Wingdings"/>
              <a:buChar char=""/>
              <a:tabLst>
                <a:tab pos="933450" algn="l"/>
              </a:tabLst>
            </a:pPr>
            <a:r>
              <a:rPr sz="2000" spc="-20" dirty="0">
                <a:latin typeface="微软雅黑"/>
                <a:cs typeface="微软雅黑"/>
              </a:rPr>
              <a:t>对同一种语言的程序都采用相同的一组编译标志。</a:t>
            </a:r>
            <a:endParaRPr sz="2000">
              <a:latin typeface="微软雅黑"/>
              <a:cs typeface="微软雅黑"/>
            </a:endParaRPr>
          </a:p>
          <a:p>
            <a:pPr marL="420370">
              <a:lnSpc>
                <a:spcPct val="100000"/>
              </a:lnSpc>
              <a:spcBef>
                <a:spcPts val="1280"/>
              </a:spcBef>
            </a:pPr>
            <a:r>
              <a:rPr sz="2400" spc="-10" dirty="0">
                <a:solidFill>
                  <a:srgbClr val="0071A9"/>
                </a:solidFill>
                <a:latin typeface="微软雅黑"/>
                <a:cs typeface="微软雅黑"/>
              </a:rPr>
              <a:t>使用经典的测试程序</a:t>
            </a:r>
            <a:endParaRPr sz="2400">
              <a:latin typeface="微软雅黑"/>
              <a:cs typeface="微软雅黑"/>
            </a:endParaRPr>
          </a:p>
          <a:p>
            <a:pPr marL="877569" indent="-457200">
              <a:lnSpc>
                <a:spcPct val="100000"/>
              </a:lnSpc>
              <a:spcBef>
                <a:spcPts val="1730"/>
              </a:spcBef>
              <a:buClr>
                <a:srgbClr val="EC7C30"/>
              </a:buClr>
              <a:buFont typeface="Wingdings"/>
              <a:buChar char=""/>
              <a:tabLst>
                <a:tab pos="877569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基准测试程序套件：</a:t>
            </a:r>
            <a:r>
              <a:rPr sz="2400" spc="-5" dirty="0">
                <a:latin typeface="微软雅黑"/>
                <a:cs typeface="微软雅黑"/>
              </a:rPr>
              <a:t>由各种不同的真实应用程序构成。</a:t>
            </a:r>
            <a:endParaRPr sz="2400">
              <a:latin typeface="微软雅黑"/>
              <a:cs typeface="微软雅黑"/>
            </a:endParaRPr>
          </a:p>
          <a:p>
            <a:pPr marL="705485">
              <a:lnSpc>
                <a:spcPct val="100000"/>
              </a:lnSpc>
              <a:spcBef>
                <a:spcPts val="1540"/>
              </a:spcBef>
            </a:pPr>
            <a:r>
              <a:rPr sz="2000" spc="-10" dirty="0">
                <a:latin typeface="微软雅黑"/>
                <a:cs typeface="微软雅黑"/>
              </a:rPr>
              <a:t>（</a:t>
            </a:r>
            <a:r>
              <a:rPr sz="2000" spc="-20" dirty="0">
                <a:latin typeface="微软雅黑"/>
                <a:cs typeface="微软雅黑"/>
              </a:rPr>
              <a:t>能比较全面地反映计算机在各个方面的处理性能 </a:t>
            </a:r>
            <a:r>
              <a:rPr sz="2000" spc="-50" dirty="0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933450" lvl="1" indent="-227965">
              <a:lnSpc>
                <a:spcPct val="100000"/>
              </a:lnSpc>
              <a:spcBef>
                <a:spcPts val="1465"/>
              </a:spcBef>
              <a:buClr>
                <a:srgbClr val="FFC000"/>
              </a:buClr>
              <a:buFont typeface="Wingdings"/>
              <a:buChar char=""/>
              <a:tabLst>
                <a:tab pos="933450" algn="l"/>
              </a:tabLst>
            </a:pPr>
            <a:r>
              <a:rPr sz="2000" dirty="0">
                <a:solidFill>
                  <a:srgbClr val="FF0000"/>
                </a:solidFill>
                <a:latin typeface="黑体"/>
                <a:cs typeface="黑体"/>
              </a:rPr>
              <a:t>SPEC</a:t>
            </a:r>
            <a:r>
              <a:rPr sz="2000" spc="-20" dirty="0">
                <a:solidFill>
                  <a:srgbClr val="FF0000"/>
                </a:solidFill>
                <a:latin typeface="微软雅黑"/>
                <a:cs typeface="微软雅黑"/>
              </a:rPr>
              <a:t>系列。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1.3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计算机系统的性能评</a:t>
            </a:r>
            <a:r>
              <a:rPr spc="-50" dirty="0"/>
              <a:t>测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091" y="921842"/>
            <a:ext cx="6165850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25" dirty="0">
                <a:solidFill>
                  <a:srgbClr val="0000FF"/>
                </a:solidFill>
                <a:latin typeface="Times New Roman"/>
                <a:cs typeface="Times New Roman"/>
              </a:rPr>
              <a:t>3.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800" spc="-45" dirty="0">
                <a:latin typeface="微软雅黑"/>
                <a:cs typeface="微软雅黑"/>
              </a:rPr>
              <a:t>性能比较</a:t>
            </a:r>
            <a:endParaRPr sz="2800">
              <a:latin typeface="微软雅黑"/>
              <a:cs typeface="微软雅黑"/>
            </a:endParaRPr>
          </a:p>
          <a:p>
            <a:pPr marL="1452245">
              <a:lnSpc>
                <a:spcPct val="100000"/>
              </a:lnSpc>
              <a:spcBef>
                <a:spcPts val="1895"/>
              </a:spcBef>
            </a:pPr>
            <a:r>
              <a:rPr sz="2000" spc="-5" dirty="0">
                <a:latin typeface="黑体"/>
                <a:cs typeface="黑体"/>
              </a:rPr>
              <a:t>两个程序在</a:t>
            </a:r>
            <a:r>
              <a:rPr sz="2000" spc="-10" dirty="0">
                <a:latin typeface="黑体"/>
                <a:cs typeface="黑体"/>
              </a:rPr>
              <a:t>A</a:t>
            </a:r>
            <a:r>
              <a:rPr sz="2000" dirty="0">
                <a:latin typeface="黑体"/>
                <a:cs typeface="黑体"/>
              </a:rPr>
              <a:t>、</a:t>
            </a:r>
            <a:r>
              <a:rPr sz="2000" spc="-10" dirty="0">
                <a:latin typeface="黑体"/>
                <a:cs typeface="黑体"/>
              </a:rPr>
              <a:t>B</a:t>
            </a:r>
            <a:r>
              <a:rPr sz="2000" dirty="0">
                <a:latin typeface="黑体"/>
                <a:cs typeface="黑体"/>
              </a:rPr>
              <a:t>、</a:t>
            </a:r>
            <a:r>
              <a:rPr sz="2000" spc="-10" dirty="0">
                <a:latin typeface="黑体"/>
                <a:cs typeface="黑体"/>
              </a:rPr>
              <a:t>C</a:t>
            </a:r>
            <a:r>
              <a:rPr sz="2000" spc="-20" dirty="0">
                <a:latin typeface="黑体"/>
                <a:cs typeface="黑体"/>
              </a:rPr>
              <a:t>三台机器上的执行时间</a:t>
            </a:r>
            <a:endParaRPr sz="2000">
              <a:latin typeface="黑体"/>
              <a:cs typeface="黑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6212" y="2015299"/>
          <a:ext cx="8128000" cy="3997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7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9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3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61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25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程序</a:t>
                      </a:r>
                      <a:r>
                        <a:rPr sz="1800" b="1" spc="-5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0.909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0.999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程序</a:t>
                      </a:r>
                      <a:r>
                        <a:rPr sz="1800" b="1" spc="-5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1000.00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0.091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0.001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（1）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500.50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（2）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91.91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（3）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2.00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293354" y="1990089"/>
            <a:ext cx="3479165" cy="4309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0670" marR="751840">
              <a:lnSpc>
                <a:spcPct val="107100"/>
              </a:lnSpc>
              <a:spcBef>
                <a:spcPts val="100"/>
              </a:spcBef>
            </a:pPr>
            <a:r>
              <a:rPr sz="2400" spc="-10" dirty="0">
                <a:solidFill>
                  <a:srgbClr val="E14B04"/>
                </a:solidFill>
                <a:latin typeface="微软雅黑"/>
                <a:cs typeface="微软雅黑"/>
              </a:rPr>
              <a:t>三台机器的性能</a:t>
            </a:r>
            <a:r>
              <a:rPr sz="2400" spc="-50" dirty="0">
                <a:solidFill>
                  <a:srgbClr val="E14B04"/>
                </a:solidFill>
                <a:latin typeface="微软雅黑"/>
                <a:cs typeface="微软雅黑"/>
              </a:rPr>
              <a:t> </a:t>
            </a:r>
            <a:r>
              <a:rPr sz="2400" spc="-10" dirty="0">
                <a:latin typeface="微软雅黑"/>
                <a:cs typeface="微软雅黑"/>
              </a:rPr>
              <a:t>从该表可以得出：</a:t>
            </a:r>
            <a:endParaRPr sz="2400">
              <a:latin typeface="微软雅黑"/>
              <a:cs typeface="微软雅黑"/>
            </a:endParaRPr>
          </a:p>
          <a:p>
            <a:pPr marL="565150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solidFill>
                  <a:srgbClr val="008000"/>
                </a:solidFill>
                <a:latin typeface="微软雅黑"/>
                <a:cs typeface="微软雅黑"/>
              </a:rPr>
              <a:t>执行程序</a:t>
            </a:r>
            <a:r>
              <a:rPr sz="2000" spc="-25" dirty="0">
                <a:solidFill>
                  <a:srgbClr val="008000"/>
                </a:solidFill>
                <a:latin typeface="宋体"/>
                <a:cs typeface="宋体"/>
              </a:rPr>
              <a:t>1:</a:t>
            </a:r>
            <a:endParaRPr sz="2000">
              <a:latin typeface="宋体"/>
              <a:cs typeface="宋体"/>
            </a:endParaRPr>
          </a:p>
          <a:p>
            <a:pPr marL="793750" indent="-228600">
              <a:lnSpc>
                <a:spcPct val="100000"/>
              </a:lnSpc>
              <a:spcBef>
                <a:spcPts val="265"/>
              </a:spcBef>
              <a:buClr>
                <a:srgbClr val="538235"/>
              </a:buClr>
              <a:buFont typeface="Arial"/>
              <a:buChar char="•"/>
              <a:tabLst>
                <a:tab pos="793750" algn="l"/>
              </a:tabLst>
            </a:pP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A</a:t>
            </a:r>
            <a:r>
              <a:rPr sz="2000" spc="-1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spc="-10" dirty="0">
                <a:latin typeface="微软雅黑"/>
                <a:cs typeface="微软雅黑"/>
              </a:rPr>
              <a:t>的速度是</a:t>
            </a: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B</a:t>
            </a:r>
            <a:r>
              <a:rPr sz="2000" spc="-1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spc="-10" dirty="0">
                <a:solidFill>
                  <a:srgbClr val="6600FF"/>
                </a:solidFill>
                <a:latin typeface="宋体"/>
                <a:cs typeface="宋体"/>
              </a:rPr>
              <a:t>10</a:t>
            </a:r>
            <a:r>
              <a:rPr sz="2000" spc="-50" dirty="0">
                <a:solidFill>
                  <a:srgbClr val="6600FF"/>
                </a:solidFill>
                <a:latin typeface="微软雅黑"/>
                <a:cs typeface="微软雅黑"/>
              </a:rPr>
              <a:t>倍</a:t>
            </a:r>
            <a:endParaRPr sz="2000">
              <a:latin typeface="微软雅黑"/>
              <a:cs typeface="微软雅黑"/>
            </a:endParaRPr>
          </a:p>
          <a:p>
            <a:pPr marL="793750" indent="-228600">
              <a:lnSpc>
                <a:spcPct val="100000"/>
              </a:lnSpc>
              <a:spcBef>
                <a:spcPts val="254"/>
              </a:spcBef>
              <a:buClr>
                <a:srgbClr val="538235"/>
              </a:buClr>
              <a:buFont typeface="Arial"/>
              <a:buChar char="•"/>
              <a:tabLst>
                <a:tab pos="793750" algn="l"/>
              </a:tabLst>
            </a:pP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A</a:t>
            </a:r>
            <a:r>
              <a:rPr sz="200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dirty="0">
                <a:latin typeface="微软雅黑"/>
                <a:cs typeface="微软雅黑"/>
              </a:rPr>
              <a:t>的速度是</a:t>
            </a: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C</a:t>
            </a:r>
            <a:r>
              <a:rPr sz="200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spc="-10" dirty="0">
                <a:solidFill>
                  <a:srgbClr val="6600FF"/>
                </a:solidFill>
                <a:latin typeface="宋体"/>
                <a:cs typeface="宋体"/>
              </a:rPr>
              <a:t>20</a:t>
            </a:r>
            <a:r>
              <a:rPr sz="2000" spc="-50" dirty="0">
                <a:solidFill>
                  <a:srgbClr val="6600FF"/>
                </a:solidFill>
                <a:latin typeface="微软雅黑"/>
                <a:cs typeface="微软雅黑"/>
              </a:rPr>
              <a:t>倍</a:t>
            </a:r>
            <a:endParaRPr sz="2000">
              <a:latin typeface="微软雅黑"/>
              <a:cs typeface="微软雅黑"/>
            </a:endParaRPr>
          </a:p>
          <a:p>
            <a:pPr marL="565150" marR="257810" indent="228600">
              <a:lnSpc>
                <a:spcPct val="111000"/>
              </a:lnSpc>
              <a:buClr>
                <a:srgbClr val="538235"/>
              </a:buClr>
              <a:buFont typeface="Arial"/>
              <a:buChar char="•"/>
              <a:tabLst>
                <a:tab pos="793750" algn="l"/>
              </a:tabLst>
            </a:pP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B</a:t>
            </a:r>
            <a:r>
              <a:rPr sz="200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dirty="0">
                <a:latin typeface="微软雅黑"/>
                <a:cs typeface="微软雅黑"/>
              </a:rPr>
              <a:t>的速度是</a:t>
            </a: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C</a:t>
            </a:r>
            <a:r>
              <a:rPr sz="200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2</a:t>
            </a:r>
            <a:r>
              <a:rPr sz="2000" spc="-50" dirty="0">
                <a:solidFill>
                  <a:srgbClr val="6600FF"/>
                </a:solidFill>
                <a:latin typeface="微软雅黑"/>
                <a:cs typeface="微软雅黑"/>
              </a:rPr>
              <a:t>倍</a:t>
            </a:r>
            <a:r>
              <a:rPr sz="2000" dirty="0">
                <a:solidFill>
                  <a:srgbClr val="008000"/>
                </a:solidFill>
                <a:latin typeface="微软雅黑"/>
                <a:cs typeface="微软雅黑"/>
              </a:rPr>
              <a:t>执行程序</a:t>
            </a:r>
            <a:r>
              <a:rPr sz="2000" spc="-25" dirty="0">
                <a:solidFill>
                  <a:srgbClr val="008000"/>
                </a:solidFill>
                <a:latin typeface="宋体"/>
                <a:cs typeface="宋体"/>
              </a:rPr>
              <a:t>2:</a:t>
            </a:r>
            <a:endParaRPr sz="2000">
              <a:latin typeface="宋体"/>
              <a:cs typeface="宋体"/>
            </a:endParaRPr>
          </a:p>
          <a:p>
            <a:pPr marL="793750" indent="-228600">
              <a:lnSpc>
                <a:spcPct val="100000"/>
              </a:lnSpc>
              <a:spcBef>
                <a:spcPts val="254"/>
              </a:spcBef>
              <a:buClr>
                <a:srgbClr val="538235"/>
              </a:buClr>
              <a:buFont typeface="Arial"/>
              <a:buChar char="•"/>
              <a:tabLst>
                <a:tab pos="793750" algn="l"/>
              </a:tabLst>
            </a:pP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B</a:t>
            </a:r>
            <a:r>
              <a:rPr sz="2000" spc="-1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spc="-10" dirty="0">
                <a:latin typeface="微软雅黑"/>
                <a:cs typeface="微软雅黑"/>
              </a:rPr>
              <a:t>的速度是</a:t>
            </a: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A</a:t>
            </a:r>
            <a:r>
              <a:rPr sz="2000" spc="-1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spc="-10" dirty="0">
                <a:solidFill>
                  <a:srgbClr val="6600FF"/>
                </a:solidFill>
                <a:latin typeface="宋体"/>
                <a:cs typeface="宋体"/>
              </a:rPr>
              <a:t>100</a:t>
            </a:r>
            <a:r>
              <a:rPr sz="2000" spc="-50" dirty="0">
                <a:solidFill>
                  <a:srgbClr val="6600FF"/>
                </a:solidFill>
                <a:latin typeface="微软雅黑"/>
                <a:cs typeface="微软雅黑"/>
              </a:rPr>
              <a:t>倍</a:t>
            </a:r>
            <a:endParaRPr sz="2000">
              <a:latin typeface="微软雅黑"/>
              <a:cs typeface="微软雅黑"/>
            </a:endParaRPr>
          </a:p>
          <a:p>
            <a:pPr marL="793750" indent="-228600">
              <a:lnSpc>
                <a:spcPct val="100000"/>
              </a:lnSpc>
              <a:spcBef>
                <a:spcPts val="265"/>
              </a:spcBef>
              <a:buClr>
                <a:srgbClr val="538235"/>
              </a:buClr>
              <a:buFont typeface="Arial"/>
              <a:buChar char="•"/>
              <a:tabLst>
                <a:tab pos="793750" algn="l"/>
              </a:tabLst>
            </a:pP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C</a:t>
            </a:r>
            <a:r>
              <a:rPr sz="200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dirty="0">
                <a:latin typeface="微软雅黑"/>
                <a:cs typeface="微软雅黑"/>
              </a:rPr>
              <a:t>的速度是</a:t>
            </a: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A</a:t>
            </a:r>
            <a:r>
              <a:rPr sz="200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spc="-10" dirty="0">
                <a:solidFill>
                  <a:srgbClr val="6600FF"/>
                </a:solidFill>
                <a:latin typeface="宋体"/>
                <a:cs typeface="宋体"/>
              </a:rPr>
              <a:t>50</a:t>
            </a:r>
            <a:r>
              <a:rPr sz="2000" spc="-50" dirty="0">
                <a:solidFill>
                  <a:srgbClr val="6600FF"/>
                </a:solidFill>
                <a:latin typeface="微软雅黑"/>
                <a:cs typeface="微软雅黑"/>
              </a:rPr>
              <a:t>倍</a:t>
            </a:r>
            <a:endParaRPr sz="2000">
              <a:latin typeface="微软雅黑"/>
              <a:cs typeface="微软雅黑"/>
            </a:endParaRPr>
          </a:p>
          <a:p>
            <a:pPr marL="793750" indent="-228600">
              <a:lnSpc>
                <a:spcPct val="100000"/>
              </a:lnSpc>
              <a:spcBef>
                <a:spcPts val="265"/>
              </a:spcBef>
              <a:buClr>
                <a:srgbClr val="538235"/>
              </a:buClr>
              <a:buFont typeface="Arial"/>
              <a:buChar char="•"/>
              <a:tabLst>
                <a:tab pos="793750" algn="l"/>
              </a:tabLst>
            </a:pP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B</a:t>
            </a:r>
            <a:r>
              <a:rPr sz="200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dirty="0">
                <a:latin typeface="微软雅黑"/>
                <a:cs typeface="微软雅黑"/>
              </a:rPr>
              <a:t>的速度是</a:t>
            </a: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C</a:t>
            </a:r>
            <a:r>
              <a:rPr sz="2000" dirty="0">
                <a:solidFill>
                  <a:srgbClr val="6600FF"/>
                </a:solidFill>
                <a:latin typeface="微软雅黑"/>
                <a:cs typeface="微软雅黑"/>
              </a:rPr>
              <a:t>机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dirty="0">
                <a:solidFill>
                  <a:srgbClr val="6600FF"/>
                </a:solidFill>
                <a:latin typeface="宋体"/>
                <a:cs typeface="宋体"/>
              </a:rPr>
              <a:t>2</a:t>
            </a:r>
            <a:r>
              <a:rPr sz="2000" spc="-50" dirty="0">
                <a:solidFill>
                  <a:srgbClr val="6600FF"/>
                </a:solidFill>
                <a:latin typeface="微软雅黑"/>
                <a:cs typeface="微软雅黑"/>
              </a:rPr>
              <a:t>倍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15" dirty="0">
                <a:solidFill>
                  <a:srgbClr val="0071A9"/>
                </a:solidFill>
                <a:latin typeface="宋体"/>
                <a:cs typeface="宋体"/>
              </a:rPr>
              <a:t>但不能综合去衡量三种机器的性能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1.3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计算机系统的性能评</a:t>
            </a:r>
            <a:r>
              <a:rPr spc="-50" dirty="0"/>
              <a:t>测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091" y="921842"/>
            <a:ext cx="1903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25" dirty="0">
                <a:solidFill>
                  <a:srgbClr val="0000FF"/>
                </a:solidFill>
                <a:latin typeface="Times New Roman"/>
                <a:cs typeface="Times New Roman"/>
              </a:rPr>
              <a:t>3.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800" spc="-45" dirty="0">
                <a:latin typeface="微软雅黑"/>
                <a:cs typeface="微软雅黑"/>
              </a:rPr>
              <a:t>性能比较</a:t>
            </a:r>
            <a:endParaRPr sz="2800">
              <a:latin typeface="微软雅黑"/>
              <a:cs typeface="微软雅黑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6212" y="2015299"/>
          <a:ext cx="7447280" cy="3997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3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3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3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800" b="1" spc="-3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程序</a:t>
                      </a:r>
                      <a:r>
                        <a:rPr sz="1800" b="1" spc="-5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304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0.909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0.999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程序</a:t>
                      </a:r>
                      <a:r>
                        <a:rPr sz="1800" b="1" spc="-5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1000.00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304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0.091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0.001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（1）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500.50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（2）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91.91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（3）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2.00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813941" y="1588388"/>
            <a:ext cx="4726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黑体"/>
                <a:cs typeface="黑体"/>
              </a:rPr>
              <a:t>两个程序在</a:t>
            </a:r>
            <a:r>
              <a:rPr sz="2000" spc="-10" dirty="0">
                <a:latin typeface="黑体"/>
                <a:cs typeface="黑体"/>
              </a:rPr>
              <a:t>A</a:t>
            </a:r>
            <a:r>
              <a:rPr sz="2000" dirty="0">
                <a:latin typeface="黑体"/>
                <a:cs typeface="黑体"/>
              </a:rPr>
              <a:t>、</a:t>
            </a:r>
            <a:r>
              <a:rPr sz="2000" spc="-10" dirty="0">
                <a:latin typeface="黑体"/>
                <a:cs typeface="黑体"/>
              </a:rPr>
              <a:t>B</a:t>
            </a:r>
            <a:r>
              <a:rPr sz="2000" dirty="0">
                <a:latin typeface="黑体"/>
                <a:cs typeface="黑体"/>
              </a:rPr>
              <a:t>、</a:t>
            </a:r>
            <a:r>
              <a:rPr sz="2000" spc="-10" dirty="0">
                <a:latin typeface="黑体"/>
                <a:cs typeface="黑体"/>
              </a:rPr>
              <a:t>C</a:t>
            </a:r>
            <a:r>
              <a:rPr sz="2000" spc="-20" dirty="0">
                <a:latin typeface="黑体"/>
                <a:cs typeface="黑体"/>
              </a:rPr>
              <a:t>三台机器上的执行时间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74128" y="838580"/>
            <a:ext cx="4597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总执行时间：</a:t>
            </a:r>
            <a:r>
              <a:rPr sz="1800" spc="-5" dirty="0">
                <a:latin typeface="宋体"/>
                <a:cs typeface="宋体"/>
              </a:rPr>
              <a:t>机器执行所有测试程序的总时间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9116" y="1112519"/>
            <a:ext cx="4483735" cy="1261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50100"/>
              </a:lnSpc>
              <a:spcBef>
                <a:spcPts val="100"/>
              </a:spcBef>
            </a:pP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B机</a:t>
            </a:r>
            <a:r>
              <a:rPr sz="1800" dirty="0">
                <a:latin typeface="宋体"/>
                <a:cs typeface="宋体"/>
              </a:rPr>
              <a:t>执行程序1和程序2的速度是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A机</a:t>
            </a:r>
            <a:r>
              <a:rPr sz="1800" dirty="0">
                <a:latin typeface="宋体"/>
                <a:cs typeface="宋体"/>
              </a:rPr>
              <a:t>的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50.05</a:t>
            </a:r>
            <a:r>
              <a:rPr sz="1800" spc="-50" dirty="0">
                <a:solidFill>
                  <a:srgbClr val="6600FF"/>
                </a:solidFill>
                <a:latin typeface="宋体"/>
                <a:cs typeface="宋体"/>
              </a:rPr>
              <a:t>倍 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C机</a:t>
            </a:r>
            <a:r>
              <a:rPr sz="1800" dirty="0">
                <a:latin typeface="宋体"/>
                <a:cs typeface="宋体"/>
              </a:rPr>
              <a:t>执行程序1和程序2的速度是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A机</a:t>
            </a:r>
            <a:r>
              <a:rPr sz="1800" dirty="0">
                <a:latin typeface="宋体"/>
                <a:cs typeface="宋体"/>
              </a:rPr>
              <a:t>的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24.02</a:t>
            </a:r>
            <a:r>
              <a:rPr sz="1800" spc="-50" dirty="0">
                <a:solidFill>
                  <a:srgbClr val="6600FF"/>
                </a:solidFill>
                <a:latin typeface="宋体"/>
                <a:cs typeface="宋体"/>
              </a:rPr>
              <a:t>倍 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B机</a:t>
            </a:r>
            <a:r>
              <a:rPr sz="1800" dirty="0">
                <a:latin typeface="宋体"/>
                <a:cs typeface="宋体"/>
              </a:rPr>
              <a:t>执行程序1和程序2的速度是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C机</a:t>
            </a:r>
            <a:r>
              <a:rPr sz="1800" dirty="0">
                <a:latin typeface="宋体"/>
                <a:cs typeface="宋体"/>
              </a:rPr>
              <a:t>的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2</a:t>
            </a:r>
            <a:r>
              <a:rPr sz="1800" spc="-50" dirty="0">
                <a:solidFill>
                  <a:srgbClr val="6600FF"/>
                </a:solidFill>
                <a:latin typeface="宋体"/>
                <a:cs typeface="宋体"/>
              </a:rPr>
              <a:t>倍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49388" y="2850642"/>
            <a:ext cx="3912235" cy="7391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平均执行时间：</a:t>
            </a:r>
            <a:r>
              <a:rPr sz="1800" spc="-5" dirty="0">
                <a:latin typeface="宋体"/>
                <a:cs typeface="宋体"/>
              </a:rPr>
              <a:t>各测试程序执行时间的</a:t>
            </a:r>
            <a:endParaRPr sz="1800">
              <a:latin typeface="宋体"/>
              <a:cs typeface="宋体"/>
            </a:endParaRPr>
          </a:p>
          <a:p>
            <a:pPr marL="1612900">
              <a:lnSpc>
                <a:spcPct val="100000"/>
              </a:lnSpc>
              <a:spcBef>
                <a:spcPts val="650"/>
              </a:spcBef>
            </a:pPr>
            <a:r>
              <a:rPr sz="1800" spc="-10" dirty="0">
                <a:latin typeface="宋体"/>
                <a:cs typeface="宋体"/>
              </a:rPr>
              <a:t>算术平均值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09230" y="4752847"/>
            <a:ext cx="3810000" cy="73914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1800" dirty="0">
                <a:latin typeface="宋体"/>
                <a:cs typeface="宋体"/>
              </a:rPr>
              <a:t>其中：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T</a:t>
            </a:r>
            <a:r>
              <a:rPr sz="1800" baseline="-20833" dirty="0">
                <a:solidFill>
                  <a:srgbClr val="6600FF"/>
                </a:solidFill>
                <a:latin typeface="宋体"/>
                <a:cs typeface="宋体"/>
              </a:rPr>
              <a:t>i</a:t>
            </a:r>
            <a:r>
              <a:rPr sz="1800" dirty="0">
                <a:latin typeface="宋体"/>
                <a:cs typeface="宋体"/>
              </a:rPr>
              <a:t>：第i</a:t>
            </a:r>
            <a:r>
              <a:rPr sz="1800" spc="-5" dirty="0">
                <a:latin typeface="宋体"/>
                <a:cs typeface="宋体"/>
              </a:rPr>
              <a:t>个测试程序的执行时间</a:t>
            </a:r>
            <a:endParaRPr sz="1800">
              <a:latin typeface="宋体"/>
              <a:cs typeface="宋体"/>
            </a:endParaRPr>
          </a:p>
          <a:p>
            <a:pPr marL="723900">
              <a:lnSpc>
                <a:spcPct val="100000"/>
              </a:lnSpc>
              <a:spcBef>
                <a:spcPts val="650"/>
              </a:spcBef>
            </a:pP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n</a:t>
            </a:r>
            <a:r>
              <a:rPr sz="1800" spc="-5" dirty="0">
                <a:latin typeface="宋体"/>
                <a:cs typeface="宋体"/>
              </a:rPr>
              <a:t>：测试程序组中程序的个数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25544" y="4218427"/>
            <a:ext cx="229870" cy="0"/>
          </a:xfrm>
          <a:custGeom>
            <a:avLst/>
            <a:gdLst/>
            <a:ahLst/>
            <a:cxnLst/>
            <a:rect l="l" t="t" r="r" b="b"/>
            <a:pathLst>
              <a:path w="229870">
                <a:moveTo>
                  <a:pt x="0" y="0"/>
                </a:moveTo>
                <a:lnTo>
                  <a:pt x="229635" y="0"/>
                </a:lnTo>
              </a:path>
            </a:pathLst>
          </a:custGeom>
          <a:ln w="155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795408" y="3813588"/>
            <a:ext cx="454659" cy="7169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0" spc="110" dirty="0">
                <a:latin typeface="Symbol"/>
                <a:cs typeface="Symbol"/>
              </a:rPr>
              <a:t></a:t>
            </a:r>
            <a:endParaRPr sz="45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47687" y="3689146"/>
            <a:ext cx="14287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i="1" spc="-50" dirty="0">
                <a:latin typeface="Times New Roman"/>
                <a:cs typeface="Times New Roman"/>
              </a:rPr>
              <a:t>n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18398" y="4157466"/>
            <a:ext cx="9080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i="1" spc="-50" dirty="0">
                <a:latin typeface="Times New Roman"/>
                <a:cs typeface="Times New Roman"/>
              </a:rPr>
              <a:t>i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38736" y="4157466"/>
            <a:ext cx="194310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i="1" spc="10" dirty="0">
                <a:latin typeface="Times New Roman"/>
                <a:cs typeface="Times New Roman"/>
              </a:rPr>
              <a:t>m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38410" y="3941048"/>
            <a:ext cx="716915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01650" algn="l"/>
              </a:tabLst>
            </a:pPr>
            <a:r>
              <a:rPr sz="2750" i="1" spc="15" dirty="0">
                <a:latin typeface="Times New Roman"/>
                <a:cs typeface="Times New Roman"/>
              </a:rPr>
              <a:t>S</a:t>
            </a:r>
            <a:r>
              <a:rPr sz="2750" i="1" dirty="0">
                <a:latin typeface="Times New Roman"/>
                <a:cs typeface="Times New Roman"/>
              </a:rPr>
              <a:t>	</a:t>
            </a:r>
            <a:r>
              <a:rPr sz="2750" spc="25" dirty="0">
                <a:latin typeface="Symbol"/>
                <a:cs typeface="Symbol"/>
              </a:rPr>
              <a:t></a:t>
            </a:r>
            <a:endParaRPr sz="27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35972" y="3941048"/>
            <a:ext cx="217804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i="1" spc="-50" dirty="0">
                <a:latin typeface="Times New Roman"/>
                <a:cs typeface="Times New Roman"/>
              </a:rPr>
              <a:t>T</a:t>
            </a:r>
            <a:endParaRPr sz="27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56491" y="4443283"/>
            <a:ext cx="339725" cy="294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i="1" spc="-25" dirty="0">
                <a:latin typeface="Times New Roman"/>
                <a:cs typeface="Times New Roman"/>
              </a:rPr>
              <a:t>i</a:t>
            </a:r>
            <a:r>
              <a:rPr sz="1750" spc="-25" dirty="0">
                <a:latin typeface="Symbol"/>
                <a:cs typeface="Symbol"/>
              </a:rPr>
              <a:t></a:t>
            </a:r>
            <a:r>
              <a:rPr sz="1750" spc="-25" dirty="0">
                <a:latin typeface="Times New Roman"/>
                <a:cs typeface="Times New Roman"/>
              </a:rPr>
              <a:t>1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37270" y="3644795"/>
            <a:ext cx="212725" cy="10198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750" spc="15" dirty="0">
                <a:latin typeface="Times New Roman"/>
                <a:cs typeface="Times New Roman"/>
              </a:rPr>
              <a:t>1</a:t>
            </a:r>
            <a:endParaRPr sz="2750">
              <a:latin typeface="Times New Roman"/>
              <a:cs typeface="Times New Roman"/>
            </a:endParaRPr>
          </a:p>
          <a:p>
            <a:pPr marL="15875">
              <a:lnSpc>
                <a:spcPct val="100000"/>
              </a:lnSpc>
              <a:spcBef>
                <a:spcPts val="615"/>
              </a:spcBef>
            </a:pPr>
            <a:r>
              <a:rPr sz="2750" i="1" spc="15" dirty="0">
                <a:latin typeface="Times New Roman"/>
                <a:cs typeface="Times New Roman"/>
              </a:rPr>
              <a:t>n</a:t>
            </a:r>
            <a:endParaRPr sz="2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091" y="160782"/>
            <a:ext cx="11812905" cy="175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100"/>
              </a:spcBef>
              <a:tabLst>
                <a:tab pos="11799570" algn="l"/>
              </a:tabLst>
            </a:pPr>
            <a:r>
              <a:rPr sz="3200" b="1" u="sng" spc="215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1.3</a:t>
            </a:r>
            <a:r>
              <a:rPr sz="3200" b="1" u="sng" spc="-10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计算机系统的性能评</a:t>
            </a:r>
            <a:r>
              <a:rPr sz="3200" b="1" u="sng" spc="-50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测</a:t>
            </a:r>
            <a:r>
              <a:rPr sz="3200" b="1" u="sng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	</a:t>
            </a:r>
            <a:endParaRPr sz="3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150"/>
              </a:spcBef>
              <a:tabLst>
                <a:tab pos="469265" algn="l"/>
              </a:tabLst>
            </a:pPr>
            <a:r>
              <a:rPr sz="2800" spc="-25" dirty="0">
                <a:solidFill>
                  <a:srgbClr val="0000FF"/>
                </a:solidFill>
                <a:latin typeface="Times New Roman"/>
                <a:cs typeface="Times New Roman"/>
              </a:rPr>
              <a:t>3.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800" spc="-45" dirty="0">
                <a:latin typeface="微软雅黑"/>
                <a:cs typeface="微软雅黑"/>
              </a:rPr>
              <a:t>性能比较</a:t>
            </a:r>
            <a:endParaRPr sz="2800">
              <a:latin typeface="微软雅黑"/>
              <a:cs typeface="微软雅黑"/>
            </a:endParaRPr>
          </a:p>
          <a:p>
            <a:pPr marL="1452245">
              <a:lnSpc>
                <a:spcPct val="100000"/>
              </a:lnSpc>
              <a:spcBef>
                <a:spcPts val="1895"/>
              </a:spcBef>
            </a:pPr>
            <a:r>
              <a:rPr sz="2000" spc="-5" dirty="0">
                <a:latin typeface="黑体"/>
                <a:cs typeface="黑体"/>
              </a:rPr>
              <a:t>两个程序在</a:t>
            </a:r>
            <a:r>
              <a:rPr sz="2000" spc="-10" dirty="0">
                <a:latin typeface="黑体"/>
                <a:cs typeface="黑体"/>
              </a:rPr>
              <a:t>A</a:t>
            </a:r>
            <a:r>
              <a:rPr sz="2000" dirty="0">
                <a:latin typeface="黑体"/>
                <a:cs typeface="黑体"/>
              </a:rPr>
              <a:t>、</a:t>
            </a:r>
            <a:r>
              <a:rPr sz="2000" spc="-10" dirty="0">
                <a:latin typeface="黑体"/>
                <a:cs typeface="黑体"/>
              </a:rPr>
              <a:t>B</a:t>
            </a:r>
            <a:r>
              <a:rPr sz="2000" dirty="0">
                <a:latin typeface="黑体"/>
                <a:cs typeface="黑体"/>
              </a:rPr>
              <a:t>、</a:t>
            </a:r>
            <a:r>
              <a:rPr sz="2000" spc="-10" dirty="0">
                <a:latin typeface="黑体"/>
                <a:cs typeface="黑体"/>
              </a:rPr>
              <a:t>C</a:t>
            </a:r>
            <a:r>
              <a:rPr sz="2000" spc="-20" dirty="0">
                <a:latin typeface="黑体"/>
                <a:cs typeface="黑体"/>
              </a:rPr>
              <a:t>三台机器上的执行时间</a:t>
            </a:r>
            <a:endParaRPr sz="2000">
              <a:latin typeface="黑体"/>
              <a:cs typeface="黑体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6212" y="2015299"/>
          <a:ext cx="7447280" cy="3997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3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3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3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800" b="1" spc="-3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程序</a:t>
                      </a:r>
                      <a:r>
                        <a:rPr sz="1800" b="1" spc="-5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304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0.909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0.999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程序</a:t>
                      </a:r>
                      <a:r>
                        <a:rPr sz="1800" b="1" spc="-5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1000.00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304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0.091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0.001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（1）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500.50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（2）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91.91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（3）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2.00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549388" y="2020569"/>
            <a:ext cx="4369435" cy="9766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加权执行时间：</a:t>
            </a:r>
            <a:r>
              <a:rPr sz="1800" spc="-5" dirty="0">
                <a:latin typeface="宋体"/>
                <a:cs typeface="宋体"/>
              </a:rPr>
              <a:t>各测试程序执行时间的加权</a:t>
            </a:r>
            <a:endParaRPr sz="1800">
              <a:latin typeface="宋体"/>
              <a:cs typeface="宋体"/>
            </a:endParaRPr>
          </a:p>
          <a:p>
            <a:pPr marR="220345" algn="ctr">
              <a:lnSpc>
                <a:spcPct val="100000"/>
              </a:lnSpc>
              <a:spcBef>
                <a:spcPts val="650"/>
              </a:spcBef>
            </a:pPr>
            <a:r>
              <a:rPr sz="1800" spc="-20" dirty="0">
                <a:latin typeface="宋体"/>
                <a:cs typeface="宋体"/>
              </a:rPr>
              <a:t>平均值</a:t>
            </a:r>
            <a:endParaRPr sz="1800">
              <a:latin typeface="宋体"/>
              <a:cs typeface="宋体"/>
            </a:endParaRPr>
          </a:p>
          <a:p>
            <a:pPr marR="139700" algn="ctr">
              <a:lnSpc>
                <a:spcPct val="100000"/>
              </a:lnSpc>
              <a:spcBef>
                <a:spcPts val="10"/>
              </a:spcBef>
            </a:pPr>
            <a:r>
              <a:rPr sz="1550" i="1" spc="-50" dirty="0"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09230" y="3923316"/>
            <a:ext cx="3810000" cy="73850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1800" dirty="0">
                <a:latin typeface="宋体"/>
                <a:cs typeface="宋体"/>
              </a:rPr>
              <a:t>其中：</a:t>
            </a:r>
            <a:r>
              <a:rPr sz="1800" dirty="0">
                <a:solidFill>
                  <a:srgbClr val="6600FF"/>
                </a:solidFill>
                <a:latin typeface="宋体"/>
                <a:cs typeface="宋体"/>
              </a:rPr>
              <a:t>T</a:t>
            </a:r>
            <a:r>
              <a:rPr sz="1800" baseline="-20833" dirty="0">
                <a:solidFill>
                  <a:srgbClr val="6600FF"/>
                </a:solidFill>
                <a:latin typeface="宋体"/>
                <a:cs typeface="宋体"/>
              </a:rPr>
              <a:t>i</a:t>
            </a:r>
            <a:r>
              <a:rPr sz="1800" dirty="0">
                <a:latin typeface="宋体"/>
                <a:cs typeface="宋体"/>
              </a:rPr>
              <a:t>：第i</a:t>
            </a:r>
            <a:r>
              <a:rPr sz="1800" spc="-5" dirty="0">
                <a:latin typeface="宋体"/>
                <a:cs typeface="宋体"/>
              </a:rPr>
              <a:t>个测试程序的执行时间</a:t>
            </a:r>
            <a:endParaRPr sz="1800">
              <a:latin typeface="宋体"/>
              <a:cs typeface="宋体"/>
            </a:endParaRPr>
          </a:p>
          <a:p>
            <a:pPr marL="723900">
              <a:lnSpc>
                <a:spcPct val="100000"/>
              </a:lnSpc>
              <a:spcBef>
                <a:spcPts val="645"/>
              </a:spcBef>
            </a:pPr>
            <a:r>
              <a:rPr sz="1800" spc="-10" dirty="0">
                <a:solidFill>
                  <a:srgbClr val="6600FF"/>
                </a:solidFill>
                <a:latin typeface="宋体"/>
                <a:cs typeface="宋体"/>
              </a:rPr>
              <a:t>n</a:t>
            </a:r>
            <a:r>
              <a:rPr sz="1800" spc="-15" dirty="0">
                <a:latin typeface="宋体"/>
                <a:cs typeface="宋体"/>
              </a:rPr>
              <a:t>：测试程序组中程序的个数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3839" y="2682284"/>
            <a:ext cx="1784985" cy="97726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325" i="1" baseline="-21505" dirty="0">
                <a:latin typeface="Times New Roman"/>
                <a:cs typeface="Times New Roman"/>
              </a:rPr>
              <a:t>m</a:t>
            </a:r>
            <a:r>
              <a:rPr sz="2325" i="1" spc="525" baseline="-21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5925" baseline="-9142" dirty="0">
                <a:latin typeface="Symbol"/>
                <a:cs typeface="Symbol"/>
              </a:rPr>
              <a:t></a:t>
            </a:r>
            <a:r>
              <a:rPr sz="2400" i="1" dirty="0">
                <a:latin typeface="Times New Roman"/>
                <a:cs typeface="Times New Roman"/>
              </a:rPr>
              <a:t>W</a:t>
            </a:r>
            <a:r>
              <a:rPr sz="2325" i="1" baseline="-21505" dirty="0">
                <a:latin typeface="Times New Roman"/>
                <a:cs typeface="Times New Roman"/>
              </a:rPr>
              <a:t>i</a:t>
            </a:r>
            <a:r>
              <a:rPr sz="2325" i="1" spc="315" baseline="-2150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Symbol"/>
                <a:cs typeface="Symbol"/>
              </a:rPr>
              <a:t></a:t>
            </a:r>
            <a:r>
              <a:rPr sz="2400" i="1" spc="-25" dirty="0">
                <a:latin typeface="Times New Roman"/>
                <a:cs typeface="Times New Roman"/>
              </a:rPr>
              <a:t>T</a:t>
            </a:r>
            <a:r>
              <a:rPr sz="2325" i="1" spc="-37" baseline="-21505" dirty="0">
                <a:latin typeface="Times New Roman"/>
                <a:cs typeface="Times New Roman"/>
              </a:rPr>
              <a:t>i</a:t>
            </a:r>
            <a:endParaRPr sz="2325" baseline="-21505">
              <a:latin typeface="Times New Roman"/>
              <a:cs typeface="Times New Roman"/>
            </a:endParaRPr>
          </a:p>
          <a:p>
            <a:pPr marR="31750" algn="ctr">
              <a:lnSpc>
                <a:spcPct val="100000"/>
              </a:lnSpc>
              <a:spcBef>
                <a:spcPts val="240"/>
              </a:spcBef>
            </a:pPr>
            <a:r>
              <a:rPr sz="1550" i="1" spc="-25" dirty="0">
                <a:latin typeface="Times New Roman"/>
                <a:cs typeface="Times New Roman"/>
              </a:rPr>
              <a:t>i</a:t>
            </a:r>
            <a:r>
              <a:rPr sz="1550" spc="-25" dirty="0">
                <a:latin typeface="Symbol"/>
                <a:cs typeface="Symbol"/>
              </a:rPr>
              <a:t>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73525" y="4737983"/>
            <a:ext cx="123825" cy="2578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i="1" spc="-50" dirty="0">
                <a:latin typeface="Times New Roman"/>
                <a:cs typeface="Times New Roman"/>
              </a:rPr>
              <a:t>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9260" y="4685365"/>
            <a:ext cx="1237615" cy="96266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30"/>
              </a:spcBef>
            </a:pPr>
            <a:r>
              <a:rPr sz="5850" spc="82" baseline="-9259" dirty="0">
                <a:latin typeface="Symbol"/>
                <a:cs typeface="Symbol"/>
              </a:rPr>
              <a:t></a:t>
            </a:r>
            <a:r>
              <a:rPr sz="2400" i="1" spc="55" dirty="0">
                <a:latin typeface="Times New Roman"/>
                <a:cs typeface="Times New Roman"/>
              </a:rPr>
              <a:t>W</a:t>
            </a:r>
            <a:r>
              <a:rPr sz="2250" i="1" spc="82" baseline="-22222" dirty="0">
                <a:latin typeface="Times New Roman"/>
                <a:cs typeface="Times New Roman"/>
              </a:rPr>
              <a:t>i</a:t>
            </a:r>
            <a:r>
              <a:rPr sz="2250" i="1" spc="135" baseline="-22222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3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265"/>
              </a:spcBef>
            </a:pPr>
            <a:r>
              <a:rPr sz="1500" i="1" spc="-25" dirty="0">
                <a:latin typeface="Times New Roman"/>
                <a:cs typeface="Times New Roman"/>
              </a:rPr>
              <a:t>i</a:t>
            </a:r>
            <a:r>
              <a:rPr sz="1500" spc="-25" dirty="0">
                <a:latin typeface="Symbol"/>
                <a:cs typeface="Symbol"/>
              </a:rPr>
              <a:t></a:t>
            </a:r>
            <a:r>
              <a:rPr sz="1500" spc="-2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153" y="160782"/>
            <a:ext cx="113169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z="3200" b="1" u="sng" spc="215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1.3</a:t>
            </a:r>
            <a:r>
              <a:rPr sz="3200" b="1" u="sng" spc="-10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200" b="1" u="sng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计算机系统的性能评</a:t>
            </a:r>
            <a:r>
              <a:rPr sz="3200" b="1" u="sng" spc="-50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测</a:t>
            </a:r>
            <a:r>
              <a:rPr sz="3200" b="1" u="sng" dirty="0">
                <a:solidFill>
                  <a:srgbClr val="044775"/>
                </a:solidFill>
                <a:uFill>
                  <a:solidFill>
                    <a:srgbClr val="7E7E7E"/>
                  </a:solidFill>
                </a:uFill>
                <a:latin typeface="微软雅黑"/>
                <a:cs typeface="微软雅黑"/>
              </a:rPr>
              <a:t>	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4091" y="921842"/>
            <a:ext cx="6165850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25" dirty="0">
                <a:solidFill>
                  <a:srgbClr val="0000FF"/>
                </a:solidFill>
                <a:latin typeface="Times New Roman"/>
                <a:cs typeface="Times New Roman"/>
              </a:rPr>
              <a:t>3.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800" spc="-45" dirty="0">
                <a:latin typeface="微软雅黑"/>
                <a:cs typeface="微软雅黑"/>
              </a:rPr>
              <a:t>性能比较</a:t>
            </a:r>
            <a:endParaRPr sz="2800">
              <a:latin typeface="微软雅黑"/>
              <a:cs typeface="微软雅黑"/>
            </a:endParaRPr>
          </a:p>
          <a:p>
            <a:pPr marL="1452245">
              <a:lnSpc>
                <a:spcPct val="100000"/>
              </a:lnSpc>
              <a:spcBef>
                <a:spcPts val="1895"/>
              </a:spcBef>
            </a:pPr>
            <a:r>
              <a:rPr sz="2000" spc="-5" dirty="0">
                <a:latin typeface="黑体"/>
                <a:cs typeface="黑体"/>
              </a:rPr>
              <a:t>两个程序在</a:t>
            </a:r>
            <a:r>
              <a:rPr sz="2000" spc="-10" dirty="0">
                <a:latin typeface="黑体"/>
                <a:cs typeface="黑体"/>
              </a:rPr>
              <a:t>A</a:t>
            </a:r>
            <a:r>
              <a:rPr sz="2000" dirty="0">
                <a:latin typeface="黑体"/>
                <a:cs typeface="黑体"/>
              </a:rPr>
              <a:t>、</a:t>
            </a:r>
            <a:r>
              <a:rPr sz="2000" spc="-10" dirty="0">
                <a:latin typeface="黑体"/>
                <a:cs typeface="黑体"/>
              </a:rPr>
              <a:t>B</a:t>
            </a:r>
            <a:r>
              <a:rPr sz="2000" dirty="0">
                <a:latin typeface="黑体"/>
                <a:cs typeface="黑体"/>
              </a:rPr>
              <a:t>、</a:t>
            </a:r>
            <a:r>
              <a:rPr sz="2000" spc="-10" dirty="0">
                <a:latin typeface="黑体"/>
                <a:cs typeface="黑体"/>
              </a:rPr>
              <a:t>C</a:t>
            </a:r>
            <a:r>
              <a:rPr sz="2000" spc="-20" dirty="0">
                <a:latin typeface="黑体"/>
                <a:cs typeface="黑体"/>
              </a:rPr>
              <a:t>三台机器上的执行时间</a:t>
            </a:r>
            <a:endParaRPr sz="2000">
              <a:latin typeface="黑体"/>
              <a:cs typeface="黑体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6212" y="2015299"/>
          <a:ext cx="7447280" cy="3997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7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34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59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机器</a:t>
                      </a:r>
                      <a:r>
                        <a:rPr sz="1800" spc="-5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7780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3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3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3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800" b="1" spc="-3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2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W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（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800" b="1" spc="-20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）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程序</a:t>
                      </a:r>
                      <a:r>
                        <a:rPr sz="1800" b="1" spc="-5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304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0.909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0.999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程序</a:t>
                      </a:r>
                      <a:r>
                        <a:rPr sz="1800" b="1" spc="-5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1000.00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solidFill>
                            <a:srgbClr val="006600"/>
                          </a:solidFill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marR="3048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0.091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0.001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（1）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500.50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（2）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91.91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545"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800" b="1" spc="-30" dirty="0">
                          <a:latin typeface="宋体"/>
                          <a:cs typeface="宋体"/>
                        </a:rPr>
                        <a:t>加权算术</a:t>
                      </a:r>
                      <a:endParaRPr sz="1800">
                        <a:latin typeface="宋体"/>
                        <a:cs typeface="宋体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87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平均值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A</a:t>
                      </a:r>
                      <a:r>
                        <a:rPr sz="1800" b="1" spc="-30" baseline="-20833" dirty="0">
                          <a:latin typeface="宋体"/>
                          <a:cs typeface="宋体"/>
                        </a:rPr>
                        <a:t>m</a:t>
                      </a:r>
                      <a:r>
                        <a:rPr sz="1800" b="1" spc="-20" dirty="0">
                          <a:latin typeface="宋体"/>
                          <a:cs typeface="宋体"/>
                        </a:rPr>
                        <a:t>（3）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6476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20" dirty="0">
                          <a:latin typeface="宋体"/>
                          <a:cs typeface="宋体"/>
                        </a:rPr>
                        <a:t>2.00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10.00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800" b="1" spc="-10" dirty="0">
                          <a:latin typeface="宋体"/>
                          <a:cs typeface="宋体"/>
                        </a:rPr>
                        <a:t>20.00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181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728392" y="1423700"/>
            <a:ext cx="6223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i="1" spc="-50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51878" y="909954"/>
            <a:ext cx="162560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39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宋体"/>
                <a:cs typeface="宋体"/>
              </a:rPr>
              <a:t>加权几何平均值</a:t>
            </a:r>
            <a:endParaRPr sz="1800">
              <a:latin typeface="宋体"/>
              <a:cs typeface="宋体"/>
            </a:endParaRPr>
          </a:p>
          <a:p>
            <a:pPr marR="151765" algn="ctr">
              <a:lnSpc>
                <a:spcPts val="1620"/>
              </a:lnSpc>
            </a:pPr>
            <a:r>
              <a:rPr sz="1450" i="1" spc="-50" dirty="0">
                <a:latin typeface="Times New Roman"/>
                <a:cs typeface="Times New Roman"/>
              </a:rPr>
              <a:t>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491419" y="1325650"/>
            <a:ext cx="163385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66850" algn="l"/>
              </a:tabLst>
            </a:pPr>
            <a:r>
              <a:rPr sz="1450" i="1" spc="-50" dirty="0">
                <a:latin typeface="Times New Roman"/>
                <a:cs typeface="Times New Roman"/>
              </a:rPr>
              <a:t>W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-50" dirty="0">
                <a:latin typeface="Times New Roman"/>
                <a:cs typeface="Times New Roman"/>
              </a:rPr>
              <a:t>W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20442" y="1269601"/>
            <a:ext cx="2164080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13410" algn="l"/>
                <a:tab pos="987425" algn="l"/>
                <a:tab pos="2068195" algn="l"/>
              </a:tabLst>
            </a:pPr>
            <a:r>
              <a:rPr sz="2250" dirty="0">
                <a:latin typeface="Symbol"/>
                <a:cs typeface="Symbol"/>
              </a:rPr>
              <a:t></a:t>
            </a:r>
            <a:r>
              <a:rPr sz="2250" spc="-26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Symbol"/>
                <a:cs typeface="Symbol"/>
              </a:rPr>
              <a:t></a:t>
            </a:r>
            <a:r>
              <a:rPr sz="2250" i="1" spc="-25" dirty="0">
                <a:latin typeface="Times New Roman"/>
                <a:cs typeface="Times New Roman"/>
              </a:rPr>
              <a:t>R</a:t>
            </a:r>
            <a:r>
              <a:rPr sz="2250" i="1" dirty="0">
                <a:latin typeface="Times New Roman"/>
                <a:cs typeface="Times New Roman"/>
              </a:rPr>
              <a:t>	</a:t>
            </a:r>
            <a:r>
              <a:rPr sz="3000" spc="-310" dirty="0">
                <a:latin typeface="Symbol"/>
                <a:cs typeface="Symbol"/>
              </a:rPr>
              <a:t>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2250" spc="85" dirty="0">
                <a:latin typeface="Symbol"/>
                <a:cs typeface="Symbol"/>
              </a:rPr>
              <a:t></a:t>
            </a:r>
            <a:r>
              <a:rPr sz="2250" spc="85" dirty="0">
                <a:latin typeface="MT Extra"/>
                <a:cs typeface="MT Extra"/>
              </a:rPr>
              <a:t></a:t>
            </a:r>
            <a:r>
              <a:rPr sz="2250" spc="85" dirty="0">
                <a:latin typeface="Symbol"/>
                <a:cs typeface="Symbol"/>
              </a:rPr>
              <a:t></a:t>
            </a:r>
            <a:r>
              <a:rPr sz="2250" spc="-270" dirty="0">
                <a:latin typeface="Times New Roman"/>
                <a:cs typeface="Times New Roman"/>
              </a:rPr>
              <a:t> </a:t>
            </a:r>
            <a:r>
              <a:rPr sz="3000" spc="-25" dirty="0">
                <a:latin typeface="Symbol"/>
                <a:cs typeface="Symbol"/>
              </a:rPr>
              <a:t></a:t>
            </a:r>
            <a:r>
              <a:rPr sz="2250" i="1" spc="-25" dirty="0">
                <a:latin typeface="Times New Roman"/>
                <a:cs typeface="Times New Roman"/>
              </a:rPr>
              <a:t>R</a:t>
            </a:r>
            <a:r>
              <a:rPr sz="2250" i="1" dirty="0">
                <a:latin typeface="Times New Roman"/>
                <a:cs typeface="Times New Roman"/>
              </a:rPr>
              <a:t>	</a:t>
            </a:r>
            <a:r>
              <a:rPr sz="3000" spc="-515" dirty="0">
                <a:latin typeface="Symbol"/>
                <a:cs typeface="Symbol"/>
              </a:rPr>
              <a:t>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42025" y="1423700"/>
            <a:ext cx="154559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466215" algn="l"/>
              </a:tabLst>
            </a:pPr>
            <a:r>
              <a:rPr sz="1000" spc="-50" dirty="0">
                <a:latin typeface="Times New Roman"/>
                <a:cs typeface="Times New Roman"/>
              </a:rPr>
              <a:t>2</a:t>
            </a:r>
            <a:r>
              <a:rPr sz="1000" dirty="0">
                <a:latin typeface="Times New Roman"/>
                <a:cs typeface="Times New Roman"/>
              </a:rPr>
              <a:t>	</a:t>
            </a:r>
            <a:r>
              <a:rPr sz="1000" i="1" spc="-50" dirty="0">
                <a:latin typeface="Times New Roman"/>
                <a:cs typeface="Times New Roman"/>
              </a:rPr>
              <a:t>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86802" y="1542286"/>
            <a:ext cx="156972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64310" algn="l"/>
              </a:tabLst>
            </a:pPr>
            <a:r>
              <a:rPr sz="1450" spc="-50" dirty="0">
                <a:latin typeface="Times New Roman"/>
                <a:cs typeface="Times New Roman"/>
              </a:rPr>
              <a:t>2</a:t>
            </a:r>
            <a:r>
              <a:rPr sz="1450" dirty="0">
                <a:latin typeface="Times New Roman"/>
                <a:cs typeface="Times New Roman"/>
              </a:rPr>
              <a:t>	</a:t>
            </a:r>
            <a:r>
              <a:rPr sz="1450" i="1" spc="-50" dirty="0">
                <a:latin typeface="Times New Roman"/>
                <a:cs typeface="Times New Roman"/>
              </a:rPr>
              <a:t>n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22580" y="1325650"/>
            <a:ext cx="118491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30605" algn="l"/>
              </a:tabLst>
            </a:pPr>
            <a:r>
              <a:rPr sz="1450" i="1" spc="-50" dirty="0">
                <a:latin typeface="Times New Roman"/>
                <a:cs typeface="Times New Roman"/>
              </a:rPr>
              <a:t>W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i="1" spc="-50" dirty="0">
                <a:latin typeface="Times New Roman"/>
                <a:cs typeface="Times New Roman"/>
              </a:rPr>
              <a:t>W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37458" y="1542286"/>
            <a:ext cx="158750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i="1" spc="-50" dirty="0">
                <a:latin typeface="Times New Roman"/>
                <a:cs typeface="Times New Roman"/>
              </a:rPr>
              <a:t>m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89069" y="1269601"/>
            <a:ext cx="1489710" cy="4864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08990" algn="l"/>
              </a:tabLst>
            </a:pPr>
            <a:r>
              <a:rPr sz="3000" dirty="0">
                <a:latin typeface="Symbol"/>
                <a:cs typeface="Symbol"/>
              </a:rPr>
              <a:t></a:t>
            </a:r>
            <a:r>
              <a:rPr sz="2250" i="1" dirty="0">
                <a:latin typeface="Times New Roman"/>
                <a:cs typeface="Times New Roman"/>
              </a:rPr>
              <a:t>R</a:t>
            </a:r>
            <a:r>
              <a:rPr sz="2250" i="1" spc="-95" dirty="0">
                <a:latin typeface="Times New Roman"/>
                <a:cs typeface="Times New Roman"/>
              </a:rPr>
              <a:t> </a:t>
            </a:r>
            <a:r>
              <a:rPr sz="3000" spc="-310" dirty="0">
                <a:latin typeface="Symbol"/>
                <a:cs typeface="Symbol"/>
              </a:rPr>
              <a:t></a:t>
            </a:r>
            <a:r>
              <a:rPr sz="3000" dirty="0">
                <a:latin typeface="Times New Roman"/>
                <a:cs typeface="Times New Roman"/>
              </a:rPr>
              <a:t>	</a:t>
            </a:r>
            <a:r>
              <a:rPr sz="2250" dirty="0">
                <a:latin typeface="Symbol"/>
                <a:cs typeface="Symbol"/>
              </a:rPr>
              <a:t></a:t>
            </a:r>
            <a:r>
              <a:rPr sz="2250" spc="-145" dirty="0">
                <a:latin typeface="Times New Roman"/>
                <a:cs typeface="Times New Roman"/>
              </a:rPr>
              <a:t> </a:t>
            </a:r>
            <a:r>
              <a:rPr sz="3000" dirty="0">
                <a:latin typeface="Symbol"/>
                <a:cs typeface="Symbol"/>
              </a:rPr>
              <a:t></a:t>
            </a:r>
            <a:r>
              <a:rPr sz="2250" i="1" dirty="0">
                <a:latin typeface="Times New Roman"/>
                <a:cs typeface="Times New Roman"/>
              </a:rPr>
              <a:t>R</a:t>
            </a:r>
            <a:r>
              <a:rPr sz="2250" i="1" spc="-15" dirty="0">
                <a:latin typeface="Times New Roman"/>
                <a:cs typeface="Times New Roman"/>
              </a:rPr>
              <a:t> </a:t>
            </a:r>
            <a:r>
              <a:rPr sz="3000" spc="-509" dirty="0">
                <a:latin typeface="Symbol"/>
                <a:cs typeface="Symbol"/>
              </a:rPr>
              <a:t>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29060" y="1365921"/>
            <a:ext cx="621665" cy="3708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448945" algn="l"/>
              </a:tabLst>
            </a:pPr>
            <a:r>
              <a:rPr sz="2250" i="1" spc="-50" dirty="0">
                <a:latin typeface="Times New Roman"/>
                <a:cs typeface="Times New Roman"/>
              </a:rPr>
              <a:t>G</a:t>
            </a:r>
            <a:r>
              <a:rPr sz="2250" i="1" dirty="0">
                <a:latin typeface="Times New Roman"/>
                <a:cs typeface="Times New Roman"/>
              </a:rPr>
              <a:t>	</a:t>
            </a:r>
            <a:r>
              <a:rPr sz="2250" spc="-50" dirty="0">
                <a:latin typeface="Symbol"/>
                <a:cs typeface="Symbol"/>
              </a:rPr>
              <a:t></a:t>
            </a:r>
            <a:endParaRPr sz="225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76771" y="1265430"/>
            <a:ext cx="416559" cy="590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700" spc="-50" dirty="0">
                <a:latin typeface="Symbol"/>
                <a:cs typeface="Symbol"/>
              </a:rPr>
              <a:t>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76587" y="1423700"/>
            <a:ext cx="91440" cy="1828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00" spc="-50" dirty="0">
                <a:latin typeface="Times New Roman"/>
                <a:cs typeface="Times New Roman"/>
              </a:rPr>
              <a:t>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52759" y="1542286"/>
            <a:ext cx="111569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09650" algn="l"/>
              </a:tabLst>
            </a:pPr>
            <a:r>
              <a:rPr sz="1450" i="1" spc="-50" dirty="0">
                <a:latin typeface="Times New Roman"/>
                <a:cs typeface="Times New Roman"/>
              </a:rPr>
              <a:t>i</a:t>
            </a:r>
            <a:r>
              <a:rPr sz="1450" i="1" dirty="0">
                <a:latin typeface="Times New Roman"/>
                <a:cs typeface="Times New Roman"/>
              </a:rPr>
              <a:t>	</a:t>
            </a:r>
            <a:r>
              <a:rPr sz="1450" spc="-5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54593" y="1779217"/>
            <a:ext cx="273685" cy="2451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50" i="1" spc="-25" dirty="0">
                <a:latin typeface="Times New Roman"/>
                <a:cs typeface="Times New Roman"/>
              </a:rPr>
              <a:t>i</a:t>
            </a:r>
            <a:r>
              <a:rPr sz="1450" spc="-25" dirty="0">
                <a:latin typeface="Symbol"/>
                <a:cs typeface="Symbol"/>
              </a:rPr>
              <a:t></a:t>
            </a:r>
            <a:r>
              <a:rPr sz="1450" spc="-25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93152" y="2273046"/>
            <a:ext cx="44754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6600FF"/>
                </a:solidFill>
                <a:latin typeface="Times New Roman"/>
                <a:cs typeface="Times New Roman"/>
              </a:rPr>
              <a:t>G</a:t>
            </a:r>
            <a:r>
              <a:rPr sz="1800" spc="-30" baseline="-20833" dirty="0">
                <a:solidFill>
                  <a:srgbClr val="6600FF"/>
                </a:solidFill>
                <a:latin typeface="Times New Roman"/>
                <a:cs typeface="Times New Roman"/>
              </a:rPr>
              <a:t>m</a:t>
            </a:r>
            <a:r>
              <a:rPr sz="1800" dirty="0">
                <a:latin typeface="宋体"/>
                <a:cs typeface="宋体"/>
              </a:rPr>
              <a:t>表示法有一个很好的特性：</a:t>
            </a:r>
            <a:r>
              <a:rPr sz="1800" spc="-10" dirty="0">
                <a:solidFill>
                  <a:srgbClr val="E14B04"/>
                </a:solidFill>
                <a:latin typeface="宋体"/>
                <a:cs typeface="宋体"/>
              </a:rPr>
              <a:t>几何平均值的</a:t>
            </a:r>
            <a:r>
              <a:rPr sz="1800" spc="-5" dirty="0">
                <a:solidFill>
                  <a:srgbClr val="E14B04"/>
                </a:solidFill>
                <a:latin typeface="宋体"/>
                <a:cs typeface="宋体"/>
              </a:rPr>
              <a:t>比等于比的几何平均值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31685" y="3923191"/>
            <a:ext cx="955675" cy="0"/>
          </a:xfrm>
          <a:custGeom>
            <a:avLst/>
            <a:gdLst/>
            <a:ahLst/>
            <a:cxnLst/>
            <a:rect l="l" t="t" r="r" b="b"/>
            <a:pathLst>
              <a:path w="955675">
                <a:moveTo>
                  <a:pt x="0" y="0"/>
                </a:moveTo>
                <a:lnTo>
                  <a:pt x="955261" y="0"/>
                </a:lnTo>
              </a:path>
            </a:pathLst>
          </a:custGeom>
          <a:ln w="149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327205" y="3923191"/>
            <a:ext cx="327660" cy="0"/>
          </a:xfrm>
          <a:custGeom>
            <a:avLst/>
            <a:gdLst/>
            <a:ahLst/>
            <a:cxnLst/>
            <a:rect l="l" t="t" r="r" b="b"/>
            <a:pathLst>
              <a:path w="327659">
                <a:moveTo>
                  <a:pt x="0" y="0"/>
                </a:moveTo>
                <a:lnTo>
                  <a:pt x="327646" y="0"/>
                </a:lnTo>
              </a:path>
            </a:pathLst>
          </a:custGeom>
          <a:ln w="149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0142054" y="3634722"/>
            <a:ext cx="69659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54355" algn="l"/>
              </a:tabLst>
            </a:pPr>
            <a:r>
              <a:rPr sz="2600" spc="-50" dirty="0">
                <a:latin typeface="Symbol"/>
                <a:cs typeface="Symbol"/>
              </a:rPr>
              <a:t>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Symbol"/>
                <a:cs typeface="Symbol"/>
              </a:rPr>
              <a:t>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42055" y="4011797"/>
            <a:ext cx="69659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92430" algn="l"/>
              </a:tabLst>
            </a:pPr>
            <a:r>
              <a:rPr sz="2600" spc="-50" dirty="0">
                <a:latin typeface="Symbol"/>
                <a:cs typeface="Symbol"/>
              </a:rPr>
              <a:t>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475" i="1" baseline="1683" dirty="0">
                <a:latin typeface="Times New Roman"/>
                <a:cs typeface="Times New Roman"/>
              </a:rPr>
              <a:t>i</a:t>
            </a:r>
            <a:r>
              <a:rPr sz="2475" i="1" spc="585" baseline="1683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Symbol"/>
                <a:cs typeface="Symbol"/>
              </a:rPr>
              <a:t>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50836" y="3864263"/>
            <a:ext cx="180340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i="1" spc="-50" dirty="0">
                <a:latin typeface="Times New Roman"/>
                <a:cs typeface="Times New Roman"/>
              </a:rPr>
              <a:t>m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60455" y="3659260"/>
            <a:ext cx="515620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latin typeface="Symbol"/>
                <a:cs typeface="Symbol"/>
              </a:rPr>
              <a:t></a:t>
            </a:r>
            <a:r>
              <a:rPr sz="2600" spc="-145" dirty="0">
                <a:latin typeface="Times New Roman"/>
                <a:cs typeface="Times New Roman"/>
              </a:rPr>
              <a:t> </a:t>
            </a:r>
            <a:r>
              <a:rPr sz="2600" i="1" spc="-50" dirty="0">
                <a:latin typeface="Times New Roman"/>
                <a:cs typeface="Times New Roman"/>
              </a:rPr>
              <a:t>G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76907" y="4126071"/>
            <a:ext cx="565785" cy="2813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92759" algn="l"/>
              </a:tabLst>
            </a:pPr>
            <a:r>
              <a:rPr sz="1650" i="1" spc="-50" dirty="0">
                <a:latin typeface="Times New Roman"/>
                <a:cs typeface="Times New Roman"/>
              </a:rPr>
              <a:t>m</a:t>
            </a:r>
            <a:r>
              <a:rPr sz="1650" i="1" dirty="0">
                <a:latin typeface="Times New Roman"/>
                <a:cs typeface="Times New Roman"/>
              </a:rPr>
              <a:t>	</a:t>
            </a:r>
            <a:r>
              <a:rPr sz="1650" i="1" spc="-50" dirty="0">
                <a:latin typeface="Times New Roman"/>
                <a:cs typeface="Times New Roman"/>
              </a:rPr>
              <a:t>i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33981" y="3807574"/>
            <a:ext cx="975994" cy="562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0215" algn="l"/>
              </a:tabLst>
            </a:pPr>
            <a:r>
              <a:rPr sz="2600" i="1" spc="-50" dirty="0">
                <a:latin typeface="Times New Roman"/>
                <a:cs typeface="Times New Roman"/>
              </a:rPr>
              <a:t>G</a:t>
            </a:r>
            <a:r>
              <a:rPr sz="2600" i="1" dirty="0">
                <a:latin typeface="Times New Roman"/>
                <a:cs typeface="Times New Roman"/>
              </a:rPr>
              <a:t>	</a:t>
            </a:r>
            <a:r>
              <a:rPr sz="3500" dirty="0">
                <a:latin typeface="Symbol"/>
                <a:cs typeface="Symbol"/>
              </a:rPr>
              <a:t></a:t>
            </a:r>
            <a:r>
              <a:rPr sz="2600" i="1" dirty="0">
                <a:latin typeface="Times New Roman"/>
                <a:cs typeface="Times New Roman"/>
              </a:rPr>
              <a:t>y</a:t>
            </a:r>
            <a:r>
              <a:rPr sz="2600" i="1" spc="185" dirty="0">
                <a:latin typeface="Times New Roman"/>
                <a:cs typeface="Times New Roman"/>
              </a:rPr>
              <a:t> </a:t>
            </a:r>
            <a:r>
              <a:rPr sz="3500" spc="-355" dirty="0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19078" y="3331581"/>
            <a:ext cx="1005840" cy="562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600" i="1" dirty="0">
                <a:latin typeface="Times New Roman"/>
                <a:cs typeface="Times New Roman"/>
              </a:rPr>
              <a:t>G</a:t>
            </a:r>
            <a:r>
              <a:rPr sz="2475" i="1" baseline="-21885" dirty="0">
                <a:latin typeface="Times New Roman"/>
                <a:cs typeface="Times New Roman"/>
              </a:rPr>
              <a:t>m</a:t>
            </a:r>
            <a:r>
              <a:rPr sz="2475" i="1" spc="-157" baseline="-21885" dirty="0">
                <a:latin typeface="Times New Roman"/>
                <a:cs typeface="Times New Roman"/>
              </a:rPr>
              <a:t> </a:t>
            </a:r>
            <a:r>
              <a:rPr sz="3500" spc="-60" dirty="0">
                <a:latin typeface="Symbol"/>
                <a:cs typeface="Symbol"/>
              </a:rPr>
              <a:t></a:t>
            </a:r>
            <a:r>
              <a:rPr sz="2600" i="1" spc="-60" dirty="0">
                <a:latin typeface="Times New Roman"/>
                <a:cs typeface="Times New Roman"/>
              </a:rPr>
              <a:t>x</a:t>
            </a:r>
            <a:r>
              <a:rPr sz="2475" i="1" spc="-89" baseline="-21885" dirty="0">
                <a:latin typeface="Times New Roman"/>
                <a:cs typeface="Times New Roman"/>
              </a:rPr>
              <a:t>i</a:t>
            </a:r>
            <a:r>
              <a:rPr sz="2475" i="1" spc="37" baseline="-21885" dirty="0">
                <a:latin typeface="Times New Roman"/>
                <a:cs typeface="Times New Roman"/>
              </a:rPr>
              <a:t> </a:t>
            </a:r>
            <a:r>
              <a:rPr sz="3500" spc="-355" dirty="0">
                <a:latin typeface="Symbol"/>
                <a:cs typeface="Symbol"/>
              </a:rPr>
              <a:t>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70747" y="3920318"/>
            <a:ext cx="17462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i="1" spc="-50" dirty="0">
                <a:latin typeface="Times New Roman"/>
                <a:cs typeface="Times New Roman"/>
              </a:rPr>
              <a:t>y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116654" y="3421264"/>
            <a:ext cx="747395" cy="427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600" dirty="0">
                <a:latin typeface="Symbol"/>
                <a:cs typeface="Symbol"/>
              </a:rPr>
              <a:t>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3900" i="1" baseline="-4273" dirty="0">
                <a:latin typeface="Times New Roman"/>
                <a:cs typeface="Times New Roman"/>
              </a:rPr>
              <a:t>x</a:t>
            </a:r>
            <a:r>
              <a:rPr sz="2475" i="1" baseline="-28619" dirty="0">
                <a:latin typeface="Times New Roman"/>
                <a:cs typeface="Times New Roman"/>
              </a:rPr>
              <a:t>i</a:t>
            </a:r>
            <a:r>
              <a:rPr sz="2475" i="1" spc="719" baseline="-28619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Symbol"/>
                <a:cs typeface="Symbol"/>
              </a:rPr>
              <a:t></a:t>
            </a:r>
            <a:endParaRPr sz="26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153" y="160782"/>
            <a:ext cx="113169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1.3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计算机系统的性能评</a:t>
            </a:r>
            <a:r>
              <a:rPr spc="-50" dirty="0"/>
              <a:t>测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4091" y="721143"/>
            <a:ext cx="8691245" cy="1739264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75"/>
              </a:spcBef>
              <a:buClr>
                <a:srgbClr val="0000FF"/>
              </a:buClr>
              <a:buFont typeface="Times New Roman"/>
              <a:buAutoNum type="arabicPeriod" startAt="3"/>
              <a:tabLst>
                <a:tab pos="469265" algn="l"/>
              </a:tabLst>
            </a:pPr>
            <a:r>
              <a:rPr sz="2800" spc="-45" dirty="0">
                <a:latin typeface="微软雅黑"/>
                <a:cs typeface="微软雅黑"/>
              </a:rPr>
              <a:t>性能比较</a:t>
            </a:r>
            <a:endParaRPr sz="2800">
              <a:latin typeface="微软雅黑"/>
              <a:cs typeface="微软雅黑"/>
            </a:endParaRPr>
          </a:p>
          <a:p>
            <a:pPr marL="1965960" marR="5080" lvl="1" indent="-457200">
              <a:lnSpc>
                <a:spcPts val="4320"/>
              </a:lnSpc>
              <a:spcBef>
                <a:spcPts val="100"/>
              </a:spcBef>
              <a:buClr>
                <a:srgbClr val="EC7C30"/>
              </a:buClr>
              <a:buFont typeface="Wingdings"/>
              <a:buChar char=""/>
              <a:tabLst>
                <a:tab pos="1965960" algn="l"/>
              </a:tabLst>
            </a:pPr>
            <a:r>
              <a:rPr sz="2400" spc="80" dirty="0">
                <a:solidFill>
                  <a:srgbClr val="FF0000"/>
                </a:solidFill>
                <a:latin typeface="微软雅黑"/>
                <a:cs typeface="微软雅黑"/>
              </a:rPr>
              <a:t>几何平均值法：</a:t>
            </a:r>
            <a:r>
              <a:rPr sz="2400" spc="-5" dirty="0">
                <a:latin typeface="微软雅黑"/>
                <a:cs typeface="微软雅黑"/>
              </a:rPr>
              <a:t>以某台计算机的性能作为参考标准，其他计算机性能则除以该参考标准而获得一个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7529" y="2617978"/>
            <a:ext cx="94106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微软雅黑"/>
                <a:cs typeface="微软雅黑"/>
              </a:rPr>
              <a:t>比值。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3198" y="4765370"/>
            <a:ext cx="5479415" cy="1251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6600FF"/>
                </a:solidFill>
                <a:latin typeface="Times New Roman"/>
                <a:cs typeface="Times New Roman"/>
              </a:rPr>
              <a:t>R</a:t>
            </a:r>
            <a:r>
              <a:rPr sz="1800" spc="-15" baseline="-20833" dirty="0">
                <a:solidFill>
                  <a:srgbClr val="6600FF"/>
                </a:solidFill>
                <a:latin typeface="Times New Roman"/>
                <a:cs typeface="Times New Roman"/>
              </a:rPr>
              <a:t>i</a:t>
            </a:r>
            <a:r>
              <a:rPr sz="1800" spc="-10" dirty="0">
                <a:latin typeface="微软雅黑"/>
                <a:cs typeface="微软雅黑"/>
              </a:rPr>
              <a:t>：由</a:t>
            </a:r>
            <a:r>
              <a:rPr sz="1800" spc="-10" dirty="0">
                <a:solidFill>
                  <a:srgbClr val="6600FF"/>
                </a:solidFill>
                <a:latin typeface="Times New Roman"/>
                <a:cs typeface="Times New Roman"/>
              </a:rPr>
              <a:t>n</a:t>
            </a:r>
            <a:r>
              <a:rPr sz="1800" spc="-10" dirty="0">
                <a:latin typeface="微软雅黑"/>
                <a:cs typeface="微软雅黑"/>
              </a:rPr>
              <a:t>个程序组成的工作负荷中执行第</a:t>
            </a:r>
            <a:r>
              <a:rPr sz="1800" dirty="0">
                <a:solidFill>
                  <a:srgbClr val="6600FF"/>
                </a:solidFill>
                <a:latin typeface="Times New Roman"/>
                <a:cs typeface="Times New Roman"/>
              </a:rPr>
              <a:t>i</a:t>
            </a:r>
            <a:r>
              <a:rPr sz="1800" spc="-20" dirty="0">
                <a:latin typeface="微软雅黑"/>
                <a:cs typeface="微软雅黑"/>
              </a:rPr>
              <a:t>个程序的速度</a:t>
            </a:r>
            <a:endParaRPr sz="1800">
              <a:latin typeface="微软雅黑"/>
              <a:cs typeface="微软雅黑"/>
            </a:endParaRPr>
          </a:p>
          <a:p>
            <a:pPr marL="779780">
              <a:lnSpc>
                <a:spcPct val="100000"/>
              </a:lnSpc>
              <a:spcBef>
                <a:spcPts val="1585"/>
              </a:spcBef>
            </a:pPr>
            <a:r>
              <a:rPr sz="1800" spc="-10" dirty="0">
                <a:solidFill>
                  <a:srgbClr val="6600FF"/>
                </a:solidFill>
                <a:latin typeface="Times New Roman"/>
                <a:cs typeface="Times New Roman"/>
              </a:rPr>
              <a:t>R</a:t>
            </a:r>
            <a:r>
              <a:rPr sz="1800" spc="-15" baseline="-20833" dirty="0">
                <a:solidFill>
                  <a:srgbClr val="6600FF"/>
                </a:solidFill>
                <a:latin typeface="Times New Roman"/>
                <a:cs typeface="Times New Roman"/>
              </a:rPr>
              <a:t>i</a:t>
            </a:r>
            <a:r>
              <a:rPr sz="1800" spc="-10" dirty="0">
                <a:solidFill>
                  <a:srgbClr val="6600FF"/>
                </a:solidFill>
                <a:latin typeface="微软雅黑"/>
                <a:cs typeface="微软雅黑"/>
              </a:rPr>
              <a:t>＝</a:t>
            </a:r>
            <a:r>
              <a:rPr sz="1800" spc="-10" dirty="0">
                <a:solidFill>
                  <a:srgbClr val="6600FF"/>
                </a:solidFill>
                <a:latin typeface="Times New Roman"/>
                <a:cs typeface="Times New Roman"/>
              </a:rPr>
              <a:t>1/T</a:t>
            </a:r>
            <a:r>
              <a:rPr sz="1800" spc="-15" baseline="-20833" dirty="0">
                <a:solidFill>
                  <a:srgbClr val="6600FF"/>
                </a:solidFill>
                <a:latin typeface="Times New Roman"/>
                <a:cs typeface="Times New Roman"/>
              </a:rPr>
              <a:t>i</a:t>
            </a:r>
            <a:endParaRPr sz="1800" baseline="-20833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585"/>
              </a:spcBef>
            </a:pPr>
            <a:r>
              <a:rPr sz="1800" spc="-20" dirty="0">
                <a:solidFill>
                  <a:srgbClr val="6600FF"/>
                </a:solidFill>
                <a:latin typeface="Times New Roman"/>
                <a:cs typeface="Times New Roman"/>
              </a:rPr>
              <a:t>∏</a:t>
            </a:r>
            <a:r>
              <a:rPr sz="1800" spc="-25" dirty="0">
                <a:latin typeface="微软雅黑"/>
                <a:cs typeface="微软雅黑"/>
              </a:rPr>
              <a:t>：连乘</a:t>
            </a:r>
            <a:endParaRPr sz="18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57582" y="2910928"/>
            <a:ext cx="941069" cy="921385"/>
            <a:chOff x="3957582" y="2910928"/>
            <a:chExt cx="941069" cy="921385"/>
          </a:xfrm>
        </p:grpSpPr>
        <p:sp>
          <p:nvSpPr>
            <p:cNvPr id="7" name="object 7"/>
            <p:cNvSpPr/>
            <p:nvPr/>
          </p:nvSpPr>
          <p:spPr>
            <a:xfrm>
              <a:off x="3964476" y="3475255"/>
              <a:ext cx="38100" cy="23495"/>
            </a:xfrm>
            <a:custGeom>
              <a:avLst/>
              <a:gdLst/>
              <a:ahLst/>
              <a:cxnLst/>
              <a:rect l="l" t="t" r="r" b="b"/>
              <a:pathLst>
                <a:path w="38100" h="23495">
                  <a:moveTo>
                    <a:pt x="0" y="23315"/>
                  </a:moveTo>
                  <a:lnTo>
                    <a:pt x="38068" y="0"/>
                  </a:lnTo>
                </a:path>
              </a:pathLst>
            </a:custGeom>
            <a:ln w="137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02545" y="3482813"/>
              <a:ext cx="56515" cy="335280"/>
            </a:xfrm>
            <a:custGeom>
              <a:avLst/>
              <a:gdLst/>
              <a:ahLst/>
              <a:cxnLst/>
              <a:rect l="l" t="t" r="r" b="b"/>
              <a:pathLst>
                <a:path w="56514" h="335279">
                  <a:moveTo>
                    <a:pt x="0" y="0"/>
                  </a:moveTo>
                  <a:lnTo>
                    <a:pt x="56069" y="335256"/>
                  </a:lnTo>
                </a:path>
              </a:pathLst>
            </a:custGeom>
            <a:ln w="276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65546" y="2917852"/>
              <a:ext cx="833119" cy="900430"/>
            </a:xfrm>
            <a:custGeom>
              <a:avLst/>
              <a:gdLst/>
              <a:ahLst/>
              <a:cxnLst/>
              <a:rect l="l" t="t" r="r" b="b"/>
              <a:pathLst>
                <a:path w="833120" h="900429">
                  <a:moveTo>
                    <a:pt x="0" y="900217"/>
                  </a:moveTo>
                  <a:lnTo>
                    <a:pt x="76165" y="0"/>
                  </a:lnTo>
                </a:path>
                <a:path w="833120" h="900429">
                  <a:moveTo>
                    <a:pt x="76165" y="0"/>
                  </a:moveTo>
                  <a:lnTo>
                    <a:pt x="832902" y="0"/>
                  </a:lnTo>
                </a:path>
              </a:pathLst>
            </a:custGeom>
            <a:ln w="138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5867724" y="3392303"/>
            <a:ext cx="270510" cy="0"/>
          </a:xfrm>
          <a:custGeom>
            <a:avLst/>
            <a:gdLst/>
            <a:ahLst/>
            <a:cxnLst/>
            <a:rect l="l" t="t" r="r" b="b"/>
            <a:pathLst>
              <a:path w="270510">
                <a:moveTo>
                  <a:pt x="0" y="0"/>
                </a:moveTo>
                <a:lnTo>
                  <a:pt x="270115" y="0"/>
                </a:lnTo>
              </a:path>
            </a:pathLst>
          </a:custGeom>
          <a:ln w="1376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220423" y="2910929"/>
            <a:ext cx="945515" cy="921385"/>
            <a:chOff x="5220423" y="2910929"/>
            <a:chExt cx="945515" cy="921385"/>
          </a:xfrm>
        </p:grpSpPr>
        <p:sp>
          <p:nvSpPr>
            <p:cNvPr id="12" name="object 12"/>
            <p:cNvSpPr/>
            <p:nvPr/>
          </p:nvSpPr>
          <p:spPr>
            <a:xfrm>
              <a:off x="5227317" y="3475255"/>
              <a:ext cx="39370" cy="23495"/>
            </a:xfrm>
            <a:custGeom>
              <a:avLst/>
              <a:gdLst/>
              <a:ahLst/>
              <a:cxnLst/>
              <a:rect l="l" t="t" r="r" b="b"/>
              <a:pathLst>
                <a:path w="39370" h="23495">
                  <a:moveTo>
                    <a:pt x="0" y="23315"/>
                  </a:moveTo>
                  <a:lnTo>
                    <a:pt x="38767" y="0"/>
                  </a:lnTo>
                </a:path>
              </a:pathLst>
            </a:custGeom>
            <a:ln w="1378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66085" y="3482814"/>
              <a:ext cx="56515" cy="335280"/>
            </a:xfrm>
            <a:custGeom>
              <a:avLst/>
              <a:gdLst/>
              <a:ahLst/>
              <a:cxnLst/>
              <a:rect l="l" t="t" r="r" b="b"/>
              <a:pathLst>
                <a:path w="56514" h="335279">
                  <a:moveTo>
                    <a:pt x="0" y="0"/>
                  </a:moveTo>
                  <a:lnTo>
                    <a:pt x="56069" y="335256"/>
                  </a:lnTo>
                </a:path>
              </a:pathLst>
            </a:custGeom>
            <a:ln w="2768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29086" y="2917852"/>
              <a:ext cx="836930" cy="900430"/>
            </a:xfrm>
            <a:custGeom>
              <a:avLst/>
              <a:gdLst/>
              <a:ahLst/>
              <a:cxnLst/>
              <a:rect l="l" t="t" r="r" b="b"/>
              <a:pathLst>
                <a:path w="836929" h="900429">
                  <a:moveTo>
                    <a:pt x="0" y="900217"/>
                  </a:moveTo>
                  <a:lnTo>
                    <a:pt x="76165" y="0"/>
                  </a:lnTo>
                </a:path>
                <a:path w="836929" h="900429">
                  <a:moveTo>
                    <a:pt x="76165" y="0"/>
                  </a:moveTo>
                  <a:lnTo>
                    <a:pt x="836424" y="0"/>
                  </a:lnTo>
                </a:path>
              </a:pathLst>
            </a:custGeom>
            <a:ln w="138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04918" y="3235534"/>
            <a:ext cx="12446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i="1" spc="-50" dirty="0"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62156" y="2920817"/>
            <a:ext cx="12446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i="1" spc="-50" dirty="0"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13616" y="3578335"/>
            <a:ext cx="8064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i="1" spc="-50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98644" y="2920817"/>
            <a:ext cx="12446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i="1" spc="-50" dirty="0">
                <a:latin typeface="Times New Roman"/>
                <a:cs typeface="Times New Roman"/>
              </a:rPr>
              <a:t>n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95008" y="2861397"/>
            <a:ext cx="1992630" cy="9925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35"/>
              </a:spcBef>
              <a:tabLst>
                <a:tab pos="1782445" algn="l"/>
              </a:tabLst>
            </a:pP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325" i="1" baseline="-21505" dirty="0">
                <a:latin typeface="Times New Roman"/>
                <a:cs typeface="Times New Roman"/>
              </a:rPr>
              <a:t>m</a:t>
            </a:r>
            <a:r>
              <a:rPr sz="2325" i="1" spc="637" baseline="-215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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325" i="1" baseline="7168" dirty="0">
                <a:latin typeface="Times New Roman"/>
                <a:cs typeface="Times New Roman"/>
              </a:rPr>
              <a:t>n</a:t>
            </a:r>
            <a:r>
              <a:rPr sz="2325" i="1" spc="569" baseline="7168" dirty="0">
                <a:latin typeface="Times New Roman"/>
                <a:cs typeface="Times New Roman"/>
              </a:rPr>
              <a:t> </a:t>
            </a:r>
            <a:r>
              <a:rPr sz="5925" spc="97" baseline="-9845" dirty="0">
                <a:latin typeface="Symbol"/>
                <a:cs typeface="Symbol"/>
              </a:rPr>
              <a:t></a:t>
            </a:r>
            <a:r>
              <a:rPr sz="2400" i="1" spc="65" dirty="0">
                <a:latin typeface="Times New Roman"/>
                <a:cs typeface="Times New Roman"/>
              </a:rPr>
              <a:t>R</a:t>
            </a:r>
            <a:r>
              <a:rPr sz="2325" i="1" spc="97" baseline="-21505" dirty="0">
                <a:latin typeface="Times New Roman"/>
                <a:cs typeface="Times New Roman"/>
              </a:rPr>
              <a:t>i</a:t>
            </a:r>
            <a:r>
              <a:rPr sz="2325" i="1" baseline="-21505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  <a:p>
            <a:pPr marL="352425" algn="ctr">
              <a:lnSpc>
                <a:spcPct val="100000"/>
              </a:lnSpc>
              <a:spcBef>
                <a:spcPts val="275"/>
              </a:spcBef>
            </a:pPr>
            <a:r>
              <a:rPr sz="1550" i="1" spc="-25" dirty="0">
                <a:latin typeface="Times New Roman"/>
                <a:cs typeface="Times New Roman"/>
              </a:rPr>
              <a:t>i</a:t>
            </a:r>
            <a:r>
              <a:rPr sz="1550" spc="-25" dirty="0">
                <a:latin typeface="Symbol"/>
                <a:cs typeface="Symbol"/>
              </a:rPr>
              <a:t>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59188" y="3388643"/>
            <a:ext cx="198755" cy="3975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400" i="1" spc="-50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00852" y="3038208"/>
            <a:ext cx="445134" cy="8159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ts val="4530"/>
              </a:lnSpc>
              <a:spcBef>
                <a:spcPts val="140"/>
              </a:spcBef>
            </a:pPr>
            <a:r>
              <a:rPr sz="3950" spc="-50" dirty="0">
                <a:latin typeface="Symbol"/>
                <a:cs typeface="Symbol"/>
              </a:rPr>
              <a:t></a:t>
            </a:r>
            <a:endParaRPr sz="3950">
              <a:latin typeface="Symbol"/>
              <a:cs typeface="Symbol"/>
            </a:endParaRPr>
          </a:p>
          <a:p>
            <a:pPr marL="95885">
              <a:lnSpc>
                <a:spcPts val="1650"/>
              </a:lnSpc>
            </a:pPr>
            <a:r>
              <a:rPr sz="1550" i="1" spc="-25" dirty="0">
                <a:latin typeface="Times New Roman"/>
                <a:cs typeface="Times New Roman"/>
              </a:rPr>
              <a:t>i</a:t>
            </a:r>
            <a:r>
              <a:rPr sz="1550" spc="-25" dirty="0">
                <a:latin typeface="Symbol"/>
                <a:cs typeface="Symbol"/>
              </a:rPr>
              <a:t></a:t>
            </a:r>
            <a:r>
              <a:rPr sz="1550" spc="-25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912490" y="2951894"/>
            <a:ext cx="181610" cy="3975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400" spc="-5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9540" y="218694"/>
            <a:ext cx="47040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dirty="0">
                <a:latin typeface="Times New Roman"/>
                <a:cs typeface="Times New Roman"/>
              </a:rPr>
              <a:t>1.4</a:t>
            </a:r>
            <a:r>
              <a:rPr u="none" spc="-10" dirty="0">
                <a:latin typeface="Times New Roman"/>
                <a:cs typeface="Times New Roman"/>
              </a:rPr>
              <a:t> </a:t>
            </a:r>
            <a:r>
              <a:rPr u="none" spc="-5" dirty="0"/>
              <a:t>计算机系统结构的发展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02856" y="332308"/>
            <a:ext cx="443420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00CC"/>
                </a:solidFill>
                <a:latin typeface="黑体"/>
                <a:cs typeface="黑体"/>
              </a:rPr>
              <a:t>1.4.1</a:t>
            </a:r>
            <a:r>
              <a:rPr sz="2600" spc="-10" dirty="0">
                <a:solidFill>
                  <a:srgbClr val="0000CC"/>
                </a:solidFill>
                <a:latin typeface="黑体"/>
                <a:cs typeface="黑体"/>
              </a:rPr>
              <a:t> 冯</a:t>
            </a:r>
            <a:r>
              <a:rPr sz="2600" spc="-10" dirty="0">
                <a:solidFill>
                  <a:srgbClr val="0000CC"/>
                </a:solidFill>
                <a:latin typeface="Times New Roman"/>
                <a:cs typeface="Times New Roman"/>
              </a:rPr>
              <a:t>·</a:t>
            </a:r>
            <a:r>
              <a:rPr sz="2600" spc="-15" dirty="0">
                <a:solidFill>
                  <a:srgbClr val="0000CC"/>
                </a:solidFill>
                <a:latin typeface="黑体"/>
                <a:cs typeface="黑体"/>
              </a:rPr>
              <a:t>诺依曼结构及其改进</a:t>
            </a:r>
            <a:endParaRPr sz="2600">
              <a:latin typeface="黑体"/>
              <a:cs typeface="黑体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95417" y="1210934"/>
            <a:ext cx="4640580" cy="2696210"/>
            <a:chOff x="6895417" y="1210934"/>
            <a:chExt cx="4640580" cy="2696210"/>
          </a:xfrm>
        </p:grpSpPr>
        <p:sp>
          <p:nvSpPr>
            <p:cNvPr id="5" name="object 5"/>
            <p:cNvSpPr/>
            <p:nvPr/>
          </p:nvSpPr>
          <p:spPr>
            <a:xfrm>
              <a:off x="9339787" y="1684918"/>
              <a:ext cx="82550" cy="535305"/>
            </a:xfrm>
            <a:custGeom>
              <a:avLst/>
              <a:gdLst/>
              <a:ahLst/>
              <a:cxnLst/>
              <a:rect l="l" t="t" r="r" b="b"/>
              <a:pathLst>
                <a:path w="82550" h="535305">
                  <a:moveTo>
                    <a:pt x="49596" y="446539"/>
                  </a:moveTo>
                  <a:lnTo>
                    <a:pt x="34779" y="446539"/>
                  </a:lnTo>
                  <a:lnTo>
                    <a:pt x="32104" y="452025"/>
                  </a:lnTo>
                  <a:lnTo>
                    <a:pt x="30046" y="454757"/>
                  </a:lnTo>
                  <a:lnTo>
                    <a:pt x="30046" y="521607"/>
                  </a:lnTo>
                  <a:lnTo>
                    <a:pt x="32104" y="527092"/>
                  </a:lnTo>
                  <a:lnTo>
                    <a:pt x="34779" y="529824"/>
                  </a:lnTo>
                  <a:lnTo>
                    <a:pt x="37249" y="532578"/>
                  </a:lnTo>
                  <a:lnTo>
                    <a:pt x="42394" y="534755"/>
                  </a:lnTo>
                  <a:lnTo>
                    <a:pt x="44863" y="532578"/>
                  </a:lnTo>
                  <a:lnTo>
                    <a:pt x="49596" y="529824"/>
                  </a:lnTo>
                  <a:lnTo>
                    <a:pt x="49596" y="527092"/>
                  </a:lnTo>
                  <a:lnTo>
                    <a:pt x="52066" y="521607"/>
                  </a:lnTo>
                  <a:lnTo>
                    <a:pt x="52066" y="454757"/>
                  </a:lnTo>
                  <a:lnTo>
                    <a:pt x="49596" y="452025"/>
                  </a:lnTo>
                  <a:lnTo>
                    <a:pt x="49596" y="446539"/>
                  </a:lnTo>
                  <a:close/>
                </a:path>
                <a:path w="82550" h="535305">
                  <a:moveTo>
                    <a:pt x="42394" y="443808"/>
                  </a:moveTo>
                  <a:lnTo>
                    <a:pt x="37249" y="446539"/>
                  </a:lnTo>
                  <a:lnTo>
                    <a:pt x="44863" y="446539"/>
                  </a:lnTo>
                  <a:lnTo>
                    <a:pt x="42394" y="443808"/>
                  </a:lnTo>
                  <a:close/>
                </a:path>
                <a:path w="82550" h="535305">
                  <a:moveTo>
                    <a:pt x="44863" y="288720"/>
                  </a:moveTo>
                  <a:lnTo>
                    <a:pt x="37249" y="288720"/>
                  </a:lnTo>
                  <a:lnTo>
                    <a:pt x="32104" y="294272"/>
                  </a:lnTo>
                  <a:lnTo>
                    <a:pt x="30046" y="299603"/>
                  </a:lnTo>
                  <a:lnTo>
                    <a:pt x="30046" y="366541"/>
                  </a:lnTo>
                  <a:lnTo>
                    <a:pt x="32104" y="372027"/>
                  </a:lnTo>
                  <a:lnTo>
                    <a:pt x="34779" y="374759"/>
                  </a:lnTo>
                  <a:lnTo>
                    <a:pt x="37249" y="376958"/>
                  </a:lnTo>
                  <a:lnTo>
                    <a:pt x="44863" y="376958"/>
                  </a:lnTo>
                  <a:lnTo>
                    <a:pt x="49596" y="374759"/>
                  </a:lnTo>
                  <a:lnTo>
                    <a:pt x="49596" y="372027"/>
                  </a:lnTo>
                  <a:lnTo>
                    <a:pt x="52066" y="366541"/>
                  </a:lnTo>
                  <a:lnTo>
                    <a:pt x="52066" y="299603"/>
                  </a:lnTo>
                  <a:lnTo>
                    <a:pt x="49596" y="294272"/>
                  </a:lnTo>
                  <a:lnTo>
                    <a:pt x="49596" y="291385"/>
                  </a:lnTo>
                  <a:lnTo>
                    <a:pt x="44863" y="288720"/>
                  </a:lnTo>
                  <a:close/>
                </a:path>
                <a:path w="82550" h="535305">
                  <a:moveTo>
                    <a:pt x="44863" y="133699"/>
                  </a:moveTo>
                  <a:lnTo>
                    <a:pt x="37249" y="133699"/>
                  </a:lnTo>
                  <a:lnTo>
                    <a:pt x="32104" y="139252"/>
                  </a:lnTo>
                  <a:lnTo>
                    <a:pt x="30046" y="144582"/>
                  </a:lnTo>
                  <a:lnTo>
                    <a:pt x="30046" y="211432"/>
                  </a:lnTo>
                  <a:lnTo>
                    <a:pt x="32104" y="214319"/>
                  </a:lnTo>
                  <a:lnTo>
                    <a:pt x="34779" y="219205"/>
                  </a:lnTo>
                  <a:lnTo>
                    <a:pt x="37249" y="221870"/>
                  </a:lnTo>
                  <a:lnTo>
                    <a:pt x="44863" y="221870"/>
                  </a:lnTo>
                  <a:lnTo>
                    <a:pt x="49596" y="219205"/>
                  </a:lnTo>
                  <a:lnTo>
                    <a:pt x="49596" y="214319"/>
                  </a:lnTo>
                  <a:lnTo>
                    <a:pt x="52066" y="211432"/>
                  </a:lnTo>
                  <a:lnTo>
                    <a:pt x="52066" y="144582"/>
                  </a:lnTo>
                  <a:lnTo>
                    <a:pt x="49596" y="139252"/>
                  </a:lnTo>
                  <a:lnTo>
                    <a:pt x="49596" y="136364"/>
                  </a:lnTo>
                  <a:lnTo>
                    <a:pt x="44863" y="133699"/>
                  </a:lnTo>
                  <a:close/>
                </a:path>
                <a:path w="82550" h="535305">
                  <a:moveTo>
                    <a:pt x="42394" y="0"/>
                  </a:moveTo>
                  <a:lnTo>
                    <a:pt x="0" y="133699"/>
                  </a:lnTo>
                  <a:lnTo>
                    <a:pt x="42394" y="90835"/>
                  </a:lnTo>
                  <a:lnTo>
                    <a:pt x="69378" y="90835"/>
                  </a:lnTo>
                  <a:lnTo>
                    <a:pt x="42394" y="0"/>
                  </a:lnTo>
                  <a:close/>
                </a:path>
                <a:path w="82550" h="535305">
                  <a:moveTo>
                    <a:pt x="69378" y="90835"/>
                  </a:moveTo>
                  <a:lnTo>
                    <a:pt x="42394" y="90835"/>
                  </a:lnTo>
                  <a:lnTo>
                    <a:pt x="82112" y="133699"/>
                  </a:lnTo>
                  <a:lnTo>
                    <a:pt x="69378" y="908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369833" y="1973638"/>
              <a:ext cx="22225" cy="246379"/>
            </a:xfrm>
            <a:custGeom>
              <a:avLst/>
              <a:gdLst/>
              <a:ahLst/>
              <a:cxnLst/>
              <a:rect l="l" t="t" r="r" b="b"/>
              <a:pathLst>
                <a:path w="22225" h="246380">
                  <a:moveTo>
                    <a:pt x="0" y="232886"/>
                  </a:moveTo>
                  <a:lnTo>
                    <a:pt x="0" y="166036"/>
                  </a:lnTo>
                  <a:lnTo>
                    <a:pt x="2057" y="163304"/>
                  </a:lnTo>
                  <a:lnTo>
                    <a:pt x="4733" y="157819"/>
                  </a:lnTo>
                  <a:lnTo>
                    <a:pt x="7202" y="157819"/>
                  </a:lnTo>
                  <a:lnTo>
                    <a:pt x="12347" y="155087"/>
                  </a:lnTo>
                  <a:lnTo>
                    <a:pt x="14817" y="157819"/>
                  </a:lnTo>
                  <a:lnTo>
                    <a:pt x="19550" y="157819"/>
                  </a:lnTo>
                  <a:lnTo>
                    <a:pt x="19550" y="163304"/>
                  </a:lnTo>
                  <a:lnTo>
                    <a:pt x="22020" y="166036"/>
                  </a:lnTo>
                  <a:lnTo>
                    <a:pt x="22020" y="232886"/>
                  </a:lnTo>
                  <a:lnTo>
                    <a:pt x="19550" y="238372"/>
                  </a:lnTo>
                  <a:lnTo>
                    <a:pt x="19550" y="241103"/>
                  </a:lnTo>
                  <a:lnTo>
                    <a:pt x="14817" y="243857"/>
                  </a:lnTo>
                  <a:lnTo>
                    <a:pt x="12347" y="246034"/>
                  </a:lnTo>
                  <a:lnTo>
                    <a:pt x="7202" y="243857"/>
                  </a:lnTo>
                  <a:lnTo>
                    <a:pt x="4733" y="241103"/>
                  </a:lnTo>
                  <a:lnTo>
                    <a:pt x="2058" y="238372"/>
                  </a:lnTo>
                  <a:lnTo>
                    <a:pt x="0" y="232886"/>
                  </a:lnTo>
                  <a:close/>
                </a:path>
                <a:path w="22225" h="246380">
                  <a:moveTo>
                    <a:pt x="0" y="77821"/>
                  </a:moveTo>
                  <a:lnTo>
                    <a:pt x="0" y="10882"/>
                  </a:lnTo>
                  <a:lnTo>
                    <a:pt x="2057" y="5552"/>
                  </a:lnTo>
                  <a:lnTo>
                    <a:pt x="4733" y="2665"/>
                  </a:lnTo>
                  <a:lnTo>
                    <a:pt x="7202" y="0"/>
                  </a:lnTo>
                  <a:lnTo>
                    <a:pt x="12347" y="0"/>
                  </a:lnTo>
                  <a:lnTo>
                    <a:pt x="14817" y="0"/>
                  </a:lnTo>
                  <a:lnTo>
                    <a:pt x="19550" y="2665"/>
                  </a:lnTo>
                  <a:lnTo>
                    <a:pt x="19550" y="5552"/>
                  </a:lnTo>
                  <a:lnTo>
                    <a:pt x="22020" y="10882"/>
                  </a:lnTo>
                  <a:lnTo>
                    <a:pt x="22020" y="77821"/>
                  </a:lnTo>
                  <a:lnTo>
                    <a:pt x="19550" y="83307"/>
                  </a:lnTo>
                  <a:lnTo>
                    <a:pt x="19550" y="86038"/>
                  </a:lnTo>
                  <a:lnTo>
                    <a:pt x="14817" y="88237"/>
                  </a:lnTo>
                  <a:lnTo>
                    <a:pt x="12347" y="88237"/>
                  </a:lnTo>
                  <a:lnTo>
                    <a:pt x="7202" y="88237"/>
                  </a:lnTo>
                  <a:lnTo>
                    <a:pt x="4733" y="86038"/>
                  </a:lnTo>
                  <a:lnTo>
                    <a:pt x="2057" y="83307"/>
                  </a:lnTo>
                  <a:lnTo>
                    <a:pt x="0" y="7782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8311" y="1683442"/>
              <a:ext cx="85063" cy="22479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968736" y="1690470"/>
              <a:ext cx="81915" cy="535305"/>
            </a:xfrm>
            <a:custGeom>
              <a:avLst/>
              <a:gdLst/>
              <a:ahLst/>
              <a:cxnLst/>
              <a:rect l="l" t="t" r="r" b="b"/>
              <a:pathLst>
                <a:path w="81915" h="535305">
                  <a:moveTo>
                    <a:pt x="0" y="400988"/>
                  </a:moveTo>
                  <a:lnTo>
                    <a:pt x="42394" y="534688"/>
                  </a:lnTo>
                  <a:lnTo>
                    <a:pt x="65789" y="454690"/>
                  </a:lnTo>
                  <a:lnTo>
                    <a:pt x="37249" y="454690"/>
                  </a:lnTo>
                  <a:lnTo>
                    <a:pt x="34573" y="451958"/>
                  </a:lnTo>
                  <a:lnTo>
                    <a:pt x="32104" y="449204"/>
                  </a:lnTo>
                  <a:lnTo>
                    <a:pt x="29634" y="443741"/>
                  </a:lnTo>
                  <a:lnTo>
                    <a:pt x="29634" y="430874"/>
                  </a:lnTo>
                  <a:lnTo>
                    <a:pt x="0" y="400988"/>
                  </a:lnTo>
                  <a:close/>
                </a:path>
                <a:path w="81915" h="535305">
                  <a:moveTo>
                    <a:pt x="29634" y="430874"/>
                  </a:moveTo>
                  <a:lnTo>
                    <a:pt x="44246" y="454690"/>
                  </a:lnTo>
                  <a:lnTo>
                    <a:pt x="49391" y="451958"/>
                  </a:lnTo>
                  <a:lnTo>
                    <a:pt x="49391" y="449204"/>
                  </a:lnTo>
                  <a:lnTo>
                    <a:pt x="52066" y="443741"/>
                  </a:lnTo>
                  <a:lnTo>
                    <a:pt x="42394" y="443741"/>
                  </a:lnTo>
                  <a:lnTo>
                    <a:pt x="29634" y="430874"/>
                  </a:lnTo>
                  <a:close/>
                </a:path>
                <a:path w="81915" h="535305">
                  <a:moveTo>
                    <a:pt x="81495" y="400988"/>
                  </a:moveTo>
                  <a:lnTo>
                    <a:pt x="52066" y="433165"/>
                  </a:lnTo>
                  <a:lnTo>
                    <a:pt x="52066" y="443741"/>
                  </a:lnTo>
                  <a:lnTo>
                    <a:pt x="49391" y="449204"/>
                  </a:lnTo>
                  <a:lnTo>
                    <a:pt x="49391" y="451958"/>
                  </a:lnTo>
                  <a:lnTo>
                    <a:pt x="44246" y="454690"/>
                  </a:lnTo>
                  <a:lnTo>
                    <a:pt x="65789" y="454690"/>
                  </a:lnTo>
                  <a:lnTo>
                    <a:pt x="81495" y="400988"/>
                  </a:lnTo>
                  <a:close/>
                </a:path>
                <a:path w="81915" h="535305">
                  <a:moveTo>
                    <a:pt x="42393" y="0"/>
                  </a:moveTo>
                  <a:lnTo>
                    <a:pt x="37249" y="2665"/>
                  </a:lnTo>
                  <a:lnTo>
                    <a:pt x="34573" y="5330"/>
                  </a:lnTo>
                  <a:lnTo>
                    <a:pt x="32104" y="8217"/>
                  </a:lnTo>
                  <a:lnTo>
                    <a:pt x="29634" y="13103"/>
                  </a:lnTo>
                  <a:lnTo>
                    <a:pt x="29634" y="430874"/>
                  </a:lnTo>
                  <a:lnTo>
                    <a:pt x="42394" y="443741"/>
                  </a:lnTo>
                  <a:lnTo>
                    <a:pt x="52066" y="433165"/>
                  </a:lnTo>
                  <a:lnTo>
                    <a:pt x="52066" y="13103"/>
                  </a:lnTo>
                  <a:lnTo>
                    <a:pt x="49391" y="8217"/>
                  </a:lnTo>
                  <a:lnTo>
                    <a:pt x="49391" y="5330"/>
                  </a:lnTo>
                  <a:lnTo>
                    <a:pt x="44246" y="2665"/>
                  </a:lnTo>
                  <a:lnTo>
                    <a:pt x="42393" y="0"/>
                  </a:lnTo>
                  <a:close/>
                </a:path>
                <a:path w="81915" h="535305">
                  <a:moveTo>
                    <a:pt x="52066" y="433165"/>
                  </a:moveTo>
                  <a:lnTo>
                    <a:pt x="42394" y="443741"/>
                  </a:lnTo>
                  <a:lnTo>
                    <a:pt x="52066" y="443741"/>
                  </a:lnTo>
                  <a:lnTo>
                    <a:pt x="52066" y="4331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68736" y="1690470"/>
              <a:ext cx="81915" cy="535305"/>
            </a:xfrm>
            <a:custGeom>
              <a:avLst/>
              <a:gdLst/>
              <a:ahLst/>
              <a:cxnLst/>
              <a:rect l="l" t="t" r="r" b="b"/>
              <a:pathLst>
                <a:path w="81915" h="535305">
                  <a:moveTo>
                    <a:pt x="52066" y="13103"/>
                  </a:moveTo>
                  <a:lnTo>
                    <a:pt x="52066" y="443741"/>
                  </a:lnTo>
                  <a:lnTo>
                    <a:pt x="49391" y="449204"/>
                  </a:lnTo>
                  <a:lnTo>
                    <a:pt x="49391" y="451958"/>
                  </a:lnTo>
                  <a:lnTo>
                    <a:pt x="44246" y="454690"/>
                  </a:lnTo>
                  <a:lnTo>
                    <a:pt x="42394" y="454690"/>
                  </a:lnTo>
                  <a:lnTo>
                    <a:pt x="37249" y="454690"/>
                  </a:lnTo>
                  <a:lnTo>
                    <a:pt x="34573" y="451958"/>
                  </a:lnTo>
                  <a:lnTo>
                    <a:pt x="32104" y="449204"/>
                  </a:lnTo>
                  <a:lnTo>
                    <a:pt x="29634" y="443741"/>
                  </a:lnTo>
                  <a:lnTo>
                    <a:pt x="29634" y="13103"/>
                  </a:lnTo>
                  <a:lnTo>
                    <a:pt x="32104" y="8217"/>
                  </a:lnTo>
                  <a:lnTo>
                    <a:pt x="34573" y="5330"/>
                  </a:lnTo>
                  <a:lnTo>
                    <a:pt x="37249" y="2665"/>
                  </a:lnTo>
                  <a:lnTo>
                    <a:pt x="42393" y="0"/>
                  </a:lnTo>
                  <a:lnTo>
                    <a:pt x="44246" y="2665"/>
                  </a:lnTo>
                  <a:lnTo>
                    <a:pt x="49391" y="5330"/>
                  </a:lnTo>
                  <a:lnTo>
                    <a:pt x="49391" y="8217"/>
                  </a:lnTo>
                  <a:lnTo>
                    <a:pt x="52066" y="13103"/>
                  </a:lnTo>
                  <a:close/>
                </a:path>
                <a:path w="81915" h="535305">
                  <a:moveTo>
                    <a:pt x="42394" y="443741"/>
                  </a:moveTo>
                  <a:lnTo>
                    <a:pt x="81495" y="400988"/>
                  </a:lnTo>
                  <a:lnTo>
                    <a:pt x="42394" y="534688"/>
                  </a:lnTo>
                  <a:lnTo>
                    <a:pt x="0" y="400988"/>
                  </a:lnTo>
                  <a:lnTo>
                    <a:pt x="42394" y="44374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82848" y="3794473"/>
              <a:ext cx="664210" cy="104139"/>
            </a:xfrm>
            <a:custGeom>
              <a:avLst/>
              <a:gdLst/>
              <a:ahLst/>
              <a:cxnLst/>
              <a:rect l="l" t="t" r="r" b="b"/>
              <a:pathLst>
                <a:path w="664209" h="104139">
                  <a:moveTo>
                    <a:pt x="0" y="104110"/>
                  </a:moveTo>
                  <a:lnTo>
                    <a:pt x="663610" y="104110"/>
                  </a:lnTo>
                  <a:lnTo>
                    <a:pt x="663610" y="0"/>
                  </a:lnTo>
                  <a:lnTo>
                    <a:pt x="0" y="0"/>
                  </a:lnTo>
                  <a:lnTo>
                    <a:pt x="0" y="10411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82848" y="3794473"/>
              <a:ext cx="693420" cy="104139"/>
            </a:xfrm>
            <a:custGeom>
              <a:avLst/>
              <a:gdLst/>
              <a:ahLst/>
              <a:cxnLst/>
              <a:rect l="l" t="t" r="r" b="b"/>
              <a:pathLst>
                <a:path w="693420" h="104139">
                  <a:moveTo>
                    <a:pt x="0" y="104110"/>
                  </a:moveTo>
                  <a:lnTo>
                    <a:pt x="693286" y="104110"/>
                  </a:lnTo>
                  <a:lnTo>
                    <a:pt x="693286" y="0"/>
                  </a:lnTo>
                  <a:lnTo>
                    <a:pt x="0" y="0"/>
                  </a:lnTo>
                  <a:lnTo>
                    <a:pt x="0" y="104110"/>
                  </a:lnTo>
                  <a:close/>
                </a:path>
              </a:pathLst>
            </a:custGeom>
            <a:ln w="159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757738" y="1221854"/>
              <a:ext cx="1769745" cy="0"/>
            </a:xfrm>
            <a:custGeom>
              <a:avLst/>
              <a:gdLst/>
              <a:ahLst/>
              <a:cxnLst/>
              <a:rect l="l" t="t" r="r" b="b"/>
              <a:pathLst>
                <a:path w="1769745">
                  <a:moveTo>
                    <a:pt x="0" y="0"/>
                  </a:moveTo>
                  <a:lnTo>
                    <a:pt x="1769457" y="0"/>
                  </a:lnTo>
                </a:path>
              </a:pathLst>
            </a:custGeom>
            <a:ln w="15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03672" y="1219189"/>
              <a:ext cx="1743075" cy="0"/>
            </a:xfrm>
            <a:custGeom>
              <a:avLst/>
              <a:gdLst/>
              <a:ahLst/>
              <a:cxnLst/>
              <a:rect l="l" t="t" r="r" b="b"/>
              <a:pathLst>
                <a:path w="1743075">
                  <a:moveTo>
                    <a:pt x="0" y="0"/>
                  </a:moveTo>
                  <a:lnTo>
                    <a:pt x="1742786" y="0"/>
                  </a:lnTo>
                </a:path>
              </a:pathLst>
            </a:custGeom>
            <a:ln w="15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646459" y="2208723"/>
            <a:ext cx="1111885" cy="863600"/>
          </a:xfrm>
          <a:prstGeom prst="rect">
            <a:avLst/>
          </a:prstGeom>
          <a:solidFill>
            <a:srgbClr val="FFC8FF"/>
          </a:solidFill>
          <a:ln w="15554">
            <a:solidFill>
              <a:srgbClr val="000000"/>
            </a:solidFill>
          </a:ln>
        </p:spPr>
        <p:txBody>
          <a:bodyPr vert="horz" wrap="square" lIns="0" tIns="203835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605"/>
              </a:spcBef>
            </a:pPr>
            <a:r>
              <a:rPr sz="1550" spc="-95" dirty="0">
                <a:latin typeface="宋体"/>
                <a:cs typeface="宋体"/>
              </a:rPr>
              <a:t>运算器</a:t>
            </a:r>
            <a:endParaRPr sz="1550">
              <a:latin typeface="宋体"/>
              <a:cs typeface="宋体"/>
            </a:endParaRPr>
          </a:p>
          <a:p>
            <a:pPr marL="306705">
              <a:lnSpc>
                <a:spcPct val="100000"/>
              </a:lnSpc>
              <a:spcBef>
                <a:spcPts val="795"/>
              </a:spcBef>
            </a:pPr>
            <a:r>
              <a:rPr sz="1550" spc="-10" dirty="0">
                <a:latin typeface="Times New Roman"/>
                <a:cs typeface="Times New Roman"/>
              </a:rPr>
              <a:t>(ALU)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646459" y="1082691"/>
            <a:ext cx="1111885" cy="607695"/>
          </a:xfrm>
          <a:custGeom>
            <a:avLst/>
            <a:gdLst/>
            <a:ahLst/>
            <a:cxnLst/>
            <a:rect l="l" t="t" r="r" b="b"/>
            <a:pathLst>
              <a:path w="1111884" h="607694">
                <a:moveTo>
                  <a:pt x="0" y="607112"/>
                </a:moveTo>
                <a:lnTo>
                  <a:pt x="1111279" y="607112"/>
                </a:lnTo>
                <a:lnTo>
                  <a:pt x="1111279" y="0"/>
                </a:lnTo>
                <a:lnTo>
                  <a:pt x="0" y="0"/>
                </a:lnTo>
                <a:lnTo>
                  <a:pt x="0" y="607112"/>
                </a:lnTo>
                <a:close/>
              </a:path>
            </a:pathLst>
          </a:custGeom>
          <a:ln w="156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646459" y="1082691"/>
            <a:ext cx="1111885" cy="607695"/>
          </a:xfrm>
          <a:prstGeom prst="rect">
            <a:avLst/>
          </a:prstGeom>
          <a:solidFill>
            <a:srgbClr val="FFCC00"/>
          </a:solidFill>
        </p:spPr>
        <p:txBody>
          <a:bodyPr vert="horz" wrap="square" lIns="0" tIns="17145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350"/>
              </a:spcBef>
            </a:pPr>
            <a:r>
              <a:rPr sz="1550" spc="-95" dirty="0">
                <a:latin typeface="宋体"/>
                <a:cs typeface="宋体"/>
              </a:rPr>
              <a:t>控制器</a:t>
            </a:r>
            <a:endParaRPr sz="1550">
              <a:latin typeface="宋体"/>
              <a:cs typeface="宋体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638522" y="3583261"/>
            <a:ext cx="1127760" cy="535305"/>
            <a:chOff x="8638522" y="3583261"/>
            <a:chExt cx="1127760" cy="535305"/>
          </a:xfrm>
        </p:grpSpPr>
        <p:sp>
          <p:nvSpPr>
            <p:cNvPr id="18" name="object 18"/>
            <p:cNvSpPr/>
            <p:nvPr/>
          </p:nvSpPr>
          <p:spPr>
            <a:xfrm>
              <a:off x="8646459" y="3591198"/>
              <a:ext cx="1111885" cy="519430"/>
            </a:xfrm>
            <a:custGeom>
              <a:avLst/>
              <a:gdLst/>
              <a:ahLst/>
              <a:cxnLst/>
              <a:rect l="l" t="t" r="r" b="b"/>
              <a:pathLst>
                <a:path w="1111884" h="519429">
                  <a:moveTo>
                    <a:pt x="1111279" y="0"/>
                  </a:moveTo>
                  <a:lnTo>
                    <a:pt x="0" y="0"/>
                  </a:lnTo>
                  <a:lnTo>
                    <a:pt x="0" y="518897"/>
                  </a:lnTo>
                  <a:lnTo>
                    <a:pt x="1111279" y="518897"/>
                  </a:lnTo>
                  <a:lnTo>
                    <a:pt x="1111279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646459" y="3591198"/>
              <a:ext cx="1111885" cy="519430"/>
            </a:xfrm>
            <a:custGeom>
              <a:avLst/>
              <a:gdLst/>
              <a:ahLst/>
              <a:cxnLst/>
              <a:rect l="l" t="t" r="r" b="b"/>
              <a:pathLst>
                <a:path w="1111884" h="519429">
                  <a:moveTo>
                    <a:pt x="0" y="518897"/>
                  </a:moveTo>
                  <a:lnTo>
                    <a:pt x="1111279" y="518897"/>
                  </a:lnTo>
                  <a:lnTo>
                    <a:pt x="1111279" y="0"/>
                  </a:lnTo>
                  <a:lnTo>
                    <a:pt x="0" y="0"/>
                  </a:lnTo>
                  <a:lnTo>
                    <a:pt x="0" y="518897"/>
                  </a:lnTo>
                  <a:close/>
                </a:path>
              </a:pathLst>
            </a:custGeom>
            <a:ln w="157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913231" y="3732753"/>
            <a:ext cx="58229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95" dirty="0">
                <a:latin typeface="宋体"/>
                <a:cs typeface="宋体"/>
              </a:rPr>
              <a:t>存储器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44649" y="3182073"/>
            <a:ext cx="58610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85" dirty="0">
                <a:latin typeface="宋体"/>
                <a:cs typeface="宋体"/>
              </a:rPr>
              <a:t>数据流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331374" y="3441256"/>
            <a:ext cx="58610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85" dirty="0">
                <a:latin typeface="宋体"/>
                <a:cs typeface="宋体"/>
              </a:rPr>
              <a:t>控制流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63535" y="2307560"/>
            <a:ext cx="2120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50" dirty="0">
                <a:latin typeface="宋体"/>
                <a:cs typeface="宋体"/>
              </a:rPr>
              <a:t>入</a:t>
            </a:r>
            <a:endParaRPr sz="1550">
              <a:latin typeface="宋体"/>
              <a:cs typeface="宋体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492498" y="1209828"/>
            <a:ext cx="2800350" cy="2643505"/>
            <a:chOff x="6492498" y="1209828"/>
            <a:chExt cx="2800350" cy="2643505"/>
          </a:xfrm>
        </p:grpSpPr>
        <p:sp>
          <p:nvSpPr>
            <p:cNvPr id="25" name="object 25"/>
            <p:cNvSpPr/>
            <p:nvPr/>
          </p:nvSpPr>
          <p:spPr>
            <a:xfrm>
              <a:off x="7336977" y="2521608"/>
              <a:ext cx="1299845" cy="256540"/>
            </a:xfrm>
            <a:custGeom>
              <a:avLst/>
              <a:gdLst/>
              <a:ahLst/>
              <a:cxnLst/>
              <a:rect l="l" t="t" r="r" b="b"/>
              <a:pathLst>
                <a:path w="1299845" h="256539">
                  <a:moveTo>
                    <a:pt x="972593" y="0"/>
                  </a:moveTo>
                  <a:lnTo>
                    <a:pt x="972593" y="64095"/>
                  </a:lnTo>
                  <a:lnTo>
                    <a:pt x="0" y="64095"/>
                  </a:lnTo>
                  <a:lnTo>
                    <a:pt x="0" y="192332"/>
                  </a:lnTo>
                  <a:lnTo>
                    <a:pt x="972593" y="192332"/>
                  </a:lnTo>
                  <a:lnTo>
                    <a:pt x="972593" y="256428"/>
                  </a:lnTo>
                  <a:lnTo>
                    <a:pt x="1299398" y="128214"/>
                  </a:lnTo>
                  <a:lnTo>
                    <a:pt x="972593" y="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336977" y="2521608"/>
              <a:ext cx="1299845" cy="256540"/>
            </a:xfrm>
            <a:custGeom>
              <a:avLst/>
              <a:gdLst/>
              <a:ahLst/>
              <a:cxnLst/>
              <a:rect l="l" t="t" r="r" b="b"/>
              <a:pathLst>
                <a:path w="1299845" h="256539">
                  <a:moveTo>
                    <a:pt x="972593" y="0"/>
                  </a:moveTo>
                  <a:lnTo>
                    <a:pt x="972593" y="64095"/>
                  </a:lnTo>
                  <a:lnTo>
                    <a:pt x="0" y="64095"/>
                  </a:lnTo>
                  <a:lnTo>
                    <a:pt x="0" y="192332"/>
                  </a:lnTo>
                  <a:lnTo>
                    <a:pt x="972593" y="192332"/>
                  </a:lnTo>
                  <a:lnTo>
                    <a:pt x="972593" y="256428"/>
                  </a:lnTo>
                  <a:lnTo>
                    <a:pt x="1299398" y="128214"/>
                  </a:lnTo>
                  <a:lnTo>
                    <a:pt x="972593" y="0"/>
                  </a:lnTo>
                  <a:close/>
                </a:path>
              </a:pathLst>
            </a:custGeom>
            <a:ln w="159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864921" y="1211416"/>
              <a:ext cx="81915" cy="1022350"/>
            </a:xfrm>
            <a:custGeom>
              <a:avLst/>
              <a:gdLst/>
              <a:ahLst/>
              <a:cxnLst/>
              <a:rect l="l" t="t" r="r" b="b"/>
              <a:pathLst>
                <a:path w="81915" h="1022350">
                  <a:moveTo>
                    <a:pt x="0" y="888260"/>
                  </a:moveTo>
                  <a:lnTo>
                    <a:pt x="41797" y="1021960"/>
                  </a:lnTo>
                  <a:lnTo>
                    <a:pt x="64945" y="944160"/>
                  </a:lnTo>
                  <a:lnTo>
                    <a:pt x="41797" y="944160"/>
                  </a:lnTo>
                  <a:lnTo>
                    <a:pt x="37228" y="941429"/>
                  </a:lnTo>
                  <a:lnTo>
                    <a:pt x="34676" y="941429"/>
                  </a:lnTo>
                  <a:lnTo>
                    <a:pt x="32124" y="936476"/>
                  </a:lnTo>
                  <a:lnTo>
                    <a:pt x="29572" y="933744"/>
                  </a:lnTo>
                  <a:lnTo>
                    <a:pt x="29572" y="920442"/>
                  </a:lnTo>
                  <a:lnTo>
                    <a:pt x="0" y="888260"/>
                  </a:lnTo>
                  <a:close/>
                </a:path>
                <a:path w="81915" h="1022350">
                  <a:moveTo>
                    <a:pt x="44349" y="941429"/>
                  </a:moveTo>
                  <a:lnTo>
                    <a:pt x="37228" y="941429"/>
                  </a:lnTo>
                  <a:lnTo>
                    <a:pt x="41797" y="944160"/>
                  </a:lnTo>
                  <a:lnTo>
                    <a:pt x="44349" y="941429"/>
                  </a:lnTo>
                  <a:close/>
                </a:path>
                <a:path w="81915" h="1022350">
                  <a:moveTo>
                    <a:pt x="81577" y="888260"/>
                  </a:moveTo>
                  <a:lnTo>
                    <a:pt x="52004" y="922073"/>
                  </a:lnTo>
                  <a:lnTo>
                    <a:pt x="52004" y="933744"/>
                  </a:lnTo>
                  <a:lnTo>
                    <a:pt x="49452" y="936476"/>
                  </a:lnTo>
                  <a:lnTo>
                    <a:pt x="49452" y="941429"/>
                  </a:lnTo>
                  <a:lnTo>
                    <a:pt x="44349" y="941429"/>
                  </a:lnTo>
                  <a:lnTo>
                    <a:pt x="41797" y="944160"/>
                  </a:lnTo>
                  <a:lnTo>
                    <a:pt x="64945" y="944160"/>
                  </a:lnTo>
                  <a:lnTo>
                    <a:pt x="81577" y="888260"/>
                  </a:lnTo>
                  <a:close/>
                </a:path>
                <a:path w="81915" h="1022350">
                  <a:moveTo>
                    <a:pt x="29572" y="920442"/>
                  </a:moveTo>
                  <a:lnTo>
                    <a:pt x="29572" y="933744"/>
                  </a:lnTo>
                  <a:lnTo>
                    <a:pt x="32124" y="936476"/>
                  </a:lnTo>
                  <a:lnTo>
                    <a:pt x="34676" y="941429"/>
                  </a:lnTo>
                  <a:lnTo>
                    <a:pt x="49452" y="941429"/>
                  </a:lnTo>
                  <a:lnTo>
                    <a:pt x="49452" y="936476"/>
                  </a:lnTo>
                  <a:lnTo>
                    <a:pt x="52004" y="933744"/>
                  </a:lnTo>
                  <a:lnTo>
                    <a:pt x="41797" y="933744"/>
                  </a:lnTo>
                  <a:lnTo>
                    <a:pt x="29572" y="920442"/>
                  </a:lnTo>
                  <a:close/>
                </a:path>
                <a:path w="81915" h="1022350">
                  <a:moveTo>
                    <a:pt x="41797" y="0"/>
                  </a:moveTo>
                  <a:lnTo>
                    <a:pt x="37228" y="2887"/>
                  </a:lnTo>
                  <a:lnTo>
                    <a:pt x="32124" y="8217"/>
                  </a:lnTo>
                  <a:lnTo>
                    <a:pt x="29572" y="11104"/>
                  </a:lnTo>
                  <a:lnTo>
                    <a:pt x="29572" y="920442"/>
                  </a:lnTo>
                  <a:lnTo>
                    <a:pt x="41797" y="933744"/>
                  </a:lnTo>
                  <a:lnTo>
                    <a:pt x="52004" y="922073"/>
                  </a:lnTo>
                  <a:lnTo>
                    <a:pt x="52004" y="11104"/>
                  </a:lnTo>
                  <a:lnTo>
                    <a:pt x="49452" y="8217"/>
                  </a:lnTo>
                  <a:lnTo>
                    <a:pt x="49452" y="5552"/>
                  </a:lnTo>
                  <a:lnTo>
                    <a:pt x="44348" y="2887"/>
                  </a:lnTo>
                  <a:lnTo>
                    <a:pt x="41797" y="0"/>
                  </a:lnTo>
                  <a:close/>
                </a:path>
                <a:path w="81915" h="1022350">
                  <a:moveTo>
                    <a:pt x="52004" y="922073"/>
                  </a:moveTo>
                  <a:lnTo>
                    <a:pt x="41797" y="933744"/>
                  </a:lnTo>
                  <a:lnTo>
                    <a:pt x="52004" y="933744"/>
                  </a:lnTo>
                  <a:lnTo>
                    <a:pt x="52004" y="9220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64921" y="1211416"/>
              <a:ext cx="81915" cy="1022350"/>
            </a:xfrm>
            <a:custGeom>
              <a:avLst/>
              <a:gdLst/>
              <a:ahLst/>
              <a:cxnLst/>
              <a:rect l="l" t="t" r="r" b="b"/>
              <a:pathLst>
                <a:path w="81915" h="1022350">
                  <a:moveTo>
                    <a:pt x="52004" y="11104"/>
                  </a:moveTo>
                  <a:lnTo>
                    <a:pt x="52004" y="933744"/>
                  </a:lnTo>
                  <a:lnTo>
                    <a:pt x="49452" y="936476"/>
                  </a:lnTo>
                  <a:lnTo>
                    <a:pt x="49452" y="941429"/>
                  </a:lnTo>
                  <a:lnTo>
                    <a:pt x="44349" y="941429"/>
                  </a:lnTo>
                  <a:lnTo>
                    <a:pt x="41797" y="944161"/>
                  </a:lnTo>
                  <a:lnTo>
                    <a:pt x="37228" y="941429"/>
                  </a:lnTo>
                  <a:lnTo>
                    <a:pt x="34676" y="941429"/>
                  </a:lnTo>
                  <a:lnTo>
                    <a:pt x="32124" y="936476"/>
                  </a:lnTo>
                  <a:lnTo>
                    <a:pt x="29572" y="933744"/>
                  </a:lnTo>
                  <a:lnTo>
                    <a:pt x="29572" y="11104"/>
                  </a:lnTo>
                  <a:lnTo>
                    <a:pt x="32124" y="8217"/>
                  </a:lnTo>
                  <a:lnTo>
                    <a:pt x="34676" y="5552"/>
                  </a:lnTo>
                  <a:lnTo>
                    <a:pt x="37228" y="2887"/>
                  </a:lnTo>
                  <a:lnTo>
                    <a:pt x="41797" y="0"/>
                  </a:lnTo>
                  <a:lnTo>
                    <a:pt x="44348" y="2887"/>
                  </a:lnTo>
                  <a:lnTo>
                    <a:pt x="49452" y="5552"/>
                  </a:lnTo>
                  <a:lnTo>
                    <a:pt x="49452" y="8217"/>
                  </a:lnTo>
                  <a:lnTo>
                    <a:pt x="52004" y="11104"/>
                  </a:lnTo>
                  <a:close/>
                </a:path>
                <a:path w="81915" h="1022350">
                  <a:moveTo>
                    <a:pt x="41797" y="933744"/>
                  </a:moveTo>
                  <a:lnTo>
                    <a:pt x="81577" y="888260"/>
                  </a:lnTo>
                  <a:lnTo>
                    <a:pt x="41797" y="1021960"/>
                  </a:lnTo>
                  <a:lnTo>
                    <a:pt x="0" y="888260"/>
                  </a:lnTo>
                  <a:lnTo>
                    <a:pt x="41797" y="93374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111559" y="3085990"/>
              <a:ext cx="173355" cy="483870"/>
            </a:xfrm>
            <a:custGeom>
              <a:avLst/>
              <a:gdLst/>
              <a:ahLst/>
              <a:cxnLst/>
              <a:rect l="l" t="t" r="r" b="b"/>
              <a:pathLst>
                <a:path w="173354" h="483870">
                  <a:moveTo>
                    <a:pt x="86640" y="0"/>
                  </a:moveTo>
                  <a:lnTo>
                    <a:pt x="0" y="95877"/>
                  </a:lnTo>
                  <a:lnTo>
                    <a:pt x="44657" y="95877"/>
                  </a:lnTo>
                  <a:lnTo>
                    <a:pt x="44657" y="387396"/>
                  </a:lnTo>
                  <a:lnTo>
                    <a:pt x="0" y="387396"/>
                  </a:lnTo>
                  <a:lnTo>
                    <a:pt x="86640" y="483829"/>
                  </a:lnTo>
                  <a:lnTo>
                    <a:pt x="173280" y="387396"/>
                  </a:lnTo>
                  <a:lnTo>
                    <a:pt x="131503" y="387396"/>
                  </a:lnTo>
                  <a:lnTo>
                    <a:pt x="131503" y="95877"/>
                  </a:lnTo>
                  <a:lnTo>
                    <a:pt x="173280" y="95877"/>
                  </a:lnTo>
                  <a:lnTo>
                    <a:pt x="86640" y="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11559" y="3085990"/>
              <a:ext cx="173355" cy="483870"/>
            </a:xfrm>
            <a:custGeom>
              <a:avLst/>
              <a:gdLst/>
              <a:ahLst/>
              <a:cxnLst/>
              <a:rect l="l" t="t" r="r" b="b"/>
              <a:pathLst>
                <a:path w="173354" h="483870">
                  <a:moveTo>
                    <a:pt x="86640" y="0"/>
                  </a:moveTo>
                  <a:lnTo>
                    <a:pt x="173280" y="95877"/>
                  </a:lnTo>
                  <a:lnTo>
                    <a:pt x="131503" y="95877"/>
                  </a:lnTo>
                  <a:lnTo>
                    <a:pt x="131503" y="387396"/>
                  </a:lnTo>
                  <a:lnTo>
                    <a:pt x="173280" y="387396"/>
                  </a:lnTo>
                  <a:lnTo>
                    <a:pt x="86640" y="483829"/>
                  </a:lnTo>
                  <a:lnTo>
                    <a:pt x="0" y="387396"/>
                  </a:lnTo>
                  <a:lnTo>
                    <a:pt x="44657" y="387396"/>
                  </a:lnTo>
                  <a:lnTo>
                    <a:pt x="44657" y="95877"/>
                  </a:lnTo>
                  <a:lnTo>
                    <a:pt x="0" y="95877"/>
                  </a:lnTo>
                  <a:lnTo>
                    <a:pt x="86640" y="0"/>
                  </a:lnTo>
                  <a:close/>
                </a:path>
              </a:pathLst>
            </a:custGeom>
            <a:ln w="149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985379" y="1427956"/>
              <a:ext cx="651510" cy="173990"/>
            </a:xfrm>
            <a:custGeom>
              <a:avLst/>
              <a:gdLst/>
              <a:ahLst/>
              <a:cxnLst/>
              <a:rect l="l" t="t" r="r" b="b"/>
              <a:pathLst>
                <a:path w="651509" h="173990">
                  <a:moveTo>
                    <a:pt x="487799" y="0"/>
                  </a:moveTo>
                  <a:lnTo>
                    <a:pt x="487799" y="42641"/>
                  </a:lnTo>
                  <a:lnTo>
                    <a:pt x="0" y="42641"/>
                  </a:lnTo>
                  <a:lnTo>
                    <a:pt x="0" y="130812"/>
                  </a:lnTo>
                  <a:lnTo>
                    <a:pt x="487799" y="130812"/>
                  </a:lnTo>
                  <a:lnTo>
                    <a:pt x="487799" y="173676"/>
                  </a:lnTo>
                  <a:lnTo>
                    <a:pt x="650995" y="85505"/>
                  </a:lnTo>
                  <a:lnTo>
                    <a:pt x="487799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985379" y="1427956"/>
              <a:ext cx="651510" cy="173990"/>
            </a:xfrm>
            <a:custGeom>
              <a:avLst/>
              <a:gdLst/>
              <a:ahLst/>
              <a:cxnLst/>
              <a:rect l="l" t="t" r="r" b="b"/>
              <a:pathLst>
                <a:path w="651509" h="173990">
                  <a:moveTo>
                    <a:pt x="487799" y="0"/>
                  </a:moveTo>
                  <a:lnTo>
                    <a:pt x="487799" y="42641"/>
                  </a:lnTo>
                  <a:lnTo>
                    <a:pt x="0" y="42641"/>
                  </a:lnTo>
                  <a:lnTo>
                    <a:pt x="0" y="130812"/>
                  </a:lnTo>
                  <a:lnTo>
                    <a:pt x="487799" y="130812"/>
                  </a:lnTo>
                  <a:lnTo>
                    <a:pt x="487799" y="173676"/>
                  </a:lnTo>
                  <a:lnTo>
                    <a:pt x="650995" y="85505"/>
                  </a:lnTo>
                  <a:lnTo>
                    <a:pt x="487799" y="0"/>
                  </a:lnTo>
                  <a:close/>
                </a:path>
              </a:pathLst>
            </a:custGeom>
            <a:ln w="158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993035" y="1513462"/>
              <a:ext cx="79375" cy="2332355"/>
            </a:xfrm>
            <a:custGeom>
              <a:avLst/>
              <a:gdLst/>
              <a:ahLst/>
              <a:cxnLst/>
              <a:rect l="l" t="t" r="r" b="b"/>
              <a:pathLst>
                <a:path w="79375" h="2332354">
                  <a:moveTo>
                    <a:pt x="79013" y="0"/>
                  </a:moveTo>
                  <a:lnTo>
                    <a:pt x="0" y="0"/>
                  </a:lnTo>
                  <a:lnTo>
                    <a:pt x="0" y="2331974"/>
                  </a:lnTo>
                  <a:lnTo>
                    <a:pt x="79013" y="2331974"/>
                  </a:lnTo>
                  <a:lnTo>
                    <a:pt x="79013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985379" y="1497027"/>
              <a:ext cx="86995" cy="2348865"/>
            </a:xfrm>
            <a:custGeom>
              <a:avLst/>
              <a:gdLst/>
              <a:ahLst/>
              <a:cxnLst/>
              <a:rect l="l" t="t" r="r" b="b"/>
              <a:pathLst>
                <a:path w="86995" h="2348865">
                  <a:moveTo>
                    <a:pt x="0" y="0"/>
                  </a:moveTo>
                  <a:lnTo>
                    <a:pt x="0" y="2348409"/>
                  </a:lnTo>
                </a:path>
                <a:path w="86995" h="2348865">
                  <a:moveTo>
                    <a:pt x="86660" y="69515"/>
                  </a:moveTo>
                  <a:lnTo>
                    <a:pt x="86661" y="2278827"/>
                  </a:lnTo>
                </a:path>
              </a:pathLst>
            </a:custGeom>
            <a:ln w="1536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00436" y="2251454"/>
              <a:ext cx="824865" cy="826769"/>
            </a:xfrm>
            <a:custGeom>
              <a:avLst/>
              <a:gdLst/>
              <a:ahLst/>
              <a:cxnLst/>
              <a:rect l="l" t="t" r="r" b="b"/>
              <a:pathLst>
                <a:path w="824865" h="826769">
                  <a:moveTo>
                    <a:pt x="433304" y="0"/>
                  </a:moveTo>
                  <a:lnTo>
                    <a:pt x="410872" y="0"/>
                  </a:lnTo>
                  <a:lnTo>
                    <a:pt x="390992" y="0"/>
                  </a:lnTo>
                  <a:lnTo>
                    <a:pt x="329315" y="8239"/>
                  </a:lnTo>
                  <a:lnTo>
                    <a:pt x="309435" y="13170"/>
                  </a:lnTo>
                  <a:lnTo>
                    <a:pt x="289555" y="18633"/>
                  </a:lnTo>
                  <a:lnTo>
                    <a:pt x="269675" y="26851"/>
                  </a:lnTo>
                  <a:lnTo>
                    <a:pt x="252347" y="31781"/>
                  </a:lnTo>
                  <a:lnTo>
                    <a:pt x="232467" y="40021"/>
                  </a:lnTo>
                  <a:lnTo>
                    <a:pt x="215139" y="50970"/>
                  </a:lnTo>
                  <a:lnTo>
                    <a:pt x="197790" y="61386"/>
                  </a:lnTo>
                  <a:lnTo>
                    <a:pt x="180462" y="72335"/>
                  </a:lnTo>
                  <a:lnTo>
                    <a:pt x="150889" y="93700"/>
                  </a:lnTo>
                  <a:lnTo>
                    <a:pt x="133561" y="106848"/>
                  </a:lnTo>
                  <a:lnTo>
                    <a:pt x="106540" y="136453"/>
                  </a:lnTo>
                  <a:lnTo>
                    <a:pt x="93801" y="149601"/>
                  </a:lnTo>
                  <a:lnTo>
                    <a:pt x="69332" y="181938"/>
                  </a:lnTo>
                  <a:lnTo>
                    <a:pt x="59660" y="200549"/>
                  </a:lnTo>
                  <a:lnTo>
                    <a:pt x="49452" y="216451"/>
                  </a:lnTo>
                  <a:lnTo>
                    <a:pt x="32124" y="251520"/>
                  </a:lnTo>
                  <a:lnTo>
                    <a:pt x="17348" y="291519"/>
                  </a:lnTo>
                  <a:lnTo>
                    <a:pt x="7655" y="328786"/>
                  </a:lnTo>
                  <a:lnTo>
                    <a:pt x="0" y="392882"/>
                  </a:lnTo>
                  <a:lnTo>
                    <a:pt x="0" y="433436"/>
                  </a:lnTo>
                  <a:lnTo>
                    <a:pt x="7655" y="497554"/>
                  </a:lnTo>
                  <a:lnTo>
                    <a:pt x="12244" y="516165"/>
                  </a:lnTo>
                  <a:lnTo>
                    <a:pt x="17348" y="534799"/>
                  </a:lnTo>
                  <a:lnTo>
                    <a:pt x="24983" y="553433"/>
                  </a:lnTo>
                  <a:lnTo>
                    <a:pt x="39780" y="591233"/>
                  </a:lnTo>
                  <a:lnTo>
                    <a:pt x="49452" y="609866"/>
                  </a:lnTo>
                  <a:lnTo>
                    <a:pt x="59660" y="625768"/>
                  </a:lnTo>
                  <a:lnTo>
                    <a:pt x="69332" y="644402"/>
                  </a:lnTo>
                  <a:lnTo>
                    <a:pt x="93802" y="676716"/>
                  </a:lnTo>
                  <a:lnTo>
                    <a:pt x="106540" y="689864"/>
                  </a:lnTo>
                  <a:lnTo>
                    <a:pt x="121337" y="703567"/>
                  </a:lnTo>
                  <a:lnTo>
                    <a:pt x="133561" y="719469"/>
                  </a:lnTo>
                  <a:lnTo>
                    <a:pt x="150889" y="729863"/>
                  </a:lnTo>
                  <a:lnTo>
                    <a:pt x="165686" y="743566"/>
                  </a:lnTo>
                  <a:lnTo>
                    <a:pt x="180462" y="753982"/>
                  </a:lnTo>
                  <a:lnTo>
                    <a:pt x="197790" y="764932"/>
                  </a:lnTo>
                  <a:lnTo>
                    <a:pt x="215139" y="775348"/>
                  </a:lnTo>
                  <a:lnTo>
                    <a:pt x="232467" y="783565"/>
                  </a:lnTo>
                  <a:lnTo>
                    <a:pt x="252347" y="793981"/>
                  </a:lnTo>
                  <a:lnTo>
                    <a:pt x="269675" y="799467"/>
                  </a:lnTo>
                  <a:lnTo>
                    <a:pt x="289555" y="807684"/>
                  </a:lnTo>
                  <a:lnTo>
                    <a:pt x="309435" y="813170"/>
                  </a:lnTo>
                  <a:lnTo>
                    <a:pt x="329315" y="818101"/>
                  </a:lnTo>
                  <a:lnTo>
                    <a:pt x="368560" y="823564"/>
                  </a:lnTo>
                  <a:lnTo>
                    <a:pt x="390992" y="823564"/>
                  </a:lnTo>
                  <a:lnTo>
                    <a:pt x="410872" y="826318"/>
                  </a:lnTo>
                  <a:lnTo>
                    <a:pt x="433304" y="823564"/>
                  </a:lnTo>
                  <a:lnTo>
                    <a:pt x="453184" y="823564"/>
                  </a:lnTo>
                  <a:lnTo>
                    <a:pt x="494981" y="818101"/>
                  </a:lnTo>
                  <a:lnTo>
                    <a:pt x="514881" y="813170"/>
                  </a:lnTo>
                  <a:lnTo>
                    <a:pt x="534761" y="807684"/>
                  </a:lnTo>
                  <a:lnTo>
                    <a:pt x="552089" y="799467"/>
                  </a:lnTo>
                  <a:lnTo>
                    <a:pt x="571969" y="793981"/>
                  </a:lnTo>
                  <a:lnTo>
                    <a:pt x="589297" y="783565"/>
                  </a:lnTo>
                  <a:lnTo>
                    <a:pt x="608663" y="775348"/>
                  </a:lnTo>
                  <a:lnTo>
                    <a:pt x="625991" y="764932"/>
                  </a:lnTo>
                  <a:lnTo>
                    <a:pt x="641302" y="753982"/>
                  </a:lnTo>
                  <a:lnTo>
                    <a:pt x="658630" y="743566"/>
                  </a:lnTo>
                  <a:lnTo>
                    <a:pt x="673406" y="729863"/>
                  </a:lnTo>
                  <a:lnTo>
                    <a:pt x="688183" y="719469"/>
                  </a:lnTo>
                  <a:lnTo>
                    <a:pt x="702979" y="705766"/>
                  </a:lnTo>
                  <a:lnTo>
                    <a:pt x="715204" y="689864"/>
                  </a:lnTo>
                  <a:lnTo>
                    <a:pt x="730000" y="676716"/>
                  </a:lnTo>
                  <a:lnTo>
                    <a:pt x="742739" y="660281"/>
                  </a:lnTo>
                  <a:lnTo>
                    <a:pt x="752432" y="644402"/>
                  </a:lnTo>
                  <a:lnTo>
                    <a:pt x="762105" y="625768"/>
                  </a:lnTo>
                  <a:lnTo>
                    <a:pt x="772312" y="609866"/>
                  </a:lnTo>
                  <a:lnTo>
                    <a:pt x="781984" y="591233"/>
                  </a:lnTo>
                  <a:lnTo>
                    <a:pt x="796781" y="553433"/>
                  </a:lnTo>
                  <a:lnTo>
                    <a:pt x="804416" y="534799"/>
                  </a:lnTo>
                  <a:lnTo>
                    <a:pt x="809520" y="516165"/>
                  </a:lnTo>
                  <a:lnTo>
                    <a:pt x="819192" y="476167"/>
                  </a:lnTo>
                  <a:lnTo>
                    <a:pt x="821744" y="454801"/>
                  </a:lnTo>
                  <a:lnTo>
                    <a:pt x="821744" y="433436"/>
                  </a:lnTo>
                  <a:lnTo>
                    <a:pt x="824296" y="412071"/>
                  </a:lnTo>
                  <a:lnTo>
                    <a:pt x="821744" y="392882"/>
                  </a:lnTo>
                  <a:lnTo>
                    <a:pt x="821744" y="371516"/>
                  </a:lnTo>
                  <a:lnTo>
                    <a:pt x="819192" y="350151"/>
                  </a:lnTo>
                  <a:lnTo>
                    <a:pt x="809520" y="310152"/>
                  </a:lnTo>
                  <a:lnTo>
                    <a:pt x="796781" y="270153"/>
                  </a:lnTo>
                  <a:lnTo>
                    <a:pt x="772312" y="216451"/>
                  </a:lnTo>
                  <a:lnTo>
                    <a:pt x="762104" y="200549"/>
                  </a:lnTo>
                  <a:lnTo>
                    <a:pt x="752432" y="181938"/>
                  </a:lnTo>
                  <a:lnTo>
                    <a:pt x="742739" y="165481"/>
                  </a:lnTo>
                  <a:lnTo>
                    <a:pt x="730000" y="149601"/>
                  </a:lnTo>
                  <a:lnTo>
                    <a:pt x="715203" y="136453"/>
                  </a:lnTo>
                  <a:lnTo>
                    <a:pt x="702979" y="120551"/>
                  </a:lnTo>
                  <a:lnTo>
                    <a:pt x="673406" y="93700"/>
                  </a:lnTo>
                  <a:lnTo>
                    <a:pt x="658630" y="82751"/>
                  </a:lnTo>
                  <a:lnTo>
                    <a:pt x="641302" y="72335"/>
                  </a:lnTo>
                  <a:lnTo>
                    <a:pt x="623953" y="61386"/>
                  </a:lnTo>
                  <a:lnTo>
                    <a:pt x="608663" y="50970"/>
                  </a:lnTo>
                  <a:lnTo>
                    <a:pt x="589297" y="40021"/>
                  </a:lnTo>
                  <a:lnTo>
                    <a:pt x="571969" y="31781"/>
                  </a:lnTo>
                  <a:lnTo>
                    <a:pt x="552089" y="26851"/>
                  </a:lnTo>
                  <a:lnTo>
                    <a:pt x="534761" y="18633"/>
                  </a:lnTo>
                  <a:lnTo>
                    <a:pt x="514881" y="13170"/>
                  </a:lnTo>
                  <a:lnTo>
                    <a:pt x="494981" y="8239"/>
                  </a:lnTo>
                  <a:lnTo>
                    <a:pt x="433304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500436" y="2251454"/>
              <a:ext cx="824865" cy="826769"/>
            </a:xfrm>
            <a:custGeom>
              <a:avLst/>
              <a:gdLst/>
              <a:ahLst/>
              <a:cxnLst/>
              <a:rect l="l" t="t" r="r" b="b"/>
              <a:pathLst>
                <a:path w="824865" h="826769">
                  <a:moveTo>
                    <a:pt x="410872" y="0"/>
                  </a:moveTo>
                  <a:lnTo>
                    <a:pt x="390992" y="0"/>
                  </a:lnTo>
                  <a:lnTo>
                    <a:pt x="368560" y="2753"/>
                  </a:lnTo>
                  <a:lnTo>
                    <a:pt x="349195" y="5485"/>
                  </a:lnTo>
                  <a:lnTo>
                    <a:pt x="329315" y="8239"/>
                  </a:lnTo>
                  <a:lnTo>
                    <a:pt x="309435" y="13170"/>
                  </a:lnTo>
                  <a:lnTo>
                    <a:pt x="289555" y="18633"/>
                  </a:lnTo>
                  <a:lnTo>
                    <a:pt x="269675" y="26851"/>
                  </a:lnTo>
                  <a:lnTo>
                    <a:pt x="252347" y="31781"/>
                  </a:lnTo>
                  <a:lnTo>
                    <a:pt x="232467" y="40021"/>
                  </a:lnTo>
                  <a:lnTo>
                    <a:pt x="215139" y="50970"/>
                  </a:lnTo>
                  <a:lnTo>
                    <a:pt x="197790" y="61386"/>
                  </a:lnTo>
                  <a:lnTo>
                    <a:pt x="165686" y="82751"/>
                  </a:lnTo>
                  <a:lnTo>
                    <a:pt x="133561" y="106848"/>
                  </a:lnTo>
                  <a:lnTo>
                    <a:pt x="121337" y="120551"/>
                  </a:lnTo>
                  <a:lnTo>
                    <a:pt x="106540" y="136453"/>
                  </a:lnTo>
                  <a:lnTo>
                    <a:pt x="93801" y="149601"/>
                  </a:lnTo>
                  <a:lnTo>
                    <a:pt x="81577" y="165481"/>
                  </a:lnTo>
                  <a:lnTo>
                    <a:pt x="69332" y="181938"/>
                  </a:lnTo>
                  <a:lnTo>
                    <a:pt x="59660" y="200549"/>
                  </a:lnTo>
                  <a:lnTo>
                    <a:pt x="49452" y="216451"/>
                  </a:lnTo>
                  <a:lnTo>
                    <a:pt x="32124" y="251520"/>
                  </a:lnTo>
                  <a:lnTo>
                    <a:pt x="17348" y="291519"/>
                  </a:lnTo>
                  <a:lnTo>
                    <a:pt x="7655" y="328786"/>
                  </a:lnTo>
                  <a:lnTo>
                    <a:pt x="5103" y="350151"/>
                  </a:lnTo>
                  <a:lnTo>
                    <a:pt x="2551" y="371516"/>
                  </a:lnTo>
                  <a:lnTo>
                    <a:pt x="0" y="392882"/>
                  </a:lnTo>
                  <a:lnTo>
                    <a:pt x="0" y="412071"/>
                  </a:lnTo>
                  <a:lnTo>
                    <a:pt x="0" y="433436"/>
                  </a:lnTo>
                  <a:lnTo>
                    <a:pt x="2551" y="454801"/>
                  </a:lnTo>
                  <a:lnTo>
                    <a:pt x="5103" y="476166"/>
                  </a:lnTo>
                  <a:lnTo>
                    <a:pt x="7655" y="497554"/>
                  </a:lnTo>
                  <a:lnTo>
                    <a:pt x="12244" y="516165"/>
                  </a:lnTo>
                  <a:lnTo>
                    <a:pt x="17348" y="534799"/>
                  </a:lnTo>
                  <a:lnTo>
                    <a:pt x="24983" y="553433"/>
                  </a:lnTo>
                  <a:lnTo>
                    <a:pt x="32124" y="572066"/>
                  </a:lnTo>
                  <a:lnTo>
                    <a:pt x="39780" y="591233"/>
                  </a:lnTo>
                  <a:lnTo>
                    <a:pt x="49452" y="609866"/>
                  </a:lnTo>
                  <a:lnTo>
                    <a:pt x="59660" y="625768"/>
                  </a:lnTo>
                  <a:lnTo>
                    <a:pt x="69332" y="644402"/>
                  </a:lnTo>
                  <a:lnTo>
                    <a:pt x="81577" y="660281"/>
                  </a:lnTo>
                  <a:lnTo>
                    <a:pt x="93802" y="676716"/>
                  </a:lnTo>
                  <a:lnTo>
                    <a:pt x="106540" y="689864"/>
                  </a:lnTo>
                  <a:lnTo>
                    <a:pt x="121337" y="703567"/>
                  </a:lnTo>
                  <a:lnTo>
                    <a:pt x="133561" y="719469"/>
                  </a:lnTo>
                  <a:lnTo>
                    <a:pt x="150889" y="729863"/>
                  </a:lnTo>
                  <a:lnTo>
                    <a:pt x="180462" y="753982"/>
                  </a:lnTo>
                  <a:lnTo>
                    <a:pt x="215139" y="775348"/>
                  </a:lnTo>
                  <a:lnTo>
                    <a:pt x="232467" y="783565"/>
                  </a:lnTo>
                  <a:lnTo>
                    <a:pt x="252347" y="793981"/>
                  </a:lnTo>
                  <a:lnTo>
                    <a:pt x="269675" y="799467"/>
                  </a:lnTo>
                  <a:lnTo>
                    <a:pt x="289555" y="807684"/>
                  </a:lnTo>
                  <a:lnTo>
                    <a:pt x="309435" y="813170"/>
                  </a:lnTo>
                  <a:lnTo>
                    <a:pt x="329315" y="818101"/>
                  </a:lnTo>
                  <a:lnTo>
                    <a:pt x="349195" y="820832"/>
                  </a:lnTo>
                  <a:lnTo>
                    <a:pt x="368560" y="823564"/>
                  </a:lnTo>
                  <a:lnTo>
                    <a:pt x="390992" y="823564"/>
                  </a:lnTo>
                  <a:lnTo>
                    <a:pt x="410872" y="826318"/>
                  </a:lnTo>
                  <a:lnTo>
                    <a:pt x="433304" y="823564"/>
                  </a:lnTo>
                  <a:lnTo>
                    <a:pt x="475101" y="820832"/>
                  </a:lnTo>
                  <a:lnTo>
                    <a:pt x="514881" y="813170"/>
                  </a:lnTo>
                  <a:lnTo>
                    <a:pt x="552089" y="799467"/>
                  </a:lnTo>
                  <a:lnTo>
                    <a:pt x="571969" y="793981"/>
                  </a:lnTo>
                  <a:lnTo>
                    <a:pt x="589297" y="783565"/>
                  </a:lnTo>
                  <a:lnTo>
                    <a:pt x="608663" y="775348"/>
                  </a:lnTo>
                  <a:lnTo>
                    <a:pt x="625991" y="764932"/>
                  </a:lnTo>
                  <a:lnTo>
                    <a:pt x="641302" y="753982"/>
                  </a:lnTo>
                  <a:lnTo>
                    <a:pt x="658630" y="743566"/>
                  </a:lnTo>
                  <a:lnTo>
                    <a:pt x="673406" y="729863"/>
                  </a:lnTo>
                  <a:lnTo>
                    <a:pt x="688183" y="719469"/>
                  </a:lnTo>
                  <a:lnTo>
                    <a:pt x="702979" y="705766"/>
                  </a:lnTo>
                  <a:lnTo>
                    <a:pt x="715204" y="689864"/>
                  </a:lnTo>
                  <a:lnTo>
                    <a:pt x="730000" y="676716"/>
                  </a:lnTo>
                  <a:lnTo>
                    <a:pt x="742739" y="660281"/>
                  </a:lnTo>
                  <a:lnTo>
                    <a:pt x="752432" y="644402"/>
                  </a:lnTo>
                  <a:lnTo>
                    <a:pt x="762105" y="625768"/>
                  </a:lnTo>
                  <a:lnTo>
                    <a:pt x="772312" y="609866"/>
                  </a:lnTo>
                  <a:lnTo>
                    <a:pt x="781984" y="591233"/>
                  </a:lnTo>
                  <a:lnTo>
                    <a:pt x="789640" y="572066"/>
                  </a:lnTo>
                  <a:lnTo>
                    <a:pt x="796781" y="553433"/>
                  </a:lnTo>
                  <a:lnTo>
                    <a:pt x="804416" y="534799"/>
                  </a:lnTo>
                  <a:lnTo>
                    <a:pt x="809520" y="516165"/>
                  </a:lnTo>
                  <a:lnTo>
                    <a:pt x="814109" y="497554"/>
                  </a:lnTo>
                  <a:lnTo>
                    <a:pt x="819192" y="476167"/>
                  </a:lnTo>
                  <a:lnTo>
                    <a:pt x="821744" y="454801"/>
                  </a:lnTo>
                  <a:lnTo>
                    <a:pt x="821744" y="433436"/>
                  </a:lnTo>
                  <a:lnTo>
                    <a:pt x="824296" y="412071"/>
                  </a:lnTo>
                  <a:lnTo>
                    <a:pt x="821744" y="392882"/>
                  </a:lnTo>
                  <a:lnTo>
                    <a:pt x="821744" y="371516"/>
                  </a:lnTo>
                  <a:lnTo>
                    <a:pt x="819192" y="350151"/>
                  </a:lnTo>
                  <a:lnTo>
                    <a:pt x="809520" y="310152"/>
                  </a:lnTo>
                  <a:lnTo>
                    <a:pt x="796781" y="270153"/>
                  </a:lnTo>
                  <a:lnTo>
                    <a:pt x="772312" y="216451"/>
                  </a:lnTo>
                  <a:lnTo>
                    <a:pt x="762104" y="200549"/>
                  </a:lnTo>
                  <a:lnTo>
                    <a:pt x="752432" y="181938"/>
                  </a:lnTo>
                  <a:lnTo>
                    <a:pt x="742739" y="165481"/>
                  </a:lnTo>
                  <a:lnTo>
                    <a:pt x="730000" y="149601"/>
                  </a:lnTo>
                  <a:lnTo>
                    <a:pt x="715203" y="136453"/>
                  </a:lnTo>
                  <a:lnTo>
                    <a:pt x="702979" y="120551"/>
                  </a:lnTo>
                  <a:lnTo>
                    <a:pt x="688182" y="106848"/>
                  </a:lnTo>
                  <a:lnTo>
                    <a:pt x="673406" y="93700"/>
                  </a:lnTo>
                  <a:lnTo>
                    <a:pt x="658630" y="82751"/>
                  </a:lnTo>
                  <a:lnTo>
                    <a:pt x="641302" y="72335"/>
                  </a:lnTo>
                  <a:lnTo>
                    <a:pt x="623953" y="61386"/>
                  </a:lnTo>
                  <a:lnTo>
                    <a:pt x="608663" y="50970"/>
                  </a:lnTo>
                  <a:lnTo>
                    <a:pt x="589297" y="40021"/>
                  </a:lnTo>
                  <a:lnTo>
                    <a:pt x="571969" y="31781"/>
                  </a:lnTo>
                  <a:lnTo>
                    <a:pt x="552089" y="26851"/>
                  </a:lnTo>
                  <a:lnTo>
                    <a:pt x="534761" y="18633"/>
                  </a:lnTo>
                  <a:lnTo>
                    <a:pt x="514881" y="13170"/>
                  </a:lnTo>
                  <a:lnTo>
                    <a:pt x="494981" y="8239"/>
                  </a:lnTo>
                  <a:lnTo>
                    <a:pt x="475101" y="5485"/>
                  </a:lnTo>
                  <a:lnTo>
                    <a:pt x="453184" y="2753"/>
                  </a:lnTo>
                  <a:lnTo>
                    <a:pt x="433304" y="0"/>
                  </a:lnTo>
                  <a:lnTo>
                    <a:pt x="410872" y="0"/>
                  </a:lnTo>
                </a:path>
              </a:pathLst>
            </a:custGeom>
            <a:ln w="1536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294705" y="3449473"/>
            <a:ext cx="58610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85" dirty="0">
                <a:latin typeface="宋体"/>
                <a:cs typeface="宋体"/>
              </a:rPr>
              <a:t>指令流</a:t>
            </a:r>
            <a:endParaRPr sz="1550">
              <a:latin typeface="宋体"/>
              <a:cs typeface="宋体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690631" y="2289462"/>
            <a:ext cx="399415" cy="624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540">
              <a:lnSpc>
                <a:spcPct val="126899"/>
              </a:lnSpc>
              <a:spcBef>
                <a:spcPts val="90"/>
              </a:spcBef>
            </a:pPr>
            <a:r>
              <a:rPr sz="1550" spc="-114" dirty="0">
                <a:latin typeface="宋体"/>
                <a:cs typeface="宋体"/>
              </a:rPr>
              <a:t>输入</a:t>
            </a:r>
            <a:r>
              <a:rPr sz="1550" spc="-105" dirty="0">
                <a:latin typeface="宋体"/>
                <a:cs typeface="宋体"/>
              </a:rPr>
              <a:t>设备</a:t>
            </a:r>
            <a:endParaRPr sz="1550">
              <a:latin typeface="宋体"/>
              <a:cs typeface="宋体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059262" y="2569602"/>
            <a:ext cx="387985" cy="190500"/>
            <a:chOff x="6059262" y="2569602"/>
            <a:chExt cx="387985" cy="190500"/>
          </a:xfrm>
        </p:grpSpPr>
        <p:sp>
          <p:nvSpPr>
            <p:cNvPr id="40" name="object 40"/>
            <p:cNvSpPr/>
            <p:nvPr/>
          </p:nvSpPr>
          <p:spPr>
            <a:xfrm>
              <a:off x="6067146" y="2577486"/>
              <a:ext cx="372110" cy="174625"/>
            </a:xfrm>
            <a:custGeom>
              <a:avLst/>
              <a:gdLst/>
              <a:ahLst/>
              <a:cxnLst/>
              <a:rect l="l" t="t" r="r" b="b"/>
              <a:pathLst>
                <a:path w="372110" h="174625">
                  <a:moveTo>
                    <a:pt x="279868" y="0"/>
                  </a:moveTo>
                  <a:lnTo>
                    <a:pt x="279868" y="42752"/>
                  </a:lnTo>
                  <a:lnTo>
                    <a:pt x="0" y="42752"/>
                  </a:lnTo>
                  <a:lnTo>
                    <a:pt x="0" y="131523"/>
                  </a:lnTo>
                  <a:lnTo>
                    <a:pt x="279868" y="131523"/>
                  </a:lnTo>
                  <a:lnTo>
                    <a:pt x="279868" y="174254"/>
                  </a:lnTo>
                  <a:lnTo>
                    <a:pt x="371612" y="86038"/>
                  </a:lnTo>
                  <a:lnTo>
                    <a:pt x="279868" y="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067146" y="2577486"/>
              <a:ext cx="372110" cy="174625"/>
            </a:xfrm>
            <a:custGeom>
              <a:avLst/>
              <a:gdLst/>
              <a:ahLst/>
              <a:cxnLst/>
              <a:rect l="l" t="t" r="r" b="b"/>
              <a:pathLst>
                <a:path w="372110" h="174625">
                  <a:moveTo>
                    <a:pt x="279868" y="0"/>
                  </a:moveTo>
                  <a:lnTo>
                    <a:pt x="279868" y="42752"/>
                  </a:lnTo>
                  <a:lnTo>
                    <a:pt x="0" y="42752"/>
                  </a:lnTo>
                  <a:lnTo>
                    <a:pt x="0" y="131523"/>
                  </a:lnTo>
                  <a:lnTo>
                    <a:pt x="279868" y="131523"/>
                  </a:lnTo>
                  <a:lnTo>
                    <a:pt x="279868" y="174254"/>
                  </a:lnTo>
                  <a:lnTo>
                    <a:pt x="371612" y="86038"/>
                  </a:lnTo>
                  <a:lnTo>
                    <a:pt x="279868" y="0"/>
                  </a:lnTo>
                  <a:close/>
                </a:path>
              </a:pathLst>
            </a:custGeom>
            <a:ln w="157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11110959" y="2243517"/>
            <a:ext cx="1089025" cy="842644"/>
            <a:chOff x="11110959" y="2243517"/>
            <a:chExt cx="1089025" cy="842644"/>
          </a:xfrm>
        </p:grpSpPr>
        <p:sp>
          <p:nvSpPr>
            <p:cNvPr id="43" name="object 43"/>
            <p:cNvSpPr/>
            <p:nvPr/>
          </p:nvSpPr>
          <p:spPr>
            <a:xfrm>
              <a:off x="11118897" y="2251454"/>
              <a:ext cx="822325" cy="826769"/>
            </a:xfrm>
            <a:custGeom>
              <a:avLst/>
              <a:gdLst/>
              <a:ahLst/>
              <a:cxnLst/>
              <a:rect l="l" t="t" r="r" b="b"/>
              <a:pathLst>
                <a:path w="822325" h="826769">
                  <a:moveTo>
                    <a:pt x="433406" y="0"/>
                  </a:moveTo>
                  <a:lnTo>
                    <a:pt x="410975" y="0"/>
                  </a:lnTo>
                  <a:lnTo>
                    <a:pt x="391012" y="0"/>
                  </a:lnTo>
                  <a:lnTo>
                    <a:pt x="329274" y="8239"/>
                  </a:lnTo>
                  <a:lnTo>
                    <a:pt x="309517" y="13170"/>
                  </a:lnTo>
                  <a:lnTo>
                    <a:pt x="289555" y="18633"/>
                  </a:lnTo>
                  <a:lnTo>
                    <a:pt x="269593" y="26851"/>
                  </a:lnTo>
                  <a:lnTo>
                    <a:pt x="250248" y="31781"/>
                  </a:lnTo>
                  <a:lnTo>
                    <a:pt x="232961" y="40021"/>
                  </a:lnTo>
                  <a:lnTo>
                    <a:pt x="215674" y="50970"/>
                  </a:lnTo>
                  <a:lnTo>
                    <a:pt x="180894" y="72335"/>
                  </a:lnTo>
                  <a:lnTo>
                    <a:pt x="166283" y="82751"/>
                  </a:lnTo>
                  <a:lnTo>
                    <a:pt x="148790" y="96454"/>
                  </a:lnTo>
                  <a:lnTo>
                    <a:pt x="133561" y="106848"/>
                  </a:lnTo>
                  <a:lnTo>
                    <a:pt x="121419" y="120551"/>
                  </a:lnTo>
                  <a:lnTo>
                    <a:pt x="94254" y="149601"/>
                  </a:lnTo>
                  <a:lnTo>
                    <a:pt x="81495" y="165481"/>
                  </a:lnTo>
                  <a:lnTo>
                    <a:pt x="69353" y="181938"/>
                  </a:lnTo>
                  <a:lnTo>
                    <a:pt x="59680" y="200549"/>
                  </a:lnTo>
                  <a:lnTo>
                    <a:pt x="49391" y="216451"/>
                  </a:lnTo>
                  <a:lnTo>
                    <a:pt x="39718" y="235085"/>
                  </a:lnTo>
                  <a:lnTo>
                    <a:pt x="17286" y="291519"/>
                  </a:lnTo>
                  <a:lnTo>
                    <a:pt x="7614" y="328786"/>
                  </a:lnTo>
                  <a:lnTo>
                    <a:pt x="0" y="392882"/>
                  </a:lnTo>
                  <a:lnTo>
                    <a:pt x="0" y="433436"/>
                  </a:lnTo>
                  <a:lnTo>
                    <a:pt x="7614" y="497554"/>
                  </a:lnTo>
                  <a:lnTo>
                    <a:pt x="17286" y="534799"/>
                  </a:lnTo>
                  <a:lnTo>
                    <a:pt x="32104" y="574798"/>
                  </a:lnTo>
                  <a:lnTo>
                    <a:pt x="49391" y="609866"/>
                  </a:lnTo>
                  <a:lnTo>
                    <a:pt x="59680" y="625768"/>
                  </a:lnTo>
                  <a:lnTo>
                    <a:pt x="69353" y="644402"/>
                  </a:lnTo>
                  <a:lnTo>
                    <a:pt x="94254" y="676716"/>
                  </a:lnTo>
                  <a:lnTo>
                    <a:pt x="121419" y="705766"/>
                  </a:lnTo>
                  <a:lnTo>
                    <a:pt x="133561" y="719469"/>
                  </a:lnTo>
                  <a:lnTo>
                    <a:pt x="148790" y="729863"/>
                  </a:lnTo>
                  <a:lnTo>
                    <a:pt x="166283" y="743566"/>
                  </a:lnTo>
                  <a:lnTo>
                    <a:pt x="180895" y="753982"/>
                  </a:lnTo>
                  <a:lnTo>
                    <a:pt x="215674" y="775348"/>
                  </a:lnTo>
                  <a:lnTo>
                    <a:pt x="232961" y="783565"/>
                  </a:lnTo>
                  <a:lnTo>
                    <a:pt x="250248" y="793981"/>
                  </a:lnTo>
                  <a:lnTo>
                    <a:pt x="269593" y="799467"/>
                  </a:lnTo>
                  <a:lnTo>
                    <a:pt x="289555" y="807684"/>
                  </a:lnTo>
                  <a:lnTo>
                    <a:pt x="309517" y="813170"/>
                  </a:lnTo>
                  <a:lnTo>
                    <a:pt x="329274" y="818101"/>
                  </a:lnTo>
                  <a:lnTo>
                    <a:pt x="368992" y="823564"/>
                  </a:lnTo>
                  <a:lnTo>
                    <a:pt x="391013" y="823564"/>
                  </a:lnTo>
                  <a:lnTo>
                    <a:pt x="410975" y="826318"/>
                  </a:lnTo>
                  <a:lnTo>
                    <a:pt x="433407" y="823564"/>
                  </a:lnTo>
                  <a:lnTo>
                    <a:pt x="453163" y="823564"/>
                  </a:lnTo>
                  <a:lnTo>
                    <a:pt x="494940" y="818101"/>
                  </a:lnTo>
                  <a:lnTo>
                    <a:pt x="514902" y="813170"/>
                  </a:lnTo>
                  <a:lnTo>
                    <a:pt x="534658" y="807684"/>
                  </a:lnTo>
                  <a:lnTo>
                    <a:pt x="552151" y="799467"/>
                  </a:lnTo>
                  <a:lnTo>
                    <a:pt x="571908" y="793981"/>
                  </a:lnTo>
                  <a:lnTo>
                    <a:pt x="589400" y="783565"/>
                  </a:lnTo>
                  <a:lnTo>
                    <a:pt x="606687" y="775348"/>
                  </a:lnTo>
                  <a:lnTo>
                    <a:pt x="623974" y="764932"/>
                  </a:lnTo>
                  <a:lnTo>
                    <a:pt x="641261" y="753982"/>
                  </a:lnTo>
                  <a:lnTo>
                    <a:pt x="658548" y="743566"/>
                  </a:lnTo>
                  <a:lnTo>
                    <a:pt x="673365" y="729863"/>
                  </a:lnTo>
                  <a:lnTo>
                    <a:pt x="688183" y="719469"/>
                  </a:lnTo>
                  <a:lnTo>
                    <a:pt x="703000" y="705766"/>
                  </a:lnTo>
                  <a:lnTo>
                    <a:pt x="715142" y="689864"/>
                  </a:lnTo>
                  <a:lnTo>
                    <a:pt x="727901" y="676716"/>
                  </a:lnTo>
                  <a:lnTo>
                    <a:pt x="752391" y="644402"/>
                  </a:lnTo>
                  <a:lnTo>
                    <a:pt x="762681" y="625768"/>
                  </a:lnTo>
                  <a:lnTo>
                    <a:pt x="772353" y="609866"/>
                  </a:lnTo>
                  <a:lnTo>
                    <a:pt x="789640" y="574798"/>
                  </a:lnTo>
                  <a:lnTo>
                    <a:pt x="804457" y="534799"/>
                  </a:lnTo>
                  <a:lnTo>
                    <a:pt x="814541" y="497554"/>
                  </a:lnTo>
                  <a:lnTo>
                    <a:pt x="816599" y="476167"/>
                  </a:lnTo>
                  <a:lnTo>
                    <a:pt x="821744" y="454801"/>
                  </a:lnTo>
                  <a:lnTo>
                    <a:pt x="821744" y="371516"/>
                  </a:lnTo>
                  <a:lnTo>
                    <a:pt x="816599" y="350151"/>
                  </a:lnTo>
                  <a:lnTo>
                    <a:pt x="814541" y="328786"/>
                  </a:lnTo>
                  <a:lnTo>
                    <a:pt x="804457" y="291519"/>
                  </a:lnTo>
                  <a:lnTo>
                    <a:pt x="789640" y="254251"/>
                  </a:lnTo>
                  <a:lnTo>
                    <a:pt x="782437" y="235085"/>
                  </a:lnTo>
                  <a:lnTo>
                    <a:pt x="772353" y="216451"/>
                  </a:lnTo>
                  <a:lnTo>
                    <a:pt x="762681" y="200549"/>
                  </a:lnTo>
                  <a:lnTo>
                    <a:pt x="752391" y="181938"/>
                  </a:lnTo>
                  <a:lnTo>
                    <a:pt x="740249" y="165481"/>
                  </a:lnTo>
                  <a:lnTo>
                    <a:pt x="727901" y="149601"/>
                  </a:lnTo>
                  <a:lnTo>
                    <a:pt x="715142" y="136453"/>
                  </a:lnTo>
                  <a:lnTo>
                    <a:pt x="703000" y="120551"/>
                  </a:lnTo>
                  <a:lnTo>
                    <a:pt x="688182" y="106848"/>
                  </a:lnTo>
                  <a:lnTo>
                    <a:pt x="673365" y="96454"/>
                  </a:lnTo>
                  <a:lnTo>
                    <a:pt x="658548" y="82751"/>
                  </a:lnTo>
                  <a:lnTo>
                    <a:pt x="641261" y="72335"/>
                  </a:lnTo>
                  <a:lnTo>
                    <a:pt x="623974" y="61386"/>
                  </a:lnTo>
                  <a:lnTo>
                    <a:pt x="606687" y="50970"/>
                  </a:lnTo>
                  <a:lnTo>
                    <a:pt x="589400" y="40021"/>
                  </a:lnTo>
                  <a:lnTo>
                    <a:pt x="571907" y="31781"/>
                  </a:lnTo>
                  <a:lnTo>
                    <a:pt x="552151" y="26851"/>
                  </a:lnTo>
                  <a:lnTo>
                    <a:pt x="534658" y="18633"/>
                  </a:lnTo>
                  <a:lnTo>
                    <a:pt x="514902" y="13170"/>
                  </a:lnTo>
                  <a:lnTo>
                    <a:pt x="494940" y="8239"/>
                  </a:lnTo>
                  <a:lnTo>
                    <a:pt x="433406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1118897" y="2251454"/>
              <a:ext cx="822325" cy="826769"/>
            </a:xfrm>
            <a:custGeom>
              <a:avLst/>
              <a:gdLst/>
              <a:ahLst/>
              <a:cxnLst/>
              <a:rect l="l" t="t" r="r" b="b"/>
              <a:pathLst>
                <a:path w="822325" h="826769">
                  <a:moveTo>
                    <a:pt x="410975" y="0"/>
                  </a:moveTo>
                  <a:lnTo>
                    <a:pt x="391012" y="0"/>
                  </a:lnTo>
                  <a:lnTo>
                    <a:pt x="368992" y="2753"/>
                  </a:lnTo>
                  <a:lnTo>
                    <a:pt x="349236" y="5485"/>
                  </a:lnTo>
                  <a:lnTo>
                    <a:pt x="329274" y="8239"/>
                  </a:lnTo>
                  <a:lnTo>
                    <a:pt x="309517" y="13170"/>
                  </a:lnTo>
                  <a:lnTo>
                    <a:pt x="289555" y="18633"/>
                  </a:lnTo>
                  <a:lnTo>
                    <a:pt x="269593" y="26851"/>
                  </a:lnTo>
                  <a:lnTo>
                    <a:pt x="250248" y="31781"/>
                  </a:lnTo>
                  <a:lnTo>
                    <a:pt x="232961" y="40021"/>
                  </a:lnTo>
                  <a:lnTo>
                    <a:pt x="215674" y="50970"/>
                  </a:lnTo>
                  <a:lnTo>
                    <a:pt x="198387" y="61386"/>
                  </a:lnTo>
                  <a:lnTo>
                    <a:pt x="180894" y="72335"/>
                  </a:lnTo>
                  <a:lnTo>
                    <a:pt x="166283" y="82751"/>
                  </a:lnTo>
                  <a:lnTo>
                    <a:pt x="148790" y="96454"/>
                  </a:lnTo>
                  <a:lnTo>
                    <a:pt x="133561" y="106848"/>
                  </a:lnTo>
                  <a:lnTo>
                    <a:pt x="121419" y="120551"/>
                  </a:lnTo>
                  <a:lnTo>
                    <a:pt x="106602" y="136453"/>
                  </a:lnTo>
                  <a:lnTo>
                    <a:pt x="94254" y="149601"/>
                  </a:lnTo>
                  <a:lnTo>
                    <a:pt x="81495" y="165481"/>
                  </a:lnTo>
                  <a:lnTo>
                    <a:pt x="69353" y="181938"/>
                  </a:lnTo>
                  <a:lnTo>
                    <a:pt x="59680" y="200549"/>
                  </a:lnTo>
                  <a:lnTo>
                    <a:pt x="49391" y="216451"/>
                  </a:lnTo>
                  <a:lnTo>
                    <a:pt x="39718" y="235085"/>
                  </a:lnTo>
                  <a:lnTo>
                    <a:pt x="32104" y="254251"/>
                  </a:lnTo>
                  <a:lnTo>
                    <a:pt x="24901" y="272885"/>
                  </a:lnTo>
                  <a:lnTo>
                    <a:pt x="17286" y="291519"/>
                  </a:lnTo>
                  <a:lnTo>
                    <a:pt x="12347" y="310152"/>
                  </a:lnTo>
                  <a:lnTo>
                    <a:pt x="7614" y="328786"/>
                  </a:lnTo>
                  <a:lnTo>
                    <a:pt x="5144" y="350151"/>
                  </a:lnTo>
                  <a:lnTo>
                    <a:pt x="2469" y="371516"/>
                  </a:lnTo>
                  <a:lnTo>
                    <a:pt x="0" y="392882"/>
                  </a:lnTo>
                  <a:lnTo>
                    <a:pt x="0" y="414247"/>
                  </a:lnTo>
                  <a:lnTo>
                    <a:pt x="0" y="433436"/>
                  </a:lnTo>
                  <a:lnTo>
                    <a:pt x="2469" y="454801"/>
                  </a:lnTo>
                  <a:lnTo>
                    <a:pt x="5144" y="476166"/>
                  </a:lnTo>
                  <a:lnTo>
                    <a:pt x="7614" y="497554"/>
                  </a:lnTo>
                  <a:lnTo>
                    <a:pt x="17286" y="534799"/>
                  </a:lnTo>
                  <a:lnTo>
                    <a:pt x="32104" y="574798"/>
                  </a:lnTo>
                  <a:lnTo>
                    <a:pt x="49391" y="609866"/>
                  </a:lnTo>
                  <a:lnTo>
                    <a:pt x="59680" y="625768"/>
                  </a:lnTo>
                  <a:lnTo>
                    <a:pt x="69353" y="644402"/>
                  </a:lnTo>
                  <a:lnTo>
                    <a:pt x="81495" y="660281"/>
                  </a:lnTo>
                  <a:lnTo>
                    <a:pt x="94254" y="676716"/>
                  </a:lnTo>
                  <a:lnTo>
                    <a:pt x="106602" y="689864"/>
                  </a:lnTo>
                  <a:lnTo>
                    <a:pt x="121419" y="705766"/>
                  </a:lnTo>
                  <a:lnTo>
                    <a:pt x="133561" y="719469"/>
                  </a:lnTo>
                  <a:lnTo>
                    <a:pt x="148790" y="729863"/>
                  </a:lnTo>
                  <a:lnTo>
                    <a:pt x="166283" y="743566"/>
                  </a:lnTo>
                  <a:lnTo>
                    <a:pt x="180895" y="753982"/>
                  </a:lnTo>
                  <a:lnTo>
                    <a:pt x="198387" y="764932"/>
                  </a:lnTo>
                  <a:lnTo>
                    <a:pt x="215674" y="775348"/>
                  </a:lnTo>
                  <a:lnTo>
                    <a:pt x="232961" y="783565"/>
                  </a:lnTo>
                  <a:lnTo>
                    <a:pt x="250248" y="793981"/>
                  </a:lnTo>
                  <a:lnTo>
                    <a:pt x="269593" y="799467"/>
                  </a:lnTo>
                  <a:lnTo>
                    <a:pt x="289555" y="807684"/>
                  </a:lnTo>
                  <a:lnTo>
                    <a:pt x="309517" y="813170"/>
                  </a:lnTo>
                  <a:lnTo>
                    <a:pt x="329274" y="818101"/>
                  </a:lnTo>
                  <a:lnTo>
                    <a:pt x="349236" y="820832"/>
                  </a:lnTo>
                  <a:lnTo>
                    <a:pt x="368992" y="823564"/>
                  </a:lnTo>
                  <a:lnTo>
                    <a:pt x="391013" y="823564"/>
                  </a:lnTo>
                  <a:lnTo>
                    <a:pt x="410975" y="826318"/>
                  </a:lnTo>
                  <a:lnTo>
                    <a:pt x="433407" y="823564"/>
                  </a:lnTo>
                  <a:lnTo>
                    <a:pt x="453163" y="823564"/>
                  </a:lnTo>
                  <a:lnTo>
                    <a:pt x="473125" y="820832"/>
                  </a:lnTo>
                  <a:lnTo>
                    <a:pt x="494940" y="818101"/>
                  </a:lnTo>
                  <a:lnTo>
                    <a:pt x="514902" y="813170"/>
                  </a:lnTo>
                  <a:lnTo>
                    <a:pt x="534658" y="807684"/>
                  </a:lnTo>
                  <a:lnTo>
                    <a:pt x="552151" y="799467"/>
                  </a:lnTo>
                  <a:lnTo>
                    <a:pt x="571908" y="793981"/>
                  </a:lnTo>
                  <a:lnTo>
                    <a:pt x="589400" y="783565"/>
                  </a:lnTo>
                  <a:lnTo>
                    <a:pt x="606687" y="775348"/>
                  </a:lnTo>
                  <a:lnTo>
                    <a:pt x="623974" y="764932"/>
                  </a:lnTo>
                  <a:lnTo>
                    <a:pt x="641261" y="753982"/>
                  </a:lnTo>
                  <a:lnTo>
                    <a:pt x="658548" y="743566"/>
                  </a:lnTo>
                  <a:lnTo>
                    <a:pt x="673365" y="729863"/>
                  </a:lnTo>
                  <a:lnTo>
                    <a:pt x="688183" y="719469"/>
                  </a:lnTo>
                  <a:lnTo>
                    <a:pt x="703000" y="705766"/>
                  </a:lnTo>
                  <a:lnTo>
                    <a:pt x="715142" y="689864"/>
                  </a:lnTo>
                  <a:lnTo>
                    <a:pt x="727901" y="676716"/>
                  </a:lnTo>
                  <a:lnTo>
                    <a:pt x="740249" y="660281"/>
                  </a:lnTo>
                  <a:lnTo>
                    <a:pt x="752391" y="644402"/>
                  </a:lnTo>
                  <a:lnTo>
                    <a:pt x="762681" y="625768"/>
                  </a:lnTo>
                  <a:lnTo>
                    <a:pt x="782437" y="591233"/>
                  </a:lnTo>
                  <a:lnTo>
                    <a:pt x="804457" y="534799"/>
                  </a:lnTo>
                  <a:lnTo>
                    <a:pt x="814541" y="497554"/>
                  </a:lnTo>
                  <a:lnTo>
                    <a:pt x="816599" y="476167"/>
                  </a:lnTo>
                  <a:lnTo>
                    <a:pt x="821744" y="454801"/>
                  </a:lnTo>
                  <a:lnTo>
                    <a:pt x="821744" y="433436"/>
                  </a:lnTo>
                  <a:lnTo>
                    <a:pt x="821744" y="414247"/>
                  </a:lnTo>
                  <a:lnTo>
                    <a:pt x="821744" y="392882"/>
                  </a:lnTo>
                  <a:lnTo>
                    <a:pt x="821744" y="371516"/>
                  </a:lnTo>
                  <a:lnTo>
                    <a:pt x="816599" y="350151"/>
                  </a:lnTo>
                  <a:lnTo>
                    <a:pt x="814541" y="328786"/>
                  </a:lnTo>
                  <a:lnTo>
                    <a:pt x="809602" y="310152"/>
                  </a:lnTo>
                  <a:lnTo>
                    <a:pt x="804457" y="291519"/>
                  </a:lnTo>
                  <a:lnTo>
                    <a:pt x="797254" y="272885"/>
                  </a:lnTo>
                  <a:lnTo>
                    <a:pt x="789640" y="254251"/>
                  </a:lnTo>
                  <a:lnTo>
                    <a:pt x="782437" y="235085"/>
                  </a:lnTo>
                  <a:lnTo>
                    <a:pt x="772353" y="216451"/>
                  </a:lnTo>
                  <a:lnTo>
                    <a:pt x="762681" y="200549"/>
                  </a:lnTo>
                  <a:lnTo>
                    <a:pt x="752391" y="181938"/>
                  </a:lnTo>
                  <a:lnTo>
                    <a:pt x="740249" y="165481"/>
                  </a:lnTo>
                  <a:lnTo>
                    <a:pt x="727901" y="149601"/>
                  </a:lnTo>
                  <a:lnTo>
                    <a:pt x="715142" y="136453"/>
                  </a:lnTo>
                  <a:lnTo>
                    <a:pt x="703000" y="120551"/>
                  </a:lnTo>
                  <a:lnTo>
                    <a:pt x="688182" y="106848"/>
                  </a:lnTo>
                  <a:lnTo>
                    <a:pt x="673365" y="96454"/>
                  </a:lnTo>
                  <a:lnTo>
                    <a:pt x="658548" y="82751"/>
                  </a:lnTo>
                  <a:lnTo>
                    <a:pt x="641261" y="72335"/>
                  </a:lnTo>
                  <a:lnTo>
                    <a:pt x="623974" y="61386"/>
                  </a:lnTo>
                  <a:lnTo>
                    <a:pt x="606687" y="50970"/>
                  </a:lnTo>
                  <a:lnTo>
                    <a:pt x="589400" y="40021"/>
                  </a:lnTo>
                  <a:lnTo>
                    <a:pt x="571907" y="31781"/>
                  </a:lnTo>
                  <a:lnTo>
                    <a:pt x="552151" y="26851"/>
                  </a:lnTo>
                  <a:lnTo>
                    <a:pt x="534658" y="18633"/>
                  </a:lnTo>
                  <a:lnTo>
                    <a:pt x="514902" y="13170"/>
                  </a:lnTo>
                  <a:lnTo>
                    <a:pt x="494940" y="8239"/>
                  </a:lnTo>
                  <a:lnTo>
                    <a:pt x="473125" y="5485"/>
                  </a:lnTo>
                  <a:lnTo>
                    <a:pt x="453163" y="2753"/>
                  </a:lnTo>
                  <a:lnTo>
                    <a:pt x="433406" y="0"/>
                  </a:lnTo>
                  <a:lnTo>
                    <a:pt x="410975" y="0"/>
                  </a:lnTo>
                </a:path>
              </a:pathLst>
            </a:custGeom>
            <a:ln w="15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1983035" y="2620239"/>
              <a:ext cx="209550" cy="88900"/>
            </a:xfrm>
            <a:custGeom>
              <a:avLst/>
              <a:gdLst/>
              <a:ahLst/>
              <a:cxnLst/>
              <a:rect l="l" t="t" r="r" b="b"/>
              <a:pathLst>
                <a:path w="209550" h="88900">
                  <a:moveTo>
                    <a:pt x="208964" y="0"/>
                  </a:moveTo>
                  <a:lnTo>
                    <a:pt x="0" y="0"/>
                  </a:lnTo>
                  <a:lnTo>
                    <a:pt x="0" y="88770"/>
                  </a:lnTo>
                  <a:lnTo>
                    <a:pt x="208964" y="88770"/>
                  </a:lnTo>
                  <a:lnTo>
                    <a:pt x="208964" y="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1983035" y="2620239"/>
              <a:ext cx="209550" cy="88900"/>
            </a:xfrm>
            <a:custGeom>
              <a:avLst/>
              <a:gdLst/>
              <a:ahLst/>
              <a:cxnLst/>
              <a:rect l="l" t="t" r="r" b="b"/>
              <a:pathLst>
                <a:path w="209550" h="88900">
                  <a:moveTo>
                    <a:pt x="208964" y="0"/>
                  </a:moveTo>
                  <a:lnTo>
                    <a:pt x="0" y="0"/>
                  </a:lnTo>
                  <a:lnTo>
                    <a:pt x="0" y="88770"/>
                  </a:lnTo>
                  <a:lnTo>
                    <a:pt x="208964" y="88770"/>
                  </a:lnTo>
                </a:path>
              </a:pathLst>
            </a:custGeom>
            <a:ln w="157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2049361" y="2307561"/>
            <a:ext cx="212090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50" spc="-50" dirty="0">
                <a:latin typeface="宋体"/>
                <a:cs typeface="宋体"/>
              </a:rPr>
              <a:t>出</a:t>
            </a:r>
            <a:endParaRPr sz="1550">
              <a:latin typeface="宋体"/>
              <a:cs typeface="宋体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756707" y="2518816"/>
            <a:ext cx="1316355" cy="273050"/>
            <a:chOff x="9756707" y="2518816"/>
            <a:chExt cx="1316355" cy="273050"/>
          </a:xfrm>
        </p:grpSpPr>
        <p:sp>
          <p:nvSpPr>
            <p:cNvPr id="49" name="object 49"/>
            <p:cNvSpPr/>
            <p:nvPr/>
          </p:nvSpPr>
          <p:spPr>
            <a:xfrm>
              <a:off x="9764962" y="2527071"/>
              <a:ext cx="1299845" cy="256540"/>
            </a:xfrm>
            <a:custGeom>
              <a:avLst/>
              <a:gdLst/>
              <a:ahLst/>
              <a:cxnLst/>
              <a:rect l="l" t="t" r="r" b="b"/>
              <a:pathLst>
                <a:path w="1299845" h="256539">
                  <a:moveTo>
                    <a:pt x="975268" y="0"/>
                  </a:moveTo>
                  <a:lnTo>
                    <a:pt x="975268" y="64118"/>
                  </a:lnTo>
                  <a:lnTo>
                    <a:pt x="0" y="64118"/>
                  </a:lnTo>
                  <a:lnTo>
                    <a:pt x="0" y="192332"/>
                  </a:lnTo>
                  <a:lnTo>
                    <a:pt x="975268" y="192332"/>
                  </a:lnTo>
                  <a:lnTo>
                    <a:pt x="975268" y="256450"/>
                  </a:lnTo>
                  <a:lnTo>
                    <a:pt x="1299398" y="128236"/>
                  </a:lnTo>
                  <a:lnTo>
                    <a:pt x="975268" y="0"/>
                  </a:lnTo>
                  <a:close/>
                </a:path>
              </a:pathLst>
            </a:custGeom>
            <a:solidFill>
              <a:srgbClr val="CC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764962" y="2527071"/>
              <a:ext cx="1299845" cy="256540"/>
            </a:xfrm>
            <a:custGeom>
              <a:avLst/>
              <a:gdLst/>
              <a:ahLst/>
              <a:cxnLst/>
              <a:rect l="l" t="t" r="r" b="b"/>
              <a:pathLst>
                <a:path w="1299845" h="256539">
                  <a:moveTo>
                    <a:pt x="975268" y="0"/>
                  </a:moveTo>
                  <a:lnTo>
                    <a:pt x="975268" y="64118"/>
                  </a:lnTo>
                  <a:lnTo>
                    <a:pt x="0" y="64118"/>
                  </a:lnTo>
                  <a:lnTo>
                    <a:pt x="0" y="192332"/>
                  </a:lnTo>
                  <a:lnTo>
                    <a:pt x="975268" y="192332"/>
                  </a:lnTo>
                  <a:lnTo>
                    <a:pt x="975268" y="256450"/>
                  </a:lnTo>
                  <a:lnTo>
                    <a:pt x="1299398" y="128236"/>
                  </a:lnTo>
                  <a:lnTo>
                    <a:pt x="975268" y="0"/>
                  </a:lnTo>
                  <a:close/>
                </a:path>
              </a:pathLst>
            </a:custGeom>
            <a:ln w="159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1309112" y="2289462"/>
            <a:ext cx="399415" cy="624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05">
              <a:lnSpc>
                <a:spcPct val="126899"/>
              </a:lnSpc>
              <a:spcBef>
                <a:spcPts val="90"/>
              </a:spcBef>
            </a:pPr>
            <a:r>
              <a:rPr sz="1550" spc="-114" dirty="0">
                <a:latin typeface="宋体"/>
                <a:cs typeface="宋体"/>
              </a:rPr>
              <a:t>输出</a:t>
            </a:r>
            <a:r>
              <a:rPr sz="1550" spc="-105" dirty="0">
                <a:latin typeface="宋体"/>
                <a:cs typeface="宋体"/>
              </a:rPr>
              <a:t>设备</a:t>
            </a:r>
            <a:endParaRPr sz="1550">
              <a:latin typeface="宋体"/>
              <a:cs typeface="宋体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9762493" y="1209975"/>
            <a:ext cx="1821814" cy="2710180"/>
            <a:chOff x="9762493" y="1209975"/>
            <a:chExt cx="1821814" cy="2710180"/>
          </a:xfrm>
        </p:grpSpPr>
        <p:sp>
          <p:nvSpPr>
            <p:cNvPr id="53" name="object 53"/>
            <p:cNvSpPr/>
            <p:nvPr/>
          </p:nvSpPr>
          <p:spPr>
            <a:xfrm>
              <a:off x="9762493" y="1497027"/>
              <a:ext cx="520065" cy="2418080"/>
            </a:xfrm>
            <a:custGeom>
              <a:avLst/>
              <a:gdLst/>
              <a:ahLst/>
              <a:cxnLst/>
              <a:rect l="l" t="t" r="r" b="b"/>
              <a:pathLst>
                <a:path w="520065" h="2418079">
                  <a:moveTo>
                    <a:pt x="173281" y="2327044"/>
                  </a:moveTo>
                  <a:lnTo>
                    <a:pt x="10084" y="2369774"/>
                  </a:lnTo>
                  <a:lnTo>
                    <a:pt x="173281" y="2417991"/>
                  </a:lnTo>
                  <a:lnTo>
                    <a:pt x="132462" y="2380190"/>
                  </a:lnTo>
                  <a:lnTo>
                    <a:pt x="114217" y="2380190"/>
                  </a:lnTo>
                  <a:lnTo>
                    <a:pt x="111542" y="2377992"/>
                  </a:lnTo>
                  <a:lnTo>
                    <a:pt x="111542" y="2367042"/>
                  </a:lnTo>
                  <a:lnTo>
                    <a:pt x="114217" y="2364311"/>
                  </a:lnTo>
                  <a:lnTo>
                    <a:pt x="118744" y="2364311"/>
                  </a:lnTo>
                  <a:lnTo>
                    <a:pt x="121214" y="2361557"/>
                  </a:lnTo>
                  <a:lnTo>
                    <a:pt x="131227" y="2361557"/>
                  </a:lnTo>
                  <a:lnTo>
                    <a:pt x="173281" y="2327044"/>
                  </a:lnTo>
                  <a:close/>
                </a:path>
                <a:path w="520065" h="2418079">
                  <a:moveTo>
                    <a:pt x="497410" y="2361557"/>
                  </a:moveTo>
                  <a:lnTo>
                    <a:pt x="131227" y="2361557"/>
                  </a:lnTo>
                  <a:lnTo>
                    <a:pt x="121214" y="2369774"/>
                  </a:lnTo>
                  <a:lnTo>
                    <a:pt x="132462" y="2380190"/>
                  </a:lnTo>
                  <a:lnTo>
                    <a:pt x="514697" y="2380190"/>
                  </a:lnTo>
                  <a:lnTo>
                    <a:pt x="514697" y="2377992"/>
                  </a:lnTo>
                  <a:lnTo>
                    <a:pt x="519842" y="2369774"/>
                  </a:lnTo>
                  <a:lnTo>
                    <a:pt x="497410" y="2369774"/>
                  </a:lnTo>
                  <a:lnTo>
                    <a:pt x="497410" y="2361557"/>
                  </a:lnTo>
                  <a:close/>
                </a:path>
                <a:path w="520065" h="2418079">
                  <a:moveTo>
                    <a:pt x="519841" y="8217"/>
                  </a:moveTo>
                  <a:lnTo>
                    <a:pt x="497409" y="8217"/>
                  </a:lnTo>
                  <a:lnTo>
                    <a:pt x="507699" y="19099"/>
                  </a:lnTo>
                  <a:lnTo>
                    <a:pt x="497409" y="19099"/>
                  </a:lnTo>
                  <a:lnTo>
                    <a:pt x="497410" y="2361557"/>
                  </a:lnTo>
                  <a:lnTo>
                    <a:pt x="507700" y="2361557"/>
                  </a:lnTo>
                  <a:lnTo>
                    <a:pt x="497410" y="2369774"/>
                  </a:lnTo>
                  <a:lnTo>
                    <a:pt x="519842" y="2369774"/>
                  </a:lnTo>
                  <a:lnTo>
                    <a:pt x="519841" y="8217"/>
                  </a:lnTo>
                  <a:close/>
                </a:path>
                <a:path w="520065" h="2418079">
                  <a:moveTo>
                    <a:pt x="514696" y="2665"/>
                  </a:moveTo>
                  <a:lnTo>
                    <a:pt x="2469" y="2665"/>
                  </a:lnTo>
                  <a:lnTo>
                    <a:pt x="2469" y="5330"/>
                  </a:lnTo>
                  <a:lnTo>
                    <a:pt x="0" y="8217"/>
                  </a:lnTo>
                  <a:lnTo>
                    <a:pt x="2469" y="13547"/>
                  </a:lnTo>
                  <a:lnTo>
                    <a:pt x="2469" y="16434"/>
                  </a:lnTo>
                  <a:lnTo>
                    <a:pt x="4939" y="16434"/>
                  </a:lnTo>
                  <a:lnTo>
                    <a:pt x="10084" y="19099"/>
                  </a:lnTo>
                  <a:lnTo>
                    <a:pt x="497409" y="19099"/>
                  </a:lnTo>
                  <a:lnTo>
                    <a:pt x="497409" y="8217"/>
                  </a:lnTo>
                  <a:lnTo>
                    <a:pt x="519841" y="8217"/>
                  </a:lnTo>
                  <a:lnTo>
                    <a:pt x="514696" y="5330"/>
                  </a:lnTo>
                  <a:lnTo>
                    <a:pt x="514696" y="2665"/>
                  </a:lnTo>
                  <a:close/>
                </a:path>
                <a:path w="520065" h="2418079">
                  <a:moveTo>
                    <a:pt x="507699" y="0"/>
                  </a:moveTo>
                  <a:lnTo>
                    <a:pt x="10084" y="0"/>
                  </a:lnTo>
                  <a:lnTo>
                    <a:pt x="4939" y="2665"/>
                  </a:lnTo>
                  <a:lnTo>
                    <a:pt x="512227" y="2665"/>
                  </a:lnTo>
                  <a:lnTo>
                    <a:pt x="5076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765580" y="1500136"/>
              <a:ext cx="520065" cy="2418715"/>
            </a:xfrm>
            <a:custGeom>
              <a:avLst/>
              <a:gdLst/>
              <a:ahLst/>
              <a:cxnLst/>
              <a:rect l="l" t="t" r="r" b="b"/>
              <a:pathLst>
                <a:path w="520065" h="2418715">
                  <a:moveTo>
                    <a:pt x="10084" y="19322"/>
                  </a:moveTo>
                  <a:lnTo>
                    <a:pt x="507699" y="19322"/>
                  </a:lnTo>
                  <a:lnTo>
                    <a:pt x="497409" y="8217"/>
                  </a:lnTo>
                  <a:lnTo>
                    <a:pt x="497410" y="2369952"/>
                  </a:lnTo>
                  <a:lnTo>
                    <a:pt x="507700" y="2361735"/>
                  </a:lnTo>
                  <a:lnTo>
                    <a:pt x="121214" y="2361735"/>
                  </a:lnTo>
                  <a:lnTo>
                    <a:pt x="118744" y="2364489"/>
                  </a:lnTo>
                  <a:lnTo>
                    <a:pt x="114011" y="2364489"/>
                  </a:lnTo>
                  <a:lnTo>
                    <a:pt x="111542" y="2367220"/>
                  </a:lnTo>
                  <a:lnTo>
                    <a:pt x="111542" y="2369952"/>
                  </a:lnTo>
                  <a:lnTo>
                    <a:pt x="111542" y="2378169"/>
                  </a:lnTo>
                  <a:lnTo>
                    <a:pt x="114011" y="2380368"/>
                  </a:lnTo>
                  <a:lnTo>
                    <a:pt x="118744" y="2380368"/>
                  </a:lnTo>
                  <a:lnTo>
                    <a:pt x="121214" y="2380368"/>
                  </a:lnTo>
                  <a:lnTo>
                    <a:pt x="507700" y="2380368"/>
                  </a:lnTo>
                  <a:lnTo>
                    <a:pt x="512227" y="2380368"/>
                  </a:lnTo>
                  <a:lnTo>
                    <a:pt x="514697" y="2380368"/>
                  </a:lnTo>
                  <a:lnTo>
                    <a:pt x="514697" y="2378169"/>
                  </a:lnTo>
                  <a:lnTo>
                    <a:pt x="519842" y="2369952"/>
                  </a:lnTo>
                  <a:lnTo>
                    <a:pt x="519841" y="8217"/>
                  </a:lnTo>
                  <a:lnTo>
                    <a:pt x="514696" y="5552"/>
                  </a:lnTo>
                  <a:lnTo>
                    <a:pt x="514696" y="2887"/>
                  </a:lnTo>
                  <a:lnTo>
                    <a:pt x="512227" y="2887"/>
                  </a:lnTo>
                  <a:lnTo>
                    <a:pt x="507699" y="0"/>
                  </a:lnTo>
                  <a:lnTo>
                    <a:pt x="10084" y="0"/>
                  </a:lnTo>
                  <a:lnTo>
                    <a:pt x="4939" y="2887"/>
                  </a:lnTo>
                  <a:lnTo>
                    <a:pt x="2469" y="2887"/>
                  </a:lnTo>
                  <a:lnTo>
                    <a:pt x="2469" y="5552"/>
                  </a:lnTo>
                  <a:lnTo>
                    <a:pt x="0" y="8217"/>
                  </a:lnTo>
                  <a:lnTo>
                    <a:pt x="2469" y="13769"/>
                  </a:lnTo>
                  <a:lnTo>
                    <a:pt x="2469" y="16434"/>
                  </a:lnTo>
                  <a:lnTo>
                    <a:pt x="4939" y="16434"/>
                  </a:lnTo>
                  <a:lnTo>
                    <a:pt x="10084" y="19322"/>
                  </a:lnTo>
                  <a:close/>
                </a:path>
                <a:path w="520065" h="2418715">
                  <a:moveTo>
                    <a:pt x="121214" y="2369952"/>
                  </a:moveTo>
                  <a:lnTo>
                    <a:pt x="173281" y="2327221"/>
                  </a:lnTo>
                  <a:lnTo>
                    <a:pt x="10084" y="2369952"/>
                  </a:lnTo>
                  <a:lnTo>
                    <a:pt x="173281" y="2418168"/>
                  </a:lnTo>
                  <a:lnTo>
                    <a:pt x="121214" y="236995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498179" y="1211416"/>
              <a:ext cx="84455" cy="1049020"/>
            </a:xfrm>
            <a:custGeom>
              <a:avLst/>
              <a:gdLst/>
              <a:ahLst/>
              <a:cxnLst/>
              <a:rect l="l" t="t" r="r" b="b"/>
              <a:pathLst>
                <a:path w="84454" h="1049020">
                  <a:moveTo>
                    <a:pt x="0" y="915111"/>
                  </a:moveTo>
                  <a:lnTo>
                    <a:pt x="42394" y="1048811"/>
                  </a:lnTo>
                  <a:lnTo>
                    <a:pt x="66703" y="971011"/>
                  </a:lnTo>
                  <a:lnTo>
                    <a:pt x="42394" y="971011"/>
                  </a:lnTo>
                  <a:lnTo>
                    <a:pt x="37249" y="968258"/>
                  </a:lnTo>
                  <a:lnTo>
                    <a:pt x="34573" y="968258"/>
                  </a:lnTo>
                  <a:lnTo>
                    <a:pt x="32104" y="962794"/>
                  </a:lnTo>
                  <a:lnTo>
                    <a:pt x="32104" y="949555"/>
                  </a:lnTo>
                  <a:lnTo>
                    <a:pt x="0" y="915111"/>
                  </a:lnTo>
                  <a:close/>
                </a:path>
                <a:path w="84454" h="1049020">
                  <a:moveTo>
                    <a:pt x="46921" y="968258"/>
                  </a:moveTo>
                  <a:lnTo>
                    <a:pt x="37249" y="968258"/>
                  </a:lnTo>
                  <a:lnTo>
                    <a:pt x="42394" y="971011"/>
                  </a:lnTo>
                  <a:lnTo>
                    <a:pt x="46921" y="968258"/>
                  </a:lnTo>
                  <a:close/>
                </a:path>
                <a:path w="84454" h="1049020">
                  <a:moveTo>
                    <a:pt x="84170" y="915111"/>
                  </a:moveTo>
                  <a:lnTo>
                    <a:pt x="52066" y="950064"/>
                  </a:lnTo>
                  <a:lnTo>
                    <a:pt x="52066" y="962794"/>
                  </a:lnTo>
                  <a:lnTo>
                    <a:pt x="49391" y="968258"/>
                  </a:lnTo>
                  <a:lnTo>
                    <a:pt x="46921" y="968258"/>
                  </a:lnTo>
                  <a:lnTo>
                    <a:pt x="42394" y="971011"/>
                  </a:lnTo>
                  <a:lnTo>
                    <a:pt x="66703" y="971011"/>
                  </a:lnTo>
                  <a:lnTo>
                    <a:pt x="84170" y="915111"/>
                  </a:lnTo>
                  <a:close/>
                </a:path>
                <a:path w="84454" h="1049020">
                  <a:moveTo>
                    <a:pt x="32104" y="949555"/>
                  </a:moveTo>
                  <a:lnTo>
                    <a:pt x="32104" y="962794"/>
                  </a:lnTo>
                  <a:lnTo>
                    <a:pt x="34573" y="968258"/>
                  </a:lnTo>
                  <a:lnTo>
                    <a:pt x="49391" y="968258"/>
                  </a:lnTo>
                  <a:lnTo>
                    <a:pt x="52066" y="962794"/>
                  </a:lnTo>
                  <a:lnTo>
                    <a:pt x="52066" y="960595"/>
                  </a:lnTo>
                  <a:lnTo>
                    <a:pt x="42394" y="960595"/>
                  </a:lnTo>
                  <a:lnTo>
                    <a:pt x="32104" y="949555"/>
                  </a:lnTo>
                  <a:close/>
                </a:path>
                <a:path w="84454" h="1049020">
                  <a:moveTo>
                    <a:pt x="42393" y="0"/>
                  </a:moveTo>
                  <a:lnTo>
                    <a:pt x="37248" y="2887"/>
                  </a:lnTo>
                  <a:lnTo>
                    <a:pt x="34573" y="5552"/>
                  </a:lnTo>
                  <a:lnTo>
                    <a:pt x="32104" y="8217"/>
                  </a:lnTo>
                  <a:lnTo>
                    <a:pt x="32104" y="949555"/>
                  </a:lnTo>
                  <a:lnTo>
                    <a:pt x="42394" y="960595"/>
                  </a:lnTo>
                  <a:lnTo>
                    <a:pt x="52066" y="950064"/>
                  </a:lnTo>
                  <a:lnTo>
                    <a:pt x="52066" y="8217"/>
                  </a:lnTo>
                  <a:lnTo>
                    <a:pt x="49390" y="5552"/>
                  </a:lnTo>
                  <a:lnTo>
                    <a:pt x="46921" y="2887"/>
                  </a:lnTo>
                  <a:lnTo>
                    <a:pt x="42393" y="0"/>
                  </a:lnTo>
                  <a:close/>
                </a:path>
                <a:path w="84454" h="1049020">
                  <a:moveTo>
                    <a:pt x="52066" y="950064"/>
                  </a:moveTo>
                  <a:lnTo>
                    <a:pt x="42394" y="960595"/>
                  </a:lnTo>
                  <a:lnTo>
                    <a:pt x="52066" y="960595"/>
                  </a:lnTo>
                  <a:lnTo>
                    <a:pt x="52066" y="9500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1498179" y="1211416"/>
              <a:ext cx="84455" cy="1049020"/>
            </a:xfrm>
            <a:custGeom>
              <a:avLst/>
              <a:gdLst/>
              <a:ahLst/>
              <a:cxnLst/>
              <a:rect l="l" t="t" r="r" b="b"/>
              <a:pathLst>
                <a:path w="84454" h="1049020">
                  <a:moveTo>
                    <a:pt x="52066" y="13769"/>
                  </a:moveTo>
                  <a:lnTo>
                    <a:pt x="52066" y="960595"/>
                  </a:lnTo>
                  <a:lnTo>
                    <a:pt x="52066" y="962794"/>
                  </a:lnTo>
                  <a:lnTo>
                    <a:pt x="49391" y="968258"/>
                  </a:lnTo>
                  <a:lnTo>
                    <a:pt x="46921" y="968258"/>
                  </a:lnTo>
                  <a:lnTo>
                    <a:pt x="42394" y="971012"/>
                  </a:lnTo>
                  <a:lnTo>
                    <a:pt x="37249" y="968258"/>
                  </a:lnTo>
                  <a:lnTo>
                    <a:pt x="34573" y="968258"/>
                  </a:lnTo>
                  <a:lnTo>
                    <a:pt x="32104" y="962794"/>
                  </a:lnTo>
                  <a:lnTo>
                    <a:pt x="32104" y="960595"/>
                  </a:lnTo>
                  <a:lnTo>
                    <a:pt x="32104" y="13769"/>
                  </a:lnTo>
                  <a:lnTo>
                    <a:pt x="32104" y="8217"/>
                  </a:lnTo>
                  <a:lnTo>
                    <a:pt x="34573" y="5552"/>
                  </a:lnTo>
                  <a:lnTo>
                    <a:pt x="37248" y="2887"/>
                  </a:lnTo>
                  <a:lnTo>
                    <a:pt x="42393" y="0"/>
                  </a:lnTo>
                  <a:lnTo>
                    <a:pt x="46921" y="2887"/>
                  </a:lnTo>
                  <a:lnTo>
                    <a:pt x="49390" y="5552"/>
                  </a:lnTo>
                  <a:lnTo>
                    <a:pt x="52066" y="8217"/>
                  </a:lnTo>
                  <a:lnTo>
                    <a:pt x="52066" y="13769"/>
                  </a:lnTo>
                  <a:close/>
                </a:path>
                <a:path w="84454" h="1049020">
                  <a:moveTo>
                    <a:pt x="42394" y="960595"/>
                  </a:moveTo>
                  <a:lnTo>
                    <a:pt x="84170" y="915111"/>
                  </a:lnTo>
                  <a:lnTo>
                    <a:pt x="42394" y="1048811"/>
                  </a:lnTo>
                  <a:lnTo>
                    <a:pt x="0" y="915111"/>
                  </a:lnTo>
                  <a:lnTo>
                    <a:pt x="42394" y="96059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812785" y="4469384"/>
            <a:ext cx="25857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5" dirty="0">
                <a:latin typeface="宋体"/>
                <a:cs typeface="宋体"/>
              </a:rPr>
              <a:t>存储程序计算机的结构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0108" y="1071117"/>
            <a:ext cx="6631305" cy="8934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微软雅黑"/>
                <a:cs typeface="微软雅黑"/>
              </a:rPr>
              <a:t>、存储程序原理的基本点：</a:t>
            </a:r>
            <a:r>
              <a:rPr sz="2400" spc="-15" dirty="0">
                <a:solidFill>
                  <a:srgbClr val="D50092"/>
                </a:solidFill>
                <a:latin typeface="微软雅黑"/>
                <a:cs typeface="微软雅黑"/>
              </a:rPr>
              <a:t>指令驱动</a:t>
            </a:r>
            <a:endParaRPr sz="2400">
              <a:latin typeface="微软雅黑"/>
              <a:cs typeface="微软雅黑"/>
            </a:endParaRPr>
          </a:p>
          <a:p>
            <a:pPr marL="1024255">
              <a:lnSpc>
                <a:spcPct val="100000"/>
              </a:lnSpc>
              <a:spcBef>
                <a:spcPts val="1550"/>
              </a:spcBef>
            </a:pPr>
            <a:r>
              <a:rPr sz="2000" spc="-15" dirty="0">
                <a:latin typeface="微软雅黑"/>
                <a:cs typeface="微软雅黑"/>
              </a:rPr>
              <a:t>程序预先存放在计算机存储器中，机器一旦启动，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96669" y="2060194"/>
            <a:ext cx="51174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微软雅黑"/>
                <a:cs typeface="微软雅黑"/>
              </a:rPr>
              <a:t>就能按照程序指定的逻辑顺序执行这些程序，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10108" y="2487295"/>
            <a:ext cx="5186045" cy="1950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9185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latin typeface="微软雅黑"/>
                <a:cs typeface="微软雅黑"/>
              </a:rPr>
              <a:t>自动完成由程序所描述的处理工作。</a:t>
            </a:r>
            <a:endParaRPr sz="20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205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微软雅黑"/>
                <a:cs typeface="微软雅黑"/>
              </a:rPr>
              <a:t>、冯</a:t>
            </a:r>
            <a:r>
              <a:rPr sz="2400" spc="-10" dirty="0">
                <a:latin typeface="Times New Roman"/>
                <a:cs typeface="Times New Roman"/>
              </a:rPr>
              <a:t>·</a:t>
            </a:r>
            <a:r>
              <a:rPr sz="2400" spc="-5" dirty="0">
                <a:latin typeface="微软雅黑"/>
                <a:cs typeface="微软雅黑"/>
              </a:rPr>
              <a:t>诺依曼结构的</a:t>
            </a:r>
            <a:r>
              <a:rPr sz="2400" spc="-15" dirty="0">
                <a:solidFill>
                  <a:srgbClr val="008000"/>
                </a:solidFill>
                <a:latin typeface="微软雅黑"/>
                <a:cs typeface="微软雅黑"/>
              </a:rPr>
              <a:t>主要特点</a:t>
            </a:r>
            <a:endParaRPr sz="24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55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spc="-5" dirty="0">
                <a:latin typeface="微软雅黑"/>
                <a:cs typeface="微软雅黑"/>
              </a:rPr>
              <a:t>计算机以运算器为中心。</a:t>
            </a:r>
            <a:endParaRPr sz="20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45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spc="-15" dirty="0">
                <a:solidFill>
                  <a:srgbClr val="FF0000"/>
                </a:solidFill>
                <a:latin typeface="微软雅黑"/>
                <a:cs typeface="微软雅黑"/>
              </a:rPr>
              <a:t>在存储器中，指令和数据同等对待</a:t>
            </a:r>
            <a:r>
              <a:rPr sz="2000" spc="-50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39520" y="4485047"/>
            <a:ext cx="5666740" cy="1659255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675005">
              <a:lnSpc>
                <a:spcPct val="100000"/>
              </a:lnSpc>
              <a:spcBef>
                <a:spcPts val="910"/>
              </a:spcBef>
            </a:pPr>
            <a:r>
              <a:rPr sz="1700" spc="-15" dirty="0">
                <a:latin typeface="微软雅黑"/>
                <a:cs typeface="微软雅黑"/>
              </a:rPr>
              <a:t>指令和数据一样可以进行运算，即由指令组成的程序</a:t>
            </a:r>
            <a:endParaRPr sz="1700">
              <a:latin typeface="微软雅黑"/>
              <a:cs typeface="微软雅黑"/>
            </a:endParaRPr>
          </a:p>
          <a:p>
            <a:pPr marL="525780">
              <a:lnSpc>
                <a:spcPct val="100000"/>
              </a:lnSpc>
              <a:spcBef>
                <a:spcPts val="815"/>
              </a:spcBef>
            </a:pPr>
            <a:r>
              <a:rPr sz="1700" spc="-20" dirty="0">
                <a:latin typeface="微软雅黑"/>
                <a:cs typeface="微软雅黑"/>
              </a:rPr>
              <a:t>是可以修改的。</a:t>
            </a:r>
            <a:endParaRPr sz="1700">
              <a:latin typeface="微软雅黑"/>
              <a:cs typeface="微软雅黑"/>
            </a:endParaRPr>
          </a:p>
          <a:p>
            <a:pPr marL="469265" marR="97155" indent="-457200">
              <a:lnSpc>
                <a:spcPct val="140000"/>
              </a:lnSpc>
              <a:spcBef>
                <a:spcPts val="434"/>
              </a:spcBef>
              <a:buClr>
                <a:srgbClr val="EC7C30"/>
              </a:buClr>
              <a:buFont typeface="Wingdings"/>
              <a:buChar char=""/>
              <a:tabLst>
                <a:tab pos="469265" algn="l"/>
              </a:tabLst>
            </a:pPr>
            <a:r>
              <a:rPr sz="2000" spc="-15" dirty="0">
                <a:latin typeface="微软雅黑"/>
                <a:cs typeface="微软雅黑"/>
              </a:rPr>
              <a:t>存储器是按地址访问、按顺序线性编址的一维</a:t>
            </a:r>
            <a:r>
              <a:rPr sz="2000" spc="10" dirty="0">
                <a:latin typeface="微软雅黑"/>
                <a:cs typeface="微软雅黑"/>
              </a:rPr>
              <a:t>结构，每个单元的位数是固定的。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139178" y="5221630"/>
            <a:ext cx="466217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FF0000"/>
                </a:solidFill>
                <a:latin typeface="宋体"/>
                <a:cs typeface="宋体"/>
              </a:rPr>
              <a:t>但，</a:t>
            </a:r>
            <a:r>
              <a:rPr sz="2800" b="1" spc="-30" dirty="0">
                <a:solidFill>
                  <a:srgbClr val="006FC0"/>
                </a:solidFill>
                <a:latin typeface="宋体"/>
                <a:cs typeface="宋体"/>
              </a:rPr>
              <a:t>该结构对存储器依赖性太</a:t>
            </a:r>
            <a:r>
              <a:rPr sz="2800" b="1" spc="-35" dirty="0">
                <a:solidFill>
                  <a:srgbClr val="006FC0"/>
                </a:solidFill>
                <a:latin typeface="宋体"/>
                <a:cs typeface="宋体"/>
              </a:rPr>
              <a:t>大，访存速度制约了系统速度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153" y="204292"/>
            <a:ext cx="113169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2455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1.4.1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10" dirty="0"/>
              <a:t>冯</a:t>
            </a:r>
            <a:r>
              <a:rPr spc="-10" dirty="0">
                <a:latin typeface="Times New Roman"/>
                <a:cs typeface="Times New Roman"/>
              </a:rPr>
              <a:t>·</a:t>
            </a:r>
            <a:r>
              <a:rPr spc="-10" dirty="0"/>
              <a:t>诺依曼结构及其改</a:t>
            </a:r>
            <a:r>
              <a:rPr spc="-50" dirty="0"/>
              <a:t>进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5222" y="4344365"/>
            <a:ext cx="6424930" cy="1837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Font typeface="Wingdings"/>
              <a:buChar char=""/>
              <a:tabLst>
                <a:tab pos="469265" algn="l"/>
              </a:tabLst>
            </a:pPr>
            <a:r>
              <a:rPr sz="2400" spc="-10" dirty="0">
                <a:latin typeface="Times New Roman"/>
                <a:cs typeface="Times New Roman"/>
              </a:rPr>
              <a:t>2</a:t>
            </a:r>
            <a:r>
              <a:rPr sz="2400" spc="-15" dirty="0">
                <a:latin typeface="微软雅黑"/>
                <a:cs typeface="微软雅黑"/>
              </a:rPr>
              <a:t>、采用并行处理技术</a:t>
            </a:r>
            <a:endParaRPr sz="2400">
              <a:latin typeface="微软雅黑"/>
              <a:cs typeface="微软雅黑"/>
            </a:endParaRPr>
          </a:p>
          <a:p>
            <a:pPr marL="525780" lvl="1" indent="-228600">
              <a:lnSpc>
                <a:spcPct val="100000"/>
              </a:lnSpc>
              <a:spcBef>
                <a:spcPts val="1730"/>
              </a:spcBef>
              <a:buClr>
                <a:srgbClr val="538235"/>
              </a:buClr>
              <a:buFont typeface="Arial"/>
              <a:buChar char="•"/>
              <a:tabLst>
                <a:tab pos="525780" algn="l"/>
              </a:tabLst>
            </a:pPr>
            <a:r>
              <a:rPr sz="1800" spc="-5" dirty="0">
                <a:latin typeface="微软雅黑"/>
                <a:cs typeface="微软雅黑"/>
              </a:rPr>
              <a:t>如何挖掘传统机器中的并行性？</a:t>
            </a:r>
            <a:endParaRPr sz="1800">
              <a:latin typeface="微软雅黑"/>
              <a:cs typeface="微软雅黑"/>
            </a:endParaRPr>
          </a:p>
          <a:p>
            <a:pPr marL="525780" lvl="1" indent="-228600">
              <a:lnSpc>
                <a:spcPct val="100000"/>
              </a:lnSpc>
              <a:spcBef>
                <a:spcPts val="1585"/>
              </a:spcBef>
              <a:buClr>
                <a:srgbClr val="538235"/>
              </a:buClr>
              <a:buFont typeface="Arial"/>
              <a:buChar char="•"/>
              <a:tabLst>
                <a:tab pos="525780" algn="l"/>
              </a:tabLst>
            </a:pPr>
            <a:r>
              <a:rPr sz="1800" spc="-5" dirty="0">
                <a:latin typeface="微软雅黑"/>
                <a:cs typeface="微软雅黑"/>
              </a:rPr>
              <a:t>在不同的级别采用并行技术。</a:t>
            </a:r>
            <a:endParaRPr sz="1800">
              <a:latin typeface="微软雅黑"/>
              <a:cs typeface="微软雅黑"/>
            </a:endParaRPr>
          </a:p>
          <a:p>
            <a:pPr marL="696595">
              <a:lnSpc>
                <a:spcPct val="100000"/>
              </a:lnSpc>
              <a:spcBef>
                <a:spcPts val="1585"/>
              </a:spcBef>
            </a:pPr>
            <a:r>
              <a:rPr sz="1800" spc="-15" dirty="0">
                <a:latin typeface="微软雅黑"/>
                <a:cs typeface="微软雅黑"/>
              </a:rPr>
              <a:t>例如：微操作级、指令级、线程级、进程级、任务级等。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9517" y="2871618"/>
            <a:ext cx="1322070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spc="-10" dirty="0">
                <a:solidFill>
                  <a:srgbClr val="0000FF"/>
                </a:solidFill>
                <a:latin typeface="宋体"/>
                <a:cs typeface="宋体"/>
              </a:rPr>
              <a:t>输入输出方式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2915" y="2888839"/>
            <a:ext cx="541655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spc="-25" dirty="0">
                <a:solidFill>
                  <a:srgbClr val="FF6600"/>
                </a:solidFill>
                <a:latin typeface="Times New Roman"/>
                <a:cs typeface="Times New Roman"/>
              </a:rPr>
              <a:t>DMA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5505" y="689610"/>
            <a:ext cx="7232015" cy="2251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Wingdings"/>
              <a:buChar char=""/>
              <a:tabLst>
                <a:tab pos="469900" algn="l"/>
              </a:tabLst>
            </a:pPr>
            <a:r>
              <a:rPr sz="2800" spc="-10" dirty="0">
                <a:latin typeface="Times New Roman"/>
                <a:cs typeface="Times New Roman"/>
              </a:rPr>
              <a:t>3</a:t>
            </a:r>
            <a:r>
              <a:rPr sz="2800" spc="-35" dirty="0">
                <a:latin typeface="微软雅黑"/>
                <a:cs typeface="微软雅黑"/>
              </a:rPr>
              <a:t>、对系统结构进行的改进（主要</a:t>
            </a:r>
            <a:r>
              <a:rPr sz="2800" spc="-10" dirty="0">
                <a:latin typeface="Times New Roman"/>
                <a:cs typeface="Times New Roman"/>
              </a:rPr>
              <a:t>4</a:t>
            </a:r>
            <a:r>
              <a:rPr sz="2800" spc="-35" dirty="0">
                <a:latin typeface="微软雅黑"/>
                <a:cs typeface="微软雅黑"/>
              </a:rPr>
              <a:t>个方面</a:t>
            </a:r>
            <a:r>
              <a:rPr sz="2800" spc="-50" dirty="0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204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微软雅黑"/>
                <a:cs typeface="微软雅黑"/>
              </a:rPr>
              <a:t>、输入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10" dirty="0">
                <a:latin typeface="微软雅黑"/>
                <a:cs typeface="微软雅黑"/>
              </a:rPr>
              <a:t>输出方式的改进</a:t>
            </a:r>
            <a:endParaRPr sz="2400">
              <a:latin typeface="微软雅黑"/>
              <a:cs typeface="微软雅黑"/>
            </a:endParaRPr>
          </a:p>
          <a:p>
            <a:pPr marL="2244090" algn="ctr">
              <a:lnSpc>
                <a:spcPts val="1870"/>
              </a:lnSpc>
              <a:spcBef>
                <a:spcPts val="1320"/>
              </a:spcBef>
            </a:pPr>
            <a:r>
              <a:rPr sz="1700" spc="-15" dirty="0">
                <a:solidFill>
                  <a:srgbClr val="008000"/>
                </a:solidFill>
                <a:latin typeface="宋体"/>
                <a:cs typeface="宋体"/>
              </a:rPr>
              <a:t>程序等待</a:t>
            </a:r>
            <a:endParaRPr sz="1700">
              <a:latin typeface="宋体"/>
              <a:cs typeface="宋体"/>
            </a:endParaRPr>
          </a:p>
          <a:p>
            <a:pPr marR="859790" algn="ctr">
              <a:lnSpc>
                <a:spcPts val="1470"/>
              </a:lnSpc>
            </a:pPr>
            <a:r>
              <a:rPr sz="1700" spc="-15" dirty="0">
                <a:solidFill>
                  <a:srgbClr val="FF6600"/>
                </a:solidFill>
                <a:latin typeface="宋体"/>
                <a:cs typeface="宋体"/>
              </a:rPr>
              <a:t>程序控制</a:t>
            </a:r>
            <a:endParaRPr sz="1700">
              <a:latin typeface="宋体"/>
              <a:cs typeface="宋体"/>
            </a:endParaRPr>
          </a:p>
          <a:p>
            <a:pPr marL="2244090" algn="ctr">
              <a:lnSpc>
                <a:spcPts val="1639"/>
              </a:lnSpc>
            </a:pPr>
            <a:r>
              <a:rPr sz="1700" spc="-15" dirty="0">
                <a:solidFill>
                  <a:srgbClr val="008000"/>
                </a:solidFill>
                <a:latin typeface="宋体"/>
                <a:cs typeface="宋体"/>
              </a:rPr>
              <a:t>程序中断</a:t>
            </a:r>
            <a:endParaRPr sz="1700">
              <a:latin typeface="宋体"/>
              <a:cs typeface="宋体"/>
            </a:endParaRPr>
          </a:p>
          <a:p>
            <a:pPr marL="2244090" algn="ctr">
              <a:lnSpc>
                <a:spcPct val="100000"/>
              </a:lnSpc>
              <a:spcBef>
                <a:spcPts val="894"/>
              </a:spcBef>
            </a:pPr>
            <a:r>
              <a:rPr sz="1700" spc="-15" dirty="0">
                <a:solidFill>
                  <a:srgbClr val="008000"/>
                </a:solidFill>
                <a:latin typeface="宋体"/>
                <a:cs typeface="宋体"/>
              </a:rPr>
              <a:t>成组传递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2915" y="3618442"/>
            <a:ext cx="1039494" cy="283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700" b="1" dirty="0">
                <a:solidFill>
                  <a:srgbClr val="FF6600"/>
                </a:solidFill>
                <a:latin typeface="Times New Roman"/>
                <a:cs typeface="Times New Roman"/>
              </a:rPr>
              <a:t>I/O</a:t>
            </a:r>
            <a:r>
              <a:rPr sz="1700" b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1700" spc="-20" dirty="0">
                <a:solidFill>
                  <a:srgbClr val="FF6600"/>
                </a:solidFill>
                <a:latin typeface="宋体"/>
                <a:cs typeface="宋体"/>
              </a:rPr>
              <a:t>处理机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8760" y="2915245"/>
            <a:ext cx="1105535" cy="1144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0979">
              <a:lnSpc>
                <a:spcPct val="144000"/>
              </a:lnSpc>
              <a:spcBef>
                <a:spcPts val="100"/>
              </a:spcBef>
            </a:pPr>
            <a:r>
              <a:rPr sz="1700" spc="-15" dirty="0">
                <a:solidFill>
                  <a:srgbClr val="008000"/>
                </a:solidFill>
                <a:latin typeface="宋体"/>
                <a:cs typeface="宋体"/>
              </a:rPr>
              <a:t>周期挪用</a:t>
            </a:r>
            <a:r>
              <a:rPr sz="1700" spc="-25" dirty="0">
                <a:solidFill>
                  <a:srgbClr val="008000"/>
                </a:solidFill>
                <a:latin typeface="宋体"/>
                <a:cs typeface="宋体"/>
              </a:rPr>
              <a:t>通道</a:t>
            </a:r>
            <a:endParaRPr sz="17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700" spc="-10" dirty="0">
                <a:solidFill>
                  <a:srgbClr val="008000"/>
                </a:solidFill>
                <a:latin typeface="宋体"/>
                <a:cs typeface="宋体"/>
              </a:rPr>
              <a:t>外围处理机</a:t>
            </a:r>
            <a:endParaRPr sz="17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06463" y="2315446"/>
            <a:ext cx="144145" cy="1363345"/>
          </a:xfrm>
          <a:custGeom>
            <a:avLst/>
            <a:gdLst/>
            <a:ahLst/>
            <a:cxnLst/>
            <a:rect l="l" t="t" r="r" b="b"/>
            <a:pathLst>
              <a:path w="144144" h="1363345">
                <a:moveTo>
                  <a:pt x="144015" y="0"/>
                </a:moveTo>
                <a:lnTo>
                  <a:pt x="115985" y="8929"/>
                </a:lnTo>
                <a:lnTo>
                  <a:pt x="93096" y="33279"/>
                </a:lnTo>
                <a:lnTo>
                  <a:pt x="77665" y="69392"/>
                </a:lnTo>
                <a:lnTo>
                  <a:pt x="72007" y="113611"/>
                </a:lnTo>
                <a:lnTo>
                  <a:pt x="72007" y="568058"/>
                </a:lnTo>
                <a:lnTo>
                  <a:pt x="66349" y="612278"/>
                </a:lnTo>
                <a:lnTo>
                  <a:pt x="50918" y="648391"/>
                </a:lnTo>
                <a:lnTo>
                  <a:pt x="28030" y="672741"/>
                </a:lnTo>
                <a:lnTo>
                  <a:pt x="0" y="681670"/>
                </a:lnTo>
                <a:lnTo>
                  <a:pt x="28030" y="690600"/>
                </a:lnTo>
                <a:lnTo>
                  <a:pt x="50918" y="714950"/>
                </a:lnTo>
                <a:lnTo>
                  <a:pt x="66349" y="751063"/>
                </a:lnTo>
                <a:lnTo>
                  <a:pt x="72007" y="795282"/>
                </a:lnTo>
                <a:lnTo>
                  <a:pt x="72007" y="1249729"/>
                </a:lnTo>
                <a:lnTo>
                  <a:pt x="77665" y="1293948"/>
                </a:lnTo>
                <a:lnTo>
                  <a:pt x="93096" y="1330062"/>
                </a:lnTo>
                <a:lnTo>
                  <a:pt x="115985" y="1354412"/>
                </a:lnTo>
                <a:lnTo>
                  <a:pt x="144015" y="1363341"/>
                </a:lnTo>
              </a:path>
            </a:pathLst>
          </a:custGeom>
          <a:ln w="180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18623" y="2028499"/>
            <a:ext cx="144145" cy="430530"/>
          </a:xfrm>
          <a:custGeom>
            <a:avLst/>
            <a:gdLst/>
            <a:ahLst/>
            <a:cxnLst/>
            <a:rect l="l" t="t" r="r" b="b"/>
            <a:pathLst>
              <a:path w="144145" h="430530">
                <a:moveTo>
                  <a:pt x="144015" y="0"/>
                </a:moveTo>
                <a:lnTo>
                  <a:pt x="115954" y="2814"/>
                </a:lnTo>
                <a:lnTo>
                  <a:pt x="93069" y="10494"/>
                </a:lnTo>
                <a:lnTo>
                  <a:pt x="77655" y="21896"/>
                </a:lnTo>
                <a:lnTo>
                  <a:pt x="72007" y="35877"/>
                </a:lnTo>
                <a:lnTo>
                  <a:pt x="72007" y="179315"/>
                </a:lnTo>
                <a:lnTo>
                  <a:pt x="66359" y="193276"/>
                </a:lnTo>
                <a:lnTo>
                  <a:pt x="50945" y="204680"/>
                </a:lnTo>
                <a:lnTo>
                  <a:pt x="28060" y="212371"/>
                </a:lnTo>
                <a:lnTo>
                  <a:pt x="0" y="215192"/>
                </a:lnTo>
                <a:lnTo>
                  <a:pt x="28060" y="218013"/>
                </a:lnTo>
                <a:lnTo>
                  <a:pt x="50945" y="225704"/>
                </a:lnTo>
                <a:lnTo>
                  <a:pt x="66359" y="237109"/>
                </a:lnTo>
                <a:lnTo>
                  <a:pt x="72007" y="251070"/>
                </a:lnTo>
                <a:lnTo>
                  <a:pt x="72007" y="394579"/>
                </a:lnTo>
                <a:lnTo>
                  <a:pt x="77655" y="408540"/>
                </a:lnTo>
                <a:lnTo>
                  <a:pt x="93069" y="419945"/>
                </a:lnTo>
                <a:lnTo>
                  <a:pt x="115954" y="427636"/>
                </a:lnTo>
                <a:lnTo>
                  <a:pt x="144015" y="430457"/>
                </a:lnTo>
              </a:path>
            </a:pathLst>
          </a:custGeom>
          <a:ln w="17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18623" y="3535278"/>
            <a:ext cx="144145" cy="430530"/>
          </a:xfrm>
          <a:custGeom>
            <a:avLst/>
            <a:gdLst/>
            <a:ahLst/>
            <a:cxnLst/>
            <a:rect l="l" t="t" r="r" b="b"/>
            <a:pathLst>
              <a:path w="144145" h="430529">
                <a:moveTo>
                  <a:pt x="144015" y="0"/>
                </a:moveTo>
                <a:lnTo>
                  <a:pt x="115954" y="2820"/>
                </a:lnTo>
                <a:lnTo>
                  <a:pt x="93069" y="10512"/>
                </a:lnTo>
                <a:lnTo>
                  <a:pt x="77655" y="21916"/>
                </a:lnTo>
                <a:lnTo>
                  <a:pt x="72007" y="35877"/>
                </a:lnTo>
                <a:lnTo>
                  <a:pt x="72007" y="179387"/>
                </a:lnTo>
                <a:lnTo>
                  <a:pt x="66359" y="193347"/>
                </a:lnTo>
                <a:lnTo>
                  <a:pt x="50945" y="204752"/>
                </a:lnTo>
                <a:lnTo>
                  <a:pt x="28060" y="212443"/>
                </a:lnTo>
                <a:lnTo>
                  <a:pt x="0" y="215264"/>
                </a:lnTo>
                <a:lnTo>
                  <a:pt x="28060" y="218085"/>
                </a:lnTo>
                <a:lnTo>
                  <a:pt x="50945" y="225776"/>
                </a:lnTo>
                <a:lnTo>
                  <a:pt x="66359" y="237181"/>
                </a:lnTo>
                <a:lnTo>
                  <a:pt x="72007" y="251141"/>
                </a:lnTo>
                <a:lnTo>
                  <a:pt x="72007" y="394651"/>
                </a:lnTo>
                <a:lnTo>
                  <a:pt x="77655" y="408612"/>
                </a:lnTo>
                <a:lnTo>
                  <a:pt x="93069" y="420016"/>
                </a:lnTo>
                <a:lnTo>
                  <a:pt x="115954" y="427708"/>
                </a:lnTo>
                <a:lnTo>
                  <a:pt x="144015" y="430528"/>
                </a:lnTo>
              </a:path>
            </a:pathLst>
          </a:custGeom>
          <a:ln w="17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18623" y="2817730"/>
            <a:ext cx="144145" cy="430530"/>
          </a:xfrm>
          <a:custGeom>
            <a:avLst/>
            <a:gdLst/>
            <a:ahLst/>
            <a:cxnLst/>
            <a:rect l="l" t="t" r="r" b="b"/>
            <a:pathLst>
              <a:path w="144145" h="430530">
                <a:moveTo>
                  <a:pt x="144015" y="0"/>
                </a:moveTo>
                <a:lnTo>
                  <a:pt x="115954" y="2820"/>
                </a:lnTo>
                <a:lnTo>
                  <a:pt x="93069" y="10512"/>
                </a:lnTo>
                <a:lnTo>
                  <a:pt x="77655" y="21916"/>
                </a:lnTo>
                <a:lnTo>
                  <a:pt x="72007" y="35877"/>
                </a:lnTo>
                <a:lnTo>
                  <a:pt x="72007" y="179387"/>
                </a:lnTo>
                <a:lnTo>
                  <a:pt x="66359" y="193347"/>
                </a:lnTo>
                <a:lnTo>
                  <a:pt x="50945" y="204752"/>
                </a:lnTo>
                <a:lnTo>
                  <a:pt x="28060" y="212443"/>
                </a:lnTo>
                <a:lnTo>
                  <a:pt x="0" y="215264"/>
                </a:lnTo>
                <a:lnTo>
                  <a:pt x="28060" y="218085"/>
                </a:lnTo>
                <a:lnTo>
                  <a:pt x="50945" y="225776"/>
                </a:lnTo>
                <a:lnTo>
                  <a:pt x="66359" y="237181"/>
                </a:lnTo>
                <a:lnTo>
                  <a:pt x="72007" y="251141"/>
                </a:lnTo>
                <a:lnTo>
                  <a:pt x="72007" y="394651"/>
                </a:lnTo>
                <a:lnTo>
                  <a:pt x="77655" y="408612"/>
                </a:lnTo>
                <a:lnTo>
                  <a:pt x="93069" y="420016"/>
                </a:lnTo>
                <a:lnTo>
                  <a:pt x="115954" y="427708"/>
                </a:lnTo>
                <a:lnTo>
                  <a:pt x="144015" y="430528"/>
                </a:lnTo>
              </a:path>
            </a:pathLst>
          </a:custGeom>
          <a:ln w="179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2455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1.4.1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10" dirty="0"/>
              <a:t>冯</a:t>
            </a:r>
            <a:r>
              <a:rPr spc="-10" dirty="0">
                <a:latin typeface="Times New Roman"/>
                <a:cs typeface="Times New Roman"/>
              </a:rPr>
              <a:t>·</a:t>
            </a:r>
            <a:r>
              <a:rPr spc="-10" dirty="0"/>
              <a:t>诺依曼结构及其改</a:t>
            </a:r>
            <a:r>
              <a:rPr spc="-50" dirty="0"/>
              <a:t>进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30" y="888618"/>
            <a:ext cx="11049000" cy="5253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3</a:t>
            </a:r>
            <a:r>
              <a:rPr sz="2800" spc="-35" dirty="0">
                <a:latin typeface="微软雅黑"/>
                <a:cs typeface="微软雅黑"/>
              </a:rPr>
              <a:t>、对系统结构进行的改进（主要</a:t>
            </a:r>
            <a:r>
              <a:rPr sz="2800" spc="-10" dirty="0">
                <a:latin typeface="Times New Roman"/>
                <a:cs typeface="Times New Roman"/>
              </a:rPr>
              <a:t>4</a:t>
            </a:r>
            <a:r>
              <a:rPr sz="2800" spc="-35" dirty="0">
                <a:latin typeface="微软雅黑"/>
                <a:cs typeface="微软雅黑"/>
              </a:rPr>
              <a:t>个方面</a:t>
            </a:r>
            <a:r>
              <a:rPr sz="2800" spc="-50" dirty="0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 marL="559435" lvl="1" indent="-457200">
              <a:lnSpc>
                <a:spcPct val="100000"/>
              </a:lnSpc>
              <a:spcBef>
                <a:spcPts val="4675"/>
              </a:spcBef>
              <a:buClr>
                <a:srgbClr val="EC7C30"/>
              </a:buClr>
              <a:buFont typeface="Wingdings"/>
              <a:buChar char=""/>
              <a:tabLst>
                <a:tab pos="559435" algn="l"/>
              </a:tabLst>
            </a:pP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微软雅黑"/>
                <a:cs typeface="微软雅黑"/>
              </a:rPr>
              <a:t>、存储器组织结构的发展</a:t>
            </a:r>
            <a:endParaRPr sz="2400">
              <a:latin typeface="微软雅黑"/>
              <a:cs typeface="微软雅黑"/>
            </a:endParaRPr>
          </a:p>
          <a:p>
            <a:pPr marL="615315" lvl="2" indent="-228600">
              <a:lnSpc>
                <a:spcPct val="100000"/>
              </a:lnSpc>
              <a:spcBef>
                <a:spcPts val="1805"/>
              </a:spcBef>
              <a:buClr>
                <a:srgbClr val="538235"/>
              </a:buClr>
              <a:buFont typeface="Arial"/>
              <a:buChar char="•"/>
              <a:tabLst>
                <a:tab pos="615315" algn="l"/>
                <a:tab pos="3665220" algn="l"/>
              </a:tabLst>
            </a:pPr>
            <a:r>
              <a:rPr sz="2000" spc="-10" dirty="0">
                <a:latin typeface="微软雅黑"/>
                <a:cs typeface="微软雅黑"/>
              </a:rPr>
              <a:t>相联存储器与相联处理</a:t>
            </a:r>
            <a:r>
              <a:rPr sz="2000" spc="-50" dirty="0">
                <a:latin typeface="微软雅黑"/>
                <a:cs typeface="微软雅黑"/>
              </a:rPr>
              <a:t>机</a:t>
            </a:r>
            <a:r>
              <a:rPr sz="2000" dirty="0">
                <a:latin typeface="微软雅黑"/>
                <a:cs typeface="微软雅黑"/>
              </a:rPr>
              <a:t>	</a:t>
            </a:r>
            <a:r>
              <a:rPr sz="2000" spc="-10" dirty="0">
                <a:latin typeface="微软雅黑"/>
                <a:cs typeface="微软雅黑"/>
              </a:rPr>
              <a:t>（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传统</a:t>
            </a:r>
            <a:r>
              <a:rPr sz="2000" spc="-10" dirty="0">
                <a:solidFill>
                  <a:srgbClr val="EC7C30"/>
                </a:solidFill>
                <a:latin typeface="微软雅黑"/>
                <a:cs typeface="微软雅黑"/>
              </a:rPr>
              <a:t>存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储查</a:t>
            </a:r>
            <a:r>
              <a:rPr sz="2000" spc="-10" dirty="0">
                <a:solidFill>
                  <a:srgbClr val="EC7C30"/>
                </a:solidFill>
                <a:latin typeface="微软雅黑"/>
                <a:cs typeface="微软雅黑"/>
              </a:rPr>
              <a:t>找</a:t>
            </a:r>
            <a:r>
              <a:rPr sz="2000" spc="-15" dirty="0">
                <a:solidFill>
                  <a:srgbClr val="EC7C30"/>
                </a:solidFill>
                <a:latin typeface="微软雅黑"/>
                <a:cs typeface="微软雅黑"/>
              </a:rPr>
              <a:t>：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按照</a:t>
            </a:r>
            <a:r>
              <a:rPr sz="2000" spc="-25" dirty="0">
                <a:solidFill>
                  <a:srgbClr val="EC7C30"/>
                </a:solidFill>
                <a:latin typeface="微软雅黑"/>
                <a:cs typeface="微软雅黑"/>
              </a:rPr>
              <a:t>地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址；</a:t>
            </a:r>
            <a:r>
              <a:rPr sz="2000" spc="-25" dirty="0">
                <a:solidFill>
                  <a:srgbClr val="EC7C30"/>
                </a:solidFill>
                <a:latin typeface="微软雅黑"/>
                <a:cs typeface="微软雅黑"/>
              </a:rPr>
              <a:t>相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联存</a:t>
            </a:r>
            <a:r>
              <a:rPr sz="2000" spc="-25" dirty="0">
                <a:solidFill>
                  <a:srgbClr val="EC7C30"/>
                </a:solidFill>
                <a:latin typeface="微软雅黑"/>
                <a:cs typeface="微软雅黑"/>
              </a:rPr>
              <a:t>储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器：</a:t>
            </a:r>
            <a:r>
              <a:rPr sz="2000" spc="-25" dirty="0">
                <a:solidFill>
                  <a:srgbClr val="EC7C30"/>
                </a:solidFill>
                <a:latin typeface="微软雅黑"/>
                <a:cs typeface="微软雅黑"/>
              </a:rPr>
              <a:t>按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内容</a:t>
            </a:r>
            <a:r>
              <a:rPr sz="2000" spc="-25" dirty="0">
                <a:solidFill>
                  <a:srgbClr val="EC7C30"/>
                </a:solidFill>
                <a:latin typeface="微软雅黑"/>
                <a:cs typeface="微软雅黑"/>
              </a:rPr>
              <a:t>检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索，</a:t>
            </a:r>
            <a:r>
              <a:rPr sz="2000" spc="-25" dirty="0">
                <a:solidFill>
                  <a:srgbClr val="EC7C30"/>
                </a:solidFill>
                <a:latin typeface="微软雅黑"/>
                <a:cs typeface="微软雅黑"/>
              </a:rPr>
              <a:t>速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度快</a:t>
            </a:r>
            <a:r>
              <a:rPr sz="2000" spc="-50" dirty="0">
                <a:solidFill>
                  <a:srgbClr val="EC7C30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615315" lvl="2" indent="-228600">
              <a:lnSpc>
                <a:spcPct val="100000"/>
              </a:lnSpc>
              <a:spcBef>
                <a:spcPts val="1695"/>
              </a:spcBef>
              <a:buClr>
                <a:srgbClr val="538235"/>
              </a:buClr>
              <a:buFont typeface="Arial"/>
              <a:buChar char="•"/>
              <a:tabLst>
                <a:tab pos="615315" algn="l"/>
                <a:tab pos="2520950" algn="l"/>
              </a:tabLst>
            </a:pPr>
            <a:r>
              <a:rPr sz="2000" dirty="0">
                <a:latin typeface="微软雅黑"/>
                <a:cs typeface="微软雅黑"/>
              </a:rPr>
              <a:t>通用寄存器</a:t>
            </a:r>
            <a:r>
              <a:rPr sz="2000" spc="-50" dirty="0">
                <a:latin typeface="微软雅黑"/>
                <a:cs typeface="微软雅黑"/>
              </a:rPr>
              <a:t>组</a:t>
            </a:r>
            <a:r>
              <a:rPr sz="2000" dirty="0">
                <a:latin typeface="微软雅黑"/>
                <a:cs typeface="微软雅黑"/>
              </a:rPr>
              <a:t>	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（不但可存储数据，还</a:t>
            </a:r>
            <a:r>
              <a:rPr sz="2000" spc="-15" dirty="0">
                <a:solidFill>
                  <a:srgbClr val="EC7C30"/>
                </a:solidFill>
                <a:latin typeface="微软雅黑"/>
                <a:cs typeface="微软雅黑"/>
              </a:rPr>
              <a:t>可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参与</a:t>
            </a:r>
            <a:r>
              <a:rPr sz="2000" spc="-15" dirty="0">
                <a:solidFill>
                  <a:srgbClr val="EC7C30"/>
                </a:solidFill>
                <a:latin typeface="微软雅黑"/>
                <a:cs typeface="微软雅黑"/>
              </a:rPr>
              <a:t>算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术逻</a:t>
            </a:r>
            <a:r>
              <a:rPr sz="2000" spc="-15" dirty="0">
                <a:solidFill>
                  <a:srgbClr val="EC7C30"/>
                </a:solidFill>
                <a:latin typeface="微软雅黑"/>
                <a:cs typeface="微软雅黑"/>
              </a:rPr>
              <a:t>辑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计算</a:t>
            </a:r>
            <a:r>
              <a:rPr sz="2000" spc="-15" dirty="0">
                <a:solidFill>
                  <a:srgbClr val="EC7C30"/>
                </a:solidFill>
                <a:latin typeface="微软雅黑"/>
                <a:cs typeface="微软雅黑"/>
              </a:rPr>
              <a:t>，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加速</a:t>
            </a:r>
            <a:r>
              <a:rPr sz="2000" spc="-15" dirty="0">
                <a:solidFill>
                  <a:srgbClr val="EC7C30"/>
                </a:solidFill>
                <a:latin typeface="微软雅黑"/>
                <a:cs typeface="微软雅黑"/>
              </a:rPr>
              <a:t>指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令执</a:t>
            </a:r>
            <a:r>
              <a:rPr sz="2000" spc="-15" dirty="0">
                <a:solidFill>
                  <a:srgbClr val="EC7C30"/>
                </a:solidFill>
                <a:latin typeface="微软雅黑"/>
                <a:cs typeface="微软雅黑"/>
              </a:rPr>
              <a:t>行</a:t>
            </a:r>
            <a:r>
              <a:rPr sz="2000" spc="-50" dirty="0">
                <a:solidFill>
                  <a:srgbClr val="EC7C30"/>
                </a:solidFill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615315" lvl="2" indent="-228600">
              <a:lnSpc>
                <a:spcPct val="100000"/>
              </a:lnSpc>
              <a:spcBef>
                <a:spcPts val="1705"/>
              </a:spcBef>
              <a:buClr>
                <a:srgbClr val="538235"/>
              </a:buClr>
              <a:buFont typeface="Arial"/>
              <a:buChar char="•"/>
              <a:tabLst>
                <a:tab pos="615315" algn="l"/>
              </a:tabLst>
            </a:pPr>
            <a:r>
              <a:rPr sz="2000" dirty="0">
                <a:latin typeface="微软雅黑"/>
                <a:cs typeface="微软雅黑"/>
              </a:rPr>
              <a:t>高速缓冲存储器</a:t>
            </a:r>
            <a:r>
              <a:rPr sz="2000" spc="-10" dirty="0">
                <a:latin typeface="宋体"/>
                <a:cs typeface="宋体"/>
              </a:rPr>
              <a:t>Cache</a:t>
            </a:r>
            <a:endParaRPr sz="2000">
              <a:latin typeface="宋体"/>
              <a:cs typeface="宋体"/>
            </a:endParaRPr>
          </a:p>
          <a:p>
            <a:pPr marL="483234" marR="7890509" lvl="1" indent="-381000">
              <a:lnSpc>
                <a:spcPts val="4810"/>
              </a:lnSpc>
              <a:spcBef>
                <a:spcPts val="395"/>
              </a:spcBef>
              <a:buFont typeface="Wingdings"/>
              <a:buChar char=""/>
              <a:tabLst>
                <a:tab pos="483234" algn="l"/>
                <a:tab pos="559435" algn="l"/>
              </a:tabLst>
            </a:pPr>
            <a:r>
              <a:rPr sz="2400" dirty="0">
                <a:solidFill>
                  <a:srgbClr val="EC7C30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10" dirty="0">
                <a:latin typeface="微软雅黑"/>
                <a:cs typeface="微软雅黑"/>
              </a:rPr>
              <a:t>、指令系统的发展两个发展方向：</a:t>
            </a:r>
            <a:endParaRPr sz="2400">
              <a:latin typeface="微软雅黑"/>
              <a:cs typeface="微软雅黑"/>
            </a:endParaRPr>
          </a:p>
          <a:p>
            <a:pPr marL="615315" lvl="2" indent="-228600">
              <a:lnSpc>
                <a:spcPct val="100000"/>
              </a:lnSpc>
              <a:spcBef>
                <a:spcPts val="1330"/>
              </a:spcBef>
              <a:buClr>
                <a:srgbClr val="538235"/>
              </a:buClr>
              <a:buFont typeface="Arial"/>
              <a:buChar char="•"/>
              <a:tabLst>
                <a:tab pos="615315" algn="l"/>
              </a:tabLst>
            </a:pPr>
            <a:r>
              <a:rPr sz="2000" dirty="0">
                <a:latin typeface="微软雅黑"/>
                <a:cs typeface="微软雅黑"/>
              </a:rPr>
              <a:t>复杂指令集计算机</a:t>
            </a:r>
            <a:r>
              <a:rPr sz="2000" spc="-20" dirty="0">
                <a:latin typeface="宋体"/>
                <a:cs typeface="宋体"/>
              </a:rPr>
              <a:t>CISC</a:t>
            </a:r>
            <a:endParaRPr sz="2000">
              <a:latin typeface="宋体"/>
              <a:cs typeface="宋体"/>
            </a:endParaRPr>
          </a:p>
          <a:p>
            <a:pPr marL="615315" lvl="2" indent="-228600">
              <a:lnSpc>
                <a:spcPct val="100000"/>
              </a:lnSpc>
              <a:spcBef>
                <a:spcPts val="1700"/>
              </a:spcBef>
              <a:buClr>
                <a:srgbClr val="538235"/>
              </a:buClr>
              <a:buFont typeface="Arial"/>
              <a:buChar char="•"/>
              <a:tabLst>
                <a:tab pos="615315" algn="l"/>
              </a:tabLst>
            </a:pPr>
            <a:r>
              <a:rPr sz="2000" dirty="0">
                <a:latin typeface="微软雅黑"/>
                <a:cs typeface="微软雅黑"/>
              </a:rPr>
              <a:t>精减指令集计算机</a:t>
            </a:r>
            <a:r>
              <a:rPr sz="2000" spc="-20" dirty="0">
                <a:latin typeface="宋体"/>
                <a:cs typeface="宋体"/>
              </a:rPr>
              <a:t>RISC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360" y="331597"/>
            <a:ext cx="807720" cy="274955"/>
            <a:chOff x="144360" y="331597"/>
            <a:chExt cx="807720" cy="274955"/>
          </a:xfrm>
        </p:grpSpPr>
        <p:sp>
          <p:nvSpPr>
            <p:cNvPr id="3" name="object 3"/>
            <p:cNvSpPr/>
            <p:nvPr/>
          </p:nvSpPr>
          <p:spPr>
            <a:xfrm>
              <a:off x="144360" y="331597"/>
              <a:ext cx="280670" cy="274955"/>
            </a:xfrm>
            <a:custGeom>
              <a:avLst/>
              <a:gdLst/>
              <a:ahLst/>
              <a:cxnLst/>
              <a:rect l="l" t="t" r="r" b="b"/>
              <a:pathLst>
                <a:path w="280670" h="274955">
                  <a:moveTo>
                    <a:pt x="67360" y="0"/>
                  </a:moveTo>
                  <a:lnTo>
                    <a:pt x="2806" y="41528"/>
                  </a:lnTo>
                  <a:lnTo>
                    <a:pt x="148742" y="135508"/>
                  </a:lnTo>
                  <a:lnTo>
                    <a:pt x="0" y="231266"/>
                  </a:lnTo>
                  <a:lnTo>
                    <a:pt x="67360" y="274700"/>
                  </a:lnTo>
                  <a:lnTo>
                    <a:pt x="280657" y="137287"/>
                  </a:lnTo>
                  <a:lnTo>
                    <a:pt x="67360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6552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7233" y="0"/>
                  </a:moveTo>
                  <a:lnTo>
                    <a:pt x="2806" y="41528"/>
                  </a:lnTo>
                  <a:lnTo>
                    <a:pt x="148462" y="135508"/>
                  </a:lnTo>
                  <a:lnTo>
                    <a:pt x="0" y="231266"/>
                  </a:lnTo>
                  <a:lnTo>
                    <a:pt x="67233" y="274700"/>
                  </a:lnTo>
                  <a:lnTo>
                    <a:pt x="279425" y="137287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439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6535" y="0"/>
                  </a:moveTo>
                  <a:lnTo>
                    <a:pt x="2806" y="41528"/>
                  </a:lnTo>
                  <a:lnTo>
                    <a:pt x="148463" y="135508"/>
                  </a:lnTo>
                  <a:lnTo>
                    <a:pt x="0" y="231266"/>
                  </a:lnTo>
                  <a:lnTo>
                    <a:pt x="66535" y="274700"/>
                  </a:lnTo>
                  <a:lnTo>
                    <a:pt x="279425" y="137287"/>
                  </a:lnTo>
                  <a:lnTo>
                    <a:pt x="66535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0" y="998804"/>
            <a:ext cx="12192000" cy="5859780"/>
            <a:chOff x="0" y="998804"/>
            <a:chExt cx="12192000" cy="5859780"/>
          </a:xfrm>
        </p:grpSpPr>
        <p:sp>
          <p:nvSpPr>
            <p:cNvPr id="7" name="object 7"/>
            <p:cNvSpPr/>
            <p:nvPr/>
          </p:nvSpPr>
          <p:spPr>
            <a:xfrm>
              <a:off x="0" y="6474002"/>
              <a:ext cx="12192000" cy="384175"/>
            </a:xfrm>
            <a:custGeom>
              <a:avLst/>
              <a:gdLst/>
              <a:ahLst/>
              <a:cxnLst/>
              <a:rect l="l" t="t" r="r" b="b"/>
              <a:pathLst>
                <a:path w="12192000" h="384175">
                  <a:moveTo>
                    <a:pt x="12192000" y="0"/>
                  </a:moveTo>
                  <a:lnTo>
                    <a:pt x="9648444" y="0"/>
                  </a:lnTo>
                  <a:lnTo>
                    <a:pt x="0" y="0"/>
                  </a:lnTo>
                  <a:lnTo>
                    <a:pt x="0" y="383997"/>
                  </a:lnTo>
                  <a:lnTo>
                    <a:pt x="9648444" y="383997"/>
                  </a:lnTo>
                  <a:lnTo>
                    <a:pt x="12192000" y="383997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0447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677" y="998804"/>
              <a:ext cx="10853166" cy="551230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5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65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1.4.1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冯</a:t>
            </a:r>
            <a:r>
              <a:rPr spc="-10" dirty="0">
                <a:latin typeface="Times New Roman"/>
                <a:cs typeface="Times New Roman"/>
              </a:rPr>
              <a:t>·</a:t>
            </a:r>
            <a:r>
              <a:rPr dirty="0"/>
              <a:t>诺依曼结构及其改</a:t>
            </a:r>
            <a:r>
              <a:rPr spc="-50" dirty="0"/>
              <a:t>进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2455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1.4.2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10" dirty="0"/>
              <a:t>软件对系统结构的影</a:t>
            </a:r>
            <a:r>
              <a:rPr spc="-50" dirty="0"/>
              <a:t>响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5380" y="1594484"/>
            <a:ext cx="10516235" cy="290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6565" indent="-456565">
              <a:lnSpc>
                <a:spcPct val="100000"/>
              </a:lnSpc>
              <a:spcBef>
                <a:spcPts val="100"/>
              </a:spcBef>
              <a:buClr>
                <a:srgbClr val="5B9BD4"/>
              </a:buClr>
              <a:buFont typeface="Wingdings"/>
              <a:buChar char=""/>
              <a:tabLst>
                <a:tab pos="456565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软件的可移植性：</a:t>
            </a:r>
            <a:r>
              <a:rPr sz="2400" spc="-5" dirty="0">
                <a:latin typeface="微软雅黑"/>
                <a:cs typeface="微软雅黑"/>
              </a:rPr>
              <a:t>一个软件可以不经修改或者只需少量修改就可以由一台机</a:t>
            </a:r>
            <a:endParaRPr sz="2400">
              <a:latin typeface="微软雅黑"/>
              <a:cs typeface="微软雅黑"/>
            </a:endParaRPr>
          </a:p>
          <a:p>
            <a:pPr marL="457200">
              <a:lnSpc>
                <a:spcPts val="4900"/>
              </a:lnSpc>
              <a:spcBef>
                <a:spcPts val="495"/>
              </a:spcBef>
            </a:pPr>
            <a:r>
              <a:rPr sz="2400" spc="-5" dirty="0">
                <a:latin typeface="微软雅黑"/>
                <a:cs typeface="微软雅黑"/>
              </a:rPr>
              <a:t>器移植到另一台机器上正确地运行。差别只是执行时间的不同。我们称这两</a:t>
            </a:r>
            <a:r>
              <a:rPr sz="2400" dirty="0">
                <a:latin typeface="微软雅黑"/>
                <a:cs typeface="微软雅黑"/>
              </a:rPr>
              <a:t>台机器是</a:t>
            </a:r>
            <a:r>
              <a:rPr sz="2400" dirty="0">
                <a:solidFill>
                  <a:srgbClr val="D50092"/>
                </a:solidFill>
                <a:latin typeface="微软雅黑"/>
                <a:cs typeface="微软雅黑"/>
              </a:rPr>
              <a:t>软件兼容</a:t>
            </a:r>
            <a:r>
              <a:rPr sz="2400" spc="-25" dirty="0">
                <a:latin typeface="微软雅黑"/>
                <a:cs typeface="微软雅黑"/>
              </a:rPr>
              <a:t>的。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r>
              <a:rPr sz="2400" spc="-50" dirty="0">
                <a:solidFill>
                  <a:srgbClr val="5B9BD4"/>
                </a:solidFill>
                <a:latin typeface="Wingdings"/>
                <a:cs typeface="Wingdings"/>
              </a:rPr>
              <a:t></a:t>
            </a:r>
            <a:endParaRPr sz="2400">
              <a:latin typeface="Wingdings"/>
              <a:cs typeface="Wingdings"/>
            </a:endParaRPr>
          </a:p>
          <a:p>
            <a:pPr marL="456565" indent="-456565">
              <a:lnSpc>
                <a:spcPct val="100000"/>
              </a:lnSpc>
              <a:spcBef>
                <a:spcPts val="2070"/>
              </a:spcBef>
              <a:buClr>
                <a:srgbClr val="5B9BD4"/>
              </a:buClr>
              <a:buFont typeface="Wingdings"/>
              <a:buChar char=""/>
              <a:tabLst>
                <a:tab pos="456565" algn="l"/>
              </a:tabLst>
            </a:pPr>
            <a:r>
              <a:rPr sz="2500" spc="-30" dirty="0">
                <a:solidFill>
                  <a:srgbClr val="FF0000"/>
                </a:solidFill>
                <a:latin typeface="微软雅黑"/>
                <a:cs typeface="微软雅黑"/>
              </a:rPr>
              <a:t>实现可移植性的常用方法</a:t>
            </a:r>
            <a:r>
              <a:rPr sz="2400" spc="-15" dirty="0">
                <a:latin typeface="微软雅黑"/>
                <a:cs typeface="微软雅黑"/>
              </a:rPr>
              <a:t>：统一高级语言，采用系列机，模拟与仿真，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153" y="179273"/>
            <a:ext cx="113169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1940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1.4.2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10" dirty="0"/>
              <a:t>软件对系统结构的影</a:t>
            </a:r>
            <a:r>
              <a:rPr spc="-50" dirty="0"/>
              <a:t>响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891" y="623937"/>
            <a:ext cx="4140835" cy="1313180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47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20" dirty="0">
                <a:latin typeface="微软雅黑"/>
                <a:cs typeface="微软雅黑"/>
              </a:rPr>
              <a:t>、统一高级语言</a:t>
            </a:r>
            <a:endParaRPr sz="20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17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1700" spc="-10" dirty="0">
                <a:latin typeface="微软雅黑"/>
                <a:cs typeface="微软雅黑"/>
              </a:rPr>
              <a:t>实现软件移植的一种理想的方法</a:t>
            </a:r>
            <a:endParaRPr sz="17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11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1700" spc="-15" dirty="0">
                <a:latin typeface="微软雅黑"/>
                <a:cs typeface="微软雅黑"/>
              </a:rPr>
              <a:t>较难实现</a:t>
            </a:r>
            <a:endParaRPr sz="17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891" y="2030986"/>
            <a:ext cx="7162800" cy="158877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19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  <a:tab pos="2063750" algn="l"/>
              </a:tabLst>
            </a:pP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、系列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机</a:t>
            </a:r>
            <a:r>
              <a:rPr sz="2000" spc="-100" dirty="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	</a:t>
            </a:r>
            <a:r>
              <a:rPr sz="2000" spc="-10" dirty="0">
                <a:latin typeface="微软雅黑"/>
                <a:cs typeface="微软雅黑"/>
              </a:rPr>
              <a:t>由同一厂家生产的具有</a:t>
            </a:r>
            <a:r>
              <a:rPr sz="2000" spc="-15" dirty="0">
                <a:latin typeface="微软雅黑"/>
                <a:cs typeface="微软雅黑"/>
              </a:rPr>
              <a:t>相</a:t>
            </a:r>
            <a:r>
              <a:rPr sz="2000" spc="-10" dirty="0">
                <a:latin typeface="微软雅黑"/>
                <a:cs typeface="微软雅黑"/>
              </a:rPr>
              <a:t>同的</a:t>
            </a:r>
            <a:r>
              <a:rPr sz="2000" spc="-15" dirty="0">
                <a:latin typeface="微软雅黑"/>
                <a:cs typeface="微软雅黑"/>
              </a:rPr>
              <a:t>系</a:t>
            </a:r>
            <a:r>
              <a:rPr sz="2000" spc="-10" dirty="0">
                <a:latin typeface="微软雅黑"/>
                <a:cs typeface="微软雅黑"/>
              </a:rPr>
              <a:t>统结</a:t>
            </a:r>
            <a:r>
              <a:rPr sz="2000" spc="-15" dirty="0">
                <a:latin typeface="微软雅黑"/>
                <a:cs typeface="微软雅黑"/>
              </a:rPr>
              <a:t>构</a:t>
            </a:r>
            <a:r>
              <a:rPr sz="2000" spc="-10" dirty="0">
                <a:latin typeface="微软雅黑"/>
                <a:cs typeface="微软雅黑"/>
              </a:rPr>
              <a:t>，但</a:t>
            </a:r>
            <a:r>
              <a:rPr sz="2000" spc="-50" dirty="0">
                <a:latin typeface="微软雅黑"/>
                <a:cs typeface="微软雅黑"/>
              </a:rPr>
              <a:t>具</a:t>
            </a:r>
            <a:endParaRPr sz="20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725"/>
              </a:spcBef>
            </a:pPr>
            <a:r>
              <a:rPr sz="2000" spc="-20" dirty="0">
                <a:latin typeface="微软雅黑"/>
                <a:cs typeface="微软雅黑"/>
              </a:rPr>
              <a:t>有不同组成和实现的一系列不同型号的机器。</a:t>
            </a:r>
            <a:endParaRPr sz="2000">
              <a:latin typeface="微软雅黑"/>
              <a:cs typeface="微软雅黑"/>
            </a:endParaRPr>
          </a:p>
          <a:p>
            <a:pPr marL="1155065" marR="1739264" lvl="1" indent="-228600">
              <a:lnSpc>
                <a:spcPct val="156300"/>
              </a:lnSpc>
              <a:spcBef>
                <a:spcPts val="65"/>
              </a:spcBef>
              <a:buClr>
                <a:srgbClr val="538235"/>
              </a:buClr>
              <a:buFont typeface="Arial"/>
              <a:buChar char="•"/>
              <a:tabLst>
                <a:tab pos="1231900" algn="l"/>
              </a:tabLst>
            </a:pPr>
            <a:r>
              <a:rPr sz="1600" spc="-30" dirty="0">
                <a:latin typeface="微软雅黑"/>
                <a:cs typeface="微软雅黑"/>
              </a:rPr>
              <a:t>较好地解决软件开发要求系统结构相对稳定与器	件、硬件技术迅速发展的矛盾。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7303" y="3732402"/>
            <a:ext cx="5206365" cy="242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Font typeface="Wingdings"/>
              <a:buChar char=""/>
              <a:tabLst>
                <a:tab pos="469265" algn="l"/>
              </a:tabLst>
            </a:pPr>
            <a:r>
              <a:rPr sz="1700" spc="-15" dirty="0">
                <a:solidFill>
                  <a:srgbClr val="FF0000"/>
                </a:solidFill>
                <a:latin typeface="微软雅黑"/>
                <a:cs typeface="微软雅黑"/>
              </a:rPr>
              <a:t>软件兼容</a:t>
            </a:r>
            <a:endParaRPr sz="1700">
              <a:latin typeface="微软雅黑"/>
              <a:cs typeface="微软雅黑"/>
            </a:endParaRPr>
          </a:p>
          <a:p>
            <a:pPr marL="525780" marR="5080" lvl="1" indent="-229235">
              <a:lnSpc>
                <a:spcPts val="3379"/>
              </a:lnSpc>
              <a:spcBef>
                <a:spcPts val="284"/>
              </a:spcBef>
              <a:buClr>
                <a:srgbClr val="538235"/>
              </a:buClr>
              <a:buFont typeface="Arial"/>
              <a:buChar char="•"/>
              <a:tabLst>
                <a:tab pos="601980" algn="l"/>
              </a:tabLst>
            </a:pPr>
            <a:r>
              <a:rPr sz="1600" spc="-25" dirty="0">
                <a:solidFill>
                  <a:srgbClr val="FF0000"/>
                </a:solidFill>
                <a:latin typeface="微软雅黑"/>
                <a:cs typeface="微软雅黑"/>
              </a:rPr>
              <a:t>向上（下）兼容：</a:t>
            </a:r>
            <a:r>
              <a:rPr sz="1600" spc="-30" dirty="0">
                <a:latin typeface="微软雅黑"/>
                <a:cs typeface="微软雅黑"/>
              </a:rPr>
              <a:t>按某档机器编制的程序，不加修改	</a:t>
            </a:r>
            <a:r>
              <a:rPr sz="1600" spc="-25" dirty="0">
                <a:latin typeface="微软雅黑"/>
                <a:cs typeface="微软雅黑"/>
              </a:rPr>
              <a:t>就能运行于比它高（低）</a:t>
            </a:r>
            <a:r>
              <a:rPr sz="1600" spc="-30" dirty="0">
                <a:latin typeface="微软雅黑"/>
                <a:cs typeface="微软雅黑"/>
              </a:rPr>
              <a:t>档的机器。</a:t>
            </a:r>
            <a:endParaRPr sz="1600">
              <a:latin typeface="微软雅黑"/>
              <a:cs typeface="微软雅黑"/>
            </a:endParaRPr>
          </a:p>
          <a:p>
            <a:pPr marL="525780" lvl="1" indent="-228600">
              <a:lnSpc>
                <a:spcPct val="100000"/>
              </a:lnSpc>
              <a:spcBef>
                <a:spcPts val="1110"/>
              </a:spcBef>
              <a:buClr>
                <a:srgbClr val="538235"/>
              </a:buClr>
              <a:buFont typeface="Arial"/>
              <a:buChar char="•"/>
              <a:tabLst>
                <a:tab pos="525780" algn="l"/>
              </a:tabLst>
            </a:pPr>
            <a:r>
              <a:rPr sz="1600" spc="-30" dirty="0">
                <a:solidFill>
                  <a:srgbClr val="FF0000"/>
                </a:solidFill>
                <a:latin typeface="微软雅黑"/>
                <a:cs typeface="微软雅黑"/>
              </a:rPr>
              <a:t>向前（</a:t>
            </a:r>
            <a:r>
              <a:rPr sz="1600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后</a:t>
            </a:r>
            <a:r>
              <a:rPr sz="1600" u="none" spc="-30" dirty="0">
                <a:solidFill>
                  <a:srgbClr val="FF0000"/>
                </a:solidFill>
                <a:latin typeface="微软雅黑"/>
                <a:cs typeface="微软雅黑"/>
              </a:rPr>
              <a:t>）兼容：</a:t>
            </a:r>
            <a:r>
              <a:rPr sz="1600" u="none" spc="-35" dirty="0">
                <a:latin typeface="微软雅黑"/>
                <a:cs typeface="微软雅黑"/>
              </a:rPr>
              <a:t>按某个时期投入市场的某种型号机</a:t>
            </a:r>
            <a:endParaRPr sz="1600">
              <a:latin typeface="微软雅黑"/>
              <a:cs typeface="微软雅黑"/>
            </a:endParaRPr>
          </a:p>
          <a:p>
            <a:pPr marL="652780">
              <a:lnSpc>
                <a:spcPct val="100000"/>
              </a:lnSpc>
              <a:spcBef>
                <a:spcPts val="1455"/>
              </a:spcBef>
            </a:pPr>
            <a:r>
              <a:rPr sz="1600" spc="-30" dirty="0">
                <a:latin typeface="微软雅黑"/>
                <a:cs typeface="微软雅黑"/>
              </a:rPr>
              <a:t>器编制的程序，不加修改地就能运行于在它之前</a:t>
            </a:r>
            <a:endParaRPr sz="1600">
              <a:latin typeface="微软雅黑"/>
              <a:cs typeface="微软雅黑"/>
            </a:endParaRPr>
          </a:p>
          <a:p>
            <a:pPr marL="652780">
              <a:lnSpc>
                <a:spcPct val="100000"/>
              </a:lnSpc>
              <a:spcBef>
                <a:spcPts val="1465"/>
              </a:spcBef>
            </a:pPr>
            <a:r>
              <a:rPr sz="1600" spc="-25" dirty="0">
                <a:latin typeface="微软雅黑"/>
                <a:cs typeface="微软雅黑"/>
              </a:rPr>
              <a:t>（后）</a:t>
            </a:r>
            <a:r>
              <a:rPr sz="1600" spc="-30" dirty="0">
                <a:latin typeface="微软雅黑"/>
                <a:cs typeface="微软雅黑"/>
              </a:rPr>
              <a:t>投入市场的机器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099205" y="4197040"/>
            <a:ext cx="3688079" cy="2153285"/>
            <a:chOff x="7099205" y="4197040"/>
            <a:chExt cx="3688079" cy="2153285"/>
          </a:xfrm>
        </p:grpSpPr>
        <p:sp>
          <p:nvSpPr>
            <p:cNvPr id="7" name="object 7"/>
            <p:cNvSpPr/>
            <p:nvPr/>
          </p:nvSpPr>
          <p:spPr>
            <a:xfrm>
              <a:off x="7145476" y="4297459"/>
              <a:ext cx="1905" cy="2003425"/>
            </a:xfrm>
            <a:custGeom>
              <a:avLst/>
              <a:gdLst/>
              <a:ahLst/>
              <a:cxnLst/>
              <a:rect l="l" t="t" r="r" b="b"/>
              <a:pathLst>
                <a:path w="1904" h="2003425">
                  <a:moveTo>
                    <a:pt x="1905" y="0"/>
                  </a:moveTo>
                  <a:lnTo>
                    <a:pt x="0" y="2002905"/>
                  </a:lnTo>
                </a:path>
              </a:pathLst>
            </a:custGeom>
            <a:ln w="138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099205" y="4197040"/>
              <a:ext cx="98425" cy="153035"/>
            </a:xfrm>
            <a:custGeom>
              <a:avLst/>
              <a:gdLst/>
              <a:ahLst/>
              <a:cxnLst/>
              <a:rect l="l" t="t" r="r" b="b"/>
              <a:pathLst>
                <a:path w="98425" h="153035">
                  <a:moveTo>
                    <a:pt x="48176" y="0"/>
                  </a:moveTo>
                  <a:lnTo>
                    <a:pt x="0" y="152644"/>
                  </a:lnTo>
                  <a:lnTo>
                    <a:pt x="48176" y="104258"/>
                  </a:lnTo>
                  <a:lnTo>
                    <a:pt x="98258" y="152644"/>
                  </a:lnTo>
                  <a:lnTo>
                    <a:pt x="4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45476" y="6300364"/>
              <a:ext cx="3541395" cy="0"/>
            </a:xfrm>
            <a:custGeom>
              <a:avLst/>
              <a:gdLst/>
              <a:ahLst/>
              <a:cxnLst/>
              <a:rect l="l" t="t" r="r" b="b"/>
              <a:pathLst>
                <a:path w="3541395">
                  <a:moveTo>
                    <a:pt x="3540981" y="0"/>
                  </a:moveTo>
                  <a:lnTo>
                    <a:pt x="0" y="0"/>
                  </a:lnTo>
                </a:path>
              </a:pathLst>
            </a:custGeom>
            <a:ln w="137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635431" y="6251576"/>
              <a:ext cx="151765" cy="99060"/>
            </a:xfrm>
            <a:custGeom>
              <a:avLst/>
              <a:gdLst/>
              <a:ahLst/>
              <a:cxnLst/>
              <a:rect l="l" t="t" r="r" b="b"/>
              <a:pathLst>
                <a:path w="151765" h="99060">
                  <a:moveTo>
                    <a:pt x="0" y="0"/>
                  </a:moveTo>
                  <a:lnTo>
                    <a:pt x="48522" y="48788"/>
                  </a:lnTo>
                  <a:lnTo>
                    <a:pt x="0" y="98537"/>
                  </a:lnTo>
                  <a:lnTo>
                    <a:pt x="151537" y="487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774268" y="6175650"/>
            <a:ext cx="37465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25" dirty="0">
                <a:solidFill>
                  <a:srgbClr val="0000FF"/>
                </a:solidFill>
                <a:latin typeface="宋体"/>
                <a:cs typeface="宋体"/>
              </a:rPr>
              <a:t>时间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61545" y="3922715"/>
            <a:ext cx="72390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15" dirty="0">
                <a:solidFill>
                  <a:srgbClr val="0000FF"/>
                </a:solidFill>
                <a:latin typeface="宋体"/>
                <a:cs typeface="宋体"/>
              </a:rPr>
              <a:t>机器档次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6860" y="4373160"/>
            <a:ext cx="200025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50" dirty="0">
                <a:solidFill>
                  <a:srgbClr val="FF00FF"/>
                </a:solidFill>
                <a:latin typeface="宋体"/>
                <a:cs typeface="宋体"/>
              </a:rPr>
              <a:t>高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06861" y="5875315"/>
            <a:ext cx="200025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50" dirty="0">
                <a:solidFill>
                  <a:srgbClr val="FF00FF"/>
                </a:solidFill>
                <a:latin typeface="宋体"/>
                <a:cs typeface="宋体"/>
              </a:rPr>
              <a:t>低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81428" y="4824143"/>
            <a:ext cx="72390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15" dirty="0">
                <a:solidFill>
                  <a:srgbClr val="FF0000"/>
                </a:solidFill>
                <a:latin typeface="宋体"/>
                <a:cs typeface="宋体"/>
              </a:rPr>
              <a:t>向上兼容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138490" y="4648061"/>
            <a:ext cx="3128645" cy="1659889"/>
            <a:chOff x="7138490" y="4648061"/>
            <a:chExt cx="3128645" cy="1659889"/>
          </a:xfrm>
        </p:grpSpPr>
        <p:sp>
          <p:nvSpPr>
            <p:cNvPr id="17" name="object 17"/>
            <p:cNvSpPr/>
            <p:nvPr/>
          </p:nvSpPr>
          <p:spPr>
            <a:xfrm>
              <a:off x="7145475" y="4712479"/>
              <a:ext cx="248285" cy="536575"/>
            </a:xfrm>
            <a:custGeom>
              <a:avLst/>
              <a:gdLst/>
              <a:ahLst/>
              <a:cxnLst/>
              <a:rect l="l" t="t" r="r" b="b"/>
              <a:pathLst>
                <a:path w="248284" h="536575">
                  <a:moveTo>
                    <a:pt x="0" y="536252"/>
                  </a:moveTo>
                  <a:lnTo>
                    <a:pt x="45788" y="498350"/>
                  </a:lnTo>
                  <a:lnTo>
                    <a:pt x="91096" y="460928"/>
                  </a:lnTo>
                  <a:lnTo>
                    <a:pt x="132590" y="423026"/>
                  </a:lnTo>
                  <a:lnTo>
                    <a:pt x="170754" y="386084"/>
                  </a:lnTo>
                  <a:lnTo>
                    <a:pt x="201755" y="349123"/>
                  </a:lnTo>
                  <a:lnTo>
                    <a:pt x="226074" y="310760"/>
                  </a:lnTo>
                  <a:lnTo>
                    <a:pt x="242287" y="273799"/>
                  </a:lnTo>
                  <a:lnTo>
                    <a:pt x="248006" y="235917"/>
                  </a:lnTo>
                  <a:lnTo>
                    <a:pt x="247062" y="220748"/>
                  </a:lnTo>
                  <a:lnTo>
                    <a:pt x="234180" y="176702"/>
                  </a:lnTo>
                  <a:lnTo>
                    <a:pt x="208898" y="133117"/>
                  </a:lnTo>
                  <a:lnTo>
                    <a:pt x="198404" y="117948"/>
                  </a:lnTo>
                  <a:lnTo>
                    <a:pt x="173142" y="89052"/>
                  </a:lnTo>
                  <a:lnTo>
                    <a:pt x="145472" y="59214"/>
                  </a:lnTo>
                  <a:lnTo>
                    <a:pt x="113027" y="30317"/>
                  </a:lnTo>
                  <a:lnTo>
                    <a:pt x="79658" y="0"/>
                  </a:lnTo>
                </a:path>
              </a:pathLst>
            </a:custGeom>
            <a:ln w="13824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45475" y="4648061"/>
              <a:ext cx="149225" cy="135255"/>
            </a:xfrm>
            <a:custGeom>
              <a:avLst/>
              <a:gdLst/>
              <a:ahLst/>
              <a:cxnLst/>
              <a:rect l="l" t="t" r="r" b="b"/>
              <a:pathLst>
                <a:path w="149225" h="135254">
                  <a:moveTo>
                    <a:pt x="0" y="0"/>
                  </a:moveTo>
                  <a:lnTo>
                    <a:pt x="85377" y="134999"/>
                  </a:lnTo>
                  <a:lnTo>
                    <a:pt x="80602" y="66779"/>
                  </a:lnTo>
                  <a:lnTo>
                    <a:pt x="148803" y="58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47381" y="5248731"/>
              <a:ext cx="212090" cy="529590"/>
            </a:xfrm>
            <a:custGeom>
              <a:avLst/>
              <a:gdLst/>
              <a:ahLst/>
              <a:cxnLst/>
              <a:rect l="l" t="t" r="r" b="b"/>
              <a:pathLst>
                <a:path w="212090" h="529589">
                  <a:moveTo>
                    <a:pt x="0" y="0"/>
                  </a:moveTo>
                  <a:lnTo>
                    <a:pt x="39588" y="38362"/>
                  </a:lnTo>
                  <a:lnTo>
                    <a:pt x="77752" y="75323"/>
                  </a:lnTo>
                  <a:lnTo>
                    <a:pt x="113509" y="113206"/>
                  </a:lnTo>
                  <a:lnTo>
                    <a:pt x="145953" y="150167"/>
                  </a:lnTo>
                  <a:lnTo>
                    <a:pt x="172179" y="187109"/>
                  </a:lnTo>
                  <a:lnTo>
                    <a:pt x="193167" y="225491"/>
                  </a:lnTo>
                  <a:lnTo>
                    <a:pt x="206992" y="262433"/>
                  </a:lnTo>
                  <a:lnTo>
                    <a:pt x="211768" y="300334"/>
                  </a:lnTo>
                  <a:lnTo>
                    <a:pt x="210343" y="314063"/>
                  </a:lnTo>
                  <a:lnTo>
                    <a:pt x="209380" y="329231"/>
                  </a:lnTo>
                  <a:lnTo>
                    <a:pt x="206049" y="342960"/>
                  </a:lnTo>
                  <a:lnTo>
                    <a:pt x="201274" y="358128"/>
                  </a:lnTo>
                  <a:lnTo>
                    <a:pt x="194130" y="371857"/>
                  </a:lnTo>
                  <a:lnTo>
                    <a:pt x="187448" y="386065"/>
                  </a:lnTo>
                  <a:lnTo>
                    <a:pt x="171236" y="414962"/>
                  </a:lnTo>
                  <a:lnTo>
                    <a:pt x="150247" y="443859"/>
                  </a:lnTo>
                  <a:lnTo>
                    <a:pt x="127353" y="472755"/>
                  </a:lnTo>
                  <a:lnTo>
                    <a:pt x="100646" y="500231"/>
                  </a:lnTo>
                  <a:lnTo>
                    <a:pt x="72977" y="529128"/>
                  </a:lnTo>
                </a:path>
              </a:pathLst>
            </a:custGeom>
            <a:ln w="13826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47382" y="5709640"/>
              <a:ext cx="144780" cy="140335"/>
            </a:xfrm>
            <a:custGeom>
              <a:avLst/>
              <a:gdLst/>
              <a:ahLst/>
              <a:cxnLst/>
              <a:rect l="l" t="t" r="r" b="b"/>
              <a:pathLst>
                <a:path w="144779" h="140335">
                  <a:moveTo>
                    <a:pt x="75364" y="0"/>
                  </a:moveTo>
                  <a:lnTo>
                    <a:pt x="0" y="139760"/>
                  </a:lnTo>
                  <a:lnTo>
                    <a:pt x="144509" y="70600"/>
                  </a:lnTo>
                  <a:lnTo>
                    <a:pt x="75364" y="68219"/>
                  </a:lnTo>
                  <a:lnTo>
                    <a:pt x="75364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63467" y="6000029"/>
              <a:ext cx="963930" cy="300355"/>
            </a:xfrm>
            <a:custGeom>
              <a:avLst/>
              <a:gdLst/>
              <a:ahLst/>
              <a:cxnLst/>
              <a:rect l="l" t="t" r="r" b="b"/>
              <a:pathLst>
                <a:path w="963929" h="300354">
                  <a:moveTo>
                    <a:pt x="0" y="233075"/>
                  </a:moveTo>
                  <a:lnTo>
                    <a:pt x="55801" y="187128"/>
                  </a:lnTo>
                  <a:lnTo>
                    <a:pt x="111121" y="144023"/>
                  </a:lnTo>
                  <a:lnTo>
                    <a:pt x="138790" y="123651"/>
                  </a:lnTo>
                  <a:lnTo>
                    <a:pt x="166441" y="105180"/>
                  </a:lnTo>
                  <a:lnTo>
                    <a:pt x="194110" y="86229"/>
                  </a:lnTo>
                  <a:lnTo>
                    <a:pt x="249912" y="54011"/>
                  </a:lnTo>
                  <a:lnTo>
                    <a:pt x="305251" y="28896"/>
                  </a:lnTo>
                  <a:lnTo>
                    <a:pt x="360571" y="10425"/>
                  </a:lnTo>
                  <a:lnTo>
                    <a:pt x="415891" y="960"/>
                  </a:lnTo>
                  <a:lnTo>
                    <a:pt x="444042" y="0"/>
                  </a:lnTo>
                  <a:lnTo>
                    <a:pt x="459735" y="960"/>
                  </a:lnTo>
                  <a:lnTo>
                    <a:pt x="477450" y="1900"/>
                  </a:lnTo>
                  <a:lnTo>
                    <a:pt x="548886" y="22752"/>
                  </a:lnTo>
                  <a:lnTo>
                    <a:pt x="586241" y="40263"/>
                  </a:lnTo>
                  <a:lnTo>
                    <a:pt x="623789" y="59694"/>
                  </a:lnTo>
                  <a:lnTo>
                    <a:pt x="661914" y="81967"/>
                  </a:lnTo>
                  <a:lnTo>
                    <a:pt x="699269" y="106121"/>
                  </a:lnTo>
                  <a:lnTo>
                    <a:pt x="735854" y="131696"/>
                  </a:lnTo>
                  <a:lnTo>
                    <a:pt x="772246" y="156810"/>
                  </a:lnTo>
                  <a:lnTo>
                    <a:pt x="806520" y="183326"/>
                  </a:lnTo>
                  <a:lnTo>
                    <a:pt x="839832" y="208921"/>
                  </a:lnTo>
                  <a:lnTo>
                    <a:pt x="869870" y="232134"/>
                  </a:lnTo>
                  <a:lnTo>
                    <a:pt x="899137" y="253927"/>
                  </a:lnTo>
                  <a:lnTo>
                    <a:pt x="923399" y="273819"/>
                  </a:lnTo>
                  <a:lnTo>
                    <a:pt x="945350" y="288507"/>
                  </a:lnTo>
                  <a:lnTo>
                    <a:pt x="955747" y="295611"/>
                  </a:lnTo>
                  <a:lnTo>
                    <a:pt x="963835" y="300334"/>
                  </a:lnTo>
                </a:path>
              </a:pathLst>
            </a:custGeom>
            <a:ln w="13795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87621" y="6164885"/>
              <a:ext cx="147955" cy="135890"/>
            </a:xfrm>
            <a:custGeom>
              <a:avLst/>
              <a:gdLst/>
              <a:ahLst/>
              <a:cxnLst/>
              <a:rect l="l" t="t" r="r" b="b"/>
              <a:pathLst>
                <a:path w="147954" h="135889">
                  <a:moveTo>
                    <a:pt x="83952" y="0"/>
                  </a:moveTo>
                  <a:lnTo>
                    <a:pt x="0" y="135479"/>
                  </a:lnTo>
                  <a:lnTo>
                    <a:pt x="147860" y="75323"/>
                  </a:lnTo>
                  <a:lnTo>
                    <a:pt x="79658" y="68219"/>
                  </a:lnTo>
                  <a:lnTo>
                    <a:pt x="83952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227302" y="6000029"/>
              <a:ext cx="954405" cy="300355"/>
            </a:xfrm>
            <a:custGeom>
              <a:avLst/>
              <a:gdLst/>
              <a:ahLst/>
              <a:cxnLst/>
              <a:rect l="l" t="t" r="r" b="b"/>
              <a:pathLst>
                <a:path w="954404" h="300354">
                  <a:moveTo>
                    <a:pt x="0" y="300334"/>
                  </a:moveTo>
                  <a:lnTo>
                    <a:pt x="64504" y="244922"/>
                  </a:lnTo>
                  <a:lnTo>
                    <a:pt x="130357" y="190431"/>
                  </a:lnTo>
                  <a:lnTo>
                    <a:pt x="162705" y="163915"/>
                  </a:lnTo>
                  <a:lnTo>
                    <a:pt x="195247" y="139760"/>
                  </a:lnTo>
                  <a:lnTo>
                    <a:pt x="227595" y="115126"/>
                  </a:lnTo>
                  <a:lnTo>
                    <a:pt x="259944" y="93333"/>
                  </a:lnTo>
                  <a:lnTo>
                    <a:pt x="324448" y="55431"/>
                  </a:lnTo>
                  <a:lnTo>
                    <a:pt x="390301" y="25114"/>
                  </a:lnTo>
                  <a:lnTo>
                    <a:pt x="455191" y="6643"/>
                  </a:lnTo>
                  <a:lnTo>
                    <a:pt x="519888" y="0"/>
                  </a:lnTo>
                  <a:lnTo>
                    <a:pt x="545305" y="960"/>
                  </a:lnTo>
                  <a:lnTo>
                    <a:pt x="599604" y="13747"/>
                  </a:lnTo>
                  <a:lnTo>
                    <a:pt x="656407" y="36961"/>
                  </a:lnTo>
                  <a:lnTo>
                    <a:pt x="714172" y="67739"/>
                  </a:lnTo>
                  <a:lnTo>
                    <a:pt x="800435" y="123651"/>
                  </a:lnTo>
                  <a:lnTo>
                    <a:pt x="856275" y="162494"/>
                  </a:lnTo>
                  <a:lnTo>
                    <a:pt x="882462" y="183326"/>
                  </a:lnTo>
                  <a:lnTo>
                    <a:pt x="908264" y="201816"/>
                  </a:lnTo>
                  <a:lnTo>
                    <a:pt x="931178" y="221708"/>
                  </a:lnTo>
                  <a:lnTo>
                    <a:pt x="954092" y="238758"/>
                  </a:lnTo>
                </a:path>
              </a:pathLst>
            </a:custGeom>
            <a:ln w="13796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115542" y="6171989"/>
              <a:ext cx="151765" cy="128905"/>
            </a:xfrm>
            <a:custGeom>
              <a:avLst/>
              <a:gdLst/>
              <a:ahLst/>
              <a:cxnLst/>
              <a:rect l="l" t="t" r="r" b="b"/>
              <a:pathLst>
                <a:path w="151765" h="128904">
                  <a:moveTo>
                    <a:pt x="58150" y="0"/>
                  </a:moveTo>
                  <a:lnTo>
                    <a:pt x="68163" y="68219"/>
                  </a:lnTo>
                  <a:lnTo>
                    <a:pt x="0" y="79586"/>
                  </a:lnTo>
                  <a:lnTo>
                    <a:pt x="151537" y="128374"/>
                  </a:lnTo>
                  <a:lnTo>
                    <a:pt x="58150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481428" y="5333362"/>
            <a:ext cx="1417320" cy="62611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350" b="1" spc="-15" dirty="0">
                <a:solidFill>
                  <a:srgbClr val="FF0000"/>
                </a:solidFill>
                <a:latin typeface="宋体"/>
                <a:cs typeface="宋体"/>
              </a:rPr>
              <a:t>向下兼容</a:t>
            </a:r>
            <a:endParaRPr sz="1350">
              <a:latin typeface="宋体"/>
              <a:cs typeface="宋体"/>
            </a:endParaRPr>
          </a:p>
          <a:p>
            <a:pPr marL="706120">
              <a:lnSpc>
                <a:spcPct val="100000"/>
              </a:lnSpc>
              <a:spcBef>
                <a:spcPts val="745"/>
              </a:spcBef>
            </a:pPr>
            <a:r>
              <a:rPr sz="1350" b="1" spc="-15" dirty="0">
                <a:solidFill>
                  <a:srgbClr val="FF0000"/>
                </a:solidFill>
                <a:latin typeface="宋体"/>
                <a:cs typeface="宋体"/>
              </a:rPr>
              <a:t>向前兼容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87899" y="5725148"/>
            <a:ext cx="72390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15" dirty="0">
                <a:solidFill>
                  <a:srgbClr val="FF0000"/>
                </a:solidFill>
                <a:latin typeface="宋体"/>
                <a:cs typeface="宋体"/>
              </a:rPr>
              <a:t>向后兼容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38313" y="5091459"/>
            <a:ext cx="2269490" cy="1216025"/>
            <a:chOff x="7138313" y="5091459"/>
            <a:chExt cx="2269490" cy="1216025"/>
          </a:xfrm>
        </p:grpSpPr>
        <p:sp>
          <p:nvSpPr>
            <p:cNvPr id="28" name="object 28"/>
            <p:cNvSpPr/>
            <p:nvPr/>
          </p:nvSpPr>
          <p:spPr>
            <a:xfrm>
              <a:off x="7138313" y="5248731"/>
              <a:ext cx="1913255" cy="0"/>
            </a:xfrm>
            <a:custGeom>
              <a:avLst/>
              <a:gdLst/>
              <a:ahLst/>
              <a:cxnLst/>
              <a:rect l="l" t="t" r="r" b="b"/>
              <a:pathLst>
                <a:path w="1913254">
                  <a:moveTo>
                    <a:pt x="0" y="0"/>
                  </a:moveTo>
                  <a:lnTo>
                    <a:pt x="1912997" y="0"/>
                  </a:lnTo>
                </a:path>
              </a:pathLst>
            </a:custGeom>
            <a:ln w="14208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217863" y="5394159"/>
              <a:ext cx="13970" cy="913130"/>
            </a:xfrm>
            <a:custGeom>
              <a:avLst/>
              <a:gdLst/>
              <a:ahLst/>
              <a:cxnLst/>
              <a:rect l="l" t="t" r="r" b="b"/>
              <a:pathLst>
                <a:path w="13970" h="913129">
                  <a:moveTo>
                    <a:pt x="13855" y="589305"/>
                  </a:moveTo>
                  <a:lnTo>
                    <a:pt x="11353" y="585038"/>
                  </a:lnTo>
                  <a:lnTo>
                    <a:pt x="9436" y="582663"/>
                  </a:lnTo>
                  <a:lnTo>
                    <a:pt x="4813" y="582663"/>
                  </a:lnTo>
                  <a:lnTo>
                    <a:pt x="2311" y="585038"/>
                  </a:lnTo>
                  <a:lnTo>
                    <a:pt x="0" y="589305"/>
                  </a:lnTo>
                  <a:lnTo>
                    <a:pt x="0" y="644715"/>
                  </a:lnTo>
                  <a:lnTo>
                    <a:pt x="2311" y="649465"/>
                  </a:lnTo>
                  <a:lnTo>
                    <a:pt x="4813" y="650887"/>
                  </a:lnTo>
                  <a:lnTo>
                    <a:pt x="7124" y="651840"/>
                  </a:lnTo>
                  <a:lnTo>
                    <a:pt x="9436" y="650887"/>
                  </a:lnTo>
                  <a:lnTo>
                    <a:pt x="11353" y="649465"/>
                  </a:lnTo>
                  <a:lnTo>
                    <a:pt x="13855" y="644715"/>
                  </a:lnTo>
                  <a:lnTo>
                    <a:pt x="13855" y="589305"/>
                  </a:lnTo>
                  <a:close/>
                </a:path>
                <a:path w="13970" h="913129">
                  <a:moveTo>
                    <a:pt x="13855" y="492188"/>
                  </a:moveTo>
                  <a:lnTo>
                    <a:pt x="11353" y="487921"/>
                  </a:lnTo>
                  <a:lnTo>
                    <a:pt x="9436" y="485571"/>
                  </a:lnTo>
                  <a:lnTo>
                    <a:pt x="4813" y="485571"/>
                  </a:lnTo>
                  <a:lnTo>
                    <a:pt x="2311" y="487921"/>
                  </a:lnTo>
                  <a:lnTo>
                    <a:pt x="0" y="492188"/>
                  </a:lnTo>
                  <a:lnTo>
                    <a:pt x="0" y="548081"/>
                  </a:lnTo>
                  <a:lnTo>
                    <a:pt x="2311" y="552348"/>
                  </a:lnTo>
                  <a:lnTo>
                    <a:pt x="4813" y="553770"/>
                  </a:lnTo>
                  <a:lnTo>
                    <a:pt x="7124" y="554723"/>
                  </a:lnTo>
                  <a:lnTo>
                    <a:pt x="9436" y="553770"/>
                  </a:lnTo>
                  <a:lnTo>
                    <a:pt x="11353" y="552348"/>
                  </a:lnTo>
                  <a:lnTo>
                    <a:pt x="13855" y="548081"/>
                  </a:lnTo>
                  <a:lnTo>
                    <a:pt x="13855" y="492188"/>
                  </a:lnTo>
                  <a:close/>
                </a:path>
                <a:path w="13970" h="913129">
                  <a:moveTo>
                    <a:pt x="13855" y="395554"/>
                  </a:moveTo>
                  <a:lnTo>
                    <a:pt x="11353" y="390817"/>
                  </a:lnTo>
                  <a:lnTo>
                    <a:pt x="9436" y="388454"/>
                  </a:lnTo>
                  <a:lnTo>
                    <a:pt x="4813" y="388454"/>
                  </a:lnTo>
                  <a:lnTo>
                    <a:pt x="2311" y="390817"/>
                  </a:lnTo>
                  <a:lnTo>
                    <a:pt x="0" y="395554"/>
                  </a:lnTo>
                  <a:lnTo>
                    <a:pt x="0" y="450989"/>
                  </a:lnTo>
                  <a:lnTo>
                    <a:pt x="2311" y="455244"/>
                  </a:lnTo>
                  <a:lnTo>
                    <a:pt x="4813" y="456666"/>
                  </a:lnTo>
                  <a:lnTo>
                    <a:pt x="7124" y="457606"/>
                  </a:lnTo>
                  <a:lnTo>
                    <a:pt x="9436" y="456666"/>
                  </a:lnTo>
                  <a:lnTo>
                    <a:pt x="11353" y="455244"/>
                  </a:lnTo>
                  <a:lnTo>
                    <a:pt x="13855" y="450989"/>
                  </a:lnTo>
                  <a:lnTo>
                    <a:pt x="13855" y="395554"/>
                  </a:lnTo>
                  <a:close/>
                </a:path>
                <a:path w="13970" h="913129">
                  <a:moveTo>
                    <a:pt x="13855" y="298437"/>
                  </a:moveTo>
                  <a:lnTo>
                    <a:pt x="11353" y="293712"/>
                  </a:lnTo>
                  <a:lnTo>
                    <a:pt x="9436" y="291338"/>
                  </a:lnTo>
                  <a:lnTo>
                    <a:pt x="4813" y="291338"/>
                  </a:lnTo>
                  <a:lnTo>
                    <a:pt x="2311" y="293712"/>
                  </a:lnTo>
                  <a:lnTo>
                    <a:pt x="0" y="298437"/>
                  </a:lnTo>
                  <a:lnTo>
                    <a:pt x="0" y="353872"/>
                  </a:lnTo>
                  <a:lnTo>
                    <a:pt x="2311" y="358609"/>
                  </a:lnTo>
                  <a:lnTo>
                    <a:pt x="7124" y="360489"/>
                  </a:lnTo>
                  <a:lnTo>
                    <a:pt x="9436" y="359549"/>
                  </a:lnTo>
                  <a:lnTo>
                    <a:pt x="11353" y="358609"/>
                  </a:lnTo>
                  <a:lnTo>
                    <a:pt x="13855" y="353872"/>
                  </a:lnTo>
                  <a:lnTo>
                    <a:pt x="13855" y="298437"/>
                  </a:lnTo>
                  <a:close/>
                </a:path>
                <a:path w="13970" h="913129">
                  <a:moveTo>
                    <a:pt x="13855" y="201345"/>
                  </a:moveTo>
                  <a:lnTo>
                    <a:pt x="11353" y="196596"/>
                  </a:lnTo>
                  <a:lnTo>
                    <a:pt x="9436" y="194221"/>
                  </a:lnTo>
                  <a:lnTo>
                    <a:pt x="4813" y="194221"/>
                  </a:lnTo>
                  <a:lnTo>
                    <a:pt x="2311" y="196596"/>
                  </a:lnTo>
                  <a:lnTo>
                    <a:pt x="0" y="201345"/>
                  </a:lnTo>
                  <a:lnTo>
                    <a:pt x="0" y="256755"/>
                  </a:lnTo>
                  <a:lnTo>
                    <a:pt x="2311" y="261493"/>
                  </a:lnTo>
                  <a:lnTo>
                    <a:pt x="4813" y="262432"/>
                  </a:lnTo>
                  <a:lnTo>
                    <a:pt x="7124" y="263855"/>
                  </a:lnTo>
                  <a:lnTo>
                    <a:pt x="9436" y="262432"/>
                  </a:lnTo>
                  <a:lnTo>
                    <a:pt x="11353" y="261493"/>
                  </a:lnTo>
                  <a:lnTo>
                    <a:pt x="13855" y="256755"/>
                  </a:lnTo>
                  <a:lnTo>
                    <a:pt x="13855" y="201345"/>
                  </a:lnTo>
                  <a:close/>
                </a:path>
                <a:path w="13970" h="913129">
                  <a:moveTo>
                    <a:pt x="13855" y="104228"/>
                  </a:moveTo>
                  <a:lnTo>
                    <a:pt x="11353" y="99479"/>
                  </a:lnTo>
                  <a:lnTo>
                    <a:pt x="9436" y="97116"/>
                  </a:lnTo>
                  <a:lnTo>
                    <a:pt x="4813" y="97116"/>
                  </a:lnTo>
                  <a:lnTo>
                    <a:pt x="2311" y="99479"/>
                  </a:lnTo>
                  <a:lnTo>
                    <a:pt x="0" y="104228"/>
                  </a:lnTo>
                  <a:lnTo>
                    <a:pt x="0" y="159639"/>
                  </a:lnTo>
                  <a:lnTo>
                    <a:pt x="2311" y="164376"/>
                  </a:lnTo>
                  <a:lnTo>
                    <a:pt x="4813" y="165341"/>
                  </a:lnTo>
                  <a:lnTo>
                    <a:pt x="7124" y="166763"/>
                  </a:lnTo>
                  <a:lnTo>
                    <a:pt x="9436" y="165341"/>
                  </a:lnTo>
                  <a:lnTo>
                    <a:pt x="11353" y="164376"/>
                  </a:lnTo>
                  <a:lnTo>
                    <a:pt x="13855" y="159639"/>
                  </a:lnTo>
                  <a:lnTo>
                    <a:pt x="13855" y="104228"/>
                  </a:lnTo>
                  <a:close/>
                </a:path>
                <a:path w="13970" h="913129">
                  <a:moveTo>
                    <a:pt x="13855" y="7112"/>
                  </a:moveTo>
                  <a:lnTo>
                    <a:pt x="11353" y="2362"/>
                  </a:lnTo>
                  <a:lnTo>
                    <a:pt x="9436" y="0"/>
                  </a:lnTo>
                  <a:lnTo>
                    <a:pt x="4813" y="0"/>
                  </a:lnTo>
                  <a:lnTo>
                    <a:pt x="2311" y="2362"/>
                  </a:lnTo>
                  <a:lnTo>
                    <a:pt x="0" y="7112"/>
                  </a:lnTo>
                  <a:lnTo>
                    <a:pt x="0" y="62534"/>
                  </a:lnTo>
                  <a:lnTo>
                    <a:pt x="2311" y="67259"/>
                  </a:lnTo>
                  <a:lnTo>
                    <a:pt x="4813" y="68224"/>
                  </a:lnTo>
                  <a:lnTo>
                    <a:pt x="7124" y="69646"/>
                  </a:lnTo>
                  <a:lnTo>
                    <a:pt x="9436" y="68224"/>
                  </a:lnTo>
                  <a:lnTo>
                    <a:pt x="11353" y="67259"/>
                  </a:lnTo>
                  <a:lnTo>
                    <a:pt x="13855" y="62534"/>
                  </a:lnTo>
                  <a:lnTo>
                    <a:pt x="13855" y="7112"/>
                  </a:lnTo>
                  <a:close/>
                </a:path>
                <a:path w="13970" h="913129">
                  <a:moveTo>
                    <a:pt x="13868" y="880630"/>
                  </a:moveTo>
                  <a:lnTo>
                    <a:pt x="11353" y="875893"/>
                  </a:lnTo>
                  <a:lnTo>
                    <a:pt x="9436" y="873531"/>
                  </a:lnTo>
                  <a:lnTo>
                    <a:pt x="4813" y="873531"/>
                  </a:lnTo>
                  <a:lnTo>
                    <a:pt x="2311" y="875893"/>
                  </a:lnTo>
                  <a:lnTo>
                    <a:pt x="0" y="880630"/>
                  </a:lnTo>
                  <a:lnTo>
                    <a:pt x="0" y="906208"/>
                  </a:lnTo>
                  <a:lnTo>
                    <a:pt x="2311" y="910958"/>
                  </a:lnTo>
                  <a:lnTo>
                    <a:pt x="4813" y="911898"/>
                  </a:lnTo>
                  <a:lnTo>
                    <a:pt x="7124" y="912850"/>
                  </a:lnTo>
                  <a:lnTo>
                    <a:pt x="9436" y="911898"/>
                  </a:lnTo>
                  <a:lnTo>
                    <a:pt x="11353" y="910958"/>
                  </a:lnTo>
                  <a:lnTo>
                    <a:pt x="13868" y="906208"/>
                  </a:lnTo>
                  <a:lnTo>
                    <a:pt x="13868" y="880630"/>
                  </a:lnTo>
                  <a:close/>
                </a:path>
                <a:path w="13970" h="913129">
                  <a:moveTo>
                    <a:pt x="13868" y="783513"/>
                  </a:moveTo>
                  <a:lnTo>
                    <a:pt x="11353" y="778802"/>
                  </a:lnTo>
                  <a:lnTo>
                    <a:pt x="9436" y="776897"/>
                  </a:lnTo>
                  <a:lnTo>
                    <a:pt x="4813" y="776897"/>
                  </a:lnTo>
                  <a:lnTo>
                    <a:pt x="2311" y="778802"/>
                  </a:lnTo>
                  <a:lnTo>
                    <a:pt x="0" y="783513"/>
                  </a:lnTo>
                  <a:lnTo>
                    <a:pt x="0" y="838949"/>
                  </a:lnTo>
                  <a:lnTo>
                    <a:pt x="2311" y="843699"/>
                  </a:lnTo>
                  <a:lnTo>
                    <a:pt x="4813" y="844638"/>
                  </a:lnTo>
                  <a:lnTo>
                    <a:pt x="7124" y="846061"/>
                  </a:lnTo>
                  <a:lnTo>
                    <a:pt x="9436" y="844638"/>
                  </a:lnTo>
                  <a:lnTo>
                    <a:pt x="11353" y="843699"/>
                  </a:lnTo>
                  <a:lnTo>
                    <a:pt x="13868" y="838949"/>
                  </a:lnTo>
                  <a:lnTo>
                    <a:pt x="13868" y="783513"/>
                  </a:lnTo>
                  <a:close/>
                </a:path>
                <a:path w="13970" h="913129">
                  <a:moveTo>
                    <a:pt x="13868" y="686422"/>
                  </a:moveTo>
                  <a:lnTo>
                    <a:pt x="11353" y="682155"/>
                  </a:lnTo>
                  <a:lnTo>
                    <a:pt x="9436" y="679780"/>
                  </a:lnTo>
                  <a:lnTo>
                    <a:pt x="4813" y="679780"/>
                  </a:lnTo>
                  <a:lnTo>
                    <a:pt x="2311" y="682155"/>
                  </a:lnTo>
                  <a:lnTo>
                    <a:pt x="0" y="686422"/>
                  </a:lnTo>
                  <a:lnTo>
                    <a:pt x="0" y="741832"/>
                  </a:lnTo>
                  <a:lnTo>
                    <a:pt x="2311" y="746582"/>
                  </a:lnTo>
                  <a:lnTo>
                    <a:pt x="4813" y="748004"/>
                  </a:lnTo>
                  <a:lnTo>
                    <a:pt x="7124" y="748944"/>
                  </a:lnTo>
                  <a:lnTo>
                    <a:pt x="9436" y="748004"/>
                  </a:lnTo>
                  <a:lnTo>
                    <a:pt x="11353" y="746582"/>
                  </a:lnTo>
                  <a:lnTo>
                    <a:pt x="13868" y="741832"/>
                  </a:lnTo>
                  <a:lnTo>
                    <a:pt x="13868" y="686422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53814" y="5098564"/>
              <a:ext cx="347345" cy="300355"/>
            </a:xfrm>
            <a:custGeom>
              <a:avLst/>
              <a:gdLst/>
              <a:ahLst/>
              <a:cxnLst/>
              <a:rect l="l" t="t" r="r" b="b"/>
              <a:pathLst>
                <a:path w="347345" h="300354">
                  <a:moveTo>
                    <a:pt x="346746" y="0"/>
                  </a:moveTo>
                  <a:lnTo>
                    <a:pt x="0" y="0"/>
                  </a:lnTo>
                  <a:lnTo>
                    <a:pt x="0" y="300334"/>
                  </a:lnTo>
                  <a:lnTo>
                    <a:pt x="346746" y="300334"/>
                  </a:lnTo>
                  <a:lnTo>
                    <a:pt x="346746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054006" y="5091459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h="291464">
                  <a:moveTo>
                    <a:pt x="0" y="0"/>
                  </a:moveTo>
                  <a:lnTo>
                    <a:pt x="0" y="291329"/>
                  </a:lnTo>
                </a:path>
              </a:pathLst>
            </a:custGeom>
            <a:ln w="13863">
              <a:solidFill>
                <a:srgbClr val="FFCC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51311" y="5398898"/>
              <a:ext cx="347345" cy="0"/>
            </a:xfrm>
            <a:custGeom>
              <a:avLst/>
              <a:gdLst/>
              <a:ahLst/>
              <a:cxnLst/>
              <a:rect l="l" t="t" r="r" b="b"/>
              <a:pathLst>
                <a:path w="347345">
                  <a:moveTo>
                    <a:pt x="0" y="0"/>
                  </a:moveTo>
                  <a:lnTo>
                    <a:pt x="346785" y="0"/>
                  </a:lnTo>
                </a:path>
              </a:pathLst>
            </a:custGeom>
            <a:ln w="14208">
              <a:solidFill>
                <a:srgbClr val="FFCC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400502" y="5096183"/>
              <a:ext cx="0" cy="291465"/>
            </a:xfrm>
            <a:custGeom>
              <a:avLst/>
              <a:gdLst/>
              <a:ahLst/>
              <a:cxnLst/>
              <a:rect l="l" t="t" r="r" b="b"/>
              <a:pathLst>
                <a:path h="291464">
                  <a:moveTo>
                    <a:pt x="0" y="0"/>
                  </a:moveTo>
                  <a:lnTo>
                    <a:pt x="0" y="291349"/>
                  </a:lnTo>
                </a:path>
              </a:pathLst>
            </a:custGeom>
            <a:ln w="14441">
              <a:solidFill>
                <a:srgbClr val="FFCC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065174" y="5098563"/>
              <a:ext cx="319405" cy="0"/>
            </a:xfrm>
            <a:custGeom>
              <a:avLst/>
              <a:gdLst/>
              <a:ahLst/>
              <a:cxnLst/>
              <a:rect l="l" t="t" r="r" b="b"/>
              <a:pathLst>
                <a:path w="319404">
                  <a:moveTo>
                    <a:pt x="0" y="0"/>
                  </a:moveTo>
                  <a:lnTo>
                    <a:pt x="319057" y="0"/>
                  </a:lnTo>
                </a:path>
              </a:pathLst>
            </a:custGeom>
            <a:ln w="14208">
              <a:solidFill>
                <a:srgbClr val="FFCC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9387899" y="4824143"/>
            <a:ext cx="723900" cy="2343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50" b="1" spc="-15" dirty="0">
                <a:solidFill>
                  <a:srgbClr val="0000FF"/>
                </a:solidFill>
                <a:latin typeface="宋体"/>
                <a:cs typeface="宋体"/>
              </a:rPr>
              <a:t>当前机器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64222" y="956817"/>
            <a:ext cx="48260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兼容机：</a:t>
            </a:r>
            <a:r>
              <a:rPr sz="1800" spc="-5" dirty="0">
                <a:latin typeface="宋体"/>
                <a:cs typeface="宋体"/>
              </a:rPr>
              <a:t>由不同公司厂家生产的具有相同系统结</a:t>
            </a:r>
            <a:endParaRPr sz="1800">
              <a:latin typeface="宋体"/>
              <a:cs typeface="宋体"/>
            </a:endParaRPr>
          </a:p>
          <a:p>
            <a:pPr marL="169545">
              <a:lnSpc>
                <a:spcPct val="100000"/>
              </a:lnSpc>
            </a:pPr>
            <a:r>
              <a:rPr sz="1800" spc="-85" dirty="0">
                <a:latin typeface="宋体"/>
                <a:cs typeface="宋体"/>
              </a:rPr>
              <a:t>构的计算机 。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2455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1.4.2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10" dirty="0"/>
              <a:t>软件对系统结构的影</a:t>
            </a:r>
            <a:r>
              <a:rPr spc="-50" dirty="0"/>
              <a:t>响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478" y="1090041"/>
            <a:ext cx="18770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200" spc="-25" dirty="0">
                <a:solidFill>
                  <a:srgbClr val="0000FF"/>
                </a:solidFill>
                <a:latin typeface="Times New Roman"/>
                <a:cs typeface="Times New Roman"/>
              </a:rPr>
              <a:t>3.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200" spc="-35" dirty="0">
                <a:latin typeface="微软雅黑"/>
                <a:cs typeface="微软雅黑"/>
              </a:rPr>
              <a:t>模拟和仿真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4890" y="1582292"/>
            <a:ext cx="602488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EC7C30"/>
              </a:buClr>
              <a:buFont typeface="Wingdings"/>
              <a:buChar char=""/>
              <a:tabLst>
                <a:tab pos="469900" algn="l"/>
              </a:tabLst>
            </a:pPr>
            <a:r>
              <a:rPr sz="1900" spc="-30" dirty="0">
                <a:latin typeface="微软雅黑"/>
                <a:cs typeface="微软雅黑"/>
              </a:rPr>
              <a:t>使软件能在具有不同系统结构的机器之间相互移植。</a:t>
            </a:r>
            <a:endParaRPr sz="19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878" y="1876506"/>
            <a:ext cx="4514215" cy="116967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185"/>
              </a:spcBef>
              <a:buClr>
                <a:srgbClr val="538235"/>
              </a:buClr>
              <a:buFont typeface="Arial"/>
              <a:buChar char="•"/>
              <a:tabLst>
                <a:tab pos="241300" algn="l"/>
              </a:tabLst>
            </a:pPr>
            <a:r>
              <a:rPr sz="1600" spc="-35" dirty="0">
                <a:solidFill>
                  <a:srgbClr val="FF0000"/>
                </a:solidFill>
                <a:latin typeface="微软雅黑"/>
                <a:cs typeface="微软雅黑"/>
              </a:rPr>
              <a:t>在一种系统结构上实现另一种系统结构。</a:t>
            </a:r>
            <a:endParaRPr sz="1600">
              <a:latin typeface="微软雅黑"/>
              <a:cs typeface="微软雅黑"/>
            </a:endParaRPr>
          </a:p>
          <a:p>
            <a:pPr marL="241300" marR="5080" indent="-229235">
              <a:lnSpc>
                <a:spcPct val="156300"/>
              </a:lnSpc>
              <a:spcBef>
                <a:spcPts val="5"/>
              </a:spcBef>
              <a:buClr>
                <a:srgbClr val="538235"/>
              </a:buClr>
              <a:buFont typeface="Arial"/>
              <a:buChar char="•"/>
              <a:tabLst>
                <a:tab pos="317500" algn="l"/>
              </a:tabLst>
            </a:pPr>
            <a:r>
              <a:rPr sz="1600" spc="-30" dirty="0">
                <a:latin typeface="微软雅黑"/>
                <a:cs typeface="微软雅黑"/>
              </a:rPr>
              <a:t>从指令集的角度来看，就是要在一种机器上实现	另一种机器的指令集。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4890" y="3164586"/>
            <a:ext cx="627316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EC7C30"/>
              </a:buClr>
              <a:buFont typeface="Wingdings"/>
              <a:buChar char=""/>
              <a:tabLst>
                <a:tab pos="469900" algn="l"/>
              </a:tabLst>
            </a:pPr>
            <a:r>
              <a:rPr sz="1900" spc="-25" dirty="0">
                <a:solidFill>
                  <a:srgbClr val="FF0000"/>
                </a:solidFill>
                <a:latin typeface="微软雅黑"/>
                <a:cs typeface="微软雅黑"/>
              </a:rPr>
              <a:t>模拟：</a:t>
            </a:r>
            <a:r>
              <a:rPr sz="1900" spc="-25" dirty="0">
                <a:latin typeface="微软雅黑"/>
                <a:cs typeface="微软雅黑"/>
              </a:rPr>
              <a:t>用软件的方法在一台现有的机器</a:t>
            </a:r>
            <a:r>
              <a:rPr sz="1900" spc="-20" dirty="0">
                <a:latin typeface="微软雅黑"/>
                <a:cs typeface="微软雅黑"/>
              </a:rPr>
              <a:t>（称为</a:t>
            </a:r>
            <a:r>
              <a:rPr sz="1900" spc="-25" dirty="0">
                <a:solidFill>
                  <a:srgbClr val="D50092"/>
                </a:solidFill>
                <a:latin typeface="微软雅黑"/>
                <a:cs typeface="微软雅黑"/>
              </a:rPr>
              <a:t>宿主机</a:t>
            </a:r>
            <a:r>
              <a:rPr sz="1900" spc="-50" dirty="0">
                <a:latin typeface="微软雅黑"/>
                <a:cs typeface="微软雅黑"/>
              </a:rPr>
              <a:t>）</a:t>
            </a:r>
            <a:endParaRPr sz="19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4890" y="3541267"/>
            <a:ext cx="5836285" cy="1812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95"/>
              </a:spcBef>
            </a:pPr>
            <a:r>
              <a:rPr sz="1900" spc="-25" dirty="0">
                <a:latin typeface="微软雅黑"/>
                <a:cs typeface="微软雅黑"/>
              </a:rPr>
              <a:t>上实现另一台机器（称为</a:t>
            </a:r>
            <a:r>
              <a:rPr sz="1900" spc="-25" dirty="0">
                <a:solidFill>
                  <a:srgbClr val="D50092"/>
                </a:solidFill>
                <a:latin typeface="微软雅黑"/>
                <a:cs typeface="微软雅黑"/>
              </a:rPr>
              <a:t>虚拟机</a:t>
            </a:r>
            <a:r>
              <a:rPr sz="1900" spc="-25" dirty="0">
                <a:latin typeface="微软雅黑"/>
                <a:cs typeface="微软雅黑"/>
              </a:rPr>
              <a:t>）</a:t>
            </a:r>
            <a:r>
              <a:rPr sz="1900" spc="-30" dirty="0">
                <a:latin typeface="微软雅黑"/>
                <a:cs typeface="微软雅黑"/>
              </a:rPr>
              <a:t>的指令集。</a:t>
            </a:r>
            <a:endParaRPr sz="1900">
              <a:latin typeface="微软雅黑"/>
              <a:cs typeface="微软雅黑"/>
            </a:endParaRPr>
          </a:p>
          <a:p>
            <a:pPr marL="526415" indent="-229235">
              <a:lnSpc>
                <a:spcPct val="100000"/>
              </a:lnSpc>
              <a:spcBef>
                <a:spcPts val="1100"/>
              </a:spcBef>
              <a:buClr>
                <a:srgbClr val="538235"/>
              </a:buClr>
              <a:buFont typeface="Arial"/>
              <a:buChar char="•"/>
              <a:tabLst>
                <a:tab pos="526415" algn="l"/>
              </a:tabLst>
            </a:pPr>
            <a:r>
              <a:rPr sz="1400" spc="-5" dirty="0">
                <a:latin typeface="微软雅黑"/>
                <a:cs typeface="微软雅黑"/>
              </a:rPr>
              <a:t>通常用解释的方法来实现</a:t>
            </a:r>
            <a:r>
              <a:rPr sz="1400" spc="-15" dirty="0">
                <a:latin typeface="Times New Roman"/>
                <a:cs typeface="Times New Roman"/>
              </a:rPr>
              <a:t>------</a:t>
            </a:r>
            <a:r>
              <a:rPr sz="1400" spc="-20" dirty="0">
                <a:solidFill>
                  <a:srgbClr val="FF0000"/>
                </a:solidFill>
                <a:latin typeface="微软雅黑"/>
                <a:cs typeface="微软雅黑"/>
              </a:rPr>
              <a:t>主存。</a:t>
            </a:r>
            <a:endParaRPr sz="1400">
              <a:latin typeface="微软雅黑"/>
              <a:cs typeface="微软雅黑"/>
            </a:endParaRPr>
          </a:p>
          <a:p>
            <a:pPr marL="526415" indent="-229235">
              <a:lnSpc>
                <a:spcPct val="100000"/>
              </a:lnSpc>
              <a:spcBef>
                <a:spcPts val="994"/>
              </a:spcBef>
              <a:buClr>
                <a:srgbClr val="538235"/>
              </a:buClr>
              <a:buFont typeface="Arial"/>
              <a:buChar char="•"/>
              <a:tabLst>
                <a:tab pos="526415" algn="l"/>
              </a:tabLst>
            </a:pPr>
            <a:r>
              <a:rPr sz="1400" spc="-10" dirty="0">
                <a:latin typeface="微软雅黑"/>
                <a:cs typeface="微软雅黑"/>
              </a:rPr>
              <a:t>运行速度较慢，性能较差。</a:t>
            </a:r>
            <a:endParaRPr sz="1400">
              <a:latin typeface="微软雅黑"/>
              <a:cs typeface="微软雅黑"/>
            </a:endParaRPr>
          </a:p>
          <a:p>
            <a:pPr marL="469900" indent="-457200">
              <a:lnSpc>
                <a:spcPct val="100000"/>
              </a:lnSpc>
              <a:spcBef>
                <a:spcPts val="1095"/>
              </a:spcBef>
              <a:buClr>
                <a:srgbClr val="EC7C30"/>
              </a:buClr>
              <a:buFont typeface="Wingdings"/>
              <a:buChar char=""/>
              <a:tabLst>
                <a:tab pos="469900" algn="l"/>
              </a:tabLst>
            </a:pPr>
            <a:r>
              <a:rPr sz="1900" spc="-30" dirty="0">
                <a:solidFill>
                  <a:srgbClr val="FF0000"/>
                </a:solidFill>
                <a:latin typeface="微软雅黑"/>
                <a:cs typeface="微软雅黑"/>
              </a:rPr>
              <a:t>仿真：</a:t>
            </a:r>
            <a:r>
              <a:rPr sz="1900" spc="-30" dirty="0">
                <a:latin typeface="微软雅黑"/>
                <a:cs typeface="微软雅黑"/>
              </a:rPr>
              <a:t>用一台现有机器（</a:t>
            </a:r>
            <a:r>
              <a:rPr sz="1900" spc="-30" dirty="0">
                <a:solidFill>
                  <a:srgbClr val="D50092"/>
                </a:solidFill>
                <a:latin typeface="微软雅黑"/>
                <a:cs typeface="微软雅黑"/>
              </a:rPr>
              <a:t>宿主机</a:t>
            </a:r>
            <a:r>
              <a:rPr sz="1900" spc="-25" dirty="0">
                <a:latin typeface="微软雅黑"/>
                <a:cs typeface="微软雅黑"/>
              </a:rPr>
              <a:t>）</a:t>
            </a:r>
            <a:r>
              <a:rPr sz="1900" spc="-35" dirty="0">
                <a:latin typeface="微软雅黑"/>
                <a:cs typeface="微软雅黑"/>
              </a:rPr>
              <a:t>上的微程序 去解</a:t>
            </a:r>
            <a:endParaRPr sz="19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</a:pPr>
            <a:r>
              <a:rPr sz="1900" spc="-25" dirty="0">
                <a:latin typeface="微软雅黑"/>
                <a:cs typeface="微软雅黑"/>
              </a:rPr>
              <a:t>释实现另一台机器（</a:t>
            </a:r>
            <a:r>
              <a:rPr sz="1900" spc="-30" dirty="0">
                <a:solidFill>
                  <a:srgbClr val="D50092"/>
                </a:solidFill>
                <a:latin typeface="微软雅黑"/>
                <a:cs typeface="微软雅黑"/>
              </a:rPr>
              <a:t>目标机</a:t>
            </a:r>
            <a:r>
              <a:rPr sz="1900" spc="-25" dirty="0">
                <a:latin typeface="微软雅黑"/>
                <a:cs typeface="微软雅黑"/>
              </a:rPr>
              <a:t>）</a:t>
            </a:r>
            <a:r>
              <a:rPr sz="1900" spc="-35" dirty="0">
                <a:latin typeface="微软雅黑"/>
                <a:cs typeface="微软雅黑"/>
              </a:rPr>
              <a:t>的指令集</a:t>
            </a:r>
            <a:endParaRPr sz="19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9878" y="5467908"/>
            <a:ext cx="5712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538235"/>
              </a:buClr>
              <a:buFont typeface="Arial"/>
              <a:buChar char="•"/>
              <a:tabLst>
                <a:tab pos="241300" algn="l"/>
              </a:tabLst>
            </a:pPr>
            <a:r>
              <a:rPr sz="1400" spc="-5" dirty="0">
                <a:latin typeface="微软雅黑"/>
                <a:cs typeface="微软雅黑"/>
              </a:rPr>
              <a:t>运行速度比模拟方法的快</a:t>
            </a:r>
            <a:r>
              <a:rPr sz="1400" dirty="0">
                <a:latin typeface="微软雅黑"/>
                <a:cs typeface="微软雅黑"/>
              </a:rPr>
              <a:t>（</a:t>
            </a:r>
            <a:r>
              <a:rPr sz="1400" spc="-15" dirty="0">
                <a:latin typeface="微软雅黑"/>
                <a:cs typeface="微软雅黑"/>
              </a:rPr>
              <a:t>微程序级执实现另外一个机器的指令集</a:t>
            </a:r>
            <a:r>
              <a:rPr sz="1400" dirty="0">
                <a:latin typeface="微软雅黑"/>
                <a:cs typeface="微软雅黑"/>
              </a:rPr>
              <a:t>）</a:t>
            </a:r>
            <a:r>
              <a:rPr sz="1400" spc="-25" dirty="0">
                <a:latin typeface="Times New Roman"/>
                <a:cs typeface="Times New Roman"/>
              </a:rPr>
              <a:t>--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51533" y="5896165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261" y="0"/>
                </a:lnTo>
              </a:path>
            </a:pathLst>
          </a:custGeom>
          <a:ln w="13194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09878" y="5629617"/>
            <a:ext cx="4018279" cy="73088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774700">
              <a:lnSpc>
                <a:spcPct val="100000"/>
              </a:lnSpc>
              <a:spcBef>
                <a:spcPts val="1015"/>
              </a:spcBef>
            </a:pPr>
            <a:r>
              <a:rPr sz="1400" spc="-25" dirty="0">
                <a:solidFill>
                  <a:srgbClr val="FF0000"/>
                </a:solidFill>
                <a:latin typeface="微软雅黑"/>
                <a:cs typeface="微软雅黑"/>
              </a:rPr>
              <a:t>控存</a:t>
            </a:r>
            <a:endParaRPr sz="140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spcBef>
                <a:spcPts val="1035"/>
              </a:spcBef>
              <a:buClr>
                <a:srgbClr val="538235"/>
              </a:buClr>
              <a:buFont typeface="Arial"/>
              <a:buChar char="•"/>
              <a:tabLst>
                <a:tab pos="241300" algn="l"/>
              </a:tabLst>
            </a:pPr>
            <a:r>
              <a:rPr sz="1400" spc="-20" dirty="0">
                <a:latin typeface="微软雅黑"/>
                <a:cs typeface="微软雅黑"/>
              </a:rPr>
              <a:t>仿真只能在系统结构差距不大的机器之间使用</a:t>
            </a:r>
            <a:r>
              <a:rPr sz="1600" spc="-50" dirty="0">
                <a:latin typeface="微软雅黑"/>
                <a:cs typeface="微软雅黑"/>
              </a:rPr>
              <a:t>。</a:t>
            </a:r>
            <a:endParaRPr sz="1600">
              <a:latin typeface="微软雅黑"/>
              <a:cs typeface="微软雅黑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86850" y="1361862"/>
            <a:ext cx="2015489" cy="463550"/>
            <a:chOff x="6886850" y="1361862"/>
            <a:chExt cx="2015489" cy="463550"/>
          </a:xfrm>
        </p:grpSpPr>
        <p:sp>
          <p:nvSpPr>
            <p:cNvPr id="12" name="object 12"/>
            <p:cNvSpPr/>
            <p:nvPr/>
          </p:nvSpPr>
          <p:spPr>
            <a:xfrm>
              <a:off x="6893835" y="1368847"/>
              <a:ext cx="2001520" cy="449580"/>
            </a:xfrm>
            <a:custGeom>
              <a:avLst/>
              <a:gdLst/>
              <a:ahLst/>
              <a:cxnLst/>
              <a:rect l="l" t="t" r="r" b="b"/>
              <a:pathLst>
                <a:path w="2001520" h="449580">
                  <a:moveTo>
                    <a:pt x="2001356" y="0"/>
                  </a:moveTo>
                  <a:lnTo>
                    <a:pt x="0" y="0"/>
                  </a:lnTo>
                  <a:lnTo>
                    <a:pt x="0" y="449060"/>
                  </a:lnTo>
                  <a:lnTo>
                    <a:pt x="2001356" y="449060"/>
                  </a:lnTo>
                  <a:lnTo>
                    <a:pt x="2001356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93835" y="1368847"/>
              <a:ext cx="2001520" cy="449580"/>
            </a:xfrm>
            <a:custGeom>
              <a:avLst/>
              <a:gdLst/>
              <a:ahLst/>
              <a:cxnLst/>
              <a:rect l="l" t="t" r="r" b="b"/>
              <a:pathLst>
                <a:path w="2001520" h="449580">
                  <a:moveTo>
                    <a:pt x="0" y="449060"/>
                  </a:moveTo>
                  <a:lnTo>
                    <a:pt x="2001356" y="449060"/>
                  </a:lnTo>
                  <a:lnTo>
                    <a:pt x="2001356" y="0"/>
                  </a:lnTo>
                  <a:lnTo>
                    <a:pt x="0" y="0"/>
                  </a:lnTo>
                  <a:lnTo>
                    <a:pt x="0" y="449060"/>
                  </a:lnTo>
                  <a:close/>
                </a:path>
              </a:pathLst>
            </a:custGeom>
            <a:ln w="13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893835" y="1368848"/>
            <a:ext cx="2001520" cy="44958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915"/>
              </a:spcBef>
            </a:pPr>
            <a:r>
              <a:rPr sz="1350" b="1" spc="-10" dirty="0">
                <a:latin typeface="宋体"/>
                <a:cs typeface="宋体"/>
              </a:rPr>
              <a:t>应用语言虚拟机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832492" y="1410145"/>
            <a:ext cx="2015489" cy="463550"/>
            <a:chOff x="9832492" y="1410145"/>
            <a:chExt cx="2015489" cy="463550"/>
          </a:xfrm>
        </p:grpSpPr>
        <p:sp>
          <p:nvSpPr>
            <p:cNvPr id="16" name="object 16"/>
            <p:cNvSpPr/>
            <p:nvPr/>
          </p:nvSpPr>
          <p:spPr>
            <a:xfrm>
              <a:off x="9839477" y="1417130"/>
              <a:ext cx="2001520" cy="449580"/>
            </a:xfrm>
            <a:custGeom>
              <a:avLst/>
              <a:gdLst/>
              <a:ahLst/>
              <a:cxnLst/>
              <a:rect l="l" t="t" r="r" b="b"/>
              <a:pathLst>
                <a:path w="2001520" h="449580">
                  <a:moveTo>
                    <a:pt x="2000973" y="0"/>
                  </a:moveTo>
                  <a:lnTo>
                    <a:pt x="0" y="0"/>
                  </a:lnTo>
                  <a:lnTo>
                    <a:pt x="0" y="449060"/>
                  </a:lnTo>
                  <a:lnTo>
                    <a:pt x="2000973" y="449060"/>
                  </a:lnTo>
                  <a:lnTo>
                    <a:pt x="2000973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839477" y="1417130"/>
              <a:ext cx="2001520" cy="449580"/>
            </a:xfrm>
            <a:custGeom>
              <a:avLst/>
              <a:gdLst/>
              <a:ahLst/>
              <a:cxnLst/>
              <a:rect l="l" t="t" r="r" b="b"/>
              <a:pathLst>
                <a:path w="2001520" h="449580">
                  <a:moveTo>
                    <a:pt x="0" y="449060"/>
                  </a:moveTo>
                  <a:lnTo>
                    <a:pt x="2000973" y="449060"/>
                  </a:lnTo>
                  <a:lnTo>
                    <a:pt x="2000973" y="0"/>
                  </a:lnTo>
                  <a:lnTo>
                    <a:pt x="0" y="0"/>
                  </a:lnTo>
                  <a:lnTo>
                    <a:pt x="0" y="449060"/>
                  </a:lnTo>
                  <a:close/>
                </a:path>
              </a:pathLst>
            </a:custGeom>
            <a:ln w="13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839476" y="1417129"/>
            <a:ext cx="2001520" cy="44958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915"/>
              </a:spcBef>
            </a:pPr>
            <a:r>
              <a:rPr sz="1350" b="1" spc="-10" dirty="0">
                <a:latin typeface="宋体"/>
                <a:cs typeface="宋体"/>
              </a:rPr>
              <a:t>高级语言虚拟机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825404" y="2147595"/>
            <a:ext cx="2015489" cy="463550"/>
            <a:chOff x="9825404" y="2147595"/>
            <a:chExt cx="2015489" cy="463550"/>
          </a:xfrm>
        </p:grpSpPr>
        <p:sp>
          <p:nvSpPr>
            <p:cNvPr id="20" name="object 20"/>
            <p:cNvSpPr/>
            <p:nvPr/>
          </p:nvSpPr>
          <p:spPr>
            <a:xfrm>
              <a:off x="9832389" y="2154580"/>
              <a:ext cx="2001520" cy="449580"/>
            </a:xfrm>
            <a:custGeom>
              <a:avLst/>
              <a:gdLst/>
              <a:ahLst/>
              <a:cxnLst/>
              <a:rect l="l" t="t" r="r" b="b"/>
              <a:pathLst>
                <a:path w="2001520" h="449580">
                  <a:moveTo>
                    <a:pt x="2001356" y="0"/>
                  </a:moveTo>
                  <a:lnTo>
                    <a:pt x="0" y="0"/>
                  </a:lnTo>
                  <a:lnTo>
                    <a:pt x="0" y="449060"/>
                  </a:lnTo>
                  <a:lnTo>
                    <a:pt x="2001356" y="449060"/>
                  </a:lnTo>
                  <a:lnTo>
                    <a:pt x="2001356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832389" y="2154580"/>
              <a:ext cx="2001520" cy="449580"/>
            </a:xfrm>
            <a:custGeom>
              <a:avLst/>
              <a:gdLst/>
              <a:ahLst/>
              <a:cxnLst/>
              <a:rect l="l" t="t" r="r" b="b"/>
              <a:pathLst>
                <a:path w="2001520" h="449580">
                  <a:moveTo>
                    <a:pt x="0" y="449060"/>
                  </a:moveTo>
                  <a:lnTo>
                    <a:pt x="2001356" y="449060"/>
                  </a:lnTo>
                  <a:lnTo>
                    <a:pt x="2001356" y="0"/>
                  </a:lnTo>
                  <a:lnTo>
                    <a:pt x="0" y="0"/>
                  </a:lnTo>
                  <a:lnTo>
                    <a:pt x="0" y="449060"/>
                  </a:lnTo>
                  <a:close/>
                </a:path>
              </a:pathLst>
            </a:custGeom>
            <a:ln w="13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832389" y="2154580"/>
            <a:ext cx="2001520" cy="44958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915"/>
              </a:spcBef>
            </a:pPr>
            <a:r>
              <a:rPr sz="1350" b="1" spc="-10" dirty="0">
                <a:latin typeface="宋体"/>
                <a:cs typeface="宋体"/>
              </a:rPr>
              <a:t>汇编语言虚拟机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832492" y="2856976"/>
            <a:ext cx="2022475" cy="463550"/>
            <a:chOff x="9832492" y="2856976"/>
            <a:chExt cx="2022475" cy="463550"/>
          </a:xfrm>
        </p:grpSpPr>
        <p:sp>
          <p:nvSpPr>
            <p:cNvPr id="24" name="object 24"/>
            <p:cNvSpPr/>
            <p:nvPr/>
          </p:nvSpPr>
          <p:spPr>
            <a:xfrm>
              <a:off x="9839477" y="2863961"/>
              <a:ext cx="2008505" cy="449580"/>
            </a:xfrm>
            <a:custGeom>
              <a:avLst/>
              <a:gdLst/>
              <a:ahLst/>
              <a:cxnLst/>
              <a:rect l="l" t="t" r="r" b="b"/>
              <a:pathLst>
                <a:path w="2008504" h="449579">
                  <a:moveTo>
                    <a:pt x="2008061" y="0"/>
                  </a:moveTo>
                  <a:lnTo>
                    <a:pt x="0" y="0"/>
                  </a:lnTo>
                  <a:lnTo>
                    <a:pt x="0" y="449539"/>
                  </a:lnTo>
                  <a:lnTo>
                    <a:pt x="2008061" y="449539"/>
                  </a:lnTo>
                  <a:lnTo>
                    <a:pt x="2008061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39477" y="2863961"/>
              <a:ext cx="2008505" cy="449580"/>
            </a:xfrm>
            <a:custGeom>
              <a:avLst/>
              <a:gdLst/>
              <a:ahLst/>
              <a:cxnLst/>
              <a:rect l="l" t="t" r="r" b="b"/>
              <a:pathLst>
                <a:path w="2008504" h="449579">
                  <a:moveTo>
                    <a:pt x="0" y="449539"/>
                  </a:moveTo>
                  <a:lnTo>
                    <a:pt x="2008061" y="449539"/>
                  </a:lnTo>
                  <a:lnTo>
                    <a:pt x="2008061" y="0"/>
                  </a:lnTo>
                  <a:lnTo>
                    <a:pt x="0" y="0"/>
                  </a:lnTo>
                  <a:lnTo>
                    <a:pt x="0" y="449539"/>
                  </a:lnTo>
                  <a:close/>
                </a:path>
              </a:pathLst>
            </a:custGeom>
            <a:ln w="13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39477" y="2863961"/>
            <a:ext cx="2008505" cy="44958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97510">
              <a:lnSpc>
                <a:spcPct val="100000"/>
              </a:lnSpc>
              <a:spcBef>
                <a:spcPts val="919"/>
              </a:spcBef>
            </a:pPr>
            <a:r>
              <a:rPr sz="1350" b="1" spc="-10" dirty="0">
                <a:latin typeface="宋体"/>
                <a:cs typeface="宋体"/>
              </a:rPr>
              <a:t>操作系统虚拟机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834408" y="4287905"/>
            <a:ext cx="2011680" cy="463550"/>
            <a:chOff x="9834408" y="4287905"/>
            <a:chExt cx="2011680" cy="463550"/>
          </a:xfrm>
        </p:grpSpPr>
        <p:sp>
          <p:nvSpPr>
            <p:cNvPr id="28" name="object 28"/>
            <p:cNvSpPr/>
            <p:nvPr/>
          </p:nvSpPr>
          <p:spPr>
            <a:xfrm>
              <a:off x="9841393" y="4294890"/>
              <a:ext cx="1997710" cy="449580"/>
            </a:xfrm>
            <a:custGeom>
              <a:avLst/>
              <a:gdLst/>
              <a:ahLst/>
              <a:cxnLst/>
              <a:rect l="l" t="t" r="r" b="b"/>
              <a:pathLst>
                <a:path w="1997709" h="449579">
                  <a:moveTo>
                    <a:pt x="1997142" y="0"/>
                  </a:moveTo>
                  <a:lnTo>
                    <a:pt x="0" y="0"/>
                  </a:lnTo>
                  <a:lnTo>
                    <a:pt x="0" y="449539"/>
                  </a:lnTo>
                  <a:lnTo>
                    <a:pt x="1997142" y="449539"/>
                  </a:lnTo>
                  <a:lnTo>
                    <a:pt x="1997142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41393" y="4294890"/>
              <a:ext cx="1997710" cy="449580"/>
            </a:xfrm>
            <a:custGeom>
              <a:avLst/>
              <a:gdLst/>
              <a:ahLst/>
              <a:cxnLst/>
              <a:rect l="l" t="t" r="r" b="b"/>
              <a:pathLst>
                <a:path w="1997709" h="449579">
                  <a:moveTo>
                    <a:pt x="0" y="449539"/>
                  </a:moveTo>
                  <a:lnTo>
                    <a:pt x="1997142" y="449539"/>
                  </a:lnTo>
                  <a:lnTo>
                    <a:pt x="1997142" y="0"/>
                  </a:lnTo>
                  <a:lnTo>
                    <a:pt x="0" y="0"/>
                  </a:lnTo>
                  <a:lnTo>
                    <a:pt x="0" y="449539"/>
                  </a:lnTo>
                  <a:close/>
                </a:path>
              </a:pathLst>
            </a:custGeom>
            <a:ln w="13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841393" y="4294890"/>
            <a:ext cx="1997710" cy="44958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481330">
              <a:lnSpc>
                <a:spcPct val="100000"/>
              </a:lnSpc>
              <a:spcBef>
                <a:spcPts val="919"/>
              </a:spcBef>
            </a:pPr>
            <a:r>
              <a:rPr sz="1350" b="1" spc="-10" dirty="0">
                <a:latin typeface="宋体"/>
                <a:cs typeface="宋体"/>
              </a:rPr>
              <a:t>微程序机器级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826363" y="1872322"/>
            <a:ext cx="86360" cy="2436495"/>
            <a:chOff x="10826363" y="1872322"/>
            <a:chExt cx="86360" cy="2436495"/>
          </a:xfrm>
        </p:grpSpPr>
        <p:sp>
          <p:nvSpPr>
            <p:cNvPr id="32" name="object 32"/>
            <p:cNvSpPr/>
            <p:nvPr/>
          </p:nvSpPr>
          <p:spPr>
            <a:xfrm>
              <a:off x="10834983" y="1873663"/>
              <a:ext cx="76200" cy="274320"/>
            </a:xfrm>
            <a:custGeom>
              <a:avLst/>
              <a:gdLst/>
              <a:ahLst/>
              <a:cxnLst/>
              <a:rect l="l" t="t" r="r" b="b"/>
              <a:pathLst>
                <a:path w="76200" h="274319">
                  <a:moveTo>
                    <a:pt x="36395" y="76063"/>
                  </a:moveTo>
                  <a:lnTo>
                    <a:pt x="27613" y="85540"/>
                  </a:lnTo>
                  <a:lnTo>
                    <a:pt x="31797" y="265167"/>
                  </a:lnTo>
                  <a:lnTo>
                    <a:pt x="34096" y="269957"/>
                  </a:lnTo>
                  <a:lnTo>
                    <a:pt x="36395" y="271873"/>
                  </a:lnTo>
                  <a:lnTo>
                    <a:pt x="38885" y="274172"/>
                  </a:lnTo>
                  <a:lnTo>
                    <a:pt x="45972" y="274172"/>
                  </a:lnTo>
                  <a:lnTo>
                    <a:pt x="50187" y="271873"/>
                  </a:lnTo>
                  <a:lnTo>
                    <a:pt x="50187" y="269957"/>
                  </a:lnTo>
                  <a:lnTo>
                    <a:pt x="52677" y="265167"/>
                  </a:lnTo>
                  <a:lnTo>
                    <a:pt x="46308" y="85540"/>
                  </a:lnTo>
                  <a:lnTo>
                    <a:pt x="46302" y="85346"/>
                  </a:lnTo>
                  <a:lnTo>
                    <a:pt x="36395" y="76063"/>
                  </a:lnTo>
                  <a:close/>
                </a:path>
                <a:path w="76200" h="274319">
                  <a:moveTo>
                    <a:pt x="34096" y="0"/>
                  </a:moveTo>
                  <a:lnTo>
                    <a:pt x="0" y="115340"/>
                  </a:lnTo>
                  <a:lnTo>
                    <a:pt x="27613" y="85540"/>
                  </a:lnTo>
                  <a:lnTo>
                    <a:pt x="27392" y="76063"/>
                  </a:lnTo>
                  <a:lnTo>
                    <a:pt x="27392" y="71465"/>
                  </a:lnTo>
                  <a:lnTo>
                    <a:pt x="29882" y="68974"/>
                  </a:lnTo>
                  <a:lnTo>
                    <a:pt x="31797" y="67249"/>
                  </a:lnTo>
                  <a:lnTo>
                    <a:pt x="58939" y="67249"/>
                  </a:lnTo>
                  <a:lnTo>
                    <a:pt x="34096" y="0"/>
                  </a:lnTo>
                  <a:close/>
                </a:path>
                <a:path w="76200" h="274319">
                  <a:moveTo>
                    <a:pt x="58939" y="67249"/>
                  </a:moveTo>
                  <a:lnTo>
                    <a:pt x="41184" y="67249"/>
                  </a:lnTo>
                  <a:lnTo>
                    <a:pt x="43674" y="68974"/>
                  </a:lnTo>
                  <a:lnTo>
                    <a:pt x="45972" y="71465"/>
                  </a:lnTo>
                  <a:lnTo>
                    <a:pt x="45972" y="76063"/>
                  </a:lnTo>
                  <a:lnTo>
                    <a:pt x="46302" y="85346"/>
                  </a:lnTo>
                  <a:lnTo>
                    <a:pt x="75855" y="113041"/>
                  </a:lnTo>
                  <a:lnTo>
                    <a:pt x="58939" y="67249"/>
                  </a:lnTo>
                  <a:close/>
                </a:path>
                <a:path w="76200" h="274319">
                  <a:moveTo>
                    <a:pt x="41184" y="67249"/>
                  </a:moveTo>
                  <a:lnTo>
                    <a:pt x="31797" y="67249"/>
                  </a:lnTo>
                  <a:lnTo>
                    <a:pt x="29882" y="68974"/>
                  </a:lnTo>
                  <a:lnTo>
                    <a:pt x="27392" y="71465"/>
                  </a:lnTo>
                  <a:lnTo>
                    <a:pt x="27392" y="76063"/>
                  </a:lnTo>
                  <a:lnTo>
                    <a:pt x="27608" y="85346"/>
                  </a:lnTo>
                  <a:lnTo>
                    <a:pt x="27613" y="85540"/>
                  </a:lnTo>
                  <a:lnTo>
                    <a:pt x="36395" y="76063"/>
                  </a:lnTo>
                  <a:lnTo>
                    <a:pt x="45972" y="76063"/>
                  </a:lnTo>
                  <a:lnTo>
                    <a:pt x="45972" y="71465"/>
                  </a:lnTo>
                  <a:lnTo>
                    <a:pt x="43674" y="68974"/>
                  </a:lnTo>
                  <a:lnTo>
                    <a:pt x="41184" y="67249"/>
                  </a:lnTo>
                  <a:close/>
                </a:path>
                <a:path w="76200" h="274319">
                  <a:moveTo>
                    <a:pt x="45972" y="76063"/>
                  </a:moveTo>
                  <a:lnTo>
                    <a:pt x="36395" y="76063"/>
                  </a:lnTo>
                  <a:lnTo>
                    <a:pt x="46302" y="85346"/>
                  </a:lnTo>
                  <a:lnTo>
                    <a:pt x="45972" y="760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33642" y="1872322"/>
              <a:ext cx="78537" cy="27685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0827704" y="2599809"/>
              <a:ext cx="76200" cy="276860"/>
            </a:xfrm>
            <a:custGeom>
              <a:avLst/>
              <a:gdLst/>
              <a:ahLst/>
              <a:cxnLst/>
              <a:rect l="l" t="t" r="r" b="b"/>
              <a:pathLst>
                <a:path w="76200" h="276860">
                  <a:moveTo>
                    <a:pt x="37161" y="76063"/>
                  </a:moveTo>
                  <a:lnTo>
                    <a:pt x="27789" y="86452"/>
                  </a:lnTo>
                  <a:lnTo>
                    <a:pt x="32309" y="264593"/>
                  </a:lnTo>
                  <a:lnTo>
                    <a:pt x="32372" y="269382"/>
                  </a:lnTo>
                  <a:lnTo>
                    <a:pt x="34671" y="274172"/>
                  </a:lnTo>
                  <a:lnTo>
                    <a:pt x="39077" y="274172"/>
                  </a:lnTo>
                  <a:lnTo>
                    <a:pt x="41375" y="276471"/>
                  </a:lnTo>
                  <a:lnTo>
                    <a:pt x="46164" y="274172"/>
                  </a:lnTo>
                  <a:lnTo>
                    <a:pt x="48463" y="271682"/>
                  </a:lnTo>
                  <a:lnTo>
                    <a:pt x="50953" y="269382"/>
                  </a:lnTo>
                  <a:lnTo>
                    <a:pt x="50953" y="264593"/>
                  </a:lnTo>
                  <a:lnTo>
                    <a:pt x="46428" y="86452"/>
                  </a:lnTo>
                  <a:lnTo>
                    <a:pt x="46401" y="85396"/>
                  </a:lnTo>
                  <a:lnTo>
                    <a:pt x="37161" y="76063"/>
                  </a:lnTo>
                  <a:close/>
                </a:path>
                <a:path w="76200" h="276860">
                  <a:moveTo>
                    <a:pt x="34671" y="0"/>
                  </a:moveTo>
                  <a:lnTo>
                    <a:pt x="0" y="117256"/>
                  </a:lnTo>
                  <a:lnTo>
                    <a:pt x="27789" y="86452"/>
                  </a:lnTo>
                  <a:lnTo>
                    <a:pt x="27583" y="78362"/>
                  </a:lnTo>
                  <a:lnTo>
                    <a:pt x="27583" y="73764"/>
                  </a:lnTo>
                  <a:lnTo>
                    <a:pt x="32372" y="68974"/>
                  </a:lnTo>
                  <a:lnTo>
                    <a:pt x="37161" y="66675"/>
                  </a:lnTo>
                  <a:lnTo>
                    <a:pt x="58589" y="66675"/>
                  </a:lnTo>
                  <a:lnTo>
                    <a:pt x="34671" y="0"/>
                  </a:lnTo>
                  <a:close/>
                </a:path>
                <a:path w="76200" h="276860">
                  <a:moveTo>
                    <a:pt x="58589" y="66675"/>
                  </a:moveTo>
                  <a:lnTo>
                    <a:pt x="37161" y="66675"/>
                  </a:lnTo>
                  <a:lnTo>
                    <a:pt x="39077" y="68974"/>
                  </a:lnTo>
                  <a:lnTo>
                    <a:pt x="43674" y="68974"/>
                  </a:lnTo>
                  <a:lnTo>
                    <a:pt x="46164" y="73764"/>
                  </a:lnTo>
                  <a:lnTo>
                    <a:pt x="46222" y="78362"/>
                  </a:lnTo>
                  <a:lnTo>
                    <a:pt x="46401" y="85396"/>
                  </a:lnTo>
                  <a:lnTo>
                    <a:pt x="76046" y="115340"/>
                  </a:lnTo>
                  <a:lnTo>
                    <a:pt x="58589" y="66675"/>
                  </a:lnTo>
                  <a:close/>
                </a:path>
                <a:path w="76200" h="276860">
                  <a:moveTo>
                    <a:pt x="37161" y="66675"/>
                  </a:moveTo>
                  <a:lnTo>
                    <a:pt x="32372" y="68974"/>
                  </a:lnTo>
                  <a:lnTo>
                    <a:pt x="27583" y="73764"/>
                  </a:lnTo>
                  <a:lnTo>
                    <a:pt x="27583" y="78362"/>
                  </a:lnTo>
                  <a:lnTo>
                    <a:pt x="27762" y="85396"/>
                  </a:lnTo>
                  <a:lnTo>
                    <a:pt x="27789" y="86452"/>
                  </a:lnTo>
                  <a:lnTo>
                    <a:pt x="37161" y="76063"/>
                  </a:lnTo>
                  <a:lnTo>
                    <a:pt x="46164" y="76063"/>
                  </a:lnTo>
                  <a:lnTo>
                    <a:pt x="46164" y="73764"/>
                  </a:lnTo>
                  <a:lnTo>
                    <a:pt x="43674" y="68974"/>
                  </a:lnTo>
                  <a:lnTo>
                    <a:pt x="39077" y="68974"/>
                  </a:lnTo>
                  <a:lnTo>
                    <a:pt x="37161" y="66675"/>
                  </a:lnTo>
                  <a:close/>
                </a:path>
                <a:path w="76200" h="276860">
                  <a:moveTo>
                    <a:pt x="46164" y="76063"/>
                  </a:moveTo>
                  <a:lnTo>
                    <a:pt x="37161" y="76063"/>
                  </a:lnTo>
                  <a:lnTo>
                    <a:pt x="46401" y="85396"/>
                  </a:lnTo>
                  <a:lnTo>
                    <a:pt x="46222" y="78362"/>
                  </a:lnTo>
                  <a:lnTo>
                    <a:pt x="46164" y="760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26363" y="2598468"/>
              <a:ext cx="78728" cy="27915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0827705" y="3314076"/>
              <a:ext cx="76200" cy="274320"/>
            </a:xfrm>
            <a:custGeom>
              <a:avLst/>
              <a:gdLst/>
              <a:ahLst/>
              <a:cxnLst/>
              <a:rect l="l" t="t" r="r" b="b"/>
              <a:pathLst>
                <a:path w="76200" h="274320">
                  <a:moveTo>
                    <a:pt x="37161" y="76063"/>
                  </a:moveTo>
                  <a:lnTo>
                    <a:pt x="27833" y="85922"/>
                  </a:lnTo>
                  <a:lnTo>
                    <a:pt x="32372" y="265148"/>
                  </a:lnTo>
                  <a:lnTo>
                    <a:pt x="34671" y="269402"/>
                  </a:lnTo>
                  <a:lnTo>
                    <a:pt x="37161" y="271758"/>
                  </a:lnTo>
                  <a:lnTo>
                    <a:pt x="39077" y="274115"/>
                  </a:lnTo>
                  <a:lnTo>
                    <a:pt x="46164" y="274115"/>
                  </a:lnTo>
                  <a:lnTo>
                    <a:pt x="50953" y="271758"/>
                  </a:lnTo>
                  <a:lnTo>
                    <a:pt x="53252" y="269402"/>
                  </a:lnTo>
                  <a:lnTo>
                    <a:pt x="53252" y="265148"/>
                  </a:lnTo>
                  <a:lnTo>
                    <a:pt x="46534" y="85922"/>
                  </a:lnTo>
                  <a:lnTo>
                    <a:pt x="46495" y="84893"/>
                  </a:lnTo>
                  <a:lnTo>
                    <a:pt x="37161" y="76063"/>
                  </a:lnTo>
                  <a:close/>
                </a:path>
                <a:path w="76200" h="274320">
                  <a:moveTo>
                    <a:pt x="34671" y="0"/>
                  </a:moveTo>
                  <a:lnTo>
                    <a:pt x="0" y="115340"/>
                  </a:lnTo>
                  <a:lnTo>
                    <a:pt x="27833" y="85922"/>
                  </a:lnTo>
                  <a:lnTo>
                    <a:pt x="27583" y="76063"/>
                  </a:lnTo>
                  <a:lnTo>
                    <a:pt x="27583" y="71273"/>
                  </a:lnTo>
                  <a:lnTo>
                    <a:pt x="30073" y="68974"/>
                  </a:lnTo>
                  <a:lnTo>
                    <a:pt x="34671" y="66675"/>
                  </a:lnTo>
                  <a:lnTo>
                    <a:pt x="59117" y="66675"/>
                  </a:lnTo>
                  <a:lnTo>
                    <a:pt x="34671" y="0"/>
                  </a:lnTo>
                  <a:close/>
                </a:path>
                <a:path w="76200" h="274320">
                  <a:moveTo>
                    <a:pt x="59117" y="66675"/>
                  </a:moveTo>
                  <a:lnTo>
                    <a:pt x="41375" y="66675"/>
                  </a:lnTo>
                  <a:lnTo>
                    <a:pt x="43674" y="68974"/>
                  </a:lnTo>
                  <a:lnTo>
                    <a:pt x="46164" y="71273"/>
                  </a:lnTo>
                  <a:lnTo>
                    <a:pt x="46164" y="76063"/>
                  </a:lnTo>
                  <a:lnTo>
                    <a:pt x="46495" y="84893"/>
                  </a:lnTo>
                  <a:lnTo>
                    <a:pt x="76046" y="112849"/>
                  </a:lnTo>
                  <a:lnTo>
                    <a:pt x="59117" y="66675"/>
                  </a:lnTo>
                  <a:close/>
                </a:path>
                <a:path w="76200" h="274320">
                  <a:moveTo>
                    <a:pt x="41375" y="66675"/>
                  </a:moveTo>
                  <a:lnTo>
                    <a:pt x="34671" y="66675"/>
                  </a:lnTo>
                  <a:lnTo>
                    <a:pt x="30073" y="68974"/>
                  </a:lnTo>
                  <a:lnTo>
                    <a:pt x="27583" y="71273"/>
                  </a:lnTo>
                  <a:lnTo>
                    <a:pt x="27583" y="76063"/>
                  </a:lnTo>
                  <a:lnTo>
                    <a:pt x="27807" y="84893"/>
                  </a:lnTo>
                  <a:lnTo>
                    <a:pt x="27833" y="85922"/>
                  </a:lnTo>
                  <a:lnTo>
                    <a:pt x="37161" y="76063"/>
                  </a:lnTo>
                  <a:lnTo>
                    <a:pt x="46164" y="76063"/>
                  </a:lnTo>
                  <a:lnTo>
                    <a:pt x="46164" y="71273"/>
                  </a:lnTo>
                  <a:lnTo>
                    <a:pt x="43674" y="68974"/>
                  </a:lnTo>
                  <a:lnTo>
                    <a:pt x="41375" y="66675"/>
                  </a:lnTo>
                  <a:close/>
                </a:path>
                <a:path w="76200" h="274320">
                  <a:moveTo>
                    <a:pt x="46164" y="76063"/>
                  </a:moveTo>
                  <a:lnTo>
                    <a:pt x="37161" y="76063"/>
                  </a:lnTo>
                  <a:lnTo>
                    <a:pt x="46495" y="84893"/>
                  </a:lnTo>
                  <a:lnTo>
                    <a:pt x="46164" y="760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6364" y="3312735"/>
              <a:ext cx="78728" cy="27679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0827705" y="4033017"/>
              <a:ext cx="76200" cy="274320"/>
            </a:xfrm>
            <a:custGeom>
              <a:avLst/>
              <a:gdLst/>
              <a:ahLst/>
              <a:cxnLst/>
              <a:rect l="l" t="t" r="r" b="b"/>
              <a:pathLst>
                <a:path w="76200" h="274320">
                  <a:moveTo>
                    <a:pt x="37161" y="76101"/>
                  </a:moveTo>
                  <a:lnTo>
                    <a:pt x="27833" y="85950"/>
                  </a:lnTo>
                  <a:lnTo>
                    <a:pt x="32372" y="264707"/>
                  </a:lnTo>
                  <a:lnTo>
                    <a:pt x="34671" y="269440"/>
                  </a:lnTo>
                  <a:lnTo>
                    <a:pt x="37161" y="271796"/>
                  </a:lnTo>
                  <a:lnTo>
                    <a:pt x="39077" y="274153"/>
                  </a:lnTo>
                  <a:lnTo>
                    <a:pt x="46164" y="274153"/>
                  </a:lnTo>
                  <a:lnTo>
                    <a:pt x="50953" y="271796"/>
                  </a:lnTo>
                  <a:lnTo>
                    <a:pt x="53252" y="269440"/>
                  </a:lnTo>
                  <a:lnTo>
                    <a:pt x="53252" y="264707"/>
                  </a:lnTo>
                  <a:lnTo>
                    <a:pt x="46534" y="85950"/>
                  </a:lnTo>
                  <a:lnTo>
                    <a:pt x="46497" y="84951"/>
                  </a:lnTo>
                  <a:lnTo>
                    <a:pt x="37161" y="76101"/>
                  </a:lnTo>
                  <a:close/>
                </a:path>
                <a:path w="76200" h="274320">
                  <a:moveTo>
                    <a:pt x="34671" y="0"/>
                  </a:moveTo>
                  <a:lnTo>
                    <a:pt x="0" y="115340"/>
                  </a:lnTo>
                  <a:lnTo>
                    <a:pt x="27833" y="85950"/>
                  </a:lnTo>
                  <a:lnTo>
                    <a:pt x="27583" y="76101"/>
                  </a:lnTo>
                  <a:lnTo>
                    <a:pt x="27583" y="73745"/>
                  </a:lnTo>
                  <a:lnTo>
                    <a:pt x="30073" y="69012"/>
                  </a:lnTo>
                  <a:lnTo>
                    <a:pt x="34671" y="66636"/>
                  </a:lnTo>
                  <a:lnTo>
                    <a:pt x="59078" y="66636"/>
                  </a:lnTo>
                  <a:lnTo>
                    <a:pt x="34671" y="0"/>
                  </a:lnTo>
                  <a:close/>
                </a:path>
                <a:path w="76200" h="274320">
                  <a:moveTo>
                    <a:pt x="59078" y="66636"/>
                  </a:moveTo>
                  <a:lnTo>
                    <a:pt x="41375" y="66636"/>
                  </a:lnTo>
                  <a:lnTo>
                    <a:pt x="43674" y="69012"/>
                  </a:lnTo>
                  <a:lnTo>
                    <a:pt x="46164" y="71369"/>
                  </a:lnTo>
                  <a:lnTo>
                    <a:pt x="46164" y="76101"/>
                  </a:lnTo>
                  <a:lnTo>
                    <a:pt x="46497" y="84951"/>
                  </a:lnTo>
                  <a:lnTo>
                    <a:pt x="76046" y="112964"/>
                  </a:lnTo>
                  <a:lnTo>
                    <a:pt x="59078" y="66636"/>
                  </a:lnTo>
                  <a:close/>
                </a:path>
                <a:path w="76200" h="274320">
                  <a:moveTo>
                    <a:pt x="41375" y="66636"/>
                  </a:moveTo>
                  <a:lnTo>
                    <a:pt x="34671" y="66636"/>
                  </a:lnTo>
                  <a:lnTo>
                    <a:pt x="30073" y="69012"/>
                  </a:lnTo>
                  <a:lnTo>
                    <a:pt x="27583" y="73745"/>
                  </a:lnTo>
                  <a:lnTo>
                    <a:pt x="27583" y="76101"/>
                  </a:lnTo>
                  <a:lnTo>
                    <a:pt x="27808" y="84951"/>
                  </a:lnTo>
                  <a:lnTo>
                    <a:pt x="27833" y="85950"/>
                  </a:lnTo>
                  <a:lnTo>
                    <a:pt x="37161" y="76101"/>
                  </a:lnTo>
                  <a:lnTo>
                    <a:pt x="46164" y="76101"/>
                  </a:lnTo>
                  <a:lnTo>
                    <a:pt x="46164" y="71369"/>
                  </a:lnTo>
                  <a:lnTo>
                    <a:pt x="43674" y="69012"/>
                  </a:lnTo>
                  <a:lnTo>
                    <a:pt x="41375" y="66636"/>
                  </a:lnTo>
                  <a:close/>
                </a:path>
                <a:path w="76200" h="274320">
                  <a:moveTo>
                    <a:pt x="46164" y="76101"/>
                  </a:moveTo>
                  <a:lnTo>
                    <a:pt x="37161" y="76101"/>
                  </a:lnTo>
                  <a:lnTo>
                    <a:pt x="46497" y="84951"/>
                  </a:lnTo>
                  <a:lnTo>
                    <a:pt x="46164" y="761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26364" y="4031676"/>
              <a:ext cx="78728" cy="276835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0531313" y="4910662"/>
            <a:ext cx="67500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dirty="0">
                <a:solidFill>
                  <a:srgbClr val="FF0000"/>
                </a:solidFill>
                <a:latin typeface="宋体"/>
                <a:cs typeface="宋体"/>
              </a:rPr>
              <a:t>A</a:t>
            </a:r>
            <a:r>
              <a:rPr sz="1350" b="1" spc="-95" dirty="0">
                <a:solidFill>
                  <a:srgbClr val="FF0000"/>
                </a:solidFill>
                <a:latin typeface="宋体"/>
                <a:cs typeface="宋体"/>
              </a:rPr>
              <a:t> 宿主机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77368" y="2082740"/>
            <a:ext cx="2022475" cy="463550"/>
            <a:chOff x="6877368" y="2082740"/>
            <a:chExt cx="2022475" cy="463550"/>
          </a:xfrm>
        </p:grpSpPr>
        <p:sp>
          <p:nvSpPr>
            <p:cNvPr id="42" name="object 42"/>
            <p:cNvSpPr/>
            <p:nvPr/>
          </p:nvSpPr>
          <p:spPr>
            <a:xfrm>
              <a:off x="6884353" y="2089725"/>
              <a:ext cx="2008505" cy="449580"/>
            </a:xfrm>
            <a:custGeom>
              <a:avLst/>
              <a:gdLst/>
              <a:ahLst/>
              <a:cxnLst/>
              <a:rect l="l" t="t" r="r" b="b"/>
              <a:pathLst>
                <a:path w="2008504" h="449580">
                  <a:moveTo>
                    <a:pt x="2008444" y="0"/>
                  </a:moveTo>
                  <a:lnTo>
                    <a:pt x="0" y="0"/>
                  </a:lnTo>
                  <a:lnTo>
                    <a:pt x="0" y="449539"/>
                  </a:lnTo>
                  <a:lnTo>
                    <a:pt x="2008444" y="449539"/>
                  </a:lnTo>
                  <a:lnTo>
                    <a:pt x="2008444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84353" y="2089725"/>
              <a:ext cx="2008505" cy="449580"/>
            </a:xfrm>
            <a:custGeom>
              <a:avLst/>
              <a:gdLst/>
              <a:ahLst/>
              <a:cxnLst/>
              <a:rect l="l" t="t" r="r" b="b"/>
              <a:pathLst>
                <a:path w="2008504" h="449580">
                  <a:moveTo>
                    <a:pt x="0" y="449539"/>
                  </a:moveTo>
                  <a:lnTo>
                    <a:pt x="2008444" y="449539"/>
                  </a:lnTo>
                  <a:lnTo>
                    <a:pt x="2008444" y="0"/>
                  </a:lnTo>
                  <a:lnTo>
                    <a:pt x="0" y="0"/>
                  </a:lnTo>
                  <a:lnTo>
                    <a:pt x="0" y="449539"/>
                  </a:lnTo>
                  <a:close/>
                </a:path>
              </a:pathLst>
            </a:custGeom>
            <a:ln w="13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884353" y="2089724"/>
            <a:ext cx="2008505" cy="44958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98145">
              <a:lnSpc>
                <a:spcPct val="100000"/>
              </a:lnSpc>
              <a:spcBef>
                <a:spcPts val="919"/>
              </a:spcBef>
            </a:pPr>
            <a:r>
              <a:rPr sz="1350" b="1" spc="-10" dirty="0">
                <a:latin typeface="宋体"/>
                <a:cs typeface="宋体"/>
              </a:rPr>
              <a:t>操作系统虚拟机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880856" y="1810436"/>
            <a:ext cx="78740" cy="1021080"/>
            <a:chOff x="7880856" y="1810436"/>
            <a:chExt cx="78740" cy="1021080"/>
          </a:xfrm>
        </p:grpSpPr>
        <p:sp>
          <p:nvSpPr>
            <p:cNvPr id="46" name="object 46"/>
            <p:cNvSpPr/>
            <p:nvPr/>
          </p:nvSpPr>
          <p:spPr>
            <a:xfrm>
              <a:off x="7882197" y="1811778"/>
              <a:ext cx="76200" cy="276860"/>
            </a:xfrm>
            <a:custGeom>
              <a:avLst/>
              <a:gdLst/>
              <a:ahLst/>
              <a:cxnLst/>
              <a:rect l="l" t="t" r="r" b="b"/>
              <a:pathLst>
                <a:path w="76200" h="276860">
                  <a:moveTo>
                    <a:pt x="37008" y="77979"/>
                  </a:moveTo>
                  <a:lnTo>
                    <a:pt x="27753" y="87800"/>
                  </a:lnTo>
                  <a:lnTo>
                    <a:pt x="32257" y="267083"/>
                  </a:lnTo>
                  <a:lnTo>
                    <a:pt x="32257" y="271873"/>
                  </a:lnTo>
                  <a:lnTo>
                    <a:pt x="34632" y="274172"/>
                  </a:lnTo>
                  <a:lnTo>
                    <a:pt x="39383" y="276471"/>
                  </a:lnTo>
                  <a:lnTo>
                    <a:pt x="46011" y="276471"/>
                  </a:lnTo>
                  <a:lnTo>
                    <a:pt x="48386" y="274172"/>
                  </a:lnTo>
                  <a:lnTo>
                    <a:pt x="50761" y="269382"/>
                  </a:lnTo>
                  <a:lnTo>
                    <a:pt x="50761" y="267083"/>
                  </a:lnTo>
                  <a:lnTo>
                    <a:pt x="46258" y="87800"/>
                  </a:lnTo>
                  <a:lnTo>
                    <a:pt x="46231" y="86745"/>
                  </a:lnTo>
                  <a:lnTo>
                    <a:pt x="37008" y="77979"/>
                  </a:lnTo>
                  <a:close/>
                </a:path>
                <a:path w="76200" h="276860">
                  <a:moveTo>
                    <a:pt x="34632" y="0"/>
                  </a:moveTo>
                  <a:lnTo>
                    <a:pt x="0" y="117256"/>
                  </a:lnTo>
                  <a:lnTo>
                    <a:pt x="27753" y="87800"/>
                  </a:lnTo>
                  <a:lnTo>
                    <a:pt x="27507" y="77979"/>
                  </a:lnTo>
                  <a:lnTo>
                    <a:pt x="27507" y="73764"/>
                  </a:lnTo>
                  <a:lnTo>
                    <a:pt x="29882" y="71465"/>
                  </a:lnTo>
                  <a:lnTo>
                    <a:pt x="32257" y="68974"/>
                  </a:lnTo>
                  <a:lnTo>
                    <a:pt x="59400" y="68974"/>
                  </a:lnTo>
                  <a:lnTo>
                    <a:pt x="34632" y="0"/>
                  </a:lnTo>
                  <a:close/>
                </a:path>
                <a:path w="76200" h="276860">
                  <a:moveTo>
                    <a:pt x="59400" y="68974"/>
                  </a:moveTo>
                  <a:lnTo>
                    <a:pt x="39383" y="68974"/>
                  </a:lnTo>
                  <a:lnTo>
                    <a:pt x="43636" y="71465"/>
                  </a:lnTo>
                  <a:lnTo>
                    <a:pt x="43636" y="73764"/>
                  </a:lnTo>
                  <a:lnTo>
                    <a:pt x="46011" y="77979"/>
                  </a:lnTo>
                  <a:lnTo>
                    <a:pt x="46231" y="86745"/>
                  </a:lnTo>
                  <a:lnTo>
                    <a:pt x="75912" y="114957"/>
                  </a:lnTo>
                  <a:lnTo>
                    <a:pt x="59400" y="68974"/>
                  </a:lnTo>
                  <a:close/>
                </a:path>
                <a:path w="76200" h="276860">
                  <a:moveTo>
                    <a:pt x="39383" y="68974"/>
                  </a:moveTo>
                  <a:lnTo>
                    <a:pt x="32257" y="68974"/>
                  </a:lnTo>
                  <a:lnTo>
                    <a:pt x="29882" y="71465"/>
                  </a:lnTo>
                  <a:lnTo>
                    <a:pt x="27507" y="73764"/>
                  </a:lnTo>
                  <a:lnTo>
                    <a:pt x="27507" y="77979"/>
                  </a:lnTo>
                  <a:lnTo>
                    <a:pt x="27727" y="86745"/>
                  </a:lnTo>
                  <a:lnTo>
                    <a:pt x="27753" y="87800"/>
                  </a:lnTo>
                  <a:lnTo>
                    <a:pt x="37008" y="77979"/>
                  </a:lnTo>
                  <a:lnTo>
                    <a:pt x="46011" y="77979"/>
                  </a:lnTo>
                  <a:lnTo>
                    <a:pt x="43636" y="73764"/>
                  </a:lnTo>
                  <a:lnTo>
                    <a:pt x="43636" y="71465"/>
                  </a:lnTo>
                  <a:lnTo>
                    <a:pt x="39383" y="68974"/>
                  </a:lnTo>
                  <a:close/>
                </a:path>
                <a:path w="76200" h="276860">
                  <a:moveTo>
                    <a:pt x="46011" y="77979"/>
                  </a:moveTo>
                  <a:lnTo>
                    <a:pt x="37008" y="77979"/>
                  </a:lnTo>
                  <a:lnTo>
                    <a:pt x="46231" y="86745"/>
                  </a:lnTo>
                  <a:lnTo>
                    <a:pt x="46011" y="779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80856" y="1810436"/>
              <a:ext cx="78594" cy="27915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882197" y="2553443"/>
              <a:ext cx="76200" cy="276860"/>
            </a:xfrm>
            <a:custGeom>
              <a:avLst/>
              <a:gdLst/>
              <a:ahLst/>
              <a:cxnLst/>
              <a:rect l="l" t="t" r="r" b="b"/>
              <a:pathLst>
                <a:path w="76200" h="276860">
                  <a:moveTo>
                    <a:pt x="37008" y="76063"/>
                  </a:moveTo>
                  <a:lnTo>
                    <a:pt x="27707" y="86512"/>
                  </a:lnTo>
                  <a:lnTo>
                    <a:pt x="32199" y="265167"/>
                  </a:lnTo>
                  <a:lnTo>
                    <a:pt x="32257" y="269957"/>
                  </a:lnTo>
                  <a:lnTo>
                    <a:pt x="34632" y="274172"/>
                  </a:lnTo>
                  <a:lnTo>
                    <a:pt x="39383" y="274172"/>
                  </a:lnTo>
                  <a:lnTo>
                    <a:pt x="41739" y="276471"/>
                  </a:lnTo>
                  <a:lnTo>
                    <a:pt x="46011" y="274172"/>
                  </a:lnTo>
                  <a:lnTo>
                    <a:pt x="48386" y="272256"/>
                  </a:lnTo>
                  <a:lnTo>
                    <a:pt x="50761" y="269957"/>
                  </a:lnTo>
                  <a:lnTo>
                    <a:pt x="50761" y="265167"/>
                  </a:lnTo>
                  <a:lnTo>
                    <a:pt x="46273" y="86512"/>
                  </a:lnTo>
                  <a:lnTo>
                    <a:pt x="46245" y="85389"/>
                  </a:lnTo>
                  <a:lnTo>
                    <a:pt x="37008" y="76063"/>
                  </a:lnTo>
                  <a:close/>
                </a:path>
                <a:path w="76200" h="276860">
                  <a:moveTo>
                    <a:pt x="34632" y="0"/>
                  </a:moveTo>
                  <a:lnTo>
                    <a:pt x="0" y="117639"/>
                  </a:lnTo>
                  <a:lnTo>
                    <a:pt x="27707" y="86512"/>
                  </a:lnTo>
                  <a:lnTo>
                    <a:pt x="27507" y="78554"/>
                  </a:lnTo>
                  <a:lnTo>
                    <a:pt x="27507" y="73764"/>
                  </a:lnTo>
                  <a:lnTo>
                    <a:pt x="29882" y="71465"/>
                  </a:lnTo>
                  <a:lnTo>
                    <a:pt x="32257" y="69549"/>
                  </a:lnTo>
                  <a:lnTo>
                    <a:pt x="37008" y="67058"/>
                  </a:lnTo>
                  <a:lnTo>
                    <a:pt x="58632" y="67058"/>
                  </a:lnTo>
                  <a:lnTo>
                    <a:pt x="34632" y="0"/>
                  </a:lnTo>
                  <a:close/>
                </a:path>
                <a:path w="76200" h="276860">
                  <a:moveTo>
                    <a:pt x="58632" y="67058"/>
                  </a:moveTo>
                  <a:lnTo>
                    <a:pt x="37008" y="67058"/>
                  </a:lnTo>
                  <a:lnTo>
                    <a:pt x="39383" y="69549"/>
                  </a:lnTo>
                  <a:lnTo>
                    <a:pt x="43636" y="69549"/>
                  </a:lnTo>
                  <a:lnTo>
                    <a:pt x="43636" y="73764"/>
                  </a:lnTo>
                  <a:lnTo>
                    <a:pt x="46011" y="76063"/>
                  </a:lnTo>
                  <a:lnTo>
                    <a:pt x="46245" y="85389"/>
                  </a:lnTo>
                  <a:lnTo>
                    <a:pt x="75912" y="115340"/>
                  </a:lnTo>
                  <a:lnTo>
                    <a:pt x="58632" y="67058"/>
                  </a:lnTo>
                  <a:close/>
                </a:path>
                <a:path w="76200" h="276860">
                  <a:moveTo>
                    <a:pt x="37008" y="67058"/>
                  </a:moveTo>
                  <a:lnTo>
                    <a:pt x="32257" y="69549"/>
                  </a:lnTo>
                  <a:lnTo>
                    <a:pt x="29882" y="71465"/>
                  </a:lnTo>
                  <a:lnTo>
                    <a:pt x="27507" y="73764"/>
                  </a:lnTo>
                  <a:lnTo>
                    <a:pt x="27507" y="78554"/>
                  </a:lnTo>
                  <a:lnTo>
                    <a:pt x="27679" y="85389"/>
                  </a:lnTo>
                  <a:lnTo>
                    <a:pt x="27707" y="86512"/>
                  </a:lnTo>
                  <a:lnTo>
                    <a:pt x="37008" y="76063"/>
                  </a:lnTo>
                  <a:lnTo>
                    <a:pt x="46011" y="76063"/>
                  </a:lnTo>
                  <a:lnTo>
                    <a:pt x="43636" y="73764"/>
                  </a:lnTo>
                  <a:lnTo>
                    <a:pt x="43636" y="69549"/>
                  </a:lnTo>
                  <a:lnTo>
                    <a:pt x="39383" y="69549"/>
                  </a:lnTo>
                  <a:lnTo>
                    <a:pt x="37008" y="67058"/>
                  </a:lnTo>
                  <a:close/>
                </a:path>
                <a:path w="76200" h="276860">
                  <a:moveTo>
                    <a:pt x="46011" y="76063"/>
                  </a:moveTo>
                  <a:lnTo>
                    <a:pt x="37008" y="76063"/>
                  </a:lnTo>
                  <a:lnTo>
                    <a:pt x="46245" y="85389"/>
                  </a:lnTo>
                  <a:lnTo>
                    <a:pt x="46073" y="78554"/>
                  </a:lnTo>
                  <a:lnTo>
                    <a:pt x="46011" y="760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80856" y="2552102"/>
              <a:ext cx="78594" cy="279153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574350" y="3574343"/>
            <a:ext cx="67500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dirty="0">
                <a:solidFill>
                  <a:srgbClr val="FF0000"/>
                </a:solidFill>
                <a:latin typeface="宋体"/>
                <a:cs typeface="宋体"/>
              </a:rPr>
              <a:t>B</a:t>
            </a:r>
            <a:r>
              <a:rPr sz="1350" b="1" spc="-95" dirty="0">
                <a:solidFill>
                  <a:srgbClr val="FF0000"/>
                </a:solidFill>
                <a:latin typeface="宋体"/>
                <a:cs typeface="宋体"/>
              </a:rPr>
              <a:t> 虚拟机</a:t>
            </a:r>
            <a:endParaRPr sz="1350">
              <a:latin typeface="宋体"/>
              <a:cs typeface="宋体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708867" y="1247913"/>
            <a:ext cx="5304790" cy="4040504"/>
            <a:chOff x="6708867" y="1247913"/>
            <a:chExt cx="5304790" cy="4040504"/>
          </a:xfrm>
        </p:grpSpPr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83212" y="3262153"/>
              <a:ext cx="78613" cy="22150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890901" y="2274480"/>
              <a:ext cx="633730" cy="78740"/>
            </a:xfrm>
            <a:custGeom>
              <a:avLst/>
              <a:gdLst/>
              <a:ahLst/>
              <a:cxnLst/>
              <a:rect l="l" t="t" r="r" b="b"/>
              <a:pathLst>
                <a:path w="633729" h="78739">
                  <a:moveTo>
                    <a:pt x="115315" y="0"/>
                  </a:moveTo>
                  <a:lnTo>
                    <a:pt x="0" y="39277"/>
                  </a:lnTo>
                  <a:lnTo>
                    <a:pt x="115315" y="78554"/>
                  </a:lnTo>
                  <a:lnTo>
                    <a:pt x="85624" y="48856"/>
                  </a:lnTo>
                  <a:lnTo>
                    <a:pt x="71641" y="48856"/>
                  </a:lnTo>
                  <a:lnTo>
                    <a:pt x="69342" y="46366"/>
                  </a:lnTo>
                  <a:lnTo>
                    <a:pt x="66852" y="44066"/>
                  </a:lnTo>
                  <a:lnTo>
                    <a:pt x="66852" y="35061"/>
                  </a:lnTo>
                  <a:lnTo>
                    <a:pt x="69342" y="32762"/>
                  </a:lnTo>
                  <a:lnTo>
                    <a:pt x="71641" y="30272"/>
                  </a:lnTo>
                  <a:lnTo>
                    <a:pt x="85049" y="30272"/>
                  </a:lnTo>
                  <a:lnTo>
                    <a:pt x="115315" y="0"/>
                  </a:lnTo>
                  <a:close/>
                </a:path>
                <a:path w="633729" h="78739">
                  <a:moveTo>
                    <a:pt x="85049" y="30272"/>
                  </a:moveTo>
                  <a:lnTo>
                    <a:pt x="71641" y="30272"/>
                  </a:lnTo>
                  <a:lnTo>
                    <a:pt x="69342" y="32762"/>
                  </a:lnTo>
                  <a:lnTo>
                    <a:pt x="66852" y="35061"/>
                  </a:lnTo>
                  <a:lnTo>
                    <a:pt x="66852" y="44066"/>
                  </a:lnTo>
                  <a:lnTo>
                    <a:pt x="69342" y="46366"/>
                  </a:lnTo>
                  <a:lnTo>
                    <a:pt x="71641" y="48856"/>
                  </a:lnTo>
                  <a:lnTo>
                    <a:pt x="85624" y="48856"/>
                  </a:lnTo>
                  <a:lnTo>
                    <a:pt x="76046" y="39277"/>
                  </a:lnTo>
                  <a:lnTo>
                    <a:pt x="85049" y="30272"/>
                  </a:lnTo>
                  <a:close/>
                </a:path>
                <a:path w="633729" h="78739">
                  <a:moveTo>
                    <a:pt x="628680" y="30272"/>
                  </a:moveTo>
                  <a:lnTo>
                    <a:pt x="85049" y="30272"/>
                  </a:lnTo>
                  <a:lnTo>
                    <a:pt x="76046" y="39277"/>
                  </a:lnTo>
                  <a:lnTo>
                    <a:pt x="85624" y="48856"/>
                  </a:lnTo>
                  <a:lnTo>
                    <a:pt x="628680" y="48856"/>
                  </a:lnTo>
                  <a:lnTo>
                    <a:pt x="633469" y="44066"/>
                  </a:lnTo>
                  <a:lnTo>
                    <a:pt x="633469" y="35061"/>
                  </a:lnTo>
                  <a:lnTo>
                    <a:pt x="628680" y="30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890901" y="2274480"/>
              <a:ext cx="633730" cy="78740"/>
            </a:xfrm>
            <a:custGeom>
              <a:avLst/>
              <a:gdLst/>
              <a:ahLst/>
              <a:cxnLst/>
              <a:rect l="l" t="t" r="r" b="b"/>
              <a:pathLst>
                <a:path w="633729" h="78739">
                  <a:moveTo>
                    <a:pt x="624083" y="48856"/>
                  </a:moveTo>
                  <a:lnTo>
                    <a:pt x="76046" y="48856"/>
                  </a:lnTo>
                  <a:lnTo>
                    <a:pt x="71641" y="48856"/>
                  </a:lnTo>
                  <a:lnTo>
                    <a:pt x="69342" y="46366"/>
                  </a:lnTo>
                  <a:lnTo>
                    <a:pt x="66852" y="44066"/>
                  </a:lnTo>
                  <a:lnTo>
                    <a:pt x="66852" y="39277"/>
                  </a:lnTo>
                  <a:lnTo>
                    <a:pt x="66852" y="35061"/>
                  </a:lnTo>
                  <a:lnTo>
                    <a:pt x="69342" y="32762"/>
                  </a:lnTo>
                  <a:lnTo>
                    <a:pt x="71641" y="30272"/>
                  </a:lnTo>
                  <a:lnTo>
                    <a:pt x="76046" y="30272"/>
                  </a:lnTo>
                  <a:lnTo>
                    <a:pt x="624083" y="30272"/>
                  </a:lnTo>
                  <a:lnTo>
                    <a:pt x="628680" y="30272"/>
                  </a:lnTo>
                  <a:lnTo>
                    <a:pt x="631170" y="32762"/>
                  </a:lnTo>
                  <a:lnTo>
                    <a:pt x="633469" y="35061"/>
                  </a:lnTo>
                  <a:lnTo>
                    <a:pt x="633469" y="39277"/>
                  </a:lnTo>
                  <a:lnTo>
                    <a:pt x="633469" y="44066"/>
                  </a:lnTo>
                  <a:lnTo>
                    <a:pt x="631170" y="46366"/>
                  </a:lnTo>
                  <a:lnTo>
                    <a:pt x="628680" y="48856"/>
                  </a:lnTo>
                  <a:lnTo>
                    <a:pt x="624083" y="48856"/>
                  </a:lnTo>
                  <a:close/>
                </a:path>
                <a:path w="633729" h="78739">
                  <a:moveTo>
                    <a:pt x="76046" y="39277"/>
                  </a:moveTo>
                  <a:lnTo>
                    <a:pt x="115315" y="78554"/>
                  </a:lnTo>
                  <a:lnTo>
                    <a:pt x="0" y="39277"/>
                  </a:lnTo>
                  <a:lnTo>
                    <a:pt x="115315" y="0"/>
                  </a:lnTo>
                  <a:lnTo>
                    <a:pt x="76046" y="3927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922998" y="2310883"/>
              <a:ext cx="2943225" cy="1159510"/>
            </a:xfrm>
            <a:custGeom>
              <a:avLst/>
              <a:gdLst/>
              <a:ahLst/>
              <a:cxnLst/>
              <a:rect l="l" t="t" r="r" b="b"/>
              <a:pathLst>
                <a:path w="2943225" h="1159510">
                  <a:moveTo>
                    <a:pt x="1589113" y="0"/>
                  </a:moveTo>
                  <a:lnTo>
                    <a:pt x="1589113" y="769638"/>
                  </a:lnTo>
                </a:path>
                <a:path w="2943225" h="1159510">
                  <a:moveTo>
                    <a:pt x="1587197" y="776727"/>
                  </a:moveTo>
                  <a:lnTo>
                    <a:pt x="1897898" y="776727"/>
                  </a:lnTo>
                </a:path>
                <a:path w="2943225" h="1159510">
                  <a:moveTo>
                    <a:pt x="0" y="1159131"/>
                  </a:moveTo>
                  <a:lnTo>
                    <a:pt x="2943208" y="1159131"/>
                  </a:lnTo>
                </a:path>
              </a:pathLst>
            </a:custGeom>
            <a:ln w="1376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839477" y="3582999"/>
              <a:ext cx="1991995" cy="449580"/>
            </a:xfrm>
            <a:custGeom>
              <a:avLst/>
              <a:gdLst/>
              <a:ahLst/>
              <a:cxnLst/>
              <a:rect l="l" t="t" r="r" b="b"/>
              <a:pathLst>
                <a:path w="1991995" h="449579">
                  <a:moveTo>
                    <a:pt x="1991970" y="0"/>
                  </a:moveTo>
                  <a:lnTo>
                    <a:pt x="0" y="0"/>
                  </a:lnTo>
                  <a:lnTo>
                    <a:pt x="0" y="449539"/>
                  </a:lnTo>
                  <a:lnTo>
                    <a:pt x="1991970" y="449539"/>
                  </a:lnTo>
                  <a:lnTo>
                    <a:pt x="199197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839477" y="3582999"/>
              <a:ext cx="1991995" cy="449580"/>
            </a:xfrm>
            <a:custGeom>
              <a:avLst/>
              <a:gdLst/>
              <a:ahLst/>
              <a:cxnLst/>
              <a:rect l="l" t="t" r="r" b="b"/>
              <a:pathLst>
                <a:path w="1991995" h="449579">
                  <a:moveTo>
                    <a:pt x="0" y="449539"/>
                  </a:moveTo>
                  <a:lnTo>
                    <a:pt x="1991970" y="449539"/>
                  </a:lnTo>
                  <a:lnTo>
                    <a:pt x="1991970" y="0"/>
                  </a:lnTo>
                  <a:lnTo>
                    <a:pt x="0" y="0"/>
                  </a:lnTo>
                  <a:lnTo>
                    <a:pt x="0" y="449539"/>
                  </a:lnTo>
                  <a:close/>
                </a:path>
              </a:pathLst>
            </a:custGeom>
            <a:ln w="13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896211" y="2824875"/>
              <a:ext cx="1999614" cy="449580"/>
            </a:xfrm>
            <a:custGeom>
              <a:avLst/>
              <a:gdLst/>
              <a:ahLst/>
              <a:cxnLst/>
              <a:rect l="l" t="t" r="r" b="b"/>
              <a:pathLst>
                <a:path w="1999615" h="449579">
                  <a:moveTo>
                    <a:pt x="1999058" y="0"/>
                  </a:moveTo>
                  <a:lnTo>
                    <a:pt x="0" y="0"/>
                  </a:lnTo>
                  <a:lnTo>
                    <a:pt x="0" y="449539"/>
                  </a:lnTo>
                  <a:lnTo>
                    <a:pt x="1999058" y="449539"/>
                  </a:lnTo>
                  <a:lnTo>
                    <a:pt x="1999058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896211" y="2824875"/>
              <a:ext cx="1999614" cy="449580"/>
            </a:xfrm>
            <a:custGeom>
              <a:avLst/>
              <a:gdLst/>
              <a:ahLst/>
              <a:cxnLst/>
              <a:rect l="l" t="t" r="r" b="b"/>
              <a:pathLst>
                <a:path w="1999615" h="449579">
                  <a:moveTo>
                    <a:pt x="0" y="449539"/>
                  </a:moveTo>
                  <a:lnTo>
                    <a:pt x="1999058" y="449539"/>
                  </a:lnTo>
                  <a:lnTo>
                    <a:pt x="1999058" y="0"/>
                  </a:lnTo>
                  <a:lnTo>
                    <a:pt x="0" y="0"/>
                  </a:lnTo>
                  <a:lnTo>
                    <a:pt x="0" y="449539"/>
                  </a:lnTo>
                  <a:close/>
                </a:path>
              </a:pathLst>
            </a:custGeom>
            <a:ln w="13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6710208" y="1249254"/>
              <a:ext cx="2388235" cy="2663825"/>
            </a:xfrm>
            <a:custGeom>
              <a:avLst/>
              <a:gdLst/>
              <a:ahLst/>
              <a:cxnLst/>
              <a:rect l="l" t="t" r="r" b="b"/>
              <a:pathLst>
                <a:path w="2388234" h="2663825">
                  <a:moveTo>
                    <a:pt x="2381058" y="0"/>
                  </a:moveTo>
                  <a:lnTo>
                    <a:pt x="2323592" y="0"/>
                  </a:lnTo>
                  <a:lnTo>
                    <a:pt x="2323592" y="13794"/>
                  </a:lnTo>
                  <a:lnTo>
                    <a:pt x="2381058" y="13794"/>
                  </a:lnTo>
                  <a:lnTo>
                    <a:pt x="2381058" y="0"/>
                  </a:lnTo>
                  <a:close/>
                </a:path>
                <a:path w="2388234" h="2663825">
                  <a:moveTo>
                    <a:pt x="2279918" y="0"/>
                  </a:moveTo>
                  <a:lnTo>
                    <a:pt x="2222069" y="0"/>
                  </a:lnTo>
                  <a:lnTo>
                    <a:pt x="2222069" y="13794"/>
                  </a:lnTo>
                  <a:lnTo>
                    <a:pt x="2279918" y="13794"/>
                  </a:lnTo>
                  <a:lnTo>
                    <a:pt x="2279918" y="0"/>
                  </a:lnTo>
                  <a:close/>
                </a:path>
                <a:path w="2388234" h="2663825">
                  <a:moveTo>
                    <a:pt x="2180693" y="0"/>
                  </a:moveTo>
                  <a:lnTo>
                    <a:pt x="2123418" y="0"/>
                  </a:lnTo>
                  <a:lnTo>
                    <a:pt x="2123418" y="13794"/>
                  </a:lnTo>
                  <a:lnTo>
                    <a:pt x="2180693" y="13794"/>
                  </a:lnTo>
                  <a:lnTo>
                    <a:pt x="2180693" y="0"/>
                  </a:lnTo>
                  <a:close/>
                </a:path>
                <a:path w="2388234" h="2663825">
                  <a:moveTo>
                    <a:pt x="2079744" y="0"/>
                  </a:moveTo>
                  <a:lnTo>
                    <a:pt x="2021703" y="0"/>
                  </a:lnTo>
                  <a:lnTo>
                    <a:pt x="2021703" y="13794"/>
                  </a:lnTo>
                  <a:lnTo>
                    <a:pt x="2079744" y="13794"/>
                  </a:lnTo>
                  <a:lnTo>
                    <a:pt x="2079744" y="0"/>
                  </a:lnTo>
                  <a:close/>
                </a:path>
                <a:path w="2388234" h="2663825">
                  <a:moveTo>
                    <a:pt x="1978220" y="0"/>
                  </a:moveTo>
                  <a:lnTo>
                    <a:pt x="1920754" y="0"/>
                  </a:lnTo>
                  <a:lnTo>
                    <a:pt x="1920754" y="13794"/>
                  </a:lnTo>
                  <a:lnTo>
                    <a:pt x="1978220" y="13794"/>
                  </a:lnTo>
                  <a:lnTo>
                    <a:pt x="1978220" y="0"/>
                  </a:lnTo>
                  <a:close/>
                </a:path>
                <a:path w="2388234" h="2663825">
                  <a:moveTo>
                    <a:pt x="1876505" y="0"/>
                  </a:moveTo>
                  <a:lnTo>
                    <a:pt x="1819230" y="0"/>
                  </a:lnTo>
                  <a:lnTo>
                    <a:pt x="1819230" y="13794"/>
                  </a:lnTo>
                  <a:lnTo>
                    <a:pt x="1876505" y="13794"/>
                  </a:lnTo>
                  <a:lnTo>
                    <a:pt x="1876505" y="0"/>
                  </a:lnTo>
                  <a:close/>
                </a:path>
                <a:path w="2388234" h="2663825">
                  <a:moveTo>
                    <a:pt x="1777893" y="0"/>
                  </a:moveTo>
                  <a:lnTo>
                    <a:pt x="1720005" y="0"/>
                  </a:lnTo>
                  <a:lnTo>
                    <a:pt x="1720005" y="13794"/>
                  </a:lnTo>
                  <a:lnTo>
                    <a:pt x="1777893" y="13794"/>
                  </a:lnTo>
                  <a:lnTo>
                    <a:pt x="1777893" y="0"/>
                  </a:lnTo>
                  <a:close/>
                </a:path>
                <a:path w="2388234" h="2663825">
                  <a:moveTo>
                    <a:pt x="1676350" y="0"/>
                  </a:moveTo>
                  <a:lnTo>
                    <a:pt x="1618942" y="0"/>
                  </a:lnTo>
                  <a:lnTo>
                    <a:pt x="1618942" y="13794"/>
                  </a:lnTo>
                  <a:lnTo>
                    <a:pt x="1676350" y="13794"/>
                  </a:lnTo>
                  <a:lnTo>
                    <a:pt x="1676350" y="0"/>
                  </a:lnTo>
                  <a:close/>
                </a:path>
                <a:path w="2388234" h="2663825">
                  <a:moveTo>
                    <a:pt x="1575286" y="0"/>
                  </a:moveTo>
                  <a:lnTo>
                    <a:pt x="1517399" y="0"/>
                  </a:lnTo>
                  <a:lnTo>
                    <a:pt x="1517399" y="13794"/>
                  </a:lnTo>
                  <a:lnTo>
                    <a:pt x="1575286" y="13794"/>
                  </a:lnTo>
                  <a:lnTo>
                    <a:pt x="1575286" y="0"/>
                  </a:lnTo>
                  <a:close/>
                </a:path>
                <a:path w="2388234" h="2663825">
                  <a:moveTo>
                    <a:pt x="1473763" y="0"/>
                  </a:moveTo>
                  <a:lnTo>
                    <a:pt x="1416335" y="0"/>
                  </a:lnTo>
                  <a:lnTo>
                    <a:pt x="1416335" y="13794"/>
                  </a:lnTo>
                  <a:lnTo>
                    <a:pt x="1473763" y="13794"/>
                  </a:lnTo>
                  <a:lnTo>
                    <a:pt x="1473763" y="0"/>
                  </a:lnTo>
                  <a:close/>
                </a:path>
                <a:path w="2388234" h="2663825">
                  <a:moveTo>
                    <a:pt x="1374595" y="0"/>
                  </a:moveTo>
                  <a:lnTo>
                    <a:pt x="1317167" y="0"/>
                  </a:lnTo>
                  <a:lnTo>
                    <a:pt x="1317167" y="13794"/>
                  </a:lnTo>
                  <a:lnTo>
                    <a:pt x="1374595" y="13794"/>
                  </a:lnTo>
                  <a:lnTo>
                    <a:pt x="1374595" y="0"/>
                  </a:lnTo>
                  <a:close/>
                </a:path>
                <a:path w="2388234" h="2663825">
                  <a:moveTo>
                    <a:pt x="1273512" y="0"/>
                  </a:moveTo>
                  <a:lnTo>
                    <a:pt x="1215624" y="0"/>
                  </a:lnTo>
                  <a:lnTo>
                    <a:pt x="1215624" y="13794"/>
                  </a:lnTo>
                  <a:lnTo>
                    <a:pt x="1273512" y="13794"/>
                  </a:lnTo>
                  <a:lnTo>
                    <a:pt x="1273512" y="0"/>
                  </a:lnTo>
                  <a:close/>
                </a:path>
                <a:path w="2388234" h="2663825">
                  <a:moveTo>
                    <a:pt x="1171988" y="0"/>
                  </a:moveTo>
                  <a:lnTo>
                    <a:pt x="1114561" y="0"/>
                  </a:lnTo>
                  <a:lnTo>
                    <a:pt x="1114561" y="13794"/>
                  </a:lnTo>
                  <a:lnTo>
                    <a:pt x="1171988" y="13794"/>
                  </a:lnTo>
                  <a:lnTo>
                    <a:pt x="1171988" y="0"/>
                  </a:lnTo>
                  <a:close/>
                </a:path>
                <a:path w="2388234" h="2663825">
                  <a:moveTo>
                    <a:pt x="1070905" y="0"/>
                  </a:moveTo>
                  <a:lnTo>
                    <a:pt x="1013037" y="0"/>
                  </a:lnTo>
                  <a:lnTo>
                    <a:pt x="1013037" y="13794"/>
                  </a:lnTo>
                  <a:lnTo>
                    <a:pt x="1070905" y="13794"/>
                  </a:lnTo>
                  <a:lnTo>
                    <a:pt x="1070905" y="0"/>
                  </a:lnTo>
                  <a:close/>
                </a:path>
                <a:path w="2388234" h="2663825">
                  <a:moveTo>
                    <a:pt x="971738" y="0"/>
                  </a:moveTo>
                  <a:lnTo>
                    <a:pt x="914329" y="0"/>
                  </a:lnTo>
                  <a:lnTo>
                    <a:pt x="914329" y="13794"/>
                  </a:lnTo>
                  <a:lnTo>
                    <a:pt x="971738" y="13794"/>
                  </a:lnTo>
                  <a:lnTo>
                    <a:pt x="971738" y="0"/>
                  </a:lnTo>
                  <a:close/>
                </a:path>
                <a:path w="2388234" h="2663825">
                  <a:moveTo>
                    <a:pt x="870214" y="0"/>
                  </a:moveTo>
                  <a:lnTo>
                    <a:pt x="812786" y="0"/>
                  </a:lnTo>
                  <a:lnTo>
                    <a:pt x="812786" y="13794"/>
                  </a:lnTo>
                  <a:lnTo>
                    <a:pt x="870214" y="13794"/>
                  </a:lnTo>
                  <a:lnTo>
                    <a:pt x="870214" y="0"/>
                  </a:lnTo>
                  <a:close/>
                </a:path>
                <a:path w="2388234" h="2663825">
                  <a:moveTo>
                    <a:pt x="769150" y="0"/>
                  </a:moveTo>
                  <a:lnTo>
                    <a:pt x="711263" y="0"/>
                  </a:lnTo>
                  <a:lnTo>
                    <a:pt x="711263" y="13794"/>
                  </a:lnTo>
                  <a:lnTo>
                    <a:pt x="769150" y="13794"/>
                  </a:lnTo>
                  <a:lnTo>
                    <a:pt x="769150" y="0"/>
                  </a:lnTo>
                  <a:close/>
                </a:path>
                <a:path w="2388234" h="2663825">
                  <a:moveTo>
                    <a:pt x="667607" y="0"/>
                  </a:moveTo>
                  <a:lnTo>
                    <a:pt x="610180" y="0"/>
                  </a:lnTo>
                  <a:lnTo>
                    <a:pt x="610180" y="13794"/>
                  </a:lnTo>
                  <a:lnTo>
                    <a:pt x="667607" y="13794"/>
                  </a:lnTo>
                  <a:lnTo>
                    <a:pt x="667607" y="0"/>
                  </a:lnTo>
                  <a:close/>
                </a:path>
                <a:path w="2388234" h="2663825">
                  <a:moveTo>
                    <a:pt x="568900" y="0"/>
                  </a:moveTo>
                  <a:lnTo>
                    <a:pt x="511012" y="0"/>
                  </a:lnTo>
                  <a:lnTo>
                    <a:pt x="511012" y="13794"/>
                  </a:lnTo>
                  <a:lnTo>
                    <a:pt x="568900" y="13794"/>
                  </a:lnTo>
                  <a:lnTo>
                    <a:pt x="568900" y="0"/>
                  </a:lnTo>
                  <a:close/>
                </a:path>
                <a:path w="2388234" h="2663825">
                  <a:moveTo>
                    <a:pt x="467376" y="0"/>
                  </a:moveTo>
                  <a:lnTo>
                    <a:pt x="409948" y="0"/>
                  </a:lnTo>
                  <a:lnTo>
                    <a:pt x="409948" y="13794"/>
                  </a:lnTo>
                  <a:lnTo>
                    <a:pt x="467376" y="13794"/>
                  </a:lnTo>
                  <a:lnTo>
                    <a:pt x="467376" y="0"/>
                  </a:lnTo>
                  <a:close/>
                </a:path>
                <a:path w="2388234" h="2663825">
                  <a:moveTo>
                    <a:pt x="365833" y="0"/>
                  </a:moveTo>
                  <a:lnTo>
                    <a:pt x="308424" y="0"/>
                  </a:lnTo>
                  <a:lnTo>
                    <a:pt x="308424" y="13794"/>
                  </a:lnTo>
                  <a:lnTo>
                    <a:pt x="365833" y="13794"/>
                  </a:lnTo>
                  <a:lnTo>
                    <a:pt x="365833" y="0"/>
                  </a:lnTo>
                  <a:close/>
                </a:path>
                <a:path w="2388234" h="2663825">
                  <a:moveTo>
                    <a:pt x="264769" y="0"/>
                  </a:moveTo>
                  <a:lnTo>
                    <a:pt x="207341" y="0"/>
                  </a:lnTo>
                  <a:lnTo>
                    <a:pt x="207341" y="13794"/>
                  </a:lnTo>
                  <a:lnTo>
                    <a:pt x="264769" y="13794"/>
                  </a:lnTo>
                  <a:lnTo>
                    <a:pt x="264769" y="0"/>
                  </a:lnTo>
                  <a:close/>
                </a:path>
                <a:path w="2388234" h="2663825">
                  <a:moveTo>
                    <a:pt x="165602" y="0"/>
                  </a:moveTo>
                  <a:lnTo>
                    <a:pt x="108174" y="0"/>
                  </a:lnTo>
                  <a:lnTo>
                    <a:pt x="108174" y="13794"/>
                  </a:lnTo>
                  <a:lnTo>
                    <a:pt x="165602" y="13794"/>
                  </a:lnTo>
                  <a:lnTo>
                    <a:pt x="165602" y="0"/>
                  </a:lnTo>
                  <a:close/>
                </a:path>
                <a:path w="2388234" h="2663825">
                  <a:moveTo>
                    <a:pt x="64530" y="0"/>
                  </a:moveTo>
                  <a:lnTo>
                    <a:pt x="6643" y="0"/>
                  </a:lnTo>
                  <a:lnTo>
                    <a:pt x="6643" y="13794"/>
                  </a:lnTo>
                  <a:lnTo>
                    <a:pt x="64530" y="13794"/>
                  </a:lnTo>
                  <a:lnTo>
                    <a:pt x="64530" y="0"/>
                  </a:lnTo>
                  <a:close/>
                </a:path>
                <a:path w="2388234" h="2663825">
                  <a:moveTo>
                    <a:pt x="13761" y="48665"/>
                  </a:moveTo>
                  <a:lnTo>
                    <a:pt x="0" y="48665"/>
                  </a:lnTo>
                  <a:lnTo>
                    <a:pt x="0" y="105952"/>
                  </a:lnTo>
                  <a:lnTo>
                    <a:pt x="13761" y="105952"/>
                  </a:lnTo>
                  <a:lnTo>
                    <a:pt x="13761" y="48665"/>
                  </a:lnTo>
                  <a:close/>
                </a:path>
                <a:path w="2388234" h="2663825">
                  <a:moveTo>
                    <a:pt x="13761" y="149827"/>
                  </a:moveTo>
                  <a:lnTo>
                    <a:pt x="0" y="149827"/>
                  </a:lnTo>
                  <a:lnTo>
                    <a:pt x="0" y="207497"/>
                  </a:lnTo>
                  <a:lnTo>
                    <a:pt x="13761" y="207497"/>
                  </a:lnTo>
                  <a:lnTo>
                    <a:pt x="13761" y="149827"/>
                  </a:lnTo>
                  <a:close/>
                </a:path>
                <a:path w="2388234" h="2663825">
                  <a:moveTo>
                    <a:pt x="13761" y="251564"/>
                  </a:moveTo>
                  <a:lnTo>
                    <a:pt x="0" y="251564"/>
                  </a:lnTo>
                  <a:lnTo>
                    <a:pt x="0" y="308659"/>
                  </a:lnTo>
                  <a:lnTo>
                    <a:pt x="13761" y="308659"/>
                  </a:lnTo>
                  <a:lnTo>
                    <a:pt x="13761" y="251564"/>
                  </a:lnTo>
                  <a:close/>
                </a:path>
                <a:path w="2388234" h="2663825">
                  <a:moveTo>
                    <a:pt x="13761" y="352726"/>
                  </a:moveTo>
                  <a:lnTo>
                    <a:pt x="0" y="352726"/>
                  </a:lnTo>
                  <a:lnTo>
                    <a:pt x="0" y="410396"/>
                  </a:lnTo>
                  <a:lnTo>
                    <a:pt x="13761" y="410396"/>
                  </a:lnTo>
                  <a:lnTo>
                    <a:pt x="13761" y="352726"/>
                  </a:lnTo>
                  <a:close/>
                </a:path>
                <a:path w="2388234" h="2663825">
                  <a:moveTo>
                    <a:pt x="13761" y="451973"/>
                  </a:moveTo>
                  <a:lnTo>
                    <a:pt x="0" y="451973"/>
                  </a:lnTo>
                  <a:lnTo>
                    <a:pt x="0" y="509068"/>
                  </a:lnTo>
                  <a:lnTo>
                    <a:pt x="13761" y="509068"/>
                  </a:lnTo>
                  <a:lnTo>
                    <a:pt x="13761" y="451973"/>
                  </a:lnTo>
                  <a:close/>
                </a:path>
                <a:path w="2388234" h="2663825">
                  <a:moveTo>
                    <a:pt x="13761" y="553135"/>
                  </a:moveTo>
                  <a:lnTo>
                    <a:pt x="0" y="553135"/>
                  </a:lnTo>
                  <a:lnTo>
                    <a:pt x="0" y="610805"/>
                  </a:lnTo>
                  <a:lnTo>
                    <a:pt x="13761" y="610805"/>
                  </a:lnTo>
                  <a:lnTo>
                    <a:pt x="13761" y="553135"/>
                  </a:lnTo>
                  <a:close/>
                </a:path>
                <a:path w="2388234" h="2663825">
                  <a:moveTo>
                    <a:pt x="13761" y="654680"/>
                  </a:moveTo>
                  <a:lnTo>
                    <a:pt x="0" y="654680"/>
                  </a:lnTo>
                  <a:lnTo>
                    <a:pt x="0" y="711967"/>
                  </a:lnTo>
                  <a:lnTo>
                    <a:pt x="13761" y="711967"/>
                  </a:lnTo>
                  <a:lnTo>
                    <a:pt x="13761" y="654680"/>
                  </a:lnTo>
                  <a:close/>
                </a:path>
                <a:path w="2388234" h="2663825">
                  <a:moveTo>
                    <a:pt x="13761" y="755843"/>
                  </a:moveTo>
                  <a:lnTo>
                    <a:pt x="0" y="755843"/>
                  </a:lnTo>
                  <a:lnTo>
                    <a:pt x="0" y="813513"/>
                  </a:lnTo>
                  <a:lnTo>
                    <a:pt x="13761" y="813513"/>
                  </a:lnTo>
                  <a:lnTo>
                    <a:pt x="13761" y="755843"/>
                  </a:lnTo>
                  <a:close/>
                </a:path>
                <a:path w="2388234" h="2663825">
                  <a:moveTo>
                    <a:pt x="13761" y="855089"/>
                  </a:moveTo>
                  <a:lnTo>
                    <a:pt x="0" y="855089"/>
                  </a:lnTo>
                  <a:lnTo>
                    <a:pt x="0" y="912759"/>
                  </a:lnTo>
                  <a:lnTo>
                    <a:pt x="13761" y="912759"/>
                  </a:lnTo>
                  <a:lnTo>
                    <a:pt x="13761" y="855089"/>
                  </a:lnTo>
                  <a:close/>
                </a:path>
                <a:path w="2388234" h="2663825">
                  <a:moveTo>
                    <a:pt x="13761" y="956251"/>
                  </a:moveTo>
                  <a:lnTo>
                    <a:pt x="0" y="956251"/>
                  </a:lnTo>
                  <a:lnTo>
                    <a:pt x="0" y="1013921"/>
                  </a:lnTo>
                  <a:lnTo>
                    <a:pt x="13761" y="1013921"/>
                  </a:lnTo>
                  <a:lnTo>
                    <a:pt x="13761" y="956251"/>
                  </a:lnTo>
                  <a:close/>
                </a:path>
                <a:path w="2388234" h="2663825">
                  <a:moveTo>
                    <a:pt x="13761" y="1057988"/>
                  </a:moveTo>
                  <a:lnTo>
                    <a:pt x="0" y="1057988"/>
                  </a:lnTo>
                  <a:lnTo>
                    <a:pt x="0" y="1115658"/>
                  </a:lnTo>
                  <a:lnTo>
                    <a:pt x="13761" y="1115658"/>
                  </a:lnTo>
                  <a:lnTo>
                    <a:pt x="13761" y="1057988"/>
                  </a:lnTo>
                  <a:close/>
                </a:path>
                <a:path w="2388234" h="2663825">
                  <a:moveTo>
                    <a:pt x="13761" y="1159151"/>
                  </a:moveTo>
                  <a:lnTo>
                    <a:pt x="0" y="1159151"/>
                  </a:lnTo>
                  <a:lnTo>
                    <a:pt x="0" y="1216821"/>
                  </a:lnTo>
                  <a:lnTo>
                    <a:pt x="13761" y="1216821"/>
                  </a:lnTo>
                  <a:lnTo>
                    <a:pt x="13761" y="1159151"/>
                  </a:lnTo>
                  <a:close/>
                </a:path>
                <a:path w="2388234" h="2663825">
                  <a:moveTo>
                    <a:pt x="13761" y="1258397"/>
                  </a:moveTo>
                  <a:lnTo>
                    <a:pt x="0" y="1258397"/>
                  </a:lnTo>
                  <a:lnTo>
                    <a:pt x="0" y="1316067"/>
                  </a:lnTo>
                  <a:lnTo>
                    <a:pt x="13761" y="1316067"/>
                  </a:lnTo>
                  <a:lnTo>
                    <a:pt x="13761" y="1258397"/>
                  </a:lnTo>
                  <a:close/>
                </a:path>
                <a:path w="2388234" h="2663825">
                  <a:moveTo>
                    <a:pt x="13761" y="1359559"/>
                  </a:moveTo>
                  <a:lnTo>
                    <a:pt x="0" y="1359559"/>
                  </a:lnTo>
                  <a:lnTo>
                    <a:pt x="0" y="1417229"/>
                  </a:lnTo>
                  <a:lnTo>
                    <a:pt x="13761" y="1417229"/>
                  </a:lnTo>
                  <a:lnTo>
                    <a:pt x="13761" y="1359559"/>
                  </a:lnTo>
                  <a:close/>
                </a:path>
                <a:path w="2388234" h="2663825">
                  <a:moveTo>
                    <a:pt x="13761" y="1461105"/>
                  </a:moveTo>
                  <a:lnTo>
                    <a:pt x="0" y="1461105"/>
                  </a:lnTo>
                  <a:lnTo>
                    <a:pt x="0" y="1518775"/>
                  </a:lnTo>
                  <a:lnTo>
                    <a:pt x="13761" y="1518775"/>
                  </a:lnTo>
                  <a:lnTo>
                    <a:pt x="13761" y="1461105"/>
                  </a:lnTo>
                  <a:close/>
                </a:path>
                <a:path w="2388234" h="2663825">
                  <a:moveTo>
                    <a:pt x="13761" y="1562267"/>
                  </a:moveTo>
                  <a:lnTo>
                    <a:pt x="0" y="1562267"/>
                  </a:lnTo>
                  <a:lnTo>
                    <a:pt x="0" y="1619937"/>
                  </a:lnTo>
                  <a:lnTo>
                    <a:pt x="13761" y="1619937"/>
                  </a:lnTo>
                  <a:lnTo>
                    <a:pt x="13761" y="1562267"/>
                  </a:lnTo>
                  <a:close/>
                </a:path>
                <a:path w="2388234" h="2663825">
                  <a:moveTo>
                    <a:pt x="13761" y="1661513"/>
                  </a:moveTo>
                  <a:lnTo>
                    <a:pt x="0" y="1661513"/>
                  </a:lnTo>
                  <a:lnTo>
                    <a:pt x="0" y="1719183"/>
                  </a:lnTo>
                  <a:lnTo>
                    <a:pt x="13761" y="1719183"/>
                  </a:lnTo>
                  <a:lnTo>
                    <a:pt x="13761" y="1661513"/>
                  </a:lnTo>
                  <a:close/>
                </a:path>
                <a:path w="2388234" h="2663825">
                  <a:moveTo>
                    <a:pt x="13761" y="1762676"/>
                  </a:moveTo>
                  <a:lnTo>
                    <a:pt x="0" y="1762676"/>
                  </a:lnTo>
                  <a:lnTo>
                    <a:pt x="0" y="1820346"/>
                  </a:lnTo>
                  <a:lnTo>
                    <a:pt x="13761" y="1820346"/>
                  </a:lnTo>
                  <a:lnTo>
                    <a:pt x="13761" y="1762676"/>
                  </a:lnTo>
                  <a:close/>
                </a:path>
                <a:path w="2388234" h="2663825">
                  <a:moveTo>
                    <a:pt x="13761" y="1864413"/>
                  </a:moveTo>
                  <a:lnTo>
                    <a:pt x="0" y="1864413"/>
                  </a:lnTo>
                  <a:lnTo>
                    <a:pt x="0" y="1922083"/>
                  </a:lnTo>
                  <a:lnTo>
                    <a:pt x="13761" y="1922083"/>
                  </a:lnTo>
                  <a:lnTo>
                    <a:pt x="13761" y="1864413"/>
                  </a:lnTo>
                  <a:close/>
                </a:path>
                <a:path w="2388234" h="2663825">
                  <a:moveTo>
                    <a:pt x="13761" y="1965575"/>
                  </a:moveTo>
                  <a:lnTo>
                    <a:pt x="0" y="1965575"/>
                  </a:lnTo>
                  <a:lnTo>
                    <a:pt x="0" y="2023245"/>
                  </a:lnTo>
                  <a:lnTo>
                    <a:pt x="13761" y="2023245"/>
                  </a:lnTo>
                  <a:lnTo>
                    <a:pt x="13761" y="1965575"/>
                  </a:lnTo>
                  <a:close/>
                </a:path>
                <a:path w="2388234" h="2663825">
                  <a:moveTo>
                    <a:pt x="13761" y="2064821"/>
                  </a:moveTo>
                  <a:lnTo>
                    <a:pt x="0" y="2064821"/>
                  </a:lnTo>
                  <a:lnTo>
                    <a:pt x="0" y="2122491"/>
                  </a:lnTo>
                  <a:lnTo>
                    <a:pt x="13761" y="2122491"/>
                  </a:lnTo>
                  <a:lnTo>
                    <a:pt x="13761" y="2064821"/>
                  </a:lnTo>
                  <a:close/>
                </a:path>
                <a:path w="2388234" h="2663825">
                  <a:moveTo>
                    <a:pt x="13761" y="2165983"/>
                  </a:moveTo>
                  <a:lnTo>
                    <a:pt x="0" y="2165983"/>
                  </a:lnTo>
                  <a:lnTo>
                    <a:pt x="0" y="2223596"/>
                  </a:lnTo>
                  <a:lnTo>
                    <a:pt x="13761" y="2223596"/>
                  </a:lnTo>
                  <a:lnTo>
                    <a:pt x="13761" y="2165983"/>
                  </a:lnTo>
                  <a:close/>
                </a:path>
                <a:path w="2388234" h="2663825">
                  <a:moveTo>
                    <a:pt x="13761" y="2267567"/>
                  </a:moveTo>
                  <a:lnTo>
                    <a:pt x="0" y="2267567"/>
                  </a:lnTo>
                  <a:lnTo>
                    <a:pt x="0" y="2325237"/>
                  </a:lnTo>
                  <a:lnTo>
                    <a:pt x="13761" y="2325237"/>
                  </a:lnTo>
                  <a:lnTo>
                    <a:pt x="13761" y="2267567"/>
                  </a:lnTo>
                  <a:close/>
                </a:path>
                <a:path w="2388234" h="2663825">
                  <a:moveTo>
                    <a:pt x="13761" y="2368730"/>
                  </a:moveTo>
                  <a:lnTo>
                    <a:pt x="0" y="2368730"/>
                  </a:lnTo>
                  <a:lnTo>
                    <a:pt x="0" y="2426400"/>
                  </a:lnTo>
                  <a:lnTo>
                    <a:pt x="13761" y="2426400"/>
                  </a:lnTo>
                  <a:lnTo>
                    <a:pt x="13761" y="2368730"/>
                  </a:lnTo>
                  <a:close/>
                </a:path>
                <a:path w="2388234" h="2663825">
                  <a:moveTo>
                    <a:pt x="13761" y="2467995"/>
                  </a:moveTo>
                  <a:lnTo>
                    <a:pt x="0" y="2467995"/>
                  </a:lnTo>
                  <a:lnTo>
                    <a:pt x="0" y="2525665"/>
                  </a:lnTo>
                  <a:lnTo>
                    <a:pt x="13761" y="2525665"/>
                  </a:lnTo>
                  <a:lnTo>
                    <a:pt x="13761" y="2467995"/>
                  </a:lnTo>
                  <a:close/>
                </a:path>
                <a:path w="2388234" h="2663825">
                  <a:moveTo>
                    <a:pt x="13761" y="2569617"/>
                  </a:moveTo>
                  <a:lnTo>
                    <a:pt x="0" y="2569617"/>
                  </a:lnTo>
                  <a:lnTo>
                    <a:pt x="0" y="2626827"/>
                  </a:lnTo>
                  <a:lnTo>
                    <a:pt x="13761" y="2626827"/>
                  </a:lnTo>
                  <a:lnTo>
                    <a:pt x="13761" y="2569617"/>
                  </a:lnTo>
                  <a:close/>
                </a:path>
                <a:path w="2388234" h="2663825">
                  <a:moveTo>
                    <a:pt x="78292" y="2649991"/>
                  </a:moveTo>
                  <a:lnTo>
                    <a:pt x="20402" y="2649991"/>
                  </a:lnTo>
                  <a:lnTo>
                    <a:pt x="20402" y="2663690"/>
                  </a:lnTo>
                  <a:lnTo>
                    <a:pt x="78292" y="2663690"/>
                  </a:lnTo>
                  <a:lnTo>
                    <a:pt x="78292" y="2649991"/>
                  </a:lnTo>
                  <a:close/>
                </a:path>
                <a:path w="2388234" h="2663825">
                  <a:moveTo>
                    <a:pt x="179356" y="2649991"/>
                  </a:moveTo>
                  <a:lnTo>
                    <a:pt x="121947" y="2649991"/>
                  </a:lnTo>
                  <a:lnTo>
                    <a:pt x="121947" y="2663690"/>
                  </a:lnTo>
                  <a:lnTo>
                    <a:pt x="179356" y="2663690"/>
                  </a:lnTo>
                  <a:lnTo>
                    <a:pt x="179356" y="2649991"/>
                  </a:lnTo>
                  <a:close/>
                </a:path>
                <a:path w="2388234" h="2663825">
                  <a:moveTo>
                    <a:pt x="280899" y="2649991"/>
                  </a:moveTo>
                  <a:lnTo>
                    <a:pt x="223490" y="2649991"/>
                  </a:lnTo>
                  <a:lnTo>
                    <a:pt x="223490" y="2663690"/>
                  </a:lnTo>
                  <a:lnTo>
                    <a:pt x="280899" y="2663690"/>
                  </a:lnTo>
                  <a:lnTo>
                    <a:pt x="280899" y="2649991"/>
                  </a:lnTo>
                  <a:close/>
                </a:path>
                <a:path w="2388234" h="2663825">
                  <a:moveTo>
                    <a:pt x="380066" y="2649991"/>
                  </a:moveTo>
                  <a:lnTo>
                    <a:pt x="322179" y="2649991"/>
                  </a:lnTo>
                  <a:lnTo>
                    <a:pt x="322179" y="2663690"/>
                  </a:lnTo>
                  <a:lnTo>
                    <a:pt x="380066" y="2663690"/>
                  </a:lnTo>
                  <a:lnTo>
                    <a:pt x="380066" y="2649991"/>
                  </a:lnTo>
                  <a:close/>
                </a:path>
                <a:path w="2388234" h="2663825">
                  <a:moveTo>
                    <a:pt x="481130" y="2649991"/>
                  </a:moveTo>
                  <a:lnTo>
                    <a:pt x="423721" y="2649991"/>
                  </a:lnTo>
                  <a:lnTo>
                    <a:pt x="423721" y="2663690"/>
                  </a:lnTo>
                  <a:lnTo>
                    <a:pt x="481130" y="2663690"/>
                  </a:lnTo>
                  <a:lnTo>
                    <a:pt x="481130" y="2649991"/>
                  </a:lnTo>
                  <a:close/>
                </a:path>
                <a:path w="2388234" h="2663825">
                  <a:moveTo>
                    <a:pt x="582673" y="2649991"/>
                  </a:moveTo>
                  <a:lnTo>
                    <a:pt x="524785" y="2649991"/>
                  </a:lnTo>
                  <a:lnTo>
                    <a:pt x="524785" y="2663690"/>
                  </a:lnTo>
                  <a:lnTo>
                    <a:pt x="582673" y="2663690"/>
                  </a:lnTo>
                  <a:lnTo>
                    <a:pt x="582673" y="2649991"/>
                  </a:lnTo>
                  <a:close/>
                </a:path>
                <a:path w="2388234" h="2663825">
                  <a:moveTo>
                    <a:pt x="683737" y="2649991"/>
                  </a:moveTo>
                  <a:lnTo>
                    <a:pt x="626328" y="2649991"/>
                  </a:lnTo>
                  <a:lnTo>
                    <a:pt x="626328" y="2663690"/>
                  </a:lnTo>
                  <a:lnTo>
                    <a:pt x="683737" y="2663690"/>
                  </a:lnTo>
                  <a:lnTo>
                    <a:pt x="683737" y="2649991"/>
                  </a:lnTo>
                  <a:close/>
                </a:path>
                <a:path w="2388234" h="2663825">
                  <a:moveTo>
                    <a:pt x="782904" y="2649991"/>
                  </a:moveTo>
                  <a:lnTo>
                    <a:pt x="725496" y="2649991"/>
                  </a:lnTo>
                  <a:lnTo>
                    <a:pt x="725496" y="2663690"/>
                  </a:lnTo>
                  <a:lnTo>
                    <a:pt x="782904" y="2663690"/>
                  </a:lnTo>
                  <a:lnTo>
                    <a:pt x="782904" y="2649991"/>
                  </a:lnTo>
                  <a:close/>
                </a:path>
                <a:path w="2388234" h="2663825">
                  <a:moveTo>
                    <a:pt x="884447" y="2649991"/>
                  </a:moveTo>
                  <a:lnTo>
                    <a:pt x="826559" y="2649991"/>
                  </a:lnTo>
                  <a:lnTo>
                    <a:pt x="826559" y="2663690"/>
                  </a:lnTo>
                  <a:lnTo>
                    <a:pt x="884447" y="2663690"/>
                  </a:lnTo>
                  <a:lnTo>
                    <a:pt x="884447" y="2649991"/>
                  </a:lnTo>
                  <a:close/>
                </a:path>
                <a:path w="2388234" h="2663825">
                  <a:moveTo>
                    <a:pt x="985511" y="2649991"/>
                  </a:moveTo>
                  <a:lnTo>
                    <a:pt x="928102" y="2649991"/>
                  </a:lnTo>
                  <a:lnTo>
                    <a:pt x="928102" y="2663690"/>
                  </a:lnTo>
                  <a:lnTo>
                    <a:pt x="985511" y="2663690"/>
                  </a:lnTo>
                  <a:lnTo>
                    <a:pt x="985511" y="2649991"/>
                  </a:lnTo>
                  <a:close/>
                </a:path>
                <a:path w="2388234" h="2663825">
                  <a:moveTo>
                    <a:pt x="1087054" y="2649991"/>
                  </a:moveTo>
                  <a:lnTo>
                    <a:pt x="1029166" y="2649991"/>
                  </a:lnTo>
                  <a:lnTo>
                    <a:pt x="1029166" y="2663690"/>
                  </a:lnTo>
                  <a:lnTo>
                    <a:pt x="1087054" y="2663690"/>
                  </a:lnTo>
                  <a:lnTo>
                    <a:pt x="1087054" y="2649991"/>
                  </a:lnTo>
                  <a:close/>
                </a:path>
                <a:path w="2388234" h="2663825">
                  <a:moveTo>
                    <a:pt x="1185742" y="2649991"/>
                  </a:moveTo>
                  <a:lnTo>
                    <a:pt x="1128334" y="2649991"/>
                  </a:lnTo>
                  <a:lnTo>
                    <a:pt x="1128334" y="2663690"/>
                  </a:lnTo>
                  <a:lnTo>
                    <a:pt x="1185742" y="2663690"/>
                  </a:lnTo>
                  <a:lnTo>
                    <a:pt x="1185742" y="2649991"/>
                  </a:lnTo>
                  <a:close/>
                </a:path>
                <a:path w="2388234" h="2663825">
                  <a:moveTo>
                    <a:pt x="1287285" y="2649991"/>
                  </a:moveTo>
                  <a:lnTo>
                    <a:pt x="1229877" y="2649991"/>
                  </a:lnTo>
                  <a:lnTo>
                    <a:pt x="1229877" y="2663690"/>
                  </a:lnTo>
                  <a:lnTo>
                    <a:pt x="1287285" y="2663690"/>
                  </a:lnTo>
                  <a:lnTo>
                    <a:pt x="1287285" y="2649991"/>
                  </a:lnTo>
                  <a:close/>
                </a:path>
                <a:path w="2388234" h="2663825">
                  <a:moveTo>
                    <a:pt x="1388349" y="2649991"/>
                  </a:moveTo>
                  <a:lnTo>
                    <a:pt x="1330940" y="2649991"/>
                  </a:lnTo>
                  <a:lnTo>
                    <a:pt x="1330940" y="2663690"/>
                  </a:lnTo>
                  <a:lnTo>
                    <a:pt x="1388349" y="2663690"/>
                  </a:lnTo>
                  <a:lnTo>
                    <a:pt x="1388349" y="2649991"/>
                  </a:lnTo>
                  <a:close/>
                </a:path>
                <a:path w="2388234" h="2663825">
                  <a:moveTo>
                    <a:pt x="1489892" y="2649991"/>
                  </a:moveTo>
                  <a:lnTo>
                    <a:pt x="1432464" y="2649991"/>
                  </a:lnTo>
                  <a:lnTo>
                    <a:pt x="1432464" y="2663690"/>
                  </a:lnTo>
                  <a:lnTo>
                    <a:pt x="1489892" y="2663690"/>
                  </a:lnTo>
                  <a:lnTo>
                    <a:pt x="1489892" y="2649991"/>
                  </a:lnTo>
                  <a:close/>
                </a:path>
                <a:path w="2388234" h="2663825">
                  <a:moveTo>
                    <a:pt x="1589060" y="2649991"/>
                  </a:moveTo>
                  <a:lnTo>
                    <a:pt x="1531172" y="2649991"/>
                  </a:lnTo>
                  <a:lnTo>
                    <a:pt x="1531172" y="2663690"/>
                  </a:lnTo>
                  <a:lnTo>
                    <a:pt x="1589060" y="2663690"/>
                  </a:lnTo>
                  <a:lnTo>
                    <a:pt x="1589060" y="2649991"/>
                  </a:lnTo>
                  <a:close/>
                </a:path>
                <a:path w="2388234" h="2663825">
                  <a:moveTo>
                    <a:pt x="1690123" y="2649991"/>
                  </a:moveTo>
                  <a:lnTo>
                    <a:pt x="1632715" y="2649991"/>
                  </a:lnTo>
                  <a:lnTo>
                    <a:pt x="1632715" y="2663690"/>
                  </a:lnTo>
                  <a:lnTo>
                    <a:pt x="1690123" y="2663690"/>
                  </a:lnTo>
                  <a:lnTo>
                    <a:pt x="1690123" y="2649991"/>
                  </a:lnTo>
                  <a:close/>
                </a:path>
                <a:path w="2388234" h="2663825">
                  <a:moveTo>
                    <a:pt x="1791666" y="2649991"/>
                  </a:moveTo>
                  <a:lnTo>
                    <a:pt x="1733779" y="2649991"/>
                  </a:lnTo>
                  <a:lnTo>
                    <a:pt x="1733779" y="2663690"/>
                  </a:lnTo>
                  <a:lnTo>
                    <a:pt x="1791666" y="2663690"/>
                  </a:lnTo>
                  <a:lnTo>
                    <a:pt x="1791666" y="2649991"/>
                  </a:lnTo>
                  <a:close/>
                </a:path>
                <a:path w="2388234" h="2663825">
                  <a:moveTo>
                    <a:pt x="1892788" y="2649991"/>
                  </a:moveTo>
                  <a:lnTo>
                    <a:pt x="1835321" y="2649991"/>
                  </a:lnTo>
                  <a:lnTo>
                    <a:pt x="1835321" y="2663690"/>
                  </a:lnTo>
                  <a:lnTo>
                    <a:pt x="1892788" y="2663690"/>
                  </a:lnTo>
                  <a:lnTo>
                    <a:pt x="1892788" y="2649991"/>
                  </a:lnTo>
                  <a:close/>
                </a:path>
                <a:path w="2388234" h="2663825">
                  <a:moveTo>
                    <a:pt x="1991821" y="2649991"/>
                  </a:moveTo>
                  <a:lnTo>
                    <a:pt x="1934546" y="2649991"/>
                  </a:lnTo>
                  <a:lnTo>
                    <a:pt x="1934546" y="2663690"/>
                  </a:lnTo>
                  <a:lnTo>
                    <a:pt x="1991821" y="2663690"/>
                  </a:lnTo>
                  <a:lnTo>
                    <a:pt x="1991821" y="2649991"/>
                  </a:lnTo>
                  <a:close/>
                </a:path>
                <a:path w="2388234" h="2663825">
                  <a:moveTo>
                    <a:pt x="2093345" y="2649991"/>
                  </a:moveTo>
                  <a:lnTo>
                    <a:pt x="2035495" y="2649991"/>
                  </a:lnTo>
                  <a:lnTo>
                    <a:pt x="2035495" y="2663690"/>
                  </a:lnTo>
                  <a:lnTo>
                    <a:pt x="2093345" y="2663690"/>
                  </a:lnTo>
                  <a:lnTo>
                    <a:pt x="2093345" y="2649991"/>
                  </a:lnTo>
                  <a:close/>
                </a:path>
                <a:path w="2388234" h="2663825">
                  <a:moveTo>
                    <a:pt x="2194485" y="2649991"/>
                  </a:moveTo>
                  <a:lnTo>
                    <a:pt x="2137019" y="2649991"/>
                  </a:lnTo>
                  <a:lnTo>
                    <a:pt x="2137019" y="2663690"/>
                  </a:lnTo>
                  <a:lnTo>
                    <a:pt x="2194485" y="2663690"/>
                  </a:lnTo>
                  <a:lnTo>
                    <a:pt x="2194485" y="2649991"/>
                  </a:lnTo>
                  <a:close/>
                </a:path>
                <a:path w="2388234" h="2663825">
                  <a:moveTo>
                    <a:pt x="2296009" y="2649991"/>
                  </a:moveTo>
                  <a:lnTo>
                    <a:pt x="2238160" y="2649991"/>
                  </a:lnTo>
                  <a:lnTo>
                    <a:pt x="2238160" y="2663690"/>
                  </a:lnTo>
                  <a:lnTo>
                    <a:pt x="2296009" y="2663690"/>
                  </a:lnTo>
                  <a:lnTo>
                    <a:pt x="2296009" y="2649991"/>
                  </a:lnTo>
                  <a:close/>
                </a:path>
                <a:path w="2388234" h="2663825">
                  <a:moveTo>
                    <a:pt x="2374354" y="2649991"/>
                  </a:moveTo>
                  <a:lnTo>
                    <a:pt x="2337385" y="2649991"/>
                  </a:lnTo>
                  <a:lnTo>
                    <a:pt x="2337385" y="2663690"/>
                  </a:lnTo>
                  <a:lnTo>
                    <a:pt x="2388146" y="2663690"/>
                  </a:lnTo>
                  <a:lnTo>
                    <a:pt x="2388146" y="2657080"/>
                  </a:lnTo>
                  <a:lnTo>
                    <a:pt x="2374354" y="2657080"/>
                  </a:lnTo>
                  <a:lnTo>
                    <a:pt x="2374354" y="2649991"/>
                  </a:lnTo>
                  <a:close/>
                </a:path>
                <a:path w="2388234" h="2663825">
                  <a:moveTo>
                    <a:pt x="2388146" y="2641006"/>
                  </a:moveTo>
                  <a:lnTo>
                    <a:pt x="2374354" y="2641006"/>
                  </a:lnTo>
                  <a:lnTo>
                    <a:pt x="2374354" y="2657080"/>
                  </a:lnTo>
                  <a:lnTo>
                    <a:pt x="2381059" y="2649991"/>
                  </a:lnTo>
                  <a:lnTo>
                    <a:pt x="2388146" y="2649991"/>
                  </a:lnTo>
                  <a:lnTo>
                    <a:pt x="2388146" y="2641006"/>
                  </a:lnTo>
                  <a:close/>
                </a:path>
                <a:path w="2388234" h="2663825">
                  <a:moveTo>
                    <a:pt x="2388146" y="2649991"/>
                  </a:moveTo>
                  <a:lnTo>
                    <a:pt x="2381059" y="2649991"/>
                  </a:lnTo>
                  <a:lnTo>
                    <a:pt x="2374354" y="2657080"/>
                  </a:lnTo>
                  <a:lnTo>
                    <a:pt x="2388146" y="2657080"/>
                  </a:lnTo>
                  <a:lnTo>
                    <a:pt x="2388146" y="2649991"/>
                  </a:lnTo>
                  <a:close/>
                </a:path>
                <a:path w="2388234" h="2663825">
                  <a:moveTo>
                    <a:pt x="2388146" y="2541740"/>
                  </a:moveTo>
                  <a:lnTo>
                    <a:pt x="2374354" y="2541740"/>
                  </a:lnTo>
                  <a:lnTo>
                    <a:pt x="2374354" y="2599410"/>
                  </a:lnTo>
                  <a:lnTo>
                    <a:pt x="2388146" y="2599410"/>
                  </a:lnTo>
                  <a:lnTo>
                    <a:pt x="2388146" y="2541740"/>
                  </a:lnTo>
                  <a:close/>
                </a:path>
                <a:path w="2388234" h="2663825">
                  <a:moveTo>
                    <a:pt x="2388146" y="2440578"/>
                  </a:moveTo>
                  <a:lnTo>
                    <a:pt x="2374354" y="2440578"/>
                  </a:lnTo>
                  <a:lnTo>
                    <a:pt x="2374354" y="2497769"/>
                  </a:lnTo>
                  <a:lnTo>
                    <a:pt x="2388146" y="2497769"/>
                  </a:lnTo>
                  <a:lnTo>
                    <a:pt x="2388146" y="2440578"/>
                  </a:lnTo>
                  <a:close/>
                </a:path>
                <a:path w="2388234" h="2663825">
                  <a:moveTo>
                    <a:pt x="2388146" y="2338937"/>
                  </a:moveTo>
                  <a:lnTo>
                    <a:pt x="2374354" y="2338937"/>
                  </a:lnTo>
                  <a:lnTo>
                    <a:pt x="2374354" y="2396607"/>
                  </a:lnTo>
                  <a:lnTo>
                    <a:pt x="2388146" y="2396607"/>
                  </a:lnTo>
                  <a:lnTo>
                    <a:pt x="2388146" y="2338937"/>
                  </a:lnTo>
                  <a:close/>
                </a:path>
                <a:path w="2388234" h="2663825">
                  <a:moveTo>
                    <a:pt x="2388146" y="2237793"/>
                  </a:moveTo>
                  <a:lnTo>
                    <a:pt x="2374354" y="2237793"/>
                  </a:lnTo>
                  <a:lnTo>
                    <a:pt x="2374354" y="2294985"/>
                  </a:lnTo>
                  <a:lnTo>
                    <a:pt x="2388146" y="2294985"/>
                  </a:lnTo>
                  <a:lnTo>
                    <a:pt x="2388146" y="2237793"/>
                  </a:lnTo>
                  <a:close/>
                </a:path>
                <a:path w="2388234" h="2663825">
                  <a:moveTo>
                    <a:pt x="2388146" y="2138585"/>
                  </a:moveTo>
                  <a:lnTo>
                    <a:pt x="2374354" y="2138585"/>
                  </a:lnTo>
                  <a:lnTo>
                    <a:pt x="2374354" y="2196256"/>
                  </a:lnTo>
                  <a:lnTo>
                    <a:pt x="2388146" y="2196256"/>
                  </a:lnTo>
                  <a:lnTo>
                    <a:pt x="2388146" y="2138585"/>
                  </a:lnTo>
                  <a:close/>
                </a:path>
                <a:path w="2388234" h="2663825">
                  <a:moveTo>
                    <a:pt x="2388146" y="2036848"/>
                  </a:moveTo>
                  <a:lnTo>
                    <a:pt x="2374354" y="2036848"/>
                  </a:lnTo>
                  <a:lnTo>
                    <a:pt x="2374354" y="2094518"/>
                  </a:lnTo>
                  <a:lnTo>
                    <a:pt x="2388146" y="2094518"/>
                  </a:lnTo>
                  <a:lnTo>
                    <a:pt x="2388146" y="2036848"/>
                  </a:lnTo>
                  <a:close/>
                </a:path>
                <a:path w="2388234" h="2663825">
                  <a:moveTo>
                    <a:pt x="2388146" y="1935686"/>
                  </a:moveTo>
                  <a:lnTo>
                    <a:pt x="2374354" y="1935686"/>
                  </a:lnTo>
                  <a:lnTo>
                    <a:pt x="2374354" y="1993356"/>
                  </a:lnTo>
                  <a:lnTo>
                    <a:pt x="2388146" y="1993356"/>
                  </a:lnTo>
                  <a:lnTo>
                    <a:pt x="2388146" y="1935686"/>
                  </a:lnTo>
                  <a:close/>
                </a:path>
                <a:path w="2388234" h="2663825">
                  <a:moveTo>
                    <a:pt x="2388146" y="1834141"/>
                  </a:moveTo>
                  <a:lnTo>
                    <a:pt x="2374354" y="1834141"/>
                  </a:lnTo>
                  <a:lnTo>
                    <a:pt x="2374354" y="1891811"/>
                  </a:lnTo>
                  <a:lnTo>
                    <a:pt x="2388146" y="1891811"/>
                  </a:lnTo>
                  <a:lnTo>
                    <a:pt x="2388146" y="1834141"/>
                  </a:lnTo>
                  <a:close/>
                </a:path>
                <a:path w="2388234" h="2663825">
                  <a:moveTo>
                    <a:pt x="2388146" y="1735277"/>
                  </a:moveTo>
                  <a:lnTo>
                    <a:pt x="2374354" y="1735277"/>
                  </a:lnTo>
                  <a:lnTo>
                    <a:pt x="2374354" y="1792948"/>
                  </a:lnTo>
                  <a:lnTo>
                    <a:pt x="2388146" y="1792948"/>
                  </a:lnTo>
                  <a:lnTo>
                    <a:pt x="2388146" y="1735277"/>
                  </a:lnTo>
                  <a:close/>
                </a:path>
                <a:path w="2388234" h="2663825">
                  <a:moveTo>
                    <a:pt x="2388146" y="1633732"/>
                  </a:moveTo>
                  <a:lnTo>
                    <a:pt x="2374354" y="1633732"/>
                  </a:lnTo>
                  <a:lnTo>
                    <a:pt x="2374354" y="1691402"/>
                  </a:lnTo>
                  <a:lnTo>
                    <a:pt x="2388146" y="1691402"/>
                  </a:lnTo>
                  <a:lnTo>
                    <a:pt x="2388146" y="1633732"/>
                  </a:lnTo>
                  <a:close/>
                </a:path>
                <a:path w="2388234" h="2663825">
                  <a:moveTo>
                    <a:pt x="2388146" y="1532570"/>
                  </a:moveTo>
                  <a:lnTo>
                    <a:pt x="2374354" y="1532570"/>
                  </a:lnTo>
                  <a:lnTo>
                    <a:pt x="2374354" y="1590240"/>
                  </a:lnTo>
                  <a:lnTo>
                    <a:pt x="2388146" y="1590240"/>
                  </a:lnTo>
                  <a:lnTo>
                    <a:pt x="2388146" y="1532570"/>
                  </a:lnTo>
                  <a:close/>
                </a:path>
                <a:path w="2388234" h="2663825">
                  <a:moveTo>
                    <a:pt x="2388146" y="1430833"/>
                  </a:moveTo>
                  <a:lnTo>
                    <a:pt x="2374354" y="1430833"/>
                  </a:lnTo>
                  <a:lnTo>
                    <a:pt x="2374354" y="1488503"/>
                  </a:lnTo>
                  <a:lnTo>
                    <a:pt x="2388146" y="1488503"/>
                  </a:lnTo>
                  <a:lnTo>
                    <a:pt x="2388146" y="1430833"/>
                  </a:lnTo>
                  <a:close/>
                </a:path>
                <a:path w="2388234" h="2663825">
                  <a:moveTo>
                    <a:pt x="2388146" y="1332161"/>
                  </a:moveTo>
                  <a:lnTo>
                    <a:pt x="2374354" y="1332161"/>
                  </a:lnTo>
                  <a:lnTo>
                    <a:pt x="2374354" y="1389831"/>
                  </a:lnTo>
                  <a:lnTo>
                    <a:pt x="2388146" y="1389831"/>
                  </a:lnTo>
                  <a:lnTo>
                    <a:pt x="2388146" y="1332161"/>
                  </a:lnTo>
                  <a:close/>
                </a:path>
                <a:path w="2388234" h="2663825">
                  <a:moveTo>
                    <a:pt x="2388146" y="1230424"/>
                  </a:moveTo>
                  <a:lnTo>
                    <a:pt x="2374354" y="1230424"/>
                  </a:lnTo>
                  <a:lnTo>
                    <a:pt x="2374354" y="1288094"/>
                  </a:lnTo>
                  <a:lnTo>
                    <a:pt x="2388146" y="1288094"/>
                  </a:lnTo>
                  <a:lnTo>
                    <a:pt x="2388146" y="1230424"/>
                  </a:lnTo>
                  <a:close/>
                </a:path>
                <a:path w="2388234" h="2663825">
                  <a:moveTo>
                    <a:pt x="2388146" y="1129262"/>
                  </a:moveTo>
                  <a:lnTo>
                    <a:pt x="2374354" y="1129262"/>
                  </a:lnTo>
                  <a:lnTo>
                    <a:pt x="2374354" y="1186932"/>
                  </a:lnTo>
                  <a:lnTo>
                    <a:pt x="2388146" y="1186932"/>
                  </a:lnTo>
                  <a:lnTo>
                    <a:pt x="2388146" y="1129262"/>
                  </a:lnTo>
                  <a:close/>
                </a:path>
                <a:path w="2388234" h="2663825">
                  <a:moveTo>
                    <a:pt x="2388146" y="1027716"/>
                  </a:moveTo>
                  <a:lnTo>
                    <a:pt x="2374354" y="1027716"/>
                  </a:lnTo>
                  <a:lnTo>
                    <a:pt x="2374354" y="1085386"/>
                  </a:lnTo>
                  <a:lnTo>
                    <a:pt x="2388146" y="1085386"/>
                  </a:lnTo>
                  <a:lnTo>
                    <a:pt x="2388146" y="1027716"/>
                  </a:lnTo>
                  <a:close/>
                </a:path>
                <a:path w="2388234" h="2663825">
                  <a:moveTo>
                    <a:pt x="2388146" y="928853"/>
                  </a:moveTo>
                  <a:lnTo>
                    <a:pt x="2374354" y="928853"/>
                  </a:lnTo>
                  <a:lnTo>
                    <a:pt x="2374354" y="986523"/>
                  </a:lnTo>
                  <a:lnTo>
                    <a:pt x="2388146" y="986523"/>
                  </a:lnTo>
                  <a:lnTo>
                    <a:pt x="2388146" y="928853"/>
                  </a:lnTo>
                  <a:close/>
                </a:path>
                <a:path w="2388234" h="2663825">
                  <a:moveTo>
                    <a:pt x="2388146" y="827308"/>
                  </a:moveTo>
                  <a:lnTo>
                    <a:pt x="2374354" y="827308"/>
                  </a:lnTo>
                  <a:lnTo>
                    <a:pt x="2374354" y="884978"/>
                  </a:lnTo>
                  <a:lnTo>
                    <a:pt x="2388146" y="884978"/>
                  </a:lnTo>
                  <a:lnTo>
                    <a:pt x="2388146" y="827308"/>
                  </a:lnTo>
                  <a:close/>
                </a:path>
                <a:path w="2388234" h="2663825">
                  <a:moveTo>
                    <a:pt x="2388146" y="726145"/>
                  </a:moveTo>
                  <a:lnTo>
                    <a:pt x="2374354" y="726145"/>
                  </a:lnTo>
                  <a:lnTo>
                    <a:pt x="2374354" y="783816"/>
                  </a:lnTo>
                  <a:lnTo>
                    <a:pt x="2388146" y="783816"/>
                  </a:lnTo>
                  <a:lnTo>
                    <a:pt x="2388146" y="726145"/>
                  </a:lnTo>
                  <a:close/>
                </a:path>
                <a:path w="2388234" h="2663825">
                  <a:moveTo>
                    <a:pt x="2388146" y="624408"/>
                  </a:moveTo>
                  <a:lnTo>
                    <a:pt x="2374354" y="624408"/>
                  </a:lnTo>
                  <a:lnTo>
                    <a:pt x="2374354" y="682078"/>
                  </a:lnTo>
                  <a:lnTo>
                    <a:pt x="2388146" y="682078"/>
                  </a:lnTo>
                  <a:lnTo>
                    <a:pt x="2388146" y="624408"/>
                  </a:lnTo>
                  <a:close/>
                </a:path>
                <a:path w="2388234" h="2663825">
                  <a:moveTo>
                    <a:pt x="2388146" y="525737"/>
                  </a:moveTo>
                  <a:lnTo>
                    <a:pt x="2374354" y="525737"/>
                  </a:lnTo>
                  <a:lnTo>
                    <a:pt x="2374354" y="582832"/>
                  </a:lnTo>
                  <a:lnTo>
                    <a:pt x="2388146" y="582832"/>
                  </a:lnTo>
                  <a:lnTo>
                    <a:pt x="2388146" y="525737"/>
                  </a:lnTo>
                  <a:close/>
                </a:path>
                <a:path w="2388234" h="2663825">
                  <a:moveTo>
                    <a:pt x="2388146" y="424000"/>
                  </a:moveTo>
                  <a:lnTo>
                    <a:pt x="2374354" y="424000"/>
                  </a:lnTo>
                  <a:lnTo>
                    <a:pt x="2374354" y="481670"/>
                  </a:lnTo>
                  <a:lnTo>
                    <a:pt x="2388146" y="481670"/>
                  </a:lnTo>
                  <a:lnTo>
                    <a:pt x="2388146" y="424000"/>
                  </a:lnTo>
                  <a:close/>
                </a:path>
                <a:path w="2388234" h="2663825">
                  <a:moveTo>
                    <a:pt x="2388146" y="322837"/>
                  </a:moveTo>
                  <a:lnTo>
                    <a:pt x="2374354" y="322837"/>
                  </a:lnTo>
                  <a:lnTo>
                    <a:pt x="2374354" y="380124"/>
                  </a:lnTo>
                  <a:lnTo>
                    <a:pt x="2388146" y="380124"/>
                  </a:lnTo>
                  <a:lnTo>
                    <a:pt x="2388146" y="322837"/>
                  </a:lnTo>
                  <a:close/>
                </a:path>
                <a:path w="2388234" h="2663825">
                  <a:moveTo>
                    <a:pt x="2388146" y="221292"/>
                  </a:moveTo>
                  <a:lnTo>
                    <a:pt x="2374354" y="221292"/>
                  </a:lnTo>
                  <a:lnTo>
                    <a:pt x="2374354" y="278962"/>
                  </a:lnTo>
                  <a:lnTo>
                    <a:pt x="2388146" y="278962"/>
                  </a:lnTo>
                  <a:lnTo>
                    <a:pt x="2388146" y="221292"/>
                  </a:lnTo>
                  <a:close/>
                </a:path>
                <a:path w="2388234" h="2663825">
                  <a:moveTo>
                    <a:pt x="2388146" y="122429"/>
                  </a:moveTo>
                  <a:lnTo>
                    <a:pt x="2374354" y="122429"/>
                  </a:lnTo>
                  <a:lnTo>
                    <a:pt x="2374354" y="179716"/>
                  </a:lnTo>
                  <a:lnTo>
                    <a:pt x="2388146" y="179716"/>
                  </a:lnTo>
                  <a:lnTo>
                    <a:pt x="2388146" y="122429"/>
                  </a:lnTo>
                  <a:close/>
                </a:path>
                <a:path w="2388234" h="2663825">
                  <a:moveTo>
                    <a:pt x="2388146" y="20883"/>
                  </a:moveTo>
                  <a:lnTo>
                    <a:pt x="2374354" y="20883"/>
                  </a:lnTo>
                  <a:lnTo>
                    <a:pt x="2374354" y="78554"/>
                  </a:lnTo>
                  <a:lnTo>
                    <a:pt x="2388146" y="78554"/>
                  </a:lnTo>
                  <a:lnTo>
                    <a:pt x="2388146" y="208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715510" y="1256151"/>
              <a:ext cx="2377440" cy="0"/>
            </a:xfrm>
            <a:custGeom>
              <a:avLst/>
              <a:gdLst/>
              <a:ahLst/>
              <a:cxnLst/>
              <a:rect l="l" t="t" r="r" b="b"/>
              <a:pathLst>
                <a:path w="2377440">
                  <a:moveTo>
                    <a:pt x="0" y="0"/>
                  </a:moveTo>
                  <a:lnTo>
                    <a:pt x="2377098" y="0"/>
                  </a:lnTo>
                </a:path>
              </a:pathLst>
            </a:custGeom>
            <a:ln w="16477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6717088" y="1296578"/>
              <a:ext cx="0" cy="2581275"/>
            </a:xfrm>
            <a:custGeom>
              <a:avLst/>
              <a:gdLst/>
              <a:ahLst/>
              <a:cxnLst/>
              <a:rect l="l" t="t" r="r" b="b"/>
              <a:pathLst>
                <a:path h="2581275">
                  <a:moveTo>
                    <a:pt x="0" y="0"/>
                  </a:moveTo>
                  <a:lnTo>
                    <a:pt x="0" y="2580844"/>
                  </a:lnTo>
                </a:path>
              </a:pathLst>
            </a:custGeom>
            <a:ln w="16443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729269" y="3906095"/>
              <a:ext cx="2278380" cy="0"/>
            </a:xfrm>
            <a:custGeom>
              <a:avLst/>
              <a:gdLst/>
              <a:ahLst/>
              <a:cxnLst/>
              <a:rect l="l" t="t" r="r" b="b"/>
              <a:pathLst>
                <a:path w="2278379">
                  <a:moveTo>
                    <a:pt x="0" y="0"/>
                  </a:moveTo>
                  <a:lnTo>
                    <a:pt x="2278288" y="0"/>
                  </a:lnTo>
                </a:path>
              </a:pathLst>
            </a:custGeom>
            <a:ln w="16381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9047593" y="3890260"/>
              <a:ext cx="50800" cy="22860"/>
            </a:xfrm>
            <a:custGeom>
              <a:avLst/>
              <a:gdLst/>
              <a:ahLst/>
              <a:cxnLst/>
              <a:rect l="l" t="t" r="r" b="b"/>
              <a:pathLst>
                <a:path w="50800" h="22860">
                  <a:moveTo>
                    <a:pt x="0" y="8985"/>
                  </a:moveTo>
                  <a:lnTo>
                    <a:pt x="43674" y="8985"/>
                  </a:lnTo>
                  <a:lnTo>
                    <a:pt x="36969" y="16074"/>
                  </a:lnTo>
                  <a:lnTo>
                    <a:pt x="36969" y="0"/>
                  </a:lnTo>
                  <a:lnTo>
                    <a:pt x="50761" y="0"/>
                  </a:lnTo>
                  <a:lnTo>
                    <a:pt x="50761" y="22684"/>
                  </a:lnTo>
                  <a:lnTo>
                    <a:pt x="0" y="22684"/>
                  </a:lnTo>
                  <a:lnTo>
                    <a:pt x="0" y="898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091458" y="1268797"/>
              <a:ext cx="0" cy="2581275"/>
            </a:xfrm>
            <a:custGeom>
              <a:avLst/>
              <a:gdLst/>
              <a:ahLst/>
              <a:cxnLst/>
              <a:rect l="l" t="t" r="r" b="b"/>
              <a:pathLst>
                <a:path h="2581275">
                  <a:moveTo>
                    <a:pt x="0" y="0"/>
                  </a:moveTo>
                  <a:lnTo>
                    <a:pt x="0" y="2581208"/>
                  </a:lnTo>
                </a:path>
              </a:pathLst>
            </a:custGeom>
            <a:ln w="1647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657692" y="1290830"/>
              <a:ext cx="2354580" cy="3996054"/>
            </a:xfrm>
            <a:custGeom>
              <a:avLst/>
              <a:gdLst/>
              <a:ahLst/>
              <a:cxnLst/>
              <a:rect l="l" t="t" r="r" b="b"/>
              <a:pathLst>
                <a:path w="2354579" h="3996054">
                  <a:moveTo>
                    <a:pt x="2346920" y="7089"/>
                  </a:moveTo>
                  <a:lnTo>
                    <a:pt x="2340215" y="7089"/>
                  </a:lnTo>
                  <a:lnTo>
                    <a:pt x="2340215" y="50581"/>
                  </a:lnTo>
                  <a:lnTo>
                    <a:pt x="2354007" y="50581"/>
                  </a:lnTo>
                  <a:lnTo>
                    <a:pt x="2354007" y="13794"/>
                  </a:lnTo>
                  <a:lnTo>
                    <a:pt x="2346920" y="13794"/>
                  </a:lnTo>
                  <a:lnTo>
                    <a:pt x="2346920" y="7089"/>
                  </a:lnTo>
                  <a:close/>
                </a:path>
                <a:path w="2354579" h="3996054">
                  <a:moveTo>
                    <a:pt x="2346920" y="0"/>
                  </a:moveTo>
                  <a:lnTo>
                    <a:pt x="2289453" y="0"/>
                  </a:lnTo>
                  <a:lnTo>
                    <a:pt x="2289453" y="13794"/>
                  </a:lnTo>
                  <a:lnTo>
                    <a:pt x="2340215" y="13794"/>
                  </a:lnTo>
                  <a:lnTo>
                    <a:pt x="2340215" y="7089"/>
                  </a:lnTo>
                  <a:lnTo>
                    <a:pt x="2346920" y="7089"/>
                  </a:lnTo>
                  <a:lnTo>
                    <a:pt x="2346920" y="0"/>
                  </a:lnTo>
                  <a:close/>
                </a:path>
                <a:path w="2354579" h="3996054">
                  <a:moveTo>
                    <a:pt x="2354007" y="7089"/>
                  </a:moveTo>
                  <a:lnTo>
                    <a:pt x="2346920" y="7089"/>
                  </a:lnTo>
                  <a:lnTo>
                    <a:pt x="2346920" y="13794"/>
                  </a:lnTo>
                  <a:lnTo>
                    <a:pt x="2354007" y="13794"/>
                  </a:lnTo>
                  <a:lnTo>
                    <a:pt x="2354007" y="7089"/>
                  </a:lnTo>
                  <a:close/>
                </a:path>
                <a:path w="2354579" h="3996054">
                  <a:moveTo>
                    <a:pt x="2245779" y="0"/>
                  </a:moveTo>
                  <a:lnTo>
                    <a:pt x="2187930" y="0"/>
                  </a:lnTo>
                  <a:lnTo>
                    <a:pt x="2187930" y="13794"/>
                  </a:lnTo>
                  <a:lnTo>
                    <a:pt x="2245779" y="13794"/>
                  </a:lnTo>
                  <a:lnTo>
                    <a:pt x="2245779" y="0"/>
                  </a:lnTo>
                  <a:close/>
                </a:path>
                <a:path w="2354579" h="3996054">
                  <a:moveTo>
                    <a:pt x="2146554" y="0"/>
                  </a:moveTo>
                  <a:lnTo>
                    <a:pt x="2089280" y="0"/>
                  </a:lnTo>
                  <a:lnTo>
                    <a:pt x="2089280" y="13794"/>
                  </a:lnTo>
                  <a:lnTo>
                    <a:pt x="2146554" y="13794"/>
                  </a:lnTo>
                  <a:lnTo>
                    <a:pt x="2146554" y="0"/>
                  </a:lnTo>
                  <a:close/>
                </a:path>
                <a:path w="2354579" h="3996054">
                  <a:moveTo>
                    <a:pt x="2045031" y="0"/>
                  </a:moveTo>
                  <a:lnTo>
                    <a:pt x="1987564" y="0"/>
                  </a:lnTo>
                  <a:lnTo>
                    <a:pt x="1987564" y="13794"/>
                  </a:lnTo>
                  <a:lnTo>
                    <a:pt x="2045031" y="13794"/>
                  </a:lnTo>
                  <a:lnTo>
                    <a:pt x="2045031" y="0"/>
                  </a:lnTo>
                  <a:close/>
                </a:path>
                <a:path w="2354579" h="3996054">
                  <a:moveTo>
                    <a:pt x="1944082" y="0"/>
                  </a:moveTo>
                  <a:lnTo>
                    <a:pt x="1886041" y="0"/>
                  </a:lnTo>
                  <a:lnTo>
                    <a:pt x="1886041" y="13794"/>
                  </a:lnTo>
                  <a:lnTo>
                    <a:pt x="1944082" y="13794"/>
                  </a:lnTo>
                  <a:lnTo>
                    <a:pt x="1944082" y="0"/>
                  </a:lnTo>
                  <a:close/>
                </a:path>
                <a:path w="2354579" h="3996054">
                  <a:moveTo>
                    <a:pt x="1842366" y="0"/>
                  </a:moveTo>
                  <a:lnTo>
                    <a:pt x="1785092" y="0"/>
                  </a:lnTo>
                  <a:lnTo>
                    <a:pt x="1785092" y="13794"/>
                  </a:lnTo>
                  <a:lnTo>
                    <a:pt x="1842366" y="13794"/>
                  </a:lnTo>
                  <a:lnTo>
                    <a:pt x="1842366" y="0"/>
                  </a:lnTo>
                  <a:close/>
                </a:path>
                <a:path w="2354579" h="3996054">
                  <a:moveTo>
                    <a:pt x="1743716" y="0"/>
                  </a:moveTo>
                  <a:lnTo>
                    <a:pt x="1685867" y="0"/>
                  </a:lnTo>
                  <a:lnTo>
                    <a:pt x="1685867" y="13794"/>
                  </a:lnTo>
                  <a:lnTo>
                    <a:pt x="1743716" y="13794"/>
                  </a:lnTo>
                  <a:lnTo>
                    <a:pt x="1743716" y="0"/>
                  </a:lnTo>
                  <a:close/>
                </a:path>
                <a:path w="2354579" h="3996054">
                  <a:moveTo>
                    <a:pt x="1642192" y="0"/>
                  </a:moveTo>
                  <a:lnTo>
                    <a:pt x="1584726" y="0"/>
                  </a:lnTo>
                  <a:lnTo>
                    <a:pt x="1584726" y="13794"/>
                  </a:lnTo>
                  <a:lnTo>
                    <a:pt x="1642192" y="13794"/>
                  </a:lnTo>
                  <a:lnTo>
                    <a:pt x="1642192" y="0"/>
                  </a:lnTo>
                  <a:close/>
                </a:path>
                <a:path w="2354579" h="3996054">
                  <a:moveTo>
                    <a:pt x="1540669" y="0"/>
                  </a:moveTo>
                  <a:lnTo>
                    <a:pt x="1483202" y="0"/>
                  </a:lnTo>
                  <a:lnTo>
                    <a:pt x="1483202" y="13794"/>
                  </a:lnTo>
                  <a:lnTo>
                    <a:pt x="1540669" y="13794"/>
                  </a:lnTo>
                  <a:lnTo>
                    <a:pt x="1540669" y="0"/>
                  </a:lnTo>
                  <a:close/>
                </a:path>
                <a:path w="2354579" h="3996054">
                  <a:moveTo>
                    <a:pt x="1439528" y="0"/>
                  </a:moveTo>
                  <a:lnTo>
                    <a:pt x="1382254" y="0"/>
                  </a:lnTo>
                  <a:lnTo>
                    <a:pt x="1382254" y="13794"/>
                  </a:lnTo>
                  <a:lnTo>
                    <a:pt x="1439528" y="13794"/>
                  </a:lnTo>
                  <a:lnTo>
                    <a:pt x="1439528" y="0"/>
                  </a:lnTo>
                  <a:close/>
                </a:path>
                <a:path w="2354579" h="3996054">
                  <a:moveTo>
                    <a:pt x="1340495" y="0"/>
                  </a:moveTo>
                  <a:lnTo>
                    <a:pt x="1283029" y="0"/>
                  </a:lnTo>
                  <a:lnTo>
                    <a:pt x="1283029" y="13794"/>
                  </a:lnTo>
                  <a:lnTo>
                    <a:pt x="1340495" y="13794"/>
                  </a:lnTo>
                  <a:lnTo>
                    <a:pt x="1340495" y="0"/>
                  </a:lnTo>
                  <a:close/>
                </a:path>
                <a:path w="2354579" h="3996054">
                  <a:moveTo>
                    <a:pt x="1239354" y="0"/>
                  </a:moveTo>
                  <a:lnTo>
                    <a:pt x="1181505" y="0"/>
                  </a:lnTo>
                  <a:lnTo>
                    <a:pt x="1181505" y="13794"/>
                  </a:lnTo>
                  <a:lnTo>
                    <a:pt x="1239354" y="13794"/>
                  </a:lnTo>
                  <a:lnTo>
                    <a:pt x="1239354" y="0"/>
                  </a:lnTo>
                  <a:close/>
                </a:path>
                <a:path w="2354579" h="3996054">
                  <a:moveTo>
                    <a:pt x="1137831" y="0"/>
                  </a:moveTo>
                  <a:lnTo>
                    <a:pt x="1080364" y="0"/>
                  </a:lnTo>
                  <a:lnTo>
                    <a:pt x="1080364" y="13794"/>
                  </a:lnTo>
                  <a:lnTo>
                    <a:pt x="1137831" y="13794"/>
                  </a:lnTo>
                  <a:lnTo>
                    <a:pt x="1137831" y="0"/>
                  </a:lnTo>
                  <a:close/>
                </a:path>
                <a:path w="2354579" h="3996054">
                  <a:moveTo>
                    <a:pt x="1036307" y="0"/>
                  </a:moveTo>
                  <a:lnTo>
                    <a:pt x="978841" y="0"/>
                  </a:lnTo>
                  <a:lnTo>
                    <a:pt x="978841" y="13794"/>
                  </a:lnTo>
                  <a:lnTo>
                    <a:pt x="1036307" y="13794"/>
                  </a:lnTo>
                  <a:lnTo>
                    <a:pt x="1036307" y="0"/>
                  </a:lnTo>
                  <a:close/>
                </a:path>
                <a:path w="2354579" h="3996054">
                  <a:moveTo>
                    <a:pt x="937657" y="0"/>
                  </a:moveTo>
                  <a:lnTo>
                    <a:pt x="879807" y="0"/>
                  </a:lnTo>
                  <a:lnTo>
                    <a:pt x="879807" y="13794"/>
                  </a:lnTo>
                  <a:lnTo>
                    <a:pt x="937657" y="13794"/>
                  </a:lnTo>
                  <a:lnTo>
                    <a:pt x="937657" y="0"/>
                  </a:lnTo>
                  <a:close/>
                </a:path>
                <a:path w="2354579" h="3996054">
                  <a:moveTo>
                    <a:pt x="836133" y="0"/>
                  </a:moveTo>
                  <a:lnTo>
                    <a:pt x="778667" y="0"/>
                  </a:lnTo>
                  <a:lnTo>
                    <a:pt x="778667" y="13794"/>
                  </a:lnTo>
                  <a:lnTo>
                    <a:pt x="836133" y="13794"/>
                  </a:lnTo>
                  <a:lnTo>
                    <a:pt x="836133" y="0"/>
                  </a:lnTo>
                  <a:close/>
                </a:path>
                <a:path w="2354579" h="3996054">
                  <a:moveTo>
                    <a:pt x="734992" y="0"/>
                  </a:moveTo>
                  <a:lnTo>
                    <a:pt x="677143" y="0"/>
                  </a:lnTo>
                  <a:lnTo>
                    <a:pt x="677143" y="13794"/>
                  </a:lnTo>
                  <a:lnTo>
                    <a:pt x="734992" y="13794"/>
                  </a:lnTo>
                  <a:lnTo>
                    <a:pt x="734992" y="0"/>
                  </a:lnTo>
                  <a:close/>
                </a:path>
                <a:path w="2354579" h="3996054">
                  <a:moveTo>
                    <a:pt x="633469" y="0"/>
                  </a:moveTo>
                  <a:lnTo>
                    <a:pt x="576003" y="0"/>
                  </a:lnTo>
                  <a:lnTo>
                    <a:pt x="576003" y="13794"/>
                  </a:lnTo>
                  <a:lnTo>
                    <a:pt x="633469" y="13794"/>
                  </a:lnTo>
                  <a:lnTo>
                    <a:pt x="633469" y="0"/>
                  </a:lnTo>
                  <a:close/>
                </a:path>
                <a:path w="2354579" h="3996054">
                  <a:moveTo>
                    <a:pt x="534244" y="0"/>
                  </a:moveTo>
                  <a:lnTo>
                    <a:pt x="476969" y="0"/>
                  </a:lnTo>
                  <a:lnTo>
                    <a:pt x="476969" y="13794"/>
                  </a:lnTo>
                  <a:lnTo>
                    <a:pt x="534244" y="13794"/>
                  </a:lnTo>
                  <a:lnTo>
                    <a:pt x="534244" y="0"/>
                  </a:lnTo>
                  <a:close/>
                </a:path>
                <a:path w="2354579" h="3996054">
                  <a:moveTo>
                    <a:pt x="433295" y="0"/>
                  </a:moveTo>
                  <a:lnTo>
                    <a:pt x="375254" y="0"/>
                  </a:lnTo>
                  <a:lnTo>
                    <a:pt x="375254" y="13794"/>
                  </a:lnTo>
                  <a:lnTo>
                    <a:pt x="433295" y="13794"/>
                  </a:lnTo>
                  <a:lnTo>
                    <a:pt x="433295" y="0"/>
                  </a:lnTo>
                  <a:close/>
                </a:path>
                <a:path w="2354579" h="3996054">
                  <a:moveTo>
                    <a:pt x="331771" y="0"/>
                  </a:moveTo>
                  <a:lnTo>
                    <a:pt x="274305" y="0"/>
                  </a:lnTo>
                  <a:lnTo>
                    <a:pt x="274305" y="13794"/>
                  </a:lnTo>
                  <a:lnTo>
                    <a:pt x="331771" y="13794"/>
                  </a:lnTo>
                  <a:lnTo>
                    <a:pt x="331771" y="0"/>
                  </a:lnTo>
                  <a:close/>
                </a:path>
                <a:path w="2354579" h="3996054">
                  <a:moveTo>
                    <a:pt x="230631" y="0"/>
                  </a:moveTo>
                  <a:lnTo>
                    <a:pt x="172781" y="0"/>
                  </a:lnTo>
                  <a:lnTo>
                    <a:pt x="172781" y="13794"/>
                  </a:lnTo>
                  <a:lnTo>
                    <a:pt x="230631" y="13794"/>
                  </a:lnTo>
                  <a:lnTo>
                    <a:pt x="230631" y="0"/>
                  </a:lnTo>
                  <a:close/>
                </a:path>
                <a:path w="2354579" h="3996054">
                  <a:moveTo>
                    <a:pt x="131406" y="0"/>
                  </a:moveTo>
                  <a:lnTo>
                    <a:pt x="74131" y="0"/>
                  </a:lnTo>
                  <a:lnTo>
                    <a:pt x="74131" y="13794"/>
                  </a:lnTo>
                  <a:lnTo>
                    <a:pt x="131406" y="13794"/>
                  </a:lnTo>
                  <a:lnTo>
                    <a:pt x="131406" y="0"/>
                  </a:lnTo>
                  <a:close/>
                </a:path>
                <a:path w="2354579" h="3996054">
                  <a:moveTo>
                    <a:pt x="29882" y="0"/>
                  </a:moveTo>
                  <a:lnTo>
                    <a:pt x="0" y="0"/>
                  </a:lnTo>
                  <a:lnTo>
                    <a:pt x="0" y="41576"/>
                  </a:lnTo>
                  <a:lnTo>
                    <a:pt x="13791" y="41576"/>
                  </a:lnTo>
                  <a:lnTo>
                    <a:pt x="13791" y="13794"/>
                  </a:lnTo>
                  <a:lnTo>
                    <a:pt x="7087" y="13794"/>
                  </a:lnTo>
                  <a:lnTo>
                    <a:pt x="13791" y="7089"/>
                  </a:lnTo>
                  <a:lnTo>
                    <a:pt x="29882" y="7089"/>
                  </a:lnTo>
                  <a:lnTo>
                    <a:pt x="29882" y="0"/>
                  </a:lnTo>
                  <a:close/>
                </a:path>
                <a:path w="2354579" h="3996054">
                  <a:moveTo>
                    <a:pt x="13791" y="7089"/>
                  </a:moveTo>
                  <a:lnTo>
                    <a:pt x="7087" y="13794"/>
                  </a:lnTo>
                  <a:lnTo>
                    <a:pt x="13791" y="13794"/>
                  </a:lnTo>
                  <a:lnTo>
                    <a:pt x="13791" y="7089"/>
                  </a:lnTo>
                  <a:close/>
                </a:path>
                <a:path w="2354579" h="3996054">
                  <a:moveTo>
                    <a:pt x="29882" y="7089"/>
                  </a:moveTo>
                  <a:lnTo>
                    <a:pt x="13791" y="7089"/>
                  </a:lnTo>
                  <a:lnTo>
                    <a:pt x="13791" y="13794"/>
                  </a:lnTo>
                  <a:lnTo>
                    <a:pt x="29882" y="13794"/>
                  </a:lnTo>
                  <a:lnTo>
                    <a:pt x="29882" y="7089"/>
                  </a:lnTo>
                  <a:close/>
                </a:path>
                <a:path w="2354579" h="3996054">
                  <a:moveTo>
                    <a:pt x="13791" y="85068"/>
                  </a:moveTo>
                  <a:lnTo>
                    <a:pt x="0" y="85068"/>
                  </a:lnTo>
                  <a:lnTo>
                    <a:pt x="0" y="142738"/>
                  </a:lnTo>
                  <a:lnTo>
                    <a:pt x="13791" y="142738"/>
                  </a:lnTo>
                  <a:lnTo>
                    <a:pt x="13791" y="85068"/>
                  </a:lnTo>
                  <a:close/>
                </a:path>
                <a:path w="2354579" h="3996054">
                  <a:moveTo>
                    <a:pt x="13791" y="186805"/>
                  </a:moveTo>
                  <a:lnTo>
                    <a:pt x="0" y="186805"/>
                  </a:lnTo>
                  <a:lnTo>
                    <a:pt x="0" y="244475"/>
                  </a:lnTo>
                  <a:lnTo>
                    <a:pt x="13791" y="244475"/>
                  </a:lnTo>
                  <a:lnTo>
                    <a:pt x="13791" y="186805"/>
                  </a:lnTo>
                  <a:close/>
                </a:path>
                <a:path w="2354579" h="3996054">
                  <a:moveTo>
                    <a:pt x="13791" y="285476"/>
                  </a:moveTo>
                  <a:lnTo>
                    <a:pt x="0" y="285476"/>
                  </a:lnTo>
                  <a:lnTo>
                    <a:pt x="0" y="343147"/>
                  </a:lnTo>
                  <a:lnTo>
                    <a:pt x="13791" y="343147"/>
                  </a:lnTo>
                  <a:lnTo>
                    <a:pt x="13791" y="285476"/>
                  </a:lnTo>
                  <a:close/>
                </a:path>
                <a:path w="2354579" h="3996054">
                  <a:moveTo>
                    <a:pt x="13791" y="387213"/>
                  </a:moveTo>
                  <a:lnTo>
                    <a:pt x="0" y="387213"/>
                  </a:lnTo>
                  <a:lnTo>
                    <a:pt x="0" y="444884"/>
                  </a:lnTo>
                  <a:lnTo>
                    <a:pt x="13791" y="444884"/>
                  </a:lnTo>
                  <a:lnTo>
                    <a:pt x="13791" y="387213"/>
                  </a:lnTo>
                  <a:close/>
                </a:path>
                <a:path w="2354579" h="3996054">
                  <a:moveTo>
                    <a:pt x="13791" y="488376"/>
                  </a:moveTo>
                  <a:lnTo>
                    <a:pt x="0" y="488376"/>
                  </a:lnTo>
                  <a:lnTo>
                    <a:pt x="0" y="546046"/>
                  </a:lnTo>
                  <a:lnTo>
                    <a:pt x="13791" y="546046"/>
                  </a:lnTo>
                  <a:lnTo>
                    <a:pt x="13791" y="488376"/>
                  </a:lnTo>
                  <a:close/>
                </a:path>
                <a:path w="2354579" h="3996054">
                  <a:moveTo>
                    <a:pt x="13791" y="589921"/>
                  </a:moveTo>
                  <a:lnTo>
                    <a:pt x="0" y="589921"/>
                  </a:lnTo>
                  <a:lnTo>
                    <a:pt x="0" y="647591"/>
                  </a:lnTo>
                  <a:lnTo>
                    <a:pt x="13791" y="647591"/>
                  </a:lnTo>
                  <a:lnTo>
                    <a:pt x="13791" y="589921"/>
                  </a:lnTo>
                  <a:close/>
                </a:path>
                <a:path w="2354579" h="3996054">
                  <a:moveTo>
                    <a:pt x="13792" y="688784"/>
                  </a:moveTo>
                  <a:lnTo>
                    <a:pt x="0" y="688784"/>
                  </a:lnTo>
                  <a:lnTo>
                    <a:pt x="0" y="746454"/>
                  </a:lnTo>
                  <a:lnTo>
                    <a:pt x="13792" y="746454"/>
                  </a:lnTo>
                  <a:lnTo>
                    <a:pt x="13792" y="688784"/>
                  </a:lnTo>
                  <a:close/>
                </a:path>
                <a:path w="2354579" h="3996054">
                  <a:moveTo>
                    <a:pt x="13792" y="790330"/>
                  </a:moveTo>
                  <a:lnTo>
                    <a:pt x="0" y="790330"/>
                  </a:lnTo>
                  <a:lnTo>
                    <a:pt x="0" y="848000"/>
                  </a:lnTo>
                  <a:lnTo>
                    <a:pt x="13792" y="848000"/>
                  </a:lnTo>
                  <a:lnTo>
                    <a:pt x="13792" y="790330"/>
                  </a:lnTo>
                  <a:close/>
                </a:path>
                <a:path w="2354579" h="3996054">
                  <a:moveTo>
                    <a:pt x="13792" y="891492"/>
                  </a:moveTo>
                  <a:lnTo>
                    <a:pt x="0" y="891492"/>
                  </a:lnTo>
                  <a:lnTo>
                    <a:pt x="0" y="949162"/>
                  </a:lnTo>
                  <a:lnTo>
                    <a:pt x="13792" y="949162"/>
                  </a:lnTo>
                  <a:lnTo>
                    <a:pt x="13792" y="891492"/>
                  </a:lnTo>
                  <a:close/>
                </a:path>
                <a:path w="2354579" h="3996054">
                  <a:moveTo>
                    <a:pt x="13792" y="993229"/>
                  </a:moveTo>
                  <a:lnTo>
                    <a:pt x="0" y="993229"/>
                  </a:lnTo>
                  <a:lnTo>
                    <a:pt x="0" y="1050899"/>
                  </a:lnTo>
                  <a:lnTo>
                    <a:pt x="13792" y="1050899"/>
                  </a:lnTo>
                  <a:lnTo>
                    <a:pt x="13792" y="993229"/>
                  </a:lnTo>
                  <a:close/>
                </a:path>
                <a:path w="2354579" h="3996054">
                  <a:moveTo>
                    <a:pt x="13792" y="1092475"/>
                  </a:moveTo>
                  <a:lnTo>
                    <a:pt x="0" y="1092475"/>
                  </a:lnTo>
                  <a:lnTo>
                    <a:pt x="0" y="1149571"/>
                  </a:lnTo>
                  <a:lnTo>
                    <a:pt x="13792" y="1149571"/>
                  </a:lnTo>
                  <a:lnTo>
                    <a:pt x="13792" y="1092475"/>
                  </a:lnTo>
                  <a:close/>
                </a:path>
                <a:path w="2354579" h="3996054">
                  <a:moveTo>
                    <a:pt x="13792" y="1193638"/>
                  </a:moveTo>
                  <a:lnTo>
                    <a:pt x="0" y="1193638"/>
                  </a:lnTo>
                  <a:lnTo>
                    <a:pt x="0" y="1251308"/>
                  </a:lnTo>
                  <a:lnTo>
                    <a:pt x="13792" y="1251308"/>
                  </a:lnTo>
                  <a:lnTo>
                    <a:pt x="13792" y="1193638"/>
                  </a:lnTo>
                  <a:close/>
                </a:path>
                <a:path w="2354579" h="3996054">
                  <a:moveTo>
                    <a:pt x="13792" y="1295183"/>
                  </a:moveTo>
                  <a:lnTo>
                    <a:pt x="0" y="1295183"/>
                  </a:lnTo>
                  <a:lnTo>
                    <a:pt x="0" y="1352470"/>
                  </a:lnTo>
                  <a:lnTo>
                    <a:pt x="13792" y="1352470"/>
                  </a:lnTo>
                  <a:lnTo>
                    <a:pt x="13792" y="1295183"/>
                  </a:lnTo>
                  <a:close/>
                </a:path>
                <a:path w="2354579" h="3996054">
                  <a:moveTo>
                    <a:pt x="13792" y="1396345"/>
                  </a:moveTo>
                  <a:lnTo>
                    <a:pt x="0" y="1396345"/>
                  </a:lnTo>
                  <a:lnTo>
                    <a:pt x="0" y="1454016"/>
                  </a:lnTo>
                  <a:lnTo>
                    <a:pt x="13792" y="1454016"/>
                  </a:lnTo>
                  <a:lnTo>
                    <a:pt x="13792" y="1396345"/>
                  </a:lnTo>
                  <a:close/>
                </a:path>
                <a:path w="2354579" h="3996054">
                  <a:moveTo>
                    <a:pt x="13792" y="1495592"/>
                  </a:moveTo>
                  <a:lnTo>
                    <a:pt x="0" y="1495592"/>
                  </a:lnTo>
                  <a:lnTo>
                    <a:pt x="0" y="1552879"/>
                  </a:lnTo>
                  <a:lnTo>
                    <a:pt x="13792" y="1552879"/>
                  </a:lnTo>
                  <a:lnTo>
                    <a:pt x="13792" y="1495592"/>
                  </a:lnTo>
                  <a:close/>
                </a:path>
                <a:path w="2354579" h="3996054">
                  <a:moveTo>
                    <a:pt x="13792" y="1596754"/>
                  </a:moveTo>
                  <a:lnTo>
                    <a:pt x="0" y="1596754"/>
                  </a:lnTo>
                  <a:lnTo>
                    <a:pt x="0" y="1654424"/>
                  </a:lnTo>
                  <a:lnTo>
                    <a:pt x="13792" y="1654424"/>
                  </a:lnTo>
                  <a:lnTo>
                    <a:pt x="13792" y="1596754"/>
                  </a:lnTo>
                  <a:close/>
                </a:path>
                <a:path w="2354579" h="3996054">
                  <a:moveTo>
                    <a:pt x="13792" y="1698491"/>
                  </a:moveTo>
                  <a:lnTo>
                    <a:pt x="0" y="1698491"/>
                  </a:lnTo>
                  <a:lnTo>
                    <a:pt x="0" y="1755587"/>
                  </a:lnTo>
                  <a:lnTo>
                    <a:pt x="13792" y="1755587"/>
                  </a:lnTo>
                  <a:lnTo>
                    <a:pt x="13792" y="1698491"/>
                  </a:lnTo>
                  <a:close/>
                </a:path>
                <a:path w="2354579" h="3996054">
                  <a:moveTo>
                    <a:pt x="13792" y="1799653"/>
                  </a:moveTo>
                  <a:lnTo>
                    <a:pt x="0" y="1799653"/>
                  </a:lnTo>
                  <a:lnTo>
                    <a:pt x="0" y="1857324"/>
                  </a:lnTo>
                  <a:lnTo>
                    <a:pt x="13792" y="1857324"/>
                  </a:lnTo>
                  <a:lnTo>
                    <a:pt x="13792" y="1799653"/>
                  </a:lnTo>
                  <a:close/>
                </a:path>
                <a:path w="2354579" h="3996054">
                  <a:moveTo>
                    <a:pt x="13792" y="1898900"/>
                  </a:moveTo>
                  <a:lnTo>
                    <a:pt x="0" y="1898900"/>
                  </a:lnTo>
                  <a:lnTo>
                    <a:pt x="0" y="1956570"/>
                  </a:lnTo>
                  <a:lnTo>
                    <a:pt x="13792" y="1956570"/>
                  </a:lnTo>
                  <a:lnTo>
                    <a:pt x="13792" y="1898900"/>
                  </a:lnTo>
                  <a:close/>
                </a:path>
                <a:path w="2354579" h="3996054">
                  <a:moveTo>
                    <a:pt x="13792" y="2000062"/>
                  </a:moveTo>
                  <a:lnTo>
                    <a:pt x="0" y="2000062"/>
                  </a:lnTo>
                  <a:lnTo>
                    <a:pt x="0" y="2057732"/>
                  </a:lnTo>
                  <a:lnTo>
                    <a:pt x="13792" y="2057732"/>
                  </a:lnTo>
                  <a:lnTo>
                    <a:pt x="13792" y="2000062"/>
                  </a:lnTo>
                  <a:close/>
                </a:path>
                <a:path w="2354579" h="3996054">
                  <a:moveTo>
                    <a:pt x="13792" y="2101608"/>
                  </a:moveTo>
                  <a:lnTo>
                    <a:pt x="0" y="2101608"/>
                  </a:lnTo>
                  <a:lnTo>
                    <a:pt x="0" y="2159278"/>
                  </a:lnTo>
                  <a:lnTo>
                    <a:pt x="13792" y="2159278"/>
                  </a:lnTo>
                  <a:lnTo>
                    <a:pt x="13792" y="2101608"/>
                  </a:lnTo>
                  <a:close/>
                </a:path>
                <a:path w="2354579" h="3996054">
                  <a:moveTo>
                    <a:pt x="13792" y="2202827"/>
                  </a:moveTo>
                  <a:lnTo>
                    <a:pt x="0" y="2202827"/>
                  </a:lnTo>
                  <a:lnTo>
                    <a:pt x="0" y="2260497"/>
                  </a:lnTo>
                  <a:lnTo>
                    <a:pt x="13792" y="2260497"/>
                  </a:lnTo>
                  <a:lnTo>
                    <a:pt x="13792" y="2202827"/>
                  </a:lnTo>
                  <a:close/>
                </a:path>
                <a:path w="2354579" h="3996054">
                  <a:moveTo>
                    <a:pt x="13792" y="2302093"/>
                  </a:moveTo>
                  <a:lnTo>
                    <a:pt x="0" y="2302093"/>
                  </a:lnTo>
                  <a:lnTo>
                    <a:pt x="0" y="2359763"/>
                  </a:lnTo>
                  <a:lnTo>
                    <a:pt x="13792" y="2359763"/>
                  </a:lnTo>
                  <a:lnTo>
                    <a:pt x="13792" y="2302093"/>
                  </a:lnTo>
                  <a:close/>
                </a:path>
                <a:path w="2354579" h="3996054">
                  <a:moveTo>
                    <a:pt x="13792" y="2403255"/>
                  </a:moveTo>
                  <a:lnTo>
                    <a:pt x="0" y="2403255"/>
                  </a:lnTo>
                  <a:lnTo>
                    <a:pt x="0" y="2460925"/>
                  </a:lnTo>
                  <a:lnTo>
                    <a:pt x="13792" y="2460925"/>
                  </a:lnTo>
                  <a:lnTo>
                    <a:pt x="13792" y="2403255"/>
                  </a:lnTo>
                  <a:close/>
                </a:path>
                <a:path w="2354579" h="3996054">
                  <a:moveTo>
                    <a:pt x="13792" y="2504877"/>
                  </a:moveTo>
                  <a:lnTo>
                    <a:pt x="0" y="2504877"/>
                  </a:lnTo>
                  <a:lnTo>
                    <a:pt x="0" y="2562547"/>
                  </a:lnTo>
                  <a:lnTo>
                    <a:pt x="13792" y="2562547"/>
                  </a:lnTo>
                  <a:lnTo>
                    <a:pt x="13792" y="2504877"/>
                  </a:lnTo>
                  <a:close/>
                </a:path>
                <a:path w="2354579" h="3996054">
                  <a:moveTo>
                    <a:pt x="13792" y="2606039"/>
                  </a:moveTo>
                  <a:lnTo>
                    <a:pt x="0" y="2606039"/>
                  </a:lnTo>
                  <a:lnTo>
                    <a:pt x="0" y="2663710"/>
                  </a:lnTo>
                  <a:lnTo>
                    <a:pt x="13792" y="2663710"/>
                  </a:lnTo>
                  <a:lnTo>
                    <a:pt x="13792" y="2606039"/>
                  </a:lnTo>
                  <a:close/>
                </a:path>
                <a:path w="2354579" h="3996054">
                  <a:moveTo>
                    <a:pt x="13792" y="2705305"/>
                  </a:moveTo>
                  <a:lnTo>
                    <a:pt x="0" y="2705305"/>
                  </a:lnTo>
                  <a:lnTo>
                    <a:pt x="0" y="2762975"/>
                  </a:lnTo>
                  <a:lnTo>
                    <a:pt x="13792" y="2762975"/>
                  </a:lnTo>
                  <a:lnTo>
                    <a:pt x="13792" y="2705305"/>
                  </a:lnTo>
                  <a:close/>
                </a:path>
                <a:path w="2354579" h="3996054">
                  <a:moveTo>
                    <a:pt x="13792" y="2806467"/>
                  </a:moveTo>
                  <a:lnTo>
                    <a:pt x="0" y="2806467"/>
                  </a:lnTo>
                  <a:lnTo>
                    <a:pt x="0" y="2864137"/>
                  </a:lnTo>
                  <a:lnTo>
                    <a:pt x="13792" y="2864137"/>
                  </a:lnTo>
                  <a:lnTo>
                    <a:pt x="13792" y="2806467"/>
                  </a:lnTo>
                  <a:close/>
                </a:path>
                <a:path w="2354579" h="3996054">
                  <a:moveTo>
                    <a:pt x="13792" y="2908108"/>
                  </a:moveTo>
                  <a:lnTo>
                    <a:pt x="0" y="2908108"/>
                  </a:lnTo>
                  <a:lnTo>
                    <a:pt x="0" y="2965779"/>
                  </a:lnTo>
                  <a:lnTo>
                    <a:pt x="13792" y="2965779"/>
                  </a:lnTo>
                  <a:lnTo>
                    <a:pt x="13792" y="2908108"/>
                  </a:lnTo>
                  <a:close/>
                </a:path>
                <a:path w="2354579" h="3996054">
                  <a:moveTo>
                    <a:pt x="13792" y="3009252"/>
                  </a:moveTo>
                  <a:lnTo>
                    <a:pt x="0" y="3009252"/>
                  </a:lnTo>
                  <a:lnTo>
                    <a:pt x="0" y="3066922"/>
                  </a:lnTo>
                  <a:lnTo>
                    <a:pt x="13792" y="3066922"/>
                  </a:lnTo>
                  <a:lnTo>
                    <a:pt x="13792" y="3009252"/>
                  </a:lnTo>
                  <a:close/>
                </a:path>
                <a:path w="2354579" h="3996054">
                  <a:moveTo>
                    <a:pt x="13792" y="3108517"/>
                  </a:moveTo>
                  <a:lnTo>
                    <a:pt x="0" y="3108517"/>
                  </a:lnTo>
                  <a:lnTo>
                    <a:pt x="0" y="3166187"/>
                  </a:lnTo>
                  <a:lnTo>
                    <a:pt x="13792" y="3166187"/>
                  </a:lnTo>
                  <a:lnTo>
                    <a:pt x="13792" y="3108517"/>
                  </a:lnTo>
                  <a:close/>
                </a:path>
                <a:path w="2354579" h="3996054">
                  <a:moveTo>
                    <a:pt x="13792" y="3209679"/>
                  </a:moveTo>
                  <a:lnTo>
                    <a:pt x="0" y="3209679"/>
                  </a:lnTo>
                  <a:lnTo>
                    <a:pt x="0" y="3267349"/>
                  </a:lnTo>
                  <a:lnTo>
                    <a:pt x="13792" y="3267349"/>
                  </a:lnTo>
                  <a:lnTo>
                    <a:pt x="13792" y="3209679"/>
                  </a:lnTo>
                  <a:close/>
                </a:path>
                <a:path w="2354579" h="3996054">
                  <a:moveTo>
                    <a:pt x="13792" y="3311321"/>
                  </a:moveTo>
                  <a:lnTo>
                    <a:pt x="0" y="3311321"/>
                  </a:lnTo>
                  <a:lnTo>
                    <a:pt x="0" y="3368991"/>
                  </a:lnTo>
                  <a:lnTo>
                    <a:pt x="13792" y="3368991"/>
                  </a:lnTo>
                  <a:lnTo>
                    <a:pt x="13792" y="3311321"/>
                  </a:lnTo>
                  <a:close/>
                </a:path>
                <a:path w="2354579" h="3996054">
                  <a:moveTo>
                    <a:pt x="13792" y="3412464"/>
                  </a:moveTo>
                  <a:lnTo>
                    <a:pt x="0" y="3412464"/>
                  </a:lnTo>
                  <a:lnTo>
                    <a:pt x="0" y="3470134"/>
                  </a:lnTo>
                  <a:lnTo>
                    <a:pt x="13792" y="3470134"/>
                  </a:lnTo>
                  <a:lnTo>
                    <a:pt x="13792" y="3412464"/>
                  </a:lnTo>
                  <a:close/>
                </a:path>
                <a:path w="2354579" h="3996054">
                  <a:moveTo>
                    <a:pt x="13792" y="3511748"/>
                  </a:moveTo>
                  <a:lnTo>
                    <a:pt x="0" y="3511748"/>
                  </a:lnTo>
                  <a:lnTo>
                    <a:pt x="0" y="3569419"/>
                  </a:lnTo>
                  <a:lnTo>
                    <a:pt x="13792" y="3569419"/>
                  </a:lnTo>
                  <a:lnTo>
                    <a:pt x="13792" y="3511748"/>
                  </a:lnTo>
                  <a:close/>
                </a:path>
                <a:path w="2354579" h="3996054">
                  <a:moveTo>
                    <a:pt x="13792" y="3613370"/>
                  </a:moveTo>
                  <a:lnTo>
                    <a:pt x="0" y="3613370"/>
                  </a:lnTo>
                  <a:lnTo>
                    <a:pt x="0" y="3670562"/>
                  </a:lnTo>
                  <a:lnTo>
                    <a:pt x="13792" y="3670562"/>
                  </a:lnTo>
                  <a:lnTo>
                    <a:pt x="13792" y="3613370"/>
                  </a:lnTo>
                  <a:close/>
                </a:path>
                <a:path w="2354579" h="3996054">
                  <a:moveTo>
                    <a:pt x="13792" y="3714533"/>
                  </a:moveTo>
                  <a:lnTo>
                    <a:pt x="0" y="3714533"/>
                  </a:lnTo>
                  <a:lnTo>
                    <a:pt x="0" y="3772203"/>
                  </a:lnTo>
                  <a:lnTo>
                    <a:pt x="13792" y="3772203"/>
                  </a:lnTo>
                  <a:lnTo>
                    <a:pt x="13792" y="3714533"/>
                  </a:lnTo>
                  <a:close/>
                </a:path>
                <a:path w="2354579" h="3996054">
                  <a:moveTo>
                    <a:pt x="13792" y="3816155"/>
                  </a:moveTo>
                  <a:lnTo>
                    <a:pt x="0" y="3816155"/>
                  </a:lnTo>
                  <a:lnTo>
                    <a:pt x="0" y="3873365"/>
                  </a:lnTo>
                  <a:lnTo>
                    <a:pt x="13792" y="3873365"/>
                  </a:lnTo>
                  <a:lnTo>
                    <a:pt x="13792" y="3816155"/>
                  </a:lnTo>
                  <a:close/>
                </a:path>
                <a:path w="2354579" h="3996054">
                  <a:moveTo>
                    <a:pt x="13792" y="3914957"/>
                  </a:moveTo>
                  <a:lnTo>
                    <a:pt x="0" y="3914957"/>
                  </a:lnTo>
                  <a:lnTo>
                    <a:pt x="0" y="3972625"/>
                  </a:lnTo>
                  <a:lnTo>
                    <a:pt x="13792" y="3972625"/>
                  </a:lnTo>
                  <a:lnTo>
                    <a:pt x="13792" y="3914957"/>
                  </a:lnTo>
                  <a:close/>
                </a:path>
                <a:path w="2354579" h="3996054">
                  <a:moveTo>
                    <a:pt x="92138" y="3982080"/>
                  </a:moveTo>
                  <a:lnTo>
                    <a:pt x="34671" y="3982080"/>
                  </a:lnTo>
                  <a:lnTo>
                    <a:pt x="34671" y="3995787"/>
                  </a:lnTo>
                  <a:lnTo>
                    <a:pt x="92138" y="3995787"/>
                  </a:lnTo>
                  <a:lnTo>
                    <a:pt x="92138" y="3982080"/>
                  </a:lnTo>
                  <a:close/>
                </a:path>
                <a:path w="2354579" h="3996054">
                  <a:moveTo>
                    <a:pt x="193661" y="3982080"/>
                  </a:moveTo>
                  <a:lnTo>
                    <a:pt x="136195" y="3982080"/>
                  </a:lnTo>
                  <a:lnTo>
                    <a:pt x="136195" y="3995787"/>
                  </a:lnTo>
                  <a:lnTo>
                    <a:pt x="193661" y="3995787"/>
                  </a:lnTo>
                  <a:lnTo>
                    <a:pt x="193661" y="3982080"/>
                  </a:lnTo>
                  <a:close/>
                </a:path>
                <a:path w="2354579" h="3996054">
                  <a:moveTo>
                    <a:pt x="295185" y="3982080"/>
                  </a:moveTo>
                  <a:lnTo>
                    <a:pt x="237336" y="3982080"/>
                  </a:lnTo>
                  <a:lnTo>
                    <a:pt x="237336" y="3995787"/>
                  </a:lnTo>
                  <a:lnTo>
                    <a:pt x="295185" y="3995787"/>
                  </a:lnTo>
                  <a:lnTo>
                    <a:pt x="295185" y="3982080"/>
                  </a:lnTo>
                  <a:close/>
                </a:path>
                <a:path w="2354579" h="3996054">
                  <a:moveTo>
                    <a:pt x="396134" y="3982080"/>
                  </a:moveTo>
                  <a:lnTo>
                    <a:pt x="338859" y="3982080"/>
                  </a:lnTo>
                  <a:lnTo>
                    <a:pt x="338859" y="3995787"/>
                  </a:lnTo>
                  <a:lnTo>
                    <a:pt x="396134" y="3995787"/>
                  </a:lnTo>
                  <a:lnTo>
                    <a:pt x="396134" y="3982080"/>
                  </a:lnTo>
                  <a:close/>
                </a:path>
                <a:path w="2354579" h="3996054">
                  <a:moveTo>
                    <a:pt x="495359" y="3982080"/>
                  </a:moveTo>
                  <a:lnTo>
                    <a:pt x="437893" y="3982080"/>
                  </a:lnTo>
                  <a:lnTo>
                    <a:pt x="437893" y="3995787"/>
                  </a:lnTo>
                  <a:lnTo>
                    <a:pt x="495359" y="3995787"/>
                  </a:lnTo>
                  <a:lnTo>
                    <a:pt x="495359" y="3982080"/>
                  </a:lnTo>
                  <a:close/>
                </a:path>
                <a:path w="2354579" h="3996054">
                  <a:moveTo>
                    <a:pt x="596499" y="3982080"/>
                  </a:moveTo>
                  <a:lnTo>
                    <a:pt x="539033" y="3982080"/>
                  </a:lnTo>
                  <a:lnTo>
                    <a:pt x="539033" y="3995787"/>
                  </a:lnTo>
                  <a:lnTo>
                    <a:pt x="596499" y="3995787"/>
                  </a:lnTo>
                  <a:lnTo>
                    <a:pt x="596499" y="3982080"/>
                  </a:lnTo>
                  <a:close/>
                </a:path>
                <a:path w="2354579" h="3996054">
                  <a:moveTo>
                    <a:pt x="698023" y="3982080"/>
                  </a:moveTo>
                  <a:lnTo>
                    <a:pt x="640557" y="3982080"/>
                  </a:lnTo>
                  <a:lnTo>
                    <a:pt x="640557" y="3995787"/>
                  </a:lnTo>
                  <a:lnTo>
                    <a:pt x="698023" y="3995787"/>
                  </a:lnTo>
                  <a:lnTo>
                    <a:pt x="698023" y="3982080"/>
                  </a:lnTo>
                  <a:close/>
                </a:path>
                <a:path w="2354579" h="3996054">
                  <a:moveTo>
                    <a:pt x="799547" y="3982080"/>
                  </a:moveTo>
                  <a:lnTo>
                    <a:pt x="741697" y="3982080"/>
                  </a:lnTo>
                  <a:lnTo>
                    <a:pt x="741697" y="3995787"/>
                  </a:lnTo>
                  <a:lnTo>
                    <a:pt x="799547" y="3995787"/>
                  </a:lnTo>
                  <a:lnTo>
                    <a:pt x="799547" y="3982080"/>
                  </a:lnTo>
                  <a:close/>
                </a:path>
                <a:path w="2354579" h="3996054">
                  <a:moveTo>
                    <a:pt x="898197" y="3982080"/>
                  </a:moveTo>
                  <a:lnTo>
                    <a:pt x="840731" y="3982080"/>
                  </a:lnTo>
                  <a:lnTo>
                    <a:pt x="840731" y="3995787"/>
                  </a:lnTo>
                  <a:lnTo>
                    <a:pt x="898197" y="3995787"/>
                  </a:lnTo>
                  <a:lnTo>
                    <a:pt x="898197" y="3982080"/>
                  </a:lnTo>
                  <a:close/>
                </a:path>
                <a:path w="2354579" h="3996054">
                  <a:moveTo>
                    <a:pt x="999721" y="3982080"/>
                  </a:moveTo>
                  <a:lnTo>
                    <a:pt x="941871" y="3982080"/>
                  </a:lnTo>
                  <a:lnTo>
                    <a:pt x="941871" y="3995787"/>
                  </a:lnTo>
                  <a:lnTo>
                    <a:pt x="999721" y="3995787"/>
                  </a:lnTo>
                  <a:lnTo>
                    <a:pt x="999721" y="3982080"/>
                  </a:lnTo>
                  <a:close/>
                </a:path>
                <a:path w="2354579" h="3996054">
                  <a:moveTo>
                    <a:pt x="1100861" y="3982080"/>
                  </a:moveTo>
                  <a:lnTo>
                    <a:pt x="1043395" y="3982080"/>
                  </a:lnTo>
                  <a:lnTo>
                    <a:pt x="1043395" y="3995787"/>
                  </a:lnTo>
                  <a:lnTo>
                    <a:pt x="1100861" y="3995787"/>
                  </a:lnTo>
                  <a:lnTo>
                    <a:pt x="1100861" y="3982080"/>
                  </a:lnTo>
                  <a:close/>
                </a:path>
                <a:path w="2354579" h="3996054">
                  <a:moveTo>
                    <a:pt x="1202385" y="3982080"/>
                  </a:moveTo>
                  <a:lnTo>
                    <a:pt x="1144919" y="3982080"/>
                  </a:lnTo>
                  <a:lnTo>
                    <a:pt x="1144919" y="3995787"/>
                  </a:lnTo>
                  <a:lnTo>
                    <a:pt x="1202385" y="3995787"/>
                  </a:lnTo>
                  <a:lnTo>
                    <a:pt x="1202385" y="3982080"/>
                  </a:lnTo>
                  <a:close/>
                </a:path>
                <a:path w="2354579" h="3996054">
                  <a:moveTo>
                    <a:pt x="1301610" y="3982080"/>
                  </a:moveTo>
                  <a:lnTo>
                    <a:pt x="1243569" y="3982080"/>
                  </a:lnTo>
                  <a:lnTo>
                    <a:pt x="1243569" y="3995787"/>
                  </a:lnTo>
                  <a:lnTo>
                    <a:pt x="1301610" y="3995787"/>
                  </a:lnTo>
                  <a:lnTo>
                    <a:pt x="1301610" y="3982080"/>
                  </a:lnTo>
                  <a:close/>
                </a:path>
                <a:path w="2354579" h="3996054">
                  <a:moveTo>
                    <a:pt x="1402559" y="3982080"/>
                  </a:moveTo>
                  <a:lnTo>
                    <a:pt x="1345284" y="3982080"/>
                  </a:lnTo>
                  <a:lnTo>
                    <a:pt x="1345284" y="3995787"/>
                  </a:lnTo>
                  <a:lnTo>
                    <a:pt x="1402559" y="3995787"/>
                  </a:lnTo>
                  <a:lnTo>
                    <a:pt x="1402559" y="3982080"/>
                  </a:lnTo>
                  <a:close/>
                </a:path>
                <a:path w="2354579" h="3996054">
                  <a:moveTo>
                    <a:pt x="1504083" y="3982080"/>
                  </a:moveTo>
                  <a:lnTo>
                    <a:pt x="1446233" y="3982080"/>
                  </a:lnTo>
                  <a:lnTo>
                    <a:pt x="1446233" y="3995787"/>
                  </a:lnTo>
                  <a:lnTo>
                    <a:pt x="1504083" y="3995787"/>
                  </a:lnTo>
                  <a:lnTo>
                    <a:pt x="1504083" y="3982080"/>
                  </a:lnTo>
                  <a:close/>
                </a:path>
                <a:path w="2354579" h="3996054">
                  <a:moveTo>
                    <a:pt x="1605223" y="3982080"/>
                  </a:moveTo>
                  <a:lnTo>
                    <a:pt x="1547757" y="3982080"/>
                  </a:lnTo>
                  <a:lnTo>
                    <a:pt x="1547757" y="3995787"/>
                  </a:lnTo>
                  <a:lnTo>
                    <a:pt x="1605223" y="3995787"/>
                  </a:lnTo>
                  <a:lnTo>
                    <a:pt x="1605223" y="3982080"/>
                  </a:lnTo>
                  <a:close/>
                </a:path>
                <a:path w="2354579" h="3996054">
                  <a:moveTo>
                    <a:pt x="1704448" y="3982080"/>
                  </a:moveTo>
                  <a:lnTo>
                    <a:pt x="1646982" y="3982080"/>
                  </a:lnTo>
                  <a:lnTo>
                    <a:pt x="1646982" y="3995787"/>
                  </a:lnTo>
                  <a:lnTo>
                    <a:pt x="1704448" y="3995787"/>
                  </a:lnTo>
                  <a:lnTo>
                    <a:pt x="1704448" y="3982080"/>
                  </a:lnTo>
                  <a:close/>
                </a:path>
                <a:path w="2354579" h="3996054">
                  <a:moveTo>
                    <a:pt x="1805972" y="3982080"/>
                  </a:moveTo>
                  <a:lnTo>
                    <a:pt x="1748122" y="3982080"/>
                  </a:lnTo>
                  <a:lnTo>
                    <a:pt x="1748122" y="3995787"/>
                  </a:lnTo>
                  <a:lnTo>
                    <a:pt x="1805972" y="3995787"/>
                  </a:lnTo>
                  <a:lnTo>
                    <a:pt x="1805972" y="3982080"/>
                  </a:lnTo>
                  <a:close/>
                </a:path>
                <a:path w="2354579" h="3996054">
                  <a:moveTo>
                    <a:pt x="1906921" y="3982080"/>
                  </a:moveTo>
                  <a:lnTo>
                    <a:pt x="1849646" y="3982080"/>
                  </a:lnTo>
                  <a:lnTo>
                    <a:pt x="1849646" y="3995787"/>
                  </a:lnTo>
                  <a:lnTo>
                    <a:pt x="1906921" y="3995787"/>
                  </a:lnTo>
                  <a:lnTo>
                    <a:pt x="1906921" y="3982080"/>
                  </a:lnTo>
                  <a:close/>
                </a:path>
                <a:path w="2354579" h="3996054">
                  <a:moveTo>
                    <a:pt x="2008444" y="3982080"/>
                  </a:moveTo>
                  <a:lnTo>
                    <a:pt x="1950595" y="3982080"/>
                  </a:lnTo>
                  <a:lnTo>
                    <a:pt x="1950595" y="3995787"/>
                  </a:lnTo>
                  <a:lnTo>
                    <a:pt x="2008444" y="3995787"/>
                  </a:lnTo>
                  <a:lnTo>
                    <a:pt x="2008444" y="3982080"/>
                  </a:lnTo>
                  <a:close/>
                </a:path>
                <a:path w="2354579" h="3996054">
                  <a:moveTo>
                    <a:pt x="2107286" y="3982080"/>
                  </a:moveTo>
                  <a:lnTo>
                    <a:pt x="2049820" y="3982080"/>
                  </a:lnTo>
                  <a:lnTo>
                    <a:pt x="2049820" y="3995787"/>
                  </a:lnTo>
                  <a:lnTo>
                    <a:pt x="2107286" y="3995787"/>
                  </a:lnTo>
                  <a:lnTo>
                    <a:pt x="2107286" y="3982080"/>
                  </a:lnTo>
                  <a:close/>
                </a:path>
                <a:path w="2354579" h="3996054">
                  <a:moveTo>
                    <a:pt x="2208810" y="3982080"/>
                  </a:moveTo>
                  <a:lnTo>
                    <a:pt x="2151344" y="3982080"/>
                  </a:lnTo>
                  <a:lnTo>
                    <a:pt x="2151344" y="3995787"/>
                  </a:lnTo>
                  <a:lnTo>
                    <a:pt x="2208810" y="3995787"/>
                  </a:lnTo>
                  <a:lnTo>
                    <a:pt x="2208810" y="3982080"/>
                  </a:lnTo>
                  <a:close/>
                </a:path>
                <a:path w="2354579" h="3996054">
                  <a:moveTo>
                    <a:pt x="2310334" y="3982080"/>
                  </a:moveTo>
                  <a:lnTo>
                    <a:pt x="2252484" y="3982080"/>
                  </a:lnTo>
                  <a:lnTo>
                    <a:pt x="2252484" y="3995787"/>
                  </a:lnTo>
                  <a:lnTo>
                    <a:pt x="2310334" y="3995787"/>
                  </a:lnTo>
                  <a:lnTo>
                    <a:pt x="2310334" y="3982080"/>
                  </a:lnTo>
                  <a:close/>
                </a:path>
                <a:path w="2354579" h="3996054">
                  <a:moveTo>
                    <a:pt x="2354008" y="3926772"/>
                  </a:moveTo>
                  <a:lnTo>
                    <a:pt x="2340216" y="3926772"/>
                  </a:lnTo>
                  <a:lnTo>
                    <a:pt x="2340216" y="3983969"/>
                  </a:lnTo>
                  <a:lnTo>
                    <a:pt x="2354008" y="3983969"/>
                  </a:lnTo>
                  <a:lnTo>
                    <a:pt x="2354008" y="3926772"/>
                  </a:lnTo>
                  <a:close/>
                </a:path>
                <a:path w="2354579" h="3996054">
                  <a:moveTo>
                    <a:pt x="2354008" y="3825141"/>
                  </a:moveTo>
                  <a:lnTo>
                    <a:pt x="2340216" y="3825141"/>
                  </a:lnTo>
                  <a:lnTo>
                    <a:pt x="2340216" y="3882811"/>
                  </a:lnTo>
                  <a:lnTo>
                    <a:pt x="2354008" y="3882811"/>
                  </a:lnTo>
                  <a:lnTo>
                    <a:pt x="2354008" y="3825141"/>
                  </a:lnTo>
                  <a:close/>
                </a:path>
                <a:path w="2354579" h="3996054">
                  <a:moveTo>
                    <a:pt x="2354008" y="3723978"/>
                  </a:moveTo>
                  <a:lnTo>
                    <a:pt x="2340216" y="3723978"/>
                  </a:lnTo>
                  <a:lnTo>
                    <a:pt x="2340216" y="3781189"/>
                  </a:lnTo>
                  <a:lnTo>
                    <a:pt x="2354008" y="3781189"/>
                  </a:lnTo>
                  <a:lnTo>
                    <a:pt x="2354008" y="3723978"/>
                  </a:lnTo>
                  <a:close/>
                </a:path>
                <a:path w="2354579" h="3996054">
                  <a:moveTo>
                    <a:pt x="2354008" y="3622356"/>
                  </a:moveTo>
                  <a:lnTo>
                    <a:pt x="2340216" y="3622356"/>
                  </a:lnTo>
                  <a:lnTo>
                    <a:pt x="2340216" y="3680026"/>
                  </a:lnTo>
                  <a:lnTo>
                    <a:pt x="2354008" y="3680026"/>
                  </a:lnTo>
                  <a:lnTo>
                    <a:pt x="2354008" y="3622356"/>
                  </a:lnTo>
                  <a:close/>
                </a:path>
                <a:path w="2354579" h="3996054">
                  <a:moveTo>
                    <a:pt x="2354008" y="3523091"/>
                  </a:moveTo>
                  <a:lnTo>
                    <a:pt x="2340216" y="3523091"/>
                  </a:lnTo>
                  <a:lnTo>
                    <a:pt x="2340216" y="3580761"/>
                  </a:lnTo>
                  <a:lnTo>
                    <a:pt x="2354008" y="3580761"/>
                  </a:lnTo>
                  <a:lnTo>
                    <a:pt x="2354008" y="3523091"/>
                  </a:lnTo>
                  <a:close/>
                </a:path>
                <a:path w="2354579" h="3996054">
                  <a:moveTo>
                    <a:pt x="2354008" y="3421929"/>
                  </a:moveTo>
                  <a:lnTo>
                    <a:pt x="2340216" y="3421929"/>
                  </a:lnTo>
                  <a:lnTo>
                    <a:pt x="2340216" y="3479599"/>
                  </a:lnTo>
                  <a:lnTo>
                    <a:pt x="2354008" y="3479599"/>
                  </a:lnTo>
                  <a:lnTo>
                    <a:pt x="2354008" y="3421929"/>
                  </a:lnTo>
                  <a:close/>
                </a:path>
                <a:path w="2354579" h="3996054">
                  <a:moveTo>
                    <a:pt x="2354008" y="3320287"/>
                  </a:moveTo>
                  <a:lnTo>
                    <a:pt x="2340216" y="3320287"/>
                  </a:lnTo>
                  <a:lnTo>
                    <a:pt x="2340216" y="3377957"/>
                  </a:lnTo>
                  <a:lnTo>
                    <a:pt x="2354008" y="3377957"/>
                  </a:lnTo>
                  <a:lnTo>
                    <a:pt x="2354008" y="3320287"/>
                  </a:lnTo>
                  <a:close/>
                </a:path>
                <a:path w="2354579" h="3996054">
                  <a:moveTo>
                    <a:pt x="2354008" y="3219144"/>
                  </a:moveTo>
                  <a:lnTo>
                    <a:pt x="2340216" y="3219144"/>
                  </a:lnTo>
                  <a:lnTo>
                    <a:pt x="2340216" y="3276814"/>
                  </a:lnTo>
                  <a:lnTo>
                    <a:pt x="2354008" y="3276814"/>
                  </a:lnTo>
                  <a:lnTo>
                    <a:pt x="2354008" y="3219144"/>
                  </a:lnTo>
                  <a:close/>
                </a:path>
                <a:path w="2354579" h="3996054">
                  <a:moveTo>
                    <a:pt x="2354008" y="3119879"/>
                  </a:moveTo>
                  <a:lnTo>
                    <a:pt x="2340216" y="3119879"/>
                  </a:lnTo>
                  <a:lnTo>
                    <a:pt x="2340216" y="3177549"/>
                  </a:lnTo>
                  <a:lnTo>
                    <a:pt x="2354008" y="3177549"/>
                  </a:lnTo>
                  <a:lnTo>
                    <a:pt x="2354008" y="3119879"/>
                  </a:lnTo>
                  <a:close/>
                </a:path>
                <a:path w="2354579" h="3996054">
                  <a:moveTo>
                    <a:pt x="2354008" y="3018716"/>
                  </a:moveTo>
                  <a:lnTo>
                    <a:pt x="2340216" y="3018716"/>
                  </a:lnTo>
                  <a:lnTo>
                    <a:pt x="2340216" y="3076387"/>
                  </a:lnTo>
                  <a:lnTo>
                    <a:pt x="2354008" y="3076387"/>
                  </a:lnTo>
                  <a:lnTo>
                    <a:pt x="2354008" y="3018716"/>
                  </a:lnTo>
                  <a:close/>
                </a:path>
                <a:path w="2354579" h="3996054">
                  <a:moveTo>
                    <a:pt x="2354008" y="2917075"/>
                  </a:moveTo>
                  <a:lnTo>
                    <a:pt x="2340216" y="2917075"/>
                  </a:lnTo>
                  <a:lnTo>
                    <a:pt x="2340216" y="2974745"/>
                  </a:lnTo>
                  <a:lnTo>
                    <a:pt x="2354008" y="2974745"/>
                  </a:lnTo>
                  <a:lnTo>
                    <a:pt x="2354008" y="2917075"/>
                  </a:lnTo>
                  <a:close/>
                </a:path>
                <a:path w="2354579" h="3996054">
                  <a:moveTo>
                    <a:pt x="2354008" y="2815932"/>
                  </a:moveTo>
                  <a:lnTo>
                    <a:pt x="2340216" y="2815932"/>
                  </a:lnTo>
                  <a:lnTo>
                    <a:pt x="2340216" y="2873602"/>
                  </a:lnTo>
                  <a:lnTo>
                    <a:pt x="2354008" y="2873602"/>
                  </a:lnTo>
                  <a:lnTo>
                    <a:pt x="2354008" y="2815932"/>
                  </a:lnTo>
                  <a:close/>
                </a:path>
                <a:path w="2354579" h="3996054">
                  <a:moveTo>
                    <a:pt x="2354008" y="2716647"/>
                  </a:moveTo>
                  <a:lnTo>
                    <a:pt x="2340216" y="2716647"/>
                  </a:lnTo>
                  <a:lnTo>
                    <a:pt x="2340216" y="2774317"/>
                  </a:lnTo>
                  <a:lnTo>
                    <a:pt x="2354008" y="2774317"/>
                  </a:lnTo>
                  <a:lnTo>
                    <a:pt x="2354008" y="2716647"/>
                  </a:lnTo>
                  <a:close/>
                </a:path>
                <a:path w="2354579" h="3996054">
                  <a:moveTo>
                    <a:pt x="2354008" y="2615504"/>
                  </a:moveTo>
                  <a:lnTo>
                    <a:pt x="2340216" y="2615504"/>
                  </a:lnTo>
                  <a:lnTo>
                    <a:pt x="2340216" y="2673174"/>
                  </a:lnTo>
                  <a:lnTo>
                    <a:pt x="2354008" y="2673174"/>
                  </a:lnTo>
                  <a:lnTo>
                    <a:pt x="2354008" y="2615504"/>
                  </a:lnTo>
                  <a:close/>
                </a:path>
                <a:path w="2354579" h="3996054">
                  <a:moveTo>
                    <a:pt x="2354008" y="2513863"/>
                  </a:moveTo>
                  <a:lnTo>
                    <a:pt x="2340216" y="2513863"/>
                  </a:lnTo>
                  <a:lnTo>
                    <a:pt x="2340216" y="2571533"/>
                  </a:lnTo>
                  <a:lnTo>
                    <a:pt x="2354008" y="2571533"/>
                  </a:lnTo>
                  <a:lnTo>
                    <a:pt x="2354008" y="2513863"/>
                  </a:lnTo>
                  <a:close/>
                </a:path>
                <a:path w="2354579" h="3996054">
                  <a:moveTo>
                    <a:pt x="2354008" y="2412701"/>
                  </a:moveTo>
                  <a:lnTo>
                    <a:pt x="2340216" y="2412701"/>
                  </a:lnTo>
                  <a:lnTo>
                    <a:pt x="2340216" y="2470371"/>
                  </a:lnTo>
                  <a:lnTo>
                    <a:pt x="2354008" y="2470371"/>
                  </a:lnTo>
                  <a:lnTo>
                    <a:pt x="2354008" y="2412701"/>
                  </a:lnTo>
                  <a:close/>
                </a:path>
                <a:path w="2354579" h="3996054">
                  <a:moveTo>
                    <a:pt x="2354008" y="2313435"/>
                  </a:moveTo>
                  <a:lnTo>
                    <a:pt x="2340216" y="2313435"/>
                  </a:lnTo>
                  <a:lnTo>
                    <a:pt x="2340216" y="2371105"/>
                  </a:lnTo>
                  <a:lnTo>
                    <a:pt x="2354008" y="2371105"/>
                  </a:lnTo>
                  <a:lnTo>
                    <a:pt x="2354008" y="2313435"/>
                  </a:lnTo>
                  <a:close/>
                </a:path>
                <a:path w="2354579" h="3996054">
                  <a:moveTo>
                    <a:pt x="2354008" y="2212273"/>
                  </a:moveTo>
                  <a:lnTo>
                    <a:pt x="2340216" y="2212273"/>
                  </a:lnTo>
                  <a:lnTo>
                    <a:pt x="2340216" y="2269943"/>
                  </a:lnTo>
                  <a:lnTo>
                    <a:pt x="2354008" y="2269943"/>
                  </a:lnTo>
                  <a:lnTo>
                    <a:pt x="2354008" y="2212273"/>
                  </a:lnTo>
                  <a:close/>
                </a:path>
                <a:path w="2354579" h="3996054">
                  <a:moveTo>
                    <a:pt x="2354008" y="2110612"/>
                  </a:moveTo>
                  <a:lnTo>
                    <a:pt x="2340216" y="2110612"/>
                  </a:lnTo>
                  <a:lnTo>
                    <a:pt x="2340216" y="2168283"/>
                  </a:lnTo>
                  <a:lnTo>
                    <a:pt x="2354008" y="2168283"/>
                  </a:lnTo>
                  <a:lnTo>
                    <a:pt x="2354008" y="2110612"/>
                  </a:lnTo>
                  <a:close/>
                </a:path>
                <a:path w="2354579" h="3996054">
                  <a:moveTo>
                    <a:pt x="2354008" y="2009450"/>
                  </a:moveTo>
                  <a:lnTo>
                    <a:pt x="2340216" y="2009450"/>
                  </a:lnTo>
                  <a:lnTo>
                    <a:pt x="2340216" y="2067120"/>
                  </a:lnTo>
                  <a:lnTo>
                    <a:pt x="2354008" y="2067120"/>
                  </a:lnTo>
                  <a:lnTo>
                    <a:pt x="2354008" y="2009450"/>
                  </a:lnTo>
                  <a:close/>
                </a:path>
                <a:path w="2354579" h="3996054">
                  <a:moveTo>
                    <a:pt x="2354008" y="1910204"/>
                  </a:moveTo>
                  <a:lnTo>
                    <a:pt x="2340216" y="1910204"/>
                  </a:lnTo>
                  <a:lnTo>
                    <a:pt x="2340216" y="1967874"/>
                  </a:lnTo>
                  <a:lnTo>
                    <a:pt x="2354008" y="1967874"/>
                  </a:lnTo>
                  <a:lnTo>
                    <a:pt x="2354008" y="1910204"/>
                  </a:lnTo>
                  <a:close/>
                </a:path>
                <a:path w="2354579" h="3996054">
                  <a:moveTo>
                    <a:pt x="2354007" y="1809042"/>
                  </a:moveTo>
                  <a:lnTo>
                    <a:pt x="2340216" y="1809042"/>
                  </a:lnTo>
                  <a:lnTo>
                    <a:pt x="2340216" y="1866329"/>
                  </a:lnTo>
                  <a:lnTo>
                    <a:pt x="2354008" y="1866329"/>
                  </a:lnTo>
                  <a:lnTo>
                    <a:pt x="2354007" y="1809042"/>
                  </a:lnTo>
                  <a:close/>
                </a:path>
                <a:path w="2354579" h="3996054">
                  <a:moveTo>
                    <a:pt x="2354007" y="1707496"/>
                  </a:moveTo>
                  <a:lnTo>
                    <a:pt x="2340216" y="1707496"/>
                  </a:lnTo>
                  <a:lnTo>
                    <a:pt x="2340216" y="1765166"/>
                  </a:lnTo>
                  <a:lnTo>
                    <a:pt x="2354007" y="1765166"/>
                  </a:lnTo>
                  <a:lnTo>
                    <a:pt x="2354007" y="1707496"/>
                  </a:lnTo>
                  <a:close/>
                </a:path>
                <a:path w="2354579" h="3996054">
                  <a:moveTo>
                    <a:pt x="2354007" y="1606334"/>
                  </a:moveTo>
                  <a:lnTo>
                    <a:pt x="2340216" y="1606334"/>
                  </a:lnTo>
                  <a:lnTo>
                    <a:pt x="2340216" y="1663429"/>
                  </a:lnTo>
                  <a:lnTo>
                    <a:pt x="2354007" y="1663429"/>
                  </a:lnTo>
                  <a:lnTo>
                    <a:pt x="2354007" y="1606334"/>
                  </a:lnTo>
                  <a:close/>
                </a:path>
                <a:path w="2354579" h="3996054">
                  <a:moveTo>
                    <a:pt x="2354007" y="1507088"/>
                  </a:moveTo>
                  <a:lnTo>
                    <a:pt x="2340216" y="1507088"/>
                  </a:lnTo>
                  <a:lnTo>
                    <a:pt x="2340216" y="1564758"/>
                  </a:lnTo>
                  <a:lnTo>
                    <a:pt x="2354007" y="1564758"/>
                  </a:lnTo>
                  <a:lnTo>
                    <a:pt x="2354007" y="1507088"/>
                  </a:lnTo>
                  <a:close/>
                </a:path>
                <a:path w="2354579" h="3996054">
                  <a:moveTo>
                    <a:pt x="2354007" y="1405925"/>
                  </a:moveTo>
                  <a:lnTo>
                    <a:pt x="2340216" y="1405925"/>
                  </a:lnTo>
                  <a:lnTo>
                    <a:pt x="2340216" y="1463021"/>
                  </a:lnTo>
                  <a:lnTo>
                    <a:pt x="2354007" y="1463021"/>
                  </a:lnTo>
                  <a:lnTo>
                    <a:pt x="2354007" y="1405925"/>
                  </a:lnTo>
                  <a:close/>
                </a:path>
                <a:path w="2354579" h="3996054">
                  <a:moveTo>
                    <a:pt x="2354007" y="1304188"/>
                  </a:moveTo>
                  <a:lnTo>
                    <a:pt x="2340216" y="1304188"/>
                  </a:lnTo>
                  <a:lnTo>
                    <a:pt x="2340216" y="1361858"/>
                  </a:lnTo>
                  <a:lnTo>
                    <a:pt x="2354007" y="1361858"/>
                  </a:lnTo>
                  <a:lnTo>
                    <a:pt x="2354007" y="1304188"/>
                  </a:lnTo>
                  <a:close/>
                </a:path>
                <a:path w="2354579" h="3996054">
                  <a:moveTo>
                    <a:pt x="2354007" y="1203026"/>
                  </a:moveTo>
                  <a:lnTo>
                    <a:pt x="2340216" y="1203026"/>
                  </a:lnTo>
                  <a:lnTo>
                    <a:pt x="2340216" y="1260313"/>
                  </a:lnTo>
                  <a:lnTo>
                    <a:pt x="2354007" y="1260313"/>
                  </a:lnTo>
                  <a:lnTo>
                    <a:pt x="2354007" y="1203026"/>
                  </a:lnTo>
                  <a:close/>
                </a:path>
                <a:path w="2354579" h="3996054">
                  <a:moveTo>
                    <a:pt x="2354007" y="1103780"/>
                  </a:moveTo>
                  <a:lnTo>
                    <a:pt x="2340215" y="1103780"/>
                  </a:lnTo>
                  <a:lnTo>
                    <a:pt x="2340215" y="1161450"/>
                  </a:lnTo>
                  <a:lnTo>
                    <a:pt x="2354007" y="1161450"/>
                  </a:lnTo>
                  <a:lnTo>
                    <a:pt x="2354007" y="1103780"/>
                  </a:lnTo>
                  <a:close/>
                </a:path>
                <a:path w="2354579" h="3996054">
                  <a:moveTo>
                    <a:pt x="2354007" y="1002234"/>
                  </a:moveTo>
                  <a:lnTo>
                    <a:pt x="2340215" y="1002234"/>
                  </a:lnTo>
                  <a:lnTo>
                    <a:pt x="2340215" y="1059904"/>
                  </a:lnTo>
                  <a:lnTo>
                    <a:pt x="2354007" y="1059904"/>
                  </a:lnTo>
                  <a:lnTo>
                    <a:pt x="2354007" y="1002234"/>
                  </a:lnTo>
                  <a:close/>
                </a:path>
                <a:path w="2354579" h="3996054">
                  <a:moveTo>
                    <a:pt x="2354007" y="901072"/>
                  </a:moveTo>
                  <a:lnTo>
                    <a:pt x="2340215" y="901072"/>
                  </a:lnTo>
                  <a:lnTo>
                    <a:pt x="2340215" y="958742"/>
                  </a:lnTo>
                  <a:lnTo>
                    <a:pt x="2354007" y="958742"/>
                  </a:lnTo>
                  <a:lnTo>
                    <a:pt x="2354007" y="901072"/>
                  </a:lnTo>
                  <a:close/>
                </a:path>
                <a:path w="2354579" h="3996054">
                  <a:moveTo>
                    <a:pt x="2354007" y="799335"/>
                  </a:moveTo>
                  <a:lnTo>
                    <a:pt x="2340215" y="799335"/>
                  </a:lnTo>
                  <a:lnTo>
                    <a:pt x="2340215" y="857005"/>
                  </a:lnTo>
                  <a:lnTo>
                    <a:pt x="2354007" y="857005"/>
                  </a:lnTo>
                  <a:lnTo>
                    <a:pt x="2354007" y="799335"/>
                  </a:lnTo>
                  <a:close/>
                </a:path>
                <a:path w="2354579" h="3996054">
                  <a:moveTo>
                    <a:pt x="2354007" y="700663"/>
                  </a:moveTo>
                  <a:lnTo>
                    <a:pt x="2340215" y="700663"/>
                  </a:lnTo>
                  <a:lnTo>
                    <a:pt x="2340215" y="758333"/>
                  </a:lnTo>
                  <a:lnTo>
                    <a:pt x="2354007" y="758333"/>
                  </a:lnTo>
                  <a:lnTo>
                    <a:pt x="2354007" y="700663"/>
                  </a:lnTo>
                  <a:close/>
                </a:path>
                <a:path w="2354579" h="3996054">
                  <a:moveTo>
                    <a:pt x="2354007" y="598926"/>
                  </a:moveTo>
                  <a:lnTo>
                    <a:pt x="2340215" y="598926"/>
                  </a:lnTo>
                  <a:lnTo>
                    <a:pt x="2340215" y="656596"/>
                  </a:lnTo>
                  <a:lnTo>
                    <a:pt x="2354007" y="656596"/>
                  </a:lnTo>
                  <a:lnTo>
                    <a:pt x="2354007" y="598926"/>
                  </a:lnTo>
                  <a:close/>
                </a:path>
                <a:path w="2354579" h="3996054">
                  <a:moveTo>
                    <a:pt x="2354007" y="497764"/>
                  </a:moveTo>
                  <a:lnTo>
                    <a:pt x="2340215" y="497764"/>
                  </a:lnTo>
                  <a:lnTo>
                    <a:pt x="2340215" y="555434"/>
                  </a:lnTo>
                  <a:lnTo>
                    <a:pt x="2354007" y="555434"/>
                  </a:lnTo>
                  <a:lnTo>
                    <a:pt x="2354007" y="497764"/>
                  </a:lnTo>
                  <a:close/>
                </a:path>
                <a:path w="2354579" h="3996054">
                  <a:moveTo>
                    <a:pt x="2354007" y="396218"/>
                  </a:moveTo>
                  <a:lnTo>
                    <a:pt x="2340215" y="396218"/>
                  </a:lnTo>
                  <a:lnTo>
                    <a:pt x="2340215" y="453889"/>
                  </a:lnTo>
                  <a:lnTo>
                    <a:pt x="2354007" y="453889"/>
                  </a:lnTo>
                  <a:lnTo>
                    <a:pt x="2354007" y="396218"/>
                  </a:lnTo>
                  <a:close/>
                </a:path>
                <a:path w="2354579" h="3996054">
                  <a:moveTo>
                    <a:pt x="2354007" y="297355"/>
                  </a:moveTo>
                  <a:lnTo>
                    <a:pt x="2340215" y="297355"/>
                  </a:lnTo>
                  <a:lnTo>
                    <a:pt x="2340215" y="355025"/>
                  </a:lnTo>
                  <a:lnTo>
                    <a:pt x="2354007" y="355025"/>
                  </a:lnTo>
                  <a:lnTo>
                    <a:pt x="2354007" y="297355"/>
                  </a:lnTo>
                  <a:close/>
                </a:path>
                <a:path w="2354579" h="3996054">
                  <a:moveTo>
                    <a:pt x="2354007" y="195810"/>
                  </a:moveTo>
                  <a:lnTo>
                    <a:pt x="2340215" y="195810"/>
                  </a:lnTo>
                  <a:lnTo>
                    <a:pt x="2340215" y="253480"/>
                  </a:lnTo>
                  <a:lnTo>
                    <a:pt x="2354007" y="253480"/>
                  </a:lnTo>
                  <a:lnTo>
                    <a:pt x="2354007" y="195810"/>
                  </a:lnTo>
                  <a:close/>
                </a:path>
                <a:path w="2354579" h="3996054">
                  <a:moveTo>
                    <a:pt x="2354007" y="94648"/>
                  </a:moveTo>
                  <a:lnTo>
                    <a:pt x="2340215" y="94648"/>
                  </a:lnTo>
                  <a:lnTo>
                    <a:pt x="2340215" y="152318"/>
                  </a:lnTo>
                  <a:lnTo>
                    <a:pt x="2354007" y="152318"/>
                  </a:lnTo>
                  <a:lnTo>
                    <a:pt x="2354007" y="946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730482" y="1297727"/>
              <a:ext cx="2275840" cy="0"/>
            </a:xfrm>
            <a:custGeom>
              <a:avLst/>
              <a:gdLst/>
              <a:ahLst/>
              <a:cxnLst/>
              <a:rect l="l" t="t" r="r" b="b"/>
              <a:pathLst>
                <a:path w="2275840">
                  <a:moveTo>
                    <a:pt x="0" y="0"/>
                  </a:moveTo>
                  <a:lnTo>
                    <a:pt x="2275471" y="0"/>
                  </a:lnTo>
                </a:path>
              </a:pathLst>
            </a:custGeom>
            <a:ln w="16477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657692" y="1290830"/>
              <a:ext cx="30480" cy="41910"/>
            </a:xfrm>
            <a:custGeom>
              <a:avLst/>
              <a:gdLst/>
              <a:ahLst/>
              <a:cxnLst/>
              <a:rect l="l" t="t" r="r" b="b"/>
              <a:pathLst>
                <a:path w="30479" h="41909">
                  <a:moveTo>
                    <a:pt x="29882" y="13794"/>
                  </a:moveTo>
                  <a:lnTo>
                    <a:pt x="7087" y="13794"/>
                  </a:lnTo>
                  <a:lnTo>
                    <a:pt x="13791" y="7089"/>
                  </a:lnTo>
                  <a:lnTo>
                    <a:pt x="13791" y="41576"/>
                  </a:lnTo>
                  <a:lnTo>
                    <a:pt x="0" y="41576"/>
                  </a:lnTo>
                  <a:lnTo>
                    <a:pt x="0" y="0"/>
                  </a:lnTo>
                  <a:lnTo>
                    <a:pt x="29882" y="0"/>
                  </a:lnTo>
                  <a:lnTo>
                    <a:pt x="29882" y="1379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664588" y="1374557"/>
              <a:ext cx="0" cy="3890645"/>
            </a:xfrm>
            <a:custGeom>
              <a:avLst/>
              <a:gdLst/>
              <a:ahLst/>
              <a:cxnLst/>
              <a:rect l="l" t="t" r="r" b="b"/>
              <a:pathLst>
                <a:path h="3890645">
                  <a:moveTo>
                    <a:pt x="0" y="0"/>
                  </a:moveTo>
                  <a:lnTo>
                    <a:pt x="0" y="3890239"/>
                  </a:lnTo>
                </a:path>
              </a:pathLst>
            </a:custGeom>
            <a:ln w="1647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691023" y="5279764"/>
              <a:ext cx="2278380" cy="0"/>
            </a:xfrm>
            <a:custGeom>
              <a:avLst/>
              <a:gdLst/>
              <a:ahLst/>
              <a:cxnLst/>
              <a:rect l="l" t="t" r="r" b="b"/>
              <a:pathLst>
                <a:path w="2278379">
                  <a:moveTo>
                    <a:pt x="0" y="0"/>
                  </a:moveTo>
                  <a:lnTo>
                    <a:pt x="2278344" y="0"/>
                  </a:lnTo>
                </a:path>
              </a:pathLst>
            </a:custGeom>
            <a:ln w="16389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2004804" y="1296578"/>
              <a:ext cx="0" cy="3980179"/>
            </a:xfrm>
            <a:custGeom>
              <a:avLst/>
              <a:gdLst/>
              <a:ahLst/>
              <a:cxnLst/>
              <a:rect l="l" t="t" r="r" b="b"/>
              <a:pathLst>
                <a:path h="3980179">
                  <a:moveTo>
                    <a:pt x="0" y="0"/>
                  </a:moveTo>
                  <a:lnTo>
                    <a:pt x="0" y="3979562"/>
                  </a:lnTo>
                </a:path>
              </a:pathLst>
            </a:custGeom>
            <a:ln w="1647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9839477" y="3582999"/>
            <a:ext cx="1991995" cy="44958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919"/>
              </a:spcBef>
            </a:pPr>
            <a:r>
              <a:rPr sz="1350" b="1" spc="-10" dirty="0">
                <a:latin typeface="宋体"/>
                <a:cs typeface="宋体"/>
              </a:rPr>
              <a:t>机器语言机器级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291099" y="2919605"/>
            <a:ext cx="123825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spc="-10" dirty="0">
                <a:latin typeface="宋体"/>
                <a:cs typeface="宋体"/>
              </a:rPr>
              <a:t>机器语言虚拟机</a:t>
            </a:r>
            <a:endParaRPr sz="1350">
              <a:latin typeface="宋体"/>
              <a:cs typeface="宋体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301608" y="5345125"/>
            <a:ext cx="4826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0000"/>
                </a:solidFill>
                <a:latin typeface="宋体"/>
                <a:cs typeface="宋体"/>
              </a:rPr>
              <a:t>模拟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2455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1.4.2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10" dirty="0"/>
              <a:t>软件对系统结构的影</a:t>
            </a:r>
            <a:r>
              <a:rPr spc="-50" dirty="0"/>
              <a:t>响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9" y="977265"/>
            <a:ext cx="22580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2800" spc="-25" dirty="0">
                <a:solidFill>
                  <a:srgbClr val="0000FF"/>
                </a:solidFill>
                <a:latin typeface="Times New Roman"/>
                <a:cs typeface="Times New Roman"/>
              </a:rPr>
              <a:t>3.</a:t>
            </a:r>
            <a:r>
              <a:rPr sz="28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800" spc="-40" dirty="0">
                <a:latin typeface="微软雅黑"/>
                <a:cs typeface="微软雅黑"/>
              </a:rPr>
              <a:t>模拟和仿真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48615" indent="-457834" algn="just">
              <a:lnSpc>
                <a:spcPct val="150100"/>
              </a:lnSpc>
              <a:spcBef>
                <a:spcPts val="100"/>
              </a:spcBef>
              <a:buClr>
                <a:srgbClr val="EC7C30"/>
              </a:buClr>
              <a:buFont typeface="Wingdings"/>
              <a:buChar char=""/>
              <a:tabLst>
                <a:tab pos="469900" algn="l"/>
              </a:tabLst>
            </a:pPr>
            <a:r>
              <a:rPr spc="-10" dirty="0">
                <a:solidFill>
                  <a:srgbClr val="FF0000"/>
                </a:solidFill>
              </a:rPr>
              <a:t>模拟：</a:t>
            </a:r>
            <a:r>
              <a:rPr spc="-15" dirty="0"/>
              <a:t>用软件的方法在一台现有</a:t>
            </a:r>
            <a:r>
              <a:rPr dirty="0"/>
              <a:t>的机器（</a:t>
            </a:r>
            <a:r>
              <a:rPr spc="-5" dirty="0"/>
              <a:t>称为</a:t>
            </a:r>
            <a:r>
              <a:rPr dirty="0">
                <a:solidFill>
                  <a:srgbClr val="D50092"/>
                </a:solidFill>
              </a:rPr>
              <a:t>宿主机</a:t>
            </a:r>
            <a:r>
              <a:rPr dirty="0"/>
              <a:t>）</a:t>
            </a:r>
            <a:r>
              <a:rPr spc="-15" dirty="0"/>
              <a:t>上实现另</a:t>
            </a:r>
            <a:r>
              <a:rPr spc="-10" dirty="0"/>
              <a:t>一台机器（称为</a:t>
            </a:r>
            <a:r>
              <a:rPr spc="-10" dirty="0">
                <a:solidFill>
                  <a:srgbClr val="D50092"/>
                </a:solidFill>
              </a:rPr>
              <a:t>虚拟机</a:t>
            </a:r>
            <a:r>
              <a:rPr spc="-10" dirty="0"/>
              <a:t>）</a:t>
            </a:r>
            <a:r>
              <a:rPr spc="-25" dirty="0"/>
              <a:t>的指令集。</a:t>
            </a:r>
          </a:p>
          <a:p>
            <a:pPr marL="469900" marR="5080" indent="-457834">
              <a:lnSpc>
                <a:spcPct val="150100"/>
              </a:lnSpc>
              <a:spcBef>
                <a:spcPts val="475"/>
              </a:spcBef>
              <a:buClr>
                <a:srgbClr val="EC7C30"/>
              </a:buClr>
              <a:buFont typeface="Wingdings"/>
              <a:buChar char=""/>
              <a:tabLst>
                <a:tab pos="469900" algn="l"/>
              </a:tabLst>
            </a:pPr>
            <a:r>
              <a:rPr spc="-5" dirty="0">
                <a:solidFill>
                  <a:srgbClr val="FF0000"/>
                </a:solidFill>
              </a:rPr>
              <a:t>仿真：</a:t>
            </a:r>
            <a:r>
              <a:rPr dirty="0"/>
              <a:t>用一台现有机器（</a:t>
            </a:r>
            <a:r>
              <a:rPr sz="2500" spc="-25" dirty="0">
                <a:solidFill>
                  <a:srgbClr val="D50092"/>
                </a:solidFill>
              </a:rPr>
              <a:t>宿主机</a:t>
            </a:r>
            <a:r>
              <a:rPr spc="-50" dirty="0"/>
              <a:t>）</a:t>
            </a:r>
            <a:r>
              <a:rPr spc="15" dirty="0"/>
              <a:t>上的微程序去解释实现另一台机</a:t>
            </a:r>
            <a:r>
              <a:rPr dirty="0"/>
              <a:t>器</a:t>
            </a:r>
            <a:r>
              <a:rPr spc="-10" dirty="0"/>
              <a:t>（</a:t>
            </a:r>
            <a:r>
              <a:rPr sz="2500" spc="-25" dirty="0">
                <a:solidFill>
                  <a:srgbClr val="D50092"/>
                </a:solidFill>
              </a:rPr>
              <a:t>目标机</a:t>
            </a:r>
            <a:r>
              <a:rPr dirty="0"/>
              <a:t>）</a:t>
            </a:r>
            <a:r>
              <a:rPr spc="-15" dirty="0"/>
              <a:t>的指令集</a:t>
            </a:r>
            <a:endParaRPr sz="2500"/>
          </a:p>
        </p:txBody>
      </p:sp>
      <p:grpSp>
        <p:nvGrpSpPr>
          <p:cNvPr id="5" name="object 5"/>
          <p:cNvGrpSpPr/>
          <p:nvPr/>
        </p:nvGrpSpPr>
        <p:grpSpPr>
          <a:xfrm>
            <a:off x="6056993" y="1810291"/>
            <a:ext cx="2257425" cy="490855"/>
            <a:chOff x="6056993" y="1810291"/>
            <a:chExt cx="2257425" cy="490855"/>
          </a:xfrm>
        </p:grpSpPr>
        <p:sp>
          <p:nvSpPr>
            <p:cNvPr id="6" name="object 6"/>
            <p:cNvSpPr/>
            <p:nvPr/>
          </p:nvSpPr>
          <p:spPr>
            <a:xfrm>
              <a:off x="6064295" y="1817593"/>
              <a:ext cx="2242820" cy="476250"/>
            </a:xfrm>
            <a:custGeom>
              <a:avLst/>
              <a:gdLst/>
              <a:ahLst/>
              <a:cxnLst/>
              <a:rect l="l" t="t" r="r" b="b"/>
              <a:pathLst>
                <a:path w="2242820" h="476250">
                  <a:moveTo>
                    <a:pt x="2242425" y="0"/>
                  </a:moveTo>
                  <a:lnTo>
                    <a:pt x="0" y="0"/>
                  </a:lnTo>
                  <a:lnTo>
                    <a:pt x="0" y="476167"/>
                  </a:lnTo>
                  <a:lnTo>
                    <a:pt x="2242425" y="476167"/>
                  </a:lnTo>
                  <a:lnTo>
                    <a:pt x="2242425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64295" y="1817593"/>
              <a:ext cx="2242820" cy="476250"/>
            </a:xfrm>
            <a:custGeom>
              <a:avLst/>
              <a:gdLst/>
              <a:ahLst/>
              <a:cxnLst/>
              <a:rect l="l" t="t" r="r" b="b"/>
              <a:pathLst>
                <a:path w="2242820" h="476250">
                  <a:moveTo>
                    <a:pt x="0" y="476167"/>
                  </a:moveTo>
                  <a:lnTo>
                    <a:pt x="2242425" y="476167"/>
                  </a:lnTo>
                  <a:lnTo>
                    <a:pt x="2242425" y="0"/>
                  </a:lnTo>
                  <a:lnTo>
                    <a:pt x="0" y="0"/>
                  </a:lnTo>
                  <a:lnTo>
                    <a:pt x="0" y="476167"/>
                  </a:lnTo>
                  <a:close/>
                </a:path>
              </a:pathLst>
            </a:custGeom>
            <a:ln w="145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64296" y="1817593"/>
            <a:ext cx="2242820" cy="47625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950"/>
              </a:spcBef>
            </a:pPr>
            <a:r>
              <a:rPr sz="1450" spc="-35" dirty="0">
                <a:latin typeface="宋体"/>
                <a:cs typeface="宋体"/>
              </a:rPr>
              <a:t>应用语言虚拟机</a:t>
            </a:r>
            <a:endParaRPr sz="1450">
              <a:latin typeface="宋体"/>
              <a:cs typeface="宋体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422076" y="1861284"/>
            <a:ext cx="2289175" cy="490855"/>
            <a:chOff x="9422076" y="1861284"/>
            <a:chExt cx="2289175" cy="490855"/>
          </a:xfrm>
        </p:grpSpPr>
        <p:sp>
          <p:nvSpPr>
            <p:cNvPr id="10" name="object 10"/>
            <p:cNvSpPr/>
            <p:nvPr/>
          </p:nvSpPr>
          <p:spPr>
            <a:xfrm>
              <a:off x="9429378" y="1868587"/>
              <a:ext cx="2274570" cy="476250"/>
            </a:xfrm>
            <a:custGeom>
              <a:avLst/>
              <a:gdLst/>
              <a:ahLst/>
              <a:cxnLst/>
              <a:rect l="l" t="t" r="r" b="b"/>
              <a:pathLst>
                <a:path w="2274570" h="476250">
                  <a:moveTo>
                    <a:pt x="2274146" y="0"/>
                  </a:moveTo>
                  <a:lnTo>
                    <a:pt x="0" y="0"/>
                  </a:lnTo>
                  <a:lnTo>
                    <a:pt x="0" y="476167"/>
                  </a:lnTo>
                  <a:lnTo>
                    <a:pt x="2274146" y="476167"/>
                  </a:lnTo>
                  <a:lnTo>
                    <a:pt x="2274146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429378" y="1868587"/>
              <a:ext cx="2274570" cy="476250"/>
            </a:xfrm>
            <a:custGeom>
              <a:avLst/>
              <a:gdLst/>
              <a:ahLst/>
              <a:cxnLst/>
              <a:rect l="l" t="t" r="r" b="b"/>
              <a:pathLst>
                <a:path w="2274570" h="476250">
                  <a:moveTo>
                    <a:pt x="0" y="476167"/>
                  </a:moveTo>
                  <a:lnTo>
                    <a:pt x="2274146" y="476167"/>
                  </a:lnTo>
                  <a:lnTo>
                    <a:pt x="2274146" y="0"/>
                  </a:lnTo>
                  <a:lnTo>
                    <a:pt x="0" y="0"/>
                  </a:lnTo>
                  <a:lnTo>
                    <a:pt x="0" y="476167"/>
                  </a:lnTo>
                  <a:close/>
                </a:path>
              </a:pathLst>
            </a:custGeom>
            <a:ln w="145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429377" y="1868587"/>
            <a:ext cx="2274570" cy="47625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494665">
              <a:lnSpc>
                <a:spcPct val="100000"/>
              </a:lnSpc>
              <a:spcBef>
                <a:spcPts val="955"/>
              </a:spcBef>
            </a:pPr>
            <a:r>
              <a:rPr sz="1450" spc="-35" dirty="0">
                <a:latin typeface="宋体"/>
                <a:cs typeface="宋体"/>
              </a:rPr>
              <a:t>高级语言虚拟机</a:t>
            </a:r>
            <a:endParaRPr sz="1450">
              <a:latin typeface="宋体"/>
              <a:cs typeface="宋体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414552" y="2630734"/>
            <a:ext cx="2294255" cy="490855"/>
            <a:chOff x="9414552" y="2630734"/>
            <a:chExt cx="2294255" cy="490855"/>
          </a:xfrm>
        </p:grpSpPr>
        <p:sp>
          <p:nvSpPr>
            <p:cNvPr id="14" name="object 14"/>
            <p:cNvSpPr/>
            <p:nvPr/>
          </p:nvSpPr>
          <p:spPr>
            <a:xfrm>
              <a:off x="9421854" y="2638037"/>
              <a:ext cx="2279650" cy="476250"/>
            </a:xfrm>
            <a:custGeom>
              <a:avLst/>
              <a:gdLst/>
              <a:ahLst/>
              <a:cxnLst/>
              <a:rect l="l" t="t" r="r" b="b"/>
              <a:pathLst>
                <a:path w="2279650" h="476250">
                  <a:moveTo>
                    <a:pt x="2279230" y="0"/>
                  </a:moveTo>
                  <a:lnTo>
                    <a:pt x="0" y="0"/>
                  </a:lnTo>
                  <a:lnTo>
                    <a:pt x="0" y="475680"/>
                  </a:lnTo>
                  <a:lnTo>
                    <a:pt x="2279230" y="475680"/>
                  </a:lnTo>
                  <a:lnTo>
                    <a:pt x="2279230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421854" y="2638037"/>
              <a:ext cx="2279650" cy="476250"/>
            </a:xfrm>
            <a:custGeom>
              <a:avLst/>
              <a:gdLst/>
              <a:ahLst/>
              <a:cxnLst/>
              <a:rect l="l" t="t" r="r" b="b"/>
              <a:pathLst>
                <a:path w="2279650" h="476250">
                  <a:moveTo>
                    <a:pt x="0" y="475680"/>
                  </a:moveTo>
                  <a:lnTo>
                    <a:pt x="2279230" y="475680"/>
                  </a:lnTo>
                  <a:lnTo>
                    <a:pt x="2279230" y="0"/>
                  </a:lnTo>
                  <a:lnTo>
                    <a:pt x="0" y="0"/>
                  </a:lnTo>
                  <a:lnTo>
                    <a:pt x="0" y="475680"/>
                  </a:lnTo>
                  <a:close/>
                </a:path>
              </a:pathLst>
            </a:custGeom>
            <a:ln w="145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906726" y="2746478"/>
            <a:ext cx="130937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35" dirty="0">
                <a:latin typeface="宋体"/>
                <a:cs typeface="宋体"/>
              </a:rPr>
              <a:t>操作系统虚拟机</a:t>
            </a:r>
            <a:endParaRPr sz="1450">
              <a:latin typeface="宋体"/>
              <a:cs typeface="宋体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414552" y="3397137"/>
            <a:ext cx="2301240" cy="490855"/>
            <a:chOff x="9414552" y="3397137"/>
            <a:chExt cx="2301240" cy="490855"/>
          </a:xfrm>
        </p:grpSpPr>
        <p:sp>
          <p:nvSpPr>
            <p:cNvPr id="18" name="object 18"/>
            <p:cNvSpPr/>
            <p:nvPr/>
          </p:nvSpPr>
          <p:spPr>
            <a:xfrm>
              <a:off x="9421854" y="3404440"/>
              <a:ext cx="2286635" cy="476250"/>
            </a:xfrm>
            <a:custGeom>
              <a:avLst/>
              <a:gdLst/>
              <a:ahLst/>
              <a:cxnLst/>
              <a:rect l="l" t="t" r="r" b="b"/>
              <a:pathLst>
                <a:path w="2286634" h="476250">
                  <a:moveTo>
                    <a:pt x="2286143" y="0"/>
                  </a:moveTo>
                  <a:lnTo>
                    <a:pt x="0" y="0"/>
                  </a:lnTo>
                  <a:lnTo>
                    <a:pt x="0" y="475680"/>
                  </a:lnTo>
                  <a:lnTo>
                    <a:pt x="2286143" y="475680"/>
                  </a:lnTo>
                  <a:lnTo>
                    <a:pt x="2286143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421854" y="3404440"/>
              <a:ext cx="2286635" cy="476250"/>
            </a:xfrm>
            <a:custGeom>
              <a:avLst/>
              <a:gdLst/>
              <a:ahLst/>
              <a:cxnLst/>
              <a:rect l="l" t="t" r="r" b="b"/>
              <a:pathLst>
                <a:path w="2286634" h="476250">
                  <a:moveTo>
                    <a:pt x="0" y="475680"/>
                  </a:moveTo>
                  <a:lnTo>
                    <a:pt x="2286143" y="475680"/>
                  </a:lnTo>
                  <a:lnTo>
                    <a:pt x="2286143" y="0"/>
                  </a:lnTo>
                  <a:lnTo>
                    <a:pt x="0" y="0"/>
                  </a:lnTo>
                  <a:lnTo>
                    <a:pt x="0" y="475680"/>
                  </a:lnTo>
                  <a:close/>
                </a:path>
              </a:pathLst>
            </a:custGeom>
            <a:ln w="145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421855" y="3404440"/>
            <a:ext cx="2286635" cy="47625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412115">
              <a:lnSpc>
                <a:spcPct val="100000"/>
              </a:lnSpc>
              <a:spcBef>
                <a:spcPts val="950"/>
              </a:spcBef>
            </a:pPr>
            <a:r>
              <a:rPr sz="1450" b="1" dirty="0">
                <a:latin typeface="Times New Roman"/>
                <a:cs typeface="Times New Roman"/>
              </a:rPr>
              <a:t>A</a:t>
            </a:r>
            <a:r>
              <a:rPr sz="1450" b="1" spc="10" dirty="0">
                <a:latin typeface="Times New Roman"/>
                <a:cs typeface="Times New Roman"/>
              </a:rPr>
              <a:t> </a:t>
            </a:r>
            <a:r>
              <a:rPr sz="1450" spc="-35" dirty="0">
                <a:latin typeface="宋体"/>
                <a:cs typeface="宋体"/>
              </a:rPr>
              <a:t>机器语言机器级</a:t>
            </a:r>
            <a:endParaRPr sz="1450">
              <a:latin typeface="宋体"/>
              <a:cs typeface="宋体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424109" y="4148994"/>
            <a:ext cx="2291715" cy="490855"/>
            <a:chOff x="9424109" y="4148994"/>
            <a:chExt cx="2291715" cy="490855"/>
          </a:xfrm>
        </p:grpSpPr>
        <p:sp>
          <p:nvSpPr>
            <p:cNvPr id="22" name="object 22"/>
            <p:cNvSpPr/>
            <p:nvPr/>
          </p:nvSpPr>
          <p:spPr>
            <a:xfrm>
              <a:off x="9431411" y="4156296"/>
              <a:ext cx="2277110" cy="476250"/>
            </a:xfrm>
            <a:custGeom>
              <a:avLst/>
              <a:gdLst/>
              <a:ahLst/>
              <a:cxnLst/>
              <a:rect l="l" t="t" r="r" b="b"/>
              <a:pathLst>
                <a:path w="2277109" h="476250">
                  <a:moveTo>
                    <a:pt x="2276586" y="0"/>
                  </a:moveTo>
                  <a:lnTo>
                    <a:pt x="0" y="0"/>
                  </a:lnTo>
                  <a:lnTo>
                    <a:pt x="0" y="475680"/>
                  </a:lnTo>
                  <a:lnTo>
                    <a:pt x="2276586" y="475680"/>
                  </a:lnTo>
                  <a:lnTo>
                    <a:pt x="2276586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431411" y="4156296"/>
              <a:ext cx="2277110" cy="476250"/>
            </a:xfrm>
            <a:custGeom>
              <a:avLst/>
              <a:gdLst/>
              <a:ahLst/>
              <a:cxnLst/>
              <a:rect l="l" t="t" r="r" b="b"/>
              <a:pathLst>
                <a:path w="2277109" h="476250">
                  <a:moveTo>
                    <a:pt x="0" y="475680"/>
                  </a:moveTo>
                  <a:lnTo>
                    <a:pt x="2276586" y="475680"/>
                  </a:lnTo>
                  <a:lnTo>
                    <a:pt x="2276586" y="0"/>
                  </a:lnTo>
                  <a:lnTo>
                    <a:pt x="0" y="0"/>
                  </a:lnTo>
                  <a:lnTo>
                    <a:pt x="0" y="475680"/>
                  </a:lnTo>
                  <a:close/>
                </a:path>
              </a:pathLst>
            </a:custGeom>
            <a:ln w="145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431411" y="4156296"/>
            <a:ext cx="2277110" cy="47625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590550">
              <a:lnSpc>
                <a:spcPct val="100000"/>
              </a:lnSpc>
              <a:spcBef>
                <a:spcPts val="950"/>
              </a:spcBef>
            </a:pPr>
            <a:r>
              <a:rPr sz="1450" spc="-35" dirty="0">
                <a:latin typeface="宋体"/>
                <a:cs typeface="宋体"/>
              </a:rPr>
              <a:t>微程序机器级</a:t>
            </a:r>
            <a:endParaRPr sz="1450">
              <a:latin typeface="宋体"/>
              <a:cs typeface="宋体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0482676" y="2351458"/>
            <a:ext cx="83185" cy="1819275"/>
            <a:chOff x="10482676" y="2351458"/>
            <a:chExt cx="83185" cy="1819275"/>
          </a:xfrm>
        </p:grpSpPr>
        <p:sp>
          <p:nvSpPr>
            <p:cNvPr id="26" name="object 26"/>
            <p:cNvSpPr/>
            <p:nvPr/>
          </p:nvSpPr>
          <p:spPr>
            <a:xfrm>
              <a:off x="10484099" y="2352881"/>
              <a:ext cx="80645" cy="290195"/>
            </a:xfrm>
            <a:custGeom>
              <a:avLst/>
              <a:gdLst/>
              <a:ahLst/>
              <a:cxnLst/>
              <a:rect l="l" t="t" r="r" b="b"/>
              <a:pathLst>
                <a:path w="80645" h="290194">
                  <a:moveTo>
                    <a:pt x="38837" y="80654"/>
                  </a:moveTo>
                  <a:lnTo>
                    <a:pt x="29501" y="90519"/>
                  </a:lnTo>
                  <a:lnTo>
                    <a:pt x="33754" y="280564"/>
                  </a:lnTo>
                  <a:lnTo>
                    <a:pt x="36194" y="285643"/>
                  </a:lnTo>
                  <a:lnTo>
                    <a:pt x="38837" y="288081"/>
                  </a:lnTo>
                  <a:lnTo>
                    <a:pt x="41277" y="290113"/>
                  </a:lnTo>
                  <a:lnTo>
                    <a:pt x="48801" y="290113"/>
                  </a:lnTo>
                  <a:lnTo>
                    <a:pt x="53274" y="288081"/>
                  </a:lnTo>
                  <a:lnTo>
                    <a:pt x="53274" y="285643"/>
                  </a:lnTo>
                  <a:lnTo>
                    <a:pt x="55918" y="280564"/>
                  </a:lnTo>
                  <a:lnTo>
                    <a:pt x="49152" y="90519"/>
                  </a:lnTo>
                  <a:lnTo>
                    <a:pt x="49144" y="90292"/>
                  </a:lnTo>
                  <a:lnTo>
                    <a:pt x="38837" y="80654"/>
                  </a:lnTo>
                  <a:close/>
                </a:path>
                <a:path w="80645" h="290194">
                  <a:moveTo>
                    <a:pt x="36194" y="0"/>
                  </a:moveTo>
                  <a:lnTo>
                    <a:pt x="0" y="121693"/>
                  </a:lnTo>
                  <a:lnTo>
                    <a:pt x="29501" y="90519"/>
                  </a:lnTo>
                  <a:lnTo>
                    <a:pt x="29280" y="80654"/>
                  </a:lnTo>
                  <a:lnTo>
                    <a:pt x="29280" y="75575"/>
                  </a:lnTo>
                  <a:lnTo>
                    <a:pt x="31720" y="73137"/>
                  </a:lnTo>
                  <a:lnTo>
                    <a:pt x="33754" y="70699"/>
                  </a:lnTo>
                  <a:lnTo>
                    <a:pt x="62232" y="70699"/>
                  </a:lnTo>
                  <a:lnTo>
                    <a:pt x="36194" y="0"/>
                  </a:lnTo>
                  <a:close/>
                </a:path>
                <a:path w="80645" h="290194">
                  <a:moveTo>
                    <a:pt x="62232" y="70699"/>
                  </a:moveTo>
                  <a:lnTo>
                    <a:pt x="43717" y="70699"/>
                  </a:lnTo>
                  <a:lnTo>
                    <a:pt x="46361" y="73137"/>
                  </a:lnTo>
                  <a:lnTo>
                    <a:pt x="48801" y="75575"/>
                  </a:lnTo>
                  <a:lnTo>
                    <a:pt x="48801" y="80654"/>
                  </a:lnTo>
                  <a:lnTo>
                    <a:pt x="49144" y="90292"/>
                  </a:lnTo>
                  <a:lnTo>
                    <a:pt x="80115" y="119255"/>
                  </a:lnTo>
                  <a:lnTo>
                    <a:pt x="62232" y="70699"/>
                  </a:lnTo>
                  <a:close/>
                </a:path>
                <a:path w="80645" h="290194">
                  <a:moveTo>
                    <a:pt x="43717" y="70699"/>
                  </a:moveTo>
                  <a:lnTo>
                    <a:pt x="33754" y="70699"/>
                  </a:lnTo>
                  <a:lnTo>
                    <a:pt x="31720" y="73137"/>
                  </a:lnTo>
                  <a:lnTo>
                    <a:pt x="29280" y="75575"/>
                  </a:lnTo>
                  <a:lnTo>
                    <a:pt x="29280" y="80654"/>
                  </a:lnTo>
                  <a:lnTo>
                    <a:pt x="29496" y="90292"/>
                  </a:lnTo>
                  <a:lnTo>
                    <a:pt x="29501" y="90519"/>
                  </a:lnTo>
                  <a:lnTo>
                    <a:pt x="38837" y="80654"/>
                  </a:lnTo>
                  <a:lnTo>
                    <a:pt x="48801" y="80654"/>
                  </a:lnTo>
                  <a:lnTo>
                    <a:pt x="48801" y="75575"/>
                  </a:lnTo>
                  <a:lnTo>
                    <a:pt x="46361" y="73137"/>
                  </a:lnTo>
                  <a:lnTo>
                    <a:pt x="43717" y="70699"/>
                  </a:lnTo>
                  <a:close/>
                </a:path>
                <a:path w="80645" h="290194">
                  <a:moveTo>
                    <a:pt x="48801" y="80654"/>
                  </a:moveTo>
                  <a:lnTo>
                    <a:pt x="38837" y="80654"/>
                  </a:lnTo>
                  <a:lnTo>
                    <a:pt x="49144" y="90292"/>
                  </a:lnTo>
                  <a:lnTo>
                    <a:pt x="48801" y="80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82676" y="2351458"/>
              <a:ext cx="82961" cy="29295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0484099" y="3876097"/>
              <a:ext cx="80645" cy="292735"/>
            </a:xfrm>
            <a:custGeom>
              <a:avLst/>
              <a:gdLst/>
              <a:ahLst/>
              <a:cxnLst/>
              <a:rect l="l" t="t" r="r" b="b"/>
              <a:pathLst>
                <a:path w="80645" h="292735">
                  <a:moveTo>
                    <a:pt x="38837" y="82706"/>
                  </a:moveTo>
                  <a:lnTo>
                    <a:pt x="29503" y="92706"/>
                  </a:lnTo>
                  <a:lnTo>
                    <a:pt x="33754" y="283205"/>
                  </a:lnTo>
                  <a:lnTo>
                    <a:pt x="36194" y="285704"/>
                  </a:lnTo>
                  <a:lnTo>
                    <a:pt x="38837" y="290214"/>
                  </a:lnTo>
                  <a:lnTo>
                    <a:pt x="41277" y="292734"/>
                  </a:lnTo>
                  <a:lnTo>
                    <a:pt x="46361" y="292734"/>
                  </a:lnTo>
                  <a:lnTo>
                    <a:pt x="48801" y="290214"/>
                  </a:lnTo>
                  <a:lnTo>
                    <a:pt x="53274" y="290214"/>
                  </a:lnTo>
                  <a:lnTo>
                    <a:pt x="53274" y="285704"/>
                  </a:lnTo>
                  <a:lnTo>
                    <a:pt x="55918" y="283205"/>
                  </a:lnTo>
                  <a:lnTo>
                    <a:pt x="49223" y="92706"/>
                  </a:lnTo>
                  <a:lnTo>
                    <a:pt x="49217" y="92541"/>
                  </a:lnTo>
                  <a:lnTo>
                    <a:pt x="38837" y="82706"/>
                  </a:lnTo>
                  <a:close/>
                </a:path>
                <a:path w="80645" h="292735">
                  <a:moveTo>
                    <a:pt x="36194" y="0"/>
                  </a:moveTo>
                  <a:lnTo>
                    <a:pt x="0" y="124313"/>
                  </a:lnTo>
                  <a:lnTo>
                    <a:pt x="29503" y="92706"/>
                  </a:lnTo>
                  <a:lnTo>
                    <a:pt x="29280" y="82706"/>
                  </a:lnTo>
                  <a:lnTo>
                    <a:pt x="29280" y="78196"/>
                  </a:lnTo>
                  <a:lnTo>
                    <a:pt x="31720" y="75697"/>
                  </a:lnTo>
                  <a:lnTo>
                    <a:pt x="33754" y="73178"/>
                  </a:lnTo>
                  <a:lnTo>
                    <a:pt x="38837" y="70679"/>
                  </a:lnTo>
                  <a:lnTo>
                    <a:pt x="61678" y="70679"/>
                  </a:lnTo>
                  <a:lnTo>
                    <a:pt x="36194" y="0"/>
                  </a:lnTo>
                  <a:close/>
                </a:path>
                <a:path w="80645" h="292735">
                  <a:moveTo>
                    <a:pt x="61678" y="70679"/>
                  </a:moveTo>
                  <a:lnTo>
                    <a:pt x="38837" y="70679"/>
                  </a:lnTo>
                  <a:lnTo>
                    <a:pt x="43717" y="73178"/>
                  </a:lnTo>
                  <a:lnTo>
                    <a:pt x="46361" y="75697"/>
                  </a:lnTo>
                  <a:lnTo>
                    <a:pt x="48801" y="78196"/>
                  </a:lnTo>
                  <a:lnTo>
                    <a:pt x="48872" y="82706"/>
                  </a:lnTo>
                  <a:lnTo>
                    <a:pt x="49217" y="92541"/>
                  </a:lnTo>
                  <a:lnTo>
                    <a:pt x="80115" y="121815"/>
                  </a:lnTo>
                  <a:lnTo>
                    <a:pt x="61678" y="70679"/>
                  </a:lnTo>
                  <a:close/>
                </a:path>
                <a:path w="80645" h="292735">
                  <a:moveTo>
                    <a:pt x="38837" y="70679"/>
                  </a:moveTo>
                  <a:lnTo>
                    <a:pt x="33754" y="73178"/>
                  </a:lnTo>
                  <a:lnTo>
                    <a:pt x="31720" y="75697"/>
                  </a:lnTo>
                  <a:lnTo>
                    <a:pt x="29280" y="78196"/>
                  </a:lnTo>
                  <a:lnTo>
                    <a:pt x="29280" y="82706"/>
                  </a:lnTo>
                  <a:lnTo>
                    <a:pt x="29500" y="92541"/>
                  </a:lnTo>
                  <a:lnTo>
                    <a:pt x="29503" y="92706"/>
                  </a:lnTo>
                  <a:lnTo>
                    <a:pt x="38837" y="82706"/>
                  </a:lnTo>
                  <a:lnTo>
                    <a:pt x="48872" y="82706"/>
                  </a:lnTo>
                  <a:lnTo>
                    <a:pt x="48801" y="78196"/>
                  </a:lnTo>
                  <a:lnTo>
                    <a:pt x="46361" y="75697"/>
                  </a:lnTo>
                  <a:lnTo>
                    <a:pt x="43717" y="73178"/>
                  </a:lnTo>
                  <a:lnTo>
                    <a:pt x="38837" y="70679"/>
                  </a:lnTo>
                  <a:close/>
                </a:path>
                <a:path w="80645" h="292735">
                  <a:moveTo>
                    <a:pt x="48872" y="82706"/>
                  </a:moveTo>
                  <a:lnTo>
                    <a:pt x="38837" y="82706"/>
                  </a:lnTo>
                  <a:lnTo>
                    <a:pt x="49217" y="92541"/>
                  </a:lnTo>
                  <a:lnTo>
                    <a:pt x="48872" y="827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2676" y="3874674"/>
              <a:ext cx="82961" cy="29558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0148496" y="4765406"/>
            <a:ext cx="713105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solidFill>
                  <a:srgbClr val="FF0000"/>
                </a:solidFill>
                <a:latin typeface="宋体"/>
                <a:cs typeface="宋体"/>
              </a:rPr>
              <a:t>A</a:t>
            </a:r>
            <a:r>
              <a:rPr sz="1450" spc="-120" dirty="0">
                <a:solidFill>
                  <a:srgbClr val="FF0000"/>
                </a:solidFill>
                <a:latin typeface="宋体"/>
                <a:cs typeface="宋体"/>
              </a:rPr>
              <a:t> 宿主机</a:t>
            </a:r>
            <a:endParaRPr sz="1450">
              <a:latin typeface="宋体"/>
              <a:cs typeface="宋体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046928" y="1733697"/>
            <a:ext cx="5840730" cy="3428365"/>
            <a:chOff x="6046928" y="1733697"/>
            <a:chExt cx="5840730" cy="3428365"/>
          </a:xfrm>
        </p:grpSpPr>
        <p:sp>
          <p:nvSpPr>
            <p:cNvPr id="32" name="object 32"/>
            <p:cNvSpPr/>
            <p:nvPr/>
          </p:nvSpPr>
          <p:spPr>
            <a:xfrm>
              <a:off x="9237019" y="1735273"/>
              <a:ext cx="2647315" cy="3425190"/>
            </a:xfrm>
            <a:custGeom>
              <a:avLst/>
              <a:gdLst/>
              <a:ahLst/>
              <a:cxnLst/>
              <a:rect l="l" t="t" r="r" b="b"/>
              <a:pathLst>
                <a:path w="2647315" h="3425190">
                  <a:moveTo>
                    <a:pt x="2640157" y="7110"/>
                  </a:moveTo>
                  <a:lnTo>
                    <a:pt x="2632633" y="7110"/>
                  </a:lnTo>
                  <a:lnTo>
                    <a:pt x="2632633" y="24176"/>
                  </a:lnTo>
                  <a:lnTo>
                    <a:pt x="2647274" y="24176"/>
                  </a:lnTo>
                  <a:lnTo>
                    <a:pt x="2647274" y="14627"/>
                  </a:lnTo>
                  <a:lnTo>
                    <a:pt x="2640157" y="14627"/>
                  </a:lnTo>
                  <a:lnTo>
                    <a:pt x="2640157" y="7110"/>
                  </a:lnTo>
                  <a:close/>
                </a:path>
                <a:path w="2647315" h="3425190">
                  <a:moveTo>
                    <a:pt x="2640157" y="0"/>
                  </a:moveTo>
                  <a:lnTo>
                    <a:pt x="2579358" y="0"/>
                  </a:lnTo>
                  <a:lnTo>
                    <a:pt x="2579358" y="14627"/>
                  </a:lnTo>
                  <a:lnTo>
                    <a:pt x="2632633" y="14627"/>
                  </a:lnTo>
                  <a:lnTo>
                    <a:pt x="2632633" y="7110"/>
                  </a:lnTo>
                  <a:lnTo>
                    <a:pt x="2640157" y="7110"/>
                  </a:lnTo>
                  <a:lnTo>
                    <a:pt x="2640157" y="0"/>
                  </a:lnTo>
                  <a:close/>
                </a:path>
                <a:path w="2647315" h="3425190">
                  <a:moveTo>
                    <a:pt x="2647274" y="7110"/>
                  </a:moveTo>
                  <a:lnTo>
                    <a:pt x="2640157" y="7110"/>
                  </a:lnTo>
                  <a:lnTo>
                    <a:pt x="2640157" y="14627"/>
                  </a:lnTo>
                  <a:lnTo>
                    <a:pt x="2647274" y="14627"/>
                  </a:lnTo>
                  <a:lnTo>
                    <a:pt x="2647274" y="7110"/>
                  </a:lnTo>
                  <a:close/>
                </a:path>
                <a:path w="2647315" h="3425190">
                  <a:moveTo>
                    <a:pt x="2532997" y="0"/>
                  </a:moveTo>
                  <a:lnTo>
                    <a:pt x="2471995" y="0"/>
                  </a:lnTo>
                  <a:lnTo>
                    <a:pt x="2471995" y="14627"/>
                  </a:lnTo>
                  <a:lnTo>
                    <a:pt x="2532997" y="14627"/>
                  </a:lnTo>
                  <a:lnTo>
                    <a:pt x="2532997" y="0"/>
                  </a:lnTo>
                  <a:close/>
                </a:path>
                <a:path w="2647315" h="3425190">
                  <a:moveTo>
                    <a:pt x="2425634" y="0"/>
                  </a:moveTo>
                  <a:lnTo>
                    <a:pt x="2364225" y="0"/>
                  </a:lnTo>
                  <a:lnTo>
                    <a:pt x="2364225" y="14627"/>
                  </a:lnTo>
                  <a:lnTo>
                    <a:pt x="2425634" y="14627"/>
                  </a:lnTo>
                  <a:lnTo>
                    <a:pt x="2425634" y="0"/>
                  </a:lnTo>
                  <a:close/>
                </a:path>
                <a:path w="2647315" h="3425190">
                  <a:moveTo>
                    <a:pt x="2317864" y="0"/>
                  </a:moveTo>
                  <a:lnTo>
                    <a:pt x="2256862" y="0"/>
                  </a:lnTo>
                  <a:lnTo>
                    <a:pt x="2256862" y="14627"/>
                  </a:lnTo>
                  <a:lnTo>
                    <a:pt x="2317864" y="14627"/>
                  </a:lnTo>
                  <a:lnTo>
                    <a:pt x="2317864" y="0"/>
                  </a:lnTo>
                  <a:close/>
                </a:path>
                <a:path w="2647315" h="3425190">
                  <a:moveTo>
                    <a:pt x="2213144" y="0"/>
                  </a:moveTo>
                  <a:lnTo>
                    <a:pt x="2152142" y="0"/>
                  </a:lnTo>
                  <a:lnTo>
                    <a:pt x="2152142" y="14627"/>
                  </a:lnTo>
                  <a:lnTo>
                    <a:pt x="2213144" y="14627"/>
                  </a:lnTo>
                  <a:lnTo>
                    <a:pt x="2213144" y="0"/>
                  </a:lnTo>
                  <a:close/>
                </a:path>
                <a:path w="2647315" h="3425190">
                  <a:moveTo>
                    <a:pt x="2105781" y="0"/>
                  </a:moveTo>
                  <a:lnTo>
                    <a:pt x="2044983" y="0"/>
                  </a:lnTo>
                  <a:lnTo>
                    <a:pt x="2044983" y="14627"/>
                  </a:lnTo>
                  <a:lnTo>
                    <a:pt x="2105781" y="14627"/>
                  </a:lnTo>
                  <a:lnTo>
                    <a:pt x="2105781" y="0"/>
                  </a:lnTo>
                  <a:close/>
                </a:path>
                <a:path w="2647315" h="3425190">
                  <a:moveTo>
                    <a:pt x="1998621" y="0"/>
                  </a:moveTo>
                  <a:lnTo>
                    <a:pt x="1937620" y="0"/>
                  </a:lnTo>
                  <a:lnTo>
                    <a:pt x="1937620" y="14627"/>
                  </a:lnTo>
                  <a:lnTo>
                    <a:pt x="1998621" y="14627"/>
                  </a:lnTo>
                  <a:lnTo>
                    <a:pt x="1998621" y="0"/>
                  </a:lnTo>
                  <a:close/>
                </a:path>
                <a:path w="2647315" h="3425190">
                  <a:moveTo>
                    <a:pt x="1891258" y="0"/>
                  </a:moveTo>
                  <a:lnTo>
                    <a:pt x="1829850" y="0"/>
                  </a:lnTo>
                  <a:lnTo>
                    <a:pt x="1829850" y="14627"/>
                  </a:lnTo>
                  <a:lnTo>
                    <a:pt x="1891258" y="14627"/>
                  </a:lnTo>
                  <a:lnTo>
                    <a:pt x="1891258" y="0"/>
                  </a:lnTo>
                  <a:close/>
                </a:path>
                <a:path w="2647315" h="3425190">
                  <a:moveTo>
                    <a:pt x="1785928" y="0"/>
                  </a:moveTo>
                  <a:lnTo>
                    <a:pt x="1725130" y="0"/>
                  </a:lnTo>
                  <a:lnTo>
                    <a:pt x="1725130" y="14627"/>
                  </a:lnTo>
                  <a:lnTo>
                    <a:pt x="1785928" y="14627"/>
                  </a:lnTo>
                  <a:lnTo>
                    <a:pt x="1785928" y="0"/>
                  </a:lnTo>
                  <a:close/>
                </a:path>
                <a:path w="2647315" h="3425190">
                  <a:moveTo>
                    <a:pt x="1678769" y="0"/>
                  </a:moveTo>
                  <a:lnTo>
                    <a:pt x="1617767" y="0"/>
                  </a:lnTo>
                  <a:lnTo>
                    <a:pt x="1617767" y="14627"/>
                  </a:lnTo>
                  <a:lnTo>
                    <a:pt x="1678769" y="14627"/>
                  </a:lnTo>
                  <a:lnTo>
                    <a:pt x="1678769" y="0"/>
                  </a:lnTo>
                  <a:close/>
                </a:path>
                <a:path w="2647315" h="3425190">
                  <a:moveTo>
                    <a:pt x="1571405" y="0"/>
                  </a:moveTo>
                  <a:lnTo>
                    <a:pt x="1510404" y="0"/>
                  </a:lnTo>
                  <a:lnTo>
                    <a:pt x="1510404" y="14627"/>
                  </a:lnTo>
                  <a:lnTo>
                    <a:pt x="1571405" y="14627"/>
                  </a:lnTo>
                  <a:lnTo>
                    <a:pt x="1571405" y="0"/>
                  </a:lnTo>
                  <a:close/>
                </a:path>
                <a:path w="2647315" h="3425190">
                  <a:moveTo>
                    <a:pt x="1464042" y="0"/>
                  </a:moveTo>
                  <a:lnTo>
                    <a:pt x="1403244" y="0"/>
                  </a:lnTo>
                  <a:lnTo>
                    <a:pt x="1403244" y="14627"/>
                  </a:lnTo>
                  <a:lnTo>
                    <a:pt x="1464042" y="14627"/>
                  </a:lnTo>
                  <a:lnTo>
                    <a:pt x="1464042" y="0"/>
                  </a:lnTo>
                  <a:close/>
                </a:path>
                <a:path w="2647315" h="3425190">
                  <a:moveTo>
                    <a:pt x="1358916" y="0"/>
                  </a:moveTo>
                  <a:lnTo>
                    <a:pt x="1297914" y="0"/>
                  </a:lnTo>
                  <a:lnTo>
                    <a:pt x="1297914" y="14627"/>
                  </a:lnTo>
                  <a:lnTo>
                    <a:pt x="1358916" y="14627"/>
                  </a:lnTo>
                  <a:lnTo>
                    <a:pt x="1358916" y="0"/>
                  </a:lnTo>
                  <a:close/>
                </a:path>
                <a:path w="2647315" h="3425190">
                  <a:moveTo>
                    <a:pt x="1251553" y="0"/>
                  </a:moveTo>
                  <a:lnTo>
                    <a:pt x="1190551" y="0"/>
                  </a:lnTo>
                  <a:lnTo>
                    <a:pt x="1190551" y="14627"/>
                  </a:lnTo>
                  <a:lnTo>
                    <a:pt x="1251553" y="14627"/>
                  </a:lnTo>
                  <a:lnTo>
                    <a:pt x="1251553" y="0"/>
                  </a:lnTo>
                  <a:close/>
                </a:path>
                <a:path w="2647315" h="3425190">
                  <a:moveTo>
                    <a:pt x="1144393" y="0"/>
                  </a:moveTo>
                  <a:lnTo>
                    <a:pt x="1083391" y="0"/>
                  </a:lnTo>
                  <a:lnTo>
                    <a:pt x="1083391" y="14627"/>
                  </a:lnTo>
                  <a:lnTo>
                    <a:pt x="1144393" y="14627"/>
                  </a:lnTo>
                  <a:lnTo>
                    <a:pt x="1144393" y="0"/>
                  </a:lnTo>
                  <a:close/>
                </a:path>
                <a:path w="2647315" h="3425190">
                  <a:moveTo>
                    <a:pt x="1037030" y="0"/>
                  </a:moveTo>
                  <a:lnTo>
                    <a:pt x="976028" y="0"/>
                  </a:lnTo>
                  <a:lnTo>
                    <a:pt x="976028" y="14627"/>
                  </a:lnTo>
                  <a:lnTo>
                    <a:pt x="1037030" y="14627"/>
                  </a:lnTo>
                  <a:lnTo>
                    <a:pt x="1037030" y="0"/>
                  </a:lnTo>
                  <a:close/>
                </a:path>
                <a:path w="2647315" h="3425190">
                  <a:moveTo>
                    <a:pt x="932310" y="0"/>
                  </a:moveTo>
                  <a:lnTo>
                    <a:pt x="871308" y="0"/>
                  </a:lnTo>
                  <a:lnTo>
                    <a:pt x="871308" y="14627"/>
                  </a:lnTo>
                  <a:lnTo>
                    <a:pt x="932310" y="14627"/>
                  </a:lnTo>
                  <a:lnTo>
                    <a:pt x="932310" y="0"/>
                  </a:lnTo>
                  <a:close/>
                </a:path>
                <a:path w="2647315" h="3425190">
                  <a:moveTo>
                    <a:pt x="824540" y="0"/>
                  </a:moveTo>
                  <a:lnTo>
                    <a:pt x="763538" y="0"/>
                  </a:lnTo>
                  <a:lnTo>
                    <a:pt x="763539" y="14627"/>
                  </a:lnTo>
                  <a:lnTo>
                    <a:pt x="824540" y="14627"/>
                  </a:lnTo>
                  <a:lnTo>
                    <a:pt x="824540" y="0"/>
                  </a:lnTo>
                  <a:close/>
                </a:path>
                <a:path w="2647315" h="3425190">
                  <a:moveTo>
                    <a:pt x="717177" y="0"/>
                  </a:moveTo>
                  <a:lnTo>
                    <a:pt x="656175" y="0"/>
                  </a:lnTo>
                  <a:lnTo>
                    <a:pt x="656175" y="14627"/>
                  </a:lnTo>
                  <a:lnTo>
                    <a:pt x="717177" y="14627"/>
                  </a:lnTo>
                  <a:lnTo>
                    <a:pt x="717177" y="0"/>
                  </a:lnTo>
                  <a:close/>
                </a:path>
                <a:path w="2647315" h="3425190">
                  <a:moveTo>
                    <a:pt x="609814" y="0"/>
                  </a:moveTo>
                  <a:lnTo>
                    <a:pt x="549016" y="0"/>
                  </a:lnTo>
                  <a:lnTo>
                    <a:pt x="549016" y="14627"/>
                  </a:lnTo>
                  <a:lnTo>
                    <a:pt x="609814" y="14627"/>
                  </a:lnTo>
                  <a:lnTo>
                    <a:pt x="609814" y="0"/>
                  </a:lnTo>
                  <a:close/>
                </a:path>
                <a:path w="2647315" h="3425190">
                  <a:moveTo>
                    <a:pt x="505094" y="0"/>
                  </a:moveTo>
                  <a:lnTo>
                    <a:pt x="444296" y="0"/>
                  </a:lnTo>
                  <a:lnTo>
                    <a:pt x="444296" y="14627"/>
                  </a:lnTo>
                  <a:lnTo>
                    <a:pt x="505094" y="14627"/>
                  </a:lnTo>
                  <a:lnTo>
                    <a:pt x="505094" y="0"/>
                  </a:lnTo>
                  <a:close/>
                </a:path>
                <a:path w="2647315" h="3425190">
                  <a:moveTo>
                    <a:pt x="397934" y="0"/>
                  </a:moveTo>
                  <a:lnTo>
                    <a:pt x="336933" y="0"/>
                  </a:lnTo>
                  <a:lnTo>
                    <a:pt x="336933" y="14627"/>
                  </a:lnTo>
                  <a:lnTo>
                    <a:pt x="397934" y="14627"/>
                  </a:lnTo>
                  <a:lnTo>
                    <a:pt x="397934" y="0"/>
                  </a:lnTo>
                  <a:close/>
                </a:path>
                <a:path w="2647315" h="3425190">
                  <a:moveTo>
                    <a:pt x="290165" y="0"/>
                  </a:moveTo>
                  <a:lnTo>
                    <a:pt x="229163" y="0"/>
                  </a:lnTo>
                  <a:lnTo>
                    <a:pt x="229163" y="14627"/>
                  </a:lnTo>
                  <a:lnTo>
                    <a:pt x="290165" y="14627"/>
                  </a:lnTo>
                  <a:lnTo>
                    <a:pt x="290165" y="0"/>
                  </a:lnTo>
                  <a:close/>
                </a:path>
                <a:path w="2647315" h="3425190">
                  <a:moveTo>
                    <a:pt x="182802" y="0"/>
                  </a:moveTo>
                  <a:lnTo>
                    <a:pt x="121800" y="0"/>
                  </a:lnTo>
                  <a:lnTo>
                    <a:pt x="121800" y="14627"/>
                  </a:lnTo>
                  <a:lnTo>
                    <a:pt x="182802" y="14627"/>
                  </a:lnTo>
                  <a:lnTo>
                    <a:pt x="182802" y="0"/>
                  </a:lnTo>
                  <a:close/>
                </a:path>
                <a:path w="2647315" h="3425190">
                  <a:moveTo>
                    <a:pt x="78082" y="0"/>
                  </a:moveTo>
                  <a:lnTo>
                    <a:pt x="17080" y="0"/>
                  </a:lnTo>
                  <a:lnTo>
                    <a:pt x="17080" y="14627"/>
                  </a:lnTo>
                  <a:lnTo>
                    <a:pt x="78082" y="14627"/>
                  </a:lnTo>
                  <a:lnTo>
                    <a:pt x="78082" y="0"/>
                  </a:lnTo>
                  <a:close/>
                </a:path>
                <a:path w="2647315" h="3425190">
                  <a:moveTo>
                    <a:pt x="14640" y="43679"/>
                  </a:moveTo>
                  <a:lnTo>
                    <a:pt x="0" y="43679"/>
                  </a:lnTo>
                  <a:lnTo>
                    <a:pt x="0" y="104830"/>
                  </a:lnTo>
                  <a:lnTo>
                    <a:pt x="14640" y="104830"/>
                  </a:lnTo>
                  <a:lnTo>
                    <a:pt x="14640" y="43679"/>
                  </a:lnTo>
                  <a:close/>
                </a:path>
                <a:path w="2647315" h="3425190">
                  <a:moveTo>
                    <a:pt x="14640" y="151354"/>
                  </a:moveTo>
                  <a:lnTo>
                    <a:pt x="0" y="151354"/>
                  </a:lnTo>
                  <a:lnTo>
                    <a:pt x="0" y="212099"/>
                  </a:lnTo>
                  <a:lnTo>
                    <a:pt x="14640" y="212099"/>
                  </a:lnTo>
                  <a:lnTo>
                    <a:pt x="14640" y="151354"/>
                  </a:lnTo>
                  <a:close/>
                </a:path>
                <a:path w="2647315" h="3425190">
                  <a:moveTo>
                    <a:pt x="14640" y="258623"/>
                  </a:moveTo>
                  <a:lnTo>
                    <a:pt x="0" y="258623"/>
                  </a:lnTo>
                  <a:lnTo>
                    <a:pt x="0" y="319774"/>
                  </a:lnTo>
                  <a:lnTo>
                    <a:pt x="14640" y="319774"/>
                  </a:lnTo>
                  <a:lnTo>
                    <a:pt x="14640" y="258623"/>
                  </a:lnTo>
                  <a:close/>
                </a:path>
                <a:path w="2647315" h="3425190">
                  <a:moveTo>
                    <a:pt x="14640" y="363454"/>
                  </a:moveTo>
                  <a:lnTo>
                    <a:pt x="0" y="363454"/>
                  </a:lnTo>
                  <a:lnTo>
                    <a:pt x="0" y="424605"/>
                  </a:lnTo>
                  <a:lnTo>
                    <a:pt x="14640" y="424605"/>
                  </a:lnTo>
                  <a:lnTo>
                    <a:pt x="14640" y="363454"/>
                  </a:lnTo>
                  <a:close/>
                </a:path>
                <a:path w="2647315" h="3425190">
                  <a:moveTo>
                    <a:pt x="14640" y="471129"/>
                  </a:moveTo>
                  <a:lnTo>
                    <a:pt x="0" y="471129"/>
                  </a:lnTo>
                  <a:lnTo>
                    <a:pt x="0" y="531874"/>
                  </a:lnTo>
                  <a:lnTo>
                    <a:pt x="14640" y="531874"/>
                  </a:lnTo>
                  <a:lnTo>
                    <a:pt x="14640" y="471129"/>
                  </a:lnTo>
                  <a:close/>
                </a:path>
                <a:path w="2647315" h="3425190">
                  <a:moveTo>
                    <a:pt x="14640" y="578398"/>
                  </a:moveTo>
                  <a:lnTo>
                    <a:pt x="0" y="578398"/>
                  </a:lnTo>
                  <a:lnTo>
                    <a:pt x="0" y="639549"/>
                  </a:lnTo>
                  <a:lnTo>
                    <a:pt x="14640" y="639549"/>
                  </a:lnTo>
                  <a:lnTo>
                    <a:pt x="14640" y="578398"/>
                  </a:lnTo>
                  <a:close/>
                </a:path>
                <a:path w="2647315" h="3425190">
                  <a:moveTo>
                    <a:pt x="14640" y="685666"/>
                  </a:moveTo>
                  <a:lnTo>
                    <a:pt x="0" y="685666"/>
                  </a:lnTo>
                  <a:lnTo>
                    <a:pt x="0" y="746818"/>
                  </a:lnTo>
                  <a:lnTo>
                    <a:pt x="14640" y="746818"/>
                  </a:lnTo>
                  <a:lnTo>
                    <a:pt x="14640" y="685666"/>
                  </a:lnTo>
                  <a:close/>
                </a:path>
                <a:path w="2647315" h="3425190">
                  <a:moveTo>
                    <a:pt x="14640" y="790903"/>
                  </a:moveTo>
                  <a:lnTo>
                    <a:pt x="0" y="790903"/>
                  </a:lnTo>
                  <a:lnTo>
                    <a:pt x="0" y="851648"/>
                  </a:lnTo>
                  <a:lnTo>
                    <a:pt x="14640" y="851648"/>
                  </a:lnTo>
                  <a:lnTo>
                    <a:pt x="14640" y="790903"/>
                  </a:lnTo>
                  <a:close/>
                </a:path>
                <a:path w="2647315" h="3425190">
                  <a:moveTo>
                    <a:pt x="14640" y="898172"/>
                  </a:moveTo>
                  <a:lnTo>
                    <a:pt x="0" y="898172"/>
                  </a:lnTo>
                  <a:lnTo>
                    <a:pt x="0" y="959324"/>
                  </a:lnTo>
                  <a:lnTo>
                    <a:pt x="14640" y="959324"/>
                  </a:lnTo>
                  <a:lnTo>
                    <a:pt x="14640" y="898172"/>
                  </a:lnTo>
                  <a:close/>
                </a:path>
                <a:path w="2647315" h="3425190">
                  <a:moveTo>
                    <a:pt x="14640" y="1005441"/>
                  </a:moveTo>
                  <a:lnTo>
                    <a:pt x="0" y="1005441"/>
                  </a:lnTo>
                  <a:lnTo>
                    <a:pt x="0" y="1066592"/>
                  </a:lnTo>
                  <a:lnTo>
                    <a:pt x="14640" y="1066592"/>
                  </a:lnTo>
                  <a:lnTo>
                    <a:pt x="14640" y="1005441"/>
                  </a:lnTo>
                  <a:close/>
                </a:path>
                <a:path w="2647315" h="3425190">
                  <a:moveTo>
                    <a:pt x="14640" y="1112710"/>
                  </a:moveTo>
                  <a:lnTo>
                    <a:pt x="0" y="1112710"/>
                  </a:lnTo>
                  <a:lnTo>
                    <a:pt x="0" y="1173861"/>
                  </a:lnTo>
                  <a:lnTo>
                    <a:pt x="14640" y="1173861"/>
                  </a:lnTo>
                  <a:lnTo>
                    <a:pt x="14640" y="1112710"/>
                  </a:lnTo>
                  <a:close/>
                </a:path>
                <a:path w="2647315" h="3425190">
                  <a:moveTo>
                    <a:pt x="14640" y="1218150"/>
                  </a:moveTo>
                  <a:lnTo>
                    <a:pt x="0" y="1218150"/>
                  </a:lnTo>
                  <a:lnTo>
                    <a:pt x="0" y="1279301"/>
                  </a:lnTo>
                  <a:lnTo>
                    <a:pt x="14640" y="1279301"/>
                  </a:lnTo>
                  <a:lnTo>
                    <a:pt x="14640" y="1218150"/>
                  </a:lnTo>
                  <a:close/>
                </a:path>
                <a:path w="2647315" h="3425190">
                  <a:moveTo>
                    <a:pt x="14640" y="1325419"/>
                  </a:moveTo>
                  <a:lnTo>
                    <a:pt x="0" y="1325419"/>
                  </a:lnTo>
                  <a:lnTo>
                    <a:pt x="0" y="1386570"/>
                  </a:lnTo>
                  <a:lnTo>
                    <a:pt x="14640" y="1386570"/>
                  </a:lnTo>
                  <a:lnTo>
                    <a:pt x="14640" y="1325419"/>
                  </a:lnTo>
                  <a:close/>
                </a:path>
                <a:path w="2647315" h="3425190">
                  <a:moveTo>
                    <a:pt x="14640" y="1432484"/>
                  </a:moveTo>
                  <a:lnTo>
                    <a:pt x="0" y="1432484"/>
                  </a:lnTo>
                  <a:lnTo>
                    <a:pt x="0" y="1493737"/>
                  </a:lnTo>
                  <a:lnTo>
                    <a:pt x="14640" y="1493737"/>
                  </a:lnTo>
                  <a:lnTo>
                    <a:pt x="14640" y="1432484"/>
                  </a:lnTo>
                  <a:close/>
                </a:path>
                <a:path w="2647315" h="3425190">
                  <a:moveTo>
                    <a:pt x="14640" y="1540342"/>
                  </a:moveTo>
                  <a:lnTo>
                    <a:pt x="0" y="1540342"/>
                  </a:lnTo>
                  <a:lnTo>
                    <a:pt x="0" y="1601494"/>
                  </a:lnTo>
                  <a:lnTo>
                    <a:pt x="14640" y="1601494"/>
                  </a:lnTo>
                  <a:lnTo>
                    <a:pt x="14640" y="1540342"/>
                  </a:lnTo>
                  <a:close/>
                </a:path>
                <a:path w="2647315" h="3425190">
                  <a:moveTo>
                    <a:pt x="14640" y="1645112"/>
                  </a:moveTo>
                  <a:lnTo>
                    <a:pt x="0" y="1645112"/>
                  </a:lnTo>
                  <a:lnTo>
                    <a:pt x="0" y="1706264"/>
                  </a:lnTo>
                  <a:lnTo>
                    <a:pt x="14640" y="1706264"/>
                  </a:lnTo>
                  <a:lnTo>
                    <a:pt x="14640" y="1645112"/>
                  </a:lnTo>
                  <a:close/>
                </a:path>
                <a:path w="2647315" h="3425190">
                  <a:moveTo>
                    <a:pt x="14640" y="1752381"/>
                  </a:moveTo>
                  <a:lnTo>
                    <a:pt x="0" y="1752381"/>
                  </a:lnTo>
                  <a:lnTo>
                    <a:pt x="0" y="1813532"/>
                  </a:lnTo>
                  <a:lnTo>
                    <a:pt x="14640" y="1813532"/>
                  </a:lnTo>
                  <a:lnTo>
                    <a:pt x="14640" y="1752381"/>
                  </a:lnTo>
                  <a:close/>
                </a:path>
                <a:path w="2647315" h="3425190">
                  <a:moveTo>
                    <a:pt x="14640" y="1860137"/>
                  </a:moveTo>
                  <a:lnTo>
                    <a:pt x="0" y="1860137"/>
                  </a:lnTo>
                  <a:lnTo>
                    <a:pt x="0" y="1921289"/>
                  </a:lnTo>
                  <a:lnTo>
                    <a:pt x="14640" y="1921289"/>
                  </a:lnTo>
                  <a:lnTo>
                    <a:pt x="14640" y="1860137"/>
                  </a:lnTo>
                  <a:close/>
                </a:path>
                <a:path w="2647315" h="3425190">
                  <a:moveTo>
                    <a:pt x="14640" y="1967406"/>
                  </a:moveTo>
                  <a:lnTo>
                    <a:pt x="0" y="1967406"/>
                  </a:lnTo>
                  <a:lnTo>
                    <a:pt x="0" y="2028557"/>
                  </a:lnTo>
                  <a:lnTo>
                    <a:pt x="14640" y="2028557"/>
                  </a:lnTo>
                  <a:lnTo>
                    <a:pt x="14640" y="1967406"/>
                  </a:lnTo>
                  <a:close/>
                </a:path>
                <a:path w="2647315" h="3425190">
                  <a:moveTo>
                    <a:pt x="14640" y="2072156"/>
                  </a:moveTo>
                  <a:lnTo>
                    <a:pt x="0" y="2072156"/>
                  </a:lnTo>
                  <a:lnTo>
                    <a:pt x="0" y="2133307"/>
                  </a:lnTo>
                  <a:lnTo>
                    <a:pt x="14640" y="2133307"/>
                  </a:lnTo>
                  <a:lnTo>
                    <a:pt x="14640" y="2072156"/>
                  </a:lnTo>
                  <a:close/>
                </a:path>
                <a:path w="2647315" h="3425190">
                  <a:moveTo>
                    <a:pt x="14640" y="2179932"/>
                  </a:moveTo>
                  <a:lnTo>
                    <a:pt x="0" y="2179932"/>
                  </a:lnTo>
                  <a:lnTo>
                    <a:pt x="0" y="2241084"/>
                  </a:lnTo>
                  <a:lnTo>
                    <a:pt x="14640" y="2241084"/>
                  </a:lnTo>
                  <a:lnTo>
                    <a:pt x="14640" y="2179932"/>
                  </a:lnTo>
                  <a:close/>
                </a:path>
                <a:path w="2647315" h="3425190">
                  <a:moveTo>
                    <a:pt x="14640" y="2287201"/>
                  </a:moveTo>
                  <a:lnTo>
                    <a:pt x="0" y="2287201"/>
                  </a:lnTo>
                  <a:lnTo>
                    <a:pt x="0" y="2348332"/>
                  </a:lnTo>
                  <a:lnTo>
                    <a:pt x="14640" y="2348332"/>
                  </a:lnTo>
                  <a:lnTo>
                    <a:pt x="14640" y="2287201"/>
                  </a:lnTo>
                  <a:close/>
                </a:path>
                <a:path w="2647315" h="3425190">
                  <a:moveTo>
                    <a:pt x="14640" y="2394450"/>
                  </a:moveTo>
                  <a:lnTo>
                    <a:pt x="0" y="2394450"/>
                  </a:lnTo>
                  <a:lnTo>
                    <a:pt x="0" y="2455601"/>
                  </a:lnTo>
                  <a:lnTo>
                    <a:pt x="14640" y="2455601"/>
                  </a:lnTo>
                  <a:lnTo>
                    <a:pt x="14640" y="2394450"/>
                  </a:lnTo>
                  <a:close/>
                </a:path>
                <a:path w="2647315" h="3425190">
                  <a:moveTo>
                    <a:pt x="14640" y="2499707"/>
                  </a:moveTo>
                  <a:lnTo>
                    <a:pt x="0" y="2499707"/>
                  </a:lnTo>
                  <a:lnTo>
                    <a:pt x="0" y="2560858"/>
                  </a:lnTo>
                  <a:lnTo>
                    <a:pt x="14640" y="2560858"/>
                  </a:lnTo>
                  <a:lnTo>
                    <a:pt x="14640" y="2499707"/>
                  </a:lnTo>
                  <a:close/>
                </a:path>
                <a:path w="2647315" h="3425190">
                  <a:moveTo>
                    <a:pt x="14640" y="2606976"/>
                  </a:moveTo>
                  <a:lnTo>
                    <a:pt x="0" y="2606976"/>
                  </a:lnTo>
                  <a:lnTo>
                    <a:pt x="0" y="2668127"/>
                  </a:lnTo>
                  <a:lnTo>
                    <a:pt x="14640" y="2668127"/>
                  </a:lnTo>
                  <a:lnTo>
                    <a:pt x="14640" y="2606976"/>
                  </a:lnTo>
                  <a:close/>
                </a:path>
                <a:path w="2647315" h="3425190">
                  <a:moveTo>
                    <a:pt x="14640" y="2714245"/>
                  </a:moveTo>
                  <a:lnTo>
                    <a:pt x="0" y="2714245"/>
                  </a:lnTo>
                  <a:lnTo>
                    <a:pt x="0" y="2775396"/>
                  </a:lnTo>
                  <a:lnTo>
                    <a:pt x="14640" y="2775396"/>
                  </a:lnTo>
                  <a:lnTo>
                    <a:pt x="14640" y="2714245"/>
                  </a:lnTo>
                  <a:close/>
                </a:path>
                <a:path w="2647315" h="3425190">
                  <a:moveTo>
                    <a:pt x="14640" y="2822001"/>
                  </a:moveTo>
                  <a:lnTo>
                    <a:pt x="0" y="2822001"/>
                  </a:lnTo>
                  <a:lnTo>
                    <a:pt x="0" y="2882665"/>
                  </a:lnTo>
                  <a:lnTo>
                    <a:pt x="14640" y="2882665"/>
                  </a:lnTo>
                  <a:lnTo>
                    <a:pt x="14640" y="2822001"/>
                  </a:lnTo>
                  <a:close/>
                </a:path>
                <a:path w="2647315" h="3425190">
                  <a:moveTo>
                    <a:pt x="14640" y="2926771"/>
                  </a:moveTo>
                  <a:lnTo>
                    <a:pt x="0" y="2926771"/>
                  </a:lnTo>
                  <a:lnTo>
                    <a:pt x="0" y="2987922"/>
                  </a:lnTo>
                  <a:lnTo>
                    <a:pt x="14640" y="2987922"/>
                  </a:lnTo>
                  <a:lnTo>
                    <a:pt x="14640" y="2926771"/>
                  </a:lnTo>
                  <a:close/>
                </a:path>
                <a:path w="2647315" h="3425190">
                  <a:moveTo>
                    <a:pt x="14640" y="3034040"/>
                  </a:moveTo>
                  <a:lnTo>
                    <a:pt x="0" y="3034040"/>
                  </a:lnTo>
                  <a:lnTo>
                    <a:pt x="0" y="3095191"/>
                  </a:lnTo>
                  <a:lnTo>
                    <a:pt x="14640" y="3095191"/>
                  </a:lnTo>
                  <a:lnTo>
                    <a:pt x="14640" y="3034040"/>
                  </a:lnTo>
                  <a:close/>
                </a:path>
                <a:path w="2647315" h="3425190">
                  <a:moveTo>
                    <a:pt x="14640" y="3141796"/>
                  </a:moveTo>
                  <a:lnTo>
                    <a:pt x="0" y="3141796"/>
                  </a:lnTo>
                  <a:lnTo>
                    <a:pt x="0" y="3202439"/>
                  </a:lnTo>
                  <a:lnTo>
                    <a:pt x="14640" y="3202439"/>
                  </a:lnTo>
                  <a:lnTo>
                    <a:pt x="14640" y="3141796"/>
                  </a:lnTo>
                  <a:close/>
                </a:path>
                <a:path w="2647315" h="3425190">
                  <a:moveTo>
                    <a:pt x="14640" y="3249065"/>
                  </a:moveTo>
                  <a:lnTo>
                    <a:pt x="0" y="3249065"/>
                  </a:lnTo>
                  <a:lnTo>
                    <a:pt x="0" y="3310214"/>
                  </a:lnTo>
                  <a:lnTo>
                    <a:pt x="14640" y="3310214"/>
                  </a:lnTo>
                  <a:lnTo>
                    <a:pt x="14640" y="3249065"/>
                  </a:lnTo>
                  <a:close/>
                </a:path>
                <a:path w="2647315" h="3425190">
                  <a:moveTo>
                    <a:pt x="14640" y="3353822"/>
                  </a:moveTo>
                  <a:lnTo>
                    <a:pt x="0" y="3353822"/>
                  </a:lnTo>
                  <a:lnTo>
                    <a:pt x="0" y="3414972"/>
                  </a:lnTo>
                  <a:lnTo>
                    <a:pt x="14640" y="3414972"/>
                  </a:lnTo>
                  <a:lnTo>
                    <a:pt x="14640" y="3353822"/>
                  </a:lnTo>
                  <a:close/>
                </a:path>
                <a:path w="2647315" h="3425190">
                  <a:moveTo>
                    <a:pt x="114887" y="3409960"/>
                  </a:moveTo>
                  <a:lnTo>
                    <a:pt x="53885" y="3409960"/>
                  </a:lnTo>
                  <a:lnTo>
                    <a:pt x="53885" y="3424998"/>
                  </a:lnTo>
                  <a:lnTo>
                    <a:pt x="114887" y="3424998"/>
                  </a:lnTo>
                  <a:lnTo>
                    <a:pt x="114887" y="3409960"/>
                  </a:lnTo>
                  <a:close/>
                </a:path>
                <a:path w="2647315" h="3425190">
                  <a:moveTo>
                    <a:pt x="219606" y="3409960"/>
                  </a:moveTo>
                  <a:lnTo>
                    <a:pt x="158604" y="3409960"/>
                  </a:lnTo>
                  <a:lnTo>
                    <a:pt x="158604" y="3424998"/>
                  </a:lnTo>
                  <a:lnTo>
                    <a:pt x="219606" y="3424998"/>
                  </a:lnTo>
                  <a:lnTo>
                    <a:pt x="219606" y="3409960"/>
                  </a:lnTo>
                  <a:close/>
                </a:path>
                <a:path w="2647315" h="3425190">
                  <a:moveTo>
                    <a:pt x="326766" y="3409960"/>
                  </a:moveTo>
                  <a:lnTo>
                    <a:pt x="265968" y="3409960"/>
                  </a:lnTo>
                  <a:lnTo>
                    <a:pt x="265968" y="3424998"/>
                  </a:lnTo>
                  <a:lnTo>
                    <a:pt x="326766" y="3424998"/>
                  </a:lnTo>
                  <a:lnTo>
                    <a:pt x="326766" y="3409960"/>
                  </a:lnTo>
                  <a:close/>
                </a:path>
                <a:path w="2647315" h="3425190">
                  <a:moveTo>
                    <a:pt x="434129" y="3409960"/>
                  </a:moveTo>
                  <a:lnTo>
                    <a:pt x="373127" y="3409960"/>
                  </a:lnTo>
                  <a:lnTo>
                    <a:pt x="373127" y="3424998"/>
                  </a:lnTo>
                  <a:lnTo>
                    <a:pt x="434129" y="3424998"/>
                  </a:lnTo>
                  <a:lnTo>
                    <a:pt x="434129" y="3409960"/>
                  </a:lnTo>
                  <a:close/>
                </a:path>
                <a:path w="2647315" h="3425190">
                  <a:moveTo>
                    <a:pt x="541492" y="3409960"/>
                  </a:moveTo>
                  <a:lnTo>
                    <a:pt x="480491" y="3409960"/>
                  </a:lnTo>
                  <a:lnTo>
                    <a:pt x="480491" y="3424998"/>
                  </a:lnTo>
                  <a:lnTo>
                    <a:pt x="541492" y="3424998"/>
                  </a:lnTo>
                  <a:lnTo>
                    <a:pt x="541492" y="3409960"/>
                  </a:lnTo>
                  <a:close/>
                </a:path>
                <a:path w="2647315" h="3425190">
                  <a:moveTo>
                    <a:pt x="646619" y="3409960"/>
                  </a:moveTo>
                  <a:lnTo>
                    <a:pt x="585820" y="3409960"/>
                  </a:lnTo>
                  <a:lnTo>
                    <a:pt x="585820" y="3424998"/>
                  </a:lnTo>
                  <a:lnTo>
                    <a:pt x="646619" y="3424998"/>
                  </a:lnTo>
                  <a:lnTo>
                    <a:pt x="646619" y="3409960"/>
                  </a:lnTo>
                  <a:close/>
                </a:path>
                <a:path w="2647315" h="3425190">
                  <a:moveTo>
                    <a:pt x="753982" y="3409960"/>
                  </a:moveTo>
                  <a:lnTo>
                    <a:pt x="692980" y="3409960"/>
                  </a:lnTo>
                  <a:lnTo>
                    <a:pt x="692980" y="3424998"/>
                  </a:lnTo>
                  <a:lnTo>
                    <a:pt x="753982" y="3424998"/>
                  </a:lnTo>
                  <a:lnTo>
                    <a:pt x="753982" y="3409960"/>
                  </a:lnTo>
                  <a:close/>
                </a:path>
                <a:path w="2647315" h="3425190">
                  <a:moveTo>
                    <a:pt x="861142" y="3409960"/>
                  </a:moveTo>
                  <a:lnTo>
                    <a:pt x="800343" y="3409960"/>
                  </a:lnTo>
                  <a:lnTo>
                    <a:pt x="800343" y="3424998"/>
                  </a:lnTo>
                  <a:lnTo>
                    <a:pt x="861142" y="3424998"/>
                  </a:lnTo>
                  <a:lnTo>
                    <a:pt x="861142" y="3409960"/>
                  </a:lnTo>
                  <a:close/>
                </a:path>
                <a:path w="2647315" h="3425190">
                  <a:moveTo>
                    <a:pt x="968505" y="3409960"/>
                  </a:moveTo>
                  <a:lnTo>
                    <a:pt x="907503" y="3409960"/>
                  </a:lnTo>
                  <a:lnTo>
                    <a:pt x="907503" y="3424998"/>
                  </a:lnTo>
                  <a:lnTo>
                    <a:pt x="968505" y="3424998"/>
                  </a:lnTo>
                  <a:lnTo>
                    <a:pt x="968505" y="3409960"/>
                  </a:lnTo>
                  <a:close/>
                </a:path>
                <a:path w="2647315" h="3425190">
                  <a:moveTo>
                    <a:pt x="1073835" y="3409960"/>
                  </a:moveTo>
                  <a:lnTo>
                    <a:pt x="1012833" y="3409960"/>
                  </a:lnTo>
                  <a:lnTo>
                    <a:pt x="1012833" y="3424998"/>
                  </a:lnTo>
                  <a:lnTo>
                    <a:pt x="1073835" y="3424998"/>
                  </a:lnTo>
                  <a:lnTo>
                    <a:pt x="1073835" y="3409960"/>
                  </a:lnTo>
                  <a:close/>
                </a:path>
                <a:path w="2647315" h="3425190">
                  <a:moveTo>
                    <a:pt x="1180994" y="3409960"/>
                  </a:moveTo>
                  <a:lnTo>
                    <a:pt x="1120196" y="3409960"/>
                  </a:lnTo>
                  <a:lnTo>
                    <a:pt x="1120196" y="3424998"/>
                  </a:lnTo>
                  <a:lnTo>
                    <a:pt x="1180994" y="3424998"/>
                  </a:lnTo>
                  <a:lnTo>
                    <a:pt x="1180994" y="3409960"/>
                  </a:lnTo>
                  <a:close/>
                </a:path>
                <a:path w="2647315" h="3425190">
                  <a:moveTo>
                    <a:pt x="1288358" y="3409960"/>
                  </a:moveTo>
                  <a:lnTo>
                    <a:pt x="1227356" y="3409960"/>
                  </a:lnTo>
                  <a:lnTo>
                    <a:pt x="1227356" y="3424998"/>
                  </a:lnTo>
                  <a:lnTo>
                    <a:pt x="1288358" y="3424998"/>
                  </a:lnTo>
                  <a:lnTo>
                    <a:pt x="1288358" y="3409960"/>
                  </a:lnTo>
                  <a:close/>
                </a:path>
                <a:path w="2647315" h="3425190">
                  <a:moveTo>
                    <a:pt x="1395721" y="3409960"/>
                  </a:moveTo>
                  <a:lnTo>
                    <a:pt x="1334719" y="3409960"/>
                  </a:lnTo>
                  <a:lnTo>
                    <a:pt x="1334719" y="3424998"/>
                  </a:lnTo>
                  <a:lnTo>
                    <a:pt x="1395721" y="3424998"/>
                  </a:lnTo>
                  <a:lnTo>
                    <a:pt x="1395721" y="3409960"/>
                  </a:lnTo>
                  <a:close/>
                </a:path>
                <a:path w="2647315" h="3425190">
                  <a:moveTo>
                    <a:pt x="1500440" y="3409960"/>
                  </a:moveTo>
                  <a:lnTo>
                    <a:pt x="1439439" y="3409960"/>
                  </a:lnTo>
                  <a:lnTo>
                    <a:pt x="1439439" y="3424998"/>
                  </a:lnTo>
                  <a:lnTo>
                    <a:pt x="1500440" y="3424998"/>
                  </a:lnTo>
                  <a:lnTo>
                    <a:pt x="1500440" y="3409960"/>
                  </a:lnTo>
                  <a:close/>
                </a:path>
                <a:path w="2647315" h="3425190">
                  <a:moveTo>
                    <a:pt x="1608210" y="3409960"/>
                  </a:moveTo>
                  <a:lnTo>
                    <a:pt x="1547208" y="3409960"/>
                  </a:lnTo>
                  <a:lnTo>
                    <a:pt x="1547208" y="3424998"/>
                  </a:lnTo>
                  <a:lnTo>
                    <a:pt x="1608210" y="3424998"/>
                  </a:lnTo>
                  <a:lnTo>
                    <a:pt x="1608210" y="3409960"/>
                  </a:lnTo>
                  <a:close/>
                </a:path>
                <a:path w="2647315" h="3425190">
                  <a:moveTo>
                    <a:pt x="1715573" y="3409960"/>
                  </a:moveTo>
                  <a:lnTo>
                    <a:pt x="1654572" y="3409960"/>
                  </a:lnTo>
                  <a:lnTo>
                    <a:pt x="1654572" y="3424998"/>
                  </a:lnTo>
                  <a:lnTo>
                    <a:pt x="1715573" y="3424998"/>
                  </a:lnTo>
                  <a:lnTo>
                    <a:pt x="1715573" y="3409960"/>
                  </a:lnTo>
                  <a:close/>
                </a:path>
                <a:path w="2647315" h="3425190">
                  <a:moveTo>
                    <a:pt x="1822733" y="3409960"/>
                  </a:moveTo>
                  <a:lnTo>
                    <a:pt x="1761731" y="3409960"/>
                  </a:lnTo>
                  <a:lnTo>
                    <a:pt x="1761731" y="3424998"/>
                  </a:lnTo>
                  <a:lnTo>
                    <a:pt x="1822733" y="3424998"/>
                  </a:lnTo>
                  <a:lnTo>
                    <a:pt x="1822733" y="3409960"/>
                  </a:lnTo>
                  <a:close/>
                </a:path>
                <a:path w="2647315" h="3425190">
                  <a:moveTo>
                    <a:pt x="1927453" y="3409960"/>
                  </a:moveTo>
                  <a:lnTo>
                    <a:pt x="1866654" y="3409960"/>
                  </a:lnTo>
                  <a:lnTo>
                    <a:pt x="1866654" y="3424998"/>
                  </a:lnTo>
                  <a:lnTo>
                    <a:pt x="1927453" y="3424998"/>
                  </a:lnTo>
                  <a:lnTo>
                    <a:pt x="1927453" y="3409960"/>
                  </a:lnTo>
                  <a:close/>
                </a:path>
                <a:path w="2647315" h="3425190">
                  <a:moveTo>
                    <a:pt x="2034816" y="3409960"/>
                  </a:moveTo>
                  <a:lnTo>
                    <a:pt x="1973814" y="3409960"/>
                  </a:lnTo>
                  <a:lnTo>
                    <a:pt x="1973814" y="3424998"/>
                  </a:lnTo>
                  <a:lnTo>
                    <a:pt x="2034816" y="3424998"/>
                  </a:lnTo>
                  <a:lnTo>
                    <a:pt x="2034816" y="3409960"/>
                  </a:lnTo>
                  <a:close/>
                </a:path>
                <a:path w="2647315" h="3425190">
                  <a:moveTo>
                    <a:pt x="2142586" y="3409960"/>
                  </a:moveTo>
                  <a:lnTo>
                    <a:pt x="2081177" y="3409960"/>
                  </a:lnTo>
                  <a:lnTo>
                    <a:pt x="2081177" y="3424998"/>
                  </a:lnTo>
                  <a:lnTo>
                    <a:pt x="2142586" y="3424998"/>
                  </a:lnTo>
                  <a:lnTo>
                    <a:pt x="2142586" y="3409960"/>
                  </a:lnTo>
                  <a:close/>
                </a:path>
                <a:path w="2647315" h="3425190">
                  <a:moveTo>
                    <a:pt x="2249949" y="3409960"/>
                  </a:moveTo>
                  <a:lnTo>
                    <a:pt x="2188947" y="3409960"/>
                  </a:lnTo>
                  <a:lnTo>
                    <a:pt x="2188947" y="3424998"/>
                  </a:lnTo>
                  <a:lnTo>
                    <a:pt x="2249949" y="3424998"/>
                  </a:lnTo>
                  <a:lnTo>
                    <a:pt x="2249949" y="3409960"/>
                  </a:lnTo>
                  <a:close/>
                </a:path>
                <a:path w="2647315" h="3425190">
                  <a:moveTo>
                    <a:pt x="2354669" y="3409960"/>
                  </a:moveTo>
                  <a:lnTo>
                    <a:pt x="2293667" y="3409960"/>
                  </a:lnTo>
                  <a:lnTo>
                    <a:pt x="2293667" y="3424998"/>
                  </a:lnTo>
                  <a:lnTo>
                    <a:pt x="2354669" y="3424998"/>
                  </a:lnTo>
                  <a:lnTo>
                    <a:pt x="2354669" y="3409960"/>
                  </a:lnTo>
                  <a:close/>
                </a:path>
                <a:path w="2647315" h="3425190">
                  <a:moveTo>
                    <a:pt x="2462032" y="3409960"/>
                  </a:moveTo>
                  <a:lnTo>
                    <a:pt x="2401030" y="3409960"/>
                  </a:lnTo>
                  <a:lnTo>
                    <a:pt x="2401030" y="3424998"/>
                  </a:lnTo>
                  <a:lnTo>
                    <a:pt x="2462032" y="3424998"/>
                  </a:lnTo>
                  <a:lnTo>
                    <a:pt x="2462032" y="3409960"/>
                  </a:lnTo>
                  <a:close/>
                </a:path>
                <a:path w="2647315" h="3425190">
                  <a:moveTo>
                    <a:pt x="2569192" y="3409960"/>
                  </a:moveTo>
                  <a:lnTo>
                    <a:pt x="2508190" y="3409960"/>
                  </a:lnTo>
                  <a:lnTo>
                    <a:pt x="2508190" y="3424998"/>
                  </a:lnTo>
                  <a:lnTo>
                    <a:pt x="2569192" y="3424998"/>
                  </a:lnTo>
                  <a:lnTo>
                    <a:pt x="2569192" y="3409960"/>
                  </a:lnTo>
                  <a:close/>
                </a:path>
                <a:path w="2647315" h="3425190">
                  <a:moveTo>
                    <a:pt x="2632634" y="3409960"/>
                  </a:moveTo>
                  <a:lnTo>
                    <a:pt x="2615553" y="3409960"/>
                  </a:lnTo>
                  <a:lnTo>
                    <a:pt x="2615553" y="3424998"/>
                  </a:lnTo>
                  <a:lnTo>
                    <a:pt x="2647274" y="3424998"/>
                  </a:lnTo>
                  <a:lnTo>
                    <a:pt x="2647274" y="3417479"/>
                  </a:lnTo>
                  <a:lnTo>
                    <a:pt x="2632634" y="3417479"/>
                  </a:lnTo>
                  <a:lnTo>
                    <a:pt x="2632634" y="3409960"/>
                  </a:lnTo>
                  <a:close/>
                </a:path>
                <a:path w="2647315" h="3425190">
                  <a:moveTo>
                    <a:pt x="2647274" y="3380887"/>
                  </a:moveTo>
                  <a:lnTo>
                    <a:pt x="2632634" y="3380887"/>
                  </a:lnTo>
                  <a:lnTo>
                    <a:pt x="2632634" y="3417479"/>
                  </a:lnTo>
                  <a:lnTo>
                    <a:pt x="2640157" y="3409960"/>
                  </a:lnTo>
                  <a:lnTo>
                    <a:pt x="2647274" y="3409960"/>
                  </a:lnTo>
                  <a:lnTo>
                    <a:pt x="2647274" y="3380887"/>
                  </a:lnTo>
                  <a:close/>
                </a:path>
                <a:path w="2647315" h="3425190">
                  <a:moveTo>
                    <a:pt x="2647274" y="3409960"/>
                  </a:moveTo>
                  <a:lnTo>
                    <a:pt x="2640157" y="3409960"/>
                  </a:lnTo>
                  <a:lnTo>
                    <a:pt x="2632634" y="3417479"/>
                  </a:lnTo>
                  <a:lnTo>
                    <a:pt x="2647274" y="3417479"/>
                  </a:lnTo>
                  <a:lnTo>
                    <a:pt x="2647274" y="3409960"/>
                  </a:lnTo>
                  <a:close/>
                </a:path>
                <a:path w="2647315" h="3425190">
                  <a:moveTo>
                    <a:pt x="2647274" y="3273627"/>
                  </a:moveTo>
                  <a:lnTo>
                    <a:pt x="2632633" y="3273627"/>
                  </a:lnTo>
                  <a:lnTo>
                    <a:pt x="2632633" y="3334272"/>
                  </a:lnTo>
                  <a:lnTo>
                    <a:pt x="2647274" y="3334272"/>
                  </a:lnTo>
                  <a:lnTo>
                    <a:pt x="2647274" y="3273627"/>
                  </a:lnTo>
                  <a:close/>
                </a:path>
                <a:path w="2647315" h="3425190">
                  <a:moveTo>
                    <a:pt x="2647274" y="3165850"/>
                  </a:moveTo>
                  <a:lnTo>
                    <a:pt x="2632633" y="3165850"/>
                  </a:lnTo>
                  <a:lnTo>
                    <a:pt x="2632633" y="3227002"/>
                  </a:lnTo>
                  <a:lnTo>
                    <a:pt x="2647274" y="3227002"/>
                  </a:lnTo>
                  <a:lnTo>
                    <a:pt x="2647274" y="3165850"/>
                  </a:lnTo>
                  <a:close/>
                </a:path>
                <a:path w="2647315" h="3425190">
                  <a:moveTo>
                    <a:pt x="2647274" y="3061101"/>
                  </a:moveTo>
                  <a:lnTo>
                    <a:pt x="2632633" y="3061101"/>
                  </a:lnTo>
                  <a:lnTo>
                    <a:pt x="2632633" y="3122252"/>
                  </a:lnTo>
                  <a:lnTo>
                    <a:pt x="2647274" y="3122252"/>
                  </a:lnTo>
                  <a:lnTo>
                    <a:pt x="2647274" y="3061101"/>
                  </a:lnTo>
                  <a:close/>
                </a:path>
                <a:path w="2647315" h="3425190">
                  <a:moveTo>
                    <a:pt x="2647274" y="2953832"/>
                  </a:moveTo>
                  <a:lnTo>
                    <a:pt x="2632633" y="2953832"/>
                  </a:lnTo>
                  <a:lnTo>
                    <a:pt x="2632633" y="3014475"/>
                  </a:lnTo>
                  <a:lnTo>
                    <a:pt x="2647274" y="3014475"/>
                  </a:lnTo>
                  <a:lnTo>
                    <a:pt x="2647274" y="2953832"/>
                  </a:lnTo>
                  <a:close/>
                </a:path>
                <a:path w="2647315" h="3425190">
                  <a:moveTo>
                    <a:pt x="2647274" y="2846076"/>
                  </a:moveTo>
                  <a:lnTo>
                    <a:pt x="2632633" y="2846076"/>
                  </a:lnTo>
                  <a:lnTo>
                    <a:pt x="2632633" y="2907227"/>
                  </a:lnTo>
                  <a:lnTo>
                    <a:pt x="2647274" y="2907227"/>
                  </a:lnTo>
                  <a:lnTo>
                    <a:pt x="2647274" y="2846076"/>
                  </a:lnTo>
                  <a:close/>
                </a:path>
                <a:path w="2647315" h="3425190">
                  <a:moveTo>
                    <a:pt x="2647274" y="2738807"/>
                  </a:moveTo>
                  <a:lnTo>
                    <a:pt x="2632633" y="2738807"/>
                  </a:lnTo>
                  <a:lnTo>
                    <a:pt x="2632633" y="2799958"/>
                  </a:lnTo>
                  <a:lnTo>
                    <a:pt x="2647274" y="2799958"/>
                  </a:lnTo>
                  <a:lnTo>
                    <a:pt x="2647274" y="2738807"/>
                  </a:lnTo>
                  <a:close/>
                </a:path>
                <a:path w="2647315" h="3425190">
                  <a:moveTo>
                    <a:pt x="2647274" y="2634037"/>
                  </a:moveTo>
                  <a:lnTo>
                    <a:pt x="2632633" y="2634037"/>
                  </a:lnTo>
                  <a:lnTo>
                    <a:pt x="2632633" y="2694701"/>
                  </a:lnTo>
                  <a:lnTo>
                    <a:pt x="2647274" y="2694701"/>
                  </a:lnTo>
                  <a:lnTo>
                    <a:pt x="2647274" y="2634037"/>
                  </a:lnTo>
                  <a:close/>
                </a:path>
                <a:path w="2647315" h="3425190">
                  <a:moveTo>
                    <a:pt x="2647274" y="2526281"/>
                  </a:moveTo>
                  <a:lnTo>
                    <a:pt x="2632633" y="2526281"/>
                  </a:lnTo>
                  <a:lnTo>
                    <a:pt x="2632633" y="2587432"/>
                  </a:lnTo>
                  <a:lnTo>
                    <a:pt x="2647274" y="2587432"/>
                  </a:lnTo>
                  <a:lnTo>
                    <a:pt x="2647274" y="2526281"/>
                  </a:lnTo>
                  <a:close/>
                </a:path>
                <a:path w="2647315" h="3425190">
                  <a:moveTo>
                    <a:pt x="2647274" y="2419012"/>
                  </a:moveTo>
                  <a:lnTo>
                    <a:pt x="2632633" y="2419012"/>
                  </a:lnTo>
                  <a:lnTo>
                    <a:pt x="2632633" y="2480163"/>
                  </a:lnTo>
                  <a:lnTo>
                    <a:pt x="2647274" y="2480163"/>
                  </a:lnTo>
                  <a:lnTo>
                    <a:pt x="2647274" y="2419012"/>
                  </a:lnTo>
                  <a:close/>
                </a:path>
                <a:path w="2647315" h="3425190">
                  <a:moveTo>
                    <a:pt x="2647274" y="2311743"/>
                  </a:moveTo>
                  <a:lnTo>
                    <a:pt x="2632633" y="2311743"/>
                  </a:lnTo>
                  <a:lnTo>
                    <a:pt x="2632633" y="2372894"/>
                  </a:lnTo>
                  <a:lnTo>
                    <a:pt x="2647274" y="2372894"/>
                  </a:lnTo>
                  <a:lnTo>
                    <a:pt x="2647274" y="2311743"/>
                  </a:lnTo>
                  <a:close/>
                </a:path>
                <a:path w="2647315" h="3425190">
                  <a:moveTo>
                    <a:pt x="2647274" y="2206486"/>
                  </a:moveTo>
                  <a:lnTo>
                    <a:pt x="2632633" y="2206486"/>
                  </a:lnTo>
                  <a:lnTo>
                    <a:pt x="2632633" y="2267637"/>
                  </a:lnTo>
                  <a:lnTo>
                    <a:pt x="2647274" y="2267637"/>
                  </a:lnTo>
                  <a:lnTo>
                    <a:pt x="2647274" y="2206486"/>
                  </a:lnTo>
                  <a:close/>
                </a:path>
                <a:path w="2647315" h="3425190">
                  <a:moveTo>
                    <a:pt x="2647274" y="2099237"/>
                  </a:moveTo>
                  <a:lnTo>
                    <a:pt x="2632633" y="2099237"/>
                  </a:lnTo>
                  <a:lnTo>
                    <a:pt x="2632633" y="2160388"/>
                  </a:lnTo>
                  <a:lnTo>
                    <a:pt x="2647274" y="2160388"/>
                  </a:lnTo>
                  <a:lnTo>
                    <a:pt x="2647274" y="2099237"/>
                  </a:lnTo>
                  <a:close/>
                </a:path>
                <a:path w="2647315" h="3425190">
                  <a:moveTo>
                    <a:pt x="2647274" y="1991968"/>
                  </a:moveTo>
                  <a:lnTo>
                    <a:pt x="2632633" y="1991968"/>
                  </a:lnTo>
                  <a:lnTo>
                    <a:pt x="2632633" y="2053120"/>
                  </a:lnTo>
                  <a:lnTo>
                    <a:pt x="2647274" y="2053120"/>
                  </a:lnTo>
                  <a:lnTo>
                    <a:pt x="2647274" y="1991968"/>
                  </a:lnTo>
                  <a:close/>
                </a:path>
                <a:path w="2647315" h="3425190">
                  <a:moveTo>
                    <a:pt x="2647274" y="1884192"/>
                  </a:moveTo>
                  <a:lnTo>
                    <a:pt x="2632633" y="1884192"/>
                  </a:lnTo>
                  <a:lnTo>
                    <a:pt x="2632633" y="1945343"/>
                  </a:lnTo>
                  <a:lnTo>
                    <a:pt x="2647274" y="1945343"/>
                  </a:lnTo>
                  <a:lnTo>
                    <a:pt x="2647274" y="1884192"/>
                  </a:lnTo>
                  <a:close/>
                </a:path>
                <a:path w="2647315" h="3425190">
                  <a:moveTo>
                    <a:pt x="2647274" y="1779442"/>
                  </a:moveTo>
                  <a:lnTo>
                    <a:pt x="2632633" y="1779442"/>
                  </a:lnTo>
                  <a:lnTo>
                    <a:pt x="2632633" y="1840593"/>
                  </a:lnTo>
                  <a:lnTo>
                    <a:pt x="2647274" y="1840593"/>
                  </a:lnTo>
                  <a:lnTo>
                    <a:pt x="2647274" y="1779442"/>
                  </a:lnTo>
                  <a:close/>
                </a:path>
                <a:path w="2647315" h="3425190">
                  <a:moveTo>
                    <a:pt x="2647274" y="1672173"/>
                  </a:moveTo>
                  <a:lnTo>
                    <a:pt x="2632633" y="1672173"/>
                  </a:lnTo>
                  <a:lnTo>
                    <a:pt x="2632633" y="1733325"/>
                  </a:lnTo>
                  <a:lnTo>
                    <a:pt x="2647274" y="1733325"/>
                  </a:lnTo>
                  <a:lnTo>
                    <a:pt x="2647274" y="1672173"/>
                  </a:lnTo>
                  <a:close/>
                </a:path>
                <a:path w="2647315" h="3425190">
                  <a:moveTo>
                    <a:pt x="2647274" y="1564417"/>
                  </a:moveTo>
                  <a:lnTo>
                    <a:pt x="2632633" y="1564417"/>
                  </a:lnTo>
                  <a:lnTo>
                    <a:pt x="2632633" y="1625568"/>
                  </a:lnTo>
                  <a:lnTo>
                    <a:pt x="2647274" y="1625568"/>
                  </a:lnTo>
                  <a:lnTo>
                    <a:pt x="2647274" y="1564417"/>
                  </a:lnTo>
                  <a:close/>
                </a:path>
                <a:path w="2647315" h="3425190">
                  <a:moveTo>
                    <a:pt x="2647274" y="1457067"/>
                  </a:moveTo>
                  <a:lnTo>
                    <a:pt x="2632633" y="1457067"/>
                  </a:lnTo>
                  <a:lnTo>
                    <a:pt x="2632633" y="1518300"/>
                  </a:lnTo>
                  <a:lnTo>
                    <a:pt x="2647274" y="1518300"/>
                  </a:lnTo>
                  <a:lnTo>
                    <a:pt x="2647274" y="1457067"/>
                  </a:lnTo>
                  <a:close/>
                </a:path>
                <a:path w="2647315" h="3425190">
                  <a:moveTo>
                    <a:pt x="2647274" y="1352439"/>
                  </a:moveTo>
                  <a:lnTo>
                    <a:pt x="2632633" y="1352439"/>
                  </a:lnTo>
                  <a:lnTo>
                    <a:pt x="2632633" y="1413591"/>
                  </a:lnTo>
                  <a:lnTo>
                    <a:pt x="2647274" y="1413591"/>
                  </a:lnTo>
                  <a:lnTo>
                    <a:pt x="2647274" y="1352439"/>
                  </a:lnTo>
                  <a:close/>
                </a:path>
                <a:path w="2647315" h="3425190">
                  <a:moveTo>
                    <a:pt x="2647274" y="1244561"/>
                  </a:moveTo>
                  <a:lnTo>
                    <a:pt x="2632633" y="1244561"/>
                  </a:lnTo>
                  <a:lnTo>
                    <a:pt x="2632633" y="1305712"/>
                  </a:lnTo>
                  <a:lnTo>
                    <a:pt x="2647274" y="1305712"/>
                  </a:lnTo>
                  <a:lnTo>
                    <a:pt x="2647274" y="1244561"/>
                  </a:lnTo>
                  <a:close/>
                </a:path>
                <a:path w="2647315" h="3425190">
                  <a:moveTo>
                    <a:pt x="2647274" y="1137292"/>
                  </a:moveTo>
                  <a:lnTo>
                    <a:pt x="2632633" y="1137292"/>
                  </a:lnTo>
                  <a:lnTo>
                    <a:pt x="2632633" y="1198444"/>
                  </a:lnTo>
                  <a:lnTo>
                    <a:pt x="2647274" y="1198444"/>
                  </a:lnTo>
                  <a:lnTo>
                    <a:pt x="2647274" y="1137292"/>
                  </a:lnTo>
                  <a:close/>
                </a:path>
                <a:path w="2647315" h="3425190">
                  <a:moveTo>
                    <a:pt x="2647274" y="1030023"/>
                  </a:moveTo>
                  <a:lnTo>
                    <a:pt x="2632633" y="1030023"/>
                  </a:lnTo>
                  <a:lnTo>
                    <a:pt x="2632633" y="1091175"/>
                  </a:lnTo>
                  <a:lnTo>
                    <a:pt x="2647274" y="1091175"/>
                  </a:lnTo>
                  <a:lnTo>
                    <a:pt x="2647274" y="1030023"/>
                  </a:lnTo>
                  <a:close/>
                </a:path>
                <a:path w="2647315" h="3425190">
                  <a:moveTo>
                    <a:pt x="2647274" y="924786"/>
                  </a:moveTo>
                  <a:lnTo>
                    <a:pt x="2632633" y="924786"/>
                  </a:lnTo>
                  <a:lnTo>
                    <a:pt x="2632633" y="985938"/>
                  </a:lnTo>
                  <a:lnTo>
                    <a:pt x="2647274" y="985938"/>
                  </a:lnTo>
                  <a:lnTo>
                    <a:pt x="2647274" y="924786"/>
                  </a:lnTo>
                  <a:close/>
                </a:path>
                <a:path w="2647315" h="3425190">
                  <a:moveTo>
                    <a:pt x="2647274" y="817518"/>
                  </a:moveTo>
                  <a:lnTo>
                    <a:pt x="2632633" y="817518"/>
                  </a:lnTo>
                  <a:lnTo>
                    <a:pt x="2632633" y="878669"/>
                  </a:lnTo>
                  <a:lnTo>
                    <a:pt x="2647274" y="878669"/>
                  </a:lnTo>
                  <a:lnTo>
                    <a:pt x="2647274" y="817518"/>
                  </a:lnTo>
                  <a:close/>
                </a:path>
                <a:path w="2647315" h="3425190">
                  <a:moveTo>
                    <a:pt x="2647274" y="710249"/>
                  </a:moveTo>
                  <a:lnTo>
                    <a:pt x="2632633" y="710249"/>
                  </a:lnTo>
                  <a:lnTo>
                    <a:pt x="2632633" y="771400"/>
                  </a:lnTo>
                  <a:lnTo>
                    <a:pt x="2647274" y="771400"/>
                  </a:lnTo>
                  <a:lnTo>
                    <a:pt x="2647274" y="710249"/>
                  </a:lnTo>
                  <a:close/>
                </a:path>
                <a:path w="2647315" h="3425190">
                  <a:moveTo>
                    <a:pt x="2647274" y="602980"/>
                  </a:moveTo>
                  <a:lnTo>
                    <a:pt x="2632633" y="602980"/>
                  </a:lnTo>
                  <a:lnTo>
                    <a:pt x="2632633" y="663725"/>
                  </a:lnTo>
                  <a:lnTo>
                    <a:pt x="2647274" y="663725"/>
                  </a:lnTo>
                  <a:lnTo>
                    <a:pt x="2647274" y="602980"/>
                  </a:lnTo>
                  <a:close/>
                </a:path>
                <a:path w="2647315" h="3425190">
                  <a:moveTo>
                    <a:pt x="2647274" y="497743"/>
                  </a:moveTo>
                  <a:lnTo>
                    <a:pt x="2632633" y="497743"/>
                  </a:lnTo>
                  <a:lnTo>
                    <a:pt x="2632633" y="558894"/>
                  </a:lnTo>
                  <a:lnTo>
                    <a:pt x="2647274" y="558894"/>
                  </a:lnTo>
                  <a:lnTo>
                    <a:pt x="2647274" y="497743"/>
                  </a:lnTo>
                  <a:close/>
                </a:path>
                <a:path w="2647315" h="3425190">
                  <a:moveTo>
                    <a:pt x="2647274" y="390474"/>
                  </a:moveTo>
                  <a:lnTo>
                    <a:pt x="2632633" y="390474"/>
                  </a:lnTo>
                  <a:lnTo>
                    <a:pt x="2632633" y="451625"/>
                  </a:lnTo>
                  <a:lnTo>
                    <a:pt x="2647274" y="451625"/>
                  </a:lnTo>
                  <a:lnTo>
                    <a:pt x="2647274" y="390474"/>
                  </a:lnTo>
                  <a:close/>
                </a:path>
                <a:path w="2647315" h="3425190">
                  <a:moveTo>
                    <a:pt x="2647274" y="283205"/>
                  </a:moveTo>
                  <a:lnTo>
                    <a:pt x="2632633" y="283205"/>
                  </a:lnTo>
                  <a:lnTo>
                    <a:pt x="2632633" y="343950"/>
                  </a:lnTo>
                  <a:lnTo>
                    <a:pt x="2647274" y="343950"/>
                  </a:lnTo>
                  <a:lnTo>
                    <a:pt x="2647274" y="283205"/>
                  </a:lnTo>
                  <a:close/>
                </a:path>
                <a:path w="2647315" h="3425190">
                  <a:moveTo>
                    <a:pt x="2647274" y="175530"/>
                  </a:moveTo>
                  <a:lnTo>
                    <a:pt x="2632633" y="175530"/>
                  </a:lnTo>
                  <a:lnTo>
                    <a:pt x="2632633" y="236682"/>
                  </a:lnTo>
                  <a:lnTo>
                    <a:pt x="2647274" y="236682"/>
                  </a:lnTo>
                  <a:lnTo>
                    <a:pt x="2647274" y="175530"/>
                  </a:lnTo>
                  <a:close/>
                </a:path>
                <a:path w="2647315" h="3425190">
                  <a:moveTo>
                    <a:pt x="2647274" y="70699"/>
                  </a:moveTo>
                  <a:lnTo>
                    <a:pt x="2632633" y="70699"/>
                  </a:lnTo>
                  <a:lnTo>
                    <a:pt x="2632633" y="131851"/>
                  </a:lnTo>
                  <a:lnTo>
                    <a:pt x="2647274" y="131851"/>
                  </a:lnTo>
                  <a:lnTo>
                    <a:pt x="2647274" y="706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52677" y="1742587"/>
              <a:ext cx="2626360" cy="0"/>
            </a:xfrm>
            <a:custGeom>
              <a:avLst/>
              <a:gdLst/>
              <a:ahLst/>
              <a:cxnLst/>
              <a:rect l="l" t="t" r="r" b="b"/>
              <a:pathLst>
                <a:path w="2626359">
                  <a:moveTo>
                    <a:pt x="0" y="0"/>
                  </a:moveTo>
                  <a:lnTo>
                    <a:pt x="2625921" y="0"/>
                  </a:lnTo>
                </a:path>
              </a:pathLst>
            </a:custGeom>
            <a:ln w="1747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244339" y="1777529"/>
              <a:ext cx="0" cy="3374390"/>
            </a:xfrm>
            <a:custGeom>
              <a:avLst/>
              <a:gdLst/>
              <a:ahLst/>
              <a:cxnLst/>
              <a:rect l="l" t="t" r="r" b="b"/>
              <a:pathLst>
                <a:path h="3374390">
                  <a:moveTo>
                    <a:pt x="0" y="0"/>
                  </a:moveTo>
                  <a:lnTo>
                    <a:pt x="0" y="3374139"/>
                  </a:lnTo>
                </a:path>
              </a:pathLst>
            </a:custGeom>
            <a:ln w="17487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289482" y="5152752"/>
              <a:ext cx="2518410" cy="0"/>
            </a:xfrm>
            <a:custGeom>
              <a:avLst/>
              <a:gdLst/>
              <a:ahLst/>
              <a:cxnLst/>
              <a:rect l="l" t="t" r="r" b="b"/>
              <a:pathLst>
                <a:path w="2518409">
                  <a:moveTo>
                    <a:pt x="0" y="0"/>
                  </a:moveTo>
                  <a:lnTo>
                    <a:pt x="2518151" y="0"/>
                  </a:lnTo>
                </a:path>
              </a:pathLst>
            </a:custGeom>
            <a:ln w="1788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852572" y="5116161"/>
              <a:ext cx="31750" cy="44450"/>
            </a:xfrm>
            <a:custGeom>
              <a:avLst/>
              <a:gdLst/>
              <a:ahLst/>
              <a:cxnLst/>
              <a:rect l="l" t="t" r="r" b="b"/>
              <a:pathLst>
                <a:path w="31750" h="44450">
                  <a:moveTo>
                    <a:pt x="0" y="29072"/>
                  </a:moveTo>
                  <a:lnTo>
                    <a:pt x="24604" y="29072"/>
                  </a:lnTo>
                  <a:lnTo>
                    <a:pt x="17080" y="36591"/>
                  </a:lnTo>
                  <a:lnTo>
                    <a:pt x="17080" y="0"/>
                  </a:lnTo>
                  <a:lnTo>
                    <a:pt x="31720" y="0"/>
                  </a:lnTo>
                  <a:lnTo>
                    <a:pt x="31720" y="44110"/>
                  </a:lnTo>
                  <a:lnTo>
                    <a:pt x="0" y="44110"/>
                  </a:lnTo>
                  <a:lnTo>
                    <a:pt x="0" y="290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1876973" y="1804550"/>
              <a:ext cx="0" cy="3266440"/>
            </a:xfrm>
            <a:custGeom>
              <a:avLst/>
              <a:gdLst/>
              <a:ahLst/>
              <a:cxnLst/>
              <a:rect l="l" t="t" r="r" b="b"/>
              <a:pathLst>
                <a:path h="3266440">
                  <a:moveTo>
                    <a:pt x="0" y="0"/>
                  </a:moveTo>
                  <a:lnTo>
                    <a:pt x="0" y="3266419"/>
                  </a:lnTo>
                </a:path>
              </a:pathLst>
            </a:custGeom>
            <a:ln w="17487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1869653" y="1742384"/>
              <a:ext cx="15240" cy="17145"/>
            </a:xfrm>
            <a:custGeom>
              <a:avLst/>
              <a:gdLst/>
              <a:ahLst/>
              <a:cxnLst/>
              <a:rect l="l" t="t" r="r" b="b"/>
              <a:pathLst>
                <a:path w="15240" h="17144">
                  <a:moveTo>
                    <a:pt x="0" y="17065"/>
                  </a:moveTo>
                  <a:lnTo>
                    <a:pt x="0" y="0"/>
                  </a:lnTo>
                  <a:lnTo>
                    <a:pt x="14640" y="0"/>
                  </a:lnTo>
                  <a:lnTo>
                    <a:pt x="14640" y="17065"/>
                  </a:lnTo>
                  <a:lnTo>
                    <a:pt x="0" y="1706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54230" y="2581477"/>
              <a:ext cx="2250440" cy="476250"/>
            </a:xfrm>
            <a:custGeom>
              <a:avLst/>
              <a:gdLst/>
              <a:ahLst/>
              <a:cxnLst/>
              <a:rect l="l" t="t" r="r" b="b"/>
              <a:pathLst>
                <a:path w="2250440" h="476250">
                  <a:moveTo>
                    <a:pt x="2249949" y="0"/>
                  </a:moveTo>
                  <a:lnTo>
                    <a:pt x="0" y="0"/>
                  </a:lnTo>
                  <a:lnTo>
                    <a:pt x="0" y="476167"/>
                  </a:lnTo>
                  <a:lnTo>
                    <a:pt x="2249949" y="476167"/>
                  </a:lnTo>
                  <a:lnTo>
                    <a:pt x="2249949" y="0"/>
                  </a:lnTo>
                  <a:close/>
                </a:path>
              </a:pathLst>
            </a:custGeom>
            <a:solidFill>
              <a:srgbClr val="99FF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054230" y="2581477"/>
              <a:ext cx="2250440" cy="476250"/>
            </a:xfrm>
            <a:custGeom>
              <a:avLst/>
              <a:gdLst/>
              <a:ahLst/>
              <a:cxnLst/>
              <a:rect l="l" t="t" r="r" b="b"/>
              <a:pathLst>
                <a:path w="2250440" h="476250">
                  <a:moveTo>
                    <a:pt x="0" y="476167"/>
                  </a:moveTo>
                  <a:lnTo>
                    <a:pt x="2249949" y="476167"/>
                  </a:lnTo>
                  <a:lnTo>
                    <a:pt x="2249949" y="0"/>
                  </a:lnTo>
                  <a:lnTo>
                    <a:pt x="0" y="0"/>
                  </a:lnTo>
                  <a:lnTo>
                    <a:pt x="0" y="476167"/>
                  </a:lnTo>
                  <a:close/>
                </a:path>
              </a:pathLst>
            </a:custGeom>
            <a:ln w="145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525051" y="2690202"/>
            <a:ext cx="130937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35" dirty="0">
                <a:latin typeface="宋体"/>
                <a:cs typeface="宋体"/>
              </a:rPr>
              <a:t>操作系统虚拟机</a:t>
            </a:r>
            <a:endParaRPr sz="1450">
              <a:latin typeface="宋体"/>
              <a:cs typeface="宋体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046928" y="3353031"/>
            <a:ext cx="2258060" cy="490855"/>
            <a:chOff x="6046928" y="3353031"/>
            <a:chExt cx="2258060" cy="490855"/>
          </a:xfrm>
        </p:grpSpPr>
        <p:sp>
          <p:nvSpPr>
            <p:cNvPr id="43" name="object 43"/>
            <p:cNvSpPr/>
            <p:nvPr/>
          </p:nvSpPr>
          <p:spPr>
            <a:xfrm>
              <a:off x="6054231" y="3360334"/>
              <a:ext cx="2243455" cy="476250"/>
            </a:xfrm>
            <a:custGeom>
              <a:avLst/>
              <a:gdLst/>
              <a:ahLst/>
              <a:cxnLst/>
              <a:rect l="l" t="t" r="r" b="b"/>
              <a:pathLst>
                <a:path w="2243454" h="476250">
                  <a:moveTo>
                    <a:pt x="2242832" y="0"/>
                  </a:moveTo>
                  <a:lnTo>
                    <a:pt x="0" y="0"/>
                  </a:lnTo>
                  <a:lnTo>
                    <a:pt x="0" y="476167"/>
                  </a:lnTo>
                  <a:lnTo>
                    <a:pt x="2242832" y="476167"/>
                  </a:lnTo>
                  <a:lnTo>
                    <a:pt x="2242832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054231" y="3360334"/>
              <a:ext cx="2243455" cy="476250"/>
            </a:xfrm>
            <a:custGeom>
              <a:avLst/>
              <a:gdLst/>
              <a:ahLst/>
              <a:cxnLst/>
              <a:rect l="l" t="t" r="r" b="b"/>
              <a:pathLst>
                <a:path w="2243454" h="476250">
                  <a:moveTo>
                    <a:pt x="0" y="476167"/>
                  </a:moveTo>
                  <a:lnTo>
                    <a:pt x="2242832" y="476167"/>
                  </a:lnTo>
                  <a:lnTo>
                    <a:pt x="2242832" y="0"/>
                  </a:lnTo>
                  <a:lnTo>
                    <a:pt x="0" y="0"/>
                  </a:lnTo>
                  <a:lnTo>
                    <a:pt x="0" y="476167"/>
                  </a:lnTo>
                  <a:close/>
                </a:path>
              </a:pathLst>
            </a:custGeom>
            <a:ln w="1459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054230" y="3360334"/>
            <a:ext cx="2243455" cy="47625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950"/>
              </a:spcBef>
            </a:pPr>
            <a:r>
              <a:rPr sz="1450" b="1" dirty="0">
                <a:latin typeface="Times New Roman"/>
                <a:cs typeface="Times New Roman"/>
              </a:rPr>
              <a:t>B</a:t>
            </a:r>
            <a:r>
              <a:rPr sz="1450" b="1" spc="25" dirty="0">
                <a:latin typeface="Times New Roman"/>
                <a:cs typeface="Times New Roman"/>
              </a:rPr>
              <a:t> </a:t>
            </a:r>
            <a:r>
              <a:rPr sz="1450" spc="-35" dirty="0">
                <a:latin typeface="宋体"/>
                <a:cs typeface="宋体"/>
              </a:rPr>
              <a:t>机器语言机器级</a:t>
            </a:r>
            <a:endParaRPr sz="1450">
              <a:latin typeface="宋体"/>
              <a:cs typeface="宋体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867787" y="1688391"/>
            <a:ext cx="2618105" cy="2827020"/>
            <a:chOff x="5867787" y="1688391"/>
            <a:chExt cx="2618105" cy="2827020"/>
          </a:xfrm>
        </p:grpSpPr>
        <p:sp>
          <p:nvSpPr>
            <p:cNvPr id="47" name="object 47"/>
            <p:cNvSpPr/>
            <p:nvPr/>
          </p:nvSpPr>
          <p:spPr>
            <a:xfrm>
              <a:off x="7111452" y="2286650"/>
              <a:ext cx="80645" cy="293370"/>
            </a:xfrm>
            <a:custGeom>
              <a:avLst/>
              <a:gdLst/>
              <a:ahLst/>
              <a:cxnLst/>
              <a:rect l="l" t="t" r="r" b="b"/>
              <a:pathLst>
                <a:path w="80645" h="293369">
                  <a:moveTo>
                    <a:pt x="39285" y="83295"/>
                  </a:moveTo>
                  <a:lnTo>
                    <a:pt x="29460" y="93660"/>
                  </a:lnTo>
                  <a:lnTo>
                    <a:pt x="34242" y="283205"/>
                  </a:lnTo>
                  <a:lnTo>
                    <a:pt x="34242" y="288284"/>
                  </a:lnTo>
                  <a:lnTo>
                    <a:pt x="36763" y="290722"/>
                  </a:lnTo>
                  <a:lnTo>
                    <a:pt x="41806" y="293160"/>
                  </a:lnTo>
                  <a:lnTo>
                    <a:pt x="48842" y="293160"/>
                  </a:lnTo>
                  <a:lnTo>
                    <a:pt x="51363" y="290722"/>
                  </a:lnTo>
                  <a:lnTo>
                    <a:pt x="53884" y="285643"/>
                  </a:lnTo>
                  <a:lnTo>
                    <a:pt x="53884" y="283205"/>
                  </a:lnTo>
                  <a:lnTo>
                    <a:pt x="49103" y="93660"/>
                  </a:lnTo>
                  <a:lnTo>
                    <a:pt x="49075" y="92542"/>
                  </a:lnTo>
                  <a:lnTo>
                    <a:pt x="39285" y="83295"/>
                  </a:lnTo>
                  <a:close/>
                </a:path>
                <a:path w="80645" h="293369">
                  <a:moveTo>
                    <a:pt x="36763" y="0"/>
                  </a:moveTo>
                  <a:lnTo>
                    <a:pt x="0" y="124740"/>
                  </a:lnTo>
                  <a:lnTo>
                    <a:pt x="29460" y="93660"/>
                  </a:lnTo>
                  <a:lnTo>
                    <a:pt x="29199" y="83295"/>
                  </a:lnTo>
                  <a:lnTo>
                    <a:pt x="29199" y="78216"/>
                  </a:lnTo>
                  <a:lnTo>
                    <a:pt x="31720" y="75778"/>
                  </a:lnTo>
                  <a:lnTo>
                    <a:pt x="34242" y="73137"/>
                  </a:lnTo>
                  <a:lnTo>
                    <a:pt x="62968" y="73137"/>
                  </a:lnTo>
                  <a:lnTo>
                    <a:pt x="36763" y="0"/>
                  </a:lnTo>
                  <a:close/>
                </a:path>
                <a:path w="80645" h="293369">
                  <a:moveTo>
                    <a:pt x="62968" y="73137"/>
                  </a:moveTo>
                  <a:lnTo>
                    <a:pt x="41806" y="73137"/>
                  </a:lnTo>
                  <a:lnTo>
                    <a:pt x="46341" y="75778"/>
                  </a:lnTo>
                  <a:lnTo>
                    <a:pt x="46341" y="78216"/>
                  </a:lnTo>
                  <a:lnTo>
                    <a:pt x="48842" y="83295"/>
                  </a:lnTo>
                  <a:lnTo>
                    <a:pt x="49075" y="92542"/>
                  </a:lnTo>
                  <a:lnTo>
                    <a:pt x="80583" y="122302"/>
                  </a:lnTo>
                  <a:lnTo>
                    <a:pt x="62968" y="73137"/>
                  </a:lnTo>
                  <a:close/>
                </a:path>
                <a:path w="80645" h="293369">
                  <a:moveTo>
                    <a:pt x="41806" y="73137"/>
                  </a:moveTo>
                  <a:lnTo>
                    <a:pt x="34242" y="73137"/>
                  </a:lnTo>
                  <a:lnTo>
                    <a:pt x="31720" y="75778"/>
                  </a:lnTo>
                  <a:lnTo>
                    <a:pt x="29199" y="78216"/>
                  </a:lnTo>
                  <a:lnTo>
                    <a:pt x="29199" y="83295"/>
                  </a:lnTo>
                  <a:lnTo>
                    <a:pt x="29432" y="92542"/>
                  </a:lnTo>
                  <a:lnTo>
                    <a:pt x="29460" y="93660"/>
                  </a:lnTo>
                  <a:lnTo>
                    <a:pt x="39285" y="83295"/>
                  </a:lnTo>
                  <a:lnTo>
                    <a:pt x="48842" y="83295"/>
                  </a:lnTo>
                  <a:lnTo>
                    <a:pt x="46341" y="78216"/>
                  </a:lnTo>
                  <a:lnTo>
                    <a:pt x="46341" y="75778"/>
                  </a:lnTo>
                  <a:lnTo>
                    <a:pt x="41806" y="73137"/>
                  </a:lnTo>
                  <a:close/>
                </a:path>
                <a:path w="80645" h="293369">
                  <a:moveTo>
                    <a:pt x="48842" y="83295"/>
                  </a:moveTo>
                  <a:lnTo>
                    <a:pt x="39285" y="83295"/>
                  </a:lnTo>
                  <a:lnTo>
                    <a:pt x="49075" y="92542"/>
                  </a:lnTo>
                  <a:lnTo>
                    <a:pt x="48842" y="83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10029" y="2285228"/>
              <a:ext cx="83429" cy="29600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7111452" y="3073085"/>
              <a:ext cx="80645" cy="293370"/>
            </a:xfrm>
            <a:custGeom>
              <a:avLst/>
              <a:gdLst/>
              <a:ahLst/>
              <a:cxnLst/>
              <a:rect l="l" t="t" r="r" b="b"/>
              <a:pathLst>
                <a:path w="80645" h="293370">
                  <a:moveTo>
                    <a:pt x="39285" y="80248"/>
                  </a:moveTo>
                  <a:lnTo>
                    <a:pt x="29417" y="91322"/>
                  </a:lnTo>
                  <a:lnTo>
                    <a:pt x="34191" y="280727"/>
                  </a:lnTo>
                  <a:lnTo>
                    <a:pt x="34242" y="285237"/>
                  </a:lnTo>
                  <a:lnTo>
                    <a:pt x="36763" y="290255"/>
                  </a:lnTo>
                  <a:lnTo>
                    <a:pt x="41806" y="290255"/>
                  </a:lnTo>
                  <a:lnTo>
                    <a:pt x="43819" y="292754"/>
                  </a:lnTo>
                  <a:lnTo>
                    <a:pt x="48842" y="290255"/>
                  </a:lnTo>
                  <a:lnTo>
                    <a:pt x="53884" y="285237"/>
                  </a:lnTo>
                  <a:lnTo>
                    <a:pt x="53884" y="280727"/>
                  </a:lnTo>
                  <a:lnTo>
                    <a:pt x="49120" y="91322"/>
                  </a:lnTo>
                  <a:lnTo>
                    <a:pt x="49090" y="90137"/>
                  </a:lnTo>
                  <a:lnTo>
                    <a:pt x="39285" y="80248"/>
                  </a:lnTo>
                  <a:close/>
                </a:path>
                <a:path w="80645" h="293370">
                  <a:moveTo>
                    <a:pt x="36763" y="0"/>
                  </a:moveTo>
                  <a:lnTo>
                    <a:pt x="0" y="124334"/>
                  </a:lnTo>
                  <a:lnTo>
                    <a:pt x="29417" y="91322"/>
                  </a:lnTo>
                  <a:lnTo>
                    <a:pt x="29199" y="82686"/>
                  </a:lnTo>
                  <a:lnTo>
                    <a:pt x="29199" y="77810"/>
                  </a:lnTo>
                  <a:lnTo>
                    <a:pt x="31720" y="75778"/>
                  </a:lnTo>
                  <a:lnTo>
                    <a:pt x="34242" y="73137"/>
                  </a:lnTo>
                  <a:lnTo>
                    <a:pt x="39285" y="70699"/>
                  </a:lnTo>
                  <a:lnTo>
                    <a:pt x="62179" y="70699"/>
                  </a:lnTo>
                  <a:lnTo>
                    <a:pt x="36763" y="0"/>
                  </a:lnTo>
                  <a:close/>
                </a:path>
                <a:path w="80645" h="293370">
                  <a:moveTo>
                    <a:pt x="62179" y="70699"/>
                  </a:moveTo>
                  <a:lnTo>
                    <a:pt x="39285" y="70699"/>
                  </a:lnTo>
                  <a:lnTo>
                    <a:pt x="41806" y="73137"/>
                  </a:lnTo>
                  <a:lnTo>
                    <a:pt x="46341" y="73137"/>
                  </a:lnTo>
                  <a:lnTo>
                    <a:pt x="46341" y="77810"/>
                  </a:lnTo>
                  <a:lnTo>
                    <a:pt x="48842" y="80248"/>
                  </a:lnTo>
                  <a:lnTo>
                    <a:pt x="49090" y="90137"/>
                  </a:lnTo>
                  <a:lnTo>
                    <a:pt x="80583" y="121896"/>
                  </a:lnTo>
                  <a:lnTo>
                    <a:pt x="62179" y="70699"/>
                  </a:lnTo>
                  <a:close/>
                </a:path>
                <a:path w="80645" h="293370">
                  <a:moveTo>
                    <a:pt x="39285" y="70699"/>
                  </a:moveTo>
                  <a:lnTo>
                    <a:pt x="34242" y="73137"/>
                  </a:lnTo>
                  <a:lnTo>
                    <a:pt x="31720" y="75778"/>
                  </a:lnTo>
                  <a:lnTo>
                    <a:pt x="29199" y="77810"/>
                  </a:lnTo>
                  <a:lnTo>
                    <a:pt x="29199" y="82686"/>
                  </a:lnTo>
                  <a:lnTo>
                    <a:pt x="29387" y="90137"/>
                  </a:lnTo>
                  <a:lnTo>
                    <a:pt x="29417" y="91322"/>
                  </a:lnTo>
                  <a:lnTo>
                    <a:pt x="39285" y="80248"/>
                  </a:lnTo>
                  <a:lnTo>
                    <a:pt x="48842" y="80248"/>
                  </a:lnTo>
                  <a:lnTo>
                    <a:pt x="46341" y="77810"/>
                  </a:lnTo>
                  <a:lnTo>
                    <a:pt x="46341" y="73137"/>
                  </a:lnTo>
                  <a:lnTo>
                    <a:pt x="41806" y="73137"/>
                  </a:lnTo>
                  <a:lnTo>
                    <a:pt x="39285" y="70699"/>
                  </a:lnTo>
                  <a:close/>
                </a:path>
                <a:path w="80645" h="293370">
                  <a:moveTo>
                    <a:pt x="48842" y="80248"/>
                  </a:moveTo>
                  <a:lnTo>
                    <a:pt x="39285" y="80248"/>
                  </a:lnTo>
                  <a:lnTo>
                    <a:pt x="49090" y="90137"/>
                  </a:lnTo>
                  <a:lnTo>
                    <a:pt x="48903" y="82686"/>
                  </a:lnTo>
                  <a:lnTo>
                    <a:pt x="48842" y="80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0029" y="3071662"/>
              <a:ext cx="83429" cy="2956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869375" y="1691187"/>
              <a:ext cx="2613660" cy="2822575"/>
            </a:xfrm>
            <a:custGeom>
              <a:avLst/>
              <a:gdLst/>
              <a:ahLst/>
              <a:cxnLst/>
              <a:rect l="l" t="t" r="r" b="b"/>
              <a:pathLst>
                <a:path w="2613659" h="2822575">
                  <a:moveTo>
                    <a:pt x="2605935" y="7517"/>
                  </a:moveTo>
                  <a:lnTo>
                    <a:pt x="2599021" y="7517"/>
                  </a:lnTo>
                  <a:lnTo>
                    <a:pt x="2599021" y="36568"/>
                  </a:lnTo>
                  <a:lnTo>
                    <a:pt x="2613662" y="36568"/>
                  </a:lnTo>
                  <a:lnTo>
                    <a:pt x="2613662" y="14627"/>
                  </a:lnTo>
                  <a:lnTo>
                    <a:pt x="2605935" y="14627"/>
                  </a:lnTo>
                  <a:lnTo>
                    <a:pt x="2605935" y="7517"/>
                  </a:lnTo>
                  <a:close/>
                </a:path>
                <a:path w="2613659" h="2822575">
                  <a:moveTo>
                    <a:pt x="2605935" y="0"/>
                  </a:moveTo>
                  <a:lnTo>
                    <a:pt x="2545136" y="0"/>
                  </a:lnTo>
                  <a:lnTo>
                    <a:pt x="2545136" y="14627"/>
                  </a:lnTo>
                  <a:lnTo>
                    <a:pt x="2599021" y="14627"/>
                  </a:lnTo>
                  <a:lnTo>
                    <a:pt x="2599021" y="7517"/>
                  </a:lnTo>
                  <a:lnTo>
                    <a:pt x="2605935" y="7517"/>
                  </a:lnTo>
                  <a:lnTo>
                    <a:pt x="2605935" y="0"/>
                  </a:lnTo>
                  <a:close/>
                </a:path>
                <a:path w="2613659" h="2822575">
                  <a:moveTo>
                    <a:pt x="2613662" y="7517"/>
                  </a:moveTo>
                  <a:lnTo>
                    <a:pt x="2605935" y="7517"/>
                  </a:lnTo>
                  <a:lnTo>
                    <a:pt x="2605935" y="14627"/>
                  </a:lnTo>
                  <a:lnTo>
                    <a:pt x="2613662" y="14627"/>
                  </a:lnTo>
                  <a:lnTo>
                    <a:pt x="2613662" y="7517"/>
                  </a:lnTo>
                  <a:close/>
                </a:path>
                <a:path w="2613659" h="2822575">
                  <a:moveTo>
                    <a:pt x="2501215" y="0"/>
                  </a:moveTo>
                  <a:lnTo>
                    <a:pt x="2440417" y="0"/>
                  </a:lnTo>
                  <a:lnTo>
                    <a:pt x="2440417" y="14627"/>
                  </a:lnTo>
                  <a:lnTo>
                    <a:pt x="2501215" y="14627"/>
                  </a:lnTo>
                  <a:lnTo>
                    <a:pt x="2501215" y="0"/>
                  </a:lnTo>
                  <a:close/>
                </a:path>
                <a:path w="2613659" h="2822575">
                  <a:moveTo>
                    <a:pt x="2394055" y="0"/>
                  </a:moveTo>
                  <a:lnTo>
                    <a:pt x="2333053" y="0"/>
                  </a:lnTo>
                  <a:lnTo>
                    <a:pt x="2333053" y="14627"/>
                  </a:lnTo>
                  <a:lnTo>
                    <a:pt x="2394055" y="14627"/>
                  </a:lnTo>
                  <a:lnTo>
                    <a:pt x="2394055" y="0"/>
                  </a:lnTo>
                  <a:close/>
                </a:path>
                <a:path w="2613659" h="2822575">
                  <a:moveTo>
                    <a:pt x="2286692" y="0"/>
                  </a:moveTo>
                  <a:lnTo>
                    <a:pt x="2225690" y="0"/>
                  </a:lnTo>
                  <a:lnTo>
                    <a:pt x="2225690" y="14627"/>
                  </a:lnTo>
                  <a:lnTo>
                    <a:pt x="2286692" y="14627"/>
                  </a:lnTo>
                  <a:lnTo>
                    <a:pt x="2286692" y="0"/>
                  </a:lnTo>
                  <a:close/>
                </a:path>
                <a:path w="2613659" h="2822575">
                  <a:moveTo>
                    <a:pt x="2179329" y="0"/>
                  </a:moveTo>
                  <a:lnTo>
                    <a:pt x="2117920" y="0"/>
                  </a:lnTo>
                  <a:lnTo>
                    <a:pt x="2117920" y="14627"/>
                  </a:lnTo>
                  <a:lnTo>
                    <a:pt x="2179329" y="14627"/>
                  </a:lnTo>
                  <a:lnTo>
                    <a:pt x="2179329" y="0"/>
                  </a:lnTo>
                  <a:close/>
                </a:path>
                <a:path w="2613659" h="2822575">
                  <a:moveTo>
                    <a:pt x="2074203" y="0"/>
                  </a:moveTo>
                  <a:lnTo>
                    <a:pt x="2013201" y="0"/>
                  </a:lnTo>
                  <a:lnTo>
                    <a:pt x="2013201" y="14627"/>
                  </a:lnTo>
                  <a:lnTo>
                    <a:pt x="2074203" y="14627"/>
                  </a:lnTo>
                  <a:lnTo>
                    <a:pt x="2074203" y="0"/>
                  </a:lnTo>
                  <a:close/>
                </a:path>
                <a:path w="2613659" h="2822575">
                  <a:moveTo>
                    <a:pt x="1966839" y="0"/>
                  </a:moveTo>
                  <a:lnTo>
                    <a:pt x="1905919" y="0"/>
                  </a:lnTo>
                  <a:lnTo>
                    <a:pt x="1905919" y="14627"/>
                  </a:lnTo>
                  <a:lnTo>
                    <a:pt x="1966839" y="14627"/>
                  </a:lnTo>
                  <a:lnTo>
                    <a:pt x="1966839" y="0"/>
                  </a:lnTo>
                  <a:close/>
                </a:path>
                <a:path w="2613659" h="2822575">
                  <a:moveTo>
                    <a:pt x="1859578" y="0"/>
                  </a:moveTo>
                  <a:lnTo>
                    <a:pt x="1798637" y="0"/>
                  </a:lnTo>
                  <a:lnTo>
                    <a:pt x="1798637" y="14627"/>
                  </a:lnTo>
                  <a:lnTo>
                    <a:pt x="1859578" y="14627"/>
                  </a:lnTo>
                  <a:lnTo>
                    <a:pt x="1859578" y="0"/>
                  </a:lnTo>
                  <a:close/>
                </a:path>
                <a:path w="2613659" h="2822575">
                  <a:moveTo>
                    <a:pt x="1752296" y="0"/>
                  </a:moveTo>
                  <a:lnTo>
                    <a:pt x="1691355" y="0"/>
                  </a:lnTo>
                  <a:lnTo>
                    <a:pt x="1691355" y="14627"/>
                  </a:lnTo>
                  <a:lnTo>
                    <a:pt x="1752296" y="14627"/>
                  </a:lnTo>
                  <a:lnTo>
                    <a:pt x="1752296" y="0"/>
                  </a:lnTo>
                  <a:close/>
                </a:path>
                <a:path w="2613659" h="2822575">
                  <a:moveTo>
                    <a:pt x="1647027" y="0"/>
                  </a:moveTo>
                  <a:lnTo>
                    <a:pt x="1586087" y="0"/>
                  </a:lnTo>
                  <a:lnTo>
                    <a:pt x="1586087" y="14627"/>
                  </a:lnTo>
                  <a:lnTo>
                    <a:pt x="1647027" y="14627"/>
                  </a:lnTo>
                  <a:lnTo>
                    <a:pt x="1647027" y="0"/>
                  </a:lnTo>
                  <a:close/>
                </a:path>
                <a:path w="2613659" h="2822575">
                  <a:moveTo>
                    <a:pt x="1539746" y="0"/>
                  </a:moveTo>
                  <a:lnTo>
                    <a:pt x="1478805" y="0"/>
                  </a:lnTo>
                  <a:lnTo>
                    <a:pt x="1478805" y="14627"/>
                  </a:lnTo>
                  <a:lnTo>
                    <a:pt x="1539746" y="14627"/>
                  </a:lnTo>
                  <a:lnTo>
                    <a:pt x="1539746" y="0"/>
                  </a:lnTo>
                  <a:close/>
                </a:path>
                <a:path w="2613659" h="2822575">
                  <a:moveTo>
                    <a:pt x="1432464" y="0"/>
                  </a:moveTo>
                  <a:lnTo>
                    <a:pt x="1371523" y="0"/>
                  </a:lnTo>
                  <a:lnTo>
                    <a:pt x="1371523" y="14627"/>
                  </a:lnTo>
                  <a:lnTo>
                    <a:pt x="1432464" y="14627"/>
                  </a:lnTo>
                  <a:lnTo>
                    <a:pt x="1432464" y="0"/>
                  </a:lnTo>
                  <a:close/>
                </a:path>
                <a:path w="2613659" h="2822575">
                  <a:moveTo>
                    <a:pt x="1325182" y="0"/>
                  </a:moveTo>
                  <a:lnTo>
                    <a:pt x="1264241" y="0"/>
                  </a:lnTo>
                  <a:lnTo>
                    <a:pt x="1264241" y="14627"/>
                  </a:lnTo>
                  <a:lnTo>
                    <a:pt x="1325182" y="14627"/>
                  </a:lnTo>
                  <a:lnTo>
                    <a:pt x="1325182" y="0"/>
                  </a:lnTo>
                  <a:close/>
                </a:path>
                <a:path w="2613659" h="2822575">
                  <a:moveTo>
                    <a:pt x="1220422" y="0"/>
                  </a:moveTo>
                  <a:lnTo>
                    <a:pt x="1159460" y="0"/>
                  </a:lnTo>
                  <a:lnTo>
                    <a:pt x="1159460" y="14627"/>
                  </a:lnTo>
                  <a:lnTo>
                    <a:pt x="1220422" y="14627"/>
                  </a:lnTo>
                  <a:lnTo>
                    <a:pt x="1220422" y="0"/>
                  </a:lnTo>
                  <a:close/>
                </a:path>
                <a:path w="2613659" h="2822575">
                  <a:moveTo>
                    <a:pt x="1112631" y="0"/>
                  </a:moveTo>
                  <a:lnTo>
                    <a:pt x="1051691" y="0"/>
                  </a:lnTo>
                  <a:lnTo>
                    <a:pt x="1051691" y="14627"/>
                  </a:lnTo>
                  <a:lnTo>
                    <a:pt x="1112631" y="14627"/>
                  </a:lnTo>
                  <a:lnTo>
                    <a:pt x="1112631" y="0"/>
                  </a:lnTo>
                  <a:close/>
                </a:path>
                <a:path w="2613659" h="2822575">
                  <a:moveTo>
                    <a:pt x="1005350" y="0"/>
                  </a:moveTo>
                  <a:lnTo>
                    <a:pt x="944388" y="0"/>
                  </a:lnTo>
                  <a:lnTo>
                    <a:pt x="944388" y="14627"/>
                  </a:lnTo>
                  <a:lnTo>
                    <a:pt x="1005350" y="14627"/>
                  </a:lnTo>
                  <a:lnTo>
                    <a:pt x="1005350" y="0"/>
                  </a:lnTo>
                  <a:close/>
                </a:path>
                <a:path w="2613659" h="2822575">
                  <a:moveTo>
                    <a:pt x="898068" y="0"/>
                  </a:moveTo>
                  <a:lnTo>
                    <a:pt x="837107" y="0"/>
                  </a:lnTo>
                  <a:lnTo>
                    <a:pt x="837107" y="14627"/>
                  </a:lnTo>
                  <a:lnTo>
                    <a:pt x="898068" y="14627"/>
                  </a:lnTo>
                  <a:lnTo>
                    <a:pt x="898068" y="0"/>
                  </a:lnTo>
                  <a:close/>
                </a:path>
                <a:path w="2613659" h="2822575">
                  <a:moveTo>
                    <a:pt x="793287" y="0"/>
                  </a:moveTo>
                  <a:lnTo>
                    <a:pt x="732346" y="0"/>
                  </a:lnTo>
                  <a:lnTo>
                    <a:pt x="732346" y="14627"/>
                  </a:lnTo>
                  <a:lnTo>
                    <a:pt x="793287" y="14627"/>
                  </a:lnTo>
                  <a:lnTo>
                    <a:pt x="793287" y="0"/>
                  </a:lnTo>
                  <a:close/>
                </a:path>
                <a:path w="2613659" h="2822575">
                  <a:moveTo>
                    <a:pt x="686005" y="0"/>
                  </a:moveTo>
                  <a:lnTo>
                    <a:pt x="625064" y="0"/>
                  </a:lnTo>
                  <a:lnTo>
                    <a:pt x="625064" y="14627"/>
                  </a:lnTo>
                  <a:lnTo>
                    <a:pt x="686005" y="14627"/>
                  </a:lnTo>
                  <a:lnTo>
                    <a:pt x="686005" y="0"/>
                  </a:lnTo>
                  <a:close/>
                </a:path>
                <a:path w="2613659" h="2822575">
                  <a:moveTo>
                    <a:pt x="578215" y="0"/>
                  </a:moveTo>
                  <a:lnTo>
                    <a:pt x="517274" y="0"/>
                  </a:lnTo>
                  <a:lnTo>
                    <a:pt x="517274" y="14627"/>
                  </a:lnTo>
                  <a:lnTo>
                    <a:pt x="578215" y="14627"/>
                  </a:lnTo>
                  <a:lnTo>
                    <a:pt x="578215" y="0"/>
                  </a:lnTo>
                  <a:close/>
                </a:path>
                <a:path w="2613659" h="2822575">
                  <a:moveTo>
                    <a:pt x="470933" y="0"/>
                  </a:moveTo>
                  <a:lnTo>
                    <a:pt x="409992" y="0"/>
                  </a:lnTo>
                  <a:lnTo>
                    <a:pt x="409992" y="14627"/>
                  </a:lnTo>
                  <a:lnTo>
                    <a:pt x="470933" y="14627"/>
                  </a:lnTo>
                  <a:lnTo>
                    <a:pt x="470933" y="0"/>
                  </a:lnTo>
                  <a:close/>
                </a:path>
                <a:path w="2613659" h="2822575">
                  <a:moveTo>
                    <a:pt x="366173" y="0"/>
                  </a:moveTo>
                  <a:lnTo>
                    <a:pt x="305232" y="0"/>
                  </a:lnTo>
                  <a:lnTo>
                    <a:pt x="305232" y="14627"/>
                  </a:lnTo>
                  <a:lnTo>
                    <a:pt x="366173" y="14627"/>
                  </a:lnTo>
                  <a:lnTo>
                    <a:pt x="366173" y="0"/>
                  </a:lnTo>
                  <a:close/>
                </a:path>
                <a:path w="2613659" h="2822575">
                  <a:moveTo>
                    <a:pt x="258891" y="0"/>
                  </a:moveTo>
                  <a:lnTo>
                    <a:pt x="197950" y="0"/>
                  </a:lnTo>
                  <a:lnTo>
                    <a:pt x="197950" y="14627"/>
                  </a:lnTo>
                  <a:lnTo>
                    <a:pt x="258891" y="14627"/>
                  </a:lnTo>
                  <a:lnTo>
                    <a:pt x="258891" y="0"/>
                  </a:lnTo>
                  <a:close/>
                </a:path>
                <a:path w="2613659" h="2822575">
                  <a:moveTo>
                    <a:pt x="151609" y="0"/>
                  </a:moveTo>
                  <a:lnTo>
                    <a:pt x="90668" y="0"/>
                  </a:lnTo>
                  <a:lnTo>
                    <a:pt x="90668" y="14627"/>
                  </a:lnTo>
                  <a:lnTo>
                    <a:pt x="151609" y="14627"/>
                  </a:lnTo>
                  <a:lnTo>
                    <a:pt x="151609" y="0"/>
                  </a:lnTo>
                  <a:close/>
                </a:path>
                <a:path w="2613659" h="2822575">
                  <a:moveTo>
                    <a:pt x="43821" y="0"/>
                  </a:moveTo>
                  <a:lnTo>
                    <a:pt x="0" y="0"/>
                  </a:lnTo>
                  <a:lnTo>
                    <a:pt x="0" y="29051"/>
                  </a:lnTo>
                  <a:lnTo>
                    <a:pt x="14607" y="29051"/>
                  </a:lnTo>
                  <a:lnTo>
                    <a:pt x="14607" y="14627"/>
                  </a:lnTo>
                  <a:lnTo>
                    <a:pt x="7556" y="14627"/>
                  </a:lnTo>
                  <a:lnTo>
                    <a:pt x="14607" y="7516"/>
                  </a:lnTo>
                  <a:lnTo>
                    <a:pt x="43821" y="7516"/>
                  </a:lnTo>
                  <a:lnTo>
                    <a:pt x="43821" y="0"/>
                  </a:lnTo>
                  <a:close/>
                </a:path>
                <a:path w="2613659" h="2822575">
                  <a:moveTo>
                    <a:pt x="14607" y="7516"/>
                  </a:moveTo>
                  <a:lnTo>
                    <a:pt x="7556" y="14627"/>
                  </a:lnTo>
                  <a:lnTo>
                    <a:pt x="14607" y="14627"/>
                  </a:lnTo>
                  <a:lnTo>
                    <a:pt x="14607" y="7516"/>
                  </a:lnTo>
                  <a:close/>
                </a:path>
                <a:path w="2613659" h="2822575">
                  <a:moveTo>
                    <a:pt x="43821" y="7516"/>
                  </a:moveTo>
                  <a:lnTo>
                    <a:pt x="14607" y="7516"/>
                  </a:lnTo>
                  <a:lnTo>
                    <a:pt x="14607" y="14627"/>
                  </a:lnTo>
                  <a:lnTo>
                    <a:pt x="43821" y="14627"/>
                  </a:lnTo>
                  <a:lnTo>
                    <a:pt x="43821" y="7516"/>
                  </a:lnTo>
                  <a:close/>
                </a:path>
                <a:path w="2613659" h="2822575">
                  <a:moveTo>
                    <a:pt x="14607" y="75778"/>
                  </a:moveTo>
                  <a:lnTo>
                    <a:pt x="0" y="75778"/>
                  </a:lnTo>
                  <a:lnTo>
                    <a:pt x="0" y="136930"/>
                  </a:lnTo>
                  <a:lnTo>
                    <a:pt x="14607" y="136930"/>
                  </a:lnTo>
                  <a:lnTo>
                    <a:pt x="14607" y="75778"/>
                  </a:lnTo>
                  <a:close/>
                </a:path>
                <a:path w="2613659" h="2822575">
                  <a:moveTo>
                    <a:pt x="14607" y="183047"/>
                  </a:moveTo>
                  <a:lnTo>
                    <a:pt x="0" y="183047"/>
                  </a:lnTo>
                  <a:lnTo>
                    <a:pt x="0" y="244198"/>
                  </a:lnTo>
                  <a:lnTo>
                    <a:pt x="14607" y="244198"/>
                  </a:lnTo>
                  <a:lnTo>
                    <a:pt x="14607" y="183047"/>
                  </a:lnTo>
                  <a:close/>
                </a:path>
                <a:path w="2613659" h="2822575">
                  <a:moveTo>
                    <a:pt x="14607" y="290722"/>
                  </a:moveTo>
                  <a:lnTo>
                    <a:pt x="0" y="290722"/>
                  </a:lnTo>
                  <a:lnTo>
                    <a:pt x="0" y="351467"/>
                  </a:lnTo>
                  <a:lnTo>
                    <a:pt x="14607" y="351467"/>
                  </a:lnTo>
                  <a:lnTo>
                    <a:pt x="14607" y="290722"/>
                  </a:lnTo>
                  <a:close/>
                </a:path>
                <a:path w="2613659" h="2822575">
                  <a:moveTo>
                    <a:pt x="14607" y="395553"/>
                  </a:moveTo>
                  <a:lnTo>
                    <a:pt x="0" y="395553"/>
                  </a:lnTo>
                  <a:lnTo>
                    <a:pt x="0" y="456704"/>
                  </a:lnTo>
                  <a:lnTo>
                    <a:pt x="14607" y="456704"/>
                  </a:lnTo>
                  <a:lnTo>
                    <a:pt x="14607" y="395553"/>
                  </a:lnTo>
                  <a:close/>
                </a:path>
                <a:path w="2613659" h="2822575">
                  <a:moveTo>
                    <a:pt x="14607" y="502822"/>
                  </a:moveTo>
                  <a:lnTo>
                    <a:pt x="0" y="502822"/>
                  </a:lnTo>
                  <a:lnTo>
                    <a:pt x="0" y="563973"/>
                  </a:lnTo>
                  <a:lnTo>
                    <a:pt x="14607" y="563973"/>
                  </a:lnTo>
                  <a:lnTo>
                    <a:pt x="14607" y="502822"/>
                  </a:lnTo>
                  <a:close/>
                </a:path>
                <a:path w="2613659" h="2822575">
                  <a:moveTo>
                    <a:pt x="14607" y="610497"/>
                  </a:moveTo>
                  <a:lnTo>
                    <a:pt x="0" y="610497"/>
                  </a:lnTo>
                  <a:lnTo>
                    <a:pt x="0" y="671242"/>
                  </a:lnTo>
                  <a:lnTo>
                    <a:pt x="14607" y="671242"/>
                  </a:lnTo>
                  <a:lnTo>
                    <a:pt x="14607" y="610497"/>
                  </a:lnTo>
                  <a:close/>
                </a:path>
                <a:path w="2613659" h="2822575">
                  <a:moveTo>
                    <a:pt x="14607" y="717766"/>
                  </a:moveTo>
                  <a:lnTo>
                    <a:pt x="0" y="717766"/>
                  </a:lnTo>
                  <a:lnTo>
                    <a:pt x="0" y="778917"/>
                  </a:lnTo>
                  <a:lnTo>
                    <a:pt x="14607" y="778917"/>
                  </a:lnTo>
                  <a:lnTo>
                    <a:pt x="14607" y="717766"/>
                  </a:lnTo>
                  <a:close/>
                </a:path>
                <a:path w="2613659" h="2822575">
                  <a:moveTo>
                    <a:pt x="14607" y="822597"/>
                  </a:moveTo>
                  <a:lnTo>
                    <a:pt x="0" y="822597"/>
                  </a:lnTo>
                  <a:lnTo>
                    <a:pt x="0" y="883748"/>
                  </a:lnTo>
                  <a:lnTo>
                    <a:pt x="14607" y="883748"/>
                  </a:lnTo>
                  <a:lnTo>
                    <a:pt x="14607" y="822597"/>
                  </a:lnTo>
                  <a:close/>
                </a:path>
                <a:path w="2613659" h="2822575">
                  <a:moveTo>
                    <a:pt x="14607" y="930272"/>
                  </a:moveTo>
                  <a:lnTo>
                    <a:pt x="0" y="930272"/>
                  </a:lnTo>
                  <a:lnTo>
                    <a:pt x="0" y="991017"/>
                  </a:lnTo>
                  <a:lnTo>
                    <a:pt x="14607" y="991017"/>
                  </a:lnTo>
                  <a:lnTo>
                    <a:pt x="14607" y="930272"/>
                  </a:lnTo>
                  <a:close/>
                </a:path>
                <a:path w="2613659" h="2822575">
                  <a:moveTo>
                    <a:pt x="14607" y="1037540"/>
                  </a:moveTo>
                  <a:lnTo>
                    <a:pt x="0" y="1037540"/>
                  </a:lnTo>
                  <a:lnTo>
                    <a:pt x="0" y="1098692"/>
                  </a:lnTo>
                  <a:lnTo>
                    <a:pt x="14607" y="1098692"/>
                  </a:lnTo>
                  <a:lnTo>
                    <a:pt x="14607" y="1037540"/>
                  </a:lnTo>
                  <a:close/>
                </a:path>
                <a:path w="2613659" h="2822575">
                  <a:moveTo>
                    <a:pt x="14608" y="1144809"/>
                  </a:moveTo>
                  <a:lnTo>
                    <a:pt x="0" y="1144809"/>
                  </a:lnTo>
                  <a:lnTo>
                    <a:pt x="0" y="1205960"/>
                  </a:lnTo>
                  <a:lnTo>
                    <a:pt x="14608" y="1205960"/>
                  </a:lnTo>
                  <a:lnTo>
                    <a:pt x="14608" y="1144809"/>
                  </a:lnTo>
                  <a:close/>
                </a:path>
                <a:path w="2613659" h="2822575">
                  <a:moveTo>
                    <a:pt x="14608" y="1250046"/>
                  </a:moveTo>
                  <a:lnTo>
                    <a:pt x="0" y="1250046"/>
                  </a:lnTo>
                  <a:lnTo>
                    <a:pt x="0" y="1310791"/>
                  </a:lnTo>
                  <a:lnTo>
                    <a:pt x="14608" y="1310791"/>
                  </a:lnTo>
                  <a:lnTo>
                    <a:pt x="14608" y="1250046"/>
                  </a:lnTo>
                  <a:close/>
                </a:path>
                <a:path w="2613659" h="2822575">
                  <a:moveTo>
                    <a:pt x="14608" y="1357315"/>
                  </a:moveTo>
                  <a:lnTo>
                    <a:pt x="0" y="1357315"/>
                  </a:lnTo>
                  <a:lnTo>
                    <a:pt x="0" y="1418466"/>
                  </a:lnTo>
                  <a:lnTo>
                    <a:pt x="14608" y="1418466"/>
                  </a:lnTo>
                  <a:lnTo>
                    <a:pt x="14608" y="1357315"/>
                  </a:lnTo>
                  <a:close/>
                </a:path>
                <a:path w="2613659" h="2822575">
                  <a:moveTo>
                    <a:pt x="14608" y="1464584"/>
                  </a:moveTo>
                  <a:lnTo>
                    <a:pt x="0" y="1464584"/>
                  </a:lnTo>
                  <a:lnTo>
                    <a:pt x="0" y="1525796"/>
                  </a:lnTo>
                  <a:lnTo>
                    <a:pt x="14608" y="1525796"/>
                  </a:lnTo>
                  <a:lnTo>
                    <a:pt x="14608" y="1464584"/>
                  </a:lnTo>
                  <a:close/>
                </a:path>
                <a:path w="2613659" h="2822575">
                  <a:moveTo>
                    <a:pt x="14608" y="1571914"/>
                  </a:moveTo>
                  <a:lnTo>
                    <a:pt x="0" y="1571914"/>
                  </a:lnTo>
                  <a:lnTo>
                    <a:pt x="0" y="1633065"/>
                  </a:lnTo>
                  <a:lnTo>
                    <a:pt x="14608" y="1633065"/>
                  </a:lnTo>
                  <a:lnTo>
                    <a:pt x="14608" y="1571914"/>
                  </a:lnTo>
                  <a:close/>
                </a:path>
                <a:path w="2613659" h="2822575">
                  <a:moveTo>
                    <a:pt x="14608" y="1677171"/>
                  </a:moveTo>
                  <a:lnTo>
                    <a:pt x="0" y="1677171"/>
                  </a:lnTo>
                  <a:lnTo>
                    <a:pt x="0" y="1738322"/>
                  </a:lnTo>
                  <a:lnTo>
                    <a:pt x="14608" y="1738322"/>
                  </a:lnTo>
                  <a:lnTo>
                    <a:pt x="14608" y="1677171"/>
                  </a:lnTo>
                  <a:close/>
                </a:path>
                <a:path w="2613659" h="2822575">
                  <a:moveTo>
                    <a:pt x="14608" y="1784419"/>
                  </a:moveTo>
                  <a:lnTo>
                    <a:pt x="0" y="1784419"/>
                  </a:lnTo>
                  <a:lnTo>
                    <a:pt x="0" y="1845571"/>
                  </a:lnTo>
                  <a:lnTo>
                    <a:pt x="14608" y="1845571"/>
                  </a:lnTo>
                  <a:lnTo>
                    <a:pt x="14608" y="1784419"/>
                  </a:lnTo>
                  <a:close/>
                </a:path>
                <a:path w="2613659" h="2822575">
                  <a:moveTo>
                    <a:pt x="14608" y="1891688"/>
                  </a:moveTo>
                  <a:lnTo>
                    <a:pt x="0" y="1891688"/>
                  </a:lnTo>
                  <a:lnTo>
                    <a:pt x="0" y="1952840"/>
                  </a:lnTo>
                  <a:lnTo>
                    <a:pt x="14608" y="1952840"/>
                  </a:lnTo>
                  <a:lnTo>
                    <a:pt x="14608" y="1891688"/>
                  </a:lnTo>
                  <a:close/>
                </a:path>
                <a:path w="2613659" h="2822575">
                  <a:moveTo>
                    <a:pt x="14608" y="1999465"/>
                  </a:moveTo>
                  <a:lnTo>
                    <a:pt x="0" y="1999465"/>
                  </a:lnTo>
                  <a:lnTo>
                    <a:pt x="0" y="2060108"/>
                  </a:lnTo>
                  <a:lnTo>
                    <a:pt x="14608" y="2060108"/>
                  </a:lnTo>
                  <a:lnTo>
                    <a:pt x="14608" y="1999465"/>
                  </a:lnTo>
                  <a:close/>
                </a:path>
                <a:path w="2613659" h="2822575">
                  <a:moveTo>
                    <a:pt x="14608" y="2104214"/>
                  </a:moveTo>
                  <a:lnTo>
                    <a:pt x="0" y="2104214"/>
                  </a:lnTo>
                  <a:lnTo>
                    <a:pt x="0" y="2165366"/>
                  </a:lnTo>
                  <a:lnTo>
                    <a:pt x="14608" y="2165366"/>
                  </a:lnTo>
                  <a:lnTo>
                    <a:pt x="14608" y="2104214"/>
                  </a:lnTo>
                  <a:close/>
                </a:path>
                <a:path w="2613659" h="2822575">
                  <a:moveTo>
                    <a:pt x="14608" y="2211483"/>
                  </a:moveTo>
                  <a:lnTo>
                    <a:pt x="0" y="2211483"/>
                  </a:lnTo>
                  <a:lnTo>
                    <a:pt x="0" y="2272635"/>
                  </a:lnTo>
                  <a:lnTo>
                    <a:pt x="14608" y="2272635"/>
                  </a:lnTo>
                  <a:lnTo>
                    <a:pt x="14608" y="2211483"/>
                  </a:lnTo>
                  <a:close/>
                </a:path>
                <a:path w="2613659" h="2822575">
                  <a:moveTo>
                    <a:pt x="14608" y="2319240"/>
                  </a:moveTo>
                  <a:lnTo>
                    <a:pt x="0" y="2319240"/>
                  </a:lnTo>
                  <a:lnTo>
                    <a:pt x="0" y="2379903"/>
                  </a:lnTo>
                  <a:lnTo>
                    <a:pt x="14608" y="2379903"/>
                  </a:lnTo>
                  <a:lnTo>
                    <a:pt x="14608" y="2319240"/>
                  </a:lnTo>
                  <a:close/>
                </a:path>
                <a:path w="2613659" h="2822575">
                  <a:moveTo>
                    <a:pt x="14608" y="2426508"/>
                  </a:moveTo>
                  <a:lnTo>
                    <a:pt x="0" y="2426508"/>
                  </a:lnTo>
                  <a:lnTo>
                    <a:pt x="0" y="2487660"/>
                  </a:lnTo>
                  <a:lnTo>
                    <a:pt x="14608" y="2487660"/>
                  </a:lnTo>
                  <a:lnTo>
                    <a:pt x="14608" y="2426508"/>
                  </a:lnTo>
                  <a:close/>
                </a:path>
                <a:path w="2613659" h="2822575">
                  <a:moveTo>
                    <a:pt x="14608" y="2531278"/>
                  </a:moveTo>
                  <a:lnTo>
                    <a:pt x="0" y="2531278"/>
                  </a:lnTo>
                  <a:lnTo>
                    <a:pt x="0" y="2592430"/>
                  </a:lnTo>
                  <a:lnTo>
                    <a:pt x="14608" y="2592430"/>
                  </a:lnTo>
                  <a:lnTo>
                    <a:pt x="14608" y="2531278"/>
                  </a:lnTo>
                  <a:close/>
                </a:path>
                <a:path w="2613659" h="2822575">
                  <a:moveTo>
                    <a:pt x="14608" y="2639035"/>
                  </a:moveTo>
                  <a:lnTo>
                    <a:pt x="0" y="2639035"/>
                  </a:lnTo>
                  <a:lnTo>
                    <a:pt x="0" y="2699678"/>
                  </a:lnTo>
                  <a:lnTo>
                    <a:pt x="14608" y="2699678"/>
                  </a:lnTo>
                  <a:lnTo>
                    <a:pt x="14608" y="2639035"/>
                  </a:lnTo>
                  <a:close/>
                </a:path>
                <a:path w="2613659" h="2822575">
                  <a:moveTo>
                    <a:pt x="14608" y="2746303"/>
                  </a:moveTo>
                  <a:lnTo>
                    <a:pt x="0" y="2746303"/>
                  </a:lnTo>
                  <a:lnTo>
                    <a:pt x="0" y="2807455"/>
                  </a:lnTo>
                  <a:lnTo>
                    <a:pt x="14608" y="2807455"/>
                  </a:lnTo>
                  <a:lnTo>
                    <a:pt x="14608" y="2746303"/>
                  </a:lnTo>
                  <a:close/>
                </a:path>
                <a:path w="2613659" h="2822575">
                  <a:moveTo>
                    <a:pt x="107282" y="2807455"/>
                  </a:moveTo>
                  <a:lnTo>
                    <a:pt x="46339" y="2807455"/>
                  </a:lnTo>
                  <a:lnTo>
                    <a:pt x="46339" y="2821981"/>
                  </a:lnTo>
                  <a:lnTo>
                    <a:pt x="107282" y="2821981"/>
                  </a:lnTo>
                  <a:lnTo>
                    <a:pt x="107282" y="2807455"/>
                  </a:lnTo>
                  <a:close/>
                </a:path>
                <a:path w="2613659" h="2822575">
                  <a:moveTo>
                    <a:pt x="212550" y="2807455"/>
                  </a:moveTo>
                  <a:lnTo>
                    <a:pt x="151610" y="2807455"/>
                  </a:lnTo>
                  <a:lnTo>
                    <a:pt x="151610" y="2821981"/>
                  </a:lnTo>
                  <a:lnTo>
                    <a:pt x="212550" y="2821981"/>
                  </a:lnTo>
                  <a:lnTo>
                    <a:pt x="212550" y="2807455"/>
                  </a:lnTo>
                  <a:close/>
                </a:path>
                <a:path w="2613659" h="2822575">
                  <a:moveTo>
                    <a:pt x="319832" y="2807455"/>
                  </a:moveTo>
                  <a:lnTo>
                    <a:pt x="258891" y="2807455"/>
                  </a:lnTo>
                  <a:lnTo>
                    <a:pt x="258891" y="2821981"/>
                  </a:lnTo>
                  <a:lnTo>
                    <a:pt x="319832" y="2821981"/>
                  </a:lnTo>
                  <a:lnTo>
                    <a:pt x="319832" y="2807455"/>
                  </a:lnTo>
                  <a:close/>
                </a:path>
                <a:path w="2613659" h="2822575">
                  <a:moveTo>
                    <a:pt x="427114" y="2807455"/>
                  </a:moveTo>
                  <a:lnTo>
                    <a:pt x="366173" y="2807455"/>
                  </a:lnTo>
                  <a:lnTo>
                    <a:pt x="366173" y="2821981"/>
                  </a:lnTo>
                  <a:lnTo>
                    <a:pt x="427114" y="2821981"/>
                  </a:lnTo>
                  <a:lnTo>
                    <a:pt x="427114" y="2807455"/>
                  </a:lnTo>
                  <a:close/>
                </a:path>
                <a:path w="2613659" h="2822575">
                  <a:moveTo>
                    <a:pt x="534396" y="2807455"/>
                  </a:moveTo>
                  <a:lnTo>
                    <a:pt x="473455" y="2807455"/>
                  </a:lnTo>
                  <a:lnTo>
                    <a:pt x="473455" y="2821981"/>
                  </a:lnTo>
                  <a:lnTo>
                    <a:pt x="534396" y="2821981"/>
                  </a:lnTo>
                  <a:lnTo>
                    <a:pt x="534396" y="2807455"/>
                  </a:lnTo>
                  <a:close/>
                </a:path>
                <a:path w="2613659" h="2822575">
                  <a:moveTo>
                    <a:pt x="639664" y="2807455"/>
                  </a:moveTo>
                  <a:lnTo>
                    <a:pt x="578215" y="2807455"/>
                  </a:lnTo>
                  <a:lnTo>
                    <a:pt x="578215" y="2821981"/>
                  </a:lnTo>
                  <a:lnTo>
                    <a:pt x="639664" y="2821981"/>
                  </a:lnTo>
                  <a:lnTo>
                    <a:pt x="639664" y="2807455"/>
                  </a:lnTo>
                  <a:close/>
                </a:path>
                <a:path w="2613659" h="2822575">
                  <a:moveTo>
                    <a:pt x="746946" y="2807455"/>
                  </a:moveTo>
                  <a:lnTo>
                    <a:pt x="686006" y="2807455"/>
                  </a:lnTo>
                  <a:lnTo>
                    <a:pt x="686006" y="2821981"/>
                  </a:lnTo>
                  <a:lnTo>
                    <a:pt x="746946" y="2821981"/>
                  </a:lnTo>
                  <a:lnTo>
                    <a:pt x="746946" y="2807455"/>
                  </a:lnTo>
                  <a:close/>
                </a:path>
                <a:path w="2613659" h="2822575">
                  <a:moveTo>
                    <a:pt x="854248" y="2807455"/>
                  </a:moveTo>
                  <a:lnTo>
                    <a:pt x="793287" y="2807455"/>
                  </a:lnTo>
                  <a:lnTo>
                    <a:pt x="793287" y="2821981"/>
                  </a:lnTo>
                  <a:lnTo>
                    <a:pt x="854248" y="2821981"/>
                  </a:lnTo>
                  <a:lnTo>
                    <a:pt x="854248" y="2807455"/>
                  </a:lnTo>
                  <a:close/>
                </a:path>
                <a:path w="2613659" h="2822575">
                  <a:moveTo>
                    <a:pt x="961530" y="2807455"/>
                  </a:moveTo>
                  <a:lnTo>
                    <a:pt x="900569" y="2807455"/>
                  </a:lnTo>
                  <a:lnTo>
                    <a:pt x="900569" y="2821981"/>
                  </a:lnTo>
                  <a:lnTo>
                    <a:pt x="961530" y="2821981"/>
                  </a:lnTo>
                  <a:lnTo>
                    <a:pt x="961530" y="2807455"/>
                  </a:lnTo>
                  <a:close/>
                </a:path>
                <a:path w="2613659" h="2822575">
                  <a:moveTo>
                    <a:pt x="1066291" y="2807455"/>
                  </a:moveTo>
                  <a:lnTo>
                    <a:pt x="1005350" y="2807455"/>
                  </a:lnTo>
                  <a:lnTo>
                    <a:pt x="1005350" y="2821981"/>
                  </a:lnTo>
                  <a:lnTo>
                    <a:pt x="1066291" y="2821981"/>
                  </a:lnTo>
                  <a:lnTo>
                    <a:pt x="1066291" y="2807455"/>
                  </a:lnTo>
                  <a:close/>
                </a:path>
                <a:path w="2613659" h="2822575">
                  <a:moveTo>
                    <a:pt x="1174081" y="2807455"/>
                  </a:moveTo>
                  <a:lnTo>
                    <a:pt x="1112632" y="2807455"/>
                  </a:lnTo>
                  <a:lnTo>
                    <a:pt x="1112632" y="2821981"/>
                  </a:lnTo>
                  <a:lnTo>
                    <a:pt x="1174081" y="2821981"/>
                  </a:lnTo>
                  <a:lnTo>
                    <a:pt x="1174081" y="2807455"/>
                  </a:lnTo>
                  <a:close/>
                </a:path>
                <a:path w="2613659" h="2822575">
                  <a:moveTo>
                    <a:pt x="1281363" y="2807455"/>
                  </a:moveTo>
                  <a:lnTo>
                    <a:pt x="1220422" y="2807455"/>
                  </a:lnTo>
                  <a:lnTo>
                    <a:pt x="1220422" y="2821981"/>
                  </a:lnTo>
                  <a:lnTo>
                    <a:pt x="1281363" y="2821981"/>
                  </a:lnTo>
                  <a:lnTo>
                    <a:pt x="1281363" y="2807455"/>
                  </a:lnTo>
                  <a:close/>
                </a:path>
                <a:path w="2613659" h="2822575">
                  <a:moveTo>
                    <a:pt x="1388644" y="2807455"/>
                  </a:moveTo>
                  <a:lnTo>
                    <a:pt x="1327704" y="2807455"/>
                  </a:lnTo>
                  <a:lnTo>
                    <a:pt x="1327704" y="2821981"/>
                  </a:lnTo>
                  <a:lnTo>
                    <a:pt x="1388644" y="2821981"/>
                  </a:lnTo>
                  <a:lnTo>
                    <a:pt x="1388644" y="2807455"/>
                  </a:lnTo>
                  <a:close/>
                </a:path>
                <a:path w="2613659" h="2822575">
                  <a:moveTo>
                    <a:pt x="1493405" y="2807455"/>
                  </a:moveTo>
                  <a:lnTo>
                    <a:pt x="1432464" y="2807455"/>
                  </a:lnTo>
                  <a:lnTo>
                    <a:pt x="1432464" y="2821981"/>
                  </a:lnTo>
                  <a:lnTo>
                    <a:pt x="1493405" y="2821981"/>
                  </a:lnTo>
                  <a:lnTo>
                    <a:pt x="1493405" y="2807455"/>
                  </a:lnTo>
                  <a:close/>
                </a:path>
                <a:path w="2613659" h="2822575">
                  <a:moveTo>
                    <a:pt x="1600687" y="2807455"/>
                  </a:moveTo>
                  <a:lnTo>
                    <a:pt x="1539746" y="2807455"/>
                  </a:lnTo>
                  <a:lnTo>
                    <a:pt x="1539746" y="2821981"/>
                  </a:lnTo>
                  <a:lnTo>
                    <a:pt x="1600687" y="2821981"/>
                  </a:lnTo>
                  <a:lnTo>
                    <a:pt x="1600687" y="2807455"/>
                  </a:lnTo>
                  <a:close/>
                </a:path>
                <a:path w="2613659" h="2822575">
                  <a:moveTo>
                    <a:pt x="1708477" y="2807455"/>
                  </a:moveTo>
                  <a:lnTo>
                    <a:pt x="1647028" y="2807455"/>
                  </a:lnTo>
                  <a:lnTo>
                    <a:pt x="1647028" y="2821981"/>
                  </a:lnTo>
                  <a:lnTo>
                    <a:pt x="1708477" y="2821981"/>
                  </a:lnTo>
                  <a:lnTo>
                    <a:pt x="1708477" y="2807455"/>
                  </a:lnTo>
                  <a:close/>
                </a:path>
                <a:path w="2613659" h="2822575">
                  <a:moveTo>
                    <a:pt x="1815759" y="2807455"/>
                  </a:moveTo>
                  <a:lnTo>
                    <a:pt x="1754818" y="2807455"/>
                  </a:lnTo>
                  <a:lnTo>
                    <a:pt x="1754818" y="2821981"/>
                  </a:lnTo>
                  <a:lnTo>
                    <a:pt x="1815759" y="2821981"/>
                  </a:lnTo>
                  <a:lnTo>
                    <a:pt x="1815759" y="2807455"/>
                  </a:lnTo>
                  <a:close/>
                </a:path>
                <a:path w="2613659" h="2822575">
                  <a:moveTo>
                    <a:pt x="1920478" y="2807455"/>
                  </a:moveTo>
                  <a:lnTo>
                    <a:pt x="1859578" y="2807455"/>
                  </a:lnTo>
                  <a:lnTo>
                    <a:pt x="1859578" y="2821981"/>
                  </a:lnTo>
                  <a:lnTo>
                    <a:pt x="1920478" y="2821981"/>
                  </a:lnTo>
                  <a:lnTo>
                    <a:pt x="1920478" y="2807455"/>
                  </a:lnTo>
                  <a:close/>
                </a:path>
                <a:path w="2613659" h="2822575">
                  <a:moveTo>
                    <a:pt x="2027841" y="2807455"/>
                  </a:moveTo>
                  <a:lnTo>
                    <a:pt x="1966840" y="2807455"/>
                  </a:lnTo>
                  <a:lnTo>
                    <a:pt x="1966840" y="2821981"/>
                  </a:lnTo>
                  <a:lnTo>
                    <a:pt x="2027841" y="2821981"/>
                  </a:lnTo>
                  <a:lnTo>
                    <a:pt x="2027841" y="2807455"/>
                  </a:lnTo>
                  <a:close/>
                </a:path>
                <a:path w="2613659" h="2822575">
                  <a:moveTo>
                    <a:pt x="2135001" y="2807455"/>
                  </a:moveTo>
                  <a:lnTo>
                    <a:pt x="2074203" y="2807455"/>
                  </a:lnTo>
                  <a:lnTo>
                    <a:pt x="2074203" y="2821981"/>
                  </a:lnTo>
                  <a:lnTo>
                    <a:pt x="2135001" y="2821981"/>
                  </a:lnTo>
                  <a:lnTo>
                    <a:pt x="2135001" y="2807455"/>
                  </a:lnTo>
                  <a:close/>
                </a:path>
                <a:path w="2613659" h="2822575">
                  <a:moveTo>
                    <a:pt x="2242974" y="2807455"/>
                  </a:moveTo>
                  <a:lnTo>
                    <a:pt x="2181363" y="2807455"/>
                  </a:lnTo>
                  <a:lnTo>
                    <a:pt x="2181363" y="2821981"/>
                  </a:lnTo>
                  <a:lnTo>
                    <a:pt x="2242974" y="2821981"/>
                  </a:lnTo>
                  <a:lnTo>
                    <a:pt x="2242974" y="2807455"/>
                  </a:lnTo>
                  <a:close/>
                </a:path>
                <a:path w="2613659" h="2822575">
                  <a:moveTo>
                    <a:pt x="2347694" y="2807455"/>
                  </a:moveTo>
                  <a:lnTo>
                    <a:pt x="2286692" y="2807455"/>
                  </a:lnTo>
                  <a:lnTo>
                    <a:pt x="2286692" y="2821981"/>
                  </a:lnTo>
                  <a:lnTo>
                    <a:pt x="2347694" y="2821981"/>
                  </a:lnTo>
                  <a:lnTo>
                    <a:pt x="2347694" y="2807455"/>
                  </a:lnTo>
                  <a:close/>
                </a:path>
                <a:path w="2613659" h="2822575">
                  <a:moveTo>
                    <a:pt x="2454854" y="2807455"/>
                  </a:moveTo>
                  <a:lnTo>
                    <a:pt x="2394055" y="2807455"/>
                  </a:lnTo>
                  <a:lnTo>
                    <a:pt x="2394055" y="2821981"/>
                  </a:lnTo>
                  <a:lnTo>
                    <a:pt x="2454854" y="2821981"/>
                  </a:lnTo>
                  <a:lnTo>
                    <a:pt x="2454854" y="2807455"/>
                  </a:lnTo>
                  <a:close/>
                </a:path>
                <a:path w="2613659" h="2822575">
                  <a:moveTo>
                    <a:pt x="2562217" y="2807455"/>
                  </a:moveTo>
                  <a:lnTo>
                    <a:pt x="2501215" y="2807455"/>
                  </a:lnTo>
                  <a:lnTo>
                    <a:pt x="2501215" y="2821981"/>
                  </a:lnTo>
                  <a:lnTo>
                    <a:pt x="2562217" y="2821981"/>
                  </a:lnTo>
                  <a:lnTo>
                    <a:pt x="2562217" y="2807455"/>
                  </a:lnTo>
                  <a:close/>
                </a:path>
                <a:path w="2613659" h="2822575">
                  <a:moveTo>
                    <a:pt x="2613662" y="2751321"/>
                  </a:moveTo>
                  <a:lnTo>
                    <a:pt x="2599021" y="2751321"/>
                  </a:lnTo>
                  <a:lnTo>
                    <a:pt x="2599021" y="2811965"/>
                  </a:lnTo>
                  <a:lnTo>
                    <a:pt x="2613662" y="2811965"/>
                  </a:lnTo>
                  <a:lnTo>
                    <a:pt x="2613662" y="2751321"/>
                  </a:lnTo>
                  <a:close/>
                </a:path>
                <a:path w="2613659" h="2822575">
                  <a:moveTo>
                    <a:pt x="2613662" y="2646044"/>
                  </a:moveTo>
                  <a:lnTo>
                    <a:pt x="2599021" y="2646044"/>
                  </a:lnTo>
                  <a:lnTo>
                    <a:pt x="2599021" y="2707195"/>
                  </a:lnTo>
                  <a:lnTo>
                    <a:pt x="2613662" y="2707195"/>
                  </a:lnTo>
                  <a:lnTo>
                    <a:pt x="2613662" y="2646044"/>
                  </a:lnTo>
                  <a:close/>
                </a:path>
                <a:path w="2613659" h="2822575">
                  <a:moveTo>
                    <a:pt x="2613662" y="2538795"/>
                  </a:moveTo>
                  <a:lnTo>
                    <a:pt x="2599021" y="2538795"/>
                  </a:lnTo>
                  <a:lnTo>
                    <a:pt x="2599021" y="2599947"/>
                  </a:lnTo>
                  <a:lnTo>
                    <a:pt x="2613662" y="2599947"/>
                  </a:lnTo>
                  <a:lnTo>
                    <a:pt x="2613662" y="2538795"/>
                  </a:lnTo>
                  <a:close/>
                </a:path>
                <a:path w="2613659" h="2822575">
                  <a:moveTo>
                    <a:pt x="2613662" y="2431526"/>
                  </a:moveTo>
                  <a:lnTo>
                    <a:pt x="2599021" y="2431526"/>
                  </a:lnTo>
                  <a:lnTo>
                    <a:pt x="2599021" y="2492170"/>
                  </a:lnTo>
                  <a:lnTo>
                    <a:pt x="2613662" y="2492170"/>
                  </a:lnTo>
                  <a:lnTo>
                    <a:pt x="2613662" y="2431526"/>
                  </a:lnTo>
                  <a:close/>
                </a:path>
                <a:path w="2613659" h="2822575">
                  <a:moveTo>
                    <a:pt x="2613662" y="2323750"/>
                  </a:moveTo>
                  <a:lnTo>
                    <a:pt x="2599021" y="2323750"/>
                  </a:lnTo>
                  <a:lnTo>
                    <a:pt x="2599021" y="2384901"/>
                  </a:lnTo>
                  <a:lnTo>
                    <a:pt x="2613662" y="2384901"/>
                  </a:lnTo>
                  <a:lnTo>
                    <a:pt x="2613662" y="2323750"/>
                  </a:lnTo>
                  <a:close/>
                </a:path>
                <a:path w="2613659" h="2822575">
                  <a:moveTo>
                    <a:pt x="2613662" y="2219000"/>
                  </a:moveTo>
                  <a:lnTo>
                    <a:pt x="2599021" y="2219000"/>
                  </a:lnTo>
                  <a:lnTo>
                    <a:pt x="2599021" y="2280152"/>
                  </a:lnTo>
                  <a:lnTo>
                    <a:pt x="2613662" y="2280152"/>
                  </a:lnTo>
                  <a:lnTo>
                    <a:pt x="2613662" y="2219000"/>
                  </a:lnTo>
                  <a:close/>
                </a:path>
                <a:path w="2613659" h="2822575">
                  <a:moveTo>
                    <a:pt x="2613662" y="2111731"/>
                  </a:moveTo>
                  <a:lnTo>
                    <a:pt x="2599021" y="2111731"/>
                  </a:lnTo>
                  <a:lnTo>
                    <a:pt x="2599021" y="2172395"/>
                  </a:lnTo>
                  <a:lnTo>
                    <a:pt x="2613662" y="2172395"/>
                  </a:lnTo>
                  <a:lnTo>
                    <a:pt x="2613662" y="2111731"/>
                  </a:lnTo>
                  <a:close/>
                </a:path>
                <a:path w="2613659" h="2822575">
                  <a:moveTo>
                    <a:pt x="2613662" y="2003975"/>
                  </a:moveTo>
                  <a:lnTo>
                    <a:pt x="2599021" y="2003975"/>
                  </a:lnTo>
                  <a:lnTo>
                    <a:pt x="2599021" y="2065126"/>
                  </a:lnTo>
                  <a:lnTo>
                    <a:pt x="2613662" y="2065126"/>
                  </a:lnTo>
                  <a:lnTo>
                    <a:pt x="2613662" y="2003975"/>
                  </a:lnTo>
                  <a:close/>
                </a:path>
                <a:path w="2613659" h="2822575">
                  <a:moveTo>
                    <a:pt x="2613662" y="1896706"/>
                  </a:moveTo>
                  <a:lnTo>
                    <a:pt x="2599021" y="1896706"/>
                  </a:lnTo>
                  <a:lnTo>
                    <a:pt x="2599021" y="1957858"/>
                  </a:lnTo>
                  <a:lnTo>
                    <a:pt x="2613662" y="1957858"/>
                  </a:lnTo>
                  <a:lnTo>
                    <a:pt x="2613662" y="1896706"/>
                  </a:lnTo>
                  <a:close/>
                </a:path>
                <a:path w="2613659" h="2822575">
                  <a:moveTo>
                    <a:pt x="2613662" y="1791957"/>
                  </a:moveTo>
                  <a:lnTo>
                    <a:pt x="2599021" y="1791957"/>
                  </a:lnTo>
                  <a:lnTo>
                    <a:pt x="2599021" y="1852600"/>
                  </a:lnTo>
                  <a:lnTo>
                    <a:pt x="2613662" y="1852600"/>
                  </a:lnTo>
                  <a:lnTo>
                    <a:pt x="2613662" y="1791957"/>
                  </a:lnTo>
                  <a:close/>
                </a:path>
                <a:path w="2613659" h="2822575">
                  <a:moveTo>
                    <a:pt x="2613662" y="1684180"/>
                  </a:moveTo>
                  <a:lnTo>
                    <a:pt x="2599021" y="1684180"/>
                  </a:lnTo>
                  <a:lnTo>
                    <a:pt x="2599021" y="1745331"/>
                  </a:lnTo>
                  <a:lnTo>
                    <a:pt x="2613662" y="1745331"/>
                  </a:lnTo>
                  <a:lnTo>
                    <a:pt x="2613662" y="1684180"/>
                  </a:lnTo>
                  <a:close/>
                </a:path>
                <a:path w="2613659" h="2822575">
                  <a:moveTo>
                    <a:pt x="2613662" y="1576911"/>
                  </a:moveTo>
                  <a:lnTo>
                    <a:pt x="2599021" y="1576911"/>
                  </a:lnTo>
                  <a:lnTo>
                    <a:pt x="2599021" y="1638063"/>
                  </a:lnTo>
                  <a:lnTo>
                    <a:pt x="2613662" y="1638063"/>
                  </a:lnTo>
                  <a:lnTo>
                    <a:pt x="2613662" y="1576911"/>
                  </a:lnTo>
                  <a:close/>
                </a:path>
                <a:path w="2613659" h="2822575">
                  <a:moveTo>
                    <a:pt x="2613662" y="1469663"/>
                  </a:moveTo>
                  <a:lnTo>
                    <a:pt x="2599021" y="1469663"/>
                  </a:lnTo>
                  <a:lnTo>
                    <a:pt x="2599021" y="1530794"/>
                  </a:lnTo>
                  <a:lnTo>
                    <a:pt x="2613662" y="1530794"/>
                  </a:lnTo>
                  <a:lnTo>
                    <a:pt x="2613662" y="1469663"/>
                  </a:lnTo>
                  <a:close/>
                </a:path>
                <a:path w="2613659" h="2822575">
                  <a:moveTo>
                    <a:pt x="2613662" y="1364426"/>
                  </a:moveTo>
                  <a:lnTo>
                    <a:pt x="2599021" y="1364426"/>
                  </a:lnTo>
                  <a:lnTo>
                    <a:pt x="2599021" y="1425577"/>
                  </a:lnTo>
                  <a:lnTo>
                    <a:pt x="2613662" y="1425577"/>
                  </a:lnTo>
                  <a:lnTo>
                    <a:pt x="2613662" y="1364426"/>
                  </a:lnTo>
                  <a:close/>
                </a:path>
                <a:path w="2613659" h="2822575">
                  <a:moveTo>
                    <a:pt x="2613662" y="1257157"/>
                  </a:moveTo>
                  <a:lnTo>
                    <a:pt x="2599021" y="1257157"/>
                  </a:lnTo>
                  <a:lnTo>
                    <a:pt x="2599021" y="1318308"/>
                  </a:lnTo>
                  <a:lnTo>
                    <a:pt x="2613662" y="1318308"/>
                  </a:lnTo>
                  <a:lnTo>
                    <a:pt x="2613662" y="1257157"/>
                  </a:lnTo>
                  <a:close/>
                </a:path>
                <a:path w="2613659" h="2822575">
                  <a:moveTo>
                    <a:pt x="2613662" y="1149888"/>
                  </a:moveTo>
                  <a:lnTo>
                    <a:pt x="2599021" y="1149888"/>
                  </a:lnTo>
                  <a:lnTo>
                    <a:pt x="2599021" y="1211040"/>
                  </a:lnTo>
                  <a:lnTo>
                    <a:pt x="2613662" y="1211040"/>
                  </a:lnTo>
                  <a:lnTo>
                    <a:pt x="2613662" y="1149888"/>
                  </a:lnTo>
                  <a:close/>
                </a:path>
                <a:path w="2613659" h="2822575">
                  <a:moveTo>
                    <a:pt x="2613662" y="1042619"/>
                  </a:moveTo>
                  <a:lnTo>
                    <a:pt x="2599021" y="1042619"/>
                  </a:lnTo>
                  <a:lnTo>
                    <a:pt x="2599021" y="1103161"/>
                  </a:lnTo>
                  <a:lnTo>
                    <a:pt x="2613662" y="1103161"/>
                  </a:lnTo>
                  <a:lnTo>
                    <a:pt x="2613662" y="1042619"/>
                  </a:lnTo>
                  <a:close/>
                </a:path>
                <a:path w="2613659" h="2822575">
                  <a:moveTo>
                    <a:pt x="2613662" y="937382"/>
                  </a:moveTo>
                  <a:lnTo>
                    <a:pt x="2599021" y="937382"/>
                  </a:lnTo>
                  <a:lnTo>
                    <a:pt x="2599021" y="998534"/>
                  </a:lnTo>
                  <a:lnTo>
                    <a:pt x="2613662" y="998534"/>
                  </a:lnTo>
                  <a:lnTo>
                    <a:pt x="2613662" y="937382"/>
                  </a:lnTo>
                  <a:close/>
                </a:path>
                <a:path w="2613659" h="2822575">
                  <a:moveTo>
                    <a:pt x="2613662" y="830114"/>
                  </a:moveTo>
                  <a:lnTo>
                    <a:pt x="2599021" y="830114"/>
                  </a:lnTo>
                  <a:lnTo>
                    <a:pt x="2599021" y="891265"/>
                  </a:lnTo>
                  <a:lnTo>
                    <a:pt x="2613662" y="891265"/>
                  </a:lnTo>
                  <a:lnTo>
                    <a:pt x="2613662" y="830114"/>
                  </a:lnTo>
                  <a:close/>
                </a:path>
                <a:path w="2613659" h="2822575">
                  <a:moveTo>
                    <a:pt x="2613662" y="722845"/>
                  </a:moveTo>
                  <a:lnTo>
                    <a:pt x="2599021" y="722845"/>
                  </a:lnTo>
                  <a:lnTo>
                    <a:pt x="2599021" y="783387"/>
                  </a:lnTo>
                  <a:lnTo>
                    <a:pt x="2613662" y="783387"/>
                  </a:lnTo>
                  <a:lnTo>
                    <a:pt x="2613662" y="722845"/>
                  </a:lnTo>
                  <a:close/>
                </a:path>
                <a:path w="2613659" h="2822575">
                  <a:moveTo>
                    <a:pt x="2613662" y="614967"/>
                  </a:moveTo>
                  <a:lnTo>
                    <a:pt x="2599021" y="614967"/>
                  </a:lnTo>
                  <a:lnTo>
                    <a:pt x="2599021" y="676118"/>
                  </a:lnTo>
                  <a:lnTo>
                    <a:pt x="2613662" y="676118"/>
                  </a:lnTo>
                  <a:lnTo>
                    <a:pt x="2613662" y="614967"/>
                  </a:lnTo>
                  <a:close/>
                </a:path>
                <a:path w="2613659" h="2822575">
                  <a:moveTo>
                    <a:pt x="2613662" y="510339"/>
                  </a:moveTo>
                  <a:lnTo>
                    <a:pt x="2599021" y="510339"/>
                  </a:lnTo>
                  <a:lnTo>
                    <a:pt x="2599021" y="571490"/>
                  </a:lnTo>
                  <a:lnTo>
                    <a:pt x="2613662" y="571490"/>
                  </a:lnTo>
                  <a:lnTo>
                    <a:pt x="2613662" y="510339"/>
                  </a:lnTo>
                  <a:close/>
                </a:path>
                <a:path w="2613659" h="2822575">
                  <a:moveTo>
                    <a:pt x="2613662" y="403070"/>
                  </a:moveTo>
                  <a:lnTo>
                    <a:pt x="2599021" y="403070"/>
                  </a:lnTo>
                  <a:lnTo>
                    <a:pt x="2599021" y="463612"/>
                  </a:lnTo>
                  <a:lnTo>
                    <a:pt x="2613662" y="463612"/>
                  </a:lnTo>
                  <a:lnTo>
                    <a:pt x="2613662" y="403070"/>
                  </a:lnTo>
                  <a:close/>
                </a:path>
                <a:path w="2613659" h="2822575">
                  <a:moveTo>
                    <a:pt x="2613662" y="295192"/>
                  </a:moveTo>
                  <a:lnTo>
                    <a:pt x="2599021" y="295192"/>
                  </a:lnTo>
                  <a:lnTo>
                    <a:pt x="2599021" y="356343"/>
                  </a:lnTo>
                  <a:lnTo>
                    <a:pt x="2613662" y="356343"/>
                  </a:lnTo>
                  <a:lnTo>
                    <a:pt x="2613662" y="295192"/>
                  </a:lnTo>
                  <a:close/>
                </a:path>
                <a:path w="2613659" h="2822575">
                  <a:moveTo>
                    <a:pt x="2613662" y="187923"/>
                  </a:moveTo>
                  <a:lnTo>
                    <a:pt x="2599021" y="187923"/>
                  </a:lnTo>
                  <a:lnTo>
                    <a:pt x="2599021" y="249074"/>
                  </a:lnTo>
                  <a:lnTo>
                    <a:pt x="2613662" y="249074"/>
                  </a:lnTo>
                  <a:lnTo>
                    <a:pt x="2613662" y="187923"/>
                  </a:lnTo>
                  <a:close/>
                </a:path>
                <a:path w="2613659" h="2822575">
                  <a:moveTo>
                    <a:pt x="2613662" y="83295"/>
                  </a:moveTo>
                  <a:lnTo>
                    <a:pt x="2599021" y="83295"/>
                  </a:lnTo>
                  <a:lnTo>
                    <a:pt x="2599021" y="143837"/>
                  </a:lnTo>
                  <a:lnTo>
                    <a:pt x="2613662" y="143837"/>
                  </a:lnTo>
                  <a:lnTo>
                    <a:pt x="2613662" y="832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58621" y="1698501"/>
              <a:ext cx="2518410" cy="0"/>
            </a:xfrm>
            <a:custGeom>
              <a:avLst/>
              <a:gdLst/>
              <a:ahLst/>
              <a:cxnLst/>
              <a:rect l="l" t="t" r="r" b="b"/>
              <a:pathLst>
                <a:path w="2518409">
                  <a:moveTo>
                    <a:pt x="0" y="0"/>
                  </a:moveTo>
                  <a:lnTo>
                    <a:pt x="2518110" y="0"/>
                  </a:lnTo>
                </a:path>
              </a:pathLst>
            </a:custGeom>
            <a:ln w="1747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869375" y="1691187"/>
              <a:ext cx="44450" cy="29209"/>
            </a:xfrm>
            <a:custGeom>
              <a:avLst/>
              <a:gdLst/>
              <a:ahLst/>
              <a:cxnLst/>
              <a:rect l="l" t="t" r="r" b="b"/>
              <a:pathLst>
                <a:path w="44450" h="29210">
                  <a:moveTo>
                    <a:pt x="43821" y="14627"/>
                  </a:moveTo>
                  <a:lnTo>
                    <a:pt x="7556" y="14627"/>
                  </a:lnTo>
                  <a:lnTo>
                    <a:pt x="14607" y="7516"/>
                  </a:lnTo>
                  <a:lnTo>
                    <a:pt x="14607" y="29051"/>
                  </a:lnTo>
                  <a:lnTo>
                    <a:pt x="0" y="29051"/>
                  </a:lnTo>
                  <a:lnTo>
                    <a:pt x="0" y="0"/>
                  </a:lnTo>
                  <a:lnTo>
                    <a:pt x="43821" y="0"/>
                  </a:lnTo>
                  <a:lnTo>
                    <a:pt x="43821" y="1462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876679" y="1765543"/>
              <a:ext cx="0" cy="2734945"/>
            </a:xfrm>
            <a:custGeom>
              <a:avLst/>
              <a:gdLst/>
              <a:ahLst/>
              <a:cxnLst/>
              <a:rect l="l" t="t" r="r" b="b"/>
              <a:pathLst>
                <a:path h="2734945">
                  <a:moveTo>
                    <a:pt x="0" y="0"/>
                  </a:moveTo>
                  <a:lnTo>
                    <a:pt x="0" y="2734522"/>
                  </a:lnTo>
                </a:path>
              </a:pathLst>
            </a:custGeom>
            <a:ln w="17454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14292" y="4505905"/>
              <a:ext cx="2519045" cy="0"/>
            </a:xfrm>
            <a:custGeom>
              <a:avLst/>
              <a:gdLst/>
              <a:ahLst/>
              <a:cxnLst/>
              <a:rect l="l" t="t" r="r" b="b"/>
              <a:pathLst>
                <a:path w="2519045">
                  <a:moveTo>
                    <a:pt x="0" y="0"/>
                  </a:moveTo>
                  <a:lnTo>
                    <a:pt x="2518722" y="0"/>
                  </a:lnTo>
                </a:path>
              </a:pathLst>
            </a:custGeom>
            <a:ln w="17370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475717" y="1697281"/>
              <a:ext cx="0" cy="2807335"/>
            </a:xfrm>
            <a:custGeom>
              <a:avLst/>
              <a:gdLst/>
              <a:ahLst/>
              <a:cxnLst/>
              <a:rect l="l" t="t" r="r" b="b"/>
              <a:pathLst>
                <a:path h="2807335">
                  <a:moveTo>
                    <a:pt x="0" y="0"/>
                  </a:moveTo>
                  <a:lnTo>
                    <a:pt x="0" y="2807294"/>
                  </a:lnTo>
                </a:path>
              </a:pathLst>
            </a:custGeom>
            <a:ln w="17487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810133" y="4154888"/>
            <a:ext cx="713740" cy="246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solidFill>
                  <a:srgbClr val="FF0000"/>
                </a:solidFill>
                <a:latin typeface="宋体"/>
                <a:cs typeface="宋体"/>
              </a:rPr>
              <a:t>B</a:t>
            </a:r>
            <a:r>
              <a:rPr sz="1450" spc="-120" dirty="0">
                <a:solidFill>
                  <a:srgbClr val="FF0000"/>
                </a:solidFill>
                <a:latin typeface="宋体"/>
                <a:cs typeface="宋体"/>
              </a:rPr>
              <a:t> 目标机</a:t>
            </a:r>
            <a:endParaRPr sz="1450">
              <a:latin typeface="宋体"/>
              <a:cs typeface="宋体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112551" y="2790488"/>
            <a:ext cx="3463290" cy="1268095"/>
            <a:chOff x="7112551" y="2790488"/>
            <a:chExt cx="3463290" cy="1268095"/>
          </a:xfrm>
        </p:grpSpPr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12551" y="3823559"/>
              <a:ext cx="83429" cy="23440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0491215" y="3114327"/>
              <a:ext cx="83185" cy="293370"/>
            </a:xfrm>
            <a:custGeom>
              <a:avLst/>
              <a:gdLst/>
              <a:ahLst/>
              <a:cxnLst/>
              <a:rect l="l" t="t" r="r" b="b"/>
              <a:pathLst>
                <a:path w="83184" h="293370">
                  <a:moveTo>
                    <a:pt x="41684" y="80654"/>
                  </a:moveTo>
                  <a:lnTo>
                    <a:pt x="29471" y="93559"/>
                  </a:lnTo>
                  <a:lnTo>
                    <a:pt x="36506" y="280585"/>
                  </a:lnTo>
                  <a:lnTo>
                    <a:pt x="36601" y="285603"/>
                  </a:lnTo>
                  <a:lnTo>
                    <a:pt x="39244" y="290621"/>
                  </a:lnTo>
                  <a:lnTo>
                    <a:pt x="41684" y="290621"/>
                  </a:lnTo>
                  <a:lnTo>
                    <a:pt x="46158" y="293120"/>
                  </a:lnTo>
                  <a:lnTo>
                    <a:pt x="51241" y="290621"/>
                  </a:lnTo>
                  <a:lnTo>
                    <a:pt x="53884" y="288101"/>
                  </a:lnTo>
                  <a:lnTo>
                    <a:pt x="56324" y="285603"/>
                  </a:lnTo>
                  <a:lnTo>
                    <a:pt x="56324" y="280585"/>
                  </a:lnTo>
                  <a:lnTo>
                    <a:pt x="51569" y="93559"/>
                  </a:lnTo>
                  <a:lnTo>
                    <a:pt x="51492" y="90526"/>
                  </a:lnTo>
                  <a:lnTo>
                    <a:pt x="41684" y="80654"/>
                  </a:lnTo>
                  <a:close/>
                </a:path>
                <a:path w="83184" h="293370">
                  <a:moveTo>
                    <a:pt x="39244" y="0"/>
                  </a:moveTo>
                  <a:lnTo>
                    <a:pt x="0" y="124699"/>
                  </a:lnTo>
                  <a:lnTo>
                    <a:pt x="29471" y="93559"/>
                  </a:lnTo>
                  <a:lnTo>
                    <a:pt x="29077" y="83092"/>
                  </a:lnTo>
                  <a:lnTo>
                    <a:pt x="31720" y="78013"/>
                  </a:lnTo>
                  <a:lnTo>
                    <a:pt x="31720" y="75575"/>
                  </a:lnTo>
                  <a:lnTo>
                    <a:pt x="36601" y="73137"/>
                  </a:lnTo>
                  <a:lnTo>
                    <a:pt x="39244" y="71106"/>
                  </a:lnTo>
                  <a:lnTo>
                    <a:pt x="64683" y="71106"/>
                  </a:lnTo>
                  <a:lnTo>
                    <a:pt x="39244" y="0"/>
                  </a:lnTo>
                  <a:close/>
                </a:path>
                <a:path w="83184" h="293370">
                  <a:moveTo>
                    <a:pt x="64683" y="71106"/>
                  </a:moveTo>
                  <a:lnTo>
                    <a:pt x="39244" y="71106"/>
                  </a:lnTo>
                  <a:lnTo>
                    <a:pt x="43717" y="73137"/>
                  </a:lnTo>
                  <a:lnTo>
                    <a:pt x="46158" y="73137"/>
                  </a:lnTo>
                  <a:lnTo>
                    <a:pt x="48801" y="78013"/>
                  </a:lnTo>
                  <a:lnTo>
                    <a:pt x="51241" y="80654"/>
                  </a:lnTo>
                  <a:lnTo>
                    <a:pt x="51492" y="90526"/>
                  </a:lnTo>
                  <a:lnTo>
                    <a:pt x="82962" y="122201"/>
                  </a:lnTo>
                  <a:lnTo>
                    <a:pt x="64683" y="71106"/>
                  </a:lnTo>
                  <a:close/>
                </a:path>
                <a:path w="83184" h="293370">
                  <a:moveTo>
                    <a:pt x="39244" y="71106"/>
                  </a:moveTo>
                  <a:lnTo>
                    <a:pt x="36601" y="73137"/>
                  </a:lnTo>
                  <a:lnTo>
                    <a:pt x="31720" y="75575"/>
                  </a:lnTo>
                  <a:lnTo>
                    <a:pt x="31720" y="78013"/>
                  </a:lnTo>
                  <a:lnTo>
                    <a:pt x="29077" y="83092"/>
                  </a:lnTo>
                  <a:lnTo>
                    <a:pt x="29357" y="90526"/>
                  </a:lnTo>
                  <a:lnTo>
                    <a:pt x="29471" y="93559"/>
                  </a:lnTo>
                  <a:lnTo>
                    <a:pt x="41684" y="80654"/>
                  </a:lnTo>
                  <a:lnTo>
                    <a:pt x="51241" y="80654"/>
                  </a:lnTo>
                  <a:lnTo>
                    <a:pt x="48801" y="78013"/>
                  </a:lnTo>
                  <a:lnTo>
                    <a:pt x="46158" y="73137"/>
                  </a:lnTo>
                  <a:lnTo>
                    <a:pt x="43717" y="73137"/>
                  </a:lnTo>
                  <a:lnTo>
                    <a:pt x="39244" y="71106"/>
                  </a:lnTo>
                  <a:close/>
                </a:path>
                <a:path w="83184" h="293370">
                  <a:moveTo>
                    <a:pt x="51241" y="80654"/>
                  </a:moveTo>
                  <a:lnTo>
                    <a:pt x="41684" y="80654"/>
                  </a:lnTo>
                  <a:lnTo>
                    <a:pt x="51492" y="90526"/>
                  </a:lnTo>
                  <a:lnTo>
                    <a:pt x="51303" y="83092"/>
                  </a:lnTo>
                  <a:lnTo>
                    <a:pt x="51241" y="80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89793" y="3112904"/>
              <a:ext cx="85808" cy="295966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154764" y="4044009"/>
              <a:ext cx="3370579" cy="0"/>
            </a:xfrm>
            <a:custGeom>
              <a:avLst/>
              <a:gdLst/>
              <a:ahLst/>
              <a:cxnLst/>
              <a:rect l="l" t="t" r="r" b="b"/>
              <a:pathLst>
                <a:path w="3370579">
                  <a:moveTo>
                    <a:pt x="0" y="0"/>
                  </a:moveTo>
                  <a:lnTo>
                    <a:pt x="3370206" y="0"/>
                  </a:lnTo>
                </a:path>
              </a:pathLst>
            </a:custGeom>
            <a:ln w="1459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304708" y="2791911"/>
              <a:ext cx="1117600" cy="83820"/>
            </a:xfrm>
            <a:custGeom>
              <a:avLst/>
              <a:gdLst/>
              <a:ahLst/>
              <a:cxnLst/>
              <a:rect l="l" t="t" r="r" b="b"/>
              <a:pathLst>
                <a:path w="1117600" h="83819">
                  <a:moveTo>
                    <a:pt x="122410" y="0"/>
                  </a:moveTo>
                  <a:lnTo>
                    <a:pt x="0" y="41647"/>
                  </a:lnTo>
                  <a:lnTo>
                    <a:pt x="122410" y="83295"/>
                  </a:lnTo>
                  <a:lnTo>
                    <a:pt x="92391" y="51602"/>
                  </a:lnTo>
                  <a:lnTo>
                    <a:pt x="78082" y="51602"/>
                  </a:lnTo>
                  <a:lnTo>
                    <a:pt x="75438" y="49164"/>
                  </a:lnTo>
                  <a:lnTo>
                    <a:pt x="73405" y="46726"/>
                  </a:lnTo>
                  <a:lnTo>
                    <a:pt x="70965" y="41647"/>
                  </a:lnTo>
                  <a:lnTo>
                    <a:pt x="73405" y="39209"/>
                  </a:lnTo>
                  <a:lnTo>
                    <a:pt x="75438" y="34537"/>
                  </a:lnTo>
                  <a:lnTo>
                    <a:pt x="78082" y="32099"/>
                  </a:lnTo>
                  <a:lnTo>
                    <a:pt x="92006" y="32099"/>
                  </a:lnTo>
                  <a:lnTo>
                    <a:pt x="122410" y="0"/>
                  </a:lnTo>
                  <a:close/>
                </a:path>
                <a:path w="1117600" h="83819">
                  <a:moveTo>
                    <a:pt x="92006" y="32099"/>
                  </a:moveTo>
                  <a:lnTo>
                    <a:pt x="78082" y="32099"/>
                  </a:lnTo>
                  <a:lnTo>
                    <a:pt x="75438" y="34537"/>
                  </a:lnTo>
                  <a:lnTo>
                    <a:pt x="73405" y="39209"/>
                  </a:lnTo>
                  <a:lnTo>
                    <a:pt x="70965" y="41647"/>
                  </a:lnTo>
                  <a:lnTo>
                    <a:pt x="73405" y="46726"/>
                  </a:lnTo>
                  <a:lnTo>
                    <a:pt x="75438" y="49164"/>
                  </a:lnTo>
                  <a:lnTo>
                    <a:pt x="78082" y="51602"/>
                  </a:lnTo>
                  <a:lnTo>
                    <a:pt x="92391" y="51602"/>
                  </a:lnTo>
                  <a:lnTo>
                    <a:pt x="82962" y="41647"/>
                  </a:lnTo>
                  <a:lnTo>
                    <a:pt x="92006" y="32099"/>
                  </a:lnTo>
                  <a:close/>
                </a:path>
                <a:path w="1117600" h="83819">
                  <a:moveTo>
                    <a:pt x="1110639" y="32099"/>
                  </a:moveTo>
                  <a:lnTo>
                    <a:pt x="92006" y="32099"/>
                  </a:lnTo>
                  <a:lnTo>
                    <a:pt x="82962" y="41647"/>
                  </a:lnTo>
                  <a:lnTo>
                    <a:pt x="92391" y="51602"/>
                  </a:lnTo>
                  <a:lnTo>
                    <a:pt x="1110639" y="51602"/>
                  </a:lnTo>
                  <a:lnTo>
                    <a:pt x="1115112" y="49164"/>
                  </a:lnTo>
                  <a:lnTo>
                    <a:pt x="1115112" y="46726"/>
                  </a:lnTo>
                  <a:lnTo>
                    <a:pt x="1117552" y="41647"/>
                  </a:lnTo>
                  <a:lnTo>
                    <a:pt x="1115112" y="39210"/>
                  </a:lnTo>
                  <a:lnTo>
                    <a:pt x="1115112" y="34537"/>
                  </a:lnTo>
                  <a:lnTo>
                    <a:pt x="1110639" y="3209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304708" y="2791911"/>
              <a:ext cx="1117600" cy="83820"/>
            </a:xfrm>
            <a:custGeom>
              <a:avLst/>
              <a:gdLst/>
              <a:ahLst/>
              <a:cxnLst/>
              <a:rect l="l" t="t" r="r" b="b"/>
              <a:pathLst>
                <a:path w="1117600" h="83819">
                  <a:moveTo>
                    <a:pt x="1107995" y="51602"/>
                  </a:moveTo>
                  <a:lnTo>
                    <a:pt x="82962" y="51602"/>
                  </a:lnTo>
                  <a:lnTo>
                    <a:pt x="78082" y="51602"/>
                  </a:lnTo>
                  <a:lnTo>
                    <a:pt x="75438" y="49164"/>
                  </a:lnTo>
                  <a:lnTo>
                    <a:pt x="73405" y="46726"/>
                  </a:lnTo>
                  <a:lnTo>
                    <a:pt x="70965" y="41647"/>
                  </a:lnTo>
                  <a:lnTo>
                    <a:pt x="73405" y="39209"/>
                  </a:lnTo>
                  <a:lnTo>
                    <a:pt x="75438" y="34537"/>
                  </a:lnTo>
                  <a:lnTo>
                    <a:pt x="78082" y="32099"/>
                  </a:lnTo>
                  <a:lnTo>
                    <a:pt x="82962" y="32099"/>
                  </a:lnTo>
                  <a:lnTo>
                    <a:pt x="1107995" y="32099"/>
                  </a:lnTo>
                  <a:lnTo>
                    <a:pt x="1110639" y="32099"/>
                  </a:lnTo>
                  <a:lnTo>
                    <a:pt x="1115112" y="34537"/>
                  </a:lnTo>
                  <a:lnTo>
                    <a:pt x="1115112" y="39210"/>
                  </a:lnTo>
                  <a:lnTo>
                    <a:pt x="1117552" y="41647"/>
                  </a:lnTo>
                  <a:lnTo>
                    <a:pt x="1115112" y="46726"/>
                  </a:lnTo>
                  <a:lnTo>
                    <a:pt x="1115112" y="49164"/>
                  </a:lnTo>
                  <a:lnTo>
                    <a:pt x="1110639" y="51602"/>
                  </a:lnTo>
                  <a:lnTo>
                    <a:pt x="1107995" y="51602"/>
                  </a:lnTo>
                  <a:close/>
                </a:path>
                <a:path w="1117600" h="83819">
                  <a:moveTo>
                    <a:pt x="82962" y="41647"/>
                  </a:moveTo>
                  <a:lnTo>
                    <a:pt x="122410" y="83295"/>
                  </a:lnTo>
                  <a:lnTo>
                    <a:pt x="0" y="41647"/>
                  </a:lnTo>
                  <a:lnTo>
                    <a:pt x="122410" y="0"/>
                  </a:lnTo>
                  <a:lnTo>
                    <a:pt x="82962" y="4164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8274811" y="5390794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0000"/>
                </a:solidFill>
                <a:latin typeface="宋体"/>
                <a:cs typeface="宋体"/>
              </a:rPr>
              <a:t>仿真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2455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1.4.3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10" dirty="0"/>
              <a:t>器件发展对系统结构的</a:t>
            </a:r>
            <a:r>
              <a:rPr spc="-20" dirty="0"/>
              <a:t>影</a:t>
            </a:r>
            <a:r>
              <a:rPr spc="-50" dirty="0"/>
              <a:t>响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9540" y="1148613"/>
            <a:ext cx="10010140" cy="4764405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764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1</a:t>
            </a:r>
            <a:r>
              <a:rPr sz="2800" spc="-40" dirty="0">
                <a:latin typeface="微软雅黑"/>
                <a:cs typeface="微软雅黑"/>
              </a:rPr>
              <a:t>、推动计算机系统结构不断发展的最活跃的因素</a:t>
            </a:r>
            <a:endParaRPr sz="28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167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sz="2800" spc="-40" dirty="0">
                <a:solidFill>
                  <a:srgbClr val="FF0000"/>
                </a:solidFill>
                <a:latin typeface="微软雅黑"/>
                <a:cs typeface="微软雅黑"/>
              </a:rPr>
              <a:t>、摩尔定律</a:t>
            </a:r>
            <a:endParaRPr sz="2800">
              <a:latin typeface="微软雅黑"/>
              <a:cs typeface="微软雅黑"/>
            </a:endParaRPr>
          </a:p>
          <a:p>
            <a:pPr marL="1099185">
              <a:lnSpc>
                <a:spcPct val="100000"/>
              </a:lnSpc>
              <a:spcBef>
                <a:spcPts val="1145"/>
              </a:spcBef>
            </a:pPr>
            <a:r>
              <a:rPr sz="2400" dirty="0">
                <a:latin typeface="微软雅黑"/>
                <a:cs typeface="微软雅黑"/>
              </a:rPr>
              <a:t>集成电路芯片上所集成的晶体管数目每隔</a:t>
            </a:r>
            <a:r>
              <a:rPr sz="2400" dirty="0">
                <a:solidFill>
                  <a:srgbClr val="9933FF"/>
                </a:solidFill>
                <a:latin typeface="黑体"/>
                <a:cs typeface="黑体"/>
              </a:rPr>
              <a:t>18</a:t>
            </a:r>
            <a:r>
              <a:rPr sz="2400" spc="-10" dirty="0">
                <a:latin typeface="微软雅黑"/>
                <a:cs typeface="微软雅黑"/>
              </a:rPr>
              <a:t>个月就翻一番。</a:t>
            </a:r>
            <a:endParaRPr sz="24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160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3</a:t>
            </a:r>
            <a:r>
              <a:rPr sz="2800" spc="-40" dirty="0">
                <a:latin typeface="微软雅黑"/>
                <a:cs typeface="微软雅黑"/>
              </a:rPr>
              <a:t>、计算机的分代主要以器件作为划分标准。</a:t>
            </a:r>
            <a:endParaRPr sz="28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14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10" dirty="0">
                <a:latin typeface="微软雅黑"/>
                <a:cs typeface="微软雅黑"/>
              </a:rPr>
              <a:t>内存每隔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微软雅黑"/>
                <a:cs typeface="微软雅黑"/>
              </a:rPr>
              <a:t>年容量翻一番，价格降低</a:t>
            </a:r>
            <a:r>
              <a:rPr sz="2400" spc="-10" dirty="0">
                <a:latin typeface="Times New Roman"/>
                <a:cs typeface="Times New Roman"/>
              </a:rPr>
              <a:t>1</a:t>
            </a:r>
            <a:r>
              <a:rPr sz="2400" spc="-15" dirty="0">
                <a:latin typeface="微软雅黑"/>
                <a:cs typeface="微软雅黑"/>
              </a:rPr>
              <a:t>倍等，</a:t>
            </a:r>
            <a:r>
              <a:rPr sz="2400" spc="-20" dirty="0">
                <a:latin typeface="Times New Roman"/>
                <a:cs typeface="Times New Roman"/>
              </a:rPr>
              <a:t>CPU</a:t>
            </a:r>
            <a:r>
              <a:rPr sz="2400" spc="-10" dirty="0">
                <a:latin typeface="微软雅黑"/>
                <a:cs typeface="微软雅黑"/>
              </a:rPr>
              <a:t>性能每隔</a:t>
            </a:r>
            <a:r>
              <a:rPr sz="2400" spc="-10" dirty="0">
                <a:latin typeface="Times New Roman"/>
                <a:cs typeface="Times New Roman"/>
              </a:rPr>
              <a:t>1.5</a:t>
            </a:r>
            <a:r>
              <a:rPr sz="2400" spc="-25" dirty="0">
                <a:latin typeface="微软雅黑"/>
                <a:cs typeface="微软雅黑"/>
              </a:rPr>
              <a:t>年翻一</a:t>
            </a:r>
            <a:endParaRPr sz="2400">
              <a:latin typeface="微软雅黑"/>
              <a:cs typeface="微软雅黑"/>
            </a:endParaRPr>
          </a:p>
          <a:p>
            <a:pPr marL="1099185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微软雅黑"/>
                <a:cs typeface="微软雅黑"/>
              </a:rPr>
              <a:t>番（数据资料，从</a:t>
            </a:r>
            <a:r>
              <a:rPr sz="2400" dirty="0">
                <a:latin typeface="Times New Roman"/>
                <a:cs typeface="Times New Roman"/>
              </a:rPr>
              <a:t>1986</a:t>
            </a:r>
            <a:r>
              <a:rPr sz="2400" dirty="0">
                <a:latin typeface="微软雅黑"/>
                <a:cs typeface="微软雅黑"/>
              </a:rPr>
              <a:t>年起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08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5" dirty="0">
                <a:latin typeface="微软雅黑"/>
                <a:cs typeface="微软雅黑"/>
              </a:rPr>
              <a:t>它们在器件、系统结构和软件技术等方面都有各自的特征。</a:t>
            </a:r>
            <a:endParaRPr sz="2400">
              <a:latin typeface="微软雅黑"/>
              <a:cs typeface="微软雅黑"/>
            </a:endParaRPr>
          </a:p>
          <a:p>
            <a:pPr marL="1155065" lvl="2" indent="-228600">
              <a:lnSpc>
                <a:spcPct val="100000"/>
              </a:lnSpc>
              <a:spcBef>
                <a:spcPts val="1035"/>
              </a:spcBef>
              <a:buClr>
                <a:srgbClr val="538235"/>
              </a:buClr>
              <a:buFont typeface="Arial"/>
              <a:buChar char="•"/>
              <a:tabLst>
                <a:tab pos="1155065" algn="l"/>
              </a:tabLst>
            </a:pP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SMP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sz="2000" spc="-20" dirty="0">
                <a:latin typeface="微软雅黑"/>
                <a:cs typeface="微软雅黑"/>
              </a:rPr>
              <a:t>对称式共享存储器多处理机</a:t>
            </a:r>
            <a:endParaRPr sz="2000">
              <a:latin typeface="微软雅黑"/>
              <a:cs typeface="微软雅黑"/>
            </a:endParaRPr>
          </a:p>
          <a:p>
            <a:pPr marL="1243965">
              <a:lnSpc>
                <a:spcPct val="100000"/>
              </a:lnSpc>
              <a:spcBef>
                <a:spcPts val="985"/>
              </a:spcBef>
              <a:tabLst>
                <a:tab pos="4610735" algn="l"/>
              </a:tabLst>
            </a:pP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MPP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sz="2000" dirty="0">
                <a:latin typeface="微软雅黑"/>
                <a:cs typeface="微软雅黑"/>
              </a:rPr>
              <a:t>大规模并行处理</a:t>
            </a:r>
            <a:r>
              <a:rPr sz="2000" spc="-50" dirty="0">
                <a:latin typeface="微软雅黑"/>
                <a:cs typeface="微软雅黑"/>
              </a:rPr>
              <a:t>机</a:t>
            </a:r>
            <a:r>
              <a:rPr sz="2000" dirty="0">
                <a:latin typeface="微软雅黑"/>
                <a:cs typeface="微软雅黑"/>
              </a:rPr>
              <a:t>	</a:t>
            </a:r>
            <a:r>
              <a:rPr sz="2000" spc="-10" dirty="0">
                <a:solidFill>
                  <a:srgbClr val="FF0000"/>
                </a:solidFill>
                <a:latin typeface="Times New Roman"/>
                <a:cs typeface="Times New Roman"/>
              </a:rPr>
              <a:t>MP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sz="2000" dirty="0">
                <a:latin typeface="微软雅黑"/>
                <a:cs typeface="微软雅黑"/>
              </a:rPr>
              <a:t>多处理</a:t>
            </a:r>
            <a:r>
              <a:rPr sz="2000" spc="-50" dirty="0">
                <a:latin typeface="微软雅黑"/>
                <a:cs typeface="微软雅黑"/>
              </a:rPr>
              <a:t>机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2455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1.4.3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-10" dirty="0"/>
              <a:t>器件发展对系统结构的</a:t>
            </a:r>
            <a:r>
              <a:rPr spc="-20" dirty="0"/>
              <a:t>影</a:t>
            </a:r>
            <a:r>
              <a:rPr spc="-50" dirty="0"/>
              <a:t>响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92112" y="886142"/>
          <a:ext cx="10412730" cy="5546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9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2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1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1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0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25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分代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2636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15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器件特征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34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15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结构特征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15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软件特征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3405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800" spc="-15" dirty="0">
                          <a:solidFill>
                            <a:srgbClr val="E14B04"/>
                          </a:solidFill>
                          <a:latin typeface="黑体"/>
                          <a:cs typeface="黑体"/>
                        </a:rPr>
                        <a:t>典型实例</a:t>
                      </a:r>
                      <a:endParaRPr sz="1800">
                        <a:latin typeface="黑体"/>
                        <a:cs typeface="黑体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4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sz="1600" b="1" spc="-40" dirty="0">
                          <a:latin typeface="宋体"/>
                          <a:cs typeface="宋体"/>
                        </a:rPr>
                        <a:t>第一代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R="35496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600" b="1" spc="-10" dirty="0">
                          <a:latin typeface="宋体"/>
                          <a:cs typeface="宋体"/>
                        </a:rPr>
                        <a:t>（1945—1954</a:t>
                      </a:r>
                      <a:r>
                        <a:rPr sz="1600" b="1" spc="-30" dirty="0">
                          <a:latin typeface="宋体"/>
                          <a:cs typeface="宋体"/>
                        </a:rPr>
                        <a:t>年</a:t>
                      </a:r>
                      <a:r>
                        <a:rPr sz="1600" b="1" spc="-50" dirty="0">
                          <a:latin typeface="宋体"/>
                          <a:cs typeface="宋体"/>
                        </a:rPr>
                        <a:t>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1462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电子管和继电器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1600" b="1" spc="-25" dirty="0">
                          <a:latin typeface="宋体"/>
                          <a:cs typeface="宋体"/>
                        </a:rPr>
                        <a:t>存储程序计算机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spc="-30" dirty="0">
                          <a:latin typeface="宋体"/>
                          <a:cs typeface="宋体"/>
                        </a:rPr>
                        <a:t>程序控制</a:t>
                      </a:r>
                      <a:r>
                        <a:rPr sz="1600" b="1" spc="-25" dirty="0">
                          <a:latin typeface="宋体"/>
                          <a:cs typeface="宋体"/>
                        </a:rPr>
                        <a:t>I/O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1665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1600" b="1" spc="-20" dirty="0">
                          <a:latin typeface="宋体"/>
                          <a:cs typeface="宋体"/>
                        </a:rPr>
                        <a:t>机器语言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62166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汇编语言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4490">
                        <a:lnSpc>
                          <a:spcPct val="100000"/>
                        </a:lnSpc>
                        <a:spcBef>
                          <a:spcPts val="1405"/>
                        </a:spcBef>
                      </a:pPr>
                      <a:r>
                        <a:rPr sz="1600" b="1" spc="-20" dirty="0">
                          <a:latin typeface="宋体"/>
                          <a:cs typeface="宋体"/>
                        </a:rPr>
                        <a:t>普林斯顿ISA，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30797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ENIAC，IBM</a:t>
                      </a:r>
                      <a:r>
                        <a:rPr sz="1600" b="1" spc="-4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25" dirty="0">
                          <a:latin typeface="宋体"/>
                          <a:cs typeface="宋体"/>
                        </a:rPr>
                        <a:t>701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78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093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89"/>
                        </a:spcBef>
                      </a:pPr>
                      <a:r>
                        <a:rPr sz="1600" b="1" spc="-40" dirty="0">
                          <a:latin typeface="宋体"/>
                          <a:cs typeface="宋体"/>
                        </a:rPr>
                        <a:t>第二代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spc="-10" dirty="0">
                          <a:latin typeface="宋体"/>
                          <a:cs typeface="宋体"/>
                        </a:rPr>
                        <a:t>（1955—1964</a:t>
                      </a:r>
                      <a:r>
                        <a:rPr sz="1600" b="1" spc="-30" dirty="0">
                          <a:latin typeface="宋体"/>
                          <a:cs typeface="宋体"/>
                        </a:rPr>
                        <a:t>年</a:t>
                      </a:r>
                      <a:r>
                        <a:rPr sz="1600" b="1" spc="-50" dirty="0">
                          <a:latin typeface="宋体"/>
                          <a:cs typeface="宋体"/>
                        </a:rPr>
                        <a:t>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14629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165" marR="346710" indent="-204470">
                        <a:lnSpc>
                          <a:spcPct val="140000"/>
                        </a:lnSpc>
                        <a:spcBef>
                          <a:spcPts val="640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晶体管、磁芯</a:t>
                      </a:r>
                      <a:r>
                        <a:rPr sz="1600" b="1" spc="-40" dirty="0">
                          <a:latin typeface="宋体"/>
                          <a:cs typeface="宋体"/>
                        </a:rPr>
                        <a:t>印刷电路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830" marR="411480" algn="ctr">
                        <a:lnSpc>
                          <a:spcPct val="130000"/>
                        </a:lnSpc>
                        <a:spcBef>
                          <a:spcPts val="265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浮点数据表示寻址技术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600" b="1" spc="-30" dirty="0">
                          <a:latin typeface="宋体"/>
                          <a:cs typeface="宋体"/>
                        </a:rPr>
                        <a:t>中断、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I/O</a:t>
                      </a:r>
                      <a:r>
                        <a:rPr sz="1600" b="1" spc="-40" dirty="0">
                          <a:latin typeface="宋体"/>
                          <a:cs typeface="宋体"/>
                        </a:rPr>
                        <a:t>处理机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 marR="306070">
                        <a:lnSpc>
                          <a:spcPct val="140000"/>
                        </a:lnSpc>
                        <a:spcBef>
                          <a:spcPts val="640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高级语言和编译批处理监控系统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045" marR="353695" algn="ctr">
                        <a:lnSpc>
                          <a:spcPct val="140000"/>
                        </a:lnSpc>
                        <a:spcBef>
                          <a:spcPts val="215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Univac</a:t>
                      </a:r>
                      <a:r>
                        <a:rPr sz="1600" b="1" spc="-2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20" dirty="0">
                          <a:latin typeface="宋体"/>
                          <a:cs typeface="宋体"/>
                        </a:rPr>
                        <a:t>LAPC， 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CDC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 1604， 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IBM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20" dirty="0">
                          <a:latin typeface="宋体"/>
                          <a:cs typeface="宋体"/>
                        </a:rPr>
                        <a:t>7030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093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600" b="1" spc="-40" dirty="0">
                          <a:latin typeface="宋体"/>
                          <a:cs typeface="宋体"/>
                        </a:rPr>
                        <a:t>第三代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600" b="1" spc="-10" dirty="0">
                          <a:latin typeface="宋体"/>
                          <a:cs typeface="宋体"/>
                        </a:rPr>
                        <a:t>（1965—1974</a:t>
                      </a:r>
                      <a:r>
                        <a:rPr sz="1600" b="1" spc="-20" dirty="0">
                          <a:latin typeface="宋体"/>
                          <a:cs typeface="宋体"/>
                        </a:rPr>
                        <a:t>年</a:t>
                      </a:r>
                      <a:r>
                        <a:rPr sz="1600" b="1" spc="-50" dirty="0">
                          <a:latin typeface="宋体"/>
                          <a:cs typeface="宋体"/>
                        </a:rPr>
                        <a:t>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152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SSI</a:t>
                      </a:r>
                      <a:r>
                        <a:rPr sz="1600" b="1" spc="-30" dirty="0">
                          <a:latin typeface="宋体"/>
                          <a:cs typeface="宋体"/>
                        </a:rPr>
                        <a:t>和</a:t>
                      </a:r>
                      <a:r>
                        <a:rPr sz="1600" b="1" spc="-25" dirty="0">
                          <a:latin typeface="宋体"/>
                          <a:cs typeface="宋体"/>
                        </a:rPr>
                        <a:t>MSI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353695" marR="346710" algn="ctr">
                        <a:lnSpc>
                          <a:spcPct val="140000"/>
                        </a:lnSpc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多层印刷电路</a:t>
                      </a:r>
                      <a:r>
                        <a:rPr sz="1600" b="1" spc="-40" dirty="0">
                          <a:latin typeface="宋体"/>
                          <a:cs typeface="宋体"/>
                        </a:rPr>
                        <a:t>微程序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0" marR="357505" indent="-259079">
                        <a:lnSpc>
                          <a:spcPct val="140000"/>
                        </a:lnSpc>
                        <a:spcBef>
                          <a:spcPts val="215"/>
                        </a:spcBef>
                      </a:pPr>
                      <a:r>
                        <a:rPr sz="1600" b="1" spc="-30" dirty="0">
                          <a:latin typeface="宋体"/>
                          <a:cs typeface="宋体"/>
                        </a:rPr>
                        <a:t>流水线、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Cache</a:t>
                      </a:r>
                      <a:r>
                        <a:rPr sz="1600" b="1" spc="-35" dirty="0">
                          <a:latin typeface="宋体"/>
                          <a:cs typeface="宋体"/>
                        </a:rPr>
                        <a:t>先行处理</a:t>
                      </a:r>
                      <a:r>
                        <a:rPr sz="1600" b="1" spc="50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40" dirty="0">
                          <a:latin typeface="宋体"/>
                          <a:cs typeface="宋体"/>
                        </a:rPr>
                        <a:t>系列机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195" marR="410209" indent="203835">
                        <a:lnSpc>
                          <a:spcPct val="140000"/>
                        </a:lnSpc>
                        <a:spcBef>
                          <a:spcPts val="640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多道程序</a:t>
                      </a:r>
                      <a:r>
                        <a:rPr sz="1600" b="1" spc="-5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35" dirty="0">
                          <a:latin typeface="宋体"/>
                          <a:cs typeface="宋体"/>
                        </a:rPr>
                        <a:t>分时操作系统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812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5904" marR="248285" algn="ctr">
                        <a:lnSpc>
                          <a:spcPct val="140000"/>
                        </a:lnSpc>
                        <a:spcBef>
                          <a:spcPts val="215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IBM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 360/370， 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CDC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 6600/7600， 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DEC</a:t>
                      </a:r>
                      <a:r>
                        <a:rPr sz="1600" b="1" spc="-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PDP-</a:t>
                      </a:r>
                      <a:r>
                        <a:rPr sz="1600" b="1" spc="-50" dirty="0">
                          <a:latin typeface="宋体"/>
                          <a:cs typeface="宋体"/>
                        </a:rPr>
                        <a:t>8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37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第四代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spc="-10" dirty="0">
                          <a:latin typeface="宋体"/>
                          <a:cs typeface="宋体"/>
                        </a:rPr>
                        <a:t>（1975—1990</a:t>
                      </a:r>
                      <a:r>
                        <a:rPr sz="1600" b="1" spc="-30" dirty="0">
                          <a:latin typeface="宋体"/>
                          <a:cs typeface="宋体"/>
                        </a:rPr>
                        <a:t>年</a:t>
                      </a:r>
                      <a:r>
                        <a:rPr sz="1600" b="1" spc="-50" dirty="0">
                          <a:latin typeface="宋体"/>
                          <a:cs typeface="宋体"/>
                        </a:rPr>
                        <a:t>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152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LSI</a:t>
                      </a:r>
                      <a:r>
                        <a:rPr sz="1600" b="1" spc="-30" dirty="0">
                          <a:latin typeface="宋体"/>
                          <a:cs typeface="宋体"/>
                        </a:rPr>
                        <a:t>和</a:t>
                      </a:r>
                      <a:r>
                        <a:rPr sz="1600" b="1" spc="-20" dirty="0">
                          <a:latin typeface="宋体"/>
                          <a:cs typeface="宋体"/>
                        </a:rPr>
                        <a:t>VLSI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半导体存储器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7830" marR="411480" indent="203835">
                        <a:lnSpc>
                          <a:spcPct val="140000"/>
                        </a:lnSpc>
                        <a:spcBef>
                          <a:spcPts val="215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向量处理</a:t>
                      </a:r>
                      <a:r>
                        <a:rPr sz="1600" b="1" spc="-5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35" dirty="0">
                          <a:latin typeface="宋体"/>
                          <a:cs typeface="宋体"/>
                        </a:rPr>
                        <a:t>分布式存储器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并行与分布处理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marR="95885" algn="ctr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sz="1600" b="1" spc="-10" dirty="0">
                          <a:latin typeface="宋体"/>
                          <a:cs typeface="宋体"/>
                        </a:rPr>
                        <a:t>Cray-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1，IBM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20" dirty="0">
                          <a:latin typeface="宋体"/>
                          <a:cs typeface="宋体"/>
                        </a:rPr>
                        <a:t>3090， 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DEC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VAX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20" dirty="0">
                          <a:latin typeface="宋体"/>
                          <a:cs typeface="宋体"/>
                        </a:rPr>
                        <a:t>9000，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600" b="1" spc="-10" dirty="0">
                          <a:latin typeface="宋体"/>
                          <a:cs typeface="宋体"/>
                        </a:rPr>
                        <a:t>Convax-</a:t>
                      </a:r>
                      <a:r>
                        <a:rPr sz="1600" b="1" spc="-50" dirty="0">
                          <a:latin typeface="宋体"/>
                          <a:cs typeface="宋体"/>
                        </a:rPr>
                        <a:t>1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762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0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600" b="1" spc="-40" dirty="0">
                          <a:latin typeface="宋体"/>
                          <a:cs typeface="宋体"/>
                        </a:rPr>
                        <a:t>第五代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spc="-10" dirty="0">
                          <a:latin typeface="宋体"/>
                          <a:cs typeface="宋体"/>
                        </a:rPr>
                        <a:t>（1991</a:t>
                      </a:r>
                      <a:r>
                        <a:rPr sz="1600" b="1" spc="-30" dirty="0">
                          <a:latin typeface="宋体"/>
                          <a:cs typeface="宋体"/>
                        </a:rPr>
                        <a:t>年—</a:t>
                      </a:r>
                      <a:r>
                        <a:rPr sz="1600" b="1" spc="-50" dirty="0">
                          <a:latin typeface="宋体"/>
                          <a:cs typeface="宋体"/>
                        </a:rPr>
                        <a:t>）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77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600" b="1" spc="-25" dirty="0">
                          <a:latin typeface="宋体"/>
                          <a:cs typeface="宋体"/>
                        </a:rPr>
                        <a:t>高性能微处理器高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密度电路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超标量、超流水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spc="-10" dirty="0">
                          <a:latin typeface="宋体"/>
                          <a:cs typeface="宋体"/>
                        </a:rPr>
                        <a:t>SMP</a:t>
                      </a:r>
                      <a:r>
                        <a:rPr sz="1600" b="1" spc="-30" dirty="0">
                          <a:latin typeface="宋体"/>
                          <a:cs typeface="宋体"/>
                        </a:rPr>
                        <a:t>、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MP</a:t>
                      </a:r>
                      <a:r>
                        <a:rPr sz="1600" b="1" spc="-30" dirty="0">
                          <a:latin typeface="宋体"/>
                          <a:cs typeface="宋体"/>
                        </a:rPr>
                        <a:t>、</a:t>
                      </a:r>
                      <a:r>
                        <a:rPr sz="1600" b="1" spc="-25" dirty="0">
                          <a:latin typeface="宋体"/>
                          <a:cs typeface="宋体"/>
                        </a:rPr>
                        <a:t>MPP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spc="-40" dirty="0">
                          <a:latin typeface="宋体"/>
                          <a:cs typeface="宋体"/>
                        </a:rPr>
                        <a:t>机群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250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600" b="1" spc="-20" dirty="0">
                          <a:latin typeface="宋体"/>
                          <a:cs typeface="宋体"/>
                        </a:rPr>
                        <a:t>大规模、可扩展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315595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spc="-35" dirty="0">
                          <a:latin typeface="宋体"/>
                          <a:cs typeface="宋体"/>
                        </a:rPr>
                        <a:t>并行与分布处理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9245" marR="301625" algn="ctr">
                        <a:lnSpc>
                          <a:spcPct val="140100"/>
                        </a:lnSpc>
                        <a:spcBef>
                          <a:spcPts val="215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SGI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Cray</a:t>
                      </a:r>
                      <a:r>
                        <a:rPr sz="1600" b="1" spc="-20" dirty="0">
                          <a:latin typeface="宋体"/>
                          <a:cs typeface="宋体"/>
                        </a:rPr>
                        <a:t> T3E， </a:t>
                      </a:r>
                      <a:r>
                        <a:rPr sz="1600" b="1" dirty="0">
                          <a:latin typeface="宋体"/>
                          <a:cs typeface="宋体"/>
                        </a:rPr>
                        <a:t>IBM</a:t>
                      </a:r>
                      <a:r>
                        <a:rPr sz="1600" b="1" spc="-10" dirty="0">
                          <a:latin typeface="宋体"/>
                          <a:cs typeface="宋体"/>
                        </a:rPr>
                        <a:t> SP2，DEC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b="1" dirty="0">
                          <a:latin typeface="宋体"/>
                          <a:cs typeface="宋体"/>
                        </a:rPr>
                        <a:t>AlphaServer</a:t>
                      </a:r>
                      <a:r>
                        <a:rPr sz="1600" b="1" spc="-5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1600" b="1" spc="-20" dirty="0">
                          <a:latin typeface="宋体"/>
                          <a:cs typeface="宋体"/>
                        </a:rPr>
                        <a:t>8400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25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2455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1.4.4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-10" dirty="0"/>
              <a:t>应用对系统结构的影</a:t>
            </a:r>
            <a:r>
              <a:rPr spc="-50" dirty="0"/>
              <a:t>响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980" y="1005586"/>
            <a:ext cx="7518400" cy="4495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15" dirty="0">
                <a:latin typeface="微软雅黑"/>
                <a:cs typeface="微软雅黑"/>
              </a:rPr>
              <a:t>、不同的应用对计算机系统结构的设计提出了不同的要求。</a:t>
            </a:r>
            <a:endParaRPr sz="20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195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微软雅黑"/>
                <a:cs typeface="微软雅黑"/>
              </a:rPr>
              <a:t>、</a:t>
            </a:r>
            <a:r>
              <a:rPr sz="2000" spc="-10" dirty="0">
                <a:solidFill>
                  <a:srgbClr val="EC7C30"/>
                </a:solidFill>
                <a:latin typeface="微软雅黑"/>
                <a:cs typeface="微软雅黑"/>
              </a:rPr>
              <a:t>应用需求</a:t>
            </a:r>
            <a:r>
              <a:rPr sz="2000" spc="-20" dirty="0">
                <a:latin typeface="微软雅黑"/>
                <a:cs typeface="微软雅黑"/>
              </a:rPr>
              <a:t>是促使计算机系统结构发展的</a:t>
            </a:r>
            <a:r>
              <a:rPr sz="2000" spc="-20" dirty="0">
                <a:solidFill>
                  <a:srgbClr val="D50092"/>
                </a:solidFill>
                <a:latin typeface="微软雅黑"/>
                <a:cs typeface="微软雅黑"/>
              </a:rPr>
              <a:t>最根本的动力。</a:t>
            </a:r>
            <a:endParaRPr sz="20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197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000" dirty="0">
                <a:latin typeface="Times New Roman"/>
                <a:cs typeface="Times New Roman"/>
              </a:rPr>
              <a:t>3</a:t>
            </a:r>
            <a:r>
              <a:rPr sz="2000" spc="-15" dirty="0">
                <a:latin typeface="微软雅黑"/>
                <a:cs typeface="微软雅黑"/>
              </a:rPr>
              <a:t>、一些特殊领域：需要高性能的系统结构</a:t>
            </a:r>
            <a:endParaRPr sz="20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45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高结构化的数值计算</a:t>
            </a:r>
            <a:r>
              <a:rPr sz="1700" spc="-20" dirty="0">
                <a:latin typeface="微软雅黑"/>
                <a:cs typeface="微软雅黑"/>
              </a:rPr>
              <a:t>：气象模型、流体动力学、有限元分析</a:t>
            </a:r>
            <a:endParaRPr sz="17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47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非结构化的数值计算</a:t>
            </a:r>
            <a:r>
              <a:rPr sz="1700" spc="-20" dirty="0">
                <a:latin typeface="微软雅黑"/>
                <a:cs typeface="微软雅黑"/>
              </a:rPr>
              <a:t>：蒙特卡洛模拟、稀疏矩阵</a:t>
            </a:r>
            <a:endParaRPr sz="17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639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实时多因素问题</a:t>
            </a:r>
            <a:r>
              <a:rPr sz="1700" spc="-20" dirty="0">
                <a:latin typeface="微软雅黑"/>
                <a:cs typeface="微软雅黑"/>
              </a:rPr>
              <a:t>：语音识别、图象处理、计算机视觉</a:t>
            </a:r>
            <a:endParaRPr sz="17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69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spc="-10" dirty="0">
                <a:solidFill>
                  <a:srgbClr val="D50092"/>
                </a:solidFill>
                <a:latin typeface="微软雅黑"/>
                <a:cs typeface="微软雅黑"/>
              </a:rPr>
              <a:t>大存储容量和输入输出密集的问题</a:t>
            </a:r>
            <a:r>
              <a:rPr sz="1700" spc="-20" dirty="0">
                <a:latin typeface="微软雅黑"/>
                <a:cs typeface="微软雅黑"/>
              </a:rPr>
              <a:t>：据库系统、事务处理系统</a:t>
            </a:r>
            <a:endParaRPr sz="17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70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dirty="0">
                <a:solidFill>
                  <a:srgbClr val="D50092"/>
                </a:solidFill>
                <a:latin typeface="微软雅黑"/>
                <a:cs typeface="微软雅黑"/>
              </a:rPr>
              <a:t>图形学和设计问题</a:t>
            </a:r>
            <a:r>
              <a:rPr sz="1700" spc="-15" dirty="0">
                <a:latin typeface="微软雅黑"/>
                <a:cs typeface="微软雅黑"/>
              </a:rPr>
              <a:t>：计算机辅助设计</a:t>
            </a:r>
            <a:endParaRPr sz="17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70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spc="-5" dirty="0">
                <a:solidFill>
                  <a:srgbClr val="D50092"/>
                </a:solidFill>
                <a:latin typeface="微软雅黑"/>
                <a:cs typeface="微软雅黑"/>
              </a:rPr>
              <a:t>人工智能：面向知识的系统</a:t>
            </a:r>
            <a:r>
              <a:rPr sz="1700" spc="-25" dirty="0">
                <a:latin typeface="微软雅黑"/>
                <a:cs typeface="微软雅黑"/>
              </a:rPr>
              <a:t>、推理系统等</a:t>
            </a:r>
            <a:endParaRPr sz="17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82853" y="706247"/>
            <a:ext cx="11291570" cy="0"/>
          </a:xfrm>
          <a:custGeom>
            <a:avLst/>
            <a:gdLst/>
            <a:ahLst/>
            <a:cxnLst/>
            <a:rect l="l" t="t" r="r" b="b"/>
            <a:pathLst>
              <a:path w="11291570">
                <a:moveTo>
                  <a:pt x="0" y="0"/>
                </a:moveTo>
                <a:lnTo>
                  <a:pt x="11290985" y="0"/>
                </a:lnTo>
              </a:path>
            </a:pathLst>
          </a:custGeom>
          <a:ln w="3810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44360" y="331597"/>
            <a:ext cx="807720" cy="274955"/>
            <a:chOff x="144360" y="331597"/>
            <a:chExt cx="807720" cy="274955"/>
          </a:xfrm>
        </p:grpSpPr>
        <p:sp>
          <p:nvSpPr>
            <p:cNvPr id="4" name="object 4"/>
            <p:cNvSpPr/>
            <p:nvPr/>
          </p:nvSpPr>
          <p:spPr>
            <a:xfrm>
              <a:off x="144360" y="331597"/>
              <a:ext cx="280670" cy="274955"/>
            </a:xfrm>
            <a:custGeom>
              <a:avLst/>
              <a:gdLst/>
              <a:ahLst/>
              <a:cxnLst/>
              <a:rect l="l" t="t" r="r" b="b"/>
              <a:pathLst>
                <a:path w="280670" h="274955">
                  <a:moveTo>
                    <a:pt x="67360" y="0"/>
                  </a:moveTo>
                  <a:lnTo>
                    <a:pt x="2806" y="41528"/>
                  </a:lnTo>
                  <a:lnTo>
                    <a:pt x="148742" y="135508"/>
                  </a:lnTo>
                  <a:lnTo>
                    <a:pt x="0" y="231266"/>
                  </a:lnTo>
                  <a:lnTo>
                    <a:pt x="67360" y="274700"/>
                  </a:lnTo>
                  <a:lnTo>
                    <a:pt x="280657" y="137287"/>
                  </a:lnTo>
                  <a:lnTo>
                    <a:pt x="67360" y="0"/>
                  </a:lnTo>
                  <a:close/>
                </a:path>
              </a:pathLst>
            </a:custGeom>
            <a:solidFill>
              <a:srgbClr val="005D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6552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7233" y="0"/>
                  </a:moveTo>
                  <a:lnTo>
                    <a:pt x="2806" y="41528"/>
                  </a:lnTo>
                  <a:lnTo>
                    <a:pt x="148462" y="135508"/>
                  </a:lnTo>
                  <a:lnTo>
                    <a:pt x="0" y="231266"/>
                  </a:lnTo>
                  <a:lnTo>
                    <a:pt x="67233" y="274700"/>
                  </a:lnTo>
                  <a:lnTo>
                    <a:pt x="279425" y="137287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3992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2439" y="331597"/>
              <a:ext cx="280035" cy="274955"/>
            </a:xfrm>
            <a:custGeom>
              <a:avLst/>
              <a:gdLst/>
              <a:ahLst/>
              <a:cxnLst/>
              <a:rect l="l" t="t" r="r" b="b"/>
              <a:pathLst>
                <a:path w="280034" h="274955">
                  <a:moveTo>
                    <a:pt x="66535" y="0"/>
                  </a:moveTo>
                  <a:lnTo>
                    <a:pt x="2806" y="41528"/>
                  </a:lnTo>
                  <a:lnTo>
                    <a:pt x="148463" y="135508"/>
                  </a:lnTo>
                  <a:lnTo>
                    <a:pt x="0" y="231266"/>
                  </a:lnTo>
                  <a:lnTo>
                    <a:pt x="66535" y="274700"/>
                  </a:lnTo>
                  <a:lnTo>
                    <a:pt x="279425" y="137287"/>
                  </a:lnTo>
                  <a:lnTo>
                    <a:pt x="66535" y="0"/>
                  </a:lnTo>
                  <a:close/>
                </a:path>
              </a:pathLst>
            </a:custGeom>
            <a:solidFill>
              <a:srgbClr val="F79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0" y="6474002"/>
            <a:ext cx="12192000" cy="384175"/>
          </a:xfrm>
          <a:custGeom>
            <a:avLst/>
            <a:gdLst/>
            <a:ahLst/>
            <a:cxnLst/>
            <a:rect l="l" t="t" r="r" b="b"/>
            <a:pathLst>
              <a:path w="12192000" h="384175">
                <a:moveTo>
                  <a:pt x="12192000" y="0"/>
                </a:moveTo>
                <a:lnTo>
                  <a:pt x="9648444" y="0"/>
                </a:lnTo>
                <a:lnTo>
                  <a:pt x="0" y="0"/>
                </a:lnTo>
                <a:lnTo>
                  <a:pt x="0" y="383997"/>
                </a:lnTo>
                <a:lnTo>
                  <a:pt x="9648444" y="383997"/>
                </a:lnTo>
                <a:lnTo>
                  <a:pt x="12192000" y="383997"/>
                </a:lnTo>
                <a:lnTo>
                  <a:pt x="12192000" y="0"/>
                </a:lnTo>
                <a:close/>
              </a:path>
            </a:pathLst>
          </a:custGeom>
          <a:solidFill>
            <a:srgbClr val="0447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50339" y="204292"/>
            <a:ext cx="63309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dirty="0">
                <a:latin typeface="Times New Roman"/>
                <a:cs typeface="Times New Roman"/>
              </a:rPr>
              <a:t>1.5</a:t>
            </a:r>
            <a:r>
              <a:rPr u="none" spc="45" dirty="0">
                <a:latin typeface="Times New Roman"/>
                <a:cs typeface="Times New Roman"/>
              </a:rPr>
              <a:t> </a:t>
            </a:r>
            <a:r>
              <a:rPr u="none" spc="-20" dirty="0"/>
              <a:t>计算机系统结构中并行性的发展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8027" y="1528978"/>
            <a:ext cx="11323320" cy="3155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469900" algn="l"/>
                <a:tab pos="3670300" algn="l"/>
              </a:tabLst>
            </a:pPr>
            <a:r>
              <a:rPr sz="2800" spc="-10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sz="2800" spc="-35" dirty="0">
                <a:solidFill>
                  <a:srgbClr val="FF0000"/>
                </a:solidFill>
                <a:latin typeface="微软雅黑"/>
                <a:cs typeface="微软雅黑"/>
              </a:rPr>
              <a:t>、并行性：</a:t>
            </a:r>
            <a:r>
              <a:rPr sz="2800" spc="-35" dirty="0">
                <a:latin typeface="微软雅黑"/>
                <a:cs typeface="微软雅黑"/>
              </a:rPr>
              <a:t>计算机系统在</a:t>
            </a:r>
            <a:r>
              <a:rPr sz="2800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同一时刻</a:t>
            </a:r>
            <a:r>
              <a:rPr sz="2800" u="none" spc="-35" dirty="0">
                <a:latin typeface="微软雅黑"/>
                <a:cs typeface="微软雅黑"/>
              </a:rPr>
              <a:t>或</a:t>
            </a:r>
            <a:r>
              <a:rPr sz="2800" u="none" spc="-25" dirty="0">
                <a:latin typeface="微软雅黑"/>
                <a:cs typeface="微软雅黑"/>
              </a:rPr>
              <a:t>者</a:t>
            </a:r>
            <a:r>
              <a:rPr sz="2800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同一</a:t>
            </a:r>
            <a:r>
              <a:rPr sz="28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时</a:t>
            </a:r>
            <a:r>
              <a:rPr sz="2800" u="sng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间间</a:t>
            </a:r>
            <a:r>
              <a:rPr sz="2800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隔</a:t>
            </a:r>
            <a:r>
              <a:rPr sz="2800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内</a:t>
            </a:r>
            <a:r>
              <a:rPr sz="2800" u="none" spc="-35" dirty="0">
                <a:latin typeface="微软雅黑"/>
                <a:cs typeface="微软雅黑"/>
              </a:rPr>
              <a:t>进</a:t>
            </a:r>
            <a:r>
              <a:rPr sz="2800" u="none" spc="-25" dirty="0">
                <a:latin typeface="微软雅黑"/>
                <a:cs typeface="微软雅黑"/>
              </a:rPr>
              <a:t>行</a:t>
            </a:r>
            <a:r>
              <a:rPr sz="2800" u="none" spc="-35" dirty="0">
                <a:latin typeface="微软雅黑"/>
                <a:cs typeface="微软雅黑"/>
              </a:rPr>
              <a:t>多种</a:t>
            </a:r>
            <a:r>
              <a:rPr sz="2800" u="none" spc="-20" dirty="0">
                <a:latin typeface="微软雅黑"/>
                <a:cs typeface="微软雅黑"/>
              </a:rPr>
              <a:t>运</a:t>
            </a:r>
            <a:r>
              <a:rPr sz="2800" u="none" spc="-50" dirty="0">
                <a:latin typeface="微软雅黑"/>
                <a:cs typeface="微软雅黑"/>
              </a:rPr>
              <a:t>算</a:t>
            </a:r>
            <a:r>
              <a:rPr sz="2800" u="none" spc="-35" dirty="0">
                <a:latin typeface="微软雅黑"/>
                <a:cs typeface="微软雅黑"/>
              </a:rPr>
              <a:t>或操作</a:t>
            </a:r>
            <a:r>
              <a:rPr sz="2800" u="none" spc="-50" dirty="0">
                <a:latin typeface="微软雅黑"/>
                <a:cs typeface="微软雅黑"/>
              </a:rPr>
              <a:t>。</a:t>
            </a:r>
            <a:r>
              <a:rPr sz="2800" u="none" dirty="0">
                <a:latin typeface="微软雅黑"/>
                <a:cs typeface="微软雅黑"/>
              </a:rPr>
              <a:t>	</a:t>
            </a:r>
            <a:r>
              <a:rPr sz="2800" u="none" spc="-35" dirty="0">
                <a:solidFill>
                  <a:srgbClr val="EC7C30"/>
                </a:solidFill>
                <a:latin typeface="微软雅黑"/>
                <a:cs typeface="微软雅黑"/>
              </a:rPr>
              <a:t>只要在时间上相互重叠，就存在并</a:t>
            </a:r>
            <a:r>
              <a:rPr sz="2800" u="none" spc="-30" dirty="0">
                <a:solidFill>
                  <a:srgbClr val="EC7C30"/>
                </a:solidFill>
                <a:latin typeface="微软雅黑"/>
                <a:cs typeface="微软雅黑"/>
              </a:rPr>
              <a:t>行</a:t>
            </a:r>
            <a:r>
              <a:rPr sz="2800" u="none" spc="-25" dirty="0">
                <a:solidFill>
                  <a:srgbClr val="EC7C30"/>
                </a:solidFill>
                <a:latin typeface="微软雅黑"/>
                <a:cs typeface="微软雅黑"/>
              </a:rPr>
              <a:t>性</a:t>
            </a:r>
            <a:r>
              <a:rPr sz="2800" u="none" spc="-50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204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同时性：</a:t>
            </a:r>
            <a:r>
              <a:rPr sz="2400" spc="-15" dirty="0">
                <a:latin typeface="微软雅黑"/>
                <a:cs typeface="微软雅黑"/>
              </a:rPr>
              <a:t>两个或两个以上的事件在同一时刻发生。</a:t>
            </a:r>
            <a:endParaRPr sz="24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93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并发性：</a:t>
            </a:r>
            <a:r>
              <a:rPr sz="2400" spc="-5" dirty="0">
                <a:latin typeface="微软雅黑"/>
                <a:cs typeface="微软雅黑"/>
              </a:rPr>
              <a:t>两个或两个以上的事件在同一时间间隔内发生。</a:t>
            </a:r>
            <a:endParaRPr sz="24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94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15" dirty="0">
                <a:latin typeface="微软雅黑"/>
                <a:cs typeface="微软雅黑"/>
              </a:rPr>
              <a:t>从处理数据和执行程序两个方面考虑并行性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31757" y="289001"/>
            <a:ext cx="300228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00CC"/>
                </a:solidFill>
                <a:latin typeface="黑体"/>
                <a:cs typeface="黑体"/>
              </a:rPr>
              <a:t>1.5.1</a:t>
            </a:r>
            <a:r>
              <a:rPr sz="2600" spc="-20" dirty="0">
                <a:solidFill>
                  <a:srgbClr val="0000CC"/>
                </a:solidFill>
                <a:latin typeface="黑体"/>
                <a:cs typeface="黑体"/>
              </a:rPr>
              <a:t> 并行性的概念</a:t>
            </a:r>
            <a:endParaRPr sz="26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345133"/>
            <a:ext cx="10264140" cy="4781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Times New Roman"/>
              <a:buAutoNum type="arabicPeriod" startAt="2"/>
              <a:tabLst>
                <a:tab pos="469900" algn="l"/>
              </a:tabLst>
            </a:pPr>
            <a:r>
              <a:rPr sz="2800" spc="-40" dirty="0">
                <a:latin typeface="微软雅黑"/>
                <a:cs typeface="微软雅黑"/>
              </a:rPr>
              <a:t>从</a:t>
            </a:r>
            <a:r>
              <a:rPr sz="2800" b="1" u="sng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处理数据</a:t>
            </a:r>
            <a:r>
              <a:rPr sz="2800" u="none" spc="-40" dirty="0">
                <a:latin typeface="微软雅黑"/>
                <a:cs typeface="微软雅黑"/>
              </a:rPr>
              <a:t>的角度来看，并行性等级</a:t>
            </a:r>
            <a:r>
              <a:rPr sz="2800" u="sng" spc="-35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从低到高</a:t>
            </a:r>
            <a:r>
              <a:rPr sz="2800" u="none" spc="-40" dirty="0">
                <a:latin typeface="微软雅黑"/>
                <a:cs typeface="微软雅黑"/>
              </a:rPr>
              <a:t>可分为：</a:t>
            </a:r>
            <a:endParaRPr sz="28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75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字串位串：</a:t>
            </a:r>
            <a:r>
              <a:rPr sz="2400" spc="-5" dirty="0">
                <a:latin typeface="微软雅黑"/>
                <a:cs typeface="微软雅黑"/>
              </a:rPr>
              <a:t>每次只对一个字的一位进行处理。</a:t>
            </a:r>
            <a:endParaRPr sz="2400">
              <a:latin typeface="微软雅黑"/>
              <a:cs typeface="微软雅黑"/>
            </a:endParaRPr>
          </a:p>
          <a:p>
            <a:pPr marL="2515235">
              <a:lnSpc>
                <a:spcPct val="100000"/>
              </a:lnSpc>
              <a:spcBef>
                <a:spcPts val="1540"/>
              </a:spcBef>
            </a:pPr>
            <a:r>
              <a:rPr sz="2000" spc="-20" dirty="0">
                <a:solidFill>
                  <a:srgbClr val="EC7C30"/>
                </a:solidFill>
                <a:latin typeface="微软雅黑"/>
                <a:cs typeface="微软雅黑"/>
              </a:rPr>
              <a:t>最基本的串行处理方式，不存在并行性。</a:t>
            </a:r>
            <a:endParaRPr sz="20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57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字串位并：</a:t>
            </a:r>
            <a:r>
              <a:rPr sz="2400" spc="-5" dirty="0">
                <a:latin typeface="微软雅黑"/>
                <a:cs typeface="微软雅黑"/>
              </a:rPr>
              <a:t>同时对一个字的全部位进行处理，不同字之间是串行的。</a:t>
            </a:r>
            <a:endParaRPr sz="2400">
              <a:latin typeface="微软雅黑"/>
              <a:cs typeface="微软雅黑"/>
            </a:endParaRPr>
          </a:p>
          <a:p>
            <a:pPr marL="2515235">
              <a:lnSpc>
                <a:spcPct val="100000"/>
              </a:lnSpc>
              <a:spcBef>
                <a:spcPts val="1570"/>
              </a:spcBef>
            </a:pP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开始出现并行性</a:t>
            </a:r>
            <a:r>
              <a:rPr sz="2100" spc="-50" dirty="0">
                <a:solidFill>
                  <a:srgbClr val="EC7C30"/>
                </a:solidFill>
                <a:latin typeface="微软雅黑"/>
                <a:cs typeface="微软雅黑"/>
              </a:rPr>
              <a:t>。</a:t>
            </a:r>
            <a:endParaRPr sz="21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58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字并位串：</a:t>
            </a:r>
            <a:r>
              <a:rPr sz="2400" dirty="0">
                <a:latin typeface="微软雅黑"/>
                <a:cs typeface="微软雅黑"/>
              </a:rPr>
              <a:t>同时对许多字的同一位（</a:t>
            </a:r>
            <a:r>
              <a:rPr sz="2400" spc="-15" dirty="0">
                <a:latin typeface="微软雅黑"/>
                <a:cs typeface="微软雅黑"/>
              </a:rPr>
              <a:t>称为</a:t>
            </a:r>
            <a:r>
              <a:rPr sz="2400" spc="-10" dirty="0">
                <a:solidFill>
                  <a:srgbClr val="FF0000"/>
                </a:solidFill>
                <a:latin typeface="微软雅黑"/>
                <a:cs typeface="微软雅黑"/>
              </a:rPr>
              <a:t>位片</a:t>
            </a:r>
            <a:r>
              <a:rPr sz="2400" spc="-10" dirty="0">
                <a:latin typeface="微软雅黑"/>
                <a:cs typeface="微软雅黑"/>
              </a:rPr>
              <a:t>）</a:t>
            </a:r>
            <a:r>
              <a:rPr sz="2400" spc="-20" dirty="0">
                <a:latin typeface="微软雅黑"/>
                <a:cs typeface="微软雅黑"/>
              </a:rPr>
              <a:t>进行处理。</a:t>
            </a:r>
            <a:endParaRPr sz="2400">
              <a:latin typeface="微软雅黑"/>
              <a:cs typeface="微软雅黑"/>
            </a:endParaRPr>
          </a:p>
          <a:p>
            <a:pPr marL="2577465">
              <a:lnSpc>
                <a:spcPct val="100000"/>
              </a:lnSpc>
              <a:spcBef>
                <a:spcPts val="1585"/>
              </a:spcBef>
            </a:pPr>
            <a:r>
              <a:rPr sz="2100" spc="-10" dirty="0">
                <a:solidFill>
                  <a:srgbClr val="EC7C30"/>
                </a:solidFill>
                <a:latin typeface="微软雅黑"/>
                <a:cs typeface="微软雅黑"/>
              </a:rPr>
              <a:t>具有较高的并行性</a:t>
            </a:r>
            <a:endParaRPr sz="21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58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全并行：</a:t>
            </a:r>
            <a:r>
              <a:rPr sz="2400" spc="-5" dirty="0">
                <a:latin typeface="微软雅黑"/>
                <a:cs typeface="微软雅黑"/>
              </a:rPr>
              <a:t>同时对许多字的全部位或部分位进行处理。</a:t>
            </a:r>
            <a:endParaRPr sz="2400">
              <a:latin typeface="微软雅黑"/>
              <a:cs typeface="微软雅黑"/>
            </a:endParaRPr>
          </a:p>
          <a:p>
            <a:pPr marL="2515235">
              <a:lnSpc>
                <a:spcPct val="100000"/>
              </a:lnSpc>
              <a:spcBef>
                <a:spcPts val="1545"/>
              </a:spcBef>
            </a:pPr>
            <a:r>
              <a:rPr sz="2000" spc="-10" dirty="0">
                <a:solidFill>
                  <a:srgbClr val="EC7C30"/>
                </a:solidFill>
                <a:latin typeface="微软雅黑"/>
                <a:cs typeface="微软雅黑"/>
              </a:rPr>
              <a:t>最高一级的并行。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0360" algn="l"/>
                <a:tab pos="11303000" algn="l"/>
              </a:tabLst>
            </a:pPr>
            <a:r>
              <a:rPr dirty="0">
                <a:latin typeface="Times New Roman"/>
                <a:cs typeface="Times New Roman"/>
              </a:rPr>
              <a:t>	1.5.1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并行性的概</a:t>
            </a:r>
            <a:r>
              <a:rPr spc="-50" dirty="0"/>
              <a:t>念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367993"/>
            <a:ext cx="10955020" cy="4766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5"/>
              </a:spcBef>
              <a:buClr>
                <a:srgbClr val="0000FF"/>
              </a:buClr>
              <a:buFont typeface="Times New Roman"/>
              <a:buAutoNum type="arabicPeriod" startAt="3"/>
              <a:tabLst>
                <a:tab pos="469900" algn="l"/>
              </a:tabLst>
            </a:pPr>
            <a:r>
              <a:rPr sz="2600" spc="-10" dirty="0">
                <a:latin typeface="微软雅黑"/>
                <a:cs typeface="微软雅黑"/>
              </a:rPr>
              <a:t>从</a:t>
            </a:r>
            <a:r>
              <a:rPr sz="26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执行程序</a:t>
            </a:r>
            <a:r>
              <a:rPr sz="2600" u="none" spc="-20" dirty="0">
                <a:latin typeface="微软雅黑"/>
                <a:cs typeface="微软雅黑"/>
              </a:rPr>
              <a:t>的角度来看，并行性等级从</a:t>
            </a:r>
            <a:r>
              <a:rPr sz="2600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微软雅黑"/>
                <a:cs typeface="微软雅黑"/>
              </a:rPr>
              <a:t>低到高</a:t>
            </a:r>
            <a:r>
              <a:rPr sz="2600" u="none" spc="-20" dirty="0">
                <a:latin typeface="微软雅黑"/>
                <a:cs typeface="微软雅黑"/>
              </a:rPr>
              <a:t>可分为：</a:t>
            </a:r>
            <a:endParaRPr sz="26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914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30" dirty="0">
                <a:solidFill>
                  <a:srgbClr val="FF0000"/>
                </a:solidFill>
                <a:latin typeface="微软雅黑"/>
                <a:cs typeface="微软雅黑"/>
              </a:rPr>
              <a:t>指令内部并行：</a:t>
            </a:r>
            <a:r>
              <a:rPr sz="2200" spc="-30" dirty="0">
                <a:latin typeface="微软雅黑"/>
                <a:cs typeface="微软雅黑"/>
              </a:rPr>
              <a:t>单条指令中各微操作之间的并行。（编译器或硬件实现</a:t>
            </a:r>
            <a:r>
              <a:rPr sz="2200" spc="-50" dirty="0"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  <a:p>
            <a:pPr marL="1099185" marR="69850" lvl="1" indent="-457200">
              <a:lnSpc>
                <a:spcPct val="150100"/>
              </a:lnSpc>
              <a:spcBef>
                <a:spcPts val="50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30" dirty="0">
                <a:solidFill>
                  <a:srgbClr val="FF0000"/>
                </a:solidFill>
                <a:latin typeface="微软雅黑"/>
                <a:cs typeface="微软雅黑"/>
              </a:rPr>
              <a:t>指令级并行：</a:t>
            </a:r>
            <a:r>
              <a:rPr sz="2200" spc="-30" dirty="0">
                <a:latin typeface="微软雅黑"/>
                <a:cs typeface="微软雅黑"/>
              </a:rPr>
              <a:t>并行执行两条或两条以上的指令。</a:t>
            </a:r>
            <a:r>
              <a:rPr sz="2200" spc="-20" dirty="0">
                <a:latin typeface="微软雅黑"/>
                <a:cs typeface="微软雅黑"/>
              </a:rPr>
              <a:t>（</a:t>
            </a:r>
            <a:r>
              <a:rPr sz="2200" spc="-35" dirty="0">
                <a:latin typeface="微软雅黑"/>
                <a:cs typeface="微软雅黑"/>
              </a:rPr>
              <a:t>流水可解决：超标量、超流水</a:t>
            </a:r>
            <a:r>
              <a:rPr sz="2200" spc="-30" dirty="0">
                <a:latin typeface="微软雅黑"/>
                <a:cs typeface="微软雅黑"/>
              </a:rPr>
              <a:t>线技术等</a:t>
            </a:r>
            <a:r>
              <a:rPr sz="2200" spc="-50" dirty="0"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82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30" dirty="0">
                <a:solidFill>
                  <a:srgbClr val="FF0000"/>
                </a:solidFill>
                <a:latin typeface="微软雅黑"/>
                <a:cs typeface="微软雅黑"/>
              </a:rPr>
              <a:t>线程级并行：</a:t>
            </a:r>
            <a:r>
              <a:rPr sz="2200" spc="-35" dirty="0">
                <a:latin typeface="微软雅黑"/>
                <a:cs typeface="微软雅黑"/>
              </a:rPr>
              <a:t>并行执行两个或两个以上的线程。</a:t>
            </a:r>
            <a:endParaRPr sz="2200">
              <a:latin typeface="微软雅黑"/>
              <a:cs typeface="微软雅黑"/>
            </a:endParaRPr>
          </a:p>
          <a:p>
            <a:pPr marL="1108710">
              <a:lnSpc>
                <a:spcPct val="100000"/>
              </a:lnSpc>
              <a:spcBef>
                <a:spcPts val="1705"/>
              </a:spcBef>
            </a:pPr>
            <a:r>
              <a:rPr sz="1900" spc="-30" dirty="0">
                <a:solidFill>
                  <a:srgbClr val="EC7C30"/>
                </a:solidFill>
                <a:latin typeface="微软雅黑"/>
                <a:cs typeface="微软雅黑"/>
              </a:rPr>
              <a:t>通常是以一个进程内派生的多个线程为调度单位。</a:t>
            </a:r>
            <a:r>
              <a:rPr sz="1900" spc="-20" dirty="0">
                <a:solidFill>
                  <a:srgbClr val="EC7C30"/>
                </a:solidFill>
                <a:latin typeface="微软雅黑"/>
                <a:cs typeface="微软雅黑"/>
              </a:rPr>
              <a:t>（</a:t>
            </a:r>
            <a:r>
              <a:rPr sz="1900" spc="-30" dirty="0">
                <a:solidFill>
                  <a:srgbClr val="EC7C30"/>
                </a:solidFill>
                <a:latin typeface="微软雅黑"/>
                <a:cs typeface="微软雅黑"/>
              </a:rPr>
              <a:t>利用操作系统将程序分发为多线程</a:t>
            </a:r>
            <a:r>
              <a:rPr sz="1900" spc="-50" dirty="0">
                <a:solidFill>
                  <a:srgbClr val="EC7C30"/>
                </a:solidFill>
                <a:latin typeface="微软雅黑"/>
                <a:cs typeface="微软雅黑"/>
              </a:rPr>
              <a:t>）</a:t>
            </a:r>
            <a:endParaRPr sz="19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75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30" dirty="0">
                <a:solidFill>
                  <a:srgbClr val="FF0000"/>
                </a:solidFill>
                <a:latin typeface="微软雅黑"/>
                <a:cs typeface="微软雅黑"/>
              </a:rPr>
              <a:t>任务级或过程级并行：</a:t>
            </a:r>
            <a:r>
              <a:rPr sz="2200" spc="-30" dirty="0">
                <a:latin typeface="微软雅黑"/>
                <a:cs typeface="微软雅黑"/>
              </a:rPr>
              <a:t>并行执行两个或两个以上 的过程或任务（程序段</a:t>
            </a:r>
            <a:r>
              <a:rPr sz="2200" spc="-50" dirty="0"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  <a:p>
            <a:pPr marL="1167765">
              <a:lnSpc>
                <a:spcPct val="100000"/>
              </a:lnSpc>
              <a:spcBef>
                <a:spcPts val="1714"/>
              </a:spcBef>
            </a:pPr>
            <a:r>
              <a:rPr sz="1900" spc="-25" dirty="0">
                <a:solidFill>
                  <a:srgbClr val="EC7C30"/>
                </a:solidFill>
                <a:latin typeface="微软雅黑"/>
                <a:cs typeface="微软雅黑"/>
              </a:rPr>
              <a:t>以子程序或进程为调度单元。（例如同一台计算机处理图、数据计算、下载内容等</a:t>
            </a:r>
            <a:r>
              <a:rPr sz="1900" spc="-50" dirty="0">
                <a:solidFill>
                  <a:srgbClr val="EC7C30"/>
                </a:solidFill>
                <a:latin typeface="微软雅黑"/>
                <a:cs typeface="微软雅黑"/>
              </a:rPr>
              <a:t>）</a:t>
            </a:r>
            <a:endParaRPr sz="19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739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30" dirty="0">
                <a:solidFill>
                  <a:srgbClr val="FF0000"/>
                </a:solidFill>
                <a:latin typeface="微软雅黑"/>
                <a:cs typeface="微软雅黑"/>
              </a:rPr>
              <a:t>作业或程序级并行：</a:t>
            </a:r>
            <a:r>
              <a:rPr sz="2200" spc="-30" dirty="0">
                <a:latin typeface="微软雅黑"/>
                <a:cs typeface="微软雅黑"/>
              </a:rPr>
              <a:t>并行执行两个或两个以上的 作业或程序。（例如多台机器</a:t>
            </a:r>
            <a:r>
              <a:rPr sz="2200" spc="-50" dirty="0">
                <a:latin typeface="微软雅黑"/>
                <a:cs typeface="微软雅黑"/>
              </a:rPr>
              <a:t>）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45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1.5.1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并行性的概</a:t>
            </a:r>
            <a:r>
              <a:rPr spc="-50" dirty="0"/>
              <a:t>念</a:t>
            </a:r>
            <a:r>
              <a:rPr dirty="0"/>
              <a:t>	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45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1.5.2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提高并行性的技术途径</a:t>
            </a:r>
            <a:r>
              <a:rPr spc="-15" dirty="0"/>
              <a:t>（</a:t>
            </a:r>
            <a:r>
              <a:rPr dirty="0"/>
              <a:t>三种</a:t>
            </a:r>
            <a:r>
              <a:rPr spc="-50" dirty="0"/>
              <a:t>）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0616" y="841374"/>
            <a:ext cx="11059160" cy="5057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solidFill>
                  <a:srgbClr val="3A3838"/>
                </a:solidFill>
                <a:latin typeface="微软雅黑"/>
                <a:cs typeface="微软雅黑"/>
              </a:rPr>
              <a:t>三种并行技术</a:t>
            </a:r>
            <a:endParaRPr sz="28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313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spc="-15" dirty="0">
                <a:solidFill>
                  <a:srgbClr val="FF0000"/>
                </a:solidFill>
                <a:latin typeface="微软雅黑"/>
                <a:cs typeface="微软雅黑"/>
              </a:rPr>
              <a:t>时间重叠 ：</a:t>
            </a:r>
            <a:endParaRPr sz="2400">
              <a:latin typeface="微软雅黑"/>
              <a:cs typeface="微软雅黑"/>
            </a:endParaRPr>
          </a:p>
          <a:p>
            <a:pPr marL="12700" marR="5080" indent="614045">
              <a:lnSpc>
                <a:spcPct val="170000"/>
              </a:lnSpc>
              <a:spcBef>
                <a:spcPts val="1135"/>
              </a:spcBef>
            </a:pPr>
            <a:r>
              <a:rPr sz="2000" spc="-20" dirty="0">
                <a:latin typeface="微软雅黑"/>
                <a:cs typeface="微软雅黑"/>
              </a:rPr>
              <a:t>引入时间因素，让多个处理过程在时间上相互错开，轮流重叠地使用同一套硬件设备的各个部</a:t>
            </a:r>
            <a:r>
              <a:rPr sz="2000" spc="-15" dirty="0">
                <a:latin typeface="微软雅黑"/>
                <a:cs typeface="微软雅黑"/>
              </a:rPr>
              <a:t>分，以加快硬件周转而赢得速度。</a:t>
            </a:r>
            <a:endParaRPr sz="20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289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资源重复（多用在：多体存储器、多操作部件、阵列处理机等</a:t>
            </a:r>
            <a:r>
              <a:rPr sz="2400" spc="-50" dirty="0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1089660">
              <a:lnSpc>
                <a:spcPct val="100000"/>
              </a:lnSpc>
              <a:spcBef>
                <a:spcPts val="2310"/>
              </a:spcBef>
            </a:pPr>
            <a:r>
              <a:rPr sz="2000" spc="-15" dirty="0">
                <a:latin typeface="微软雅黑"/>
                <a:cs typeface="微软雅黑"/>
              </a:rPr>
              <a:t>引入空间因素，以数量取胜。通过重复设置硬件资源，大幅度地提高计算机系统的性能。</a:t>
            </a:r>
            <a:endParaRPr sz="20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289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400" spc="-15" dirty="0">
                <a:solidFill>
                  <a:srgbClr val="FF0000"/>
                </a:solidFill>
                <a:latin typeface="微软雅黑"/>
                <a:cs typeface="微软雅黑"/>
              </a:rPr>
              <a:t>资源共享</a:t>
            </a:r>
            <a:endParaRPr sz="2400">
              <a:latin typeface="微软雅黑"/>
              <a:cs typeface="微软雅黑"/>
            </a:endParaRPr>
          </a:p>
          <a:p>
            <a:pPr marL="1051560">
              <a:lnSpc>
                <a:spcPct val="100000"/>
              </a:lnSpc>
              <a:spcBef>
                <a:spcPts val="2305"/>
              </a:spcBef>
            </a:pPr>
            <a:r>
              <a:rPr sz="2000" spc="-15" dirty="0">
                <a:latin typeface="微软雅黑"/>
                <a:cs typeface="微软雅黑"/>
              </a:rPr>
              <a:t>这是一种软件方法，它使多个任务按一定时间顺序轮流使用同一套硬件设备。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459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1.5.3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单机系统中并行性的发</a:t>
            </a:r>
            <a:r>
              <a:rPr spc="-50" dirty="0"/>
              <a:t>展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8319" y="1557909"/>
            <a:ext cx="10998835" cy="4478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9584" indent="-4572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Wingdings"/>
              <a:buChar char=""/>
              <a:tabLst>
                <a:tab pos="489584" algn="l"/>
              </a:tabLst>
            </a:pPr>
            <a:r>
              <a:rPr sz="2800" spc="-35" dirty="0">
                <a:latin typeface="微软雅黑"/>
                <a:cs typeface="微软雅黑"/>
              </a:rPr>
              <a:t>在发展高性能</a:t>
            </a:r>
            <a:r>
              <a:rPr sz="2800" spc="-35" dirty="0">
                <a:solidFill>
                  <a:srgbClr val="FF0000"/>
                </a:solidFill>
                <a:latin typeface="微软雅黑"/>
                <a:cs typeface="微软雅黑"/>
              </a:rPr>
              <a:t>单处理机</a:t>
            </a:r>
            <a:r>
              <a:rPr sz="2800" spc="-35" dirty="0">
                <a:latin typeface="微软雅黑"/>
                <a:cs typeface="微软雅黑"/>
              </a:rPr>
              <a:t>过程中，</a:t>
            </a:r>
            <a:r>
              <a:rPr sz="2800" spc="-40" dirty="0">
                <a:solidFill>
                  <a:srgbClr val="FF0000"/>
                </a:solidFill>
                <a:latin typeface="微软雅黑"/>
                <a:cs typeface="微软雅黑"/>
              </a:rPr>
              <a:t>起主导作用的是时间重叠原理。</a:t>
            </a:r>
            <a:endParaRPr sz="2800">
              <a:latin typeface="微软雅黑"/>
              <a:cs typeface="微软雅黑"/>
            </a:endParaRPr>
          </a:p>
          <a:p>
            <a:pPr marL="1118870" lvl="1" indent="-457200">
              <a:lnSpc>
                <a:spcPct val="100000"/>
              </a:lnSpc>
              <a:spcBef>
                <a:spcPts val="2045"/>
              </a:spcBef>
              <a:buClr>
                <a:srgbClr val="EC7C30"/>
              </a:buClr>
              <a:buFont typeface="Wingdings"/>
              <a:buChar char=""/>
              <a:tabLst>
                <a:tab pos="1118870" algn="l"/>
              </a:tabLst>
            </a:pPr>
            <a:r>
              <a:rPr sz="2400" dirty="0">
                <a:latin typeface="微软雅黑"/>
                <a:cs typeface="微软雅黑"/>
              </a:rPr>
              <a:t>实现时间重叠的基础：</a:t>
            </a:r>
            <a:r>
              <a:rPr sz="2400" spc="-10" dirty="0">
                <a:solidFill>
                  <a:srgbClr val="D50092"/>
                </a:solidFill>
                <a:latin typeface="微软雅黑"/>
                <a:cs typeface="微软雅黑"/>
              </a:rPr>
              <a:t>部件功能专用化</a:t>
            </a:r>
            <a:endParaRPr sz="2400">
              <a:latin typeface="微软雅黑"/>
              <a:cs typeface="微软雅黑"/>
            </a:endParaRPr>
          </a:p>
          <a:p>
            <a:pPr marL="1175385" lvl="2" indent="-228600">
              <a:lnSpc>
                <a:spcPct val="100000"/>
              </a:lnSpc>
              <a:spcBef>
                <a:spcPts val="1789"/>
              </a:spcBef>
              <a:buClr>
                <a:srgbClr val="538235"/>
              </a:buClr>
              <a:buFont typeface="Arial"/>
              <a:buChar char="•"/>
              <a:tabLst>
                <a:tab pos="1175385" algn="l"/>
              </a:tabLst>
            </a:pPr>
            <a:r>
              <a:rPr sz="2000" spc="-20" dirty="0">
                <a:latin typeface="微软雅黑"/>
                <a:cs typeface="微软雅黑"/>
              </a:rPr>
              <a:t>把一件工作按功能分割为若干相互联系的部分；</a:t>
            </a:r>
            <a:endParaRPr sz="2000">
              <a:latin typeface="微软雅黑"/>
              <a:cs typeface="微软雅黑"/>
            </a:endParaRPr>
          </a:p>
          <a:p>
            <a:pPr marL="1175385" lvl="2" indent="-228600">
              <a:lnSpc>
                <a:spcPct val="100000"/>
              </a:lnSpc>
              <a:spcBef>
                <a:spcPts val="1710"/>
              </a:spcBef>
              <a:buClr>
                <a:srgbClr val="538235"/>
              </a:buClr>
              <a:buFont typeface="Arial"/>
              <a:buChar char="•"/>
              <a:tabLst>
                <a:tab pos="1175385" algn="l"/>
              </a:tabLst>
            </a:pPr>
            <a:r>
              <a:rPr sz="2000" spc="-15" dirty="0">
                <a:latin typeface="微软雅黑"/>
                <a:cs typeface="微软雅黑"/>
              </a:rPr>
              <a:t>把每一部分指定给专门的部件完成；</a:t>
            </a:r>
            <a:endParaRPr sz="2000">
              <a:latin typeface="微软雅黑"/>
              <a:cs typeface="微软雅黑"/>
            </a:endParaRPr>
          </a:p>
          <a:p>
            <a:pPr marL="1175385" marR="94615" lvl="2" indent="-228600">
              <a:lnSpc>
                <a:spcPct val="150100"/>
              </a:lnSpc>
              <a:spcBef>
                <a:spcPts val="500"/>
              </a:spcBef>
              <a:buClr>
                <a:srgbClr val="538235"/>
              </a:buClr>
              <a:buFont typeface="Arial"/>
              <a:buChar char="•"/>
              <a:tabLst>
                <a:tab pos="1175385" algn="l"/>
              </a:tabLst>
            </a:pPr>
            <a:r>
              <a:rPr sz="2000" spc="-15" dirty="0">
                <a:latin typeface="微软雅黑"/>
                <a:cs typeface="微软雅黑"/>
              </a:rPr>
              <a:t>然后按时间重叠原理把各部分的执行过程在时间上重叠起来，使所有部件依次分工完成</a:t>
            </a:r>
            <a:r>
              <a:rPr sz="2000" spc="-10" dirty="0">
                <a:latin typeface="微软雅黑"/>
                <a:cs typeface="微软雅黑"/>
              </a:rPr>
              <a:t>一组同样的工作。</a:t>
            </a:r>
            <a:endParaRPr sz="2000">
              <a:latin typeface="微软雅黑"/>
              <a:cs typeface="微软雅黑"/>
            </a:endParaRPr>
          </a:p>
          <a:p>
            <a:pPr marL="1175385" lvl="2" indent="-228600">
              <a:lnSpc>
                <a:spcPct val="100000"/>
              </a:lnSpc>
              <a:spcBef>
                <a:spcPts val="1689"/>
              </a:spcBef>
              <a:buClr>
                <a:srgbClr val="538235"/>
              </a:buClr>
              <a:buFont typeface="Arial"/>
              <a:buChar char="•"/>
              <a:tabLst>
                <a:tab pos="1175385" algn="l"/>
              </a:tabLst>
            </a:pPr>
            <a:r>
              <a:rPr sz="2000" spc="-20" dirty="0">
                <a:latin typeface="微软雅黑"/>
                <a:cs typeface="微软雅黑"/>
              </a:rPr>
              <a:t>例如取指、译码、取操作数、执行、写回等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2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EC7C30"/>
                </a:solidFill>
                <a:latin typeface="微软雅黑"/>
                <a:cs typeface="微软雅黑"/>
              </a:rPr>
              <a:t>单处理机的资源共享实质</a:t>
            </a:r>
            <a:r>
              <a:rPr sz="2400" spc="-5" dirty="0">
                <a:latin typeface="微软雅黑"/>
                <a:cs typeface="微软雅黑"/>
              </a:rPr>
              <a:t>：用单处理机模拟多处理机功能，形成所谓虚拟机的概念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1.5.4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多机系统中并行性的发</a:t>
            </a:r>
            <a:r>
              <a:rPr spc="-15" dirty="0"/>
              <a:t>展</a:t>
            </a:r>
            <a:r>
              <a:rPr spc="-10" dirty="0"/>
              <a:t>（</a:t>
            </a:r>
            <a:r>
              <a:rPr spc="-10" dirty="0">
                <a:latin typeface="Times New Roman"/>
                <a:cs typeface="Times New Roman"/>
              </a:rPr>
              <a:t>1</a:t>
            </a:r>
            <a:r>
              <a:rPr dirty="0"/>
              <a:t>、</a:t>
            </a:r>
            <a:r>
              <a:rPr spc="-10" dirty="0">
                <a:latin typeface="Times New Roman"/>
                <a:cs typeface="Times New Roman"/>
              </a:rPr>
              <a:t>2</a:t>
            </a:r>
            <a:r>
              <a:rPr dirty="0"/>
              <a:t>、</a:t>
            </a:r>
            <a:r>
              <a:rPr spc="-25" dirty="0">
                <a:latin typeface="Times New Roman"/>
                <a:cs typeface="Times New Roman"/>
              </a:rPr>
              <a:t>3</a:t>
            </a:r>
            <a:r>
              <a:rPr spc="-25" dirty="0"/>
              <a:t>）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520" y="1106169"/>
            <a:ext cx="11860530" cy="4916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40385" indent="-457834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Wingdings"/>
              <a:buChar char=""/>
              <a:tabLst>
                <a:tab pos="540385" algn="l"/>
              </a:tabLst>
            </a:pPr>
            <a:r>
              <a:rPr sz="2800" spc="-35" dirty="0">
                <a:solidFill>
                  <a:srgbClr val="EC7C30"/>
                </a:solidFill>
                <a:latin typeface="微软雅黑"/>
                <a:cs typeface="微软雅黑"/>
              </a:rPr>
              <a:t>多机系统</a:t>
            </a:r>
            <a:r>
              <a:rPr sz="2800" spc="-35" dirty="0">
                <a:latin typeface="微软雅黑"/>
                <a:cs typeface="微软雅黑"/>
              </a:rPr>
              <a:t>：多个独立的计算机（</a:t>
            </a:r>
            <a:r>
              <a:rPr sz="2800" spc="-40" dirty="0">
                <a:latin typeface="微软雅黑"/>
                <a:cs typeface="微软雅黑"/>
              </a:rPr>
              <a:t>每个都有自己的处理器、内存和操作系</a:t>
            </a:r>
            <a:endParaRPr sz="2800">
              <a:latin typeface="微软雅黑"/>
              <a:cs typeface="微软雅黑"/>
            </a:endParaRPr>
          </a:p>
          <a:p>
            <a:pPr marL="540385">
              <a:lnSpc>
                <a:spcPct val="100000"/>
              </a:lnSpc>
              <a:spcBef>
                <a:spcPts val="2020"/>
              </a:spcBef>
            </a:pPr>
            <a:r>
              <a:rPr sz="2800" spc="-35" dirty="0">
                <a:latin typeface="微软雅黑"/>
                <a:cs typeface="微软雅黑"/>
              </a:rPr>
              <a:t>统）</a:t>
            </a:r>
            <a:r>
              <a:rPr sz="2800" spc="-40" dirty="0">
                <a:latin typeface="微软雅黑"/>
                <a:cs typeface="微软雅黑"/>
              </a:rPr>
              <a:t>通过高速互联网络连接而成的系统。</a:t>
            </a:r>
            <a:endParaRPr sz="2800">
              <a:latin typeface="微软雅黑"/>
              <a:cs typeface="微软雅黑"/>
            </a:endParaRPr>
          </a:p>
          <a:p>
            <a:pPr marL="540385" indent="-457834">
              <a:lnSpc>
                <a:spcPct val="100000"/>
              </a:lnSpc>
              <a:spcBef>
                <a:spcPts val="3010"/>
              </a:spcBef>
              <a:buClr>
                <a:srgbClr val="0000FF"/>
              </a:buClr>
              <a:buFont typeface="Wingdings"/>
              <a:buChar char=""/>
              <a:tabLst>
                <a:tab pos="540385" algn="l"/>
              </a:tabLst>
            </a:pPr>
            <a:r>
              <a:rPr sz="2800" spc="-45" dirty="0">
                <a:latin typeface="微软雅黑"/>
                <a:cs typeface="微软雅黑"/>
              </a:rPr>
              <a:t>通过消息传递的方式进行通信与协作，以共同完成一个大型任务。</a:t>
            </a:r>
            <a:endParaRPr sz="2800">
              <a:latin typeface="微软雅黑"/>
              <a:cs typeface="微软雅黑"/>
            </a:endParaRPr>
          </a:p>
          <a:p>
            <a:pPr marL="82550" marR="5080" indent="-70485">
              <a:lnSpc>
                <a:spcPts val="8300"/>
              </a:lnSpc>
              <a:spcBef>
                <a:spcPts val="1050"/>
              </a:spcBef>
            </a:pPr>
            <a:r>
              <a:rPr sz="2800" spc="-35" dirty="0">
                <a:solidFill>
                  <a:srgbClr val="FF0000"/>
                </a:solidFill>
                <a:latin typeface="微软雅黑"/>
                <a:cs typeface="微软雅黑"/>
              </a:rPr>
              <a:t>规模</a:t>
            </a:r>
            <a:r>
              <a:rPr sz="2800" spc="-40" dirty="0">
                <a:latin typeface="微软雅黑"/>
                <a:cs typeface="微软雅黑"/>
              </a:rPr>
              <a:t>：从少量节点 -&gt; 大规模集群 -&gt; 超大规模数据中心 -&gt; 全球级泛在计算</a:t>
            </a:r>
            <a:r>
              <a:rPr sz="2800" spc="-35" dirty="0">
                <a:solidFill>
                  <a:srgbClr val="FF0000"/>
                </a:solidFill>
                <a:latin typeface="微软雅黑"/>
                <a:cs typeface="微软雅黑"/>
              </a:rPr>
              <a:t>架构</a:t>
            </a:r>
            <a:r>
              <a:rPr sz="2800" spc="-40" dirty="0">
                <a:latin typeface="微软雅黑"/>
                <a:cs typeface="微软雅黑"/>
              </a:rPr>
              <a:t>：从同构 -&gt; 异构；从紧耦合 -&gt; 资源池化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395"/>
              </a:spcBef>
            </a:pPr>
            <a:r>
              <a:rPr sz="2800" spc="-35" dirty="0">
                <a:solidFill>
                  <a:srgbClr val="FF0000"/>
                </a:solidFill>
                <a:latin typeface="微软雅黑"/>
                <a:cs typeface="微软雅黑"/>
              </a:rPr>
              <a:t>目标</a:t>
            </a:r>
            <a:r>
              <a:rPr sz="2800" spc="-40" dirty="0">
                <a:latin typeface="微软雅黑"/>
                <a:cs typeface="微软雅黑"/>
              </a:rPr>
              <a:t>：从追求峰值性能 -&gt; 兼顾效率、成本、灵活性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1.5.4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多机系统中并行性的发</a:t>
            </a:r>
            <a:r>
              <a:rPr spc="-50" dirty="0"/>
              <a:t>展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3948" y="2051430"/>
            <a:ext cx="9719945" cy="1261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Wingdings"/>
              <a:buChar char=""/>
              <a:tabLst>
                <a:tab pos="469900" algn="l"/>
              </a:tabLst>
            </a:pPr>
            <a:r>
              <a:rPr sz="2800" b="1" spc="-35" dirty="0">
                <a:solidFill>
                  <a:srgbClr val="FF0000"/>
                </a:solidFill>
                <a:latin typeface="微软雅黑"/>
                <a:cs typeface="微软雅黑"/>
              </a:rPr>
              <a:t>核心</a:t>
            </a:r>
            <a:r>
              <a:rPr sz="2800" spc="-35" dirty="0">
                <a:latin typeface="微软雅黑"/>
                <a:cs typeface="微软雅黑"/>
              </a:rPr>
              <a:t>：</a:t>
            </a:r>
            <a:r>
              <a:rPr sz="2800" b="1" spc="-40" dirty="0">
                <a:latin typeface="微软雅黑"/>
                <a:cs typeface="微软雅黑"/>
              </a:rPr>
              <a:t>克服通信瓶颈，高效协同一切可用的计算资源</a:t>
            </a:r>
            <a:endParaRPr sz="2800">
              <a:latin typeface="微软雅黑"/>
              <a:cs typeface="微软雅黑"/>
            </a:endParaRPr>
          </a:p>
          <a:p>
            <a:pPr marL="469900" indent="-457200">
              <a:lnSpc>
                <a:spcPct val="100000"/>
              </a:lnSpc>
              <a:spcBef>
                <a:spcPts val="3015"/>
              </a:spcBef>
              <a:buClr>
                <a:srgbClr val="0000FF"/>
              </a:buClr>
              <a:buFont typeface="Wingdings"/>
              <a:buChar char=""/>
              <a:tabLst>
                <a:tab pos="469900" algn="l"/>
              </a:tabLst>
            </a:pPr>
            <a:r>
              <a:rPr sz="2800" b="1" spc="-35" dirty="0">
                <a:solidFill>
                  <a:srgbClr val="FF0000"/>
                </a:solidFill>
                <a:latin typeface="微软雅黑"/>
                <a:cs typeface="微软雅黑"/>
              </a:rPr>
              <a:t>展望</a:t>
            </a:r>
            <a:r>
              <a:rPr sz="2800" spc="-35" dirty="0">
                <a:latin typeface="微软雅黑"/>
                <a:cs typeface="微软雅黑"/>
              </a:rPr>
              <a:t>：</a:t>
            </a:r>
            <a:r>
              <a:rPr sz="2800" b="1" spc="-35" dirty="0">
                <a:latin typeface="微软雅黑"/>
                <a:cs typeface="微软雅黑"/>
              </a:rPr>
              <a:t>并行即服务</a:t>
            </a:r>
            <a:r>
              <a:rPr sz="2800" spc="-40" dirty="0">
                <a:latin typeface="微软雅黑"/>
                <a:cs typeface="微软雅黑"/>
              </a:rPr>
              <a:t>，计算力像电力一样无处不在，随需可取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1.5.4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多机系统中并行性的发</a:t>
            </a:r>
            <a:r>
              <a:rPr spc="-15" dirty="0"/>
              <a:t>展</a:t>
            </a:r>
            <a:r>
              <a:rPr spc="-10" dirty="0"/>
              <a:t>（</a:t>
            </a:r>
            <a:r>
              <a:rPr spc="-10" dirty="0">
                <a:latin typeface="Times New Roman"/>
                <a:cs typeface="Times New Roman"/>
              </a:rPr>
              <a:t>1</a:t>
            </a:r>
            <a:r>
              <a:rPr dirty="0"/>
              <a:t>、</a:t>
            </a:r>
            <a:r>
              <a:rPr spc="-10" dirty="0">
                <a:latin typeface="Times New Roman"/>
                <a:cs typeface="Times New Roman"/>
              </a:rPr>
              <a:t>2</a:t>
            </a:r>
            <a:r>
              <a:rPr dirty="0"/>
              <a:t>、</a:t>
            </a:r>
            <a:r>
              <a:rPr spc="-25" dirty="0">
                <a:latin typeface="Times New Roman"/>
                <a:cs typeface="Times New Roman"/>
              </a:rPr>
              <a:t>3</a:t>
            </a:r>
            <a:r>
              <a:rPr spc="-25" dirty="0"/>
              <a:t>）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8093" y="963624"/>
            <a:ext cx="10963275" cy="1944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1</a:t>
            </a:r>
            <a:r>
              <a:rPr sz="2800" spc="-40" dirty="0">
                <a:latin typeface="微软雅黑"/>
                <a:cs typeface="微软雅黑"/>
              </a:rPr>
              <a:t>、</a:t>
            </a:r>
            <a:r>
              <a:rPr sz="2800" spc="-40" dirty="0">
                <a:solidFill>
                  <a:srgbClr val="EC7C30"/>
                </a:solidFill>
                <a:latin typeface="微软雅黑"/>
                <a:cs typeface="微软雅黑"/>
              </a:rPr>
              <a:t>多机系统</a:t>
            </a:r>
            <a:r>
              <a:rPr sz="2800" spc="-40" dirty="0">
                <a:latin typeface="微软雅黑"/>
                <a:cs typeface="微软雅黑"/>
              </a:rPr>
              <a:t>遵循时间重叠、资源重复、资源共享原理（</a:t>
            </a:r>
            <a:r>
              <a:rPr sz="2800" spc="-35" dirty="0">
                <a:latin typeface="微软雅黑"/>
                <a:cs typeface="微软雅黑"/>
              </a:rPr>
              <a:t>技术</a:t>
            </a:r>
            <a:r>
              <a:rPr sz="2800" spc="-40" dirty="0">
                <a:latin typeface="微软雅黑"/>
                <a:cs typeface="微软雅黑"/>
              </a:rPr>
              <a:t>），</a:t>
            </a:r>
            <a:r>
              <a:rPr sz="2800" spc="-50" dirty="0">
                <a:latin typeface="微软雅黑"/>
                <a:cs typeface="微软雅黑"/>
              </a:rPr>
              <a:t>发</a:t>
            </a:r>
            <a:endParaRPr sz="28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2020"/>
              </a:spcBef>
            </a:pPr>
            <a:r>
              <a:rPr sz="2800" spc="-35" dirty="0">
                <a:latin typeface="微软雅黑"/>
                <a:cs typeface="微软雅黑"/>
              </a:rPr>
              <a:t>展为</a:t>
            </a:r>
            <a:r>
              <a:rPr sz="2800" spc="-10" dirty="0">
                <a:latin typeface="黑体"/>
                <a:cs typeface="黑体"/>
              </a:rPr>
              <a:t>3</a:t>
            </a:r>
            <a:r>
              <a:rPr sz="2800" spc="-35" dirty="0">
                <a:latin typeface="微软雅黑"/>
                <a:cs typeface="微软雅黑"/>
              </a:rPr>
              <a:t>种不同的多处理机（发展方向</a:t>
            </a:r>
            <a:r>
              <a:rPr sz="2800" spc="-25" dirty="0">
                <a:latin typeface="微软雅黑"/>
                <a:cs typeface="微软雅黑"/>
              </a:rPr>
              <a:t>）：</a:t>
            </a:r>
            <a:endParaRPr sz="2800">
              <a:latin typeface="微软雅黑"/>
              <a:cs typeface="微软雅黑"/>
            </a:endParaRPr>
          </a:p>
          <a:p>
            <a:pPr marL="990600">
              <a:lnSpc>
                <a:spcPct val="100000"/>
              </a:lnSpc>
              <a:spcBef>
                <a:spcPts val="3010"/>
              </a:spcBef>
              <a:tabLst>
                <a:tab pos="4458335" algn="l"/>
                <a:tab pos="7926070" algn="l"/>
              </a:tabLst>
            </a:pPr>
            <a:r>
              <a:rPr sz="2800" spc="-40" dirty="0">
                <a:solidFill>
                  <a:srgbClr val="D50092"/>
                </a:solidFill>
                <a:latin typeface="微软雅黑"/>
                <a:cs typeface="微软雅黑"/>
              </a:rPr>
              <a:t>同构型多处理机</a:t>
            </a:r>
            <a:r>
              <a:rPr sz="2800" spc="-50" dirty="0">
                <a:solidFill>
                  <a:srgbClr val="D50092"/>
                </a:solidFill>
                <a:latin typeface="微软雅黑"/>
                <a:cs typeface="微软雅黑"/>
              </a:rPr>
              <a:t>、</a:t>
            </a:r>
            <a:r>
              <a:rPr sz="2800" dirty="0">
                <a:solidFill>
                  <a:srgbClr val="D50092"/>
                </a:solidFill>
                <a:latin typeface="微软雅黑"/>
                <a:cs typeface="微软雅黑"/>
              </a:rPr>
              <a:t>	</a:t>
            </a:r>
            <a:r>
              <a:rPr sz="2800" spc="-40" dirty="0">
                <a:solidFill>
                  <a:srgbClr val="D50092"/>
                </a:solidFill>
                <a:latin typeface="微软雅黑"/>
                <a:cs typeface="微软雅黑"/>
              </a:rPr>
              <a:t>异构型多处理机</a:t>
            </a:r>
            <a:r>
              <a:rPr sz="2800" spc="-50" dirty="0">
                <a:solidFill>
                  <a:srgbClr val="D50092"/>
                </a:solidFill>
                <a:latin typeface="微软雅黑"/>
                <a:cs typeface="微软雅黑"/>
              </a:rPr>
              <a:t>、</a:t>
            </a:r>
            <a:r>
              <a:rPr sz="2800" dirty="0">
                <a:solidFill>
                  <a:srgbClr val="D50092"/>
                </a:solidFill>
                <a:latin typeface="微软雅黑"/>
                <a:cs typeface="微软雅黑"/>
              </a:rPr>
              <a:t>	</a:t>
            </a:r>
            <a:r>
              <a:rPr sz="2800" spc="-40" dirty="0">
                <a:solidFill>
                  <a:srgbClr val="D50092"/>
                </a:solidFill>
                <a:latin typeface="微软雅黑"/>
                <a:cs typeface="微软雅黑"/>
              </a:rPr>
              <a:t>分布式系</a:t>
            </a:r>
            <a:r>
              <a:rPr sz="2800" spc="-50" dirty="0">
                <a:solidFill>
                  <a:srgbClr val="D50092"/>
                </a:solidFill>
                <a:latin typeface="微软雅黑"/>
                <a:cs typeface="微软雅黑"/>
              </a:rPr>
              <a:t>统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079" y="3539596"/>
            <a:ext cx="3683000" cy="1671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400" dirty="0">
                <a:latin typeface="微软雅黑"/>
                <a:cs typeface="微软雅黑"/>
              </a:rPr>
              <a:t>资源重复（</a:t>
            </a:r>
            <a:r>
              <a:rPr sz="2400" spc="-10" dirty="0">
                <a:latin typeface="微软雅黑"/>
                <a:cs typeface="微软雅黑"/>
              </a:rPr>
              <a:t>多同类型处理机并行多任务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目的</a:t>
            </a:r>
            <a:r>
              <a:rPr sz="2400" spc="-5" dirty="0">
                <a:latin typeface="微软雅黑"/>
                <a:cs typeface="微软雅黑"/>
              </a:rPr>
              <a:t>：为了提高系统的性能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2996" y="3633342"/>
            <a:ext cx="3683000" cy="167195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微软雅黑"/>
                <a:cs typeface="微软雅黑"/>
              </a:rPr>
              <a:t>时间重复（</a:t>
            </a:r>
            <a:r>
              <a:rPr sz="2400" spc="-10" dirty="0">
                <a:latin typeface="微软雅黑"/>
                <a:cs typeface="微软雅黑"/>
              </a:rPr>
              <a:t>不同类型处理机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微软雅黑"/>
                <a:cs typeface="微软雅黑"/>
              </a:rPr>
              <a:t>，利用时间重叠</a:t>
            </a:r>
            <a:r>
              <a:rPr sz="2400" spc="-50" dirty="0">
                <a:latin typeface="微软雅黑"/>
                <a:cs typeface="微软雅黑"/>
              </a:rPr>
              <a:t>）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目的</a:t>
            </a:r>
            <a:r>
              <a:rPr sz="2400" spc="-5" dirty="0">
                <a:latin typeface="微软雅黑"/>
                <a:cs typeface="微软雅黑"/>
              </a:rPr>
              <a:t>：为了提高系统的效率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44533" y="3512311"/>
            <a:ext cx="246634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资源共享（</a:t>
            </a:r>
            <a:r>
              <a:rPr sz="2400" spc="-20" dirty="0">
                <a:latin typeface="微软雅黑"/>
                <a:cs typeface="微软雅黑"/>
              </a:rPr>
              <a:t>不同网</a:t>
            </a:r>
            <a:r>
              <a:rPr sz="2400" dirty="0">
                <a:latin typeface="微软雅黑"/>
                <a:cs typeface="微软雅黑"/>
              </a:rPr>
              <a:t>络、地理分散</a:t>
            </a:r>
            <a:r>
              <a:rPr sz="2400" spc="-50" dirty="0">
                <a:latin typeface="微软雅黑"/>
                <a:cs typeface="微软雅黑"/>
              </a:rPr>
              <a:t>） </a:t>
            </a:r>
            <a:r>
              <a:rPr sz="2400" spc="-5" dirty="0">
                <a:solidFill>
                  <a:srgbClr val="FF0000"/>
                </a:solidFill>
                <a:latin typeface="微软雅黑"/>
                <a:cs typeface="微软雅黑"/>
              </a:rPr>
              <a:t>目的</a:t>
            </a:r>
            <a:r>
              <a:rPr sz="2400" spc="-20" dirty="0">
                <a:latin typeface="微软雅黑"/>
                <a:cs typeface="微软雅黑"/>
              </a:rPr>
              <a:t>：兼顾系统性</a:t>
            </a:r>
            <a:r>
              <a:rPr sz="2400" spc="-15" dirty="0">
                <a:latin typeface="微软雅黑"/>
                <a:cs typeface="微软雅黑"/>
              </a:rPr>
              <a:t>能和效率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153" y="160782"/>
            <a:ext cx="113169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1.5.4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多机系统中并行性的发</a:t>
            </a:r>
            <a:r>
              <a:rPr spc="-15" dirty="0"/>
              <a:t>展</a:t>
            </a:r>
            <a:r>
              <a:rPr spc="-10" dirty="0"/>
              <a:t>（</a:t>
            </a:r>
            <a:r>
              <a:rPr spc="-10" dirty="0">
                <a:latin typeface="Times New Roman"/>
                <a:cs typeface="Times New Roman"/>
              </a:rPr>
              <a:t>1</a:t>
            </a:r>
            <a:r>
              <a:rPr dirty="0"/>
              <a:t>、</a:t>
            </a:r>
            <a:r>
              <a:rPr spc="-10" dirty="0">
                <a:latin typeface="Times New Roman"/>
                <a:cs typeface="Times New Roman"/>
              </a:rPr>
              <a:t>2</a:t>
            </a:r>
            <a:r>
              <a:rPr dirty="0"/>
              <a:t>、</a:t>
            </a:r>
            <a:r>
              <a:rPr spc="-25" dirty="0">
                <a:latin typeface="Times New Roman"/>
                <a:cs typeface="Times New Roman"/>
              </a:rPr>
              <a:t>3</a:t>
            </a:r>
            <a:r>
              <a:rPr spc="-25" dirty="0"/>
              <a:t>）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6049" y="730077"/>
            <a:ext cx="11468735" cy="491744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45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  <a:tab pos="2374900" algn="l"/>
              </a:tabLst>
            </a:pPr>
            <a:r>
              <a:rPr sz="2400" spc="-10" dirty="0">
                <a:latin typeface="Times New Roman"/>
                <a:cs typeface="Times New Roman"/>
              </a:rPr>
              <a:t>2</a:t>
            </a:r>
            <a:r>
              <a:rPr sz="2400" spc="-10" dirty="0">
                <a:latin typeface="微软雅黑"/>
                <a:cs typeface="微软雅黑"/>
              </a:rPr>
              <a:t>、耦合度</a:t>
            </a:r>
            <a:r>
              <a:rPr sz="2400" spc="-50" dirty="0">
                <a:latin typeface="微软雅黑"/>
                <a:cs typeface="微软雅黑"/>
              </a:rPr>
              <a:t>：</a:t>
            </a:r>
            <a:r>
              <a:rPr sz="2400" dirty="0">
                <a:latin typeface="微软雅黑"/>
                <a:cs typeface="微软雅黑"/>
              </a:rPr>
              <a:t>	</a:t>
            </a:r>
            <a:r>
              <a:rPr sz="2400" spc="-10" dirty="0">
                <a:latin typeface="微软雅黑"/>
                <a:cs typeface="微软雅黑"/>
              </a:rPr>
              <a:t>反映多机系统中各机器之间物理连接的紧密程度和交互作用能力</a:t>
            </a:r>
            <a:r>
              <a:rPr sz="2400" spc="-50" dirty="0">
                <a:latin typeface="微软雅黑"/>
                <a:cs typeface="微软雅黑"/>
              </a:rPr>
              <a:t>的</a:t>
            </a:r>
            <a:endParaRPr sz="2400">
              <a:latin typeface="微软雅黑"/>
              <a:cs typeface="微软雅黑"/>
            </a:endParaRPr>
          </a:p>
          <a:p>
            <a:pPr marL="469900">
              <a:lnSpc>
                <a:spcPct val="100000"/>
              </a:lnSpc>
              <a:spcBef>
                <a:spcPts val="1440"/>
              </a:spcBef>
            </a:pPr>
            <a:r>
              <a:rPr sz="2400" spc="-20" dirty="0">
                <a:latin typeface="微软雅黑"/>
                <a:cs typeface="微软雅黑"/>
              </a:rPr>
              <a:t>强弱。</a:t>
            </a:r>
            <a:endParaRPr sz="24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80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紧密耦合系统（</a:t>
            </a:r>
            <a:r>
              <a:rPr sz="2000" spc="-5" dirty="0">
                <a:solidFill>
                  <a:srgbClr val="FF0000"/>
                </a:solidFill>
                <a:latin typeface="微软雅黑"/>
                <a:cs typeface="微软雅黑"/>
              </a:rPr>
              <a:t>直接耦合系统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）：</a:t>
            </a:r>
            <a:r>
              <a:rPr sz="2000" spc="-15" dirty="0">
                <a:latin typeface="微软雅黑"/>
                <a:cs typeface="微软雅黑"/>
              </a:rPr>
              <a:t>在这种系统中，计算机之间的物理连接的频带较高，一般</a:t>
            </a:r>
            <a:endParaRPr sz="2000">
              <a:latin typeface="微软雅黑"/>
              <a:cs typeface="微软雅黑"/>
            </a:endParaRPr>
          </a:p>
          <a:p>
            <a:pPr marL="1099185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latin typeface="微软雅黑"/>
                <a:cs typeface="微软雅黑"/>
              </a:rPr>
              <a:t>是通过总线或高速开关互连，可以共享主存。</a:t>
            </a:r>
            <a:endParaRPr sz="2000">
              <a:latin typeface="微软雅黑"/>
              <a:cs typeface="微软雅黑"/>
            </a:endParaRPr>
          </a:p>
          <a:p>
            <a:pPr marL="1099185" marR="5080" lvl="1" indent="-457834">
              <a:lnSpc>
                <a:spcPct val="150000"/>
              </a:lnSpc>
              <a:spcBef>
                <a:spcPts val="49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  <a:tab pos="1797050" algn="l"/>
                <a:tab pos="6624320" algn="l"/>
              </a:tabLst>
            </a:pP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松散耦合系统（间接耦</a:t>
            </a:r>
            <a:r>
              <a:rPr sz="2000" spc="-15" dirty="0">
                <a:solidFill>
                  <a:srgbClr val="FF0000"/>
                </a:solidFill>
                <a:latin typeface="微软雅黑"/>
                <a:cs typeface="微软雅黑"/>
              </a:rPr>
              <a:t>合</a:t>
            </a:r>
            <a:r>
              <a:rPr sz="2000" dirty="0">
                <a:solidFill>
                  <a:srgbClr val="FF0000"/>
                </a:solidFill>
                <a:latin typeface="微软雅黑"/>
                <a:cs typeface="微软雅黑"/>
              </a:rPr>
              <a:t>系统</a:t>
            </a: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）</a:t>
            </a:r>
            <a:r>
              <a:rPr sz="2000" spc="-10" dirty="0">
                <a:latin typeface="微软雅黑"/>
                <a:cs typeface="微软雅黑"/>
              </a:rPr>
              <a:t>：</a:t>
            </a:r>
            <a:r>
              <a:rPr sz="2000" dirty="0">
                <a:latin typeface="微软雅黑"/>
                <a:cs typeface="微软雅黑"/>
              </a:rPr>
              <a:t>一</a:t>
            </a:r>
            <a:r>
              <a:rPr sz="2000" spc="-15" dirty="0">
                <a:latin typeface="微软雅黑"/>
                <a:cs typeface="微软雅黑"/>
              </a:rPr>
              <a:t>般</a:t>
            </a:r>
            <a:r>
              <a:rPr sz="2000" dirty="0">
                <a:latin typeface="微软雅黑"/>
                <a:cs typeface="微软雅黑"/>
              </a:rPr>
              <a:t>是通</a:t>
            </a:r>
            <a:r>
              <a:rPr sz="2000" spc="-15" dirty="0">
                <a:latin typeface="微软雅黑"/>
                <a:cs typeface="微软雅黑"/>
              </a:rPr>
              <a:t>过</a:t>
            </a:r>
            <a:r>
              <a:rPr sz="2000" spc="-50" dirty="0">
                <a:latin typeface="微软雅黑"/>
                <a:cs typeface="微软雅黑"/>
              </a:rPr>
              <a:t>通</a:t>
            </a:r>
            <a:r>
              <a:rPr sz="2000" dirty="0">
                <a:latin typeface="微软雅黑"/>
                <a:cs typeface="微软雅黑"/>
              </a:rPr>
              <a:t>	道或通信线路实现计算</a:t>
            </a:r>
            <a:r>
              <a:rPr sz="2000" spc="-15" dirty="0">
                <a:latin typeface="微软雅黑"/>
                <a:cs typeface="微软雅黑"/>
              </a:rPr>
              <a:t>机</a:t>
            </a:r>
            <a:r>
              <a:rPr sz="2000" dirty="0">
                <a:latin typeface="微软雅黑"/>
                <a:cs typeface="微软雅黑"/>
              </a:rPr>
              <a:t>之间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dirty="0">
                <a:latin typeface="微软雅黑"/>
                <a:cs typeface="微软雅黑"/>
              </a:rPr>
              <a:t>互连</a:t>
            </a:r>
            <a:r>
              <a:rPr sz="2000" spc="-15" dirty="0">
                <a:latin typeface="微软雅黑"/>
                <a:cs typeface="微软雅黑"/>
              </a:rPr>
              <a:t>，</a:t>
            </a:r>
            <a:r>
              <a:rPr sz="2000" dirty="0">
                <a:latin typeface="微软雅黑"/>
                <a:cs typeface="微软雅黑"/>
              </a:rPr>
              <a:t>可</a:t>
            </a:r>
            <a:r>
              <a:rPr sz="2000" spc="-50" dirty="0">
                <a:latin typeface="微软雅黑"/>
                <a:cs typeface="微软雅黑"/>
              </a:rPr>
              <a:t>以</a:t>
            </a:r>
            <a:r>
              <a:rPr sz="2000" dirty="0">
                <a:latin typeface="微软雅黑"/>
                <a:cs typeface="微软雅黑"/>
              </a:rPr>
              <a:t>共</a:t>
            </a:r>
            <a:r>
              <a:rPr sz="2000" spc="-50" dirty="0">
                <a:latin typeface="微软雅黑"/>
                <a:cs typeface="微软雅黑"/>
              </a:rPr>
              <a:t>享</a:t>
            </a:r>
            <a:r>
              <a:rPr sz="2000" dirty="0">
                <a:latin typeface="微软雅黑"/>
                <a:cs typeface="微软雅黑"/>
              </a:rPr>
              <a:t>	外存设备（磁盘、磁带等</a:t>
            </a:r>
            <a:r>
              <a:rPr sz="2000" spc="-15" dirty="0">
                <a:latin typeface="微软雅黑"/>
                <a:cs typeface="微软雅黑"/>
              </a:rPr>
              <a:t>）</a:t>
            </a:r>
            <a:r>
              <a:rPr sz="2000" dirty="0">
                <a:latin typeface="微软雅黑"/>
                <a:cs typeface="微软雅黑"/>
              </a:rPr>
              <a:t>。机</a:t>
            </a:r>
            <a:r>
              <a:rPr sz="2000" spc="-15" dirty="0">
                <a:latin typeface="微软雅黑"/>
                <a:cs typeface="微软雅黑"/>
              </a:rPr>
              <a:t>器</a:t>
            </a:r>
            <a:r>
              <a:rPr sz="2000" dirty="0">
                <a:latin typeface="微软雅黑"/>
                <a:cs typeface="微软雅黑"/>
              </a:rPr>
              <a:t>之间</a:t>
            </a:r>
            <a:r>
              <a:rPr sz="2000" spc="-15" dirty="0">
                <a:latin typeface="微软雅黑"/>
                <a:cs typeface="微软雅黑"/>
              </a:rPr>
              <a:t>的</a:t>
            </a:r>
            <a:r>
              <a:rPr sz="2000" dirty="0">
                <a:latin typeface="微软雅黑"/>
                <a:cs typeface="微软雅黑"/>
              </a:rPr>
              <a:t>相互</a:t>
            </a:r>
            <a:r>
              <a:rPr sz="2000" spc="-15" dirty="0">
                <a:latin typeface="微软雅黑"/>
                <a:cs typeface="微软雅黑"/>
              </a:rPr>
              <a:t>作</a:t>
            </a:r>
            <a:r>
              <a:rPr sz="2000" dirty="0">
                <a:latin typeface="微软雅黑"/>
                <a:cs typeface="微软雅黑"/>
              </a:rPr>
              <a:t>用是</a:t>
            </a:r>
            <a:r>
              <a:rPr sz="2000" spc="-15" dirty="0">
                <a:latin typeface="微软雅黑"/>
                <a:cs typeface="微软雅黑"/>
              </a:rPr>
              <a:t>在</a:t>
            </a:r>
            <a:r>
              <a:rPr sz="2000" dirty="0">
                <a:latin typeface="微软雅黑"/>
                <a:cs typeface="微软雅黑"/>
              </a:rPr>
              <a:t>文件</a:t>
            </a:r>
            <a:r>
              <a:rPr sz="2000" spc="-15" dirty="0">
                <a:latin typeface="微软雅黑"/>
                <a:cs typeface="微软雅黑"/>
              </a:rPr>
              <a:t>或</a:t>
            </a:r>
            <a:r>
              <a:rPr sz="2000" dirty="0">
                <a:latin typeface="微软雅黑"/>
                <a:cs typeface="微软雅黑"/>
              </a:rPr>
              <a:t>数据</a:t>
            </a:r>
            <a:r>
              <a:rPr sz="2000" spc="-15" dirty="0">
                <a:latin typeface="微软雅黑"/>
                <a:cs typeface="微软雅黑"/>
              </a:rPr>
              <a:t>集</a:t>
            </a:r>
            <a:r>
              <a:rPr sz="2000" dirty="0">
                <a:latin typeface="微软雅黑"/>
                <a:cs typeface="微软雅黑"/>
              </a:rPr>
              <a:t>一级</a:t>
            </a:r>
            <a:r>
              <a:rPr sz="2000" spc="-15" dirty="0">
                <a:latin typeface="微软雅黑"/>
                <a:cs typeface="微软雅黑"/>
              </a:rPr>
              <a:t>上</a:t>
            </a:r>
            <a:r>
              <a:rPr sz="2000" dirty="0">
                <a:latin typeface="微软雅黑"/>
                <a:cs typeface="微软雅黑"/>
              </a:rPr>
              <a:t>进行</a:t>
            </a:r>
            <a:r>
              <a:rPr sz="2000" spc="-50" dirty="0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958850">
              <a:lnSpc>
                <a:spcPct val="100000"/>
              </a:lnSpc>
              <a:spcBef>
                <a:spcPts val="1705"/>
              </a:spcBef>
            </a:pPr>
            <a:r>
              <a:rPr sz="2000" spc="-10" dirty="0">
                <a:solidFill>
                  <a:srgbClr val="FF0000"/>
                </a:solidFill>
                <a:latin typeface="微软雅黑"/>
                <a:cs typeface="微软雅黑"/>
              </a:rPr>
              <a:t>表现为两种形式：</a:t>
            </a:r>
            <a:endParaRPr sz="2000">
              <a:latin typeface="微软雅黑"/>
              <a:cs typeface="微软雅黑"/>
            </a:endParaRPr>
          </a:p>
          <a:p>
            <a:pPr marL="1556385" marR="183515" lvl="2" indent="-457200">
              <a:lnSpc>
                <a:spcPct val="150000"/>
              </a:lnSpc>
              <a:spcBef>
                <a:spcPts val="575"/>
              </a:spcBef>
              <a:buClr>
                <a:srgbClr val="538235"/>
              </a:buClr>
              <a:buFont typeface="Arial"/>
              <a:buChar char="•"/>
              <a:tabLst>
                <a:tab pos="1556385" algn="l"/>
              </a:tabLst>
            </a:pPr>
            <a:r>
              <a:rPr sz="1700" spc="-15" dirty="0">
                <a:latin typeface="微软雅黑"/>
                <a:cs typeface="微软雅黑"/>
              </a:rPr>
              <a:t>多台计算机和共享的外存设备连接，不同机器之间实现功能上的分工</a:t>
            </a:r>
            <a:r>
              <a:rPr sz="1700" dirty="0">
                <a:latin typeface="微软雅黑"/>
                <a:cs typeface="微软雅黑"/>
              </a:rPr>
              <a:t>（</a:t>
            </a:r>
            <a:r>
              <a:rPr sz="1700" spc="-15" dirty="0">
                <a:latin typeface="微软雅黑"/>
                <a:cs typeface="微软雅黑"/>
              </a:rPr>
              <a:t>功能专用化</a:t>
            </a:r>
            <a:r>
              <a:rPr sz="1700" spc="-10" dirty="0">
                <a:latin typeface="微软雅黑"/>
                <a:cs typeface="微软雅黑"/>
              </a:rPr>
              <a:t>）</a:t>
            </a:r>
            <a:r>
              <a:rPr sz="1700" spc="-20" dirty="0">
                <a:latin typeface="微软雅黑"/>
                <a:cs typeface="微软雅黑"/>
              </a:rPr>
              <a:t>，机器处理的结果以文件或数据集的形式送到共享外存设备，供其它机器继续处理。</a:t>
            </a:r>
            <a:endParaRPr sz="1700">
              <a:latin typeface="微软雅黑"/>
              <a:cs typeface="微软雅黑"/>
            </a:endParaRPr>
          </a:p>
          <a:p>
            <a:pPr marL="1556385" lvl="2" indent="-457200">
              <a:lnSpc>
                <a:spcPct val="100000"/>
              </a:lnSpc>
              <a:spcBef>
                <a:spcPts val="1530"/>
              </a:spcBef>
              <a:buClr>
                <a:srgbClr val="538235"/>
              </a:buClr>
              <a:buFont typeface="Arial"/>
              <a:buChar char="•"/>
              <a:tabLst>
                <a:tab pos="1556385" algn="l"/>
              </a:tabLst>
            </a:pPr>
            <a:r>
              <a:rPr sz="1700" spc="-20" dirty="0">
                <a:latin typeface="微软雅黑"/>
                <a:cs typeface="微软雅黑"/>
              </a:rPr>
              <a:t>计算机网，通过通信线路连接，实现更大范围的资源共享。</a:t>
            </a:r>
            <a:endParaRPr sz="17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1.5.4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/>
              <a:t>多机系统中并行性的发</a:t>
            </a:r>
            <a:r>
              <a:rPr spc="-15" dirty="0"/>
              <a:t>展</a:t>
            </a:r>
            <a:r>
              <a:rPr spc="-10" dirty="0"/>
              <a:t>（</a:t>
            </a:r>
            <a:r>
              <a:rPr spc="-10" dirty="0">
                <a:latin typeface="Times New Roman"/>
                <a:cs typeface="Times New Roman"/>
              </a:rPr>
              <a:t>1</a:t>
            </a:r>
            <a:r>
              <a:rPr dirty="0"/>
              <a:t>、</a:t>
            </a:r>
            <a:r>
              <a:rPr spc="-10" dirty="0">
                <a:latin typeface="Times New Roman"/>
                <a:cs typeface="Times New Roman"/>
              </a:rPr>
              <a:t>2</a:t>
            </a:r>
            <a:r>
              <a:rPr dirty="0"/>
              <a:t>、</a:t>
            </a:r>
            <a:r>
              <a:rPr spc="-25" dirty="0">
                <a:latin typeface="Times New Roman"/>
                <a:cs typeface="Times New Roman"/>
              </a:rPr>
              <a:t>3</a:t>
            </a:r>
            <a:r>
              <a:rPr spc="-25" dirty="0"/>
              <a:t>）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036" y="1188161"/>
            <a:ext cx="10788650" cy="4334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Times New Roman"/>
              <a:buAutoNum type="arabicPeriod" startAt="3"/>
              <a:tabLst>
                <a:tab pos="469900" algn="l"/>
              </a:tabLst>
            </a:pPr>
            <a:r>
              <a:rPr sz="2800" spc="-40" dirty="0">
                <a:latin typeface="微软雅黑"/>
                <a:cs typeface="微软雅黑"/>
              </a:rPr>
              <a:t>功能专用化（实现时间重叠 </a:t>
            </a:r>
            <a:r>
              <a:rPr sz="2800" spc="-50" dirty="0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205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10" dirty="0">
                <a:latin typeface="微软雅黑"/>
                <a:cs typeface="微软雅黑"/>
              </a:rPr>
              <a:t>专用外围处理机</a:t>
            </a:r>
            <a:endParaRPr sz="24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789"/>
              </a:spcBef>
            </a:pPr>
            <a:r>
              <a:rPr sz="2000" dirty="0">
                <a:latin typeface="微软雅黑"/>
                <a:cs typeface="微软雅黑"/>
              </a:rPr>
              <a:t>例如：输入</a:t>
            </a:r>
            <a:r>
              <a:rPr sz="2000" dirty="0">
                <a:latin typeface="Times New Roman"/>
                <a:cs typeface="Times New Roman"/>
              </a:rPr>
              <a:t>/</a:t>
            </a:r>
            <a:r>
              <a:rPr sz="2000" spc="-15" dirty="0">
                <a:latin typeface="微软雅黑"/>
                <a:cs typeface="微软雅黑"/>
              </a:rPr>
              <a:t>输出功能的分离</a:t>
            </a:r>
            <a:endParaRPr sz="20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84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10" dirty="0">
                <a:latin typeface="微软雅黑"/>
                <a:cs typeface="微软雅黑"/>
              </a:rPr>
              <a:t>专用处理机</a:t>
            </a:r>
            <a:endParaRPr sz="24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805"/>
              </a:spcBef>
            </a:pPr>
            <a:r>
              <a:rPr sz="2000" spc="-20" dirty="0">
                <a:latin typeface="微软雅黑"/>
                <a:cs typeface="微软雅黑"/>
              </a:rPr>
              <a:t>如数组运算、高级语言翻译、数据库管理等，分离出来。</a:t>
            </a:r>
            <a:endParaRPr sz="20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83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10" dirty="0">
                <a:latin typeface="微软雅黑"/>
                <a:cs typeface="微软雅黑"/>
              </a:rPr>
              <a:t>异构型多处理机系统</a:t>
            </a:r>
            <a:endParaRPr sz="2400">
              <a:latin typeface="微软雅黑"/>
              <a:cs typeface="微软雅黑"/>
            </a:endParaRPr>
          </a:p>
          <a:p>
            <a:pPr marL="1155700" marR="5080" indent="215900">
              <a:lnSpc>
                <a:spcPct val="150000"/>
              </a:lnSpc>
              <a:spcBef>
                <a:spcPts val="605"/>
              </a:spcBef>
            </a:pPr>
            <a:r>
              <a:rPr sz="2000" dirty="0">
                <a:latin typeface="微软雅黑"/>
                <a:cs typeface="微软雅黑"/>
              </a:rPr>
              <a:t>由多个</a:t>
            </a:r>
            <a:r>
              <a:rPr sz="2000" dirty="0">
                <a:solidFill>
                  <a:srgbClr val="EC7C30"/>
                </a:solidFill>
                <a:latin typeface="微软雅黑"/>
                <a:cs typeface="微软雅黑"/>
              </a:rPr>
              <a:t>不同类型</a:t>
            </a:r>
            <a:r>
              <a:rPr sz="2000" spc="-20" dirty="0">
                <a:latin typeface="微软雅黑"/>
                <a:cs typeface="微软雅黑"/>
              </a:rPr>
              <a:t>、至少担负不同功能的处理机组成，它们按照作业要求的顺序，利用时间重叠原理，依次对它们的多个任务进行加工，各自完成规定的功能动作。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1.5.5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并行机的发展变</a:t>
            </a:r>
            <a:r>
              <a:rPr spc="-50" dirty="0"/>
              <a:t>化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0" y="1286001"/>
            <a:ext cx="12016740" cy="4276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微软雅黑"/>
                <a:cs typeface="微软雅黑"/>
              </a:rPr>
              <a:t>并行机的发展可分为</a:t>
            </a:r>
            <a:r>
              <a:rPr sz="2600" spc="-10" dirty="0">
                <a:solidFill>
                  <a:srgbClr val="6600FF"/>
                </a:solidFill>
                <a:latin typeface="Times New Roman"/>
                <a:cs typeface="Times New Roman"/>
              </a:rPr>
              <a:t>4</a:t>
            </a:r>
            <a:r>
              <a:rPr sz="2600" spc="-20" dirty="0">
                <a:latin typeface="微软雅黑"/>
                <a:cs typeface="微软雅黑"/>
              </a:rPr>
              <a:t>个阶段。</a:t>
            </a:r>
            <a:endParaRPr sz="26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193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1</a:t>
            </a:r>
            <a:r>
              <a:rPr sz="2600" spc="-5" dirty="0">
                <a:latin typeface="微软雅黑"/>
                <a:cs typeface="微软雅黑"/>
              </a:rPr>
              <a:t>、并行机的萌芽阶段</a:t>
            </a:r>
            <a:r>
              <a:rPr sz="2600" spc="-10" dirty="0">
                <a:latin typeface="微软雅黑"/>
                <a:cs typeface="微软雅黑"/>
              </a:rPr>
              <a:t>（</a:t>
            </a:r>
            <a:r>
              <a:rPr sz="2600" spc="-10" dirty="0">
                <a:latin typeface="Times New Roman"/>
                <a:cs typeface="Times New Roman"/>
              </a:rPr>
              <a:t>1964</a:t>
            </a:r>
            <a:r>
              <a:rPr sz="2600" dirty="0">
                <a:latin typeface="微软雅黑"/>
                <a:cs typeface="微软雅黑"/>
              </a:rPr>
              <a:t>年</a:t>
            </a:r>
            <a:r>
              <a:rPr sz="2600" spc="-10" dirty="0">
                <a:latin typeface="微软雅黑"/>
                <a:cs typeface="微软雅黑"/>
              </a:rPr>
              <a:t>～</a:t>
            </a:r>
            <a:r>
              <a:rPr sz="2600" spc="-10" dirty="0">
                <a:latin typeface="Times New Roman"/>
                <a:cs typeface="Times New Roman"/>
              </a:rPr>
              <a:t>1975</a:t>
            </a:r>
            <a:r>
              <a:rPr sz="2600" dirty="0">
                <a:latin typeface="微软雅黑"/>
                <a:cs typeface="微软雅黑"/>
              </a:rPr>
              <a:t>年</a:t>
            </a:r>
            <a:r>
              <a:rPr sz="2600" spc="-50" dirty="0">
                <a:latin typeface="微软雅黑"/>
                <a:cs typeface="微软雅黑"/>
              </a:rPr>
              <a:t>）</a:t>
            </a:r>
            <a:endParaRPr sz="26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37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10" dirty="0">
                <a:latin typeface="Times New Roman"/>
                <a:cs typeface="Times New Roman"/>
              </a:rPr>
              <a:t>20</a:t>
            </a:r>
            <a:r>
              <a:rPr sz="2200" spc="-30" dirty="0">
                <a:latin typeface="微软雅黑"/>
                <a:cs typeface="微软雅黑"/>
              </a:rPr>
              <a:t>世纪</a:t>
            </a:r>
            <a:r>
              <a:rPr sz="2200" spc="-10" dirty="0">
                <a:latin typeface="Times New Roman"/>
                <a:cs typeface="Times New Roman"/>
              </a:rPr>
              <a:t>60</a:t>
            </a:r>
            <a:r>
              <a:rPr sz="2200" spc="-35" dirty="0">
                <a:latin typeface="微软雅黑"/>
                <a:cs typeface="微软雅黑"/>
              </a:rPr>
              <a:t>年代初期</a:t>
            </a:r>
            <a:endParaRPr sz="2200">
              <a:latin typeface="微软雅黑"/>
              <a:cs typeface="微软雅黑"/>
            </a:endParaRPr>
          </a:p>
          <a:p>
            <a:pPr marL="1216660" lvl="2" indent="-289560">
              <a:lnSpc>
                <a:spcPct val="100000"/>
              </a:lnSpc>
              <a:spcBef>
                <a:spcPts val="1235"/>
              </a:spcBef>
              <a:buClr>
                <a:srgbClr val="538235"/>
              </a:buClr>
              <a:buFont typeface="Arial"/>
              <a:buChar char="•"/>
              <a:tabLst>
                <a:tab pos="1216660" algn="l"/>
              </a:tabLst>
            </a:pPr>
            <a:r>
              <a:rPr sz="1900" spc="-20" dirty="0">
                <a:solidFill>
                  <a:srgbClr val="6600FF"/>
                </a:solidFill>
                <a:latin typeface="Times New Roman"/>
                <a:cs typeface="Times New Roman"/>
              </a:rPr>
              <a:t>CDC6600</a:t>
            </a:r>
            <a:r>
              <a:rPr sz="1900" spc="-25" dirty="0">
                <a:latin typeface="微软雅黑"/>
                <a:cs typeface="微软雅黑"/>
              </a:rPr>
              <a:t>：非对称的共享存储结构，中央处理机采用了双</a:t>
            </a:r>
            <a:r>
              <a:rPr sz="1900" spc="-10" dirty="0">
                <a:solidFill>
                  <a:srgbClr val="6600FF"/>
                </a:solidFill>
                <a:latin typeface="Times New Roman"/>
                <a:cs typeface="Times New Roman"/>
              </a:rPr>
              <a:t>CPU</a:t>
            </a:r>
            <a:r>
              <a:rPr sz="1900" spc="-30" dirty="0">
                <a:latin typeface="微软雅黑"/>
                <a:cs typeface="微软雅黑"/>
              </a:rPr>
              <a:t>，并连接了多个外部处理器。</a:t>
            </a:r>
            <a:endParaRPr sz="1900">
              <a:latin typeface="微软雅黑"/>
              <a:cs typeface="微软雅黑"/>
            </a:endParaRPr>
          </a:p>
          <a:p>
            <a:pPr marL="1099185" lvl="1" indent="-457200">
              <a:lnSpc>
                <a:spcPct val="100000"/>
              </a:lnSpc>
              <a:spcBef>
                <a:spcPts val="123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200" spc="-10" dirty="0">
                <a:latin typeface="Times New Roman"/>
                <a:cs typeface="Times New Roman"/>
              </a:rPr>
              <a:t>60</a:t>
            </a:r>
            <a:r>
              <a:rPr sz="2200" spc="-30" dirty="0">
                <a:latin typeface="微软雅黑"/>
                <a:cs typeface="微软雅黑"/>
              </a:rPr>
              <a:t>年代后期，</a:t>
            </a:r>
            <a:r>
              <a:rPr sz="2200" spc="-35" dirty="0">
                <a:solidFill>
                  <a:srgbClr val="D50092"/>
                </a:solidFill>
                <a:latin typeface="微软雅黑"/>
                <a:cs typeface="微软雅黑"/>
              </a:rPr>
              <a:t>一个重要的突破</a:t>
            </a:r>
            <a:endParaRPr sz="2200">
              <a:latin typeface="微软雅黑"/>
              <a:cs typeface="微软雅黑"/>
            </a:endParaRPr>
          </a:p>
          <a:p>
            <a:pPr marL="1155700" marR="5080" lvl="2" indent="-229235">
              <a:lnSpc>
                <a:spcPct val="130000"/>
              </a:lnSpc>
              <a:spcBef>
                <a:spcPts val="555"/>
              </a:spcBef>
              <a:buClr>
                <a:srgbClr val="538235"/>
              </a:buClr>
              <a:buFont typeface="Arial"/>
              <a:buChar char="•"/>
              <a:tabLst>
                <a:tab pos="1155700" algn="l"/>
              </a:tabLst>
            </a:pPr>
            <a:r>
              <a:rPr sz="1900" spc="-30" dirty="0">
                <a:latin typeface="微软雅黑"/>
                <a:cs typeface="微软雅黑"/>
              </a:rPr>
              <a:t>在处理器中使用流水线和重复设置功能单元，所获得的性能提高是明显的，并比单纯地提高时钟频率来提高性能更有效。</a:t>
            </a:r>
            <a:endParaRPr sz="1900">
              <a:latin typeface="微软雅黑"/>
              <a:cs typeface="微软雅黑"/>
            </a:endParaRPr>
          </a:p>
          <a:p>
            <a:pPr marL="697865" indent="-227965">
              <a:lnSpc>
                <a:spcPct val="100000"/>
              </a:lnSpc>
              <a:spcBef>
                <a:spcPts val="1235"/>
              </a:spcBef>
              <a:buClr>
                <a:srgbClr val="EC7C30"/>
              </a:buClr>
              <a:buSzPct val="95454"/>
              <a:buFont typeface="Wingdings"/>
              <a:buChar char=""/>
              <a:tabLst>
                <a:tab pos="697865" algn="l"/>
              </a:tabLst>
            </a:pPr>
            <a:r>
              <a:rPr sz="2200" spc="-30" dirty="0">
                <a:latin typeface="微软雅黑"/>
                <a:cs typeface="微软雅黑"/>
              </a:rPr>
              <a:t>在</a:t>
            </a:r>
            <a:r>
              <a:rPr sz="2200" spc="-10" dirty="0">
                <a:latin typeface="Times New Roman"/>
                <a:cs typeface="Times New Roman"/>
              </a:rPr>
              <a:t>1972</a:t>
            </a:r>
            <a:r>
              <a:rPr sz="2200" spc="-20" dirty="0">
                <a:latin typeface="微软雅黑"/>
                <a:cs typeface="微软雅黑"/>
              </a:rPr>
              <a:t>年，</a:t>
            </a:r>
            <a:r>
              <a:rPr sz="2200" spc="-10" dirty="0">
                <a:latin typeface="Times New Roman"/>
                <a:cs typeface="Times New Roman"/>
              </a:rPr>
              <a:t>Illinois</a:t>
            </a:r>
            <a:r>
              <a:rPr sz="2200" spc="-30" dirty="0">
                <a:latin typeface="微软雅黑"/>
                <a:cs typeface="微软雅黑"/>
              </a:rPr>
              <a:t>大学和</a:t>
            </a:r>
            <a:r>
              <a:rPr sz="2200" spc="-10" dirty="0">
                <a:latin typeface="Times New Roman"/>
                <a:cs typeface="Times New Roman"/>
              </a:rPr>
              <a:t>Burroughs</a:t>
            </a:r>
            <a:r>
              <a:rPr sz="2200" spc="-40" dirty="0">
                <a:latin typeface="微软雅黑"/>
                <a:cs typeface="微软雅黑"/>
              </a:rPr>
              <a:t>公司联合研制</a:t>
            </a:r>
            <a:r>
              <a:rPr sz="2200" dirty="0">
                <a:latin typeface="Times New Roman"/>
                <a:cs typeface="Times New Roman"/>
              </a:rPr>
              <a:t>Illiac</a:t>
            </a:r>
            <a:r>
              <a:rPr sz="2200" spc="65" dirty="0">
                <a:latin typeface="Times New Roman"/>
                <a:cs typeface="Times New Roman"/>
              </a:rPr>
              <a:t> Ⅳ </a:t>
            </a:r>
            <a:r>
              <a:rPr sz="2200" spc="-20" dirty="0">
                <a:latin typeface="Times New Roman"/>
                <a:cs typeface="Times New Roman"/>
              </a:rPr>
              <a:t>SIMD</a:t>
            </a:r>
            <a:r>
              <a:rPr sz="2200" spc="-25" dirty="0">
                <a:latin typeface="微软雅黑"/>
                <a:cs typeface="微软雅黑"/>
              </a:rPr>
              <a:t>计算机</a:t>
            </a:r>
            <a:r>
              <a:rPr sz="2200" spc="-20" dirty="0">
                <a:latin typeface="微软雅黑"/>
                <a:cs typeface="微软雅黑"/>
              </a:rPr>
              <a:t>（</a:t>
            </a:r>
            <a:r>
              <a:rPr sz="2200" spc="-20" dirty="0">
                <a:latin typeface="Times New Roman"/>
                <a:cs typeface="Times New Roman"/>
              </a:rPr>
              <a:t>64</a:t>
            </a:r>
            <a:r>
              <a:rPr sz="2200" spc="-35" dirty="0">
                <a:latin typeface="微软雅黑"/>
                <a:cs typeface="微软雅黑"/>
              </a:rPr>
              <a:t>个处理单元构成的</a:t>
            </a:r>
            <a:endParaRPr sz="2200">
              <a:latin typeface="微软雅黑"/>
              <a:cs typeface="微软雅黑"/>
            </a:endParaRPr>
          </a:p>
          <a:p>
            <a:pPr marL="1517015" lvl="1" indent="-589915">
              <a:lnSpc>
                <a:spcPct val="100000"/>
              </a:lnSpc>
              <a:spcBef>
                <a:spcPts val="1255"/>
              </a:spcBef>
              <a:buClr>
                <a:srgbClr val="538235"/>
              </a:buClr>
              <a:buFont typeface="Arial"/>
              <a:buChar char="•"/>
              <a:tabLst>
                <a:tab pos="1517015" algn="l"/>
              </a:tabLst>
            </a:pPr>
            <a:r>
              <a:rPr sz="1900" spc="-25" dirty="0">
                <a:latin typeface="微软雅黑"/>
                <a:cs typeface="微软雅黑"/>
              </a:rPr>
              <a:t>在</a:t>
            </a:r>
            <a:r>
              <a:rPr sz="1900" spc="-10" dirty="0">
                <a:latin typeface="Times New Roman"/>
                <a:cs typeface="Times New Roman"/>
              </a:rPr>
              <a:t>1975</a:t>
            </a:r>
            <a:r>
              <a:rPr sz="1900" spc="-35" dirty="0">
                <a:latin typeface="微软雅黑"/>
                <a:cs typeface="微软雅黑"/>
              </a:rPr>
              <a:t>年 </a:t>
            </a:r>
            <a:r>
              <a:rPr sz="1900" dirty="0">
                <a:latin typeface="Times New Roman"/>
                <a:cs typeface="Times New Roman"/>
              </a:rPr>
              <a:t>Illiac</a:t>
            </a:r>
            <a:r>
              <a:rPr sz="1900" spc="-15" dirty="0">
                <a:latin typeface="Times New Roman"/>
                <a:cs typeface="Times New Roman"/>
              </a:rPr>
              <a:t> Ⅳ</a:t>
            </a:r>
            <a:r>
              <a:rPr sz="1900" spc="-35" dirty="0">
                <a:latin typeface="微软雅黑"/>
                <a:cs typeface="微软雅黑"/>
              </a:rPr>
              <a:t>系统 </a:t>
            </a:r>
            <a:r>
              <a:rPr sz="1900" spc="-20" dirty="0">
                <a:latin typeface="微软雅黑"/>
                <a:cs typeface="微软雅黑"/>
              </a:rPr>
              <a:t>（</a:t>
            </a:r>
            <a:r>
              <a:rPr sz="1900" spc="-20" dirty="0">
                <a:latin typeface="Times New Roman"/>
                <a:cs typeface="Times New Roman"/>
              </a:rPr>
              <a:t>16</a:t>
            </a:r>
            <a:r>
              <a:rPr sz="1900" spc="-25" dirty="0">
                <a:latin typeface="微软雅黑"/>
                <a:cs typeface="微软雅黑"/>
              </a:rPr>
              <a:t>个处理单元构成</a:t>
            </a:r>
            <a:r>
              <a:rPr sz="1900" spc="-50" dirty="0">
                <a:latin typeface="微软雅黑"/>
                <a:cs typeface="微软雅黑"/>
              </a:rPr>
              <a:t>）</a:t>
            </a:r>
            <a:endParaRPr sz="19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1.5.5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并行机的发展变</a:t>
            </a:r>
            <a:r>
              <a:rPr spc="-50" dirty="0"/>
              <a:t>化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9259" y="1243406"/>
            <a:ext cx="10848975" cy="4363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105"/>
              </a:spcBef>
            </a:pPr>
            <a:r>
              <a:rPr sz="2600" spc="-10" dirty="0">
                <a:latin typeface="微软雅黑"/>
                <a:cs typeface="微软雅黑"/>
              </a:rPr>
              <a:t>并行机的发展可分为</a:t>
            </a:r>
            <a:r>
              <a:rPr sz="2600" spc="-10" dirty="0">
                <a:solidFill>
                  <a:srgbClr val="6600FF"/>
                </a:solidFill>
                <a:latin typeface="Times New Roman"/>
                <a:cs typeface="Times New Roman"/>
              </a:rPr>
              <a:t>4</a:t>
            </a:r>
            <a:r>
              <a:rPr sz="2600" spc="-20" dirty="0">
                <a:latin typeface="微软雅黑"/>
                <a:cs typeface="微软雅黑"/>
              </a:rPr>
              <a:t>个阶段。</a:t>
            </a:r>
            <a:endParaRPr sz="26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256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600" dirty="0">
                <a:latin typeface="Times New Roman"/>
                <a:cs typeface="Times New Roman"/>
              </a:rPr>
              <a:t>2</a:t>
            </a:r>
            <a:r>
              <a:rPr sz="2600" spc="-10" dirty="0">
                <a:latin typeface="微软雅黑"/>
                <a:cs typeface="微软雅黑"/>
              </a:rPr>
              <a:t>、向量机的发展和鼎盛阶段（</a:t>
            </a:r>
            <a:r>
              <a:rPr sz="2600" spc="-10" dirty="0">
                <a:latin typeface="Times New Roman"/>
                <a:cs typeface="Times New Roman"/>
              </a:rPr>
              <a:t>1976</a:t>
            </a:r>
            <a:r>
              <a:rPr sz="2600" dirty="0">
                <a:latin typeface="微软雅黑"/>
                <a:cs typeface="微软雅黑"/>
              </a:rPr>
              <a:t>年</a:t>
            </a:r>
            <a:r>
              <a:rPr sz="2600" spc="-10" dirty="0">
                <a:latin typeface="微软雅黑"/>
                <a:cs typeface="微软雅黑"/>
              </a:rPr>
              <a:t>～</a:t>
            </a:r>
            <a:r>
              <a:rPr sz="2600" spc="-10" dirty="0">
                <a:latin typeface="Times New Roman"/>
                <a:cs typeface="Times New Roman"/>
              </a:rPr>
              <a:t>1990</a:t>
            </a:r>
            <a:r>
              <a:rPr sz="2600" dirty="0">
                <a:latin typeface="微软雅黑"/>
                <a:cs typeface="微软雅黑"/>
              </a:rPr>
              <a:t>年</a:t>
            </a:r>
            <a:r>
              <a:rPr sz="2600" spc="-50" dirty="0">
                <a:latin typeface="微软雅黑"/>
                <a:cs typeface="微软雅黑"/>
              </a:rPr>
              <a:t>）</a:t>
            </a:r>
            <a:endParaRPr sz="2600">
              <a:latin typeface="微软雅黑"/>
              <a:cs typeface="微软雅黑"/>
            </a:endParaRPr>
          </a:p>
          <a:p>
            <a:pPr marL="697865" lvl="1" indent="-227965">
              <a:lnSpc>
                <a:spcPct val="100000"/>
              </a:lnSpc>
              <a:spcBef>
                <a:spcPts val="1920"/>
              </a:spcBef>
              <a:buClr>
                <a:srgbClr val="EC7C30"/>
              </a:buClr>
              <a:buSzPct val="95454"/>
              <a:buFont typeface="Wingdings"/>
              <a:buChar char=""/>
              <a:tabLst>
                <a:tab pos="697865" algn="l"/>
              </a:tabLst>
            </a:pPr>
            <a:r>
              <a:rPr sz="2200" spc="-10" dirty="0">
                <a:latin typeface="Times New Roman"/>
                <a:cs typeface="Times New Roman"/>
              </a:rPr>
              <a:t>1976</a:t>
            </a:r>
            <a:r>
              <a:rPr sz="2200" spc="-30" dirty="0">
                <a:latin typeface="微软雅黑"/>
                <a:cs typeface="微软雅黑"/>
              </a:rPr>
              <a:t>年，</a:t>
            </a:r>
            <a:r>
              <a:rPr sz="2200" spc="-20" dirty="0">
                <a:latin typeface="Times New Roman"/>
                <a:cs typeface="Times New Roman"/>
              </a:rPr>
              <a:t>Cray</a:t>
            </a:r>
            <a:r>
              <a:rPr sz="2200" spc="-35" dirty="0">
                <a:latin typeface="微软雅黑"/>
                <a:cs typeface="微软雅黑"/>
              </a:rPr>
              <a:t>公司推出了第一台向量计算机</a:t>
            </a:r>
            <a:r>
              <a:rPr sz="2200" spc="-10" dirty="0">
                <a:latin typeface="Times New Roman"/>
                <a:cs typeface="Times New Roman"/>
              </a:rPr>
              <a:t>Cray-</a:t>
            </a:r>
            <a:r>
              <a:rPr sz="2200" spc="-50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marL="697865" lvl="1" indent="-227965">
              <a:lnSpc>
                <a:spcPct val="100000"/>
              </a:lnSpc>
              <a:spcBef>
                <a:spcPts val="1814"/>
              </a:spcBef>
              <a:buClr>
                <a:srgbClr val="EC7C30"/>
              </a:buClr>
              <a:buSzPct val="95454"/>
              <a:buFont typeface="Wingdings"/>
              <a:buChar char=""/>
              <a:tabLst>
                <a:tab pos="697865" algn="l"/>
                <a:tab pos="6706870" algn="l"/>
              </a:tabLst>
            </a:pPr>
            <a:r>
              <a:rPr sz="2200" spc="-30" dirty="0">
                <a:latin typeface="微软雅黑"/>
                <a:cs typeface="微软雅黑"/>
              </a:rPr>
              <a:t>在随后</a:t>
            </a:r>
            <a:r>
              <a:rPr sz="2200" spc="-40" dirty="0">
                <a:latin typeface="微软雅黑"/>
                <a:cs typeface="微软雅黑"/>
              </a:rPr>
              <a:t>的</a:t>
            </a:r>
            <a:r>
              <a:rPr sz="2200" spc="-10" dirty="0">
                <a:latin typeface="Times New Roman"/>
                <a:cs typeface="Times New Roman"/>
              </a:rPr>
              <a:t>10</a:t>
            </a:r>
            <a:r>
              <a:rPr sz="2200" spc="-30" dirty="0">
                <a:latin typeface="微软雅黑"/>
                <a:cs typeface="微软雅黑"/>
              </a:rPr>
              <a:t>年中，不断地推出新的向量计</a:t>
            </a:r>
            <a:r>
              <a:rPr sz="2200" spc="-25" dirty="0">
                <a:latin typeface="微软雅黑"/>
                <a:cs typeface="微软雅黑"/>
              </a:rPr>
              <a:t>算</a:t>
            </a:r>
            <a:r>
              <a:rPr sz="2200" spc="-30" dirty="0">
                <a:latin typeface="微软雅黑"/>
                <a:cs typeface="微软雅黑"/>
              </a:rPr>
              <a:t>机</a:t>
            </a:r>
            <a:r>
              <a:rPr sz="2200" spc="-50" dirty="0">
                <a:latin typeface="微软雅黑"/>
                <a:cs typeface="微软雅黑"/>
              </a:rPr>
              <a:t>。</a:t>
            </a:r>
            <a:r>
              <a:rPr sz="2200" dirty="0">
                <a:latin typeface="微软雅黑"/>
                <a:cs typeface="微软雅黑"/>
              </a:rPr>
              <a:t>	</a:t>
            </a:r>
            <a:r>
              <a:rPr sz="2200" spc="-30" dirty="0">
                <a:latin typeface="微软雅黑"/>
                <a:cs typeface="微软雅黑"/>
              </a:rPr>
              <a:t>包括</a:t>
            </a:r>
            <a:r>
              <a:rPr sz="2200" spc="-10" dirty="0">
                <a:latin typeface="微软雅黑"/>
                <a:cs typeface="微软雅黑"/>
              </a:rPr>
              <a:t>：</a:t>
            </a:r>
            <a:r>
              <a:rPr sz="2200" spc="-10" dirty="0">
                <a:latin typeface="Times New Roman"/>
                <a:cs typeface="Times New Roman"/>
              </a:rPr>
              <a:t>CDC</a:t>
            </a:r>
            <a:r>
              <a:rPr sz="2200" spc="-30" dirty="0">
                <a:latin typeface="微软雅黑"/>
                <a:cs typeface="微软雅黑"/>
              </a:rPr>
              <a:t>的</a:t>
            </a:r>
            <a:r>
              <a:rPr sz="2200" spc="-10" dirty="0">
                <a:latin typeface="Times New Roman"/>
                <a:cs typeface="Times New Roman"/>
              </a:rPr>
              <a:t>Cyber205</a:t>
            </a:r>
            <a:r>
              <a:rPr sz="2200" spc="-30" dirty="0">
                <a:latin typeface="微软雅黑"/>
                <a:cs typeface="微软雅黑"/>
              </a:rPr>
              <a:t>、</a:t>
            </a:r>
            <a:r>
              <a:rPr sz="2200" spc="-10" dirty="0">
                <a:latin typeface="Times New Roman"/>
                <a:cs typeface="Times New Roman"/>
              </a:rPr>
              <a:t>Fujitsu</a:t>
            </a:r>
            <a:r>
              <a:rPr sz="2200" spc="-50" dirty="0">
                <a:latin typeface="微软雅黑"/>
                <a:cs typeface="微软雅黑"/>
              </a:rPr>
              <a:t>的</a:t>
            </a:r>
            <a:endParaRPr sz="2200">
              <a:latin typeface="微软雅黑"/>
              <a:cs typeface="微软雅黑"/>
            </a:endParaRPr>
          </a:p>
          <a:p>
            <a:pPr marL="698500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Times New Roman"/>
                <a:cs typeface="Times New Roman"/>
              </a:rPr>
              <a:t>VP1000/VP2000</a:t>
            </a:r>
            <a:r>
              <a:rPr sz="2200" spc="-30" dirty="0">
                <a:latin typeface="微软雅黑"/>
                <a:cs typeface="微软雅黑"/>
              </a:rPr>
              <a:t>、</a:t>
            </a:r>
            <a:r>
              <a:rPr sz="2200" spc="-20" dirty="0">
                <a:latin typeface="Times New Roman"/>
                <a:cs typeface="Times New Roman"/>
              </a:rPr>
              <a:t>NEC</a:t>
            </a:r>
            <a:r>
              <a:rPr sz="2200" spc="-30" dirty="0">
                <a:latin typeface="微软雅黑"/>
                <a:cs typeface="微软雅黑"/>
              </a:rPr>
              <a:t>的</a:t>
            </a:r>
            <a:r>
              <a:rPr sz="2200" spc="-20" dirty="0">
                <a:latin typeface="Times New Roman"/>
                <a:cs typeface="Times New Roman"/>
              </a:rPr>
              <a:t>SX1/SX2</a:t>
            </a:r>
            <a:r>
              <a:rPr sz="2200" spc="-30" dirty="0">
                <a:latin typeface="微软雅黑"/>
                <a:cs typeface="微软雅黑"/>
              </a:rPr>
              <a:t>以、我国的</a:t>
            </a:r>
            <a:r>
              <a:rPr sz="2200" spc="-25" dirty="0">
                <a:latin typeface="Times New Roman"/>
                <a:cs typeface="Times New Roman"/>
              </a:rPr>
              <a:t>YH-</a:t>
            </a:r>
            <a:r>
              <a:rPr sz="2200" spc="-10" dirty="0">
                <a:latin typeface="Times New Roman"/>
                <a:cs typeface="Times New Roman"/>
              </a:rPr>
              <a:t>1</a:t>
            </a:r>
            <a:r>
              <a:rPr sz="2200" spc="-50" dirty="0">
                <a:latin typeface="微软雅黑"/>
                <a:cs typeface="微软雅黑"/>
              </a:rPr>
              <a:t>等</a:t>
            </a:r>
            <a:endParaRPr sz="2200">
              <a:latin typeface="微软雅黑"/>
              <a:cs typeface="微软雅黑"/>
            </a:endParaRPr>
          </a:p>
          <a:p>
            <a:pPr marL="697865" lvl="1" indent="-227965">
              <a:lnSpc>
                <a:spcPct val="100000"/>
              </a:lnSpc>
              <a:spcBef>
                <a:spcPts val="1830"/>
              </a:spcBef>
              <a:buClr>
                <a:srgbClr val="EC7C30"/>
              </a:buClr>
              <a:buSzPct val="95454"/>
              <a:buFont typeface="Wingdings"/>
              <a:buChar char=""/>
              <a:tabLst>
                <a:tab pos="697865" algn="l"/>
              </a:tabLst>
            </a:pPr>
            <a:r>
              <a:rPr sz="2200" spc="-35" dirty="0">
                <a:latin typeface="微软雅黑"/>
                <a:cs typeface="微软雅黑"/>
              </a:rPr>
              <a:t>向量计算机的发展呈两大趋势</a:t>
            </a:r>
            <a:endParaRPr sz="22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1714"/>
              </a:spcBef>
              <a:buClr>
                <a:srgbClr val="538235"/>
              </a:buClr>
              <a:buFont typeface="Arial"/>
              <a:buChar char="•"/>
              <a:tabLst>
                <a:tab pos="1155700" algn="l"/>
              </a:tabLst>
            </a:pPr>
            <a:r>
              <a:rPr sz="1900" spc="-30" dirty="0">
                <a:latin typeface="微软雅黑"/>
                <a:cs typeface="微软雅黑"/>
              </a:rPr>
              <a:t>提高单处理器的速度</a:t>
            </a:r>
            <a:endParaRPr sz="19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1630"/>
              </a:spcBef>
              <a:buClr>
                <a:srgbClr val="538235"/>
              </a:buClr>
              <a:buFont typeface="Arial"/>
              <a:buChar char="•"/>
              <a:tabLst>
                <a:tab pos="1155700" algn="l"/>
              </a:tabLst>
            </a:pPr>
            <a:r>
              <a:rPr sz="1900" spc="-30" dirty="0">
                <a:latin typeface="微软雅黑"/>
                <a:cs typeface="微软雅黑"/>
              </a:rPr>
              <a:t>研制多处理器系统</a:t>
            </a:r>
            <a:endParaRPr sz="19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1.5.5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并行机的发展变</a:t>
            </a:r>
            <a:r>
              <a:rPr spc="-50" dirty="0"/>
              <a:t>化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2600" y="1252549"/>
            <a:ext cx="11584940" cy="4568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95"/>
              </a:spcBef>
            </a:pPr>
            <a:r>
              <a:rPr sz="2800" spc="-40" dirty="0">
                <a:latin typeface="微软雅黑"/>
                <a:cs typeface="微软雅黑"/>
              </a:rPr>
              <a:t>并行机的发展可分为</a:t>
            </a:r>
            <a:r>
              <a:rPr sz="2800" spc="-20" dirty="0">
                <a:solidFill>
                  <a:srgbClr val="6600FF"/>
                </a:solidFill>
                <a:latin typeface="Times New Roman"/>
                <a:cs typeface="Times New Roman"/>
              </a:rPr>
              <a:t>4</a:t>
            </a:r>
            <a:r>
              <a:rPr sz="2800" spc="-45" dirty="0">
                <a:latin typeface="微软雅黑"/>
                <a:cs typeface="微软雅黑"/>
              </a:rPr>
              <a:t>个阶段。</a:t>
            </a:r>
            <a:endParaRPr sz="2800">
              <a:latin typeface="微软雅黑"/>
              <a:cs typeface="微软雅黑"/>
            </a:endParaRPr>
          </a:p>
          <a:p>
            <a:pPr marL="469265" indent="-456565">
              <a:lnSpc>
                <a:spcPct val="100000"/>
              </a:lnSpc>
              <a:spcBef>
                <a:spcPts val="2680"/>
              </a:spcBef>
              <a:buClr>
                <a:srgbClr val="0000FF"/>
              </a:buClr>
              <a:buFont typeface="Wingdings"/>
              <a:buChar char=""/>
              <a:tabLst>
                <a:tab pos="469265" algn="l"/>
              </a:tabLst>
            </a:pPr>
            <a:r>
              <a:rPr sz="2800" spc="-10" dirty="0">
                <a:latin typeface="Times New Roman"/>
                <a:cs typeface="Times New Roman"/>
              </a:rPr>
              <a:t>3</a:t>
            </a:r>
            <a:r>
              <a:rPr sz="2800" spc="-35" dirty="0">
                <a:latin typeface="微软雅黑"/>
                <a:cs typeface="微软雅黑"/>
              </a:rPr>
              <a:t>、</a:t>
            </a:r>
            <a:r>
              <a:rPr sz="2800" spc="-30" dirty="0">
                <a:latin typeface="Times New Roman"/>
                <a:cs typeface="Times New Roman"/>
              </a:rPr>
              <a:t>MPP</a:t>
            </a:r>
            <a:r>
              <a:rPr sz="2800" spc="-35" dirty="0">
                <a:latin typeface="微软雅黑"/>
                <a:cs typeface="微软雅黑"/>
              </a:rPr>
              <a:t>出现和蓬勃发展阶段</a:t>
            </a:r>
            <a:r>
              <a:rPr sz="2800" spc="-20" dirty="0">
                <a:latin typeface="微软雅黑"/>
                <a:cs typeface="微软雅黑"/>
              </a:rPr>
              <a:t>（</a:t>
            </a:r>
            <a:r>
              <a:rPr sz="2800" spc="-20" dirty="0">
                <a:latin typeface="Times New Roman"/>
                <a:cs typeface="Times New Roman"/>
              </a:rPr>
              <a:t>1990</a:t>
            </a:r>
            <a:r>
              <a:rPr sz="2800" spc="-35" dirty="0">
                <a:latin typeface="微软雅黑"/>
                <a:cs typeface="微软雅黑"/>
              </a:rPr>
              <a:t>年</a:t>
            </a:r>
            <a:r>
              <a:rPr sz="2800" spc="-20" dirty="0">
                <a:latin typeface="微软雅黑"/>
                <a:cs typeface="微软雅黑"/>
              </a:rPr>
              <a:t>～</a:t>
            </a:r>
            <a:r>
              <a:rPr sz="2800" spc="-20" dirty="0">
                <a:latin typeface="Times New Roman"/>
                <a:cs typeface="Times New Roman"/>
              </a:rPr>
              <a:t>1995</a:t>
            </a:r>
            <a:r>
              <a:rPr sz="2800" spc="-35" dirty="0">
                <a:latin typeface="微软雅黑"/>
                <a:cs typeface="微软雅黑"/>
              </a:rPr>
              <a:t>年</a:t>
            </a:r>
            <a:r>
              <a:rPr sz="2800" spc="-50" dirty="0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 marL="708660" lvl="1" indent="-243204">
              <a:lnSpc>
                <a:spcPct val="100000"/>
              </a:lnSpc>
              <a:spcBef>
                <a:spcPts val="2045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708660" algn="l"/>
              </a:tabLst>
            </a:pPr>
            <a:r>
              <a:rPr sz="2400" spc="-10" dirty="0">
                <a:latin typeface="微软雅黑"/>
                <a:cs typeface="微软雅黑"/>
              </a:rPr>
              <a:t>早期的</a:t>
            </a:r>
            <a:r>
              <a:rPr sz="2400" spc="-25" dirty="0">
                <a:latin typeface="Times New Roman"/>
                <a:cs typeface="Times New Roman"/>
              </a:rPr>
              <a:t>MPP</a:t>
            </a:r>
            <a:endParaRPr sz="24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805"/>
              </a:spcBef>
              <a:buClr>
                <a:srgbClr val="538235"/>
              </a:buClr>
              <a:buFont typeface="Arial"/>
              <a:buChar char="•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TC2000</a:t>
            </a:r>
            <a:r>
              <a:rPr sz="2000" dirty="0">
                <a:latin typeface="微软雅黑"/>
                <a:cs typeface="微软雅黑"/>
              </a:rPr>
              <a:t>（</a:t>
            </a:r>
            <a:r>
              <a:rPr sz="2000" dirty="0">
                <a:latin typeface="Times New Roman"/>
                <a:cs typeface="Times New Roman"/>
              </a:rPr>
              <a:t>1989</a:t>
            </a:r>
            <a:r>
              <a:rPr sz="2000" dirty="0">
                <a:latin typeface="微软雅黑"/>
                <a:cs typeface="微软雅黑"/>
              </a:rPr>
              <a:t>年</a:t>
            </a:r>
            <a:r>
              <a:rPr sz="2000" spc="-15" dirty="0">
                <a:latin typeface="微软雅黑"/>
                <a:cs typeface="微软雅黑"/>
              </a:rPr>
              <a:t>）</a:t>
            </a:r>
            <a:r>
              <a:rPr sz="2000" dirty="0">
                <a:latin typeface="微软雅黑"/>
                <a:cs typeface="微软雅黑"/>
              </a:rPr>
              <a:t>、</a:t>
            </a:r>
            <a:r>
              <a:rPr sz="2000" spc="-20" dirty="0">
                <a:latin typeface="Times New Roman"/>
                <a:cs typeface="Times New Roman"/>
              </a:rPr>
              <a:t>Touchstone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Delta</a:t>
            </a:r>
            <a:r>
              <a:rPr sz="2000" dirty="0">
                <a:latin typeface="微软雅黑"/>
                <a:cs typeface="微软雅黑"/>
              </a:rPr>
              <a:t>、</a:t>
            </a:r>
            <a:r>
              <a:rPr sz="2000" dirty="0">
                <a:latin typeface="Times New Roman"/>
                <a:cs typeface="Times New Roman"/>
              </a:rPr>
              <a:t>Intel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Paragon</a:t>
            </a:r>
            <a:r>
              <a:rPr sz="2000" spc="-10" dirty="0">
                <a:latin typeface="微软雅黑"/>
                <a:cs typeface="微软雅黑"/>
              </a:rPr>
              <a:t>（</a:t>
            </a:r>
            <a:r>
              <a:rPr sz="2000" spc="-10" dirty="0">
                <a:latin typeface="Times New Roman"/>
                <a:cs typeface="Times New Roman"/>
              </a:rPr>
              <a:t>1992</a:t>
            </a:r>
            <a:r>
              <a:rPr sz="2000" spc="-15" dirty="0">
                <a:latin typeface="微软雅黑"/>
                <a:cs typeface="微软雅黑"/>
              </a:rPr>
              <a:t>年</a:t>
            </a:r>
            <a:r>
              <a:rPr sz="2000" dirty="0">
                <a:latin typeface="微软雅黑"/>
                <a:cs typeface="微软雅黑"/>
              </a:rPr>
              <a:t>）、</a:t>
            </a:r>
            <a:r>
              <a:rPr sz="2000" spc="-20" dirty="0">
                <a:latin typeface="Times New Roman"/>
                <a:cs typeface="Times New Roman"/>
              </a:rPr>
              <a:t>KSR1</a:t>
            </a:r>
            <a:r>
              <a:rPr sz="2000" dirty="0">
                <a:latin typeface="微软雅黑"/>
                <a:cs typeface="微软雅黑"/>
              </a:rPr>
              <a:t>、</a:t>
            </a:r>
            <a:r>
              <a:rPr sz="2000" dirty="0">
                <a:latin typeface="Times New Roman"/>
                <a:cs typeface="Times New Roman"/>
              </a:rPr>
              <a:t>Cray</a:t>
            </a:r>
            <a:r>
              <a:rPr sz="2000" spc="-10" dirty="0">
                <a:latin typeface="Times New Roman"/>
                <a:cs typeface="Times New Roman"/>
              </a:rPr>
              <a:t> T3D</a:t>
            </a:r>
            <a:r>
              <a:rPr sz="2000" spc="-10" dirty="0">
                <a:latin typeface="微软雅黑"/>
                <a:cs typeface="微软雅黑"/>
              </a:rPr>
              <a:t>（</a:t>
            </a:r>
            <a:r>
              <a:rPr sz="2000" spc="-10" dirty="0">
                <a:latin typeface="Times New Roman"/>
                <a:cs typeface="Times New Roman"/>
              </a:rPr>
              <a:t>1993</a:t>
            </a:r>
            <a:endParaRPr sz="2000">
              <a:latin typeface="Times New Roman"/>
              <a:cs typeface="Times New Roman"/>
            </a:endParaRPr>
          </a:p>
          <a:p>
            <a:pPr marL="1155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微软雅黑"/>
                <a:cs typeface="微软雅黑"/>
              </a:rPr>
              <a:t>年）、</a:t>
            </a:r>
            <a:r>
              <a:rPr sz="2000" dirty="0">
                <a:latin typeface="Times New Roman"/>
                <a:cs typeface="Times New Roman"/>
              </a:rPr>
              <a:t>IBM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SP2</a:t>
            </a:r>
            <a:r>
              <a:rPr sz="2000" dirty="0">
                <a:latin typeface="微软雅黑"/>
                <a:cs typeface="微软雅黑"/>
              </a:rPr>
              <a:t>（</a:t>
            </a:r>
            <a:r>
              <a:rPr sz="2000" dirty="0">
                <a:latin typeface="Times New Roman"/>
                <a:cs typeface="Times New Roman"/>
              </a:rPr>
              <a:t>1994</a:t>
            </a:r>
            <a:r>
              <a:rPr sz="2000" dirty="0">
                <a:latin typeface="微软雅黑"/>
                <a:cs typeface="微软雅黑"/>
              </a:rPr>
              <a:t>年</a:t>
            </a:r>
            <a:r>
              <a:rPr sz="2000" spc="-15" dirty="0">
                <a:latin typeface="微软雅黑"/>
                <a:cs typeface="微软雅黑"/>
              </a:rPr>
              <a:t>）</a:t>
            </a:r>
            <a:r>
              <a:rPr sz="2000" spc="-10" dirty="0">
                <a:latin typeface="微软雅黑"/>
                <a:cs typeface="微软雅黑"/>
              </a:rPr>
              <a:t>和我国的曙光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10" dirty="0">
                <a:latin typeface="Times New Roman"/>
                <a:cs typeface="Times New Roman"/>
              </a:rPr>
              <a:t>1000</a:t>
            </a:r>
            <a:r>
              <a:rPr sz="2000" spc="-10" dirty="0">
                <a:latin typeface="微软雅黑"/>
                <a:cs typeface="微软雅黑"/>
              </a:rPr>
              <a:t>（</a:t>
            </a:r>
            <a:r>
              <a:rPr sz="2000" spc="-10" dirty="0">
                <a:latin typeface="Times New Roman"/>
                <a:cs typeface="Times New Roman"/>
              </a:rPr>
              <a:t>1995</a:t>
            </a:r>
            <a:r>
              <a:rPr sz="2000" dirty="0">
                <a:latin typeface="微软雅黑"/>
                <a:cs typeface="微软雅黑"/>
              </a:rPr>
              <a:t>年</a:t>
            </a:r>
            <a:r>
              <a:rPr sz="2000" spc="-15" dirty="0">
                <a:latin typeface="微软雅黑"/>
                <a:cs typeface="微软雅黑"/>
              </a:rPr>
              <a:t>）</a:t>
            </a:r>
            <a:r>
              <a:rPr sz="2000" dirty="0">
                <a:latin typeface="微软雅黑"/>
                <a:cs typeface="微软雅黑"/>
              </a:rPr>
              <a:t>等。</a:t>
            </a:r>
            <a:r>
              <a:rPr sz="2000" spc="-15" dirty="0">
                <a:latin typeface="微软雅黑"/>
                <a:cs typeface="微软雅黑"/>
              </a:rPr>
              <a:t>（</a:t>
            </a:r>
            <a:r>
              <a:rPr sz="2000" spc="-5" dirty="0">
                <a:latin typeface="微软雅黑"/>
                <a:cs typeface="微软雅黑"/>
              </a:rPr>
              <a:t>分布存储的</a:t>
            </a:r>
            <a:r>
              <a:rPr sz="2000" spc="-10" dirty="0">
                <a:latin typeface="Times New Roman"/>
                <a:cs typeface="Times New Roman"/>
              </a:rPr>
              <a:t>MIMD</a:t>
            </a:r>
            <a:r>
              <a:rPr sz="2000" spc="-5" dirty="0">
                <a:latin typeface="微软雅黑"/>
                <a:cs typeface="微软雅黑"/>
              </a:rPr>
              <a:t>计算机</a:t>
            </a:r>
            <a:r>
              <a:rPr sz="2000" spc="-50" dirty="0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709295" lvl="1" indent="-243204">
              <a:lnSpc>
                <a:spcPct val="100000"/>
              </a:lnSpc>
              <a:spcBef>
                <a:spcPts val="1835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709295" algn="l"/>
              </a:tabLst>
            </a:pPr>
            <a:r>
              <a:rPr sz="2400" spc="-30" dirty="0">
                <a:latin typeface="Times New Roman"/>
                <a:cs typeface="Times New Roman"/>
              </a:rPr>
              <a:t>MPP</a:t>
            </a:r>
            <a:r>
              <a:rPr sz="2400" spc="-10" dirty="0">
                <a:latin typeface="微软雅黑"/>
                <a:cs typeface="微软雅黑"/>
              </a:rPr>
              <a:t>的高端机器</a:t>
            </a:r>
            <a:endParaRPr sz="2400">
              <a:latin typeface="微软雅黑"/>
              <a:cs typeface="微软雅黑"/>
            </a:endParaRPr>
          </a:p>
          <a:p>
            <a:pPr marL="1155700" lvl="2" indent="-228600">
              <a:lnSpc>
                <a:spcPct val="100000"/>
              </a:lnSpc>
              <a:spcBef>
                <a:spcPts val="1805"/>
              </a:spcBef>
              <a:buClr>
                <a:srgbClr val="538235"/>
              </a:buClr>
              <a:buFont typeface="Arial"/>
              <a:buChar char="•"/>
              <a:tabLst>
                <a:tab pos="1155700" algn="l"/>
                <a:tab pos="8268970" algn="l"/>
              </a:tabLst>
            </a:pPr>
            <a:r>
              <a:rPr sz="2000" dirty="0">
                <a:latin typeface="Times New Roman"/>
                <a:cs typeface="Times New Roman"/>
              </a:rPr>
              <a:t>1996</a:t>
            </a:r>
            <a:r>
              <a:rPr sz="2000" dirty="0">
                <a:latin typeface="微软雅黑"/>
                <a:cs typeface="微软雅黑"/>
              </a:rPr>
              <a:t>年</a:t>
            </a:r>
            <a:r>
              <a:rPr sz="2000" spc="-10" dirty="0">
                <a:latin typeface="微软雅黑"/>
                <a:cs typeface="微软雅黑"/>
              </a:rPr>
              <a:t>，</a:t>
            </a:r>
            <a:r>
              <a:rPr sz="2000" spc="-10" dirty="0">
                <a:latin typeface="Times New Roman"/>
                <a:cs typeface="Times New Roman"/>
              </a:rPr>
              <a:t>Intel</a:t>
            </a:r>
            <a:r>
              <a:rPr sz="2000" dirty="0">
                <a:latin typeface="微软雅黑"/>
                <a:cs typeface="微软雅黑"/>
              </a:rPr>
              <a:t>公司的</a:t>
            </a:r>
            <a:r>
              <a:rPr sz="2000" dirty="0">
                <a:latin typeface="Times New Roman"/>
                <a:cs typeface="Times New Roman"/>
              </a:rPr>
              <a:t>ASCI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Red</a:t>
            </a:r>
            <a:r>
              <a:rPr sz="2000" dirty="0">
                <a:latin typeface="微软雅黑"/>
                <a:cs typeface="微软雅黑"/>
              </a:rPr>
              <a:t>和</a:t>
            </a:r>
            <a:r>
              <a:rPr sz="2000" spc="-10" dirty="0">
                <a:latin typeface="Times New Roman"/>
                <a:cs typeface="Times New Roman"/>
              </a:rPr>
              <a:t>1997</a:t>
            </a:r>
            <a:r>
              <a:rPr sz="2000" spc="-15" dirty="0">
                <a:latin typeface="微软雅黑"/>
                <a:cs typeface="微软雅黑"/>
              </a:rPr>
              <a:t>年</a:t>
            </a:r>
            <a:r>
              <a:rPr sz="2000" dirty="0">
                <a:latin typeface="Times New Roman"/>
                <a:cs typeface="Times New Roman"/>
              </a:rPr>
              <a:t>SGI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Cray</a:t>
            </a:r>
            <a:r>
              <a:rPr sz="2000" dirty="0">
                <a:latin typeface="微软雅黑"/>
                <a:cs typeface="微软雅黑"/>
              </a:rPr>
              <a:t>公</a:t>
            </a:r>
            <a:r>
              <a:rPr sz="2000" spc="-15" dirty="0">
                <a:latin typeface="微软雅黑"/>
                <a:cs typeface="微软雅黑"/>
              </a:rPr>
              <a:t>司</a:t>
            </a:r>
            <a:r>
              <a:rPr sz="2000" dirty="0">
                <a:latin typeface="微软雅黑"/>
                <a:cs typeface="微软雅黑"/>
              </a:rPr>
              <a:t>的</a:t>
            </a:r>
            <a:r>
              <a:rPr sz="2000" spc="-10" dirty="0">
                <a:latin typeface="Times New Roman"/>
                <a:cs typeface="Times New Roman"/>
              </a:rPr>
              <a:t>T3E900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微软雅黑"/>
                <a:cs typeface="微软雅黑"/>
              </a:rPr>
              <a:t>（万亿</a:t>
            </a:r>
            <a:r>
              <a:rPr sz="2000" spc="-15" dirty="0">
                <a:latin typeface="微软雅黑"/>
                <a:cs typeface="微软雅黑"/>
              </a:rPr>
              <a:t>次</a:t>
            </a:r>
            <a:r>
              <a:rPr sz="2000" dirty="0">
                <a:latin typeface="微软雅黑"/>
                <a:cs typeface="微软雅黑"/>
              </a:rPr>
              <a:t>高</a:t>
            </a:r>
            <a:r>
              <a:rPr sz="2000" spc="-15" dirty="0">
                <a:latin typeface="微软雅黑"/>
                <a:cs typeface="微软雅黑"/>
              </a:rPr>
              <a:t>性</a:t>
            </a:r>
            <a:r>
              <a:rPr sz="2000" dirty="0">
                <a:latin typeface="微软雅黑"/>
                <a:cs typeface="微软雅黑"/>
              </a:rPr>
              <a:t>能并行</a:t>
            </a:r>
            <a:r>
              <a:rPr sz="2000" spc="-15" dirty="0">
                <a:latin typeface="微软雅黑"/>
                <a:cs typeface="微软雅黑"/>
              </a:rPr>
              <a:t>计</a:t>
            </a:r>
            <a:r>
              <a:rPr sz="2000" dirty="0">
                <a:latin typeface="微软雅黑"/>
                <a:cs typeface="微软雅黑"/>
              </a:rPr>
              <a:t>算</a:t>
            </a:r>
            <a:r>
              <a:rPr sz="2000" spc="-15" dirty="0">
                <a:latin typeface="微软雅黑"/>
                <a:cs typeface="微软雅黑"/>
              </a:rPr>
              <a:t>机</a:t>
            </a:r>
            <a:r>
              <a:rPr sz="2000" spc="-50" dirty="0">
                <a:latin typeface="微软雅黑"/>
                <a:cs typeface="微软雅黑"/>
              </a:rPr>
              <a:t>）</a:t>
            </a:r>
            <a:endParaRPr sz="2000">
              <a:latin typeface="微软雅黑"/>
              <a:cs typeface="微软雅黑"/>
            </a:endParaRPr>
          </a:p>
          <a:p>
            <a:pPr marL="708660" lvl="1" indent="-243204">
              <a:lnSpc>
                <a:spcPct val="100000"/>
              </a:lnSpc>
              <a:spcBef>
                <a:spcPts val="1845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708660" algn="l"/>
              </a:tabLst>
            </a:pPr>
            <a:r>
              <a:rPr sz="2400" spc="-10" dirty="0">
                <a:latin typeface="Times New Roman"/>
                <a:cs typeface="Times New Roman"/>
              </a:rPr>
              <a:t>90</a:t>
            </a:r>
            <a:r>
              <a:rPr sz="2400" spc="-15" dirty="0">
                <a:latin typeface="微软雅黑"/>
                <a:cs typeface="微软雅黑"/>
              </a:rPr>
              <a:t>年代的中期，在中、低档市场上，</a:t>
            </a:r>
            <a:r>
              <a:rPr sz="2400" spc="-25" dirty="0">
                <a:latin typeface="Times New Roman"/>
                <a:cs typeface="Times New Roman"/>
              </a:rPr>
              <a:t>SMP</a:t>
            </a:r>
            <a:r>
              <a:rPr sz="2400" spc="-10" dirty="0">
                <a:latin typeface="微软雅黑"/>
                <a:cs typeface="微软雅黑"/>
              </a:rPr>
              <a:t>以其更优的性能</a:t>
            </a:r>
            <a:r>
              <a:rPr sz="2400" dirty="0">
                <a:latin typeface="Times New Roman"/>
                <a:cs typeface="Times New Roman"/>
              </a:rPr>
              <a:t>/</a:t>
            </a:r>
            <a:r>
              <a:rPr sz="2400" spc="-10" dirty="0">
                <a:latin typeface="微软雅黑"/>
                <a:cs typeface="微软雅黑"/>
              </a:rPr>
              <a:t>价格比代替了</a:t>
            </a:r>
            <a:r>
              <a:rPr sz="2400" spc="-30" dirty="0">
                <a:latin typeface="Times New Roman"/>
                <a:cs typeface="Times New Roman"/>
              </a:rPr>
              <a:t>MPP</a:t>
            </a:r>
            <a:r>
              <a:rPr sz="2400" spc="-5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1.5.5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并行机的发展变</a:t>
            </a:r>
            <a:r>
              <a:rPr spc="-50" dirty="0"/>
              <a:t>化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77137"/>
            <a:ext cx="10714355" cy="3842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Times New Roman"/>
              <a:buAutoNum type="arabicPeriod" startAt="4"/>
              <a:tabLst>
                <a:tab pos="469900" algn="l"/>
              </a:tabLst>
            </a:pPr>
            <a:r>
              <a:rPr sz="2800" spc="-40" dirty="0">
                <a:latin typeface="微软雅黑"/>
                <a:cs typeface="微软雅黑"/>
              </a:rPr>
              <a:t>各种体系结构并存阶段</a:t>
            </a:r>
            <a:r>
              <a:rPr sz="2800" spc="-25" dirty="0">
                <a:latin typeface="微软雅黑"/>
                <a:cs typeface="微软雅黑"/>
              </a:rPr>
              <a:t>（</a:t>
            </a:r>
            <a:r>
              <a:rPr sz="2800" spc="-25" dirty="0">
                <a:latin typeface="Times New Roman"/>
                <a:cs typeface="Times New Roman"/>
              </a:rPr>
              <a:t>1995</a:t>
            </a:r>
            <a:r>
              <a:rPr sz="2800" spc="-35" dirty="0">
                <a:latin typeface="微软雅黑"/>
                <a:cs typeface="微软雅黑"/>
              </a:rPr>
              <a:t>年</a:t>
            </a:r>
            <a:r>
              <a:rPr sz="2800" spc="-25" dirty="0">
                <a:latin typeface="微软雅黑"/>
                <a:cs typeface="微软雅黑"/>
              </a:rPr>
              <a:t>～</a:t>
            </a:r>
            <a:r>
              <a:rPr sz="2800" spc="-25" dirty="0">
                <a:latin typeface="Times New Roman"/>
                <a:cs typeface="Times New Roman"/>
              </a:rPr>
              <a:t>2000</a:t>
            </a:r>
            <a:r>
              <a:rPr sz="2800" spc="-40" dirty="0">
                <a:latin typeface="微软雅黑"/>
                <a:cs typeface="微软雅黑"/>
              </a:rPr>
              <a:t>年</a:t>
            </a:r>
            <a:r>
              <a:rPr sz="2800" spc="-50" dirty="0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 marL="1099185" marR="158115" lvl="1" indent="-457200">
              <a:lnSpc>
                <a:spcPct val="150000"/>
              </a:lnSpc>
              <a:spcBef>
                <a:spcPts val="61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latin typeface="微软雅黑"/>
                <a:cs typeface="微软雅黑"/>
              </a:rPr>
              <a:t>从</a:t>
            </a:r>
            <a:r>
              <a:rPr sz="2400" dirty="0">
                <a:latin typeface="Times New Roman"/>
                <a:cs typeface="Times New Roman"/>
              </a:rPr>
              <a:t>1995</a:t>
            </a:r>
            <a:r>
              <a:rPr sz="2400" spc="-5" dirty="0">
                <a:latin typeface="微软雅黑"/>
                <a:cs typeface="微软雅黑"/>
              </a:rPr>
              <a:t>年以后，</a:t>
            </a:r>
            <a:r>
              <a:rPr sz="2400" spc="-20" dirty="0">
                <a:solidFill>
                  <a:srgbClr val="6600FF"/>
                </a:solidFill>
                <a:latin typeface="Times New Roman"/>
                <a:cs typeface="Times New Roman"/>
              </a:rPr>
              <a:t>PVP</a:t>
            </a:r>
            <a:r>
              <a:rPr sz="2400" spc="-20" dirty="0">
                <a:latin typeface="微软雅黑"/>
                <a:cs typeface="微软雅黑"/>
              </a:rPr>
              <a:t>（</a:t>
            </a:r>
            <a:r>
              <a:rPr sz="2400" dirty="0">
                <a:latin typeface="微软雅黑"/>
                <a:cs typeface="微软雅黑"/>
              </a:rPr>
              <a:t>并行向量处理机）、</a:t>
            </a:r>
            <a:r>
              <a:rPr sz="2400" spc="-30" dirty="0">
                <a:solidFill>
                  <a:srgbClr val="6600FF"/>
                </a:solidFill>
                <a:latin typeface="Times New Roman"/>
                <a:cs typeface="Times New Roman"/>
              </a:rPr>
              <a:t>MPP</a:t>
            </a:r>
            <a:r>
              <a:rPr sz="2400" dirty="0">
                <a:solidFill>
                  <a:srgbClr val="6600FF"/>
                </a:solidFill>
                <a:latin typeface="微软雅黑"/>
                <a:cs typeface="微软雅黑"/>
              </a:rPr>
              <a:t>、</a:t>
            </a:r>
            <a:r>
              <a:rPr sz="2400" spc="-25" dirty="0">
                <a:solidFill>
                  <a:srgbClr val="6600FF"/>
                </a:solidFill>
                <a:latin typeface="Times New Roman"/>
                <a:cs typeface="Times New Roman"/>
              </a:rPr>
              <a:t>SMP</a:t>
            </a:r>
            <a:r>
              <a:rPr sz="2400" dirty="0">
                <a:solidFill>
                  <a:srgbClr val="6600FF"/>
                </a:solidFill>
                <a:latin typeface="微软雅黑"/>
                <a:cs typeface="微软雅黑"/>
              </a:rPr>
              <a:t>、</a:t>
            </a:r>
            <a:r>
              <a:rPr sz="2400" spc="-25" dirty="0">
                <a:solidFill>
                  <a:srgbClr val="6600FF"/>
                </a:solidFill>
                <a:latin typeface="Times New Roman"/>
                <a:cs typeface="Times New Roman"/>
              </a:rPr>
              <a:t>DSM</a:t>
            </a:r>
            <a:r>
              <a:rPr sz="2400" spc="-25" dirty="0">
                <a:latin typeface="微软雅黑"/>
                <a:cs typeface="微软雅黑"/>
              </a:rPr>
              <a:t>（</a:t>
            </a:r>
            <a:r>
              <a:rPr sz="2400" spc="-20" dirty="0">
                <a:latin typeface="微软雅黑"/>
                <a:cs typeface="微软雅黑"/>
              </a:rPr>
              <a:t>分布式</a:t>
            </a:r>
            <a:r>
              <a:rPr sz="2400" dirty="0">
                <a:latin typeface="微软雅黑"/>
                <a:cs typeface="微软雅黑"/>
              </a:rPr>
              <a:t>共享存储多处理机）、</a:t>
            </a:r>
            <a:r>
              <a:rPr sz="2400" spc="-40" dirty="0">
                <a:solidFill>
                  <a:srgbClr val="6600FF"/>
                </a:solidFill>
                <a:latin typeface="Times New Roman"/>
                <a:cs typeface="Times New Roman"/>
              </a:rPr>
              <a:t>COW</a:t>
            </a:r>
            <a:r>
              <a:rPr sz="2400" dirty="0">
                <a:latin typeface="微软雅黑"/>
                <a:cs typeface="微软雅黑"/>
              </a:rPr>
              <a:t>等</a:t>
            </a:r>
            <a:r>
              <a:rPr sz="2400" spc="-5" dirty="0">
                <a:solidFill>
                  <a:srgbClr val="D50092"/>
                </a:solidFill>
                <a:latin typeface="微软雅黑"/>
                <a:cs typeface="微软雅黑"/>
              </a:rPr>
              <a:t>各种体系结构进入并存发展</a:t>
            </a:r>
            <a:r>
              <a:rPr sz="2400" spc="-15" dirty="0">
                <a:latin typeface="微软雅黑"/>
                <a:cs typeface="微软雅黑"/>
              </a:rPr>
              <a:t>的阶段。</a:t>
            </a:r>
            <a:endParaRPr sz="2400">
              <a:latin typeface="微软雅黑"/>
              <a:cs typeface="微软雅黑"/>
            </a:endParaRPr>
          </a:p>
          <a:p>
            <a:pPr marL="1099185" marR="5080" lvl="1" indent="-457200">
              <a:lnSpc>
                <a:spcPct val="150000"/>
              </a:lnSpc>
              <a:spcBef>
                <a:spcPts val="495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spc="-30" dirty="0">
                <a:latin typeface="Times New Roman"/>
                <a:cs typeface="Times New Roman"/>
              </a:rPr>
              <a:t>MPP</a:t>
            </a:r>
            <a:r>
              <a:rPr sz="2400" dirty="0">
                <a:latin typeface="微软雅黑"/>
                <a:cs typeface="微软雅黑"/>
              </a:rPr>
              <a:t>系统在全世界前</a:t>
            </a:r>
            <a:r>
              <a:rPr sz="2400" dirty="0">
                <a:latin typeface="Times New Roman"/>
                <a:cs typeface="Times New Roman"/>
              </a:rPr>
              <a:t>500</a:t>
            </a:r>
            <a:r>
              <a:rPr sz="2400" spc="-5" dirty="0">
                <a:latin typeface="微软雅黑"/>
                <a:cs typeface="微软雅黑"/>
              </a:rPr>
              <a:t>强最快的计算机中的占有量继续稳固上升，其性能也得到了进一步的提高。</a:t>
            </a:r>
            <a:endParaRPr sz="2400">
              <a:latin typeface="微软雅黑"/>
              <a:cs typeface="微软雅黑"/>
            </a:endParaRPr>
          </a:p>
          <a:p>
            <a:pPr marL="927100">
              <a:lnSpc>
                <a:spcPct val="100000"/>
              </a:lnSpc>
              <a:spcBef>
                <a:spcPts val="1800"/>
              </a:spcBef>
            </a:pPr>
            <a:r>
              <a:rPr sz="2000" spc="-5" dirty="0">
                <a:latin typeface="微软雅黑"/>
                <a:cs typeface="微软雅黑"/>
              </a:rPr>
              <a:t>如：</a:t>
            </a:r>
            <a:r>
              <a:rPr sz="2000" dirty="0">
                <a:solidFill>
                  <a:srgbClr val="6600FF"/>
                </a:solidFill>
                <a:latin typeface="Times New Roman"/>
                <a:cs typeface="Times New Roman"/>
              </a:rPr>
              <a:t>ASCI</a:t>
            </a:r>
            <a:r>
              <a:rPr sz="2000" spc="40" dirty="0">
                <a:solidFill>
                  <a:srgbClr val="66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6600FF"/>
                </a:solidFill>
                <a:latin typeface="Times New Roman"/>
                <a:cs typeface="Times New Roman"/>
              </a:rPr>
              <a:t>Red</a:t>
            </a:r>
            <a:r>
              <a:rPr sz="2000" spc="-15" dirty="0">
                <a:latin typeface="微软雅黑"/>
                <a:cs typeface="微软雅黑"/>
              </a:rPr>
              <a:t>的理论峰值速度已达到了</a:t>
            </a:r>
            <a:r>
              <a:rPr sz="2000" spc="-10" dirty="0">
                <a:solidFill>
                  <a:srgbClr val="6600FF"/>
                </a:solidFill>
                <a:latin typeface="Times New Roman"/>
                <a:cs typeface="Times New Roman"/>
              </a:rPr>
              <a:t>1Tflop/s</a:t>
            </a:r>
            <a:endParaRPr sz="2000">
              <a:latin typeface="Times New Roman"/>
              <a:cs typeface="Times New Roman"/>
            </a:endParaRPr>
          </a:p>
          <a:p>
            <a:pPr marL="1434465">
              <a:lnSpc>
                <a:spcPct val="100000"/>
              </a:lnSpc>
              <a:spcBef>
                <a:spcPts val="1710"/>
              </a:spcBef>
            </a:pPr>
            <a:r>
              <a:rPr sz="2000" spc="-10" dirty="0">
                <a:solidFill>
                  <a:srgbClr val="6600FF"/>
                </a:solidFill>
                <a:latin typeface="Times New Roman"/>
                <a:cs typeface="Times New Roman"/>
              </a:rPr>
              <a:t>SX4</a:t>
            </a:r>
            <a:r>
              <a:rPr sz="2000" dirty="0">
                <a:latin typeface="微软雅黑"/>
                <a:cs typeface="微软雅黑"/>
              </a:rPr>
              <a:t>和</a:t>
            </a:r>
            <a:r>
              <a:rPr sz="2000" spc="-10" dirty="0">
                <a:solidFill>
                  <a:srgbClr val="6600FF"/>
                </a:solidFill>
                <a:latin typeface="Times New Roman"/>
                <a:cs typeface="Times New Roman"/>
              </a:rPr>
              <a:t>VPP700</a:t>
            </a:r>
            <a:r>
              <a:rPr sz="2000" spc="-15" dirty="0">
                <a:latin typeface="微软雅黑"/>
                <a:cs typeface="微软雅黑"/>
              </a:rPr>
              <a:t>等的理论峰值速度也都达到了</a:t>
            </a:r>
            <a:r>
              <a:rPr sz="2000" spc="-10" dirty="0">
                <a:solidFill>
                  <a:srgbClr val="6600FF"/>
                </a:solidFill>
                <a:latin typeface="Times New Roman"/>
                <a:cs typeface="Times New Roman"/>
              </a:rPr>
              <a:t>1Tflop/s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1.5.5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并行机的发展变</a:t>
            </a:r>
            <a:r>
              <a:rPr spc="-50" dirty="0"/>
              <a:t>化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377137"/>
            <a:ext cx="11426825" cy="4561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8630" indent="-455930" algn="just">
              <a:lnSpc>
                <a:spcPct val="100000"/>
              </a:lnSpc>
              <a:spcBef>
                <a:spcPts val="95"/>
              </a:spcBef>
              <a:buClr>
                <a:srgbClr val="0000FF"/>
              </a:buClr>
              <a:buFont typeface="Times New Roman"/>
              <a:buAutoNum type="arabicPeriod" startAt="5"/>
              <a:tabLst>
                <a:tab pos="468630" algn="l"/>
              </a:tabLst>
            </a:pPr>
            <a:r>
              <a:rPr sz="2800" spc="-40" dirty="0">
                <a:latin typeface="微软雅黑"/>
                <a:cs typeface="微软雅黑"/>
              </a:rPr>
              <a:t>机群蓬勃发展阶段</a:t>
            </a:r>
            <a:r>
              <a:rPr sz="2800" spc="-25" dirty="0">
                <a:latin typeface="微软雅黑"/>
                <a:cs typeface="微软雅黑"/>
              </a:rPr>
              <a:t>（</a:t>
            </a:r>
            <a:r>
              <a:rPr sz="2800" spc="-25" dirty="0">
                <a:latin typeface="Times New Roman"/>
                <a:cs typeface="Times New Roman"/>
              </a:rPr>
              <a:t>2000</a:t>
            </a:r>
            <a:r>
              <a:rPr sz="2800" spc="-40" dirty="0">
                <a:latin typeface="微软雅黑"/>
                <a:cs typeface="微软雅黑"/>
              </a:rPr>
              <a:t>年以后</a:t>
            </a:r>
            <a:r>
              <a:rPr sz="2800" spc="-50" dirty="0">
                <a:latin typeface="微软雅黑"/>
                <a:cs typeface="微软雅黑"/>
              </a:rPr>
              <a:t>）</a:t>
            </a:r>
            <a:endParaRPr sz="2800">
              <a:latin typeface="微软雅黑"/>
              <a:cs typeface="微软雅黑"/>
            </a:endParaRPr>
          </a:p>
          <a:p>
            <a:pPr marL="1099185" marR="260985" lvl="1" indent="-457200" algn="just">
              <a:lnSpc>
                <a:spcPct val="150000"/>
              </a:lnSpc>
              <a:spcBef>
                <a:spcPts val="610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solidFill>
                  <a:srgbClr val="FF0000"/>
                </a:solidFill>
                <a:latin typeface="微软雅黑"/>
                <a:cs typeface="微软雅黑"/>
              </a:rPr>
              <a:t>机群系统</a:t>
            </a:r>
            <a:r>
              <a:rPr sz="2400" spc="-5" dirty="0">
                <a:latin typeface="微软雅黑"/>
                <a:cs typeface="微软雅黑"/>
              </a:rPr>
              <a:t>：将一群工作站或高档微机用某种结构的互连网络互连起来，充分利用其中各计算机的资源，统一调度、协调处理，以达到很高的峰值性能，并实现高效的并行计算。</a:t>
            </a:r>
            <a:endParaRPr sz="2400">
              <a:latin typeface="微软雅黑"/>
              <a:cs typeface="微软雅黑"/>
            </a:endParaRPr>
          </a:p>
          <a:p>
            <a:pPr marL="1098550" lvl="1" indent="-456565" algn="just">
              <a:lnSpc>
                <a:spcPct val="100000"/>
              </a:lnSpc>
              <a:spcBef>
                <a:spcPts val="1930"/>
              </a:spcBef>
              <a:buClr>
                <a:srgbClr val="EC7C30"/>
              </a:buClr>
              <a:buFont typeface="Wingdings"/>
              <a:buChar char=""/>
              <a:tabLst>
                <a:tab pos="1098550" algn="l"/>
              </a:tabLst>
            </a:pPr>
            <a:r>
              <a:rPr sz="2400" dirty="0">
                <a:latin typeface="Times New Roman"/>
                <a:cs typeface="Times New Roman"/>
              </a:rPr>
              <a:t>1997</a:t>
            </a:r>
            <a:r>
              <a:rPr sz="2400" dirty="0">
                <a:latin typeface="微软雅黑"/>
                <a:cs typeface="微软雅黑"/>
              </a:rPr>
              <a:t>年</a:t>
            </a:r>
            <a:r>
              <a:rPr sz="2400" dirty="0">
                <a:latin typeface="Times New Roman"/>
                <a:cs typeface="Times New Roman"/>
              </a:rPr>
              <a:t>6</a:t>
            </a:r>
            <a:r>
              <a:rPr sz="2400" dirty="0">
                <a:latin typeface="微软雅黑"/>
                <a:cs typeface="微软雅黑"/>
              </a:rPr>
              <a:t>月才有第一台机群结构的计算机进入</a:t>
            </a:r>
            <a:r>
              <a:rPr sz="2400" spc="-35" dirty="0">
                <a:latin typeface="Times New Roman"/>
                <a:cs typeface="Times New Roman"/>
              </a:rPr>
              <a:t>Top500</a:t>
            </a:r>
            <a:r>
              <a:rPr sz="2400" spc="-25" dirty="0">
                <a:latin typeface="微软雅黑"/>
                <a:cs typeface="微软雅黑"/>
              </a:rPr>
              <a:t>排名</a:t>
            </a:r>
            <a:endParaRPr sz="2400">
              <a:latin typeface="微软雅黑"/>
              <a:cs typeface="微软雅黑"/>
            </a:endParaRPr>
          </a:p>
          <a:p>
            <a:pPr marL="1099185" marR="106045" lvl="1" indent="-457200" algn="just">
              <a:lnSpc>
                <a:spcPct val="150000"/>
              </a:lnSpc>
              <a:spcBef>
                <a:spcPts val="509"/>
              </a:spcBef>
              <a:buClr>
                <a:srgbClr val="EC7C30"/>
              </a:buClr>
              <a:buFont typeface="Wingdings"/>
              <a:buChar char=""/>
              <a:tabLst>
                <a:tab pos="1099185" algn="l"/>
              </a:tabLst>
            </a:pPr>
            <a:r>
              <a:rPr sz="2400" dirty="0">
                <a:latin typeface="Times New Roman"/>
                <a:cs typeface="Times New Roman"/>
              </a:rPr>
              <a:t>2003</a:t>
            </a:r>
            <a:r>
              <a:rPr sz="2400" dirty="0">
                <a:latin typeface="微软雅黑"/>
                <a:cs typeface="微软雅黑"/>
              </a:rPr>
              <a:t>年</a:t>
            </a:r>
            <a:r>
              <a:rPr sz="2400" spc="-50" dirty="0">
                <a:latin typeface="Times New Roman"/>
                <a:cs typeface="Times New Roman"/>
              </a:rPr>
              <a:t>11</a:t>
            </a:r>
            <a:r>
              <a:rPr sz="2400" dirty="0">
                <a:latin typeface="微软雅黑"/>
                <a:cs typeface="微软雅黑"/>
              </a:rPr>
              <a:t>月，这一数字已达到</a:t>
            </a:r>
            <a:r>
              <a:rPr sz="2400" dirty="0">
                <a:solidFill>
                  <a:srgbClr val="6600FF"/>
                </a:solidFill>
                <a:latin typeface="Times New Roman"/>
                <a:cs typeface="Times New Roman"/>
              </a:rPr>
              <a:t>208</a:t>
            </a:r>
            <a:r>
              <a:rPr sz="2400" dirty="0">
                <a:latin typeface="微软雅黑"/>
                <a:cs typeface="微软雅黑"/>
              </a:rPr>
              <a:t>台，机群首次成为</a:t>
            </a:r>
            <a:r>
              <a:rPr sz="2400" spc="-35" dirty="0">
                <a:latin typeface="Times New Roman"/>
                <a:cs typeface="Times New Roman"/>
              </a:rPr>
              <a:t>Top500</a:t>
            </a:r>
            <a:r>
              <a:rPr sz="2400" spc="-10" dirty="0">
                <a:latin typeface="微软雅黑"/>
                <a:cs typeface="微软雅黑"/>
              </a:rPr>
              <a:t>排名中比例最高的</a:t>
            </a:r>
            <a:r>
              <a:rPr sz="2400" spc="-20" dirty="0">
                <a:latin typeface="微软雅黑"/>
                <a:cs typeface="微软雅黑"/>
              </a:rPr>
              <a:t>结构。</a:t>
            </a:r>
            <a:endParaRPr sz="2400">
              <a:latin typeface="微软雅黑"/>
              <a:cs typeface="微软雅黑"/>
            </a:endParaRPr>
          </a:p>
          <a:p>
            <a:pPr marL="1098550" lvl="1" indent="-456565" algn="just">
              <a:lnSpc>
                <a:spcPct val="100000"/>
              </a:lnSpc>
              <a:spcBef>
                <a:spcPts val="1939"/>
              </a:spcBef>
              <a:buClr>
                <a:srgbClr val="EC7C30"/>
              </a:buClr>
              <a:buFont typeface="Wingdings"/>
              <a:buChar char=""/>
              <a:tabLst>
                <a:tab pos="1098550" algn="l"/>
              </a:tabLst>
            </a:pPr>
            <a:r>
              <a:rPr sz="2400" spc="-10" dirty="0">
                <a:latin typeface="微软雅黑"/>
                <a:cs typeface="微软雅黑"/>
              </a:rPr>
              <a:t>截至</a:t>
            </a:r>
            <a:r>
              <a:rPr sz="2400" spc="-10" dirty="0">
                <a:latin typeface="Times New Roman"/>
                <a:cs typeface="Times New Roman"/>
              </a:rPr>
              <a:t>2008</a:t>
            </a:r>
            <a:r>
              <a:rPr sz="2400" spc="-10" dirty="0">
                <a:latin typeface="微软雅黑"/>
                <a:cs typeface="微软雅黑"/>
              </a:rPr>
              <a:t>年</a:t>
            </a:r>
            <a:r>
              <a:rPr sz="2400" spc="-10" dirty="0">
                <a:latin typeface="Times New Roman"/>
                <a:cs typeface="Times New Roman"/>
              </a:rPr>
              <a:t>6</a:t>
            </a:r>
            <a:r>
              <a:rPr sz="2400" spc="-5" dirty="0">
                <a:latin typeface="微软雅黑"/>
                <a:cs typeface="微软雅黑"/>
              </a:rPr>
              <a:t>月，机群已经连续</a:t>
            </a:r>
            <a:r>
              <a:rPr sz="2400" spc="-10" dirty="0">
                <a:latin typeface="Times New Roman"/>
                <a:cs typeface="Times New Roman"/>
              </a:rPr>
              <a:t>10</a:t>
            </a:r>
            <a:r>
              <a:rPr sz="2400" spc="-10" dirty="0">
                <a:latin typeface="微软雅黑"/>
                <a:cs typeface="微软雅黑"/>
              </a:rPr>
              <a:t>期位居榜首，其数量已经达到</a:t>
            </a:r>
            <a:r>
              <a:rPr sz="2400" spc="-10" dirty="0">
                <a:solidFill>
                  <a:srgbClr val="6600FF"/>
                </a:solidFill>
                <a:latin typeface="Times New Roman"/>
                <a:cs typeface="Times New Roman"/>
              </a:rPr>
              <a:t>400</a:t>
            </a:r>
            <a:r>
              <a:rPr sz="2400" spc="-10" dirty="0">
                <a:latin typeface="微软雅黑"/>
                <a:cs typeface="微软雅黑"/>
              </a:rPr>
              <a:t>，占</a:t>
            </a:r>
            <a:r>
              <a:rPr sz="2400" spc="-10" dirty="0">
                <a:latin typeface="Times New Roman"/>
                <a:cs typeface="Times New Roman"/>
              </a:rPr>
              <a:t>80%</a:t>
            </a:r>
            <a:r>
              <a:rPr sz="2400" spc="-50" dirty="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303000" algn="l"/>
              </a:tabLst>
            </a:pPr>
            <a:r>
              <a:rPr spc="2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1.5.5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/>
              <a:t>并行机的发展变</a:t>
            </a:r>
            <a:r>
              <a:rPr spc="-50" dirty="0"/>
              <a:t>化</a:t>
            </a:r>
            <a:r>
              <a:rPr dirty="0"/>
              <a:t>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4888" y="1297894"/>
            <a:ext cx="4545330" cy="2285365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251460" indent="-243204">
              <a:lnSpc>
                <a:spcPct val="100000"/>
              </a:lnSpc>
              <a:spcBef>
                <a:spcPts val="1545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spc="-15" dirty="0">
                <a:latin typeface="微软雅黑"/>
                <a:cs typeface="微软雅黑"/>
              </a:rPr>
              <a:t>机群已成为当今构建高性能并行</a:t>
            </a:r>
            <a:endParaRPr sz="2400">
              <a:latin typeface="微软雅黑"/>
              <a:cs typeface="微软雅黑"/>
            </a:endParaRPr>
          </a:p>
          <a:p>
            <a:pPr marL="2413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微软雅黑"/>
                <a:cs typeface="微软雅黑"/>
              </a:rPr>
              <a:t>计算机系统的</a:t>
            </a:r>
            <a:r>
              <a:rPr sz="2400" spc="-10" dirty="0">
                <a:solidFill>
                  <a:srgbClr val="D50092"/>
                </a:solidFill>
                <a:latin typeface="微软雅黑"/>
                <a:cs typeface="微软雅黑"/>
              </a:rPr>
              <a:t>最常用的结构。</a:t>
            </a:r>
            <a:endParaRPr sz="2400">
              <a:latin typeface="微软雅黑"/>
              <a:cs typeface="微软雅黑"/>
            </a:endParaRPr>
          </a:p>
          <a:p>
            <a:pPr marL="251460" indent="-243204">
              <a:lnSpc>
                <a:spcPct val="100000"/>
              </a:lnSpc>
              <a:spcBef>
                <a:spcPts val="1945"/>
              </a:spcBef>
              <a:buClr>
                <a:srgbClr val="EC7C30"/>
              </a:buClr>
              <a:buSzPct val="95833"/>
              <a:buFont typeface="Wingdings"/>
              <a:buChar char=""/>
              <a:tabLst>
                <a:tab pos="251460" algn="l"/>
              </a:tabLst>
            </a:pPr>
            <a:r>
              <a:rPr sz="2400" spc="-10" dirty="0">
                <a:latin typeface="Times New Roman"/>
                <a:cs typeface="Times New Roman"/>
              </a:rPr>
              <a:t>1993</a:t>
            </a:r>
            <a:r>
              <a:rPr sz="2400" spc="-10" dirty="0">
                <a:latin typeface="微软雅黑"/>
                <a:cs typeface="微软雅黑"/>
              </a:rPr>
              <a:t>年至</a:t>
            </a:r>
            <a:r>
              <a:rPr sz="2400" spc="-10" dirty="0">
                <a:latin typeface="Times New Roman"/>
                <a:cs typeface="Times New Roman"/>
              </a:rPr>
              <a:t>2008</a:t>
            </a:r>
            <a:r>
              <a:rPr sz="2400" spc="-20" dirty="0">
                <a:latin typeface="微软雅黑"/>
                <a:cs typeface="微软雅黑"/>
              </a:rPr>
              <a:t>年期间，</a:t>
            </a:r>
            <a:r>
              <a:rPr sz="2400" spc="-35" dirty="0">
                <a:latin typeface="Times New Roman"/>
                <a:cs typeface="Times New Roman"/>
              </a:rPr>
              <a:t>Top500</a:t>
            </a:r>
            <a:r>
              <a:rPr sz="2400" spc="-50" dirty="0">
                <a:latin typeface="微软雅黑"/>
                <a:cs typeface="微软雅黑"/>
              </a:rPr>
              <a:t>中</a:t>
            </a:r>
            <a:endParaRPr sz="2400">
              <a:latin typeface="微软雅黑"/>
              <a:cs typeface="微软雅黑"/>
            </a:endParaRPr>
          </a:p>
          <a:p>
            <a:pPr marL="2413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微软雅黑"/>
                <a:cs typeface="微软雅黑"/>
              </a:rPr>
              <a:t>机群和</a:t>
            </a:r>
            <a:r>
              <a:rPr sz="2400" spc="-30" dirty="0">
                <a:latin typeface="Times New Roman"/>
                <a:cs typeface="Times New Roman"/>
              </a:rPr>
              <a:t>MPP</a:t>
            </a:r>
            <a:r>
              <a:rPr sz="2400" spc="-10" dirty="0">
                <a:latin typeface="微软雅黑"/>
                <a:cs typeface="微软雅黑"/>
              </a:rPr>
              <a:t>的数量的分布情况。</a:t>
            </a:r>
            <a:endParaRPr sz="2400">
              <a:latin typeface="微软雅黑"/>
              <a:cs typeface="微软雅黑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5658" y="881062"/>
            <a:ext cx="5037073" cy="54006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4200</Words>
  <Application>Microsoft Office PowerPoint</Application>
  <PresentationFormat>宽屏</PresentationFormat>
  <Paragraphs>1073</Paragraphs>
  <Slides>74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74</vt:i4>
      </vt:variant>
    </vt:vector>
  </HeadingPairs>
  <TitlesOfParts>
    <vt:vector size="86" baseType="lpstr">
      <vt:lpstr>黑体</vt:lpstr>
      <vt:lpstr>宋体</vt:lpstr>
      <vt:lpstr>微软雅黑</vt:lpstr>
      <vt:lpstr>Arial</vt:lpstr>
      <vt:lpstr>Calibri</vt:lpstr>
      <vt:lpstr>Cambria Math</vt:lpstr>
      <vt:lpstr>MT Extra</vt:lpstr>
      <vt:lpstr>Symbol</vt:lpstr>
      <vt:lpstr>Tahoma</vt:lpstr>
      <vt:lpstr>Times New Roman</vt:lpstr>
      <vt:lpstr>Wingdings</vt:lpstr>
      <vt:lpstr>Office Theme</vt:lpstr>
      <vt:lpstr>  章节目录 </vt:lpstr>
      <vt:lpstr>1.1 计算机系统结构的基本概念</vt:lpstr>
      <vt:lpstr>1.1 计算机系统结构的基本概念</vt:lpstr>
      <vt:lpstr>1.1 计算机系统结构的基本概念</vt:lpstr>
      <vt:lpstr>1.1 计算机系统结构的基本概念</vt:lpstr>
      <vt:lpstr> 1.1.3 计算机组成和计算机实现 </vt:lpstr>
      <vt:lpstr>PowerPoint 演示文稿</vt:lpstr>
      <vt:lpstr>1、指令系统的确定属于（ ）</vt:lpstr>
      <vt:lpstr>2、指令的实现（取指令、分析指令、取操作数等）属于（ ）</vt:lpstr>
      <vt:lpstr> 1.1.4 计算机系统结构的分类 </vt:lpstr>
      <vt:lpstr> 1.1.4 计算机系统结构的分类 </vt:lpstr>
      <vt:lpstr> 1.1.4 计算机系统结构的分类 </vt:lpstr>
      <vt:lpstr> 1.1.4 计算机系统结构的分类 </vt:lpstr>
      <vt:lpstr>PowerPoint 演示文稿</vt:lpstr>
      <vt:lpstr> 1.1.4 计算机系统结构的分类 </vt:lpstr>
      <vt:lpstr>1.2 计算机系统的设计</vt:lpstr>
      <vt:lpstr>1.2 计算机系统的设计</vt:lpstr>
      <vt:lpstr>1.2 计算机系统的设计</vt:lpstr>
      <vt:lpstr>1.2 计算机系统的设计</vt:lpstr>
      <vt:lpstr>  1.2.2 计算机系统的设计 </vt:lpstr>
      <vt:lpstr>  1.2.2 计算机系统的设计 </vt:lpstr>
      <vt:lpstr>  1.2.2 计算机系统的设计 </vt:lpstr>
      <vt:lpstr>  1.2.2 计算机系统的设计者 </vt:lpstr>
      <vt:lpstr>  1.2.2 计算机系统的设计 </vt:lpstr>
      <vt:lpstr>  1.2.2 计算机系统的设计 </vt:lpstr>
      <vt:lpstr>  1.2.2 计算机系统的设计 </vt:lpstr>
      <vt:lpstr>  1.2.2 计算机系统的设计 </vt:lpstr>
      <vt:lpstr>  1.2.2 计算机系统设的计 </vt:lpstr>
      <vt:lpstr>  1.2.2 计算机系统的设计 </vt:lpstr>
      <vt:lpstr>  1.2.2 计算机系统的设计 </vt:lpstr>
      <vt:lpstr> 1.2.2 计算机系统设计者的主要任务 </vt:lpstr>
      <vt:lpstr> 1.2.2 计算机系统设计者的主要任务 </vt:lpstr>
      <vt:lpstr> 1.2.2 计算机系统设计者的主要任务 </vt:lpstr>
      <vt:lpstr> 1.2.2 计算机系统设计者的主要方法 </vt:lpstr>
      <vt:lpstr> 1.2.2 计算机系统设计者的主要方法 </vt:lpstr>
      <vt:lpstr> 1.2.2 计算机系统设计者的主要方法 </vt:lpstr>
      <vt:lpstr> 1.3 计算机系统的性能评测 </vt:lpstr>
      <vt:lpstr> 1.3 计算机系统的性能评测（注重三个方面） </vt:lpstr>
      <vt:lpstr> 1.3 计算机系统的性能评测 </vt:lpstr>
      <vt:lpstr> 1.3 计算机系统的性能评测 </vt:lpstr>
      <vt:lpstr> 1.3 计算机系统的性能评测 </vt:lpstr>
      <vt:lpstr> 1.3 计算机系统的性能评测 </vt:lpstr>
      <vt:lpstr> 1.3 计算机系统的性能评测 </vt:lpstr>
      <vt:lpstr> 1.3 计算机系统的性能评测 </vt:lpstr>
      <vt:lpstr>PowerPoint 演示文稿</vt:lpstr>
      <vt:lpstr>PowerPoint 演示文稿</vt:lpstr>
      <vt:lpstr> 1.3 计算机系统的性能评测 </vt:lpstr>
      <vt:lpstr>1.4 计算机系统结构的发展</vt:lpstr>
      <vt:lpstr> 1.4.1 冯·诺依曼结构及其改进 </vt:lpstr>
      <vt:lpstr> 1.4.1 冯·诺依曼结构及其改进 </vt:lpstr>
      <vt:lpstr> 1.4.1 冯·诺依曼结构及其改进 </vt:lpstr>
      <vt:lpstr> 1.4.2 软件对系统结构的影响 </vt:lpstr>
      <vt:lpstr> 1.4.2 软件对系统结构的影响 </vt:lpstr>
      <vt:lpstr> 1.4.2 软件对系统结构的影响 </vt:lpstr>
      <vt:lpstr> 1.4.2 软件对系统结构的影响 </vt:lpstr>
      <vt:lpstr> 1.4.3 器件发展对系统结构的影响 </vt:lpstr>
      <vt:lpstr> 1.4.3 器件发展对系统结构的影响 </vt:lpstr>
      <vt:lpstr> 1.4.4 应用对系统结构的影响 </vt:lpstr>
      <vt:lpstr>1.5 计算机系统结构中并行性的发展</vt:lpstr>
      <vt:lpstr> 1.5.1 并行性的概念 </vt:lpstr>
      <vt:lpstr> 1.5.1 并行性的概念 </vt:lpstr>
      <vt:lpstr> 1.5.2 提高并行性的技术途径（三种） </vt:lpstr>
      <vt:lpstr> 1.5.3 单机系统中并行性的发展 </vt:lpstr>
      <vt:lpstr> 1.5.4 多机系统中并行性的发展（1、2、3） </vt:lpstr>
      <vt:lpstr> 1.5.4 多机系统中并行性的发展 </vt:lpstr>
      <vt:lpstr> 1.5.4 多机系统中并行性的发展（1、2、3） </vt:lpstr>
      <vt:lpstr> 1.5.4 多机系统中并行性的发展（1、2、3） </vt:lpstr>
      <vt:lpstr> 1.5.4 多机系统中并行性的发展（1、2、3） </vt:lpstr>
      <vt:lpstr> 1.5.5 并行机的发展变化 </vt:lpstr>
      <vt:lpstr> 1.5.5 并行机的发展变化 </vt:lpstr>
      <vt:lpstr> 1.5.5 并行机的发展变化 </vt:lpstr>
      <vt:lpstr> 1.5.5 并行机的发展变化 </vt:lpstr>
      <vt:lpstr> 1.5.5 并行机的发展变化 </vt:lpstr>
      <vt:lpstr> 1.5.5 并行机的发展变化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yanan peng</dc:creator>
  <cp:lastModifiedBy>Sonder Utopia</cp:lastModifiedBy>
  <cp:revision>2</cp:revision>
  <dcterms:created xsi:type="dcterms:W3CDTF">2025-12-28T08:57:12Z</dcterms:created>
  <dcterms:modified xsi:type="dcterms:W3CDTF">2025-12-28T10:44:51Z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2025-12-28T00:00:00Z</vt:filetime>
  </property>
  <property fmtid="{D5CDD505-2E9C-101B-9397-08002B2CF9AE}" pid="5" name="Producer">
    <vt:lpwstr>Microsoft® PowerPoint® 2021</vt:lpwstr>
  </property>
</Properties>
</file>