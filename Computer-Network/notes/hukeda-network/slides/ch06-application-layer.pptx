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media/image43.jpg" ContentType="image/png"/>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xml" ContentType="application/vnd.openxmlformats-officedocument.presentationml.notesSlide+xml"/>
  <Override PartName="/ppt/tags/tag56.xml" ContentType="application/vnd.openxmlformats-officedocument.presentationml.tags+xml"/>
  <Override PartName="/ppt/notesSlides/notesSlide2.xml" ContentType="application/vnd.openxmlformats-officedocument.presentationml.notesSlide+xml"/>
  <Override PartName="/ppt/tags/tag57.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281" r:id="rId2"/>
    <p:sldId id="298" r:id="rId3"/>
    <p:sldId id="302" r:id="rId4"/>
    <p:sldId id="305" r:id="rId5"/>
    <p:sldId id="308" r:id="rId6"/>
    <p:sldId id="310" r:id="rId7"/>
    <p:sldId id="316" r:id="rId8"/>
    <p:sldId id="318" r:id="rId9"/>
    <p:sldId id="320" r:id="rId10"/>
    <p:sldId id="324" r:id="rId11"/>
    <p:sldId id="326" r:id="rId12"/>
    <p:sldId id="336" r:id="rId13"/>
    <p:sldId id="337" r:id="rId14"/>
    <p:sldId id="338" r:id="rId15"/>
    <p:sldId id="339" r:id="rId16"/>
    <p:sldId id="341" r:id="rId17"/>
    <p:sldId id="342" r:id="rId18"/>
    <p:sldId id="343" r:id="rId19"/>
    <p:sldId id="344" r:id="rId20"/>
    <p:sldId id="346" r:id="rId21"/>
    <p:sldId id="347" r:id="rId22"/>
    <p:sldId id="349" r:id="rId23"/>
    <p:sldId id="350" r:id="rId24"/>
    <p:sldId id="351" r:id="rId25"/>
    <p:sldId id="353" r:id="rId26"/>
    <p:sldId id="363" r:id="rId27"/>
    <p:sldId id="364" r:id="rId28"/>
    <p:sldId id="365" r:id="rId29"/>
    <p:sldId id="366" r:id="rId30"/>
    <p:sldId id="367" r:id="rId31"/>
    <p:sldId id="369" r:id="rId32"/>
    <p:sldId id="372" r:id="rId33"/>
    <p:sldId id="373" r:id="rId34"/>
    <p:sldId id="376" r:id="rId35"/>
    <p:sldId id="377" r:id="rId36"/>
    <p:sldId id="378" r:id="rId37"/>
    <p:sldId id="379" r:id="rId38"/>
    <p:sldId id="380" r:id="rId39"/>
    <p:sldId id="382" r:id="rId40"/>
    <p:sldId id="383" r:id="rId41"/>
    <p:sldId id="385" r:id="rId42"/>
    <p:sldId id="386" r:id="rId43"/>
    <p:sldId id="388" r:id="rId44"/>
    <p:sldId id="390" r:id="rId45"/>
    <p:sldId id="393" r:id="rId46"/>
    <p:sldId id="404" r:id="rId47"/>
    <p:sldId id="406" r:id="rId48"/>
    <p:sldId id="407" r:id="rId49"/>
    <p:sldId id="409" r:id="rId50"/>
    <p:sldId id="410" r:id="rId51"/>
    <p:sldId id="412" r:id="rId52"/>
    <p:sldId id="413" r:id="rId53"/>
    <p:sldId id="416" r:id="rId54"/>
    <p:sldId id="418" r:id="rId55"/>
    <p:sldId id="427" r:id="rId56"/>
    <p:sldId id="431" r:id="rId57"/>
    <p:sldId id="434" r:id="rId58"/>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1">
          <p15:clr>
            <a:srgbClr val="A4A3A4"/>
          </p15:clr>
        </p15:guide>
        <p15:guide id="2" pos="3845">
          <p15:clr>
            <a:srgbClr val="A4A3A4"/>
          </p15:clr>
        </p15:guide>
        <p15:guide id="3" pos="186">
          <p15:clr>
            <a:srgbClr val="A4A3A4"/>
          </p15:clr>
        </p15:guide>
        <p15:guide id="4" pos="7488">
          <p15:clr>
            <a:srgbClr val="A4A3A4"/>
          </p15:clr>
        </p15:guide>
        <p15:guide id="5" orient="horz" pos="465">
          <p15:clr>
            <a:srgbClr val="A4A3A4"/>
          </p15:clr>
        </p15:guide>
        <p15:guide id="6" orient="horz" pos="4104">
          <p15:clr>
            <a:srgbClr val="A4A3A4"/>
          </p15:clr>
        </p15:guide>
        <p15:guide id="7" orient="horz" pos="40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7ADA"/>
    <a:srgbClr val="8ACF57"/>
    <a:srgbClr val="00A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78" autoAdjust="0"/>
    <p:restoredTop sz="94660"/>
  </p:normalViewPr>
  <p:slideViewPr>
    <p:cSldViewPr snapToGrid="0" showGuides="1">
      <p:cViewPr varScale="1">
        <p:scale>
          <a:sx n="87" d="100"/>
          <a:sy n="87" d="100"/>
        </p:scale>
        <p:origin x="384" y="44"/>
      </p:cViewPr>
      <p:guideLst>
        <p:guide orient="horz" pos="2251"/>
        <p:guide pos="3845"/>
        <p:guide pos="186"/>
        <p:guide pos="7488"/>
        <p:guide orient="horz" pos="465"/>
        <p:guide orient="horz" pos="4104"/>
        <p:guide orient="horz" pos="4037"/>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C88A2-F8A5-4B5C-8EB3-EEEC4B3A6512}" type="datetimeFigureOut">
              <a:rPr lang="zh-CN" altLang="en-US" smtClean="0"/>
              <a:t>2025/12/24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5E7FE7-3129-4146-94F4-2216233FBB9C}" type="slidenum">
              <a:rPr lang="zh-CN" altLang="en-US" smtClean="0"/>
              <a:t>‹#›</a:t>
            </a:fld>
            <a:endParaRPr lang="zh-CN" altLang="en-US"/>
          </a:p>
        </p:txBody>
      </p:sp>
    </p:spTree>
    <p:extLst>
      <p:ext uri="{BB962C8B-B14F-4D97-AF65-F5344CB8AC3E}">
        <p14:creationId xmlns:p14="http://schemas.microsoft.com/office/powerpoint/2010/main" val="210361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55</a:t>
            </a:fld>
            <a:endParaRPr lang="zh-CN" altLang="en-US"/>
          </a:p>
        </p:txBody>
      </p:sp>
    </p:spTree>
    <p:extLst>
      <p:ext uri="{BB962C8B-B14F-4D97-AF65-F5344CB8AC3E}">
        <p14:creationId xmlns:p14="http://schemas.microsoft.com/office/powerpoint/2010/main" val="4270285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56</a:t>
            </a:fld>
            <a:endParaRPr lang="zh-CN" altLang="en-US"/>
          </a:p>
        </p:txBody>
      </p:sp>
    </p:spTree>
    <p:extLst>
      <p:ext uri="{BB962C8B-B14F-4D97-AF65-F5344CB8AC3E}">
        <p14:creationId xmlns:p14="http://schemas.microsoft.com/office/powerpoint/2010/main" val="3146100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55B9290-03D1-4E2E-A47C-118A78A2EA2E}" type="slidenum">
              <a:rPr lang="zh-CN" altLang="en-US" smtClean="0"/>
              <a:t>57</a:t>
            </a:fld>
            <a:endParaRPr lang="zh-CN" altLang="en-US"/>
          </a:p>
        </p:txBody>
      </p:sp>
    </p:spTree>
    <p:extLst>
      <p:ext uri="{BB962C8B-B14F-4D97-AF65-F5344CB8AC3E}">
        <p14:creationId xmlns:p14="http://schemas.microsoft.com/office/powerpoint/2010/main" val="1826562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E0FC4ED-8DEE-4F66-89DE-3B7C9AA7B1E2}" type="datetimeFigureOut">
              <a:rPr lang="zh-CN" altLang="en-US" smtClean="0"/>
              <a:t>2025/12/24</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1CCCD92-2F31-47A7-BAE3-ED1EDA3B9FF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82371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0" y="63500"/>
            <a:ext cx="12207240" cy="415290"/>
          </a:xfrm>
          <a:prstGeom prst="rect">
            <a:avLst/>
          </a:prstGeom>
          <a:solidFill>
            <a:srgbClr val="1B7ADA"/>
          </a:solidFill>
          <a:ln>
            <a:solidFill>
              <a:srgbClr val="1B7ADA"/>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400" b="1"/>
              <a:t>深入浅出计算机网络</a:t>
            </a:r>
            <a:r>
              <a:rPr lang="zh-CN" altLang="en-US" b="1"/>
              <a:t>（微课视频版）</a:t>
            </a:r>
          </a:p>
        </p:txBody>
      </p:sp>
      <p:sp>
        <p:nvSpPr>
          <p:cNvPr id="6" name="矩形 5"/>
          <p:cNvSpPr/>
          <p:nvPr userDrawn="1"/>
        </p:nvSpPr>
        <p:spPr>
          <a:xfrm>
            <a:off x="132080" y="0"/>
            <a:ext cx="547200" cy="547200"/>
          </a:xfrm>
          <a:prstGeom prst="rect">
            <a:avLst/>
          </a:prstGeom>
          <a:solidFill>
            <a:srgbClr val="8ACF57"/>
          </a:solidFill>
          <a:ln>
            <a:solidFill>
              <a:srgbClr val="8ACF57"/>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9975215" y="147320"/>
            <a:ext cx="76200" cy="2984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userDrawn="1"/>
        </p:nvSpPr>
        <p:spPr>
          <a:xfrm>
            <a:off x="10155555" y="86995"/>
            <a:ext cx="1994535" cy="368300"/>
          </a:xfrm>
          <a:prstGeom prst="rect">
            <a:avLst/>
          </a:prstGeom>
          <a:noFill/>
        </p:spPr>
        <p:txBody>
          <a:bodyPr wrap="square" rtlCol="0">
            <a:spAutoFit/>
          </a:bodyPr>
          <a:lstStyle/>
          <a:p>
            <a:pPr algn="r"/>
            <a:r>
              <a:rPr lang="zh-CN" altLang="en-US" b="1" dirty="0">
                <a:solidFill>
                  <a:schemeClr val="bg1"/>
                </a:solidFill>
                <a:latin typeface="+mj-ea"/>
                <a:ea typeface="+mj-ea"/>
                <a:cs typeface="+mj-ea"/>
              </a:rPr>
              <a:t>第</a:t>
            </a:r>
            <a:r>
              <a:rPr lang="en-US" altLang="zh-CN" b="1" dirty="0">
                <a:solidFill>
                  <a:schemeClr val="bg1"/>
                </a:solidFill>
                <a:latin typeface="+mj-ea"/>
                <a:ea typeface="+mj-ea"/>
                <a:cs typeface="+mj-ea"/>
              </a:rPr>
              <a:t>6</a:t>
            </a:r>
            <a:r>
              <a:rPr lang="zh-CN" altLang="en-US" b="1" dirty="0">
                <a:solidFill>
                  <a:schemeClr val="bg1"/>
                </a:solidFill>
                <a:latin typeface="+mj-ea"/>
                <a:ea typeface="+mj-ea"/>
                <a:cs typeface="+mj-ea"/>
              </a:rPr>
              <a:t>章</a:t>
            </a:r>
            <a:r>
              <a:rPr lang="en-US" altLang="zh-CN" b="1" dirty="0">
                <a:solidFill>
                  <a:schemeClr val="bg1"/>
                </a:solidFill>
                <a:latin typeface="+mj-ea"/>
                <a:ea typeface="+mj-ea"/>
                <a:cs typeface="+mj-ea"/>
              </a:rPr>
              <a:t> </a:t>
            </a:r>
            <a:r>
              <a:rPr lang="zh-CN" altLang="en-US" b="1" dirty="0">
                <a:solidFill>
                  <a:schemeClr val="bg1"/>
                </a:solidFill>
                <a:latin typeface="+mj-ea"/>
                <a:ea typeface="+mj-ea"/>
                <a:cs typeface="+mj-ea"/>
              </a:rPr>
              <a:t>应用层</a:t>
            </a:r>
          </a:p>
        </p:txBody>
      </p:sp>
      <p:pic>
        <p:nvPicPr>
          <p:cNvPr id="11" name="图片 10" descr="logo"/>
          <p:cNvPicPr>
            <a:picLocks noChangeAspect="1"/>
          </p:cNvPicPr>
          <p:nvPr userDrawn="1"/>
        </p:nvPicPr>
        <p:blipFill>
          <a:blip r:embed="rId5"/>
          <a:stretch>
            <a:fillRect/>
          </a:stretch>
        </p:blipFill>
        <p:spPr>
          <a:xfrm>
            <a:off x="3308" y="6414723"/>
            <a:ext cx="1882140" cy="441960"/>
          </a:xfrm>
          <a:prstGeom prst="rect">
            <a:avLst/>
          </a:prstGeom>
        </p:spPr>
      </p:pic>
      <p:sp>
        <p:nvSpPr>
          <p:cNvPr id="2" name="文本框 1">
            <a:extLst>
              <a:ext uri="{FF2B5EF4-FFF2-40B4-BE49-F238E27FC236}">
                <a16:creationId xmlns:a16="http://schemas.microsoft.com/office/drawing/2014/main" id="{3CCA885B-1FAA-25AA-9061-3ED522222E6E}"/>
              </a:ext>
            </a:extLst>
          </p:cNvPr>
          <p:cNvSpPr txBox="1"/>
          <p:nvPr userDrawn="1"/>
        </p:nvSpPr>
        <p:spPr>
          <a:xfrm>
            <a:off x="10365377" y="6486579"/>
            <a:ext cx="1823315" cy="369332"/>
          </a:xfrm>
          <a:prstGeom prst="rect">
            <a:avLst/>
          </a:prstGeom>
          <a:noFill/>
        </p:spPr>
        <p:txBody>
          <a:bodyPr wrap="square" rtlCol="0">
            <a:spAutoFit/>
          </a:bodyPr>
          <a:lstStyle/>
          <a:p>
            <a:pPr algn="r"/>
            <a:r>
              <a:rPr lang="zh-CN" altLang="en-US" b="1" dirty="0">
                <a:solidFill>
                  <a:schemeClr val="tx1">
                    <a:lumMod val="50000"/>
                    <a:lumOff val="50000"/>
                  </a:schemeClr>
                </a:solidFill>
              </a:rPr>
              <a:t>课件制作：高军</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10.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20.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2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8.sv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2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28.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32.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3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33.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tags" Target="../tags/tag35.xml"/><Relationship Id="rId4" Type="http://schemas.openxmlformats.org/officeDocument/2006/relationships/image" Target="../media/image31.sv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8.xml"/></Relationships>
</file>

<file path=ppt/slides/_rels/slide39.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39.xml"/><Relationship Id="rId6" Type="http://schemas.openxmlformats.org/officeDocument/2006/relationships/image" Target="../media/image24.svg"/><Relationship Id="rId11" Type="http://schemas.openxmlformats.org/officeDocument/2006/relationships/image" Target="../media/image34.png"/><Relationship Id="rId5" Type="http://schemas.openxmlformats.org/officeDocument/2006/relationships/image" Target="../media/image23.png"/><Relationship Id="rId10" Type="http://schemas.openxmlformats.org/officeDocument/2006/relationships/image" Target="../media/image33.svg"/><Relationship Id="rId4" Type="http://schemas.openxmlformats.org/officeDocument/2006/relationships/image" Target="../media/image22.svg"/><Relationship Id="rId9"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tags" Target="../tags/tag40.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3.xml"/><Relationship Id="rId1" Type="http://schemas.openxmlformats.org/officeDocument/2006/relationships/tags" Target="../tags/tag41.xml"/><Relationship Id="rId5" Type="http://schemas.openxmlformats.org/officeDocument/2006/relationships/image" Target="../media/image38.png"/><Relationship Id="rId4" Type="http://schemas.openxmlformats.org/officeDocument/2006/relationships/image" Target="../media/image37.svg"/></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Layout" Target="../slideLayouts/slideLayout3.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slideLayout" Target="../slideLayouts/slideLayout3.xml"/><Relationship Id="rId1" Type="http://schemas.openxmlformats.org/officeDocument/2006/relationships/tags" Target="../tags/tag44.xml"/><Relationship Id="rId6" Type="http://schemas.openxmlformats.org/officeDocument/2006/relationships/image" Target="../media/image44.jpeg"/><Relationship Id="rId5" Type="http://schemas.openxmlformats.org/officeDocument/2006/relationships/image" Target="../media/image43.jpg"/><Relationship Id="rId4" Type="http://schemas.openxmlformats.org/officeDocument/2006/relationships/image" Target="../media/image42.jpeg"/></Relationships>
</file>

<file path=ppt/slides/_rels/slide4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slideLayout" Target="../slideLayouts/slideLayout3.xml"/><Relationship Id="rId1" Type="http://schemas.openxmlformats.org/officeDocument/2006/relationships/tags" Target="../tags/tag45.xml"/><Relationship Id="rId6" Type="http://schemas.microsoft.com/office/2007/relationships/hdphoto" Target="../media/hdphoto1.wdp"/><Relationship Id="rId5" Type="http://schemas.openxmlformats.org/officeDocument/2006/relationships/image" Target="../media/image47.png"/><Relationship Id="rId4" Type="http://schemas.openxmlformats.org/officeDocument/2006/relationships/image" Target="../media/image46.jpeg"/></Relationships>
</file>

<file path=ppt/slides/_rels/slide4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1.jpg"/><Relationship Id="rId7"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46.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4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1.sv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8.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3.xml"/><Relationship Id="rId1" Type="http://schemas.openxmlformats.org/officeDocument/2006/relationships/tags" Target="../tags/tag49.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3.xml"/><Relationship Id="rId1" Type="http://schemas.openxmlformats.org/officeDocument/2006/relationships/tags" Target="../tags/tag50.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Layout" Target="../slideLayouts/slideLayout3.xml"/><Relationship Id="rId1" Type="http://schemas.openxmlformats.org/officeDocument/2006/relationships/tags" Target="../tags/tag51.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3.xml"/></Relationships>
</file>

<file path=ppt/slides/_rels/slide5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52.png"/><Relationship Id="rId7"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54.xml"/><Relationship Id="rId6" Type="http://schemas.openxmlformats.org/officeDocument/2006/relationships/image" Target="../media/image8.svg"/><Relationship Id="rId11" Type="http://schemas.openxmlformats.org/officeDocument/2006/relationships/image" Target="../media/image56.svg"/><Relationship Id="rId5" Type="http://schemas.openxmlformats.org/officeDocument/2006/relationships/image" Target="../media/image7.png"/><Relationship Id="rId10" Type="http://schemas.openxmlformats.org/officeDocument/2006/relationships/image" Target="../media/image55.png"/><Relationship Id="rId4" Type="http://schemas.openxmlformats.org/officeDocument/2006/relationships/image" Target="../media/image53.svg"/><Relationship Id="rId9" Type="http://schemas.openxmlformats.org/officeDocument/2006/relationships/image" Target="../media/image54.png"/></Relationships>
</file>

<file path=ppt/slides/_rels/slide5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53.svg"/><Relationship Id="rId3" Type="http://schemas.openxmlformats.org/officeDocument/2006/relationships/notesSlide" Target="../notesSlides/notesSlide1.xml"/><Relationship Id="rId7" Type="http://schemas.openxmlformats.org/officeDocument/2006/relationships/image" Target="../media/image11.svg"/><Relationship Id="rId12" Type="http://schemas.openxmlformats.org/officeDocument/2006/relationships/image" Target="../media/image52.png"/><Relationship Id="rId2" Type="http://schemas.openxmlformats.org/officeDocument/2006/relationships/slideLayout" Target="../slideLayouts/slideLayout3.xml"/><Relationship Id="rId1" Type="http://schemas.openxmlformats.org/officeDocument/2006/relationships/tags" Target="../tags/tag55.xml"/><Relationship Id="rId6" Type="http://schemas.openxmlformats.org/officeDocument/2006/relationships/image" Target="../media/image10.png"/><Relationship Id="rId11" Type="http://schemas.openxmlformats.org/officeDocument/2006/relationships/image" Target="../media/image6.svg"/><Relationship Id="rId5" Type="http://schemas.openxmlformats.org/officeDocument/2006/relationships/image" Target="../media/image8.sv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58.sv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5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0AC0462D-DF12-940B-872E-609228D6B69E}"/>
              </a:ext>
            </a:extLst>
          </p:cNvPr>
          <p:cNvGrpSpPr/>
          <p:nvPr/>
        </p:nvGrpSpPr>
        <p:grpSpPr>
          <a:xfrm>
            <a:off x="3048708" y="1186015"/>
            <a:ext cx="6114033" cy="4650622"/>
            <a:chOff x="3048708" y="1186015"/>
            <a:chExt cx="6114033" cy="4650622"/>
          </a:xfrm>
        </p:grpSpPr>
        <p:grpSp>
          <p:nvGrpSpPr>
            <p:cNvPr id="22" name="组合 21">
              <a:extLst>
                <a:ext uri="{FF2B5EF4-FFF2-40B4-BE49-F238E27FC236}">
                  <a16:creationId xmlns:a16="http://schemas.microsoft.com/office/drawing/2014/main" id="{E97D90D3-4F28-17DE-24CF-F808D309961E}"/>
                </a:ext>
              </a:extLst>
            </p:cNvPr>
            <p:cNvGrpSpPr/>
            <p:nvPr/>
          </p:nvGrpSpPr>
          <p:grpSpPr>
            <a:xfrm>
              <a:off x="3048708" y="1186015"/>
              <a:ext cx="6114033" cy="499963"/>
              <a:chOff x="1592243" y="802566"/>
              <a:chExt cx="6114033" cy="499963"/>
            </a:xfrm>
          </p:grpSpPr>
          <p:sp>
            <p:nvSpPr>
              <p:cNvPr id="3" name="矩形 2">
                <a:extLst>
                  <a:ext uri="{FF2B5EF4-FFF2-40B4-BE49-F238E27FC236}">
                    <a16:creationId xmlns:a16="http://schemas.microsoft.com/office/drawing/2014/main" id="{381BC43C-65D8-6884-30CF-35AEDC9722A5}"/>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6.1</a:t>
                </a:r>
                <a:endParaRPr lang="zh-CN" altLang="en-US" sz="2400" b="1" spc="300" dirty="0">
                  <a:latin typeface="Impact" panose="020B0806030902050204" pitchFamily="34" charset="0"/>
                </a:endParaRPr>
              </a:p>
            </p:txBody>
          </p:sp>
          <p:sp>
            <p:nvSpPr>
              <p:cNvPr id="5" name="矩形 4">
                <a:extLst>
                  <a:ext uri="{FF2B5EF4-FFF2-40B4-BE49-F238E27FC236}">
                    <a16:creationId xmlns:a16="http://schemas.microsoft.com/office/drawing/2014/main" id="{9876B500-C048-C84B-AF98-80CEF8D7167E}"/>
                  </a:ext>
                </a:extLst>
              </p:cNvPr>
              <p:cNvSpPr/>
              <p:nvPr/>
            </p:nvSpPr>
            <p:spPr>
              <a:xfrm>
                <a:off x="2620137" y="802566"/>
                <a:ext cx="5086139"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应用层概述</a:t>
                </a:r>
                <a:endParaRPr lang="zh-CN" altLang="en-US" sz="2800" b="1" spc="300" dirty="0">
                  <a:solidFill>
                    <a:schemeClr val="tx1"/>
                  </a:solidFill>
                  <a:latin typeface="Impact" panose="020B0806030902050204" pitchFamily="34" charset="0"/>
                </a:endParaRPr>
              </a:p>
            </p:txBody>
          </p:sp>
        </p:grpSp>
        <p:grpSp>
          <p:nvGrpSpPr>
            <p:cNvPr id="4" name="组合 3">
              <a:extLst>
                <a:ext uri="{FF2B5EF4-FFF2-40B4-BE49-F238E27FC236}">
                  <a16:creationId xmlns:a16="http://schemas.microsoft.com/office/drawing/2014/main" id="{D02A9B97-CFDD-BB94-95C1-3BD4ECE3941D}"/>
                </a:ext>
              </a:extLst>
            </p:cNvPr>
            <p:cNvGrpSpPr/>
            <p:nvPr/>
          </p:nvGrpSpPr>
          <p:grpSpPr>
            <a:xfrm>
              <a:off x="3048708" y="1877792"/>
              <a:ext cx="6110460" cy="499963"/>
              <a:chOff x="1592243" y="802566"/>
              <a:chExt cx="6110460" cy="499963"/>
            </a:xfrm>
          </p:grpSpPr>
          <p:sp>
            <p:nvSpPr>
              <p:cNvPr id="6" name="矩形 5">
                <a:extLst>
                  <a:ext uri="{FF2B5EF4-FFF2-40B4-BE49-F238E27FC236}">
                    <a16:creationId xmlns:a16="http://schemas.microsoft.com/office/drawing/2014/main" id="{A0388897-BEB8-FB10-920A-1F8768612D1A}"/>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6.2</a:t>
                </a:r>
                <a:endParaRPr lang="zh-CN" altLang="en-US" sz="2400" b="1" spc="300" dirty="0">
                  <a:latin typeface="Impact" panose="020B0806030902050204" pitchFamily="34" charset="0"/>
                </a:endParaRPr>
              </a:p>
            </p:txBody>
          </p:sp>
          <p:sp>
            <p:nvSpPr>
              <p:cNvPr id="7" name="矩形 6">
                <a:extLst>
                  <a:ext uri="{FF2B5EF4-FFF2-40B4-BE49-F238E27FC236}">
                    <a16:creationId xmlns:a16="http://schemas.microsoft.com/office/drawing/2014/main" id="{3565F1C2-448E-0A88-9B80-546C4D08C57E}"/>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客户</a:t>
                </a:r>
                <a:r>
                  <a:rPr lang="en-US" altLang="zh-CN" sz="2400" b="1" spc="300" dirty="0">
                    <a:solidFill>
                      <a:schemeClr val="tx1"/>
                    </a:solidFill>
                    <a:latin typeface="Impact" panose="020B0806030902050204" pitchFamily="34" charset="0"/>
                  </a:rPr>
                  <a:t>/</a:t>
                </a:r>
                <a:r>
                  <a:rPr lang="zh-CN" altLang="en-US" sz="2400" b="1" spc="300" dirty="0">
                    <a:solidFill>
                      <a:schemeClr val="tx1"/>
                    </a:solidFill>
                    <a:latin typeface="Impact" panose="020B0806030902050204" pitchFamily="34" charset="0"/>
                  </a:rPr>
                  <a:t>服务器方式和对等方式</a:t>
                </a:r>
                <a:endParaRPr lang="zh-CN" altLang="en-US" sz="2800" b="1" spc="300" dirty="0">
                  <a:solidFill>
                    <a:schemeClr val="tx1"/>
                  </a:solidFill>
                  <a:latin typeface="Impact" panose="020B0806030902050204" pitchFamily="34" charset="0"/>
                </a:endParaRPr>
              </a:p>
            </p:txBody>
          </p:sp>
        </p:grpSp>
        <p:grpSp>
          <p:nvGrpSpPr>
            <p:cNvPr id="8" name="组合 7">
              <a:extLst>
                <a:ext uri="{FF2B5EF4-FFF2-40B4-BE49-F238E27FC236}">
                  <a16:creationId xmlns:a16="http://schemas.microsoft.com/office/drawing/2014/main" id="{36E8156E-F736-475F-5458-07B4AB570963}"/>
                </a:ext>
              </a:extLst>
            </p:cNvPr>
            <p:cNvGrpSpPr/>
            <p:nvPr/>
          </p:nvGrpSpPr>
          <p:grpSpPr>
            <a:xfrm>
              <a:off x="3048708" y="2569569"/>
              <a:ext cx="6110460" cy="499963"/>
              <a:chOff x="1592243" y="802566"/>
              <a:chExt cx="6110460" cy="499963"/>
            </a:xfrm>
          </p:grpSpPr>
          <p:sp>
            <p:nvSpPr>
              <p:cNvPr id="9" name="矩形 8">
                <a:extLst>
                  <a:ext uri="{FF2B5EF4-FFF2-40B4-BE49-F238E27FC236}">
                    <a16:creationId xmlns:a16="http://schemas.microsoft.com/office/drawing/2014/main" id="{EB162785-D762-3FFF-350F-C50CAB45DE0F}"/>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6.3</a:t>
                </a:r>
                <a:endParaRPr lang="zh-CN" altLang="en-US" sz="2400" b="1" spc="300" dirty="0">
                  <a:latin typeface="Impact" panose="020B0806030902050204" pitchFamily="34" charset="0"/>
                </a:endParaRPr>
              </a:p>
            </p:txBody>
          </p:sp>
          <p:sp>
            <p:nvSpPr>
              <p:cNvPr id="10" name="矩形 9">
                <a:extLst>
                  <a:ext uri="{FF2B5EF4-FFF2-40B4-BE49-F238E27FC236}">
                    <a16:creationId xmlns:a16="http://schemas.microsoft.com/office/drawing/2014/main" id="{3BDACF22-AC7E-99CA-0A15-1F363DDDC280}"/>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动态主机配置协议</a:t>
                </a:r>
                <a:endParaRPr lang="zh-CN" altLang="en-US" sz="2800" b="1" spc="300" dirty="0">
                  <a:solidFill>
                    <a:schemeClr val="tx1"/>
                  </a:solidFill>
                  <a:latin typeface="Impact" panose="020B0806030902050204" pitchFamily="34" charset="0"/>
                </a:endParaRPr>
              </a:p>
            </p:txBody>
          </p:sp>
        </p:grpSp>
        <p:grpSp>
          <p:nvGrpSpPr>
            <p:cNvPr id="11" name="组合 10">
              <a:extLst>
                <a:ext uri="{FF2B5EF4-FFF2-40B4-BE49-F238E27FC236}">
                  <a16:creationId xmlns:a16="http://schemas.microsoft.com/office/drawing/2014/main" id="{CFAD3AF7-8782-AB71-B065-0EC46F722091}"/>
                </a:ext>
              </a:extLst>
            </p:cNvPr>
            <p:cNvGrpSpPr/>
            <p:nvPr/>
          </p:nvGrpSpPr>
          <p:grpSpPr>
            <a:xfrm>
              <a:off x="3048708" y="3261346"/>
              <a:ext cx="6110460" cy="499963"/>
              <a:chOff x="1592243" y="802566"/>
              <a:chExt cx="6110460" cy="499963"/>
            </a:xfrm>
          </p:grpSpPr>
          <p:sp>
            <p:nvSpPr>
              <p:cNvPr id="12" name="矩形 11">
                <a:extLst>
                  <a:ext uri="{FF2B5EF4-FFF2-40B4-BE49-F238E27FC236}">
                    <a16:creationId xmlns:a16="http://schemas.microsoft.com/office/drawing/2014/main" id="{F023D4E3-FB85-009E-701E-B7D824039F9A}"/>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6.4</a:t>
                </a:r>
                <a:endParaRPr lang="zh-CN" altLang="en-US" sz="2400" b="1" spc="300" dirty="0">
                  <a:latin typeface="Impact" panose="020B0806030902050204" pitchFamily="34" charset="0"/>
                </a:endParaRPr>
              </a:p>
            </p:txBody>
          </p:sp>
          <p:sp>
            <p:nvSpPr>
              <p:cNvPr id="13" name="矩形 12">
                <a:extLst>
                  <a:ext uri="{FF2B5EF4-FFF2-40B4-BE49-F238E27FC236}">
                    <a16:creationId xmlns:a16="http://schemas.microsoft.com/office/drawing/2014/main" id="{37C6E5EC-61D5-3CFF-321C-C17A5B30499A}"/>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域名系统</a:t>
                </a:r>
                <a:endParaRPr lang="zh-CN" altLang="en-US" sz="2800" b="1" spc="300" dirty="0">
                  <a:solidFill>
                    <a:schemeClr val="tx1"/>
                  </a:solidFill>
                  <a:latin typeface="Impact" panose="020B0806030902050204" pitchFamily="34" charset="0"/>
                </a:endParaRPr>
              </a:p>
            </p:txBody>
          </p:sp>
        </p:grpSp>
        <p:grpSp>
          <p:nvGrpSpPr>
            <p:cNvPr id="14" name="组合 13">
              <a:extLst>
                <a:ext uri="{FF2B5EF4-FFF2-40B4-BE49-F238E27FC236}">
                  <a16:creationId xmlns:a16="http://schemas.microsoft.com/office/drawing/2014/main" id="{61DE267B-4968-E143-5AF2-0A6A7D4E5D39}"/>
                </a:ext>
              </a:extLst>
            </p:cNvPr>
            <p:cNvGrpSpPr/>
            <p:nvPr/>
          </p:nvGrpSpPr>
          <p:grpSpPr>
            <a:xfrm>
              <a:off x="3048708" y="3953123"/>
              <a:ext cx="6110460" cy="499963"/>
              <a:chOff x="1592243" y="802566"/>
              <a:chExt cx="6110460" cy="499963"/>
            </a:xfrm>
          </p:grpSpPr>
          <p:sp>
            <p:nvSpPr>
              <p:cNvPr id="15" name="矩形 14">
                <a:extLst>
                  <a:ext uri="{FF2B5EF4-FFF2-40B4-BE49-F238E27FC236}">
                    <a16:creationId xmlns:a16="http://schemas.microsoft.com/office/drawing/2014/main" id="{13E10318-9313-C74F-1333-3F6FCE43C9D4}"/>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6.5</a:t>
                </a:r>
                <a:endParaRPr lang="zh-CN" altLang="en-US" sz="2400" b="1" spc="300" dirty="0">
                  <a:latin typeface="Impact" panose="020B0806030902050204" pitchFamily="34" charset="0"/>
                </a:endParaRPr>
              </a:p>
            </p:txBody>
          </p:sp>
          <p:sp>
            <p:nvSpPr>
              <p:cNvPr id="16" name="矩形 15">
                <a:extLst>
                  <a:ext uri="{FF2B5EF4-FFF2-40B4-BE49-F238E27FC236}">
                    <a16:creationId xmlns:a16="http://schemas.microsoft.com/office/drawing/2014/main" id="{79F27809-A883-0AC4-967C-B0686DEFCA43}"/>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文件传输协议</a:t>
                </a:r>
                <a:endParaRPr lang="zh-CN" altLang="en-US" sz="2800" b="1" spc="300" dirty="0">
                  <a:solidFill>
                    <a:schemeClr val="tx1"/>
                  </a:solidFill>
                  <a:latin typeface="Impact" panose="020B0806030902050204" pitchFamily="34" charset="0"/>
                </a:endParaRPr>
              </a:p>
            </p:txBody>
          </p:sp>
        </p:grpSp>
        <p:grpSp>
          <p:nvGrpSpPr>
            <p:cNvPr id="17" name="组合 16">
              <a:extLst>
                <a:ext uri="{FF2B5EF4-FFF2-40B4-BE49-F238E27FC236}">
                  <a16:creationId xmlns:a16="http://schemas.microsoft.com/office/drawing/2014/main" id="{ABCD1056-5F1C-3C04-3A22-08BD01EC21C3}"/>
                </a:ext>
              </a:extLst>
            </p:cNvPr>
            <p:cNvGrpSpPr/>
            <p:nvPr/>
          </p:nvGrpSpPr>
          <p:grpSpPr>
            <a:xfrm>
              <a:off x="3048708" y="4644900"/>
              <a:ext cx="6110460" cy="499963"/>
              <a:chOff x="1592243" y="802566"/>
              <a:chExt cx="6110460" cy="499963"/>
            </a:xfrm>
          </p:grpSpPr>
          <p:sp>
            <p:nvSpPr>
              <p:cNvPr id="18" name="矩形 17">
                <a:extLst>
                  <a:ext uri="{FF2B5EF4-FFF2-40B4-BE49-F238E27FC236}">
                    <a16:creationId xmlns:a16="http://schemas.microsoft.com/office/drawing/2014/main" id="{3CCB3BC4-14CB-87B8-828E-BB8A51B790D4}"/>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6.6</a:t>
                </a:r>
                <a:endParaRPr lang="zh-CN" altLang="en-US" sz="2400" b="1" spc="300" dirty="0">
                  <a:latin typeface="Impact" panose="020B0806030902050204" pitchFamily="34" charset="0"/>
                </a:endParaRPr>
              </a:p>
            </p:txBody>
          </p:sp>
          <p:sp>
            <p:nvSpPr>
              <p:cNvPr id="19" name="矩形 18">
                <a:extLst>
                  <a:ext uri="{FF2B5EF4-FFF2-40B4-BE49-F238E27FC236}">
                    <a16:creationId xmlns:a16="http://schemas.microsoft.com/office/drawing/2014/main" id="{F8B43269-77E3-5A79-AE75-0A615D5324E1}"/>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  </a:t>
                </a:r>
                <a:r>
                  <a:rPr lang="zh-CN" altLang="en-US" sz="2400" b="1" spc="300" dirty="0">
                    <a:solidFill>
                      <a:schemeClr val="tx1"/>
                    </a:solidFill>
                    <a:latin typeface="Impact" panose="020B0806030902050204" pitchFamily="34" charset="0"/>
                  </a:rPr>
                  <a:t>电子邮件</a:t>
                </a:r>
                <a:endParaRPr lang="zh-CN" altLang="en-US" sz="2800" b="1" spc="300" dirty="0">
                  <a:solidFill>
                    <a:schemeClr val="tx1"/>
                  </a:solidFill>
                  <a:latin typeface="Impact" panose="020B0806030902050204" pitchFamily="34" charset="0"/>
                </a:endParaRPr>
              </a:p>
            </p:txBody>
          </p:sp>
        </p:grpSp>
        <p:grpSp>
          <p:nvGrpSpPr>
            <p:cNvPr id="20" name="组合 19">
              <a:extLst>
                <a:ext uri="{FF2B5EF4-FFF2-40B4-BE49-F238E27FC236}">
                  <a16:creationId xmlns:a16="http://schemas.microsoft.com/office/drawing/2014/main" id="{F4FD4D02-4912-66FA-555F-483C40EB4192}"/>
                </a:ext>
              </a:extLst>
            </p:cNvPr>
            <p:cNvGrpSpPr/>
            <p:nvPr/>
          </p:nvGrpSpPr>
          <p:grpSpPr>
            <a:xfrm>
              <a:off x="3048708" y="5336674"/>
              <a:ext cx="6110460" cy="499963"/>
              <a:chOff x="1592243" y="802566"/>
              <a:chExt cx="6110460" cy="499963"/>
            </a:xfrm>
          </p:grpSpPr>
          <p:sp>
            <p:nvSpPr>
              <p:cNvPr id="21" name="矩形 20">
                <a:extLst>
                  <a:ext uri="{FF2B5EF4-FFF2-40B4-BE49-F238E27FC236}">
                    <a16:creationId xmlns:a16="http://schemas.microsoft.com/office/drawing/2014/main" id="{E2660BF3-9694-54AD-CFD3-AA2A549BE3FB}"/>
                  </a:ext>
                </a:extLst>
              </p:cNvPr>
              <p:cNvSpPr/>
              <p:nvPr/>
            </p:nvSpPr>
            <p:spPr>
              <a:xfrm>
                <a:off x="1592243" y="802567"/>
                <a:ext cx="1027894" cy="499962"/>
              </a:xfrm>
              <a:prstGeom prst="rect">
                <a:avLst/>
              </a:prstGeom>
              <a:solidFill>
                <a:srgbClr val="1B7ADA"/>
              </a:solid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spc="300" dirty="0">
                    <a:latin typeface="Impact" panose="020B0806030902050204" pitchFamily="34" charset="0"/>
                  </a:rPr>
                  <a:t>6.7</a:t>
                </a:r>
                <a:endParaRPr lang="zh-CN" altLang="en-US" sz="2400" b="1" spc="300" dirty="0">
                  <a:latin typeface="Impact" panose="020B0806030902050204" pitchFamily="34" charset="0"/>
                </a:endParaRPr>
              </a:p>
            </p:txBody>
          </p:sp>
          <p:sp>
            <p:nvSpPr>
              <p:cNvPr id="29" name="矩形 28">
                <a:extLst>
                  <a:ext uri="{FF2B5EF4-FFF2-40B4-BE49-F238E27FC236}">
                    <a16:creationId xmlns:a16="http://schemas.microsoft.com/office/drawing/2014/main" id="{C7E03E6C-0040-11DA-430B-07AFD328CFDA}"/>
                  </a:ext>
                </a:extLst>
              </p:cNvPr>
              <p:cNvSpPr/>
              <p:nvPr/>
            </p:nvSpPr>
            <p:spPr>
              <a:xfrm>
                <a:off x="2620137" y="802566"/>
                <a:ext cx="5082566" cy="499962"/>
              </a:xfrm>
              <a:prstGeom prst="rect">
                <a:avLst/>
              </a:prstGeom>
              <a:noFill/>
              <a:ln>
                <a:solidFill>
                  <a:srgbClr val="1B7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spc="300" dirty="0">
                    <a:solidFill>
                      <a:schemeClr val="tx1"/>
                    </a:solidFill>
                    <a:latin typeface="Impact" panose="020B0806030902050204" pitchFamily="34" charset="0"/>
                  </a:rPr>
                  <a:t>万维网</a:t>
                </a:r>
              </a:p>
            </p:txBody>
          </p:sp>
        </p:grpSp>
      </p:grpSp>
    </p:spTree>
    <p:extLst>
      <p:ext uri="{BB962C8B-B14F-4D97-AF65-F5344CB8AC3E}">
        <p14:creationId xmlns:p14="http://schemas.microsoft.com/office/powerpoint/2010/main" val="3119598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ppt_w</p:attrName>
                                        </p:attrNameLst>
                                      </p:cBhvr>
                                      <p:tavLst>
                                        <p:tav tm="0">
                                          <p:val>
                                            <p:fltVal val="0"/>
                                          </p:val>
                                        </p:tav>
                                        <p:tav tm="100000">
                                          <p:val>
                                            <p:strVal val="#ppt_w"/>
                                          </p:val>
                                        </p:tav>
                                      </p:tavLst>
                                    </p:anim>
                                    <p:anim calcmode="lin" valueType="num">
                                      <p:cBhvr>
                                        <p:cTn id="8" dur="1000" fill="hold"/>
                                        <p:tgtEl>
                                          <p:spTgt spid="30"/>
                                        </p:tgtEl>
                                        <p:attrNameLst>
                                          <p:attrName>ppt_h</p:attrName>
                                        </p:attrNameLst>
                                      </p:cBhvr>
                                      <p:tavLst>
                                        <p:tav tm="0">
                                          <p:val>
                                            <p:fltVal val="0"/>
                                          </p:val>
                                        </p:tav>
                                        <p:tav tm="100000">
                                          <p:val>
                                            <p:strVal val="#ppt_h"/>
                                          </p:val>
                                        </p:tav>
                                      </p:tavLst>
                                    </p:anim>
                                    <p:anim calcmode="lin" valueType="num">
                                      <p:cBhvr>
                                        <p:cTn id="9" dur="1000" fill="hold"/>
                                        <p:tgtEl>
                                          <p:spTgt spid="3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0"/>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sp>
        <p:nvSpPr>
          <p:cNvPr id="11" name="矩形 10">
            <a:extLst>
              <a:ext uri="{FF2B5EF4-FFF2-40B4-BE49-F238E27FC236}">
                <a16:creationId xmlns:a16="http://schemas.microsoft.com/office/drawing/2014/main" id="{462D3886-57FC-A608-0110-57139D918C84}"/>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íşlïḍè">
            <a:extLst>
              <a:ext uri="{FF2B5EF4-FFF2-40B4-BE49-F238E27FC236}">
                <a16:creationId xmlns:a16="http://schemas.microsoft.com/office/drawing/2014/main" id="{0F20CD1E-9A69-EF15-6FD7-0B136CA98429}"/>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应用层是计算机网络体系结构的</a:t>
            </a:r>
            <a:r>
              <a:rPr lang="zh-CN" altLang="en-US" b="1" dirty="0">
                <a:solidFill>
                  <a:schemeClr val="accent1">
                    <a:lumMod val="75000"/>
                  </a:schemeClr>
                </a:solidFill>
              </a:rPr>
              <a:t>最顶层</a:t>
            </a:r>
            <a:r>
              <a:rPr lang="zh-CN" altLang="en-US" b="1" dirty="0"/>
              <a:t>，是</a:t>
            </a:r>
            <a:r>
              <a:rPr lang="zh-CN" altLang="en-US" b="1" dirty="0">
                <a:solidFill>
                  <a:schemeClr val="accent1">
                    <a:lumMod val="75000"/>
                  </a:schemeClr>
                </a:solidFill>
              </a:rPr>
              <a:t>设计和建立计算机网络的最终目的</a:t>
            </a:r>
            <a:r>
              <a:rPr lang="zh-CN" altLang="en-US" b="1" dirty="0"/>
              <a:t>，也是计算机网络中发展最快的部分。</a:t>
            </a:r>
            <a:endParaRPr lang="en-US" altLang="zh-CN" b="1" dirty="0"/>
          </a:p>
        </p:txBody>
      </p:sp>
      <p:sp>
        <p:nvSpPr>
          <p:cNvPr id="13" name="矩形 12">
            <a:extLst>
              <a:ext uri="{FF2B5EF4-FFF2-40B4-BE49-F238E27FC236}">
                <a16:creationId xmlns:a16="http://schemas.microsoft.com/office/drawing/2014/main" id="{EDF97756-3D73-9466-F059-45C2B3964630}"/>
              </a:ext>
            </a:extLst>
          </p:cNvPr>
          <p:cNvSpPr/>
          <p:nvPr/>
        </p:nvSpPr>
        <p:spPr>
          <a:xfrm>
            <a:off x="1407235" y="206592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íşlïḍè">
            <a:extLst>
              <a:ext uri="{FF2B5EF4-FFF2-40B4-BE49-F238E27FC236}">
                <a16:creationId xmlns:a16="http://schemas.microsoft.com/office/drawing/2014/main" id="{ECEB44E6-8FAA-7706-C18D-54DE1A4174BC}"/>
              </a:ext>
            </a:extLst>
          </p:cNvPr>
          <p:cNvSpPr txBox="1"/>
          <p:nvPr/>
        </p:nvSpPr>
        <p:spPr>
          <a:xfrm>
            <a:off x="1684993" y="1984863"/>
            <a:ext cx="10202208" cy="434911"/>
          </a:xfrm>
          <a:prstGeom prst="rect">
            <a:avLst/>
          </a:prstGeom>
          <a:noFill/>
        </p:spPr>
        <p:txBody>
          <a:bodyPr wrap="square" lIns="91440" tIns="45720" rIns="91440" bIns="45720" anchor="ctr">
            <a:noAutofit/>
          </a:bodyPr>
          <a:lstStyle/>
          <a:p>
            <a:r>
              <a:rPr lang="zh-CN" altLang="en-US" b="1" dirty="0"/>
              <a:t>早期基于文本的应用（电子邮件、远程登录、文件传输、新闻组）</a:t>
            </a:r>
            <a:endParaRPr lang="en-US" altLang="zh-CN" b="1" dirty="0"/>
          </a:p>
        </p:txBody>
      </p:sp>
      <p:sp>
        <p:nvSpPr>
          <p:cNvPr id="15" name="矩形 14">
            <a:extLst>
              <a:ext uri="{FF2B5EF4-FFF2-40B4-BE49-F238E27FC236}">
                <a16:creationId xmlns:a16="http://schemas.microsoft.com/office/drawing/2014/main" id="{247FA2CD-B0E3-1828-C00A-4C6C157AC6E9}"/>
              </a:ext>
            </a:extLst>
          </p:cNvPr>
          <p:cNvSpPr/>
          <p:nvPr/>
        </p:nvSpPr>
        <p:spPr>
          <a:xfrm>
            <a:off x="1407234" y="262313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íşlïḍè">
            <a:extLst>
              <a:ext uri="{FF2B5EF4-FFF2-40B4-BE49-F238E27FC236}">
                <a16:creationId xmlns:a16="http://schemas.microsoft.com/office/drawing/2014/main" id="{4FE3FBD3-B507-3F28-89A8-4744E957C987}"/>
              </a:ext>
            </a:extLst>
          </p:cNvPr>
          <p:cNvSpPr txBox="1"/>
          <p:nvPr/>
        </p:nvSpPr>
        <p:spPr>
          <a:xfrm>
            <a:off x="1684992" y="2542069"/>
            <a:ext cx="10202208" cy="434911"/>
          </a:xfrm>
          <a:prstGeom prst="rect">
            <a:avLst/>
          </a:prstGeom>
          <a:noFill/>
        </p:spPr>
        <p:txBody>
          <a:bodyPr wrap="square" lIns="91440" tIns="45720" rIns="91440" bIns="45720" anchor="ctr">
            <a:noAutofit/>
          </a:bodyPr>
          <a:lstStyle/>
          <a:p>
            <a:r>
              <a:rPr lang="en-US" altLang="zh-CN" b="1" dirty="0"/>
              <a:t>20</a:t>
            </a:r>
            <a:r>
              <a:rPr lang="zh-CN" altLang="en-US" b="1" dirty="0"/>
              <a:t>世纪</a:t>
            </a:r>
            <a:r>
              <a:rPr lang="en-US" altLang="zh-CN" b="1" dirty="0"/>
              <a:t>90</a:t>
            </a:r>
            <a:r>
              <a:rPr lang="zh-CN" altLang="en-US" b="1" dirty="0"/>
              <a:t>年代将因特网带入千家万户的万维网</a:t>
            </a:r>
            <a:r>
              <a:rPr lang="en-US" altLang="zh-CN" b="1" dirty="0"/>
              <a:t>WWW</a:t>
            </a:r>
          </a:p>
        </p:txBody>
      </p:sp>
      <p:sp>
        <p:nvSpPr>
          <p:cNvPr id="17" name="矩形 16">
            <a:extLst>
              <a:ext uri="{FF2B5EF4-FFF2-40B4-BE49-F238E27FC236}">
                <a16:creationId xmlns:a16="http://schemas.microsoft.com/office/drawing/2014/main" id="{CF1B1C3F-AE3E-8820-9975-97A437C15E02}"/>
              </a:ext>
            </a:extLst>
          </p:cNvPr>
          <p:cNvSpPr/>
          <p:nvPr/>
        </p:nvSpPr>
        <p:spPr>
          <a:xfrm>
            <a:off x="1407234" y="318033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íşlïḍè">
            <a:extLst>
              <a:ext uri="{FF2B5EF4-FFF2-40B4-BE49-F238E27FC236}">
                <a16:creationId xmlns:a16="http://schemas.microsoft.com/office/drawing/2014/main" id="{DE3FE68E-9339-29BA-9457-E64FC096B91F}"/>
              </a:ext>
            </a:extLst>
          </p:cNvPr>
          <p:cNvSpPr txBox="1"/>
          <p:nvPr/>
        </p:nvSpPr>
        <p:spPr>
          <a:xfrm>
            <a:off x="1684992" y="3099275"/>
            <a:ext cx="10202208" cy="434911"/>
          </a:xfrm>
          <a:prstGeom prst="rect">
            <a:avLst/>
          </a:prstGeom>
          <a:noFill/>
        </p:spPr>
        <p:txBody>
          <a:bodyPr wrap="square" lIns="91440" tIns="45720" rIns="91440" bIns="45720" anchor="ctr">
            <a:noAutofit/>
          </a:bodyPr>
          <a:lstStyle/>
          <a:p>
            <a:r>
              <a:rPr lang="zh-CN" altLang="en-US" b="1" dirty="0"/>
              <a:t>当今流行的即时通信、</a:t>
            </a:r>
            <a:r>
              <a:rPr lang="en-US" altLang="zh-CN" b="1" dirty="0"/>
              <a:t>P2P</a:t>
            </a:r>
            <a:r>
              <a:rPr lang="zh-CN" altLang="en-US" b="1" dirty="0"/>
              <a:t>文件共享及各种音视频应用</a:t>
            </a:r>
            <a:endParaRPr lang="en-US" altLang="zh-CN" b="1" dirty="0"/>
          </a:p>
        </p:txBody>
      </p:sp>
      <p:sp>
        <p:nvSpPr>
          <p:cNvPr id="19" name="矩形 18">
            <a:extLst>
              <a:ext uri="{FF2B5EF4-FFF2-40B4-BE49-F238E27FC236}">
                <a16:creationId xmlns:a16="http://schemas.microsoft.com/office/drawing/2014/main" id="{FDA5B715-1CC7-F388-D305-AE45D2D05A96}"/>
              </a:ext>
            </a:extLst>
          </p:cNvPr>
          <p:cNvSpPr/>
          <p:nvPr/>
        </p:nvSpPr>
        <p:spPr>
          <a:xfrm>
            <a:off x="1407234" y="3737543"/>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íşlïḍè">
            <a:extLst>
              <a:ext uri="{FF2B5EF4-FFF2-40B4-BE49-F238E27FC236}">
                <a16:creationId xmlns:a16="http://schemas.microsoft.com/office/drawing/2014/main" id="{8DEE8F36-96A8-9E4A-354B-A03A10653A7F}"/>
              </a:ext>
            </a:extLst>
          </p:cNvPr>
          <p:cNvSpPr txBox="1"/>
          <p:nvPr/>
        </p:nvSpPr>
        <p:spPr>
          <a:xfrm>
            <a:off x="1684992" y="3656481"/>
            <a:ext cx="10202208" cy="722032"/>
          </a:xfrm>
          <a:prstGeom prst="rect">
            <a:avLst/>
          </a:prstGeom>
          <a:noFill/>
        </p:spPr>
        <p:txBody>
          <a:bodyPr wrap="square" lIns="91440" tIns="45720" rIns="91440" bIns="45720" anchor="ctr">
            <a:noAutofit/>
          </a:bodyPr>
          <a:lstStyle/>
          <a:p>
            <a:r>
              <a:rPr lang="zh-CN" altLang="en-US" b="1" dirty="0"/>
              <a:t>计算设备的小型化和“无处不在”，宽带住宅接入和无线接入的日益普及和迅速发展，为未来更多的新型应用提供了广阔的舞台</a:t>
            </a:r>
            <a:endParaRPr lang="en-US" altLang="zh-CN" b="1" dirty="0"/>
          </a:p>
        </p:txBody>
      </p:sp>
      <p:sp>
        <p:nvSpPr>
          <p:cNvPr id="21" name="矩形 20">
            <a:extLst>
              <a:ext uri="{FF2B5EF4-FFF2-40B4-BE49-F238E27FC236}">
                <a16:creationId xmlns:a16="http://schemas.microsoft.com/office/drawing/2014/main" id="{096AF6DC-76DD-DFFB-34BE-8732DD9C4A9D}"/>
              </a:ext>
            </a:extLst>
          </p:cNvPr>
          <p:cNvSpPr/>
          <p:nvPr/>
        </p:nvSpPr>
        <p:spPr>
          <a:xfrm>
            <a:off x="1016000" y="458187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íşlïḍè">
            <a:extLst>
              <a:ext uri="{FF2B5EF4-FFF2-40B4-BE49-F238E27FC236}">
                <a16:creationId xmlns:a16="http://schemas.microsoft.com/office/drawing/2014/main" id="{58DA7093-813B-FD87-DBC4-6275A0BA216C}"/>
              </a:ext>
            </a:extLst>
          </p:cNvPr>
          <p:cNvSpPr txBox="1"/>
          <p:nvPr/>
        </p:nvSpPr>
        <p:spPr>
          <a:xfrm>
            <a:off x="1293757" y="4500808"/>
            <a:ext cx="10593443" cy="434911"/>
          </a:xfrm>
          <a:prstGeom prst="rect">
            <a:avLst/>
          </a:prstGeom>
          <a:noFill/>
        </p:spPr>
        <p:txBody>
          <a:bodyPr wrap="square" lIns="91440" tIns="45720" rIns="91440" bIns="45720" anchor="ctr">
            <a:noAutofit/>
          </a:bodyPr>
          <a:lstStyle/>
          <a:p>
            <a:r>
              <a:rPr lang="zh-CN" altLang="en-US" b="1" dirty="0"/>
              <a:t>在本章中，我们以一些经典的网络应用为例来学习有关网络应用的原理、协议和实现方面的知识。</a:t>
            </a:r>
            <a:endParaRPr lang="en-US" altLang="zh-CN" b="1" dirty="0"/>
          </a:p>
        </p:txBody>
      </p:sp>
    </p:spTree>
    <p:custDataLst>
      <p:tags r:id="rId1"/>
    </p:custDataLst>
    <p:extLst>
      <p:ext uri="{BB962C8B-B14F-4D97-AF65-F5344CB8AC3E}">
        <p14:creationId xmlns:p14="http://schemas.microsoft.com/office/powerpoint/2010/main" val="206740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 calcmode="lin" valueType="num">
                                      <p:cBhvr>
                                        <p:cTn id="20" dur="500" fill="hold"/>
                                        <p:tgtEl>
                                          <p:spTgt spid="13"/>
                                        </p:tgtEl>
                                        <p:attrNameLst>
                                          <p:attrName>style.rotation</p:attrName>
                                        </p:attrNameLst>
                                      </p:cBhvr>
                                      <p:tavLst>
                                        <p:tav tm="0">
                                          <p:val>
                                            <p:fltVal val="360"/>
                                          </p:val>
                                        </p:tav>
                                        <p:tav tm="100000">
                                          <p:val>
                                            <p:fltVal val="0"/>
                                          </p:val>
                                        </p:tav>
                                      </p:tavLst>
                                    </p:anim>
                                    <p:animEffect transition="in" filter="fade">
                                      <p:cBhvr>
                                        <p:cTn id="21" dur="500"/>
                                        <p:tgtEl>
                                          <p:spTgt spid="13"/>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ppt_w</p:attrName>
                                        </p:attrNameLst>
                                      </p:cBhvr>
                                      <p:tavLst>
                                        <p:tav tm="0">
                                          <p:val>
                                            <p:fltVal val="0"/>
                                          </p:val>
                                        </p:tav>
                                        <p:tav tm="100000">
                                          <p:val>
                                            <p:strVal val="#ppt_w"/>
                                          </p:val>
                                        </p:tav>
                                      </p:tavLst>
                                    </p:anim>
                                    <p:anim calcmode="lin" valueType="num">
                                      <p:cBhvr>
                                        <p:cTn id="30" dur="500" fill="hold"/>
                                        <p:tgtEl>
                                          <p:spTgt spid="15"/>
                                        </p:tgtEl>
                                        <p:attrNameLst>
                                          <p:attrName>ppt_h</p:attrName>
                                        </p:attrNameLst>
                                      </p:cBhvr>
                                      <p:tavLst>
                                        <p:tav tm="0">
                                          <p:val>
                                            <p:fltVal val="0"/>
                                          </p:val>
                                        </p:tav>
                                        <p:tav tm="100000">
                                          <p:val>
                                            <p:strVal val="#ppt_h"/>
                                          </p:val>
                                        </p:tav>
                                      </p:tavLst>
                                    </p:anim>
                                    <p:anim calcmode="lin" valueType="num">
                                      <p:cBhvr>
                                        <p:cTn id="31" dur="500" fill="hold"/>
                                        <p:tgtEl>
                                          <p:spTgt spid="15"/>
                                        </p:tgtEl>
                                        <p:attrNameLst>
                                          <p:attrName>style.rotation</p:attrName>
                                        </p:attrNameLst>
                                      </p:cBhvr>
                                      <p:tavLst>
                                        <p:tav tm="0">
                                          <p:val>
                                            <p:fltVal val="360"/>
                                          </p:val>
                                        </p:tav>
                                        <p:tav tm="100000">
                                          <p:val>
                                            <p:fltVal val="0"/>
                                          </p:val>
                                        </p:tav>
                                      </p:tavLst>
                                    </p:anim>
                                    <p:animEffect transition="in" filter="fade">
                                      <p:cBhvr>
                                        <p:cTn id="32" dur="500"/>
                                        <p:tgtEl>
                                          <p:spTgt spid="15"/>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ppt_w</p:attrName>
                                        </p:attrNameLst>
                                      </p:cBhvr>
                                      <p:tavLst>
                                        <p:tav tm="0">
                                          <p:val>
                                            <p:fltVal val="0"/>
                                          </p:val>
                                        </p:tav>
                                        <p:tav tm="100000">
                                          <p:val>
                                            <p:strVal val="#ppt_w"/>
                                          </p:val>
                                        </p:tav>
                                      </p:tavLst>
                                    </p:anim>
                                    <p:anim calcmode="lin" valueType="num">
                                      <p:cBhvr>
                                        <p:cTn id="41" dur="500" fill="hold"/>
                                        <p:tgtEl>
                                          <p:spTgt spid="17"/>
                                        </p:tgtEl>
                                        <p:attrNameLst>
                                          <p:attrName>ppt_h</p:attrName>
                                        </p:attrNameLst>
                                      </p:cBhvr>
                                      <p:tavLst>
                                        <p:tav tm="0">
                                          <p:val>
                                            <p:fltVal val="0"/>
                                          </p:val>
                                        </p:tav>
                                        <p:tav tm="100000">
                                          <p:val>
                                            <p:strVal val="#ppt_h"/>
                                          </p:val>
                                        </p:tav>
                                      </p:tavLst>
                                    </p:anim>
                                    <p:anim calcmode="lin" valueType="num">
                                      <p:cBhvr>
                                        <p:cTn id="42" dur="500" fill="hold"/>
                                        <p:tgtEl>
                                          <p:spTgt spid="17"/>
                                        </p:tgtEl>
                                        <p:attrNameLst>
                                          <p:attrName>style.rotation</p:attrName>
                                        </p:attrNameLst>
                                      </p:cBhvr>
                                      <p:tavLst>
                                        <p:tav tm="0">
                                          <p:val>
                                            <p:fltVal val="360"/>
                                          </p:val>
                                        </p:tav>
                                        <p:tav tm="100000">
                                          <p:val>
                                            <p:fltVal val="0"/>
                                          </p:val>
                                        </p:tav>
                                      </p:tavLst>
                                    </p:anim>
                                    <p:animEffect transition="in" filter="fade">
                                      <p:cBhvr>
                                        <p:cTn id="43" dur="500"/>
                                        <p:tgtEl>
                                          <p:spTgt spid="17"/>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 calcmode="lin" valueType="num">
                                      <p:cBhvr>
                                        <p:cTn id="51" dur="500" fill="hold"/>
                                        <p:tgtEl>
                                          <p:spTgt spid="19"/>
                                        </p:tgtEl>
                                        <p:attrNameLst>
                                          <p:attrName>ppt_w</p:attrName>
                                        </p:attrNameLst>
                                      </p:cBhvr>
                                      <p:tavLst>
                                        <p:tav tm="0">
                                          <p:val>
                                            <p:fltVal val="0"/>
                                          </p:val>
                                        </p:tav>
                                        <p:tav tm="100000">
                                          <p:val>
                                            <p:strVal val="#ppt_w"/>
                                          </p:val>
                                        </p:tav>
                                      </p:tavLst>
                                    </p:anim>
                                    <p:anim calcmode="lin" valueType="num">
                                      <p:cBhvr>
                                        <p:cTn id="52" dur="500" fill="hold"/>
                                        <p:tgtEl>
                                          <p:spTgt spid="19"/>
                                        </p:tgtEl>
                                        <p:attrNameLst>
                                          <p:attrName>ppt_h</p:attrName>
                                        </p:attrNameLst>
                                      </p:cBhvr>
                                      <p:tavLst>
                                        <p:tav tm="0">
                                          <p:val>
                                            <p:fltVal val="0"/>
                                          </p:val>
                                        </p:tav>
                                        <p:tav tm="100000">
                                          <p:val>
                                            <p:strVal val="#ppt_h"/>
                                          </p:val>
                                        </p:tav>
                                      </p:tavLst>
                                    </p:anim>
                                    <p:anim calcmode="lin" valueType="num">
                                      <p:cBhvr>
                                        <p:cTn id="53" dur="500" fill="hold"/>
                                        <p:tgtEl>
                                          <p:spTgt spid="19"/>
                                        </p:tgtEl>
                                        <p:attrNameLst>
                                          <p:attrName>style.rotation</p:attrName>
                                        </p:attrNameLst>
                                      </p:cBhvr>
                                      <p:tavLst>
                                        <p:tav tm="0">
                                          <p:val>
                                            <p:fltVal val="360"/>
                                          </p:val>
                                        </p:tav>
                                        <p:tav tm="100000">
                                          <p:val>
                                            <p:fltVal val="0"/>
                                          </p:val>
                                        </p:tav>
                                      </p:tavLst>
                                    </p:anim>
                                    <p:animEffect transition="in" filter="fade">
                                      <p:cBhvr>
                                        <p:cTn id="54" dur="500"/>
                                        <p:tgtEl>
                                          <p:spTgt spid="19"/>
                                        </p:tgtEl>
                                      </p:cBhvr>
                                    </p:animEffect>
                                  </p:childTnLst>
                                </p:cTn>
                              </p:par>
                            </p:childTnLst>
                          </p:cTn>
                        </p:par>
                        <p:par>
                          <p:cTn id="55" fill="hold">
                            <p:stCondLst>
                              <p:cond delay="500"/>
                            </p:stCondLst>
                            <p:childTnLst>
                              <p:par>
                                <p:cTn id="56" presetID="1" presetClass="entr" presetSubtype="0" fill="hold" grpId="0" nodeType="afterEffect">
                                  <p:stCondLst>
                                    <p:cond delay="0"/>
                                  </p:stCondLst>
                                  <p:iterate type="lt">
                                    <p:tmAbs val="100"/>
                                  </p:iterate>
                                  <p:childTnLst>
                                    <p:set>
                                      <p:cBhvr>
                                        <p:cTn id="57" dur="1" fill="hold">
                                          <p:stCondLst>
                                            <p:cond delay="0"/>
                                          </p:stCondLst>
                                        </p:cTn>
                                        <p:tgtEl>
                                          <p:spTgt spid="20"/>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49" presetClass="entr" presetSubtype="0" decel="100000"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 calcmode="lin" valueType="num">
                                      <p:cBhvr>
                                        <p:cTn id="62" dur="500" fill="hold"/>
                                        <p:tgtEl>
                                          <p:spTgt spid="21"/>
                                        </p:tgtEl>
                                        <p:attrNameLst>
                                          <p:attrName>ppt_w</p:attrName>
                                        </p:attrNameLst>
                                      </p:cBhvr>
                                      <p:tavLst>
                                        <p:tav tm="0">
                                          <p:val>
                                            <p:fltVal val="0"/>
                                          </p:val>
                                        </p:tav>
                                        <p:tav tm="100000">
                                          <p:val>
                                            <p:strVal val="#ppt_w"/>
                                          </p:val>
                                        </p:tav>
                                      </p:tavLst>
                                    </p:anim>
                                    <p:anim calcmode="lin" valueType="num">
                                      <p:cBhvr>
                                        <p:cTn id="63" dur="500" fill="hold"/>
                                        <p:tgtEl>
                                          <p:spTgt spid="21"/>
                                        </p:tgtEl>
                                        <p:attrNameLst>
                                          <p:attrName>ppt_h</p:attrName>
                                        </p:attrNameLst>
                                      </p:cBhvr>
                                      <p:tavLst>
                                        <p:tav tm="0">
                                          <p:val>
                                            <p:fltVal val="0"/>
                                          </p:val>
                                        </p:tav>
                                        <p:tav tm="100000">
                                          <p:val>
                                            <p:strVal val="#ppt_h"/>
                                          </p:val>
                                        </p:tav>
                                      </p:tavLst>
                                    </p:anim>
                                    <p:anim calcmode="lin" valueType="num">
                                      <p:cBhvr>
                                        <p:cTn id="64" dur="500" fill="hold"/>
                                        <p:tgtEl>
                                          <p:spTgt spid="21"/>
                                        </p:tgtEl>
                                        <p:attrNameLst>
                                          <p:attrName>style.rotation</p:attrName>
                                        </p:attrNameLst>
                                      </p:cBhvr>
                                      <p:tavLst>
                                        <p:tav tm="0">
                                          <p:val>
                                            <p:fltVal val="360"/>
                                          </p:val>
                                        </p:tav>
                                        <p:tav tm="100000">
                                          <p:val>
                                            <p:fltVal val="0"/>
                                          </p:val>
                                        </p:tav>
                                      </p:tavLst>
                                    </p:anim>
                                    <p:animEffect transition="in" filter="fade">
                                      <p:cBhvr>
                                        <p:cTn id="65" dur="500"/>
                                        <p:tgtEl>
                                          <p:spTgt spid="21"/>
                                        </p:tgtEl>
                                      </p:cBhvr>
                                    </p:animEffect>
                                  </p:childTnLst>
                                </p:cTn>
                              </p:par>
                            </p:childTnLst>
                          </p:cTn>
                        </p:par>
                        <p:par>
                          <p:cTn id="66" fill="hold">
                            <p:stCondLst>
                              <p:cond delay="500"/>
                            </p:stCondLst>
                            <p:childTnLst>
                              <p:par>
                                <p:cTn id="67" presetID="1" presetClass="entr" presetSubtype="0" fill="hold" grpId="0" nodeType="afterEffect">
                                  <p:stCondLst>
                                    <p:cond delay="0"/>
                                  </p:stCondLst>
                                  <p:iterate type="lt">
                                    <p:tmAbs val="100"/>
                                  </p:iterate>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43873B47-02BE-201E-ED42-631DBF609EBA}"/>
              </a:ext>
            </a:extLst>
          </p:cNvPr>
          <p:cNvSpPr txBox="1"/>
          <p:nvPr/>
        </p:nvSpPr>
        <p:spPr>
          <a:xfrm>
            <a:off x="4705189" y="1383127"/>
            <a:ext cx="2781621"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万维网</a:t>
            </a:r>
            <a:r>
              <a:rPr lang="en-US" altLang="zh-CN" sz="3200" b="1" dirty="0">
                <a:solidFill>
                  <a:schemeClr val="accent1"/>
                </a:solidFill>
                <a:effectLst>
                  <a:outerShdw blurRad="38100" dist="38100" dir="2700000" algn="tl">
                    <a:srgbClr val="000000">
                      <a:alpha val="43137"/>
                    </a:srgbClr>
                  </a:outerShdw>
                </a:effectLst>
                <a:latin typeface="+mj-ea"/>
                <a:ea typeface="+mj-ea"/>
              </a:rPr>
              <a:t>WWW</a:t>
            </a:r>
            <a:endParaRPr lang="zh-CN" altLang="en-US" sz="3200" b="1" dirty="0">
              <a:solidFill>
                <a:schemeClr val="accent1"/>
              </a:solidFill>
              <a:effectLst>
                <a:outerShdw blurRad="38100" dist="38100" dir="2700000" algn="tl">
                  <a:srgbClr val="000000">
                    <a:alpha val="43137"/>
                  </a:srgbClr>
                </a:outerShdw>
              </a:effectLst>
              <a:latin typeface="+mj-ea"/>
              <a:ea typeface="+mj-ea"/>
            </a:endParaRPr>
          </a:p>
        </p:txBody>
      </p:sp>
      <p:sp>
        <p:nvSpPr>
          <p:cNvPr id="18" name="文本框 17">
            <a:extLst>
              <a:ext uri="{FF2B5EF4-FFF2-40B4-BE49-F238E27FC236}">
                <a16:creationId xmlns:a16="http://schemas.microsoft.com/office/drawing/2014/main" id="{57CD4D22-0935-06B5-7558-F001646AB758}"/>
              </a:ext>
            </a:extLst>
          </p:cNvPr>
          <p:cNvSpPr txBox="1"/>
          <p:nvPr/>
        </p:nvSpPr>
        <p:spPr>
          <a:xfrm>
            <a:off x="8061831" y="2718868"/>
            <a:ext cx="2781621"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域名系统</a:t>
            </a:r>
            <a:r>
              <a:rPr lang="en-US" altLang="zh-CN" sz="3200" b="1" dirty="0">
                <a:solidFill>
                  <a:schemeClr val="accent1"/>
                </a:solidFill>
                <a:effectLst>
                  <a:outerShdw blurRad="38100" dist="38100" dir="2700000" algn="tl">
                    <a:srgbClr val="000000">
                      <a:alpha val="43137"/>
                    </a:srgbClr>
                  </a:outerShdw>
                </a:effectLst>
                <a:latin typeface="+mj-ea"/>
                <a:ea typeface="+mj-ea"/>
              </a:rPr>
              <a:t>DNS</a:t>
            </a:r>
            <a:endParaRPr lang="zh-CN" altLang="en-US" sz="3200" b="1" dirty="0">
              <a:solidFill>
                <a:schemeClr val="accent1"/>
              </a:solidFill>
              <a:effectLst>
                <a:outerShdw blurRad="38100" dist="38100" dir="2700000" algn="tl">
                  <a:srgbClr val="000000">
                    <a:alpha val="43137"/>
                  </a:srgbClr>
                </a:outerShdw>
              </a:effectLst>
              <a:latin typeface="+mj-ea"/>
              <a:ea typeface="+mj-ea"/>
            </a:endParaRPr>
          </a:p>
        </p:txBody>
      </p:sp>
      <p:sp>
        <p:nvSpPr>
          <p:cNvPr id="19" name="文本框 18">
            <a:extLst>
              <a:ext uri="{FF2B5EF4-FFF2-40B4-BE49-F238E27FC236}">
                <a16:creationId xmlns:a16="http://schemas.microsoft.com/office/drawing/2014/main" id="{BE6B8F6E-FA74-F3A6-6CD7-90F850C45C44}"/>
              </a:ext>
            </a:extLst>
          </p:cNvPr>
          <p:cNvSpPr txBox="1"/>
          <p:nvPr/>
        </p:nvSpPr>
        <p:spPr>
          <a:xfrm>
            <a:off x="8061830" y="4231342"/>
            <a:ext cx="3825370"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动态主机配置</a:t>
            </a:r>
            <a:r>
              <a:rPr lang="en-US" altLang="zh-CN" sz="3200" b="1" dirty="0">
                <a:solidFill>
                  <a:schemeClr val="accent1"/>
                </a:solidFill>
                <a:effectLst>
                  <a:outerShdw blurRad="38100" dist="38100" dir="2700000" algn="tl">
                    <a:srgbClr val="000000">
                      <a:alpha val="43137"/>
                    </a:srgbClr>
                  </a:outerShdw>
                </a:effectLst>
                <a:latin typeface="+mj-ea"/>
                <a:ea typeface="+mj-ea"/>
              </a:rPr>
              <a:t>DHCP</a:t>
            </a:r>
            <a:endParaRPr lang="zh-CN" altLang="en-US" sz="3200" b="1" dirty="0">
              <a:solidFill>
                <a:schemeClr val="accent1"/>
              </a:solidFill>
              <a:effectLst>
                <a:outerShdw blurRad="38100" dist="38100" dir="2700000" algn="tl">
                  <a:srgbClr val="000000">
                    <a:alpha val="43137"/>
                  </a:srgbClr>
                </a:outerShdw>
              </a:effectLst>
              <a:latin typeface="+mj-ea"/>
              <a:ea typeface="+mj-ea"/>
            </a:endParaRPr>
          </a:p>
        </p:txBody>
      </p:sp>
      <p:sp>
        <p:nvSpPr>
          <p:cNvPr id="21" name="文本框 20">
            <a:extLst>
              <a:ext uri="{FF2B5EF4-FFF2-40B4-BE49-F238E27FC236}">
                <a16:creationId xmlns:a16="http://schemas.microsoft.com/office/drawing/2014/main" id="{69A39678-FF7E-79DC-8F7E-5407D7992145}"/>
              </a:ext>
            </a:extLst>
          </p:cNvPr>
          <p:cNvSpPr txBox="1"/>
          <p:nvPr/>
        </p:nvSpPr>
        <p:spPr>
          <a:xfrm>
            <a:off x="5177077" y="5646332"/>
            <a:ext cx="1837844"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电子邮件</a:t>
            </a:r>
          </a:p>
        </p:txBody>
      </p:sp>
      <p:sp>
        <p:nvSpPr>
          <p:cNvPr id="22" name="文本框 21">
            <a:extLst>
              <a:ext uri="{FF2B5EF4-FFF2-40B4-BE49-F238E27FC236}">
                <a16:creationId xmlns:a16="http://schemas.microsoft.com/office/drawing/2014/main" id="{350EA760-BFE0-D1C1-B161-020AB3830C5F}"/>
              </a:ext>
            </a:extLst>
          </p:cNvPr>
          <p:cNvSpPr txBox="1"/>
          <p:nvPr/>
        </p:nvSpPr>
        <p:spPr>
          <a:xfrm>
            <a:off x="1246654" y="3985120"/>
            <a:ext cx="3104352" cy="1077218"/>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文件传送</a:t>
            </a:r>
            <a:r>
              <a:rPr lang="en-US" altLang="zh-CN" sz="3200" b="1" dirty="0">
                <a:solidFill>
                  <a:schemeClr val="accent1"/>
                </a:solidFill>
                <a:effectLst>
                  <a:outerShdw blurRad="38100" dist="38100" dir="2700000" algn="tl">
                    <a:srgbClr val="000000">
                      <a:alpha val="43137"/>
                    </a:srgbClr>
                  </a:outerShdw>
                </a:effectLst>
                <a:latin typeface="+mj-ea"/>
                <a:ea typeface="+mj-ea"/>
              </a:rPr>
              <a:t>FTP</a:t>
            </a:r>
            <a:r>
              <a:rPr lang="zh-CN" altLang="en-US" sz="3200" b="1" dirty="0">
                <a:solidFill>
                  <a:schemeClr val="accent1"/>
                </a:solidFill>
                <a:effectLst>
                  <a:outerShdw blurRad="38100" dist="38100" dir="2700000" algn="tl">
                    <a:srgbClr val="000000">
                      <a:alpha val="43137"/>
                    </a:srgbClr>
                  </a:outerShdw>
                </a:effectLst>
                <a:latin typeface="+mj-ea"/>
                <a:ea typeface="+mj-ea"/>
              </a:rPr>
              <a:t>和</a:t>
            </a:r>
            <a:endParaRPr lang="en-US" altLang="zh-CN" sz="3200" b="1" dirty="0">
              <a:solidFill>
                <a:schemeClr val="accent1"/>
              </a:solidFill>
              <a:effectLst>
                <a:outerShdw blurRad="38100" dist="38100" dir="2700000" algn="tl">
                  <a:srgbClr val="000000">
                    <a:alpha val="43137"/>
                  </a:srgbClr>
                </a:outerShdw>
              </a:effectLst>
              <a:latin typeface="+mj-ea"/>
              <a:ea typeface="+mj-ea"/>
            </a:endParaRPr>
          </a:p>
          <a:p>
            <a:r>
              <a:rPr lang="en-US" altLang="zh-CN" sz="3200" b="1" dirty="0">
                <a:solidFill>
                  <a:schemeClr val="accent1"/>
                </a:solidFill>
                <a:effectLst>
                  <a:outerShdw blurRad="38100" dist="38100" dir="2700000" algn="tl">
                    <a:srgbClr val="000000">
                      <a:alpha val="43137"/>
                    </a:srgbClr>
                  </a:outerShdw>
                </a:effectLst>
                <a:latin typeface="+mj-ea"/>
                <a:ea typeface="+mj-ea"/>
              </a:rPr>
              <a:t>P2P</a:t>
            </a:r>
            <a:r>
              <a:rPr lang="zh-CN" altLang="en-US" sz="3200" b="1" dirty="0">
                <a:solidFill>
                  <a:schemeClr val="accent1"/>
                </a:solidFill>
                <a:effectLst>
                  <a:outerShdw blurRad="38100" dist="38100" dir="2700000" algn="tl">
                    <a:srgbClr val="000000">
                      <a:alpha val="43137"/>
                    </a:srgbClr>
                  </a:outerShdw>
                </a:effectLst>
                <a:latin typeface="+mj-ea"/>
                <a:ea typeface="+mj-ea"/>
              </a:rPr>
              <a:t>文件共享</a:t>
            </a:r>
          </a:p>
        </p:txBody>
      </p:sp>
      <p:sp>
        <p:nvSpPr>
          <p:cNvPr id="23" name="文本框 22">
            <a:extLst>
              <a:ext uri="{FF2B5EF4-FFF2-40B4-BE49-F238E27FC236}">
                <a16:creationId xmlns:a16="http://schemas.microsoft.com/office/drawing/2014/main" id="{4E9DE4B2-90D6-5907-C3B6-077D41ABEC18}"/>
              </a:ext>
            </a:extLst>
          </p:cNvPr>
          <p:cNvSpPr txBox="1"/>
          <p:nvPr/>
        </p:nvSpPr>
        <p:spPr>
          <a:xfrm>
            <a:off x="1258179" y="2718868"/>
            <a:ext cx="3219613" cy="584775"/>
          </a:xfrm>
          <a:prstGeom prst="rect">
            <a:avLst/>
          </a:prstGeom>
          <a:noFill/>
        </p:spPr>
        <p:txBody>
          <a:bodyPr wrap="square" rtlCol="0">
            <a:spAutoFit/>
          </a:bodyPr>
          <a:lstStyle/>
          <a:p>
            <a:r>
              <a:rPr lang="zh-CN" altLang="en-US" sz="3200" b="1" dirty="0">
                <a:solidFill>
                  <a:schemeClr val="accent1"/>
                </a:solidFill>
                <a:effectLst>
                  <a:outerShdw blurRad="38100" dist="38100" dir="2700000" algn="tl">
                    <a:srgbClr val="000000">
                      <a:alpha val="43137"/>
                    </a:srgbClr>
                  </a:outerShdw>
                </a:effectLst>
                <a:latin typeface="+mj-ea"/>
                <a:ea typeface="+mj-ea"/>
              </a:rPr>
              <a:t>多媒体网络应用</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应用层概述</a:t>
              </a:r>
            </a:p>
          </p:txBody>
        </p:sp>
      </p:grpSp>
      <p:pic>
        <p:nvPicPr>
          <p:cNvPr id="10" name="图片 9">
            <a:extLst>
              <a:ext uri="{FF2B5EF4-FFF2-40B4-BE49-F238E27FC236}">
                <a16:creationId xmlns:a16="http://schemas.microsoft.com/office/drawing/2014/main" id="{E530E2B2-9FBD-2FFB-1F63-A69A7D8F5B71}"/>
              </a:ext>
            </a:extLst>
          </p:cNvPr>
          <p:cNvPicPr>
            <a:picLocks noChangeAspect="1"/>
          </p:cNvPicPr>
          <p:nvPr/>
        </p:nvPicPr>
        <p:blipFill>
          <a:blip r:embed="rId3"/>
          <a:stretch>
            <a:fillRect/>
          </a:stretch>
        </p:blipFill>
        <p:spPr>
          <a:xfrm>
            <a:off x="4447695" y="2030744"/>
            <a:ext cx="3420756" cy="3552746"/>
          </a:xfrm>
          <a:prstGeom prst="rect">
            <a:avLst/>
          </a:prstGeom>
        </p:spPr>
      </p:pic>
    </p:spTree>
    <p:custDataLst>
      <p:tags r:id="rId1"/>
    </p:custDataLst>
    <p:extLst>
      <p:ext uri="{BB962C8B-B14F-4D97-AF65-F5344CB8AC3E}">
        <p14:creationId xmlns:p14="http://schemas.microsoft.com/office/powerpoint/2010/main" val="152770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 calcmode="lin" valueType="num">
                                      <p:cBhvr>
                                        <p:cTn id="9" dur="500" fill="hold"/>
                                        <p:tgtEl>
                                          <p:spTgt spid="10"/>
                                        </p:tgtEl>
                                        <p:attrNameLst>
                                          <p:attrName>style.rotation</p:attrName>
                                        </p:attrNameLst>
                                      </p:cBhvr>
                                      <p:tavLst>
                                        <p:tav tm="0">
                                          <p:val>
                                            <p:fltVal val="360"/>
                                          </p:val>
                                        </p:tav>
                                        <p:tav tm="100000">
                                          <p:val>
                                            <p:fltVal val="0"/>
                                          </p:val>
                                        </p:tav>
                                      </p:tavLst>
                                    </p:anim>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p:tgtEl>
                                          <p:spTgt spid="16"/>
                                        </p:tgtEl>
                                        <p:attrNameLst>
                                          <p:attrName>ppt_y</p:attrName>
                                        </p:attrNameLst>
                                      </p:cBhvr>
                                      <p:tavLst>
                                        <p:tav tm="0">
                                          <p:val>
                                            <p:strVal val="#ppt_y+#ppt_h*1.125000"/>
                                          </p:val>
                                        </p:tav>
                                        <p:tav tm="100000">
                                          <p:val>
                                            <p:strVal val="#ppt_y"/>
                                          </p:val>
                                        </p:tav>
                                      </p:tavLst>
                                    </p:anim>
                                    <p:animEffect transition="in" filter="wipe(up)">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p:tgtEl>
                                          <p:spTgt spid="18"/>
                                        </p:tgtEl>
                                        <p:attrNameLst>
                                          <p:attrName>ppt_x</p:attrName>
                                        </p:attrNameLst>
                                      </p:cBhvr>
                                      <p:tavLst>
                                        <p:tav tm="0">
                                          <p:val>
                                            <p:strVal val="#ppt_x-#ppt_w*1.125000"/>
                                          </p:val>
                                        </p:tav>
                                        <p:tav tm="100000">
                                          <p:val>
                                            <p:strVal val="#ppt_x"/>
                                          </p:val>
                                        </p:tav>
                                      </p:tavLst>
                                    </p:anim>
                                    <p:animEffect transition="in" filter="wipe(righ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p:tgtEl>
                                          <p:spTgt spid="19"/>
                                        </p:tgtEl>
                                        <p:attrNameLst>
                                          <p:attrName>ppt_x</p:attrName>
                                        </p:attrNameLst>
                                      </p:cBhvr>
                                      <p:tavLst>
                                        <p:tav tm="0">
                                          <p:val>
                                            <p:strVal val="#ppt_x-#ppt_w*1.125000"/>
                                          </p:val>
                                        </p:tav>
                                        <p:tav tm="100000">
                                          <p:val>
                                            <p:strVal val="#ppt_x"/>
                                          </p:val>
                                        </p:tav>
                                      </p:tavLst>
                                    </p:anim>
                                    <p:animEffect transition="in" filter="wipe(right)">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1"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p:tgtEl>
                                          <p:spTgt spid="21"/>
                                        </p:tgtEl>
                                        <p:attrNameLst>
                                          <p:attrName>ppt_y</p:attrName>
                                        </p:attrNameLst>
                                      </p:cBhvr>
                                      <p:tavLst>
                                        <p:tav tm="0">
                                          <p:val>
                                            <p:strVal val="#ppt_y-#ppt_h*1.125000"/>
                                          </p:val>
                                        </p:tav>
                                        <p:tav tm="100000">
                                          <p:val>
                                            <p:strVal val="#ppt_y"/>
                                          </p:val>
                                        </p:tav>
                                      </p:tavLst>
                                    </p:anim>
                                    <p:animEffect transition="in" filter="wipe(down)">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p:tgtEl>
                                          <p:spTgt spid="22"/>
                                        </p:tgtEl>
                                        <p:attrNameLst>
                                          <p:attrName>ppt_x</p:attrName>
                                        </p:attrNameLst>
                                      </p:cBhvr>
                                      <p:tavLst>
                                        <p:tav tm="0">
                                          <p:val>
                                            <p:strVal val="#ppt_x+#ppt_w*1.125000"/>
                                          </p:val>
                                        </p:tav>
                                        <p:tav tm="100000">
                                          <p:val>
                                            <p:strVal val="#ppt_x"/>
                                          </p:val>
                                        </p:tav>
                                      </p:tavLst>
                                    </p:anim>
                                    <p:animEffect transition="in" filter="wipe(left)">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2"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p:tgtEl>
                                          <p:spTgt spid="23"/>
                                        </p:tgtEl>
                                        <p:attrNameLst>
                                          <p:attrName>ppt_x</p:attrName>
                                        </p:attrNameLst>
                                      </p:cBhvr>
                                      <p:tavLst>
                                        <p:tav tm="0">
                                          <p:val>
                                            <p:strVal val="#ppt_x+#ppt_w*1.125000"/>
                                          </p:val>
                                        </p:tav>
                                        <p:tav tm="100000">
                                          <p:val>
                                            <p:strVal val="#ppt_x"/>
                                          </p:val>
                                        </p:tav>
                                      </p:tavLst>
                                    </p:anim>
                                    <p:animEffect transition="in" filter="wipe(left)">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t>网络应用程序运行在处于网络边缘的不同的端系统上，通过彼此间的通信来共同完成某项任务。</a:t>
            </a:r>
            <a:endParaRPr lang="en-US" altLang="zh-CN" b="1" dirty="0"/>
          </a:p>
        </p:txBody>
      </p:sp>
      <p:sp>
        <p:nvSpPr>
          <p:cNvPr id="11" name="矩形 10">
            <a:extLst>
              <a:ext uri="{FF2B5EF4-FFF2-40B4-BE49-F238E27FC236}">
                <a16:creationId xmlns:a16="http://schemas.microsoft.com/office/drawing/2014/main" id="{5C9B2C39-A6E1-4E48-E295-B0B3DF16C91B}"/>
              </a:ext>
            </a:extLst>
          </p:cNvPr>
          <p:cNvSpPr/>
          <p:nvPr/>
        </p:nvSpPr>
        <p:spPr>
          <a:xfrm>
            <a:off x="1016000" y="177860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íşlïḍè">
            <a:extLst>
              <a:ext uri="{FF2B5EF4-FFF2-40B4-BE49-F238E27FC236}">
                <a16:creationId xmlns:a16="http://schemas.microsoft.com/office/drawing/2014/main" id="{FBE3D002-CBFA-E656-8A09-4A00A968E0DC}"/>
              </a:ext>
            </a:extLst>
          </p:cNvPr>
          <p:cNvSpPr txBox="1"/>
          <p:nvPr/>
        </p:nvSpPr>
        <p:spPr>
          <a:xfrm>
            <a:off x="1293757" y="1697541"/>
            <a:ext cx="10593443" cy="670437"/>
          </a:xfrm>
          <a:prstGeom prst="rect">
            <a:avLst/>
          </a:prstGeom>
          <a:noFill/>
        </p:spPr>
        <p:txBody>
          <a:bodyPr wrap="square" lIns="91440" tIns="45720" rIns="91440" bIns="45720" anchor="ctr">
            <a:noAutofit/>
          </a:bodyPr>
          <a:lstStyle/>
          <a:p>
            <a:r>
              <a:rPr lang="zh-CN" altLang="en-US" b="1" dirty="0"/>
              <a:t>开发一种新的网络应用，首先要考虑的问题就是</a:t>
            </a:r>
            <a:r>
              <a:rPr lang="zh-CN" altLang="en-US" b="1" dirty="0">
                <a:solidFill>
                  <a:schemeClr val="accent1">
                    <a:lumMod val="75000"/>
                  </a:schemeClr>
                </a:solidFill>
              </a:rPr>
              <a:t>网络应用程序在各种端系统上的组织方式和它们之间的关系</a:t>
            </a:r>
            <a:r>
              <a:rPr lang="zh-CN" altLang="en-US" b="1" dirty="0"/>
              <a:t>。目前流行的主要有以下两种：</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23126" y="248562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700883" y="2404564"/>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a:t>
            </a:r>
            <a:r>
              <a:rPr lang="zh-CN" altLang="en-US" b="1" dirty="0"/>
              <a:t>（</a:t>
            </a:r>
            <a:r>
              <a:rPr lang="en-US" altLang="zh-CN" b="1" dirty="0">
                <a:solidFill>
                  <a:schemeClr val="accent1">
                    <a:lumMod val="75000"/>
                  </a:schemeClr>
                </a:solidFill>
              </a:rPr>
              <a:t>C</a:t>
            </a:r>
            <a:r>
              <a:rPr lang="en-US" altLang="zh-CN" b="1" dirty="0"/>
              <a:t>lient/</a:t>
            </a:r>
            <a:r>
              <a:rPr lang="en-US" altLang="zh-CN" b="1" dirty="0">
                <a:solidFill>
                  <a:schemeClr val="accent1">
                    <a:lumMod val="75000"/>
                  </a:schemeClr>
                </a:solidFill>
              </a:rPr>
              <a:t>S</a:t>
            </a:r>
            <a:r>
              <a:rPr lang="en-US" altLang="zh-CN" b="1" dirty="0"/>
              <a:t>erver</a:t>
            </a:r>
            <a:r>
              <a:rPr lang="zh-CN" altLang="en-US" b="1" dirty="0"/>
              <a:t>，</a:t>
            </a:r>
            <a:r>
              <a:rPr lang="en-US" altLang="zh-CN" b="1" dirty="0">
                <a:solidFill>
                  <a:schemeClr val="accent1">
                    <a:lumMod val="75000"/>
                  </a:schemeClr>
                </a:solidFill>
              </a:rPr>
              <a:t>C/S</a:t>
            </a:r>
            <a:r>
              <a:rPr lang="zh-CN" altLang="en-US" b="1" dirty="0"/>
              <a:t>）方式</a:t>
            </a:r>
            <a:endParaRPr lang="en-US" altLang="zh-CN" b="1" dirty="0"/>
          </a:p>
        </p:txBody>
      </p:sp>
      <p:sp>
        <p:nvSpPr>
          <p:cNvPr id="15" name="矩形 14">
            <a:extLst>
              <a:ext uri="{FF2B5EF4-FFF2-40B4-BE49-F238E27FC236}">
                <a16:creationId xmlns:a16="http://schemas.microsoft.com/office/drawing/2014/main" id="{ED4E8152-0AF0-BEBF-03CF-C8A221E6F750}"/>
              </a:ext>
            </a:extLst>
          </p:cNvPr>
          <p:cNvSpPr/>
          <p:nvPr/>
        </p:nvSpPr>
        <p:spPr>
          <a:xfrm>
            <a:off x="1423126" y="293948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íşlïḍè">
            <a:extLst>
              <a:ext uri="{FF2B5EF4-FFF2-40B4-BE49-F238E27FC236}">
                <a16:creationId xmlns:a16="http://schemas.microsoft.com/office/drawing/2014/main" id="{BAB9BFB6-1C2F-224A-3AFE-3C8F7424FB08}"/>
              </a:ext>
            </a:extLst>
          </p:cNvPr>
          <p:cNvSpPr txBox="1"/>
          <p:nvPr/>
        </p:nvSpPr>
        <p:spPr>
          <a:xfrm>
            <a:off x="1700883" y="2858420"/>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对等</a:t>
            </a:r>
            <a:r>
              <a:rPr lang="zh-CN" altLang="en-US" b="1" dirty="0"/>
              <a:t>（</a:t>
            </a:r>
            <a:r>
              <a:rPr lang="en-US" altLang="zh-CN" b="1" dirty="0">
                <a:solidFill>
                  <a:schemeClr val="accent1">
                    <a:lumMod val="75000"/>
                  </a:schemeClr>
                </a:solidFill>
              </a:rPr>
              <a:t>P</a:t>
            </a:r>
            <a:r>
              <a:rPr lang="en-US" altLang="zh-CN" b="1" dirty="0"/>
              <a:t>eer-</a:t>
            </a:r>
            <a:r>
              <a:rPr lang="en-US" altLang="zh-CN" b="1" dirty="0">
                <a:solidFill>
                  <a:schemeClr val="accent1">
                    <a:lumMod val="75000"/>
                  </a:schemeClr>
                </a:solidFill>
              </a:rPr>
              <a:t>to</a:t>
            </a:r>
            <a:r>
              <a:rPr lang="en-US" altLang="zh-CN" b="1" dirty="0"/>
              <a:t>-</a:t>
            </a:r>
            <a:r>
              <a:rPr lang="en-US" altLang="zh-CN" b="1" dirty="0">
                <a:solidFill>
                  <a:schemeClr val="accent1">
                    <a:lumMod val="75000"/>
                  </a:schemeClr>
                </a:solidFill>
              </a:rPr>
              <a:t>P</a:t>
            </a:r>
            <a:r>
              <a:rPr lang="en-US" altLang="zh-CN" b="1" dirty="0"/>
              <a:t>eer</a:t>
            </a:r>
            <a:r>
              <a:rPr lang="zh-CN" altLang="en-US" b="1" dirty="0"/>
              <a:t>，</a:t>
            </a:r>
            <a:r>
              <a:rPr lang="en-US" altLang="zh-CN" b="1" dirty="0">
                <a:solidFill>
                  <a:schemeClr val="accent1">
                    <a:lumMod val="75000"/>
                  </a:schemeClr>
                </a:solidFill>
              </a:rPr>
              <a:t>P2P</a:t>
            </a:r>
            <a:r>
              <a:rPr lang="zh-CN" altLang="en-US" b="1" dirty="0"/>
              <a:t>）方式</a:t>
            </a:r>
            <a:endParaRPr lang="en-US" altLang="zh-CN" b="1" dirty="0"/>
          </a:p>
        </p:txBody>
      </p:sp>
    </p:spTree>
    <p:custDataLst>
      <p:tags r:id="rId1"/>
    </p:custDataLst>
    <p:extLst>
      <p:ext uri="{BB962C8B-B14F-4D97-AF65-F5344CB8AC3E}">
        <p14:creationId xmlns:p14="http://schemas.microsoft.com/office/powerpoint/2010/main" val="359857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500" fill="hold"/>
                                        <p:tgtEl>
                                          <p:spTgt spid="7"/>
                                        </p:tgtEl>
                                        <p:attrNameLst>
                                          <p:attrName>ppt_w</p:attrName>
                                        </p:attrNameLst>
                                      </p:cBhvr>
                                      <p:tavLst>
                                        <p:tav tm="0">
                                          <p:val>
                                            <p:fltVal val="0"/>
                                          </p:val>
                                        </p:tav>
                                        <p:tav tm="100000">
                                          <p:val>
                                            <p:strVal val="#ppt_w"/>
                                          </p:val>
                                        </p:tav>
                                      </p:tavLst>
                                    </p:anim>
                                    <p:anim calcmode="lin" valueType="num">
                                      <p:cBhvr>
                                        <p:cTn id="14" dur="500" fill="hold"/>
                                        <p:tgtEl>
                                          <p:spTgt spid="7"/>
                                        </p:tgtEl>
                                        <p:attrNameLst>
                                          <p:attrName>ppt_h</p:attrName>
                                        </p:attrNameLst>
                                      </p:cBhvr>
                                      <p:tavLst>
                                        <p:tav tm="0">
                                          <p:val>
                                            <p:fltVal val="0"/>
                                          </p:val>
                                        </p:tav>
                                        <p:tav tm="100000">
                                          <p:val>
                                            <p:strVal val="#ppt_h"/>
                                          </p:val>
                                        </p:tav>
                                      </p:tavLst>
                                    </p:anim>
                                    <p:anim calcmode="lin" valueType="num">
                                      <p:cBhvr>
                                        <p:cTn id="15" dur="500" fill="hold"/>
                                        <p:tgtEl>
                                          <p:spTgt spid="7"/>
                                        </p:tgtEl>
                                        <p:attrNameLst>
                                          <p:attrName>style.rotation</p:attrName>
                                        </p:attrNameLst>
                                      </p:cBhvr>
                                      <p:tavLst>
                                        <p:tav tm="0">
                                          <p:val>
                                            <p:fltVal val="360"/>
                                          </p:val>
                                        </p:tav>
                                        <p:tav tm="100000">
                                          <p:val>
                                            <p:fltVal val="0"/>
                                          </p:val>
                                        </p:tav>
                                      </p:tavLst>
                                    </p:anim>
                                    <p:animEffect transition="in" filter="fade">
                                      <p:cBhvr>
                                        <p:cTn id="16" dur="500"/>
                                        <p:tgtEl>
                                          <p:spTgt spid="7"/>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 calcmode="lin" valueType="num">
                                      <p:cBhvr>
                                        <p:cTn id="26" dur="500" fill="hold"/>
                                        <p:tgtEl>
                                          <p:spTgt spid="11"/>
                                        </p:tgtEl>
                                        <p:attrNameLst>
                                          <p:attrName>style.rotation</p:attrName>
                                        </p:attrNameLst>
                                      </p:cBhvr>
                                      <p:tavLst>
                                        <p:tav tm="0">
                                          <p:val>
                                            <p:fltVal val="360"/>
                                          </p:val>
                                        </p:tav>
                                        <p:tav tm="100000">
                                          <p:val>
                                            <p:fltVal val="0"/>
                                          </p:val>
                                        </p:tav>
                                      </p:tavLst>
                                    </p:anim>
                                    <p:animEffect transition="in" filter="fade">
                                      <p:cBhvr>
                                        <p:cTn id="27" dur="500"/>
                                        <p:tgtEl>
                                          <p:spTgt spid="11"/>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anim calcmode="lin" valueType="num">
                                      <p:cBhvr>
                                        <p:cTn id="37" dur="500" fill="hold"/>
                                        <p:tgtEl>
                                          <p:spTgt spid="13"/>
                                        </p:tgtEl>
                                        <p:attrNameLst>
                                          <p:attrName>style.rotation</p:attrName>
                                        </p:attrNameLst>
                                      </p:cBhvr>
                                      <p:tavLst>
                                        <p:tav tm="0">
                                          <p:val>
                                            <p:fltVal val="360"/>
                                          </p:val>
                                        </p:tav>
                                        <p:tav tm="100000">
                                          <p:val>
                                            <p:fltVal val="0"/>
                                          </p:val>
                                        </p:tav>
                                      </p:tavLst>
                                    </p:anim>
                                    <p:animEffect transition="in" filter="fade">
                                      <p:cBhvr>
                                        <p:cTn id="38" dur="500"/>
                                        <p:tgtEl>
                                          <p:spTgt spid="13"/>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p:cTn id="46" dur="500" fill="hold"/>
                                        <p:tgtEl>
                                          <p:spTgt spid="15"/>
                                        </p:tgtEl>
                                        <p:attrNameLst>
                                          <p:attrName>ppt_w</p:attrName>
                                        </p:attrNameLst>
                                      </p:cBhvr>
                                      <p:tavLst>
                                        <p:tav tm="0">
                                          <p:val>
                                            <p:fltVal val="0"/>
                                          </p:val>
                                        </p:tav>
                                        <p:tav tm="100000">
                                          <p:val>
                                            <p:strVal val="#ppt_w"/>
                                          </p:val>
                                        </p:tav>
                                      </p:tavLst>
                                    </p:anim>
                                    <p:anim calcmode="lin" valueType="num">
                                      <p:cBhvr>
                                        <p:cTn id="47" dur="500" fill="hold"/>
                                        <p:tgtEl>
                                          <p:spTgt spid="15"/>
                                        </p:tgtEl>
                                        <p:attrNameLst>
                                          <p:attrName>ppt_h</p:attrName>
                                        </p:attrNameLst>
                                      </p:cBhvr>
                                      <p:tavLst>
                                        <p:tav tm="0">
                                          <p:val>
                                            <p:fltVal val="0"/>
                                          </p:val>
                                        </p:tav>
                                        <p:tav tm="100000">
                                          <p:val>
                                            <p:strVal val="#ppt_h"/>
                                          </p:val>
                                        </p:tav>
                                      </p:tavLst>
                                    </p:anim>
                                    <p:anim calcmode="lin" valueType="num">
                                      <p:cBhvr>
                                        <p:cTn id="48" dur="500" fill="hold"/>
                                        <p:tgtEl>
                                          <p:spTgt spid="15"/>
                                        </p:tgtEl>
                                        <p:attrNameLst>
                                          <p:attrName>style.rotation</p:attrName>
                                        </p:attrNameLst>
                                      </p:cBhvr>
                                      <p:tavLst>
                                        <p:tav tm="0">
                                          <p:val>
                                            <p:fltVal val="360"/>
                                          </p:val>
                                        </p:tav>
                                        <p:tav tm="100000">
                                          <p:val>
                                            <p:fltVal val="0"/>
                                          </p:val>
                                        </p:tav>
                                      </p:tavLst>
                                    </p:anim>
                                    <p:animEffect transition="in" filter="fade">
                                      <p:cBhvr>
                                        <p:cTn id="49" dur="500"/>
                                        <p:tgtEl>
                                          <p:spTgt spid="15"/>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animBg="1"/>
      <p:bldP spid="12" grpId="0"/>
      <p:bldP spid="13" grpId="0" animBg="1"/>
      <p:bldP spid="14" grpId="0"/>
      <p:bldP spid="15"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FB7722FA-706D-E4CA-8118-0EF442015D69}"/>
              </a:ext>
            </a:extLst>
          </p:cNvPr>
          <p:cNvSpPr/>
          <p:nvPr/>
        </p:nvSpPr>
        <p:spPr>
          <a:xfrm>
            <a:off x="8471220" y="1485859"/>
            <a:ext cx="3395199" cy="17810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800" b="1" dirty="0">
                <a:solidFill>
                  <a:schemeClr val="bg1"/>
                </a:solidFill>
              </a:rPr>
              <a:t>         服务器具有固定端口号（例如</a:t>
            </a:r>
            <a:r>
              <a:rPr lang="en-US" altLang="zh-CN" sz="1800" b="1" dirty="0">
                <a:solidFill>
                  <a:schemeClr val="bg1"/>
                </a:solidFill>
              </a:rPr>
              <a:t>HTTP</a:t>
            </a:r>
            <a:r>
              <a:rPr lang="zh-CN" altLang="en-US" sz="1800" b="1" dirty="0">
                <a:solidFill>
                  <a:schemeClr val="bg1"/>
                </a:solidFill>
              </a:rPr>
              <a:t>服务器的默认端口号为</a:t>
            </a:r>
            <a:r>
              <a:rPr lang="en-US" altLang="zh-CN" sz="1800" b="1" dirty="0">
                <a:solidFill>
                  <a:schemeClr val="bg1"/>
                </a:solidFill>
              </a:rPr>
              <a:t>80</a:t>
            </a:r>
            <a:r>
              <a:rPr lang="zh-CN" altLang="en-US" sz="1800" b="1" dirty="0">
                <a:solidFill>
                  <a:schemeClr val="bg1"/>
                </a:solidFill>
              </a:rPr>
              <a:t>），而运行服务器的主机也具有固定的</a:t>
            </a:r>
            <a:r>
              <a:rPr lang="en-US" altLang="zh-CN" sz="1800" b="1" dirty="0">
                <a:solidFill>
                  <a:schemeClr val="bg1"/>
                </a:solidFill>
              </a:rPr>
              <a:t>IP</a:t>
            </a:r>
            <a:r>
              <a:rPr lang="zh-CN" altLang="en-US" sz="1800" b="1" dirty="0">
                <a:solidFill>
                  <a:schemeClr val="bg1"/>
                </a:solidFill>
              </a:rPr>
              <a:t>地址。</a:t>
            </a:r>
            <a:endParaRPr lang="zh-CN" altLang="en-US" dirty="0">
              <a:solidFill>
                <a:schemeClr val="bg1"/>
              </a:solidFill>
            </a:endParaRP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a:t>
            </a:r>
            <a:r>
              <a:rPr lang="zh-CN" altLang="en-US" b="1" dirty="0"/>
              <a:t>（</a:t>
            </a:r>
            <a:r>
              <a:rPr lang="en-US" altLang="zh-CN" b="1" dirty="0">
                <a:solidFill>
                  <a:schemeClr val="accent1">
                    <a:lumMod val="75000"/>
                  </a:schemeClr>
                </a:solidFill>
              </a:rPr>
              <a:t>C</a:t>
            </a:r>
            <a:r>
              <a:rPr lang="en-US" altLang="zh-CN" b="1" dirty="0"/>
              <a:t>lient/</a:t>
            </a:r>
            <a:r>
              <a:rPr lang="en-US" altLang="zh-CN" b="1" dirty="0">
                <a:solidFill>
                  <a:schemeClr val="accent1">
                    <a:lumMod val="75000"/>
                  </a:schemeClr>
                </a:solidFill>
              </a:rPr>
              <a:t>S</a:t>
            </a:r>
            <a:r>
              <a:rPr lang="en-US" altLang="zh-CN" b="1" dirty="0"/>
              <a:t>erver</a:t>
            </a:r>
            <a:r>
              <a:rPr lang="zh-CN" altLang="en-US" b="1" dirty="0"/>
              <a:t>，</a:t>
            </a:r>
            <a:r>
              <a:rPr lang="en-US" altLang="zh-CN" b="1" dirty="0">
                <a:solidFill>
                  <a:schemeClr val="accent1">
                    <a:lumMod val="75000"/>
                  </a:schemeClr>
                </a:solidFill>
              </a:rPr>
              <a:t>C/S</a:t>
            </a:r>
            <a:r>
              <a:rPr lang="zh-CN" altLang="en-US" b="1" dirty="0"/>
              <a:t>）方式</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02345" y="172959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680102" y="1648537"/>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a:t>
            </a:r>
            <a:r>
              <a:rPr lang="zh-CN" altLang="en-US" b="1" dirty="0"/>
              <a:t>和</a:t>
            </a:r>
            <a:r>
              <a:rPr lang="zh-CN" altLang="en-US" b="1" dirty="0">
                <a:solidFill>
                  <a:schemeClr val="accent1">
                    <a:lumMod val="75000"/>
                  </a:schemeClr>
                </a:solidFill>
              </a:rPr>
              <a:t>服务器</a:t>
            </a:r>
            <a:r>
              <a:rPr lang="zh-CN" altLang="en-US" b="1" dirty="0"/>
              <a:t>是指通信中所涉及的</a:t>
            </a:r>
            <a:r>
              <a:rPr lang="zh-CN" altLang="en-US" b="1" dirty="0">
                <a:solidFill>
                  <a:schemeClr val="accent1">
                    <a:lumMod val="75000"/>
                  </a:schemeClr>
                </a:solidFill>
              </a:rPr>
              <a:t>两个应用进程</a:t>
            </a:r>
            <a:r>
              <a:rPr lang="zh-CN" altLang="en-US" b="1" dirty="0"/>
              <a:t>。</a:t>
            </a:r>
            <a:endParaRPr lang="en-US" altLang="zh-CN" b="1" dirty="0"/>
          </a:p>
        </p:txBody>
      </p:sp>
      <p:sp>
        <p:nvSpPr>
          <p:cNvPr id="5" name="矩形 4">
            <a:extLst>
              <a:ext uri="{FF2B5EF4-FFF2-40B4-BE49-F238E27FC236}">
                <a16:creationId xmlns:a16="http://schemas.microsoft.com/office/drawing/2014/main" id="{9E251988-4909-8172-341F-72D4C7B4CC79}"/>
              </a:ext>
            </a:extLst>
          </p:cNvPr>
          <p:cNvSpPr/>
          <p:nvPr/>
        </p:nvSpPr>
        <p:spPr>
          <a:xfrm>
            <a:off x="1402345" y="214686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A20B0CBB-FB32-1D6D-A54C-1BE4B00AE75E}"/>
              </a:ext>
            </a:extLst>
          </p:cNvPr>
          <p:cNvSpPr txBox="1"/>
          <p:nvPr/>
        </p:nvSpPr>
        <p:spPr>
          <a:xfrm>
            <a:off x="1680102" y="2065807"/>
            <a:ext cx="10186317" cy="417270"/>
          </a:xfrm>
          <a:prstGeom prst="rect">
            <a:avLst/>
          </a:prstGeom>
          <a:noFill/>
        </p:spPr>
        <p:txBody>
          <a:bodyPr wrap="square" lIns="91440" tIns="45720" rIns="91440" bIns="45720" anchor="ctr">
            <a:noAutofit/>
          </a:bodyPr>
          <a:lstStyle/>
          <a:p>
            <a:r>
              <a:rPr lang="zh-CN" altLang="en-US" b="1" dirty="0"/>
              <a:t>客户</a:t>
            </a:r>
            <a:r>
              <a:rPr lang="en-US" altLang="zh-CN" b="1" dirty="0"/>
              <a:t>/</a:t>
            </a:r>
            <a:r>
              <a:rPr lang="zh-CN" altLang="en-US" b="1" dirty="0"/>
              <a:t>服务器方式所描述的是</a:t>
            </a:r>
            <a:r>
              <a:rPr lang="zh-CN" altLang="en-US" b="1" dirty="0">
                <a:solidFill>
                  <a:schemeClr val="accent1">
                    <a:lumMod val="75000"/>
                  </a:schemeClr>
                </a:solidFill>
              </a:rPr>
              <a:t>进程之间服务和被服务的关系</a:t>
            </a:r>
            <a:r>
              <a:rPr lang="zh-CN" altLang="en-US" b="1" dirty="0"/>
              <a:t>。</a:t>
            </a:r>
            <a:endParaRPr lang="en-US" altLang="zh-CN" b="1" dirty="0"/>
          </a:p>
        </p:txBody>
      </p:sp>
      <p:sp>
        <p:nvSpPr>
          <p:cNvPr id="52" name="矩形 51">
            <a:extLst>
              <a:ext uri="{FF2B5EF4-FFF2-40B4-BE49-F238E27FC236}">
                <a16:creationId xmlns:a16="http://schemas.microsoft.com/office/drawing/2014/main" id="{BCD79091-B648-4368-6305-D2AFE249A936}"/>
              </a:ext>
            </a:extLst>
          </p:cNvPr>
          <p:cNvSpPr/>
          <p:nvPr/>
        </p:nvSpPr>
        <p:spPr>
          <a:xfrm>
            <a:off x="1402345" y="257600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íşlïḍè">
            <a:extLst>
              <a:ext uri="{FF2B5EF4-FFF2-40B4-BE49-F238E27FC236}">
                <a16:creationId xmlns:a16="http://schemas.microsoft.com/office/drawing/2014/main" id="{BB6C6246-A25A-09FB-A3B2-51ADEB5FF261}"/>
              </a:ext>
            </a:extLst>
          </p:cNvPr>
          <p:cNvSpPr txBox="1"/>
          <p:nvPr/>
        </p:nvSpPr>
        <p:spPr>
          <a:xfrm>
            <a:off x="1680102" y="2494943"/>
            <a:ext cx="10186317"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客户是服务请求方，服务器是服务提供方。</a:t>
            </a:r>
            <a:endParaRPr lang="en-US" altLang="zh-CN" b="1" dirty="0">
              <a:solidFill>
                <a:schemeClr val="accent1">
                  <a:lumMod val="75000"/>
                </a:schemeClr>
              </a:solidFill>
            </a:endParaRPr>
          </a:p>
        </p:txBody>
      </p:sp>
      <p:sp>
        <p:nvSpPr>
          <p:cNvPr id="54" name="矩形 53">
            <a:extLst>
              <a:ext uri="{FF2B5EF4-FFF2-40B4-BE49-F238E27FC236}">
                <a16:creationId xmlns:a16="http://schemas.microsoft.com/office/drawing/2014/main" id="{31673AAE-5E3A-5A5B-A9BB-A7E1CEE583EE}"/>
              </a:ext>
            </a:extLst>
          </p:cNvPr>
          <p:cNvSpPr/>
          <p:nvPr/>
        </p:nvSpPr>
        <p:spPr>
          <a:xfrm>
            <a:off x="1402345" y="300988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íşlïḍè">
            <a:extLst>
              <a:ext uri="{FF2B5EF4-FFF2-40B4-BE49-F238E27FC236}">
                <a16:creationId xmlns:a16="http://schemas.microsoft.com/office/drawing/2014/main" id="{D669E6E2-43D9-B2FD-FB3E-A40147C5E89F}"/>
              </a:ext>
            </a:extLst>
          </p:cNvPr>
          <p:cNvSpPr txBox="1"/>
          <p:nvPr/>
        </p:nvSpPr>
        <p:spPr>
          <a:xfrm>
            <a:off x="1680102" y="2928824"/>
            <a:ext cx="10186317" cy="4298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服务器总是处于运行状态，并等待客户的服务请求。</a:t>
            </a:r>
            <a:endParaRPr lang="en-US" altLang="zh-CN" b="1" dirty="0">
              <a:solidFill>
                <a:schemeClr val="accent1">
                  <a:lumMod val="75000"/>
                </a:schemeClr>
              </a:solidFill>
            </a:endParaRPr>
          </a:p>
        </p:txBody>
      </p:sp>
      <p:sp>
        <p:nvSpPr>
          <p:cNvPr id="9" name="矩形 8">
            <a:extLst>
              <a:ext uri="{FF2B5EF4-FFF2-40B4-BE49-F238E27FC236}">
                <a16:creationId xmlns:a16="http://schemas.microsoft.com/office/drawing/2014/main" id="{9BE0426D-EB14-7F6C-0065-1195F1802FD6}"/>
              </a:ext>
            </a:extLst>
          </p:cNvPr>
          <p:cNvSpPr/>
          <p:nvPr/>
        </p:nvSpPr>
        <p:spPr>
          <a:xfrm>
            <a:off x="1016000" y="35270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íşlïḍè">
            <a:extLst>
              <a:ext uri="{FF2B5EF4-FFF2-40B4-BE49-F238E27FC236}">
                <a16:creationId xmlns:a16="http://schemas.microsoft.com/office/drawing/2014/main" id="{D3FF9759-D189-FA00-F8FD-6ADB26BAF8F5}"/>
              </a:ext>
            </a:extLst>
          </p:cNvPr>
          <p:cNvSpPr txBox="1"/>
          <p:nvPr/>
        </p:nvSpPr>
        <p:spPr>
          <a:xfrm>
            <a:off x="1293757" y="3446032"/>
            <a:ext cx="10593443" cy="662044"/>
          </a:xfrm>
          <a:prstGeom prst="rect">
            <a:avLst/>
          </a:prstGeom>
          <a:noFill/>
        </p:spPr>
        <p:txBody>
          <a:bodyPr wrap="square" lIns="91440" tIns="45720" rIns="91440" bIns="45720" anchor="ctr">
            <a:noAutofit/>
          </a:bodyPr>
          <a:lstStyle/>
          <a:p>
            <a:r>
              <a:rPr lang="en-US" altLang="zh-CN" b="1" dirty="0"/>
              <a:t>C/S</a:t>
            </a:r>
            <a:r>
              <a:rPr lang="zh-CN" altLang="en-US" b="1" dirty="0"/>
              <a:t>方式是因特网上传统的、同时也是最成熟的方式，很多我们熟悉的网络应用采用的都是</a:t>
            </a:r>
            <a:r>
              <a:rPr lang="en-US" altLang="zh-CN" b="1" dirty="0"/>
              <a:t>C/S</a:t>
            </a:r>
            <a:r>
              <a:rPr lang="zh-CN" altLang="en-US" b="1" dirty="0"/>
              <a:t>方式。包括万维网</a:t>
            </a:r>
            <a:r>
              <a:rPr lang="en-US" altLang="zh-CN" b="1" dirty="0"/>
              <a:t>WWW</a:t>
            </a:r>
            <a:r>
              <a:rPr lang="zh-CN" altLang="en-US" b="1" dirty="0"/>
              <a:t>、电子邮件、文件传输</a:t>
            </a:r>
            <a:r>
              <a:rPr lang="en-US" altLang="zh-CN" b="1" dirty="0"/>
              <a:t>FTP</a:t>
            </a:r>
            <a:r>
              <a:rPr lang="zh-CN" altLang="en-US" b="1" dirty="0"/>
              <a:t>等。</a:t>
            </a:r>
            <a:endParaRPr lang="en-US" altLang="zh-CN" b="1" dirty="0"/>
          </a:p>
        </p:txBody>
      </p:sp>
      <p:sp>
        <p:nvSpPr>
          <p:cNvPr id="12" name="矩形 11">
            <a:extLst>
              <a:ext uri="{FF2B5EF4-FFF2-40B4-BE49-F238E27FC236}">
                <a16:creationId xmlns:a16="http://schemas.microsoft.com/office/drawing/2014/main" id="{4B4B3FDF-3601-9596-F94A-3CF8DFA57B16}"/>
              </a:ext>
            </a:extLst>
          </p:cNvPr>
          <p:cNvSpPr/>
          <p:nvPr/>
        </p:nvSpPr>
        <p:spPr>
          <a:xfrm>
            <a:off x="1016000" y="422837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íşlïḍè">
            <a:extLst>
              <a:ext uri="{FF2B5EF4-FFF2-40B4-BE49-F238E27FC236}">
                <a16:creationId xmlns:a16="http://schemas.microsoft.com/office/drawing/2014/main" id="{10EFF603-6F16-BD38-DC94-394DFB990B8E}"/>
              </a:ext>
            </a:extLst>
          </p:cNvPr>
          <p:cNvSpPr txBox="1"/>
          <p:nvPr/>
        </p:nvSpPr>
        <p:spPr>
          <a:xfrm>
            <a:off x="1293757" y="4147311"/>
            <a:ext cx="10593443" cy="662044"/>
          </a:xfrm>
          <a:prstGeom prst="rect">
            <a:avLst/>
          </a:prstGeom>
          <a:noFill/>
        </p:spPr>
        <p:txBody>
          <a:bodyPr wrap="square" lIns="91440" tIns="45720" rIns="91440" bIns="45720" anchor="ctr">
            <a:noAutofit/>
          </a:bodyPr>
          <a:lstStyle/>
          <a:p>
            <a:r>
              <a:rPr lang="zh-CN" altLang="en-US" b="1" dirty="0"/>
              <a:t>基于</a:t>
            </a:r>
            <a:r>
              <a:rPr lang="en-US" altLang="zh-CN" b="1" dirty="0"/>
              <a:t>C/S</a:t>
            </a:r>
            <a:r>
              <a:rPr lang="zh-CN" altLang="en-US" b="1" dirty="0"/>
              <a:t>方式的应用服务通常是服务集中型的，即应用服务集中在网络中比客户计算机少得多的服务器计算机上。</a:t>
            </a:r>
            <a:endParaRPr lang="en-US" altLang="zh-CN" b="1" dirty="0"/>
          </a:p>
        </p:txBody>
      </p:sp>
      <p:sp>
        <p:nvSpPr>
          <p:cNvPr id="16" name="矩形 15">
            <a:extLst>
              <a:ext uri="{FF2B5EF4-FFF2-40B4-BE49-F238E27FC236}">
                <a16:creationId xmlns:a16="http://schemas.microsoft.com/office/drawing/2014/main" id="{E8A9BA82-7B94-83CD-6E4F-B7E65192F0A9}"/>
              </a:ext>
            </a:extLst>
          </p:cNvPr>
          <p:cNvSpPr/>
          <p:nvPr/>
        </p:nvSpPr>
        <p:spPr>
          <a:xfrm>
            <a:off x="1397850" y="502177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0831B300-5E41-2BE4-9AC5-ECBACBA0AC79}"/>
              </a:ext>
            </a:extLst>
          </p:cNvPr>
          <p:cNvSpPr txBox="1"/>
          <p:nvPr/>
        </p:nvSpPr>
        <p:spPr>
          <a:xfrm>
            <a:off x="1675607" y="4940713"/>
            <a:ext cx="10211593" cy="662044"/>
          </a:xfrm>
          <a:prstGeom prst="rect">
            <a:avLst/>
          </a:prstGeom>
          <a:noFill/>
        </p:spPr>
        <p:txBody>
          <a:bodyPr wrap="square" lIns="91440" tIns="45720" rIns="91440" bIns="45720" anchor="ctr">
            <a:noAutofit/>
          </a:bodyPr>
          <a:lstStyle/>
          <a:p>
            <a:r>
              <a:rPr lang="zh-CN" altLang="en-US" b="1" dirty="0"/>
              <a:t>由于一台服务器计算机要为多个客户机提供服务，在</a:t>
            </a:r>
            <a:r>
              <a:rPr lang="en-US" altLang="zh-CN" b="1" dirty="0"/>
              <a:t>C/S</a:t>
            </a:r>
            <a:r>
              <a:rPr lang="zh-CN" altLang="en-US" b="1" dirty="0"/>
              <a:t>应用中，</a:t>
            </a:r>
            <a:r>
              <a:rPr lang="zh-CN" altLang="en-US" b="1" dirty="0">
                <a:solidFill>
                  <a:schemeClr val="accent1">
                    <a:lumMod val="75000"/>
                  </a:schemeClr>
                </a:solidFill>
              </a:rPr>
              <a:t>常会出现服务器计算机跟不上众多客户机请求的情况</a:t>
            </a:r>
            <a:r>
              <a:rPr lang="zh-CN" altLang="en-US" b="1" dirty="0"/>
              <a:t>。</a:t>
            </a:r>
            <a:endParaRPr lang="en-US" altLang="zh-CN" b="1" dirty="0"/>
          </a:p>
        </p:txBody>
      </p:sp>
      <p:sp>
        <p:nvSpPr>
          <p:cNvPr id="22" name="矩形 21">
            <a:extLst>
              <a:ext uri="{FF2B5EF4-FFF2-40B4-BE49-F238E27FC236}">
                <a16:creationId xmlns:a16="http://schemas.microsoft.com/office/drawing/2014/main" id="{51EC9EA7-9E5D-6C91-E4F0-475D5D4678BA}"/>
              </a:ext>
            </a:extLst>
          </p:cNvPr>
          <p:cNvSpPr/>
          <p:nvPr/>
        </p:nvSpPr>
        <p:spPr>
          <a:xfrm>
            <a:off x="1397850" y="5726575"/>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F7EF73F9-F433-E406-2632-DC044245E7E0}"/>
              </a:ext>
            </a:extLst>
          </p:cNvPr>
          <p:cNvSpPr txBox="1"/>
          <p:nvPr/>
        </p:nvSpPr>
        <p:spPr>
          <a:xfrm>
            <a:off x="1675607" y="5645513"/>
            <a:ext cx="10211593" cy="385493"/>
          </a:xfrm>
          <a:prstGeom prst="rect">
            <a:avLst/>
          </a:prstGeom>
          <a:noFill/>
        </p:spPr>
        <p:txBody>
          <a:bodyPr wrap="square" lIns="91440" tIns="45720" rIns="91440" bIns="45720" anchor="ctr">
            <a:noAutofit/>
          </a:bodyPr>
          <a:lstStyle/>
          <a:p>
            <a:r>
              <a:rPr lang="zh-CN" altLang="en-US" b="1" dirty="0"/>
              <a:t>为此，在</a:t>
            </a:r>
            <a:r>
              <a:rPr lang="en-US" altLang="zh-CN" b="1" dirty="0"/>
              <a:t>C/S</a:t>
            </a:r>
            <a:r>
              <a:rPr lang="zh-CN" altLang="en-US" b="1" dirty="0"/>
              <a:t>应用中，常用</a:t>
            </a:r>
            <a:r>
              <a:rPr lang="zh-CN" altLang="en-US" b="1" dirty="0">
                <a:solidFill>
                  <a:schemeClr val="accent1">
                    <a:lumMod val="75000"/>
                  </a:schemeClr>
                </a:solidFill>
              </a:rPr>
              <a:t>计算机群集</a:t>
            </a:r>
            <a:r>
              <a:rPr lang="zh-CN" altLang="en-US" b="1" dirty="0"/>
              <a:t>（或服务器场）构建一个强大的</a:t>
            </a:r>
            <a:r>
              <a:rPr lang="zh-CN" altLang="en-US" b="1" dirty="0">
                <a:solidFill>
                  <a:schemeClr val="accent1">
                    <a:lumMod val="75000"/>
                  </a:schemeClr>
                </a:solidFill>
              </a:rPr>
              <a:t>虚拟服务器</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13661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ppt_w</p:attrName>
                                        </p:attrNameLst>
                                      </p:cBhvr>
                                      <p:tavLst>
                                        <p:tav tm="0">
                                          <p:val>
                                            <p:fltVal val="0"/>
                                          </p:val>
                                        </p:tav>
                                        <p:tav tm="100000">
                                          <p:val>
                                            <p:strVal val="#ppt_w"/>
                                          </p:val>
                                        </p:tav>
                                      </p:tavLst>
                                    </p:anim>
                                    <p:anim calcmode="lin" valueType="num">
                                      <p:cBhvr>
                                        <p:cTn id="19" dur="500" fill="hold"/>
                                        <p:tgtEl>
                                          <p:spTgt spid="12"/>
                                        </p:tgtEl>
                                        <p:attrNameLst>
                                          <p:attrName>ppt_h</p:attrName>
                                        </p:attrNameLst>
                                      </p:cBhvr>
                                      <p:tavLst>
                                        <p:tav tm="0">
                                          <p:val>
                                            <p:fltVal val="0"/>
                                          </p:val>
                                        </p:tav>
                                        <p:tav tm="100000">
                                          <p:val>
                                            <p:strVal val="#ppt_h"/>
                                          </p:val>
                                        </p:tav>
                                      </p:tavLst>
                                    </p:anim>
                                    <p:anim calcmode="lin" valueType="num">
                                      <p:cBhvr>
                                        <p:cTn id="20" dur="500" fill="hold"/>
                                        <p:tgtEl>
                                          <p:spTgt spid="12"/>
                                        </p:tgtEl>
                                        <p:attrNameLst>
                                          <p:attrName>style.rotation</p:attrName>
                                        </p:attrNameLst>
                                      </p:cBhvr>
                                      <p:tavLst>
                                        <p:tav tm="0">
                                          <p:val>
                                            <p:fltVal val="360"/>
                                          </p:val>
                                        </p:tav>
                                        <p:tav tm="100000">
                                          <p:val>
                                            <p:fltVal val="0"/>
                                          </p:val>
                                        </p:tav>
                                      </p:tavLst>
                                    </p:anim>
                                    <p:animEffect transition="in" filter="fade">
                                      <p:cBhvr>
                                        <p:cTn id="21" dur="500"/>
                                        <p:tgtEl>
                                          <p:spTgt spid="12"/>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 calcmode="lin" valueType="num">
                                      <p:cBhvr>
                                        <p:cTn id="31" dur="500" fill="hold"/>
                                        <p:tgtEl>
                                          <p:spTgt spid="16"/>
                                        </p:tgtEl>
                                        <p:attrNameLst>
                                          <p:attrName>style.rotation</p:attrName>
                                        </p:attrNameLst>
                                      </p:cBhvr>
                                      <p:tavLst>
                                        <p:tav tm="0">
                                          <p:val>
                                            <p:fltVal val="360"/>
                                          </p:val>
                                        </p:tav>
                                        <p:tav tm="100000">
                                          <p:val>
                                            <p:fltVal val="0"/>
                                          </p:val>
                                        </p:tav>
                                      </p:tavLst>
                                    </p:anim>
                                    <p:animEffect transition="in" filter="fade">
                                      <p:cBhvr>
                                        <p:cTn id="32" dur="500"/>
                                        <p:tgtEl>
                                          <p:spTgt spid="16"/>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 calcmode="lin" valueType="num">
                                      <p:cBhvr>
                                        <p:cTn id="40" dur="500" fill="hold"/>
                                        <p:tgtEl>
                                          <p:spTgt spid="22"/>
                                        </p:tgtEl>
                                        <p:attrNameLst>
                                          <p:attrName>ppt_w</p:attrName>
                                        </p:attrNameLst>
                                      </p:cBhvr>
                                      <p:tavLst>
                                        <p:tav tm="0">
                                          <p:val>
                                            <p:fltVal val="0"/>
                                          </p:val>
                                        </p:tav>
                                        <p:tav tm="100000">
                                          <p:val>
                                            <p:strVal val="#ppt_w"/>
                                          </p:val>
                                        </p:tav>
                                      </p:tavLst>
                                    </p:anim>
                                    <p:anim calcmode="lin" valueType="num">
                                      <p:cBhvr>
                                        <p:cTn id="41" dur="500" fill="hold"/>
                                        <p:tgtEl>
                                          <p:spTgt spid="22"/>
                                        </p:tgtEl>
                                        <p:attrNameLst>
                                          <p:attrName>ppt_h</p:attrName>
                                        </p:attrNameLst>
                                      </p:cBhvr>
                                      <p:tavLst>
                                        <p:tav tm="0">
                                          <p:val>
                                            <p:fltVal val="0"/>
                                          </p:val>
                                        </p:tav>
                                        <p:tav tm="100000">
                                          <p:val>
                                            <p:strVal val="#ppt_h"/>
                                          </p:val>
                                        </p:tav>
                                      </p:tavLst>
                                    </p:anim>
                                    <p:anim calcmode="lin" valueType="num">
                                      <p:cBhvr>
                                        <p:cTn id="42" dur="500" fill="hold"/>
                                        <p:tgtEl>
                                          <p:spTgt spid="22"/>
                                        </p:tgtEl>
                                        <p:attrNameLst>
                                          <p:attrName>style.rotation</p:attrName>
                                        </p:attrNameLst>
                                      </p:cBhvr>
                                      <p:tavLst>
                                        <p:tav tm="0">
                                          <p:val>
                                            <p:fltVal val="360"/>
                                          </p:val>
                                        </p:tav>
                                        <p:tav tm="100000">
                                          <p:val>
                                            <p:fltVal val="0"/>
                                          </p:val>
                                        </p:tav>
                                      </p:tavLst>
                                    </p:anim>
                                    <p:animEffect transition="in" filter="fade">
                                      <p:cBhvr>
                                        <p:cTn id="43" dur="500"/>
                                        <p:tgtEl>
                                          <p:spTgt spid="22"/>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5" grpId="0"/>
      <p:bldP spid="16" grpId="0" animBg="1"/>
      <p:bldP spid="19" grpId="0"/>
      <p:bldP spid="22"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solidFill>
                    <a:schemeClr val="tx1"/>
                  </a:solidFill>
                  <a:latin typeface="Impact" panose="020B0806030902050204" pitchFamily="34" charset="0"/>
                </a:rPr>
                <a:t>客户</a:t>
              </a:r>
              <a:r>
                <a:rPr lang="en-US" altLang="zh-CN" sz="2000" b="1" dirty="0">
                  <a:solidFill>
                    <a:schemeClr val="tx1"/>
                  </a:solidFill>
                  <a:latin typeface="Impact" panose="020B0806030902050204" pitchFamily="34" charset="0"/>
                </a:rPr>
                <a:t>-</a:t>
              </a:r>
              <a:r>
                <a:rPr lang="zh-CN" altLang="en-US" sz="2000" b="1" dirty="0">
                  <a:solidFill>
                    <a:schemeClr val="tx1"/>
                  </a:solidFill>
                  <a:latin typeface="Impact" panose="020B0806030902050204" pitchFamily="34" charset="0"/>
                </a:rPr>
                <a:t>服务器方式和对等方式</a:t>
              </a:r>
            </a:p>
          </p:txBody>
        </p:sp>
      </p:grpSp>
      <p:sp>
        <p:nvSpPr>
          <p:cNvPr id="7" name="矩形 6">
            <a:extLst>
              <a:ext uri="{FF2B5EF4-FFF2-40B4-BE49-F238E27FC236}">
                <a16:creationId xmlns:a16="http://schemas.microsoft.com/office/drawing/2014/main" id="{054AEE3C-D991-1D82-036B-71D36D8D88DC}"/>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C626047C-88C3-C863-68B9-15E07B147723}"/>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对等</a:t>
            </a:r>
            <a:r>
              <a:rPr lang="zh-CN" altLang="en-US" b="1" dirty="0"/>
              <a:t>（</a:t>
            </a:r>
            <a:r>
              <a:rPr lang="en-US" altLang="zh-CN" b="1" dirty="0">
                <a:solidFill>
                  <a:schemeClr val="accent1">
                    <a:lumMod val="75000"/>
                  </a:schemeClr>
                </a:solidFill>
              </a:rPr>
              <a:t>P</a:t>
            </a:r>
            <a:r>
              <a:rPr lang="en-US" altLang="zh-CN" b="1" dirty="0"/>
              <a:t>eer-</a:t>
            </a:r>
            <a:r>
              <a:rPr lang="en-US" altLang="zh-CN" b="1" dirty="0">
                <a:solidFill>
                  <a:schemeClr val="accent1">
                    <a:lumMod val="75000"/>
                  </a:schemeClr>
                </a:solidFill>
              </a:rPr>
              <a:t>to</a:t>
            </a:r>
            <a:r>
              <a:rPr lang="en-US" altLang="zh-CN" b="1" dirty="0"/>
              <a:t>-</a:t>
            </a:r>
            <a:r>
              <a:rPr lang="en-US" altLang="zh-CN" b="1" dirty="0">
                <a:solidFill>
                  <a:schemeClr val="accent1">
                    <a:lumMod val="75000"/>
                  </a:schemeClr>
                </a:solidFill>
              </a:rPr>
              <a:t>P</a:t>
            </a:r>
            <a:r>
              <a:rPr lang="en-US" altLang="zh-CN" b="1" dirty="0"/>
              <a:t>eer</a:t>
            </a:r>
            <a:r>
              <a:rPr lang="zh-CN" altLang="en-US" b="1" dirty="0"/>
              <a:t>，</a:t>
            </a:r>
            <a:r>
              <a:rPr lang="en-US" altLang="zh-CN" b="1" dirty="0">
                <a:solidFill>
                  <a:schemeClr val="accent1">
                    <a:lumMod val="75000"/>
                  </a:schemeClr>
                </a:solidFill>
              </a:rPr>
              <a:t>P2P</a:t>
            </a:r>
            <a:r>
              <a:rPr lang="zh-CN" altLang="en-US" b="1" dirty="0"/>
              <a:t>）方式</a:t>
            </a:r>
            <a:endParaRPr lang="en-US" altLang="zh-CN" b="1" dirty="0"/>
          </a:p>
        </p:txBody>
      </p:sp>
      <p:sp>
        <p:nvSpPr>
          <p:cNvPr id="13" name="矩形 12">
            <a:extLst>
              <a:ext uri="{FF2B5EF4-FFF2-40B4-BE49-F238E27FC236}">
                <a16:creationId xmlns:a16="http://schemas.microsoft.com/office/drawing/2014/main" id="{6B921993-E1AA-C25B-563D-7A3DB0B29F59}"/>
              </a:ext>
            </a:extLst>
          </p:cNvPr>
          <p:cNvSpPr/>
          <p:nvPr/>
        </p:nvSpPr>
        <p:spPr>
          <a:xfrm>
            <a:off x="1402345" y="172959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F696788A-66DD-2441-C645-AA2D7127B163}"/>
              </a:ext>
            </a:extLst>
          </p:cNvPr>
          <p:cNvSpPr txBox="1"/>
          <p:nvPr/>
        </p:nvSpPr>
        <p:spPr>
          <a:xfrm>
            <a:off x="1680102" y="1648537"/>
            <a:ext cx="10186317" cy="677804"/>
          </a:xfrm>
          <a:prstGeom prst="rect">
            <a:avLst/>
          </a:prstGeom>
          <a:noFill/>
        </p:spPr>
        <p:txBody>
          <a:bodyPr wrap="square" lIns="91440" tIns="45720" rIns="91440" bIns="45720" anchor="ctr">
            <a:noAutofit/>
          </a:bodyPr>
          <a:lstStyle/>
          <a:p>
            <a:r>
              <a:rPr lang="zh-CN" altLang="en-US" b="1" dirty="0"/>
              <a:t>在</a:t>
            </a:r>
            <a:r>
              <a:rPr lang="en-US" altLang="zh-CN" b="1" dirty="0"/>
              <a:t>P2P</a:t>
            </a:r>
            <a:r>
              <a:rPr lang="zh-CN" altLang="en-US" b="1" dirty="0"/>
              <a:t>方式中，</a:t>
            </a:r>
            <a:r>
              <a:rPr lang="zh-CN" altLang="en-US" b="1" dirty="0">
                <a:solidFill>
                  <a:schemeClr val="accent1">
                    <a:lumMod val="75000"/>
                  </a:schemeClr>
                </a:solidFill>
              </a:rPr>
              <a:t>没有固定的服务请求者和服务提供者</a:t>
            </a:r>
            <a:r>
              <a:rPr lang="zh-CN" altLang="en-US" b="1" dirty="0"/>
              <a:t>，分布在网络边缘各端系统中的应用进程是对等的，被称为</a:t>
            </a:r>
            <a:r>
              <a:rPr lang="zh-CN" altLang="en-US" b="1" dirty="0">
                <a:solidFill>
                  <a:schemeClr val="accent1">
                    <a:lumMod val="75000"/>
                  </a:schemeClr>
                </a:solidFill>
              </a:rPr>
              <a:t>对等方</a:t>
            </a:r>
            <a:r>
              <a:rPr lang="zh-CN" altLang="en-US" b="1" dirty="0"/>
              <a:t>。</a:t>
            </a:r>
            <a:r>
              <a:rPr lang="zh-CN" altLang="en-US" b="1" dirty="0">
                <a:solidFill>
                  <a:schemeClr val="accent1">
                    <a:lumMod val="75000"/>
                  </a:schemeClr>
                </a:solidFill>
              </a:rPr>
              <a:t>对等方相互之间直接通信</a:t>
            </a:r>
            <a:r>
              <a:rPr lang="zh-CN" altLang="en-US" b="1" dirty="0"/>
              <a:t>，每个对等方既是服务的请求者，又是服务的提供者。</a:t>
            </a:r>
            <a:endParaRPr lang="en-US" altLang="zh-CN" b="1" dirty="0"/>
          </a:p>
        </p:txBody>
      </p:sp>
      <p:sp>
        <p:nvSpPr>
          <p:cNvPr id="59" name="矩形 58">
            <a:extLst>
              <a:ext uri="{FF2B5EF4-FFF2-40B4-BE49-F238E27FC236}">
                <a16:creationId xmlns:a16="http://schemas.microsoft.com/office/drawing/2014/main" id="{E21DE070-A581-AE3B-64F9-52A5F68EBAD8}"/>
              </a:ext>
            </a:extLst>
          </p:cNvPr>
          <p:cNvSpPr/>
          <p:nvPr/>
        </p:nvSpPr>
        <p:spPr>
          <a:xfrm>
            <a:off x="1036781" y="236674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íşlïḍè">
            <a:extLst>
              <a:ext uri="{FF2B5EF4-FFF2-40B4-BE49-F238E27FC236}">
                <a16:creationId xmlns:a16="http://schemas.microsoft.com/office/drawing/2014/main" id="{93975A5E-BB54-FBDA-71DF-3019E43DCD99}"/>
              </a:ext>
            </a:extLst>
          </p:cNvPr>
          <p:cNvSpPr txBox="1"/>
          <p:nvPr/>
        </p:nvSpPr>
        <p:spPr>
          <a:xfrm>
            <a:off x="1314538" y="2285684"/>
            <a:ext cx="10593443" cy="417270"/>
          </a:xfrm>
          <a:prstGeom prst="rect">
            <a:avLst/>
          </a:prstGeom>
          <a:noFill/>
        </p:spPr>
        <p:txBody>
          <a:bodyPr wrap="square" lIns="91440" tIns="45720" rIns="91440" bIns="45720" anchor="ctr">
            <a:noAutofit/>
          </a:bodyPr>
          <a:lstStyle/>
          <a:p>
            <a:r>
              <a:rPr lang="zh-CN" altLang="en-US" b="1" dirty="0"/>
              <a:t>目前，在因特网上流行的</a:t>
            </a:r>
            <a:r>
              <a:rPr lang="en-US" altLang="zh-CN" b="1" dirty="0"/>
              <a:t>P2P</a:t>
            </a:r>
            <a:r>
              <a:rPr lang="zh-CN" altLang="en-US" b="1" dirty="0"/>
              <a:t>应用主要包括</a:t>
            </a:r>
            <a:r>
              <a:rPr lang="en-US" altLang="zh-CN" b="1" dirty="0"/>
              <a:t>P2P</a:t>
            </a:r>
            <a:r>
              <a:rPr lang="zh-CN" altLang="en-US" b="1" dirty="0"/>
              <a:t>文件共享、即时通信、</a:t>
            </a:r>
            <a:r>
              <a:rPr lang="en-US" altLang="zh-CN" b="1" dirty="0"/>
              <a:t>P2P</a:t>
            </a:r>
            <a:r>
              <a:rPr lang="zh-CN" altLang="en-US" b="1" dirty="0"/>
              <a:t>流媒体、分布式存储等。</a:t>
            </a:r>
            <a:endParaRPr lang="en-US" altLang="zh-CN" b="1" dirty="0"/>
          </a:p>
        </p:txBody>
      </p:sp>
      <p:sp>
        <p:nvSpPr>
          <p:cNvPr id="61" name="矩形 60">
            <a:extLst>
              <a:ext uri="{FF2B5EF4-FFF2-40B4-BE49-F238E27FC236}">
                <a16:creationId xmlns:a16="http://schemas.microsoft.com/office/drawing/2014/main" id="{7818B35F-11AA-3830-D2FA-58B10872507D}"/>
              </a:ext>
            </a:extLst>
          </p:cNvPr>
          <p:cNvSpPr/>
          <p:nvPr/>
        </p:nvSpPr>
        <p:spPr>
          <a:xfrm>
            <a:off x="1036781" y="283217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íşlïḍè">
            <a:extLst>
              <a:ext uri="{FF2B5EF4-FFF2-40B4-BE49-F238E27FC236}">
                <a16:creationId xmlns:a16="http://schemas.microsoft.com/office/drawing/2014/main" id="{32BE23E6-D4D7-D088-ABB0-5B1292F3DB3B}"/>
              </a:ext>
            </a:extLst>
          </p:cNvPr>
          <p:cNvSpPr txBox="1"/>
          <p:nvPr/>
        </p:nvSpPr>
        <p:spPr>
          <a:xfrm>
            <a:off x="1314538" y="2751111"/>
            <a:ext cx="10593443" cy="1000240"/>
          </a:xfrm>
          <a:prstGeom prst="rect">
            <a:avLst/>
          </a:prstGeom>
          <a:noFill/>
        </p:spPr>
        <p:txBody>
          <a:bodyPr wrap="square" lIns="91440" tIns="45720" rIns="91440" bIns="45720" anchor="ctr">
            <a:noAutofit/>
          </a:bodyPr>
          <a:lstStyle/>
          <a:p>
            <a:r>
              <a:rPr lang="zh-CN" altLang="en-US" b="1" dirty="0"/>
              <a:t>基于</a:t>
            </a:r>
            <a:r>
              <a:rPr lang="en-US" altLang="zh-CN" b="1" dirty="0"/>
              <a:t>P2P</a:t>
            </a:r>
            <a:r>
              <a:rPr lang="zh-CN" altLang="en-US" b="1" dirty="0"/>
              <a:t>的应用是</a:t>
            </a:r>
            <a:r>
              <a:rPr lang="zh-CN" altLang="en-US" b="1" dirty="0">
                <a:solidFill>
                  <a:schemeClr val="accent1">
                    <a:lumMod val="75000"/>
                  </a:schemeClr>
                </a:solidFill>
              </a:rPr>
              <a:t>服务分散型</a:t>
            </a:r>
            <a:r>
              <a:rPr lang="zh-CN" altLang="en-US" b="1" dirty="0"/>
              <a:t>的，因为服务不是集中在少数几个服务器计算机中，而是分散在大量对等计算机中，这些计算机并不为服务提供商所有，而是为个人控制的桌面计算机和笔记本电脑，它们通常位于住宅、校园和办公室中。</a:t>
            </a:r>
            <a:endParaRPr lang="en-US" altLang="zh-CN" b="1" dirty="0"/>
          </a:p>
        </p:txBody>
      </p:sp>
      <p:sp>
        <p:nvSpPr>
          <p:cNvPr id="5" name="矩形 4">
            <a:extLst>
              <a:ext uri="{FF2B5EF4-FFF2-40B4-BE49-F238E27FC236}">
                <a16:creationId xmlns:a16="http://schemas.microsoft.com/office/drawing/2014/main" id="{D5E1D79A-1047-2DF1-923E-4F097B3603BD}"/>
              </a:ext>
            </a:extLst>
          </p:cNvPr>
          <p:cNvSpPr/>
          <p:nvPr/>
        </p:nvSpPr>
        <p:spPr>
          <a:xfrm>
            <a:off x="1032897" y="388057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EA025C3-F130-09B9-EB56-0E6A6AA50DC5}"/>
              </a:ext>
            </a:extLst>
          </p:cNvPr>
          <p:cNvSpPr txBox="1"/>
          <p:nvPr/>
        </p:nvSpPr>
        <p:spPr>
          <a:xfrm>
            <a:off x="1310654" y="3799508"/>
            <a:ext cx="10593443" cy="725427"/>
          </a:xfrm>
          <a:prstGeom prst="rect">
            <a:avLst/>
          </a:prstGeom>
          <a:noFill/>
        </p:spPr>
        <p:txBody>
          <a:bodyPr wrap="square" lIns="91440" tIns="45720" rIns="91440" bIns="45720" anchor="ctr">
            <a:noAutofit/>
          </a:bodyPr>
          <a:lstStyle/>
          <a:p>
            <a:r>
              <a:rPr lang="en-US" altLang="zh-CN" b="1" dirty="0"/>
              <a:t>P2P</a:t>
            </a:r>
            <a:r>
              <a:rPr lang="zh-CN" altLang="en-US" b="1" dirty="0"/>
              <a:t>方式的最突出特性之一就是它的</a:t>
            </a:r>
            <a:r>
              <a:rPr lang="zh-CN" altLang="en-US" b="1" dirty="0">
                <a:solidFill>
                  <a:schemeClr val="accent1">
                    <a:lumMod val="75000"/>
                  </a:schemeClr>
                </a:solidFill>
              </a:rPr>
              <a:t>可扩展性</a:t>
            </a:r>
            <a:r>
              <a:rPr lang="zh-CN" altLang="en-US" b="1" dirty="0"/>
              <a:t>。因为系统每增加一个对等方，不仅增加的是服务的请求者，同时也增加了服务的提供者，</a:t>
            </a:r>
            <a:r>
              <a:rPr lang="zh-CN" altLang="en-US" b="1" dirty="0">
                <a:solidFill>
                  <a:schemeClr val="accent1">
                    <a:lumMod val="75000"/>
                  </a:schemeClr>
                </a:solidFill>
              </a:rPr>
              <a:t>系统性能不会因规模的增大而降低</a:t>
            </a:r>
            <a:r>
              <a:rPr lang="zh-CN" altLang="en-US" b="1" dirty="0"/>
              <a:t>。</a:t>
            </a:r>
            <a:endParaRPr lang="en-US" altLang="zh-CN" b="1" dirty="0"/>
          </a:p>
        </p:txBody>
      </p:sp>
      <p:sp>
        <p:nvSpPr>
          <p:cNvPr id="9" name="矩形 8">
            <a:extLst>
              <a:ext uri="{FF2B5EF4-FFF2-40B4-BE49-F238E27FC236}">
                <a16:creationId xmlns:a16="http://schemas.microsoft.com/office/drawing/2014/main" id="{7C12A497-7A4E-5B3F-5F4C-92AC13E06F2D}"/>
              </a:ext>
            </a:extLst>
          </p:cNvPr>
          <p:cNvSpPr/>
          <p:nvPr/>
        </p:nvSpPr>
        <p:spPr>
          <a:xfrm>
            <a:off x="1032897" y="460413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3C0A831E-617A-5063-76BA-21EACEF6925F}"/>
              </a:ext>
            </a:extLst>
          </p:cNvPr>
          <p:cNvSpPr txBox="1"/>
          <p:nvPr/>
        </p:nvSpPr>
        <p:spPr>
          <a:xfrm>
            <a:off x="1310654" y="4523076"/>
            <a:ext cx="10593443" cy="725427"/>
          </a:xfrm>
          <a:prstGeom prst="rect">
            <a:avLst/>
          </a:prstGeom>
          <a:noFill/>
        </p:spPr>
        <p:txBody>
          <a:bodyPr wrap="square" lIns="91440" tIns="45720" rIns="91440" bIns="45720" anchor="ctr">
            <a:noAutofit/>
          </a:bodyPr>
          <a:lstStyle/>
          <a:p>
            <a:r>
              <a:rPr lang="en-US" altLang="zh-CN" b="1" dirty="0"/>
              <a:t>P2P</a:t>
            </a:r>
            <a:r>
              <a:rPr lang="zh-CN" altLang="en-US" b="1" dirty="0"/>
              <a:t>方式</a:t>
            </a:r>
            <a:r>
              <a:rPr lang="zh-CN" altLang="en-US" b="1" dirty="0">
                <a:solidFill>
                  <a:schemeClr val="accent1">
                    <a:lumMod val="75000"/>
                  </a:schemeClr>
                </a:solidFill>
              </a:rPr>
              <a:t>具有成本上的优势</a:t>
            </a:r>
            <a:r>
              <a:rPr lang="zh-CN" altLang="en-US" b="1" dirty="0"/>
              <a:t>，因为它通常不需要庞大的服务器设置和服务器带宽。为了降低成本，服务提供商对于将</a:t>
            </a:r>
            <a:r>
              <a:rPr lang="en-US" altLang="zh-CN" b="1" dirty="0"/>
              <a:t>P2P</a:t>
            </a:r>
            <a:r>
              <a:rPr lang="zh-CN" altLang="en-US" b="1" dirty="0"/>
              <a:t>方式用于应用的兴趣越来越大。</a:t>
            </a:r>
            <a:endParaRPr lang="en-US" altLang="zh-CN" b="1" dirty="0"/>
          </a:p>
        </p:txBody>
      </p:sp>
    </p:spTree>
    <p:custDataLst>
      <p:tags r:id="rId1"/>
    </p:custDataLst>
    <p:extLst>
      <p:ext uri="{BB962C8B-B14F-4D97-AF65-F5344CB8AC3E}">
        <p14:creationId xmlns:p14="http://schemas.microsoft.com/office/powerpoint/2010/main" val="307476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 calcmode="lin" valueType="num">
                                      <p:cBhvr>
                                        <p:cTn id="20" dur="500" fill="hold"/>
                                        <p:tgtEl>
                                          <p:spTgt spid="9"/>
                                        </p:tgtEl>
                                        <p:attrNameLst>
                                          <p:attrName>style.rotation</p:attrName>
                                        </p:attrNameLst>
                                      </p:cBhvr>
                                      <p:tavLst>
                                        <p:tav tm="0">
                                          <p:val>
                                            <p:fltVal val="360"/>
                                          </p:val>
                                        </p:tav>
                                        <p:tav tm="100000">
                                          <p:val>
                                            <p:fltVal val="0"/>
                                          </p:val>
                                        </p:tav>
                                      </p:tavLst>
                                    </p:anim>
                                    <p:animEffect transition="in" filter="fade">
                                      <p:cBhvr>
                                        <p:cTn id="21" dur="500"/>
                                        <p:tgtEl>
                                          <p:spTgt spid="9"/>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文本框 199">
            <a:extLst>
              <a:ext uri="{FF2B5EF4-FFF2-40B4-BE49-F238E27FC236}">
                <a16:creationId xmlns:a16="http://schemas.microsoft.com/office/drawing/2014/main" id="{732F0E7C-DF83-23B6-F393-3DF8A15ABA37}"/>
              </a:ext>
            </a:extLst>
          </p:cNvPr>
          <p:cNvSpPr txBox="1"/>
          <p:nvPr/>
        </p:nvSpPr>
        <p:spPr>
          <a:xfrm>
            <a:off x="1100695" y="4000997"/>
            <a:ext cx="2979868" cy="461665"/>
          </a:xfrm>
          <a:prstGeom prst="rect">
            <a:avLst/>
          </a:prstGeom>
          <a:noFill/>
        </p:spPr>
        <p:txBody>
          <a:bodyPr wrap="square" rtlCol="0">
            <a:spAutoFit/>
          </a:bodyPr>
          <a:lstStyle/>
          <a:p>
            <a:r>
              <a:rPr lang="zh-CN" altLang="en-US" sz="2400" b="1" dirty="0">
                <a:solidFill>
                  <a:srgbClr val="FF0000"/>
                </a:solidFill>
                <a:effectLst>
                  <a:outerShdw blurRad="38100" dist="38100" dir="2700000" algn="tl">
                    <a:srgbClr val="000000">
                      <a:alpha val="43137"/>
                    </a:srgbClr>
                  </a:outerShdw>
                </a:effectLst>
              </a:rPr>
              <a:t>工作量大且容易出错</a:t>
            </a:r>
          </a:p>
        </p:txBody>
      </p:sp>
      <p:grpSp>
        <p:nvGrpSpPr>
          <p:cNvPr id="201" name="组合 200">
            <a:extLst>
              <a:ext uri="{FF2B5EF4-FFF2-40B4-BE49-F238E27FC236}">
                <a16:creationId xmlns:a16="http://schemas.microsoft.com/office/drawing/2014/main" id="{07FBD0A7-4684-1B9A-3920-C32F4C80F4C4}"/>
              </a:ext>
            </a:extLst>
          </p:cNvPr>
          <p:cNvGrpSpPr/>
          <p:nvPr/>
        </p:nvGrpSpPr>
        <p:grpSpPr>
          <a:xfrm>
            <a:off x="1264024" y="4491973"/>
            <a:ext cx="9137277" cy="1822877"/>
            <a:chOff x="1264024" y="4491973"/>
            <a:chExt cx="9137277" cy="1822877"/>
          </a:xfrm>
        </p:grpSpPr>
        <p:sp>
          <p:nvSpPr>
            <p:cNvPr id="31" name="矩形 30">
              <a:extLst>
                <a:ext uri="{FF2B5EF4-FFF2-40B4-BE49-F238E27FC236}">
                  <a16:creationId xmlns:a16="http://schemas.microsoft.com/office/drawing/2014/main" id="{B8B94EC8-AF24-976E-619A-FFC6CC66B859}"/>
                </a:ext>
              </a:extLst>
            </p:cNvPr>
            <p:cNvSpPr/>
            <p:nvPr/>
          </p:nvSpPr>
          <p:spPr>
            <a:xfrm>
              <a:off x="1264024" y="5157231"/>
              <a:ext cx="9137277" cy="1153543"/>
            </a:xfrm>
            <a:prstGeom prst="rect">
              <a:avLst/>
            </a:prstGeom>
            <a:solidFill>
              <a:schemeClr val="bg2">
                <a:lumMod val="9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6B3C58F-4A6E-ECF5-B406-A8B821C84E87}"/>
                </a:ext>
              </a:extLst>
            </p:cNvPr>
            <p:cNvGrpSpPr/>
            <p:nvPr/>
          </p:nvGrpSpPr>
          <p:grpSpPr>
            <a:xfrm>
              <a:off x="7193067" y="5237632"/>
              <a:ext cx="2829505" cy="1077218"/>
              <a:chOff x="7788142" y="5707128"/>
              <a:chExt cx="2829505" cy="1077218"/>
            </a:xfrm>
          </p:grpSpPr>
          <p:sp>
            <p:nvSpPr>
              <p:cNvPr id="6" name="文本框 5">
                <a:extLst>
                  <a:ext uri="{FF2B5EF4-FFF2-40B4-BE49-F238E27FC236}">
                    <a16:creationId xmlns:a16="http://schemas.microsoft.com/office/drawing/2014/main" id="{CAF86939-3F84-9B1F-F612-E7719EDEE00E}"/>
                  </a:ext>
                </a:extLst>
              </p:cNvPr>
              <p:cNvSpPr txBox="1"/>
              <p:nvPr/>
            </p:nvSpPr>
            <p:spPr>
              <a:xfrm>
                <a:off x="7788142" y="5707128"/>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en-US" altLang="zh-CN" sz="1600" b="1" dirty="0"/>
                  <a:t>DNS</a:t>
                </a:r>
                <a:r>
                  <a:rPr lang="zh-CN" altLang="en-US" sz="1600" b="1" dirty="0"/>
                  <a:t>服务器：</a:t>
                </a:r>
              </a:p>
            </p:txBody>
          </p:sp>
          <p:sp>
            <p:nvSpPr>
              <p:cNvPr id="7" name="文本框 6">
                <a:extLst>
                  <a:ext uri="{FF2B5EF4-FFF2-40B4-BE49-F238E27FC236}">
                    <a16:creationId xmlns:a16="http://schemas.microsoft.com/office/drawing/2014/main" id="{A87C553F-1C96-D61E-79A9-23A525E55062}"/>
                  </a:ext>
                </a:extLst>
              </p:cNvPr>
              <p:cNvSpPr txBox="1"/>
              <p:nvPr/>
            </p:nvSpPr>
            <p:spPr>
              <a:xfrm>
                <a:off x="9064047" y="5707128"/>
                <a:ext cx="1553600" cy="1077218"/>
              </a:xfrm>
              <a:prstGeom prst="rect">
                <a:avLst/>
              </a:prstGeom>
              <a:noFill/>
            </p:spPr>
            <p:txBody>
              <a:bodyPr wrap="square" rtlCol="0">
                <a:spAutoFit/>
              </a:bodyPr>
              <a:lstStyle/>
              <a:p>
                <a:r>
                  <a:rPr lang="en-US" altLang="zh-CN" sz="1600" b="1" dirty="0"/>
                  <a:t>192.168.0.166</a:t>
                </a:r>
              </a:p>
              <a:p>
                <a:r>
                  <a:rPr lang="en-US" altLang="zh-CN" sz="1600" b="1" dirty="0"/>
                  <a:t>255.255.255.0</a:t>
                </a:r>
              </a:p>
              <a:p>
                <a:r>
                  <a:rPr lang="en-US" altLang="zh-CN" sz="1600" b="1" dirty="0"/>
                  <a:t>192.168.0.254</a:t>
                </a:r>
              </a:p>
              <a:p>
                <a:r>
                  <a:rPr lang="en-US" altLang="zh-CN" sz="1600" b="1" dirty="0"/>
                  <a:t>192.168.0.253</a:t>
                </a:r>
                <a:endParaRPr lang="zh-CN" altLang="en-US" sz="1600" b="1" dirty="0"/>
              </a:p>
            </p:txBody>
          </p:sp>
        </p:grpSp>
        <p:grpSp>
          <p:nvGrpSpPr>
            <p:cNvPr id="8" name="组合 7">
              <a:extLst>
                <a:ext uri="{FF2B5EF4-FFF2-40B4-BE49-F238E27FC236}">
                  <a16:creationId xmlns:a16="http://schemas.microsoft.com/office/drawing/2014/main" id="{3033E58F-DA2E-D0D1-A49C-93CE7F27C1BA}"/>
                </a:ext>
              </a:extLst>
            </p:cNvPr>
            <p:cNvGrpSpPr/>
            <p:nvPr/>
          </p:nvGrpSpPr>
          <p:grpSpPr>
            <a:xfrm>
              <a:off x="1972142" y="5237632"/>
              <a:ext cx="2829505" cy="1077218"/>
              <a:chOff x="7788142" y="5707128"/>
              <a:chExt cx="2829505" cy="1077218"/>
            </a:xfrm>
          </p:grpSpPr>
          <p:sp>
            <p:nvSpPr>
              <p:cNvPr id="29" name="文本框 28">
                <a:extLst>
                  <a:ext uri="{FF2B5EF4-FFF2-40B4-BE49-F238E27FC236}">
                    <a16:creationId xmlns:a16="http://schemas.microsoft.com/office/drawing/2014/main" id="{41C15D92-7B76-A508-73B7-B581BAC3F045}"/>
                  </a:ext>
                </a:extLst>
              </p:cNvPr>
              <p:cNvSpPr txBox="1"/>
              <p:nvPr/>
            </p:nvSpPr>
            <p:spPr>
              <a:xfrm>
                <a:off x="7788142" y="5707128"/>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en-US" altLang="zh-CN" sz="1600" b="1" dirty="0"/>
                  <a:t>DNS</a:t>
                </a:r>
                <a:r>
                  <a:rPr lang="zh-CN" altLang="en-US" sz="1600" b="1" dirty="0"/>
                  <a:t>服务器：</a:t>
                </a:r>
              </a:p>
            </p:txBody>
          </p:sp>
          <p:sp>
            <p:nvSpPr>
              <p:cNvPr id="30" name="文本框 29">
                <a:extLst>
                  <a:ext uri="{FF2B5EF4-FFF2-40B4-BE49-F238E27FC236}">
                    <a16:creationId xmlns:a16="http://schemas.microsoft.com/office/drawing/2014/main" id="{12C83BF2-6B33-D926-F85F-7999C1D8DF0B}"/>
                  </a:ext>
                </a:extLst>
              </p:cNvPr>
              <p:cNvSpPr txBox="1"/>
              <p:nvPr/>
            </p:nvSpPr>
            <p:spPr>
              <a:xfrm>
                <a:off x="9064047" y="5707128"/>
                <a:ext cx="1553600" cy="1077218"/>
              </a:xfrm>
              <a:prstGeom prst="rect">
                <a:avLst/>
              </a:prstGeom>
              <a:noFill/>
            </p:spPr>
            <p:txBody>
              <a:bodyPr wrap="square" rtlCol="0">
                <a:spAutoFit/>
              </a:bodyPr>
              <a:lstStyle/>
              <a:p>
                <a:r>
                  <a:rPr lang="en-US" altLang="zh-CN" sz="1600" b="1" dirty="0"/>
                  <a:t>192.168.0.1</a:t>
                </a:r>
              </a:p>
              <a:p>
                <a:r>
                  <a:rPr lang="en-US" altLang="zh-CN" sz="1600" b="1" dirty="0"/>
                  <a:t>255.255.255.0</a:t>
                </a:r>
              </a:p>
              <a:p>
                <a:r>
                  <a:rPr lang="en-US" altLang="zh-CN" sz="1600" b="1" dirty="0"/>
                  <a:t>192.168.0.254</a:t>
                </a:r>
              </a:p>
              <a:p>
                <a:r>
                  <a:rPr lang="en-US" altLang="zh-CN" sz="1600" b="1" dirty="0"/>
                  <a:t>192.168.0.253</a:t>
                </a:r>
                <a:endParaRPr lang="zh-CN" altLang="en-US" sz="1600" b="1" dirty="0"/>
              </a:p>
            </p:txBody>
          </p:sp>
        </p:grpSp>
        <p:sp>
          <p:nvSpPr>
            <p:cNvPr id="33" name="文本框 32">
              <a:extLst>
                <a:ext uri="{FF2B5EF4-FFF2-40B4-BE49-F238E27FC236}">
                  <a16:creationId xmlns:a16="http://schemas.microsoft.com/office/drawing/2014/main" id="{081B98A5-3ABD-895E-7C78-81966E734293}"/>
                </a:ext>
              </a:extLst>
            </p:cNvPr>
            <p:cNvSpPr txBox="1"/>
            <p:nvPr/>
          </p:nvSpPr>
          <p:spPr>
            <a:xfrm>
              <a:off x="2590629" y="4616180"/>
              <a:ext cx="1622898" cy="369332"/>
            </a:xfrm>
            <a:prstGeom prst="rect">
              <a:avLst/>
            </a:prstGeom>
            <a:noFill/>
          </p:spPr>
          <p:txBody>
            <a:bodyPr wrap="square" rtlCol="0">
              <a:spAutoFit/>
            </a:bodyPr>
            <a:lstStyle/>
            <a:p>
              <a:r>
                <a:rPr lang="zh-CN" altLang="en-US" b="1" dirty="0"/>
                <a:t>手动配置</a:t>
              </a:r>
            </a:p>
          </p:txBody>
        </p:sp>
        <p:grpSp>
          <p:nvGrpSpPr>
            <p:cNvPr id="119" name="组合 82"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0DF46240-113F-1648-7252-FEBEAADB032C}"/>
                </a:ext>
              </a:extLst>
            </p:cNvPr>
            <p:cNvGrpSpPr>
              <a:grpSpLocks noChangeAspect="1"/>
            </p:cNvGrpSpPr>
            <p:nvPr/>
          </p:nvGrpSpPr>
          <p:grpSpPr>
            <a:xfrm>
              <a:off x="1264024" y="4491973"/>
              <a:ext cx="1282564" cy="606862"/>
              <a:chOff x="3040062" y="1993935"/>
              <a:chExt cx="6065838" cy="2870130"/>
            </a:xfrm>
          </p:grpSpPr>
          <p:sp>
            <p:nvSpPr>
              <p:cNvPr id="120" name="ïśľidé">
                <a:extLst>
                  <a:ext uri="{FF2B5EF4-FFF2-40B4-BE49-F238E27FC236}">
                    <a16:creationId xmlns:a16="http://schemas.microsoft.com/office/drawing/2014/main" id="{3A9FEC25-C203-9FC3-6786-6F2C61F7978A}"/>
                  </a:ext>
                </a:extLst>
              </p:cNvPr>
              <p:cNvSpPr/>
              <p:nvPr/>
            </p:nvSpPr>
            <p:spPr bwMode="auto">
              <a:xfrm>
                <a:off x="3040062" y="1993935"/>
                <a:ext cx="6065838" cy="2870130"/>
              </a:xfrm>
              <a:custGeom>
                <a:avLst/>
                <a:gdLst>
                  <a:gd name="T0" fmla="*/ 547 w 568"/>
                  <a:gd name="T1" fmla="*/ 267 h 269"/>
                  <a:gd name="T2" fmla="*/ 22 w 568"/>
                  <a:gd name="T3" fmla="*/ 269 h 269"/>
                  <a:gd name="T4" fmla="*/ 1 w 568"/>
                  <a:gd name="T5" fmla="*/ 247 h 269"/>
                  <a:gd name="T6" fmla="*/ 0 w 568"/>
                  <a:gd name="T7" fmla="*/ 23 h 269"/>
                  <a:gd name="T8" fmla="*/ 21 w 568"/>
                  <a:gd name="T9" fmla="*/ 2 h 269"/>
                  <a:gd name="T10" fmla="*/ 546 w 568"/>
                  <a:gd name="T11" fmla="*/ 0 h 269"/>
                  <a:gd name="T12" fmla="*/ 567 w 568"/>
                  <a:gd name="T13" fmla="*/ 22 h 269"/>
                  <a:gd name="T14" fmla="*/ 568 w 568"/>
                  <a:gd name="T15" fmla="*/ 246 h 269"/>
                  <a:gd name="T16" fmla="*/ 547 w 568"/>
                  <a:gd name="T17" fmla="*/ 267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8" h="269">
                    <a:moveTo>
                      <a:pt x="547" y="267"/>
                    </a:moveTo>
                    <a:cubicBezTo>
                      <a:pt x="22" y="269"/>
                      <a:pt x="22" y="269"/>
                      <a:pt x="22" y="269"/>
                    </a:cubicBezTo>
                    <a:cubicBezTo>
                      <a:pt x="11" y="269"/>
                      <a:pt x="1" y="259"/>
                      <a:pt x="1" y="247"/>
                    </a:cubicBezTo>
                    <a:cubicBezTo>
                      <a:pt x="0" y="23"/>
                      <a:pt x="0" y="23"/>
                      <a:pt x="0" y="23"/>
                    </a:cubicBezTo>
                    <a:cubicBezTo>
                      <a:pt x="0" y="11"/>
                      <a:pt x="10" y="2"/>
                      <a:pt x="21" y="2"/>
                    </a:cubicBezTo>
                    <a:cubicBezTo>
                      <a:pt x="546" y="0"/>
                      <a:pt x="546" y="0"/>
                      <a:pt x="546" y="0"/>
                    </a:cubicBezTo>
                    <a:cubicBezTo>
                      <a:pt x="557" y="0"/>
                      <a:pt x="567" y="10"/>
                      <a:pt x="567" y="22"/>
                    </a:cubicBezTo>
                    <a:cubicBezTo>
                      <a:pt x="568" y="246"/>
                      <a:pt x="568" y="246"/>
                      <a:pt x="568" y="246"/>
                    </a:cubicBezTo>
                    <a:cubicBezTo>
                      <a:pt x="568" y="257"/>
                      <a:pt x="558" y="267"/>
                      <a:pt x="547" y="267"/>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1" name="íṡļiḍê">
                <a:extLst>
                  <a:ext uri="{FF2B5EF4-FFF2-40B4-BE49-F238E27FC236}">
                    <a16:creationId xmlns:a16="http://schemas.microsoft.com/office/drawing/2014/main" id="{E71B10B3-BEEC-E460-4C2A-92F973BD7E07}"/>
                  </a:ext>
                </a:extLst>
              </p:cNvPr>
              <p:cNvSpPr/>
              <p:nvPr/>
            </p:nvSpPr>
            <p:spPr bwMode="auto">
              <a:xfrm>
                <a:off x="3050080" y="4543492"/>
                <a:ext cx="6045802" cy="320573"/>
              </a:xfrm>
              <a:custGeom>
                <a:avLst/>
                <a:gdLst>
                  <a:gd name="T0" fmla="*/ 545 w 566"/>
                  <a:gd name="T1" fmla="*/ 12 h 30"/>
                  <a:gd name="T2" fmla="*/ 21 w 566"/>
                  <a:gd name="T3" fmla="*/ 13 h 30"/>
                  <a:gd name="T4" fmla="*/ 0 w 566"/>
                  <a:gd name="T5" fmla="*/ 1 h 30"/>
                  <a:gd name="T6" fmla="*/ 0 w 566"/>
                  <a:gd name="T7" fmla="*/ 4 h 30"/>
                  <a:gd name="T8" fmla="*/ 25 w 566"/>
                  <a:gd name="T9" fmla="*/ 30 h 30"/>
                  <a:gd name="T10" fmla="*/ 541 w 566"/>
                  <a:gd name="T11" fmla="*/ 28 h 30"/>
                  <a:gd name="T12" fmla="*/ 566 w 566"/>
                  <a:gd name="T13" fmla="*/ 3 h 30"/>
                  <a:gd name="T14" fmla="*/ 566 w 566"/>
                  <a:gd name="T15" fmla="*/ 0 h 30"/>
                  <a:gd name="T16" fmla="*/ 545 w 566"/>
                  <a:gd name="T17" fmla="*/ 1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6" h="30">
                    <a:moveTo>
                      <a:pt x="545" y="12"/>
                    </a:moveTo>
                    <a:cubicBezTo>
                      <a:pt x="21" y="13"/>
                      <a:pt x="21" y="13"/>
                      <a:pt x="21" y="13"/>
                    </a:cubicBezTo>
                    <a:cubicBezTo>
                      <a:pt x="12" y="13"/>
                      <a:pt x="4" y="9"/>
                      <a:pt x="0" y="1"/>
                    </a:cubicBezTo>
                    <a:cubicBezTo>
                      <a:pt x="0" y="4"/>
                      <a:pt x="0" y="4"/>
                      <a:pt x="0" y="4"/>
                    </a:cubicBezTo>
                    <a:cubicBezTo>
                      <a:pt x="0" y="18"/>
                      <a:pt x="11" y="30"/>
                      <a:pt x="25" y="30"/>
                    </a:cubicBezTo>
                    <a:cubicBezTo>
                      <a:pt x="541" y="28"/>
                      <a:pt x="541" y="28"/>
                      <a:pt x="541" y="28"/>
                    </a:cubicBezTo>
                    <a:cubicBezTo>
                      <a:pt x="555" y="28"/>
                      <a:pt x="566" y="17"/>
                      <a:pt x="566" y="3"/>
                    </a:cubicBezTo>
                    <a:cubicBezTo>
                      <a:pt x="566" y="0"/>
                      <a:pt x="566" y="0"/>
                      <a:pt x="566" y="0"/>
                    </a:cubicBezTo>
                    <a:cubicBezTo>
                      <a:pt x="562" y="7"/>
                      <a:pt x="554" y="12"/>
                      <a:pt x="545" y="12"/>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2" name="isḻïde">
                <a:extLst>
                  <a:ext uri="{FF2B5EF4-FFF2-40B4-BE49-F238E27FC236}">
                    <a16:creationId xmlns:a16="http://schemas.microsoft.com/office/drawing/2014/main" id="{9F90B3C2-BF40-263F-198B-78CD7D53C885}"/>
                  </a:ext>
                </a:extLst>
              </p:cNvPr>
              <p:cNvSpPr/>
              <p:nvPr/>
            </p:nvSpPr>
            <p:spPr bwMode="auto">
              <a:xfrm>
                <a:off x="3385681"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3" name="îSļîdê">
                <a:extLst>
                  <a:ext uri="{FF2B5EF4-FFF2-40B4-BE49-F238E27FC236}">
                    <a16:creationId xmlns:a16="http://schemas.microsoft.com/office/drawing/2014/main" id="{922D5849-4732-0665-F3BE-D507C4272C65}"/>
                  </a:ext>
                </a:extLst>
              </p:cNvPr>
              <p:cNvSpPr/>
              <p:nvPr/>
            </p:nvSpPr>
            <p:spPr bwMode="auto">
              <a:xfrm>
                <a:off x="3385681" y="2710216"/>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4" name="ïśḻiḍê">
                <a:extLst>
                  <a:ext uri="{FF2B5EF4-FFF2-40B4-BE49-F238E27FC236}">
                    <a16:creationId xmlns:a16="http://schemas.microsoft.com/office/drawing/2014/main" id="{703B0DFA-C494-CA66-63A8-EBA46234E5D8}"/>
                  </a:ext>
                </a:extLst>
              </p:cNvPr>
              <p:cNvSpPr/>
              <p:nvPr/>
            </p:nvSpPr>
            <p:spPr bwMode="auto">
              <a:xfrm>
                <a:off x="3766361" y="2710216"/>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5" name="ï$líďè">
                <a:extLst>
                  <a:ext uri="{FF2B5EF4-FFF2-40B4-BE49-F238E27FC236}">
                    <a16:creationId xmlns:a16="http://schemas.microsoft.com/office/drawing/2014/main" id="{D48346D3-C44C-D8E7-AAF1-5B003BF844B7}"/>
                  </a:ext>
                </a:extLst>
              </p:cNvPr>
              <p:cNvSpPr/>
              <p:nvPr/>
            </p:nvSpPr>
            <p:spPr bwMode="auto">
              <a:xfrm>
                <a:off x="4142031" y="2710216"/>
                <a:ext cx="330591" cy="330591"/>
              </a:xfrm>
              <a:custGeom>
                <a:avLst/>
                <a:gdLst>
                  <a:gd name="T0" fmla="*/ 66 w 66"/>
                  <a:gd name="T1" fmla="*/ 63 h 66"/>
                  <a:gd name="T2" fmla="*/ 0 w 66"/>
                  <a:gd name="T3" fmla="*/ 66 h 66"/>
                  <a:gd name="T4" fmla="*/ 0 w 66"/>
                  <a:gd name="T5" fmla="*/ 0 h 66"/>
                  <a:gd name="T6" fmla="*/ 66 w 66"/>
                  <a:gd name="T7" fmla="*/ 0 h 66"/>
                  <a:gd name="T8" fmla="*/ 66 w 66"/>
                  <a:gd name="T9" fmla="*/ 63 h 66"/>
                </a:gdLst>
                <a:ahLst/>
                <a:cxnLst>
                  <a:cxn ang="0">
                    <a:pos x="T0" y="T1"/>
                  </a:cxn>
                  <a:cxn ang="0">
                    <a:pos x="T2" y="T3"/>
                  </a:cxn>
                  <a:cxn ang="0">
                    <a:pos x="T4" y="T5"/>
                  </a:cxn>
                  <a:cxn ang="0">
                    <a:pos x="T6" y="T7"/>
                  </a:cxn>
                  <a:cxn ang="0">
                    <a:pos x="T8" y="T9"/>
                  </a:cxn>
                </a:cxnLst>
                <a:rect l="0" t="0" r="r" b="b"/>
                <a:pathLst>
                  <a:path w="66" h="66">
                    <a:moveTo>
                      <a:pt x="66" y="63"/>
                    </a:moveTo>
                    <a:lnTo>
                      <a:pt x="0" y="66"/>
                    </a:lnTo>
                    <a:lnTo>
                      <a:pt x="0" y="0"/>
                    </a:lnTo>
                    <a:lnTo>
                      <a:pt x="66" y="0"/>
                    </a:lnTo>
                    <a:lnTo>
                      <a:pt x="66" y="6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6" name="iṧḷïde">
                <a:extLst>
                  <a:ext uri="{FF2B5EF4-FFF2-40B4-BE49-F238E27FC236}">
                    <a16:creationId xmlns:a16="http://schemas.microsoft.com/office/drawing/2014/main" id="{993BF1D5-4405-E198-A22B-6C46D3EF8E34}"/>
                  </a:ext>
                </a:extLst>
              </p:cNvPr>
              <p:cNvSpPr/>
              <p:nvPr/>
            </p:nvSpPr>
            <p:spPr bwMode="auto">
              <a:xfrm>
                <a:off x="4527722" y="2695188"/>
                <a:ext cx="330591" cy="330591"/>
              </a:xfrm>
              <a:custGeom>
                <a:avLst/>
                <a:gdLst>
                  <a:gd name="T0" fmla="*/ 66 w 66"/>
                  <a:gd name="T1" fmla="*/ 66 h 66"/>
                  <a:gd name="T2" fmla="*/ 0 w 66"/>
                  <a:gd name="T3" fmla="*/ 66 h 66"/>
                  <a:gd name="T4" fmla="*/ 0 w 66"/>
                  <a:gd name="T5" fmla="*/ 3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3"/>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7" name="íŝľîḑê">
                <a:extLst>
                  <a:ext uri="{FF2B5EF4-FFF2-40B4-BE49-F238E27FC236}">
                    <a16:creationId xmlns:a16="http://schemas.microsoft.com/office/drawing/2014/main" id="{EA504BDA-7E42-7109-A7A0-DDC040556AA9}"/>
                  </a:ext>
                </a:extLst>
              </p:cNvPr>
              <p:cNvSpPr/>
              <p:nvPr/>
            </p:nvSpPr>
            <p:spPr bwMode="auto">
              <a:xfrm>
                <a:off x="4898384"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8" name="íslíde">
                <a:extLst>
                  <a:ext uri="{FF2B5EF4-FFF2-40B4-BE49-F238E27FC236}">
                    <a16:creationId xmlns:a16="http://schemas.microsoft.com/office/drawing/2014/main" id="{DA6FC29C-C268-16E6-AD2E-8C704E6FB35A}"/>
                  </a:ext>
                </a:extLst>
              </p:cNvPr>
              <p:cNvSpPr/>
              <p:nvPr/>
            </p:nvSpPr>
            <p:spPr bwMode="auto">
              <a:xfrm>
                <a:off x="5284072"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29" name="i$lîdê">
                <a:extLst>
                  <a:ext uri="{FF2B5EF4-FFF2-40B4-BE49-F238E27FC236}">
                    <a16:creationId xmlns:a16="http://schemas.microsoft.com/office/drawing/2014/main" id="{F84F3538-C48B-1FDD-4095-8A59CF6741CA}"/>
                  </a:ext>
                </a:extLst>
              </p:cNvPr>
              <p:cNvSpPr/>
              <p:nvPr/>
            </p:nvSpPr>
            <p:spPr bwMode="auto">
              <a:xfrm>
                <a:off x="5659745"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0" name="îSḻïḋe">
                <a:extLst>
                  <a:ext uri="{FF2B5EF4-FFF2-40B4-BE49-F238E27FC236}">
                    <a16:creationId xmlns:a16="http://schemas.microsoft.com/office/drawing/2014/main" id="{8428B3A8-106E-0795-54C3-DB3B85CA04DE}"/>
                  </a:ext>
                </a:extLst>
              </p:cNvPr>
              <p:cNvSpPr/>
              <p:nvPr/>
            </p:nvSpPr>
            <p:spPr bwMode="auto">
              <a:xfrm>
                <a:off x="6040425"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1" name="îŝ1îḓè">
                <a:extLst>
                  <a:ext uri="{FF2B5EF4-FFF2-40B4-BE49-F238E27FC236}">
                    <a16:creationId xmlns:a16="http://schemas.microsoft.com/office/drawing/2014/main" id="{7E26550B-D3A5-4E85-87B4-C42922C4AA81}"/>
                  </a:ext>
                </a:extLst>
              </p:cNvPr>
              <p:cNvSpPr/>
              <p:nvPr/>
            </p:nvSpPr>
            <p:spPr bwMode="auto">
              <a:xfrm>
                <a:off x="6416095"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2" name="íṧḻídè">
                <a:extLst>
                  <a:ext uri="{FF2B5EF4-FFF2-40B4-BE49-F238E27FC236}">
                    <a16:creationId xmlns:a16="http://schemas.microsoft.com/office/drawing/2014/main" id="{8D1EA566-355F-D7B8-B5AC-C275D16D4807}"/>
                  </a:ext>
                </a:extLst>
              </p:cNvPr>
              <p:cNvSpPr/>
              <p:nvPr/>
            </p:nvSpPr>
            <p:spPr bwMode="auto">
              <a:xfrm>
                <a:off x="6801786"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3" name="íśḷiďè">
                <a:extLst>
                  <a:ext uri="{FF2B5EF4-FFF2-40B4-BE49-F238E27FC236}">
                    <a16:creationId xmlns:a16="http://schemas.microsoft.com/office/drawing/2014/main" id="{32F1F932-C424-4219-D697-721D701F1BF3}"/>
                  </a:ext>
                </a:extLst>
              </p:cNvPr>
              <p:cNvSpPr/>
              <p:nvPr/>
            </p:nvSpPr>
            <p:spPr bwMode="auto">
              <a:xfrm>
                <a:off x="7172448"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4" name="îṩ1íḍê">
                <a:extLst>
                  <a:ext uri="{FF2B5EF4-FFF2-40B4-BE49-F238E27FC236}">
                    <a16:creationId xmlns:a16="http://schemas.microsoft.com/office/drawing/2014/main" id="{902456ED-4BC8-D3A5-95F6-A8632FA62DC3}"/>
                  </a:ext>
                </a:extLst>
              </p:cNvPr>
              <p:cNvSpPr/>
              <p:nvPr/>
            </p:nvSpPr>
            <p:spPr bwMode="auto">
              <a:xfrm>
                <a:off x="7558136" y="2695188"/>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5" name="iŝļïḋe">
                <a:extLst>
                  <a:ext uri="{FF2B5EF4-FFF2-40B4-BE49-F238E27FC236}">
                    <a16:creationId xmlns:a16="http://schemas.microsoft.com/office/drawing/2014/main" id="{9AF1B0CB-A4FA-680A-DB52-51E65A910FA4}"/>
                  </a:ext>
                </a:extLst>
              </p:cNvPr>
              <p:cNvSpPr/>
              <p:nvPr/>
            </p:nvSpPr>
            <p:spPr bwMode="auto">
              <a:xfrm>
                <a:off x="7933809" y="2685170"/>
                <a:ext cx="330591" cy="340609"/>
              </a:xfrm>
              <a:custGeom>
                <a:avLst/>
                <a:gdLst>
                  <a:gd name="T0" fmla="*/ 66 w 66"/>
                  <a:gd name="T1" fmla="*/ 66 h 68"/>
                  <a:gd name="T2" fmla="*/ 0 w 66"/>
                  <a:gd name="T3" fmla="*/ 68 h 68"/>
                  <a:gd name="T4" fmla="*/ 0 w 66"/>
                  <a:gd name="T5" fmla="*/ 2 h 68"/>
                  <a:gd name="T6" fmla="*/ 66 w 66"/>
                  <a:gd name="T7" fmla="*/ 0 h 68"/>
                  <a:gd name="T8" fmla="*/ 66 w 66"/>
                  <a:gd name="T9" fmla="*/ 66 h 68"/>
                </a:gdLst>
                <a:ahLst/>
                <a:cxnLst>
                  <a:cxn ang="0">
                    <a:pos x="T0" y="T1"/>
                  </a:cxn>
                  <a:cxn ang="0">
                    <a:pos x="T2" y="T3"/>
                  </a:cxn>
                  <a:cxn ang="0">
                    <a:pos x="T4" y="T5"/>
                  </a:cxn>
                  <a:cxn ang="0">
                    <a:pos x="T6" y="T7"/>
                  </a:cxn>
                  <a:cxn ang="0">
                    <a:pos x="T8" y="T9"/>
                  </a:cxn>
                </a:cxnLst>
                <a:rect l="0" t="0" r="r" b="b"/>
                <a:pathLst>
                  <a:path w="66" h="68">
                    <a:moveTo>
                      <a:pt x="66" y="66"/>
                    </a:moveTo>
                    <a:lnTo>
                      <a:pt x="0" y="68"/>
                    </a:lnTo>
                    <a:lnTo>
                      <a:pt x="0" y="2"/>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6" name="iṣľídê">
                <a:extLst>
                  <a:ext uri="{FF2B5EF4-FFF2-40B4-BE49-F238E27FC236}">
                    <a16:creationId xmlns:a16="http://schemas.microsoft.com/office/drawing/2014/main" id="{CE03F083-A12E-CCDF-C92F-6E2430F4F553}"/>
                  </a:ext>
                </a:extLst>
              </p:cNvPr>
              <p:cNvSpPr/>
              <p:nvPr/>
            </p:nvSpPr>
            <p:spPr bwMode="auto">
              <a:xfrm>
                <a:off x="3876558"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7" name="îṧľiďè">
                <a:extLst>
                  <a:ext uri="{FF2B5EF4-FFF2-40B4-BE49-F238E27FC236}">
                    <a16:creationId xmlns:a16="http://schemas.microsoft.com/office/drawing/2014/main" id="{4CAA470F-47EE-E9CD-83BA-1302BC2FFC25}"/>
                  </a:ext>
                </a:extLst>
              </p:cNvPr>
              <p:cNvSpPr/>
              <p:nvPr/>
            </p:nvSpPr>
            <p:spPr bwMode="auto">
              <a:xfrm>
                <a:off x="4247221"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8" name="iṥ1ïdê">
                <a:extLst>
                  <a:ext uri="{FF2B5EF4-FFF2-40B4-BE49-F238E27FC236}">
                    <a16:creationId xmlns:a16="http://schemas.microsoft.com/office/drawing/2014/main" id="{E1D9C0DD-ADF8-0E6F-E458-20FB55590B2D}"/>
                  </a:ext>
                </a:extLst>
              </p:cNvPr>
              <p:cNvSpPr/>
              <p:nvPr/>
            </p:nvSpPr>
            <p:spPr bwMode="auto">
              <a:xfrm>
                <a:off x="4632908"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39" name="iṥlîḋê">
                <a:extLst>
                  <a:ext uri="{FF2B5EF4-FFF2-40B4-BE49-F238E27FC236}">
                    <a16:creationId xmlns:a16="http://schemas.microsoft.com/office/drawing/2014/main" id="{DBF8E1D5-7378-0434-AF6B-F9E305EE2C9A}"/>
                  </a:ext>
                </a:extLst>
              </p:cNvPr>
              <p:cNvSpPr/>
              <p:nvPr/>
            </p:nvSpPr>
            <p:spPr bwMode="auto">
              <a:xfrm>
                <a:off x="5008581"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0" name="iślíḑê">
                <a:extLst>
                  <a:ext uri="{FF2B5EF4-FFF2-40B4-BE49-F238E27FC236}">
                    <a16:creationId xmlns:a16="http://schemas.microsoft.com/office/drawing/2014/main" id="{544CFE2D-1538-2B07-51AD-407D2577F69F}"/>
                  </a:ext>
                </a:extLst>
              </p:cNvPr>
              <p:cNvSpPr/>
              <p:nvPr/>
            </p:nvSpPr>
            <p:spPr bwMode="auto">
              <a:xfrm>
                <a:off x="5389262"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1" name="îṣļïḋè">
                <a:extLst>
                  <a:ext uri="{FF2B5EF4-FFF2-40B4-BE49-F238E27FC236}">
                    <a16:creationId xmlns:a16="http://schemas.microsoft.com/office/drawing/2014/main" id="{E3A3FE7F-88A1-30FE-FE6D-A9099F3B61CF}"/>
                  </a:ext>
                </a:extLst>
              </p:cNvPr>
              <p:cNvSpPr/>
              <p:nvPr/>
            </p:nvSpPr>
            <p:spPr bwMode="auto">
              <a:xfrm>
                <a:off x="5764931"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2" name="ïslïḍe">
                <a:extLst>
                  <a:ext uri="{FF2B5EF4-FFF2-40B4-BE49-F238E27FC236}">
                    <a16:creationId xmlns:a16="http://schemas.microsoft.com/office/drawing/2014/main" id="{9BE805AB-6E70-FAC9-B0CF-E38A3550AC06}"/>
                  </a:ext>
                </a:extLst>
              </p:cNvPr>
              <p:cNvSpPr/>
              <p:nvPr/>
            </p:nvSpPr>
            <p:spPr bwMode="auto">
              <a:xfrm>
                <a:off x="6150622"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3" name="ïṥļîḋê">
                <a:extLst>
                  <a:ext uri="{FF2B5EF4-FFF2-40B4-BE49-F238E27FC236}">
                    <a16:creationId xmlns:a16="http://schemas.microsoft.com/office/drawing/2014/main" id="{3D15563B-CF85-0D2D-19B8-DC80DA58D52E}"/>
                  </a:ext>
                </a:extLst>
              </p:cNvPr>
              <p:cNvSpPr/>
              <p:nvPr/>
            </p:nvSpPr>
            <p:spPr bwMode="auto">
              <a:xfrm>
                <a:off x="6521284" y="307086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4" name="îSḷïḓé">
                <a:extLst>
                  <a:ext uri="{FF2B5EF4-FFF2-40B4-BE49-F238E27FC236}">
                    <a16:creationId xmlns:a16="http://schemas.microsoft.com/office/drawing/2014/main" id="{7F51A34A-69E5-2830-EEFE-BFA605648850}"/>
                  </a:ext>
                </a:extLst>
              </p:cNvPr>
              <p:cNvSpPr/>
              <p:nvPr/>
            </p:nvSpPr>
            <p:spPr bwMode="auto">
              <a:xfrm>
                <a:off x="6906972" y="3060843"/>
                <a:ext cx="330591" cy="330591"/>
              </a:xfrm>
              <a:custGeom>
                <a:avLst/>
                <a:gdLst>
                  <a:gd name="T0" fmla="*/ 66 w 66"/>
                  <a:gd name="T1" fmla="*/ 66 h 66"/>
                  <a:gd name="T2" fmla="*/ 0 w 66"/>
                  <a:gd name="T3" fmla="*/ 66 h 66"/>
                  <a:gd name="T4" fmla="*/ 0 w 66"/>
                  <a:gd name="T5" fmla="*/ 2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2"/>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45" name="ïṣľîḋê">
                <a:extLst>
                  <a:ext uri="{FF2B5EF4-FFF2-40B4-BE49-F238E27FC236}">
                    <a16:creationId xmlns:a16="http://schemas.microsoft.com/office/drawing/2014/main" id="{D1EEC8C4-C73F-BDDF-B704-914A3C9B8318}"/>
                  </a:ext>
                </a:extLst>
              </p:cNvPr>
              <p:cNvSpPr/>
              <p:nvPr/>
            </p:nvSpPr>
            <p:spPr bwMode="auto">
              <a:xfrm>
                <a:off x="7282645"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6" name="îṡlîḍè">
                <a:extLst>
                  <a:ext uri="{FF2B5EF4-FFF2-40B4-BE49-F238E27FC236}">
                    <a16:creationId xmlns:a16="http://schemas.microsoft.com/office/drawing/2014/main" id="{76F3E0A9-6F76-FB35-462D-71FE47AD8920}"/>
                  </a:ext>
                </a:extLst>
              </p:cNvPr>
              <p:cNvSpPr/>
              <p:nvPr/>
            </p:nvSpPr>
            <p:spPr bwMode="auto">
              <a:xfrm>
                <a:off x="7663325"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7" name="ïślîdê">
                <a:extLst>
                  <a:ext uri="{FF2B5EF4-FFF2-40B4-BE49-F238E27FC236}">
                    <a16:creationId xmlns:a16="http://schemas.microsoft.com/office/drawing/2014/main" id="{08640E28-CE89-6BB4-7EA7-BC59F5500888}"/>
                  </a:ext>
                </a:extLst>
              </p:cNvPr>
              <p:cNvSpPr/>
              <p:nvPr/>
            </p:nvSpPr>
            <p:spPr bwMode="auto">
              <a:xfrm>
                <a:off x="8038995"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8" name="îṡ1iḑê">
                <a:extLst>
                  <a:ext uri="{FF2B5EF4-FFF2-40B4-BE49-F238E27FC236}">
                    <a16:creationId xmlns:a16="http://schemas.microsoft.com/office/drawing/2014/main" id="{2F69B5A3-079C-7022-874D-368F57981409}"/>
                  </a:ext>
                </a:extLst>
              </p:cNvPr>
              <p:cNvSpPr/>
              <p:nvPr/>
            </p:nvSpPr>
            <p:spPr bwMode="auto">
              <a:xfrm>
                <a:off x="8424686" y="3060843"/>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49" name="íś1îḓè">
                <a:extLst>
                  <a:ext uri="{FF2B5EF4-FFF2-40B4-BE49-F238E27FC236}">
                    <a16:creationId xmlns:a16="http://schemas.microsoft.com/office/drawing/2014/main" id="{277E0920-B7C0-233C-D825-19E03BB39105}"/>
                  </a:ext>
                </a:extLst>
              </p:cNvPr>
              <p:cNvSpPr/>
              <p:nvPr/>
            </p:nvSpPr>
            <p:spPr bwMode="auto">
              <a:xfrm>
                <a:off x="4046863" y="344653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0" name="išḻïďé">
                <a:extLst>
                  <a:ext uri="{FF2B5EF4-FFF2-40B4-BE49-F238E27FC236}">
                    <a16:creationId xmlns:a16="http://schemas.microsoft.com/office/drawing/2014/main" id="{0D01C55B-5FB5-5E1A-5776-D77B45160BA0}"/>
                  </a:ext>
                </a:extLst>
              </p:cNvPr>
              <p:cNvSpPr/>
              <p:nvPr/>
            </p:nvSpPr>
            <p:spPr bwMode="auto">
              <a:xfrm>
                <a:off x="4417525" y="344653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1" name="isḻíḋe">
                <a:extLst>
                  <a:ext uri="{FF2B5EF4-FFF2-40B4-BE49-F238E27FC236}">
                    <a16:creationId xmlns:a16="http://schemas.microsoft.com/office/drawing/2014/main" id="{24696E48-0896-461A-D52B-A2ED6965367F}"/>
                  </a:ext>
                </a:extLst>
              </p:cNvPr>
              <p:cNvSpPr/>
              <p:nvPr/>
            </p:nvSpPr>
            <p:spPr bwMode="auto">
              <a:xfrm>
                <a:off x="4803213" y="3446531"/>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2" name="ïṡliďê">
                <a:extLst>
                  <a:ext uri="{FF2B5EF4-FFF2-40B4-BE49-F238E27FC236}">
                    <a16:creationId xmlns:a16="http://schemas.microsoft.com/office/drawing/2014/main" id="{96C2C637-DBE9-EA76-AE74-A3CD3C4D4FD7}"/>
                  </a:ext>
                </a:extLst>
              </p:cNvPr>
              <p:cNvSpPr/>
              <p:nvPr/>
            </p:nvSpPr>
            <p:spPr bwMode="auto">
              <a:xfrm>
                <a:off x="5178886" y="3446531"/>
                <a:ext cx="330591" cy="330591"/>
              </a:xfrm>
              <a:custGeom>
                <a:avLst/>
                <a:gdLst>
                  <a:gd name="T0" fmla="*/ 66 w 66"/>
                  <a:gd name="T1" fmla="*/ 66 h 66"/>
                  <a:gd name="T2" fmla="*/ 2 w 66"/>
                  <a:gd name="T3" fmla="*/ 66 h 66"/>
                  <a:gd name="T4" fmla="*/ 0 w 66"/>
                  <a:gd name="T5" fmla="*/ 0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2" y="66"/>
                    </a:lnTo>
                    <a:lnTo>
                      <a:pt x="0" y="0"/>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3" name="îşḻïdè">
                <a:extLst>
                  <a:ext uri="{FF2B5EF4-FFF2-40B4-BE49-F238E27FC236}">
                    <a16:creationId xmlns:a16="http://schemas.microsoft.com/office/drawing/2014/main" id="{79BC5C5E-0A69-B90D-B266-5BACB9B59ADA}"/>
                  </a:ext>
                </a:extLst>
              </p:cNvPr>
              <p:cNvSpPr/>
              <p:nvPr/>
            </p:nvSpPr>
            <p:spPr bwMode="auto">
              <a:xfrm>
                <a:off x="5559566" y="3446531"/>
                <a:ext cx="330591" cy="330591"/>
              </a:xfrm>
              <a:custGeom>
                <a:avLst/>
                <a:gdLst>
                  <a:gd name="T0" fmla="*/ 66 w 66"/>
                  <a:gd name="T1" fmla="*/ 63 h 66"/>
                  <a:gd name="T2" fmla="*/ 0 w 66"/>
                  <a:gd name="T3" fmla="*/ 66 h 66"/>
                  <a:gd name="T4" fmla="*/ 0 w 66"/>
                  <a:gd name="T5" fmla="*/ 0 h 66"/>
                  <a:gd name="T6" fmla="*/ 66 w 66"/>
                  <a:gd name="T7" fmla="*/ 0 h 66"/>
                  <a:gd name="T8" fmla="*/ 66 w 66"/>
                  <a:gd name="T9" fmla="*/ 63 h 66"/>
                </a:gdLst>
                <a:ahLst/>
                <a:cxnLst>
                  <a:cxn ang="0">
                    <a:pos x="T0" y="T1"/>
                  </a:cxn>
                  <a:cxn ang="0">
                    <a:pos x="T2" y="T3"/>
                  </a:cxn>
                  <a:cxn ang="0">
                    <a:pos x="T4" y="T5"/>
                  </a:cxn>
                  <a:cxn ang="0">
                    <a:pos x="T6" y="T7"/>
                  </a:cxn>
                  <a:cxn ang="0">
                    <a:pos x="T8" y="T9"/>
                  </a:cxn>
                </a:cxnLst>
                <a:rect l="0" t="0" r="r" b="b"/>
                <a:pathLst>
                  <a:path w="66" h="66">
                    <a:moveTo>
                      <a:pt x="66" y="63"/>
                    </a:moveTo>
                    <a:lnTo>
                      <a:pt x="0" y="66"/>
                    </a:lnTo>
                    <a:lnTo>
                      <a:pt x="0" y="0"/>
                    </a:lnTo>
                    <a:lnTo>
                      <a:pt x="66" y="0"/>
                    </a:lnTo>
                    <a:lnTo>
                      <a:pt x="66" y="6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4" name="îṧ1îḍê">
                <a:extLst>
                  <a:ext uri="{FF2B5EF4-FFF2-40B4-BE49-F238E27FC236}">
                    <a16:creationId xmlns:a16="http://schemas.microsoft.com/office/drawing/2014/main" id="{EDC3B269-D736-762C-4983-40D54939B2C3}"/>
                  </a:ext>
                </a:extLst>
              </p:cNvPr>
              <p:cNvSpPr/>
              <p:nvPr/>
            </p:nvSpPr>
            <p:spPr bwMode="auto">
              <a:xfrm>
                <a:off x="5935236" y="3431505"/>
                <a:ext cx="340609" cy="330591"/>
              </a:xfrm>
              <a:custGeom>
                <a:avLst/>
                <a:gdLst>
                  <a:gd name="T0" fmla="*/ 68 w 68"/>
                  <a:gd name="T1" fmla="*/ 66 h 66"/>
                  <a:gd name="T2" fmla="*/ 2 w 68"/>
                  <a:gd name="T3" fmla="*/ 66 h 66"/>
                  <a:gd name="T4" fmla="*/ 0 w 68"/>
                  <a:gd name="T5" fmla="*/ 3 h 66"/>
                  <a:gd name="T6" fmla="*/ 66 w 68"/>
                  <a:gd name="T7" fmla="*/ 0 h 66"/>
                  <a:gd name="T8" fmla="*/ 68 w 68"/>
                  <a:gd name="T9" fmla="*/ 66 h 66"/>
                </a:gdLst>
                <a:ahLst/>
                <a:cxnLst>
                  <a:cxn ang="0">
                    <a:pos x="T0" y="T1"/>
                  </a:cxn>
                  <a:cxn ang="0">
                    <a:pos x="T2" y="T3"/>
                  </a:cxn>
                  <a:cxn ang="0">
                    <a:pos x="T4" y="T5"/>
                  </a:cxn>
                  <a:cxn ang="0">
                    <a:pos x="T6" y="T7"/>
                  </a:cxn>
                  <a:cxn ang="0">
                    <a:pos x="T8" y="T9"/>
                  </a:cxn>
                </a:cxnLst>
                <a:rect l="0" t="0" r="r" b="b"/>
                <a:pathLst>
                  <a:path w="68" h="66">
                    <a:moveTo>
                      <a:pt x="68" y="66"/>
                    </a:moveTo>
                    <a:lnTo>
                      <a:pt x="2" y="66"/>
                    </a:lnTo>
                    <a:lnTo>
                      <a:pt x="0" y="3"/>
                    </a:lnTo>
                    <a:lnTo>
                      <a:pt x="66" y="0"/>
                    </a:lnTo>
                    <a:lnTo>
                      <a:pt x="68"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5" name="ïSḷîḋè">
                <a:extLst>
                  <a:ext uri="{FF2B5EF4-FFF2-40B4-BE49-F238E27FC236}">
                    <a16:creationId xmlns:a16="http://schemas.microsoft.com/office/drawing/2014/main" id="{CCC349EE-A364-7DA3-6664-74C7CF95364A}"/>
                  </a:ext>
                </a:extLst>
              </p:cNvPr>
              <p:cNvSpPr/>
              <p:nvPr/>
            </p:nvSpPr>
            <p:spPr bwMode="auto">
              <a:xfrm>
                <a:off x="6320926" y="343150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6" name="íšlîḑê">
                <a:extLst>
                  <a:ext uri="{FF2B5EF4-FFF2-40B4-BE49-F238E27FC236}">
                    <a16:creationId xmlns:a16="http://schemas.microsoft.com/office/drawing/2014/main" id="{0CE3DCD9-EBB6-0CF0-919E-EBE87601AF9E}"/>
                  </a:ext>
                </a:extLst>
              </p:cNvPr>
              <p:cNvSpPr/>
              <p:nvPr/>
            </p:nvSpPr>
            <p:spPr bwMode="auto">
              <a:xfrm>
                <a:off x="6706614" y="3431505"/>
                <a:ext cx="330591" cy="330591"/>
              </a:xfrm>
              <a:custGeom>
                <a:avLst/>
                <a:gdLst>
                  <a:gd name="T0" fmla="*/ 66 w 66"/>
                  <a:gd name="T1" fmla="*/ 66 h 66"/>
                  <a:gd name="T2" fmla="*/ 0 w 66"/>
                  <a:gd name="T3" fmla="*/ 66 h 66"/>
                  <a:gd name="T4" fmla="*/ 0 w 66"/>
                  <a:gd name="T5" fmla="*/ 0 h 66"/>
                  <a:gd name="T6" fmla="*/ 63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0"/>
                    </a:lnTo>
                    <a:lnTo>
                      <a:pt x="63"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7" name="ïśliḋe">
                <a:extLst>
                  <a:ext uri="{FF2B5EF4-FFF2-40B4-BE49-F238E27FC236}">
                    <a16:creationId xmlns:a16="http://schemas.microsoft.com/office/drawing/2014/main" id="{66DB117D-CD40-8499-E2E9-8A230B5D2290}"/>
                  </a:ext>
                </a:extLst>
              </p:cNvPr>
              <p:cNvSpPr/>
              <p:nvPr/>
            </p:nvSpPr>
            <p:spPr bwMode="auto">
              <a:xfrm>
                <a:off x="7077276" y="343150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8" name="îSľiďê">
                <a:extLst>
                  <a:ext uri="{FF2B5EF4-FFF2-40B4-BE49-F238E27FC236}">
                    <a16:creationId xmlns:a16="http://schemas.microsoft.com/office/drawing/2014/main" id="{51EA08EB-C2F5-C524-1CEB-3DBA777CF1A3}"/>
                  </a:ext>
                </a:extLst>
              </p:cNvPr>
              <p:cNvSpPr/>
              <p:nvPr/>
            </p:nvSpPr>
            <p:spPr bwMode="auto">
              <a:xfrm>
                <a:off x="7462967" y="343150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59" name="îṩḷîḍe">
                <a:extLst>
                  <a:ext uri="{FF2B5EF4-FFF2-40B4-BE49-F238E27FC236}">
                    <a16:creationId xmlns:a16="http://schemas.microsoft.com/office/drawing/2014/main" id="{D9063C92-A60B-538D-9564-222B87E6A8CC}"/>
                  </a:ext>
                </a:extLst>
              </p:cNvPr>
              <p:cNvSpPr/>
              <p:nvPr/>
            </p:nvSpPr>
            <p:spPr bwMode="auto">
              <a:xfrm>
                <a:off x="7833630" y="3431505"/>
                <a:ext cx="335598"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0" name="îṥḷïḑe">
                <a:extLst>
                  <a:ext uri="{FF2B5EF4-FFF2-40B4-BE49-F238E27FC236}">
                    <a16:creationId xmlns:a16="http://schemas.microsoft.com/office/drawing/2014/main" id="{DE6996E0-625B-43B8-D011-20DB872406C7}"/>
                  </a:ext>
                </a:extLst>
              </p:cNvPr>
              <p:cNvSpPr/>
              <p:nvPr/>
            </p:nvSpPr>
            <p:spPr bwMode="auto">
              <a:xfrm>
                <a:off x="4207149" y="3817193"/>
                <a:ext cx="330591" cy="330591"/>
              </a:xfrm>
              <a:custGeom>
                <a:avLst/>
                <a:gdLst>
                  <a:gd name="T0" fmla="*/ 66 w 66"/>
                  <a:gd name="T1" fmla="*/ 66 h 66"/>
                  <a:gd name="T2" fmla="*/ 2 w 66"/>
                  <a:gd name="T3" fmla="*/ 66 h 66"/>
                  <a:gd name="T4" fmla="*/ 0 w 66"/>
                  <a:gd name="T5" fmla="*/ 0 h 66"/>
                  <a:gd name="T6" fmla="*/ 66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2" y="66"/>
                    </a:lnTo>
                    <a:lnTo>
                      <a:pt x="0" y="0"/>
                    </a:lnTo>
                    <a:lnTo>
                      <a:pt x="66"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1" name="í$1ïḓe">
                <a:extLst>
                  <a:ext uri="{FF2B5EF4-FFF2-40B4-BE49-F238E27FC236}">
                    <a16:creationId xmlns:a16="http://schemas.microsoft.com/office/drawing/2014/main" id="{79C98D4F-7E05-0F4F-99B4-6F0B8B461AC7}"/>
                  </a:ext>
                </a:extLst>
              </p:cNvPr>
              <p:cNvSpPr/>
              <p:nvPr/>
            </p:nvSpPr>
            <p:spPr bwMode="auto">
              <a:xfrm>
                <a:off x="4587829" y="3817193"/>
                <a:ext cx="330591" cy="330591"/>
              </a:xfrm>
              <a:custGeom>
                <a:avLst/>
                <a:gdLst>
                  <a:gd name="T0" fmla="*/ 66 w 66"/>
                  <a:gd name="T1" fmla="*/ 64 h 66"/>
                  <a:gd name="T2" fmla="*/ 0 w 66"/>
                  <a:gd name="T3" fmla="*/ 66 h 66"/>
                  <a:gd name="T4" fmla="*/ 0 w 66"/>
                  <a:gd name="T5" fmla="*/ 0 h 66"/>
                  <a:gd name="T6" fmla="*/ 66 w 66"/>
                  <a:gd name="T7" fmla="*/ 0 h 66"/>
                  <a:gd name="T8" fmla="*/ 66 w 66"/>
                  <a:gd name="T9" fmla="*/ 64 h 66"/>
                </a:gdLst>
                <a:ahLst/>
                <a:cxnLst>
                  <a:cxn ang="0">
                    <a:pos x="T0" y="T1"/>
                  </a:cxn>
                  <a:cxn ang="0">
                    <a:pos x="T2" y="T3"/>
                  </a:cxn>
                  <a:cxn ang="0">
                    <a:pos x="T4" y="T5"/>
                  </a:cxn>
                  <a:cxn ang="0">
                    <a:pos x="T6" y="T7"/>
                  </a:cxn>
                  <a:cxn ang="0">
                    <a:pos x="T8" y="T9"/>
                  </a:cxn>
                </a:cxnLst>
                <a:rect l="0" t="0" r="r" b="b"/>
                <a:pathLst>
                  <a:path w="66" h="66">
                    <a:moveTo>
                      <a:pt x="66" y="64"/>
                    </a:moveTo>
                    <a:lnTo>
                      <a:pt x="0" y="66"/>
                    </a:lnTo>
                    <a:lnTo>
                      <a:pt x="0" y="0"/>
                    </a:lnTo>
                    <a:lnTo>
                      <a:pt x="66" y="0"/>
                    </a:lnTo>
                    <a:lnTo>
                      <a:pt x="66" y="64"/>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2" name="îşlïḓê">
                <a:extLst>
                  <a:ext uri="{FF2B5EF4-FFF2-40B4-BE49-F238E27FC236}">
                    <a16:creationId xmlns:a16="http://schemas.microsoft.com/office/drawing/2014/main" id="{F078FB59-E36F-5808-5683-8E0A179575AA}"/>
                  </a:ext>
                </a:extLst>
              </p:cNvPr>
              <p:cNvSpPr/>
              <p:nvPr/>
            </p:nvSpPr>
            <p:spPr bwMode="auto">
              <a:xfrm>
                <a:off x="4973517" y="3807175"/>
                <a:ext cx="330591" cy="330591"/>
              </a:xfrm>
              <a:custGeom>
                <a:avLst/>
                <a:gdLst>
                  <a:gd name="T0" fmla="*/ 66 w 66"/>
                  <a:gd name="T1" fmla="*/ 66 h 66"/>
                  <a:gd name="T2" fmla="*/ 0 w 66"/>
                  <a:gd name="T3" fmla="*/ 66 h 66"/>
                  <a:gd name="T4" fmla="*/ 0 w 66"/>
                  <a:gd name="T5" fmla="*/ 0 h 66"/>
                  <a:gd name="T6" fmla="*/ 64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0"/>
                    </a:lnTo>
                    <a:lnTo>
                      <a:pt x="64"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3" name="iṥļïďè">
                <a:extLst>
                  <a:ext uri="{FF2B5EF4-FFF2-40B4-BE49-F238E27FC236}">
                    <a16:creationId xmlns:a16="http://schemas.microsoft.com/office/drawing/2014/main" id="{06337B18-16AF-BF85-0F17-3B621980F9B0}"/>
                  </a:ext>
                </a:extLst>
              </p:cNvPr>
              <p:cNvSpPr/>
              <p:nvPr/>
            </p:nvSpPr>
            <p:spPr bwMode="auto">
              <a:xfrm>
                <a:off x="5349190"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4" name="îṣ1ïdê">
                <a:extLst>
                  <a:ext uri="{FF2B5EF4-FFF2-40B4-BE49-F238E27FC236}">
                    <a16:creationId xmlns:a16="http://schemas.microsoft.com/office/drawing/2014/main" id="{2F4F036E-DD8A-81E2-1D45-C9071F8F63FF}"/>
                  </a:ext>
                </a:extLst>
              </p:cNvPr>
              <p:cNvSpPr/>
              <p:nvPr/>
            </p:nvSpPr>
            <p:spPr bwMode="auto">
              <a:xfrm>
                <a:off x="5734878"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5" name="îṧľiďe">
                <a:extLst>
                  <a:ext uri="{FF2B5EF4-FFF2-40B4-BE49-F238E27FC236}">
                    <a16:creationId xmlns:a16="http://schemas.microsoft.com/office/drawing/2014/main" id="{5D8EC3EB-0564-8E75-5694-0DF82F5AD457}"/>
                  </a:ext>
                </a:extLst>
              </p:cNvPr>
              <p:cNvSpPr/>
              <p:nvPr/>
            </p:nvSpPr>
            <p:spPr bwMode="auto">
              <a:xfrm>
                <a:off x="6105540"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6" name="íSļiḑe">
                <a:extLst>
                  <a:ext uri="{FF2B5EF4-FFF2-40B4-BE49-F238E27FC236}">
                    <a16:creationId xmlns:a16="http://schemas.microsoft.com/office/drawing/2014/main" id="{B9C83501-8D14-9A9D-1261-F0DF95DEAAD6}"/>
                  </a:ext>
                </a:extLst>
              </p:cNvPr>
              <p:cNvSpPr/>
              <p:nvPr/>
            </p:nvSpPr>
            <p:spPr bwMode="auto">
              <a:xfrm>
                <a:off x="6491231"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7" name="iṧlíḑe">
                <a:extLst>
                  <a:ext uri="{FF2B5EF4-FFF2-40B4-BE49-F238E27FC236}">
                    <a16:creationId xmlns:a16="http://schemas.microsoft.com/office/drawing/2014/main" id="{71A1B125-57AD-D66B-0B77-32A928121489}"/>
                  </a:ext>
                </a:extLst>
              </p:cNvPr>
              <p:cNvSpPr/>
              <p:nvPr/>
            </p:nvSpPr>
            <p:spPr bwMode="auto">
              <a:xfrm>
                <a:off x="6861893" y="3807175"/>
                <a:ext cx="335598"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8" name="íṣļïḑê">
                <a:extLst>
                  <a:ext uri="{FF2B5EF4-FFF2-40B4-BE49-F238E27FC236}">
                    <a16:creationId xmlns:a16="http://schemas.microsoft.com/office/drawing/2014/main" id="{6590667E-EC7F-E6D3-7232-DF335DB160BC}"/>
                  </a:ext>
                </a:extLst>
              </p:cNvPr>
              <p:cNvSpPr/>
              <p:nvPr/>
            </p:nvSpPr>
            <p:spPr bwMode="auto">
              <a:xfrm>
                <a:off x="7247581"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69" name="îṧļíḍe">
                <a:extLst>
                  <a:ext uri="{FF2B5EF4-FFF2-40B4-BE49-F238E27FC236}">
                    <a16:creationId xmlns:a16="http://schemas.microsoft.com/office/drawing/2014/main" id="{4C74427F-3905-73E9-B1AD-D4FBC856854E}"/>
                  </a:ext>
                </a:extLst>
              </p:cNvPr>
              <p:cNvSpPr/>
              <p:nvPr/>
            </p:nvSpPr>
            <p:spPr bwMode="auto">
              <a:xfrm>
                <a:off x="7623254" y="3807175"/>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0" name="iṩ1ídê">
                <a:extLst>
                  <a:ext uri="{FF2B5EF4-FFF2-40B4-BE49-F238E27FC236}">
                    <a16:creationId xmlns:a16="http://schemas.microsoft.com/office/drawing/2014/main" id="{5B8ABECF-FB55-CD0F-19EE-3D70749F3DC1}"/>
                  </a:ext>
                </a:extLst>
              </p:cNvPr>
              <p:cNvSpPr/>
              <p:nvPr/>
            </p:nvSpPr>
            <p:spPr bwMode="auto">
              <a:xfrm>
                <a:off x="3395699" y="4202884"/>
                <a:ext cx="330591" cy="330591"/>
              </a:xfrm>
              <a:custGeom>
                <a:avLst/>
                <a:gdLst>
                  <a:gd name="T0" fmla="*/ 66 w 66"/>
                  <a:gd name="T1" fmla="*/ 66 h 66"/>
                  <a:gd name="T2" fmla="*/ 0 w 66"/>
                  <a:gd name="T3" fmla="*/ 66 h 66"/>
                  <a:gd name="T4" fmla="*/ 0 w 66"/>
                  <a:gd name="T5" fmla="*/ 0 h 66"/>
                  <a:gd name="T6" fmla="*/ 64 w 66"/>
                  <a:gd name="T7" fmla="*/ 0 h 66"/>
                  <a:gd name="T8" fmla="*/ 66 w 66"/>
                  <a:gd name="T9" fmla="*/ 66 h 66"/>
                </a:gdLst>
                <a:ahLst/>
                <a:cxnLst>
                  <a:cxn ang="0">
                    <a:pos x="T0" y="T1"/>
                  </a:cxn>
                  <a:cxn ang="0">
                    <a:pos x="T2" y="T3"/>
                  </a:cxn>
                  <a:cxn ang="0">
                    <a:pos x="T4" y="T5"/>
                  </a:cxn>
                  <a:cxn ang="0">
                    <a:pos x="T6" y="T7"/>
                  </a:cxn>
                  <a:cxn ang="0">
                    <a:pos x="T8" y="T9"/>
                  </a:cxn>
                </a:cxnLst>
                <a:rect l="0" t="0" r="r" b="b"/>
                <a:pathLst>
                  <a:path w="66" h="66">
                    <a:moveTo>
                      <a:pt x="66" y="66"/>
                    </a:moveTo>
                    <a:lnTo>
                      <a:pt x="0" y="66"/>
                    </a:lnTo>
                    <a:lnTo>
                      <a:pt x="0" y="0"/>
                    </a:lnTo>
                    <a:lnTo>
                      <a:pt x="64" y="0"/>
                    </a:lnTo>
                    <a:lnTo>
                      <a:pt x="66"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1" name="îṥ1iḓê">
                <a:extLst>
                  <a:ext uri="{FF2B5EF4-FFF2-40B4-BE49-F238E27FC236}">
                    <a16:creationId xmlns:a16="http://schemas.microsoft.com/office/drawing/2014/main" id="{3ABCA032-10C0-556B-9D7D-A1052116A986}"/>
                  </a:ext>
                </a:extLst>
              </p:cNvPr>
              <p:cNvSpPr/>
              <p:nvPr/>
            </p:nvSpPr>
            <p:spPr bwMode="auto">
              <a:xfrm>
                <a:off x="3766361" y="4202884"/>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2" name="işḻîḓe">
                <a:extLst>
                  <a:ext uri="{FF2B5EF4-FFF2-40B4-BE49-F238E27FC236}">
                    <a16:creationId xmlns:a16="http://schemas.microsoft.com/office/drawing/2014/main" id="{AA5C3E64-307B-517D-F708-DEE1C9A41709}"/>
                  </a:ext>
                </a:extLst>
              </p:cNvPr>
              <p:cNvSpPr/>
              <p:nvPr/>
            </p:nvSpPr>
            <p:spPr bwMode="auto">
              <a:xfrm>
                <a:off x="4152049" y="4202884"/>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3" name="i$1iḍé">
                <a:extLst>
                  <a:ext uri="{FF2B5EF4-FFF2-40B4-BE49-F238E27FC236}">
                    <a16:creationId xmlns:a16="http://schemas.microsoft.com/office/drawing/2014/main" id="{51A9627A-2D72-451D-77B9-411126912B50}"/>
                  </a:ext>
                </a:extLst>
              </p:cNvPr>
              <p:cNvSpPr/>
              <p:nvPr/>
            </p:nvSpPr>
            <p:spPr bwMode="auto">
              <a:xfrm>
                <a:off x="4527722" y="4202884"/>
                <a:ext cx="33059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4" name="iṧlîḍe">
                <a:extLst>
                  <a:ext uri="{FF2B5EF4-FFF2-40B4-BE49-F238E27FC236}">
                    <a16:creationId xmlns:a16="http://schemas.microsoft.com/office/drawing/2014/main" id="{5D3DD3FB-B31D-A0F9-7710-CA47EA252BE7}"/>
                  </a:ext>
                </a:extLst>
              </p:cNvPr>
              <p:cNvSpPr/>
              <p:nvPr/>
            </p:nvSpPr>
            <p:spPr bwMode="auto">
              <a:xfrm>
                <a:off x="3766361"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5" name="îšļîde">
                <a:extLst>
                  <a:ext uri="{FF2B5EF4-FFF2-40B4-BE49-F238E27FC236}">
                    <a16:creationId xmlns:a16="http://schemas.microsoft.com/office/drawing/2014/main" id="{EE8EB2D6-0BB6-5569-596D-7A1C03C05CD9}"/>
                  </a:ext>
                </a:extLst>
              </p:cNvPr>
              <p:cNvSpPr/>
              <p:nvPr/>
            </p:nvSpPr>
            <p:spPr bwMode="auto">
              <a:xfrm>
                <a:off x="4162067" y="2454758"/>
                <a:ext cx="330591"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6" name="ïṧḷíḓê">
                <a:extLst>
                  <a:ext uri="{FF2B5EF4-FFF2-40B4-BE49-F238E27FC236}">
                    <a16:creationId xmlns:a16="http://schemas.microsoft.com/office/drawing/2014/main" id="{AA5DE475-14DD-D86E-F791-44480CDC1CF2}"/>
                  </a:ext>
                </a:extLst>
              </p:cNvPr>
              <p:cNvSpPr/>
              <p:nvPr/>
            </p:nvSpPr>
            <p:spPr bwMode="auto">
              <a:xfrm>
                <a:off x="4547758"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7" name="ïśḻïḓé">
                <a:extLst>
                  <a:ext uri="{FF2B5EF4-FFF2-40B4-BE49-F238E27FC236}">
                    <a16:creationId xmlns:a16="http://schemas.microsoft.com/office/drawing/2014/main" id="{DDF895AC-257D-6172-F166-703C15D4F865}"/>
                  </a:ext>
                </a:extLst>
              </p:cNvPr>
              <p:cNvSpPr/>
              <p:nvPr/>
            </p:nvSpPr>
            <p:spPr bwMode="auto">
              <a:xfrm>
                <a:off x="4933445" y="2454758"/>
                <a:ext cx="340609" cy="21037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78" name="ïSḻíḋe">
                <a:extLst>
                  <a:ext uri="{FF2B5EF4-FFF2-40B4-BE49-F238E27FC236}">
                    <a16:creationId xmlns:a16="http://schemas.microsoft.com/office/drawing/2014/main" id="{9D9D5B51-F264-DCF8-540B-2E1E4E17EEC6}"/>
                  </a:ext>
                </a:extLst>
              </p:cNvPr>
              <p:cNvSpPr/>
              <p:nvPr/>
            </p:nvSpPr>
            <p:spPr bwMode="auto">
              <a:xfrm>
                <a:off x="5314126" y="2454758"/>
                <a:ext cx="345616" cy="210376"/>
              </a:xfrm>
              <a:custGeom>
                <a:avLst/>
                <a:gdLst>
                  <a:gd name="T0" fmla="*/ 69 w 69"/>
                  <a:gd name="T1" fmla="*/ 40 h 42"/>
                  <a:gd name="T2" fmla="*/ 3 w 69"/>
                  <a:gd name="T3" fmla="*/ 42 h 42"/>
                  <a:gd name="T4" fmla="*/ 0 w 69"/>
                  <a:gd name="T5" fmla="*/ 0 h 42"/>
                  <a:gd name="T6" fmla="*/ 69 w 69"/>
                  <a:gd name="T7" fmla="*/ 0 h 42"/>
                  <a:gd name="T8" fmla="*/ 69 w 69"/>
                  <a:gd name="T9" fmla="*/ 40 h 42"/>
                </a:gdLst>
                <a:ahLst/>
                <a:cxnLst>
                  <a:cxn ang="0">
                    <a:pos x="T0" y="T1"/>
                  </a:cxn>
                  <a:cxn ang="0">
                    <a:pos x="T2" y="T3"/>
                  </a:cxn>
                  <a:cxn ang="0">
                    <a:pos x="T4" y="T5"/>
                  </a:cxn>
                  <a:cxn ang="0">
                    <a:pos x="T6" y="T7"/>
                  </a:cxn>
                  <a:cxn ang="0">
                    <a:pos x="T8" y="T9"/>
                  </a:cxn>
                </a:cxnLst>
                <a:rect l="0" t="0" r="r" b="b"/>
                <a:pathLst>
                  <a:path w="69" h="42">
                    <a:moveTo>
                      <a:pt x="69" y="40"/>
                    </a:moveTo>
                    <a:lnTo>
                      <a:pt x="3" y="42"/>
                    </a:lnTo>
                    <a:lnTo>
                      <a:pt x="0" y="0"/>
                    </a:lnTo>
                    <a:lnTo>
                      <a:pt x="69" y="0"/>
                    </a:lnTo>
                    <a:lnTo>
                      <a:pt x="69" y="40"/>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9" name="ïSḻídè">
                <a:extLst>
                  <a:ext uri="{FF2B5EF4-FFF2-40B4-BE49-F238E27FC236}">
                    <a16:creationId xmlns:a16="http://schemas.microsoft.com/office/drawing/2014/main" id="{67947372-264D-AB54-7450-A13B4C94237A}"/>
                  </a:ext>
                </a:extLst>
              </p:cNvPr>
              <p:cNvSpPr/>
              <p:nvPr/>
            </p:nvSpPr>
            <p:spPr bwMode="auto">
              <a:xfrm>
                <a:off x="5709834" y="2454758"/>
                <a:ext cx="330591" cy="200358"/>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0" name="îş1ïḑê">
                <a:extLst>
                  <a:ext uri="{FF2B5EF4-FFF2-40B4-BE49-F238E27FC236}">
                    <a16:creationId xmlns:a16="http://schemas.microsoft.com/office/drawing/2014/main" id="{7496F812-1D1C-6D39-4F16-5FFEBD8E70A3}"/>
                  </a:ext>
                </a:extLst>
              </p:cNvPr>
              <p:cNvSpPr/>
              <p:nvPr/>
            </p:nvSpPr>
            <p:spPr bwMode="auto">
              <a:xfrm>
                <a:off x="6095522" y="2454758"/>
                <a:ext cx="340609" cy="200358"/>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1" name="iṥḻîḑe">
                <a:extLst>
                  <a:ext uri="{FF2B5EF4-FFF2-40B4-BE49-F238E27FC236}">
                    <a16:creationId xmlns:a16="http://schemas.microsoft.com/office/drawing/2014/main" id="{7FD33875-32EC-F078-FD92-EC095745070D}"/>
                  </a:ext>
                </a:extLst>
              </p:cNvPr>
              <p:cNvSpPr/>
              <p:nvPr/>
            </p:nvSpPr>
            <p:spPr bwMode="auto">
              <a:xfrm>
                <a:off x="6481213" y="2439733"/>
                <a:ext cx="340609" cy="215386"/>
              </a:xfrm>
              <a:custGeom>
                <a:avLst/>
                <a:gdLst>
                  <a:gd name="T0" fmla="*/ 68 w 68"/>
                  <a:gd name="T1" fmla="*/ 43 h 43"/>
                  <a:gd name="T2" fmla="*/ 0 w 68"/>
                  <a:gd name="T3" fmla="*/ 43 h 43"/>
                  <a:gd name="T4" fmla="*/ 0 w 68"/>
                  <a:gd name="T5" fmla="*/ 3 h 43"/>
                  <a:gd name="T6" fmla="*/ 68 w 68"/>
                  <a:gd name="T7" fmla="*/ 0 h 43"/>
                  <a:gd name="T8" fmla="*/ 68 w 68"/>
                  <a:gd name="T9" fmla="*/ 43 h 43"/>
                </a:gdLst>
                <a:ahLst/>
                <a:cxnLst>
                  <a:cxn ang="0">
                    <a:pos x="T0" y="T1"/>
                  </a:cxn>
                  <a:cxn ang="0">
                    <a:pos x="T2" y="T3"/>
                  </a:cxn>
                  <a:cxn ang="0">
                    <a:pos x="T4" y="T5"/>
                  </a:cxn>
                  <a:cxn ang="0">
                    <a:pos x="T6" y="T7"/>
                  </a:cxn>
                  <a:cxn ang="0">
                    <a:pos x="T8" y="T9"/>
                  </a:cxn>
                </a:cxnLst>
                <a:rect l="0" t="0" r="r" b="b"/>
                <a:pathLst>
                  <a:path w="68" h="43">
                    <a:moveTo>
                      <a:pt x="68" y="43"/>
                    </a:moveTo>
                    <a:lnTo>
                      <a:pt x="0" y="43"/>
                    </a:lnTo>
                    <a:lnTo>
                      <a:pt x="0" y="3"/>
                    </a:lnTo>
                    <a:lnTo>
                      <a:pt x="68" y="0"/>
                    </a:lnTo>
                    <a:lnTo>
                      <a:pt x="68" y="4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2" name="íšļide">
                <a:extLst>
                  <a:ext uri="{FF2B5EF4-FFF2-40B4-BE49-F238E27FC236}">
                    <a16:creationId xmlns:a16="http://schemas.microsoft.com/office/drawing/2014/main" id="{7B487F5D-4271-EB93-31D9-E1B1B898E669}"/>
                  </a:ext>
                </a:extLst>
              </p:cNvPr>
              <p:cNvSpPr/>
              <p:nvPr/>
            </p:nvSpPr>
            <p:spPr bwMode="auto">
              <a:xfrm>
                <a:off x="6876918" y="2439733"/>
                <a:ext cx="330591"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3" name="îś1îḑè">
                <a:extLst>
                  <a:ext uri="{FF2B5EF4-FFF2-40B4-BE49-F238E27FC236}">
                    <a16:creationId xmlns:a16="http://schemas.microsoft.com/office/drawing/2014/main" id="{4C00A757-7E60-090F-D1AE-ACEBB4A75D39}"/>
                  </a:ext>
                </a:extLst>
              </p:cNvPr>
              <p:cNvSpPr/>
              <p:nvPr/>
            </p:nvSpPr>
            <p:spPr bwMode="auto">
              <a:xfrm>
                <a:off x="7257599" y="2439733"/>
                <a:ext cx="345616"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4" name="íśļíḓe">
                <a:extLst>
                  <a:ext uri="{FF2B5EF4-FFF2-40B4-BE49-F238E27FC236}">
                    <a16:creationId xmlns:a16="http://schemas.microsoft.com/office/drawing/2014/main" id="{8B53B40E-6DF0-DE7D-89ED-A8AF2286E949}"/>
                  </a:ext>
                </a:extLst>
              </p:cNvPr>
              <p:cNvSpPr/>
              <p:nvPr/>
            </p:nvSpPr>
            <p:spPr bwMode="auto">
              <a:xfrm>
                <a:off x="7643289" y="2439733"/>
                <a:ext cx="340609"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5" name="íṥļíḑé">
                <a:extLst>
                  <a:ext uri="{FF2B5EF4-FFF2-40B4-BE49-F238E27FC236}">
                    <a16:creationId xmlns:a16="http://schemas.microsoft.com/office/drawing/2014/main" id="{B6B96F9B-2426-33CA-8560-C28117EFDC8C}"/>
                  </a:ext>
                </a:extLst>
              </p:cNvPr>
              <p:cNvSpPr/>
              <p:nvPr/>
            </p:nvSpPr>
            <p:spPr bwMode="auto">
              <a:xfrm>
                <a:off x="8028977" y="2439733"/>
                <a:ext cx="340609" cy="215386"/>
              </a:xfrm>
              <a:custGeom>
                <a:avLst/>
                <a:gdLst>
                  <a:gd name="T0" fmla="*/ 68 w 68"/>
                  <a:gd name="T1" fmla="*/ 43 h 43"/>
                  <a:gd name="T2" fmla="*/ 2 w 68"/>
                  <a:gd name="T3" fmla="*/ 43 h 43"/>
                  <a:gd name="T4" fmla="*/ 0 w 68"/>
                  <a:gd name="T5" fmla="*/ 0 h 43"/>
                  <a:gd name="T6" fmla="*/ 68 w 68"/>
                  <a:gd name="T7" fmla="*/ 0 h 43"/>
                  <a:gd name="T8" fmla="*/ 68 w 68"/>
                  <a:gd name="T9" fmla="*/ 43 h 43"/>
                </a:gdLst>
                <a:ahLst/>
                <a:cxnLst>
                  <a:cxn ang="0">
                    <a:pos x="T0" y="T1"/>
                  </a:cxn>
                  <a:cxn ang="0">
                    <a:pos x="T2" y="T3"/>
                  </a:cxn>
                  <a:cxn ang="0">
                    <a:pos x="T4" y="T5"/>
                  </a:cxn>
                  <a:cxn ang="0">
                    <a:pos x="T6" y="T7"/>
                  </a:cxn>
                  <a:cxn ang="0">
                    <a:pos x="T8" y="T9"/>
                  </a:cxn>
                </a:cxnLst>
                <a:rect l="0" t="0" r="r" b="b"/>
                <a:pathLst>
                  <a:path w="68" h="43">
                    <a:moveTo>
                      <a:pt x="68" y="43"/>
                    </a:moveTo>
                    <a:lnTo>
                      <a:pt x="2" y="43"/>
                    </a:lnTo>
                    <a:lnTo>
                      <a:pt x="0" y="0"/>
                    </a:lnTo>
                    <a:lnTo>
                      <a:pt x="68" y="0"/>
                    </a:lnTo>
                    <a:lnTo>
                      <a:pt x="68" y="43"/>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6" name="ïsḷiḓe">
                <a:extLst>
                  <a:ext uri="{FF2B5EF4-FFF2-40B4-BE49-F238E27FC236}">
                    <a16:creationId xmlns:a16="http://schemas.microsoft.com/office/drawing/2014/main" id="{10ED12BD-E0AD-8AE5-DBC7-64F4A34A2CA1}"/>
                  </a:ext>
                </a:extLst>
              </p:cNvPr>
              <p:cNvSpPr/>
              <p:nvPr/>
            </p:nvSpPr>
            <p:spPr bwMode="auto">
              <a:xfrm>
                <a:off x="8424686" y="2439733"/>
                <a:ext cx="330591" cy="215386"/>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87" name="îṡľïďè">
                <a:extLst>
                  <a:ext uri="{FF2B5EF4-FFF2-40B4-BE49-F238E27FC236}">
                    <a16:creationId xmlns:a16="http://schemas.microsoft.com/office/drawing/2014/main" id="{0B15375B-577F-C314-9DC5-4D395E9E7F94}"/>
                  </a:ext>
                </a:extLst>
              </p:cNvPr>
              <p:cNvSpPr/>
              <p:nvPr/>
            </p:nvSpPr>
            <p:spPr bwMode="auto">
              <a:xfrm>
                <a:off x="4908402" y="4192866"/>
                <a:ext cx="1893383" cy="340609"/>
              </a:xfrm>
              <a:custGeom>
                <a:avLst/>
                <a:gdLst>
                  <a:gd name="T0" fmla="*/ 378 w 378"/>
                  <a:gd name="T1" fmla="*/ 66 h 68"/>
                  <a:gd name="T2" fmla="*/ 0 w 378"/>
                  <a:gd name="T3" fmla="*/ 68 h 68"/>
                  <a:gd name="T4" fmla="*/ 0 w 378"/>
                  <a:gd name="T5" fmla="*/ 2 h 68"/>
                  <a:gd name="T6" fmla="*/ 378 w 378"/>
                  <a:gd name="T7" fmla="*/ 0 h 68"/>
                  <a:gd name="T8" fmla="*/ 378 w 378"/>
                  <a:gd name="T9" fmla="*/ 66 h 68"/>
                </a:gdLst>
                <a:ahLst/>
                <a:cxnLst>
                  <a:cxn ang="0">
                    <a:pos x="T0" y="T1"/>
                  </a:cxn>
                  <a:cxn ang="0">
                    <a:pos x="T2" y="T3"/>
                  </a:cxn>
                  <a:cxn ang="0">
                    <a:pos x="T4" y="T5"/>
                  </a:cxn>
                  <a:cxn ang="0">
                    <a:pos x="T6" y="T7"/>
                  </a:cxn>
                  <a:cxn ang="0">
                    <a:pos x="T8" y="T9"/>
                  </a:cxn>
                </a:cxnLst>
                <a:rect l="0" t="0" r="r" b="b"/>
                <a:pathLst>
                  <a:path w="378" h="68">
                    <a:moveTo>
                      <a:pt x="378" y="66"/>
                    </a:moveTo>
                    <a:lnTo>
                      <a:pt x="0" y="68"/>
                    </a:lnTo>
                    <a:lnTo>
                      <a:pt x="0" y="2"/>
                    </a:lnTo>
                    <a:lnTo>
                      <a:pt x="378" y="0"/>
                    </a:lnTo>
                    <a:lnTo>
                      <a:pt x="378"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8" name="îšḻïďê">
                <a:extLst>
                  <a:ext uri="{FF2B5EF4-FFF2-40B4-BE49-F238E27FC236}">
                    <a16:creationId xmlns:a16="http://schemas.microsoft.com/office/drawing/2014/main" id="{44B22AA4-F814-E5E0-93E9-E4F87D2974A8}"/>
                  </a:ext>
                </a:extLst>
              </p:cNvPr>
              <p:cNvSpPr/>
              <p:nvPr/>
            </p:nvSpPr>
            <p:spPr bwMode="auto">
              <a:xfrm>
                <a:off x="8304471" y="2685170"/>
                <a:ext cx="460823" cy="330591"/>
              </a:xfrm>
              <a:custGeom>
                <a:avLst/>
                <a:gdLst>
                  <a:gd name="T0" fmla="*/ 92 w 92"/>
                  <a:gd name="T1" fmla="*/ 66 h 66"/>
                  <a:gd name="T2" fmla="*/ 0 w 92"/>
                  <a:gd name="T3" fmla="*/ 66 h 66"/>
                  <a:gd name="T4" fmla="*/ 0 w 92"/>
                  <a:gd name="T5" fmla="*/ 0 h 66"/>
                  <a:gd name="T6" fmla="*/ 90 w 92"/>
                  <a:gd name="T7" fmla="*/ 0 h 66"/>
                  <a:gd name="T8" fmla="*/ 92 w 92"/>
                  <a:gd name="T9" fmla="*/ 66 h 66"/>
                </a:gdLst>
                <a:ahLst/>
                <a:cxnLst>
                  <a:cxn ang="0">
                    <a:pos x="T0" y="T1"/>
                  </a:cxn>
                  <a:cxn ang="0">
                    <a:pos x="T2" y="T3"/>
                  </a:cxn>
                  <a:cxn ang="0">
                    <a:pos x="T4" y="T5"/>
                  </a:cxn>
                  <a:cxn ang="0">
                    <a:pos x="T6" y="T7"/>
                  </a:cxn>
                  <a:cxn ang="0">
                    <a:pos x="T8" y="T9"/>
                  </a:cxn>
                </a:cxnLst>
                <a:rect l="0" t="0" r="r" b="b"/>
                <a:pathLst>
                  <a:path w="92" h="66">
                    <a:moveTo>
                      <a:pt x="92" y="66"/>
                    </a:moveTo>
                    <a:lnTo>
                      <a:pt x="0" y="66"/>
                    </a:lnTo>
                    <a:lnTo>
                      <a:pt x="0" y="0"/>
                    </a:lnTo>
                    <a:lnTo>
                      <a:pt x="90" y="0"/>
                    </a:lnTo>
                    <a:lnTo>
                      <a:pt x="92"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9" name="isľîḑe">
                <a:extLst>
                  <a:ext uri="{FF2B5EF4-FFF2-40B4-BE49-F238E27FC236}">
                    <a16:creationId xmlns:a16="http://schemas.microsoft.com/office/drawing/2014/main" id="{E9EE857C-9C57-751B-BB4D-066F05F1FAA8}"/>
                  </a:ext>
                </a:extLst>
              </p:cNvPr>
              <p:cNvSpPr/>
              <p:nvPr/>
            </p:nvSpPr>
            <p:spPr bwMode="auto">
              <a:xfrm>
                <a:off x="7452949" y="4192866"/>
                <a:ext cx="310555"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0" name="iŝḻïḍe">
                <a:extLst>
                  <a:ext uri="{FF2B5EF4-FFF2-40B4-BE49-F238E27FC236}">
                    <a16:creationId xmlns:a16="http://schemas.microsoft.com/office/drawing/2014/main" id="{38720645-D616-64A4-A18F-D9E38BDCD866}"/>
                  </a:ext>
                </a:extLst>
              </p:cNvPr>
              <p:cNvSpPr/>
              <p:nvPr/>
            </p:nvSpPr>
            <p:spPr bwMode="auto">
              <a:xfrm>
                <a:off x="3385681" y="3070861"/>
                <a:ext cx="425759" cy="330591"/>
              </a:xfrm>
              <a:custGeom>
                <a:avLst/>
                <a:gdLst>
                  <a:gd name="T0" fmla="*/ 85 w 85"/>
                  <a:gd name="T1" fmla="*/ 66 h 66"/>
                  <a:gd name="T2" fmla="*/ 0 w 85"/>
                  <a:gd name="T3" fmla="*/ 66 h 66"/>
                  <a:gd name="T4" fmla="*/ 0 w 85"/>
                  <a:gd name="T5" fmla="*/ 2 h 66"/>
                  <a:gd name="T6" fmla="*/ 85 w 85"/>
                  <a:gd name="T7" fmla="*/ 0 h 66"/>
                  <a:gd name="T8" fmla="*/ 85 w 85"/>
                  <a:gd name="T9" fmla="*/ 66 h 66"/>
                </a:gdLst>
                <a:ahLst/>
                <a:cxnLst>
                  <a:cxn ang="0">
                    <a:pos x="T0" y="T1"/>
                  </a:cxn>
                  <a:cxn ang="0">
                    <a:pos x="T2" y="T3"/>
                  </a:cxn>
                  <a:cxn ang="0">
                    <a:pos x="T4" y="T5"/>
                  </a:cxn>
                  <a:cxn ang="0">
                    <a:pos x="T6" y="T7"/>
                  </a:cxn>
                  <a:cxn ang="0">
                    <a:pos x="T8" y="T9"/>
                  </a:cxn>
                </a:cxnLst>
                <a:rect l="0" t="0" r="r" b="b"/>
                <a:pathLst>
                  <a:path w="85" h="66">
                    <a:moveTo>
                      <a:pt x="85" y="66"/>
                    </a:moveTo>
                    <a:lnTo>
                      <a:pt x="0" y="66"/>
                    </a:lnTo>
                    <a:lnTo>
                      <a:pt x="0" y="2"/>
                    </a:lnTo>
                    <a:lnTo>
                      <a:pt x="85" y="0"/>
                    </a:lnTo>
                    <a:lnTo>
                      <a:pt x="85"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1" name="íşlïdê">
                <a:extLst>
                  <a:ext uri="{FF2B5EF4-FFF2-40B4-BE49-F238E27FC236}">
                    <a16:creationId xmlns:a16="http://schemas.microsoft.com/office/drawing/2014/main" id="{4AA8A86B-D655-52DA-37F6-EF39773ED159}"/>
                  </a:ext>
                </a:extLst>
              </p:cNvPr>
              <p:cNvSpPr/>
              <p:nvPr/>
            </p:nvSpPr>
            <p:spPr bwMode="auto">
              <a:xfrm>
                <a:off x="3385681" y="3446531"/>
                <a:ext cx="606081"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2" name="íṥļïďè">
                <a:extLst>
                  <a:ext uri="{FF2B5EF4-FFF2-40B4-BE49-F238E27FC236}">
                    <a16:creationId xmlns:a16="http://schemas.microsoft.com/office/drawing/2014/main" id="{86F718DA-14F1-36DE-B39C-D069C9817544}"/>
                  </a:ext>
                </a:extLst>
              </p:cNvPr>
              <p:cNvSpPr/>
              <p:nvPr/>
            </p:nvSpPr>
            <p:spPr bwMode="auto">
              <a:xfrm>
                <a:off x="3385681" y="3817193"/>
                <a:ext cx="776386" cy="330591"/>
              </a:xfrm>
              <a:custGeom>
                <a:avLst/>
                <a:gdLst>
                  <a:gd name="T0" fmla="*/ 155 w 155"/>
                  <a:gd name="T1" fmla="*/ 66 h 66"/>
                  <a:gd name="T2" fmla="*/ 2 w 155"/>
                  <a:gd name="T3" fmla="*/ 66 h 66"/>
                  <a:gd name="T4" fmla="*/ 0 w 155"/>
                  <a:gd name="T5" fmla="*/ 0 h 66"/>
                  <a:gd name="T6" fmla="*/ 155 w 155"/>
                  <a:gd name="T7" fmla="*/ 0 h 66"/>
                  <a:gd name="T8" fmla="*/ 155 w 155"/>
                  <a:gd name="T9" fmla="*/ 66 h 66"/>
                </a:gdLst>
                <a:ahLst/>
                <a:cxnLst>
                  <a:cxn ang="0">
                    <a:pos x="T0" y="T1"/>
                  </a:cxn>
                  <a:cxn ang="0">
                    <a:pos x="T2" y="T3"/>
                  </a:cxn>
                  <a:cxn ang="0">
                    <a:pos x="T4" y="T5"/>
                  </a:cxn>
                  <a:cxn ang="0">
                    <a:pos x="T6" y="T7"/>
                  </a:cxn>
                  <a:cxn ang="0">
                    <a:pos x="T8" y="T9"/>
                  </a:cxn>
                </a:cxnLst>
                <a:rect l="0" t="0" r="r" b="b"/>
                <a:pathLst>
                  <a:path w="155" h="66">
                    <a:moveTo>
                      <a:pt x="155" y="66"/>
                    </a:moveTo>
                    <a:lnTo>
                      <a:pt x="2" y="66"/>
                    </a:lnTo>
                    <a:lnTo>
                      <a:pt x="0" y="0"/>
                    </a:lnTo>
                    <a:lnTo>
                      <a:pt x="155" y="0"/>
                    </a:lnTo>
                    <a:lnTo>
                      <a:pt x="155"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3" name="ïṡľíḓê">
                <a:extLst>
                  <a:ext uri="{FF2B5EF4-FFF2-40B4-BE49-F238E27FC236}">
                    <a16:creationId xmlns:a16="http://schemas.microsoft.com/office/drawing/2014/main" id="{0C12AB20-4B57-630F-E34D-FF24D40D41A4}"/>
                  </a:ext>
                </a:extLst>
              </p:cNvPr>
              <p:cNvSpPr/>
              <p:nvPr/>
            </p:nvSpPr>
            <p:spPr bwMode="auto">
              <a:xfrm>
                <a:off x="8209299" y="3431505"/>
                <a:ext cx="545974"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4" name="iṩļïḋè">
                <a:extLst>
                  <a:ext uri="{FF2B5EF4-FFF2-40B4-BE49-F238E27FC236}">
                    <a16:creationId xmlns:a16="http://schemas.microsoft.com/office/drawing/2014/main" id="{86936486-7539-C7B0-7DC6-4B60D573385B}"/>
                  </a:ext>
                </a:extLst>
              </p:cNvPr>
              <p:cNvSpPr/>
              <p:nvPr/>
            </p:nvSpPr>
            <p:spPr bwMode="auto">
              <a:xfrm>
                <a:off x="6861893" y="4192866"/>
                <a:ext cx="545974" cy="33059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5" name="í$ļîďe">
                <a:extLst>
                  <a:ext uri="{FF2B5EF4-FFF2-40B4-BE49-F238E27FC236}">
                    <a16:creationId xmlns:a16="http://schemas.microsoft.com/office/drawing/2014/main" id="{B152F9FC-78D2-8E84-3EC4-C9B0941432CC}"/>
                  </a:ext>
                </a:extLst>
              </p:cNvPr>
              <p:cNvSpPr/>
              <p:nvPr/>
            </p:nvSpPr>
            <p:spPr bwMode="auto">
              <a:xfrm>
                <a:off x="8008941" y="3797157"/>
                <a:ext cx="756350" cy="340609"/>
              </a:xfrm>
              <a:custGeom>
                <a:avLst/>
                <a:gdLst>
                  <a:gd name="T0" fmla="*/ 151 w 151"/>
                  <a:gd name="T1" fmla="*/ 66 h 68"/>
                  <a:gd name="T2" fmla="*/ 0 w 151"/>
                  <a:gd name="T3" fmla="*/ 68 h 68"/>
                  <a:gd name="T4" fmla="*/ 0 w 151"/>
                  <a:gd name="T5" fmla="*/ 2 h 68"/>
                  <a:gd name="T6" fmla="*/ 151 w 151"/>
                  <a:gd name="T7" fmla="*/ 0 h 68"/>
                  <a:gd name="T8" fmla="*/ 151 w 151"/>
                  <a:gd name="T9" fmla="*/ 66 h 68"/>
                </a:gdLst>
                <a:ahLst/>
                <a:cxnLst>
                  <a:cxn ang="0">
                    <a:pos x="T0" y="T1"/>
                  </a:cxn>
                  <a:cxn ang="0">
                    <a:pos x="T2" y="T3"/>
                  </a:cxn>
                  <a:cxn ang="0">
                    <a:pos x="T4" y="T5"/>
                  </a:cxn>
                  <a:cxn ang="0">
                    <a:pos x="T6" y="T7"/>
                  </a:cxn>
                  <a:cxn ang="0">
                    <a:pos x="T8" y="T9"/>
                  </a:cxn>
                </a:cxnLst>
                <a:rect l="0" t="0" r="r" b="b"/>
                <a:pathLst>
                  <a:path w="151" h="68">
                    <a:moveTo>
                      <a:pt x="151" y="66"/>
                    </a:moveTo>
                    <a:lnTo>
                      <a:pt x="0" y="68"/>
                    </a:lnTo>
                    <a:lnTo>
                      <a:pt x="0" y="2"/>
                    </a:lnTo>
                    <a:lnTo>
                      <a:pt x="151" y="0"/>
                    </a:lnTo>
                    <a:lnTo>
                      <a:pt x="151" y="66"/>
                    </a:lnTo>
                    <a:close/>
                  </a:path>
                </a:pathLst>
              </a:custGeom>
              <a:solidFill>
                <a:srgbClr val="61616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6" name="íŝḻíḍe">
                <a:extLst>
                  <a:ext uri="{FF2B5EF4-FFF2-40B4-BE49-F238E27FC236}">
                    <a16:creationId xmlns:a16="http://schemas.microsoft.com/office/drawing/2014/main" id="{AB137959-E5FE-F77E-301A-82378C53EEC8}"/>
                  </a:ext>
                </a:extLst>
              </p:cNvPr>
              <p:cNvSpPr/>
              <p:nvPr/>
            </p:nvSpPr>
            <p:spPr bwMode="auto">
              <a:xfrm>
                <a:off x="8144185" y="4383206"/>
                <a:ext cx="290519" cy="14025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7" name="išḷiḍè">
                <a:extLst>
                  <a:ext uri="{FF2B5EF4-FFF2-40B4-BE49-F238E27FC236}">
                    <a16:creationId xmlns:a16="http://schemas.microsoft.com/office/drawing/2014/main" id="{209F8343-D0E0-E12B-6E2D-8F6B021993D0}"/>
                  </a:ext>
                </a:extLst>
              </p:cNvPr>
              <p:cNvSpPr/>
              <p:nvPr/>
            </p:nvSpPr>
            <p:spPr bwMode="auto">
              <a:xfrm>
                <a:off x="8144185" y="4192866"/>
                <a:ext cx="290519" cy="135243"/>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8" name="iś1iḓe">
                <a:extLst>
                  <a:ext uri="{FF2B5EF4-FFF2-40B4-BE49-F238E27FC236}">
                    <a16:creationId xmlns:a16="http://schemas.microsoft.com/office/drawing/2014/main" id="{D5B5553B-B31D-2B92-00F6-5846891B1B98}"/>
                  </a:ext>
                </a:extLst>
              </p:cNvPr>
              <p:cNvSpPr/>
              <p:nvPr/>
            </p:nvSpPr>
            <p:spPr bwMode="auto">
              <a:xfrm>
                <a:off x="8474775" y="4383206"/>
                <a:ext cx="290519" cy="14025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99" name="ïšḻiďê">
                <a:extLst>
                  <a:ext uri="{FF2B5EF4-FFF2-40B4-BE49-F238E27FC236}">
                    <a16:creationId xmlns:a16="http://schemas.microsoft.com/office/drawing/2014/main" id="{3A91DF44-35FC-A884-804C-B0FE84BD4D3D}"/>
                  </a:ext>
                </a:extLst>
              </p:cNvPr>
              <p:cNvSpPr/>
              <p:nvPr/>
            </p:nvSpPr>
            <p:spPr bwMode="auto">
              <a:xfrm>
                <a:off x="7813594" y="4383206"/>
                <a:ext cx="290519" cy="140251"/>
              </a:xfrm>
              <a:prstGeom prst="rect">
                <a:avLst/>
              </a:prstGeom>
              <a:solidFill>
                <a:srgbClr val="61616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gr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动态主机配置协议</a:t>
              </a:r>
              <a:r>
                <a:rPr lang="en-US" altLang="zh-CN" sz="2000" b="1" dirty="0"/>
                <a:t>DHCP</a:t>
              </a:r>
              <a:r>
                <a:rPr lang="zh-CN" altLang="en-US" sz="2000" b="1" dirty="0"/>
                <a:t>的作用</a:t>
              </a:r>
              <a:endParaRPr lang="zh-CN" altLang="en-US" sz="2000" b="1" dirty="0">
                <a:solidFill>
                  <a:schemeClr val="tx1"/>
                </a:solidFill>
                <a:ea typeface="+mj-ea"/>
              </a:endParaRPr>
            </a:p>
          </p:txBody>
        </p:sp>
      </p:grpSp>
      <p:grpSp>
        <p:nvGrpSpPr>
          <p:cNvPr id="39" name="组合 38">
            <a:extLst>
              <a:ext uri="{FF2B5EF4-FFF2-40B4-BE49-F238E27FC236}">
                <a16:creationId xmlns:a16="http://schemas.microsoft.com/office/drawing/2014/main" id="{8EEDF88D-FD5C-482B-A520-4818CF63FE94}"/>
              </a:ext>
            </a:extLst>
          </p:cNvPr>
          <p:cNvGrpSpPr/>
          <p:nvPr/>
        </p:nvGrpSpPr>
        <p:grpSpPr>
          <a:xfrm>
            <a:off x="4241940" y="1076377"/>
            <a:ext cx="6332245" cy="4879245"/>
            <a:chOff x="4241940" y="1076377"/>
            <a:chExt cx="6332245" cy="4879245"/>
          </a:xfrm>
        </p:grpSpPr>
        <p:pic>
          <p:nvPicPr>
            <p:cNvPr id="9" name="图片 8" descr="图形用户界面, 应用程序, Teams&#10;&#10;描述已自动生成">
              <a:extLst>
                <a:ext uri="{FF2B5EF4-FFF2-40B4-BE49-F238E27FC236}">
                  <a16:creationId xmlns:a16="http://schemas.microsoft.com/office/drawing/2014/main" id="{0FCC430C-E047-9DFE-8541-B864BB7A22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4526" y="1149410"/>
              <a:ext cx="3362947" cy="4806212"/>
            </a:xfrm>
            <a:prstGeom prst="rect">
              <a:avLst/>
            </a:prstGeom>
          </p:spPr>
        </p:pic>
        <p:grpSp>
          <p:nvGrpSpPr>
            <p:cNvPr id="10" name="组合 9">
              <a:extLst>
                <a:ext uri="{FF2B5EF4-FFF2-40B4-BE49-F238E27FC236}">
                  <a16:creationId xmlns:a16="http://schemas.microsoft.com/office/drawing/2014/main" id="{3C75B3C2-A269-E759-3621-7731941EB759}"/>
                </a:ext>
              </a:extLst>
            </p:cNvPr>
            <p:cNvGrpSpPr/>
            <p:nvPr/>
          </p:nvGrpSpPr>
          <p:grpSpPr>
            <a:xfrm>
              <a:off x="6223747" y="1076377"/>
              <a:ext cx="2704813" cy="1077218"/>
              <a:chOff x="724188" y="1371600"/>
              <a:chExt cx="2704813" cy="1077218"/>
            </a:xfrm>
          </p:grpSpPr>
          <p:sp>
            <p:nvSpPr>
              <p:cNvPr id="11" name="文本框 10">
                <a:extLst>
                  <a:ext uri="{FF2B5EF4-FFF2-40B4-BE49-F238E27FC236}">
                    <a16:creationId xmlns:a16="http://schemas.microsoft.com/office/drawing/2014/main" id="{3DE2FE06-8549-171C-9DB0-4733043D9CB1}"/>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12" name="文本框 11">
                <a:extLst>
                  <a:ext uri="{FF2B5EF4-FFF2-40B4-BE49-F238E27FC236}">
                    <a16:creationId xmlns:a16="http://schemas.microsoft.com/office/drawing/2014/main" id="{9AC584CD-2BCE-70EF-EF0D-638C27C7B26A}"/>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13" name="组合 12">
              <a:extLst>
                <a:ext uri="{FF2B5EF4-FFF2-40B4-BE49-F238E27FC236}">
                  <a16:creationId xmlns:a16="http://schemas.microsoft.com/office/drawing/2014/main" id="{46E91309-8074-0B83-8A58-7463EA61CAAD}"/>
                </a:ext>
              </a:extLst>
            </p:cNvPr>
            <p:cNvGrpSpPr/>
            <p:nvPr/>
          </p:nvGrpSpPr>
          <p:grpSpPr>
            <a:xfrm>
              <a:off x="6223747" y="2288766"/>
              <a:ext cx="2704813" cy="584775"/>
              <a:chOff x="996557" y="2228671"/>
              <a:chExt cx="2704813" cy="584775"/>
            </a:xfrm>
          </p:grpSpPr>
          <p:sp>
            <p:nvSpPr>
              <p:cNvPr id="14" name="文本框 13">
                <a:extLst>
                  <a:ext uri="{FF2B5EF4-FFF2-40B4-BE49-F238E27FC236}">
                    <a16:creationId xmlns:a16="http://schemas.microsoft.com/office/drawing/2014/main" id="{4F865D15-4C56-FE63-D719-C5573AE24B8A}"/>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5" name="文本框 14">
                <a:extLst>
                  <a:ext uri="{FF2B5EF4-FFF2-40B4-BE49-F238E27FC236}">
                    <a16:creationId xmlns:a16="http://schemas.microsoft.com/office/drawing/2014/main" id="{EA5A1F95-789B-E217-62ED-F83D4FB58009}"/>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16" name="组合 15">
              <a:extLst>
                <a:ext uri="{FF2B5EF4-FFF2-40B4-BE49-F238E27FC236}">
                  <a16:creationId xmlns:a16="http://schemas.microsoft.com/office/drawing/2014/main" id="{BC17F2E0-8D79-4FA5-CE89-D5AA457CCC1C}"/>
                </a:ext>
              </a:extLst>
            </p:cNvPr>
            <p:cNvGrpSpPr/>
            <p:nvPr/>
          </p:nvGrpSpPr>
          <p:grpSpPr>
            <a:xfrm>
              <a:off x="6223747" y="3008713"/>
              <a:ext cx="2704813" cy="584775"/>
              <a:chOff x="996557" y="2228671"/>
              <a:chExt cx="2704813" cy="584775"/>
            </a:xfrm>
          </p:grpSpPr>
          <p:sp>
            <p:nvSpPr>
              <p:cNvPr id="17" name="文本框 16">
                <a:extLst>
                  <a:ext uri="{FF2B5EF4-FFF2-40B4-BE49-F238E27FC236}">
                    <a16:creationId xmlns:a16="http://schemas.microsoft.com/office/drawing/2014/main" id="{D7669D55-91C5-C2DA-B5BB-EC92FD939CAD}"/>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18" name="文本框 17">
                <a:extLst>
                  <a:ext uri="{FF2B5EF4-FFF2-40B4-BE49-F238E27FC236}">
                    <a16:creationId xmlns:a16="http://schemas.microsoft.com/office/drawing/2014/main" id="{2DDE3962-69B1-7AB6-F740-6785EBF570AD}"/>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19" name="组合 18">
              <a:extLst>
                <a:ext uri="{FF2B5EF4-FFF2-40B4-BE49-F238E27FC236}">
                  <a16:creationId xmlns:a16="http://schemas.microsoft.com/office/drawing/2014/main" id="{E46B6000-C64D-21CF-03BD-5ED2616656D6}"/>
                </a:ext>
              </a:extLst>
            </p:cNvPr>
            <p:cNvGrpSpPr/>
            <p:nvPr/>
          </p:nvGrpSpPr>
          <p:grpSpPr>
            <a:xfrm>
              <a:off x="7869372" y="4034768"/>
              <a:ext cx="2704813" cy="1108732"/>
              <a:chOff x="764299" y="3812205"/>
              <a:chExt cx="2704813" cy="1108732"/>
            </a:xfrm>
          </p:grpSpPr>
          <p:sp>
            <p:nvSpPr>
              <p:cNvPr id="20" name="文本框 19">
                <a:extLst>
                  <a:ext uri="{FF2B5EF4-FFF2-40B4-BE49-F238E27FC236}">
                    <a16:creationId xmlns:a16="http://schemas.microsoft.com/office/drawing/2014/main" id="{F1274128-FEA9-6E7A-D0BF-F10265EF82C0}"/>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21" name="文本框 20">
                <a:extLst>
                  <a:ext uri="{FF2B5EF4-FFF2-40B4-BE49-F238E27FC236}">
                    <a16:creationId xmlns:a16="http://schemas.microsoft.com/office/drawing/2014/main" id="{6E3FBDDE-5B6B-D0AA-4C82-8EED740FEC53}"/>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22" name="文本框 21">
                <a:extLst>
                  <a:ext uri="{FF2B5EF4-FFF2-40B4-BE49-F238E27FC236}">
                    <a16:creationId xmlns:a16="http://schemas.microsoft.com/office/drawing/2014/main" id="{5564694B-BCA4-A10D-4643-F07BE50D70F4}"/>
                  </a:ext>
                </a:extLst>
              </p:cNvPr>
              <p:cNvSpPr txBox="1"/>
              <p:nvPr/>
            </p:nvSpPr>
            <p:spPr>
              <a:xfrm>
                <a:off x="764300" y="4336162"/>
                <a:ext cx="2531928"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sp>
          <p:nvSpPr>
            <p:cNvPr id="23" name="文本框 22">
              <a:extLst>
                <a:ext uri="{FF2B5EF4-FFF2-40B4-BE49-F238E27FC236}">
                  <a16:creationId xmlns:a16="http://schemas.microsoft.com/office/drawing/2014/main" id="{FAC8FBFA-DE73-D91E-A8CB-515A529A7368}"/>
                </a:ext>
              </a:extLst>
            </p:cNvPr>
            <p:cNvSpPr txBox="1"/>
            <p:nvPr/>
          </p:nvSpPr>
          <p:spPr>
            <a:xfrm>
              <a:off x="4241940" y="1223951"/>
              <a:ext cx="1330655" cy="369332"/>
            </a:xfrm>
            <a:prstGeom prst="rect">
              <a:avLst/>
            </a:prstGeom>
            <a:noFill/>
          </p:spPr>
          <p:txBody>
            <a:bodyPr wrap="square" rtlCol="0">
              <a:spAutoFit/>
            </a:bodyPr>
            <a:lstStyle/>
            <a:p>
              <a:pPr algn="r"/>
              <a:r>
                <a:rPr lang="en-US" altLang="zh-CN" b="1" dirty="0"/>
                <a:t>Web</a:t>
              </a:r>
              <a:r>
                <a:rPr lang="zh-CN" altLang="en-US" b="1" dirty="0"/>
                <a:t>服务器</a:t>
              </a:r>
            </a:p>
          </p:txBody>
        </p:sp>
        <p:sp>
          <p:nvSpPr>
            <p:cNvPr id="24" name="文本框 23">
              <a:extLst>
                <a:ext uri="{FF2B5EF4-FFF2-40B4-BE49-F238E27FC236}">
                  <a16:creationId xmlns:a16="http://schemas.microsoft.com/office/drawing/2014/main" id="{09429A66-BF8E-58D5-1EBB-A22F3AA46FB7}"/>
                </a:ext>
              </a:extLst>
            </p:cNvPr>
            <p:cNvSpPr txBox="1">
              <a:spLocks/>
            </p:cNvSpPr>
            <p:nvPr/>
          </p:nvSpPr>
          <p:spPr>
            <a:xfrm>
              <a:off x="4241940" y="2776581"/>
              <a:ext cx="1330655" cy="369332"/>
            </a:xfrm>
            <a:prstGeom prst="rect">
              <a:avLst/>
            </a:prstGeom>
            <a:noFill/>
          </p:spPr>
          <p:txBody>
            <a:bodyPr wrap="square" rtlCol="0">
              <a:spAutoFit/>
            </a:bodyPr>
            <a:lstStyle/>
            <a:p>
              <a:pPr algn="r"/>
              <a:r>
                <a:rPr lang="zh-CN" altLang="en-US" b="1" dirty="0"/>
                <a:t>路由器</a:t>
              </a:r>
            </a:p>
          </p:txBody>
        </p:sp>
        <p:sp>
          <p:nvSpPr>
            <p:cNvPr id="26" name="文本框 25">
              <a:extLst>
                <a:ext uri="{FF2B5EF4-FFF2-40B4-BE49-F238E27FC236}">
                  <a16:creationId xmlns:a16="http://schemas.microsoft.com/office/drawing/2014/main" id="{3E97EA4B-5EFD-CB00-5233-9E52B2FB3460}"/>
                </a:ext>
              </a:extLst>
            </p:cNvPr>
            <p:cNvSpPr txBox="1">
              <a:spLocks/>
            </p:cNvSpPr>
            <p:nvPr/>
          </p:nvSpPr>
          <p:spPr>
            <a:xfrm>
              <a:off x="6933195" y="3753840"/>
              <a:ext cx="1330655"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27" name="文本框 26">
              <a:extLst>
                <a:ext uri="{FF2B5EF4-FFF2-40B4-BE49-F238E27FC236}">
                  <a16:creationId xmlns:a16="http://schemas.microsoft.com/office/drawing/2014/main" id="{259054E8-D214-AC91-DD66-4F79411F864E}"/>
                </a:ext>
              </a:extLst>
            </p:cNvPr>
            <p:cNvSpPr txBox="1">
              <a:spLocks/>
            </p:cNvSpPr>
            <p:nvPr/>
          </p:nvSpPr>
          <p:spPr>
            <a:xfrm>
              <a:off x="4973776" y="5523924"/>
              <a:ext cx="807250" cy="369332"/>
            </a:xfrm>
            <a:prstGeom prst="rect">
              <a:avLst/>
            </a:prstGeom>
            <a:noFill/>
          </p:spPr>
          <p:txBody>
            <a:bodyPr wrap="square" rtlCol="0">
              <a:spAutoFit/>
            </a:bodyPr>
            <a:lstStyle/>
            <a:p>
              <a:r>
                <a:rPr lang="zh-CN" altLang="en-US" b="1" dirty="0"/>
                <a:t>主机</a:t>
              </a:r>
              <a:r>
                <a:rPr lang="en-US" altLang="zh-CN" b="1" dirty="0"/>
                <a:t>1</a:t>
              </a:r>
              <a:endParaRPr lang="zh-CN" altLang="en-US" b="1" dirty="0"/>
            </a:p>
          </p:txBody>
        </p:sp>
        <p:sp>
          <p:nvSpPr>
            <p:cNvPr id="28" name="文本框 27">
              <a:extLst>
                <a:ext uri="{FF2B5EF4-FFF2-40B4-BE49-F238E27FC236}">
                  <a16:creationId xmlns:a16="http://schemas.microsoft.com/office/drawing/2014/main" id="{F3A38053-44CB-6091-84F8-6B4BDFAE1B22}"/>
                </a:ext>
              </a:extLst>
            </p:cNvPr>
            <p:cNvSpPr txBox="1">
              <a:spLocks/>
            </p:cNvSpPr>
            <p:nvPr/>
          </p:nvSpPr>
          <p:spPr>
            <a:xfrm>
              <a:off x="5885935" y="5523924"/>
              <a:ext cx="807250" cy="369332"/>
            </a:xfrm>
            <a:prstGeom prst="rect">
              <a:avLst/>
            </a:prstGeom>
            <a:noFill/>
          </p:spPr>
          <p:txBody>
            <a:bodyPr wrap="square" rtlCol="0">
              <a:spAutoFit/>
            </a:bodyPr>
            <a:lstStyle/>
            <a:p>
              <a:pPr algn="r"/>
              <a:r>
                <a:rPr lang="zh-CN" altLang="en-US" b="1" dirty="0"/>
                <a:t>主机</a:t>
              </a:r>
              <a:r>
                <a:rPr lang="en-US" altLang="zh-CN" b="1" dirty="0"/>
                <a:t>n</a:t>
              </a:r>
              <a:endParaRPr lang="zh-CN" altLang="en-US" b="1" dirty="0"/>
            </a:p>
          </p:txBody>
        </p:sp>
        <p:sp>
          <p:nvSpPr>
            <p:cNvPr id="32" name="文本框 31">
              <a:extLst>
                <a:ext uri="{FF2B5EF4-FFF2-40B4-BE49-F238E27FC236}">
                  <a16:creationId xmlns:a16="http://schemas.microsoft.com/office/drawing/2014/main" id="{917180FB-8EAC-ADA4-4EF3-ABDAAC60A986}"/>
                </a:ext>
              </a:extLst>
            </p:cNvPr>
            <p:cNvSpPr txBox="1"/>
            <p:nvPr/>
          </p:nvSpPr>
          <p:spPr>
            <a:xfrm>
              <a:off x="5631994" y="5441386"/>
              <a:ext cx="403411" cy="400110"/>
            </a:xfrm>
            <a:prstGeom prst="rect">
              <a:avLst/>
            </a:prstGeom>
            <a:noFill/>
          </p:spPr>
          <p:txBody>
            <a:bodyPr wrap="square" rtlCol="0">
              <a:spAutoFit/>
            </a:bodyPr>
            <a:lstStyle/>
            <a:p>
              <a:pPr algn="ctr"/>
              <a:r>
                <a:rPr lang="en-US" altLang="zh-CN" sz="2000" b="1" dirty="0"/>
                <a:t>…</a:t>
              </a:r>
              <a:endParaRPr lang="zh-CN" altLang="en-US" sz="2000" b="1" dirty="0"/>
            </a:p>
          </p:txBody>
        </p:sp>
      </p:grpSp>
      <p:sp>
        <p:nvSpPr>
          <p:cNvPr id="202" name="文本框 201">
            <a:extLst>
              <a:ext uri="{FF2B5EF4-FFF2-40B4-BE49-F238E27FC236}">
                <a16:creationId xmlns:a16="http://schemas.microsoft.com/office/drawing/2014/main" id="{5D77868F-80E5-319B-1806-37854C5CDD68}"/>
              </a:ext>
            </a:extLst>
          </p:cNvPr>
          <p:cNvSpPr txBox="1">
            <a:spLocks/>
          </p:cNvSpPr>
          <p:nvPr/>
        </p:nvSpPr>
        <p:spPr>
          <a:xfrm>
            <a:off x="5376716" y="4704406"/>
            <a:ext cx="1018437" cy="369332"/>
          </a:xfrm>
          <a:prstGeom prst="rect">
            <a:avLst/>
          </a:prstGeom>
          <a:noFill/>
        </p:spPr>
        <p:txBody>
          <a:bodyPr wrap="square" rtlCol="0">
            <a:spAutoFit/>
          </a:bodyPr>
          <a:lstStyle/>
          <a:p>
            <a:pPr algn="ctr"/>
            <a:r>
              <a:rPr lang="zh-CN" altLang="en-US" b="1" dirty="0"/>
              <a:t>交换机</a:t>
            </a:r>
          </a:p>
        </p:txBody>
      </p:sp>
    </p:spTree>
    <p:custDataLst>
      <p:tags r:id="rId1"/>
    </p:custDataLst>
    <p:extLst>
      <p:ext uri="{BB962C8B-B14F-4D97-AF65-F5344CB8AC3E}">
        <p14:creationId xmlns:p14="http://schemas.microsoft.com/office/powerpoint/2010/main" val="134354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01"/>
                                        </p:tgtEl>
                                        <p:attrNameLst>
                                          <p:attrName>style.visibility</p:attrName>
                                        </p:attrNameLst>
                                      </p:cBhvr>
                                      <p:to>
                                        <p:strVal val="visible"/>
                                      </p:to>
                                    </p:set>
                                    <p:anim calcmode="lin" valueType="num">
                                      <p:cBhvr>
                                        <p:cTn id="7" dur="500" fill="hold"/>
                                        <p:tgtEl>
                                          <p:spTgt spid="201"/>
                                        </p:tgtEl>
                                        <p:attrNameLst>
                                          <p:attrName>ppt_w</p:attrName>
                                        </p:attrNameLst>
                                      </p:cBhvr>
                                      <p:tavLst>
                                        <p:tav tm="0">
                                          <p:val>
                                            <p:fltVal val="0"/>
                                          </p:val>
                                        </p:tav>
                                        <p:tav tm="100000">
                                          <p:val>
                                            <p:strVal val="#ppt_w"/>
                                          </p:val>
                                        </p:tav>
                                      </p:tavLst>
                                    </p:anim>
                                    <p:anim calcmode="lin" valueType="num">
                                      <p:cBhvr>
                                        <p:cTn id="8" dur="500" fill="hold"/>
                                        <p:tgtEl>
                                          <p:spTgt spid="201"/>
                                        </p:tgtEl>
                                        <p:attrNameLst>
                                          <p:attrName>ppt_h</p:attrName>
                                        </p:attrNameLst>
                                      </p:cBhvr>
                                      <p:tavLst>
                                        <p:tav tm="0">
                                          <p:val>
                                            <p:fltVal val="0"/>
                                          </p:val>
                                        </p:tav>
                                        <p:tav tm="100000">
                                          <p:val>
                                            <p:strVal val="#ppt_h"/>
                                          </p:val>
                                        </p:tav>
                                      </p:tavLst>
                                    </p:anim>
                                    <p:animEffect transition="in" filter="fade">
                                      <p:cBhvr>
                                        <p:cTn id="9" dur="500"/>
                                        <p:tgtEl>
                                          <p:spTgt spid="201"/>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00"/>
                                        </p:tgtEl>
                                        <p:attrNameLst>
                                          <p:attrName>style.visibility</p:attrName>
                                        </p:attrNameLst>
                                      </p:cBhvr>
                                      <p:to>
                                        <p:strVal val="visible"/>
                                      </p:to>
                                    </p:set>
                                    <p:anim calcmode="lin" valueType="num">
                                      <p:cBhvr additive="base">
                                        <p:cTn id="14" dur="500"/>
                                        <p:tgtEl>
                                          <p:spTgt spid="200"/>
                                        </p:tgtEl>
                                        <p:attrNameLst>
                                          <p:attrName>ppt_y</p:attrName>
                                        </p:attrNameLst>
                                      </p:cBhvr>
                                      <p:tavLst>
                                        <p:tav tm="0">
                                          <p:val>
                                            <p:strVal val="#ppt_y+#ppt_h*1.125000"/>
                                          </p:val>
                                        </p:tav>
                                        <p:tav tm="100000">
                                          <p:val>
                                            <p:strVal val="#ppt_y"/>
                                          </p:val>
                                        </p:tav>
                                      </p:tavLst>
                                    </p:anim>
                                    <p:animEffect transition="in" filter="wipe(up)">
                                      <p:cBhvr>
                                        <p:cTn id="15"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动态主机配置协议</a:t>
              </a:r>
              <a:r>
                <a:rPr lang="en-US" altLang="zh-CN" sz="2000" b="1" dirty="0"/>
                <a:t>DHCP</a:t>
              </a:r>
              <a:r>
                <a:rPr lang="zh-CN" altLang="en-US" sz="2000" b="1" dirty="0"/>
                <a:t>的作用</a:t>
              </a:r>
              <a:endParaRPr lang="zh-CN" altLang="en-US" sz="2000" b="1" dirty="0">
                <a:solidFill>
                  <a:schemeClr val="tx1"/>
                </a:solidFill>
                <a:ea typeface="+mj-ea"/>
              </a:endParaRPr>
            </a:p>
          </p:txBody>
        </p:sp>
      </p:grpSp>
      <p:sp>
        <p:nvSpPr>
          <p:cNvPr id="39" name="矩形 38">
            <a:extLst>
              <a:ext uri="{FF2B5EF4-FFF2-40B4-BE49-F238E27FC236}">
                <a16:creationId xmlns:a16="http://schemas.microsoft.com/office/drawing/2014/main" id="{8BCCC6B6-532F-0C5A-1EC0-04A33104DB83}"/>
              </a:ext>
            </a:extLst>
          </p:cNvPr>
          <p:cNvSpPr/>
          <p:nvPr/>
        </p:nvSpPr>
        <p:spPr>
          <a:xfrm>
            <a:off x="1512792" y="5325035"/>
            <a:ext cx="9177618" cy="9681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50000"/>
              </a:lnSpc>
            </a:pPr>
            <a:r>
              <a:rPr lang="zh-CN" altLang="en-US" sz="1800" b="1" dirty="0">
                <a:solidFill>
                  <a:schemeClr val="bg1"/>
                </a:solidFill>
                <a:effectLst/>
              </a:rPr>
              <a:t>        动态主机配置协议</a:t>
            </a:r>
            <a:r>
              <a:rPr lang="en-US" altLang="zh-CN" sz="1800" b="1" dirty="0">
                <a:solidFill>
                  <a:schemeClr val="bg1"/>
                </a:solidFill>
                <a:effectLst/>
              </a:rPr>
              <a:t>DHCP</a:t>
            </a:r>
            <a:r>
              <a:rPr lang="zh-CN" altLang="en-US" sz="1800" b="1" dirty="0">
                <a:solidFill>
                  <a:schemeClr val="bg1"/>
                </a:solidFill>
                <a:effectLst/>
              </a:rPr>
              <a:t>可为计算机自动配置网络参数，使得计算机“即插即联网”（</a:t>
            </a:r>
            <a:r>
              <a:rPr lang="en-US" altLang="zh-CN" sz="1800" b="1" dirty="0">
                <a:solidFill>
                  <a:schemeClr val="bg1"/>
                </a:solidFill>
                <a:effectLst/>
              </a:rPr>
              <a:t>Plug-and-Play Networking</a:t>
            </a:r>
            <a:r>
              <a:rPr lang="zh-CN" altLang="en-US" sz="1800" b="1" dirty="0">
                <a:solidFill>
                  <a:schemeClr val="bg1"/>
                </a:solidFill>
                <a:effectLst/>
              </a:rPr>
              <a:t>）。</a:t>
            </a:r>
            <a:r>
              <a:rPr lang="en-US" altLang="zh-CN" sz="1800" b="1" dirty="0">
                <a:solidFill>
                  <a:schemeClr val="bg1"/>
                </a:solidFill>
                <a:effectLst/>
              </a:rPr>
              <a:t>DHCP</a:t>
            </a:r>
            <a:r>
              <a:rPr lang="zh-CN" altLang="en-US" sz="1800" b="1" dirty="0">
                <a:solidFill>
                  <a:schemeClr val="bg1"/>
                </a:solidFill>
                <a:effectLst/>
              </a:rPr>
              <a:t>目前是因特网草案标准</a:t>
            </a:r>
            <a:r>
              <a:rPr lang="en-US" altLang="zh-CN" sz="1800" b="1" dirty="0">
                <a:solidFill>
                  <a:schemeClr val="bg1"/>
                </a:solidFill>
                <a:effectLst/>
              </a:rPr>
              <a:t>[RFC 2131</a:t>
            </a:r>
            <a:r>
              <a:rPr lang="zh-CN" altLang="en-US" sz="1800" b="1" dirty="0">
                <a:solidFill>
                  <a:schemeClr val="bg1"/>
                </a:solidFill>
                <a:effectLst/>
              </a:rPr>
              <a:t>，</a:t>
            </a:r>
            <a:r>
              <a:rPr lang="en-US" altLang="zh-CN" sz="1800" b="1" dirty="0">
                <a:solidFill>
                  <a:schemeClr val="bg1"/>
                </a:solidFill>
                <a:effectLst/>
              </a:rPr>
              <a:t>RFC 2132]</a:t>
            </a:r>
            <a:r>
              <a:rPr lang="zh-CN" altLang="en-US" sz="1800" b="1" dirty="0">
                <a:solidFill>
                  <a:schemeClr val="bg1"/>
                </a:solidFill>
                <a:effectLst/>
              </a:rPr>
              <a:t>。</a:t>
            </a:r>
            <a:endParaRPr lang="zh-CN" altLang="en-US" b="1" dirty="0">
              <a:solidFill>
                <a:schemeClr val="bg1"/>
              </a:solidFill>
            </a:endParaRPr>
          </a:p>
        </p:txBody>
      </p:sp>
      <p:pic>
        <p:nvPicPr>
          <p:cNvPr id="37" name="图片 36">
            <a:extLst>
              <a:ext uri="{FF2B5EF4-FFF2-40B4-BE49-F238E27FC236}">
                <a16:creationId xmlns:a16="http://schemas.microsoft.com/office/drawing/2014/main" id="{2E6AE019-045D-5093-B2B4-C56666D4CD82}"/>
              </a:ext>
            </a:extLst>
          </p:cNvPr>
          <p:cNvPicPr>
            <a:picLocks noChangeAspect="1"/>
          </p:cNvPicPr>
          <p:nvPr/>
        </p:nvPicPr>
        <p:blipFill>
          <a:blip r:embed="rId3"/>
          <a:stretch>
            <a:fillRect/>
          </a:stretch>
        </p:blipFill>
        <p:spPr>
          <a:xfrm>
            <a:off x="2326344" y="1188530"/>
            <a:ext cx="7545815" cy="4010285"/>
          </a:xfrm>
          <a:prstGeom prst="rect">
            <a:avLst/>
          </a:prstGeom>
        </p:spPr>
      </p:pic>
    </p:spTree>
    <p:custDataLst>
      <p:tags r:id="rId1"/>
    </p:custDataLst>
    <p:extLst>
      <p:ext uri="{BB962C8B-B14F-4D97-AF65-F5344CB8AC3E}">
        <p14:creationId xmlns:p14="http://schemas.microsoft.com/office/powerpoint/2010/main" val="564921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p:tgtEl>
                                          <p:spTgt spid="37"/>
                                        </p:tgtEl>
                                        <p:attrNameLst>
                                          <p:attrName>ppt_y</p:attrName>
                                        </p:attrNameLst>
                                      </p:cBhvr>
                                      <p:tavLst>
                                        <p:tav tm="0">
                                          <p:val>
                                            <p:strVal val="#ppt_y+#ppt_h*1.125000"/>
                                          </p:val>
                                        </p:tav>
                                        <p:tav tm="100000">
                                          <p:val>
                                            <p:strVal val="#ppt_y"/>
                                          </p:val>
                                        </p:tav>
                                      </p:tavLst>
                                    </p:anim>
                                    <p:animEffect transition="in" filter="wipe(up)">
                                      <p:cBhvr>
                                        <p:cTn id="8" dur="500"/>
                                        <p:tgtEl>
                                          <p:spTgt spid="37"/>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500"/>
                                        <p:tgtEl>
                                          <p:spTgt spid="39"/>
                                        </p:tgtEl>
                                        <p:attrNameLst>
                                          <p:attrName>ppt_y</p:attrName>
                                        </p:attrNameLst>
                                      </p:cBhvr>
                                      <p:tavLst>
                                        <p:tav tm="0">
                                          <p:val>
                                            <p:strVal val="#ppt_y-#ppt_h*1.125000"/>
                                          </p:val>
                                        </p:tav>
                                        <p:tav tm="100000">
                                          <p:val>
                                            <p:strVal val="#ppt_y"/>
                                          </p:val>
                                        </p:tav>
                                      </p:tavLst>
                                    </p:anim>
                                    <p:animEffect transition="in" filter="wipe(down)">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a:extLst>
              <a:ext uri="{FF2B5EF4-FFF2-40B4-BE49-F238E27FC236}">
                <a16:creationId xmlns:a16="http://schemas.microsoft.com/office/drawing/2014/main" id="{13F16601-EF82-3842-B267-D238C4513C9A}"/>
              </a:ext>
            </a:extLst>
          </p:cNvPr>
          <p:cNvGrpSpPr/>
          <p:nvPr/>
        </p:nvGrpSpPr>
        <p:grpSpPr>
          <a:xfrm>
            <a:off x="3887991" y="3756001"/>
            <a:ext cx="6327487" cy="366949"/>
            <a:chOff x="3891384" y="5954213"/>
            <a:chExt cx="6327487" cy="366949"/>
          </a:xfrm>
          <a:solidFill>
            <a:schemeClr val="tx2"/>
          </a:solidFill>
        </p:grpSpPr>
        <p:sp>
          <p:nvSpPr>
            <p:cNvPr id="70" name="矩形 69">
              <a:extLst>
                <a:ext uri="{FF2B5EF4-FFF2-40B4-BE49-F238E27FC236}">
                  <a16:creationId xmlns:a16="http://schemas.microsoft.com/office/drawing/2014/main" id="{982C4B7F-1DF4-2080-FBB0-0CA571B350F6}"/>
                </a:ext>
              </a:extLst>
            </p:cNvPr>
            <p:cNvSpPr/>
            <p:nvPr/>
          </p:nvSpPr>
          <p:spPr>
            <a:xfrm>
              <a:off x="3891384" y="5954719"/>
              <a:ext cx="6327487" cy="3664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FFC000"/>
                </a:solidFill>
              </a:endParaRPr>
            </a:p>
          </p:txBody>
        </p:sp>
        <p:sp>
          <p:nvSpPr>
            <p:cNvPr id="71" name="文本框 70">
              <a:extLst>
                <a:ext uri="{FF2B5EF4-FFF2-40B4-BE49-F238E27FC236}">
                  <a16:creationId xmlns:a16="http://schemas.microsoft.com/office/drawing/2014/main" id="{5F162F92-D5FE-7556-AF36-555838773EA7}"/>
                </a:ext>
              </a:extLst>
            </p:cNvPr>
            <p:cNvSpPr txBox="1"/>
            <p:nvPr/>
          </p:nvSpPr>
          <p:spPr>
            <a:xfrm>
              <a:off x="4756174" y="5954213"/>
              <a:ext cx="5365360" cy="338554"/>
            </a:xfrm>
            <a:prstGeom prst="rect">
              <a:avLst/>
            </a:prstGeom>
            <a:noFill/>
            <a:ln>
              <a:noFill/>
            </a:ln>
          </p:spPr>
          <p:txBody>
            <a:bodyPr wrap="square" rtlCol="0">
              <a:spAutoFit/>
            </a:bodyPr>
            <a:lstStyle/>
            <a:p>
              <a:r>
                <a:rPr lang="zh-CN" altLang="en-US" sz="1600" b="1" dirty="0">
                  <a:solidFill>
                    <a:schemeClr val="bg1"/>
                  </a:solidFill>
                </a:rPr>
                <a:t>使用</a:t>
              </a:r>
              <a:r>
                <a:rPr lang="en-US" altLang="zh-CN" sz="1600" b="1" dirty="0">
                  <a:solidFill>
                    <a:schemeClr val="bg1"/>
                  </a:solidFill>
                </a:rPr>
                <a:t>ARP</a:t>
              </a:r>
              <a:r>
                <a:rPr lang="zh-CN" altLang="en-US" sz="1600" b="1" dirty="0">
                  <a:solidFill>
                    <a:schemeClr val="bg1"/>
                  </a:solidFill>
                </a:rPr>
                <a:t>确保所选</a:t>
              </a:r>
              <a:r>
                <a:rPr lang="en-US" altLang="zh-CN" sz="1600" b="1" dirty="0">
                  <a:solidFill>
                    <a:schemeClr val="bg1"/>
                  </a:solidFill>
                </a:rPr>
                <a:t>IP</a:t>
              </a:r>
              <a:r>
                <a:rPr lang="zh-CN" altLang="en-US" sz="1600" b="1" dirty="0">
                  <a:solidFill>
                    <a:schemeClr val="bg1"/>
                  </a:solidFill>
                </a:rPr>
                <a:t>地址未被网络中其他主机占用</a:t>
              </a:r>
            </a:p>
          </p:txBody>
        </p:sp>
      </p:gr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sp>
        <p:nvSpPr>
          <p:cNvPr id="55" name="文本框 54">
            <a:extLst>
              <a:ext uri="{FF2B5EF4-FFF2-40B4-BE49-F238E27FC236}">
                <a16:creationId xmlns:a16="http://schemas.microsoft.com/office/drawing/2014/main" id="{78462875-75BB-8C80-4B8F-0FFC7F9F8661}"/>
              </a:ext>
            </a:extLst>
          </p:cNvPr>
          <p:cNvSpPr txBox="1"/>
          <p:nvPr/>
        </p:nvSpPr>
        <p:spPr>
          <a:xfrm>
            <a:off x="3656320" y="3096468"/>
            <a:ext cx="1108742" cy="369332"/>
          </a:xfrm>
          <a:prstGeom prst="rect">
            <a:avLst/>
          </a:prstGeom>
          <a:noFill/>
        </p:spPr>
        <p:txBody>
          <a:bodyPr wrap="square" rtlCol="0">
            <a:spAutoFit/>
          </a:bodyPr>
          <a:lstStyle/>
          <a:p>
            <a:r>
              <a:rPr lang="zh-CN" altLang="en-US" b="1" dirty="0">
                <a:solidFill>
                  <a:schemeClr val="accent2"/>
                </a:solidFill>
                <a:latin typeface="+mn-ea"/>
              </a:rPr>
              <a:t>事务</a:t>
            </a:r>
            <a:r>
              <a:rPr lang="en-US" altLang="zh-CN" b="1" dirty="0">
                <a:solidFill>
                  <a:schemeClr val="accent2"/>
                </a:solidFill>
                <a:latin typeface="+mn-ea"/>
              </a:rPr>
              <a:t>ID</a:t>
            </a:r>
            <a:endParaRPr lang="zh-CN" altLang="en-US" b="1" dirty="0">
              <a:solidFill>
                <a:schemeClr val="accent2"/>
              </a:solidFill>
              <a:latin typeface="+mn-ea"/>
            </a:endParaRPr>
          </a:p>
        </p:txBody>
      </p:sp>
      <p:sp>
        <p:nvSpPr>
          <p:cNvPr id="56" name="文本框 55">
            <a:extLst>
              <a:ext uri="{FF2B5EF4-FFF2-40B4-BE49-F238E27FC236}">
                <a16:creationId xmlns:a16="http://schemas.microsoft.com/office/drawing/2014/main" id="{4D1CB39A-AD61-5905-AA0B-AA9CFED3589D}"/>
              </a:ext>
            </a:extLst>
          </p:cNvPr>
          <p:cNvSpPr txBox="1"/>
          <p:nvPr/>
        </p:nvSpPr>
        <p:spPr>
          <a:xfrm>
            <a:off x="3656320" y="3445590"/>
            <a:ext cx="1751987" cy="369332"/>
          </a:xfrm>
          <a:prstGeom prst="rect">
            <a:avLst/>
          </a:prstGeom>
          <a:noFill/>
        </p:spPr>
        <p:txBody>
          <a:bodyPr wrap="square" rtlCol="0">
            <a:spAutoFit/>
          </a:bodyPr>
          <a:lstStyle/>
          <a:p>
            <a:r>
              <a:rPr lang="zh-CN" altLang="en-US" b="1" dirty="0">
                <a:solidFill>
                  <a:schemeClr val="accent2"/>
                </a:solidFill>
                <a:latin typeface="+mn-ea"/>
              </a:rPr>
              <a:t>配置信息：</a:t>
            </a:r>
          </a:p>
        </p:txBody>
      </p:sp>
      <p:sp>
        <p:nvSpPr>
          <p:cNvPr id="57" name="文本框 56">
            <a:extLst>
              <a:ext uri="{FF2B5EF4-FFF2-40B4-BE49-F238E27FC236}">
                <a16:creationId xmlns:a16="http://schemas.microsoft.com/office/drawing/2014/main" id="{954E1052-B9FE-8402-C5E2-6DBCE1D543D4}"/>
              </a:ext>
            </a:extLst>
          </p:cNvPr>
          <p:cNvSpPr txBox="1"/>
          <p:nvPr/>
        </p:nvSpPr>
        <p:spPr>
          <a:xfrm>
            <a:off x="8852702" y="3080740"/>
            <a:ext cx="1108742" cy="369332"/>
          </a:xfrm>
          <a:prstGeom prst="rect">
            <a:avLst/>
          </a:prstGeom>
          <a:noFill/>
        </p:spPr>
        <p:txBody>
          <a:bodyPr wrap="square" rtlCol="0">
            <a:spAutoFit/>
          </a:bodyPr>
          <a:lstStyle/>
          <a:p>
            <a:r>
              <a:rPr lang="zh-CN" altLang="en-US" b="1" dirty="0">
                <a:solidFill>
                  <a:schemeClr val="accent2"/>
                </a:solidFill>
                <a:latin typeface="+mn-ea"/>
              </a:rPr>
              <a:t>事务</a:t>
            </a:r>
            <a:r>
              <a:rPr lang="en-US" altLang="zh-CN" b="1" dirty="0">
                <a:solidFill>
                  <a:schemeClr val="accent2"/>
                </a:solidFill>
                <a:latin typeface="+mn-ea"/>
              </a:rPr>
              <a:t>ID</a:t>
            </a:r>
            <a:endParaRPr lang="zh-CN" altLang="en-US" b="1" dirty="0">
              <a:solidFill>
                <a:schemeClr val="accent2"/>
              </a:solidFill>
              <a:latin typeface="+mn-ea"/>
            </a:endParaRPr>
          </a:p>
        </p:txBody>
      </p:sp>
      <p:sp>
        <p:nvSpPr>
          <p:cNvPr id="58" name="文本框 57">
            <a:extLst>
              <a:ext uri="{FF2B5EF4-FFF2-40B4-BE49-F238E27FC236}">
                <a16:creationId xmlns:a16="http://schemas.microsoft.com/office/drawing/2014/main" id="{EF1B6699-87EE-BAD2-1A64-9E1C0BFFBBAB}"/>
              </a:ext>
            </a:extLst>
          </p:cNvPr>
          <p:cNvSpPr txBox="1"/>
          <p:nvPr/>
        </p:nvSpPr>
        <p:spPr>
          <a:xfrm>
            <a:off x="8852703" y="3429862"/>
            <a:ext cx="1290756" cy="369332"/>
          </a:xfrm>
          <a:prstGeom prst="rect">
            <a:avLst/>
          </a:prstGeom>
          <a:noFill/>
        </p:spPr>
        <p:txBody>
          <a:bodyPr wrap="square" rtlCol="0">
            <a:spAutoFit/>
          </a:bodyPr>
          <a:lstStyle/>
          <a:p>
            <a:r>
              <a:rPr lang="zh-CN" altLang="en-US" b="1" dirty="0">
                <a:solidFill>
                  <a:schemeClr val="accent2"/>
                </a:solidFill>
                <a:latin typeface="+mn-ea"/>
              </a:rPr>
              <a:t>配置信息：</a:t>
            </a:r>
          </a:p>
        </p:txBody>
      </p:sp>
      <p:sp>
        <p:nvSpPr>
          <p:cNvPr id="59" name="文本框 58">
            <a:extLst>
              <a:ext uri="{FF2B5EF4-FFF2-40B4-BE49-F238E27FC236}">
                <a16:creationId xmlns:a16="http://schemas.microsoft.com/office/drawing/2014/main" id="{319F1A4B-ED52-9E19-2FC7-4578D0B80E64}"/>
              </a:ext>
            </a:extLst>
          </p:cNvPr>
          <p:cNvSpPr txBox="1"/>
          <p:nvPr/>
        </p:nvSpPr>
        <p:spPr>
          <a:xfrm>
            <a:off x="3887991" y="4135270"/>
            <a:ext cx="1907932" cy="369332"/>
          </a:xfrm>
          <a:prstGeom prst="rect">
            <a:avLst/>
          </a:prstGeom>
          <a:noFill/>
        </p:spPr>
        <p:txBody>
          <a:bodyPr wrap="square" rtlCol="0">
            <a:spAutoFit/>
          </a:bodyPr>
          <a:lstStyle/>
          <a:p>
            <a:r>
              <a:rPr lang="zh-CN" altLang="en-US" b="1" dirty="0">
                <a:solidFill>
                  <a:schemeClr val="accent2"/>
                </a:solidFill>
                <a:latin typeface="+mn-ea"/>
              </a:rPr>
              <a:t>子网掩码</a:t>
            </a:r>
          </a:p>
        </p:txBody>
      </p:sp>
      <p:sp>
        <p:nvSpPr>
          <p:cNvPr id="60" name="文本框 59">
            <a:extLst>
              <a:ext uri="{FF2B5EF4-FFF2-40B4-BE49-F238E27FC236}">
                <a16:creationId xmlns:a16="http://schemas.microsoft.com/office/drawing/2014/main" id="{1689C155-4D09-86DA-EDFE-51695AAD4F0A}"/>
              </a:ext>
            </a:extLst>
          </p:cNvPr>
          <p:cNvSpPr txBox="1"/>
          <p:nvPr/>
        </p:nvSpPr>
        <p:spPr>
          <a:xfrm>
            <a:off x="3887991" y="4503274"/>
            <a:ext cx="1907932" cy="369332"/>
          </a:xfrm>
          <a:prstGeom prst="rect">
            <a:avLst/>
          </a:prstGeom>
          <a:noFill/>
        </p:spPr>
        <p:txBody>
          <a:bodyPr wrap="square" rtlCol="0">
            <a:spAutoFit/>
          </a:bodyPr>
          <a:lstStyle/>
          <a:p>
            <a:r>
              <a:rPr lang="zh-CN" altLang="en-US" b="1" dirty="0">
                <a:solidFill>
                  <a:schemeClr val="accent2"/>
                </a:solidFill>
                <a:latin typeface="+mn-ea"/>
              </a:rPr>
              <a:t>地址租期</a:t>
            </a:r>
          </a:p>
        </p:txBody>
      </p:sp>
      <p:sp>
        <p:nvSpPr>
          <p:cNvPr id="61" name="文本框 60">
            <a:extLst>
              <a:ext uri="{FF2B5EF4-FFF2-40B4-BE49-F238E27FC236}">
                <a16:creationId xmlns:a16="http://schemas.microsoft.com/office/drawing/2014/main" id="{F143F227-6683-3FDE-514D-B6BAAF6C625B}"/>
              </a:ext>
            </a:extLst>
          </p:cNvPr>
          <p:cNvSpPr txBox="1"/>
          <p:nvPr/>
        </p:nvSpPr>
        <p:spPr>
          <a:xfrm>
            <a:off x="3887991" y="4871278"/>
            <a:ext cx="1907932" cy="369332"/>
          </a:xfrm>
          <a:prstGeom prst="rect">
            <a:avLst/>
          </a:prstGeom>
          <a:noFill/>
        </p:spPr>
        <p:txBody>
          <a:bodyPr wrap="square" rtlCol="0">
            <a:spAutoFit/>
          </a:bodyPr>
          <a:lstStyle/>
          <a:p>
            <a:r>
              <a:rPr lang="zh-CN" altLang="en-US" b="1" dirty="0">
                <a:solidFill>
                  <a:schemeClr val="accent2"/>
                </a:solidFill>
                <a:latin typeface="+mn-ea"/>
              </a:rPr>
              <a:t>默认网关</a:t>
            </a:r>
          </a:p>
        </p:txBody>
      </p:sp>
      <p:sp>
        <p:nvSpPr>
          <p:cNvPr id="62" name="文本框 61">
            <a:extLst>
              <a:ext uri="{FF2B5EF4-FFF2-40B4-BE49-F238E27FC236}">
                <a16:creationId xmlns:a16="http://schemas.microsoft.com/office/drawing/2014/main" id="{4C050FA4-526E-F24F-C3BE-2DCA2545ED8D}"/>
              </a:ext>
            </a:extLst>
          </p:cNvPr>
          <p:cNvSpPr txBox="1"/>
          <p:nvPr/>
        </p:nvSpPr>
        <p:spPr>
          <a:xfrm>
            <a:off x="3887991" y="5239283"/>
            <a:ext cx="1907932" cy="369332"/>
          </a:xfrm>
          <a:prstGeom prst="rect">
            <a:avLst/>
          </a:prstGeom>
          <a:noFill/>
        </p:spPr>
        <p:txBody>
          <a:bodyPr wrap="square" rtlCol="0">
            <a:spAutoFit/>
          </a:bodyPr>
          <a:lstStyle/>
          <a:p>
            <a:r>
              <a:rPr lang="en-US" altLang="zh-CN" b="1" dirty="0">
                <a:solidFill>
                  <a:schemeClr val="accent2"/>
                </a:solidFill>
                <a:latin typeface="+mn-ea"/>
              </a:rPr>
              <a:t>DNS</a:t>
            </a:r>
            <a:r>
              <a:rPr lang="zh-CN" altLang="en-US" b="1" dirty="0">
                <a:solidFill>
                  <a:schemeClr val="accent2"/>
                </a:solidFill>
                <a:latin typeface="+mn-ea"/>
              </a:rPr>
              <a:t>服务器</a:t>
            </a:r>
          </a:p>
        </p:txBody>
      </p:sp>
      <p:sp>
        <p:nvSpPr>
          <p:cNvPr id="63" name="文本框 62">
            <a:extLst>
              <a:ext uri="{FF2B5EF4-FFF2-40B4-BE49-F238E27FC236}">
                <a16:creationId xmlns:a16="http://schemas.microsoft.com/office/drawing/2014/main" id="{BBBA1901-11B1-1571-E335-4F49C7C08097}"/>
              </a:ext>
            </a:extLst>
          </p:cNvPr>
          <p:cNvSpPr txBox="1"/>
          <p:nvPr/>
        </p:nvSpPr>
        <p:spPr>
          <a:xfrm>
            <a:off x="9306813" y="4121094"/>
            <a:ext cx="1907932" cy="369332"/>
          </a:xfrm>
          <a:prstGeom prst="rect">
            <a:avLst/>
          </a:prstGeom>
          <a:noFill/>
        </p:spPr>
        <p:txBody>
          <a:bodyPr wrap="square" rtlCol="0">
            <a:spAutoFit/>
          </a:bodyPr>
          <a:lstStyle/>
          <a:p>
            <a:r>
              <a:rPr lang="zh-CN" altLang="en-US" b="1" dirty="0">
                <a:solidFill>
                  <a:schemeClr val="accent2"/>
                </a:solidFill>
                <a:latin typeface="+mn-ea"/>
              </a:rPr>
              <a:t>子网掩码</a:t>
            </a:r>
          </a:p>
        </p:txBody>
      </p:sp>
      <p:sp>
        <p:nvSpPr>
          <p:cNvPr id="64" name="文本框 63">
            <a:extLst>
              <a:ext uri="{FF2B5EF4-FFF2-40B4-BE49-F238E27FC236}">
                <a16:creationId xmlns:a16="http://schemas.microsoft.com/office/drawing/2014/main" id="{82A9FFB4-AC4A-AE94-522B-6778D7FDE430}"/>
              </a:ext>
            </a:extLst>
          </p:cNvPr>
          <p:cNvSpPr txBox="1"/>
          <p:nvPr/>
        </p:nvSpPr>
        <p:spPr>
          <a:xfrm>
            <a:off x="9306813" y="4489098"/>
            <a:ext cx="1907932" cy="369332"/>
          </a:xfrm>
          <a:prstGeom prst="rect">
            <a:avLst/>
          </a:prstGeom>
          <a:noFill/>
        </p:spPr>
        <p:txBody>
          <a:bodyPr wrap="square" rtlCol="0">
            <a:spAutoFit/>
          </a:bodyPr>
          <a:lstStyle/>
          <a:p>
            <a:r>
              <a:rPr lang="zh-CN" altLang="en-US" b="1" dirty="0">
                <a:solidFill>
                  <a:schemeClr val="accent2"/>
                </a:solidFill>
                <a:latin typeface="+mn-ea"/>
              </a:rPr>
              <a:t>地址租期</a:t>
            </a:r>
          </a:p>
        </p:txBody>
      </p:sp>
      <p:sp>
        <p:nvSpPr>
          <p:cNvPr id="65" name="文本框 64">
            <a:extLst>
              <a:ext uri="{FF2B5EF4-FFF2-40B4-BE49-F238E27FC236}">
                <a16:creationId xmlns:a16="http://schemas.microsoft.com/office/drawing/2014/main" id="{47BCE564-3FE8-235D-47F1-3A6A0564170D}"/>
              </a:ext>
            </a:extLst>
          </p:cNvPr>
          <p:cNvSpPr txBox="1"/>
          <p:nvPr/>
        </p:nvSpPr>
        <p:spPr>
          <a:xfrm>
            <a:off x="9306813" y="4857102"/>
            <a:ext cx="1907932" cy="369332"/>
          </a:xfrm>
          <a:prstGeom prst="rect">
            <a:avLst/>
          </a:prstGeom>
          <a:noFill/>
        </p:spPr>
        <p:txBody>
          <a:bodyPr wrap="square" rtlCol="0">
            <a:spAutoFit/>
          </a:bodyPr>
          <a:lstStyle/>
          <a:p>
            <a:r>
              <a:rPr lang="zh-CN" altLang="en-US" b="1" dirty="0">
                <a:solidFill>
                  <a:schemeClr val="accent2"/>
                </a:solidFill>
                <a:latin typeface="+mn-ea"/>
              </a:rPr>
              <a:t>默认网关</a:t>
            </a:r>
          </a:p>
        </p:txBody>
      </p:sp>
      <p:sp>
        <p:nvSpPr>
          <p:cNvPr id="66" name="文本框 65">
            <a:extLst>
              <a:ext uri="{FF2B5EF4-FFF2-40B4-BE49-F238E27FC236}">
                <a16:creationId xmlns:a16="http://schemas.microsoft.com/office/drawing/2014/main" id="{439261EC-5D3D-8884-0943-F1B797FF7434}"/>
              </a:ext>
            </a:extLst>
          </p:cNvPr>
          <p:cNvSpPr txBox="1"/>
          <p:nvPr/>
        </p:nvSpPr>
        <p:spPr>
          <a:xfrm>
            <a:off x="9306813" y="5225107"/>
            <a:ext cx="1907932" cy="369332"/>
          </a:xfrm>
          <a:prstGeom prst="rect">
            <a:avLst/>
          </a:prstGeom>
          <a:noFill/>
        </p:spPr>
        <p:txBody>
          <a:bodyPr wrap="square" rtlCol="0">
            <a:spAutoFit/>
          </a:bodyPr>
          <a:lstStyle/>
          <a:p>
            <a:r>
              <a:rPr lang="en-US" altLang="zh-CN" b="1" dirty="0">
                <a:solidFill>
                  <a:schemeClr val="accent2"/>
                </a:solidFill>
                <a:latin typeface="+mn-ea"/>
              </a:rPr>
              <a:t>DNS</a:t>
            </a:r>
            <a:r>
              <a:rPr lang="zh-CN" altLang="en-US" b="1" dirty="0">
                <a:solidFill>
                  <a:schemeClr val="accent2"/>
                </a:solidFill>
                <a:latin typeface="+mn-ea"/>
              </a:rPr>
              <a:t>服务器</a:t>
            </a:r>
          </a:p>
        </p:txBody>
      </p:sp>
      <p:sp>
        <p:nvSpPr>
          <p:cNvPr id="67" name="文本框 66">
            <a:extLst>
              <a:ext uri="{FF2B5EF4-FFF2-40B4-BE49-F238E27FC236}">
                <a16:creationId xmlns:a16="http://schemas.microsoft.com/office/drawing/2014/main" id="{D14F77B6-579D-D031-E7C3-8EEF81B27152}"/>
              </a:ext>
            </a:extLst>
          </p:cNvPr>
          <p:cNvSpPr txBox="1"/>
          <p:nvPr/>
        </p:nvSpPr>
        <p:spPr>
          <a:xfrm>
            <a:off x="3887991" y="3767266"/>
            <a:ext cx="1907932" cy="369332"/>
          </a:xfrm>
          <a:prstGeom prst="rect">
            <a:avLst/>
          </a:prstGeom>
          <a:noFill/>
        </p:spPr>
        <p:txBody>
          <a:bodyPr wrap="square" rtlCol="0">
            <a:spAutoFit/>
          </a:bodyPr>
          <a:lstStyle/>
          <a:p>
            <a:r>
              <a:rPr lang="en-US" altLang="zh-CN" b="1" dirty="0">
                <a:solidFill>
                  <a:schemeClr val="accent2"/>
                </a:solidFill>
                <a:latin typeface="+mn-ea"/>
              </a:rPr>
              <a:t>IP</a:t>
            </a:r>
            <a:r>
              <a:rPr lang="zh-CN" altLang="en-US" b="1" dirty="0">
                <a:solidFill>
                  <a:schemeClr val="accent2"/>
                </a:solidFill>
                <a:latin typeface="+mn-ea"/>
              </a:rPr>
              <a:t>地址</a:t>
            </a:r>
          </a:p>
        </p:txBody>
      </p:sp>
      <p:sp>
        <p:nvSpPr>
          <p:cNvPr id="68" name="文本框 67">
            <a:extLst>
              <a:ext uri="{FF2B5EF4-FFF2-40B4-BE49-F238E27FC236}">
                <a16:creationId xmlns:a16="http://schemas.microsoft.com/office/drawing/2014/main" id="{870E2283-BEA8-C9C2-0DB4-83D41000E6A9}"/>
              </a:ext>
            </a:extLst>
          </p:cNvPr>
          <p:cNvSpPr txBox="1"/>
          <p:nvPr/>
        </p:nvSpPr>
        <p:spPr>
          <a:xfrm>
            <a:off x="9306813" y="3753090"/>
            <a:ext cx="1907932" cy="369332"/>
          </a:xfrm>
          <a:prstGeom prst="rect">
            <a:avLst/>
          </a:prstGeom>
          <a:noFill/>
        </p:spPr>
        <p:txBody>
          <a:bodyPr wrap="square" rtlCol="0">
            <a:spAutoFit/>
          </a:bodyPr>
          <a:lstStyle/>
          <a:p>
            <a:r>
              <a:rPr lang="en-US" altLang="zh-CN" b="1" dirty="0">
                <a:solidFill>
                  <a:schemeClr val="accent2"/>
                </a:solidFill>
                <a:latin typeface="+mn-ea"/>
              </a:rPr>
              <a:t>IP</a:t>
            </a:r>
            <a:r>
              <a:rPr lang="zh-CN" altLang="en-US" b="1" dirty="0">
                <a:solidFill>
                  <a:schemeClr val="accent2"/>
                </a:solidFill>
                <a:latin typeface="+mn-ea"/>
              </a:rPr>
              <a:t>地址</a:t>
            </a:r>
          </a:p>
        </p:txBody>
      </p:sp>
    </p:spTree>
    <p:custDataLst>
      <p:tags r:id="rId1"/>
    </p:custDataLst>
    <p:extLst>
      <p:ext uri="{BB962C8B-B14F-4D97-AF65-F5344CB8AC3E}">
        <p14:creationId xmlns:p14="http://schemas.microsoft.com/office/powerpoint/2010/main" val="98139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2" presetClass="entr" presetSubtype="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10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2"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p:tgtEl>
                                          <p:spTgt spid="18"/>
                                        </p:tgtEl>
                                        <p:attrNameLst>
                                          <p:attrName>ppt_x</p:attrName>
                                        </p:attrNameLst>
                                      </p:cBhvr>
                                      <p:tavLst>
                                        <p:tav tm="0">
                                          <p:val>
                                            <p:strVal val="#ppt_x+#ppt_w*1.125000"/>
                                          </p:val>
                                        </p:tav>
                                        <p:tav tm="100000">
                                          <p:val>
                                            <p:strVal val="#ppt_x"/>
                                          </p:val>
                                        </p:tav>
                                      </p:tavLst>
                                    </p:anim>
                                    <p:animEffect transition="in" filter="wipe(left)">
                                      <p:cBhvr>
                                        <p:cTn id="16" dur="500"/>
                                        <p:tgtEl>
                                          <p:spTgt spid="18"/>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p:tgtEl>
                                          <p:spTgt spid="21"/>
                                        </p:tgtEl>
                                        <p:attrNameLst>
                                          <p:attrName>ppt_x</p:attrName>
                                        </p:attrNameLst>
                                      </p:cBhvr>
                                      <p:tavLst>
                                        <p:tav tm="0">
                                          <p:val>
                                            <p:strVal val="#ppt_x-#ppt_w*1.125000"/>
                                          </p:val>
                                        </p:tav>
                                        <p:tav tm="100000">
                                          <p:val>
                                            <p:strVal val="#ppt_x"/>
                                          </p:val>
                                        </p:tav>
                                      </p:tavLst>
                                    </p:anim>
                                    <p:animEffect transition="in" filter="wipe(right)">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p:tgtEl>
                                          <p:spTgt spid="16"/>
                                        </p:tgtEl>
                                        <p:attrNameLst>
                                          <p:attrName>ppt_x</p:attrName>
                                        </p:attrNameLst>
                                      </p:cBhvr>
                                      <p:tavLst>
                                        <p:tav tm="0">
                                          <p:val>
                                            <p:strVal val="#ppt_x+#ppt_w*1.125000"/>
                                          </p:val>
                                        </p:tav>
                                        <p:tav tm="100000">
                                          <p:val>
                                            <p:strVal val="#ppt_x"/>
                                          </p:val>
                                        </p:tav>
                                      </p:tavLst>
                                    </p:anim>
                                    <p:animEffect transition="in" filter="wipe(left)">
                                      <p:cBhvr>
                                        <p:cTn id="26" dur="500"/>
                                        <p:tgtEl>
                                          <p:spTgt spid="16"/>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p:tgtEl>
                                          <p:spTgt spid="17"/>
                                        </p:tgtEl>
                                        <p:attrNameLst>
                                          <p:attrName>ppt_x</p:attrName>
                                        </p:attrNameLst>
                                      </p:cBhvr>
                                      <p:tavLst>
                                        <p:tav tm="0">
                                          <p:val>
                                            <p:strVal val="#ppt_x-#ppt_w*1.125000"/>
                                          </p:val>
                                        </p:tav>
                                        <p:tav tm="100000">
                                          <p:val>
                                            <p:strVal val="#ppt_x"/>
                                          </p:val>
                                        </p:tav>
                                      </p:tavLst>
                                    </p:anim>
                                    <p:animEffect transition="in" filter="wipe(righ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cBhvr additive="base">
                                        <p:cTn id="35" dur="500"/>
                                        <p:tgtEl>
                                          <p:spTgt spid="57"/>
                                        </p:tgtEl>
                                        <p:attrNameLst>
                                          <p:attrName>ppt_y</p:attrName>
                                        </p:attrNameLst>
                                      </p:cBhvr>
                                      <p:tavLst>
                                        <p:tav tm="0">
                                          <p:val>
                                            <p:strVal val="#ppt_y-#ppt_h*1.125000"/>
                                          </p:val>
                                        </p:tav>
                                        <p:tav tm="100000">
                                          <p:val>
                                            <p:strVal val="#ppt_y"/>
                                          </p:val>
                                        </p:tav>
                                      </p:tavLst>
                                    </p:anim>
                                    <p:animEffect transition="in" filter="wipe(down)">
                                      <p:cBhvr>
                                        <p:cTn id="36" dur="500"/>
                                        <p:tgtEl>
                                          <p:spTgt spid="57"/>
                                        </p:tgtEl>
                                      </p:cBhvr>
                                    </p:animEffect>
                                  </p:childTnLst>
                                </p:cTn>
                              </p:par>
                              <p:par>
                                <p:cTn id="37" presetID="12" presetClass="entr" presetSubtype="1"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p:tgtEl>
                                          <p:spTgt spid="55"/>
                                        </p:tgtEl>
                                        <p:attrNameLst>
                                          <p:attrName>ppt_y</p:attrName>
                                        </p:attrNameLst>
                                      </p:cBhvr>
                                      <p:tavLst>
                                        <p:tav tm="0">
                                          <p:val>
                                            <p:strVal val="#ppt_y-#ppt_h*1.125000"/>
                                          </p:val>
                                        </p:tav>
                                        <p:tav tm="100000">
                                          <p:val>
                                            <p:strVal val="#ppt_y"/>
                                          </p:val>
                                        </p:tav>
                                      </p:tavLst>
                                    </p:anim>
                                    <p:animEffect transition="in" filter="wipe(down)">
                                      <p:cBhvr>
                                        <p:cTn id="40" dur="5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1"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anim calcmode="lin" valueType="num">
                                      <p:cBhvr additive="base">
                                        <p:cTn id="45" dur="500"/>
                                        <p:tgtEl>
                                          <p:spTgt spid="56"/>
                                        </p:tgtEl>
                                        <p:attrNameLst>
                                          <p:attrName>ppt_y</p:attrName>
                                        </p:attrNameLst>
                                      </p:cBhvr>
                                      <p:tavLst>
                                        <p:tav tm="0">
                                          <p:val>
                                            <p:strVal val="#ppt_y-#ppt_h*1.125000"/>
                                          </p:val>
                                        </p:tav>
                                        <p:tav tm="100000">
                                          <p:val>
                                            <p:strVal val="#ppt_y"/>
                                          </p:val>
                                        </p:tav>
                                      </p:tavLst>
                                    </p:anim>
                                    <p:animEffect transition="in" filter="wipe(down)">
                                      <p:cBhvr>
                                        <p:cTn id="46" dur="500"/>
                                        <p:tgtEl>
                                          <p:spTgt spid="56"/>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anim calcmode="lin" valueType="num">
                                      <p:cBhvr additive="base">
                                        <p:cTn id="49" dur="500"/>
                                        <p:tgtEl>
                                          <p:spTgt spid="58"/>
                                        </p:tgtEl>
                                        <p:attrNameLst>
                                          <p:attrName>ppt_y</p:attrName>
                                        </p:attrNameLst>
                                      </p:cBhvr>
                                      <p:tavLst>
                                        <p:tav tm="0">
                                          <p:val>
                                            <p:strVal val="#ppt_y-#ppt_h*1.125000"/>
                                          </p:val>
                                        </p:tav>
                                        <p:tav tm="100000">
                                          <p:val>
                                            <p:strVal val="#ppt_y"/>
                                          </p:val>
                                        </p:tav>
                                      </p:tavLst>
                                    </p:anim>
                                    <p:animEffect transition="in" filter="wipe(down)">
                                      <p:cBhvr>
                                        <p:cTn id="50" dur="500"/>
                                        <p:tgtEl>
                                          <p:spTgt spid="58"/>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1" fill="hold" grpId="0" nodeType="clickEffect">
                                  <p:stCondLst>
                                    <p:cond delay="0"/>
                                  </p:stCondLst>
                                  <p:childTnLst>
                                    <p:set>
                                      <p:cBhvr>
                                        <p:cTn id="54" dur="1" fill="hold">
                                          <p:stCondLst>
                                            <p:cond delay="0"/>
                                          </p:stCondLst>
                                        </p:cTn>
                                        <p:tgtEl>
                                          <p:spTgt spid="67"/>
                                        </p:tgtEl>
                                        <p:attrNameLst>
                                          <p:attrName>style.visibility</p:attrName>
                                        </p:attrNameLst>
                                      </p:cBhvr>
                                      <p:to>
                                        <p:strVal val="visible"/>
                                      </p:to>
                                    </p:set>
                                    <p:anim calcmode="lin" valueType="num">
                                      <p:cBhvr additive="base">
                                        <p:cTn id="55" dur="500"/>
                                        <p:tgtEl>
                                          <p:spTgt spid="67"/>
                                        </p:tgtEl>
                                        <p:attrNameLst>
                                          <p:attrName>ppt_y</p:attrName>
                                        </p:attrNameLst>
                                      </p:cBhvr>
                                      <p:tavLst>
                                        <p:tav tm="0">
                                          <p:val>
                                            <p:strVal val="#ppt_y-#ppt_h*1.125000"/>
                                          </p:val>
                                        </p:tav>
                                        <p:tav tm="100000">
                                          <p:val>
                                            <p:strVal val="#ppt_y"/>
                                          </p:val>
                                        </p:tav>
                                      </p:tavLst>
                                    </p:anim>
                                    <p:animEffect transition="in" filter="wipe(down)">
                                      <p:cBhvr>
                                        <p:cTn id="56" dur="500"/>
                                        <p:tgtEl>
                                          <p:spTgt spid="67"/>
                                        </p:tgtEl>
                                      </p:cBhvr>
                                    </p:animEffect>
                                  </p:childTnLst>
                                </p:cTn>
                              </p:par>
                              <p:par>
                                <p:cTn id="57" presetID="12" presetClass="entr" presetSubtype="1"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anim calcmode="lin" valueType="num">
                                      <p:cBhvr additive="base">
                                        <p:cTn id="59" dur="500"/>
                                        <p:tgtEl>
                                          <p:spTgt spid="68"/>
                                        </p:tgtEl>
                                        <p:attrNameLst>
                                          <p:attrName>ppt_y</p:attrName>
                                        </p:attrNameLst>
                                      </p:cBhvr>
                                      <p:tavLst>
                                        <p:tav tm="0">
                                          <p:val>
                                            <p:strVal val="#ppt_y-#ppt_h*1.125000"/>
                                          </p:val>
                                        </p:tav>
                                        <p:tav tm="100000">
                                          <p:val>
                                            <p:strVal val="#ppt_y"/>
                                          </p:val>
                                        </p:tav>
                                      </p:tavLst>
                                    </p:anim>
                                    <p:animEffect transition="in" filter="wipe(down)">
                                      <p:cBhvr>
                                        <p:cTn id="60" dur="500"/>
                                        <p:tgtEl>
                                          <p:spTgt spid="68"/>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1" fill="hold" grpId="0" nodeType="clickEffect">
                                  <p:stCondLst>
                                    <p:cond delay="0"/>
                                  </p:stCondLst>
                                  <p:childTnLst>
                                    <p:set>
                                      <p:cBhvr>
                                        <p:cTn id="64" dur="1" fill="hold">
                                          <p:stCondLst>
                                            <p:cond delay="0"/>
                                          </p:stCondLst>
                                        </p:cTn>
                                        <p:tgtEl>
                                          <p:spTgt spid="59"/>
                                        </p:tgtEl>
                                        <p:attrNameLst>
                                          <p:attrName>style.visibility</p:attrName>
                                        </p:attrNameLst>
                                      </p:cBhvr>
                                      <p:to>
                                        <p:strVal val="visible"/>
                                      </p:to>
                                    </p:set>
                                    <p:anim calcmode="lin" valueType="num">
                                      <p:cBhvr additive="base">
                                        <p:cTn id="65" dur="500"/>
                                        <p:tgtEl>
                                          <p:spTgt spid="59"/>
                                        </p:tgtEl>
                                        <p:attrNameLst>
                                          <p:attrName>ppt_y</p:attrName>
                                        </p:attrNameLst>
                                      </p:cBhvr>
                                      <p:tavLst>
                                        <p:tav tm="0">
                                          <p:val>
                                            <p:strVal val="#ppt_y-#ppt_h*1.125000"/>
                                          </p:val>
                                        </p:tav>
                                        <p:tav tm="100000">
                                          <p:val>
                                            <p:strVal val="#ppt_y"/>
                                          </p:val>
                                        </p:tav>
                                      </p:tavLst>
                                    </p:anim>
                                    <p:animEffect transition="in" filter="wipe(down)">
                                      <p:cBhvr>
                                        <p:cTn id="66" dur="500"/>
                                        <p:tgtEl>
                                          <p:spTgt spid="59"/>
                                        </p:tgtEl>
                                      </p:cBhvr>
                                    </p:animEffect>
                                  </p:childTnLst>
                                </p:cTn>
                              </p:par>
                              <p:par>
                                <p:cTn id="67" presetID="12" presetClass="entr" presetSubtype="1"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anim calcmode="lin" valueType="num">
                                      <p:cBhvr additive="base">
                                        <p:cTn id="69" dur="500"/>
                                        <p:tgtEl>
                                          <p:spTgt spid="63"/>
                                        </p:tgtEl>
                                        <p:attrNameLst>
                                          <p:attrName>ppt_y</p:attrName>
                                        </p:attrNameLst>
                                      </p:cBhvr>
                                      <p:tavLst>
                                        <p:tav tm="0">
                                          <p:val>
                                            <p:strVal val="#ppt_y-#ppt_h*1.125000"/>
                                          </p:val>
                                        </p:tav>
                                        <p:tav tm="100000">
                                          <p:val>
                                            <p:strVal val="#ppt_y"/>
                                          </p:val>
                                        </p:tav>
                                      </p:tavLst>
                                    </p:anim>
                                    <p:animEffect transition="in" filter="wipe(down)">
                                      <p:cBhvr>
                                        <p:cTn id="70" dur="500"/>
                                        <p:tgtEl>
                                          <p:spTgt spid="63"/>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1" fill="hold" grpId="0" nodeType="clickEffect">
                                  <p:stCondLst>
                                    <p:cond delay="0"/>
                                  </p:stCondLst>
                                  <p:childTnLst>
                                    <p:set>
                                      <p:cBhvr>
                                        <p:cTn id="74" dur="1" fill="hold">
                                          <p:stCondLst>
                                            <p:cond delay="0"/>
                                          </p:stCondLst>
                                        </p:cTn>
                                        <p:tgtEl>
                                          <p:spTgt spid="60"/>
                                        </p:tgtEl>
                                        <p:attrNameLst>
                                          <p:attrName>style.visibility</p:attrName>
                                        </p:attrNameLst>
                                      </p:cBhvr>
                                      <p:to>
                                        <p:strVal val="visible"/>
                                      </p:to>
                                    </p:set>
                                    <p:anim calcmode="lin" valueType="num">
                                      <p:cBhvr additive="base">
                                        <p:cTn id="75" dur="500"/>
                                        <p:tgtEl>
                                          <p:spTgt spid="60"/>
                                        </p:tgtEl>
                                        <p:attrNameLst>
                                          <p:attrName>ppt_y</p:attrName>
                                        </p:attrNameLst>
                                      </p:cBhvr>
                                      <p:tavLst>
                                        <p:tav tm="0">
                                          <p:val>
                                            <p:strVal val="#ppt_y-#ppt_h*1.125000"/>
                                          </p:val>
                                        </p:tav>
                                        <p:tav tm="100000">
                                          <p:val>
                                            <p:strVal val="#ppt_y"/>
                                          </p:val>
                                        </p:tav>
                                      </p:tavLst>
                                    </p:anim>
                                    <p:animEffect transition="in" filter="wipe(down)">
                                      <p:cBhvr>
                                        <p:cTn id="76" dur="500"/>
                                        <p:tgtEl>
                                          <p:spTgt spid="60"/>
                                        </p:tgtEl>
                                      </p:cBhvr>
                                    </p:animEffect>
                                  </p:childTnLst>
                                </p:cTn>
                              </p:par>
                              <p:par>
                                <p:cTn id="77" presetID="12" presetClass="entr" presetSubtype="1" fill="hold" grpId="0" nodeType="withEffect">
                                  <p:stCondLst>
                                    <p:cond delay="0"/>
                                  </p:stCondLst>
                                  <p:childTnLst>
                                    <p:set>
                                      <p:cBhvr>
                                        <p:cTn id="78" dur="1" fill="hold">
                                          <p:stCondLst>
                                            <p:cond delay="0"/>
                                          </p:stCondLst>
                                        </p:cTn>
                                        <p:tgtEl>
                                          <p:spTgt spid="64"/>
                                        </p:tgtEl>
                                        <p:attrNameLst>
                                          <p:attrName>style.visibility</p:attrName>
                                        </p:attrNameLst>
                                      </p:cBhvr>
                                      <p:to>
                                        <p:strVal val="visible"/>
                                      </p:to>
                                    </p:set>
                                    <p:anim calcmode="lin" valueType="num">
                                      <p:cBhvr additive="base">
                                        <p:cTn id="79" dur="500"/>
                                        <p:tgtEl>
                                          <p:spTgt spid="64"/>
                                        </p:tgtEl>
                                        <p:attrNameLst>
                                          <p:attrName>ppt_y</p:attrName>
                                        </p:attrNameLst>
                                      </p:cBhvr>
                                      <p:tavLst>
                                        <p:tav tm="0">
                                          <p:val>
                                            <p:strVal val="#ppt_y-#ppt_h*1.125000"/>
                                          </p:val>
                                        </p:tav>
                                        <p:tav tm="100000">
                                          <p:val>
                                            <p:strVal val="#ppt_y"/>
                                          </p:val>
                                        </p:tav>
                                      </p:tavLst>
                                    </p:anim>
                                    <p:animEffect transition="in" filter="wipe(down)">
                                      <p:cBhvr>
                                        <p:cTn id="80" dur="500"/>
                                        <p:tgtEl>
                                          <p:spTgt spid="64"/>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1"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anim calcmode="lin" valueType="num">
                                      <p:cBhvr additive="base">
                                        <p:cTn id="85" dur="500"/>
                                        <p:tgtEl>
                                          <p:spTgt spid="61"/>
                                        </p:tgtEl>
                                        <p:attrNameLst>
                                          <p:attrName>ppt_y</p:attrName>
                                        </p:attrNameLst>
                                      </p:cBhvr>
                                      <p:tavLst>
                                        <p:tav tm="0">
                                          <p:val>
                                            <p:strVal val="#ppt_y-#ppt_h*1.125000"/>
                                          </p:val>
                                        </p:tav>
                                        <p:tav tm="100000">
                                          <p:val>
                                            <p:strVal val="#ppt_y"/>
                                          </p:val>
                                        </p:tav>
                                      </p:tavLst>
                                    </p:anim>
                                    <p:animEffect transition="in" filter="wipe(down)">
                                      <p:cBhvr>
                                        <p:cTn id="86" dur="500"/>
                                        <p:tgtEl>
                                          <p:spTgt spid="61"/>
                                        </p:tgtEl>
                                      </p:cBhvr>
                                    </p:animEffect>
                                  </p:childTnLst>
                                </p:cTn>
                              </p:par>
                              <p:par>
                                <p:cTn id="87" presetID="12" presetClass="entr" presetSubtype="1" fill="hold" grpId="0" nodeType="withEffect">
                                  <p:stCondLst>
                                    <p:cond delay="0"/>
                                  </p:stCondLst>
                                  <p:childTnLst>
                                    <p:set>
                                      <p:cBhvr>
                                        <p:cTn id="88" dur="1" fill="hold">
                                          <p:stCondLst>
                                            <p:cond delay="0"/>
                                          </p:stCondLst>
                                        </p:cTn>
                                        <p:tgtEl>
                                          <p:spTgt spid="65"/>
                                        </p:tgtEl>
                                        <p:attrNameLst>
                                          <p:attrName>style.visibility</p:attrName>
                                        </p:attrNameLst>
                                      </p:cBhvr>
                                      <p:to>
                                        <p:strVal val="visible"/>
                                      </p:to>
                                    </p:set>
                                    <p:anim calcmode="lin" valueType="num">
                                      <p:cBhvr additive="base">
                                        <p:cTn id="89" dur="500"/>
                                        <p:tgtEl>
                                          <p:spTgt spid="65"/>
                                        </p:tgtEl>
                                        <p:attrNameLst>
                                          <p:attrName>ppt_y</p:attrName>
                                        </p:attrNameLst>
                                      </p:cBhvr>
                                      <p:tavLst>
                                        <p:tav tm="0">
                                          <p:val>
                                            <p:strVal val="#ppt_y-#ppt_h*1.125000"/>
                                          </p:val>
                                        </p:tav>
                                        <p:tav tm="100000">
                                          <p:val>
                                            <p:strVal val="#ppt_y"/>
                                          </p:val>
                                        </p:tav>
                                      </p:tavLst>
                                    </p:anim>
                                    <p:animEffect transition="in" filter="wipe(down)">
                                      <p:cBhvr>
                                        <p:cTn id="90" dur="500"/>
                                        <p:tgtEl>
                                          <p:spTgt spid="65"/>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grpId="0" nodeType="clickEffect">
                                  <p:stCondLst>
                                    <p:cond delay="0"/>
                                  </p:stCondLst>
                                  <p:childTnLst>
                                    <p:set>
                                      <p:cBhvr>
                                        <p:cTn id="94" dur="1" fill="hold">
                                          <p:stCondLst>
                                            <p:cond delay="0"/>
                                          </p:stCondLst>
                                        </p:cTn>
                                        <p:tgtEl>
                                          <p:spTgt spid="62"/>
                                        </p:tgtEl>
                                        <p:attrNameLst>
                                          <p:attrName>style.visibility</p:attrName>
                                        </p:attrNameLst>
                                      </p:cBhvr>
                                      <p:to>
                                        <p:strVal val="visible"/>
                                      </p:to>
                                    </p:set>
                                    <p:anim calcmode="lin" valueType="num">
                                      <p:cBhvr additive="base">
                                        <p:cTn id="95" dur="500"/>
                                        <p:tgtEl>
                                          <p:spTgt spid="62"/>
                                        </p:tgtEl>
                                        <p:attrNameLst>
                                          <p:attrName>ppt_y</p:attrName>
                                        </p:attrNameLst>
                                      </p:cBhvr>
                                      <p:tavLst>
                                        <p:tav tm="0">
                                          <p:val>
                                            <p:strVal val="#ppt_y-#ppt_h*1.125000"/>
                                          </p:val>
                                        </p:tav>
                                        <p:tav tm="100000">
                                          <p:val>
                                            <p:strVal val="#ppt_y"/>
                                          </p:val>
                                        </p:tav>
                                      </p:tavLst>
                                    </p:anim>
                                    <p:animEffect transition="in" filter="wipe(down)">
                                      <p:cBhvr>
                                        <p:cTn id="96" dur="500"/>
                                        <p:tgtEl>
                                          <p:spTgt spid="62"/>
                                        </p:tgtEl>
                                      </p:cBhvr>
                                    </p:animEffect>
                                  </p:childTnLst>
                                </p:cTn>
                              </p:par>
                              <p:par>
                                <p:cTn id="97" presetID="12" presetClass="entr" presetSubtype="1" fill="hold" grpId="0" nodeType="withEffect">
                                  <p:stCondLst>
                                    <p:cond delay="0"/>
                                  </p:stCondLst>
                                  <p:childTnLst>
                                    <p:set>
                                      <p:cBhvr>
                                        <p:cTn id="98" dur="1" fill="hold">
                                          <p:stCondLst>
                                            <p:cond delay="0"/>
                                          </p:stCondLst>
                                        </p:cTn>
                                        <p:tgtEl>
                                          <p:spTgt spid="66"/>
                                        </p:tgtEl>
                                        <p:attrNameLst>
                                          <p:attrName>style.visibility</p:attrName>
                                        </p:attrNameLst>
                                      </p:cBhvr>
                                      <p:to>
                                        <p:strVal val="visible"/>
                                      </p:to>
                                    </p:set>
                                    <p:anim calcmode="lin" valueType="num">
                                      <p:cBhvr additive="base">
                                        <p:cTn id="99" dur="500"/>
                                        <p:tgtEl>
                                          <p:spTgt spid="66"/>
                                        </p:tgtEl>
                                        <p:attrNameLst>
                                          <p:attrName>ppt_y</p:attrName>
                                        </p:attrNameLst>
                                      </p:cBhvr>
                                      <p:tavLst>
                                        <p:tav tm="0">
                                          <p:val>
                                            <p:strVal val="#ppt_y-#ppt_h*1.125000"/>
                                          </p:val>
                                        </p:tav>
                                        <p:tav tm="100000">
                                          <p:val>
                                            <p:strVal val="#ppt_y"/>
                                          </p:val>
                                        </p:tav>
                                      </p:tavLst>
                                    </p:anim>
                                    <p:animEffect transition="in" filter="wipe(down)">
                                      <p:cBhvr>
                                        <p:cTn id="100" dur="500"/>
                                        <p:tgtEl>
                                          <p:spTgt spid="66"/>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nodeType="clickEffect">
                                  <p:stCondLst>
                                    <p:cond delay="0"/>
                                  </p:stCondLst>
                                  <p:childTnLst>
                                    <p:set>
                                      <p:cBhvr>
                                        <p:cTn id="104" dur="1" fill="hold">
                                          <p:stCondLst>
                                            <p:cond delay="0"/>
                                          </p:stCondLst>
                                        </p:cTn>
                                        <p:tgtEl>
                                          <p:spTgt spid="69"/>
                                        </p:tgtEl>
                                        <p:attrNameLst>
                                          <p:attrName>style.visibility</p:attrName>
                                        </p:attrNameLst>
                                      </p:cBhvr>
                                      <p:to>
                                        <p:strVal val="visible"/>
                                      </p:to>
                                    </p:set>
                                    <p:anim calcmode="lin" valueType="num">
                                      <p:cBhvr>
                                        <p:cTn id="105" dur="500" fill="hold"/>
                                        <p:tgtEl>
                                          <p:spTgt spid="69"/>
                                        </p:tgtEl>
                                        <p:attrNameLst>
                                          <p:attrName>ppt_w</p:attrName>
                                        </p:attrNameLst>
                                      </p:cBhvr>
                                      <p:tavLst>
                                        <p:tav tm="0">
                                          <p:val>
                                            <p:fltVal val="0"/>
                                          </p:val>
                                        </p:tav>
                                        <p:tav tm="100000">
                                          <p:val>
                                            <p:strVal val="#ppt_w"/>
                                          </p:val>
                                        </p:tav>
                                      </p:tavLst>
                                    </p:anim>
                                    <p:anim calcmode="lin" valueType="num">
                                      <p:cBhvr>
                                        <p:cTn id="106" dur="500" fill="hold"/>
                                        <p:tgtEl>
                                          <p:spTgt spid="69"/>
                                        </p:tgtEl>
                                        <p:attrNameLst>
                                          <p:attrName>ppt_h</p:attrName>
                                        </p:attrNameLst>
                                      </p:cBhvr>
                                      <p:tavLst>
                                        <p:tav tm="0">
                                          <p:val>
                                            <p:fltVal val="0"/>
                                          </p:val>
                                        </p:tav>
                                        <p:tav tm="100000">
                                          <p:val>
                                            <p:strVal val="#ppt_h"/>
                                          </p:val>
                                        </p:tav>
                                      </p:tavLst>
                                    </p:anim>
                                    <p:animEffect transition="in" filter="fade">
                                      <p:cBhvr>
                                        <p:cTn id="10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21"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文本框 61">
            <a:extLst>
              <a:ext uri="{FF2B5EF4-FFF2-40B4-BE49-F238E27FC236}">
                <a16:creationId xmlns:a16="http://schemas.microsoft.com/office/drawing/2014/main" id="{DB2C9604-8CB5-9565-B001-15934967FFD0}"/>
              </a:ext>
            </a:extLst>
          </p:cNvPr>
          <p:cNvSpPr txBox="1"/>
          <p:nvPr/>
        </p:nvSpPr>
        <p:spPr>
          <a:xfrm>
            <a:off x="4872835" y="3757054"/>
            <a:ext cx="1632849"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zh-CN" altLang="en-US" sz="1600" b="1" dirty="0"/>
              <a:t>租用的地址</a:t>
            </a:r>
          </a:p>
        </p:txBody>
      </p:sp>
      <p:sp>
        <p:nvSpPr>
          <p:cNvPr id="63" name="文本框 62">
            <a:extLst>
              <a:ext uri="{FF2B5EF4-FFF2-40B4-BE49-F238E27FC236}">
                <a16:creationId xmlns:a16="http://schemas.microsoft.com/office/drawing/2014/main" id="{42082970-DD42-7FD7-CEBC-F8955CF586B0}"/>
              </a:ext>
            </a:extLst>
          </p:cNvPr>
          <p:cNvSpPr txBox="1"/>
          <p:nvPr/>
        </p:nvSpPr>
        <p:spPr>
          <a:xfrm>
            <a:off x="1926097" y="3757059"/>
            <a:ext cx="192737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58" name="文本框 57">
            <a:extLst>
              <a:ext uri="{FF2B5EF4-FFF2-40B4-BE49-F238E27FC236}">
                <a16:creationId xmlns:a16="http://schemas.microsoft.com/office/drawing/2014/main" id="{519FD33F-5613-1A25-20A7-9A7A3938EFB9}"/>
              </a:ext>
            </a:extLst>
          </p:cNvPr>
          <p:cNvSpPr txBox="1"/>
          <p:nvPr/>
        </p:nvSpPr>
        <p:spPr>
          <a:xfrm>
            <a:off x="4856557" y="3245726"/>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59" name="文本框 58">
            <a:extLst>
              <a:ext uri="{FF2B5EF4-FFF2-40B4-BE49-F238E27FC236}">
                <a16:creationId xmlns:a16="http://schemas.microsoft.com/office/drawing/2014/main" id="{D284ECA9-A96C-480A-B3A6-7FFCA3B9D603}"/>
              </a:ext>
            </a:extLst>
          </p:cNvPr>
          <p:cNvSpPr txBox="1"/>
          <p:nvPr/>
        </p:nvSpPr>
        <p:spPr>
          <a:xfrm>
            <a:off x="1926098" y="3245731"/>
            <a:ext cx="1653388" cy="338554"/>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34" name="文本框 33">
            <a:extLst>
              <a:ext uri="{FF2B5EF4-FFF2-40B4-BE49-F238E27FC236}">
                <a16:creationId xmlns:a16="http://schemas.microsoft.com/office/drawing/2014/main" id="{F08BF59F-7DC5-3678-411D-4DF6410FB1A1}"/>
              </a:ext>
            </a:extLst>
          </p:cNvPr>
          <p:cNvSpPr txBox="1"/>
          <p:nvPr/>
        </p:nvSpPr>
        <p:spPr>
          <a:xfrm>
            <a:off x="7667730" y="2894281"/>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5" name="文本框 44">
            <a:extLst>
              <a:ext uri="{FF2B5EF4-FFF2-40B4-BE49-F238E27FC236}">
                <a16:creationId xmlns:a16="http://schemas.microsoft.com/office/drawing/2014/main" id="{544FA009-CE68-79CD-B7F9-A113C89F0097}"/>
              </a:ext>
            </a:extLst>
          </p:cNvPr>
          <p:cNvSpPr txBox="1"/>
          <p:nvPr/>
        </p:nvSpPr>
        <p:spPr>
          <a:xfrm>
            <a:off x="4861903" y="2894281"/>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6" name="文本框 45">
            <a:extLst>
              <a:ext uri="{FF2B5EF4-FFF2-40B4-BE49-F238E27FC236}">
                <a16:creationId xmlns:a16="http://schemas.microsoft.com/office/drawing/2014/main" id="{0C936A34-28F1-7BF8-7D9B-9D5C50950249}"/>
              </a:ext>
            </a:extLst>
          </p:cNvPr>
          <p:cNvSpPr txBox="1"/>
          <p:nvPr/>
        </p:nvSpPr>
        <p:spPr>
          <a:xfrm>
            <a:off x="1926097" y="2894286"/>
            <a:ext cx="1932789"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7" name="文本框 46">
            <a:extLst>
              <a:ext uri="{FF2B5EF4-FFF2-40B4-BE49-F238E27FC236}">
                <a16:creationId xmlns:a16="http://schemas.microsoft.com/office/drawing/2014/main" id="{2FE702FF-1BD9-AF09-CBCC-F313492E8757}"/>
              </a:ext>
            </a:extLst>
          </p:cNvPr>
          <p:cNvSpPr txBox="1"/>
          <p:nvPr/>
        </p:nvSpPr>
        <p:spPr>
          <a:xfrm>
            <a:off x="9745002" y="2894287"/>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6" name="文本框 15">
            <a:extLst>
              <a:ext uri="{FF2B5EF4-FFF2-40B4-BE49-F238E27FC236}">
                <a16:creationId xmlns:a16="http://schemas.microsoft.com/office/drawing/2014/main" id="{233CFD37-354F-1B72-96C4-63BC59760FC0}"/>
              </a:ext>
            </a:extLst>
          </p:cNvPr>
          <p:cNvSpPr txBox="1"/>
          <p:nvPr/>
        </p:nvSpPr>
        <p:spPr>
          <a:xfrm>
            <a:off x="6818065" y="2562940"/>
            <a:ext cx="202245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 </a:t>
            </a:r>
            <a:r>
              <a:rPr lang="en-US" altLang="zh-CN" sz="1600" b="1" dirty="0"/>
              <a:t>255.255.255.255</a:t>
            </a:r>
            <a:endParaRPr lang="zh-CN" altLang="en-US" sz="1600" b="1" dirty="0"/>
          </a:p>
        </p:txBody>
      </p:sp>
      <p:sp>
        <p:nvSpPr>
          <p:cNvPr id="17" name="文本框 16">
            <a:extLst>
              <a:ext uri="{FF2B5EF4-FFF2-40B4-BE49-F238E27FC236}">
                <a16:creationId xmlns:a16="http://schemas.microsoft.com/office/drawing/2014/main" id="{83E62B8D-4FE8-F157-1041-3678DAE3E771}"/>
              </a:ext>
            </a:extLst>
          </p:cNvPr>
          <p:cNvSpPr txBox="1"/>
          <p:nvPr/>
        </p:nvSpPr>
        <p:spPr>
          <a:xfrm>
            <a:off x="4857344" y="2562940"/>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sp>
        <p:nvSpPr>
          <p:cNvPr id="18" name="文本框 17">
            <a:extLst>
              <a:ext uri="{FF2B5EF4-FFF2-40B4-BE49-F238E27FC236}">
                <a16:creationId xmlns:a16="http://schemas.microsoft.com/office/drawing/2014/main" id="{55A39507-B1E7-D111-F6B0-831CFD6C065E}"/>
              </a:ext>
            </a:extLst>
          </p:cNvPr>
          <p:cNvSpPr txBox="1"/>
          <p:nvPr/>
        </p:nvSpPr>
        <p:spPr>
          <a:xfrm>
            <a:off x="1926097" y="2562945"/>
            <a:ext cx="1653389"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sp>
        <p:nvSpPr>
          <p:cNvPr id="21" name="文本框 20">
            <a:extLst>
              <a:ext uri="{FF2B5EF4-FFF2-40B4-BE49-F238E27FC236}">
                <a16:creationId xmlns:a16="http://schemas.microsoft.com/office/drawing/2014/main" id="{049FC622-7209-EEB3-DD36-91ECCFBE25F3}"/>
              </a:ext>
            </a:extLst>
          </p:cNvPr>
          <p:cNvSpPr txBox="1"/>
          <p:nvPr/>
        </p:nvSpPr>
        <p:spPr>
          <a:xfrm>
            <a:off x="9773493" y="2562946"/>
            <a:ext cx="2085889" cy="338548"/>
          </a:xfrm>
          <a:prstGeom prst="rect">
            <a:avLst/>
          </a:prstGeom>
          <a:noFill/>
        </p:spPr>
        <p:txBody>
          <a:bodyPr wrap="square" rtlCol="0">
            <a:spAutoFit/>
          </a:bodyPr>
          <a:lstStyle/>
          <a:p>
            <a:r>
              <a:rPr lang="zh-CN" altLang="en-US" sz="1600" b="1" dirty="0">
                <a:latin typeface="+mn-ea"/>
              </a:rPr>
              <a:t>源</a:t>
            </a:r>
            <a:r>
              <a:rPr lang="en-US" altLang="zh-CN" sz="1600" b="1" dirty="0">
                <a:latin typeface="+mn-ea"/>
              </a:rPr>
              <a:t>:</a:t>
            </a:r>
            <a:r>
              <a:rPr lang="en-US" altLang="zh-CN" sz="1600" b="1" dirty="0"/>
              <a:t>DHCP</a:t>
            </a:r>
            <a:r>
              <a:rPr lang="zh-CN" altLang="en-US" sz="1600" b="1" dirty="0"/>
              <a:t>服务器</a:t>
            </a:r>
            <a:r>
              <a:rPr lang="en-US" altLang="zh-CN" sz="1600" b="1" dirty="0"/>
              <a:t>2</a:t>
            </a:r>
            <a:endParaRPr lang="zh-CN" altLang="en-US" sz="1600" b="1" dirty="0"/>
          </a:p>
        </p:txBody>
      </p:sp>
      <p:sp>
        <p:nvSpPr>
          <p:cNvPr id="41" name="文本框 40">
            <a:extLst>
              <a:ext uri="{FF2B5EF4-FFF2-40B4-BE49-F238E27FC236}">
                <a16:creationId xmlns:a16="http://schemas.microsoft.com/office/drawing/2014/main" id="{45FA4EC1-53F9-CB29-AAA8-DD1810E21233}"/>
              </a:ext>
            </a:extLst>
          </p:cNvPr>
          <p:cNvSpPr txBox="1"/>
          <p:nvPr/>
        </p:nvSpPr>
        <p:spPr>
          <a:xfrm>
            <a:off x="7670121" y="2211594"/>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2" name="文本框 41">
            <a:extLst>
              <a:ext uri="{FF2B5EF4-FFF2-40B4-BE49-F238E27FC236}">
                <a16:creationId xmlns:a16="http://schemas.microsoft.com/office/drawing/2014/main" id="{D1EF6881-D011-CE80-0D57-32F2FD5DE566}"/>
              </a:ext>
            </a:extLst>
          </p:cNvPr>
          <p:cNvSpPr txBox="1"/>
          <p:nvPr/>
        </p:nvSpPr>
        <p:spPr>
          <a:xfrm>
            <a:off x="4864293" y="2211594"/>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43" name="文本框 42">
            <a:extLst>
              <a:ext uri="{FF2B5EF4-FFF2-40B4-BE49-F238E27FC236}">
                <a16:creationId xmlns:a16="http://schemas.microsoft.com/office/drawing/2014/main" id="{C7B045FA-D9C4-3710-D392-139FF8FF1142}"/>
              </a:ext>
            </a:extLst>
          </p:cNvPr>
          <p:cNvSpPr txBox="1"/>
          <p:nvPr/>
        </p:nvSpPr>
        <p:spPr>
          <a:xfrm>
            <a:off x="1926097" y="2211599"/>
            <a:ext cx="1952736"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sp>
        <p:nvSpPr>
          <p:cNvPr id="44" name="文本框 43">
            <a:extLst>
              <a:ext uri="{FF2B5EF4-FFF2-40B4-BE49-F238E27FC236}">
                <a16:creationId xmlns:a16="http://schemas.microsoft.com/office/drawing/2014/main" id="{5EBE8CB2-1DF7-6744-E973-7BDA98C1D745}"/>
              </a:ext>
            </a:extLst>
          </p:cNvPr>
          <p:cNvSpPr txBox="1"/>
          <p:nvPr/>
        </p:nvSpPr>
        <p:spPr>
          <a:xfrm>
            <a:off x="9745002" y="2211600"/>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t>动态主机配置协议</a:t>
              </a:r>
              <a:r>
                <a:rPr lang="en-US" altLang="zh-CN" sz="2000" b="1" dirty="0">
                  <a:ea typeface="+mj-ea"/>
                </a:rPr>
                <a:t>DHCP</a:t>
              </a:r>
              <a:r>
                <a:rPr lang="zh-CN" altLang="en-US" sz="2000" b="1" dirty="0">
                  <a:ea typeface="+mj-ea"/>
                </a:rPr>
                <a:t>的基本工作过程</a:t>
              </a:r>
              <a:endParaRPr lang="zh-CN" altLang="en-US" sz="2000" b="1" dirty="0">
                <a:solidFill>
                  <a:schemeClr val="tx1"/>
                </a:solidFill>
                <a:ea typeface="+mj-ea"/>
              </a:endParaRPr>
            </a:p>
          </p:txBody>
        </p:sp>
      </p:grpSp>
      <p:sp>
        <p:nvSpPr>
          <p:cNvPr id="11" name="文本框 10">
            <a:extLst>
              <a:ext uri="{FF2B5EF4-FFF2-40B4-BE49-F238E27FC236}">
                <a16:creationId xmlns:a16="http://schemas.microsoft.com/office/drawing/2014/main" id="{B50C3326-5403-AE13-CE6F-4AA85CCAE067}"/>
              </a:ext>
            </a:extLst>
          </p:cNvPr>
          <p:cNvSpPr txBox="1"/>
          <p:nvPr/>
        </p:nvSpPr>
        <p:spPr>
          <a:xfrm>
            <a:off x="2070271" y="1643308"/>
            <a:ext cx="1701167"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1</a:t>
            </a:r>
          </a:p>
        </p:txBody>
      </p:sp>
      <p:sp>
        <p:nvSpPr>
          <p:cNvPr id="14" name="文本框 13">
            <a:extLst>
              <a:ext uri="{FF2B5EF4-FFF2-40B4-BE49-F238E27FC236}">
                <a16:creationId xmlns:a16="http://schemas.microsoft.com/office/drawing/2014/main" id="{BD3B3502-462E-A387-0E9E-ACF9B941A2EF}"/>
              </a:ext>
            </a:extLst>
          </p:cNvPr>
          <p:cNvSpPr txBox="1"/>
          <p:nvPr/>
        </p:nvSpPr>
        <p:spPr>
          <a:xfrm>
            <a:off x="7122561" y="1643308"/>
            <a:ext cx="1457405" cy="369332"/>
          </a:xfrm>
          <a:prstGeom prst="rect">
            <a:avLst/>
          </a:prstGeom>
          <a:noFill/>
        </p:spPr>
        <p:txBody>
          <a:bodyPr wrap="square" rtlCol="0">
            <a:spAutoFit/>
          </a:bodyPr>
          <a:lstStyle/>
          <a:p>
            <a:pPr algn="ctr"/>
            <a:r>
              <a:rPr lang="en-US" altLang="zh-CN" b="1" dirty="0"/>
              <a:t>DHCP</a:t>
            </a:r>
            <a:r>
              <a:rPr lang="zh-CN" altLang="en-US" b="1" dirty="0"/>
              <a:t>客户</a:t>
            </a:r>
            <a:endParaRPr lang="en-US" altLang="zh-CN" b="1" dirty="0"/>
          </a:p>
        </p:txBody>
      </p:sp>
      <p:grpSp>
        <p:nvGrpSpPr>
          <p:cNvPr id="5" name="组合 4">
            <a:extLst>
              <a:ext uri="{FF2B5EF4-FFF2-40B4-BE49-F238E27FC236}">
                <a16:creationId xmlns:a16="http://schemas.microsoft.com/office/drawing/2014/main" id="{0FAD7F57-FAD0-3567-C454-90672B377188}"/>
              </a:ext>
            </a:extLst>
          </p:cNvPr>
          <p:cNvGrpSpPr/>
          <p:nvPr/>
        </p:nvGrpSpPr>
        <p:grpSpPr>
          <a:xfrm>
            <a:off x="1635790" y="1574270"/>
            <a:ext cx="10199805" cy="667424"/>
            <a:chOff x="1635790" y="1574270"/>
            <a:chExt cx="10199805" cy="667424"/>
          </a:xfrm>
        </p:grpSpPr>
        <p:pic>
          <p:nvPicPr>
            <p:cNvPr id="7" name="图形 6">
              <a:extLst>
                <a:ext uri="{FF2B5EF4-FFF2-40B4-BE49-F238E27FC236}">
                  <a16:creationId xmlns:a16="http://schemas.microsoft.com/office/drawing/2014/main" id="{78929A8C-6435-8B31-EEFB-CB4E6CEB2D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35790" y="1648215"/>
              <a:ext cx="452174" cy="593479"/>
            </a:xfrm>
            <a:prstGeom prst="rect">
              <a:avLst/>
            </a:prstGeom>
          </p:spPr>
        </p:pic>
        <p:pic>
          <p:nvPicPr>
            <p:cNvPr id="13" name="图形 12">
              <a:extLst>
                <a:ext uri="{FF2B5EF4-FFF2-40B4-BE49-F238E27FC236}">
                  <a16:creationId xmlns:a16="http://schemas.microsoft.com/office/drawing/2014/main" id="{D1EFE678-90B2-700B-DA2F-AF91B894F4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2433" y="1574270"/>
              <a:ext cx="690048" cy="667424"/>
            </a:xfrm>
            <a:prstGeom prst="rect">
              <a:avLst/>
            </a:prstGeom>
          </p:spPr>
        </p:pic>
        <p:pic>
          <p:nvPicPr>
            <p:cNvPr id="19" name="图形 18">
              <a:extLst>
                <a:ext uri="{FF2B5EF4-FFF2-40B4-BE49-F238E27FC236}">
                  <a16:creationId xmlns:a16="http://schemas.microsoft.com/office/drawing/2014/main" id="{21FA862C-EAAC-4CC8-3E85-3999DEA31C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83421" y="1648214"/>
              <a:ext cx="452174" cy="593479"/>
            </a:xfrm>
            <a:prstGeom prst="rect">
              <a:avLst/>
            </a:prstGeom>
          </p:spPr>
        </p:pic>
      </p:grpSp>
      <p:sp>
        <p:nvSpPr>
          <p:cNvPr id="20" name="文本框 19">
            <a:extLst>
              <a:ext uri="{FF2B5EF4-FFF2-40B4-BE49-F238E27FC236}">
                <a16:creationId xmlns:a16="http://schemas.microsoft.com/office/drawing/2014/main" id="{4DB9DCE3-37E8-E6E4-31F6-99A3B3C66F64}"/>
              </a:ext>
            </a:extLst>
          </p:cNvPr>
          <p:cNvSpPr txBox="1"/>
          <p:nvPr/>
        </p:nvSpPr>
        <p:spPr>
          <a:xfrm>
            <a:off x="9580704" y="1643308"/>
            <a:ext cx="1904661" cy="369332"/>
          </a:xfrm>
          <a:prstGeom prst="rect">
            <a:avLst/>
          </a:prstGeom>
          <a:noFill/>
        </p:spPr>
        <p:txBody>
          <a:bodyPr wrap="square" rtlCol="0">
            <a:spAutoFit/>
          </a:bodyPr>
          <a:lstStyle/>
          <a:p>
            <a:pPr algn="ctr"/>
            <a:r>
              <a:rPr lang="en-US" altLang="zh-CN" b="1" dirty="0"/>
              <a:t>DHCP</a:t>
            </a:r>
            <a:r>
              <a:rPr lang="zh-CN" altLang="en-US" b="1" dirty="0"/>
              <a:t>服务器</a:t>
            </a:r>
            <a:r>
              <a:rPr lang="en-US" altLang="zh-CN" b="1" dirty="0"/>
              <a:t>2</a:t>
            </a:r>
          </a:p>
        </p:txBody>
      </p:sp>
      <p:sp>
        <p:nvSpPr>
          <p:cNvPr id="23" name="文本框 22">
            <a:extLst>
              <a:ext uri="{FF2B5EF4-FFF2-40B4-BE49-F238E27FC236}">
                <a16:creationId xmlns:a16="http://schemas.microsoft.com/office/drawing/2014/main" id="{4E6EB644-C4F7-4CEC-6E1F-2E1647B7870C}"/>
              </a:ext>
            </a:extLst>
          </p:cNvPr>
          <p:cNvSpPr txBox="1"/>
          <p:nvPr/>
        </p:nvSpPr>
        <p:spPr>
          <a:xfrm>
            <a:off x="2038096" y="1922257"/>
            <a:ext cx="1306286"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6" name="文本框 25">
            <a:extLst>
              <a:ext uri="{FF2B5EF4-FFF2-40B4-BE49-F238E27FC236}">
                <a16:creationId xmlns:a16="http://schemas.microsoft.com/office/drawing/2014/main" id="{26AE432D-EB95-93C7-C0D0-FC98C718C93D}"/>
              </a:ext>
            </a:extLst>
          </p:cNvPr>
          <p:cNvSpPr txBox="1"/>
          <p:nvPr/>
        </p:nvSpPr>
        <p:spPr>
          <a:xfrm>
            <a:off x="10027189" y="1922257"/>
            <a:ext cx="1436915" cy="369332"/>
          </a:xfrm>
          <a:prstGeom prst="rect">
            <a:avLst/>
          </a:prstGeom>
          <a:noFill/>
        </p:spPr>
        <p:txBody>
          <a:bodyPr wrap="square">
            <a:spAutoFit/>
          </a:bodyPr>
          <a:lstStyle/>
          <a:p>
            <a:pPr algn="ctr"/>
            <a:r>
              <a:rPr lang="zh-CN" altLang="en-US" b="1" dirty="0"/>
              <a:t>（</a:t>
            </a:r>
            <a:r>
              <a:rPr lang="en-US" altLang="zh-CN" b="1" dirty="0"/>
              <a:t>UDP 67</a:t>
            </a:r>
            <a:r>
              <a:rPr lang="zh-CN" altLang="en-US" b="1" dirty="0"/>
              <a:t>）</a:t>
            </a:r>
          </a:p>
        </p:txBody>
      </p:sp>
      <p:sp>
        <p:nvSpPr>
          <p:cNvPr id="27" name="文本框 26">
            <a:extLst>
              <a:ext uri="{FF2B5EF4-FFF2-40B4-BE49-F238E27FC236}">
                <a16:creationId xmlns:a16="http://schemas.microsoft.com/office/drawing/2014/main" id="{2D054BAF-9F2F-917E-0E6B-9828DA06A98E}"/>
              </a:ext>
            </a:extLst>
          </p:cNvPr>
          <p:cNvSpPr txBox="1"/>
          <p:nvPr/>
        </p:nvSpPr>
        <p:spPr>
          <a:xfrm>
            <a:off x="7132481" y="1922257"/>
            <a:ext cx="1306286" cy="369332"/>
          </a:xfrm>
          <a:prstGeom prst="rect">
            <a:avLst/>
          </a:prstGeom>
          <a:noFill/>
        </p:spPr>
        <p:txBody>
          <a:bodyPr wrap="square">
            <a:spAutoFit/>
          </a:bodyPr>
          <a:lstStyle/>
          <a:p>
            <a:pPr algn="ctr"/>
            <a:r>
              <a:rPr lang="zh-CN" altLang="en-US" b="1" dirty="0"/>
              <a:t>（</a:t>
            </a:r>
            <a:r>
              <a:rPr lang="en-US" altLang="zh-CN" b="1" dirty="0"/>
              <a:t>UDP 68</a:t>
            </a:r>
            <a:r>
              <a:rPr lang="zh-CN" altLang="en-US" b="1" dirty="0"/>
              <a:t>）</a:t>
            </a:r>
          </a:p>
        </p:txBody>
      </p:sp>
      <p:cxnSp>
        <p:nvCxnSpPr>
          <p:cNvPr id="29" name="直接箭头连接符 28">
            <a:extLst>
              <a:ext uri="{FF2B5EF4-FFF2-40B4-BE49-F238E27FC236}">
                <a16:creationId xmlns:a16="http://schemas.microsoft.com/office/drawing/2014/main" id="{28B0DE16-1BA8-88C3-9287-58C3DA9ACB60}"/>
              </a:ext>
            </a:extLst>
          </p:cNvPr>
          <p:cNvCxnSpPr>
            <a:cxnSpLocks/>
          </p:cNvCxnSpPr>
          <p:nvPr/>
        </p:nvCxnSpPr>
        <p:spPr>
          <a:xfrm>
            <a:off x="1856534" y="2364636"/>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20261F8-F2BD-FBF3-B8F1-54B160C328F9}"/>
              </a:ext>
            </a:extLst>
          </p:cNvPr>
          <p:cNvCxnSpPr>
            <a:cxnSpLocks/>
          </p:cNvCxnSpPr>
          <p:nvPr/>
        </p:nvCxnSpPr>
        <p:spPr>
          <a:xfrm>
            <a:off x="6790652" y="2364635"/>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19DC7460-B317-F2ED-E726-95DD70EA1EA2}"/>
              </a:ext>
            </a:extLst>
          </p:cNvPr>
          <p:cNvCxnSpPr>
            <a:cxnSpLocks/>
          </p:cNvCxnSpPr>
          <p:nvPr/>
        </p:nvCxnSpPr>
        <p:spPr>
          <a:xfrm>
            <a:off x="11724769" y="2349050"/>
            <a:ext cx="0" cy="41328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A4DF2E40-F93E-3A37-5448-A7505301D19F}"/>
              </a:ext>
            </a:extLst>
          </p:cNvPr>
          <p:cNvGrpSpPr/>
          <p:nvPr/>
        </p:nvGrpSpPr>
        <p:grpSpPr>
          <a:xfrm>
            <a:off x="1856534" y="2364636"/>
            <a:ext cx="4934111" cy="302400"/>
            <a:chOff x="1856534" y="2450095"/>
            <a:chExt cx="4718965" cy="274542"/>
          </a:xfrm>
        </p:grpSpPr>
        <p:cxnSp>
          <p:nvCxnSpPr>
            <p:cNvPr id="35" name="直接箭头连接符 34">
              <a:extLst>
                <a:ext uri="{FF2B5EF4-FFF2-40B4-BE49-F238E27FC236}">
                  <a16:creationId xmlns:a16="http://schemas.microsoft.com/office/drawing/2014/main" id="{87216D96-0100-C48B-C771-875A7DDF010B}"/>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11112188-51FB-9B84-E819-D8D364585BB3}"/>
                </a:ext>
              </a:extLst>
            </p:cNvPr>
            <p:cNvSpPr/>
            <p:nvPr/>
          </p:nvSpPr>
          <p:spPr>
            <a:xfrm>
              <a:off x="3685817" y="2450095"/>
              <a:ext cx="1060397" cy="27454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40" name="组合 39">
            <a:extLst>
              <a:ext uri="{FF2B5EF4-FFF2-40B4-BE49-F238E27FC236}">
                <a16:creationId xmlns:a16="http://schemas.microsoft.com/office/drawing/2014/main" id="{D9564DAE-B431-96C2-8341-0D510ED9FB22}"/>
              </a:ext>
            </a:extLst>
          </p:cNvPr>
          <p:cNvGrpSpPr/>
          <p:nvPr/>
        </p:nvGrpSpPr>
        <p:grpSpPr>
          <a:xfrm>
            <a:off x="6790642" y="2332601"/>
            <a:ext cx="4934120" cy="302400"/>
            <a:chOff x="6575499" y="2435839"/>
            <a:chExt cx="4718965" cy="251659"/>
          </a:xfrm>
        </p:grpSpPr>
        <p:cxnSp>
          <p:nvCxnSpPr>
            <p:cNvPr id="36" name="直接箭头连接符 35">
              <a:extLst>
                <a:ext uri="{FF2B5EF4-FFF2-40B4-BE49-F238E27FC236}">
                  <a16:creationId xmlns:a16="http://schemas.microsoft.com/office/drawing/2014/main" id="{BCC67916-1598-880E-94A4-D77A3A8C25FE}"/>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FDC2BC42-E2EC-7749-3E5E-40A2D9D0B7E7}"/>
                </a:ext>
              </a:extLst>
            </p:cNvPr>
            <p:cNvSpPr/>
            <p:nvPr/>
          </p:nvSpPr>
          <p:spPr>
            <a:xfrm>
              <a:off x="8402506" y="2435839"/>
              <a:ext cx="1060397" cy="25165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DISCOVER</a:t>
              </a:r>
              <a:endParaRPr lang="zh-CN" altLang="en-US" sz="1600" b="1" dirty="0"/>
            </a:p>
          </p:txBody>
        </p:sp>
      </p:grpSp>
      <p:grpSp>
        <p:nvGrpSpPr>
          <p:cNvPr id="6" name="组合 5">
            <a:extLst>
              <a:ext uri="{FF2B5EF4-FFF2-40B4-BE49-F238E27FC236}">
                <a16:creationId xmlns:a16="http://schemas.microsoft.com/office/drawing/2014/main" id="{203165C8-B377-68A3-60EF-475AD0554D9E}"/>
              </a:ext>
            </a:extLst>
          </p:cNvPr>
          <p:cNvGrpSpPr/>
          <p:nvPr/>
        </p:nvGrpSpPr>
        <p:grpSpPr>
          <a:xfrm flipH="1">
            <a:off x="1849585" y="2715982"/>
            <a:ext cx="4934111" cy="302400"/>
            <a:chOff x="1856534" y="2450095"/>
            <a:chExt cx="4718965" cy="274542"/>
          </a:xfrm>
        </p:grpSpPr>
        <p:cxnSp>
          <p:nvCxnSpPr>
            <p:cNvPr id="8" name="直接箭头连接符 7">
              <a:extLst>
                <a:ext uri="{FF2B5EF4-FFF2-40B4-BE49-F238E27FC236}">
                  <a16:creationId xmlns:a16="http://schemas.microsoft.com/office/drawing/2014/main" id="{F3E18E59-AD34-FAAF-B1F1-70E23AB45DC3}"/>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1D119084-9F43-AE91-48D8-73CE5D87FF61}"/>
                </a:ext>
              </a:extLst>
            </p:cNvPr>
            <p:cNvSpPr/>
            <p:nvPr/>
          </p:nvSpPr>
          <p:spPr>
            <a:xfrm>
              <a:off x="3685818" y="2450095"/>
              <a:ext cx="1060397" cy="27454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10" name="组合 9">
            <a:extLst>
              <a:ext uri="{FF2B5EF4-FFF2-40B4-BE49-F238E27FC236}">
                <a16:creationId xmlns:a16="http://schemas.microsoft.com/office/drawing/2014/main" id="{78F4EA63-3844-D9C1-8681-5F1D2141FA01}"/>
              </a:ext>
            </a:extLst>
          </p:cNvPr>
          <p:cNvGrpSpPr/>
          <p:nvPr/>
        </p:nvGrpSpPr>
        <p:grpSpPr>
          <a:xfrm flipH="1">
            <a:off x="6783693" y="2683947"/>
            <a:ext cx="4934120" cy="302400"/>
            <a:chOff x="6575499" y="2435839"/>
            <a:chExt cx="4718965" cy="251659"/>
          </a:xfrm>
        </p:grpSpPr>
        <p:cxnSp>
          <p:nvCxnSpPr>
            <p:cNvPr id="12" name="直接箭头连接符 11">
              <a:extLst>
                <a:ext uri="{FF2B5EF4-FFF2-40B4-BE49-F238E27FC236}">
                  <a16:creationId xmlns:a16="http://schemas.microsoft.com/office/drawing/2014/main" id="{B00EC63B-07C2-28CD-D72A-09DA73E6E6B3}"/>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6FDC642-6D4B-E01E-40BB-A775D9007667}"/>
                </a:ext>
              </a:extLst>
            </p:cNvPr>
            <p:cNvSpPr/>
            <p:nvPr/>
          </p:nvSpPr>
          <p:spPr>
            <a:xfrm>
              <a:off x="8402506" y="2435839"/>
              <a:ext cx="1060397" cy="2516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1600" b="1" dirty="0">
                  <a:solidFill>
                    <a:schemeClr val="bg1"/>
                  </a:solidFill>
                </a:rPr>
                <a:t>OFFER</a:t>
              </a:r>
              <a:endParaRPr lang="zh-CN" altLang="en-US" sz="1600" b="1" dirty="0">
                <a:solidFill>
                  <a:schemeClr val="bg1"/>
                </a:solidFill>
              </a:endParaRPr>
            </a:p>
          </p:txBody>
        </p:sp>
      </p:grpSp>
      <p:grpSp>
        <p:nvGrpSpPr>
          <p:cNvPr id="22" name="组合 21">
            <a:extLst>
              <a:ext uri="{FF2B5EF4-FFF2-40B4-BE49-F238E27FC236}">
                <a16:creationId xmlns:a16="http://schemas.microsoft.com/office/drawing/2014/main" id="{981750DD-C058-1BEF-7E48-F3A81CB5DB44}"/>
              </a:ext>
            </a:extLst>
          </p:cNvPr>
          <p:cNvGrpSpPr/>
          <p:nvPr/>
        </p:nvGrpSpPr>
        <p:grpSpPr>
          <a:xfrm>
            <a:off x="1854144" y="3047323"/>
            <a:ext cx="4934111" cy="302400"/>
            <a:chOff x="1856534" y="2450095"/>
            <a:chExt cx="4718965" cy="274542"/>
          </a:xfrm>
        </p:grpSpPr>
        <p:cxnSp>
          <p:nvCxnSpPr>
            <p:cNvPr id="24" name="直接箭头连接符 23">
              <a:extLst>
                <a:ext uri="{FF2B5EF4-FFF2-40B4-BE49-F238E27FC236}">
                  <a16:creationId xmlns:a16="http://schemas.microsoft.com/office/drawing/2014/main" id="{F886B9A6-33C6-8D59-D62B-51CAAE2BF57D}"/>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A2A46BF5-1AF9-5B97-6229-060065A3244D}"/>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28" name="组合 27">
            <a:extLst>
              <a:ext uri="{FF2B5EF4-FFF2-40B4-BE49-F238E27FC236}">
                <a16:creationId xmlns:a16="http://schemas.microsoft.com/office/drawing/2014/main" id="{3511AAC3-5988-9D75-A33B-DC11B9645EAF}"/>
              </a:ext>
            </a:extLst>
          </p:cNvPr>
          <p:cNvGrpSpPr/>
          <p:nvPr/>
        </p:nvGrpSpPr>
        <p:grpSpPr>
          <a:xfrm>
            <a:off x="6788252" y="3015288"/>
            <a:ext cx="4934120" cy="302400"/>
            <a:chOff x="6575499" y="2435839"/>
            <a:chExt cx="4718965" cy="251659"/>
          </a:xfrm>
        </p:grpSpPr>
        <p:cxnSp>
          <p:nvCxnSpPr>
            <p:cNvPr id="30" name="直接箭头连接符 29">
              <a:extLst>
                <a:ext uri="{FF2B5EF4-FFF2-40B4-BE49-F238E27FC236}">
                  <a16:creationId xmlns:a16="http://schemas.microsoft.com/office/drawing/2014/main" id="{79A5E8ED-F3CC-3360-BBE6-97FDE711854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D6928578-05D2-9C76-645B-B18E493AC94D}"/>
                </a:ext>
              </a:extLst>
            </p:cNvPr>
            <p:cNvSpPr/>
            <p:nvPr/>
          </p:nvSpPr>
          <p:spPr>
            <a:xfrm>
              <a:off x="8402506" y="2435839"/>
              <a:ext cx="1060397" cy="251659"/>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55" name="组合 54">
            <a:extLst>
              <a:ext uri="{FF2B5EF4-FFF2-40B4-BE49-F238E27FC236}">
                <a16:creationId xmlns:a16="http://schemas.microsoft.com/office/drawing/2014/main" id="{82CB6A66-7A87-4602-2A47-E51C3EEE2BAB}"/>
              </a:ext>
            </a:extLst>
          </p:cNvPr>
          <p:cNvGrpSpPr/>
          <p:nvPr/>
        </p:nvGrpSpPr>
        <p:grpSpPr>
          <a:xfrm flipH="1">
            <a:off x="1857344" y="3393596"/>
            <a:ext cx="4934111" cy="302400"/>
            <a:chOff x="1856534" y="2450095"/>
            <a:chExt cx="4718965" cy="274542"/>
          </a:xfrm>
        </p:grpSpPr>
        <p:cxnSp>
          <p:nvCxnSpPr>
            <p:cNvPr id="56" name="直接箭头连接符 55">
              <a:extLst>
                <a:ext uri="{FF2B5EF4-FFF2-40B4-BE49-F238E27FC236}">
                  <a16:creationId xmlns:a16="http://schemas.microsoft.com/office/drawing/2014/main" id="{A11B1603-B3AD-57E4-8915-5DD875120460}"/>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7" name="矩形 56">
              <a:extLst>
                <a:ext uri="{FF2B5EF4-FFF2-40B4-BE49-F238E27FC236}">
                  <a16:creationId xmlns:a16="http://schemas.microsoft.com/office/drawing/2014/main" id="{6C1A04B1-9C8C-F9AC-43A7-10A721B64287}"/>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grpSp>
        <p:nvGrpSpPr>
          <p:cNvPr id="48" name="组合 47">
            <a:extLst>
              <a:ext uri="{FF2B5EF4-FFF2-40B4-BE49-F238E27FC236}">
                <a16:creationId xmlns:a16="http://schemas.microsoft.com/office/drawing/2014/main" id="{BAF7043D-0DA6-BA3B-19A4-D72EB99023AA}"/>
              </a:ext>
            </a:extLst>
          </p:cNvPr>
          <p:cNvGrpSpPr/>
          <p:nvPr/>
        </p:nvGrpSpPr>
        <p:grpSpPr>
          <a:xfrm>
            <a:off x="6814701" y="3538435"/>
            <a:ext cx="1585667" cy="521473"/>
            <a:chOff x="6806155" y="3820452"/>
            <a:chExt cx="1585667" cy="669415"/>
          </a:xfrm>
        </p:grpSpPr>
        <p:cxnSp>
          <p:nvCxnSpPr>
            <p:cNvPr id="49" name="直接箭头连接符 48">
              <a:extLst>
                <a:ext uri="{FF2B5EF4-FFF2-40B4-BE49-F238E27FC236}">
                  <a16:creationId xmlns:a16="http://schemas.microsoft.com/office/drawing/2014/main" id="{4B469A36-3764-2201-1F77-1DB92E2F0A1A}"/>
                </a:ext>
              </a:extLst>
            </p:cNvPr>
            <p:cNvCxnSpPr>
              <a:cxnSpLocks/>
            </p:cNvCxnSpPr>
            <p:nvPr/>
          </p:nvCxnSpPr>
          <p:spPr>
            <a:xfrm flipH="1">
              <a:off x="6811075" y="3820452"/>
              <a:ext cx="1441577"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488EAAAE-2096-013D-D7F7-B9342A74D834}"/>
                </a:ext>
              </a:extLst>
            </p:cNvPr>
            <p:cNvCxnSpPr>
              <a:cxnSpLocks/>
            </p:cNvCxnSpPr>
            <p:nvPr/>
          </p:nvCxnSpPr>
          <p:spPr>
            <a:xfrm>
              <a:off x="7613406" y="3820452"/>
              <a:ext cx="0" cy="66941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63AF415D-74F1-4AD5-70A7-BBC6E372E0B8}"/>
                </a:ext>
              </a:extLst>
            </p:cNvPr>
            <p:cNvSpPr txBox="1"/>
            <p:nvPr/>
          </p:nvSpPr>
          <p:spPr>
            <a:xfrm>
              <a:off x="6839776" y="3966384"/>
              <a:ext cx="1552046" cy="355584"/>
            </a:xfrm>
            <a:prstGeom prst="rect">
              <a:avLst/>
            </a:prstGeom>
            <a:solidFill>
              <a:schemeClr val="bg1"/>
            </a:solidFill>
          </p:spPr>
          <p:txBody>
            <a:bodyPr wrap="square" lIns="0" tIns="0" rIns="0" bIns="0" rtlCol="0">
              <a:spAutoFit/>
            </a:bodyPr>
            <a:lstStyle/>
            <a:p>
              <a:pPr algn="ctr"/>
              <a:r>
                <a:rPr lang="en-US" altLang="zh-CN" b="1" dirty="0">
                  <a:solidFill>
                    <a:schemeClr val="accent1"/>
                  </a:solidFill>
                  <a:latin typeface="+mn-ea"/>
                </a:rPr>
                <a:t>0.5</a:t>
              </a:r>
              <a:r>
                <a:rPr lang="zh-CN" altLang="en-US" b="1" dirty="0">
                  <a:solidFill>
                    <a:schemeClr val="accent1"/>
                  </a:solidFill>
                  <a:latin typeface="+mn-ea"/>
                </a:rPr>
                <a:t>倍租用期</a:t>
              </a:r>
            </a:p>
          </p:txBody>
        </p:sp>
        <p:cxnSp>
          <p:nvCxnSpPr>
            <p:cNvPr id="52" name="直接箭头连接符 51">
              <a:extLst>
                <a:ext uri="{FF2B5EF4-FFF2-40B4-BE49-F238E27FC236}">
                  <a16:creationId xmlns:a16="http://schemas.microsoft.com/office/drawing/2014/main" id="{215D7155-F8D9-23C1-8FCB-B621AD2E546B}"/>
                </a:ext>
              </a:extLst>
            </p:cNvPr>
            <p:cNvCxnSpPr>
              <a:cxnSpLocks/>
            </p:cNvCxnSpPr>
            <p:nvPr/>
          </p:nvCxnSpPr>
          <p:spPr>
            <a:xfrm flipH="1">
              <a:off x="6806155" y="4489867"/>
              <a:ext cx="1446497"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53" name="组合 52">
            <a:extLst>
              <a:ext uri="{FF2B5EF4-FFF2-40B4-BE49-F238E27FC236}">
                <a16:creationId xmlns:a16="http://schemas.microsoft.com/office/drawing/2014/main" id="{7B01C8B8-0054-5D7E-6F33-2C07020330DB}"/>
              </a:ext>
            </a:extLst>
          </p:cNvPr>
          <p:cNvGrpSpPr/>
          <p:nvPr/>
        </p:nvGrpSpPr>
        <p:grpSpPr>
          <a:xfrm>
            <a:off x="1865077" y="3910096"/>
            <a:ext cx="4934111" cy="302400"/>
            <a:chOff x="1856534" y="2450095"/>
            <a:chExt cx="4718965" cy="274542"/>
          </a:xfrm>
        </p:grpSpPr>
        <p:cxnSp>
          <p:nvCxnSpPr>
            <p:cNvPr id="54" name="直接箭头连接符 53">
              <a:extLst>
                <a:ext uri="{FF2B5EF4-FFF2-40B4-BE49-F238E27FC236}">
                  <a16:creationId xmlns:a16="http://schemas.microsoft.com/office/drawing/2014/main" id="{E20A5631-CC34-EFD5-BC0D-67612BAEB21C}"/>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3B7EAFBE-6BCA-AD4A-1A7C-6DCE0FC2BC15}"/>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grpSp>
        <p:nvGrpSpPr>
          <p:cNvPr id="64" name="组合 63">
            <a:extLst>
              <a:ext uri="{FF2B5EF4-FFF2-40B4-BE49-F238E27FC236}">
                <a16:creationId xmlns:a16="http://schemas.microsoft.com/office/drawing/2014/main" id="{0541DB54-368A-A96F-19F2-E9763B9553DD}"/>
              </a:ext>
            </a:extLst>
          </p:cNvPr>
          <p:cNvGrpSpPr/>
          <p:nvPr/>
        </p:nvGrpSpPr>
        <p:grpSpPr>
          <a:xfrm>
            <a:off x="1865076" y="4103297"/>
            <a:ext cx="4934111" cy="455442"/>
            <a:chOff x="1856530" y="4573327"/>
            <a:chExt cx="4934111" cy="455442"/>
          </a:xfrm>
        </p:grpSpPr>
        <p:grpSp>
          <p:nvGrpSpPr>
            <p:cNvPr id="65" name="组合 64">
              <a:extLst>
                <a:ext uri="{FF2B5EF4-FFF2-40B4-BE49-F238E27FC236}">
                  <a16:creationId xmlns:a16="http://schemas.microsoft.com/office/drawing/2014/main" id="{132337B6-805F-709B-C5C9-CCB4254D0E51}"/>
                </a:ext>
              </a:extLst>
            </p:cNvPr>
            <p:cNvGrpSpPr/>
            <p:nvPr/>
          </p:nvGrpSpPr>
          <p:grpSpPr>
            <a:xfrm flipH="1">
              <a:off x="1856530" y="4726369"/>
              <a:ext cx="4934111" cy="302400"/>
              <a:chOff x="1856534" y="2450095"/>
              <a:chExt cx="4718965" cy="274542"/>
            </a:xfrm>
          </p:grpSpPr>
          <p:cxnSp>
            <p:nvCxnSpPr>
              <p:cNvPr id="68" name="直接箭头连接符 67">
                <a:extLst>
                  <a:ext uri="{FF2B5EF4-FFF2-40B4-BE49-F238E27FC236}">
                    <a16:creationId xmlns:a16="http://schemas.microsoft.com/office/drawing/2014/main" id="{828958A2-9FF6-C71F-607C-13DE88EE512A}"/>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AD3B0FCA-F7C1-CB90-FFE6-9C7656112F16}"/>
                  </a:ext>
                </a:extLst>
              </p:cNvPr>
              <p:cNvSpPr/>
              <p:nvPr/>
            </p:nvSpPr>
            <p:spPr>
              <a:xfrm>
                <a:off x="3685818" y="2450095"/>
                <a:ext cx="1060397" cy="274542"/>
              </a:xfrm>
              <a:prstGeom prst="rect">
                <a:avLst/>
              </a:prstGeom>
              <a:solidFill>
                <a:schemeClr val="accent4">
                  <a:lumMod val="75000"/>
                </a:schemeClr>
              </a:solidFill>
              <a:ln>
                <a:solidFill>
                  <a:schemeClr val="accent4">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t>ACK</a:t>
                </a:r>
                <a:endParaRPr lang="zh-CN" altLang="en-US" sz="1600" b="1" dirty="0"/>
              </a:p>
            </p:txBody>
          </p:sp>
        </p:grpSp>
        <p:sp>
          <p:nvSpPr>
            <p:cNvPr id="66" name="文本框 65">
              <a:extLst>
                <a:ext uri="{FF2B5EF4-FFF2-40B4-BE49-F238E27FC236}">
                  <a16:creationId xmlns:a16="http://schemas.microsoft.com/office/drawing/2014/main" id="{91FBE22E-E1A9-E1C9-F9F9-BDA77453A65B}"/>
                </a:ext>
              </a:extLst>
            </p:cNvPr>
            <p:cNvSpPr txBox="1"/>
            <p:nvPr/>
          </p:nvSpPr>
          <p:spPr>
            <a:xfrm>
              <a:off x="4864289" y="4573327"/>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zh-CN" altLang="en-US" sz="1600" b="1" dirty="0"/>
                <a:t>租用的地址</a:t>
              </a:r>
            </a:p>
          </p:txBody>
        </p:sp>
        <p:sp>
          <p:nvSpPr>
            <p:cNvPr id="67" name="文本框 66">
              <a:extLst>
                <a:ext uri="{FF2B5EF4-FFF2-40B4-BE49-F238E27FC236}">
                  <a16:creationId xmlns:a16="http://schemas.microsoft.com/office/drawing/2014/main" id="{B8A72142-6541-6941-51DD-062F4922D76D}"/>
                </a:ext>
              </a:extLst>
            </p:cNvPr>
            <p:cNvSpPr txBox="1"/>
            <p:nvPr/>
          </p:nvSpPr>
          <p:spPr>
            <a:xfrm>
              <a:off x="1928443" y="4573332"/>
              <a:ext cx="1666825"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grpSp>
      <p:sp>
        <p:nvSpPr>
          <p:cNvPr id="70" name="文本框 69">
            <a:extLst>
              <a:ext uri="{FF2B5EF4-FFF2-40B4-BE49-F238E27FC236}">
                <a16:creationId xmlns:a16="http://schemas.microsoft.com/office/drawing/2014/main" id="{0C70D15F-3C8D-072B-47D3-F9BE57C5A5BA}"/>
              </a:ext>
            </a:extLst>
          </p:cNvPr>
          <p:cNvSpPr txBox="1"/>
          <p:nvPr/>
        </p:nvSpPr>
        <p:spPr>
          <a:xfrm>
            <a:off x="969997" y="4101651"/>
            <a:ext cx="908200" cy="369332"/>
          </a:xfrm>
          <a:prstGeom prst="rect">
            <a:avLst/>
          </a:prstGeom>
          <a:noFill/>
        </p:spPr>
        <p:txBody>
          <a:bodyPr wrap="square" rtlCol="0">
            <a:spAutoFit/>
          </a:bodyPr>
          <a:lstStyle/>
          <a:p>
            <a:r>
              <a:rPr lang="zh-CN" altLang="en-US" b="1" dirty="0"/>
              <a:t>情况</a:t>
            </a:r>
            <a:r>
              <a:rPr lang="en-US" altLang="zh-CN" b="1" dirty="0">
                <a:latin typeface="+mn-ea"/>
              </a:rPr>
              <a:t>1</a:t>
            </a:r>
            <a:r>
              <a:rPr lang="zh-CN" altLang="en-US" b="1" dirty="0"/>
              <a:t>：</a:t>
            </a:r>
          </a:p>
        </p:txBody>
      </p:sp>
      <p:sp>
        <p:nvSpPr>
          <p:cNvPr id="71" name="文本框 70">
            <a:extLst>
              <a:ext uri="{FF2B5EF4-FFF2-40B4-BE49-F238E27FC236}">
                <a16:creationId xmlns:a16="http://schemas.microsoft.com/office/drawing/2014/main" id="{7AF47C0C-0E85-36E0-E903-D520814E8181}"/>
              </a:ext>
            </a:extLst>
          </p:cNvPr>
          <p:cNvSpPr txBox="1"/>
          <p:nvPr/>
        </p:nvSpPr>
        <p:spPr>
          <a:xfrm>
            <a:off x="6862512" y="4212097"/>
            <a:ext cx="2100315" cy="369332"/>
          </a:xfrm>
          <a:prstGeom prst="rect">
            <a:avLst/>
          </a:prstGeom>
          <a:noFill/>
        </p:spPr>
        <p:txBody>
          <a:bodyPr wrap="square" rtlCol="0">
            <a:spAutoFit/>
          </a:bodyPr>
          <a:lstStyle/>
          <a:p>
            <a:r>
              <a:rPr lang="zh-CN" altLang="en-US" b="1" dirty="0">
                <a:solidFill>
                  <a:schemeClr val="accent1"/>
                </a:solidFill>
              </a:rPr>
              <a:t>得到新的租用期</a:t>
            </a:r>
          </a:p>
        </p:txBody>
      </p:sp>
      <p:sp>
        <p:nvSpPr>
          <p:cNvPr id="72" name="文本框 71">
            <a:extLst>
              <a:ext uri="{FF2B5EF4-FFF2-40B4-BE49-F238E27FC236}">
                <a16:creationId xmlns:a16="http://schemas.microsoft.com/office/drawing/2014/main" id="{782FF86F-187A-7883-63AD-8C5D5E6E4DFE}"/>
              </a:ext>
            </a:extLst>
          </p:cNvPr>
          <p:cNvSpPr txBox="1"/>
          <p:nvPr/>
        </p:nvSpPr>
        <p:spPr>
          <a:xfrm>
            <a:off x="969997" y="4484253"/>
            <a:ext cx="908200" cy="369332"/>
          </a:xfrm>
          <a:prstGeom prst="rect">
            <a:avLst/>
          </a:prstGeom>
          <a:noFill/>
        </p:spPr>
        <p:txBody>
          <a:bodyPr wrap="square" rtlCol="0">
            <a:spAutoFit/>
          </a:bodyPr>
          <a:lstStyle/>
          <a:p>
            <a:r>
              <a:rPr lang="zh-CN" altLang="en-US" b="1" dirty="0"/>
              <a:t>情况</a:t>
            </a:r>
            <a:r>
              <a:rPr lang="en-US" altLang="zh-CN" b="1" dirty="0">
                <a:latin typeface="+mn-ea"/>
              </a:rPr>
              <a:t>2</a:t>
            </a:r>
            <a:r>
              <a:rPr lang="zh-CN" altLang="en-US" b="1" dirty="0"/>
              <a:t>：</a:t>
            </a:r>
          </a:p>
        </p:txBody>
      </p:sp>
      <p:grpSp>
        <p:nvGrpSpPr>
          <p:cNvPr id="73" name="组合 72">
            <a:extLst>
              <a:ext uri="{FF2B5EF4-FFF2-40B4-BE49-F238E27FC236}">
                <a16:creationId xmlns:a16="http://schemas.microsoft.com/office/drawing/2014/main" id="{D1E6A206-2A84-155C-375C-6F9F93ED4FAA}"/>
              </a:ext>
            </a:extLst>
          </p:cNvPr>
          <p:cNvGrpSpPr/>
          <p:nvPr/>
        </p:nvGrpSpPr>
        <p:grpSpPr>
          <a:xfrm>
            <a:off x="1865076" y="4445635"/>
            <a:ext cx="4934111" cy="455442"/>
            <a:chOff x="1856530" y="4573327"/>
            <a:chExt cx="4934111" cy="455442"/>
          </a:xfrm>
        </p:grpSpPr>
        <p:grpSp>
          <p:nvGrpSpPr>
            <p:cNvPr id="74" name="组合 73">
              <a:extLst>
                <a:ext uri="{FF2B5EF4-FFF2-40B4-BE49-F238E27FC236}">
                  <a16:creationId xmlns:a16="http://schemas.microsoft.com/office/drawing/2014/main" id="{76794E8C-821B-A804-6002-D3DCB5A3EE2C}"/>
                </a:ext>
              </a:extLst>
            </p:cNvPr>
            <p:cNvGrpSpPr/>
            <p:nvPr/>
          </p:nvGrpSpPr>
          <p:grpSpPr>
            <a:xfrm flipH="1">
              <a:off x="1856530" y="4726369"/>
              <a:ext cx="4934111" cy="302400"/>
              <a:chOff x="1856534" y="2450095"/>
              <a:chExt cx="4718965" cy="274542"/>
            </a:xfrm>
          </p:grpSpPr>
          <p:cxnSp>
            <p:nvCxnSpPr>
              <p:cNvPr id="77" name="直接箭头连接符 76">
                <a:extLst>
                  <a:ext uri="{FF2B5EF4-FFF2-40B4-BE49-F238E27FC236}">
                    <a16:creationId xmlns:a16="http://schemas.microsoft.com/office/drawing/2014/main" id="{C621B447-979E-29EC-7BF7-70C1EF3EA848}"/>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BE1A8F91-ADD7-7C22-FB11-93DC6C7AF084}"/>
                  </a:ext>
                </a:extLst>
              </p:cNvPr>
              <p:cNvSpPr/>
              <p:nvPr/>
            </p:nvSpPr>
            <p:spPr>
              <a:xfrm>
                <a:off x="3685818" y="2450095"/>
                <a:ext cx="1060397" cy="274542"/>
              </a:xfrm>
              <a:prstGeom prst="rect">
                <a:avLst/>
              </a:prstGeom>
              <a:solidFill>
                <a:schemeClr val="bg2">
                  <a:lumMod val="90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1600" b="1" dirty="0">
                    <a:solidFill>
                      <a:schemeClr val="tx1"/>
                    </a:solidFill>
                  </a:rPr>
                  <a:t>NACK</a:t>
                </a:r>
                <a:endParaRPr lang="zh-CN" altLang="en-US" sz="1600" b="1" dirty="0">
                  <a:solidFill>
                    <a:schemeClr val="tx1"/>
                  </a:solidFill>
                </a:endParaRPr>
              </a:p>
            </p:txBody>
          </p:sp>
        </p:grpSp>
        <p:sp>
          <p:nvSpPr>
            <p:cNvPr id="75" name="文本框 74">
              <a:extLst>
                <a:ext uri="{FF2B5EF4-FFF2-40B4-BE49-F238E27FC236}">
                  <a16:creationId xmlns:a16="http://schemas.microsoft.com/office/drawing/2014/main" id="{242FB23A-B06F-1A04-0FE5-9FD1C6667113}"/>
                </a:ext>
              </a:extLst>
            </p:cNvPr>
            <p:cNvSpPr txBox="1"/>
            <p:nvPr/>
          </p:nvSpPr>
          <p:spPr>
            <a:xfrm>
              <a:off x="4864289" y="4573327"/>
              <a:ext cx="1910848" cy="338554"/>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zh-CN" altLang="en-US" sz="1600" b="1" dirty="0"/>
                <a:t>租用的地址</a:t>
              </a:r>
            </a:p>
          </p:txBody>
        </p:sp>
        <p:sp>
          <p:nvSpPr>
            <p:cNvPr id="76" name="文本框 75">
              <a:extLst>
                <a:ext uri="{FF2B5EF4-FFF2-40B4-BE49-F238E27FC236}">
                  <a16:creationId xmlns:a16="http://schemas.microsoft.com/office/drawing/2014/main" id="{EC3AC4B6-53C8-9C0F-292D-5807F74CA834}"/>
                </a:ext>
              </a:extLst>
            </p:cNvPr>
            <p:cNvSpPr txBox="1"/>
            <p:nvPr/>
          </p:nvSpPr>
          <p:spPr>
            <a:xfrm>
              <a:off x="1928443" y="4573332"/>
              <a:ext cx="1666825" cy="338549"/>
            </a:xfrm>
            <a:prstGeom prst="rect">
              <a:avLst/>
            </a:prstGeom>
            <a:noFill/>
          </p:spPr>
          <p:txBody>
            <a:bodyPr wrap="square" rtlCol="0">
              <a:spAutoFit/>
            </a:bodyPr>
            <a:lstStyle/>
            <a:p>
              <a:r>
                <a:rPr lang="zh-CN" altLang="en-US" sz="1600" b="1" dirty="0">
                  <a:latin typeface="+mn-ea"/>
                </a:rPr>
                <a:t>源</a:t>
              </a:r>
              <a:r>
                <a:rPr lang="en-US" altLang="zh-CN" sz="1600" b="1" dirty="0"/>
                <a:t>:DHCP</a:t>
              </a:r>
              <a:r>
                <a:rPr lang="zh-CN" altLang="en-US" sz="1600" b="1" dirty="0"/>
                <a:t>服务器</a:t>
              </a:r>
              <a:r>
                <a:rPr lang="en-US" altLang="zh-CN" sz="1600" b="1" dirty="0"/>
                <a:t>1</a:t>
              </a:r>
              <a:endParaRPr lang="zh-CN" altLang="en-US" sz="1600" b="1" dirty="0"/>
            </a:p>
          </p:txBody>
        </p:sp>
      </p:grpSp>
      <p:sp>
        <p:nvSpPr>
          <p:cNvPr id="79" name="文本框 78">
            <a:extLst>
              <a:ext uri="{FF2B5EF4-FFF2-40B4-BE49-F238E27FC236}">
                <a16:creationId xmlns:a16="http://schemas.microsoft.com/office/drawing/2014/main" id="{1380BE89-6E78-FF01-FF63-8A758152C14F}"/>
              </a:ext>
            </a:extLst>
          </p:cNvPr>
          <p:cNvSpPr txBox="1"/>
          <p:nvPr/>
        </p:nvSpPr>
        <p:spPr>
          <a:xfrm>
            <a:off x="6862512" y="4583510"/>
            <a:ext cx="2962934" cy="646331"/>
          </a:xfrm>
          <a:prstGeom prst="rect">
            <a:avLst/>
          </a:prstGeom>
          <a:noFill/>
        </p:spPr>
        <p:txBody>
          <a:bodyPr wrap="square" rtlCol="0">
            <a:spAutoFit/>
          </a:bodyPr>
          <a:lstStyle/>
          <a:p>
            <a:r>
              <a:rPr lang="zh-CN" altLang="en-US" b="1" dirty="0">
                <a:solidFill>
                  <a:schemeClr val="accent1"/>
                </a:solidFill>
                <a:latin typeface="+mn-ea"/>
              </a:rPr>
              <a:t>立即停止使用租用的</a:t>
            </a:r>
            <a:r>
              <a:rPr lang="en-US" altLang="zh-CN" b="1" dirty="0">
                <a:solidFill>
                  <a:schemeClr val="accent1"/>
                </a:solidFill>
                <a:latin typeface="+mn-ea"/>
              </a:rPr>
              <a:t>IP</a:t>
            </a:r>
            <a:r>
              <a:rPr lang="zh-CN" altLang="en-US" b="1" dirty="0">
                <a:solidFill>
                  <a:schemeClr val="accent1"/>
                </a:solidFill>
                <a:latin typeface="+mn-ea"/>
              </a:rPr>
              <a:t>地址</a:t>
            </a:r>
            <a:endParaRPr lang="en-US" altLang="zh-CN" b="1" dirty="0">
              <a:solidFill>
                <a:schemeClr val="accent1"/>
              </a:solidFill>
              <a:latin typeface="+mn-ea"/>
            </a:endParaRPr>
          </a:p>
          <a:p>
            <a:r>
              <a:rPr lang="zh-CN" altLang="en-US" b="1" dirty="0">
                <a:solidFill>
                  <a:schemeClr val="accent1"/>
                </a:solidFill>
                <a:latin typeface="+mn-ea"/>
              </a:rPr>
              <a:t>重新发送</a:t>
            </a:r>
            <a:r>
              <a:rPr lang="en-US" altLang="zh-CN" b="1" dirty="0">
                <a:solidFill>
                  <a:schemeClr val="accent1"/>
                </a:solidFill>
                <a:latin typeface="+mn-ea"/>
              </a:rPr>
              <a:t>DHCP</a:t>
            </a:r>
            <a:r>
              <a:rPr lang="zh-CN" altLang="en-US" b="1" dirty="0">
                <a:solidFill>
                  <a:schemeClr val="accent1"/>
                </a:solidFill>
                <a:latin typeface="+mn-ea"/>
              </a:rPr>
              <a:t>发现报文</a:t>
            </a:r>
          </a:p>
        </p:txBody>
      </p:sp>
      <p:sp>
        <p:nvSpPr>
          <p:cNvPr id="80" name="文本框 79">
            <a:extLst>
              <a:ext uri="{FF2B5EF4-FFF2-40B4-BE49-F238E27FC236}">
                <a16:creationId xmlns:a16="http://schemas.microsoft.com/office/drawing/2014/main" id="{437CF99F-A222-81D1-09E6-BDB75555533D}"/>
              </a:ext>
            </a:extLst>
          </p:cNvPr>
          <p:cNvSpPr txBox="1"/>
          <p:nvPr/>
        </p:nvSpPr>
        <p:spPr>
          <a:xfrm>
            <a:off x="969997" y="4824794"/>
            <a:ext cx="908200" cy="369332"/>
          </a:xfrm>
          <a:prstGeom prst="rect">
            <a:avLst/>
          </a:prstGeom>
          <a:noFill/>
        </p:spPr>
        <p:txBody>
          <a:bodyPr wrap="square" rtlCol="0">
            <a:spAutoFit/>
          </a:bodyPr>
          <a:lstStyle/>
          <a:p>
            <a:r>
              <a:rPr lang="zh-CN" altLang="en-US" b="1" dirty="0"/>
              <a:t>情况</a:t>
            </a:r>
            <a:r>
              <a:rPr lang="en-US" altLang="zh-CN" b="1" dirty="0">
                <a:latin typeface="+mn-ea"/>
              </a:rPr>
              <a:t>3</a:t>
            </a:r>
            <a:r>
              <a:rPr lang="zh-CN" altLang="en-US" b="1" dirty="0"/>
              <a:t>：</a:t>
            </a:r>
          </a:p>
        </p:txBody>
      </p:sp>
      <p:sp>
        <p:nvSpPr>
          <p:cNvPr id="81" name="文本框 80">
            <a:extLst>
              <a:ext uri="{FF2B5EF4-FFF2-40B4-BE49-F238E27FC236}">
                <a16:creationId xmlns:a16="http://schemas.microsoft.com/office/drawing/2014/main" id="{26EEA817-C03D-823F-7037-A84CC158B369}"/>
              </a:ext>
            </a:extLst>
          </p:cNvPr>
          <p:cNvSpPr txBox="1"/>
          <p:nvPr/>
        </p:nvSpPr>
        <p:spPr>
          <a:xfrm>
            <a:off x="1834091" y="4789929"/>
            <a:ext cx="1002180" cy="369332"/>
          </a:xfrm>
          <a:prstGeom prst="rect">
            <a:avLst/>
          </a:prstGeom>
          <a:noFill/>
        </p:spPr>
        <p:txBody>
          <a:bodyPr wrap="square" rtlCol="0">
            <a:spAutoFit/>
          </a:bodyPr>
          <a:lstStyle/>
          <a:p>
            <a:r>
              <a:rPr lang="zh-CN" altLang="en-US" b="1" dirty="0"/>
              <a:t>不响应</a:t>
            </a:r>
          </a:p>
        </p:txBody>
      </p:sp>
      <p:grpSp>
        <p:nvGrpSpPr>
          <p:cNvPr id="82" name="组合 81">
            <a:extLst>
              <a:ext uri="{FF2B5EF4-FFF2-40B4-BE49-F238E27FC236}">
                <a16:creationId xmlns:a16="http://schemas.microsoft.com/office/drawing/2014/main" id="{287E65DD-6301-E15A-4A21-A28F484DF89C}"/>
              </a:ext>
            </a:extLst>
          </p:cNvPr>
          <p:cNvGrpSpPr/>
          <p:nvPr/>
        </p:nvGrpSpPr>
        <p:grpSpPr>
          <a:xfrm>
            <a:off x="6814682" y="3522954"/>
            <a:ext cx="3910508" cy="1852339"/>
            <a:chOff x="6806136" y="3804972"/>
            <a:chExt cx="3910508" cy="2204895"/>
          </a:xfrm>
        </p:grpSpPr>
        <p:cxnSp>
          <p:nvCxnSpPr>
            <p:cNvPr id="83" name="直接箭头连接符 82">
              <a:extLst>
                <a:ext uri="{FF2B5EF4-FFF2-40B4-BE49-F238E27FC236}">
                  <a16:creationId xmlns:a16="http://schemas.microsoft.com/office/drawing/2014/main" id="{BEBD8C18-B4FA-6903-E26C-316D772AF858}"/>
                </a:ext>
              </a:extLst>
            </p:cNvPr>
            <p:cNvCxnSpPr>
              <a:cxnSpLocks/>
            </p:cNvCxnSpPr>
            <p:nvPr/>
          </p:nvCxnSpPr>
          <p:spPr>
            <a:xfrm flipH="1">
              <a:off x="6820467" y="3817440"/>
              <a:ext cx="3713804"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9AF0B36D-2E32-1DE0-61AE-E1268B6F5CC8}"/>
                </a:ext>
              </a:extLst>
            </p:cNvPr>
            <p:cNvCxnSpPr>
              <a:cxnSpLocks/>
            </p:cNvCxnSpPr>
            <p:nvPr/>
          </p:nvCxnSpPr>
          <p:spPr>
            <a:xfrm>
              <a:off x="10122044" y="3804972"/>
              <a:ext cx="0" cy="2204895"/>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1CB7DC84-F490-3064-DBF0-60C8D41D2B67}"/>
                </a:ext>
              </a:extLst>
            </p:cNvPr>
            <p:cNvSpPr txBox="1"/>
            <p:nvPr/>
          </p:nvSpPr>
          <p:spPr>
            <a:xfrm>
              <a:off x="9580704" y="4366692"/>
              <a:ext cx="1135940" cy="769347"/>
            </a:xfrm>
            <a:prstGeom prst="rect">
              <a:avLst/>
            </a:prstGeom>
            <a:solidFill>
              <a:schemeClr val="bg1"/>
            </a:solidFill>
          </p:spPr>
          <p:txBody>
            <a:bodyPr wrap="square" rtlCol="0">
              <a:spAutoFit/>
            </a:bodyPr>
            <a:lstStyle/>
            <a:p>
              <a:pPr algn="ctr"/>
              <a:r>
                <a:rPr lang="en-US" altLang="zh-CN" b="1" dirty="0">
                  <a:solidFill>
                    <a:schemeClr val="accent1"/>
                  </a:solidFill>
                  <a:latin typeface="+mn-ea"/>
                </a:rPr>
                <a:t>0.875</a:t>
              </a:r>
              <a:r>
                <a:rPr lang="zh-CN" altLang="en-US" b="1" dirty="0">
                  <a:solidFill>
                    <a:schemeClr val="accent1"/>
                  </a:solidFill>
                  <a:latin typeface="+mn-ea"/>
                </a:rPr>
                <a:t>倍</a:t>
              </a:r>
              <a:endParaRPr lang="en-US" altLang="zh-CN" b="1" dirty="0">
                <a:solidFill>
                  <a:schemeClr val="accent1"/>
                </a:solidFill>
                <a:latin typeface="+mn-ea"/>
              </a:endParaRPr>
            </a:p>
            <a:p>
              <a:pPr algn="ctr"/>
              <a:r>
                <a:rPr lang="zh-CN" altLang="en-US" b="1" dirty="0">
                  <a:solidFill>
                    <a:schemeClr val="accent1"/>
                  </a:solidFill>
                  <a:latin typeface="+mn-ea"/>
                </a:rPr>
                <a:t>租用期</a:t>
              </a:r>
            </a:p>
          </p:txBody>
        </p:sp>
        <p:cxnSp>
          <p:nvCxnSpPr>
            <p:cNvPr id="86" name="直接箭头连接符 85">
              <a:extLst>
                <a:ext uri="{FF2B5EF4-FFF2-40B4-BE49-F238E27FC236}">
                  <a16:creationId xmlns:a16="http://schemas.microsoft.com/office/drawing/2014/main" id="{789D60F7-AA08-7E93-5512-5BBA73E1B3CB}"/>
                </a:ext>
              </a:extLst>
            </p:cNvPr>
            <p:cNvCxnSpPr>
              <a:cxnSpLocks/>
            </p:cNvCxnSpPr>
            <p:nvPr/>
          </p:nvCxnSpPr>
          <p:spPr>
            <a:xfrm flipH="1">
              <a:off x="6806136" y="6009867"/>
              <a:ext cx="3728135"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2ECFECD1-56C0-2F92-8596-E151BCA161E1}"/>
              </a:ext>
            </a:extLst>
          </p:cNvPr>
          <p:cNvGrpSpPr/>
          <p:nvPr/>
        </p:nvGrpSpPr>
        <p:grpSpPr>
          <a:xfrm>
            <a:off x="1857344" y="5072901"/>
            <a:ext cx="4934111" cy="455442"/>
            <a:chOff x="2028329" y="6780315"/>
            <a:chExt cx="4934111" cy="455442"/>
          </a:xfrm>
        </p:grpSpPr>
        <p:grpSp>
          <p:nvGrpSpPr>
            <p:cNvPr id="88" name="组合 87">
              <a:extLst>
                <a:ext uri="{FF2B5EF4-FFF2-40B4-BE49-F238E27FC236}">
                  <a16:creationId xmlns:a16="http://schemas.microsoft.com/office/drawing/2014/main" id="{81499158-16A7-4131-CAE1-326EC7B40D6D}"/>
                </a:ext>
              </a:extLst>
            </p:cNvPr>
            <p:cNvGrpSpPr/>
            <p:nvPr/>
          </p:nvGrpSpPr>
          <p:grpSpPr>
            <a:xfrm>
              <a:off x="2028329" y="6933357"/>
              <a:ext cx="4934111" cy="302400"/>
              <a:chOff x="1856534" y="2450095"/>
              <a:chExt cx="4718965" cy="274542"/>
            </a:xfrm>
          </p:grpSpPr>
          <p:cxnSp>
            <p:nvCxnSpPr>
              <p:cNvPr id="91" name="直接箭头连接符 90">
                <a:extLst>
                  <a:ext uri="{FF2B5EF4-FFF2-40B4-BE49-F238E27FC236}">
                    <a16:creationId xmlns:a16="http://schemas.microsoft.com/office/drawing/2014/main" id="{40F64F4F-C590-F465-6E2D-75643A6420F9}"/>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6E0EC66E-73E3-DC19-AD07-90A58DDB71AC}"/>
                  </a:ext>
                </a:extLst>
              </p:cNvPr>
              <p:cNvSpPr/>
              <p:nvPr/>
            </p:nvSpPr>
            <p:spPr>
              <a:xfrm>
                <a:off x="3685817" y="2450095"/>
                <a:ext cx="1060397" cy="27454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sz="1600" b="1" dirty="0"/>
                  <a:t>REQUEST</a:t>
                </a:r>
                <a:endParaRPr lang="zh-CN" altLang="en-US" sz="1600" b="1" dirty="0"/>
              </a:p>
            </p:txBody>
          </p:sp>
        </p:grpSp>
        <p:sp>
          <p:nvSpPr>
            <p:cNvPr id="89" name="文本框 88">
              <a:extLst>
                <a:ext uri="{FF2B5EF4-FFF2-40B4-BE49-F238E27FC236}">
                  <a16:creationId xmlns:a16="http://schemas.microsoft.com/office/drawing/2014/main" id="{F8B7307F-C0C4-59D5-CC8F-DF6C985DC1F1}"/>
                </a:ext>
              </a:extLst>
            </p:cNvPr>
            <p:cNvSpPr txBox="1"/>
            <p:nvPr/>
          </p:nvSpPr>
          <p:spPr>
            <a:xfrm>
              <a:off x="5036087" y="6780315"/>
              <a:ext cx="1602917"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zh-CN" altLang="en-US" sz="1600" b="1" dirty="0"/>
                <a:t>租用的地址</a:t>
              </a:r>
            </a:p>
          </p:txBody>
        </p:sp>
        <p:sp>
          <p:nvSpPr>
            <p:cNvPr id="90" name="文本框 89">
              <a:extLst>
                <a:ext uri="{FF2B5EF4-FFF2-40B4-BE49-F238E27FC236}">
                  <a16:creationId xmlns:a16="http://schemas.microsoft.com/office/drawing/2014/main" id="{E9C9E0D1-BEE9-DBF8-3D47-F178650BE642}"/>
                </a:ext>
              </a:extLst>
            </p:cNvPr>
            <p:cNvSpPr txBox="1"/>
            <p:nvPr/>
          </p:nvSpPr>
          <p:spPr>
            <a:xfrm>
              <a:off x="2106966" y="6780320"/>
              <a:ext cx="1919643"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grpSp>
      <p:sp>
        <p:nvSpPr>
          <p:cNvPr id="60" name="文本框 59">
            <a:extLst>
              <a:ext uri="{FF2B5EF4-FFF2-40B4-BE49-F238E27FC236}">
                <a16:creationId xmlns:a16="http://schemas.microsoft.com/office/drawing/2014/main" id="{3EE90C6D-C172-E8AF-87B5-286EF5B105C8}"/>
              </a:ext>
            </a:extLst>
          </p:cNvPr>
          <p:cNvSpPr txBox="1"/>
          <p:nvPr/>
        </p:nvSpPr>
        <p:spPr>
          <a:xfrm rot="5400000">
            <a:off x="4021824" y="5588361"/>
            <a:ext cx="868296" cy="646331"/>
          </a:xfrm>
          <a:prstGeom prst="rect">
            <a:avLst/>
          </a:prstGeom>
          <a:noFill/>
        </p:spPr>
        <p:txBody>
          <a:bodyPr wrap="square" rtlCol="0">
            <a:spAutoFit/>
          </a:bodyPr>
          <a:lstStyle/>
          <a:p>
            <a:r>
              <a:rPr lang="en-US" altLang="zh-CN" sz="3600" dirty="0">
                <a:latin typeface="+mj-ea"/>
                <a:ea typeface="+mj-ea"/>
              </a:rPr>
              <a:t>…</a:t>
            </a:r>
            <a:endParaRPr lang="zh-CN" altLang="en-US" sz="3600" dirty="0">
              <a:latin typeface="+mj-ea"/>
              <a:ea typeface="+mj-ea"/>
            </a:endParaRPr>
          </a:p>
        </p:txBody>
      </p:sp>
      <p:grpSp>
        <p:nvGrpSpPr>
          <p:cNvPr id="93" name="组合 92">
            <a:extLst>
              <a:ext uri="{FF2B5EF4-FFF2-40B4-BE49-F238E27FC236}">
                <a16:creationId xmlns:a16="http://schemas.microsoft.com/office/drawing/2014/main" id="{C92E8FB8-5EA7-33F0-9A37-6E2991A55091}"/>
              </a:ext>
            </a:extLst>
          </p:cNvPr>
          <p:cNvGrpSpPr/>
          <p:nvPr/>
        </p:nvGrpSpPr>
        <p:grpSpPr>
          <a:xfrm>
            <a:off x="969997" y="4105851"/>
            <a:ext cx="3300497" cy="1638818"/>
            <a:chOff x="969997" y="4105851"/>
            <a:chExt cx="3300497" cy="1638818"/>
          </a:xfrm>
        </p:grpSpPr>
        <p:sp>
          <p:nvSpPr>
            <p:cNvPr id="94" name="矩形 93">
              <a:extLst>
                <a:ext uri="{FF2B5EF4-FFF2-40B4-BE49-F238E27FC236}">
                  <a16:creationId xmlns:a16="http://schemas.microsoft.com/office/drawing/2014/main" id="{5D93A2DC-359A-9D91-E536-88FF082CABBC}"/>
                </a:ext>
              </a:extLst>
            </p:cNvPr>
            <p:cNvSpPr/>
            <p:nvPr/>
          </p:nvSpPr>
          <p:spPr>
            <a:xfrm>
              <a:off x="969997" y="4105851"/>
              <a:ext cx="839960" cy="1083600"/>
            </a:xfrm>
            <a:prstGeom prst="rect">
              <a:avLst/>
            </a:prstGeom>
            <a:noFill/>
            <a:ln w="381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形状 94">
              <a:extLst>
                <a:ext uri="{FF2B5EF4-FFF2-40B4-BE49-F238E27FC236}">
                  <a16:creationId xmlns:a16="http://schemas.microsoft.com/office/drawing/2014/main" id="{0CFC6D15-AE0B-6D22-9DCC-B950F08B40CE}"/>
                </a:ext>
              </a:extLst>
            </p:cNvPr>
            <p:cNvSpPr/>
            <p:nvPr/>
          </p:nvSpPr>
          <p:spPr>
            <a:xfrm>
              <a:off x="1350235" y="5247103"/>
              <a:ext cx="2920259" cy="497566"/>
            </a:xfrm>
            <a:custGeom>
              <a:avLst/>
              <a:gdLst>
                <a:gd name="connsiteX0" fmla="*/ 0 w 2803020"/>
                <a:gd name="connsiteY0" fmla="*/ 0 h 593999"/>
                <a:gd name="connsiteX1" fmla="*/ 982766 w 2803020"/>
                <a:gd name="connsiteY1" fmla="*/ 564022 h 593999"/>
                <a:gd name="connsiteX2" fmla="*/ 2803020 w 2803020"/>
                <a:gd name="connsiteY2" fmla="*/ 521293 h 593999"/>
                <a:gd name="connsiteX3" fmla="*/ 2803020 w 2803020"/>
                <a:gd name="connsiteY3" fmla="*/ 521293 h 593999"/>
                <a:gd name="connsiteX0" fmla="*/ 0 w 2803020"/>
                <a:gd name="connsiteY0" fmla="*/ 0 h 571152"/>
                <a:gd name="connsiteX1" fmla="*/ 933550 w 2803020"/>
                <a:gd name="connsiteY1" fmla="*/ 536019 h 571152"/>
                <a:gd name="connsiteX2" fmla="*/ 2803020 w 2803020"/>
                <a:gd name="connsiteY2" fmla="*/ 521293 h 571152"/>
                <a:gd name="connsiteX3" fmla="*/ 2803020 w 2803020"/>
                <a:gd name="connsiteY3" fmla="*/ 521293 h 571152"/>
                <a:gd name="connsiteX0" fmla="*/ 0 w 2803020"/>
                <a:gd name="connsiteY0" fmla="*/ 0 h 547404"/>
                <a:gd name="connsiteX1" fmla="*/ 369122 w 2803020"/>
                <a:gd name="connsiteY1" fmla="*/ 326708 h 547404"/>
                <a:gd name="connsiteX2" fmla="*/ 933550 w 2803020"/>
                <a:gd name="connsiteY2" fmla="*/ 536019 h 547404"/>
                <a:gd name="connsiteX3" fmla="*/ 2803020 w 2803020"/>
                <a:gd name="connsiteY3" fmla="*/ 521293 h 547404"/>
                <a:gd name="connsiteX4" fmla="*/ 2803020 w 2803020"/>
                <a:gd name="connsiteY4" fmla="*/ 521293 h 547404"/>
                <a:gd name="connsiteX0" fmla="*/ 0 w 2803020"/>
                <a:gd name="connsiteY0" fmla="*/ 0 h 543490"/>
                <a:gd name="connsiteX1" fmla="*/ 278892 w 2803020"/>
                <a:gd name="connsiteY1" fmla="*/ 382715 h 543490"/>
                <a:gd name="connsiteX2" fmla="*/ 933550 w 2803020"/>
                <a:gd name="connsiteY2" fmla="*/ 536019 h 543490"/>
                <a:gd name="connsiteX3" fmla="*/ 2803020 w 2803020"/>
                <a:gd name="connsiteY3" fmla="*/ 521293 h 543490"/>
                <a:gd name="connsiteX4" fmla="*/ 2803020 w 2803020"/>
                <a:gd name="connsiteY4" fmla="*/ 521293 h 543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3020" h="543490">
                  <a:moveTo>
                    <a:pt x="0" y="0"/>
                  </a:moveTo>
                  <a:cubicBezTo>
                    <a:pt x="61520" y="54451"/>
                    <a:pt x="123300" y="293379"/>
                    <a:pt x="278892" y="382715"/>
                  </a:cubicBezTo>
                  <a:cubicBezTo>
                    <a:pt x="434484" y="472052"/>
                    <a:pt x="512862" y="512923"/>
                    <a:pt x="933550" y="536019"/>
                  </a:cubicBezTo>
                  <a:cubicBezTo>
                    <a:pt x="1354238" y="559115"/>
                    <a:pt x="2803020" y="521293"/>
                    <a:pt x="2803020" y="521293"/>
                  </a:cubicBezTo>
                  <a:lnTo>
                    <a:pt x="2803020" y="521293"/>
                  </a:lnTo>
                </a:path>
              </a:pathLst>
            </a:custGeom>
            <a:noFill/>
            <a:ln w="38100">
              <a:solidFill>
                <a:schemeClr val="tx1"/>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1" name="组合 100">
            <a:extLst>
              <a:ext uri="{FF2B5EF4-FFF2-40B4-BE49-F238E27FC236}">
                <a16:creationId xmlns:a16="http://schemas.microsoft.com/office/drawing/2014/main" id="{E94A4832-3A42-7D15-C553-28C51D1F7232}"/>
              </a:ext>
            </a:extLst>
          </p:cNvPr>
          <p:cNvGrpSpPr/>
          <p:nvPr/>
        </p:nvGrpSpPr>
        <p:grpSpPr>
          <a:xfrm>
            <a:off x="6815178" y="3519834"/>
            <a:ext cx="4707475" cy="2547676"/>
            <a:chOff x="6815178" y="3519834"/>
            <a:chExt cx="4707475" cy="2547676"/>
          </a:xfrm>
        </p:grpSpPr>
        <p:grpSp>
          <p:nvGrpSpPr>
            <p:cNvPr id="96" name="组合 95">
              <a:extLst>
                <a:ext uri="{FF2B5EF4-FFF2-40B4-BE49-F238E27FC236}">
                  <a16:creationId xmlns:a16="http://schemas.microsoft.com/office/drawing/2014/main" id="{CD5A2CF3-36B7-B16C-8D80-1C74205B1386}"/>
                </a:ext>
              </a:extLst>
            </p:cNvPr>
            <p:cNvGrpSpPr/>
            <p:nvPr/>
          </p:nvGrpSpPr>
          <p:grpSpPr>
            <a:xfrm>
              <a:off x="6815178" y="3519834"/>
              <a:ext cx="4707475" cy="2547676"/>
              <a:chOff x="6832270" y="3801852"/>
              <a:chExt cx="4707475" cy="2979490"/>
            </a:xfrm>
          </p:grpSpPr>
          <p:cxnSp>
            <p:nvCxnSpPr>
              <p:cNvPr id="97" name="直接箭头连接符 96">
                <a:extLst>
                  <a:ext uri="{FF2B5EF4-FFF2-40B4-BE49-F238E27FC236}">
                    <a16:creationId xmlns:a16="http://schemas.microsoft.com/office/drawing/2014/main" id="{0BB0A776-E5BA-13E7-83B8-9F4FCA30FD75}"/>
                  </a:ext>
                </a:extLst>
              </p:cNvPr>
              <p:cNvCxnSpPr>
                <a:cxnSpLocks/>
              </p:cNvCxnSpPr>
              <p:nvPr/>
            </p:nvCxnSpPr>
            <p:spPr>
              <a:xfrm>
                <a:off x="11089145" y="3801852"/>
                <a:ext cx="0" cy="2962712"/>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97414244-5378-0280-4130-DB572CF8A191}"/>
                  </a:ext>
                </a:extLst>
              </p:cNvPr>
              <p:cNvSpPr txBox="1"/>
              <p:nvPr/>
            </p:nvSpPr>
            <p:spPr>
              <a:xfrm>
                <a:off x="10651814" y="4976626"/>
                <a:ext cx="887931" cy="431931"/>
              </a:xfrm>
              <a:prstGeom prst="rect">
                <a:avLst/>
              </a:prstGeom>
              <a:solidFill>
                <a:schemeClr val="bg1"/>
              </a:solidFill>
            </p:spPr>
            <p:txBody>
              <a:bodyPr wrap="square" rtlCol="0">
                <a:spAutoFit/>
              </a:bodyPr>
              <a:lstStyle/>
              <a:p>
                <a:pPr algn="ctr"/>
                <a:r>
                  <a:rPr lang="zh-CN" altLang="en-US" b="1" dirty="0">
                    <a:solidFill>
                      <a:schemeClr val="accent1"/>
                    </a:solidFill>
                    <a:latin typeface="+mn-ea"/>
                  </a:rPr>
                  <a:t>租用期</a:t>
                </a:r>
              </a:p>
            </p:txBody>
          </p:sp>
          <p:cxnSp>
            <p:nvCxnSpPr>
              <p:cNvPr id="99" name="直接箭头连接符 98">
                <a:extLst>
                  <a:ext uri="{FF2B5EF4-FFF2-40B4-BE49-F238E27FC236}">
                    <a16:creationId xmlns:a16="http://schemas.microsoft.com/office/drawing/2014/main" id="{40338EF7-4AAF-5739-5120-E1CE57523C89}"/>
                  </a:ext>
                </a:extLst>
              </p:cNvPr>
              <p:cNvCxnSpPr>
                <a:cxnSpLocks/>
              </p:cNvCxnSpPr>
              <p:nvPr/>
            </p:nvCxnSpPr>
            <p:spPr>
              <a:xfrm flipH="1">
                <a:off x="6832270" y="6781342"/>
                <a:ext cx="4693142"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cxnSp>
          <p:nvCxnSpPr>
            <p:cNvPr id="100" name="直接箭头连接符 99">
              <a:extLst>
                <a:ext uri="{FF2B5EF4-FFF2-40B4-BE49-F238E27FC236}">
                  <a16:creationId xmlns:a16="http://schemas.microsoft.com/office/drawing/2014/main" id="{B4C97253-9A09-367F-1865-5BC3C79E7234}"/>
                </a:ext>
              </a:extLst>
            </p:cNvPr>
            <p:cNvCxnSpPr>
              <a:cxnSpLocks/>
            </p:cNvCxnSpPr>
            <p:nvPr/>
          </p:nvCxnSpPr>
          <p:spPr>
            <a:xfrm flipH="1">
              <a:off x="7723802" y="3534762"/>
              <a:ext cx="3713804" cy="0"/>
            </a:xfrm>
            <a:prstGeom prst="straightConnector1">
              <a:avLst/>
            </a:prstGeom>
            <a:ln w="25400">
              <a:solidFill>
                <a:schemeClr val="tx1"/>
              </a:solidFill>
              <a:headEnd type="none" w="med" len="lg"/>
              <a:tailEnd type="none" w="med" len="lg"/>
            </a:ln>
          </p:spPr>
          <p:style>
            <a:lnRef idx="1">
              <a:schemeClr val="accent1"/>
            </a:lnRef>
            <a:fillRef idx="0">
              <a:schemeClr val="accent1"/>
            </a:fillRef>
            <a:effectRef idx="0">
              <a:schemeClr val="accent1"/>
            </a:effectRef>
            <a:fontRef idx="minor">
              <a:schemeClr val="tx1"/>
            </a:fontRef>
          </p:style>
        </p:cxnSp>
      </p:grpSp>
      <p:sp>
        <p:nvSpPr>
          <p:cNvPr id="102" name="文本框 101">
            <a:extLst>
              <a:ext uri="{FF2B5EF4-FFF2-40B4-BE49-F238E27FC236}">
                <a16:creationId xmlns:a16="http://schemas.microsoft.com/office/drawing/2014/main" id="{A79AA816-3BC5-D2DE-9C7D-50F46F318096}"/>
              </a:ext>
            </a:extLst>
          </p:cNvPr>
          <p:cNvSpPr txBox="1"/>
          <p:nvPr/>
        </p:nvSpPr>
        <p:spPr>
          <a:xfrm>
            <a:off x="4316640" y="5615415"/>
            <a:ext cx="2579305" cy="584775"/>
          </a:xfrm>
          <a:prstGeom prst="rect">
            <a:avLst/>
          </a:prstGeom>
          <a:noFill/>
        </p:spPr>
        <p:txBody>
          <a:bodyPr wrap="square" rtlCol="0">
            <a:spAutoFit/>
          </a:bodyPr>
          <a:lstStyle/>
          <a:p>
            <a:pPr algn="ctr"/>
            <a:r>
              <a:rPr lang="zh-CN" altLang="en-US" sz="1600" b="1" dirty="0">
                <a:solidFill>
                  <a:schemeClr val="accent1"/>
                </a:solidFill>
                <a:latin typeface="+mn-ea"/>
              </a:rPr>
              <a:t>停止使用租用的</a:t>
            </a:r>
            <a:r>
              <a:rPr lang="en-US" altLang="zh-CN" sz="1600" b="1" dirty="0">
                <a:solidFill>
                  <a:schemeClr val="accent1"/>
                </a:solidFill>
                <a:latin typeface="+mn-ea"/>
              </a:rPr>
              <a:t>IP</a:t>
            </a:r>
            <a:r>
              <a:rPr lang="zh-CN" altLang="en-US" sz="1600" b="1" dirty="0">
                <a:solidFill>
                  <a:schemeClr val="accent1"/>
                </a:solidFill>
                <a:latin typeface="+mn-ea"/>
              </a:rPr>
              <a:t>地址</a:t>
            </a:r>
            <a:endParaRPr lang="en-US" altLang="zh-CN" sz="1600" b="1" dirty="0">
              <a:solidFill>
                <a:schemeClr val="accent1"/>
              </a:solidFill>
              <a:latin typeface="+mn-ea"/>
            </a:endParaRPr>
          </a:p>
          <a:p>
            <a:pPr algn="ctr"/>
            <a:r>
              <a:rPr lang="zh-CN" altLang="en-US" sz="1600" b="1" dirty="0">
                <a:solidFill>
                  <a:schemeClr val="accent1"/>
                </a:solidFill>
                <a:latin typeface="+mn-ea"/>
              </a:rPr>
              <a:t>重新发送</a:t>
            </a:r>
            <a:r>
              <a:rPr lang="en-US" altLang="zh-CN" sz="1600" b="1" dirty="0">
                <a:solidFill>
                  <a:schemeClr val="accent1"/>
                </a:solidFill>
                <a:latin typeface="+mn-ea"/>
              </a:rPr>
              <a:t>DHCP</a:t>
            </a:r>
            <a:r>
              <a:rPr lang="zh-CN" altLang="en-US" sz="1600" b="1" dirty="0">
                <a:solidFill>
                  <a:schemeClr val="accent1"/>
                </a:solidFill>
                <a:latin typeface="+mn-ea"/>
              </a:rPr>
              <a:t>发现报文</a:t>
            </a:r>
          </a:p>
        </p:txBody>
      </p:sp>
      <p:grpSp>
        <p:nvGrpSpPr>
          <p:cNvPr id="103" name="组合 102">
            <a:extLst>
              <a:ext uri="{FF2B5EF4-FFF2-40B4-BE49-F238E27FC236}">
                <a16:creationId xmlns:a16="http://schemas.microsoft.com/office/drawing/2014/main" id="{2534A1F1-9E39-8A33-B779-F41BD13AA92A}"/>
              </a:ext>
            </a:extLst>
          </p:cNvPr>
          <p:cNvGrpSpPr/>
          <p:nvPr/>
        </p:nvGrpSpPr>
        <p:grpSpPr>
          <a:xfrm>
            <a:off x="1872768" y="6073185"/>
            <a:ext cx="4934111" cy="455441"/>
            <a:chOff x="1872768" y="6073185"/>
            <a:chExt cx="4934111" cy="455441"/>
          </a:xfrm>
        </p:grpSpPr>
        <p:grpSp>
          <p:nvGrpSpPr>
            <p:cNvPr id="104" name="组合 103">
              <a:extLst>
                <a:ext uri="{FF2B5EF4-FFF2-40B4-BE49-F238E27FC236}">
                  <a16:creationId xmlns:a16="http://schemas.microsoft.com/office/drawing/2014/main" id="{29D74324-6B90-BA16-ED82-03451CA1DDF7}"/>
                </a:ext>
              </a:extLst>
            </p:cNvPr>
            <p:cNvGrpSpPr/>
            <p:nvPr/>
          </p:nvGrpSpPr>
          <p:grpSpPr>
            <a:xfrm>
              <a:off x="1872768" y="6226226"/>
              <a:ext cx="4934111" cy="302400"/>
              <a:chOff x="1856534" y="2450094"/>
              <a:chExt cx="4718965" cy="274542"/>
            </a:xfrm>
          </p:grpSpPr>
          <p:cxnSp>
            <p:nvCxnSpPr>
              <p:cNvPr id="107" name="直接箭头连接符 106">
                <a:extLst>
                  <a:ext uri="{FF2B5EF4-FFF2-40B4-BE49-F238E27FC236}">
                    <a16:creationId xmlns:a16="http://schemas.microsoft.com/office/drawing/2014/main" id="{4AE7B3A8-CDAB-14CD-47D6-586871731889}"/>
                  </a:ext>
                </a:extLst>
              </p:cNvPr>
              <p:cNvCxnSpPr/>
              <p:nvPr/>
            </p:nvCxnSpPr>
            <p:spPr>
              <a:xfrm flipH="1">
                <a:off x="1856534"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8" name="矩形 107">
                <a:extLst>
                  <a:ext uri="{FF2B5EF4-FFF2-40B4-BE49-F238E27FC236}">
                    <a16:creationId xmlns:a16="http://schemas.microsoft.com/office/drawing/2014/main" id="{5FD0C45C-284D-DAA7-C8BC-35473C3D91B1}"/>
                  </a:ext>
                </a:extLst>
              </p:cNvPr>
              <p:cNvSpPr/>
              <p:nvPr/>
            </p:nvSpPr>
            <p:spPr>
              <a:xfrm>
                <a:off x="3685817" y="2450094"/>
                <a:ext cx="1060397" cy="27454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1" dirty="0">
                    <a:solidFill>
                      <a:schemeClr val="bg1"/>
                    </a:solidFill>
                  </a:rPr>
                  <a:t>RELEASE</a:t>
                </a:r>
                <a:endParaRPr lang="zh-CN" altLang="en-US" sz="1600" b="1" dirty="0">
                  <a:solidFill>
                    <a:schemeClr val="bg1"/>
                  </a:solidFill>
                </a:endParaRPr>
              </a:p>
            </p:txBody>
          </p:sp>
        </p:grpSp>
        <p:sp>
          <p:nvSpPr>
            <p:cNvPr id="105" name="文本框 104">
              <a:extLst>
                <a:ext uri="{FF2B5EF4-FFF2-40B4-BE49-F238E27FC236}">
                  <a16:creationId xmlns:a16="http://schemas.microsoft.com/office/drawing/2014/main" id="{A6B68F40-74E7-F064-EA3E-FFC8B50D4503}"/>
                </a:ext>
              </a:extLst>
            </p:cNvPr>
            <p:cNvSpPr txBox="1"/>
            <p:nvPr/>
          </p:nvSpPr>
          <p:spPr>
            <a:xfrm>
              <a:off x="4880527" y="6073185"/>
              <a:ext cx="1283114"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106" name="文本框 105">
              <a:extLst>
                <a:ext uri="{FF2B5EF4-FFF2-40B4-BE49-F238E27FC236}">
                  <a16:creationId xmlns:a16="http://schemas.microsoft.com/office/drawing/2014/main" id="{EE5528CB-4337-25B3-BA9D-0402BED1E3F4}"/>
                </a:ext>
              </a:extLst>
            </p:cNvPr>
            <p:cNvSpPr txBox="1"/>
            <p:nvPr/>
          </p:nvSpPr>
          <p:spPr>
            <a:xfrm>
              <a:off x="1944681" y="6073190"/>
              <a:ext cx="2505828" cy="338549"/>
            </a:xfrm>
            <a:prstGeom prst="rect">
              <a:avLst/>
            </a:prstGeom>
            <a:noFill/>
          </p:spPr>
          <p:txBody>
            <a:bodyPr wrap="square" rtlCol="0">
              <a:spAutoFit/>
            </a:bodyPr>
            <a:lstStyle/>
            <a:p>
              <a:r>
                <a:rPr lang="zh-CN" altLang="en-US" sz="1600" b="1" dirty="0">
                  <a:latin typeface="+mn-ea"/>
                </a:rPr>
                <a:t>目的</a:t>
              </a:r>
              <a:r>
                <a:rPr lang="en-US" altLang="zh-CN" sz="1600" b="1" dirty="0"/>
                <a:t>:255.255.255.255</a:t>
              </a:r>
              <a:endParaRPr lang="zh-CN" altLang="en-US" sz="1600" b="1" dirty="0"/>
            </a:p>
          </p:txBody>
        </p:sp>
      </p:grpSp>
      <p:grpSp>
        <p:nvGrpSpPr>
          <p:cNvPr id="109" name="组合 108">
            <a:extLst>
              <a:ext uri="{FF2B5EF4-FFF2-40B4-BE49-F238E27FC236}">
                <a16:creationId xmlns:a16="http://schemas.microsoft.com/office/drawing/2014/main" id="{7998564C-8293-38FD-A32B-10859FA4D45A}"/>
              </a:ext>
            </a:extLst>
          </p:cNvPr>
          <p:cNvGrpSpPr/>
          <p:nvPr/>
        </p:nvGrpSpPr>
        <p:grpSpPr>
          <a:xfrm>
            <a:off x="6806876" y="6073185"/>
            <a:ext cx="5075689" cy="423407"/>
            <a:chOff x="6806876" y="6073185"/>
            <a:chExt cx="5075689" cy="423407"/>
          </a:xfrm>
        </p:grpSpPr>
        <p:grpSp>
          <p:nvGrpSpPr>
            <p:cNvPr id="110" name="组合 109">
              <a:extLst>
                <a:ext uri="{FF2B5EF4-FFF2-40B4-BE49-F238E27FC236}">
                  <a16:creationId xmlns:a16="http://schemas.microsoft.com/office/drawing/2014/main" id="{ABFE22B4-876F-84D6-6B2D-441C678062AD}"/>
                </a:ext>
              </a:extLst>
            </p:cNvPr>
            <p:cNvGrpSpPr/>
            <p:nvPr/>
          </p:nvGrpSpPr>
          <p:grpSpPr>
            <a:xfrm>
              <a:off x="6806876" y="6194192"/>
              <a:ext cx="4934120" cy="302400"/>
              <a:chOff x="6575499" y="2435839"/>
              <a:chExt cx="4718965" cy="251659"/>
            </a:xfrm>
          </p:grpSpPr>
          <p:cxnSp>
            <p:nvCxnSpPr>
              <p:cNvPr id="113" name="直接箭头连接符 112">
                <a:extLst>
                  <a:ext uri="{FF2B5EF4-FFF2-40B4-BE49-F238E27FC236}">
                    <a16:creationId xmlns:a16="http://schemas.microsoft.com/office/drawing/2014/main" id="{A672D9E9-6C89-909A-1B51-9D70470BFD3C}"/>
                  </a:ext>
                </a:extLst>
              </p:cNvPr>
              <p:cNvCxnSpPr>
                <a:cxnSpLocks/>
              </p:cNvCxnSpPr>
              <p:nvPr/>
            </p:nvCxnSpPr>
            <p:spPr>
              <a:xfrm>
                <a:off x="6575499" y="2589519"/>
                <a:ext cx="4718965"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14" name="矩形 113">
                <a:extLst>
                  <a:ext uri="{FF2B5EF4-FFF2-40B4-BE49-F238E27FC236}">
                    <a16:creationId xmlns:a16="http://schemas.microsoft.com/office/drawing/2014/main" id="{C1890AFA-2861-B93B-725A-E2A6D7AB8914}"/>
                  </a:ext>
                </a:extLst>
              </p:cNvPr>
              <p:cNvSpPr/>
              <p:nvPr/>
            </p:nvSpPr>
            <p:spPr>
              <a:xfrm>
                <a:off x="8402506" y="2435839"/>
                <a:ext cx="1060397" cy="2516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1600" b="1" dirty="0">
                    <a:solidFill>
                      <a:schemeClr val="bg1"/>
                    </a:solidFill>
                  </a:rPr>
                  <a:t>RELEASE</a:t>
                </a:r>
                <a:endParaRPr lang="zh-CN" altLang="en-US" sz="1600" b="1" dirty="0">
                  <a:solidFill>
                    <a:schemeClr val="bg1"/>
                  </a:solidFill>
                </a:endParaRPr>
              </a:p>
            </p:txBody>
          </p:sp>
        </p:grpSp>
        <p:sp>
          <p:nvSpPr>
            <p:cNvPr id="111" name="文本框 110">
              <a:extLst>
                <a:ext uri="{FF2B5EF4-FFF2-40B4-BE49-F238E27FC236}">
                  <a16:creationId xmlns:a16="http://schemas.microsoft.com/office/drawing/2014/main" id="{57A60AF8-F427-7E6D-4FC8-9368ED006D01}"/>
                </a:ext>
              </a:extLst>
            </p:cNvPr>
            <p:cNvSpPr txBox="1"/>
            <p:nvPr/>
          </p:nvSpPr>
          <p:spPr>
            <a:xfrm>
              <a:off x="7686354" y="6073185"/>
              <a:ext cx="1286552" cy="338554"/>
            </a:xfrm>
            <a:prstGeom prst="rect">
              <a:avLst/>
            </a:prstGeom>
            <a:noFill/>
          </p:spPr>
          <p:txBody>
            <a:bodyPr wrap="square" rtlCol="0">
              <a:spAutoFit/>
            </a:bodyPr>
            <a:lstStyle/>
            <a:p>
              <a:r>
                <a:rPr lang="zh-CN" altLang="en-US" sz="1600" b="1" dirty="0">
                  <a:latin typeface="+mn-ea"/>
                </a:rPr>
                <a:t>源</a:t>
              </a:r>
              <a:r>
                <a:rPr lang="en-US" altLang="zh-CN" sz="1600" b="1" dirty="0">
                  <a:latin typeface="+mn-ea"/>
                </a:rPr>
                <a:t>: </a:t>
              </a:r>
              <a:r>
                <a:rPr lang="en-US" altLang="zh-CN" sz="1600" b="1" dirty="0"/>
                <a:t>0.0.0.0</a:t>
              </a:r>
              <a:endParaRPr lang="zh-CN" altLang="en-US" sz="1600" b="1" dirty="0"/>
            </a:p>
          </p:txBody>
        </p:sp>
        <p:sp>
          <p:nvSpPr>
            <p:cNvPr id="112" name="文本框 111">
              <a:extLst>
                <a:ext uri="{FF2B5EF4-FFF2-40B4-BE49-F238E27FC236}">
                  <a16:creationId xmlns:a16="http://schemas.microsoft.com/office/drawing/2014/main" id="{5C8F0FA0-9636-1770-7123-E1555EB9650A}"/>
                </a:ext>
              </a:extLst>
            </p:cNvPr>
            <p:cNvSpPr txBox="1"/>
            <p:nvPr/>
          </p:nvSpPr>
          <p:spPr>
            <a:xfrm>
              <a:off x="9796676" y="6073191"/>
              <a:ext cx="2085889" cy="338548"/>
            </a:xfrm>
            <a:prstGeom prst="rect">
              <a:avLst/>
            </a:prstGeom>
            <a:noFill/>
          </p:spPr>
          <p:txBody>
            <a:bodyPr wrap="square" rtlCol="0">
              <a:spAutoFit/>
            </a:bodyPr>
            <a:lstStyle/>
            <a:p>
              <a:r>
                <a:rPr lang="zh-CN" altLang="en-US" sz="1600" b="1" dirty="0">
                  <a:latin typeface="+mn-ea"/>
                </a:rPr>
                <a:t>目的</a:t>
              </a:r>
              <a:r>
                <a:rPr lang="en-US" altLang="zh-CN" sz="1600" b="1" dirty="0">
                  <a:latin typeface="+mn-ea"/>
                </a:rPr>
                <a:t>:</a:t>
              </a:r>
              <a:r>
                <a:rPr lang="en-US" altLang="zh-CN" sz="1600" b="1" dirty="0"/>
                <a:t>255.255.255.255</a:t>
              </a:r>
              <a:endParaRPr lang="zh-CN" altLang="en-US" sz="1600" b="1" dirty="0"/>
            </a:p>
          </p:txBody>
        </p:sp>
      </p:grpSp>
      <p:sp>
        <p:nvSpPr>
          <p:cNvPr id="115" name="文本框 114">
            <a:extLst>
              <a:ext uri="{FF2B5EF4-FFF2-40B4-BE49-F238E27FC236}">
                <a16:creationId xmlns:a16="http://schemas.microsoft.com/office/drawing/2014/main" id="{0CD557CC-5D9C-1454-962D-C98CECF44552}"/>
              </a:ext>
            </a:extLst>
          </p:cNvPr>
          <p:cNvSpPr txBox="1"/>
          <p:nvPr/>
        </p:nvSpPr>
        <p:spPr>
          <a:xfrm>
            <a:off x="222838" y="2316118"/>
            <a:ext cx="1685884" cy="338554"/>
          </a:xfrm>
          <a:prstGeom prst="rect">
            <a:avLst/>
          </a:prstGeom>
          <a:noFill/>
        </p:spPr>
        <p:txBody>
          <a:bodyPr wrap="square" rtlCol="0">
            <a:spAutoFit/>
          </a:bodyPr>
          <a:lstStyle/>
          <a:p>
            <a:pPr algn="ctr"/>
            <a:r>
              <a:rPr lang="zh-CN" altLang="en-US" sz="1600" b="1" dirty="0">
                <a:solidFill>
                  <a:schemeClr val="accent1"/>
                </a:solidFill>
                <a:latin typeface="+mn-ea"/>
              </a:rPr>
              <a:t>寻找</a:t>
            </a:r>
            <a:r>
              <a:rPr lang="en-US" altLang="zh-CN" sz="1600" b="1" dirty="0">
                <a:solidFill>
                  <a:schemeClr val="accent1"/>
                </a:solidFill>
              </a:rPr>
              <a:t>DHCP</a:t>
            </a:r>
            <a:r>
              <a:rPr lang="zh-CN" altLang="en-US" sz="1600" b="1" dirty="0">
                <a:solidFill>
                  <a:schemeClr val="accent1"/>
                </a:solidFill>
                <a:latin typeface="+mn-ea"/>
              </a:rPr>
              <a:t>服务器</a:t>
            </a:r>
          </a:p>
        </p:txBody>
      </p:sp>
      <p:sp>
        <p:nvSpPr>
          <p:cNvPr id="116" name="文本框 115">
            <a:extLst>
              <a:ext uri="{FF2B5EF4-FFF2-40B4-BE49-F238E27FC236}">
                <a16:creationId xmlns:a16="http://schemas.microsoft.com/office/drawing/2014/main" id="{6718B4AD-D01A-4E64-3D7B-C8F16EC17DE4}"/>
              </a:ext>
            </a:extLst>
          </p:cNvPr>
          <p:cNvSpPr txBox="1"/>
          <p:nvPr/>
        </p:nvSpPr>
        <p:spPr>
          <a:xfrm>
            <a:off x="217400" y="2661067"/>
            <a:ext cx="1685884" cy="338554"/>
          </a:xfrm>
          <a:prstGeom prst="rect">
            <a:avLst/>
          </a:prstGeom>
          <a:noFill/>
        </p:spPr>
        <p:txBody>
          <a:bodyPr wrap="square" rtlCol="0">
            <a:spAutoFit/>
          </a:bodyPr>
          <a:lstStyle/>
          <a:p>
            <a:pPr algn="ctr"/>
            <a:r>
              <a:rPr lang="zh-CN" altLang="en-US" sz="1600" b="1" dirty="0">
                <a:solidFill>
                  <a:schemeClr val="accent1"/>
                </a:solidFill>
                <a:latin typeface="+mn-ea"/>
              </a:rPr>
              <a:t>提供 </a:t>
            </a:r>
            <a:r>
              <a:rPr lang="en-US" altLang="zh-CN" sz="1600" b="1" dirty="0">
                <a:solidFill>
                  <a:schemeClr val="accent1"/>
                </a:solidFill>
              </a:rPr>
              <a:t>IP</a:t>
            </a:r>
            <a:r>
              <a:rPr lang="zh-CN" altLang="en-US" sz="1600" b="1" dirty="0">
                <a:solidFill>
                  <a:schemeClr val="accent1"/>
                </a:solidFill>
                <a:latin typeface="+mn-ea"/>
              </a:rPr>
              <a:t>地址租用</a:t>
            </a:r>
          </a:p>
        </p:txBody>
      </p:sp>
      <p:sp>
        <p:nvSpPr>
          <p:cNvPr id="117" name="文本框 116">
            <a:extLst>
              <a:ext uri="{FF2B5EF4-FFF2-40B4-BE49-F238E27FC236}">
                <a16:creationId xmlns:a16="http://schemas.microsoft.com/office/drawing/2014/main" id="{058DDD85-4102-C093-87F3-C4B15F14E677}"/>
              </a:ext>
            </a:extLst>
          </p:cNvPr>
          <p:cNvSpPr txBox="1"/>
          <p:nvPr/>
        </p:nvSpPr>
        <p:spPr>
          <a:xfrm>
            <a:off x="208865" y="3004541"/>
            <a:ext cx="1685884" cy="338554"/>
          </a:xfrm>
          <a:prstGeom prst="rect">
            <a:avLst/>
          </a:prstGeom>
          <a:noFill/>
        </p:spPr>
        <p:txBody>
          <a:bodyPr wrap="square" rtlCol="0">
            <a:spAutoFit/>
          </a:bodyPr>
          <a:lstStyle/>
          <a:p>
            <a:pPr algn="ctr"/>
            <a:r>
              <a:rPr lang="zh-CN" altLang="en-US" sz="1600" b="1" dirty="0">
                <a:solidFill>
                  <a:schemeClr val="accent1"/>
                </a:solidFill>
                <a:latin typeface="+mn-ea"/>
              </a:rPr>
              <a:t>接受 </a:t>
            </a:r>
            <a:r>
              <a:rPr lang="en-US" altLang="zh-CN" sz="1600" b="1" dirty="0">
                <a:solidFill>
                  <a:schemeClr val="accent1"/>
                </a:solidFill>
              </a:rPr>
              <a:t>IP</a:t>
            </a:r>
            <a:r>
              <a:rPr lang="zh-CN" altLang="en-US" sz="1600" b="1" dirty="0">
                <a:solidFill>
                  <a:schemeClr val="accent1"/>
                </a:solidFill>
                <a:latin typeface="+mn-ea"/>
              </a:rPr>
              <a:t>地址租约</a:t>
            </a:r>
          </a:p>
        </p:txBody>
      </p:sp>
      <p:sp>
        <p:nvSpPr>
          <p:cNvPr id="118" name="文本框 117">
            <a:extLst>
              <a:ext uri="{FF2B5EF4-FFF2-40B4-BE49-F238E27FC236}">
                <a16:creationId xmlns:a16="http://schemas.microsoft.com/office/drawing/2014/main" id="{72A9E657-7D0D-8D5C-831D-A155F8251AAC}"/>
              </a:ext>
            </a:extLst>
          </p:cNvPr>
          <p:cNvSpPr txBox="1"/>
          <p:nvPr/>
        </p:nvSpPr>
        <p:spPr>
          <a:xfrm>
            <a:off x="200330" y="3335881"/>
            <a:ext cx="1685884" cy="338554"/>
          </a:xfrm>
          <a:prstGeom prst="rect">
            <a:avLst/>
          </a:prstGeom>
          <a:noFill/>
        </p:spPr>
        <p:txBody>
          <a:bodyPr wrap="square" rtlCol="0">
            <a:spAutoFit/>
          </a:bodyPr>
          <a:lstStyle/>
          <a:p>
            <a:pPr algn="ctr"/>
            <a:r>
              <a:rPr lang="zh-CN" altLang="en-US" sz="1600" b="1" dirty="0">
                <a:solidFill>
                  <a:schemeClr val="accent1"/>
                </a:solidFill>
                <a:latin typeface="+mn-ea"/>
              </a:rPr>
              <a:t>确认 </a:t>
            </a:r>
            <a:r>
              <a:rPr lang="en-US" altLang="zh-CN" sz="1600" b="1" dirty="0">
                <a:solidFill>
                  <a:schemeClr val="accent1"/>
                </a:solidFill>
              </a:rPr>
              <a:t>IP</a:t>
            </a:r>
            <a:r>
              <a:rPr lang="zh-CN" altLang="en-US" sz="1600" b="1" dirty="0">
                <a:solidFill>
                  <a:schemeClr val="accent1"/>
                </a:solidFill>
                <a:latin typeface="+mn-ea"/>
              </a:rPr>
              <a:t>地址租约</a:t>
            </a:r>
          </a:p>
        </p:txBody>
      </p:sp>
      <p:grpSp>
        <p:nvGrpSpPr>
          <p:cNvPr id="119" name="组合 118">
            <a:extLst>
              <a:ext uri="{FF2B5EF4-FFF2-40B4-BE49-F238E27FC236}">
                <a16:creationId xmlns:a16="http://schemas.microsoft.com/office/drawing/2014/main" id="{727F9236-57AC-B1F1-7591-A7A7ED9C74AE}"/>
              </a:ext>
            </a:extLst>
          </p:cNvPr>
          <p:cNvGrpSpPr/>
          <p:nvPr/>
        </p:nvGrpSpPr>
        <p:grpSpPr>
          <a:xfrm>
            <a:off x="377174" y="4059908"/>
            <a:ext cx="1487902" cy="1335810"/>
            <a:chOff x="377174" y="4059908"/>
            <a:chExt cx="1487902" cy="1335810"/>
          </a:xfrm>
        </p:grpSpPr>
        <p:cxnSp>
          <p:nvCxnSpPr>
            <p:cNvPr id="120" name="直接连接符 119">
              <a:extLst>
                <a:ext uri="{FF2B5EF4-FFF2-40B4-BE49-F238E27FC236}">
                  <a16:creationId xmlns:a16="http://schemas.microsoft.com/office/drawing/2014/main" id="{FB8CDEF3-321A-7F29-445D-9275A2FC68B2}"/>
                </a:ext>
              </a:extLst>
            </p:cNvPr>
            <p:cNvCxnSpPr/>
            <p:nvPr/>
          </p:nvCxnSpPr>
          <p:spPr>
            <a:xfrm flipH="1">
              <a:off x="377174" y="4059908"/>
              <a:ext cx="14879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765BDB8C-9354-F82C-3682-4C41E6094BD7}"/>
                </a:ext>
              </a:extLst>
            </p:cNvPr>
            <p:cNvCxnSpPr/>
            <p:nvPr/>
          </p:nvCxnSpPr>
          <p:spPr>
            <a:xfrm flipH="1">
              <a:off x="377174" y="5388403"/>
              <a:ext cx="148790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2" name="文本框 121">
              <a:extLst>
                <a:ext uri="{FF2B5EF4-FFF2-40B4-BE49-F238E27FC236}">
                  <a16:creationId xmlns:a16="http://schemas.microsoft.com/office/drawing/2014/main" id="{6B2FFD1F-DC0F-3A79-F3AC-8CCBE1705DE2}"/>
                </a:ext>
              </a:extLst>
            </p:cNvPr>
            <p:cNvSpPr txBox="1"/>
            <p:nvPr/>
          </p:nvSpPr>
          <p:spPr>
            <a:xfrm>
              <a:off x="386417" y="4072279"/>
              <a:ext cx="417691" cy="1323439"/>
            </a:xfrm>
            <a:prstGeom prst="rect">
              <a:avLst/>
            </a:prstGeom>
            <a:noFill/>
          </p:spPr>
          <p:txBody>
            <a:bodyPr wrap="square" rtlCol="0">
              <a:spAutoFit/>
            </a:bodyPr>
            <a:lstStyle/>
            <a:p>
              <a:pPr algn="ctr"/>
              <a:r>
                <a:rPr lang="zh-CN" altLang="en-US" sz="1600" b="1" dirty="0">
                  <a:solidFill>
                    <a:schemeClr val="accent1"/>
                  </a:solidFill>
                  <a:latin typeface="+mn-ea"/>
                </a:rPr>
                <a:t> </a:t>
              </a:r>
              <a:r>
                <a:rPr lang="en-US" altLang="zh-CN" sz="1600" b="1" dirty="0">
                  <a:solidFill>
                    <a:schemeClr val="accent1"/>
                  </a:solidFill>
                </a:rPr>
                <a:t>IP</a:t>
              </a:r>
            </a:p>
            <a:p>
              <a:pPr algn="ctr"/>
              <a:r>
                <a:rPr lang="zh-CN" altLang="en-US" sz="1600" b="1" dirty="0">
                  <a:solidFill>
                    <a:schemeClr val="accent1"/>
                  </a:solidFill>
                  <a:latin typeface="+mn-ea"/>
                </a:rPr>
                <a:t>地</a:t>
              </a:r>
              <a:endParaRPr lang="en-US" altLang="zh-CN" sz="1600" b="1" dirty="0">
                <a:solidFill>
                  <a:schemeClr val="accent1"/>
                </a:solidFill>
                <a:latin typeface="+mn-ea"/>
              </a:endParaRPr>
            </a:p>
            <a:p>
              <a:pPr algn="ctr"/>
              <a:r>
                <a:rPr lang="zh-CN" altLang="en-US" sz="1600" b="1" dirty="0">
                  <a:solidFill>
                    <a:schemeClr val="accent1"/>
                  </a:solidFill>
                  <a:latin typeface="+mn-ea"/>
                </a:rPr>
                <a:t>址</a:t>
              </a:r>
              <a:endParaRPr lang="en-US" altLang="zh-CN" sz="1600" b="1" dirty="0">
                <a:solidFill>
                  <a:schemeClr val="accent1"/>
                </a:solidFill>
                <a:latin typeface="+mn-ea"/>
              </a:endParaRPr>
            </a:p>
            <a:p>
              <a:pPr algn="ctr"/>
              <a:r>
                <a:rPr lang="zh-CN" altLang="en-US" sz="1600" b="1" dirty="0">
                  <a:solidFill>
                    <a:schemeClr val="accent1"/>
                  </a:solidFill>
                  <a:latin typeface="+mn-ea"/>
                </a:rPr>
                <a:t>续</a:t>
              </a:r>
              <a:endParaRPr lang="en-US" altLang="zh-CN" sz="1600" b="1" dirty="0">
                <a:solidFill>
                  <a:schemeClr val="accent1"/>
                </a:solidFill>
                <a:latin typeface="+mn-ea"/>
              </a:endParaRPr>
            </a:p>
            <a:p>
              <a:pPr algn="ctr"/>
              <a:r>
                <a:rPr lang="zh-CN" altLang="en-US" sz="1600" b="1" dirty="0">
                  <a:solidFill>
                    <a:schemeClr val="accent1"/>
                  </a:solidFill>
                  <a:latin typeface="+mn-ea"/>
                </a:rPr>
                <a:t>约</a:t>
              </a:r>
            </a:p>
          </p:txBody>
        </p:sp>
      </p:grpSp>
      <p:sp>
        <p:nvSpPr>
          <p:cNvPr id="123" name="文本框 122">
            <a:extLst>
              <a:ext uri="{FF2B5EF4-FFF2-40B4-BE49-F238E27FC236}">
                <a16:creationId xmlns:a16="http://schemas.microsoft.com/office/drawing/2014/main" id="{819C2E8E-2418-08AA-B5ED-F190B75C9CCB}"/>
              </a:ext>
            </a:extLst>
          </p:cNvPr>
          <p:cNvSpPr txBox="1"/>
          <p:nvPr/>
        </p:nvSpPr>
        <p:spPr>
          <a:xfrm>
            <a:off x="407095" y="5927863"/>
            <a:ext cx="1685884" cy="584775"/>
          </a:xfrm>
          <a:prstGeom prst="rect">
            <a:avLst/>
          </a:prstGeom>
          <a:noFill/>
        </p:spPr>
        <p:txBody>
          <a:bodyPr wrap="square" rtlCol="0">
            <a:spAutoFit/>
          </a:bodyPr>
          <a:lstStyle/>
          <a:p>
            <a:pPr algn="ctr"/>
            <a:r>
              <a:rPr lang="zh-CN" altLang="en-US" sz="1600" b="1" dirty="0">
                <a:solidFill>
                  <a:schemeClr val="accent1"/>
                </a:solidFill>
                <a:latin typeface="+mn-ea"/>
              </a:rPr>
              <a:t>随时解除</a:t>
            </a:r>
            <a:endParaRPr lang="en-US" altLang="zh-CN" sz="1600" b="1" dirty="0">
              <a:solidFill>
                <a:schemeClr val="accent1"/>
              </a:solidFill>
              <a:latin typeface="+mn-ea"/>
            </a:endParaRPr>
          </a:p>
          <a:p>
            <a:pPr algn="ctr"/>
            <a:r>
              <a:rPr lang="zh-CN" altLang="en-US" sz="1600" b="1" dirty="0">
                <a:solidFill>
                  <a:schemeClr val="accent1"/>
                </a:solidFill>
                <a:latin typeface="+mn-ea"/>
              </a:rPr>
              <a:t>地址租约</a:t>
            </a:r>
          </a:p>
        </p:txBody>
      </p:sp>
      <p:sp>
        <p:nvSpPr>
          <p:cNvPr id="124" name="对话气泡: 圆角矩形 123">
            <a:extLst>
              <a:ext uri="{FF2B5EF4-FFF2-40B4-BE49-F238E27FC236}">
                <a16:creationId xmlns:a16="http://schemas.microsoft.com/office/drawing/2014/main" id="{2C887063-8E82-DCB2-1603-041E1CED1763}"/>
              </a:ext>
            </a:extLst>
          </p:cNvPr>
          <p:cNvSpPr/>
          <p:nvPr/>
        </p:nvSpPr>
        <p:spPr>
          <a:xfrm>
            <a:off x="3649159" y="1127842"/>
            <a:ext cx="2038947" cy="965005"/>
          </a:xfrm>
          <a:prstGeom prst="wedgeRoundRectCallout">
            <a:avLst>
              <a:gd name="adj1" fmla="val -55711"/>
              <a:gd name="adj2" fmla="val 11925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bg1"/>
                </a:solidFill>
                <a:latin typeface="+mn-ea"/>
              </a:rPr>
              <a:t>       使用</a:t>
            </a:r>
            <a:r>
              <a:rPr lang="en-US" altLang="zh-CN" sz="1600" b="1" dirty="0">
                <a:solidFill>
                  <a:schemeClr val="bg1"/>
                </a:solidFill>
                <a:latin typeface="+mn-ea"/>
              </a:rPr>
              <a:t>ARP</a:t>
            </a:r>
            <a:r>
              <a:rPr lang="zh-CN" altLang="en-US" sz="1600" b="1" dirty="0">
                <a:solidFill>
                  <a:schemeClr val="bg1"/>
                </a:solidFill>
                <a:latin typeface="+mn-ea"/>
              </a:rPr>
              <a:t>确保所选</a:t>
            </a:r>
            <a:r>
              <a:rPr lang="en-US" altLang="zh-CN" sz="1600" b="1" dirty="0">
                <a:solidFill>
                  <a:schemeClr val="bg1"/>
                </a:solidFill>
                <a:latin typeface="+mn-ea"/>
              </a:rPr>
              <a:t>IP</a:t>
            </a:r>
            <a:r>
              <a:rPr lang="zh-CN" altLang="en-US" sz="1600" b="1" dirty="0">
                <a:solidFill>
                  <a:schemeClr val="bg1"/>
                </a:solidFill>
                <a:latin typeface="+mn-ea"/>
              </a:rPr>
              <a:t>地址未被网络中其他主机占用</a:t>
            </a:r>
          </a:p>
        </p:txBody>
      </p:sp>
      <p:sp>
        <p:nvSpPr>
          <p:cNvPr id="125" name="对话气泡: 圆角矩形 124">
            <a:extLst>
              <a:ext uri="{FF2B5EF4-FFF2-40B4-BE49-F238E27FC236}">
                <a16:creationId xmlns:a16="http://schemas.microsoft.com/office/drawing/2014/main" id="{F6D883C7-0A48-7A96-023B-2E9415427B8E}"/>
              </a:ext>
            </a:extLst>
          </p:cNvPr>
          <p:cNvSpPr/>
          <p:nvPr/>
        </p:nvSpPr>
        <p:spPr>
          <a:xfrm>
            <a:off x="5956608" y="906279"/>
            <a:ext cx="3868836" cy="1696247"/>
          </a:xfrm>
          <a:prstGeom prst="wedgeRoundRectCallout">
            <a:avLst>
              <a:gd name="adj1" fmla="val -28076"/>
              <a:gd name="adj2" fmla="val 10371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bg1"/>
                </a:solidFill>
                <a:latin typeface="+mn-ea"/>
              </a:rPr>
              <a:t>       使用</a:t>
            </a:r>
            <a:r>
              <a:rPr lang="en-US" altLang="zh-CN" sz="1600" b="1" dirty="0">
                <a:solidFill>
                  <a:schemeClr val="bg1"/>
                </a:solidFill>
                <a:latin typeface="+mn-ea"/>
              </a:rPr>
              <a:t>ARP</a:t>
            </a:r>
            <a:r>
              <a:rPr lang="zh-CN" altLang="en-US" sz="1600" b="1" dirty="0">
                <a:solidFill>
                  <a:schemeClr val="bg1"/>
                </a:solidFill>
                <a:latin typeface="+mn-ea"/>
              </a:rPr>
              <a:t>检测所分配到的</a:t>
            </a:r>
            <a:r>
              <a:rPr lang="en-US" altLang="zh-CN" sz="1600" b="1" dirty="0">
                <a:solidFill>
                  <a:schemeClr val="bg1"/>
                </a:solidFill>
                <a:latin typeface="+mn-ea"/>
              </a:rPr>
              <a:t>IP</a:t>
            </a:r>
            <a:r>
              <a:rPr lang="zh-CN" altLang="en-US" sz="1600" b="1" dirty="0">
                <a:solidFill>
                  <a:schemeClr val="bg1"/>
                </a:solidFill>
                <a:latin typeface="+mn-ea"/>
              </a:rPr>
              <a:t>地址是否已被网络中其他主机占用：</a:t>
            </a:r>
            <a:endParaRPr lang="en-US" altLang="zh-CN" sz="1600" b="1" dirty="0">
              <a:solidFill>
                <a:schemeClr val="bg1"/>
              </a:solidFill>
              <a:latin typeface="+mn-ea"/>
            </a:endParaRPr>
          </a:p>
          <a:p>
            <a:pPr marL="285750" indent="-285750">
              <a:buFont typeface="Wingdings" panose="05000000000000000000" pitchFamily="2" charset="2"/>
              <a:buChar char="l"/>
            </a:pPr>
            <a:r>
              <a:rPr lang="zh-CN" altLang="en-US" sz="1600" b="1" dirty="0">
                <a:solidFill>
                  <a:schemeClr val="bg1"/>
                </a:solidFill>
                <a:latin typeface="+mn-ea"/>
              </a:rPr>
              <a:t>若是，则发送</a:t>
            </a:r>
            <a:r>
              <a:rPr lang="en-US" altLang="zh-CN" sz="1600" b="1" dirty="0">
                <a:solidFill>
                  <a:schemeClr val="bg1"/>
                </a:solidFill>
                <a:latin typeface="+mn-ea"/>
              </a:rPr>
              <a:t>DHCP</a:t>
            </a:r>
            <a:r>
              <a:rPr lang="zh-CN" altLang="en-US" sz="1600" b="1" dirty="0">
                <a:solidFill>
                  <a:schemeClr val="bg1"/>
                </a:solidFill>
                <a:latin typeface="+mn-ea"/>
              </a:rPr>
              <a:t>谢绝报文，并重新发送</a:t>
            </a:r>
            <a:r>
              <a:rPr lang="en-US" altLang="zh-CN" sz="1600" b="1" dirty="0">
                <a:solidFill>
                  <a:schemeClr val="bg1"/>
                </a:solidFill>
                <a:latin typeface="+mn-ea"/>
              </a:rPr>
              <a:t>DHCP</a:t>
            </a:r>
            <a:r>
              <a:rPr lang="zh-CN" altLang="en-US" sz="1600" b="1" dirty="0">
                <a:solidFill>
                  <a:schemeClr val="bg1"/>
                </a:solidFill>
                <a:latin typeface="+mn-ea"/>
              </a:rPr>
              <a:t>发现报文；</a:t>
            </a:r>
            <a:endParaRPr lang="en-US" altLang="zh-CN" sz="1600" b="1" dirty="0">
              <a:solidFill>
                <a:schemeClr val="bg1"/>
              </a:solidFill>
              <a:latin typeface="+mn-ea"/>
            </a:endParaRPr>
          </a:p>
          <a:p>
            <a:pPr marL="285750" indent="-285750">
              <a:buFont typeface="Wingdings" panose="05000000000000000000" pitchFamily="2" charset="2"/>
              <a:buChar char="l"/>
            </a:pPr>
            <a:r>
              <a:rPr lang="zh-CN" altLang="en-US" sz="1600" b="1" dirty="0">
                <a:solidFill>
                  <a:schemeClr val="bg1"/>
                </a:solidFill>
                <a:latin typeface="+mn-ea"/>
              </a:rPr>
              <a:t>否则，可以使用租约中的</a:t>
            </a:r>
            <a:r>
              <a:rPr lang="en-US" altLang="zh-CN" sz="1600" b="1" dirty="0">
                <a:solidFill>
                  <a:schemeClr val="bg1"/>
                </a:solidFill>
                <a:latin typeface="+mn-ea"/>
              </a:rPr>
              <a:t>IP</a:t>
            </a:r>
            <a:r>
              <a:rPr lang="zh-CN" altLang="en-US" sz="1600" b="1" dirty="0">
                <a:solidFill>
                  <a:schemeClr val="bg1"/>
                </a:solidFill>
                <a:latin typeface="+mn-ea"/>
              </a:rPr>
              <a:t>地址与网络中其他主机通信了。</a:t>
            </a:r>
          </a:p>
        </p:txBody>
      </p:sp>
    </p:spTree>
    <p:custDataLst>
      <p:tags r:id="rId1"/>
    </p:custDataLst>
    <p:extLst>
      <p:ext uri="{BB962C8B-B14F-4D97-AF65-F5344CB8AC3E}">
        <p14:creationId xmlns:p14="http://schemas.microsoft.com/office/powerpoint/2010/main" val="136791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up)">
                                      <p:cBhvr>
                                        <p:cTn id="7" dur="500"/>
                                        <p:tgtEl>
                                          <p:spTgt spid="9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wipe(up)">
                                      <p:cBhvr>
                                        <p:cTn id="11" dur="500"/>
                                        <p:tgtEl>
                                          <p:spTgt spid="60"/>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mph" presetSubtype="0" fill="hold" grpId="0" nodeType="clickEffect">
                                  <p:stCondLst>
                                    <p:cond delay="0"/>
                                  </p:stCondLst>
                                  <p:childTnLst>
                                    <p:animRot by="21600000">
                                      <p:cBhvr>
                                        <p:cTn id="15" dur="1000" fill="hold"/>
                                        <p:tgtEl>
                                          <p:spTgt spid="80"/>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01"/>
                                        </p:tgtEl>
                                        <p:attrNameLst>
                                          <p:attrName>style.visibility</p:attrName>
                                        </p:attrNameLst>
                                      </p:cBhvr>
                                      <p:to>
                                        <p:strVal val="visible"/>
                                      </p:to>
                                    </p:set>
                                    <p:animEffect transition="in" filter="wipe(up)">
                                      <p:cBhvr>
                                        <p:cTn id="20" dur="1000"/>
                                        <p:tgtEl>
                                          <p:spTgt spid="101"/>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02"/>
                                        </p:tgtEl>
                                        <p:attrNameLst>
                                          <p:attrName>style.visibility</p:attrName>
                                        </p:attrNameLst>
                                      </p:cBhvr>
                                      <p:to>
                                        <p:strVal val="visible"/>
                                      </p:to>
                                    </p:set>
                                    <p:anim calcmode="lin" valueType="num">
                                      <p:cBhvr>
                                        <p:cTn id="25" dur="500" fill="hold"/>
                                        <p:tgtEl>
                                          <p:spTgt spid="102"/>
                                        </p:tgtEl>
                                        <p:attrNameLst>
                                          <p:attrName>ppt_w</p:attrName>
                                        </p:attrNameLst>
                                      </p:cBhvr>
                                      <p:tavLst>
                                        <p:tav tm="0">
                                          <p:val>
                                            <p:fltVal val="0"/>
                                          </p:val>
                                        </p:tav>
                                        <p:tav tm="100000">
                                          <p:val>
                                            <p:strVal val="#ppt_w"/>
                                          </p:val>
                                        </p:tav>
                                      </p:tavLst>
                                    </p:anim>
                                    <p:anim calcmode="lin" valueType="num">
                                      <p:cBhvr>
                                        <p:cTn id="26" dur="500" fill="hold"/>
                                        <p:tgtEl>
                                          <p:spTgt spid="102"/>
                                        </p:tgtEl>
                                        <p:attrNameLst>
                                          <p:attrName>ppt_h</p:attrName>
                                        </p:attrNameLst>
                                      </p:cBhvr>
                                      <p:tavLst>
                                        <p:tav tm="0">
                                          <p:val>
                                            <p:fltVal val="0"/>
                                          </p:val>
                                        </p:tav>
                                        <p:tav tm="100000">
                                          <p:val>
                                            <p:strVal val="#ppt_h"/>
                                          </p:val>
                                        </p:tav>
                                      </p:tavLst>
                                    </p:anim>
                                    <p:animEffect transition="in" filter="fade">
                                      <p:cBhvr>
                                        <p:cTn id="27" dur="500"/>
                                        <p:tgtEl>
                                          <p:spTgt spid="1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03"/>
                                        </p:tgtEl>
                                        <p:attrNameLst>
                                          <p:attrName>style.visibility</p:attrName>
                                        </p:attrNameLst>
                                      </p:cBhvr>
                                      <p:to>
                                        <p:strVal val="visible"/>
                                      </p:to>
                                    </p:set>
                                    <p:animEffect transition="in" filter="wipe(right)">
                                      <p:cBhvr>
                                        <p:cTn id="32" dur="1000"/>
                                        <p:tgtEl>
                                          <p:spTgt spid="103"/>
                                        </p:tgtEl>
                                      </p:cBhvr>
                                    </p:animEffect>
                                  </p:childTnLst>
                                </p:cTn>
                              </p:par>
                              <p:par>
                                <p:cTn id="33" presetID="22" presetClass="entr" presetSubtype="8" fill="hold" nodeType="withEffect">
                                  <p:stCondLst>
                                    <p:cond delay="0"/>
                                  </p:stCondLst>
                                  <p:childTnLst>
                                    <p:set>
                                      <p:cBhvr>
                                        <p:cTn id="34" dur="1" fill="hold">
                                          <p:stCondLst>
                                            <p:cond delay="0"/>
                                          </p:stCondLst>
                                        </p:cTn>
                                        <p:tgtEl>
                                          <p:spTgt spid="109"/>
                                        </p:tgtEl>
                                        <p:attrNameLst>
                                          <p:attrName>style.visibility</p:attrName>
                                        </p:attrNameLst>
                                      </p:cBhvr>
                                      <p:to>
                                        <p:strVal val="visible"/>
                                      </p:to>
                                    </p:set>
                                    <p:animEffect transition="in" filter="wipe(left)">
                                      <p:cBhvr>
                                        <p:cTn id="35" dur="1000"/>
                                        <p:tgtEl>
                                          <p:spTgt spid="109"/>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2" fill="hold" grpId="0" nodeType="clickEffect">
                                  <p:stCondLst>
                                    <p:cond delay="0"/>
                                  </p:stCondLst>
                                  <p:childTnLst>
                                    <p:set>
                                      <p:cBhvr>
                                        <p:cTn id="39" dur="1" fill="hold">
                                          <p:stCondLst>
                                            <p:cond delay="0"/>
                                          </p:stCondLst>
                                        </p:cTn>
                                        <p:tgtEl>
                                          <p:spTgt spid="115"/>
                                        </p:tgtEl>
                                        <p:attrNameLst>
                                          <p:attrName>style.visibility</p:attrName>
                                        </p:attrNameLst>
                                      </p:cBhvr>
                                      <p:to>
                                        <p:strVal val="visible"/>
                                      </p:to>
                                    </p:set>
                                    <p:anim calcmode="lin" valueType="num">
                                      <p:cBhvr additive="base">
                                        <p:cTn id="40" dur="500"/>
                                        <p:tgtEl>
                                          <p:spTgt spid="115"/>
                                        </p:tgtEl>
                                        <p:attrNameLst>
                                          <p:attrName>ppt_x</p:attrName>
                                        </p:attrNameLst>
                                      </p:cBhvr>
                                      <p:tavLst>
                                        <p:tav tm="0">
                                          <p:val>
                                            <p:strVal val="#ppt_x+#ppt_w*1.125000"/>
                                          </p:val>
                                        </p:tav>
                                        <p:tav tm="100000">
                                          <p:val>
                                            <p:strVal val="#ppt_x"/>
                                          </p:val>
                                        </p:tav>
                                      </p:tavLst>
                                    </p:anim>
                                    <p:animEffect transition="in" filter="wipe(left)">
                                      <p:cBhvr>
                                        <p:cTn id="41" dur="500"/>
                                        <p:tgtEl>
                                          <p:spTgt spid="115"/>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116"/>
                                        </p:tgtEl>
                                        <p:attrNameLst>
                                          <p:attrName>style.visibility</p:attrName>
                                        </p:attrNameLst>
                                      </p:cBhvr>
                                      <p:to>
                                        <p:strVal val="visible"/>
                                      </p:to>
                                    </p:set>
                                    <p:anim calcmode="lin" valueType="num">
                                      <p:cBhvr additive="base">
                                        <p:cTn id="46" dur="500"/>
                                        <p:tgtEl>
                                          <p:spTgt spid="116"/>
                                        </p:tgtEl>
                                        <p:attrNameLst>
                                          <p:attrName>ppt_x</p:attrName>
                                        </p:attrNameLst>
                                      </p:cBhvr>
                                      <p:tavLst>
                                        <p:tav tm="0">
                                          <p:val>
                                            <p:strVal val="#ppt_x-#ppt_w*1.125000"/>
                                          </p:val>
                                        </p:tav>
                                        <p:tav tm="100000">
                                          <p:val>
                                            <p:strVal val="#ppt_x"/>
                                          </p:val>
                                        </p:tav>
                                      </p:tavLst>
                                    </p:anim>
                                    <p:animEffect transition="in" filter="wipe(right)">
                                      <p:cBhvr>
                                        <p:cTn id="47" dur="500"/>
                                        <p:tgtEl>
                                          <p:spTgt spid="116"/>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2" fill="hold" grpId="0" nodeType="clickEffect">
                                  <p:stCondLst>
                                    <p:cond delay="0"/>
                                  </p:stCondLst>
                                  <p:childTnLst>
                                    <p:set>
                                      <p:cBhvr>
                                        <p:cTn id="51" dur="1" fill="hold">
                                          <p:stCondLst>
                                            <p:cond delay="0"/>
                                          </p:stCondLst>
                                        </p:cTn>
                                        <p:tgtEl>
                                          <p:spTgt spid="117"/>
                                        </p:tgtEl>
                                        <p:attrNameLst>
                                          <p:attrName>style.visibility</p:attrName>
                                        </p:attrNameLst>
                                      </p:cBhvr>
                                      <p:to>
                                        <p:strVal val="visible"/>
                                      </p:to>
                                    </p:set>
                                    <p:anim calcmode="lin" valueType="num">
                                      <p:cBhvr additive="base">
                                        <p:cTn id="52" dur="500"/>
                                        <p:tgtEl>
                                          <p:spTgt spid="117"/>
                                        </p:tgtEl>
                                        <p:attrNameLst>
                                          <p:attrName>ppt_x</p:attrName>
                                        </p:attrNameLst>
                                      </p:cBhvr>
                                      <p:tavLst>
                                        <p:tav tm="0">
                                          <p:val>
                                            <p:strVal val="#ppt_x+#ppt_w*1.125000"/>
                                          </p:val>
                                        </p:tav>
                                        <p:tav tm="100000">
                                          <p:val>
                                            <p:strVal val="#ppt_x"/>
                                          </p:val>
                                        </p:tav>
                                      </p:tavLst>
                                    </p:anim>
                                    <p:animEffect transition="in" filter="wipe(left)">
                                      <p:cBhvr>
                                        <p:cTn id="53" dur="500"/>
                                        <p:tgtEl>
                                          <p:spTgt spid="11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8" fill="hold" grpId="0" nodeType="clickEffect">
                                  <p:stCondLst>
                                    <p:cond delay="0"/>
                                  </p:stCondLst>
                                  <p:childTnLst>
                                    <p:set>
                                      <p:cBhvr>
                                        <p:cTn id="57" dur="1" fill="hold">
                                          <p:stCondLst>
                                            <p:cond delay="0"/>
                                          </p:stCondLst>
                                        </p:cTn>
                                        <p:tgtEl>
                                          <p:spTgt spid="118"/>
                                        </p:tgtEl>
                                        <p:attrNameLst>
                                          <p:attrName>style.visibility</p:attrName>
                                        </p:attrNameLst>
                                      </p:cBhvr>
                                      <p:to>
                                        <p:strVal val="visible"/>
                                      </p:to>
                                    </p:set>
                                    <p:anim calcmode="lin" valueType="num">
                                      <p:cBhvr additive="base">
                                        <p:cTn id="58" dur="500"/>
                                        <p:tgtEl>
                                          <p:spTgt spid="118"/>
                                        </p:tgtEl>
                                        <p:attrNameLst>
                                          <p:attrName>ppt_x</p:attrName>
                                        </p:attrNameLst>
                                      </p:cBhvr>
                                      <p:tavLst>
                                        <p:tav tm="0">
                                          <p:val>
                                            <p:strVal val="#ppt_x-#ppt_w*1.125000"/>
                                          </p:val>
                                        </p:tav>
                                        <p:tav tm="100000">
                                          <p:val>
                                            <p:strVal val="#ppt_x"/>
                                          </p:val>
                                        </p:tav>
                                      </p:tavLst>
                                    </p:anim>
                                    <p:animEffect transition="in" filter="wipe(right)">
                                      <p:cBhvr>
                                        <p:cTn id="59" dur="500"/>
                                        <p:tgtEl>
                                          <p:spTgt spid="118"/>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2" fill="hold" nodeType="clickEffect">
                                  <p:stCondLst>
                                    <p:cond delay="0"/>
                                  </p:stCondLst>
                                  <p:childTnLst>
                                    <p:set>
                                      <p:cBhvr>
                                        <p:cTn id="63" dur="1" fill="hold">
                                          <p:stCondLst>
                                            <p:cond delay="0"/>
                                          </p:stCondLst>
                                        </p:cTn>
                                        <p:tgtEl>
                                          <p:spTgt spid="119"/>
                                        </p:tgtEl>
                                        <p:attrNameLst>
                                          <p:attrName>style.visibility</p:attrName>
                                        </p:attrNameLst>
                                      </p:cBhvr>
                                      <p:to>
                                        <p:strVal val="visible"/>
                                      </p:to>
                                    </p:set>
                                    <p:anim calcmode="lin" valueType="num">
                                      <p:cBhvr additive="base">
                                        <p:cTn id="64" dur="500"/>
                                        <p:tgtEl>
                                          <p:spTgt spid="119"/>
                                        </p:tgtEl>
                                        <p:attrNameLst>
                                          <p:attrName>ppt_x</p:attrName>
                                        </p:attrNameLst>
                                      </p:cBhvr>
                                      <p:tavLst>
                                        <p:tav tm="0">
                                          <p:val>
                                            <p:strVal val="#ppt_x+#ppt_w*1.125000"/>
                                          </p:val>
                                        </p:tav>
                                        <p:tav tm="100000">
                                          <p:val>
                                            <p:strVal val="#ppt_x"/>
                                          </p:val>
                                        </p:tav>
                                      </p:tavLst>
                                    </p:anim>
                                    <p:animEffect transition="in" filter="wipe(left)">
                                      <p:cBhvr>
                                        <p:cTn id="65" dur="500"/>
                                        <p:tgtEl>
                                          <p:spTgt spid="119"/>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2" fill="hold" grpId="0" nodeType="clickEffect">
                                  <p:stCondLst>
                                    <p:cond delay="0"/>
                                  </p:stCondLst>
                                  <p:childTnLst>
                                    <p:set>
                                      <p:cBhvr>
                                        <p:cTn id="69" dur="1" fill="hold">
                                          <p:stCondLst>
                                            <p:cond delay="0"/>
                                          </p:stCondLst>
                                        </p:cTn>
                                        <p:tgtEl>
                                          <p:spTgt spid="123"/>
                                        </p:tgtEl>
                                        <p:attrNameLst>
                                          <p:attrName>style.visibility</p:attrName>
                                        </p:attrNameLst>
                                      </p:cBhvr>
                                      <p:to>
                                        <p:strVal val="visible"/>
                                      </p:to>
                                    </p:set>
                                    <p:anim calcmode="lin" valueType="num">
                                      <p:cBhvr additive="base">
                                        <p:cTn id="70" dur="500"/>
                                        <p:tgtEl>
                                          <p:spTgt spid="123"/>
                                        </p:tgtEl>
                                        <p:attrNameLst>
                                          <p:attrName>ppt_x</p:attrName>
                                        </p:attrNameLst>
                                      </p:cBhvr>
                                      <p:tavLst>
                                        <p:tav tm="0">
                                          <p:val>
                                            <p:strVal val="#ppt_x+#ppt_w*1.125000"/>
                                          </p:val>
                                        </p:tav>
                                        <p:tav tm="100000">
                                          <p:val>
                                            <p:strVal val="#ppt_x"/>
                                          </p:val>
                                        </p:tav>
                                      </p:tavLst>
                                    </p:anim>
                                    <p:animEffect transition="in" filter="wipe(left)">
                                      <p:cBhvr>
                                        <p:cTn id="71" dur="500"/>
                                        <p:tgtEl>
                                          <p:spTgt spid="123"/>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124"/>
                                        </p:tgtEl>
                                        <p:attrNameLst>
                                          <p:attrName>style.visibility</p:attrName>
                                        </p:attrNameLst>
                                      </p:cBhvr>
                                      <p:to>
                                        <p:strVal val="visible"/>
                                      </p:to>
                                    </p:set>
                                    <p:anim calcmode="lin" valueType="num">
                                      <p:cBhvr>
                                        <p:cTn id="76" dur="500" fill="hold"/>
                                        <p:tgtEl>
                                          <p:spTgt spid="124"/>
                                        </p:tgtEl>
                                        <p:attrNameLst>
                                          <p:attrName>ppt_w</p:attrName>
                                        </p:attrNameLst>
                                      </p:cBhvr>
                                      <p:tavLst>
                                        <p:tav tm="0">
                                          <p:val>
                                            <p:fltVal val="0"/>
                                          </p:val>
                                        </p:tav>
                                        <p:tav tm="100000">
                                          <p:val>
                                            <p:strVal val="#ppt_w"/>
                                          </p:val>
                                        </p:tav>
                                      </p:tavLst>
                                    </p:anim>
                                    <p:anim calcmode="lin" valueType="num">
                                      <p:cBhvr>
                                        <p:cTn id="77" dur="500" fill="hold"/>
                                        <p:tgtEl>
                                          <p:spTgt spid="124"/>
                                        </p:tgtEl>
                                        <p:attrNameLst>
                                          <p:attrName>ppt_h</p:attrName>
                                        </p:attrNameLst>
                                      </p:cBhvr>
                                      <p:tavLst>
                                        <p:tav tm="0">
                                          <p:val>
                                            <p:fltVal val="0"/>
                                          </p:val>
                                        </p:tav>
                                        <p:tav tm="100000">
                                          <p:val>
                                            <p:strVal val="#ppt_h"/>
                                          </p:val>
                                        </p:tav>
                                      </p:tavLst>
                                    </p:anim>
                                    <p:animEffect transition="in" filter="fade">
                                      <p:cBhvr>
                                        <p:cTn id="78" dur="500"/>
                                        <p:tgtEl>
                                          <p:spTgt spid="124"/>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125"/>
                                        </p:tgtEl>
                                        <p:attrNameLst>
                                          <p:attrName>style.visibility</p:attrName>
                                        </p:attrNameLst>
                                      </p:cBhvr>
                                      <p:to>
                                        <p:strVal val="visible"/>
                                      </p:to>
                                    </p:set>
                                    <p:anim calcmode="lin" valueType="num">
                                      <p:cBhvr>
                                        <p:cTn id="83" dur="500" fill="hold"/>
                                        <p:tgtEl>
                                          <p:spTgt spid="125"/>
                                        </p:tgtEl>
                                        <p:attrNameLst>
                                          <p:attrName>ppt_w</p:attrName>
                                        </p:attrNameLst>
                                      </p:cBhvr>
                                      <p:tavLst>
                                        <p:tav tm="0">
                                          <p:val>
                                            <p:fltVal val="0"/>
                                          </p:val>
                                        </p:tav>
                                        <p:tav tm="100000">
                                          <p:val>
                                            <p:strVal val="#ppt_w"/>
                                          </p:val>
                                        </p:tav>
                                      </p:tavLst>
                                    </p:anim>
                                    <p:anim calcmode="lin" valueType="num">
                                      <p:cBhvr>
                                        <p:cTn id="84" dur="500" fill="hold"/>
                                        <p:tgtEl>
                                          <p:spTgt spid="125"/>
                                        </p:tgtEl>
                                        <p:attrNameLst>
                                          <p:attrName>ppt_h</p:attrName>
                                        </p:attrNameLst>
                                      </p:cBhvr>
                                      <p:tavLst>
                                        <p:tav tm="0">
                                          <p:val>
                                            <p:fltVal val="0"/>
                                          </p:val>
                                        </p:tav>
                                        <p:tav tm="100000">
                                          <p:val>
                                            <p:strVal val="#ppt_h"/>
                                          </p:val>
                                        </p:tav>
                                      </p:tavLst>
                                    </p:anim>
                                    <p:animEffect transition="in" filter="fade">
                                      <p:cBhvr>
                                        <p:cTn id="85"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p:bldP spid="60" grpId="0"/>
      <p:bldP spid="102" grpId="0"/>
      <p:bldP spid="115" grpId="0"/>
      <p:bldP spid="116" grpId="0"/>
      <p:bldP spid="117" grpId="0"/>
      <p:bldP spid="118" grpId="0"/>
      <p:bldP spid="123" grpId="0"/>
      <p:bldP spid="124" grpId="0" animBg="1"/>
      <p:bldP spid="1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84246D9B-2F37-0A49-9C4E-DF251FB7907C}"/>
              </a:ext>
            </a:extLst>
          </p:cNvPr>
          <p:cNvSpPr txBox="1"/>
          <p:nvPr/>
        </p:nvSpPr>
        <p:spPr>
          <a:xfrm>
            <a:off x="9052942" y="2966503"/>
            <a:ext cx="1767496" cy="369332"/>
          </a:xfrm>
          <a:prstGeom prst="rect">
            <a:avLst/>
          </a:prstGeom>
          <a:noFill/>
        </p:spPr>
        <p:txBody>
          <a:bodyPr wrap="square" rtlCol="0">
            <a:spAutoFit/>
          </a:bodyPr>
          <a:lstStyle/>
          <a:p>
            <a:r>
              <a:rPr lang="en-US" altLang="zh-CN" b="1" dirty="0">
                <a:solidFill>
                  <a:schemeClr val="accent1"/>
                </a:solidFill>
              </a:rPr>
              <a:t>DHCP</a:t>
            </a:r>
            <a:r>
              <a:rPr lang="zh-CN" altLang="en-US" b="1" dirty="0">
                <a:solidFill>
                  <a:schemeClr val="accent1"/>
                </a:solidFill>
              </a:rPr>
              <a:t>中继代理</a:t>
            </a:r>
          </a:p>
        </p:txBody>
      </p:sp>
      <p:sp>
        <p:nvSpPr>
          <p:cNvPr id="9" name="矩形 8">
            <a:extLst>
              <a:ext uri="{FF2B5EF4-FFF2-40B4-BE49-F238E27FC236}">
                <a16:creationId xmlns:a16="http://schemas.microsoft.com/office/drawing/2014/main" id="{3C4BF9FB-4F19-D82E-CAEB-5D370E842031}"/>
              </a:ext>
            </a:extLst>
          </p:cNvPr>
          <p:cNvSpPr/>
          <p:nvPr/>
        </p:nvSpPr>
        <p:spPr>
          <a:xfrm>
            <a:off x="1250576" y="2015273"/>
            <a:ext cx="3395365" cy="226755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zh-CN" altLang="en-US" sz="2400" b="1" dirty="0">
                <a:solidFill>
                  <a:schemeClr val="bg1"/>
                </a:solidFill>
                <a:latin typeface="+mn-ea"/>
              </a:rPr>
              <a:t>可以通过</a:t>
            </a:r>
            <a:r>
              <a:rPr lang="en-US" altLang="zh-CN" sz="2400" b="1" dirty="0">
                <a:solidFill>
                  <a:schemeClr val="bg1"/>
                </a:solidFill>
                <a:latin typeface="+mn-ea"/>
              </a:rPr>
              <a:t>DHCP</a:t>
            </a:r>
          </a:p>
          <a:p>
            <a:r>
              <a:rPr lang="zh-CN" altLang="en-US" sz="2400" b="1" dirty="0">
                <a:solidFill>
                  <a:schemeClr val="bg1"/>
                </a:solidFill>
                <a:latin typeface="+mn-ea"/>
              </a:rPr>
              <a:t>获取网络配置参数</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0282"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14399" y="898245"/>
              <a:ext cx="5502062" cy="400110"/>
            </a:xfrm>
            <a:prstGeom prst="rect">
              <a:avLst/>
            </a:prstGeom>
            <a:noFill/>
          </p:spPr>
          <p:txBody>
            <a:bodyPr wrap="square" rtlCol="0">
              <a:spAutoFit/>
            </a:bodyPr>
            <a:lstStyle/>
            <a:p>
              <a:r>
                <a:rPr lang="en-US" altLang="zh-CN" sz="2000" b="1" dirty="0"/>
                <a:t>DHCP</a:t>
              </a:r>
              <a:r>
                <a:rPr lang="zh-CN" altLang="en-US" sz="2000" b="1" dirty="0"/>
                <a:t>中继代理</a:t>
              </a:r>
              <a:endParaRPr lang="zh-CN" altLang="en-US" sz="2000" b="1" dirty="0">
                <a:solidFill>
                  <a:schemeClr val="tx1"/>
                </a:solidFill>
                <a:ea typeface="+mj-ea"/>
              </a:endParaRPr>
            </a:p>
          </p:txBody>
        </p:sp>
      </p:grpSp>
      <p:grpSp>
        <p:nvGrpSpPr>
          <p:cNvPr id="56" name="组合 55">
            <a:extLst>
              <a:ext uri="{FF2B5EF4-FFF2-40B4-BE49-F238E27FC236}">
                <a16:creationId xmlns:a16="http://schemas.microsoft.com/office/drawing/2014/main" id="{1AEB395E-4900-5F4B-4E3F-9AB64E26A64C}"/>
              </a:ext>
            </a:extLst>
          </p:cNvPr>
          <p:cNvGrpSpPr/>
          <p:nvPr/>
        </p:nvGrpSpPr>
        <p:grpSpPr>
          <a:xfrm>
            <a:off x="3018072" y="938055"/>
            <a:ext cx="8861710" cy="5541042"/>
            <a:chOff x="3018072" y="938055"/>
            <a:chExt cx="8861710" cy="5541042"/>
          </a:xfrm>
        </p:grpSpPr>
        <p:pic>
          <p:nvPicPr>
            <p:cNvPr id="6" name="图片 5" descr="电脑游戏的截图&#10;&#10;中度可信度描述已自动生成">
              <a:extLst>
                <a:ext uri="{FF2B5EF4-FFF2-40B4-BE49-F238E27FC236}">
                  <a16:creationId xmlns:a16="http://schemas.microsoft.com/office/drawing/2014/main" id="{879DD3A0-1FB5-7373-0DF6-87A225B585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7897" y="968265"/>
              <a:ext cx="6425687" cy="4320207"/>
            </a:xfrm>
            <a:prstGeom prst="rect">
              <a:avLst/>
            </a:prstGeom>
          </p:spPr>
        </p:pic>
        <p:grpSp>
          <p:nvGrpSpPr>
            <p:cNvPr id="7" name="组合 6">
              <a:extLst>
                <a:ext uri="{FF2B5EF4-FFF2-40B4-BE49-F238E27FC236}">
                  <a16:creationId xmlns:a16="http://schemas.microsoft.com/office/drawing/2014/main" id="{E91FABA6-DB00-AE0D-D52C-C79C7ED6BE48}"/>
                </a:ext>
              </a:extLst>
            </p:cNvPr>
            <p:cNvGrpSpPr/>
            <p:nvPr/>
          </p:nvGrpSpPr>
          <p:grpSpPr>
            <a:xfrm>
              <a:off x="8428914" y="938055"/>
              <a:ext cx="2704813" cy="1077218"/>
              <a:chOff x="724188" y="1371600"/>
              <a:chExt cx="2704813" cy="1077218"/>
            </a:xfrm>
          </p:grpSpPr>
          <p:sp>
            <p:nvSpPr>
              <p:cNvPr id="8" name="文本框 7">
                <a:extLst>
                  <a:ext uri="{FF2B5EF4-FFF2-40B4-BE49-F238E27FC236}">
                    <a16:creationId xmlns:a16="http://schemas.microsoft.com/office/drawing/2014/main" id="{7313CB63-2908-1191-DD87-B232B7266B2D}"/>
                  </a:ext>
                </a:extLst>
              </p:cNvPr>
              <p:cNvSpPr txBox="1"/>
              <p:nvPr/>
            </p:nvSpPr>
            <p:spPr>
              <a:xfrm>
                <a:off x="724188" y="1371600"/>
                <a:ext cx="1374776" cy="1077218"/>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a:p>
                <a:r>
                  <a:rPr lang="zh-CN" altLang="en-US" sz="1600" b="1" dirty="0"/>
                  <a:t>默认网关：</a:t>
                </a:r>
                <a:endParaRPr lang="en-US" altLang="zh-CN" sz="1600" b="1" dirty="0"/>
              </a:p>
              <a:p>
                <a:r>
                  <a:rPr lang="zh-CN" altLang="en-US" sz="1600" b="1" dirty="0"/>
                  <a:t>域名：</a:t>
                </a:r>
              </a:p>
            </p:txBody>
          </p:sp>
          <p:sp>
            <p:nvSpPr>
              <p:cNvPr id="29" name="文本框 28">
                <a:extLst>
                  <a:ext uri="{FF2B5EF4-FFF2-40B4-BE49-F238E27FC236}">
                    <a16:creationId xmlns:a16="http://schemas.microsoft.com/office/drawing/2014/main" id="{4D161A03-3E04-A75C-06B3-53F7AEED637F}"/>
                  </a:ext>
                </a:extLst>
              </p:cNvPr>
              <p:cNvSpPr txBox="1"/>
              <p:nvPr/>
            </p:nvSpPr>
            <p:spPr>
              <a:xfrm>
                <a:off x="1875401" y="1371600"/>
                <a:ext cx="1553600" cy="1077218"/>
              </a:xfrm>
              <a:prstGeom prst="rect">
                <a:avLst/>
              </a:prstGeom>
              <a:noFill/>
            </p:spPr>
            <p:txBody>
              <a:bodyPr wrap="square" rtlCol="0">
                <a:spAutoFit/>
              </a:bodyPr>
              <a:lstStyle/>
              <a:p>
                <a:r>
                  <a:rPr lang="en-US" altLang="zh-CN" sz="1600" b="1" dirty="0"/>
                  <a:t>192.168.1.1</a:t>
                </a:r>
              </a:p>
              <a:p>
                <a:r>
                  <a:rPr lang="en-US" altLang="zh-CN" sz="1600" b="1" dirty="0"/>
                  <a:t>255.255.255.0</a:t>
                </a:r>
              </a:p>
              <a:p>
                <a:r>
                  <a:rPr lang="en-US" altLang="zh-CN" sz="1600" b="1" dirty="0"/>
                  <a:t>192.168.1.254</a:t>
                </a:r>
              </a:p>
              <a:p>
                <a:r>
                  <a:rPr lang="en-US" altLang="zh-CN" sz="1600" b="1" dirty="0"/>
                  <a:t>www.hnust.cn</a:t>
                </a:r>
                <a:endParaRPr lang="zh-CN" altLang="en-US" sz="1600" b="1" dirty="0"/>
              </a:p>
            </p:txBody>
          </p:sp>
        </p:grpSp>
        <p:grpSp>
          <p:nvGrpSpPr>
            <p:cNvPr id="30" name="组合 29">
              <a:extLst>
                <a:ext uri="{FF2B5EF4-FFF2-40B4-BE49-F238E27FC236}">
                  <a16:creationId xmlns:a16="http://schemas.microsoft.com/office/drawing/2014/main" id="{E8FB1F66-9E26-57B7-152C-61578318F4BF}"/>
                </a:ext>
              </a:extLst>
            </p:cNvPr>
            <p:cNvGrpSpPr/>
            <p:nvPr/>
          </p:nvGrpSpPr>
          <p:grpSpPr>
            <a:xfrm>
              <a:off x="8428914" y="2401862"/>
              <a:ext cx="2704813" cy="584775"/>
              <a:chOff x="996557" y="2228671"/>
              <a:chExt cx="2704813" cy="584775"/>
            </a:xfrm>
          </p:grpSpPr>
          <p:sp>
            <p:nvSpPr>
              <p:cNvPr id="31" name="文本框 30">
                <a:extLst>
                  <a:ext uri="{FF2B5EF4-FFF2-40B4-BE49-F238E27FC236}">
                    <a16:creationId xmlns:a16="http://schemas.microsoft.com/office/drawing/2014/main" id="{FE3E3A72-801E-1053-B0F5-AA2218952B1B}"/>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3" name="文本框 32">
                <a:extLst>
                  <a:ext uri="{FF2B5EF4-FFF2-40B4-BE49-F238E27FC236}">
                    <a16:creationId xmlns:a16="http://schemas.microsoft.com/office/drawing/2014/main" id="{DE010A23-0C40-3542-1B72-BDC476ABB760}"/>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192.168.1.254</a:t>
                </a:r>
              </a:p>
              <a:p>
                <a:r>
                  <a:rPr lang="en-US" altLang="zh-CN" sz="1600" b="1" dirty="0"/>
                  <a:t>255.255.255.0</a:t>
                </a:r>
              </a:p>
            </p:txBody>
          </p:sp>
        </p:grpSp>
        <p:grpSp>
          <p:nvGrpSpPr>
            <p:cNvPr id="34" name="组合 33">
              <a:extLst>
                <a:ext uri="{FF2B5EF4-FFF2-40B4-BE49-F238E27FC236}">
                  <a16:creationId xmlns:a16="http://schemas.microsoft.com/office/drawing/2014/main" id="{397AE2BC-5367-6613-632D-311839D7883D}"/>
                </a:ext>
              </a:extLst>
            </p:cNvPr>
            <p:cNvGrpSpPr/>
            <p:nvPr/>
          </p:nvGrpSpPr>
          <p:grpSpPr>
            <a:xfrm>
              <a:off x="8428914" y="3424453"/>
              <a:ext cx="2704813" cy="584775"/>
              <a:chOff x="996557" y="2228671"/>
              <a:chExt cx="2704813" cy="584775"/>
            </a:xfrm>
          </p:grpSpPr>
          <p:sp>
            <p:nvSpPr>
              <p:cNvPr id="35" name="文本框 34">
                <a:extLst>
                  <a:ext uri="{FF2B5EF4-FFF2-40B4-BE49-F238E27FC236}">
                    <a16:creationId xmlns:a16="http://schemas.microsoft.com/office/drawing/2014/main" id="{E44694C6-FFBB-15B6-E3B0-4397F7ED1360}"/>
                  </a:ext>
                </a:extLst>
              </p:cNvPr>
              <p:cNvSpPr txBox="1"/>
              <p:nvPr/>
            </p:nvSpPr>
            <p:spPr>
              <a:xfrm>
                <a:off x="996557" y="2228671"/>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p>
            </p:txBody>
          </p:sp>
          <p:sp>
            <p:nvSpPr>
              <p:cNvPr id="36" name="文本框 35">
                <a:extLst>
                  <a:ext uri="{FF2B5EF4-FFF2-40B4-BE49-F238E27FC236}">
                    <a16:creationId xmlns:a16="http://schemas.microsoft.com/office/drawing/2014/main" id="{921AF9F9-31F5-00F2-C1DD-DCAC6A38CAD3}"/>
                  </a:ext>
                </a:extLst>
              </p:cNvPr>
              <p:cNvSpPr txBox="1"/>
              <p:nvPr/>
            </p:nvSpPr>
            <p:spPr>
              <a:xfrm>
                <a:off x="2147770" y="2228671"/>
                <a:ext cx="1553600" cy="584775"/>
              </a:xfrm>
              <a:prstGeom prst="rect">
                <a:avLst/>
              </a:prstGeom>
              <a:noFill/>
            </p:spPr>
            <p:txBody>
              <a:bodyPr wrap="square" rtlCol="0">
                <a:spAutoFit/>
              </a:bodyPr>
              <a:lstStyle/>
              <a:p>
                <a:r>
                  <a:rPr lang="en-US" altLang="zh-CN" sz="1600" b="1" dirty="0"/>
                  <a:t>192.168.0.254</a:t>
                </a:r>
              </a:p>
              <a:p>
                <a:r>
                  <a:rPr lang="en-US" altLang="zh-CN" sz="1600" b="1" dirty="0"/>
                  <a:t>255.255.255.0</a:t>
                </a:r>
              </a:p>
            </p:txBody>
          </p:sp>
        </p:grpSp>
        <p:grpSp>
          <p:nvGrpSpPr>
            <p:cNvPr id="37" name="组合 36">
              <a:extLst>
                <a:ext uri="{FF2B5EF4-FFF2-40B4-BE49-F238E27FC236}">
                  <a16:creationId xmlns:a16="http://schemas.microsoft.com/office/drawing/2014/main" id="{77351F93-8471-ED95-E396-6A2A7CA3ADE0}"/>
                </a:ext>
              </a:extLst>
            </p:cNvPr>
            <p:cNvGrpSpPr/>
            <p:nvPr/>
          </p:nvGrpSpPr>
          <p:grpSpPr>
            <a:xfrm>
              <a:off x="9129667" y="5377090"/>
              <a:ext cx="2750115" cy="1102007"/>
              <a:chOff x="764299" y="3812205"/>
              <a:chExt cx="2750115" cy="1102007"/>
            </a:xfrm>
          </p:grpSpPr>
          <p:sp>
            <p:nvSpPr>
              <p:cNvPr id="38" name="文本框 37">
                <a:extLst>
                  <a:ext uri="{FF2B5EF4-FFF2-40B4-BE49-F238E27FC236}">
                    <a16:creationId xmlns:a16="http://schemas.microsoft.com/office/drawing/2014/main" id="{21019F84-E885-F92E-3C87-4AA0E172A30E}"/>
                  </a:ext>
                </a:extLst>
              </p:cNvPr>
              <p:cNvSpPr txBox="1"/>
              <p:nvPr/>
            </p:nvSpPr>
            <p:spPr>
              <a:xfrm>
                <a:off x="764299" y="3812205"/>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0" name="文本框 39">
                <a:extLst>
                  <a:ext uri="{FF2B5EF4-FFF2-40B4-BE49-F238E27FC236}">
                    <a16:creationId xmlns:a16="http://schemas.microsoft.com/office/drawing/2014/main" id="{B8ABFC4A-6EE8-23D8-A143-9684D3328A75}"/>
                  </a:ext>
                </a:extLst>
              </p:cNvPr>
              <p:cNvSpPr txBox="1"/>
              <p:nvPr/>
            </p:nvSpPr>
            <p:spPr>
              <a:xfrm>
                <a:off x="1915512" y="3812205"/>
                <a:ext cx="1553600" cy="584775"/>
              </a:xfrm>
              <a:prstGeom prst="rect">
                <a:avLst/>
              </a:prstGeom>
              <a:noFill/>
            </p:spPr>
            <p:txBody>
              <a:bodyPr wrap="square" rtlCol="0">
                <a:spAutoFit/>
              </a:bodyPr>
              <a:lstStyle/>
              <a:p>
                <a:r>
                  <a:rPr lang="en-US" altLang="zh-CN" sz="1600" b="1" dirty="0"/>
                  <a:t>192.168.0.253</a:t>
                </a:r>
              </a:p>
              <a:p>
                <a:r>
                  <a:rPr lang="en-US" altLang="zh-CN" sz="1600" b="1" dirty="0"/>
                  <a:t>255.255.255.0</a:t>
                </a:r>
              </a:p>
            </p:txBody>
          </p:sp>
          <p:sp>
            <p:nvSpPr>
              <p:cNvPr id="41" name="文本框 40">
                <a:extLst>
                  <a:ext uri="{FF2B5EF4-FFF2-40B4-BE49-F238E27FC236}">
                    <a16:creationId xmlns:a16="http://schemas.microsoft.com/office/drawing/2014/main" id="{391A967B-014A-E222-B1B0-ED60A8A759F7}"/>
                  </a:ext>
                </a:extLst>
              </p:cNvPr>
              <p:cNvSpPr txBox="1"/>
              <p:nvPr/>
            </p:nvSpPr>
            <p:spPr>
              <a:xfrm>
                <a:off x="764299" y="4329437"/>
                <a:ext cx="2750115" cy="584775"/>
              </a:xfrm>
              <a:prstGeom prst="rect">
                <a:avLst/>
              </a:prstGeom>
              <a:noFill/>
            </p:spPr>
            <p:txBody>
              <a:bodyPr wrap="square" rtlCol="0">
                <a:spAutoFit/>
              </a:bodyPr>
              <a:lstStyle/>
              <a:p>
                <a:r>
                  <a:rPr lang="zh-CN" altLang="en-US" sz="1600" b="1" dirty="0"/>
                  <a:t>记录有域名</a:t>
                </a:r>
                <a:r>
                  <a:rPr lang="en-US" altLang="zh-CN" sz="1600" b="1" dirty="0"/>
                  <a:t>www.hnust.cn</a:t>
                </a:r>
              </a:p>
              <a:p>
                <a:r>
                  <a:rPr lang="zh-CN" altLang="en-US" sz="1600" b="1" dirty="0"/>
                  <a:t>对应的</a:t>
                </a:r>
                <a:r>
                  <a:rPr lang="en-US" altLang="zh-CN" sz="1600" b="1" dirty="0"/>
                  <a:t>IP</a:t>
                </a:r>
                <a:r>
                  <a:rPr lang="zh-CN" altLang="en-US" sz="1600" b="1" dirty="0"/>
                  <a:t>地址</a:t>
                </a:r>
                <a:r>
                  <a:rPr lang="en-US" altLang="zh-CN" sz="1600" b="1" dirty="0"/>
                  <a:t>192.168.1.1</a:t>
                </a:r>
              </a:p>
            </p:txBody>
          </p:sp>
        </p:grpSp>
        <p:grpSp>
          <p:nvGrpSpPr>
            <p:cNvPr id="42" name="组合 41">
              <a:extLst>
                <a:ext uri="{FF2B5EF4-FFF2-40B4-BE49-F238E27FC236}">
                  <a16:creationId xmlns:a16="http://schemas.microsoft.com/office/drawing/2014/main" id="{7146DA70-B045-076E-F45D-9204CCC2C2A6}"/>
                </a:ext>
              </a:extLst>
            </p:cNvPr>
            <p:cNvGrpSpPr/>
            <p:nvPr/>
          </p:nvGrpSpPr>
          <p:grpSpPr>
            <a:xfrm>
              <a:off x="4474550" y="5377090"/>
              <a:ext cx="2704813" cy="584775"/>
              <a:chOff x="1038122" y="1505219"/>
              <a:chExt cx="2704813" cy="584775"/>
            </a:xfrm>
          </p:grpSpPr>
          <p:sp>
            <p:nvSpPr>
              <p:cNvPr id="43" name="文本框 42">
                <a:extLst>
                  <a:ext uri="{FF2B5EF4-FFF2-40B4-BE49-F238E27FC236}">
                    <a16:creationId xmlns:a16="http://schemas.microsoft.com/office/drawing/2014/main" id="{BFC5F15B-6B47-FDDE-9865-D761273F9AE1}"/>
                  </a:ext>
                </a:extLst>
              </p:cNvPr>
              <p:cNvSpPr txBox="1"/>
              <p:nvPr/>
            </p:nvSpPr>
            <p:spPr>
              <a:xfrm>
                <a:off x="1038122" y="1505219"/>
                <a:ext cx="1374776" cy="584775"/>
              </a:xfrm>
              <a:prstGeom prst="rect">
                <a:avLst/>
              </a:prstGeom>
              <a:noFill/>
            </p:spPr>
            <p:txBody>
              <a:bodyPr wrap="square" rtlCol="0">
                <a:spAutoFit/>
              </a:bodyPr>
              <a:lstStyle/>
              <a:p>
                <a:r>
                  <a:rPr lang="en-US" altLang="zh-CN" sz="1600" b="1" dirty="0"/>
                  <a:t>IP</a:t>
                </a:r>
                <a:r>
                  <a:rPr lang="zh-CN" altLang="en-US" sz="1600" b="1" dirty="0"/>
                  <a:t>地址：</a:t>
                </a:r>
                <a:endParaRPr lang="en-US" altLang="zh-CN" sz="1600" b="1" dirty="0"/>
              </a:p>
              <a:p>
                <a:r>
                  <a:rPr lang="zh-CN" altLang="en-US" sz="1600" b="1" dirty="0"/>
                  <a:t>子网掩码：</a:t>
                </a:r>
                <a:endParaRPr lang="en-US" altLang="zh-CN" sz="1600" b="1" dirty="0"/>
              </a:p>
            </p:txBody>
          </p:sp>
          <p:sp>
            <p:nvSpPr>
              <p:cNvPr id="44" name="文本框 43">
                <a:extLst>
                  <a:ext uri="{FF2B5EF4-FFF2-40B4-BE49-F238E27FC236}">
                    <a16:creationId xmlns:a16="http://schemas.microsoft.com/office/drawing/2014/main" id="{7447A1F8-4324-6826-84E8-19C76FA8C7FA}"/>
                  </a:ext>
                </a:extLst>
              </p:cNvPr>
              <p:cNvSpPr txBox="1"/>
              <p:nvPr/>
            </p:nvSpPr>
            <p:spPr>
              <a:xfrm>
                <a:off x="2189335" y="1505219"/>
                <a:ext cx="1553600" cy="584775"/>
              </a:xfrm>
              <a:prstGeom prst="rect">
                <a:avLst/>
              </a:prstGeom>
              <a:noFill/>
            </p:spPr>
            <p:txBody>
              <a:bodyPr wrap="square" rtlCol="0">
                <a:spAutoFit/>
              </a:bodyPr>
              <a:lstStyle/>
              <a:p>
                <a:r>
                  <a:rPr lang="en-US" altLang="zh-CN" sz="1600" b="1" dirty="0"/>
                  <a:t>192.168.0.252</a:t>
                </a:r>
              </a:p>
              <a:p>
                <a:r>
                  <a:rPr lang="en-US" altLang="zh-CN" sz="1600" b="1" dirty="0"/>
                  <a:t>255.255.255.0</a:t>
                </a:r>
              </a:p>
            </p:txBody>
          </p:sp>
        </p:grpSp>
        <p:sp>
          <p:nvSpPr>
            <p:cNvPr id="45" name="文本框 44">
              <a:extLst>
                <a:ext uri="{FF2B5EF4-FFF2-40B4-BE49-F238E27FC236}">
                  <a16:creationId xmlns:a16="http://schemas.microsoft.com/office/drawing/2014/main" id="{A8310AFB-CDE5-AC62-C8E5-88D98998ADE8}"/>
                </a:ext>
              </a:extLst>
            </p:cNvPr>
            <p:cNvSpPr txBox="1"/>
            <p:nvPr/>
          </p:nvSpPr>
          <p:spPr>
            <a:xfrm>
              <a:off x="6429293" y="1108759"/>
              <a:ext cx="1284194" cy="369332"/>
            </a:xfrm>
            <a:prstGeom prst="rect">
              <a:avLst/>
            </a:prstGeom>
            <a:noFill/>
          </p:spPr>
          <p:txBody>
            <a:bodyPr wrap="square" rtlCol="0">
              <a:spAutoFit/>
            </a:bodyPr>
            <a:lstStyle/>
            <a:p>
              <a:r>
                <a:rPr lang="en-US" altLang="zh-CN" b="1" dirty="0"/>
                <a:t>Web</a:t>
              </a:r>
              <a:r>
                <a:rPr lang="zh-CN" altLang="en-US" b="1" dirty="0"/>
                <a:t>服务器</a:t>
              </a:r>
            </a:p>
          </p:txBody>
        </p:sp>
        <p:sp>
          <p:nvSpPr>
            <p:cNvPr id="46" name="文本框 45">
              <a:extLst>
                <a:ext uri="{FF2B5EF4-FFF2-40B4-BE49-F238E27FC236}">
                  <a16:creationId xmlns:a16="http://schemas.microsoft.com/office/drawing/2014/main" id="{FFA59732-B2C9-E7BD-1506-F27807C451DB}"/>
                </a:ext>
              </a:extLst>
            </p:cNvPr>
            <p:cNvSpPr txBox="1"/>
            <p:nvPr/>
          </p:nvSpPr>
          <p:spPr>
            <a:xfrm>
              <a:off x="5175835" y="3424453"/>
              <a:ext cx="1067254" cy="369332"/>
            </a:xfrm>
            <a:prstGeom prst="rect">
              <a:avLst/>
            </a:prstGeom>
            <a:noFill/>
          </p:spPr>
          <p:txBody>
            <a:bodyPr wrap="square" rtlCol="0">
              <a:spAutoFit/>
            </a:bodyPr>
            <a:lstStyle/>
            <a:p>
              <a:pPr algn="ctr"/>
              <a:r>
                <a:rPr lang="zh-CN" altLang="en-US" b="1" dirty="0"/>
                <a:t>交换机</a:t>
              </a:r>
              <a:r>
                <a:rPr lang="en-US" altLang="zh-CN" b="1" dirty="0"/>
                <a:t>2</a:t>
              </a:r>
              <a:endParaRPr lang="zh-CN" altLang="en-US" b="1" dirty="0"/>
            </a:p>
          </p:txBody>
        </p:sp>
        <p:sp>
          <p:nvSpPr>
            <p:cNvPr id="47" name="文本框 46">
              <a:extLst>
                <a:ext uri="{FF2B5EF4-FFF2-40B4-BE49-F238E27FC236}">
                  <a16:creationId xmlns:a16="http://schemas.microsoft.com/office/drawing/2014/main" id="{342F7880-6B46-93E4-21AF-236923761369}"/>
                </a:ext>
              </a:extLst>
            </p:cNvPr>
            <p:cNvSpPr txBox="1"/>
            <p:nvPr/>
          </p:nvSpPr>
          <p:spPr>
            <a:xfrm>
              <a:off x="7462036" y="5356956"/>
              <a:ext cx="1067254" cy="369332"/>
            </a:xfrm>
            <a:prstGeom prst="rect">
              <a:avLst/>
            </a:prstGeom>
            <a:noFill/>
          </p:spPr>
          <p:txBody>
            <a:bodyPr wrap="square" rtlCol="0">
              <a:spAutoFit/>
            </a:bodyPr>
            <a:lstStyle/>
            <a:p>
              <a:pPr algn="ctr"/>
              <a:r>
                <a:rPr lang="zh-CN" altLang="en-US" b="1" dirty="0"/>
                <a:t>交换机</a:t>
              </a:r>
              <a:r>
                <a:rPr lang="en-US" altLang="zh-CN" b="1" dirty="0"/>
                <a:t>1</a:t>
              </a:r>
              <a:endParaRPr lang="zh-CN" altLang="en-US" b="1" dirty="0"/>
            </a:p>
          </p:txBody>
        </p:sp>
        <p:sp>
          <p:nvSpPr>
            <p:cNvPr id="48" name="文本框 47">
              <a:extLst>
                <a:ext uri="{FF2B5EF4-FFF2-40B4-BE49-F238E27FC236}">
                  <a16:creationId xmlns:a16="http://schemas.microsoft.com/office/drawing/2014/main" id="{84833375-D12C-08AE-512F-9FA3DBE20699}"/>
                </a:ext>
              </a:extLst>
            </p:cNvPr>
            <p:cNvSpPr txBox="1"/>
            <p:nvPr/>
          </p:nvSpPr>
          <p:spPr>
            <a:xfrm>
              <a:off x="8193586" y="2981171"/>
              <a:ext cx="1284194" cy="369332"/>
            </a:xfrm>
            <a:prstGeom prst="rect">
              <a:avLst/>
            </a:prstGeom>
            <a:noFill/>
          </p:spPr>
          <p:txBody>
            <a:bodyPr wrap="square" rtlCol="0">
              <a:spAutoFit/>
            </a:bodyPr>
            <a:lstStyle/>
            <a:p>
              <a:r>
                <a:rPr lang="zh-CN" altLang="en-US" b="1" dirty="0"/>
                <a:t>路由器</a:t>
              </a:r>
            </a:p>
          </p:txBody>
        </p:sp>
        <p:sp>
          <p:nvSpPr>
            <p:cNvPr id="49" name="文本框 48">
              <a:extLst>
                <a:ext uri="{FF2B5EF4-FFF2-40B4-BE49-F238E27FC236}">
                  <a16:creationId xmlns:a16="http://schemas.microsoft.com/office/drawing/2014/main" id="{5ADD1FB3-797F-780D-A5C8-F870BF2E9D00}"/>
                </a:ext>
              </a:extLst>
            </p:cNvPr>
            <p:cNvSpPr txBox="1"/>
            <p:nvPr/>
          </p:nvSpPr>
          <p:spPr>
            <a:xfrm>
              <a:off x="5247246" y="4282824"/>
              <a:ext cx="1429217" cy="369332"/>
            </a:xfrm>
            <a:prstGeom prst="rect">
              <a:avLst/>
            </a:prstGeom>
            <a:noFill/>
          </p:spPr>
          <p:txBody>
            <a:bodyPr wrap="square" rtlCol="0">
              <a:spAutoFit/>
            </a:bodyPr>
            <a:lstStyle/>
            <a:p>
              <a:pPr algn="ctr"/>
              <a:r>
                <a:rPr lang="en-US" altLang="zh-CN" b="1" dirty="0"/>
                <a:t>DHCP</a:t>
              </a:r>
              <a:r>
                <a:rPr lang="zh-CN" altLang="en-US" b="1" dirty="0"/>
                <a:t>服务器</a:t>
              </a:r>
            </a:p>
          </p:txBody>
        </p:sp>
        <p:sp>
          <p:nvSpPr>
            <p:cNvPr id="50" name="文本框 49">
              <a:extLst>
                <a:ext uri="{FF2B5EF4-FFF2-40B4-BE49-F238E27FC236}">
                  <a16:creationId xmlns:a16="http://schemas.microsoft.com/office/drawing/2014/main" id="{03AEA543-1890-93C7-C91B-DCEE6B96F3CA}"/>
                </a:ext>
              </a:extLst>
            </p:cNvPr>
            <p:cNvSpPr txBox="1"/>
            <p:nvPr/>
          </p:nvSpPr>
          <p:spPr>
            <a:xfrm>
              <a:off x="9406514" y="4282824"/>
              <a:ext cx="1429217" cy="369332"/>
            </a:xfrm>
            <a:prstGeom prst="rect">
              <a:avLst/>
            </a:prstGeom>
            <a:noFill/>
          </p:spPr>
          <p:txBody>
            <a:bodyPr wrap="square" rtlCol="0">
              <a:spAutoFit/>
            </a:bodyPr>
            <a:lstStyle/>
            <a:p>
              <a:pPr algn="ctr"/>
              <a:r>
                <a:rPr lang="en-US" altLang="zh-CN" b="1" dirty="0"/>
                <a:t>DNS</a:t>
              </a:r>
              <a:r>
                <a:rPr lang="zh-CN" altLang="en-US" b="1" dirty="0"/>
                <a:t>服务器</a:t>
              </a:r>
            </a:p>
          </p:txBody>
        </p:sp>
        <p:sp>
          <p:nvSpPr>
            <p:cNvPr id="52" name="文本框 51">
              <a:extLst>
                <a:ext uri="{FF2B5EF4-FFF2-40B4-BE49-F238E27FC236}">
                  <a16:creationId xmlns:a16="http://schemas.microsoft.com/office/drawing/2014/main" id="{6D3265A3-E1A1-BF77-B342-1F156A2EE041}"/>
                </a:ext>
              </a:extLst>
            </p:cNvPr>
            <p:cNvSpPr txBox="1"/>
            <p:nvPr/>
          </p:nvSpPr>
          <p:spPr>
            <a:xfrm>
              <a:off x="3018072" y="2217196"/>
              <a:ext cx="1067254" cy="369332"/>
            </a:xfrm>
            <a:prstGeom prst="rect">
              <a:avLst/>
            </a:prstGeom>
            <a:noFill/>
          </p:spPr>
          <p:txBody>
            <a:bodyPr wrap="square" rtlCol="0">
              <a:spAutoFit/>
            </a:bodyPr>
            <a:lstStyle/>
            <a:p>
              <a:pPr algn="ctr"/>
              <a:r>
                <a:rPr lang="zh-CN" altLang="en-US" b="1" dirty="0"/>
                <a:t>主机</a:t>
              </a:r>
              <a:r>
                <a:rPr lang="en-US" altLang="zh-CN" b="1" dirty="0"/>
                <a:t>1</a:t>
              </a:r>
              <a:endParaRPr lang="zh-CN" altLang="en-US" b="1" dirty="0"/>
            </a:p>
          </p:txBody>
        </p:sp>
        <p:sp>
          <p:nvSpPr>
            <p:cNvPr id="55" name="文本框 54">
              <a:extLst>
                <a:ext uri="{FF2B5EF4-FFF2-40B4-BE49-F238E27FC236}">
                  <a16:creationId xmlns:a16="http://schemas.microsoft.com/office/drawing/2014/main" id="{30A76DA3-8072-0534-FFA3-0E49A8A2CB65}"/>
                </a:ext>
              </a:extLst>
            </p:cNvPr>
            <p:cNvSpPr txBox="1"/>
            <p:nvPr/>
          </p:nvSpPr>
          <p:spPr>
            <a:xfrm>
              <a:off x="3018072" y="3638010"/>
              <a:ext cx="1067254" cy="369332"/>
            </a:xfrm>
            <a:prstGeom prst="rect">
              <a:avLst/>
            </a:prstGeom>
            <a:noFill/>
          </p:spPr>
          <p:txBody>
            <a:bodyPr wrap="square" rtlCol="0">
              <a:spAutoFit/>
            </a:bodyPr>
            <a:lstStyle/>
            <a:p>
              <a:pPr algn="ctr"/>
              <a:r>
                <a:rPr lang="zh-CN" altLang="en-US" b="1" dirty="0"/>
                <a:t>主机</a:t>
              </a:r>
              <a:r>
                <a:rPr lang="en-US" altLang="zh-CN" b="1" dirty="0"/>
                <a:t>n</a:t>
              </a:r>
              <a:endParaRPr lang="zh-CN" altLang="en-US" b="1" dirty="0"/>
            </a:p>
          </p:txBody>
        </p:sp>
      </p:grpSp>
      <p:sp>
        <p:nvSpPr>
          <p:cNvPr id="5" name="对话气泡: 圆角矩形 4">
            <a:extLst>
              <a:ext uri="{FF2B5EF4-FFF2-40B4-BE49-F238E27FC236}">
                <a16:creationId xmlns:a16="http://schemas.microsoft.com/office/drawing/2014/main" id="{90FB47DB-D257-02B5-BE59-C5D5875486AC}"/>
              </a:ext>
            </a:extLst>
          </p:cNvPr>
          <p:cNvSpPr/>
          <p:nvPr/>
        </p:nvSpPr>
        <p:spPr>
          <a:xfrm>
            <a:off x="3496889" y="749072"/>
            <a:ext cx="2951993" cy="990354"/>
          </a:xfrm>
          <a:prstGeom prst="wedgeRoundRectCallout">
            <a:avLst>
              <a:gd name="adj1" fmla="val 93609"/>
              <a:gd name="adj2" fmla="val 180414"/>
              <a:gd name="adj3" fmla="val 16667"/>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zh-CN" altLang="en-US" b="1" dirty="0">
                <a:solidFill>
                  <a:schemeClr val="bg1"/>
                </a:solidFill>
                <a:latin typeface="+mn-ea"/>
              </a:rPr>
              <a:t>       给该路由器配置</a:t>
            </a:r>
            <a:r>
              <a:rPr lang="en-US" altLang="zh-CN" b="1" dirty="0">
                <a:solidFill>
                  <a:schemeClr val="bg1"/>
                </a:solidFill>
                <a:latin typeface="+mn-ea"/>
              </a:rPr>
              <a:t>DHCP</a:t>
            </a:r>
            <a:r>
              <a:rPr lang="zh-CN" altLang="en-US" b="1" dirty="0">
                <a:solidFill>
                  <a:schemeClr val="bg1"/>
                </a:solidFill>
                <a:latin typeface="+mn-ea"/>
              </a:rPr>
              <a:t>服务器的</a:t>
            </a:r>
            <a:r>
              <a:rPr lang="en-US" altLang="zh-CN" b="1" dirty="0">
                <a:solidFill>
                  <a:schemeClr val="bg1"/>
                </a:solidFill>
                <a:latin typeface="+mn-ea"/>
              </a:rPr>
              <a:t>IP</a:t>
            </a:r>
            <a:r>
              <a:rPr lang="zh-CN" altLang="en-US" b="1" dirty="0">
                <a:solidFill>
                  <a:schemeClr val="bg1"/>
                </a:solidFill>
                <a:latin typeface="+mn-ea"/>
              </a:rPr>
              <a:t>地址并使之成为</a:t>
            </a:r>
            <a:r>
              <a:rPr lang="en-US" altLang="zh-CN" b="1" dirty="0">
                <a:solidFill>
                  <a:schemeClr val="bg1"/>
                </a:solidFill>
                <a:latin typeface="+mn-ea"/>
              </a:rPr>
              <a:t>DHCP</a:t>
            </a:r>
            <a:r>
              <a:rPr lang="zh-CN" altLang="en-US" b="1" dirty="0">
                <a:solidFill>
                  <a:schemeClr val="bg1"/>
                </a:solidFill>
                <a:latin typeface="+mn-ea"/>
              </a:rPr>
              <a:t>中继代理</a:t>
            </a:r>
          </a:p>
        </p:txBody>
      </p:sp>
    </p:spTree>
    <p:custDataLst>
      <p:tags r:id="rId1"/>
    </p:custDataLst>
    <p:extLst>
      <p:ext uri="{BB962C8B-B14F-4D97-AF65-F5344CB8AC3E}">
        <p14:creationId xmlns:p14="http://schemas.microsoft.com/office/powerpoint/2010/main" val="858804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p:tgtEl>
                                          <p:spTgt spid="10"/>
                                        </p:tgtEl>
                                        <p:attrNameLst>
                                          <p:attrName>ppt_x</p:attrName>
                                        </p:attrNameLst>
                                      </p:cBhvr>
                                      <p:tavLst>
                                        <p:tav tm="0">
                                          <p:val>
                                            <p:strVal val="#ppt_x-#ppt_w*1.125000"/>
                                          </p:val>
                                        </p:tav>
                                        <p:tav tm="100000">
                                          <p:val>
                                            <p:strVal val="#ppt_x"/>
                                          </p:val>
                                        </p:tav>
                                      </p:tavLst>
                                    </p:anim>
                                    <p:animEffect transition="in" filter="wipe(righ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对话气泡: 椭圆形 107">
            <a:extLst>
              <a:ext uri="{FF2B5EF4-FFF2-40B4-BE49-F238E27FC236}">
                <a16:creationId xmlns:a16="http://schemas.microsoft.com/office/drawing/2014/main" id="{8A0D6657-9554-5C47-5DEA-617E3FBEF708}"/>
              </a:ext>
            </a:extLst>
          </p:cNvPr>
          <p:cNvSpPr/>
          <p:nvPr/>
        </p:nvSpPr>
        <p:spPr>
          <a:xfrm>
            <a:off x="6146950" y="808324"/>
            <a:ext cx="3379066" cy="1314364"/>
          </a:xfrm>
          <a:prstGeom prst="wedgeEllipseCallout">
            <a:avLst>
              <a:gd name="adj1" fmla="val 56370"/>
              <a:gd name="adj2" fmla="val 266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800" b="1" dirty="0">
                <a:solidFill>
                  <a:schemeClr val="bg1"/>
                </a:solidFill>
              </a:rPr>
              <a:t>因特网是否可以只使用一台</a:t>
            </a:r>
            <a:r>
              <a:rPr lang="en-US" altLang="zh-CN" sz="1800" b="1" dirty="0">
                <a:solidFill>
                  <a:schemeClr val="bg1"/>
                </a:solidFill>
                <a:latin typeface="+mn-ea"/>
              </a:rPr>
              <a:t>DNS</a:t>
            </a:r>
            <a:r>
              <a:rPr lang="zh-CN" altLang="en-US" sz="1800" b="1" dirty="0">
                <a:solidFill>
                  <a:schemeClr val="bg1"/>
                </a:solidFill>
              </a:rPr>
              <a:t>服务器？</a:t>
            </a:r>
            <a:endParaRPr lang="zh-CN" altLang="en-US" dirty="0">
              <a:solidFill>
                <a:schemeClr val="bg1"/>
              </a:solidFill>
            </a:endParaRP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域名系统的作用</a:t>
              </a:r>
            </a:p>
          </p:txBody>
        </p:sp>
      </p:grpSp>
      <p:cxnSp>
        <p:nvCxnSpPr>
          <p:cNvPr id="5" name="直接连接符 4">
            <a:extLst>
              <a:ext uri="{FF2B5EF4-FFF2-40B4-BE49-F238E27FC236}">
                <a16:creationId xmlns:a16="http://schemas.microsoft.com/office/drawing/2014/main" id="{EC629FF5-F429-EB3D-3452-439CF2338285}"/>
              </a:ext>
            </a:extLst>
          </p:cNvPr>
          <p:cNvCxnSpPr/>
          <p:nvPr/>
        </p:nvCxnSpPr>
        <p:spPr>
          <a:xfrm flipV="1">
            <a:off x="8383266" y="3169360"/>
            <a:ext cx="0" cy="11086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772F4D1-7705-BCFE-276E-7E709D607FC1}"/>
              </a:ext>
            </a:extLst>
          </p:cNvPr>
          <p:cNvCxnSpPr>
            <a:cxnSpLocks/>
          </p:cNvCxnSpPr>
          <p:nvPr/>
        </p:nvCxnSpPr>
        <p:spPr>
          <a:xfrm>
            <a:off x="6297079" y="4541306"/>
            <a:ext cx="444715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形 6">
            <a:extLst>
              <a:ext uri="{FF2B5EF4-FFF2-40B4-BE49-F238E27FC236}">
                <a16:creationId xmlns:a16="http://schemas.microsoft.com/office/drawing/2014/main" id="{FADCB0A6-437E-5350-A4A3-255F2BFAC0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0481" y="2694270"/>
            <a:ext cx="559794" cy="734730"/>
          </a:xfrm>
          <a:prstGeom prst="rect">
            <a:avLst/>
          </a:prstGeom>
        </p:spPr>
      </p:pic>
      <p:pic>
        <p:nvPicPr>
          <p:cNvPr id="8" name="图形 7">
            <a:extLst>
              <a:ext uri="{FF2B5EF4-FFF2-40B4-BE49-F238E27FC236}">
                <a16:creationId xmlns:a16="http://schemas.microsoft.com/office/drawing/2014/main" id="{323B45C1-157C-F3D1-659D-1F72063343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0272" y="4167866"/>
            <a:ext cx="559795" cy="734731"/>
          </a:xfrm>
          <a:prstGeom prst="rect">
            <a:avLst/>
          </a:prstGeom>
        </p:spPr>
      </p:pic>
      <p:pic>
        <p:nvPicPr>
          <p:cNvPr id="9" name="图形 8">
            <a:extLst>
              <a:ext uri="{FF2B5EF4-FFF2-40B4-BE49-F238E27FC236}">
                <a16:creationId xmlns:a16="http://schemas.microsoft.com/office/drawing/2014/main" id="{2F315574-0F79-F6CE-1B58-FCDD2E656F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4662" y="4201519"/>
            <a:ext cx="690048" cy="667424"/>
          </a:xfrm>
          <a:prstGeom prst="rect">
            <a:avLst/>
          </a:prstGeom>
        </p:spPr>
      </p:pic>
      <p:sp>
        <p:nvSpPr>
          <p:cNvPr id="10" name="图形 73">
            <a:extLst>
              <a:ext uri="{FF2B5EF4-FFF2-40B4-BE49-F238E27FC236}">
                <a16:creationId xmlns:a16="http://schemas.microsoft.com/office/drawing/2014/main" id="{991CC34E-0F05-A399-1CB7-FB8DA261318E}"/>
              </a:ext>
            </a:extLst>
          </p:cNvPr>
          <p:cNvSpPr/>
          <p:nvPr/>
        </p:nvSpPr>
        <p:spPr>
          <a:xfrm>
            <a:off x="7762990" y="4020291"/>
            <a:ext cx="1374777" cy="1029879"/>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微软雅黑" panose="020B0503020204020204" pitchFamily="34" charset="-122"/>
                <a:ea typeface="微软雅黑" panose="020B0503020204020204" pitchFamily="34" charset="-122"/>
              </a:rPr>
              <a:t>因特网</a:t>
            </a:r>
          </a:p>
        </p:txBody>
      </p:sp>
      <p:sp>
        <p:nvSpPr>
          <p:cNvPr id="13" name="文本框 12">
            <a:extLst>
              <a:ext uri="{FF2B5EF4-FFF2-40B4-BE49-F238E27FC236}">
                <a16:creationId xmlns:a16="http://schemas.microsoft.com/office/drawing/2014/main" id="{9BCBC394-A374-4EC7-9094-AE4D03DEF61B}"/>
              </a:ext>
            </a:extLst>
          </p:cNvPr>
          <p:cNvSpPr txBox="1"/>
          <p:nvPr/>
        </p:nvSpPr>
        <p:spPr>
          <a:xfrm>
            <a:off x="9707922" y="4914747"/>
            <a:ext cx="1607784" cy="369332"/>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a:t>
            </a:r>
          </a:p>
        </p:txBody>
      </p:sp>
      <p:sp>
        <p:nvSpPr>
          <p:cNvPr id="14" name="文本框 13">
            <a:extLst>
              <a:ext uri="{FF2B5EF4-FFF2-40B4-BE49-F238E27FC236}">
                <a16:creationId xmlns:a16="http://schemas.microsoft.com/office/drawing/2014/main" id="{613688D9-701F-61BB-22A7-71956DB14BEE}"/>
              </a:ext>
            </a:extLst>
          </p:cNvPr>
          <p:cNvSpPr txBox="1"/>
          <p:nvPr/>
        </p:nvSpPr>
        <p:spPr>
          <a:xfrm>
            <a:off x="5664647" y="4914747"/>
            <a:ext cx="1196610" cy="369332"/>
          </a:xfrm>
          <a:prstGeom prst="rect">
            <a:avLst/>
          </a:prstGeom>
          <a:noFill/>
        </p:spPr>
        <p:txBody>
          <a:bodyPr wrap="square" rtlCol="0">
            <a:spAutoFit/>
          </a:bodyPr>
          <a:lstStyle/>
          <a:p>
            <a:pPr algn="ctr"/>
            <a:r>
              <a:rPr lang="zh-CN" altLang="en-US" b="1" dirty="0">
                <a:latin typeface="+mn-ea"/>
              </a:rPr>
              <a:t>用户主机</a:t>
            </a:r>
          </a:p>
        </p:txBody>
      </p:sp>
      <p:sp>
        <p:nvSpPr>
          <p:cNvPr id="15" name="文本框 14">
            <a:extLst>
              <a:ext uri="{FF2B5EF4-FFF2-40B4-BE49-F238E27FC236}">
                <a16:creationId xmlns:a16="http://schemas.microsoft.com/office/drawing/2014/main" id="{0309CE71-B6DD-4A13-4845-77C29C1E38BE}"/>
              </a:ext>
            </a:extLst>
          </p:cNvPr>
          <p:cNvSpPr txBox="1"/>
          <p:nvPr/>
        </p:nvSpPr>
        <p:spPr>
          <a:xfrm>
            <a:off x="9851184" y="5269928"/>
            <a:ext cx="2143599" cy="369332"/>
          </a:xfrm>
          <a:prstGeom prst="rect">
            <a:avLst/>
          </a:prstGeom>
          <a:noFill/>
        </p:spPr>
        <p:txBody>
          <a:bodyPr wrap="square" rtlCol="0">
            <a:spAutoFit/>
          </a:bodyPr>
          <a:lstStyle/>
          <a:p>
            <a:r>
              <a:rPr lang="zh-CN" altLang="en-US" b="1" dirty="0"/>
              <a:t>域名：  </a:t>
            </a:r>
            <a:r>
              <a:rPr lang="en-US" altLang="zh-CN" b="1" dirty="0"/>
              <a:t>cnnic.cn</a:t>
            </a:r>
          </a:p>
        </p:txBody>
      </p:sp>
      <p:sp>
        <p:nvSpPr>
          <p:cNvPr id="24" name="文本框 23">
            <a:extLst>
              <a:ext uri="{FF2B5EF4-FFF2-40B4-BE49-F238E27FC236}">
                <a16:creationId xmlns:a16="http://schemas.microsoft.com/office/drawing/2014/main" id="{C78D94A7-D6DE-88D3-6B79-A97ECED7F88C}"/>
              </a:ext>
            </a:extLst>
          </p:cNvPr>
          <p:cNvSpPr txBox="1"/>
          <p:nvPr/>
        </p:nvSpPr>
        <p:spPr>
          <a:xfrm>
            <a:off x="9851184" y="5624786"/>
            <a:ext cx="2340816" cy="369332"/>
          </a:xfrm>
          <a:prstGeom prst="rect">
            <a:avLst/>
          </a:prstGeom>
          <a:noFill/>
        </p:spPr>
        <p:txBody>
          <a:bodyPr wrap="square" rtlCol="0">
            <a:spAutoFit/>
          </a:bodyPr>
          <a:lstStyle/>
          <a:p>
            <a:r>
              <a:rPr lang="en-US" altLang="zh-CN" b="1" dirty="0"/>
              <a:t>IP</a:t>
            </a:r>
            <a:r>
              <a:rPr lang="zh-CN" altLang="en-US" b="1" dirty="0"/>
              <a:t>地址：</a:t>
            </a:r>
            <a:r>
              <a:rPr lang="en-US" altLang="zh-CN" b="1" dirty="0"/>
              <a:t>159.226.6.133</a:t>
            </a:r>
          </a:p>
        </p:txBody>
      </p:sp>
      <p:grpSp>
        <p:nvGrpSpPr>
          <p:cNvPr id="25" name="组合 24">
            <a:extLst>
              <a:ext uri="{FF2B5EF4-FFF2-40B4-BE49-F238E27FC236}">
                <a16:creationId xmlns:a16="http://schemas.microsoft.com/office/drawing/2014/main" id="{AA10C946-FF10-315C-229C-E9AF7F91437F}"/>
              </a:ext>
            </a:extLst>
          </p:cNvPr>
          <p:cNvGrpSpPr/>
          <p:nvPr/>
        </p:nvGrpSpPr>
        <p:grpSpPr>
          <a:xfrm>
            <a:off x="9445748" y="879639"/>
            <a:ext cx="2288842" cy="1840928"/>
            <a:chOff x="3207781" y="1105990"/>
            <a:chExt cx="5776438" cy="4646020"/>
          </a:xfrm>
        </p:grpSpPr>
        <p:sp>
          <p:nvSpPr>
            <p:cNvPr id="26" name="任意多边形 4">
              <a:extLst>
                <a:ext uri="{FF2B5EF4-FFF2-40B4-BE49-F238E27FC236}">
                  <a16:creationId xmlns:a16="http://schemas.microsoft.com/office/drawing/2014/main" id="{5446769B-CF6D-46F4-C851-80780F52FFFC}"/>
                </a:ext>
              </a:extLst>
            </p:cNvPr>
            <p:cNvSpPr/>
            <p:nvPr/>
          </p:nvSpPr>
          <p:spPr>
            <a:xfrm>
              <a:off x="3598883" y="5220505"/>
              <a:ext cx="5385336" cy="531505"/>
            </a:xfrm>
            <a:custGeom>
              <a:avLst/>
              <a:gdLst>
                <a:gd name="connsiteX0" fmla="*/ -514 w 4756429"/>
                <a:gd name="connsiteY0" fmla="*/ 234476 h 469435"/>
                <a:gd name="connsiteX1" fmla="*/ 2377732 w 4756429"/>
                <a:gd name="connsiteY1" fmla="*/ -210 h 469435"/>
                <a:gd name="connsiteX2" fmla="*/ 4755915 w 4756429"/>
                <a:gd name="connsiteY2" fmla="*/ 234476 h 469435"/>
                <a:gd name="connsiteX3" fmla="*/ 2377732 w 4756429"/>
                <a:gd name="connsiteY3" fmla="*/ 469226 h 469435"/>
                <a:gd name="connsiteX4" fmla="*/ -514 w 4756429"/>
                <a:gd name="connsiteY4" fmla="*/ 234476 h 46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6429" h="469435">
                  <a:moveTo>
                    <a:pt x="-514" y="234476"/>
                  </a:moveTo>
                  <a:cubicBezTo>
                    <a:pt x="-514" y="104871"/>
                    <a:pt x="1064277" y="-210"/>
                    <a:pt x="2377732" y="-210"/>
                  </a:cubicBezTo>
                  <a:cubicBezTo>
                    <a:pt x="3691187" y="-210"/>
                    <a:pt x="4755915" y="104871"/>
                    <a:pt x="4755915" y="234476"/>
                  </a:cubicBezTo>
                  <a:cubicBezTo>
                    <a:pt x="4755915" y="364081"/>
                    <a:pt x="3691187" y="469226"/>
                    <a:pt x="2377732" y="469226"/>
                  </a:cubicBezTo>
                  <a:cubicBezTo>
                    <a:pt x="1064277" y="469226"/>
                    <a:pt x="-514" y="364144"/>
                    <a:pt x="-514" y="234476"/>
                  </a:cubicBezTo>
                  <a:close/>
                </a:path>
              </a:pathLst>
            </a:custGeom>
            <a:solidFill>
              <a:srgbClr val="E8E8E8"/>
            </a:solidFill>
            <a:ln w="6346" cap="flat">
              <a:noFill/>
              <a:prstDash val="solid"/>
              <a:miter/>
            </a:ln>
          </p:spPr>
          <p:txBody>
            <a:bodyPr rtlCol="0" anchor="ctr"/>
            <a:lstStyle/>
            <a:p>
              <a:endParaRPr lang="zh-CN" altLang="en-US"/>
            </a:p>
          </p:txBody>
        </p:sp>
        <p:sp>
          <p:nvSpPr>
            <p:cNvPr id="27" name="任意多边形 5">
              <a:extLst>
                <a:ext uri="{FF2B5EF4-FFF2-40B4-BE49-F238E27FC236}">
                  <a16:creationId xmlns:a16="http://schemas.microsoft.com/office/drawing/2014/main" id="{8811661B-5223-E0B3-AFCD-34FFE16E3658}"/>
                </a:ext>
              </a:extLst>
            </p:cNvPr>
            <p:cNvSpPr/>
            <p:nvPr/>
          </p:nvSpPr>
          <p:spPr>
            <a:xfrm>
              <a:off x="4313321" y="3382454"/>
              <a:ext cx="883608" cy="1118025"/>
            </a:xfrm>
            <a:custGeom>
              <a:avLst/>
              <a:gdLst>
                <a:gd name="connsiteX0" fmla="*/ 304303 w 780419"/>
                <a:gd name="connsiteY0" fmla="*/ 118570 h 987461"/>
                <a:gd name="connsiteX1" fmla="*/ 254240 w 780419"/>
                <a:gd name="connsiteY1" fmla="*/ 127782 h 987461"/>
                <a:gd name="connsiteX2" fmla="*/ 200428 w 780419"/>
                <a:gd name="connsiteY2" fmla="*/ 182038 h 987461"/>
                <a:gd name="connsiteX3" fmla="*/ 189374 w 780419"/>
                <a:gd name="connsiteY3" fmla="*/ 260437 h 987461"/>
                <a:gd name="connsiteX4" fmla="*/ 195727 w 780419"/>
                <a:gd name="connsiteY4" fmla="*/ 517740 h 987461"/>
                <a:gd name="connsiteX5" fmla="*/ 71395 w 780419"/>
                <a:gd name="connsiteY5" fmla="*/ 592835 h 987461"/>
                <a:gd name="connsiteX6" fmla="*/ 24001 w 780419"/>
                <a:gd name="connsiteY6" fmla="*/ 840164 h 987461"/>
                <a:gd name="connsiteX7" fmla="*/ 249411 w 780419"/>
                <a:gd name="connsiteY7" fmla="*/ 982284 h 987461"/>
                <a:gd name="connsiteX8" fmla="*/ 522597 w 780419"/>
                <a:gd name="connsiteY8" fmla="*/ 959286 h 987461"/>
                <a:gd name="connsiteX9" fmla="*/ 699597 w 780419"/>
                <a:gd name="connsiteY9" fmla="*/ 889401 h 987461"/>
                <a:gd name="connsiteX10" fmla="*/ 708555 w 780419"/>
                <a:gd name="connsiteY10" fmla="*/ 575617 h 987461"/>
                <a:gd name="connsiteX11" fmla="*/ 764082 w 780419"/>
                <a:gd name="connsiteY11" fmla="*/ 389088 h 987461"/>
                <a:gd name="connsiteX12" fmla="*/ 606968 w 780419"/>
                <a:gd name="connsiteY12" fmla="*/ 27466 h 987461"/>
                <a:gd name="connsiteX13" fmla="*/ 304303 w 780419"/>
                <a:gd name="connsiteY13" fmla="*/ 118761 h 98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0419" h="987461">
                  <a:moveTo>
                    <a:pt x="304303" y="118570"/>
                  </a:moveTo>
                  <a:cubicBezTo>
                    <a:pt x="307860" y="110184"/>
                    <a:pt x="258432" y="125940"/>
                    <a:pt x="254240" y="127782"/>
                  </a:cubicBezTo>
                  <a:cubicBezTo>
                    <a:pt x="230002" y="138284"/>
                    <a:pt x="210733" y="157712"/>
                    <a:pt x="200428" y="182038"/>
                  </a:cubicBezTo>
                  <a:cubicBezTo>
                    <a:pt x="191299" y="207108"/>
                    <a:pt x="187531" y="233817"/>
                    <a:pt x="189374" y="260437"/>
                  </a:cubicBezTo>
                  <a:cubicBezTo>
                    <a:pt x="191216" y="342393"/>
                    <a:pt x="253985" y="444679"/>
                    <a:pt x="195727" y="517740"/>
                  </a:cubicBezTo>
                  <a:cubicBezTo>
                    <a:pt x="165486" y="555478"/>
                    <a:pt x="111484" y="565706"/>
                    <a:pt x="71395" y="592835"/>
                  </a:cubicBezTo>
                  <a:cubicBezTo>
                    <a:pt x="-4843" y="644295"/>
                    <a:pt x="-20154" y="759351"/>
                    <a:pt x="24001" y="840164"/>
                  </a:cubicBezTo>
                  <a:cubicBezTo>
                    <a:pt x="68155" y="920976"/>
                    <a:pt x="158306" y="968752"/>
                    <a:pt x="249411" y="982284"/>
                  </a:cubicBezTo>
                  <a:cubicBezTo>
                    <a:pt x="340516" y="995816"/>
                    <a:pt x="433081" y="979552"/>
                    <a:pt x="522597" y="959286"/>
                  </a:cubicBezTo>
                  <a:cubicBezTo>
                    <a:pt x="584986" y="945182"/>
                    <a:pt x="648835" y="928092"/>
                    <a:pt x="699597" y="889401"/>
                  </a:cubicBezTo>
                  <a:cubicBezTo>
                    <a:pt x="819354" y="797724"/>
                    <a:pt x="763510" y="682986"/>
                    <a:pt x="708555" y="575617"/>
                  </a:cubicBezTo>
                  <a:cubicBezTo>
                    <a:pt x="673358" y="506876"/>
                    <a:pt x="736509" y="474475"/>
                    <a:pt x="764082" y="389088"/>
                  </a:cubicBezTo>
                  <a:cubicBezTo>
                    <a:pt x="813700" y="235469"/>
                    <a:pt x="742608" y="86360"/>
                    <a:pt x="606968" y="27466"/>
                  </a:cubicBezTo>
                  <a:cubicBezTo>
                    <a:pt x="384225" y="-69039"/>
                    <a:pt x="304747" y="117744"/>
                    <a:pt x="304303" y="118761"/>
                  </a:cubicBezTo>
                  <a:close/>
                </a:path>
              </a:pathLst>
            </a:custGeom>
            <a:solidFill>
              <a:srgbClr val="971D05"/>
            </a:solidFill>
            <a:ln w="6346" cap="flat">
              <a:noFill/>
              <a:prstDash val="solid"/>
              <a:miter/>
            </a:ln>
          </p:spPr>
          <p:txBody>
            <a:bodyPr rtlCol="0" anchor="ctr"/>
            <a:lstStyle/>
            <a:p>
              <a:endParaRPr lang="zh-CN" altLang="en-US"/>
            </a:p>
          </p:txBody>
        </p:sp>
        <p:sp>
          <p:nvSpPr>
            <p:cNvPr id="28" name="任意多边形 6">
              <a:extLst>
                <a:ext uri="{FF2B5EF4-FFF2-40B4-BE49-F238E27FC236}">
                  <a16:creationId xmlns:a16="http://schemas.microsoft.com/office/drawing/2014/main" id="{DA3AB766-B45E-565A-231E-32F7FEEEC0E3}"/>
                </a:ext>
              </a:extLst>
            </p:cNvPr>
            <p:cNvSpPr/>
            <p:nvPr/>
          </p:nvSpPr>
          <p:spPr>
            <a:xfrm>
              <a:off x="4743753" y="3967018"/>
              <a:ext cx="251762" cy="311178"/>
            </a:xfrm>
            <a:custGeom>
              <a:avLst/>
              <a:gdLst>
                <a:gd name="connsiteX0" fmla="*/ 110730 w 222361"/>
                <a:gd name="connsiteY0" fmla="*/ 274628 h 274838"/>
                <a:gd name="connsiteX1" fmla="*/ 110730 w 222361"/>
                <a:gd name="connsiteY1" fmla="*/ 274628 h 274838"/>
                <a:gd name="connsiteX2" fmla="*/ -514 w 222361"/>
                <a:gd name="connsiteY2" fmla="*/ 126853 h 274838"/>
                <a:gd name="connsiteX3" fmla="*/ -514 w 222361"/>
                <a:gd name="connsiteY3" fmla="*/ -210 h 274838"/>
                <a:gd name="connsiteX4" fmla="*/ 221847 w 222361"/>
                <a:gd name="connsiteY4" fmla="*/ -210 h 274838"/>
                <a:gd name="connsiteX5" fmla="*/ 221847 w 222361"/>
                <a:gd name="connsiteY5" fmla="*/ 126853 h 274838"/>
                <a:gd name="connsiteX6" fmla="*/ 111937 w 222361"/>
                <a:gd name="connsiteY6" fmla="*/ 274628 h 27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61" h="274838">
                  <a:moveTo>
                    <a:pt x="110730" y="274628"/>
                  </a:moveTo>
                  <a:lnTo>
                    <a:pt x="110730" y="274628"/>
                  </a:lnTo>
                  <a:cubicBezTo>
                    <a:pt x="49358" y="274628"/>
                    <a:pt x="-451" y="163639"/>
                    <a:pt x="-514" y="126853"/>
                  </a:cubicBezTo>
                  <a:lnTo>
                    <a:pt x="-514" y="-210"/>
                  </a:lnTo>
                  <a:lnTo>
                    <a:pt x="221847" y="-210"/>
                  </a:lnTo>
                  <a:lnTo>
                    <a:pt x="221847" y="126853"/>
                  </a:lnTo>
                  <a:cubicBezTo>
                    <a:pt x="221847" y="163448"/>
                    <a:pt x="172991" y="274438"/>
                    <a:pt x="111937" y="274628"/>
                  </a:cubicBezTo>
                  <a:close/>
                </a:path>
              </a:pathLst>
            </a:custGeom>
            <a:solidFill>
              <a:srgbClr val="FF93B1"/>
            </a:solidFill>
            <a:ln w="6346" cap="flat">
              <a:noFill/>
              <a:prstDash val="solid"/>
              <a:miter/>
            </a:ln>
          </p:spPr>
          <p:txBody>
            <a:bodyPr rtlCol="0" anchor="ctr"/>
            <a:lstStyle/>
            <a:p>
              <a:endParaRPr lang="zh-CN" altLang="en-US"/>
            </a:p>
          </p:txBody>
        </p:sp>
        <p:sp>
          <p:nvSpPr>
            <p:cNvPr id="29" name="任意多边形 7">
              <a:extLst>
                <a:ext uri="{FF2B5EF4-FFF2-40B4-BE49-F238E27FC236}">
                  <a16:creationId xmlns:a16="http://schemas.microsoft.com/office/drawing/2014/main" id="{CEB2BAD4-3EC9-524A-1F4D-80F2F0D53865}"/>
                </a:ext>
              </a:extLst>
            </p:cNvPr>
            <p:cNvSpPr/>
            <p:nvPr/>
          </p:nvSpPr>
          <p:spPr>
            <a:xfrm>
              <a:off x="4572555" y="3764605"/>
              <a:ext cx="121406" cy="141542"/>
            </a:xfrm>
            <a:custGeom>
              <a:avLst/>
              <a:gdLst>
                <a:gd name="connsiteX0" fmla="*/ 77312 w 107228"/>
                <a:gd name="connsiteY0" fmla="*/ 27741 h 125013"/>
                <a:gd name="connsiteX1" fmla="*/ -514 w 107228"/>
                <a:gd name="connsiteY1" fmla="*/ 46801 h 125013"/>
                <a:gd name="connsiteX2" fmla="*/ 94783 w 107228"/>
                <a:gd name="connsiteY2" fmla="*/ 110332 h 125013"/>
                <a:gd name="connsiteX3" fmla="*/ 77312 w 107228"/>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28" h="125013">
                  <a:moveTo>
                    <a:pt x="77312" y="27741"/>
                  </a:moveTo>
                  <a:cubicBezTo>
                    <a:pt x="41226" y="-26515"/>
                    <a:pt x="-514" y="8364"/>
                    <a:pt x="-514" y="46801"/>
                  </a:cubicBezTo>
                  <a:cubicBezTo>
                    <a:pt x="-514" y="102073"/>
                    <a:pt x="60031" y="149722"/>
                    <a:pt x="94783" y="110332"/>
                  </a:cubicBezTo>
                  <a:cubicBezTo>
                    <a:pt x="129535" y="70943"/>
                    <a:pt x="77312" y="27741"/>
                    <a:pt x="77312" y="27741"/>
                  </a:cubicBezTo>
                  <a:close/>
                </a:path>
              </a:pathLst>
            </a:custGeom>
            <a:solidFill>
              <a:srgbClr val="FED0D6"/>
            </a:solidFill>
            <a:ln w="6346" cap="flat">
              <a:noFill/>
              <a:prstDash val="solid"/>
              <a:miter/>
            </a:ln>
          </p:spPr>
          <p:txBody>
            <a:bodyPr rtlCol="0" anchor="ctr"/>
            <a:lstStyle/>
            <a:p>
              <a:endParaRPr lang="zh-CN" altLang="en-US"/>
            </a:p>
          </p:txBody>
        </p:sp>
        <p:sp>
          <p:nvSpPr>
            <p:cNvPr id="47" name="任意多边形 8">
              <a:extLst>
                <a:ext uri="{FF2B5EF4-FFF2-40B4-BE49-F238E27FC236}">
                  <a16:creationId xmlns:a16="http://schemas.microsoft.com/office/drawing/2014/main" id="{3FED6465-DF1B-0CEA-58F0-C050FA8436A4}"/>
                </a:ext>
              </a:extLst>
            </p:cNvPr>
            <p:cNvSpPr/>
            <p:nvPr/>
          </p:nvSpPr>
          <p:spPr>
            <a:xfrm>
              <a:off x="5034066" y="3764605"/>
              <a:ext cx="121425" cy="141542"/>
            </a:xfrm>
            <a:custGeom>
              <a:avLst/>
              <a:gdLst>
                <a:gd name="connsiteX0" fmla="*/ 28968 w 107245"/>
                <a:gd name="connsiteY0" fmla="*/ 27741 h 125013"/>
                <a:gd name="connsiteX1" fmla="*/ 106731 w 107245"/>
                <a:gd name="connsiteY1" fmla="*/ 46801 h 125013"/>
                <a:gd name="connsiteX2" fmla="*/ 11433 w 107245"/>
                <a:gd name="connsiteY2" fmla="*/ 110332 h 125013"/>
                <a:gd name="connsiteX3" fmla="*/ 28968 w 107245"/>
                <a:gd name="connsiteY3" fmla="*/ 27741 h 125013"/>
              </a:gdLst>
              <a:ahLst/>
              <a:cxnLst>
                <a:cxn ang="0">
                  <a:pos x="connsiteX0" y="connsiteY0"/>
                </a:cxn>
                <a:cxn ang="0">
                  <a:pos x="connsiteX1" y="connsiteY1"/>
                </a:cxn>
                <a:cxn ang="0">
                  <a:pos x="connsiteX2" y="connsiteY2"/>
                </a:cxn>
                <a:cxn ang="0">
                  <a:pos x="connsiteX3" y="connsiteY3"/>
                </a:cxn>
              </a:cxnLst>
              <a:rect l="l" t="t" r="r" b="b"/>
              <a:pathLst>
                <a:path w="107245" h="125013">
                  <a:moveTo>
                    <a:pt x="28968" y="27741"/>
                  </a:moveTo>
                  <a:cubicBezTo>
                    <a:pt x="64927" y="-26515"/>
                    <a:pt x="106731" y="8364"/>
                    <a:pt x="106731" y="46801"/>
                  </a:cubicBezTo>
                  <a:cubicBezTo>
                    <a:pt x="106731" y="102073"/>
                    <a:pt x="46249" y="149722"/>
                    <a:pt x="11433" y="110332"/>
                  </a:cubicBezTo>
                  <a:cubicBezTo>
                    <a:pt x="-23382" y="70943"/>
                    <a:pt x="28968" y="27741"/>
                    <a:pt x="28968" y="27741"/>
                  </a:cubicBezTo>
                  <a:close/>
                </a:path>
              </a:pathLst>
            </a:custGeom>
            <a:solidFill>
              <a:srgbClr val="FED0D6"/>
            </a:solidFill>
            <a:ln w="6346" cap="flat">
              <a:noFill/>
              <a:prstDash val="solid"/>
              <a:miter/>
            </a:ln>
          </p:spPr>
          <p:txBody>
            <a:bodyPr rtlCol="0" anchor="ctr"/>
            <a:lstStyle/>
            <a:p>
              <a:endParaRPr lang="zh-CN" altLang="en-US"/>
            </a:p>
          </p:txBody>
        </p:sp>
        <p:sp>
          <p:nvSpPr>
            <p:cNvPr id="48" name="任意多边形 9">
              <a:extLst>
                <a:ext uri="{FF2B5EF4-FFF2-40B4-BE49-F238E27FC236}">
                  <a16:creationId xmlns:a16="http://schemas.microsoft.com/office/drawing/2014/main" id="{4E8381CC-AE32-B9DF-E668-16CB5DDD9F94}"/>
                </a:ext>
              </a:extLst>
            </p:cNvPr>
            <p:cNvSpPr/>
            <p:nvPr/>
          </p:nvSpPr>
          <p:spPr>
            <a:xfrm>
              <a:off x="4636485" y="3571274"/>
              <a:ext cx="453974" cy="467243"/>
            </a:xfrm>
            <a:custGeom>
              <a:avLst/>
              <a:gdLst>
                <a:gd name="connsiteX0" fmla="*/ 199817 w 400958"/>
                <a:gd name="connsiteY0" fmla="*/ 412468 h 412678"/>
                <a:gd name="connsiteX1" fmla="*/ 6744 w 400958"/>
                <a:gd name="connsiteY1" fmla="*/ 98113 h 412678"/>
                <a:gd name="connsiteX2" fmla="*/ 393207 w 400958"/>
                <a:gd name="connsiteY2" fmla="*/ 98113 h 412678"/>
                <a:gd name="connsiteX3" fmla="*/ 199817 w 400958"/>
                <a:gd name="connsiteY3" fmla="*/ 412468 h 412678"/>
              </a:gdLst>
              <a:ahLst/>
              <a:cxnLst>
                <a:cxn ang="0">
                  <a:pos x="connsiteX0" y="connsiteY0"/>
                </a:cxn>
                <a:cxn ang="0">
                  <a:pos x="connsiteX1" y="connsiteY1"/>
                </a:cxn>
                <a:cxn ang="0">
                  <a:pos x="connsiteX2" y="connsiteY2"/>
                </a:cxn>
                <a:cxn ang="0">
                  <a:pos x="connsiteX3" y="connsiteY3"/>
                </a:cxn>
              </a:cxnLst>
              <a:rect l="l" t="t" r="r" b="b"/>
              <a:pathLst>
                <a:path w="400958" h="412678">
                  <a:moveTo>
                    <a:pt x="199817" y="412468"/>
                  </a:moveTo>
                  <a:cubicBezTo>
                    <a:pt x="57569" y="412468"/>
                    <a:pt x="-26547" y="257387"/>
                    <a:pt x="6744" y="98113"/>
                  </a:cubicBezTo>
                  <a:cubicBezTo>
                    <a:pt x="34063" y="-33016"/>
                    <a:pt x="365762" y="-32953"/>
                    <a:pt x="393207" y="98113"/>
                  </a:cubicBezTo>
                  <a:cubicBezTo>
                    <a:pt x="426434" y="257387"/>
                    <a:pt x="342382" y="412595"/>
                    <a:pt x="199817" y="412468"/>
                  </a:cubicBezTo>
                  <a:close/>
                </a:path>
              </a:pathLst>
            </a:custGeom>
            <a:solidFill>
              <a:srgbClr val="FED0D6"/>
            </a:solidFill>
            <a:ln w="6346" cap="flat">
              <a:noFill/>
              <a:prstDash val="solid"/>
              <a:miter/>
            </a:ln>
          </p:spPr>
          <p:txBody>
            <a:bodyPr rtlCol="0" anchor="ctr"/>
            <a:lstStyle/>
            <a:p>
              <a:endParaRPr lang="zh-CN" altLang="en-US"/>
            </a:p>
          </p:txBody>
        </p:sp>
        <p:sp>
          <p:nvSpPr>
            <p:cNvPr id="50" name="任意多边形 10">
              <a:extLst>
                <a:ext uri="{FF2B5EF4-FFF2-40B4-BE49-F238E27FC236}">
                  <a16:creationId xmlns:a16="http://schemas.microsoft.com/office/drawing/2014/main" id="{BDFAC918-68CD-157B-17E4-ED1A84EFD58D}"/>
                </a:ext>
              </a:extLst>
            </p:cNvPr>
            <p:cNvSpPr/>
            <p:nvPr/>
          </p:nvSpPr>
          <p:spPr>
            <a:xfrm>
              <a:off x="4757636" y="3487392"/>
              <a:ext cx="367502" cy="234313"/>
            </a:xfrm>
            <a:custGeom>
              <a:avLst/>
              <a:gdLst>
                <a:gd name="connsiteX0" fmla="*/ -514 w 324585"/>
                <a:gd name="connsiteY0" fmla="*/ 31541 h 206950"/>
                <a:gd name="connsiteX1" fmla="*/ 303231 w 324585"/>
                <a:gd name="connsiteY1" fmla="*/ 198693 h 206950"/>
                <a:gd name="connsiteX2" fmla="*/ 184045 w 324585"/>
                <a:gd name="connsiteY2" fmla="*/ 21757 h 206950"/>
                <a:gd name="connsiteX3" fmla="*/ -514 w 324585"/>
                <a:gd name="connsiteY3" fmla="*/ 31541 h 206950"/>
              </a:gdLst>
              <a:ahLst/>
              <a:cxnLst>
                <a:cxn ang="0">
                  <a:pos x="connsiteX0" y="connsiteY0"/>
                </a:cxn>
                <a:cxn ang="0">
                  <a:pos x="connsiteX1" y="connsiteY1"/>
                </a:cxn>
                <a:cxn ang="0">
                  <a:pos x="connsiteX2" y="connsiteY2"/>
                </a:cxn>
                <a:cxn ang="0">
                  <a:pos x="connsiteX3" y="connsiteY3"/>
                </a:cxn>
              </a:cxnLst>
              <a:rect l="l" t="t" r="r" b="b"/>
              <a:pathLst>
                <a:path w="324585" h="206950">
                  <a:moveTo>
                    <a:pt x="-514" y="31541"/>
                  </a:moveTo>
                  <a:cubicBezTo>
                    <a:pt x="-514" y="165911"/>
                    <a:pt x="253612" y="230650"/>
                    <a:pt x="303231" y="198693"/>
                  </a:cubicBezTo>
                  <a:cubicBezTo>
                    <a:pt x="352849" y="166737"/>
                    <a:pt x="314158" y="52951"/>
                    <a:pt x="184045" y="21757"/>
                  </a:cubicBezTo>
                  <a:cubicBezTo>
                    <a:pt x="53932" y="-9437"/>
                    <a:pt x="-197" y="-8484"/>
                    <a:pt x="-514" y="31541"/>
                  </a:cubicBezTo>
                  <a:close/>
                </a:path>
              </a:pathLst>
            </a:custGeom>
            <a:solidFill>
              <a:srgbClr val="971D05"/>
            </a:solidFill>
            <a:ln w="6346" cap="flat">
              <a:noFill/>
              <a:prstDash val="solid"/>
              <a:miter/>
            </a:ln>
          </p:spPr>
          <p:txBody>
            <a:bodyPr rtlCol="0" anchor="ctr"/>
            <a:lstStyle/>
            <a:p>
              <a:endParaRPr lang="zh-CN" altLang="en-US"/>
            </a:p>
          </p:txBody>
        </p:sp>
        <p:sp>
          <p:nvSpPr>
            <p:cNvPr id="51" name="任意多边形 11">
              <a:extLst>
                <a:ext uri="{FF2B5EF4-FFF2-40B4-BE49-F238E27FC236}">
                  <a16:creationId xmlns:a16="http://schemas.microsoft.com/office/drawing/2014/main" id="{2BACAD3E-663B-8657-3315-4F5E62E0ABA2}"/>
                </a:ext>
              </a:extLst>
            </p:cNvPr>
            <p:cNvSpPr/>
            <p:nvPr/>
          </p:nvSpPr>
          <p:spPr>
            <a:xfrm>
              <a:off x="4592900" y="3508707"/>
              <a:ext cx="173053" cy="238281"/>
            </a:xfrm>
            <a:custGeom>
              <a:avLst/>
              <a:gdLst>
                <a:gd name="connsiteX0" fmla="*/ 145428 w 152844"/>
                <a:gd name="connsiteY0" fmla="*/ 11762 h 210454"/>
                <a:gd name="connsiteX1" fmla="*/ 38759 w 152844"/>
                <a:gd name="connsiteY1" fmla="*/ 209790 h 210454"/>
                <a:gd name="connsiteX2" fmla="*/ 27704 w 152844"/>
                <a:gd name="connsiteY2" fmla="*/ 78089 h 210454"/>
                <a:gd name="connsiteX3" fmla="*/ 145428 w 152844"/>
                <a:gd name="connsiteY3" fmla="*/ 11762 h 210454"/>
              </a:gdLst>
              <a:ahLst/>
              <a:cxnLst>
                <a:cxn ang="0">
                  <a:pos x="connsiteX0" y="connsiteY0"/>
                </a:cxn>
                <a:cxn ang="0">
                  <a:pos x="connsiteX1" y="connsiteY1"/>
                </a:cxn>
                <a:cxn ang="0">
                  <a:pos x="connsiteX2" y="connsiteY2"/>
                </a:cxn>
                <a:cxn ang="0">
                  <a:pos x="connsiteX3" y="connsiteY3"/>
                </a:cxn>
              </a:cxnLst>
              <a:rect l="l" t="t" r="r" b="b"/>
              <a:pathLst>
                <a:path w="152844" h="210454">
                  <a:moveTo>
                    <a:pt x="145428" y="11762"/>
                  </a:moveTo>
                  <a:cubicBezTo>
                    <a:pt x="177703" y="76501"/>
                    <a:pt x="89076" y="219320"/>
                    <a:pt x="38759" y="209790"/>
                  </a:cubicBezTo>
                  <a:cubicBezTo>
                    <a:pt x="-11559" y="200261"/>
                    <a:pt x="-11622" y="144416"/>
                    <a:pt x="27704" y="78089"/>
                  </a:cubicBezTo>
                  <a:cubicBezTo>
                    <a:pt x="67030" y="11762"/>
                    <a:pt x="130117" y="-18987"/>
                    <a:pt x="145428" y="11762"/>
                  </a:cubicBezTo>
                  <a:close/>
                </a:path>
              </a:pathLst>
            </a:custGeom>
            <a:solidFill>
              <a:srgbClr val="971D05"/>
            </a:solidFill>
            <a:ln w="6346" cap="flat">
              <a:noFill/>
              <a:prstDash val="solid"/>
              <a:miter/>
            </a:ln>
          </p:spPr>
          <p:txBody>
            <a:bodyPr rtlCol="0" anchor="ctr"/>
            <a:lstStyle/>
            <a:p>
              <a:endParaRPr lang="zh-CN" altLang="en-US"/>
            </a:p>
          </p:txBody>
        </p:sp>
        <p:sp>
          <p:nvSpPr>
            <p:cNvPr id="52" name="任意多边形 12">
              <a:extLst>
                <a:ext uri="{FF2B5EF4-FFF2-40B4-BE49-F238E27FC236}">
                  <a16:creationId xmlns:a16="http://schemas.microsoft.com/office/drawing/2014/main" id="{638ED18B-55D9-93EE-3161-483130678E1B}"/>
                </a:ext>
              </a:extLst>
            </p:cNvPr>
            <p:cNvSpPr/>
            <p:nvPr/>
          </p:nvSpPr>
          <p:spPr>
            <a:xfrm>
              <a:off x="3612370" y="4281731"/>
              <a:ext cx="915035" cy="627652"/>
            </a:xfrm>
            <a:custGeom>
              <a:avLst/>
              <a:gdLst>
                <a:gd name="connsiteX0" fmla="*/ 797158 w 808176"/>
                <a:gd name="connsiteY0" fmla="*/ 72207 h 554354"/>
                <a:gd name="connsiteX1" fmla="*/ 561011 w 808176"/>
                <a:gd name="connsiteY1" fmla="*/ 325698 h 554354"/>
                <a:gd name="connsiteX2" fmla="*/ 47611 w 808176"/>
                <a:gd name="connsiteY2" fmla="*/ 553523 h 554354"/>
                <a:gd name="connsiteX3" fmla="*/ 47611 w 808176"/>
                <a:gd name="connsiteY3" fmla="*/ 451110 h 554354"/>
                <a:gd name="connsiteX4" fmla="*/ 496844 w 808176"/>
                <a:gd name="connsiteY4" fmla="*/ 243743 h 554354"/>
                <a:gd name="connsiteX5" fmla="*/ 650844 w 808176"/>
                <a:gd name="connsiteY5" fmla="*/ 90123 h 554354"/>
                <a:gd name="connsiteX6" fmla="*/ 699637 w 808176"/>
                <a:gd name="connsiteY6" fmla="*/ 36375 h 554354"/>
                <a:gd name="connsiteX7" fmla="*/ 709866 w 808176"/>
                <a:gd name="connsiteY7" fmla="*/ 18459 h 554354"/>
                <a:gd name="connsiteX8" fmla="*/ 709866 w 808176"/>
                <a:gd name="connsiteY8" fmla="*/ 21000 h 554354"/>
                <a:gd name="connsiteX9" fmla="*/ 797158 w 808176"/>
                <a:gd name="connsiteY9" fmla="*/ 72207 h 55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176" h="554354">
                  <a:moveTo>
                    <a:pt x="797158" y="72207"/>
                  </a:moveTo>
                  <a:cubicBezTo>
                    <a:pt x="727280" y="164525"/>
                    <a:pt x="648151" y="249460"/>
                    <a:pt x="561011" y="325698"/>
                  </a:cubicBezTo>
                  <a:cubicBezTo>
                    <a:pt x="422385" y="446027"/>
                    <a:pt x="242717" y="563752"/>
                    <a:pt x="47611" y="553523"/>
                  </a:cubicBezTo>
                  <a:cubicBezTo>
                    <a:pt x="-16556" y="548377"/>
                    <a:pt x="-16556" y="446027"/>
                    <a:pt x="47611" y="451110"/>
                  </a:cubicBezTo>
                  <a:cubicBezTo>
                    <a:pt x="219591" y="461339"/>
                    <a:pt x="376197" y="351302"/>
                    <a:pt x="496844" y="243743"/>
                  </a:cubicBezTo>
                  <a:cubicBezTo>
                    <a:pt x="553323" y="197682"/>
                    <a:pt x="602052" y="143871"/>
                    <a:pt x="650844" y="90123"/>
                  </a:cubicBezTo>
                  <a:cubicBezTo>
                    <a:pt x="668824" y="72207"/>
                    <a:pt x="684199" y="54291"/>
                    <a:pt x="699637" y="36375"/>
                  </a:cubicBezTo>
                  <a:cubicBezTo>
                    <a:pt x="703589" y="30727"/>
                    <a:pt x="707013" y="24730"/>
                    <a:pt x="709866" y="18459"/>
                  </a:cubicBezTo>
                  <a:cubicBezTo>
                    <a:pt x="717553" y="10772"/>
                    <a:pt x="702178" y="31165"/>
                    <a:pt x="709866" y="21000"/>
                  </a:cubicBezTo>
                  <a:cubicBezTo>
                    <a:pt x="748366" y="-30206"/>
                    <a:pt x="838199" y="21000"/>
                    <a:pt x="797158" y="72207"/>
                  </a:cubicBezTo>
                  <a:close/>
                </a:path>
              </a:pathLst>
            </a:custGeom>
            <a:solidFill>
              <a:srgbClr val="FED0D6"/>
            </a:solidFill>
            <a:ln w="6346" cap="flat">
              <a:noFill/>
              <a:prstDash val="solid"/>
              <a:miter/>
            </a:ln>
          </p:spPr>
          <p:txBody>
            <a:bodyPr rtlCol="0" anchor="ctr"/>
            <a:lstStyle/>
            <a:p>
              <a:endParaRPr lang="zh-CN" altLang="en-US"/>
            </a:p>
          </p:txBody>
        </p:sp>
        <p:sp>
          <p:nvSpPr>
            <p:cNvPr id="53" name="任意多边形 13">
              <a:extLst>
                <a:ext uri="{FF2B5EF4-FFF2-40B4-BE49-F238E27FC236}">
                  <a16:creationId xmlns:a16="http://schemas.microsoft.com/office/drawing/2014/main" id="{111C01A4-9F1E-096B-C860-E7A4CD3CE51F}"/>
                </a:ext>
              </a:extLst>
            </p:cNvPr>
            <p:cNvSpPr/>
            <p:nvPr/>
          </p:nvSpPr>
          <p:spPr>
            <a:xfrm>
              <a:off x="5248839" y="3957542"/>
              <a:ext cx="415701" cy="712692"/>
            </a:xfrm>
            <a:custGeom>
              <a:avLst/>
              <a:gdLst>
                <a:gd name="connsiteX0" fmla="*/ 90290 w 367155"/>
                <a:gd name="connsiteY0" fmla="*/ 275691 h 629463"/>
                <a:gd name="connsiteX1" fmla="*/ 229361 w 367155"/>
                <a:gd name="connsiteY1" fmla="*/ 451738 h 629463"/>
                <a:gd name="connsiteX2" fmla="*/ 246959 w 367155"/>
                <a:gd name="connsiteY2" fmla="*/ 471877 h 629463"/>
                <a:gd name="connsiteX3" fmla="*/ 201979 w 367155"/>
                <a:gd name="connsiteY3" fmla="*/ 211016 h 629463"/>
                <a:gd name="connsiteX4" fmla="*/ 194292 w 367155"/>
                <a:gd name="connsiteY4" fmla="*/ 113241 h 629463"/>
                <a:gd name="connsiteX5" fmla="*/ 298420 w 367155"/>
                <a:gd name="connsiteY5" fmla="*/ 6952 h 629463"/>
                <a:gd name="connsiteX6" fmla="*/ 340732 w 367155"/>
                <a:gd name="connsiteY6" fmla="*/ 100280 h 629463"/>
                <a:gd name="connsiteX7" fmla="*/ 314748 w 367155"/>
                <a:gd name="connsiteY7" fmla="*/ 117624 h 629463"/>
                <a:gd name="connsiteX8" fmla="*/ 294544 w 367155"/>
                <a:gd name="connsiteY8" fmla="*/ 135286 h 629463"/>
                <a:gd name="connsiteX9" fmla="*/ 296006 w 367155"/>
                <a:gd name="connsiteY9" fmla="*/ 157077 h 629463"/>
                <a:gd name="connsiteX10" fmla="*/ 320402 w 367155"/>
                <a:gd name="connsiteY10" fmla="*/ 297927 h 629463"/>
                <a:gd name="connsiteX11" fmla="*/ 354518 w 367155"/>
                <a:gd name="connsiteY11" fmla="*/ 572194 h 629463"/>
                <a:gd name="connsiteX12" fmla="*/ 268560 w 367155"/>
                <a:gd name="connsiteY12" fmla="*/ 625243 h 629463"/>
                <a:gd name="connsiteX13" fmla="*/ 170785 w 367155"/>
                <a:gd name="connsiteY13" fmla="*/ 540237 h 629463"/>
                <a:gd name="connsiteX14" fmla="*/ 9668 w 367155"/>
                <a:gd name="connsiteY14" fmla="*/ 340176 h 629463"/>
                <a:gd name="connsiteX15" fmla="*/ 90290 w 367155"/>
                <a:gd name="connsiteY15" fmla="*/ 275437 h 62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7155" h="629463">
                  <a:moveTo>
                    <a:pt x="90290" y="275691"/>
                  </a:moveTo>
                  <a:cubicBezTo>
                    <a:pt x="134762" y="336999"/>
                    <a:pt x="181013" y="394877"/>
                    <a:pt x="229361" y="451738"/>
                  </a:cubicBezTo>
                  <a:cubicBezTo>
                    <a:pt x="235714" y="459997"/>
                    <a:pt x="241432" y="465969"/>
                    <a:pt x="246959" y="471877"/>
                  </a:cubicBezTo>
                  <a:cubicBezTo>
                    <a:pt x="235460" y="384267"/>
                    <a:pt x="213478" y="298626"/>
                    <a:pt x="201979" y="211016"/>
                  </a:cubicBezTo>
                  <a:cubicBezTo>
                    <a:pt x="196325" y="179822"/>
                    <a:pt x="189273" y="146277"/>
                    <a:pt x="194292" y="113241"/>
                  </a:cubicBezTo>
                  <a:cubicBezTo>
                    <a:pt x="199692" y="62923"/>
                    <a:pt x="258395" y="30649"/>
                    <a:pt x="298420" y="6952"/>
                  </a:cubicBezTo>
                  <a:cubicBezTo>
                    <a:pt x="353692" y="-26593"/>
                    <a:pt x="396068" y="66735"/>
                    <a:pt x="340732" y="100280"/>
                  </a:cubicBezTo>
                  <a:cubicBezTo>
                    <a:pt x="351342" y="92593"/>
                    <a:pt x="319449" y="115528"/>
                    <a:pt x="314748" y="117624"/>
                  </a:cubicBezTo>
                  <a:cubicBezTo>
                    <a:pt x="304138" y="125311"/>
                    <a:pt x="296705" y="139924"/>
                    <a:pt x="294544" y="135286"/>
                  </a:cubicBezTo>
                  <a:cubicBezTo>
                    <a:pt x="294544" y="141004"/>
                    <a:pt x="296451" y="145642"/>
                    <a:pt x="296006" y="157077"/>
                  </a:cubicBezTo>
                  <a:cubicBezTo>
                    <a:pt x="303375" y="204409"/>
                    <a:pt x="310682" y="251740"/>
                    <a:pt x="320402" y="297927"/>
                  </a:cubicBezTo>
                  <a:cubicBezTo>
                    <a:pt x="335523" y="381090"/>
                    <a:pt x="369321" y="486744"/>
                    <a:pt x="354518" y="572194"/>
                  </a:cubicBezTo>
                  <a:cubicBezTo>
                    <a:pt x="348165" y="614442"/>
                    <a:pt x="311698" y="639474"/>
                    <a:pt x="268560" y="625243"/>
                  </a:cubicBezTo>
                  <a:cubicBezTo>
                    <a:pt x="230124" y="608915"/>
                    <a:pt x="198358" y="569906"/>
                    <a:pt x="170785" y="540237"/>
                  </a:cubicBezTo>
                  <a:cubicBezTo>
                    <a:pt x="113695" y="476343"/>
                    <a:pt x="59922" y="409571"/>
                    <a:pt x="9668" y="340176"/>
                  </a:cubicBezTo>
                  <a:cubicBezTo>
                    <a:pt x="-28451" y="287127"/>
                    <a:pt x="49821" y="223468"/>
                    <a:pt x="90290" y="275437"/>
                  </a:cubicBezTo>
                  <a:close/>
                </a:path>
              </a:pathLst>
            </a:custGeom>
            <a:solidFill>
              <a:srgbClr val="FED0D6"/>
            </a:solidFill>
            <a:ln w="6346" cap="flat">
              <a:noFill/>
              <a:prstDash val="solid"/>
              <a:miter/>
            </a:ln>
          </p:spPr>
          <p:txBody>
            <a:bodyPr rtlCol="0" anchor="ctr"/>
            <a:lstStyle/>
            <a:p>
              <a:endParaRPr lang="zh-CN" altLang="en-US"/>
            </a:p>
          </p:txBody>
        </p:sp>
        <p:sp>
          <p:nvSpPr>
            <p:cNvPr id="54" name="任意多边形 14">
              <a:extLst>
                <a:ext uri="{FF2B5EF4-FFF2-40B4-BE49-F238E27FC236}">
                  <a16:creationId xmlns:a16="http://schemas.microsoft.com/office/drawing/2014/main" id="{E64570BD-5ECF-CB72-2AA6-2396864DAD88}"/>
                </a:ext>
              </a:extLst>
            </p:cNvPr>
            <p:cNvSpPr/>
            <p:nvPr/>
          </p:nvSpPr>
          <p:spPr>
            <a:xfrm>
              <a:off x="4494869" y="4089375"/>
              <a:ext cx="731188" cy="915335"/>
            </a:xfrm>
            <a:custGeom>
              <a:avLst/>
              <a:gdLst>
                <a:gd name="connsiteX0" fmla="*/ -514 w 645799"/>
                <a:gd name="connsiteY0" fmla="*/ 61416 h 808441"/>
                <a:gd name="connsiteX1" fmla="*/ 219877 w 645799"/>
                <a:gd name="connsiteY1" fmla="*/ -210 h 808441"/>
                <a:gd name="connsiteX2" fmla="*/ 333662 w 645799"/>
                <a:gd name="connsiteY2" fmla="*/ 71263 h 808441"/>
                <a:gd name="connsiteX3" fmla="*/ 441666 w 645799"/>
                <a:gd name="connsiteY3" fmla="*/ -210 h 808441"/>
                <a:gd name="connsiteX4" fmla="*/ 481564 w 645799"/>
                <a:gd name="connsiteY4" fmla="*/ 3475 h 808441"/>
                <a:gd name="connsiteX5" fmla="*/ 625527 w 645799"/>
                <a:gd name="connsiteY5" fmla="*/ 23360 h 808441"/>
                <a:gd name="connsiteX6" fmla="*/ 637598 w 645799"/>
                <a:gd name="connsiteY6" fmla="*/ 333459 h 808441"/>
                <a:gd name="connsiteX7" fmla="*/ 645285 w 645799"/>
                <a:gd name="connsiteY7" fmla="*/ 792920 h 808441"/>
                <a:gd name="connsiteX8" fmla="*/ 384488 w 645799"/>
                <a:gd name="connsiteY8" fmla="*/ 808231 h 808441"/>
                <a:gd name="connsiteX9" fmla="*/ 20006 w 645799"/>
                <a:gd name="connsiteY9" fmla="*/ 792920 h 808441"/>
                <a:gd name="connsiteX10" fmla="*/ 27694 w 645799"/>
                <a:gd name="connsiteY10" fmla="*/ 333459 h 808441"/>
                <a:gd name="connsiteX11" fmla="*/ -514 w 645799"/>
                <a:gd name="connsiteY11" fmla="*/ 61416 h 808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5799" h="808441">
                  <a:moveTo>
                    <a:pt x="-514" y="61416"/>
                  </a:moveTo>
                  <a:lnTo>
                    <a:pt x="219877" y="-210"/>
                  </a:lnTo>
                  <a:cubicBezTo>
                    <a:pt x="235252" y="69103"/>
                    <a:pt x="308250" y="71263"/>
                    <a:pt x="333662" y="71263"/>
                  </a:cubicBezTo>
                  <a:cubicBezTo>
                    <a:pt x="365428" y="71263"/>
                    <a:pt x="426292" y="69103"/>
                    <a:pt x="441666" y="-210"/>
                  </a:cubicBezTo>
                  <a:lnTo>
                    <a:pt x="481564" y="3475"/>
                  </a:lnTo>
                  <a:cubicBezTo>
                    <a:pt x="594142" y="14085"/>
                    <a:pt x="625527" y="23360"/>
                    <a:pt x="625527" y="23360"/>
                  </a:cubicBezTo>
                  <a:cubicBezTo>
                    <a:pt x="597382" y="336508"/>
                    <a:pt x="658436" y="258428"/>
                    <a:pt x="637598" y="333459"/>
                  </a:cubicBezTo>
                  <a:cubicBezTo>
                    <a:pt x="581436" y="535045"/>
                    <a:pt x="645285" y="792920"/>
                    <a:pt x="645285" y="792920"/>
                  </a:cubicBezTo>
                  <a:cubicBezTo>
                    <a:pt x="543317" y="808231"/>
                    <a:pt x="455770" y="808231"/>
                    <a:pt x="384488" y="808231"/>
                  </a:cubicBezTo>
                  <a:cubicBezTo>
                    <a:pt x="17401" y="808231"/>
                    <a:pt x="20006" y="792920"/>
                    <a:pt x="20006" y="792920"/>
                  </a:cubicBezTo>
                  <a:cubicBezTo>
                    <a:pt x="20006" y="792920"/>
                    <a:pt x="85889" y="477866"/>
                    <a:pt x="27694" y="333459"/>
                  </a:cubicBezTo>
                  <a:cubicBezTo>
                    <a:pt x="2281" y="269927"/>
                    <a:pt x="-514" y="61416"/>
                    <a:pt x="-514" y="61416"/>
                  </a:cubicBezTo>
                  <a:close/>
                </a:path>
              </a:pathLst>
            </a:custGeom>
            <a:solidFill>
              <a:srgbClr val="BE5ED3"/>
            </a:solidFill>
            <a:ln w="6346" cap="flat">
              <a:noFill/>
              <a:prstDash val="solid"/>
              <a:miter/>
            </a:ln>
          </p:spPr>
          <p:txBody>
            <a:bodyPr rtlCol="0" anchor="ctr"/>
            <a:lstStyle/>
            <a:p>
              <a:endParaRPr lang="zh-CN" altLang="en-US"/>
            </a:p>
          </p:txBody>
        </p:sp>
        <p:sp>
          <p:nvSpPr>
            <p:cNvPr id="55" name="任意多边形 15">
              <a:extLst>
                <a:ext uri="{FF2B5EF4-FFF2-40B4-BE49-F238E27FC236}">
                  <a16:creationId xmlns:a16="http://schemas.microsoft.com/office/drawing/2014/main" id="{C335D8EB-DC86-65B0-BB5F-8AD6A442BC43}"/>
                </a:ext>
              </a:extLst>
            </p:cNvPr>
            <p:cNvSpPr/>
            <p:nvPr/>
          </p:nvSpPr>
          <p:spPr>
            <a:xfrm>
              <a:off x="4736560" y="4414867"/>
              <a:ext cx="302114" cy="302114"/>
            </a:xfrm>
            <a:custGeom>
              <a:avLst/>
              <a:gdLst>
                <a:gd name="connsiteX0" fmla="*/ 266833 w 266833"/>
                <a:gd name="connsiteY0" fmla="*/ 133417 h 266833"/>
                <a:gd name="connsiteX1" fmla="*/ 133417 w 266833"/>
                <a:gd name="connsiteY1" fmla="*/ 266833 h 266833"/>
                <a:gd name="connsiteX2" fmla="*/ 0 w 266833"/>
                <a:gd name="connsiteY2" fmla="*/ 133417 h 266833"/>
                <a:gd name="connsiteX3" fmla="*/ 133417 w 266833"/>
                <a:gd name="connsiteY3" fmla="*/ 0 h 266833"/>
                <a:gd name="connsiteX4" fmla="*/ 266833 w 266833"/>
                <a:gd name="connsiteY4" fmla="*/ 133417 h 26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33" h="266833">
                  <a:moveTo>
                    <a:pt x="266833" y="133417"/>
                  </a:moveTo>
                  <a:cubicBezTo>
                    <a:pt x="266833" y="207101"/>
                    <a:pt x="207101" y="266833"/>
                    <a:pt x="133417" y="266833"/>
                  </a:cubicBezTo>
                  <a:cubicBezTo>
                    <a:pt x="59733" y="266833"/>
                    <a:pt x="0" y="207101"/>
                    <a:pt x="0" y="133417"/>
                  </a:cubicBezTo>
                  <a:cubicBezTo>
                    <a:pt x="0" y="59733"/>
                    <a:pt x="59733" y="0"/>
                    <a:pt x="133417" y="0"/>
                  </a:cubicBezTo>
                  <a:cubicBezTo>
                    <a:pt x="207101" y="0"/>
                    <a:pt x="266833" y="59733"/>
                    <a:pt x="266833" y="133417"/>
                  </a:cubicBezTo>
                  <a:close/>
                </a:path>
              </a:pathLst>
            </a:custGeom>
            <a:solidFill>
              <a:srgbClr val="FFC545"/>
            </a:solidFill>
            <a:ln w="6346" cap="flat">
              <a:noFill/>
              <a:prstDash val="solid"/>
              <a:miter/>
            </a:ln>
          </p:spPr>
          <p:txBody>
            <a:bodyPr rtlCol="0" anchor="ctr"/>
            <a:lstStyle/>
            <a:p>
              <a:endParaRPr lang="zh-CN" altLang="en-US"/>
            </a:p>
          </p:txBody>
        </p:sp>
        <p:sp>
          <p:nvSpPr>
            <p:cNvPr id="56" name="任意多边形 16">
              <a:extLst>
                <a:ext uri="{FF2B5EF4-FFF2-40B4-BE49-F238E27FC236}">
                  <a16:creationId xmlns:a16="http://schemas.microsoft.com/office/drawing/2014/main" id="{E6914FB1-778D-C928-400E-753C63234BDF}"/>
                </a:ext>
              </a:extLst>
            </p:cNvPr>
            <p:cNvSpPr/>
            <p:nvPr/>
          </p:nvSpPr>
          <p:spPr>
            <a:xfrm>
              <a:off x="4808492"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57" name="任意多边形 17">
              <a:extLst>
                <a:ext uri="{FF2B5EF4-FFF2-40B4-BE49-F238E27FC236}">
                  <a16:creationId xmlns:a16="http://schemas.microsoft.com/office/drawing/2014/main" id="{804BA279-B63A-7310-60D0-2C3FC9D43329}"/>
                </a:ext>
              </a:extLst>
            </p:cNvPr>
            <p:cNvSpPr/>
            <p:nvPr/>
          </p:nvSpPr>
          <p:spPr>
            <a:xfrm>
              <a:off x="4937970" y="4501185"/>
              <a:ext cx="28772" cy="57545"/>
            </a:xfrm>
            <a:custGeom>
              <a:avLst/>
              <a:gdLst>
                <a:gd name="connsiteX0" fmla="*/ 25413 w 25412"/>
                <a:gd name="connsiteY0" fmla="*/ 25413 h 50825"/>
                <a:gd name="connsiteX1" fmla="*/ 12706 w 25412"/>
                <a:gd name="connsiteY1" fmla="*/ 50825 h 50825"/>
                <a:gd name="connsiteX2" fmla="*/ 0 w 25412"/>
                <a:gd name="connsiteY2" fmla="*/ 25413 h 50825"/>
                <a:gd name="connsiteX3" fmla="*/ 12706 w 25412"/>
                <a:gd name="connsiteY3" fmla="*/ 0 h 50825"/>
                <a:gd name="connsiteX4" fmla="*/ 25413 w 25412"/>
                <a:gd name="connsiteY4" fmla="*/ 25413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12" h="50825">
                  <a:moveTo>
                    <a:pt x="25413" y="25413"/>
                  </a:moveTo>
                  <a:cubicBezTo>
                    <a:pt x="25413" y="39448"/>
                    <a:pt x="19724" y="50825"/>
                    <a:pt x="12706" y="50825"/>
                  </a:cubicBezTo>
                  <a:cubicBezTo>
                    <a:pt x="5689" y="50825"/>
                    <a:pt x="0" y="39448"/>
                    <a:pt x="0" y="25413"/>
                  </a:cubicBezTo>
                  <a:cubicBezTo>
                    <a:pt x="0" y="11378"/>
                    <a:pt x="5689" y="0"/>
                    <a:pt x="12706" y="0"/>
                  </a:cubicBezTo>
                  <a:cubicBezTo>
                    <a:pt x="19724" y="0"/>
                    <a:pt x="25413" y="11378"/>
                    <a:pt x="25413" y="25413"/>
                  </a:cubicBezTo>
                  <a:close/>
                </a:path>
              </a:pathLst>
            </a:custGeom>
            <a:solidFill>
              <a:srgbClr val="00002B"/>
            </a:solidFill>
            <a:ln w="6346" cap="flat">
              <a:noFill/>
              <a:prstDash val="solid"/>
              <a:miter/>
            </a:ln>
          </p:spPr>
          <p:txBody>
            <a:bodyPr rtlCol="0" anchor="ctr"/>
            <a:lstStyle/>
            <a:p>
              <a:endParaRPr lang="zh-CN" altLang="en-US"/>
            </a:p>
          </p:txBody>
        </p:sp>
        <p:sp>
          <p:nvSpPr>
            <p:cNvPr id="58" name="任意多边形 18">
              <a:extLst>
                <a:ext uri="{FF2B5EF4-FFF2-40B4-BE49-F238E27FC236}">
                  <a16:creationId xmlns:a16="http://schemas.microsoft.com/office/drawing/2014/main" id="{5B0A9EFD-E530-D63A-1A35-D4F7B2768BE9}"/>
                </a:ext>
              </a:extLst>
            </p:cNvPr>
            <p:cNvSpPr/>
            <p:nvPr/>
          </p:nvSpPr>
          <p:spPr>
            <a:xfrm>
              <a:off x="4809355" y="4601890"/>
              <a:ext cx="156524" cy="64640"/>
            </a:xfrm>
            <a:custGeom>
              <a:avLst/>
              <a:gdLst>
                <a:gd name="connsiteX0" fmla="*/ -514 w 138245"/>
                <a:gd name="connsiteY0" fmla="*/ -210 h 57091"/>
                <a:gd name="connsiteX1" fmla="*/ 81924 w 138245"/>
                <a:gd name="connsiteY1" fmla="*/ 55596 h 57091"/>
                <a:gd name="connsiteX2" fmla="*/ 137731 w 138245"/>
                <a:gd name="connsiteY2" fmla="*/ -210 h 57091"/>
              </a:gdLst>
              <a:ahLst/>
              <a:cxnLst>
                <a:cxn ang="0">
                  <a:pos x="connsiteX0" y="connsiteY0"/>
                </a:cxn>
                <a:cxn ang="0">
                  <a:pos x="connsiteX1" y="connsiteY1"/>
                </a:cxn>
                <a:cxn ang="0">
                  <a:pos x="connsiteX2" y="connsiteY2"/>
                </a:cxn>
              </a:cxnLst>
              <a:rect l="l" t="t" r="r" b="b"/>
              <a:pathLst>
                <a:path w="138245" h="57091">
                  <a:moveTo>
                    <a:pt x="-514" y="-210"/>
                  </a:moveTo>
                  <a:cubicBezTo>
                    <a:pt x="6836" y="37966"/>
                    <a:pt x="43748" y="62953"/>
                    <a:pt x="81924" y="55596"/>
                  </a:cubicBezTo>
                  <a:cubicBezTo>
                    <a:pt x="110183" y="50152"/>
                    <a:pt x="132286" y="28055"/>
                    <a:pt x="137731" y="-210"/>
                  </a:cubicBezTo>
                  <a:close/>
                </a:path>
              </a:pathLst>
            </a:custGeom>
            <a:solidFill>
              <a:srgbClr val="E27AA5"/>
            </a:solidFill>
            <a:ln w="6346" cap="flat">
              <a:noFill/>
              <a:prstDash val="solid"/>
              <a:miter/>
            </a:ln>
          </p:spPr>
          <p:txBody>
            <a:bodyPr rtlCol="0" anchor="ctr"/>
            <a:lstStyle/>
            <a:p>
              <a:endParaRPr lang="zh-CN" altLang="en-US"/>
            </a:p>
          </p:txBody>
        </p:sp>
        <p:sp>
          <p:nvSpPr>
            <p:cNvPr id="59" name="任意多边形 19">
              <a:extLst>
                <a:ext uri="{FF2B5EF4-FFF2-40B4-BE49-F238E27FC236}">
                  <a16:creationId xmlns:a16="http://schemas.microsoft.com/office/drawing/2014/main" id="{8723EAB4-98C4-D4B7-42E4-9C068EBAB559}"/>
                </a:ext>
              </a:extLst>
            </p:cNvPr>
            <p:cNvSpPr/>
            <p:nvPr/>
          </p:nvSpPr>
          <p:spPr>
            <a:xfrm>
              <a:off x="4509837" y="4987374"/>
              <a:ext cx="724245" cy="307437"/>
            </a:xfrm>
            <a:custGeom>
              <a:avLst/>
              <a:gdLst>
                <a:gd name="connsiteX0" fmla="*/ 6214 w 639667"/>
                <a:gd name="connsiteY0" fmla="*/ -210 h 271534"/>
                <a:gd name="connsiteX1" fmla="*/ 632637 w 639667"/>
                <a:gd name="connsiteY1" fmla="*/ -210 h 271534"/>
                <a:gd name="connsiteX2" fmla="*/ 537657 w 639667"/>
                <a:gd name="connsiteY2" fmla="*/ 271325 h 271534"/>
                <a:gd name="connsiteX3" fmla="*/ 101194 w 639667"/>
                <a:gd name="connsiteY3" fmla="*/ 271325 h 271534"/>
                <a:gd name="connsiteX4" fmla="*/ 5897 w 639667"/>
                <a:gd name="connsiteY4" fmla="*/ -210 h 2715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667" h="271534">
                  <a:moveTo>
                    <a:pt x="6214" y="-210"/>
                  </a:moveTo>
                  <a:cubicBezTo>
                    <a:pt x="295029" y="15101"/>
                    <a:pt x="632637" y="-210"/>
                    <a:pt x="632637" y="-210"/>
                  </a:cubicBezTo>
                  <a:cubicBezTo>
                    <a:pt x="632637" y="-210"/>
                    <a:pt x="676283" y="271325"/>
                    <a:pt x="537657" y="271325"/>
                  </a:cubicBezTo>
                  <a:lnTo>
                    <a:pt x="101194" y="271325"/>
                  </a:lnTo>
                  <a:cubicBezTo>
                    <a:pt x="-37432" y="271325"/>
                    <a:pt x="5897" y="-210"/>
                    <a:pt x="5897" y="-210"/>
                  </a:cubicBezTo>
                  <a:close/>
                </a:path>
              </a:pathLst>
            </a:custGeom>
            <a:solidFill>
              <a:srgbClr val="00002B"/>
            </a:solidFill>
            <a:ln w="6346" cap="flat">
              <a:noFill/>
              <a:prstDash val="solid"/>
              <a:miter/>
            </a:ln>
          </p:spPr>
          <p:txBody>
            <a:bodyPr rtlCol="0" anchor="ctr"/>
            <a:lstStyle/>
            <a:p>
              <a:endParaRPr lang="zh-CN" altLang="en-US"/>
            </a:p>
          </p:txBody>
        </p:sp>
        <p:sp>
          <p:nvSpPr>
            <p:cNvPr id="60" name="任意多边形 20">
              <a:extLst>
                <a:ext uri="{FF2B5EF4-FFF2-40B4-BE49-F238E27FC236}">
                  <a16:creationId xmlns:a16="http://schemas.microsoft.com/office/drawing/2014/main" id="{E57B6933-42B8-0D67-D363-9DA1701F5718}"/>
                </a:ext>
              </a:extLst>
            </p:cNvPr>
            <p:cNvSpPr/>
            <p:nvPr/>
          </p:nvSpPr>
          <p:spPr>
            <a:xfrm>
              <a:off x="5524719" y="5246473"/>
              <a:ext cx="230304" cy="183920"/>
            </a:xfrm>
            <a:custGeom>
              <a:avLst/>
              <a:gdLst>
                <a:gd name="connsiteX0" fmla="*/ 27630 w 203409"/>
                <a:gd name="connsiteY0" fmla="*/ -210 h 162442"/>
                <a:gd name="connsiteX1" fmla="*/ 202787 w 203409"/>
                <a:gd name="connsiteY1" fmla="*/ 97057 h 162442"/>
                <a:gd name="connsiteX2" fmla="*/ -514 w 203409"/>
                <a:gd name="connsiteY2" fmla="*/ 161034 h 162442"/>
                <a:gd name="connsiteX3" fmla="*/ 27630 w 203409"/>
                <a:gd name="connsiteY3" fmla="*/ -210 h 162442"/>
              </a:gdLst>
              <a:ahLst/>
              <a:cxnLst>
                <a:cxn ang="0">
                  <a:pos x="connsiteX0" y="connsiteY0"/>
                </a:cxn>
                <a:cxn ang="0">
                  <a:pos x="connsiteX1" y="connsiteY1"/>
                </a:cxn>
                <a:cxn ang="0">
                  <a:pos x="connsiteX2" y="connsiteY2"/>
                </a:cxn>
                <a:cxn ang="0">
                  <a:pos x="connsiteX3" y="connsiteY3"/>
                </a:cxn>
              </a:cxnLst>
              <a:rect l="l" t="t" r="r" b="b"/>
              <a:pathLst>
                <a:path w="203409" h="162442">
                  <a:moveTo>
                    <a:pt x="27630" y="-210"/>
                  </a:moveTo>
                  <a:cubicBezTo>
                    <a:pt x="27630" y="-210"/>
                    <a:pt x="207933" y="20247"/>
                    <a:pt x="202787" y="97057"/>
                  </a:cubicBezTo>
                  <a:cubicBezTo>
                    <a:pt x="200246" y="176408"/>
                    <a:pt x="-514" y="161034"/>
                    <a:pt x="-514" y="161034"/>
                  </a:cubicBezTo>
                  <a:lnTo>
                    <a:pt x="27630" y="-210"/>
                  </a:lnTo>
                  <a:close/>
                </a:path>
              </a:pathLst>
            </a:custGeom>
            <a:solidFill>
              <a:srgbClr val="00002B"/>
            </a:solidFill>
            <a:ln w="6346" cap="flat">
              <a:noFill/>
              <a:prstDash val="solid"/>
              <a:miter/>
            </a:ln>
          </p:spPr>
          <p:txBody>
            <a:bodyPr rtlCol="0" anchor="ctr"/>
            <a:lstStyle/>
            <a:p>
              <a:endParaRPr lang="zh-CN" altLang="en-US"/>
            </a:p>
          </p:txBody>
        </p:sp>
        <p:sp>
          <p:nvSpPr>
            <p:cNvPr id="61" name="任意多边形 21">
              <a:extLst>
                <a:ext uri="{FF2B5EF4-FFF2-40B4-BE49-F238E27FC236}">
                  <a16:creationId xmlns:a16="http://schemas.microsoft.com/office/drawing/2014/main" id="{B3EEBC88-26CD-3A5F-B851-39191902926D}"/>
                </a:ext>
              </a:extLst>
            </p:cNvPr>
            <p:cNvSpPr/>
            <p:nvPr/>
          </p:nvSpPr>
          <p:spPr>
            <a:xfrm>
              <a:off x="4100646" y="5006258"/>
              <a:ext cx="1488236" cy="437236"/>
            </a:xfrm>
            <a:custGeom>
              <a:avLst/>
              <a:gdLst>
                <a:gd name="connsiteX0" fmla="*/ 1313924 w 1314438"/>
                <a:gd name="connsiteY0" fmla="*/ 208966 h 386175"/>
                <a:gd name="connsiteX1" fmla="*/ 2820 w 1314438"/>
                <a:gd name="connsiteY1" fmla="*/ 90797 h 386175"/>
                <a:gd name="connsiteX2" fmla="*/ 1293403 w 1314438"/>
                <a:gd name="connsiteY2" fmla="*/ 385966 h 386175"/>
                <a:gd name="connsiteX3" fmla="*/ 1313924 w 1314438"/>
                <a:gd name="connsiteY3" fmla="*/ 208712 h 386175"/>
              </a:gdLst>
              <a:ahLst/>
              <a:cxnLst>
                <a:cxn ang="0">
                  <a:pos x="connsiteX0" y="connsiteY0"/>
                </a:cxn>
                <a:cxn ang="0">
                  <a:pos x="connsiteX1" y="connsiteY1"/>
                </a:cxn>
                <a:cxn ang="0">
                  <a:pos x="connsiteX2" y="connsiteY2"/>
                </a:cxn>
                <a:cxn ang="0">
                  <a:pos x="connsiteX3" y="connsiteY3"/>
                </a:cxn>
              </a:cxnLst>
              <a:rect l="l" t="t" r="r" b="b"/>
              <a:pathLst>
                <a:path w="1314438" h="386175">
                  <a:moveTo>
                    <a:pt x="1313924" y="208966"/>
                  </a:moveTo>
                  <a:cubicBezTo>
                    <a:pt x="1313924" y="208966"/>
                    <a:pt x="82361" y="-168603"/>
                    <a:pt x="2820" y="90797"/>
                  </a:cubicBezTo>
                  <a:cubicBezTo>
                    <a:pt x="-76722" y="347847"/>
                    <a:pt x="1293403" y="385966"/>
                    <a:pt x="1293403" y="385966"/>
                  </a:cubicBezTo>
                  <a:lnTo>
                    <a:pt x="1313924" y="208712"/>
                  </a:lnTo>
                  <a:close/>
                </a:path>
              </a:pathLst>
            </a:custGeom>
            <a:solidFill>
              <a:srgbClr val="1E2160"/>
            </a:solidFill>
            <a:ln w="6346" cap="flat">
              <a:noFill/>
              <a:prstDash val="solid"/>
              <a:miter/>
            </a:ln>
          </p:spPr>
          <p:txBody>
            <a:bodyPr rtlCol="0" anchor="ctr"/>
            <a:lstStyle/>
            <a:p>
              <a:endParaRPr lang="zh-CN" altLang="en-US"/>
            </a:p>
          </p:txBody>
        </p:sp>
        <p:sp>
          <p:nvSpPr>
            <p:cNvPr id="62" name="任意多边形 22">
              <a:extLst>
                <a:ext uri="{FF2B5EF4-FFF2-40B4-BE49-F238E27FC236}">
                  <a16:creationId xmlns:a16="http://schemas.microsoft.com/office/drawing/2014/main" id="{2E3B0E1B-F7DF-E932-2EA2-7D7C3E515CEF}"/>
                </a:ext>
              </a:extLst>
            </p:cNvPr>
            <p:cNvSpPr/>
            <p:nvPr/>
          </p:nvSpPr>
          <p:spPr>
            <a:xfrm>
              <a:off x="4002665" y="5286755"/>
              <a:ext cx="235837" cy="184637"/>
            </a:xfrm>
            <a:custGeom>
              <a:avLst/>
              <a:gdLst>
                <a:gd name="connsiteX0" fmla="*/ 169282 w 208296"/>
                <a:gd name="connsiteY0" fmla="*/ -210 h 163075"/>
                <a:gd name="connsiteX1" fmla="*/ -94 w 208296"/>
                <a:gd name="connsiteY1" fmla="*/ 109382 h 163075"/>
                <a:gd name="connsiteX2" fmla="*/ 207782 w 208296"/>
                <a:gd name="connsiteY2" fmla="*/ 157857 h 163075"/>
                <a:gd name="connsiteX3" fmla="*/ 169282 w 208296"/>
                <a:gd name="connsiteY3" fmla="*/ -210 h 163075"/>
              </a:gdLst>
              <a:ahLst/>
              <a:cxnLst>
                <a:cxn ang="0">
                  <a:pos x="connsiteX0" y="connsiteY0"/>
                </a:cxn>
                <a:cxn ang="0">
                  <a:pos x="connsiteX1" y="connsiteY1"/>
                </a:cxn>
                <a:cxn ang="0">
                  <a:pos x="connsiteX2" y="connsiteY2"/>
                </a:cxn>
                <a:cxn ang="0">
                  <a:pos x="connsiteX3" y="connsiteY3"/>
                </a:cxn>
              </a:cxnLst>
              <a:rect l="l" t="t" r="r" b="b"/>
              <a:pathLst>
                <a:path w="208296" h="163075">
                  <a:moveTo>
                    <a:pt x="169282" y="-210"/>
                  </a:moveTo>
                  <a:cubicBezTo>
                    <a:pt x="169282" y="-210"/>
                    <a:pt x="-10322" y="32890"/>
                    <a:pt x="-94" y="109382"/>
                  </a:cubicBezTo>
                  <a:cubicBezTo>
                    <a:pt x="10135" y="185874"/>
                    <a:pt x="207782" y="157857"/>
                    <a:pt x="207782" y="157857"/>
                  </a:cubicBezTo>
                  <a:lnTo>
                    <a:pt x="169282" y="-210"/>
                  </a:lnTo>
                  <a:close/>
                </a:path>
              </a:pathLst>
            </a:custGeom>
            <a:solidFill>
              <a:srgbClr val="00002B"/>
            </a:solidFill>
            <a:ln w="6346" cap="flat">
              <a:noFill/>
              <a:prstDash val="solid"/>
              <a:miter/>
            </a:ln>
          </p:spPr>
          <p:txBody>
            <a:bodyPr rtlCol="0" anchor="ctr"/>
            <a:lstStyle/>
            <a:p>
              <a:endParaRPr lang="zh-CN" altLang="en-US"/>
            </a:p>
          </p:txBody>
        </p:sp>
        <p:sp>
          <p:nvSpPr>
            <p:cNvPr id="63" name="任意多边形 23">
              <a:extLst>
                <a:ext uri="{FF2B5EF4-FFF2-40B4-BE49-F238E27FC236}">
                  <a16:creationId xmlns:a16="http://schemas.microsoft.com/office/drawing/2014/main" id="{B045FBEE-6849-7FD8-D9B3-C5B659A52BC1}"/>
                </a:ext>
              </a:extLst>
            </p:cNvPr>
            <p:cNvSpPr/>
            <p:nvPr/>
          </p:nvSpPr>
          <p:spPr>
            <a:xfrm>
              <a:off x="4163334" y="4959760"/>
              <a:ext cx="1475212" cy="524448"/>
            </a:xfrm>
            <a:custGeom>
              <a:avLst/>
              <a:gdLst>
                <a:gd name="connsiteX0" fmla="*/ -514 w 1302935"/>
                <a:gd name="connsiteY0" fmla="*/ 288407 h 463202"/>
                <a:gd name="connsiteX1" fmla="*/ 1297439 w 1302935"/>
                <a:gd name="connsiteY1" fmla="*/ 75449 h 463202"/>
                <a:gd name="connsiteX2" fmla="*/ 30298 w 1302935"/>
                <a:gd name="connsiteY2" fmla="*/ 462992 h 463202"/>
                <a:gd name="connsiteX3" fmla="*/ -514 w 1302935"/>
                <a:gd name="connsiteY3" fmla="*/ 288535 h 463202"/>
              </a:gdLst>
              <a:ahLst/>
              <a:cxnLst>
                <a:cxn ang="0">
                  <a:pos x="connsiteX0" y="connsiteY0"/>
                </a:cxn>
                <a:cxn ang="0">
                  <a:pos x="connsiteX1" y="connsiteY1"/>
                </a:cxn>
                <a:cxn ang="0">
                  <a:pos x="connsiteX2" y="connsiteY2"/>
                </a:cxn>
                <a:cxn ang="0">
                  <a:pos x="connsiteX3" y="connsiteY3"/>
                </a:cxn>
              </a:cxnLst>
              <a:rect l="l" t="t" r="r" b="b"/>
              <a:pathLst>
                <a:path w="1302935" h="463202">
                  <a:moveTo>
                    <a:pt x="-514" y="288407"/>
                  </a:moveTo>
                  <a:cubicBezTo>
                    <a:pt x="-514" y="288407"/>
                    <a:pt x="1197376" y="-178551"/>
                    <a:pt x="1297439" y="75449"/>
                  </a:cubicBezTo>
                  <a:cubicBezTo>
                    <a:pt x="1394896" y="326908"/>
                    <a:pt x="30298" y="462992"/>
                    <a:pt x="30298" y="462992"/>
                  </a:cubicBezTo>
                  <a:lnTo>
                    <a:pt x="-514" y="288535"/>
                  </a:lnTo>
                  <a:close/>
                </a:path>
              </a:pathLst>
            </a:custGeom>
            <a:solidFill>
              <a:srgbClr val="2A3072"/>
            </a:solidFill>
            <a:ln w="6346" cap="flat">
              <a:noFill/>
              <a:prstDash val="solid"/>
              <a:miter/>
            </a:ln>
          </p:spPr>
          <p:txBody>
            <a:bodyPr rtlCol="0" anchor="ctr"/>
            <a:lstStyle/>
            <a:p>
              <a:endParaRPr lang="zh-CN" altLang="en-US"/>
            </a:p>
          </p:txBody>
        </p:sp>
        <p:sp>
          <p:nvSpPr>
            <p:cNvPr id="64" name="任意多边形 24">
              <a:extLst>
                <a:ext uri="{FF2B5EF4-FFF2-40B4-BE49-F238E27FC236}">
                  <a16:creationId xmlns:a16="http://schemas.microsoft.com/office/drawing/2014/main" id="{97E30437-5B4F-5588-03F1-B1605E3278F0}"/>
                </a:ext>
              </a:extLst>
            </p:cNvPr>
            <p:cNvSpPr/>
            <p:nvPr/>
          </p:nvSpPr>
          <p:spPr>
            <a:xfrm>
              <a:off x="4197069" y="4159220"/>
              <a:ext cx="334881" cy="457055"/>
            </a:xfrm>
            <a:custGeom>
              <a:avLst/>
              <a:gdLst>
                <a:gd name="connsiteX0" fmla="*/ 262507 w 295773"/>
                <a:gd name="connsiteY0" fmla="*/ -210 h 403680"/>
                <a:gd name="connsiteX1" fmla="*/ -514 w 295773"/>
                <a:gd name="connsiteY1" fmla="*/ 206522 h 403680"/>
                <a:gd name="connsiteX2" fmla="*/ 151962 w 295773"/>
                <a:gd name="connsiteY2" fmla="*/ 403470 h 403680"/>
                <a:gd name="connsiteX3" fmla="*/ 290969 w 295773"/>
                <a:gd name="connsiteY3" fmla="*/ 272468 h 403680"/>
                <a:gd name="connsiteX4" fmla="*/ 262507 w 295773"/>
                <a:gd name="connsiteY4" fmla="*/ -210 h 403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773" h="403680">
                  <a:moveTo>
                    <a:pt x="262507" y="-210"/>
                  </a:moveTo>
                  <a:cubicBezTo>
                    <a:pt x="262507" y="-210"/>
                    <a:pt x="113843" y="47693"/>
                    <a:pt x="-514" y="206522"/>
                  </a:cubicBezTo>
                  <a:lnTo>
                    <a:pt x="151962" y="403470"/>
                  </a:lnTo>
                  <a:cubicBezTo>
                    <a:pt x="151962" y="403470"/>
                    <a:pt x="278326" y="317766"/>
                    <a:pt x="290969" y="272468"/>
                  </a:cubicBezTo>
                  <a:cubicBezTo>
                    <a:pt x="309393" y="206395"/>
                    <a:pt x="262507" y="-210"/>
                    <a:pt x="262507" y="-210"/>
                  </a:cubicBezTo>
                  <a:close/>
                </a:path>
              </a:pathLst>
            </a:custGeom>
            <a:solidFill>
              <a:srgbClr val="BE5ED3"/>
            </a:solidFill>
            <a:ln w="6346" cap="flat">
              <a:noFill/>
              <a:prstDash val="solid"/>
              <a:miter/>
            </a:ln>
          </p:spPr>
          <p:txBody>
            <a:bodyPr rtlCol="0" anchor="ctr"/>
            <a:lstStyle/>
            <a:p>
              <a:endParaRPr lang="zh-CN" altLang="en-US"/>
            </a:p>
          </p:txBody>
        </p:sp>
        <p:sp>
          <p:nvSpPr>
            <p:cNvPr id="65" name="任意多边形 25">
              <a:extLst>
                <a:ext uri="{FF2B5EF4-FFF2-40B4-BE49-F238E27FC236}">
                  <a16:creationId xmlns:a16="http://schemas.microsoft.com/office/drawing/2014/main" id="{66C02F74-7D9B-00A6-CC39-B835DD342A7E}"/>
                </a:ext>
              </a:extLst>
            </p:cNvPr>
            <p:cNvSpPr/>
            <p:nvPr/>
          </p:nvSpPr>
          <p:spPr>
            <a:xfrm>
              <a:off x="5168201" y="4116061"/>
              <a:ext cx="316452" cy="449862"/>
            </a:xfrm>
            <a:custGeom>
              <a:avLst/>
              <a:gdLst>
                <a:gd name="connsiteX0" fmla="*/ 30827 w 279496"/>
                <a:gd name="connsiteY0" fmla="*/ -210 h 397327"/>
                <a:gd name="connsiteX1" fmla="*/ 278982 w 279496"/>
                <a:gd name="connsiteY1" fmla="*/ 203092 h 397327"/>
                <a:gd name="connsiteX2" fmla="*/ 134892 w 279496"/>
                <a:gd name="connsiteY2" fmla="*/ 397117 h 397327"/>
                <a:gd name="connsiteX3" fmla="*/ 3508 w 279496"/>
                <a:gd name="connsiteY3" fmla="*/ 268148 h 397327"/>
                <a:gd name="connsiteX4" fmla="*/ 30827 w 279496"/>
                <a:gd name="connsiteY4" fmla="*/ -210 h 39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496" h="397327">
                  <a:moveTo>
                    <a:pt x="30827" y="-210"/>
                  </a:moveTo>
                  <a:cubicBezTo>
                    <a:pt x="30827" y="-210"/>
                    <a:pt x="161575" y="21899"/>
                    <a:pt x="278982" y="203092"/>
                  </a:cubicBezTo>
                  <a:lnTo>
                    <a:pt x="134892" y="397117"/>
                  </a:lnTo>
                  <a:cubicBezTo>
                    <a:pt x="134892" y="397117"/>
                    <a:pt x="15452" y="312747"/>
                    <a:pt x="3508" y="268148"/>
                  </a:cubicBezTo>
                  <a:cubicBezTo>
                    <a:pt x="-13899" y="203155"/>
                    <a:pt x="30827" y="-210"/>
                    <a:pt x="30827" y="-210"/>
                  </a:cubicBezTo>
                  <a:close/>
                </a:path>
              </a:pathLst>
            </a:custGeom>
            <a:solidFill>
              <a:srgbClr val="BE5ED3"/>
            </a:solidFill>
            <a:ln w="6346" cap="flat">
              <a:noFill/>
              <a:prstDash val="solid"/>
              <a:miter/>
            </a:ln>
          </p:spPr>
          <p:txBody>
            <a:bodyPr rtlCol="0" anchor="ctr"/>
            <a:lstStyle/>
            <a:p>
              <a:endParaRPr lang="zh-CN" altLang="en-US"/>
            </a:p>
          </p:txBody>
        </p:sp>
        <p:sp>
          <p:nvSpPr>
            <p:cNvPr id="66" name="任意多边形 26">
              <a:extLst>
                <a:ext uri="{FF2B5EF4-FFF2-40B4-BE49-F238E27FC236}">
                  <a16:creationId xmlns:a16="http://schemas.microsoft.com/office/drawing/2014/main" id="{6BDF8D80-2429-13B4-B9CB-BED028220D93}"/>
                </a:ext>
              </a:extLst>
            </p:cNvPr>
            <p:cNvSpPr/>
            <p:nvPr/>
          </p:nvSpPr>
          <p:spPr>
            <a:xfrm>
              <a:off x="3207781" y="3560975"/>
              <a:ext cx="1486066" cy="1759003"/>
            </a:xfrm>
            <a:custGeom>
              <a:avLst/>
              <a:gdLst>
                <a:gd name="connsiteX0" fmla="*/ 933471 w 1312521"/>
                <a:gd name="connsiteY0" fmla="*/ 872704 h 1553585"/>
                <a:gd name="connsiteX1" fmla="*/ 1030738 w 1312521"/>
                <a:gd name="connsiteY1" fmla="*/ 1006121 h 1553585"/>
                <a:gd name="connsiteX2" fmla="*/ 1002848 w 1312521"/>
                <a:gd name="connsiteY2" fmla="*/ 1177656 h 1553585"/>
                <a:gd name="connsiteX3" fmla="*/ 831211 w 1312521"/>
                <a:gd name="connsiteY3" fmla="*/ 1152962 h 1553585"/>
                <a:gd name="connsiteX4" fmla="*/ 830677 w 1312521"/>
                <a:gd name="connsiteY4" fmla="*/ 1152244 h 1553585"/>
                <a:gd name="connsiteX5" fmla="*/ 674897 w 1312521"/>
                <a:gd name="connsiteY5" fmla="*/ 940874 h 1553585"/>
                <a:gd name="connsiteX6" fmla="*/ 674008 w 1312521"/>
                <a:gd name="connsiteY6" fmla="*/ 935220 h 1553585"/>
                <a:gd name="connsiteX7" fmla="*/ 669942 w 1312521"/>
                <a:gd name="connsiteY7" fmla="*/ 931217 h 1553585"/>
                <a:gd name="connsiteX8" fmla="*/ 695354 w 1312521"/>
                <a:gd name="connsiteY8" fmla="*/ 758792 h 1553585"/>
                <a:gd name="connsiteX9" fmla="*/ 761046 w 1312521"/>
                <a:gd name="connsiteY9" fmla="*/ 359495 h 1553585"/>
                <a:gd name="connsiteX10" fmla="*/ 364075 w 1312521"/>
                <a:gd name="connsiteY10" fmla="*/ 301001 h 1553585"/>
                <a:gd name="connsiteX11" fmla="*/ 362321 w 1312521"/>
                <a:gd name="connsiteY11" fmla="*/ 302316 h 1553585"/>
                <a:gd name="connsiteX12" fmla="*/ 248727 w 1312521"/>
                <a:gd name="connsiteY12" fmla="*/ 557015 h 1553585"/>
                <a:gd name="connsiteX13" fmla="*/ 137946 w 1312521"/>
                <a:gd name="connsiteY13" fmla="*/ 696670 h 1553585"/>
                <a:gd name="connsiteX14" fmla="*/ 136910 w 1312521"/>
                <a:gd name="connsiteY14" fmla="*/ 696785 h 1553585"/>
                <a:gd name="connsiteX15" fmla="*/ 2668 w 1312521"/>
                <a:gd name="connsiteY15" fmla="*/ 586557 h 1553585"/>
                <a:gd name="connsiteX16" fmla="*/ 216389 w 1312521"/>
                <a:gd name="connsiteY16" fmla="*/ 102509 h 1553585"/>
                <a:gd name="connsiteX17" fmla="*/ 960282 w 1312521"/>
                <a:gd name="connsiteY17" fmla="*/ 215786 h 1553585"/>
                <a:gd name="connsiteX18" fmla="*/ 933471 w 1312521"/>
                <a:gd name="connsiteY18" fmla="*/ 872704 h 1553585"/>
                <a:gd name="connsiteX19" fmla="*/ 1259071 w 1312521"/>
                <a:gd name="connsiteY19" fmla="*/ 1318824 h 1553585"/>
                <a:gd name="connsiteX20" fmla="*/ 1287153 w 1312521"/>
                <a:gd name="connsiteY20" fmla="*/ 1357388 h 1553585"/>
                <a:gd name="connsiteX21" fmla="*/ 1259199 w 1312521"/>
                <a:gd name="connsiteY21" fmla="*/ 1528923 h 1553585"/>
                <a:gd name="connsiteX22" fmla="*/ 1087644 w 1312521"/>
                <a:gd name="connsiteY22" fmla="*/ 1504260 h 1553585"/>
                <a:gd name="connsiteX23" fmla="*/ 1087091 w 1312521"/>
                <a:gd name="connsiteY23" fmla="*/ 1503511 h 1553585"/>
                <a:gd name="connsiteX24" fmla="*/ 1061678 w 1312521"/>
                <a:gd name="connsiteY24" fmla="*/ 1465391 h 1553585"/>
                <a:gd name="connsiteX25" fmla="*/ 1087091 w 1312521"/>
                <a:gd name="connsiteY25" fmla="*/ 1292967 h 1553585"/>
                <a:gd name="connsiteX26" fmla="*/ 1259199 w 1312521"/>
                <a:gd name="connsiteY26" fmla="*/ 1318379 h 155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12521" h="1553585">
                  <a:moveTo>
                    <a:pt x="933471" y="872704"/>
                  </a:moveTo>
                  <a:lnTo>
                    <a:pt x="1030738" y="1006121"/>
                  </a:lnTo>
                  <a:cubicBezTo>
                    <a:pt x="1071971" y="1062410"/>
                    <a:pt x="1061551" y="1137187"/>
                    <a:pt x="1002848" y="1177656"/>
                  </a:cubicBezTo>
                  <a:cubicBezTo>
                    <a:pt x="948630" y="1218234"/>
                    <a:pt x="871788" y="1207179"/>
                    <a:pt x="831211" y="1152962"/>
                  </a:cubicBezTo>
                  <a:cubicBezTo>
                    <a:pt x="831033" y="1152720"/>
                    <a:pt x="830855" y="1152485"/>
                    <a:pt x="830677" y="1152244"/>
                  </a:cubicBezTo>
                  <a:lnTo>
                    <a:pt x="674897" y="940874"/>
                  </a:lnTo>
                  <a:cubicBezTo>
                    <a:pt x="673246" y="937633"/>
                    <a:pt x="676486" y="935982"/>
                    <a:pt x="674008" y="935220"/>
                  </a:cubicBezTo>
                  <a:cubicBezTo>
                    <a:pt x="671530" y="934457"/>
                    <a:pt x="671594" y="934457"/>
                    <a:pt x="669942" y="931217"/>
                  </a:cubicBezTo>
                  <a:cubicBezTo>
                    <a:pt x="630362" y="878168"/>
                    <a:pt x="642369" y="798499"/>
                    <a:pt x="695354" y="758792"/>
                  </a:cubicBezTo>
                  <a:cubicBezTo>
                    <a:pt x="824769" y="665400"/>
                    <a:pt x="855010" y="486495"/>
                    <a:pt x="761046" y="359495"/>
                  </a:cubicBezTo>
                  <a:cubicBezTo>
                    <a:pt x="667578" y="233721"/>
                    <a:pt x="489849" y="207534"/>
                    <a:pt x="364075" y="301001"/>
                  </a:cubicBezTo>
                  <a:cubicBezTo>
                    <a:pt x="363490" y="301439"/>
                    <a:pt x="362906" y="301878"/>
                    <a:pt x="362321" y="302316"/>
                  </a:cubicBezTo>
                  <a:cubicBezTo>
                    <a:pt x="281636" y="360797"/>
                    <a:pt x="238326" y="457912"/>
                    <a:pt x="248727" y="557015"/>
                  </a:cubicBezTo>
                  <a:cubicBezTo>
                    <a:pt x="256700" y="626169"/>
                    <a:pt x="207101" y="688697"/>
                    <a:pt x="137946" y="696670"/>
                  </a:cubicBezTo>
                  <a:cubicBezTo>
                    <a:pt x="137603" y="696708"/>
                    <a:pt x="137254" y="696747"/>
                    <a:pt x="136910" y="696785"/>
                  </a:cubicBezTo>
                  <a:cubicBezTo>
                    <a:pt x="68106" y="701741"/>
                    <a:pt x="9847" y="656252"/>
                    <a:pt x="2668" y="586557"/>
                  </a:cubicBezTo>
                  <a:cubicBezTo>
                    <a:pt x="-18056" y="398554"/>
                    <a:pt x="63493" y="213855"/>
                    <a:pt x="216389" y="102509"/>
                  </a:cubicBezTo>
                  <a:cubicBezTo>
                    <a:pt x="453375" y="-70456"/>
                    <a:pt x="785519" y="-19878"/>
                    <a:pt x="960282" y="215786"/>
                  </a:cubicBezTo>
                  <a:cubicBezTo>
                    <a:pt x="1106405" y="415975"/>
                    <a:pt x="1089251" y="688017"/>
                    <a:pt x="933471" y="872704"/>
                  </a:cubicBezTo>
                  <a:close/>
                  <a:moveTo>
                    <a:pt x="1259071" y="1318824"/>
                  </a:moveTo>
                  <a:lnTo>
                    <a:pt x="1287153" y="1357388"/>
                  </a:lnTo>
                  <a:cubicBezTo>
                    <a:pt x="1328321" y="1413677"/>
                    <a:pt x="1317902" y="1488454"/>
                    <a:pt x="1259199" y="1528923"/>
                  </a:cubicBezTo>
                  <a:cubicBezTo>
                    <a:pt x="1205012" y="1569488"/>
                    <a:pt x="1128209" y="1558440"/>
                    <a:pt x="1087644" y="1504260"/>
                  </a:cubicBezTo>
                  <a:cubicBezTo>
                    <a:pt x="1087460" y="1504013"/>
                    <a:pt x="1087275" y="1503758"/>
                    <a:pt x="1087091" y="1503511"/>
                  </a:cubicBezTo>
                  <a:lnTo>
                    <a:pt x="1061678" y="1465391"/>
                  </a:lnTo>
                  <a:cubicBezTo>
                    <a:pt x="1019684" y="1411517"/>
                    <a:pt x="1034106" y="1332610"/>
                    <a:pt x="1087091" y="1292967"/>
                  </a:cubicBezTo>
                  <a:cubicBezTo>
                    <a:pt x="1141671" y="1252592"/>
                    <a:pt x="1218621" y="1263958"/>
                    <a:pt x="1259199" y="1318379"/>
                  </a:cubicBezTo>
                  <a:close/>
                </a:path>
              </a:pathLst>
            </a:custGeom>
            <a:solidFill>
              <a:srgbClr val="FFC545"/>
            </a:solidFill>
            <a:ln w="6346" cap="flat">
              <a:noFill/>
              <a:prstDash val="solid"/>
              <a:miter/>
            </a:ln>
          </p:spPr>
          <p:txBody>
            <a:bodyPr rtlCol="0" anchor="ctr"/>
            <a:lstStyle/>
            <a:p>
              <a:endParaRPr lang="zh-CN" altLang="en-US"/>
            </a:p>
          </p:txBody>
        </p:sp>
        <p:sp>
          <p:nvSpPr>
            <p:cNvPr id="67" name="任意多边形 27">
              <a:extLst>
                <a:ext uri="{FF2B5EF4-FFF2-40B4-BE49-F238E27FC236}">
                  <a16:creationId xmlns:a16="http://schemas.microsoft.com/office/drawing/2014/main" id="{FFCE8BA8-9FEE-6AFB-328E-1AEBA543895E}"/>
                </a:ext>
              </a:extLst>
            </p:cNvPr>
            <p:cNvSpPr/>
            <p:nvPr/>
          </p:nvSpPr>
          <p:spPr>
            <a:xfrm>
              <a:off x="6164723" y="1962102"/>
              <a:ext cx="703194" cy="564027"/>
            </a:xfrm>
            <a:custGeom>
              <a:avLst/>
              <a:gdLst>
                <a:gd name="connsiteX0" fmla="*/ 577794 w 621074"/>
                <a:gd name="connsiteY0" fmla="*/ 416455 h 498159"/>
                <a:gd name="connsiteX1" fmla="*/ 538976 w 621074"/>
                <a:gd name="connsiteY1" fmla="*/ 192061 h 498159"/>
                <a:gd name="connsiteX2" fmla="*/ 398317 w 621074"/>
                <a:gd name="connsiteY2" fmla="*/ 31135 h 498159"/>
                <a:gd name="connsiteX3" fmla="*/ 10265 w 621074"/>
                <a:gd name="connsiteY3" fmla="*/ 121159 h 498159"/>
                <a:gd name="connsiteX4" fmla="*/ 38156 w 621074"/>
                <a:gd name="connsiteY4" fmla="*/ 265504 h 498159"/>
                <a:gd name="connsiteX5" fmla="*/ 65983 w 621074"/>
                <a:gd name="connsiteY5" fmla="*/ 440152 h 498159"/>
                <a:gd name="connsiteX6" fmla="*/ 577794 w 621074"/>
                <a:gd name="connsiteY6" fmla="*/ 416455 h 49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074" h="498159">
                  <a:moveTo>
                    <a:pt x="577794" y="416455"/>
                  </a:moveTo>
                  <a:cubicBezTo>
                    <a:pt x="667819" y="254576"/>
                    <a:pt x="596536" y="161629"/>
                    <a:pt x="538976" y="192061"/>
                  </a:cubicBezTo>
                  <a:cubicBezTo>
                    <a:pt x="538976" y="192061"/>
                    <a:pt x="530399" y="91617"/>
                    <a:pt x="398317" y="31135"/>
                  </a:cubicBezTo>
                  <a:cubicBezTo>
                    <a:pt x="245841" y="-38750"/>
                    <a:pt x="48893" y="15633"/>
                    <a:pt x="10265" y="121159"/>
                  </a:cubicBezTo>
                  <a:cubicBezTo>
                    <a:pt x="-25186" y="218554"/>
                    <a:pt x="38156" y="265504"/>
                    <a:pt x="38156" y="265504"/>
                  </a:cubicBezTo>
                  <a:cubicBezTo>
                    <a:pt x="38156" y="265504"/>
                    <a:pt x="-1043" y="335388"/>
                    <a:pt x="65983" y="440152"/>
                  </a:cubicBezTo>
                  <a:cubicBezTo>
                    <a:pt x="133009" y="544916"/>
                    <a:pt x="537515" y="488945"/>
                    <a:pt x="577794" y="416455"/>
                  </a:cubicBezTo>
                  <a:close/>
                </a:path>
              </a:pathLst>
            </a:custGeom>
            <a:solidFill>
              <a:srgbClr val="981D04"/>
            </a:solidFill>
            <a:ln w="6346" cap="flat">
              <a:noFill/>
              <a:prstDash val="solid"/>
              <a:miter/>
            </a:ln>
          </p:spPr>
          <p:txBody>
            <a:bodyPr rtlCol="0" anchor="ctr"/>
            <a:lstStyle/>
            <a:p>
              <a:endParaRPr lang="zh-CN" altLang="en-US"/>
            </a:p>
          </p:txBody>
        </p:sp>
        <p:sp>
          <p:nvSpPr>
            <p:cNvPr id="68" name="任意多边形 28">
              <a:extLst>
                <a:ext uri="{FF2B5EF4-FFF2-40B4-BE49-F238E27FC236}">
                  <a16:creationId xmlns:a16="http://schemas.microsoft.com/office/drawing/2014/main" id="{4D19C6AC-E4FF-776E-32ED-0D7051147FC4}"/>
                </a:ext>
              </a:extLst>
            </p:cNvPr>
            <p:cNvSpPr/>
            <p:nvPr/>
          </p:nvSpPr>
          <p:spPr>
            <a:xfrm>
              <a:off x="6390997" y="2695691"/>
              <a:ext cx="273341" cy="276362"/>
            </a:xfrm>
            <a:custGeom>
              <a:avLst/>
              <a:gdLst>
                <a:gd name="connsiteX0" fmla="*/ 120196 w 241420"/>
                <a:gd name="connsiteY0" fmla="*/ 243879 h 244088"/>
                <a:gd name="connsiteX1" fmla="*/ 120196 w 241420"/>
                <a:gd name="connsiteY1" fmla="*/ 243879 h 244088"/>
                <a:gd name="connsiteX2" fmla="*/ -514 w 241420"/>
                <a:gd name="connsiteY2" fmla="*/ 160017 h 244088"/>
                <a:gd name="connsiteX3" fmla="*/ -514 w 241420"/>
                <a:gd name="connsiteY3" fmla="*/ -210 h 244088"/>
                <a:gd name="connsiteX4" fmla="*/ 240906 w 241420"/>
                <a:gd name="connsiteY4" fmla="*/ -210 h 244088"/>
                <a:gd name="connsiteX5" fmla="*/ 240906 w 241420"/>
                <a:gd name="connsiteY5" fmla="*/ 160335 h 244088"/>
                <a:gd name="connsiteX6" fmla="*/ 120958 w 241420"/>
                <a:gd name="connsiteY6" fmla="*/ 243752 h 24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420" h="244088">
                  <a:moveTo>
                    <a:pt x="120196" y="243879"/>
                  </a:moveTo>
                  <a:lnTo>
                    <a:pt x="120196" y="243879"/>
                  </a:lnTo>
                  <a:cubicBezTo>
                    <a:pt x="53551" y="243879"/>
                    <a:pt x="-514" y="206332"/>
                    <a:pt x="-514" y="160017"/>
                  </a:cubicBezTo>
                  <a:lnTo>
                    <a:pt x="-514" y="-210"/>
                  </a:lnTo>
                  <a:lnTo>
                    <a:pt x="240906" y="-210"/>
                  </a:lnTo>
                  <a:lnTo>
                    <a:pt x="240906" y="160335"/>
                  </a:lnTo>
                  <a:cubicBezTo>
                    <a:pt x="240906" y="206395"/>
                    <a:pt x="187222" y="243752"/>
                    <a:pt x="120958" y="243752"/>
                  </a:cubicBezTo>
                  <a:close/>
                </a:path>
              </a:pathLst>
            </a:custGeom>
            <a:solidFill>
              <a:srgbClr val="FF93B1"/>
            </a:solidFill>
            <a:ln w="6346" cap="flat">
              <a:noFill/>
              <a:prstDash val="solid"/>
              <a:miter/>
            </a:ln>
          </p:spPr>
          <p:txBody>
            <a:bodyPr rtlCol="0" anchor="ctr"/>
            <a:lstStyle/>
            <a:p>
              <a:endParaRPr lang="zh-CN" altLang="en-US"/>
            </a:p>
          </p:txBody>
        </p:sp>
        <p:sp>
          <p:nvSpPr>
            <p:cNvPr id="69" name="任意多边形 29">
              <a:extLst>
                <a:ext uri="{FF2B5EF4-FFF2-40B4-BE49-F238E27FC236}">
                  <a16:creationId xmlns:a16="http://schemas.microsoft.com/office/drawing/2014/main" id="{5787849F-B43B-2CE5-A29C-1EA0FA21615F}"/>
                </a:ext>
              </a:extLst>
            </p:cNvPr>
            <p:cNvSpPr/>
            <p:nvPr/>
          </p:nvSpPr>
          <p:spPr>
            <a:xfrm>
              <a:off x="6190954" y="2434905"/>
              <a:ext cx="140645" cy="163868"/>
            </a:xfrm>
            <a:custGeom>
              <a:avLst/>
              <a:gdLst>
                <a:gd name="connsiteX0" fmla="*/ 89827 w 124220"/>
                <a:gd name="connsiteY0" fmla="*/ 32284 h 144731"/>
                <a:gd name="connsiteX1" fmla="*/ -514 w 124220"/>
                <a:gd name="connsiteY1" fmla="*/ 54139 h 144731"/>
                <a:gd name="connsiteX2" fmla="*/ 109904 w 124220"/>
                <a:gd name="connsiteY2" fmla="*/ 127518 h 144731"/>
                <a:gd name="connsiteX3" fmla="*/ 89827 w 124220"/>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220" h="144731">
                  <a:moveTo>
                    <a:pt x="89827" y="32284"/>
                  </a:moveTo>
                  <a:cubicBezTo>
                    <a:pt x="47960" y="-30739"/>
                    <a:pt x="-514" y="9730"/>
                    <a:pt x="-514" y="54139"/>
                  </a:cubicBezTo>
                  <a:cubicBezTo>
                    <a:pt x="-514" y="118306"/>
                    <a:pt x="69752" y="173579"/>
                    <a:pt x="109904" y="127518"/>
                  </a:cubicBezTo>
                  <a:cubicBezTo>
                    <a:pt x="150056" y="81458"/>
                    <a:pt x="89827" y="32221"/>
                    <a:pt x="89827" y="32221"/>
                  </a:cubicBezTo>
                  <a:close/>
                </a:path>
              </a:pathLst>
            </a:custGeom>
            <a:solidFill>
              <a:srgbClr val="FED0D6"/>
            </a:solidFill>
            <a:ln w="6346" cap="flat">
              <a:noFill/>
              <a:prstDash val="solid"/>
              <a:miter/>
            </a:ln>
          </p:spPr>
          <p:txBody>
            <a:bodyPr rtlCol="0" anchor="ctr"/>
            <a:lstStyle/>
            <a:p>
              <a:endParaRPr lang="zh-CN" altLang="en-US"/>
            </a:p>
          </p:txBody>
        </p:sp>
        <p:sp>
          <p:nvSpPr>
            <p:cNvPr id="70" name="任意多边形 30">
              <a:extLst>
                <a:ext uri="{FF2B5EF4-FFF2-40B4-BE49-F238E27FC236}">
                  <a16:creationId xmlns:a16="http://schemas.microsoft.com/office/drawing/2014/main" id="{DD5CC305-C994-FD09-56E7-98657EEC4B3D}"/>
                </a:ext>
              </a:extLst>
            </p:cNvPr>
            <p:cNvSpPr/>
            <p:nvPr/>
          </p:nvSpPr>
          <p:spPr>
            <a:xfrm>
              <a:off x="6727091" y="2434905"/>
              <a:ext cx="140816" cy="163868"/>
            </a:xfrm>
            <a:custGeom>
              <a:avLst/>
              <a:gdLst>
                <a:gd name="connsiteX0" fmla="*/ 33579 w 124371"/>
                <a:gd name="connsiteY0" fmla="*/ 32284 h 144731"/>
                <a:gd name="connsiteX1" fmla="*/ 123857 w 124371"/>
                <a:gd name="connsiteY1" fmla="*/ 54139 h 144731"/>
                <a:gd name="connsiteX2" fmla="*/ 13439 w 124371"/>
                <a:gd name="connsiteY2" fmla="*/ 127518 h 144731"/>
                <a:gd name="connsiteX3" fmla="*/ 33579 w 124371"/>
                <a:gd name="connsiteY3" fmla="*/ 32221 h 144731"/>
              </a:gdLst>
              <a:ahLst/>
              <a:cxnLst>
                <a:cxn ang="0">
                  <a:pos x="connsiteX0" y="connsiteY0"/>
                </a:cxn>
                <a:cxn ang="0">
                  <a:pos x="connsiteX1" y="connsiteY1"/>
                </a:cxn>
                <a:cxn ang="0">
                  <a:pos x="connsiteX2" y="connsiteY2"/>
                </a:cxn>
                <a:cxn ang="0">
                  <a:pos x="connsiteX3" y="connsiteY3"/>
                </a:cxn>
              </a:cxnLst>
              <a:rect l="l" t="t" r="r" b="b"/>
              <a:pathLst>
                <a:path w="124371" h="144731">
                  <a:moveTo>
                    <a:pt x="33579" y="32284"/>
                  </a:moveTo>
                  <a:cubicBezTo>
                    <a:pt x="75319" y="-30739"/>
                    <a:pt x="123857" y="9730"/>
                    <a:pt x="123857" y="54139"/>
                  </a:cubicBezTo>
                  <a:cubicBezTo>
                    <a:pt x="123857" y="118306"/>
                    <a:pt x="53972" y="173579"/>
                    <a:pt x="13439" y="127518"/>
                  </a:cubicBezTo>
                  <a:cubicBezTo>
                    <a:pt x="-27095" y="81458"/>
                    <a:pt x="33579" y="32221"/>
                    <a:pt x="33579" y="32221"/>
                  </a:cubicBezTo>
                  <a:close/>
                </a:path>
              </a:pathLst>
            </a:custGeom>
            <a:solidFill>
              <a:srgbClr val="FED0D6"/>
            </a:solidFill>
            <a:ln w="6346" cap="flat">
              <a:noFill/>
              <a:prstDash val="solid"/>
              <a:miter/>
            </a:ln>
          </p:spPr>
          <p:txBody>
            <a:bodyPr rtlCol="0" anchor="ctr"/>
            <a:lstStyle/>
            <a:p>
              <a:endParaRPr lang="zh-CN" altLang="en-US"/>
            </a:p>
          </p:txBody>
        </p:sp>
        <p:sp>
          <p:nvSpPr>
            <p:cNvPr id="71" name="任意多边形 31">
              <a:extLst>
                <a:ext uri="{FF2B5EF4-FFF2-40B4-BE49-F238E27FC236}">
                  <a16:creationId xmlns:a16="http://schemas.microsoft.com/office/drawing/2014/main" id="{D8DA2635-865F-A9EB-132A-088E1886BBA8}"/>
                </a:ext>
              </a:extLst>
            </p:cNvPr>
            <p:cNvSpPr/>
            <p:nvPr/>
          </p:nvSpPr>
          <p:spPr>
            <a:xfrm>
              <a:off x="6265196" y="2209296"/>
              <a:ext cx="527030" cy="543940"/>
            </a:xfrm>
            <a:custGeom>
              <a:avLst/>
              <a:gdLst>
                <a:gd name="connsiteX0" fmla="*/ 232068 w 465483"/>
                <a:gd name="connsiteY0" fmla="*/ 480209 h 480418"/>
                <a:gd name="connsiteX1" fmla="*/ 7928 w 465483"/>
                <a:gd name="connsiteY1" fmla="*/ 114266 h 480418"/>
                <a:gd name="connsiteX2" fmla="*/ 456589 w 465483"/>
                <a:gd name="connsiteY2" fmla="*/ 114266 h 480418"/>
                <a:gd name="connsiteX3" fmla="*/ 232068 w 465483"/>
                <a:gd name="connsiteY3" fmla="*/ 480209 h 480418"/>
              </a:gdLst>
              <a:ahLst/>
              <a:cxnLst>
                <a:cxn ang="0">
                  <a:pos x="connsiteX0" y="connsiteY0"/>
                </a:cxn>
                <a:cxn ang="0">
                  <a:pos x="connsiteX1" y="connsiteY1"/>
                </a:cxn>
                <a:cxn ang="0">
                  <a:pos x="connsiteX2" y="connsiteY2"/>
                </a:cxn>
                <a:cxn ang="0">
                  <a:pos x="connsiteX3" y="connsiteY3"/>
                </a:cxn>
              </a:cxnLst>
              <a:rect l="l" t="t" r="r" b="b"/>
              <a:pathLst>
                <a:path w="465483" h="480418">
                  <a:moveTo>
                    <a:pt x="232068" y="480209"/>
                  </a:moveTo>
                  <a:cubicBezTo>
                    <a:pt x="66886" y="480209"/>
                    <a:pt x="-30763" y="299588"/>
                    <a:pt x="7928" y="114266"/>
                  </a:cubicBezTo>
                  <a:cubicBezTo>
                    <a:pt x="39694" y="-38527"/>
                    <a:pt x="424696" y="-38210"/>
                    <a:pt x="456589" y="114266"/>
                  </a:cubicBezTo>
                  <a:cubicBezTo>
                    <a:pt x="495153" y="299588"/>
                    <a:pt x="397251" y="480209"/>
                    <a:pt x="232068" y="480209"/>
                  </a:cubicBezTo>
                  <a:close/>
                </a:path>
              </a:pathLst>
            </a:custGeom>
            <a:solidFill>
              <a:srgbClr val="FED0D6"/>
            </a:solidFill>
            <a:ln w="6346" cap="flat">
              <a:noFill/>
              <a:prstDash val="solid"/>
              <a:miter/>
            </a:ln>
          </p:spPr>
          <p:txBody>
            <a:bodyPr rtlCol="0" anchor="ctr"/>
            <a:lstStyle/>
            <a:p>
              <a:endParaRPr lang="zh-CN" altLang="en-US"/>
            </a:p>
          </p:txBody>
        </p:sp>
        <p:sp>
          <p:nvSpPr>
            <p:cNvPr id="72" name="任意多边形 32">
              <a:extLst>
                <a:ext uri="{FF2B5EF4-FFF2-40B4-BE49-F238E27FC236}">
                  <a16:creationId xmlns:a16="http://schemas.microsoft.com/office/drawing/2014/main" id="{B855860C-451C-34E1-1564-7F28C79893C1}"/>
                </a:ext>
              </a:extLst>
            </p:cNvPr>
            <p:cNvSpPr/>
            <p:nvPr/>
          </p:nvSpPr>
          <p:spPr>
            <a:xfrm>
              <a:off x="6255890" y="2082565"/>
              <a:ext cx="448236" cy="230262"/>
            </a:xfrm>
            <a:custGeom>
              <a:avLst/>
              <a:gdLst>
                <a:gd name="connsiteX0" fmla="*/ 386663 w 395890"/>
                <a:gd name="connsiteY0" fmla="*/ 112221 h 203372"/>
                <a:gd name="connsiteX1" fmla="*/ 250388 w 395890"/>
                <a:gd name="connsiteY1" fmla="*/ 153708 h 203372"/>
                <a:gd name="connsiteX2" fmla="*/ 94799 w 395890"/>
                <a:gd name="connsiteY2" fmla="*/ 202246 h 203372"/>
                <a:gd name="connsiteX3" fmla="*/ 66146 w 395890"/>
                <a:gd name="connsiteY3" fmla="*/ 31028 h 203372"/>
                <a:gd name="connsiteX4" fmla="*/ 386663 w 395890"/>
                <a:gd name="connsiteY4" fmla="*/ 112221 h 203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5890" h="203372">
                  <a:moveTo>
                    <a:pt x="386663" y="112221"/>
                  </a:moveTo>
                  <a:cubicBezTo>
                    <a:pt x="344034" y="208472"/>
                    <a:pt x="250388" y="153708"/>
                    <a:pt x="250388" y="153708"/>
                  </a:cubicBezTo>
                  <a:cubicBezTo>
                    <a:pt x="207091" y="190022"/>
                    <a:pt x="151062" y="207500"/>
                    <a:pt x="94799" y="202246"/>
                  </a:cubicBezTo>
                  <a:cubicBezTo>
                    <a:pt x="581" y="192970"/>
                    <a:pt x="-48592" y="79439"/>
                    <a:pt x="66146" y="31028"/>
                  </a:cubicBezTo>
                  <a:cubicBezTo>
                    <a:pt x="180884" y="-17383"/>
                    <a:pt x="446701" y="-22784"/>
                    <a:pt x="386663" y="112221"/>
                  </a:cubicBezTo>
                  <a:close/>
                </a:path>
              </a:pathLst>
            </a:custGeom>
            <a:solidFill>
              <a:srgbClr val="981D04"/>
            </a:solidFill>
            <a:ln w="6346" cap="flat">
              <a:noFill/>
              <a:prstDash val="solid"/>
              <a:miter/>
            </a:ln>
          </p:spPr>
          <p:txBody>
            <a:bodyPr rtlCol="0" anchor="ctr"/>
            <a:lstStyle/>
            <a:p>
              <a:endParaRPr lang="zh-CN" altLang="en-US"/>
            </a:p>
          </p:txBody>
        </p:sp>
        <p:sp>
          <p:nvSpPr>
            <p:cNvPr id="73" name="任意多边形 33">
              <a:extLst>
                <a:ext uri="{FF2B5EF4-FFF2-40B4-BE49-F238E27FC236}">
                  <a16:creationId xmlns:a16="http://schemas.microsoft.com/office/drawing/2014/main" id="{C24F696E-DE76-0519-48BB-503632700738}"/>
                </a:ext>
              </a:extLst>
            </p:cNvPr>
            <p:cNvSpPr/>
            <p:nvPr/>
          </p:nvSpPr>
          <p:spPr>
            <a:xfrm>
              <a:off x="5999615" y="5296537"/>
              <a:ext cx="484830" cy="136671"/>
            </a:xfrm>
            <a:custGeom>
              <a:avLst/>
              <a:gdLst>
                <a:gd name="connsiteX0" fmla="*/ 415046 w 428211"/>
                <a:gd name="connsiteY0" fmla="*/ -210 h 120710"/>
                <a:gd name="connsiteX1" fmla="*/ 150755 w 428211"/>
                <a:gd name="connsiteY1" fmla="*/ -210 h 120710"/>
                <a:gd name="connsiteX2" fmla="*/ -514 w 428211"/>
                <a:gd name="connsiteY2" fmla="*/ 107794 h 120710"/>
                <a:gd name="connsiteX3" fmla="*/ -514 w 428211"/>
                <a:gd name="connsiteY3" fmla="*/ 120500 h 120710"/>
                <a:gd name="connsiteX4" fmla="*/ 425148 w 428211"/>
                <a:gd name="connsiteY4" fmla="*/ 120500 h 120710"/>
                <a:gd name="connsiteX5" fmla="*/ 414856 w 428211"/>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11" h="120710">
                  <a:moveTo>
                    <a:pt x="415046" y="-210"/>
                  </a:moveTo>
                  <a:lnTo>
                    <a:pt x="150755" y="-210"/>
                  </a:lnTo>
                  <a:cubicBezTo>
                    <a:pt x="150755" y="-210"/>
                    <a:pt x="14924" y="76981"/>
                    <a:pt x="-514" y="107794"/>
                  </a:cubicBezTo>
                  <a:lnTo>
                    <a:pt x="-514" y="120500"/>
                  </a:lnTo>
                  <a:lnTo>
                    <a:pt x="425148" y="120500"/>
                  </a:lnTo>
                  <a:cubicBezTo>
                    <a:pt x="425148" y="120500"/>
                    <a:pt x="435377" y="30412"/>
                    <a:pt x="414856" y="-210"/>
                  </a:cubicBezTo>
                  <a:close/>
                </a:path>
              </a:pathLst>
            </a:custGeom>
            <a:solidFill>
              <a:srgbClr val="00065B"/>
            </a:solidFill>
            <a:ln w="6346" cap="flat">
              <a:noFill/>
              <a:prstDash val="solid"/>
              <a:miter/>
            </a:ln>
          </p:spPr>
          <p:txBody>
            <a:bodyPr rtlCol="0" anchor="ctr"/>
            <a:lstStyle/>
            <a:p>
              <a:endParaRPr lang="zh-CN" altLang="en-US"/>
            </a:p>
          </p:txBody>
        </p:sp>
        <p:sp>
          <p:nvSpPr>
            <p:cNvPr id="74" name="任意多边形 34">
              <a:extLst>
                <a:ext uri="{FF2B5EF4-FFF2-40B4-BE49-F238E27FC236}">
                  <a16:creationId xmlns:a16="http://schemas.microsoft.com/office/drawing/2014/main" id="{B958E6C5-2CBF-95E5-A19D-52197C108FB5}"/>
                </a:ext>
              </a:extLst>
            </p:cNvPr>
            <p:cNvSpPr/>
            <p:nvPr/>
          </p:nvSpPr>
          <p:spPr>
            <a:xfrm>
              <a:off x="5999255" y="5433496"/>
              <a:ext cx="483023" cy="22802"/>
            </a:xfrm>
            <a:custGeom>
              <a:avLst/>
              <a:gdLst>
                <a:gd name="connsiteX0" fmla="*/ 426615 w 426615"/>
                <a:gd name="connsiteY0" fmla="*/ 0 h 20139"/>
                <a:gd name="connsiteX1" fmla="*/ 0 w 426615"/>
                <a:gd name="connsiteY1" fmla="*/ 0 h 20139"/>
                <a:gd name="connsiteX2" fmla="*/ 0 w 426615"/>
                <a:gd name="connsiteY2" fmla="*/ 20140 h 20139"/>
                <a:gd name="connsiteX3" fmla="*/ 426615 w 426615"/>
                <a:gd name="connsiteY3" fmla="*/ 20140 h 20139"/>
                <a:gd name="connsiteX4" fmla="*/ 426615 w 426615"/>
                <a:gd name="connsiteY4" fmla="*/ 0 h 20139"/>
                <a:gd name="connsiteX5" fmla="*/ 426615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426615" y="0"/>
                  </a:moveTo>
                  <a:lnTo>
                    <a:pt x="0" y="0"/>
                  </a:lnTo>
                  <a:lnTo>
                    <a:pt x="0" y="20140"/>
                  </a:lnTo>
                  <a:lnTo>
                    <a:pt x="426615" y="20140"/>
                  </a:lnTo>
                  <a:lnTo>
                    <a:pt x="426615" y="0"/>
                  </a:lnTo>
                  <a:lnTo>
                    <a:pt x="426615" y="0"/>
                  </a:lnTo>
                  <a:close/>
                </a:path>
              </a:pathLst>
            </a:custGeom>
            <a:solidFill>
              <a:srgbClr val="434CC0"/>
            </a:solidFill>
            <a:ln w="6346" cap="flat">
              <a:noFill/>
              <a:prstDash val="solid"/>
              <a:miter/>
            </a:ln>
          </p:spPr>
          <p:txBody>
            <a:bodyPr rtlCol="0" anchor="ctr"/>
            <a:lstStyle/>
            <a:p>
              <a:endParaRPr lang="zh-CN" altLang="en-US"/>
            </a:p>
          </p:txBody>
        </p:sp>
        <p:sp>
          <p:nvSpPr>
            <p:cNvPr id="75" name="任意多边形 35">
              <a:extLst>
                <a:ext uri="{FF2B5EF4-FFF2-40B4-BE49-F238E27FC236}">
                  <a16:creationId xmlns:a16="http://schemas.microsoft.com/office/drawing/2014/main" id="{86AA8955-465F-AEC7-E715-698E01036B5D}"/>
                </a:ext>
              </a:extLst>
            </p:cNvPr>
            <p:cNvSpPr/>
            <p:nvPr/>
          </p:nvSpPr>
          <p:spPr>
            <a:xfrm>
              <a:off x="6140242" y="3782441"/>
              <a:ext cx="395626" cy="1526181"/>
            </a:xfrm>
            <a:custGeom>
              <a:avLst/>
              <a:gdLst>
                <a:gd name="connsiteX0" fmla="*/ 348910 w 349424"/>
                <a:gd name="connsiteY0" fmla="*/ -210 h 1347952"/>
                <a:gd name="connsiteX1" fmla="*/ 17656 w 349424"/>
                <a:gd name="connsiteY1" fmla="*/ -210 h 1347952"/>
                <a:gd name="connsiteX2" fmla="*/ -514 w 349424"/>
                <a:gd name="connsiteY2" fmla="*/ 1347742 h 1347952"/>
                <a:gd name="connsiteX3" fmla="*/ 305200 w 349424"/>
                <a:gd name="connsiteY3" fmla="*/ 1347742 h 1347952"/>
                <a:gd name="connsiteX4" fmla="*/ 346369 w 349424"/>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24" h="1347952">
                  <a:moveTo>
                    <a:pt x="348910" y="-210"/>
                  </a:moveTo>
                  <a:lnTo>
                    <a:pt x="17656" y="-210"/>
                  </a:lnTo>
                  <a:lnTo>
                    <a:pt x="-514" y="1347742"/>
                  </a:lnTo>
                  <a:lnTo>
                    <a:pt x="305200" y="1347742"/>
                  </a:lnTo>
                  <a:cubicBezTo>
                    <a:pt x="305200" y="1347742"/>
                    <a:pt x="303548" y="602833"/>
                    <a:pt x="346369" y="202583"/>
                  </a:cubicBezTo>
                  <a:close/>
                </a:path>
              </a:pathLst>
            </a:custGeom>
            <a:solidFill>
              <a:srgbClr val="981D04"/>
            </a:solidFill>
            <a:ln w="6346" cap="flat">
              <a:noFill/>
              <a:prstDash val="solid"/>
              <a:miter/>
            </a:ln>
          </p:spPr>
          <p:txBody>
            <a:bodyPr rtlCol="0" anchor="ctr"/>
            <a:lstStyle/>
            <a:p>
              <a:endParaRPr lang="zh-CN" altLang="en-US"/>
            </a:p>
          </p:txBody>
        </p:sp>
        <p:sp>
          <p:nvSpPr>
            <p:cNvPr id="76" name="任意多边形 36">
              <a:extLst>
                <a:ext uri="{FF2B5EF4-FFF2-40B4-BE49-F238E27FC236}">
                  <a16:creationId xmlns:a16="http://schemas.microsoft.com/office/drawing/2014/main" id="{4174AFA5-1EDB-F131-72CB-FD235F0B1FB6}"/>
                </a:ext>
              </a:extLst>
            </p:cNvPr>
            <p:cNvSpPr/>
            <p:nvPr/>
          </p:nvSpPr>
          <p:spPr>
            <a:xfrm>
              <a:off x="6583298" y="5296537"/>
              <a:ext cx="484866" cy="136671"/>
            </a:xfrm>
            <a:custGeom>
              <a:avLst/>
              <a:gdLst>
                <a:gd name="connsiteX0" fmla="*/ 12168 w 428243"/>
                <a:gd name="connsiteY0" fmla="*/ -210 h 120710"/>
                <a:gd name="connsiteX1" fmla="*/ 276460 w 428243"/>
                <a:gd name="connsiteY1" fmla="*/ -210 h 120710"/>
                <a:gd name="connsiteX2" fmla="*/ 427729 w 428243"/>
                <a:gd name="connsiteY2" fmla="*/ 107794 h 120710"/>
                <a:gd name="connsiteX3" fmla="*/ 427729 w 428243"/>
                <a:gd name="connsiteY3" fmla="*/ 120500 h 120710"/>
                <a:gd name="connsiteX4" fmla="*/ 2067 w 428243"/>
                <a:gd name="connsiteY4" fmla="*/ 120500 h 120710"/>
                <a:gd name="connsiteX5" fmla="*/ 12295 w 428243"/>
                <a:gd name="connsiteY5" fmla="*/ -210 h 120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8243" h="120710">
                  <a:moveTo>
                    <a:pt x="12168" y="-210"/>
                  </a:moveTo>
                  <a:lnTo>
                    <a:pt x="276460" y="-210"/>
                  </a:lnTo>
                  <a:cubicBezTo>
                    <a:pt x="276460" y="-210"/>
                    <a:pt x="412354" y="76981"/>
                    <a:pt x="427729" y="107794"/>
                  </a:cubicBezTo>
                  <a:lnTo>
                    <a:pt x="427729" y="120500"/>
                  </a:lnTo>
                  <a:lnTo>
                    <a:pt x="2067" y="120500"/>
                  </a:lnTo>
                  <a:cubicBezTo>
                    <a:pt x="2067" y="120500"/>
                    <a:pt x="-8226" y="30412"/>
                    <a:pt x="12295" y="-210"/>
                  </a:cubicBezTo>
                  <a:close/>
                </a:path>
              </a:pathLst>
            </a:custGeom>
            <a:solidFill>
              <a:srgbClr val="00065B"/>
            </a:solidFill>
            <a:ln w="6346" cap="flat">
              <a:noFill/>
              <a:prstDash val="solid"/>
              <a:miter/>
            </a:ln>
          </p:spPr>
          <p:txBody>
            <a:bodyPr rtlCol="0" anchor="ctr"/>
            <a:lstStyle/>
            <a:p>
              <a:endParaRPr lang="zh-CN" altLang="en-US"/>
            </a:p>
          </p:txBody>
        </p:sp>
        <p:sp>
          <p:nvSpPr>
            <p:cNvPr id="77" name="任意多边形 37">
              <a:extLst>
                <a:ext uri="{FF2B5EF4-FFF2-40B4-BE49-F238E27FC236}">
                  <a16:creationId xmlns:a16="http://schemas.microsoft.com/office/drawing/2014/main" id="{07FFDA3C-0B5E-8686-D08B-91FEAAA1B65A}"/>
                </a:ext>
              </a:extLst>
            </p:cNvPr>
            <p:cNvSpPr/>
            <p:nvPr/>
          </p:nvSpPr>
          <p:spPr>
            <a:xfrm>
              <a:off x="6585142" y="5433496"/>
              <a:ext cx="483023" cy="22802"/>
            </a:xfrm>
            <a:custGeom>
              <a:avLst/>
              <a:gdLst>
                <a:gd name="connsiteX0" fmla="*/ 0 w 426615"/>
                <a:gd name="connsiteY0" fmla="*/ 0 h 20139"/>
                <a:gd name="connsiteX1" fmla="*/ 426615 w 426615"/>
                <a:gd name="connsiteY1" fmla="*/ 0 h 20139"/>
                <a:gd name="connsiteX2" fmla="*/ 426615 w 426615"/>
                <a:gd name="connsiteY2" fmla="*/ 20140 h 20139"/>
                <a:gd name="connsiteX3" fmla="*/ 0 w 426615"/>
                <a:gd name="connsiteY3" fmla="*/ 20140 h 20139"/>
                <a:gd name="connsiteX4" fmla="*/ 0 w 426615"/>
                <a:gd name="connsiteY4" fmla="*/ 0 h 20139"/>
                <a:gd name="connsiteX5" fmla="*/ 0 w 426615"/>
                <a:gd name="connsiteY5" fmla="*/ 0 h 2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6615" h="20139">
                  <a:moveTo>
                    <a:pt x="0" y="0"/>
                  </a:moveTo>
                  <a:lnTo>
                    <a:pt x="426615" y="0"/>
                  </a:lnTo>
                  <a:lnTo>
                    <a:pt x="426615" y="20140"/>
                  </a:lnTo>
                  <a:lnTo>
                    <a:pt x="0" y="20140"/>
                  </a:lnTo>
                  <a:lnTo>
                    <a:pt x="0" y="0"/>
                  </a:lnTo>
                  <a:lnTo>
                    <a:pt x="0" y="0"/>
                  </a:lnTo>
                  <a:close/>
                </a:path>
              </a:pathLst>
            </a:custGeom>
            <a:solidFill>
              <a:srgbClr val="434CC0"/>
            </a:solidFill>
            <a:ln w="6346" cap="flat">
              <a:noFill/>
              <a:prstDash val="solid"/>
              <a:miter/>
            </a:ln>
          </p:spPr>
          <p:txBody>
            <a:bodyPr rtlCol="0" anchor="ctr"/>
            <a:lstStyle/>
            <a:p>
              <a:endParaRPr lang="zh-CN" altLang="en-US"/>
            </a:p>
          </p:txBody>
        </p:sp>
        <p:sp>
          <p:nvSpPr>
            <p:cNvPr id="78" name="任意多边形 38">
              <a:extLst>
                <a:ext uri="{FF2B5EF4-FFF2-40B4-BE49-F238E27FC236}">
                  <a16:creationId xmlns:a16="http://schemas.microsoft.com/office/drawing/2014/main" id="{C104BF57-352E-5D30-0E8E-F0B2F1FACEE4}"/>
                </a:ext>
              </a:extLst>
            </p:cNvPr>
            <p:cNvSpPr/>
            <p:nvPr/>
          </p:nvSpPr>
          <p:spPr>
            <a:xfrm>
              <a:off x="6531551" y="3782441"/>
              <a:ext cx="395698" cy="1526181"/>
            </a:xfrm>
            <a:custGeom>
              <a:avLst/>
              <a:gdLst>
                <a:gd name="connsiteX0" fmla="*/ -514 w 349488"/>
                <a:gd name="connsiteY0" fmla="*/ -210 h 1347952"/>
                <a:gd name="connsiteX1" fmla="*/ 330803 w 349488"/>
                <a:gd name="connsiteY1" fmla="*/ -210 h 1347952"/>
                <a:gd name="connsiteX2" fmla="*/ 348974 w 349488"/>
                <a:gd name="connsiteY2" fmla="*/ 1347742 h 1347952"/>
                <a:gd name="connsiteX3" fmla="*/ 43259 w 349488"/>
                <a:gd name="connsiteY3" fmla="*/ 1347742 h 1347952"/>
                <a:gd name="connsiteX4" fmla="*/ 2408 w 349488"/>
                <a:gd name="connsiteY4" fmla="*/ 202583 h 1347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488" h="1347952">
                  <a:moveTo>
                    <a:pt x="-514" y="-210"/>
                  </a:moveTo>
                  <a:lnTo>
                    <a:pt x="330803" y="-210"/>
                  </a:lnTo>
                  <a:lnTo>
                    <a:pt x="348974" y="1347742"/>
                  </a:lnTo>
                  <a:lnTo>
                    <a:pt x="43259" y="1347742"/>
                  </a:lnTo>
                  <a:cubicBezTo>
                    <a:pt x="43259" y="1347742"/>
                    <a:pt x="44911" y="602833"/>
                    <a:pt x="2408" y="202583"/>
                  </a:cubicBezTo>
                  <a:close/>
                </a:path>
              </a:pathLst>
            </a:custGeom>
            <a:solidFill>
              <a:srgbClr val="981D04"/>
            </a:solidFill>
            <a:ln w="6346" cap="flat">
              <a:noFill/>
              <a:prstDash val="solid"/>
              <a:miter/>
            </a:ln>
          </p:spPr>
          <p:txBody>
            <a:bodyPr rtlCol="0" anchor="ctr"/>
            <a:lstStyle/>
            <a:p>
              <a:endParaRPr lang="zh-CN" altLang="en-US"/>
            </a:p>
          </p:txBody>
        </p:sp>
        <p:sp>
          <p:nvSpPr>
            <p:cNvPr id="79" name="任意多边形 39">
              <a:extLst>
                <a:ext uri="{FF2B5EF4-FFF2-40B4-BE49-F238E27FC236}">
                  <a16:creationId xmlns:a16="http://schemas.microsoft.com/office/drawing/2014/main" id="{8809F8BD-CADF-CBA1-B743-AF6BA8727F77}"/>
                </a:ext>
              </a:extLst>
            </p:cNvPr>
            <p:cNvSpPr/>
            <p:nvPr/>
          </p:nvSpPr>
          <p:spPr>
            <a:xfrm>
              <a:off x="6096076" y="2836102"/>
              <a:ext cx="877570" cy="1154292"/>
            </a:xfrm>
            <a:custGeom>
              <a:avLst/>
              <a:gdLst>
                <a:gd name="connsiteX0" fmla="*/ 259966 w 775086"/>
                <a:gd name="connsiteY0" fmla="*/ -210 h 1019493"/>
                <a:gd name="connsiteX1" fmla="*/ 380676 w 775086"/>
                <a:gd name="connsiteY1" fmla="*/ 81873 h 1019493"/>
                <a:gd name="connsiteX2" fmla="*/ 383217 w 775086"/>
                <a:gd name="connsiteY2" fmla="*/ 81873 h 1019493"/>
                <a:gd name="connsiteX3" fmla="*/ 501132 w 775086"/>
                <a:gd name="connsiteY3" fmla="*/ -210 h 1019493"/>
                <a:gd name="connsiteX4" fmla="*/ 703735 w 775086"/>
                <a:gd name="connsiteY4" fmla="*/ 40832 h 1019493"/>
                <a:gd name="connsiteX5" fmla="*/ 774573 w 775086"/>
                <a:gd name="connsiteY5" fmla="*/ 943109 h 1019493"/>
                <a:gd name="connsiteX6" fmla="*/ -514 w 775086"/>
                <a:gd name="connsiteY6" fmla="*/ 924050 h 1019493"/>
                <a:gd name="connsiteX7" fmla="*/ 66893 w 775086"/>
                <a:gd name="connsiteY7" fmla="*/ 30603 h 1019493"/>
                <a:gd name="connsiteX8" fmla="*/ 260029 w 775086"/>
                <a:gd name="connsiteY8" fmla="*/ -210 h 1019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5086" h="1019493">
                  <a:moveTo>
                    <a:pt x="259966" y="-210"/>
                  </a:moveTo>
                  <a:cubicBezTo>
                    <a:pt x="277882" y="79268"/>
                    <a:pt x="372734" y="81873"/>
                    <a:pt x="380676" y="81873"/>
                  </a:cubicBezTo>
                  <a:lnTo>
                    <a:pt x="383217" y="81873"/>
                  </a:lnTo>
                  <a:cubicBezTo>
                    <a:pt x="390904" y="81873"/>
                    <a:pt x="480611" y="79268"/>
                    <a:pt x="501132" y="-210"/>
                  </a:cubicBezTo>
                  <a:lnTo>
                    <a:pt x="703735" y="40832"/>
                  </a:lnTo>
                  <a:lnTo>
                    <a:pt x="774573" y="943109"/>
                  </a:lnTo>
                  <a:cubicBezTo>
                    <a:pt x="615743" y="1025700"/>
                    <a:pt x="132394" y="1069347"/>
                    <a:pt x="-514" y="924050"/>
                  </a:cubicBezTo>
                  <a:lnTo>
                    <a:pt x="66893" y="30603"/>
                  </a:lnTo>
                  <a:lnTo>
                    <a:pt x="260029" y="-210"/>
                  </a:lnTo>
                  <a:close/>
                </a:path>
              </a:pathLst>
            </a:custGeom>
            <a:solidFill>
              <a:srgbClr val="00065B"/>
            </a:solidFill>
            <a:ln w="6346" cap="flat">
              <a:noFill/>
              <a:prstDash val="solid"/>
              <a:miter/>
            </a:ln>
          </p:spPr>
          <p:txBody>
            <a:bodyPr rtlCol="0" anchor="ctr"/>
            <a:lstStyle/>
            <a:p>
              <a:endParaRPr lang="zh-CN" altLang="en-US"/>
            </a:p>
          </p:txBody>
        </p:sp>
        <p:sp>
          <p:nvSpPr>
            <p:cNvPr id="80" name="任意多边形 40">
              <a:extLst>
                <a:ext uri="{FF2B5EF4-FFF2-40B4-BE49-F238E27FC236}">
                  <a16:creationId xmlns:a16="http://schemas.microsoft.com/office/drawing/2014/main" id="{2219CA9C-D3B6-690C-ADEC-399C08663380}"/>
                </a:ext>
              </a:extLst>
            </p:cNvPr>
            <p:cNvSpPr/>
            <p:nvPr/>
          </p:nvSpPr>
          <p:spPr>
            <a:xfrm>
              <a:off x="5368249" y="3005839"/>
              <a:ext cx="792980" cy="422613"/>
            </a:xfrm>
            <a:custGeom>
              <a:avLst/>
              <a:gdLst>
                <a:gd name="connsiteX0" fmla="*/ 698477 w 700375"/>
                <a:gd name="connsiteY0" fmla="*/ 67344 h 373260"/>
                <a:gd name="connsiteX1" fmla="*/ 582976 w 700375"/>
                <a:gd name="connsiteY1" fmla="*/ 238880 h 373260"/>
                <a:gd name="connsiteX2" fmla="*/ 51470 w 700375"/>
                <a:gd name="connsiteY2" fmla="*/ 369755 h 373260"/>
                <a:gd name="connsiteX3" fmla="*/ 51470 w 700375"/>
                <a:gd name="connsiteY3" fmla="*/ 261751 h 373260"/>
                <a:gd name="connsiteX4" fmla="*/ 505786 w 700375"/>
                <a:gd name="connsiteY4" fmla="*/ 161816 h 373260"/>
                <a:gd name="connsiteX5" fmla="*/ 580181 w 700375"/>
                <a:gd name="connsiteY5" fmla="*/ 74714 h 373260"/>
                <a:gd name="connsiteX6" fmla="*/ 587932 w 700375"/>
                <a:gd name="connsiteY6" fmla="*/ 56798 h 373260"/>
                <a:gd name="connsiteX7" fmla="*/ 587932 w 700375"/>
                <a:gd name="connsiteY7" fmla="*/ 59339 h 373260"/>
                <a:gd name="connsiteX8" fmla="*/ 590474 w 700375"/>
                <a:gd name="connsiteY8" fmla="*/ 51652 h 373260"/>
                <a:gd name="connsiteX9" fmla="*/ 593015 w 700375"/>
                <a:gd name="connsiteY9" fmla="*/ 38945 h 373260"/>
                <a:gd name="connsiteX10" fmla="*/ 698287 w 700375"/>
                <a:gd name="connsiteY10" fmla="*/ 67154 h 37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375" h="373260">
                  <a:moveTo>
                    <a:pt x="698477" y="67344"/>
                  </a:moveTo>
                  <a:cubicBezTo>
                    <a:pt x="683039" y="133989"/>
                    <a:pt x="634310" y="195488"/>
                    <a:pt x="582976" y="238880"/>
                  </a:cubicBezTo>
                  <a:cubicBezTo>
                    <a:pt x="439014" y="362068"/>
                    <a:pt x="233933" y="382525"/>
                    <a:pt x="51470" y="369755"/>
                  </a:cubicBezTo>
                  <a:cubicBezTo>
                    <a:pt x="-17843" y="364609"/>
                    <a:pt x="-17843" y="256986"/>
                    <a:pt x="51470" y="261751"/>
                  </a:cubicBezTo>
                  <a:cubicBezTo>
                    <a:pt x="202930" y="274457"/>
                    <a:pt x="385139" y="264356"/>
                    <a:pt x="505786" y="161816"/>
                  </a:cubicBezTo>
                  <a:cubicBezTo>
                    <a:pt x="541681" y="131066"/>
                    <a:pt x="559660" y="110609"/>
                    <a:pt x="580181" y="74714"/>
                  </a:cubicBezTo>
                  <a:cubicBezTo>
                    <a:pt x="582284" y="68545"/>
                    <a:pt x="584876" y="62554"/>
                    <a:pt x="587932" y="56798"/>
                  </a:cubicBezTo>
                  <a:cubicBezTo>
                    <a:pt x="593015" y="46506"/>
                    <a:pt x="582786" y="69504"/>
                    <a:pt x="587932" y="59339"/>
                  </a:cubicBezTo>
                  <a:cubicBezTo>
                    <a:pt x="587932" y="56798"/>
                    <a:pt x="590474" y="54193"/>
                    <a:pt x="590474" y="51652"/>
                  </a:cubicBezTo>
                  <a:cubicBezTo>
                    <a:pt x="591077" y="47370"/>
                    <a:pt x="591928" y="43132"/>
                    <a:pt x="593015" y="38945"/>
                  </a:cubicBezTo>
                  <a:cubicBezTo>
                    <a:pt x="610994" y="-30241"/>
                    <a:pt x="713725" y="509"/>
                    <a:pt x="698287" y="67154"/>
                  </a:cubicBezTo>
                  <a:close/>
                </a:path>
              </a:pathLst>
            </a:custGeom>
            <a:solidFill>
              <a:srgbClr val="FED0D6"/>
            </a:solidFill>
            <a:ln w="6346" cap="flat">
              <a:noFill/>
              <a:prstDash val="solid"/>
              <a:miter/>
            </a:ln>
          </p:spPr>
          <p:txBody>
            <a:bodyPr rtlCol="0" anchor="ctr"/>
            <a:lstStyle/>
            <a:p>
              <a:endParaRPr lang="zh-CN" altLang="en-US"/>
            </a:p>
          </p:txBody>
        </p:sp>
        <p:sp>
          <p:nvSpPr>
            <p:cNvPr id="81" name="任意多边形 41">
              <a:extLst>
                <a:ext uri="{FF2B5EF4-FFF2-40B4-BE49-F238E27FC236}">
                  <a16:creationId xmlns:a16="http://schemas.microsoft.com/office/drawing/2014/main" id="{C6D5E390-3301-5CD0-CB9A-7372BF0FF704}"/>
                </a:ext>
              </a:extLst>
            </p:cNvPr>
            <p:cNvSpPr/>
            <p:nvPr/>
          </p:nvSpPr>
          <p:spPr>
            <a:xfrm>
              <a:off x="5555003" y="2870989"/>
              <a:ext cx="617392" cy="613005"/>
            </a:xfrm>
            <a:custGeom>
              <a:avLst/>
              <a:gdLst>
                <a:gd name="connsiteX0" fmla="*/ 14860 w 545292"/>
                <a:gd name="connsiteY0" fmla="*/ 541208 h 541418"/>
                <a:gd name="connsiteX1" fmla="*/ 534550 w 545292"/>
                <a:gd name="connsiteY1" fmla="*/ 283332 h 541418"/>
                <a:gd name="connsiteX2" fmla="*/ 544778 w 545292"/>
                <a:gd name="connsiteY2" fmla="*/ -210 h 541418"/>
                <a:gd name="connsiteX3" fmla="*/ 544778 w 545292"/>
                <a:gd name="connsiteY3" fmla="*/ -210 h 541418"/>
                <a:gd name="connsiteX4" fmla="*/ 356661 w 545292"/>
                <a:gd name="connsiteY4" fmla="*/ 143562 h 541418"/>
                <a:gd name="connsiteX5" fmla="*/ -514 w 545292"/>
                <a:gd name="connsiteY5" fmla="*/ 353662 h 541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5292" h="541418">
                  <a:moveTo>
                    <a:pt x="14860" y="541208"/>
                  </a:moveTo>
                  <a:cubicBezTo>
                    <a:pt x="14860" y="541208"/>
                    <a:pt x="369367" y="543812"/>
                    <a:pt x="534550" y="283332"/>
                  </a:cubicBezTo>
                  <a:lnTo>
                    <a:pt x="544778" y="-210"/>
                  </a:lnTo>
                  <a:lnTo>
                    <a:pt x="544778" y="-210"/>
                  </a:lnTo>
                  <a:cubicBezTo>
                    <a:pt x="544778" y="-210"/>
                    <a:pt x="471018" y="3793"/>
                    <a:pt x="356661" y="143562"/>
                  </a:cubicBezTo>
                  <a:cubicBezTo>
                    <a:pt x="285251" y="230855"/>
                    <a:pt x="140653" y="363890"/>
                    <a:pt x="-514" y="353662"/>
                  </a:cubicBezTo>
                  <a:close/>
                </a:path>
              </a:pathLst>
            </a:custGeom>
            <a:solidFill>
              <a:srgbClr val="434CC0"/>
            </a:solidFill>
            <a:ln w="6346" cap="flat">
              <a:noFill/>
              <a:prstDash val="solid"/>
              <a:miter/>
            </a:ln>
          </p:spPr>
          <p:txBody>
            <a:bodyPr rtlCol="0" anchor="ctr"/>
            <a:lstStyle/>
            <a:p>
              <a:endParaRPr lang="zh-CN" altLang="en-US"/>
            </a:p>
          </p:txBody>
        </p:sp>
        <p:sp>
          <p:nvSpPr>
            <p:cNvPr id="82" name="任意多边形 42">
              <a:extLst>
                <a:ext uri="{FF2B5EF4-FFF2-40B4-BE49-F238E27FC236}">
                  <a16:creationId xmlns:a16="http://schemas.microsoft.com/office/drawing/2014/main" id="{3B9F7E31-B649-BD39-3121-7E420CD58635}"/>
                </a:ext>
              </a:extLst>
            </p:cNvPr>
            <p:cNvSpPr/>
            <p:nvPr/>
          </p:nvSpPr>
          <p:spPr>
            <a:xfrm>
              <a:off x="4621893" y="1105990"/>
              <a:ext cx="1140920" cy="1998720"/>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FFC545"/>
            </a:solidFill>
            <a:ln w="6346" cap="flat">
              <a:noFill/>
              <a:prstDash val="solid"/>
              <a:miter/>
            </a:ln>
          </p:spPr>
          <p:txBody>
            <a:bodyPr rtlCol="0" anchor="ctr"/>
            <a:lstStyle/>
            <a:p>
              <a:endParaRPr lang="zh-CN" altLang="en-US"/>
            </a:p>
          </p:txBody>
        </p:sp>
        <p:sp>
          <p:nvSpPr>
            <p:cNvPr id="83" name="任意多边形 43">
              <a:extLst>
                <a:ext uri="{FF2B5EF4-FFF2-40B4-BE49-F238E27FC236}">
                  <a16:creationId xmlns:a16="http://schemas.microsoft.com/office/drawing/2014/main" id="{1AC001C5-3085-7E62-11FC-6E7CB19E76B8}"/>
                </a:ext>
              </a:extLst>
            </p:cNvPr>
            <p:cNvSpPr/>
            <p:nvPr/>
          </p:nvSpPr>
          <p:spPr>
            <a:xfrm>
              <a:off x="6447837" y="2687348"/>
              <a:ext cx="549892" cy="723736"/>
            </a:xfrm>
            <a:custGeom>
              <a:avLst/>
              <a:gdLst>
                <a:gd name="connsiteX0" fmla="*/ 104936 w 485675"/>
                <a:gd name="connsiteY0" fmla="*/ 49599 h 639217"/>
                <a:gd name="connsiteX1" fmla="*/ 228188 w 485675"/>
                <a:gd name="connsiteY1" fmla="*/ 397943 h 639217"/>
                <a:gd name="connsiteX2" fmla="*/ 282126 w 485675"/>
                <a:gd name="connsiteY2" fmla="*/ 492733 h 639217"/>
                <a:gd name="connsiteX3" fmla="*/ 305252 w 485675"/>
                <a:gd name="connsiteY3" fmla="*/ 523482 h 639217"/>
                <a:gd name="connsiteX4" fmla="*/ 315544 w 485675"/>
                <a:gd name="connsiteY4" fmla="*/ 533711 h 639217"/>
                <a:gd name="connsiteX5" fmla="*/ 294959 w 485675"/>
                <a:gd name="connsiteY5" fmla="*/ 533711 h 639217"/>
                <a:gd name="connsiteX6" fmla="*/ 310398 w 485675"/>
                <a:gd name="connsiteY6" fmla="*/ 513253 h 639217"/>
                <a:gd name="connsiteX7" fmla="*/ 341210 w 485675"/>
                <a:gd name="connsiteY7" fmla="*/ 456837 h 639217"/>
                <a:gd name="connsiteX8" fmla="*/ 379711 w 485675"/>
                <a:gd name="connsiteY8" fmla="*/ 308300 h 639217"/>
                <a:gd name="connsiteX9" fmla="*/ 484982 w 485675"/>
                <a:gd name="connsiteY9" fmla="*/ 308300 h 639217"/>
                <a:gd name="connsiteX10" fmla="*/ 364272 w 485675"/>
                <a:gd name="connsiteY10" fmla="*/ 613252 h 639217"/>
                <a:gd name="connsiteX11" fmla="*/ 179395 w 485675"/>
                <a:gd name="connsiteY11" fmla="*/ 528692 h 639217"/>
                <a:gd name="connsiteX12" fmla="*/ 53602 w 485675"/>
                <a:gd name="connsiteY12" fmla="*/ 267449 h 639217"/>
                <a:gd name="connsiteX13" fmla="*/ -336 w 485675"/>
                <a:gd name="connsiteY13" fmla="*/ 49726 h 639217"/>
                <a:gd name="connsiteX14" fmla="*/ 104936 w 485675"/>
                <a:gd name="connsiteY14" fmla="*/ 49726 h 63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675" h="639217">
                  <a:moveTo>
                    <a:pt x="104936" y="49599"/>
                  </a:moveTo>
                  <a:cubicBezTo>
                    <a:pt x="115228" y="172533"/>
                    <a:pt x="174312" y="290384"/>
                    <a:pt x="228188" y="397943"/>
                  </a:cubicBezTo>
                  <a:cubicBezTo>
                    <a:pt x="246167" y="431234"/>
                    <a:pt x="261605" y="461983"/>
                    <a:pt x="282126" y="492733"/>
                  </a:cubicBezTo>
                  <a:lnTo>
                    <a:pt x="305252" y="523482"/>
                  </a:lnTo>
                  <a:cubicBezTo>
                    <a:pt x="307793" y="528565"/>
                    <a:pt x="320626" y="536188"/>
                    <a:pt x="315544" y="533711"/>
                  </a:cubicBezTo>
                  <a:cubicBezTo>
                    <a:pt x="297564" y="541398"/>
                    <a:pt x="290131" y="541398"/>
                    <a:pt x="294959" y="533711"/>
                  </a:cubicBezTo>
                  <a:cubicBezTo>
                    <a:pt x="302647" y="528565"/>
                    <a:pt x="305252" y="521004"/>
                    <a:pt x="310398" y="513253"/>
                  </a:cubicBezTo>
                  <a:cubicBezTo>
                    <a:pt x="322596" y="495566"/>
                    <a:pt x="332951" y="476659"/>
                    <a:pt x="341210" y="456837"/>
                  </a:cubicBezTo>
                  <a:cubicBezTo>
                    <a:pt x="364145" y="410497"/>
                    <a:pt x="377233" y="359932"/>
                    <a:pt x="379711" y="308300"/>
                  </a:cubicBezTo>
                  <a:cubicBezTo>
                    <a:pt x="382252" y="241719"/>
                    <a:pt x="490129" y="241719"/>
                    <a:pt x="484982" y="308300"/>
                  </a:cubicBezTo>
                  <a:cubicBezTo>
                    <a:pt x="479837" y="410777"/>
                    <a:pt x="441336" y="541398"/>
                    <a:pt x="364272" y="613252"/>
                  </a:cubicBezTo>
                  <a:cubicBezTo>
                    <a:pt x="287208" y="685107"/>
                    <a:pt x="218149" y="590190"/>
                    <a:pt x="179395" y="528692"/>
                  </a:cubicBezTo>
                  <a:cubicBezTo>
                    <a:pt x="128061" y="446736"/>
                    <a:pt x="92102" y="357156"/>
                    <a:pt x="53602" y="267449"/>
                  </a:cubicBezTo>
                  <a:cubicBezTo>
                    <a:pt x="25185" y="197869"/>
                    <a:pt x="7014" y="124528"/>
                    <a:pt x="-336" y="49726"/>
                  </a:cubicBezTo>
                  <a:cubicBezTo>
                    <a:pt x="-5419" y="-16855"/>
                    <a:pt x="99853" y="-16855"/>
                    <a:pt x="104936" y="49726"/>
                  </a:cubicBezTo>
                  <a:close/>
                </a:path>
              </a:pathLst>
            </a:custGeom>
            <a:solidFill>
              <a:srgbClr val="FED0D6"/>
            </a:solidFill>
            <a:ln w="6346" cap="flat">
              <a:noFill/>
              <a:prstDash val="solid"/>
              <a:miter/>
            </a:ln>
          </p:spPr>
          <p:txBody>
            <a:bodyPr rtlCol="0" anchor="ctr"/>
            <a:lstStyle/>
            <a:p>
              <a:endParaRPr lang="zh-CN" altLang="en-US"/>
            </a:p>
          </p:txBody>
        </p:sp>
        <p:sp>
          <p:nvSpPr>
            <p:cNvPr id="84" name="任意多边形 44">
              <a:extLst>
                <a:ext uri="{FF2B5EF4-FFF2-40B4-BE49-F238E27FC236}">
                  <a16:creationId xmlns:a16="http://schemas.microsoft.com/office/drawing/2014/main" id="{A8CFF68D-5C8B-D6F3-3B86-44335BDCBB4E}"/>
                </a:ext>
              </a:extLst>
            </p:cNvPr>
            <p:cNvSpPr/>
            <p:nvPr/>
          </p:nvSpPr>
          <p:spPr>
            <a:xfrm>
              <a:off x="6450484" y="2821356"/>
              <a:ext cx="595677" cy="626971"/>
            </a:xfrm>
            <a:custGeom>
              <a:avLst/>
              <a:gdLst>
                <a:gd name="connsiteX0" fmla="*/ 391667 w 526113"/>
                <a:gd name="connsiteY0" fmla="*/ 53983 h 553753"/>
                <a:gd name="connsiteX1" fmla="*/ 525083 w 526113"/>
                <a:gd name="connsiteY1" fmla="*/ 215734 h 553753"/>
                <a:gd name="connsiteX2" fmla="*/ 273815 w 526113"/>
                <a:gd name="connsiteY2" fmla="*/ 552135 h 553753"/>
                <a:gd name="connsiteX3" fmla="*/ -514 w 526113"/>
                <a:gd name="connsiteY3" fmla="*/ 53983 h 553753"/>
                <a:gd name="connsiteX4" fmla="*/ 137540 w 526113"/>
                <a:gd name="connsiteY4" fmla="*/ -210 h 553753"/>
                <a:gd name="connsiteX5" fmla="*/ 299037 w 526113"/>
                <a:gd name="connsiteY5" fmla="*/ 364398 h 553753"/>
                <a:gd name="connsiteX6" fmla="*/ 391667 w 526113"/>
                <a:gd name="connsiteY6" fmla="*/ 53983 h 55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113" h="553753">
                  <a:moveTo>
                    <a:pt x="391667" y="53983"/>
                  </a:moveTo>
                  <a:cubicBezTo>
                    <a:pt x="391667" y="53983"/>
                    <a:pt x="535248" y="69357"/>
                    <a:pt x="525083" y="215734"/>
                  </a:cubicBezTo>
                  <a:cubicBezTo>
                    <a:pt x="514791" y="364653"/>
                    <a:pt x="391667" y="572656"/>
                    <a:pt x="273815" y="552135"/>
                  </a:cubicBezTo>
                  <a:cubicBezTo>
                    <a:pt x="155837" y="529009"/>
                    <a:pt x="27630" y="187463"/>
                    <a:pt x="-514" y="53983"/>
                  </a:cubicBezTo>
                  <a:lnTo>
                    <a:pt x="137540" y="-210"/>
                  </a:lnTo>
                  <a:cubicBezTo>
                    <a:pt x="137540" y="-210"/>
                    <a:pt x="275975" y="356711"/>
                    <a:pt x="299037" y="364398"/>
                  </a:cubicBezTo>
                  <a:lnTo>
                    <a:pt x="391667" y="53983"/>
                  </a:lnTo>
                  <a:close/>
                </a:path>
              </a:pathLst>
            </a:custGeom>
            <a:solidFill>
              <a:srgbClr val="434CC0"/>
            </a:solidFill>
            <a:ln w="6346" cap="flat">
              <a:noFill/>
              <a:prstDash val="solid"/>
              <a:miter/>
            </a:ln>
          </p:spPr>
          <p:txBody>
            <a:bodyPr rtlCol="0" anchor="ctr"/>
            <a:lstStyle/>
            <a:p>
              <a:endParaRPr lang="zh-CN" altLang="en-US"/>
            </a:p>
          </p:txBody>
        </p:sp>
        <p:sp>
          <p:nvSpPr>
            <p:cNvPr id="85" name="任意多边形 45">
              <a:extLst>
                <a:ext uri="{FF2B5EF4-FFF2-40B4-BE49-F238E27FC236}">
                  <a16:creationId xmlns:a16="http://schemas.microsoft.com/office/drawing/2014/main" id="{30B1061A-9B9D-7225-2913-DE5598EA1CE9}"/>
                </a:ext>
              </a:extLst>
            </p:cNvPr>
            <p:cNvSpPr/>
            <p:nvPr/>
          </p:nvSpPr>
          <p:spPr>
            <a:xfrm>
              <a:off x="8263601" y="2004798"/>
              <a:ext cx="273214" cy="237195"/>
            </a:xfrm>
            <a:custGeom>
              <a:avLst/>
              <a:gdLst>
                <a:gd name="connsiteX0" fmla="*/ -513 w 241308"/>
                <a:gd name="connsiteY0" fmla="*/ 130082 h 209495"/>
                <a:gd name="connsiteX1" fmla="*/ 215813 w 241308"/>
                <a:gd name="connsiteY1" fmla="*/ 56513 h 209495"/>
                <a:gd name="connsiteX2" fmla="*/ 122294 w 241308"/>
                <a:gd name="connsiteY2" fmla="*/ 208608 h 209495"/>
                <a:gd name="connsiteX3" fmla="*/ 21470 w 241308"/>
                <a:gd name="connsiteY3" fmla="*/ 130972 h 209495"/>
              </a:gdLst>
              <a:ahLst/>
              <a:cxnLst>
                <a:cxn ang="0">
                  <a:pos x="connsiteX0" y="connsiteY0"/>
                </a:cxn>
                <a:cxn ang="0">
                  <a:pos x="connsiteX1" y="connsiteY1"/>
                </a:cxn>
                <a:cxn ang="0">
                  <a:pos x="connsiteX2" y="connsiteY2"/>
                </a:cxn>
                <a:cxn ang="0">
                  <a:pos x="connsiteX3" y="connsiteY3"/>
                </a:cxn>
              </a:cxnLst>
              <a:rect l="l" t="t" r="r" b="b"/>
              <a:pathLst>
                <a:path w="241308" h="209495">
                  <a:moveTo>
                    <a:pt x="-513" y="130082"/>
                  </a:moveTo>
                  <a:cubicBezTo>
                    <a:pt x="-1084" y="1177"/>
                    <a:pt x="150439" y="-48188"/>
                    <a:pt x="215813" y="56513"/>
                  </a:cubicBezTo>
                  <a:cubicBezTo>
                    <a:pt x="281187" y="161213"/>
                    <a:pt x="207046" y="216104"/>
                    <a:pt x="122294" y="208608"/>
                  </a:cubicBezTo>
                  <a:cubicBezTo>
                    <a:pt x="37543" y="201111"/>
                    <a:pt x="21470" y="130972"/>
                    <a:pt x="21470" y="130972"/>
                  </a:cubicBezTo>
                  <a:close/>
                </a:path>
              </a:pathLst>
            </a:custGeom>
            <a:solidFill>
              <a:srgbClr val="981D04"/>
            </a:solidFill>
            <a:ln w="6346" cap="flat">
              <a:noFill/>
              <a:prstDash val="solid"/>
              <a:miter/>
            </a:ln>
          </p:spPr>
          <p:txBody>
            <a:bodyPr rtlCol="0" anchor="ctr"/>
            <a:lstStyle/>
            <a:p>
              <a:endParaRPr lang="zh-CN" altLang="en-US"/>
            </a:p>
          </p:txBody>
        </p:sp>
        <p:sp>
          <p:nvSpPr>
            <p:cNvPr id="86" name="任意多边形 46">
              <a:extLst>
                <a:ext uri="{FF2B5EF4-FFF2-40B4-BE49-F238E27FC236}">
                  <a16:creationId xmlns:a16="http://schemas.microsoft.com/office/drawing/2014/main" id="{C857158C-D64C-5665-7DBA-B355ACE85E87}"/>
                </a:ext>
              </a:extLst>
            </p:cNvPr>
            <p:cNvSpPr/>
            <p:nvPr/>
          </p:nvSpPr>
          <p:spPr>
            <a:xfrm>
              <a:off x="8197929" y="2105151"/>
              <a:ext cx="197911" cy="239513"/>
            </a:xfrm>
            <a:custGeom>
              <a:avLst/>
              <a:gdLst>
                <a:gd name="connsiteX0" fmla="*/ -514 w 174799"/>
                <a:gd name="connsiteY0" fmla="*/ 24739 h 211542"/>
                <a:gd name="connsiteX1" fmla="*/ 166701 w 174799"/>
                <a:gd name="connsiteY1" fmla="*/ 92020 h 211542"/>
                <a:gd name="connsiteX2" fmla="*/ 160348 w 174799"/>
                <a:gd name="connsiteY2" fmla="*/ 211332 h 211542"/>
              </a:gdLst>
              <a:ahLst/>
              <a:cxnLst>
                <a:cxn ang="0">
                  <a:pos x="connsiteX0" y="connsiteY0"/>
                </a:cxn>
                <a:cxn ang="0">
                  <a:pos x="connsiteX1" y="connsiteY1"/>
                </a:cxn>
                <a:cxn ang="0">
                  <a:pos x="connsiteX2" y="connsiteY2"/>
                </a:cxn>
              </a:cxnLst>
              <a:rect l="l" t="t" r="r" b="b"/>
              <a:pathLst>
                <a:path w="174799" h="211542">
                  <a:moveTo>
                    <a:pt x="-514" y="24739"/>
                  </a:moveTo>
                  <a:cubicBezTo>
                    <a:pt x="35890" y="-41461"/>
                    <a:pt x="146498" y="39161"/>
                    <a:pt x="166701" y="92020"/>
                  </a:cubicBezTo>
                  <a:cubicBezTo>
                    <a:pt x="186904" y="144878"/>
                    <a:pt x="160348" y="211332"/>
                    <a:pt x="160348" y="211332"/>
                  </a:cubicBezTo>
                  <a:close/>
                </a:path>
              </a:pathLst>
            </a:custGeom>
            <a:solidFill>
              <a:srgbClr val="F93F57"/>
            </a:solidFill>
            <a:ln w="6346" cap="flat">
              <a:noFill/>
              <a:prstDash val="solid"/>
              <a:miter/>
            </a:ln>
          </p:spPr>
          <p:txBody>
            <a:bodyPr rtlCol="0" anchor="ctr"/>
            <a:lstStyle/>
            <a:p>
              <a:endParaRPr lang="zh-CN" altLang="en-US"/>
            </a:p>
          </p:txBody>
        </p:sp>
        <p:sp>
          <p:nvSpPr>
            <p:cNvPr id="87" name="任意多边形 47">
              <a:extLst>
                <a:ext uri="{FF2B5EF4-FFF2-40B4-BE49-F238E27FC236}">
                  <a16:creationId xmlns:a16="http://schemas.microsoft.com/office/drawing/2014/main" id="{A893DF14-DF62-9A8A-E567-2B596F3D1D24}"/>
                </a:ext>
              </a:extLst>
            </p:cNvPr>
            <p:cNvSpPr/>
            <p:nvPr/>
          </p:nvSpPr>
          <p:spPr>
            <a:xfrm>
              <a:off x="7774250" y="2086348"/>
              <a:ext cx="652587" cy="579300"/>
            </a:xfrm>
            <a:custGeom>
              <a:avLst/>
              <a:gdLst>
                <a:gd name="connsiteX0" fmla="*/ -514 w 576377"/>
                <a:gd name="connsiteY0" fmla="*/ 291788 h 511649"/>
                <a:gd name="connsiteX1" fmla="*/ 355898 w 576377"/>
                <a:gd name="connsiteY1" fmla="*/ 7992 h 511649"/>
                <a:gd name="connsiteX2" fmla="*/ 556976 w 576377"/>
                <a:gd name="connsiteY2" fmla="*/ 175842 h 511649"/>
                <a:gd name="connsiteX3" fmla="*/ 473114 w 576377"/>
                <a:gd name="connsiteY3" fmla="*/ 482701 h 511649"/>
                <a:gd name="connsiteX4" fmla="*/ -514 w 576377"/>
                <a:gd name="connsiteY4" fmla="*/ 291661 h 5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377" h="511649">
                  <a:moveTo>
                    <a:pt x="-514" y="291788"/>
                  </a:moveTo>
                  <a:cubicBezTo>
                    <a:pt x="10667" y="33341"/>
                    <a:pt x="203739" y="-24473"/>
                    <a:pt x="355898" y="7992"/>
                  </a:cubicBezTo>
                  <a:cubicBezTo>
                    <a:pt x="508056" y="40456"/>
                    <a:pt x="556976" y="175842"/>
                    <a:pt x="556976" y="175842"/>
                  </a:cubicBezTo>
                  <a:cubicBezTo>
                    <a:pt x="556976" y="175842"/>
                    <a:pt x="635247" y="359195"/>
                    <a:pt x="473114" y="482701"/>
                  </a:cubicBezTo>
                  <a:cubicBezTo>
                    <a:pt x="310981" y="606206"/>
                    <a:pt x="-514" y="291661"/>
                    <a:pt x="-514" y="291661"/>
                  </a:cubicBezTo>
                  <a:close/>
                </a:path>
              </a:pathLst>
            </a:custGeom>
            <a:solidFill>
              <a:srgbClr val="981D04"/>
            </a:solidFill>
            <a:ln w="6346" cap="flat">
              <a:noFill/>
              <a:prstDash val="solid"/>
              <a:miter/>
            </a:ln>
          </p:spPr>
          <p:txBody>
            <a:bodyPr rtlCol="0" anchor="ctr"/>
            <a:lstStyle/>
            <a:p>
              <a:endParaRPr lang="zh-CN" altLang="en-US"/>
            </a:p>
          </p:txBody>
        </p:sp>
        <p:sp>
          <p:nvSpPr>
            <p:cNvPr id="88" name="任意多边形 48">
              <a:extLst>
                <a:ext uri="{FF2B5EF4-FFF2-40B4-BE49-F238E27FC236}">
                  <a16:creationId xmlns:a16="http://schemas.microsoft.com/office/drawing/2014/main" id="{12517CE4-0411-C9E1-0DF4-61C6BCB84B7F}"/>
                </a:ext>
              </a:extLst>
            </p:cNvPr>
            <p:cNvSpPr/>
            <p:nvPr/>
          </p:nvSpPr>
          <p:spPr>
            <a:xfrm>
              <a:off x="7926027" y="2682959"/>
              <a:ext cx="248884" cy="276290"/>
            </a:xfrm>
            <a:custGeom>
              <a:avLst/>
              <a:gdLst>
                <a:gd name="connsiteX0" fmla="*/ 109395 w 219819"/>
                <a:gd name="connsiteY0" fmla="*/ 243815 h 244025"/>
                <a:gd name="connsiteX1" fmla="*/ 109395 w 219819"/>
                <a:gd name="connsiteY1" fmla="*/ 243815 h 244025"/>
                <a:gd name="connsiteX2" fmla="*/ -514 w 219819"/>
                <a:gd name="connsiteY2" fmla="*/ 160906 h 244025"/>
                <a:gd name="connsiteX3" fmla="*/ -514 w 219819"/>
                <a:gd name="connsiteY3" fmla="*/ -210 h 244025"/>
                <a:gd name="connsiteX4" fmla="*/ 219305 w 219819"/>
                <a:gd name="connsiteY4" fmla="*/ -210 h 244025"/>
                <a:gd name="connsiteX5" fmla="*/ 219305 w 219819"/>
                <a:gd name="connsiteY5" fmla="*/ 160017 h 244025"/>
                <a:gd name="connsiteX6" fmla="*/ 110602 w 219819"/>
                <a:gd name="connsiteY6" fmla="*/ 243815 h 24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819" h="244025">
                  <a:moveTo>
                    <a:pt x="109395" y="243815"/>
                  </a:moveTo>
                  <a:lnTo>
                    <a:pt x="109395" y="243815"/>
                  </a:lnTo>
                  <a:cubicBezTo>
                    <a:pt x="48976" y="243815"/>
                    <a:pt x="-197" y="206967"/>
                    <a:pt x="-514" y="160906"/>
                  </a:cubicBezTo>
                  <a:lnTo>
                    <a:pt x="-514" y="-210"/>
                  </a:lnTo>
                  <a:lnTo>
                    <a:pt x="219305" y="-210"/>
                  </a:lnTo>
                  <a:lnTo>
                    <a:pt x="219305" y="160017"/>
                  </a:lnTo>
                  <a:cubicBezTo>
                    <a:pt x="219305" y="206014"/>
                    <a:pt x="170958" y="243498"/>
                    <a:pt x="110602" y="243815"/>
                  </a:cubicBezTo>
                  <a:close/>
                </a:path>
              </a:pathLst>
            </a:custGeom>
            <a:solidFill>
              <a:srgbClr val="FF93B1"/>
            </a:solidFill>
            <a:ln w="6346" cap="flat">
              <a:noFill/>
              <a:prstDash val="solid"/>
              <a:miter/>
            </a:ln>
          </p:spPr>
          <p:txBody>
            <a:bodyPr rtlCol="0" anchor="ctr"/>
            <a:lstStyle/>
            <a:p>
              <a:endParaRPr lang="zh-CN" altLang="en-US"/>
            </a:p>
          </p:txBody>
        </p:sp>
        <p:sp>
          <p:nvSpPr>
            <p:cNvPr id="89" name="任意多边形 49">
              <a:extLst>
                <a:ext uri="{FF2B5EF4-FFF2-40B4-BE49-F238E27FC236}">
                  <a16:creationId xmlns:a16="http://schemas.microsoft.com/office/drawing/2014/main" id="{D36FA85E-6ADE-B1DD-914D-96C5F580A56A}"/>
                </a:ext>
              </a:extLst>
            </p:cNvPr>
            <p:cNvSpPr/>
            <p:nvPr/>
          </p:nvSpPr>
          <p:spPr>
            <a:xfrm>
              <a:off x="7730087" y="2415564"/>
              <a:ext cx="132524" cy="169000"/>
            </a:xfrm>
            <a:custGeom>
              <a:avLst/>
              <a:gdLst>
                <a:gd name="connsiteX0" fmla="*/ 93764 w 117048"/>
                <a:gd name="connsiteY0" fmla="*/ 41043 h 149264"/>
                <a:gd name="connsiteX1" fmla="*/ 1072 w 117048"/>
                <a:gd name="connsiteY1" fmla="*/ 45490 h 149264"/>
                <a:gd name="connsiteX2" fmla="*/ 95670 w 117048"/>
                <a:gd name="connsiteY2" fmla="*/ 138183 h 149264"/>
                <a:gd name="connsiteX3" fmla="*/ 93764 w 117048"/>
                <a:gd name="connsiteY3" fmla="*/ 41043 h 149264"/>
              </a:gdLst>
              <a:ahLst/>
              <a:cxnLst>
                <a:cxn ang="0">
                  <a:pos x="connsiteX0" y="connsiteY0"/>
                </a:cxn>
                <a:cxn ang="0">
                  <a:pos x="connsiteX1" y="connsiteY1"/>
                </a:cxn>
                <a:cxn ang="0">
                  <a:pos x="connsiteX2" y="connsiteY2"/>
                </a:cxn>
                <a:cxn ang="0">
                  <a:pos x="connsiteX3" y="connsiteY3"/>
                </a:cxn>
              </a:cxnLst>
              <a:rect l="l" t="t" r="r" b="b"/>
              <a:pathLst>
                <a:path w="117048" h="149264">
                  <a:moveTo>
                    <a:pt x="93764" y="41043"/>
                  </a:moveTo>
                  <a:cubicBezTo>
                    <a:pt x="64540" y="-28842"/>
                    <a:pt x="9394" y="2098"/>
                    <a:pt x="1072" y="45490"/>
                  </a:cubicBezTo>
                  <a:cubicBezTo>
                    <a:pt x="-10936" y="108450"/>
                    <a:pt x="47640" y="175857"/>
                    <a:pt x="95670" y="138183"/>
                  </a:cubicBezTo>
                  <a:cubicBezTo>
                    <a:pt x="143700" y="100509"/>
                    <a:pt x="93764" y="41043"/>
                    <a:pt x="93764" y="41043"/>
                  </a:cubicBezTo>
                  <a:close/>
                </a:path>
              </a:pathLst>
            </a:custGeom>
            <a:solidFill>
              <a:srgbClr val="FED0D6"/>
            </a:solidFill>
            <a:ln w="6346" cap="flat">
              <a:noFill/>
              <a:prstDash val="solid"/>
              <a:miter/>
            </a:ln>
          </p:spPr>
          <p:txBody>
            <a:bodyPr rtlCol="0" anchor="ctr"/>
            <a:lstStyle/>
            <a:p>
              <a:endParaRPr lang="zh-CN" altLang="en-US"/>
            </a:p>
          </p:txBody>
        </p:sp>
        <p:sp>
          <p:nvSpPr>
            <p:cNvPr id="90" name="任意多边形 50">
              <a:extLst>
                <a:ext uri="{FF2B5EF4-FFF2-40B4-BE49-F238E27FC236}">
                  <a16:creationId xmlns:a16="http://schemas.microsoft.com/office/drawing/2014/main" id="{C7752897-C4FC-202F-B546-468869216E6E}"/>
                </a:ext>
              </a:extLst>
            </p:cNvPr>
            <p:cNvSpPr/>
            <p:nvPr/>
          </p:nvSpPr>
          <p:spPr>
            <a:xfrm>
              <a:off x="8248927" y="2523567"/>
              <a:ext cx="148402" cy="155616"/>
            </a:xfrm>
            <a:custGeom>
              <a:avLst/>
              <a:gdLst>
                <a:gd name="connsiteX0" fmla="*/ 44850 w 131071"/>
                <a:gd name="connsiteY0" fmla="*/ 23606 h 137443"/>
                <a:gd name="connsiteX1" fmla="*/ 129474 w 131071"/>
                <a:gd name="connsiteY1" fmla="*/ 61725 h 137443"/>
                <a:gd name="connsiteX2" fmla="*/ 7430 w 131071"/>
                <a:gd name="connsiteY2" fmla="*/ 113122 h 137443"/>
                <a:gd name="connsiteX3" fmla="*/ 44850 w 131071"/>
                <a:gd name="connsiteY3" fmla="*/ 23479 h 137443"/>
              </a:gdLst>
              <a:ahLst/>
              <a:cxnLst>
                <a:cxn ang="0">
                  <a:pos x="connsiteX0" y="connsiteY0"/>
                </a:cxn>
                <a:cxn ang="0">
                  <a:pos x="connsiteX1" y="connsiteY1"/>
                </a:cxn>
                <a:cxn ang="0">
                  <a:pos x="connsiteX2" y="connsiteY2"/>
                </a:cxn>
                <a:cxn ang="0">
                  <a:pos x="connsiteX3" y="connsiteY3"/>
                </a:cxn>
              </a:cxnLst>
              <a:rect l="l" t="t" r="r" b="b"/>
              <a:pathLst>
                <a:path w="131071" h="137443">
                  <a:moveTo>
                    <a:pt x="44850" y="23606"/>
                  </a:moveTo>
                  <a:cubicBezTo>
                    <a:pt x="97708" y="-30396"/>
                    <a:pt x="137734" y="18397"/>
                    <a:pt x="129474" y="61725"/>
                  </a:cubicBezTo>
                  <a:cubicBezTo>
                    <a:pt x="117466" y="124685"/>
                    <a:pt x="38115" y="165790"/>
                    <a:pt x="7430" y="113122"/>
                  </a:cubicBezTo>
                  <a:cubicBezTo>
                    <a:pt x="-23256" y="60455"/>
                    <a:pt x="44850" y="23479"/>
                    <a:pt x="44850" y="23479"/>
                  </a:cubicBezTo>
                  <a:close/>
                </a:path>
              </a:pathLst>
            </a:custGeom>
            <a:solidFill>
              <a:srgbClr val="FED0D6"/>
            </a:solidFill>
            <a:ln w="6346" cap="flat">
              <a:noFill/>
              <a:prstDash val="solid"/>
              <a:miter/>
            </a:ln>
          </p:spPr>
          <p:txBody>
            <a:bodyPr rtlCol="0" anchor="ctr"/>
            <a:lstStyle/>
            <a:p>
              <a:endParaRPr lang="zh-CN" altLang="en-US"/>
            </a:p>
          </p:txBody>
        </p:sp>
        <p:sp>
          <p:nvSpPr>
            <p:cNvPr id="91" name="任意多边形 51">
              <a:extLst>
                <a:ext uri="{FF2B5EF4-FFF2-40B4-BE49-F238E27FC236}">
                  <a16:creationId xmlns:a16="http://schemas.microsoft.com/office/drawing/2014/main" id="{AC6C6A38-05B8-1642-FE1A-C6849659E383}"/>
                </a:ext>
              </a:extLst>
            </p:cNvPr>
            <p:cNvSpPr/>
            <p:nvPr/>
          </p:nvSpPr>
          <p:spPr>
            <a:xfrm>
              <a:off x="7809723" y="2240589"/>
              <a:ext cx="532212" cy="546181"/>
            </a:xfrm>
            <a:custGeom>
              <a:avLst/>
              <a:gdLst>
                <a:gd name="connsiteX0" fmla="*/ 180923 w 470060"/>
                <a:gd name="connsiteY0" fmla="*/ 478301 h 482397"/>
                <a:gd name="connsiteX1" fmla="*/ 29463 w 470060"/>
                <a:gd name="connsiteY1" fmla="*/ 77479 h 482397"/>
                <a:gd name="connsiteX2" fmla="*/ 469484 w 470060"/>
                <a:gd name="connsiteY2" fmla="*/ 161341 h 482397"/>
                <a:gd name="connsiteX3" fmla="*/ 180923 w 470060"/>
                <a:gd name="connsiteY3" fmla="*/ 478301 h 482397"/>
              </a:gdLst>
              <a:ahLst/>
              <a:cxnLst>
                <a:cxn ang="0">
                  <a:pos x="connsiteX0" y="connsiteY0"/>
                </a:cxn>
                <a:cxn ang="0">
                  <a:pos x="connsiteX1" y="connsiteY1"/>
                </a:cxn>
                <a:cxn ang="0">
                  <a:pos x="connsiteX2" y="connsiteY2"/>
                </a:cxn>
                <a:cxn ang="0">
                  <a:pos x="connsiteX3" y="connsiteY3"/>
                </a:cxn>
              </a:cxnLst>
              <a:rect l="l" t="t" r="r" b="b"/>
              <a:pathLst>
                <a:path w="470060" h="482397">
                  <a:moveTo>
                    <a:pt x="180923" y="478301"/>
                  </a:moveTo>
                  <a:cubicBezTo>
                    <a:pt x="19045" y="447488"/>
                    <a:pt x="-42962" y="252065"/>
                    <a:pt x="29463" y="77479"/>
                  </a:cubicBezTo>
                  <a:cubicBezTo>
                    <a:pt x="89247" y="-66293"/>
                    <a:pt x="466880" y="5688"/>
                    <a:pt x="469484" y="161341"/>
                  </a:cubicBezTo>
                  <a:cubicBezTo>
                    <a:pt x="472788" y="350348"/>
                    <a:pt x="342929" y="509304"/>
                    <a:pt x="180923" y="478301"/>
                  </a:cubicBezTo>
                  <a:close/>
                </a:path>
              </a:pathLst>
            </a:custGeom>
            <a:solidFill>
              <a:srgbClr val="FED0D6"/>
            </a:solidFill>
            <a:ln w="6346" cap="flat">
              <a:noFill/>
              <a:prstDash val="solid"/>
              <a:miter/>
            </a:ln>
          </p:spPr>
          <p:txBody>
            <a:bodyPr rtlCol="0" anchor="ctr"/>
            <a:lstStyle/>
            <a:p>
              <a:endParaRPr lang="zh-CN" altLang="en-US"/>
            </a:p>
          </p:txBody>
        </p:sp>
        <p:sp>
          <p:nvSpPr>
            <p:cNvPr id="92" name="任意多边形 52">
              <a:extLst>
                <a:ext uri="{FF2B5EF4-FFF2-40B4-BE49-F238E27FC236}">
                  <a16:creationId xmlns:a16="http://schemas.microsoft.com/office/drawing/2014/main" id="{4BD83F1E-B533-3A7B-EE9F-BCA7B1649B87}"/>
                </a:ext>
              </a:extLst>
            </p:cNvPr>
            <p:cNvSpPr/>
            <p:nvPr/>
          </p:nvSpPr>
          <p:spPr>
            <a:xfrm>
              <a:off x="7789201" y="2165401"/>
              <a:ext cx="375782" cy="560573"/>
            </a:xfrm>
            <a:custGeom>
              <a:avLst/>
              <a:gdLst>
                <a:gd name="connsiteX0" fmla="*/ 331384 w 331898"/>
                <a:gd name="connsiteY0" fmla="*/ 36709 h 495109"/>
                <a:gd name="connsiteX1" fmla="*/ 61184 w 331898"/>
                <a:gd name="connsiteY1" fmla="*/ 494899 h 495109"/>
                <a:gd name="connsiteX2" fmla="*/ 61184 w 331898"/>
                <a:gd name="connsiteY2" fmla="*/ 494899 h 495109"/>
                <a:gd name="connsiteX3" fmla="*/ 42633 w 331898"/>
                <a:gd name="connsiteY3" fmla="*/ 73430 h 495109"/>
                <a:gd name="connsiteX4" fmla="*/ 331384 w 331898"/>
                <a:gd name="connsiteY4" fmla="*/ 36709 h 4951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898" h="495109">
                  <a:moveTo>
                    <a:pt x="331384" y="36709"/>
                  </a:moveTo>
                  <a:cubicBezTo>
                    <a:pt x="45491" y="74002"/>
                    <a:pt x="40409" y="335308"/>
                    <a:pt x="61184" y="494899"/>
                  </a:cubicBezTo>
                  <a:lnTo>
                    <a:pt x="61184" y="494899"/>
                  </a:lnTo>
                  <a:cubicBezTo>
                    <a:pt x="61184" y="494899"/>
                    <a:pt x="-64292" y="213962"/>
                    <a:pt x="42633" y="73430"/>
                  </a:cubicBezTo>
                  <a:cubicBezTo>
                    <a:pt x="149556" y="-67102"/>
                    <a:pt x="331384" y="36709"/>
                    <a:pt x="331384" y="36709"/>
                  </a:cubicBezTo>
                  <a:close/>
                </a:path>
              </a:pathLst>
            </a:custGeom>
            <a:solidFill>
              <a:srgbClr val="981D04"/>
            </a:solidFill>
            <a:ln w="6346" cap="flat">
              <a:noFill/>
              <a:prstDash val="solid"/>
              <a:miter/>
            </a:ln>
          </p:spPr>
          <p:txBody>
            <a:bodyPr rtlCol="0" anchor="ctr"/>
            <a:lstStyle/>
            <a:p>
              <a:endParaRPr lang="zh-CN" altLang="en-US"/>
            </a:p>
          </p:txBody>
        </p:sp>
        <p:sp>
          <p:nvSpPr>
            <p:cNvPr id="93" name="任意多边形 53">
              <a:extLst>
                <a:ext uri="{FF2B5EF4-FFF2-40B4-BE49-F238E27FC236}">
                  <a16:creationId xmlns:a16="http://schemas.microsoft.com/office/drawing/2014/main" id="{B8B34CFB-6130-3268-B789-C5EC6C4D26B5}"/>
                </a:ext>
              </a:extLst>
            </p:cNvPr>
            <p:cNvSpPr/>
            <p:nvPr/>
          </p:nvSpPr>
          <p:spPr>
            <a:xfrm>
              <a:off x="7703109" y="2838260"/>
              <a:ext cx="683282" cy="765140"/>
            </a:xfrm>
            <a:custGeom>
              <a:avLst/>
              <a:gdLst>
                <a:gd name="connsiteX0" fmla="*/ 602973 w 603487"/>
                <a:gd name="connsiteY0" fmla="*/ 61225 h 675786"/>
                <a:gd name="connsiteX1" fmla="*/ 415491 w 603487"/>
                <a:gd name="connsiteY1" fmla="*/ -210 h 675786"/>
                <a:gd name="connsiteX2" fmla="*/ 302532 w 603487"/>
                <a:gd name="connsiteY2" fmla="*/ 86828 h 675786"/>
                <a:gd name="connsiteX3" fmla="*/ 299927 w 603487"/>
                <a:gd name="connsiteY3" fmla="*/ 86828 h 675786"/>
                <a:gd name="connsiteX4" fmla="*/ 197260 w 603487"/>
                <a:gd name="connsiteY4" fmla="*/ -210 h 675786"/>
                <a:gd name="connsiteX5" fmla="*/ -514 w 603487"/>
                <a:gd name="connsiteY5" fmla="*/ 61225 h 675786"/>
                <a:gd name="connsiteX6" fmla="*/ 24898 w 603487"/>
                <a:gd name="connsiteY6" fmla="*/ 268529 h 675786"/>
                <a:gd name="connsiteX7" fmla="*/ 50311 w 603487"/>
                <a:gd name="connsiteY7" fmla="*/ 406774 h 675786"/>
                <a:gd name="connsiteX8" fmla="*/ 88811 w 603487"/>
                <a:gd name="connsiteY8" fmla="*/ 675577 h 675786"/>
                <a:gd name="connsiteX9" fmla="*/ 512504 w 603487"/>
                <a:gd name="connsiteY9" fmla="*/ 675577 h 675786"/>
                <a:gd name="connsiteX10" fmla="*/ 553609 w 603487"/>
                <a:gd name="connsiteY10" fmla="*/ 406774 h 675786"/>
                <a:gd name="connsiteX11" fmla="*/ 576735 w 603487"/>
                <a:gd name="connsiteY11" fmla="*/ 268529 h 675786"/>
                <a:gd name="connsiteX12" fmla="*/ 602147 w 603487"/>
                <a:gd name="connsiteY12" fmla="*/ 61225 h 675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3487" h="675786">
                  <a:moveTo>
                    <a:pt x="602973" y="61225"/>
                  </a:moveTo>
                  <a:lnTo>
                    <a:pt x="415491" y="-210"/>
                  </a:lnTo>
                  <a:cubicBezTo>
                    <a:pt x="400116" y="66308"/>
                    <a:pt x="315365" y="86828"/>
                    <a:pt x="302532" y="86828"/>
                  </a:cubicBezTo>
                  <a:lnTo>
                    <a:pt x="299927" y="86828"/>
                  </a:lnTo>
                  <a:cubicBezTo>
                    <a:pt x="287220" y="86828"/>
                    <a:pt x="212634" y="66308"/>
                    <a:pt x="197260" y="-210"/>
                  </a:cubicBezTo>
                  <a:lnTo>
                    <a:pt x="-514" y="61225"/>
                  </a:lnTo>
                  <a:lnTo>
                    <a:pt x="24898" y="268529"/>
                  </a:lnTo>
                  <a:cubicBezTo>
                    <a:pt x="24898" y="268529"/>
                    <a:pt x="9460" y="347880"/>
                    <a:pt x="50311" y="406774"/>
                  </a:cubicBezTo>
                  <a:cubicBezTo>
                    <a:pt x="88811" y="463063"/>
                    <a:pt x="88811" y="675577"/>
                    <a:pt x="88811" y="675577"/>
                  </a:cubicBezTo>
                  <a:lnTo>
                    <a:pt x="512504" y="675577"/>
                  </a:lnTo>
                  <a:cubicBezTo>
                    <a:pt x="512504" y="675577"/>
                    <a:pt x="512504" y="463063"/>
                    <a:pt x="553609" y="406774"/>
                  </a:cubicBezTo>
                  <a:cubicBezTo>
                    <a:pt x="592109" y="347880"/>
                    <a:pt x="576735" y="268529"/>
                    <a:pt x="576735" y="268529"/>
                  </a:cubicBezTo>
                  <a:lnTo>
                    <a:pt x="602147" y="61225"/>
                  </a:lnTo>
                  <a:close/>
                </a:path>
              </a:pathLst>
            </a:custGeom>
            <a:solidFill>
              <a:srgbClr val="F93F57"/>
            </a:solidFill>
            <a:ln w="6346" cap="flat">
              <a:noFill/>
              <a:prstDash val="solid"/>
              <a:miter/>
            </a:ln>
          </p:spPr>
          <p:txBody>
            <a:bodyPr rtlCol="0" anchor="ctr"/>
            <a:lstStyle/>
            <a:p>
              <a:endParaRPr lang="zh-CN" altLang="en-US"/>
            </a:p>
          </p:txBody>
        </p:sp>
        <p:sp>
          <p:nvSpPr>
            <p:cNvPr id="94" name="任意多边形 54">
              <a:extLst>
                <a:ext uri="{FF2B5EF4-FFF2-40B4-BE49-F238E27FC236}">
                  <a16:creationId xmlns:a16="http://schemas.microsoft.com/office/drawing/2014/main" id="{C505E868-59F2-C875-4614-120E67D8F33A}"/>
                </a:ext>
              </a:extLst>
            </p:cNvPr>
            <p:cNvSpPr/>
            <p:nvPr/>
          </p:nvSpPr>
          <p:spPr>
            <a:xfrm>
              <a:off x="7668222" y="2246131"/>
              <a:ext cx="203061" cy="147805"/>
            </a:xfrm>
            <a:custGeom>
              <a:avLst/>
              <a:gdLst>
                <a:gd name="connsiteX0" fmla="*/ -514 w 179347"/>
                <a:gd name="connsiteY0" fmla="*/ 71186 h 130544"/>
                <a:gd name="connsiteX1" fmla="*/ 171784 w 179347"/>
                <a:gd name="connsiteY1" fmla="*/ 4287 h 130544"/>
                <a:gd name="connsiteX2" fmla="*/ 43195 w 179347"/>
                <a:gd name="connsiteY2" fmla="*/ 130334 h 130544"/>
                <a:gd name="connsiteX3" fmla="*/ -514 w 179347"/>
                <a:gd name="connsiteY3" fmla="*/ 71186 h 130544"/>
              </a:gdLst>
              <a:ahLst/>
              <a:cxnLst>
                <a:cxn ang="0">
                  <a:pos x="connsiteX0" y="connsiteY0"/>
                </a:cxn>
                <a:cxn ang="0">
                  <a:pos x="connsiteX1" y="connsiteY1"/>
                </a:cxn>
                <a:cxn ang="0">
                  <a:pos x="connsiteX2" y="connsiteY2"/>
                </a:cxn>
                <a:cxn ang="0">
                  <a:pos x="connsiteX3" y="connsiteY3"/>
                </a:cxn>
              </a:cxnLst>
              <a:rect l="l" t="t" r="r" b="b"/>
              <a:pathLst>
                <a:path w="179347" h="130544">
                  <a:moveTo>
                    <a:pt x="-514" y="71186"/>
                  </a:moveTo>
                  <a:cubicBezTo>
                    <a:pt x="-514" y="71186"/>
                    <a:pt x="146053" y="-21379"/>
                    <a:pt x="171784" y="4287"/>
                  </a:cubicBezTo>
                  <a:cubicBezTo>
                    <a:pt x="197196" y="27477"/>
                    <a:pt x="153804" y="73728"/>
                    <a:pt x="43195" y="130334"/>
                  </a:cubicBezTo>
                  <a:lnTo>
                    <a:pt x="-514" y="71186"/>
                  </a:lnTo>
                  <a:close/>
                </a:path>
              </a:pathLst>
            </a:custGeom>
            <a:solidFill>
              <a:srgbClr val="FED0D6"/>
            </a:solidFill>
            <a:ln w="6346" cap="flat">
              <a:noFill/>
              <a:prstDash val="solid"/>
              <a:miter/>
            </a:ln>
          </p:spPr>
          <p:txBody>
            <a:bodyPr rtlCol="0" anchor="ctr"/>
            <a:lstStyle/>
            <a:p>
              <a:endParaRPr lang="zh-CN" altLang="en-US"/>
            </a:p>
          </p:txBody>
        </p:sp>
        <p:sp>
          <p:nvSpPr>
            <p:cNvPr id="95" name="任意多边形 55">
              <a:extLst>
                <a:ext uri="{FF2B5EF4-FFF2-40B4-BE49-F238E27FC236}">
                  <a16:creationId xmlns:a16="http://schemas.microsoft.com/office/drawing/2014/main" id="{FD508D00-E626-A766-1D49-F960D367561E}"/>
                </a:ext>
              </a:extLst>
            </p:cNvPr>
            <p:cNvSpPr/>
            <p:nvPr/>
          </p:nvSpPr>
          <p:spPr>
            <a:xfrm>
              <a:off x="7253337" y="2273163"/>
              <a:ext cx="519616" cy="812040"/>
            </a:xfrm>
            <a:custGeom>
              <a:avLst/>
              <a:gdLst>
                <a:gd name="connsiteX0" fmla="*/ 396859 w 458935"/>
                <a:gd name="connsiteY0" fmla="*/ 560775 h 717209"/>
                <a:gd name="connsiteX1" fmla="*/ 147942 w 458935"/>
                <a:gd name="connsiteY1" fmla="*/ 358426 h 717209"/>
                <a:gd name="connsiteX2" fmla="*/ 458421 w 458935"/>
                <a:gd name="connsiteY2" fmla="*/ 107349 h 717209"/>
                <a:gd name="connsiteX3" fmla="*/ 409628 w 458935"/>
                <a:gd name="connsiteY3" fmla="*/ -210 h 717209"/>
                <a:gd name="connsiteX4" fmla="*/ 4297 w 458935"/>
                <a:gd name="connsiteY4" fmla="*/ 348134 h 717209"/>
                <a:gd name="connsiteX5" fmla="*/ 417253 w 458935"/>
                <a:gd name="connsiteY5" fmla="*/ 716999 h 717209"/>
                <a:gd name="connsiteX6" fmla="*/ 396732 w 458935"/>
                <a:gd name="connsiteY6" fmla="*/ 560775 h 717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8935" h="717209">
                  <a:moveTo>
                    <a:pt x="396859" y="560775"/>
                  </a:moveTo>
                  <a:cubicBezTo>
                    <a:pt x="396859" y="560775"/>
                    <a:pt x="158234" y="399404"/>
                    <a:pt x="147942" y="358426"/>
                  </a:cubicBezTo>
                  <a:cubicBezTo>
                    <a:pt x="137713" y="320307"/>
                    <a:pt x="458421" y="107349"/>
                    <a:pt x="458421" y="107349"/>
                  </a:cubicBezTo>
                  <a:lnTo>
                    <a:pt x="409628" y="-210"/>
                  </a:lnTo>
                  <a:cubicBezTo>
                    <a:pt x="409628" y="-210"/>
                    <a:pt x="47879" y="230346"/>
                    <a:pt x="4297" y="348134"/>
                  </a:cubicBezTo>
                  <a:cubicBezTo>
                    <a:pt x="-41891" y="465986"/>
                    <a:pt x="255691" y="696542"/>
                    <a:pt x="417253" y="716999"/>
                  </a:cubicBezTo>
                  <a:lnTo>
                    <a:pt x="396732" y="560775"/>
                  </a:lnTo>
                  <a:close/>
                </a:path>
              </a:pathLst>
            </a:custGeom>
            <a:solidFill>
              <a:srgbClr val="F93F57"/>
            </a:solidFill>
            <a:ln w="6346" cap="flat">
              <a:noFill/>
              <a:prstDash val="solid"/>
              <a:miter/>
            </a:ln>
          </p:spPr>
          <p:txBody>
            <a:bodyPr rtlCol="0" anchor="ctr"/>
            <a:lstStyle/>
            <a:p>
              <a:endParaRPr lang="zh-CN" altLang="en-US"/>
            </a:p>
          </p:txBody>
        </p:sp>
        <p:sp>
          <p:nvSpPr>
            <p:cNvPr id="96" name="任意多边形 56">
              <a:extLst>
                <a:ext uri="{FF2B5EF4-FFF2-40B4-BE49-F238E27FC236}">
                  <a16:creationId xmlns:a16="http://schemas.microsoft.com/office/drawing/2014/main" id="{5DB1DA81-EC5C-D68D-FB59-3C6AE4C05E86}"/>
                </a:ext>
              </a:extLst>
            </p:cNvPr>
            <p:cNvSpPr/>
            <p:nvPr/>
          </p:nvSpPr>
          <p:spPr>
            <a:xfrm>
              <a:off x="7861504" y="4281217"/>
              <a:ext cx="152998" cy="1017478"/>
            </a:xfrm>
            <a:custGeom>
              <a:avLst/>
              <a:gdLst>
                <a:gd name="connsiteX0" fmla="*/ 126555 w 135131"/>
                <a:gd name="connsiteY0" fmla="*/ 898656 h 898656"/>
                <a:gd name="connsiteX1" fmla="*/ 0 w 135131"/>
                <a:gd name="connsiteY1" fmla="*/ 898656 h 898656"/>
                <a:gd name="connsiteX2" fmla="*/ 0 w 135131"/>
                <a:gd name="connsiteY2" fmla="*/ 0 h 898656"/>
                <a:gd name="connsiteX3" fmla="*/ 135132 w 135131"/>
                <a:gd name="connsiteY3" fmla="*/ 0 h 898656"/>
                <a:gd name="connsiteX4" fmla="*/ 126555 w 135131"/>
                <a:gd name="connsiteY4" fmla="*/ 898656 h 898656"/>
                <a:gd name="connsiteX5" fmla="*/ 126555 w 135131"/>
                <a:gd name="connsiteY5" fmla="*/ 898656 h 898656"/>
                <a:gd name="connsiteX6" fmla="*/ 126555 w 135131"/>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131" h="898656">
                  <a:moveTo>
                    <a:pt x="126555" y="898656"/>
                  </a:moveTo>
                  <a:lnTo>
                    <a:pt x="0" y="898656"/>
                  </a:lnTo>
                  <a:lnTo>
                    <a:pt x="0" y="0"/>
                  </a:lnTo>
                  <a:lnTo>
                    <a:pt x="135132" y="0"/>
                  </a:lnTo>
                  <a:lnTo>
                    <a:pt x="126555" y="898656"/>
                  </a:lnTo>
                  <a:lnTo>
                    <a:pt x="126555" y="898656"/>
                  </a:lnTo>
                  <a:lnTo>
                    <a:pt x="126555" y="898656"/>
                  </a:lnTo>
                  <a:close/>
                </a:path>
              </a:pathLst>
            </a:custGeom>
            <a:solidFill>
              <a:srgbClr val="FED0D6"/>
            </a:solidFill>
            <a:ln w="6346" cap="flat">
              <a:noFill/>
              <a:prstDash val="solid"/>
              <a:miter/>
            </a:ln>
          </p:spPr>
          <p:txBody>
            <a:bodyPr rtlCol="0" anchor="ctr"/>
            <a:lstStyle/>
            <a:p>
              <a:endParaRPr lang="zh-CN" altLang="en-US"/>
            </a:p>
          </p:txBody>
        </p:sp>
        <p:sp>
          <p:nvSpPr>
            <p:cNvPr id="97" name="任意多边形 57">
              <a:extLst>
                <a:ext uri="{FF2B5EF4-FFF2-40B4-BE49-F238E27FC236}">
                  <a16:creationId xmlns:a16="http://schemas.microsoft.com/office/drawing/2014/main" id="{0F1CBC0F-ED78-88D9-7C3B-0E8AE643852F}"/>
                </a:ext>
              </a:extLst>
            </p:cNvPr>
            <p:cNvSpPr/>
            <p:nvPr/>
          </p:nvSpPr>
          <p:spPr>
            <a:xfrm>
              <a:off x="7703109" y="5287978"/>
              <a:ext cx="316405" cy="123506"/>
            </a:xfrm>
            <a:custGeom>
              <a:avLst/>
              <a:gdLst>
                <a:gd name="connsiteX0" fmla="*/ 264603 w 279455"/>
                <a:gd name="connsiteY0" fmla="*/ -210 h 109083"/>
                <a:gd name="connsiteX1" fmla="*/ 138493 w 279455"/>
                <a:gd name="connsiteY1" fmla="*/ -210 h 109083"/>
                <a:gd name="connsiteX2" fmla="*/ -514 w 279455"/>
                <a:gd name="connsiteY2" fmla="*/ 96168 h 109083"/>
                <a:gd name="connsiteX3" fmla="*/ -514 w 279455"/>
                <a:gd name="connsiteY3" fmla="*/ 108874 h 109083"/>
                <a:gd name="connsiteX4" fmla="*/ 277500 w 279455"/>
                <a:gd name="connsiteY4" fmla="*/ 108874 h 109083"/>
                <a:gd name="connsiteX5" fmla="*/ 264794 w 279455"/>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455" h="109083">
                  <a:moveTo>
                    <a:pt x="264603" y="-210"/>
                  </a:moveTo>
                  <a:lnTo>
                    <a:pt x="138493" y="-210"/>
                  </a:lnTo>
                  <a:cubicBezTo>
                    <a:pt x="138493" y="-210"/>
                    <a:pt x="12382" y="68277"/>
                    <a:pt x="-514" y="96168"/>
                  </a:cubicBezTo>
                  <a:lnTo>
                    <a:pt x="-514" y="108874"/>
                  </a:lnTo>
                  <a:lnTo>
                    <a:pt x="277500" y="108874"/>
                  </a:lnTo>
                  <a:cubicBezTo>
                    <a:pt x="277500" y="108874"/>
                    <a:pt x="285251" y="27681"/>
                    <a:pt x="264794" y="-210"/>
                  </a:cubicBezTo>
                  <a:close/>
                </a:path>
              </a:pathLst>
            </a:custGeom>
            <a:solidFill>
              <a:srgbClr val="F93F57"/>
            </a:solidFill>
            <a:ln w="6346" cap="flat">
              <a:noFill/>
              <a:prstDash val="solid"/>
              <a:miter/>
            </a:ln>
          </p:spPr>
          <p:txBody>
            <a:bodyPr rtlCol="0" anchor="ctr"/>
            <a:lstStyle/>
            <a:p>
              <a:endParaRPr lang="zh-CN" altLang="en-US"/>
            </a:p>
          </p:txBody>
        </p:sp>
        <p:sp>
          <p:nvSpPr>
            <p:cNvPr id="98" name="任意多边形 58">
              <a:extLst>
                <a:ext uri="{FF2B5EF4-FFF2-40B4-BE49-F238E27FC236}">
                  <a16:creationId xmlns:a16="http://schemas.microsoft.com/office/drawing/2014/main" id="{4DA04C91-3501-04E3-EA68-4C6020FA94F8}"/>
                </a:ext>
              </a:extLst>
            </p:cNvPr>
            <p:cNvSpPr/>
            <p:nvPr/>
          </p:nvSpPr>
          <p:spPr>
            <a:xfrm>
              <a:off x="7703109" y="5411484"/>
              <a:ext cx="314126" cy="18773"/>
            </a:xfrm>
            <a:custGeom>
              <a:avLst/>
              <a:gdLst>
                <a:gd name="connsiteX0" fmla="*/ 0 w 277442"/>
                <a:gd name="connsiteY0" fmla="*/ 0 h 16581"/>
                <a:gd name="connsiteX1" fmla="*/ 277443 w 277442"/>
                <a:gd name="connsiteY1" fmla="*/ 0 h 16581"/>
                <a:gd name="connsiteX2" fmla="*/ 277443 w 277442"/>
                <a:gd name="connsiteY2" fmla="*/ 16582 h 16581"/>
                <a:gd name="connsiteX3" fmla="*/ 0 w 277442"/>
                <a:gd name="connsiteY3" fmla="*/ 16582 h 16581"/>
                <a:gd name="connsiteX4" fmla="*/ 0 w 277442"/>
                <a:gd name="connsiteY4" fmla="*/ 0 h 16581"/>
                <a:gd name="connsiteX5" fmla="*/ 0 w 277442"/>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442" h="16581">
                  <a:moveTo>
                    <a:pt x="0" y="0"/>
                  </a:moveTo>
                  <a:lnTo>
                    <a:pt x="277443" y="0"/>
                  </a:lnTo>
                  <a:lnTo>
                    <a:pt x="277443"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99" name="任意多边形 59">
              <a:extLst>
                <a:ext uri="{FF2B5EF4-FFF2-40B4-BE49-F238E27FC236}">
                  <a16:creationId xmlns:a16="http://schemas.microsoft.com/office/drawing/2014/main" id="{17C9D4B5-09EF-34F8-D37B-51437AED7DDE}"/>
                </a:ext>
              </a:extLst>
            </p:cNvPr>
            <p:cNvSpPr/>
            <p:nvPr/>
          </p:nvSpPr>
          <p:spPr>
            <a:xfrm>
              <a:off x="8074926" y="4281217"/>
              <a:ext cx="154366" cy="1017478"/>
            </a:xfrm>
            <a:custGeom>
              <a:avLst/>
              <a:gdLst>
                <a:gd name="connsiteX0" fmla="*/ 8704 w 136339"/>
                <a:gd name="connsiteY0" fmla="*/ 898656 h 898656"/>
                <a:gd name="connsiteX1" fmla="*/ 136339 w 136339"/>
                <a:gd name="connsiteY1" fmla="*/ 898656 h 898656"/>
                <a:gd name="connsiteX2" fmla="*/ 136339 w 136339"/>
                <a:gd name="connsiteY2" fmla="*/ 0 h 898656"/>
                <a:gd name="connsiteX3" fmla="*/ 0 w 136339"/>
                <a:gd name="connsiteY3" fmla="*/ 0 h 898656"/>
                <a:gd name="connsiteX4" fmla="*/ 8704 w 136339"/>
                <a:gd name="connsiteY4" fmla="*/ 898656 h 898656"/>
                <a:gd name="connsiteX5" fmla="*/ 8704 w 136339"/>
                <a:gd name="connsiteY5" fmla="*/ 898656 h 898656"/>
                <a:gd name="connsiteX6" fmla="*/ 8704 w 136339"/>
                <a:gd name="connsiteY6" fmla="*/ 898656 h 89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339" h="898656">
                  <a:moveTo>
                    <a:pt x="8704" y="898656"/>
                  </a:moveTo>
                  <a:lnTo>
                    <a:pt x="136339" y="898656"/>
                  </a:lnTo>
                  <a:lnTo>
                    <a:pt x="136339" y="0"/>
                  </a:lnTo>
                  <a:lnTo>
                    <a:pt x="0" y="0"/>
                  </a:lnTo>
                  <a:lnTo>
                    <a:pt x="8704" y="898656"/>
                  </a:lnTo>
                  <a:lnTo>
                    <a:pt x="8704" y="898656"/>
                  </a:lnTo>
                  <a:lnTo>
                    <a:pt x="8704" y="898656"/>
                  </a:lnTo>
                  <a:close/>
                </a:path>
              </a:pathLst>
            </a:custGeom>
            <a:solidFill>
              <a:srgbClr val="FED0D6"/>
            </a:solidFill>
            <a:ln w="6346" cap="flat">
              <a:noFill/>
              <a:prstDash val="solid"/>
              <a:miter/>
            </a:ln>
          </p:spPr>
          <p:txBody>
            <a:bodyPr rtlCol="0" anchor="ctr"/>
            <a:lstStyle/>
            <a:p>
              <a:endParaRPr lang="zh-CN" altLang="en-US"/>
            </a:p>
          </p:txBody>
        </p:sp>
        <p:sp>
          <p:nvSpPr>
            <p:cNvPr id="100" name="任意多边形 60">
              <a:extLst>
                <a:ext uri="{FF2B5EF4-FFF2-40B4-BE49-F238E27FC236}">
                  <a16:creationId xmlns:a16="http://schemas.microsoft.com/office/drawing/2014/main" id="{74804812-4305-F8F9-26A4-2A952AEB42E5}"/>
                </a:ext>
              </a:extLst>
            </p:cNvPr>
            <p:cNvSpPr/>
            <p:nvPr/>
          </p:nvSpPr>
          <p:spPr>
            <a:xfrm>
              <a:off x="8073764" y="5287978"/>
              <a:ext cx="312627" cy="123506"/>
            </a:xfrm>
            <a:custGeom>
              <a:avLst/>
              <a:gdLst>
                <a:gd name="connsiteX0" fmla="*/ 11376 w 276118"/>
                <a:gd name="connsiteY0" fmla="*/ -210 h 109083"/>
                <a:gd name="connsiteX1" fmla="*/ 139646 w 276118"/>
                <a:gd name="connsiteY1" fmla="*/ -210 h 109083"/>
                <a:gd name="connsiteX2" fmla="*/ 275604 w 276118"/>
                <a:gd name="connsiteY2" fmla="*/ 96168 h 109083"/>
                <a:gd name="connsiteX3" fmla="*/ 275604 w 276118"/>
                <a:gd name="connsiteY3" fmla="*/ 108874 h 109083"/>
                <a:gd name="connsiteX4" fmla="*/ 1147 w 276118"/>
                <a:gd name="connsiteY4" fmla="*/ 108874 h 109083"/>
                <a:gd name="connsiteX5" fmla="*/ 11376 w 276118"/>
                <a:gd name="connsiteY5" fmla="*/ -210 h 10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118" h="109083">
                  <a:moveTo>
                    <a:pt x="11376" y="-210"/>
                  </a:moveTo>
                  <a:lnTo>
                    <a:pt x="139646" y="-210"/>
                  </a:lnTo>
                  <a:cubicBezTo>
                    <a:pt x="139646" y="-210"/>
                    <a:pt x="262771" y="68277"/>
                    <a:pt x="275604" y="96168"/>
                  </a:cubicBezTo>
                  <a:lnTo>
                    <a:pt x="275604" y="108874"/>
                  </a:lnTo>
                  <a:lnTo>
                    <a:pt x="1147" y="108874"/>
                  </a:lnTo>
                  <a:cubicBezTo>
                    <a:pt x="1147" y="108874"/>
                    <a:pt x="-6604" y="27681"/>
                    <a:pt x="11376" y="-210"/>
                  </a:cubicBezTo>
                  <a:close/>
                </a:path>
              </a:pathLst>
            </a:custGeom>
            <a:solidFill>
              <a:srgbClr val="F93F57"/>
            </a:solidFill>
            <a:ln w="6346" cap="flat">
              <a:noFill/>
              <a:prstDash val="solid"/>
              <a:miter/>
            </a:ln>
          </p:spPr>
          <p:txBody>
            <a:bodyPr rtlCol="0" anchor="ctr"/>
            <a:lstStyle/>
            <a:p>
              <a:endParaRPr lang="zh-CN" altLang="en-US"/>
            </a:p>
          </p:txBody>
        </p:sp>
        <p:sp>
          <p:nvSpPr>
            <p:cNvPr id="101" name="任意多边形 61">
              <a:extLst>
                <a:ext uri="{FF2B5EF4-FFF2-40B4-BE49-F238E27FC236}">
                  <a16:creationId xmlns:a16="http://schemas.microsoft.com/office/drawing/2014/main" id="{4E03A284-461C-B7F6-FC8E-4C711008757F}"/>
                </a:ext>
              </a:extLst>
            </p:cNvPr>
            <p:cNvSpPr/>
            <p:nvPr/>
          </p:nvSpPr>
          <p:spPr>
            <a:xfrm>
              <a:off x="8074926" y="5411484"/>
              <a:ext cx="311393" cy="18773"/>
            </a:xfrm>
            <a:custGeom>
              <a:avLst/>
              <a:gdLst>
                <a:gd name="connsiteX0" fmla="*/ 0 w 275028"/>
                <a:gd name="connsiteY0" fmla="*/ 0 h 16581"/>
                <a:gd name="connsiteX1" fmla="*/ 275029 w 275028"/>
                <a:gd name="connsiteY1" fmla="*/ 0 h 16581"/>
                <a:gd name="connsiteX2" fmla="*/ 275029 w 275028"/>
                <a:gd name="connsiteY2" fmla="*/ 16582 h 16581"/>
                <a:gd name="connsiteX3" fmla="*/ 0 w 275028"/>
                <a:gd name="connsiteY3" fmla="*/ 16582 h 16581"/>
                <a:gd name="connsiteX4" fmla="*/ 0 w 275028"/>
                <a:gd name="connsiteY4" fmla="*/ 0 h 16581"/>
                <a:gd name="connsiteX5" fmla="*/ 0 w 275028"/>
                <a:gd name="connsiteY5" fmla="*/ 0 h 1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5028" h="16581">
                  <a:moveTo>
                    <a:pt x="0" y="0"/>
                  </a:moveTo>
                  <a:lnTo>
                    <a:pt x="275029" y="0"/>
                  </a:lnTo>
                  <a:lnTo>
                    <a:pt x="275029" y="16582"/>
                  </a:lnTo>
                  <a:lnTo>
                    <a:pt x="0" y="16582"/>
                  </a:lnTo>
                  <a:lnTo>
                    <a:pt x="0" y="0"/>
                  </a:lnTo>
                  <a:lnTo>
                    <a:pt x="0" y="0"/>
                  </a:lnTo>
                  <a:close/>
                </a:path>
              </a:pathLst>
            </a:custGeom>
            <a:solidFill>
              <a:srgbClr val="981D04"/>
            </a:solidFill>
            <a:ln w="6346" cap="flat">
              <a:noFill/>
              <a:prstDash val="solid"/>
              <a:miter/>
            </a:ln>
          </p:spPr>
          <p:txBody>
            <a:bodyPr rtlCol="0" anchor="ctr"/>
            <a:lstStyle/>
            <a:p>
              <a:endParaRPr lang="zh-CN" altLang="en-US"/>
            </a:p>
          </p:txBody>
        </p:sp>
        <p:sp>
          <p:nvSpPr>
            <p:cNvPr id="102" name="任意多边形 62">
              <a:extLst>
                <a:ext uri="{FF2B5EF4-FFF2-40B4-BE49-F238E27FC236}">
                  <a16:creationId xmlns:a16="http://schemas.microsoft.com/office/drawing/2014/main" id="{ACE70EEC-1CFC-C1B0-746B-3BE7630F2215}"/>
                </a:ext>
              </a:extLst>
            </p:cNvPr>
            <p:cNvSpPr/>
            <p:nvPr/>
          </p:nvSpPr>
          <p:spPr>
            <a:xfrm>
              <a:off x="7564855" y="3584555"/>
              <a:ext cx="961084" cy="1110846"/>
            </a:xfrm>
            <a:custGeom>
              <a:avLst/>
              <a:gdLst>
                <a:gd name="connsiteX0" fmla="*/ 635502 w 848847"/>
                <a:gd name="connsiteY0" fmla="*/ -210 h 981120"/>
                <a:gd name="connsiteX1" fmla="*/ 212380 w 848847"/>
                <a:gd name="connsiteY1" fmla="*/ -210 h 981120"/>
                <a:gd name="connsiteX2" fmla="*/ -514 w 848847"/>
                <a:gd name="connsiteY2" fmla="*/ 980910 h 981120"/>
                <a:gd name="connsiteX3" fmla="*/ 848334 w 848847"/>
                <a:gd name="connsiteY3" fmla="*/ 980910 h 981120"/>
                <a:gd name="connsiteX4" fmla="*/ 635502 w 848847"/>
                <a:gd name="connsiteY4" fmla="*/ -210 h 981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47" h="981120">
                  <a:moveTo>
                    <a:pt x="635502" y="-210"/>
                  </a:moveTo>
                  <a:lnTo>
                    <a:pt x="212380" y="-210"/>
                  </a:lnTo>
                  <a:cubicBezTo>
                    <a:pt x="12319" y="253281"/>
                    <a:pt x="-514" y="980910"/>
                    <a:pt x="-514" y="980910"/>
                  </a:cubicBezTo>
                  <a:lnTo>
                    <a:pt x="848334" y="980910"/>
                  </a:lnTo>
                  <a:cubicBezTo>
                    <a:pt x="848334" y="980910"/>
                    <a:pt x="838104" y="253281"/>
                    <a:pt x="635502" y="-210"/>
                  </a:cubicBezTo>
                  <a:close/>
                </a:path>
              </a:pathLst>
            </a:custGeom>
            <a:solidFill>
              <a:srgbClr val="434CC0"/>
            </a:solidFill>
            <a:ln w="6346" cap="flat">
              <a:noFill/>
              <a:prstDash val="solid"/>
              <a:miter/>
            </a:ln>
          </p:spPr>
          <p:txBody>
            <a:bodyPr rtlCol="0" anchor="ctr"/>
            <a:lstStyle/>
            <a:p>
              <a:endParaRPr lang="zh-CN" altLang="en-US"/>
            </a:p>
          </p:txBody>
        </p:sp>
        <p:sp>
          <p:nvSpPr>
            <p:cNvPr id="103" name="任意多边形 63">
              <a:extLst>
                <a:ext uri="{FF2B5EF4-FFF2-40B4-BE49-F238E27FC236}">
                  <a16:creationId xmlns:a16="http://schemas.microsoft.com/office/drawing/2014/main" id="{993D2899-A5C6-8F76-52A6-542D4B1B0CB7}"/>
                </a:ext>
              </a:extLst>
            </p:cNvPr>
            <p:cNvSpPr/>
            <p:nvPr/>
          </p:nvSpPr>
          <p:spPr>
            <a:xfrm>
              <a:off x="6993099" y="2948350"/>
              <a:ext cx="1467130" cy="1769867"/>
            </a:xfrm>
            <a:custGeom>
              <a:avLst/>
              <a:gdLst>
                <a:gd name="connsiteX0" fmla="*/ 927593 w 1295797"/>
                <a:gd name="connsiteY0" fmla="*/ 878849 h 1563180"/>
                <a:gd name="connsiteX1" fmla="*/ 1022891 w 1295797"/>
                <a:gd name="connsiteY1" fmla="*/ 1014617 h 1563180"/>
                <a:gd name="connsiteX2" fmla="*/ 992077 w 1295797"/>
                <a:gd name="connsiteY2" fmla="*/ 1186152 h 1563180"/>
                <a:gd name="connsiteX3" fmla="*/ 821876 w 1295797"/>
                <a:gd name="connsiteY3" fmla="*/ 1157900 h 1563180"/>
                <a:gd name="connsiteX4" fmla="*/ 820161 w 1295797"/>
                <a:gd name="connsiteY4" fmla="*/ 1155403 h 1563180"/>
                <a:gd name="connsiteX5" fmla="*/ 668447 w 1295797"/>
                <a:gd name="connsiteY5" fmla="*/ 940348 h 1563180"/>
                <a:gd name="connsiteX6" fmla="*/ 668447 w 1295797"/>
                <a:gd name="connsiteY6" fmla="*/ 935202 h 1563180"/>
                <a:gd name="connsiteX7" fmla="*/ 663300 w 1295797"/>
                <a:gd name="connsiteY7" fmla="*/ 932661 h 1563180"/>
                <a:gd name="connsiteX8" fmla="*/ 694114 w 1295797"/>
                <a:gd name="connsiteY8" fmla="*/ 761125 h 1563180"/>
                <a:gd name="connsiteX9" fmla="*/ 765968 w 1295797"/>
                <a:gd name="connsiteY9" fmla="*/ 364243 h 1563180"/>
                <a:gd name="connsiteX10" fmla="*/ 368196 w 1295797"/>
                <a:gd name="connsiteY10" fmla="*/ 297661 h 1563180"/>
                <a:gd name="connsiteX11" fmla="*/ 250154 w 1295797"/>
                <a:gd name="connsiteY11" fmla="*/ 551153 h 1563180"/>
                <a:gd name="connsiteX12" fmla="*/ 134780 w 1295797"/>
                <a:gd name="connsiteY12" fmla="*/ 686793 h 1563180"/>
                <a:gd name="connsiteX13" fmla="*/ 1364 w 1295797"/>
                <a:gd name="connsiteY13" fmla="*/ 574152 h 1563180"/>
                <a:gd name="connsiteX14" fmla="*/ 224614 w 1295797"/>
                <a:gd name="connsiteY14" fmla="*/ 95313 h 1563180"/>
                <a:gd name="connsiteX15" fmla="*/ 966156 w 1295797"/>
                <a:gd name="connsiteY15" fmla="*/ 223329 h 1563180"/>
                <a:gd name="connsiteX16" fmla="*/ 927657 w 1295797"/>
                <a:gd name="connsiteY16" fmla="*/ 878849 h 1563180"/>
                <a:gd name="connsiteX17" fmla="*/ 1245823 w 1295797"/>
                <a:gd name="connsiteY17" fmla="*/ 1332149 h 1563180"/>
                <a:gd name="connsiteX18" fmla="*/ 1271236 w 1295797"/>
                <a:gd name="connsiteY18" fmla="*/ 1367980 h 1563180"/>
                <a:gd name="connsiteX19" fmla="*/ 1242965 w 1295797"/>
                <a:gd name="connsiteY19" fmla="*/ 1542121 h 1563180"/>
                <a:gd name="connsiteX20" fmla="*/ 1068506 w 1295797"/>
                <a:gd name="connsiteY20" fmla="*/ 1511371 h 1563180"/>
                <a:gd name="connsiteX21" fmla="*/ 1043093 w 1295797"/>
                <a:gd name="connsiteY21" fmla="*/ 1473252 h 1563180"/>
                <a:gd name="connsiteX22" fmla="*/ 1073906 w 1295797"/>
                <a:gd name="connsiteY22" fmla="*/ 1301717 h 1563180"/>
                <a:gd name="connsiteX23" fmla="*/ 1242583 w 1295797"/>
                <a:gd name="connsiteY23" fmla="*/ 1327847 h 1563180"/>
                <a:gd name="connsiteX24" fmla="*/ 1245823 w 1295797"/>
                <a:gd name="connsiteY24" fmla="*/ 1332466 h 156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95797" h="1563180">
                  <a:moveTo>
                    <a:pt x="927593" y="878849"/>
                  </a:moveTo>
                  <a:lnTo>
                    <a:pt x="1022891" y="1014617"/>
                  </a:lnTo>
                  <a:cubicBezTo>
                    <a:pt x="1063932" y="1070906"/>
                    <a:pt x="1051098" y="1145174"/>
                    <a:pt x="992077" y="1186152"/>
                  </a:cubicBezTo>
                  <a:cubicBezTo>
                    <a:pt x="937313" y="1225345"/>
                    <a:pt x="861075" y="1212696"/>
                    <a:pt x="821876" y="1157900"/>
                  </a:cubicBezTo>
                  <a:cubicBezTo>
                    <a:pt x="821305" y="1157074"/>
                    <a:pt x="820732" y="1156242"/>
                    <a:pt x="820161" y="1155403"/>
                  </a:cubicBezTo>
                  <a:lnTo>
                    <a:pt x="668447" y="940348"/>
                  </a:lnTo>
                  <a:lnTo>
                    <a:pt x="668447" y="935202"/>
                  </a:lnTo>
                  <a:cubicBezTo>
                    <a:pt x="663300" y="935202"/>
                    <a:pt x="663300" y="935202"/>
                    <a:pt x="663300" y="932661"/>
                  </a:cubicBezTo>
                  <a:cubicBezTo>
                    <a:pt x="624801" y="878849"/>
                    <a:pt x="640239" y="799244"/>
                    <a:pt x="694114" y="761125"/>
                  </a:cubicBezTo>
                  <a:cubicBezTo>
                    <a:pt x="822384" y="668941"/>
                    <a:pt x="855738" y="492259"/>
                    <a:pt x="765968" y="364243"/>
                  </a:cubicBezTo>
                  <a:cubicBezTo>
                    <a:pt x="673593" y="233621"/>
                    <a:pt x="499135" y="208018"/>
                    <a:pt x="368196" y="297661"/>
                  </a:cubicBezTo>
                  <a:cubicBezTo>
                    <a:pt x="283572" y="359096"/>
                    <a:pt x="239926" y="456491"/>
                    <a:pt x="250154" y="551153"/>
                  </a:cubicBezTo>
                  <a:cubicBezTo>
                    <a:pt x="255618" y="620421"/>
                    <a:pt x="204030" y="681056"/>
                    <a:pt x="134780" y="686793"/>
                  </a:cubicBezTo>
                  <a:cubicBezTo>
                    <a:pt x="65467" y="691939"/>
                    <a:pt x="9051" y="643274"/>
                    <a:pt x="1364" y="574152"/>
                  </a:cubicBezTo>
                  <a:cubicBezTo>
                    <a:pt x="-14456" y="386231"/>
                    <a:pt x="70486" y="204003"/>
                    <a:pt x="224614" y="95313"/>
                  </a:cubicBezTo>
                  <a:cubicBezTo>
                    <a:pt x="466035" y="-71140"/>
                    <a:pt x="799386" y="-14788"/>
                    <a:pt x="966156" y="223329"/>
                  </a:cubicBezTo>
                  <a:cubicBezTo>
                    <a:pt x="1107832" y="424058"/>
                    <a:pt x="1091822" y="696081"/>
                    <a:pt x="927657" y="878849"/>
                  </a:cubicBezTo>
                  <a:close/>
                  <a:moveTo>
                    <a:pt x="1245823" y="1332149"/>
                  </a:moveTo>
                  <a:lnTo>
                    <a:pt x="1271236" y="1367980"/>
                  </a:lnTo>
                  <a:cubicBezTo>
                    <a:pt x="1312277" y="1426874"/>
                    <a:pt x="1299444" y="1501397"/>
                    <a:pt x="1242965" y="1542121"/>
                  </a:cubicBezTo>
                  <a:cubicBezTo>
                    <a:pt x="1189089" y="1577953"/>
                    <a:pt x="1109548" y="1567533"/>
                    <a:pt x="1068506" y="1511371"/>
                  </a:cubicBezTo>
                  <a:lnTo>
                    <a:pt x="1043093" y="1473252"/>
                  </a:lnTo>
                  <a:cubicBezTo>
                    <a:pt x="1004593" y="1419505"/>
                    <a:pt x="1019968" y="1339836"/>
                    <a:pt x="1073906" y="1301717"/>
                  </a:cubicBezTo>
                  <a:cubicBezTo>
                    <a:pt x="1127718" y="1262346"/>
                    <a:pt x="1203257" y="1274049"/>
                    <a:pt x="1242583" y="1327847"/>
                  </a:cubicBezTo>
                  <a:cubicBezTo>
                    <a:pt x="1243727" y="1329359"/>
                    <a:pt x="1244806" y="1330903"/>
                    <a:pt x="1245823" y="1332466"/>
                  </a:cubicBezTo>
                  <a:close/>
                </a:path>
              </a:pathLst>
            </a:custGeom>
            <a:solidFill>
              <a:srgbClr val="FFC545"/>
            </a:solidFill>
            <a:ln w="6346" cap="flat">
              <a:noFill/>
              <a:prstDash val="solid"/>
              <a:miter/>
            </a:ln>
          </p:spPr>
          <p:txBody>
            <a:bodyPr rtlCol="0" anchor="ctr"/>
            <a:lstStyle/>
            <a:p>
              <a:endParaRPr lang="zh-CN" altLang="en-US"/>
            </a:p>
          </p:txBody>
        </p:sp>
        <p:sp>
          <p:nvSpPr>
            <p:cNvPr id="104" name="任意多边形 64">
              <a:extLst>
                <a:ext uri="{FF2B5EF4-FFF2-40B4-BE49-F238E27FC236}">
                  <a16:creationId xmlns:a16="http://schemas.microsoft.com/office/drawing/2014/main" id="{8F8E95BB-CCDC-B473-EEF9-1F47EA6B640E}"/>
                </a:ext>
              </a:extLst>
            </p:cNvPr>
            <p:cNvSpPr/>
            <p:nvPr/>
          </p:nvSpPr>
          <p:spPr>
            <a:xfrm>
              <a:off x="8074926" y="2908035"/>
              <a:ext cx="512041" cy="826857"/>
            </a:xfrm>
            <a:custGeom>
              <a:avLst/>
              <a:gdLst>
                <a:gd name="connsiteX0" fmla="*/ 274260 w 452244"/>
                <a:gd name="connsiteY0" fmla="*/ -210 h 730296"/>
                <a:gd name="connsiteX1" fmla="*/ 451387 w 452244"/>
                <a:gd name="connsiteY1" fmla="*/ 381616 h 730296"/>
                <a:gd name="connsiteX2" fmla="*/ 43132 w 452244"/>
                <a:gd name="connsiteY2" fmla="*/ 730087 h 730296"/>
                <a:gd name="connsiteX3" fmla="*/ -514 w 452244"/>
                <a:gd name="connsiteY3" fmla="*/ 558551 h 730296"/>
                <a:gd name="connsiteX4" fmla="*/ 315302 w 452244"/>
                <a:gd name="connsiteY4" fmla="*/ 366368 h 730296"/>
                <a:gd name="connsiteX5" fmla="*/ 248594 w 452244"/>
                <a:gd name="connsiteY5" fmla="*/ 207539 h 730296"/>
                <a:gd name="connsiteX6" fmla="*/ 274007 w 452244"/>
                <a:gd name="connsiteY6" fmla="*/ -19 h 730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244" h="730296">
                  <a:moveTo>
                    <a:pt x="274260" y="-210"/>
                  </a:moveTo>
                  <a:cubicBezTo>
                    <a:pt x="274260" y="-210"/>
                    <a:pt x="438553" y="292036"/>
                    <a:pt x="451387" y="381616"/>
                  </a:cubicBezTo>
                  <a:cubicBezTo>
                    <a:pt x="464093" y="473864"/>
                    <a:pt x="120196" y="717317"/>
                    <a:pt x="43132" y="730087"/>
                  </a:cubicBezTo>
                  <a:lnTo>
                    <a:pt x="-514" y="558551"/>
                  </a:lnTo>
                  <a:cubicBezTo>
                    <a:pt x="-514" y="558551"/>
                    <a:pt x="284489" y="425135"/>
                    <a:pt x="315302" y="366368"/>
                  </a:cubicBezTo>
                  <a:lnTo>
                    <a:pt x="248594" y="207539"/>
                  </a:lnTo>
                  <a:lnTo>
                    <a:pt x="274007" y="-19"/>
                  </a:lnTo>
                  <a:close/>
                </a:path>
              </a:pathLst>
            </a:custGeom>
            <a:solidFill>
              <a:srgbClr val="F93F57"/>
            </a:solidFill>
            <a:ln w="6346" cap="flat">
              <a:noFill/>
              <a:prstDash val="solid"/>
              <a:miter/>
            </a:ln>
          </p:spPr>
          <p:txBody>
            <a:bodyPr rtlCol="0" anchor="ctr"/>
            <a:lstStyle/>
            <a:p>
              <a:endParaRPr lang="zh-CN" altLang="en-US"/>
            </a:p>
          </p:txBody>
        </p:sp>
        <p:sp>
          <p:nvSpPr>
            <p:cNvPr id="105" name="任意多边形 65">
              <a:extLst>
                <a:ext uri="{FF2B5EF4-FFF2-40B4-BE49-F238E27FC236}">
                  <a16:creationId xmlns:a16="http://schemas.microsoft.com/office/drawing/2014/main" id="{FD03E7C3-CDA2-03AD-5B3D-59C9F1D6C8B7}"/>
                </a:ext>
              </a:extLst>
            </p:cNvPr>
            <p:cNvSpPr/>
            <p:nvPr/>
          </p:nvSpPr>
          <p:spPr>
            <a:xfrm>
              <a:off x="8008236" y="3573622"/>
              <a:ext cx="101648" cy="117572"/>
            </a:xfrm>
            <a:custGeom>
              <a:avLst/>
              <a:gdLst>
                <a:gd name="connsiteX0" fmla="*/ 66265 w 89777"/>
                <a:gd name="connsiteY0" fmla="*/ 362 h 103842"/>
                <a:gd name="connsiteX1" fmla="*/ 5147 w 89777"/>
                <a:gd name="connsiteY1" fmla="*/ 15800 h 103842"/>
                <a:gd name="connsiteX2" fmla="*/ 89263 w 89777"/>
                <a:gd name="connsiteY2" fmla="*/ 95596 h 103842"/>
                <a:gd name="connsiteX3" fmla="*/ 66265 w 89777"/>
                <a:gd name="connsiteY3" fmla="*/ 298 h 103842"/>
              </a:gdLst>
              <a:ahLst/>
              <a:cxnLst>
                <a:cxn ang="0">
                  <a:pos x="connsiteX0" y="connsiteY0"/>
                </a:cxn>
                <a:cxn ang="0">
                  <a:pos x="connsiteX1" y="connsiteY1"/>
                </a:cxn>
                <a:cxn ang="0">
                  <a:pos x="connsiteX2" y="connsiteY2"/>
                </a:cxn>
                <a:cxn ang="0">
                  <a:pos x="connsiteX3" y="connsiteY3"/>
                </a:cxn>
              </a:cxnLst>
              <a:rect l="l" t="t" r="r" b="b"/>
              <a:pathLst>
                <a:path w="89777" h="103842">
                  <a:moveTo>
                    <a:pt x="66265" y="362"/>
                  </a:moveTo>
                  <a:cubicBezTo>
                    <a:pt x="66265" y="362"/>
                    <a:pt x="15439" y="-4784"/>
                    <a:pt x="5147" y="15800"/>
                  </a:cubicBezTo>
                  <a:cubicBezTo>
                    <a:pt x="-5145" y="36384"/>
                    <a:pt x="-12705" y="131555"/>
                    <a:pt x="89263" y="95596"/>
                  </a:cubicBezTo>
                  <a:lnTo>
                    <a:pt x="66265" y="298"/>
                  </a:lnTo>
                  <a:close/>
                </a:path>
              </a:pathLst>
            </a:custGeom>
            <a:solidFill>
              <a:srgbClr val="FF93B1"/>
            </a:solidFill>
            <a:ln w="6346" cap="flat">
              <a:noFill/>
              <a:prstDash val="solid"/>
              <a:miter/>
            </a:ln>
          </p:spPr>
          <p:txBody>
            <a:bodyPr rtlCol="0" anchor="ctr"/>
            <a:lstStyle/>
            <a:p>
              <a:endParaRPr lang="zh-CN" altLang="en-US"/>
            </a:p>
          </p:txBody>
        </p:sp>
        <p:sp>
          <p:nvSpPr>
            <p:cNvPr id="106" name="任意多边形 67">
              <a:extLst>
                <a:ext uri="{FF2B5EF4-FFF2-40B4-BE49-F238E27FC236}">
                  <a16:creationId xmlns:a16="http://schemas.microsoft.com/office/drawing/2014/main" id="{8AD4BCF8-96BA-EEB3-A34B-84366D1419F7}"/>
                </a:ext>
              </a:extLst>
            </p:cNvPr>
            <p:cNvSpPr/>
            <p:nvPr/>
          </p:nvSpPr>
          <p:spPr>
            <a:xfrm rot="19901924">
              <a:off x="4001212" y="2597109"/>
              <a:ext cx="340051" cy="595716"/>
            </a:xfrm>
            <a:custGeom>
              <a:avLst/>
              <a:gdLst>
                <a:gd name="connsiteX0" fmla="*/ 596690 w 1007682"/>
                <a:gd name="connsiteY0" fmla="*/ 1042540 h 1765307"/>
                <a:gd name="connsiteX1" fmla="*/ 596690 w 1007682"/>
                <a:gd name="connsiteY1" fmla="*/ 1209120 h 1765307"/>
                <a:gd name="connsiteX2" fmla="*/ 479747 w 1007682"/>
                <a:gd name="connsiteY2" fmla="*/ 1332124 h 1765307"/>
                <a:gd name="connsiteX3" fmla="*/ 473502 w 1007682"/>
                <a:gd name="connsiteY3" fmla="*/ 1332118 h 1765307"/>
                <a:gd name="connsiteX4" fmla="*/ 350314 w 1007682"/>
                <a:gd name="connsiteY4" fmla="*/ 1209120 h 1765307"/>
                <a:gd name="connsiteX5" fmla="*/ 350314 w 1007682"/>
                <a:gd name="connsiteY5" fmla="*/ 945209 h 1765307"/>
                <a:gd name="connsiteX6" fmla="*/ 352855 w 1007682"/>
                <a:gd name="connsiteY6" fmla="*/ 940063 h 1765307"/>
                <a:gd name="connsiteX7" fmla="*/ 350314 w 1007682"/>
                <a:gd name="connsiteY7" fmla="*/ 934981 h 1765307"/>
                <a:gd name="connsiteX8" fmla="*/ 473502 w 1007682"/>
                <a:gd name="connsiteY8" fmla="*/ 811983 h 1765307"/>
                <a:gd name="connsiteX9" fmla="*/ 760983 w 1007682"/>
                <a:gd name="connsiteY9" fmla="*/ 530157 h 1765307"/>
                <a:gd name="connsiteX10" fmla="*/ 473502 w 1007682"/>
                <a:gd name="connsiteY10" fmla="*/ 245725 h 1765307"/>
                <a:gd name="connsiteX11" fmla="*/ 229667 w 1007682"/>
                <a:gd name="connsiteY11" fmla="*/ 384097 h 1765307"/>
                <a:gd name="connsiteX12" fmla="*/ 62134 w 1007682"/>
                <a:gd name="connsiteY12" fmla="*/ 430888 h 1765307"/>
                <a:gd name="connsiteX13" fmla="*/ 15343 w 1007682"/>
                <a:gd name="connsiteY13" fmla="*/ 263355 h 1765307"/>
                <a:gd name="connsiteX14" fmla="*/ 16645 w 1007682"/>
                <a:gd name="connsiteY14" fmla="*/ 261100 h 1765307"/>
                <a:gd name="connsiteX15" fmla="*/ 473502 w 1007682"/>
                <a:gd name="connsiteY15" fmla="*/ -206 h 1765307"/>
                <a:gd name="connsiteX16" fmla="*/ 1007168 w 1007682"/>
                <a:gd name="connsiteY16" fmla="*/ 530157 h 1765307"/>
                <a:gd name="connsiteX17" fmla="*/ 596499 w 1007682"/>
                <a:gd name="connsiteY17" fmla="*/ 1042540 h 1765307"/>
                <a:gd name="connsiteX18" fmla="*/ 596690 w 1007682"/>
                <a:gd name="connsiteY18" fmla="*/ 1595965 h 1765307"/>
                <a:gd name="connsiteX19" fmla="*/ 596690 w 1007682"/>
                <a:gd name="connsiteY19" fmla="*/ 1642089 h 1765307"/>
                <a:gd name="connsiteX20" fmla="*/ 473502 w 1007682"/>
                <a:gd name="connsiteY20" fmla="*/ 1765086 h 1765307"/>
                <a:gd name="connsiteX21" fmla="*/ 350314 w 1007682"/>
                <a:gd name="connsiteY21" fmla="*/ 1645221 h 1765307"/>
                <a:gd name="connsiteX22" fmla="*/ 350314 w 1007682"/>
                <a:gd name="connsiteY22" fmla="*/ 1642089 h 1765307"/>
                <a:gd name="connsiteX23" fmla="*/ 350314 w 1007682"/>
                <a:gd name="connsiteY23" fmla="*/ 1595965 h 1765307"/>
                <a:gd name="connsiteX24" fmla="*/ 473502 w 1007682"/>
                <a:gd name="connsiteY24" fmla="*/ 1473031 h 1765307"/>
                <a:gd name="connsiteX25" fmla="*/ 596690 w 1007682"/>
                <a:gd name="connsiteY25" fmla="*/ 1592769 h 1765307"/>
                <a:gd name="connsiteX26" fmla="*/ 596690 w 1007682"/>
                <a:gd name="connsiteY26" fmla="*/ 1595965 h 176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07682" h="1765307">
                  <a:moveTo>
                    <a:pt x="596690" y="1042540"/>
                  </a:moveTo>
                  <a:lnTo>
                    <a:pt x="596690" y="1209120"/>
                  </a:lnTo>
                  <a:cubicBezTo>
                    <a:pt x="598361" y="1275377"/>
                    <a:pt x="546004" y="1330447"/>
                    <a:pt x="479747" y="1332124"/>
                  </a:cubicBezTo>
                  <a:cubicBezTo>
                    <a:pt x="477663" y="1332175"/>
                    <a:pt x="475579" y="1332175"/>
                    <a:pt x="473502" y="1332118"/>
                  </a:cubicBezTo>
                  <a:cubicBezTo>
                    <a:pt x="405529" y="1332156"/>
                    <a:pt x="350384" y="1277093"/>
                    <a:pt x="350314" y="1209120"/>
                  </a:cubicBezTo>
                  <a:lnTo>
                    <a:pt x="350314" y="945209"/>
                  </a:lnTo>
                  <a:cubicBezTo>
                    <a:pt x="350314" y="942668"/>
                    <a:pt x="352855" y="942668"/>
                    <a:pt x="352855" y="940063"/>
                  </a:cubicBezTo>
                  <a:cubicBezTo>
                    <a:pt x="350314" y="937522"/>
                    <a:pt x="350314" y="937522"/>
                    <a:pt x="350314" y="934981"/>
                  </a:cubicBezTo>
                  <a:cubicBezTo>
                    <a:pt x="350314" y="870941"/>
                    <a:pt x="406793" y="811983"/>
                    <a:pt x="473502" y="811983"/>
                  </a:cubicBezTo>
                  <a:cubicBezTo>
                    <a:pt x="632649" y="811983"/>
                    <a:pt x="760983" y="686445"/>
                    <a:pt x="760983" y="530157"/>
                  </a:cubicBezTo>
                  <a:cubicBezTo>
                    <a:pt x="760983" y="368723"/>
                    <a:pt x="632649" y="245725"/>
                    <a:pt x="473502" y="245725"/>
                  </a:cubicBezTo>
                  <a:cubicBezTo>
                    <a:pt x="373636" y="246094"/>
                    <a:pt x="281198" y="298552"/>
                    <a:pt x="229667" y="384097"/>
                  </a:cubicBezTo>
                  <a:cubicBezTo>
                    <a:pt x="196326" y="443283"/>
                    <a:pt x="121320" y="464230"/>
                    <a:pt x="62134" y="430888"/>
                  </a:cubicBezTo>
                  <a:cubicBezTo>
                    <a:pt x="2948" y="397547"/>
                    <a:pt x="-17999" y="322541"/>
                    <a:pt x="15343" y="263355"/>
                  </a:cubicBezTo>
                  <a:cubicBezTo>
                    <a:pt x="15769" y="262599"/>
                    <a:pt x="16201" y="261850"/>
                    <a:pt x="16645" y="261100"/>
                  </a:cubicBezTo>
                  <a:cubicBezTo>
                    <a:pt x="111346" y="98668"/>
                    <a:pt x="285480" y="-930"/>
                    <a:pt x="473502" y="-206"/>
                  </a:cubicBezTo>
                  <a:cubicBezTo>
                    <a:pt x="766129" y="-206"/>
                    <a:pt x="1007168" y="235497"/>
                    <a:pt x="1007168" y="530157"/>
                  </a:cubicBezTo>
                  <a:cubicBezTo>
                    <a:pt x="1007168" y="778693"/>
                    <a:pt x="832647" y="988792"/>
                    <a:pt x="596499" y="1042540"/>
                  </a:cubicBezTo>
                  <a:close/>
                  <a:moveTo>
                    <a:pt x="596690" y="1595965"/>
                  </a:moveTo>
                  <a:lnTo>
                    <a:pt x="596690" y="1642089"/>
                  </a:lnTo>
                  <a:cubicBezTo>
                    <a:pt x="596690" y="1713816"/>
                    <a:pt x="545356" y="1765086"/>
                    <a:pt x="473502" y="1765086"/>
                  </a:cubicBezTo>
                  <a:cubicBezTo>
                    <a:pt x="406387" y="1766001"/>
                    <a:pt x="351235" y="1712336"/>
                    <a:pt x="350314" y="1645221"/>
                  </a:cubicBezTo>
                  <a:cubicBezTo>
                    <a:pt x="350301" y="1644179"/>
                    <a:pt x="350301" y="1643131"/>
                    <a:pt x="350314" y="1642089"/>
                  </a:cubicBezTo>
                  <a:lnTo>
                    <a:pt x="350314" y="1595965"/>
                  </a:lnTo>
                  <a:cubicBezTo>
                    <a:pt x="351305" y="1528386"/>
                    <a:pt x="405923" y="1473882"/>
                    <a:pt x="473502" y="1473031"/>
                  </a:cubicBezTo>
                  <a:cubicBezTo>
                    <a:pt x="540585" y="1472078"/>
                    <a:pt x="595737" y="1525686"/>
                    <a:pt x="596690" y="1592769"/>
                  </a:cubicBezTo>
                  <a:cubicBezTo>
                    <a:pt x="596703" y="1593830"/>
                    <a:pt x="596703" y="1594897"/>
                    <a:pt x="596690" y="1595965"/>
                  </a:cubicBezTo>
                  <a:close/>
                </a:path>
              </a:pathLst>
            </a:custGeom>
            <a:solidFill>
              <a:srgbClr val="D0D4DA"/>
            </a:solidFill>
            <a:ln w="6346" cap="flat">
              <a:noFill/>
              <a:prstDash val="solid"/>
              <a:miter/>
            </a:ln>
          </p:spPr>
          <p:txBody>
            <a:bodyPr rtlCol="0" anchor="ctr"/>
            <a:lstStyle/>
            <a:p>
              <a:endParaRPr lang="zh-CN" altLang="en-US"/>
            </a:p>
          </p:txBody>
        </p:sp>
      </p:grpSp>
      <p:sp>
        <p:nvSpPr>
          <p:cNvPr id="107" name="文本框 106">
            <a:extLst>
              <a:ext uri="{FF2B5EF4-FFF2-40B4-BE49-F238E27FC236}">
                <a16:creationId xmlns:a16="http://schemas.microsoft.com/office/drawing/2014/main" id="{F6C793A7-D3F7-13AD-0FE1-F4CFE507E8FD}"/>
              </a:ext>
            </a:extLst>
          </p:cNvPr>
          <p:cNvSpPr txBox="1"/>
          <p:nvPr/>
        </p:nvSpPr>
        <p:spPr>
          <a:xfrm>
            <a:off x="8730275" y="2800028"/>
            <a:ext cx="1596950" cy="369332"/>
          </a:xfrm>
          <a:prstGeom prst="rect">
            <a:avLst/>
          </a:prstGeom>
          <a:noFill/>
        </p:spPr>
        <p:txBody>
          <a:bodyPr wrap="square" rtlCol="0">
            <a:spAutoFit/>
          </a:bodyPr>
          <a:lstStyle/>
          <a:p>
            <a:r>
              <a:rPr lang="en-US" altLang="zh-CN" b="1" dirty="0">
                <a:latin typeface="+mn-ea"/>
              </a:rPr>
              <a:t>DNS</a:t>
            </a:r>
            <a:r>
              <a:rPr lang="zh-CN" altLang="en-US" b="1" dirty="0">
                <a:latin typeface="+mn-ea"/>
              </a:rPr>
              <a:t>服务器</a:t>
            </a:r>
          </a:p>
        </p:txBody>
      </p:sp>
      <p:sp>
        <p:nvSpPr>
          <p:cNvPr id="109" name="矩形 108">
            <a:extLst>
              <a:ext uri="{FF2B5EF4-FFF2-40B4-BE49-F238E27FC236}">
                <a16:creationId xmlns:a16="http://schemas.microsoft.com/office/drawing/2014/main" id="{20B547F7-A5BF-9F29-7373-1B55407C966F}"/>
              </a:ext>
            </a:extLst>
          </p:cNvPr>
          <p:cNvSpPr/>
          <p:nvPr/>
        </p:nvSpPr>
        <p:spPr>
          <a:xfrm>
            <a:off x="304800" y="1452642"/>
            <a:ext cx="5268137" cy="498625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lnSpc>
                <a:spcPct val="150000"/>
              </a:lnSpc>
              <a:buFont typeface="Wingdings" panose="05000000000000000000" pitchFamily="2" charset="2"/>
              <a:buChar char="l"/>
            </a:pPr>
            <a:r>
              <a:rPr lang="zh-CN" altLang="en-US" b="1" dirty="0">
                <a:solidFill>
                  <a:schemeClr val="bg1"/>
                </a:solidFill>
              </a:rPr>
              <a:t>这种做法并不可取。因为因特网的规模很大，这样的域名服务器肯定会因为超负荷而无法正常工作，而且一旦域名服务器出现故障，整个因特网就会瘫痪。</a:t>
            </a:r>
            <a:endParaRPr lang="en-US" altLang="zh-CN" b="1" dirty="0">
              <a:solidFill>
                <a:schemeClr val="bg1"/>
              </a:solidFill>
            </a:endParaRPr>
          </a:p>
          <a:p>
            <a:pPr marL="285750" indent="-285750">
              <a:lnSpc>
                <a:spcPct val="150000"/>
              </a:lnSpc>
              <a:buFont typeface="Wingdings" panose="05000000000000000000" pitchFamily="2" charset="2"/>
              <a:buChar char="l"/>
            </a:pPr>
            <a:r>
              <a:rPr lang="zh-CN" altLang="en-US" b="1" dirty="0">
                <a:solidFill>
                  <a:schemeClr val="bg1"/>
                </a:solidFill>
              </a:rPr>
              <a:t> 早在</a:t>
            </a:r>
            <a:r>
              <a:rPr lang="en-US" altLang="zh-CN" b="1" dirty="0">
                <a:solidFill>
                  <a:schemeClr val="bg1"/>
                </a:solidFill>
              </a:rPr>
              <a:t>1983</a:t>
            </a:r>
            <a:r>
              <a:rPr lang="zh-CN" altLang="en-US" b="1" dirty="0">
                <a:solidFill>
                  <a:schemeClr val="bg1"/>
                </a:solidFill>
              </a:rPr>
              <a:t>年，因特网就开始采用</a:t>
            </a:r>
            <a:r>
              <a:rPr lang="zh-CN" altLang="en-US" b="1" dirty="0">
                <a:solidFill>
                  <a:schemeClr val="tx1"/>
                </a:solidFill>
                <a:highlight>
                  <a:srgbClr val="FFFF00"/>
                </a:highlight>
              </a:rPr>
              <a:t>层次结构的命名树</a:t>
            </a:r>
            <a:r>
              <a:rPr lang="zh-CN" altLang="en-US" b="1" dirty="0">
                <a:solidFill>
                  <a:schemeClr val="bg1"/>
                </a:solidFill>
              </a:rPr>
              <a:t>作为主机的名字（即域名），并使用</a:t>
            </a:r>
            <a:r>
              <a:rPr lang="zh-CN" altLang="en-US" b="1" dirty="0">
                <a:solidFill>
                  <a:schemeClr val="tx1"/>
                </a:solidFill>
                <a:highlight>
                  <a:srgbClr val="FFFF00"/>
                </a:highlight>
              </a:rPr>
              <a:t>分布式的域名系统</a:t>
            </a:r>
            <a:r>
              <a:rPr lang="en-US" altLang="zh-CN" b="1" dirty="0">
                <a:solidFill>
                  <a:schemeClr val="bg1"/>
                </a:solidFill>
              </a:rPr>
              <a:t>DNS</a:t>
            </a:r>
            <a:r>
              <a:rPr lang="zh-CN" altLang="en-US" b="1" dirty="0">
                <a:solidFill>
                  <a:schemeClr val="bg1"/>
                </a:solidFill>
              </a:rPr>
              <a:t>。</a:t>
            </a:r>
            <a:endParaRPr lang="en-US" altLang="zh-CN" b="1" dirty="0">
              <a:solidFill>
                <a:schemeClr val="bg1"/>
              </a:solidFill>
            </a:endParaRPr>
          </a:p>
          <a:p>
            <a:pPr marL="285750" indent="-285750">
              <a:lnSpc>
                <a:spcPct val="150000"/>
              </a:lnSpc>
              <a:buFont typeface="Wingdings" panose="05000000000000000000" pitchFamily="2" charset="2"/>
              <a:buChar char="l"/>
            </a:pPr>
            <a:r>
              <a:rPr lang="en-US" altLang="zh-CN" b="1" dirty="0">
                <a:solidFill>
                  <a:schemeClr val="bg1"/>
                </a:solidFill>
              </a:rPr>
              <a:t>DNS</a:t>
            </a:r>
            <a:r>
              <a:rPr lang="zh-CN" altLang="en-US" b="1" dirty="0">
                <a:solidFill>
                  <a:schemeClr val="bg1"/>
                </a:solidFill>
              </a:rPr>
              <a:t>使</a:t>
            </a:r>
            <a:r>
              <a:rPr lang="zh-CN" altLang="en-US" b="1" dirty="0">
                <a:solidFill>
                  <a:schemeClr val="tx1"/>
                </a:solidFill>
                <a:highlight>
                  <a:srgbClr val="FFFF00"/>
                </a:highlight>
              </a:rPr>
              <a:t>大多数域名都在本地解析</a:t>
            </a:r>
            <a:r>
              <a:rPr lang="zh-CN" altLang="en-US" b="1" dirty="0">
                <a:solidFill>
                  <a:schemeClr val="bg1"/>
                </a:solidFill>
              </a:rPr>
              <a:t>，仅少量解析需要在因特网上通信，因此系统效率很高。</a:t>
            </a:r>
            <a:endParaRPr lang="en-US" altLang="zh-CN" b="1" dirty="0">
              <a:solidFill>
                <a:schemeClr val="bg1"/>
              </a:solidFill>
            </a:endParaRPr>
          </a:p>
          <a:p>
            <a:pPr marL="285750" indent="-285750">
              <a:lnSpc>
                <a:spcPct val="150000"/>
              </a:lnSpc>
              <a:buFont typeface="Wingdings" panose="05000000000000000000" pitchFamily="2" charset="2"/>
              <a:buChar char="l"/>
            </a:pPr>
            <a:r>
              <a:rPr lang="zh-CN" altLang="en-US" b="1" dirty="0">
                <a:solidFill>
                  <a:schemeClr val="bg1"/>
                </a:solidFill>
              </a:rPr>
              <a:t>由于</a:t>
            </a:r>
            <a:r>
              <a:rPr lang="en-US" altLang="zh-CN" b="1" dirty="0">
                <a:solidFill>
                  <a:schemeClr val="bg1"/>
                </a:solidFill>
              </a:rPr>
              <a:t>DNS</a:t>
            </a:r>
            <a:r>
              <a:rPr lang="zh-CN" altLang="en-US" b="1" dirty="0">
                <a:solidFill>
                  <a:schemeClr val="bg1"/>
                </a:solidFill>
              </a:rPr>
              <a:t>是分布式系统，即使单个计算机出了故障，也不会妨碍整个系统的正常运行。</a:t>
            </a:r>
            <a:endParaRPr lang="zh-CN" altLang="en-US" dirty="0">
              <a:solidFill>
                <a:schemeClr val="bg1"/>
              </a:solidFill>
            </a:endParaRPr>
          </a:p>
        </p:txBody>
      </p:sp>
    </p:spTree>
    <p:custDataLst>
      <p:tags r:id="rId1"/>
    </p:custDataLst>
    <p:extLst>
      <p:ext uri="{BB962C8B-B14F-4D97-AF65-F5344CB8AC3E}">
        <p14:creationId xmlns:p14="http://schemas.microsoft.com/office/powerpoint/2010/main" val="403671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800" decel="100000"/>
                                        <p:tgtEl>
                                          <p:spTgt spid="25"/>
                                        </p:tgtEl>
                                      </p:cBhvr>
                                    </p:animEffect>
                                    <p:anim calcmode="lin" valueType="num">
                                      <p:cBhvr>
                                        <p:cTn id="8" dur="800" decel="100000" fill="hold"/>
                                        <p:tgtEl>
                                          <p:spTgt spid="25"/>
                                        </p:tgtEl>
                                        <p:attrNameLst>
                                          <p:attrName>style.rotation</p:attrName>
                                        </p:attrNameLst>
                                      </p:cBhvr>
                                      <p:tavLst>
                                        <p:tav tm="0">
                                          <p:val>
                                            <p:fltVal val="-90"/>
                                          </p:val>
                                        </p:tav>
                                        <p:tav tm="100000">
                                          <p:val>
                                            <p:fltVal val="0"/>
                                          </p:val>
                                        </p:tav>
                                      </p:tavLst>
                                    </p:anim>
                                    <p:anim calcmode="lin" valueType="num">
                                      <p:cBhvr>
                                        <p:cTn id="9" dur="800" decel="100000" fill="hold"/>
                                        <p:tgtEl>
                                          <p:spTgt spid="25"/>
                                        </p:tgtEl>
                                        <p:attrNameLst>
                                          <p:attrName>ppt_x</p:attrName>
                                        </p:attrNameLst>
                                      </p:cBhvr>
                                      <p:tavLst>
                                        <p:tav tm="0">
                                          <p:val>
                                            <p:strVal val="#ppt_x+0.4"/>
                                          </p:val>
                                        </p:tav>
                                        <p:tav tm="100000">
                                          <p:val>
                                            <p:strVal val="#ppt_x-0.05"/>
                                          </p:val>
                                        </p:tav>
                                      </p:tavLst>
                                    </p:anim>
                                    <p:anim calcmode="lin" valueType="num">
                                      <p:cBhvr>
                                        <p:cTn id="10" dur="800" decel="100000" fill="hold"/>
                                        <p:tgtEl>
                                          <p:spTgt spid="2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5"/>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2" presetClass="entr" presetSubtype="2" fill="hold" grpId="0" nodeType="afterEffect">
                                  <p:stCondLst>
                                    <p:cond delay="0"/>
                                  </p:stCondLst>
                                  <p:childTnLst>
                                    <p:set>
                                      <p:cBhvr>
                                        <p:cTn id="15" dur="1" fill="hold">
                                          <p:stCondLst>
                                            <p:cond delay="0"/>
                                          </p:stCondLst>
                                        </p:cTn>
                                        <p:tgtEl>
                                          <p:spTgt spid="108"/>
                                        </p:tgtEl>
                                        <p:attrNameLst>
                                          <p:attrName>style.visibility</p:attrName>
                                        </p:attrNameLst>
                                      </p:cBhvr>
                                      <p:to>
                                        <p:strVal val="visible"/>
                                      </p:to>
                                    </p:set>
                                    <p:anim calcmode="lin" valueType="num">
                                      <p:cBhvr additive="base">
                                        <p:cTn id="16" dur="500"/>
                                        <p:tgtEl>
                                          <p:spTgt spid="108"/>
                                        </p:tgtEl>
                                        <p:attrNameLst>
                                          <p:attrName>ppt_x</p:attrName>
                                        </p:attrNameLst>
                                      </p:cBhvr>
                                      <p:tavLst>
                                        <p:tav tm="0">
                                          <p:val>
                                            <p:strVal val="#ppt_x+#ppt_w*1.125000"/>
                                          </p:val>
                                        </p:tav>
                                        <p:tav tm="100000">
                                          <p:val>
                                            <p:strVal val="#ppt_x"/>
                                          </p:val>
                                        </p:tav>
                                      </p:tavLst>
                                    </p:anim>
                                    <p:animEffect transition="in" filter="wipe(left)">
                                      <p:cBhvr>
                                        <p:cTn id="17" dur="500"/>
                                        <p:tgtEl>
                                          <p:spTgt spid="10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09"/>
                                        </p:tgtEl>
                                        <p:attrNameLst>
                                          <p:attrName>style.visibility</p:attrName>
                                        </p:attrNameLst>
                                      </p:cBhvr>
                                      <p:to>
                                        <p:strVal val="visible"/>
                                      </p:to>
                                    </p:set>
                                    <p:anim calcmode="lin" valueType="num">
                                      <p:cBhvr additive="base">
                                        <p:cTn id="22" dur="500" fill="hold"/>
                                        <p:tgtEl>
                                          <p:spTgt spid="109"/>
                                        </p:tgtEl>
                                        <p:attrNameLst>
                                          <p:attrName>ppt_x</p:attrName>
                                        </p:attrNameLst>
                                      </p:cBhvr>
                                      <p:tavLst>
                                        <p:tav tm="0">
                                          <p:val>
                                            <p:strVal val="0-#ppt_w/2"/>
                                          </p:val>
                                        </p:tav>
                                        <p:tav tm="100000">
                                          <p:val>
                                            <p:strVal val="#ppt_x"/>
                                          </p:val>
                                        </p:tav>
                                      </p:tavLst>
                                    </p:anim>
                                    <p:anim calcmode="lin" valueType="num">
                                      <p:cBhvr additive="base">
                                        <p:cTn id="23" dur="500" fill="hold"/>
                                        <p:tgtEl>
                                          <p:spTgt spid="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因特网的域名结构</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t>因特网采用</a:t>
            </a:r>
            <a:r>
              <a:rPr lang="zh-CN" altLang="en-US" b="1" dirty="0">
                <a:solidFill>
                  <a:schemeClr val="accent1">
                    <a:lumMod val="75000"/>
                  </a:schemeClr>
                </a:solidFill>
              </a:rPr>
              <a:t>层次树状结构的域名结构</a:t>
            </a:r>
            <a:r>
              <a:rPr lang="zh-CN" altLang="en-US" b="1" dirty="0"/>
              <a:t>。</a:t>
            </a:r>
            <a:endParaRPr lang="en-US" altLang="zh-CN" b="1" dirty="0"/>
          </a:p>
        </p:txBody>
      </p:sp>
      <p:sp>
        <p:nvSpPr>
          <p:cNvPr id="20" name="矩形 19">
            <a:extLst>
              <a:ext uri="{FF2B5EF4-FFF2-40B4-BE49-F238E27FC236}">
                <a16:creationId xmlns:a16="http://schemas.microsoft.com/office/drawing/2014/main" id="{92D380E9-ABAC-D7AE-FD2D-CE5DCA71CF65}"/>
              </a:ext>
            </a:extLst>
          </p:cNvPr>
          <p:cNvSpPr/>
          <p:nvPr/>
        </p:nvSpPr>
        <p:spPr>
          <a:xfrm>
            <a:off x="1016000" y="173318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íşlïḍè">
            <a:extLst>
              <a:ext uri="{FF2B5EF4-FFF2-40B4-BE49-F238E27FC236}">
                <a16:creationId xmlns:a16="http://schemas.microsoft.com/office/drawing/2014/main" id="{4E5481ED-3740-1E9A-8B93-505064147DCE}"/>
              </a:ext>
            </a:extLst>
          </p:cNvPr>
          <p:cNvSpPr txBox="1"/>
          <p:nvPr/>
        </p:nvSpPr>
        <p:spPr>
          <a:xfrm>
            <a:off x="1293757" y="1652124"/>
            <a:ext cx="10593443" cy="417270"/>
          </a:xfrm>
          <a:prstGeom prst="rect">
            <a:avLst/>
          </a:prstGeom>
          <a:noFill/>
        </p:spPr>
        <p:txBody>
          <a:bodyPr wrap="square" lIns="91440" tIns="45720" rIns="91440" bIns="45720" anchor="ctr">
            <a:noAutofit/>
          </a:bodyPr>
          <a:lstStyle/>
          <a:p>
            <a:r>
              <a:rPr lang="zh-CN" altLang="en-US" b="1" dirty="0"/>
              <a:t>域名的结构由若干个分量组成，各分量之间用“点”隔开，分别代表不同级别的域名。</a:t>
            </a:r>
            <a:endParaRPr lang="en-US" altLang="zh-CN" b="1" dirty="0">
              <a:solidFill>
                <a:srgbClr val="C00000"/>
              </a:solidFill>
            </a:endParaRPr>
          </a:p>
        </p:txBody>
      </p:sp>
      <p:sp>
        <p:nvSpPr>
          <p:cNvPr id="23" name="矩形 22">
            <a:extLst>
              <a:ext uri="{FF2B5EF4-FFF2-40B4-BE49-F238E27FC236}">
                <a16:creationId xmlns:a16="http://schemas.microsoft.com/office/drawing/2014/main" id="{2D41AD6C-99A9-2DCA-7BB9-7C408A29E21C}"/>
              </a:ext>
            </a:extLst>
          </p:cNvPr>
          <p:cNvSpPr/>
          <p:nvPr/>
        </p:nvSpPr>
        <p:spPr>
          <a:xfrm>
            <a:off x="2596075" y="2140453"/>
            <a:ext cx="5276676" cy="4697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latin typeface="+mj-ea"/>
                <a:ea typeface="+mj-ea"/>
              </a:rPr>
              <a:t>… .</a:t>
            </a:r>
            <a:r>
              <a:rPr lang="zh-CN" altLang="en-US" sz="2400" b="1" dirty="0">
                <a:solidFill>
                  <a:schemeClr val="bg1"/>
                </a:solidFill>
                <a:latin typeface="+mj-ea"/>
                <a:ea typeface="+mj-ea"/>
              </a:rPr>
              <a:t>三级域名</a:t>
            </a:r>
            <a:r>
              <a:rPr lang="en-US" altLang="zh-CN" sz="2400" b="1" dirty="0">
                <a:solidFill>
                  <a:schemeClr val="bg1"/>
                </a:solidFill>
                <a:latin typeface="+mj-ea"/>
                <a:ea typeface="+mj-ea"/>
              </a:rPr>
              <a:t>.</a:t>
            </a:r>
            <a:r>
              <a:rPr lang="zh-CN" altLang="en-US" sz="2400" b="1" dirty="0">
                <a:solidFill>
                  <a:schemeClr val="bg1"/>
                </a:solidFill>
                <a:latin typeface="+mj-ea"/>
                <a:ea typeface="+mj-ea"/>
              </a:rPr>
              <a:t>二级域名</a:t>
            </a:r>
            <a:r>
              <a:rPr lang="en-US" altLang="zh-CN" sz="2400" b="1" dirty="0">
                <a:solidFill>
                  <a:schemeClr val="bg1"/>
                </a:solidFill>
                <a:latin typeface="+mj-ea"/>
                <a:ea typeface="+mj-ea"/>
              </a:rPr>
              <a:t>.</a:t>
            </a:r>
            <a:r>
              <a:rPr lang="zh-CN" altLang="en-US" sz="2400" b="1" dirty="0">
                <a:solidFill>
                  <a:schemeClr val="bg1"/>
                </a:solidFill>
                <a:latin typeface="+mj-ea"/>
                <a:ea typeface="+mj-ea"/>
              </a:rPr>
              <a:t>顶级域名</a:t>
            </a:r>
          </a:p>
        </p:txBody>
      </p:sp>
      <p:sp>
        <p:nvSpPr>
          <p:cNvPr id="24" name="矩形 23">
            <a:extLst>
              <a:ext uri="{FF2B5EF4-FFF2-40B4-BE49-F238E27FC236}">
                <a16:creationId xmlns:a16="http://schemas.microsoft.com/office/drawing/2014/main" id="{D84FBEA2-1924-A5EC-527F-7B8DD877AF07}"/>
              </a:ext>
            </a:extLst>
          </p:cNvPr>
          <p:cNvSpPr/>
          <p:nvPr/>
        </p:nvSpPr>
        <p:spPr>
          <a:xfrm>
            <a:off x="1410448" y="276235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B908DDB2-E725-1E7B-5F04-4FDC64C5A2FA}"/>
              </a:ext>
            </a:extLst>
          </p:cNvPr>
          <p:cNvSpPr txBox="1"/>
          <p:nvPr/>
        </p:nvSpPr>
        <p:spPr>
          <a:xfrm>
            <a:off x="1688205" y="2681296"/>
            <a:ext cx="10198995" cy="417270"/>
          </a:xfrm>
          <a:prstGeom prst="rect">
            <a:avLst/>
          </a:prstGeom>
          <a:noFill/>
        </p:spPr>
        <p:txBody>
          <a:bodyPr wrap="square" lIns="91440" tIns="45720" rIns="91440" bIns="45720" anchor="ctr">
            <a:noAutofit/>
          </a:bodyPr>
          <a:lstStyle/>
          <a:p>
            <a:r>
              <a:rPr lang="zh-CN" altLang="en-US" b="1" dirty="0"/>
              <a:t>每一级的域名都由英文字母和数字组成，不超过</a:t>
            </a:r>
            <a:r>
              <a:rPr lang="en-US" altLang="zh-CN" b="1" dirty="0"/>
              <a:t>63</a:t>
            </a:r>
            <a:r>
              <a:rPr lang="zh-CN" altLang="en-US" b="1" dirty="0"/>
              <a:t>个字符，不区分大小写字母。</a:t>
            </a:r>
            <a:endParaRPr lang="en-US" altLang="zh-CN" b="1" dirty="0"/>
          </a:p>
        </p:txBody>
      </p:sp>
      <p:sp>
        <p:nvSpPr>
          <p:cNvPr id="26" name="矩形 25">
            <a:extLst>
              <a:ext uri="{FF2B5EF4-FFF2-40B4-BE49-F238E27FC236}">
                <a16:creationId xmlns:a16="http://schemas.microsoft.com/office/drawing/2014/main" id="{0A10B7AF-5225-04C6-4E20-E6F0C2240D1C}"/>
              </a:ext>
            </a:extLst>
          </p:cNvPr>
          <p:cNvSpPr/>
          <p:nvPr/>
        </p:nvSpPr>
        <p:spPr>
          <a:xfrm>
            <a:off x="1410448" y="317962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1CA240-06F6-853B-535C-C613F22B20D4}"/>
              </a:ext>
            </a:extLst>
          </p:cNvPr>
          <p:cNvSpPr txBox="1"/>
          <p:nvPr/>
        </p:nvSpPr>
        <p:spPr>
          <a:xfrm>
            <a:off x="1688205" y="3098566"/>
            <a:ext cx="10198995" cy="417270"/>
          </a:xfrm>
          <a:prstGeom prst="rect">
            <a:avLst/>
          </a:prstGeom>
          <a:noFill/>
        </p:spPr>
        <p:txBody>
          <a:bodyPr wrap="square" lIns="91440" tIns="45720" rIns="91440" bIns="45720" anchor="ctr">
            <a:noAutofit/>
          </a:bodyPr>
          <a:lstStyle/>
          <a:p>
            <a:r>
              <a:rPr lang="zh-CN" altLang="en-US" b="1" dirty="0"/>
              <a:t>级别最低的域名写在最左边，而级别最高的顶级域名写在最右边。</a:t>
            </a:r>
            <a:endParaRPr lang="en-US" altLang="zh-CN" b="1" dirty="0"/>
          </a:p>
        </p:txBody>
      </p:sp>
      <p:sp>
        <p:nvSpPr>
          <p:cNvPr id="28" name="矩形 27">
            <a:extLst>
              <a:ext uri="{FF2B5EF4-FFF2-40B4-BE49-F238E27FC236}">
                <a16:creationId xmlns:a16="http://schemas.microsoft.com/office/drawing/2014/main" id="{FFFF977B-8E8E-E269-9AE9-C21BBFA7AA44}"/>
              </a:ext>
            </a:extLst>
          </p:cNvPr>
          <p:cNvSpPr/>
          <p:nvPr/>
        </p:nvSpPr>
        <p:spPr>
          <a:xfrm>
            <a:off x="1410448" y="359689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3293709B-2B4C-2287-2C5B-64E22D220254}"/>
              </a:ext>
            </a:extLst>
          </p:cNvPr>
          <p:cNvSpPr txBox="1"/>
          <p:nvPr/>
        </p:nvSpPr>
        <p:spPr>
          <a:xfrm>
            <a:off x="1688205" y="3515836"/>
            <a:ext cx="10198995" cy="417270"/>
          </a:xfrm>
          <a:prstGeom prst="rect">
            <a:avLst/>
          </a:prstGeom>
          <a:noFill/>
        </p:spPr>
        <p:txBody>
          <a:bodyPr wrap="square" lIns="91440" tIns="45720" rIns="91440" bIns="45720" anchor="ctr">
            <a:noAutofit/>
          </a:bodyPr>
          <a:lstStyle/>
          <a:p>
            <a:r>
              <a:rPr lang="zh-CN" altLang="en-US" b="1" dirty="0"/>
              <a:t>完整的域名不超过</a:t>
            </a:r>
            <a:r>
              <a:rPr lang="en-US" altLang="zh-CN" b="1" dirty="0"/>
              <a:t>255</a:t>
            </a:r>
            <a:r>
              <a:rPr lang="zh-CN" altLang="en-US" b="1" dirty="0"/>
              <a:t>个字符。</a:t>
            </a:r>
            <a:endParaRPr lang="en-US" altLang="zh-CN" b="1" dirty="0"/>
          </a:p>
        </p:txBody>
      </p:sp>
      <p:sp>
        <p:nvSpPr>
          <p:cNvPr id="30" name="矩形 29">
            <a:extLst>
              <a:ext uri="{FF2B5EF4-FFF2-40B4-BE49-F238E27FC236}">
                <a16:creationId xmlns:a16="http://schemas.microsoft.com/office/drawing/2014/main" id="{A724C805-1A86-4BA7-EA5D-E4A1D9271672}"/>
              </a:ext>
            </a:extLst>
          </p:cNvPr>
          <p:cNvSpPr/>
          <p:nvPr/>
        </p:nvSpPr>
        <p:spPr>
          <a:xfrm>
            <a:off x="1001806" y="4012715"/>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íşlïḍè">
            <a:extLst>
              <a:ext uri="{FF2B5EF4-FFF2-40B4-BE49-F238E27FC236}">
                <a16:creationId xmlns:a16="http://schemas.microsoft.com/office/drawing/2014/main" id="{5EF42BB8-FA41-99FE-65E7-64F2D0B9B1A7}"/>
              </a:ext>
            </a:extLst>
          </p:cNvPr>
          <p:cNvSpPr txBox="1"/>
          <p:nvPr/>
        </p:nvSpPr>
        <p:spPr>
          <a:xfrm>
            <a:off x="1279563" y="3931653"/>
            <a:ext cx="10593443" cy="417270"/>
          </a:xfrm>
          <a:prstGeom prst="rect">
            <a:avLst/>
          </a:prstGeom>
          <a:noFill/>
        </p:spPr>
        <p:txBody>
          <a:bodyPr wrap="square" lIns="91440" tIns="45720" rIns="91440" bIns="45720" anchor="ctr">
            <a:noAutofit/>
          </a:bodyPr>
          <a:lstStyle/>
          <a:p>
            <a:r>
              <a:rPr lang="zh-CN" altLang="en-US" b="1" dirty="0"/>
              <a:t>域名系统既不规定一个域名需要包含多少个下级域名，也不规定每一级的域名代表什么意思。</a:t>
            </a:r>
            <a:endParaRPr lang="en-US" altLang="zh-CN" b="1" dirty="0">
              <a:solidFill>
                <a:srgbClr val="C00000"/>
              </a:solidFill>
            </a:endParaRPr>
          </a:p>
        </p:txBody>
      </p:sp>
      <p:sp>
        <p:nvSpPr>
          <p:cNvPr id="32" name="矩形 31">
            <a:extLst>
              <a:ext uri="{FF2B5EF4-FFF2-40B4-BE49-F238E27FC236}">
                <a16:creationId xmlns:a16="http://schemas.microsoft.com/office/drawing/2014/main" id="{0FAB6AA9-F8B2-A635-9950-FB63F52A8B94}"/>
              </a:ext>
            </a:extLst>
          </p:cNvPr>
          <p:cNvSpPr/>
          <p:nvPr/>
        </p:nvSpPr>
        <p:spPr>
          <a:xfrm>
            <a:off x="1001806" y="4423451"/>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íşlïḍè">
            <a:extLst>
              <a:ext uri="{FF2B5EF4-FFF2-40B4-BE49-F238E27FC236}">
                <a16:creationId xmlns:a16="http://schemas.microsoft.com/office/drawing/2014/main" id="{74823F79-E4ED-06E1-89DC-0C7C27A52011}"/>
              </a:ext>
            </a:extLst>
          </p:cNvPr>
          <p:cNvSpPr txBox="1"/>
          <p:nvPr/>
        </p:nvSpPr>
        <p:spPr>
          <a:xfrm>
            <a:off x="1279563" y="4342388"/>
            <a:ext cx="10593443" cy="693535"/>
          </a:xfrm>
          <a:prstGeom prst="rect">
            <a:avLst/>
          </a:prstGeom>
          <a:noFill/>
        </p:spPr>
        <p:txBody>
          <a:bodyPr wrap="square" lIns="91440" tIns="45720" rIns="91440" bIns="45720" anchor="ctr">
            <a:noAutofit/>
          </a:bodyPr>
          <a:lstStyle/>
          <a:p>
            <a:r>
              <a:rPr lang="zh-CN" altLang="en-US" b="1" dirty="0"/>
              <a:t>各级域名由其上一级的域名管理机构管理，而最高的顶级域名则由因特网名称与数字地址分配机构</a:t>
            </a:r>
            <a:r>
              <a:rPr lang="en-US" altLang="zh-CN" b="1" dirty="0"/>
              <a:t>ICANN</a:t>
            </a:r>
            <a:r>
              <a:rPr lang="zh-CN" altLang="en-US" b="1" dirty="0"/>
              <a:t>进行管理。</a:t>
            </a:r>
            <a:endParaRPr lang="en-US" altLang="zh-CN" b="1" dirty="0">
              <a:solidFill>
                <a:srgbClr val="C00000"/>
              </a:solidFill>
            </a:endParaRPr>
          </a:p>
        </p:txBody>
      </p:sp>
      <p:sp>
        <p:nvSpPr>
          <p:cNvPr id="34" name="矩形 33">
            <a:extLst>
              <a:ext uri="{FF2B5EF4-FFF2-40B4-BE49-F238E27FC236}">
                <a16:creationId xmlns:a16="http://schemas.microsoft.com/office/drawing/2014/main" id="{0E2FE551-35DD-4ED4-537C-C0707F3D730F}"/>
              </a:ext>
            </a:extLst>
          </p:cNvPr>
          <p:cNvSpPr/>
          <p:nvPr/>
        </p:nvSpPr>
        <p:spPr>
          <a:xfrm>
            <a:off x="2667875" y="5504024"/>
            <a:ext cx="1479259"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5236925F-20B0-95CF-8BDC-D9A2E2FC9F14}"/>
              </a:ext>
            </a:extLst>
          </p:cNvPr>
          <p:cNvSpPr/>
          <p:nvPr/>
        </p:nvSpPr>
        <p:spPr>
          <a:xfrm>
            <a:off x="4488287" y="5504025"/>
            <a:ext cx="2402049"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E3D194D3-6D89-CC47-71B3-1284E3CA3549}"/>
              </a:ext>
            </a:extLst>
          </p:cNvPr>
          <p:cNvSpPr/>
          <p:nvPr/>
        </p:nvSpPr>
        <p:spPr>
          <a:xfrm>
            <a:off x="7242673" y="5504026"/>
            <a:ext cx="1479259"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C1FE4CA0-34B0-F6C0-75F1-A3E40901F60F}"/>
              </a:ext>
            </a:extLst>
          </p:cNvPr>
          <p:cNvSpPr/>
          <p:nvPr/>
        </p:nvSpPr>
        <p:spPr>
          <a:xfrm>
            <a:off x="9074269" y="5504027"/>
            <a:ext cx="1118534" cy="427839"/>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40F0009A-1ABB-AD81-8656-CF5E2549DEE1}"/>
              </a:ext>
            </a:extLst>
          </p:cNvPr>
          <p:cNvSpPr txBox="1"/>
          <p:nvPr/>
        </p:nvSpPr>
        <p:spPr>
          <a:xfrm>
            <a:off x="9074269" y="5965692"/>
            <a:ext cx="1157681" cy="369332"/>
          </a:xfrm>
          <a:prstGeom prst="rect">
            <a:avLst/>
          </a:prstGeom>
          <a:noFill/>
        </p:spPr>
        <p:txBody>
          <a:bodyPr wrap="square" rtlCol="0">
            <a:spAutoFit/>
          </a:bodyPr>
          <a:lstStyle/>
          <a:p>
            <a:pPr algn="ctr"/>
            <a:r>
              <a:rPr lang="zh-CN" altLang="en-US" b="1" dirty="0">
                <a:latin typeface="+mn-ea"/>
              </a:rPr>
              <a:t>顶级域名</a:t>
            </a:r>
          </a:p>
        </p:txBody>
      </p:sp>
      <p:sp>
        <p:nvSpPr>
          <p:cNvPr id="40" name="文本框 39">
            <a:extLst>
              <a:ext uri="{FF2B5EF4-FFF2-40B4-BE49-F238E27FC236}">
                <a16:creationId xmlns:a16="http://schemas.microsoft.com/office/drawing/2014/main" id="{ED73F091-112E-6ABB-ACC9-907B0ACC0780}"/>
              </a:ext>
            </a:extLst>
          </p:cNvPr>
          <p:cNvSpPr txBox="1"/>
          <p:nvPr/>
        </p:nvSpPr>
        <p:spPr>
          <a:xfrm>
            <a:off x="7403461" y="5965691"/>
            <a:ext cx="1157681" cy="369332"/>
          </a:xfrm>
          <a:prstGeom prst="rect">
            <a:avLst/>
          </a:prstGeom>
          <a:noFill/>
        </p:spPr>
        <p:txBody>
          <a:bodyPr wrap="square" rtlCol="0">
            <a:spAutoFit/>
          </a:bodyPr>
          <a:lstStyle/>
          <a:p>
            <a:pPr algn="ctr"/>
            <a:r>
              <a:rPr lang="zh-CN" altLang="en-US" b="1" dirty="0">
                <a:latin typeface="+mn-ea"/>
              </a:rPr>
              <a:t>二级域名</a:t>
            </a:r>
          </a:p>
        </p:txBody>
      </p:sp>
      <p:sp>
        <p:nvSpPr>
          <p:cNvPr id="41" name="文本框 40">
            <a:extLst>
              <a:ext uri="{FF2B5EF4-FFF2-40B4-BE49-F238E27FC236}">
                <a16:creationId xmlns:a16="http://schemas.microsoft.com/office/drawing/2014/main" id="{F38771A7-4E04-C8E9-2CA1-5DD50D952957}"/>
              </a:ext>
            </a:extLst>
          </p:cNvPr>
          <p:cNvSpPr txBox="1"/>
          <p:nvPr/>
        </p:nvSpPr>
        <p:spPr>
          <a:xfrm>
            <a:off x="5110470" y="5965691"/>
            <a:ext cx="1157681" cy="369332"/>
          </a:xfrm>
          <a:prstGeom prst="rect">
            <a:avLst/>
          </a:prstGeom>
          <a:noFill/>
        </p:spPr>
        <p:txBody>
          <a:bodyPr wrap="square" rtlCol="0">
            <a:spAutoFit/>
          </a:bodyPr>
          <a:lstStyle/>
          <a:p>
            <a:pPr algn="ctr"/>
            <a:r>
              <a:rPr lang="zh-CN" altLang="en-US" b="1" dirty="0">
                <a:latin typeface="+mn-ea"/>
              </a:rPr>
              <a:t>三级域名</a:t>
            </a:r>
          </a:p>
        </p:txBody>
      </p:sp>
      <p:sp>
        <p:nvSpPr>
          <p:cNvPr id="42" name="文本框 41">
            <a:extLst>
              <a:ext uri="{FF2B5EF4-FFF2-40B4-BE49-F238E27FC236}">
                <a16:creationId xmlns:a16="http://schemas.microsoft.com/office/drawing/2014/main" id="{DCE28499-A2D7-0A56-E5B5-3BA19A2222B8}"/>
              </a:ext>
            </a:extLst>
          </p:cNvPr>
          <p:cNvSpPr txBox="1"/>
          <p:nvPr/>
        </p:nvSpPr>
        <p:spPr>
          <a:xfrm>
            <a:off x="2828663" y="5965689"/>
            <a:ext cx="1157681" cy="369332"/>
          </a:xfrm>
          <a:prstGeom prst="rect">
            <a:avLst/>
          </a:prstGeom>
          <a:noFill/>
        </p:spPr>
        <p:txBody>
          <a:bodyPr wrap="square" rtlCol="0">
            <a:spAutoFit/>
          </a:bodyPr>
          <a:lstStyle/>
          <a:p>
            <a:pPr algn="ctr"/>
            <a:r>
              <a:rPr lang="zh-CN" altLang="en-US" b="1" dirty="0">
                <a:latin typeface="+mn-ea"/>
              </a:rPr>
              <a:t>四级域名</a:t>
            </a:r>
          </a:p>
        </p:txBody>
      </p:sp>
      <p:grpSp>
        <p:nvGrpSpPr>
          <p:cNvPr id="44" name="组合 43">
            <a:extLst>
              <a:ext uri="{FF2B5EF4-FFF2-40B4-BE49-F238E27FC236}">
                <a16:creationId xmlns:a16="http://schemas.microsoft.com/office/drawing/2014/main" id="{2EA07EB2-0D83-CD6A-2300-5D48CA75D6BC}"/>
              </a:ext>
            </a:extLst>
          </p:cNvPr>
          <p:cNvGrpSpPr/>
          <p:nvPr/>
        </p:nvGrpSpPr>
        <p:grpSpPr>
          <a:xfrm>
            <a:off x="801498" y="5035923"/>
            <a:ext cx="9849903" cy="1005190"/>
            <a:chOff x="801498" y="5035923"/>
            <a:chExt cx="9849903" cy="1005190"/>
          </a:xfrm>
        </p:grpSpPr>
        <p:sp>
          <p:nvSpPr>
            <p:cNvPr id="38" name="文本框 37">
              <a:extLst>
                <a:ext uri="{FF2B5EF4-FFF2-40B4-BE49-F238E27FC236}">
                  <a16:creationId xmlns:a16="http://schemas.microsoft.com/office/drawing/2014/main" id="{3C0E3504-0B7A-D441-1446-C58E7FA27E24}"/>
                </a:ext>
              </a:extLst>
            </p:cNvPr>
            <p:cNvSpPr txBox="1"/>
            <p:nvPr/>
          </p:nvSpPr>
          <p:spPr>
            <a:xfrm>
              <a:off x="2405022" y="5394782"/>
              <a:ext cx="8246379" cy="646331"/>
            </a:xfrm>
            <a:prstGeom prst="rect">
              <a:avLst/>
            </a:prstGeom>
            <a:noFill/>
          </p:spPr>
          <p:txBody>
            <a:bodyPr wrap="square" rtlCol="0">
              <a:spAutoFit/>
            </a:bodyPr>
            <a:lstStyle/>
            <a:p>
              <a:pPr algn="ctr"/>
              <a:r>
                <a:rPr lang="en-US" altLang="zh-CN" sz="3600" b="1" spc="1600" dirty="0">
                  <a:latin typeface="Arial Black" panose="020B0A04020102020204" pitchFamily="34" charset="0"/>
                </a:rPr>
                <a:t>nic.hnust.edu.cn</a:t>
              </a:r>
              <a:endParaRPr lang="zh-CN" altLang="en-US" sz="3600" b="1" spc="1600" dirty="0">
                <a:latin typeface="Arial Black" panose="020B0A04020102020204" pitchFamily="34" charset="0"/>
              </a:endParaRPr>
            </a:p>
          </p:txBody>
        </p:sp>
        <p:sp>
          <p:nvSpPr>
            <p:cNvPr id="43" name="文本框 42">
              <a:extLst>
                <a:ext uri="{FF2B5EF4-FFF2-40B4-BE49-F238E27FC236}">
                  <a16:creationId xmlns:a16="http://schemas.microsoft.com/office/drawing/2014/main" id="{35967826-B54F-6C0A-24FB-DD1F7872B885}"/>
                </a:ext>
              </a:extLst>
            </p:cNvPr>
            <p:cNvSpPr txBox="1"/>
            <p:nvPr/>
          </p:nvSpPr>
          <p:spPr>
            <a:xfrm>
              <a:off x="801498" y="5035923"/>
              <a:ext cx="6101122" cy="369332"/>
            </a:xfrm>
            <a:prstGeom prst="rect">
              <a:avLst/>
            </a:prstGeom>
            <a:noFill/>
          </p:spPr>
          <p:txBody>
            <a:bodyPr wrap="square">
              <a:spAutoFit/>
            </a:bodyPr>
            <a:lstStyle/>
            <a:p>
              <a:r>
                <a:rPr lang="zh-CN" altLang="en-US" b="1" dirty="0"/>
                <a:t>【举例】湖南科技大学网络信息中心的域名</a:t>
              </a:r>
            </a:p>
          </p:txBody>
        </p:sp>
      </p:grpSp>
    </p:spTree>
    <p:custDataLst>
      <p:tags r:id="rId1"/>
    </p:custDataLst>
    <p:extLst>
      <p:ext uri="{BB962C8B-B14F-4D97-AF65-F5344CB8AC3E}">
        <p14:creationId xmlns:p14="http://schemas.microsoft.com/office/powerpoint/2010/main" val="222001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 calcmode="lin" valueType="num">
                                      <p:cBhvr>
                                        <p:cTn id="15" dur="500" fill="hold"/>
                                        <p:tgtEl>
                                          <p:spTgt spid="11"/>
                                        </p:tgtEl>
                                        <p:attrNameLst>
                                          <p:attrName>style.rotation</p:attrName>
                                        </p:attrNameLst>
                                      </p:cBhvr>
                                      <p:tavLst>
                                        <p:tav tm="0">
                                          <p:val>
                                            <p:fltVal val="360"/>
                                          </p:val>
                                        </p:tav>
                                        <p:tav tm="100000">
                                          <p:val>
                                            <p:fltVal val="0"/>
                                          </p:val>
                                        </p:tav>
                                      </p:tavLst>
                                    </p:anim>
                                    <p:animEffect transition="in" filter="fade">
                                      <p:cBhvr>
                                        <p:cTn id="16" dur="500"/>
                                        <p:tgtEl>
                                          <p:spTgt spid="11"/>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 calcmode="lin" valueType="num">
                                      <p:cBhvr>
                                        <p:cTn id="26" dur="500" fill="hold"/>
                                        <p:tgtEl>
                                          <p:spTgt spid="20"/>
                                        </p:tgtEl>
                                        <p:attrNameLst>
                                          <p:attrName>style.rotation</p:attrName>
                                        </p:attrNameLst>
                                      </p:cBhvr>
                                      <p:tavLst>
                                        <p:tav tm="0">
                                          <p:val>
                                            <p:fltVal val="360"/>
                                          </p:val>
                                        </p:tav>
                                        <p:tav tm="100000">
                                          <p:val>
                                            <p:fltVal val="0"/>
                                          </p:val>
                                        </p:tav>
                                      </p:tavLst>
                                    </p:anim>
                                    <p:animEffect transition="in" filter="fade">
                                      <p:cBhvr>
                                        <p:cTn id="27" dur="500"/>
                                        <p:tgtEl>
                                          <p:spTgt spid="20"/>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500" fill="hold"/>
                                        <p:tgtEl>
                                          <p:spTgt spid="23"/>
                                        </p:tgtEl>
                                        <p:attrNameLst>
                                          <p:attrName>ppt_w</p:attrName>
                                        </p:attrNameLst>
                                      </p:cBhvr>
                                      <p:tavLst>
                                        <p:tav tm="0">
                                          <p:val>
                                            <p:fltVal val="0"/>
                                          </p:val>
                                        </p:tav>
                                        <p:tav tm="100000">
                                          <p:val>
                                            <p:strVal val="#ppt_w"/>
                                          </p:val>
                                        </p:tav>
                                      </p:tavLst>
                                    </p:anim>
                                    <p:anim calcmode="lin" valueType="num">
                                      <p:cBhvr>
                                        <p:cTn id="36"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49" presetClass="entr" presetSubtype="0" decel="10000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 calcmode="lin" valueType="num">
                                      <p:cBhvr>
                                        <p:cTn id="43" dur="500" fill="hold"/>
                                        <p:tgtEl>
                                          <p:spTgt spid="24"/>
                                        </p:tgtEl>
                                        <p:attrNameLst>
                                          <p:attrName>style.rotation</p:attrName>
                                        </p:attrNameLst>
                                      </p:cBhvr>
                                      <p:tavLst>
                                        <p:tav tm="0">
                                          <p:val>
                                            <p:fltVal val="360"/>
                                          </p:val>
                                        </p:tav>
                                        <p:tav tm="100000">
                                          <p:val>
                                            <p:fltVal val="0"/>
                                          </p:val>
                                        </p:tav>
                                      </p:tavLst>
                                    </p:anim>
                                    <p:animEffect transition="in" filter="fade">
                                      <p:cBhvr>
                                        <p:cTn id="44" dur="500"/>
                                        <p:tgtEl>
                                          <p:spTgt spid="24"/>
                                        </p:tgtEl>
                                      </p:cBhvr>
                                    </p:animEffect>
                                  </p:childTnLst>
                                </p:cTn>
                              </p:par>
                            </p:childTnLst>
                          </p:cTn>
                        </p:par>
                        <p:par>
                          <p:cTn id="45" fill="hold">
                            <p:stCondLst>
                              <p:cond delay="500"/>
                            </p:stCondLst>
                            <p:childTnLst>
                              <p:par>
                                <p:cTn id="46" presetID="1" presetClass="entr" presetSubtype="0" fill="hold" grpId="0" nodeType="afterEffect">
                                  <p:stCondLst>
                                    <p:cond delay="0"/>
                                  </p:stCondLst>
                                  <p:iterate type="lt">
                                    <p:tmAbs val="100"/>
                                  </p:iterate>
                                  <p:childTnLst>
                                    <p:set>
                                      <p:cBhvr>
                                        <p:cTn id="47" dur="1" fill="hold">
                                          <p:stCondLst>
                                            <p:cond delay="0"/>
                                          </p:stCondLst>
                                        </p:cTn>
                                        <p:tgtEl>
                                          <p:spTgt spid="2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49" presetClass="entr" presetSubtype="0" decel="10000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p:cTn id="52" dur="500" fill="hold"/>
                                        <p:tgtEl>
                                          <p:spTgt spid="26"/>
                                        </p:tgtEl>
                                        <p:attrNameLst>
                                          <p:attrName>ppt_w</p:attrName>
                                        </p:attrNameLst>
                                      </p:cBhvr>
                                      <p:tavLst>
                                        <p:tav tm="0">
                                          <p:val>
                                            <p:fltVal val="0"/>
                                          </p:val>
                                        </p:tav>
                                        <p:tav tm="100000">
                                          <p:val>
                                            <p:strVal val="#ppt_w"/>
                                          </p:val>
                                        </p:tav>
                                      </p:tavLst>
                                    </p:anim>
                                    <p:anim calcmode="lin" valueType="num">
                                      <p:cBhvr>
                                        <p:cTn id="53" dur="500" fill="hold"/>
                                        <p:tgtEl>
                                          <p:spTgt spid="26"/>
                                        </p:tgtEl>
                                        <p:attrNameLst>
                                          <p:attrName>ppt_h</p:attrName>
                                        </p:attrNameLst>
                                      </p:cBhvr>
                                      <p:tavLst>
                                        <p:tav tm="0">
                                          <p:val>
                                            <p:fltVal val="0"/>
                                          </p:val>
                                        </p:tav>
                                        <p:tav tm="100000">
                                          <p:val>
                                            <p:strVal val="#ppt_h"/>
                                          </p:val>
                                        </p:tav>
                                      </p:tavLst>
                                    </p:anim>
                                    <p:anim calcmode="lin" valueType="num">
                                      <p:cBhvr>
                                        <p:cTn id="54" dur="500" fill="hold"/>
                                        <p:tgtEl>
                                          <p:spTgt spid="26"/>
                                        </p:tgtEl>
                                        <p:attrNameLst>
                                          <p:attrName>style.rotation</p:attrName>
                                        </p:attrNameLst>
                                      </p:cBhvr>
                                      <p:tavLst>
                                        <p:tav tm="0">
                                          <p:val>
                                            <p:fltVal val="360"/>
                                          </p:val>
                                        </p:tav>
                                        <p:tav tm="100000">
                                          <p:val>
                                            <p:fltVal val="0"/>
                                          </p:val>
                                        </p:tav>
                                      </p:tavLst>
                                    </p:anim>
                                    <p:animEffect transition="in" filter="fade">
                                      <p:cBhvr>
                                        <p:cTn id="55" dur="500"/>
                                        <p:tgtEl>
                                          <p:spTgt spid="26"/>
                                        </p:tgtEl>
                                      </p:cBhvr>
                                    </p:animEffect>
                                  </p:childTnLst>
                                </p:cTn>
                              </p:par>
                            </p:childTnLst>
                          </p:cTn>
                        </p:par>
                        <p:par>
                          <p:cTn id="56" fill="hold">
                            <p:stCondLst>
                              <p:cond delay="500"/>
                            </p:stCondLst>
                            <p:childTnLst>
                              <p:par>
                                <p:cTn id="57" presetID="1" presetClass="entr" presetSubtype="0" fill="hold" grpId="0" nodeType="afterEffect">
                                  <p:stCondLst>
                                    <p:cond delay="0"/>
                                  </p:stCondLst>
                                  <p:iterate type="lt">
                                    <p:tmAbs val="100"/>
                                  </p:iterate>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9" presetClass="entr" presetSubtype="0" decel="10000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p:cTn id="63" dur="500" fill="hold"/>
                                        <p:tgtEl>
                                          <p:spTgt spid="28"/>
                                        </p:tgtEl>
                                        <p:attrNameLst>
                                          <p:attrName>ppt_w</p:attrName>
                                        </p:attrNameLst>
                                      </p:cBhvr>
                                      <p:tavLst>
                                        <p:tav tm="0">
                                          <p:val>
                                            <p:fltVal val="0"/>
                                          </p:val>
                                        </p:tav>
                                        <p:tav tm="100000">
                                          <p:val>
                                            <p:strVal val="#ppt_w"/>
                                          </p:val>
                                        </p:tav>
                                      </p:tavLst>
                                    </p:anim>
                                    <p:anim calcmode="lin" valueType="num">
                                      <p:cBhvr>
                                        <p:cTn id="64" dur="500" fill="hold"/>
                                        <p:tgtEl>
                                          <p:spTgt spid="28"/>
                                        </p:tgtEl>
                                        <p:attrNameLst>
                                          <p:attrName>ppt_h</p:attrName>
                                        </p:attrNameLst>
                                      </p:cBhvr>
                                      <p:tavLst>
                                        <p:tav tm="0">
                                          <p:val>
                                            <p:fltVal val="0"/>
                                          </p:val>
                                        </p:tav>
                                        <p:tav tm="100000">
                                          <p:val>
                                            <p:strVal val="#ppt_h"/>
                                          </p:val>
                                        </p:tav>
                                      </p:tavLst>
                                    </p:anim>
                                    <p:anim calcmode="lin" valueType="num">
                                      <p:cBhvr>
                                        <p:cTn id="65" dur="500" fill="hold"/>
                                        <p:tgtEl>
                                          <p:spTgt spid="28"/>
                                        </p:tgtEl>
                                        <p:attrNameLst>
                                          <p:attrName>style.rotation</p:attrName>
                                        </p:attrNameLst>
                                      </p:cBhvr>
                                      <p:tavLst>
                                        <p:tav tm="0">
                                          <p:val>
                                            <p:fltVal val="360"/>
                                          </p:val>
                                        </p:tav>
                                        <p:tav tm="100000">
                                          <p:val>
                                            <p:fltVal val="0"/>
                                          </p:val>
                                        </p:tav>
                                      </p:tavLst>
                                    </p:anim>
                                    <p:animEffect transition="in" filter="fade">
                                      <p:cBhvr>
                                        <p:cTn id="66" dur="500"/>
                                        <p:tgtEl>
                                          <p:spTgt spid="28"/>
                                        </p:tgtEl>
                                      </p:cBhvr>
                                    </p:animEffect>
                                  </p:childTnLst>
                                </p:cTn>
                              </p:par>
                            </p:childTnLst>
                          </p:cTn>
                        </p:par>
                        <p:par>
                          <p:cTn id="67" fill="hold">
                            <p:stCondLst>
                              <p:cond delay="500"/>
                            </p:stCondLst>
                            <p:childTnLst>
                              <p:par>
                                <p:cTn id="68" presetID="1" presetClass="entr" presetSubtype="0" fill="hold" grpId="0" nodeType="afterEffect">
                                  <p:stCondLst>
                                    <p:cond delay="0"/>
                                  </p:stCondLst>
                                  <p:iterate type="lt">
                                    <p:tmAbs val="100"/>
                                  </p:iterate>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49" presetClass="entr" presetSubtype="0" decel="100000" fill="hold" grpId="0" nodeType="clickEffect">
                                  <p:stCondLst>
                                    <p:cond delay="0"/>
                                  </p:stCondLst>
                                  <p:childTnLst>
                                    <p:set>
                                      <p:cBhvr>
                                        <p:cTn id="73" dur="1" fill="hold">
                                          <p:stCondLst>
                                            <p:cond delay="0"/>
                                          </p:stCondLst>
                                        </p:cTn>
                                        <p:tgtEl>
                                          <p:spTgt spid="30"/>
                                        </p:tgtEl>
                                        <p:attrNameLst>
                                          <p:attrName>style.visibility</p:attrName>
                                        </p:attrNameLst>
                                      </p:cBhvr>
                                      <p:to>
                                        <p:strVal val="visible"/>
                                      </p:to>
                                    </p:set>
                                    <p:anim calcmode="lin" valueType="num">
                                      <p:cBhvr>
                                        <p:cTn id="74" dur="500" fill="hold"/>
                                        <p:tgtEl>
                                          <p:spTgt spid="30"/>
                                        </p:tgtEl>
                                        <p:attrNameLst>
                                          <p:attrName>ppt_w</p:attrName>
                                        </p:attrNameLst>
                                      </p:cBhvr>
                                      <p:tavLst>
                                        <p:tav tm="0">
                                          <p:val>
                                            <p:fltVal val="0"/>
                                          </p:val>
                                        </p:tav>
                                        <p:tav tm="100000">
                                          <p:val>
                                            <p:strVal val="#ppt_w"/>
                                          </p:val>
                                        </p:tav>
                                      </p:tavLst>
                                    </p:anim>
                                    <p:anim calcmode="lin" valueType="num">
                                      <p:cBhvr>
                                        <p:cTn id="75" dur="500" fill="hold"/>
                                        <p:tgtEl>
                                          <p:spTgt spid="30"/>
                                        </p:tgtEl>
                                        <p:attrNameLst>
                                          <p:attrName>ppt_h</p:attrName>
                                        </p:attrNameLst>
                                      </p:cBhvr>
                                      <p:tavLst>
                                        <p:tav tm="0">
                                          <p:val>
                                            <p:fltVal val="0"/>
                                          </p:val>
                                        </p:tav>
                                        <p:tav tm="100000">
                                          <p:val>
                                            <p:strVal val="#ppt_h"/>
                                          </p:val>
                                        </p:tav>
                                      </p:tavLst>
                                    </p:anim>
                                    <p:anim calcmode="lin" valueType="num">
                                      <p:cBhvr>
                                        <p:cTn id="76" dur="500" fill="hold"/>
                                        <p:tgtEl>
                                          <p:spTgt spid="30"/>
                                        </p:tgtEl>
                                        <p:attrNameLst>
                                          <p:attrName>style.rotation</p:attrName>
                                        </p:attrNameLst>
                                      </p:cBhvr>
                                      <p:tavLst>
                                        <p:tav tm="0">
                                          <p:val>
                                            <p:fltVal val="360"/>
                                          </p:val>
                                        </p:tav>
                                        <p:tav tm="100000">
                                          <p:val>
                                            <p:fltVal val="0"/>
                                          </p:val>
                                        </p:tav>
                                      </p:tavLst>
                                    </p:anim>
                                    <p:animEffect transition="in" filter="fade">
                                      <p:cBhvr>
                                        <p:cTn id="77" dur="500"/>
                                        <p:tgtEl>
                                          <p:spTgt spid="30"/>
                                        </p:tgtEl>
                                      </p:cBhvr>
                                    </p:animEffect>
                                  </p:childTnLst>
                                </p:cTn>
                              </p:par>
                            </p:childTnLst>
                          </p:cTn>
                        </p:par>
                        <p:par>
                          <p:cTn id="78" fill="hold">
                            <p:stCondLst>
                              <p:cond delay="500"/>
                            </p:stCondLst>
                            <p:childTnLst>
                              <p:par>
                                <p:cTn id="79" presetID="1" presetClass="entr" presetSubtype="0" fill="hold" grpId="0" nodeType="afterEffect">
                                  <p:stCondLst>
                                    <p:cond delay="0"/>
                                  </p:stCondLst>
                                  <p:iterate type="lt">
                                    <p:tmAbs val="100"/>
                                  </p:iterate>
                                  <p:childTnLst>
                                    <p:set>
                                      <p:cBhvr>
                                        <p:cTn id="80" dur="1" fill="hold">
                                          <p:stCondLst>
                                            <p:cond delay="0"/>
                                          </p:stCondLst>
                                        </p:cTn>
                                        <p:tgtEl>
                                          <p:spTgt spid="3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49" presetClass="entr" presetSubtype="0" decel="100000" fill="hold" grpId="0" nodeType="clickEffect">
                                  <p:stCondLst>
                                    <p:cond delay="0"/>
                                  </p:stCondLst>
                                  <p:childTnLst>
                                    <p:set>
                                      <p:cBhvr>
                                        <p:cTn id="84" dur="1" fill="hold">
                                          <p:stCondLst>
                                            <p:cond delay="0"/>
                                          </p:stCondLst>
                                        </p:cTn>
                                        <p:tgtEl>
                                          <p:spTgt spid="32"/>
                                        </p:tgtEl>
                                        <p:attrNameLst>
                                          <p:attrName>style.visibility</p:attrName>
                                        </p:attrNameLst>
                                      </p:cBhvr>
                                      <p:to>
                                        <p:strVal val="visible"/>
                                      </p:to>
                                    </p:set>
                                    <p:anim calcmode="lin" valueType="num">
                                      <p:cBhvr>
                                        <p:cTn id="85" dur="500" fill="hold"/>
                                        <p:tgtEl>
                                          <p:spTgt spid="32"/>
                                        </p:tgtEl>
                                        <p:attrNameLst>
                                          <p:attrName>ppt_w</p:attrName>
                                        </p:attrNameLst>
                                      </p:cBhvr>
                                      <p:tavLst>
                                        <p:tav tm="0">
                                          <p:val>
                                            <p:fltVal val="0"/>
                                          </p:val>
                                        </p:tav>
                                        <p:tav tm="100000">
                                          <p:val>
                                            <p:strVal val="#ppt_w"/>
                                          </p:val>
                                        </p:tav>
                                      </p:tavLst>
                                    </p:anim>
                                    <p:anim calcmode="lin" valueType="num">
                                      <p:cBhvr>
                                        <p:cTn id="86" dur="500" fill="hold"/>
                                        <p:tgtEl>
                                          <p:spTgt spid="32"/>
                                        </p:tgtEl>
                                        <p:attrNameLst>
                                          <p:attrName>ppt_h</p:attrName>
                                        </p:attrNameLst>
                                      </p:cBhvr>
                                      <p:tavLst>
                                        <p:tav tm="0">
                                          <p:val>
                                            <p:fltVal val="0"/>
                                          </p:val>
                                        </p:tav>
                                        <p:tav tm="100000">
                                          <p:val>
                                            <p:strVal val="#ppt_h"/>
                                          </p:val>
                                        </p:tav>
                                      </p:tavLst>
                                    </p:anim>
                                    <p:anim calcmode="lin" valueType="num">
                                      <p:cBhvr>
                                        <p:cTn id="87" dur="500" fill="hold"/>
                                        <p:tgtEl>
                                          <p:spTgt spid="32"/>
                                        </p:tgtEl>
                                        <p:attrNameLst>
                                          <p:attrName>style.rotation</p:attrName>
                                        </p:attrNameLst>
                                      </p:cBhvr>
                                      <p:tavLst>
                                        <p:tav tm="0">
                                          <p:val>
                                            <p:fltVal val="360"/>
                                          </p:val>
                                        </p:tav>
                                        <p:tav tm="100000">
                                          <p:val>
                                            <p:fltVal val="0"/>
                                          </p:val>
                                        </p:tav>
                                      </p:tavLst>
                                    </p:anim>
                                    <p:animEffect transition="in" filter="fade">
                                      <p:cBhvr>
                                        <p:cTn id="88" dur="500"/>
                                        <p:tgtEl>
                                          <p:spTgt spid="32"/>
                                        </p:tgtEl>
                                      </p:cBhvr>
                                    </p:animEffect>
                                  </p:childTnLst>
                                </p:cTn>
                              </p:par>
                            </p:childTnLst>
                          </p:cTn>
                        </p:par>
                        <p:par>
                          <p:cTn id="89" fill="hold">
                            <p:stCondLst>
                              <p:cond delay="500"/>
                            </p:stCondLst>
                            <p:childTnLst>
                              <p:par>
                                <p:cTn id="90" presetID="1" presetClass="entr" presetSubtype="0" fill="hold" grpId="0" nodeType="afterEffect">
                                  <p:stCondLst>
                                    <p:cond delay="0"/>
                                  </p:stCondLst>
                                  <p:iterate type="lt">
                                    <p:tmAbs val="100"/>
                                  </p:iterate>
                                  <p:childTnLst>
                                    <p:set>
                                      <p:cBhvr>
                                        <p:cTn id="91" dur="1" fill="hold">
                                          <p:stCondLst>
                                            <p:cond delay="0"/>
                                          </p:stCondLst>
                                        </p:cTn>
                                        <p:tgtEl>
                                          <p:spTgt spid="3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44"/>
                                        </p:tgtEl>
                                        <p:attrNameLst>
                                          <p:attrName>style.visibility</p:attrName>
                                        </p:attrNameLst>
                                      </p:cBhvr>
                                      <p:to>
                                        <p:strVal val="visible"/>
                                      </p:to>
                                    </p:set>
                                    <p:anim calcmode="lin" valueType="num">
                                      <p:cBhvr additive="base">
                                        <p:cTn id="96" dur="500" fill="hold"/>
                                        <p:tgtEl>
                                          <p:spTgt spid="44"/>
                                        </p:tgtEl>
                                        <p:attrNameLst>
                                          <p:attrName>ppt_x</p:attrName>
                                        </p:attrNameLst>
                                      </p:cBhvr>
                                      <p:tavLst>
                                        <p:tav tm="0">
                                          <p:val>
                                            <p:strVal val="#ppt_x"/>
                                          </p:val>
                                        </p:tav>
                                        <p:tav tm="100000">
                                          <p:val>
                                            <p:strVal val="#ppt_x"/>
                                          </p:val>
                                        </p:tav>
                                      </p:tavLst>
                                    </p:anim>
                                    <p:anim calcmode="lin" valueType="num">
                                      <p:cBhvr additive="base">
                                        <p:cTn id="97"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12" presetClass="entr" presetSubtype="4" fill="hold" grpId="0" nodeType="clickEffect">
                                  <p:stCondLst>
                                    <p:cond delay="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500"/>
                                        <p:tgtEl>
                                          <p:spTgt spid="37"/>
                                        </p:tgtEl>
                                        <p:attrNameLst>
                                          <p:attrName>ppt_y</p:attrName>
                                        </p:attrNameLst>
                                      </p:cBhvr>
                                      <p:tavLst>
                                        <p:tav tm="0">
                                          <p:val>
                                            <p:strVal val="#ppt_y+#ppt_h*1.125000"/>
                                          </p:val>
                                        </p:tav>
                                        <p:tav tm="100000">
                                          <p:val>
                                            <p:strVal val="#ppt_y"/>
                                          </p:val>
                                        </p:tav>
                                      </p:tavLst>
                                    </p:anim>
                                    <p:animEffect transition="in" filter="wipe(up)">
                                      <p:cBhvr>
                                        <p:cTn id="103" dur="500"/>
                                        <p:tgtEl>
                                          <p:spTgt spid="37"/>
                                        </p:tgtEl>
                                      </p:cBhvr>
                                    </p:animEffect>
                                  </p:childTnLst>
                                </p:cTn>
                              </p:par>
                              <p:par>
                                <p:cTn id="104" presetID="12" presetClass="entr" presetSubtype="4"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 calcmode="lin" valueType="num">
                                      <p:cBhvr additive="base">
                                        <p:cTn id="106" dur="500"/>
                                        <p:tgtEl>
                                          <p:spTgt spid="39"/>
                                        </p:tgtEl>
                                        <p:attrNameLst>
                                          <p:attrName>ppt_y</p:attrName>
                                        </p:attrNameLst>
                                      </p:cBhvr>
                                      <p:tavLst>
                                        <p:tav tm="0">
                                          <p:val>
                                            <p:strVal val="#ppt_y+#ppt_h*1.125000"/>
                                          </p:val>
                                        </p:tav>
                                        <p:tav tm="100000">
                                          <p:val>
                                            <p:strVal val="#ppt_y"/>
                                          </p:val>
                                        </p:tav>
                                      </p:tavLst>
                                    </p:anim>
                                    <p:animEffect transition="in" filter="wipe(up)">
                                      <p:cBhvr>
                                        <p:cTn id="107" dur="500"/>
                                        <p:tgtEl>
                                          <p:spTgt spid="39"/>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grpId="0" nodeType="clickEffect">
                                  <p:stCondLst>
                                    <p:cond delay="0"/>
                                  </p:stCondLst>
                                  <p:childTnLst>
                                    <p:set>
                                      <p:cBhvr>
                                        <p:cTn id="111" dur="1" fill="hold">
                                          <p:stCondLst>
                                            <p:cond delay="0"/>
                                          </p:stCondLst>
                                        </p:cTn>
                                        <p:tgtEl>
                                          <p:spTgt spid="36"/>
                                        </p:tgtEl>
                                        <p:attrNameLst>
                                          <p:attrName>style.visibility</p:attrName>
                                        </p:attrNameLst>
                                      </p:cBhvr>
                                      <p:to>
                                        <p:strVal val="visible"/>
                                      </p:to>
                                    </p:set>
                                    <p:anim calcmode="lin" valueType="num">
                                      <p:cBhvr additive="base">
                                        <p:cTn id="112" dur="500"/>
                                        <p:tgtEl>
                                          <p:spTgt spid="36"/>
                                        </p:tgtEl>
                                        <p:attrNameLst>
                                          <p:attrName>ppt_y</p:attrName>
                                        </p:attrNameLst>
                                      </p:cBhvr>
                                      <p:tavLst>
                                        <p:tav tm="0">
                                          <p:val>
                                            <p:strVal val="#ppt_y+#ppt_h*1.125000"/>
                                          </p:val>
                                        </p:tav>
                                        <p:tav tm="100000">
                                          <p:val>
                                            <p:strVal val="#ppt_y"/>
                                          </p:val>
                                        </p:tav>
                                      </p:tavLst>
                                    </p:anim>
                                    <p:animEffect transition="in" filter="wipe(up)">
                                      <p:cBhvr>
                                        <p:cTn id="113" dur="500"/>
                                        <p:tgtEl>
                                          <p:spTgt spid="36"/>
                                        </p:tgtEl>
                                      </p:cBhvr>
                                    </p:animEffect>
                                  </p:childTnLst>
                                </p:cTn>
                              </p:par>
                              <p:par>
                                <p:cTn id="114" presetID="12" presetClass="entr" presetSubtype="4"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 calcmode="lin" valueType="num">
                                      <p:cBhvr additive="base">
                                        <p:cTn id="116" dur="500"/>
                                        <p:tgtEl>
                                          <p:spTgt spid="40"/>
                                        </p:tgtEl>
                                        <p:attrNameLst>
                                          <p:attrName>ppt_y</p:attrName>
                                        </p:attrNameLst>
                                      </p:cBhvr>
                                      <p:tavLst>
                                        <p:tav tm="0">
                                          <p:val>
                                            <p:strVal val="#ppt_y+#ppt_h*1.125000"/>
                                          </p:val>
                                        </p:tav>
                                        <p:tav tm="100000">
                                          <p:val>
                                            <p:strVal val="#ppt_y"/>
                                          </p:val>
                                        </p:tav>
                                      </p:tavLst>
                                    </p:anim>
                                    <p:animEffect transition="in" filter="wipe(up)">
                                      <p:cBhvr>
                                        <p:cTn id="117" dur="500"/>
                                        <p:tgtEl>
                                          <p:spTgt spid="40"/>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4" fill="hold" grpId="0" nodeType="clickEffect">
                                  <p:stCondLst>
                                    <p:cond delay="0"/>
                                  </p:stCondLst>
                                  <p:childTnLst>
                                    <p:set>
                                      <p:cBhvr>
                                        <p:cTn id="121" dur="1" fill="hold">
                                          <p:stCondLst>
                                            <p:cond delay="0"/>
                                          </p:stCondLst>
                                        </p:cTn>
                                        <p:tgtEl>
                                          <p:spTgt spid="35"/>
                                        </p:tgtEl>
                                        <p:attrNameLst>
                                          <p:attrName>style.visibility</p:attrName>
                                        </p:attrNameLst>
                                      </p:cBhvr>
                                      <p:to>
                                        <p:strVal val="visible"/>
                                      </p:to>
                                    </p:set>
                                    <p:anim calcmode="lin" valueType="num">
                                      <p:cBhvr additive="base">
                                        <p:cTn id="122" dur="500"/>
                                        <p:tgtEl>
                                          <p:spTgt spid="35"/>
                                        </p:tgtEl>
                                        <p:attrNameLst>
                                          <p:attrName>ppt_y</p:attrName>
                                        </p:attrNameLst>
                                      </p:cBhvr>
                                      <p:tavLst>
                                        <p:tav tm="0">
                                          <p:val>
                                            <p:strVal val="#ppt_y+#ppt_h*1.125000"/>
                                          </p:val>
                                        </p:tav>
                                        <p:tav tm="100000">
                                          <p:val>
                                            <p:strVal val="#ppt_y"/>
                                          </p:val>
                                        </p:tav>
                                      </p:tavLst>
                                    </p:anim>
                                    <p:animEffect transition="in" filter="wipe(up)">
                                      <p:cBhvr>
                                        <p:cTn id="123" dur="500"/>
                                        <p:tgtEl>
                                          <p:spTgt spid="35"/>
                                        </p:tgtEl>
                                      </p:cBhvr>
                                    </p:animEffect>
                                  </p:childTnLst>
                                </p:cTn>
                              </p:par>
                              <p:par>
                                <p:cTn id="124" presetID="12" presetClass="entr" presetSubtype="4"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anim calcmode="lin" valueType="num">
                                      <p:cBhvr additive="base">
                                        <p:cTn id="126" dur="500"/>
                                        <p:tgtEl>
                                          <p:spTgt spid="41"/>
                                        </p:tgtEl>
                                        <p:attrNameLst>
                                          <p:attrName>ppt_y</p:attrName>
                                        </p:attrNameLst>
                                      </p:cBhvr>
                                      <p:tavLst>
                                        <p:tav tm="0">
                                          <p:val>
                                            <p:strVal val="#ppt_y+#ppt_h*1.125000"/>
                                          </p:val>
                                        </p:tav>
                                        <p:tav tm="100000">
                                          <p:val>
                                            <p:strVal val="#ppt_y"/>
                                          </p:val>
                                        </p:tav>
                                      </p:tavLst>
                                    </p:anim>
                                    <p:animEffect transition="in" filter="wipe(up)">
                                      <p:cBhvr>
                                        <p:cTn id="127" dur="500"/>
                                        <p:tgtEl>
                                          <p:spTgt spid="41"/>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4" fill="hold" grpId="0" nodeType="clickEffect">
                                  <p:stCondLst>
                                    <p:cond delay="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p:tgtEl>
                                          <p:spTgt spid="34"/>
                                        </p:tgtEl>
                                        <p:attrNameLst>
                                          <p:attrName>ppt_y</p:attrName>
                                        </p:attrNameLst>
                                      </p:cBhvr>
                                      <p:tavLst>
                                        <p:tav tm="0">
                                          <p:val>
                                            <p:strVal val="#ppt_y+#ppt_h*1.125000"/>
                                          </p:val>
                                        </p:tav>
                                        <p:tav tm="100000">
                                          <p:val>
                                            <p:strVal val="#ppt_y"/>
                                          </p:val>
                                        </p:tav>
                                      </p:tavLst>
                                    </p:anim>
                                    <p:animEffect transition="in" filter="wipe(up)">
                                      <p:cBhvr>
                                        <p:cTn id="133" dur="500"/>
                                        <p:tgtEl>
                                          <p:spTgt spid="34"/>
                                        </p:tgtEl>
                                      </p:cBhvr>
                                    </p:animEffect>
                                  </p:childTnLst>
                                </p:cTn>
                              </p:par>
                              <p:par>
                                <p:cTn id="134" presetID="12" presetClass="entr" presetSubtype="4" fill="hold" grpId="0" nodeType="withEffect">
                                  <p:stCondLst>
                                    <p:cond delay="0"/>
                                  </p:stCondLst>
                                  <p:childTnLst>
                                    <p:set>
                                      <p:cBhvr>
                                        <p:cTn id="135" dur="1" fill="hold">
                                          <p:stCondLst>
                                            <p:cond delay="0"/>
                                          </p:stCondLst>
                                        </p:cTn>
                                        <p:tgtEl>
                                          <p:spTgt spid="42"/>
                                        </p:tgtEl>
                                        <p:attrNameLst>
                                          <p:attrName>style.visibility</p:attrName>
                                        </p:attrNameLst>
                                      </p:cBhvr>
                                      <p:to>
                                        <p:strVal val="visible"/>
                                      </p:to>
                                    </p:set>
                                    <p:anim calcmode="lin" valueType="num">
                                      <p:cBhvr additive="base">
                                        <p:cTn id="136" dur="500"/>
                                        <p:tgtEl>
                                          <p:spTgt spid="42"/>
                                        </p:tgtEl>
                                        <p:attrNameLst>
                                          <p:attrName>ppt_y</p:attrName>
                                        </p:attrNameLst>
                                      </p:cBhvr>
                                      <p:tavLst>
                                        <p:tav tm="0">
                                          <p:val>
                                            <p:strVal val="#ppt_y+#ppt_h*1.125000"/>
                                          </p:val>
                                        </p:tav>
                                        <p:tav tm="100000">
                                          <p:val>
                                            <p:strVal val="#ppt_y"/>
                                          </p:val>
                                        </p:tav>
                                      </p:tavLst>
                                    </p:anim>
                                    <p:animEffect transition="in" filter="wipe(up)">
                                      <p:cBhvr>
                                        <p:cTn id="13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p:bldP spid="20" grpId="0" animBg="1"/>
      <p:bldP spid="21" grpId="0"/>
      <p:bldP spid="23" grpId="0" animBg="1"/>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animBg="1"/>
      <p:bldP spid="36" grpId="0" animBg="1"/>
      <p:bldP spid="37" grpId="0" animBg="1"/>
      <p:bldP spid="39" grpId="0"/>
      <p:bldP spid="40" grpId="0"/>
      <p:bldP spid="41" grpId="0"/>
      <p:bldP spid="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CFCC005F-913F-9E5A-6D3B-5290C0868E82}"/>
              </a:ext>
            </a:extLst>
          </p:cNvPr>
          <p:cNvGrpSpPr/>
          <p:nvPr/>
        </p:nvGrpSpPr>
        <p:grpSpPr>
          <a:xfrm>
            <a:off x="6578826" y="2050319"/>
            <a:ext cx="4961350" cy="2844323"/>
            <a:chOff x="6578826" y="2050319"/>
            <a:chExt cx="4961350" cy="2844323"/>
          </a:xfrm>
        </p:grpSpPr>
        <p:sp>
          <p:nvSpPr>
            <p:cNvPr id="52" name="矩形 51">
              <a:extLst>
                <a:ext uri="{FF2B5EF4-FFF2-40B4-BE49-F238E27FC236}">
                  <a16:creationId xmlns:a16="http://schemas.microsoft.com/office/drawing/2014/main" id="{B15840AC-B6C2-FF99-4BAE-218F37A48D12}"/>
                </a:ext>
              </a:extLst>
            </p:cNvPr>
            <p:cNvSpPr/>
            <p:nvPr/>
          </p:nvSpPr>
          <p:spPr>
            <a:xfrm>
              <a:off x="7543800" y="2050319"/>
              <a:ext cx="1680882" cy="3181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8D5322F4-1E8B-4F4B-F210-7BE78A1AE35C}"/>
                </a:ext>
              </a:extLst>
            </p:cNvPr>
            <p:cNvSpPr/>
            <p:nvPr/>
          </p:nvSpPr>
          <p:spPr>
            <a:xfrm>
              <a:off x="6578826" y="4576446"/>
              <a:ext cx="2874456" cy="3181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连接符: 曲线 54">
              <a:extLst>
                <a:ext uri="{FF2B5EF4-FFF2-40B4-BE49-F238E27FC236}">
                  <a16:creationId xmlns:a16="http://schemas.microsoft.com/office/drawing/2014/main" id="{C5F4C77E-157B-98E6-D7A8-8229D70D484E}"/>
                </a:ext>
              </a:extLst>
            </p:cNvPr>
            <p:cNvCxnSpPr>
              <a:stCxn id="52" idx="3"/>
              <a:endCxn id="53" idx="3"/>
            </p:cNvCxnSpPr>
            <p:nvPr/>
          </p:nvCxnSpPr>
          <p:spPr>
            <a:xfrm>
              <a:off x="9224682" y="2209417"/>
              <a:ext cx="228600" cy="2526127"/>
            </a:xfrm>
            <a:prstGeom prst="curvedConnector3">
              <a:avLst>
                <a:gd name="adj1" fmla="val 330233"/>
              </a:avLst>
            </a:prstGeom>
            <a:ln w="38100">
              <a:solidFill>
                <a:schemeClr val="accent2"/>
              </a:solidFill>
              <a:prstDash val="dash"/>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966A123E-5D59-31AF-8E8A-FC5C7F636569}"/>
                </a:ext>
              </a:extLst>
            </p:cNvPr>
            <p:cNvSpPr txBox="1"/>
            <p:nvPr/>
          </p:nvSpPr>
          <p:spPr>
            <a:xfrm>
              <a:off x="10063270" y="2982458"/>
              <a:ext cx="1476906" cy="430887"/>
            </a:xfrm>
            <a:prstGeom prst="rect">
              <a:avLst/>
            </a:prstGeom>
            <a:noFill/>
          </p:spPr>
          <p:txBody>
            <a:bodyPr wrap="square" lIns="0" tIns="0" rIns="0" bIns="0" rtlCol="0">
              <a:spAutoFit/>
            </a:bodyPr>
            <a:lstStyle/>
            <a:p>
              <a:pPr algn="ctr"/>
              <a:r>
                <a:rPr lang="zh-CN" altLang="en-US" sz="2800" b="1" dirty="0">
                  <a:solidFill>
                    <a:schemeClr val="accent2"/>
                  </a:solidFill>
                  <a:effectLst>
                    <a:outerShdw blurRad="38100" dist="38100" dir="2700000" algn="tl">
                      <a:srgbClr val="000000">
                        <a:alpha val="43137"/>
                      </a:srgbClr>
                    </a:outerShdw>
                  </a:effectLst>
                </a:rPr>
                <a:t>注意区分</a:t>
              </a:r>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因特网的域名结构</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顶级域名</a:t>
            </a:r>
            <a:r>
              <a:rPr lang="zh-CN" altLang="en-US" b="1" dirty="0"/>
              <a:t>（</a:t>
            </a:r>
            <a:r>
              <a:rPr lang="en-US" altLang="zh-CN" b="1" dirty="0">
                <a:solidFill>
                  <a:schemeClr val="accent1">
                    <a:lumMod val="75000"/>
                  </a:schemeClr>
                </a:solidFill>
              </a:rPr>
              <a:t>T</a:t>
            </a:r>
            <a:r>
              <a:rPr lang="en-US" altLang="zh-CN" b="1" dirty="0"/>
              <a:t>op </a:t>
            </a:r>
            <a:r>
              <a:rPr lang="en-US" altLang="zh-CN" b="1" dirty="0">
                <a:solidFill>
                  <a:schemeClr val="accent1">
                    <a:lumMod val="75000"/>
                  </a:schemeClr>
                </a:solidFill>
              </a:rPr>
              <a:t>L</a:t>
            </a:r>
            <a:r>
              <a:rPr lang="en-US" altLang="zh-CN" b="1" dirty="0"/>
              <a:t>evel </a:t>
            </a:r>
            <a:r>
              <a:rPr lang="en-US" altLang="zh-CN" b="1" dirty="0">
                <a:solidFill>
                  <a:schemeClr val="accent1">
                    <a:lumMod val="75000"/>
                  </a:schemeClr>
                </a:solidFill>
              </a:rPr>
              <a:t>D</a:t>
            </a:r>
            <a:r>
              <a:rPr lang="en-US" altLang="zh-CN" b="1" dirty="0"/>
              <a:t>omain</a:t>
            </a:r>
            <a:r>
              <a:rPr lang="zh-CN" altLang="en-US" b="1" dirty="0"/>
              <a:t>，</a:t>
            </a:r>
            <a:r>
              <a:rPr lang="en-US" altLang="zh-CN" b="1" dirty="0">
                <a:solidFill>
                  <a:schemeClr val="accent1">
                    <a:lumMod val="75000"/>
                  </a:schemeClr>
                </a:solidFill>
              </a:rPr>
              <a:t>TLD</a:t>
            </a:r>
            <a:r>
              <a:rPr lang="zh-CN" altLang="en-US" b="1" dirty="0"/>
              <a:t>）分为以下三类：</a:t>
            </a:r>
            <a:endParaRPr lang="en-US" altLang="zh-CN" b="1" dirty="0">
              <a:solidFill>
                <a:srgbClr val="C00000"/>
              </a:solidFill>
            </a:endParaRPr>
          </a:p>
        </p:txBody>
      </p:sp>
      <p:sp>
        <p:nvSpPr>
          <p:cNvPr id="5" name="矩形 4">
            <a:extLst>
              <a:ext uri="{FF2B5EF4-FFF2-40B4-BE49-F238E27FC236}">
                <a16:creationId xmlns:a16="http://schemas.microsoft.com/office/drawing/2014/main" id="{10FC62C1-5683-72D3-A31B-02E393A62FFB}"/>
              </a:ext>
            </a:extLst>
          </p:cNvPr>
          <p:cNvSpPr/>
          <p:nvPr/>
        </p:nvSpPr>
        <p:spPr>
          <a:xfrm>
            <a:off x="1390277" y="169046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CB21F283-62E9-45DC-A832-2FB897A7AD0F}"/>
              </a:ext>
            </a:extLst>
          </p:cNvPr>
          <p:cNvSpPr txBox="1"/>
          <p:nvPr/>
        </p:nvSpPr>
        <p:spPr>
          <a:xfrm>
            <a:off x="1668034" y="1609402"/>
            <a:ext cx="2124037" cy="417270"/>
          </a:xfrm>
          <a:prstGeom prst="rect">
            <a:avLst/>
          </a:prstGeom>
          <a:noFill/>
        </p:spPr>
        <p:txBody>
          <a:bodyPr wrap="square" lIns="91440" tIns="45720" rIns="91440" bIns="45720" anchor="ctr">
            <a:noAutofit/>
          </a:bodyPr>
          <a:lstStyle/>
          <a:p>
            <a:r>
              <a:rPr lang="zh-CN" altLang="en-US" b="1" dirty="0"/>
              <a:t>国家顶级域名</a:t>
            </a:r>
            <a:r>
              <a:rPr lang="en-US" altLang="zh-CN" b="1" dirty="0"/>
              <a:t>nTLD</a:t>
            </a:r>
          </a:p>
        </p:txBody>
      </p:sp>
      <p:sp>
        <p:nvSpPr>
          <p:cNvPr id="7" name="íşlïḍè">
            <a:extLst>
              <a:ext uri="{FF2B5EF4-FFF2-40B4-BE49-F238E27FC236}">
                <a16:creationId xmlns:a16="http://schemas.microsoft.com/office/drawing/2014/main" id="{F48D9BCB-F444-F1CC-20CC-585A7CD1C9E3}"/>
              </a:ext>
            </a:extLst>
          </p:cNvPr>
          <p:cNvSpPr txBox="1"/>
          <p:nvPr/>
        </p:nvSpPr>
        <p:spPr>
          <a:xfrm>
            <a:off x="3832413" y="1609402"/>
            <a:ext cx="8054787" cy="417270"/>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采用ISO 3166的规定。如cn表示中国，us表示美国，uk表示英国、等等。</a:t>
            </a:r>
          </a:p>
        </p:txBody>
      </p:sp>
      <p:sp>
        <p:nvSpPr>
          <p:cNvPr id="8" name="矩形 7">
            <a:extLst>
              <a:ext uri="{FF2B5EF4-FFF2-40B4-BE49-F238E27FC236}">
                <a16:creationId xmlns:a16="http://schemas.microsoft.com/office/drawing/2014/main" id="{730B82DC-E5DB-24CD-B7D0-4C6B3E9AFCA9}"/>
              </a:ext>
            </a:extLst>
          </p:cNvPr>
          <p:cNvSpPr/>
          <p:nvPr/>
        </p:nvSpPr>
        <p:spPr>
          <a:xfrm>
            <a:off x="1390277" y="210773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íşlïḍè">
            <a:extLst>
              <a:ext uri="{FF2B5EF4-FFF2-40B4-BE49-F238E27FC236}">
                <a16:creationId xmlns:a16="http://schemas.microsoft.com/office/drawing/2014/main" id="{77ABBA72-9229-E787-12F5-C4D455CBF35D}"/>
              </a:ext>
            </a:extLst>
          </p:cNvPr>
          <p:cNvSpPr txBox="1"/>
          <p:nvPr/>
        </p:nvSpPr>
        <p:spPr>
          <a:xfrm>
            <a:off x="1668034" y="2026672"/>
            <a:ext cx="2124037" cy="417270"/>
          </a:xfrm>
          <a:prstGeom prst="rect">
            <a:avLst/>
          </a:prstGeom>
          <a:noFill/>
        </p:spPr>
        <p:txBody>
          <a:bodyPr wrap="square" lIns="91440" tIns="45720" rIns="91440" bIns="45720" anchor="ctr">
            <a:noAutofit/>
          </a:bodyPr>
          <a:lstStyle/>
          <a:p>
            <a:r>
              <a:rPr lang="zh-CN" altLang="en-US" b="1" dirty="0"/>
              <a:t>通用顶级域名</a:t>
            </a:r>
            <a:r>
              <a:rPr lang="en-US" altLang="zh-CN" b="1" dirty="0"/>
              <a:t>gTLD</a:t>
            </a:r>
          </a:p>
        </p:txBody>
      </p:sp>
      <p:sp>
        <p:nvSpPr>
          <p:cNvPr id="10" name="íşlïḍè">
            <a:extLst>
              <a:ext uri="{FF2B5EF4-FFF2-40B4-BE49-F238E27FC236}">
                <a16:creationId xmlns:a16="http://schemas.microsoft.com/office/drawing/2014/main" id="{A815E395-4B3F-3D07-B1F2-162132BD98B9}"/>
              </a:ext>
            </a:extLst>
          </p:cNvPr>
          <p:cNvSpPr txBox="1"/>
          <p:nvPr/>
        </p:nvSpPr>
        <p:spPr>
          <a:xfrm>
            <a:off x="3832413" y="2026672"/>
            <a:ext cx="8054787" cy="938404"/>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最常见的通用顶级域名有七个，即：com（公司企业）、net（网络服务机构）、org（非营利性组织）、int（国际组织）、edu（美国教育机构）、gov（美国政府部门）、mil（美国军事部门）。</a:t>
            </a:r>
          </a:p>
        </p:txBody>
      </p:sp>
      <p:sp>
        <p:nvSpPr>
          <p:cNvPr id="12" name="矩形 11">
            <a:extLst>
              <a:ext uri="{FF2B5EF4-FFF2-40B4-BE49-F238E27FC236}">
                <a16:creationId xmlns:a16="http://schemas.microsoft.com/office/drawing/2014/main" id="{678D82BC-7E2F-A727-E7F8-E851E6D91559}"/>
              </a:ext>
            </a:extLst>
          </p:cNvPr>
          <p:cNvSpPr/>
          <p:nvPr/>
        </p:nvSpPr>
        <p:spPr>
          <a:xfrm>
            <a:off x="1390277" y="304613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íşlïḍè">
            <a:extLst>
              <a:ext uri="{FF2B5EF4-FFF2-40B4-BE49-F238E27FC236}">
                <a16:creationId xmlns:a16="http://schemas.microsoft.com/office/drawing/2014/main" id="{0753022D-4822-009D-1C84-9BD8AD00A226}"/>
              </a:ext>
            </a:extLst>
          </p:cNvPr>
          <p:cNvSpPr txBox="1"/>
          <p:nvPr/>
        </p:nvSpPr>
        <p:spPr>
          <a:xfrm>
            <a:off x="1668034" y="2965076"/>
            <a:ext cx="2124037" cy="417270"/>
          </a:xfrm>
          <a:prstGeom prst="rect">
            <a:avLst/>
          </a:prstGeom>
          <a:noFill/>
        </p:spPr>
        <p:txBody>
          <a:bodyPr wrap="square" lIns="91440" tIns="45720" rIns="91440" bIns="45720" anchor="ctr">
            <a:noAutofit/>
          </a:bodyPr>
          <a:lstStyle/>
          <a:p>
            <a:r>
              <a:rPr lang="zh-CN" altLang="en-US" b="1" dirty="0"/>
              <a:t>反向域</a:t>
            </a:r>
            <a:r>
              <a:rPr lang="en-US" altLang="zh-CN" b="1" dirty="0" err="1"/>
              <a:t>arpa</a:t>
            </a:r>
            <a:endParaRPr lang="en-US" altLang="zh-CN" b="1" dirty="0"/>
          </a:p>
        </p:txBody>
      </p:sp>
      <p:sp>
        <p:nvSpPr>
          <p:cNvPr id="14" name="íşlïḍè">
            <a:extLst>
              <a:ext uri="{FF2B5EF4-FFF2-40B4-BE49-F238E27FC236}">
                <a16:creationId xmlns:a16="http://schemas.microsoft.com/office/drawing/2014/main" id="{15D0076C-7956-FEEA-EBCC-41F04B5FD717}"/>
              </a:ext>
            </a:extLst>
          </p:cNvPr>
          <p:cNvSpPr txBox="1"/>
          <p:nvPr/>
        </p:nvSpPr>
        <p:spPr>
          <a:xfrm>
            <a:off x="3832413" y="2965076"/>
            <a:ext cx="8054787" cy="417270"/>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用于反向域名解析，即</a:t>
            </a:r>
            <a:r>
              <a:rPr lang="en-US" altLang="zh-CN" b="1" dirty="0">
                <a:solidFill>
                  <a:schemeClr val="bg2">
                    <a:lumMod val="25000"/>
                  </a:schemeClr>
                </a:solidFill>
              </a:rPr>
              <a:t>IP</a:t>
            </a:r>
            <a:r>
              <a:rPr lang="zh-CN" altLang="en-US" b="1" dirty="0">
                <a:solidFill>
                  <a:schemeClr val="bg2">
                    <a:lumMod val="25000"/>
                  </a:schemeClr>
                </a:solidFill>
              </a:rPr>
              <a:t>地址反向解析为域名。</a:t>
            </a:r>
          </a:p>
        </p:txBody>
      </p:sp>
      <p:sp>
        <p:nvSpPr>
          <p:cNvPr id="15" name="矩形 14">
            <a:extLst>
              <a:ext uri="{FF2B5EF4-FFF2-40B4-BE49-F238E27FC236}">
                <a16:creationId xmlns:a16="http://schemas.microsoft.com/office/drawing/2014/main" id="{90004419-29E8-39BF-209D-4CCEEA4C5FA3}"/>
              </a:ext>
            </a:extLst>
          </p:cNvPr>
          <p:cNvSpPr/>
          <p:nvPr/>
        </p:nvSpPr>
        <p:spPr>
          <a:xfrm>
            <a:off x="1012116" y="346561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íşlïḍè">
            <a:extLst>
              <a:ext uri="{FF2B5EF4-FFF2-40B4-BE49-F238E27FC236}">
                <a16:creationId xmlns:a16="http://schemas.microsoft.com/office/drawing/2014/main" id="{4F97D5BE-AAB9-1FD7-318C-A18CBDD9B8CB}"/>
              </a:ext>
            </a:extLst>
          </p:cNvPr>
          <p:cNvSpPr txBox="1"/>
          <p:nvPr/>
        </p:nvSpPr>
        <p:spPr>
          <a:xfrm>
            <a:off x="1289873" y="3384550"/>
            <a:ext cx="10593443" cy="679224"/>
          </a:xfrm>
          <a:prstGeom prst="rect">
            <a:avLst/>
          </a:prstGeom>
          <a:noFill/>
        </p:spPr>
        <p:txBody>
          <a:bodyPr wrap="square" lIns="91440" tIns="45720" rIns="91440" bIns="45720" anchor="ctr">
            <a:noAutofit/>
          </a:bodyPr>
          <a:lstStyle/>
          <a:p>
            <a:r>
              <a:rPr lang="zh-CN" altLang="en-US" b="1" dirty="0"/>
              <a:t>在</a:t>
            </a:r>
            <a:r>
              <a:rPr lang="zh-CN" altLang="en-US" b="1" dirty="0">
                <a:solidFill>
                  <a:schemeClr val="accent1">
                    <a:lumMod val="75000"/>
                  </a:schemeClr>
                </a:solidFill>
              </a:rPr>
              <a:t>国家顶级域名下注册的二级域名均由该国家自行确定</a:t>
            </a:r>
            <a:r>
              <a:rPr lang="zh-CN" altLang="en-US" b="1" dirty="0"/>
              <a:t>。例如，顶级域名为</a:t>
            </a:r>
            <a:r>
              <a:rPr lang="en-US" altLang="zh-CN" b="1" dirty="0" err="1"/>
              <a:t>jp</a:t>
            </a:r>
            <a:r>
              <a:rPr lang="zh-CN" altLang="en-US" b="1" dirty="0"/>
              <a:t>的日本，将其教育和企业机构的二级域名定为</a:t>
            </a:r>
            <a:r>
              <a:rPr lang="en-US" altLang="zh-CN" b="1" dirty="0"/>
              <a:t>ac</a:t>
            </a:r>
            <a:r>
              <a:rPr lang="zh-CN" altLang="en-US" b="1" dirty="0"/>
              <a:t>和</a:t>
            </a:r>
            <a:r>
              <a:rPr lang="en-US" altLang="zh-CN" b="1" dirty="0"/>
              <a:t>co</a:t>
            </a:r>
            <a:r>
              <a:rPr lang="zh-CN" altLang="en-US" b="1" dirty="0"/>
              <a:t>，而不用</a:t>
            </a:r>
            <a:r>
              <a:rPr lang="en-US" altLang="zh-CN" b="1" dirty="0" err="1"/>
              <a:t>edu</a:t>
            </a:r>
            <a:r>
              <a:rPr lang="zh-CN" altLang="en-US" b="1" dirty="0"/>
              <a:t>和</a:t>
            </a:r>
            <a:r>
              <a:rPr lang="en-US" altLang="zh-CN" b="1" dirty="0"/>
              <a:t>com</a:t>
            </a:r>
            <a:r>
              <a:rPr lang="zh-CN" altLang="en-US" b="1" dirty="0"/>
              <a:t>。</a:t>
            </a:r>
            <a:endParaRPr lang="en-US" altLang="zh-CN" b="1" dirty="0">
              <a:solidFill>
                <a:srgbClr val="C00000"/>
              </a:solidFill>
            </a:endParaRPr>
          </a:p>
        </p:txBody>
      </p:sp>
      <p:sp>
        <p:nvSpPr>
          <p:cNvPr id="18" name="矩形 17">
            <a:extLst>
              <a:ext uri="{FF2B5EF4-FFF2-40B4-BE49-F238E27FC236}">
                <a16:creationId xmlns:a16="http://schemas.microsoft.com/office/drawing/2014/main" id="{7EE31B40-5288-4F1D-2B87-6CB62A6E3D66}"/>
              </a:ext>
            </a:extLst>
          </p:cNvPr>
          <p:cNvSpPr/>
          <p:nvPr/>
        </p:nvSpPr>
        <p:spPr>
          <a:xfrm>
            <a:off x="1004348" y="414391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F0E3CF79-129E-927F-5EB8-2EBF7CCD91BD}"/>
              </a:ext>
            </a:extLst>
          </p:cNvPr>
          <p:cNvSpPr txBox="1"/>
          <p:nvPr/>
        </p:nvSpPr>
        <p:spPr>
          <a:xfrm>
            <a:off x="1282105" y="4062855"/>
            <a:ext cx="10593443" cy="41727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我国</a:t>
            </a:r>
            <a:r>
              <a:rPr lang="zh-CN" altLang="en-US" b="1" dirty="0"/>
              <a:t>则将</a:t>
            </a:r>
            <a:r>
              <a:rPr lang="zh-CN" altLang="en-US" b="1" dirty="0">
                <a:solidFill>
                  <a:schemeClr val="accent1">
                    <a:lumMod val="75000"/>
                  </a:schemeClr>
                </a:solidFill>
              </a:rPr>
              <a:t>二级域名</a:t>
            </a:r>
            <a:r>
              <a:rPr lang="zh-CN" altLang="en-US" b="1" dirty="0"/>
              <a:t>划分为以下</a:t>
            </a:r>
            <a:r>
              <a:rPr lang="zh-CN" altLang="en-US" b="1" dirty="0">
                <a:solidFill>
                  <a:schemeClr val="accent1">
                    <a:lumMod val="75000"/>
                  </a:schemeClr>
                </a:solidFill>
              </a:rPr>
              <a:t>两类</a:t>
            </a:r>
            <a:r>
              <a:rPr lang="zh-CN" altLang="en-US" b="1" dirty="0"/>
              <a:t>：</a:t>
            </a:r>
            <a:endParaRPr lang="en-US" altLang="zh-CN" b="1" dirty="0">
              <a:solidFill>
                <a:srgbClr val="C00000"/>
              </a:solidFill>
            </a:endParaRPr>
          </a:p>
        </p:txBody>
      </p:sp>
      <p:sp>
        <p:nvSpPr>
          <p:cNvPr id="22" name="矩形 21">
            <a:extLst>
              <a:ext uri="{FF2B5EF4-FFF2-40B4-BE49-F238E27FC236}">
                <a16:creationId xmlns:a16="http://schemas.microsoft.com/office/drawing/2014/main" id="{CD515033-FC3D-97D0-5039-F6E3CD4C3FAA}"/>
              </a:ext>
            </a:extLst>
          </p:cNvPr>
          <p:cNvSpPr/>
          <p:nvPr/>
        </p:nvSpPr>
        <p:spPr>
          <a:xfrm>
            <a:off x="1390277" y="461265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íşlïḍè">
            <a:extLst>
              <a:ext uri="{FF2B5EF4-FFF2-40B4-BE49-F238E27FC236}">
                <a16:creationId xmlns:a16="http://schemas.microsoft.com/office/drawing/2014/main" id="{EFD8E73E-1A8D-D990-806A-2FD36DE27297}"/>
              </a:ext>
            </a:extLst>
          </p:cNvPr>
          <p:cNvSpPr txBox="1"/>
          <p:nvPr/>
        </p:nvSpPr>
        <p:spPr>
          <a:xfrm>
            <a:off x="1668034" y="4531589"/>
            <a:ext cx="1579431" cy="417270"/>
          </a:xfrm>
          <a:prstGeom prst="rect">
            <a:avLst/>
          </a:prstGeom>
          <a:noFill/>
        </p:spPr>
        <p:txBody>
          <a:bodyPr wrap="square" lIns="91440" tIns="45720" rIns="91440" bIns="45720" anchor="ctr">
            <a:noAutofit/>
          </a:bodyPr>
          <a:lstStyle/>
          <a:p>
            <a:r>
              <a:rPr lang="zh-CN" altLang="en-US" b="1" dirty="0"/>
              <a:t>类别域名</a:t>
            </a:r>
            <a:endParaRPr lang="en-US" altLang="zh-CN" b="1" dirty="0"/>
          </a:p>
        </p:txBody>
      </p:sp>
      <p:sp>
        <p:nvSpPr>
          <p:cNvPr id="46" name="íşlïḍè">
            <a:extLst>
              <a:ext uri="{FF2B5EF4-FFF2-40B4-BE49-F238E27FC236}">
                <a16:creationId xmlns:a16="http://schemas.microsoft.com/office/drawing/2014/main" id="{3E0B6575-BF97-0E23-E26E-9CDFBAC46C96}"/>
              </a:ext>
            </a:extLst>
          </p:cNvPr>
          <p:cNvSpPr txBox="1"/>
          <p:nvPr/>
        </p:nvSpPr>
        <p:spPr>
          <a:xfrm>
            <a:off x="3832413" y="4531588"/>
            <a:ext cx="8054787" cy="969295"/>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共七个：</a:t>
            </a:r>
            <a:r>
              <a:rPr lang="en-US" altLang="zh-CN" b="1" dirty="0">
                <a:solidFill>
                  <a:schemeClr val="bg2">
                    <a:lumMod val="25000"/>
                  </a:schemeClr>
                </a:solidFill>
              </a:rPr>
              <a:t>ac</a:t>
            </a:r>
            <a:r>
              <a:rPr lang="zh-CN" altLang="en-US" b="1" dirty="0">
                <a:solidFill>
                  <a:schemeClr val="bg2">
                    <a:lumMod val="25000"/>
                  </a:schemeClr>
                </a:solidFill>
              </a:rPr>
              <a:t>（科研机构）、</a:t>
            </a:r>
            <a:r>
              <a:rPr lang="en-US" altLang="zh-CN" b="1" dirty="0">
                <a:solidFill>
                  <a:schemeClr val="bg2">
                    <a:lumMod val="25000"/>
                  </a:schemeClr>
                </a:solidFill>
              </a:rPr>
              <a:t>com</a:t>
            </a:r>
            <a:r>
              <a:rPr lang="zh-CN" altLang="en-US" b="1" dirty="0">
                <a:solidFill>
                  <a:schemeClr val="bg2">
                    <a:lumMod val="25000"/>
                  </a:schemeClr>
                </a:solidFill>
              </a:rPr>
              <a:t>（工、商、金融等企业）、</a:t>
            </a:r>
            <a:r>
              <a:rPr lang="en-US" altLang="zh-CN" b="1" dirty="0" err="1">
                <a:solidFill>
                  <a:schemeClr val="bg2">
                    <a:lumMod val="25000"/>
                  </a:schemeClr>
                </a:solidFill>
              </a:rPr>
              <a:t>edu</a:t>
            </a:r>
            <a:r>
              <a:rPr lang="zh-CN" altLang="en-US" b="1" dirty="0">
                <a:solidFill>
                  <a:schemeClr val="bg2">
                    <a:lumMod val="25000"/>
                  </a:schemeClr>
                </a:solidFill>
              </a:rPr>
              <a:t>（教育机构）、</a:t>
            </a:r>
            <a:r>
              <a:rPr lang="en-US" altLang="zh-CN" b="1" dirty="0">
                <a:solidFill>
                  <a:schemeClr val="bg2">
                    <a:lumMod val="25000"/>
                  </a:schemeClr>
                </a:solidFill>
              </a:rPr>
              <a:t>gov</a:t>
            </a:r>
            <a:r>
              <a:rPr lang="zh-CN" altLang="en-US" b="1" dirty="0">
                <a:solidFill>
                  <a:schemeClr val="bg2">
                    <a:lumMod val="25000"/>
                  </a:schemeClr>
                </a:solidFill>
              </a:rPr>
              <a:t>（政府部门）、</a:t>
            </a:r>
            <a:r>
              <a:rPr lang="en-US" altLang="zh-CN" b="1" dirty="0">
                <a:solidFill>
                  <a:schemeClr val="bg2">
                    <a:lumMod val="25000"/>
                  </a:schemeClr>
                </a:solidFill>
              </a:rPr>
              <a:t>net</a:t>
            </a:r>
            <a:r>
              <a:rPr lang="zh-CN" altLang="en-US" b="1" dirty="0">
                <a:solidFill>
                  <a:schemeClr val="bg2">
                    <a:lumMod val="25000"/>
                  </a:schemeClr>
                </a:solidFill>
              </a:rPr>
              <a:t>（提供网络服务的机构）、</a:t>
            </a:r>
            <a:r>
              <a:rPr lang="en-US" altLang="zh-CN" b="1" dirty="0">
                <a:solidFill>
                  <a:schemeClr val="bg2">
                    <a:lumMod val="25000"/>
                  </a:schemeClr>
                </a:solidFill>
              </a:rPr>
              <a:t>mil</a:t>
            </a:r>
            <a:r>
              <a:rPr lang="zh-CN" altLang="en-US" b="1" dirty="0">
                <a:solidFill>
                  <a:schemeClr val="bg2">
                    <a:lumMod val="25000"/>
                  </a:schemeClr>
                </a:solidFill>
              </a:rPr>
              <a:t>（军事机构）和</a:t>
            </a:r>
            <a:r>
              <a:rPr lang="en-US" altLang="zh-CN" b="1" dirty="0">
                <a:solidFill>
                  <a:schemeClr val="bg2">
                    <a:lumMod val="25000"/>
                  </a:schemeClr>
                </a:solidFill>
              </a:rPr>
              <a:t>org</a:t>
            </a:r>
            <a:r>
              <a:rPr lang="zh-CN" altLang="en-US" b="1" dirty="0">
                <a:solidFill>
                  <a:schemeClr val="bg2">
                    <a:lumMod val="25000"/>
                  </a:schemeClr>
                </a:solidFill>
              </a:rPr>
              <a:t>（非营利性组织）。</a:t>
            </a:r>
          </a:p>
        </p:txBody>
      </p:sp>
      <p:sp>
        <p:nvSpPr>
          <p:cNvPr id="49" name="矩形 48">
            <a:extLst>
              <a:ext uri="{FF2B5EF4-FFF2-40B4-BE49-F238E27FC236}">
                <a16:creationId xmlns:a16="http://schemas.microsoft.com/office/drawing/2014/main" id="{C2D7D9A1-EA80-8FFE-1E2D-A8108B7169AA}"/>
              </a:ext>
            </a:extLst>
          </p:cNvPr>
          <p:cNvSpPr/>
          <p:nvPr/>
        </p:nvSpPr>
        <p:spPr>
          <a:xfrm>
            <a:off x="1390277" y="555032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íşlïḍè">
            <a:extLst>
              <a:ext uri="{FF2B5EF4-FFF2-40B4-BE49-F238E27FC236}">
                <a16:creationId xmlns:a16="http://schemas.microsoft.com/office/drawing/2014/main" id="{641B0442-60A4-5BFA-3F7D-7D7187275D53}"/>
              </a:ext>
            </a:extLst>
          </p:cNvPr>
          <p:cNvSpPr txBox="1"/>
          <p:nvPr/>
        </p:nvSpPr>
        <p:spPr>
          <a:xfrm>
            <a:off x="1668034" y="5469264"/>
            <a:ext cx="1579431" cy="417270"/>
          </a:xfrm>
          <a:prstGeom prst="rect">
            <a:avLst/>
          </a:prstGeom>
          <a:noFill/>
        </p:spPr>
        <p:txBody>
          <a:bodyPr wrap="square" lIns="91440" tIns="45720" rIns="91440" bIns="45720" anchor="ctr">
            <a:noAutofit/>
          </a:bodyPr>
          <a:lstStyle/>
          <a:p>
            <a:r>
              <a:rPr lang="zh-CN" altLang="en-US" b="1" dirty="0"/>
              <a:t>行政区域名</a:t>
            </a:r>
            <a:endParaRPr lang="en-US" altLang="zh-CN" b="1" dirty="0"/>
          </a:p>
        </p:txBody>
      </p:sp>
      <p:sp>
        <p:nvSpPr>
          <p:cNvPr id="51" name="íşlïḍè">
            <a:extLst>
              <a:ext uri="{FF2B5EF4-FFF2-40B4-BE49-F238E27FC236}">
                <a16:creationId xmlns:a16="http://schemas.microsoft.com/office/drawing/2014/main" id="{B0C8D767-B6B1-215F-042D-147A8CEF21FF}"/>
              </a:ext>
            </a:extLst>
          </p:cNvPr>
          <p:cNvSpPr txBox="1"/>
          <p:nvPr/>
        </p:nvSpPr>
        <p:spPr>
          <a:xfrm>
            <a:off x="3832413" y="5469263"/>
            <a:ext cx="8054787" cy="639437"/>
          </a:xfrm>
          <a:prstGeom prst="rect">
            <a:avLst/>
          </a:prstGeom>
          <a:noFill/>
        </p:spPr>
        <p:txBody>
          <a:bodyPr wrap="square" lIns="91440" tIns="45720" rIns="91440" bIns="45720" anchor="ctr">
            <a:noAutofit/>
          </a:bodyPr>
          <a:lstStyle/>
          <a:p>
            <a:r>
              <a:rPr lang="zh-CN" altLang="en-US" b="1" dirty="0">
                <a:solidFill>
                  <a:schemeClr val="bg2">
                    <a:lumMod val="25000"/>
                  </a:schemeClr>
                </a:solidFill>
              </a:rPr>
              <a:t>共</a:t>
            </a:r>
            <a:r>
              <a:rPr lang="en-US" altLang="zh-CN" b="1" dirty="0">
                <a:solidFill>
                  <a:schemeClr val="bg2">
                    <a:lumMod val="25000"/>
                  </a:schemeClr>
                </a:solidFill>
              </a:rPr>
              <a:t>34</a:t>
            </a:r>
            <a:r>
              <a:rPr lang="zh-CN" altLang="en-US" b="1" dirty="0">
                <a:solidFill>
                  <a:schemeClr val="bg2">
                    <a:lumMod val="25000"/>
                  </a:schemeClr>
                </a:solidFill>
              </a:rPr>
              <a:t>个，适用于我国的各省、自治区、直辖市。例如：</a:t>
            </a:r>
            <a:r>
              <a:rPr lang="en-US" altLang="zh-CN" b="1" dirty="0" err="1">
                <a:solidFill>
                  <a:schemeClr val="bg2">
                    <a:lumMod val="25000"/>
                  </a:schemeClr>
                </a:solidFill>
              </a:rPr>
              <a:t>bj</a:t>
            </a:r>
            <a:r>
              <a:rPr lang="zh-CN" altLang="en-US" b="1" dirty="0">
                <a:solidFill>
                  <a:schemeClr val="bg2">
                    <a:lumMod val="25000"/>
                  </a:schemeClr>
                </a:solidFill>
              </a:rPr>
              <a:t>为北京市、</a:t>
            </a:r>
            <a:r>
              <a:rPr lang="en-US" altLang="zh-CN" b="1" dirty="0" err="1">
                <a:solidFill>
                  <a:schemeClr val="bg2">
                    <a:lumMod val="25000"/>
                  </a:schemeClr>
                </a:solidFill>
              </a:rPr>
              <a:t>sh</a:t>
            </a:r>
            <a:r>
              <a:rPr lang="zh-CN" altLang="en-US" b="1" dirty="0">
                <a:solidFill>
                  <a:schemeClr val="bg2">
                    <a:lumMod val="25000"/>
                  </a:schemeClr>
                </a:solidFill>
              </a:rPr>
              <a:t>为上海市、</a:t>
            </a:r>
            <a:r>
              <a:rPr lang="en-US" altLang="zh-CN" b="1" dirty="0" err="1">
                <a:solidFill>
                  <a:schemeClr val="bg2">
                    <a:lumMod val="25000"/>
                  </a:schemeClr>
                </a:solidFill>
              </a:rPr>
              <a:t>js</a:t>
            </a:r>
            <a:r>
              <a:rPr lang="zh-CN" altLang="en-US" b="1" dirty="0">
                <a:solidFill>
                  <a:schemeClr val="bg2">
                    <a:lumMod val="25000"/>
                  </a:schemeClr>
                </a:solidFill>
              </a:rPr>
              <a:t>为江苏省，等等。</a:t>
            </a:r>
          </a:p>
        </p:txBody>
      </p:sp>
    </p:spTree>
    <p:custDataLst>
      <p:tags r:id="rId1"/>
    </p:custDataLst>
    <p:extLst>
      <p:ext uri="{BB962C8B-B14F-4D97-AF65-F5344CB8AC3E}">
        <p14:creationId xmlns:p14="http://schemas.microsoft.com/office/powerpoint/2010/main" val="198439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 calcmode="lin" valueType="num">
                                      <p:cBhvr>
                                        <p:cTn id="9" dur="500" fill="hold"/>
                                        <p:tgtEl>
                                          <p:spTgt spid="11"/>
                                        </p:tgtEl>
                                        <p:attrNameLst>
                                          <p:attrName>style.rotation</p:attrName>
                                        </p:attrNameLst>
                                      </p:cBhvr>
                                      <p:tavLst>
                                        <p:tav tm="0">
                                          <p:val>
                                            <p:fltVal val="360"/>
                                          </p:val>
                                        </p:tav>
                                        <p:tav tm="100000">
                                          <p:val>
                                            <p:fltVal val="0"/>
                                          </p:val>
                                        </p:tav>
                                      </p:tavLst>
                                    </p:anim>
                                    <p:animEffect transition="in" filter="fade">
                                      <p:cBhvr>
                                        <p:cTn id="10" dur="500"/>
                                        <p:tgtEl>
                                          <p:spTgt spid="11"/>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 calcmode="lin" valueType="num">
                                      <p:cBhvr>
                                        <p:cTn id="20" dur="500" fill="hold"/>
                                        <p:tgtEl>
                                          <p:spTgt spid="5"/>
                                        </p:tgtEl>
                                        <p:attrNameLst>
                                          <p:attrName>style.rotation</p:attrName>
                                        </p:attrNameLst>
                                      </p:cBhvr>
                                      <p:tavLst>
                                        <p:tav tm="0">
                                          <p:val>
                                            <p:fltVal val="360"/>
                                          </p:val>
                                        </p:tav>
                                        <p:tav tm="100000">
                                          <p:val>
                                            <p:fltVal val="0"/>
                                          </p:val>
                                        </p:tav>
                                      </p:tavLst>
                                    </p:anim>
                                    <p:animEffect transition="in" filter="fade">
                                      <p:cBhvr>
                                        <p:cTn id="21" dur="500"/>
                                        <p:tgtEl>
                                          <p:spTgt spid="5"/>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type="lt">
                                    <p:tmAbs val="100"/>
                                  </p:iterate>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9" presetClass="entr" presetSubtype="0" decel="10000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 calcmode="lin" valueType="num">
                                      <p:cBhvr>
                                        <p:cTn id="35" dur="500" fill="hold"/>
                                        <p:tgtEl>
                                          <p:spTgt spid="8"/>
                                        </p:tgtEl>
                                        <p:attrNameLst>
                                          <p:attrName>style.rotation</p:attrName>
                                        </p:attrNameLst>
                                      </p:cBhvr>
                                      <p:tavLst>
                                        <p:tav tm="0">
                                          <p:val>
                                            <p:fltVal val="360"/>
                                          </p:val>
                                        </p:tav>
                                        <p:tav tm="100000">
                                          <p:val>
                                            <p:fltVal val="0"/>
                                          </p:val>
                                        </p:tav>
                                      </p:tavLst>
                                    </p:anim>
                                    <p:animEffect transition="in" filter="fade">
                                      <p:cBhvr>
                                        <p:cTn id="36" dur="500"/>
                                        <p:tgtEl>
                                          <p:spTgt spid="8"/>
                                        </p:tgtEl>
                                      </p:cBhvr>
                                    </p:animEffect>
                                  </p:childTnLst>
                                </p:cTn>
                              </p:par>
                            </p:childTnLst>
                          </p:cTn>
                        </p:par>
                        <p:par>
                          <p:cTn id="37" fill="hold">
                            <p:stCondLst>
                              <p:cond delay="500"/>
                            </p:stCondLst>
                            <p:childTnLst>
                              <p:par>
                                <p:cTn id="38" presetID="1" presetClass="entr" presetSubtype="0" fill="hold" grpId="0" nodeType="afterEffect">
                                  <p:stCondLst>
                                    <p:cond delay="0"/>
                                  </p:stCondLst>
                                  <p:iterate type="lt">
                                    <p:tmAbs val="100"/>
                                  </p:iterate>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iterate type="lt">
                                    <p:tmAbs val="100"/>
                                  </p:iterate>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9" presetClass="entr" presetSubtype="0" decel="10000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 calcmode="lin" valueType="num">
                                      <p:cBhvr>
                                        <p:cTn id="50" dur="500" fill="hold"/>
                                        <p:tgtEl>
                                          <p:spTgt spid="12"/>
                                        </p:tgtEl>
                                        <p:attrNameLst>
                                          <p:attrName>style.rotation</p:attrName>
                                        </p:attrNameLst>
                                      </p:cBhvr>
                                      <p:tavLst>
                                        <p:tav tm="0">
                                          <p:val>
                                            <p:fltVal val="360"/>
                                          </p:val>
                                        </p:tav>
                                        <p:tav tm="100000">
                                          <p:val>
                                            <p:fltVal val="0"/>
                                          </p:val>
                                        </p:tav>
                                      </p:tavLst>
                                    </p:anim>
                                    <p:animEffect transition="in" filter="fade">
                                      <p:cBhvr>
                                        <p:cTn id="51" dur="500"/>
                                        <p:tgtEl>
                                          <p:spTgt spid="12"/>
                                        </p:tgtEl>
                                      </p:cBhvr>
                                    </p:animEffect>
                                  </p:childTnLst>
                                </p:cTn>
                              </p:par>
                            </p:childTnLst>
                          </p:cTn>
                        </p:par>
                        <p:par>
                          <p:cTn id="52" fill="hold">
                            <p:stCondLst>
                              <p:cond delay="500"/>
                            </p:stCondLst>
                            <p:childTnLst>
                              <p:par>
                                <p:cTn id="53" presetID="1" presetClass="entr" presetSubtype="0" fill="hold" grpId="0" nodeType="afterEffect">
                                  <p:stCondLst>
                                    <p:cond delay="0"/>
                                  </p:stCondLst>
                                  <p:iterate type="lt">
                                    <p:tmAbs val="100"/>
                                  </p:iterate>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iterate type="lt">
                                    <p:tmAbs val="100"/>
                                  </p:iterate>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9" presetClass="entr" presetSubtype="0" decel="10000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 calcmode="lin" valueType="num">
                                      <p:cBhvr>
                                        <p:cTn id="65" dur="500" fill="hold"/>
                                        <p:tgtEl>
                                          <p:spTgt spid="15"/>
                                        </p:tgtEl>
                                        <p:attrNameLst>
                                          <p:attrName>style.rotation</p:attrName>
                                        </p:attrNameLst>
                                      </p:cBhvr>
                                      <p:tavLst>
                                        <p:tav tm="0">
                                          <p:val>
                                            <p:fltVal val="360"/>
                                          </p:val>
                                        </p:tav>
                                        <p:tav tm="100000">
                                          <p:val>
                                            <p:fltVal val="0"/>
                                          </p:val>
                                        </p:tav>
                                      </p:tavLst>
                                    </p:anim>
                                    <p:animEffect transition="in" filter="fade">
                                      <p:cBhvr>
                                        <p:cTn id="66" dur="500"/>
                                        <p:tgtEl>
                                          <p:spTgt spid="15"/>
                                        </p:tgtEl>
                                      </p:cBhvr>
                                    </p:animEffect>
                                  </p:childTnLst>
                                </p:cTn>
                              </p:par>
                            </p:childTnLst>
                          </p:cTn>
                        </p:par>
                        <p:par>
                          <p:cTn id="67" fill="hold">
                            <p:stCondLst>
                              <p:cond delay="500"/>
                            </p:stCondLst>
                            <p:childTnLst>
                              <p:par>
                                <p:cTn id="68" presetID="1" presetClass="entr" presetSubtype="0" fill="hold" grpId="0" nodeType="afterEffect">
                                  <p:stCondLst>
                                    <p:cond delay="0"/>
                                  </p:stCondLst>
                                  <p:iterate type="lt">
                                    <p:tmAbs val="100"/>
                                  </p:iterate>
                                  <p:childTnLst>
                                    <p:set>
                                      <p:cBhvr>
                                        <p:cTn id="69" dur="1" fill="hold">
                                          <p:stCondLst>
                                            <p:cond delay="0"/>
                                          </p:stCondLst>
                                        </p:cTn>
                                        <p:tgtEl>
                                          <p:spTgt spid="1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49" presetClass="entr" presetSubtype="0" decel="100000"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p:cTn id="74" dur="500" fill="hold"/>
                                        <p:tgtEl>
                                          <p:spTgt spid="18"/>
                                        </p:tgtEl>
                                        <p:attrNameLst>
                                          <p:attrName>ppt_w</p:attrName>
                                        </p:attrNameLst>
                                      </p:cBhvr>
                                      <p:tavLst>
                                        <p:tav tm="0">
                                          <p:val>
                                            <p:fltVal val="0"/>
                                          </p:val>
                                        </p:tav>
                                        <p:tav tm="100000">
                                          <p:val>
                                            <p:strVal val="#ppt_w"/>
                                          </p:val>
                                        </p:tav>
                                      </p:tavLst>
                                    </p:anim>
                                    <p:anim calcmode="lin" valueType="num">
                                      <p:cBhvr>
                                        <p:cTn id="75" dur="500" fill="hold"/>
                                        <p:tgtEl>
                                          <p:spTgt spid="18"/>
                                        </p:tgtEl>
                                        <p:attrNameLst>
                                          <p:attrName>ppt_h</p:attrName>
                                        </p:attrNameLst>
                                      </p:cBhvr>
                                      <p:tavLst>
                                        <p:tav tm="0">
                                          <p:val>
                                            <p:fltVal val="0"/>
                                          </p:val>
                                        </p:tav>
                                        <p:tav tm="100000">
                                          <p:val>
                                            <p:strVal val="#ppt_h"/>
                                          </p:val>
                                        </p:tav>
                                      </p:tavLst>
                                    </p:anim>
                                    <p:anim calcmode="lin" valueType="num">
                                      <p:cBhvr>
                                        <p:cTn id="76" dur="500" fill="hold"/>
                                        <p:tgtEl>
                                          <p:spTgt spid="18"/>
                                        </p:tgtEl>
                                        <p:attrNameLst>
                                          <p:attrName>style.rotation</p:attrName>
                                        </p:attrNameLst>
                                      </p:cBhvr>
                                      <p:tavLst>
                                        <p:tav tm="0">
                                          <p:val>
                                            <p:fltVal val="360"/>
                                          </p:val>
                                        </p:tav>
                                        <p:tav tm="100000">
                                          <p:val>
                                            <p:fltVal val="0"/>
                                          </p:val>
                                        </p:tav>
                                      </p:tavLst>
                                    </p:anim>
                                    <p:animEffect transition="in" filter="fade">
                                      <p:cBhvr>
                                        <p:cTn id="77" dur="500"/>
                                        <p:tgtEl>
                                          <p:spTgt spid="18"/>
                                        </p:tgtEl>
                                      </p:cBhvr>
                                    </p:animEffect>
                                  </p:childTnLst>
                                </p:cTn>
                              </p:par>
                            </p:childTnLst>
                          </p:cTn>
                        </p:par>
                        <p:par>
                          <p:cTn id="78" fill="hold">
                            <p:stCondLst>
                              <p:cond delay="500"/>
                            </p:stCondLst>
                            <p:childTnLst>
                              <p:par>
                                <p:cTn id="79" presetID="1" presetClass="entr" presetSubtype="0" fill="hold" grpId="0" nodeType="afterEffect">
                                  <p:stCondLst>
                                    <p:cond delay="0"/>
                                  </p:stCondLst>
                                  <p:iterate type="lt">
                                    <p:tmAbs val="100"/>
                                  </p:iterate>
                                  <p:childTnLst>
                                    <p:set>
                                      <p:cBhvr>
                                        <p:cTn id="80" dur="1" fill="hold">
                                          <p:stCondLst>
                                            <p:cond delay="0"/>
                                          </p:stCondLst>
                                        </p:cTn>
                                        <p:tgtEl>
                                          <p:spTgt spid="1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49" presetClass="entr" presetSubtype="0" decel="100000" fill="hold" grpId="0" nodeType="click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p:cTn id="85" dur="500" fill="hold"/>
                                        <p:tgtEl>
                                          <p:spTgt spid="22"/>
                                        </p:tgtEl>
                                        <p:attrNameLst>
                                          <p:attrName>ppt_w</p:attrName>
                                        </p:attrNameLst>
                                      </p:cBhvr>
                                      <p:tavLst>
                                        <p:tav tm="0">
                                          <p:val>
                                            <p:fltVal val="0"/>
                                          </p:val>
                                        </p:tav>
                                        <p:tav tm="100000">
                                          <p:val>
                                            <p:strVal val="#ppt_w"/>
                                          </p:val>
                                        </p:tav>
                                      </p:tavLst>
                                    </p:anim>
                                    <p:anim calcmode="lin" valueType="num">
                                      <p:cBhvr>
                                        <p:cTn id="86" dur="500" fill="hold"/>
                                        <p:tgtEl>
                                          <p:spTgt spid="22"/>
                                        </p:tgtEl>
                                        <p:attrNameLst>
                                          <p:attrName>ppt_h</p:attrName>
                                        </p:attrNameLst>
                                      </p:cBhvr>
                                      <p:tavLst>
                                        <p:tav tm="0">
                                          <p:val>
                                            <p:fltVal val="0"/>
                                          </p:val>
                                        </p:tav>
                                        <p:tav tm="100000">
                                          <p:val>
                                            <p:strVal val="#ppt_h"/>
                                          </p:val>
                                        </p:tav>
                                      </p:tavLst>
                                    </p:anim>
                                    <p:anim calcmode="lin" valueType="num">
                                      <p:cBhvr>
                                        <p:cTn id="87" dur="500" fill="hold"/>
                                        <p:tgtEl>
                                          <p:spTgt spid="22"/>
                                        </p:tgtEl>
                                        <p:attrNameLst>
                                          <p:attrName>style.rotation</p:attrName>
                                        </p:attrNameLst>
                                      </p:cBhvr>
                                      <p:tavLst>
                                        <p:tav tm="0">
                                          <p:val>
                                            <p:fltVal val="360"/>
                                          </p:val>
                                        </p:tav>
                                        <p:tav tm="100000">
                                          <p:val>
                                            <p:fltVal val="0"/>
                                          </p:val>
                                        </p:tav>
                                      </p:tavLst>
                                    </p:anim>
                                    <p:animEffect transition="in" filter="fade">
                                      <p:cBhvr>
                                        <p:cTn id="88" dur="500"/>
                                        <p:tgtEl>
                                          <p:spTgt spid="22"/>
                                        </p:tgtEl>
                                      </p:cBhvr>
                                    </p:animEffect>
                                  </p:childTnLst>
                                </p:cTn>
                              </p:par>
                            </p:childTnLst>
                          </p:cTn>
                        </p:par>
                        <p:par>
                          <p:cTn id="89" fill="hold">
                            <p:stCondLst>
                              <p:cond delay="500"/>
                            </p:stCondLst>
                            <p:childTnLst>
                              <p:par>
                                <p:cTn id="90" presetID="1" presetClass="entr" presetSubtype="0" fill="hold" grpId="0" nodeType="afterEffect">
                                  <p:stCondLst>
                                    <p:cond delay="0"/>
                                  </p:stCondLst>
                                  <p:iterate type="lt">
                                    <p:tmAbs val="100"/>
                                  </p:iterate>
                                  <p:childTnLst>
                                    <p:set>
                                      <p:cBhvr>
                                        <p:cTn id="91" dur="1" fill="hold">
                                          <p:stCondLst>
                                            <p:cond delay="0"/>
                                          </p:stCondLst>
                                        </p:cTn>
                                        <p:tgtEl>
                                          <p:spTgt spid="4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iterate type="lt">
                                    <p:tmAbs val="100"/>
                                  </p:iterate>
                                  <p:childTnLst>
                                    <p:set>
                                      <p:cBhvr>
                                        <p:cTn id="95" dur="1" fill="hold">
                                          <p:stCondLst>
                                            <p:cond delay="0"/>
                                          </p:stCondLst>
                                        </p:cTn>
                                        <p:tgtEl>
                                          <p:spTgt spid="46"/>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49" presetClass="entr" presetSubtype="0" decel="10000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anim calcmode="lin" valueType="num">
                                      <p:cBhvr>
                                        <p:cTn id="100" dur="500" fill="hold"/>
                                        <p:tgtEl>
                                          <p:spTgt spid="49"/>
                                        </p:tgtEl>
                                        <p:attrNameLst>
                                          <p:attrName>ppt_w</p:attrName>
                                        </p:attrNameLst>
                                      </p:cBhvr>
                                      <p:tavLst>
                                        <p:tav tm="0">
                                          <p:val>
                                            <p:fltVal val="0"/>
                                          </p:val>
                                        </p:tav>
                                        <p:tav tm="100000">
                                          <p:val>
                                            <p:strVal val="#ppt_w"/>
                                          </p:val>
                                        </p:tav>
                                      </p:tavLst>
                                    </p:anim>
                                    <p:anim calcmode="lin" valueType="num">
                                      <p:cBhvr>
                                        <p:cTn id="101" dur="500" fill="hold"/>
                                        <p:tgtEl>
                                          <p:spTgt spid="49"/>
                                        </p:tgtEl>
                                        <p:attrNameLst>
                                          <p:attrName>ppt_h</p:attrName>
                                        </p:attrNameLst>
                                      </p:cBhvr>
                                      <p:tavLst>
                                        <p:tav tm="0">
                                          <p:val>
                                            <p:fltVal val="0"/>
                                          </p:val>
                                        </p:tav>
                                        <p:tav tm="100000">
                                          <p:val>
                                            <p:strVal val="#ppt_h"/>
                                          </p:val>
                                        </p:tav>
                                      </p:tavLst>
                                    </p:anim>
                                    <p:anim calcmode="lin" valueType="num">
                                      <p:cBhvr>
                                        <p:cTn id="102" dur="500" fill="hold"/>
                                        <p:tgtEl>
                                          <p:spTgt spid="49"/>
                                        </p:tgtEl>
                                        <p:attrNameLst>
                                          <p:attrName>style.rotation</p:attrName>
                                        </p:attrNameLst>
                                      </p:cBhvr>
                                      <p:tavLst>
                                        <p:tav tm="0">
                                          <p:val>
                                            <p:fltVal val="360"/>
                                          </p:val>
                                        </p:tav>
                                        <p:tav tm="100000">
                                          <p:val>
                                            <p:fltVal val="0"/>
                                          </p:val>
                                        </p:tav>
                                      </p:tavLst>
                                    </p:anim>
                                    <p:animEffect transition="in" filter="fade">
                                      <p:cBhvr>
                                        <p:cTn id="103" dur="500"/>
                                        <p:tgtEl>
                                          <p:spTgt spid="49"/>
                                        </p:tgtEl>
                                      </p:cBhvr>
                                    </p:animEffect>
                                  </p:childTnLst>
                                </p:cTn>
                              </p:par>
                            </p:childTnLst>
                          </p:cTn>
                        </p:par>
                        <p:par>
                          <p:cTn id="104" fill="hold">
                            <p:stCondLst>
                              <p:cond delay="500"/>
                            </p:stCondLst>
                            <p:childTnLst>
                              <p:par>
                                <p:cTn id="105" presetID="1" presetClass="entr" presetSubtype="0" fill="hold" grpId="0" nodeType="afterEffect">
                                  <p:stCondLst>
                                    <p:cond delay="0"/>
                                  </p:stCondLst>
                                  <p:iterate type="lt">
                                    <p:tmAbs val="100"/>
                                  </p:iterate>
                                  <p:childTnLst>
                                    <p:set>
                                      <p:cBhvr>
                                        <p:cTn id="106" dur="1" fill="hold">
                                          <p:stCondLst>
                                            <p:cond delay="0"/>
                                          </p:stCondLst>
                                        </p:cTn>
                                        <p:tgtEl>
                                          <p:spTgt spid="5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iterate type="lt">
                                    <p:tmAbs val="100"/>
                                  </p:iterate>
                                  <p:childTnLst>
                                    <p:set>
                                      <p:cBhvr>
                                        <p:cTn id="110" dur="1" fill="hold">
                                          <p:stCondLst>
                                            <p:cond delay="0"/>
                                          </p:stCondLst>
                                        </p:cTn>
                                        <p:tgtEl>
                                          <p:spTgt spid="5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nodeType="clickEffect">
                                  <p:stCondLst>
                                    <p:cond delay="0"/>
                                  </p:stCondLst>
                                  <p:childTnLst>
                                    <p:set>
                                      <p:cBhvr>
                                        <p:cTn id="114" dur="1" fill="hold">
                                          <p:stCondLst>
                                            <p:cond delay="0"/>
                                          </p:stCondLst>
                                        </p:cTn>
                                        <p:tgtEl>
                                          <p:spTgt spid="58"/>
                                        </p:tgtEl>
                                        <p:attrNameLst>
                                          <p:attrName>style.visibility</p:attrName>
                                        </p:attrNameLst>
                                      </p:cBhvr>
                                      <p:to>
                                        <p:strVal val="visible"/>
                                      </p:to>
                                    </p:set>
                                    <p:anim calcmode="lin" valueType="num">
                                      <p:cBhvr>
                                        <p:cTn id="115" dur="500" fill="hold"/>
                                        <p:tgtEl>
                                          <p:spTgt spid="58"/>
                                        </p:tgtEl>
                                        <p:attrNameLst>
                                          <p:attrName>ppt_w</p:attrName>
                                        </p:attrNameLst>
                                      </p:cBhvr>
                                      <p:tavLst>
                                        <p:tav tm="0">
                                          <p:val>
                                            <p:fltVal val="0"/>
                                          </p:val>
                                        </p:tav>
                                        <p:tav tm="100000">
                                          <p:val>
                                            <p:strVal val="#ppt_w"/>
                                          </p:val>
                                        </p:tav>
                                      </p:tavLst>
                                    </p:anim>
                                    <p:anim calcmode="lin" valueType="num">
                                      <p:cBhvr>
                                        <p:cTn id="116" dur="500" fill="hold"/>
                                        <p:tgtEl>
                                          <p:spTgt spid="58"/>
                                        </p:tgtEl>
                                        <p:attrNameLst>
                                          <p:attrName>ppt_h</p:attrName>
                                        </p:attrNameLst>
                                      </p:cBhvr>
                                      <p:tavLst>
                                        <p:tav tm="0">
                                          <p:val>
                                            <p:fltVal val="0"/>
                                          </p:val>
                                        </p:tav>
                                        <p:tav tm="100000">
                                          <p:val>
                                            <p:strVal val="#ppt_h"/>
                                          </p:val>
                                        </p:tav>
                                      </p:tavLst>
                                    </p:anim>
                                    <p:animEffect transition="in" filter="fade">
                                      <p:cBhvr>
                                        <p:cTn id="11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p:bldP spid="5" grpId="0" animBg="1"/>
      <p:bldP spid="6" grpId="0"/>
      <p:bldP spid="7" grpId="0"/>
      <p:bldP spid="8" grpId="0" animBg="1"/>
      <p:bldP spid="9" grpId="0"/>
      <p:bldP spid="10" grpId="0"/>
      <p:bldP spid="12" grpId="0" animBg="1"/>
      <p:bldP spid="13" grpId="0"/>
      <p:bldP spid="14" grpId="0"/>
      <p:bldP spid="15" grpId="0" animBg="1"/>
      <p:bldP spid="16" grpId="0"/>
      <p:bldP spid="18" grpId="0" animBg="1"/>
      <p:bldP spid="19" grpId="0"/>
      <p:bldP spid="22" grpId="0" animBg="1"/>
      <p:bldP spid="45" grpId="0"/>
      <p:bldP spid="46" grpId="0"/>
      <p:bldP spid="49" grpId="0" animBg="1"/>
      <p:bldP spid="50" grpId="0"/>
      <p:bldP spid="5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因特网的域名结构</a:t>
              </a:r>
            </a:p>
          </p:txBody>
        </p:sp>
      </p:grpSp>
      <p:sp>
        <p:nvSpPr>
          <p:cNvPr id="20" name="íşlïḍè">
            <a:extLst>
              <a:ext uri="{FF2B5EF4-FFF2-40B4-BE49-F238E27FC236}">
                <a16:creationId xmlns:a16="http://schemas.microsoft.com/office/drawing/2014/main" id="{389C0016-E398-2E4B-65C2-71D5D9A37652}"/>
              </a:ext>
            </a:extLst>
          </p:cNvPr>
          <p:cNvSpPr txBox="1"/>
          <p:nvPr/>
        </p:nvSpPr>
        <p:spPr>
          <a:xfrm>
            <a:off x="869577" y="1149410"/>
            <a:ext cx="3484082" cy="387089"/>
          </a:xfrm>
          <a:prstGeom prst="rect">
            <a:avLst/>
          </a:prstGeom>
          <a:solidFill>
            <a:schemeClr val="bg1"/>
          </a:solidFill>
        </p:spPr>
        <p:txBody>
          <a:bodyPr wrap="square" lIns="91440" tIns="45720" rIns="91440" bIns="45720" anchor="ctr">
            <a:noAutofit/>
          </a:bodyPr>
          <a:lstStyle/>
          <a:p>
            <a:r>
              <a:rPr lang="en-US" altLang="zh-CN" sz="2000" b="1" dirty="0"/>
              <a:t>【</a:t>
            </a:r>
            <a:r>
              <a:rPr lang="zh-CN" altLang="en-US" sz="2000" b="1" dirty="0"/>
              <a:t>举例</a:t>
            </a:r>
            <a:r>
              <a:rPr lang="en-US" altLang="zh-CN" sz="2000" b="1" dirty="0"/>
              <a:t>】</a:t>
            </a:r>
            <a:r>
              <a:rPr lang="zh-CN" altLang="en-US" sz="2000" b="1" dirty="0"/>
              <a:t>因特网的域名空间</a:t>
            </a:r>
            <a:endParaRPr lang="en-US" altLang="zh-CN" sz="2000" b="1" dirty="0">
              <a:solidFill>
                <a:srgbClr val="C00000"/>
              </a:solidFill>
            </a:endParaRPr>
          </a:p>
        </p:txBody>
      </p:sp>
      <p:grpSp>
        <p:nvGrpSpPr>
          <p:cNvPr id="21" name="组合 20">
            <a:extLst>
              <a:ext uri="{FF2B5EF4-FFF2-40B4-BE49-F238E27FC236}">
                <a16:creationId xmlns:a16="http://schemas.microsoft.com/office/drawing/2014/main" id="{43842842-4040-9EA8-23EF-89ADC74F6C87}"/>
              </a:ext>
            </a:extLst>
          </p:cNvPr>
          <p:cNvGrpSpPr/>
          <p:nvPr/>
        </p:nvGrpSpPr>
        <p:grpSpPr>
          <a:xfrm>
            <a:off x="2244286" y="2799576"/>
            <a:ext cx="2425186" cy="805544"/>
            <a:chOff x="2244286" y="2799576"/>
            <a:chExt cx="2425186" cy="805544"/>
          </a:xfrm>
        </p:grpSpPr>
        <p:sp>
          <p:nvSpPr>
            <p:cNvPr id="23" name="文本框 22">
              <a:extLst>
                <a:ext uri="{FF2B5EF4-FFF2-40B4-BE49-F238E27FC236}">
                  <a16:creationId xmlns:a16="http://schemas.microsoft.com/office/drawing/2014/main" id="{16CB794C-2AEE-4400-C28E-AD8B93BE160C}"/>
                </a:ext>
              </a:extLst>
            </p:cNvPr>
            <p:cNvSpPr txBox="1"/>
            <p:nvPr/>
          </p:nvSpPr>
          <p:spPr>
            <a:xfrm>
              <a:off x="2244286" y="3235788"/>
              <a:ext cx="669349" cy="369332"/>
            </a:xfrm>
            <a:prstGeom prst="rect">
              <a:avLst/>
            </a:prstGeom>
            <a:noFill/>
          </p:spPr>
          <p:txBody>
            <a:bodyPr wrap="square" rtlCol="0">
              <a:spAutoFit/>
            </a:bodyPr>
            <a:lstStyle/>
            <a:p>
              <a:pPr algn="ctr"/>
              <a:r>
                <a:rPr lang="en-US" altLang="zh-CN" b="1" dirty="0" err="1">
                  <a:latin typeface="+mn-ea"/>
                </a:rPr>
                <a:t>cctv</a:t>
              </a:r>
              <a:endParaRPr lang="zh-CN" altLang="en-US" b="1" dirty="0">
                <a:latin typeface="+mn-ea"/>
              </a:endParaRPr>
            </a:p>
          </p:txBody>
        </p:sp>
        <p:sp>
          <p:nvSpPr>
            <p:cNvPr id="24" name="文本框 23">
              <a:extLst>
                <a:ext uri="{FF2B5EF4-FFF2-40B4-BE49-F238E27FC236}">
                  <a16:creationId xmlns:a16="http://schemas.microsoft.com/office/drawing/2014/main" id="{2D951224-3390-E43A-072E-C91789396996}"/>
                </a:ext>
              </a:extLst>
            </p:cNvPr>
            <p:cNvSpPr txBox="1"/>
            <p:nvPr/>
          </p:nvSpPr>
          <p:spPr>
            <a:xfrm>
              <a:off x="3316575" y="3235788"/>
              <a:ext cx="644552" cy="369332"/>
            </a:xfrm>
            <a:prstGeom prst="rect">
              <a:avLst/>
            </a:prstGeom>
            <a:noFill/>
          </p:spPr>
          <p:txBody>
            <a:bodyPr wrap="square" rtlCol="0">
              <a:spAutoFit/>
            </a:bodyPr>
            <a:lstStyle/>
            <a:p>
              <a:pPr algn="ctr"/>
              <a:r>
                <a:rPr lang="en-US" altLang="zh-CN" b="1" dirty="0" err="1">
                  <a:latin typeface="+mn-ea"/>
                </a:rPr>
                <a:t>ibm</a:t>
              </a:r>
              <a:endParaRPr lang="zh-CN" altLang="en-US" b="1" dirty="0">
                <a:latin typeface="+mn-ea"/>
              </a:endParaRPr>
            </a:p>
          </p:txBody>
        </p:sp>
        <p:sp>
          <p:nvSpPr>
            <p:cNvPr id="25" name="文本框 24">
              <a:extLst>
                <a:ext uri="{FF2B5EF4-FFF2-40B4-BE49-F238E27FC236}">
                  <a16:creationId xmlns:a16="http://schemas.microsoft.com/office/drawing/2014/main" id="{D1142D55-CA9E-AAED-2210-6325A8C481B0}"/>
                </a:ext>
              </a:extLst>
            </p:cNvPr>
            <p:cNvSpPr txBox="1"/>
            <p:nvPr/>
          </p:nvSpPr>
          <p:spPr>
            <a:xfrm>
              <a:off x="4024920" y="3235788"/>
              <a:ext cx="644552" cy="369332"/>
            </a:xfrm>
            <a:prstGeom prst="rect">
              <a:avLst/>
            </a:prstGeom>
            <a:noFill/>
          </p:spPr>
          <p:txBody>
            <a:bodyPr wrap="square" rtlCol="0">
              <a:spAutoFit/>
            </a:bodyPr>
            <a:lstStyle/>
            <a:p>
              <a:pPr algn="ctr"/>
              <a:r>
                <a:rPr lang="en-US" altLang="zh-CN" b="1" dirty="0" err="1">
                  <a:latin typeface="+mn-ea"/>
                </a:rPr>
                <a:t>ti</a:t>
              </a:r>
              <a:endParaRPr lang="zh-CN" altLang="en-US" b="1" dirty="0">
                <a:latin typeface="+mn-ea"/>
              </a:endParaRPr>
            </a:p>
          </p:txBody>
        </p:sp>
        <p:sp>
          <p:nvSpPr>
            <p:cNvPr id="26" name="文本框 25">
              <a:extLst>
                <a:ext uri="{FF2B5EF4-FFF2-40B4-BE49-F238E27FC236}">
                  <a16:creationId xmlns:a16="http://schemas.microsoft.com/office/drawing/2014/main" id="{DBBD0F36-FE06-59DD-F14F-2DACFE8C9B0B}"/>
                </a:ext>
              </a:extLst>
            </p:cNvPr>
            <p:cNvSpPr txBox="1"/>
            <p:nvPr/>
          </p:nvSpPr>
          <p:spPr>
            <a:xfrm>
              <a:off x="2930506" y="3235788"/>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27" name="连接符: 肘形 26">
              <a:extLst>
                <a:ext uri="{FF2B5EF4-FFF2-40B4-BE49-F238E27FC236}">
                  <a16:creationId xmlns:a16="http://schemas.microsoft.com/office/drawing/2014/main" id="{6F09C04F-1F7C-E6F2-B721-C0DBF32860F9}"/>
                </a:ext>
              </a:extLst>
            </p:cNvPr>
            <p:cNvCxnSpPr>
              <a:cxnSpLocks/>
              <a:stCxn id="23" idx="0"/>
              <a:endCxn id="25" idx="0"/>
            </p:cNvCxnSpPr>
            <p:nvPr/>
          </p:nvCxnSpPr>
          <p:spPr>
            <a:xfrm rot="5400000" flipH="1" flipV="1">
              <a:off x="3463078" y="2351671"/>
              <a:ext cx="12700" cy="1768235"/>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11F2213E-A81E-0A48-43E5-1D00C2DB058D}"/>
                </a:ext>
              </a:extLst>
            </p:cNvPr>
            <p:cNvCxnSpPr>
              <a:cxnSpLocks/>
            </p:cNvCxnSpPr>
            <p:nvPr/>
          </p:nvCxnSpPr>
          <p:spPr>
            <a:xfrm flipV="1">
              <a:off x="3621829" y="2799576"/>
              <a:ext cx="0" cy="4298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CCAF48FF-0FCE-F5C7-7E0C-161119CEBF81}"/>
              </a:ext>
            </a:extLst>
          </p:cNvPr>
          <p:cNvGrpSpPr/>
          <p:nvPr/>
        </p:nvGrpSpPr>
        <p:grpSpPr>
          <a:xfrm>
            <a:off x="4716394" y="2799576"/>
            <a:ext cx="5989034" cy="799194"/>
            <a:chOff x="4716394" y="2799576"/>
            <a:chExt cx="5989034" cy="799194"/>
          </a:xfrm>
        </p:grpSpPr>
        <p:sp>
          <p:nvSpPr>
            <p:cNvPr id="30" name="文本框 29">
              <a:extLst>
                <a:ext uri="{FF2B5EF4-FFF2-40B4-BE49-F238E27FC236}">
                  <a16:creationId xmlns:a16="http://schemas.microsoft.com/office/drawing/2014/main" id="{A2F174D7-0C8F-6732-000B-5532C2FF0557}"/>
                </a:ext>
              </a:extLst>
            </p:cNvPr>
            <p:cNvSpPr txBox="1"/>
            <p:nvPr/>
          </p:nvSpPr>
          <p:spPr>
            <a:xfrm>
              <a:off x="4716394" y="3229438"/>
              <a:ext cx="644552" cy="369332"/>
            </a:xfrm>
            <a:prstGeom prst="rect">
              <a:avLst/>
            </a:prstGeom>
            <a:noFill/>
          </p:spPr>
          <p:txBody>
            <a:bodyPr wrap="square" rtlCol="0">
              <a:spAutoFit/>
            </a:bodyPr>
            <a:lstStyle/>
            <a:p>
              <a:pPr algn="ctr"/>
              <a:r>
                <a:rPr lang="en-US" altLang="zh-CN" b="1" dirty="0" err="1">
                  <a:latin typeface="+mn-ea"/>
                </a:rPr>
                <a:t>sh</a:t>
              </a:r>
              <a:endParaRPr lang="zh-CN" altLang="en-US" b="1" dirty="0">
                <a:latin typeface="+mn-ea"/>
              </a:endParaRPr>
            </a:p>
          </p:txBody>
        </p:sp>
        <p:grpSp>
          <p:nvGrpSpPr>
            <p:cNvPr id="31" name="组合 30">
              <a:extLst>
                <a:ext uri="{FF2B5EF4-FFF2-40B4-BE49-F238E27FC236}">
                  <a16:creationId xmlns:a16="http://schemas.microsoft.com/office/drawing/2014/main" id="{F0BD7CF4-8AF1-67EA-D429-886E3D75E64B}"/>
                </a:ext>
              </a:extLst>
            </p:cNvPr>
            <p:cNvGrpSpPr/>
            <p:nvPr/>
          </p:nvGrpSpPr>
          <p:grpSpPr>
            <a:xfrm>
              <a:off x="5045020" y="2799576"/>
              <a:ext cx="5660408" cy="799194"/>
              <a:chOff x="5045020" y="2799576"/>
              <a:chExt cx="5660408" cy="799194"/>
            </a:xfrm>
          </p:grpSpPr>
          <p:sp>
            <p:nvSpPr>
              <p:cNvPr id="32" name="文本框 31">
                <a:extLst>
                  <a:ext uri="{FF2B5EF4-FFF2-40B4-BE49-F238E27FC236}">
                    <a16:creationId xmlns:a16="http://schemas.microsoft.com/office/drawing/2014/main" id="{E443DA88-C668-FEA8-44EE-D309C4F42747}"/>
                  </a:ext>
                </a:extLst>
              </p:cNvPr>
              <p:cNvSpPr txBox="1"/>
              <p:nvPr/>
            </p:nvSpPr>
            <p:spPr>
              <a:xfrm>
                <a:off x="5424739" y="3229438"/>
                <a:ext cx="644552" cy="369332"/>
              </a:xfrm>
              <a:prstGeom prst="rect">
                <a:avLst/>
              </a:prstGeom>
              <a:noFill/>
            </p:spPr>
            <p:txBody>
              <a:bodyPr wrap="square" rtlCol="0">
                <a:spAutoFit/>
              </a:bodyPr>
              <a:lstStyle/>
              <a:p>
                <a:pPr algn="ctr"/>
                <a:r>
                  <a:rPr lang="en-US" altLang="zh-CN" b="1" dirty="0" err="1">
                    <a:latin typeface="+mn-ea"/>
                  </a:rPr>
                  <a:t>bj</a:t>
                </a:r>
                <a:endParaRPr lang="zh-CN" altLang="en-US" b="1" dirty="0">
                  <a:latin typeface="+mn-ea"/>
                </a:endParaRPr>
              </a:p>
            </p:txBody>
          </p:sp>
          <p:sp>
            <p:nvSpPr>
              <p:cNvPr id="33" name="文本框 32">
                <a:extLst>
                  <a:ext uri="{FF2B5EF4-FFF2-40B4-BE49-F238E27FC236}">
                    <a16:creationId xmlns:a16="http://schemas.microsoft.com/office/drawing/2014/main" id="{E5CB6070-B5FD-AFE7-173D-C8396B31CDC9}"/>
                  </a:ext>
                </a:extLst>
              </p:cNvPr>
              <p:cNvSpPr txBox="1"/>
              <p:nvPr/>
            </p:nvSpPr>
            <p:spPr>
              <a:xfrm>
                <a:off x="6133084" y="3229438"/>
                <a:ext cx="644552" cy="369332"/>
              </a:xfrm>
              <a:prstGeom prst="rect">
                <a:avLst/>
              </a:prstGeom>
              <a:noFill/>
            </p:spPr>
            <p:txBody>
              <a:bodyPr wrap="square" rtlCol="0">
                <a:spAutoFit/>
              </a:bodyPr>
              <a:lstStyle/>
              <a:p>
                <a:pPr algn="ctr"/>
                <a:r>
                  <a:rPr lang="en-US" altLang="zh-CN" b="1" dirty="0" err="1">
                    <a:latin typeface="+mn-ea"/>
                  </a:rPr>
                  <a:t>edu</a:t>
                </a:r>
                <a:endParaRPr lang="zh-CN" altLang="en-US" b="1" dirty="0">
                  <a:latin typeface="+mn-ea"/>
                </a:endParaRPr>
              </a:p>
            </p:txBody>
          </p:sp>
          <p:sp>
            <p:nvSpPr>
              <p:cNvPr id="34" name="文本框 33">
                <a:extLst>
                  <a:ext uri="{FF2B5EF4-FFF2-40B4-BE49-F238E27FC236}">
                    <a16:creationId xmlns:a16="http://schemas.microsoft.com/office/drawing/2014/main" id="{78ED2011-2429-47D2-D5F1-2EE3D6460CA1}"/>
                  </a:ext>
                </a:extLst>
              </p:cNvPr>
              <p:cNvSpPr txBox="1"/>
              <p:nvPr/>
            </p:nvSpPr>
            <p:spPr>
              <a:xfrm>
                <a:off x="6841429" y="3229438"/>
                <a:ext cx="644552" cy="369332"/>
              </a:xfrm>
              <a:prstGeom prst="rect">
                <a:avLst/>
              </a:prstGeom>
              <a:noFill/>
            </p:spPr>
            <p:txBody>
              <a:bodyPr wrap="square" rtlCol="0">
                <a:spAutoFit/>
              </a:bodyPr>
              <a:lstStyle/>
              <a:p>
                <a:pPr algn="ctr"/>
                <a:r>
                  <a:rPr lang="en-US" altLang="zh-CN" b="1" dirty="0">
                    <a:latin typeface="+mn-ea"/>
                  </a:rPr>
                  <a:t>gov</a:t>
                </a:r>
                <a:endParaRPr lang="zh-CN" altLang="en-US" b="1" dirty="0">
                  <a:latin typeface="+mn-ea"/>
                </a:endParaRPr>
              </a:p>
            </p:txBody>
          </p:sp>
          <p:sp>
            <p:nvSpPr>
              <p:cNvPr id="35" name="文本框 34">
                <a:extLst>
                  <a:ext uri="{FF2B5EF4-FFF2-40B4-BE49-F238E27FC236}">
                    <a16:creationId xmlns:a16="http://schemas.microsoft.com/office/drawing/2014/main" id="{723527C0-0581-85C6-6B04-2441DAF77998}"/>
                  </a:ext>
                </a:extLst>
              </p:cNvPr>
              <p:cNvSpPr txBox="1"/>
              <p:nvPr/>
            </p:nvSpPr>
            <p:spPr>
              <a:xfrm>
                <a:off x="7534406" y="3229438"/>
                <a:ext cx="687540" cy="369332"/>
              </a:xfrm>
              <a:prstGeom prst="rect">
                <a:avLst/>
              </a:prstGeom>
              <a:noFill/>
            </p:spPr>
            <p:txBody>
              <a:bodyPr wrap="square" rtlCol="0">
                <a:spAutoFit/>
              </a:bodyPr>
              <a:lstStyle/>
              <a:p>
                <a:pPr algn="ctr"/>
                <a:r>
                  <a:rPr lang="en-US" altLang="zh-CN" b="1" dirty="0">
                    <a:latin typeface="+mn-ea"/>
                  </a:rPr>
                  <a:t>com</a:t>
                </a:r>
                <a:endParaRPr lang="zh-CN" altLang="en-US" b="1" dirty="0">
                  <a:latin typeface="+mn-ea"/>
                </a:endParaRPr>
              </a:p>
            </p:txBody>
          </p:sp>
          <p:sp>
            <p:nvSpPr>
              <p:cNvPr id="36" name="文本框 35">
                <a:extLst>
                  <a:ext uri="{FF2B5EF4-FFF2-40B4-BE49-F238E27FC236}">
                    <a16:creationId xmlns:a16="http://schemas.microsoft.com/office/drawing/2014/main" id="{9EF46319-58F2-DDEE-AB29-5BD396F51CF4}"/>
                  </a:ext>
                </a:extLst>
              </p:cNvPr>
              <p:cNvSpPr txBox="1"/>
              <p:nvPr/>
            </p:nvSpPr>
            <p:spPr>
              <a:xfrm>
                <a:off x="8258119" y="3229438"/>
                <a:ext cx="644552" cy="369332"/>
              </a:xfrm>
              <a:prstGeom prst="rect">
                <a:avLst/>
              </a:prstGeom>
              <a:noFill/>
            </p:spPr>
            <p:txBody>
              <a:bodyPr wrap="square" rtlCol="0">
                <a:spAutoFit/>
              </a:bodyPr>
              <a:lstStyle/>
              <a:p>
                <a:pPr algn="ctr"/>
                <a:r>
                  <a:rPr lang="en-US" altLang="zh-CN" b="1" dirty="0">
                    <a:latin typeface="+mn-ea"/>
                  </a:rPr>
                  <a:t>org</a:t>
                </a:r>
                <a:endParaRPr lang="zh-CN" altLang="en-US" b="1" dirty="0">
                  <a:latin typeface="+mn-ea"/>
                </a:endParaRPr>
              </a:p>
            </p:txBody>
          </p:sp>
          <p:sp>
            <p:nvSpPr>
              <p:cNvPr id="37" name="文本框 36">
                <a:extLst>
                  <a:ext uri="{FF2B5EF4-FFF2-40B4-BE49-F238E27FC236}">
                    <a16:creationId xmlns:a16="http://schemas.microsoft.com/office/drawing/2014/main" id="{1197F3A1-6F38-00B2-0135-1E3A6B0CA577}"/>
                  </a:ext>
                </a:extLst>
              </p:cNvPr>
              <p:cNvSpPr txBox="1"/>
              <p:nvPr/>
            </p:nvSpPr>
            <p:spPr>
              <a:xfrm>
                <a:off x="8966464" y="3229438"/>
                <a:ext cx="644552" cy="369332"/>
              </a:xfrm>
              <a:prstGeom prst="rect">
                <a:avLst/>
              </a:prstGeom>
              <a:noFill/>
            </p:spPr>
            <p:txBody>
              <a:bodyPr wrap="square" rtlCol="0">
                <a:spAutoFit/>
              </a:bodyPr>
              <a:lstStyle/>
              <a:p>
                <a:pPr algn="ctr"/>
                <a:r>
                  <a:rPr lang="en-US" altLang="zh-CN" b="1" dirty="0">
                    <a:latin typeface="+mn-ea"/>
                  </a:rPr>
                  <a:t>net</a:t>
                </a:r>
                <a:endParaRPr lang="zh-CN" altLang="en-US" b="1" dirty="0">
                  <a:latin typeface="+mn-ea"/>
                </a:endParaRPr>
              </a:p>
            </p:txBody>
          </p:sp>
          <p:sp>
            <p:nvSpPr>
              <p:cNvPr id="38" name="文本框 37">
                <a:extLst>
                  <a:ext uri="{FF2B5EF4-FFF2-40B4-BE49-F238E27FC236}">
                    <a16:creationId xmlns:a16="http://schemas.microsoft.com/office/drawing/2014/main" id="{0204EFC5-68D7-7DF8-8F03-51F715D9C38E}"/>
                  </a:ext>
                </a:extLst>
              </p:cNvPr>
              <p:cNvSpPr txBox="1"/>
              <p:nvPr/>
            </p:nvSpPr>
            <p:spPr>
              <a:xfrm>
                <a:off x="10060876" y="3229438"/>
                <a:ext cx="644552" cy="369332"/>
              </a:xfrm>
              <a:prstGeom prst="rect">
                <a:avLst/>
              </a:prstGeom>
              <a:noFill/>
            </p:spPr>
            <p:txBody>
              <a:bodyPr wrap="square" rtlCol="0">
                <a:spAutoFit/>
              </a:bodyPr>
              <a:lstStyle/>
              <a:p>
                <a:pPr algn="ctr"/>
                <a:r>
                  <a:rPr lang="en-US" altLang="zh-CN" b="1" dirty="0">
                    <a:latin typeface="+mn-ea"/>
                  </a:rPr>
                  <a:t>ac</a:t>
                </a:r>
                <a:endParaRPr lang="zh-CN" altLang="en-US" b="1" dirty="0">
                  <a:latin typeface="+mn-ea"/>
                </a:endParaRPr>
              </a:p>
            </p:txBody>
          </p:sp>
          <p:sp>
            <p:nvSpPr>
              <p:cNvPr id="39" name="文本框 38">
                <a:extLst>
                  <a:ext uri="{FF2B5EF4-FFF2-40B4-BE49-F238E27FC236}">
                    <a16:creationId xmlns:a16="http://schemas.microsoft.com/office/drawing/2014/main" id="{97343249-E41A-8B79-5D0F-EEF047FBA027}"/>
                  </a:ext>
                </a:extLst>
              </p:cNvPr>
              <p:cNvSpPr txBox="1"/>
              <p:nvPr/>
            </p:nvSpPr>
            <p:spPr>
              <a:xfrm>
                <a:off x="9674809" y="3229438"/>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sp>
            <p:nvSpPr>
              <p:cNvPr id="40" name="文本框 39">
                <a:extLst>
                  <a:ext uri="{FF2B5EF4-FFF2-40B4-BE49-F238E27FC236}">
                    <a16:creationId xmlns:a16="http://schemas.microsoft.com/office/drawing/2014/main" id="{C9332AC3-2823-87F6-52B4-C3CF8B44BFAE}"/>
                  </a:ext>
                </a:extLst>
              </p:cNvPr>
              <p:cNvSpPr txBox="1"/>
              <p:nvPr/>
            </p:nvSpPr>
            <p:spPr>
              <a:xfrm>
                <a:off x="5252062" y="3229438"/>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41" name="连接符: 肘形 40">
                <a:extLst>
                  <a:ext uri="{FF2B5EF4-FFF2-40B4-BE49-F238E27FC236}">
                    <a16:creationId xmlns:a16="http://schemas.microsoft.com/office/drawing/2014/main" id="{260ABBEF-5910-2198-BE4E-3500E5D1F9DD}"/>
                  </a:ext>
                </a:extLst>
              </p:cNvPr>
              <p:cNvCxnSpPr>
                <a:cxnSpLocks/>
                <a:stCxn id="30" idx="0"/>
                <a:endCxn id="38" idx="0"/>
              </p:cNvCxnSpPr>
              <p:nvPr/>
            </p:nvCxnSpPr>
            <p:spPr>
              <a:xfrm rot="5400000" flipH="1" flipV="1">
                <a:off x="7710911" y="557197"/>
                <a:ext cx="12700" cy="5344482"/>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383907AD-F327-BF53-C325-9707FCCF7E43}"/>
                  </a:ext>
                </a:extLst>
              </p:cNvPr>
              <p:cNvCxnSpPr>
                <a:cxnSpLocks/>
              </p:cNvCxnSpPr>
              <p:nvPr/>
            </p:nvCxnSpPr>
            <p:spPr>
              <a:xfrm flipV="1">
                <a:off x="7845486" y="2799576"/>
                <a:ext cx="0" cy="4362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D7B09733-E1A2-77DD-45EC-51EF4EDB40F5}"/>
                  </a:ext>
                </a:extLst>
              </p:cNvPr>
              <p:cNvCxnSpPr>
                <a:cxnSpLocks/>
              </p:cNvCxnSpPr>
              <p:nvPr/>
            </p:nvCxnSpPr>
            <p:spPr>
              <a:xfrm flipV="1">
                <a:off x="5747015" y="3007008"/>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CA1B791E-4DA8-153D-0AE7-AD2B71D7165E}"/>
                  </a:ext>
                </a:extLst>
              </p:cNvPr>
              <p:cNvCxnSpPr>
                <a:cxnSpLocks/>
              </p:cNvCxnSpPr>
              <p:nvPr/>
            </p:nvCxnSpPr>
            <p:spPr>
              <a:xfrm flipV="1">
                <a:off x="6479729" y="2987957"/>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078D14D-7F3A-84E7-1CE1-3A700ABD5F3C}"/>
                  </a:ext>
                </a:extLst>
              </p:cNvPr>
              <p:cNvCxnSpPr>
                <a:cxnSpLocks/>
              </p:cNvCxnSpPr>
              <p:nvPr/>
            </p:nvCxnSpPr>
            <p:spPr>
              <a:xfrm flipV="1">
                <a:off x="7159265" y="3014507"/>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B5907897-CACD-8CFE-FA92-BB5346B57BFF}"/>
                  </a:ext>
                </a:extLst>
              </p:cNvPr>
              <p:cNvCxnSpPr>
                <a:cxnSpLocks/>
              </p:cNvCxnSpPr>
              <p:nvPr/>
            </p:nvCxnSpPr>
            <p:spPr>
              <a:xfrm flipV="1">
                <a:off x="8559589" y="3000657"/>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A58E885-49B6-F171-E861-F3F7B78475B7}"/>
                  </a:ext>
                </a:extLst>
              </p:cNvPr>
              <p:cNvCxnSpPr>
                <a:cxnSpLocks/>
              </p:cNvCxnSpPr>
              <p:nvPr/>
            </p:nvCxnSpPr>
            <p:spPr>
              <a:xfrm flipV="1">
                <a:off x="9288740" y="2998488"/>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6" name="组合 55">
            <a:extLst>
              <a:ext uri="{FF2B5EF4-FFF2-40B4-BE49-F238E27FC236}">
                <a16:creationId xmlns:a16="http://schemas.microsoft.com/office/drawing/2014/main" id="{C44D289E-6749-25AF-833C-B8F4877E4D04}"/>
              </a:ext>
            </a:extLst>
          </p:cNvPr>
          <p:cNvGrpSpPr/>
          <p:nvPr/>
        </p:nvGrpSpPr>
        <p:grpSpPr>
          <a:xfrm>
            <a:off x="4417005" y="3605121"/>
            <a:ext cx="4389024" cy="800343"/>
            <a:chOff x="4417005" y="3605121"/>
            <a:chExt cx="4389024" cy="800343"/>
          </a:xfrm>
        </p:grpSpPr>
        <p:sp>
          <p:nvSpPr>
            <p:cNvPr id="59" name="文本框 58">
              <a:extLst>
                <a:ext uri="{FF2B5EF4-FFF2-40B4-BE49-F238E27FC236}">
                  <a16:creationId xmlns:a16="http://schemas.microsoft.com/office/drawing/2014/main" id="{9CEE5789-36F2-5C3F-91C3-8B1F033A5CEB}"/>
                </a:ext>
              </a:extLst>
            </p:cNvPr>
            <p:cNvSpPr txBox="1"/>
            <p:nvPr/>
          </p:nvSpPr>
          <p:spPr>
            <a:xfrm>
              <a:off x="4417005" y="4036132"/>
              <a:ext cx="1190437" cy="369332"/>
            </a:xfrm>
            <a:prstGeom prst="rect">
              <a:avLst/>
            </a:prstGeom>
            <a:noFill/>
          </p:spPr>
          <p:txBody>
            <a:bodyPr wrap="square" rtlCol="0">
              <a:spAutoFit/>
            </a:bodyPr>
            <a:lstStyle/>
            <a:p>
              <a:pPr algn="ctr"/>
              <a:r>
                <a:rPr lang="en-US" altLang="zh-CN" b="1" dirty="0" err="1">
                  <a:latin typeface="+mn-ea"/>
                </a:rPr>
                <a:t>tsinghua</a:t>
              </a:r>
              <a:endParaRPr lang="zh-CN" altLang="en-US" b="1" dirty="0">
                <a:latin typeface="+mn-ea"/>
              </a:endParaRPr>
            </a:p>
          </p:txBody>
        </p:sp>
        <p:sp>
          <p:nvSpPr>
            <p:cNvPr id="60" name="文本框 59">
              <a:extLst>
                <a:ext uri="{FF2B5EF4-FFF2-40B4-BE49-F238E27FC236}">
                  <a16:creationId xmlns:a16="http://schemas.microsoft.com/office/drawing/2014/main" id="{655CAA3C-F84A-D887-CC58-5EC7629D43C8}"/>
                </a:ext>
              </a:extLst>
            </p:cNvPr>
            <p:cNvSpPr txBox="1"/>
            <p:nvPr/>
          </p:nvSpPr>
          <p:spPr>
            <a:xfrm>
              <a:off x="6038357" y="4036132"/>
              <a:ext cx="850429" cy="369332"/>
            </a:xfrm>
            <a:prstGeom prst="rect">
              <a:avLst/>
            </a:prstGeom>
            <a:noFill/>
          </p:spPr>
          <p:txBody>
            <a:bodyPr wrap="square" rtlCol="0">
              <a:spAutoFit/>
            </a:bodyPr>
            <a:lstStyle/>
            <a:p>
              <a:pPr algn="ctr"/>
              <a:r>
                <a:rPr lang="en-US" altLang="zh-CN" b="1" dirty="0" err="1">
                  <a:latin typeface="+mn-ea"/>
                </a:rPr>
                <a:t>hnust</a:t>
              </a:r>
              <a:endParaRPr lang="zh-CN" altLang="en-US" b="1" dirty="0">
                <a:latin typeface="+mn-ea"/>
              </a:endParaRPr>
            </a:p>
          </p:txBody>
        </p:sp>
        <p:sp>
          <p:nvSpPr>
            <p:cNvPr id="61" name="文本框 60">
              <a:extLst>
                <a:ext uri="{FF2B5EF4-FFF2-40B4-BE49-F238E27FC236}">
                  <a16:creationId xmlns:a16="http://schemas.microsoft.com/office/drawing/2014/main" id="{9FADBFEC-023C-2110-8169-008EB5C217D7}"/>
                </a:ext>
              </a:extLst>
            </p:cNvPr>
            <p:cNvSpPr txBox="1"/>
            <p:nvPr/>
          </p:nvSpPr>
          <p:spPr>
            <a:xfrm>
              <a:off x="7210295" y="4036132"/>
              <a:ext cx="896575" cy="369332"/>
            </a:xfrm>
            <a:prstGeom prst="rect">
              <a:avLst/>
            </a:prstGeom>
            <a:noFill/>
          </p:spPr>
          <p:txBody>
            <a:bodyPr wrap="square" rtlCol="0">
              <a:spAutoFit/>
            </a:bodyPr>
            <a:lstStyle/>
            <a:p>
              <a:pPr algn="ctr"/>
              <a:r>
                <a:rPr lang="en-US" altLang="zh-CN" b="1" dirty="0" err="1">
                  <a:latin typeface="+mn-ea"/>
                </a:rPr>
                <a:t>fudan</a:t>
              </a:r>
              <a:endParaRPr lang="zh-CN" altLang="en-US" b="1" dirty="0">
                <a:latin typeface="+mn-ea"/>
              </a:endParaRPr>
            </a:p>
          </p:txBody>
        </p:sp>
        <p:sp>
          <p:nvSpPr>
            <p:cNvPr id="62" name="文本框 61">
              <a:extLst>
                <a:ext uri="{FF2B5EF4-FFF2-40B4-BE49-F238E27FC236}">
                  <a16:creationId xmlns:a16="http://schemas.microsoft.com/office/drawing/2014/main" id="{6426B56B-2BD3-CEE7-7C1D-6E6915E21F8B}"/>
                </a:ext>
              </a:extLst>
            </p:cNvPr>
            <p:cNvSpPr txBox="1"/>
            <p:nvPr/>
          </p:nvSpPr>
          <p:spPr>
            <a:xfrm>
              <a:off x="8161477" y="4036132"/>
              <a:ext cx="644552" cy="369332"/>
            </a:xfrm>
            <a:prstGeom prst="rect">
              <a:avLst/>
            </a:prstGeom>
            <a:noFill/>
          </p:spPr>
          <p:txBody>
            <a:bodyPr wrap="square" rtlCol="0">
              <a:spAutoFit/>
            </a:bodyPr>
            <a:lstStyle/>
            <a:p>
              <a:pPr algn="ctr"/>
              <a:r>
                <a:rPr lang="en-US" altLang="zh-CN" b="1" dirty="0" err="1">
                  <a:latin typeface="+mn-ea"/>
                </a:rPr>
                <a:t>pku</a:t>
              </a:r>
              <a:endParaRPr lang="zh-CN" altLang="en-US" b="1" dirty="0">
                <a:latin typeface="+mn-ea"/>
              </a:endParaRPr>
            </a:p>
          </p:txBody>
        </p:sp>
        <p:sp>
          <p:nvSpPr>
            <p:cNvPr id="63" name="文本框 62">
              <a:extLst>
                <a:ext uri="{FF2B5EF4-FFF2-40B4-BE49-F238E27FC236}">
                  <a16:creationId xmlns:a16="http://schemas.microsoft.com/office/drawing/2014/main" id="{53F7F410-45E8-EB04-7338-B6CEC4531FAC}"/>
                </a:ext>
              </a:extLst>
            </p:cNvPr>
            <p:cNvSpPr txBox="1"/>
            <p:nvPr/>
          </p:nvSpPr>
          <p:spPr>
            <a:xfrm>
              <a:off x="5606674" y="4036132"/>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64" name="连接符: 肘形 63">
              <a:extLst>
                <a:ext uri="{FF2B5EF4-FFF2-40B4-BE49-F238E27FC236}">
                  <a16:creationId xmlns:a16="http://schemas.microsoft.com/office/drawing/2014/main" id="{B2AF5CCE-1F8A-8F98-694F-EBBDA1BBDB17}"/>
                </a:ext>
              </a:extLst>
            </p:cNvPr>
            <p:cNvCxnSpPr>
              <a:cxnSpLocks/>
              <a:stCxn id="59" idx="0"/>
              <a:endCxn id="62" idx="0"/>
            </p:cNvCxnSpPr>
            <p:nvPr/>
          </p:nvCxnSpPr>
          <p:spPr>
            <a:xfrm rot="5400000" flipH="1" flipV="1">
              <a:off x="6747988" y="2300368"/>
              <a:ext cx="12700" cy="3471529"/>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A15B0D2-C3A8-F95C-5054-0BA655688DFF}"/>
                </a:ext>
              </a:extLst>
            </p:cNvPr>
            <p:cNvCxnSpPr>
              <a:cxnSpLocks/>
            </p:cNvCxnSpPr>
            <p:nvPr/>
          </p:nvCxnSpPr>
          <p:spPr>
            <a:xfrm flipV="1">
              <a:off x="6460555" y="3605121"/>
              <a:ext cx="0" cy="4310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4C5AD7BB-0816-BECE-0D9A-68C051021B68}"/>
                </a:ext>
              </a:extLst>
            </p:cNvPr>
            <p:cNvCxnSpPr>
              <a:cxnSpLocks/>
            </p:cNvCxnSpPr>
            <p:nvPr/>
          </p:nvCxnSpPr>
          <p:spPr>
            <a:xfrm flipV="1">
              <a:off x="7610489" y="3820626"/>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4F57D9FA-F01B-37E1-97D8-B99AFC105CA3}"/>
              </a:ext>
            </a:extLst>
          </p:cNvPr>
          <p:cNvGrpSpPr/>
          <p:nvPr/>
        </p:nvGrpSpPr>
        <p:grpSpPr>
          <a:xfrm>
            <a:off x="4504851" y="4418165"/>
            <a:ext cx="4309887" cy="800343"/>
            <a:chOff x="4504851" y="4418165"/>
            <a:chExt cx="4309887" cy="800343"/>
          </a:xfrm>
        </p:grpSpPr>
        <p:sp>
          <p:nvSpPr>
            <p:cNvPr id="68" name="文本框 67">
              <a:extLst>
                <a:ext uri="{FF2B5EF4-FFF2-40B4-BE49-F238E27FC236}">
                  <a16:creationId xmlns:a16="http://schemas.microsoft.com/office/drawing/2014/main" id="{7954A3C0-B067-B993-D3B9-CF145D051002}"/>
                </a:ext>
              </a:extLst>
            </p:cNvPr>
            <p:cNvSpPr txBox="1"/>
            <p:nvPr/>
          </p:nvSpPr>
          <p:spPr>
            <a:xfrm>
              <a:off x="4504851" y="4849176"/>
              <a:ext cx="1102591" cy="369332"/>
            </a:xfrm>
            <a:prstGeom prst="rect">
              <a:avLst/>
            </a:prstGeom>
            <a:noFill/>
          </p:spPr>
          <p:txBody>
            <a:bodyPr wrap="square" rtlCol="0">
              <a:spAutoFit/>
            </a:bodyPr>
            <a:lstStyle/>
            <a:p>
              <a:pPr algn="ctr"/>
              <a:r>
                <a:rPr lang="en-US" altLang="zh-CN" b="1" dirty="0" err="1">
                  <a:latin typeface="+mn-ea"/>
                </a:rPr>
                <a:t>nic</a:t>
              </a:r>
              <a:endParaRPr lang="zh-CN" altLang="en-US" b="1" dirty="0">
                <a:latin typeface="+mn-ea"/>
              </a:endParaRPr>
            </a:p>
          </p:txBody>
        </p:sp>
        <p:sp>
          <p:nvSpPr>
            <p:cNvPr id="69" name="文本框 68">
              <a:extLst>
                <a:ext uri="{FF2B5EF4-FFF2-40B4-BE49-F238E27FC236}">
                  <a16:creationId xmlns:a16="http://schemas.microsoft.com/office/drawing/2014/main" id="{4A7FA182-4DE3-A82E-0D88-E3FAC74EE8B5}"/>
                </a:ext>
              </a:extLst>
            </p:cNvPr>
            <p:cNvSpPr txBox="1"/>
            <p:nvPr/>
          </p:nvSpPr>
          <p:spPr>
            <a:xfrm>
              <a:off x="6038358" y="4849176"/>
              <a:ext cx="786486" cy="369332"/>
            </a:xfrm>
            <a:prstGeom prst="rect">
              <a:avLst/>
            </a:prstGeom>
            <a:noFill/>
          </p:spPr>
          <p:txBody>
            <a:bodyPr wrap="square" rtlCol="0">
              <a:spAutoFit/>
            </a:bodyPr>
            <a:lstStyle/>
            <a:p>
              <a:pPr algn="ctr"/>
              <a:r>
                <a:rPr lang="en-US" altLang="zh-CN" b="1" dirty="0">
                  <a:latin typeface="+mn-ea"/>
                </a:rPr>
                <a:t>lib</a:t>
              </a:r>
              <a:endParaRPr lang="zh-CN" altLang="en-US" b="1" dirty="0">
                <a:latin typeface="+mn-ea"/>
              </a:endParaRPr>
            </a:p>
          </p:txBody>
        </p:sp>
        <p:sp>
          <p:nvSpPr>
            <p:cNvPr id="70" name="文本框 69">
              <a:extLst>
                <a:ext uri="{FF2B5EF4-FFF2-40B4-BE49-F238E27FC236}">
                  <a16:creationId xmlns:a16="http://schemas.microsoft.com/office/drawing/2014/main" id="{383191F9-CDC0-7043-AA62-60F08FFAA28D}"/>
                </a:ext>
              </a:extLst>
            </p:cNvPr>
            <p:cNvSpPr txBox="1"/>
            <p:nvPr/>
          </p:nvSpPr>
          <p:spPr>
            <a:xfrm>
              <a:off x="7049730" y="4849176"/>
              <a:ext cx="1131549" cy="369332"/>
            </a:xfrm>
            <a:prstGeom prst="rect">
              <a:avLst/>
            </a:prstGeom>
            <a:noFill/>
          </p:spPr>
          <p:txBody>
            <a:bodyPr wrap="square" rtlCol="0">
              <a:spAutoFit/>
            </a:bodyPr>
            <a:lstStyle/>
            <a:p>
              <a:pPr algn="ctr"/>
              <a:r>
                <a:rPr lang="en-US" altLang="zh-CN" b="1" dirty="0" err="1">
                  <a:latin typeface="+mn-ea"/>
                </a:rPr>
                <a:t>mailreg</a:t>
              </a:r>
              <a:endParaRPr lang="zh-CN" altLang="en-US" b="1" dirty="0">
                <a:latin typeface="+mn-ea"/>
              </a:endParaRPr>
            </a:p>
          </p:txBody>
        </p:sp>
        <p:sp>
          <p:nvSpPr>
            <p:cNvPr id="71" name="文本框 70">
              <a:extLst>
                <a:ext uri="{FF2B5EF4-FFF2-40B4-BE49-F238E27FC236}">
                  <a16:creationId xmlns:a16="http://schemas.microsoft.com/office/drawing/2014/main" id="{73CADAEB-0815-5013-AA29-2086822BDA72}"/>
                </a:ext>
              </a:extLst>
            </p:cNvPr>
            <p:cNvSpPr txBox="1"/>
            <p:nvPr/>
          </p:nvSpPr>
          <p:spPr>
            <a:xfrm>
              <a:off x="8170186" y="4849176"/>
              <a:ext cx="644552" cy="369332"/>
            </a:xfrm>
            <a:prstGeom prst="rect">
              <a:avLst/>
            </a:prstGeom>
            <a:noFill/>
          </p:spPr>
          <p:txBody>
            <a:bodyPr wrap="square" rtlCol="0">
              <a:spAutoFit/>
            </a:bodyPr>
            <a:lstStyle/>
            <a:p>
              <a:pPr algn="ctr"/>
              <a:r>
                <a:rPr lang="en-US" altLang="zh-CN" b="1" dirty="0" err="1">
                  <a:latin typeface="+mn-ea"/>
                </a:rPr>
                <a:t>jwc</a:t>
              </a:r>
              <a:endParaRPr lang="zh-CN" altLang="en-US" b="1" dirty="0">
                <a:latin typeface="+mn-ea"/>
              </a:endParaRPr>
            </a:p>
          </p:txBody>
        </p:sp>
        <p:sp>
          <p:nvSpPr>
            <p:cNvPr id="72" name="文本框 71">
              <a:extLst>
                <a:ext uri="{FF2B5EF4-FFF2-40B4-BE49-F238E27FC236}">
                  <a16:creationId xmlns:a16="http://schemas.microsoft.com/office/drawing/2014/main" id="{EC94F125-D11F-140D-71AD-48A47706749B}"/>
                </a:ext>
              </a:extLst>
            </p:cNvPr>
            <p:cNvSpPr txBox="1"/>
            <p:nvPr/>
          </p:nvSpPr>
          <p:spPr>
            <a:xfrm>
              <a:off x="5606674" y="4849176"/>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73" name="连接符: 肘形 72">
              <a:extLst>
                <a:ext uri="{FF2B5EF4-FFF2-40B4-BE49-F238E27FC236}">
                  <a16:creationId xmlns:a16="http://schemas.microsoft.com/office/drawing/2014/main" id="{76658482-5B51-A2DA-BB18-AEB2DA6832BA}"/>
                </a:ext>
              </a:extLst>
            </p:cNvPr>
            <p:cNvCxnSpPr>
              <a:cxnSpLocks/>
              <a:stCxn id="68" idx="0"/>
              <a:endCxn id="71" idx="0"/>
            </p:cNvCxnSpPr>
            <p:nvPr/>
          </p:nvCxnSpPr>
          <p:spPr>
            <a:xfrm rot="5400000" flipH="1" flipV="1">
              <a:off x="6774304" y="3131019"/>
              <a:ext cx="12700" cy="3436315"/>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1409C7E3-95E4-C3CF-2E82-CD6F82FAE470}"/>
                </a:ext>
              </a:extLst>
            </p:cNvPr>
            <p:cNvCxnSpPr>
              <a:cxnSpLocks/>
            </p:cNvCxnSpPr>
            <p:nvPr/>
          </p:nvCxnSpPr>
          <p:spPr>
            <a:xfrm flipV="1">
              <a:off x="6460555" y="4418165"/>
              <a:ext cx="0" cy="4310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B6F7607-77DA-09FC-15B5-31892BE18F79}"/>
                </a:ext>
              </a:extLst>
            </p:cNvPr>
            <p:cNvCxnSpPr>
              <a:cxnSpLocks/>
            </p:cNvCxnSpPr>
            <p:nvPr/>
          </p:nvCxnSpPr>
          <p:spPr>
            <a:xfrm flipV="1">
              <a:off x="7610489" y="4633670"/>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D68FD39-7327-6FC4-0B07-B911B3F5DC2C}"/>
              </a:ext>
            </a:extLst>
          </p:cNvPr>
          <p:cNvGrpSpPr/>
          <p:nvPr/>
        </p:nvGrpSpPr>
        <p:grpSpPr>
          <a:xfrm>
            <a:off x="2278593" y="3625895"/>
            <a:ext cx="725861" cy="779569"/>
            <a:chOff x="2278593" y="3625895"/>
            <a:chExt cx="725861" cy="779569"/>
          </a:xfrm>
        </p:grpSpPr>
        <p:sp>
          <p:nvSpPr>
            <p:cNvPr id="77" name="文本框 76">
              <a:extLst>
                <a:ext uri="{FF2B5EF4-FFF2-40B4-BE49-F238E27FC236}">
                  <a16:creationId xmlns:a16="http://schemas.microsoft.com/office/drawing/2014/main" id="{82CA32E2-AD3B-E920-7DA2-AB56AC4C1E00}"/>
                </a:ext>
              </a:extLst>
            </p:cNvPr>
            <p:cNvSpPr txBox="1"/>
            <p:nvPr/>
          </p:nvSpPr>
          <p:spPr>
            <a:xfrm>
              <a:off x="2278593" y="4036132"/>
              <a:ext cx="725861" cy="369332"/>
            </a:xfrm>
            <a:prstGeom prst="rect">
              <a:avLst/>
            </a:prstGeom>
            <a:noFill/>
          </p:spPr>
          <p:txBody>
            <a:bodyPr wrap="square" rtlCol="0">
              <a:spAutoFit/>
            </a:bodyPr>
            <a:lstStyle/>
            <a:p>
              <a:pPr algn="ctr"/>
              <a:r>
                <a:rPr lang="en-US" altLang="zh-CN" b="1" dirty="0">
                  <a:latin typeface="+mn-ea"/>
                </a:rPr>
                <a:t>mail</a:t>
              </a:r>
              <a:endParaRPr lang="zh-CN" altLang="en-US" b="1" dirty="0">
                <a:latin typeface="+mn-ea"/>
              </a:endParaRPr>
            </a:p>
          </p:txBody>
        </p:sp>
        <p:cxnSp>
          <p:nvCxnSpPr>
            <p:cNvPr id="78" name="直接连接符 77">
              <a:extLst>
                <a:ext uri="{FF2B5EF4-FFF2-40B4-BE49-F238E27FC236}">
                  <a16:creationId xmlns:a16="http://schemas.microsoft.com/office/drawing/2014/main" id="{ACC94DA8-F205-96A3-72CA-5E265D41AB57}"/>
                </a:ext>
              </a:extLst>
            </p:cNvPr>
            <p:cNvCxnSpPr>
              <a:cxnSpLocks/>
            </p:cNvCxnSpPr>
            <p:nvPr/>
          </p:nvCxnSpPr>
          <p:spPr>
            <a:xfrm flipV="1">
              <a:off x="2625921" y="3625895"/>
              <a:ext cx="0" cy="4298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9AF1EC5F-D3A2-9794-9B0F-A65D66905781}"/>
              </a:ext>
            </a:extLst>
          </p:cNvPr>
          <p:cNvGrpSpPr/>
          <p:nvPr/>
        </p:nvGrpSpPr>
        <p:grpSpPr>
          <a:xfrm>
            <a:off x="933106" y="1983750"/>
            <a:ext cx="9772322" cy="815825"/>
            <a:chOff x="933106" y="1983750"/>
            <a:chExt cx="9772322" cy="815825"/>
          </a:xfrm>
        </p:grpSpPr>
        <p:sp>
          <p:nvSpPr>
            <p:cNvPr id="80" name="文本框 79">
              <a:extLst>
                <a:ext uri="{FF2B5EF4-FFF2-40B4-BE49-F238E27FC236}">
                  <a16:creationId xmlns:a16="http://schemas.microsoft.com/office/drawing/2014/main" id="{F1DBEA2C-1921-45D5-3899-DDFBC207DD29}"/>
                </a:ext>
              </a:extLst>
            </p:cNvPr>
            <p:cNvSpPr txBox="1"/>
            <p:nvPr/>
          </p:nvSpPr>
          <p:spPr>
            <a:xfrm>
              <a:off x="2274414" y="2430243"/>
              <a:ext cx="575428" cy="369332"/>
            </a:xfrm>
            <a:prstGeom prst="rect">
              <a:avLst/>
            </a:prstGeom>
            <a:noFill/>
          </p:spPr>
          <p:txBody>
            <a:bodyPr wrap="square" rtlCol="0">
              <a:spAutoFit/>
            </a:bodyPr>
            <a:lstStyle/>
            <a:p>
              <a:pPr algn="ctr"/>
              <a:r>
                <a:rPr lang="en-US" altLang="zh-CN" b="1" dirty="0">
                  <a:latin typeface="+mn-ea"/>
                </a:rPr>
                <a:t>net</a:t>
              </a:r>
              <a:endParaRPr lang="zh-CN" altLang="en-US" b="1" dirty="0">
                <a:latin typeface="+mn-ea"/>
              </a:endParaRPr>
            </a:p>
          </p:txBody>
        </p:sp>
        <p:sp>
          <p:nvSpPr>
            <p:cNvPr id="81" name="文本框 80">
              <a:extLst>
                <a:ext uri="{FF2B5EF4-FFF2-40B4-BE49-F238E27FC236}">
                  <a16:creationId xmlns:a16="http://schemas.microsoft.com/office/drawing/2014/main" id="{9E3A4BED-3DF5-1A53-E7A4-56B774BF0C20}"/>
                </a:ext>
              </a:extLst>
            </p:cNvPr>
            <p:cNvSpPr txBox="1"/>
            <p:nvPr/>
          </p:nvSpPr>
          <p:spPr>
            <a:xfrm>
              <a:off x="3260475" y="2423313"/>
              <a:ext cx="759277" cy="369332"/>
            </a:xfrm>
            <a:prstGeom prst="rect">
              <a:avLst/>
            </a:prstGeom>
            <a:noFill/>
          </p:spPr>
          <p:txBody>
            <a:bodyPr wrap="square" rtlCol="0">
              <a:spAutoFit/>
            </a:bodyPr>
            <a:lstStyle/>
            <a:p>
              <a:pPr algn="ctr"/>
              <a:r>
                <a:rPr lang="en-US" altLang="zh-CN" b="1" dirty="0">
                  <a:latin typeface="+mn-ea"/>
                </a:rPr>
                <a:t>com</a:t>
              </a:r>
              <a:endParaRPr lang="zh-CN" altLang="en-US" b="1" dirty="0">
                <a:latin typeface="+mn-ea"/>
              </a:endParaRPr>
            </a:p>
          </p:txBody>
        </p:sp>
        <p:sp>
          <p:nvSpPr>
            <p:cNvPr id="82" name="文本框 81">
              <a:extLst>
                <a:ext uri="{FF2B5EF4-FFF2-40B4-BE49-F238E27FC236}">
                  <a16:creationId xmlns:a16="http://schemas.microsoft.com/office/drawing/2014/main" id="{9E2ADE3C-E568-30A2-8D75-D14611E4D41D}"/>
                </a:ext>
              </a:extLst>
            </p:cNvPr>
            <p:cNvSpPr txBox="1"/>
            <p:nvPr/>
          </p:nvSpPr>
          <p:spPr>
            <a:xfrm>
              <a:off x="4008049" y="2430243"/>
              <a:ext cx="644552" cy="369332"/>
            </a:xfrm>
            <a:prstGeom prst="rect">
              <a:avLst/>
            </a:prstGeom>
            <a:noFill/>
          </p:spPr>
          <p:txBody>
            <a:bodyPr wrap="square" rtlCol="0">
              <a:spAutoFit/>
            </a:bodyPr>
            <a:lstStyle/>
            <a:p>
              <a:pPr algn="ctr"/>
              <a:r>
                <a:rPr lang="en-US" altLang="zh-CN" b="1" dirty="0">
                  <a:latin typeface="+mn-ea"/>
                </a:rPr>
                <a:t>org</a:t>
              </a:r>
              <a:endParaRPr lang="zh-CN" altLang="en-US" b="1" dirty="0">
                <a:latin typeface="+mn-ea"/>
              </a:endParaRPr>
            </a:p>
          </p:txBody>
        </p:sp>
        <p:sp>
          <p:nvSpPr>
            <p:cNvPr id="83" name="文本框 82">
              <a:extLst>
                <a:ext uri="{FF2B5EF4-FFF2-40B4-BE49-F238E27FC236}">
                  <a16:creationId xmlns:a16="http://schemas.microsoft.com/office/drawing/2014/main" id="{9F905A5D-CFC4-B4FB-2489-C22F33755B9F}"/>
                </a:ext>
              </a:extLst>
            </p:cNvPr>
            <p:cNvSpPr txBox="1"/>
            <p:nvPr/>
          </p:nvSpPr>
          <p:spPr>
            <a:xfrm>
              <a:off x="4716394" y="2430243"/>
              <a:ext cx="644552" cy="369332"/>
            </a:xfrm>
            <a:prstGeom prst="rect">
              <a:avLst/>
            </a:prstGeom>
            <a:noFill/>
          </p:spPr>
          <p:txBody>
            <a:bodyPr wrap="square" rtlCol="0">
              <a:spAutoFit/>
            </a:bodyPr>
            <a:lstStyle/>
            <a:p>
              <a:pPr algn="ctr"/>
              <a:r>
                <a:rPr lang="en-US" altLang="zh-CN" b="1" dirty="0">
                  <a:latin typeface="+mn-ea"/>
                </a:rPr>
                <a:t>int</a:t>
              </a:r>
              <a:endParaRPr lang="zh-CN" altLang="en-US" b="1" dirty="0">
                <a:latin typeface="+mn-ea"/>
              </a:endParaRPr>
            </a:p>
          </p:txBody>
        </p:sp>
        <p:sp>
          <p:nvSpPr>
            <p:cNvPr id="84" name="文本框 83">
              <a:extLst>
                <a:ext uri="{FF2B5EF4-FFF2-40B4-BE49-F238E27FC236}">
                  <a16:creationId xmlns:a16="http://schemas.microsoft.com/office/drawing/2014/main" id="{8FF69DFB-4169-E2F4-32E8-74864FD26C11}"/>
                </a:ext>
              </a:extLst>
            </p:cNvPr>
            <p:cNvSpPr txBox="1"/>
            <p:nvPr/>
          </p:nvSpPr>
          <p:spPr>
            <a:xfrm>
              <a:off x="5424739" y="2430243"/>
              <a:ext cx="644552" cy="369332"/>
            </a:xfrm>
            <a:prstGeom prst="rect">
              <a:avLst/>
            </a:prstGeom>
            <a:noFill/>
          </p:spPr>
          <p:txBody>
            <a:bodyPr wrap="square" rtlCol="0">
              <a:spAutoFit/>
            </a:bodyPr>
            <a:lstStyle/>
            <a:p>
              <a:pPr algn="ctr"/>
              <a:r>
                <a:rPr lang="en-US" altLang="zh-CN" b="1" dirty="0" err="1">
                  <a:latin typeface="+mn-ea"/>
                </a:rPr>
                <a:t>edu</a:t>
              </a:r>
              <a:endParaRPr lang="zh-CN" altLang="en-US" b="1" dirty="0">
                <a:latin typeface="+mn-ea"/>
              </a:endParaRPr>
            </a:p>
          </p:txBody>
        </p:sp>
        <p:sp>
          <p:nvSpPr>
            <p:cNvPr id="85" name="文本框 84">
              <a:extLst>
                <a:ext uri="{FF2B5EF4-FFF2-40B4-BE49-F238E27FC236}">
                  <a16:creationId xmlns:a16="http://schemas.microsoft.com/office/drawing/2014/main" id="{A3399406-44ED-C88C-28B1-F40B5C9FFBD1}"/>
                </a:ext>
              </a:extLst>
            </p:cNvPr>
            <p:cNvSpPr txBox="1"/>
            <p:nvPr/>
          </p:nvSpPr>
          <p:spPr>
            <a:xfrm>
              <a:off x="6133084" y="2430243"/>
              <a:ext cx="644552" cy="369332"/>
            </a:xfrm>
            <a:prstGeom prst="rect">
              <a:avLst/>
            </a:prstGeom>
            <a:noFill/>
          </p:spPr>
          <p:txBody>
            <a:bodyPr wrap="square" rtlCol="0">
              <a:spAutoFit/>
            </a:bodyPr>
            <a:lstStyle/>
            <a:p>
              <a:pPr algn="ctr"/>
              <a:r>
                <a:rPr lang="en-US" altLang="zh-CN" b="1" dirty="0">
                  <a:latin typeface="+mn-ea"/>
                </a:rPr>
                <a:t>gov</a:t>
              </a:r>
              <a:endParaRPr lang="zh-CN" altLang="en-US" b="1" dirty="0">
                <a:latin typeface="+mn-ea"/>
              </a:endParaRPr>
            </a:p>
          </p:txBody>
        </p:sp>
        <p:sp>
          <p:nvSpPr>
            <p:cNvPr id="86" name="文本框 85">
              <a:extLst>
                <a:ext uri="{FF2B5EF4-FFF2-40B4-BE49-F238E27FC236}">
                  <a16:creationId xmlns:a16="http://schemas.microsoft.com/office/drawing/2014/main" id="{A3DD585B-35EA-AEB0-B32C-A6C52678952E}"/>
                </a:ext>
              </a:extLst>
            </p:cNvPr>
            <p:cNvSpPr txBox="1"/>
            <p:nvPr/>
          </p:nvSpPr>
          <p:spPr>
            <a:xfrm>
              <a:off x="6841429" y="2430243"/>
              <a:ext cx="644552" cy="369332"/>
            </a:xfrm>
            <a:prstGeom prst="rect">
              <a:avLst/>
            </a:prstGeom>
            <a:noFill/>
          </p:spPr>
          <p:txBody>
            <a:bodyPr wrap="square" rtlCol="0">
              <a:spAutoFit/>
            </a:bodyPr>
            <a:lstStyle/>
            <a:p>
              <a:pPr algn="ctr"/>
              <a:r>
                <a:rPr lang="en-US" altLang="zh-CN" b="1" dirty="0">
                  <a:latin typeface="+mn-ea"/>
                </a:rPr>
                <a:t>mil</a:t>
              </a:r>
              <a:endParaRPr lang="zh-CN" altLang="en-US" b="1" dirty="0">
                <a:latin typeface="+mn-ea"/>
              </a:endParaRPr>
            </a:p>
          </p:txBody>
        </p:sp>
        <p:sp>
          <p:nvSpPr>
            <p:cNvPr id="87" name="文本框 86">
              <a:extLst>
                <a:ext uri="{FF2B5EF4-FFF2-40B4-BE49-F238E27FC236}">
                  <a16:creationId xmlns:a16="http://schemas.microsoft.com/office/drawing/2014/main" id="{208DADC1-D860-22F4-F4AA-03FFBFAC88AD}"/>
                </a:ext>
              </a:extLst>
            </p:cNvPr>
            <p:cNvSpPr txBox="1"/>
            <p:nvPr/>
          </p:nvSpPr>
          <p:spPr>
            <a:xfrm>
              <a:off x="7549774" y="2430243"/>
              <a:ext cx="644552" cy="369332"/>
            </a:xfrm>
            <a:prstGeom prst="rect">
              <a:avLst/>
            </a:prstGeom>
            <a:noFill/>
          </p:spPr>
          <p:txBody>
            <a:bodyPr wrap="square" rtlCol="0">
              <a:spAutoFit/>
            </a:bodyPr>
            <a:lstStyle/>
            <a:p>
              <a:pPr algn="ctr"/>
              <a:r>
                <a:rPr lang="en-US" altLang="zh-CN" b="1" dirty="0" err="1">
                  <a:latin typeface="+mn-ea"/>
                </a:rPr>
                <a:t>cn</a:t>
              </a:r>
              <a:endParaRPr lang="zh-CN" altLang="en-US" b="1" dirty="0">
                <a:latin typeface="+mn-ea"/>
              </a:endParaRPr>
            </a:p>
          </p:txBody>
        </p:sp>
        <p:sp>
          <p:nvSpPr>
            <p:cNvPr id="88" name="文本框 87">
              <a:extLst>
                <a:ext uri="{FF2B5EF4-FFF2-40B4-BE49-F238E27FC236}">
                  <a16:creationId xmlns:a16="http://schemas.microsoft.com/office/drawing/2014/main" id="{8C6BDD6C-4EE7-7D06-0BD6-33F8EE2F47E2}"/>
                </a:ext>
              </a:extLst>
            </p:cNvPr>
            <p:cNvSpPr txBox="1"/>
            <p:nvPr/>
          </p:nvSpPr>
          <p:spPr>
            <a:xfrm>
              <a:off x="8258119" y="2430243"/>
              <a:ext cx="644552" cy="369332"/>
            </a:xfrm>
            <a:prstGeom prst="rect">
              <a:avLst/>
            </a:prstGeom>
            <a:noFill/>
          </p:spPr>
          <p:txBody>
            <a:bodyPr wrap="square" rtlCol="0">
              <a:spAutoFit/>
            </a:bodyPr>
            <a:lstStyle/>
            <a:p>
              <a:pPr algn="ctr"/>
              <a:r>
                <a:rPr lang="en-US" altLang="zh-CN" b="1" dirty="0" err="1">
                  <a:latin typeface="+mn-ea"/>
                </a:rPr>
                <a:t>jp</a:t>
              </a:r>
              <a:endParaRPr lang="zh-CN" altLang="en-US" b="1" dirty="0">
                <a:latin typeface="+mn-ea"/>
              </a:endParaRPr>
            </a:p>
          </p:txBody>
        </p:sp>
        <p:sp>
          <p:nvSpPr>
            <p:cNvPr id="89" name="文本框 88">
              <a:extLst>
                <a:ext uri="{FF2B5EF4-FFF2-40B4-BE49-F238E27FC236}">
                  <a16:creationId xmlns:a16="http://schemas.microsoft.com/office/drawing/2014/main" id="{3E872F56-F2B3-7BCE-AFC5-6EE7394BE0F8}"/>
                </a:ext>
              </a:extLst>
            </p:cNvPr>
            <p:cNvSpPr txBox="1"/>
            <p:nvPr/>
          </p:nvSpPr>
          <p:spPr>
            <a:xfrm>
              <a:off x="8966464" y="2430243"/>
              <a:ext cx="644552" cy="369332"/>
            </a:xfrm>
            <a:prstGeom prst="rect">
              <a:avLst/>
            </a:prstGeom>
            <a:noFill/>
          </p:spPr>
          <p:txBody>
            <a:bodyPr wrap="square" rtlCol="0">
              <a:spAutoFit/>
            </a:bodyPr>
            <a:lstStyle/>
            <a:p>
              <a:pPr algn="ctr"/>
              <a:r>
                <a:rPr lang="en-US" altLang="zh-CN" b="1" dirty="0" err="1">
                  <a:latin typeface="+mn-ea"/>
                </a:rPr>
                <a:t>uk</a:t>
              </a:r>
              <a:endParaRPr lang="zh-CN" altLang="en-US" b="1" dirty="0">
                <a:latin typeface="+mn-ea"/>
              </a:endParaRPr>
            </a:p>
          </p:txBody>
        </p:sp>
        <p:sp>
          <p:nvSpPr>
            <p:cNvPr id="90" name="文本框 89">
              <a:extLst>
                <a:ext uri="{FF2B5EF4-FFF2-40B4-BE49-F238E27FC236}">
                  <a16:creationId xmlns:a16="http://schemas.microsoft.com/office/drawing/2014/main" id="{59CCFFA8-DD17-F5F7-8FCF-539437080B7F}"/>
                </a:ext>
              </a:extLst>
            </p:cNvPr>
            <p:cNvSpPr txBox="1"/>
            <p:nvPr/>
          </p:nvSpPr>
          <p:spPr>
            <a:xfrm>
              <a:off x="10060876" y="2430243"/>
              <a:ext cx="644552" cy="369332"/>
            </a:xfrm>
            <a:prstGeom prst="rect">
              <a:avLst/>
            </a:prstGeom>
            <a:noFill/>
          </p:spPr>
          <p:txBody>
            <a:bodyPr wrap="square" rtlCol="0">
              <a:spAutoFit/>
            </a:bodyPr>
            <a:lstStyle/>
            <a:p>
              <a:pPr algn="ctr"/>
              <a:r>
                <a:rPr lang="en-US" altLang="zh-CN" b="1" dirty="0">
                  <a:latin typeface="+mn-ea"/>
                </a:rPr>
                <a:t>us</a:t>
              </a:r>
              <a:endParaRPr lang="zh-CN" altLang="en-US" b="1" dirty="0">
                <a:latin typeface="+mn-ea"/>
              </a:endParaRPr>
            </a:p>
          </p:txBody>
        </p:sp>
        <p:sp>
          <p:nvSpPr>
            <p:cNvPr id="91" name="文本框 90">
              <a:extLst>
                <a:ext uri="{FF2B5EF4-FFF2-40B4-BE49-F238E27FC236}">
                  <a16:creationId xmlns:a16="http://schemas.microsoft.com/office/drawing/2014/main" id="{2671CE7A-8308-5CA3-3567-68419724CB33}"/>
                </a:ext>
              </a:extLst>
            </p:cNvPr>
            <p:cNvSpPr txBox="1"/>
            <p:nvPr/>
          </p:nvSpPr>
          <p:spPr>
            <a:xfrm>
              <a:off x="2913635" y="2430243"/>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sp>
          <p:nvSpPr>
            <p:cNvPr id="92" name="文本框 91">
              <a:extLst>
                <a:ext uri="{FF2B5EF4-FFF2-40B4-BE49-F238E27FC236}">
                  <a16:creationId xmlns:a16="http://schemas.microsoft.com/office/drawing/2014/main" id="{F7864C43-0739-AEF9-B31D-4426A58AB848}"/>
                </a:ext>
              </a:extLst>
            </p:cNvPr>
            <p:cNvSpPr txBox="1"/>
            <p:nvPr/>
          </p:nvSpPr>
          <p:spPr>
            <a:xfrm>
              <a:off x="9674809" y="2430243"/>
              <a:ext cx="322276" cy="369332"/>
            </a:xfrm>
            <a:prstGeom prst="rect">
              <a:avLst/>
            </a:prstGeom>
            <a:noFill/>
          </p:spPr>
          <p:txBody>
            <a:bodyPr wrap="square" rtlCol="0">
              <a:spAutoFit/>
            </a:bodyPr>
            <a:lstStyle/>
            <a:p>
              <a:pPr algn="ctr"/>
              <a:r>
                <a:rPr lang="en-US" altLang="zh-CN" b="1" dirty="0">
                  <a:latin typeface="+mn-ea"/>
                </a:rPr>
                <a:t>…</a:t>
              </a:r>
              <a:endParaRPr lang="zh-CN" altLang="en-US" b="1" dirty="0">
                <a:latin typeface="+mn-ea"/>
              </a:endParaRPr>
            </a:p>
          </p:txBody>
        </p:sp>
        <p:cxnSp>
          <p:nvCxnSpPr>
            <p:cNvPr id="93" name="连接符: 肘形 92">
              <a:extLst>
                <a:ext uri="{FF2B5EF4-FFF2-40B4-BE49-F238E27FC236}">
                  <a16:creationId xmlns:a16="http://schemas.microsoft.com/office/drawing/2014/main" id="{99018817-935E-8AD6-0EA5-3E7DBA2E84F7}"/>
                </a:ext>
              </a:extLst>
            </p:cNvPr>
            <p:cNvCxnSpPr>
              <a:cxnSpLocks/>
              <a:stCxn id="80" idx="0"/>
              <a:endCxn id="90" idx="0"/>
            </p:cNvCxnSpPr>
            <p:nvPr/>
          </p:nvCxnSpPr>
          <p:spPr>
            <a:xfrm rot="5400000" flipH="1" flipV="1">
              <a:off x="6472640" y="-1480269"/>
              <a:ext cx="12700" cy="7821024"/>
            </a:xfrm>
            <a:prstGeom prst="bentConnector3">
              <a:avLst>
                <a:gd name="adj1" fmla="val 180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6AA1448A-5C0C-C89C-6ABC-5556CF51E182}"/>
                </a:ext>
              </a:extLst>
            </p:cNvPr>
            <p:cNvCxnSpPr>
              <a:cxnSpLocks/>
            </p:cNvCxnSpPr>
            <p:nvPr/>
          </p:nvCxnSpPr>
          <p:spPr>
            <a:xfrm flipV="1">
              <a:off x="3601814"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A8D83A9B-5650-F744-42C2-A9F9F1257EBB}"/>
                </a:ext>
              </a:extLst>
            </p:cNvPr>
            <p:cNvCxnSpPr>
              <a:cxnSpLocks/>
            </p:cNvCxnSpPr>
            <p:nvPr/>
          </p:nvCxnSpPr>
          <p:spPr>
            <a:xfrm flipV="1">
              <a:off x="4328979"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08044AD7-3602-0B6B-CB28-94B119AD0BCB}"/>
                </a:ext>
              </a:extLst>
            </p:cNvPr>
            <p:cNvCxnSpPr>
              <a:cxnSpLocks/>
            </p:cNvCxnSpPr>
            <p:nvPr/>
          </p:nvCxnSpPr>
          <p:spPr>
            <a:xfrm flipV="1">
              <a:off x="5016957"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A56D561B-A545-1E33-04B1-DD481F47588E}"/>
                </a:ext>
              </a:extLst>
            </p:cNvPr>
            <p:cNvCxnSpPr>
              <a:cxnSpLocks/>
            </p:cNvCxnSpPr>
            <p:nvPr/>
          </p:nvCxnSpPr>
          <p:spPr>
            <a:xfrm flipV="1">
              <a:off x="5739768"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436BE875-2358-8573-64FE-4CE3AF25F486}"/>
                </a:ext>
              </a:extLst>
            </p:cNvPr>
            <p:cNvCxnSpPr>
              <a:cxnSpLocks/>
            </p:cNvCxnSpPr>
            <p:nvPr/>
          </p:nvCxnSpPr>
          <p:spPr>
            <a:xfrm flipV="1">
              <a:off x="6445162"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7BD23E67-43A5-70EC-2991-8C3A6D3927F2}"/>
                </a:ext>
              </a:extLst>
            </p:cNvPr>
            <p:cNvCxnSpPr>
              <a:cxnSpLocks/>
            </p:cNvCxnSpPr>
            <p:nvPr/>
          </p:nvCxnSpPr>
          <p:spPr>
            <a:xfrm flipV="1">
              <a:off x="7159265"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AC79048E-C73C-C541-B54C-7176EE1AC3A0}"/>
                </a:ext>
              </a:extLst>
            </p:cNvPr>
            <p:cNvCxnSpPr>
              <a:cxnSpLocks/>
            </p:cNvCxnSpPr>
            <p:nvPr/>
          </p:nvCxnSpPr>
          <p:spPr>
            <a:xfrm flipV="1">
              <a:off x="7855951"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369829F-C10D-5541-7CBD-FB8BB8F82455}"/>
                </a:ext>
              </a:extLst>
            </p:cNvPr>
            <p:cNvCxnSpPr>
              <a:cxnSpLocks/>
            </p:cNvCxnSpPr>
            <p:nvPr/>
          </p:nvCxnSpPr>
          <p:spPr>
            <a:xfrm flipV="1">
              <a:off x="8561346"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9BB4A116-43C3-57DF-F97F-D9E4A7047360}"/>
                </a:ext>
              </a:extLst>
            </p:cNvPr>
            <p:cNvCxnSpPr>
              <a:cxnSpLocks/>
            </p:cNvCxnSpPr>
            <p:nvPr/>
          </p:nvCxnSpPr>
          <p:spPr>
            <a:xfrm flipV="1">
              <a:off x="9266742" y="2218881"/>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269CF716-C2C8-0C43-5D9C-26756658CB6E}"/>
                </a:ext>
              </a:extLst>
            </p:cNvPr>
            <p:cNvCxnSpPr>
              <a:cxnSpLocks/>
            </p:cNvCxnSpPr>
            <p:nvPr/>
          </p:nvCxnSpPr>
          <p:spPr>
            <a:xfrm flipV="1">
              <a:off x="6086709" y="1983750"/>
              <a:ext cx="0" cy="23513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27502B25-9262-6F33-C362-1047D141B73D}"/>
                </a:ext>
              </a:extLst>
            </p:cNvPr>
            <p:cNvSpPr txBox="1"/>
            <p:nvPr/>
          </p:nvSpPr>
          <p:spPr>
            <a:xfrm>
              <a:off x="933106" y="2430243"/>
              <a:ext cx="1222766" cy="369332"/>
            </a:xfrm>
            <a:prstGeom prst="rect">
              <a:avLst/>
            </a:prstGeom>
            <a:noFill/>
          </p:spPr>
          <p:txBody>
            <a:bodyPr wrap="square" rtlCol="0">
              <a:spAutoFit/>
            </a:bodyPr>
            <a:lstStyle/>
            <a:p>
              <a:r>
                <a:rPr lang="zh-CN" altLang="en-US" b="1" dirty="0">
                  <a:latin typeface="+mn-ea"/>
                </a:rPr>
                <a:t>顶级域名</a:t>
              </a:r>
            </a:p>
          </p:txBody>
        </p:sp>
      </p:grpSp>
      <p:sp>
        <p:nvSpPr>
          <p:cNvPr id="105" name="文本框 104">
            <a:extLst>
              <a:ext uri="{FF2B5EF4-FFF2-40B4-BE49-F238E27FC236}">
                <a16:creationId xmlns:a16="http://schemas.microsoft.com/office/drawing/2014/main" id="{D9920138-60A8-63D7-540A-346B23BD924D}"/>
              </a:ext>
            </a:extLst>
          </p:cNvPr>
          <p:cNvSpPr txBox="1"/>
          <p:nvPr/>
        </p:nvSpPr>
        <p:spPr>
          <a:xfrm>
            <a:off x="933106" y="3235788"/>
            <a:ext cx="1222766" cy="369332"/>
          </a:xfrm>
          <a:prstGeom prst="rect">
            <a:avLst/>
          </a:prstGeom>
          <a:noFill/>
        </p:spPr>
        <p:txBody>
          <a:bodyPr wrap="square" rtlCol="0">
            <a:spAutoFit/>
          </a:bodyPr>
          <a:lstStyle/>
          <a:p>
            <a:r>
              <a:rPr lang="zh-CN" altLang="en-US" b="1" dirty="0">
                <a:latin typeface="+mn-ea"/>
              </a:rPr>
              <a:t>二级域名</a:t>
            </a:r>
          </a:p>
        </p:txBody>
      </p:sp>
      <p:sp>
        <p:nvSpPr>
          <p:cNvPr id="106" name="文本框 105">
            <a:extLst>
              <a:ext uri="{FF2B5EF4-FFF2-40B4-BE49-F238E27FC236}">
                <a16:creationId xmlns:a16="http://schemas.microsoft.com/office/drawing/2014/main" id="{0D921344-8E84-9E89-5DE1-6C83739A5D05}"/>
              </a:ext>
            </a:extLst>
          </p:cNvPr>
          <p:cNvSpPr txBox="1"/>
          <p:nvPr/>
        </p:nvSpPr>
        <p:spPr>
          <a:xfrm>
            <a:off x="933106" y="4029782"/>
            <a:ext cx="1222766" cy="369332"/>
          </a:xfrm>
          <a:prstGeom prst="rect">
            <a:avLst/>
          </a:prstGeom>
          <a:noFill/>
        </p:spPr>
        <p:txBody>
          <a:bodyPr wrap="square" rtlCol="0">
            <a:spAutoFit/>
          </a:bodyPr>
          <a:lstStyle/>
          <a:p>
            <a:r>
              <a:rPr lang="zh-CN" altLang="en-US" b="1" dirty="0">
                <a:latin typeface="+mn-ea"/>
              </a:rPr>
              <a:t>三级域名</a:t>
            </a:r>
          </a:p>
        </p:txBody>
      </p:sp>
      <p:sp>
        <p:nvSpPr>
          <p:cNvPr id="107" name="文本框 106">
            <a:extLst>
              <a:ext uri="{FF2B5EF4-FFF2-40B4-BE49-F238E27FC236}">
                <a16:creationId xmlns:a16="http://schemas.microsoft.com/office/drawing/2014/main" id="{092C979F-1853-D7A0-B328-3F3985715AC8}"/>
              </a:ext>
            </a:extLst>
          </p:cNvPr>
          <p:cNvSpPr txBox="1"/>
          <p:nvPr/>
        </p:nvSpPr>
        <p:spPr>
          <a:xfrm>
            <a:off x="933106" y="4751235"/>
            <a:ext cx="1222766" cy="369332"/>
          </a:xfrm>
          <a:prstGeom prst="rect">
            <a:avLst/>
          </a:prstGeom>
          <a:noFill/>
        </p:spPr>
        <p:txBody>
          <a:bodyPr wrap="square" rtlCol="0">
            <a:spAutoFit/>
          </a:bodyPr>
          <a:lstStyle/>
          <a:p>
            <a:r>
              <a:rPr lang="zh-CN" altLang="en-US" b="1" dirty="0">
                <a:latin typeface="+mn-ea"/>
              </a:rPr>
              <a:t>四级域名</a:t>
            </a:r>
          </a:p>
        </p:txBody>
      </p:sp>
      <p:sp>
        <p:nvSpPr>
          <p:cNvPr id="108" name="矩形 107">
            <a:extLst>
              <a:ext uri="{FF2B5EF4-FFF2-40B4-BE49-F238E27FC236}">
                <a16:creationId xmlns:a16="http://schemas.microsoft.com/office/drawing/2014/main" id="{6D256BFC-C184-1185-6BAE-BDC104870F31}"/>
              </a:ext>
            </a:extLst>
          </p:cNvPr>
          <p:cNvSpPr/>
          <p:nvPr/>
        </p:nvSpPr>
        <p:spPr>
          <a:xfrm>
            <a:off x="624968" y="5342423"/>
            <a:ext cx="10942064" cy="10964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b="1" dirty="0"/>
              <a:t>        这种按等级管理的命名方法便于维护名字的唯一性，并且也容易设计出一种高效的域名查询机制。需要注意的是，域名只是个逻辑概念，并不代表计算机所在的物理地点。</a:t>
            </a:r>
          </a:p>
        </p:txBody>
      </p:sp>
      <p:sp>
        <p:nvSpPr>
          <p:cNvPr id="109" name="文本框 108">
            <a:extLst>
              <a:ext uri="{FF2B5EF4-FFF2-40B4-BE49-F238E27FC236}">
                <a16:creationId xmlns:a16="http://schemas.microsoft.com/office/drawing/2014/main" id="{B2BBD0A4-21F9-E0CA-F1C6-50B465811909}"/>
              </a:ext>
            </a:extLst>
          </p:cNvPr>
          <p:cNvSpPr txBox="1"/>
          <p:nvPr/>
        </p:nvSpPr>
        <p:spPr>
          <a:xfrm>
            <a:off x="5684816" y="1543554"/>
            <a:ext cx="803786" cy="461665"/>
          </a:xfrm>
          <a:prstGeom prst="rect">
            <a:avLst/>
          </a:prstGeom>
          <a:noFill/>
        </p:spPr>
        <p:txBody>
          <a:bodyPr wrap="square" rtlCol="0">
            <a:spAutoFit/>
          </a:bodyPr>
          <a:lstStyle/>
          <a:p>
            <a:pPr algn="ctr"/>
            <a:r>
              <a:rPr lang="zh-CN" altLang="en-US" sz="2400" b="1" dirty="0">
                <a:latin typeface="+mn-ea"/>
              </a:rPr>
              <a:t>树根</a:t>
            </a:r>
          </a:p>
        </p:txBody>
      </p:sp>
    </p:spTree>
    <p:custDataLst>
      <p:tags r:id="rId1"/>
    </p:custDataLst>
    <p:extLst>
      <p:ext uri="{BB962C8B-B14F-4D97-AF65-F5344CB8AC3E}">
        <p14:creationId xmlns:p14="http://schemas.microsoft.com/office/powerpoint/2010/main" val="4204418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p:tgtEl>
                                          <p:spTgt spid="20"/>
                                        </p:tgtEl>
                                        <p:attrNameLst>
                                          <p:attrName>ppt_y</p:attrName>
                                        </p:attrNameLst>
                                      </p:cBhvr>
                                      <p:tavLst>
                                        <p:tav tm="0">
                                          <p:val>
                                            <p:strVal val="#ppt_y-#ppt_h*1.125000"/>
                                          </p:val>
                                        </p:tav>
                                        <p:tav tm="100000">
                                          <p:val>
                                            <p:strVal val="#ppt_y"/>
                                          </p:val>
                                        </p:tav>
                                      </p:tavLst>
                                    </p:anim>
                                    <p:animEffect transition="in" filter="wipe(down)">
                                      <p:cBhvr>
                                        <p:cTn id="8" dur="500"/>
                                        <p:tgtEl>
                                          <p:spTgt spid="20"/>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09"/>
                                        </p:tgtEl>
                                        <p:attrNameLst>
                                          <p:attrName>style.visibility</p:attrName>
                                        </p:attrNameLst>
                                      </p:cBhvr>
                                      <p:to>
                                        <p:strVal val="visible"/>
                                      </p:to>
                                    </p:set>
                                    <p:anim calcmode="lin" valueType="num">
                                      <p:cBhvr>
                                        <p:cTn id="13" dur="500" fill="hold"/>
                                        <p:tgtEl>
                                          <p:spTgt spid="109"/>
                                        </p:tgtEl>
                                        <p:attrNameLst>
                                          <p:attrName>ppt_w</p:attrName>
                                        </p:attrNameLst>
                                      </p:cBhvr>
                                      <p:tavLst>
                                        <p:tav tm="0">
                                          <p:val>
                                            <p:fltVal val="0"/>
                                          </p:val>
                                        </p:tav>
                                        <p:tav tm="100000">
                                          <p:val>
                                            <p:strVal val="#ppt_w"/>
                                          </p:val>
                                        </p:tav>
                                      </p:tavLst>
                                    </p:anim>
                                    <p:anim calcmode="lin" valueType="num">
                                      <p:cBhvr>
                                        <p:cTn id="14" dur="500" fill="hold"/>
                                        <p:tgtEl>
                                          <p:spTgt spid="109"/>
                                        </p:tgtEl>
                                        <p:attrNameLst>
                                          <p:attrName>ppt_h</p:attrName>
                                        </p:attrNameLst>
                                      </p:cBhvr>
                                      <p:tavLst>
                                        <p:tav tm="0">
                                          <p:val>
                                            <p:fltVal val="0"/>
                                          </p:val>
                                        </p:tav>
                                        <p:tav tm="100000">
                                          <p:val>
                                            <p:strVal val="#ppt_h"/>
                                          </p:val>
                                        </p:tav>
                                      </p:tavLst>
                                    </p:anim>
                                    <p:anim calcmode="lin" valueType="num">
                                      <p:cBhvr>
                                        <p:cTn id="15" dur="500" fill="hold"/>
                                        <p:tgtEl>
                                          <p:spTgt spid="109"/>
                                        </p:tgtEl>
                                        <p:attrNameLst>
                                          <p:attrName>style.rotation</p:attrName>
                                        </p:attrNameLst>
                                      </p:cBhvr>
                                      <p:tavLst>
                                        <p:tav tm="0">
                                          <p:val>
                                            <p:fltVal val="360"/>
                                          </p:val>
                                        </p:tav>
                                        <p:tav tm="100000">
                                          <p:val>
                                            <p:fltVal val="0"/>
                                          </p:val>
                                        </p:tav>
                                      </p:tavLst>
                                    </p:anim>
                                    <p:animEffect transition="in" filter="fade">
                                      <p:cBhvr>
                                        <p:cTn id="16" dur="500"/>
                                        <p:tgtEl>
                                          <p:spTgt spid="10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9"/>
                                        </p:tgtEl>
                                        <p:attrNameLst>
                                          <p:attrName>style.visibility</p:attrName>
                                        </p:attrNameLst>
                                      </p:cBhvr>
                                      <p:to>
                                        <p:strVal val="visible"/>
                                      </p:to>
                                    </p:set>
                                    <p:animEffect transition="in" filter="wipe(up)">
                                      <p:cBhvr>
                                        <p:cTn id="21" dur="500"/>
                                        <p:tgtEl>
                                          <p:spTgt spid="79"/>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05"/>
                                        </p:tgtEl>
                                        <p:attrNameLst>
                                          <p:attrName>style.visibility</p:attrName>
                                        </p:attrNameLst>
                                      </p:cBhvr>
                                      <p:to>
                                        <p:strVal val="visible"/>
                                      </p:to>
                                    </p:set>
                                    <p:anim calcmode="lin" valueType="num">
                                      <p:cBhvr>
                                        <p:cTn id="26" dur="500" fill="hold"/>
                                        <p:tgtEl>
                                          <p:spTgt spid="105"/>
                                        </p:tgtEl>
                                        <p:attrNameLst>
                                          <p:attrName>ppt_w</p:attrName>
                                        </p:attrNameLst>
                                      </p:cBhvr>
                                      <p:tavLst>
                                        <p:tav tm="0">
                                          <p:val>
                                            <p:fltVal val="0"/>
                                          </p:val>
                                        </p:tav>
                                        <p:tav tm="100000">
                                          <p:val>
                                            <p:strVal val="#ppt_w"/>
                                          </p:val>
                                        </p:tav>
                                      </p:tavLst>
                                    </p:anim>
                                    <p:anim calcmode="lin" valueType="num">
                                      <p:cBhvr>
                                        <p:cTn id="27" dur="500" fill="hold"/>
                                        <p:tgtEl>
                                          <p:spTgt spid="105"/>
                                        </p:tgtEl>
                                        <p:attrNameLst>
                                          <p:attrName>ppt_h</p:attrName>
                                        </p:attrNameLst>
                                      </p:cBhvr>
                                      <p:tavLst>
                                        <p:tav tm="0">
                                          <p:val>
                                            <p:fltVal val="0"/>
                                          </p:val>
                                        </p:tav>
                                        <p:tav tm="100000">
                                          <p:val>
                                            <p:strVal val="#ppt_h"/>
                                          </p:val>
                                        </p:tav>
                                      </p:tavLst>
                                    </p:anim>
                                    <p:animEffect transition="in" filter="fade">
                                      <p:cBhvr>
                                        <p:cTn id="28" dur="500"/>
                                        <p:tgtEl>
                                          <p:spTgt spid="10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up)">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up)">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106"/>
                                        </p:tgtEl>
                                        <p:attrNameLst>
                                          <p:attrName>style.visibility</p:attrName>
                                        </p:attrNameLst>
                                      </p:cBhvr>
                                      <p:to>
                                        <p:strVal val="visible"/>
                                      </p:to>
                                    </p:set>
                                    <p:anim calcmode="lin" valueType="num">
                                      <p:cBhvr>
                                        <p:cTn id="43" dur="500" fill="hold"/>
                                        <p:tgtEl>
                                          <p:spTgt spid="106"/>
                                        </p:tgtEl>
                                        <p:attrNameLst>
                                          <p:attrName>ppt_w</p:attrName>
                                        </p:attrNameLst>
                                      </p:cBhvr>
                                      <p:tavLst>
                                        <p:tav tm="0">
                                          <p:val>
                                            <p:fltVal val="0"/>
                                          </p:val>
                                        </p:tav>
                                        <p:tav tm="100000">
                                          <p:val>
                                            <p:strVal val="#ppt_w"/>
                                          </p:val>
                                        </p:tav>
                                      </p:tavLst>
                                    </p:anim>
                                    <p:anim calcmode="lin" valueType="num">
                                      <p:cBhvr>
                                        <p:cTn id="44" dur="500" fill="hold"/>
                                        <p:tgtEl>
                                          <p:spTgt spid="106"/>
                                        </p:tgtEl>
                                        <p:attrNameLst>
                                          <p:attrName>ppt_h</p:attrName>
                                        </p:attrNameLst>
                                      </p:cBhvr>
                                      <p:tavLst>
                                        <p:tav tm="0">
                                          <p:val>
                                            <p:fltVal val="0"/>
                                          </p:val>
                                        </p:tav>
                                        <p:tav tm="100000">
                                          <p:val>
                                            <p:strVal val="#ppt_h"/>
                                          </p:val>
                                        </p:tav>
                                      </p:tavLst>
                                    </p:anim>
                                    <p:animEffect transition="in" filter="fade">
                                      <p:cBhvr>
                                        <p:cTn id="45" dur="500"/>
                                        <p:tgtEl>
                                          <p:spTgt spid="10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wipe(up)">
                                      <p:cBhvr>
                                        <p:cTn id="50" dur="500"/>
                                        <p:tgtEl>
                                          <p:spTgt spid="7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56"/>
                                        </p:tgtEl>
                                        <p:attrNameLst>
                                          <p:attrName>style.visibility</p:attrName>
                                        </p:attrNameLst>
                                      </p:cBhvr>
                                      <p:to>
                                        <p:strVal val="visible"/>
                                      </p:to>
                                    </p:set>
                                    <p:animEffect transition="in" filter="wipe(up)">
                                      <p:cBhvr>
                                        <p:cTn id="55" dur="500"/>
                                        <p:tgtEl>
                                          <p:spTgt spid="56"/>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07"/>
                                        </p:tgtEl>
                                        <p:attrNameLst>
                                          <p:attrName>style.visibility</p:attrName>
                                        </p:attrNameLst>
                                      </p:cBhvr>
                                      <p:to>
                                        <p:strVal val="visible"/>
                                      </p:to>
                                    </p:set>
                                    <p:anim calcmode="lin" valueType="num">
                                      <p:cBhvr>
                                        <p:cTn id="60" dur="500" fill="hold"/>
                                        <p:tgtEl>
                                          <p:spTgt spid="107"/>
                                        </p:tgtEl>
                                        <p:attrNameLst>
                                          <p:attrName>ppt_w</p:attrName>
                                        </p:attrNameLst>
                                      </p:cBhvr>
                                      <p:tavLst>
                                        <p:tav tm="0">
                                          <p:val>
                                            <p:fltVal val="0"/>
                                          </p:val>
                                        </p:tav>
                                        <p:tav tm="100000">
                                          <p:val>
                                            <p:strVal val="#ppt_w"/>
                                          </p:val>
                                        </p:tav>
                                      </p:tavLst>
                                    </p:anim>
                                    <p:anim calcmode="lin" valueType="num">
                                      <p:cBhvr>
                                        <p:cTn id="61" dur="500" fill="hold"/>
                                        <p:tgtEl>
                                          <p:spTgt spid="107"/>
                                        </p:tgtEl>
                                        <p:attrNameLst>
                                          <p:attrName>ppt_h</p:attrName>
                                        </p:attrNameLst>
                                      </p:cBhvr>
                                      <p:tavLst>
                                        <p:tav tm="0">
                                          <p:val>
                                            <p:fltVal val="0"/>
                                          </p:val>
                                        </p:tav>
                                        <p:tav tm="100000">
                                          <p:val>
                                            <p:strVal val="#ppt_h"/>
                                          </p:val>
                                        </p:tav>
                                      </p:tavLst>
                                    </p:anim>
                                    <p:animEffect transition="in" filter="fade">
                                      <p:cBhvr>
                                        <p:cTn id="62" dur="500"/>
                                        <p:tgtEl>
                                          <p:spTgt spid="10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67"/>
                                        </p:tgtEl>
                                        <p:attrNameLst>
                                          <p:attrName>style.visibility</p:attrName>
                                        </p:attrNameLst>
                                      </p:cBhvr>
                                      <p:to>
                                        <p:strVal val="visible"/>
                                      </p:to>
                                    </p:set>
                                    <p:animEffect transition="in" filter="wipe(up)">
                                      <p:cBhvr>
                                        <p:cTn id="67" dur="500"/>
                                        <p:tgtEl>
                                          <p:spTgt spid="67"/>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1" fill="hold" grpId="0" nodeType="clickEffect">
                                  <p:stCondLst>
                                    <p:cond delay="0"/>
                                  </p:stCondLst>
                                  <p:childTnLst>
                                    <p:set>
                                      <p:cBhvr>
                                        <p:cTn id="71" dur="1" fill="hold">
                                          <p:stCondLst>
                                            <p:cond delay="0"/>
                                          </p:stCondLst>
                                        </p:cTn>
                                        <p:tgtEl>
                                          <p:spTgt spid="108"/>
                                        </p:tgtEl>
                                        <p:attrNameLst>
                                          <p:attrName>style.visibility</p:attrName>
                                        </p:attrNameLst>
                                      </p:cBhvr>
                                      <p:to>
                                        <p:strVal val="visible"/>
                                      </p:to>
                                    </p:set>
                                    <p:anim calcmode="lin" valueType="num">
                                      <p:cBhvr additive="base">
                                        <p:cTn id="72" dur="500"/>
                                        <p:tgtEl>
                                          <p:spTgt spid="108"/>
                                        </p:tgtEl>
                                        <p:attrNameLst>
                                          <p:attrName>ppt_y</p:attrName>
                                        </p:attrNameLst>
                                      </p:cBhvr>
                                      <p:tavLst>
                                        <p:tav tm="0">
                                          <p:val>
                                            <p:strVal val="#ppt_y-#ppt_h*1.125000"/>
                                          </p:val>
                                        </p:tav>
                                        <p:tav tm="100000">
                                          <p:val>
                                            <p:strVal val="#ppt_y"/>
                                          </p:val>
                                        </p:tav>
                                      </p:tavLst>
                                    </p:anim>
                                    <p:animEffect transition="in" filter="wipe(down)">
                                      <p:cBhvr>
                                        <p:cTn id="73"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05" grpId="0"/>
      <p:bldP spid="106" grpId="0"/>
      <p:bldP spid="107" grpId="0"/>
      <p:bldP spid="108" grpId="0" animBg="1"/>
      <p:bldP spid="10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根域名服务器是最高层次的域名服务器。</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9000"/>
            <a:ext cx="10197503" cy="417270"/>
          </a:xfrm>
          <a:prstGeom prst="rect">
            <a:avLst/>
          </a:prstGeom>
          <a:noFill/>
        </p:spPr>
        <p:txBody>
          <a:bodyPr wrap="square" lIns="91440" tIns="45720" rIns="91440" bIns="45720" anchor="ctr">
            <a:noAutofit/>
          </a:bodyPr>
          <a:lstStyle/>
          <a:p>
            <a:r>
              <a:rPr lang="zh-CN" altLang="en-US" b="1" dirty="0"/>
              <a:t>每个根域名服务器都知道所有的顶级域名服务器的域名及其</a:t>
            </a:r>
            <a:r>
              <a:rPr lang="en-US" altLang="zh-CN" b="1" dirty="0"/>
              <a:t>IP</a:t>
            </a:r>
            <a:r>
              <a:rPr lang="zh-CN" altLang="en-US" b="1" dirty="0"/>
              <a:t>地址。</a:t>
            </a:r>
            <a:endParaRPr lang="en-US" altLang="zh-CN" b="1" dirty="0"/>
          </a:p>
        </p:txBody>
      </p:sp>
      <p:sp>
        <p:nvSpPr>
          <p:cNvPr id="9" name="矩形 8">
            <a:extLst>
              <a:ext uri="{FF2B5EF4-FFF2-40B4-BE49-F238E27FC236}">
                <a16:creationId xmlns:a16="http://schemas.microsoft.com/office/drawing/2014/main" id="{121533EA-6F50-CA44-0B64-FE1AD377A613}"/>
              </a:ext>
            </a:extLst>
          </p:cNvPr>
          <p:cNvSpPr/>
          <p:nvPr/>
        </p:nvSpPr>
        <p:spPr>
          <a:xfrm>
            <a:off x="1411939" y="404801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35EC5860-490E-097F-794B-724AF842C91E}"/>
              </a:ext>
            </a:extLst>
          </p:cNvPr>
          <p:cNvSpPr txBox="1"/>
          <p:nvPr/>
        </p:nvSpPr>
        <p:spPr>
          <a:xfrm>
            <a:off x="1689696" y="3966951"/>
            <a:ext cx="10197504" cy="726073"/>
          </a:xfrm>
          <a:prstGeom prst="rect">
            <a:avLst/>
          </a:prstGeom>
          <a:noFill/>
        </p:spPr>
        <p:txBody>
          <a:bodyPr wrap="square" lIns="91440" tIns="45720" rIns="91440" bIns="45720" anchor="ctr">
            <a:noAutofit/>
          </a:bodyPr>
          <a:lstStyle/>
          <a:p>
            <a:r>
              <a:rPr lang="zh-CN" altLang="en-US" b="1" dirty="0"/>
              <a:t>尽管我们将这</a:t>
            </a:r>
            <a:r>
              <a:rPr lang="en-US" altLang="zh-CN" b="1" dirty="0">
                <a:solidFill>
                  <a:schemeClr val="accent1">
                    <a:lumMod val="75000"/>
                  </a:schemeClr>
                </a:solidFill>
              </a:rPr>
              <a:t>13</a:t>
            </a:r>
            <a:r>
              <a:rPr lang="zh-CN" altLang="en-US" b="1" dirty="0">
                <a:solidFill>
                  <a:schemeClr val="accent1">
                    <a:lumMod val="75000"/>
                  </a:schemeClr>
                </a:solidFill>
              </a:rPr>
              <a:t>个</a:t>
            </a:r>
            <a:r>
              <a:rPr lang="zh-CN" altLang="en-US" b="1" dirty="0"/>
              <a:t>根域名服务器中的每一个都视为单个的服务器，但“每台服务器”实际上是由许多分布在世界各地的计算机构成的</a:t>
            </a:r>
            <a:r>
              <a:rPr lang="zh-CN" altLang="en-US" b="1" dirty="0">
                <a:solidFill>
                  <a:schemeClr val="accent1">
                    <a:lumMod val="75000"/>
                  </a:schemeClr>
                </a:solidFill>
              </a:rPr>
              <a:t>服务器群集</a:t>
            </a:r>
            <a:r>
              <a:rPr lang="zh-CN" altLang="en-US" b="1" dirty="0"/>
              <a:t>。</a:t>
            </a:r>
            <a:endParaRPr lang="en-US" altLang="zh-CN" b="1" dirty="0"/>
          </a:p>
        </p:txBody>
      </p:sp>
      <p:sp>
        <p:nvSpPr>
          <p:cNvPr id="12" name="矩形 11">
            <a:extLst>
              <a:ext uri="{FF2B5EF4-FFF2-40B4-BE49-F238E27FC236}">
                <a16:creationId xmlns:a16="http://schemas.microsoft.com/office/drawing/2014/main" id="{6CF4EBAD-7A0A-2F85-939B-592EDB7E87D6}"/>
              </a:ext>
            </a:extLst>
          </p:cNvPr>
          <p:cNvSpPr/>
          <p:nvPr/>
        </p:nvSpPr>
        <p:spPr>
          <a:xfrm>
            <a:off x="1826556" y="4820429"/>
            <a:ext cx="201325" cy="20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íşlïḍè">
            <a:extLst>
              <a:ext uri="{FF2B5EF4-FFF2-40B4-BE49-F238E27FC236}">
                <a16:creationId xmlns:a16="http://schemas.microsoft.com/office/drawing/2014/main" id="{FFCCFFEE-5F98-6120-E221-ECBB11D099E6}"/>
              </a:ext>
            </a:extLst>
          </p:cNvPr>
          <p:cNvSpPr txBox="1"/>
          <p:nvPr/>
        </p:nvSpPr>
        <p:spPr>
          <a:xfrm>
            <a:off x="2097590" y="4693024"/>
            <a:ext cx="9789610" cy="726073"/>
          </a:xfrm>
          <a:prstGeom prst="rect">
            <a:avLst/>
          </a:prstGeom>
          <a:noFill/>
        </p:spPr>
        <p:txBody>
          <a:bodyPr wrap="square" lIns="91440" tIns="45720" rIns="91440" bIns="45720" anchor="ctr">
            <a:noAutofit/>
          </a:bodyPr>
          <a:lstStyle/>
          <a:p>
            <a:r>
              <a:rPr lang="zh-CN" altLang="en-US" b="1" dirty="0"/>
              <a:t>当本地域名服务器向根域名服务器发出查询请求时，路由器就把查询请求报文转发到离这个</a:t>
            </a:r>
            <a:r>
              <a:rPr lang="en-US" altLang="zh-CN" b="1" dirty="0"/>
              <a:t>DNS</a:t>
            </a:r>
            <a:r>
              <a:rPr lang="zh-CN" altLang="en-US" b="1" dirty="0"/>
              <a:t>客户最近的一个根域名服务器。</a:t>
            </a:r>
            <a:endParaRPr lang="en-US" altLang="zh-CN" b="1" dirty="0"/>
          </a:p>
        </p:txBody>
      </p:sp>
      <p:sp>
        <p:nvSpPr>
          <p:cNvPr id="14" name="矩形 13">
            <a:extLst>
              <a:ext uri="{FF2B5EF4-FFF2-40B4-BE49-F238E27FC236}">
                <a16:creationId xmlns:a16="http://schemas.microsoft.com/office/drawing/2014/main" id="{ACA6A78D-7370-6FAF-05ED-C3194AAE8981}"/>
              </a:ext>
            </a:extLst>
          </p:cNvPr>
          <p:cNvSpPr/>
          <p:nvPr/>
        </p:nvSpPr>
        <p:spPr>
          <a:xfrm>
            <a:off x="1826556" y="5479062"/>
            <a:ext cx="201325" cy="201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íşlïḍè">
            <a:extLst>
              <a:ext uri="{FF2B5EF4-FFF2-40B4-BE49-F238E27FC236}">
                <a16:creationId xmlns:a16="http://schemas.microsoft.com/office/drawing/2014/main" id="{CE1D64EC-0049-3EF7-738A-525342E60971}"/>
              </a:ext>
            </a:extLst>
          </p:cNvPr>
          <p:cNvSpPr txBox="1"/>
          <p:nvPr/>
        </p:nvSpPr>
        <p:spPr>
          <a:xfrm>
            <a:off x="2097590" y="5351657"/>
            <a:ext cx="9789610" cy="726073"/>
          </a:xfrm>
          <a:prstGeom prst="rect">
            <a:avLst/>
          </a:prstGeom>
          <a:noFill/>
        </p:spPr>
        <p:txBody>
          <a:bodyPr wrap="square" lIns="91440" tIns="45720" rIns="91440" bIns="45720" anchor="ctr">
            <a:noAutofit/>
          </a:bodyPr>
          <a:lstStyle/>
          <a:p>
            <a:r>
              <a:rPr lang="zh-CN" altLang="en-US" b="1" dirty="0"/>
              <a:t>这就加快了</a:t>
            </a:r>
            <a:r>
              <a:rPr lang="en-US" altLang="zh-CN" b="1" dirty="0"/>
              <a:t>DNS</a:t>
            </a:r>
            <a:r>
              <a:rPr lang="zh-CN" altLang="en-US" b="1" dirty="0"/>
              <a:t>的查询过程，同时也更合理地利用了因特网的资源。</a:t>
            </a:r>
            <a:r>
              <a:rPr lang="zh-CN" altLang="en-US" b="1" dirty="0">
                <a:solidFill>
                  <a:schemeClr val="accent1">
                    <a:lumMod val="75000"/>
                  </a:schemeClr>
                </a:solidFill>
              </a:rPr>
              <a:t>根域名服务器通常并不直接对域名进行解析，而是返回该域名所属顶级域名的顶级域名服务器的</a:t>
            </a:r>
            <a:r>
              <a:rPr lang="en-US" altLang="zh-CN" b="1" dirty="0">
                <a:solidFill>
                  <a:schemeClr val="accent1">
                    <a:lumMod val="75000"/>
                  </a:schemeClr>
                </a:solidFill>
              </a:rPr>
              <a:t>IP</a:t>
            </a:r>
            <a:r>
              <a:rPr lang="zh-CN" altLang="en-US" b="1" dirty="0">
                <a:solidFill>
                  <a:schemeClr val="accent1">
                    <a:lumMod val="75000"/>
                  </a:schemeClr>
                </a:solidFill>
              </a:rPr>
              <a:t>地址</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628567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 calcmode="lin" valueType="num">
                                      <p:cBhvr>
                                        <p:cTn id="20" dur="500" fill="hold"/>
                                        <p:tgtEl>
                                          <p:spTgt spid="7"/>
                                        </p:tgtEl>
                                        <p:attrNameLst>
                                          <p:attrName>style.rotation</p:attrName>
                                        </p:attrNameLst>
                                      </p:cBhvr>
                                      <p:tavLst>
                                        <p:tav tm="0">
                                          <p:val>
                                            <p:fltVal val="360"/>
                                          </p:val>
                                        </p:tav>
                                        <p:tav tm="100000">
                                          <p:val>
                                            <p:fltVal val="0"/>
                                          </p:val>
                                        </p:tav>
                                      </p:tavLst>
                                    </p:anim>
                                    <p:animEffect transition="in" filter="fade">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 calcmode="lin" valueType="num">
                                      <p:cBhvr>
                                        <p:cTn id="31" dur="500" fill="hold"/>
                                        <p:tgtEl>
                                          <p:spTgt spid="9"/>
                                        </p:tgtEl>
                                        <p:attrNameLst>
                                          <p:attrName>style.rotation</p:attrName>
                                        </p:attrNameLst>
                                      </p:cBhvr>
                                      <p:tavLst>
                                        <p:tav tm="0">
                                          <p:val>
                                            <p:fltVal val="360"/>
                                          </p:val>
                                        </p:tav>
                                        <p:tav tm="100000">
                                          <p:val>
                                            <p:fltVal val="0"/>
                                          </p:val>
                                        </p:tav>
                                      </p:tavLst>
                                    </p:anim>
                                    <p:animEffect transition="in" filter="fade">
                                      <p:cBhvr>
                                        <p:cTn id="32" dur="500"/>
                                        <p:tgtEl>
                                          <p:spTgt spid="9"/>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500" fill="hold"/>
                                        <p:tgtEl>
                                          <p:spTgt spid="12"/>
                                        </p:tgtEl>
                                        <p:attrNameLst>
                                          <p:attrName>ppt_w</p:attrName>
                                        </p:attrNameLst>
                                      </p:cBhvr>
                                      <p:tavLst>
                                        <p:tav tm="0">
                                          <p:val>
                                            <p:fltVal val="0"/>
                                          </p:val>
                                        </p:tav>
                                        <p:tav tm="100000">
                                          <p:val>
                                            <p:strVal val="#ppt_w"/>
                                          </p:val>
                                        </p:tav>
                                      </p:tavLst>
                                    </p:anim>
                                    <p:anim calcmode="lin" valueType="num">
                                      <p:cBhvr>
                                        <p:cTn id="41" dur="500" fill="hold"/>
                                        <p:tgtEl>
                                          <p:spTgt spid="12"/>
                                        </p:tgtEl>
                                        <p:attrNameLst>
                                          <p:attrName>ppt_h</p:attrName>
                                        </p:attrNameLst>
                                      </p:cBhvr>
                                      <p:tavLst>
                                        <p:tav tm="0">
                                          <p:val>
                                            <p:fltVal val="0"/>
                                          </p:val>
                                        </p:tav>
                                        <p:tav tm="100000">
                                          <p:val>
                                            <p:strVal val="#ppt_h"/>
                                          </p:val>
                                        </p:tav>
                                      </p:tavLst>
                                    </p:anim>
                                    <p:anim calcmode="lin" valueType="num">
                                      <p:cBhvr>
                                        <p:cTn id="42" dur="500" fill="hold"/>
                                        <p:tgtEl>
                                          <p:spTgt spid="12"/>
                                        </p:tgtEl>
                                        <p:attrNameLst>
                                          <p:attrName>style.rotation</p:attrName>
                                        </p:attrNameLst>
                                      </p:cBhvr>
                                      <p:tavLst>
                                        <p:tav tm="0">
                                          <p:val>
                                            <p:fltVal val="360"/>
                                          </p:val>
                                        </p:tav>
                                        <p:tav tm="100000">
                                          <p:val>
                                            <p:fltVal val="0"/>
                                          </p:val>
                                        </p:tav>
                                      </p:tavLst>
                                    </p:anim>
                                    <p:animEffect transition="in" filter="fade">
                                      <p:cBhvr>
                                        <p:cTn id="43" dur="500"/>
                                        <p:tgtEl>
                                          <p:spTgt spid="12"/>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00" fill="hold"/>
                                        <p:tgtEl>
                                          <p:spTgt spid="14"/>
                                        </p:tgtEl>
                                        <p:attrNameLst>
                                          <p:attrName>ppt_w</p:attrName>
                                        </p:attrNameLst>
                                      </p:cBhvr>
                                      <p:tavLst>
                                        <p:tav tm="0">
                                          <p:val>
                                            <p:fltVal val="0"/>
                                          </p:val>
                                        </p:tav>
                                        <p:tav tm="100000">
                                          <p:val>
                                            <p:strVal val="#ppt_w"/>
                                          </p:val>
                                        </p:tav>
                                      </p:tavLst>
                                    </p:anim>
                                    <p:anim calcmode="lin" valueType="num">
                                      <p:cBhvr>
                                        <p:cTn id="52" dur="500" fill="hold"/>
                                        <p:tgtEl>
                                          <p:spTgt spid="14"/>
                                        </p:tgtEl>
                                        <p:attrNameLst>
                                          <p:attrName>ppt_h</p:attrName>
                                        </p:attrNameLst>
                                      </p:cBhvr>
                                      <p:tavLst>
                                        <p:tav tm="0">
                                          <p:val>
                                            <p:fltVal val="0"/>
                                          </p:val>
                                        </p:tav>
                                        <p:tav tm="100000">
                                          <p:val>
                                            <p:strVal val="#ppt_h"/>
                                          </p:val>
                                        </p:tav>
                                      </p:tavLst>
                                    </p:anim>
                                    <p:anim calcmode="lin" valueType="num">
                                      <p:cBhvr>
                                        <p:cTn id="53" dur="500" fill="hold"/>
                                        <p:tgtEl>
                                          <p:spTgt spid="14"/>
                                        </p:tgtEl>
                                        <p:attrNameLst>
                                          <p:attrName>style.rotation</p:attrName>
                                        </p:attrNameLst>
                                      </p:cBhvr>
                                      <p:tavLst>
                                        <p:tav tm="0">
                                          <p:val>
                                            <p:fltVal val="360"/>
                                          </p:val>
                                        </p:tav>
                                        <p:tav tm="100000">
                                          <p:val>
                                            <p:fltVal val="0"/>
                                          </p:val>
                                        </p:tav>
                                      </p:tavLst>
                                    </p:anim>
                                    <p:animEffect transition="in" filter="fade">
                                      <p:cBhvr>
                                        <p:cTn id="54" dur="500"/>
                                        <p:tgtEl>
                                          <p:spTgt spid="14"/>
                                        </p:tgtEl>
                                      </p:cBhvr>
                                    </p:animEffect>
                                  </p:childTnLst>
                                </p:cTn>
                              </p:par>
                            </p:childTnLst>
                          </p:cTn>
                        </p:par>
                        <p:par>
                          <p:cTn id="55" fill="hold">
                            <p:stCondLst>
                              <p:cond delay="500"/>
                            </p:stCondLst>
                            <p:childTnLst>
                              <p:par>
                                <p:cTn id="56" presetID="1" presetClass="entr" presetSubtype="0" fill="hold" grpId="0" nodeType="afterEffect">
                                  <p:stCondLst>
                                    <p:cond delay="0"/>
                                  </p:stCondLst>
                                  <p:iterate type="lt">
                                    <p:tmAbs val="100"/>
                                  </p:iterate>
                                  <p:childTnLst>
                                    <p:set>
                                      <p:cBhvr>
                                        <p:cTn id="5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9" grpId="0" animBg="1"/>
      <p:bldP spid="10" grpId="0"/>
      <p:bldP spid="12" grpId="0" animBg="1"/>
      <p:bldP spid="13" grpId="0"/>
      <p:bldP spid="14" grpId="0" animBg="1"/>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顶级域名服务器负责</a:t>
            </a:r>
            <a:r>
              <a:rPr lang="zh-CN" altLang="en-US" b="1" dirty="0">
                <a:solidFill>
                  <a:schemeClr val="accent1">
                    <a:lumMod val="75000"/>
                  </a:schemeClr>
                </a:solidFill>
              </a:rPr>
              <a:t>管理在该顶级域名服务器注册的所有二级域名</a:t>
            </a:r>
            <a:r>
              <a:rPr lang="zh-CN" altLang="en-US" b="1" dirty="0"/>
              <a:t>。</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8999"/>
            <a:ext cx="10197503" cy="665629"/>
          </a:xfrm>
          <a:prstGeom prst="rect">
            <a:avLst/>
          </a:prstGeom>
          <a:noFill/>
        </p:spPr>
        <p:txBody>
          <a:bodyPr wrap="square" lIns="91440" tIns="45720" rIns="91440" bIns="45720" anchor="ctr">
            <a:noAutofit/>
          </a:bodyPr>
          <a:lstStyle/>
          <a:p>
            <a:r>
              <a:rPr lang="zh-CN" altLang="en-US" b="1" dirty="0"/>
              <a:t>当收到</a:t>
            </a:r>
            <a:r>
              <a:rPr lang="en-US" altLang="zh-CN" b="1" dirty="0"/>
              <a:t>DNS</a:t>
            </a:r>
            <a:r>
              <a:rPr lang="zh-CN" altLang="en-US" b="1" dirty="0"/>
              <a:t>查询请求时就给出相应的回答，可能是最后的结果，也可能是下一级权限域名服务器的</a:t>
            </a:r>
            <a:r>
              <a:rPr lang="en-US" altLang="zh-CN" b="1" dirty="0"/>
              <a:t>IP</a:t>
            </a:r>
            <a:r>
              <a:rPr lang="zh-CN" altLang="en-US" b="1" dirty="0"/>
              <a:t>地址。</a:t>
            </a:r>
            <a:endParaRPr lang="en-US" altLang="zh-CN" b="1" dirty="0"/>
          </a:p>
        </p:txBody>
      </p:sp>
      <p:sp>
        <p:nvSpPr>
          <p:cNvPr id="16" name="矩形 15">
            <a:extLst>
              <a:ext uri="{FF2B5EF4-FFF2-40B4-BE49-F238E27FC236}">
                <a16:creationId xmlns:a16="http://schemas.microsoft.com/office/drawing/2014/main" id="{156B3C07-55CE-BD7A-E7E0-D07B8C6348B7}"/>
              </a:ext>
            </a:extLst>
          </p:cNvPr>
          <p:cNvSpPr/>
          <p:nvPr/>
        </p:nvSpPr>
        <p:spPr>
          <a:xfrm>
            <a:off x="4067733" y="2185300"/>
            <a:ext cx="1922929" cy="463927"/>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Tree>
    <p:custDataLst>
      <p:tags r:id="rId1"/>
    </p:custDataLst>
    <p:extLst>
      <p:ext uri="{BB962C8B-B14F-4D97-AF65-F5344CB8AC3E}">
        <p14:creationId xmlns:p14="http://schemas.microsoft.com/office/powerpoint/2010/main" val="3887801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权限域名服务器负责</a:t>
            </a:r>
            <a:r>
              <a:rPr lang="zh-CN" altLang="en-US" b="1" dirty="0">
                <a:solidFill>
                  <a:srgbClr val="FF0000"/>
                </a:solidFill>
              </a:rPr>
              <a:t>管理某个区的域名</a:t>
            </a:r>
            <a:r>
              <a:rPr lang="zh-CN" altLang="en-US" b="1" dirty="0"/>
              <a:t>。</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8999"/>
            <a:ext cx="10197503" cy="66562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每一个主机的域名都必须在某个权限域名服务器处注册登记</a:t>
            </a:r>
            <a:r>
              <a:rPr lang="zh-CN" altLang="en-US" b="1" dirty="0"/>
              <a:t>。因此权限域名服务器知道其管辖的域名与</a:t>
            </a:r>
            <a:r>
              <a:rPr lang="en-US" altLang="zh-CN" b="1" dirty="0"/>
              <a:t>IP</a:t>
            </a:r>
            <a:r>
              <a:rPr lang="zh-CN" altLang="en-US" b="1" dirty="0"/>
              <a:t>地址的映射关系。</a:t>
            </a:r>
            <a:endParaRPr lang="en-US" altLang="zh-CN" b="1" dirty="0"/>
          </a:p>
        </p:txBody>
      </p:sp>
      <p:sp>
        <p:nvSpPr>
          <p:cNvPr id="16" name="矩形 15">
            <a:extLst>
              <a:ext uri="{FF2B5EF4-FFF2-40B4-BE49-F238E27FC236}">
                <a16:creationId xmlns:a16="http://schemas.microsoft.com/office/drawing/2014/main" id="{156B3C07-55CE-BD7A-E7E0-D07B8C6348B7}"/>
              </a:ext>
            </a:extLst>
          </p:cNvPr>
          <p:cNvSpPr/>
          <p:nvPr/>
        </p:nvSpPr>
        <p:spPr>
          <a:xfrm>
            <a:off x="6723526" y="2188502"/>
            <a:ext cx="1922929" cy="463927"/>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9" name="矩形 8">
            <a:extLst>
              <a:ext uri="{FF2B5EF4-FFF2-40B4-BE49-F238E27FC236}">
                <a16:creationId xmlns:a16="http://schemas.microsoft.com/office/drawing/2014/main" id="{84E1A3EF-CDAD-861B-C81E-ECF102F8ED68}"/>
              </a:ext>
            </a:extLst>
          </p:cNvPr>
          <p:cNvSpPr/>
          <p:nvPr/>
        </p:nvSpPr>
        <p:spPr>
          <a:xfrm>
            <a:off x="1411939" y="417569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632AC365-77F1-0144-969F-119A44D058BF}"/>
              </a:ext>
            </a:extLst>
          </p:cNvPr>
          <p:cNvSpPr txBox="1"/>
          <p:nvPr/>
        </p:nvSpPr>
        <p:spPr>
          <a:xfrm>
            <a:off x="1689696" y="4094628"/>
            <a:ext cx="10197504" cy="417270"/>
          </a:xfrm>
          <a:prstGeom prst="rect">
            <a:avLst/>
          </a:prstGeom>
          <a:noFill/>
        </p:spPr>
        <p:txBody>
          <a:bodyPr wrap="square" lIns="91440" tIns="45720" rIns="91440" bIns="45720" anchor="ctr">
            <a:noAutofit/>
          </a:bodyPr>
          <a:lstStyle/>
          <a:p>
            <a:r>
              <a:rPr lang="zh-CN" altLang="en-US" b="1" dirty="0"/>
              <a:t>另外，权限域名服务器还知道其下级域名服务器的地址。</a:t>
            </a:r>
            <a:endParaRPr lang="en-US" altLang="zh-CN" b="1" dirty="0"/>
          </a:p>
        </p:txBody>
      </p:sp>
    </p:spTree>
    <p:custDataLst>
      <p:tags r:id="rId1"/>
    </p:custDataLst>
    <p:extLst>
      <p:ext uri="{BB962C8B-B14F-4D97-AF65-F5344CB8AC3E}">
        <p14:creationId xmlns:p14="http://schemas.microsoft.com/office/powerpoint/2010/main" val="2224660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 calcmode="lin" valueType="num">
                                      <p:cBhvr>
                                        <p:cTn id="36" dur="500" fill="hold"/>
                                        <p:tgtEl>
                                          <p:spTgt spid="9"/>
                                        </p:tgtEl>
                                        <p:attrNameLst>
                                          <p:attrName>style.rotation</p:attrName>
                                        </p:attrNameLst>
                                      </p:cBhvr>
                                      <p:tavLst>
                                        <p:tav tm="0">
                                          <p:val>
                                            <p:fltVal val="360"/>
                                          </p:val>
                                        </p:tav>
                                        <p:tav tm="100000">
                                          <p:val>
                                            <p:fltVal val="0"/>
                                          </p:val>
                                        </p:tav>
                                      </p:tavLst>
                                    </p:anim>
                                    <p:animEffect transition="in" filter="fade">
                                      <p:cBhvr>
                                        <p:cTn id="37" dur="500"/>
                                        <p:tgtEl>
                                          <p:spTgt spid="9"/>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6" grpId="0" animBg="1"/>
      <p:bldP spid="9" grpId="0" animBg="1"/>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因特网上的域名服务器</a:t>
              </a:r>
            </a:p>
          </p:txBody>
        </p:sp>
      </p:grpSp>
      <p:sp>
        <p:nvSpPr>
          <p:cNvPr id="11" name="矩形 10">
            <a:extLst>
              <a:ext uri="{FF2B5EF4-FFF2-40B4-BE49-F238E27FC236}">
                <a16:creationId xmlns:a16="http://schemas.microsoft.com/office/drawing/2014/main" id="{1312E845-38D6-0DB5-1C28-8705C3D13153}"/>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íşlïḍè">
            <a:extLst>
              <a:ext uri="{FF2B5EF4-FFF2-40B4-BE49-F238E27FC236}">
                <a16:creationId xmlns:a16="http://schemas.microsoft.com/office/drawing/2014/main" id="{04E4E7AB-6E43-E8B8-B8DE-38FF4FA07AAB}"/>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b="1" dirty="0"/>
              <a:t>域名和</a:t>
            </a:r>
            <a:r>
              <a:rPr lang="en-US" altLang="zh-CN" b="1" dirty="0"/>
              <a:t>IP</a:t>
            </a:r>
            <a:r>
              <a:rPr lang="zh-CN" altLang="en-US" b="1" dirty="0"/>
              <a:t>地址的映射关系必须保存在域名服务器中，供所有其他应用查询。显然不能将所有信息都储存在一台域名服务器中。</a:t>
            </a:r>
            <a:r>
              <a:rPr lang="en-US" altLang="zh-CN" b="1" dirty="0"/>
              <a:t>DNS</a:t>
            </a:r>
            <a:r>
              <a:rPr lang="zh-CN" altLang="en-US" b="1" dirty="0"/>
              <a:t>使用</a:t>
            </a:r>
            <a:r>
              <a:rPr lang="zh-CN" altLang="en-US" b="1" dirty="0">
                <a:solidFill>
                  <a:schemeClr val="accent1">
                    <a:lumMod val="75000"/>
                  </a:schemeClr>
                </a:solidFill>
              </a:rPr>
              <a:t>分布在各地的域名服务器</a:t>
            </a:r>
            <a:r>
              <a:rPr lang="zh-CN" altLang="en-US" b="1" dirty="0"/>
              <a:t>来实现域名到</a:t>
            </a:r>
            <a:r>
              <a:rPr lang="en-US" altLang="zh-CN" b="1" dirty="0"/>
              <a:t>IP</a:t>
            </a:r>
            <a:r>
              <a:rPr lang="zh-CN" altLang="en-US" b="1" dirty="0"/>
              <a:t>地址的转换。</a:t>
            </a:r>
            <a:endParaRPr lang="en-US" altLang="zh-CN" b="1" dirty="0">
              <a:solidFill>
                <a:srgbClr val="C00000"/>
              </a:solidFill>
            </a:endParaRPr>
          </a:p>
        </p:txBody>
      </p:sp>
      <p:sp>
        <p:nvSpPr>
          <p:cNvPr id="20" name="矩形 19">
            <a:extLst>
              <a:ext uri="{FF2B5EF4-FFF2-40B4-BE49-F238E27FC236}">
                <a16:creationId xmlns:a16="http://schemas.microsoft.com/office/drawing/2014/main" id="{7551CB3F-9D53-8D4F-E873-CA1DE6555391}"/>
              </a:ext>
            </a:extLst>
          </p:cNvPr>
          <p:cNvSpPr/>
          <p:nvPr/>
        </p:nvSpPr>
        <p:spPr>
          <a:xfrm>
            <a:off x="1411939" y="2188502"/>
            <a:ext cx="1922929" cy="463927"/>
          </a:xfrm>
          <a:prstGeom prst="rect">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根域名服务器</a:t>
            </a:r>
          </a:p>
        </p:txBody>
      </p:sp>
      <p:sp>
        <p:nvSpPr>
          <p:cNvPr id="21" name="矩形 20">
            <a:extLst>
              <a:ext uri="{FF2B5EF4-FFF2-40B4-BE49-F238E27FC236}">
                <a16:creationId xmlns:a16="http://schemas.microsoft.com/office/drawing/2014/main" id="{5F926764-9FD3-4731-F1EF-8E674B00321E}"/>
              </a:ext>
            </a:extLst>
          </p:cNvPr>
          <p:cNvSpPr/>
          <p:nvPr/>
        </p:nvSpPr>
        <p:spPr>
          <a:xfrm>
            <a:off x="4067733" y="2188502"/>
            <a:ext cx="1922929" cy="463927"/>
          </a:xfrm>
          <a:prstGeom prst="rect">
            <a:avLst/>
          </a:prstGeom>
          <a:solidFill>
            <a:schemeClr val="bg2"/>
          </a:solidFill>
          <a:ln>
            <a:solidFill>
              <a:schemeClr val="bg2">
                <a:lumMod val="9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b="1" dirty="0"/>
              <a:t>顶级域名服务器</a:t>
            </a:r>
          </a:p>
        </p:txBody>
      </p:sp>
      <p:sp>
        <p:nvSpPr>
          <p:cNvPr id="23" name="矩形 22">
            <a:extLst>
              <a:ext uri="{FF2B5EF4-FFF2-40B4-BE49-F238E27FC236}">
                <a16:creationId xmlns:a16="http://schemas.microsoft.com/office/drawing/2014/main" id="{4DC60EB8-5355-E723-9DAD-92CCB7A34760}"/>
              </a:ext>
            </a:extLst>
          </p:cNvPr>
          <p:cNvSpPr/>
          <p:nvPr/>
        </p:nvSpPr>
        <p:spPr>
          <a:xfrm>
            <a:off x="6723527" y="2188502"/>
            <a:ext cx="1922929" cy="463927"/>
          </a:xfrm>
          <a:prstGeom prst="rect">
            <a:avLst/>
          </a:prstGeom>
          <a:solidFill>
            <a:schemeClr val="bg2"/>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权限域名服务器</a:t>
            </a:r>
          </a:p>
        </p:txBody>
      </p:sp>
      <p:sp>
        <p:nvSpPr>
          <p:cNvPr id="24" name="矩形 23">
            <a:extLst>
              <a:ext uri="{FF2B5EF4-FFF2-40B4-BE49-F238E27FC236}">
                <a16:creationId xmlns:a16="http://schemas.microsoft.com/office/drawing/2014/main" id="{ECB883DD-5CB0-124E-03C6-BB631DFB962C}"/>
              </a:ext>
            </a:extLst>
          </p:cNvPr>
          <p:cNvSpPr/>
          <p:nvPr/>
        </p:nvSpPr>
        <p:spPr>
          <a:xfrm>
            <a:off x="9379322" y="2188502"/>
            <a:ext cx="1922929" cy="463927"/>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5" name="矩形 4">
            <a:extLst>
              <a:ext uri="{FF2B5EF4-FFF2-40B4-BE49-F238E27FC236}">
                <a16:creationId xmlns:a16="http://schemas.microsoft.com/office/drawing/2014/main" id="{C2D3EDEF-E1D1-69CD-8762-77286691BC45}"/>
              </a:ext>
            </a:extLst>
          </p:cNvPr>
          <p:cNvSpPr/>
          <p:nvPr/>
        </p:nvSpPr>
        <p:spPr>
          <a:xfrm>
            <a:off x="1411939" y="297211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1C3FCEDE-14D8-8EB7-53C9-B7FD079DE89B}"/>
              </a:ext>
            </a:extLst>
          </p:cNvPr>
          <p:cNvSpPr txBox="1"/>
          <p:nvPr/>
        </p:nvSpPr>
        <p:spPr>
          <a:xfrm>
            <a:off x="1689696" y="2891048"/>
            <a:ext cx="10197504" cy="417270"/>
          </a:xfrm>
          <a:prstGeom prst="rect">
            <a:avLst/>
          </a:prstGeom>
          <a:noFill/>
        </p:spPr>
        <p:txBody>
          <a:bodyPr wrap="square" lIns="91440" tIns="45720" rIns="91440" bIns="45720" anchor="ctr">
            <a:noAutofit/>
          </a:bodyPr>
          <a:lstStyle/>
          <a:p>
            <a:r>
              <a:rPr lang="zh-CN" altLang="en-US" b="1" dirty="0"/>
              <a:t>本地域名服务器不属于上述的域名服务器的等级结构。</a:t>
            </a:r>
            <a:endParaRPr lang="en-US" altLang="zh-CN" b="1" dirty="0"/>
          </a:p>
        </p:txBody>
      </p:sp>
      <p:sp>
        <p:nvSpPr>
          <p:cNvPr id="7" name="矩形 6">
            <a:extLst>
              <a:ext uri="{FF2B5EF4-FFF2-40B4-BE49-F238E27FC236}">
                <a16:creationId xmlns:a16="http://schemas.microsoft.com/office/drawing/2014/main" id="{1A21CA83-118E-F7B5-D50A-921EF563C553}"/>
              </a:ext>
            </a:extLst>
          </p:cNvPr>
          <p:cNvSpPr/>
          <p:nvPr/>
        </p:nvSpPr>
        <p:spPr>
          <a:xfrm>
            <a:off x="1411939" y="351006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15B79BC5-48DC-B035-A13E-7EF0D0D75504}"/>
              </a:ext>
            </a:extLst>
          </p:cNvPr>
          <p:cNvSpPr txBox="1"/>
          <p:nvPr/>
        </p:nvSpPr>
        <p:spPr>
          <a:xfrm>
            <a:off x="1689695" y="3429000"/>
            <a:ext cx="10197503" cy="417270"/>
          </a:xfrm>
          <a:prstGeom prst="rect">
            <a:avLst/>
          </a:prstGeom>
          <a:noFill/>
        </p:spPr>
        <p:txBody>
          <a:bodyPr wrap="square" lIns="91440" tIns="45720" rIns="91440" bIns="45720" anchor="ctr">
            <a:noAutofit/>
          </a:bodyPr>
          <a:lstStyle/>
          <a:p>
            <a:r>
              <a:rPr lang="zh-CN" altLang="en-US" b="1" dirty="0"/>
              <a:t>当一个主机发出</a:t>
            </a:r>
            <a:r>
              <a:rPr lang="en-US" altLang="zh-CN" b="1" dirty="0"/>
              <a:t>DNS</a:t>
            </a:r>
            <a:r>
              <a:rPr lang="zh-CN" altLang="en-US" b="1" dirty="0"/>
              <a:t>请求报文时，这个报文就首先被送往该主机的本地域名服务器。</a:t>
            </a:r>
            <a:endParaRPr lang="en-US" altLang="zh-CN" b="1" dirty="0"/>
          </a:p>
        </p:txBody>
      </p:sp>
      <p:sp>
        <p:nvSpPr>
          <p:cNvPr id="16" name="矩形 15">
            <a:extLst>
              <a:ext uri="{FF2B5EF4-FFF2-40B4-BE49-F238E27FC236}">
                <a16:creationId xmlns:a16="http://schemas.microsoft.com/office/drawing/2014/main" id="{156B3C07-55CE-BD7A-E7E0-D07B8C6348B7}"/>
              </a:ext>
            </a:extLst>
          </p:cNvPr>
          <p:cNvSpPr/>
          <p:nvPr/>
        </p:nvSpPr>
        <p:spPr>
          <a:xfrm>
            <a:off x="9379322" y="2184801"/>
            <a:ext cx="1922929" cy="463927"/>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本地域名服务器</a:t>
            </a:r>
          </a:p>
        </p:txBody>
      </p:sp>
      <p:sp>
        <p:nvSpPr>
          <p:cNvPr id="9" name="矩形 8">
            <a:extLst>
              <a:ext uri="{FF2B5EF4-FFF2-40B4-BE49-F238E27FC236}">
                <a16:creationId xmlns:a16="http://schemas.microsoft.com/office/drawing/2014/main" id="{84E1A3EF-CDAD-861B-C81E-ECF102F8ED68}"/>
              </a:ext>
            </a:extLst>
          </p:cNvPr>
          <p:cNvSpPr/>
          <p:nvPr/>
        </p:nvSpPr>
        <p:spPr>
          <a:xfrm>
            <a:off x="1411939" y="4086719"/>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632AC365-77F1-0144-969F-119A44D058BF}"/>
              </a:ext>
            </a:extLst>
          </p:cNvPr>
          <p:cNvSpPr txBox="1"/>
          <p:nvPr/>
        </p:nvSpPr>
        <p:spPr>
          <a:xfrm>
            <a:off x="1689696" y="4005657"/>
            <a:ext cx="10197504" cy="417270"/>
          </a:xfrm>
          <a:prstGeom prst="rect">
            <a:avLst/>
          </a:prstGeom>
          <a:noFill/>
        </p:spPr>
        <p:txBody>
          <a:bodyPr wrap="square" lIns="91440" tIns="45720" rIns="91440" bIns="45720" anchor="ctr">
            <a:noAutofit/>
          </a:bodyPr>
          <a:lstStyle/>
          <a:p>
            <a:r>
              <a:rPr lang="zh-CN" altLang="en-US" b="1" dirty="0">
                <a:solidFill>
                  <a:srgbClr val="FF0000"/>
                </a:solidFill>
              </a:rPr>
              <a:t>本地域名服务器起着代理的作用，会将该报文转发到上述的域名服务器的等级结构中</a:t>
            </a:r>
            <a:r>
              <a:rPr lang="zh-CN" altLang="en-US" b="1" dirty="0"/>
              <a:t>。</a:t>
            </a:r>
            <a:endParaRPr lang="en-US" altLang="zh-CN" b="1" dirty="0"/>
          </a:p>
        </p:txBody>
      </p:sp>
      <p:sp>
        <p:nvSpPr>
          <p:cNvPr id="18" name="矩形 17">
            <a:extLst>
              <a:ext uri="{FF2B5EF4-FFF2-40B4-BE49-F238E27FC236}">
                <a16:creationId xmlns:a16="http://schemas.microsoft.com/office/drawing/2014/main" id="{79B2EDA1-7D7A-E84C-656F-488D3AEB8D5D}"/>
              </a:ext>
            </a:extLst>
          </p:cNvPr>
          <p:cNvSpPr/>
          <p:nvPr/>
        </p:nvSpPr>
        <p:spPr>
          <a:xfrm>
            <a:off x="1411939" y="4703903"/>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2302D21D-3271-B5D3-40A3-F81E781F94AD}"/>
              </a:ext>
            </a:extLst>
          </p:cNvPr>
          <p:cNvSpPr txBox="1"/>
          <p:nvPr/>
        </p:nvSpPr>
        <p:spPr>
          <a:xfrm>
            <a:off x="1689695" y="4622840"/>
            <a:ext cx="10197503" cy="722365"/>
          </a:xfrm>
          <a:prstGeom prst="rect">
            <a:avLst/>
          </a:prstGeom>
          <a:noFill/>
        </p:spPr>
        <p:txBody>
          <a:bodyPr wrap="square" lIns="91440" tIns="45720" rIns="91440" bIns="45720" anchor="ctr">
            <a:noAutofit/>
          </a:bodyPr>
          <a:lstStyle/>
          <a:p>
            <a:r>
              <a:rPr lang="zh-CN" altLang="en-US" b="1" dirty="0"/>
              <a:t>每一个因特网服务提供者</a:t>
            </a:r>
            <a:r>
              <a:rPr lang="en-US" altLang="zh-CN" b="1" dirty="0"/>
              <a:t>ISP</a:t>
            </a:r>
            <a:r>
              <a:rPr lang="zh-CN" altLang="en-US" b="1" dirty="0"/>
              <a:t>，一个大学，甚至一个大学里的学院，都可以拥有一个本地域名服务器，它有时也称为</a:t>
            </a:r>
            <a:r>
              <a:rPr lang="zh-CN" altLang="en-US" b="1" dirty="0">
                <a:solidFill>
                  <a:srgbClr val="FF0000"/>
                </a:solidFill>
              </a:rPr>
              <a:t>默认域名服务器</a:t>
            </a:r>
            <a:r>
              <a:rPr lang="zh-CN" altLang="en-US" b="1" dirty="0"/>
              <a:t>。</a:t>
            </a:r>
            <a:endParaRPr lang="en-US" altLang="zh-CN" b="1" dirty="0"/>
          </a:p>
        </p:txBody>
      </p:sp>
      <p:sp>
        <p:nvSpPr>
          <p:cNvPr id="22" name="矩形 21">
            <a:extLst>
              <a:ext uri="{FF2B5EF4-FFF2-40B4-BE49-F238E27FC236}">
                <a16:creationId xmlns:a16="http://schemas.microsoft.com/office/drawing/2014/main" id="{1C7F1A16-FC5B-A9D8-FEC1-DBB5078F3777}"/>
              </a:ext>
            </a:extLst>
          </p:cNvPr>
          <p:cNvSpPr/>
          <p:nvPr/>
        </p:nvSpPr>
        <p:spPr>
          <a:xfrm>
            <a:off x="1411941" y="543116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EE385761-48A5-E24D-ADD3-531D6895035F}"/>
              </a:ext>
            </a:extLst>
          </p:cNvPr>
          <p:cNvSpPr txBox="1"/>
          <p:nvPr/>
        </p:nvSpPr>
        <p:spPr>
          <a:xfrm>
            <a:off x="1689697" y="5350098"/>
            <a:ext cx="10197503" cy="654013"/>
          </a:xfrm>
          <a:prstGeom prst="rect">
            <a:avLst/>
          </a:prstGeom>
          <a:noFill/>
        </p:spPr>
        <p:txBody>
          <a:bodyPr wrap="square" lIns="91440" tIns="45720" rIns="91440" bIns="45720" anchor="ctr">
            <a:noAutofit/>
          </a:bodyPr>
          <a:lstStyle/>
          <a:p>
            <a:r>
              <a:rPr lang="zh-CN" altLang="en-US" b="1" dirty="0"/>
              <a:t>本地域名服务器离用户较近，一般不超过几个路由器的距离，也有可能就在同一个局域网中。本地域名服务器的</a:t>
            </a:r>
            <a:r>
              <a:rPr lang="en-US" altLang="zh-CN" b="1" dirty="0"/>
              <a:t>IP</a:t>
            </a:r>
            <a:r>
              <a:rPr lang="zh-CN" altLang="en-US" b="1" dirty="0"/>
              <a:t>地址需要直接配置在需要域名解析的主机中。</a:t>
            </a:r>
            <a:endParaRPr lang="en-US" altLang="zh-CN" b="1" dirty="0"/>
          </a:p>
        </p:txBody>
      </p:sp>
    </p:spTree>
    <p:custDataLst>
      <p:tags r:id="rId1"/>
    </p:custDataLst>
    <p:extLst>
      <p:ext uri="{BB962C8B-B14F-4D97-AF65-F5344CB8AC3E}">
        <p14:creationId xmlns:p14="http://schemas.microsoft.com/office/powerpoint/2010/main" val="27326535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 calcmode="lin" valueType="num">
                                      <p:cBhvr>
                                        <p:cTn id="14" dur="500" fill="hold"/>
                                        <p:tgtEl>
                                          <p:spTgt spid="5"/>
                                        </p:tgtEl>
                                        <p:attrNameLst>
                                          <p:attrName>style.rotation</p:attrName>
                                        </p:attrNameLst>
                                      </p:cBhvr>
                                      <p:tavLst>
                                        <p:tav tm="0">
                                          <p:val>
                                            <p:fltVal val="360"/>
                                          </p:val>
                                        </p:tav>
                                        <p:tav tm="100000">
                                          <p:val>
                                            <p:fltVal val="0"/>
                                          </p:val>
                                        </p:tav>
                                      </p:tavLst>
                                    </p:anim>
                                    <p:animEffect transition="in" filter="fade">
                                      <p:cBhvr>
                                        <p:cTn id="15" dur="500"/>
                                        <p:tgtEl>
                                          <p:spTgt spid="5"/>
                                        </p:tgtEl>
                                      </p:cBhvr>
                                    </p:animEffect>
                                  </p:childTnLst>
                                </p:cTn>
                              </p:par>
                            </p:childTnLst>
                          </p:cTn>
                        </p:par>
                        <p:par>
                          <p:cTn id="16" fill="hold">
                            <p:stCondLst>
                              <p:cond delay="500"/>
                            </p:stCondLst>
                            <p:childTnLst>
                              <p:par>
                                <p:cTn id="17" presetID="1" presetClass="entr" presetSubtype="0" fill="hold" grpId="0" nodeType="afterEffect">
                                  <p:stCondLst>
                                    <p:cond delay="0"/>
                                  </p:stCondLst>
                                  <p:iterate type="lt">
                                    <p:tmAbs val="100"/>
                                  </p:iterate>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 calcmode="lin" valueType="num">
                                      <p:cBhvr>
                                        <p:cTn id="25" dur="500" fill="hold"/>
                                        <p:tgtEl>
                                          <p:spTgt spid="7"/>
                                        </p:tgtEl>
                                        <p:attrNameLst>
                                          <p:attrName>style.rotation</p:attrName>
                                        </p:attrNameLst>
                                      </p:cBhvr>
                                      <p:tavLst>
                                        <p:tav tm="0">
                                          <p:val>
                                            <p:fltVal val="360"/>
                                          </p:val>
                                        </p:tav>
                                        <p:tav tm="100000">
                                          <p:val>
                                            <p:fltVal val="0"/>
                                          </p:val>
                                        </p:tav>
                                      </p:tavLst>
                                    </p:anim>
                                    <p:animEffect transition="in" filter="fade">
                                      <p:cBhvr>
                                        <p:cTn id="26" dur="500"/>
                                        <p:tgtEl>
                                          <p:spTgt spid="7"/>
                                        </p:tgtEl>
                                      </p:cBhvr>
                                    </p:animEffect>
                                  </p:childTnLst>
                                </p:cTn>
                              </p:par>
                            </p:childTnLst>
                          </p:cTn>
                        </p:par>
                        <p:par>
                          <p:cTn id="27" fill="hold">
                            <p:stCondLst>
                              <p:cond delay="500"/>
                            </p:stCondLst>
                            <p:childTnLst>
                              <p:par>
                                <p:cTn id="28" presetID="1" presetClass="entr" presetSubtype="0" fill="hold" grpId="0" nodeType="afterEffect">
                                  <p:stCondLst>
                                    <p:cond delay="0"/>
                                  </p:stCondLst>
                                  <p:iterate type="lt">
                                    <p:tmAbs val="100"/>
                                  </p:iterate>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 calcmode="lin" valueType="num">
                                      <p:cBhvr>
                                        <p:cTn id="36" dur="500" fill="hold"/>
                                        <p:tgtEl>
                                          <p:spTgt spid="9"/>
                                        </p:tgtEl>
                                        <p:attrNameLst>
                                          <p:attrName>style.rotation</p:attrName>
                                        </p:attrNameLst>
                                      </p:cBhvr>
                                      <p:tavLst>
                                        <p:tav tm="0">
                                          <p:val>
                                            <p:fltVal val="360"/>
                                          </p:val>
                                        </p:tav>
                                        <p:tav tm="100000">
                                          <p:val>
                                            <p:fltVal val="0"/>
                                          </p:val>
                                        </p:tav>
                                      </p:tavLst>
                                    </p:anim>
                                    <p:animEffect transition="in" filter="fade">
                                      <p:cBhvr>
                                        <p:cTn id="37" dur="500"/>
                                        <p:tgtEl>
                                          <p:spTgt spid="9"/>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 calcmode="lin" valueType="num">
                                      <p:cBhvr>
                                        <p:cTn id="47" dur="500" fill="hold"/>
                                        <p:tgtEl>
                                          <p:spTgt spid="18"/>
                                        </p:tgtEl>
                                        <p:attrNameLst>
                                          <p:attrName>style.rotation</p:attrName>
                                        </p:attrNameLst>
                                      </p:cBhvr>
                                      <p:tavLst>
                                        <p:tav tm="0">
                                          <p:val>
                                            <p:fltVal val="360"/>
                                          </p:val>
                                        </p:tav>
                                        <p:tav tm="100000">
                                          <p:val>
                                            <p:fltVal val="0"/>
                                          </p:val>
                                        </p:tav>
                                      </p:tavLst>
                                    </p:anim>
                                    <p:animEffect transition="in" filter="fade">
                                      <p:cBhvr>
                                        <p:cTn id="48" dur="500"/>
                                        <p:tgtEl>
                                          <p:spTgt spid="18"/>
                                        </p:tgtEl>
                                      </p:cBhvr>
                                    </p:animEffect>
                                  </p:childTnLst>
                                </p:cTn>
                              </p:par>
                            </p:childTnLst>
                          </p:cTn>
                        </p:par>
                        <p:par>
                          <p:cTn id="49" fill="hold">
                            <p:stCondLst>
                              <p:cond delay="500"/>
                            </p:stCondLst>
                            <p:childTnLst>
                              <p:par>
                                <p:cTn id="50" presetID="1" presetClass="entr" presetSubtype="0" fill="hold" grpId="0" nodeType="afterEffect">
                                  <p:stCondLst>
                                    <p:cond delay="0"/>
                                  </p:stCondLst>
                                  <p:iterate type="lt">
                                    <p:tmAbs val="100"/>
                                  </p:iterate>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 calcmode="lin" valueType="num">
                                      <p:cBhvr>
                                        <p:cTn id="56" dur="500" fill="hold"/>
                                        <p:tgtEl>
                                          <p:spTgt spid="22"/>
                                        </p:tgtEl>
                                        <p:attrNameLst>
                                          <p:attrName>ppt_w</p:attrName>
                                        </p:attrNameLst>
                                      </p:cBhvr>
                                      <p:tavLst>
                                        <p:tav tm="0">
                                          <p:val>
                                            <p:fltVal val="0"/>
                                          </p:val>
                                        </p:tav>
                                        <p:tav tm="100000">
                                          <p:val>
                                            <p:strVal val="#ppt_w"/>
                                          </p:val>
                                        </p:tav>
                                      </p:tavLst>
                                    </p:anim>
                                    <p:anim calcmode="lin" valueType="num">
                                      <p:cBhvr>
                                        <p:cTn id="57" dur="500" fill="hold"/>
                                        <p:tgtEl>
                                          <p:spTgt spid="22"/>
                                        </p:tgtEl>
                                        <p:attrNameLst>
                                          <p:attrName>ppt_h</p:attrName>
                                        </p:attrNameLst>
                                      </p:cBhvr>
                                      <p:tavLst>
                                        <p:tav tm="0">
                                          <p:val>
                                            <p:fltVal val="0"/>
                                          </p:val>
                                        </p:tav>
                                        <p:tav tm="100000">
                                          <p:val>
                                            <p:strVal val="#ppt_h"/>
                                          </p:val>
                                        </p:tav>
                                      </p:tavLst>
                                    </p:anim>
                                    <p:anim calcmode="lin" valueType="num">
                                      <p:cBhvr>
                                        <p:cTn id="58" dur="500" fill="hold"/>
                                        <p:tgtEl>
                                          <p:spTgt spid="22"/>
                                        </p:tgtEl>
                                        <p:attrNameLst>
                                          <p:attrName>style.rotation</p:attrName>
                                        </p:attrNameLst>
                                      </p:cBhvr>
                                      <p:tavLst>
                                        <p:tav tm="0">
                                          <p:val>
                                            <p:fltVal val="360"/>
                                          </p:val>
                                        </p:tav>
                                        <p:tav tm="100000">
                                          <p:val>
                                            <p:fltVal val="0"/>
                                          </p:val>
                                        </p:tav>
                                      </p:tavLst>
                                    </p:anim>
                                    <p:animEffect transition="in" filter="fade">
                                      <p:cBhvr>
                                        <p:cTn id="59" dur="500"/>
                                        <p:tgtEl>
                                          <p:spTgt spid="22"/>
                                        </p:tgtEl>
                                      </p:cBhvr>
                                    </p:animEffect>
                                  </p:childTnLst>
                                </p:cTn>
                              </p:par>
                            </p:childTnLst>
                          </p:cTn>
                        </p:par>
                        <p:par>
                          <p:cTn id="60" fill="hold">
                            <p:stCondLst>
                              <p:cond delay="500"/>
                            </p:stCondLst>
                            <p:childTnLst>
                              <p:par>
                                <p:cTn id="61" presetID="1" presetClass="entr" presetSubtype="0" fill="hold" grpId="0" nodeType="afterEffect">
                                  <p:stCondLst>
                                    <p:cond delay="0"/>
                                  </p:stCondLst>
                                  <p:iterate type="lt">
                                    <p:tmAbs val="100"/>
                                  </p:iterate>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P spid="16" grpId="0" animBg="1"/>
      <p:bldP spid="9" grpId="0" animBg="1"/>
      <p:bldP spid="10" grpId="0"/>
      <p:bldP spid="18" grpId="0" animBg="1"/>
      <p:bldP spid="19" grpId="0"/>
      <p:bldP spid="22" grpId="0" animBg="1"/>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5" name="矩形 4">
            <a:extLst>
              <a:ext uri="{FF2B5EF4-FFF2-40B4-BE49-F238E27FC236}">
                <a16:creationId xmlns:a16="http://schemas.microsoft.com/office/drawing/2014/main" id="{06E37D5E-2EE3-19B4-D9A5-7EF871EE63C5}"/>
              </a:ext>
            </a:extLst>
          </p:cNvPr>
          <p:cNvSpPr/>
          <p:nvPr/>
        </p:nvSpPr>
        <p:spPr>
          <a:xfrm>
            <a:off x="4731124" y="833830"/>
            <a:ext cx="1922929" cy="30256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递归查询</a:t>
            </a:r>
          </a:p>
        </p:txBody>
      </p:sp>
      <p:sp>
        <p:nvSpPr>
          <p:cNvPr id="6" name="矩形 5">
            <a:extLst>
              <a:ext uri="{FF2B5EF4-FFF2-40B4-BE49-F238E27FC236}">
                <a16:creationId xmlns:a16="http://schemas.microsoft.com/office/drawing/2014/main" id="{73BE6BA3-4430-8F6E-6DF4-D8AD8AC006B3}"/>
              </a:ext>
            </a:extLst>
          </p:cNvPr>
          <p:cNvSpPr/>
          <p:nvPr/>
        </p:nvSpPr>
        <p:spPr>
          <a:xfrm>
            <a:off x="7427258" y="833830"/>
            <a:ext cx="1922929" cy="302560"/>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grpSp>
        <p:nvGrpSpPr>
          <p:cNvPr id="7" name="组合 6">
            <a:extLst>
              <a:ext uri="{FF2B5EF4-FFF2-40B4-BE49-F238E27FC236}">
                <a16:creationId xmlns:a16="http://schemas.microsoft.com/office/drawing/2014/main" id="{9E9D74B0-712F-C6AB-3B73-F080611C2978}"/>
              </a:ext>
            </a:extLst>
          </p:cNvPr>
          <p:cNvGrpSpPr/>
          <p:nvPr/>
        </p:nvGrpSpPr>
        <p:grpSpPr>
          <a:xfrm>
            <a:off x="1614444" y="1632361"/>
            <a:ext cx="8973121" cy="4282377"/>
            <a:chOff x="1392564" y="1955095"/>
            <a:chExt cx="8973121" cy="4282377"/>
          </a:xfrm>
        </p:grpSpPr>
        <p:pic>
          <p:nvPicPr>
            <p:cNvPr id="8" name="图形 7">
              <a:extLst>
                <a:ext uri="{FF2B5EF4-FFF2-40B4-BE49-F238E27FC236}">
                  <a16:creationId xmlns:a16="http://schemas.microsoft.com/office/drawing/2014/main" id="{6012359C-D877-FBE7-ADB8-E6C5053BFE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1955095"/>
              <a:ext cx="452174" cy="593479"/>
            </a:xfrm>
            <a:prstGeom prst="rect">
              <a:avLst/>
            </a:prstGeom>
          </p:spPr>
        </p:pic>
        <p:sp>
          <p:nvSpPr>
            <p:cNvPr id="9" name="文本框 8">
              <a:extLst>
                <a:ext uri="{FF2B5EF4-FFF2-40B4-BE49-F238E27FC236}">
                  <a16:creationId xmlns:a16="http://schemas.microsoft.com/office/drawing/2014/main" id="{B409D7CB-7B9E-F736-496B-827EAD3FAB70}"/>
                </a:ext>
              </a:extLst>
            </p:cNvPr>
            <p:cNvSpPr txBox="1"/>
            <p:nvPr/>
          </p:nvSpPr>
          <p:spPr>
            <a:xfrm>
              <a:off x="8265367" y="2011100"/>
              <a:ext cx="2075768"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根</a:t>
              </a:r>
              <a:r>
                <a:rPr lang="zh-CN" altLang="en-US" b="1" dirty="0">
                  <a:latin typeface="+mn-ea"/>
                </a:rPr>
                <a:t>域名服务器</a:t>
              </a:r>
              <a:endParaRPr lang="en-US" altLang="zh-CN" b="1" dirty="0">
                <a:latin typeface="+mn-ea"/>
              </a:endParaRPr>
            </a:p>
          </p:txBody>
        </p:sp>
        <p:pic>
          <p:nvPicPr>
            <p:cNvPr id="10" name="图形 9">
              <a:extLst>
                <a:ext uri="{FF2B5EF4-FFF2-40B4-BE49-F238E27FC236}">
                  <a16:creationId xmlns:a16="http://schemas.microsoft.com/office/drawing/2014/main" id="{5A8B4211-AF44-2C4E-3CBB-FE9FDDFDE6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3799544"/>
              <a:ext cx="452174" cy="593479"/>
            </a:xfrm>
            <a:prstGeom prst="rect">
              <a:avLst/>
            </a:prstGeom>
          </p:spPr>
        </p:pic>
        <p:sp>
          <p:nvSpPr>
            <p:cNvPr id="11" name="文本框 10">
              <a:extLst>
                <a:ext uri="{FF2B5EF4-FFF2-40B4-BE49-F238E27FC236}">
                  <a16:creationId xmlns:a16="http://schemas.microsoft.com/office/drawing/2014/main" id="{D085862C-1AE1-138A-DA94-FE3AD1174F4A}"/>
                </a:ext>
              </a:extLst>
            </p:cNvPr>
            <p:cNvSpPr txBox="1"/>
            <p:nvPr/>
          </p:nvSpPr>
          <p:spPr>
            <a:xfrm>
              <a:off x="8289917" y="3746692"/>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顶级</a:t>
              </a:r>
              <a:r>
                <a:rPr lang="zh-CN" altLang="en-US" b="1" dirty="0">
                  <a:latin typeface="+mn-ea"/>
                </a:rPr>
                <a:t>域名服务器</a:t>
              </a:r>
              <a:endParaRPr lang="en-US" altLang="zh-CN" b="1" dirty="0">
                <a:latin typeface="+mn-ea"/>
              </a:endParaRPr>
            </a:p>
            <a:p>
              <a:pPr algn="ctr"/>
              <a:r>
                <a:rPr lang="en-US" altLang="zh-CN" b="1" dirty="0">
                  <a:latin typeface="+mn-ea"/>
                </a:rPr>
                <a:t>dns.com</a:t>
              </a:r>
              <a:endParaRPr lang="zh-CN" altLang="en-US" b="1" dirty="0">
                <a:latin typeface="+mn-ea"/>
              </a:endParaRPr>
            </a:p>
          </p:txBody>
        </p:sp>
        <p:pic>
          <p:nvPicPr>
            <p:cNvPr id="12" name="图形 11">
              <a:extLst>
                <a:ext uri="{FF2B5EF4-FFF2-40B4-BE49-F238E27FC236}">
                  <a16:creationId xmlns:a16="http://schemas.microsoft.com/office/drawing/2014/main" id="{23503BB0-DE02-5954-6D13-19485D241E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5643993"/>
              <a:ext cx="452174" cy="593479"/>
            </a:xfrm>
            <a:prstGeom prst="rect">
              <a:avLst/>
            </a:prstGeom>
          </p:spPr>
        </p:pic>
        <p:sp>
          <p:nvSpPr>
            <p:cNvPr id="13" name="文本框 12">
              <a:extLst>
                <a:ext uri="{FF2B5EF4-FFF2-40B4-BE49-F238E27FC236}">
                  <a16:creationId xmlns:a16="http://schemas.microsoft.com/office/drawing/2014/main" id="{CE78D482-B805-4C2E-0445-1617F6CBBC91}"/>
                </a:ext>
              </a:extLst>
            </p:cNvPr>
            <p:cNvSpPr txBox="1"/>
            <p:nvPr/>
          </p:nvSpPr>
          <p:spPr>
            <a:xfrm>
              <a:off x="8289917" y="5591141"/>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权限</a:t>
              </a:r>
              <a:r>
                <a:rPr lang="zh-CN" altLang="en-US" b="1" dirty="0">
                  <a:latin typeface="+mn-ea"/>
                </a:rPr>
                <a:t>域名服务器</a:t>
              </a:r>
              <a:endParaRPr lang="en-US" altLang="zh-CN" b="1" dirty="0">
                <a:latin typeface="+mn-ea"/>
              </a:endParaRPr>
            </a:p>
            <a:p>
              <a:pPr algn="ctr"/>
              <a:r>
                <a:rPr lang="en-US" altLang="zh-CN" b="1" dirty="0">
                  <a:latin typeface="+mn-ea"/>
                </a:rPr>
                <a:t>dns.abc.com</a:t>
              </a:r>
              <a:endParaRPr lang="zh-CN" altLang="en-US" b="1" dirty="0">
                <a:latin typeface="+mn-ea"/>
              </a:endParaRPr>
            </a:p>
          </p:txBody>
        </p:sp>
        <p:pic>
          <p:nvPicPr>
            <p:cNvPr id="14" name="图形 13">
              <a:extLst>
                <a:ext uri="{FF2B5EF4-FFF2-40B4-BE49-F238E27FC236}">
                  <a16:creationId xmlns:a16="http://schemas.microsoft.com/office/drawing/2014/main" id="{060B2C5F-3236-1B1B-1C0E-9FFC293612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40853" y="3799544"/>
              <a:ext cx="452174" cy="593479"/>
            </a:xfrm>
            <a:prstGeom prst="rect">
              <a:avLst/>
            </a:prstGeom>
          </p:spPr>
        </p:pic>
        <p:sp>
          <p:nvSpPr>
            <p:cNvPr id="15" name="文本框 14">
              <a:extLst>
                <a:ext uri="{FF2B5EF4-FFF2-40B4-BE49-F238E27FC236}">
                  <a16:creationId xmlns:a16="http://schemas.microsoft.com/office/drawing/2014/main" id="{87F92A7E-89FE-E015-E9DD-114DBE58AA05}"/>
                </a:ext>
              </a:extLst>
            </p:cNvPr>
            <p:cNvSpPr txBox="1"/>
            <p:nvPr/>
          </p:nvSpPr>
          <p:spPr>
            <a:xfrm>
              <a:off x="4670638" y="4492657"/>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本地</a:t>
              </a:r>
              <a:r>
                <a:rPr lang="zh-CN" altLang="en-US" b="1" dirty="0">
                  <a:latin typeface="+mn-ea"/>
                </a:rPr>
                <a:t>域名服务器</a:t>
              </a:r>
              <a:endParaRPr lang="en-US" altLang="zh-CN" b="1" dirty="0">
                <a:latin typeface="+mn-ea"/>
              </a:endParaRPr>
            </a:p>
            <a:p>
              <a:pPr algn="ctr"/>
              <a:r>
                <a:rPr lang="en-US" altLang="zh-CN" b="1" dirty="0">
                  <a:latin typeface="+mn-ea"/>
                </a:rPr>
                <a:t>dns.xyz.com</a:t>
              </a:r>
              <a:endParaRPr lang="zh-CN" altLang="en-US" b="1" dirty="0">
                <a:latin typeface="+mn-ea"/>
              </a:endParaRPr>
            </a:p>
          </p:txBody>
        </p:sp>
        <p:pic>
          <p:nvPicPr>
            <p:cNvPr id="16" name="图形 15">
              <a:extLst>
                <a:ext uri="{FF2B5EF4-FFF2-40B4-BE49-F238E27FC236}">
                  <a16:creationId xmlns:a16="http://schemas.microsoft.com/office/drawing/2014/main" id="{83826A98-FC95-4889-B2D3-22138F098F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9872" y="3769972"/>
              <a:ext cx="690048" cy="667424"/>
            </a:xfrm>
            <a:prstGeom prst="rect">
              <a:avLst/>
            </a:prstGeom>
          </p:spPr>
        </p:pic>
        <p:sp>
          <p:nvSpPr>
            <p:cNvPr id="17" name="文本框 16">
              <a:extLst>
                <a:ext uri="{FF2B5EF4-FFF2-40B4-BE49-F238E27FC236}">
                  <a16:creationId xmlns:a16="http://schemas.microsoft.com/office/drawing/2014/main" id="{979C5E30-8003-0F8D-9143-72D504CBC8E6}"/>
                </a:ext>
              </a:extLst>
            </p:cNvPr>
            <p:cNvSpPr txBox="1"/>
            <p:nvPr/>
          </p:nvSpPr>
          <p:spPr>
            <a:xfrm>
              <a:off x="1392564" y="4492657"/>
              <a:ext cx="1640068" cy="646331"/>
            </a:xfrm>
            <a:prstGeom prst="rect">
              <a:avLst/>
            </a:prstGeom>
            <a:noFill/>
          </p:spPr>
          <p:txBody>
            <a:bodyPr wrap="square" rtlCol="0">
              <a:spAutoFit/>
            </a:bodyPr>
            <a:lstStyle/>
            <a:p>
              <a:pPr algn="ctr"/>
              <a:r>
                <a:rPr lang="zh-CN" altLang="en-US" b="1" dirty="0">
                  <a:latin typeface="+mn-ea"/>
                </a:rPr>
                <a:t>主机</a:t>
              </a:r>
              <a:endParaRPr lang="en-US" altLang="zh-CN" b="1" dirty="0">
                <a:latin typeface="+mn-ea"/>
              </a:endParaRPr>
            </a:p>
            <a:p>
              <a:pPr algn="ctr"/>
              <a:r>
                <a:rPr lang="en-US" altLang="zh-CN" b="1" dirty="0">
                  <a:latin typeface="+mn-ea"/>
                </a:rPr>
                <a:t>m.xyz.com</a:t>
              </a:r>
              <a:endParaRPr lang="zh-CN" altLang="en-US" b="1" dirty="0">
                <a:latin typeface="+mn-ea"/>
              </a:endParaRPr>
            </a:p>
          </p:txBody>
        </p:sp>
      </p:grpSp>
      <p:grpSp>
        <p:nvGrpSpPr>
          <p:cNvPr id="18" name="组合 17">
            <a:extLst>
              <a:ext uri="{FF2B5EF4-FFF2-40B4-BE49-F238E27FC236}">
                <a16:creationId xmlns:a16="http://schemas.microsoft.com/office/drawing/2014/main" id="{BE2B9B57-D6CB-DC14-0AF7-DEC91F100296}"/>
              </a:ext>
            </a:extLst>
          </p:cNvPr>
          <p:cNvGrpSpPr/>
          <p:nvPr/>
        </p:nvGrpSpPr>
        <p:grpSpPr>
          <a:xfrm>
            <a:off x="2993255" y="2739376"/>
            <a:ext cx="2360205" cy="1007747"/>
            <a:chOff x="2771375" y="3062110"/>
            <a:chExt cx="2360205" cy="1007747"/>
          </a:xfrm>
        </p:grpSpPr>
        <p:cxnSp>
          <p:nvCxnSpPr>
            <p:cNvPr id="19" name="直接箭头连接符 18">
              <a:extLst>
                <a:ext uri="{FF2B5EF4-FFF2-40B4-BE49-F238E27FC236}">
                  <a16:creationId xmlns:a16="http://schemas.microsoft.com/office/drawing/2014/main" id="{74EF5266-89BA-99E8-42C2-12C2B3721907}"/>
                </a:ext>
              </a:extLst>
            </p:cNvPr>
            <p:cNvCxnSpPr>
              <a:cxnSpLocks/>
            </p:cNvCxnSpPr>
            <p:nvPr/>
          </p:nvCxnSpPr>
          <p:spPr>
            <a:xfrm>
              <a:off x="2771375" y="4069857"/>
              <a:ext cx="23602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49E4CBE8-0A2D-5F70-E78E-1BAEC36681DC}"/>
                </a:ext>
              </a:extLst>
            </p:cNvPr>
            <p:cNvSpPr txBox="1"/>
            <p:nvPr/>
          </p:nvSpPr>
          <p:spPr>
            <a:xfrm>
              <a:off x="3791960" y="3625133"/>
              <a:ext cx="452169" cy="369332"/>
            </a:xfrm>
            <a:prstGeom prst="rect">
              <a:avLst/>
            </a:prstGeom>
            <a:noFill/>
          </p:spPr>
          <p:txBody>
            <a:bodyPr wrap="square" rtlCol="0">
              <a:spAutoFit/>
            </a:bodyPr>
            <a:lstStyle/>
            <a:p>
              <a:pPr algn="ctr"/>
              <a:r>
                <a:rPr lang="zh-CN" altLang="en-US" b="1" dirty="0">
                  <a:latin typeface="+mn-ea"/>
                </a:rPr>
                <a:t>❶</a:t>
              </a:r>
            </a:p>
          </p:txBody>
        </p:sp>
        <p:sp>
          <p:nvSpPr>
            <p:cNvPr id="21" name="文本框 20">
              <a:extLst>
                <a:ext uri="{FF2B5EF4-FFF2-40B4-BE49-F238E27FC236}">
                  <a16:creationId xmlns:a16="http://schemas.microsoft.com/office/drawing/2014/main" id="{F86925F3-078B-C9EF-B084-B4991D11D866}"/>
                </a:ext>
              </a:extLst>
            </p:cNvPr>
            <p:cNvSpPr txBox="1"/>
            <p:nvPr/>
          </p:nvSpPr>
          <p:spPr>
            <a:xfrm>
              <a:off x="3673020" y="3062110"/>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22" name="组合 21">
            <a:extLst>
              <a:ext uri="{FF2B5EF4-FFF2-40B4-BE49-F238E27FC236}">
                <a16:creationId xmlns:a16="http://schemas.microsoft.com/office/drawing/2014/main" id="{C53F5082-444F-0335-FB2A-F66DFBC006CB}"/>
              </a:ext>
            </a:extLst>
          </p:cNvPr>
          <p:cNvGrpSpPr/>
          <p:nvPr/>
        </p:nvGrpSpPr>
        <p:grpSpPr>
          <a:xfrm>
            <a:off x="6014907" y="1807021"/>
            <a:ext cx="1953120" cy="1652537"/>
            <a:chOff x="5793027" y="2129755"/>
            <a:chExt cx="1953120" cy="1652537"/>
          </a:xfrm>
        </p:grpSpPr>
        <p:cxnSp>
          <p:nvCxnSpPr>
            <p:cNvPr id="23" name="直接箭头连接符 22">
              <a:extLst>
                <a:ext uri="{FF2B5EF4-FFF2-40B4-BE49-F238E27FC236}">
                  <a16:creationId xmlns:a16="http://schemas.microsoft.com/office/drawing/2014/main" id="{0D0872D3-706E-3AE3-D2B5-5363F12D4E7A}"/>
                </a:ext>
              </a:extLst>
            </p:cNvPr>
            <p:cNvCxnSpPr>
              <a:cxnSpLocks/>
            </p:cNvCxnSpPr>
            <p:nvPr/>
          </p:nvCxnSpPr>
          <p:spPr>
            <a:xfrm flipV="1">
              <a:off x="5793027" y="2363908"/>
              <a:ext cx="1953120" cy="14183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F92840B-6156-B2EE-2EF2-43CFAF5BDA22}"/>
                </a:ext>
              </a:extLst>
            </p:cNvPr>
            <p:cNvSpPr txBox="1"/>
            <p:nvPr/>
          </p:nvSpPr>
          <p:spPr>
            <a:xfrm>
              <a:off x="6232165" y="2692778"/>
              <a:ext cx="452169" cy="369332"/>
            </a:xfrm>
            <a:prstGeom prst="rect">
              <a:avLst/>
            </a:prstGeom>
            <a:noFill/>
          </p:spPr>
          <p:txBody>
            <a:bodyPr wrap="square" rtlCol="0">
              <a:spAutoFit/>
            </a:bodyPr>
            <a:lstStyle/>
            <a:p>
              <a:pPr algn="ctr"/>
              <a:r>
                <a:rPr lang="zh-CN" altLang="en-US" b="1" dirty="0">
                  <a:latin typeface="+mn-ea"/>
                </a:rPr>
                <a:t>❷</a:t>
              </a:r>
            </a:p>
          </p:txBody>
        </p:sp>
        <p:sp>
          <p:nvSpPr>
            <p:cNvPr id="25" name="文本框 24">
              <a:extLst>
                <a:ext uri="{FF2B5EF4-FFF2-40B4-BE49-F238E27FC236}">
                  <a16:creationId xmlns:a16="http://schemas.microsoft.com/office/drawing/2014/main" id="{3A91A20C-DE05-6D10-1614-DE40257A0968}"/>
                </a:ext>
              </a:extLst>
            </p:cNvPr>
            <p:cNvSpPr txBox="1"/>
            <p:nvPr/>
          </p:nvSpPr>
          <p:spPr>
            <a:xfrm>
              <a:off x="6113225" y="2129755"/>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26" name="组合 25">
            <a:extLst>
              <a:ext uri="{FF2B5EF4-FFF2-40B4-BE49-F238E27FC236}">
                <a16:creationId xmlns:a16="http://schemas.microsoft.com/office/drawing/2014/main" id="{B20CF6E1-D16F-DC7C-B2AB-7E9E057C2CAB}"/>
              </a:ext>
            </a:extLst>
          </p:cNvPr>
          <p:cNvGrpSpPr/>
          <p:nvPr/>
        </p:nvGrpSpPr>
        <p:grpSpPr>
          <a:xfrm>
            <a:off x="8443704" y="2225840"/>
            <a:ext cx="1037943" cy="1194865"/>
            <a:chOff x="8221824" y="2548574"/>
            <a:chExt cx="1037943" cy="1194865"/>
          </a:xfrm>
        </p:grpSpPr>
        <p:cxnSp>
          <p:nvCxnSpPr>
            <p:cNvPr id="27" name="直接箭头连接符 26">
              <a:extLst>
                <a:ext uri="{FF2B5EF4-FFF2-40B4-BE49-F238E27FC236}">
                  <a16:creationId xmlns:a16="http://schemas.microsoft.com/office/drawing/2014/main" id="{878BC9CF-9CA1-EEA5-F13A-781444505C6C}"/>
                </a:ext>
              </a:extLst>
            </p:cNvPr>
            <p:cNvCxnSpPr>
              <a:cxnSpLocks/>
            </p:cNvCxnSpPr>
            <p:nvPr/>
          </p:nvCxnSpPr>
          <p:spPr>
            <a:xfrm>
              <a:off x="8221824" y="2548574"/>
              <a:ext cx="0" cy="119486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7744CBD-EEE6-2D68-497C-C2370D7F7EB7}"/>
                </a:ext>
              </a:extLst>
            </p:cNvPr>
            <p:cNvSpPr txBox="1"/>
            <p:nvPr/>
          </p:nvSpPr>
          <p:spPr>
            <a:xfrm>
              <a:off x="8289917" y="2888433"/>
              <a:ext cx="452169" cy="369332"/>
            </a:xfrm>
            <a:prstGeom prst="rect">
              <a:avLst/>
            </a:prstGeom>
            <a:noFill/>
          </p:spPr>
          <p:txBody>
            <a:bodyPr wrap="square" rtlCol="0">
              <a:spAutoFit/>
            </a:bodyPr>
            <a:lstStyle/>
            <a:p>
              <a:pPr algn="ctr"/>
              <a:r>
                <a:rPr lang="zh-CN" altLang="en-US" b="1" dirty="0">
                  <a:latin typeface="+mn-ea"/>
                </a:rPr>
                <a:t>❸</a:t>
              </a:r>
            </a:p>
          </p:txBody>
        </p:sp>
        <p:sp>
          <p:nvSpPr>
            <p:cNvPr id="29" name="文本框 28">
              <a:extLst>
                <a:ext uri="{FF2B5EF4-FFF2-40B4-BE49-F238E27FC236}">
                  <a16:creationId xmlns:a16="http://schemas.microsoft.com/office/drawing/2014/main" id="{FDDEA54F-AF91-5D03-7721-70B8332EF837}"/>
                </a:ext>
              </a:extLst>
            </p:cNvPr>
            <p:cNvSpPr txBox="1"/>
            <p:nvPr/>
          </p:nvSpPr>
          <p:spPr>
            <a:xfrm>
              <a:off x="8569719" y="2749934"/>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30" name="组合 29">
            <a:extLst>
              <a:ext uri="{FF2B5EF4-FFF2-40B4-BE49-F238E27FC236}">
                <a16:creationId xmlns:a16="http://schemas.microsoft.com/office/drawing/2014/main" id="{8EBDF253-2523-3D94-124D-242764B1A966}"/>
              </a:ext>
            </a:extLst>
          </p:cNvPr>
          <p:cNvGrpSpPr/>
          <p:nvPr/>
        </p:nvGrpSpPr>
        <p:grpSpPr>
          <a:xfrm>
            <a:off x="8443704" y="4099633"/>
            <a:ext cx="1037943" cy="1194865"/>
            <a:chOff x="8221824" y="4422367"/>
            <a:chExt cx="1037943" cy="1194865"/>
          </a:xfrm>
        </p:grpSpPr>
        <p:cxnSp>
          <p:nvCxnSpPr>
            <p:cNvPr id="31" name="直接箭头连接符 30">
              <a:extLst>
                <a:ext uri="{FF2B5EF4-FFF2-40B4-BE49-F238E27FC236}">
                  <a16:creationId xmlns:a16="http://schemas.microsoft.com/office/drawing/2014/main" id="{6A64742C-ABA9-7634-CEE4-4082DFC253FF}"/>
                </a:ext>
              </a:extLst>
            </p:cNvPr>
            <p:cNvCxnSpPr>
              <a:cxnSpLocks/>
            </p:cNvCxnSpPr>
            <p:nvPr/>
          </p:nvCxnSpPr>
          <p:spPr>
            <a:xfrm>
              <a:off x="8221824" y="4422367"/>
              <a:ext cx="0" cy="1194865"/>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ABF890CE-3BE9-D8A8-D44D-23F6483768FF}"/>
                </a:ext>
              </a:extLst>
            </p:cNvPr>
            <p:cNvSpPr txBox="1"/>
            <p:nvPr/>
          </p:nvSpPr>
          <p:spPr>
            <a:xfrm>
              <a:off x="8289917" y="4762226"/>
              <a:ext cx="452169" cy="369332"/>
            </a:xfrm>
            <a:prstGeom prst="rect">
              <a:avLst/>
            </a:prstGeom>
            <a:noFill/>
          </p:spPr>
          <p:txBody>
            <a:bodyPr wrap="square" rtlCol="0">
              <a:spAutoFit/>
            </a:bodyPr>
            <a:lstStyle/>
            <a:p>
              <a:pPr algn="ctr"/>
              <a:r>
                <a:rPr lang="zh-CN" altLang="en-US" b="1" dirty="0">
                  <a:latin typeface="+mn-ea"/>
                </a:rPr>
                <a:t>❹</a:t>
              </a:r>
            </a:p>
          </p:txBody>
        </p:sp>
        <p:sp>
          <p:nvSpPr>
            <p:cNvPr id="33" name="文本框 32">
              <a:extLst>
                <a:ext uri="{FF2B5EF4-FFF2-40B4-BE49-F238E27FC236}">
                  <a16:creationId xmlns:a16="http://schemas.microsoft.com/office/drawing/2014/main" id="{6EFF0FD2-AFAD-E413-9A31-F27174EF4D1F}"/>
                </a:ext>
              </a:extLst>
            </p:cNvPr>
            <p:cNvSpPr txBox="1"/>
            <p:nvPr/>
          </p:nvSpPr>
          <p:spPr>
            <a:xfrm>
              <a:off x="8569719" y="4623727"/>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34" name="组合 33">
            <a:extLst>
              <a:ext uri="{FF2B5EF4-FFF2-40B4-BE49-F238E27FC236}">
                <a16:creationId xmlns:a16="http://schemas.microsoft.com/office/drawing/2014/main" id="{AA70D45F-FC70-09DB-1C76-8E05A64363E4}"/>
              </a:ext>
            </a:extLst>
          </p:cNvPr>
          <p:cNvGrpSpPr/>
          <p:nvPr/>
        </p:nvGrpSpPr>
        <p:grpSpPr>
          <a:xfrm>
            <a:off x="7731405" y="4099633"/>
            <a:ext cx="523836" cy="1195200"/>
            <a:chOff x="7509525" y="4422367"/>
            <a:chExt cx="523836" cy="1195200"/>
          </a:xfrm>
        </p:grpSpPr>
        <p:cxnSp>
          <p:nvCxnSpPr>
            <p:cNvPr id="35" name="直接箭头连接符 34">
              <a:extLst>
                <a:ext uri="{FF2B5EF4-FFF2-40B4-BE49-F238E27FC236}">
                  <a16:creationId xmlns:a16="http://schemas.microsoft.com/office/drawing/2014/main" id="{958C4ED4-110A-D5C6-3631-7B46A3107BB7}"/>
                </a:ext>
              </a:extLst>
            </p:cNvPr>
            <p:cNvCxnSpPr>
              <a:cxnSpLocks/>
            </p:cNvCxnSpPr>
            <p:nvPr/>
          </p:nvCxnSpPr>
          <p:spPr>
            <a:xfrm flipV="1">
              <a:off x="8033361" y="4422367"/>
              <a:ext cx="0" cy="11952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0FCFC7E1-190F-7CFE-2136-5B66FCBDCD2A}"/>
                </a:ext>
              </a:extLst>
            </p:cNvPr>
            <p:cNvSpPr txBox="1"/>
            <p:nvPr/>
          </p:nvSpPr>
          <p:spPr>
            <a:xfrm>
              <a:off x="7509525" y="4762226"/>
              <a:ext cx="452169" cy="369332"/>
            </a:xfrm>
            <a:prstGeom prst="rect">
              <a:avLst/>
            </a:prstGeom>
            <a:noFill/>
          </p:spPr>
          <p:txBody>
            <a:bodyPr wrap="square" rtlCol="0">
              <a:spAutoFit/>
            </a:bodyPr>
            <a:lstStyle/>
            <a:p>
              <a:pPr algn="ctr"/>
              <a:r>
                <a:rPr lang="zh-CN" altLang="en-US" b="1" dirty="0">
                  <a:latin typeface="+mn-ea"/>
                </a:rPr>
                <a:t>❺</a:t>
              </a:r>
            </a:p>
          </p:txBody>
        </p:sp>
      </p:grpSp>
      <p:grpSp>
        <p:nvGrpSpPr>
          <p:cNvPr id="37" name="组合 36">
            <a:extLst>
              <a:ext uri="{FF2B5EF4-FFF2-40B4-BE49-F238E27FC236}">
                <a16:creationId xmlns:a16="http://schemas.microsoft.com/office/drawing/2014/main" id="{57304F57-B276-8F1E-0564-233779809F51}"/>
              </a:ext>
            </a:extLst>
          </p:cNvPr>
          <p:cNvGrpSpPr/>
          <p:nvPr/>
        </p:nvGrpSpPr>
        <p:grpSpPr>
          <a:xfrm>
            <a:off x="7774698" y="2225840"/>
            <a:ext cx="480543" cy="1195200"/>
            <a:chOff x="7552818" y="2548574"/>
            <a:chExt cx="480543" cy="1195200"/>
          </a:xfrm>
        </p:grpSpPr>
        <p:cxnSp>
          <p:nvCxnSpPr>
            <p:cNvPr id="38" name="直接箭头连接符 37">
              <a:extLst>
                <a:ext uri="{FF2B5EF4-FFF2-40B4-BE49-F238E27FC236}">
                  <a16:creationId xmlns:a16="http://schemas.microsoft.com/office/drawing/2014/main" id="{4A76E017-D9DE-B4D9-C3B1-F17684C1E664}"/>
                </a:ext>
              </a:extLst>
            </p:cNvPr>
            <p:cNvCxnSpPr>
              <a:cxnSpLocks/>
            </p:cNvCxnSpPr>
            <p:nvPr/>
          </p:nvCxnSpPr>
          <p:spPr>
            <a:xfrm flipV="1">
              <a:off x="8033361" y="2548574"/>
              <a:ext cx="0" cy="119520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CF829AE7-45AF-BEE4-5727-80A2DD0D6B60}"/>
                </a:ext>
              </a:extLst>
            </p:cNvPr>
            <p:cNvSpPr txBox="1"/>
            <p:nvPr/>
          </p:nvSpPr>
          <p:spPr>
            <a:xfrm>
              <a:off x="7552818" y="2888433"/>
              <a:ext cx="452169" cy="369332"/>
            </a:xfrm>
            <a:prstGeom prst="rect">
              <a:avLst/>
            </a:prstGeom>
            <a:noFill/>
          </p:spPr>
          <p:txBody>
            <a:bodyPr wrap="square" rtlCol="0">
              <a:spAutoFit/>
            </a:bodyPr>
            <a:lstStyle/>
            <a:p>
              <a:pPr algn="ctr"/>
              <a:r>
                <a:rPr lang="zh-CN" altLang="en-US" b="1" dirty="0">
                  <a:latin typeface="+mn-ea"/>
                </a:rPr>
                <a:t>❻</a:t>
              </a:r>
            </a:p>
          </p:txBody>
        </p:sp>
      </p:grpSp>
      <p:grpSp>
        <p:nvGrpSpPr>
          <p:cNvPr id="40" name="组合 39">
            <a:extLst>
              <a:ext uri="{FF2B5EF4-FFF2-40B4-BE49-F238E27FC236}">
                <a16:creationId xmlns:a16="http://schemas.microsoft.com/office/drawing/2014/main" id="{700816B2-AE26-C476-CF26-CEB887A03482}"/>
              </a:ext>
            </a:extLst>
          </p:cNvPr>
          <p:cNvGrpSpPr/>
          <p:nvPr/>
        </p:nvGrpSpPr>
        <p:grpSpPr>
          <a:xfrm>
            <a:off x="6078989" y="2225840"/>
            <a:ext cx="1993709" cy="1445891"/>
            <a:chOff x="5857109" y="2548574"/>
            <a:chExt cx="1993709" cy="1445891"/>
          </a:xfrm>
        </p:grpSpPr>
        <p:cxnSp>
          <p:nvCxnSpPr>
            <p:cNvPr id="41" name="直接箭头连接符 40">
              <a:extLst>
                <a:ext uri="{FF2B5EF4-FFF2-40B4-BE49-F238E27FC236}">
                  <a16:creationId xmlns:a16="http://schemas.microsoft.com/office/drawing/2014/main" id="{73722693-8F2D-54EB-5BE1-FAFF8DDCDE27}"/>
                </a:ext>
              </a:extLst>
            </p:cNvPr>
            <p:cNvCxnSpPr>
              <a:cxnSpLocks/>
            </p:cNvCxnSpPr>
            <p:nvPr/>
          </p:nvCxnSpPr>
          <p:spPr>
            <a:xfrm flipH="1">
              <a:off x="5857109" y="2548574"/>
              <a:ext cx="1993709" cy="1445891"/>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51703D06-2078-EBD9-AF11-E522C859654F}"/>
                </a:ext>
              </a:extLst>
            </p:cNvPr>
            <p:cNvSpPr txBox="1"/>
            <p:nvPr/>
          </p:nvSpPr>
          <p:spPr>
            <a:xfrm>
              <a:off x="6684334" y="3334381"/>
              <a:ext cx="452169" cy="369332"/>
            </a:xfrm>
            <a:prstGeom prst="rect">
              <a:avLst/>
            </a:prstGeom>
            <a:noFill/>
          </p:spPr>
          <p:txBody>
            <a:bodyPr wrap="square" rtlCol="0">
              <a:spAutoFit/>
            </a:bodyPr>
            <a:lstStyle/>
            <a:p>
              <a:pPr algn="ctr"/>
              <a:r>
                <a:rPr lang="zh-CN" altLang="en-US" b="1" dirty="0">
                  <a:latin typeface="+mn-ea"/>
                </a:rPr>
                <a:t>❼</a:t>
              </a:r>
            </a:p>
          </p:txBody>
        </p:sp>
      </p:grpSp>
      <p:grpSp>
        <p:nvGrpSpPr>
          <p:cNvPr id="43" name="组合 42">
            <a:extLst>
              <a:ext uri="{FF2B5EF4-FFF2-40B4-BE49-F238E27FC236}">
                <a16:creationId xmlns:a16="http://schemas.microsoft.com/office/drawing/2014/main" id="{C7F25230-5D39-AB50-0522-E8592C3532C9}"/>
              </a:ext>
            </a:extLst>
          </p:cNvPr>
          <p:cNvGrpSpPr/>
          <p:nvPr/>
        </p:nvGrpSpPr>
        <p:grpSpPr>
          <a:xfrm>
            <a:off x="2993255" y="3951376"/>
            <a:ext cx="2360230" cy="403213"/>
            <a:chOff x="2771375" y="4274110"/>
            <a:chExt cx="2360230" cy="403213"/>
          </a:xfrm>
        </p:grpSpPr>
        <p:cxnSp>
          <p:nvCxnSpPr>
            <p:cNvPr id="44" name="直接箭头连接符 43">
              <a:extLst>
                <a:ext uri="{FF2B5EF4-FFF2-40B4-BE49-F238E27FC236}">
                  <a16:creationId xmlns:a16="http://schemas.microsoft.com/office/drawing/2014/main" id="{830D2B39-830C-4425-DB59-3E4811E63730}"/>
                </a:ext>
              </a:extLst>
            </p:cNvPr>
            <p:cNvCxnSpPr>
              <a:cxnSpLocks/>
            </p:cNvCxnSpPr>
            <p:nvPr/>
          </p:nvCxnSpPr>
          <p:spPr>
            <a:xfrm flipH="1">
              <a:off x="2771375" y="4274110"/>
              <a:ext cx="236023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15C92BAB-67B7-5DBE-75DE-874BBDEFB2B8}"/>
                </a:ext>
              </a:extLst>
            </p:cNvPr>
            <p:cNvSpPr txBox="1"/>
            <p:nvPr/>
          </p:nvSpPr>
          <p:spPr>
            <a:xfrm>
              <a:off x="3765657" y="4307991"/>
              <a:ext cx="516836" cy="369332"/>
            </a:xfrm>
            <a:prstGeom prst="rect">
              <a:avLst/>
            </a:prstGeom>
            <a:noFill/>
          </p:spPr>
          <p:txBody>
            <a:bodyPr wrap="square">
              <a:spAutoFit/>
            </a:bodyPr>
            <a:lstStyle/>
            <a:p>
              <a:pPr algn="ctr"/>
              <a:r>
                <a:rPr lang="zh-CN" altLang="en-US" dirty="0">
                  <a:latin typeface="+mn-ea"/>
                </a:rPr>
                <a:t>❽</a:t>
              </a:r>
            </a:p>
          </p:txBody>
        </p:sp>
      </p:grpSp>
      <p:sp>
        <p:nvSpPr>
          <p:cNvPr id="46" name="文本框 45">
            <a:extLst>
              <a:ext uri="{FF2B5EF4-FFF2-40B4-BE49-F238E27FC236}">
                <a16:creationId xmlns:a16="http://schemas.microsoft.com/office/drawing/2014/main" id="{2258DCFB-EBD6-4353-8DF7-1A53B50784E7}"/>
              </a:ext>
            </a:extLst>
          </p:cNvPr>
          <p:cNvSpPr txBox="1"/>
          <p:nvPr/>
        </p:nvSpPr>
        <p:spPr>
          <a:xfrm>
            <a:off x="1356850" y="2733542"/>
            <a:ext cx="2308362" cy="646331"/>
          </a:xfrm>
          <a:prstGeom prst="rect">
            <a:avLst/>
          </a:prstGeom>
          <a:solidFill>
            <a:srgbClr val="FFC000"/>
          </a:solidFill>
        </p:spPr>
        <p:txBody>
          <a:bodyPr wrap="square" rtlCol="0">
            <a:spAutoFit/>
          </a:bodyPr>
          <a:lstStyle/>
          <a:p>
            <a:pPr algn="ctr"/>
            <a:r>
              <a:rPr lang="zh-CN" altLang="en-US" b="1" dirty="0">
                <a:latin typeface="+mn-ea"/>
              </a:rPr>
              <a:t>想知道</a:t>
            </a:r>
            <a:endParaRPr lang="en-US" altLang="zh-CN" b="1" dirty="0">
              <a:latin typeface="+mn-ea"/>
            </a:endParaRPr>
          </a:p>
          <a:p>
            <a:pPr algn="ctr"/>
            <a:r>
              <a:rPr lang="en-US" altLang="zh-CN" b="1" dirty="0">
                <a:latin typeface="+mn-ea"/>
              </a:rPr>
              <a:t>y.abc.com</a:t>
            </a:r>
            <a:r>
              <a:rPr lang="zh-CN" altLang="en-US" b="1" dirty="0">
                <a:latin typeface="+mn-ea"/>
              </a:rPr>
              <a:t>的</a:t>
            </a:r>
            <a:r>
              <a:rPr lang="en-US" altLang="zh-CN" b="1" dirty="0">
                <a:latin typeface="+mn-ea"/>
              </a:rPr>
              <a:t>IP</a:t>
            </a:r>
            <a:r>
              <a:rPr lang="zh-CN" altLang="en-US" b="1" dirty="0">
                <a:latin typeface="+mn-ea"/>
              </a:rPr>
              <a:t>地址</a:t>
            </a:r>
          </a:p>
        </p:txBody>
      </p:sp>
    </p:spTree>
    <p:custDataLst>
      <p:tags r:id="rId1"/>
    </p:custDataLst>
    <p:extLst>
      <p:ext uri="{BB962C8B-B14F-4D97-AF65-F5344CB8AC3E}">
        <p14:creationId xmlns:p14="http://schemas.microsoft.com/office/powerpoint/2010/main" val="31670139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anim calcmode="lin" valueType="num">
                                      <p:cBhvr additive="base">
                                        <p:cTn id="14" dur="500"/>
                                        <p:tgtEl>
                                          <p:spTgt spid="46"/>
                                        </p:tgtEl>
                                        <p:attrNameLst>
                                          <p:attrName>ppt_y</p:attrName>
                                        </p:attrNameLst>
                                      </p:cBhvr>
                                      <p:tavLst>
                                        <p:tav tm="0">
                                          <p:val>
                                            <p:strVal val="#ppt_y+#ppt_h*1.125000"/>
                                          </p:val>
                                        </p:tav>
                                        <p:tav tm="100000">
                                          <p:val>
                                            <p:strVal val="#ppt_y"/>
                                          </p:val>
                                        </p:tav>
                                      </p:tavLst>
                                    </p:anim>
                                    <p:animEffect transition="in" filter="wipe(up)">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up)">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up)">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down)">
                                      <p:cBhvr>
                                        <p:cTn id="40" dur="500"/>
                                        <p:tgtEl>
                                          <p:spTgt spid="34"/>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down)">
                                      <p:cBhvr>
                                        <p:cTn id="44" dur="500"/>
                                        <p:tgtEl>
                                          <p:spTgt spid="37"/>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up)">
                                      <p:cBhvr>
                                        <p:cTn id="48" dur="500"/>
                                        <p:tgtEl>
                                          <p:spTgt spid="40"/>
                                        </p:tgtEl>
                                      </p:cBhvr>
                                    </p:animEffect>
                                  </p:childTnLst>
                                </p:cTn>
                              </p:par>
                            </p:childTnLst>
                          </p:cTn>
                        </p:par>
                        <p:par>
                          <p:cTn id="49" fill="hold">
                            <p:stCondLst>
                              <p:cond delay="1500"/>
                            </p:stCondLst>
                            <p:childTnLst>
                              <p:par>
                                <p:cTn id="50" presetID="22" presetClass="entr" presetSubtype="2" fill="hold" nodeType="after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right)">
                                      <p:cBhvr>
                                        <p:cTn id="5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5" name="矩形 4">
            <a:extLst>
              <a:ext uri="{FF2B5EF4-FFF2-40B4-BE49-F238E27FC236}">
                <a16:creationId xmlns:a16="http://schemas.microsoft.com/office/drawing/2014/main" id="{06E37D5E-2EE3-19B4-D9A5-7EF871EE63C5}"/>
              </a:ext>
            </a:extLst>
          </p:cNvPr>
          <p:cNvSpPr/>
          <p:nvPr/>
        </p:nvSpPr>
        <p:spPr>
          <a:xfrm>
            <a:off x="4731124" y="833830"/>
            <a:ext cx="1922929" cy="30256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t>递归查询</a:t>
            </a:r>
          </a:p>
        </p:txBody>
      </p:sp>
      <p:sp>
        <p:nvSpPr>
          <p:cNvPr id="6" name="矩形 5">
            <a:extLst>
              <a:ext uri="{FF2B5EF4-FFF2-40B4-BE49-F238E27FC236}">
                <a16:creationId xmlns:a16="http://schemas.microsoft.com/office/drawing/2014/main" id="{73BE6BA3-4430-8F6E-6DF4-D8AD8AC006B3}"/>
              </a:ext>
            </a:extLst>
          </p:cNvPr>
          <p:cNvSpPr/>
          <p:nvPr/>
        </p:nvSpPr>
        <p:spPr>
          <a:xfrm>
            <a:off x="7427258" y="833830"/>
            <a:ext cx="1922929" cy="302560"/>
          </a:xfrm>
          <a:prstGeom prst="rect">
            <a:avLst/>
          </a:prstGeom>
          <a:solidFill>
            <a:schemeClr val="bg2"/>
          </a:solidFill>
          <a:ln>
            <a:solidFill>
              <a:schemeClr val="bg2">
                <a:lumMod val="9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grpSp>
        <p:nvGrpSpPr>
          <p:cNvPr id="7" name="组合 6">
            <a:extLst>
              <a:ext uri="{FF2B5EF4-FFF2-40B4-BE49-F238E27FC236}">
                <a16:creationId xmlns:a16="http://schemas.microsoft.com/office/drawing/2014/main" id="{9E9D74B0-712F-C6AB-3B73-F080611C2978}"/>
              </a:ext>
            </a:extLst>
          </p:cNvPr>
          <p:cNvGrpSpPr/>
          <p:nvPr/>
        </p:nvGrpSpPr>
        <p:grpSpPr>
          <a:xfrm>
            <a:off x="1614444" y="1632361"/>
            <a:ext cx="8973121" cy="4282377"/>
            <a:chOff x="1392564" y="1955095"/>
            <a:chExt cx="8973121" cy="4282377"/>
          </a:xfrm>
        </p:grpSpPr>
        <p:pic>
          <p:nvPicPr>
            <p:cNvPr id="8" name="图形 7">
              <a:extLst>
                <a:ext uri="{FF2B5EF4-FFF2-40B4-BE49-F238E27FC236}">
                  <a16:creationId xmlns:a16="http://schemas.microsoft.com/office/drawing/2014/main" id="{6012359C-D877-FBE7-ADB8-E6C5053BFE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1955095"/>
              <a:ext cx="452174" cy="593479"/>
            </a:xfrm>
            <a:prstGeom prst="rect">
              <a:avLst/>
            </a:prstGeom>
          </p:spPr>
        </p:pic>
        <p:sp>
          <p:nvSpPr>
            <p:cNvPr id="9" name="文本框 8">
              <a:extLst>
                <a:ext uri="{FF2B5EF4-FFF2-40B4-BE49-F238E27FC236}">
                  <a16:creationId xmlns:a16="http://schemas.microsoft.com/office/drawing/2014/main" id="{B409D7CB-7B9E-F736-496B-827EAD3FAB70}"/>
                </a:ext>
              </a:extLst>
            </p:cNvPr>
            <p:cNvSpPr txBox="1"/>
            <p:nvPr/>
          </p:nvSpPr>
          <p:spPr>
            <a:xfrm>
              <a:off x="8265367" y="2011100"/>
              <a:ext cx="2075768" cy="369332"/>
            </a:xfrm>
            <a:prstGeom prst="rect">
              <a:avLst/>
            </a:prstGeom>
            <a:noFill/>
          </p:spPr>
          <p:txBody>
            <a:bodyPr wrap="square" rtlCol="0">
              <a:spAutoFit/>
            </a:bodyPr>
            <a:lstStyle/>
            <a:p>
              <a:pPr algn="ctr"/>
              <a:r>
                <a:rPr lang="zh-CN" altLang="en-US" b="1" dirty="0">
                  <a:solidFill>
                    <a:schemeClr val="accent1">
                      <a:lumMod val="75000"/>
                    </a:schemeClr>
                  </a:solidFill>
                  <a:latin typeface="+mn-ea"/>
                </a:rPr>
                <a:t>根</a:t>
              </a:r>
              <a:r>
                <a:rPr lang="zh-CN" altLang="en-US" b="1" dirty="0">
                  <a:latin typeface="+mn-ea"/>
                </a:rPr>
                <a:t>域名服务器</a:t>
              </a:r>
              <a:endParaRPr lang="en-US" altLang="zh-CN" b="1" dirty="0">
                <a:latin typeface="+mn-ea"/>
              </a:endParaRPr>
            </a:p>
          </p:txBody>
        </p:sp>
        <p:pic>
          <p:nvPicPr>
            <p:cNvPr id="10" name="图形 9">
              <a:extLst>
                <a:ext uri="{FF2B5EF4-FFF2-40B4-BE49-F238E27FC236}">
                  <a16:creationId xmlns:a16="http://schemas.microsoft.com/office/drawing/2014/main" id="{5A8B4211-AF44-2C4E-3CBB-FE9FDDFDE6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3799544"/>
              <a:ext cx="452174" cy="593479"/>
            </a:xfrm>
            <a:prstGeom prst="rect">
              <a:avLst/>
            </a:prstGeom>
          </p:spPr>
        </p:pic>
        <p:sp>
          <p:nvSpPr>
            <p:cNvPr id="11" name="文本框 10">
              <a:extLst>
                <a:ext uri="{FF2B5EF4-FFF2-40B4-BE49-F238E27FC236}">
                  <a16:creationId xmlns:a16="http://schemas.microsoft.com/office/drawing/2014/main" id="{D085862C-1AE1-138A-DA94-FE3AD1174F4A}"/>
                </a:ext>
              </a:extLst>
            </p:cNvPr>
            <p:cNvSpPr txBox="1"/>
            <p:nvPr/>
          </p:nvSpPr>
          <p:spPr>
            <a:xfrm>
              <a:off x="8289917" y="3746692"/>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顶级</a:t>
              </a:r>
              <a:r>
                <a:rPr lang="zh-CN" altLang="en-US" b="1" dirty="0">
                  <a:latin typeface="+mn-ea"/>
                </a:rPr>
                <a:t>域名服务器</a:t>
              </a:r>
              <a:endParaRPr lang="en-US" altLang="zh-CN" b="1" dirty="0">
                <a:latin typeface="+mn-ea"/>
              </a:endParaRPr>
            </a:p>
            <a:p>
              <a:pPr algn="ctr"/>
              <a:r>
                <a:rPr lang="en-US" altLang="zh-CN" b="1" dirty="0">
                  <a:latin typeface="+mn-ea"/>
                </a:rPr>
                <a:t>dns.com</a:t>
              </a:r>
              <a:endParaRPr lang="zh-CN" altLang="en-US" b="1" dirty="0">
                <a:latin typeface="+mn-ea"/>
              </a:endParaRPr>
            </a:p>
          </p:txBody>
        </p:sp>
        <p:pic>
          <p:nvPicPr>
            <p:cNvPr id="12" name="图形 11">
              <a:extLst>
                <a:ext uri="{FF2B5EF4-FFF2-40B4-BE49-F238E27FC236}">
                  <a16:creationId xmlns:a16="http://schemas.microsoft.com/office/drawing/2014/main" id="{23503BB0-DE02-5954-6D13-19485D241E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50817" y="5643993"/>
              <a:ext cx="452174" cy="593479"/>
            </a:xfrm>
            <a:prstGeom prst="rect">
              <a:avLst/>
            </a:prstGeom>
          </p:spPr>
        </p:pic>
        <p:sp>
          <p:nvSpPr>
            <p:cNvPr id="13" name="文本框 12">
              <a:extLst>
                <a:ext uri="{FF2B5EF4-FFF2-40B4-BE49-F238E27FC236}">
                  <a16:creationId xmlns:a16="http://schemas.microsoft.com/office/drawing/2014/main" id="{CE78D482-B805-4C2E-0445-1617F6CBBC91}"/>
                </a:ext>
              </a:extLst>
            </p:cNvPr>
            <p:cNvSpPr txBox="1"/>
            <p:nvPr/>
          </p:nvSpPr>
          <p:spPr>
            <a:xfrm>
              <a:off x="8289917" y="5591141"/>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权限</a:t>
              </a:r>
              <a:r>
                <a:rPr lang="zh-CN" altLang="en-US" b="1" dirty="0">
                  <a:latin typeface="+mn-ea"/>
                </a:rPr>
                <a:t>域名服务器</a:t>
              </a:r>
              <a:endParaRPr lang="en-US" altLang="zh-CN" b="1" dirty="0">
                <a:latin typeface="+mn-ea"/>
              </a:endParaRPr>
            </a:p>
            <a:p>
              <a:pPr algn="ctr"/>
              <a:r>
                <a:rPr lang="en-US" altLang="zh-CN" b="1" dirty="0">
                  <a:latin typeface="+mn-ea"/>
                </a:rPr>
                <a:t>dns.abc.com</a:t>
              </a:r>
              <a:endParaRPr lang="zh-CN" altLang="en-US" b="1" dirty="0">
                <a:latin typeface="+mn-ea"/>
              </a:endParaRPr>
            </a:p>
          </p:txBody>
        </p:sp>
        <p:pic>
          <p:nvPicPr>
            <p:cNvPr id="14" name="图形 13">
              <a:extLst>
                <a:ext uri="{FF2B5EF4-FFF2-40B4-BE49-F238E27FC236}">
                  <a16:creationId xmlns:a16="http://schemas.microsoft.com/office/drawing/2014/main" id="{060B2C5F-3236-1B1B-1C0E-9FFC293612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40853" y="3799544"/>
              <a:ext cx="452174" cy="593479"/>
            </a:xfrm>
            <a:prstGeom prst="rect">
              <a:avLst/>
            </a:prstGeom>
          </p:spPr>
        </p:pic>
        <p:sp>
          <p:nvSpPr>
            <p:cNvPr id="15" name="文本框 14">
              <a:extLst>
                <a:ext uri="{FF2B5EF4-FFF2-40B4-BE49-F238E27FC236}">
                  <a16:creationId xmlns:a16="http://schemas.microsoft.com/office/drawing/2014/main" id="{87F92A7E-89FE-E015-E9DD-114DBE58AA05}"/>
                </a:ext>
              </a:extLst>
            </p:cNvPr>
            <p:cNvSpPr txBox="1"/>
            <p:nvPr/>
          </p:nvSpPr>
          <p:spPr>
            <a:xfrm>
              <a:off x="4276262" y="4724356"/>
              <a:ext cx="2075768" cy="646331"/>
            </a:xfrm>
            <a:prstGeom prst="rect">
              <a:avLst/>
            </a:prstGeom>
            <a:noFill/>
          </p:spPr>
          <p:txBody>
            <a:bodyPr wrap="square" rtlCol="0">
              <a:spAutoFit/>
            </a:bodyPr>
            <a:lstStyle/>
            <a:p>
              <a:pPr algn="ctr"/>
              <a:r>
                <a:rPr lang="zh-CN" altLang="en-US" b="1" dirty="0">
                  <a:solidFill>
                    <a:schemeClr val="accent1">
                      <a:lumMod val="75000"/>
                    </a:schemeClr>
                  </a:solidFill>
                  <a:latin typeface="+mn-ea"/>
                </a:rPr>
                <a:t>本地</a:t>
              </a:r>
              <a:r>
                <a:rPr lang="zh-CN" altLang="en-US" b="1" dirty="0">
                  <a:latin typeface="+mn-ea"/>
                </a:rPr>
                <a:t>域名服务器</a:t>
              </a:r>
              <a:endParaRPr lang="en-US" altLang="zh-CN" b="1" dirty="0">
                <a:latin typeface="+mn-ea"/>
              </a:endParaRPr>
            </a:p>
            <a:p>
              <a:pPr algn="ctr"/>
              <a:r>
                <a:rPr lang="en-US" altLang="zh-CN" b="1" dirty="0">
                  <a:latin typeface="+mn-ea"/>
                </a:rPr>
                <a:t>dns.xyz.com</a:t>
              </a:r>
              <a:endParaRPr lang="zh-CN" altLang="en-US" b="1" dirty="0">
                <a:latin typeface="+mn-ea"/>
              </a:endParaRPr>
            </a:p>
          </p:txBody>
        </p:sp>
        <p:pic>
          <p:nvPicPr>
            <p:cNvPr id="16" name="图形 15">
              <a:extLst>
                <a:ext uri="{FF2B5EF4-FFF2-40B4-BE49-F238E27FC236}">
                  <a16:creationId xmlns:a16="http://schemas.microsoft.com/office/drawing/2014/main" id="{83826A98-FC95-4889-B2D3-22138F098F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39872" y="3769972"/>
              <a:ext cx="690048" cy="667424"/>
            </a:xfrm>
            <a:prstGeom prst="rect">
              <a:avLst/>
            </a:prstGeom>
          </p:spPr>
        </p:pic>
        <p:sp>
          <p:nvSpPr>
            <p:cNvPr id="17" name="文本框 16">
              <a:extLst>
                <a:ext uri="{FF2B5EF4-FFF2-40B4-BE49-F238E27FC236}">
                  <a16:creationId xmlns:a16="http://schemas.microsoft.com/office/drawing/2014/main" id="{979C5E30-8003-0F8D-9143-72D504CBC8E6}"/>
                </a:ext>
              </a:extLst>
            </p:cNvPr>
            <p:cNvSpPr txBox="1"/>
            <p:nvPr/>
          </p:nvSpPr>
          <p:spPr>
            <a:xfrm>
              <a:off x="1392564" y="4492657"/>
              <a:ext cx="1640068" cy="646331"/>
            </a:xfrm>
            <a:prstGeom prst="rect">
              <a:avLst/>
            </a:prstGeom>
            <a:noFill/>
          </p:spPr>
          <p:txBody>
            <a:bodyPr wrap="square" rtlCol="0">
              <a:spAutoFit/>
            </a:bodyPr>
            <a:lstStyle/>
            <a:p>
              <a:pPr algn="ctr"/>
              <a:r>
                <a:rPr lang="zh-CN" altLang="en-US" b="1" dirty="0">
                  <a:latin typeface="+mn-ea"/>
                </a:rPr>
                <a:t>主机</a:t>
              </a:r>
              <a:endParaRPr lang="en-US" altLang="zh-CN" b="1" dirty="0">
                <a:latin typeface="+mn-ea"/>
              </a:endParaRPr>
            </a:p>
            <a:p>
              <a:pPr algn="ctr"/>
              <a:r>
                <a:rPr lang="en-US" altLang="zh-CN" b="1" dirty="0">
                  <a:latin typeface="+mn-ea"/>
                </a:rPr>
                <a:t>m.xyz.com</a:t>
              </a:r>
              <a:endParaRPr lang="zh-CN" altLang="en-US" b="1" dirty="0">
                <a:latin typeface="+mn-ea"/>
              </a:endParaRPr>
            </a:p>
          </p:txBody>
        </p:sp>
      </p:grpSp>
      <p:sp>
        <p:nvSpPr>
          <p:cNvPr id="48" name="矩形 47">
            <a:extLst>
              <a:ext uri="{FF2B5EF4-FFF2-40B4-BE49-F238E27FC236}">
                <a16:creationId xmlns:a16="http://schemas.microsoft.com/office/drawing/2014/main" id="{90DBE552-4363-FB7F-8612-0243CD868948}"/>
              </a:ext>
            </a:extLst>
          </p:cNvPr>
          <p:cNvSpPr/>
          <p:nvPr/>
        </p:nvSpPr>
        <p:spPr>
          <a:xfrm>
            <a:off x="7427258" y="825019"/>
            <a:ext cx="1922929" cy="30256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b="1" dirty="0"/>
              <a:t>迭代查询</a:t>
            </a:r>
          </a:p>
        </p:txBody>
      </p:sp>
      <p:grpSp>
        <p:nvGrpSpPr>
          <p:cNvPr id="90" name="组合 89">
            <a:extLst>
              <a:ext uri="{FF2B5EF4-FFF2-40B4-BE49-F238E27FC236}">
                <a16:creationId xmlns:a16="http://schemas.microsoft.com/office/drawing/2014/main" id="{F6C9D607-1D5B-3C53-F3E8-CC5E895FC9A1}"/>
              </a:ext>
            </a:extLst>
          </p:cNvPr>
          <p:cNvGrpSpPr/>
          <p:nvPr/>
        </p:nvGrpSpPr>
        <p:grpSpPr>
          <a:xfrm>
            <a:off x="3032797" y="2783461"/>
            <a:ext cx="2360205" cy="1007747"/>
            <a:chOff x="2841622" y="3224154"/>
            <a:chExt cx="2360205" cy="1007747"/>
          </a:xfrm>
        </p:grpSpPr>
        <p:cxnSp>
          <p:nvCxnSpPr>
            <p:cNvPr id="91" name="直接箭头连接符 90">
              <a:extLst>
                <a:ext uri="{FF2B5EF4-FFF2-40B4-BE49-F238E27FC236}">
                  <a16:creationId xmlns:a16="http://schemas.microsoft.com/office/drawing/2014/main" id="{96D98300-89A3-5BE5-BC1F-7181B264DD56}"/>
                </a:ext>
              </a:extLst>
            </p:cNvPr>
            <p:cNvCxnSpPr>
              <a:cxnSpLocks/>
            </p:cNvCxnSpPr>
            <p:nvPr/>
          </p:nvCxnSpPr>
          <p:spPr>
            <a:xfrm>
              <a:off x="2841622" y="4231901"/>
              <a:ext cx="2360205"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EE0BBE85-895F-F341-79FB-CE6A8D15B0F0}"/>
                </a:ext>
              </a:extLst>
            </p:cNvPr>
            <p:cNvSpPr txBox="1"/>
            <p:nvPr/>
          </p:nvSpPr>
          <p:spPr>
            <a:xfrm>
              <a:off x="3862207" y="3787177"/>
              <a:ext cx="452169" cy="369332"/>
            </a:xfrm>
            <a:prstGeom prst="rect">
              <a:avLst/>
            </a:prstGeom>
            <a:noFill/>
          </p:spPr>
          <p:txBody>
            <a:bodyPr wrap="square" rtlCol="0">
              <a:spAutoFit/>
            </a:bodyPr>
            <a:lstStyle/>
            <a:p>
              <a:pPr algn="ctr"/>
              <a:r>
                <a:rPr lang="zh-CN" altLang="en-US" b="1" dirty="0">
                  <a:latin typeface="+mn-ea"/>
                </a:rPr>
                <a:t>❶</a:t>
              </a:r>
            </a:p>
          </p:txBody>
        </p:sp>
        <p:sp>
          <p:nvSpPr>
            <p:cNvPr id="93" name="文本框 92">
              <a:extLst>
                <a:ext uri="{FF2B5EF4-FFF2-40B4-BE49-F238E27FC236}">
                  <a16:creationId xmlns:a16="http://schemas.microsoft.com/office/drawing/2014/main" id="{100F1A71-0B6A-B734-0A38-FD6AD1201695}"/>
                </a:ext>
              </a:extLst>
            </p:cNvPr>
            <p:cNvSpPr txBox="1"/>
            <p:nvPr/>
          </p:nvSpPr>
          <p:spPr>
            <a:xfrm>
              <a:off x="3743267" y="3224154"/>
              <a:ext cx="690048" cy="646331"/>
            </a:xfrm>
            <a:prstGeom prst="rect">
              <a:avLst/>
            </a:prstGeom>
            <a:noFill/>
          </p:spPr>
          <p:txBody>
            <a:bodyPr wrap="square" rtlCol="0">
              <a:spAutoFit/>
            </a:bodyPr>
            <a:lstStyle/>
            <a:p>
              <a:pPr algn="ctr"/>
              <a:r>
                <a:rPr lang="zh-CN" altLang="en-US" b="1" dirty="0">
                  <a:solidFill>
                    <a:schemeClr val="accent3"/>
                  </a:solidFill>
                  <a:latin typeface="+mn-ea"/>
                </a:rPr>
                <a:t>递归</a:t>
              </a:r>
              <a:endParaRPr lang="en-US" altLang="zh-CN" b="1" dirty="0">
                <a:solidFill>
                  <a:schemeClr val="accent3"/>
                </a:solidFill>
                <a:latin typeface="+mn-ea"/>
              </a:endParaRPr>
            </a:p>
            <a:p>
              <a:pPr algn="ctr"/>
              <a:r>
                <a:rPr lang="zh-CN" altLang="en-US" b="1" dirty="0">
                  <a:solidFill>
                    <a:schemeClr val="accent3"/>
                  </a:solidFill>
                  <a:latin typeface="+mn-ea"/>
                </a:rPr>
                <a:t>查询</a:t>
              </a:r>
            </a:p>
          </p:txBody>
        </p:sp>
      </p:grpSp>
      <p:grpSp>
        <p:nvGrpSpPr>
          <p:cNvPr id="94" name="组合 93">
            <a:extLst>
              <a:ext uri="{FF2B5EF4-FFF2-40B4-BE49-F238E27FC236}">
                <a16:creationId xmlns:a16="http://schemas.microsoft.com/office/drawing/2014/main" id="{EE468288-A517-DC49-C5D7-D1009E9327D3}"/>
              </a:ext>
            </a:extLst>
          </p:cNvPr>
          <p:cNvGrpSpPr/>
          <p:nvPr/>
        </p:nvGrpSpPr>
        <p:grpSpPr>
          <a:xfrm>
            <a:off x="5993489" y="1928505"/>
            <a:ext cx="1953120" cy="1418384"/>
            <a:chOff x="5802314" y="2369198"/>
            <a:chExt cx="1953120" cy="1418384"/>
          </a:xfrm>
        </p:grpSpPr>
        <p:cxnSp>
          <p:nvCxnSpPr>
            <p:cNvPr id="95" name="直接箭头连接符 94">
              <a:extLst>
                <a:ext uri="{FF2B5EF4-FFF2-40B4-BE49-F238E27FC236}">
                  <a16:creationId xmlns:a16="http://schemas.microsoft.com/office/drawing/2014/main" id="{3C7802B5-4B57-A66B-5E06-AACFA6FE8124}"/>
                </a:ext>
              </a:extLst>
            </p:cNvPr>
            <p:cNvCxnSpPr>
              <a:cxnSpLocks/>
            </p:cNvCxnSpPr>
            <p:nvPr/>
          </p:nvCxnSpPr>
          <p:spPr>
            <a:xfrm flipV="1">
              <a:off x="5802314" y="2369198"/>
              <a:ext cx="1953120" cy="141838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12278C5E-7E31-4690-E9B3-4D73DA827CBA}"/>
                </a:ext>
              </a:extLst>
            </p:cNvPr>
            <p:cNvSpPr txBox="1"/>
            <p:nvPr/>
          </p:nvSpPr>
          <p:spPr>
            <a:xfrm>
              <a:off x="6241452" y="2698068"/>
              <a:ext cx="452169" cy="369332"/>
            </a:xfrm>
            <a:prstGeom prst="rect">
              <a:avLst/>
            </a:prstGeom>
            <a:noFill/>
          </p:spPr>
          <p:txBody>
            <a:bodyPr wrap="square" rtlCol="0">
              <a:spAutoFit/>
            </a:bodyPr>
            <a:lstStyle/>
            <a:p>
              <a:pPr algn="ctr"/>
              <a:r>
                <a:rPr lang="zh-CN" altLang="en-US" b="1" dirty="0">
                  <a:latin typeface="+mn-ea"/>
                </a:rPr>
                <a:t>❷</a:t>
              </a:r>
            </a:p>
          </p:txBody>
        </p:sp>
        <p:sp>
          <p:nvSpPr>
            <p:cNvPr id="97" name="文本框 96">
              <a:extLst>
                <a:ext uri="{FF2B5EF4-FFF2-40B4-BE49-F238E27FC236}">
                  <a16:creationId xmlns:a16="http://schemas.microsoft.com/office/drawing/2014/main" id="{A27C7C0D-B23A-2717-F110-02FB3549CF46}"/>
                </a:ext>
              </a:extLst>
            </p:cNvPr>
            <p:cNvSpPr txBox="1"/>
            <p:nvPr/>
          </p:nvSpPr>
          <p:spPr>
            <a:xfrm>
              <a:off x="5860478" y="2386085"/>
              <a:ext cx="1155091"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grpSp>
      <p:grpSp>
        <p:nvGrpSpPr>
          <p:cNvPr id="98" name="组合 97">
            <a:extLst>
              <a:ext uri="{FF2B5EF4-FFF2-40B4-BE49-F238E27FC236}">
                <a16:creationId xmlns:a16="http://schemas.microsoft.com/office/drawing/2014/main" id="{3B01B92E-049B-7A02-E621-076E60B69C42}"/>
              </a:ext>
            </a:extLst>
          </p:cNvPr>
          <p:cNvGrpSpPr/>
          <p:nvPr/>
        </p:nvGrpSpPr>
        <p:grpSpPr>
          <a:xfrm>
            <a:off x="5922027" y="4208341"/>
            <a:ext cx="2166128" cy="1181363"/>
            <a:chOff x="5730852" y="4649034"/>
            <a:chExt cx="2166128" cy="1181363"/>
          </a:xfrm>
        </p:grpSpPr>
        <p:sp>
          <p:nvSpPr>
            <p:cNvPr id="99" name="文本框 98">
              <a:extLst>
                <a:ext uri="{FF2B5EF4-FFF2-40B4-BE49-F238E27FC236}">
                  <a16:creationId xmlns:a16="http://schemas.microsoft.com/office/drawing/2014/main" id="{9E0F90AA-3063-5E21-4174-22FA6A395DCC}"/>
                </a:ext>
              </a:extLst>
            </p:cNvPr>
            <p:cNvSpPr txBox="1"/>
            <p:nvPr/>
          </p:nvSpPr>
          <p:spPr>
            <a:xfrm>
              <a:off x="6660877" y="5326682"/>
              <a:ext cx="452169" cy="369332"/>
            </a:xfrm>
            <a:prstGeom prst="rect">
              <a:avLst/>
            </a:prstGeom>
            <a:noFill/>
          </p:spPr>
          <p:txBody>
            <a:bodyPr wrap="square" rtlCol="0">
              <a:spAutoFit/>
            </a:bodyPr>
            <a:lstStyle/>
            <a:p>
              <a:pPr algn="ctr"/>
              <a:r>
                <a:rPr lang="zh-CN" altLang="en-US" b="1" dirty="0">
                  <a:latin typeface="+mn-ea"/>
                </a:rPr>
                <a:t>❼</a:t>
              </a:r>
            </a:p>
          </p:txBody>
        </p:sp>
        <p:cxnSp>
          <p:nvCxnSpPr>
            <p:cNvPr id="100" name="直接箭头连接符 99">
              <a:extLst>
                <a:ext uri="{FF2B5EF4-FFF2-40B4-BE49-F238E27FC236}">
                  <a16:creationId xmlns:a16="http://schemas.microsoft.com/office/drawing/2014/main" id="{26AC748B-F63B-FEA3-36B2-646EB05ABC70}"/>
                </a:ext>
              </a:extLst>
            </p:cNvPr>
            <p:cNvCxnSpPr>
              <a:cxnSpLocks/>
            </p:cNvCxnSpPr>
            <p:nvPr/>
          </p:nvCxnSpPr>
          <p:spPr>
            <a:xfrm flipH="1" flipV="1">
              <a:off x="5730852" y="4649034"/>
              <a:ext cx="2166128" cy="1181363"/>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01" name="组合 100">
            <a:extLst>
              <a:ext uri="{FF2B5EF4-FFF2-40B4-BE49-F238E27FC236}">
                <a16:creationId xmlns:a16="http://schemas.microsoft.com/office/drawing/2014/main" id="{E14E382A-F7C2-0E1F-E325-0EEFF44B3A87}"/>
              </a:ext>
            </a:extLst>
          </p:cNvPr>
          <p:cNvGrpSpPr/>
          <p:nvPr/>
        </p:nvGrpSpPr>
        <p:grpSpPr>
          <a:xfrm>
            <a:off x="6072746" y="4089892"/>
            <a:ext cx="2805375" cy="1156540"/>
            <a:chOff x="5881571" y="4530585"/>
            <a:chExt cx="2805375" cy="1156540"/>
          </a:xfrm>
        </p:grpSpPr>
        <p:sp>
          <p:nvSpPr>
            <p:cNvPr id="102" name="文本框 101">
              <a:extLst>
                <a:ext uri="{FF2B5EF4-FFF2-40B4-BE49-F238E27FC236}">
                  <a16:creationId xmlns:a16="http://schemas.microsoft.com/office/drawing/2014/main" id="{92DBF227-23C4-0304-5713-33A4A64007D3}"/>
                </a:ext>
              </a:extLst>
            </p:cNvPr>
            <p:cNvSpPr txBox="1"/>
            <p:nvPr/>
          </p:nvSpPr>
          <p:spPr>
            <a:xfrm>
              <a:off x="7570199" y="4919813"/>
              <a:ext cx="1116747"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cxnSp>
          <p:nvCxnSpPr>
            <p:cNvPr id="103" name="直接箭头连接符 102">
              <a:extLst>
                <a:ext uri="{FF2B5EF4-FFF2-40B4-BE49-F238E27FC236}">
                  <a16:creationId xmlns:a16="http://schemas.microsoft.com/office/drawing/2014/main" id="{6F8B22D2-F077-1F08-70AB-4B130E0C0864}"/>
                </a:ext>
              </a:extLst>
            </p:cNvPr>
            <p:cNvCxnSpPr>
              <a:cxnSpLocks/>
            </p:cNvCxnSpPr>
            <p:nvPr/>
          </p:nvCxnSpPr>
          <p:spPr>
            <a:xfrm>
              <a:off x="5881571" y="4530585"/>
              <a:ext cx="2190230" cy="115654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910E3FB5-E114-C2E0-F48D-953F1A81A6BF}"/>
                </a:ext>
              </a:extLst>
            </p:cNvPr>
            <p:cNvSpPr txBox="1"/>
            <p:nvPr/>
          </p:nvSpPr>
          <p:spPr>
            <a:xfrm>
              <a:off x="7221870" y="4919813"/>
              <a:ext cx="452169" cy="369332"/>
            </a:xfrm>
            <a:prstGeom prst="rect">
              <a:avLst/>
            </a:prstGeom>
            <a:noFill/>
          </p:spPr>
          <p:txBody>
            <a:bodyPr wrap="square" rtlCol="0">
              <a:spAutoFit/>
            </a:bodyPr>
            <a:lstStyle/>
            <a:p>
              <a:pPr algn="ctr"/>
              <a:r>
                <a:rPr lang="zh-CN" altLang="en-US" b="1" dirty="0">
                  <a:latin typeface="+mn-ea"/>
                </a:rPr>
                <a:t>❻</a:t>
              </a:r>
            </a:p>
          </p:txBody>
        </p:sp>
      </p:grpSp>
      <p:grpSp>
        <p:nvGrpSpPr>
          <p:cNvPr id="105" name="组合 104">
            <a:extLst>
              <a:ext uri="{FF2B5EF4-FFF2-40B4-BE49-F238E27FC236}">
                <a16:creationId xmlns:a16="http://schemas.microsoft.com/office/drawing/2014/main" id="{47058503-A83A-010E-B323-0A813F9D8312}"/>
              </a:ext>
            </a:extLst>
          </p:cNvPr>
          <p:cNvGrpSpPr/>
          <p:nvPr/>
        </p:nvGrpSpPr>
        <p:grpSpPr>
          <a:xfrm>
            <a:off x="6057571" y="2113171"/>
            <a:ext cx="1993709" cy="1445891"/>
            <a:chOff x="5866396" y="2553864"/>
            <a:chExt cx="1993709" cy="1445891"/>
          </a:xfrm>
        </p:grpSpPr>
        <p:cxnSp>
          <p:nvCxnSpPr>
            <p:cNvPr id="106" name="直接箭头连接符 105">
              <a:extLst>
                <a:ext uri="{FF2B5EF4-FFF2-40B4-BE49-F238E27FC236}">
                  <a16:creationId xmlns:a16="http://schemas.microsoft.com/office/drawing/2014/main" id="{4757E169-A201-945E-9FD0-11E86D2FA4BC}"/>
                </a:ext>
              </a:extLst>
            </p:cNvPr>
            <p:cNvCxnSpPr>
              <a:cxnSpLocks/>
            </p:cNvCxnSpPr>
            <p:nvPr/>
          </p:nvCxnSpPr>
          <p:spPr>
            <a:xfrm flipH="1">
              <a:off x="5866396" y="2553864"/>
              <a:ext cx="1993709" cy="1445891"/>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7" name="文本框 106">
              <a:extLst>
                <a:ext uri="{FF2B5EF4-FFF2-40B4-BE49-F238E27FC236}">
                  <a16:creationId xmlns:a16="http://schemas.microsoft.com/office/drawing/2014/main" id="{37676DE3-92F7-114B-7E5B-6D6711BE54BE}"/>
                </a:ext>
              </a:extLst>
            </p:cNvPr>
            <p:cNvSpPr txBox="1"/>
            <p:nvPr/>
          </p:nvSpPr>
          <p:spPr>
            <a:xfrm>
              <a:off x="7068677" y="3033654"/>
              <a:ext cx="452169" cy="369332"/>
            </a:xfrm>
            <a:prstGeom prst="rect">
              <a:avLst/>
            </a:prstGeom>
            <a:noFill/>
          </p:spPr>
          <p:txBody>
            <a:bodyPr wrap="square" rtlCol="0">
              <a:spAutoFit/>
            </a:bodyPr>
            <a:lstStyle/>
            <a:p>
              <a:pPr algn="ctr"/>
              <a:r>
                <a:rPr lang="zh-CN" altLang="en-US" b="1" dirty="0">
                  <a:latin typeface="+mn-ea"/>
                </a:rPr>
                <a:t>❸</a:t>
              </a:r>
            </a:p>
          </p:txBody>
        </p:sp>
      </p:grpSp>
      <p:grpSp>
        <p:nvGrpSpPr>
          <p:cNvPr id="108" name="组合 107">
            <a:extLst>
              <a:ext uri="{FF2B5EF4-FFF2-40B4-BE49-F238E27FC236}">
                <a16:creationId xmlns:a16="http://schemas.microsoft.com/office/drawing/2014/main" id="{9460F78D-A56D-AF13-D40B-3BE3AD410F5B}"/>
              </a:ext>
            </a:extLst>
          </p:cNvPr>
          <p:cNvGrpSpPr/>
          <p:nvPr/>
        </p:nvGrpSpPr>
        <p:grpSpPr>
          <a:xfrm>
            <a:off x="3032797" y="3995461"/>
            <a:ext cx="2360230" cy="403213"/>
            <a:chOff x="2841622" y="4436154"/>
            <a:chExt cx="2360230" cy="403213"/>
          </a:xfrm>
        </p:grpSpPr>
        <p:cxnSp>
          <p:nvCxnSpPr>
            <p:cNvPr id="109" name="直接箭头连接符 108">
              <a:extLst>
                <a:ext uri="{FF2B5EF4-FFF2-40B4-BE49-F238E27FC236}">
                  <a16:creationId xmlns:a16="http://schemas.microsoft.com/office/drawing/2014/main" id="{165F6329-33A6-7A10-9FCF-6097F1D0B1F9}"/>
                </a:ext>
              </a:extLst>
            </p:cNvPr>
            <p:cNvCxnSpPr>
              <a:cxnSpLocks/>
            </p:cNvCxnSpPr>
            <p:nvPr/>
          </p:nvCxnSpPr>
          <p:spPr>
            <a:xfrm flipH="1">
              <a:off x="2841622" y="4436154"/>
              <a:ext cx="2360230"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916A5B5A-1077-B736-06E3-30F00CE53678}"/>
                </a:ext>
              </a:extLst>
            </p:cNvPr>
            <p:cNvSpPr txBox="1"/>
            <p:nvPr/>
          </p:nvSpPr>
          <p:spPr>
            <a:xfrm>
              <a:off x="3835904" y="4470035"/>
              <a:ext cx="516836" cy="369332"/>
            </a:xfrm>
            <a:prstGeom prst="rect">
              <a:avLst/>
            </a:prstGeom>
            <a:noFill/>
          </p:spPr>
          <p:txBody>
            <a:bodyPr wrap="square">
              <a:spAutoFit/>
            </a:bodyPr>
            <a:lstStyle/>
            <a:p>
              <a:pPr algn="ctr"/>
              <a:r>
                <a:rPr lang="zh-CN" altLang="en-US" dirty="0">
                  <a:latin typeface="+mn-ea"/>
                </a:rPr>
                <a:t>❽</a:t>
              </a:r>
            </a:p>
          </p:txBody>
        </p:sp>
      </p:grpSp>
      <p:grpSp>
        <p:nvGrpSpPr>
          <p:cNvPr id="112" name="组合 111">
            <a:extLst>
              <a:ext uri="{FF2B5EF4-FFF2-40B4-BE49-F238E27FC236}">
                <a16:creationId xmlns:a16="http://schemas.microsoft.com/office/drawing/2014/main" id="{85EBA9F0-2230-7B22-F547-9D7CFBAEF26D}"/>
              </a:ext>
            </a:extLst>
          </p:cNvPr>
          <p:cNvGrpSpPr/>
          <p:nvPr/>
        </p:nvGrpSpPr>
        <p:grpSpPr>
          <a:xfrm>
            <a:off x="6211426" y="3132770"/>
            <a:ext cx="1826513" cy="670208"/>
            <a:chOff x="6020251" y="3573463"/>
            <a:chExt cx="1826513" cy="670208"/>
          </a:xfrm>
        </p:grpSpPr>
        <p:sp>
          <p:nvSpPr>
            <p:cNvPr id="113" name="文本框 112">
              <a:extLst>
                <a:ext uri="{FF2B5EF4-FFF2-40B4-BE49-F238E27FC236}">
                  <a16:creationId xmlns:a16="http://schemas.microsoft.com/office/drawing/2014/main" id="{33FA8D44-2619-88F2-55AC-AC8C89460700}"/>
                </a:ext>
              </a:extLst>
            </p:cNvPr>
            <p:cNvSpPr txBox="1"/>
            <p:nvPr/>
          </p:nvSpPr>
          <p:spPr>
            <a:xfrm>
              <a:off x="6778874" y="3874339"/>
              <a:ext cx="452169" cy="369332"/>
            </a:xfrm>
            <a:prstGeom prst="rect">
              <a:avLst/>
            </a:prstGeom>
            <a:noFill/>
          </p:spPr>
          <p:txBody>
            <a:bodyPr wrap="square" rtlCol="0">
              <a:spAutoFit/>
            </a:bodyPr>
            <a:lstStyle/>
            <a:p>
              <a:pPr algn="ctr"/>
              <a:r>
                <a:rPr lang="zh-CN" altLang="en-US" b="1" dirty="0">
                  <a:latin typeface="+mn-ea"/>
                </a:rPr>
                <a:t>❹</a:t>
              </a:r>
            </a:p>
          </p:txBody>
        </p:sp>
        <p:sp>
          <p:nvSpPr>
            <p:cNvPr id="114" name="文本框 113">
              <a:extLst>
                <a:ext uri="{FF2B5EF4-FFF2-40B4-BE49-F238E27FC236}">
                  <a16:creationId xmlns:a16="http://schemas.microsoft.com/office/drawing/2014/main" id="{D2E75E8F-3F05-3C7A-2037-39FCFE07A216}"/>
                </a:ext>
              </a:extLst>
            </p:cNvPr>
            <p:cNvSpPr txBox="1"/>
            <p:nvPr/>
          </p:nvSpPr>
          <p:spPr>
            <a:xfrm>
              <a:off x="6438024" y="3573463"/>
              <a:ext cx="1155091" cy="369332"/>
            </a:xfrm>
            <a:prstGeom prst="rect">
              <a:avLst/>
            </a:prstGeom>
            <a:noFill/>
          </p:spPr>
          <p:txBody>
            <a:bodyPr wrap="square" rtlCol="0">
              <a:spAutoFit/>
            </a:bodyPr>
            <a:lstStyle/>
            <a:p>
              <a:pPr algn="ctr"/>
              <a:r>
                <a:rPr lang="zh-CN" altLang="en-US" b="1" dirty="0">
                  <a:solidFill>
                    <a:schemeClr val="accent4"/>
                  </a:solidFill>
                  <a:latin typeface="+mn-ea"/>
                </a:rPr>
                <a:t>迭代查询</a:t>
              </a:r>
            </a:p>
          </p:txBody>
        </p:sp>
        <p:cxnSp>
          <p:nvCxnSpPr>
            <p:cNvPr id="115" name="直接箭头连接符 114">
              <a:extLst>
                <a:ext uri="{FF2B5EF4-FFF2-40B4-BE49-F238E27FC236}">
                  <a16:creationId xmlns:a16="http://schemas.microsoft.com/office/drawing/2014/main" id="{E563DC5A-64CB-4CFD-9137-A8156AF20DB5}"/>
                </a:ext>
              </a:extLst>
            </p:cNvPr>
            <p:cNvCxnSpPr>
              <a:cxnSpLocks/>
            </p:cNvCxnSpPr>
            <p:nvPr/>
          </p:nvCxnSpPr>
          <p:spPr>
            <a:xfrm>
              <a:off x="6020251" y="4231901"/>
              <a:ext cx="1826513"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6" name="组合 115">
            <a:extLst>
              <a:ext uri="{FF2B5EF4-FFF2-40B4-BE49-F238E27FC236}">
                <a16:creationId xmlns:a16="http://schemas.microsoft.com/office/drawing/2014/main" id="{03D4B9BD-F10D-F72B-FCBB-BC51A54A554D}"/>
              </a:ext>
            </a:extLst>
          </p:cNvPr>
          <p:cNvGrpSpPr/>
          <p:nvPr/>
        </p:nvGrpSpPr>
        <p:grpSpPr>
          <a:xfrm>
            <a:off x="6217810" y="3981817"/>
            <a:ext cx="1789759" cy="369332"/>
            <a:chOff x="6026635" y="4422510"/>
            <a:chExt cx="1789759" cy="369332"/>
          </a:xfrm>
        </p:grpSpPr>
        <p:sp>
          <p:nvSpPr>
            <p:cNvPr id="117" name="文本框 116">
              <a:extLst>
                <a:ext uri="{FF2B5EF4-FFF2-40B4-BE49-F238E27FC236}">
                  <a16:creationId xmlns:a16="http://schemas.microsoft.com/office/drawing/2014/main" id="{CBC9180E-3DEF-FCAE-04E9-5CF80CB04369}"/>
                </a:ext>
              </a:extLst>
            </p:cNvPr>
            <p:cNvSpPr txBox="1"/>
            <p:nvPr/>
          </p:nvSpPr>
          <p:spPr>
            <a:xfrm>
              <a:off x="6778874" y="4422510"/>
              <a:ext cx="452169" cy="369332"/>
            </a:xfrm>
            <a:prstGeom prst="rect">
              <a:avLst/>
            </a:prstGeom>
            <a:noFill/>
          </p:spPr>
          <p:txBody>
            <a:bodyPr wrap="square" rtlCol="0">
              <a:spAutoFit/>
            </a:bodyPr>
            <a:lstStyle/>
            <a:p>
              <a:pPr algn="ctr"/>
              <a:r>
                <a:rPr lang="zh-CN" altLang="en-US" b="1" dirty="0">
                  <a:latin typeface="+mn-ea"/>
                </a:rPr>
                <a:t>❺</a:t>
              </a:r>
            </a:p>
          </p:txBody>
        </p:sp>
        <p:cxnSp>
          <p:nvCxnSpPr>
            <p:cNvPr id="118" name="直接箭头连接符 117">
              <a:extLst>
                <a:ext uri="{FF2B5EF4-FFF2-40B4-BE49-F238E27FC236}">
                  <a16:creationId xmlns:a16="http://schemas.microsoft.com/office/drawing/2014/main" id="{2DD4E15C-1D25-8AC1-7443-4972AB1EB6C7}"/>
                </a:ext>
              </a:extLst>
            </p:cNvPr>
            <p:cNvCxnSpPr>
              <a:cxnSpLocks/>
            </p:cNvCxnSpPr>
            <p:nvPr/>
          </p:nvCxnSpPr>
          <p:spPr>
            <a:xfrm flipH="1">
              <a:off x="6026635" y="4436154"/>
              <a:ext cx="1789759" cy="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19" name="文本框 118">
            <a:extLst>
              <a:ext uri="{FF2B5EF4-FFF2-40B4-BE49-F238E27FC236}">
                <a16:creationId xmlns:a16="http://schemas.microsoft.com/office/drawing/2014/main" id="{1D2CF83C-5D9B-3DB5-981F-CF1239BC14AA}"/>
              </a:ext>
            </a:extLst>
          </p:cNvPr>
          <p:cNvSpPr txBox="1"/>
          <p:nvPr/>
        </p:nvSpPr>
        <p:spPr>
          <a:xfrm>
            <a:off x="1356850" y="2733542"/>
            <a:ext cx="2308362" cy="646331"/>
          </a:xfrm>
          <a:prstGeom prst="rect">
            <a:avLst/>
          </a:prstGeom>
          <a:solidFill>
            <a:srgbClr val="FFC000"/>
          </a:solidFill>
        </p:spPr>
        <p:txBody>
          <a:bodyPr wrap="square" rtlCol="0">
            <a:spAutoFit/>
          </a:bodyPr>
          <a:lstStyle/>
          <a:p>
            <a:pPr algn="ctr"/>
            <a:r>
              <a:rPr lang="zh-CN" altLang="en-US" b="1" dirty="0">
                <a:latin typeface="+mn-ea"/>
              </a:rPr>
              <a:t>想知道</a:t>
            </a:r>
            <a:endParaRPr lang="en-US" altLang="zh-CN" b="1" dirty="0">
              <a:latin typeface="+mn-ea"/>
            </a:endParaRPr>
          </a:p>
          <a:p>
            <a:pPr algn="ctr"/>
            <a:r>
              <a:rPr lang="en-US" altLang="zh-CN" b="1" dirty="0">
                <a:latin typeface="+mn-ea"/>
              </a:rPr>
              <a:t>y.abc.com</a:t>
            </a:r>
            <a:r>
              <a:rPr lang="zh-CN" altLang="en-US" b="1" dirty="0">
                <a:latin typeface="+mn-ea"/>
              </a:rPr>
              <a:t>的</a:t>
            </a:r>
            <a:r>
              <a:rPr lang="en-US" altLang="zh-CN" b="1" dirty="0">
                <a:latin typeface="+mn-ea"/>
              </a:rPr>
              <a:t>IP</a:t>
            </a:r>
            <a:r>
              <a:rPr lang="zh-CN" altLang="en-US" b="1" dirty="0">
                <a:latin typeface="+mn-ea"/>
              </a:rPr>
              <a:t>地址</a:t>
            </a:r>
          </a:p>
        </p:txBody>
      </p:sp>
      <p:sp>
        <p:nvSpPr>
          <p:cNvPr id="120" name="矩形 119">
            <a:extLst>
              <a:ext uri="{FF2B5EF4-FFF2-40B4-BE49-F238E27FC236}">
                <a16:creationId xmlns:a16="http://schemas.microsoft.com/office/drawing/2014/main" id="{61D47FF9-5145-D018-A543-52B161E134CB}"/>
              </a:ext>
            </a:extLst>
          </p:cNvPr>
          <p:cNvSpPr/>
          <p:nvPr/>
        </p:nvSpPr>
        <p:spPr>
          <a:xfrm>
            <a:off x="322247" y="5101527"/>
            <a:ext cx="5773753" cy="1331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t>        由于递归查询对于被查询的域名服务器负担太大，通常采用以下模式：</a:t>
            </a:r>
            <a:endParaRPr lang="en-US" altLang="zh-CN" b="1" dirty="0"/>
          </a:p>
          <a:p>
            <a:pPr marL="285750" indent="-285750">
              <a:buFont typeface="Wingdings" panose="05000000000000000000" pitchFamily="2" charset="2"/>
              <a:buChar char="l"/>
            </a:pPr>
            <a:r>
              <a:rPr lang="zh-CN" altLang="en-US" b="1" dirty="0"/>
              <a:t>从请求主机到本地域名服务器的查询是递归查询</a:t>
            </a:r>
            <a:r>
              <a:rPr lang="en-US" altLang="zh-CN" b="1" dirty="0"/>
              <a:t>;</a:t>
            </a:r>
          </a:p>
          <a:p>
            <a:pPr marL="285750" indent="-285750">
              <a:buFont typeface="Wingdings" panose="05000000000000000000" pitchFamily="2" charset="2"/>
              <a:buChar char="l"/>
            </a:pPr>
            <a:r>
              <a:rPr lang="zh-CN" altLang="en-US" b="1" dirty="0"/>
              <a:t>而其余的查询是迭代查询。</a:t>
            </a:r>
          </a:p>
        </p:txBody>
      </p:sp>
    </p:spTree>
    <p:custDataLst>
      <p:tags r:id="rId1"/>
    </p:custDataLst>
    <p:extLst>
      <p:ext uri="{BB962C8B-B14F-4D97-AF65-F5344CB8AC3E}">
        <p14:creationId xmlns:p14="http://schemas.microsoft.com/office/powerpoint/2010/main" val="223889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wipe(left)">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wipe(down)">
                                      <p:cBhvr>
                                        <p:cTn id="17" dur="500"/>
                                        <p:tgtEl>
                                          <p:spTgt spid="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wipe(up)">
                                      <p:cBhvr>
                                        <p:cTn id="22" dur="500"/>
                                        <p:tgtEl>
                                          <p:spTgt spid="1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animEffect transition="in" filter="wipe(left)">
                                      <p:cBhvr>
                                        <p:cTn id="27" dur="500"/>
                                        <p:tgtEl>
                                          <p:spTgt spid="1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116"/>
                                        </p:tgtEl>
                                        <p:attrNameLst>
                                          <p:attrName>style.visibility</p:attrName>
                                        </p:attrNameLst>
                                      </p:cBhvr>
                                      <p:to>
                                        <p:strVal val="visible"/>
                                      </p:to>
                                    </p:set>
                                    <p:animEffect transition="in" filter="wipe(right)">
                                      <p:cBhvr>
                                        <p:cTn id="32" dur="500"/>
                                        <p:tgtEl>
                                          <p:spTgt spid="1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01"/>
                                        </p:tgtEl>
                                        <p:attrNameLst>
                                          <p:attrName>style.visibility</p:attrName>
                                        </p:attrNameLst>
                                      </p:cBhvr>
                                      <p:to>
                                        <p:strVal val="visible"/>
                                      </p:to>
                                    </p:set>
                                    <p:animEffect transition="in" filter="wipe(up)">
                                      <p:cBhvr>
                                        <p:cTn id="37" dur="500"/>
                                        <p:tgtEl>
                                          <p:spTgt spid="1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98"/>
                                        </p:tgtEl>
                                        <p:attrNameLst>
                                          <p:attrName>style.visibility</p:attrName>
                                        </p:attrNameLst>
                                      </p:cBhvr>
                                      <p:to>
                                        <p:strVal val="visible"/>
                                      </p:to>
                                    </p:set>
                                    <p:animEffect transition="in" filter="wipe(down)">
                                      <p:cBhvr>
                                        <p:cTn id="42" dur="500"/>
                                        <p:tgtEl>
                                          <p:spTgt spid="9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wipe(right)">
                                      <p:cBhvr>
                                        <p:cTn id="47" dur="500"/>
                                        <p:tgtEl>
                                          <p:spTgt spid="10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20"/>
                                        </p:tgtEl>
                                        <p:attrNameLst>
                                          <p:attrName>style.visibility</p:attrName>
                                        </p:attrNameLst>
                                      </p:cBhvr>
                                      <p:to>
                                        <p:strVal val="visible"/>
                                      </p:to>
                                    </p:set>
                                    <p:anim calcmode="lin" valueType="num">
                                      <p:cBhvr additive="base">
                                        <p:cTn id="52" dur="500" fill="hold"/>
                                        <p:tgtEl>
                                          <p:spTgt spid="120"/>
                                        </p:tgtEl>
                                        <p:attrNameLst>
                                          <p:attrName>ppt_x</p:attrName>
                                        </p:attrNameLst>
                                      </p:cBhvr>
                                      <p:tavLst>
                                        <p:tav tm="0">
                                          <p:val>
                                            <p:strVal val="#ppt_x"/>
                                          </p:val>
                                        </p:tav>
                                        <p:tav tm="100000">
                                          <p:val>
                                            <p:strVal val="#ppt_x"/>
                                          </p:val>
                                        </p:tav>
                                      </p:tavLst>
                                    </p:anim>
                                    <p:anim calcmode="lin" valueType="num">
                                      <p:cBhvr additive="base">
                                        <p:cTn id="53" dur="500" fill="hold"/>
                                        <p:tgtEl>
                                          <p:spTgt spid="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12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18" name="矩形 17">
            <a:extLst>
              <a:ext uri="{FF2B5EF4-FFF2-40B4-BE49-F238E27FC236}">
                <a16:creationId xmlns:a16="http://schemas.microsoft.com/office/drawing/2014/main" id="{5B91DC05-88EA-6954-4D72-1A637A120FE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íşlïḍè">
            <a:extLst>
              <a:ext uri="{FF2B5EF4-FFF2-40B4-BE49-F238E27FC236}">
                <a16:creationId xmlns:a16="http://schemas.microsoft.com/office/drawing/2014/main" id="{94760494-80B5-B494-8D70-861FF1FE9DBD}"/>
              </a:ext>
            </a:extLst>
          </p:cNvPr>
          <p:cNvSpPr txBox="1"/>
          <p:nvPr/>
        </p:nvSpPr>
        <p:spPr>
          <a:xfrm>
            <a:off x="1293757" y="1192132"/>
            <a:ext cx="10593443" cy="670286"/>
          </a:xfrm>
          <a:prstGeom prst="rect">
            <a:avLst/>
          </a:prstGeom>
          <a:noFill/>
        </p:spPr>
        <p:txBody>
          <a:bodyPr wrap="square" lIns="91440" tIns="45720" rIns="91440" bIns="45720" anchor="ctr">
            <a:noAutofit/>
          </a:bodyPr>
          <a:lstStyle/>
          <a:p>
            <a:r>
              <a:rPr lang="zh-CN" altLang="en-US" sz="1800" b="1" dirty="0"/>
              <a:t>为了提高</a:t>
            </a:r>
            <a:r>
              <a:rPr lang="en-US" altLang="zh-CN" sz="1800" b="1" dirty="0"/>
              <a:t>DNS</a:t>
            </a:r>
            <a:r>
              <a:rPr lang="zh-CN" altLang="en-US" sz="1800" b="1" dirty="0"/>
              <a:t>的查询效率，并减轻根域名服务器的负荷和减少因特网上的</a:t>
            </a:r>
            <a:r>
              <a:rPr lang="en-US" altLang="zh-CN" sz="1800" b="1" dirty="0"/>
              <a:t>DNS</a:t>
            </a:r>
            <a:r>
              <a:rPr lang="zh-CN" altLang="en-US" sz="1800" b="1" dirty="0"/>
              <a:t>查询报文数量，在域名服务器中广泛地使用了</a:t>
            </a:r>
            <a:r>
              <a:rPr lang="zh-CN" altLang="en-US" sz="1800" b="1" dirty="0">
                <a:solidFill>
                  <a:srgbClr val="FF0000"/>
                </a:solidFill>
              </a:rPr>
              <a:t>高速缓存</a:t>
            </a:r>
            <a:r>
              <a:rPr lang="zh-CN" altLang="en-US" sz="1800" b="1" dirty="0"/>
              <a:t>。高速缓存用来存放最近查询过的域名以及从何处获得域名映射信息的记录。</a:t>
            </a:r>
            <a:endParaRPr lang="en-US" altLang="zh-CN" sz="1800" b="1" dirty="0">
              <a:solidFill>
                <a:srgbClr val="C00000"/>
              </a:solidFill>
            </a:endParaRPr>
          </a:p>
        </p:txBody>
      </p:sp>
      <p:sp>
        <p:nvSpPr>
          <p:cNvPr id="5" name="矩形 4">
            <a:extLst>
              <a:ext uri="{FF2B5EF4-FFF2-40B4-BE49-F238E27FC236}">
                <a16:creationId xmlns:a16="http://schemas.microsoft.com/office/drawing/2014/main" id="{DAB8E525-67F4-A9CE-4D08-F9BCC47A8C13}"/>
              </a:ext>
            </a:extLst>
          </p:cNvPr>
          <p:cNvSpPr/>
          <p:nvPr/>
        </p:nvSpPr>
        <p:spPr>
          <a:xfrm>
            <a:off x="1417171" y="205088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7D6F92D5-8B19-85FE-CB8F-024F0613413E}"/>
              </a:ext>
            </a:extLst>
          </p:cNvPr>
          <p:cNvSpPr txBox="1"/>
          <p:nvPr/>
        </p:nvSpPr>
        <p:spPr>
          <a:xfrm>
            <a:off x="1694929" y="1969820"/>
            <a:ext cx="10192272" cy="733039"/>
          </a:xfrm>
          <a:prstGeom prst="rect">
            <a:avLst/>
          </a:prstGeom>
          <a:noFill/>
        </p:spPr>
        <p:txBody>
          <a:bodyPr wrap="square" lIns="91440" tIns="45720" rIns="91440" bIns="45720" anchor="ctr">
            <a:noAutofit/>
          </a:bodyPr>
          <a:lstStyle/>
          <a:p>
            <a:r>
              <a:rPr lang="zh-CN" altLang="en-US" b="1" dirty="0"/>
              <a:t>由于域名到</a:t>
            </a:r>
            <a:r>
              <a:rPr lang="en-US" altLang="zh-CN" b="1" dirty="0"/>
              <a:t>IP</a:t>
            </a:r>
            <a:r>
              <a:rPr lang="zh-CN" altLang="en-US" b="1" dirty="0"/>
              <a:t>地址的映射关系并不是永久不变，为保持高速缓存中的内容正确，域名服务器</a:t>
            </a:r>
            <a:r>
              <a:rPr lang="zh-CN" altLang="en-US" b="1" dirty="0">
                <a:solidFill>
                  <a:srgbClr val="FF0000"/>
                </a:solidFill>
              </a:rPr>
              <a:t>应为每项内容设置计时器并删除超过合理时间的项</a:t>
            </a:r>
            <a:r>
              <a:rPr lang="zh-CN" altLang="en-US" b="1" dirty="0"/>
              <a:t>（例如，每个项目只存放两天）。</a:t>
            </a:r>
            <a:endParaRPr lang="en-US" altLang="zh-CN" b="1" dirty="0">
              <a:solidFill>
                <a:srgbClr val="C00000"/>
              </a:solidFill>
            </a:endParaRPr>
          </a:p>
        </p:txBody>
      </p:sp>
      <p:sp>
        <p:nvSpPr>
          <p:cNvPr id="7" name="矩形 6">
            <a:extLst>
              <a:ext uri="{FF2B5EF4-FFF2-40B4-BE49-F238E27FC236}">
                <a16:creationId xmlns:a16="http://schemas.microsoft.com/office/drawing/2014/main" id="{C1DDE6C0-7C74-EA8D-F31B-0DE9C2F7BA4C}"/>
              </a:ext>
            </a:extLst>
          </p:cNvPr>
          <p:cNvSpPr/>
          <p:nvPr/>
        </p:nvSpPr>
        <p:spPr>
          <a:xfrm>
            <a:off x="1016000" y="2854911"/>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6068C640-0360-3F82-411D-F939B91CB887}"/>
              </a:ext>
            </a:extLst>
          </p:cNvPr>
          <p:cNvSpPr txBox="1"/>
          <p:nvPr/>
        </p:nvSpPr>
        <p:spPr>
          <a:xfrm>
            <a:off x="1293757" y="2773848"/>
            <a:ext cx="10593443" cy="971157"/>
          </a:xfrm>
          <a:prstGeom prst="rect">
            <a:avLst/>
          </a:prstGeom>
          <a:noFill/>
        </p:spPr>
        <p:txBody>
          <a:bodyPr wrap="square" lIns="91440" tIns="45720" rIns="91440" bIns="45720" anchor="ctr">
            <a:noAutofit/>
          </a:bodyPr>
          <a:lstStyle/>
          <a:p>
            <a:r>
              <a:rPr lang="zh-CN" altLang="en-US" b="1" dirty="0"/>
              <a:t>不但在本地域名服务器中需要高速缓存，在用户</a:t>
            </a:r>
            <a:r>
              <a:rPr lang="zh-CN" altLang="en-US" b="1" dirty="0">
                <a:solidFill>
                  <a:schemeClr val="accent1">
                    <a:lumMod val="75000"/>
                  </a:schemeClr>
                </a:solidFill>
              </a:rPr>
              <a:t>主机</a:t>
            </a:r>
            <a:r>
              <a:rPr lang="zh-CN" altLang="en-US" b="1" dirty="0"/>
              <a:t>中也很需要。许多用户主机在启动时从本地域名服务器下载域名和</a:t>
            </a:r>
            <a:r>
              <a:rPr lang="en-US" altLang="zh-CN" b="1" dirty="0"/>
              <a:t>IP</a:t>
            </a:r>
            <a:r>
              <a:rPr lang="zh-CN" altLang="en-US" b="1" dirty="0"/>
              <a:t>地址的全部数据库，维护存放自己最近使用的域名的高速缓存，并且只在从缓存中找不到域名时才向域名服务器查询。同理，主机也需要保持</a:t>
            </a:r>
            <a:r>
              <a:rPr lang="zh-CN" altLang="en-US" b="1" dirty="0">
                <a:solidFill>
                  <a:schemeClr val="accent1">
                    <a:lumMod val="75000"/>
                  </a:schemeClr>
                </a:solidFill>
              </a:rPr>
              <a:t>高速缓存</a:t>
            </a:r>
            <a:r>
              <a:rPr lang="zh-CN" altLang="en-US" b="1" dirty="0"/>
              <a:t>中内容的正确性。</a:t>
            </a:r>
            <a:endParaRPr lang="en-US" altLang="zh-CN" b="1" dirty="0">
              <a:solidFill>
                <a:srgbClr val="C00000"/>
              </a:solidFill>
            </a:endParaRPr>
          </a:p>
        </p:txBody>
      </p:sp>
    </p:spTree>
    <p:custDataLst>
      <p:tags r:id="rId1"/>
    </p:custDataLst>
    <p:extLst>
      <p:ext uri="{BB962C8B-B14F-4D97-AF65-F5344CB8AC3E}">
        <p14:creationId xmlns:p14="http://schemas.microsoft.com/office/powerpoint/2010/main" val="142624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 calcmode="lin" valueType="num">
                                      <p:cBhvr>
                                        <p:cTn id="20" dur="500" fill="hold"/>
                                        <p:tgtEl>
                                          <p:spTgt spid="7"/>
                                        </p:tgtEl>
                                        <p:attrNameLst>
                                          <p:attrName>style.rotation</p:attrName>
                                        </p:attrNameLst>
                                      </p:cBhvr>
                                      <p:tavLst>
                                        <p:tav tm="0">
                                          <p:val>
                                            <p:fltVal val="360"/>
                                          </p:val>
                                        </p:tav>
                                        <p:tav tm="100000">
                                          <p:val>
                                            <p:fltVal val="0"/>
                                          </p:val>
                                        </p:tav>
                                      </p:tavLst>
                                    </p:anim>
                                    <p:animEffect transition="in" filter="fade">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2C93995F-012F-9353-DD35-A740C9F89970}"/>
              </a:ext>
            </a:extLst>
          </p:cNvPr>
          <p:cNvSpPr/>
          <p:nvPr/>
        </p:nvSpPr>
        <p:spPr>
          <a:xfrm>
            <a:off x="3067845" y="1234245"/>
            <a:ext cx="2284084" cy="28584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3C766A37-BE0A-12A3-CAE8-D1F3471459FD}"/>
              </a:ext>
            </a:extLst>
          </p:cNvPr>
          <p:cNvSpPr/>
          <p:nvPr/>
        </p:nvSpPr>
        <p:spPr>
          <a:xfrm>
            <a:off x="6250315" y="1234246"/>
            <a:ext cx="916967" cy="28584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grpSp>
        <p:nvGrpSpPr>
          <p:cNvPr id="14" name="组合 13">
            <a:extLst>
              <a:ext uri="{FF2B5EF4-FFF2-40B4-BE49-F238E27FC236}">
                <a16:creationId xmlns:a16="http://schemas.microsoft.com/office/drawing/2014/main" id="{7D954603-0A40-71C4-F6BF-7C2E569839B4}"/>
              </a:ext>
            </a:extLst>
          </p:cNvPr>
          <p:cNvGrpSpPr/>
          <p:nvPr/>
        </p:nvGrpSpPr>
        <p:grpSpPr>
          <a:xfrm>
            <a:off x="1001806" y="1243853"/>
            <a:ext cx="10885394" cy="925438"/>
            <a:chOff x="1001806" y="1243853"/>
            <a:chExt cx="10885394" cy="925438"/>
          </a:xfrm>
        </p:grpSpPr>
        <p:sp>
          <p:nvSpPr>
            <p:cNvPr id="9" name="文本框 8">
              <a:extLst>
                <a:ext uri="{FF2B5EF4-FFF2-40B4-BE49-F238E27FC236}">
                  <a16:creationId xmlns:a16="http://schemas.microsoft.com/office/drawing/2014/main" id="{B75B0EF8-9E8B-E6C9-AC7C-7C31739B9937}"/>
                </a:ext>
              </a:extLst>
            </p:cNvPr>
            <p:cNvSpPr txBox="1"/>
            <p:nvPr/>
          </p:nvSpPr>
          <p:spPr>
            <a:xfrm>
              <a:off x="1001806" y="1243853"/>
              <a:ext cx="10885394" cy="553998"/>
            </a:xfrm>
            <a:prstGeom prst="rect">
              <a:avLst/>
            </a:prstGeom>
            <a:noFill/>
          </p:spPr>
          <p:txBody>
            <a:bodyPr wrap="square" lIns="0" tIns="0" rIns="0" bIns="0" rtlCol="0">
              <a:spAutoFit/>
            </a:bodyPr>
            <a:lstStyle/>
            <a:p>
              <a:r>
                <a:rPr lang="en-US" altLang="zh-CN" b="1" dirty="0"/>
                <a:t>【2010</a:t>
              </a:r>
              <a:r>
                <a:rPr lang="zh-CN" altLang="en-US" b="1" dirty="0"/>
                <a:t>年 题</a:t>
              </a:r>
              <a:r>
                <a:rPr lang="en-US" altLang="zh-CN" b="1" dirty="0"/>
                <a:t>40】</a:t>
              </a:r>
              <a:r>
                <a:rPr lang="zh-CN" altLang="en-US" b="1" dirty="0"/>
                <a:t>如果本地域名服务器无缓存，当采用递归方法解析另一网络某主机域名时，</a:t>
              </a:r>
              <a:endParaRPr lang="en-US" altLang="zh-CN" b="1" dirty="0"/>
            </a:p>
            <a:p>
              <a:r>
                <a:rPr lang="en-US" altLang="zh-CN" b="1" dirty="0"/>
                <a:t>                              </a:t>
              </a:r>
              <a:r>
                <a:rPr lang="zh-CN" altLang="en-US" b="1" dirty="0"/>
                <a:t>用户主机、本地域名服务器发送的域名请求消息数分别为（      ）。</a:t>
              </a:r>
            </a:p>
          </p:txBody>
        </p:sp>
        <p:sp>
          <p:nvSpPr>
            <p:cNvPr id="10" name="文本框 9">
              <a:extLst>
                <a:ext uri="{FF2B5EF4-FFF2-40B4-BE49-F238E27FC236}">
                  <a16:creationId xmlns:a16="http://schemas.microsoft.com/office/drawing/2014/main" id="{1AC159D6-0CFE-EEC2-5F9C-720E0396D847}"/>
                </a:ext>
              </a:extLst>
            </p:cNvPr>
            <p:cNvSpPr txBox="1"/>
            <p:nvPr/>
          </p:nvSpPr>
          <p:spPr>
            <a:xfrm>
              <a:off x="2559424" y="1892292"/>
              <a:ext cx="1548653" cy="276999"/>
            </a:xfrm>
            <a:prstGeom prst="rect">
              <a:avLst/>
            </a:prstGeom>
            <a:noFill/>
          </p:spPr>
          <p:txBody>
            <a:bodyPr wrap="square" lIns="0" tIns="0" rIns="0" bIns="0" rtlCol="0">
              <a:spAutoFit/>
            </a:bodyPr>
            <a:lstStyle/>
            <a:p>
              <a:r>
                <a:rPr lang="en-US" altLang="zh-CN" b="1" dirty="0"/>
                <a:t>A. </a:t>
              </a:r>
              <a:r>
                <a:rPr lang="zh-CN" altLang="en-US" b="1" dirty="0"/>
                <a:t>一条、一条</a:t>
              </a:r>
            </a:p>
          </p:txBody>
        </p:sp>
        <p:sp>
          <p:nvSpPr>
            <p:cNvPr id="11" name="文本框 10">
              <a:extLst>
                <a:ext uri="{FF2B5EF4-FFF2-40B4-BE49-F238E27FC236}">
                  <a16:creationId xmlns:a16="http://schemas.microsoft.com/office/drawing/2014/main" id="{DA9D7D7E-F355-CEBD-4CD1-1F8F4C31E9C7}"/>
                </a:ext>
              </a:extLst>
            </p:cNvPr>
            <p:cNvSpPr txBox="1"/>
            <p:nvPr/>
          </p:nvSpPr>
          <p:spPr>
            <a:xfrm>
              <a:off x="4943289" y="1892292"/>
              <a:ext cx="1548653" cy="276999"/>
            </a:xfrm>
            <a:prstGeom prst="rect">
              <a:avLst/>
            </a:prstGeom>
            <a:noFill/>
          </p:spPr>
          <p:txBody>
            <a:bodyPr wrap="square" lIns="0" tIns="0" rIns="0" bIns="0" rtlCol="0">
              <a:spAutoFit/>
            </a:bodyPr>
            <a:lstStyle/>
            <a:p>
              <a:r>
                <a:rPr lang="en-US" altLang="zh-CN" b="1" dirty="0"/>
                <a:t>B. </a:t>
              </a:r>
              <a:r>
                <a:rPr lang="zh-CN" altLang="en-US" b="1" dirty="0"/>
                <a:t>一条、多条</a:t>
              </a:r>
            </a:p>
          </p:txBody>
        </p:sp>
        <p:sp>
          <p:nvSpPr>
            <p:cNvPr id="12" name="文本框 11">
              <a:extLst>
                <a:ext uri="{FF2B5EF4-FFF2-40B4-BE49-F238E27FC236}">
                  <a16:creationId xmlns:a16="http://schemas.microsoft.com/office/drawing/2014/main" id="{72E3669B-7A7C-A0E1-4C36-99BE9F418C4B}"/>
                </a:ext>
              </a:extLst>
            </p:cNvPr>
            <p:cNvSpPr txBox="1"/>
            <p:nvPr/>
          </p:nvSpPr>
          <p:spPr>
            <a:xfrm>
              <a:off x="7327154" y="1892292"/>
              <a:ext cx="1548653" cy="276999"/>
            </a:xfrm>
            <a:prstGeom prst="rect">
              <a:avLst/>
            </a:prstGeom>
            <a:noFill/>
          </p:spPr>
          <p:txBody>
            <a:bodyPr wrap="square" lIns="0" tIns="0" rIns="0" bIns="0" rtlCol="0">
              <a:spAutoFit/>
            </a:bodyPr>
            <a:lstStyle/>
            <a:p>
              <a:r>
                <a:rPr lang="en-US" altLang="zh-CN" b="1" dirty="0"/>
                <a:t>C. </a:t>
              </a:r>
              <a:r>
                <a:rPr lang="zh-CN" altLang="en-US" b="1" dirty="0"/>
                <a:t>多条、一条</a:t>
              </a:r>
            </a:p>
          </p:txBody>
        </p:sp>
        <p:sp>
          <p:nvSpPr>
            <p:cNvPr id="13" name="文本框 12">
              <a:extLst>
                <a:ext uri="{FF2B5EF4-FFF2-40B4-BE49-F238E27FC236}">
                  <a16:creationId xmlns:a16="http://schemas.microsoft.com/office/drawing/2014/main" id="{4EDD03CA-A57E-AE84-87DF-E1ECECA27433}"/>
                </a:ext>
              </a:extLst>
            </p:cNvPr>
            <p:cNvSpPr txBox="1"/>
            <p:nvPr/>
          </p:nvSpPr>
          <p:spPr>
            <a:xfrm>
              <a:off x="9711018" y="1892292"/>
              <a:ext cx="1548653" cy="276999"/>
            </a:xfrm>
            <a:prstGeom prst="rect">
              <a:avLst/>
            </a:prstGeom>
            <a:noFill/>
          </p:spPr>
          <p:txBody>
            <a:bodyPr wrap="square" lIns="0" tIns="0" rIns="0" bIns="0" rtlCol="0">
              <a:spAutoFit/>
            </a:bodyPr>
            <a:lstStyle/>
            <a:p>
              <a:r>
                <a:rPr lang="en-US" altLang="zh-CN" b="1" dirty="0"/>
                <a:t>D. </a:t>
              </a:r>
              <a:r>
                <a:rPr lang="zh-CN" altLang="en-US" b="1" dirty="0"/>
                <a:t>多条、多条</a:t>
              </a:r>
            </a:p>
          </p:txBody>
        </p:sp>
      </p:grpSp>
      <p:sp>
        <p:nvSpPr>
          <p:cNvPr id="15" name="文本框 14">
            <a:extLst>
              <a:ext uri="{FF2B5EF4-FFF2-40B4-BE49-F238E27FC236}">
                <a16:creationId xmlns:a16="http://schemas.microsoft.com/office/drawing/2014/main" id="{1AA90769-DCF7-1349-4EEA-472B8A722B34}"/>
              </a:ext>
            </a:extLst>
          </p:cNvPr>
          <p:cNvSpPr txBox="1"/>
          <p:nvPr/>
        </p:nvSpPr>
        <p:spPr>
          <a:xfrm>
            <a:off x="8338671" y="1441233"/>
            <a:ext cx="670858" cy="430887"/>
          </a:xfrm>
          <a:prstGeom prst="rect">
            <a:avLst/>
          </a:prstGeom>
          <a:noFill/>
        </p:spPr>
        <p:txBody>
          <a:bodyPr wrap="square" lIns="0" tIns="0" rIns="0" bIns="0" rtlCol="0">
            <a:spAutoFit/>
          </a:bodyPr>
          <a:lstStyle/>
          <a:p>
            <a:pPr algn="ctr"/>
            <a:r>
              <a:rPr lang="en-US" altLang="zh-CN" sz="2800" b="1" dirty="0">
                <a:solidFill>
                  <a:schemeClr val="accent1">
                    <a:lumMod val="75000"/>
                  </a:schemeClr>
                </a:solidFill>
                <a:latin typeface="Arial Black" panose="020B0A04020102020204" pitchFamily="34" charset="0"/>
              </a:rPr>
              <a:t>A</a:t>
            </a:r>
            <a:endParaRPr lang="zh-CN" altLang="en-US" sz="2800" b="1" dirty="0">
              <a:solidFill>
                <a:schemeClr val="accent1">
                  <a:lumMod val="75000"/>
                </a:schemeClr>
              </a:solidFill>
              <a:latin typeface="Arial Black" panose="020B0A04020102020204" pitchFamily="34" charset="0"/>
            </a:endParaRPr>
          </a:p>
        </p:txBody>
      </p:sp>
      <p:sp>
        <p:nvSpPr>
          <p:cNvPr id="16" name="文本框 15">
            <a:extLst>
              <a:ext uri="{FF2B5EF4-FFF2-40B4-BE49-F238E27FC236}">
                <a16:creationId xmlns:a16="http://schemas.microsoft.com/office/drawing/2014/main" id="{ED1B02D0-3C6B-6839-D950-AE3B2E89E952}"/>
              </a:ext>
            </a:extLst>
          </p:cNvPr>
          <p:cNvSpPr txBox="1"/>
          <p:nvPr/>
        </p:nvSpPr>
        <p:spPr>
          <a:xfrm>
            <a:off x="1149724" y="2176014"/>
            <a:ext cx="847164" cy="276999"/>
          </a:xfrm>
          <a:prstGeom prst="rect">
            <a:avLst/>
          </a:prstGeom>
          <a:noFill/>
        </p:spPr>
        <p:txBody>
          <a:bodyPr wrap="square" lIns="0" tIns="0" rIns="0" bIns="0" rtlCol="0">
            <a:spAutoFit/>
          </a:bodyPr>
          <a:lstStyle/>
          <a:p>
            <a:r>
              <a:rPr lang="zh-CN" altLang="en-US" b="1" dirty="0"/>
              <a:t>解析</a:t>
            </a:r>
          </a:p>
        </p:txBody>
      </p:sp>
      <p:pic>
        <p:nvPicPr>
          <p:cNvPr id="20" name="图片 19" descr="图形用户界面, 应用程序&#10;&#10;描述已自动生成">
            <a:extLst>
              <a:ext uri="{FF2B5EF4-FFF2-40B4-BE49-F238E27FC236}">
                <a16:creationId xmlns:a16="http://schemas.microsoft.com/office/drawing/2014/main" id="{94C2FE7F-8C43-7EE1-727C-F24F11A779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77127" y="2653069"/>
            <a:ext cx="8073373" cy="3816460"/>
          </a:xfrm>
          <a:prstGeom prst="rect">
            <a:avLst/>
          </a:prstGeom>
        </p:spPr>
      </p:pic>
      <p:sp>
        <p:nvSpPr>
          <p:cNvPr id="21" name="对话气泡: 矩形 20">
            <a:extLst>
              <a:ext uri="{FF2B5EF4-FFF2-40B4-BE49-F238E27FC236}">
                <a16:creationId xmlns:a16="http://schemas.microsoft.com/office/drawing/2014/main" id="{A130887B-1060-3DC4-09A1-5B6F848B75C0}"/>
              </a:ext>
            </a:extLst>
          </p:cNvPr>
          <p:cNvSpPr/>
          <p:nvPr/>
        </p:nvSpPr>
        <p:spPr>
          <a:xfrm>
            <a:off x="1409374" y="4616398"/>
            <a:ext cx="2512359" cy="443752"/>
          </a:xfrm>
          <a:prstGeom prst="wedgeRectCallout">
            <a:avLst>
              <a:gd name="adj1" fmla="val 82159"/>
              <a:gd name="adj2" fmla="val -753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主机发送一条</a:t>
            </a:r>
            <a:r>
              <a:rPr lang="en-US" altLang="zh-CN" b="1" dirty="0"/>
              <a:t>DNS</a:t>
            </a:r>
            <a:r>
              <a:rPr lang="zh-CN" altLang="en-US" b="1" dirty="0"/>
              <a:t>查询</a:t>
            </a:r>
          </a:p>
        </p:txBody>
      </p:sp>
      <p:sp>
        <p:nvSpPr>
          <p:cNvPr id="22" name="对话气泡: 矩形 21">
            <a:extLst>
              <a:ext uri="{FF2B5EF4-FFF2-40B4-BE49-F238E27FC236}">
                <a16:creationId xmlns:a16="http://schemas.microsoft.com/office/drawing/2014/main" id="{425B54BB-2CB4-93E8-9A4E-4C56A91EF883}"/>
              </a:ext>
            </a:extLst>
          </p:cNvPr>
          <p:cNvSpPr/>
          <p:nvPr/>
        </p:nvSpPr>
        <p:spPr>
          <a:xfrm>
            <a:off x="3872753" y="2541496"/>
            <a:ext cx="3617259" cy="443752"/>
          </a:xfrm>
          <a:prstGeom prst="wedgeRectCallout">
            <a:avLst>
              <a:gd name="adj1" fmla="val 47657"/>
              <a:gd name="adj2" fmla="val 33219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本地域名服务器发送一条</a:t>
            </a:r>
            <a:r>
              <a:rPr lang="en-US" altLang="zh-CN" b="1" dirty="0"/>
              <a:t>DNS</a:t>
            </a:r>
            <a:r>
              <a:rPr lang="zh-CN" altLang="en-US" b="1" dirty="0"/>
              <a:t>查询</a:t>
            </a:r>
          </a:p>
        </p:txBody>
      </p:sp>
    </p:spTree>
    <p:custDataLst>
      <p:tags r:id="rId1"/>
    </p:custDataLst>
    <p:extLst>
      <p:ext uri="{BB962C8B-B14F-4D97-AF65-F5344CB8AC3E}">
        <p14:creationId xmlns:p14="http://schemas.microsoft.com/office/powerpoint/2010/main" val="334554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800" decel="100000"/>
                                        <p:tgtEl>
                                          <p:spTgt spid="14"/>
                                        </p:tgtEl>
                                      </p:cBhvr>
                                    </p:animEffect>
                                    <p:anim calcmode="lin" valueType="num">
                                      <p:cBhvr>
                                        <p:cTn id="8" dur="800" decel="100000" fill="hold"/>
                                        <p:tgtEl>
                                          <p:spTgt spid="14"/>
                                        </p:tgtEl>
                                        <p:attrNameLst>
                                          <p:attrName>style.rotation</p:attrName>
                                        </p:attrNameLst>
                                      </p:cBhvr>
                                      <p:tavLst>
                                        <p:tav tm="0">
                                          <p:val>
                                            <p:fltVal val="-90"/>
                                          </p:val>
                                        </p:tav>
                                        <p:tav tm="100000">
                                          <p:val>
                                            <p:fltVal val="0"/>
                                          </p:val>
                                        </p:tav>
                                      </p:tavLst>
                                    </p:anim>
                                    <p:anim calcmode="lin" valueType="num">
                                      <p:cBhvr>
                                        <p:cTn id="9" dur="800" decel="100000" fill="hold"/>
                                        <p:tgtEl>
                                          <p:spTgt spid="14"/>
                                        </p:tgtEl>
                                        <p:attrNameLst>
                                          <p:attrName>ppt_x</p:attrName>
                                        </p:attrNameLst>
                                      </p:cBhvr>
                                      <p:tavLst>
                                        <p:tav tm="0">
                                          <p:val>
                                            <p:strVal val="#ppt_x+0.4"/>
                                          </p:val>
                                        </p:tav>
                                        <p:tav tm="100000">
                                          <p:val>
                                            <p:strVal val="#ppt_x-0.05"/>
                                          </p:val>
                                        </p:tav>
                                      </p:tavLst>
                                    </p:anim>
                                    <p:anim calcmode="lin" valueType="num">
                                      <p:cBhvr>
                                        <p:cTn id="10" dur="800" decel="100000" fill="hold"/>
                                        <p:tgtEl>
                                          <p:spTgt spid="1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800" decel="100000"/>
                                        <p:tgtEl>
                                          <p:spTgt spid="15"/>
                                        </p:tgtEl>
                                      </p:cBhvr>
                                    </p:animEffect>
                                    <p:anim calcmode="lin" valueType="num">
                                      <p:cBhvr>
                                        <p:cTn id="18" dur="800" decel="100000" fill="hold"/>
                                        <p:tgtEl>
                                          <p:spTgt spid="15"/>
                                        </p:tgtEl>
                                        <p:attrNameLst>
                                          <p:attrName>style.rotation</p:attrName>
                                        </p:attrNameLst>
                                      </p:cBhvr>
                                      <p:tavLst>
                                        <p:tav tm="0">
                                          <p:val>
                                            <p:fltVal val="-90"/>
                                          </p:val>
                                        </p:tav>
                                        <p:tav tm="100000">
                                          <p:val>
                                            <p:fltVal val="0"/>
                                          </p:val>
                                        </p:tav>
                                      </p:tavLst>
                                    </p:anim>
                                    <p:anim calcmode="lin" valueType="num">
                                      <p:cBhvr>
                                        <p:cTn id="19" dur="800" decel="100000" fill="hold"/>
                                        <p:tgtEl>
                                          <p:spTgt spid="15"/>
                                        </p:tgtEl>
                                        <p:attrNameLst>
                                          <p:attrName>ppt_x</p:attrName>
                                        </p:attrNameLst>
                                      </p:cBhvr>
                                      <p:tavLst>
                                        <p:tav tm="0">
                                          <p:val>
                                            <p:strVal val="#ppt_x+0.4"/>
                                          </p:val>
                                        </p:tav>
                                        <p:tav tm="100000">
                                          <p:val>
                                            <p:strVal val="#ppt_x-0.05"/>
                                          </p:val>
                                        </p:tav>
                                      </p:tavLst>
                                    </p:anim>
                                    <p:anim calcmode="lin" valueType="num">
                                      <p:cBhvr>
                                        <p:cTn id="20" dur="800" decel="100000" fill="hold"/>
                                        <p:tgtEl>
                                          <p:spTgt spid="15"/>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5"/>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5"/>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3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800" decel="100000"/>
                                        <p:tgtEl>
                                          <p:spTgt spid="23"/>
                                        </p:tgtEl>
                                      </p:cBhvr>
                                    </p:animEffect>
                                    <p:anim calcmode="lin" valueType="num">
                                      <p:cBhvr>
                                        <p:cTn id="35" dur="800" decel="100000" fill="hold"/>
                                        <p:tgtEl>
                                          <p:spTgt spid="23"/>
                                        </p:tgtEl>
                                        <p:attrNameLst>
                                          <p:attrName>style.rotation</p:attrName>
                                        </p:attrNameLst>
                                      </p:cBhvr>
                                      <p:tavLst>
                                        <p:tav tm="0">
                                          <p:val>
                                            <p:fltVal val="-90"/>
                                          </p:val>
                                        </p:tav>
                                        <p:tav tm="100000">
                                          <p:val>
                                            <p:fltVal val="0"/>
                                          </p:val>
                                        </p:tav>
                                      </p:tavLst>
                                    </p:anim>
                                    <p:anim calcmode="lin" valueType="num">
                                      <p:cBhvr>
                                        <p:cTn id="36" dur="800" decel="100000" fill="hold"/>
                                        <p:tgtEl>
                                          <p:spTgt spid="23"/>
                                        </p:tgtEl>
                                        <p:attrNameLst>
                                          <p:attrName>ppt_x</p:attrName>
                                        </p:attrNameLst>
                                      </p:cBhvr>
                                      <p:tavLst>
                                        <p:tav tm="0">
                                          <p:val>
                                            <p:strVal val="#ppt_x+0.4"/>
                                          </p:val>
                                        </p:tav>
                                        <p:tav tm="100000">
                                          <p:val>
                                            <p:strVal val="#ppt_x-0.05"/>
                                          </p:val>
                                        </p:tav>
                                      </p:tavLst>
                                    </p:anim>
                                    <p:anim calcmode="lin" valueType="num">
                                      <p:cBhvr>
                                        <p:cTn id="37" dur="800" decel="100000" fill="hold"/>
                                        <p:tgtEl>
                                          <p:spTgt spid="23"/>
                                        </p:tgtEl>
                                        <p:attrNameLst>
                                          <p:attrName>ppt_y</p:attrName>
                                        </p:attrNameLst>
                                      </p:cBhvr>
                                      <p:tavLst>
                                        <p:tav tm="0">
                                          <p:val>
                                            <p:strVal val="#ppt_y-0.4"/>
                                          </p:val>
                                        </p:tav>
                                        <p:tav tm="100000">
                                          <p:val>
                                            <p:strVal val="#ppt_y+0.1"/>
                                          </p:val>
                                        </p:tav>
                                      </p:tavLst>
                                    </p:anim>
                                    <p:anim calcmode="lin" valueType="num">
                                      <p:cBhvr>
                                        <p:cTn id="38" dur="200" accel="100000" fill="hold">
                                          <p:stCondLst>
                                            <p:cond delay="800"/>
                                          </p:stCondLst>
                                        </p:cTn>
                                        <p:tgtEl>
                                          <p:spTgt spid="23"/>
                                        </p:tgtEl>
                                        <p:attrNameLst>
                                          <p:attrName>ppt_x</p:attrName>
                                        </p:attrNameLst>
                                      </p:cBhvr>
                                      <p:tavLst>
                                        <p:tav tm="0">
                                          <p:val>
                                            <p:strVal val="#ppt_x-0.05"/>
                                          </p:val>
                                        </p:tav>
                                        <p:tav tm="100000">
                                          <p:val>
                                            <p:strVal val="#ppt_x"/>
                                          </p:val>
                                        </p:tav>
                                      </p:tavLst>
                                    </p:anim>
                                    <p:anim calcmode="lin" valueType="num">
                                      <p:cBhvr>
                                        <p:cTn id="39" dur="200" accel="100000" fill="hold">
                                          <p:stCondLst>
                                            <p:cond delay="800"/>
                                          </p:stCondLst>
                                        </p:cTn>
                                        <p:tgtEl>
                                          <p:spTgt spid="23"/>
                                        </p:tgtEl>
                                        <p:attrNameLst>
                                          <p:attrName>ppt_y</p:attrName>
                                        </p:attrNameLst>
                                      </p:cBhvr>
                                      <p:tavLst>
                                        <p:tav tm="0">
                                          <p:val>
                                            <p:strVal val="#ppt_y+0.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additive="base">
                                        <p:cTn id="44" dur="500" fill="hold"/>
                                        <p:tgtEl>
                                          <p:spTgt spid="20"/>
                                        </p:tgtEl>
                                        <p:attrNameLst>
                                          <p:attrName>ppt_x</p:attrName>
                                        </p:attrNameLst>
                                      </p:cBhvr>
                                      <p:tavLst>
                                        <p:tav tm="0">
                                          <p:val>
                                            <p:strVal val="#ppt_x"/>
                                          </p:val>
                                        </p:tav>
                                        <p:tav tm="100000">
                                          <p:val>
                                            <p:strVal val="#ppt_x"/>
                                          </p:val>
                                        </p:tav>
                                      </p:tavLst>
                                    </p:anim>
                                    <p:anim calcmode="lin" valueType="num">
                                      <p:cBhvr additive="base">
                                        <p:cTn id="4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2"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right)">
                                      <p:cBhvr>
                                        <p:cTn id="50" dur="7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3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800" decel="100000"/>
                                        <p:tgtEl>
                                          <p:spTgt spid="24"/>
                                        </p:tgtEl>
                                      </p:cBhvr>
                                    </p:animEffect>
                                    <p:anim calcmode="lin" valueType="num">
                                      <p:cBhvr>
                                        <p:cTn id="56" dur="800" decel="100000" fill="hold"/>
                                        <p:tgtEl>
                                          <p:spTgt spid="24"/>
                                        </p:tgtEl>
                                        <p:attrNameLst>
                                          <p:attrName>style.rotation</p:attrName>
                                        </p:attrNameLst>
                                      </p:cBhvr>
                                      <p:tavLst>
                                        <p:tav tm="0">
                                          <p:val>
                                            <p:fltVal val="-90"/>
                                          </p:val>
                                        </p:tav>
                                        <p:tav tm="100000">
                                          <p:val>
                                            <p:fltVal val="0"/>
                                          </p:val>
                                        </p:tav>
                                      </p:tavLst>
                                    </p:anim>
                                    <p:anim calcmode="lin" valueType="num">
                                      <p:cBhvr>
                                        <p:cTn id="57" dur="800" decel="100000" fill="hold"/>
                                        <p:tgtEl>
                                          <p:spTgt spid="24"/>
                                        </p:tgtEl>
                                        <p:attrNameLst>
                                          <p:attrName>ppt_x</p:attrName>
                                        </p:attrNameLst>
                                      </p:cBhvr>
                                      <p:tavLst>
                                        <p:tav tm="0">
                                          <p:val>
                                            <p:strVal val="#ppt_x+0.4"/>
                                          </p:val>
                                        </p:tav>
                                        <p:tav tm="100000">
                                          <p:val>
                                            <p:strVal val="#ppt_x-0.05"/>
                                          </p:val>
                                        </p:tav>
                                      </p:tavLst>
                                    </p:anim>
                                    <p:anim calcmode="lin" valueType="num">
                                      <p:cBhvr>
                                        <p:cTn id="58" dur="800" decel="100000" fill="hold"/>
                                        <p:tgtEl>
                                          <p:spTgt spid="24"/>
                                        </p:tgtEl>
                                        <p:attrNameLst>
                                          <p:attrName>ppt_y</p:attrName>
                                        </p:attrNameLst>
                                      </p:cBhvr>
                                      <p:tavLst>
                                        <p:tav tm="0">
                                          <p:val>
                                            <p:strVal val="#ppt_y-0.4"/>
                                          </p:val>
                                        </p:tav>
                                        <p:tav tm="100000">
                                          <p:val>
                                            <p:strVal val="#ppt_y+0.1"/>
                                          </p:val>
                                        </p:tav>
                                      </p:tavLst>
                                    </p:anim>
                                    <p:anim calcmode="lin" valueType="num">
                                      <p:cBhvr>
                                        <p:cTn id="59" dur="200" accel="100000" fill="hold">
                                          <p:stCondLst>
                                            <p:cond delay="800"/>
                                          </p:stCondLst>
                                        </p:cTn>
                                        <p:tgtEl>
                                          <p:spTgt spid="24"/>
                                        </p:tgtEl>
                                        <p:attrNameLst>
                                          <p:attrName>ppt_x</p:attrName>
                                        </p:attrNameLst>
                                      </p:cBhvr>
                                      <p:tavLst>
                                        <p:tav tm="0">
                                          <p:val>
                                            <p:strVal val="#ppt_x-0.05"/>
                                          </p:val>
                                        </p:tav>
                                        <p:tav tm="100000">
                                          <p:val>
                                            <p:strVal val="#ppt_x"/>
                                          </p:val>
                                        </p:tav>
                                      </p:tavLst>
                                    </p:anim>
                                    <p:anim calcmode="lin" valueType="num">
                                      <p:cBhvr>
                                        <p:cTn id="60" dur="200" accel="100000" fill="hold">
                                          <p:stCondLst>
                                            <p:cond delay="800"/>
                                          </p:stCondLst>
                                        </p:cTn>
                                        <p:tgtEl>
                                          <p:spTgt spid="24"/>
                                        </p:tgtEl>
                                        <p:attrNameLst>
                                          <p:attrName>ppt_y</p:attrName>
                                        </p:attrNameLst>
                                      </p:cBhvr>
                                      <p:tavLst>
                                        <p:tav tm="0">
                                          <p:val>
                                            <p:strVal val="#ppt_y+0.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down)">
                                      <p:cBhvr>
                                        <p:cTn id="6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3" grpId="0" animBg="1"/>
      <p:bldP spid="15" grpId="0"/>
      <p:bldP spid="16" grpId="0"/>
      <p:bldP spid="21"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970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21123" y="898245"/>
              <a:ext cx="5495338" cy="400110"/>
            </a:xfrm>
            <a:prstGeom prst="rect">
              <a:avLst/>
            </a:prstGeom>
            <a:noFill/>
          </p:spPr>
          <p:txBody>
            <a:bodyPr wrap="square" rtlCol="0">
              <a:spAutoFit/>
            </a:bodyPr>
            <a:lstStyle/>
            <a:p>
              <a:r>
                <a:rPr lang="zh-CN" altLang="en-US" sz="2000" b="1" dirty="0">
                  <a:latin typeface="+mj-ea"/>
                  <a:ea typeface="+mj-ea"/>
                </a:rPr>
                <a:t>因特网的域名解析过程</a:t>
              </a:r>
            </a:p>
          </p:txBody>
        </p:sp>
      </p:grpSp>
      <p:sp>
        <p:nvSpPr>
          <p:cNvPr id="15" name="文本框 14">
            <a:extLst>
              <a:ext uri="{FF2B5EF4-FFF2-40B4-BE49-F238E27FC236}">
                <a16:creationId xmlns:a16="http://schemas.microsoft.com/office/drawing/2014/main" id="{1AA90769-DCF7-1349-4EEA-472B8A722B34}"/>
              </a:ext>
            </a:extLst>
          </p:cNvPr>
          <p:cNvSpPr txBox="1"/>
          <p:nvPr/>
        </p:nvSpPr>
        <p:spPr>
          <a:xfrm>
            <a:off x="4415494" y="2000797"/>
            <a:ext cx="670858" cy="430887"/>
          </a:xfrm>
          <a:prstGeom prst="rect">
            <a:avLst/>
          </a:prstGeom>
          <a:noFill/>
        </p:spPr>
        <p:txBody>
          <a:bodyPr wrap="square" lIns="0" tIns="0" rIns="0" bIns="0"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p:grpSp>
        <p:nvGrpSpPr>
          <p:cNvPr id="18" name="组合 17">
            <a:extLst>
              <a:ext uri="{FF2B5EF4-FFF2-40B4-BE49-F238E27FC236}">
                <a16:creationId xmlns:a16="http://schemas.microsoft.com/office/drawing/2014/main" id="{199A21F6-8B82-A229-C8CB-B1A72EAB2680}"/>
              </a:ext>
            </a:extLst>
          </p:cNvPr>
          <p:cNvGrpSpPr/>
          <p:nvPr/>
        </p:nvGrpSpPr>
        <p:grpSpPr>
          <a:xfrm>
            <a:off x="304800" y="1243853"/>
            <a:ext cx="5791200" cy="5136026"/>
            <a:chOff x="304800" y="1243853"/>
            <a:chExt cx="5791200" cy="5136026"/>
          </a:xfrm>
        </p:grpSpPr>
        <p:sp>
          <p:nvSpPr>
            <p:cNvPr id="9" name="文本框 8">
              <a:extLst>
                <a:ext uri="{FF2B5EF4-FFF2-40B4-BE49-F238E27FC236}">
                  <a16:creationId xmlns:a16="http://schemas.microsoft.com/office/drawing/2014/main" id="{B75B0EF8-9E8B-E6C9-AC7C-7C31739B9937}"/>
                </a:ext>
              </a:extLst>
            </p:cNvPr>
            <p:cNvSpPr txBox="1"/>
            <p:nvPr/>
          </p:nvSpPr>
          <p:spPr>
            <a:xfrm>
              <a:off x="304800" y="1243853"/>
              <a:ext cx="5791200" cy="1107996"/>
            </a:xfrm>
            <a:prstGeom prst="rect">
              <a:avLst/>
            </a:prstGeom>
            <a:noFill/>
          </p:spPr>
          <p:txBody>
            <a:bodyPr wrap="square" lIns="0" tIns="0" rIns="0" bIns="0" rtlCol="0">
              <a:spAutoFit/>
            </a:bodyPr>
            <a:lstStyle/>
            <a:p>
              <a:r>
                <a:rPr lang="en-US" altLang="zh-CN" b="1" dirty="0"/>
                <a:t>【2016</a:t>
              </a:r>
              <a:r>
                <a:rPr lang="zh-CN" altLang="en-US" b="1" dirty="0"/>
                <a:t>年 题</a:t>
              </a:r>
              <a:r>
                <a:rPr lang="en-US" altLang="zh-CN" b="1" dirty="0"/>
                <a:t>40】</a:t>
              </a:r>
              <a:r>
                <a:rPr lang="zh-CN" altLang="en-US" b="1" dirty="0"/>
                <a:t>假设所有域名服务器均采用迭代查询方式进行域名解析，当</a:t>
              </a:r>
              <a:r>
                <a:rPr lang="en-US" altLang="zh-CN" b="1" dirty="0"/>
                <a:t>H4</a:t>
              </a:r>
              <a:r>
                <a:rPr lang="zh-CN" altLang="en-US" b="1" dirty="0"/>
                <a:t>访问规范域名为</a:t>
              </a:r>
              <a:r>
                <a:rPr lang="en-US" altLang="zh-CN" b="1" dirty="0"/>
                <a:t>www.abc.xyz.com</a:t>
              </a:r>
              <a:r>
                <a:rPr lang="zh-CN" altLang="en-US" b="1" dirty="0"/>
                <a:t>的网站时，域名服务器</a:t>
              </a:r>
              <a:r>
                <a:rPr lang="en-US" altLang="zh-CN" b="1" dirty="0"/>
                <a:t>201.1.1.1</a:t>
              </a:r>
              <a:r>
                <a:rPr lang="zh-CN" altLang="en-US" b="1" dirty="0"/>
                <a:t>在完成该域名解析过程中，可能发出</a:t>
              </a:r>
              <a:r>
                <a:rPr lang="en-US" altLang="zh-CN" b="1" dirty="0"/>
                <a:t>DNS</a:t>
              </a:r>
              <a:r>
                <a:rPr lang="zh-CN" altLang="en-US" b="1" dirty="0"/>
                <a:t>查询的最少和最多次数分别是（      ）。</a:t>
              </a:r>
            </a:p>
          </p:txBody>
        </p:sp>
        <p:sp>
          <p:nvSpPr>
            <p:cNvPr id="10" name="文本框 9">
              <a:extLst>
                <a:ext uri="{FF2B5EF4-FFF2-40B4-BE49-F238E27FC236}">
                  <a16:creationId xmlns:a16="http://schemas.microsoft.com/office/drawing/2014/main" id="{1AC159D6-0CFE-EEC2-5F9C-720E0396D847}"/>
                </a:ext>
              </a:extLst>
            </p:cNvPr>
            <p:cNvSpPr txBox="1"/>
            <p:nvPr/>
          </p:nvSpPr>
          <p:spPr>
            <a:xfrm>
              <a:off x="414623" y="6102880"/>
              <a:ext cx="809064" cy="276999"/>
            </a:xfrm>
            <a:prstGeom prst="rect">
              <a:avLst/>
            </a:prstGeom>
            <a:noFill/>
          </p:spPr>
          <p:txBody>
            <a:bodyPr wrap="square" lIns="0" tIns="0" rIns="0" bIns="0" rtlCol="0">
              <a:spAutoFit/>
            </a:bodyPr>
            <a:lstStyle/>
            <a:p>
              <a:r>
                <a:rPr lang="en-US" altLang="zh-CN" b="1" dirty="0"/>
                <a:t>A. 0</a:t>
              </a:r>
              <a:r>
                <a:rPr lang="zh-CN" altLang="en-US" b="1" dirty="0"/>
                <a:t>、</a:t>
              </a:r>
              <a:r>
                <a:rPr lang="en-US" altLang="zh-CN" b="1" dirty="0"/>
                <a:t>3</a:t>
              </a:r>
              <a:endParaRPr lang="zh-CN" altLang="en-US" b="1" dirty="0"/>
            </a:p>
          </p:txBody>
        </p:sp>
        <p:sp>
          <p:nvSpPr>
            <p:cNvPr id="5" name="文本框 4">
              <a:extLst>
                <a:ext uri="{FF2B5EF4-FFF2-40B4-BE49-F238E27FC236}">
                  <a16:creationId xmlns:a16="http://schemas.microsoft.com/office/drawing/2014/main" id="{D384336A-67D6-D70B-A0B7-7FC83DB6EBA8}"/>
                </a:ext>
              </a:extLst>
            </p:cNvPr>
            <p:cNvSpPr txBox="1"/>
            <p:nvPr/>
          </p:nvSpPr>
          <p:spPr>
            <a:xfrm>
              <a:off x="1978590" y="6102880"/>
              <a:ext cx="809064" cy="276999"/>
            </a:xfrm>
            <a:prstGeom prst="rect">
              <a:avLst/>
            </a:prstGeom>
            <a:noFill/>
          </p:spPr>
          <p:txBody>
            <a:bodyPr wrap="square" lIns="0" tIns="0" rIns="0" bIns="0" rtlCol="0">
              <a:spAutoFit/>
            </a:bodyPr>
            <a:lstStyle/>
            <a:p>
              <a:r>
                <a:rPr lang="en-US" altLang="zh-CN" b="1" dirty="0"/>
                <a:t>B. 1</a:t>
              </a:r>
              <a:r>
                <a:rPr lang="zh-CN" altLang="en-US" b="1" dirty="0"/>
                <a:t>、</a:t>
              </a:r>
              <a:r>
                <a:rPr lang="en-US" altLang="zh-CN" b="1" dirty="0"/>
                <a:t>3</a:t>
              </a:r>
              <a:endParaRPr lang="zh-CN" altLang="en-US" b="1" dirty="0"/>
            </a:p>
          </p:txBody>
        </p:sp>
        <p:sp>
          <p:nvSpPr>
            <p:cNvPr id="6" name="文本框 5">
              <a:extLst>
                <a:ext uri="{FF2B5EF4-FFF2-40B4-BE49-F238E27FC236}">
                  <a16:creationId xmlns:a16="http://schemas.microsoft.com/office/drawing/2014/main" id="{FA070A3A-759C-0578-B8FD-4786BF5D0818}"/>
                </a:ext>
              </a:extLst>
            </p:cNvPr>
            <p:cNvSpPr txBox="1"/>
            <p:nvPr/>
          </p:nvSpPr>
          <p:spPr>
            <a:xfrm>
              <a:off x="3542557" y="6102880"/>
              <a:ext cx="809064" cy="276999"/>
            </a:xfrm>
            <a:prstGeom prst="rect">
              <a:avLst/>
            </a:prstGeom>
            <a:noFill/>
          </p:spPr>
          <p:txBody>
            <a:bodyPr wrap="square" lIns="0" tIns="0" rIns="0" bIns="0" rtlCol="0">
              <a:spAutoFit/>
            </a:bodyPr>
            <a:lstStyle/>
            <a:p>
              <a:r>
                <a:rPr lang="en-US" altLang="zh-CN" b="1" dirty="0"/>
                <a:t>C. 0</a:t>
              </a:r>
              <a:r>
                <a:rPr lang="zh-CN" altLang="en-US" b="1" dirty="0"/>
                <a:t>、</a:t>
              </a:r>
              <a:r>
                <a:rPr lang="en-US" altLang="zh-CN" b="1" dirty="0"/>
                <a:t>4</a:t>
              </a:r>
              <a:endParaRPr lang="zh-CN" altLang="en-US" b="1" dirty="0"/>
            </a:p>
          </p:txBody>
        </p:sp>
        <p:sp>
          <p:nvSpPr>
            <p:cNvPr id="7" name="文本框 6">
              <a:extLst>
                <a:ext uri="{FF2B5EF4-FFF2-40B4-BE49-F238E27FC236}">
                  <a16:creationId xmlns:a16="http://schemas.microsoft.com/office/drawing/2014/main" id="{14818843-5F7E-694A-9CC9-6ED2F5204700}"/>
                </a:ext>
              </a:extLst>
            </p:cNvPr>
            <p:cNvSpPr txBox="1"/>
            <p:nvPr/>
          </p:nvSpPr>
          <p:spPr>
            <a:xfrm>
              <a:off x="5106524" y="6102880"/>
              <a:ext cx="809064" cy="276999"/>
            </a:xfrm>
            <a:prstGeom prst="rect">
              <a:avLst/>
            </a:prstGeom>
            <a:noFill/>
          </p:spPr>
          <p:txBody>
            <a:bodyPr wrap="square" lIns="0" tIns="0" rIns="0" bIns="0" rtlCol="0">
              <a:spAutoFit/>
            </a:bodyPr>
            <a:lstStyle/>
            <a:p>
              <a:r>
                <a:rPr lang="en-US" altLang="zh-CN" b="1" dirty="0"/>
                <a:t>D. 1</a:t>
              </a:r>
              <a:r>
                <a:rPr lang="zh-CN" altLang="en-US" b="1" dirty="0"/>
                <a:t>、</a:t>
              </a:r>
              <a:r>
                <a:rPr lang="en-US" altLang="zh-CN" b="1" dirty="0"/>
                <a:t>4</a:t>
              </a:r>
              <a:endParaRPr lang="zh-CN" altLang="en-US" b="1" dirty="0"/>
            </a:p>
          </p:txBody>
        </p:sp>
        <p:pic>
          <p:nvPicPr>
            <p:cNvPr id="17" name="图片 16">
              <a:extLst>
                <a:ext uri="{FF2B5EF4-FFF2-40B4-BE49-F238E27FC236}">
                  <a16:creationId xmlns:a16="http://schemas.microsoft.com/office/drawing/2014/main" id="{349D2AD6-DDF9-BE43-009A-1821FBDAFE23}"/>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04800" y="2351848"/>
              <a:ext cx="5188324" cy="3591361"/>
            </a:xfrm>
            <a:prstGeom prst="rect">
              <a:avLst/>
            </a:prstGeom>
          </p:spPr>
        </p:pic>
      </p:grpSp>
      <p:sp>
        <p:nvSpPr>
          <p:cNvPr id="19" name="文本框 18">
            <a:extLst>
              <a:ext uri="{FF2B5EF4-FFF2-40B4-BE49-F238E27FC236}">
                <a16:creationId xmlns:a16="http://schemas.microsoft.com/office/drawing/2014/main" id="{BD01CAC5-2122-7EA9-8717-06A242D126F6}"/>
              </a:ext>
            </a:extLst>
          </p:cNvPr>
          <p:cNvSpPr txBox="1"/>
          <p:nvPr/>
        </p:nvSpPr>
        <p:spPr>
          <a:xfrm>
            <a:off x="6313394" y="1234896"/>
            <a:ext cx="847164" cy="276999"/>
          </a:xfrm>
          <a:prstGeom prst="rect">
            <a:avLst/>
          </a:prstGeom>
          <a:noFill/>
        </p:spPr>
        <p:txBody>
          <a:bodyPr wrap="square" lIns="0" tIns="0" rIns="0" bIns="0" rtlCol="0">
            <a:spAutoFit/>
          </a:bodyPr>
          <a:lstStyle/>
          <a:p>
            <a:r>
              <a:rPr lang="zh-CN" altLang="en-US" b="1" dirty="0"/>
              <a:t>解析</a:t>
            </a:r>
          </a:p>
        </p:txBody>
      </p:sp>
      <p:cxnSp>
        <p:nvCxnSpPr>
          <p:cNvPr id="26" name="直接连接符 25">
            <a:extLst>
              <a:ext uri="{FF2B5EF4-FFF2-40B4-BE49-F238E27FC236}">
                <a16:creationId xmlns:a16="http://schemas.microsoft.com/office/drawing/2014/main" id="{40CED111-556F-03DB-932E-87D4721529D2}"/>
              </a:ext>
            </a:extLst>
          </p:cNvPr>
          <p:cNvCxnSpPr>
            <a:cxnSpLocks/>
          </p:cNvCxnSpPr>
          <p:nvPr/>
        </p:nvCxnSpPr>
        <p:spPr>
          <a:xfrm>
            <a:off x="6096000" y="1243853"/>
            <a:ext cx="0" cy="5195047"/>
          </a:xfrm>
          <a:prstGeom prst="line">
            <a:avLst/>
          </a:prstGeom>
          <a:ln w="254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6" name="对话气泡: 矩形 45">
            <a:extLst>
              <a:ext uri="{FF2B5EF4-FFF2-40B4-BE49-F238E27FC236}">
                <a16:creationId xmlns:a16="http://schemas.microsoft.com/office/drawing/2014/main" id="{80E725B2-F7C8-C5FB-BEC1-61E798E0D8FC}"/>
              </a:ext>
            </a:extLst>
          </p:cNvPr>
          <p:cNvSpPr/>
          <p:nvPr/>
        </p:nvSpPr>
        <p:spPr>
          <a:xfrm>
            <a:off x="6155510" y="1597381"/>
            <a:ext cx="2295966" cy="1601099"/>
          </a:xfrm>
          <a:prstGeom prst="wedgeRectCallout">
            <a:avLst>
              <a:gd name="adj1" fmla="val 19579"/>
              <a:gd name="adj2" fmla="val 641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b="1" dirty="0">
                <a:solidFill>
                  <a:schemeClr val="bg1"/>
                </a:solidFill>
              </a:rPr>
              <a:t>若主机中已有缓存，则无需向本地域名服务器查询。</a:t>
            </a:r>
            <a:endParaRPr lang="en-US" altLang="zh-CN" sz="1600" b="1" dirty="0">
              <a:solidFill>
                <a:schemeClr val="bg1"/>
              </a:solidFill>
            </a:endParaRPr>
          </a:p>
          <a:p>
            <a:pPr marL="285750" indent="-285750">
              <a:buFont typeface="Wingdings" panose="05000000000000000000" pitchFamily="2" charset="2"/>
              <a:buChar char="l"/>
            </a:pPr>
            <a:r>
              <a:rPr lang="zh-CN" altLang="en-US" sz="1600" b="1" dirty="0">
                <a:solidFill>
                  <a:schemeClr val="bg1"/>
                </a:solidFill>
              </a:rPr>
              <a:t>若主机中没有缓存，则需要向本地域名服务器递归查询。</a:t>
            </a:r>
          </a:p>
        </p:txBody>
      </p:sp>
      <p:grpSp>
        <p:nvGrpSpPr>
          <p:cNvPr id="50" name="组合 49">
            <a:extLst>
              <a:ext uri="{FF2B5EF4-FFF2-40B4-BE49-F238E27FC236}">
                <a16:creationId xmlns:a16="http://schemas.microsoft.com/office/drawing/2014/main" id="{36E71819-D3F9-730B-0373-A7AC94B32162}"/>
              </a:ext>
            </a:extLst>
          </p:cNvPr>
          <p:cNvGrpSpPr/>
          <p:nvPr/>
        </p:nvGrpSpPr>
        <p:grpSpPr>
          <a:xfrm>
            <a:off x="7541796" y="1746883"/>
            <a:ext cx="4124044" cy="3950180"/>
            <a:chOff x="7541796" y="1746883"/>
            <a:chExt cx="4124044" cy="3950180"/>
          </a:xfrm>
        </p:grpSpPr>
        <p:pic>
          <p:nvPicPr>
            <p:cNvPr id="45" name="图片 44">
              <a:extLst>
                <a:ext uri="{FF2B5EF4-FFF2-40B4-BE49-F238E27FC236}">
                  <a16:creationId xmlns:a16="http://schemas.microsoft.com/office/drawing/2014/main" id="{475FA7DD-1F09-60FC-37DE-540AD5923C3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541796" y="1746883"/>
              <a:ext cx="4124044" cy="3950180"/>
            </a:xfrm>
            <a:prstGeom prst="rect">
              <a:avLst/>
            </a:prstGeom>
          </p:spPr>
        </p:pic>
        <p:sp>
          <p:nvSpPr>
            <p:cNvPr id="49" name="文本框 48">
              <a:extLst>
                <a:ext uri="{FF2B5EF4-FFF2-40B4-BE49-F238E27FC236}">
                  <a16:creationId xmlns:a16="http://schemas.microsoft.com/office/drawing/2014/main" id="{1C3BA5A8-1FB3-CE5B-10B7-7B9379EB4FAA}"/>
                </a:ext>
              </a:extLst>
            </p:cNvPr>
            <p:cNvSpPr txBox="1"/>
            <p:nvPr/>
          </p:nvSpPr>
          <p:spPr>
            <a:xfrm>
              <a:off x="8575863" y="4303059"/>
              <a:ext cx="988359" cy="276999"/>
            </a:xfrm>
            <a:prstGeom prst="rect">
              <a:avLst/>
            </a:prstGeom>
            <a:noFill/>
          </p:spPr>
          <p:txBody>
            <a:bodyPr wrap="square" lIns="0" tIns="0" rIns="0" bIns="0" rtlCol="0">
              <a:spAutoFit/>
            </a:bodyPr>
            <a:lstStyle/>
            <a:p>
              <a:pPr algn="ctr"/>
              <a:r>
                <a:rPr lang="en-US" altLang="zh-CN" b="1" dirty="0"/>
                <a:t>201.1.1.1</a:t>
              </a:r>
              <a:endParaRPr lang="zh-CN" altLang="en-US" b="1" dirty="0"/>
            </a:p>
          </p:txBody>
        </p:sp>
      </p:grpSp>
      <p:sp>
        <p:nvSpPr>
          <p:cNvPr id="51" name="对话气泡: 矩形 50">
            <a:extLst>
              <a:ext uri="{FF2B5EF4-FFF2-40B4-BE49-F238E27FC236}">
                <a16:creationId xmlns:a16="http://schemas.microsoft.com/office/drawing/2014/main" id="{D22F9582-BF17-1248-80C0-5E8A49C4F5D8}"/>
              </a:ext>
            </a:extLst>
          </p:cNvPr>
          <p:cNvSpPr/>
          <p:nvPr/>
        </p:nvSpPr>
        <p:spPr>
          <a:xfrm>
            <a:off x="6155510" y="4245466"/>
            <a:ext cx="2295966" cy="2134413"/>
          </a:xfrm>
          <a:prstGeom prst="wedgeRectCallout">
            <a:avLst>
              <a:gd name="adj1" fmla="val 63505"/>
              <a:gd name="adj2" fmla="val -563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l"/>
            </a:pPr>
            <a:r>
              <a:rPr lang="zh-CN" altLang="en-US" sz="1600" b="1" dirty="0">
                <a:solidFill>
                  <a:schemeClr val="bg1"/>
                </a:solidFill>
              </a:rPr>
              <a:t>若本地域名服务器中已有缓存，则无需向其他域名服务器查询（共</a:t>
            </a:r>
            <a:r>
              <a:rPr lang="en-US" altLang="zh-CN" sz="1600" b="1" dirty="0">
                <a:solidFill>
                  <a:schemeClr val="bg1"/>
                </a:solidFill>
              </a:rPr>
              <a:t>0</a:t>
            </a:r>
            <a:r>
              <a:rPr lang="zh-CN" altLang="en-US" sz="1600" b="1" dirty="0">
                <a:solidFill>
                  <a:schemeClr val="bg1"/>
                </a:solidFill>
              </a:rPr>
              <a:t>次）。</a:t>
            </a:r>
            <a:endParaRPr lang="en-US" altLang="zh-CN" sz="1600" b="1" dirty="0">
              <a:solidFill>
                <a:schemeClr val="bg1"/>
              </a:solidFill>
            </a:endParaRPr>
          </a:p>
          <a:p>
            <a:pPr marL="285750" indent="-285750">
              <a:buFont typeface="Wingdings" panose="05000000000000000000" pitchFamily="2" charset="2"/>
              <a:buChar char="l"/>
            </a:pPr>
            <a:r>
              <a:rPr lang="zh-CN" altLang="en-US" sz="1600" b="1" dirty="0">
                <a:solidFill>
                  <a:schemeClr val="bg1"/>
                </a:solidFill>
              </a:rPr>
              <a:t>若本地域名服务器中没有缓存，则需要进行一系列迭代查询（共</a:t>
            </a:r>
            <a:r>
              <a:rPr lang="en-US" altLang="zh-CN" sz="1600" b="1" dirty="0">
                <a:solidFill>
                  <a:schemeClr val="bg1"/>
                </a:solidFill>
              </a:rPr>
              <a:t>4</a:t>
            </a:r>
            <a:r>
              <a:rPr lang="zh-CN" altLang="en-US" sz="1600" b="1" dirty="0">
                <a:solidFill>
                  <a:schemeClr val="bg1"/>
                </a:solidFill>
              </a:rPr>
              <a:t>次）。</a:t>
            </a:r>
          </a:p>
        </p:txBody>
      </p:sp>
    </p:spTree>
    <p:custDataLst>
      <p:tags r:id="rId1"/>
    </p:custDataLst>
    <p:extLst>
      <p:ext uri="{BB962C8B-B14F-4D97-AF65-F5344CB8AC3E}">
        <p14:creationId xmlns:p14="http://schemas.microsoft.com/office/powerpoint/2010/main" val="175091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800" decel="100000"/>
                                        <p:tgtEl>
                                          <p:spTgt spid="18"/>
                                        </p:tgtEl>
                                      </p:cBhvr>
                                    </p:animEffect>
                                    <p:anim calcmode="lin" valueType="num">
                                      <p:cBhvr>
                                        <p:cTn id="8" dur="800" decel="100000" fill="hold"/>
                                        <p:tgtEl>
                                          <p:spTgt spid="18"/>
                                        </p:tgtEl>
                                        <p:attrNameLst>
                                          <p:attrName>style.rotation</p:attrName>
                                        </p:attrNameLst>
                                      </p:cBhvr>
                                      <p:tavLst>
                                        <p:tav tm="0">
                                          <p:val>
                                            <p:fltVal val="-90"/>
                                          </p:val>
                                        </p:tav>
                                        <p:tav tm="100000">
                                          <p:val>
                                            <p:fltVal val="0"/>
                                          </p:val>
                                        </p:tav>
                                      </p:tavLst>
                                    </p:anim>
                                    <p:anim calcmode="lin" valueType="num">
                                      <p:cBhvr>
                                        <p:cTn id="9" dur="800" decel="100000" fill="hold"/>
                                        <p:tgtEl>
                                          <p:spTgt spid="18"/>
                                        </p:tgtEl>
                                        <p:attrNameLst>
                                          <p:attrName>ppt_x</p:attrName>
                                        </p:attrNameLst>
                                      </p:cBhvr>
                                      <p:tavLst>
                                        <p:tav tm="0">
                                          <p:val>
                                            <p:strVal val="#ppt_x+0.4"/>
                                          </p:val>
                                        </p:tav>
                                        <p:tav tm="100000">
                                          <p:val>
                                            <p:strVal val="#ppt_x-0.05"/>
                                          </p:val>
                                        </p:tav>
                                      </p:tavLst>
                                    </p:anim>
                                    <p:anim calcmode="lin" valueType="num">
                                      <p:cBhvr>
                                        <p:cTn id="10" dur="800" decel="100000" fill="hold"/>
                                        <p:tgtEl>
                                          <p:spTgt spid="18"/>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8"/>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8"/>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800" decel="100000"/>
                                        <p:tgtEl>
                                          <p:spTgt spid="15"/>
                                        </p:tgtEl>
                                      </p:cBhvr>
                                    </p:animEffect>
                                    <p:anim calcmode="lin" valueType="num">
                                      <p:cBhvr>
                                        <p:cTn id="18" dur="800" decel="100000" fill="hold"/>
                                        <p:tgtEl>
                                          <p:spTgt spid="15"/>
                                        </p:tgtEl>
                                        <p:attrNameLst>
                                          <p:attrName>style.rotation</p:attrName>
                                        </p:attrNameLst>
                                      </p:cBhvr>
                                      <p:tavLst>
                                        <p:tav tm="0">
                                          <p:val>
                                            <p:fltVal val="-90"/>
                                          </p:val>
                                        </p:tav>
                                        <p:tav tm="100000">
                                          <p:val>
                                            <p:fltVal val="0"/>
                                          </p:val>
                                        </p:tav>
                                      </p:tavLst>
                                    </p:anim>
                                    <p:anim calcmode="lin" valueType="num">
                                      <p:cBhvr>
                                        <p:cTn id="19" dur="800" decel="100000" fill="hold"/>
                                        <p:tgtEl>
                                          <p:spTgt spid="15"/>
                                        </p:tgtEl>
                                        <p:attrNameLst>
                                          <p:attrName>ppt_x</p:attrName>
                                        </p:attrNameLst>
                                      </p:cBhvr>
                                      <p:tavLst>
                                        <p:tav tm="0">
                                          <p:val>
                                            <p:strVal val="#ppt_x+0.4"/>
                                          </p:val>
                                        </p:tav>
                                        <p:tav tm="100000">
                                          <p:val>
                                            <p:strVal val="#ppt_x-0.05"/>
                                          </p:val>
                                        </p:tav>
                                      </p:tavLst>
                                    </p:anim>
                                    <p:anim calcmode="lin" valueType="num">
                                      <p:cBhvr>
                                        <p:cTn id="20" dur="800" decel="100000" fill="hold"/>
                                        <p:tgtEl>
                                          <p:spTgt spid="15"/>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5"/>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5"/>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par>
                          <p:cTn id="28" fill="hold">
                            <p:stCondLst>
                              <p:cond delay="500"/>
                            </p:stCondLst>
                            <p:childTnLst>
                              <p:par>
                                <p:cTn id="29" presetID="53" presetClass="entr" presetSubtype="16"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p:cTn id="31" dur="500" fill="hold"/>
                                        <p:tgtEl>
                                          <p:spTgt spid="19"/>
                                        </p:tgtEl>
                                        <p:attrNameLst>
                                          <p:attrName>ppt_w</p:attrName>
                                        </p:attrNameLst>
                                      </p:cBhvr>
                                      <p:tavLst>
                                        <p:tav tm="0">
                                          <p:val>
                                            <p:fltVal val="0"/>
                                          </p:val>
                                        </p:tav>
                                        <p:tav tm="100000">
                                          <p:val>
                                            <p:strVal val="#ppt_w"/>
                                          </p:val>
                                        </p:tav>
                                      </p:tavLst>
                                    </p:anim>
                                    <p:anim calcmode="lin" valueType="num">
                                      <p:cBhvr>
                                        <p:cTn id="32" dur="500" fill="hold"/>
                                        <p:tgtEl>
                                          <p:spTgt spid="19"/>
                                        </p:tgtEl>
                                        <p:attrNameLst>
                                          <p:attrName>ppt_h</p:attrName>
                                        </p:attrNameLst>
                                      </p:cBhvr>
                                      <p:tavLst>
                                        <p:tav tm="0">
                                          <p:val>
                                            <p:fltVal val="0"/>
                                          </p:val>
                                        </p:tav>
                                        <p:tav tm="100000">
                                          <p:val>
                                            <p:strVal val="#ppt_h"/>
                                          </p:val>
                                        </p:tav>
                                      </p:tavLst>
                                    </p:anim>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additive="base">
                                        <p:cTn id="38" dur="500"/>
                                        <p:tgtEl>
                                          <p:spTgt spid="50"/>
                                        </p:tgtEl>
                                        <p:attrNameLst>
                                          <p:attrName>ppt_x</p:attrName>
                                        </p:attrNameLst>
                                      </p:cBhvr>
                                      <p:tavLst>
                                        <p:tav tm="0">
                                          <p:val>
                                            <p:strVal val="#ppt_x-#ppt_w*1.125000"/>
                                          </p:val>
                                        </p:tav>
                                        <p:tav tm="100000">
                                          <p:val>
                                            <p:strVal val="#ppt_x"/>
                                          </p:val>
                                        </p:tav>
                                      </p:tavLst>
                                    </p:anim>
                                    <p:animEffect transition="in" filter="wipe(right)">
                                      <p:cBhvr>
                                        <p:cTn id="39" dur="500"/>
                                        <p:tgtEl>
                                          <p:spTgt spid="5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wipe(up)">
                                      <p:cBhvr>
                                        <p:cTn id="4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46" grpId="0" animBg="1"/>
      <p:bldP spid="5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sp>
        <p:nvSpPr>
          <p:cNvPr id="11" name="矩形 10">
            <a:extLst>
              <a:ext uri="{FF2B5EF4-FFF2-40B4-BE49-F238E27FC236}">
                <a16:creationId xmlns:a16="http://schemas.microsoft.com/office/drawing/2014/main" id="{4A40043F-3E24-4C33-9DCD-B82BD5F8187F}"/>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íşlïḍè">
            <a:extLst>
              <a:ext uri="{FF2B5EF4-FFF2-40B4-BE49-F238E27FC236}">
                <a16:creationId xmlns:a16="http://schemas.microsoft.com/office/drawing/2014/main" id="{AE9D4830-F965-AB13-BC7C-1D530E22C52A}"/>
              </a:ext>
            </a:extLst>
          </p:cNvPr>
          <p:cNvSpPr txBox="1"/>
          <p:nvPr/>
        </p:nvSpPr>
        <p:spPr>
          <a:xfrm>
            <a:off x="1293757" y="1192131"/>
            <a:ext cx="10593443" cy="710627"/>
          </a:xfrm>
          <a:prstGeom prst="rect">
            <a:avLst/>
          </a:prstGeom>
          <a:noFill/>
        </p:spPr>
        <p:txBody>
          <a:bodyPr wrap="square" lIns="91440" tIns="45720" rIns="91440" bIns="45720" anchor="ctr">
            <a:noAutofit/>
          </a:bodyPr>
          <a:lstStyle/>
          <a:p>
            <a:r>
              <a:rPr lang="zh-CN" altLang="en-US" b="1" dirty="0"/>
              <a:t>将某台计算机中的文件通过网络传送到可能相距很远的另一台计算机中，是一项基本的网络应用，即文件传送。</a:t>
            </a:r>
            <a:endParaRPr lang="en-US" altLang="zh-CN" b="1" dirty="0">
              <a:solidFill>
                <a:srgbClr val="C00000"/>
              </a:solidFill>
            </a:endParaRPr>
          </a:p>
        </p:txBody>
      </p:sp>
      <p:sp>
        <p:nvSpPr>
          <p:cNvPr id="17" name="矩形 16">
            <a:extLst>
              <a:ext uri="{FF2B5EF4-FFF2-40B4-BE49-F238E27FC236}">
                <a16:creationId xmlns:a16="http://schemas.microsoft.com/office/drawing/2014/main" id="{31329FD6-403A-B922-8B35-4BE1948272E6}"/>
              </a:ext>
            </a:extLst>
          </p:cNvPr>
          <p:cNvSpPr/>
          <p:nvPr/>
        </p:nvSpPr>
        <p:spPr>
          <a:xfrm>
            <a:off x="1027102" y="199948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F629FDCA-6491-9B04-81FD-FF0E6881DA13}"/>
              </a:ext>
            </a:extLst>
          </p:cNvPr>
          <p:cNvSpPr txBox="1"/>
          <p:nvPr/>
        </p:nvSpPr>
        <p:spPr>
          <a:xfrm>
            <a:off x="1304859" y="1918417"/>
            <a:ext cx="10593443" cy="421371"/>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文件传送协议</a:t>
            </a:r>
            <a:r>
              <a:rPr lang="zh-CN" altLang="en-US" b="1" dirty="0"/>
              <a:t>（</a:t>
            </a:r>
            <a:r>
              <a:rPr lang="en-US" altLang="zh-CN" b="1" dirty="0">
                <a:solidFill>
                  <a:schemeClr val="accent1">
                    <a:lumMod val="75000"/>
                  </a:schemeClr>
                </a:solidFill>
              </a:rPr>
              <a:t>F</a:t>
            </a:r>
            <a:r>
              <a:rPr lang="en-US" altLang="zh-CN" b="1" dirty="0"/>
              <a:t>ile </a:t>
            </a:r>
            <a:r>
              <a:rPr lang="en-US" altLang="zh-CN" b="1" dirty="0">
                <a:solidFill>
                  <a:schemeClr val="accent1">
                    <a:lumMod val="75000"/>
                  </a:schemeClr>
                </a:solidFill>
              </a:rPr>
              <a:t>T</a:t>
            </a:r>
            <a:r>
              <a:rPr lang="en-US" altLang="zh-CN" b="1" dirty="0"/>
              <a:t>ransfer </a:t>
            </a:r>
            <a:r>
              <a:rPr lang="en-US" altLang="zh-CN" b="1" dirty="0">
                <a:solidFill>
                  <a:schemeClr val="accent1">
                    <a:lumMod val="75000"/>
                  </a:schemeClr>
                </a:solidFill>
              </a:rPr>
              <a:t>P</a:t>
            </a:r>
            <a:r>
              <a:rPr lang="en-US" altLang="zh-CN" b="1" dirty="0"/>
              <a:t>rotocol</a:t>
            </a:r>
            <a:r>
              <a:rPr lang="zh-CN" altLang="en-US" b="1" dirty="0"/>
              <a:t>，</a:t>
            </a:r>
            <a:r>
              <a:rPr lang="en-US" altLang="zh-CN" b="1" dirty="0">
                <a:solidFill>
                  <a:schemeClr val="accent1">
                    <a:lumMod val="75000"/>
                  </a:schemeClr>
                </a:solidFill>
              </a:rPr>
              <a:t>FTP</a:t>
            </a:r>
            <a:r>
              <a:rPr lang="zh-CN" altLang="en-US" b="1" dirty="0"/>
              <a:t>）是因特网上使用得最广泛的文件传送协议。</a:t>
            </a:r>
            <a:endParaRPr lang="en-US" altLang="zh-CN" b="1" dirty="0">
              <a:solidFill>
                <a:srgbClr val="C00000"/>
              </a:solidFill>
            </a:endParaRPr>
          </a:p>
        </p:txBody>
      </p:sp>
      <p:sp>
        <p:nvSpPr>
          <p:cNvPr id="19" name="矩形 18">
            <a:extLst>
              <a:ext uri="{FF2B5EF4-FFF2-40B4-BE49-F238E27FC236}">
                <a16:creationId xmlns:a16="http://schemas.microsoft.com/office/drawing/2014/main" id="{12A53504-2397-B846-2B7C-0AA3F8D13753}"/>
              </a:ext>
            </a:extLst>
          </p:cNvPr>
          <p:cNvSpPr/>
          <p:nvPr/>
        </p:nvSpPr>
        <p:spPr>
          <a:xfrm>
            <a:off x="1445224" y="250834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íşlïḍè">
            <a:extLst>
              <a:ext uri="{FF2B5EF4-FFF2-40B4-BE49-F238E27FC236}">
                <a16:creationId xmlns:a16="http://schemas.microsoft.com/office/drawing/2014/main" id="{FB0D77EA-DB9B-4A74-4470-8408EAFB1D5D}"/>
              </a:ext>
            </a:extLst>
          </p:cNvPr>
          <p:cNvSpPr txBox="1"/>
          <p:nvPr/>
        </p:nvSpPr>
        <p:spPr>
          <a:xfrm>
            <a:off x="1722981" y="2427278"/>
            <a:ext cx="10175321" cy="719334"/>
          </a:xfrm>
          <a:prstGeom prst="rect">
            <a:avLst/>
          </a:prstGeom>
          <a:noFill/>
        </p:spPr>
        <p:txBody>
          <a:bodyPr wrap="square" lIns="91440" tIns="45720" rIns="91440" bIns="45720" anchor="ctr">
            <a:noAutofit/>
          </a:bodyPr>
          <a:lstStyle/>
          <a:p>
            <a:r>
              <a:rPr lang="en-US" altLang="zh-CN" b="1" dirty="0"/>
              <a:t>FTP</a:t>
            </a:r>
            <a:r>
              <a:rPr lang="zh-CN" altLang="en-US" b="1" dirty="0">
                <a:solidFill>
                  <a:srgbClr val="FF0000"/>
                </a:solidFill>
              </a:rPr>
              <a:t>提供交互式的访问</a:t>
            </a:r>
            <a:r>
              <a:rPr lang="zh-CN" altLang="en-US" b="1" dirty="0"/>
              <a:t>，允许客户</a:t>
            </a:r>
            <a:r>
              <a:rPr lang="zh-CN" altLang="en-US" b="1" dirty="0">
                <a:solidFill>
                  <a:srgbClr val="FF0000"/>
                </a:solidFill>
              </a:rPr>
              <a:t>指明文件的类型与格式</a:t>
            </a:r>
            <a:r>
              <a:rPr lang="zh-CN" altLang="en-US" b="1" dirty="0"/>
              <a:t>（如指明是否使用</a:t>
            </a:r>
            <a:r>
              <a:rPr lang="en-US" altLang="zh-CN" b="1" dirty="0"/>
              <a:t>ASCII</a:t>
            </a:r>
            <a:r>
              <a:rPr lang="zh-CN" altLang="en-US" b="1" dirty="0"/>
              <a:t>码），并允许</a:t>
            </a:r>
            <a:r>
              <a:rPr lang="zh-CN" altLang="en-US" b="1" dirty="0">
                <a:solidFill>
                  <a:srgbClr val="FF0000"/>
                </a:solidFill>
              </a:rPr>
              <a:t>文件具有存取权限</a:t>
            </a:r>
            <a:r>
              <a:rPr lang="zh-CN" altLang="en-US" b="1" dirty="0"/>
              <a:t>（如访问文件的用户必须经过授权，并输入有效的口令）。</a:t>
            </a:r>
            <a:endParaRPr lang="en-US" altLang="zh-CN" b="1" dirty="0"/>
          </a:p>
        </p:txBody>
      </p:sp>
      <p:sp>
        <p:nvSpPr>
          <p:cNvPr id="21" name="矩形 20">
            <a:extLst>
              <a:ext uri="{FF2B5EF4-FFF2-40B4-BE49-F238E27FC236}">
                <a16:creationId xmlns:a16="http://schemas.microsoft.com/office/drawing/2014/main" id="{A19528F3-8E57-BC36-31CF-701669ED27E6}"/>
              </a:ext>
            </a:extLst>
          </p:cNvPr>
          <p:cNvSpPr/>
          <p:nvPr/>
        </p:nvSpPr>
        <p:spPr>
          <a:xfrm>
            <a:off x="1445224" y="339197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íşlïḍè">
            <a:extLst>
              <a:ext uri="{FF2B5EF4-FFF2-40B4-BE49-F238E27FC236}">
                <a16:creationId xmlns:a16="http://schemas.microsoft.com/office/drawing/2014/main" id="{AB1015CC-7EC0-7B38-89D0-59D81942B440}"/>
              </a:ext>
            </a:extLst>
          </p:cNvPr>
          <p:cNvSpPr txBox="1"/>
          <p:nvPr/>
        </p:nvSpPr>
        <p:spPr>
          <a:xfrm>
            <a:off x="1722981" y="3310907"/>
            <a:ext cx="10175321" cy="414578"/>
          </a:xfrm>
          <a:prstGeom prst="rect">
            <a:avLst/>
          </a:prstGeom>
          <a:noFill/>
        </p:spPr>
        <p:txBody>
          <a:bodyPr wrap="square" lIns="91440" tIns="45720" rIns="91440" bIns="45720" anchor="ctr">
            <a:noAutofit/>
          </a:bodyPr>
          <a:lstStyle/>
          <a:p>
            <a:r>
              <a:rPr lang="en-US" altLang="zh-CN" b="1" dirty="0">
                <a:solidFill>
                  <a:srgbClr val="FF0000"/>
                </a:solidFill>
              </a:rPr>
              <a:t>FTP</a:t>
            </a:r>
            <a:r>
              <a:rPr lang="zh-CN" altLang="en-US" b="1" dirty="0">
                <a:solidFill>
                  <a:srgbClr val="FF0000"/>
                </a:solidFill>
              </a:rPr>
              <a:t>屏蔽了各计算机系统的细节，因而适合于在异构网络中任意计算机之间传送文件</a:t>
            </a:r>
            <a:r>
              <a:rPr lang="zh-CN" altLang="en-US" b="1" dirty="0"/>
              <a:t>。</a:t>
            </a:r>
            <a:endParaRPr lang="en-US" altLang="zh-CN" b="1" dirty="0"/>
          </a:p>
        </p:txBody>
      </p:sp>
      <p:sp>
        <p:nvSpPr>
          <p:cNvPr id="23" name="矩形 22">
            <a:extLst>
              <a:ext uri="{FF2B5EF4-FFF2-40B4-BE49-F238E27FC236}">
                <a16:creationId xmlns:a16="http://schemas.microsoft.com/office/drawing/2014/main" id="{B46CA1B2-C58E-0F32-50D7-067FCEA50652}"/>
              </a:ext>
            </a:extLst>
          </p:cNvPr>
          <p:cNvSpPr/>
          <p:nvPr/>
        </p:nvSpPr>
        <p:spPr>
          <a:xfrm>
            <a:off x="1027102" y="401743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íşlïḍè">
            <a:extLst>
              <a:ext uri="{FF2B5EF4-FFF2-40B4-BE49-F238E27FC236}">
                <a16:creationId xmlns:a16="http://schemas.microsoft.com/office/drawing/2014/main" id="{129415A7-90AB-A411-2703-73FADF846CEB}"/>
              </a:ext>
            </a:extLst>
          </p:cNvPr>
          <p:cNvSpPr txBox="1"/>
          <p:nvPr/>
        </p:nvSpPr>
        <p:spPr>
          <a:xfrm>
            <a:off x="1304859" y="3936375"/>
            <a:ext cx="10593443" cy="959900"/>
          </a:xfrm>
          <a:prstGeom prst="rect">
            <a:avLst/>
          </a:prstGeom>
          <a:noFill/>
        </p:spPr>
        <p:txBody>
          <a:bodyPr wrap="square" lIns="91440" tIns="45720" rIns="91440" bIns="45720" anchor="ctr">
            <a:noAutofit/>
          </a:bodyPr>
          <a:lstStyle/>
          <a:p>
            <a:r>
              <a:rPr lang="zh-CN" altLang="en-US" b="1" dirty="0"/>
              <a:t>在因特网发展的早期阶段，用</a:t>
            </a:r>
            <a:r>
              <a:rPr lang="en-US" altLang="zh-CN" b="1" dirty="0"/>
              <a:t>FTP</a:t>
            </a:r>
            <a:r>
              <a:rPr lang="zh-CN" altLang="en-US" b="1" dirty="0"/>
              <a:t>传送文件约占整个因特网的通信量的三分之一，而由电子邮件和域名系统所产生的通信量还要小于</a:t>
            </a:r>
            <a:r>
              <a:rPr lang="en-US" altLang="zh-CN" b="1" dirty="0"/>
              <a:t>FTP</a:t>
            </a:r>
            <a:r>
              <a:rPr lang="zh-CN" altLang="en-US" b="1" dirty="0"/>
              <a:t>所产生的通信量。只是到了</a:t>
            </a:r>
            <a:r>
              <a:rPr lang="en-US" altLang="zh-CN" b="1" dirty="0"/>
              <a:t>1995</a:t>
            </a:r>
            <a:r>
              <a:rPr lang="zh-CN" altLang="en-US" b="1" dirty="0"/>
              <a:t>年，万维网</a:t>
            </a:r>
            <a:r>
              <a:rPr lang="en-US" altLang="zh-CN" b="1" dirty="0"/>
              <a:t>WWW</a:t>
            </a:r>
            <a:r>
              <a:rPr lang="zh-CN" altLang="en-US" b="1" dirty="0"/>
              <a:t>的通信量才首次超过了</a:t>
            </a:r>
            <a:r>
              <a:rPr lang="en-US" altLang="zh-CN" b="1" dirty="0"/>
              <a:t>FTP</a:t>
            </a:r>
            <a:r>
              <a:rPr lang="zh-CN" altLang="en-US" b="1" dirty="0"/>
              <a:t>。</a:t>
            </a:r>
            <a:endParaRPr lang="en-US" altLang="zh-CN" b="1" dirty="0">
              <a:solidFill>
                <a:srgbClr val="C00000"/>
              </a:solidFill>
            </a:endParaRPr>
          </a:p>
        </p:txBody>
      </p:sp>
    </p:spTree>
    <p:custDataLst>
      <p:tags r:id="rId1"/>
    </p:custDataLst>
    <p:extLst>
      <p:ext uri="{BB962C8B-B14F-4D97-AF65-F5344CB8AC3E}">
        <p14:creationId xmlns:p14="http://schemas.microsoft.com/office/powerpoint/2010/main" val="103422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 calcmode="lin" valueType="num">
                                      <p:cBhvr>
                                        <p:cTn id="15" dur="500" fill="hold"/>
                                        <p:tgtEl>
                                          <p:spTgt spid="11"/>
                                        </p:tgtEl>
                                        <p:attrNameLst>
                                          <p:attrName>style.rotation</p:attrName>
                                        </p:attrNameLst>
                                      </p:cBhvr>
                                      <p:tavLst>
                                        <p:tav tm="0">
                                          <p:val>
                                            <p:fltVal val="360"/>
                                          </p:val>
                                        </p:tav>
                                        <p:tav tm="100000">
                                          <p:val>
                                            <p:fltVal val="0"/>
                                          </p:val>
                                        </p:tav>
                                      </p:tavLst>
                                    </p:anim>
                                    <p:animEffect transition="in" filter="fade">
                                      <p:cBhvr>
                                        <p:cTn id="16" dur="500"/>
                                        <p:tgtEl>
                                          <p:spTgt spid="11"/>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 calcmode="lin" valueType="num">
                                      <p:cBhvr>
                                        <p:cTn id="26" dur="500" fill="hold"/>
                                        <p:tgtEl>
                                          <p:spTgt spid="17"/>
                                        </p:tgtEl>
                                        <p:attrNameLst>
                                          <p:attrName>style.rotation</p:attrName>
                                        </p:attrNameLst>
                                      </p:cBhvr>
                                      <p:tavLst>
                                        <p:tav tm="0">
                                          <p:val>
                                            <p:fltVal val="360"/>
                                          </p:val>
                                        </p:tav>
                                        <p:tav tm="100000">
                                          <p:val>
                                            <p:fltVal val="0"/>
                                          </p:val>
                                        </p:tav>
                                      </p:tavLst>
                                    </p:anim>
                                    <p:animEffect transition="in" filter="fade">
                                      <p:cBhvr>
                                        <p:cTn id="27" dur="500"/>
                                        <p:tgtEl>
                                          <p:spTgt spid="17"/>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500" fill="hold"/>
                                        <p:tgtEl>
                                          <p:spTgt spid="19"/>
                                        </p:tgtEl>
                                        <p:attrNameLst>
                                          <p:attrName>ppt_w</p:attrName>
                                        </p:attrNameLst>
                                      </p:cBhvr>
                                      <p:tavLst>
                                        <p:tav tm="0">
                                          <p:val>
                                            <p:fltVal val="0"/>
                                          </p:val>
                                        </p:tav>
                                        <p:tav tm="100000">
                                          <p:val>
                                            <p:strVal val="#ppt_w"/>
                                          </p:val>
                                        </p:tav>
                                      </p:tavLst>
                                    </p:anim>
                                    <p:anim calcmode="lin" valueType="num">
                                      <p:cBhvr>
                                        <p:cTn id="36" dur="500" fill="hold"/>
                                        <p:tgtEl>
                                          <p:spTgt spid="19"/>
                                        </p:tgtEl>
                                        <p:attrNameLst>
                                          <p:attrName>ppt_h</p:attrName>
                                        </p:attrNameLst>
                                      </p:cBhvr>
                                      <p:tavLst>
                                        <p:tav tm="0">
                                          <p:val>
                                            <p:fltVal val="0"/>
                                          </p:val>
                                        </p:tav>
                                        <p:tav tm="100000">
                                          <p:val>
                                            <p:strVal val="#ppt_h"/>
                                          </p:val>
                                        </p:tav>
                                      </p:tavLst>
                                    </p:anim>
                                    <p:anim calcmode="lin" valueType="num">
                                      <p:cBhvr>
                                        <p:cTn id="37" dur="500" fill="hold"/>
                                        <p:tgtEl>
                                          <p:spTgt spid="19"/>
                                        </p:tgtEl>
                                        <p:attrNameLst>
                                          <p:attrName>style.rotation</p:attrName>
                                        </p:attrNameLst>
                                      </p:cBhvr>
                                      <p:tavLst>
                                        <p:tav tm="0">
                                          <p:val>
                                            <p:fltVal val="360"/>
                                          </p:val>
                                        </p:tav>
                                        <p:tav tm="100000">
                                          <p:val>
                                            <p:fltVal val="0"/>
                                          </p:val>
                                        </p:tav>
                                      </p:tavLst>
                                    </p:anim>
                                    <p:animEffect transition="in" filter="fade">
                                      <p:cBhvr>
                                        <p:cTn id="38" dur="500"/>
                                        <p:tgtEl>
                                          <p:spTgt spid="19"/>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2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p:cTn id="46" dur="500" fill="hold"/>
                                        <p:tgtEl>
                                          <p:spTgt spid="21"/>
                                        </p:tgtEl>
                                        <p:attrNameLst>
                                          <p:attrName>ppt_w</p:attrName>
                                        </p:attrNameLst>
                                      </p:cBhvr>
                                      <p:tavLst>
                                        <p:tav tm="0">
                                          <p:val>
                                            <p:fltVal val="0"/>
                                          </p:val>
                                        </p:tav>
                                        <p:tav tm="100000">
                                          <p:val>
                                            <p:strVal val="#ppt_w"/>
                                          </p:val>
                                        </p:tav>
                                      </p:tavLst>
                                    </p:anim>
                                    <p:anim calcmode="lin" valueType="num">
                                      <p:cBhvr>
                                        <p:cTn id="47" dur="500" fill="hold"/>
                                        <p:tgtEl>
                                          <p:spTgt spid="21"/>
                                        </p:tgtEl>
                                        <p:attrNameLst>
                                          <p:attrName>ppt_h</p:attrName>
                                        </p:attrNameLst>
                                      </p:cBhvr>
                                      <p:tavLst>
                                        <p:tav tm="0">
                                          <p:val>
                                            <p:fltVal val="0"/>
                                          </p:val>
                                        </p:tav>
                                        <p:tav tm="100000">
                                          <p:val>
                                            <p:strVal val="#ppt_h"/>
                                          </p:val>
                                        </p:tav>
                                      </p:tavLst>
                                    </p:anim>
                                    <p:anim calcmode="lin" valueType="num">
                                      <p:cBhvr>
                                        <p:cTn id="48" dur="500" fill="hold"/>
                                        <p:tgtEl>
                                          <p:spTgt spid="21"/>
                                        </p:tgtEl>
                                        <p:attrNameLst>
                                          <p:attrName>style.rotation</p:attrName>
                                        </p:attrNameLst>
                                      </p:cBhvr>
                                      <p:tavLst>
                                        <p:tav tm="0">
                                          <p:val>
                                            <p:fltVal val="360"/>
                                          </p:val>
                                        </p:tav>
                                        <p:tav tm="100000">
                                          <p:val>
                                            <p:fltVal val="0"/>
                                          </p:val>
                                        </p:tav>
                                      </p:tavLst>
                                    </p:anim>
                                    <p:animEffect transition="in" filter="fade">
                                      <p:cBhvr>
                                        <p:cTn id="49" dur="500"/>
                                        <p:tgtEl>
                                          <p:spTgt spid="21"/>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49" presetClass="entr" presetSubtype="0" decel="10000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p:cTn id="57" dur="500" fill="hold"/>
                                        <p:tgtEl>
                                          <p:spTgt spid="23"/>
                                        </p:tgtEl>
                                        <p:attrNameLst>
                                          <p:attrName>ppt_w</p:attrName>
                                        </p:attrNameLst>
                                      </p:cBhvr>
                                      <p:tavLst>
                                        <p:tav tm="0">
                                          <p:val>
                                            <p:fltVal val="0"/>
                                          </p:val>
                                        </p:tav>
                                        <p:tav tm="100000">
                                          <p:val>
                                            <p:strVal val="#ppt_w"/>
                                          </p:val>
                                        </p:tav>
                                      </p:tavLst>
                                    </p:anim>
                                    <p:anim calcmode="lin" valueType="num">
                                      <p:cBhvr>
                                        <p:cTn id="58" dur="500" fill="hold"/>
                                        <p:tgtEl>
                                          <p:spTgt spid="23"/>
                                        </p:tgtEl>
                                        <p:attrNameLst>
                                          <p:attrName>ppt_h</p:attrName>
                                        </p:attrNameLst>
                                      </p:cBhvr>
                                      <p:tavLst>
                                        <p:tav tm="0">
                                          <p:val>
                                            <p:fltVal val="0"/>
                                          </p:val>
                                        </p:tav>
                                        <p:tav tm="100000">
                                          <p:val>
                                            <p:strVal val="#ppt_h"/>
                                          </p:val>
                                        </p:tav>
                                      </p:tavLst>
                                    </p:anim>
                                    <p:anim calcmode="lin" valueType="num">
                                      <p:cBhvr>
                                        <p:cTn id="59" dur="500" fill="hold"/>
                                        <p:tgtEl>
                                          <p:spTgt spid="23"/>
                                        </p:tgtEl>
                                        <p:attrNameLst>
                                          <p:attrName>style.rotation</p:attrName>
                                        </p:attrNameLst>
                                      </p:cBhvr>
                                      <p:tavLst>
                                        <p:tav tm="0">
                                          <p:val>
                                            <p:fltVal val="360"/>
                                          </p:val>
                                        </p:tav>
                                        <p:tav tm="100000">
                                          <p:val>
                                            <p:fltVal val="0"/>
                                          </p:val>
                                        </p:tav>
                                      </p:tavLst>
                                    </p:anim>
                                    <p:animEffect transition="in" filter="fade">
                                      <p:cBhvr>
                                        <p:cTn id="60" dur="500"/>
                                        <p:tgtEl>
                                          <p:spTgt spid="23"/>
                                        </p:tgtEl>
                                      </p:cBhvr>
                                    </p:animEffect>
                                  </p:childTnLst>
                                </p:cTn>
                              </p:par>
                            </p:childTnLst>
                          </p:cTn>
                        </p:par>
                        <p:par>
                          <p:cTn id="61" fill="hold">
                            <p:stCondLst>
                              <p:cond delay="500"/>
                            </p:stCondLst>
                            <p:childTnLst>
                              <p:par>
                                <p:cTn id="62" presetID="1" presetClass="entr" presetSubtype="0" fill="hold" grpId="0" nodeType="afterEffect">
                                  <p:stCondLst>
                                    <p:cond delay="0"/>
                                  </p:stCondLst>
                                  <p:iterate type="lt">
                                    <p:tmAbs val="100"/>
                                  </p:iterate>
                                  <p:childTnLst>
                                    <p:set>
                                      <p:cBhvr>
                                        <p:cTn id="6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17" grpId="0" animBg="1"/>
      <p:bldP spid="18" grpId="0"/>
      <p:bldP spid="19" grpId="0" animBg="1"/>
      <p:bldP spid="20" grpId="0"/>
      <p:bldP spid="21" grpId="0" animBg="1"/>
      <p:bldP spid="22" grpId="0"/>
      <p:bldP spid="23" grpId="0" animBg="1"/>
      <p:bldP spid="2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a:extLst>
              <a:ext uri="{FF2B5EF4-FFF2-40B4-BE49-F238E27FC236}">
                <a16:creationId xmlns:a16="http://schemas.microsoft.com/office/drawing/2014/main" id="{05762D37-EDD2-2130-0DE8-ECF37380E0DF}"/>
              </a:ext>
            </a:extLst>
          </p:cNvPr>
          <p:cNvSpPr/>
          <p:nvPr/>
        </p:nvSpPr>
        <p:spPr>
          <a:xfrm>
            <a:off x="1187387" y="2843202"/>
            <a:ext cx="4159623" cy="2334941"/>
          </a:xfrm>
          <a:prstGeom prst="roundRect">
            <a:avLst>
              <a:gd name="adj" fmla="val 9951"/>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85750" indent="-285750">
              <a:lnSpc>
                <a:spcPct val="150000"/>
              </a:lnSpc>
              <a:buFont typeface="Wingdings" panose="05000000000000000000" pitchFamily="2" charset="2"/>
              <a:buChar char="l"/>
            </a:pPr>
            <a:r>
              <a:rPr lang="en-US" altLang="zh-CN" b="1" dirty="0">
                <a:solidFill>
                  <a:schemeClr val="bg1"/>
                </a:solidFill>
              </a:rPr>
              <a:t>FTP</a:t>
            </a:r>
            <a:r>
              <a:rPr lang="zh-CN" altLang="en-US" b="1" dirty="0">
                <a:solidFill>
                  <a:schemeClr val="bg1"/>
                </a:solidFill>
              </a:rPr>
              <a:t>的常见用途是在计算机之间传输文件，尤其是用于批量传输文件。</a:t>
            </a:r>
            <a:endParaRPr lang="en-US" altLang="zh-CN" b="1" dirty="0">
              <a:solidFill>
                <a:schemeClr val="bg1"/>
              </a:solidFill>
            </a:endParaRPr>
          </a:p>
          <a:p>
            <a:pPr marL="285750" indent="-285750">
              <a:lnSpc>
                <a:spcPct val="150000"/>
              </a:lnSpc>
              <a:buFont typeface="Wingdings" panose="05000000000000000000" pitchFamily="2" charset="2"/>
              <a:buChar char="l"/>
            </a:pPr>
            <a:r>
              <a:rPr lang="en-US" altLang="zh-CN" b="1" dirty="0">
                <a:solidFill>
                  <a:schemeClr val="bg1"/>
                </a:solidFill>
                <a:latin typeface="+mn-ea"/>
              </a:rPr>
              <a:t>FTP</a:t>
            </a:r>
            <a:r>
              <a:rPr lang="zh-CN" altLang="en-US" b="1" dirty="0">
                <a:solidFill>
                  <a:schemeClr val="bg1"/>
                </a:solidFill>
                <a:latin typeface="+mn-ea"/>
              </a:rPr>
              <a:t>的另一个常见用途是让网站设计者将构成网站内容的大量文件批量上传到他们的</a:t>
            </a:r>
            <a:r>
              <a:rPr lang="en-US" altLang="zh-CN" b="1" dirty="0">
                <a:solidFill>
                  <a:schemeClr val="bg1"/>
                </a:solidFill>
                <a:latin typeface="+mn-ea"/>
              </a:rPr>
              <a:t>Web</a:t>
            </a:r>
            <a:r>
              <a:rPr lang="zh-CN" altLang="en-US" b="1" dirty="0">
                <a:solidFill>
                  <a:schemeClr val="bg1"/>
                </a:solidFill>
                <a:latin typeface="+mn-ea"/>
              </a:rPr>
              <a:t>服务器。</a:t>
            </a:r>
            <a:endParaRPr lang="zh-CN" altLang="en-US" dirty="0"/>
          </a:p>
        </p:txBody>
      </p:sp>
      <p:sp>
        <p:nvSpPr>
          <p:cNvPr id="7" name="文本框 6">
            <a:extLst>
              <a:ext uri="{FF2B5EF4-FFF2-40B4-BE49-F238E27FC236}">
                <a16:creationId xmlns:a16="http://schemas.microsoft.com/office/drawing/2014/main" id="{B28EED7D-C44A-00C6-1D56-293C6BE92077}"/>
              </a:ext>
            </a:extLst>
          </p:cNvPr>
          <p:cNvSpPr txBox="1"/>
          <p:nvPr/>
        </p:nvSpPr>
        <p:spPr>
          <a:xfrm>
            <a:off x="10219766" y="4752361"/>
            <a:ext cx="1593476" cy="369332"/>
          </a:xfrm>
          <a:prstGeom prst="rect">
            <a:avLst/>
          </a:prstGeom>
          <a:noFill/>
        </p:spPr>
        <p:txBody>
          <a:bodyPr wrap="square" rtlCol="0">
            <a:spAutoFit/>
          </a:bodyPr>
          <a:lstStyle/>
          <a:p>
            <a:pPr algn="ctr"/>
            <a:r>
              <a:rPr lang="en-US" altLang="zh-CN" b="1" dirty="0"/>
              <a:t>192.168.124.16</a:t>
            </a:r>
            <a:endParaRPr lang="zh-CN" altLang="en-US" b="1" dirty="0"/>
          </a:p>
        </p:txBody>
      </p:sp>
      <p:sp>
        <p:nvSpPr>
          <p:cNvPr id="13" name="文本框 12">
            <a:extLst>
              <a:ext uri="{FF2B5EF4-FFF2-40B4-BE49-F238E27FC236}">
                <a16:creationId xmlns:a16="http://schemas.microsoft.com/office/drawing/2014/main" id="{2EBF2A59-417B-425C-E2C6-EFE7BDAA24F7}"/>
              </a:ext>
            </a:extLst>
          </p:cNvPr>
          <p:cNvSpPr txBox="1"/>
          <p:nvPr/>
        </p:nvSpPr>
        <p:spPr>
          <a:xfrm>
            <a:off x="8963409" y="4207922"/>
            <a:ext cx="929971" cy="369332"/>
          </a:xfrm>
          <a:prstGeom prst="rect">
            <a:avLst/>
          </a:prstGeom>
          <a:noFill/>
        </p:spPr>
        <p:txBody>
          <a:bodyPr wrap="square">
            <a:spAutoFit/>
          </a:bodyPr>
          <a:lstStyle/>
          <a:p>
            <a:pPr algn="ctr"/>
            <a:r>
              <a:rPr lang="zh-CN" altLang="en-US" b="1" dirty="0">
                <a:latin typeface="+mn-ea"/>
              </a:rPr>
              <a:t>交换机</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的作用</a:t>
              </a:r>
            </a:p>
          </p:txBody>
        </p:sp>
      </p:grpSp>
      <p:cxnSp>
        <p:nvCxnSpPr>
          <p:cNvPr id="28" name="直接连接符 27">
            <a:extLst>
              <a:ext uri="{FF2B5EF4-FFF2-40B4-BE49-F238E27FC236}">
                <a16:creationId xmlns:a16="http://schemas.microsoft.com/office/drawing/2014/main" id="{A212739A-937E-2860-9800-C8EEDFB2ACF4}"/>
              </a:ext>
            </a:extLst>
          </p:cNvPr>
          <p:cNvCxnSpPr/>
          <p:nvPr/>
        </p:nvCxnSpPr>
        <p:spPr>
          <a:xfrm>
            <a:off x="8738347" y="2751132"/>
            <a:ext cx="0" cy="271384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0EB58B3-3E63-FA56-5D58-06691B12448C}"/>
              </a:ext>
            </a:extLst>
          </p:cNvPr>
          <p:cNvCxnSpPr>
            <a:cxnSpLocks/>
          </p:cNvCxnSpPr>
          <p:nvPr/>
        </p:nvCxnSpPr>
        <p:spPr>
          <a:xfrm>
            <a:off x="6918834" y="4134685"/>
            <a:ext cx="35093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形 4">
            <a:extLst>
              <a:ext uri="{FF2B5EF4-FFF2-40B4-BE49-F238E27FC236}">
                <a16:creationId xmlns:a16="http://schemas.microsoft.com/office/drawing/2014/main" id="{E2666590-57DD-CDE7-E52C-1A1667075D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1245" y="3676961"/>
            <a:ext cx="690048" cy="667424"/>
          </a:xfrm>
          <a:prstGeom prst="rect">
            <a:avLst/>
          </a:prstGeom>
        </p:spPr>
      </p:pic>
      <p:sp>
        <p:nvSpPr>
          <p:cNvPr id="6" name="文本框 5">
            <a:extLst>
              <a:ext uri="{FF2B5EF4-FFF2-40B4-BE49-F238E27FC236}">
                <a16:creationId xmlns:a16="http://schemas.microsoft.com/office/drawing/2014/main" id="{1540E699-3E07-DB8A-B1F6-7DF79011596A}"/>
              </a:ext>
            </a:extLst>
          </p:cNvPr>
          <p:cNvSpPr txBox="1"/>
          <p:nvPr/>
        </p:nvSpPr>
        <p:spPr>
          <a:xfrm>
            <a:off x="6164684" y="445741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pic>
        <p:nvPicPr>
          <p:cNvPr id="8" name="图形 7">
            <a:extLst>
              <a:ext uri="{FF2B5EF4-FFF2-40B4-BE49-F238E27FC236}">
                <a16:creationId xmlns:a16="http://schemas.microsoft.com/office/drawing/2014/main" id="{BF48D78C-95AA-3D12-4F84-884250D7A8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93323" y="2417420"/>
            <a:ext cx="690048" cy="667424"/>
          </a:xfrm>
          <a:prstGeom prst="rect">
            <a:avLst/>
          </a:prstGeom>
        </p:spPr>
      </p:pic>
      <p:pic>
        <p:nvPicPr>
          <p:cNvPr id="9" name="图形 8">
            <a:extLst>
              <a:ext uri="{FF2B5EF4-FFF2-40B4-BE49-F238E27FC236}">
                <a16:creationId xmlns:a16="http://schemas.microsoft.com/office/drawing/2014/main" id="{9C244C5F-261D-B874-5621-06F7248692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37411" y="4936502"/>
            <a:ext cx="690048" cy="667424"/>
          </a:xfrm>
          <a:prstGeom prst="rect">
            <a:avLst/>
          </a:prstGeom>
        </p:spPr>
      </p:pic>
      <p:sp>
        <p:nvSpPr>
          <p:cNvPr id="10" name="文本框 9">
            <a:extLst>
              <a:ext uri="{FF2B5EF4-FFF2-40B4-BE49-F238E27FC236}">
                <a16:creationId xmlns:a16="http://schemas.microsoft.com/office/drawing/2014/main" id="{179D0A79-6A2B-477F-143A-1B9C5960DF85}"/>
              </a:ext>
            </a:extLst>
          </p:cNvPr>
          <p:cNvSpPr txBox="1"/>
          <p:nvPr/>
        </p:nvSpPr>
        <p:spPr>
          <a:xfrm>
            <a:off x="8100850" y="5739368"/>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2" name="文本框 11">
            <a:extLst>
              <a:ext uri="{FF2B5EF4-FFF2-40B4-BE49-F238E27FC236}">
                <a16:creationId xmlns:a16="http://schemas.microsoft.com/office/drawing/2014/main" id="{4C9B85AF-EF39-E110-3748-CB50B3B5112B}"/>
              </a:ext>
            </a:extLst>
          </p:cNvPr>
          <p:cNvSpPr txBox="1"/>
          <p:nvPr/>
        </p:nvSpPr>
        <p:spPr>
          <a:xfrm>
            <a:off x="8156762" y="1998513"/>
            <a:ext cx="1163170"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14" name="文本框 13">
            <a:extLst>
              <a:ext uri="{FF2B5EF4-FFF2-40B4-BE49-F238E27FC236}">
                <a16:creationId xmlns:a16="http://schemas.microsoft.com/office/drawing/2014/main" id="{7F84A145-6D08-D2D7-A119-BB9F60159359}"/>
              </a:ext>
            </a:extLst>
          </p:cNvPr>
          <p:cNvSpPr txBox="1"/>
          <p:nvPr/>
        </p:nvSpPr>
        <p:spPr>
          <a:xfrm>
            <a:off x="10283963" y="4457418"/>
            <a:ext cx="1320846" cy="369332"/>
          </a:xfrm>
          <a:prstGeom prst="rect">
            <a:avLst/>
          </a:prstGeom>
          <a:noFill/>
        </p:spPr>
        <p:txBody>
          <a:bodyPr wrap="square" rtlCol="0">
            <a:spAutoFit/>
          </a:bodyPr>
          <a:lstStyle/>
          <a:p>
            <a:pPr algn="ctr"/>
            <a:r>
              <a:rPr lang="en-US" altLang="zh-CN" b="1" dirty="0"/>
              <a:t>FTP</a:t>
            </a:r>
            <a:r>
              <a:rPr lang="zh-CN" altLang="en-US" b="1" dirty="0"/>
              <a:t>服务器</a:t>
            </a:r>
          </a:p>
        </p:txBody>
      </p:sp>
      <p:sp>
        <p:nvSpPr>
          <p:cNvPr id="30" name="文本框 29">
            <a:extLst>
              <a:ext uri="{FF2B5EF4-FFF2-40B4-BE49-F238E27FC236}">
                <a16:creationId xmlns:a16="http://schemas.microsoft.com/office/drawing/2014/main" id="{BB6306AC-DE7B-7471-21B4-CAEAC5B543CC}"/>
              </a:ext>
            </a:extLst>
          </p:cNvPr>
          <p:cNvSpPr txBox="1"/>
          <p:nvPr/>
        </p:nvSpPr>
        <p:spPr>
          <a:xfrm>
            <a:off x="840441" y="1149410"/>
            <a:ext cx="3588334" cy="369332"/>
          </a:xfrm>
          <a:prstGeom prst="rect">
            <a:avLst/>
          </a:prstGeom>
          <a:noFill/>
        </p:spPr>
        <p:txBody>
          <a:bodyPr wrap="square" rtlCol="0">
            <a:spAutoFit/>
          </a:bodyPr>
          <a:lstStyle/>
          <a:p>
            <a:r>
              <a:rPr lang="en-US" altLang="zh-CN" b="1" dirty="0"/>
              <a:t>【</a:t>
            </a:r>
            <a:r>
              <a:rPr lang="zh-CN" altLang="en-US" b="1" dirty="0"/>
              <a:t>举例</a:t>
            </a:r>
            <a:r>
              <a:rPr lang="en-US" altLang="zh-CN" b="1" dirty="0"/>
              <a:t>】</a:t>
            </a:r>
            <a:r>
              <a:rPr lang="zh-CN" altLang="en-US" b="1" dirty="0"/>
              <a:t>文件传送协议</a:t>
            </a:r>
            <a:r>
              <a:rPr lang="en-US" altLang="zh-CN" b="1" dirty="0"/>
              <a:t>FTP</a:t>
            </a:r>
            <a:r>
              <a:rPr lang="zh-CN" altLang="en-US" b="1" dirty="0"/>
              <a:t>的应用</a:t>
            </a:r>
          </a:p>
        </p:txBody>
      </p:sp>
      <p:pic>
        <p:nvPicPr>
          <p:cNvPr id="18" name="图形 17">
            <a:extLst>
              <a:ext uri="{FF2B5EF4-FFF2-40B4-BE49-F238E27FC236}">
                <a16:creationId xmlns:a16="http://schemas.microsoft.com/office/drawing/2014/main" id="{637063B0-FE7F-CFAC-8F60-0C070065C6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19569" y="3733888"/>
            <a:ext cx="1231621" cy="748327"/>
          </a:xfrm>
          <a:prstGeom prst="rect">
            <a:avLst/>
          </a:prstGeom>
        </p:spPr>
      </p:pic>
      <p:pic>
        <p:nvPicPr>
          <p:cNvPr id="11" name="图形 10">
            <a:extLst>
              <a:ext uri="{FF2B5EF4-FFF2-40B4-BE49-F238E27FC236}">
                <a16:creationId xmlns:a16="http://schemas.microsoft.com/office/drawing/2014/main" id="{4EDAEBDB-717C-86C1-C5CA-B628B531E24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4006" y="3852435"/>
            <a:ext cx="563453" cy="563453"/>
          </a:xfrm>
          <a:prstGeom prst="rect">
            <a:avLst/>
          </a:prstGeom>
        </p:spPr>
      </p:pic>
    </p:spTree>
    <p:custDataLst>
      <p:tags r:id="rId1"/>
    </p:custDataLst>
    <p:extLst>
      <p:ext uri="{BB962C8B-B14F-4D97-AF65-F5344CB8AC3E}">
        <p14:creationId xmlns:p14="http://schemas.microsoft.com/office/powerpoint/2010/main" val="2185467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left)">
                                      <p:cBhvr>
                                        <p:cTn id="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grpSp>
        <p:nvGrpSpPr>
          <p:cNvPr id="5" name="组合 4">
            <a:extLst>
              <a:ext uri="{FF2B5EF4-FFF2-40B4-BE49-F238E27FC236}">
                <a16:creationId xmlns:a16="http://schemas.microsoft.com/office/drawing/2014/main" id="{EBEF5BA1-1892-611D-DC4C-B22C9DDECF9B}"/>
              </a:ext>
            </a:extLst>
          </p:cNvPr>
          <p:cNvGrpSpPr/>
          <p:nvPr/>
        </p:nvGrpSpPr>
        <p:grpSpPr>
          <a:xfrm>
            <a:off x="2341278" y="2487095"/>
            <a:ext cx="6403152" cy="1107629"/>
            <a:chOff x="2617902" y="2077660"/>
            <a:chExt cx="6403152" cy="1107629"/>
          </a:xfrm>
        </p:grpSpPr>
        <p:pic>
          <p:nvPicPr>
            <p:cNvPr id="6" name="图形 5">
              <a:extLst>
                <a:ext uri="{FF2B5EF4-FFF2-40B4-BE49-F238E27FC236}">
                  <a16:creationId xmlns:a16="http://schemas.microsoft.com/office/drawing/2014/main" id="{F35C45E9-90E8-691D-EA2C-FD35BE98E6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30104" y="2446992"/>
              <a:ext cx="763324" cy="738297"/>
            </a:xfrm>
            <a:prstGeom prst="rect">
              <a:avLst/>
            </a:prstGeom>
          </p:spPr>
        </p:pic>
        <p:pic>
          <p:nvPicPr>
            <p:cNvPr id="7" name="图形 6">
              <a:extLst>
                <a:ext uri="{FF2B5EF4-FFF2-40B4-BE49-F238E27FC236}">
                  <a16:creationId xmlns:a16="http://schemas.microsoft.com/office/drawing/2014/main" id="{DE3F0290-2C25-4B63-32F1-F9E1C3EE44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79943" y="2446992"/>
              <a:ext cx="644545" cy="738297"/>
            </a:xfrm>
            <a:prstGeom prst="rect">
              <a:avLst/>
            </a:prstGeom>
          </p:spPr>
        </p:pic>
        <p:sp>
          <p:nvSpPr>
            <p:cNvPr id="8" name="文本框 7">
              <a:extLst>
                <a:ext uri="{FF2B5EF4-FFF2-40B4-BE49-F238E27FC236}">
                  <a16:creationId xmlns:a16="http://schemas.microsoft.com/office/drawing/2014/main" id="{5E4E8736-8146-B854-384D-7F3C6763A4DB}"/>
                </a:ext>
              </a:extLst>
            </p:cNvPr>
            <p:cNvSpPr txBox="1"/>
            <p:nvPr/>
          </p:nvSpPr>
          <p:spPr>
            <a:xfrm>
              <a:off x="2617902" y="2077660"/>
              <a:ext cx="1188834" cy="369332"/>
            </a:xfrm>
            <a:prstGeom prst="rect">
              <a:avLst/>
            </a:prstGeom>
            <a:noFill/>
          </p:spPr>
          <p:txBody>
            <a:bodyPr wrap="square" rtlCol="0">
              <a:spAutoFit/>
            </a:bodyPr>
            <a:lstStyle/>
            <a:p>
              <a:pPr algn="ctr"/>
              <a:r>
                <a:rPr lang="en-US" altLang="zh-CN" b="1" dirty="0"/>
                <a:t>FTP</a:t>
              </a:r>
              <a:r>
                <a:rPr lang="zh-CN" altLang="en-US" b="1" dirty="0"/>
                <a:t>客户</a:t>
              </a:r>
            </a:p>
          </p:txBody>
        </p:sp>
        <p:sp>
          <p:nvSpPr>
            <p:cNvPr id="9" name="文本框 8">
              <a:extLst>
                <a:ext uri="{FF2B5EF4-FFF2-40B4-BE49-F238E27FC236}">
                  <a16:creationId xmlns:a16="http://schemas.microsoft.com/office/drawing/2014/main" id="{22012F5D-683D-C0CF-7A83-5CB0BE1E1ADF}"/>
                </a:ext>
              </a:extLst>
            </p:cNvPr>
            <p:cNvSpPr txBox="1"/>
            <p:nvPr/>
          </p:nvSpPr>
          <p:spPr>
            <a:xfrm>
              <a:off x="7598045" y="2077660"/>
              <a:ext cx="1423009" cy="369332"/>
            </a:xfrm>
            <a:prstGeom prst="rect">
              <a:avLst/>
            </a:prstGeom>
            <a:noFill/>
          </p:spPr>
          <p:txBody>
            <a:bodyPr wrap="square" rtlCol="0">
              <a:spAutoFit/>
            </a:bodyPr>
            <a:lstStyle/>
            <a:p>
              <a:pPr algn="ctr"/>
              <a:r>
                <a:rPr lang="en-US" altLang="zh-CN" b="1" dirty="0"/>
                <a:t>FTP</a:t>
              </a:r>
              <a:r>
                <a:rPr lang="zh-CN" altLang="en-US" b="1" dirty="0"/>
                <a:t>服务器</a:t>
              </a:r>
            </a:p>
          </p:txBody>
        </p:sp>
      </p:grpSp>
      <p:sp>
        <p:nvSpPr>
          <p:cNvPr id="10" name="矩形 9">
            <a:extLst>
              <a:ext uri="{FF2B5EF4-FFF2-40B4-BE49-F238E27FC236}">
                <a16:creationId xmlns:a16="http://schemas.microsoft.com/office/drawing/2014/main" id="{E1D5CE5A-0954-2A16-DAB2-E8F17D4F2037}"/>
              </a:ext>
            </a:extLst>
          </p:cNvPr>
          <p:cNvSpPr/>
          <p:nvPr/>
        </p:nvSpPr>
        <p:spPr>
          <a:xfrm>
            <a:off x="1979986" y="4343662"/>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随机选择的</a:t>
            </a:r>
            <a:endParaRPr lang="en-US" altLang="zh-CN" b="1" dirty="0">
              <a:solidFill>
                <a:schemeClr val="tx1"/>
              </a:solidFill>
            </a:endParaRPr>
          </a:p>
          <a:p>
            <a:pPr algn="ctr"/>
            <a:r>
              <a:rPr lang="zh-CN" altLang="en-US" b="1" dirty="0">
                <a:solidFill>
                  <a:schemeClr val="tx1"/>
                </a:solidFill>
              </a:rPr>
              <a:t>临时端口号</a:t>
            </a:r>
          </a:p>
        </p:txBody>
      </p:sp>
      <p:sp>
        <p:nvSpPr>
          <p:cNvPr id="12" name="矩形 11">
            <a:extLst>
              <a:ext uri="{FF2B5EF4-FFF2-40B4-BE49-F238E27FC236}">
                <a16:creationId xmlns:a16="http://schemas.microsoft.com/office/drawing/2014/main" id="{466B5648-EF96-08C9-8FF5-EEF35D356BB5}"/>
              </a:ext>
            </a:extLst>
          </p:cNvPr>
          <p:cNvSpPr/>
          <p:nvPr/>
        </p:nvSpPr>
        <p:spPr>
          <a:xfrm>
            <a:off x="7321422" y="4343662"/>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熟知端口号</a:t>
            </a:r>
            <a:endParaRPr lang="en-US" altLang="zh-CN" b="1" dirty="0">
              <a:solidFill>
                <a:schemeClr val="tx1"/>
              </a:solidFill>
            </a:endParaRPr>
          </a:p>
          <a:p>
            <a:pPr algn="ctr"/>
            <a:r>
              <a:rPr lang="en-US" altLang="zh-CN" b="1" dirty="0">
                <a:solidFill>
                  <a:schemeClr val="tx1"/>
                </a:solidFill>
              </a:rPr>
              <a:t>21</a:t>
            </a:r>
            <a:endParaRPr lang="zh-CN" altLang="en-US" b="1" dirty="0">
              <a:solidFill>
                <a:schemeClr val="tx1"/>
              </a:solidFill>
            </a:endParaRPr>
          </a:p>
        </p:txBody>
      </p:sp>
      <p:sp>
        <p:nvSpPr>
          <p:cNvPr id="13" name="矩形 12">
            <a:extLst>
              <a:ext uri="{FF2B5EF4-FFF2-40B4-BE49-F238E27FC236}">
                <a16:creationId xmlns:a16="http://schemas.microsoft.com/office/drawing/2014/main" id="{553F72D6-76F0-295B-C96C-B3DE6172EF5A}"/>
              </a:ext>
            </a:extLst>
          </p:cNvPr>
          <p:cNvSpPr/>
          <p:nvPr/>
        </p:nvSpPr>
        <p:spPr>
          <a:xfrm>
            <a:off x="1979986" y="5426658"/>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rPr>
              <a:t>另一个</a:t>
            </a:r>
            <a:endParaRPr lang="en-US" altLang="zh-CN" b="1" dirty="0">
              <a:solidFill>
                <a:schemeClr val="bg1"/>
              </a:solidFill>
            </a:endParaRPr>
          </a:p>
          <a:p>
            <a:pPr algn="ctr"/>
            <a:r>
              <a:rPr lang="zh-CN" altLang="en-US" b="1" dirty="0">
                <a:solidFill>
                  <a:schemeClr val="bg1"/>
                </a:solidFill>
              </a:rPr>
              <a:t>临时端口号</a:t>
            </a:r>
          </a:p>
        </p:txBody>
      </p:sp>
      <p:sp>
        <p:nvSpPr>
          <p:cNvPr id="14" name="矩形 13">
            <a:extLst>
              <a:ext uri="{FF2B5EF4-FFF2-40B4-BE49-F238E27FC236}">
                <a16:creationId xmlns:a16="http://schemas.microsoft.com/office/drawing/2014/main" id="{F0936B35-C8E3-41F2-80DA-B934E18F150F}"/>
              </a:ext>
            </a:extLst>
          </p:cNvPr>
          <p:cNvSpPr/>
          <p:nvPr/>
        </p:nvSpPr>
        <p:spPr>
          <a:xfrm>
            <a:off x="7321422" y="5426658"/>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rPr>
              <a:t>熟知端口号</a:t>
            </a:r>
            <a:endParaRPr lang="en-US" altLang="zh-CN" b="1" dirty="0">
              <a:solidFill>
                <a:schemeClr val="bg1"/>
              </a:solidFill>
            </a:endParaRPr>
          </a:p>
          <a:p>
            <a:pPr algn="ctr"/>
            <a:r>
              <a:rPr lang="en-US" altLang="zh-CN" b="1" dirty="0">
                <a:solidFill>
                  <a:schemeClr val="bg1"/>
                </a:solidFill>
              </a:rPr>
              <a:t>20</a:t>
            </a:r>
            <a:endParaRPr lang="zh-CN" altLang="en-US" b="1" dirty="0">
              <a:solidFill>
                <a:schemeClr val="bg1"/>
              </a:solidFill>
            </a:endParaRPr>
          </a:p>
        </p:txBody>
      </p:sp>
      <p:grpSp>
        <p:nvGrpSpPr>
          <p:cNvPr id="15" name="组合 14">
            <a:extLst>
              <a:ext uri="{FF2B5EF4-FFF2-40B4-BE49-F238E27FC236}">
                <a16:creationId xmlns:a16="http://schemas.microsoft.com/office/drawing/2014/main" id="{4564619F-F49F-E64B-909E-50DFCD039E05}"/>
              </a:ext>
            </a:extLst>
          </p:cNvPr>
          <p:cNvGrpSpPr/>
          <p:nvPr/>
        </p:nvGrpSpPr>
        <p:grpSpPr>
          <a:xfrm>
            <a:off x="3596294" y="4214889"/>
            <a:ext cx="3658944" cy="897910"/>
            <a:chOff x="3872918" y="4066710"/>
            <a:chExt cx="3658944" cy="897910"/>
          </a:xfrm>
        </p:grpSpPr>
        <p:sp>
          <p:nvSpPr>
            <p:cNvPr id="25" name="箭头: 右 24">
              <a:extLst>
                <a:ext uri="{FF2B5EF4-FFF2-40B4-BE49-F238E27FC236}">
                  <a16:creationId xmlns:a16="http://schemas.microsoft.com/office/drawing/2014/main" id="{44F8638B-E1C4-C78B-0F09-1F1EF0278D99}"/>
                </a:ext>
              </a:extLst>
            </p:cNvPr>
            <p:cNvSpPr/>
            <p:nvPr/>
          </p:nvSpPr>
          <p:spPr>
            <a:xfrm>
              <a:off x="3872918" y="4272289"/>
              <a:ext cx="3658944" cy="69233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FTP</a:t>
              </a:r>
              <a:r>
                <a:rPr lang="zh-CN" altLang="en-US" b="1" dirty="0">
                  <a:solidFill>
                    <a:schemeClr val="tx1"/>
                  </a:solidFill>
                </a:rPr>
                <a:t>客户发起的</a:t>
              </a:r>
              <a:r>
                <a:rPr lang="en-US" altLang="zh-CN" b="1" dirty="0">
                  <a:solidFill>
                    <a:schemeClr val="tx1"/>
                  </a:solidFill>
                </a:rPr>
                <a:t>TCP</a:t>
              </a:r>
              <a:r>
                <a:rPr lang="zh-CN" altLang="en-US" b="1" dirty="0">
                  <a:solidFill>
                    <a:schemeClr val="tx1"/>
                  </a:solidFill>
                </a:rPr>
                <a:t>连接</a:t>
              </a:r>
            </a:p>
          </p:txBody>
        </p:sp>
        <p:sp>
          <p:nvSpPr>
            <p:cNvPr id="26" name="文本框 25">
              <a:extLst>
                <a:ext uri="{FF2B5EF4-FFF2-40B4-BE49-F238E27FC236}">
                  <a16:creationId xmlns:a16="http://schemas.microsoft.com/office/drawing/2014/main" id="{850E8B99-964C-B4FB-E36C-883AAD449F0E}"/>
                </a:ext>
              </a:extLst>
            </p:cNvPr>
            <p:cNvSpPr txBox="1"/>
            <p:nvPr/>
          </p:nvSpPr>
          <p:spPr>
            <a:xfrm>
              <a:off x="5225440" y="4066710"/>
              <a:ext cx="1018903" cy="369332"/>
            </a:xfrm>
            <a:prstGeom prst="rect">
              <a:avLst/>
            </a:prstGeom>
            <a:noFill/>
          </p:spPr>
          <p:txBody>
            <a:bodyPr wrap="square" rtlCol="0">
              <a:spAutoFit/>
            </a:bodyPr>
            <a:lstStyle/>
            <a:p>
              <a:pPr algn="ctr"/>
              <a:r>
                <a:rPr lang="en-US" altLang="zh-CN" b="1" dirty="0"/>
                <a:t>❶</a:t>
              </a:r>
              <a:endParaRPr lang="zh-CN" altLang="en-US" b="1" dirty="0"/>
            </a:p>
          </p:txBody>
        </p:sp>
      </p:grpSp>
      <p:grpSp>
        <p:nvGrpSpPr>
          <p:cNvPr id="27" name="组合 26">
            <a:extLst>
              <a:ext uri="{FF2B5EF4-FFF2-40B4-BE49-F238E27FC236}">
                <a16:creationId xmlns:a16="http://schemas.microsoft.com/office/drawing/2014/main" id="{F7B526D8-54BA-C3FF-1461-E02A83A6AF2A}"/>
              </a:ext>
            </a:extLst>
          </p:cNvPr>
          <p:cNvGrpSpPr/>
          <p:nvPr/>
        </p:nvGrpSpPr>
        <p:grpSpPr>
          <a:xfrm>
            <a:off x="3596294" y="5274755"/>
            <a:ext cx="3658944" cy="888988"/>
            <a:chOff x="3872918" y="5418568"/>
            <a:chExt cx="3658944" cy="888988"/>
          </a:xfrm>
        </p:grpSpPr>
        <p:sp>
          <p:nvSpPr>
            <p:cNvPr id="28" name="箭头: 右 27">
              <a:extLst>
                <a:ext uri="{FF2B5EF4-FFF2-40B4-BE49-F238E27FC236}">
                  <a16:creationId xmlns:a16="http://schemas.microsoft.com/office/drawing/2014/main" id="{A89C4C12-85A7-4245-9FBE-9B0C55F30B1D}"/>
                </a:ext>
              </a:extLst>
            </p:cNvPr>
            <p:cNvSpPr/>
            <p:nvPr/>
          </p:nvSpPr>
          <p:spPr>
            <a:xfrm rot="10800000">
              <a:off x="3872918" y="5615225"/>
              <a:ext cx="3658944" cy="692331"/>
            </a:xfrm>
            <a:prstGeom prst="righ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dirty="0">
                <a:solidFill>
                  <a:schemeClr val="bg1"/>
                </a:solidFill>
              </a:endParaRPr>
            </a:p>
          </p:txBody>
        </p:sp>
        <p:sp>
          <p:nvSpPr>
            <p:cNvPr id="29" name="文本框 28">
              <a:extLst>
                <a:ext uri="{FF2B5EF4-FFF2-40B4-BE49-F238E27FC236}">
                  <a16:creationId xmlns:a16="http://schemas.microsoft.com/office/drawing/2014/main" id="{8F5A42D2-EFF0-CA3B-69ED-4E911375C57B}"/>
                </a:ext>
              </a:extLst>
            </p:cNvPr>
            <p:cNvSpPr txBox="1"/>
            <p:nvPr/>
          </p:nvSpPr>
          <p:spPr>
            <a:xfrm>
              <a:off x="4265474" y="5786399"/>
              <a:ext cx="2980570"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altLang="zh-CN" b="1" dirty="0">
                  <a:solidFill>
                    <a:schemeClr val="bg1"/>
                  </a:solidFill>
                </a:rPr>
                <a:t>FTP</a:t>
              </a:r>
              <a:r>
                <a:rPr lang="zh-CN" altLang="en-US" b="1" dirty="0">
                  <a:solidFill>
                    <a:schemeClr val="bg1"/>
                  </a:solidFill>
                </a:rPr>
                <a:t>服务器发起的</a:t>
              </a:r>
              <a:r>
                <a:rPr lang="en-US" altLang="zh-CN" b="1" dirty="0">
                  <a:solidFill>
                    <a:schemeClr val="bg1"/>
                  </a:solidFill>
                </a:rPr>
                <a:t>TCP</a:t>
              </a:r>
              <a:r>
                <a:rPr lang="zh-CN" altLang="en-US" b="1" dirty="0">
                  <a:solidFill>
                    <a:schemeClr val="bg1"/>
                  </a:solidFill>
                </a:rPr>
                <a:t>连接</a:t>
              </a:r>
            </a:p>
          </p:txBody>
        </p:sp>
        <p:sp>
          <p:nvSpPr>
            <p:cNvPr id="30" name="文本框 29">
              <a:extLst>
                <a:ext uri="{FF2B5EF4-FFF2-40B4-BE49-F238E27FC236}">
                  <a16:creationId xmlns:a16="http://schemas.microsoft.com/office/drawing/2014/main" id="{5813D6CB-2934-19E9-D4A1-7C8A9D7607FE}"/>
                </a:ext>
              </a:extLst>
            </p:cNvPr>
            <p:cNvSpPr txBox="1"/>
            <p:nvPr/>
          </p:nvSpPr>
          <p:spPr>
            <a:xfrm>
              <a:off x="5225440" y="5418568"/>
              <a:ext cx="1018903"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b="1" dirty="0">
                  <a:solidFill>
                    <a:schemeClr val="tx1"/>
                  </a:solidFill>
                </a:rPr>
                <a:t>❹</a:t>
              </a:r>
              <a:endParaRPr lang="zh-CN" altLang="en-US" b="1" dirty="0">
                <a:solidFill>
                  <a:schemeClr val="tx1"/>
                </a:solidFill>
              </a:endParaRPr>
            </a:p>
          </p:txBody>
        </p:sp>
      </p:grpSp>
      <p:grpSp>
        <p:nvGrpSpPr>
          <p:cNvPr id="31" name="组合 30">
            <a:extLst>
              <a:ext uri="{FF2B5EF4-FFF2-40B4-BE49-F238E27FC236}">
                <a16:creationId xmlns:a16="http://schemas.microsoft.com/office/drawing/2014/main" id="{27A3D823-23C9-6511-2329-AE910472561A}"/>
              </a:ext>
            </a:extLst>
          </p:cNvPr>
          <p:cNvGrpSpPr/>
          <p:nvPr/>
        </p:nvGrpSpPr>
        <p:grpSpPr>
          <a:xfrm>
            <a:off x="3694980" y="2419367"/>
            <a:ext cx="3526575" cy="806208"/>
            <a:chOff x="3971604" y="2009932"/>
            <a:chExt cx="3526575" cy="806208"/>
          </a:xfrm>
        </p:grpSpPr>
        <p:grpSp>
          <p:nvGrpSpPr>
            <p:cNvPr id="32" name="组合 31">
              <a:extLst>
                <a:ext uri="{FF2B5EF4-FFF2-40B4-BE49-F238E27FC236}">
                  <a16:creationId xmlns:a16="http://schemas.microsoft.com/office/drawing/2014/main" id="{9AA4B7F9-56E6-B8DA-1893-3FF533D24348}"/>
                </a:ext>
              </a:extLst>
            </p:cNvPr>
            <p:cNvGrpSpPr/>
            <p:nvPr/>
          </p:nvGrpSpPr>
          <p:grpSpPr>
            <a:xfrm>
              <a:off x="3971604" y="2378780"/>
              <a:ext cx="3526575" cy="437360"/>
              <a:chOff x="3505600" y="2668210"/>
              <a:chExt cx="3526575" cy="437360"/>
            </a:xfrm>
          </p:grpSpPr>
          <p:sp>
            <p:nvSpPr>
              <p:cNvPr id="34" name="圆柱体 33">
                <a:extLst>
                  <a:ext uri="{FF2B5EF4-FFF2-40B4-BE49-F238E27FC236}">
                    <a16:creationId xmlns:a16="http://schemas.microsoft.com/office/drawing/2014/main" id="{08B67665-F418-23D7-97BE-059F33C4ABDE}"/>
                  </a:ext>
                </a:extLst>
              </p:cNvPr>
              <p:cNvSpPr/>
              <p:nvPr/>
            </p:nvSpPr>
            <p:spPr>
              <a:xfrm rot="16200000">
                <a:off x="5050208" y="1123602"/>
                <a:ext cx="437360" cy="3526575"/>
              </a:xfrm>
              <a:prstGeom prst="ca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 name="文本框 34">
                <a:extLst>
                  <a:ext uri="{FF2B5EF4-FFF2-40B4-BE49-F238E27FC236}">
                    <a16:creationId xmlns:a16="http://schemas.microsoft.com/office/drawing/2014/main" id="{A9271916-EBEF-7515-A0D8-4725545B19DC}"/>
                  </a:ext>
                </a:extLst>
              </p:cNvPr>
              <p:cNvSpPr txBox="1"/>
              <p:nvPr/>
            </p:nvSpPr>
            <p:spPr>
              <a:xfrm>
                <a:off x="3722128" y="2702223"/>
                <a:ext cx="3180855" cy="369332"/>
              </a:xfrm>
              <a:prstGeom prst="rect">
                <a:avLst/>
              </a:prstGeom>
              <a:noFill/>
            </p:spPr>
            <p:txBody>
              <a:bodyPr wrap="square" rtlCol="0">
                <a:spAutoFit/>
              </a:bodyPr>
              <a:lstStyle/>
              <a:p>
                <a:pPr algn="ctr"/>
                <a:r>
                  <a:rPr lang="zh-CN" altLang="en-US" b="1" dirty="0"/>
                  <a:t>用于传送控制命令的</a:t>
                </a:r>
                <a:r>
                  <a:rPr lang="en-US" altLang="zh-CN" b="1" dirty="0"/>
                  <a:t>TCP</a:t>
                </a:r>
                <a:r>
                  <a:rPr lang="zh-CN" altLang="en-US" b="1" dirty="0"/>
                  <a:t>连接</a:t>
                </a:r>
              </a:p>
            </p:txBody>
          </p:sp>
        </p:grpSp>
        <p:sp>
          <p:nvSpPr>
            <p:cNvPr id="33" name="文本框 32">
              <a:extLst>
                <a:ext uri="{FF2B5EF4-FFF2-40B4-BE49-F238E27FC236}">
                  <a16:creationId xmlns:a16="http://schemas.microsoft.com/office/drawing/2014/main" id="{52D230CE-95E8-455D-3055-3AE8A1C63014}"/>
                </a:ext>
              </a:extLst>
            </p:cNvPr>
            <p:cNvSpPr txBox="1"/>
            <p:nvPr/>
          </p:nvSpPr>
          <p:spPr>
            <a:xfrm>
              <a:off x="5225440" y="2009932"/>
              <a:ext cx="1018903" cy="369332"/>
            </a:xfrm>
            <a:prstGeom prst="rect">
              <a:avLst/>
            </a:prstGeom>
            <a:noFill/>
          </p:spPr>
          <p:txBody>
            <a:bodyPr wrap="square" rtlCol="0">
              <a:spAutoFit/>
            </a:bodyPr>
            <a:lstStyle/>
            <a:p>
              <a:pPr algn="ctr"/>
              <a:r>
                <a:rPr lang="en-US" altLang="zh-CN" b="1" dirty="0"/>
                <a:t>❷</a:t>
              </a:r>
              <a:endParaRPr lang="zh-CN" altLang="en-US" b="1" dirty="0"/>
            </a:p>
          </p:txBody>
        </p:sp>
      </p:grpSp>
      <p:grpSp>
        <p:nvGrpSpPr>
          <p:cNvPr id="36" name="组合 35">
            <a:extLst>
              <a:ext uri="{FF2B5EF4-FFF2-40B4-BE49-F238E27FC236}">
                <a16:creationId xmlns:a16="http://schemas.microsoft.com/office/drawing/2014/main" id="{43CEAD5C-38B8-EEB7-C663-E967BD0C5AB2}"/>
              </a:ext>
            </a:extLst>
          </p:cNvPr>
          <p:cNvGrpSpPr/>
          <p:nvPr/>
        </p:nvGrpSpPr>
        <p:grpSpPr>
          <a:xfrm>
            <a:off x="3802851" y="1272154"/>
            <a:ext cx="4122120" cy="1182438"/>
            <a:chOff x="4079475" y="862719"/>
            <a:chExt cx="4122120" cy="1182438"/>
          </a:xfrm>
        </p:grpSpPr>
        <p:sp>
          <p:nvSpPr>
            <p:cNvPr id="37" name="对话气泡: 圆角矩形 36">
              <a:extLst>
                <a:ext uri="{FF2B5EF4-FFF2-40B4-BE49-F238E27FC236}">
                  <a16:creationId xmlns:a16="http://schemas.microsoft.com/office/drawing/2014/main" id="{AB49F884-788D-58EF-FCFA-EBAE3A0A8963}"/>
                </a:ext>
              </a:extLst>
            </p:cNvPr>
            <p:cNvSpPr/>
            <p:nvPr/>
          </p:nvSpPr>
          <p:spPr>
            <a:xfrm>
              <a:off x="4079475" y="862719"/>
              <a:ext cx="3398168" cy="1182438"/>
            </a:xfrm>
            <a:prstGeom prst="wedgeRoundRectCallout">
              <a:avLst>
                <a:gd name="adj1" fmla="val -24360"/>
                <a:gd name="adj2" fmla="val 70824"/>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rPr>
                <a:t>有数据传送时，</a:t>
              </a:r>
              <a:r>
                <a:rPr lang="en-US" altLang="zh-CN" b="1" dirty="0">
                  <a:solidFill>
                    <a:schemeClr val="bg1"/>
                  </a:solidFill>
                </a:rPr>
                <a:t>FTP</a:t>
              </a:r>
              <a:r>
                <a:rPr lang="zh-CN" altLang="en-US" b="1" dirty="0">
                  <a:solidFill>
                    <a:schemeClr val="bg1"/>
                  </a:solidFill>
                </a:rPr>
                <a:t>客户通过命令通道告知</a:t>
              </a:r>
              <a:r>
                <a:rPr lang="en-US" altLang="zh-CN" b="1" dirty="0">
                  <a:solidFill>
                    <a:schemeClr val="bg1"/>
                  </a:solidFill>
                </a:rPr>
                <a:t>FTP</a:t>
              </a:r>
              <a:r>
                <a:rPr lang="zh-CN" altLang="en-US" b="1" dirty="0">
                  <a:solidFill>
                    <a:schemeClr val="bg1"/>
                  </a:solidFill>
                </a:rPr>
                <a:t>服务器来与自己的另一个临时端口号建立</a:t>
              </a:r>
              <a:r>
                <a:rPr lang="en-US" altLang="zh-CN" b="1" dirty="0">
                  <a:solidFill>
                    <a:schemeClr val="bg1"/>
                  </a:solidFill>
                </a:rPr>
                <a:t>TCP</a:t>
              </a:r>
              <a:r>
                <a:rPr lang="zh-CN" altLang="en-US" b="1" dirty="0">
                  <a:solidFill>
                    <a:schemeClr val="bg1"/>
                  </a:solidFill>
                </a:rPr>
                <a:t>连接，以建立数据通道。</a:t>
              </a:r>
            </a:p>
          </p:txBody>
        </p:sp>
        <p:sp>
          <p:nvSpPr>
            <p:cNvPr id="38" name="文本框 37">
              <a:extLst>
                <a:ext uri="{FF2B5EF4-FFF2-40B4-BE49-F238E27FC236}">
                  <a16:creationId xmlns:a16="http://schemas.microsoft.com/office/drawing/2014/main" id="{076273FE-1A3E-B9D0-F44B-8FDAC0B3FF5C}"/>
                </a:ext>
              </a:extLst>
            </p:cNvPr>
            <p:cNvSpPr txBox="1"/>
            <p:nvPr/>
          </p:nvSpPr>
          <p:spPr>
            <a:xfrm>
              <a:off x="7182692" y="927380"/>
              <a:ext cx="1018903" cy="369332"/>
            </a:xfrm>
            <a:prstGeom prst="rect">
              <a:avLst/>
            </a:prstGeom>
            <a:noFill/>
          </p:spPr>
          <p:txBody>
            <a:bodyPr wrap="square" rtlCol="0">
              <a:spAutoFit/>
            </a:bodyPr>
            <a:lstStyle/>
            <a:p>
              <a:pPr algn="ctr"/>
              <a:r>
                <a:rPr lang="en-US" altLang="zh-CN" b="1" dirty="0"/>
                <a:t>❸</a:t>
              </a:r>
              <a:endParaRPr lang="zh-CN" altLang="en-US" b="1" dirty="0"/>
            </a:p>
          </p:txBody>
        </p:sp>
      </p:grpSp>
      <p:grpSp>
        <p:nvGrpSpPr>
          <p:cNvPr id="39" name="组合 38">
            <a:extLst>
              <a:ext uri="{FF2B5EF4-FFF2-40B4-BE49-F238E27FC236}">
                <a16:creationId xmlns:a16="http://schemas.microsoft.com/office/drawing/2014/main" id="{F4D74824-C999-D6E8-42F6-11CF0BDB42D9}"/>
              </a:ext>
            </a:extLst>
          </p:cNvPr>
          <p:cNvGrpSpPr/>
          <p:nvPr/>
        </p:nvGrpSpPr>
        <p:grpSpPr>
          <a:xfrm>
            <a:off x="3694980" y="3317237"/>
            <a:ext cx="3526575" cy="807967"/>
            <a:chOff x="3971604" y="2907802"/>
            <a:chExt cx="3526575" cy="807967"/>
          </a:xfrm>
        </p:grpSpPr>
        <p:grpSp>
          <p:nvGrpSpPr>
            <p:cNvPr id="40" name="组合 39">
              <a:extLst>
                <a:ext uri="{FF2B5EF4-FFF2-40B4-BE49-F238E27FC236}">
                  <a16:creationId xmlns:a16="http://schemas.microsoft.com/office/drawing/2014/main" id="{ECFC0197-1F6A-93A5-5989-8F356BFB06BE}"/>
                </a:ext>
              </a:extLst>
            </p:cNvPr>
            <p:cNvGrpSpPr/>
            <p:nvPr/>
          </p:nvGrpSpPr>
          <p:grpSpPr>
            <a:xfrm>
              <a:off x="3971604" y="2907802"/>
              <a:ext cx="3526575" cy="437360"/>
              <a:chOff x="3971508" y="1366279"/>
              <a:chExt cx="3526575" cy="437360"/>
            </a:xfrm>
          </p:grpSpPr>
          <p:sp>
            <p:nvSpPr>
              <p:cNvPr id="42" name="圆柱体 41">
                <a:extLst>
                  <a:ext uri="{FF2B5EF4-FFF2-40B4-BE49-F238E27FC236}">
                    <a16:creationId xmlns:a16="http://schemas.microsoft.com/office/drawing/2014/main" id="{AD801BB7-B137-467F-19FA-1D551522AA8F}"/>
                  </a:ext>
                </a:extLst>
              </p:cNvPr>
              <p:cNvSpPr/>
              <p:nvPr/>
            </p:nvSpPr>
            <p:spPr>
              <a:xfrm rot="16200000">
                <a:off x="5516116" y="-178329"/>
                <a:ext cx="437360" cy="3526575"/>
              </a:xfrm>
              <a:prstGeom prst="can">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a:solidFill>
                    <a:schemeClr val="bg1"/>
                  </a:solidFill>
                </a:endParaRPr>
              </a:p>
            </p:txBody>
          </p:sp>
          <p:sp>
            <p:nvSpPr>
              <p:cNvPr id="43" name="文本框 42">
                <a:extLst>
                  <a:ext uri="{FF2B5EF4-FFF2-40B4-BE49-F238E27FC236}">
                    <a16:creationId xmlns:a16="http://schemas.microsoft.com/office/drawing/2014/main" id="{E1ECF481-7D1D-479A-A2DC-F26ACE51AEF7}"/>
                  </a:ext>
                </a:extLst>
              </p:cNvPr>
              <p:cNvSpPr txBox="1"/>
              <p:nvPr/>
            </p:nvSpPr>
            <p:spPr>
              <a:xfrm>
                <a:off x="4286996" y="1413394"/>
                <a:ext cx="2895600" cy="369332"/>
              </a:xfrm>
              <a:prstGeom prst="rect">
                <a:avLst/>
              </a:prstGeom>
              <a:noFill/>
            </p:spPr>
            <p:txBody>
              <a:bodyPr wrap="square" rtlCol="0">
                <a:spAutoFit/>
              </a:bodyPr>
              <a:lstStyle/>
              <a:p>
                <a:pPr algn="ctr"/>
                <a:r>
                  <a:rPr lang="zh-CN" altLang="en-US" b="1" dirty="0">
                    <a:solidFill>
                      <a:schemeClr val="bg1"/>
                    </a:solidFill>
                  </a:rPr>
                  <a:t>用于传送数据的</a:t>
                </a:r>
                <a:r>
                  <a:rPr lang="en-US" altLang="zh-CN" b="1" dirty="0">
                    <a:solidFill>
                      <a:schemeClr val="bg1"/>
                    </a:solidFill>
                  </a:rPr>
                  <a:t>TCP</a:t>
                </a:r>
                <a:r>
                  <a:rPr lang="zh-CN" altLang="en-US" b="1" dirty="0">
                    <a:solidFill>
                      <a:schemeClr val="bg1"/>
                    </a:solidFill>
                  </a:rPr>
                  <a:t>连接</a:t>
                </a:r>
              </a:p>
            </p:txBody>
          </p:sp>
        </p:grpSp>
        <p:sp>
          <p:nvSpPr>
            <p:cNvPr id="41" name="文本框 40">
              <a:extLst>
                <a:ext uri="{FF2B5EF4-FFF2-40B4-BE49-F238E27FC236}">
                  <a16:creationId xmlns:a16="http://schemas.microsoft.com/office/drawing/2014/main" id="{E0826DB3-09A5-E854-42C3-E42F37D9A721}"/>
                </a:ext>
              </a:extLst>
            </p:cNvPr>
            <p:cNvSpPr txBox="1"/>
            <p:nvPr/>
          </p:nvSpPr>
          <p:spPr>
            <a:xfrm>
              <a:off x="5225440" y="3346437"/>
              <a:ext cx="1018903" cy="369332"/>
            </a:xfrm>
            <a:prstGeom prst="rect">
              <a:avLst/>
            </a:prstGeom>
            <a:noFill/>
          </p:spPr>
          <p:txBody>
            <a:bodyPr wrap="square" rtlCol="0">
              <a:spAutoFit/>
            </a:bodyPr>
            <a:lstStyle/>
            <a:p>
              <a:pPr algn="ctr"/>
              <a:r>
                <a:rPr lang="en-US" altLang="zh-CN" b="1" dirty="0"/>
                <a:t>❺</a:t>
              </a:r>
              <a:endParaRPr lang="zh-CN" altLang="en-US" b="1" dirty="0"/>
            </a:p>
          </p:txBody>
        </p:sp>
      </p:grpSp>
      <p:sp>
        <p:nvSpPr>
          <p:cNvPr id="45" name="文本框 44">
            <a:extLst>
              <a:ext uri="{FF2B5EF4-FFF2-40B4-BE49-F238E27FC236}">
                <a16:creationId xmlns:a16="http://schemas.microsoft.com/office/drawing/2014/main" id="{3C2B6164-62FE-4BCA-9D74-A20D9935A45E}"/>
              </a:ext>
            </a:extLst>
          </p:cNvPr>
          <p:cNvSpPr txBox="1"/>
          <p:nvPr/>
        </p:nvSpPr>
        <p:spPr>
          <a:xfrm>
            <a:off x="8744430" y="2326549"/>
            <a:ext cx="3197641" cy="923330"/>
          </a:xfrm>
          <a:prstGeom prst="rect">
            <a:avLst/>
          </a:prstGeom>
          <a:noFill/>
        </p:spPr>
        <p:txBody>
          <a:bodyPr wrap="square" rtlCol="0">
            <a:spAutoFit/>
          </a:bodyPr>
          <a:lstStyle/>
          <a:p>
            <a:r>
              <a:rPr lang="zh-CN" altLang="en-US" b="1" dirty="0">
                <a:solidFill>
                  <a:srgbClr val="F5811E"/>
                </a:solidFill>
              </a:rPr>
              <a:t>控制连接在整个会话期间一直保持打开，用于传送</a:t>
            </a:r>
            <a:r>
              <a:rPr lang="en-US" altLang="zh-CN" b="1" dirty="0">
                <a:solidFill>
                  <a:srgbClr val="F5811E"/>
                </a:solidFill>
              </a:rPr>
              <a:t>FTP</a:t>
            </a:r>
            <a:r>
              <a:rPr lang="zh-CN" altLang="en-US" b="1" dirty="0">
                <a:solidFill>
                  <a:srgbClr val="F5811E"/>
                </a:solidFill>
              </a:rPr>
              <a:t>相关控制命令。</a:t>
            </a:r>
          </a:p>
        </p:txBody>
      </p:sp>
      <p:sp>
        <p:nvSpPr>
          <p:cNvPr id="46" name="文本框 45">
            <a:extLst>
              <a:ext uri="{FF2B5EF4-FFF2-40B4-BE49-F238E27FC236}">
                <a16:creationId xmlns:a16="http://schemas.microsoft.com/office/drawing/2014/main" id="{87C94917-E358-1127-E5B9-D5BAF5C29A98}"/>
              </a:ext>
            </a:extLst>
          </p:cNvPr>
          <p:cNvSpPr txBox="1"/>
          <p:nvPr/>
        </p:nvSpPr>
        <p:spPr>
          <a:xfrm>
            <a:off x="8704718" y="3249879"/>
            <a:ext cx="3197641" cy="923330"/>
          </a:xfrm>
          <a:prstGeom prst="rect">
            <a:avLst/>
          </a:prstGeom>
          <a:noFill/>
        </p:spPr>
        <p:txBody>
          <a:bodyPr wrap="square" rtlCol="0">
            <a:spAutoFit/>
          </a:bodyPr>
          <a:lstStyle/>
          <a:p>
            <a:r>
              <a:rPr lang="zh-CN" altLang="en-US" b="1" dirty="0">
                <a:solidFill>
                  <a:schemeClr val="accent3"/>
                </a:solidFill>
              </a:rPr>
              <a:t>数据连接用于文件传输，在每次文件传输时才建立，传输结束就关闭。</a:t>
            </a:r>
          </a:p>
        </p:txBody>
      </p:sp>
      <p:sp>
        <p:nvSpPr>
          <p:cNvPr id="47" name="文本框 46">
            <a:extLst>
              <a:ext uri="{FF2B5EF4-FFF2-40B4-BE49-F238E27FC236}">
                <a16:creationId xmlns:a16="http://schemas.microsoft.com/office/drawing/2014/main" id="{6E59CCBF-86EF-C80B-4378-53D3826FCD3C}"/>
              </a:ext>
            </a:extLst>
          </p:cNvPr>
          <p:cNvSpPr txBox="1"/>
          <p:nvPr/>
        </p:nvSpPr>
        <p:spPr>
          <a:xfrm>
            <a:off x="4886001" y="767667"/>
            <a:ext cx="6789657" cy="369332"/>
          </a:xfrm>
          <a:prstGeom prst="rect">
            <a:avLst/>
          </a:prstGeom>
          <a:noFill/>
        </p:spPr>
        <p:txBody>
          <a:bodyPr wrap="square" rtlCol="0">
            <a:spAutoFit/>
          </a:bodyPr>
          <a:lstStyle/>
          <a:p>
            <a:r>
              <a:rPr lang="en-US" altLang="zh-CN" b="1" dirty="0"/>
              <a:t>——  </a:t>
            </a:r>
            <a:r>
              <a:rPr lang="zh-CN" altLang="en-US" b="1" dirty="0">
                <a:solidFill>
                  <a:schemeClr val="accent1">
                    <a:lumMod val="75000"/>
                  </a:schemeClr>
                </a:solidFill>
              </a:rPr>
              <a:t>主动模式</a:t>
            </a:r>
            <a:r>
              <a:rPr lang="zh-CN" altLang="en-US" b="1" dirty="0"/>
              <a:t>（建立数据通道时，</a:t>
            </a:r>
            <a:r>
              <a:rPr lang="en-US" altLang="zh-CN" b="1" dirty="0"/>
              <a:t>FTP</a:t>
            </a:r>
            <a:r>
              <a:rPr lang="zh-CN" altLang="en-US" b="1" dirty="0"/>
              <a:t>服务器主动连接</a:t>
            </a:r>
            <a:r>
              <a:rPr lang="en-US" altLang="zh-CN" b="1" dirty="0"/>
              <a:t>FTP</a:t>
            </a:r>
            <a:r>
              <a:rPr lang="zh-CN" altLang="en-US" b="1" dirty="0"/>
              <a:t>客户）</a:t>
            </a:r>
          </a:p>
        </p:txBody>
      </p:sp>
    </p:spTree>
    <p:custDataLst>
      <p:tags r:id="rId1"/>
    </p:custDataLst>
    <p:extLst>
      <p:ext uri="{BB962C8B-B14F-4D97-AF65-F5344CB8AC3E}">
        <p14:creationId xmlns:p14="http://schemas.microsoft.com/office/powerpoint/2010/main" val="3431324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left)">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p:cTn id="38" dur="500" fill="hold"/>
                                        <p:tgtEl>
                                          <p:spTgt spid="31"/>
                                        </p:tgtEl>
                                        <p:attrNameLst>
                                          <p:attrName>ppt_w</p:attrName>
                                        </p:attrNameLst>
                                      </p:cBhvr>
                                      <p:tavLst>
                                        <p:tav tm="0">
                                          <p:val>
                                            <p:fltVal val="0"/>
                                          </p:val>
                                        </p:tav>
                                        <p:tav tm="100000">
                                          <p:val>
                                            <p:strVal val="#ppt_w"/>
                                          </p:val>
                                        </p:tav>
                                      </p:tavLst>
                                    </p:anim>
                                    <p:anim calcmode="lin" valueType="num">
                                      <p:cBhvr>
                                        <p:cTn id="39" dur="500" fill="hold"/>
                                        <p:tgtEl>
                                          <p:spTgt spid="31"/>
                                        </p:tgtEl>
                                        <p:attrNameLst>
                                          <p:attrName>ppt_h</p:attrName>
                                        </p:attrNameLst>
                                      </p:cBhvr>
                                      <p:tavLst>
                                        <p:tav tm="0">
                                          <p:val>
                                            <p:fltVal val="0"/>
                                          </p:val>
                                        </p:tav>
                                        <p:tav tm="100000">
                                          <p:val>
                                            <p:strVal val="#ppt_h"/>
                                          </p:val>
                                        </p:tav>
                                      </p:tavLst>
                                    </p:anim>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anim calcmode="lin" valueType="num">
                                      <p:cBhvr>
                                        <p:cTn id="59" dur="1000" fill="hold"/>
                                        <p:tgtEl>
                                          <p:spTgt spid="14"/>
                                        </p:tgtEl>
                                        <p:attrNameLst>
                                          <p:attrName>ppt_x</p:attrName>
                                        </p:attrNameLst>
                                      </p:cBhvr>
                                      <p:tavLst>
                                        <p:tav tm="0">
                                          <p:val>
                                            <p:strVal val="#ppt_x"/>
                                          </p:val>
                                        </p:tav>
                                        <p:tav tm="100000">
                                          <p:val>
                                            <p:strVal val="#ppt_x"/>
                                          </p:val>
                                        </p:tav>
                                      </p:tavLst>
                                    </p:anim>
                                    <p:anim calcmode="lin" valueType="num">
                                      <p:cBhvr>
                                        <p:cTn id="6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2"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right)">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39"/>
                                        </p:tgtEl>
                                        <p:attrNameLst>
                                          <p:attrName>style.visibility</p:attrName>
                                        </p:attrNameLst>
                                      </p:cBhvr>
                                      <p:to>
                                        <p:strVal val="visible"/>
                                      </p:to>
                                    </p:set>
                                    <p:anim calcmode="lin" valueType="num">
                                      <p:cBhvr>
                                        <p:cTn id="70" dur="500" fill="hold"/>
                                        <p:tgtEl>
                                          <p:spTgt spid="39"/>
                                        </p:tgtEl>
                                        <p:attrNameLst>
                                          <p:attrName>ppt_w</p:attrName>
                                        </p:attrNameLst>
                                      </p:cBhvr>
                                      <p:tavLst>
                                        <p:tav tm="0">
                                          <p:val>
                                            <p:fltVal val="0"/>
                                          </p:val>
                                        </p:tav>
                                        <p:tav tm="100000">
                                          <p:val>
                                            <p:strVal val="#ppt_w"/>
                                          </p:val>
                                        </p:tav>
                                      </p:tavLst>
                                    </p:anim>
                                    <p:anim calcmode="lin" valueType="num">
                                      <p:cBhvr>
                                        <p:cTn id="71" dur="500" fill="hold"/>
                                        <p:tgtEl>
                                          <p:spTgt spid="39"/>
                                        </p:tgtEl>
                                        <p:attrNameLst>
                                          <p:attrName>ppt_h</p:attrName>
                                        </p:attrNameLst>
                                      </p:cBhvr>
                                      <p:tavLst>
                                        <p:tav tm="0">
                                          <p:val>
                                            <p:fltVal val="0"/>
                                          </p:val>
                                        </p:tav>
                                        <p:tav tm="100000">
                                          <p:val>
                                            <p:strVal val="#ppt_h"/>
                                          </p:val>
                                        </p:tav>
                                      </p:tavLst>
                                    </p:anim>
                                    <p:animEffect transition="in" filter="fade">
                                      <p:cBhvr>
                                        <p:cTn id="72" dur="50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47"/>
                                        </p:tgtEl>
                                        <p:attrNameLst>
                                          <p:attrName>style.visibility</p:attrName>
                                        </p:attrNameLst>
                                      </p:cBhvr>
                                      <p:to>
                                        <p:strVal val="visible"/>
                                      </p:to>
                                    </p:set>
                                    <p:anim calcmode="lin" valueType="num">
                                      <p:cBhvr additive="base">
                                        <p:cTn id="77" dur="500" fill="hold"/>
                                        <p:tgtEl>
                                          <p:spTgt spid="47"/>
                                        </p:tgtEl>
                                        <p:attrNameLst>
                                          <p:attrName>ppt_x</p:attrName>
                                        </p:attrNameLst>
                                      </p:cBhvr>
                                      <p:tavLst>
                                        <p:tav tm="0">
                                          <p:val>
                                            <p:strVal val="1+#ppt_w/2"/>
                                          </p:val>
                                        </p:tav>
                                        <p:tav tm="100000">
                                          <p:val>
                                            <p:strVal val="#ppt_x"/>
                                          </p:val>
                                        </p:tav>
                                      </p:tavLst>
                                    </p:anim>
                                    <p:anim calcmode="lin" valueType="num">
                                      <p:cBhvr additive="base">
                                        <p:cTn id="7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2" fill="hold" grpId="0" nodeType="clickEffect">
                                  <p:stCondLst>
                                    <p:cond delay="0"/>
                                  </p:stCondLst>
                                  <p:childTnLst>
                                    <p:set>
                                      <p:cBhvr>
                                        <p:cTn id="82" dur="1" fill="hold">
                                          <p:stCondLst>
                                            <p:cond delay="0"/>
                                          </p:stCondLst>
                                        </p:cTn>
                                        <p:tgtEl>
                                          <p:spTgt spid="45"/>
                                        </p:tgtEl>
                                        <p:attrNameLst>
                                          <p:attrName>style.visibility</p:attrName>
                                        </p:attrNameLst>
                                      </p:cBhvr>
                                      <p:to>
                                        <p:strVal val="visible"/>
                                      </p:to>
                                    </p:set>
                                    <p:anim calcmode="lin" valueType="num">
                                      <p:cBhvr additive="base">
                                        <p:cTn id="83" dur="500" fill="hold"/>
                                        <p:tgtEl>
                                          <p:spTgt spid="45"/>
                                        </p:tgtEl>
                                        <p:attrNameLst>
                                          <p:attrName>ppt_x</p:attrName>
                                        </p:attrNameLst>
                                      </p:cBhvr>
                                      <p:tavLst>
                                        <p:tav tm="0">
                                          <p:val>
                                            <p:strVal val="1+#ppt_w/2"/>
                                          </p:val>
                                        </p:tav>
                                        <p:tav tm="100000">
                                          <p:val>
                                            <p:strVal val="#ppt_x"/>
                                          </p:val>
                                        </p:tav>
                                      </p:tavLst>
                                    </p:anim>
                                    <p:anim calcmode="lin" valueType="num">
                                      <p:cBhvr additive="base">
                                        <p:cTn id="84"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2" fill="hold" grpId="0" nodeType="clickEffect">
                                  <p:stCondLst>
                                    <p:cond delay="0"/>
                                  </p:stCondLst>
                                  <p:childTnLst>
                                    <p:set>
                                      <p:cBhvr>
                                        <p:cTn id="88" dur="1" fill="hold">
                                          <p:stCondLst>
                                            <p:cond delay="0"/>
                                          </p:stCondLst>
                                        </p:cTn>
                                        <p:tgtEl>
                                          <p:spTgt spid="46"/>
                                        </p:tgtEl>
                                        <p:attrNameLst>
                                          <p:attrName>style.visibility</p:attrName>
                                        </p:attrNameLst>
                                      </p:cBhvr>
                                      <p:to>
                                        <p:strVal val="visible"/>
                                      </p:to>
                                    </p:set>
                                    <p:anim calcmode="lin" valueType="num">
                                      <p:cBhvr additive="base">
                                        <p:cTn id="89" dur="500" fill="hold"/>
                                        <p:tgtEl>
                                          <p:spTgt spid="46"/>
                                        </p:tgtEl>
                                        <p:attrNameLst>
                                          <p:attrName>ppt_x</p:attrName>
                                        </p:attrNameLst>
                                      </p:cBhvr>
                                      <p:tavLst>
                                        <p:tav tm="0">
                                          <p:val>
                                            <p:strVal val="1+#ppt_w/2"/>
                                          </p:val>
                                        </p:tav>
                                        <p:tav tm="100000">
                                          <p:val>
                                            <p:strVal val="#ppt_x"/>
                                          </p:val>
                                        </p:tav>
                                      </p:tavLst>
                                    </p:anim>
                                    <p:anim calcmode="lin" valueType="num">
                                      <p:cBhvr additive="base">
                                        <p:cTn id="90" dur="500" fill="hold"/>
                                        <p:tgtEl>
                                          <p:spTgt spid="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45" grpId="0"/>
      <p:bldP spid="46" grpId="0"/>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sp>
        <p:nvSpPr>
          <p:cNvPr id="47" name="文本框 46">
            <a:extLst>
              <a:ext uri="{FF2B5EF4-FFF2-40B4-BE49-F238E27FC236}">
                <a16:creationId xmlns:a16="http://schemas.microsoft.com/office/drawing/2014/main" id="{6E59CCBF-86EF-C80B-4378-53D3826FCD3C}"/>
              </a:ext>
            </a:extLst>
          </p:cNvPr>
          <p:cNvSpPr txBox="1"/>
          <p:nvPr/>
        </p:nvSpPr>
        <p:spPr>
          <a:xfrm>
            <a:off x="4886001" y="767667"/>
            <a:ext cx="7305999" cy="369332"/>
          </a:xfrm>
          <a:prstGeom prst="rect">
            <a:avLst/>
          </a:prstGeom>
          <a:noFill/>
        </p:spPr>
        <p:txBody>
          <a:bodyPr wrap="square" rtlCol="0">
            <a:spAutoFit/>
          </a:bodyPr>
          <a:lstStyle/>
          <a:p>
            <a:r>
              <a:rPr lang="en-US" altLang="zh-CN" b="1" dirty="0"/>
              <a:t>——  </a:t>
            </a:r>
            <a:r>
              <a:rPr lang="zh-CN" altLang="en-US" b="1" dirty="0">
                <a:solidFill>
                  <a:schemeClr val="accent1">
                    <a:lumMod val="75000"/>
                  </a:schemeClr>
                </a:solidFill>
              </a:rPr>
              <a:t>被动模式</a:t>
            </a:r>
            <a:r>
              <a:rPr lang="zh-CN" altLang="en-US" b="1" dirty="0"/>
              <a:t>（</a:t>
            </a:r>
            <a:r>
              <a:rPr lang="zh-CN" altLang="en-US" b="1" dirty="0">
                <a:latin typeface="+mn-ea"/>
              </a:rPr>
              <a:t>建立数据通道时，</a:t>
            </a:r>
            <a:r>
              <a:rPr lang="en-US" altLang="zh-CN" b="1" dirty="0">
                <a:latin typeface="+mn-ea"/>
              </a:rPr>
              <a:t>FTP</a:t>
            </a:r>
            <a:r>
              <a:rPr lang="zh-CN" altLang="en-US" b="1" dirty="0">
                <a:latin typeface="+mn-ea"/>
              </a:rPr>
              <a:t>服务器被动等待</a:t>
            </a:r>
            <a:r>
              <a:rPr lang="en-US" altLang="zh-CN" b="1" dirty="0">
                <a:latin typeface="+mn-ea"/>
              </a:rPr>
              <a:t>FTP</a:t>
            </a:r>
            <a:r>
              <a:rPr lang="zh-CN" altLang="en-US" b="1" dirty="0">
                <a:latin typeface="+mn-ea"/>
              </a:rPr>
              <a:t>客户的连接</a:t>
            </a:r>
            <a:r>
              <a:rPr lang="zh-CN" altLang="en-US" b="1" dirty="0"/>
              <a:t>）</a:t>
            </a:r>
          </a:p>
        </p:txBody>
      </p:sp>
      <p:sp>
        <p:nvSpPr>
          <p:cNvPr id="11" name="矩形 10">
            <a:extLst>
              <a:ext uri="{FF2B5EF4-FFF2-40B4-BE49-F238E27FC236}">
                <a16:creationId xmlns:a16="http://schemas.microsoft.com/office/drawing/2014/main" id="{58787D20-C1E3-C5A2-06FF-A79D97948485}"/>
              </a:ext>
            </a:extLst>
          </p:cNvPr>
          <p:cNvSpPr/>
          <p:nvPr/>
        </p:nvSpPr>
        <p:spPr>
          <a:xfrm>
            <a:off x="2228757" y="5487870"/>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latin typeface="+mn-ea"/>
              </a:rPr>
              <a:t>另一个</a:t>
            </a:r>
            <a:endParaRPr lang="en-US" altLang="zh-CN" b="1" dirty="0">
              <a:solidFill>
                <a:schemeClr val="bg1"/>
              </a:solidFill>
              <a:latin typeface="+mn-ea"/>
            </a:endParaRPr>
          </a:p>
          <a:p>
            <a:pPr algn="ctr"/>
            <a:r>
              <a:rPr lang="zh-CN" altLang="en-US" b="1" dirty="0">
                <a:solidFill>
                  <a:schemeClr val="bg1"/>
                </a:solidFill>
                <a:latin typeface="+mn-ea"/>
              </a:rPr>
              <a:t>临时端口号</a:t>
            </a:r>
          </a:p>
        </p:txBody>
      </p:sp>
      <p:sp>
        <p:nvSpPr>
          <p:cNvPr id="16" name="矩形 15">
            <a:extLst>
              <a:ext uri="{FF2B5EF4-FFF2-40B4-BE49-F238E27FC236}">
                <a16:creationId xmlns:a16="http://schemas.microsoft.com/office/drawing/2014/main" id="{1419D0BF-89CD-FB59-6370-0B3667FBC7DB}"/>
              </a:ext>
            </a:extLst>
          </p:cNvPr>
          <p:cNvSpPr/>
          <p:nvPr/>
        </p:nvSpPr>
        <p:spPr>
          <a:xfrm>
            <a:off x="7570193" y="5487870"/>
            <a:ext cx="1550125" cy="801189"/>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b="1" dirty="0">
                <a:solidFill>
                  <a:schemeClr val="bg1"/>
                </a:solidFill>
                <a:latin typeface="+mn-ea"/>
              </a:rPr>
              <a:t>客户告知的</a:t>
            </a:r>
            <a:endParaRPr lang="en-US" altLang="zh-CN" b="1" dirty="0">
              <a:solidFill>
                <a:schemeClr val="bg1"/>
              </a:solidFill>
              <a:latin typeface="+mn-ea"/>
            </a:endParaRPr>
          </a:p>
          <a:p>
            <a:pPr algn="ctr"/>
            <a:r>
              <a:rPr lang="zh-CN" altLang="en-US" b="1" dirty="0">
                <a:solidFill>
                  <a:schemeClr val="bg1"/>
                </a:solidFill>
                <a:latin typeface="+mn-ea"/>
              </a:rPr>
              <a:t>临时端口号</a:t>
            </a:r>
          </a:p>
        </p:txBody>
      </p:sp>
      <p:grpSp>
        <p:nvGrpSpPr>
          <p:cNvPr id="17" name="组合 16">
            <a:extLst>
              <a:ext uri="{FF2B5EF4-FFF2-40B4-BE49-F238E27FC236}">
                <a16:creationId xmlns:a16="http://schemas.microsoft.com/office/drawing/2014/main" id="{3BE53DC6-729A-750E-C887-5F2B87769C3C}"/>
              </a:ext>
            </a:extLst>
          </p:cNvPr>
          <p:cNvGrpSpPr/>
          <p:nvPr/>
        </p:nvGrpSpPr>
        <p:grpSpPr>
          <a:xfrm>
            <a:off x="3845065" y="5335967"/>
            <a:ext cx="3658944" cy="888988"/>
            <a:chOff x="3872918" y="5418568"/>
            <a:chExt cx="3658944" cy="888988"/>
          </a:xfrm>
        </p:grpSpPr>
        <p:sp>
          <p:nvSpPr>
            <p:cNvPr id="18" name="箭头: 右 17">
              <a:extLst>
                <a:ext uri="{FF2B5EF4-FFF2-40B4-BE49-F238E27FC236}">
                  <a16:creationId xmlns:a16="http://schemas.microsoft.com/office/drawing/2014/main" id="{B3697B48-4F8B-6D37-FB55-127D926BCB4C}"/>
                </a:ext>
              </a:extLst>
            </p:cNvPr>
            <p:cNvSpPr/>
            <p:nvPr/>
          </p:nvSpPr>
          <p:spPr>
            <a:xfrm rot="10800000" flipH="1">
              <a:off x="3872918" y="5615225"/>
              <a:ext cx="3658944" cy="692331"/>
            </a:xfrm>
            <a:prstGeom prst="righ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b="1" dirty="0">
                <a:solidFill>
                  <a:schemeClr val="tx1"/>
                </a:solidFill>
                <a:latin typeface="+mn-ea"/>
              </a:endParaRPr>
            </a:p>
          </p:txBody>
        </p:sp>
        <p:sp>
          <p:nvSpPr>
            <p:cNvPr id="19" name="文本框 18">
              <a:extLst>
                <a:ext uri="{FF2B5EF4-FFF2-40B4-BE49-F238E27FC236}">
                  <a16:creationId xmlns:a16="http://schemas.microsoft.com/office/drawing/2014/main" id="{B0C1E6CB-C7BC-C97A-7080-7CF2854732CF}"/>
                </a:ext>
              </a:extLst>
            </p:cNvPr>
            <p:cNvSpPr txBox="1"/>
            <p:nvPr/>
          </p:nvSpPr>
          <p:spPr>
            <a:xfrm>
              <a:off x="4265474" y="5786399"/>
              <a:ext cx="2980570"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US" altLang="zh-CN" b="1" dirty="0">
                  <a:solidFill>
                    <a:schemeClr val="bg1"/>
                  </a:solidFill>
                  <a:latin typeface="+mn-ea"/>
                </a:rPr>
                <a:t>FTP</a:t>
              </a:r>
              <a:r>
                <a:rPr lang="zh-CN" altLang="en-US" b="1" dirty="0">
                  <a:solidFill>
                    <a:schemeClr val="bg1"/>
                  </a:solidFill>
                  <a:latin typeface="+mn-ea"/>
                </a:rPr>
                <a:t>客户发起的</a:t>
              </a:r>
              <a:r>
                <a:rPr lang="en-US" altLang="zh-CN" b="1" dirty="0">
                  <a:solidFill>
                    <a:schemeClr val="bg1"/>
                  </a:solidFill>
                  <a:latin typeface="+mn-ea"/>
                </a:rPr>
                <a:t>TCP</a:t>
              </a:r>
              <a:r>
                <a:rPr lang="zh-CN" altLang="en-US" b="1" dirty="0">
                  <a:solidFill>
                    <a:schemeClr val="bg1"/>
                  </a:solidFill>
                  <a:latin typeface="+mn-ea"/>
                </a:rPr>
                <a:t>连接</a:t>
              </a:r>
            </a:p>
          </p:txBody>
        </p:sp>
        <p:sp>
          <p:nvSpPr>
            <p:cNvPr id="20" name="文本框 19">
              <a:extLst>
                <a:ext uri="{FF2B5EF4-FFF2-40B4-BE49-F238E27FC236}">
                  <a16:creationId xmlns:a16="http://schemas.microsoft.com/office/drawing/2014/main" id="{3400EA87-DF7E-37C6-9489-17BAC2C40B20}"/>
                </a:ext>
              </a:extLst>
            </p:cNvPr>
            <p:cNvSpPr txBox="1"/>
            <p:nvPr/>
          </p:nvSpPr>
          <p:spPr>
            <a:xfrm>
              <a:off x="5225440" y="5418568"/>
              <a:ext cx="1018903" cy="369332"/>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n-US" altLang="zh-CN" b="1" dirty="0">
                  <a:solidFill>
                    <a:schemeClr val="tx1"/>
                  </a:solidFill>
                  <a:latin typeface="+mn-ea"/>
                </a:rPr>
                <a:t>❹</a:t>
              </a:r>
              <a:endParaRPr lang="zh-CN" altLang="en-US" b="1" dirty="0">
                <a:solidFill>
                  <a:schemeClr val="tx1"/>
                </a:solidFill>
                <a:latin typeface="+mn-ea"/>
              </a:endParaRPr>
            </a:p>
          </p:txBody>
        </p:sp>
      </p:grpSp>
      <p:grpSp>
        <p:nvGrpSpPr>
          <p:cNvPr id="21" name="组合 20">
            <a:extLst>
              <a:ext uri="{FF2B5EF4-FFF2-40B4-BE49-F238E27FC236}">
                <a16:creationId xmlns:a16="http://schemas.microsoft.com/office/drawing/2014/main" id="{3A6225EC-1D66-D38D-1FE6-E51B6A13EC5E}"/>
              </a:ext>
            </a:extLst>
          </p:cNvPr>
          <p:cNvGrpSpPr/>
          <p:nvPr/>
        </p:nvGrpSpPr>
        <p:grpSpPr>
          <a:xfrm>
            <a:off x="2228757" y="2480579"/>
            <a:ext cx="6891561" cy="2725484"/>
            <a:chOff x="1979986" y="2009932"/>
            <a:chExt cx="6891561" cy="2725484"/>
          </a:xfrm>
        </p:grpSpPr>
        <p:grpSp>
          <p:nvGrpSpPr>
            <p:cNvPr id="22" name="组合 21">
              <a:extLst>
                <a:ext uri="{FF2B5EF4-FFF2-40B4-BE49-F238E27FC236}">
                  <a16:creationId xmlns:a16="http://schemas.microsoft.com/office/drawing/2014/main" id="{FE6D8809-B803-5E61-6129-E23BECAD8249}"/>
                </a:ext>
              </a:extLst>
            </p:cNvPr>
            <p:cNvGrpSpPr/>
            <p:nvPr/>
          </p:nvGrpSpPr>
          <p:grpSpPr>
            <a:xfrm>
              <a:off x="2341278" y="2077660"/>
              <a:ext cx="6403152" cy="1107629"/>
              <a:chOff x="2617902" y="2077660"/>
              <a:chExt cx="6403152" cy="1107629"/>
            </a:xfrm>
          </p:grpSpPr>
          <p:pic>
            <p:nvPicPr>
              <p:cNvPr id="55" name="图形 54">
                <a:extLst>
                  <a:ext uri="{FF2B5EF4-FFF2-40B4-BE49-F238E27FC236}">
                    <a16:creationId xmlns:a16="http://schemas.microsoft.com/office/drawing/2014/main" id="{65F6FF6F-A4F4-B636-3F20-F216821850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30104" y="2446992"/>
                <a:ext cx="763324" cy="738297"/>
              </a:xfrm>
              <a:prstGeom prst="rect">
                <a:avLst/>
              </a:prstGeom>
            </p:spPr>
          </p:pic>
          <p:pic>
            <p:nvPicPr>
              <p:cNvPr id="56" name="图形 55">
                <a:extLst>
                  <a:ext uri="{FF2B5EF4-FFF2-40B4-BE49-F238E27FC236}">
                    <a16:creationId xmlns:a16="http://schemas.microsoft.com/office/drawing/2014/main" id="{B17B569F-0E78-F537-5228-5B9E66638B5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79943" y="2446992"/>
                <a:ext cx="644545" cy="738297"/>
              </a:xfrm>
              <a:prstGeom prst="rect">
                <a:avLst/>
              </a:prstGeom>
            </p:spPr>
          </p:pic>
          <p:sp>
            <p:nvSpPr>
              <p:cNvPr id="57" name="文本框 56">
                <a:extLst>
                  <a:ext uri="{FF2B5EF4-FFF2-40B4-BE49-F238E27FC236}">
                    <a16:creationId xmlns:a16="http://schemas.microsoft.com/office/drawing/2014/main" id="{6452827C-EE71-51F2-487C-AA068437C946}"/>
                  </a:ext>
                </a:extLst>
              </p:cNvPr>
              <p:cNvSpPr txBox="1"/>
              <p:nvPr/>
            </p:nvSpPr>
            <p:spPr>
              <a:xfrm>
                <a:off x="2617902" y="2077660"/>
                <a:ext cx="1188834" cy="369332"/>
              </a:xfrm>
              <a:prstGeom prst="rect">
                <a:avLst/>
              </a:prstGeom>
              <a:noFill/>
            </p:spPr>
            <p:txBody>
              <a:bodyPr wrap="square" rtlCol="0">
                <a:spAutoFit/>
              </a:bodyPr>
              <a:lstStyle/>
              <a:p>
                <a:pPr algn="ctr"/>
                <a:r>
                  <a:rPr lang="en-US" altLang="zh-CN" b="1" dirty="0">
                    <a:latin typeface="+mn-ea"/>
                  </a:rPr>
                  <a:t>FTP</a:t>
                </a:r>
                <a:r>
                  <a:rPr lang="zh-CN" altLang="en-US" b="1" dirty="0">
                    <a:latin typeface="+mn-ea"/>
                  </a:rPr>
                  <a:t>客户</a:t>
                </a:r>
              </a:p>
            </p:txBody>
          </p:sp>
          <p:sp>
            <p:nvSpPr>
              <p:cNvPr id="58" name="文本框 57">
                <a:extLst>
                  <a:ext uri="{FF2B5EF4-FFF2-40B4-BE49-F238E27FC236}">
                    <a16:creationId xmlns:a16="http://schemas.microsoft.com/office/drawing/2014/main" id="{C77C9D51-DCDE-90AD-C399-2CADFE1011F0}"/>
                  </a:ext>
                </a:extLst>
              </p:cNvPr>
              <p:cNvSpPr txBox="1"/>
              <p:nvPr/>
            </p:nvSpPr>
            <p:spPr>
              <a:xfrm>
                <a:off x="7598045" y="2077660"/>
                <a:ext cx="1423009" cy="369332"/>
              </a:xfrm>
              <a:prstGeom prst="rect">
                <a:avLst/>
              </a:prstGeom>
              <a:noFill/>
            </p:spPr>
            <p:txBody>
              <a:bodyPr wrap="square" rtlCol="0">
                <a:spAutoFit/>
              </a:bodyPr>
              <a:lstStyle/>
              <a:p>
                <a:pPr algn="ctr"/>
                <a:r>
                  <a:rPr lang="en-US" altLang="zh-CN" b="1" dirty="0">
                    <a:latin typeface="+mn-ea"/>
                  </a:rPr>
                  <a:t>FTP</a:t>
                </a:r>
                <a:r>
                  <a:rPr lang="zh-CN" altLang="en-US" b="1" dirty="0">
                    <a:latin typeface="+mn-ea"/>
                  </a:rPr>
                  <a:t>服务器</a:t>
                </a:r>
              </a:p>
            </p:txBody>
          </p:sp>
        </p:grpSp>
        <p:sp>
          <p:nvSpPr>
            <p:cNvPr id="23" name="矩形 22">
              <a:extLst>
                <a:ext uri="{FF2B5EF4-FFF2-40B4-BE49-F238E27FC236}">
                  <a16:creationId xmlns:a16="http://schemas.microsoft.com/office/drawing/2014/main" id="{CFF379DE-23FB-83B8-A07C-C16C21831FDC}"/>
                </a:ext>
              </a:extLst>
            </p:cNvPr>
            <p:cNvSpPr/>
            <p:nvPr/>
          </p:nvSpPr>
          <p:spPr>
            <a:xfrm>
              <a:off x="1979986" y="3934227"/>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随机选择的</a:t>
              </a:r>
              <a:endParaRPr lang="en-US" altLang="zh-CN" b="1" dirty="0">
                <a:solidFill>
                  <a:schemeClr val="tx1"/>
                </a:solidFill>
                <a:latin typeface="+mn-ea"/>
              </a:endParaRPr>
            </a:p>
            <a:p>
              <a:pPr algn="ctr"/>
              <a:r>
                <a:rPr lang="zh-CN" altLang="en-US" b="1" dirty="0">
                  <a:solidFill>
                    <a:schemeClr val="tx1"/>
                  </a:solidFill>
                  <a:latin typeface="+mn-ea"/>
                </a:rPr>
                <a:t>临时端口号</a:t>
              </a:r>
            </a:p>
          </p:txBody>
        </p:sp>
        <p:sp>
          <p:nvSpPr>
            <p:cNvPr id="24" name="矩形 23">
              <a:extLst>
                <a:ext uri="{FF2B5EF4-FFF2-40B4-BE49-F238E27FC236}">
                  <a16:creationId xmlns:a16="http://schemas.microsoft.com/office/drawing/2014/main" id="{C2BDB3EB-4055-A8C3-8CF0-2AD73FEA35A1}"/>
                </a:ext>
              </a:extLst>
            </p:cNvPr>
            <p:cNvSpPr/>
            <p:nvPr/>
          </p:nvSpPr>
          <p:spPr>
            <a:xfrm>
              <a:off x="7321422" y="3934227"/>
              <a:ext cx="1550125" cy="80118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熟知端口号</a:t>
              </a:r>
              <a:endParaRPr lang="en-US" altLang="zh-CN" b="1" dirty="0">
                <a:solidFill>
                  <a:schemeClr val="tx1"/>
                </a:solidFill>
                <a:latin typeface="+mn-ea"/>
              </a:endParaRPr>
            </a:p>
            <a:p>
              <a:pPr algn="ctr"/>
              <a:r>
                <a:rPr lang="en-US" altLang="zh-CN" b="1" dirty="0">
                  <a:solidFill>
                    <a:schemeClr val="tx1"/>
                  </a:solidFill>
                  <a:latin typeface="+mn-ea"/>
                </a:rPr>
                <a:t>21</a:t>
              </a:r>
              <a:endParaRPr lang="zh-CN" altLang="en-US" b="1" dirty="0">
                <a:solidFill>
                  <a:schemeClr val="tx1"/>
                </a:solidFill>
                <a:latin typeface="+mn-ea"/>
              </a:endParaRPr>
            </a:p>
          </p:txBody>
        </p:sp>
        <p:grpSp>
          <p:nvGrpSpPr>
            <p:cNvPr id="44" name="组合 43">
              <a:extLst>
                <a:ext uri="{FF2B5EF4-FFF2-40B4-BE49-F238E27FC236}">
                  <a16:creationId xmlns:a16="http://schemas.microsoft.com/office/drawing/2014/main" id="{B52B5345-AA11-CEAC-8C75-A7F9DF298B90}"/>
                </a:ext>
              </a:extLst>
            </p:cNvPr>
            <p:cNvGrpSpPr/>
            <p:nvPr/>
          </p:nvGrpSpPr>
          <p:grpSpPr>
            <a:xfrm>
              <a:off x="3596294" y="3805454"/>
              <a:ext cx="3658944" cy="897910"/>
              <a:chOff x="3872918" y="4066710"/>
              <a:chExt cx="3658944" cy="897910"/>
            </a:xfrm>
          </p:grpSpPr>
          <p:sp>
            <p:nvSpPr>
              <p:cNvPr id="53" name="箭头: 右 52">
                <a:extLst>
                  <a:ext uri="{FF2B5EF4-FFF2-40B4-BE49-F238E27FC236}">
                    <a16:creationId xmlns:a16="http://schemas.microsoft.com/office/drawing/2014/main" id="{B2819D40-8EED-5335-22F2-D0318BCA1781}"/>
                  </a:ext>
                </a:extLst>
              </p:cNvPr>
              <p:cNvSpPr/>
              <p:nvPr/>
            </p:nvSpPr>
            <p:spPr>
              <a:xfrm>
                <a:off x="3872918" y="4272289"/>
                <a:ext cx="3658944" cy="692331"/>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FTP</a:t>
                </a:r>
                <a:r>
                  <a:rPr lang="zh-CN" altLang="en-US" b="1" dirty="0">
                    <a:solidFill>
                      <a:schemeClr val="tx1"/>
                    </a:solidFill>
                    <a:latin typeface="+mn-ea"/>
                  </a:rPr>
                  <a:t>客户发起的</a:t>
                </a:r>
                <a:r>
                  <a:rPr lang="en-US" altLang="zh-CN" b="1" dirty="0">
                    <a:solidFill>
                      <a:schemeClr val="tx1"/>
                    </a:solidFill>
                    <a:latin typeface="+mn-ea"/>
                  </a:rPr>
                  <a:t>TCP</a:t>
                </a:r>
                <a:r>
                  <a:rPr lang="zh-CN" altLang="en-US" b="1" dirty="0">
                    <a:solidFill>
                      <a:schemeClr val="tx1"/>
                    </a:solidFill>
                    <a:latin typeface="+mn-ea"/>
                  </a:rPr>
                  <a:t>连接</a:t>
                </a:r>
              </a:p>
            </p:txBody>
          </p:sp>
          <p:sp>
            <p:nvSpPr>
              <p:cNvPr id="54" name="文本框 53">
                <a:extLst>
                  <a:ext uri="{FF2B5EF4-FFF2-40B4-BE49-F238E27FC236}">
                    <a16:creationId xmlns:a16="http://schemas.microsoft.com/office/drawing/2014/main" id="{FD26F5FE-5C3A-0587-9500-0F747B8150AE}"/>
                  </a:ext>
                </a:extLst>
              </p:cNvPr>
              <p:cNvSpPr txBox="1"/>
              <p:nvPr/>
            </p:nvSpPr>
            <p:spPr>
              <a:xfrm>
                <a:off x="5225440" y="4066710"/>
                <a:ext cx="1018903" cy="369332"/>
              </a:xfrm>
              <a:prstGeom prst="rect">
                <a:avLst/>
              </a:prstGeom>
              <a:noFill/>
            </p:spPr>
            <p:txBody>
              <a:bodyPr wrap="square" rtlCol="0">
                <a:spAutoFit/>
              </a:bodyPr>
              <a:lstStyle/>
              <a:p>
                <a:pPr algn="ctr"/>
                <a:r>
                  <a:rPr lang="en-US" altLang="zh-CN" b="1" dirty="0">
                    <a:latin typeface="+mn-ea"/>
                  </a:rPr>
                  <a:t>❶</a:t>
                </a:r>
                <a:endParaRPr lang="zh-CN" altLang="en-US" b="1" dirty="0">
                  <a:latin typeface="+mn-ea"/>
                </a:endParaRPr>
              </a:p>
            </p:txBody>
          </p:sp>
        </p:grpSp>
        <p:grpSp>
          <p:nvGrpSpPr>
            <p:cNvPr id="48" name="组合 47">
              <a:extLst>
                <a:ext uri="{FF2B5EF4-FFF2-40B4-BE49-F238E27FC236}">
                  <a16:creationId xmlns:a16="http://schemas.microsoft.com/office/drawing/2014/main" id="{D711E0EC-6EE6-398E-EBFC-4DA51211E72B}"/>
                </a:ext>
              </a:extLst>
            </p:cNvPr>
            <p:cNvGrpSpPr/>
            <p:nvPr/>
          </p:nvGrpSpPr>
          <p:grpSpPr>
            <a:xfrm>
              <a:off x="3694980" y="2009932"/>
              <a:ext cx="3526575" cy="806208"/>
              <a:chOff x="3971604" y="2009932"/>
              <a:chExt cx="3526575" cy="806208"/>
            </a:xfrm>
          </p:grpSpPr>
          <p:grpSp>
            <p:nvGrpSpPr>
              <p:cNvPr id="49" name="组合 48">
                <a:extLst>
                  <a:ext uri="{FF2B5EF4-FFF2-40B4-BE49-F238E27FC236}">
                    <a16:creationId xmlns:a16="http://schemas.microsoft.com/office/drawing/2014/main" id="{2270C8AE-DC4C-D0DC-B1E6-16DFC2B9FC4F}"/>
                  </a:ext>
                </a:extLst>
              </p:cNvPr>
              <p:cNvGrpSpPr/>
              <p:nvPr/>
            </p:nvGrpSpPr>
            <p:grpSpPr>
              <a:xfrm>
                <a:off x="3971604" y="2378780"/>
                <a:ext cx="3526575" cy="437360"/>
                <a:chOff x="3505600" y="2668210"/>
                <a:chExt cx="3526575" cy="437360"/>
              </a:xfrm>
            </p:grpSpPr>
            <p:sp>
              <p:nvSpPr>
                <p:cNvPr id="51" name="圆柱体 50">
                  <a:extLst>
                    <a:ext uri="{FF2B5EF4-FFF2-40B4-BE49-F238E27FC236}">
                      <a16:creationId xmlns:a16="http://schemas.microsoft.com/office/drawing/2014/main" id="{F752DAC2-8E6C-5BB1-3FD0-48E00ED0E897}"/>
                    </a:ext>
                  </a:extLst>
                </p:cNvPr>
                <p:cNvSpPr/>
                <p:nvPr/>
              </p:nvSpPr>
              <p:spPr>
                <a:xfrm rot="16200000">
                  <a:off x="5050208" y="1123602"/>
                  <a:ext cx="437360" cy="3526575"/>
                </a:xfrm>
                <a:prstGeom prst="can">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2" name="文本框 51">
                  <a:extLst>
                    <a:ext uri="{FF2B5EF4-FFF2-40B4-BE49-F238E27FC236}">
                      <a16:creationId xmlns:a16="http://schemas.microsoft.com/office/drawing/2014/main" id="{30B137F7-B47D-927D-7F15-8FB42FF6C51A}"/>
                    </a:ext>
                  </a:extLst>
                </p:cNvPr>
                <p:cNvSpPr txBox="1"/>
                <p:nvPr/>
              </p:nvSpPr>
              <p:spPr>
                <a:xfrm>
                  <a:off x="3722128" y="2702223"/>
                  <a:ext cx="3180855" cy="369332"/>
                </a:xfrm>
                <a:prstGeom prst="rect">
                  <a:avLst/>
                </a:prstGeom>
                <a:noFill/>
              </p:spPr>
              <p:txBody>
                <a:bodyPr wrap="square" rtlCol="0">
                  <a:spAutoFit/>
                </a:bodyPr>
                <a:lstStyle/>
                <a:p>
                  <a:pPr algn="ctr"/>
                  <a:r>
                    <a:rPr lang="zh-CN" altLang="en-US" b="1" dirty="0">
                      <a:latin typeface="+mn-ea"/>
                    </a:rPr>
                    <a:t>用于传送控制命令的</a:t>
                  </a:r>
                  <a:r>
                    <a:rPr lang="en-US" altLang="zh-CN" b="1" dirty="0">
                      <a:latin typeface="+mn-ea"/>
                    </a:rPr>
                    <a:t>TCP</a:t>
                  </a:r>
                  <a:r>
                    <a:rPr lang="zh-CN" altLang="en-US" b="1" dirty="0">
                      <a:latin typeface="+mn-ea"/>
                    </a:rPr>
                    <a:t>连接</a:t>
                  </a:r>
                </a:p>
              </p:txBody>
            </p:sp>
          </p:grpSp>
          <p:sp>
            <p:nvSpPr>
              <p:cNvPr id="50" name="文本框 49">
                <a:extLst>
                  <a:ext uri="{FF2B5EF4-FFF2-40B4-BE49-F238E27FC236}">
                    <a16:creationId xmlns:a16="http://schemas.microsoft.com/office/drawing/2014/main" id="{88DFFB30-6AB4-AC81-EC60-68660D01481D}"/>
                  </a:ext>
                </a:extLst>
              </p:cNvPr>
              <p:cNvSpPr txBox="1"/>
              <p:nvPr/>
            </p:nvSpPr>
            <p:spPr>
              <a:xfrm>
                <a:off x="5225440" y="2009932"/>
                <a:ext cx="1018903" cy="369332"/>
              </a:xfrm>
              <a:prstGeom prst="rect">
                <a:avLst/>
              </a:prstGeom>
              <a:noFill/>
            </p:spPr>
            <p:txBody>
              <a:bodyPr wrap="square" rtlCol="0">
                <a:spAutoFit/>
              </a:bodyPr>
              <a:lstStyle/>
              <a:p>
                <a:pPr algn="ctr"/>
                <a:r>
                  <a:rPr lang="en-US" altLang="zh-CN" b="1" dirty="0">
                    <a:latin typeface="+mn-ea"/>
                  </a:rPr>
                  <a:t>❷</a:t>
                </a:r>
                <a:endParaRPr lang="zh-CN" altLang="en-US" b="1" dirty="0">
                  <a:latin typeface="+mn-ea"/>
                </a:endParaRPr>
              </a:p>
            </p:txBody>
          </p:sp>
        </p:grpSp>
      </p:grpSp>
      <p:grpSp>
        <p:nvGrpSpPr>
          <p:cNvPr id="59" name="组合 58">
            <a:extLst>
              <a:ext uri="{FF2B5EF4-FFF2-40B4-BE49-F238E27FC236}">
                <a16:creationId xmlns:a16="http://schemas.microsoft.com/office/drawing/2014/main" id="{2BD7A9D3-02DA-7A2E-54CF-F236107DE0AA}"/>
              </a:ext>
            </a:extLst>
          </p:cNvPr>
          <p:cNvGrpSpPr/>
          <p:nvPr/>
        </p:nvGrpSpPr>
        <p:grpSpPr>
          <a:xfrm>
            <a:off x="4051622" y="1333366"/>
            <a:ext cx="4122120" cy="1182438"/>
            <a:chOff x="4079475" y="862719"/>
            <a:chExt cx="4122120" cy="1182438"/>
          </a:xfrm>
        </p:grpSpPr>
        <p:sp>
          <p:nvSpPr>
            <p:cNvPr id="60" name="对话气泡: 圆角矩形 59">
              <a:extLst>
                <a:ext uri="{FF2B5EF4-FFF2-40B4-BE49-F238E27FC236}">
                  <a16:creationId xmlns:a16="http://schemas.microsoft.com/office/drawing/2014/main" id="{441AF8EC-51E0-12BA-5953-E8E032CEDF99}"/>
                </a:ext>
              </a:extLst>
            </p:cNvPr>
            <p:cNvSpPr/>
            <p:nvPr/>
          </p:nvSpPr>
          <p:spPr>
            <a:xfrm>
              <a:off x="4079475" y="862719"/>
              <a:ext cx="3398168" cy="1182438"/>
            </a:xfrm>
            <a:prstGeom prst="wedgeRoundRectCallout">
              <a:avLst>
                <a:gd name="adj1" fmla="val -24360"/>
                <a:gd name="adj2" fmla="val 70824"/>
                <a:gd name="adj3" fmla="val 16667"/>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chemeClr val="bg1"/>
                  </a:solidFill>
                  <a:latin typeface="+mn-ea"/>
                </a:rPr>
                <a:t>有数据传送时，</a:t>
              </a:r>
              <a:r>
                <a:rPr lang="en-US" altLang="zh-CN" b="1" dirty="0">
                  <a:solidFill>
                    <a:schemeClr val="bg1"/>
                  </a:solidFill>
                  <a:latin typeface="+mn-ea"/>
                </a:rPr>
                <a:t>FTP</a:t>
              </a:r>
              <a:r>
                <a:rPr lang="zh-CN" altLang="en-US" b="1" dirty="0">
                  <a:solidFill>
                    <a:schemeClr val="bg1"/>
                  </a:solidFill>
                  <a:latin typeface="+mn-ea"/>
                </a:rPr>
                <a:t>客户通过命令通道告知</a:t>
              </a:r>
              <a:r>
                <a:rPr lang="en-US" altLang="zh-CN" b="1" dirty="0">
                  <a:solidFill>
                    <a:schemeClr val="bg1"/>
                  </a:solidFill>
                  <a:latin typeface="+mn-ea"/>
                </a:rPr>
                <a:t>FTP</a:t>
              </a:r>
              <a:r>
                <a:rPr lang="zh-CN" altLang="en-US" b="1" dirty="0">
                  <a:solidFill>
                    <a:schemeClr val="bg1"/>
                  </a:solidFill>
                  <a:latin typeface="+mn-ea"/>
                </a:rPr>
                <a:t>服务器开启某个临时端口</a:t>
              </a:r>
              <a:r>
                <a:rPr lang="zh-CN" altLang="en-US" b="1" dirty="0">
                  <a:solidFill>
                    <a:schemeClr val="tx1"/>
                  </a:solidFill>
                  <a:highlight>
                    <a:srgbClr val="FFFF00"/>
                  </a:highlight>
                  <a:latin typeface="+mn-ea"/>
                </a:rPr>
                <a:t>被动等待</a:t>
              </a:r>
              <a:r>
                <a:rPr lang="en-US" altLang="zh-CN" b="1" dirty="0">
                  <a:solidFill>
                    <a:schemeClr val="bg1"/>
                  </a:solidFill>
                  <a:latin typeface="+mn-ea"/>
                </a:rPr>
                <a:t>TCP</a:t>
              </a:r>
              <a:r>
                <a:rPr lang="zh-CN" altLang="en-US" b="1" dirty="0">
                  <a:solidFill>
                    <a:schemeClr val="bg1"/>
                  </a:solidFill>
                  <a:latin typeface="+mn-ea"/>
                </a:rPr>
                <a:t>连接，以建立数据通道。</a:t>
              </a:r>
            </a:p>
          </p:txBody>
        </p:sp>
        <p:sp>
          <p:nvSpPr>
            <p:cNvPr id="61" name="文本框 60">
              <a:extLst>
                <a:ext uri="{FF2B5EF4-FFF2-40B4-BE49-F238E27FC236}">
                  <a16:creationId xmlns:a16="http://schemas.microsoft.com/office/drawing/2014/main" id="{8902B1A9-E020-B077-8D5F-D4408B493CF2}"/>
                </a:ext>
              </a:extLst>
            </p:cNvPr>
            <p:cNvSpPr txBox="1"/>
            <p:nvPr/>
          </p:nvSpPr>
          <p:spPr>
            <a:xfrm>
              <a:off x="7182692" y="927380"/>
              <a:ext cx="1018903" cy="369332"/>
            </a:xfrm>
            <a:prstGeom prst="rect">
              <a:avLst/>
            </a:prstGeom>
            <a:noFill/>
          </p:spPr>
          <p:txBody>
            <a:bodyPr wrap="square" rtlCol="0">
              <a:spAutoFit/>
            </a:bodyPr>
            <a:lstStyle/>
            <a:p>
              <a:pPr algn="ctr"/>
              <a:r>
                <a:rPr lang="en-US" altLang="zh-CN" b="1" dirty="0">
                  <a:latin typeface="+mn-ea"/>
                </a:rPr>
                <a:t>❸</a:t>
              </a:r>
              <a:endParaRPr lang="zh-CN" altLang="en-US" b="1" dirty="0">
                <a:latin typeface="+mn-ea"/>
              </a:endParaRPr>
            </a:p>
          </p:txBody>
        </p:sp>
      </p:grpSp>
      <p:grpSp>
        <p:nvGrpSpPr>
          <p:cNvPr id="62" name="组合 61">
            <a:extLst>
              <a:ext uri="{FF2B5EF4-FFF2-40B4-BE49-F238E27FC236}">
                <a16:creationId xmlns:a16="http://schemas.microsoft.com/office/drawing/2014/main" id="{A0E7422B-C32C-E438-CDB8-BE222E67F7D7}"/>
              </a:ext>
            </a:extLst>
          </p:cNvPr>
          <p:cNvGrpSpPr/>
          <p:nvPr/>
        </p:nvGrpSpPr>
        <p:grpSpPr>
          <a:xfrm>
            <a:off x="3943751" y="3378449"/>
            <a:ext cx="3526575" cy="807967"/>
            <a:chOff x="3971604" y="2907802"/>
            <a:chExt cx="3526575" cy="807967"/>
          </a:xfrm>
        </p:grpSpPr>
        <p:grpSp>
          <p:nvGrpSpPr>
            <p:cNvPr id="63" name="组合 62">
              <a:extLst>
                <a:ext uri="{FF2B5EF4-FFF2-40B4-BE49-F238E27FC236}">
                  <a16:creationId xmlns:a16="http://schemas.microsoft.com/office/drawing/2014/main" id="{201E8FDE-6D06-A75F-FCBB-C062CB36476C}"/>
                </a:ext>
              </a:extLst>
            </p:cNvPr>
            <p:cNvGrpSpPr/>
            <p:nvPr/>
          </p:nvGrpSpPr>
          <p:grpSpPr>
            <a:xfrm>
              <a:off x="3971604" y="2907802"/>
              <a:ext cx="3526575" cy="437360"/>
              <a:chOff x="3971508" y="1366279"/>
              <a:chExt cx="3526575" cy="437360"/>
            </a:xfrm>
          </p:grpSpPr>
          <p:sp>
            <p:nvSpPr>
              <p:cNvPr id="65" name="圆柱体 64">
                <a:extLst>
                  <a:ext uri="{FF2B5EF4-FFF2-40B4-BE49-F238E27FC236}">
                    <a16:creationId xmlns:a16="http://schemas.microsoft.com/office/drawing/2014/main" id="{94F90C79-E1CF-428E-B160-E3E80F980E9E}"/>
                  </a:ext>
                </a:extLst>
              </p:cNvPr>
              <p:cNvSpPr/>
              <p:nvPr/>
            </p:nvSpPr>
            <p:spPr>
              <a:xfrm rot="16200000">
                <a:off x="5516116" y="-178329"/>
                <a:ext cx="437360" cy="3526575"/>
              </a:xfrm>
              <a:prstGeom prst="can">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66" name="文本框 65">
                <a:extLst>
                  <a:ext uri="{FF2B5EF4-FFF2-40B4-BE49-F238E27FC236}">
                    <a16:creationId xmlns:a16="http://schemas.microsoft.com/office/drawing/2014/main" id="{1906E569-2DC8-134B-F0D0-CDA567F3EF32}"/>
                  </a:ext>
                </a:extLst>
              </p:cNvPr>
              <p:cNvSpPr txBox="1"/>
              <p:nvPr/>
            </p:nvSpPr>
            <p:spPr>
              <a:xfrm>
                <a:off x="4286996" y="1413394"/>
                <a:ext cx="2895600" cy="369332"/>
              </a:xfrm>
              <a:prstGeom prst="rect">
                <a:avLst/>
              </a:prstGeom>
              <a:noFill/>
            </p:spPr>
            <p:txBody>
              <a:bodyPr wrap="square" rtlCol="0">
                <a:spAutoFit/>
              </a:bodyPr>
              <a:lstStyle/>
              <a:p>
                <a:pPr algn="ctr"/>
                <a:r>
                  <a:rPr lang="zh-CN" altLang="en-US" b="1" dirty="0">
                    <a:solidFill>
                      <a:schemeClr val="bg1"/>
                    </a:solidFill>
                    <a:latin typeface="+mn-ea"/>
                  </a:rPr>
                  <a:t>用于传送数据的</a:t>
                </a:r>
                <a:r>
                  <a:rPr lang="en-US" altLang="zh-CN" b="1" dirty="0">
                    <a:solidFill>
                      <a:schemeClr val="bg1"/>
                    </a:solidFill>
                    <a:latin typeface="+mn-ea"/>
                  </a:rPr>
                  <a:t>TCP</a:t>
                </a:r>
                <a:r>
                  <a:rPr lang="zh-CN" altLang="en-US" b="1" dirty="0">
                    <a:solidFill>
                      <a:schemeClr val="bg1"/>
                    </a:solidFill>
                    <a:latin typeface="+mn-ea"/>
                  </a:rPr>
                  <a:t>连接</a:t>
                </a:r>
              </a:p>
            </p:txBody>
          </p:sp>
        </p:grpSp>
        <p:sp>
          <p:nvSpPr>
            <p:cNvPr id="64" name="文本框 63">
              <a:extLst>
                <a:ext uri="{FF2B5EF4-FFF2-40B4-BE49-F238E27FC236}">
                  <a16:creationId xmlns:a16="http://schemas.microsoft.com/office/drawing/2014/main" id="{A470762F-F536-9853-8EDC-C5F46DACF356}"/>
                </a:ext>
              </a:extLst>
            </p:cNvPr>
            <p:cNvSpPr txBox="1"/>
            <p:nvPr/>
          </p:nvSpPr>
          <p:spPr>
            <a:xfrm>
              <a:off x="5225440" y="3346437"/>
              <a:ext cx="1018903" cy="369332"/>
            </a:xfrm>
            <a:prstGeom prst="rect">
              <a:avLst/>
            </a:prstGeom>
            <a:noFill/>
          </p:spPr>
          <p:txBody>
            <a:bodyPr wrap="square" rtlCol="0">
              <a:spAutoFit/>
            </a:bodyPr>
            <a:lstStyle/>
            <a:p>
              <a:pPr algn="ctr"/>
              <a:r>
                <a:rPr lang="en-US" altLang="zh-CN" b="1" dirty="0">
                  <a:latin typeface="+mn-ea"/>
                </a:rPr>
                <a:t>❺</a:t>
              </a:r>
              <a:endParaRPr lang="zh-CN" altLang="en-US" b="1" dirty="0">
                <a:latin typeface="+mn-ea"/>
              </a:endParaRPr>
            </a:p>
          </p:txBody>
        </p:sp>
      </p:grpSp>
    </p:spTree>
    <p:custDataLst>
      <p:tags r:id="rId1"/>
    </p:custDataLst>
    <p:extLst>
      <p:ext uri="{BB962C8B-B14F-4D97-AF65-F5344CB8AC3E}">
        <p14:creationId xmlns:p14="http://schemas.microsoft.com/office/powerpoint/2010/main" val="393490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1+#ppt_w/2"/>
                                          </p:val>
                                        </p:tav>
                                        <p:tav tm="100000">
                                          <p:val>
                                            <p:strVal val="#ppt_x"/>
                                          </p:val>
                                        </p:tav>
                                      </p:tavLst>
                                    </p:anim>
                                    <p:anim calcmode="lin" valueType="num">
                                      <p:cBhvr additive="base">
                                        <p:cTn id="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1000"/>
                                        <p:tgtEl>
                                          <p:spTgt spid="21"/>
                                        </p:tgtEl>
                                      </p:cBhvr>
                                    </p:animEffect>
                                    <p:anim calcmode="lin" valueType="num">
                                      <p:cBhvr>
                                        <p:cTn id="14" dur="1000" fill="hold"/>
                                        <p:tgtEl>
                                          <p:spTgt spid="21"/>
                                        </p:tgtEl>
                                        <p:attrNameLst>
                                          <p:attrName>ppt_x</p:attrName>
                                        </p:attrNameLst>
                                      </p:cBhvr>
                                      <p:tavLst>
                                        <p:tav tm="0">
                                          <p:val>
                                            <p:strVal val="#ppt_x"/>
                                          </p:val>
                                        </p:tav>
                                        <p:tav tm="100000">
                                          <p:val>
                                            <p:strVal val="#ppt_x"/>
                                          </p:val>
                                        </p:tav>
                                      </p:tavLst>
                                    </p:anim>
                                    <p:anim calcmode="lin" valueType="num">
                                      <p:cBhvr>
                                        <p:cTn id="1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59"/>
                                        </p:tgtEl>
                                        <p:attrNameLst>
                                          <p:attrName>style.visibility</p:attrName>
                                        </p:attrNameLst>
                                      </p:cBhvr>
                                      <p:to>
                                        <p:strVal val="visible"/>
                                      </p:to>
                                    </p:set>
                                    <p:anim calcmode="lin" valueType="num">
                                      <p:cBhvr>
                                        <p:cTn id="20" dur="500" fill="hold"/>
                                        <p:tgtEl>
                                          <p:spTgt spid="59"/>
                                        </p:tgtEl>
                                        <p:attrNameLst>
                                          <p:attrName>ppt_w</p:attrName>
                                        </p:attrNameLst>
                                      </p:cBhvr>
                                      <p:tavLst>
                                        <p:tav tm="0">
                                          <p:val>
                                            <p:fltVal val="0"/>
                                          </p:val>
                                        </p:tav>
                                        <p:tav tm="100000">
                                          <p:val>
                                            <p:strVal val="#ppt_w"/>
                                          </p:val>
                                        </p:tav>
                                      </p:tavLst>
                                    </p:anim>
                                    <p:anim calcmode="lin" valueType="num">
                                      <p:cBhvr>
                                        <p:cTn id="21"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nodeType="clickEffect">
                                  <p:stCondLst>
                                    <p:cond delay="0"/>
                                  </p:stCondLst>
                                  <p:childTnLst>
                                    <p:set>
                                      <p:cBhvr>
                                        <p:cTn id="44" dur="1" fill="hold">
                                          <p:stCondLst>
                                            <p:cond delay="0"/>
                                          </p:stCondLst>
                                        </p:cTn>
                                        <p:tgtEl>
                                          <p:spTgt spid="62"/>
                                        </p:tgtEl>
                                        <p:attrNameLst>
                                          <p:attrName>style.visibility</p:attrName>
                                        </p:attrNameLst>
                                      </p:cBhvr>
                                      <p:to>
                                        <p:strVal val="visible"/>
                                      </p:to>
                                    </p:set>
                                    <p:anim calcmode="lin" valueType="num">
                                      <p:cBhvr>
                                        <p:cTn id="45" dur="500" fill="hold"/>
                                        <p:tgtEl>
                                          <p:spTgt spid="62"/>
                                        </p:tgtEl>
                                        <p:attrNameLst>
                                          <p:attrName>ppt_w</p:attrName>
                                        </p:attrNameLst>
                                      </p:cBhvr>
                                      <p:tavLst>
                                        <p:tav tm="0">
                                          <p:val>
                                            <p:fltVal val="0"/>
                                          </p:val>
                                        </p:tav>
                                        <p:tav tm="100000">
                                          <p:val>
                                            <p:strVal val="#ppt_w"/>
                                          </p:val>
                                        </p:tav>
                                      </p:tavLst>
                                    </p:anim>
                                    <p:anim calcmode="lin" valueType="num">
                                      <p:cBhvr>
                                        <p:cTn id="46" dur="500" fill="hold"/>
                                        <p:tgtEl>
                                          <p:spTgt spid="62"/>
                                        </p:tgtEl>
                                        <p:attrNameLst>
                                          <p:attrName>ppt_h</p:attrName>
                                        </p:attrNameLst>
                                      </p:cBhvr>
                                      <p:tavLst>
                                        <p:tav tm="0">
                                          <p:val>
                                            <p:fltVal val="0"/>
                                          </p:val>
                                        </p:tav>
                                        <p:tav tm="100000">
                                          <p:val>
                                            <p:strVal val="#ppt_h"/>
                                          </p:val>
                                        </p:tav>
                                      </p:tavLst>
                                    </p:anim>
                                    <p:animEffect transition="in" filter="fade">
                                      <p:cBhvr>
                                        <p:cTn id="4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11"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grpSp>
        <p:nvGrpSpPr>
          <p:cNvPr id="14" name="组合 13">
            <a:extLst>
              <a:ext uri="{FF2B5EF4-FFF2-40B4-BE49-F238E27FC236}">
                <a16:creationId xmlns:a16="http://schemas.microsoft.com/office/drawing/2014/main" id="{F2372F5E-7D67-B20D-CF12-0FC1447B7737}"/>
              </a:ext>
            </a:extLst>
          </p:cNvPr>
          <p:cNvGrpSpPr/>
          <p:nvPr/>
        </p:nvGrpSpPr>
        <p:grpSpPr>
          <a:xfrm>
            <a:off x="921123" y="1352307"/>
            <a:ext cx="9843247" cy="1410468"/>
            <a:chOff x="921123" y="1352307"/>
            <a:chExt cx="9843247" cy="1410468"/>
          </a:xfrm>
        </p:grpSpPr>
        <p:sp>
          <p:nvSpPr>
            <p:cNvPr id="6" name="文本框 5">
              <a:extLst>
                <a:ext uri="{FF2B5EF4-FFF2-40B4-BE49-F238E27FC236}">
                  <a16:creationId xmlns:a16="http://schemas.microsoft.com/office/drawing/2014/main" id="{82562BD9-AF98-9AAD-83ED-79EAE8F47FF9}"/>
                </a:ext>
              </a:extLst>
            </p:cNvPr>
            <p:cNvSpPr txBox="1"/>
            <p:nvPr/>
          </p:nvSpPr>
          <p:spPr>
            <a:xfrm>
              <a:off x="921123" y="1352307"/>
              <a:ext cx="9843247" cy="400110"/>
            </a:xfrm>
            <a:prstGeom prst="rect">
              <a:avLst/>
            </a:prstGeom>
            <a:noFill/>
          </p:spPr>
          <p:txBody>
            <a:bodyPr wrap="square" rtlCol="0">
              <a:spAutoFit/>
            </a:bodyPr>
            <a:lstStyle/>
            <a:p>
              <a:r>
                <a:rPr lang="en-US" altLang="zh-CN" sz="2000" b="1" dirty="0">
                  <a:latin typeface="+mn-ea"/>
                </a:rPr>
                <a:t>【2009</a:t>
              </a:r>
              <a:r>
                <a:rPr lang="zh-CN" altLang="en-US" sz="2000" b="1" dirty="0">
                  <a:latin typeface="+mn-ea"/>
                </a:rPr>
                <a:t>年 题</a:t>
              </a:r>
              <a:r>
                <a:rPr lang="en-US" altLang="zh-CN" sz="2000" b="1" dirty="0">
                  <a:latin typeface="+mn-ea"/>
                </a:rPr>
                <a:t>40】FTP</a:t>
              </a:r>
              <a:r>
                <a:rPr lang="zh-CN" altLang="en-US" sz="2000" b="1" dirty="0">
                  <a:latin typeface="+mn-ea"/>
                </a:rPr>
                <a:t>客户和服务器间传递</a:t>
              </a:r>
              <a:r>
                <a:rPr lang="en-US" altLang="zh-CN" sz="2000" b="1" dirty="0">
                  <a:latin typeface="+mn-ea"/>
                </a:rPr>
                <a:t>FTP</a:t>
              </a:r>
              <a:r>
                <a:rPr lang="zh-CN" altLang="en-US" sz="2000" b="1" dirty="0">
                  <a:latin typeface="+mn-ea"/>
                </a:rPr>
                <a:t>命令时，使用的连接是（      ）。</a:t>
              </a:r>
            </a:p>
          </p:txBody>
        </p:sp>
        <p:sp>
          <p:nvSpPr>
            <p:cNvPr id="7" name="文本框 6">
              <a:extLst>
                <a:ext uri="{FF2B5EF4-FFF2-40B4-BE49-F238E27FC236}">
                  <a16:creationId xmlns:a16="http://schemas.microsoft.com/office/drawing/2014/main" id="{EF88DEB5-30C0-ABE8-4396-707A8CAFCFE1}"/>
                </a:ext>
              </a:extLst>
            </p:cNvPr>
            <p:cNvSpPr txBox="1"/>
            <p:nvPr/>
          </p:nvSpPr>
          <p:spPr>
            <a:xfrm>
              <a:off x="1079033" y="1801486"/>
              <a:ext cx="9366838" cy="961289"/>
            </a:xfrm>
            <a:prstGeom prst="rect">
              <a:avLst/>
            </a:prstGeom>
            <a:noFill/>
          </p:spPr>
          <p:txBody>
            <a:bodyPr wrap="square" rtlCol="0">
              <a:spAutoFit/>
            </a:bodyPr>
            <a:lstStyle/>
            <a:p>
              <a:pPr>
                <a:lnSpc>
                  <a:spcPct val="150000"/>
                </a:lnSpc>
              </a:pPr>
              <a:r>
                <a:rPr lang="en-US" altLang="zh-CN" sz="2000" b="1" dirty="0">
                  <a:latin typeface="+mn-ea"/>
                </a:rPr>
                <a:t>A. </a:t>
              </a:r>
              <a:r>
                <a:rPr lang="zh-CN" altLang="en-US" sz="2000" b="1" dirty="0">
                  <a:latin typeface="+mn-ea"/>
                </a:rPr>
                <a:t>建立在</a:t>
              </a:r>
              <a:r>
                <a:rPr lang="en-US" altLang="zh-CN" sz="2000" b="1" dirty="0">
                  <a:latin typeface="+mn-ea"/>
                </a:rPr>
                <a:t>TCP</a:t>
              </a:r>
              <a:r>
                <a:rPr lang="zh-CN" altLang="en-US" sz="2000" b="1" dirty="0">
                  <a:latin typeface="+mn-ea"/>
                </a:rPr>
                <a:t>之上的控制连接                            </a:t>
              </a:r>
              <a:r>
                <a:rPr lang="en-US" altLang="zh-CN" sz="2000" b="1" dirty="0">
                  <a:latin typeface="+mn-ea"/>
                </a:rPr>
                <a:t>B. </a:t>
              </a:r>
              <a:r>
                <a:rPr lang="zh-CN" altLang="en-US" sz="2000" b="1" dirty="0">
                  <a:latin typeface="+mn-ea"/>
                </a:rPr>
                <a:t>建立在</a:t>
              </a:r>
              <a:r>
                <a:rPr lang="en-US" altLang="zh-CN" sz="2000" b="1" dirty="0">
                  <a:latin typeface="+mn-ea"/>
                </a:rPr>
                <a:t>TCP</a:t>
              </a:r>
              <a:r>
                <a:rPr lang="zh-CN" altLang="en-US" sz="2000" b="1" dirty="0">
                  <a:latin typeface="+mn-ea"/>
                </a:rPr>
                <a:t>之上的数据连接</a:t>
              </a:r>
              <a:endParaRPr lang="en-US" altLang="zh-CN" sz="2000" b="1" dirty="0">
                <a:latin typeface="+mn-ea"/>
              </a:endParaRPr>
            </a:p>
            <a:p>
              <a:pPr>
                <a:lnSpc>
                  <a:spcPct val="150000"/>
                </a:lnSpc>
              </a:pPr>
              <a:r>
                <a:rPr lang="en-US" altLang="zh-CN" sz="2000" b="1" dirty="0">
                  <a:latin typeface="+mn-ea"/>
                </a:rPr>
                <a:t>C. </a:t>
              </a:r>
              <a:r>
                <a:rPr lang="zh-CN" altLang="en-US" sz="2000" b="1" dirty="0">
                  <a:latin typeface="+mn-ea"/>
                </a:rPr>
                <a:t>建立在</a:t>
              </a:r>
              <a:r>
                <a:rPr lang="en-US" altLang="zh-CN" sz="2000" b="1" dirty="0">
                  <a:latin typeface="+mn-ea"/>
                </a:rPr>
                <a:t>UDP</a:t>
              </a:r>
              <a:r>
                <a:rPr lang="zh-CN" altLang="en-US" sz="2000" b="1" dirty="0">
                  <a:latin typeface="+mn-ea"/>
                </a:rPr>
                <a:t>之上的控制连接                           </a:t>
              </a:r>
              <a:r>
                <a:rPr lang="en-US" altLang="zh-CN" sz="2000" b="1" dirty="0">
                  <a:latin typeface="+mn-ea"/>
                </a:rPr>
                <a:t>D. </a:t>
              </a:r>
              <a:r>
                <a:rPr lang="zh-CN" altLang="en-US" sz="2000" b="1" dirty="0">
                  <a:latin typeface="+mn-ea"/>
                </a:rPr>
                <a:t>建立在</a:t>
              </a:r>
              <a:r>
                <a:rPr lang="en-US" altLang="zh-CN" sz="2000" b="1" dirty="0">
                  <a:latin typeface="+mn-ea"/>
                </a:rPr>
                <a:t>UDP</a:t>
              </a:r>
              <a:r>
                <a:rPr lang="zh-CN" altLang="en-US" sz="2000" b="1" dirty="0">
                  <a:latin typeface="+mn-ea"/>
                </a:rPr>
                <a:t>之上的数据连接</a:t>
              </a:r>
            </a:p>
          </p:txBody>
        </p:sp>
      </p:grpSp>
      <p:sp>
        <p:nvSpPr>
          <p:cNvPr id="8" name="文本框 7">
            <a:extLst>
              <a:ext uri="{FF2B5EF4-FFF2-40B4-BE49-F238E27FC236}">
                <a16:creationId xmlns:a16="http://schemas.microsoft.com/office/drawing/2014/main" id="{E6BA3CD0-B089-7C67-6F62-5EF3CEC407CB}"/>
              </a:ext>
            </a:extLst>
          </p:cNvPr>
          <p:cNvSpPr txBox="1"/>
          <p:nvPr/>
        </p:nvSpPr>
        <p:spPr>
          <a:xfrm>
            <a:off x="1079033" y="3032513"/>
            <a:ext cx="711200" cy="400110"/>
          </a:xfrm>
          <a:prstGeom prst="rect">
            <a:avLst/>
          </a:prstGeom>
          <a:noFill/>
        </p:spPr>
        <p:txBody>
          <a:bodyPr wrap="square" rtlCol="0">
            <a:spAutoFit/>
          </a:bodyPr>
          <a:lstStyle/>
          <a:p>
            <a:r>
              <a:rPr lang="zh-CN" altLang="en-US" sz="2000" b="1" dirty="0">
                <a:latin typeface="+mn-ea"/>
              </a:rPr>
              <a:t>解析</a:t>
            </a:r>
          </a:p>
        </p:txBody>
      </p:sp>
      <p:sp>
        <p:nvSpPr>
          <p:cNvPr id="9" name="文本框 8">
            <a:extLst>
              <a:ext uri="{FF2B5EF4-FFF2-40B4-BE49-F238E27FC236}">
                <a16:creationId xmlns:a16="http://schemas.microsoft.com/office/drawing/2014/main" id="{14B03B6E-3087-346F-345A-7A0407B824ED}"/>
              </a:ext>
            </a:extLst>
          </p:cNvPr>
          <p:cNvSpPr txBox="1"/>
          <p:nvPr/>
        </p:nvSpPr>
        <p:spPr>
          <a:xfrm>
            <a:off x="2504423" y="3866644"/>
            <a:ext cx="9382778" cy="400110"/>
          </a:xfrm>
          <a:prstGeom prst="rect">
            <a:avLst/>
          </a:prstGeom>
          <a:noFill/>
        </p:spPr>
        <p:txBody>
          <a:bodyPr wrap="square" rtlCol="0">
            <a:spAutoFit/>
          </a:bodyPr>
          <a:lstStyle/>
          <a:p>
            <a:r>
              <a:rPr lang="zh-CN" altLang="en-US" sz="2000" b="1" dirty="0">
                <a:latin typeface="+mn-ea"/>
              </a:rPr>
              <a:t>一个是</a:t>
            </a:r>
            <a:r>
              <a:rPr lang="zh-CN" altLang="en-US" sz="2000" b="1" dirty="0">
                <a:solidFill>
                  <a:schemeClr val="accent1">
                    <a:lumMod val="75000"/>
                  </a:schemeClr>
                </a:solidFill>
                <a:latin typeface="+mn-ea"/>
              </a:rPr>
              <a:t>控制连接</a:t>
            </a:r>
            <a:r>
              <a:rPr lang="zh-CN" altLang="en-US" sz="2000" b="1" dirty="0">
                <a:latin typeface="+mn-ea"/>
              </a:rPr>
              <a:t>，在</a:t>
            </a:r>
            <a:r>
              <a:rPr lang="zh-CN" altLang="en-US" sz="2000" b="1" dirty="0">
                <a:solidFill>
                  <a:schemeClr val="accent1">
                    <a:lumMod val="75000"/>
                  </a:schemeClr>
                </a:solidFill>
                <a:latin typeface="+mn-ea"/>
              </a:rPr>
              <a:t>整个会话期间一直保持打开</a:t>
            </a:r>
            <a:r>
              <a:rPr lang="zh-CN" altLang="en-US" sz="2000" b="1" dirty="0">
                <a:latin typeface="+mn-ea"/>
              </a:rPr>
              <a:t>，用于传送</a:t>
            </a:r>
            <a:r>
              <a:rPr lang="en-US" altLang="zh-CN" sz="2000" b="1" dirty="0">
                <a:latin typeface="+mn-ea"/>
              </a:rPr>
              <a:t>FTP</a:t>
            </a:r>
            <a:r>
              <a:rPr lang="zh-CN" altLang="en-US" sz="2000" b="1" dirty="0">
                <a:latin typeface="+mn-ea"/>
              </a:rPr>
              <a:t>相关</a:t>
            </a:r>
            <a:r>
              <a:rPr lang="zh-CN" altLang="en-US" sz="2000" b="1" dirty="0">
                <a:solidFill>
                  <a:schemeClr val="accent1">
                    <a:lumMod val="75000"/>
                  </a:schemeClr>
                </a:solidFill>
                <a:latin typeface="+mn-ea"/>
              </a:rPr>
              <a:t>控制命令</a:t>
            </a:r>
            <a:r>
              <a:rPr lang="zh-CN" altLang="en-US" sz="2000" b="1" dirty="0">
                <a:latin typeface="+mn-ea"/>
              </a:rPr>
              <a:t>。</a:t>
            </a:r>
          </a:p>
        </p:txBody>
      </p:sp>
      <p:sp>
        <p:nvSpPr>
          <p:cNvPr id="10" name="文本框 9">
            <a:extLst>
              <a:ext uri="{FF2B5EF4-FFF2-40B4-BE49-F238E27FC236}">
                <a16:creationId xmlns:a16="http://schemas.microsoft.com/office/drawing/2014/main" id="{21B1DB92-3877-0D22-4111-9DEC1042E154}"/>
              </a:ext>
            </a:extLst>
          </p:cNvPr>
          <p:cNvSpPr txBox="1"/>
          <p:nvPr/>
        </p:nvSpPr>
        <p:spPr>
          <a:xfrm>
            <a:off x="2504423" y="4339242"/>
            <a:ext cx="9382778" cy="400110"/>
          </a:xfrm>
          <a:prstGeom prst="rect">
            <a:avLst/>
          </a:prstGeom>
          <a:noFill/>
        </p:spPr>
        <p:txBody>
          <a:bodyPr wrap="square" rtlCol="0">
            <a:spAutoFit/>
          </a:bodyPr>
          <a:lstStyle/>
          <a:p>
            <a:r>
              <a:rPr lang="zh-CN" altLang="en-US" sz="2000" b="1" dirty="0">
                <a:latin typeface="+mn-ea"/>
              </a:rPr>
              <a:t>另一个是</a:t>
            </a:r>
            <a:r>
              <a:rPr lang="zh-CN" altLang="en-US" sz="2000" b="1" dirty="0">
                <a:solidFill>
                  <a:schemeClr val="accent1">
                    <a:lumMod val="75000"/>
                  </a:schemeClr>
                </a:solidFill>
                <a:latin typeface="+mn-ea"/>
              </a:rPr>
              <a:t>数据连接</a:t>
            </a:r>
            <a:r>
              <a:rPr lang="zh-CN" altLang="en-US" sz="2000" b="1" dirty="0">
                <a:latin typeface="+mn-ea"/>
              </a:rPr>
              <a:t>，用于</a:t>
            </a:r>
            <a:r>
              <a:rPr lang="zh-CN" altLang="en-US" sz="2000" b="1" dirty="0">
                <a:solidFill>
                  <a:schemeClr val="accent1">
                    <a:lumMod val="75000"/>
                  </a:schemeClr>
                </a:solidFill>
                <a:latin typeface="+mn-ea"/>
              </a:rPr>
              <a:t>文件传输</a:t>
            </a:r>
            <a:r>
              <a:rPr lang="zh-CN" altLang="en-US" sz="2000" b="1" dirty="0">
                <a:latin typeface="+mn-ea"/>
              </a:rPr>
              <a:t>，在</a:t>
            </a:r>
            <a:r>
              <a:rPr lang="zh-CN" altLang="en-US" sz="2000" b="1" dirty="0">
                <a:solidFill>
                  <a:schemeClr val="accent1">
                    <a:lumMod val="75000"/>
                  </a:schemeClr>
                </a:solidFill>
                <a:latin typeface="+mn-ea"/>
              </a:rPr>
              <a:t>每次文件传输时才建立</a:t>
            </a:r>
            <a:r>
              <a:rPr lang="zh-CN" altLang="en-US" sz="2000" b="1" dirty="0">
                <a:latin typeface="+mn-ea"/>
              </a:rPr>
              <a:t>，传输结束就关闭。</a:t>
            </a:r>
          </a:p>
        </p:txBody>
      </p:sp>
      <p:sp>
        <p:nvSpPr>
          <p:cNvPr id="12" name="文本框 11">
            <a:extLst>
              <a:ext uri="{FF2B5EF4-FFF2-40B4-BE49-F238E27FC236}">
                <a16:creationId xmlns:a16="http://schemas.microsoft.com/office/drawing/2014/main" id="{334B8D60-5F3A-0BF3-3DE6-4F1ED4EDFA98}"/>
              </a:ext>
            </a:extLst>
          </p:cNvPr>
          <p:cNvSpPr txBox="1"/>
          <p:nvPr/>
        </p:nvSpPr>
        <p:spPr>
          <a:xfrm>
            <a:off x="1979987" y="3394045"/>
            <a:ext cx="9907213" cy="400110"/>
          </a:xfrm>
          <a:prstGeom prst="rect">
            <a:avLst/>
          </a:prstGeom>
          <a:noFill/>
        </p:spPr>
        <p:txBody>
          <a:bodyPr wrap="square" rtlCol="0">
            <a:spAutoFit/>
          </a:bodyPr>
          <a:lstStyle/>
          <a:p>
            <a:r>
              <a:rPr lang="en-US" altLang="zh-CN" sz="2000" b="1" dirty="0">
                <a:latin typeface="+mn-ea"/>
              </a:rPr>
              <a:t>FTP</a:t>
            </a:r>
            <a:r>
              <a:rPr lang="zh-CN" altLang="en-US" sz="2000" b="1" dirty="0">
                <a:latin typeface="+mn-ea"/>
              </a:rPr>
              <a:t>客户和服务器之间要建立以下</a:t>
            </a:r>
            <a:r>
              <a:rPr lang="zh-CN" altLang="en-US" sz="2000" b="1" dirty="0">
                <a:solidFill>
                  <a:schemeClr val="accent1">
                    <a:lumMod val="75000"/>
                  </a:schemeClr>
                </a:solidFill>
                <a:latin typeface="+mn-ea"/>
              </a:rPr>
              <a:t>两个并行的</a:t>
            </a:r>
            <a:r>
              <a:rPr lang="en-US" altLang="zh-CN" sz="2000" b="1" dirty="0">
                <a:solidFill>
                  <a:schemeClr val="accent1">
                    <a:lumMod val="75000"/>
                  </a:schemeClr>
                </a:solidFill>
                <a:latin typeface="+mn-ea"/>
              </a:rPr>
              <a:t>TCP</a:t>
            </a:r>
            <a:r>
              <a:rPr lang="zh-CN" altLang="en-US" sz="2000" b="1" dirty="0">
                <a:solidFill>
                  <a:schemeClr val="accent1">
                    <a:lumMod val="75000"/>
                  </a:schemeClr>
                </a:solidFill>
                <a:latin typeface="+mn-ea"/>
              </a:rPr>
              <a:t>连接</a:t>
            </a:r>
            <a:r>
              <a:rPr lang="zh-CN" altLang="en-US" sz="2000" b="1" dirty="0">
                <a:latin typeface="+mn-ea"/>
              </a:rPr>
              <a:t>：</a:t>
            </a:r>
          </a:p>
        </p:txBody>
      </p:sp>
      <p:sp>
        <p:nvSpPr>
          <p:cNvPr id="13" name="文本框 12">
            <a:extLst>
              <a:ext uri="{FF2B5EF4-FFF2-40B4-BE49-F238E27FC236}">
                <a16:creationId xmlns:a16="http://schemas.microsoft.com/office/drawing/2014/main" id="{10BC93A7-6BDF-DE03-533B-05241140F6B1}"/>
              </a:ext>
            </a:extLst>
          </p:cNvPr>
          <p:cNvSpPr txBox="1"/>
          <p:nvPr/>
        </p:nvSpPr>
        <p:spPr>
          <a:xfrm>
            <a:off x="8868336" y="1290752"/>
            <a:ext cx="88366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A</a:t>
            </a:r>
            <a:endParaRPr lang="zh-CN" altLang="en-US" sz="2800" b="1" dirty="0">
              <a:solidFill>
                <a:schemeClr val="accent1">
                  <a:lumMod val="75000"/>
                </a:schemeClr>
              </a:solidFill>
              <a:latin typeface="Arial Black" panose="020B0A04020102020204" pitchFamily="34" charset="0"/>
            </a:endParaRPr>
          </a:p>
        </p:txBody>
      </p:sp>
    </p:spTree>
    <p:custDataLst>
      <p:tags r:id="rId1"/>
    </p:custDataLst>
    <p:extLst>
      <p:ext uri="{BB962C8B-B14F-4D97-AF65-F5344CB8AC3E}">
        <p14:creationId xmlns:p14="http://schemas.microsoft.com/office/powerpoint/2010/main" val="11135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800" decel="100000"/>
                                        <p:tgtEl>
                                          <p:spTgt spid="14"/>
                                        </p:tgtEl>
                                      </p:cBhvr>
                                    </p:animEffect>
                                    <p:anim calcmode="lin" valueType="num">
                                      <p:cBhvr>
                                        <p:cTn id="8" dur="800" decel="100000" fill="hold"/>
                                        <p:tgtEl>
                                          <p:spTgt spid="14"/>
                                        </p:tgtEl>
                                        <p:attrNameLst>
                                          <p:attrName>style.rotation</p:attrName>
                                        </p:attrNameLst>
                                      </p:cBhvr>
                                      <p:tavLst>
                                        <p:tav tm="0">
                                          <p:val>
                                            <p:fltVal val="-90"/>
                                          </p:val>
                                        </p:tav>
                                        <p:tav tm="100000">
                                          <p:val>
                                            <p:fltVal val="0"/>
                                          </p:val>
                                        </p:tav>
                                      </p:tavLst>
                                    </p:anim>
                                    <p:anim calcmode="lin" valueType="num">
                                      <p:cBhvr>
                                        <p:cTn id="9" dur="800" decel="100000" fill="hold"/>
                                        <p:tgtEl>
                                          <p:spTgt spid="14"/>
                                        </p:tgtEl>
                                        <p:attrNameLst>
                                          <p:attrName>ppt_x</p:attrName>
                                        </p:attrNameLst>
                                      </p:cBhvr>
                                      <p:tavLst>
                                        <p:tav tm="0">
                                          <p:val>
                                            <p:strVal val="#ppt_x+0.4"/>
                                          </p:val>
                                        </p:tav>
                                        <p:tav tm="100000">
                                          <p:val>
                                            <p:strVal val="#ppt_x-0.05"/>
                                          </p:val>
                                        </p:tav>
                                      </p:tavLst>
                                    </p:anim>
                                    <p:anim calcmode="lin" valueType="num">
                                      <p:cBhvr>
                                        <p:cTn id="10" dur="800" decel="100000" fill="hold"/>
                                        <p:tgtEl>
                                          <p:spTgt spid="14"/>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4"/>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800" decel="100000"/>
                                        <p:tgtEl>
                                          <p:spTgt spid="13"/>
                                        </p:tgtEl>
                                      </p:cBhvr>
                                    </p:animEffect>
                                    <p:anim calcmode="lin" valueType="num">
                                      <p:cBhvr>
                                        <p:cTn id="18" dur="800" decel="100000" fill="hold"/>
                                        <p:tgtEl>
                                          <p:spTgt spid="13"/>
                                        </p:tgtEl>
                                        <p:attrNameLst>
                                          <p:attrName>style.rotation</p:attrName>
                                        </p:attrNameLst>
                                      </p:cBhvr>
                                      <p:tavLst>
                                        <p:tav tm="0">
                                          <p:val>
                                            <p:fltVal val="-90"/>
                                          </p:val>
                                        </p:tav>
                                        <p:tav tm="100000">
                                          <p:val>
                                            <p:fltVal val="0"/>
                                          </p:val>
                                        </p:tav>
                                      </p:tavLst>
                                    </p:anim>
                                    <p:anim calcmode="lin" valueType="num">
                                      <p:cBhvr>
                                        <p:cTn id="19" dur="800" decel="100000" fill="hold"/>
                                        <p:tgtEl>
                                          <p:spTgt spid="13"/>
                                        </p:tgtEl>
                                        <p:attrNameLst>
                                          <p:attrName>ppt_x</p:attrName>
                                        </p:attrNameLst>
                                      </p:cBhvr>
                                      <p:tavLst>
                                        <p:tav tm="0">
                                          <p:val>
                                            <p:strVal val="#ppt_x+0.4"/>
                                          </p:val>
                                        </p:tav>
                                        <p:tav tm="100000">
                                          <p:val>
                                            <p:strVal val="#ppt_x-0.05"/>
                                          </p:val>
                                        </p:tav>
                                      </p:tavLst>
                                    </p:anim>
                                    <p:anim calcmode="lin" valueType="num">
                                      <p:cBhvr>
                                        <p:cTn id="20" dur="800" decel="100000" fill="hold"/>
                                        <p:tgtEl>
                                          <p:spTgt spid="13"/>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p:tgtEl>
                                          <p:spTgt spid="12"/>
                                        </p:tgtEl>
                                        <p:attrNameLst>
                                          <p:attrName>ppt_y</p:attrName>
                                        </p:attrNameLst>
                                      </p:cBhvr>
                                      <p:tavLst>
                                        <p:tav tm="0">
                                          <p:val>
                                            <p:strVal val="#ppt_y-#ppt_h*1.125000"/>
                                          </p:val>
                                        </p:tav>
                                        <p:tav tm="100000">
                                          <p:val>
                                            <p:strVal val="#ppt_y"/>
                                          </p:val>
                                        </p:tav>
                                      </p:tavLst>
                                    </p:anim>
                                    <p:animEffect transition="in" filter="wipe(down)">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p:tgtEl>
                                          <p:spTgt spid="9"/>
                                        </p:tgtEl>
                                        <p:attrNameLst>
                                          <p:attrName>ppt_y</p:attrName>
                                        </p:attrNameLst>
                                      </p:cBhvr>
                                      <p:tavLst>
                                        <p:tav tm="0">
                                          <p:val>
                                            <p:strVal val="#ppt_y-#ppt_h*1.125000"/>
                                          </p:val>
                                        </p:tav>
                                        <p:tav tm="100000">
                                          <p:val>
                                            <p:strVal val="#ppt_y"/>
                                          </p:val>
                                        </p:tav>
                                      </p:tavLst>
                                    </p:anim>
                                    <p:animEffect transition="in" filter="wipe(down)">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p:tgtEl>
                                          <p:spTgt spid="10"/>
                                        </p:tgtEl>
                                        <p:attrNameLst>
                                          <p:attrName>ppt_y</p:attrName>
                                        </p:attrNameLst>
                                      </p:cBhvr>
                                      <p:tavLst>
                                        <p:tav tm="0">
                                          <p:val>
                                            <p:strVal val="#ppt_y-#ppt_h*1.125000"/>
                                          </p:val>
                                        </p:tav>
                                        <p:tav tm="100000">
                                          <p:val>
                                            <p:strVal val="#ppt_y"/>
                                          </p:val>
                                        </p:tav>
                                      </p:tavLst>
                                    </p:anim>
                                    <p:animEffect transition="in" filter="wipe(down)">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文件传送协议</a:t>
              </a:r>
              <a:r>
                <a:rPr lang="en-US" altLang="zh-CN" sz="2000" b="1" dirty="0">
                  <a:latin typeface="+mj-ea"/>
                  <a:ea typeface="+mj-ea"/>
                </a:rPr>
                <a:t>FTP</a:t>
              </a:r>
              <a:r>
                <a:rPr lang="zh-CN" altLang="en-US" sz="2000" b="1" dirty="0">
                  <a:latin typeface="+mj-ea"/>
                  <a:ea typeface="+mj-ea"/>
                </a:rPr>
                <a:t>的基本工作原理</a:t>
              </a:r>
            </a:p>
          </p:txBody>
        </p:sp>
      </p:grpSp>
      <p:sp>
        <p:nvSpPr>
          <p:cNvPr id="8" name="文本框 7">
            <a:extLst>
              <a:ext uri="{FF2B5EF4-FFF2-40B4-BE49-F238E27FC236}">
                <a16:creationId xmlns:a16="http://schemas.microsoft.com/office/drawing/2014/main" id="{E6BA3CD0-B089-7C67-6F62-5EF3CEC407CB}"/>
              </a:ext>
            </a:extLst>
          </p:cNvPr>
          <p:cNvSpPr txBox="1"/>
          <p:nvPr/>
        </p:nvSpPr>
        <p:spPr>
          <a:xfrm>
            <a:off x="1079033" y="3032513"/>
            <a:ext cx="711200" cy="400110"/>
          </a:xfrm>
          <a:prstGeom prst="rect">
            <a:avLst/>
          </a:prstGeom>
          <a:noFill/>
        </p:spPr>
        <p:txBody>
          <a:bodyPr wrap="square" rtlCol="0">
            <a:spAutoFit/>
          </a:bodyPr>
          <a:lstStyle/>
          <a:p>
            <a:r>
              <a:rPr lang="zh-CN" altLang="en-US" sz="2000" b="1" dirty="0">
                <a:latin typeface="+mn-ea"/>
              </a:rPr>
              <a:t>解析</a:t>
            </a:r>
          </a:p>
        </p:txBody>
      </p:sp>
      <p:sp>
        <p:nvSpPr>
          <p:cNvPr id="13" name="文本框 12">
            <a:extLst>
              <a:ext uri="{FF2B5EF4-FFF2-40B4-BE49-F238E27FC236}">
                <a16:creationId xmlns:a16="http://schemas.microsoft.com/office/drawing/2014/main" id="{10BC93A7-6BDF-DE03-533B-05241140F6B1}"/>
              </a:ext>
            </a:extLst>
          </p:cNvPr>
          <p:cNvSpPr txBox="1"/>
          <p:nvPr/>
        </p:nvSpPr>
        <p:spPr>
          <a:xfrm>
            <a:off x="7362265" y="1290752"/>
            <a:ext cx="88366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Arial Black" panose="020B0A04020102020204" pitchFamily="34" charset="0"/>
              </a:rPr>
              <a:t>C</a:t>
            </a:r>
            <a:endParaRPr lang="zh-CN" altLang="en-US" sz="2800" b="1" dirty="0">
              <a:solidFill>
                <a:schemeClr val="accent1">
                  <a:lumMod val="75000"/>
                </a:schemeClr>
              </a:solidFill>
              <a:latin typeface="Arial Black" panose="020B0A04020102020204" pitchFamily="34" charset="0"/>
            </a:endParaRPr>
          </a:p>
        </p:txBody>
      </p:sp>
      <p:grpSp>
        <p:nvGrpSpPr>
          <p:cNvPr id="17" name="组合 16">
            <a:extLst>
              <a:ext uri="{FF2B5EF4-FFF2-40B4-BE49-F238E27FC236}">
                <a16:creationId xmlns:a16="http://schemas.microsoft.com/office/drawing/2014/main" id="{3BF88E94-8B5F-0159-AE32-9F9D97010AD2}"/>
              </a:ext>
            </a:extLst>
          </p:cNvPr>
          <p:cNvGrpSpPr/>
          <p:nvPr/>
        </p:nvGrpSpPr>
        <p:grpSpPr>
          <a:xfrm>
            <a:off x="921123" y="1352307"/>
            <a:ext cx="10484224" cy="1337412"/>
            <a:chOff x="921123" y="1352307"/>
            <a:chExt cx="10484224" cy="1337412"/>
          </a:xfrm>
        </p:grpSpPr>
        <p:sp>
          <p:nvSpPr>
            <p:cNvPr id="6" name="文本框 5">
              <a:extLst>
                <a:ext uri="{FF2B5EF4-FFF2-40B4-BE49-F238E27FC236}">
                  <a16:creationId xmlns:a16="http://schemas.microsoft.com/office/drawing/2014/main" id="{82562BD9-AF98-9AAD-83ED-79EAE8F47FF9}"/>
                </a:ext>
              </a:extLst>
            </p:cNvPr>
            <p:cNvSpPr txBox="1"/>
            <p:nvPr/>
          </p:nvSpPr>
          <p:spPr>
            <a:xfrm>
              <a:off x="921123" y="1352307"/>
              <a:ext cx="9843247" cy="400110"/>
            </a:xfrm>
            <a:prstGeom prst="rect">
              <a:avLst/>
            </a:prstGeom>
            <a:noFill/>
          </p:spPr>
          <p:txBody>
            <a:bodyPr wrap="square" rtlCol="0">
              <a:spAutoFit/>
            </a:bodyPr>
            <a:lstStyle/>
            <a:p>
              <a:r>
                <a:rPr lang="en-US" altLang="zh-CN" sz="2000" b="1" dirty="0">
                  <a:latin typeface="+mn-ea"/>
                </a:rPr>
                <a:t>【2017</a:t>
              </a:r>
              <a:r>
                <a:rPr lang="zh-CN" altLang="en-US" sz="2000" b="1" dirty="0">
                  <a:latin typeface="+mn-ea"/>
                </a:rPr>
                <a:t>年 题</a:t>
              </a:r>
              <a:r>
                <a:rPr lang="en-US" altLang="zh-CN" sz="2000" b="1" dirty="0">
                  <a:latin typeface="+mn-ea"/>
                </a:rPr>
                <a:t>40】</a:t>
              </a:r>
              <a:r>
                <a:rPr lang="zh-CN" altLang="en-US" sz="2000" b="1" dirty="0">
                  <a:latin typeface="+mn-ea"/>
                </a:rPr>
                <a:t>下列关于</a:t>
              </a:r>
              <a:r>
                <a:rPr lang="en-US" altLang="zh-CN" sz="2000" b="1" dirty="0">
                  <a:latin typeface="+mn-ea"/>
                </a:rPr>
                <a:t>FTP</a:t>
              </a:r>
              <a:r>
                <a:rPr lang="zh-CN" altLang="en-US" sz="2000" b="1" dirty="0">
                  <a:latin typeface="+mn-ea"/>
                </a:rPr>
                <a:t>协议的叙述中，错误的是（      ）。</a:t>
              </a:r>
            </a:p>
          </p:txBody>
        </p:sp>
        <p:sp>
          <p:nvSpPr>
            <p:cNvPr id="5" name="文本框 4">
              <a:extLst>
                <a:ext uri="{FF2B5EF4-FFF2-40B4-BE49-F238E27FC236}">
                  <a16:creationId xmlns:a16="http://schemas.microsoft.com/office/drawing/2014/main" id="{691F2952-18AD-A67D-7E66-5996ED641D08}"/>
                </a:ext>
              </a:extLst>
            </p:cNvPr>
            <p:cNvSpPr txBox="1"/>
            <p:nvPr/>
          </p:nvSpPr>
          <p:spPr>
            <a:xfrm>
              <a:off x="1079033" y="1879506"/>
              <a:ext cx="4854388" cy="369332"/>
            </a:xfrm>
            <a:prstGeom prst="rect">
              <a:avLst/>
            </a:prstGeom>
            <a:noFill/>
          </p:spPr>
          <p:txBody>
            <a:bodyPr wrap="square" rtlCol="0">
              <a:spAutoFit/>
            </a:bodyPr>
            <a:lstStyle/>
            <a:p>
              <a:r>
                <a:rPr lang="en-US" altLang="zh-CN" b="1" dirty="0"/>
                <a:t>A. </a:t>
              </a:r>
              <a:r>
                <a:rPr lang="zh-CN" altLang="en-US" b="1" dirty="0"/>
                <a:t>数据连接在每次数据传输完毕后就关闭</a:t>
              </a:r>
            </a:p>
          </p:txBody>
        </p:sp>
        <p:sp>
          <p:nvSpPr>
            <p:cNvPr id="11" name="文本框 10">
              <a:extLst>
                <a:ext uri="{FF2B5EF4-FFF2-40B4-BE49-F238E27FC236}">
                  <a16:creationId xmlns:a16="http://schemas.microsoft.com/office/drawing/2014/main" id="{54546A0B-09BF-5307-3DF9-4DC71B8233DA}"/>
                </a:ext>
              </a:extLst>
            </p:cNvPr>
            <p:cNvSpPr txBox="1"/>
            <p:nvPr/>
          </p:nvSpPr>
          <p:spPr>
            <a:xfrm>
              <a:off x="6388380" y="1878048"/>
              <a:ext cx="4854388" cy="369332"/>
            </a:xfrm>
            <a:prstGeom prst="rect">
              <a:avLst/>
            </a:prstGeom>
            <a:noFill/>
          </p:spPr>
          <p:txBody>
            <a:bodyPr wrap="square" rtlCol="0">
              <a:spAutoFit/>
            </a:bodyPr>
            <a:lstStyle/>
            <a:p>
              <a:r>
                <a:rPr lang="en-US" altLang="zh-CN" b="1" dirty="0"/>
                <a:t>B. </a:t>
              </a:r>
              <a:r>
                <a:rPr lang="zh-CN" altLang="en-US" sz="1800" b="1" dirty="0">
                  <a:latin typeface="+mn-ea"/>
                </a:rPr>
                <a:t>控制连接在整个会话期间保持打开状态</a:t>
              </a:r>
              <a:endParaRPr lang="zh-CN" altLang="en-US" b="1" dirty="0"/>
            </a:p>
          </p:txBody>
        </p:sp>
        <p:sp>
          <p:nvSpPr>
            <p:cNvPr id="15" name="文本框 14">
              <a:extLst>
                <a:ext uri="{FF2B5EF4-FFF2-40B4-BE49-F238E27FC236}">
                  <a16:creationId xmlns:a16="http://schemas.microsoft.com/office/drawing/2014/main" id="{5DA9A687-78FE-E574-11A7-7CE02460A9CE}"/>
                </a:ext>
              </a:extLst>
            </p:cNvPr>
            <p:cNvSpPr txBox="1"/>
            <p:nvPr/>
          </p:nvSpPr>
          <p:spPr>
            <a:xfrm>
              <a:off x="1079032" y="2314264"/>
              <a:ext cx="5016967" cy="369332"/>
            </a:xfrm>
            <a:prstGeom prst="rect">
              <a:avLst/>
            </a:prstGeom>
            <a:noFill/>
          </p:spPr>
          <p:txBody>
            <a:bodyPr wrap="square" rtlCol="0">
              <a:spAutoFit/>
            </a:bodyPr>
            <a:lstStyle/>
            <a:p>
              <a:r>
                <a:rPr lang="en-US" altLang="zh-CN" b="1" dirty="0"/>
                <a:t>C. </a:t>
              </a:r>
              <a:r>
                <a:rPr lang="zh-CN" altLang="en-US" sz="1800" b="1" dirty="0">
                  <a:latin typeface="+mn-ea"/>
                </a:rPr>
                <a:t>服务器与客户端的</a:t>
              </a:r>
              <a:r>
                <a:rPr lang="en-US" altLang="zh-CN" sz="1800" b="1" dirty="0">
                  <a:latin typeface="+mn-ea"/>
                </a:rPr>
                <a:t>TCP 20</a:t>
              </a:r>
              <a:r>
                <a:rPr lang="zh-CN" altLang="en-US" sz="1800" b="1" dirty="0">
                  <a:latin typeface="+mn-ea"/>
                </a:rPr>
                <a:t>端口建立数据连接</a:t>
              </a:r>
              <a:endParaRPr lang="zh-CN" altLang="en-US" b="1" dirty="0"/>
            </a:p>
          </p:txBody>
        </p:sp>
        <p:sp>
          <p:nvSpPr>
            <p:cNvPr id="16" name="文本框 15">
              <a:extLst>
                <a:ext uri="{FF2B5EF4-FFF2-40B4-BE49-F238E27FC236}">
                  <a16:creationId xmlns:a16="http://schemas.microsoft.com/office/drawing/2014/main" id="{99153D1A-7A84-AF99-A535-B28A57056022}"/>
                </a:ext>
              </a:extLst>
            </p:cNvPr>
            <p:cNvSpPr txBox="1"/>
            <p:nvPr/>
          </p:nvSpPr>
          <p:spPr>
            <a:xfrm>
              <a:off x="6388380" y="2320387"/>
              <a:ext cx="5016967" cy="369332"/>
            </a:xfrm>
            <a:prstGeom prst="rect">
              <a:avLst/>
            </a:prstGeom>
            <a:noFill/>
          </p:spPr>
          <p:txBody>
            <a:bodyPr wrap="square" rtlCol="0">
              <a:spAutoFit/>
            </a:bodyPr>
            <a:lstStyle/>
            <a:p>
              <a:r>
                <a:rPr lang="en-US" altLang="zh-CN" b="1" dirty="0"/>
                <a:t>D.</a:t>
              </a:r>
              <a:r>
                <a:rPr lang="zh-CN" altLang="en-US" sz="1800" b="1" dirty="0">
                  <a:latin typeface="+mn-ea"/>
                </a:rPr>
                <a:t>客户端与服务器的</a:t>
              </a:r>
              <a:r>
                <a:rPr lang="en-US" altLang="zh-CN" sz="1800" b="1" dirty="0">
                  <a:latin typeface="+mn-ea"/>
                </a:rPr>
                <a:t>TCP 21</a:t>
              </a:r>
              <a:r>
                <a:rPr lang="zh-CN" altLang="en-US" sz="1800" b="1" dirty="0">
                  <a:latin typeface="+mn-ea"/>
                </a:rPr>
                <a:t>端口建立控制连接</a:t>
              </a:r>
              <a:endParaRPr lang="zh-CN" altLang="en-US" b="1" dirty="0"/>
            </a:p>
          </p:txBody>
        </p:sp>
      </p:grpSp>
      <p:sp>
        <p:nvSpPr>
          <p:cNvPr id="18" name="文本框 17">
            <a:extLst>
              <a:ext uri="{FF2B5EF4-FFF2-40B4-BE49-F238E27FC236}">
                <a16:creationId xmlns:a16="http://schemas.microsoft.com/office/drawing/2014/main" id="{BE4FA119-C48F-B176-F546-F2ABEE6D40DF}"/>
              </a:ext>
            </a:extLst>
          </p:cNvPr>
          <p:cNvSpPr txBox="1"/>
          <p:nvPr/>
        </p:nvSpPr>
        <p:spPr>
          <a:xfrm>
            <a:off x="1290870" y="4350883"/>
            <a:ext cx="10596330" cy="369332"/>
          </a:xfrm>
          <a:prstGeom prst="rect">
            <a:avLst/>
          </a:prstGeom>
          <a:noFill/>
        </p:spPr>
        <p:txBody>
          <a:bodyPr wrap="square" rtlCol="0">
            <a:spAutoFit/>
          </a:bodyPr>
          <a:lstStyle/>
          <a:p>
            <a:r>
              <a:rPr lang="zh-CN" altLang="en-US" b="1" dirty="0">
                <a:latin typeface="+mn-ea"/>
              </a:rPr>
              <a:t>       默认情况下，</a:t>
            </a:r>
            <a:r>
              <a:rPr lang="en-US" altLang="zh-CN" b="1" dirty="0">
                <a:latin typeface="+mn-ea"/>
              </a:rPr>
              <a:t>FTP</a:t>
            </a:r>
            <a:r>
              <a:rPr lang="zh-CN" altLang="en-US" b="1" dirty="0">
                <a:latin typeface="+mn-ea"/>
              </a:rPr>
              <a:t>使用</a:t>
            </a:r>
            <a:r>
              <a:rPr lang="en-US" altLang="zh-CN" b="1" dirty="0">
                <a:latin typeface="+mn-ea"/>
              </a:rPr>
              <a:t>TCP 21</a:t>
            </a:r>
            <a:r>
              <a:rPr lang="zh-CN" altLang="en-US" b="1" dirty="0">
                <a:latin typeface="+mn-ea"/>
              </a:rPr>
              <a:t>端口进行控制连接，</a:t>
            </a:r>
            <a:r>
              <a:rPr lang="en-US" altLang="zh-CN" b="1" dirty="0">
                <a:latin typeface="+mn-ea"/>
              </a:rPr>
              <a:t>TCP 20</a:t>
            </a:r>
            <a:r>
              <a:rPr lang="zh-CN" altLang="en-US" b="1" dirty="0">
                <a:latin typeface="+mn-ea"/>
              </a:rPr>
              <a:t>端口进行数据连接。</a:t>
            </a:r>
          </a:p>
        </p:txBody>
      </p:sp>
      <p:sp>
        <p:nvSpPr>
          <p:cNvPr id="19" name="文本框 18">
            <a:extLst>
              <a:ext uri="{FF2B5EF4-FFF2-40B4-BE49-F238E27FC236}">
                <a16:creationId xmlns:a16="http://schemas.microsoft.com/office/drawing/2014/main" id="{4E68013D-1E0E-DE07-750C-F6D2B9D1C81B}"/>
              </a:ext>
            </a:extLst>
          </p:cNvPr>
          <p:cNvSpPr txBox="1"/>
          <p:nvPr/>
        </p:nvSpPr>
        <p:spPr>
          <a:xfrm>
            <a:off x="1290869" y="4858769"/>
            <a:ext cx="10596330" cy="646331"/>
          </a:xfrm>
          <a:prstGeom prst="rect">
            <a:avLst/>
          </a:prstGeom>
          <a:noFill/>
        </p:spPr>
        <p:txBody>
          <a:bodyPr wrap="square" rtlCol="0">
            <a:spAutoFit/>
          </a:bodyPr>
          <a:lstStyle/>
          <a:p>
            <a:r>
              <a:rPr lang="zh-CN" altLang="en-US" b="1" dirty="0">
                <a:latin typeface="+mn-ea"/>
              </a:rPr>
              <a:t>       </a:t>
            </a:r>
            <a:r>
              <a:rPr lang="zh-CN" altLang="en-US" b="1" dirty="0">
                <a:solidFill>
                  <a:schemeClr val="accent1">
                    <a:lumMod val="75000"/>
                  </a:schemeClr>
                </a:solidFill>
                <a:latin typeface="+mn-ea"/>
              </a:rPr>
              <a:t>但是，是否使用</a:t>
            </a:r>
            <a:r>
              <a:rPr lang="en-US" altLang="zh-CN" b="1" dirty="0">
                <a:solidFill>
                  <a:schemeClr val="accent1">
                    <a:lumMod val="75000"/>
                  </a:schemeClr>
                </a:solidFill>
                <a:latin typeface="+mn-ea"/>
              </a:rPr>
              <a:t>TCP 20</a:t>
            </a:r>
            <a:r>
              <a:rPr lang="zh-CN" altLang="en-US" b="1" dirty="0">
                <a:solidFill>
                  <a:schemeClr val="accent1">
                    <a:lumMod val="75000"/>
                  </a:schemeClr>
                </a:solidFill>
                <a:latin typeface="+mn-ea"/>
              </a:rPr>
              <a:t>端口建立数据连接与传输模式有关，主动方式使用</a:t>
            </a:r>
            <a:r>
              <a:rPr lang="en-US" altLang="zh-CN" b="1" dirty="0">
                <a:solidFill>
                  <a:schemeClr val="accent1">
                    <a:lumMod val="75000"/>
                  </a:schemeClr>
                </a:solidFill>
                <a:latin typeface="+mn-ea"/>
              </a:rPr>
              <a:t>TCP 20</a:t>
            </a:r>
            <a:r>
              <a:rPr lang="zh-CN" altLang="en-US" b="1" dirty="0">
                <a:solidFill>
                  <a:schemeClr val="accent1">
                    <a:lumMod val="75000"/>
                  </a:schemeClr>
                </a:solidFill>
                <a:latin typeface="+mn-ea"/>
              </a:rPr>
              <a:t>端口，被动方式由服务器和客户端自行协商决定。</a:t>
            </a:r>
          </a:p>
        </p:txBody>
      </p:sp>
      <p:sp>
        <p:nvSpPr>
          <p:cNvPr id="20" name="文本框 19">
            <a:extLst>
              <a:ext uri="{FF2B5EF4-FFF2-40B4-BE49-F238E27FC236}">
                <a16:creationId xmlns:a16="http://schemas.microsoft.com/office/drawing/2014/main" id="{FA3EB02E-FB73-4349-E49A-195ECC583BBD}"/>
              </a:ext>
            </a:extLst>
          </p:cNvPr>
          <p:cNvSpPr txBox="1"/>
          <p:nvPr/>
        </p:nvSpPr>
        <p:spPr>
          <a:xfrm>
            <a:off x="1290870" y="3565997"/>
            <a:ext cx="10596330" cy="646331"/>
          </a:xfrm>
          <a:prstGeom prst="rect">
            <a:avLst/>
          </a:prstGeom>
          <a:noFill/>
        </p:spPr>
        <p:txBody>
          <a:bodyPr wrap="square" rtlCol="0">
            <a:spAutoFit/>
          </a:bodyPr>
          <a:lstStyle/>
          <a:p>
            <a:r>
              <a:rPr lang="en-US" altLang="zh-CN" b="1" dirty="0">
                <a:latin typeface="+mn-ea"/>
              </a:rPr>
              <a:t>       FTP</a:t>
            </a:r>
            <a:r>
              <a:rPr lang="zh-CN" altLang="en-US" b="1" dirty="0">
                <a:latin typeface="+mn-ea"/>
              </a:rPr>
              <a:t>客户和服务器之间要建立“控制连接”和“数据连接”这两个并行的</a:t>
            </a:r>
            <a:r>
              <a:rPr lang="en-US" altLang="zh-CN" b="1" dirty="0">
                <a:latin typeface="+mn-ea"/>
              </a:rPr>
              <a:t>TCP</a:t>
            </a:r>
            <a:r>
              <a:rPr lang="zh-CN" altLang="en-US" b="1" dirty="0">
                <a:latin typeface="+mn-ea"/>
              </a:rPr>
              <a:t>连接。控制连接在整个会话期间都保持打开状态，而数据连接在每次文件传输时才建立，传输结束就关闭。</a:t>
            </a:r>
          </a:p>
        </p:txBody>
      </p:sp>
    </p:spTree>
    <p:custDataLst>
      <p:tags r:id="rId1"/>
    </p:custDataLst>
    <p:extLst>
      <p:ext uri="{BB962C8B-B14F-4D97-AF65-F5344CB8AC3E}">
        <p14:creationId xmlns:p14="http://schemas.microsoft.com/office/powerpoint/2010/main" val="197838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800" decel="100000"/>
                                        <p:tgtEl>
                                          <p:spTgt spid="17"/>
                                        </p:tgtEl>
                                      </p:cBhvr>
                                    </p:animEffect>
                                    <p:anim calcmode="lin" valueType="num">
                                      <p:cBhvr>
                                        <p:cTn id="8" dur="800" decel="100000" fill="hold"/>
                                        <p:tgtEl>
                                          <p:spTgt spid="17"/>
                                        </p:tgtEl>
                                        <p:attrNameLst>
                                          <p:attrName>style.rotation</p:attrName>
                                        </p:attrNameLst>
                                      </p:cBhvr>
                                      <p:tavLst>
                                        <p:tav tm="0">
                                          <p:val>
                                            <p:fltVal val="-90"/>
                                          </p:val>
                                        </p:tav>
                                        <p:tav tm="100000">
                                          <p:val>
                                            <p:fltVal val="0"/>
                                          </p:val>
                                        </p:tav>
                                      </p:tavLst>
                                    </p:anim>
                                    <p:anim calcmode="lin" valueType="num">
                                      <p:cBhvr>
                                        <p:cTn id="9" dur="800" decel="100000" fill="hold"/>
                                        <p:tgtEl>
                                          <p:spTgt spid="17"/>
                                        </p:tgtEl>
                                        <p:attrNameLst>
                                          <p:attrName>ppt_x</p:attrName>
                                        </p:attrNameLst>
                                      </p:cBhvr>
                                      <p:tavLst>
                                        <p:tav tm="0">
                                          <p:val>
                                            <p:strVal val="#ppt_x+0.4"/>
                                          </p:val>
                                        </p:tav>
                                        <p:tav tm="100000">
                                          <p:val>
                                            <p:strVal val="#ppt_x-0.05"/>
                                          </p:val>
                                        </p:tav>
                                      </p:tavLst>
                                    </p:anim>
                                    <p:anim calcmode="lin" valueType="num">
                                      <p:cBhvr>
                                        <p:cTn id="10" dur="800" decel="100000" fill="hold"/>
                                        <p:tgtEl>
                                          <p:spTgt spid="1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7"/>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800" decel="100000"/>
                                        <p:tgtEl>
                                          <p:spTgt spid="13"/>
                                        </p:tgtEl>
                                      </p:cBhvr>
                                    </p:animEffect>
                                    <p:anim calcmode="lin" valueType="num">
                                      <p:cBhvr>
                                        <p:cTn id="18" dur="800" decel="100000" fill="hold"/>
                                        <p:tgtEl>
                                          <p:spTgt spid="13"/>
                                        </p:tgtEl>
                                        <p:attrNameLst>
                                          <p:attrName>style.rotation</p:attrName>
                                        </p:attrNameLst>
                                      </p:cBhvr>
                                      <p:tavLst>
                                        <p:tav tm="0">
                                          <p:val>
                                            <p:fltVal val="-90"/>
                                          </p:val>
                                        </p:tav>
                                        <p:tav tm="100000">
                                          <p:val>
                                            <p:fltVal val="0"/>
                                          </p:val>
                                        </p:tav>
                                      </p:tavLst>
                                    </p:anim>
                                    <p:anim calcmode="lin" valueType="num">
                                      <p:cBhvr>
                                        <p:cTn id="19" dur="800" decel="100000" fill="hold"/>
                                        <p:tgtEl>
                                          <p:spTgt spid="13"/>
                                        </p:tgtEl>
                                        <p:attrNameLst>
                                          <p:attrName>ppt_x</p:attrName>
                                        </p:attrNameLst>
                                      </p:cBhvr>
                                      <p:tavLst>
                                        <p:tav tm="0">
                                          <p:val>
                                            <p:strVal val="#ppt_x+0.4"/>
                                          </p:val>
                                        </p:tav>
                                        <p:tav tm="100000">
                                          <p:val>
                                            <p:strVal val="#ppt_x-0.05"/>
                                          </p:val>
                                        </p:tav>
                                      </p:tavLst>
                                    </p:anim>
                                    <p:anim calcmode="lin" valueType="num">
                                      <p:cBhvr>
                                        <p:cTn id="20" dur="800" decel="100000" fill="hold"/>
                                        <p:tgtEl>
                                          <p:spTgt spid="13"/>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p:tgtEl>
                                          <p:spTgt spid="20"/>
                                        </p:tgtEl>
                                        <p:attrNameLst>
                                          <p:attrName>ppt_y</p:attrName>
                                        </p:attrNameLst>
                                      </p:cBhvr>
                                      <p:tavLst>
                                        <p:tav tm="0">
                                          <p:val>
                                            <p:strVal val="#ppt_y-#ppt_h*1.125000"/>
                                          </p:val>
                                        </p:tav>
                                        <p:tav tm="100000">
                                          <p:val>
                                            <p:strVal val="#ppt_y"/>
                                          </p:val>
                                        </p:tav>
                                      </p:tavLst>
                                    </p:anim>
                                    <p:animEffect transition="in" filter="wipe(down)">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 calcmode="lin" valueType="num">
                                      <p:cBhvr additive="base">
                                        <p:cTn id="40" dur="500"/>
                                        <p:tgtEl>
                                          <p:spTgt spid="18"/>
                                        </p:tgtEl>
                                        <p:attrNameLst>
                                          <p:attrName>ppt_y</p:attrName>
                                        </p:attrNameLst>
                                      </p:cBhvr>
                                      <p:tavLst>
                                        <p:tav tm="0">
                                          <p:val>
                                            <p:strVal val="#ppt_y-#ppt_h*1.125000"/>
                                          </p:val>
                                        </p:tav>
                                        <p:tav tm="100000">
                                          <p:val>
                                            <p:strVal val="#ppt_y"/>
                                          </p:val>
                                        </p:tav>
                                      </p:tavLst>
                                    </p:anim>
                                    <p:animEffect transition="in" filter="wipe(down)">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1"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additive="base">
                                        <p:cTn id="46" dur="500"/>
                                        <p:tgtEl>
                                          <p:spTgt spid="19"/>
                                        </p:tgtEl>
                                        <p:attrNameLst>
                                          <p:attrName>ppt_y</p:attrName>
                                        </p:attrNameLst>
                                      </p:cBhvr>
                                      <p:tavLst>
                                        <p:tav tm="0">
                                          <p:val>
                                            <p:strVal val="#ppt_y-#ppt_h*1.125000"/>
                                          </p:val>
                                        </p:tav>
                                        <p:tav tm="100000">
                                          <p:val>
                                            <p:strVal val="#ppt_y"/>
                                          </p:val>
                                        </p:tav>
                                      </p:tavLst>
                                    </p:anim>
                                    <p:animEffect transition="in" filter="wipe(down)">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8" grpId="0"/>
      <p:bldP spid="19" grpId="0"/>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latin typeface="+mj-ea"/>
                  <a:ea typeface="+mj-ea"/>
                </a:rPr>
                <a:t>电子邮件的作用</a:t>
              </a:r>
            </a:p>
          </p:txBody>
        </p:sp>
      </p:grpSp>
      <p:sp>
        <p:nvSpPr>
          <p:cNvPr id="22" name="矩形 21">
            <a:extLst>
              <a:ext uri="{FF2B5EF4-FFF2-40B4-BE49-F238E27FC236}">
                <a16:creationId xmlns:a16="http://schemas.microsoft.com/office/drawing/2014/main" id="{F6643F61-C9C7-ED79-DC38-55A6E2B8C617}"/>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5448EC53-9AAE-E668-6C66-430927F55A00}"/>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电子邮件</a:t>
            </a:r>
            <a:r>
              <a:rPr lang="en-US" altLang="zh-CN" b="1" dirty="0"/>
              <a:t>E-mail</a:t>
            </a:r>
            <a:r>
              <a:rPr lang="zh-CN" altLang="en-US" b="1" dirty="0"/>
              <a:t>是因特网上</a:t>
            </a:r>
            <a:r>
              <a:rPr lang="zh-CN" altLang="en-US" b="1" dirty="0">
                <a:solidFill>
                  <a:schemeClr val="accent1">
                    <a:lumMod val="75000"/>
                  </a:schemeClr>
                </a:solidFill>
              </a:rPr>
              <a:t>最早流行的一种应用</a:t>
            </a:r>
            <a:r>
              <a:rPr lang="zh-CN" altLang="en-US" b="1" dirty="0"/>
              <a:t>，并且仍然是当今因特网上最重要、最实用的应用之一。</a:t>
            </a:r>
            <a:endParaRPr lang="en-US" altLang="zh-CN" b="1" dirty="0">
              <a:solidFill>
                <a:srgbClr val="C00000"/>
              </a:solidFill>
            </a:endParaRPr>
          </a:p>
        </p:txBody>
      </p:sp>
      <p:sp>
        <p:nvSpPr>
          <p:cNvPr id="24" name="矩形 23">
            <a:extLst>
              <a:ext uri="{FF2B5EF4-FFF2-40B4-BE49-F238E27FC236}">
                <a16:creationId xmlns:a16="http://schemas.microsoft.com/office/drawing/2014/main" id="{DA136842-259E-B418-CE49-4576E55E03B1}"/>
              </a:ext>
            </a:extLst>
          </p:cNvPr>
          <p:cNvSpPr/>
          <p:nvPr/>
        </p:nvSpPr>
        <p:spPr>
          <a:xfrm>
            <a:off x="1016000" y="173501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34502666-444D-3AD6-BDAB-D7C1FC92B499}"/>
              </a:ext>
            </a:extLst>
          </p:cNvPr>
          <p:cNvSpPr txBox="1"/>
          <p:nvPr/>
        </p:nvSpPr>
        <p:spPr>
          <a:xfrm>
            <a:off x="1293757" y="1653954"/>
            <a:ext cx="10593443" cy="400110"/>
          </a:xfrm>
          <a:prstGeom prst="rect">
            <a:avLst/>
          </a:prstGeom>
          <a:noFill/>
        </p:spPr>
        <p:txBody>
          <a:bodyPr wrap="square" lIns="91440" tIns="45720" rIns="91440" bIns="45720" anchor="ctr">
            <a:noAutofit/>
          </a:bodyPr>
          <a:lstStyle/>
          <a:p>
            <a:r>
              <a:rPr lang="zh-CN" altLang="en-US" b="1" dirty="0"/>
              <a:t>传统的电话通信属于实时通信，存在以下两个缺点：</a:t>
            </a:r>
            <a:endParaRPr lang="en-US" altLang="zh-CN" b="1" dirty="0"/>
          </a:p>
        </p:txBody>
      </p:sp>
      <p:sp>
        <p:nvSpPr>
          <p:cNvPr id="26" name="矩形 25">
            <a:extLst>
              <a:ext uri="{FF2B5EF4-FFF2-40B4-BE49-F238E27FC236}">
                <a16:creationId xmlns:a16="http://schemas.microsoft.com/office/drawing/2014/main" id="{8D7331DE-FA4E-9589-5766-C8DFE58EB523}"/>
              </a:ext>
            </a:extLst>
          </p:cNvPr>
          <p:cNvSpPr/>
          <p:nvPr/>
        </p:nvSpPr>
        <p:spPr>
          <a:xfrm>
            <a:off x="1403723" y="219683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65C35A-35EA-A6A4-0B7D-109F2215E5C3}"/>
              </a:ext>
            </a:extLst>
          </p:cNvPr>
          <p:cNvSpPr txBox="1"/>
          <p:nvPr/>
        </p:nvSpPr>
        <p:spPr>
          <a:xfrm>
            <a:off x="1681481" y="2115776"/>
            <a:ext cx="10205720" cy="400110"/>
          </a:xfrm>
          <a:prstGeom prst="rect">
            <a:avLst/>
          </a:prstGeom>
          <a:noFill/>
        </p:spPr>
        <p:txBody>
          <a:bodyPr wrap="square" lIns="91440" tIns="45720" rIns="91440" bIns="45720" anchor="ctr">
            <a:noAutofit/>
          </a:bodyPr>
          <a:lstStyle/>
          <a:p>
            <a:r>
              <a:rPr lang="zh-CN" altLang="en-US" b="1" dirty="0"/>
              <a:t>电话通信的主叫和被叫双方必须同时在场；</a:t>
            </a:r>
            <a:endParaRPr lang="en-US" altLang="zh-CN" b="1" dirty="0"/>
          </a:p>
        </p:txBody>
      </p:sp>
      <p:sp>
        <p:nvSpPr>
          <p:cNvPr id="28" name="矩形 27">
            <a:extLst>
              <a:ext uri="{FF2B5EF4-FFF2-40B4-BE49-F238E27FC236}">
                <a16:creationId xmlns:a16="http://schemas.microsoft.com/office/drawing/2014/main" id="{EA2AC9CE-AB39-A33C-9C39-CAD15190C4BF}"/>
              </a:ext>
            </a:extLst>
          </p:cNvPr>
          <p:cNvSpPr/>
          <p:nvPr/>
        </p:nvSpPr>
        <p:spPr>
          <a:xfrm>
            <a:off x="1403723" y="2658660"/>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B141B6A0-9C23-83C6-21C1-823F019D85E7}"/>
              </a:ext>
            </a:extLst>
          </p:cNvPr>
          <p:cNvSpPr txBox="1"/>
          <p:nvPr/>
        </p:nvSpPr>
        <p:spPr>
          <a:xfrm>
            <a:off x="1681481" y="2577598"/>
            <a:ext cx="10205720" cy="400110"/>
          </a:xfrm>
          <a:prstGeom prst="rect">
            <a:avLst/>
          </a:prstGeom>
          <a:noFill/>
        </p:spPr>
        <p:txBody>
          <a:bodyPr wrap="square" lIns="91440" tIns="45720" rIns="91440" bIns="45720" anchor="ctr">
            <a:noAutofit/>
          </a:bodyPr>
          <a:lstStyle/>
          <a:p>
            <a:r>
              <a:rPr lang="zh-CN" altLang="en-US" b="1" dirty="0"/>
              <a:t>一些不是十分紧迫的电话也常常不必要地打断人们的工作或休息。</a:t>
            </a:r>
            <a:endParaRPr lang="en-US" altLang="zh-CN" b="1" dirty="0"/>
          </a:p>
        </p:txBody>
      </p:sp>
      <p:sp>
        <p:nvSpPr>
          <p:cNvPr id="30" name="矩形 29">
            <a:extLst>
              <a:ext uri="{FF2B5EF4-FFF2-40B4-BE49-F238E27FC236}">
                <a16:creationId xmlns:a16="http://schemas.microsoft.com/office/drawing/2014/main" id="{F505319F-7983-5856-B1BE-1FFACF3774EB}"/>
              </a:ext>
            </a:extLst>
          </p:cNvPr>
          <p:cNvSpPr/>
          <p:nvPr/>
        </p:nvSpPr>
        <p:spPr>
          <a:xfrm>
            <a:off x="1016000" y="3101472"/>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íşlïḍè">
            <a:extLst>
              <a:ext uri="{FF2B5EF4-FFF2-40B4-BE49-F238E27FC236}">
                <a16:creationId xmlns:a16="http://schemas.microsoft.com/office/drawing/2014/main" id="{70EEDE4B-3DC3-8BFD-A3AE-127ED12AE381}"/>
              </a:ext>
            </a:extLst>
          </p:cNvPr>
          <p:cNvSpPr txBox="1"/>
          <p:nvPr/>
        </p:nvSpPr>
        <p:spPr>
          <a:xfrm>
            <a:off x="1293757" y="3020410"/>
            <a:ext cx="10593443" cy="400110"/>
          </a:xfrm>
          <a:prstGeom prst="rect">
            <a:avLst/>
          </a:prstGeom>
          <a:noFill/>
        </p:spPr>
        <p:txBody>
          <a:bodyPr wrap="square" lIns="91440" tIns="45720" rIns="91440" bIns="45720" anchor="ctr">
            <a:noAutofit/>
          </a:bodyPr>
          <a:lstStyle/>
          <a:p>
            <a:r>
              <a:rPr lang="zh-CN" altLang="en-US" b="1" dirty="0"/>
              <a:t>而电子邮件与邮政系统的寄信相似。</a:t>
            </a:r>
            <a:endParaRPr lang="en-US" altLang="zh-CN" b="1" dirty="0">
              <a:solidFill>
                <a:srgbClr val="C00000"/>
              </a:solidFill>
            </a:endParaRPr>
          </a:p>
        </p:txBody>
      </p:sp>
      <p:sp>
        <p:nvSpPr>
          <p:cNvPr id="33" name="íşlïḍè">
            <a:extLst>
              <a:ext uri="{FF2B5EF4-FFF2-40B4-BE49-F238E27FC236}">
                <a16:creationId xmlns:a16="http://schemas.microsoft.com/office/drawing/2014/main" id="{B1EF500F-1257-5E4B-5BA0-16A73280955F}"/>
              </a:ext>
            </a:extLst>
          </p:cNvPr>
          <p:cNvSpPr txBox="1"/>
          <p:nvPr/>
        </p:nvSpPr>
        <p:spPr>
          <a:xfrm>
            <a:off x="1681481" y="3538742"/>
            <a:ext cx="10205720" cy="400110"/>
          </a:xfrm>
          <a:prstGeom prst="rect">
            <a:avLst/>
          </a:prstGeom>
          <a:noFill/>
        </p:spPr>
        <p:txBody>
          <a:bodyPr wrap="square" lIns="91440" tIns="45720" rIns="91440" bIns="45720" anchor="ctr">
            <a:noAutofit/>
          </a:bodyPr>
          <a:lstStyle/>
          <a:p>
            <a:r>
              <a:rPr lang="zh-CN" altLang="en-US" b="1" dirty="0"/>
              <a:t>发件人将邮件发送到自己使用的</a:t>
            </a:r>
            <a:r>
              <a:rPr lang="zh-CN" altLang="en-US" b="1" dirty="0">
                <a:solidFill>
                  <a:schemeClr val="accent1">
                    <a:lumMod val="75000"/>
                  </a:schemeClr>
                </a:solidFill>
              </a:rPr>
              <a:t>邮件服务器</a:t>
            </a:r>
            <a:r>
              <a:rPr lang="zh-CN" altLang="en-US" b="1" dirty="0"/>
              <a:t>；</a:t>
            </a:r>
            <a:endParaRPr lang="en-US" altLang="zh-CN" b="1" dirty="0"/>
          </a:p>
        </p:txBody>
      </p:sp>
      <p:sp>
        <p:nvSpPr>
          <p:cNvPr id="34" name="文本框 33">
            <a:extLst>
              <a:ext uri="{FF2B5EF4-FFF2-40B4-BE49-F238E27FC236}">
                <a16:creationId xmlns:a16="http://schemas.microsoft.com/office/drawing/2014/main" id="{CF5D8E61-C5B0-7138-0F15-EA02451C1E97}"/>
              </a:ext>
            </a:extLst>
          </p:cNvPr>
          <p:cNvSpPr txBox="1"/>
          <p:nvPr/>
        </p:nvSpPr>
        <p:spPr>
          <a:xfrm>
            <a:off x="1344706" y="3555712"/>
            <a:ext cx="510988" cy="369332"/>
          </a:xfrm>
          <a:prstGeom prst="rect">
            <a:avLst/>
          </a:prstGeom>
          <a:noFill/>
        </p:spPr>
        <p:txBody>
          <a:bodyPr wrap="square" rtlCol="0">
            <a:spAutoFit/>
          </a:bodyPr>
          <a:lstStyle/>
          <a:p>
            <a:r>
              <a:rPr lang="zh-CN" altLang="en-US" dirty="0"/>
              <a:t>❶</a:t>
            </a:r>
          </a:p>
        </p:txBody>
      </p:sp>
      <p:sp>
        <p:nvSpPr>
          <p:cNvPr id="35" name="íşlïḍè">
            <a:extLst>
              <a:ext uri="{FF2B5EF4-FFF2-40B4-BE49-F238E27FC236}">
                <a16:creationId xmlns:a16="http://schemas.microsoft.com/office/drawing/2014/main" id="{3BA9E807-4AE5-55C1-A0EB-D0813636B290}"/>
              </a:ext>
            </a:extLst>
          </p:cNvPr>
          <p:cNvSpPr txBox="1"/>
          <p:nvPr/>
        </p:nvSpPr>
        <p:spPr>
          <a:xfrm>
            <a:off x="1681481" y="3986756"/>
            <a:ext cx="10205720" cy="400110"/>
          </a:xfrm>
          <a:prstGeom prst="rect">
            <a:avLst/>
          </a:prstGeom>
          <a:noFill/>
        </p:spPr>
        <p:txBody>
          <a:bodyPr wrap="square" lIns="91440" tIns="45720" rIns="91440" bIns="45720" anchor="ctr">
            <a:noAutofit/>
          </a:bodyPr>
          <a:lstStyle/>
          <a:p>
            <a:r>
              <a:rPr lang="zh-CN" altLang="en-US" b="1" dirty="0"/>
              <a:t>发件人的邮件服务器将收到的邮件按其目的地址转发到收件人邮件服务器中的收件人邮箱；</a:t>
            </a:r>
            <a:endParaRPr lang="en-US" altLang="zh-CN" b="1" dirty="0"/>
          </a:p>
        </p:txBody>
      </p:sp>
      <p:sp>
        <p:nvSpPr>
          <p:cNvPr id="36" name="文本框 35">
            <a:extLst>
              <a:ext uri="{FF2B5EF4-FFF2-40B4-BE49-F238E27FC236}">
                <a16:creationId xmlns:a16="http://schemas.microsoft.com/office/drawing/2014/main" id="{F338C143-8BAF-D090-0C3D-DFEDD7B2734D}"/>
              </a:ext>
            </a:extLst>
          </p:cNvPr>
          <p:cNvSpPr txBox="1"/>
          <p:nvPr/>
        </p:nvSpPr>
        <p:spPr>
          <a:xfrm>
            <a:off x="1344706" y="4003726"/>
            <a:ext cx="510988" cy="369332"/>
          </a:xfrm>
          <a:prstGeom prst="rect">
            <a:avLst/>
          </a:prstGeom>
          <a:noFill/>
        </p:spPr>
        <p:txBody>
          <a:bodyPr wrap="square" rtlCol="0">
            <a:spAutoFit/>
          </a:bodyPr>
          <a:lstStyle/>
          <a:p>
            <a:r>
              <a:rPr lang="zh-CN" altLang="en-US" dirty="0"/>
              <a:t>❷</a:t>
            </a:r>
          </a:p>
        </p:txBody>
      </p:sp>
      <p:sp>
        <p:nvSpPr>
          <p:cNvPr id="37" name="íşlïḍè">
            <a:extLst>
              <a:ext uri="{FF2B5EF4-FFF2-40B4-BE49-F238E27FC236}">
                <a16:creationId xmlns:a16="http://schemas.microsoft.com/office/drawing/2014/main" id="{744035E2-E1AC-61DF-7F88-50564AA758DD}"/>
              </a:ext>
            </a:extLst>
          </p:cNvPr>
          <p:cNvSpPr txBox="1"/>
          <p:nvPr/>
        </p:nvSpPr>
        <p:spPr>
          <a:xfrm>
            <a:off x="1681481" y="4465548"/>
            <a:ext cx="10205720" cy="400110"/>
          </a:xfrm>
          <a:prstGeom prst="rect">
            <a:avLst/>
          </a:prstGeom>
          <a:noFill/>
        </p:spPr>
        <p:txBody>
          <a:bodyPr wrap="square" lIns="91440" tIns="45720" rIns="91440" bIns="45720" anchor="ctr">
            <a:noAutofit/>
          </a:bodyPr>
          <a:lstStyle/>
          <a:p>
            <a:r>
              <a:rPr lang="zh-CN" altLang="en-US" b="1" dirty="0"/>
              <a:t>收件人在方便的时候访问收件人邮件服务器中自己的邮箱，获取收到的电子邮件。</a:t>
            </a:r>
            <a:endParaRPr lang="en-US" altLang="zh-CN" b="1" dirty="0"/>
          </a:p>
        </p:txBody>
      </p:sp>
      <p:sp>
        <p:nvSpPr>
          <p:cNvPr id="38" name="文本框 37">
            <a:extLst>
              <a:ext uri="{FF2B5EF4-FFF2-40B4-BE49-F238E27FC236}">
                <a16:creationId xmlns:a16="http://schemas.microsoft.com/office/drawing/2014/main" id="{411C06F4-80FC-36A1-67F6-56E1FEF9CADC}"/>
              </a:ext>
            </a:extLst>
          </p:cNvPr>
          <p:cNvSpPr txBox="1"/>
          <p:nvPr/>
        </p:nvSpPr>
        <p:spPr>
          <a:xfrm>
            <a:off x="1344706" y="4482518"/>
            <a:ext cx="510988" cy="369332"/>
          </a:xfrm>
          <a:prstGeom prst="rect">
            <a:avLst/>
          </a:prstGeom>
          <a:noFill/>
        </p:spPr>
        <p:txBody>
          <a:bodyPr wrap="square" rtlCol="0">
            <a:spAutoFit/>
          </a:bodyPr>
          <a:lstStyle/>
          <a:p>
            <a:r>
              <a:rPr lang="zh-CN" altLang="en-US" dirty="0"/>
              <a:t>❸</a:t>
            </a:r>
          </a:p>
        </p:txBody>
      </p:sp>
      <p:sp>
        <p:nvSpPr>
          <p:cNvPr id="39" name="矩形 38">
            <a:extLst>
              <a:ext uri="{FF2B5EF4-FFF2-40B4-BE49-F238E27FC236}">
                <a16:creationId xmlns:a16="http://schemas.microsoft.com/office/drawing/2014/main" id="{EC3ED4A7-BBEE-CD38-B8E0-7ABE8B1CC6B6}"/>
              </a:ext>
            </a:extLst>
          </p:cNvPr>
          <p:cNvSpPr/>
          <p:nvPr/>
        </p:nvSpPr>
        <p:spPr>
          <a:xfrm>
            <a:off x="1016000" y="4974149"/>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íşlïḍè">
            <a:extLst>
              <a:ext uri="{FF2B5EF4-FFF2-40B4-BE49-F238E27FC236}">
                <a16:creationId xmlns:a16="http://schemas.microsoft.com/office/drawing/2014/main" id="{617CD0A8-D805-E1F3-43F5-AB3951EB7653}"/>
              </a:ext>
            </a:extLst>
          </p:cNvPr>
          <p:cNvSpPr txBox="1"/>
          <p:nvPr/>
        </p:nvSpPr>
        <p:spPr>
          <a:xfrm>
            <a:off x="1293757" y="4893087"/>
            <a:ext cx="10593443" cy="400110"/>
          </a:xfrm>
          <a:prstGeom prst="rect">
            <a:avLst/>
          </a:prstGeom>
          <a:noFill/>
        </p:spPr>
        <p:txBody>
          <a:bodyPr wrap="square" lIns="91440" tIns="45720" rIns="91440" bIns="45720" anchor="ctr">
            <a:noAutofit/>
          </a:bodyPr>
          <a:lstStyle/>
          <a:p>
            <a:r>
              <a:rPr lang="zh-CN" altLang="en-US" b="1" dirty="0"/>
              <a:t>电子邮件使用方便、传递迅速而且费用低廉。它不仅可以传送文字信息，而且还可附上声音和图像。</a:t>
            </a:r>
            <a:endParaRPr lang="en-US" altLang="zh-CN" b="1" dirty="0"/>
          </a:p>
        </p:txBody>
      </p:sp>
      <p:sp>
        <p:nvSpPr>
          <p:cNvPr id="41" name="矩形 40">
            <a:extLst>
              <a:ext uri="{FF2B5EF4-FFF2-40B4-BE49-F238E27FC236}">
                <a16:creationId xmlns:a16="http://schemas.microsoft.com/office/drawing/2014/main" id="{0169EA07-6FFE-75B4-B4E3-7B0C52AC93B8}"/>
              </a:ext>
            </a:extLst>
          </p:cNvPr>
          <p:cNvSpPr/>
          <p:nvPr/>
        </p:nvSpPr>
        <p:spPr>
          <a:xfrm>
            <a:off x="1016000" y="551465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íşlïḍè">
            <a:extLst>
              <a:ext uri="{FF2B5EF4-FFF2-40B4-BE49-F238E27FC236}">
                <a16:creationId xmlns:a16="http://schemas.microsoft.com/office/drawing/2014/main" id="{CF241FF0-66DB-65DE-EBD0-DD130746DD37}"/>
              </a:ext>
            </a:extLst>
          </p:cNvPr>
          <p:cNvSpPr txBox="1"/>
          <p:nvPr/>
        </p:nvSpPr>
        <p:spPr>
          <a:xfrm>
            <a:off x="1293757" y="5433590"/>
            <a:ext cx="10593443" cy="675109"/>
          </a:xfrm>
          <a:prstGeom prst="rect">
            <a:avLst/>
          </a:prstGeom>
          <a:noFill/>
        </p:spPr>
        <p:txBody>
          <a:bodyPr wrap="square" lIns="91440" tIns="45720" rIns="91440" bIns="45720" anchor="ctr">
            <a:noAutofit/>
          </a:bodyPr>
          <a:lstStyle/>
          <a:p>
            <a:r>
              <a:rPr lang="zh-CN" altLang="en-US" b="1" dirty="0"/>
              <a:t>由于电子邮件的广泛使用，现在许多国家已经正式取消了电报业务。在我国，</a:t>
            </a:r>
            <a:r>
              <a:rPr lang="zh-CN" altLang="en-US" b="1" dirty="0">
                <a:solidFill>
                  <a:schemeClr val="accent1">
                    <a:lumMod val="75000"/>
                  </a:schemeClr>
                </a:solidFill>
              </a:rPr>
              <a:t>电信局的电报业务也因电子邮件的普及而濒临消失</a:t>
            </a:r>
            <a:r>
              <a:rPr lang="zh-CN" altLang="en-US" b="1" dirty="0"/>
              <a:t>。</a:t>
            </a:r>
          </a:p>
        </p:txBody>
      </p:sp>
    </p:spTree>
    <p:custDataLst>
      <p:tags r:id="rId1"/>
    </p:custDataLst>
    <p:extLst>
      <p:ext uri="{BB962C8B-B14F-4D97-AF65-F5344CB8AC3E}">
        <p14:creationId xmlns:p14="http://schemas.microsoft.com/office/powerpoint/2010/main" val="208237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p:cTn id="24" dur="500" fill="hold"/>
                                        <p:tgtEl>
                                          <p:spTgt spid="24"/>
                                        </p:tgtEl>
                                        <p:attrNameLst>
                                          <p:attrName>ppt_w</p:attrName>
                                        </p:attrNameLst>
                                      </p:cBhvr>
                                      <p:tavLst>
                                        <p:tav tm="0">
                                          <p:val>
                                            <p:fltVal val="0"/>
                                          </p:val>
                                        </p:tav>
                                        <p:tav tm="100000">
                                          <p:val>
                                            <p:strVal val="#ppt_w"/>
                                          </p:val>
                                        </p:tav>
                                      </p:tavLst>
                                    </p:anim>
                                    <p:anim calcmode="lin" valueType="num">
                                      <p:cBhvr>
                                        <p:cTn id="25" dur="500" fill="hold"/>
                                        <p:tgtEl>
                                          <p:spTgt spid="24"/>
                                        </p:tgtEl>
                                        <p:attrNameLst>
                                          <p:attrName>ppt_h</p:attrName>
                                        </p:attrNameLst>
                                      </p:cBhvr>
                                      <p:tavLst>
                                        <p:tav tm="0">
                                          <p:val>
                                            <p:fltVal val="0"/>
                                          </p:val>
                                        </p:tav>
                                        <p:tav tm="100000">
                                          <p:val>
                                            <p:strVal val="#ppt_h"/>
                                          </p:val>
                                        </p:tav>
                                      </p:tavLst>
                                    </p:anim>
                                    <p:anim calcmode="lin" valueType="num">
                                      <p:cBhvr>
                                        <p:cTn id="26" dur="500" fill="hold"/>
                                        <p:tgtEl>
                                          <p:spTgt spid="24"/>
                                        </p:tgtEl>
                                        <p:attrNameLst>
                                          <p:attrName>style.rotation</p:attrName>
                                        </p:attrNameLst>
                                      </p:cBhvr>
                                      <p:tavLst>
                                        <p:tav tm="0">
                                          <p:val>
                                            <p:fltVal val="360"/>
                                          </p:val>
                                        </p:tav>
                                        <p:tav tm="100000">
                                          <p:val>
                                            <p:fltVal val="0"/>
                                          </p:val>
                                        </p:tav>
                                      </p:tavLst>
                                    </p:anim>
                                    <p:animEffect transition="in" filter="fade">
                                      <p:cBhvr>
                                        <p:cTn id="27" dur="500"/>
                                        <p:tgtEl>
                                          <p:spTgt spid="24"/>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500" fill="hold"/>
                                        <p:tgtEl>
                                          <p:spTgt spid="26"/>
                                        </p:tgtEl>
                                        <p:attrNameLst>
                                          <p:attrName>ppt_w</p:attrName>
                                        </p:attrNameLst>
                                      </p:cBhvr>
                                      <p:tavLst>
                                        <p:tav tm="0">
                                          <p:val>
                                            <p:fltVal val="0"/>
                                          </p:val>
                                        </p:tav>
                                        <p:tav tm="100000">
                                          <p:val>
                                            <p:strVal val="#ppt_w"/>
                                          </p:val>
                                        </p:tav>
                                      </p:tavLst>
                                    </p:anim>
                                    <p:anim calcmode="lin" valueType="num">
                                      <p:cBhvr>
                                        <p:cTn id="36" dur="500" fill="hold"/>
                                        <p:tgtEl>
                                          <p:spTgt spid="26"/>
                                        </p:tgtEl>
                                        <p:attrNameLst>
                                          <p:attrName>ppt_h</p:attrName>
                                        </p:attrNameLst>
                                      </p:cBhvr>
                                      <p:tavLst>
                                        <p:tav tm="0">
                                          <p:val>
                                            <p:fltVal val="0"/>
                                          </p:val>
                                        </p:tav>
                                        <p:tav tm="100000">
                                          <p:val>
                                            <p:strVal val="#ppt_h"/>
                                          </p:val>
                                        </p:tav>
                                      </p:tavLst>
                                    </p:anim>
                                    <p:anim calcmode="lin" valueType="num">
                                      <p:cBhvr>
                                        <p:cTn id="37" dur="500" fill="hold"/>
                                        <p:tgtEl>
                                          <p:spTgt spid="26"/>
                                        </p:tgtEl>
                                        <p:attrNameLst>
                                          <p:attrName>style.rotation</p:attrName>
                                        </p:attrNameLst>
                                      </p:cBhvr>
                                      <p:tavLst>
                                        <p:tav tm="0">
                                          <p:val>
                                            <p:fltVal val="360"/>
                                          </p:val>
                                        </p:tav>
                                        <p:tav tm="100000">
                                          <p:val>
                                            <p:fltVal val="0"/>
                                          </p:val>
                                        </p:tav>
                                      </p:tavLst>
                                    </p:anim>
                                    <p:animEffect transition="in" filter="fade">
                                      <p:cBhvr>
                                        <p:cTn id="38" dur="500"/>
                                        <p:tgtEl>
                                          <p:spTgt spid="26"/>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9" presetClass="entr" presetSubtype="0" decel="100000" fill="hold" grpId="0" nodeType="click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 calcmode="lin" valueType="num">
                                      <p:cBhvr>
                                        <p:cTn id="48" dur="500" fill="hold"/>
                                        <p:tgtEl>
                                          <p:spTgt spid="28"/>
                                        </p:tgtEl>
                                        <p:attrNameLst>
                                          <p:attrName>style.rotation</p:attrName>
                                        </p:attrNameLst>
                                      </p:cBhvr>
                                      <p:tavLst>
                                        <p:tav tm="0">
                                          <p:val>
                                            <p:fltVal val="360"/>
                                          </p:val>
                                        </p:tav>
                                        <p:tav tm="100000">
                                          <p:val>
                                            <p:fltVal val="0"/>
                                          </p:val>
                                        </p:tav>
                                      </p:tavLst>
                                    </p:anim>
                                    <p:animEffect transition="in" filter="fade">
                                      <p:cBhvr>
                                        <p:cTn id="49" dur="500"/>
                                        <p:tgtEl>
                                          <p:spTgt spid="28"/>
                                        </p:tgtEl>
                                      </p:cBhvr>
                                    </p:animEffect>
                                  </p:childTnLst>
                                </p:cTn>
                              </p:par>
                            </p:childTnLst>
                          </p:cTn>
                        </p:par>
                        <p:par>
                          <p:cTn id="50" fill="hold">
                            <p:stCondLst>
                              <p:cond delay="500"/>
                            </p:stCondLst>
                            <p:childTnLst>
                              <p:par>
                                <p:cTn id="51" presetID="1" presetClass="entr" presetSubtype="0" fill="hold" grpId="0" nodeType="afterEffect">
                                  <p:stCondLst>
                                    <p:cond delay="0"/>
                                  </p:stCondLst>
                                  <p:iterate type="lt">
                                    <p:tmAbs val="100"/>
                                  </p:iterate>
                                  <p:childTnLst>
                                    <p:set>
                                      <p:cBhvr>
                                        <p:cTn id="52" dur="1" fill="hold">
                                          <p:stCondLst>
                                            <p:cond delay="0"/>
                                          </p:stCondLst>
                                        </p:cTn>
                                        <p:tgtEl>
                                          <p:spTgt spid="2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49" presetClass="entr" presetSubtype="0" decel="10000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 calcmode="lin" valueType="num">
                                      <p:cBhvr>
                                        <p:cTn id="59" dur="500" fill="hold"/>
                                        <p:tgtEl>
                                          <p:spTgt spid="30"/>
                                        </p:tgtEl>
                                        <p:attrNameLst>
                                          <p:attrName>style.rotation</p:attrName>
                                        </p:attrNameLst>
                                      </p:cBhvr>
                                      <p:tavLst>
                                        <p:tav tm="0">
                                          <p:val>
                                            <p:fltVal val="360"/>
                                          </p:val>
                                        </p:tav>
                                        <p:tav tm="100000">
                                          <p:val>
                                            <p:fltVal val="0"/>
                                          </p:val>
                                        </p:tav>
                                      </p:tavLst>
                                    </p:anim>
                                    <p:animEffect transition="in" filter="fade">
                                      <p:cBhvr>
                                        <p:cTn id="60" dur="500"/>
                                        <p:tgtEl>
                                          <p:spTgt spid="30"/>
                                        </p:tgtEl>
                                      </p:cBhvr>
                                    </p:animEffect>
                                  </p:childTnLst>
                                </p:cTn>
                              </p:par>
                            </p:childTnLst>
                          </p:cTn>
                        </p:par>
                        <p:par>
                          <p:cTn id="61" fill="hold">
                            <p:stCondLst>
                              <p:cond delay="500"/>
                            </p:stCondLst>
                            <p:childTnLst>
                              <p:par>
                                <p:cTn id="62" presetID="1" presetClass="entr" presetSubtype="0" fill="hold" grpId="0" nodeType="afterEffect">
                                  <p:stCondLst>
                                    <p:cond delay="0"/>
                                  </p:stCondLst>
                                  <p:iterate type="lt">
                                    <p:tmAbs val="100"/>
                                  </p:iterate>
                                  <p:childTnLst>
                                    <p:set>
                                      <p:cBhvr>
                                        <p:cTn id="63" dur="1" fill="hold">
                                          <p:stCondLst>
                                            <p:cond delay="0"/>
                                          </p:stCondLst>
                                        </p:cTn>
                                        <p:tgtEl>
                                          <p:spTgt spid="31"/>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49" presetClass="entr" presetSubtype="0" decel="10000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anim calcmode="lin" valueType="num">
                                      <p:cBhvr>
                                        <p:cTn id="68" dur="500" fill="hold"/>
                                        <p:tgtEl>
                                          <p:spTgt spid="34"/>
                                        </p:tgtEl>
                                        <p:attrNameLst>
                                          <p:attrName>ppt_w</p:attrName>
                                        </p:attrNameLst>
                                      </p:cBhvr>
                                      <p:tavLst>
                                        <p:tav tm="0">
                                          <p:val>
                                            <p:fltVal val="0"/>
                                          </p:val>
                                        </p:tav>
                                        <p:tav tm="100000">
                                          <p:val>
                                            <p:strVal val="#ppt_w"/>
                                          </p:val>
                                        </p:tav>
                                      </p:tavLst>
                                    </p:anim>
                                    <p:anim calcmode="lin" valueType="num">
                                      <p:cBhvr>
                                        <p:cTn id="69" dur="500" fill="hold"/>
                                        <p:tgtEl>
                                          <p:spTgt spid="34"/>
                                        </p:tgtEl>
                                        <p:attrNameLst>
                                          <p:attrName>ppt_h</p:attrName>
                                        </p:attrNameLst>
                                      </p:cBhvr>
                                      <p:tavLst>
                                        <p:tav tm="0">
                                          <p:val>
                                            <p:fltVal val="0"/>
                                          </p:val>
                                        </p:tav>
                                        <p:tav tm="100000">
                                          <p:val>
                                            <p:strVal val="#ppt_h"/>
                                          </p:val>
                                        </p:tav>
                                      </p:tavLst>
                                    </p:anim>
                                    <p:anim calcmode="lin" valueType="num">
                                      <p:cBhvr>
                                        <p:cTn id="70" dur="500" fill="hold"/>
                                        <p:tgtEl>
                                          <p:spTgt spid="34"/>
                                        </p:tgtEl>
                                        <p:attrNameLst>
                                          <p:attrName>style.rotation</p:attrName>
                                        </p:attrNameLst>
                                      </p:cBhvr>
                                      <p:tavLst>
                                        <p:tav tm="0">
                                          <p:val>
                                            <p:fltVal val="360"/>
                                          </p:val>
                                        </p:tav>
                                        <p:tav tm="100000">
                                          <p:val>
                                            <p:fltVal val="0"/>
                                          </p:val>
                                        </p:tav>
                                      </p:tavLst>
                                    </p:anim>
                                    <p:animEffect transition="in" filter="fade">
                                      <p:cBhvr>
                                        <p:cTn id="71" dur="500"/>
                                        <p:tgtEl>
                                          <p:spTgt spid="34"/>
                                        </p:tgtEl>
                                      </p:cBhvr>
                                    </p:animEffect>
                                  </p:childTnLst>
                                </p:cTn>
                              </p:par>
                            </p:childTnLst>
                          </p:cTn>
                        </p:par>
                        <p:par>
                          <p:cTn id="72" fill="hold">
                            <p:stCondLst>
                              <p:cond delay="500"/>
                            </p:stCondLst>
                            <p:childTnLst>
                              <p:par>
                                <p:cTn id="73" presetID="1" presetClass="entr" presetSubtype="0" fill="hold" grpId="0" nodeType="afterEffect">
                                  <p:stCondLst>
                                    <p:cond delay="0"/>
                                  </p:stCondLst>
                                  <p:iterate type="lt">
                                    <p:tmAbs val="100"/>
                                  </p:iterate>
                                  <p:childTnLst>
                                    <p:set>
                                      <p:cBhvr>
                                        <p:cTn id="74" dur="1" fill="hold">
                                          <p:stCondLst>
                                            <p:cond delay="0"/>
                                          </p:stCondLst>
                                        </p:cTn>
                                        <p:tgtEl>
                                          <p:spTgt spid="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9" presetClass="entr" presetSubtype="0" decel="100000" fill="hold" grpId="0" nodeType="clickEffect">
                                  <p:stCondLst>
                                    <p:cond delay="0"/>
                                  </p:stCondLst>
                                  <p:childTnLst>
                                    <p:set>
                                      <p:cBhvr>
                                        <p:cTn id="78" dur="1" fill="hold">
                                          <p:stCondLst>
                                            <p:cond delay="0"/>
                                          </p:stCondLst>
                                        </p:cTn>
                                        <p:tgtEl>
                                          <p:spTgt spid="36"/>
                                        </p:tgtEl>
                                        <p:attrNameLst>
                                          <p:attrName>style.visibility</p:attrName>
                                        </p:attrNameLst>
                                      </p:cBhvr>
                                      <p:to>
                                        <p:strVal val="visible"/>
                                      </p:to>
                                    </p:set>
                                    <p:anim calcmode="lin" valueType="num">
                                      <p:cBhvr>
                                        <p:cTn id="79" dur="500" fill="hold"/>
                                        <p:tgtEl>
                                          <p:spTgt spid="36"/>
                                        </p:tgtEl>
                                        <p:attrNameLst>
                                          <p:attrName>ppt_w</p:attrName>
                                        </p:attrNameLst>
                                      </p:cBhvr>
                                      <p:tavLst>
                                        <p:tav tm="0">
                                          <p:val>
                                            <p:fltVal val="0"/>
                                          </p:val>
                                        </p:tav>
                                        <p:tav tm="100000">
                                          <p:val>
                                            <p:strVal val="#ppt_w"/>
                                          </p:val>
                                        </p:tav>
                                      </p:tavLst>
                                    </p:anim>
                                    <p:anim calcmode="lin" valueType="num">
                                      <p:cBhvr>
                                        <p:cTn id="80" dur="500" fill="hold"/>
                                        <p:tgtEl>
                                          <p:spTgt spid="36"/>
                                        </p:tgtEl>
                                        <p:attrNameLst>
                                          <p:attrName>ppt_h</p:attrName>
                                        </p:attrNameLst>
                                      </p:cBhvr>
                                      <p:tavLst>
                                        <p:tav tm="0">
                                          <p:val>
                                            <p:fltVal val="0"/>
                                          </p:val>
                                        </p:tav>
                                        <p:tav tm="100000">
                                          <p:val>
                                            <p:strVal val="#ppt_h"/>
                                          </p:val>
                                        </p:tav>
                                      </p:tavLst>
                                    </p:anim>
                                    <p:anim calcmode="lin" valueType="num">
                                      <p:cBhvr>
                                        <p:cTn id="81" dur="500" fill="hold"/>
                                        <p:tgtEl>
                                          <p:spTgt spid="36"/>
                                        </p:tgtEl>
                                        <p:attrNameLst>
                                          <p:attrName>style.rotation</p:attrName>
                                        </p:attrNameLst>
                                      </p:cBhvr>
                                      <p:tavLst>
                                        <p:tav tm="0">
                                          <p:val>
                                            <p:fltVal val="360"/>
                                          </p:val>
                                        </p:tav>
                                        <p:tav tm="100000">
                                          <p:val>
                                            <p:fltVal val="0"/>
                                          </p:val>
                                        </p:tav>
                                      </p:tavLst>
                                    </p:anim>
                                    <p:animEffect transition="in" filter="fade">
                                      <p:cBhvr>
                                        <p:cTn id="82" dur="500"/>
                                        <p:tgtEl>
                                          <p:spTgt spid="36"/>
                                        </p:tgtEl>
                                      </p:cBhvr>
                                    </p:animEffect>
                                  </p:childTnLst>
                                </p:cTn>
                              </p:par>
                            </p:childTnLst>
                          </p:cTn>
                        </p:par>
                        <p:par>
                          <p:cTn id="83" fill="hold">
                            <p:stCondLst>
                              <p:cond delay="500"/>
                            </p:stCondLst>
                            <p:childTnLst>
                              <p:par>
                                <p:cTn id="84" presetID="1" presetClass="entr" presetSubtype="0" fill="hold" grpId="0" nodeType="afterEffect">
                                  <p:stCondLst>
                                    <p:cond delay="0"/>
                                  </p:stCondLst>
                                  <p:iterate type="lt">
                                    <p:tmAbs val="100"/>
                                  </p:iterate>
                                  <p:childTnLst>
                                    <p:set>
                                      <p:cBhvr>
                                        <p:cTn id="85" dur="1" fill="hold">
                                          <p:stCondLst>
                                            <p:cond delay="0"/>
                                          </p:stCondLst>
                                        </p:cTn>
                                        <p:tgtEl>
                                          <p:spTgt spid="3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49" presetClass="entr" presetSubtype="0" decel="100000" fill="hold" grpId="0" nodeType="clickEffect">
                                  <p:stCondLst>
                                    <p:cond delay="0"/>
                                  </p:stCondLst>
                                  <p:childTnLst>
                                    <p:set>
                                      <p:cBhvr>
                                        <p:cTn id="89" dur="1" fill="hold">
                                          <p:stCondLst>
                                            <p:cond delay="0"/>
                                          </p:stCondLst>
                                        </p:cTn>
                                        <p:tgtEl>
                                          <p:spTgt spid="38"/>
                                        </p:tgtEl>
                                        <p:attrNameLst>
                                          <p:attrName>style.visibility</p:attrName>
                                        </p:attrNameLst>
                                      </p:cBhvr>
                                      <p:to>
                                        <p:strVal val="visible"/>
                                      </p:to>
                                    </p:set>
                                    <p:anim calcmode="lin" valueType="num">
                                      <p:cBhvr>
                                        <p:cTn id="90" dur="500" fill="hold"/>
                                        <p:tgtEl>
                                          <p:spTgt spid="38"/>
                                        </p:tgtEl>
                                        <p:attrNameLst>
                                          <p:attrName>ppt_w</p:attrName>
                                        </p:attrNameLst>
                                      </p:cBhvr>
                                      <p:tavLst>
                                        <p:tav tm="0">
                                          <p:val>
                                            <p:fltVal val="0"/>
                                          </p:val>
                                        </p:tav>
                                        <p:tav tm="100000">
                                          <p:val>
                                            <p:strVal val="#ppt_w"/>
                                          </p:val>
                                        </p:tav>
                                      </p:tavLst>
                                    </p:anim>
                                    <p:anim calcmode="lin" valueType="num">
                                      <p:cBhvr>
                                        <p:cTn id="91" dur="500" fill="hold"/>
                                        <p:tgtEl>
                                          <p:spTgt spid="38"/>
                                        </p:tgtEl>
                                        <p:attrNameLst>
                                          <p:attrName>ppt_h</p:attrName>
                                        </p:attrNameLst>
                                      </p:cBhvr>
                                      <p:tavLst>
                                        <p:tav tm="0">
                                          <p:val>
                                            <p:fltVal val="0"/>
                                          </p:val>
                                        </p:tav>
                                        <p:tav tm="100000">
                                          <p:val>
                                            <p:strVal val="#ppt_h"/>
                                          </p:val>
                                        </p:tav>
                                      </p:tavLst>
                                    </p:anim>
                                    <p:anim calcmode="lin" valueType="num">
                                      <p:cBhvr>
                                        <p:cTn id="92" dur="500" fill="hold"/>
                                        <p:tgtEl>
                                          <p:spTgt spid="38"/>
                                        </p:tgtEl>
                                        <p:attrNameLst>
                                          <p:attrName>style.rotation</p:attrName>
                                        </p:attrNameLst>
                                      </p:cBhvr>
                                      <p:tavLst>
                                        <p:tav tm="0">
                                          <p:val>
                                            <p:fltVal val="360"/>
                                          </p:val>
                                        </p:tav>
                                        <p:tav tm="100000">
                                          <p:val>
                                            <p:fltVal val="0"/>
                                          </p:val>
                                        </p:tav>
                                      </p:tavLst>
                                    </p:anim>
                                    <p:animEffect transition="in" filter="fade">
                                      <p:cBhvr>
                                        <p:cTn id="93" dur="500"/>
                                        <p:tgtEl>
                                          <p:spTgt spid="38"/>
                                        </p:tgtEl>
                                      </p:cBhvr>
                                    </p:animEffect>
                                  </p:childTnLst>
                                </p:cTn>
                              </p:par>
                            </p:childTnLst>
                          </p:cTn>
                        </p:par>
                        <p:par>
                          <p:cTn id="94" fill="hold">
                            <p:stCondLst>
                              <p:cond delay="500"/>
                            </p:stCondLst>
                            <p:childTnLst>
                              <p:par>
                                <p:cTn id="95" presetID="1" presetClass="entr" presetSubtype="0" fill="hold" grpId="0" nodeType="afterEffect">
                                  <p:stCondLst>
                                    <p:cond delay="0"/>
                                  </p:stCondLst>
                                  <p:iterate type="lt">
                                    <p:tmAbs val="100"/>
                                  </p:iterate>
                                  <p:childTnLst>
                                    <p:set>
                                      <p:cBhvr>
                                        <p:cTn id="96" dur="1" fill="hold">
                                          <p:stCondLst>
                                            <p:cond delay="0"/>
                                          </p:stCondLst>
                                        </p:cTn>
                                        <p:tgtEl>
                                          <p:spTgt spid="3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49" presetClass="entr" presetSubtype="0" decel="100000" fill="hold" grpId="0" nodeType="clickEffect">
                                  <p:stCondLst>
                                    <p:cond delay="0"/>
                                  </p:stCondLst>
                                  <p:childTnLst>
                                    <p:set>
                                      <p:cBhvr>
                                        <p:cTn id="100" dur="1" fill="hold">
                                          <p:stCondLst>
                                            <p:cond delay="0"/>
                                          </p:stCondLst>
                                        </p:cTn>
                                        <p:tgtEl>
                                          <p:spTgt spid="39"/>
                                        </p:tgtEl>
                                        <p:attrNameLst>
                                          <p:attrName>style.visibility</p:attrName>
                                        </p:attrNameLst>
                                      </p:cBhvr>
                                      <p:to>
                                        <p:strVal val="visible"/>
                                      </p:to>
                                    </p:set>
                                    <p:anim calcmode="lin" valueType="num">
                                      <p:cBhvr>
                                        <p:cTn id="101" dur="500" fill="hold"/>
                                        <p:tgtEl>
                                          <p:spTgt spid="39"/>
                                        </p:tgtEl>
                                        <p:attrNameLst>
                                          <p:attrName>ppt_w</p:attrName>
                                        </p:attrNameLst>
                                      </p:cBhvr>
                                      <p:tavLst>
                                        <p:tav tm="0">
                                          <p:val>
                                            <p:fltVal val="0"/>
                                          </p:val>
                                        </p:tav>
                                        <p:tav tm="100000">
                                          <p:val>
                                            <p:strVal val="#ppt_w"/>
                                          </p:val>
                                        </p:tav>
                                      </p:tavLst>
                                    </p:anim>
                                    <p:anim calcmode="lin" valueType="num">
                                      <p:cBhvr>
                                        <p:cTn id="102" dur="500" fill="hold"/>
                                        <p:tgtEl>
                                          <p:spTgt spid="39"/>
                                        </p:tgtEl>
                                        <p:attrNameLst>
                                          <p:attrName>ppt_h</p:attrName>
                                        </p:attrNameLst>
                                      </p:cBhvr>
                                      <p:tavLst>
                                        <p:tav tm="0">
                                          <p:val>
                                            <p:fltVal val="0"/>
                                          </p:val>
                                        </p:tav>
                                        <p:tav tm="100000">
                                          <p:val>
                                            <p:strVal val="#ppt_h"/>
                                          </p:val>
                                        </p:tav>
                                      </p:tavLst>
                                    </p:anim>
                                    <p:anim calcmode="lin" valueType="num">
                                      <p:cBhvr>
                                        <p:cTn id="103" dur="500" fill="hold"/>
                                        <p:tgtEl>
                                          <p:spTgt spid="39"/>
                                        </p:tgtEl>
                                        <p:attrNameLst>
                                          <p:attrName>style.rotation</p:attrName>
                                        </p:attrNameLst>
                                      </p:cBhvr>
                                      <p:tavLst>
                                        <p:tav tm="0">
                                          <p:val>
                                            <p:fltVal val="360"/>
                                          </p:val>
                                        </p:tav>
                                        <p:tav tm="100000">
                                          <p:val>
                                            <p:fltVal val="0"/>
                                          </p:val>
                                        </p:tav>
                                      </p:tavLst>
                                    </p:anim>
                                    <p:animEffect transition="in" filter="fade">
                                      <p:cBhvr>
                                        <p:cTn id="104" dur="500"/>
                                        <p:tgtEl>
                                          <p:spTgt spid="39"/>
                                        </p:tgtEl>
                                      </p:cBhvr>
                                    </p:animEffect>
                                  </p:childTnLst>
                                </p:cTn>
                              </p:par>
                            </p:childTnLst>
                          </p:cTn>
                        </p:par>
                        <p:par>
                          <p:cTn id="105" fill="hold">
                            <p:stCondLst>
                              <p:cond delay="500"/>
                            </p:stCondLst>
                            <p:childTnLst>
                              <p:par>
                                <p:cTn id="106" presetID="1" presetClass="entr" presetSubtype="0" fill="hold" grpId="0" nodeType="afterEffect">
                                  <p:stCondLst>
                                    <p:cond delay="0"/>
                                  </p:stCondLst>
                                  <p:iterate type="lt">
                                    <p:tmAbs val="100"/>
                                  </p:iterate>
                                  <p:childTnLst>
                                    <p:set>
                                      <p:cBhvr>
                                        <p:cTn id="107" dur="1" fill="hold">
                                          <p:stCondLst>
                                            <p:cond delay="0"/>
                                          </p:stCondLst>
                                        </p:cTn>
                                        <p:tgtEl>
                                          <p:spTgt spid="40"/>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49" presetClass="entr" presetSubtype="0" decel="100000" fill="hold" grpId="0" nodeType="clickEffect">
                                  <p:stCondLst>
                                    <p:cond delay="0"/>
                                  </p:stCondLst>
                                  <p:childTnLst>
                                    <p:set>
                                      <p:cBhvr>
                                        <p:cTn id="111" dur="1" fill="hold">
                                          <p:stCondLst>
                                            <p:cond delay="0"/>
                                          </p:stCondLst>
                                        </p:cTn>
                                        <p:tgtEl>
                                          <p:spTgt spid="41"/>
                                        </p:tgtEl>
                                        <p:attrNameLst>
                                          <p:attrName>style.visibility</p:attrName>
                                        </p:attrNameLst>
                                      </p:cBhvr>
                                      <p:to>
                                        <p:strVal val="visible"/>
                                      </p:to>
                                    </p:set>
                                    <p:anim calcmode="lin" valueType="num">
                                      <p:cBhvr>
                                        <p:cTn id="112" dur="500" fill="hold"/>
                                        <p:tgtEl>
                                          <p:spTgt spid="41"/>
                                        </p:tgtEl>
                                        <p:attrNameLst>
                                          <p:attrName>ppt_w</p:attrName>
                                        </p:attrNameLst>
                                      </p:cBhvr>
                                      <p:tavLst>
                                        <p:tav tm="0">
                                          <p:val>
                                            <p:fltVal val="0"/>
                                          </p:val>
                                        </p:tav>
                                        <p:tav tm="100000">
                                          <p:val>
                                            <p:strVal val="#ppt_w"/>
                                          </p:val>
                                        </p:tav>
                                      </p:tavLst>
                                    </p:anim>
                                    <p:anim calcmode="lin" valueType="num">
                                      <p:cBhvr>
                                        <p:cTn id="113" dur="500" fill="hold"/>
                                        <p:tgtEl>
                                          <p:spTgt spid="41"/>
                                        </p:tgtEl>
                                        <p:attrNameLst>
                                          <p:attrName>ppt_h</p:attrName>
                                        </p:attrNameLst>
                                      </p:cBhvr>
                                      <p:tavLst>
                                        <p:tav tm="0">
                                          <p:val>
                                            <p:fltVal val="0"/>
                                          </p:val>
                                        </p:tav>
                                        <p:tav tm="100000">
                                          <p:val>
                                            <p:strVal val="#ppt_h"/>
                                          </p:val>
                                        </p:tav>
                                      </p:tavLst>
                                    </p:anim>
                                    <p:anim calcmode="lin" valueType="num">
                                      <p:cBhvr>
                                        <p:cTn id="114" dur="500" fill="hold"/>
                                        <p:tgtEl>
                                          <p:spTgt spid="41"/>
                                        </p:tgtEl>
                                        <p:attrNameLst>
                                          <p:attrName>style.rotation</p:attrName>
                                        </p:attrNameLst>
                                      </p:cBhvr>
                                      <p:tavLst>
                                        <p:tav tm="0">
                                          <p:val>
                                            <p:fltVal val="360"/>
                                          </p:val>
                                        </p:tav>
                                        <p:tav tm="100000">
                                          <p:val>
                                            <p:fltVal val="0"/>
                                          </p:val>
                                        </p:tav>
                                      </p:tavLst>
                                    </p:anim>
                                    <p:animEffect transition="in" filter="fade">
                                      <p:cBhvr>
                                        <p:cTn id="115" dur="500"/>
                                        <p:tgtEl>
                                          <p:spTgt spid="41"/>
                                        </p:tgtEl>
                                      </p:cBhvr>
                                    </p:animEffect>
                                  </p:childTnLst>
                                </p:cTn>
                              </p:par>
                            </p:childTnLst>
                          </p:cTn>
                        </p:par>
                        <p:par>
                          <p:cTn id="116" fill="hold">
                            <p:stCondLst>
                              <p:cond delay="500"/>
                            </p:stCondLst>
                            <p:childTnLst>
                              <p:par>
                                <p:cTn id="117" presetID="1" presetClass="entr" presetSubtype="0" fill="hold" grpId="0" nodeType="afterEffect">
                                  <p:stCondLst>
                                    <p:cond delay="0"/>
                                  </p:stCondLst>
                                  <p:iterate type="lt">
                                    <p:tmAbs val="100"/>
                                  </p:iterate>
                                  <p:childTnLst>
                                    <p:set>
                                      <p:cBhvr>
                                        <p:cTn id="11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5" grpId="0"/>
      <p:bldP spid="26" grpId="0" animBg="1"/>
      <p:bldP spid="27" grpId="0"/>
      <p:bldP spid="28" grpId="0" animBg="1"/>
      <p:bldP spid="29" grpId="0"/>
      <p:bldP spid="30" grpId="0" animBg="1"/>
      <p:bldP spid="31" grpId="0"/>
      <p:bldP spid="33" grpId="0"/>
      <p:bldP spid="34" grpId="0"/>
      <p:bldP spid="35" grpId="0"/>
      <p:bldP spid="36" grpId="0"/>
      <p:bldP spid="37" grpId="0"/>
      <p:bldP spid="38" grpId="0"/>
      <p:bldP spid="39" grpId="0" animBg="1"/>
      <p:bldP spid="40" grpId="0"/>
      <p:bldP spid="41" grpId="0" animBg="1"/>
      <p:bldP spid="4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电子邮件系统的组成</a:t>
              </a:r>
            </a:p>
          </p:txBody>
        </p:sp>
      </p:grpSp>
      <p:sp>
        <p:nvSpPr>
          <p:cNvPr id="22" name="矩形 21">
            <a:extLst>
              <a:ext uri="{FF2B5EF4-FFF2-40B4-BE49-F238E27FC236}">
                <a16:creationId xmlns:a16="http://schemas.microsoft.com/office/drawing/2014/main" id="{F6643F61-C9C7-ED79-DC38-55A6E2B8C617}"/>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5448EC53-9AAE-E668-6C66-430927F55A00}"/>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电子邮件系统采用</a:t>
            </a:r>
            <a:r>
              <a:rPr lang="zh-CN" altLang="en-US" b="1" dirty="0">
                <a:solidFill>
                  <a:schemeClr val="accent1">
                    <a:lumMod val="75000"/>
                  </a:schemeClr>
                </a:solidFill>
              </a:rPr>
              <a:t>客户</a:t>
            </a:r>
            <a:r>
              <a:rPr lang="en-US" altLang="zh-CN" b="1" dirty="0">
                <a:solidFill>
                  <a:schemeClr val="accent1">
                    <a:lumMod val="75000"/>
                  </a:schemeClr>
                </a:solidFill>
              </a:rPr>
              <a:t>/</a:t>
            </a:r>
            <a:r>
              <a:rPr lang="zh-CN" altLang="en-US" b="1" dirty="0">
                <a:solidFill>
                  <a:schemeClr val="accent1">
                    <a:lumMod val="75000"/>
                  </a:schemeClr>
                </a:solidFill>
              </a:rPr>
              <a:t>服务器方式</a:t>
            </a:r>
            <a:r>
              <a:rPr lang="zh-CN" altLang="en-US" b="1" dirty="0"/>
              <a:t>。</a:t>
            </a:r>
            <a:endParaRPr lang="en-US" altLang="zh-CN" b="1" dirty="0">
              <a:solidFill>
                <a:srgbClr val="C00000"/>
              </a:solidFill>
            </a:endParaRPr>
          </a:p>
        </p:txBody>
      </p:sp>
      <p:sp>
        <p:nvSpPr>
          <p:cNvPr id="24" name="矩形 23">
            <a:extLst>
              <a:ext uri="{FF2B5EF4-FFF2-40B4-BE49-F238E27FC236}">
                <a16:creationId xmlns:a16="http://schemas.microsoft.com/office/drawing/2014/main" id="{DA136842-259E-B418-CE49-4576E55E03B1}"/>
              </a:ext>
            </a:extLst>
          </p:cNvPr>
          <p:cNvSpPr/>
          <p:nvPr/>
        </p:nvSpPr>
        <p:spPr>
          <a:xfrm>
            <a:off x="1016000" y="165432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34502666-444D-3AD6-BDAB-D7C1FC92B499}"/>
              </a:ext>
            </a:extLst>
          </p:cNvPr>
          <p:cNvSpPr txBox="1"/>
          <p:nvPr/>
        </p:nvSpPr>
        <p:spPr>
          <a:xfrm>
            <a:off x="1293757" y="1573266"/>
            <a:ext cx="10593443" cy="400110"/>
          </a:xfrm>
          <a:prstGeom prst="rect">
            <a:avLst/>
          </a:prstGeom>
          <a:noFill/>
        </p:spPr>
        <p:txBody>
          <a:bodyPr wrap="square" lIns="91440" tIns="45720" rIns="91440" bIns="45720" anchor="ctr">
            <a:noAutofit/>
          </a:bodyPr>
          <a:lstStyle/>
          <a:p>
            <a:r>
              <a:rPr lang="zh-CN" altLang="en-US" b="1" dirty="0"/>
              <a:t>电子邮件系统的三个主要组成构件：</a:t>
            </a:r>
            <a:r>
              <a:rPr lang="zh-CN" altLang="en-US" b="1" dirty="0">
                <a:solidFill>
                  <a:schemeClr val="accent1">
                    <a:lumMod val="75000"/>
                  </a:schemeClr>
                </a:solidFill>
              </a:rPr>
              <a:t>用户代理</a:t>
            </a:r>
            <a:r>
              <a:rPr lang="zh-CN" altLang="en-US" b="1" dirty="0"/>
              <a:t>，</a:t>
            </a:r>
            <a:r>
              <a:rPr lang="zh-CN" altLang="en-US" b="1" dirty="0">
                <a:solidFill>
                  <a:schemeClr val="accent1">
                    <a:lumMod val="75000"/>
                  </a:schemeClr>
                </a:solidFill>
              </a:rPr>
              <a:t>邮件服务器</a:t>
            </a:r>
            <a:r>
              <a:rPr lang="zh-CN" altLang="en-US" b="1" dirty="0"/>
              <a:t>，以及</a:t>
            </a:r>
            <a:r>
              <a:rPr lang="zh-CN" altLang="en-US" b="1" dirty="0">
                <a:solidFill>
                  <a:schemeClr val="accent1">
                    <a:lumMod val="75000"/>
                  </a:schemeClr>
                </a:solidFill>
              </a:rPr>
              <a:t>电子邮件所需的协议</a:t>
            </a:r>
            <a:r>
              <a:rPr lang="zh-CN" altLang="en-US" b="1" dirty="0"/>
              <a:t>。</a:t>
            </a:r>
            <a:endParaRPr lang="en-US" altLang="zh-CN" b="1" dirty="0"/>
          </a:p>
        </p:txBody>
      </p:sp>
      <p:sp>
        <p:nvSpPr>
          <p:cNvPr id="26" name="矩形 25">
            <a:extLst>
              <a:ext uri="{FF2B5EF4-FFF2-40B4-BE49-F238E27FC236}">
                <a16:creationId xmlns:a16="http://schemas.microsoft.com/office/drawing/2014/main" id="{8D7331DE-FA4E-9589-5766-C8DFE58EB523}"/>
              </a:ext>
            </a:extLst>
          </p:cNvPr>
          <p:cNvSpPr/>
          <p:nvPr/>
        </p:nvSpPr>
        <p:spPr>
          <a:xfrm>
            <a:off x="1403723" y="207580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C265C35A-35EA-A6A4-0B7D-109F2215E5C3}"/>
              </a:ext>
            </a:extLst>
          </p:cNvPr>
          <p:cNvSpPr txBox="1"/>
          <p:nvPr/>
        </p:nvSpPr>
        <p:spPr>
          <a:xfrm>
            <a:off x="1681481" y="1994744"/>
            <a:ext cx="10205720" cy="400110"/>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用户代理</a:t>
            </a:r>
            <a:r>
              <a:rPr lang="zh-CN" altLang="en-US" b="1" dirty="0"/>
              <a:t>是用户与电子邮件系统的接口，又称为</a:t>
            </a:r>
            <a:r>
              <a:rPr lang="zh-CN" altLang="en-US" b="1" dirty="0">
                <a:solidFill>
                  <a:schemeClr val="accent1">
                    <a:lumMod val="75000"/>
                  </a:schemeClr>
                </a:solidFill>
              </a:rPr>
              <a:t>电子邮件客户端软件</a:t>
            </a:r>
            <a:r>
              <a:rPr lang="zh-CN" altLang="en-US" b="1" dirty="0"/>
              <a:t>。</a:t>
            </a:r>
            <a:endParaRPr lang="en-US" altLang="zh-CN" b="1" dirty="0"/>
          </a:p>
        </p:txBody>
      </p:sp>
      <p:grpSp>
        <p:nvGrpSpPr>
          <p:cNvPr id="5" name="组合 4">
            <a:extLst>
              <a:ext uri="{FF2B5EF4-FFF2-40B4-BE49-F238E27FC236}">
                <a16:creationId xmlns:a16="http://schemas.microsoft.com/office/drawing/2014/main" id="{8BA5EBAF-F8C7-79FB-A010-AC63F77D9937}"/>
              </a:ext>
            </a:extLst>
          </p:cNvPr>
          <p:cNvGrpSpPr/>
          <p:nvPr/>
        </p:nvGrpSpPr>
        <p:grpSpPr>
          <a:xfrm>
            <a:off x="2070714" y="3898800"/>
            <a:ext cx="7801899" cy="2545588"/>
            <a:chOff x="2070714" y="3898800"/>
            <a:chExt cx="7801899" cy="2545588"/>
          </a:xfrm>
        </p:grpSpPr>
        <p:cxnSp>
          <p:nvCxnSpPr>
            <p:cNvPr id="6" name="直接连接符 5">
              <a:extLst>
                <a:ext uri="{FF2B5EF4-FFF2-40B4-BE49-F238E27FC236}">
                  <a16:creationId xmlns:a16="http://schemas.microsoft.com/office/drawing/2014/main" id="{ADB2BECF-8BA9-AC08-8C9C-4087E9D0B624}"/>
                </a:ext>
              </a:extLst>
            </p:cNvPr>
            <p:cNvCxnSpPr>
              <a:cxnSpLocks/>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2C35C1B-B5F7-6E92-3A92-EF9D6B379CD6}"/>
                </a:ext>
              </a:extLst>
            </p:cNvPr>
            <p:cNvCxnSpPr>
              <a:cxnSpLocks/>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50F424-D14B-D278-B9FF-E55409B4DF44}"/>
                </a:ext>
              </a:extLst>
            </p:cNvPr>
            <p:cNvCxnSpPr>
              <a:cxnSpLocks/>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A757410-F62E-DEF0-D051-5DC15650303D}"/>
                </a:ext>
              </a:extLst>
            </p:cNvPr>
            <p:cNvCxnSpPr>
              <a:cxnSpLocks/>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a:extLst>
                <a:ext uri="{FF2B5EF4-FFF2-40B4-BE49-F238E27FC236}">
                  <a16:creationId xmlns:a16="http://schemas.microsoft.com/office/drawing/2014/main" id="{3017CFA0-43A3-E809-A31E-48AB22019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714" y="5435966"/>
              <a:ext cx="692512" cy="998031"/>
            </a:xfrm>
            <a:prstGeom prst="rect">
              <a:avLst/>
            </a:prstGeom>
          </p:spPr>
        </p:pic>
        <p:pic>
          <p:nvPicPr>
            <p:cNvPr id="11" name="图形 10">
              <a:extLst>
                <a:ext uri="{FF2B5EF4-FFF2-40B4-BE49-F238E27FC236}">
                  <a16:creationId xmlns:a16="http://schemas.microsoft.com/office/drawing/2014/main" id="{9179D0F8-E7AD-1054-BD2B-4A52BDA5E6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6711" y="5447188"/>
              <a:ext cx="651233" cy="997200"/>
            </a:xfrm>
            <a:prstGeom prst="rect">
              <a:avLst/>
            </a:prstGeom>
          </p:spPr>
        </p:pic>
        <p:pic>
          <p:nvPicPr>
            <p:cNvPr id="12" name="图形 11">
              <a:extLst>
                <a:ext uri="{FF2B5EF4-FFF2-40B4-BE49-F238E27FC236}">
                  <a16:creationId xmlns:a16="http://schemas.microsoft.com/office/drawing/2014/main" id="{4ABE0879-09D3-8BF0-C190-AE69530369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54841" y="3898800"/>
              <a:ext cx="717772" cy="853200"/>
            </a:xfrm>
            <a:prstGeom prst="rect">
              <a:avLst/>
            </a:prstGeom>
          </p:spPr>
        </p:pic>
        <p:sp>
          <p:nvSpPr>
            <p:cNvPr id="13" name="图形 73">
              <a:extLst>
                <a:ext uri="{FF2B5EF4-FFF2-40B4-BE49-F238E27FC236}">
                  <a16:creationId xmlns:a16="http://schemas.microsoft.com/office/drawing/2014/main" id="{0567FB01-E88D-781D-DB42-AD1897185F5A}"/>
                </a:ext>
              </a:extLst>
            </p:cNvPr>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14" name="图形 13">
              <a:extLst>
                <a:ext uri="{FF2B5EF4-FFF2-40B4-BE49-F238E27FC236}">
                  <a16:creationId xmlns:a16="http://schemas.microsoft.com/office/drawing/2014/main" id="{0B7114C7-EB1C-F300-0FF8-F815BEA054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024" y="3899618"/>
              <a:ext cx="716190" cy="851320"/>
            </a:xfrm>
            <a:prstGeom prst="rect">
              <a:avLst/>
            </a:prstGeom>
          </p:spPr>
        </p:pic>
      </p:grpSp>
      <p:grpSp>
        <p:nvGrpSpPr>
          <p:cNvPr id="15" name="组合 14">
            <a:extLst>
              <a:ext uri="{FF2B5EF4-FFF2-40B4-BE49-F238E27FC236}">
                <a16:creationId xmlns:a16="http://schemas.microsoft.com/office/drawing/2014/main" id="{6B8C38E8-70A2-970B-593D-8D32AB4AE5C1}"/>
              </a:ext>
            </a:extLst>
          </p:cNvPr>
          <p:cNvGrpSpPr/>
          <p:nvPr/>
        </p:nvGrpSpPr>
        <p:grpSpPr>
          <a:xfrm>
            <a:off x="2535668" y="5138774"/>
            <a:ext cx="667659" cy="662801"/>
            <a:chOff x="2779422" y="3959271"/>
            <a:chExt cx="667659" cy="662801"/>
          </a:xfrm>
        </p:grpSpPr>
        <p:sp>
          <p:nvSpPr>
            <p:cNvPr id="16" name="椭圆 15">
              <a:extLst>
                <a:ext uri="{FF2B5EF4-FFF2-40B4-BE49-F238E27FC236}">
                  <a16:creationId xmlns:a16="http://schemas.microsoft.com/office/drawing/2014/main" id="{33522AF6-9AE6-0D24-29AF-56C652A924F8}"/>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1911856A-E14C-C821-D038-19D2C49A32EC}"/>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grpSp>
        <p:nvGrpSpPr>
          <p:cNvPr id="18" name="组合 17">
            <a:extLst>
              <a:ext uri="{FF2B5EF4-FFF2-40B4-BE49-F238E27FC236}">
                <a16:creationId xmlns:a16="http://schemas.microsoft.com/office/drawing/2014/main" id="{9675AC71-1B9D-ED21-D012-2DC342024EDE}"/>
              </a:ext>
            </a:extLst>
          </p:cNvPr>
          <p:cNvGrpSpPr/>
          <p:nvPr/>
        </p:nvGrpSpPr>
        <p:grpSpPr>
          <a:xfrm>
            <a:off x="8801956" y="5138774"/>
            <a:ext cx="667659" cy="662801"/>
            <a:chOff x="2779422" y="3959271"/>
            <a:chExt cx="667659" cy="662801"/>
          </a:xfrm>
        </p:grpSpPr>
        <p:sp>
          <p:nvSpPr>
            <p:cNvPr id="19" name="椭圆 18">
              <a:extLst>
                <a:ext uri="{FF2B5EF4-FFF2-40B4-BE49-F238E27FC236}">
                  <a16:creationId xmlns:a16="http://schemas.microsoft.com/office/drawing/2014/main" id="{B97A6B90-C23C-7C07-1971-E829192F7319}"/>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20" name="文本框 19">
              <a:extLst>
                <a:ext uri="{FF2B5EF4-FFF2-40B4-BE49-F238E27FC236}">
                  <a16:creationId xmlns:a16="http://schemas.microsoft.com/office/drawing/2014/main" id="{03C45EDA-33F1-0906-1FA8-DE9606184B00}"/>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sp>
        <p:nvSpPr>
          <p:cNvPr id="21" name="文本框 20">
            <a:extLst>
              <a:ext uri="{FF2B5EF4-FFF2-40B4-BE49-F238E27FC236}">
                <a16:creationId xmlns:a16="http://schemas.microsoft.com/office/drawing/2014/main" id="{09EF8D5A-AFBA-1247-9428-5D4687EBE8E1}"/>
              </a:ext>
            </a:extLst>
          </p:cNvPr>
          <p:cNvSpPr txBox="1"/>
          <p:nvPr/>
        </p:nvSpPr>
        <p:spPr>
          <a:xfrm>
            <a:off x="1149798" y="6054509"/>
            <a:ext cx="1047873" cy="369332"/>
          </a:xfrm>
          <a:prstGeom prst="rect">
            <a:avLst/>
          </a:prstGeom>
          <a:noFill/>
        </p:spPr>
        <p:txBody>
          <a:bodyPr wrap="square">
            <a:spAutoFit/>
          </a:bodyPr>
          <a:lstStyle/>
          <a:p>
            <a:pPr algn="ctr"/>
            <a:r>
              <a:rPr lang="zh-CN" altLang="en-US" b="1" dirty="0">
                <a:latin typeface="+mn-ea"/>
              </a:rPr>
              <a:t>发送方</a:t>
            </a:r>
          </a:p>
        </p:txBody>
      </p:sp>
      <p:sp>
        <p:nvSpPr>
          <p:cNvPr id="32" name="文本框 31">
            <a:extLst>
              <a:ext uri="{FF2B5EF4-FFF2-40B4-BE49-F238E27FC236}">
                <a16:creationId xmlns:a16="http://schemas.microsoft.com/office/drawing/2014/main" id="{3277AA96-B72D-A5AC-E73A-6B08E0AC3B79}"/>
              </a:ext>
            </a:extLst>
          </p:cNvPr>
          <p:cNvSpPr txBox="1"/>
          <p:nvPr/>
        </p:nvSpPr>
        <p:spPr>
          <a:xfrm>
            <a:off x="9888813" y="6054509"/>
            <a:ext cx="1047873" cy="369332"/>
          </a:xfrm>
          <a:prstGeom prst="rect">
            <a:avLst/>
          </a:prstGeom>
          <a:noFill/>
        </p:spPr>
        <p:txBody>
          <a:bodyPr wrap="square">
            <a:spAutoFit/>
          </a:bodyPr>
          <a:lstStyle/>
          <a:p>
            <a:pPr algn="ctr"/>
            <a:r>
              <a:rPr lang="zh-CN" altLang="en-US" b="1" dirty="0">
                <a:latin typeface="+mn-ea"/>
              </a:rPr>
              <a:t>接收方</a:t>
            </a:r>
          </a:p>
        </p:txBody>
      </p:sp>
      <p:sp>
        <p:nvSpPr>
          <p:cNvPr id="43" name="矩形 42">
            <a:extLst>
              <a:ext uri="{FF2B5EF4-FFF2-40B4-BE49-F238E27FC236}">
                <a16:creationId xmlns:a16="http://schemas.microsoft.com/office/drawing/2014/main" id="{8A5E897B-07BA-2728-A157-D5812AB65646}"/>
              </a:ext>
            </a:extLst>
          </p:cNvPr>
          <p:cNvSpPr/>
          <p:nvPr/>
        </p:nvSpPr>
        <p:spPr>
          <a:xfrm>
            <a:off x="1404935" y="2494904"/>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íşlïḍè">
            <a:extLst>
              <a:ext uri="{FF2B5EF4-FFF2-40B4-BE49-F238E27FC236}">
                <a16:creationId xmlns:a16="http://schemas.microsoft.com/office/drawing/2014/main" id="{77BB300F-2B23-48C7-8A88-A3C4D9E96980}"/>
              </a:ext>
            </a:extLst>
          </p:cNvPr>
          <p:cNvSpPr txBox="1"/>
          <p:nvPr/>
        </p:nvSpPr>
        <p:spPr>
          <a:xfrm>
            <a:off x="1682693" y="2413841"/>
            <a:ext cx="10205720" cy="66429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邮件服务器</a:t>
            </a:r>
            <a:r>
              <a:rPr lang="zh-CN" altLang="en-US" b="1" dirty="0"/>
              <a:t>是电子邮件系统的基础设施。因特网上所有的因特网服务提供者</a:t>
            </a:r>
            <a:r>
              <a:rPr lang="en-US" altLang="zh-CN" b="1" dirty="0"/>
              <a:t>ISP</a:t>
            </a:r>
            <a:r>
              <a:rPr lang="zh-CN" altLang="en-US" b="1" dirty="0"/>
              <a:t>都有邮件服务器，其功能是</a:t>
            </a:r>
            <a:r>
              <a:rPr lang="zh-CN" altLang="en-US" b="1" dirty="0">
                <a:solidFill>
                  <a:schemeClr val="accent1">
                    <a:lumMod val="75000"/>
                  </a:schemeClr>
                </a:solidFill>
              </a:rPr>
              <a:t>发送和接收邮件</a:t>
            </a:r>
            <a:r>
              <a:rPr lang="zh-CN" altLang="en-US" b="1" dirty="0"/>
              <a:t>，同时还要负责维护用户的邮箱。</a:t>
            </a:r>
            <a:endParaRPr lang="en-US" altLang="zh-CN" b="1" dirty="0"/>
          </a:p>
        </p:txBody>
      </p:sp>
      <p:sp>
        <p:nvSpPr>
          <p:cNvPr id="45" name="文本框 44">
            <a:extLst>
              <a:ext uri="{FF2B5EF4-FFF2-40B4-BE49-F238E27FC236}">
                <a16:creationId xmlns:a16="http://schemas.microsoft.com/office/drawing/2014/main" id="{68E77D1A-610A-0145-D380-CE5B83498526}"/>
              </a:ext>
            </a:extLst>
          </p:cNvPr>
          <p:cNvSpPr txBox="1"/>
          <p:nvPr/>
        </p:nvSpPr>
        <p:spPr>
          <a:xfrm>
            <a:off x="783034" y="3780848"/>
            <a:ext cx="1436914" cy="646331"/>
          </a:xfrm>
          <a:prstGeom prst="rect">
            <a:avLst/>
          </a:prstGeom>
          <a:noFill/>
        </p:spPr>
        <p:txBody>
          <a:bodyPr wrap="square">
            <a:spAutoFit/>
          </a:bodyPr>
          <a:lstStyle/>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p>
        </p:txBody>
      </p:sp>
      <p:sp>
        <p:nvSpPr>
          <p:cNvPr id="46" name="文本框 45">
            <a:extLst>
              <a:ext uri="{FF2B5EF4-FFF2-40B4-BE49-F238E27FC236}">
                <a16:creationId xmlns:a16="http://schemas.microsoft.com/office/drawing/2014/main" id="{21987453-EED6-A106-0FDC-B5E832CBA3AE}"/>
              </a:ext>
            </a:extLst>
          </p:cNvPr>
          <p:cNvSpPr txBox="1"/>
          <p:nvPr/>
        </p:nvSpPr>
        <p:spPr>
          <a:xfrm>
            <a:off x="9946557" y="3671045"/>
            <a:ext cx="1436914" cy="646331"/>
          </a:xfrm>
          <a:prstGeom prst="rect">
            <a:avLst/>
          </a:prstGeom>
          <a:noFill/>
        </p:spPr>
        <p:txBody>
          <a:bodyPr wrap="square">
            <a:spAutoFit/>
          </a:bodyPr>
          <a:lstStyle/>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p>
        </p:txBody>
      </p:sp>
      <p:sp>
        <p:nvSpPr>
          <p:cNvPr id="29" name="矩形 28">
            <a:extLst>
              <a:ext uri="{FF2B5EF4-FFF2-40B4-BE49-F238E27FC236}">
                <a16:creationId xmlns:a16="http://schemas.microsoft.com/office/drawing/2014/main" id="{26226B8D-7FA4-332C-E202-399B3414C611}"/>
              </a:ext>
            </a:extLst>
          </p:cNvPr>
          <p:cNvSpPr/>
          <p:nvPr/>
        </p:nvSpPr>
        <p:spPr>
          <a:xfrm>
            <a:off x="3074875" y="3573463"/>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grpSp>
        <p:nvGrpSpPr>
          <p:cNvPr id="47" name="组合 46">
            <a:extLst>
              <a:ext uri="{FF2B5EF4-FFF2-40B4-BE49-F238E27FC236}">
                <a16:creationId xmlns:a16="http://schemas.microsoft.com/office/drawing/2014/main" id="{0BB5704D-9CB0-BB0A-3473-0EB577A6944E}"/>
              </a:ext>
            </a:extLst>
          </p:cNvPr>
          <p:cNvGrpSpPr/>
          <p:nvPr/>
        </p:nvGrpSpPr>
        <p:grpSpPr>
          <a:xfrm>
            <a:off x="3217998" y="4445053"/>
            <a:ext cx="1161289" cy="367518"/>
            <a:chOff x="3217998" y="4445053"/>
            <a:chExt cx="1161289" cy="367518"/>
          </a:xfrm>
        </p:grpSpPr>
        <p:sp>
          <p:nvSpPr>
            <p:cNvPr id="30" name="矩形 29">
              <a:extLst>
                <a:ext uri="{FF2B5EF4-FFF2-40B4-BE49-F238E27FC236}">
                  <a16:creationId xmlns:a16="http://schemas.microsoft.com/office/drawing/2014/main" id="{D0903DAB-356D-0CCB-723E-7C59F1A46283}"/>
                </a:ext>
              </a:extLst>
            </p:cNvPr>
            <p:cNvSpPr/>
            <p:nvPr/>
          </p:nvSpPr>
          <p:spPr>
            <a:xfrm>
              <a:off x="3217998" y="4474145"/>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1" name="图形 30" descr="信封 纯色填充">
              <a:extLst>
                <a:ext uri="{FF2B5EF4-FFF2-40B4-BE49-F238E27FC236}">
                  <a16:creationId xmlns:a16="http://schemas.microsoft.com/office/drawing/2014/main" id="{718EBFE4-7E6B-5BA1-9DD4-0BE14E71B99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71184" y="4446849"/>
              <a:ext cx="361851" cy="361851"/>
            </a:xfrm>
            <a:prstGeom prst="rect">
              <a:avLst/>
            </a:prstGeom>
          </p:spPr>
        </p:pic>
        <p:pic>
          <p:nvPicPr>
            <p:cNvPr id="33" name="图形 32" descr="信封 纯色填充">
              <a:extLst>
                <a:ext uri="{FF2B5EF4-FFF2-40B4-BE49-F238E27FC236}">
                  <a16:creationId xmlns:a16="http://schemas.microsoft.com/office/drawing/2014/main" id="{AF196436-7F84-5CBC-CE7D-4F97474E19F1}"/>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77546" y="4445053"/>
              <a:ext cx="367518" cy="367518"/>
            </a:xfrm>
            <a:prstGeom prst="rect">
              <a:avLst/>
            </a:prstGeom>
          </p:spPr>
        </p:pic>
      </p:grpSp>
      <p:sp>
        <p:nvSpPr>
          <p:cNvPr id="34" name="文本框 33">
            <a:extLst>
              <a:ext uri="{FF2B5EF4-FFF2-40B4-BE49-F238E27FC236}">
                <a16:creationId xmlns:a16="http://schemas.microsoft.com/office/drawing/2014/main" id="{0DAA105D-DEAF-2A38-7C3E-36C67BA7E830}"/>
              </a:ext>
            </a:extLst>
          </p:cNvPr>
          <p:cNvSpPr txBox="1"/>
          <p:nvPr/>
        </p:nvSpPr>
        <p:spPr>
          <a:xfrm>
            <a:off x="3553532" y="4376219"/>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pic>
        <p:nvPicPr>
          <p:cNvPr id="35" name="图片 34" descr="形状&#10;&#10;中度可信度描述已自动生成">
            <a:extLst>
              <a:ext uri="{FF2B5EF4-FFF2-40B4-BE49-F238E27FC236}">
                <a16:creationId xmlns:a16="http://schemas.microsoft.com/office/drawing/2014/main" id="{4EE264AE-7F1A-D717-ACFB-878185E79D0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98825" y="3611554"/>
            <a:ext cx="716190" cy="580753"/>
          </a:xfrm>
          <a:prstGeom prst="rect">
            <a:avLst/>
          </a:prstGeom>
        </p:spPr>
      </p:pic>
      <p:sp>
        <p:nvSpPr>
          <p:cNvPr id="37" name="矩形 36">
            <a:extLst>
              <a:ext uri="{FF2B5EF4-FFF2-40B4-BE49-F238E27FC236}">
                <a16:creationId xmlns:a16="http://schemas.microsoft.com/office/drawing/2014/main" id="{914606A6-C020-91BC-726E-5B01596A639E}"/>
              </a:ext>
            </a:extLst>
          </p:cNvPr>
          <p:cNvSpPr/>
          <p:nvPr/>
        </p:nvSpPr>
        <p:spPr>
          <a:xfrm>
            <a:off x="7816549" y="3571515"/>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48" name="组合 47">
            <a:extLst>
              <a:ext uri="{FF2B5EF4-FFF2-40B4-BE49-F238E27FC236}">
                <a16:creationId xmlns:a16="http://schemas.microsoft.com/office/drawing/2014/main" id="{1E238DAA-B0DF-D708-0FD4-60DC37442693}"/>
              </a:ext>
            </a:extLst>
          </p:cNvPr>
          <p:cNvGrpSpPr/>
          <p:nvPr/>
        </p:nvGrpSpPr>
        <p:grpSpPr>
          <a:xfrm>
            <a:off x="7959672" y="4374271"/>
            <a:ext cx="1161289" cy="436352"/>
            <a:chOff x="7959672" y="4374271"/>
            <a:chExt cx="1161289" cy="436352"/>
          </a:xfrm>
        </p:grpSpPr>
        <p:sp>
          <p:nvSpPr>
            <p:cNvPr id="38" name="矩形 37">
              <a:extLst>
                <a:ext uri="{FF2B5EF4-FFF2-40B4-BE49-F238E27FC236}">
                  <a16:creationId xmlns:a16="http://schemas.microsoft.com/office/drawing/2014/main" id="{D024E1E9-2E64-2D4C-F170-CCFD0E438C2B}"/>
                </a:ext>
              </a:extLst>
            </p:cNvPr>
            <p:cNvSpPr/>
            <p:nvPr/>
          </p:nvSpPr>
          <p:spPr>
            <a:xfrm>
              <a:off x="7959672" y="4472197"/>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9" name="图形 38" descr="信封 纯色填充">
              <a:extLst>
                <a:ext uri="{FF2B5EF4-FFF2-40B4-BE49-F238E27FC236}">
                  <a16:creationId xmlns:a16="http://schemas.microsoft.com/office/drawing/2014/main" id="{AF2E9FB8-A4FA-42A3-486B-2FFB2F85F09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12858" y="4444901"/>
              <a:ext cx="361851" cy="361851"/>
            </a:xfrm>
            <a:prstGeom prst="rect">
              <a:avLst/>
            </a:prstGeom>
          </p:spPr>
        </p:pic>
        <p:pic>
          <p:nvPicPr>
            <p:cNvPr id="40" name="图形 39" descr="信封 纯色填充">
              <a:extLst>
                <a:ext uri="{FF2B5EF4-FFF2-40B4-BE49-F238E27FC236}">
                  <a16:creationId xmlns:a16="http://schemas.microsoft.com/office/drawing/2014/main" id="{365DE5C2-11DF-C648-80D6-8DBACF1EE59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19220" y="4443105"/>
              <a:ext cx="367518" cy="367518"/>
            </a:xfrm>
            <a:prstGeom prst="rect">
              <a:avLst/>
            </a:prstGeom>
          </p:spPr>
        </p:pic>
        <p:sp>
          <p:nvSpPr>
            <p:cNvPr id="41" name="文本框 40">
              <a:extLst>
                <a:ext uri="{FF2B5EF4-FFF2-40B4-BE49-F238E27FC236}">
                  <a16:creationId xmlns:a16="http://schemas.microsoft.com/office/drawing/2014/main" id="{704A93A2-F9B9-AE63-87EC-30FFAF7FEEAB}"/>
                </a:ext>
              </a:extLst>
            </p:cNvPr>
            <p:cNvSpPr txBox="1"/>
            <p:nvPr/>
          </p:nvSpPr>
          <p:spPr>
            <a:xfrm>
              <a:off x="8295206" y="4374271"/>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pic>
        <p:nvPicPr>
          <p:cNvPr id="42" name="图片 41" descr="形状&#10;&#10;中度可信度描述已自动生成">
            <a:extLst>
              <a:ext uri="{FF2B5EF4-FFF2-40B4-BE49-F238E27FC236}">
                <a16:creationId xmlns:a16="http://schemas.microsoft.com/office/drawing/2014/main" id="{DBF2AC43-2491-8C78-671F-72EC451FD48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40499" y="3609606"/>
            <a:ext cx="716190" cy="580753"/>
          </a:xfrm>
          <a:prstGeom prst="rect">
            <a:avLst/>
          </a:prstGeom>
        </p:spPr>
      </p:pic>
      <p:grpSp>
        <p:nvGrpSpPr>
          <p:cNvPr id="51" name="组合 50">
            <a:extLst>
              <a:ext uri="{FF2B5EF4-FFF2-40B4-BE49-F238E27FC236}">
                <a16:creationId xmlns:a16="http://schemas.microsoft.com/office/drawing/2014/main" id="{DF2F3CC9-0E14-05C1-24BE-F26861C575BB}"/>
              </a:ext>
            </a:extLst>
          </p:cNvPr>
          <p:cNvGrpSpPr/>
          <p:nvPr/>
        </p:nvGrpSpPr>
        <p:grpSpPr>
          <a:xfrm>
            <a:off x="937310" y="4633292"/>
            <a:ext cx="2285034" cy="834165"/>
            <a:chOff x="986150" y="2200579"/>
            <a:chExt cx="2285034" cy="834165"/>
          </a:xfrm>
        </p:grpSpPr>
        <p:cxnSp>
          <p:nvCxnSpPr>
            <p:cNvPr id="49" name="连接符: 曲线 48">
              <a:extLst>
                <a:ext uri="{FF2B5EF4-FFF2-40B4-BE49-F238E27FC236}">
                  <a16:creationId xmlns:a16="http://schemas.microsoft.com/office/drawing/2014/main" id="{A32434D2-C58A-398C-F2A3-D0C9887134E3}"/>
                </a:ext>
              </a:extLst>
            </p:cNvPr>
            <p:cNvCxnSpPr>
              <a:cxnSpLocks/>
            </p:cNvCxnSpPr>
            <p:nvPr/>
          </p:nvCxnSpPr>
          <p:spPr>
            <a:xfrm rot="10800000" flipH="1">
              <a:off x="2541476" y="2200579"/>
              <a:ext cx="729708" cy="834165"/>
            </a:xfrm>
            <a:prstGeom prst="curvedConnector3">
              <a:avLst>
                <a:gd name="adj1" fmla="val -31328"/>
              </a:avLst>
            </a:prstGeom>
            <a:ln w="762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44063419-D1A6-F41F-47CF-06F72308E3CA}"/>
                </a:ext>
              </a:extLst>
            </p:cNvPr>
            <p:cNvSpPr txBox="1"/>
            <p:nvPr/>
          </p:nvSpPr>
          <p:spPr>
            <a:xfrm>
              <a:off x="986150" y="2243331"/>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4" name="组合 53">
            <a:extLst>
              <a:ext uri="{FF2B5EF4-FFF2-40B4-BE49-F238E27FC236}">
                <a16:creationId xmlns:a16="http://schemas.microsoft.com/office/drawing/2014/main" id="{A64800D3-F75C-3E0E-8BCF-984D51924DF2}"/>
              </a:ext>
            </a:extLst>
          </p:cNvPr>
          <p:cNvGrpSpPr/>
          <p:nvPr/>
        </p:nvGrpSpPr>
        <p:grpSpPr>
          <a:xfrm>
            <a:off x="4404173" y="3439081"/>
            <a:ext cx="4149058" cy="1084613"/>
            <a:chOff x="4202017" y="1158855"/>
            <a:chExt cx="4149058" cy="1084613"/>
          </a:xfrm>
        </p:grpSpPr>
        <p:sp>
          <p:nvSpPr>
            <p:cNvPr id="52" name="任意多边形: 形状 51">
              <a:extLst>
                <a:ext uri="{FF2B5EF4-FFF2-40B4-BE49-F238E27FC236}">
                  <a16:creationId xmlns:a16="http://schemas.microsoft.com/office/drawing/2014/main" id="{E2285898-37CE-DDBF-16DF-6C7A3DBB95B6}"/>
                </a:ext>
              </a:extLst>
            </p:cNvPr>
            <p:cNvSpPr/>
            <p:nvPr/>
          </p:nvSpPr>
          <p:spPr>
            <a:xfrm>
              <a:off x="4202017" y="1538868"/>
              <a:ext cx="4149058" cy="704600"/>
            </a:xfrm>
            <a:custGeom>
              <a:avLst/>
              <a:gdLst>
                <a:gd name="connsiteX0" fmla="*/ 0 w 3004457"/>
                <a:gd name="connsiteY0" fmla="*/ 925286 h 925286"/>
                <a:gd name="connsiteX1" fmla="*/ 566057 w 3004457"/>
                <a:gd name="connsiteY1" fmla="*/ 544286 h 925286"/>
                <a:gd name="connsiteX2" fmla="*/ 1306286 w 3004457"/>
                <a:gd name="connsiteY2" fmla="*/ 239486 h 925286"/>
                <a:gd name="connsiteX3" fmla="*/ 1948543 w 3004457"/>
                <a:gd name="connsiteY3" fmla="*/ 108857 h 925286"/>
                <a:gd name="connsiteX4" fmla="*/ 3004457 w 3004457"/>
                <a:gd name="connsiteY4" fmla="*/ 0 h 925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4457" h="925286">
                  <a:moveTo>
                    <a:pt x="0" y="925286"/>
                  </a:moveTo>
                  <a:cubicBezTo>
                    <a:pt x="174171" y="791936"/>
                    <a:pt x="348343" y="658586"/>
                    <a:pt x="566057" y="544286"/>
                  </a:cubicBezTo>
                  <a:cubicBezTo>
                    <a:pt x="783771" y="429986"/>
                    <a:pt x="1075872" y="312057"/>
                    <a:pt x="1306286" y="239486"/>
                  </a:cubicBezTo>
                  <a:cubicBezTo>
                    <a:pt x="1536700" y="166915"/>
                    <a:pt x="1665515" y="148771"/>
                    <a:pt x="1948543" y="108857"/>
                  </a:cubicBezTo>
                  <a:cubicBezTo>
                    <a:pt x="2231571" y="68943"/>
                    <a:pt x="2618014" y="34471"/>
                    <a:pt x="3004457" y="0"/>
                  </a:cubicBezTo>
                </a:path>
              </a:pathLst>
            </a:custGeom>
            <a:noFill/>
            <a:ln w="76200">
              <a:solidFill>
                <a:schemeClr val="accent3"/>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3" name="文本框 52">
              <a:extLst>
                <a:ext uri="{FF2B5EF4-FFF2-40B4-BE49-F238E27FC236}">
                  <a16:creationId xmlns:a16="http://schemas.microsoft.com/office/drawing/2014/main" id="{2E7D0F26-617A-7B62-9759-504459CD1DA7}"/>
                </a:ext>
              </a:extLst>
            </p:cNvPr>
            <p:cNvSpPr txBox="1"/>
            <p:nvPr/>
          </p:nvSpPr>
          <p:spPr>
            <a:xfrm>
              <a:off x="4520102" y="1158855"/>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7" name="组合 56">
            <a:extLst>
              <a:ext uri="{FF2B5EF4-FFF2-40B4-BE49-F238E27FC236}">
                <a16:creationId xmlns:a16="http://schemas.microsoft.com/office/drawing/2014/main" id="{4D05FB78-4A7D-30EA-EA7F-8A63DB6DE53D}"/>
              </a:ext>
            </a:extLst>
          </p:cNvPr>
          <p:cNvGrpSpPr/>
          <p:nvPr/>
        </p:nvGrpSpPr>
        <p:grpSpPr>
          <a:xfrm>
            <a:off x="8753184" y="3824180"/>
            <a:ext cx="2529514" cy="1467845"/>
            <a:chOff x="8780013" y="1566898"/>
            <a:chExt cx="2529514" cy="1467845"/>
          </a:xfrm>
        </p:grpSpPr>
        <p:cxnSp>
          <p:nvCxnSpPr>
            <p:cNvPr id="55" name="连接符: 曲线 54">
              <a:extLst>
                <a:ext uri="{FF2B5EF4-FFF2-40B4-BE49-F238E27FC236}">
                  <a16:creationId xmlns:a16="http://schemas.microsoft.com/office/drawing/2014/main" id="{D2409BF9-ED14-840B-3915-831ECF484E10}"/>
                </a:ext>
              </a:extLst>
            </p:cNvPr>
            <p:cNvCxnSpPr>
              <a:cxnSpLocks/>
            </p:cNvCxnSpPr>
            <p:nvPr/>
          </p:nvCxnSpPr>
          <p:spPr>
            <a:xfrm flipH="1" flipV="1">
              <a:off x="8780013" y="1566898"/>
              <a:ext cx="689602" cy="1467845"/>
            </a:xfrm>
            <a:prstGeom prst="curvedConnector3">
              <a:avLst>
                <a:gd name="adj1" fmla="val -33150"/>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39F20CE6-AA51-F45A-B43F-5386E0BF559D}"/>
                </a:ext>
              </a:extLst>
            </p:cNvPr>
            <p:cNvSpPr txBox="1"/>
            <p:nvPr/>
          </p:nvSpPr>
          <p:spPr>
            <a:xfrm>
              <a:off x="9872613" y="2243331"/>
              <a:ext cx="1436914" cy="646331"/>
            </a:xfrm>
            <a:prstGeom prst="rect">
              <a:avLst/>
            </a:prstGeom>
            <a:noFill/>
          </p:spPr>
          <p:txBody>
            <a:bodyPr wrap="square">
              <a:spAutoFit/>
            </a:bodyPr>
            <a:lstStyle/>
            <a:p>
              <a:pPr algn="ctr"/>
              <a:r>
                <a:rPr lang="zh-CN" altLang="en-US" b="1" dirty="0">
                  <a:solidFill>
                    <a:schemeClr val="accent4"/>
                  </a:solidFill>
                  <a:latin typeface="+mn-ea"/>
                </a:rPr>
                <a:t>使用</a:t>
              </a:r>
              <a:r>
                <a:rPr lang="en-US" altLang="zh-CN" b="1" dirty="0">
                  <a:solidFill>
                    <a:schemeClr val="accent4"/>
                  </a:solidFill>
                  <a:latin typeface="+mn-ea"/>
                </a:rPr>
                <a:t>POP3</a:t>
              </a:r>
            </a:p>
            <a:p>
              <a:pPr algn="ctr"/>
              <a:r>
                <a:rPr lang="zh-CN" altLang="en-US" b="1" dirty="0">
                  <a:solidFill>
                    <a:schemeClr val="accent4"/>
                  </a:solidFill>
                  <a:latin typeface="+mn-ea"/>
                </a:rPr>
                <a:t>读取邮件</a:t>
              </a:r>
            </a:p>
          </p:txBody>
        </p:sp>
      </p:grpSp>
      <p:sp>
        <p:nvSpPr>
          <p:cNvPr id="58" name="矩形 57">
            <a:extLst>
              <a:ext uri="{FF2B5EF4-FFF2-40B4-BE49-F238E27FC236}">
                <a16:creationId xmlns:a16="http://schemas.microsoft.com/office/drawing/2014/main" id="{8BF3517E-BDB8-C88A-AAED-FE7E2F91CE36}"/>
              </a:ext>
            </a:extLst>
          </p:cNvPr>
          <p:cNvSpPr/>
          <p:nvPr/>
        </p:nvSpPr>
        <p:spPr>
          <a:xfrm>
            <a:off x="1403722" y="311584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íşlïḍè">
            <a:extLst>
              <a:ext uri="{FF2B5EF4-FFF2-40B4-BE49-F238E27FC236}">
                <a16:creationId xmlns:a16="http://schemas.microsoft.com/office/drawing/2014/main" id="{5735E0C6-E36A-086E-6039-2D20B02489DD}"/>
              </a:ext>
            </a:extLst>
          </p:cNvPr>
          <p:cNvSpPr txBox="1"/>
          <p:nvPr/>
        </p:nvSpPr>
        <p:spPr>
          <a:xfrm>
            <a:off x="1681480" y="3034779"/>
            <a:ext cx="10205720" cy="400110"/>
          </a:xfrm>
          <a:prstGeom prst="rect">
            <a:avLst/>
          </a:prstGeom>
          <a:noFill/>
        </p:spPr>
        <p:txBody>
          <a:bodyPr wrap="square" lIns="91440" tIns="45720" rIns="91440" bIns="45720" anchor="ctr">
            <a:noAutofit/>
          </a:bodyPr>
          <a:lstStyle/>
          <a:p>
            <a:r>
              <a:rPr lang="zh-CN" altLang="en-US" b="1" dirty="0"/>
              <a:t>协议包括邮件</a:t>
            </a:r>
            <a:r>
              <a:rPr lang="zh-CN" altLang="en-US" b="1" dirty="0">
                <a:solidFill>
                  <a:schemeClr val="accent3"/>
                </a:solidFill>
              </a:rPr>
              <a:t>发送协议</a:t>
            </a:r>
            <a:r>
              <a:rPr lang="zh-CN" altLang="en-US" b="1" dirty="0"/>
              <a:t>（例如</a:t>
            </a:r>
            <a:r>
              <a:rPr lang="en-US" altLang="zh-CN" b="1" dirty="0"/>
              <a:t>SMTP</a:t>
            </a:r>
            <a:r>
              <a:rPr lang="zh-CN" altLang="en-US" b="1" dirty="0"/>
              <a:t>）和邮件</a:t>
            </a:r>
            <a:r>
              <a:rPr lang="zh-CN" altLang="en-US" b="1" dirty="0">
                <a:solidFill>
                  <a:schemeClr val="accent4"/>
                </a:solidFill>
              </a:rPr>
              <a:t>读取协议</a:t>
            </a:r>
            <a:r>
              <a:rPr lang="zh-CN" altLang="en-US" b="1" dirty="0"/>
              <a:t>（例如</a:t>
            </a:r>
            <a:r>
              <a:rPr lang="en-US" altLang="zh-CN" b="1" dirty="0"/>
              <a:t>POP3</a:t>
            </a:r>
            <a:r>
              <a:rPr lang="zh-CN" altLang="en-US" b="1" dirty="0"/>
              <a:t>，</a:t>
            </a:r>
            <a:r>
              <a:rPr lang="en-US" altLang="zh-CN" b="1" dirty="0"/>
              <a:t>IMAP</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324968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500" fill="hold"/>
                                        <p:tgtEl>
                                          <p:spTgt spid="35"/>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500" fill="hold"/>
                                        <p:tgtEl>
                                          <p:spTgt spid="42"/>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500" fill="hold"/>
                                        <p:tgtEl>
                                          <p:spTgt spid="48"/>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nodeType="withEffect">
                                  <p:stCondLst>
                                    <p:cond delay="0"/>
                                  </p:stCondLst>
                                  <p:childTnLst>
                                    <p:anim calcmode="discrete" valueType="str">
                                      <p:cBhvr>
                                        <p:cTn id="14" dur="500" fill="hold"/>
                                        <p:tgtEl>
                                          <p:spTgt spid="47"/>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wipe(down)">
                                      <p:cBhvr>
                                        <p:cTn id="19" dur="1000"/>
                                        <p:tgtEl>
                                          <p:spTgt spid="5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wipe(left)">
                                      <p:cBhvr>
                                        <p:cTn id="24" dur="1000"/>
                                        <p:tgtEl>
                                          <p:spTgt spid="5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animEffect transition="in" filter="wipe(down)">
                                      <p:cBhvr>
                                        <p:cTn id="29" dur="1000"/>
                                        <p:tgtEl>
                                          <p:spTgt spid="57"/>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58"/>
                                        </p:tgtEl>
                                        <p:attrNameLst>
                                          <p:attrName>style.visibility</p:attrName>
                                        </p:attrNameLst>
                                      </p:cBhvr>
                                      <p:to>
                                        <p:strVal val="visible"/>
                                      </p:to>
                                    </p:set>
                                    <p:anim calcmode="lin" valueType="num">
                                      <p:cBhvr>
                                        <p:cTn id="34" dur="500" fill="hold"/>
                                        <p:tgtEl>
                                          <p:spTgt spid="58"/>
                                        </p:tgtEl>
                                        <p:attrNameLst>
                                          <p:attrName>ppt_w</p:attrName>
                                        </p:attrNameLst>
                                      </p:cBhvr>
                                      <p:tavLst>
                                        <p:tav tm="0">
                                          <p:val>
                                            <p:fltVal val="0"/>
                                          </p:val>
                                        </p:tav>
                                        <p:tav tm="100000">
                                          <p:val>
                                            <p:strVal val="#ppt_w"/>
                                          </p:val>
                                        </p:tav>
                                      </p:tavLst>
                                    </p:anim>
                                    <p:anim calcmode="lin" valueType="num">
                                      <p:cBhvr>
                                        <p:cTn id="35" dur="500" fill="hold"/>
                                        <p:tgtEl>
                                          <p:spTgt spid="58"/>
                                        </p:tgtEl>
                                        <p:attrNameLst>
                                          <p:attrName>ppt_h</p:attrName>
                                        </p:attrNameLst>
                                      </p:cBhvr>
                                      <p:tavLst>
                                        <p:tav tm="0">
                                          <p:val>
                                            <p:fltVal val="0"/>
                                          </p:val>
                                        </p:tav>
                                        <p:tav tm="100000">
                                          <p:val>
                                            <p:strVal val="#ppt_h"/>
                                          </p:val>
                                        </p:tav>
                                      </p:tavLst>
                                    </p:anim>
                                    <p:anim calcmode="lin" valueType="num">
                                      <p:cBhvr>
                                        <p:cTn id="36" dur="500" fill="hold"/>
                                        <p:tgtEl>
                                          <p:spTgt spid="58"/>
                                        </p:tgtEl>
                                        <p:attrNameLst>
                                          <p:attrName>style.rotation</p:attrName>
                                        </p:attrNameLst>
                                      </p:cBhvr>
                                      <p:tavLst>
                                        <p:tav tm="0">
                                          <p:val>
                                            <p:fltVal val="360"/>
                                          </p:val>
                                        </p:tav>
                                        <p:tav tm="100000">
                                          <p:val>
                                            <p:fltVal val="0"/>
                                          </p:val>
                                        </p:tav>
                                      </p:tavLst>
                                    </p:anim>
                                    <p:animEffect transition="in" filter="fade">
                                      <p:cBhvr>
                                        <p:cTn id="37" dur="500"/>
                                        <p:tgtEl>
                                          <p:spTgt spid="58"/>
                                        </p:tgtEl>
                                      </p:cBhvr>
                                    </p:animEffect>
                                  </p:childTnLst>
                                </p:cTn>
                              </p:par>
                            </p:childTnLst>
                          </p:cTn>
                        </p:par>
                        <p:par>
                          <p:cTn id="38" fill="hold">
                            <p:stCondLst>
                              <p:cond delay="500"/>
                            </p:stCondLst>
                            <p:childTnLst>
                              <p:par>
                                <p:cTn id="39" presetID="1" presetClass="entr" presetSubtype="0" fill="hold" grpId="0" nodeType="afterEffect">
                                  <p:stCondLst>
                                    <p:cond delay="0"/>
                                  </p:stCondLst>
                                  <p:iterate type="lt">
                                    <p:tmAbs val="100"/>
                                  </p:iterate>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5481144" cy="400110"/>
            </a:xfrm>
            <a:prstGeom prst="rect">
              <a:avLst/>
            </a:prstGeom>
            <a:noFill/>
          </p:spPr>
          <p:txBody>
            <a:bodyPr wrap="square" rtlCol="0">
              <a:spAutoFit/>
            </a:bodyPr>
            <a:lstStyle/>
            <a:p>
              <a:r>
                <a:rPr lang="zh-CN" altLang="en-US" sz="2000" b="1" dirty="0">
                  <a:latin typeface="+mj-ea"/>
                  <a:ea typeface="+mj-ea"/>
                </a:rPr>
                <a:t>电子邮件系统的组成</a:t>
              </a:r>
            </a:p>
          </p:txBody>
        </p:sp>
      </p:grpSp>
      <p:grpSp>
        <p:nvGrpSpPr>
          <p:cNvPr id="70" name="组合 69">
            <a:extLst>
              <a:ext uri="{FF2B5EF4-FFF2-40B4-BE49-F238E27FC236}">
                <a16:creationId xmlns:a16="http://schemas.microsoft.com/office/drawing/2014/main" id="{4772C412-D734-31BC-6A23-2B565D51C381}"/>
              </a:ext>
            </a:extLst>
          </p:cNvPr>
          <p:cNvGrpSpPr/>
          <p:nvPr/>
        </p:nvGrpSpPr>
        <p:grpSpPr>
          <a:xfrm>
            <a:off x="783034" y="1144318"/>
            <a:ext cx="10600437" cy="2872873"/>
            <a:chOff x="783034" y="1144318"/>
            <a:chExt cx="10600437" cy="2872873"/>
          </a:xfrm>
        </p:grpSpPr>
        <p:grpSp>
          <p:nvGrpSpPr>
            <p:cNvPr id="5" name="组合 4">
              <a:extLst>
                <a:ext uri="{FF2B5EF4-FFF2-40B4-BE49-F238E27FC236}">
                  <a16:creationId xmlns:a16="http://schemas.microsoft.com/office/drawing/2014/main" id="{8BA5EBAF-F8C7-79FB-A010-AC63F77D9937}"/>
                </a:ext>
              </a:extLst>
            </p:cNvPr>
            <p:cNvGrpSpPr/>
            <p:nvPr/>
          </p:nvGrpSpPr>
          <p:grpSpPr>
            <a:xfrm>
              <a:off x="2070714" y="1471603"/>
              <a:ext cx="7801899" cy="2545588"/>
              <a:chOff x="2070714" y="3898800"/>
              <a:chExt cx="7801899" cy="2545588"/>
            </a:xfrm>
          </p:grpSpPr>
          <p:cxnSp>
            <p:nvCxnSpPr>
              <p:cNvPr id="6" name="直接连接符 5">
                <a:extLst>
                  <a:ext uri="{FF2B5EF4-FFF2-40B4-BE49-F238E27FC236}">
                    <a16:creationId xmlns:a16="http://schemas.microsoft.com/office/drawing/2014/main" id="{ADB2BECF-8BA9-AC08-8C9C-4087E9D0B624}"/>
                  </a:ext>
                </a:extLst>
              </p:cNvPr>
              <p:cNvCxnSpPr>
                <a:cxnSpLocks/>
              </p:cNvCxnSpPr>
              <p:nvPr/>
            </p:nvCxnSpPr>
            <p:spPr>
              <a:xfrm flipH="1" flipV="1">
                <a:off x="6408999" y="5206461"/>
                <a:ext cx="3024352" cy="90828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E2C35C1B-B5F7-6E92-3A92-EF9D6B379CD6}"/>
                  </a:ext>
                </a:extLst>
              </p:cNvPr>
              <p:cNvCxnSpPr>
                <a:cxnSpLocks/>
              </p:cNvCxnSpPr>
              <p:nvPr/>
            </p:nvCxnSpPr>
            <p:spPr>
              <a:xfrm flipV="1">
                <a:off x="7101711" y="4122367"/>
                <a:ext cx="2322502" cy="10974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DC50F424-D14B-D278-B9FF-E55409B4DF44}"/>
                  </a:ext>
                </a:extLst>
              </p:cNvPr>
              <p:cNvCxnSpPr>
                <a:cxnSpLocks/>
              </p:cNvCxnSpPr>
              <p:nvPr/>
            </p:nvCxnSpPr>
            <p:spPr>
              <a:xfrm flipH="1">
                <a:off x="2710999" y="5284659"/>
                <a:ext cx="3104606" cy="8577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A757410-F62E-DEF0-D051-5DC15650303D}"/>
                  </a:ext>
                </a:extLst>
              </p:cNvPr>
              <p:cNvCxnSpPr>
                <a:cxnSpLocks/>
              </p:cNvCxnSpPr>
              <p:nvPr/>
            </p:nvCxnSpPr>
            <p:spPr>
              <a:xfrm flipH="1" flipV="1">
                <a:off x="2698502" y="4035418"/>
                <a:ext cx="2995445" cy="12702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形 9">
                <a:extLst>
                  <a:ext uri="{FF2B5EF4-FFF2-40B4-BE49-F238E27FC236}">
                    <a16:creationId xmlns:a16="http://schemas.microsoft.com/office/drawing/2014/main" id="{3017CFA0-43A3-E809-A31E-48AB220190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70714" y="5435966"/>
                <a:ext cx="692512" cy="998031"/>
              </a:xfrm>
              <a:prstGeom prst="rect">
                <a:avLst/>
              </a:prstGeom>
            </p:spPr>
          </p:pic>
          <p:pic>
            <p:nvPicPr>
              <p:cNvPr id="11" name="图形 10">
                <a:extLst>
                  <a:ext uri="{FF2B5EF4-FFF2-40B4-BE49-F238E27FC236}">
                    <a16:creationId xmlns:a16="http://schemas.microsoft.com/office/drawing/2014/main" id="{9179D0F8-E7AD-1054-BD2B-4A52BDA5E69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6711" y="5447188"/>
                <a:ext cx="651233" cy="997200"/>
              </a:xfrm>
              <a:prstGeom prst="rect">
                <a:avLst/>
              </a:prstGeom>
            </p:spPr>
          </p:pic>
          <p:pic>
            <p:nvPicPr>
              <p:cNvPr id="12" name="图形 11">
                <a:extLst>
                  <a:ext uri="{FF2B5EF4-FFF2-40B4-BE49-F238E27FC236}">
                    <a16:creationId xmlns:a16="http://schemas.microsoft.com/office/drawing/2014/main" id="{4ABE0879-09D3-8BF0-C190-AE69530369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54841" y="3898800"/>
                <a:ext cx="717772" cy="853200"/>
              </a:xfrm>
              <a:prstGeom prst="rect">
                <a:avLst/>
              </a:prstGeom>
            </p:spPr>
          </p:pic>
          <p:sp>
            <p:nvSpPr>
              <p:cNvPr id="13" name="图形 73">
                <a:extLst>
                  <a:ext uri="{FF2B5EF4-FFF2-40B4-BE49-F238E27FC236}">
                    <a16:creationId xmlns:a16="http://schemas.microsoft.com/office/drawing/2014/main" id="{0567FB01-E88D-781D-DB42-AD1897185F5A}"/>
                  </a:ext>
                </a:extLst>
              </p:cNvPr>
              <p:cNvSpPr/>
              <p:nvPr/>
            </p:nvSpPr>
            <p:spPr>
              <a:xfrm>
                <a:off x="4807011" y="4658885"/>
                <a:ext cx="2708819" cy="1554161"/>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14" name="图形 13">
                <a:extLst>
                  <a:ext uri="{FF2B5EF4-FFF2-40B4-BE49-F238E27FC236}">
                    <a16:creationId xmlns:a16="http://schemas.microsoft.com/office/drawing/2014/main" id="{0B7114C7-EB1C-F300-0FF8-F815BEA054A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62024" y="3899618"/>
                <a:ext cx="716190" cy="851320"/>
              </a:xfrm>
              <a:prstGeom prst="rect">
                <a:avLst/>
              </a:prstGeom>
            </p:spPr>
          </p:pic>
        </p:grpSp>
        <p:grpSp>
          <p:nvGrpSpPr>
            <p:cNvPr id="15" name="组合 14">
              <a:extLst>
                <a:ext uri="{FF2B5EF4-FFF2-40B4-BE49-F238E27FC236}">
                  <a16:creationId xmlns:a16="http://schemas.microsoft.com/office/drawing/2014/main" id="{6B8C38E8-70A2-970B-593D-8D32AB4AE5C1}"/>
                </a:ext>
              </a:extLst>
            </p:cNvPr>
            <p:cNvGrpSpPr/>
            <p:nvPr/>
          </p:nvGrpSpPr>
          <p:grpSpPr>
            <a:xfrm>
              <a:off x="2535668" y="2711577"/>
              <a:ext cx="667659" cy="662801"/>
              <a:chOff x="2779422" y="3959271"/>
              <a:chExt cx="667659" cy="662801"/>
            </a:xfrm>
          </p:grpSpPr>
          <p:sp>
            <p:nvSpPr>
              <p:cNvPr id="16" name="椭圆 15">
                <a:extLst>
                  <a:ext uri="{FF2B5EF4-FFF2-40B4-BE49-F238E27FC236}">
                    <a16:creationId xmlns:a16="http://schemas.microsoft.com/office/drawing/2014/main" id="{33522AF6-9AE6-0D24-29AF-56C652A924F8}"/>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17" name="文本框 16">
                <a:extLst>
                  <a:ext uri="{FF2B5EF4-FFF2-40B4-BE49-F238E27FC236}">
                    <a16:creationId xmlns:a16="http://schemas.microsoft.com/office/drawing/2014/main" id="{1911856A-E14C-C821-D038-19D2C49A32EC}"/>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grpSp>
          <p:nvGrpSpPr>
            <p:cNvPr id="18" name="组合 17">
              <a:extLst>
                <a:ext uri="{FF2B5EF4-FFF2-40B4-BE49-F238E27FC236}">
                  <a16:creationId xmlns:a16="http://schemas.microsoft.com/office/drawing/2014/main" id="{9675AC71-1B9D-ED21-D012-2DC342024EDE}"/>
                </a:ext>
              </a:extLst>
            </p:cNvPr>
            <p:cNvGrpSpPr/>
            <p:nvPr/>
          </p:nvGrpSpPr>
          <p:grpSpPr>
            <a:xfrm>
              <a:off x="8801956" y="2711577"/>
              <a:ext cx="667659" cy="662801"/>
              <a:chOff x="2779422" y="3959271"/>
              <a:chExt cx="667659" cy="662801"/>
            </a:xfrm>
          </p:grpSpPr>
          <p:sp>
            <p:nvSpPr>
              <p:cNvPr id="19" name="椭圆 18">
                <a:extLst>
                  <a:ext uri="{FF2B5EF4-FFF2-40B4-BE49-F238E27FC236}">
                    <a16:creationId xmlns:a16="http://schemas.microsoft.com/office/drawing/2014/main" id="{B97A6B90-C23C-7C07-1971-E829192F7319}"/>
                  </a:ext>
                </a:extLst>
              </p:cNvPr>
              <p:cNvSpPr/>
              <p:nvPr/>
            </p:nvSpPr>
            <p:spPr>
              <a:xfrm>
                <a:off x="2779422" y="3960221"/>
                <a:ext cx="661851" cy="661851"/>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latin typeface="+mn-ea"/>
                </a:endParaRPr>
              </a:p>
            </p:txBody>
          </p:sp>
          <p:sp>
            <p:nvSpPr>
              <p:cNvPr id="20" name="文本框 19">
                <a:extLst>
                  <a:ext uri="{FF2B5EF4-FFF2-40B4-BE49-F238E27FC236}">
                    <a16:creationId xmlns:a16="http://schemas.microsoft.com/office/drawing/2014/main" id="{03C45EDA-33F1-0906-1FA8-DE9606184B00}"/>
                  </a:ext>
                </a:extLst>
              </p:cNvPr>
              <p:cNvSpPr txBox="1"/>
              <p:nvPr/>
            </p:nvSpPr>
            <p:spPr>
              <a:xfrm>
                <a:off x="2785230" y="3959271"/>
                <a:ext cx="661851" cy="646331"/>
              </a:xfrm>
              <a:prstGeom prst="rect">
                <a:avLst/>
              </a:prstGeom>
              <a:no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zh-CN" altLang="en-US" b="1" dirty="0">
                    <a:latin typeface="+mn-ea"/>
                  </a:rPr>
                  <a:t>用户</a:t>
                </a:r>
                <a:endParaRPr lang="en-US" altLang="zh-CN" b="1" dirty="0">
                  <a:latin typeface="+mn-ea"/>
                </a:endParaRPr>
              </a:p>
              <a:p>
                <a:pPr algn="ctr"/>
                <a:r>
                  <a:rPr lang="zh-CN" altLang="en-US" b="1" dirty="0">
                    <a:latin typeface="+mn-ea"/>
                  </a:rPr>
                  <a:t>代理</a:t>
                </a:r>
              </a:p>
            </p:txBody>
          </p:sp>
        </p:grpSp>
        <p:sp>
          <p:nvSpPr>
            <p:cNvPr id="21" name="文本框 20">
              <a:extLst>
                <a:ext uri="{FF2B5EF4-FFF2-40B4-BE49-F238E27FC236}">
                  <a16:creationId xmlns:a16="http://schemas.microsoft.com/office/drawing/2014/main" id="{09EF8D5A-AFBA-1247-9428-5D4687EBE8E1}"/>
                </a:ext>
              </a:extLst>
            </p:cNvPr>
            <p:cNvSpPr txBox="1"/>
            <p:nvPr/>
          </p:nvSpPr>
          <p:spPr>
            <a:xfrm>
              <a:off x="1152640" y="3034742"/>
              <a:ext cx="1047873" cy="369332"/>
            </a:xfrm>
            <a:prstGeom prst="rect">
              <a:avLst/>
            </a:prstGeom>
            <a:noFill/>
          </p:spPr>
          <p:txBody>
            <a:bodyPr wrap="square">
              <a:spAutoFit/>
            </a:bodyPr>
            <a:lstStyle/>
            <a:p>
              <a:pPr algn="ctr"/>
              <a:r>
                <a:rPr lang="zh-CN" altLang="en-US" b="1" dirty="0">
                  <a:latin typeface="+mn-ea"/>
                </a:rPr>
                <a:t>发送方</a:t>
              </a:r>
            </a:p>
          </p:txBody>
        </p:sp>
        <p:sp>
          <p:nvSpPr>
            <p:cNvPr id="32" name="文本框 31">
              <a:extLst>
                <a:ext uri="{FF2B5EF4-FFF2-40B4-BE49-F238E27FC236}">
                  <a16:creationId xmlns:a16="http://schemas.microsoft.com/office/drawing/2014/main" id="{3277AA96-B72D-A5AC-E73A-6B08E0AC3B79}"/>
                </a:ext>
              </a:extLst>
            </p:cNvPr>
            <p:cNvSpPr txBox="1"/>
            <p:nvPr/>
          </p:nvSpPr>
          <p:spPr>
            <a:xfrm>
              <a:off x="9888813" y="3034742"/>
              <a:ext cx="1047873" cy="369332"/>
            </a:xfrm>
            <a:prstGeom prst="rect">
              <a:avLst/>
            </a:prstGeom>
            <a:noFill/>
          </p:spPr>
          <p:txBody>
            <a:bodyPr wrap="square">
              <a:spAutoFit/>
            </a:bodyPr>
            <a:lstStyle/>
            <a:p>
              <a:pPr algn="ctr"/>
              <a:r>
                <a:rPr lang="zh-CN" altLang="en-US" b="1" dirty="0">
                  <a:latin typeface="+mn-ea"/>
                </a:rPr>
                <a:t>接收方</a:t>
              </a:r>
            </a:p>
          </p:txBody>
        </p:sp>
        <p:sp>
          <p:nvSpPr>
            <p:cNvPr id="45" name="文本框 44">
              <a:extLst>
                <a:ext uri="{FF2B5EF4-FFF2-40B4-BE49-F238E27FC236}">
                  <a16:creationId xmlns:a16="http://schemas.microsoft.com/office/drawing/2014/main" id="{68E77D1A-610A-0145-D380-CE5B83498526}"/>
                </a:ext>
              </a:extLst>
            </p:cNvPr>
            <p:cNvSpPr txBox="1"/>
            <p:nvPr/>
          </p:nvSpPr>
          <p:spPr>
            <a:xfrm>
              <a:off x="783034" y="1353651"/>
              <a:ext cx="1436914" cy="646331"/>
            </a:xfrm>
            <a:prstGeom prst="rect">
              <a:avLst/>
            </a:prstGeom>
            <a:noFill/>
          </p:spPr>
          <p:txBody>
            <a:bodyPr wrap="square">
              <a:spAutoFit/>
            </a:bodyPr>
            <a:lstStyle/>
            <a:p>
              <a:pPr algn="ctr"/>
              <a:r>
                <a:rPr lang="zh-CN" altLang="en-US" b="1" dirty="0">
                  <a:latin typeface="+mn-ea"/>
                </a:rPr>
                <a:t>发送方</a:t>
              </a:r>
              <a:endParaRPr lang="en-US" altLang="zh-CN" b="1" dirty="0">
                <a:latin typeface="+mn-ea"/>
              </a:endParaRPr>
            </a:p>
            <a:p>
              <a:pPr algn="ctr"/>
              <a:r>
                <a:rPr lang="zh-CN" altLang="en-US" b="1" dirty="0">
                  <a:latin typeface="+mn-ea"/>
                </a:rPr>
                <a:t>邮件服务器</a:t>
              </a:r>
            </a:p>
          </p:txBody>
        </p:sp>
        <p:sp>
          <p:nvSpPr>
            <p:cNvPr id="46" name="文本框 45">
              <a:extLst>
                <a:ext uri="{FF2B5EF4-FFF2-40B4-BE49-F238E27FC236}">
                  <a16:creationId xmlns:a16="http://schemas.microsoft.com/office/drawing/2014/main" id="{21987453-EED6-A106-0FDC-B5E832CBA3AE}"/>
                </a:ext>
              </a:extLst>
            </p:cNvPr>
            <p:cNvSpPr txBox="1"/>
            <p:nvPr/>
          </p:nvSpPr>
          <p:spPr>
            <a:xfrm>
              <a:off x="9946557" y="1243848"/>
              <a:ext cx="1436914" cy="646331"/>
            </a:xfrm>
            <a:prstGeom prst="rect">
              <a:avLst/>
            </a:prstGeom>
            <a:noFill/>
          </p:spPr>
          <p:txBody>
            <a:bodyPr wrap="square">
              <a:spAutoFit/>
            </a:bodyPr>
            <a:lstStyle/>
            <a:p>
              <a:pPr algn="ctr"/>
              <a:r>
                <a:rPr lang="zh-CN" altLang="en-US" b="1" dirty="0">
                  <a:latin typeface="+mn-ea"/>
                </a:rPr>
                <a:t>接收方</a:t>
              </a:r>
              <a:endParaRPr lang="en-US" altLang="zh-CN" b="1" dirty="0">
                <a:latin typeface="+mn-ea"/>
              </a:endParaRPr>
            </a:p>
            <a:p>
              <a:pPr algn="ctr"/>
              <a:r>
                <a:rPr lang="zh-CN" altLang="en-US" b="1" dirty="0">
                  <a:latin typeface="+mn-ea"/>
                </a:rPr>
                <a:t>邮件服务器</a:t>
              </a:r>
            </a:p>
          </p:txBody>
        </p:sp>
        <p:sp>
          <p:nvSpPr>
            <p:cNvPr id="29" name="矩形 28">
              <a:extLst>
                <a:ext uri="{FF2B5EF4-FFF2-40B4-BE49-F238E27FC236}">
                  <a16:creationId xmlns:a16="http://schemas.microsoft.com/office/drawing/2014/main" id="{26226B8D-7FA4-332C-E202-399B3414C611}"/>
                </a:ext>
              </a:extLst>
            </p:cNvPr>
            <p:cNvSpPr/>
            <p:nvPr/>
          </p:nvSpPr>
          <p:spPr>
            <a:xfrm>
              <a:off x="3074875" y="1146266"/>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grpSp>
          <p:nvGrpSpPr>
            <p:cNvPr id="47" name="组合 46">
              <a:extLst>
                <a:ext uri="{FF2B5EF4-FFF2-40B4-BE49-F238E27FC236}">
                  <a16:creationId xmlns:a16="http://schemas.microsoft.com/office/drawing/2014/main" id="{3CDC5E30-BBC9-A1DE-9C1F-1AB544B3A9D8}"/>
                </a:ext>
              </a:extLst>
            </p:cNvPr>
            <p:cNvGrpSpPr/>
            <p:nvPr/>
          </p:nvGrpSpPr>
          <p:grpSpPr>
            <a:xfrm>
              <a:off x="3217998" y="1949022"/>
              <a:ext cx="1161289" cy="436352"/>
              <a:chOff x="3217998" y="4376219"/>
              <a:chExt cx="1161289" cy="436352"/>
            </a:xfrm>
          </p:grpSpPr>
          <p:sp>
            <p:nvSpPr>
              <p:cNvPr id="30" name="矩形 29">
                <a:extLst>
                  <a:ext uri="{FF2B5EF4-FFF2-40B4-BE49-F238E27FC236}">
                    <a16:creationId xmlns:a16="http://schemas.microsoft.com/office/drawing/2014/main" id="{D0903DAB-356D-0CCB-723E-7C59F1A46283}"/>
                  </a:ext>
                </a:extLst>
              </p:cNvPr>
              <p:cNvSpPr/>
              <p:nvPr/>
            </p:nvSpPr>
            <p:spPr>
              <a:xfrm>
                <a:off x="3217998" y="4474145"/>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1" name="图形 30" descr="信封 纯色填充">
                <a:extLst>
                  <a:ext uri="{FF2B5EF4-FFF2-40B4-BE49-F238E27FC236}">
                    <a16:creationId xmlns:a16="http://schemas.microsoft.com/office/drawing/2014/main" id="{718EBFE4-7E6B-5BA1-9DD4-0BE14E71B995}"/>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71184" y="4446849"/>
                <a:ext cx="361851" cy="361851"/>
              </a:xfrm>
              <a:prstGeom prst="rect">
                <a:avLst/>
              </a:prstGeom>
            </p:spPr>
          </p:pic>
          <p:pic>
            <p:nvPicPr>
              <p:cNvPr id="33" name="图形 32" descr="信封 纯色填充">
                <a:extLst>
                  <a:ext uri="{FF2B5EF4-FFF2-40B4-BE49-F238E27FC236}">
                    <a16:creationId xmlns:a16="http://schemas.microsoft.com/office/drawing/2014/main" id="{AF196436-7F84-5CBC-CE7D-4F97474E19F1}"/>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977546" y="4445053"/>
                <a:ext cx="367518" cy="367518"/>
              </a:xfrm>
              <a:prstGeom prst="rect">
                <a:avLst/>
              </a:prstGeom>
            </p:spPr>
          </p:pic>
          <p:sp>
            <p:nvSpPr>
              <p:cNvPr id="34" name="文本框 33">
                <a:extLst>
                  <a:ext uri="{FF2B5EF4-FFF2-40B4-BE49-F238E27FC236}">
                    <a16:creationId xmlns:a16="http://schemas.microsoft.com/office/drawing/2014/main" id="{0DAA105D-DEAF-2A38-7C3E-36C67BA7E830}"/>
                  </a:ext>
                </a:extLst>
              </p:cNvPr>
              <p:cNvSpPr txBox="1"/>
              <p:nvPr/>
            </p:nvSpPr>
            <p:spPr>
              <a:xfrm>
                <a:off x="3553532" y="4376219"/>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pic>
          <p:nvPicPr>
            <p:cNvPr id="35" name="图片 34" descr="形状&#10;&#10;中度可信度描述已自动生成">
              <a:extLst>
                <a:ext uri="{FF2B5EF4-FFF2-40B4-BE49-F238E27FC236}">
                  <a16:creationId xmlns:a16="http://schemas.microsoft.com/office/drawing/2014/main" id="{4EE264AE-7F1A-D717-ACFB-878185E79D0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498825" y="1184357"/>
              <a:ext cx="716190" cy="580753"/>
            </a:xfrm>
            <a:prstGeom prst="rect">
              <a:avLst/>
            </a:prstGeom>
          </p:spPr>
        </p:pic>
        <p:sp>
          <p:nvSpPr>
            <p:cNvPr id="37" name="矩形 36">
              <a:extLst>
                <a:ext uri="{FF2B5EF4-FFF2-40B4-BE49-F238E27FC236}">
                  <a16:creationId xmlns:a16="http://schemas.microsoft.com/office/drawing/2014/main" id="{914606A6-C020-91BC-726E-5B01596A639E}"/>
                </a:ext>
              </a:extLst>
            </p:cNvPr>
            <p:cNvSpPr/>
            <p:nvPr/>
          </p:nvSpPr>
          <p:spPr>
            <a:xfrm>
              <a:off x="7816549" y="1144318"/>
              <a:ext cx="1460492" cy="132510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48" name="组合 47">
              <a:extLst>
                <a:ext uri="{FF2B5EF4-FFF2-40B4-BE49-F238E27FC236}">
                  <a16:creationId xmlns:a16="http://schemas.microsoft.com/office/drawing/2014/main" id="{61FC2625-8B7E-67A0-7BAC-1355C41CFC05}"/>
                </a:ext>
              </a:extLst>
            </p:cNvPr>
            <p:cNvGrpSpPr/>
            <p:nvPr/>
          </p:nvGrpSpPr>
          <p:grpSpPr>
            <a:xfrm>
              <a:off x="7959672" y="1947074"/>
              <a:ext cx="1161289" cy="436352"/>
              <a:chOff x="7959672" y="4374271"/>
              <a:chExt cx="1161289" cy="436352"/>
            </a:xfrm>
          </p:grpSpPr>
          <p:sp>
            <p:nvSpPr>
              <p:cNvPr id="38" name="矩形 37">
                <a:extLst>
                  <a:ext uri="{FF2B5EF4-FFF2-40B4-BE49-F238E27FC236}">
                    <a16:creationId xmlns:a16="http://schemas.microsoft.com/office/drawing/2014/main" id="{D024E1E9-2E64-2D4C-F170-CCFD0E438C2B}"/>
                  </a:ext>
                </a:extLst>
              </p:cNvPr>
              <p:cNvSpPr/>
              <p:nvPr/>
            </p:nvSpPr>
            <p:spPr>
              <a:xfrm>
                <a:off x="7959672" y="4472197"/>
                <a:ext cx="1161289" cy="33455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pic>
            <p:nvPicPr>
              <p:cNvPr id="39" name="图形 38" descr="信封 纯色填充">
                <a:extLst>
                  <a:ext uri="{FF2B5EF4-FFF2-40B4-BE49-F238E27FC236}">
                    <a16:creationId xmlns:a16="http://schemas.microsoft.com/office/drawing/2014/main" id="{AF2E9FB8-A4FA-42A3-486B-2FFB2F85F09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012858" y="4444901"/>
                <a:ext cx="361851" cy="361851"/>
              </a:xfrm>
              <a:prstGeom prst="rect">
                <a:avLst/>
              </a:prstGeom>
            </p:spPr>
          </p:pic>
          <p:pic>
            <p:nvPicPr>
              <p:cNvPr id="40" name="图形 39" descr="信封 纯色填充">
                <a:extLst>
                  <a:ext uri="{FF2B5EF4-FFF2-40B4-BE49-F238E27FC236}">
                    <a16:creationId xmlns:a16="http://schemas.microsoft.com/office/drawing/2014/main" id="{365DE5C2-11DF-C648-80D6-8DBACF1EE59E}"/>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19220" y="4443105"/>
                <a:ext cx="367518" cy="367518"/>
              </a:xfrm>
              <a:prstGeom prst="rect">
                <a:avLst/>
              </a:prstGeom>
            </p:spPr>
          </p:pic>
          <p:sp>
            <p:nvSpPr>
              <p:cNvPr id="41" name="文本框 40">
                <a:extLst>
                  <a:ext uri="{FF2B5EF4-FFF2-40B4-BE49-F238E27FC236}">
                    <a16:creationId xmlns:a16="http://schemas.microsoft.com/office/drawing/2014/main" id="{704A93A2-F9B9-AE63-87EC-30FFAF7FEEAB}"/>
                  </a:ext>
                </a:extLst>
              </p:cNvPr>
              <p:cNvSpPr txBox="1"/>
              <p:nvPr/>
            </p:nvSpPr>
            <p:spPr>
              <a:xfrm>
                <a:off x="8295206" y="4374271"/>
                <a:ext cx="491490" cy="369332"/>
              </a:xfrm>
              <a:prstGeom prst="rect">
                <a:avLst/>
              </a:prstGeom>
              <a:noFill/>
            </p:spPr>
            <p:txBody>
              <a:bodyPr wrap="square">
                <a:spAutoFit/>
              </a:bodyPr>
              <a:lstStyle/>
              <a:p>
                <a:pPr algn="ctr"/>
                <a:r>
                  <a:rPr lang="en-US" altLang="zh-CN" b="1" dirty="0">
                    <a:latin typeface="+mn-ea"/>
                  </a:rPr>
                  <a:t>…</a:t>
                </a:r>
                <a:endParaRPr lang="zh-CN" altLang="en-US" b="1" dirty="0">
                  <a:latin typeface="+mn-ea"/>
                </a:endParaRPr>
              </a:p>
            </p:txBody>
          </p:sp>
        </p:grpSp>
        <p:pic>
          <p:nvPicPr>
            <p:cNvPr id="42" name="图片 41" descr="形状&#10;&#10;中度可信度描述已自动生成">
              <a:extLst>
                <a:ext uri="{FF2B5EF4-FFF2-40B4-BE49-F238E27FC236}">
                  <a16:creationId xmlns:a16="http://schemas.microsoft.com/office/drawing/2014/main" id="{DBF2AC43-2491-8C78-671F-72EC451FD48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40499" y="1182409"/>
              <a:ext cx="716190" cy="580753"/>
            </a:xfrm>
            <a:prstGeom prst="rect">
              <a:avLst/>
            </a:prstGeom>
          </p:spPr>
        </p:pic>
        <p:grpSp>
          <p:nvGrpSpPr>
            <p:cNvPr id="49" name="组合 48">
              <a:extLst>
                <a:ext uri="{FF2B5EF4-FFF2-40B4-BE49-F238E27FC236}">
                  <a16:creationId xmlns:a16="http://schemas.microsoft.com/office/drawing/2014/main" id="{AD6C58C0-961B-3C4F-7B11-9B9F3A53BBAE}"/>
                </a:ext>
              </a:extLst>
            </p:cNvPr>
            <p:cNvGrpSpPr/>
            <p:nvPr/>
          </p:nvGrpSpPr>
          <p:grpSpPr>
            <a:xfrm>
              <a:off x="986150" y="2200579"/>
              <a:ext cx="2285034" cy="834165"/>
              <a:chOff x="986150" y="4627776"/>
              <a:chExt cx="2285034" cy="834165"/>
            </a:xfrm>
          </p:grpSpPr>
          <p:cxnSp>
            <p:nvCxnSpPr>
              <p:cNvPr id="50" name="连接符: 曲线 49">
                <a:extLst>
                  <a:ext uri="{FF2B5EF4-FFF2-40B4-BE49-F238E27FC236}">
                    <a16:creationId xmlns:a16="http://schemas.microsoft.com/office/drawing/2014/main" id="{DC910E7E-1315-481F-91CE-5421552DC9EF}"/>
                  </a:ext>
                </a:extLst>
              </p:cNvPr>
              <p:cNvCxnSpPr>
                <a:cxnSpLocks/>
              </p:cNvCxnSpPr>
              <p:nvPr/>
            </p:nvCxnSpPr>
            <p:spPr>
              <a:xfrm rot="10800000" flipH="1">
                <a:off x="2541476" y="4627776"/>
                <a:ext cx="729708" cy="834165"/>
              </a:xfrm>
              <a:prstGeom prst="curvedConnector3">
                <a:avLst>
                  <a:gd name="adj1" fmla="val -31328"/>
                </a:avLst>
              </a:prstGeom>
              <a:ln w="762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838612A3-938F-FCD3-59D6-D88E117933A8}"/>
                  </a:ext>
                </a:extLst>
              </p:cNvPr>
              <p:cNvSpPr txBox="1"/>
              <p:nvPr/>
            </p:nvSpPr>
            <p:spPr>
              <a:xfrm>
                <a:off x="986150" y="4670528"/>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2" name="组合 51">
              <a:extLst>
                <a:ext uri="{FF2B5EF4-FFF2-40B4-BE49-F238E27FC236}">
                  <a16:creationId xmlns:a16="http://schemas.microsoft.com/office/drawing/2014/main" id="{A25B1C73-6121-2EB1-11C2-F426AEE5517E}"/>
                </a:ext>
              </a:extLst>
            </p:cNvPr>
            <p:cNvGrpSpPr/>
            <p:nvPr/>
          </p:nvGrpSpPr>
          <p:grpSpPr>
            <a:xfrm>
              <a:off x="4202017" y="1158855"/>
              <a:ext cx="4149058" cy="1084613"/>
              <a:chOff x="4202017" y="3586052"/>
              <a:chExt cx="4149058" cy="1084613"/>
            </a:xfrm>
          </p:grpSpPr>
          <p:sp>
            <p:nvSpPr>
              <p:cNvPr id="53" name="任意多边形: 形状 52">
                <a:extLst>
                  <a:ext uri="{FF2B5EF4-FFF2-40B4-BE49-F238E27FC236}">
                    <a16:creationId xmlns:a16="http://schemas.microsoft.com/office/drawing/2014/main" id="{54F6E3B1-D6AC-1650-5707-CECB36F8B0A5}"/>
                  </a:ext>
                </a:extLst>
              </p:cNvPr>
              <p:cNvSpPr/>
              <p:nvPr/>
            </p:nvSpPr>
            <p:spPr>
              <a:xfrm>
                <a:off x="4202017" y="3966065"/>
                <a:ext cx="4149058" cy="704600"/>
              </a:xfrm>
              <a:custGeom>
                <a:avLst/>
                <a:gdLst>
                  <a:gd name="connsiteX0" fmla="*/ 0 w 3004457"/>
                  <a:gd name="connsiteY0" fmla="*/ 925286 h 925286"/>
                  <a:gd name="connsiteX1" fmla="*/ 566057 w 3004457"/>
                  <a:gd name="connsiteY1" fmla="*/ 544286 h 925286"/>
                  <a:gd name="connsiteX2" fmla="*/ 1306286 w 3004457"/>
                  <a:gd name="connsiteY2" fmla="*/ 239486 h 925286"/>
                  <a:gd name="connsiteX3" fmla="*/ 1948543 w 3004457"/>
                  <a:gd name="connsiteY3" fmla="*/ 108857 h 925286"/>
                  <a:gd name="connsiteX4" fmla="*/ 3004457 w 3004457"/>
                  <a:gd name="connsiteY4" fmla="*/ 0 h 925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4457" h="925286">
                    <a:moveTo>
                      <a:pt x="0" y="925286"/>
                    </a:moveTo>
                    <a:cubicBezTo>
                      <a:pt x="174171" y="791936"/>
                      <a:pt x="348343" y="658586"/>
                      <a:pt x="566057" y="544286"/>
                    </a:cubicBezTo>
                    <a:cubicBezTo>
                      <a:pt x="783771" y="429986"/>
                      <a:pt x="1075872" y="312057"/>
                      <a:pt x="1306286" y="239486"/>
                    </a:cubicBezTo>
                    <a:cubicBezTo>
                      <a:pt x="1536700" y="166915"/>
                      <a:pt x="1665515" y="148771"/>
                      <a:pt x="1948543" y="108857"/>
                    </a:cubicBezTo>
                    <a:cubicBezTo>
                      <a:pt x="2231571" y="68943"/>
                      <a:pt x="2618014" y="34471"/>
                      <a:pt x="3004457" y="0"/>
                    </a:cubicBezTo>
                  </a:path>
                </a:pathLst>
              </a:custGeom>
              <a:noFill/>
              <a:ln w="76200">
                <a:solidFill>
                  <a:schemeClr val="accent3"/>
                </a:solidFill>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4" name="文本框 53">
                <a:extLst>
                  <a:ext uri="{FF2B5EF4-FFF2-40B4-BE49-F238E27FC236}">
                    <a16:creationId xmlns:a16="http://schemas.microsoft.com/office/drawing/2014/main" id="{121DF9C0-77CE-05A5-70BD-46454C3047C1}"/>
                  </a:ext>
                </a:extLst>
              </p:cNvPr>
              <p:cNvSpPr txBox="1"/>
              <p:nvPr/>
            </p:nvSpPr>
            <p:spPr>
              <a:xfrm>
                <a:off x="4520102" y="3586052"/>
                <a:ext cx="1436914" cy="646331"/>
              </a:xfrm>
              <a:prstGeom prst="rect">
                <a:avLst/>
              </a:prstGeom>
              <a:noFill/>
            </p:spPr>
            <p:txBody>
              <a:bodyPr wrap="square">
                <a:spAutoFit/>
              </a:bodyPr>
              <a:lstStyle/>
              <a:p>
                <a:pPr algn="ctr"/>
                <a:r>
                  <a:rPr lang="zh-CN" altLang="en-US" b="1" dirty="0">
                    <a:solidFill>
                      <a:schemeClr val="accent3"/>
                    </a:solidFill>
                    <a:latin typeface="+mn-ea"/>
                  </a:rPr>
                  <a:t>使用</a:t>
                </a:r>
                <a:r>
                  <a:rPr lang="en-US" altLang="zh-CN" b="1" dirty="0">
                    <a:solidFill>
                      <a:schemeClr val="accent3"/>
                    </a:solidFill>
                    <a:latin typeface="+mn-ea"/>
                  </a:rPr>
                  <a:t>SMTP</a:t>
                </a:r>
              </a:p>
              <a:p>
                <a:pPr algn="ctr"/>
                <a:r>
                  <a:rPr lang="zh-CN" altLang="en-US" b="1" dirty="0">
                    <a:solidFill>
                      <a:schemeClr val="accent3"/>
                    </a:solidFill>
                    <a:latin typeface="+mn-ea"/>
                  </a:rPr>
                  <a:t>发送邮件</a:t>
                </a:r>
              </a:p>
            </p:txBody>
          </p:sp>
        </p:grpSp>
        <p:grpSp>
          <p:nvGrpSpPr>
            <p:cNvPr id="55" name="组合 54">
              <a:extLst>
                <a:ext uri="{FF2B5EF4-FFF2-40B4-BE49-F238E27FC236}">
                  <a16:creationId xmlns:a16="http://schemas.microsoft.com/office/drawing/2014/main" id="{530B2225-1A0E-DAA4-40B2-98207D87970B}"/>
                </a:ext>
              </a:extLst>
            </p:cNvPr>
            <p:cNvGrpSpPr/>
            <p:nvPr/>
          </p:nvGrpSpPr>
          <p:grpSpPr>
            <a:xfrm>
              <a:off x="8780013" y="1566898"/>
              <a:ext cx="2529514" cy="1467845"/>
              <a:chOff x="8780013" y="3994095"/>
              <a:chExt cx="2529514" cy="1467845"/>
            </a:xfrm>
          </p:grpSpPr>
          <p:cxnSp>
            <p:nvCxnSpPr>
              <p:cNvPr id="56" name="连接符: 曲线 55">
                <a:extLst>
                  <a:ext uri="{FF2B5EF4-FFF2-40B4-BE49-F238E27FC236}">
                    <a16:creationId xmlns:a16="http://schemas.microsoft.com/office/drawing/2014/main" id="{3668E623-766E-15BB-C254-BD89D07A3103}"/>
                  </a:ext>
                </a:extLst>
              </p:cNvPr>
              <p:cNvCxnSpPr>
                <a:cxnSpLocks/>
              </p:cNvCxnSpPr>
              <p:nvPr/>
            </p:nvCxnSpPr>
            <p:spPr>
              <a:xfrm flipH="1" flipV="1">
                <a:off x="8780013" y="3994095"/>
                <a:ext cx="689602" cy="1467845"/>
              </a:xfrm>
              <a:prstGeom prst="curvedConnector3">
                <a:avLst>
                  <a:gd name="adj1" fmla="val -33150"/>
                </a:avLst>
              </a:prstGeom>
              <a:ln w="762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A08FA722-7AB5-C866-0C24-2CB606984AA6}"/>
                  </a:ext>
                </a:extLst>
              </p:cNvPr>
              <p:cNvSpPr txBox="1"/>
              <p:nvPr/>
            </p:nvSpPr>
            <p:spPr>
              <a:xfrm>
                <a:off x="9872613" y="4670528"/>
                <a:ext cx="1436914" cy="646331"/>
              </a:xfrm>
              <a:prstGeom prst="rect">
                <a:avLst/>
              </a:prstGeom>
              <a:noFill/>
            </p:spPr>
            <p:txBody>
              <a:bodyPr wrap="square">
                <a:spAutoFit/>
              </a:bodyPr>
              <a:lstStyle/>
              <a:p>
                <a:pPr algn="ctr"/>
                <a:r>
                  <a:rPr lang="zh-CN" altLang="en-US" b="1" dirty="0">
                    <a:solidFill>
                      <a:schemeClr val="accent4"/>
                    </a:solidFill>
                    <a:latin typeface="+mn-ea"/>
                  </a:rPr>
                  <a:t>使用</a:t>
                </a:r>
                <a:r>
                  <a:rPr lang="en-US" altLang="zh-CN" b="1" dirty="0">
                    <a:solidFill>
                      <a:schemeClr val="accent4"/>
                    </a:solidFill>
                    <a:latin typeface="+mn-ea"/>
                  </a:rPr>
                  <a:t>POP3</a:t>
                </a:r>
              </a:p>
              <a:p>
                <a:pPr algn="ctr"/>
                <a:r>
                  <a:rPr lang="zh-CN" altLang="en-US" b="1" dirty="0">
                    <a:solidFill>
                      <a:schemeClr val="accent4"/>
                    </a:solidFill>
                    <a:latin typeface="+mn-ea"/>
                  </a:rPr>
                  <a:t>读取邮件</a:t>
                </a:r>
              </a:p>
            </p:txBody>
          </p:sp>
        </p:grpSp>
      </p:grpSp>
      <p:grpSp>
        <p:nvGrpSpPr>
          <p:cNvPr id="71" name="组合 70">
            <a:extLst>
              <a:ext uri="{FF2B5EF4-FFF2-40B4-BE49-F238E27FC236}">
                <a16:creationId xmlns:a16="http://schemas.microsoft.com/office/drawing/2014/main" id="{F06DC15C-29D4-DA3C-BE9A-F7558A3A9EAF}"/>
              </a:ext>
            </a:extLst>
          </p:cNvPr>
          <p:cNvGrpSpPr/>
          <p:nvPr/>
        </p:nvGrpSpPr>
        <p:grpSpPr>
          <a:xfrm>
            <a:off x="352859" y="3668332"/>
            <a:ext cx="11217189" cy="2565696"/>
            <a:chOff x="352859" y="3668332"/>
            <a:chExt cx="11217189" cy="2565696"/>
          </a:xfrm>
        </p:grpSpPr>
        <p:sp>
          <p:nvSpPr>
            <p:cNvPr id="72" name="矩形 71">
              <a:extLst>
                <a:ext uri="{FF2B5EF4-FFF2-40B4-BE49-F238E27FC236}">
                  <a16:creationId xmlns:a16="http://schemas.microsoft.com/office/drawing/2014/main" id="{E0569E58-70C5-2629-69EC-C4902A42DD46}"/>
                </a:ext>
              </a:extLst>
            </p:cNvPr>
            <p:cNvSpPr/>
            <p:nvPr/>
          </p:nvSpPr>
          <p:spPr>
            <a:xfrm>
              <a:off x="492197" y="4246297"/>
              <a:ext cx="1158240" cy="1987731"/>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600">
                <a:latin typeface="+mn-ea"/>
              </a:endParaRPr>
            </a:p>
          </p:txBody>
        </p:sp>
        <p:sp>
          <p:nvSpPr>
            <p:cNvPr id="73" name="文本框 72">
              <a:extLst>
                <a:ext uri="{FF2B5EF4-FFF2-40B4-BE49-F238E27FC236}">
                  <a16:creationId xmlns:a16="http://schemas.microsoft.com/office/drawing/2014/main" id="{7C90129F-647B-43F8-3D7F-639AA97BAEE0}"/>
                </a:ext>
              </a:extLst>
            </p:cNvPr>
            <p:cNvSpPr txBox="1"/>
            <p:nvPr/>
          </p:nvSpPr>
          <p:spPr>
            <a:xfrm>
              <a:off x="352859" y="3668332"/>
              <a:ext cx="1436914" cy="584775"/>
            </a:xfrm>
            <a:prstGeom prst="rect">
              <a:avLst/>
            </a:prstGeom>
            <a:noFill/>
          </p:spPr>
          <p:txBody>
            <a:bodyPr wrap="square">
              <a:spAutoFit/>
            </a:bodyPr>
            <a:lstStyle/>
            <a:p>
              <a:pPr algn="ctr"/>
              <a:r>
                <a:rPr lang="zh-CN" altLang="en-US" sz="1600" b="1" dirty="0">
                  <a:latin typeface="+mn-ea"/>
                </a:rPr>
                <a:t>发送方</a:t>
              </a:r>
              <a:endParaRPr lang="en-US" altLang="zh-CN" sz="1600" b="1" dirty="0">
                <a:latin typeface="+mn-ea"/>
              </a:endParaRPr>
            </a:p>
            <a:p>
              <a:pPr algn="ctr"/>
              <a:r>
                <a:rPr lang="zh-CN" altLang="en-US" sz="1600" b="1" dirty="0">
                  <a:latin typeface="+mn-ea"/>
                </a:rPr>
                <a:t>用户代理</a:t>
              </a:r>
            </a:p>
          </p:txBody>
        </p:sp>
        <p:sp>
          <p:nvSpPr>
            <p:cNvPr id="74" name="矩形 73">
              <a:extLst>
                <a:ext uri="{FF2B5EF4-FFF2-40B4-BE49-F238E27FC236}">
                  <a16:creationId xmlns:a16="http://schemas.microsoft.com/office/drawing/2014/main" id="{C5A0CA6D-9673-26FD-43C8-DD7E0E39B0BB}"/>
                </a:ext>
              </a:extLst>
            </p:cNvPr>
            <p:cNvSpPr/>
            <p:nvPr/>
          </p:nvSpPr>
          <p:spPr>
            <a:xfrm>
              <a:off x="3361671" y="4244903"/>
              <a:ext cx="1158240" cy="198773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75" name="文本框 74">
              <a:extLst>
                <a:ext uri="{FF2B5EF4-FFF2-40B4-BE49-F238E27FC236}">
                  <a16:creationId xmlns:a16="http://schemas.microsoft.com/office/drawing/2014/main" id="{40B9435E-E690-889E-3ED7-211689E7ABC8}"/>
                </a:ext>
              </a:extLst>
            </p:cNvPr>
            <p:cNvSpPr txBox="1"/>
            <p:nvPr/>
          </p:nvSpPr>
          <p:spPr>
            <a:xfrm>
              <a:off x="3222333" y="3668332"/>
              <a:ext cx="1436914" cy="584775"/>
            </a:xfrm>
            <a:prstGeom prst="rect">
              <a:avLst/>
            </a:prstGeom>
            <a:noFill/>
          </p:spPr>
          <p:txBody>
            <a:bodyPr wrap="square">
              <a:spAutoFit/>
            </a:bodyPr>
            <a:lstStyle/>
            <a:p>
              <a:pPr algn="ctr"/>
              <a:r>
                <a:rPr lang="zh-CN" altLang="en-US" sz="1600" b="1" dirty="0">
                  <a:latin typeface="+mn-ea"/>
                </a:rPr>
                <a:t>发送方</a:t>
              </a:r>
              <a:endParaRPr lang="en-US" altLang="zh-CN" sz="1600" b="1" dirty="0">
                <a:latin typeface="+mn-ea"/>
              </a:endParaRPr>
            </a:p>
            <a:p>
              <a:pPr algn="ctr"/>
              <a:r>
                <a:rPr lang="zh-CN" altLang="en-US" sz="1600" b="1" dirty="0">
                  <a:latin typeface="+mn-ea"/>
                </a:rPr>
                <a:t>邮件服务器</a:t>
              </a:r>
            </a:p>
          </p:txBody>
        </p:sp>
        <p:sp>
          <p:nvSpPr>
            <p:cNvPr id="76" name="矩形 75">
              <a:extLst>
                <a:ext uri="{FF2B5EF4-FFF2-40B4-BE49-F238E27FC236}">
                  <a16:creationId xmlns:a16="http://schemas.microsoft.com/office/drawing/2014/main" id="{FB5FA314-D5D6-EC18-81B7-2899C3742D4E}"/>
                </a:ext>
              </a:extLst>
            </p:cNvPr>
            <p:cNvSpPr/>
            <p:nvPr/>
          </p:nvSpPr>
          <p:spPr>
            <a:xfrm>
              <a:off x="7263660" y="4244903"/>
              <a:ext cx="1158240" cy="1987732"/>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77" name="文本框 76">
              <a:extLst>
                <a:ext uri="{FF2B5EF4-FFF2-40B4-BE49-F238E27FC236}">
                  <a16:creationId xmlns:a16="http://schemas.microsoft.com/office/drawing/2014/main" id="{2D5BB9C6-3B56-3D8A-9B92-7D7A2605CEBF}"/>
                </a:ext>
              </a:extLst>
            </p:cNvPr>
            <p:cNvSpPr txBox="1"/>
            <p:nvPr/>
          </p:nvSpPr>
          <p:spPr>
            <a:xfrm>
              <a:off x="7124322" y="3671876"/>
              <a:ext cx="1436914" cy="584775"/>
            </a:xfrm>
            <a:prstGeom prst="rect">
              <a:avLst/>
            </a:prstGeom>
            <a:noFill/>
          </p:spPr>
          <p:txBody>
            <a:bodyPr wrap="square">
              <a:spAutoFit/>
            </a:bodyPr>
            <a:lstStyle/>
            <a:p>
              <a:pPr algn="ctr"/>
              <a:r>
                <a:rPr lang="zh-CN" altLang="en-US" sz="1600" b="1" dirty="0">
                  <a:latin typeface="+mn-ea"/>
                </a:rPr>
                <a:t>接收方</a:t>
              </a:r>
              <a:endParaRPr lang="en-US" altLang="zh-CN" sz="1600" b="1" dirty="0">
                <a:latin typeface="+mn-ea"/>
              </a:endParaRPr>
            </a:p>
            <a:p>
              <a:pPr algn="ctr"/>
              <a:r>
                <a:rPr lang="zh-CN" altLang="en-US" sz="1600" b="1" dirty="0">
                  <a:latin typeface="+mn-ea"/>
                </a:rPr>
                <a:t>邮件服务器</a:t>
              </a:r>
            </a:p>
          </p:txBody>
        </p:sp>
        <p:sp>
          <p:nvSpPr>
            <p:cNvPr id="78" name="矩形 77">
              <a:extLst>
                <a:ext uri="{FF2B5EF4-FFF2-40B4-BE49-F238E27FC236}">
                  <a16:creationId xmlns:a16="http://schemas.microsoft.com/office/drawing/2014/main" id="{5B689472-4AA3-9885-C021-24CB2CA56F0B}"/>
                </a:ext>
              </a:extLst>
            </p:cNvPr>
            <p:cNvSpPr/>
            <p:nvPr/>
          </p:nvSpPr>
          <p:spPr>
            <a:xfrm>
              <a:off x="10272472" y="4244902"/>
              <a:ext cx="1158240" cy="1987733"/>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600">
                <a:latin typeface="+mn-ea"/>
              </a:endParaRPr>
            </a:p>
          </p:txBody>
        </p:sp>
        <p:sp>
          <p:nvSpPr>
            <p:cNvPr id="79" name="文本框 78">
              <a:extLst>
                <a:ext uri="{FF2B5EF4-FFF2-40B4-BE49-F238E27FC236}">
                  <a16:creationId xmlns:a16="http://schemas.microsoft.com/office/drawing/2014/main" id="{317B4920-5EDB-0529-4795-A42C1580D44A}"/>
                </a:ext>
              </a:extLst>
            </p:cNvPr>
            <p:cNvSpPr txBox="1"/>
            <p:nvPr/>
          </p:nvSpPr>
          <p:spPr>
            <a:xfrm>
              <a:off x="10133134" y="3668332"/>
              <a:ext cx="1436914" cy="584775"/>
            </a:xfrm>
            <a:prstGeom prst="rect">
              <a:avLst/>
            </a:prstGeom>
            <a:noFill/>
          </p:spPr>
          <p:txBody>
            <a:bodyPr wrap="square">
              <a:spAutoFit/>
            </a:bodyPr>
            <a:lstStyle/>
            <a:p>
              <a:pPr algn="ctr"/>
              <a:r>
                <a:rPr lang="zh-CN" altLang="en-US" sz="1600" b="1" dirty="0">
                  <a:latin typeface="+mn-ea"/>
                </a:rPr>
                <a:t>接收方</a:t>
              </a:r>
              <a:endParaRPr lang="en-US" altLang="zh-CN" sz="1600" b="1" dirty="0">
                <a:latin typeface="+mn-ea"/>
              </a:endParaRPr>
            </a:p>
            <a:p>
              <a:pPr algn="ctr"/>
              <a:r>
                <a:rPr lang="zh-CN" altLang="en-US" sz="1600" b="1" dirty="0">
                  <a:latin typeface="+mn-ea"/>
                </a:rPr>
                <a:t>用户代理</a:t>
              </a:r>
            </a:p>
          </p:txBody>
        </p:sp>
      </p:grpSp>
      <p:grpSp>
        <p:nvGrpSpPr>
          <p:cNvPr id="80" name="组合 79">
            <a:extLst>
              <a:ext uri="{FF2B5EF4-FFF2-40B4-BE49-F238E27FC236}">
                <a16:creationId xmlns:a16="http://schemas.microsoft.com/office/drawing/2014/main" id="{86CF5D6A-F0CC-D310-29EA-D1CF3682B661}"/>
              </a:ext>
            </a:extLst>
          </p:cNvPr>
          <p:cNvGrpSpPr/>
          <p:nvPr/>
        </p:nvGrpSpPr>
        <p:grpSpPr>
          <a:xfrm>
            <a:off x="539054" y="4328073"/>
            <a:ext cx="944880" cy="862448"/>
            <a:chOff x="4460470" y="2412275"/>
            <a:chExt cx="944880" cy="862448"/>
          </a:xfrm>
        </p:grpSpPr>
        <p:sp>
          <p:nvSpPr>
            <p:cNvPr id="81" name="椭圆 80">
              <a:extLst>
                <a:ext uri="{FF2B5EF4-FFF2-40B4-BE49-F238E27FC236}">
                  <a16:creationId xmlns:a16="http://schemas.microsoft.com/office/drawing/2014/main" id="{9356362E-A2B0-3A1F-DD5B-0B8E4A5D7FBC}"/>
                </a:ext>
              </a:extLst>
            </p:cNvPr>
            <p:cNvSpPr/>
            <p:nvPr/>
          </p:nvSpPr>
          <p:spPr>
            <a:xfrm>
              <a:off x="4502331" y="2412275"/>
              <a:ext cx="864000" cy="86244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82" name="文本框 81">
              <a:extLst>
                <a:ext uri="{FF2B5EF4-FFF2-40B4-BE49-F238E27FC236}">
                  <a16:creationId xmlns:a16="http://schemas.microsoft.com/office/drawing/2014/main" id="{7FC72256-EB09-38A4-EA60-A2B4AA9D9DEB}"/>
                </a:ext>
              </a:extLst>
            </p:cNvPr>
            <p:cNvSpPr txBox="1"/>
            <p:nvPr/>
          </p:nvSpPr>
          <p:spPr>
            <a:xfrm>
              <a:off x="4460470"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sp>
        <p:nvSpPr>
          <p:cNvPr id="83" name="文本框 82">
            <a:extLst>
              <a:ext uri="{FF2B5EF4-FFF2-40B4-BE49-F238E27FC236}">
                <a16:creationId xmlns:a16="http://schemas.microsoft.com/office/drawing/2014/main" id="{54430A00-FD3C-9CF8-9C3A-B5553967D8D1}"/>
              </a:ext>
            </a:extLst>
          </p:cNvPr>
          <p:cNvSpPr txBox="1"/>
          <p:nvPr/>
        </p:nvSpPr>
        <p:spPr>
          <a:xfrm>
            <a:off x="1749172" y="4177814"/>
            <a:ext cx="1436914" cy="584775"/>
          </a:xfrm>
          <a:prstGeom prst="rect">
            <a:avLst/>
          </a:prstGeom>
          <a:noFill/>
        </p:spPr>
        <p:txBody>
          <a:bodyPr wrap="square">
            <a:spAutoFit/>
          </a:bodyPr>
          <a:lstStyle/>
          <a:p>
            <a:pPr algn="ctr"/>
            <a:r>
              <a:rPr lang="zh-CN" altLang="en-US" sz="1600" b="1" dirty="0">
                <a:solidFill>
                  <a:schemeClr val="accent3"/>
                </a:solidFill>
                <a:latin typeface="+mn-ea"/>
              </a:rPr>
              <a:t>使用</a:t>
            </a:r>
            <a:r>
              <a:rPr lang="en-US" altLang="zh-CN" sz="1600" b="1" dirty="0">
                <a:solidFill>
                  <a:schemeClr val="accent3"/>
                </a:solidFill>
                <a:latin typeface="+mn-ea"/>
              </a:rPr>
              <a:t>SMTP</a:t>
            </a:r>
          </a:p>
          <a:p>
            <a:pPr algn="ctr"/>
            <a:r>
              <a:rPr lang="zh-CN" altLang="en-US" sz="1600" b="1" dirty="0">
                <a:solidFill>
                  <a:schemeClr val="accent3"/>
                </a:solidFill>
                <a:latin typeface="+mn-ea"/>
              </a:rPr>
              <a:t>发送邮件</a:t>
            </a:r>
          </a:p>
        </p:txBody>
      </p:sp>
      <p:grpSp>
        <p:nvGrpSpPr>
          <p:cNvPr id="84" name="组合 83">
            <a:extLst>
              <a:ext uri="{FF2B5EF4-FFF2-40B4-BE49-F238E27FC236}">
                <a16:creationId xmlns:a16="http://schemas.microsoft.com/office/drawing/2014/main" id="{04D1FCFA-3C6F-B5D8-89FB-94499D4815E4}"/>
              </a:ext>
            </a:extLst>
          </p:cNvPr>
          <p:cNvGrpSpPr/>
          <p:nvPr/>
        </p:nvGrpSpPr>
        <p:grpSpPr>
          <a:xfrm>
            <a:off x="3425620" y="4327702"/>
            <a:ext cx="944880" cy="864000"/>
            <a:chOff x="4477562" y="2412274"/>
            <a:chExt cx="944880" cy="864000"/>
          </a:xfrm>
        </p:grpSpPr>
        <p:sp>
          <p:nvSpPr>
            <p:cNvPr id="85" name="椭圆 84">
              <a:extLst>
                <a:ext uri="{FF2B5EF4-FFF2-40B4-BE49-F238E27FC236}">
                  <a16:creationId xmlns:a16="http://schemas.microsoft.com/office/drawing/2014/main" id="{4E2AF152-3CFD-0796-86A1-CBA80A734B31}"/>
                </a:ext>
              </a:extLst>
            </p:cNvPr>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86" name="文本框 85">
              <a:extLst>
                <a:ext uri="{FF2B5EF4-FFF2-40B4-BE49-F238E27FC236}">
                  <a16:creationId xmlns:a16="http://schemas.microsoft.com/office/drawing/2014/main" id="{219B82AD-929E-FFD4-1DD4-89659A051379}"/>
                </a:ext>
              </a:extLst>
            </p:cNvPr>
            <p:cNvSpPr txBox="1"/>
            <p:nvPr/>
          </p:nvSpPr>
          <p:spPr>
            <a:xfrm>
              <a:off x="4477562"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nvGrpSpPr>
          <p:cNvPr id="87" name="组合 86">
            <a:extLst>
              <a:ext uri="{FF2B5EF4-FFF2-40B4-BE49-F238E27FC236}">
                <a16:creationId xmlns:a16="http://schemas.microsoft.com/office/drawing/2014/main" id="{1152613F-91CB-AD20-DAE1-C1E76D661EFA}"/>
              </a:ext>
            </a:extLst>
          </p:cNvPr>
          <p:cNvGrpSpPr/>
          <p:nvPr/>
        </p:nvGrpSpPr>
        <p:grpSpPr>
          <a:xfrm>
            <a:off x="3417073" y="5288902"/>
            <a:ext cx="944880" cy="864000"/>
            <a:chOff x="4469016" y="2412274"/>
            <a:chExt cx="944880" cy="864000"/>
          </a:xfrm>
        </p:grpSpPr>
        <p:sp>
          <p:nvSpPr>
            <p:cNvPr id="88" name="椭圆 87">
              <a:extLst>
                <a:ext uri="{FF2B5EF4-FFF2-40B4-BE49-F238E27FC236}">
                  <a16:creationId xmlns:a16="http://schemas.microsoft.com/office/drawing/2014/main" id="{44AEFD5A-013E-E15F-88BB-381770BC73E9}"/>
                </a:ext>
              </a:extLst>
            </p:cNvPr>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89" name="文本框 88">
              <a:extLst>
                <a:ext uri="{FF2B5EF4-FFF2-40B4-BE49-F238E27FC236}">
                  <a16:creationId xmlns:a16="http://schemas.microsoft.com/office/drawing/2014/main" id="{8B49DF7B-EBA6-C8E8-1F22-017B493953F2}"/>
                </a:ext>
              </a:extLst>
            </p:cNvPr>
            <p:cNvSpPr txBox="1"/>
            <p:nvPr/>
          </p:nvSpPr>
          <p:spPr>
            <a:xfrm>
              <a:off x="4469016"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grpSp>
        <p:nvGrpSpPr>
          <p:cNvPr id="90" name="组合 89">
            <a:extLst>
              <a:ext uri="{FF2B5EF4-FFF2-40B4-BE49-F238E27FC236}">
                <a16:creationId xmlns:a16="http://schemas.microsoft.com/office/drawing/2014/main" id="{CEF78591-3AAA-BE80-7CF3-B704191A7D74}"/>
              </a:ext>
            </a:extLst>
          </p:cNvPr>
          <p:cNvGrpSpPr/>
          <p:nvPr/>
        </p:nvGrpSpPr>
        <p:grpSpPr>
          <a:xfrm>
            <a:off x="7336155" y="4327702"/>
            <a:ext cx="944880" cy="864000"/>
            <a:chOff x="7336155" y="4596542"/>
            <a:chExt cx="944880" cy="864000"/>
          </a:xfrm>
        </p:grpSpPr>
        <p:sp>
          <p:nvSpPr>
            <p:cNvPr id="91" name="椭圆 90">
              <a:extLst>
                <a:ext uri="{FF2B5EF4-FFF2-40B4-BE49-F238E27FC236}">
                  <a16:creationId xmlns:a16="http://schemas.microsoft.com/office/drawing/2014/main" id="{4A8ECD24-8997-427B-0124-5AF4AD33400A}"/>
                </a:ext>
              </a:extLst>
            </p:cNvPr>
            <p:cNvSpPr/>
            <p:nvPr/>
          </p:nvSpPr>
          <p:spPr>
            <a:xfrm>
              <a:off x="7352378" y="4596542"/>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92" name="文本框 91">
              <a:extLst>
                <a:ext uri="{FF2B5EF4-FFF2-40B4-BE49-F238E27FC236}">
                  <a16:creationId xmlns:a16="http://schemas.microsoft.com/office/drawing/2014/main" id="{369F19F5-CAFB-BA30-A409-165ABFDE74DF}"/>
                </a:ext>
              </a:extLst>
            </p:cNvPr>
            <p:cNvSpPr txBox="1"/>
            <p:nvPr/>
          </p:nvSpPr>
          <p:spPr>
            <a:xfrm>
              <a:off x="7336155" y="4763777"/>
              <a:ext cx="944880" cy="584775"/>
            </a:xfrm>
            <a:prstGeom prst="rect">
              <a:avLst/>
            </a:prstGeom>
            <a:noFill/>
          </p:spPr>
          <p:txBody>
            <a:bodyPr wrap="square">
              <a:spAutoFit/>
            </a:bodyPr>
            <a:lstStyle/>
            <a:p>
              <a:pPr algn="ctr"/>
              <a:r>
                <a:rPr lang="en-US" altLang="zh-CN" sz="1600" b="1" dirty="0">
                  <a:latin typeface="+mn-ea"/>
                </a:rPr>
                <a:t>POP3</a:t>
              </a:r>
            </a:p>
            <a:p>
              <a:pPr algn="ctr"/>
              <a:r>
                <a:rPr lang="zh-CN" altLang="en-US" sz="1600" b="1" dirty="0">
                  <a:latin typeface="+mn-ea"/>
                </a:rPr>
                <a:t>服务器</a:t>
              </a:r>
            </a:p>
          </p:txBody>
        </p:sp>
      </p:grpSp>
      <p:grpSp>
        <p:nvGrpSpPr>
          <p:cNvPr id="93" name="组合 92">
            <a:extLst>
              <a:ext uri="{FF2B5EF4-FFF2-40B4-BE49-F238E27FC236}">
                <a16:creationId xmlns:a16="http://schemas.microsoft.com/office/drawing/2014/main" id="{86951446-6391-4E0C-A44D-EDDB48BF40BE}"/>
              </a:ext>
            </a:extLst>
          </p:cNvPr>
          <p:cNvGrpSpPr/>
          <p:nvPr/>
        </p:nvGrpSpPr>
        <p:grpSpPr>
          <a:xfrm>
            <a:off x="7336154" y="5288902"/>
            <a:ext cx="944880" cy="864000"/>
            <a:chOff x="4486108" y="2412274"/>
            <a:chExt cx="944880" cy="864000"/>
          </a:xfrm>
        </p:grpSpPr>
        <p:sp>
          <p:nvSpPr>
            <p:cNvPr id="94" name="椭圆 93">
              <a:extLst>
                <a:ext uri="{FF2B5EF4-FFF2-40B4-BE49-F238E27FC236}">
                  <a16:creationId xmlns:a16="http://schemas.microsoft.com/office/drawing/2014/main" id="{E3CBBAA2-B527-D148-FB54-702653761D73}"/>
                </a:ext>
              </a:extLst>
            </p:cNvPr>
            <p:cNvSpPr/>
            <p:nvPr/>
          </p:nvSpPr>
          <p:spPr>
            <a:xfrm>
              <a:off x="4502331" y="2412274"/>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95" name="文本框 94">
              <a:extLst>
                <a:ext uri="{FF2B5EF4-FFF2-40B4-BE49-F238E27FC236}">
                  <a16:creationId xmlns:a16="http://schemas.microsoft.com/office/drawing/2014/main" id="{B0C2869B-131B-4D9B-4371-519B1BBC6638}"/>
                </a:ext>
              </a:extLst>
            </p:cNvPr>
            <p:cNvSpPr txBox="1"/>
            <p:nvPr/>
          </p:nvSpPr>
          <p:spPr>
            <a:xfrm>
              <a:off x="4486108" y="2579509"/>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nvGrpSpPr>
          <p:cNvPr id="96" name="组合 95">
            <a:extLst>
              <a:ext uri="{FF2B5EF4-FFF2-40B4-BE49-F238E27FC236}">
                <a16:creationId xmlns:a16="http://schemas.microsoft.com/office/drawing/2014/main" id="{F701E9B3-5A1B-0235-1DBC-9F82C8FB00D2}"/>
              </a:ext>
            </a:extLst>
          </p:cNvPr>
          <p:cNvGrpSpPr/>
          <p:nvPr/>
        </p:nvGrpSpPr>
        <p:grpSpPr>
          <a:xfrm>
            <a:off x="10344967" y="4327702"/>
            <a:ext cx="944880" cy="864000"/>
            <a:chOff x="10344967" y="4592998"/>
            <a:chExt cx="944880" cy="864000"/>
          </a:xfrm>
        </p:grpSpPr>
        <p:sp>
          <p:nvSpPr>
            <p:cNvPr id="97" name="椭圆 96">
              <a:extLst>
                <a:ext uri="{FF2B5EF4-FFF2-40B4-BE49-F238E27FC236}">
                  <a16:creationId xmlns:a16="http://schemas.microsoft.com/office/drawing/2014/main" id="{3B3AF502-5FFA-8548-6189-31C4469DD29D}"/>
                </a:ext>
              </a:extLst>
            </p:cNvPr>
            <p:cNvSpPr/>
            <p:nvPr/>
          </p:nvSpPr>
          <p:spPr>
            <a:xfrm>
              <a:off x="10361190" y="4592998"/>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98" name="文本框 97">
              <a:extLst>
                <a:ext uri="{FF2B5EF4-FFF2-40B4-BE49-F238E27FC236}">
                  <a16:creationId xmlns:a16="http://schemas.microsoft.com/office/drawing/2014/main" id="{40C8BF00-F783-563D-7123-48024FA5F9AE}"/>
                </a:ext>
              </a:extLst>
            </p:cNvPr>
            <p:cNvSpPr txBox="1"/>
            <p:nvPr/>
          </p:nvSpPr>
          <p:spPr>
            <a:xfrm>
              <a:off x="10344967" y="4760233"/>
              <a:ext cx="944880" cy="584775"/>
            </a:xfrm>
            <a:prstGeom prst="rect">
              <a:avLst/>
            </a:prstGeom>
            <a:noFill/>
          </p:spPr>
          <p:txBody>
            <a:bodyPr wrap="square">
              <a:spAutoFit/>
            </a:bodyPr>
            <a:lstStyle/>
            <a:p>
              <a:pPr algn="ctr"/>
              <a:r>
                <a:rPr lang="en-US" altLang="zh-CN" sz="1600" b="1" dirty="0">
                  <a:latin typeface="+mn-ea"/>
                </a:rPr>
                <a:t>POP3</a:t>
              </a:r>
            </a:p>
            <a:p>
              <a:pPr algn="ctr"/>
              <a:r>
                <a:rPr lang="zh-CN" altLang="en-US" sz="1600" b="1" dirty="0">
                  <a:latin typeface="+mn-ea"/>
                </a:rPr>
                <a:t>客户</a:t>
              </a:r>
            </a:p>
          </p:txBody>
        </p:sp>
      </p:grpSp>
      <p:grpSp>
        <p:nvGrpSpPr>
          <p:cNvPr id="99" name="组合 98">
            <a:extLst>
              <a:ext uri="{FF2B5EF4-FFF2-40B4-BE49-F238E27FC236}">
                <a16:creationId xmlns:a16="http://schemas.microsoft.com/office/drawing/2014/main" id="{97AD8D1E-D97D-CFE9-89BB-43292C664FF2}"/>
              </a:ext>
            </a:extLst>
          </p:cNvPr>
          <p:cNvGrpSpPr/>
          <p:nvPr/>
        </p:nvGrpSpPr>
        <p:grpSpPr>
          <a:xfrm>
            <a:off x="1461441" y="4759297"/>
            <a:ext cx="1980705" cy="695966"/>
            <a:chOff x="1461441" y="4759297"/>
            <a:chExt cx="1980705" cy="695966"/>
          </a:xfrm>
        </p:grpSpPr>
        <p:sp>
          <p:nvSpPr>
            <p:cNvPr id="100" name="文本框 99">
              <a:extLst>
                <a:ext uri="{FF2B5EF4-FFF2-40B4-BE49-F238E27FC236}">
                  <a16:creationId xmlns:a16="http://schemas.microsoft.com/office/drawing/2014/main" id="{DCC7AC20-79C5-DCD4-3EA6-7628AEAF56B2}"/>
                </a:ext>
              </a:extLst>
            </p:cNvPr>
            <p:cNvSpPr txBox="1"/>
            <p:nvPr/>
          </p:nvSpPr>
          <p:spPr>
            <a:xfrm>
              <a:off x="1739154" y="4870488"/>
              <a:ext cx="1436914" cy="584775"/>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25</a:t>
              </a:r>
              <a:endParaRPr lang="zh-CN" altLang="en-US" sz="1600" b="1" dirty="0">
                <a:latin typeface="+mn-ea"/>
              </a:endParaRPr>
            </a:p>
          </p:txBody>
        </p:sp>
        <p:cxnSp>
          <p:nvCxnSpPr>
            <p:cNvPr id="101" name="直接箭头连接符 100">
              <a:extLst>
                <a:ext uri="{FF2B5EF4-FFF2-40B4-BE49-F238E27FC236}">
                  <a16:creationId xmlns:a16="http://schemas.microsoft.com/office/drawing/2014/main" id="{52976451-ED99-414F-E0B8-9F993106BFEF}"/>
                </a:ext>
              </a:extLst>
            </p:cNvPr>
            <p:cNvCxnSpPr>
              <a:cxnSpLocks/>
            </p:cNvCxnSpPr>
            <p:nvPr/>
          </p:nvCxnSpPr>
          <p:spPr>
            <a:xfrm>
              <a:off x="1461441" y="4759297"/>
              <a:ext cx="1980705" cy="28398"/>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sp>
        <p:nvSpPr>
          <p:cNvPr id="102" name="文本框 101">
            <a:extLst>
              <a:ext uri="{FF2B5EF4-FFF2-40B4-BE49-F238E27FC236}">
                <a16:creationId xmlns:a16="http://schemas.microsoft.com/office/drawing/2014/main" id="{0C69068E-39A9-0968-7EEE-AC7F352CB330}"/>
              </a:ext>
            </a:extLst>
          </p:cNvPr>
          <p:cNvSpPr txBox="1"/>
          <p:nvPr/>
        </p:nvSpPr>
        <p:spPr>
          <a:xfrm>
            <a:off x="4775843" y="5379702"/>
            <a:ext cx="2113192" cy="338554"/>
          </a:xfrm>
          <a:prstGeom prst="rect">
            <a:avLst/>
          </a:prstGeom>
          <a:noFill/>
        </p:spPr>
        <p:txBody>
          <a:bodyPr wrap="square">
            <a:spAutoFit/>
          </a:bodyPr>
          <a:lstStyle/>
          <a:p>
            <a:pPr algn="ctr"/>
            <a:r>
              <a:rPr lang="zh-CN" altLang="en-US" sz="1600" b="1" dirty="0">
                <a:solidFill>
                  <a:schemeClr val="accent3"/>
                </a:solidFill>
                <a:latin typeface="+mn-ea"/>
              </a:rPr>
              <a:t>使用</a:t>
            </a:r>
            <a:r>
              <a:rPr lang="en-US" altLang="zh-CN" sz="1600" b="1" dirty="0">
                <a:solidFill>
                  <a:schemeClr val="accent3"/>
                </a:solidFill>
                <a:latin typeface="+mn-ea"/>
              </a:rPr>
              <a:t>SMTP</a:t>
            </a:r>
            <a:r>
              <a:rPr lang="zh-CN" altLang="en-US" sz="1600" b="1" dirty="0">
                <a:solidFill>
                  <a:schemeClr val="accent3"/>
                </a:solidFill>
                <a:latin typeface="+mn-ea"/>
              </a:rPr>
              <a:t>发送邮件</a:t>
            </a:r>
          </a:p>
        </p:txBody>
      </p:sp>
      <p:grpSp>
        <p:nvGrpSpPr>
          <p:cNvPr id="103" name="组合 102">
            <a:extLst>
              <a:ext uri="{FF2B5EF4-FFF2-40B4-BE49-F238E27FC236}">
                <a16:creationId xmlns:a16="http://schemas.microsoft.com/office/drawing/2014/main" id="{D56A12AC-59C1-440E-A97F-8EB1039C6912}"/>
              </a:ext>
            </a:extLst>
          </p:cNvPr>
          <p:cNvGrpSpPr/>
          <p:nvPr/>
        </p:nvGrpSpPr>
        <p:grpSpPr>
          <a:xfrm>
            <a:off x="4313825" y="5714347"/>
            <a:ext cx="3021766" cy="621523"/>
            <a:chOff x="4313825" y="5714347"/>
            <a:chExt cx="3021766" cy="621523"/>
          </a:xfrm>
        </p:grpSpPr>
        <p:cxnSp>
          <p:nvCxnSpPr>
            <p:cNvPr id="104" name="直接箭头连接符 103">
              <a:extLst>
                <a:ext uri="{FF2B5EF4-FFF2-40B4-BE49-F238E27FC236}">
                  <a16:creationId xmlns:a16="http://schemas.microsoft.com/office/drawing/2014/main" id="{BDBA2ADB-5FB4-3337-6109-FF627FDC3F60}"/>
                </a:ext>
              </a:extLst>
            </p:cNvPr>
            <p:cNvCxnSpPr>
              <a:cxnSpLocks/>
            </p:cNvCxnSpPr>
            <p:nvPr/>
          </p:nvCxnSpPr>
          <p:spPr>
            <a:xfrm>
              <a:off x="4313825" y="5714347"/>
              <a:ext cx="3021766" cy="31167"/>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CA51C465-E45C-4A1A-3389-36DD669DD090}"/>
                </a:ext>
              </a:extLst>
            </p:cNvPr>
            <p:cNvSpPr txBox="1"/>
            <p:nvPr/>
          </p:nvSpPr>
          <p:spPr>
            <a:xfrm>
              <a:off x="5172672" y="5751095"/>
              <a:ext cx="1436914" cy="584775"/>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25</a:t>
              </a:r>
              <a:endParaRPr lang="zh-CN" altLang="en-US" sz="1600" b="1" dirty="0">
                <a:latin typeface="+mn-ea"/>
              </a:endParaRPr>
            </a:p>
          </p:txBody>
        </p:sp>
      </p:grpSp>
      <p:grpSp>
        <p:nvGrpSpPr>
          <p:cNvPr id="106" name="组合 105">
            <a:extLst>
              <a:ext uri="{FF2B5EF4-FFF2-40B4-BE49-F238E27FC236}">
                <a16:creationId xmlns:a16="http://schemas.microsoft.com/office/drawing/2014/main" id="{A2A63D7C-9FED-B6F6-BCF0-BC76BEC21103}"/>
              </a:ext>
            </a:extLst>
          </p:cNvPr>
          <p:cNvGrpSpPr/>
          <p:nvPr/>
        </p:nvGrpSpPr>
        <p:grpSpPr>
          <a:xfrm>
            <a:off x="8245551" y="4769952"/>
            <a:ext cx="2063932" cy="686185"/>
            <a:chOff x="8245551" y="4769952"/>
            <a:chExt cx="2063932" cy="686185"/>
          </a:xfrm>
        </p:grpSpPr>
        <p:cxnSp>
          <p:nvCxnSpPr>
            <p:cNvPr id="107" name="直接箭头连接符 106">
              <a:extLst>
                <a:ext uri="{FF2B5EF4-FFF2-40B4-BE49-F238E27FC236}">
                  <a16:creationId xmlns:a16="http://schemas.microsoft.com/office/drawing/2014/main" id="{A866B6F3-572A-028C-97DC-B4B010A38133}"/>
                </a:ext>
              </a:extLst>
            </p:cNvPr>
            <p:cNvCxnSpPr>
              <a:cxnSpLocks/>
            </p:cNvCxnSpPr>
            <p:nvPr/>
          </p:nvCxnSpPr>
          <p:spPr>
            <a:xfrm flipH="1">
              <a:off x="8245551" y="4769952"/>
              <a:ext cx="2063932" cy="3544"/>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8" name="文本框 107">
              <a:extLst>
                <a:ext uri="{FF2B5EF4-FFF2-40B4-BE49-F238E27FC236}">
                  <a16:creationId xmlns:a16="http://schemas.microsoft.com/office/drawing/2014/main" id="{A6C72788-184D-4E41-E3DB-6DC055470E7D}"/>
                </a:ext>
              </a:extLst>
            </p:cNvPr>
            <p:cNvSpPr txBox="1"/>
            <p:nvPr/>
          </p:nvSpPr>
          <p:spPr>
            <a:xfrm>
              <a:off x="8630035" y="4871362"/>
              <a:ext cx="1436914" cy="584775"/>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a:t>
              </a:r>
              <a:endParaRPr lang="en-US" altLang="zh-CN" sz="1600" b="1" dirty="0">
                <a:latin typeface="+mn-ea"/>
              </a:endParaRPr>
            </a:p>
            <a:p>
              <a:pPr algn="ctr"/>
              <a:r>
                <a:rPr lang="zh-CN" altLang="en-US" sz="1600" b="1" dirty="0">
                  <a:latin typeface="+mn-ea"/>
                </a:rPr>
                <a:t>端口号</a:t>
              </a:r>
              <a:r>
                <a:rPr lang="en-US" altLang="zh-CN" sz="1600" b="1" dirty="0">
                  <a:latin typeface="+mn-ea"/>
                </a:rPr>
                <a:t>110</a:t>
              </a:r>
              <a:endParaRPr lang="zh-CN" altLang="en-US" sz="1600" b="1" dirty="0">
                <a:latin typeface="+mn-ea"/>
              </a:endParaRPr>
            </a:p>
          </p:txBody>
        </p:sp>
      </p:grpSp>
      <p:sp>
        <p:nvSpPr>
          <p:cNvPr id="109" name="文本框 108">
            <a:extLst>
              <a:ext uri="{FF2B5EF4-FFF2-40B4-BE49-F238E27FC236}">
                <a16:creationId xmlns:a16="http://schemas.microsoft.com/office/drawing/2014/main" id="{A4D54D20-E37D-BD26-FF0E-3FE4FB0F8607}"/>
              </a:ext>
            </a:extLst>
          </p:cNvPr>
          <p:cNvSpPr txBox="1"/>
          <p:nvPr/>
        </p:nvSpPr>
        <p:spPr>
          <a:xfrm>
            <a:off x="8619204" y="4177814"/>
            <a:ext cx="1469574" cy="584775"/>
          </a:xfrm>
          <a:prstGeom prst="rect">
            <a:avLst/>
          </a:prstGeom>
          <a:noFill/>
        </p:spPr>
        <p:txBody>
          <a:bodyPr wrap="square">
            <a:spAutoFit/>
          </a:bodyPr>
          <a:lstStyle/>
          <a:p>
            <a:pPr algn="ctr"/>
            <a:r>
              <a:rPr lang="zh-CN" altLang="en-US" sz="1600" b="1" dirty="0">
                <a:solidFill>
                  <a:schemeClr val="accent4"/>
                </a:solidFill>
                <a:latin typeface="+mn-ea"/>
              </a:rPr>
              <a:t>使用</a:t>
            </a:r>
            <a:r>
              <a:rPr lang="en-US" altLang="zh-CN" sz="1600" b="1" dirty="0">
                <a:solidFill>
                  <a:schemeClr val="accent4"/>
                </a:solidFill>
                <a:latin typeface="+mn-ea"/>
              </a:rPr>
              <a:t>POP3</a:t>
            </a:r>
          </a:p>
          <a:p>
            <a:pPr algn="ctr"/>
            <a:r>
              <a:rPr lang="zh-CN" altLang="en-US" sz="1600" b="1" dirty="0">
                <a:solidFill>
                  <a:schemeClr val="accent4"/>
                </a:solidFill>
                <a:latin typeface="+mn-ea"/>
              </a:rPr>
              <a:t>读取邮件</a:t>
            </a:r>
          </a:p>
        </p:txBody>
      </p:sp>
      <p:grpSp>
        <p:nvGrpSpPr>
          <p:cNvPr id="110" name="组合 109">
            <a:extLst>
              <a:ext uri="{FF2B5EF4-FFF2-40B4-BE49-F238E27FC236}">
                <a16:creationId xmlns:a16="http://schemas.microsoft.com/office/drawing/2014/main" id="{29931471-D512-E4DB-9CC7-BCD31C687E97}"/>
              </a:ext>
            </a:extLst>
          </p:cNvPr>
          <p:cNvGrpSpPr/>
          <p:nvPr/>
        </p:nvGrpSpPr>
        <p:grpSpPr>
          <a:xfrm>
            <a:off x="1071317" y="6229525"/>
            <a:ext cx="6804120" cy="390241"/>
            <a:chOff x="1071317" y="6229525"/>
            <a:chExt cx="6804120" cy="390241"/>
          </a:xfrm>
        </p:grpSpPr>
        <p:cxnSp>
          <p:nvCxnSpPr>
            <p:cNvPr id="111" name="直接连接符 110">
              <a:extLst>
                <a:ext uri="{FF2B5EF4-FFF2-40B4-BE49-F238E27FC236}">
                  <a16:creationId xmlns:a16="http://schemas.microsoft.com/office/drawing/2014/main" id="{4AABEA82-7EB4-D81D-5140-C886D767DE6F}"/>
                </a:ext>
              </a:extLst>
            </p:cNvPr>
            <p:cNvCxnSpPr>
              <a:cxnSpLocks/>
            </p:cNvCxnSpPr>
            <p:nvPr/>
          </p:nvCxnSpPr>
          <p:spPr>
            <a:xfrm>
              <a:off x="1071317" y="6234028"/>
              <a:ext cx="0" cy="2810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6F93042D-B3C8-8437-5523-80A31CA471BC}"/>
                </a:ext>
              </a:extLst>
            </p:cNvPr>
            <p:cNvCxnSpPr/>
            <p:nvPr/>
          </p:nvCxnSpPr>
          <p:spPr>
            <a:xfrm flipH="1">
              <a:off x="7875434" y="6229525"/>
              <a:ext cx="1" cy="280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487AF576-AB70-33F1-A758-230CF1F488A0}"/>
                </a:ext>
              </a:extLst>
            </p:cNvPr>
            <p:cNvCxnSpPr/>
            <p:nvPr/>
          </p:nvCxnSpPr>
          <p:spPr>
            <a:xfrm>
              <a:off x="1103976" y="6465878"/>
              <a:ext cx="6771461" cy="0"/>
            </a:xfrm>
            <a:prstGeom prst="straightConnector1">
              <a:avLst/>
            </a:prstGeom>
            <a:ln w="381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AC733DCB-A2A7-4ECC-41DD-7757FDC8B22D}"/>
                </a:ext>
              </a:extLst>
            </p:cNvPr>
            <p:cNvSpPr txBox="1"/>
            <p:nvPr/>
          </p:nvSpPr>
          <p:spPr>
            <a:xfrm>
              <a:off x="3501009" y="6281212"/>
              <a:ext cx="2062983" cy="338554"/>
            </a:xfrm>
            <a:prstGeom prst="rect">
              <a:avLst/>
            </a:prstGeom>
            <a:solidFill>
              <a:schemeClr val="bg1"/>
            </a:solidFill>
          </p:spPr>
          <p:txBody>
            <a:bodyPr wrap="square">
              <a:spAutoFit/>
            </a:bodyPr>
            <a:lstStyle/>
            <a:p>
              <a:pPr algn="ctr"/>
              <a:r>
                <a:rPr lang="zh-CN" altLang="en-US" sz="1600" b="1" dirty="0">
                  <a:solidFill>
                    <a:schemeClr val="accent3"/>
                  </a:solidFill>
                  <a:latin typeface="+mn-ea"/>
                </a:rPr>
                <a:t>使用</a:t>
              </a:r>
              <a:r>
                <a:rPr lang="en-US" altLang="zh-CN" sz="1600" b="1" dirty="0">
                  <a:solidFill>
                    <a:schemeClr val="accent3"/>
                  </a:solidFill>
                  <a:latin typeface="+mn-ea"/>
                </a:rPr>
                <a:t>SMTP</a:t>
              </a:r>
              <a:r>
                <a:rPr lang="zh-CN" altLang="en-US" sz="1600" b="1" dirty="0">
                  <a:solidFill>
                    <a:schemeClr val="accent3"/>
                  </a:solidFill>
                  <a:latin typeface="+mn-ea"/>
                </a:rPr>
                <a:t>发送邮件</a:t>
              </a:r>
            </a:p>
          </p:txBody>
        </p:sp>
      </p:grpSp>
      <p:grpSp>
        <p:nvGrpSpPr>
          <p:cNvPr id="115" name="组合 114">
            <a:extLst>
              <a:ext uri="{FF2B5EF4-FFF2-40B4-BE49-F238E27FC236}">
                <a16:creationId xmlns:a16="http://schemas.microsoft.com/office/drawing/2014/main" id="{5E87900D-6DE3-A127-ED98-F85512FED2A5}"/>
              </a:ext>
            </a:extLst>
          </p:cNvPr>
          <p:cNvGrpSpPr/>
          <p:nvPr/>
        </p:nvGrpSpPr>
        <p:grpSpPr>
          <a:xfrm>
            <a:off x="7875437" y="6229525"/>
            <a:ext cx="3008814" cy="390241"/>
            <a:chOff x="7875437" y="6229525"/>
            <a:chExt cx="3008814" cy="390241"/>
          </a:xfrm>
        </p:grpSpPr>
        <p:cxnSp>
          <p:nvCxnSpPr>
            <p:cNvPr id="116" name="直接连接符 115">
              <a:extLst>
                <a:ext uri="{FF2B5EF4-FFF2-40B4-BE49-F238E27FC236}">
                  <a16:creationId xmlns:a16="http://schemas.microsoft.com/office/drawing/2014/main" id="{2485A0A5-6137-E163-6C45-F647D171D62B}"/>
                </a:ext>
              </a:extLst>
            </p:cNvPr>
            <p:cNvCxnSpPr/>
            <p:nvPr/>
          </p:nvCxnSpPr>
          <p:spPr>
            <a:xfrm flipH="1">
              <a:off x="10872611" y="6229525"/>
              <a:ext cx="1" cy="2808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9EA93073-77A4-A28F-692F-EAFBBD662576}"/>
                </a:ext>
              </a:extLst>
            </p:cNvPr>
            <p:cNvCxnSpPr>
              <a:cxnSpLocks/>
            </p:cNvCxnSpPr>
            <p:nvPr/>
          </p:nvCxnSpPr>
          <p:spPr>
            <a:xfrm>
              <a:off x="7875437" y="6465878"/>
              <a:ext cx="3008814" cy="0"/>
            </a:xfrm>
            <a:prstGeom prst="straightConnector1">
              <a:avLst/>
            </a:prstGeom>
            <a:ln w="381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118" name="文本框 117">
              <a:extLst>
                <a:ext uri="{FF2B5EF4-FFF2-40B4-BE49-F238E27FC236}">
                  <a16:creationId xmlns:a16="http://schemas.microsoft.com/office/drawing/2014/main" id="{7F79B56C-21EF-1509-322B-9C3E21F8D2DA}"/>
                </a:ext>
              </a:extLst>
            </p:cNvPr>
            <p:cNvSpPr txBox="1"/>
            <p:nvPr/>
          </p:nvSpPr>
          <p:spPr>
            <a:xfrm>
              <a:off x="8319029" y="6281212"/>
              <a:ext cx="2121628" cy="338554"/>
            </a:xfrm>
            <a:prstGeom prst="rect">
              <a:avLst/>
            </a:prstGeom>
            <a:solidFill>
              <a:schemeClr val="bg1"/>
            </a:solidFill>
          </p:spPr>
          <p:txBody>
            <a:bodyPr wrap="square">
              <a:spAutoFit/>
            </a:bodyPr>
            <a:lstStyle/>
            <a:p>
              <a:pPr algn="ctr"/>
              <a:r>
                <a:rPr lang="zh-CN" altLang="en-US" sz="1600" b="1" dirty="0">
                  <a:solidFill>
                    <a:schemeClr val="accent4"/>
                  </a:solidFill>
                  <a:latin typeface="+mn-ea"/>
                </a:rPr>
                <a:t>使用</a:t>
              </a:r>
              <a:r>
                <a:rPr lang="en-US" altLang="zh-CN" sz="1600" b="1" dirty="0">
                  <a:solidFill>
                    <a:schemeClr val="accent4"/>
                  </a:solidFill>
                  <a:latin typeface="+mn-ea"/>
                </a:rPr>
                <a:t>POP3</a:t>
              </a:r>
              <a:r>
                <a:rPr lang="zh-CN" altLang="en-US" sz="1600" b="1" dirty="0">
                  <a:solidFill>
                    <a:schemeClr val="accent4"/>
                  </a:solidFill>
                  <a:latin typeface="+mn-ea"/>
                </a:rPr>
                <a:t>读取邮件</a:t>
              </a:r>
            </a:p>
          </p:txBody>
        </p:sp>
      </p:grpSp>
    </p:spTree>
    <p:custDataLst>
      <p:tags r:id="rId1"/>
    </p:custDataLst>
    <p:extLst>
      <p:ext uri="{BB962C8B-B14F-4D97-AF65-F5344CB8AC3E}">
        <p14:creationId xmlns:p14="http://schemas.microsoft.com/office/powerpoint/2010/main" val="18236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p:tgtEl>
                                          <p:spTgt spid="70"/>
                                        </p:tgtEl>
                                        <p:attrNameLst>
                                          <p:attrName>ppt_y</p:attrName>
                                        </p:attrNameLst>
                                      </p:cBhvr>
                                      <p:tavLst>
                                        <p:tav tm="0">
                                          <p:val>
                                            <p:strVal val="#ppt_y+#ppt_h*1.125000"/>
                                          </p:val>
                                        </p:tav>
                                        <p:tav tm="100000">
                                          <p:val>
                                            <p:strVal val="#ppt_y"/>
                                          </p:val>
                                        </p:tav>
                                      </p:tavLst>
                                    </p:anim>
                                    <p:animEffect transition="in" filter="wipe(up)">
                                      <p:cBhvr>
                                        <p:cTn id="8" dur="500"/>
                                        <p:tgtEl>
                                          <p:spTgt spid="70"/>
                                        </p:tgtEl>
                                      </p:cBhvr>
                                    </p:animEffect>
                                  </p:childTnLst>
                                </p:cTn>
                              </p:par>
                              <p:par>
                                <p:cTn id="9" presetID="12" presetClass="entr" presetSubtype="1" fill="hold" nodeType="with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500"/>
                                        <p:tgtEl>
                                          <p:spTgt spid="71"/>
                                        </p:tgtEl>
                                        <p:attrNameLst>
                                          <p:attrName>ppt_y</p:attrName>
                                        </p:attrNameLst>
                                      </p:cBhvr>
                                      <p:tavLst>
                                        <p:tav tm="0">
                                          <p:val>
                                            <p:strVal val="#ppt_y-#ppt_h*1.125000"/>
                                          </p:val>
                                        </p:tav>
                                        <p:tav tm="100000">
                                          <p:val>
                                            <p:strVal val="#ppt_y"/>
                                          </p:val>
                                        </p:tav>
                                      </p:tavLst>
                                    </p:anim>
                                    <p:animEffect transition="in" filter="wipe(down)">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 calcmode="lin" valueType="num">
                                      <p:cBhvr>
                                        <p:cTn id="17" dur="500" fill="hold"/>
                                        <p:tgtEl>
                                          <p:spTgt spid="80"/>
                                        </p:tgtEl>
                                        <p:attrNameLst>
                                          <p:attrName>ppt_w</p:attrName>
                                        </p:attrNameLst>
                                      </p:cBhvr>
                                      <p:tavLst>
                                        <p:tav tm="0">
                                          <p:val>
                                            <p:fltVal val="0"/>
                                          </p:val>
                                        </p:tav>
                                        <p:tav tm="100000">
                                          <p:val>
                                            <p:strVal val="#ppt_w"/>
                                          </p:val>
                                        </p:tav>
                                      </p:tavLst>
                                    </p:anim>
                                    <p:anim calcmode="lin" valueType="num">
                                      <p:cBhvr>
                                        <p:cTn id="18" dur="500" fill="hold"/>
                                        <p:tgtEl>
                                          <p:spTgt spid="80"/>
                                        </p:tgtEl>
                                        <p:attrNameLst>
                                          <p:attrName>ppt_h</p:attrName>
                                        </p:attrNameLst>
                                      </p:cBhvr>
                                      <p:tavLst>
                                        <p:tav tm="0">
                                          <p:val>
                                            <p:fltVal val="0"/>
                                          </p:val>
                                        </p:tav>
                                        <p:tav tm="100000">
                                          <p:val>
                                            <p:strVal val="#ppt_h"/>
                                          </p:val>
                                        </p:tav>
                                      </p:tavLst>
                                    </p:anim>
                                    <p:animEffect transition="in" filter="fade">
                                      <p:cBhvr>
                                        <p:cTn id="19" dur="500"/>
                                        <p:tgtEl>
                                          <p:spTgt spid="8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84"/>
                                        </p:tgtEl>
                                        <p:attrNameLst>
                                          <p:attrName>style.visibility</p:attrName>
                                        </p:attrNameLst>
                                      </p:cBhvr>
                                      <p:to>
                                        <p:strVal val="visible"/>
                                      </p:to>
                                    </p:set>
                                    <p:anim calcmode="lin" valueType="num">
                                      <p:cBhvr>
                                        <p:cTn id="24" dur="500" fill="hold"/>
                                        <p:tgtEl>
                                          <p:spTgt spid="84"/>
                                        </p:tgtEl>
                                        <p:attrNameLst>
                                          <p:attrName>ppt_w</p:attrName>
                                        </p:attrNameLst>
                                      </p:cBhvr>
                                      <p:tavLst>
                                        <p:tav tm="0">
                                          <p:val>
                                            <p:fltVal val="0"/>
                                          </p:val>
                                        </p:tav>
                                        <p:tav tm="100000">
                                          <p:val>
                                            <p:strVal val="#ppt_w"/>
                                          </p:val>
                                        </p:tav>
                                      </p:tavLst>
                                    </p:anim>
                                    <p:anim calcmode="lin" valueType="num">
                                      <p:cBhvr>
                                        <p:cTn id="25" dur="500" fill="hold"/>
                                        <p:tgtEl>
                                          <p:spTgt spid="84"/>
                                        </p:tgtEl>
                                        <p:attrNameLst>
                                          <p:attrName>ppt_h</p:attrName>
                                        </p:attrNameLst>
                                      </p:cBhvr>
                                      <p:tavLst>
                                        <p:tav tm="0">
                                          <p:val>
                                            <p:fltVal val="0"/>
                                          </p:val>
                                        </p:tav>
                                        <p:tav tm="100000">
                                          <p:val>
                                            <p:strVal val="#ppt_h"/>
                                          </p:val>
                                        </p:tav>
                                      </p:tavLst>
                                    </p:anim>
                                    <p:animEffect transition="in" filter="fade">
                                      <p:cBhvr>
                                        <p:cTn id="26" dur="500"/>
                                        <p:tgtEl>
                                          <p:spTgt spid="8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500"/>
                                        <p:tgtEl>
                                          <p:spTgt spid="9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3"/>
                                        </p:tgtEl>
                                        <p:attrNameLst>
                                          <p:attrName>style.visibility</p:attrName>
                                        </p:attrNameLst>
                                      </p:cBhvr>
                                      <p:to>
                                        <p:strVal val="visible"/>
                                      </p:to>
                                    </p:set>
                                    <p:anim calcmode="lin" valueType="num">
                                      <p:cBhvr>
                                        <p:cTn id="36" dur="500" fill="hold"/>
                                        <p:tgtEl>
                                          <p:spTgt spid="83"/>
                                        </p:tgtEl>
                                        <p:attrNameLst>
                                          <p:attrName>ppt_w</p:attrName>
                                        </p:attrNameLst>
                                      </p:cBhvr>
                                      <p:tavLst>
                                        <p:tav tm="0">
                                          <p:val>
                                            <p:fltVal val="0"/>
                                          </p:val>
                                        </p:tav>
                                        <p:tav tm="100000">
                                          <p:val>
                                            <p:strVal val="#ppt_w"/>
                                          </p:val>
                                        </p:tav>
                                      </p:tavLst>
                                    </p:anim>
                                    <p:anim calcmode="lin" valueType="num">
                                      <p:cBhvr>
                                        <p:cTn id="37" dur="500" fill="hold"/>
                                        <p:tgtEl>
                                          <p:spTgt spid="83"/>
                                        </p:tgtEl>
                                        <p:attrNameLst>
                                          <p:attrName>ppt_h</p:attrName>
                                        </p:attrNameLst>
                                      </p:cBhvr>
                                      <p:tavLst>
                                        <p:tav tm="0">
                                          <p:val>
                                            <p:fltVal val="0"/>
                                          </p:val>
                                        </p:tav>
                                        <p:tav tm="100000">
                                          <p:val>
                                            <p:strVal val="#ppt_h"/>
                                          </p:val>
                                        </p:tav>
                                      </p:tavLst>
                                    </p:anim>
                                    <p:animEffect transition="in" filter="fade">
                                      <p:cBhvr>
                                        <p:cTn id="38" dur="500"/>
                                        <p:tgtEl>
                                          <p:spTgt spid="83"/>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87"/>
                                        </p:tgtEl>
                                        <p:attrNameLst>
                                          <p:attrName>style.visibility</p:attrName>
                                        </p:attrNameLst>
                                      </p:cBhvr>
                                      <p:to>
                                        <p:strVal val="visible"/>
                                      </p:to>
                                    </p:set>
                                    <p:anim calcmode="lin" valueType="num">
                                      <p:cBhvr>
                                        <p:cTn id="43" dur="500" fill="hold"/>
                                        <p:tgtEl>
                                          <p:spTgt spid="87"/>
                                        </p:tgtEl>
                                        <p:attrNameLst>
                                          <p:attrName>ppt_w</p:attrName>
                                        </p:attrNameLst>
                                      </p:cBhvr>
                                      <p:tavLst>
                                        <p:tav tm="0">
                                          <p:val>
                                            <p:fltVal val="0"/>
                                          </p:val>
                                        </p:tav>
                                        <p:tav tm="100000">
                                          <p:val>
                                            <p:strVal val="#ppt_w"/>
                                          </p:val>
                                        </p:tav>
                                      </p:tavLst>
                                    </p:anim>
                                    <p:anim calcmode="lin" valueType="num">
                                      <p:cBhvr>
                                        <p:cTn id="44" dur="500" fill="hold"/>
                                        <p:tgtEl>
                                          <p:spTgt spid="87"/>
                                        </p:tgtEl>
                                        <p:attrNameLst>
                                          <p:attrName>ppt_h</p:attrName>
                                        </p:attrNameLst>
                                      </p:cBhvr>
                                      <p:tavLst>
                                        <p:tav tm="0">
                                          <p:val>
                                            <p:fltVal val="0"/>
                                          </p:val>
                                        </p:tav>
                                        <p:tav tm="100000">
                                          <p:val>
                                            <p:strVal val="#ppt_h"/>
                                          </p:val>
                                        </p:tav>
                                      </p:tavLst>
                                    </p:anim>
                                    <p:animEffect transition="in" filter="fade">
                                      <p:cBhvr>
                                        <p:cTn id="45" dur="500"/>
                                        <p:tgtEl>
                                          <p:spTgt spid="87"/>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nodeType="clickEffect">
                                  <p:stCondLst>
                                    <p:cond delay="0"/>
                                  </p:stCondLst>
                                  <p:childTnLst>
                                    <p:set>
                                      <p:cBhvr>
                                        <p:cTn id="49" dur="1" fill="hold">
                                          <p:stCondLst>
                                            <p:cond delay="0"/>
                                          </p:stCondLst>
                                        </p:cTn>
                                        <p:tgtEl>
                                          <p:spTgt spid="93"/>
                                        </p:tgtEl>
                                        <p:attrNameLst>
                                          <p:attrName>style.visibility</p:attrName>
                                        </p:attrNameLst>
                                      </p:cBhvr>
                                      <p:to>
                                        <p:strVal val="visible"/>
                                      </p:to>
                                    </p:set>
                                    <p:anim calcmode="lin" valueType="num">
                                      <p:cBhvr>
                                        <p:cTn id="50" dur="500" fill="hold"/>
                                        <p:tgtEl>
                                          <p:spTgt spid="93"/>
                                        </p:tgtEl>
                                        <p:attrNameLst>
                                          <p:attrName>ppt_w</p:attrName>
                                        </p:attrNameLst>
                                      </p:cBhvr>
                                      <p:tavLst>
                                        <p:tav tm="0">
                                          <p:val>
                                            <p:fltVal val="0"/>
                                          </p:val>
                                        </p:tav>
                                        <p:tav tm="100000">
                                          <p:val>
                                            <p:strVal val="#ppt_w"/>
                                          </p:val>
                                        </p:tav>
                                      </p:tavLst>
                                    </p:anim>
                                    <p:anim calcmode="lin" valueType="num">
                                      <p:cBhvr>
                                        <p:cTn id="51" dur="500" fill="hold"/>
                                        <p:tgtEl>
                                          <p:spTgt spid="93"/>
                                        </p:tgtEl>
                                        <p:attrNameLst>
                                          <p:attrName>ppt_h</p:attrName>
                                        </p:attrNameLst>
                                      </p:cBhvr>
                                      <p:tavLst>
                                        <p:tav tm="0">
                                          <p:val>
                                            <p:fltVal val="0"/>
                                          </p:val>
                                        </p:tav>
                                        <p:tav tm="100000">
                                          <p:val>
                                            <p:strVal val="#ppt_h"/>
                                          </p:val>
                                        </p:tav>
                                      </p:tavLst>
                                    </p:anim>
                                    <p:animEffect transition="in" filter="fade">
                                      <p:cBhvr>
                                        <p:cTn id="52" dur="500"/>
                                        <p:tgtEl>
                                          <p:spTgt spid="9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wipe(left)">
                                      <p:cBhvr>
                                        <p:cTn id="57" dur="500"/>
                                        <p:tgtEl>
                                          <p:spTgt spid="103"/>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102"/>
                                        </p:tgtEl>
                                        <p:attrNameLst>
                                          <p:attrName>style.visibility</p:attrName>
                                        </p:attrNameLst>
                                      </p:cBhvr>
                                      <p:to>
                                        <p:strVal val="visible"/>
                                      </p:to>
                                    </p:set>
                                    <p:anim calcmode="lin" valueType="num">
                                      <p:cBhvr>
                                        <p:cTn id="62" dur="500" fill="hold"/>
                                        <p:tgtEl>
                                          <p:spTgt spid="102"/>
                                        </p:tgtEl>
                                        <p:attrNameLst>
                                          <p:attrName>ppt_w</p:attrName>
                                        </p:attrNameLst>
                                      </p:cBhvr>
                                      <p:tavLst>
                                        <p:tav tm="0">
                                          <p:val>
                                            <p:fltVal val="0"/>
                                          </p:val>
                                        </p:tav>
                                        <p:tav tm="100000">
                                          <p:val>
                                            <p:strVal val="#ppt_w"/>
                                          </p:val>
                                        </p:tav>
                                      </p:tavLst>
                                    </p:anim>
                                    <p:anim calcmode="lin" valueType="num">
                                      <p:cBhvr>
                                        <p:cTn id="63" dur="500" fill="hold"/>
                                        <p:tgtEl>
                                          <p:spTgt spid="102"/>
                                        </p:tgtEl>
                                        <p:attrNameLst>
                                          <p:attrName>ppt_h</p:attrName>
                                        </p:attrNameLst>
                                      </p:cBhvr>
                                      <p:tavLst>
                                        <p:tav tm="0">
                                          <p:val>
                                            <p:fltVal val="0"/>
                                          </p:val>
                                        </p:tav>
                                        <p:tav tm="100000">
                                          <p:val>
                                            <p:strVal val="#ppt_h"/>
                                          </p:val>
                                        </p:tav>
                                      </p:tavLst>
                                    </p:anim>
                                    <p:animEffect transition="in" filter="fade">
                                      <p:cBhvr>
                                        <p:cTn id="64" dur="500"/>
                                        <p:tgtEl>
                                          <p:spTgt spid="102"/>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nodeType="clickEffect">
                                  <p:stCondLst>
                                    <p:cond delay="0"/>
                                  </p:stCondLst>
                                  <p:childTnLst>
                                    <p:set>
                                      <p:cBhvr>
                                        <p:cTn id="68" dur="1" fill="hold">
                                          <p:stCondLst>
                                            <p:cond delay="0"/>
                                          </p:stCondLst>
                                        </p:cTn>
                                        <p:tgtEl>
                                          <p:spTgt spid="96"/>
                                        </p:tgtEl>
                                        <p:attrNameLst>
                                          <p:attrName>style.visibility</p:attrName>
                                        </p:attrNameLst>
                                      </p:cBhvr>
                                      <p:to>
                                        <p:strVal val="visible"/>
                                      </p:to>
                                    </p:set>
                                    <p:anim calcmode="lin" valueType="num">
                                      <p:cBhvr>
                                        <p:cTn id="69" dur="500" fill="hold"/>
                                        <p:tgtEl>
                                          <p:spTgt spid="96"/>
                                        </p:tgtEl>
                                        <p:attrNameLst>
                                          <p:attrName>ppt_w</p:attrName>
                                        </p:attrNameLst>
                                      </p:cBhvr>
                                      <p:tavLst>
                                        <p:tav tm="0">
                                          <p:val>
                                            <p:fltVal val="0"/>
                                          </p:val>
                                        </p:tav>
                                        <p:tav tm="100000">
                                          <p:val>
                                            <p:strVal val="#ppt_w"/>
                                          </p:val>
                                        </p:tav>
                                      </p:tavLst>
                                    </p:anim>
                                    <p:anim calcmode="lin" valueType="num">
                                      <p:cBhvr>
                                        <p:cTn id="70" dur="500" fill="hold"/>
                                        <p:tgtEl>
                                          <p:spTgt spid="96"/>
                                        </p:tgtEl>
                                        <p:attrNameLst>
                                          <p:attrName>ppt_h</p:attrName>
                                        </p:attrNameLst>
                                      </p:cBhvr>
                                      <p:tavLst>
                                        <p:tav tm="0">
                                          <p:val>
                                            <p:fltVal val="0"/>
                                          </p:val>
                                        </p:tav>
                                        <p:tav tm="100000">
                                          <p:val>
                                            <p:strVal val="#ppt_h"/>
                                          </p:val>
                                        </p:tav>
                                      </p:tavLst>
                                    </p:anim>
                                    <p:animEffect transition="in" filter="fade">
                                      <p:cBhvr>
                                        <p:cTn id="71" dur="500"/>
                                        <p:tgtEl>
                                          <p:spTgt spid="96"/>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nodeType="clickEffect">
                                  <p:stCondLst>
                                    <p:cond delay="0"/>
                                  </p:stCondLst>
                                  <p:childTnLst>
                                    <p:set>
                                      <p:cBhvr>
                                        <p:cTn id="75" dur="1" fill="hold">
                                          <p:stCondLst>
                                            <p:cond delay="0"/>
                                          </p:stCondLst>
                                        </p:cTn>
                                        <p:tgtEl>
                                          <p:spTgt spid="90"/>
                                        </p:tgtEl>
                                        <p:attrNameLst>
                                          <p:attrName>style.visibility</p:attrName>
                                        </p:attrNameLst>
                                      </p:cBhvr>
                                      <p:to>
                                        <p:strVal val="visible"/>
                                      </p:to>
                                    </p:set>
                                    <p:anim calcmode="lin" valueType="num">
                                      <p:cBhvr>
                                        <p:cTn id="76" dur="500" fill="hold"/>
                                        <p:tgtEl>
                                          <p:spTgt spid="90"/>
                                        </p:tgtEl>
                                        <p:attrNameLst>
                                          <p:attrName>ppt_w</p:attrName>
                                        </p:attrNameLst>
                                      </p:cBhvr>
                                      <p:tavLst>
                                        <p:tav tm="0">
                                          <p:val>
                                            <p:fltVal val="0"/>
                                          </p:val>
                                        </p:tav>
                                        <p:tav tm="100000">
                                          <p:val>
                                            <p:strVal val="#ppt_w"/>
                                          </p:val>
                                        </p:tav>
                                      </p:tavLst>
                                    </p:anim>
                                    <p:anim calcmode="lin" valueType="num">
                                      <p:cBhvr>
                                        <p:cTn id="77" dur="500" fill="hold"/>
                                        <p:tgtEl>
                                          <p:spTgt spid="90"/>
                                        </p:tgtEl>
                                        <p:attrNameLst>
                                          <p:attrName>ppt_h</p:attrName>
                                        </p:attrNameLst>
                                      </p:cBhvr>
                                      <p:tavLst>
                                        <p:tav tm="0">
                                          <p:val>
                                            <p:fltVal val="0"/>
                                          </p:val>
                                        </p:tav>
                                        <p:tav tm="100000">
                                          <p:val>
                                            <p:strVal val="#ppt_h"/>
                                          </p:val>
                                        </p:tav>
                                      </p:tavLst>
                                    </p:anim>
                                    <p:animEffect transition="in" filter="fade">
                                      <p:cBhvr>
                                        <p:cTn id="78" dur="500"/>
                                        <p:tgtEl>
                                          <p:spTgt spid="9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2" fill="hold" nodeType="clickEffect">
                                  <p:stCondLst>
                                    <p:cond delay="0"/>
                                  </p:stCondLst>
                                  <p:childTnLst>
                                    <p:set>
                                      <p:cBhvr>
                                        <p:cTn id="82" dur="1" fill="hold">
                                          <p:stCondLst>
                                            <p:cond delay="0"/>
                                          </p:stCondLst>
                                        </p:cTn>
                                        <p:tgtEl>
                                          <p:spTgt spid="106"/>
                                        </p:tgtEl>
                                        <p:attrNameLst>
                                          <p:attrName>style.visibility</p:attrName>
                                        </p:attrNameLst>
                                      </p:cBhvr>
                                      <p:to>
                                        <p:strVal val="visible"/>
                                      </p:to>
                                    </p:set>
                                    <p:animEffect transition="in" filter="wipe(right)">
                                      <p:cBhvr>
                                        <p:cTn id="83" dur="500"/>
                                        <p:tgtEl>
                                          <p:spTgt spid="106"/>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109"/>
                                        </p:tgtEl>
                                        <p:attrNameLst>
                                          <p:attrName>style.visibility</p:attrName>
                                        </p:attrNameLst>
                                      </p:cBhvr>
                                      <p:to>
                                        <p:strVal val="visible"/>
                                      </p:to>
                                    </p:set>
                                    <p:anim calcmode="lin" valueType="num">
                                      <p:cBhvr>
                                        <p:cTn id="88" dur="500" fill="hold"/>
                                        <p:tgtEl>
                                          <p:spTgt spid="109"/>
                                        </p:tgtEl>
                                        <p:attrNameLst>
                                          <p:attrName>ppt_w</p:attrName>
                                        </p:attrNameLst>
                                      </p:cBhvr>
                                      <p:tavLst>
                                        <p:tav tm="0">
                                          <p:val>
                                            <p:fltVal val="0"/>
                                          </p:val>
                                        </p:tav>
                                        <p:tav tm="100000">
                                          <p:val>
                                            <p:strVal val="#ppt_w"/>
                                          </p:val>
                                        </p:tav>
                                      </p:tavLst>
                                    </p:anim>
                                    <p:anim calcmode="lin" valueType="num">
                                      <p:cBhvr>
                                        <p:cTn id="89" dur="500" fill="hold"/>
                                        <p:tgtEl>
                                          <p:spTgt spid="109"/>
                                        </p:tgtEl>
                                        <p:attrNameLst>
                                          <p:attrName>ppt_h</p:attrName>
                                        </p:attrNameLst>
                                      </p:cBhvr>
                                      <p:tavLst>
                                        <p:tav tm="0">
                                          <p:val>
                                            <p:fltVal val="0"/>
                                          </p:val>
                                        </p:tav>
                                        <p:tav tm="100000">
                                          <p:val>
                                            <p:strVal val="#ppt_h"/>
                                          </p:val>
                                        </p:tav>
                                      </p:tavLst>
                                    </p:anim>
                                    <p:animEffect transition="in" filter="fade">
                                      <p:cBhvr>
                                        <p:cTn id="90" dur="500"/>
                                        <p:tgtEl>
                                          <p:spTgt spid="109"/>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nodeType="clickEffect">
                                  <p:stCondLst>
                                    <p:cond delay="0"/>
                                  </p:stCondLst>
                                  <p:childTnLst>
                                    <p:set>
                                      <p:cBhvr>
                                        <p:cTn id="94" dur="1" fill="hold">
                                          <p:stCondLst>
                                            <p:cond delay="0"/>
                                          </p:stCondLst>
                                        </p:cTn>
                                        <p:tgtEl>
                                          <p:spTgt spid="110"/>
                                        </p:tgtEl>
                                        <p:attrNameLst>
                                          <p:attrName>style.visibility</p:attrName>
                                        </p:attrNameLst>
                                      </p:cBhvr>
                                      <p:to>
                                        <p:strVal val="visible"/>
                                      </p:to>
                                    </p:set>
                                    <p:anim calcmode="lin" valueType="num">
                                      <p:cBhvr additive="base">
                                        <p:cTn id="95" dur="500"/>
                                        <p:tgtEl>
                                          <p:spTgt spid="110"/>
                                        </p:tgtEl>
                                        <p:attrNameLst>
                                          <p:attrName>ppt_y</p:attrName>
                                        </p:attrNameLst>
                                      </p:cBhvr>
                                      <p:tavLst>
                                        <p:tav tm="0">
                                          <p:val>
                                            <p:strVal val="#ppt_y+#ppt_h*1.125000"/>
                                          </p:val>
                                        </p:tav>
                                        <p:tav tm="100000">
                                          <p:val>
                                            <p:strVal val="#ppt_y"/>
                                          </p:val>
                                        </p:tav>
                                      </p:tavLst>
                                    </p:anim>
                                    <p:animEffect transition="in" filter="wipe(up)">
                                      <p:cBhvr>
                                        <p:cTn id="96" dur="500"/>
                                        <p:tgtEl>
                                          <p:spTgt spid="110"/>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nodeType="clickEffect">
                                  <p:stCondLst>
                                    <p:cond delay="0"/>
                                  </p:stCondLst>
                                  <p:childTnLst>
                                    <p:set>
                                      <p:cBhvr>
                                        <p:cTn id="100" dur="1" fill="hold">
                                          <p:stCondLst>
                                            <p:cond delay="0"/>
                                          </p:stCondLst>
                                        </p:cTn>
                                        <p:tgtEl>
                                          <p:spTgt spid="115"/>
                                        </p:tgtEl>
                                        <p:attrNameLst>
                                          <p:attrName>style.visibility</p:attrName>
                                        </p:attrNameLst>
                                      </p:cBhvr>
                                      <p:to>
                                        <p:strVal val="visible"/>
                                      </p:to>
                                    </p:set>
                                    <p:anim calcmode="lin" valueType="num">
                                      <p:cBhvr additive="base">
                                        <p:cTn id="101" dur="500"/>
                                        <p:tgtEl>
                                          <p:spTgt spid="115"/>
                                        </p:tgtEl>
                                        <p:attrNameLst>
                                          <p:attrName>ppt_y</p:attrName>
                                        </p:attrNameLst>
                                      </p:cBhvr>
                                      <p:tavLst>
                                        <p:tav tm="0">
                                          <p:val>
                                            <p:strVal val="#ppt_y+#ppt_h*1.125000"/>
                                          </p:val>
                                        </p:tav>
                                        <p:tav tm="100000">
                                          <p:val>
                                            <p:strVal val="#ppt_y"/>
                                          </p:val>
                                        </p:tav>
                                      </p:tavLst>
                                    </p:anim>
                                    <p:animEffect transition="in" filter="wipe(up)">
                                      <p:cBhvr>
                                        <p:cTn id="102"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102" grpId="0"/>
      <p:bldP spid="10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5028C668-8F46-36E2-63EB-32FBC87C95EB}"/>
              </a:ext>
            </a:extLst>
          </p:cNvPr>
          <p:cNvGrpSpPr/>
          <p:nvPr/>
        </p:nvGrpSpPr>
        <p:grpSpPr>
          <a:xfrm>
            <a:off x="4886082" y="1764466"/>
            <a:ext cx="3087874" cy="246221"/>
            <a:chOff x="4559886" y="2190382"/>
            <a:chExt cx="3087874" cy="246221"/>
          </a:xfrm>
        </p:grpSpPr>
        <p:cxnSp>
          <p:nvCxnSpPr>
            <p:cNvPr id="43" name="直接箭头连接符 42">
              <a:extLst>
                <a:ext uri="{FF2B5EF4-FFF2-40B4-BE49-F238E27FC236}">
                  <a16:creationId xmlns:a16="http://schemas.microsoft.com/office/drawing/2014/main" id="{B0BA0E4E-3E6C-FBD8-C1AF-274F9E88021D}"/>
                </a:ext>
              </a:extLst>
            </p:cNvPr>
            <p:cNvCxnSpPr>
              <a:cxnSpLocks/>
            </p:cNvCxnSpPr>
            <p:nvPr/>
          </p:nvCxnSpPr>
          <p:spPr>
            <a:xfrm>
              <a:off x="4559886" y="2315983"/>
              <a:ext cx="3087874"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53AB4509-EC66-BFD1-C68E-F37DAFE9A6B2}"/>
                </a:ext>
              </a:extLst>
            </p:cNvPr>
            <p:cNvSpPr txBox="1"/>
            <p:nvPr/>
          </p:nvSpPr>
          <p:spPr>
            <a:xfrm>
              <a:off x="5236359" y="2190382"/>
              <a:ext cx="1684707"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14</a:t>
              </a:r>
              <a:r>
                <a:rPr lang="zh-CN" altLang="en-US" sz="1600" b="1" dirty="0">
                  <a:solidFill>
                    <a:schemeClr val="accent3"/>
                  </a:solidFill>
                </a:rPr>
                <a:t>条</a:t>
              </a:r>
              <a:r>
                <a:rPr lang="en-US" altLang="zh-CN" sz="1600" b="1" dirty="0">
                  <a:solidFill>
                    <a:schemeClr val="accent3"/>
                  </a:solidFill>
                </a:rPr>
                <a:t>SMTP</a:t>
              </a:r>
              <a:r>
                <a:rPr lang="zh-CN" altLang="en-US" sz="1600" b="1" dirty="0">
                  <a:solidFill>
                    <a:schemeClr val="accent3"/>
                  </a:solidFill>
                </a:rPr>
                <a:t>命令</a:t>
              </a:r>
            </a:p>
          </p:txBody>
        </p:sp>
      </p:grpSp>
      <p:grpSp>
        <p:nvGrpSpPr>
          <p:cNvPr id="45" name="组合 44">
            <a:extLst>
              <a:ext uri="{FF2B5EF4-FFF2-40B4-BE49-F238E27FC236}">
                <a16:creationId xmlns:a16="http://schemas.microsoft.com/office/drawing/2014/main" id="{1A8D3494-5406-088F-0E39-C5BCAEE8FF9D}"/>
              </a:ext>
            </a:extLst>
          </p:cNvPr>
          <p:cNvGrpSpPr/>
          <p:nvPr/>
        </p:nvGrpSpPr>
        <p:grpSpPr>
          <a:xfrm>
            <a:off x="4858237" y="2535601"/>
            <a:ext cx="3115719" cy="246221"/>
            <a:chOff x="4532041" y="3106582"/>
            <a:chExt cx="3115719" cy="246221"/>
          </a:xfrm>
        </p:grpSpPr>
        <p:cxnSp>
          <p:nvCxnSpPr>
            <p:cNvPr id="46" name="直接箭头连接符 45">
              <a:extLst>
                <a:ext uri="{FF2B5EF4-FFF2-40B4-BE49-F238E27FC236}">
                  <a16:creationId xmlns:a16="http://schemas.microsoft.com/office/drawing/2014/main" id="{82C77399-FF1A-7B2A-3638-55A07C61210B}"/>
                </a:ext>
              </a:extLst>
            </p:cNvPr>
            <p:cNvCxnSpPr>
              <a:cxnSpLocks/>
            </p:cNvCxnSpPr>
            <p:nvPr/>
          </p:nvCxnSpPr>
          <p:spPr>
            <a:xfrm flipH="1">
              <a:off x="4532041" y="3230448"/>
              <a:ext cx="311571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8F086A40-DCA1-0BEE-12E0-1CAE03323607}"/>
                </a:ext>
              </a:extLst>
            </p:cNvPr>
            <p:cNvSpPr txBox="1"/>
            <p:nvPr/>
          </p:nvSpPr>
          <p:spPr>
            <a:xfrm>
              <a:off x="5252981" y="3106582"/>
              <a:ext cx="1678032"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21</a:t>
              </a:r>
              <a:r>
                <a:rPr lang="zh-CN" altLang="en-US" sz="1600" b="1" dirty="0">
                  <a:solidFill>
                    <a:schemeClr val="accent4"/>
                  </a:solidFill>
                </a:rPr>
                <a:t>种</a:t>
              </a:r>
              <a:r>
                <a:rPr lang="en-US" altLang="zh-CN" sz="1600" b="1" dirty="0">
                  <a:solidFill>
                    <a:schemeClr val="accent4"/>
                  </a:solidFill>
                </a:rPr>
                <a:t>SMTP</a:t>
              </a:r>
              <a:r>
                <a:rPr lang="zh-CN" altLang="en-US" sz="1600" b="1" dirty="0">
                  <a:solidFill>
                    <a:schemeClr val="accent4"/>
                  </a:solidFill>
                </a:rPr>
                <a:t>应答</a:t>
              </a:r>
            </a:p>
          </p:txBody>
        </p:sp>
      </p:grpSp>
      <p:sp>
        <p:nvSpPr>
          <p:cNvPr id="21" name="文本框 20">
            <a:extLst>
              <a:ext uri="{FF2B5EF4-FFF2-40B4-BE49-F238E27FC236}">
                <a16:creationId xmlns:a16="http://schemas.microsoft.com/office/drawing/2014/main" id="{F5234210-FC9E-5179-D3BF-8A2BE1D16315}"/>
              </a:ext>
            </a:extLst>
          </p:cNvPr>
          <p:cNvSpPr txBox="1"/>
          <p:nvPr/>
        </p:nvSpPr>
        <p:spPr>
          <a:xfrm>
            <a:off x="1236196" y="1852029"/>
            <a:ext cx="2505347" cy="584775"/>
          </a:xfrm>
          <a:prstGeom prst="rect">
            <a:avLst/>
          </a:prstGeom>
          <a:noFill/>
        </p:spPr>
        <p:txBody>
          <a:bodyPr wrap="square">
            <a:spAutoFit/>
          </a:bodyPr>
          <a:lstStyle/>
          <a:p>
            <a:pPr algn="ctr"/>
            <a:r>
              <a:rPr lang="zh-CN" altLang="en-US" sz="1600" b="1" dirty="0">
                <a:latin typeface="+mn-ea"/>
              </a:rPr>
              <a:t>周期性对邮件缓存扫描</a:t>
            </a:r>
            <a:endParaRPr lang="en-US" altLang="zh-CN" sz="1600" b="1" dirty="0">
              <a:latin typeface="+mn-ea"/>
            </a:endParaRPr>
          </a:p>
          <a:p>
            <a:pPr algn="ctr"/>
            <a:r>
              <a:rPr lang="zh-CN" altLang="en-US" sz="1600" b="1" dirty="0">
                <a:latin typeface="+mn-ea"/>
              </a:rPr>
              <a:t>（例如，每</a:t>
            </a:r>
            <a:r>
              <a:rPr lang="en-US" altLang="zh-CN" sz="1600" b="1" dirty="0">
                <a:latin typeface="+mn-ea"/>
              </a:rPr>
              <a:t>30</a:t>
            </a:r>
            <a:r>
              <a:rPr lang="zh-CN" altLang="en-US" sz="1600" b="1" dirty="0">
                <a:latin typeface="+mn-ea"/>
              </a:rPr>
              <a:t>分钟）</a:t>
            </a:r>
            <a:endParaRPr lang="en-US" altLang="zh-CN" sz="1600" b="1" dirty="0">
              <a:latin typeface="+mn-ea"/>
            </a:endParaRPr>
          </a:p>
        </p:txBody>
      </p:sp>
      <p:sp>
        <p:nvSpPr>
          <p:cNvPr id="48" name="文本框 47">
            <a:extLst>
              <a:ext uri="{FF2B5EF4-FFF2-40B4-BE49-F238E27FC236}">
                <a16:creationId xmlns:a16="http://schemas.microsoft.com/office/drawing/2014/main" id="{9615791B-D0B0-4900-7303-8206B7C2A04C}"/>
              </a:ext>
            </a:extLst>
          </p:cNvPr>
          <p:cNvSpPr txBox="1"/>
          <p:nvPr/>
        </p:nvSpPr>
        <p:spPr>
          <a:xfrm>
            <a:off x="1562300" y="2405472"/>
            <a:ext cx="1702946" cy="338553"/>
          </a:xfrm>
          <a:prstGeom prst="rect">
            <a:avLst/>
          </a:prstGeom>
          <a:noFill/>
        </p:spPr>
        <p:txBody>
          <a:bodyPr wrap="square">
            <a:spAutoFit/>
          </a:bodyPr>
          <a:lstStyle/>
          <a:p>
            <a:pPr algn="ctr"/>
            <a:r>
              <a:rPr lang="zh-CN" altLang="en-US" sz="1600" b="1" dirty="0">
                <a:latin typeface="+mn-ea"/>
              </a:rPr>
              <a:t>如发现有邮件</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03</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简单邮件传送协议</a:t>
              </a:r>
              <a:r>
                <a:rPr lang="zh-CN" altLang="en-US" sz="2000" b="1" dirty="0"/>
                <a:t>（</a:t>
              </a:r>
              <a:r>
                <a:rPr lang="en-US" altLang="zh-CN" sz="2000" b="1" dirty="0">
                  <a:solidFill>
                    <a:schemeClr val="accent1">
                      <a:lumMod val="75000"/>
                    </a:schemeClr>
                  </a:solidFill>
                </a:rPr>
                <a:t>S</a:t>
              </a:r>
              <a:r>
                <a:rPr lang="en-US" altLang="zh-CN" sz="2000" b="1" dirty="0"/>
                <a:t>imple </a:t>
              </a:r>
              <a:r>
                <a:rPr lang="en-US" altLang="zh-CN" sz="2000" b="1" dirty="0">
                  <a:solidFill>
                    <a:schemeClr val="accent1">
                      <a:lumMod val="75000"/>
                    </a:schemeClr>
                  </a:solidFill>
                </a:rPr>
                <a:t>M</a:t>
              </a:r>
              <a:r>
                <a:rPr lang="en-US" altLang="zh-CN" sz="2000" b="1" dirty="0"/>
                <a:t>ail </a:t>
              </a:r>
              <a:r>
                <a:rPr lang="en-US" altLang="zh-CN" sz="2000" b="1" dirty="0">
                  <a:solidFill>
                    <a:schemeClr val="accent1">
                      <a:lumMod val="75000"/>
                    </a:schemeClr>
                  </a:solidFill>
                </a:rPr>
                <a:t>T</a:t>
              </a:r>
              <a:r>
                <a:rPr lang="en-US" altLang="zh-CN" sz="2000" b="1" dirty="0"/>
                <a:t>ransfer </a:t>
              </a:r>
              <a:r>
                <a:rPr lang="en-US" altLang="zh-CN" sz="2000" b="1" dirty="0">
                  <a:solidFill>
                    <a:schemeClr val="accent1">
                      <a:lumMod val="75000"/>
                    </a:schemeClr>
                  </a:solidFill>
                </a:rPr>
                <a:t>P</a:t>
              </a:r>
              <a:r>
                <a:rPr lang="en-US" altLang="zh-CN" sz="2000" b="1" dirty="0"/>
                <a:t>rotocol</a:t>
              </a:r>
              <a:r>
                <a:rPr lang="zh-CN" altLang="en-US" sz="2000" b="1" dirty="0"/>
                <a:t>，</a:t>
              </a:r>
              <a:r>
                <a:rPr lang="en-US" altLang="zh-CN" sz="2000" b="1" dirty="0">
                  <a:solidFill>
                    <a:schemeClr val="accent1">
                      <a:lumMod val="75000"/>
                    </a:schemeClr>
                  </a:solidFill>
                </a:rPr>
                <a:t>SMTP</a:t>
              </a:r>
              <a:r>
                <a:rPr lang="zh-CN" altLang="en-US" sz="2000" b="1" dirty="0"/>
                <a:t>）</a:t>
              </a:r>
              <a:r>
                <a:rPr lang="zh-CN" altLang="en-US" sz="2000" b="1" dirty="0">
                  <a:ea typeface="+mj-ea"/>
                </a:rPr>
                <a:t>的基本工作过程</a:t>
              </a:r>
            </a:p>
          </p:txBody>
        </p:sp>
      </p:grpSp>
      <p:grpSp>
        <p:nvGrpSpPr>
          <p:cNvPr id="5" name="组合 4">
            <a:extLst>
              <a:ext uri="{FF2B5EF4-FFF2-40B4-BE49-F238E27FC236}">
                <a16:creationId xmlns:a16="http://schemas.microsoft.com/office/drawing/2014/main" id="{4D56E22D-5433-60FF-B77C-DBED59CE03E6}"/>
              </a:ext>
            </a:extLst>
          </p:cNvPr>
          <p:cNvGrpSpPr/>
          <p:nvPr/>
        </p:nvGrpSpPr>
        <p:grpSpPr>
          <a:xfrm>
            <a:off x="3204024" y="1446393"/>
            <a:ext cx="6401784" cy="1328107"/>
            <a:chOff x="3204024" y="1446393"/>
            <a:chExt cx="6401784" cy="1328107"/>
          </a:xfrm>
        </p:grpSpPr>
        <p:sp>
          <p:nvSpPr>
            <p:cNvPr id="6" name="文本框 5">
              <a:extLst>
                <a:ext uri="{FF2B5EF4-FFF2-40B4-BE49-F238E27FC236}">
                  <a16:creationId xmlns:a16="http://schemas.microsoft.com/office/drawing/2014/main" id="{F07022DB-2DB4-931E-19A4-5018DEBC52CB}"/>
                </a:ext>
              </a:extLst>
            </p:cNvPr>
            <p:cNvSpPr txBox="1"/>
            <p:nvPr/>
          </p:nvSpPr>
          <p:spPr>
            <a:xfrm>
              <a:off x="3204024" y="1446393"/>
              <a:ext cx="2123827" cy="338554"/>
            </a:xfrm>
            <a:prstGeom prst="rect">
              <a:avLst/>
            </a:prstGeom>
            <a:noFill/>
          </p:spPr>
          <p:txBody>
            <a:bodyPr wrap="square">
              <a:spAutoFit/>
            </a:bodyPr>
            <a:lstStyle/>
            <a:p>
              <a:pPr algn="ctr"/>
              <a:r>
                <a:rPr lang="zh-CN" altLang="en-US" sz="1600" b="1" dirty="0">
                  <a:latin typeface="+mn-ea"/>
                </a:rPr>
                <a:t>发送方</a:t>
              </a:r>
              <a:r>
                <a:rPr lang="en-US" altLang="zh-CN" sz="1600" b="1" dirty="0">
                  <a:latin typeface="+mn-ea"/>
                </a:rPr>
                <a:t>  </a:t>
              </a:r>
              <a:r>
                <a:rPr lang="zh-CN" altLang="en-US" sz="1600" b="1" dirty="0">
                  <a:latin typeface="+mn-ea"/>
                </a:rPr>
                <a:t>邮件服务器</a:t>
              </a:r>
            </a:p>
          </p:txBody>
        </p:sp>
        <p:grpSp>
          <p:nvGrpSpPr>
            <p:cNvPr id="7" name="组合 6">
              <a:extLst>
                <a:ext uri="{FF2B5EF4-FFF2-40B4-BE49-F238E27FC236}">
                  <a16:creationId xmlns:a16="http://schemas.microsoft.com/office/drawing/2014/main" id="{4B6E0DB0-26A4-ED94-61C0-1E1002B8DFCC}"/>
                </a:ext>
              </a:extLst>
            </p:cNvPr>
            <p:cNvGrpSpPr/>
            <p:nvPr/>
          </p:nvGrpSpPr>
          <p:grpSpPr>
            <a:xfrm>
              <a:off x="3709881" y="1804099"/>
              <a:ext cx="1158240" cy="966273"/>
              <a:chOff x="3368041" y="2154485"/>
              <a:chExt cx="1158240" cy="966273"/>
            </a:xfrm>
          </p:grpSpPr>
          <p:sp>
            <p:nvSpPr>
              <p:cNvPr id="14" name="矩形 13">
                <a:extLst>
                  <a:ext uri="{FF2B5EF4-FFF2-40B4-BE49-F238E27FC236}">
                    <a16:creationId xmlns:a16="http://schemas.microsoft.com/office/drawing/2014/main" id="{67C544B3-9F81-EBB4-AEC9-F2F1278986BF}"/>
                  </a:ext>
                </a:extLst>
              </p:cNvPr>
              <p:cNvSpPr/>
              <p:nvPr/>
            </p:nvSpPr>
            <p:spPr>
              <a:xfrm>
                <a:off x="3368041" y="2154485"/>
                <a:ext cx="1158240" cy="966273"/>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grpSp>
            <p:nvGrpSpPr>
              <p:cNvPr id="15" name="组合 14">
                <a:extLst>
                  <a:ext uri="{FF2B5EF4-FFF2-40B4-BE49-F238E27FC236}">
                    <a16:creationId xmlns:a16="http://schemas.microsoft.com/office/drawing/2014/main" id="{DDB070FF-9B7F-8F20-4C66-A13537BEF599}"/>
                  </a:ext>
                </a:extLst>
              </p:cNvPr>
              <p:cNvGrpSpPr/>
              <p:nvPr/>
            </p:nvGrpSpPr>
            <p:grpSpPr>
              <a:xfrm>
                <a:off x="3467329" y="2195453"/>
                <a:ext cx="944880" cy="864000"/>
                <a:chOff x="3431990" y="2458456"/>
                <a:chExt cx="944880" cy="864000"/>
              </a:xfrm>
            </p:grpSpPr>
            <p:sp>
              <p:nvSpPr>
                <p:cNvPr id="16" name="椭圆 15">
                  <a:extLst>
                    <a:ext uri="{FF2B5EF4-FFF2-40B4-BE49-F238E27FC236}">
                      <a16:creationId xmlns:a16="http://schemas.microsoft.com/office/drawing/2014/main" id="{B8B4AB31-8400-0751-F8EB-D5F908318547}"/>
                    </a:ext>
                  </a:extLst>
                </p:cNvPr>
                <p:cNvSpPr/>
                <p:nvPr/>
              </p:nvSpPr>
              <p:spPr>
                <a:xfrm>
                  <a:off x="345675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7" name="文本框 16">
                  <a:extLst>
                    <a:ext uri="{FF2B5EF4-FFF2-40B4-BE49-F238E27FC236}">
                      <a16:creationId xmlns:a16="http://schemas.microsoft.com/office/drawing/2014/main" id="{28BF81E7-A013-78E5-6ABE-0328F1631158}"/>
                    </a:ext>
                  </a:extLst>
                </p:cNvPr>
                <p:cNvSpPr txBox="1"/>
                <p:nvPr/>
              </p:nvSpPr>
              <p:spPr>
                <a:xfrm>
                  <a:off x="3431990"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客户</a:t>
                  </a:r>
                </a:p>
              </p:txBody>
            </p:sp>
          </p:grpSp>
        </p:grpSp>
        <p:sp>
          <p:nvSpPr>
            <p:cNvPr id="8" name="文本框 7">
              <a:extLst>
                <a:ext uri="{FF2B5EF4-FFF2-40B4-BE49-F238E27FC236}">
                  <a16:creationId xmlns:a16="http://schemas.microsoft.com/office/drawing/2014/main" id="{84FD1BCC-8EA2-D7E6-64C8-CCBEA0C5E872}"/>
                </a:ext>
              </a:extLst>
            </p:cNvPr>
            <p:cNvSpPr txBox="1"/>
            <p:nvPr/>
          </p:nvSpPr>
          <p:spPr>
            <a:xfrm>
              <a:off x="7586539" y="1473741"/>
              <a:ext cx="2019269" cy="338554"/>
            </a:xfrm>
            <a:prstGeom prst="rect">
              <a:avLst/>
            </a:prstGeom>
            <a:noFill/>
          </p:spPr>
          <p:txBody>
            <a:bodyPr wrap="square">
              <a:spAutoFit/>
            </a:bodyPr>
            <a:lstStyle/>
            <a:p>
              <a:pPr algn="ctr"/>
              <a:r>
                <a:rPr lang="zh-CN" altLang="en-US" sz="1600" b="1" dirty="0">
                  <a:latin typeface="+mn-ea"/>
                </a:rPr>
                <a:t>接收方  邮件服务器</a:t>
              </a:r>
            </a:p>
          </p:txBody>
        </p:sp>
        <p:grpSp>
          <p:nvGrpSpPr>
            <p:cNvPr id="9" name="组合 8">
              <a:extLst>
                <a:ext uri="{FF2B5EF4-FFF2-40B4-BE49-F238E27FC236}">
                  <a16:creationId xmlns:a16="http://schemas.microsoft.com/office/drawing/2014/main" id="{45223F17-5315-A89D-52E5-2B538E28E469}"/>
                </a:ext>
              </a:extLst>
            </p:cNvPr>
            <p:cNvGrpSpPr/>
            <p:nvPr/>
          </p:nvGrpSpPr>
          <p:grpSpPr>
            <a:xfrm>
              <a:off x="8007561" y="1804099"/>
              <a:ext cx="1158240" cy="970401"/>
              <a:chOff x="7665721" y="2154485"/>
              <a:chExt cx="1158240" cy="970401"/>
            </a:xfrm>
          </p:grpSpPr>
          <p:sp>
            <p:nvSpPr>
              <p:cNvPr id="10" name="矩形 9">
                <a:extLst>
                  <a:ext uri="{FF2B5EF4-FFF2-40B4-BE49-F238E27FC236}">
                    <a16:creationId xmlns:a16="http://schemas.microsoft.com/office/drawing/2014/main" id="{ED2BA575-E110-DB1D-CBD5-3BC448612C5A}"/>
                  </a:ext>
                </a:extLst>
              </p:cNvPr>
              <p:cNvSpPr/>
              <p:nvPr/>
            </p:nvSpPr>
            <p:spPr>
              <a:xfrm>
                <a:off x="7665721" y="2154485"/>
                <a:ext cx="1158240" cy="970401"/>
              </a:xfrm>
              <a:prstGeom prst="rect">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mn-ea"/>
                </a:endParaRPr>
              </a:p>
            </p:txBody>
          </p:sp>
          <p:grpSp>
            <p:nvGrpSpPr>
              <p:cNvPr id="11" name="组合 10">
                <a:extLst>
                  <a:ext uri="{FF2B5EF4-FFF2-40B4-BE49-F238E27FC236}">
                    <a16:creationId xmlns:a16="http://schemas.microsoft.com/office/drawing/2014/main" id="{6C1C2E9D-4E53-6B36-7EBB-4FFB0DFFA292}"/>
                  </a:ext>
                </a:extLst>
              </p:cNvPr>
              <p:cNvGrpSpPr/>
              <p:nvPr/>
            </p:nvGrpSpPr>
            <p:grpSpPr>
              <a:xfrm>
                <a:off x="7767657" y="2196064"/>
                <a:ext cx="944880" cy="864000"/>
                <a:chOff x="7721124" y="2458456"/>
                <a:chExt cx="944880" cy="864000"/>
              </a:xfrm>
            </p:grpSpPr>
            <p:sp>
              <p:nvSpPr>
                <p:cNvPr id="12" name="椭圆 11">
                  <a:extLst>
                    <a:ext uri="{FF2B5EF4-FFF2-40B4-BE49-F238E27FC236}">
                      <a16:creationId xmlns:a16="http://schemas.microsoft.com/office/drawing/2014/main" id="{32C6581F-EB1A-20A8-574E-D182D7B0B09C}"/>
                    </a:ext>
                  </a:extLst>
                </p:cNvPr>
                <p:cNvSpPr/>
                <p:nvPr/>
              </p:nvSpPr>
              <p:spPr>
                <a:xfrm>
                  <a:off x="7754439" y="2458456"/>
                  <a:ext cx="864000" cy="864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13" name="文本框 12">
                  <a:extLst>
                    <a:ext uri="{FF2B5EF4-FFF2-40B4-BE49-F238E27FC236}">
                      <a16:creationId xmlns:a16="http://schemas.microsoft.com/office/drawing/2014/main" id="{9AD4BDDD-91E9-932F-F45C-EB513E53B890}"/>
                    </a:ext>
                  </a:extLst>
                </p:cNvPr>
                <p:cNvSpPr txBox="1"/>
                <p:nvPr/>
              </p:nvSpPr>
              <p:spPr>
                <a:xfrm>
                  <a:off x="7721124" y="2625691"/>
                  <a:ext cx="944880" cy="584775"/>
                </a:xfrm>
                <a:prstGeom prst="rect">
                  <a:avLst/>
                </a:prstGeom>
                <a:noFill/>
              </p:spPr>
              <p:txBody>
                <a:bodyPr wrap="square">
                  <a:spAutoFit/>
                </a:bodyPr>
                <a:lstStyle/>
                <a:p>
                  <a:pPr algn="ctr"/>
                  <a:r>
                    <a:rPr lang="en-US" altLang="zh-CN" sz="1600" b="1" dirty="0">
                      <a:latin typeface="+mn-ea"/>
                    </a:rPr>
                    <a:t>SMTP</a:t>
                  </a:r>
                </a:p>
                <a:p>
                  <a:pPr algn="ctr"/>
                  <a:r>
                    <a:rPr lang="zh-CN" altLang="en-US" sz="1600" b="1" dirty="0">
                      <a:latin typeface="+mn-ea"/>
                    </a:rPr>
                    <a:t>服务器</a:t>
                  </a:r>
                </a:p>
              </p:txBody>
            </p:sp>
          </p:grpSp>
        </p:grpSp>
      </p:grpSp>
      <p:grpSp>
        <p:nvGrpSpPr>
          <p:cNvPr id="18" name="组合 17">
            <a:extLst>
              <a:ext uri="{FF2B5EF4-FFF2-40B4-BE49-F238E27FC236}">
                <a16:creationId xmlns:a16="http://schemas.microsoft.com/office/drawing/2014/main" id="{65F514C4-A64C-BA41-0071-8DBC49F29EE3}"/>
              </a:ext>
            </a:extLst>
          </p:cNvPr>
          <p:cNvGrpSpPr/>
          <p:nvPr/>
        </p:nvGrpSpPr>
        <p:grpSpPr>
          <a:xfrm>
            <a:off x="4892890" y="2020481"/>
            <a:ext cx="3087873" cy="496388"/>
            <a:chOff x="4559886" y="2563926"/>
            <a:chExt cx="3087873" cy="496388"/>
          </a:xfrm>
        </p:grpSpPr>
        <p:sp>
          <p:nvSpPr>
            <p:cNvPr id="19" name="圆柱体 18">
              <a:extLst>
                <a:ext uri="{FF2B5EF4-FFF2-40B4-BE49-F238E27FC236}">
                  <a16:creationId xmlns:a16="http://schemas.microsoft.com/office/drawing/2014/main" id="{C80BCB4A-DB89-D06B-A8F1-AA9D9B7BCFF3}"/>
                </a:ext>
              </a:extLst>
            </p:cNvPr>
            <p:cNvSpPr/>
            <p:nvPr/>
          </p:nvSpPr>
          <p:spPr>
            <a:xfrm rot="16200000">
              <a:off x="5855629" y="1268183"/>
              <a:ext cx="496388" cy="3087873"/>
            </a:xfrm>
            <a:prstGeom prst="can">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20" name="文本框 19">
              <a:extLst>
                <a:ext uri="{FF2B5EF4-FFF2-40B4-BE49-F238E27FC236}">
                  <a16:creationId xmlns:a16="http://schemas.microsoft.com/office/drawing/2014/main" id="{3139E619-E631-0FAD-27E9-DEA85DA23171}"/>
                </a:ext>
              </a:extLst>
            </p:cNvPr>
            <p:cNvSpPr txBox="1"/>
            <p:nvPr/>
          </p:nvSpPr>
          <p:spPr>
            <a:xfrm>
              <a:off x="4869861" y="2627453"/>
              <a:ext cx="2665640" cy="338554"/>
            </a:xfrm>
            <a:prstGeom prst="rect">
              <a:avLst/>
            </a:prstGeom>
            <a:noFill/>
          </p:spPr>
          <p:txBody>
            <a:bodyPr wrap="square">
              <a:spAutoFit/>
            </a:bodyPr>
            <a:lstStyle/>
            <a:p>
              <a:pPr algn="ctr"/>
              <a:r>
                <a:rPr lang="en-US" altLang="zh-CN" sz="1600" b="1" dirty="0">
                  <a:latin typeface="+mn-ea"/>
                </a:rPr>
                <a:t>TCP</a:t>
              </a:r>
              <a:r>
                <a:rPr lang="zh-CN" altLang="en-US" sz="1600" b="1" dirty="0">
                  <a:latin typeface="+mn-ea"/>
                </a:rPr>
                <a:t>连接（熟知端口号</a:t>
              </a:r>
              <a:r>
                <a:rPr lang="en-US" altLang="zh-CN" sz="1600" b="1" dirty="0">
                  <a:latin typeface="+mn-ea"/>
                </a:rPr>
                <a:t>25</a:t>
              </a:r>
              <a:r>
                <a:rPr lang="zh-CN" altLang="en-US" sz="1600" b="1" dirty="0">
                  <a:latin typeface="+mn-ea"/>
                </a:rPr>
                <a:t>）</a:t>
              </a:r>
            </a:p>
          </p:txBody>
        </p:sp>
      </p:grpSp>
      <p:cxnSp>
        <p:nvCxnSpPr>
          <p:cNvPr id="56" name="直接连接符 55">
            <a:extLst>
              <a:ext uri="{FF2B5EF4-FFF2-40B4-BE49-F238E27FC236}">
                <a16:creationId xmlns:a16="http://schemas.microsoft.com/office/drawing/2014/main" id="{7167BFB0-1BC4-3307-0417-6835EEFC3402}"/>
              </a:ext>
            </a:extLst>
          </p:cNvPr>
          <p:cNvCxnSpPr>
            <a:cxnSpLocks/>
          </p:cNvCxnSpPr>
          <p:nvPr/>
        </p:nvCxnSpPr>
        <p:spPr>
          <a:xfrm flipH="1">
            <a:off x="4255711" y="2770372"/>
            <a:ext cx="33290" cy="37447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9E991C6-1038-2CF3-B6A4-02FD19BDB6AE}"/>
              </a:ext>
            </a:extLst>
          </p:cNvPr>
          <p:cNvCxnSpPr>
            <a:cxnSpLocks/>
          </p:cNvCxnSpPr>
          <p:nvPr/>
        </p:nvCxnSpPr>
        <p:spPr>
          <a:xfrm>
            <a:off x="8595227" y="2845912"/>
            <a:ext cx="0" cy="36691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DE9EE2B5-C702-7B96-8BDD-3156A90CC920}"/>
              </a:ext>
            </a:extLst>
          </p:cNvPr>
          <p:cNvGrpSpPr/>
          <p:nvPr/>
        </p:nvGrpSpPr>
        <p:grpSpPr>
          <a:xfrm>
            <a:off x="4298495" y="2881391"/>
            <a:ext cx="4297679" cy="246221"/>
            <a:chOff x="3947160" y="2091103"/>
            <a:chExt cx="4297679" cy="246221"/>
          </a:xfrm>
        </p:grpSpPr>
        <p:cxnSp>
          <p:nvCxnSpPr>
            <p:cNvPr id="59" name="直接箭头连接符 58">
              <a:extLst>
                <a:ext uri="{FF2B5EF4-FFF2-40B4-BE49-F238E27FC236}">
                  <a16:creationId xmlns:a16="http://schemas.microsoft.com/office/drawing/2014/main" id="{265B7F8A-0FAC-3DBF-370D-38219D358B34}"/>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36AFB365-C223-DCFC-29BA-B5E39C0AAE2F}"/>
                </a:ext>
              </a:extLst>
            </p:cNvPr>
            <p:cNvSpPr txBox="1"/>
            <p:nvPr/>
          </p:nvSpPr>
          <p:spPr>
            <a:xfrm>
              <a:off x="5822767" y="2091103"/>
              <a:ext cx="664881"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220</a:t>
              </a:r>
              <a:endParaRPr lang="zh-CN" altLang="en-US" sz="1600" b="1" dirty="0">
                <a:solidFill>
                  <a:schemeClr val="accent4"/>
                </a:solidFill>
              </a:endParaRPr>
            </a:p>
          </p:txBody>
        </p:sp>
      </p:grpSp>
      <p:sp>
        <p:nvSpPr>
          <p:cNvPr id="61" name="文本框 60">
            <a:extLst>
              <a:ext uri="{FF2B5EF4-FFF2-40B4-BE49-F238E27FC236}">
                <a16:creationId xmlns:a16="http://schemas.microsoft.com/office/drawing/2014/main" id="{958D749A-05E9-05C3-1355-375F63123D2A}"/>
              </a:ext>
            </a:extLst>
          </p:cNvPr>
          <p:cNvSpPr txBox="1"/>
          <p:nvPr/>
        </p:nvSpPr>
        <p:spPr>
          <a:xfrm>
            <a:off x="8602710" y="2807130"/>
            <a:ext cx="3095352" cy="338554"/>
          </a:xfrm>
          <a:prstGeom prst="rect">
            <a:avLst/>
          </a:prstGeom>
          <a:noFill/>
        </p:spPr>
        <p:txBody>
          <a:bodyPr wrap="square">
            <a:spAutoFit/>
          </a:bodyPr>
          <a:lstStyle/>
          <a:p>
            <a:r>
              <a:rPr lang="zh-CN" altLang="en-US" sz="1600" b="1" dirty="0">
                <a:solidFill>
                  <a:schemeClr val="accent4"/>
                </a:solidFill>
                <a:latin typeface="+mn-ea"/>
              </a:rPr>
              <a:t>主动推送“服务就绪”应答</a:t>
            </a:r>
          </a:p>
        </p:txBody>
      </p:sp>
      <p:grpSp>
        <p:nvGrpSpPr>
          <p:cNvPr id="22" name="组合 21">
            <a:extLst>
              <a:ext uri="{FF2B5EF4-FFF2-40B4-BE49-F238E27FC236}">
                <a16:creationId xmlns:a16="http://schemas.microsoft.com/office/drawing/2014/main" id="{1075B57A-BA76-5888-7DEA-F7925B1B211E}"/>
              </a:ext>
            </a:extLst>
          </p:cNvPr>
          <p:cNvGrpSpPr/>
          <p:nvPr/>
        </p:nvGrpSpPr>
        <p:grpSpPr>
          <a:xfrm>
            <a:off x="4284258" y="3084930"/>
            <a:ext cx="4297679" cy="246221"/>
            <a:chOff x="3947160" y="2422029"/>
            <a:chExt cx="4297679" cy="246221"/>
          </a:xfrm>
        </p:grpSpPr>
        <p:cxnSp>
          <p:nvCxnSpPr>
            <p:cNvPr id="23" name="直接箭头连接符 22">
              <a:extLst>
                <a:ext uri="{FF2B5EF4-FFF2-40B4-BE49-F238E27FC236}">
                  <a16:creationId xmlns:a16="http://schemas.microsoft.com/office/drawing/2014/main" id="{3009E52B-AC42-31BA-FF5C-132033A25B7E}"/>
                </a:ext>
              </a:extLst>
            </p:cNvPr>
            <p:cNvCxnSpPr/>
            <p:nvPr/>
          </p:nvCxnSpPr>
          <p:spPr>
            <a:xfrm>
              <a:off x="3947160" y="2542903"/>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C055737A-D118-69C3-2F36-AA94AA934123}"/>
                </a:ext>
              </a:extLst>
            </p:cNvPr>
            <p:cNvSpPr txBox="1"/>
            <p:nvPr/>
          </p:nvSpPr>
          <p:spPr>
            <a:xfrm>
              <a:off x="5025594" y="2422029"/>
              <a:ext cx="2141559"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HELO:hnust.edu.cn</a:t>
              </a:r>
              <a:endParaRPr lang="zh-CN" altLang="en-US" sz="1600" b="1" dirty="0">
                <a:solidFill>
                  <a:schemeClr val="accent3"/>
                </a:solidFill>
              </a:endParaRPr>
            </a:p>
          </p:txBody>
        </p:sp>
      </p:grpSp>
      <p:sp>
        <p:nvSpPr>
          <p:cNvPr id="25" name="文本框 24">
            <a:extLst>
              <a:ext uri="{FF2B5EF4-FFF2-40B4-BE49-F238E27FC236}">
                <a16:creationId xmlns:a16="http://schemas.microsoft.com/office/drawing/2014/main" id="{6E7C64FB-CBFE-628D-6A14-4BEEA90A8356}"/>
              </a:ext>
            </a:extLst>
          </p:cNvPr>
          <p:cNvSpPr txBox="1"/>
          <p:nvPr/>
        </p:nvSpPr>
        <p:spPr>
          <a:xfrm>
            <a:off x="321077" y="3021138"/>
            <a:ext cx="3969713" cy="338554"/>
          </a:xfrm>
          <a:prstGeom prst="rect">
            <a:avLst/>
          </a:prstGeom>
          <a:noFill/>
        </p:spPr>
        <p:txBody>
          <a:bodyPr wrap="square">
            <a:spAutoFit/>
          </a:bodyPr>
          <a:lstStyle/>
          <a:p>
            <a:r>
              <a:rPr lang="zh-CN" altLang="en-US" sz="1600" b="1" dirty="0">
                <a:solidFill>
                  <a:schemeClr val="accent3"/>
                </a:solidFill>
                <a:latin typeface="+mn-ea"/>
              </a:rPr>
              <a:t>向服务器说明身份，告知自己的域名</a:t>
            </a:r>
          </a:p>
        </p:txBody>
      </p:sp>
      <p:grpSp>
        <p:nvGrpSpPr>
          <p:cNvPr id="26" name="组合 25">
            <a:extLst>
              <a:ext uri="{FF2B5EF4-FFF2-40B4-BE49-F238E27FC236}">
                <a16:creationId xmlns:a16="http://schemas.microsoft.com/office/drawing/2014/main" id="{C517E865-64ED-4D80-7067-D0D9800FB6A5}"/>
              </a:ext>
            </a:extLst>
          </p:cNvPr>
          <p:cNvGrpSpPr/>
          <p:nvPr/>
        </p:nvGrpSpPr>
        <p:grpSpPr>
          <a:xfrm>
            <a:off x="4298495" y="3306026"/>
            <a:ext cx="4297679" cy="246221"/>
            <a:chOff x="3947160" y="2098191"/>
            <a:chExt cx="4297679" cy="246221"/>
          </a:xfrm>
        </p:grpSpPr>
        <p:cxnSp>
          <p:nvCxnSpPr>
            <p:cNvPr id="27" name="直接箭头连接符 26">
              <a:extLst>
                <a:ext uri="{FF2B5EF4-FFF2-40B4-BE49-F238E27FC236}">
                  <a16:creationId xmlns:a16="http://schemas.microsoft.com/office/drawing/2014/main" id="{2A3EBF7C-438B-E818-EC57-50D4D8571EC7}"/>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81127B19-FB94-BF2B-EAE3-AFA50482C942}"/>
                </a:ext>
              </a:extLst>
            </p:cNvPr>
            <p:cNvSpPr txBox="1"/>
            <p:nvPr/>
          </p:nvSpPr>
          <p:spPr>
            <a:xfrm>
              <a:off x="5822767" y="2098191"/>
              <a:ext cx="690458"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29" name="文本框 28">
            <a:extLst>
              <a:ext uri="{FF2B5EF4-FFF2-40B4-BE49-F238E27FC236}">
                <a16:creationId xmlns:a16="http://schemas.microsoft.com/office/drawing/2014/main" id="{9179F023-2AEA-2BF5-5424-A7331362F8CD}"/>
              </a:ext>
            </a:extLst>
          </p:cNvPr>
          <p:cNvSpPr txBox="1"/>
          <p:nvPr/>
        </p:nvSpPr>
        <p:spPr>
          <a:xfrm>
            <a:off x="8602710" y="3224677"/>
            <a:ext cx="3424642" cy="338554"/>
          </a:xfrm>
          <a:prstGeom prst="rect">
            <a:avLst/>
          </a:prstGeom>
          <a:noFill/>
        </p:spPr>
        <p:txBody>
          <a:bodyPr wrap="square">
            <a:spAutoFit/>
          </a:bodyPr>
          <a:lstStyle/>
          <a:p>
            <a:r>
              <a:rPr lang="zh-CN" altLang="en-US" sz="1600" b="1" dirty="0">
                <a:solidFill>
                  <a:schemeClr val="accent4"/>
                </a:solidFill>
              </a:rPr>
              <a:t>若身份有效，发回应答代码</a:t>
            </a:r>
            <a:r>
              <a:rPr lang="en-US" altLang="zh-CN" sz="1600" b="1" dirty="0">
                <a:solidFill>
                  <a:schemeClr val="accent4"/>
                </a:solidFill>
              </a:rPr>
              <a:t>250</a:t>
            </a:r>
            <a:endParaRPr lang="zh-CN" altLang="en-US" sz="1600" b="1" dirty="0">
              <a:solidFill>
                <a:schemeClr val="accent4"/>
              </a:solidFill>
            </a:endParaRPr>
          </a:p>
        </p:txBody>
      </p:sp>
      <p:grpSp>
        <p:nvGrpSpPr>
          <p:cNvPr id="31" name="组合 30">
            <a:extLst>
              <a:ext uri="{FF2B5EF4-FFF2-40B4-BE49-F238E27FC236}">
                <a16:creationId xmlns:a16="http://schemas.microsoft.com/office/drawing/2014/main" id="{CDAC62F0-28E8-A145-2722-D49A7C2B9D2A}"/>
              </a:ext>
            </a:extLst>
          </p:cNvPr>
          <p:cNvGrpSpPr/>
          <p:nvPr/>
        </p:nvGrpSpPr>
        <p:grpSpPr>
          <a:xfrm>
            <a:off x="4284258" y="3595954"/>
            <a:ext cx="4297679" cy="246221"/>
            <a:chOff x="4284258" y="3525069"/>
            <a:chExt cx="4297679" cy="246221"/>
          </a:xfrm>
        </p:grpSpPr>
        <p:cxnSp>
          <p:nvCxnSpPr>
            <p:cNvPr id="33" name="直接箭头连接符 32">
              <a:extLst>
                <a:ext uri="{FF2B5EF4-FFF2-40B4-BE49-F238E27FC236}">
                  <a16:creationId xmlns:a16="http://schemas.microsoft.com/office/drawing/2014/main" id="{C7C058B5-70AF-7A1B-6346-51A30AECA0F6}"/>
                </a:ext>
              </a:extLst>
            </p:cNvPr>
            <p:cNvCxnSpPr/>
            <p:nvPr/>
          </p:nvCxnSpPr>
          <p:spPr>
            <a:xfrm>
              <a:off x="4284258" y="3648989"/>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733CE230-ECD7-5906-EE98-2DFBFA7FD107}"/>
                </a:ext>
              </a:extLst>
            </p:cNvPr>
            <p:cNvSpPr txBox="1"/>
            <p:nvPr/>
          </p:nvSpPr>
          <p:spPr>
            <a:xfrm>
              <a:off x="4860829" y="3525069"/>
              <a:ext cx="3143920" cy="246221"/>
            </a:xfrm>
            <a:prstGeom prst="rect">
              <a:avLst/>
            </a:prstGeom>
            <a:solidFill>
              <a:schemeClr val="bg1"/>
            </a:solidFill>
          </p:spPr>
          <p:txBody>
            <a:bodyPr wrap="square" lIns="91440" tIns="0" rIns="91440" bIns="0">
              <a:spAutoFit/>
            </a:bodyPr>
            <a:lstStyle/>
            <a:p>
              <a:pPr algn="ctr"/>
              <a:r>
                <a:rPr lang="en-US" altLang="zh-CN" sz="1600" b="1" dirty="0">
                  <a:solidFill>
                    <a:schemeClr val="accent3"/>
                  </a:solidFill>
                </a:rPr>
                <a:t>MAIL FROM:&lt;jgao1@hnust.edu.cn&gt;</a:t>
              </a:r>
              <a:endParaRPr lang="zh-CN" altLang="en-US" sz="1600" b="1" dirty="0">
                <a:solidFill>
                  <a:schemeClr val="accent3"/>
                </a:solidFill>
              </a:endParaRPr>
            </a:p>
          </p:txBody>
        </p:sp>
      </p:grpSp>
      <p:sp>
        <p:nvSpPr>
          <p:cNvPr id="35" name="文本框 34">
            <a:extLst>
              <a:ext uri="{FF2B5EF4-FFF2-40B4-BE49-F238E27FC236}">
                <a16:creationId xmlns:a16="http://schemas.microsoft.com/office/drawing/2014/main" id="{FF0C742C-2F56-5C1A-3B4F-71D8A7328601}"/>
              </a:ext>
            </a:extLst>
          </p:cNvPr>
          <p:cNvSpPr txBox="1"/>
          <p:nvPr/>
        </p:nvSpPr>
        <p:spPr>
          <a:xfrm>
            <a:off x="321077" y="3464323"/>
            <a:ext cx="3969713" cy="338554"/>
          </a:xfrm>
          <a:prstGeom prst="rect">
            <a:avLst/>
          </a:prstGeom>
          <a:noFill/>
        </p:spPr>
        <p:txBody>
          <a:bodyPr wrap="square">
            <a:spAutoFit/>
          </a:bodyPr>
          <a:lstStyle/>
          <a:p>
            <a:r>
              <a:rPr lang="zh-CN" altLang="en-US" sz="1600" b="1" dirty="0">
                <a:solidFill>
                  <a:schemeClr val="accent3"/>
                </a:solidFill>
                <a:latin typeface="+mn-ea"/>
              </a:rPr>
              <a:t>告知服务器邮件来自何方</a:t>
            </a:r>
          </a:p>
        </p:txBody>
      </p:sp>
      <p:grpSp>
        <p:nvGrpSpPr>
          <p:cNvPr id="36" name="组合 35">
            <a:extLst>
              <a:ext uri="{FF2B5EF4-FFF2-40B4-BE49-F238E27FC236}">
                <a16:creationId xmlns:a16="http://schemas.microsoft.com/office/drawing/2014/main" id="{5F338580-453F-FCA8-68E7-FAA783E8001D}"/>
              </a:ext>
            </a:extLst>
          </p:cNvPr>
          <p:cNvGrpSpPr/>
          <p:nvPr/>
        </p:nvGrpSpPr>
        <p:grpSpPr>
          <a:xfrm>
            <a:off x="4298495" y="3897482"/>
            <a:ext cx="4297679" cy="246221"/>
            <a:chOff x="3947160" y="2081103"/>
            <a:chExt cx="4297679" cy="246221"/>
          </a:xfrm>
        </p:grpSpPr>
        <p:cxnSp>
          <p:nvCxnSpPr>
            <p:cNvPr id="37" name="直接箭头连接符 36">
              <a:extLst>
                <a:ext uri="{FF2B5EF4-FFF2-40B4-BE49-F238E27FC236}">
                  <a16:creationId xmlns:a16="http://schemas.microsoft.com/office/drawing/2014/main" id="{413DEDC5-CC95-321D-55DF-B9EC98920069}"/>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922CEB8-8AFD-F829-ACEB-DD70FBB966E0}"/>
                </a:ext>
              </a:extLst>
            </p:cNvPr>
            <p:cNvSpPr txBox="1"/>
            <p:nvPr/>
          </p:nvSpPr>
          <p:spPr>
            <a:xfrm>
              <a:off x="5889347" y="2081103"/>
              <a:ext cx="519050" cy="246221"/>
            </a:xfrm>
            <a:prstGeom prst="rect">
              <a:avLst/>
            </a:prstGeom>
            <a:solidFill>
              <a:schemeClr val="bg1"/>
            </a:solidFill>
          </p:spPr>
          <p:txBody>
            <a:bodyPr wrap="square" lIns="91440" tIns="0" rIns="91440" bIns="0">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39" name="文本框 38">
            <a:extLst>
              <a:ext uri="{FF2B5EF4-FFF2-40B4-BE49-F238E27FC236}">
                <a16:creationId xmlns:a16="http://schemas.microsoft.com/office/drawing/2014/main" id="{20A6A8EF-B9A7-91FE-86A8-9E9C2D2F7968}"/>
              </a:ext>
            </a:extLst>
          </p:cNvPr>
          <p:cNvSpPr txBox="1"/>
          <p:nvPr/>
        </p:nvSpPr>
        <p:spPr>
          <a:xfrm>
            <a:off x="8602710" y="3833221"/>
            <a:ext cx="3424642" cy="338554"/>
          </a:xfrm>
          <a:prstGeom prst="rect">
            <a:avLst/>
          </a:prstGeom>
          <a:noFill/>
        </p:spPr>
        <p:txBody>
          <a:bodyPr wrap="square">
            <a:spAutoFit/>
          </a:bodyPr>
          <a:lstStyle/>
          <a:p>
            <a:r>
              <a:rPr lang="zh-CN" altLang="en-US" sz="1600" b="1" dirty="0">
                <a:solidFill>
                  <a:schemeClr val="accent4"/>
                </a:solidFill>
              </a:rPr>
              <a:t>若合理，发回应答代码</a:t>
            </a:r>
            <a:r>
              <a:rPr lang="en-US" altLang="zh-CN" sz="1600" b="1" dirty="0">
                <a:solidFill>
                  <a:schemeClr val="accent4"/>
                </a:solidFill>
              </a:rPr>
              <a:t>250</a:t>
            </a:r>
            <a:endParaRPr lang="zh-CN" altLang="en-US" sz="1600" b="1" dirty="0">
              <a:solidFill>
                <a:schemeClr val="accent4"/>
              </a:solidFill>
            </a:endParaRPr>
          </a:p>
        </p:txBody>
      </p:sp>
      <p:grpSp>
        <p:nvGrpSpPr>
          <p:cNvPr id="40" name="组合 39">
            <a:extLst>
              <a:ext uri="{FF2B5EF4-FFF2-40B4-BE49-F238E27FC236}">
                <a16:creationId xmlns:a16="http://schemas.microsoft.com/office/drawing/2014/main" id="{B3D9F3C0-847D-20C4-AE74-D5B4361675F7}"/>
              </a:ext>
            </a:extLst>
          </p:cNvPr>
          <p:cNvGrpSpPr/>
          <p:nvPr/>
        </p:nvGrpSpPr>
        <p:grpSpPr>
          <a:xfrm>
            <a:off x="4284258" y="4142311"/>
            <a:ext cx="4297679" cy="338554"/>
            <a:chOff x="4284258" y="4142311"/>
            <a:chExt cx="4297679" cy="338554"/>
          </a:xfrm>
        </p:grpSpPr>
        <p:cxnSp>
          <p:nvCxnSpPr>
            <p:cNvPr id="41" name="直接箭头连接符 40">
              <a:extLst>
                <a:ext uri="{FF2B5EF4-FFF2-40B4-BE49-F238E27FC236}">
                  <a16:creationId xmlns:a16="http://schemas.microsoft.com/office/drawing/2014/main" id="{65B16D12-F26B-FD09-FAF6-DC3C01FE5FB9}"/>
                </a:ext>
              </a:extLst>
            </p:cNvPr>
            <p:cNvCxnSpPr/>
            <p:nvPr/>
          </p:nvCxnSpPr>
          <p:spPr>
            <a:xfrm>
              <a:off x="4284258" y="4326977"/>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91474237-7489-821F-550B-C712C263253D}"/>
                </a:ext>
              </a:extLst>
            </p:cNvPr>
            <p:cNvSpPr txBox="1"/>
            <p:nvPr/>
          </p:nvSpPr>
          <p:spPr>
            <a:xfrm>
              <a:off x="5295706" y="4142311"/>
              <a:ext cx="2274674" cy="338554"/>
            </a:xfrm>
            <a:prstGeom prst="rect">
              <a:avLst/>
            </a:prstGeom>
            <a:solidFill>
              <a:schemeClr val="bg1"/>
            </a:solidFill>
          </p:spPr>
          <p:txBody>
            <a:bodyPr wrap="square">
              <a:spAutoFit/>
            </a:bodyPr>
            <a:lstStyle/>
            <a:p>
              <a:pPr algn="ctr"/>
              <a:r>
                <a:rPr lang="en-US" altLang="zh-CN" sz="1600" b="1" dirty="0">
                  <a:solidFill>
                    <a:schemeClr val="accent3"/>
                  </a:solidFill>
                </a:rPr>
                <a:t>RCPT To:&lt;</a:t>
              </a:r>
              <a:r>
                <a:rPr lang="zh-CN" altLang="en-US" sz="1600" b="1" dirty="0">
                  <a:solidFill>
                    <a:schemeClr val="accent3"/>
                  </a:solidFill>
                </a:rPr>
                <a:t>收件人地址</a:t>
              </a:r>
              <a:r>
                <a:rPr lang="en-US" altLang="zh-CN" sz="1600" b="1" dirty="0">
                  <a:solidFill>
                    <a:schemeClr val="accent3"/>
                  </a:solidFill>
                </a:rPr>
                <a:t>&gt;</a:t>
              </a:r>
              <a:endParaRPr lang="zh-CN" altLang="en-US" sz="1600" b="1" dirty="0">
                <a:solidFill>
                  <a:schemeClr val="accent3"/>
                </a:solidFill>
              </a:endParaRPr>
            </a:p>
          </p:txBody>
        </p:sp>
      </p:grpSp>
      <p:sp>
        <p:nvSpPr>
          <p:cNvPr id="49" name="文本框 48">
            <a:extLst>
              <a:ext uri="{FF2B5EF4-FFF2-40B4-BE49-F238E27FC236}">
                <a16:creationId xmlns:a16="http://schemas.microsoft.com/office/drawing/2014/main" id="{CDD9D29F-51B2-0919-93B3-64EE743B43D5}"/>
              </a:ext>
            </a:extLst>
          </p:cNvPr>
          <p:cNvSpPr txBox="1"/>
          <p:nvPr/>
        </p:nvSpPr>
        <p:spPr>
          <a:xfrm>
            <a:off x="321077" y="4142311"/>
            <a:ext cx="3969713" cy="338554"/>
          </a:xfrm>
          <a:prstGeom prst="rect">
            <a:avLst/>
          </a:prstGeom>
          <a:noFill/>
        </p:spPr>
        <p:txBody>
          <a:bodyPr wrap="square">
            <a:spAutoFit/>
          </a:bodyPr>
          <a:lstStyle/>
          <a:p>
            <a:r>
              <a:rPr lang="zh-CN" altLang="en-US" sz="1600" b="1" dirty="0">
                <a:solidFill>
                  <a:schemeClr val="accent3"/>
                </a:solidFill>
                <a:latin typeface="+mn-ea"/>
              </a:rPr>
              <a:t>告知服务器邮件去往何地</a:t>
            </a:r>
          </a:p>
        </p:txBody>
      </p:sp>
      <p:grpSp>
        <p:nvGrpSpPr>
          <p:cNvPr id="50" name="组合 49">
            <a:extLst>
              <a:ext uri="{FF2B5EF4-FFF2-40B4-BE49-F238E27FC236}">
                <a16:creationId xmlns:a16="http://schemas.microsoft.com/office/drawing/2014/main" id="{72EB52D9-C8E4-F5EA-3A0A-CB5A35677A71}"/>
              </a:ext>
            </a:extLst>
          </p:cNvPr>
          <p:cNvGrpSpPr/>
          <p:nvPr/>
        </p:nvGrpSpPr>
        <p:grpSpPr>
          <a:xfrm>
            <a:off x="4298495" y="4407595"/>
            <a:ext cx="4297679" cy="338554"/>
            <a:chOff x="3947160" y="2027311"/>
            <a:chExt cx="4297679" cy="338554"/>
          </a:xfrm>
        </p:grpSpPr>
        <p:cxnSp>
          <p:nvCxnSpPr>
            <p:cNvPr id="51" name="直接箭头连接符 50">
              <a:extLst>
                <a:ext uri="{FF2B5EF4-FFF2-40B4-BE49-F238E27FC236}">
                  <a16:creationId xmlns:a16="http://schemas.microsoft.com/office/drawing/2014/main" id="{13D9957F-1D98-D3CC-F186-485686FA0244}"/>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41E8E77F-4644-1AC4-478F-57F2EFB0F602}"/>
                </a:ext>
              </a:extLst>
            </p:cNvPr>
            <p:cNvSpPr txBox="1"/>
            <p:nvPr/>
          </p:nvSpPr>
          <p:spPr>
            <a:xfrm>
              <a:off x="5822767" y="2027311"/>
              <a:ext cx="664880" cy="338554"/>
            </a:xfrm>
            <a:prstGeom prst="rect">
              <a:avLst/>
            </a:prstGeom>
            <a:solidFill>
              <a:schemeClr val="bg1"/>
            </a:solidFill>
          </p:spPr>
          <p:txBody>
            <a:bodyPr wrap="square">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53" name="文本框 52">
            <a:extLst>
              <a:ext uri="{FF2B5EF4-FFF2-40B4-BE49-F238E27FC236}">
                <a16:creationId xmlns:a16="http://schemas.microsoft.com/office/drawing/2014/main" id="{7FA137E3-C49A-1BE5-6890-182789FEFFEE}"/>
              </a:ext>
            </a:extLst>
          </p:cNvPr>
          <p:cNvSpPr txBox="1"/>
          <p:nvPr/>
        </p:nvSpPr>
        <p:spPr>
          <a:xfrm>
            <a:off x="8602709" y="4397126"/>
            <a:ext cx="3564753" cy="338554"/>
          </a:xfrm>
          <a:prstGeom prst="rect">
            <a:avLst/>
          </a:prstGeom>
          <a:noFill/>
        </p:spPr>
        <p:txBody>
          <a:bodyPr wrap="square">
            <a:spAutoFit/>
          </a:bodyPr>
          <a:lstStyle/>
          <a:p>
            <a:r>
              <a:rPr lang="zh-CN" altLang="en-US" sz="1600" b="1" dirty="0">
                <a:solidFill>
                  <a:schemeClr val="accent4"/>
                </a:solidFill>
              </a:rPr>
              <a:t>若该邮箱存在，发回应答代码</a:t>
            </a:r>
            <a:r>
              <a:rPr lang="en-US" altLang="zh-CN" sz="1600" b="1" dirty="0">
                <a:solidFill>
                  <a:schemeClr val="accent4"/>
                </a:solidFill>
              </a:rPr>
              <a:t>250</a:t>
            </a:r>
            <a:endParaRPr lang="zh-CN" altLang="en-US" sz="1600" b="1" dirty="0">
              <a:solidFill>
                <a:schemeClr val="accent4"/>
              </a:solidFill>
            </a:endParaRPr>
          </a:p>
        </p:txBody>
      </p:sp>
      <p:grpSp>
        <p:nvGrpSpPr>
          <p:cNvPr id="54" name="组合 53">
            <a:extLst>
              <a:ext uri="{FF2B5EF4-FFF2-40B4-BE49-F238E27FC236}">
                <a16:creationId xmlns:a16="http://schemas.microsoft.com/office/drawing/2014/main" id="{E67DCD85-DB24-FFB8-F240-BDDCDA2EA9C3}"/>
              </a:ext>
            </a:extLst>
          </p:cNvPr>
          <p:cNvGrpSpPr/>
          <p:nvPr/>
        </p:nvGrpSpPr>
        <p:grpSpPr>
          <a:xfrm>
            <a:off x="4284258" y="4653868"/>
            <a:ext cx="4297679" cy="338554"/>
            <a:chOff x="4284258" y="4653868"/>
            <a:chExt cx="4297679" cy="338554"/>
          </a:xfrm>
        </p:grpSpPr>
        <p:cxnSp>
          <p:nvCxnSpPr>
            <p:cNvPr id="55" name="直接箭头连接符 54">
              <a:extLst>
                <a:ext uri="{FF2B5EF4-FFF2-40B4-BE49-F238E27FC236}">
                  <a16:creationId xmlns:a16="http://schemas.microsoft.com/office/drawing/2014/main" id="{12C086AE-82A8-C745-60E9-C592E26BE137}"/>
                </a:ext>
              </a:extLst>
            </p:cNvPr>
            <p:cNvCxnSpPr/>
            <p:nvPr/>
          </p:nvCxnSpPr>
          <p:spPr>
            <a:xfrm>
              <a:off x="4284258" y="4838534"/>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FAEB433A-F564-30F6-70FB-6A04DCA80706}"/>
                </a:ext>
              </a:extLst>
            </p:cNvPr>
            <p:cNvSpPr txBox="1"/>
            <p:nvPr/>
          </p:nvSpPr>
          <p:spPr>
            <a:xfrm>
              <a:off x="5983277" y="4653868"/>
              <a:ext cx="881283" cy="338554"/>
            </a:xfrm>
            <a:prstGeom prst="rect">
              <a:avLst/>
            </a:prstGeom>
            <a:solidFill>
              <a:schemeClr val="bg1"/>
            </a:solidFill>
          </p:spPr>
          <p:txBody>
            <a:bodyPr wrap="square">
              <a:spAutoFit/>
            </a:bodyPr>
            <a:lstStyle/>
            <a:p>
              <a:pPr algn="ctr"/>
              <a:r>
                <a:rPr lang="en-US" altLang="zh-CN" sz="1600" b="1" dirty="0">
                  <a:solidFill>
                    <a:schemeClr val="accent3"/>
                  </a:solidFill>
                </a:rPr>
                <a:t>DATA</a:t>
              </a:r>
              <a:endParaRPr lang="zh-CN" altLang="en-US" sz="1600" b="1" dirty="0">
                <a:solidFill>
                  <a:schemeClr val="accent3"/>
                </a:solidFill>
              </a:endParaRPr>
            </a:p>
          </p:txBody>
        </p:sp>
      </p:grpSp>
      <p:sp>
        <p:nvSpPr>
          <p:cNvPr id="63" name="文本框 62">
            <a:extLst>
              <a:ext uri="{FF2B5EF4-FFF2-40B4-BE49-F238E27FC236}">
                <a16:creationId xmlns:a16="http://schemas.microsoft.com/office/drawing/2014/main" id="{A9FB8103-54EE-EB23-1C14-B936EE13AE31}"/>
              </a:ext>
            </a:extLst>
          </p:cNvPr>
          <p:cNvSpPr txBox="1"/>
          <p:nvPr/>
        </p:nvSpPr>
        <p:spPr>
          <a:xfrm>
            <a:off x="321077" y="4653868"/>
            <a:ext cx="3969713" cy="338554"/>
          </a:xfrm>
          <a:prstGeom prst="rect">
            <a:avLst/>
          </a:prstGeom>
          <a:noFill/>
        </p:spPr>
        <p:txBody>
          <a:bodyPr wrap="square">
            <a:spAutoFit/>
          </a:bodyPr>
          <a:lstStyle/>
          <a:p>
            <a:r>
              <a:rPr lang="zh-CN" altLang="en-US" sz="1600" b="1" dirty="0">
                <a:solidFill>
                  <a:schemeClr val="accent3"/>
                </a:solidFill>
                <a:latin typeface="+mn-ea"/>
              </a:rPr>
              <a:t>告知服务器自己准备发送邮件内容</a:t>
            </a:r>
          </a:p>
        </p:txBody>
      </p:sp>
      <p:grpSp>
        <p:nvGrpSpPr>
          <p:cNvPr id="64" name="组合 63">
            <a:extLst>
              <a:ext uri="{FF2B5EF4-FFF2-40B4-BE49-F238E27FC236}">
                <a16:creationId xmlns:a16="http://schemas.microsoft.com/office/drawing/2014/main" id="{22909F89-BCBA-6FF3-FA7D-CB3A1F509AEB}"/>
              </a:ext>
            </a:extLst>
          </p:cNvPr>
          <p:cNvGrpSpPr/>
          <p:nvPr/>
        </p:nvGrpSpPr>
        <p:grpSpPr>
          <a:xfrm>
            <a:off x="4298495" y="4893522"/>
            <a:ext cx="4297679" cy="338554"/>
            <a:chOff x="3947160" y="2027311"/>
            <a:chExt cx="4297679" cy="338554"/>
          </a:xfrm>
        </p:grpSpPr>
        <p:cxnSp>
          <p:nvCxnSpPr>
            <p:cNvPr id="65" name="直接箭头连接符 64">
              <a:extLst>
                <a:ext uri="{FF2B5EF4-FFF2-40B4-BE49-F238E27FC236}">
                  <a16:creationId xmlns:a16="http://schemas.microsoft.com/office/drawing/2014/main" id="{130F2E1C-37D3-4B60-30FD-9879C3BC2AFD}"/>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15E823EE-3F4A-624F-3CB6-D6E0D03C8794}"/>
                </a:ext>
              </a:extLst>
            </p:cNvPr>
            <p:cNvSpPr txBox="1"/>
            <p:nvPr/>
          </p:nvSpPr>
          <p:spPr>
            <a:xfrm>
              <a:off x="5822767" y="2027311"/>
              <a:ext cx="690458" cy="338554"/>
            </a:xfrm>
            <a:prstGeom prst="rect">
              <a:avLst/>
            </a:prstGeom>
            <a:solidFill>
              <a:schemeClr val="bg1"/>
            </a:solidFill>
          </p:spPr>
          <p:txBody>
            <a:bodyPr wrap="square">
              <a:spAutoFit/>
            </a:bodyPr>
            <a:lstStyle/>
            <a:p>
              <a:pPr algn="ctr"/>
              <a:r>
                <a:rPr lang="en-US" altLang="zh-CN" sz="1600" b="1" dirty="0">
                  <a:solidFill>
                    <a:schemeClr val="accent4"/>
                  </a:solidFill>
                </a:rPr>
                <a:t>354</a:t>
              </a:r>
              <a:endParaRPr lang="zh-CN" altLang="en-US" sz="1600" b="1" dirty="0">
                <a:solidFill>
                  <a:schemeClr val="accent4"/>
                </a:solidFill>
              </a:endParaRPr>
            </a:p>
          </p:txBody>
        </p:sp>
      </p:grpSp>
      <p:sp>
        <p:nvSpPr>
          <p:cNvPr id="67" name="文本框 66">
            <a:extLst>
              <a:ext uri="{FF2B5EF4-FFF2-40B4-BE49-F238E27FC236}">
                <a16:creationId xmlns:a16="http://schemas.microsoft.com/office/drawing/2014/main" id="{09960B42-AADC-31E6-64E4-A806B8B2CDB3}"/>
              </a:ext>
            </a:extLst>
          </p:cNvPr>
          <p:cNvSpPr txBox="1"/>
          <p:nvPr/>
        </p:nvSpPr>
        <p:spPr>
          <a:xfrm>
            <a:off x="8602709" y="4883053"/>
            <a:ext cx="3564753" cy="338554"/>
          </a:xfrm>
          <a:prstGeom prst="rect">
            <a:avLst/>
          </a:prstGeom>
          <a:noFill/>
        </p:spPr>
        <p:txBody>
          <a:bodyPr wrap="square">
            <a:spAutoFit/>
          </a:bodyPr>
          <a:lstStyle/>
          <a:p>
            <a:r>
              <a:rPr lang="zh-CN" altLang="en-US" sz="1600" b="1" dirty="0">
                <a:solidFill>
                  <a:schemeClr val="accent4"/>
                </a:solidFill>
              </a:rPr>
              <a:t>若准备好接收，发回应答代码</a:t>
            </a:r>
            <a:r>
              <a:rPr lang="en-US" altLang="zh-CN" sz="1600" b="1" dirty="0">
                <a:solidFill>
                  <a:schemeClr val="accent4"/>
                </a:solidFill>
              </a:rPr>
              <a:t>354</a:t>
            </a:r>
            <a:endParaRPr lang="zh-CN" altLang="en-US" sz="1600" b="1" dirty="0">
              <a:solidFill>
                <a:schemeClr val="accent4"/>
              </a:solidFill>
            </a:endParaRPr>
          </a:p>
        </p:txBody>
      </p:sp>
      <p:grpSp>
        <p:nvGrpSpPr>
          <p:cNvPr id="68" name="组合 67">
            <a:extLst>
              <a:ext uri="{FF2B5EF4-FFF2-40B4-BE49-F238E27FC236}">
                <a16:creationId xmlns:a16="http://schemas.microsoft.com/office/drawing/2014/main" id="{F6537F0B-6D74-60D0-6E77-423D8666A6E2}"/>
              </a:ext>
            </a:extLst>
          </p:cNvPr>
          <p:cNvGrpSpPr/>
          <p:nvPr/>
        </p:nvGrpSpPr>
        <p:grpSpPr>
          <a:xfrm>
            <a:off x="4284258" y="5148341"/>
            <a:ext cx="4297679" cy="338554"/>
            <a:chOff x="4284258" y="5148341"/>
            <a:chExt cx="4297679" cy="338554"/>
          </a:xfrm>
        </p:grpSpPr>
        <p:cxnSp>
          <p:nvCxnSpPr>
            <p:cNvPr id="69" name="直接箭头连接符 68">
              <a:extLst>
                <a:ext uri="{FF2B5EF4-FFF2-40B4-BE49-F238E27FC236}">
                  <a16:creationId xmlns:a16="http://schemas.microsoft.com/office/drawing/2014/main" id="{237AFCB1-6BE0-C3D0-1625-7F7C4EFDC906}"/>
                </a:ext>
              </a:extLst>
            </p:cNvPr>
            <p:cNvCxnSpPr/>
            <p:nvPr/>
          </p:nvCxnSpPr>
          <p:spPr>
            <a:xfrm>
              <a:off x="4284258" y="5333007"/>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307F1EB8-2EDA-5E71-F9DF-8ABB46934023}"/>
                </a:ext>
              </a:extLst>
            </p:cNvPr>
            <p:cNvSpPr txBox="1"/>
            <p:nvPr/>
          </p:nvSpPr>
          <p:spPr>
            <a:xfrm>
              <a:off x="5798369" y="5148341"/>
              <a:ext cx="1268738" cy="338554"/>
            </a:xfrm>
            <a:prstGeom prst="rect">
              <a:avLst/>
            </a:prstGeom>
            <a:solidFill>
              <a:schemeClr val="bg1"/>
            </a:solidFill>
          </p:spPr>
          <p:txBody>
            <a:bodyPr wrap="square">
              <a:spAutoFit/>
            </a:bodyPr>
            <a:lstStyle/>
            <a:p>
              <a:pPr algn="ctr"/>
              <a:r>
                <a:rPr lang="en-US" altLang="zh-CN" sz="1600" b="1" dirty="0">
                  <a:solidFill>
                    <a:schemeClr val="accent3"/>
                  </a:solidFill>
                </a:rPr>
                <a:t>&lt;</a:t>
              </a:r>
              <a:r>
                <a:rPr lang="zh-CN" altLang="en-US" sz="1600" b="1" dirty="0">
                  <a:solidFill>
                    <a:schemeClr val="accent3"/>
                  </a:solidFill>
                </a:rPr>
                <a:t>邮件内容</a:t>
              </a:r>
              <a:r>
                <a:rPr lang="en-US" altLang="zh-CN" sz="1600" b="1" dirty="0">
                  <a:solidFill>
                    <a:schemeClr val="accent3"/>
                  </a:solidFill>
                </a:rPr>
                <a:t>&gt;</a:t>
              </a:r>
              <a:endParaRPr lang="zh-CN" altLang="en-US" sz="1600" b="1" dirty="0">
                <a:solidFill>
                  <a:schemeClr val="accent3"/>
                </a:solidFill>
              </a:endParaRPr>
            </a:p>
          </p:txBody>
        </p:sp>
      </p:grpSp>
      <p:sp>
        <p:nvSpPr>
          <p:cNvPr id="71" name="文本框 70">
            <a:extLst>
              <a:ext uri="{FF2B5EF4-FFF2-40B4-BE49-F238E27FC236}">
                <a16:creationId xmlns:a16="http://schemas.microsoft.com/office/drawing/2014/main" id="{25077D32-9218-B81E-7DFA-09FE1E1D4A86}"/>
              </a:ext>
            </a:extLst>
          </p:cNvPr>
          <p:cNvSpPr txBox="1"/>
          <p:nvPr/>
        </p:nvSpPr>
        <p:spPr>
          <a:xfrm>
            <a:off x="321077" y="5148341"/>
            <a:ext cx="3969713" cy="338554"/>
          </a:xfrm>
          <a:prstGeom prst="rect">
            <a:avLst/>
          </a:prstGeom>
          <a:noFill/>
        </p:spPr>
        <p:txBody>
          <a:bodyPr wrap="square">
            <a:spAutoFit/>
          </a:bodyPr>
          <a:lstStyle/>
          <a:p>
            <a:r>
              <a:rPr lang="zh-CN" altLang="en-US" sz="1600" b="1" dirty="0">
                <a:solidFill>
                  <a:schemeClr val="accent3"/>
                </a:solidFill>
                <a:latin typeface="+mn-ea"/>
              </a:rPr>
              <a:t>向服务器发送邮件内容</a:t>
            </a:r>
          </a:p>
        </p:txBody>
      </p:sp>
      <p:sp>
        <p:nvSpPr>
          <p:cNvPr id="72" name="文本框 71">
            <a:extLst>
              <a:ext uri="{FF2B5EF4-FFF2-40B4-BE49-F238E27FC236}">
                <a16:creationId xmlns:a16="http://schemas.microsoft.com/office/drawing/2014/main" id="{6865A6A3-0670-7CF9-939A-115D27DF6CB1}"/>
              </a:ext>
            </a:extLst>
          </p:cNvPr>
          <p:cNvSpPr txBox="1"/>
          <p:nvPr/>
        </p:nvSpPr>
        <p:spPr>
          <a:xfrm>
            <a:off x="4255711" y="5229342"/>
            <a:ext cx="450437" cy="338554"/>
          </a:xfrm>
          <a:prstGeom prst="rect">
            <a:avLst/>
          </a:prstGeom>
          <a:noFill/>
        </p:spPr>
        <p:txBody>
          <a:bodyPr wrap="square">
            <a:spAutoFit/>
          </a:bodyPr>
          <a:lstStyle/>
          <a:p>
            <a:pPr algn="ctr"/>
            <a:r>
              <a:rPr lang="en-US" altLang="zh-CN" sz="1600" b="1" dirty="0">
                <a:solidFill>
                  <a:schemeClr val="accent3"/>
                </a:solidFill>
              </a:rPr>
              <a:t>…</a:t>
            </a:r>
            <a:endParaRPr lang="zh-CN" altLang="en-US" sz="1600" b="1" dirty="0">
              <a:solidFill>
                <a:schemeClr val="accent3"/>
              </a:solidFill>
            </a:endParaRPr>
          </a:p>
        </p:txBody>
      </p:sp>
      <p:grpSp>
        <p:nvGrpSpPr>
          <p:cNvPr id="73" name="组合 72">
            <a:extLst>
              <a:ext uri="{FF2B5EF4-FFF2-40B4-BE49-F238E27FC236}">
                <a16:creationId xmlns:a16="http://schemas.microsoft.com/office/drawing/2014/main" id="{9DC95269-391E-AA1D-0C60-36FD387DD270}"/>
              </a:ext>
            </a:extLst>
          </p:cNvPr>
          <p:cNvGrpSpPr/>
          <p:nvPr/>
        </p:nvGrpSpPr>
        <p:grpSpPr>
          <a:xfrm>
            <a:off x="4284258" y="5418699"/>
            <a:ext cx="4297679" cy="338554"/>
            <a:chOff x="4284258" y="5418699"/>
            <a:chExt cx="4297679" cy="338554"/>
          </a:xfrm>
        </p:grpSpPr>
        <p:cxnSp>
          <p:nvCxnSpPr>
            <p:cNvPr id="74" name="直接箭头连接符 73">
              <a:extLst>
                <a:ext uri="{FF2B5EF4-FFF2-40B4-BE49-F238E27FC236}">
                  <a16:creationId xmlns:a16="http://schemas.microsoft.com/office/drawing/2014/main" id="{B13C7580-6802-FA8E-0E2A-A584F50A5CD0}"/>
                </a:ext>
              </a:extLst>
            </p:cNvPr>
            <p:cNvCxnSpPr/>
            <p:nvPr/>
          </p:nvCxnSpPr>
          <p:spPr>
            <a:xfrm>
              <a:off x="4284258" y="5655619"/>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B10B032B-7BC1-F5B6-934E-7AAAEC387D48}"/>
                </a:ext>
              </a:extLst>
            </p:cNvPr>
            <p:cNvSpPr txBox="1"/>
            <p:nvPr/>
          </p:nvSpPr>
          <p:spPr>
            <a:xfrm>
              <a:off x="6288073" y="5418699"/>
              <a:ext cx="299600" cy="338554"/>
            </a:xfrm>
            <a:prstGeom prst="rect">
              <a:avLst/>
            </a:prstGeom>
            <a:solidFill>
              <a:schemeClr val="bg1"/>
            </a:solidFill>
          </p:spPr>
          <p:txBody>
            <a:bodyPr wrap="square">
              <a:spAutoFit/>
            </a:bodyPr>
            <a:lstStyle/>
            <a:p>
              <a:pPr algn="ctr"/>
              <a:r>
                <a:rPr lang="en-US" altLang="zh-CN" sz="1600" b="1" dirty="0">
                  <a:solidFill>
                    <a:schemeClr val="accent3"/>
                  </a:solidFill>
                </a:rPr>
                <a:t>.</a:t>
              </a:r>
              <a:endParaRPr lang="zh-CN" altLang="en-US" sz="1600" b="1" dirty="0">
                <a:solidFill>
                  <a:schemeClr val="accent3"/>
                </a:solidFill>
              </a:endParaRPr>
            </a:p>
          </p:txBody>
        </p:sp>
      </p:grpSp>
      <p:sp>
        <p:nvSpPr>
          <p:cNvPr id="76" name="文本框 75">
            <a:extLst>
              <a:ext uri="{FF2B5EF4-FFF2-40B4-BE49-F238E27FC236}">
                <a16:creationId xmlns:a16="http://schemas.microsoft.com/office/drawing/2014/main" id="{0024B8FC-E5D4-ACB8-C08B-EB26DE1AB2D2}"/>
              </a:ext>
            </a:extLst>
          </p:cNvPr>
          <p:cNvSpPr txBox="1"/>
          <p:nvPr/>
        </p:nvSpPr>
        <p:spPr>
          <a:xfrm>
            <a:off x="321077" y="5470953"/>
            <a:ext cx="3969713" cy="338554"/>
          </a:xfrm>
          <a:prstGeom prst="rect">
            <a:avLst/>
          </a:prstGeom>
          <a:noFill/>
        </p:spPr>
        <p:txBody>
          <a:bodyPr wrap="square">
            <a:spAutoFit/>
          </a:bodyPr>
          <a:lstStyle/>
          <a:p>
            <a:r>
              <a:rPr lang="zh-CN" altLang="en-US" sz="1600" b="1" dirty="0">
                <a:solidFill>
                  <a:schemeClr val="accent3"/>
                </a:solidFill>
                <a:latin typeface="+mn-ea"/>
              </a:rPr>
              <a:t>发送完邮件内容，还要发送结束符</a:t>
            </a:r>
          </a:p>
        </p:txBody>
      </p:sp>
      <p:grpSp>
        <p:nvGrpSpPr>
          <p:cNvPr id="77" name="组合 76">
            <a:extLst>
              <a:ext uri="{FF2B5EF4-FFF2-40B4-BE49-F238E27FC236}">
                <a16:creationId xmlns:a16="http://schemas.microsoft.com/office/drawing/2014/main" id="{18220078-3688-F8C9-C481-113E70289973}"/>
              </a:ext>
            </a:extLst>
          </p:cNvPr>
          <p:cNvGrpSpPr/>
          <p:nvPr/>
        </p:nvGrpSpPr>
        <p:grpSpPr>
          <a:xfrm>
            <a:off x="4298495" y="5693501"/>
            <a:ext cx="4297679" cy="338554"/>
            <a:chOff x="3947160" y="2027311"/>
            <a:chExt cx="4297679" cy="338554"/>
          </a:xfrm>
        </p:grpSpPr>
        <p:cxnSp>
          <p:nvCxnSpPr>
            <p:cNvPr id="78" name="直接箭头连接符 77">
              <a:extLst>
                <a:ext uri="{FF2B5EF4-FFF2-40B4-BE49-F238E27FC236}">
                  <a16:creationId xmlns:a16="http://schemas.microsoft.com/office/drawing/2014/main" id="{6B3F0F33-A1AA-F0FA-F450-64F2F9EFC07A}"/>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2154981E-346B-882F-8E2C-EC74ED6DCAA0}"/>
                </a:ext>
              </a:extLst>
            </p:cNvPr>
            <p:cNvSpPr txBox="1"/>
            <p:nvPr/>
          </p:nvSpPr>
          <p:spPr>
            <a:xfrm>
              <a:off x="5822767" y="2027311"/>
              <a:ext cx="664879" cy="338554"/>
            </a:xfrm>
            <a:prstGeom prst="rect">
              <a:avLst/>
            </a:prstGeom>
            <a:solidFill>
              <a:schemeClr val="bg1"/>
            </a:solidFill>
          </p:spPr>
          <p:txBody>
            <a:bodyPr wrap="square">
              <a:spAutoFit/>
            </a:bodyPr>
            <a:lstStyle/>
            <a:p>
              <a:pPr algn="ctr"/>
              <a:r>
                <a:rPr lang="en-US" altLang="zh-CN" sz="1600" b="1" dirty="0">
                  <a:solidFill>
                    <a:schemeClr val="accent4"/>
                  </a:solidFill>
                </a:rPr>
                <a:t>250</a:t>
              </a:r>
              <a:endParaRPr lang="zh-CN" altLang="en-US" sz="1600" b="1" dirty="0">
                <a:solidFill>
                  <a:schemeClr val="accent4"/>
                </a:solidFill>
              </a:endParaRPr>
            </a:p>
          </p:txBody>
        </p:sp>
      </p:grpSp>
      <p:sp>
        <p:nvSpPr>
          <p:cNvPr id="80" name="文本框 79">
            <a:extLst>
              <a:ext uri="{FF2B5EF4-FFF2-40B4-BE49-F238E27FC236}">
                <a16:creationId xmlns:a16="http://schemas.microsoft.com/office/drawing/2014/main" id="{6A4AF6B6-E796-ECB7-2ABC-F65557694D37}"/>
              </a:ext>
            </a:extLst>
          </p:cNvPr>
          <p:cNvSpPr txBox="1"/>
          <p:nvPr/>
        </p:nvSpPr>
        <p:spPr>
          <a:xfrm>
            <a:off x="8602709" y="5683032"/>
            <a:ext cx="3564753" cy="338554"/>
          </a:xfrm>
          <a:prstGeom prst="rect">
            <a:avLst/>
          </a:prstGeom>
          <a:noFill/>
        </p:spPr>
        <p:txBody>
          <a:bodyPr wrap="square">
            <a:spAutoFit/>
          </a:bodyPr>
          <a:lstStyle/>
          <a:p>
            <a:r>
              <a:rPr lang="zh-CN" altLang="en-US" sz="1600" b="1" dirty="0">
                <a:solidFill>
                  <a:schemeClr val="accent4"/>
                </a:solidFill>
              </a:rPr>
              <a:t>若收件成功，发回应答代码</a:t>
            </a:r>
            <a:r>
              <a:rPr lang="en-US" altLang="zh-CN" sz="1600" b="1" dirty="0">
                <a:solidFill>
                  <a:schemeClr val="accent4"/>
                </a:solidFill>
              </a:rPr>
              <a:t>250</a:t>
            </a:r>
            <a:endParaRPr lang="zh-CN" altLang="en-US" sz="1600" b="1" dirty="0">
              <a:solidFill>
                <a:schemeClr val="accent4"/>
              </a:solidFill>
            </a:endParaRPr>
          </a:p>
        </p:txBody>
      </p:sp>
      <p:grpSp>
        <p:nvGrpSpPr>
          <p:cNvPr id="81" name="组合 80">
            <a:extLst>
              <a:ext uri="{FF2B5EF4-FFF2-40B4-BE49-F238E27FC236}">
                <a16:creationId xmlns:a16="http://schemas.microsoft.com/office/drawing/2014/main" id="{E4A938E1-DEB7-BC19-65FE-B7649DB718B3}"/>
              </a:ext>
            </a:extLst>
          </p:cNvPr>
          <p:cNvGrpSpPr/>
          <p:nvPr/>
        </p:nvGrpSpPr>
        <p:grpSpPr>
          <a:xfrm>
            <a:off x="4284258" y="5948321"/>
            <a:ext cx="4297679" cy="338554"/>
            <a:chOff x="4284258" y="5948321"/>
            <a:chExt cx="4297679" cy="338554"/>
          </a:xfrm>
        </p:grpSpPr>
        <p:cxnSp>
          <p:nvCxnSpPr>
            <p:cNvPr id="82" name="直接箭头连接符 81">
              <a:extLst>
                <a:ext uri="{FF2B5EF4-FFF2-40B4-BE49-F238E27FC236}">
                  <a16:creationId xmlns:a16="http://schemas.microsoft.com/office/drawing/2014/main" id="{489258AF-650A-8F14-C7C1-C5792F75F61D}"/>
                </a:ext>
              </a:extLst>
            </p:cNvPr>
            <p:cNvCxnSpPr/>
            <p:nvPr/>
          </p:nvCxnSpPr>
          <p:spPr>
            <a:xfrm>
              <a:off x="4284258" y="6132987"/>
              <a:ext cx="4297679" cy="0"/>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58B00BC0-DCE7-8F23-7FEC-1ACF76E79814}"/>
                </a:ext>
              </a:extLst>
            </p:cNvPr>
            <p:cNvSpPr txBox="1"/>
            <p:nvPr/>
          </p:nvSpPr>
          <p:spPr>
            <a:xfrm>
              <a:off x="5983277" y="5948321"/>
              <a:ext cx="881283" cy="338554"/>
            </a:xfrm>
            <a:prstGeom prst="rect">
              <a:avLst/>
            </a:prstGeom>
            <a:solidFill>
              <a:schemeClr val="bg1"/>
            </a:solidFill>
          </p:spPr>
          <p:txBody>
            <a:bodyPr wrap="square">
              <a:spAutoFit/>
            </a:bodyPr>
            <a:lstStyle/>
            <a:p>
              <a:pPr algn="ctr"/>
              <a:r>
                <a:rPr lang="en-US" altLang="zh-CN" sz="1600" b="1" dirty="0">
                  <a:solidFill>
                    <a:schemeClr val="accent3"/>
                  </a:solidFill>
                </a:rPr>
                <a:t>QUIT</a:t>
              </a:r>
              <a:endParaRPr lang="zh-CN" altLang="en-US" sz="1600" b="1" dirty="0">
                <a:solidFill>
                  <a:schemeClr val="accent3"/>
                </a:solidFill>
              </a:endParaRPr>
            </a:p>
          </p:txBody>
        </p:sp>
      </p:grpSp>
      <p:sp>
        <p:nvSpPr>
          <p:cNvPr id="84" name="文本框 83">
            <a:extLst>
              <a:ext uri="{FF2B5EF4-FFF2-40B4-BE49-F238E27FC236}">
                <a16:creationId xmlns:a16="http://schemas.microsoft.com/office/drawing/2014/main" id="{FF00C828-F261-4BF7-CA84-3004E5C5D69D}"/>
              </a:ext>
            </a:extLst>
          </p:cNvPr>
          <p:cNvSpPr txBox="1"/>
          <p:nvPr/>
        </p:nvSpPr>
        <p:spPr>
          <a:xfrm>
            <a:off x="321077" y="5948321"/>
            <a:ext cx="3969713" cy="338554"/>
          </a:xfrm>
          <a:prstGeom prst="rect">
            <a:avLst/>
          </a:prstGeom>
          <a:noFill/>
        </p:spPr>
        <p:txBody>
          <a:bodyPr wrap="square">
            <a:spAutoFit/>
          </a:bodyPr>
          <a:lstStyle/>
          <a:p>
            <a:r>
              <a:rPr lang="zh-CN" altLang="en-US" sz="1600" b="1" dirty="0">
                <a:solidFill>
                  <a:schemeClr val="accent3"/>
                </a:solidFill>
                <a:latin typeface="+mn-ea"/>
              </a:rPr>
              <a:t>向服务器请求断开</a:t>
            </a:r>
            <a:r>
              <a:rPr lang="en-US" altLang="zh-CN" sz="1600" b="1" dirty="0">
                <a:solidFill>
                  <a:schemeClr val="accent3"/>
                </a:solidFill>
                <a:latin typeface="+mn-ea"/>
              </a:rPr>
              <a:t>TCP</a:t>
            </a:r>
            <a:r>
              <a:rPr lang="zh-CN" altLang="en-US" sz="1600" b="1" dirty="0">
                <a:solidFill>
                  <a:schemeClr val="accent3"/>
                </a:solidFill>
                <a:latin typeface="+mn-ea"/>
              </a:rPr>
              <a:t>连接</a:t>
            </a:r>
          </a:p>
        </p:txBody>
      </p:sp>
      <p:grpSp>
        <p:nvGrpSpPr>
          <p:cNvPr id="85" name="组合 84">
            <a:extLst>
              <a:ext uri="{FF2B5EF4-FFF2-40B4-BE49-F238E27FC236}">
                <a16:creationId xmlns:a16="http://schemas.microsoft.com/office/drawing/2014/main" id="{B1FED2EF-3878-C9F2-4F4E-4D6F9C7F4D04}"/>
              </a:ext>
            </a:extLst>
          </p:cNvPr>
          <p:cNvGrpSpPr/>
          <p:nvPr/>
        </p:nvGrpSpPr>
        <p:grpSpPr>
          <a:xfrm>
            <a:off x="4298495" y="6213614"/>
            <a:ext cx="4297679" cy="338554"/>
            <a:chOff x="3947160" y="2027311"/>
            <a:chExt cx="4297679" cy="338554"/>
          </a:xfrm>
        </p:grpSpPr>
        <p:cxnSp>
          <p:nvCxnSpPr>
            <p:cNvPr id="86" name="直接箭头连接符 85">
              <a:extLst>
                <a:ext uri="{FF2B5EF4-FFF2-40B4-BE49-F238E27FC236}">
                  <a16:creationId xmlns:a16="http://schemas.microsoft.com/office/drawing/2014/main" id="{FD4C69BC-C282-8A10-64D1-49C0664F5C5E}"/>
                </a:ext>
              </a:extLst>
            </p:cNvPr>
            <p:cNvCxnSpPr/>
            <p:nvPr/>
          </p:nvCxnSpPr>
          <p:spPr>
            <a:xfrm flipH="1">
              <a:off x="3947160" y="2211977"/>
              <a:ext cx="4297679" cy="0"/>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4A72DACC-3E7B-C727-F8F3-9C5CEB5088AD}"/>
                </a:ext>
              </a:extLst>
            </p:cNvPr>
            <p:cNvSpPr txBox="1"/>
            <p:nvPr/>
          </p:nvSpPr>
          <p:spPr>
            <a:xfrm>
              <a:off x="5822767" y="2027311"/>
              <a:ext cx="664879" cy="338554"/>
            </a:xfrm>
            <a:prstGeom prst="rect">
              <a:avLst/>
            </a:prstGeom>
            <a:solidFill>
              <a:schemeClr val="bg1"/>
            </a:solidFill>
          </p:spPr>
          <p:txBody>
            <a:bodyPr wrap="square">
              <a:spAutoFit/>
            </a:bodyPr>
            <a:lstStyle/>
            <a:p>
              <a:pPr algn="ctr"/>
              <a:r>
                <a:rPr lang="en-US" altLang="zh-CN" sz="1600" b="1" dirty="0">
                  <a:solidFill>
                    <a:schemeClr val="accent4"/>
                  </a:solidFill>
                </a:rPr>
                <a:t>221</a:t>
              </a:r>
              <a:endParaRPr lang="zh-CN" altLang="en-US" sz="1600" b="1" dirty="0">
                <a:solidFill>
                  <a:schemeClr val="accent4"/>
                </a:solidFill>
              </a:endParaRPr>
            </a:p>
          </p:txBody>
        </p:sp>
      </p:grpSp>
      <p:sp>
        <p:nvSpPr>
          <p:cNvPr id="88" name="文本框 87">
            <a:extLst>
              <a:ext uri="{FF2B5EF4-FFF2-40B4-BE49-F238E27FC236}">
                <a16:creationId xmlns:a16="http://schemas.microsoft.com/office/drawing/2014/main" id="{266CFA71-5DB4-CFBA-2DFF-C1FC85226276}"/>
              </a:ext>
            </a:extLst>
          </p:cNvPr>
          <p:cNvSpPr txBox="1"/>
          <p:nvPr/>
        </p:nvSpPr>
        <p:spPr>
          <a:xfrm>
            <a:off x="8602709" y="6203145"/>
            <a:ext cx="3564753" cy="338554"/>
          </a:xfrm>
          <a:prstGeom prst="rect">
            <a:avLst/>
          </a:prstGeom>
          <a:noFill/>
        </p:spPr>
        <p:txBody>
          <a:bodyPr wrap="square">
            <a:spAutoFit/>
          </a:bodyPr>
          <a:lstStyle/>
          <a:p>
            <a:r>
              <a:rPr lang="zh-CN" altLang="en-US" sz="1600" b="1" dirty="0">
                <a:solidFill>
                  <a:schemeClr val="accent4"/>
                </a:solidFill>
              </a:rPr>
              <a:t>发回应答代码</a:t>
            </a:r>
            <a:r>
              <a:rPr lang="en-US" altLang="zh-CN" sz="1600" b="1" dirty="0">
                <a:solidFill>
                  <a:schemeClr val="accent4"/>
                </a:solidFill>
              </a:rPr>
              <a:t>221</a:t>
            </a:r>
            <a:r>
              <a:rPr lang="zh-CN" altLang="en-US" sz="1600" b="1" dirty="0">
                <a:solidFill>
                  <a:schemeClr val="accent4"/>
                </a:solidFill>
              </a:rPr>
              <a:t>并主动断开连接</a:t>
            </a:r>
          </a:p>
        </p:txBody>
      </p:sp>
      <p:sp>
        <p:nvSpPr>
          <p:cNvPr id="89" name="矩形 88">
            <a:extLst>
              <a:ext uri="{FF2B5EF4-FFF2-40B4-BE49-F238E27FC236}">
                <a16:creationId xmlns:a16="http://schemas.microsoft.com/office/drawing/2014/main" id="{B7D30DD8-1CF6-002A-2AEC-F4064BFBDA4E}"/>
              </a:ext>
            </a:extLst>
          </p:cNvPr>
          <p:cNvSpPr/>
          <p:nvPr/>
        </p:nvSpPr>
        <p:spPr>
          <a:xfrm>
            <a:off x="9270940" y="796527"/>
            <a:ext cx="2623067" cy="2021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latin typeface="+mn-ea"/>
              </a:rPr>
              <a:t>注意：</a:t>
            </a:r>
          </a:p>
          <a:p>
            <a:pPr marL="342900" indent="-342900">
              <a:buFont typeface="+mj-lt"/>
              <a:buAutoNum type="arabicPeriod"/>
            </a:pPr>
            <a:r>
              <a:rPr lang="zh-CN" altLang="en-US" sz="1600" b="1" dirty="0">
                <a:latin typeface="+mn-ea"/>
              </a:rPr>
              <a:t>为了简单起见，省略了认证过程；</a:t>
            </a:r>
          </a:p>
          <a:p>
            <a:pPr marL="342900" indent="-342900">
              <a:buFont typeface="+mj-lt"/>
              <a:buAutoNum type="arabicPeriod"/>
            </a:pPr>
            <a:r>
              <a:rPr lang="zh-CN" altLang="en-US" sz="1600" b="1" dirty="0">
                <a:latin typeface="+mn-ea"/>
              </a:rPr>
              <a:t>应答代码后面一般都跟有简单的描述信息；</a:t>
            </a:r>
          </a:p>
          <a:p>
            <a:pPr marL="342900" indent="-342900">
              <a:buFont typeface="+mj-lt"/>
              <a:buAutoNum type="arabicPeriod"/>
            </a:pPr>
            <a:r>
              <a:rPr lang="zh-CN" altLang="en-US" sz="1600" b="1" dirty="0">
                <a:latin typeface="+mn-ea"/>
              </a:rPr>
              <a:t>不同的</a:t>
            </a:r>
            <a:r>
              <a:rPr lang="en-US" altLang="zh-CN" sz="1600" b="1" dirty="0">
                <a:latin typeface="+mn-ea"/>
              </a:rPr>
              <a:t>SMTP</a:t>
            </a:r>
            <a:r>
              <a:rPr lang="zh-CN" altLang="en-US" sz="1600" b="1" dirty="0">
                <a:latin typeface="+mn-ea"/>
              </a:rPr>
              <a:t>服务器给出的相同应答代码的描述信息可能不同。</a:t>
            </a:r>
          </a:p>
        </p:txBody>
      </p:sp>
    </p:spTree>
    <p:custDataLst>
      <p:tags r:id="rId1"/>
    </p:custDataLst>
    <p:extLst>
      <p:ext uri="{BB962C8B-B14F-4D97-AF65-F5344CB8AC3E}">
        <p14:creationId xmlns:p14="http://schemas.microsoft.com/office/powerpoint/2010/main" val="2236003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p:tgtEl>
                                          <p:spTgt spid="35"/>
                                        </p:tgtEl>
                                        <p:attrNameLst>
                                          <p:attrName>ppt_x</p:attrName>
                                        </p:attrNameLst>
                                      </p:cBhvr>
                                      <p:tavLst>
                                        <p:tav tm="0">
                                          <p:val>
                                            <p:strVal val="#ppt_x-#ppt_w*1.125000"/>
                                          </p:val>
                                        </p:tav>
                                        <p:tav tm="100000">
                                          <p:val>
                                            <p:strVal val="#ppt_x"/>
                                          </p:val>
                                        </p:tav>
                                      </p:tavLst>
                                    </p:anim>
                                    <p:animEffect transition="in" filter="wipe(right)">
                                      <p:cBhvr>
                                        <p:cTn id="8" dur="500"/>
                                        <p:tgtEl>
                                          <p:spTgt spid="35"/>
                                        </p:tgtEl>
                                      </p:cBhvr>
                                    </p:animEffect>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left)">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 calcmode="lin" valueType="num">
                                      <p:cBhvr additive="base">
                                        <p:cTn id="17" dur="500"/>
                                        <p:tgtEl>
                                          <p:spTgt spid="39"/>
                                        </p:tgtEl>
                                        <p:attrNameLst>
                                          <p:attrName>ppt_x</p:attrName>
                                        </p:attrNameLst>
                                      </p:cBhvr>
                                      <p:tavLst>
                                        <p:tav tm="0">
                                          <p:val>
                                            <p:strVal val="#ppt_x+#ppt_w*1.125000"/>
                                          </p:val>
                                        </p:tav>
                                        <p:tav tm="100000">
                                          <p:val>
                                            <p:strVal val="#ppt_x"/>
                                          </p:val>
                                        </p:tav>
                                      </p:tavLst>
                                    </p:anim>
                                    <p:animEffect transition="in" filter="wipe(left)">
                                      <p:cBhvr>
                                        <p:cTn id="18" dur="500"/>
                                        <p:tgtEl>
                                          <p:spTgt spid="39"/>
                                        </p:tgtEl>
                                      </p:cBhvr>
                                    </p:animEffect>
                                  </p:childTnLst>
                                </p:cTn>
                              </p:par>
                            </p:childTnLst>
                          </p:cTn>
                        </p:par>
                        <p:par>
                          <p:cTn id="19" fill="hold">
                            <p:stCondLst>
                              <p:cond delay="500"/>
                            </p:stCondLst>
                            <p:childTnLst>
                              <p:par>
                                <p:cTn id="20" presetID="22" presetClass="entr" presetSubtype="2"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right)">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additive="base">
                                        <p:cTn id="27" dur="500"/>
                                        <p:tgtEl>
                                          <p:spTgt spid="49"/>
                                        </p:tgtEl>
                                        <p:attrNameLst>
                                          <p:attrName>ppt_x</p:attrName>
                                        </p:attrNameLst>
                                      </p:cBhvr>
                                      <p:tavLst>
                                        <p:tav tm="0">
                                          <p:val>
                                            <p:strVal val="#ppt_x-#ppt_w*1.125000"/>
                                          </p:val>
                                        </p:tav>
                                        <p:tav tm="100000">
                                          <p:val>
                                            <p:strVal val="#ppt_x"/>
                                          </p:val>
                                        </p:tav>
                                      </p:tavLst>
                                    </p:anim>
                                    <p:animEffect transition="in" filter="wipe(right)">
                                      <p:cBhvr>
                                        <p:cTn id="28" dur="500"/>
                                        <p:tgtEl>
                                          <p:spTgt spid="49"/>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wipe(left)">
                                      <p:cBhvr>
                                        <p:cTn id="32" dur="500"/>
                                        <p:tgtEl>
                                          <p:spTgt spid="4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2"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p:tgtEl>
                                          <p:spTgt spid="53"/>
                                        </p:tgtEl>
                                        <p:attrNameLst>
                                          <p:attrName>ppt_x</p:attrName>
                                        </p:attrNameLst>
                                      </p:cBhvr>
                                      <p:tavLst>
                                        <p:tav tm="0">
                                          <p:val>
                                            <p:strVal val="#ppt_x+#ppt_w*1.125000"/>
                                          </p:val>
                                        </p:tav>
                                        <p:tav tm="100000">
                                          <p:val>
                                            <p:strVal val="#ppt_x"/>
                                          </p:val>
                                        </p:tav>
                                      </p:tavLst>
                                    </p:anim>
                                    <p:animEffect transition="in" filter="wipe(left)">
                                      <p:cBhvr>
                                        <p:cTn id="38" dur="500"/>
                                        <p:tgtEl>
                                          <p:spTgt spid="53"/>
                                        </p:tgtEl>
                                      </p:cBhvr>
                                    </p:animEffect>
                                  </p:childTnLst>
                                </p:cTn>
                              </p:par>
                            </p:childTnLst>
                          </p:cTn>
                        </p:par>
                        <p:par>
                          <p:cTn id="39" fill="hold">
                            <p:stCondLst>
                              <p:cond delay="500"/>
                            </p:stCondLst>
                            <p:childTnLst>
                              <p:par>
                                <p:cTn id="40" presetID="22" presetClass="entr" presetSubtype="2" fill="hold" nodeType="after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wipe(right)">
                                      <p:cBhvr>
                                        <p:cTn id="42" dur="500"/>
                                        <p:tgtEl>
                                          <p:spTgt spid="50"/>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grpId="0" nodeType="clickEffect">
                                  <p:stCondLst>
                                    <p:cond delay="0"/>
                                  </p:stCondLst>
                                  <p:childTnLst>
                                    <p:set>
                                      <p:cBhvr>
                                        <p:cTn id="46" dur="1" fill="hold">
                                          <p:stCondLst>
                                            <p:cond delay="0"/>
                                          </p:stCondLst>
                                        </p:cTn>
                                        <p:tgtEl>
                                          <p:spTgt spid="63"/>
                                        </p:tgtEl>
                                        <p:attrNameLst>
                                          <p:attrName>style.visibility</p:attrName>
                                        </p:attrNameLst>
                                      </p:cBhvr>
                                      <p:to>
                                        <p:strVal val="visible"/>
                                      </p:to>
                                    </p:set>
                                    <p:anim calcmode="lin" valueType="num">
                                      <p:cBhvr additive="base">
                                        <p:cTn id="47" dur="500"/>
                                        <p:tgtEl>
                                          <p:spTgt spid="63"/>
                                        </p:tgtEl>
                                        <p:attrNameLst>
                                          <p:attrName>ppt_x</p:attrName>
                                        </p:attrNameLst>
                                      </p:cBhvr>
                                      <p:tavLst>
                                        <p:tav tm="0">
                                          <p:val>
                                            <p:strVal val="#ppt_x-#ppt_w*1.125000"/>
                                          </p:val>
                                        </p:tav>
                                        <p:tav tm="100000">
                                          <p:val>
                                            <p:strVal val="#ppt_x"/>
                                          </p:val>
                                        </p:tav>
                                      </p:tavLst>
                                    </p:anim>
                                    <p:animEffect transition="in" filter="wipe(right)">
                                      <p:cBhvr>
                                        <p:cTn id="48" dur="500"/>
                                        <p:tgtEl>
                                          <p:spTgt spid="63"/>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wipe(left)">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2" fill="hold" grpId="0" nodeType="clickEffect">
                                  <p:stCondLst>
                                    <p:cond delay="0"/>
                                  </p:stCondLst>
                                  <p:childTnLst>
                                    <p:set>
                                      <p:cBhvr>
                                        <p:cTn id="56" dur="1" fill="hold">
                                          <p:stCondLst>
                                            <p:cond delay="0"/>
                                          </p:stCondLst>
                                        </p:cTn>
                                        <p:tgtEl>
                                          <p:spTgt spid="67"/>
                                        </p:tgtEl>
                                        <p:attrNameLst>
                                          <p:attrName>style.visibility</p:attrName>
                                        </p:attrNameLst>
                                      </p:cBhvr>
                                      <p:to>
                                        <p:strVal val="visible"/>
                                      </p:to>
                                    </p:set>
                                    <p:anim calcmode="lin" valueType="num">
                                      <p:cBhvr additive="base">
                                        <p:cTn id="57" dur="500"/>
                                        <p:tgtEl>
                                          <p:spTgt spid="67"/>
                                        </p:tgtEl>
                                        <p:attrNameLst>
                                          <p:attrName>ppt_x</p:attrName>
                                        </p:attrNameLst>
                                      </p:cBhvr>
                                      <p:tavLst>
                                        <p:tav tm="0">
                                          <p:val>
                                            <p:strVal val="#ppt_x+#ppt_w*1.125000"/>
                                          </p:val>
                                        </p:tav>
                                        <p:tav tm="100000">
                                          <p:val>
                                            <p:strVal val="#ppt_x"/>
                                          </p:val>
                                        </p:tav>
                                      </p:tavLst>
                                    </p:anim>
                                    <p:animEffect transition="in" filter="wipe(left)">
                                      <p:cBhvr>
                                        <p:cTn id="58" dur="500"/>
                                        <p:tgtEl>
                                          <p:spTgt spid="67"/>
                                        </p:tgtEl>
                                      </p:cBhvr>
                                    </p:animEffect>
                                  </p:childTnLst>
                                </p:cTn>
                              </p:par>
                            </p:childTnLst>
                          </p:cTn>
                        </p:par>
                        <p:par>
                          <p:cTn id="59" fill="hold">
                            <p:stCondLst>
                              <p:cond delay="500"/>
                            </p:stCondLst>
                            <p:childTnLst>
                              <p:par>
                                <p:cTn id="60" presetID="22" presetClass="entr" presetSubtype="2" fill="hold" nodeType="afterEffect">
                                  <p:stCondLst>
                                    <p:cond delay="0"/>
                                  </p:stCondLst>
                                  <p:childTnLst>
                                    <p:set>
                                      <p:cBhvr>
                                        <p:cTn id="61" dur="1" fill="hold">
                                          <p:stCondLst>
                                            <p:cond delay="0"/>
                                          </p:stCondLst>
                                        </p:cTn>
                                        <p:tgtEl>
                                          <p:spTgt spid="64"/>
                                        </p:tgtEl>
                                        <p:attrNameLst>
                                          <p:attrName>style.visibility</p:attrName>
                                        </p:attrNameLst>
                                      </p:cBhvr>
                                      <p:to>
                                        <p:strVal val="visible"/>
                                      </p:to>
                                    </p:set>
                                    <p:animEffect transition="in" filter="wipe(right)">
                                      <p:cBhvr>
                                        <p:cTn id="62" dur="500"/>
                                        <p:tgtEl>
                                          <p:spTgt spid="64"/>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grpId="0" nodeType="clickEffect">
                                  <p:stCondLst>
                                    <p:cond delay="0"/>
                                  </p:stCondLst>
                                  <p:childTnLst>
                                    <p:set>
                                      <p:cBhvr>
                                        <p:cTn id="66" dur="1" fill="hold">
                                          <p:stCondLst>
                                            <p:cond delay="0"/>
                                          </p:stCondLst>
                                        </p:cTn>
                                        <p:tgtEl>
                                          <p:spTgt spid="71"/>
                                        </p:tgtEl>
                                        <p:attrNameLst>
                                          <p:attrName>style.visibility</p:attrName>
                                        </p:attrNameLst>
                                      </p:cBhvr>
                                      <p:to>
                                        <p:strVal val="visible"/>
                                      </p:to>
                                    </p:set>
                                    <p:anim calcmode="lin" valueType="num">
                                      <p:cBhvr additive="base">
                                        <p:cTn id="67" dur="500"/>
                                        <p:tgtEl>
                                          <p:spTgt spid="71"/>
                                        </p:tgtEl>
                                        <p:attrNameLst>
                                          <p:attrName>ppt_x</p:attrName>
                                        </p:attrNameLst>
                                      </p:cBhvr>
                                      <p:tavLst>
                                        <p:tav tm="0">
                                          <p:val>
                                            <p:strVal val="#ppt_x-#ppt_w*1.125000"/>
                                          </p:val>
                                        </p:tav>
                                        <p:tav tm="100000">
                                          <p:val>
                                            <p:strVal val="#ppt_x"/>
                                          </p:val>
                                        </p:tav>
                                      </p:tavLst>
                                    </p:anim>
                                    <p:animEffect transition="in" filter="wipe(right)">
                                      <p:cBhvr>
                                        <p:cTn id="68" dur="500"/>
                                        <p:tgtEl>
                                          <p:spTgt spid="71"/>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wipe(left)">
                                      <p:cBhvr>
                                        <p:cTn id="72" dur="500"/>
                                        <p:tgtEl>
                                          <p:spTgt spid="68"/>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wipe(left)">
                                      <p:cBhvr>
                                        <p:cTn id="76" dur="500"/>
                                        <p:tgtEl>
                                          <p:spTgt spid="72"/>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8" fill="hold" grpId="0" nodeType="clickEffect">
                                  <p:stCondLst>
                                    <p:cond delay="0"/>
                                  </p:stCondLst>
                                  <p:childTnLst>
                                    <p:set>
                                      <p:cBhvr>
                                        <p:cTn id="80" dur="1" fill="hold">
                                          <p:stCondLst>
                                            <p:cond delay="0"/>
                                          </p:stCondLst>
                                        </p:cTn>
                                        <p:tgtEl>
                                          <p:spTgt spid="76"/>
                                        </p:tgtEl>
                                        <p:attrNameLst>
                                          <p:attrName>style.visibility</p:attrName>
                                        </p:attrNameLst>
                                      </p:cBhvr>
                                      <p:to>
                                        <p:strVal val="visible"/>
                                      </p:to>
                                    </p:set>
                                    <p:anim calcmode="lin" valueType="num">
                                      <p:cBhvr additive="base">
                                        <p:cTn id="81" dur="500"/>
                                        <p:tgtEl>
                                          <p:spTgt spid="76"/>
                                        </p:tgtEl>
                                        <p:attrNameLst>
                                          <p:attrName>ppt_x</p:attrName>
                                        </p:attrNameLst>
                                      </p:cBhvr>
                                      <p:tavLst>
                                        <p:tav tm="0">
                                          <p:val>
                                            <p:strVal val="#ppt_x-#ppt_w*1.125000"/>
                                          </p:val>
                                        </p:tav>
                                        <p:tav tm="100000">
                                          <p:val>
                                            <p:strVal val="#ppt_x"/>
                                          </p:val>
                                        </p:tav>
                                      </p:tavLst>
                                    </p:anim>
                                    <p:animEffect transition="in" filter="wipe(right)">
                                      <p:cBhvr>
                                        <p:cTn id="82" dur="500"/>
                                        <p:tgtEl>
                                          <p:spTgt spid="76"/>
                                        </p:tgtEl>
                                      </p:cBhvr>
                                    </p:animEffect>
                                  </p:childTnLst>
                                </p:cTn>
                              </p:par>
                            </p:childTnLst>
                          </p:cTn>
                        </p:par>
                        <p:par>
                          <p:cTn id="83" fill="hold">
                            <p:stCondLst>
                              <p:cond delay="500"/>
                            </p:stCondLst>
                            <p:childTnLst>
                              <p:par>
                                <p:cTn id="84" presetID="22" presetClass="entr" presetSubtype="8" fill="hold" nodeType="afterEffect">
                                  <p:stCondLst>
                                    <p:cond delay="0"/>
                                  </p:stCondLst>
                                  <p:childTnLst>
                                    <p:set>
                                      <p:cBhvr>
                                        <p:cTn id="85" dur="1" fill="hold">
                                          <p:stCondLst>
                                            <p:cond delay="0"/>
                                          </p:stCondLst>
                                        </p:cTn>
                                        <p:tgtEl>
                                          <p:spTgt spid="73"/>
                                        </p:tgtEl>
                                        <p:attrNameLst>
                                          <p:attrName>style.visibility</p:attrName>
                                        </p:attrNameLst>
                                      </p:cBhvr>
                                      <p:to>
                                        <p:strVal val="visible"/>
                                      </p:to>
                                    </p:set>
                                    <p:animEffect transition="in" filter="wipe(left)">
                                      <p:cBhvr>
                                        <p:cTn id="86" dur="500"/>
                                        <p:tgtEl>
                                          <p:spTgt spid="73"/>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2" fill="hold" grpId="0" nodeType="clickEffect">
                                  <p:stCondLst>
                                    <p:cond delay="0"/>
                                  </p:stCondLst>
                                  <p:childTnLst>
                                    <p:set>
                                      <p:cBhvr>
                                        <p:cTn id="90" dur="1" fill="hold">
                                          <p:stCondLst>
                                            <p:cond delay="0"/>
                                          </p:stCondLst>
                                        </p:cTn>
                                        <p:tgtEl>
                                          <p:spTgt spid="80"/>
                                        </p:tgtEl>
                                        <p:attrNameLst>
                                          <p:attrName>style.visibility</p:attrName>
                                        </p:attrNameLst>
                                      </p:cBhvr>
                                      <p:to>
                                        <p:strVal val="visible"/>
                                      </p:to>
                                    </p:set>
                                    <p:anim calcmode="lin" valueType="num">
                                      <p:cBhvr additive="base">
                                        <p:cTn id="91" dur="500"/>
                                        <p:tgtEl>
                                          <p:spTgt spid="80"/>
                                        </p:tgtEl>
                                        <p:attrNameLst>
                                          <p:attrName>ppt_x</p:attrName>
                                        </p:attrNameLst>
                                      </p:cBhvr>
                                      <p:tavLst>
                                        <p:tav tm="0">
                                          <p:val>
                                            <p:strVal val="#ppt_x+#ppt_w*1.125000"/>
                                          </p:val>
                                        </p:tav>
                                        <p:tav tm="100000">
                                          <p:val>
                                            <p:strVal val="#ppt_x"/>
                                          </p:val>
                                        </p:tav>
                                      </p:tavLst>
                                    </p:anim>
                                    <p:animEffect transition="in" filter="wipe(left)">
                                      <p:cBhvr>
                                        <p:cTn id="92" dur="500"/>
                                        <p:tgtEl>
                                          <p:spTgt spid="80"/>
                                        </p:tgtEl>
                                      </p:cBhvr>
                                    </p:animEffect>
                                  </p:childTnLst>
                                </p:cTn>
                              </p:par>
                            </p:childTnLst>
                          </p:cTn>
                        </p:par>
                        <p:par>
                          <p:cTn id="93" fill="hold">
                            <p:stCondLst>
                              <p:cond delay="500"/>
                            </p:stCondLst>
                            <p:childTnLst>
                              <p:par>
                                <p:cTn id="94" presetID="22" presetClass="entr" presetSubtype="2" fill="hold" nodeType="afterEffect">
                                  <p:stCondLst>
                                    <p:cond delay="0"/>
                                  </p:stCondLst>
                                  <p:childTnLst>
                                    <p:set>
                                      <p:cBhvr>
                                        <p:cTn id="95" dur="1" fill="hold">
                                          <p:stCondLst>
                                            <p:cond delay="0"/>
                                          </p:stCondLst>
                                        </p:cTn>
                                        <p:tgtEl>
                                          <p:spTgt spid="77"/>
                                        </p:tgtEl>
                                        <p:attrNameLst>
                                          <p:attrName>style.visibility</p:attrName>
                                        </p:attrNameLst>
                                      </p:cBhvr>
                                      <p:to>
                                        <p:strVal val="visible"/>
                                      </p:to>
                                    </p:set>
                                    <p:animEffect transition="in" filter="wipe(right)">
                                      <p:cBhvr>
                                        <p:cTn id="96" dur="500"/>
                                        <p:tgtEl>
                                          <p:spTgt spid="77"/>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8" fill="hold" grpId="0" nodeType="clickEffect">
                                  <p:stCondLst>
                                    <p:cond delay="0"/>
                                  </p:stCondLst>
                                  <p:childTnLst>
                                    <p:set>
                                      <p:cBhvr>
                                        <p:cTn id="100" dur="1" fill="hold">
                                          <p:stCondLst>
                                            <p:cond delay="0"/>
                                          </p:stCondLst>
                                        </p:cTn>
                                        <p:tgtEl>
                                          <p:spTgt spid="84"/>
                                        </p:tgtEl>
                                        <p:attrNameLst>
                                          <p:attrName>style.visibility</p:attrName>
                                        </p:attrNameLst>
                                      </p:cBhvr>
                                      <p:to>
                                        <p:strVal val="visible"/>
                                      </p:to>
                                    </p:set>
                                    <p:anim calcmode="lin" valueType="num">
                                      <p:cBhvr additive="base">
                                        <p:cTn id="101" dur="500"/>
                                        <p:tgtEl>
                                          <p:spTgt spid="84"/>
                                        </p:tgtEl>
                                        <p:attrNameLst>
                                          <p:attrName>ppt_x</p:attrName>
                                        </p:attrNameLst>
                                      </p:cBhvr>
                                      <p:tavLst>
                                        <p:tav tm="0">
                                          <p:val>
                                            <p:strVal val="#ppt_x-#ppt_w*1.125000"/>
                                          </p:val>
                                        </p:tav>
                                        <p:tav tm="100000">
                                          <p:val>
                                            <p:strVal val="#ppt_x"/>
                                          </p:val>
                                        </p:tav>
                                      </p:tavLst>
                                    </p:anim>
                                    <p:animEffect transition="in" filter="wipe(right)">
                                      <p:cBhvr>
                                        <p:cTn id="102" dur="500"/>
                                        <p:tgtEl>
                                          <p:spTgt spid="84"/>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81"/>
                                        </p:tgtEl>
                                        <p:attrNameLst>
                                          <p:attrName>style.visibility</p:attrName>
                                        </p:attrNameLst>
                                      </p:cBhvr>
                                      <p:to>
                                        <p:strVal val="visible"/>
                                      </p:to>
                                    </p:set>
                                    <p:animEffect transition="in" filter="wipe(left)">
                                      <p:cBhvr>
                                        <p:cTn id="106" dur="500"/>
                                        <p:tgtEl>
                                          <p:spTgt spid="81"/>
                                        </p:tgtEl>
                                      </p:cBhvr>
                                    </p:animEffect>
                                  </p:childTnLst>
                                </p:cTn>
                              </p:par>
                            </p:childTnLst>
                          </p:cTn>
                        </p:par>
                      </p:childTnLst>
                    </p:cTn>
                  </p:par>
                  <p:par>
                    <p:cTn id="107" fill="hold">
                      <p:stCondLst>
                        <p:cond delay="indefinite"/>
                      </p:stCondLst>
                      <p:childTnLst>
                        <p:par>
                          <p:cTn id="108" fill="hold">
                            <p:stCondLst>
                              <p:cond delay="0"/>
                            </p:stCondLst>
                            <p:childTnLst>
                              <p:par>
                                <p:cTn id="109" presetID="12" presetClass="entr" presetSubtype="2" fill="hold" grpId="0" nodeType="clickEffect">
                                  <p:stCondLst>
                                    <p:cond delay="0"/>
                                  </p:stCondLst>
                                  <p:childTnLst>
                                    <p:set>
                                      <p:cBhvr>
                                        <p:cTn id="110" dur="1" fill="hold">
                                          <p:stCondLst>
                                            <p:cond delay="0"/>
                                          </p:stCondLst>
                                        </p:cTn>
                                        <p:tgtEl>
                                          <p:spTgt spid="88"/>
                                        </p:tgtEl>
                                        <p:attrNameLst>
                                          <p:attrName>style.visibility</p:attrName>
                                        </p:attrNameLst>
                                      </p:cBhvr>
                                      <p:to>
                                        <p:strVal val="visible"/>
                                      </p:to>
                                    </p:set>
                                    <p:anim calcmode="lin" valueType="num">
                                      <p:cBhvr additive="base">
                                        <p:cTn id="111" dur="500"/>
                                        <p:tgtEl>
                                          <p:spTgt spid="88"/>
                                        </p:tgtEl>
                                        <p:attrNameLst>
                                          <p:attrName>ppt_x</p:attrName>
                                        </p:attrNameLst>
                                      </p:cBhvr>
                                      <p:tavLst>
                                        <p:tav tm="0">
                                          <p:val>
                                            <p:strVal val="#ppt_x+#ppt_w*1.125000"/>
                                          </p:val>
                                        </p:tav>
                                        <p:tav tm="100000">
                                          <p:val>
                                            <p:strVal val="#ppt_x"/>
                                          </p:val>
                                        </p:tav>
                                      </p:tavLst>
                                    </p:anim>
                                    <p:animEffect transition="in" filter="wipe(left)">
                                      <p:cBhvr>
                                        <p:cTn id="112" dur="500"/>
                                        <p:tgtEl>
                                          <p:spTgt spid="88"/>
                                        </p:tgtEl>
                                      </p:cBhvr>
                                    </p:animEffect>
                                  </p:childTnLst>
                                </p:cTn>
                              </p:par>
                            </p:childTnLst>
                          </p:cTn>
                        </p:par>
                        <p:par>
                          <p:cTn id="113" fill="hold">
                            <p:stCondLst>
                              <p:cond delay="500"/>
                            </p:stCondLst>
                            <p:childTnLst>
                              <p:par>
                                <p:cTn id="114" presetID="22" presetClass="entr" presetSubtype="2" fill="hold" nodeType="afterEffect">
                                  <p:stCondLst>
                                    <p:cond delay="0"/>
                                  </p:stCondLst>
                                  <p:childTnLst>
                                    <p:set>
                                      <p:cBhvr>
                                        <p:cTn id="115" dur="1" fill="hold">
                                          <p:stCondLst>
                                            <p:cond delay="0"/>
                                          </p:stCondLst>
                                        </p:cTn>
                                        <p:tgtEl>
                                          <p:spTgt spid="85"/>
                                        </p:tgtEl>
                                        <p:attrNameLst>
                                          <p:attrName>style.visibility</p:attrName>
                                        </p:attrNameLst>
                                      </p:cBhvr>
                                      <p:to>
                                        <p:strVal val="visible"/>
                                      </p:to>
                                    </p:set>
                                    <p:animEffect transition="in" filter="wipe(right)">
                                      <p:cBhvr>
                                        <p:cTn id="116" dur="500"/>
                                        <p:tgtEl>
                                          <p:spTgt spid="85"/>
                                        </p:tgtEl>
                                      </p:cBhvr>
                                    </p:animEffect>
                                  </p:childTnLst>
                                </p:cTn>
                              </p:par>
                            </p:childTnLst>
                          </p:cTn>
                        </p:par>
                      </p:childTnLst>
                    </p:cTn>
                  </p:par>
                  <p:par>
                    <p:cTn id="117" fill="hold">
                      <p:stCondLst>
                        <p:cond delay="indefinite"/>
                      </p:stCondLst>
                      <p:childTnLst>
                        <p:par>
                          <p:cTn id="118" fill="hold">
                            <p:stCondLst>
                              <p:cond delay="0"/>
                            </p:stCondLst>
                            <p:childTnLst>
                              <p:par>
                                <p:cTn id="119" presetID="2" presetClass="entr" presetSubtype="2" fill="hold" grpId="0" nodeType="clickEffect">
                                  <p:stCondLst>
                                    <p:cond delay="0"/>
                                  </p:stCondLst>
                                  <p:childTnLst>
                                    <p:set>
                                      <p:cBhvr>
                                        <p:cTn id="120" dur="1" fill="hold">
                                          <p:stCondLst>
                                            <p:cond delay="0"/>
                                          </p:stCondLst>
                                        </p:cTn>
                                        <p:tgtEl>
                                          <p:spTgt spid="89"/>
                                        </p:tgtEl>
                                        <p:attrNameLst>
                                          <p:attrName>style.visibility</p:attrName>
                                        </p:attrNameLst>
                                      </p:cBhvr>
                                      <p:to>
                                        <p:strVal val="visible"/>
                                      </p:to>
                                    </p:set>
                                    <p:anim calcmode="lin" valueType="num">
                                      <p:cBhvr additive="base">
                                        <p:cTn id="121" dur="500" fill="hold"/>
                                        <p:tgtEl>
                                          <p:spTgt spid="89"/>
                                        </p:tgtEl>
                                        <p:attrNameLst>
                                          <p:attrName>ppt_x</p:attrName>
                                        </p:attrNameLst>
                                      </p:cBhvr>
                                      <p:tavLst>
                                        <p:tav tm="0">
                                          <p:val>
                                            <p:strVal val="1+#ppt_w/2"/>
                                          </p:val>
                                        </p:tav>
                                        <p:tav tm="100000">
                                          <p:val>
                                            <p:strVal val="#ppt_x"/>
                                          </p:val>
                                        </p:tav>
                                      </p:tavLst>
                                    </p:anim>
                                    <p:anim calcmode="lin" valueType="num">
                                      <p:cBhvr additive="base">
                                        <p:cTn id="122" dur="500" fill="hold"/>
                                        <p:tgtEl>
                                          <p:spTgt spid="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9" grpId="0"/>
      <p:bldP spid="49" grpId="0"/>
      <p:bldP spid="53" grpId="0"/>
      <p:bldP spid="63" grpId="0"/>
      <p:bldP spid="67" grpId="0"/>
      <p:bldP spid="71" grpId="0"/>
      <p:bldP spid="72" grpId="0"/>
      <p:bldP spid="76" grpId="0"/>
      <p:bldP spid="80" grpId="0"/>
      <p:bldP spid="84" grpId="0"/>
      <p:bldP spid="88" grpId="0"/>
      <p:bldP spid="8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电子邮件的信息格式</a:t>
              </a:r>
            </a:p>
          </p:txBody>
        </p:sp>
      </p:grpSp>
      <p:sp>
        <p:nvSpPr>
          <p:cNvPr id="22" name="矩形 21">
            <a:extLst>
              <a:ext uri="{FF2B5EF4-FFF2-40B4-BE49-F238E27FC236}">
                <a16:creationId xmlns:a16="http://schemas.microsoft.com/office/drawing/2014/main" id="{C98D195D-B59D-A308-16C4-41BCCC2C0B4B}"/>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36CA0B01-BD05-BC1E-C74D-F713CA9B17A6}"/>
              </a:ext>
            </a:extLst>
          </p:cNvPr>
          <p:cNvSpPr txBox="1"/>
          <p:nvPr/>
        </p:nvSpPr>
        <p:spPr>
          <a:xfrm>
            <a:off x="1293757" y="1192132"/>
            <a:ext cx="10593443" cy="714640"/>
          </a:xfrm>
          <a:prstGeom prst="rect">
            <a:avLst/>
          </a:prstGeom>
          <a:noFill/>
        </p:spPr>
        <p:txBody>
          <a:bodyPr wrap="square" lIns="91440" tIns="45720" rIns="91440" bIns="45720" anchor="ctr">
            <a:noAutofit/>
          </a:bodyPr>
          <a:lstStyle/>
          <a:p>
            <a:r>
              <a:rPr lang="zh-CN" altLang="en-US" b="1" dirty="0"/>
              <a:t>电子邮件的信息格式并不是由</a:t>
            </a:r>
            <a:r>
              <a:rPr lang="en-US" altLang="zh-CN" b="1" dirty="0"/>
              <a:t>SMTP</a:t>
            </a:r>
            <a:r>
              <a:rPr lang="zh-CN" altLang="en-US" b="1" dirty="0"/>
              <a:t>定义的，而是在</a:t>
            </a:r>
            <a:r>
              <a:rPr lang="en-US" altLang="zh-CN" b="1" dirty="0"/>
              <a:t>[RFC 822]</a:t>
            </a:r>
            <a:r>
              <a:rPr lang="zh-CN" altLang="en-US" b="1" dirty="0"/>
              <a:t>中单独定义的。这个</a:t>
            </a:r>
            <a:r>
              <a:rPr lang="en-US" altLang="zh-CN" b="1" dirty="0"/>
              <a:t>RFC</a:t>
            </a:r>
            <a:r>
              <a:rPr lang="zh-CN" altLang="en-US" b="1" dirty="0"/>
              <a:t>文档已在</a:t>
            </a:r>
            <a:r>
              <a:rPr lang="en-US" altLang="zh-CN" b="1" dirty="0"/>
              <a:t>2008</a:t>
            </a:r>
            <a:r>
              <a:rPr lang="zh-CN" altLang="en-US" b="1" dirty="0"/>
              <a:t>年更新为</a:t>
            </a:r>
            <a:r>
              <a:rPr lang="en-US" altLang="zh-CN" b="1" dirty="0"/>
              <a:t>[RFC 5322]</a:t>
            </a:r>
            <a:r>
              <a:rPr lang="zh-CN" altLang="en-US" b="1" dirty="0"/>
              <a:t>。一个电子邮件有</a:t>
            </a:r>
            <a:r>
              <a:rPr lang="zh-CN" altLang="en-US" b="1" dirty="0">
                <a:solidFill>
                  <a:schemeClr val="accent1">
                    <a:lumMod val="75000"/>
                  </a:schemeClr>
                </a:solidFill>
              </a:rPr>
              <a:t>信封</a:t>
            </a:r>
            <a:r>
              <a:rPr lang="zh-CN" altLang="en-US" b="1" dirty="0"/>
              <a:t>和</a:t>
            </a:r>
            <a:r>
              <a:rPr lang="zh-CN" altLang="en-US" b="1" dirty="0">
                <a:solidFill>
                  <a:schemeClr val="accent1">
                    <a:lumMod val="75000"/>
                  </a:schemeClr>
                </a:solidFill>
              </a:rPr>
              <a:t>内容</a:t>
            </a:r>
            <a:r>
              <a:rPr lang="zh-CN" altLang="en-US" b="1" dirty="0"/>
              <a:t>两部分。而内容又由</a:t>
            </a:r>
            <a:r>
              <a:rPr lang="zh-CN" altLang="en-US" b="1" dirty="0">
                <a:solidFill>
                  <a:schemeClr val="accent1">
                    <a:lumMod val="75000"/>
                  </a:schemeClr>
                </a:solidFill>
              </a:rPr>
              <a:t>首部</a:t>
            </a:r>
            <a:r>
              <a:rPr lang="zh-CN" altLang="en-US" b="1" dirty="0"/>
              <a:t>和</a:t>
            </a:r>
            <a:r>
              <a:rPr lang="zh-CN" altLang="en-US" b="1" dirty="0">
                <a:solidFill>
                  <a:schemeClr val="accent1">
                    <a:lumMod val="75000"/>
                  </a:schemeClr>
                </a:solidFill>
              </a:rPr>
              <a:t>主体</a:t>
            </a:r>
            <a:r>
              <a:rPr lang="zh-CN" altLang="en-US" b="1" dirty="0"/>
              <a:t>两部分构成。</a:t>
            </a:r>
            <a:endParaRPr lang="en-US" altLang="zh-CN" b="1" dirty="0">
              <a:solidFill>
                <a:srgbClr val="C00000"/>
              </a:solidFill>
            </a:endParaRPr>
          </a:p>
        </p:txBody>
      </p:sp>
      <p:grpSp>
        <p:nvGrpSpPr>
          <p:cNvPr id="24" name="组合 23">
            <a:extLst>
              <a:ext uri="{FF2B5EF4-FFF2-40B4-BE49-F238E27FC236}">
                <a16:creationId xmlns:a16="http://schemas.microsoft.com/office/drawing/2014/main" id="{E11879DC-9DCB-2045-B3A5-9878706305F8}"/>
              </a:ext>
            </a:extLst>
          </p:cNvPr>
          <p:cNvGrpSpPr/>
          <p:nvPr/>
        </p:nvGrpSpPr>
        <p:grpSpPr>
          <a:xfrm>
            <a:off x="4734670" y="1921519"/>
            <a:ext cx="6960429" cy="4465828"/>
            <a:chOff x="4734670" y="1921519"/>
            <a:chExt cx="6960429" cy="4465828"/>
          </a:xfrm>
        </p:grpSpPr>
        <p:sp>
          <p:nvSpPr>
            <p:cNvPr id="25" name="矩形: 圆角 24">
              <a:extLst>
                <a:ext uri="{FF2B5EF4-FFF2-40B4-BE49-F238E27FC236}">
                  <a16:creationId xmlns:a16="http://schemas.microsoft.com/office/drawing/2014/main" id="{F962E36B-0D66-8C01-48DB-569AF15A2B58}"/>
                </a:ext>
              </a:extLst>
            </p:cNvPr>
            <p:cNvSpPr/>
            <p:nvPr/>
          </p:nvSpPr>
          <p:spPr>
            <a:xfrm>
              <a:off x="4734670" y="1921519"/>
              <a:ext cx="6960429" cy="4085720"/>
            </a:xfrm>
            <a:prstGeom prst="roundRect">
              <a:avLst>
                <a:gd name="adj" fmla="val 7806"/>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26" name="文本框 25">
              <a:extLst>
                <a:ext uri="{FF2B5EF4-FFF2-40B4-BE49-F238E27FC236}">
                  <a16:creationId xmlns:a16="http://schemas.microsoft.com/office/drawing/2014/main" id="{C049C541-7A63-EB71-C500-4F53453E0336}"/>
                </a:ext>
              </a:extLst>
            </p:cNvPr>
            <p:cNvSpPr txBox="1"/>
            <p:nvPr/>
          </p:nvSpPr>
          <p:spPr>
            <a:xfrm>
              <a:off x="7976434" y="6018015"/>
              <a:ext cx="926918" cy="369332"/>
            </a:xfrm>
            <a:prstGeom prst="rect">
              <a:avLst/>
            </a:prstGeom>
            <a:noFill/>
          </p:spPr>
          <p:txBody>
            <a:bodyPr wrap="square">
              <a:spAutoFit/>
            </a:bodyPr>
            <a:lstStyle/>
            <a:p>
              <a:pPr algn="ctr"/>
              <a:r>
                <a:rPr lang="zh-CN" altLang="en-US" b="1" dirty="0">
                  <a:latin typeface="+mn-ea"/>
                </a:rPr>
                <a:t>内容</a:t>
              </a:r>
            </a:p>
          </p:txBody>
        </p:sp>
      </p:grpSp>
      <p:grpSp>
        <p:nvGrpSpPr>
          <p:cNvPr id="27" name="组合 26">
            <a:extLst>
              <a:ext uri="{FF2B5EF4-FFF2-40B4-BE49-F238E27FC236}">
                <a16:creationId xmlns:a16="http://schemas.microsoft.com/office/drawing/2014/main" id="{E7359291-5575-D438-701A-A44316EBDF60}"/>
              </a:ext>
            </a:extLst>
          </p:cNvPr>
          <p:cNvGrpSpPr/>
          <p:nvPr/>
        </p:nvGrpSpPr>
        <p:grpSpPr>
          <a:xfrm>
            <a:off x="933106" y="3391347"/>
            <a:ext cx="2843349" cy="2954001"/>
            <a:chOff x="933106" y="3391347"/>
            <a:chExt cx="2843349" cy="2954001"/>
          </a:xfrm>
        </p:grpSpPr>
        <p:pic>
          <p:nvPicPr>
            <p:cNvPr id="28" name="图形 27" descr="信封 轮廓">
              <a:extLst>
                <a:ext uri="{FF2B5EF4-FFF2-40B4-BE49-F238E27FC236}">
                  <a16:creationId xmlns:a16="http://schemas.microsoft.com/office/drawing/2014/main" id="{0733B395-891F-D514-FB68-26BAD34728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3106" y="3391347"/>
              <a:ext cx="2843349" cy="2843349"/>
            </a:xfrm>
            <a:prstGeom prst="rect">
              <a:avLst/>
            </a:prstGeom>
          </p:spPr>
        </p:pic>
        <p:sp>
          <p:nvSpPr>
            <p:cNvPr id="29" name="文本框 28">
              <a:extLst>
                <a:ext uri="{FF2B5EF4-FFF2-40B4-BE49-F238E27FC236}">
                  <a16:creationId xmlns:a16="http://schemas.microsoft.com/office/drawing/2014/main" id="{5BDA53F5-634E-44E0-2FF2-5B83075049E2}"/>
                </a:ext>
              </a:extLst>
            </p:cNvPr>
            <p:cNvSpPr txBox="1"/>
            <p:nvPr/>
          </p:nvSpPr>
          <p:spPr>
            <a:xfrm>
              <a:off x="1891321" y="5976016"/>
              <a:ext cx="926918" cy="369332"/>
            </a:xfrm>
            <a:prstGeom prst="rect">
              <a:avLst/>
            </a:prstGeom>
            <a:noFill/>
          </p:spPr>
          <p:txBody>
            <a:bodyPr wrap="square">
              <a:spAutoFit/>
            </a:bodyPr>
            <a:lstStyle/>
            <a:p>
              <a:pPr algn="ctr"/>
              <a:r>
                <a:rPr lang="zh-CN" altLang="en-US" b="1" dirty="0">
                  <a:latin typeface="+mn-ea"/>
                </a:rPr>
                <a:t>信封</a:t>
              </a:r>
            </a:p>
          </p:txBody>
        </p:sp>
      </p:grpSp>
      <p:grpSp>
        <p:nvGrpSpPr>
          <p:cNvPr id="30" name="组合 29">
            <a:extLst>
              <a:ext uri="{FF2B5EF4-FFF2-40B4-BE49-F238E27FC236}">
                <a16:creationId xmlns:a16="http://schemas.microsoft.com/office/drawing/2014/main" id="{DD333FB3-4CA3-12B9-2277-AD95DE27F6D2}"/>
              </a:ext>
            </a:extLst>
          </p:cNvPr>
          <p:cNvGrpSpPr/>
          <p:nvPr/>
        </p:nvGrpSpPr>
        <p:grpSpPr>
          <a:xfrm>
            <a:off x="5107235" y="1936635"/>
            <a:ext cx="6334291" cy="1699959"/>
            <a:chOff x="5107235" y="1936635"/>
            <a:chExt cx="6334291" cy="1699959"/>
          </a:xfrm>
        </p:grpSpPr>
        <p:sp>
          <p:nvSpPr>
            <p:cNvPr id="31" name="矩形 30">
              <a:extLst>
                <a:ext uri="{FF2B5EF4-FFF2-40B4-BE49-F238E27FC236}">
                  <a16:creationId xmlns:a16="http://schemas.microsoft.com/office/drawing/2014/main" id="{038B485E-C8F8-D569-A0A6-7EF8A72E2866}"/>
                </a:ext>
              </a:extLst>
            </p:cNvPr>
            <p:cNvSpPr/>
            <p:nvPr/>
          </p:nvSpPr>
          <p:spPr>
            <a:xfrm>
              <a:off x="5107235" y="2121302"/>
              <a:ext cx="6334291" cy="1515292"/>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n-ea"/>
              </a:endParaRPr>
            </a:p>
          </p:txBody>
        </p:sp>
        <p:sp>
          <p:nvSpPr>
            <p:cNvPr id="33" name="文本框 32">
              <a:extLst>
                <a:ext uri="{FF2B5EF4-FFF2-40B4-BE49-F238E27FC236}">
                  <a16:creationId xmlns:a16="http://schemas.microsoft.com/office/drawing/2014/main" id="{2FD266F8-BCFB-CAB0-EB5C-E83D1365CF1B}"/>
                </a:ext>
              </a:extLst>
            </p:cNvPr>
            <p:cNvSpPr txBox="1"/>
            <p:nvPr/>
          </p:nvSpPr>
          <p:spPr>
            <a:xfrm>
              <a:off x="5223169" y="1936635"/>
              <a:ext cx="659130" cy="276999"/>
            </a:xfrm>
            <a:prstGeom prst="rect">
              <a:avLst/>
            </a:prstGeom>
            <a:solidFill>
              <a:schemeClr val="bg1">
                <a:lumMod val="95000"/>
              </a:schemeClr>
            </a:solidFill>
          </p:spPr>
          <p:txBody>
            <a:bodyPr wrap="square" lIns="91440" tIns="0" rIns="91440" bIns="0">
              <a:spAutoFit/>
            </a:bodyPr>
            <a:lstStyle/>
            <a:p>
              <a:pPr algn="ctr"/>
              <a:r>
                <a:rPr lang="zh-CN" altLang="en-US" b="1" dirty="0">
                  <a:latin typeface="+mn-ea"/>
                </a:rPr>
                <a:t>首部</a:t>
              </a:r>
            </a:p>
          </p:txBody>
        </p:sp>
      </p:grpSp>
      <p:grpSp>
        <p:nvGrpSpPr>
          <p:cNvPr id="34" name="组合 33">
            <a:extLst>
              <a:ext uri="{FF2B5EF4-FFF2-40B4-BE49-F238E27FC236}">
                <a16:creationId xmlns:a16="http://schemas.microsoft.com/office/drawing/2014/main" id="{6FDB1B87-2AA0-447E-D32A-3CC91FA62F2F}"/>
              </a:ext>
            </a:extLst>
          </p:cNvPr>
          <p:cNvGrpSpPr/>
          <p:nvPr/>
        </p:nvGrpSpPr>
        <p:grpSpPr>
          <a:xfrm>
            <a:off x="5107235" y="3672882"/>
            <a:ext cx="6334291" cy="2192483"/>
            <a:chOff x="5107235" y="3672882"/>
            <a:chExt cx="6334291" cy="2192483"/>
          </a:xfrm>
        </p:grpSpPr>
        <p:sp>
          <p:nvSpPr>
            <p:cNvPr id="35" name="矩形 34">
              <a:extLst>
                <a:ext uri="{FF2B5EF4-FFF2-40B4-BE49-F238E27FC236}">
                  <a16:creationId xmlns:a16="http://schemas.microsoft.com/office/drawing/2014/main" id="{1AAAA328-2BE8-BF35-A0AE-BC4D70C0A6E8}"/>
                </a:ext>
              </a:extLst>
            </p:cNvPr>
            <p:cNvSpPr/>
            <p:nvPr/>
          </p:nvSpPr>
          <p:spPr>
            <a:xfrm>
              <a:off x="5107235" y="3857548"/>
              <a:ext cx="6334291" cy="200781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6" name="文本框 35">
              <a:extLst>
                <a:ext uri="{FF2B5EF4-FFF2-40B4-BE49-F238E27FC236}">
                  <a16:creationId xmlns:a16="http://schemas.microsoft.com/office/drawing/2014/main" id="{5AC3BD0E-8441-11C6-09DD-F5875BDE805B}"/>
                </a:ext>
              </a:extLst>
            </p:cNvPr>
            <p:cNvSpPr txBox="1"/>
            <p:nvPr/>
          </p:nvSpPr>
          <p:spPr>
            <a:xfrm>
              <a:off x="5223169" y="3672882"/>
              <a:ext cx="659130" cy="369332"/>
            </a:xfrm>
            <a:prstGeom prst="rect">
              <a:avLst/>
            </a:prstGeom>
            <a:solidFill>
              <a:schemeClr val="bg1">
                <a:lumMod val="95000"/>
              </a:schemeClr>
            </a:solidFill>
          </p:spPr>
          <p:txBody>
            <a:bodyPr wrap="square">
              <a:spAutoFit/>
            </a:bodyPr>
            <a:lstStyle/>
            <a:p>
              <a:pPr algn="ctr"/>
              <a:r>
                <a:rPr lang="zh-CN" altLang="en-US" b="1" dirty="0">
                  <a:latin typeface="+mn-ea"/>
                </a:rPr>
                <a:t>主体</a:t>
              </a:r>
            </a:p>
          </p:txBody>
        </p:sp>
      </p:grpSp>
      <p:sp>
        <p:nvSpPr>
          <p:cNvPr id="38" name="文本框 37">
            <a:extLst>
              <a:ext uri="{FF2B5EF4-FFF2-40B4-BE49-F238E27FC236}">
                <a16:creationId xmlns:a16="http://schemas.microsoft.com/office/drawing/2014/main" id="{47A4B8D9-B9A6-7023-3E9D-6ACA21391AF3}"/>
              </a:ext>
            </a:extLst>
          </p:cNvPr>
          <p:cNvSpPr txBox="1"/>
          <p:nvPr/>
        </p:nvSpPr>
        <p:spPr>
          <a:xfrm>
            <a:off x="5118665" y="2305967"/>
            <a:ext cx="1258663" cy="1200329"/>
          </a:xfrm>
          <a:prstGeom prst="rect">
            <a:avLst/>
          </a:prstGeom>
          <a:noFill/>
        </p:spPr>
        <p:txBody>
          <a:bodyPr wrap="square">
            <a:spAutoFit/>
          </a:bodyPr>
          <a:lstStyle/>
          <a:p>
            <a:r>
              <a:rPr lang="en-US" altLang="zh-CN" b="1" dirty="0">
                <a:latin typeface="+mn-ea"/>
              </a:rPr>
              <a:t>From</a:t>
            </a:r>
            <a:r>
              <a:rPr lang="zh-CN" altLang="en-US" b="1" dirty="0">
                <a:latin typeface="+mn-ea"/>
              </a:rPr>
              <a:t>：</a:t>
            </a:r>
            <a:endParaRPr lang="en-US" altLang="zh-CN" b="1" dirty="0">
              <a:latin typeface="+mn-ea"/>
            </a:endParaRPr>
          </a:p>
          <a:p>
            <a:r>
              <a:rPr lang="en-US" altLang="zh-CN" b="1" dirty="0">
                <a:latin typeface="+mn-ea"/>
              </a:rPr>
              <a:t>To</a:t>
            </a:r>
            <a:r>
              <a:rPr lang="zh-CN" altLang="en-US" b="1" dirty="0">
                <a:latin typeface="+mn-ea"/>
              </a:rPr>
              <a:t>：</a:t>
            </a:r>
            <a:endParaRPr lang="en-US" altLang="zh-CN" b="1" dirty="0">
              <a:latin typeface="+mn-ea"/>
            </a:endParaRPr>
          </a:p>
          <a:p>
            <a:r>
              <a:rPr lang="en-US" altLang="zh-CN" b="1" dirty="0">
                <a:latin typeface="+mn-ea"/>
              </a:rPr>
              <a:t>Cc</a:t>
            </a:r>
            <a:r>
              <a:rPr lang="zh-CN" altLang="en-US" b="1" dirty="0">
                <a:latin typeface="+mn-ea"/>
              </a:rPr>
              <a:t>：</a:t>
            </a:r>
            <a:endParaRPr lang="en-US" altLang="zh-CN" b="1" dirty="0">
              <a:latin typeface="+mn-ea"/>
            </a:endParaRPr>
          </a:p>
          <a:p>
            <a:r>
              <a:rPr lang="en-US" altLang="zh-CN" b="1" dirty="0">
                <a:latin typeface="+mn-ea"/>
              </a:rPr>
              <a:t>Subject</a:t>
            </a:r>
            <a:r>
              <a:rPr lang="zh-CN" altLang="en-US" b="1" dirty="0">
                <a:latin typeface="+mn-ea"/>
              </a:rPr>
              <a:t>：</a:t>
            </a:r>
          </a:p>
        </p:txBody>
      </p:sp>
      <p:sp>
        <p:nvSpPr>
          <p:cNvPr id="39" name="文本框 38">
            <a:extLst>
              <a:ext uri="{FF2B5EF4-FFF2-40B4-BE49-F238E27FC236}">
                <a16:creationId xmlns:a16="http://schemas.microsoft.com/office/drawing/2014/main" id="{5099A0D5-FCF6-3330-1220-CC307F819D5C}"/>
              </a:ext>
            </a:extLst>
          </p:cNvPr>
          <p:cNvSpPr txBox="1"/>
          <p:nvPr/>
        </p:nvSpPr>
        <p:spPr>
          <a:xfrm>
            <a:off x="6191720" y="2278783"/>
            <a:ext cx="4496346" cy="1200329"/>
          </a:xfrm>
          <a:prstGeom prst="rect">
            <a:avLst/>
          </a:prstGeom>
          <a:noFill/>
        </p:spPr>
        <p:txBody>
          <a:bodyPr wrap="square">
            <a:spAutoFit/>
          </a:bodyPr>
          <a:lstStyle/>
          <a:p>
            <a:r>
              <a:rPr lang="en-US" altLang="zh-CN" b="1" dirty="0">
                <a:latin typeface="+mn-ea"/>
              </a:rPr>
              <a:t>jgao1@hnust.edu.cn</a:t>
            </a:r>
          </a:p>
          <a:p>
            <a:r>
              <a:rPr lang="zh-CN" altLang="en-US" b="1" dirty="0">
                <a:latin typeface="+mn-ea"/>
              </a:rPr>
              <a:t>计算机网络课程教学团队所有教师的邮箱</a:t>
            </a:r>
            <a:endParaRPr lang="en-US" altLang="zh-CN" b="1" dirty="0">
              <a:latin typeface="+mn-ea"/>
            </a:endParaRPr>
          </a:p>
          <a:p>
            <a:r>
              <a:rPr lang="zh-CN" altLang="en-US" b="1" dirty="0">
                <a:latin typeface="+mn-ea"/>
              </a:rPr>
              <a:t>信息与电气工程学院各位领导的邮箱</a:t>
            </a:r>
            <a:endParaRPr lang="en-US" altLang="zh-CN" b="1" dirty="0">
              <a:latin typeface="+mn-ea"/>
            </a:endParaRPr>
          </a:p>
          <a:p>
            <a:r>
              <a:rPr lang="zh-CN" altLang="en-US" b="1" dirty="0">
                <a:latin typeface="+mn-ea"/>
              </a:rPr>
              <a:t>新冠肺炎疫情期间网上教学计划</a:t>
            </a:r>
          </a:p>
        </p:txBody>
      </p:sp>
      <p:grpSp>
        <p:nvGrpSpPr>
          <p:cNvPr id="40" name="组合 39">
            <a:extLst>
              <a:ext uri="{FF2B5EF4-FFF2-40B4-BE49-F238E27FC236}">
                <a16:creationId xmlns:a16="http://schemas.microsoft.com/office/drawing/2014/main" id="{50FBE37D-B8E6-AEED-99F4-348A67E42DE4}"/>
              </a:ext>
            </a:extLst>
          </p:cNvPr>
          <p:cNvGrpSpPr/>
          <p:nvPr/>
        </p:nvGrpSpPr>
        <p:grpSpPr>
          <a:xfrm>
            <a:off x="1750215" y="2634364"/>
            <a:ext cx="3227751" cy="1872013"/>
            <a:chOff x="1750215" y="2634364"/>
            <a:chExt cx="3227751" cy="1872013"/>
          </a:xfrm>
        </p:grpSpPr>
        <p:sp>
          <p:nvSpPr>
            <p:cNvPr id="41" name="文本框 40">
              <a:extLst>
                <a:ext uri="{FF2B5EF4-FFF2-40B4-BE49-F238E27FC236}">
                  <a16:creationId xmlns:a16="http://schemas.microsoft.com/office/drawing/2014/main" id="{834DC54E-07D1-EA46-8DEF-0F5689BF9AB3}"/>
                </a:ext>
              </a:extLst>
            </p:cNvPr>
            <p:cNvSpPr txBox="1"/>
            <p:nvPr/>
          </p:nvSpPr>
          <p:spPr>
            <a:xfrm>
              <a:off x="1750215" y="2634364"/>
              <a:ext cx="2505347" cy="646331"/>
            </a:xfrm>
            <a:prstGeom prst="rect">
              <a:avLst/>
            </a:prstGeom>
            <a:noFill/>
          </p:spPr>
          <p:txBody>
            <a:bodyPr wrap="square">
              <a:spAutoFit/>
            </a:bodyPr>
            <a:lstStyle/>
            <a:p>
              <a:pPr algn="ctr"/>
              <a:r>
                <a:rPr lang="zh-CN" altLang="en-US" b="1" dirty="0">
                  <a:solidFill>
                    <a:schemeClr val="accent1">
                      <a:lumMod val="75000"/>
                    </a:schemeClr>
                  </a:solidFill>
                  <a:latin typeface="+mn-ea"/>
                </a:rPr>
                <a:t>邮件系统将自动提取</a:t>
              </a:r>
              <a:endParaRPr lang="en-US" altLang="zh-CN" b="1" dirty="0">
                <a:solidFill>
                  <a:schemeClr val="accent1">
                    <a:lumMod val="75000"/>
                  </a:schemeClr>
                </a:solidFill>
                <a:latin typeface="+mn-ea"/>
              </a:endParaRPr>
            </a:p>
            <a:p>
              <a:pPr algn="ctr"/>
              <a:r>
                <a:rPr lang="zh-CN" altLang="en-US" b="1" dirty="0">
                  <a:solidFill>
                    <a:schemeClr val="accent1">
                      <a:lumMod val="75000"/>
                    </a:schemeClr>
                  </a:solidFill>
                  <a:latin typeface="+mn-ea"/>
                </a:rPr>
                <a:t>所需信息并写在信封上</a:t>
              </a:r>
            </a:p>
          </p:txBody>
        </p:sp>
        <p:cxnSp>
          <p:nvCxnSpPr>
            <p:cNvPr id="42" name="连接符: 曲线 41">
              <a:extLst>
                <a:ext uri="{FF2B5EF4-FFF2-40B4-BE49-F238E27FC236}">
                  <a16:creationId xmlns:a16="http://schemas.microsoft.com/office/drawing/2014/main" id="{89510941-1FA3-0223-55A3-23613B2F6802}"/>
                </a:ext>
              </a:extLst>
            </p:cNvPr>
            <p:cNvCxnSpPr>
              <a:cxnSpLocks/>
            </p:cNvCxnSpPr>
            <p:nvPr/>
          </p:nvCxnSpPr>
          <p:spPr>
            <a:xfrm rot="10800000" flipV="1">
              <a:off x="2269601" y="3212483"/>
              <a:ext cx="2708365" cy="1293894"/>
            </a:xfrm>
            <a:prstGeom prst="curvedConnector2">
              <a:avLst/>
            </a:prstGeom>
            <a:ln w="76200">
              <a:solidFill>
                <a:schemeClr val="accent1">
                  <a:lumMod val="75000"/>
                </a:schemeClr>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49" name="矩形 48">
            <a:extLst>
              <a:ext uri="{FF2B5EF4-FFF2-40B4-BE49-F238E27FC236}">
                <a16:creationId xmlns:a16="http://schemas.microsoft.com/office/drawing/2014/main" id="{271684C3-CE5E-3FF7-FDF8-ACFDAFFFF389}"/>
              </a:ext>
            </a:extLst>
          </p:cNvPr>
          <p:cNvSpPr/>
          <p:nvPr/>
        </p:nvSpPr>
        <p:spPr>
          <a:xfrm>
            <a:off x="5134448" y="2634364"/>
            <a:ext cx="1057272" cy="254833"/>
          </a:xfrm>
          <a:prstGeom prst="rect">
            <a:avLst/>
          </a:prstGeom>
          <a:solidFill>
            <a:schemeClr val="accent1">
              <a:alpha val="44000"/>
            </a:schemeClr>
          </a:solidFill>
          <a:ln>
            <a:solidFill>
              <a:schemeClr val="accent1">
                <a:shade val="50000"/>
                <a:alpha val="1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3D2EB53C-2673-22A3-D5F2-6B4840B52551}"/>
              </a:ext>
            </a:extLst>
          </p:cNvPr>
          <p:cNvSpPr/>
          <p:nvPr/>
        </p:nvSpPr>
        <p:spPr>
          <a:xfrm>
            <a:off x="5134448" y="3193997"/>
            <a:ext cx="1057272" cy="254833"/>
          </a:xfrm>
          <a:prstGeom prst="rect">
            <a:avLst/>
          </a:prstGeom>
          <a:solidFill>
            <a:schemeClr val="accent1">
              <a:alpha val="44000"/>
            </a:schemeClr>
          </a:solidFill>
          <a:ln>
            <a:solidFill>
              <a:schemeClr val="accent1">
                <a:shade val="50000"/>
                <a:alpha val="13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5B00B72C-406B-AFED-1850-A01DC141B0C2}"/>
              </a:ext>
            </a:extLst>
          </p:cNvPr>
          <p:cNvSpPr txBox="1"/>
          <p:nvPr/>
        </p:nvSpPr>
        <p:spPr>
          <a:xfrm>
            <a:off x="5176977" y="4010461"/>
            <a:ext cx="6124446" cy="1815882"/>
          </a:xfrm>
          <a:prstGeom prst="rect">
            <a:avLst/>
          </a:prstGeom>
          <a:noFill/>
        </p:spPr>
        <p:txBody>
          <a:bodyPr wrap="square">
            <a:spAutoFit/>
          </a:bodyPr>
          <a:lstStyle/>
          <a:p>
            <a:r>
              <a:rPr lang="zh-CN" altLang="en-US" sz="1600" b="1" dirty="0">
                <a:latin typeface="+mn-ea"/>
              </a:rPr>
              <a:t>计算机网络课程教学团队的各位老师：</a:t>
            </a:r>
            <a:endParaRPr lang="en-US" altLang="zh-CN" sz="1600" b="1" dirty="0">
              <a:latin typeface="+mn-ea"/>
            </a:endParaRPr>
          </a:p>
          <a:p>
            <a:r>
              <a:rPr lang="en-US" altLang="zh-CN" sz="1600" b="1" dirty="0">
                <a:latin typeface="+mn-ea"/>
              </a:rPr>
              <a:t>       </a:t>
            </a:r>
            <a:r>
              <a:rPr lang="zh-CN" altLang="en-US" sz="1600" b="1" dirty="0">
                <a:latin typeface="+mn-ea"/>
              </a:rPr>
              <a:t>大家好！</a:t>
            </a:r>
            <a:endParaRPr lang="en-US" altLang="zh-CN" sz="1600" b="1" dirty="0">
              <a:latin typeface="+mn-ea"/>
            </a:endParaRPr>
          </a:p>
          <a:p>
            <a:r>
              <a:rPr lang="en-US" altLang="zh-CN" sz="1600" b="1" dirty="0">
                <a:latin typeface="+mn-ea"/>
              </a:rPr>
              <a:t>       </a:t>
            </a:r>
            <a:r>
              <a:rPr lang="zh-CN" altLang="en-US" sz="1600" b="1" dirty="0">
                <a:latin typeface="+mn-ea"/>
              </a:rPr>
              <a:t>根据学校</a:t>
            </a:r>
            <a:r>
              <a:rPr lang="en-US" altLang="zh-CN" sz="1600" b="1" dirty="0">
                <a:latin typeface="+mn-ea"/>
              </a:rPr>
              <a:t>《</a:t>
            </a:r>
            <a:r>
              <a:rPr lang="zh-CN" altLang="en-US" sz="1600" b="1" dirty="0">
                <a:latin typeface="+mn-ea"/>
              </a:rPr>
              <a:t>关于切实做好当前新冠肺炎疫情防控工作和延迟开学有关事项的通知</a:t>
            </a:r>
            <a:r>
              <a:rPr lang="en-US" altLang="zh-CN" sz="1600" b="1" dirty="0">
                <a:latin typeface="+mn-ea"/>
              </a:rPr>
              <a:t>》</a:t>
            </a:r>
            <a:r>
              <a:rPr lang="zh-CN" altLang="en-US" sz="1600" b="1" dirty="0">
                <a:latin typeface="+mn-ea"/>
              </a:rPr>
              <a:t>，“停课不停教不停学”的要求，将于</a:t>
            </a:r>
            <a:r>
              <a:rPr lang="en-US" altLang="zh-CN" sz="1600" b="1" dirty="0">
                <a:latin typeface="+mn-ea"/>
              </a:rPr>
              <a:t>2</a:t>
            </a:r>
            <a:r>
              <a:rPr lang="zh-CN" altLang="en-US" sz="1600" b="1" dirty="0">
                <a:latin typeface="+mn-ea"/>
              </a:rPr>
              <a:t>月</a:t>
            </a:r>
            <a:r>
              <a:rPr lang="en-US" altLang="zh-CN" sz="1600" b="1" dirty="0">
                <a:latin typeface="+mn-ea"/>
              </a:rPr>
              <a:t>24</a:t>
            </a:r>
            <a:r>
              <a:rPr lang="zh-CN" altLang="en-US" sz="1600" b="1" dirty="0">
                <a:latin typeface="+mn-ea"/>
              </a:rPr>
              <a:t>日开始进行网上授课，</a:t>
            </a:r>
            <a:r>
              <a:rPr lang="en-US" altLang="zh-CN" sz="1600" b="1" dirty="0">
                <a:latin typeface="+mn-ea"/>
              </a:rPr>
              <a:t>《</a:t>
            </a:r>
            <a:r>
              <a:rPr lang="zh-CN" altLang="en-US" sz="1600" b="1" dirty="0">
                <a:latin typeface="+mn-ea"/>
              </a:rPr>
              <a:t>计算机网络</a:t>
            </a:r>
            <a:r>
              <a:rPr lang="en-US" altLang="zh-CN" sz="1600" b="1" dirty="0">
                <a:latin typeface="+mn-ea"/>
              </a:rPr>
              <a:t>》</a:t>
            </a:r>
            <a:r>
              <a:rPr lang="zh-CN" altLang="en-US" sz="1600" b="1" dirty="0">
                <a:latin typeface="+mn-ea"/>
              </a:rPr>
              <a:t>课程使用的平台是超星、中国大学慕课、以及本校自主学习中心。请各位老师通知自己教学班级的学生，进入本校自主学习中心进行学习。</a:t>
            </a:r>
            <a:endParaRPr lang="en-US" altLang="zh-CN" sz="1600" b="1" dirty="0">
              <a:latin typeface="+mn-ea"/>
            </a:endParaRPr>
          </a:p>
        </p:txBody>
      </p:sp>
    </p:spTree>
    <p:custDataLst>
      <p:tags r:id="rId1"/>
    </p:custDataLst>
    <p:extLst>
      <p:ext uri="{BB962C8B-B14F-4D97-AF65-F5344CB8AC3E}">
        <p14:creationId xmlns:p14="http://schemas.microsoft.com/office/powerpoint/2010/main" val="3327907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1000"/>
                                        <p:tgtEl>
                                          <p:spTgt spid="24"/>
                                        </p:tgtEl>
                                      </p:cBhvr>
                                    </p:animEffect>
                                    <p:anim calcmode="lin" valueType="num">
                                      <p:cBhvr>
                                        <p:cTn id="32" dur="1000" fill="hold"/>
                                        <p:tgtEl>
                                          <p:spTgt spid="24"/>
                                        </p:tgtEl>
                                        <p:attrNameLst>
                                          <p:attrName>ppt_x</p:attrName>
                                        </p:attrNameLst>
                                      </p:cBhvr>
                                      <p:tavLst>
                                        <p:tav tm="0">
                                          <p:val>
                                            <p:strVal val="#ppt_x"/>
                                          </p:val>
                                        </p:tav>
                                        <p:tav tm="100000">
                                          <p:val>
                                            <p:strVal val="#ppt_x"/>
                                          </p:val>
                                        </p:tav>
                                      </p:tavLst>
                                    </p:anim>
                                    <p:anim calcmode="lin" valueType="num">
                                      <p:cBhvr>
                                        <p:cTn id="3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wipe(up)">
                                      <p:cBhvr>
                                        <p:cTn id="43" dur="50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38">
                                            <p:txEl>
                                              <p:pRg st="0" end="0"/>
                                            </p:txEl>
                                          </p:spTgt>
                                        </p:tgtEl>
                                        <p:attrNameLst>
                                          <p:attrName>style.visibility</p:attrName>
                                        </p:attrNameLst>
                                      </p:cBhvr>
                                      <p:to>
                                        <p:strVal val="visible"/>
                                      </p:to>
                                    </p:set>
                                    <p:anim calcmode="lin" valueType="num">
                                      <p:cBhvr>
                                        <p:cTn id="48" dur="500" fill="hold"/>
                                        <p:tgtEl>
                                          <p:spTgt spid="38">
                                            <p:txEl>
                                              <p:pRg st="0" end="0"/>
                                            </p:txEl>
                                          </p:spTgt>
                                        </p:tgtEl>
                                        <p:attrNameLst>
                                          <p:attrName>ppt_w</p:attrName>
                                        </p:attrNameLst>
                                      </p:cBhvr>
                                      <p:tavLst>
                                        <p:tav tm="0">
                                          <p:val>
                                            <p:fltVal val="0"/>
                                          </p:val>
                                        </p:tav>
                                        <p:tav tm="100000">
                                          <p:val>
                                            <p:strVal val="#ppt_w"/>
                                          </p:val>
                                        </p:tav>
                                      </p:tavLst>
                                    </p:anim>
                                    <p:anim calcmode="lin" valueType="num">
                                      <p:cBhvr>
                                        <p:cTn id="49" dur="500" fill="hold"/>
                                        <p:tgtEl>
                                          <p:spTgt spid="38">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iterate type="lt">
                                    <p:tmAbs val="50"/>
                                  </p:iterate>
                                  <p:childTnLst>
                                    <p:set>
                                      <p:cBhvr>
                                        <p:cTn id="53"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nodeType="clickEffect">
                                  <p:stCondLst>
                                    <p:cond delay="0"/>
                                  </p:stCondLst>
                                  <p:childTnLst>
                                    <p:set>
                                      <p:cBhvr>
                                        <p:cTn id="57" dur="1" fill="hold">
                                          <p:stCondLst>
                                            <p:cond delay="0"/>
                                          </p:stCondLst>
                                        </p:cTn>
                                        <p:tgtEl>
                                          <p:spTgt spid="38">
                                            <p:txEl>
                                              <p:pRg st="1" end="1"/>
                                            </p:txEl>
                                          </p:spTgt>
                                        </p:tgtEl>
                                        <p:attrNameLst>
                                          <p:attrName>style.visibility</p:attrName>
                                        </p:attrNameLst>
                                      </p:cBhvr>
                                      <p:to>
                                        <p:strVal val="visible"/>
                                      </p:to>
                                    </p:set>
                                    <p:anim calcmode="lin" valueType="num">
                                      <p:cBhvr>
                                        <p:cTn id="58" dur="500" fill="hold"/>
                                        <p:tgtEl>
                                          <p:spTgt spid="38">
                                            <p:txEl>
                                              <p:pRg st="1" end="1"/>
                                            </p:txEl>
                                          </p:spTgt>
                                        </p:tgtEl>
                                        <p:attrNameLst>
                                          <p:attrName>ppt_w</p:attrName>
                                        </p:attrNameLst>
                                      </p:cBhvr>
                                      <p:tavLst>
                                        <p:tav tm="0">
                                          <p:val>
                                            <p:fltVal val="0"/>
                                          </p:val>
                                        </p:tav>
                                        <p:tav tm="100000">
                                          <p:val>
                                            <p:strVal val="#ppt_w"/>
                                          </p:val>
                                        </p:tav>
                                      </p:tavLst>
                                    </p:anim>
                                    <p:anim calcmode="lin" valueType="num">
                                      <p:cBhvr>
                                        <p:cTn id="59" dur="500" fill="hold"/>
                                        <p:tgtEl>
                                          <p:spTgt spid="38">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iterate type="lt">
                                    <p:tmAbs val="100"/>
                                  </p:iterate>
                                  <p:childTnLst>
                                    <p:set>
                                      <p:cBhvr>
                                        <p:cTn id="63"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3" presetClass="entr" presetSubtype="16" fill="hold" nodeType="clickEffect">
                                  <p:stCondLst>
                                    <p:cond delay="0"/>
                                  </p:stCondLst>
                                  <p:childTnLst>
                                    <p:set>
                                      <p:cBhvr>
                                        <p:cTn id="67" dur="1" fill="hold">
                                          <p:stCondLst>
                                            <p:cond delay="0"/>
                                          </p:stCondLst>
                                        </p:cTn>
                                        <p:tgtEl>
                                          <p:spTgt spid="38">
                                            <p:txEl>
                                              <p:pRg st="2" end="2"/>
                                            </p:txEl>
                                          </p:spTgt>
                                        </p:tgtEl>
                                        <p:attrNameLst>
                                          <p:attrName>style.visibility</p:attrName>
                                        </p:attrNameLst>
                                      </p:cBhvr>
                                      <p:to>
                                        <p:strVal val="visible"/>
                                      </p:to>
                                    </p:set>
                                    <p:anim calcmode="lin" valueType="num">
                                      <p:cBhvr>
                                        <p:cTn id="68" dur="500" fill="hold"/>
                                        <p:tgtEl>
                                          <p:spTgt spid="38">
                                            <p:txEl>
                                              <p:pRg st="2" end="2"/>
                                            </p:txEl>
                                          </p:spTgt>
                                        </p:tgtEl>
                                        <p:attrNameLst>
                                          <p:attrName>ppt_w</p:attrName>
                                        </p:attrNameLst>
                                      </p:cBhvr>
                                      <p:tavLst>
                                        <p:tav tm="0">
                                          <p:val>
                                            <p:fltVal val="0"/>
                                          </p:val>
                                        </p:tav>
                                        <p:tav tm="100000">
                                          <p:val>
                                            <p:strVal val="#ppt_w"/>
                                          </p:val>
                                        </p:tav>
                                      </p:tavLst>
                                    </p:anim>
                                    <p:anim calcmode="lin" valueType="num">
                                      <p:cBhvr>
                                        <p:cTn id="69" dur="500" fill="hold"/>
                                        <p:tgtEl>
                                          <p:spTgt spid="38">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iterate type="lt">
                                    <p:tmAbs val="100"/>
                                  </p:iterate>
                                  <p:childTnLst>
                                    <p:set>
                                      <p:cBhvr>
                                        <p:cTn id="73"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3" presetClass="entr" presetSubtype="16" fill="hold" nodeType="clickEffect">
                                  <p:stCondLst>
                                    <p:cond delay="0"/>
                                  </p:stCondLst>
                                  <p:childTnLst>
                                    <p:set>
                                      <p:cBhvr>
                                        <p:cTn id="77" dur="1" fill="hold">
                                          <p:stCondLst>
                                            <p:cond delay="0"/>
                                          </p:stCondLst>
                                        </p:cTn>
                                        <p:tgtEl>
                                          <p:spTgt spid="38">
                                            <p:txEl>
                                              <p:pRg st="3" end="3"/>
                                            </p:txEl>
                                          </p:spTgt>
                                        </p:tgtEl>
                                        <p:attrNameLst>
                                          <p:attrName>style.visibility</p:attrName>
                                        </p:attrNameLst>
                                      </p:cBhvr>
                                      <p:to>
                                        <p:strVal val="visible"/>
                                      </p:to>
                                    </p:set>
                                    <p:anim calcmode="lin" valueType="num">
                                      <p:cBhvr>
                                        <p:cTn id="78" dur="500" fill="hold"/>
                                        <p:tgtEl>
                                          <p:spTgt spid="38">
                                            <p:txEl>
                                              <p:pRg st="3" end="3"/>
                                            </p:txEl>
                                          </p:spTgt>
                                        </p:tgtEl>
                                        <p:attrNameLst>
                                          <p:attrName>ppt_w</p:attrName>
                                        </p:attrNameLst>
                                      </p:cBhvr>
                                      <p:tavLst>
                                        <p:tav tm="0">
                                          <p:val>
                                            <p:fltVal val="0"/>
                                          </p:val>
                                        </p:tav>
                                        <p:tav tm="100000">
                                          <p:val>
                                            <p:strVal val="#ppt_w"/>
                                          </p:val>
                                        </p:tav>
                                      </p:tavLst>
                                    </p:anim>
                                    <p:anim calcmode="lin" valueType="num">
                                      <p:cBhvr>
                                        <p:cTn id="79" dur="500" fill="hold"/>
                                        <p:tgtEl>
                                          <p:spTgt spid="38">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iterate type="lt">
                                    <p:tmAbs val="100"/>
                                  </p:iterate>
                                  <p:childTnLst>
                                    <p:set>
                                      <p:cBhvr>
                                        <p:cTn id="83"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7" presetClass="entr" presetSubtype="10" fill="hold" grpId="0" nodeType="clickEffect">
                                  <p:stCondLst>
                                    <p:cond delay="0"/>
                                  </p:stCondLst>
                                  <p:childTnLst>
                                    <p:set>
                                      <p:cBhvr>
                                        <p:cTn id="87" dur="1" fill="hold">
                                          <p:stCondLst>
                                            <p:cond delay="0"/>
                                          </p:stCondLst>
                                        </p:cTn>
                                        <p:tgtEl>
                                          <p:spTgt spid="49"/>
                                        </p:tgtEl>
                                        <p:attrNameLst>
                                          <p:attrName>style.visibility</p:attrName>
                                        </p:attrNameLst>
                                      </p:cBhvr>
                                      <p:to>
                                        <p:strVal val="visible"/>
                                      </p:to>
                                    </p:set>
                                    <p:anim calcmode="lin" valueType="num">
                                      <p:cBhvr>
                                        <p:cTn id="88" dur="500" fill="hold"/>
                                        <p:tgtEl>
                                          <p:spTgt spid="49"/>
                                        </p:tgtEl>
                                        <p:attrNameLst>
                                          <p:attrName>ppt_w</p:attrName>
                                        </p:attrNameLst>
                                      </p:cBhvr>
                                      <p:tavLst>
                                        <p:tav tm="0">
                                          <p:val>
                                            <p:fltVal val="0"/>
                                          </p:val>
                                        </p:tav>
                                        <p:tav tm="100000">
                                          <p:val>
                                            <p:strVal val="#ppt_w"/>
                                          </p:val>
                                        </p:tav>
                                      </p:tavLst>
                                    </p:anim>
                                    <p:anim calcmode="lin" valueType="num">
                                      <p:cBhvr>
                                        <p:cTn id="89" dur="500" fill="hold"/>
                                        <p:tgtEl>
                                          <p:spTgt spid="49"/>
                                        </p:tgtEl>
                                        <p:attrNameLst>
                                          <p:attrName>ppt_h</p:attrName>
                                        </p:attrNameLst>
                                      </p:cBhvr>
                                      <p:tavLst>
                                        <p:tav tm="0">
                                          <p:val>
                                            <p:strVal val="#ppt_h"/>
                                          </p:val>
                                        </p:tav>
                                        <p:tav tm="100000">
                                          <p:val>
                                            <p:strVal val="#ppt_h"/>
                                          </p:val>
                                        </p:tav>
                                      </p:tavLst>
                                    </p:anim>
                                  </p:childTnLst>
                                </p:cTn>
                              </p:par>
                              <p:par>
                                <p:cTn id="90" presetID="17" presetClass="entr" presetSubtype="10" fill="hold" grpId="0" nodeType="withEffect">
                                  <p:stCondLst>
                                    <p:cond delay="0"/>
                                  </p:stCondLst>
                                  <p:childTnLst>
                                    <p:set>
                                      <p:cBhvr>
                                        <p:cTn id="91" dur="1" fill="hold">
                                          <p:stCondLst>
                                            <p:cond delay="0"/>
                                          </p:stCondLst>
                                        </p:cTn>
                                        <p:tgtEl>
                                          <p:spTgt spid="50"/>
                                        </p:tgtEl>
                                        <p:attrNameLst>
                                          <p:attrName>style.visibility</p:attrName>
                                        </p:attrNameLst>
                                      </p:cBhvr>
                                      <p:to>
                                        <p:strVal val="visible"/>
                                      </p:to>
                                    </p:set>
                                    <p:anim calcmode="lin" valueType="num">
                                      <p:cBhvr>
                                        <p:cTn id="92" dur="500" fill="hold"/>
                                        <p:tgtEl>
                                          <p:spTgt spid="50"/>
                                        </p:tgtEl>
                                        <p:attrNameLst>
                                          <p:attrName>ppt_w</p:attrName>
                                        </p:attrNameLst>
                                      </p:cBhvr>
                                      <p:tavLst>
                                        <p:tav tm="0">
                                          <p:val>
                                            <p:fltVal val="0"/>
                                          </p:val>
                                        </p:tav>
                                        <p:tav tm="100000">
                                          <p:val>
                                            <p:strVal val="#ppt_w"/>
                                          </p:val>
                                        </p:tav>
                                      </p:tavLst>
                                    </p:anim>
                                    <p:anim calcmode="lin" valueType="num">
                                      <p:cBhvr>
                                        <p:cTn id="93" dur="500" fill="hold"/>
                                        <p:tgtEl>
                                          <p:spTgt spid="50"/>
                                        </p:tgtEl>
                                        <p:attrNameLst>
                                          <p:attrName>ppt_h</p:attrName>
                                        </p:attrNameLst>
                                      </p:cBhvr>
                                      <p:tavLst>
                                        <p:tav tm="0">
                                          <p:val>
                                            <p:strVal val="#ppt_h"/>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2" fill="hold" nodeType="click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wipe(right)">
                                      <p:cBhvr>
                                        <p:cTn id="98" dur="1000"/>
                                        <p:tgtEl>
                                          <p:spTgt spid="40"/>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iterate type="lt">
                                    <p:tmAbs val="50"/>
                                  </p:iterate>
                                  <p:childTnLst>
                                    <p:set>
                                      <p:cBhvr>
                                        <p:cTn id="102"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49" grpId="0" animBg="1"/>
      <p:bldP spid="50" grpId="0" animBg="1"/>
      <p:bldP spid="5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多用途因特网邮件扩展</a:t>
              </a:r>
            </a:p>
          </p:txBody>
        </p:sp>
      </p:grpSp>
      <p:sp>
        <p:nvSpPr>
          <p:cNvPr id="22" name="矩形 21">
            <a:extLst>
              <a:ext uri="{FF2B5EF4-FFF2-40B4-BE49-F238E27FC236}">
                <a16:creationId xmlns:a16="http://schemas.microsoft.com/office/drawing/2014/main" id="{C98D195D-B59D-A308-16C4-41BCCC2C0B4B}"/>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36CA0B01-BD05-BC1E-C74D-F713CA9B17A6}"/>
              </a:ext>
            </a:extLst>
          </p:cNvPr>
          <p:cNvSpPr txBox="1"/>
          <p:nvPr/>
        </p:nvSpPr>
        <p:spPr>
          <a:xfrm>
            <a:off x="1293757" y="1192132"/>
            <a:ext cx="10593443" cy="459459"/>
          </a:xfrm>
          <a:prstGeom prst="rect">
            <a:avLst/>
          </a:prstGeom>
          <a:noFill/>
        </p:spPr>
        <p:txBody>
          <a:bodyPr wrap="square" lIns="91440" tIns="45720" rIns="91440" bIns="45720" anchor="ctr">
            <a:noAutofit/>
          </a:bodyPr>
          <a:lstStyle/>
          <a:p>
            <a:r>
              <a:rPr lang="en-US" altLang="zh-CN" b="1" dirty="0">
                <a:solidFill>
                  <a:schemeClr val="accent1">
                    <a:lumMod val="75000"/>
                  </a:schemeClr>
                </a:solidFill>
              </a:rPr>
              <a:t>SMTP</a:t>
            </a:r>
            <a:r>
              <a:rPr lang="zh-CN" altLang="en-US" b="1" dirty="0">
                <a:solidFill>
                  <a:schemeClr val="accent1">
                    <a:lumMod val="75000"/>
                  </a:schemeClr>
                </a:solidFill>
              </a:rPr>
              <a:t>协议只能传送</a:t>
            </a:r>
            <a:r>
              <a:rPr lang="en-US" altLang="zh-CN" b="1" dirty="0">
                <a:solidFill>
                  <a:schemeClr val="accent1">
                    <a:lumMod val="75000"/>
                  </a:schemeClr>
                </a:solidFill>
              </a:rPr>
              <a:t>ASCII</a:t>
            </a:r>
            <a:r>
              <a:rPr lang="zh-CN" altLang="en-US" b="1" dirty="0">
                <a:solidFill>
                  <a:schemeClr val="accent1">
                    <a:lumMod val="75000"/>
                  </a:schemeClr>
                </a:solidFill>
              </a:rPr>
              <a:t>码文本数据</a:t>
            </a:r>
            <a:r>
              <a:rPr lang="zh-CN" altLang="en-US" b="1" dirty="0"/>
              <a:t>，不能传送可执行文件或其他的二进制对象。</a:t>
            </a:r>
            <a:endParaRPr lang="en-US" altLang="zh-CN" b="1" dirty="0">
              <a:solidFill>
                <a:srgbClr val="C00000"/>
              </a:solidFill>
            </a:endParaRPr>
          </a:p>
        </p:txBody>
      </p:sp>
      <p:sp>
        <p:nvSpPr>
          <p:cNvPr id="5" name="矩形 4">
            <a:extLst>
              <a:ext uri="{FF2B5EF4-FFF2-40B4-BE49-F238E27FC236}">
                <a16:creationId xmlns:a16="http://schemas.microsoft.com/office/drawing/2014/main" id="{64EECAAD-56EA-C0A4-E89B-21E3737080F7}"/>
              </a:ext>
            </a:extLst>
          </p:cNvPr>
          <p:cNvSpPr/>
          <p:nvPr/>
        </p:nvSpPr>
        <p:spPr>
          <a:xfrm>
            <a:off x="1016000" y="173265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2201E2F-0E72-AD64-58BF-FB6F92E90A79}"/>
              </a:ext>
            </a:extLst>
          </p:cNvPr>
          <p:cNvSpPr txBox="1"/>
          <p:nvPr/>
        </p:nvSpPr>
        <p:spPr>
          <a:xfrm>
            <a:off x="1293757" y="1651591"/>
            <a:ext cx="10593443" cy="708837"/>
          </a:xfrm>
          <a:prstGeom prst="rect">
            <a:avLst/>
          </a:prstGeom>
          <a:noFill/>
        </p:spPr>
        <p:txBody>
          <a:bodyPr wrap="square" lIns="91440" tIns="45720" rIns="91440" bIns="45720" anchor="ctr">
            <a:noAutofit/>
          </a:bodyPr>
          <a:lstStyle/>
          <a:p>
            <a:r>
              <a:rPr lang="en-US" altLang="zh-CN" b="1" dirty="0"/>
              <a:t>SMTP</a:t>
            </a:r>
            <a:r>
              <a:rPr lang="zh-CN" altLang="en-US" b="1" dirty="0"/>
              <a:t>不能满足传送多媒体邮件（例如带有图片、音频或视频数据）的需要。并且许多其他非英语国家的文字（例如中文、俄文、甚至带有重音符号的法文或德文）也无法用</a:t>
            </a:r>
            <a:r>
              <a:rPr lang="en-US" altLang="zh-CN" b="1" dirty="0"/>
              <a:t>SMTP</a:t>
            </a:r>
            <a:r>
              <a:rPr lang="zh-CN" altLang="en-US" b="1" dirty="0"/>
              <a:t>传送。</a:t>
            </a:r>
            <a:endParaRPr lang="en-US" altLang="zh-CN" b="1" dirty="0"/>
          </a:p>
        </p:txBody>
      </p:sp>
      <p:sp>
        <p:nvSpPr>
          <p:cNvPr id="7" name="矩形 6">
            <a:extLst>
              <a:ext uri="{FF2B5EF4-FFF2-40B4-BE49-F238E27FC236}">
                <a16:creationId xmlns:a16="http://schemas.microsoft.com/office/drawing/2014/main" id="{6E117FC9-22CD-87E0-E86E-0785629ABAAE}"/>
              </a:ext>
            </a:extLst>
          </p:cNvPr>
          <p:cNvSpPr/>
          <p:nvPr/>
        </p:nvSpPr>
        <p:spPr>
          <a:xfrm>
            <a:off x="1016000" y="244149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30FFB004-DE59-AFE3-B75A-2E08D738221B}"/>
              </a:ext>
            </a:extLst>
          </p:cNvPr>
          <p:cNvSpPr txBox="1"/>
          <p:nvPr/>
        </p:nvSpPr>
        <p:spPr>
          <a:xfrm>
            <a:off x="1293757" y="2360428"/>
            <a:ext cx="10593443" cy="708837"/>
          </a:xfrm>
          <a:prstGeom prst="rect">
            <a:avLst/>
          </a:prstGeom>
          <a:noFill/>
        </p:spPr>
        <p:txBody>
          <a:bodyPr wrap="square" lIns="91440" tIns="45720" rIns="91440" bIns="45720" anchor="ctr">
            <a:noAutofit/>
          </a:bodyPr>
          <a:lstStyle/>
          <a:p>
            <a:r>
              <a:rPr lang="zh-CN" altLang="en-US" b="1" dirty="0"/>
              <a:t>为解决</a:t>
            </a:r>
            <a:r>
              <a:rPr lang="en-US" altLang="zh-CN" b="1" dirty="0"/>
              <a:t>SMTP</a:t>
            </a:r>
            <a:r>
              <a:rPr lang="zh-CN" altLang="en-US" b="1" dirty="0"/>
              <a:t>传送非</a:t>
            </a:r>
            <a:r>
              <a:rPr lang="en-US" altLang="zh-CN" b="1" dirty="0"/>
              <a:t>ASCII</a:t>
            </a:r>
            <a:r>
              <a:rPr lang="zh-CN" altLang="en-US" b="1" dirty="0"/>
              <a:t>码文本的问题，提出了</a:t>
            </a:r>
            <a:r>
              <a:rPr lang="zh-CN" altLang="en-US" b="1" dirty="0">
                <a:solidFill>
                  <a:schemeClr val="accent1">
                    <a:lumMod val="75000"/>
                  </a:schemeClr>
                </a:solidFill>
              </a:rPr>
              <a:t>多用途因特网邮件扩展</a:t>
            </a:r>
            <a:r>
              <a:rPr lang="en-US" altLang="zh-CN" b="1" dirty="0">
                <a:solidFill>
                  <a:schemeClr val="accent1">
                    <a:lumMod val="75000"/>
                  </a:schemeClr>
                </a:solidFill>
              </a:rPr>
              <a:t> </a:t>
            </a:r>
            <a:r>
              <a:rPr lang="en-US" altLang="zh-CN" b="1" dirty="0"/>
              <a:t>(</a:t>
            </a:r>
            <a:r>
              <a:rPr lang="en-US" altLang="zh-CN" b="1" dirty="0">
                <a:solidFill>
                  <a:schemeClr val="accent1">
                    <a:lumMod val="75000"/>
                  </a:schemeClr>
                </a:solidFill>
              </a:rPr>
              <a:t>M</a:t>
            </a:r>
            <a:r>
              <a:rPr lang="en-US" altLang="zh-CN" b="1" dirty="0"/>
              <a:t>ultipurpose </a:t>
            </a:r>
            <a:r>
              <a:rPr lang="en-US" altLang="zh-CN" b="1" dirty="0">
                <a:solidFill>
                  <a:schemeClr val="accent1">
                    <a:lumMod val="75000"/>
                  </a:schemeClr>
                </a:solidFill>
              </a:rPr>
              <a:t>I</a:t>
            </a:r>
            <a:r>
              <a:rPr lang="en-US" altLang="zh-CN" b="1" dirty="0"/>
              <a:t>nternet </a:t>
            </a:r>
            <a:r>
              <a:rPr lang="en-US" altLang="zh-CN" b="1" dirty="0">
                <a:solidFill>
                  <a:schemeClr val="accent1">
                    <a:lumMod val="75000"/>
                  </a:schemeClr>
                </a:solidFill>
              </a:rPr>
              <a:t>M</a:t>
            </a:r>
            <a:r>
              <a:rPr lang="en-US" altLang="zh-CN" b="1" dirty="0"/>
              <a:t>ail </a:t>
            </a:r>
            <a:r>
              <a:rPr lang="en-US" altLang="zh-CN" b="1" dirty="0">
                <a:solidFill>
                  <a:schemeClr val="accent1">
                    <a:lumMod val="75000"/>
                  </a:schemeClr>
                </a:solidFill>
              </a:rPr>
              <a:t>E</a:t>
            </a:r>
            <a:r>
              <a:rPr lang="en-US" altLang="zh-CN" b="1" dirty="0"/>
              <a:t>xtensions</a:t>
            </a:r>
            <a:r>
              <a:rPr lang="zh-CN" altLang="en-US" b="1" dirty="0"/>
              <a:t>，</a:t>
            </a:r>
            <a:r>
              <a:rPr lang="en-US" altLang="zh-CN" b="1" dirty="0">
                <a:solidFill>
                  <a:schemeClr val="accent1">
                    <a:lumMod val="75000"/>
                  </a:schemeClr>
                </a:solidFill>
              </a:rPr>
              <a:t>MIME</a:t>
            </a:r>
            <a:r>
              <a:rPr lang="en-US" altLang="zh-CN" b="1" dirty="0"/>
              <a:t>)</a:t>
            </a:r>
            <a:r>
              <a:rPr lang="zh-CN" altLang="en-US" b="1" dirty="0"/>
              <a:t>。</a:t>
            </a:r>
            <a:endParaRPr lang="en-US" altLang="zh-CN" b="1" dirty="0"/>
          </a:p>
        </p:txBody>
      </p:sp>
      <p:sp>
        <p:nvSpPr>
          <p:cNvPr id="9" name="矩形 8">
            <a:extLst>
              <a:ext uri="{FF2B5EF4-FFF2-40B4-BE49-F238E27FC236}">
                <a16:creationId xmlns:a16="http://schemas.microsoft.com/office/drawing/2014/main" id="{F529F078-9E04-51B9-25D3-5D0B48495859}"/>
              </a:ext>
            </a:extLst>
          </p:cNvPr>
          <p:cNvSpPr/>
          <p:nvPr/>
        </p:nvSpPr>
        <p:spPr>
          <a:xfrm>
            <a:off x="3032632" y="4409801"/>
            <a:ext cx="1158240" cy="635726"/>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MIME</a:t>
            </a:r>
            <a:endParaRPr lang="zh-CN" altLang="en-US" b="1" dirty="0">
              <a:solidFill>
                <a:schemeClr val="tx1"/>
              </a:solidFill>
            </a:endParaRPr>
          </a:p>
        </p:txBody>
      </p:sp>
      <p:sp>
        <p:nvSpPr>
          <p:cNvPr id="10" name="矩形 9">
            <a:extLst>
              <a:ext uri="{FF2B5EF4-FFF2-40B4-BE49-F238E27FC236}">
                <a16:creationId xmlns:a16="http://schemas.microsoft.com/office/drawing/2014/main" id="{322FCEB6-4858-1D4B-5A4E-E38E41CBDC2B}"/>
              </a:ext>
            </a:extLst>
          </p:cNvPr>
          <p:cNvSpPr/>
          <p:nvPr/>
        </p:nvSpPr>
        <p:spPr>
          <a:xfrm>
            <a:off x="7334668" y="4409801"/>
            <a:ext cx="1158240" cy="635726"/>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MIME</a:t>
            </a:r>
            <a:endParaRPr lang="zh-CN" altLang="en-US" b="1" dirty="0">
              <a:solidFill>
                <a:schemeClr val="tx1"/>
              </a:solidFill>
            </a:endParaRPr>
          </a:p>
        </p:txBody>
      </p:sp>
      <p:grpSp>
        <p:nvGrpSpPr>
          <p:cNvPr id="11" name="组合 10">
            <a:extLst>
              <a:ext uri="{FF2B5EF4-FFF2-40B4-BE49-F238E27FC236}">
                <a16:creationId xmlns:a16="http://schemas.microsoft.com/office/drawing/2014/main" id="{FE56D36F-2D77-5EA6-C955-BCDAE0D80023}"/>
              </a:ext>
            </a:extLst>
          </p:cNvPr>
          <p:cNvGrpSpPr/>
          <p:nvPr/>
        </p:nvGrpSpPr>
        <p:grpSpPr>
          <a:xfrm>
            <a:off x="3032632" y="3016429"/>
            <a:ext cx="5460276" cy="635726"/>
            <a:chOff x="3032632" y="3016429"/>
            <a:chExt cx="5460276" cy="635726"/>
          </a:xfrm>
        </p:grpSpPr>
        <p:sp>
          <p:nvSpPr>
            <p:cNvPr id="12" name="矩形 11">
              <a:extLst>
                <a:ext uri="{FF2B5EF4-FFF2-40B4-BE49-F238E27FC236}">
                  <a16:creationId xmlns:a16="http://schemas.microsoft.com/office/drawing/2014/main" id="{CA8703F2-6744-68FE-DA7F-19F0DBB11572}"/>
                </a:ext>
              </a:extLst>
            </p:cNvPr>
            <p:cNvSpPr/>
            <p:nvPr/>
          </p:nvSpPr>
          <p:spPr>
            <a:xfrm>
              <a:off x="3032632" y="3016429"/>
              <a:ext cx="1158240" cy="6357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发送方</a:t>
              </a:r>
            </a:p>
          </p:txBody>
        </p:sp>
        <p:sp>
          <p:nvSpPr>
            <p:cNvPr id="13" name="矩形 12">
              <a:extLst>
                <a:ext uri="{FF2B5EF4-FFF2-40B4-BE49-F238E27FC236}">
                  <a16:creationId xmlns:a16="http://schemas.microsoft.com/office/drawing/2014/main" id="{2A4F0A0E-D637-B0FF-74D7-4846B725B531}"/>
                </a:ext>
              </a:extLst>
            </p:cNvPr>
            <p:cNvSpPr/>
            <p:nvPr/>
          </p:nvSpPr>
          <p:spPr>
            <a:xfrm>
              <a:off x="7334668" y="3016429"/>
              <a:ext cx="1158240" cy="6357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接收方</a:t>
              </a:r>
            </a:p>
          </p:txBody>
        </p:sp>
      </p:grpSp>
      <p:grpSp>
        <p:nvGrpSpPr>
          <p:cNvPr id="14" name="组合 13">
            <a:extLst>
              <a:ext uri="{FF2B5EF4-FFF2-40B4-BE49-F238E27FC236}">
                <a16:creationId xmlns:a16="http://schemas.microsoft.com/office/drawing/2014/main" id="{AABCB1D8-A9B6-2037-2398-5536FD7AFFC8}"/>
              </a:ext>
            </a:extLst>
          </p:cNvPr>
          <p:cNvGrpSpPr/>
          <p:nvPr/>
        </p:nvGrpSpPr>
        <p:grpSpPr>
          <a:xfrm>
            <a:off x="3611752" y="3652155"/>
            <a:ext cx="1297577" cy="757646"/>
            <a:chOff x="3611752" y="3652155"/>
            <a:chExt cx="1297577" cy="757646"/>
          </a:xfrm>
        </p:grpSpPr>
        <p:cxnSp>
          <p:nvCxnSpPr>
            <p:cNvPr id="15" name="直接箭头连接符 14">
              <a:extLst>
                <a:ext uri="{FF2B5EF4-FFF2-40B4-BE49-F238E27FC236}">
                  <a16:creationId xmlns:a16="http://schemas.microsoft.com/office/drawing/2014/main" id="{939842BC-7498-2905-2D17-804E03A08573}"/>
                </a:ext>
              </a:extLst>
            </p:cNvPr>
            <p:cNvCxnSpPr>
              <a:stCxn id="12" idx="2"/>
              <a:endCxn id="9" idx="0"/>
            </p:cNvCxnSpPr>
            <p:nvPr/>
          </p:nvCxnSpPr>
          <p:spPr>
            <a:xfrm>
              <a:off x="3611752" y="3652155"/>
              <a:ext cx="0" cy="757646"/>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FC9D6E43-4FFC-00E9-0348-31A6F756491D}"/>
                </a:ext>
              </a:extLst>
            </p:cNvPr>
            <p:cNvSpPr txBox="1"/>
            <p:nvPr/>
          </p:nvSpPr>
          <p:spPr>
            <a:xfrm>
              <a:off x="3611752" y="3845416"/>
              <a:ext cx="1297577" cy="369332"/>
            </a:xfrm>
            <a:prstGeom prst="rect">
              <a:avLst/>
            </a:prstGeom>
            <a:noFill/>
          </p:spPr>
          <p:txBody>
            <a:bodyPr wrap="square">
              <a:spAutoFit/>
            </a:bodyPr>
            <a:lstStyle/>
            <a:p>
              <a:pPr algn="ctr"/>
              <a:r>
                <a:rPr lang="zh-CN" altLang="en-US" b="1" dirty="0">
                  <a:solidFill>
                    <a:srgbClr val="FF0000"/>
                  </a:solidFill>
                </a:rPr>
                <a:t>非</a:t>
              </a:r>
              <a:r>
                <a:rPr lang="en-US" altLang="zh-CN" b="1" dirty="0">
                  <a:solidFill>
                    <a:srgbClr val="FF0000"/>
                  </a:solidFill>
                </a:rPr>
                <a:t>ASCII</a:t>
              </a:r>
              <a:r>
                <a:rPr lang="zh-CN" altLang="en-US" b="1" dirty="0">
                  <a:solidFill>
                    <a:srgbClr val="FF0000"/>
                  </a:solidFill>
                </a:rPr>
                <a:t>码</a:t>
              </a:r>
            </a:p>
          </p:txBody>
        </p:sp>
      </p:grpSp>
      <p:grpSp>
        <p:nvGrpSpPr>
          <p:cNvPr id="17" name="组合 16">
            <a:extLst>
              <a:ext uri="{FF2B5EF4-FFF2-40B4-BE49-F238E27FC236}">
                <a16:creationId xmlns:a16="http://schemas.microsoft.com/office/drawing/2014/main" id="{922D9539-F51A-8561-5384-1099B2A41963}"/>
              </a:ext>
            </a:extLst>
          </p:cNvPr>
          <p:cNvGrpSpPr/>
          <p:nvPr/>
        </p:nvGrpSpPr>
        <p:grpSpPr>
          <a:xfrm>
            <a:off x="3611752" y="5045527"/>
            <a:ext cx="1301931" cy="757647"/>
            <a:chOff x="3611752" y="5045527"/>
            <a:chExt cx="1301931" cy="757647"/>
          </a:xfrm>
        </p:grpSpPr>
        <p:cxnSp>
          <p:nvCxnSpPr>
            <p:cNvPr id="18" name="直接箭头连接符 17">
              <a:extLst>
                <a:ext uri="{FF2B5EF4-FFF2-40B4-BE49-F238E27FC236}">
                  <a16:creationId xmlns:a16="http://schemas.microsoft.com/office/drawing/2014/main" id="{A3B43C01-9492-ECD8-8B29-3FABA18C94D8}"/>
                </a:ext>
              </a:extLst>
            </p:cNvPr>
            <p:cNvCxnSpPr>
              <a:cxnSpLocks/>
              <a:stCxn id="9" idx="2"/>
              <a:endCxn id="21" idx="0"/>
            </p:cNvCxnSpPr>
            <p:nvPr/>
          </p:nvCxnSpPr>
          <p:spPr>
            <a:xfrm>
              <a:off x="3611752" y="5045527"/>
              <a:ext cx="0" cy="757647"/>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AC799190-9B52-1D53-093A-BE9FCB7FF981}"/>
                </a:ext>
              </a:extLst>
            </p:cNvPr>
            <p:cNvSpPr txBox="1"/>
            <p:nvPr/>
          </p:nvSpPr>
          <p:spPr>
            <a:xfrm>
              <a:off x="3616106" y="5239684"/>
              <a:ext cx="1297577" cy="369332"/>
            </a:xfrm>
            <a:prstGeom prst="rect">
              <a:avLst/>
            </a:prstGeom>
            <a:noFill/>
          </p:spPr>
          <p:txBody>
            <a:bodyPr wrap="square">
              <a:spAutoFit/>
            </a:bodyPr>
            <a:lstStyle/>
            <a:p>
              <a:pPr algn="ctr"/>
              <a:r>
                <a:rPr lang="en-US" altLang="zh-CN" b="1" dirty="0">
                  <a:solidFill>
                    <a:schemeClr val="accent4"/>
                  </a:solidFill>
                </a:rPr>
                <a:t>ASCII</a:t>
              </a:r>
              <a:r>
                <a:rPr lang="zh-CN" altLang="en-US" b="1" dirty="0">
                  <a:solidFill>
                    <a:schemeClr val="accent4"/>
                  </a:solidFill>
                </a:rPr>
                <a:t>码</a:t>
              </a:r>
            </a:p>
          </p:txBody>
        </p:sp>
      </p:grpSp>
      <p:grpSp>
        <p:nvGrpSpPr>
          <p:cNvPr id="20" name="组合 19">
            <a:extLst>
              <a:ext uri="{FF2B5EF4-FFF2-40B4-BE49-F238E27FC236}">
                <a16:creationId xmlns:a16="http://schemas.microsoft.com/office/drawing/2014/main" id="{35364AEE-6816-E7A2-2E5C-D439055CB42C}"/>
              </a:ext>
            </a:extLst>
          </p:cNvPr>
          <p:cNvGrpSpPr/>
          <p:nvPr/>
        </p:nvGrpSpPr>
        <p:grpSpPr>
          <a:xfrm>
            <a:off x="3032632" y="5749918"/>
            <a:ext cx="5460276" cy="688982"/>
            <a:chOff x="3032632" y="5749918"/>
            <a:chExt cx="5460276" cy="688982"/>
          </a:xfrm>
        </p:grpSpPr>
        <p:sp>
          <p:nvSpPr>
            <p:cNvPr id="21" name="矩形 20">
              <a:extLst>
                <a:ext uri="{FF2B5EF4-FFF2-40B4-BE49-F238E27FC236}">
                  <a16:creationId xmlns:a16="http://schemas.microsoft.com/office/drawing/2014/main" id="{4EB68347-9F25-D917-BF82-1F9076DBC382}"/>
                </a:ext>
              </a:extLst>
            </p:cNvPr>
            <p:cNvSpPr/>
            <p:nvPr/>
          </p:nvSpPr>
          <p:spPr>
            <a:xfrm>
              <a:off x="3032632" y="5803174"/>
              <a:ext cx="1158240" cy="635726"/>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b="1" dirty="0">
                  <a:solidFill>
                    <a:schemeClr val="bg1"/>
                  </a:solidFill>
                </a:rPr>
                <a:t>SMTP</a:t>
              </a:r>
              <a:endParaRPr lang="zh-CN" altLang="en-US" b="1" dirty="0">
                <a:solidFill>
                  <a:schemeClr val="bg1"/>
                </a:solidFill>
              </a:endParaRPr>
            </a:p>
          </p:txBody>
        </p:sp>
        <p:sp>
          <p:nvSpPr>
            <p:cNvPr id="32" name="矩形 31">
              <a:extLst>
                <a:ext uri="{FF2B5EF4-FFF2-40B4-BE49-F238E27FC236}">
                  <a16:creationId xmlns:a16="http://schemas.microsoft.com/office/drawing/2014/main" id="{A6306A4C-74CB-7357-ABC0-46670090F9A6}"/>
                </a:ext>
              </a:extLst>
            </p:cNvPr>
            <p:cNvSpPr/>
            <p:nvPr/>
          </p:nvSpPr>
          <p:spPr>
            <a:xfrm>
              <a:off x="7334668" y="5803174"/>
              <a:ext cx="1158240" cy="635726"/>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b="1" dirty="0">
                  <a:solidFill>
                    <a:schemeClr val="bg1"/>
                  </a:solidFill>
                </a:rPr>
                <a:t>SMTP</a:t>
              </a:r>
              <a:endParaRPr lang="zh-CN" altLang="en-US" b="1" dirty="0">
                <a:solidFill>
                  <a:schemeClr val="bg1"/>
                </a:solidFill>
              </a:endParaRPr>
            </a:p>
          </p:txBody>
        </p:sp>
        <p:cxnSp>
          <p:nvCxnSpPr>
            <p:cNvPr id="37" name="直接箭头连接符 36">
              <a:extLst>
                <a:ext uri="{FF2B5EF4-FFF2-40B4-BE49-F238E27FC236}">
                  <a16:creationId xmlns:a16="http://schemas.microsoft.com/office/drawing/2014/main" id="{B47340CA-6F96-C3AB-E2CB-EF50A57888B6}"/>
                </a:ext>
              </a:extLst>
            </p:cNvPr>
            <p:cNvCxnSpPr>
              <a:cxnSpLocks/>
              <a:stCxn id="21" idx="3"/>
              <a:endCxn id="32" idx="1"/>
            </p:cNvCxnSpPr>
            <p:nvPr/>
          </p:nvCxnSpPr>
          <p:spPr>
            <a:xfrm>
              <a:off x="4190872" y="6121037"/>
              <a:ext cx="3143796"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C7401C88-6ABD-52B2-98BB-1A0DE64FBCB2}"/>
                </a:ext>
              </a:extLst>
            </p:cNvPr>
            <p:cNvSpPr txBox="1"/>
            <p:nvPr/>
          </p:nvSpPr>
          <p:spPr>
            <a:xfrm>
              <a:off x="5061733" y="5749918"/>
              <a:ext cx="1297577" cy="369332"/>
            </a:xfrm>
            <a:prstGeom prst="rect">
              <a:avLst/>
            </a:prstGeom>
            <a:noFill/>
          </p:spPr>
          <p:txBody>
            <a:bodyPr wrap="square">
              <a:spAutoFit/>
            </a:bodyPr>
            <a:lstStyle/>
            <a:p>
              <a:pPr algn="ctr"/>
              <a:r>
                <a:rPr lang="en-US" altLang="zh-CN" b="1" dirty="0">
                  <a:solidFill>
                    <a:schemeClr val="accent4"/>
                  </a:solidFill>
                </a:rPr>
                <a:t>ASCII</a:t>
              </a:r>
              <a:r>
                <a:rPr lang="zh-CN" altLang="en-US" b="1" dirty="0">
                  <a:solidFill>
                    <a:schemeClr val="accent4"/>
                  </a:solidFill>
                </a:rPr>
                <a:t>码</a:t>
              </a:r>
            </a:p>
          </p:txBody>
        </p:sp>
      </p:grpSp>
      <p:grpSp>
        <p:nvGrpSpPr>
          <p:cNvPr id="44" name="组合 43">
            <a:extLst>
              <a:ext uri="{FF2B5EF4-FFF2-40B4-BE49-F238E27FC236}">
                <a16:creationId xmlns:a16="http://schemas.microsoft.com/office/drawing/2014/main" id="{B0551B31-98CE-663C-CB10-BF62298002C6}"/>
              </a:ext>
            </a:extLst>
          </p:cNvPr>
          <p:cNvGrpSpPr/>
          <p:nvPr/>
        </p:nvGrpSpPr>
        <p:grpSpPr>
          <a:xfrm>
            <a:off x="6624920" y="5045527"/>
            <a:ext cx="1297577" cy="757647"/>
            <a:chOff x="6624920" y="5045527"/>
            <a:chExt cx="1297577" cy="757647"/>
          </a:xfrm>
        </p:grpSpPr>
        <p:cxnSp>
          <p:nvCxnSpPr>
            <p:cNvPr id="45" name="直接箭头连接符 44">
              <a:extLst>
                <a:ext uri="{FF2B5EF4-FFF2-40B4-BE49-F238E27FC236}">
                  <a16:creationId xmlns:a16="http://schemas.microsoft.com/office/drawing/2014/main" id="{9F89D8C3-E58F-1394-C77F-40122420F1F0}"/>
                </a:ext>
              </a:extLst>
            </p:cNvPr>
            <p:cNvCxnSpPr>
              <a:cxnSpLocks/>
              <a:stCxn id="32" idx="0"/>
              <a:endCxn id="10" idx="2"/>
            </p:cNvCxnSpPr>
            <p:nvPr/>
          </p:nvCxnSpPr>
          <p:spPr>
            <a:xfrm flipV="1">
              <a:off x="7913788" y="5045527"/>
              <a:ext cx="0" cy="757647"/>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5BDDED88-2A04-4129-53E8-F175059F692B}"/>
                </a:ext>
              </a:extLst>
            </p:cNvPr>
            <p:cNvSpPr txBox="1"/>
            <p:nvPr/>
          </p:nvSpPr>
          <p:spPr>
            <a:xfrm>
              <a:off x="6624920" y="5239684"/>
              <a:ext cx="1297577" cy="369332"/>
            </a:xfrm>
            <a:prstGeom prst="rect">
              <a:avLst/>
            </a:prstGeom>
            <a:noFill/>
          </p:spPr>
          <p:txBody>
            <a:bodyPr wrap="square">
              <a:spAutoFit/>
            </a:bodyPr>
            <a:lstStyle/>
            <a:p>
              <a:pPr algn="ctr"/>
              <a:r>
                <a:rPr lang="en-US" altLang="zh-CN" b="1" dirty="0">
                  <a:solidFill>
                    <a:schemeClr val="accent4"/>
                  </a:solidFill>
                </a:rPr>
                <a:t>ASCII</a:t>
              </a:r>
              <a:r>
                <a:rPr lang="zh-CN" altLang="en-US" b="1" dirty="0">
                  <a:solidFill>
                    <a:schemeClr val="accent4"/>
                  </a:solidFill>
                </a:rPr>
                <a:t>码</a:t>
              </a:r>
            </a:p>
          </p:txBody>
        </p:sp>
      </p:grpSp>
      <p:grpSp>
        <p:nvGrpSpPr>
          <p:cNvPr id="47" name="组合 46">
            <a:extLst>
              <a:ext uri="{FF2B5EF4-FFF2-40B4-BE49-F238E27FC236}">
                <a16:creationId xmlns:a16="http://schemas.microsoft.com/office/drawing/2014/main" id="{338C3CE5-5D62-A18C-1CD9-37B35ED05ED2}"/>
              </a:ext>
            </a:extLst>
          </p:cNvPr>
          <p:cNvGrpSpPr/>
          <p:nvPr/>
        </p:nvGrpSpPr>
        <p:grpSpPr>
          <a:xfrm>
            <a:off x="6616211" y="3652154"/>
            <a:ext cx="1297577" cy="757647"/>
            <a:chOff x="6616211" y="3652154"/>
            <a:chExt cx="1297577" cy="757647"/>
          </a:xfrm>
        </p:grpSpPr>
        <p:cxnSp>
          <p:nvCxnSpPr>
            <p:cNvPr id="48" name="直接箭头连接符 47">
              <a:extLst>
                <a:ext uri="{FF2B5EF4-FFF2-40B4-BE49-F238E27FC236}">
                  <a16:creationId xmlns:a16="http://schemas.microsoft.com/office/drawing/2014/main" id="{B22FD0CD-1DF5-208A-AE07-95882396E4B0}"/>
                </a:ext>
              </a:extLst>
            </p:cNvPr>
            <p:cNvCxnSpPr>
              <a:cxnSpLocks/>
            </p:cNvCxnSpPr>
            <p:nvPr/>
          </p:nvCxnSpPr>
          <p:spPr>
            <a:xfrm flipV="1">
              <a:off x="7913788" y="3652154"/>
              <a:ext cx="0" cy="757647"/>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189F1617-D237-5917-EDF3-E47740D0A006}"/>
                </a:ext>
              </a:extLst>
            </p:cNvPr>
            <p:cNvSpPr txBox="1"/>
            <p:nvPr/>
          </p:nvSpPr>
          <p:spPr>
            <a:xfrm>
              <a:off x="6616211" y="3845416"/>
              <a:ext cx="1297577" cy="369332"/>
            </a:xfrm>
            <a:prstGeom prst="rect">
              <a:avLst/>
            </a:prstGeom>
            <a:noFill/>
          </p:spPr>
          <p:txBody>
            <a:bodyPr wrap="square">
              <a:spAutoFit/>
            </a:bodyPr>
            <a:lstStyle/>
            <a:p>
              <a:pPr algn="ctr"/>
              <a:r>
                <a:rPr lang="zh-CN" altLang="en-US" b="1" dirty="0">
                  <a:solidFill>
                    <a:srgbClr val="FF0000"/>
                  </a:solidFill>
                </a:rPr>
                <a:t>非</a:t>
              </a:r>
              <a:r>
                <a:rPr lang="en-US" altLang="zh-CN" b="1" dirty="0">
                  <a:solidFill>
                    <a:srgbClr val="FF0000"/>
                  </a:solidFill>
                </a:rPr>
                <a:t>ASCII</a:t>
              </a:r>
              <a:r>
                <a:rPr lang="zh-CN" altLang="en-US" b="1" dirty="0">
                  <a:solidFill>
                    <a:srgbClr val="FF0000"/>
                  </a:solidFill>
                </a:rPr>
                <a:t>码</a:t>
              </a:r>
            </a:p>
          </p:txBody>
        </p:sp>
      </p:grpSp>
    </p:spTree>
    <p:custDataLst>
      <p:tags r:id="rId1"/>
    </p:custDataLst>
    <p:extLst>
      <p:ext uri="{BB962C8B-B14F-4D97-AF65-F5344CB8AC3E}">
        <p14:creationId xmlns:p14="http://schemas.microsoft.com/office/powerpoint/2010/main" val="1293005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p:cTn id="13" dur="500" fill="hold"/>
                                        <p:tgtEl>
                                          <p:spTgt spid="22"/>
                                        </p:tgtEl>
                                        <p:attrNameLst>
                                          <p:attrName>ppt_w</p:attrName>
                                        </p:attrNameLst>
                                      </p:cBhvr>
                                      <p:tavLst>
                                        <p:tav tm="0">
                                          <p:val>
                                            <p:fltVal val="0"/>
                                          </p:val>
                                        </p:tav>
                                        <p:tav tm="100000">
                                          <p:val>
                                            <p:strVal val="#ppt_w"/>
                                          </p:val>
                                        </p:tav>
                                      </p:tavLst>
                                    </p:anim>
                                    <p:anim calcmode="lin" valueType="num">
                                      <p:cBhvr>
                                        <p:cTn id="14" dur="500" fill="hold"/>
                                        <p:tgtEl>
                                          <p:spTgt spid="22"/>
                                        </p:tgtEl>
                                        <p:attrNameLst>
                                          <p:attrName>ppt_h</p:attrName>
                                        </p:attrNameLst>
                                      </p:cBhvr>
                                      <p:tavLst>
                                        <p:tav tm="0">
                                          <p:val>
                                            <p:fltVal val="0"/>
                                          </p:val>
                                        </p:tav>
                                        <p:tav tm="100000">
                                          <p:val>
                                            <p:strVal val="#ppt_h"/>
                                          </p:val>
                                        </p:tav>
                                      </p:tavLst>
                                    </p:anim>
                                    <p:anim calcmode="lin" valueType="num">
                                      <p:cBhvr>
                                        <p:cTn id="15" dur="500" fill="hold"/>
                                        <p:tgtEl>
                                          <p:spTgt spid="22"/>
                                        </p:tgtEl>
                                        <p:attrNameLst>
                                          <p:attrName>style.rotation</p:attrName>
                                        </p:attrNameLst>
                                      </p:cBhvr>
                                      <p:tavLst>
                                        <p:tav tm="0">
                                          <p:val>
                                            <p:fltVal val="360"/>
                                          </p:val>
                                        </p:tav>
                                        <p:tav tm="100000">
                                          <p:val>
                                            <p:fltVal val="0"/>
                                          </p:val>
                                        </p:tav>
                                      </p:tavLst>
                                    </p:anim>
                                    <p:animEffect transition="in" filter="fade">
                                      <p:cBhvr>
                                        <p:cTn id="16" dur="500"/>
                                        <p:tgtEl>
                                          <p:spTgt spid="22"/>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 calcmode="lin" valueType="num">
                                      <p:cBhvr>
                                        <p:cTn id="26" dur="500" fill="hold"/>
                                        <p:tgtEl>
                                          <p:spTgt spid="5"/>
                                        </p:tgtEl>
                                        <p:attrNameLst>
                                          <p:attrName>style.rotation</p:attrName>
                                        </p:attrNameLst>
                                      </p:cBhvr>
                                      <p:tavLst>
                                        <p:tav tm="0">
                                          <p:val>
                                            <p:fltVal val="360"/>
                                          </p:val>
                                        </p:tav>
                                        <p:tav tm="100000">
                                          <p:val>
                                            <p:fltVal val="0"/>
                                          </p:val>
                                        </p:tav>
                                      </p:tavLst>
                                    </p:anim>
                                    <p:animEffect transition="in" filter="fade">
                                      <p:cBhvr>
                                        <p:cTn id="27" dur="500"/>
                                        <p:tgtEl>
                                          <p:spTgt spid="5"/>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9" presetClass="entr" presetSubtype="0" decel="10000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 calcmode="lin" valueType="num">
                                      <p:cBhvr>
                                        <p:cTn id="37" dur="500" fill="hold"/>
                                        <p:tgtEl>
                                          <p:spTgt spid="7"/>
                                        </p:tgtEl>
                                        <p:attrNameLst>
                                          <p:attrName>style.rotation</p:attrName>
                                        </p:attrNameLst>
                                      </p:cBhvr>
                                      <p:tavLst>
                                        <p:tav tm="0">
                                          <p:val>
                                            <p:fltVal val="360"/>
                                          </p:val>
                                        </p:tav>
                                        <p:tav tm="100000">
                                          <p:val>
                                            <p:fltVal val="0"/>
                                          </p:val>
                                        </p:tav>
                                      </p:tavLst>
                                    </p:anim>
                                    <p:animEffect transition="in" filter="fade">
                                      <p:cBhvr>
                                        <p:cTn id="38" dur="500"/>
                                        <p:tgtEl>
                                          <p:spTgt spid="7"/>
                                        </p:tgtEl>
                                      </p:cBhvr>
                                    </p:animEffect>
                                  </p:childTnLst>
                                </p:cTn>
                              </p:par>
                            </p:childTnLst>
                          </p:cTn>
                        </p:par>
                        <p:par>
                          <p:cTn id="39" fill="hold">
                            <p:stCondLst>
                              <p:cond delay="500"/>
                            </p:stCondLst>
                            <p:childTnLst>
                              <p:par>
                                <p:cTn id="40" presetID="1" presetClass="entr" presetSubtype="0" fill="hold" grpId="0" nodeType="afterEffect">
                                  <p:stCondLst>
                                    <p:cond delay="0"/>
                                  </p:stCondLst>
                                  <p:iterate type="lt">
                                    <p:tmAbs val="100"/>
                                  </p:iterate>
                                  <p:childTnLst>
                                    <p:set>
                                      <p:cBhvr>
                                        <p:cTn id="41" dur="1" fill="hold">
                                          <p:stCondLst>
                                            <p:cond delay="0"/>
                                          </p:stCondLst>
                                        </p:cTn>
                                        <p:tgtEl>
                                          <p:spTgt spid="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3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800" decel="100000"/>
                                        <p:tgtEl>
                                          <p:spTgt spid="20"/>
                                        </p:tgtEl>
                                      </p:cBhvr>
                                    </p:animEffect>
                                    <p:anim calcmode="lin" valueType="num">
                                      <p:cBhvr>
                                        <p:cTn id="47" dur="800" decel="100000" fill="hold"/>
                                        <p:tgtEl>
                                          <p:spTgt spid="20"/>
                                        </p:tgtEl>
                                        <p:attrNameLst>
                                          <p:attrName>style.rotation</p:attrName>
                                        </p:attrNameLst>
                                      </p:cBhvr>
                                      <p:tavLst>
                                        <p:tav tm="0">
                                          <p:val>
                                            <p:fltVal val="-90"/>
                                          </p:val>
                                        </p:tav>
                                        <p:tav tm="100000">
                                          <p:val>
                                            <p:fltVal val="0"/>
                                          </p:val>
                                        </p:tav>
                                      </p:tavLst>
                                    </p:anim>
                                    <p:anim calcmode="lin" valueType="num">
                                      <p:cBhvr>
                                        <p:cTn id="48" dur="800" decel="100000" fill="hold"/>
                                        <p:tgtEl>
                                          <p:spTgt spid="20"/>
                                        </p:tgtEl>
                                        <p:attrNameLst>
                                          <p:attrName>ppt_x</p:attrName>
                                        </p:attrNameLst>
                                      </p:cBhvr>
                                      <p:tavLst>
                                        <p:tav tm="0">
                                          <p:val>
                                            <p:strVal val="#ppt_x+0.4"/>
                                          </p:val>
                                        </p:tav>
                                        <p:tav tm="100000">
                                          <p:val>
                                            <p:strVal val="#ppt_x-0.05"/>
                                          </p:val>
                                        </p:tav>
                                      </p:tavLst>
                                    </p:anim>
                                    <p:anim calcmode="lin" valueType="num">
                                      <p:cBhvr>
                                        <p:cTn id="49" dur="800" decel="100000" fill="hold"/>
                                        <p:tgtEl>
                                          <p:spTgt spid="20"/>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20"/>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20"/>
                                        </p:tgtEl>
                                        <p:attrNameLst>
                                          <p:attrName>ppt_y</p:attrName>
                                        </p:attrNameLst>
                                      </p:cBhvr>
                                      <p:tavLst>
                                        <p:tav tm="0">
                                          <p:val>
                                            <p:strVal val="#ppt_y+0.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wipe(up)">
                                      <p:cBhvr>
                                        <p:cTn id="63" dur="500"/>
                                        <p:tgtEl>
                                          <p:spTgt spid="14"/>
                                        </p:tgtEl>
                                      </p:cBhvr>
                                    </p:animEffect>
                                  </p:childTnLst>
                                </p:cTn>
                              </p:par>
                            </p:childTnLst>
                          </p:cTn>
                        </p:par>
                      </p:childTnLst>
                    </p:cTn>
                  </p:par>
                  <p:par>
                    <p:cTn id="64" fill="hold">
                      <p:stCondLst>
                        <p:cond delay="indefinite"/>
                      </p:stCondLst>
                      <p:childTnLst>
                        <p:par>
                          <p:cTn id="65" fill="hold">
                            <p:stCondLst>
                              <p:cond delay="0"/>
                            </p:stCondLst>
                            <p:childTnLst>
                              <p:par>
                                <p:cTn id="66" presetID="49" presetClass="entr" presetSubtype="0" decel="10000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anim calcmode="lin" valueType="num">
                                      <p:cBhvr>
                                        <p:cTn id="68" dur="500" fill="hold"/>
                                        <p:tgtEl>
                                          <p:spTgt spid="9"/>
                                        </p:tgtEl>
                                        <p:attrNameLst>
                                          <p:attrName>ppt_w</p:attrName>
                                        </p:attrNameLst>
                                      </p:cBhvr>
                                      <p:tavLst>
                                        <p:tav tm="0">
                                          <p:val>
                                            <p:fltVal val="0"/>
                                          </p:val>
                                        </p:tav>
                                        <p:tav tm="100000">
                                          <p:val>
                                            <p:strVal val="#ppt_w"/>
                                          </p:val>
                                        </p:tav>
                                      </p:tavLst>
                                    </p:anim>
                                    <p:anim calcmode="lin" valueType="num">
                                      <p:cBhvr>
                                        <p:cTn id="69" dur="500" fill="hold"/>
                                        <p:tgtEl>
                                          <p:spTgt spid="9"/>
                                        </p:tgtEl>
                                        <p:attrNameLst>
                                          <p:attrName>ppt_h</p:attrName>
                                        </p:attrNameLst>
                                      </p:cBhvr>
                                      <p:tavLst>
                                        <p:tav tm="0">
                                          <p:val>
                                            <p:fltVal val="0"/>
                                          </p:val>
                                        </p:tav>
                                        <p:tav tm="100000">
                                          <p:val>
                                            <p:strVal val="#ppt_h"/>
                                          </p:val>
                                        </p:tav>
                                      </p:tavLst>
                                    </p:anim>
                                    <p:anim calcmode="lin" valueType="num">
                                      <p:cBhvr>
                                        <p:cTn id="70" dur="500" fill="hold"/>
                                        <p:tgtEl>
                                          <p:spTgt spid="9"/>
                                        </p:tgtEl>
                                        <p:attrNameLst>
                                          <p:attrName>style.rotation</p:attrName>
                                        </p:attrNameLst>
                                      </p:cBhvr>
                                      <p:tavLst>
                                        <p:tav tm="0">
                                          <p:val>
                                            <p:fltVal val="360"/>
                                          </p:val>
                                        </p:tav>
                                        <p:tav tm="100000">
                                          <p:val>
                                            <p:fltVal val="0"/>
                                          </p:val>
                                        </p:tav>
                                      </p:tavLst>
                                    </p:anim>
                                    <p:animEffect transition="in" filter="fad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up)">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nodeType="clickEffect">
                                  <p:stCondLst>
                                    <p:cond delay="0"/>
                                  </p:stCondLst>
                                  <p:childTnLst>
                                    <p:set>
                                      <p:cBhvr>
                                        <p:cTn id="80" dur="1" fill="hold">
                                          <p:stCondLst>
                                            <p:cond delay="0"/>
                                          </p:stCondLst>
                                        </p:cTn>
                                        <p:tgtEl>
                                          <p:spTgt spid="44"/>
                                        </p:tgtEl>
                                        <p:attrNameLst>
                                          <p:attrName>style.visibility</p:attrName>
                                        </p:attrNameLst>
                                      </p:cBhvr>
                                      <p:to>
                                        <p:strVal val="visible"/>
                                      </p:to>
                                    </p:set>
                                    <p:animEffect transition="in" filter="wipe(down)">
                                      <p:cBhvr>
                                        <p:cTn id="81" dur="500"/>
                                        <p:tgtEl>
                                          <p:spTgt spid="44"/>
                                        </p:tgtEl>
                                      </p:cBhvr>
                                    </p:animEffect>
                                  </p:childTnLst>
                                </p:cTn>
                              </p:par>
                            </p:childTnLst>
                          </p:cTn>
                        </p:par>
                      </p:childTnLst>
                    </p:cTn>
                  </p:par>
                  <p:par>
                    <p:cTn id="82" fill="hold">
                      <p:stCondLst>
                        <p:cond delay="indefinite"/>
                      </p:stCondLst>
                      <p:childTnLst>
                        <p:par>
                          <p:cTn id="83" fill="hold">
                            <p:stCondLst>
                              <p:cond delay="0"/>
                            </p:stCondLst>
                            <p:childTnLst>
                              <p:par>
                                <p:cTn id="84" presetID="49" presetClass="entr" presetSubtype="0" decel="100000" fill="hold" grpId="0" nodeType="clickEffect">
                                  <p:stCondLst>
                                    <p:cond delay="0"/>
                                  </p:stCondLst>
                                  <p:childTnLst>
                                    <p:set>
                                      <p:cBhvr>
                                        <p:cTn id="85" dur="1" fill="hold">
                                          <p:stCondLst>
                                            <p:cond delay="0"/>
                                          </p:stCondLst>
                                        </p:cTn>
                                        <p:tgtEl>
                                          <p:spTgt spid="10"/>
                                        </p:tgtEl>
                                        <p:attrNameLst>
                                          <p:attrName>style.visibility</p:attrName>
                                        </p:attrNameLst>
                                      </p:cBhvr>
                                      <p:to>
                                        <p:strVal val="visible"/>
                                      </p:to>
                                    </p:set>
                                    <p:anim calcmode="lin" valueType="num">
                                      <p:cBhvr>
                                        <p:cTn id="86" dur="500" fill="hold"/>
                                        <p:tgtEl>
                                          <p:spTgt spid="10"/>
                                        </p:tgtEl>
                                        <p:attrNameLst>
                                          <p:attrName>ppt_w</p:attrName>
                                        </p:attrNameLst>
                                      </p:cBhvr>
                                      <p:tavLst>
                                        <p:tav tm="0">
                                          <p:val>
                                            <p:fltVal val="0"/>
                                          </p:val>
                                        </p:tav>
                                        <p:tav tm="100000">
                                          <p:val>
                                            <p:strVal val="#ppt_w"/>
                                          </p:val>
                                        </p:tav>
                                      </p:tavLst>
                                    </p:anim>
                                    <p:anim calcmode="lin" valueType="num">
                                      <p:cBhvr>
                                        <p:cTn id="87" dur="500" fill="hold"/>
                                        <p:tgtEl>
                                          <p:spTgt spid="10"/>
                                        </p:tgtEl>
                                        <p:attrNameLst>
                                          <p:attrName>ppt_h</p:attrName>
                                        </p:attrNameLst>
                                      </p:cBhvr>
                                      <p:tavLst>
                                        <p:tav tm="0">
                                          <p:val>
                                            <p:fltVal val="0"/>
                                          </p:val>
                                        </p:tav>
                                        <p:tav tm="100000">
                                          <p:val>
                                            <p:strVal val="#ppt_h"/>
                                          </p:val>
                                        </p:tav>
                                      </p:tavLst>
                                    </p:anim>
                                    <p:anim calcmode="lin" valueType="num">
                                      <p:cBhvr>
                                        <p:cTn id="88" dur="500" fill="hold"/>
                                        <p:tgtEl>
                                          <p:spTgt spid="10"/>
                                        </p:tgtEl>
                                        <p:attrNameLst>
                                          <p:attrName>style.rotation</p:attrName>
                                        </p:attrNameLst>
                                      </p:cBhvr>
                                      <p:tavLst>
                                        <p:tav tm="0">
                                          <p:val>
                                            <p:fltVal val="360"/>
                                          </p:val>
                                        </p:tav>
                                        <p:tav tm="100000">
                                          <p:val>
                                            <p:fltVal val="0"/>
                                          </p:val>
                                        </p:tav>
                                      </p:tavLst>
                                    </p:anim>
                                    <p:animEffect transition="in" filter="fade">
                                      <p:cBhvr>
                                        <p:cTn id="89" dur="500"/>
                                        <p:tgtEl>
                                          <p:spTgt spid="1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wipe(down)">
                                      <p:cBhvr>
                                        <p:cTn id="9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5" grpId="0" animBg="1"/>
      <p:bldP spid="6" grpId="0"/>
      <p:bldP spid="7" grpId="0" animBg="1"/>
      <p:bldP spid="8" grpId="0"/>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多用途因特网邮件扩展</a:t>
              </a:r>
            </a:p>
          </p:txBody>
        </p:sp>
      </p:grpSp>
      <p:sp>
        <p:nvSpPr>
          <p:cNvPr id="22" name="矩形 21">
            <a:extLst>
              <a:ext uri="{FF2B5EF4-FFF2-40B4-BE49-F238E27FC236}">
                <a16:creationId xmlns:a16="http://schemas.microsoft.com/office/drawing/2014/main" id="{C98D195D-B59D-A308-16C4-41BCCC2C0B4B}"/>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íşlïḍè">
            <a:extLst>
              <a:ext uri="{FF2B5EF4-FFF2-40B4-BE49-F238E27FC236}">
                <a16:creationId xmlns:a16="http://schemas.microsoft.com/office/drawing/2014/main" id="{36CA0B01-BD05-BC1E-C74D-F713CA9B17A6}"/>
              </a:ext>
            </a:extLst>
          </p:cNvPr>
          <p:cNvSpPr txBox="1"/>
          <p:nvPr/>
        </p:nvSpPr>
        <p:spPr>
          <a:xfrm>
            <a:off x="1293757" y="1192132"/>
            <a:ext cx="10593443" cy="459459"/>
          </a:xfrm>
          <a:prstGeom prst="rect">
            <a:avLst/>
          </a:prstGeom>
          <a:noFill/>
        </p:spPr>
        <p:txBody>
          <a:bodyPr wrap="square" lIns="91440" tIns="45720" rIns="91440" bIns="45720" anchor="ctr">
            <a:noAutofit/>
          </a:bodyPr>
          <a:lstStyle/>
          <a:p>
            <a:r>
              <a:rPr lang="en-US" altLang="zh-CN" b="1" dirty="0">
                <a:solidFill>
                  <a:schemeClr val="accent1">
                    <a:lumMod val="75000"/>
                  </a:schemeClr>
                </a:solidFill>
              </a:rPr>
              <a:t>SMTP</a:t>
            </a:r>
            <a:r>
              <a:rPr lang="zh-CN" altLang="en-US" b="1" dirty="0">
                <a:solidFill>
                  <a:schemeClr val="accent1">
                    <a:lumMod val="75000"/>
                  </a:schemeClr>
                </a:solidFill>
              </a:rPr>
              <a:t>协议只能传送</a:t>
            </a:r>
            <a:r>
              <a:rPr lang="en-US" altLang="zh-CN" b="1" dirty="0">
                <a:solidFill>
                  <a:schemeClr val="accent1">
                    <a:lumMod val="75000"/>
                  </a:schemeClr>
                </a:solidFill>
              </a:rPr>
              <a:t>ASCII</a:t>
            </a:r>
            <a:r>
              <a:rPr lang="zh-CN" altLang="en-US" b="1" dirty="0">
                <a:solidFill>
                  <a:schemeClr val="accent1">
                    <a:lumMod val="75000"/>
                  </a:schemeClr>
                </a:solidFill>
              </a:rPr>
              <a:t>码文本数据</a:t>
            </a:r>
            <a:r>
              <a:rPr lang="zh-CN" altLang="en-US" b="1" dirty="0"/>
              <a:t>，不能传送可执行文件或其他的二进制对象。</a:t>
            </a:r>
            <a:endParaRPr lang="en-US" altLang="zh-CN" b="1" dirty="0">
              <a:solidFill>
                <a:srgbClr val="C00000"/>
              </a:solidFill>
            </a:endParaRPr>
          </a:p>
        </p:txBody>
      </p:sp>
      <p:sp>
        <p:nvSpPr>
          <p:cNvPr id="5" name="矩形 4">
            <a:extLst>
              <a:ext uri="{FF2B5EF4-FFF2-40B4-BE49-F238E27FC236}">
                <a16:creationId xmlns:a16="http://schemas.microsoft.com/office/drawing/2014/main" id="{64EECAAD-56EA-C0A4-E89B-21E3737080F7}"/>
              </a:ext>
            </a:extLst>
          </p:cNvPr>
          <p:cNvSpPr/>
          <p:nvPr/>
        </p:nvSpPr>
        <p:spPr>
          <a:xfrm>
            <a:off x="1016000" y="173265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2201E2F-0E72-AD64-58BF-FB6F92E90A79}"/>
              </a:ext>
            </a:extLst>
          </p:cNvPr>
          <p:cNvSpPr txBox="1"/>
          <p:nvPr/>
        </p:nvSpPr>
        <p:spPr>
          <a:xfrm>
            <a:off x="1293757" y="1651591"/>
            <a:ext cx="10593443" cy="708837"/>
          </a:xfrm>
          <a:prstGeom prst="rect">
            <a:avLst/>
          </a:prstGeom>
          <a:noFill/>
        </p:spPr>
        <p:txBody>
          <a:bodyPr wrap="square" lIns="91440" tIns="45720" rIns="91440" bIns="45720" anchor="ctr">
            <a:noAutofit/>
          </a:bodyPr>
          <a:lstStyle/>
          <a:p>
            <a:r>
              <a:rPr lang="en-US" altLang="zh-CN" b="1" dirty="0"/>
              <a:t>SMTP</a:t>
            </a:r>
            <a:r>
              <a:rPr lang="zh-CN" altLang="en-US" b="1" dirty="0"/>
              <a:t>不能满足传送多媒体邮件（例如带有图片、音频或视频数据）的需要。并且许多其他非英语国家的文字（例如中文、俄文、甚至带有重音符号的法文或德文）也无法用</a:t>
            </a:r>
            <a:r>
              <a:rPr lang="en-US" altLang="zh-CN" b="1" dirty="0"/>
              <a:t>SMTP</a:t>
            </a:r>
            <a:r>
              <a:rPr lang="zh-CN" altLang="en-US" b="1" dirty="0"/>
              <a:t>传送。</a:t>
            </a:r>
            <a:endParaRPr lang="en-US" altLang="zh-CN" b="1" dirty="0"/>
          </a:p>
        </p:txBody>
      </p:sp>
      <p:sp>
        <p:nvSpPr>
          <p:cNvPr id="7" name="矩形 6">
            <a:extLst>
              <a:ext uri="{FF2B5EF4-FFF2-40B4-BE49-F238E27FC236}">
                <a16:creationId xmlns:a16="http://schemas.microsoft.com/office/drawing/2014/main" id="{6E117FC9-22CD-87E0-E86E-0785629ABAAE}"/>
              </a:ext>
            </a:extLst>
          </p:cNvPr>
          <p:cNvSpPr/>
          <p:nvPr/>
        </p:nvSpPr>
        <p:spPr>
          <a:xfrm>
            <a:off x="1016000" y="244149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30FFB004-DE59-AFE3-B75A-2E08D738221B}"/>
              </a:ext>
            </a:extLst>
          </p:cNvPr>
          <p:cNvSpPr txBox="1"/>
          <p:nvPr/>
        </p:nvSpPr>
        <p:spPr>
          <a:xfrm>
            <a:off x="1293757" y="2360428"/>
            <a:ext cx="10593443" cy="708837"/>
          </a:xfrm>
          <a:prstGeom prst="rect">
            <a:avLst/>
          </a:prstGeom>
          <a:noFill/>
        </p:spPr>
        <p:txBody>
          <a:bodyPr wrap="square" lIns="91440" tIns="45720" rIns="91440" bIns="45720" anchor="ctr">
            <a:noAutofit/>
          </a:bodyPr>
          <a:lstStyle/>
          <a:p>
            <a:r>
              <a:rPr lang="zh-CN" altLang="en-US" b="1" dirty="0"/>
              <a:t>为解决</a:t>
            </a:r>
            <a:r>
              <a:rPr lang="en-US" altLang="zh-CN" b="1" dirty="0"/>
              <a:t>SMTP</a:t>
            </a:r>
            <a:r>
              <a:rPr lang="zh-CN" altLang="en-US" b="1" dirty="0"/>
              <a:t>传送非</a:t>
            </a:r>
            <a:r>
              <a:rPr lang="en-US" altLang="zh-CN" b="1" dirty="0"/>
              <a:t>ASCII</a:t>
            </a:r>
            <a:r>
              <a:rPr lang="zh-CN" altLang="en-US" b="1" dirty="0"/>
              <a:t>码文本的问题，提出了</a:t>
            </a:r>
            <a:r>
              <a:rPr lang="zh-CN" altLang="en-US" b="1" dirty="0">
                <a:solidFill>
                  <a:schemeClr val="accent1">
                    <a:lumMod val="75000"/>
                  </a:schemeClr>
                </a:solidFill>
              </a:rPr>
              <a:t>多用途因特网邮件扩展</a:t>
            </a:r>
            <a:r>
              <a:rPr lang="en-US" altLang="zh-CN" b="1" dirty="0">
                <a:solidFill>
                  <a:schemeClr val="accent1">
                    <a:lumMod val="75000"/>
                  </a:schemeClr>
                </a:solidFill>
              </a:rPr>
              <a:t> </a:t>
            </a:r>
            <a:r>
              <a:rPr lang="en-US" altLang="zh-CN" b="1" dirty="0"/>
              <a:t>(</a:t>
            </a:r>
            <a:r>
              <a:rPr lang="en-US" altLang="zh-CN" b="1" dirty="0">
                <a:solidFill>
                  <a:schemeClr val="accent1">
                    <a:lumMod val="75000"/>
                  </a:schemeClr>
                </a:solidFill>
              </a:rPr>
              <a:t>M</a:t>
            </a:r>
            <a:r>
              <a:rPr lang="en-US" altLang="zh-CN" b="1" dirty="0"/>
              <a:t>ultipurpose </a:t>
            </a:r>
            <a:r>
              <a:rPr lang="en-US" altLang="zh-CN" b="1" dirty="0">
                <a:solidFill>
                  <a:schemeClr val="accent1">
                    <a:lumMod val="75000"/>
                  </a:schemeClr>
                </a:solidFill>
              </a:rPr>
              <a:t>I</a:t>
            </a:r>
            <a:r>
              <a:rPr lang="en-US" altLang="zh-CN" b="1" dirty="0"/>
              <a:t>nternet </a:t>
            </a:r>
            <a:r>
              <a:rPr lang="en-US" altLang="zh-CN" b="1" dirty="0">
                <a:solidFill>
                  <a:schemeClr val="accent1">
                    <a:lumMod val="75000"/>
                  </a:schemeClr>
                </a:solidFill>
              </a:rPr>
              <a:t>M</a:t>
            </a:r>
            <a:r>
              <a:rPr lang="en-US" altLang="zh-CN" b="1" dirty="0"/>
              <a:t>ail </a:t>
            </a:r>
            <a:r>
              <a:rPr lang="en-US" altLang="zh-CN" b="1" dirty="0">
                <a:solidFill>
                  <a:schemeClr val="accent1">
                    <a:lumMod val="75000"/>
                  </a:schemeClr>
                </a:solidFill>
              </a:rPr>
              <a:t>E</a:t>
            </a:r>
            <a:r>
              <a:rPr lang="en-US" altLang="zh-CN" b="1" dirty="0"/>
              <a:t>xtensions</a:t>
            </a:r>
            <a:r>
              <a:rPr lang="zh-CN" altLang="en-US" b="1" dirty="0"/>
              <a:t>，</a:t>
            </a:r>
            <a:r>
              <a:rPr lang="en-US" altLang="zh-CN" b="1" dirty="0">
                <a:solidFill>
                  <a:schemeClr val="accent1">
                    <a:lumMod val="75000"/>
                  </a:schemeClr>
                </a:solidFill>
              </a:rPr>
              <a:t>MIME</a:t>
            </a:r>
            <a:r>
              <a:rPr lang="en-US" altLang="zh-CN" b="1" dirty="0"/>
              <a:t>)</a:t>
            </a:r>
            <a:r>
              <a:rPr lang="zh-CN" altLang="en-US" b="1" dirty="0"/>
              <a:t>。</a:t>
            </a:r>
            <a:endParaRPr lang="en-US" altLang="zh-CN" b="1" dirty="0"/>
          </a:p>
        </p:txBody>
      </p:sp>
      <p:sp>
        <p:nvSpPr>
          <p:cNvPr id="24" name="矩形 23">
            <a:extLst>
              <a:ext uri="{FF2B5EF4-FFF2-40B4-BE49-F238E27FC236}">
                <a16:creationId xmlns:a16="http://schemas.microsoft.com/office/drawing/2014/main" id="{7FD13199-04CC-9B0D-27EB-AB4ECDE8F56C}"/>
              </a:ext>
            </a:extLst>
          </p:cNvPr>
          <p:cNvSpPr/>
          <p:nvPr/>
        </p:nvSpPr>
        <p:spPr>
          <a:xfrm>
            <a:off x="1423582" y="316096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CDB2E009-067C-AE15-F6B5-F39D36F72136}"/>
              </a:ext>
            </a:extLst>
          </p:cNvPr>
          <p:cNvSpPr txBox="1"/>
          <p:nvPr/>
        </p:nvSpPr>
        <p:spPr>
          <a:xfrm>
            <a:off x="1701339" y="3079900"/>
            <a:ext cx="10185861" cy="435934"/>
          </a:xfrm>
          <a:prstGeom prst="rect">
            <a:avLst/>
          </a:prstGeom>
          <a:noFill/>
        </p:spPr>
        <p:txBody>
          <a:bodyPr wrap="square" lIns="91440" tIns="45720" rIns="91440" bIns="45720" anchor="ctr">
            <a:noAutofit/>
          </a:bodyPr>
          <a:lstStyle/>
          <a:p>
            <a:r>
              <a:rPr lang="zh-CN" altLang="en-US" b="1" dirty="0"/>
              <a:t>增加了</a:t>
            </a:r>
            <a:r>
              <a:rPr lang="en-US" altLang="zh-CN" b="1" dirty="0"/>
              <a:t>5</a:t>
            </a:r>
            <a:r>
              <a:rPr lang="zh-CN" altLang="en-US" b="1" dirty="0"/>
              <a:t>个新的邮件首部字段，这些字段提供了有关邮件主体的信息。</a:t>
            </a:r>
            <a:endParaRPr lang="en-US" altLang="zh-CN" b="1" dirty="0"/>
          </a:p>
        </p:txBody>
      </p:sp>
      <p:sp>
        <p:nvSpPr>
          <p:cNvPr id="26" name="矩形 25">
            <a:extLst>
              <a:ext uri="{FF2B5EF4-FFF2-40B4-BE49-F238E27FC236}">
                <a16:creationId xmlns:a16="http://schemas.microsoft.com/office/drawing/2014/main" id="{23BA467E-E806-CD5F-C73D-6274ACD03724}"/>
              </a:ext>
            </a:extLst>
          </p:cNvPr>
          <p:cNvSpPr/>
          <p:nvPr/>
        </p:nvSpPr>
        <p:spPr>
          <a:xfrm>
            <a:off x="1423582" y="3641196"/>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íşlïḍè">
            <a:extLst>
              <a:ext uri="{FF2B5EF4-FFF2-40B4-BE49-F238E27FC236}">
                <a16:creationId xmlns:a16="http://schemas.microsoft.com/office/drawing/2014/main" id="{ED9DFE70-9D06-CF97-016F-AC4EE0475527}"/>
              </a:ext>
            </a:extLst>
          </p:cNvPr>
          <p:cNvSpPr txBox="1"/>
          <p:nvPr/>
        </p:nvSpPr>
        <p:spPr>
          <a:xfrm>
            <a:off x="1701339" y="3560135"/>
            <a:ext cx="10185861" cy="435934"/>
          </a:xfrm>
          <a:prstGeom prst="rect">
            <a:avLst/>
          </a:prstGeom>
          <a:noFill/>
        </p:spPr>
        <p:txBody>
          <a:bodyPr wrap="square" lIns="91440" tIns="45720" rIns="91440" bIns="45720" anchor="ctr">
            <a:noAutofit/>
          </a:bodyPr>
          <a:lstStyle/>
          <a:p>
            <a:r>
              <a:rPr lang="zh-CN" altLang="en-US" b="1" dirty="0"/>
              <a:t>定义了许多邮件内容的格式，对多媒体电子邮件的表示方法进行了标准化。</a:t>
            </a:r>
            <a:endParaRPr lang="en-US" altLang="zh-CN" b="1" dirty="0"/>
          </a:p>
        </p:txBody>
      </p:sp>
      <p:sp>
        <p:nvSpPr>
          <p:cNvPr id="28" name="矩形 27">
            <a:extLst>
              <a:ext uri="{FF2B5EF4-FFF2-40B4-BE49-F238E27FC236}">
                <a16:creationId xmlns:a16="http://schemas.microsoft.com/office/drawing/2014/main" id="{5EADB606-E67F-B054-B87E-41AFB7AF80DC}"/>
              </a:ext>
            </a:extLst>
          </p:cNvPr>
          <p:cNvSpPr/>
          <p:nvPr/>
        </p:nvSpPr>
        <p:spPr>
          <a:xfrm>
            <a:off x="1423582" y="4202492"/>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EF07DB33-EFDB-44C7-9951-D953414F9BFA}"/>
              </a:ext>
            </a:extLst>
          </p:cNvPr>
          <p:cNvSpPr txBox="1"/>
          <p:nvPr/>
        </p:nvSpPr>
        <p:spPr>
          <a:xfrm>
            <a:off x="1701339" y="4121431"/>
            <a:ext cx="10185861" cy="435934"/>
          </a:xfrm>
          <a:prstGeom prst="rect">
            <a:avLst/>
          </a:prstGeom>
          <a:noFill/>
        </p:spPr>
        <p:txBody>
          <a:bodyPr wrap="square" lIns="91440" tIns="45720" rIns="91440" bIns="45720" anchor="ctr">
            <a:noAutofit/>
          </a:bodyPr>
          <a:lstStyle/>
          <a:p>
            <a:r>
              <a:rPr lang="zh-CN" altLang="en-US" b="1" dirty="0"/>
              <a:t>定义了传送编码，可对任何内容格式进行转换，而不会被邮件系统改变。</a:t>
            </a:r>
            <a:endParaRPr lang="en-US" altLang="zh-CN" b="1" dirty="0"/>
          </a:p>
        </p:txBody>
      </p:sp>
      <p:sp>
        <p:nvSpPr>
          <p:cNvPr id="30" name="矩形 29">
            <a:extLst>
              <a:ext uri="{FF2B5EF4-FFF2-40B4-BE49-F238E27FC236}">
                <a16:creationId xmlns:a16="http://schemas.microsoft.com/office/drawing/2014/main" id="{AF50A64C-CEC5-7DC4-DA99-6B46442AC1E1}"/>
              </a:ext>
            </a:extLst>
          </p:cNvPr>
          <p:cNvSpPr/>
          <p:nvPr/>
        </p:nvSpPr>
        <p:spPr>
          <a:xfrm>
            <a:off x="1016000" y="468272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íşlïḍè">
            <a:extLst>
              <a:ext uri="{FF2B5EF4-FFF2-40B4-BE49-F238E27FC236}">
                <a16:creationId xmlns:a16="http://schemas.microsoft.com/office/drawing/2014/main" id="{5F428876-A534-7307-ECD9-FC60931BA3C4}"/>
              </a:ext>
            </a:extLst>
          </p:cNvPr>
          <p:cNvSpPr txBox="1"/>
          <p:nvPr/>
        </p:nvSpPr>
        <p:spPr>
          <a:xfrm>
            <a:off x="1293757" y="4601665"/>
            <a:ext cx="10593443" cy="459459"/>
          </a:xfrm>
          <a:prstGeom prst="rect">
            <a:avLst/>
          </a:prstGeom>
          <a:noFill/>
        </p:spPr>
        <p:txBody>
          <a:bodyPr wrap="square" lIns="91440" tIns="45720" rIns="91440" bIns="45720" anchor="ctr">
            <a:noAutofit/>
          </a:bodyPr>
          <a:lstStyle/>
          <a:p>
            <a:r>
              <a:rPr lang="zh-CN" altLang="en-US" b="1" dirty="0">
                <a:solidFill>
                  <a:schemeClr val="accent1">
                    <a:lumMod val="75000"/>
                  </a:schemeClr>
                </a:solidFill>
              </a:rPr>
              <a:t>实际上，</a:t>
            </a:r>
            <a:r>
              <a:rPr lang="en-US" altLang="zh-CN" b="1" dirty="0">
                <a:solidFill>
                  <a:schemeClr val="accent1">
                    <a:lumMod val="75000"/>
                  </a:schemeClr>
                </a:solidFill>
              </a:rPr>
              <a:t>MIME</a:t>
            </a:r>
            <a:r>
              <a:rPr lang="zh-CN" altLang="en-US" b="1" dirty="0">
                <a:solidFill>
                  <a:schemeClr val="accent1">
                    <a:lumMod val="75000"/>
                  </a:schemeClr>
                </a:solidFill>
              </a:rPr>
              <a:t>不仅仅用于</a:t>
            </a:r>
            <a:r>
              <a:rPr lang="en-US" altLang="zh-CN" b="1" dirty="0">
                <a:solidFill>
                  <a:schemeClr val="accent1">
                    <a:lumMod val="75000"/>
                  </a:schemeClr>
                </a:solidFill>
              </a:rPr>
              <a:t>SMTP</a:t>
            </a:r>
            <a:r>
              <a:rPr lang="zh-CN" altLang="en-US" b="1" dirty="0">
                <a:solidFill>
                  <a:schemeClr val="accent1">
                    <a:lumMod val="75000"/>
                  </a:schemeClr>
                </a:solidFill>
              </a:rPr>
              <a:t>，也用于后来的同样面向</a:t>
            </a:r>
            <a:r>
              <a:rPr lang="en-US" altLang="zh-CN" b="1" dirty="0">
                <a:solidFill>
                  <a:schemeClr val="accent1">
                    <a:lumMod val="75000"/>
                  </a:schemeClr>
                </a:solidFill>
              </a:rPr>
              <a:t>ASCII</a:t>
            </a:r>
            <a:r>
              <a:rPr lang="zh-CN" altLang="en-US" b="1" dirty="0">
                <a:solidFill>
                  <a:schemeClr val="accent1">
                    <a:lumMod val="75000"/>
                  </a:schemeClr>
                </a:solidFill>
              </a:rPr>
              <a:t>字符的</a:t>
            </a:r>
            <a:r>
              <a:rPr lang="en-US" altLang="zh-CN" b="1" dirty="0">
                <a:solidFill>
                  <a:schemeClr val="accent1">
                    <a:lumMod val="75000"/>
                  </a:schemeClr>
                </a:solidFill>
              </a:rPr>
              <a:t>HTTP</a:t>
            </a:r>
            <a:r>
              <a:rPr lang="zh-CN" altLang="en-US" b="1" dirty="0">
                <a:solidFill>
                  <a:schemeClr val="accent1">
                    <a:lumMod val="75000"/>
                  </a:schemeClr>
                </a:solidFill>
              </a:rPr>
              <a:t>。</a:t>
            </a:r>
            <a:endParaRPr lang="en-US" altLang="zh-CN" b="1" dirty="0">
              <a:solidFill>
                <a:schemeClr val="accent1">
                  <a:lumMod val="75000"/>
                </a:schemeClr>
              </a:solidFill>
            </a:endParaRPr>
          </a:p>
        </p:txBody>
      </p:sp>
    </p:spTree>
    <p:custDataLst>
      <p:tags r:id="rId1"/>
    </p:custDataLst>
    <p:extLst>
      <p:ext uri="{BB962C8B-B14F-4D97-AF65-F5344CB8AC3E}">
        <p14:creationId xmlns:p14="http://schemas.microsoft.com/office/powerpoint/2010/main" val="73472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 calcmode="lin" valueType="num">
                                      <p:cBhvr>
                                        <p:cTn id="9" dur="500" fill="hold"/>
                                        <p:tgtEl>
                                          <p:spTgt spid="24"/>
                                        </p:tgtEl>
                                        <p:attrNameLst>
                                          <p:attrName>style.rotation</p:attrName>
                                        </p:attrNameLst>
                                      </p:cBhvr>
                                      <p:tavLst>
                                        <p:tav tm="0">
                                          <p:val>
                                            <p:fltVal val="360"/>
                                          </p:val>
                                        </p:tav>
                                        <p:tav tm="100000">
                                          <p:val>
                                            <p:fltVal val="0"/>
                                          </p:val>
                                        </p:tav>
                                      </p:tavLst>
                                    </p:anim>
                                    <p:animEffect transition="in" filter="fade">
                                      <p:cBhvr>
                                        <p:cTn id="10" dur="500"/>
                                        <p:tgtEl>
                                          <p:spTgt spid="24"/>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p:cTn id="18" dur="500" fill="hold"/>
                                        <p:tgtEl>
                                          <p:spTgt spid="26"/>
                                        </p:tgtEl>
                                        <p:attrNameLst>
                                          <p:attrName>ppt_w</p:attrName>
                                        </p:attrNameLst>
                                      </p:cBhvr>
                                      <p:tavLst>
                                        <p:tav tm="0">
                                          <p:val>
                                            <p:fltVal val="0"/>
                                          </p:val>
                                        </p:tav>
                                        <p:tav tm="100000">
                                          <p:val>
                                            <p:strVal val="#ppt_w"/>
                                          </p:val>
                                        </p:tav>
                                      </p:tavLst>
                                    </p:anim>
                                    <p:anim calcmode="lin" valueType="num">
                                      <p:cBhvr>
                                        <p:cTn id="19" dur="500" fill="hold"/>
                                        <p:tgtEl>
                                          <p:spTgt spid="26"/>
                                        </p:tgtEl>
                                        <p:attrNameLst>
                                          <p:attrName>ppt_h</p:attrName>
                                        </p:attrNameLst>
                                      </p:cBhvr>
                                      <p:tavLst>
                                        <p:tav tm="0">
                                          <p:val>
                                            <p:fltVal val="0"/>
                                          </p:val>
                                        </p:tav>
                                        <p:tav tm="100000">
                                          <p:val>
                                            <p:strVal val="#ppt_h"/>
                                          </p:val>
                                        </p:tav>
                                      </p:tavLst>
                                    </p:anim>
                                    <p:anim calcmode="lin" valueType="num">
                                      <p:cBhvr>
                                        <p:cTn id="20" dur="500" fill="hold"/>
                                        <p:tgtEl>
                                          <p:spTgt spid="26"/>
                                        </p:tgtEl>
                                        <p:attrNameLst>
                                          <p:attrName>style.rotation</p:attrName>
                                        </p:attrNameLst>
                                      </p:cBhvr>
                                      <p:tavLst>
                                        <p:tav tm="0">
                                          <p:val>
                                            <p:fltVal val="360"/>
                                          </p:val>
                                        </p:tav>
                                        <p:tav tm="100000">
                                          <p:val>
                                            <p:fltVal val="0"/>
                                          </p:val>
                                        </p:tav>
                                      </p:tavLst>
                                    </p:anim>
                                    <p:animEffect transition="in" filter="fade">
                                      <p:cBhvr>
                                        <p:cTn id="21" dur="500"/>
                                        <p:tgtEl>
                                          <p:spTgt spid="2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 calcmode="lin" valueType="num">
                                      <p:cBhvr>
                                        <p:cTn id="31" dur="500" fill="hold"/>
                                        <p:tgtEl>
                                          <p:spTgt spid="28"/>
                                        </p:tgtEl>
                                        <p:attrNameLst>
                                          <p:attrName>style.rotation</p:attrName>
                                        </p:attrNameLst>
                                      </p:cBhvr>
                                      <p:tavLst>
                                        <p:tav tm="0">
                                          <p:val>
                                            <p:fltVal val="360"/>
                                          </p:val>
                                        </p:tav>
                                        <p:tav tm="100000">
                                          <p:val>
                                            <p:fltVal val="0"/>
                                          </p:val>
                                        </p:tav>
                                      </p:tavLst>
                                    </p:anim>
                                    <p:animEffect transition="in" filter="fade">
                                      <p:cBhvr>
                                        <p:cTn id="32" dur="500"/>
                                        <p:tgtEl>
                                          <p:spTgt spid="28"/>
                                        </p:tgtEl>
                                      </p:cBhvr>
                                    </p:animEffect>
                                  </p:childTnLst>
                                </p:cTn>
                              </p:par>
                            </p:childTnLst>
                          </p:cTn>
                        </p:par>
                        <p:par>
                          <p:cTn id="33" fill="hold">
                            <p:stCondLst>
                              <p:cond delay="500"/>
                            </p:stCondLst>
                            <p:childTnLst>
                              <p:par>
                                <p:cTn id="34" presetID="1" presetClass="entr" presetSubtype="0" fill="hold" grpId="0" nodeType="afterEffect">
                                  <p:stCondLst>
                                    <p:cond delay="0"/>
                                  </p:stCondLst>
                                  <p:iterate type="lt">
                                    <p:tmAbs val="100"/>
                                  </p:iterate>
                                  <p:childTnLst>
                                    <p:set>
                                      <p:cBhvr>
                                        <p:cTn id="35" dur="1" fill="hold">
                                          <p:stCondLst>
                                            <p:cond delay="0"/>
                                          </p:stCondLst>
                                        </p:cTn>
                                        <p:tgtEl>
                                          <p:spTgt spid="2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30"/>
                                        </p:tgtEl>
                                        <p:attrNameLst>
                                          <p:attrName>style.visibility</p:attrName>
                                        </p:attrNameLst>
                                      </p:cBhvr>
                                      <p:to>
                                        <p:strVal val="visible"/>
                                      </p:to>
                                    </p:set>
                                    <p:anim calcmode="lin" valueType="num">
                                      <p:cBhvr>
                                        <p:cTn id="40" dur="500" fill="hold"/>
                                        <p:tgtEl>
                                          <p:spTgt spid="30"/>
                                        </p:tgtEl>
                                        <p:attrNameLst>
                                          <p:attrName>ppt_w</p:attrName>
                                        </p:attrNameLst>
                                      </p:cBhvr>
                                      <p:tavLst>
                                        <p:tav tm="0">
                                          <p:val>
                                            <p:fltVal val="0"/>
                                          </p:val>
                                        </p:tav>
                                        <p:tav tm="100000">
                                          <p:val>
                                            <p:strVal val="#ppt_w"/>
                                          </p:val>
                                        </p:tav>
                                      </p:tavLst>
                                    </p:anim>
                                    <p:anim calcmode="lin" valueType="num">
                                      <p:cBhvr>
                                        <p:cTn id="41" dur="500" fill="hold"/>
                                        <p:tgtEl>
                                          <p:spTgt spid="30"/>
                                        </p:tgtEl>
                                        <p:attrNameLst>
                                          <p:attrName>ppt_h</p:attrName>
                                        </p:attrNameLst>
                                      </p:cBhvr>
                                      <p:tavLst>
                                        <p:tav tm="0">
                                          <p:val>
                                            <p:fltVal val="0"/>
                                          </p:val>
                                        </p:tav>
                                        <p:tav tm="100000">
                                          <p:val>
                                            <p:strVal val="#ppt_h"/>
                                          </p:val>
                                        </p:tav>
                                      </p:tavLst>
                                    </p:anim>
                                    <p:anim calcmode="lin" valueType="num">
                                      <p:cBhvr>
                                        <p:cTn id="42" dur="500" fill="hold"/>
                                        <p:tgtEl>
                                          <p:spTgt spid="30"/>
                                        </p:tgtEl>
                                        <p:attrNameLst>
                                          <p:attrName>style.rotation</p:attrName>
                                        </p:attrNameLst>
                                      </p:cBhvr>
                                      <p:tavLst>
                                        <p:tav tm="0">
                                          <p:val>
                                            <p:fltVal val="360"/>
                                          </p:val>
                                        </p:tav>
                                        <p:tav tm="100000">
                                          <p:val>
                                            <p:fltVal val="0"/>
                                          </p:val>
                                        </p:tav>
                                      </p:tavLst>
                                    </p:anim>
                                    <p:animEffect transition="in" filter="fade">
                                      <p:cBhvr>
                                        <p:cTn id="43" dur="500"/>
                                        <p:tgtEl>
                                          <p:spTgt spid="30"/>
                                        </p:tgtEl>
                                      </p:cBhvr>
                                    </p:animEffect>
                                  </p:childTnLst>
                                </p:cTn>
                              </p:par>
                            </p:childTnLst>
                          </p:cTn>
                        </p:par>
                        <p:par>
                          <p:cTn id="44" fill="hold">
                            <p:stCondLst>
                              <p:cond delay="500"/>
                            </p:stCondLst>
                            <p:childTnLst>
                              <p:par>
                                <p:cTn id="45" presetID="1" presetClass="entr" presetSubtype="0" fill="hold" grpId="0" nodeType="afterEffect">
                                  <p:stCondLst>
                                    <p:cond delay="0"/>
                                  </p:stCondLst>
                                  <p:iterate type="lt">
                                    <p:tmAbs val="100"/>
                                  </p:iterate>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animBg="1"/>
      <p:bldP spid="27" grpId="0"/>
      <p:bldP spid="28" grpId="0" animBg="1"/>
      <p:bldP spid="29" grpId="0"/>
      <p:bldP spid="30" grpId="0" animBg="1"/>
      <p:bldP spid="3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105">
            <a:extLst>
              <a:ext uri="{FF2B5EF4-FFF2-40B4-BE49-F238E27FC236}">
                <a16:creationId xmlns:a16="http://schemas.microsoft.com/office/drawing/2014/main" id="{404AE691-FAF7-B234-CD05-E3B71A39B16C}"/>
              </a:ext>
            </a:extLst>
          </p:cNvPr>
          <p:cNvSpPr/>
          <p:nvPr/>
        </p:nvSpPr>
        <p:spPr>
          <a:xfrm>
            <a:off x="575339" y="5202865"/>
            <a:ext cx="11041322" cy="602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POP3</a:t>
            </a:r>
            <a:r>
              <a:rPr lang="zh-CN" altLang="en-US" sz="2400" b="1" dirty="0"/>
              <a:t>和</a:t>
            </a:r>
            <a:r>
              <a:rPr lang="en-US" altLang="zh-CN" sz="2400" b="1" dirty="0"/>
              <a:t>IMAP4</a:t>
            </a:r>
            <a:r>
              <a:rPr lang="zh-CN" altLang="en-US" sz="2400" b="1" dirty="0"/>
              <a:t>都采用基于</a:t>
            </a:r>
            <a:r>
              <a:rPr lang="en-US" altLang="zh-CN" sz="2400" b="1" dirty="0"/>
              <a:t>TCP</a:t>
            </a:r>
            <a:r>
              <a:rPr lang="zh-CN" altLang="en-US" sz="2400" b="1" dirty="0"/>
              <a:t>连接的客户</a:t>
            </a:r>
            <a:r>
              <a:rPr lang="en-US" altLang="zh-CN" sz="2400" b="1" dirty="0"/>
              <a:t>/</a:t>
            </a:r>
            <a:r>
              <a:rPr lang="zh-CN" altLang="en-US" sz="2400" b="1" dirty="0"/>
              <a:t>服务器方式</a:t>
            </a:r>
          </a:p>
        </p:txBody>
      </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常用的邮件读取协议</a:t>
              </a:r>
            </a:p>
          </p:txBody>
        </p:sp>
      </p:grpSp>
      <p:sp>
        <p:nvSpPr>
          <p:cNvPr id="79" name="矩形 78">
            <a:extLst>
              <a:ext uri="{FF2B5EF4-FFF2-40B4-BE49-F238E27FC236}">
                <a16:creationId xmlns:a16="http://schemas.microsoft.com/office/drawing/2014/main" id="{4903A53F-490D-9759-B15F-E0FBB7BE9877}"/>
              </a:ext>
            </a:extLst>
          </p:cNvPr>
          <p:cNvSpPr/>
          <p:nvPr/>
        </p:nvSpPr>
        <p:spPr>
          <a:xfrm>
            <a:off x="575339" y="1652746"/>
            <a:ext cx="5258391" cy="778564"/>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2000" b="1" dirty="0">
                <a:solidFill>
                  <a:schemeClr val="bg1"/>
                </a:solidFill>
              </a:rPr>
              <a:t>邮局协议</a:t>
            </a:r>
            <a:endParaRPr lang="en-US" altLang="zh-CN" sz="2000" b="1" dirty="0">
              <a:solidFill>
                <a:schemeClr val="bg1"/>
              </a:solidFill>
            </a:endParaRPr>
          </a:p>
          <a:p>
            <a:pPr algn="ctr"/>
            <a:r>
              <a:rPr lang="zh-CN" altLang="en-US" b="1" dirty="0">
                <a:solidFill>
                  <a:schemeClr val="bg1"/>
                </a:solidFill>
              </a:rPr>
              <a:t>（</a:t>
            </a:r>
            <a:r>
              <a:rPr lang="en-US" altLang="zh-CN" b="1" dirty="0">
                <a:solidFill>
                  <a:schemeClr val="bg1"/>
                </a:solidFill>
              </a:rPr>
              <a:t>Post Office Protocol</a:t>
            </a:r>
            <a:r>
              <a:rPr lang="zh-CN" altLang="en-US" b="1" dirty="0">
                <a:solidFill>
                  <a:schemeClr val="bg1"/>
                </a:solidFill>
              </a:rPr>
              <a:t>，</a:t>
            </a:r>
            <a:r>
              <a:rPr lang="en-US" altLang="zh-CN" b="1" dirty="0">
                <a:solidFill>
                  <a:schemeClr val="bg1"/>
                </a:solidFill>
              </a:rPr>
              <a:t>POP</a:t>
            </a:r>
            <a:r>
              <a:rPr lang="zh-CN" altLang="en-US" b="1" dirty="0">
                <a:solidFill>
                  <a:schemeClr val="bg1"/>
                </a:solidFill>
              </a:rPr>
              <a:t>）</a:t>
            </a:r>
            <a:endParaRPr lang="zh-CN" altLang="en-US" dirty="0">
              <a:solidFill>
                <a:schemeClr val="bg1"/>
              </a:solidFill>
            </a:endParaRPr>
          </a:p>
        </p:txBody>
      </p:sp>
      <p:grpSp>
        <p:nvGrpSpPr>
          <p:cNvPr id="104" name="组合 103">
            <a:extLst>
              <a:ext uri="{FF2B5EF4-FFF2-40B4-BE49-F238E27FC236}">
                <a16:creationId xmlns:a16="http://schemas.microsoft.com/office/drawing/2014/main" id="{9DA521EB-75B7-4626-6EB5-FDB6F9B44D7B}"/>
              </a:ext>
            </a:extLst>
          </p:cNvPr>
          <p:cNvGrpSpPr/>
          <p:nvPr/>
        </p:nvGrpSpPr>
        <p:grpSpPr>
          <a:xfrm>
            <a:off x="575339" y="2438398"/>
            <a:ext cx="5258391" cy="2636875"/>
            <a:chOff x="575339" y="2438398"/>
            <a:chExt cx="5258391" cy="2636875"/>
          </a:xfrm>
        </p:grpSpPr>
        <p:sp>
          <p:nvSpPr>
            <p:cNvPr id="80" name="矩形 79">
              <a:extLst>
                <a:ext uri="{FF2B5EF4-FFF2-40B4-BE49-F238E27FC236}">
                  <a16:creationId xmlns:a16="http://schemas.microsoft.com/office/drawing/2014/main" id="{1FB1A93F-374E-5E59-6C8E-758E8A516F23}"/>
                </a:ext>
              </a:extLst>
            </p:cNvPr>
            <p:cNvSpPr/>
            <p:nvPr/>
          </p:nvSpPr>
          <p:spPr>
            <a:xfrm>
              <a:off x="575339" y="2438398"/>
              <a:ext cx="5258391" cy="2636875"/>
            </a:xfrm>
            <a:prstGeom prst="rect">
              <a:avLst/>
            </a:prstGeom>
            <a:solidFill>
              <a:schemeClr val="bg1"/>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bg1"/>
                </a:solidFill>
              </a:endParaRPr>
            </a:p>
          </p:txBody>
        </p:sp>
        <p:grpSp>
          <p:nvGrpSpPr>
            <p:cNvPr id="100" name="组合 99">
              <a:extLst>
                <a:ext uri="{FF2B5EF4-FFF2-40B4-BE49-F238E27FC236}">
                  <a16:creationId xmlns:a16="http://schemas.microsoft.com/office/drawing/2014/main" id="{06720298-F8E3-C095-A98A-59D5B4A24B3B}"/>
                </a:ext>
              </a:extLst>
            </p:cNvPr>
            <p:cNvGrpSpPr/>
            <p:nvPr/>
          </p:nvGrpSpPr>
          <p:grpSpPr>
            <a:xfrm>
              <a:off x="711202" y="2578334"/>
              <a:ext cx="4692503" cy="369332"/>
              <a:chOff x="711202" y="2578334"/>
              <a:chExt cx="4692503" cy="369332"/>
            </a:xfrm>
          </p:grpSpPr>
          <p:sp>
            <p:nvSpPr>
              <p:cNvPr id="81" name="椭圆 80">
                <a:extLst>
                  <a:ext uri="{FF2B5EF4-FFF2-40B4-BE49-F238E27FC236}">
                    <a16:creationId xmlns:a16="http://schemas.microsoft.com/office/drawing/2014/main" id="{6F6673A7-A63F-1A03-CD9E-5D01AA2BBC06}"/>
                  </a:ext>
                </a:extLst>
              </p:cNvPr>
              <p:cNvSpPr/>
              <p:nvPr/>
            </p:nvSpPr>
            <p:spPr>
              <a:xfrm>
                <a:off x="711202" y="2666409"/>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5D1C24CB-B9F4-9CA2-CA1F-46FEE666ED27}"/>
                  </a:ext>
                </a:extLst>
              </p:cNvPr>
              <p:cNvSpPr txBox="1"/>
              <p:nvPr/>
            </p:nvSpPr>
            <p:spPr>
              <a:xfrm>
                <a:off x="959295" y="2578334"/>
                <a:ext cx="4444410" cy="369332"/>
              </a:xfrm>
              <a:prstGeom prst="rect">
                <a:avLst/>
              </a:prstGeom>
              <a:noFill/>
            </p:spPr>
            <p:txBody>
              <a:bodyPr wrap="square" rtlCol="0">
                <a:spAutoFit/>
              </a:bodyPr>
              <a:lstStyle/>
              <a:p>
                <a:r>
                  <a:rPr lang="en-US" altLang="zh-CN" b="1" dirty="0"/>
                  <a:t>POP3</a:t>
                </a:r>
                <a:r>
                  <a:rPr lang="zh-CN" altLang="en-US" b="1" dirty="0"/>
                  <a:t>是其第三个版本，是因特网正式标准。</a:t>
                </a:r>
                <a:endParaRPr lang="zh-CN" altLang="en-US" dirty="0"/>
              </a:p>
            </p:txBody>
          </p:sp>
        </p:grpSp>
        <p:grpSp>
          <p:nvGrpSpPr>
            <p:cNvPr id="101" name="组合 100">
              <a:extLst>
                <a:ext uri="{FF2B5EF4-FFF2-40B4-BE49-F238E27FC236}">
                  <a16:creationId xmlns:a16="http://schemas.microsoft.com/office/drawing/2014/main" id="{D1D41F34-B6DF-5714-E211-FA1143BB8005}"/>
                </a:ext>
              </a:extLst>
            </p:cNvPr>
            <p:cNvGrpSpPr/>
            <p:nvPr/>
          </p:nvGrpSpPr>
          <p:grpSpPr>
            <a:xfrm>
              <a:off x="711202" y="3028386"/>
              <a:ext cx="4692503" cy="369332"/>
              <a:chOff x="711202" y="3028386"/>
              <a:chExt cx="4692503" cy="369332"/>
            </a:xfrm>
          </p:grpSpPr>
          <p:sp>
            <p:nvSpPr>
              <p:cNvPr id="83" name="椭圆 82">
                <a:extLst>
                  <a:ext uri="{FF2B5EF4-FFF2-40B4-BE49-F238E27FC236}">
                    <a16:creationId xmlns:a16="http://schemas.microsoft.com/office/drawing/2014/main" id="{BC2D0DF1-2945-F49D-4E4C-36EB713379E2}"/>
                  </a:ext>
                </a:extLst>
              </p:cNvPr>
              <p:cNvSpPr/>
              <p:nvPr/>
            </p:nvSpPr>
            <p:spPr>
              <a:xfrm>
                <a:off x="711202" y="3116461"/>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EF090729-EBD4-DE4E-C405-5EB21103A8AA}"/>
                  </a:ext>
                </a:extLst>
              </p:cNvPr>
              <p:cNvSpPr txBox="1"/>
              <p:nvPr/>
            </p:nvSpPr>
            <p:spPr>
              <a:xfrm>
                <a:off x="959295" y="3028386"/>
                <a:ext cx="4444410" cy="369332"/>
              </a:xfrm>
              <a:prstGeom prst="rect">
                <a:avLst/>
              </a:prstGeom>
              <a:noFill/>
            </p:spPr>
            <p:txBody>
              <a:bodyPr wrap="square" rtlCol="0">
                <a:spAutoFit/>
              </a:bodyPr>
              <a:lstStyle/>
              <a:p>
                <a:r>
                  <a:rPr lang="zh-CN" altLang="en-US" b="1" dirty="0"/>
                  <a:t>非常简单、功能有限的邮件读取协议。</a:t>
                </a:r>
                <a:endParaRPr lang="zh-CN" altLang="en-US" dirty="0"/>
              </a:p>
            </p:txBody>
          </p:sp>
        </p:grpSp>
        <p:grpSp>
          <p:nvGrpSpPr>
            <p:cNvPr id="102" name="组合 101">
              <a:extLst>
                <a:ext uri="{FF2B5EF4-FFF2-40B4-BE49-F238E27FC236}">
                  <a16:creationId xmlns:a16="http://schemas.microsoft.com/office/drawing/2014/main" id="{CF6B72A1-F51B-518D-3666-83575B140E3B}"/>
                </a:ext>
              </a:extLst>
            </p:cNvPr>
            <p:cNvGrpSpPr/>
            <p:nvPr/>
          </p:nvGrpSpPr>
          <p:grpSpPr>
            <a:xfrm>
              <a:off x="711202" y="3481843"/>
              <a:ext cx="5065823" cy="646331"/>
              <a:chOff x="711202" y="3481843"/>
              <a:chExt cx="5065823" cy="646331"/>
            </a:xfrm>
          </p:grpSpPr>
          <p:sp>
            <p:nvSpPr>
              <p:cNvPr id="85" name="椭圆 84">
                <a:extLst>
                  <a:ext uri="{FF2B5EF4-FFF2-40B4-BE49-F238E27FC236}">
                    <a16:creationId xmlns:a16="http://schemas.microsoft.com/office/drawing/2014/main" id="{6B11AF27-1CD9-79E0-CB1E-F1E2822D11EE}"/>
                  </a:ext>
                </a:extLst>
              </p:cNvPr>
              <p:cNvSpPr/>
              <p:nvPr/>
            </p:nvSpPr>
            <p:spPr>
              <a:xfrm>
                <a:off x="711202" y="3569918"/>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45572D1F-9A1C-7CE7-8226-4D1D3558E59B}"/>
                  </a:ext>
                </a:extLst>
              </p:cNvPr>
              <p:cNvSpPr txBox="1"/>
              <p:nvPr/>
            </p:nvSpPr>
            <p:spPr>
              <a:xfrm>
                <a:off x="959294" y="3481843"/>
                <a:ext cx="4817731" cy="646331"/>
              </a:xfrm>
              <a:prstGeom prst="rect">
                <a:avLst/>
              </a:prstGeom>
              <a:noFill/>
            </p:spPr>
            <p:txBody>
              <a:bodyPr wrap="square" rtlCol="0">
                <a:spAutoFit/>
              </a:bodyPr>
              <a:lstStyle/>
              <a:p>
                <a:r>
                  <a:rPr lang="zh-CN" altLang="en-US" b="1" dirty="0"/>
                  <a:t>用户只能以</a:t>
                </a:r>
                <a:r>
                  <a:rPr lang="zh-CN" altLang="en-US" b="1" dirty="0">
                    <a:solidFill>
                      <a:schemeClr val="accent1">
                        <a:lumMod val="75000"/>
                      </a:schemeClr>
                    </a:solidFill>
                  </a:rPr>
                  <a:t>下载并删除方式</a:t>
                </a:r>
                <a:r>
                  <a:rPr lang="zh-CN" altLang="en-US" b="1" dirty="0"/>
                  <a:t>或</a:t>
                </a:r>
                <a:r>
                  <a:rPr lang="zh-CN" altLang="en-US" b="1" dirty="0">
                    <a:solidFill>
                      <a:schemeClr val="accent1">
                        <a:lumMod val="75000"/>
                      </a:schemeClr>
                    </a:solidFill>
                  </a:rPr>
                  <a:t>下载并保留方式</a:t>
                </a:r>
                <a:r>
                  <a:rPr lang="zh-CN" altLang="en-US" b="1" dirty="0"/>
                  <a:t>从邮件服务器下载邮件到用户方计算机。</a:t>
                </a:r>
                <a:endParaRPr lang="zh-CN" altLang="en-US" dirty="0"/>
              </a:p>
            </p:txBody>
          </p:sp>
        </p:grpSp>
        <p:grpSp>
          <p:nvGrpSpPr>
            <p:cNvPr id="103" name="组合 102">
              <a:extLst>
                <a:ext uri="{FF2B5EF4-FFF2-40B4-BE49-F238E27FC236}">
                  <a16:creationId xmlns:a16="http://schemas.microsoft.com/office/drawing/2014/main" id="{D93E6C84-39E8-50D8-6895-7172FE09CB0E}"/>
                </a:ext>
              </a:extLst>
            </p:cNvPr>
            <p:cNvGrpSpPr/>
            <p:nvPr/>
          </p:nvGrpSpPr>
          <p:grpSpPr>
            <a:xfrm>
              <a:off x="711202" y="4212299"/>
              <a:ext cx="5065823" cy="646331"/>
              <a:chOff x="711202" y="4212299"/>
              <a:chExt cx="5065823" cy="646331"/>
            </a:xfrm>
          </p:grpSpPr>
          <p:sp>
            <p:nvSpPr>
              <p:cNvPr id="87" name="椭圆 86">
                <a:extLst>
                  <a:ext uri="{FF2B5EF4-FFF2-40B4-BE49-F238E27FC236}">
                    <a16:creationId xmlns:a16="http://schemas.microsoft.com/office/drawing/2014/main" id="{44E02643-9446-C617-241B-E5E9DDE08105}"/>
                  </a:ext>
                </a:extLst>
              </p:cNvPr>
              <p:cNvSpPr/>
              <p:nvPr/>
            </p:nvSpPr>
            <p:spPr>
              <a:xfrm>
                <a:off x="711202" y="4300374"/>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a:extLst>
                  <a:ext uri="{FF2B5EF4-FFF2-40B4-BE49-F238E27FC236}">
                    <a16:creationId xmlns:a16="http://schemas.microsoft.com/office/drawing/2014/main" id="{3B8E94F2-59D2-D3BF-C379-6E1DE41227DD}"/>
                  </a:ext>
                </a:extLst>
              </p:cNvPr>
              <p:cNvSpPr txBox="1"/>
              <p:nvPr/>
            </p:nvSpPr>
            <p:spPr>
              <a:xfrm>
                <a:off x="959294" y="4212299"/>
                <a:ext cx="4817731" cy="646331"/>
              </a:xfrm>
              <a:prstGeom prst="rect">
                <a:avLst/>
              </a:prstGeom>
              <a:noFill/>
            </p:spPr>
            <p:txBody>
              <a:bodyPr wrap="square" rtlCol="0">
                <a:spAutoFit/>
              </a:bodyPr>
              <a:lstStyle/>
              <a:p>
                <a:r>
                  <a:rPr lang="zh-CN" altLang="en-US" b="1" dirty="0">
                    <a:solidFill>
                      <a:schemeClr val="accent1">
                        <a:lumMod val="75000"/>
                      </a:schemeClr>
                    </a:solidFill>
                  </a:rPr>
                  <a:t>不允许用户在邮件服务器上管理自己的邮件</a:t>
                </a:r>
                <a:r>
                  <a:rPr lang="zh-CN" altLang="en-US" b="1" dirty="0"/>
                  <a:t>。（例如创建文件夹，对邮件进行分类管理等）。</a:t>
                </a:r>
                <a:endParaRPr lang="en-US" altLang="zh-CN" b="1" dirty="0"/>
              </a:p>
            </p:txBody>
          </p:sp>
        </p:grpSp>
      </p:grpSp>
      <p:sp>
        <p:nvSpPr>
          <p:cNvPr id="89" name="矩形 88">
            <a:extLst>
              <a:ext uri="{FF2B5EF4-FFF2-40B4-BE49-F238E27FC236}">
                <a16:creationId xmlns:a16="http://schemas.microsoft.com/office/drawing/2014/main" id="{E9CB00CD-07A7-2294-67B0-07D71C5E2FF5}"/>
              </a:ext>
            </a:extLst>
          </p:cNvPr>
          <p:cNvSpPr/>
          <p:nvPr/>
        </p:nvSpPr>
        <p:spPr>
          <a:xfrm>
            <a:off x="6358270" y="1652746"/>
            <a:ext cx="5258391" cy="77856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000" b="1" dirty="0">
                <a:solidFill>
                  <a:schemeClr val="bg1"/>
                </a:solidFill>
              </a:rPr>
              <a:t>因特网邮件访问协议</a:t>
            </a:r>
            <a:endParaRPr lang="en-US" altLang="zh-CN" sz="2000" b="1" dirty="0">
              <a:solidFill>
                <a:schemeClr val="bg1"/>
              </a:solidFill>
            </a:endParaRPr>
          </a:p>
          <a:p>
            <a:pPr algn="ctr"/>
            <a:r>
              <a:rPr lang="zh-CN" altLang="en-US" sz="2000" b="1" dirty="0">
                <a:solidFill>
                  <a:schemeClr val="bg1"/>
                </a:solidFill>
              </a:rPr>
              <a:t>（</a:t>
            </a:r>
            <a:r>
              <a:rPr lang="en-US" altLang="zh-CN" sz="2000" b="1" dirty="0">
                <a:solidFill>
                  <a:schemeClr val="bg1"/>
                </a:solidFill>
              </a:rPr>
              <a:t>Internet Message Access Protocol</a:t>
            </a:r>
            <a:r>
              <a:rPr lang="zh-CN" altLang="en-US" sz="2000" b="1" dirty="0">
                <a:solidFill>
                  <a:schemeClr val="bg1"/>
                </a:solidFill>
              </a:rPr>
              <a:t>，</a:t>
            </a:r>
            <a:r>
              <a:rPr lang="en-US" altLang="zh-CN" sz="2000" b="1" dirty="0">
                <a:solidFill>
                  <a:schemeClr val="bg1"/>
                </a:solidFill>
              </a:rPr>
              <a:t>IMAP</a:t>
            </a:r>
            <a:r>
              <a:rPr lang="zh-CN" altLang="en-US" sz="2000" b="1" dirty="0">
                <a:solidFill>
                  <a:schemeClr val="bg1"/>
                </a:solidFill>
              </a:rPr>
              <a:t>）</a:t>
            </a:r>
            <a:endParaRPr lang="zh-CN" altLang="en-US" dirty="0">
              <a:solidFill>
                <a:schemeClr val="bg1"/>
              </a:solidFill>
            </a:endParaRPr>
          </a:p>
        </p:txBody>
      </p:sp>
      <p:grpSp>
        <p:nvGrpSpPr>
          <p:cNvPr id="105" name="组合 104">
            <a:extLst>
              <a:ext uri="{FF2B5EF4-FFF2-40B4-BE49-F238E27FC236}">
                <a16:creationId xmlns:a16="http://schemas.microsoft.com/office/drawing/2014/main" id="{D3DD553E-15AF-3B14-B831-C7DB4EBCBEF6}"/>
              </a:ext>
            </a:extLst>
          </p:cNvPr>
          <p:cNvGrpSpPr/>
          <p:nvPr/>
        </p:nvGrpSpPr>
        <p:grpSpPr>
          <a:xfrm>
            <a:off x="6358270" y="2434487"/>
            <a:ext cx="5258391" cy="2636875"/>
            <a:chOff x="6358270" y="2434487"/>
            <a:chExt cx="5258391" cy="2636875"/>
          </a:xfrm>
        </p:grpSpPr>
        <p:sp>
          <p:nvSpPr>
            <p:cNvPr id="90" name="矩形 89">
              <a:extLst>
                <a:ext uri="{FF2B5EF4-FFF2-40B4-BE49-F238E27FC236}">
                  <a16:creationId xmlns:a16="http://schemas.microsoft.com/office/drawing/2014/main" id="{6B7BD012-D5B4-24B0-BB23-0DEF9BA70590}"/>
                </a:ext>
              </a:extLst>
            </p:cNvPr>
            <p:cNvSpPr/>
            <p:nvPr/>
          </p:nvSpPr>
          <p:spPr>
            <a:xfrm>
              <a:off x="6358270" y="2434487"/>
              <a:ext cx="5258391" cy="2636875"/>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dirty="0">
                <a:solidFill>
                  <a:schemeClr val="bg1"/>
                </a:solidFill>
              </a:endParaRPr>
            </a:p>
          </p:txBody>
        </p:sp>
        <p:sp>
          <p:nvSpPr>
            <p:cNvPr id="91" name="椭圆 90">
              <a:extLst>
                <a:ext uri="{FF2B5EF4-FFF2-40B4-BE49-F238E27FC236}">
                  <a16:creationId xmlns:a16="http://schemas.microsoft.com/office/drawing/2014/main" id="{4B45CBE3-C02C-1E1F-CFC1-73B513FA8F67}"/>
                </a:ext>
              </a:extLst>
            </p:cNvPr>
            <p:cNvSpPr/>
            <p:nvPr/>
          </p:nvSpPr>
          <p:spPr>
            <a:xfrm>
              <a:off x="6482905" y="2666409"/>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0C7FC5EC-1AA7-1C65-FC60-ECD970ED4972}"/>
                </a:ext>
              </a:extLst>
            </p:cNvPr>
            <p:cNvSpPr txBox="1"/>
            <p:nvPr/>
          </p:nvSpPr>
          <p:spPr>
            <a:xfrm>
              <a:off x="6730998" y="2578334"/>
              <a:ext cx="4749800" cy="369332"/>
            </a:xfrm>
            <a:prstGeom prst="rect">
              <a:avLst/>
            </a:prstGeom>
            <a:noFill/>
          </p:spPr>
          <p:txBody>
            <a:bodyPr wrap="square" rtlCol="0">
              <a:spAutoFit/>
            </a:bodyPr>
            <a:lstStyle/>
            <a:p>
              <a:r>
                <a:rPr lang="en-US" altLang="zh-CN" b="1" dirty="0"/>
                <a:t>IMAP4</a:t>
              </a:r>
              <a:r>
                <a:rPr lang="zh-CN" altLang="en-US" b="1" dirty="0"/>
                <a:t>是其第四个版本，是因特网建议标准。</a:t>
              </a:r>
              <a:endParaRPr lang="zh-CN" altLang="en-US" dirty="0"/>
            </a:p>
          </p:txBody>
        </p:sp>
        <p:sp>
          <p:nvSpPr>
            <p:cNvPr id="93" name="椭圆 92">
              <a:extLst>
                <a:ext uri="{FF2B5EF4-FFF2-40B4-BE49-F238E27FC236}">
                  <a16:creationId xmlns:a16="http://schemas.microsoft.com/office/drawing/2014/main" id="{428DFE39-BE98-25DC-C2B4-3C6E4E686F6A}"/>
                </a:ext>
              </a:extLst>
            </p:cNvPr>
            <p:cNvSpPr/>
            <p:nvPr/>
          </p:nvSpPr>
          <p:spPr>
            <a:xfrm>
              <a:off x="6482905" y="3116461"/>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文本框 93">
              <a:extLst>
                <a:ext uri="{FF2B5EF4-FFF2-40B4-BE49-F238E27FC236}">
                  <a16:creationId xmlns:a16="http://schemas.microsoft.com/office/drawing/2014/main" id="{9B523B79-97B6-3FCC-A959-8F85BC2F356D}"/>
                </a:ext>
              </a:extLst>
            </p:cNvPr>
            <p:cNvSpPr txBox="1"/>
            <p:nvPr/>
          </p:nvSpPr>
          <p:spPr>
            <a:xfrm>
              <a:off x="6730998" y="3028386"/>
              <a:ext cx="4444410" cy="369332"/>
            </a:xfrm>
            <a:prstGeom prst="rect">
              <a:avLst/>
            </a:prstGeom>
            <a:noFill/>
          </p:spPr>
          <p:txBody>
            <a:bodyPr wrap="square" rtlCol="0">
              <a:spAutoFit/>
            </a:bodyPr>
            <a:lstStyle/>
            <a:p>
              <a:r>
                <a:rPr lang="zh-CN" altLang="en-US" b="1" dirty="0"/>
                <a:t>功能比</a:t>
              </a:r>
              <a:r>
                <a:rPr lang="en-US" altLang="zh-CN" b="1" dirty="0"/>
                <a:t>POP3</a:t>
              </a:r>
              <a:r>
                <a:rPr lang="zh-CN" altLang="en-US" b="1" dirty="0"/>
                <a:t>强大的邮件读取协议。</a:t>
              </a:r>
              <a:endParaRPr lang="zh-CN" altLang="en-US" dirty="0"/>
            </a:p>
          </p:txBody>
        </p:sp>
        <p:sp>
          <p:nvSpPr>
            <p:cNvPr id="95" name="椭圆 94">
              <a:extLst>
                <a:ext uri="{FF2B5EF4-FFF2-40B4-BE49-F238E27FC236}">
                  <a16:creationId xmlns:a16="http://schemas.microsoft.com/office/drawing/2014/main" id="{BF6428C5-E07E-046B-9F0C-FB2A8D364485}"/>
                </a:ext>
              </a:extLst>
            </p:cNvPr>
            <p:cNvSpPr/>
            <p:nvPr/>
          </p:nvSpPr>
          <p:spPr>
            <a:xfrm>
              <a:off x="6482905" y="3569918"/>
              <a:ext cx="196112" cy="1961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35E74876-126D-65CE-FC0C-13EFCC134AF2}"/>
                </a:ext>
              </a:extLst>
            </p:cNvPr>
            <p:cNvSpPr txBox="1"/>
            <p:nvPr/>
          </p:nvSpPr>
          <p:spPr>
            <a:xfrm>
              <a:off x="6730997" y="3481843"/>
              <a:ext cx="4817731" cy="923330"/>
            </a:xfrm>
            <a:prstGeom prst="rect">
              <a:avLst/>
            </a:prstGeom>
            <a:noFill/>
          </p:spPr>
          <p:txBody>
            <a:bodyPr wrap="square" rtlCol="0">
              <a:spAutoFit/>
            </a:bodyPr>
            <a:lstStyle/>
            <a:p>
              <a:r>
                <a:rPr lang="zh-CN" altLang="en-US" b="1" dirty="0">
                  <a:solidFill>
                    <a:schemeClr val="accent1">
                      <a:lumMod val="75000"/>
                    </a:schemeClr>
                  </a:solidFill>
                </a:rPr>
                <a:t>用户在自己的计算机上就可以操控邮件服务器中的邮箱</a:t>
              </a:r>
              <a:r>
                <a:rPr lang="zh-CN" altLang="en-US" b="1" dirty="0"/>
                <a:t>，就像在本地操控一样，因此</a:t>
              </a:r>
              <a:r>
                <a:rPr lang="en-US" altLang="zh-CN" b="1" dirty="0"/>
                <a:t>IMAP</a:t>
              </a:r>
              <a:r>
                <a:rPr lang="zh-CN" altLang="en-US" b="1" dirty="0"/>
                <a:t>是一个联机协议。</a:t>
              </a:r>
              <a:endParaRPr lang="zh-CN" altLang="en-US" dirty="0"/>
            </a:p>
          </p:txBody>
        </p:sp>
      </p:grpSp>
      <p:sp>
        <p:nvSpPr>
          <p:cNvPr id="107" name="文本框 106">
            <a:extLst>
              <a:ext uri="{FF2B5EF4-FFF2-40B4-BE49-F238E27FC236}">
                <a16:creationId xmlns:a16="http://schemas.microsoft.com/office/drawing/2014/main" id="{48558B05-7699-FD54-33D9-ADCC662D3AAE}"/>
              </a:ext>
            </a:extLst>
          </p:cNvPr>
          <p:cNvSpPr txBox="1"/>
          <p:nvPr/>
        </p:nvSpPr>
        <p:spPr>
          <a:xfrm>
            <a:off x="582430" y="5329213"/>
            <a:ext cx="1467293" cy="369332"/>
          </a:xfrm>
          <a:prstGeom prst="rect">
            <a:avLst/>
          </a:prstGeom>
          <a:noFill/>
        </p:spPr>
        <p:txBody>
          <a:bodyPr wrap="square" rtlCol="0">
            <a:spAutoFit/>
          </a:bodyPr>
          <a:lstStyle/>
          <a:p>
            <a:r>
              <a:rPr lang="zh-CN" altLang="en-US" b="1" dirty="0">
                <a:solidFill>
                  <a:schemeClr val="bg1"/>
                </a:solidFill>
              </a:rPr>
              <a:t>端口号为</a:t>
            </a:r>
            <a:r>
              <a:rPr lang="en-US" altLang="zh-CN" b="1" dirty="0">
                <a:solidFill>
                  <a:schemeClr val="bg1"/>
                </a:solidFill>
              </a:rPr>
              <a:t>110</a:t>
            </a:r>
            <a:endParaRPr lang="zh-CN" altLang="en-US" b="1" dirty="0">
              <a:solidFill>
                <a:schemeClr val="bg1"/>
              </a:solidFill>
            </a:endParaRPr>
          </a:p>
        </p:txBody>
      </p:sp>
      <p:sp>
        <p:nvSpPr>
          <p:cNvPr id="108" name="文本框 107">
            <a:extLst>
              <a:ext uri="{FF2B5EF4-FFF2-40B4-BE49-F238E27FC236}">
                <a16:creationId xmlns:a16="http://schemas.microsoft.com/office/drawing/2014/main" id="{845B0EF6-032D-65F6-8694-F9D2528499AE}"/>
              </a:ext>
            </a:extLst>
          </p:cNvPr>
          <p:cNvSpPr txBox="1"/>
          <p:nvPr/>
        </p:nvSpPr>
        <p:spPr>
          <a:xfrm>
            <a:off x="10143462" y="5329213"/>
            <a:ext cx="1467293" cy="369332"/>
          </a:xfrm>
          <a:prstGeom prst="rect">
            <a:avLst/>
          </a:prstGeom>
          <a:noFill/>
        </p:spPr>
        <p:txBody>
          <a:bodyPr wrap="square" rtlCol="0">
            <a:spAutoFit/>
          </a:bodyPr>
          <a:lstStyle/>
          <a:p>
            <a:r>
              <a:rPr lang="zh-CN" altLang="en-US" b="1" dirty="0">
                <a:solidFill>
                  <a:schemeClr val="bg1"/>
                </a:solidFill>
              </a:rPr>
              <a:t>端口号为</a:t>
            </a:r>
            <a:r>
              <a:rPr lang="en-US" altLang="zh-CN" b="1" dirty="0">
                <a:solidFill>
                  <a:schemeClr val="bg1"/>
                </a:solidFill>
              </a:rPr>
              <a:t>143</a:t>
            </a:r>
            <a:endParaRPr lang="zh-CN" altLang="en-US" b="1" dirty="0">
              <a:solidFill>
                <a:schemeClr val="bg1"/>
              </a:solidFill>
            </a:endParaRPr>
          </a:p>
        </p:txBody>
      </p:sp>
    </p:spTree>
    <p:custDataLst>
      <p:tags r:id="rId1"/>
    </p:custDataLst>
    <p:extLst>
      <p:ext uri="{BB962C8B-B14F-4D97-AF65-F5344CB8AC3E}">
        <p14:creationId xmlns:p14="http://schemas.microsoft.com/office/powerpoint/2010/main" val="395304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79"/>
                                        </p:tgtEl>
                                        <p:attrNameLst>
                                          <p:attrName>style.visibility</p:attrName>
                                        </p:attrNameLst>
                                      </p:cBhvr>
                                      <p:to>
                                        <p:strVal val="visible"/>
                                      </p:to>
                                    </p:set>
                                    <p:anim calcmode="lin" valueType="num">
                                      <p:cBhvr>
                                        <p:cTn id="13" dur="500" fill="hold"/>
                                        <p:tgtEl>
                                          <p:spTgt spid="79"/>
                                        </p:tgtEl>
                                        <p:attrNameLst>
                                          <p:attrName>ppt_w</p:attrName>
                                        </p:attrNameLst>
                                      </p:cBhvr>
                                      <p:tavLst>
                                        <p:tav tm="0">
                                          <p:val>
                                            <p:fltVal val="0"/>
                                          </p:val>
                                        </p:tav>
                                        <p:tav tm="100000">
                                          <p:val>
                                            <p:strVal val="#ppt_w"/>
                                          </p:val>
                                        </p:tav>
                                      </p:tavLst>
                                    </p:anim>
                                    <p:anim calcmode="lin" valueType="num">
                                      <p:cBhvr>
                                        <p:cTn id="14" dur="500" fill="hold"/>
                                        <p:tgtEl>
                                          <p:spTgt spid="79"/>
                                        </p:tgtEl>
                                        <p:attrNameLst>
                                          <p:attrName>ppt_h</p:attrName>
                                        </p:attrNameLst>
                                      </p:cBhvr>
                                      <p:tavLst>
                                        <p:tav tm="0">
                                          <p:val>
                                            <p:fltVal val="0"/>
                                          </p:val>
                                        </p:tav>
                                        <p:tav tm="100000">
                                          <p:val>
                                            <p:strVal val="#ppt_h"/>
                                          </p:val>
                                        </p:tav>
                                      </p:tavLst>
                                    </p:anim>
                                    <p:animEffect transition="in" filter="fade">
                                      <p:cBhvr>
                                        <p:cTn id="15" dur="500"/>
                                        <p:tgtEl>
                                          <p:spTgt spid="79"/>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89"/>
                                        </p:tgtEl>
                                        <p:attrNameLst>
                                          <p:attrName>style.visibility</p:attrName>
                                        </p:attrNameLst>
                                      </p:cBhvr>
                                      <p:to>
                                        <p:strVal val="visible"/>
                                      </p:to>
                                    </p:set>
                                    <p:anim calcmode="lin" valueType="num">
                                      <p:cBhvr>
                                        <p:cTn id="20" dur="500" fill="hold"/>
                                        <p:tgtEl>
                                          <p:spTgt spid="89"/>
                                        </p:tgtEl>
                                        <p:attrNameLst>
                                          <p:attrName>ppt_w</p:attrName>
                                        </p:attrNameLst>
                                      </p:cBhvr>
                                      <p:tavLst>
                                        <p:tav tm="0">
                                          <p:val>
                                            <p:fltVal val="0"/>
                                          </p:val>
                                        </p:tav>
                                        <p:tav tm="100000">
                                          <p:val>
                                            <p:strVal val="#ppt_w"/>
                                          </p:val>
                                        </p:tav>
                                      </p:tavLst>
                                    </p:anim>
                                    <p:anim calcmode="lin" valueType="num">
                                      <p:cBhvr>
                                        <p:cTn id="21" dur="500" fill="hold"/>
                                        <p:tgtEl>
                                          <p:spTgt spid="89"/>
                                        </p:tgtEl>
                                        <p:attrNameLst>
                                          <p:attrName>ppt_h</p:attrName>
                                        </p:attrNameLst>
                                      </p:cBhvr>
                                      <p:tavLst>
                                        <p:tav tm="0">
                                          <p:val>
                                            <p:fltVal val="0"/>
                                          </p:val>
                                        </p:tav>
                                        <p:tav tm="100000">
                                          <p:val>
                                            <p:strVal val="#ppt_h"/>
                                          </p:val>
                                        </p:tav>
                                      </p:tavLst>
                                    </p:anim>
                                    <p:animEffect transition="in" filter="fade">
                                      <p:cBhvr>
                                        <p:cTn id="22" dur="500"/>
                                        <p:tgtEl>
                                          <p:spTgt spid="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wipe(up)">
                                      <p:cBhvr>
                                        <p:cTn id="27" dur="500"/>
                                        <p:tgtEl>
                                          <p:spTgt spid="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wipe(up)">
                                      <p:cBhvr>
                                        <p:cTn id="32" dur="500"/>
                                        <p:tgtEl>
                                          <p:spTgt spid="105"/>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additive="base">
                                        <p:cTn id="37" dur="500"/>
                                        <p:tgtEl>
                                          <p:spTgt spid="106"/>
                                        </p:tgtEl>
                                        <p:attrNameLst>
                                          <p:attrName>ppt_y</p:attrName>
                                        </p:attrNameLst>
                                      </p:cBhvr>
                                      <p:tavLst>
                                        <p:tav tm="0">
                                          <p:val>
                                            <p:strVal val="#ppt_y-#ppt_h*1.125000"/>
                                          </p:val>
                                        </p:tav>
                                        <p:tav tm="100000">
                                          <p:val>
                                            <p:strVal val="#ppt_y"/>
                                          </p:val>
                                        </p:tav>
                                      </p:tavLst>
                                    </p:anim>
                                    <p:animEffect transition="in" filter="wipe(down)">
                                      <p:cBhvr>
                                        <p:cTn id="38" dur="500"/>
                                        <p:tgtEl>
                                          <p:spTgt spid="106"/>
                                        </p:tgtEl>
                                      </p:cBhvr>
                                    </p:animEffect>
                                  </p:childTnLst>
                                </p:cTn>
                              </p:par>
                            </p:childTnLst>
                          </p:cTn>
                        </p:par>
                      </p:childTnLst>
                    </p:cTn>
                  </p:par>
                  <p:par>
                    <p:cTn id="39" fill="hold">
                      <p:stCondLst>
                        <p:cond delay="indefinite"/>
                      </p:stCondLst>
                      <p:childTnLst>
                        <p:par>
                          <p:cTn id="40" fill="hold">
                            <p:stCondLst>
                              <p:cond delay="0"/>
                            </p:stCondLst>
                            <p:childTnLst>
                              <p:par>
                                <p:cTn id="41" presetID="49" presetClass="entr" presetSubtype="0" decel="100000" fill="hold" grpId="0" nodeType="clickEffect">
                                  <p:stCondLst>
                                    <p:cond delay="0"/>
                                  </p:stCondLst>
                                  <p:childTnLst>
                                    <p:set>
                                      <p:cBhvr>
                                        <p:cTn id="42" dur="1" fill="hold">
                                          <p:stCondLst>
                                            <p:cond delay="0"/>
                                          </p:stCondLst>
                                        </p:cTn>
                                        <p:tgtEl>
                                          <p:spTgt spid="107"/>
                                        </p:tgtEl>
                                        <p:attrNameLst>
                                          <p:attrName>style.visibility</p:attrName>
                                        </p:attrNameLst>
                                      </p:cBhvr>
                                      <p:to>
                                        <p:strVal val="visible"/>
                                      </p:to>
                                    </p:set>
                                    <p:anim calcmode="lin" valueType="num">
                                      <p:cBhvr>
                                        <p:cTn id="43" dur="500" fill="hold"/>
                                        <p:tgtEl>
                                          <p:spTgt spid="107"/>
                                        </p:tgtEl>
                                        <p:attrNameLst>
                                          <p:attrName>ppt_w</p:attrName>
                                        </p:attrNameLst>
                                      </p:cBhvr>
                                      <p:tavLst>
                                        <p:tav tm="0">
                                          <p:val>
                                            <p:fltVal val="0"/>
                                          </p:val>
                                        </p:tav>
                                        <p:tav tm="100000">
                                          <p:val>
                                            <p:strVal val="#ppt_w"/>
                                          </p:val>
                                        </p:tav>
                                      </p:tavLst>
                                    </p:anim>
                                    <p:anim calcmode="lin" valueType="num">
                                      <p:cBhvr>
                                        <p:cTn id="44" dur="500" fill="hold"/>
                                        <p:tgtEl>
                                          <p:spTgt spid="107"/>
                                        </p:tgtEl>
                                        <p:attrNameLst>
                                          <p:attrName>ppt_h</p:attrName>
                                        </p:attrNameLst>
                                      </p:cBhvr>
                                      <p:tavLst>
                                        <p:tav tm="0">
                                          <p:val>
                                            <p:fltVal val="0"/>
                                          </p:val>
                                        </p:tav>
                                        <p:tav tm="100000">
                                          <p:val>
                                            <p:strVal val="#ppt_h"/>
                                          </p:val>
                                        </p:tav>
                                      </p:tavLst>
                                    </p:anim>
                                    <p:anim calcmode="lin" valueType="num">
                                      <p:cBhvr>
                                        <p:cTn id="45" dur="500" fill="hold"/>
                                        <p:tgtEl>
                                          <p:spTgt spid="107"/>
                                        </p:tgtEl>
                                        <p:attrNameLst>
                                          <p:attrName>style.rotation</p:attrName>
                                        </p:attrNameLst>
                                      </p:cBhvr>
                                      <p:tavLst>
                                        <p:tav tm="0">
                                          <p:val>
                                            <p:fltVal val="360"/>
                                          </p:val>
                                        </p:tav>
                                        <p:tav tm="100000">
                                          <p:val>
                                            <p:fltVal val="0"/>
                                          </p:val>
                                        </p:tav>
                                      </p:tavLst>
                                    </p:anim>
                                    <p:animEffect transition="in" filter="fade">
                                      <p:cBhvr>
                                        <p:cTn id="46" dur="500"/>
                                        <p:tgtEl>
                                          <p:spTgt spid="107"/>
                                        </p:tgtEl>
                                      </p:cBhvr>
                                    </p:animEffect>
                                  </p:childTnLst>
                                </p:cTn>
                              </p:par>
                            </p:childTnLst>
                          </p:cTn>
                        </p:par>
                      </p:childTnLst>
                    </p:cTn>
                  </p:par>
                  <p:par>
                    <p:cTn id="47" fill="hold">
                      <p:stCondLst>
                        <p:cond delay="indefinite"/>
                      </p:stCondLst>
                      <p:childTnLst>
                        <p:par>
                          <p:cTn id="48" fill="hold">
                            <p:stCondLst>
                              <p:cond delay="0"/>
                            </p:stCondLst>
                            <p:childTnLst>
                              <p:par>
                                <p:cTn id="49" presetID="49" presetClass="entr" presetSubtype="0" decel="100000" fill="hold" grpId="0" nodeType="clickEffect">
                                  <p:stCondLst>
                                    <p:cond delay="0"/>
                                  </p:stCondLst>
                                  <p:childTnLst>
                                    <p:set>
                                      <p:cBhvr>
                                        <p:cTn id="50" dur="1" fill="hold">
                                          <p:stCondLst>
                                            <p:cond delay="0"/>
                                          </p:stCondLst>
                                        </p:cTn>
                                        <p:tgtEl>
                                          <p:spTgt spid="108"/>
                                        </p:tgtEl>
                                        <p:attrNameLst>
                                          <p:attrName>style.visibility</p:attrName>
                                        </p:attrNameLst>
                                      </p:cBhvr>
                                      <p:to>
                                        <p:strVal val="visible"/>
                                      </p:to>
                                    </p:set>
                                    <p:anim calcmode="lin" valueType="num">
                                      <p:cBhvr>
                                        <p:cTn id="51" dur="500" fill="hold"/>
                                        <p:tgtEl>
                                          <p:spTgt spid="108"/>
                                        </p:tgtEl>
                                        <p:attrNameLst>
                                          <p:attrName>ppt_w</p:attrName>
                                        </p:attrNameLst>
                                      </p:cBhvr>
                                      <p:tavLst>
                                        <p:tav tm="0">
                                          <p:val>
                                            <p:fltVal val="0"/>
                                          </p:val>
                                        </p:tav>
                                        <p:tav tm="100000">
                                          <p:val>
                                            <p:strVal val="#ppt_w"/>
                                          </p:val>
                                        </p:tav>
                                      </p:tavLst>
                                    </p:anim>
                                    <p:anim calcmode="lin" valueType="num">
                                      <p:cBhvr>
                                        <p:cTn id="52" dur="500" fill="hold"/>
                                        <p:tgtEl>
                                          <p:spTgt spid="108"/>
                                        </p:tgtEl>
                                        <p:attrNameLst>
                                          <p:attrName>ppt_h</p:attrName>
                                        </p:attrNameLst>
                                      </p:cBhvr>
                                      <p:tavLst>
                                        <p:tav tm="0">
                                          <p:val>
                                            <p:fltVal val="0"/>
                                          </p:val>
                                        </p:tav>
                                        <p:tav tm="100000">
                                          <p:val>
                                            <p:strVal val="#ppt_h"/>
                                          </p:val>
                                        </p:tav>
                                      </p:tavLst>
                                    </p:anim>
                                    <p:anim calcmode="lin" valueType="num">
                                      <p:cBhvr>
                                        <p:cTn id="53" dur="500" fill="hold"/>
                                        <p:tgtEl>
                                          <p:spTgt spid="108"/>
                                        </p:tgtEl>
                                        <p:attrNameLst>
                                          <p:attrName>style.rotation</p:attrName>
                                        </p:attrNameLst>
                                      </p:cBhvr>
                                      <p:tavLst>
                                        <p:tav tm="0">
                                          <p:val>
                                            <p:fltVal val="360"/>
                                          </p:val>
                                        </p:tav>
                                        <p:tav tm="100000">
                                          <p:val>
                                            <p:fltVal val="0"/>
                                          </p:val>
                                        </p:tav>
                                      </p:tavLst>
                                    </p:anim>
                                    <p:animEffect transition="in" filter="fade">
                                      <p:cBhvr>
                                        <p:cTn id="54"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79" grpId="0" animBg="1"/>
      <p:bldP spid="89" grpId="0" animBg="1"/>
      <p:bldP spid="107" grpId="0"/>
      <p:bldP spid="10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037E424-8DD3-DD4D-15BC-6298E634D6AA}"/>
              </a:ext>
            </a:extLst>
          </p:cNvPr>
          <p:cNvGrpSpPr/>
          <p:nvPr/>
        </p:nvGrpSpPr>
        <p:grpSpPr>
          <a:xfrm>
            <a:off x="6424089" y="2794936"/>
            <a:ext cx="4948336" cy="3272366"/>
            <a:chOff x="6424089" y="2794936"/>
            <a:chExt cx="4948336" cy="3272366"/>
          </a:xfrm>
        </p:grpSpPr>
        <p:cxnSp>
          <p:nvCxnSpPr>
            <p:cNvPr id="11" name="直接连接符 10">
              <a:extLst>
                <a:ext uri="{FF2B5EF4-FFF2-40B4-BE49-F238E27FC236}">
                  <a16:creationId xmlns:a16="http://schemas.microsoft.com/office/drawing/2014/main" id="{3957AA82-6224-30EA-6212-8566C80EACAA}"/>
                </a:ext>
              </a:extLst>
            </p:cNvPr>
            <p:cNvCxnSpPr>
              <a:cxnSpLocks/>
            </p:cNvCxnSpPr>
            <p:nvPr/>
          </p:nvCxnSpPr>
          <p:spPr>
            <a:xfrm flipH="1">
              <a:off x="9195081" y="3897388"/>
              <a:ext cx="967976" cy="105218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85DE156A-14C6-C4E3-DD86-6EB327E73E14}"/>
                </a:ext>
              </a:extLst>
            </p:cNvPr>
            <p:cNvCxnSpPr>
              <a:cxnSpLocks/>
            </p:cNvCxnSpPr>
            <p:nvPr/>
          </p:nvCxnSpPr>
          <p:spPr>
            <a:xfrm>
              <a:off x="7818980" y="3821266"/>
              <a:ext cx="1162954" cy="12270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1FEE4357-051B-4C20-42FA-5469EF5337BD}"/>
                </a:ext>
              </a:extLst>
            </p:cNvPr>
            <p:cNvCxnSpPr>
              <a:cxnSpLocks/>
            </p:cNvCxnSpPr>
            <p:nvPr/>
          </p:nvCxnSpPr>
          <p:spPr>
            <a:xfrm flipH="1" flipV="1">
              <a:off x="9260891" y="5048283"/>
              <a:ext cx="1366256" cy="3505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15D2F497-581F-D358-AD66-70B6279D95D6}"/>
                </a:ext>
              </a:extLst>
            </p:cNvPr>
            <p:cNvCxnSpPr>
              <a:cxnSpLocks/>
            </p:cNvCxnSpPr>
            <p:nvPr/>
          </p:nvCxnSpPr>
          <p:spPr>
            <a:xfrm flipH="1">
              <a:off x="7458673" y="4969903"/>
              <a:ext cx="1718846" cy="5421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图形 14">
              <a:extLst>
                <a:ext uri="{FF2B5EF4-FFF2-40B4-BE49-F238E27FC236}">
                  <a16:creationId xmlns:a16="http://schemas.microsoft.com/office/drawing/2014/main" id="{0F810DE9-E0A3-34FC-C8EC-03AE5DFE000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0352" y="4969905"/>
              <a:ext cx="761459" cy="1097397"/>
            </a:xfrm>
            <a:prstGeom prst="rect">
              <a:avLst/>
            </a:prstGeom>
          </p:spPr>
        </p:pic>
        <p:pic>
          <p:nvPicPr>
            <p:cNvPr id="43" name="图形 18">
              <a:extLst>
                <a:ext uri="{FF2B5EF4-FFF2-40B4-BE49-F238E27FC236}">
                  <a16:creationId xmlns:a16="http://schemas.microsoft.com/office/drawing/2014/main" id="{E45BE0F4-A3FE-C22A-1ECA-E4760D94A0C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12104" y="4969904"/>
              <a:ext cx="716668" cy="1097397"/>
            </a:xfrm>
            <a:prstGeom prst="rect">
              <a:avLst/>
            </a:prstGeom>
          </p:spPr>
        </p:pic>
        <p:sp>
          <p:nvSpPr>
            <p:cNvPr id="44" name="图形 73">
              <a:extLst>
                <a:ext uri="{FF2B5EF4-FFF2-40B4-BE49-F238E27FC236}">
                  <a16:creationId xmlns:a16="http://schemas.microsoft.com/office/drawing/2014/main" id="{9A5D8740-84BC-7EF4-6A10-A68ABD16C59E}"/>
                </a:ext>
              </a:extLst>
            </p:cNvPr>
            <p:cNvSpPr/>
            <p:nvPr/>
          </p:nvSpPr>
          <p:spPr>
            <a:xfrm>
              <a:off x="8358647" y="4541006"/>
              <a:ext cx="1368525" cy="857795"/>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因特网</a:t>
              </a:r>
            </a:p>
          </p:txBody>
        </p:sp>
        <p:sp>
          <p:nvSpPr>
            <p:cNvPr id="45" name="文本框 37">
              <a:extLst>
                <a:ext uri="{FF2B5EF4-FFF2-40B4-BE49-F238E27FC236}">
                  <a16:creationId xmlns:a16="http://schemas.microsoft.com/office/drawing/2014/main" id="{0B32176C-20ED-9822-2CBE-20E41621E65D}"/>
                </a:ext>
              </a:extLst>
            </p:cNvPr>
            <p:cNvSpPr txBox="1"/>
            <p:nvPr/>
          </p:nvSpPr>
          <p:spPr>
            <a:xfrm>
              <a:off x="6765670" y="2794936"/>
              <a:ext cx="1787829"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网易邮件服务器</a:t>
              </a:r>
              <a:endParaRPr lang="en-US" altLang="zh-CN" b="1" dirty="0"/>
            </a:p>
          </p:txBody>
        </p:sp>
        <p:pic>
          <p:nvPicPr>
            <p:cNvPr id="46" name="图形 9">
              <a:extLst>
                <a:ext uri="{FF2B5EF4-FFF2-40B4-BE49-F238E27FC236}">
                  <a16:creationId xmlns:a16="http://schemas.microsoft.com/office/drawing/2014/main" id="{D0A1D787-889F-ECFC-47EA-BCA64AFAE1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22309" y="3168392"/>
              <a:ext cx="660732" cy="827275"/>
            </a:xfrm>
            <a:prstGeom prst="rect">
              <a:avLst/>
            </a:prstGeom>
          </p:spPr>
        </p:pic>
        <p:sp>
          <p:nvSpPr>
            <p:cNvPr id="48" name="文本框 37">
              <a:extLst>
                <a:ext uri="{FF2B5EF4-FFF2-40B4-BE49-F238E27FC236}">
                  <a16:creationId xmlns:a16="http://schemas.microsoft.com/office/drawing/2014/main" id="{8CEC6F15-138F-D695-E334-A341EF1E4E46}"/>
                </a:ext>
              </a:extLst>
            </p:cNvPr>
            <p:cNvSpPr txBox="1"/>
            <p:nvPr/>
          </p:nvSpPr>
          <p:spPr>
            <a:xfrm>
              <a:off x="6424089" y="5196470"/>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t>
              </a:r>
              <a:endParaRPr lang="zh-CN" altLang="en-US" b="1" dirty="0"/>
            </a:p>
          </p:txBody>
        </p:sp>
        <p:sp>
          <p:nvSpPr>
            <p:cNvPr id="49" name="文本框 37">
              <a:extLst>
                <a:ext uri="{FF2B5EF4-FFF2-40B4-BE49-F238E27FC236}">
                  <a16:creationId xmlns:a16="http://schemas.microsoft.com/office/drawing/2014/main" id="{A249233C-3EA1-D6C6-5EFB-FBBBA3E08F2F}"/>
                </a:ext>
              </a:extLst>
            </p:cNvPr>
            <p:cNvSpPr txBox="1"/>
            <p:nvPr/>
          </p:nvSpPr>
          <p:spPr>
            <a:xfrm>
              <a:off x="10949419" y="5196470"/>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C</a:t>
              </a:r>
              <a:endParaRPr lang="zh-CN" altLang="en-US" b="1" dirty="0"/>
            </a:p>
          </p:txBody>
        </p:sp>
        <p:sp>
          <p:nvSpPr>
            <p:cNvPr id="60" name="文本框 37">
              <a:extLst>
                <a:ext uri="{FF2B5EF4-FFF2-40B4-BE49-F238E27FC236}">
                  <a16:creationId xmlns:a16="http://schemas.microsoft.com/office/drawing/2014/main" id="{B33AB64C-71DC-313C-07E4-EB25926A6B9C}"/>
                </a:ext>
              </a:extLst>
            </p:cNvPr>
            <p:cNvSpPr txBox="1"/>
            <p:nvPr/>
          </p:nvSpPr>
          <p:spPr>
            <a:xfrm>
              <a:off x="9374172" y="2794936"/>
              <a:ext cx="1787829"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谷歌邮件服务器</a:t>
              </a:r>
              <a:endParaRPr lang="en-US" altLang="zh-CN" b="1" dirty="0"/>
            </a:p>
          </p:txBody>
        </p:sp>
        <p:pic>
          <p:nvPicPr>
            <p:cNvPr id="61" name="图形 9">
              <a:extLst>
                <a:ext uri="{FF2B5EF4-FFF2-40B4-BE49-F238E27FC236}">
                  <a16:creationId xmlns:a16="http://schemas.microsoft.com/office/drawing/2014/main" id="{0B05EA21-2F1A-31C8-00BF-6BEE851DF73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30811" y="3166208"/>
              <a:ext cx="660732" cy="827275"/>
            </a:xfrm>
            <a:prstGeom prst="rect">
              <a:avLst/>
            </a:prstGeom>
          </p:spPr>
        </p:pic>
      </p:grpSp>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9484242" cy="400110"/>
            <a:chOff x="424117" y="898245"/>
            <a:chExt cx="9484242"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07</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7" y="898245"/>
              <a:ext cx="8773042" cy="400110"/>
            </a:xfrm>
            <a:prstGeom prst="rect">
              <a:avLst/>
            </a:prstGeom>
            <a:noFill/>
          </p:spPr>
          <p:txBody>
            <a:bodyPr wrap="square" rtlCol="0">
              <a:spAutoFit/>
            </a:bodyPr>
            <a:lstStyle/>
            <a:p>
              <a:r>
                <a:rPr lang="zh-CN" altLang="en-US" sz="2000" b="1" dirty="0">
                  <a:ea typeface="+mj-ea"/>
                </a:rPr>
                <a:t>基于万维网的电子邮件</a:t>
              </a:r>
            </a:p>
          </p:txBody>
        </p:sp>
      </p:grpSp>
      <p:sp>
        <p:nvSpPr>
          <p:cNvPr id="5" name="矩形 4">
            <a:extLst>
              <a:ext uri="{FF2B5EF4-FFF2-40B4-BE49-F238E27FC236}">
                <a16:creationId xmlns:a16="http://schemas.microsoft.com/office/drawing/2014/main" id="{309C955C-756F-D376-18ED-6616AA1784AA}"/>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883EBDC4-4FE0-0099-F8B6-723CA8E7AE6A}"/>
              </a:ext>
            </a:extLst>
          </p:cNvPr>
          <p:cNvSpPr txBox="1"/>
          <p:nvPr/>
        </p:nvSpPr>
        <p:spPr>
          <a:xfrm>
            <a:off x="1293757" y="1192132"/>
            <a:ext cx="10593443" cy="962733"/>
          </a:xfrm>
          <a:prstGeom prst="rect">
            <a:avLst/>
          </a:prstGeom>
          <a:noFill/>
        </p:spPr>
        <p:txBody>
          <a:bodyPr wrap="square" lIns="91440" tIns="45720" rIns="91440" bIns="45720" anchor="ctr">
            <a:noAutofit/>
          </a:bodyPr>
          <a:lstStyle/>
          <a:p>
            <a:r>
              <a:rPr lang="zh-CN" altLang="en-US" b="1" dirty="0"/>
              <a:t>通过</a:t>
            </a:r>
            <a:r>
              <a:rPr lang="zh-CN" altLang="en-US" b="1" dirty="0">
                <a:solidFill>
                  <a:schemeClr val="accent1">
                    <a:lumMod val="75000"/>
                  </a:schemeClr>
                </a:solidFill>
              </a:rPr>
              <a:t>浏览器</a:t>
            </a:r>
            <a:r>
              <a:rPr lang="zh-CN" altLang="en-US" b="1" dirty="0"/>
              <a:t>登录（提供用户名和口令）</a:t>
            </a:r>
            <a:r>
              <a:rPr lang="zh-CN" altLang="en-US" b="1" dirty="0">
                <a:solidFill>
                  <a:schemeClr val="accent1">
                    <a:lumMod val="75000"/>
                  </a:schemeClr>
                </a:solidFill>
              </a:rPr>
              <a:t>邮件服务器万维网网站</a:t>
            </a:r>
            <a:r>
              <a:rPr lang="zh-CN" altLang="en-US" b="1" dirty="0"/>
              <a:t>就可以撰写、收发、阅读和管理电子邮件。这种工作模式</a:t>
            </a:r>
            <a:r>
              <a:rPr lang="zh-CN" altLang="en-US" b="1" dirty="0">
                <a:solidFill>
                  <a:schemeClr val="accent1">
                    <a:lumMod val="75000"/>
                  </a:schemeClr>
                </a:solidFill>
              </a:rPr>
              <a:t>与</a:t>
            </a:r>
            <a:r>
              <a:rPr lang="en-US" altLang="zh-CN" b="1" dirty="0">
                <a:solidFill>
                  <a:schemeClr val="accent1">
                    <a:lumMod val="75000"/>
                  </a:schemeClr>
                </a:solidFill>
              </a:rPr>
              <a:t>IMAP</a:t>
            </a:r>
            <a:r>
              <a:rPr lang="zh-CN" altLang="en-US" b="1" dirty="0">
                <a:solidFill>
                  <a:schemeClr val="accent1">
                    <a:lumMod val="75000"/>
                  </a:schemeClr>
                </a:solidFill>
              </a:rPr>
              <a:t>很类似</a:t>
            </a:r>
            <a:r>
              <a:rPr lang="zh-CN" altLang="en-US" b="1" dirty="0"/>
              <a:t>，</a:t>
            </a:r>
            <a:r>
              <a:rPr lang="zh-CN" altLang="en-US" b="1" dirty="0">
                <a:solidFill>
                  <a:schemeClr val="accent1">
                    <a:lumMod val="75000"/>
                  </a:schemeClr>
                </a:solidFill>
              </a:rPr>
              <a:t>不同的是用户计算机无需安装专门的用户代理程序</a:t>
            </a:r>
            <a:r>
              <a:rPr lang="zh-CN" altLang="en-US" b="1" dirty="0"/>
              <a:t>，</a:t>
            </a:r>
            <a:r>
              <a:rPr lang="zh-CN" altLang="en-US" b="1" dirty="0">
                <a:solidFill>
                  <a:schemeClr val="accent1">
                    <a:lumMod val="75000"/>
                  </a:schemeClr>
                </a:solidFill>
              </a:rPr>
              <a:t>只需要使用通用的万维网浏览器</a:t>
            </a:r>
            <a:r>
              <a:rPr lang="zh-CN" altLang="en-US" b="1" dirty="0"/>
              <a:t>。</a:t>
            </a:r>
            <a:endParaRPr lang="en-US" altLang="zh-CN" b="1" dirty="0"/>
          </a:p>
        </p:txBody>
      </p:sp>
      <p:sp>
        <p:nvSpPr>
          <p:cNvPr id="9" name="矩形 8">
            <a:extLst>
              <a:ext uri="{FF2B5EF4-FFF2-40B4-BE49-F238E27FC236}">
                <a16:creationId xmlns:a16="http://schemas.microsoft.com/office/drawing/2014/main" id="{44A8A88C-53F9-52C1-F38F-6EC47CAC002F}"/>
              </a:ext>
            </a:extLst>
          </p:cNvPr>
          <p:cNvSpPr/>
          <p:nvPr/>
        </p:nvSpPr>
        <p:spPr>
          <a:xfrm>
            <a:off x="1016000" y="2235927"/>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íşlïḍè">
            <a:extLst>
              <a:ext uri="{FF2B5EF4-FFF2-40B4-BE49-F238E27FC236}">
                <a16:creationId xmlns:a16="http://schemas.microsoft.com/office/drawing/2014/main" id="{737586E8-05AC-4596-8543-6FA7AA6C1DF8}"/>
              </a:ext>
            </a:extLst>
          </p:cNvPr>
          <p:cNvSpPr txBox="1"/>
          <p:nvPr/>
        </p:nvSpPr>
        <p:spPr>
          <a:xfrm>
            <a:off x="1293757" y="2154865"/>
            <a:ext cx="10593443" cy="701749"/>
          </a:xfrm>
          <a:prstGeom prst="rect">
            <a:avLst/>
          </a:prstGeom>
          <a:noFill/>
        </p:spPr>
        <p:txBody>
          <a:bodyPr wrap="square" lIns="91440" tIns="45720" rIns="91440" bIns="45720" anchor="ctr">
            <a:noAutofit/>
          </a:bodyPr>
          <a:lstStyle/>
          <a:p>
            <a:r>
              <a:rPr lang="zh-CN" altLang="en-US" b="1" dirty="0"/>
              <a:t>邮件服务器网站通常都提供非常强大和方便的邮件管理功能，用户可以在邮件服务器网站上管理和处理自己的邮件，而不需要将邮件下载到本地进行管理。</a:t>
            </a:r>
            <a:endParaRPr lang="en-US" altLang="zh-CN" b="1" dirty="0"/>
          </a:p>
        </p:txBody>
      </p:sp>
      <p:grpSp>
        <p:nvGrpSpPr>
          <p:cNvPr id="12" name="组合 11">
            <a:extLst>
              <a:ext uri="{FF2B5EF4-FFF2-40B4-BE49-F238E27FC236}">
                <a16:creationId xmlns:a16="http://schemas.microsoft.com/office/drawing/2014/main" id="{9945B090-4196-93AE-2F16-2E358CFDBDB1}"/>
              </a:ext>
            </a:extLst>
          </p:cNvPr>
          <p:cNvGrpSpPr/>
          <p:nvPr/>
        </p:nvGrpSpPr>
        <p:grpSpPr>
          <a:xfrm>
            <a:off x="162794" y="2794936"/>
            <a:ext cx="4899493" cy="3272366"/>
            <a:chOff x="141529" y="3014673"/>
            <a:chExt cx="4899493" cy="3272366"/>
          </a:xfrm>
        </p:grpSpPr>
        <p:sp>
          <p:nvSpPr>
            <p:cNvPr id="13" name="文本框 37">
              <a:extLst>
                <a:ext uri="{FF2B5EF4-FFF2-40B4-BE49-F238E27FC236}">
                  <a16:creationId xmlns:a16="http://schemas.microsoft.com/office/drawing/2014/main" id="{1B7D730D-ABB6-7DDB-F8E4-8F10A0E2A423}"/>
                </a:ext>
              </a:extLst>
            </p:cNvPr>
            <p:cNvSpPr txBox="1"/>
            <p:nvPr/>
          </p:nvSpPr>
          <p:spPr>
            <a:xfrm>
              <a:off x="1764480" y="3014673"/>
              <a:ext cx="2073280"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网易邮件服务器</a:t>
              </a:r>
              <a:endParaRPr lang="en-US" altLang="zh-CN" b="1" dirty="0"/>
            </a:p>
          </p:txBody>
        </p:sp>
        <p:grpSp>
          <p:nvGrpSpPr>
            <p:cNvPr id="14" name="组合 13">
              <a:extLst>
                <a:ext uri="{FF2B5EF4-FFF2-40B4-BE49-F238E27FC236}">
                  <a16:creationId xmlns:a16="http://schemas.microsoft.com/office/drawing/2014/main" id="{7EA4F0AC-3460-1DAF-AC8F-D79EBEE52035}"/>
                </a:ext>
              </a:extLst>
            </p:cNvPr>
            <p:cNvGrpSpPr/>
            <p:nvPr/>
          </p:nvGrpSpPr>
          <p:grpSpPr>
            <a:xfrm>
              <a:off x="141529" y="3388131"/>
              <a:ext cx="4899493" cy="2898908"/>
              <a:chOff x="141529" y="3388131"/>
              <a:chExt cx="4899493" cy="2898908"/>
            </a:xfrm>
          </p:grpSpPr>
          <p:cxnSp>
            <p:nvCxnSpPr>
              <p:cNvPr id="15" name="直接连接符 14">
                <a:extLst>
                  <a:ext uri="{FF2B5EF4-FFF2-40B4-BE49-F238E27FC236}">
                    <a16:creationId xmlns:a16="http://schemas.microsoft.com/office/drawing/2014/main" id="{BEE04568-D8DF-0E3F-1653-300B20AADC6A}"/>
                  </a:ext>
                </a:extLst>
              </p:cNvPr>
              <p:cNvCxnSpPr>
                <a:cxnSpLocks/>
              </p:cNvCxnSpPr>
              <p:nvPr/>
            </p:nvCxnSpPr>
            <p:spPr>
              <a:xfrm>
                <a:off x="2742932" y="4041003"/>
                <a:ext cx="0" cy="122701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34D5B853-E13F-F701-095D-544C44EFE5B3}"/>
                  </a:ext>
                </a:extLst>
              </p:cNvPr>
              <p:cNvCxnSpPr>
                <a:cxnSpLocks/>
              </p:cNvCxnSpPr>
              <p:nvPr/>
            </p:nvCxnSpPr>
            <p:spPr>
              <a:xfrm flipH="1" flipV="1">
                <a:off x="2978331" y="5268020"/>
                <a:ext cx="1366256" cy="3505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025118D-2A48-D9A9-0690-34E3E7F4DAB6}"/>
                  </a:ext>
                </a:extLst>
              </p:cNvPr>
              <p:cNvCxnSpPr>
                <a:cxnSpLocks/>
              </p:cNvCxnSpPr>
              <p:nvPr/>
            </p:nvCxnSpPr>
            <p:spPr>
              <a:xfrm flipH="1">
                <a:off x="1176113" y="5189640"/>
                <a:ext cx="1718846" cy="5421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图形 14">
                <a:extLst>
                  <a:ext uri="{FF2B5EF4-FFF2-40B4-BE49-F238E27FC236}">
                    <a16:creationId xmlns:a16="http://schemas.microsoft.com/office/drawing/2014/main" id="{B26D3ACF-D57E-0D1B-FA8E-276B8F4878B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792" y="5189642"/>
                <a:ext cx="761459" cy="1097397"/>
              </a:xfrm>
              <a:prstGeom prst="rect">
                <a:avLst/>
              </a:prstGeom>
            </p:spPr>
          </p:pic>
          <p:pic>
            <p:nvPicPr>
              <p:cNvPr id="19" name="图形 18">
                <a:extLst>
                  <a:ext uri="{FF2B5EF4-FFF2-40B4-BE49-F238E27FC236}">
                    <a16:creationId xmlns:a16="http://schemas.microsoft.com/office/drawing/2014/main" id="{FC813FEF-216A-4891-7B06-188B601FEC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29544" y="5189641"/>
                <a:ext cx="716668" cy="1097397"/>
              </a:xfrm>
              <a:prstGeom prst="rect">
                <a:avLst/>
              </a:prstGeom>
            </p:spPr>
          </p:pic>
          <p:sp>
            <p:nvSpPr>
              <p:cNvPr id="20" name="图形 73">
                <a:extLst>
                  <a:ext uri="{FF2B5EF4-FFF2-40B4-BE49-F238E27FC236}">
                    <a16:creationId xmlns:a16="http://schemas.microsoft.com/office/drawing/2014/main" id="{CF33C23E-9E36-D472-A5C4-E737A7CC674C}"/>
                  </a:ext>
                </a:extLst>
              </p:cNvPr>
              <p:cNvSpPr/>
              <p:nvPr/>
            </p:nvSpPr>
            <p:spPr>
              <a:xfrm>
                <a:off x="2076087" y="4760743"/>
                <a:ext cx="1368525" cy="857795"/>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因特网</a:t>
                </a:r>
              </a:p>
            </p:txBody>
          </p:sp>
          <p:pic>
            <p:nvPicPr>
              <p:cNvPr id="21" name="图形 9">
                <a:extLst>
                  <a:ext uri="{FF2B5EF4-FFF2-40B4-BE49-F238E27FC236}">
                    <a16:creationId xmlns:a16="http://schemas.microsoft.com/office/drawing/2014/main" id="{AEC62EDF-1B3F-40D4-9421-244F43A7F1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00947" y="3388131"/>
                <a:ext cx="695961" cy="827274"/>
              </a:xfrm>
              <a:prstGeom prst="rect">
                <a:avLst/>
              </a:prstGeom>
            </p:spPr>
          </p:pic>
          <p:sp>
            <p:nvSpPr>
              <p:cNvPr id="22" name="文本框 37">
                <a:extLst>
                  <a:ext uri="{FF2B5EF4-FFF2-40B4-BE49-F238E27FC236}">
                    <a16:creationId xmlns:a16="http://schemas.microsoft.com/office/drawing/2014/main" id="{3EA227D4-10B4-75B5-E093-8DDF135E73AC}"/>
                  </a:ext>
                </a:extLst>
              </p:cNvPr>
              <p:cNvSpPr txBox="1"/>
              <p:nvPr/>
            </p:nvSpPr>
            <p:spPr>
              <a:xfrm>
                <a:off x="141529" y="5416207"/>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t>
                </a:r>
                <a:endParaRPr lang="zh-CN" altLang="en-US" b="1" dirty="0"/>
              </a:p>
            </p:txBody>
          </p:sp>
          <p:sp>
            <p:nvSpPr>
              <p:cNvPr id="23" name="文本框 37">
                <a:extLst>
                  <a:ext uri="{FF2B5EF4-FFF2-40B4-BE49-F238E27FC236}">
                    <a16:creationId xmlns:a16="http://schemas.microsoft.com/office/drawing/2014/main" id="{9DA802C5-B14F-F7CA-1061-45EC913F55DA}"/>
                  </a:ext>
                </a:extLst>
              </p:cNvPr>
              <p:cNvSpPr txBox="1"/>
              <p:nvPr/>
            </p:nvSpPr>
            <p:spPr>
              <a:xfrm>
                <a:off x="4618016" y="5416207"/>
                <a:ext cx="42300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B</a:t>
                </a:r>
                <a:endParaRPr lang="zh-CN" altLang="en-US" b="1" dirty="0"/>
              </a:p>
            </p:txBody>
          </p:sp>
        </p:grpSp>
      </p:grpSp>
      <p:grpSp>
        <p:nvGrpSpPr>
          <p:cNvPr id="24" name="组合 23">
            <a:extLst>
              <a:ext uri="{FF2B5EF4-FFF2-40B4-BE49-F238E27FC236}">
                <a16:creationId xmlns:a16="http://schemas.microsoft.com/office/drawing/2014/main" id="{120C76CF-E920-0CCC-E079-766E700EEC4C}"/>
              </a:ext>
            </a:extLst>
          </p:cNvPr>
          <p:cNvGrpSpPr/>
          <p:nvPr/>
        </p:nvGrpSpPr>
        <p:grpSpPr>
          <a:xfrm>
            <a:off x="1347561" y="5658524"/>
            <a:ext cx="2679874" cy="499322"/>
            <a:chOff x="1489621" y="5944562"/>
            <a:chExt cx="2679874" cy="499322"/>
          </a:xfrm>
        </p:grpSpPr>
        <p:cxnSp>
          <p:nvCxnSpPr>
            <p:cNvPr id="25" name="连接符: 曲线 24">
              <a:extLst>
                <a:ext uri="{FF2B5EF4-FFF2-40B4-BE49-F238E27FC236}">
                  <a16:creationId xmlns:a16="http://schemas.microsoft.com/office/drawing/2014/main" id="{EF128E8C-B32C-7EAD-4C21-ACC666CE8312}"/>
                </a:ext>
              </a:extLst>
            </p:cNvPr>
            <p:cNvCxnSpPr>
              <a:cxnSpLocks/>
            </p:cNvCxnSpPr>
            <p:nvPr/>
          </p:nvCxnSpPr>
          <p:spPr>
            <a:xfrm rot="5400000" flipH="1" flipV="1">
              <a:off x="2764786" y="4669397"/>
              <a:ext cx="129544" cy="2679874"/>
            </a:xfrm>
            <a:prstGeom prst="curvedConnector3">
              <a:avLst>
                <a:gd name="adj1" fmla="val -176465"/>
              </a:avLst>
            </a:prstGeom>
            <a:ln w="381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26" name="文本框 37">
              <a:extLst>
                <a:ext uri="{FF2B5EF4-FFF2-40B4-BE49-F238E27FC236}">
                  <a16:creationId xmlns:a16="http://schemas.microsoft.com/office/drawing/2014/main" id="{713AB0CE-DA3E-4181-B9E8-E97D73E23C09}"/>
                </a:ext>
              </a:extLst>
            </p:cNvPr>
            <p:cNvSpPr txBox="1"/>
            <p:nvPr/>
          </p:nvSpPr>
          <p:spPr>
            <a:xfrm>
              <a:off x="2199067" y="6074552"/>
              <a:ext cx="1122565" cy="369332"/>
            </a:xfrm>
            <a:prstGeom prst="rect">
              <a:avLst/>
            </a:prstGeom>
            <a:solidFill>
              <a:schemeClr val="bg1"/>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发送邮件</a:t>
              </a:r>
            </a:p>
          </p:txBody>
        </p:sp>
      </p:grpSp>
      <p:sp>
        <p:nvSpPr>
          <p:cNvPr id="27" name="文本框 37">
            <a:extLst>
              <a:ext uri="{FF2B5EF4-FFF2-40B4-BE49-F238E27FC236}">
                <a16:creationId xmlns:a16="http://schemas.microsoft.com/office/drawing/2014/main" id="{C169E5C7-0F10-1004-670C-90C21DC8D1E1}"/>
              </a:ext>
            </a:extLst>
          </p:cNvPr>
          <p:cNvSpPr txBox="1"/>
          <p:nvPr/>
        </p:nvSpPr>
        <p:spPr>
          <a:xfrm>
            <a:off x="44084" y="5995727"/>
            <a:ext cx="190733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aaa@163.com</a:t>
            </a:r>
            <a:endParaRPr lang="zh-CN" altLang="en-US" b="1" dirty="0"/>
          </a:p>
        </p:txBody>
      </p:sp>
      <p:sp>
        <p:nvSpPr>
          <p:cNvPr id="28" name="文本框 37">
            <a:extLst>
              <a:ext uri="{FF2B5EF4-FFF2-40B4-BE49-F238E27FC236}">
                <a16:creationId xmlns:a16="http://schemas.microsoft.com/office/drawing/2014/main" id="{428EC59F-9E54-F8DC-A3F5-C250CDD567E9}"/>
              </a:ext>
            </a:extLst>
          </p:cNvPr>
          <p:cNvSpPr txBox="1"/>
          <p:nvPr/>
        </p:nvSpPr>
        <p:spPr>
          <a:xfrm>
            <a:off x="3494149" y="5988122"/>
            <a:ext cx="190733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bbb@163.com</a:t>
            </a:r>
            <a:endParaRPr lang="zh-CN" altLang="en-US" b="1" dirty="0"/>
          </a:p>
        </p:txBody>
      </p:sp>
      <p:grpSp>
        <p:nvGrpSpPr>
          <p:cNvPr id="29" name="组合 28">
            <a:extLst>
              <a:ext uri="{FF2B5EF4-FFF2-40B4-BE49-F238E27FC236}">
                <a16:creationId xmlns:a16="http://schemas.microsoft.com/office/drawing/2014/main" id="{97628057-02BF-6DEF-AA22-12130BEBBAE4}"/>
              </a:ext>
            </a:extLst>
          </p:cNvPr>
          <p:cNvGrpSpPr/>
          <p:nvPr/>
        </p:nvGrpSpPr>
        <p:grpSpPr>
          <a:xfrm>
            <a:off x="585970" y="4494166"/>
            <a:ext cx="1035776" cy="833182"/>
            <a:chOff x="564705" y="4713903"/>
            <a:chExt cx="1035776" cy="833182"/>
          </a:xfrm>
        </p:grpSpPr>
        <p:pic>
          <p:nvPicPr>
            <p:cNvPr id="30" name="图形 29">
              <a:extLst>
                <a:ext uri="{FF2B5EF4-FFF2-40B4-BE49-F238E27FC236}">
                  <a16:creationId xmlns:a16="http://schemas.microsoft.com/office/drawing/2014/main" id="{A4CB83E9-AFF7-0058-4B20-B2D2EC03E9A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43281" y="5089885"/>
              <a:ext cx="457200" cy="457200"/>
            </a:xfrm>
            <a:prstGeom prst="rect">
              <a:avLst/>
            </a:prstGeom>
          </p:spPr>
        </p:pic>
        <p:sp>
          <p:nvSpPr>
            <p:cNvPr id="31" name="文本框 37">
              <a:extLst>
                <a:ext uri="{FF2B5EF4-FFF2-40B4-BE49-F238E27FC236}">
                  <a16:creationId xmlns:a16="http://schemas.microsoft.com/office/drawing/2014/main" id="{65B3B77F-70F8-9072-4504-4D2043520B29}"/>
                </a:ext>
              </a:extLst>
            </p:cNvPr>
            <p:cNvSpPr txBox="1"/>
            <p:nvPr/>
          </p:nvSpPr>
          <p:spPr>
            <a:xfrm>
              <a:off x="564705" y="4713903"/>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32" name="组合 31">
            <a:extLst>
              <a:ext uri="{FF2B5EF4-FFF2-40B4-BE49-F238E27FC236}">
                <a16:creationId xmlns:a16="http://schemas.microsoft.com/office/drawing/2014/main" id="{E9FC2F00-C3F2-ED11-0CF5-25841D76549D}"/>
              </a:ext>
            </a:extLst>
          </p:cNvPr>
          <p:cNvGrpSpPr/>
          <p:nvPr/>
        </p:nvGrpSpPr>
        <p:grpSpPr>
          <a:xfrm>
            <a:off x="3971456" y="4494166"/>
            <a:ext cx="1027225" cy="833180"/>
            <a:chOff x="3950191" y="4713903"/>
            <a:chExt cx="1027225" cy="833180"/>
          </a:xfrm>
        </p:grpSpPr>
        <p:pic>
          <p:nvPicPr>
            <p:cNvPr id="33" name="图片 32" descr="卡通人物&#10;&#10;描述已自动生成">
              <a:extLst>
                <a:ext uri="{FF2B5EF4-FFF2-40B4-BE49-F238E27FC236}">
                  <a16:creationId xmlns:a16="http://schemas.microsoft.com/office/drawing/2014/main" id="{069B2967-6B56-492A-4BE0-36645DB0F81E}"/>
                </a:ext>
              </a:extLst>
            </p:cNvPr>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50191" y="5089885"/>
              <a:ext cx="457198" cy="457198"/>
            </a:xfrm>
            <a:prstGeom prst="rect">
              <a:avLst/>
            </a:prstGeom>
          </p:spPr>
        </p:pic>
        <p:sp>
          <p:nvSpPr>
            <p:cNvPr id="34" name="文本框 37">
              <a:extLst>
                <a:ext uri="{FF2B5EF4-FFF2-40B4-BE49-F238E27FC236}">
                  <a16:creationId xmlns:a16="http://schemas.microsoft.com/office/drawing/2014/main" id="{6784A3B3-5EDD-989F-3246-E0E6009E4778}"/>
                </a:ext>
              </a:extLst>
            </p:cNvPr>
            <p:cNvSpPr txBox="1"/>
            <p:nvPr/>
          </p:nvSpPr>
          <p:spPr>
            <a:xfrm>
              <a:off x="4037880" y="4713903"/>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cxnSp>
        <p:nvCxnSpPr>
          <p:cNvPr id="35" name="直接箭头连接符 34">
            <a:extLst>
              <a:ext uri="{FF2B5EF4-FFF2-40B4-BE49-F238E27FC236}">
                <a16:creationId xmlns:a16="http://schemas.microsoft.com/office/drawing/2014/main" id="{7C0FC919-831B-DA6B-8721-715C4792E3AF}"/>
              </a:ext>
            </a:extLst>
          </p:cNvPr>
          <p:cNvCxnSpPr/>
          <p:nvPr/>
        </p:nvCxnSpPr>
        <p:spPr>
          <a:xfrm flipV="1">
            <a:off x="1525506" y="3842686"/>
            <a:ext cx="812239" cy="1027462"/>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6" name="文本框 37">
            <a:extLst>
              <a:ext uri="{FF2B5EF4-FFF2-40B4-BE49-F238E27FC236}">
                <a16:creationId xmlns:a16="http://schemas.microsoft.com/office/drawing/2014/main" id="{EA19FC0D-31A2-4580-50B3-AE5327DBB269}"/>
              </a:ext>
            </a:extLst>
          </p:cNvPr>
          <p:cNvSpPr txBox="1"/>
          <p:nvPr/>
        </p:nvSpPr>
        <p:spPr>
          <a:xfrm>
            <a:off x="1191376" y="4041788"/>
            <a:ext cx="837044"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cxnSp>
        <p:nvCxnSpPr>
          <p:cNvPr id="37" name="直接箭头连接符 36">
            <a:extLst>
              <a:ext uri="{FF2B5EF4-FFF2-40B4-BE49-F238E27FC236}">
                <a16:creationId xmlns:a16="http://schemas.microsoft.com/office/drawing/2014/main" id="{BCA9FE96-066B-7365-6846-2B1F79A2D24B}"/>
              </a:ext>
            </a:extLst>
          </p:cNvPr>
          <p:cNvCxnSpPr>
            <a:cxnSpLocks/>
          </p:cNvCxnSpPr>
          <p:nvPr/>
        </p:nvCxnSpPr>
        <p:spPr>
          <a:xfrm>
            <a:off x="3199893" y="3907458"/>
            <a:ext cx="771563" cy="962690"/>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8D976E68-2197-C34A-15C6-1CD5A3F89985}"/>
              </a:ext>
            </a:extLst>
          </p:cNvPr>
          <p:cNvSpPr txBox="1"/>
          <p:nvPr/>
        </p:nvSpPr>
        <p:spPr>
          <a:xfrm>
            <a:off x="3507750" y="4041788"/>
            <a:ext cx="93931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grpSp>
        <p:nvGrpSpPr>
          <p:cNvPr id="65" name="组合 64">
            <a:extLst>
              <a:ext uri="{FF2B5EF4-FFF2-40B4-BE49-F238E27FC236}">
                <a16:creationId xmlns:a16="http://schemas.microsoft.com/office/drawing/2014/main" id="{DFDBEAEB-26B6-8548-34A0-9FE9157BF836}"/>
              </a:ext>
            </a:extLst>
          </p:cNvPr>
          <p:cNvGrpSpPr/>
          <p:nvPr/>
        </p:nvGrpSpPr>
        <p:grpSpPr>
          <a:xfrm>
            <a:off x="7641997" y="5632853"/>
            <a:ext cx="2679874" cy="499322"/>
            <a:chOff x="7772181" y="5724825"/>
            <a:chExt cx="2679874" cy="499322"/>
          </a:xfrm>
        </p:grpSpPr>
        <p:cxnSp>
          <p:nvCxnSpPr>
            <p:cNvPr id="47" name="连接符: 曲线 46">
              <a:extLst>
                <a:ext uri="{FF2B5EF4-FFF2-40B4-BE49-F238E27FC236}">
                  <a16:creationId xmlns:a16="http://schemas.microsoft.com/office/drawing/2014/main" id="{2167C916-A97B-00A4-982D-DDB9F6797D35}"/>
                </a:ext>
              </a:extLst>
            </p:cNvPr>
            <p:cNvCxnSpPr>
              <a:cxnSpLocks/>
            </p:cNvCxnSpPr>
            <p:nvPr/>
          </p:nvCxnSpPr>
          <p:spPr>
            <a:xfrm rot="5400000" flipH="1" flipV="1">
              <a:off x="9047346" y="4449660"/>
              <a:ext cx="129544" cy="2679874"/>
            </a:xfrm>
            <a:prstGeom prst="curvedConnector3">
              <a:avLst>
                <a:gd name="adj1" fmla="val -176465"/>
              </a:avLst>
            </a:prstGeom>
            <a:ln w="38100">
              <a:solidFill>
                <a:schemeClr val="tx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50" name="文本框 37">
              <a:extLst>
                <a:ext uri="{FF2B5EF4-FFF2-40B4-BE49-F238E27FC236}">
                  <a16:creationId xmlns:a16="http://schemas.microsoft.com/office/drawing/2014/main" id="{1E7D07CF-3B5B-6582-939E-9DED860F40DA}"/>
                </a:ext>
              </a:extLst>
            </p:cNvPr>
            <p:cNvSpPr txBox="1"/>
            <p:nvPr/>
          </p:nvSpPr>
          <p:spPr>
            <a:xfrm>
              <a:off x="8481627" y="5854815"/>
              <a:ext cx="1122565" cy="369332"/>
            </a:xfrm>
            <a:prstGeom prst="rect">
              <a:avLst/>
            </a:prstGeom>
            <a:solidFill>
              <a:schemeClr val="bg1"/>
            </a:solid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发送邮件</a:t>
              </a:r>
            </a:p>
          </p:txBody>
        </p:sp>
      </p:grpSp>
      <p:sp>
        <p:nvSpPr>
          <p:cNvPr id="51" name="文本框 37">
            <a:extLst>
              <a:ext uri="{FF2B5EF4-FFF2-40B4-BE49-F238E27FC236}">
                <a16:creationId xmlns:a16="http://schemas.microsoft.com/office/drawing/2014/main" id="{AA770079-ADCA-8373-4F2E-8797B123DDE1}"/>
              </a:ext>
            </a:extLst>
          </p:cNvPr>
          <p:cNvSpPr txBox="1"/>
          <p:nvPr/>
        </p:nvSpPr>
        <p:spPr>
          <a:xfrm>
            <a:off x="6245757" y="5995727"/>
            <a:ext cx="1837969"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aaa@163.com</a:t>
            </a:r>
            <a:endParaRPr lang="zh-CN" altLang="en-US" b="1" dirty="0"/>
          </a:p>
        </p:txBody>
      </p:sp>
      <p:sp>
        <p:nvSpPr>
          <p:cNvPr id="52" name="文本框 37">
            <a:extLst>
              <a:ext uri="{FF2B5EF4-FFF2-40B4-BE49-F238E27FC236}">
                <a16:creationId xmlns:a16="http://schemas.microsoft.com/office/drawing/2014/main" id="{21CE8BA4-E174-6F45-54FD-7093FD499941}"/>
              </a:ext>
            </a:extLst>
          </p:cNvPr>
          <p:cNvSpPr txBox="1"/>
          <p:nvPr/>
        </p:nvSpPr>
        <p:spPr>
          <a:xfrm>
            <a:off x="9796534" y="5989041"/>
            <a:ext cx="214926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t>ccc@gmail.com</a:t>
            </a:r>
            <a:endParaRPr lang="zh-CN" altLang="en-US" b="1" dirty="0"/>
          </a:p>
        </p:txBody>
      </p:sp>
      <p:grpSp>
        <p:nvGrpSpPr>
          <p:cNvPr id="8" name="组合 7">
            <a:extLst>
              <a:ext uri="{FF2B5EF4-FFF2-40B4-BE49-F238E27FC236}">
                <a16:creationId xmlns:a16="http://schemas.microsoft.com/office/drawing/2014/main" id="{58F283E9-CC1B-B200-E071-C221EEF0326C}"/>
              </a:ext>
            </a:extLst>
          </p:cNvPr>
          <p:cNvGrpSpPr/>
          <p:nvPr/>
        </p:nvGrpSpPr>
        <p:grpSpPr>
          <a:xfrm>
            <a:off x="6847265" y="4494166"/>
            <a:ext cx="1035776" cy="833182"/>
            <a:chOff x="6847265" y="4494166"/>
            <a:chExt cx="1035776" cy="833182"/>
          </a:xfrm>
        </p:grpSpPr>
        <p:pic>
          <p:nvPicPr>
            <p:cNvPr id="53" name="图形 52">
              <a:extLst>
                <a:ext uri="{FF2B5EF4-FFF2-40B4-BE49-F238E27FC236}">
                  <a16:creationId xmlns:a16="http://schemas.microsoft.com/office/drawing/2014/main" id="{8D9C3AB9-1C0C-0B5E-8C05-E18B2BA6255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25841" y="4870148"/>
              <a:ext cx="457200" cy="457200"/>
            </a:xfrm>
            <a:prstGeom prst="rect">
              <a:avLst/>
            </a:prstGeom>
          </p:spPr>
        </p:pic>
        <p:sp>
          <p:nvSpPr>
            <p:cNvPr id="55" name="文本框 37">
              <a:extLst>
                <a:ext uri="{FF2B5EF4-FFF2-40B4-BE49-F238E27FC236}">
                  <a16:creationId xmlns:a16="http://schemas.microsoft.com/office/drawing/2014/main" id="{4D80380C-5678-D701-CE82-5EA60F853135}"/>
                </a:ext>
              </a:extLst>
            </p:cNvPr>
            <p:cNvSpPr txBox="1"/>
            <p:nvPr/>
          </p:nvSpPr>
          <p:spPr>
            <a:xfrm>
              <a:off x="6847265" y="4494166"/>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68" name="组合 67">
            <a:extLst>
              <a:ext uri="{FF2B5EF4-FFF2-40B4-BE49-F238E27FC236}">
                <a16:creationId xmlns:a16="http://schemas.microsoft.com/office/drawing/2014/main" id="{592FB3D2-7BA0-AC3F-D340-0C40CE501726}"/>
              </a:ext>
            </a:extLst>
          </p:cNvPr>
          <p:cNvGrpSpPr/>
          <p:nvPr/>
        </p:nvGrpSpPr>
        <p:grpSpPr>
          <a:xfrm>
            <a:off x="10232751" y="4494166"/>
            <a:ext cx="1035934" cy="833180"/>
            <a:chOff x="10232751" y="4494166"/>
            <a:chExt cx="1035934" cy="833180"/>
          </a:xfrm>
        </p:grpSpPr>
        <p:pic>
          <p:nvPicPr>
            <p:cNvPr id="54" name="图片 53" descr="卡通人物&#10;&#10;描述已自动生成">
              <a:extLst>
                <a:ext uri="{FF2B5EF4-FFF2-40B4-BE49-F238E27FC236}">
                  <a16:creationId xmlns:a16="http://schemas.microsoft.com/office/drawing/2014/main" id="{1A267C25-8232-3CD8-348D-5FE0879303EF}"/>
                </a:ext>
              </a:extLst>
            </p:cNvPr>
            <p:cNvPicPr>
              <a:picLocks noChangeAspect="1"/>
            </p:cNvPicPr>
            <p:nvPr/>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232751" y="4870148"/>
              <a:ext cx="457198" cy="457198"/>
            </a:xfrm>
            <a:prstGeom prst="rect">
              <a:avLst/>
            </a:prstGeom>
          </p:spPr>
        </p:pic>
        <p:sp>
          <p:nvSpPr>
            <p:cNvPr id="56" name="文本框 37">
              <a:extLst>
                <a:ext uri="{FF2B5EF4-FFF2-40B4-BE49-F238E27FC236}">
                  <a16:creationId xmlns:a16="http://schemas.microsoft.com/office/drawing/2014/main" id="{E413D3CE-BCBA-FF89-152F-8B0BB0718086}"/>
                </a:ext>
              </a:extLst>
            </p:cNvPr>
            <p:cNvSpPr txBox="1"/>
            <p:nvPr/>
          </p:nvSpPr>
          <p:spPr>
            <a:xfrm>
              <a:off x="10329149" y="4494166"/>
              <a:ext cx="939536"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b="1" dirty="0"/>
                <a:t>浏览器</a:t>
              </a:r>
            </a:p>
          </p:txBody>
        </p:sp>
      </p:grpSp>
      <p:grpSp>
        <p:nvGrpSpPr>
          <p:cNvPr id="66" name="组合 65">
            <a:extLst>
              <a:ext uri="{FF2B5EF4-FFF2-40B4-BE49-F238E27FC236}">
                <a16:creationId xmlns:a16="http://schemas.microsoft.com/office/drawing/2014/main" id="{74304152-B5AD-16C2-8799-2C69510B60AB}"/>
              </a:ext>
            </a:extLst>
          </p:cNvPr>
          <p:cNvGrpSpPr/>
          <p:nvPr/>
        </p:nvGrpSpPr>
        <p:grpSpPr>
          <a:xfrm>
            <a:off x="6786136" y="3893360"/>
            <a:ext cx="962777" cy="978784"/>
            <a:chOff x="6786136" y="3893360"/>
            <a:chExt cx="962777" cy="978784"/>
          </a:xfrm>
        </p:grpSpPr>
        <p:cxnSp>
          <p:nvCxnSpPr>
            <p:cNvPr id="57" name="直接箭头连接符 56">
              <a:extLst>
                <a:ext uri="{FF2B5EF4-FFF2-40B4-BE49-F238E27FC236}">
                  <a16:creationId xmlns:a16="http://schemas.microsoft.com/office/drawing/2014/main" id="{3B4CDC5D-C7B3-F7B4-8556-435100830140}"/>
                </a:ext>
              </a:extLst>
            </p:cNvPr>
            <p:cNvCxnSpPr>
              <a:cxnSpLocks/>
            </p:cNvCxnSpPr>
            <p:nvPr/>
          </p:nvCxnSpPr>
          <p:spPr>
            <a:xfrm flipV="1">
              <a:off x="7748913" y="3893360"/>
              <a:ext cx="0" cy="978784"/>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58" name="文本框 37">
              <a:extLst>
                <a:ext uri="{FF2B5EF4-FFF2-40B4-BE49-F238E27FC236}">
                  <a16:creationId xmlns:a16="http://schemas.microsoft.com/office/drawing/2014/main" id="{66DCFE5F-FD7A-DE20-6AF7-1736DFDE6D18}"/>
                </a:ext>
              </a:extLst>
            </p:cNvPr>
            <p:cNvSpPr txBox="1"/>
            <p:nvPr/>
          </p:nvSpPr>
          <p:spPr>
            <a:xfrm>
              <a:off x="6786136" y="4041788"/>
              <a:ext cx="94976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grpSp>
      <p:grpSp>
        <p:nvGrpSpPr>
          <p:cNvPr id="69" name="组合 68">
            <a:extLst>
              <a:ext uri="{FF2B5EF4-FFF2-40B4-BE49-F238E27FC236}">
                <a16:creationId xmlns:a16="http://schemas.microsoft.com/office/drawing/2014/main" id="{9FD611BD-8E01-28AE-81A5-F940998C9477}"/>
              </a:ext>
            </a:extLst>
          </p:cNvPr>
          <p:cNvGrpSpPr/>
          <p:nvPr/>
        </p:nvGrpSpPr>
        <p:grpSpPr>
          <a:xfrm>
            <a:off x="10362708" y="3893360"/>
            <a:ext cx="939528" cy="1005199"/>
            <a:chOff x="10362708" y="3893360"/>
            <a:chExt cx="939528" cy="1005199"/>
          </a:xfrm>
        </p:grpSpPr>
        <p:sp>
          <p:nvSpPr>
            <p:cNvPr id="59" name="文本框 37">
              <a:extLst>
                <a:ext uri="{FF2B5EF4-FFF2-40B4-BE49-F238E27FC236}">
                  <a16:creationId xmlns:a16="http://schemas.microsoft.com/office/drawing/2014/main" id="{276824CC-610D-E246-25C7-AE441185B371}"/>
                </a:ext>
              </a:extLst>
            </p:cNvPr>
            <p:cNvSpPr txBox="1"/>
            <p:nvPr/>
          </p:nvSpPr>
          <p:spPr>
            <a:xfrm>
              <a:off x="10367091" y="4041788"/>
              <a:ext cx="935145"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rgbClr val="C00000"/>
                  </a:solidFill>
                </a:rPr>
                <a:t>HTTP</a:t>
              </a:r>
              <a:endParaRPr lang="zh-CN" altLang="en-US" b="1" dirty="0">
                <a:solidFill>
                  <a:srgbClr val="C00000"/>
                </a:solidFill>
              </a:endParaRPr>
            </a:p>
          </p:txBody>
        </p:sp>
        <p:cxnSp>
          <p:nvCxnSpPr>
            <p:cNvPr id="62" name="直接箭头连接符 61">
              <a:extLst>
                <a:ext uri="{FF2B5EF4-FFF2-40B4-BE49-F238E27FC236}">
                  <a16:creationId xmlns:a16="http://schemas.microsoft.com/office/drawing/2014/main" id="{5ADFF09C-E979-33C8-A922-6D3BFA2CDB80}"/>
                </a:ext>
              </a:extLst>
            </p:cNvPr>
            <p:cNvCxnSpPr>
              <a:cxnSpLocks/>
            </p:cNvCxnSpPr>
            <p:nvPr/>
          </p:nvCxnSpPr>
          <p:spPr>
            <a:xfrm>
              <a:off x="10362708" y="3893360"/>
              <a:ext cx="0" cy="1005199"/>
            </a:xfrm>
            <a:prstGeom prst="straightConnector1">
              <a:avLst/>
            </a:prstGeom>
            <a:ln w="3810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5270B5CF-9950-E296-F7C0-FE8A84E0D76C}"/>
              </a:ext>
            </a:extLst>
          </p:cNvPr>
          <p:cNvGrpSpPr/>
          <p:nvPr/>
        </p:nvGrpSpPr>
        <p:grpSpPr>
          <a:xfrm>
            <a:off x="7883041" y="3228078"/>
            <a:ext cx="1947770" cy="369332"/>
            <a:chOff x="7883041" y="3228078"/>
            <a:chExt cx="1947770" cy="369332"/>
          </a:xfrm>
        </p:grpSpPr>
        <p:cxnSp>
          <p:nvCxnSpPr>
            <p:cNvPr id="63" name="直接箭头连接符 62">
              <a:extLst>
                <a:ext uri="{FF2B5EF4-FFF2-40B4-BE49-F238E27FC236}">
                  <a16:creationId xmlns:a16="http://schemas.microsoft.com/office/drawing/2014/main" id="{3BBBD5B6-7D0C-8674-DF73-C58DF16156CF}"/>
                </a:ext>
              </a:extLst>
            </p:cNvPr>
            <p:cNvCxnSpPr>
              <a:cxnSpLocks/>
              <a:stCxn id="46" idx="3"/>
              <a:endCxn id="61" idx="1"/>
            </p:cNvCxnSpPr>
            <p:nvPr/>
          </p:nvCxnSpPr>
          <p:spPr>
            <a:xfrm flipV="1">
              <a:off x="7883041" y="3579846"/>
              <a:ext cx="1947770" cy="2184"/>
            </a:xfrm>
            <a:prstGeom prst="straightConnector1">
              <a:avLst/>
            </a:prstGeom>
            <a:ln w="38100">
              <a:solidFill>
                <a:schemeClr val="accent3"/>
              </a:solidFill>
              <a:tailEnd type="triangle" w="med" len="lg"/>
            </a:ln>
          </p:spPr>
          <p:style>
            <a:lnRef idx="1">
              <a:schemeClr val="accent1"/>
            </a:lnRef>
            <a:fillRef idx="0">
              <a:schemeClr val="accent1"/>
            </a:fillRef>
            <a:effectRef idx="0">
              <a:schemeClr val="accent1"/>
            </a:effectRef>
            <a:fontRef idx="minor">
              <a:schemeClr val="tx1"/>
            </a:fontRef>
          </p:style>
        </p:cxnSp>
        <p:sp>
          <p:nvSpPr>
            <p:cNvPr id="64" name="文本框 37">
              <a:extLst>
                <a:ext uri="{FF2B5EF4-FFF2-40B4-BE49-F238E27FC236}">
                  <a16:creationId xmlns:a16="http://schemas.microsoft.com/office/drawing/2014/main" id="{887B28CE-7757-3033-A8D8-28078B3FE16F}"/>
                </a:ext>
              </a:extLst>
            </p:cNvPr>
            <p:cNvSpPr txBox="1"/>
            <p:nvPr/>
          </p:nvSpPr>
          <p:spPr>
            <a:xfrm>
              <a:off x="8553499" y="3228078"/>
              <a:ext cx="904771" cy="369332"/>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b="1" dirty="0">
                  <a:solidFill>
                    <a:schemeClr val="accent3"/>
                  </a:solidFill>
                </a:rPr>
                <a:t>SMTP</a:t>
              </a:r>
              <a:endParaRPr lang="zh-CN" altLang="en-US" b="1" dirty="0">
                <a:solidFill>
                  <a:schemeClr val="accent3"/>
                </a:solidFill>
              </a:endParaRPr>
            </a:p>
          </p:txBody>
        </p:sp>
      </p:grpSp>
    </p:spTree>
    <p:custDataLst>
      <p:tags r:id="rId1"/>
    </p:custDataLst>
    <p:extLst>
      <p:ext uri="{BB962C8B-B14F-4D97-AF65-F5344CB8AC3E}">
        <p14:creationId xmlns:p14="http://schemas.microsoft.com/office/powerpoint/2010/main" val="2909238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decel="100000"/>
                                        <p:tgtEl>
                                          <p:spTgt spid="7"/>
                                        </p:tgtEl>
                                      </p:cBhvr>
                                    </p:animEffect>
                                    <p:anim calcmode="lin" valueType="num">
                                      <p:cBhvr>
                                        <p:cTn id="8" dur="800" decel="100000" fill="hold"/>
                                        <p:tgtEl>
                                          <p:spTgt spid="7"/>
                                        </p:tgtEl>
                                        <p:attrNameLst>
                                          <p:attrName>style.rotation</p:attrName>
                                        </p:attrNameLst>
                                      </p:cBhvr>
                                      <p:tavLst>
                                        <p:tav tm="0">
                                          <p:val>
                                            <p:fltVal val="-90"/>
                                          </p:val>
                                        </p:tav>
                                        <p:tav tm="100000">
                                          <p:val>
                                            <p:fltVal val="0"/>
                                          </p:val>
                                        </p:tav>
                                      </p:tavLst>
                                    </p:anim>
                                    <p:anim calcmode="lin" valueType="num">
                                      <p:cBhvr>
                                        <p:cTn id="9" dur="800" decel="100000" fill="hold"/>
                                        <p:tgtEl>
                                          <p:spTgt spid="7"/>
                                        </p:tgtEl>
                                        <p:attrNameLst>
                                          <p:attrName>ppt_x</p:attrName>
                                        </p:attrNameLst>
                                      </p:cBhvr>
                                      <p:tavLst>
                                        <p:tav tm="0">
                                          <p:val>
                                            <p:strVal val="#ppt_x+0.4"/>
                                          </p:val>
                                        </p:tav>
                                        <p:tav tm="100000">
                                          <p:val>
                                            <p:strVal val="#ppt_x-0.05"/>
                                          </p:val>
                                        </p:tav>
                                      </p:tavLst>
                                    </p:anim>
                                    <p:anim calcmode="lin" valueType="num">
                                      <p:cBhvr>
                                        <p:cTn id="10" dur="800" decel="100000" fill="hold"/>
                                        <p:tgtEl>
                                          <p:spTgt spid="7"/>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additive="base">
                                        <p:cTn id="17" dur="500"/>
                                        <p:tgtEl>
                                          <p:spTgt spid="51"/>
                                        </p:tgtEl>
                                        <p:attrNameLst>
                                          <p:attrName>ppt_y</p:attrName>
                                        </p:attrNameLst>
                                      </p:cBhvr>
                                      <p:tavLst>
                                        <p:tav tm="0">
                                          <p:val>
                                            <p:strVal val="#ppt_y-#ppt_h*1.125000"/>
                                          </p:val>
                                        </p:tav>
                                        <p:tav tm="100000">
                                          <p:val>
                                            <p:strVal val="#ppt_y"/>
                                          </p:val>
                                        </p:tav>
                                      </p:tavLst>
                                    </p:anim>
                                    <p:animEffect transition="in" filter="wipe(down)">
                                      <p:cBhvr>
                                        <p:cTn id="18" dur="500"/>
                                        <p:tgtEl>
                                          <p:spTgt spid="5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1"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anim calcmode="lin" valueType="num">
                                      <p:cBhvr additive="base">
                                        <p:cTn id="23" dur="500"/>
                                        <p:tgtEl>
                                          <p:spTgt spid="52"/>
                                        </p:tgtEl>
                                        <p:attrNameLst>
                                          <p:attrName>ppt_y</p:attrName>
                                        </p:attrNameLst>
                                      </p:cBhvr>
                                      <p:tavLst>
                                        <p:tav tm="0">
                                          <p:val>
                                            <p:strVal val="#ppt_y-#ppt_h*1.125000"/>
                                          </p:val>
                                        </p:tav>
                                        <p:tav tm="100000">
                                          <p:val>
                                            <p:strVal val="#ppt_y"/>
                                          </p:val>
                                        </p:tav>
                                      </p:tavLst>
                                    </p:anim>
                                    <p:animEffect transition="in" filter="wipe(down)">
                                      <p:cBhvr>
                                        <p:cTn id="24" dur="500"/>
                                        <p:tgtEl>
                                          <p:spTgt spid="5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5"/>
                                        </p:tgtEl>
                                        <p:attrNameLst>
                                          <p:attrName>style.visibility</p:attrName>
                                        </p:attrNameLst>
                                      </p:cBhvr>
                                      <p:to>
                                        <p:strVal val="visible"/>
                                      </p:to>
                                    </p:set>
                                    <p:animEffect transition="in" filter="wipe(left)">
                                      <p:cBhvr>
                                        <p:cTn id="29" dur="500"/>
                                        <p:tgtEl>
                                          <p:spTgt spid="65"/>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 calcmode="lin" valueType="num">
                                      <p:cBhvr>
                                        <p:cTn id="36" dur="500" fill="hold"/>
                                        <p:tgtEl>
                                          <p:spTgt spid="8"/>
                                        </p:tgtEl>
                                        <p:attrNameLst>
                                          <p:attrName>style.rotation</p:attrName>
                                        </p:attrNameLst>
                                      </p:cBhvr>
                                      <p:tavLst>
                                        <p:tav tm="0">
                                          <p:val>
                                            <p:fltVal val="360"/>
                                          </p:val>
                                        </p:tav>
                                        <p:tav tm="100000">
                                          <p:val>
                                            <p:fltVal val="0"/>
                                          </p:val>
                                        </p:tav>
                                      </p:tavLst>
                                    </p:anim>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wipe(down)">
                                      <p:cBhvr>
                                        <p:cTn id="42" dur="500"/>
                                        <p:tgtEl>
                                          <p:spTgt spid="6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wipe(left)">
                                      <p:cBhvr>
                                        <p:cTn id="47" dur="5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49" presetClass="entr" presetSubtype="0" decel="100000" fill="hold" nodeType="clickEffect">
                                  <p:stCondLst>
                                    <p:cond delay="0"/>
                                  </p:stCondLst>
                                  <p:childTnLst>
                                    <p:set>
                                      <p:cBhvr>
                                        <p:cTn id="51" dur="1" fill="hold">
                                          <p:stCondLst>
                                            <p:cond delay="0"/>
                                          </p:stCondLst>
                                        </p:cTn>
                                        <p:tgtEl>
                                          <p:spTgt spid="68"/>
                                        </p:tgtEl>
                                        <p:attrNameLst>
                                          <p:attrName>style.visibility</p:attrName>
                                        </p:attrNameLst>
                                      </p:cBhvr>
                                      <p:to>
                                        <p:strVal val="visible"/>
                                      </p:to>
                                    </p:set>
                                    <p:anim calcmode="lin" valueType="num">
                                      <p:cBhvr>
                                        <p:cTn id="52" dur="500" fill="hold"/>
                                        <p:tgtEl>
                                          <p:spTgt spid="68"/>
                                        </p:tgtEl>
                                        <p:attrNameLst>
                                          <p:attrName>ppt_w</p:attrName>
                                        </p:attrNameLst>
                                      </p:cBhvr>
                                      <p:tavLst>
                                        <p:tav tm="0">
                                          <p:val>
                                            <p:fltVal val="0"/>
                                          </p:val>
                                        </p:tav>
                                        <p:tav tm="100000">
                                          <p:val>
                                            <p:strVal val="#ppt_w"/>
                                          </p:val>
                                        </p:tav>
                                      </p:tavLst>
                                    </p:anim>
                                    <p:anim calcmode="lin" valueType="num">
                                      <p:cBhvr>
                                        <p:cTn id="53" dur="500" fill="hold"/>
                                        <p:tgtEl>
                                          <p:spTgt spid="68"/>
                                        </p:tgtEl>
                                        <p:attrNameLst>
                                          <p:attrName>ppt_h</p:attrName>
                                        </p:attrNameLst>
                                      </p:cBhvr>
                                      <p:tavLst>
                                        <p:tav tm="0">
                                          <p:val>
                                            <p:fltVal val="0"/>
                                          </p:val>
                                        </p:tav>
                                        <p:tav tm="100000">
                                          <p:val>
                                            <p:strVal val="#ppt_h"/>
                                          </p:val>
                                        </p:tav>
                                      </p:tavLst>
                                    </p:anim>
                                    <p:anim calcmode="lin" valueType="num">
                                      <p:cBhvr>
                                        <p:cTn id="54" dur="500" fill="hold"/>
                                        <p:tgtEl>
                                          <p:spTgt spid="68"/>
                                        </p:tgtEl>
                                        <p:attrNameLst>
                                          <p:attrName>style.rotation</p:attrName>
                                        </p:attrNameLst>
                                      </p:cBhvr>
                                      <p:tavLst>
                                        <p:tav tm="0">
                                          <p:val>
                                            <p:fltVal val="360"/>
                                          </p:val>
                                        </p:tav>
                                        <p:tav tm="100000">
                                          <p:val>
                                            <p:fltVal val="0"/>
                                          </p:val>
                                        </p:tav>
                                      </p:tavLst>
                                    </p:anim>
                                    <p:animEffect transition="in" filter="fade">
                                      <p:cBhvr>
                                        <p:cTn id="55" dur="500"/>
                                        <p:tgtEl>
                                          <p:spTgt spid="6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wipe(up)">
                                      <p:cBhvr>
                                        <p:cTn id="60"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sp>
        <p:nvSpPr>
          <p:cNvPr id="74" name="文本框 73">
            <a:extLst>
              <a:ext uri="{FF2B5EF4-FFF2-40B4-BE49-F238E27FC236}">
                <a16:creationId xmlns:a16="http://schemas.microsoft.com/office/drawing/2014/main" id="{D459E338-874D-D252-BD9F-90196F7FA744}"/>
              </a:ext>
            </a:extLst>
          </p:cNvPr>
          <p:cNvSpPr txBox="1"/>
          <p:nvPr/>
        </p:nvSpPr>
        <p:spPr>
          <a:xfrm>
            <a:off x="4423146" y="1445699"/>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D</a:t>
            </a:r>
            <a:endParaRPr lang="zh-CN" altLang="en-US" sz="2800" b="1" dirty="0">
              <a:solidFill>
                <a:schemeClr val="accent1">
                  <a:lumMod val="75000"/>
                </a:schemeClr>
              </a:solidFill>
              <a:latin typeface="+mn-ea"/>
            </a:endParaRPr>
          </a:p>
        </p:txBody>
      </p:sp>
      <p:grpSp>
        <p:nvGrpSpPr>
          <p:cNvPr id="76" name="组合 75">
            <a:extLst>
              <a:ext uri="{FF2B5EF4-FFF2-40B4-BE49-F238E27FC236}">
                <a16:creationId xmlns:a16="http://schemas.microsoft.com/office/drawing/2014/main" id="{96DE25E2-DBAC-6C78-9B41-19212293E891}"/>
              </a:ext>
            </a:extLst>
          </p:cNvPr>
          <p:cNvGrpSpPr/>
          <p:nvPr/>
        </p:nvGrpSpPr>
        <p:grpSpPr>
          <a:xfrm>
            <a:off x="304800" y="1228911"/>
            <a:ext cx="11582400" cy="2820878"/>
            <a:chOff x="304800" y="1228911"/>
            <a:chExt cx="11582400" cy="2820878"/>
          </a:xfrm>
        </p:grpSpPr>
        <p:sp>
          <p:nvSpPr>
            <p:cNvPr id="72" name="文本框 71">
              <a:extLst>
                <a:ext uri="{FF2B5EF4-FFF2-40B4-BE49-F238E27FC236}">
                  <a16:creationId xmlns:a16="http://schemas.microsoft.com/office/drawing/2014/main" id="{B634881A-03A2-6778-ABE0-C3DB2F6B0F2F}"/>
                </a:ext>
              </a:extLst>
            </p:cNvPr>
            <p:cNvSpPr txBox="1"/>
            <p:nvPr/>
          </p:nvSpPr>
          <p:spPr>
            <a:xfrm>
              <a:off x="304800" y="1228911"/>
              <a:ext cx="11582400" cy="646331"/>
            </a:xfrm>
            <a:prstGeom prst="rect">
              <a:avLst/>
            </a:prstGeom>
            <a:noFill/>
          </p:spPr>
          <p:txBody>
            <a:bodyPr wrap="square">
              <a:spAutoFit/>
            </a:bodyPr>
            <a:lstStyle/>
            <a:p>
              <a:r>
                <a:rPr lang="en-US" altLang="zh-CN" sz="1800" b="1" dirty="0">
                  <a:latin typeface="+mn-ea"/>
                </a:rPr>
                <a:t>【2012</a:t>
              </a:r>
              <a:r>
                <a:rPr lang="zh-CN" altLang="en-US" sz="1800" b="1" dirty="0">
                  <a:latin typeface="+mn-ea"/>
                </a:rPr>
                <a:t>年 题</a:t>
              </a:r>
              <a:r>
                <a:rPr lang="en-US" altLang="zh-CN" sz="1800" b="1" dirty="0">
                  <a:latin typeface="+mn-ea"/>
                </a:rPr>
                <a:t>40】</a:t>
              </a:r>
              <a:r>
                <a:rPr lang="zh-CN" altLang="en-US" sz="1800" b="1" dirty="0">
                  <a:latin typeface="+mn-ea"/>
                </a:rPr>
                <a:t>若用户</a:t>
              </a:r>
              <a:r>
                <a:rPr lang="en-US" altLang="zh-CN" sz="1800" b="1" dirty="0">
                  <a:latin typeface="+mn-ea"/>
                </a:rPr>
                <a:t>1</a:t>
              </a:r>
              <a:r>
                <a:rPr lang="zh-CN" altLang="en-US" sz="1800" b="1" dirty="0">
                  <a:latin typeface="+mn-ea"/>
                </a:rPr>
                <a:t>与用户</a:t>
              </a:r>
              <a:r>
                <a:rPr lang="en-US" altLang="zh-CN" sz="1800" b="1" dirty="0">
                  <a:latin typeface="+mn-ea"/>
                </a:rPr>
                <a:t>2</a:t>
              </a:r>
              <a:r>
                <a:rPr lang="zh-CN" altLang="en-US" sz="1800" b="1" dirty="0">
                  <a:latin typeface="+mn-ea"/>
                </a:rPr>
                <a:t>之间发送和接收电子邮件的过程如下图所示，则图中①、②、③阶段分别使用</a:t>
              </a:r>
              <a:endParaRPr lang="en-US" altLang="zh-CN" sz="1800" b="1" dirty="0">
                <a:latin typeface="+mn-ea"/>
              </a:endParaRPr>
            </a:p>
            <a:p>
              <a:r>
                <a:rPr lang="en-US" altLang="zh-CN" b="1" dirty="0">
                  <a:latin typeface="+mn-ea"/>
                </a:rPr>
                <a:t>                           </a:t>
              </a:r>
              <a:r>
                <a:rPr lang="zh-CN" altLang="en-US" sz="1800" b="1" dirty="0">
                  <a:latin typeface="+mn-ea"/>
                </a:rPr>
                <a:t>的应用层协议可以是（      ）。</a:t>
              </a:r>
            </a:p>
          </p:txBody>
        </p:sp>
        <p:sp>
          <p:nvSpPr>
            <p:cNvPr id="73" name="文本框 72">
              <a:extLst>
                <a:ext uri="{FF2B5EF4-FFF2-40B4-BE49-F238E27FC236}">
                  <a16:creationId xmlns:a16="http://schemas.microsoft.com/office/drawing/2014/main" id="{99634C10-A505-F4B8-1859-3ECDFD1BC43E}"/>
                </a:ext>
              </a:extLst>
            </p:cNvPr>
            <p:cNvSpPr txBox="1"/>
            <p:nvPr/>
          </p:nvSpPr>
          <p:spPr>
            <a:xfrm>
              <a:off x="2135494" y="1754740"/>
              <a:ext cx="6880916" cy="961289"/>
            </a:xfrm>
            <a:prstGeom prst="rect">
              <a:avLst/>
            </a:prstGeom>
            <a:noFill/>
          </p:spPr>
          <p:txBody>
            <a:bodyPr wrap="square" rtlCol="0">
              <a:spAutoFit/>
            </a:bodyPr>
            <a:lstStyle/>
            <a:p>
              <a:pPr>
                <a:lnSpc>
                  <a:spcPct val="150000"/>
                </a:lnSpc>
              </a:pPr>
              <a:r>
                <a:rPr lang="en-US" altLang="zh-CN" sz="2000" b="1" dirty="0"/>
                <a:t>A. SMTP</a:t>
              </a:r>
              <a:r>
                <a:rPr lang="zh-CN" altLang="en-US" sz="2000" b="1" dirty="0"/>
                <a:t>、</a:t>
              </a:r>
              <a:r>
                <a:rPr lang="en-US" altLang="zh-CN" sz="2000" b="1" dirty="0"/>
                <a:t>SMTP</a:t>
              </a:r>
              <a:r>
                <a:rPr lang="zh-CN" altLang="en-US" sz="2000" b="1" dirty="0"/>
                <a:t>、</a:t>
              </a:r>
              <a:r>
                <a:rPr lang="en-US" altLang="zh-CN" sz="2000" b="1" dirty="0"/>
                <a:t>SMTP</a:t>
              </a:r>
              <a:r>
                <a:rPr lang="zh-CN" altLang="en-US" sz="2000" b="1" dirty="0"/>
                <a:t>                          </a:t>
              </a:r>
              <a:r>
                <a:rPr lang="en-US" altLang="zh-CN" sz="2000" b="1" dirty="0"/>
                <a:t>B. POP3</a:t>
              </a:r>
              <a:r>
                <a:rPr lang="zh-CN" altLang="en-US" sz="2000" b="1" dirty="0"/>
                <a:t>、</a:t>
              </a:r>
              <a:r>
                <a:rPr lang="en-US" altLang="zh-CN" sz="2000" b="1" dirty="0"/>
                <a:t>SMTP</a:t>
              </a:r>
              <a:r>
                <a:rPr lang="zh-CN" altLang="en-US" sz="2000" b="1" dirty="0"/>
                <a:t>、</a:t>
              </a:r>
              <a:r>
                <a:rPr lang="en-US" altLang="zh-CN" sz="2000" b="1" dirty="0"/>
                <a:t>POP3</a:t>
              </a:r>
            </a:p>
            <a:p>
              <a:pPr>
                <a:lnSpc>
                  <a:spcPct val="150000"/>
                </a:lnSpc>
              </a:pPr>
              <a:r>
                <a:rPr lang="en-US" altLang="zh-CN" sz="2000" b="1" dirty="0"/>
                <a:t>C. POP3</a:t>
              </a:r>
              <a:r>
                <a:rPr lang="zh-CN" altLang="en-US" sz="2000" b="1" dirty="0"/>
                <a:t>、</a:t>
              </a:r>
              <a:r>
                <a:rPr lang="en-US" altLang="zh-CN" sz="2000" b="1" dirty="0"/>
                <a:t>SMTP</a:t>
              </a:r>
              <a:r>
                <a:rPr lang="zh-CN" altLang="en-US" sz="2000" b="1" dirty="0"/>
                <a:t>、</a:t>
              </a:r>
              <a:r>
                <a:rPr lang="en-US" altLang="zh-CN" sz="2000" b="1" dirty="0"/>
                <a:t>SMTP</a:t>
              </a:r>
              <a:r>
                <a:rPr lang="zh-CN" altLang="en-US" sz="2000" b="1" dirty="0"/>
                <a:t>                          </a:t>
              </a:r>
              <a:r>
                <a:rPr lang="en-US" altLang="zh-CN" sz="2000" b="1" dirty="0"/>
                <a:t>D. SMTP</a:t>
              </a:r>
              <a:r>
                <a:rPr lang="zh-CN" altLang="en-US" sz="2000" b="1" dirty="0"/>
                <a:t>、</a:t>
              </a:r>
              <a:r>
                <a:rPr lang="en-US" altLang="zh-CN" sz="2000" b="1" dirty="0"/>
                <a:t>SMTP</a:t>
              </a:r>
              <a:r>
                <a:rPr lang="zh-CN" altLang="en-US" sz="2000" b="1" dirty="0"/>
                <a:t>、</a:t>
              </a:r>
              <a:r>
                <a:rPr lang="en-US" altLang="zh-CN" sz="2000" b="1" dirty="0"/>
                <a:t>POP3</a:t>
              </a:r>
              <a:endParaRPr lang="zh-CN" altLang="en-US" sz="2000" b="1" dirty="0"/>
            </a:p>
          </p:txBody>
        </p:sp>
        <p:pic>
          <p:nvPicPr>
            <p:cNvPr id="75" name="图片 74" descr="图示&#10;&#10;描述已自动生成">
              <a:extLst>
                <a:ext uri="{FF2B5EF4-FFF2-40B4-BE49-F238E27FC236}">
                  <a16:creationId xmlns:a16="http://schemas.microsoft.com/office/drawing/2014/main" id="{B105C4CE-7710-9B5E-6318-028C0BFE9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983" y="2716029"/>
              <a:ext cx="7042032" cy="1333760"/>
            </a:xfrm>
            <a:prstGeom prst="rect">
              <a:avLst/>
            </a:prstGeom>
          </p:spPr>
        </p:pic>
      </p:grpSp>
      <p:sp>
        <p:nvSpPr>
          <p:cNvPr id="77" name="文本框 76">
            <a:extLst>
              <a:ext uri="{FF2B5EF4-FFF2-40B4-BE49-F238E27FC236}">
                <a16:creationId xmlns:a16="http://schemas.microsoft.com/office/drawing/2014/main" id="{86F5D9A2-5792-B355-C397-48E2C273BA0A}"/>
              </a:ext>
            </a:extLst>
          </p:cNvPr>
          <p:cNvSpPr txBox="1"/>
          <p:nvPr/>
        </p:nvSpPr>
        <p:spPr>
          <a:xfrm>
            <a:off x="512258" y="3938019"/>
            <a:ext cx="869976" cy="369332"/>
          </a:xfrm>
          <a:prstGeom prst="rect">
            <a:avLst/>
          </a:prstGeom>
          <a:noFill/>
        </p:spPr>
        <p:txBody>
          <a:bodyPr wrap="square" rtlCol="0">
            <a:spAutoFit/>
          </a:bodyPr>
          <a:lstStyle/>
          <a:p>
            <a:r>
              <a:rPr lang="zh-CN" altLang="en-US" b="1" dirty="0"/>
              <a:t>解析</a:t>
            </a:r>
          </a:p>
        </p:txBody>
      </p:sp>
      <p:pic>
        <p:nvPicPr>
          <p:cNvPr id="78" name="图片 77" descr="图示&#10;&#10;描述已自动生成">
            <a:extLst>
              <a:ext uri="{FF2B5EF4-FFF2-40B4-BE49-F238E27FC236}">
                <a16:creationId xmlns:a16="http://schemas.microsoft.com/office/drawing/2014/main" id="{0F97A088-C1CA-FCE0-E684-7996428EF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984" y="4745421"/>
            <a:ext cx="7042032" cy="1333760"/>
          </a:xfrm>
          <a:prstGeom prst="rect">
            <a:avLst/>
          </a:prstGeom>
        </p:spPr>
      </p:pic>
      <p:sp>
        <p:nvSpPr>
          <p:cNvPr id="79" name="文本框 78">
            <a:extLst>
              <a:ext uri="{FF2B5EF4-FFF2-40B4-BE49-F238E27FC236}">
                <a16:creationId xmlns:a16="http://schemas.microsoft.com/office/drawing/2014/main" id="{B8B05207-64A9-EDF4-B79C-737890AA3F53}"/>
              </a:ext>
            </a:extLst>
          </p:cNvPr>
          <p:cNvSpPr txBox="1"/>
          <p:nvPr/>
        </p:nvSpPr>
        <p:spPr>
          <a:xfrm>
            <a:off x="5730439" y="5257091"/>
            <a:ext cx="963961" cy="369332"/>
          </a:xfrm>
          <a:prstGeom prst="rect">
            <a:avLst/>
          </a:prstGeom>
          <a:noFill/>
        </p:spPr>
        <p:txBody>
          <a:bodyPr wrap="square" rtlCol="0">
            <a:spAutoFit/>
          </a:bodyPr>
          <a:lstStyle/>
          <a:p>
            <a:r>
              <a:rPr lang="en-US" altLang="zh-CN" b="1" dirty="0">
                <a:solidFill>
                  <a:schemeClr val="accent3"/>
                </a:solidFill>
              </a:rPr>
              <a:t>SMTP</a:t>
            </a:r>
            <a:endParaRPr lang="zh-CN" altLang="en-US" b="1" dirty="0">
              <a:solidFill>
                <a:schemeClr val="accent3"/>
              </a:solidFill>
            </a:endParaRPr>
          </a:p>
        </p:txBody>
      </p:sp>
      <p:sp>
        <p:nvSpPr>
          <p:cNvPr id="80" name="文本框 79">
            <a:extLst>
              <a:ext uri="{FF2B5EF4-FFF2-40B4-BE49-F238E27FC236}">
                <a16:creationId xmlns:a16="http://schemas.microsoft.com/office/drawing/2014/main" id="{B2031268-B84A-C82C-BE49-944575EE764B}"/>
              </a:ext>
            </a:extLst>
          </p:cNvPr>
          <p:cNvSpPr txBox="1"/>
          <p:nvPr/>
        </p:nvSpPr>
        <p:spPr>
          <a:xfrm>
            <a:off x="7796967" y="5257091"/>
            <a:ext cx="963961" cy="369332"/>
          </a:xfrm>
          <a:prstGeom prst="rect">
            <a:avLst/>
          </a:prstGeom>
          <a:noFill/>
        </p:spPr>
        <p:txBody>
          <a:bodyPr wrap="square" rtlCol="0">
            <a:spAutoFit/>
          </a:bodyPr>
          <a:lstStyle/>
          <a:p>
            <a:r>
              <a:rPr lang="en-US" altLang="zh-CN" b="1" dirty="0">
                <a:solidFill>
                  <a:schemeClr val="accent4"/>
                </a:solidFill>
              </a:rPr>
              <a:t>POP3</a:t>
            </a:r>
            <a:endParaRPr lang="zh-CN" altLang="en-US" b="1" dirty="0">
              <a:solidFill>
                <a:schemeClr val="accent4"/>
              </a:solidFill>
            </a:endParaRPr>
          </a:p>
        </p:txBody>
      </p:sp>
      <p:sp>
        <p:nvSpPr>
          <p:cNvPr id="81" name="文本框 80">
            <a:extLst>
              <a:ext uri="{FF2B5EF4-FFF2-40B4-BE49-F238E27FC236}">
                <a16:creationId xmlns:a16="http://schemas.microsoft.com/office/drawing/2014/main" id="{26339CC6-A9AC-B1EE-979B-B3FCBECA66E8}"/>
              </a:ext>
            </a:extLst>
          </p:cNvPr>
          <p:cNvSpPr txBox="1"/>
          <p:nvPr/>
        </p:nvSpPr>
        <p:spPr>
          <a:xfrm>
            <a:off x="3648603" y="5257091"/>
            <a:ext cx="971645" cy="369332"/>
          </a:xfrm>
          <a:prstGeom prst="rect">
            <a:avLst/>
          </a:prstGeom>
          <a:noFill/>
        </p:spPr>
        <p:txBody>
          <a:bodyPr wrap="square" rtlCol="0">
            <a:spAutoFit/>
          </a:bodyPr>
          <a:lstStyle/>
          <a:p>
            <a:r>
              <a:rPr lang="en-US" altLang="zh-CN" b="1" dirty="0">
                <a:solidFill>
                  <a:schemeClr val="accent3"/>
                </a:solidFill>
              </a:rPr>
              <a:t>SMTP</a:t>
            </a:r>
            <a:endParaRPr lang="zh-CN" altLang="en-US" b="1" dirty="0">
              <a:solidFill>
                <a:schemeClr val="accent3"/>
              </a:solidFill>
            </a:endParaRPr>
          </a:p>
        </p:txBody>
      </p:sp>
    </p:spTree>
    <p:custDataLst>
      <p:tags r:id="rId1"/>
    </p:custDataLst>
    <p:extLst>
      <p:ext uri="{BB962C8B-B14F-4D97-AF65-F5344CB8AC3E}">
        <p14:creationId xmlns:p14="http://schemas.microsoft.com/office/powerpoint/2010/main" val="216468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800" decel="100000"/>
                                        <p:tgtEl>
                                          <p:spTgt spid="76"/>
                                        </p:tgtEl>
                                      </p:cBhvr>
                                    </p:animEffect>
                                    <p:anim calcmode="lin" valueType="num">
                                      <p:cBhvr>
                                        <p:cTn id="8" dur="800" decel="100000" fill="hold"/>
                                        <p:tgtEl>
                                          <p:spTgt spid="76"/>
                                        </p:tgtEl>
                                        <p:attrNameLst>
                                          <p:attrName>style.rotation</p:attrName>
                                        </p:attrNameLst>
                                      </p:cBhvr>
                                      <p:tavLst>
                                        <p:tav tm="0">
                                          <p:val>
                                            <p:fltVal val="-90"/>
                                          </p:val>
                                        </p:tav>
                                        <p:tav tm="100000">
                                          <p:val>
                                            <p:fltVal val="0"/>
                                          </p:val>
                                        </p:tav>
                                      </p:tavLst>
                                    </p:anim>
                                    <p:anim calcmode="lin" valueType="num">
                                      <p:cBhvr>
                                        <p:cTn id="9" dur="800" decel="100000" fill="hold"/>
                                        <p:tgtEl>
                                          <p:spTgt spid="76"/>
                                        </p:tgtEl>
                                        <p:attrNameLst>
                                          <p:attrName>ppt_x</p:attrName>
                                        </p:attrNameLst>
                                      </p:cBhvr>
                                      <p:tavLst>
                                        <p:tav tm="0">
                                          <p:val>
                                            <p:strVal val="#ppt_x+0.4"/>
                                          </p:val>
                                        </p:tav>
                                        <p:tav tm="100000">
                                          <p:val>
                                            <p:strVal val="#ppt_x-0.05"/>
                                          </p:val>
                                        </p:tav>
                                      </p:tavLst>
                                    </p:anim>
                                    <p:anim calcmode="lin" valueType="num">
                                      <p:cBhvr>
                                        <p:cTn id="10" dur="800" decel="100000" fill="hold"/>
                                        <p:tgtEl>
                                          <p:spTgt spid="7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7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76"/>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800" decel="100000"/>
                                        <p:tgtEl>
                                          <p:spTgt spid="74"/>
                                        </p:tgtEl>
                                      </p:cBhvr>
                                    </p:animEffect>
                                    <p:anim calcmode="lin" valueType="num">
                                      <p:cBhvr>
                                        <p:cTn id="18" dur="800" decel="100000" fill="hold"/>
                                        <p:tgtEl>
                                          <p:spTgt spid="74"/>
                                        </p:tgtEl>
                                        <p:attrNameLst>
                                          <p:attrName>style.rotation</p:attrName>
                                        </p:attrNameLst>
                                      </p:cBhvr>
                                      <p:tavLst>
                                        <p:tav tm="0">
                                          <p:val>
                                            <p:fltVal val="-90"/>
                                          </p:val>
                                        </p:tav>
                                        <p:tav tm="100000">
                                          <p:val>
                                            <p:fltVal val="0"/>
                                          </p:val>
                                        </p:tav>
                                      </p:tavLst>
                                    </p:anim>
                                    <p:anim calcmode="lin" valueType="num">
                                      <p:cBhvr>
                                        <p:cTn id="19" dur="800" decel="100000" fill="hold"/>
                                        <p:tgtEl>
                                          <p:spTgt spid="74"/>
                                        </p:tgtEl>
                                        <p:attrNameLst>
                                          <p:attrName>ppt_x</p:attrName>
                                        </p:attrNameLst>
                                      </p:cBhvr>
                                      <p:tavLst>
                                        <p:tav tm="0">
                                          <p:val>
                                            <p:strVal val="#ppt_x+0.4"/>
                                          </p:val>
                                        </p:tav>
                                        <p:tav tm="100000">
                                          <p:val>
                                            <p:strVal val="#ppt_x-0.05"/>
                                          </p:val>
                                        </p:tav>
                                      </p:tavLst>
                                    </p:anim>
                                    <p:anim calcmode="lin" valueType="num">
                                      <p:cBhvr>
                                        <p:cTn id="20" dur="800" decel="100000" fill="hold"/>
                                        <p:tgtEl>
                                          <p:spTgt spid="74"/>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74"/>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74"/>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anim calcmode="lin" valueType="num">
                                      <p:cBhvr>
                                        <p:cTn id="27" dur="500" fill="hold"/>
                                        <p:tgtEl>
                                          <p:spTgt spid="77"/>
                                        </p:tgtEl>
                                        <p:attrNameLst>
                                          <p:attrName>ppt_w</p:attrName>
                                        </p:attrNameLst>
                                      </p:cBhvr>
                                      <p:tavLst>
                                        <p:tav tm="0">
                                          <p:val>
                                            <p:fltVal val="0"/>
                                          </p:val>
                                        </p:tav>
                                        <p:tav tm="100000">
                                          <p:val>
                                            <p:strVal val="#ppt_w"/>
                                          </p:val>
                                        </p:tav>
                                      </p:tavLst>
                                    </p:anim>
                                    <p:anim calcmode="lin" valueType="num">
                                      <p:cBhvr>
                                        <p:cTn id="28" dur="500" fill="hold"/>
                                        <p:tgtEl>
                                          <p:spTgt spid="77"/>
                                        </p:tgtEl>
                                        <p:attrNameLst>
                                          <p:attrName>ppt_h</p:attrName>
                                        </p:attrNameLst>
                                      </p:cBhvr>
                                      <p:tavLst>
                                        <p:tav tm="0">
                                          <p:val>
                                            <p:fltVal val="0"/>
                                          </p:val>
                                        </p:tav>
                                        <p:tav tm="100000">
                                          <p:val>
                                            <p:strVal val="#ppt_h"/>
                                          </p:val>
                                        </p:tav>
                                      </p:tavLst>
                                    </p:anim>
                                    <p:animEffect transition="in" filter="fade">
                                      <p:cBhvr>
                                        <p:cTn id="29" dur="500"/>
                                        <p:tgtEl>
                                          <p:spTgt spid="7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nodeType="clickEffect">
                                  <p:stCondLst>
                                    <p:cond delay="0"/>
                                  </p:stCondLst>
                                  <p:childTnLst>
                                    <p:set>
                                      <p:cBhvr>
                                        <p:cTn id="33" dur="1" fill="hold">
                                          <p:stCondLst>
                                            <p:cond delay="0"/>
                                          </p:stCondLst>
                                        </p:cTn>
                                        <p:tgtEl>
                                          <p:spTgt spid="78"/>
                                        </p:tgtEl>
                                        <p:attrNameLst>
                                          <p:attrName>style.visibility</p:attrName>
                                        </p:attrNameLst>
                                      </p:cBhvr>
                                      <p:to>
                                        <p:strVal val="visible"/>
                                      </p:to>
                                    </p:set>
                                    <p:anim calcmode="lin" valueType="num">
                                      <p:cBhvr additive="base">
                                        <p:cTn id="34" dur="500"/>
                                        <p:tgtEl>
                                          <p:spTgt spid="78"/>
                                        </p:tgtEl>
                                        <p:attrNameLst>
                                          <p:attrName>ppt_y</p:attrName>
                                        </p:attrNameLst>
                                      </p:cBhvr>
                                      <p:tavLst>
                                        <p:tav tm="0">
                                          <p:val>
                                            <p:strVal val="#ppt_y-#ppt_h*1.125000"/>
                                          </p:val>
                                        </p:tav>
                                        <p:tav tm="100000">
                                          <p:val>
                                            <p:strVal val="#ppt_y"/>
                                          </p:val>
                                        </p:tav>
                                      </p:tavLst>
                                    </p:anim>
                                    <p:animEffect transition="in" filter="wipe(down)">
                                      <p:cBhvr>
                                        <p:cTn id="35" dur="500"/>
                                        <p:tgtEl>
                                          <p:spTgt spid="78"/>
                                        </p:tgtEl>
                                      </p:cBhvr>
                                    </p:animEffect>
                                  </p:childTnLst>
                                </p:cTn>
                              </p:par>
                            </p:childTnLst>
                          </p:cTn>
                        </p:par>
                      </p:childTnLst>
                    </p:cTn>
                  </p:par>
                  <p:par>
                    <p:cTn id="36" fill="hold">
                      <p:stCondLst>
                        <p:cond delay="indefinite"/>
                      </p:stCondLst>
                      <p:childTnLst>
                        <p:par>
                          <p:cTn id="37" fill="hold">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81"/>
                                        </p:tgtEl>
                                        <p:attrNameLst>
                                          <p:attrName>style.visibility</p:attrName>
                                        </p:attrNameLst>
                                      </p:cBhvr>
                                      <p:to>
                                        <p:strVal val="visible"/>
                                      </p:to>
                                    </p:set>
                                    <p:anim calcmode="lin" valueType="num">
                                      <p:cBhvr>
                                        <p:cTn id="40" dur="500" fill="hold"/>
                                        <p:tgtEl>
                                          <p:spTgt spid="81"/>
                                        </p:tgtEl>
                                        <p:attrNameLst>
                                          <p:attrName>ppt_w</p:attrName>
                                        </p:attrNameLst>
                                      </p:cBhvr>
                                      <p:tavLst>
                                        <p:tav tm="0">
                                          <p:val>
                                            <p:fltVal val="0"/>
                                          </p:val>
                                        </p:tav>
                                        <p:tav tm="100000">
                                          <p:val>
                                            <p:strVal val="#ppt_w"/>
                                          </p:val>
                                        </p:tav>
                                      </p:tavLst>
                                    </p:anim>
                                    <p:anim calcmode="lin" valueType="num">
                                      <p:cBhvr>
                                        <p:cTn id="41" dur="500" fill="hold"/>
                                        <p:tgtEl>
                                          <p:spTgt spid="81"/>
                                        </p:tgtEl>
                                        <p:attrNameLst>
                                          <p:attrName>ppt_h</p:attrName>
                                        </p:attrNameLst>
                                      </p:cBhvr>
                                      <p:tavLst>
                                        <p:tav tm="0">
                                          <p:val>
                                            <p:fltVal val="0"/>
                                          </p:val>
                                        </p:tav>
                                        <p:tav tm="100000">
                                          <p:val>
                                            <p:strVal val="#ppt_h"/>
                                          </p:val>
                                        </p:tav>
                                      </p:tavLst>
                                    </p:anim>
                                    <p:anim calcmode="lin" valueType="num">
                                      <p:cBhvr>
                                        <p:cTn id="42" dur="500" fill="hold"/>
                                        <p:tgtEl>
                                          <p:spTgt spid="81"/>
                                        </p:tgtEl>
                                        <p:attrNameLst>
                                          <p:attrName>style.rotation</p:attrName>
                                        </p:attrNameLst>
                                      </p:cBhvr>
                                      <p:tavLst>
                                        <p:tav tm="0">
                                          <p:val>
                                            <p:fltVal val="360"/>
                                          </p:val>
                                        </p:tav>
                                        <p:tav tm="100000">
                                          <p:val>
                                            <p:fltVal val="0"/>
                                          </p:val>
                                        </p:tav>
                                      </p:tavLst>
                                    </p:anim>
                                    <p:animEffect transition="in" filter="fade">
                                      <p:cBhvr>
                                        <p:cTn id="43" dur="500"/>
                                        <p:tgtEl>
                                          <p:spTgt spid="81"/>
                                        </p:tgtEl>
                                      </p:cBhvr>
                                    </p:animEffect>
                                  </p:childTnLst>
                                </p:cTn>
                              </p:par>
                            </p:childTnLst>
                          </p:cTn>
                        </p:par>
                      </p:childTnLst>
                    </p:cTn>
                  </p:par>
                  <p:par>
                    <p:cTn id="44" fill="hold">
                      <p:stCondLst>
                        <p:cond delay="indefinite"/>
                      </p:stCondLst>
                      <p:childTnLst>
                        <p:par>
                          <p:cTn id="45" fill="hold">
                            <p:stCondLst>
                              <p:cond delay="0"/>
                            </p:stCondLst>
                            <p:childTnLst>
                              <p:par>
                                <p:cTn id="46" presetID="49" presetClass="entr" presetSubtype="0" decel="100000" fill="hold" grpId="0" nodeType="clickEffect">
                                  <p:stCondLst>
                                    <p:cond delay="0"/>
                                  </p:stCondLst>
                                  <p:childTnLst>
                                    <p:set>
                                      <p:cBhvr>
                                        <p:cTn id="47" dur="1" fill="hold">
                                          <p:stCondLst>
                                            <p:cond delay="0"/>
                                          </p:stCondLst>
                                        </p:cTn>
                                        <p:tgtEl>
                                          <p:spTgt spid="79"/>
                                        </p:tgtEl>
                                        <p:attrNameLst>
                                          <p:attrName>style.visibility</p:attrName>
                                        </p:attrNameLst>
                                      </p:cBhvr>
                                      <p:to>
                                        <p:strVal val="visible"/>
                                      </p:to>
                                    </p:set>
                                    <p:anim calcmode="lin" valueType="num">
                                      <p:cBhvr>
                                        <p:cTn id="48" dur="500" fill="hold"/>
                                        <p:tgtEl>
                                          <p:spTgt spid="79"/>
                                        </p:tgtEl>
                                        <p:attrNameLst>
                                          <p:attrName>ppt_w</p:attrName>
                                        </p:attrNameLst>
                                      </p:cBhvr>
                                      <p:tavLst>
                                        <p:tav tm="0">
                                          <p:val>
                                            <p:fltVal val="0"/>
                                          </p:val>
                                        </p:tav>
                                        <p:tav tm="100000">
                                          <p:val>
                                            <p:strVal val="#ppt_w"/>
                                          </p:val>
                                        </p:tav>
                                      </p:tavLst>
                                    </p:anim>
                                    <p:anim calcmode="lin" valueType="num">
                                      <p:cBhvr>
                                        <p:cTn id="49" dur="500" fill="hold"/>
                                        <p:tgtEl>
                                          <p:spTgt spid="79"/>
                                        </p:tgtEl>
                                        <p:attrNameLst>
                                          <p:attrName>ppt_h</p:attrName>
                                        </p:attrNameLst>
                                      </p:cBhvr>
                                      <p:tavLst>
                                        <p:tav tm="0">
                                          <p:val>
                                            <p:fltVal val="0"/>
                                          </p:val>
                                        </p:tav>
                                        <p:tav tm="100000">
                                          <p:val>
                                            <p:strVal val="#ppt_h"/>
                                          </p:val>
                                        </p:tav>
                                      </p:tavLst>
                                    </p:anim>
                                    <p:anim calcmode="lin" valueType="num">
                                      <p:cBhvr>
                                        <p:cTn id="50" dur="500" fill="hold"/>
                                        <p:tgtEl>
                                          <p:spTgt spid="79"/>
                                        </p:tgtEl>
                                        <p:attrNameLst>
                                          <p:attrName>style.rotation</p:attrName>
                                        </p:attrNameLst>
                                      </p:cBhvr>
                                      <p:tavLst>
                                        <p:tav tm="0">
                                          <p:val>
                                            <p:fltVal val="360"/>
                                          </p:val>
                                        </p:tav>
                                        <p:tav tm="100000">
                                          <p:val>
                                            <p:fltVal val="0"/>
                                          </p:val>
                                        </p:tav>
                                      </p:tavLst>
                                    </p:anim>
                                    <p:animEffect transition="in" filter="fade">
                                      <p:cBhvr>
                                        <p:cTn id="51" dur="500"/>
                                        <p:tgtEl>
                                          <p:spTgt spid="79"/>
                                        </p:tgtEl>
                                      </p:cBhvr>
                                    </p:animEffect>
                                  </p:childTnLst>
                                </p:cTn>
                              </p:par>
                            </p:childTnLst>
                          </p:cTn>
                        </p:par>
                      </p:childTnLst>
                    </p:cTn>
                  </p:par>
                  <p:par>
                    <p:cTn id="52" fill="hold">
                      <p:stCondLst>
                        <p:cond delay="indefinite"/>
                      </p:stCondLst>
                      <p:childTnLst>
                        <p:par>
                          <p:cTn id="53" fill="hold">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80"/>
                                        </p:tgtEl>
                                        <p:attrNameLst>
                                          <p:attrName>style.visibility</p:attrName>
                                        </p:attrNameLst>
                                      </p:cBhvr>
                                      <p:to>
                                        <p:strVal val="visible"/>
                                      </p:to>
                                    </p:set>
                                    <p:anim calcmode="lin" valueType="num">
                                      <p:cBhvr>
                                        <p:cTn id="56" dur="500" fill="hold"/>
                                        <p:tgtEl>
                                          <p:spTgt spid="80"/>
                                        </p:tgtEl>
                                        <p:attrNameLst>
                                          <p:attrName>ppt_w</p:attrName>
                                        </p:attrNameLst>
                                      </p:cBhvr>
                                      <p:tavLst>
                                        <p:tav tm="0">
                                          <p:val>
                                            <p:fltVal val="0"/>
                                          </p:val>
                                        </p:tav>
                                        <p:tav tm="100000">
                                          <p:val>
                                            <p:strVal val="#ppt_w"/>
                                          </p:val>
                                        </p:tav>
                                      </p:tavLst>
                                    </p:anim>
                                    <p:anim calcmode="lin" valueType="num">
                                      <p:cBhvr>
                                        <p:cTn id="57" dur="500" fill="hold"/>
                                        <p:tgtEl>
                                          <p:spTgt spid="80"/>
                                        </p:tgtEl>
                                        <p:attrNameLst>
                                          <p:attrName>ppt_h</p:attrName>
                                        </p:attrNameLst>
                                      </p:cBhvr>
                                      <p:tavLst>
                                        <p:tav tm="0">
                                          <p:val>
                                            <p:fltVal val="0"/>
                                          </p:val>
                                        </p:tav>
                                        <p:tav tm="100000">
                                          <p:val>
                                            <p:strVal val="#ppt_h"/>
                                          </p:val>
                                        </p:tav>
                                      </p:tavLst>
                                    </p:anim>
                                    <p:anim calcmode="lin" valueType="num">
                                      <p:cBhvr>
                                        <p:cTn id="58" dur="500" fill="hold"/>
                                        <p:tgtEl>
                                          <p:spTgt spid="80"/>
                                        </p:tgtEl>
                                        <p:attrNameLst>
                                          <p:attrName>style.rotation</p:attrName>
                                        </p:attrNameLst>
                                      </p:cBhvr>
                                      <p:tavLst>
                                        <p:tav tm="0">
                                          <p:val>
                                            <p:fltVal val="360"/>
                                          </p:val>
                                        </p:tav>
                                        <p:tav tm="100000">
                                          <p:val>
                                            <p:fltVal val="0"/>
                                          </p:val>
                                        </p:tav>
                                      </p:tavLst>
                                    </p:anim>
                                    <p:animEffect transition="in" filter="fade">
                                      <p:cBhvr>
                                        <p:cTn id="59"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7" grpId="0"/>
      <p:bldP spid="79" grpId="0"/>
      <p:bldP spid="80" grpId="0"/>
      <p:bldP spid="8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grpSp>
        <p:nvGrpSpPr>
          <p:cNvPr id="2" name="组合 1">
            <a:extLst>
              <a:ext uri="{FF2B5EF4-FFF2-40B4-BE49-F238E27FC236}">
                <a16:creationId xmlns:a16="http://schemas.microsoft.com/office/drawing/2014/main" id="{5A732598-70AF-A7E4-B20D-AA9F2297FA4C}"/>
              </a:ext>
            </a:extLst>
          </p:cNvPr>
          <p:cNvGrpSpPr/>
          <p:nvPr/>
        </p:nvGrpSpPr>
        <p:grpSpPr>
          <a:xfrm>
            <a:off x="304800" y="1207615"/>
            <a:ext cx="11187953" cy="2212352"/>
            <a:chOff x="699247" y="1413862"/>
            <a:chExt cx="9843247" cy="2212352"/>
          </a:xfrm>
        </p:grpSpPr>
        <p:sp>
          <p:nvSpPr>
            <p:cNvPr id="3" name="文本框 2">
              <a:extLst>
                <a:ext uri="{FF2B5EF4-FFF2-40B4-BE49-F238E27FC236}">
                  <a16:creationId xmlns:a16="http://schemas.microsoft.com/office/drawing/2014/main" id="{C04A50C4-87B4-94E4-8CF7-ECEF8E42148E}"/>
                </a:ext>
              </a:extLst>
            </p:cNvPr>
            <p:cNvSpPr txBox="1"/>
            <p:nvPr/>
          </p:nvSpPr>
          <p:spPr>
            <a:xfrm>
              <a:off x="699247" y="1413862"/>
              <a:ext cx="9843247" cy="1477328"/>
            </a:xfrm>
            <a:prstGeom prst="rect">
              <a:avLst/>
            </a:prstGeom>
            <a:noFill/>
          </p:spPr>
          <p:txBody>
            <a:bodyPr wrap="square" rtlCol="0">
              <a:spAutoFit/>
            </a:bodyPr>
            <a:lstStyle/>
            <a:p>
              <a:r>
                <a:rPr lang="en-US" altLang="zh-CN" b="1" dirty="0">
                  <a:latin typeface="+mn-ea"/>
                </a:rPr>
                <a:t>【2013</a:t>
              </a:r>
              <a:r>
                <a:rPr lang="zh-CN" altLang="en-US" b="1" dirty="0">
                  <a:latin typeface="+mn-ea"/>
                </a:rPr>
                <a:t>年 题</a:t>
              </a:r>
              <a:r>
                <a:rPr lang="en-US" altLang="zh-CN" b="1" dirty="0">
                  <a:latin typeface="+mn-ea"/>
                </a:rPr>
                <a:t>40】</a:t>
              </a:r>
              <a:r>
                <a:rPr lang="zh-CN" altLang="en-US" b="1" dirty="0">
                  <a:latin typeface="+mn-ea"/>
                </a:rPr>
                <a:t>下列关于</a:t>
              </a:r>
              <a:r>
                <a:rPr lang="en-US" altLang="zh-CN" b="1" dirty="0">
                  <a:latin typeface="+mn-ea"/>
                </a:rPr>
                <a:t>SMTP</a:t>
              </a:r>
              <a:r>
                <a:rPr lang="zh-CN" altLang="en-US" b="1" dirty="0">
                  <a:latin typeface="+mn-ea"/>
                </a:rPr>
                <a:t>协议的叙述中，正确的是（      ）。</a:t>
              </a:r>
              <a:endParaRPr lang="en-US" altLang="zh-CN" b="1" dirty="0">
                <a:latin typeface="+mn-ea"/>
              </a:endParaRPr>
            </a:p>
            <a:p>
              <a:r>
                <a:rPr lang="en-US" altLang="zh-CN" b="1" dirty="0">
                  <a:latin typeface="+mn-ea"/>
                </a:rPr>
                <a:t>        I.   </a:t>
              </a:r>
              <a:r>
                <a:rPr lang="zh-CN" altLang="en-US" b="1" dirty="0">
                  <a:latin typeface="+mn-ea"/>
                </a:rPr>
                <a:t>只支持传输</a:t>
              </a:r>
              <a:r>
                <a:rPr lang="en-US" altLang="zh-CN" b="1" dirty="0">
                  <a:latin typeface="+mn-ea"/>
                </a:rPr>
                <a:t>7</a:t>
              </a:r>
              <a:r>
                <a:rPr lang="zh-CN" altLang="en-US" b="1" dirty="0">
                  <a:latin typeface="+mn-ea"/>
                </a:rPr>
                <a:t>比特</a:t>
              </a:r>
              <a:r>
                <a:rPr lang="en-US" altLang="zh-CN" b="1" dirty="0">
                  <a:latin typeface="+mn-ea"/>
                </a:rPr>
                <a:t>ASCII</a:t>
              </a:r>
              <a:r>
                <a:rPr lang="zh-CN" altLang="en-US" b="1" dirty="0">
                  <a:latin typeface="+mn-ea"/>
                </a:rPr>
                <a:t>码内容</a:t>
              </a:r>
            </a:p>
            <a:p>
              <a:r>
                <a:rPr lang="en-US" altLang="zh-CN" b="1" dirty="0">
                  <a:latin typeface="+mn-ea"/>
                </a:rPr>
                <a:t>        II.  </a:t>
              </a:r>
              <a:r>
                <a:rPr lang="zh-CN" altLang="en-US" b="1" dirty="0">
                  <a:latin typeface="+mn-ea"/>
                </a:rPr>
                <a:t>支持在邮件服务器之间发送邮件</a:t>
              </a:r>
            </a:p>
            <a:p>
              <a:r>
                <a:rPr lang="en-US" altLang="zh-CN" b="1" dirty="0">
                  <a:latin typeface="+mn-ea"/>
                </a:rPr>
                <a:t>        III. </a:t>
              </a:r>
              <a:r>
                <a:rPr lang="zh-CN" altLang="en-US" b="1" dirty="0">
                  <a:latin typeface="+mn-ea"/>
                </a:rPr>
                <a:t>支持从用户代理向邮件服务器发送邮件 </a:t>
              </a:r>
            </a:p>
            <a:p>
              <a:r>
                <a:rPr lang="en-US" altLang="zh-CN" b="1" dirty="0">
                  <a:latin typeface="+mn-ea"/>
                </a:rPr>
                <a:t>        IV. </a:t>
              </a:r>
              <a:r>
                <a:rPr lang="zh-CN" altLang="en-US" b="1" dirty="0">
                  <a:latin typeface="+mn-ea"/>
                </a:rPr>
                <a:t>支持从邮件服务器向用户代理发送邮件</a:t>
              </a:r>
            </a:p>
          </p:txBody>
        </p:sp>
        <p:sp>
          <p:nvSpPr>
            <p:cNvPr id="4" name="文本框 3">
              <a:extLst>
                <a:ext uri="{FF2B5EF4-FFF2-40B4-BE49-F238E27FC236}">
                  <a16:creationId xmlns:a16="http://schemas.microsoft.com/office/drawing/2014/main" id="{BBC1530B-934F-37E3-94D0-B2741EE50A4D}"/>
                </a:ext>
              </a:extLst>
            </p:cNvPr>
            <p:cNvSpPr txBox="1"/>
            <p:nvPr/>
          </p:nvSpPr>
          <p:spPr>
            <a:xfrm>
              <a:off x="885961" y="2751807"/>
              <a:ext cx="9366838" cy="874407"/>
            </a:xfrm>
            <a:prstGeom prst="rect">
              <a:avLst/>
            </a:prstGeom>
            <a:noFill/>
          </p:spPr>
          <p:txBody>
            <a:bodyPr wrap="square" rtlCol="0">
              <a:spAutoFit/>
            </a:bodyPr>
            <a:lstStyle/>
            <a:p>
              <a:pPr>
                <a:lnSpc>
                  <a:spcPct val="150000"/>
                </a:lnSpc>
              </a:pPr>
              <a:r>
                <a:rPr lang="en-US" altLang="zh-CN" b="1" dirty="0">
                  <a:latin typeface="+mn-ea"/>
                </a:rPr>
                <a:t>A.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a:t>
              </a:r>
              <a:r>
                <a:rPr lang="zh-CN" altLang="en-US" b="1" dirty="0">
                  <a:latin typeface="+mn-ea"/>
                </a:rPr>
                <a:t>和</a:t>
              </a:r>
              <a:r>
                <a:rPr lang="en-US" altLang="zh-CN" b="1" dirty="0">
                  <a:latin typeface="+mn-ea"/>
                </a:rPr>
                <a:t>III</a:t>
              </a:r>
              <a:r>
                <a:rPr lang="zh-CN" altLang="en-US" b="1" dirty="0">
                  <a:latin typeface="+mn-ea"/>
                </a:rPr>
                <a:t>                                             </a:t>
              </a:r>
              <a:r>
                <a:rPr lang="en-US" altLang="zh-CN" b="1" dirty="0">
                  <a:latin typeface="+mn-ea"/>
                </a:rPr>
                <a:t>B.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a:t>
              </a:r>
              <a:r>
                <a:rPr lang="zh-CN" altLang="en-US" b="1" dirty="0">
                  <a:latin typeface="+mn-ea"/>
                </a:rPr>
                <a:t>和</a:t>
              </a:r>
              <a:r>
                <a:rPr lang="en-US" altLang="zh-CN" b="1" dirty="0">
                  <a:latin typeface="+mn-ea"/>
                </a:rPr>
                <a:t>IV</a:t>
              </a:r>
            </a:p>
            <a:p>
              <a:pPr>
                <a:lnSpc>
                  <a:spcPct val="150000"/>
                </a:lnSpc>
              </a:pPr>
              <a:r>
                <a:rPr lang="en-US" altLang="zh-CN" b="1" dirty="0">
                  <a:latin typeface="+mn-ea"/>
                </a:rPr>
                <a:t>C. </a:t>
              </a:r>
              <a:r>
                <a:rPr lang="zh-CN" altLang="en-US" b="1" dirty="0">
                  <a:latin typeface="+mn-ea"/>
                </a:rPr>
                <a:t>仅</a:t>
              </a:r>
              <a:r>
                <a:rPr lang="en-US" altLang="zh-CN" b="1" dirty="0">
                  <a:latin typeface="+mn-ea"/>
                </a:rPr>
                <a:t>I</a:t>
              </a:r>
              <a:r>
                <a:rPr lang="zh-CN" altLang="en-US" b="1" dirty="0">
                  <a:latin typeface="+mn-ea"/>
                </a:rPr>
                <a:t>、</a:t>
              </a:r>
              <a:r>
                <a:rPr lang="en-US" altLang="zh-CN" b="1" dirty="0">
                  <a:latin typeface="+mn-ea"/>
                </a:rPr>
                <a:t>III</a:t>
              </a:r>
              <a:r>
                <a:rPr lang="zh-CN" altLang="en-US" b="1" dirty="0">
                  <a:latin typeface="+mn-ea"/>
                </a:rPr>
                <a:t>和</a:t>
              </a:r>
              <a:r>
                <a:rPr lang="en-US" altLang="zh-CN" b="1" dirty="0">
                  <a:latin typeface="+mn-ea"/>
                </a:rPr>
                <a:t>IV</a:t>
              </a:r>
              <a:r>
                <a:rPr lang="zh-CN" altLang="en-US" b="1" dirty="0">
                  <a:latin typeface="+mn-ea"/>
                </a:rPr>
                <a:t>                                            </a:t>
              </a:r>
              <a:r>
                <a:rPr lang="en-US" altLang="zh-CN" b="1" dirty="0">
                  <a:latin typeface="+mn-ea"/>
                </a:rPr>
                <a:t>D. </a:t>
              </a:r>
              <a:r>
                <a:rPr lang="zh-CN" altLang="en-US" b="1" dirty="0">
                  <a:latin typeface="+mn-ea"/>
                </a:rPr>
                <a:t>仅</a:t>
              </a:r>
              <a:r>
                <a:rPr lang="en-US" altLang="zh-CN" b="1" dirty="0">
                  <a:latin typeface="+mn-ea"/>
                </a:rPr>
                <a:t>II</a:t>
              </a:r>
              <a:r>
                <a:rPr lang="zh-CN" altLang="en-US" b="1" dirty="0">
                  <a:latin typeface="+mn-ea"/>
                </a:rPr>
                <a:t>、</a:t>
              </a:r>
              <a:r>
                <a:rPr lang="en-US" altLang="zh-CN" b="1" dirty="0">
                  <a:latin typeface="+mn-ea"/>
                </a:rPr>
                <a:t>III</a:t>
              </a:r>
              <a:r>
                <a:rPr lang="zh-CN" altLang="en-US" b="1" dirty="0">
                  <a:latin typeface="+mn-ea"/>
                </a:rPr>
                <a:t>和</a:t>
              </a:r>
              <a:r>
                <a:rPr lang="en-US" altLang="zh-CN" b="1" dirty="0">
                  <a:latin typeface="+mn-ea"/>
                </a:rPr>
                <a:t>IV</a:t>
              </a:r>
              <a:endParaRPr lang="zh-CN" altLang="en-US" b="1" dirty="0">
                <a:latin typeface="+mn-ea"/>
              </a:endParaRPr>
            </a:p>
          </p:txBody>
        </p:sp>
      </p:grpSp>
      <p:sp>
        <p:nvSpPr>
          <p:cNvPr id="5" name="文本框 4">
            <a:extLst>
              <a:ext uri="{FF2B5EF4-FFF2-40B4-BE49-F238E27FC236}">
                <a16:creationId xmlns:a16="http://schemas.microsoft.com/office/drawing/2014/main" id="{F3ED3EB1-CC6B-D1C2-E7D0-529AB0ED8C40}"/>
              </a:ext>
            </a:extLst>
          </p:cNvPr>
          <p:cNvSpPr txBox="1"/>
          <p:nvPr/>
        </p:nvSpPr>
        <p:spPr>
          <a:xfrm>
            <a:off x="6464598" y="1149410"/>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A</a:t>
            </a:r>
            <a:endParaRPr lang="zh-CN" altLang="en-US" sz="2800" b="1" dirty="0">
              <a:solidFill>
                <a:schemeClr val="accent1">
                  <a:lumMod val="75000"/>
                </a:schemeClr>
              </a:solidFill>
              <a:latin typeface="+mn-ea"/>
            </a:endParaRPr>
          </a:p>
        </p:txBody>
      </p:sp>
      <p:sp>
        <p:nvSpPr>
          <p:cNvPr id="6" name="文本框 5">
            <a:extLst>
              <a:ext uri="{FF2B5EF4-FFF2-40B4-BE49-F238E27FC236}">
                <a16:creationId xmlns:a16="http://schemas.microsoft.com/office/drawing/2014/main" id="{8656ECAF-437F-826A-315C-5F59E5EE592B}"/>
              </a:ext>
            </a:extLst>
          </p:cNvPr>
          <p:cNvSpPr txBox="1"/>
          <p:nvPr/>
        </p:nvSpPr>
        <p:spPr>
          <a:xfrm>
            <a:off x="517021" y="3438034"/>
            <a:ext cx="869976" cy="369332"/>
          </a:xfrm>
          <a:prstGeom prst="rect">
            <a:avLst/>
          </a:prstGeom>
          <a:noFill/>
        </p:spPr>
        <p:txBody>
          <a:bodyPr wrap="square" rtlCol="0">
            <a:spAutoFit/>
          </a:bodyPr>
          <a:lstStyle/>
          <a:p>
            <a:r>
              <a:rPr lang="zh-CN" altLang="en-US" b="1" dirty="0"/>
              <a:t>解析</a:t>
            </a:r>
          </a:p>
        </p:txBody>
      </p:sp>
      <p:pic>
        <p:nvPicPr>
          <p:cNvPr id="7" name="图形 6" descr="复选标记 纯色填充">
            <a:extLst>
              <a:ext uri="{FF2B5EF4-FFF2-40B4-BE49-F238E27FC236}">
                <a16:creationId xmlns:a16="http://schemas.microsoft.com/office/drawing/2014/main" id="{EB8CCFF1-8F70-DB6A-7237-50CA9EA23DAD}"/>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287" y="1813190"/>
            <a:ext cx="266177" cy="266177"/>
          </a:xfrm>
          <a:prstGeom prst="rect">
            <a:avLst/>
          </a:prstGeom>
        </p:spPr>
      </p:pic>
      <p:pic>
        <p:nvPicPr>
          <p:cNvPr id="8" name="图形 7" descr="复选标记 纯色填充">
            <a:extLst>
              <a:ext uri="{FF2B5EF4-FFF2-40B4-BE49-F238E27FC236}">
                <a16:creationId xmlns:a16="http://schemas.microsoft.com/office/drawing/2014/main" id="{A50668AA-3A5E-0E73-873E-3392E6F3B48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287" y="1526292"/>
            <a:ext cx="266177" cy="266177"/>
          </a:xfrm>
          <a:prstGeom prst="rect">
            <a:avLst/>
          </a:prstGeom>
        </p:spPr>
      </p:pic>
      <p:pic>
        <p:nvPicPr>
          <p:cNvPr id="10" name="图片 9" descr="图形用户界面&#10;&#10;描述已自动生成">
            <a:extLst>
              <a:ext uri="{FF2B5EF4-FFF2-40B4-BE49-F238E27FC236}">
                <a16:creationId xmlns:a16="http://schemas.microsoft.com/office/drawing/2014/main" id="{CC04BE69-B28E-3C01-2546-483AEDAD56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3471" y="3664711"/>
            <a:ext cx="10385058" cy="2816200"/>
          </a:xfrm>
          <a:prstGeom prst="rect">
            <a:avLst/>
          </a:prstGeom>
        </p:spPr>
      </p:pic>
      <p:pic>
        <p:nvPicPr>
          <p:cNvPr id="11" name="图形 10" descr="复选标记 纯色填充">
            <a:extLst>
              <a:ext uri="{FF2B5EF4-FFF2-40B4-BE49-F238E27FC236}">
                <a16:creationId xmlns:a16="http://schemas.microsoft.com/office/drawing/2014/main" id="{E9C76AAA-5E90-099D-84CE-A6A9D792B359}"/>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7286" y="2079367"/>
            <a:ext cx="266177" cy="266177"/>
          </a:xfrm>
          <a:prstGeom prst="rect">
            <a:avLst/>
          </a:prstGeom>
        </p:spPr>
      </p:pic>
      <p:sp>
        <p:nvSpPr>
          <p:cNvPr id="12" name="文本框 11">
            <a:extLst>
              <a:ext uri="{FF2B5EF4-FFF2-40B4-BE49-F238E27FC236}">
                <a16:creationId xmlns:a16="http://schemas.microsoft.com/office/drawing/2014/main" id="{7F3B2757-FD89-818F-FBA2-54C24688D140}"/>
              </a:ext>
            </a:extLst>
          </p:cNvPr>
          <p:cNvSpPr txBox="1"/>
          <p:nvPr/>
        </p:nvSpPr>
        <p:spPr>
          <a:xfrm>
            <a:off x="5272323" y="2184768"/>
            <a:ext cx="587531" cy="584775"/>
          </a:xfrm>
          <a:prstGeom prst="rect">
            <a:avLst/>
          </a:prstGeom>
          <a:noFill/>
        </p:spPr>
        <p:txBody>
          <a:bodyPr wrap="square" rtlCol="0">
            <a:spAutoFit/>
          </a:bodyPr>
          <a:lstStyle/>
          <a:p>
            <a:r>
              <a:rPr lang="en-US" altLang="zh-CN" sz="3200" dirty="0">
                <a:solidFill>
                  <a:schemeClr val="accent1"/>
                </a:solidFill>
              </a:rPr>
              <a:t>×</a:t>
            </a:r>
            <a:endParaRPr lang="zh-CN" altLang="en-US" sz="3200" dirty="0">
              <a:solidFill>
                <a:schemeClr val="accent1"/>
              </a:solidFill>
            </a:endParaRPr>
          </a:p>
        </p:txBody>
      </p:sp>
    </p:spTree>
    <p:custDataLst>
      <p:tags r:id="rId1"/>
    </p:custDataLst>
    <p:extLst>
      <p:ext uri="{BB962C8B-B14F-4D97-AF65-F5344CB8AC3E}">
        <p14:creationId xmlns:p14="http://schemas.microsoft.com/office/powerpoint/2010/main" val="18841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ppt_x</p:attrName>
                                        </p:attrNameLst>
                                      </p:cBhvr>
                                      <p:tavLst>
                                        <p:tav tm="0">
                                          <p:val>
                                            <p:strVal val="#ppt_x-#ppt_w*1.125000"/>
                                          </p:val>
                                        </p:tav>
                                        <p:tav tm="100000">
                                          <p:val>
                                            <p:strVal val="#ppt_x"/>
                                          </p:val>
                                        </p:tav>
                                      </p:tavLst>
                                    </p:anim>
                                    <p:animEffect transition="in" filter="wipe(right)">
                                      <p:cBhvr>
                                        <p:cTn id="14" dur="500"/>
                                        <p:tgtEl>
                                          <p:spTgt spid="7"/>
                                        </p:tgtEl>
                                      </p:cBhvr>
                                    </p:animEffect>
                                  </p:childTnLst>
                                </p:cTn>
                              </p:par>
                              <p:par>
                                <p:cTn id="15" presetID="1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p:tgtEl>
                                          <p:spTgt spid="11"/>
                                        </p:tgtEl>
                                        <p:attrNameLst>
                                          <p:attrName>ppt_x</p:attrName>
                                        </p:attrNameLst>
                                      </p:cBhvr>
                                      <p:tavLst>
                                        <p:tav tm="0">
                                          <p:val>
                                            <p:strVal val="#ppt_x-#ppt_w*1.125000"/>
                                          </p:val>
                                        </p:tav>
                                        <p:tav tm="100000">
                                          <p:val>
                                            <p:strVal val="#ppt_x"/>
                                          </p:val>
                                        </p:tav>
                                      </p:tavLst>
                                    </p:anim>
                                    <p:animEffect transition="in" filter="wipe(righ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p:tgtEl>
                                          <p:spTgt spid="12"/>
                                        </p:tgtEl>
                                        <p:attrNameLst>
                                          <p:attrName>ppt_x</p:attrName>
                                        </p:attrNameLst>
                                      </p:cBhvr>
                                      <p:tavLst>
                                        <p:tav tm="0">
                                          <p:val>
                                            <p:strVal val="#ppt_x-#ppt_w*1.125000"/>
                                          </p:val>
                                        </p:tav>
                                        <p:tav tm="100000">
                                          <p:val>
                                            <p:strVal val="#ppt_x"/>
                                          </p:val>
                                        </p:tav>
                                      </p:tavLst>
                                    </p:anim>
                                    <p:animEffect transition="in" filter="wipe(right)">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a:extLst>
              <a:ext uri="{FF2B5EF4-FFF2-40B4-BE49-F238E27FC236}">
                <a16:creationId xmlns:a16="http://schemas.microsoft.com/office/drawing/2014/main" id="{F9DEA46A-86E5-D124-12F1-BAFC79F5E33D}"/>
              </a:ext>
            </a:extLst>
          </p:cNvPr>
          <p:cNvSpPr txBox="1"/>
          <p:nvPr/>
        </p:nvSpPr>
        <p:spPr>
          <a:xfrm>
            <a:off x="3990753" y="749300"/>
            <a:ext cx="4210493" cy="400110"/>
          </a:xfrm>
          <a:prstGeom prst="rect">
            <a:avLst/>
          </a:prstGeom>
          <a:noFill/>
        </p:spPr>
        <p:txBody>
          <a:bodyPr wrap="square" rtlCol="0">
            <a:spAutoFit/>
          </a:bodyPr>
          <a:lstStyle/>
          <a:p>
            <a:pPr algn="ctr"/>
            <a:r>
              <a:rPr lang="zh-CN" altLang="en-US" sz="2000" b="1" dirty="0">
                <a:solidFill>
                  <a:schemeClr val="accent3">
                    <a:lumMod val="75000"/>
                  </a:schemeClr>
                </a:solidFill>
              </a:rPr>
              <a:t>电子邮件相关练习题</a:t>
            </a:r>
          </a:p>
        </p:txBody>
      </p:sp>
      <p:sp>
        <p:nvSpPr>
          <p:cNvPr id="74" name="文本框 73">
            <a:extLst>
              <a:ext uri="{FF2B5EF4-FFF2-40B4-BE49-F238E27FC236}">
                <a16:creationId xmlns:a16="http://schemas.microsoft.com/office/drawing/2014/main" id="{D459E338-874D-D252-BD9F-90196F7FA744}"/>
              </a:ext>
            </a:extLst>
          </p:cNvPr>
          <p:cNvSpPr txBox="1"/>
          <p:nvPr/>
        </p:nvSpPr>
        <p:spPr>
          <a:xfrm>
            <a:off x="6911163" y="1166143"/>
            <a:ext cx="588334" cy="523220"/>
          </a:xfrm>
          <a:prstGeom prst="rect">
            <a:avLst/>
          </a:prstGeom>
          <a:noFill/>
        </p:spPr>
        <p:txBody>
          <a:bodyPr wrap="square" rtlCol="0">
            <a:spAutoFit/>
          </a:bodyPr>
          <a:lstStyle/>
          <a:p>
            <a:pPr algn="ctr"/>
            <a:r>
              <a:rPr lang="en-US" altLang="zh-CN" sz="2800" b="1" dirty="0">
                <a:solidFill>
                  <a:schemeClr val="accent1">
                    <a:lumMod val="75000"/>
                  </a:schemeClr>
                </a:solidFill>
                <a:latin typeface="+mn-ea"/>
              </a:rPr>
              <a:t>D</a:t>
            </a:r>
            <a:endParaRPr lang="zh-CN" altLang="en-US" sz="2800" b="1" dirty="0">
              <a:solidFill>
                <a:schemeClr val="accent1">
                  <a:lumMod val="75000"/>
                </a:schemeClr>
              </a:solidFill>
              <a:latin typeface="+mn-ea"/>
            </a:endParaRPr>
          </a:p>
        </p:txBody>
      </p:sp>
      <p:sp>
        <p:nvSpPr>
          <p:cNvPr id="77" name="文本框 76">
            <a:extLst>
              <a:ext uri="{FF2B5EF4-FFF2-40B4-BE49-F238E27FC236}">
                <a16:creationId xmlns:a16="http://schemas.microsoft.com/office/drawing/2014/main" id="{86F5D9A2-5792-B355-C397-48E2C273BA0A}"/>
              </a:ext>
            </a:extLst>
          </p:cNvPr>
          <p:cNvSpPr txBox="1"/>
          <p:nvPr/>
        </p:nvSpPr>
        <p:spPr>
          <a:xfrm>
            <a:off x="455551" y="2385666"/>
            <a:ext cx="869976" cy="369332"/>
          </a:xfrm>
          <a:prstGeom prst="rect">
            <a:avLst/>
          </a:prstGeom>
          <a:noFill/>
        </p:spPr>
        <p:txBody>
          <a:bodyPr wrap="square" rtlCol="0">
            <a:spAutoFit/>
          </a:bodyPr>
          <a:lstStyle/>
          <a:p>
            <a:r>
              <a:rPr lang="zh-CN" altLang="en-US" b="1" dirty="0"/>
              <a:t>解析</a:t>
            </a:r>
          </a:p>
        </p:txBody>
      </p:sp>
      <p:grpSp>
        <p:nvGrpSpPr>
          <p:cNvPr id="5" name="组合 4">
            <a:extLst>
              <a:ext uri="{FF2B5EF4-FFF2-40B4-BE49-F238E27FC236}">
                <a16:creationId xmlns:a16="http://schemas.microsoft.com/office/drawing/2014/main" id="{C8876331-AB51-3CD7-E0D3-87BCB5E95524}"/>
              </a:ext>
            </a:extLst>
          </p:cNvPr>
          <p:cNvGrpSpPr/>
          <p:nvPr/>
        </p:nvGrpSpPr>
        <p:grpSpPr>
          <a:xfrm>
            <a:off x="304800" y="1228911"/>
            <a:ext cx="11582400" cy="817308"/>
            <a:chOff x="304800" y="1228911"/>
            <a:chExt cx="11582400" cy="817308"/>
          </a:xfrm>
        </p:grpSpPr>
        <p:sp>
          <p:nvSpPr>
            <p:cNvPr id="72" name="文本框 71">
              <a:extLst>
                <a:ext uri="{FF2B5EF4-FFF2-40B4-BE49-F238E27FC236}">
                  <a16:creationId xmlns:a16="http://schemas.microsoft.com/office/drawing/2014/main" id="{B634881A-03A2-6778-ABE0-C3DB2F6B0F2F}"/>
                </a:ext>
              </a:extLst>
            </p:cNvPr>
            <p:cNvSpPr txBox="1"/>
            <p:nvPr/>
          </p:nvSpPr>
          <p:spPr>
            <a:xfrm>
              <a:off x="304800" y="1228911"/>
              <a:ext cx="11582400" cy="369332"/>
            </a:xfrm>
            <a:prstGeom prst="rect">
              <a:avLst/>
            </a:prstGeom>
            <a:noFill/>
          </p:spPr>
          <p:txBody>
            <a:bodyPr wrap="square">
              <a:spAutoFit/>
            </a:bodyPr>
            <a:lstStyle/>
            <a:p>
              <a:r>
                <a:rPr lang="en-US" altLang="zh-CN" sz="1800" b="1" dirty="0">
                  <a:latin typeface="+mn-ea"/>
                </a:rPr>
                <a:t>【2018</a:t>
              </a:r>
              <a:r>
                <a:rPr lang="zh-CN" altLang="en-US" sz="1800" b="1" dirty="0">
                  <a:latin typeface="+mn-ea"/>
                </a:rPr>
                <a:t>年 题</a:t>
              </a:r>
              <a:r>
                <a:rPr lang="en-US" altLang="zh-CN" sz="1800" b="1" dirty="0">
                  <a:latin typeface="+mn-ea"/>
                </a:rPr>
                <a:t>40】</a:t>
              </a:r>
              <a:r>
                <a:rPr lang="zh-CN" altLang="en-US" sz="1800" b="1" dirty="0">
                  <a:latin typeface="+mn-ea"/>
                </a:rPr>
                <a:t>无需转换即可由</a:t>
              </a:r>
              <a:r>
                <a:rPr lang="en-US" altLang="zh-CN" sz="1800" b="1" dirty="0">
                  <a:latin typeface="+mn-ea"/>
                </a:rPr>
                <a:t>SMTP</a:t>
              </a:r>
              <a:r>
                <a:rPr lang="zh-CN" altLang="en-US" sz="1800" b="1" dirty="0">
                  <a:latin typeface="+mn-ea"/>
                </a:rPr>
                <a:t>协议直接传输的内容是</a:t>
              </a:r>
              <a:r>
                <a:rPr lang="zh-CN" altLang="en-US" b="1" dirty="0">
                  <a:latin typeface="+mn-ea"/>
                </a:rPr>
                <a:t>（      ）。</a:t>
              </a:r>
              <a:endParaRPr lang="zh-CN" altLang="en-US" sz="1800" b="1" dirty="0">
                <a:latin typeface="+mn-ea"/>
              </a:endParaRPr>
            </a:p>
          </p:txBody>
        </p:sp>
        <p:sp>
          <p:nvSpPr>
            <p:cNvPr id="73" name="文本框 72">
              <a:extLst>
                <a:ext uri="{FF2B5EF4-FFF2-40B4-BE49-F238E27FC236}">
                  <a16:creationId xmlns:a16="http://schemas.microsoft.com/office/drawing/2014/main" id="{99634C10-A505-F4B8-1859-3ECDFD1BC43E}"/>
                </a:ext>
              </a:extLst>
            </p:cNvPr>
            <p:cNvSpPr txBox="1"/>
            <p:nvPr/>
          </p:nvSpPr>
          <p:spPr>
            <a:xfrm>
              <a:off x="2128405" y="1547428"/>
              <a:ext cx="1621343" cy="495264"/>
            </a:xfrm>
            <a:prstGeom prst="rect">
              <a:avLst/>
            </a:prstGeom>
            <a:noFill/>
          </p:spPr>
          <p:txBody>
            <a:bodyPr wrap="square" rtlCol="0">
              <a:spAutoFit/>
            </a:bodyPr>
            <a:lstStyle/>
            <a:p>
              <a:pPr>
                <a:lnSpc>
                  <a:spcPct val="150000"/>
                </a:lnSpc>
              </a:pPr>
              <a:r>
                <a:rPr lang="en-US" altLang="zh-CN" sz="2000" b="1" dirty="0"/>
                <a:t>A. JPEG</a:t>
              </a:r>
              <a:r>
                <a:rPr lang="zh-CN" altLang="en-US" sz="2000" b="1" dirty="0"/>
                <a:t>图形</a:t>
              </a:r>
            </a:p>
          </p:txBody>
        </p:sp>
        <p:sp>
          <p:nvSpPr>
            <p:cNvPr id="2" name="文本框 1">
              <a:extLst>
                <a:ext uri="{FF2B5EF4-FFF2-40B4-BE49-F238E27FC236}">
                  <a16:creationId xmlns:a16="http://schemas.microsoft.com/office/drawing/2014/main" id="{37591930-9905-2825-564F-FBF60E4D80D9}"/>
                </a:ext>
              </a:extLst>
            </p:cNvPr>
            <p:cNvSpPr txBox="1"/>
            <p:nvPr/>
          </p:nvSpPr>
          <p:spPr>
            <a:xfrm>
              <a:off x="4109605" y="1547428"/>
              <a:ext cx="1621343" cy="495264"/>
            </a:xfrm>
            <a:prstGeom prst="rect">
              <a:avLst/>
            </a:prstGeom>
            <a:noFill/>
          </p:spPr>
          <p:txBody>
            <a:bodyPr wrap="square" rtlCol="0">
              <a:spAutoFit/>
            </a:bodyPr>
            <a:lstStyle/>
            <a:p>
              <a:pPr>
                <a:lnSpc>
                  <a:spcPct val="150000"/>
                </a:lnSpc>
              </a:pPr>
              <a:r>
                <a:rPr lang="en-US" altLang="zh-CN" sz="2000" b="1" dirty="0"/>
                <a:t>B. MPEG</a:t>
              </a:r>
              <a:r>
                <a:rPr lang="zh-CN" altLang="en-US" sz="2000" b="1" dirty="0"/>
                <a:t>视频</a:t>
              </a:r>
            </a:p>
          </p:txBody>
        </p:sp>
        <p:sp>
          <p:nvSpPr>
            <p:cNvPr id="3" name="文本框 2">
              <a:extLst>
                <a:ext uri="{FF2B5EF4-FFF2-40B4-BE49-F238E27FC236}">
                  <a16:creationId xmlns:a16="http://schemas.microsoft.com/office/drawing/2014/main" id="{735F8A18-8DA1-8BD2-388D-A2BCDDF5CC5F}"/>
                </a:ext>
              </a:extLst>
            </p:cNvPr>
            <p:cNvSpPr txBox="1"/>
            <p:nvPr/>
          </p:nvSpPr>
          <p:spPr>
            <a:xfrm>
              <a:off x="6090805" y="1547428"/>
              <a:ext cx="1621343" cy="495264"/>
            </a:xfrm>
            <a:prstGeom prst="rect">
              <a:avLst/>
            </a:prstGeom>
            <a:noFill/>
          </p:spPr>
          <p:txBody>
            <a:bodyPr wrap="square" rtlCol="0">
              <a:spAutoFit/>
            </a:bodyPr>
            <a:lstStyle/>
            <a:p>
              <a:pPr>
                <a:lnSpc>
                  <a:spcPct val="150000"/>
                </a:lnSpc>
              </a:pPr>
              <a:r>
                <a:rPr lang="en-US" altLang="zh-CN" sz="2000" b="1" dirty="0"/>
                <a:t>C. EXE</a:t>
              </a:r>
              <a:r>
                <a:rPr lang="zh-CN" altLang="en-US" sz="2000" b="1" dirty="0"/>
                <a:t>文件</a:t>
              </a:r>
            </a:p>
          </p:txBody>
        </p:sp>
        <p:sp>
          <p:nvSpPr>
            <p:cNvPr id="4" name="文本框 3">
              <a:extLst>
                <a:ext uri="{FF2B5EF4-FFF2-40B4-BE49-F238E27FC236}">
                  <a16:creationId xmlns:a16="http://schemas.microsoft.com/office/drawing/2014/main" id="{5323EA22-5030-BFB1-18A6-8E3D9220CD88}"/>
                </a:ext>
              </a:extLst>
            </p:cNvPr>
            <p:cNvSpPr txBox="1"/>
            <p:nvPr/>
          </p:nvSpPr>
          <p:spPr>
            <a:xfrm>
              <a:off x="8072005" y="1547428"/>
              <a:ext cx="1621343" cy="498791"/>
            </a:xfrm>
            <a:prstGeom prst="rect">
              <a:avLst/>
            </a:prstGeom>
            <a:noFill/>
          </p:spPr>
          <p:txBody>
            <a:bodyPr wrap="square" rtlCol="0">
              <a:spAutoFit/>
            </a:bodyPr>
            <a:lstStyle/>
            <a:p>
              <a:pPr>
                <a:lnSpc>
                  <a:spcPct val="150000"/>
                </a:lnSpc>
              </a:pPr>
              <a:r>
                <a:rPr lang="en-US" altLang="zh-CN" sz="2000" b="1" dirty="0"/>
                <a:t>D. ASCII</a:t>
              </a:r>
              <a:r>
                <a:rPr lang="zh-CN" altLang="en-US" sz="2000" b="1" dirty="0"/>
                <a:t>文本</a:t>
              </a:r>
            </a:p>
          </p:txBody>
        </p:sp>
      </p:grpSp>
      <p:pic>
        <p:nvPicPr>
          <p:cNvPr id="6" name="图片 5" descr="文本&#10;&#10;描述已自动生成">
            <a:extLst>
              <a:ext uri="{FF2B5EF4-FFF2-40B4-BE49-F238E27FC236}">
                <a16:creationId xmlns:a16="http://schemas.microsoft.com/office/drawing/2014/main" id="{DBA50334-A2A8-8549-4713-785B1979D7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7828" y="2753226"/>
            <a:ext cx="5685954" cy="3568109"/>
          </a:xfrm>
          <a:prstGeom prst="rect">
            <a:avLst/>
          </a:prstGeom>
        </p:spPr>
      </p:pic>
    </p:spTree>
    <p:custDataLst>
      <p:tags r:id="rId1"/>
    </p:custDataLst>
    <p:extLst>
      <p:ext uri="{BB962C8B-B14F-4D97-AF65-F5344CB8AC3E}">
        <p14:creationId xmlns:p14="http://schemas.microsoft.com/office/powerpoint/2010/main" val="39202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800" decel="100000"/>
                                        <p:tgtEl>
                                          <p:spTgt spid="5"/>
                                        </p:tgtEl>
                                      </p:cBhvr>
                                    </p:animEffect>
                                    <p:anim calcmode="lin" valueType="num">
                                      <p:cBhvr>
                                        <p:cTn id="8" dur="800" decel="100000" fill="hold"/>
                                        <p:tgtEl>
                                          <p:spTgt spid="5"/>
                                        </p:tgtEl>
                                        <p:attrNameLst>
                                          <p:attrName>style.rotation</p:attrName>
                                        </p:attrNameLst>
                                      </p:cBhvr>
                                      <p:tavLst>
                                        <p:tav tm="0">
                                          <p:val>
                                            <p:fltVal val="-90"/>
                                          </p:val>
                                        </p:tav>
                                        <p:tav tm="100000">
                                          <p:val>
                                            <p:fltVal val="0"/>
                                          </p:val>
                                        </p:tav>
                                      </p:tavLst>
                                    </p:anim>
                                    <p:anim calcmode="lin" valueType="num">
                                      <p:cBhvr>
                                        <p:cTn id="9" dur="800" decel="100000" fill="hold"/>
                                        <p:tgtEl>
                                          <p:spTgt spid="5"/>
                                        </p:tgtEl>
                                        <p:attrNameLst>
                                          <p:attrName>ppt_x</p:attrName>
                                        </p:attrNameLst>
                                      </p:cBhvr>
                                      <p:tavLst>
                                        <p:tav tm="0">
                                          <p:val>
                                            <p:strVal val="#ppt_x+0.4"/>
                                          </p:val>
                                        </p:tav>
                                        <p:tav tm="100000">
                                          <p:val>
                                            <p:strVal val="#ppt_x-0.05"/>
                                          </p:val>
                                        </p:tav>
                                      </p:tavLst>
                                    </p:anim>
                                    <p:anim calcmode="lin" valueType="num">
                                      <p:cBhvr>
                                        <p:cTn id="10" dur="800" decel="100000" fill="hold"/>
                                        <p:tgtEl>
                                          <p:spTgt spid="5"/>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5"/>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5"/>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fade">
                                      <p:cBhvr>
                                        <p:cTn id="17" dur="800" decel="100000"/>
                                        <p:tgtEl>
                                          <p:spTgt spid="74"/>
                                        </p:tgtEl>
                                      </p:cBhvr>
                                    </p:animEffect>
                                    <p:anim calcmode="lin" valueType="num">
                                      <p:cBhvr>
                                        <p:cTn id="18" dur="800" decel="100000" fill="hold"/>
                                        <p:tgtEl>
                                          <p:spTgt spid="74"/>
                                        </p:tgtEl>
                                        <p:attrNameLst>
                                          <p:attrName>style.rotation</p:attrName>
                                        </p:attrNameLst>
                                      </p:cBhvr>
                                      <p:tavLst>
                                        <p:tav tm="0">
                                          <p:val>
                                            <p:fltVal val="-90"/>
                                          </p:val>
                                        </p:tav>
                                        <p:tav tm="100000">
                                          <p:val>
                                            <p:fltVal val="0"/>
                                          </p:val>
                                        </p:tav>
                                      </p:tavLst>
                                    </p:anim>
                                    <p:anim calcmode="lin" valueType="num">
                                      <p:cBhvr>
                                        <p:cTn id="19" dur="800" decel="100000" fill="hold"/>
                                        <p:tgtEl>
                                          <p:spTgt spid="74"/>
                                        </p:tgtEl>
                                        <p:attrNameLst>
                                          <p:attrName>ppt_x</p:attrName>
                                        </p:attrNameLst>
                                      </p:cBhvr>
                                      <p:tavLst>
                                        <p:tav tm="0">
                                          <p:val>
                                            <p:strVal val="#ppt_x+0.4"/>
                                          </p:val>
                                        </p:tav>
                                        <p:tav tm="100000">
                                          <p:val>
                                            <p:strVal val="#ppt_x-0.05"/>
                                          </p:val>
                                        </p:tav>
                                      </p:tavLst>
                                    </p:anim>
                                    <p:anim calcmode="lin" valueType="num">
                                      <p:cBhvr>
                                        <p:cTn id="20" dur="800" decel="100000" fill="hold"/>
                                        <p:tgtEl>
                                          <p:spTgt spid="74"/>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74"/>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74"/>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77"/>
                                        </p:tgtEl>
                                        <p:attrNameLst>
                                          <p:attrName>style.visibility</p:attrName>
                                        </p:attrNameLst>
                                      </p:cBhvr>
                                      <p:to>
                                        <p:strVal val="visible"/>
                                      </p:to>
                                    </p:set>
                                    <p:anim calcmode="lin" valueType="num">
                                      <p:cBhvr>
                                        <p:cTn id="27" dur="500" fill="hold"/>
                                        <p:tgtEl>
                                          <p:spTgt spid="77"/>
                                        </p:tgtEl>
                                        <p:attrNameLst>
                                          <p:attrName>ppt_w</p:attrName>
                                        </p:attrNameLst>
                                      </p:cBhvr>
                                      <p:tavLst>
                                        <p:tav tm="0">
                                          <p:val>
                                            <p:fltVal val="0"/>
                                          </p:val>
                                        </p:tav>
                                        <p:tav tm="100000">
                                          <p:val>
                                            <p:strVal val="#ppt_w"/>
                                          </p:val>
                                        </p:tav>
                                      </p:tavLst>
                                    </p:anim>
                                    <p:anim calcmode="lin" valueType="num">
                                      <p:cBhvr>
                                        <p:cTn id="28" dur="500" fill="hold"/>
                                        <p:tgtEl>
                                          <p:spTgt spid="77"/>
                                        </p:tgtEl>
                                        <p:attrNameLst>
                                          <p:attrName>ppt_h</p:attrName>
                                        </p:attrNameLst>
                                      </p:cBhvr>
                                      <p:tavLst>
                                        <p:tav tm="0">
                                          <p:val>
                                            <p:fltVal val="0"/>
                                          </p:val>
                                        </p:tav>
                                        <p:tav tm="100000">
                                          <p:val>
                                            <p:strVal val="#ppt_h"/>
                                          </p:val>
                                        </p:tav>
                                      </p:tavLst>
                                    </p:anim>
                                    <p:animEffect transition="in" filter="fade">
                                      <p:cBhvr>
                                        <p:cTn id="29" dur="500"/>
                                        <p:tgtEl>
                                          <p:spTgt spid="77"/>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p:tgtEl>
                                          <p:spTgt spid="6"/>
                                        </p:tgtEl>
                                        <p:attrNameLst>
                                          <p:attrName>ppt_y</p:attrName>
                                        </p:attrNameLst>
                                      </p:cBhvr>
                                      <p:tavLst>
                                        <p:tav tm="0">
                                          <p:val>
                                            <p:strVal val="#ppt_y+#ppt_h*1.125000"/>
                                          </p:val>
                                        </p:tav>
                                        <p:tav tm="100000">
                                          <p:val>
                                            <p:strVal val="#ppt_y"/>
                                          </p:val>
                                        </p:tav>
                                      </p:tavLst>
                                    </p:anim>
                                    <p:animEffect transition="in" filter="wipe(up)">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7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万维网（</a:t>
            </a:r>
            <a:r>
              <a:rPr lang="en-US" altLang="zh-CN" b="1" dirty="0">
                <a:solidFill>
                  <a:srgbClr val="FF0000"/>
                </a:solidFill>
              </a:rPr>
              <a:t>W</a:t>
            </a:r>
            <a:r>
              <a:rPr lang="en-US" altLang="zh-CN" b="1" dirty="0"/>
              <a:t>orld </a:t>
            </a:r>
            <a:r>
              <a:rPr lang="en-US" altLang="zh-CN" b="1" dirty="0">
                <a:solidFill>
                  <a:srgbClr val="FF0000"/>
                </a:solidFill>
              </a:rPr>
              <a:t>W</a:t>
            </a:r>
            <a:r>
              <a:rPr lang="en-US" altLang="zh-CN" b="1" dirty="0"/>
              <a:t>ide </a:t>
            </a:r>
            <a:r>
              <a:rPr lang="en-US" altLang="zh-CN" b="1" dirty="0">
                <a:solidFill>
                  <a:srgbClr val="FF0000"/>
                </a:solidFill>
              </a:rPr>
              <a:t>W</a:t>
            </a:r>
            <a:r>
              <a:rPr lang="en-US" altLang="zh-CN" b="1" dirty="0"/>
              <a:t>eb</a:t>
            </a:r>
            <a:r>
              <a:rPr lang="zh-CN" altLang="en-US" b="1" dirty="0"/>
              <a:t>，</a:t>
            </a:r>
            <a:r>
              <a:rPr lang="en-US" altLang="zh-CN" b="1" dirty="0">
                <a:solidFill>
                  <a:srgbClr val="FF0000"/>
                </a:solidFill>
              </a:rPr>
              <a:t>WWW</a:t>
            </a:r>
            <a:r>
              <a:rPr lang="zh-CN" altLang="en-US" b="1" dirty="0"/>
              <a:t>）</a:t>
            </a:r>
            <a:r>
              <a:rPr lang="zh-CN" altLang="en-US" b="1" dirty="0">
                <a:solidFill>
                  <a:srgbClr val="FF0000"/>
                </a:solidFill>
              </a:rPr>
              <a:t>并非某种特殊的计算机网络</a:t>
            </a:r>
            <a:r>
              <a:rPr lang="zh-CN" altLang="en-US" b="1" dirty="0"/>
              <a:t>。它是一个大规模的、联机式的信息储藏所，</a:t>
            </a:r>
            <a:r>
              <a:rPr lang="zh-CN" altLang="en-US" b="1" dirty="0">
                <a:solidFill>
                  <a:srgbClr val="FF0000"/>
                </a:solidFill>
              </a:rPr>
              <a:t>是运行在因特网上的一个分布式应用</a:t>
            </a:r>
            <a:r>
              <a:rPr lang="zh-CN" altLang="en-US" b="1" dirty="0"/>
              <a:t>。</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zh-CN" altLang="en-US" b="1" dirty="0"/>
              <a:t>万维网利用网页之间的</a:t>
            </a:r>
            <a:r>
              <a:rPr lang="zh-CN" altLang="en-US" b="1" dirty="0">
                <a:solidFill>
                  <a:srgbClr val="FF0000"/>
                </a:solidFill>
              </a:rPr>
              <a:t>超链接</a:t>
            </a:r>
            <a:r>
              <a:rPr lang="zh-CN" altLang="en-US" b="1" dirty="0"/>
              <a:t>将不同网站的网页链接成一张逻辑上的信息网。</a:t>
            </a:r>
            <a:endParaRPr lang="en-US" altLang="zh-CN" b="1" dirty="0"/>
          </a:p>
        </p:txBody>
      </p:sp>
      <p:sp>
        <p:nvSpPr>
          <p:cNvPr id="28" name="矩形 27">
            <a:extLst>
              <a:ext uri="{FF2B5EF4-FFF2-40B4-BE49-F238E27FC236}">
                <a16:creationId xmlns:a16="http://schemas.microsoft.com/office/drawing/2014/main" id="{3623D5C0-1496-9385-D73B-219FD696BB85}"/>
              </a:ext>
            </a:extLst>
          </p:cNvPr>
          <p:cNvSpPr/>
          <p:nvPr/>
        </p:nvSpPr>
        <p:spPr>
          <a:xfrm>
            <a:off x="1016000" y="2391913"/>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íşlïḍè">
            <a:extLst>
              <a:ext uri="{FF2B5EF4-FFF2-40B4-BE49-F238E27FC236}">
                <a16:creationId xmlns:a16="http://schemas.microsoft.com/office/drawing/2014/main" id="{3EF389E6-9FDC-53B1-3B3C-0D0EFE844F1A}"/>
              </a:ext>
            </a:extLst>
          </p:cNvPr>
          <p:cNvSpPr txBox="1"/>
          <p:nvPr/>
        </p:nvSpPr>
        <p:spPr>
          <a:xfrm>
            <a:off x="1293757" y="2276028"/>
            <a:ext cx="10593443" cy="488746"/>
          </a:xfrm>
          <a:prstGeom prst="rect">
            <a:avLst/>
          </a:prstGeom>
          <a:noFill/>
        </p:spPr>
        <p:txBody>
          <a:bodyPr wrap="square" lIns="91440" tIns="45720" rIns="91440" bIns="45720" anchor="ctr">
            <a:noAutofit/>
          </a:bodyPr>
          <a:lstStyle/>
          <a:p>
            <a:r>
              <a:rPr lang="zh-CN" altLang="en-US" b="1" dirty="0"/>
              <a:t>万维网是欧洲粒子物理实验室的</a:t>
            </a:r>
            <a:r>
              <a:rPr lang="en-US" altLang="zh-CN" b="1" dirty="0">
                <a:solidFill>
                  <a:srgbClr val="FF0000"/>
                </a:solidFill>
              </a:rPr>
              <a:t>Tim Berners-Lee</a:t>
            </a:r>
            <a:r>
              <a:rPr lang="zh-CN" altLang="en-US" b="1" dirty="0"/>
              <a:t>最初于</a:t>
            </a:r>
            <a:r>
              <a:rPr lang="en-US" altLang="zh-CN" b="1" dirty="0"/>
              <a:t>1989</a:t>
            </a:r>
            <a:r>
              <a:rPr lang="zh-CN" altLang="en-US" b="1" dirty="0"/>
              <a:t>年</a:t>
            </a:r>
            <a:r>
              <a:rPr lang="en-US" altLang="zh-CN" b="1" dirty="0"/>
              <a:t>3</a:t>
            </a:r>
            <a:r>
              <a:rPr lang="zh-CN" altLang="en-US" b="1" dirty="0"/>
              <a:t>月提出的。</a:t>
            </a:r>
            <a:endParaRPr lang="en-US" altLang="zh-CN" b="1" dirty="0"/>
          </a:p>
        </p:txBody>
      </p:sp>
      <p:pic>
        <p:nvPicPr>
          <p:cNvPr id="31" name="图片 30" descr="电脑前的人&#10;&#10;描述已自动生成">
            <a:extLst>
              <a:ext uri="{FF2B5EF4-FFF2-40B4-BE49-F238E27FC236}">
                <a16:creationId xmlns:a16="http://schemas.microsoft.com/office/drawing/2014/main" id="{4676CB2C-5540-FCC5-EF9A-B4B4D8AC2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5902" y="2952104"/>
            <a:ext cx="6496411" cy="3445150"/>
          </a:xfrm>
          <a:prstGeom prst="rect">
            <a:avLst/>
          </a:prstGeom>
        </p:spPr>
      </p:pic>
    </p:spTree>
    <p:custDataLst>
      <p:tags r:id="rId1"/>
    </p:custDataLst>
    <p:extLst>
      <p:ext uri="{BB962C8B-B14F-4D97-AF65-F5344CB8AC3E}">
        <p14:creationId xmlns:p14="http://schemas.microsoft.com/office/powerpoint/2010/main" val="21727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 calcmode="lin" valueType="num">
                                      <p:cBhvr>
                                        <p:cTn id="26" dur="500" fill="hold"/>
                                        <p:tgtEl>
                                          <p:spTgt spid="19"/>
                                        </p:tgtEl>
                                        <p:attrNameLst>
                                          <p:attrName>style.rotation</p:attrName>
                                        </p:attrNameLst>
                                      </p:cBhvr>
                                      <p:tavLst>
                                        <p:tav tm="0">
                                          <p:val>
                                            <p:fltVal val="360"/>
                                          </p:val>
                                        </p:tav>
                                        <p:tav tm="100000">
                                          <p:val>
                                            <p:fltVal val="0"/>
                                          </p:val>
                                        </p:tav>
                                      </p:tavLst>
                                    </p:anim>
                                    <p:animEffect transition="in" filter="fade">
                                      <p:cBhvr>
                                        <p:cTn id="27" dur="500"/>
                                        <p:tgtEl>
                                          <p:spTgt spid="19"/>
                                        </p:tgtEl>
                                      </p:cBhvr>
                                    </p:animEffect>
                                  </p:childTnLst>
                                </p:cTn>
                              </p:par>
                            </p:childTnLst>
                          </p:cTn>
                        </p:par>
                        <p:par>
                          <p:cTn id="28" fill="hold">
                            <p:stCondLst>
                              <p:cond delay="500"/>
                            </p:stCondLst>
                            <p:childTnLst>
                              <p:par>
                                <p:cTn id="29" presetID="1" presetClass="entr" presetSubtype="0" fill="hold" grpId="0" nodeType="afterEffect">
                                  <p:stCondLst>
                                    <p:cond delay="0"/>
                                  </p:stCondLst>
                                  <p:iterate type="lt">
                                    <p:tmAbs val="100"/>
                                  </p:iterate>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800" decel="100000"/>
                                        <p:tgtEl>
                                          <p:spTgt spid="31"/>
                                        </p:tgtEl>
                                      </p:cBhvr>
                                    </p:animEffect>
                                    <p:anim calcmode="lin" valueType="num">
                                      <p:cBhvr>
                                        <p:cTn id="36" dur="800" decel="100000" fill="hold"/>
                                        <p:tgtEl>
                                          <p:spTgt spid="31"/>
                                        </p:tgtEl>
                                        <p:attrNameLst>
                                          <p:attrName>style.rotation</p:attrName>
                                        </p:attrNameLst>
                                      </p:cBhvr>
                                      <p:tavLst>
                                        <p:tav tm="0">
                                          <p:val>
                                            <p:fltVal val="-90"/>
                                          </p:val>
                                        </p:tav>
                                        <p:tav tm="100000">
                                          <p:val>
                                            <p:fltVal val="0"/>
                                          </p:val>
                                        </p:tav>
                                      </p:tavLst>
                                    </p:anim>
                                    <p:anim calcmode="lin" valueType="num">
                                      <p:cBhvr>
                                        <p:cTn id="37" dur="800" decel="100000" fill="hold"/>
                                        <p:tgtEl>
                                          <p:spTgt spid="31"/>
                                        </p:tgtEl>
                                        <p:attrNameLst>
                                          <p:attrName>ppt_x</p:attrName>
                                        </p:attrNameLst>
                                      </p:cBhvr>
                                      <p:tavLst>
                                        <p:tav tm="0">
                                          <p:val>
                                            <p:strVal val="#ppt_x+0.4"/>
                                          </p:val>
                                        </p:tav>
                                        <p:tav tm="100000">
                                          <p:val>
                                            <p:strVal val="#ppt_x-0.05"/>
                                          </p:val>
                                        </p:tav>
                                      </p:tavLst>
                                    </p:anim>
                                    <p:anim calcmode="lin" valueType="num">
                                      <p:cBhvr>
                                        <p:cTn id="38" dur="800" decel="100000" fill="hold"/>
                                        <p:tgtEl>
                                          <p:spTgt spid="31"/>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31"/>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31"/>
                                        </p:tgtEl>
                                        <p:attrNameLst>
                                          <p:attrName>ppt_y</p:attrName>
                                        </p:attrNameLst>
                                      </p:cBhvr>
                                      <p:tavLst>
                                        <p:tav tm="0">
                                          <p:val>
                                            <p:strVal val="#ppt_y+0.1"/>
                                          </p:val>
                                        </p:tav>
                                        <p:tav tm="100000">
                                          <p:val>
                                            <p:strVal val="#ppt_y"/>
                                          </p:val>
                                        </p:tav>
                                      </p:tavLst>
                                    </p:anim>
                                  </p:childTnLst>
                                </p:cTn>
                              </p:par>
                            </p:childTnLst>
                          </p:cTn>
                        </p:par>
                        <p:par>
                          <p:cTn id="41" fill="hold">
                            <p:stCondLst>
                              <p:cond delay="1000"/>
                            </p:stCondLst>
                            <p:childTnLst>
                              <p:par>
                                <p:cTn id="42" presetID="49" presetClass="entr" presetSubtype="0" decel="100000" fill="hold" grpId="0" nodeType="afterEffect">
                                  <p:stCondLst>
                                    <p:cond delay="0"/>
                                  </p:stCondLst>
                                  <p:childTnLst>
                                    <p:set>
                                      <p:cBhvr>
                                        <p:cTn id="43" dur="1" fill="hold">
                                          <p:stCondLst>
                                            <p:cond delay="0"/>
                                          </p:stCondLst>
                                        </p:cTn>
                                        <p:tgtEl>
                                          <p:spTgt spid="28"/>
                                        </p:tgtEl>
                                        <p:attrNameLst>
                                          <p:attrName>style.visibility</p:attrName>
                                        </p:attrNameLst>
                                      </p:cBhvr>
                                      <p:to>
                                        <p:strVal val="visible"/>
                                      </p:to>
                                    </p:set>
                                    <p:anim calcmode="lin" valueType="num">
                                      <p:cBhvr>
                                        <p:cTn id="44" dur="500" fill="hold"/>
                                        <p:tgtEl>
                                          <p:spTgt spid="28"/>
                                        </p:tgtEl>
                                        <p:attrNameLst>
                                          <p:attrName>ppt_w</p:attrName>
                                        </p:attrNameLst>
                                      </p:cBhvr>
                                      <p:tavLst>
                                        <p:tav tm="0">
                                          <p:val>
                                            <p:fltVal val="0"/>
                                          </p:val>
                                        </p:tav>
                                        <p:tav tm="100000">
                                          <p:val>
                                            <p:strVal val="#ppt_w"/>
                                          </p:val>
                                        </p:tav>
                                      </p:tavLst>
                                    </p:anim>
                                    <p:anim calcmode="lin" valueType="num">
                                      <p:cBhvr>
                                        <p:cTn id="45" dur="500" fill="hold"/>
                                        <p:tgtEl>
                                          <p:spTgt spid="28"/>
                                        </p:tgtEl>
                                        <p:attrNameLst>
                                          <p:attrName>ppt_h</p:attrName>
                                        </p:attrNameLst>
                                      </p:cBhvr>
                                      <p:tavLst>
                                        <p:tav tm="0">
                                          <p:val>
                                            <p:fltVal val="0"/>
                                          </p:val>
                                        </p:tav>
                                        <p:tav tm="100000">
                                          <p:val>
                                            <p:strVal val="#ppt_h"/>
                                          </p:val>
                                        </p:tav>
                                      </p:tavLst>
                                    </p:anim>
                                    <p:anim calcmode="lin" valueType="num">
                                      <p:cBhvr>
                                        <p:cTn id="46" dur="500" fill="hold"/>
                                        <p:tgtEl>
                                          <p:spTgt spid="28"/>
                                        </p:tgtEl>
                                        <p:attrNameLst>
                                          <p:attrName>style.rotation</p:attrName>
                                        </p:attrNameLst>
                                      </p:cBhvr>
                                      <p:tavLst>
                                        <p:tav tm="0">
                                          <p:val>
                                            <p:fltVal val="360"/>
                                          </p:val>
                                        </p:tav>
                                        <p:tav tm="100000">
                                          <p:val>
                                            <p:fltVal val="0"/>
                                          </p:val>
                                        </p:tav>
                                      </p:tavLst>
                                    </p:anim>
                                    <p:animEffect transition="in" filter="fade">
                                      <p:cBhvr>
                                        <p:cTn id="47" dur="500"/>
                                        <p:tgtEl>
                                          <p:spTgt spid="28"/>
                                        </p:tgtEl>
                                      </p:cBhvr>
                                    </p:animEffect>
                                  </p:childTnLst>
                                </p:cTn>
                              </p:par>
                            </p:childTnLst>
                          </p:cTn>
                        </p:par>
                        <p:par>
                          <p:cTn id="48" fill="hold">
                            <p:stCondLst>
                              <p:cond delay="1500"/>
                            </p:stCondLst>
                            <p:childTnLst>
                              <p:par>
                                <p:cTn id="49" presetID="1" presetClass="entr" presetSubtype="0" fill="hold" grpId="0" nodeType="afterEffect">
                                  <p:stCondLst>
                                    <p:cond delay="0"/>
                                  </p:stCondLst>
                                  <p:iterate type="lt">
                                    <p:tmAbs val="100"/>
                                  </p:iterate>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P spid="28" grpId="0" animBg="1"/>
      <p:bldP spid="2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800" y="749300"/>
            <a:ext cx="6192344" cy="400110"/>
            <a:chOff x="424117" y="898245"/>
            <a:chExt cx="6192344"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628306"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052423" y="898245"/>
              <a:ext cx="5564038" cy="400110"/>
            </a:xfrm>
            <a:prstGeom prst="rect">
              <a:avLst/>
            </a:prstGeom>
            <a:noFill/>
          </p:spPr>
          <p:txBody>
            <a:bodyPr wrap="square" rtlCol="0">
              <a:spAutoFit/>
            </a:bodyPr>
            <a:lstStyle/>
            <a:p>
              <a:r>
                <a:rPr lang="zh-CN" altLang="en-US" sz="2000" b="1" dirty="0"/>
                <a:t>万维网概述</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00110"/>
          </a:xfrm>
          <a:prstGeom prst="rect">
            <a:avLst/>
          </a:prstGeom>
          <a:noFill/>
        </p:spPr>
        <p:txBody>
          <a:bodyPr wrap="square" lIns="91440" tIns="45720" rIns="91440" bIns="45720" anchor="ctr">
            <a:noAutofit/>
          </a:bodyPr>
          <a:lstStyle/>
          <a:p>
            <a:r>
              <a:rPr lang="zh-CN" altLang="en-US" b="1" dirty="0"/>
              <a:t>目前比较流行的浏览器如下：</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41330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4017203"/>
            <a:ext cx="10593443" cy="488746"/>
          </a:xfrm>
          <a:prstGeom prst="rect">
            <a:avLst/>
          </a:prstGeom>
          <a:noFill/>
        </p:spPr>
        <p:txBody>
          <a:bodyPr wrap="square" lIns="91440" tIns="45720" rIns="91440" bIns="45720" anchor="ctr">
            <a:noAutofit/>
          </a:bodyPr>
          <a:lstStyle/>
          <a:p>
            <a:r>
              <a:rPr lang="zh-CN" altLang="en-US" b="1" dirty="0"/>
              <a:t>浏览器最重要的部分是</a:t>
            </a:r>
            <a:r>
              <a:rPr lang="zh-CN" altLang="en-US" b="1" dirty="0">
                <a:solidFill>
                  <a:srgbClr val="FF0000"/>
                </a:solidFill>
              </a:rPr>
              <a:t>渲染引擎</a:t>
            </a:r>
            <a:r>
              <a:rPr lang="zh-CN" altLang="en-US" b="1" dirty="0"/>
              <a:t>，也就是</a:t>
            </a:r>
            <a:r>
              <a:rPr lang="zh-CN" altLang="en-US" b="1" dirty="0">
                <a:solidFill>
                  <a:srgbClr val="FF0000"/>
                </a:solidFill>
              </a:rPr>
              <a:t>浏览器内核</a:t>
            </a:r>
            <a:r>
              <a:rPr lang="zh-CN" altLang="en-US" b="1" dirty="0"/>
              <a:t>。负责对网页内容进行解析和显示。</a:t>
            </a:r>
            <a:endParaRPr lang="en-US" altLang="zh-CN" b="1" dirty="0"/>
          </a:p>
        </p:txBody>
      </p:sp>
      <p:grpSp>
        <p:nvGrpSpPr>
          <p:cNvPr id="20" name="组合 19">
            <a:extLst>
              <a:ext uri="{FF2B5EF4-FFF2-40B4-BE49-F238E27FC236}">
                <a16:creationId xmlns:a16="http://schemas.microsoft.com/office/drawing/2014/main" id="{5725EDA7-3474-72B5-F6A2-160A7C23F4A4}"/>
              </a:ext>
            </a:extLst>
          </p:cNvPr>
          <p:cNvGrpSpPr/>
          <p:nvPr/>
        </p:nvGrpSpPr>
        <p:grpSpPr>
          <a:xfrm>
            <a:off x="2233954" y="1944239"/>
            <a:ext cx="1122291" cy="1563781"/>
            <a:chOff x="675498" y="1944239"/>
            <a:chExt cx="1122291" cy="1563781"/>
          </a:xfrm>
        </p:grpSpPr>
        <p:sp>
          <p:nvSpPr>
            <p:cNvPr id="7" name="文本框 6">
              <a:extLst>
                <a:ext uri="{FF2B5EF4-FFF2-40B4-BE49-F238E27FC236}">
                  <a16:creationId xmlns:a16="http://schemas.microsoft.com/office/drawing/2014/main" id="{E0BF200B-4BA4-1653-2526-61FCE3672AAC}"/>
                </a:ext>
              </a:extLst>
            </p:cNvPr>
            <p:cNvSpPr txBox="1"/>
            <p:nvPr/>
          </p:nvSpPr>
          <p:spPr>
            <a:xfrm>
              <a:off x="675498" y="3138688"/>
              <a:ext cx="1122291" cy="369332"/>
            </a:xfrm>
            <a:prstGeom prst="rect">
              <a:avLst/>
            </a:prstGeom>
            <a:noFill/>
          </p:spPr>
          <p:txBody>
            <a:bodyPr wrap="square" rtlCol="0">
              <a:spAutoFit/>
            </a:bodyPr>
            <a:lstStyle/>
            <a:p>
              <a:pPr algn="ctr"/>
              <a:r>
                <a:rPr lang="en-US" altLang="zh-CN" b="1" dirty="0">
                  <a:latin typeface="+mn-ea"/>
                </a:rPr>
                <a:t>Chrome</a:t>
              </a:r>
              <a:endParaRPr lang="zh-CN" altLang="en-US" b="1" dirty="0">
                <a:latin typeface="+mn-ea"/>
              </a:endParaRPr>
            </a:p>
          </p:txBody>
        </p:sp>
        <p:pic>
          <p:nvPicPr>
            <p:cNvPr id="8" name="图片 7" descr="卡通画&#10;&#10;描述已自动生成">
              <a:extLst>
                <a:ext uri="{FF2B5EF4-FFF2-40B4-BE49-F238E27FC236}">
                  <a16:creationId xmlns:a16="http://schemas.microsoft.com/office/drawing/2014/main" id="{3921C93B-783D-D373-1346-53B9202BCA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146" y="1944239"/>
              <a:ext cx="888997" cy="888997"/>
            </a:xfrm>
            <a:prstGeom prst="rect">
              <a:avLst/>
            </a:prstGeom>
          </p:spPr>
        </p:pic>
      </p:grpSp>
      <p:grpSp>
        <p:nvGrpSpPr>
          <p:cNvPr id="21" name="组合 20">
            <a:extLst>
              <a:ext uri="{FF2B5EF4-FFF2-40B4-BE49-F238E27FC236}">
                <a16:creationId xmlns:a16="http://schemas.microsoft.com/office/drawing/2014/main" id="{E28A78F0-3639-B3BE-C3CB-7127BFAC23C0}"/>
              </a:ext>
            </a:extLst>
          </p:cNvPr>
          <p:cNvGrpSpPr/>
          <p:nvPr/>
        </p:nvGrpSpPr>
        <p:grpSpPr>
          <a:xfrm>
            <a:off x="4331105" y="1944239"/>
            <a:ext cx="1060269" cy="1563781"/>
            <a:chOff x="2772649" y="1944239"/>
            <a:chExt cx="1060269" cy="1563781"/>
          </a:xfrm>
        </p:grpSpPr>
        <p:pic>
          <p:nvPicPr>
            <p:cNvPr id="9" name="图片 8" descr="卡通人物&#10;&#10;描述已自动生成">
              <a:extLst>
                <a:ext uri="{FF2B5EF4-FFF2-40B4-BE49-F238E27FC236}">
                  <a16:creationId xmlns:a16="http://schemas.microsoft.com/office/drawing/2014/main" id="{157A46A4-0B03-FD04-7D94-385074E2684C}"/>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72650" y="1944239"/>
              <a:ext cx="1060268" cy="1060268"/>
            </a:xfrm>
            <a:prstGeom prst="rect">
              <a:avLst/>
            </a:prstGeom>
          </p:spPr>
        </p:pic>
        <p:sp>
          <p:nvSpPr>
            <p:cNvPr id="13" name="文本框 12">
              <a:extLst>
                <a:ext uri="{FF2B5EF4-FFF2-40B4-BE49-F238E27FC236}">
                  <a16:creationId xmlns:a16="http://schemas.microsoft.com/office/drawing/2014/main" id="{99F7DDE4-EC18-7A81-2B19-2B188630F035}"/>
                </a:ext>
              </a:extLst>
            </p:cNvPr>
            <p:cNvSpPr txBox="1"/>
            <p:nvPr/>
          </p:nvSpPr>
          <p:spPr>
            <a:xfrm>
              <a:off x="2772649" y="3138688"/>
              <a:ext cx="1060269" cy="369332"/>
            </a:xfrm>
            <a:prstGeom prst="rect">
              <a:avLst/>
            </a:prstGeom>
            <a:noFill/>
          </p:spPr>
          <p:txBody>
            <a:bodyPr wrap="square" rtlCol="0">
              <a:spAutoFit/>
            </a:bodyPr>
            <a:lstStyle/>
            <a:p>
              <a:pPr algn="ctr"/>
              <a:r>
                <a:rPr lang="en-US" altLang="zh-CN" b="1" dirty="0" err="1">
                  <a:latin typeface="+mn-ea"/>
                </a:rPr>
                <a:t>FireFox</a:t>
              </a:r>
              <a:endParaRPr lang="zh-CN" altLang="en-US" b="1" dirty="0">
                <a:latin typeface="+mn-ea"/>
              </a:endParaRPr>
            </a:p>
          </p:txBody>
        </p:sp>
      </p:grpSp>
      <p:grpSp>
        <p:nvGrpSpPr>
          <p:cNvPr id="22" name="组合 21">
            <a:extLst>
              <a:ext uri="{FF2B5EF4-FFF2-40B4-BE49-F238E27FC236}">
                <a16:creationId xmlns:a16="http://schemas.microsoft.com/office/drawing/2014/main" id="{0CA4FB8A-45F4-4E6C-80F3-4AD377257608}"/>
              </a:ext>
            </a:extLst>
          </p:cNvPr>
          <p:cNvGrpSpPr/>
          <p:nvPr/>
        </p:nvGrpSpPr>
        <p:grpSpPr>
          <a:xfrm>
            <a:off x="6482881" y="1944239"/>
            <a:ext cx="1171575" cy="1563781"/>
            <a:chOff x="4924425" y="1944239"/>
            <a:chExt cx="1171575" cy="1563781"/>
          </a:xfrm>
        </p:grpSpPr>
        <p:pic>
          <p:nvPicPr>
            <p:cNvPr id="10" name="图片 9" descr="卡通人物&#10;&#10;中度可信度描述已自动生成">
              <a:extLst>
                <a:ext uri="{FF2B5EF4-FFF2-40B4-BE49-F238E27FC236}">
                  <a16:creationId xmlns:a16="http://schemas.microsoft.com/office/drawing/2014/main" id="{781F74DC-4626-E315-2DDB-083CCF68F4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4425" y="1944239"/>
              <a:ext cx="1171575" cy="1095375"/>
            </a:xfrm>
            <a:prstGeom prst="rect">
              <a:avLst/>
            </a:prstGeom>
          </p:spPr>
        </p:pic>
        <p:sp>
          <p:nvSpPr>
            <p:cNvPr id="14" name="文本框 13">
              <a:extLst>
                <a:ext uri="{FF2B5EF4-FFF2-40B4-BE49-F238E27FC236}">
                  <a16:creationId xmlns:a16="http://schemas.microsoft.com/office/drawing/2014/main" id="{ACF87863-AD8F-78B1-ED5C-EEEEF6CA59B4}"/>
                </a:ext>
              </a:extLst>
            </p:cNvPr>
            <p:cNvSpPr txBox="1"/>
            <p:nvPr/>
          </p:nvSpPr>
          <p:spPr>
            <a:xfrm>
              <a:off x="4995697" y="3138688"/>
              <a:ext cx="1060269" cy="369332"/>
            </a:xfrm>
            <a:prstGeom prst="rect">
              <a:avLst/>
            </a:prstGeom>
            <a:noFill/>
          </p:spPr>
          <p:txBody>
            <a:bodyPr wrap="square" rtlCol="0">
              <a:spAutoFit/>
            </a:bodyPr>
            <a:lstStyle/>
            <a:p>
              <a:pPr algn="ctr"/>
              <a:r>
                <a:rPr lang="en-US" altLang="zh-CN" b="1" dirty="0">
                  <a:latin typeface="+mn-ea"/>
                </a:rPr>
                <a:t>Safari</a:t>
              </a:r>
              <a:endParaRPr lang="zh-CN" altLang="en-US" b="1" dirty="0">
                <a:latin typeface="+mn-ea"/>
              </a:endParaRPr>
            </a:p>
          </p:txBody>
        </p:sp>
      </p:grpSp>
      <p:grpSp>
        <p:nvGrpSpPr>
          <p:cNvPr id="23" name="组合 22">
            <a:extLst>
              <a:ext uri="{FF2B5EF4-FFF2-40B4-BE49-F238E27FC236}">
                <a16:creationId xmlns:a16="http://schemas.microsoft.com/office/drawing/2014/main" id="{0B37A767-FCC9-DA19-C524-6C9775861891}"/>
              </a:ext>
            </a:extLst>
          </p:cNvPr>
          <p:cNvGrpSpPr/>
          <p:nvPr/>
        </p:nvGrpSpPr>
        <p:grpSpPr>
          <a:xfrm>
            <a:off x="8745963" y="1944239"/>
            <a:ext cx="1075887" cy="1563781"/>
            <a:chOff x="7187507" y="1944239"/>
            <a:chExt cx="1075887" cy="1563781"/>
          </a:xfrm>
        </p:grpSpPr>
        <p:pic>
          <p:nvPicPr>
            <p:cNvPr id="11" name="图片 10" descr="图标&#10;&#10;描述已自动生成">
              <a:extLst>
                <a:ext uri="{FF2B5EF4-FFF2-40B4-BE49-F238E27FC236}">
                  <a16:creationId xmlns:a16="http://schemas.microsoft.com/office/drawing/2014/main" id="{46FBA1AC-9B91-976B-B486-D15539E86E1C}"/>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187507" y="1944239"/>
              <a:ext cx="1060268" cy="1060268"/>
            </a:xfrm>
            <a:prstGeom prst="rect">
              <a:avLst/>
            </a:prstGeom>
          </p:spPr>
        </p:pic>
        <p:sp>
          <p:nvSpPr>
            <p:cNvPr id="16" name="文本框 15">
              <a:extLst>
                <a:ext uri="{FF2B5EF4-FFF2-40B4-BE49-F238E27FC236}">
                  <a16:creationId xmlns:a16="http://schemas.microsoft.com/office/drawing/2014/main" id="{412FF818-F8DA-BAC4-084D-D8EB311F222B}"/>
                </a:ext>
              </a:extLst>
            </p:cNvPr>
            <p:cNvSpPr txBox="1"/>
            <p:nvPr/>
          </p:nvSpPr>
          <p:spPr>
            <a:xfrm>
              <a:off x="7203125" y="3138688"/>
              <a:ext cx="1060269" cy="369332"/>
            </a:xfrm>
            <a:prstGeom prst="rect">
              <a:avLst/>
            </a:prstGeom>
            <a:noFill/>
          </p:spPr>
          <p:txBody>
            <a:bodyPr wrap="square" rtlCol="0">
              <a:spAutoFit/>
            </a:bodyPr>
            <a:lstStyle/>
            <a:p>
              <a:pPr algn="ctr"/>
              <a:r>
                <a:rPr lang="en-US" altLang="zh-CN" b="1" dirty="0">
                  <a:latin typeface="+mn-ea"/>
                </a:rPr>
                <a:t>Opera</a:t>
              </a:r>
              <a:endParaRPr lang="zh-CN" altLang="en-US" b="1" dirty="0">
                <a:latin typeface="+mn-ea"/>
              </a:endParaRPr>
            </a:p>
          </p:txBody>
        </p:sp>
      </p:grpSp>
      <p:grpSp>
        <p:nvGrpSpPr>
          <p:cNvPr id="31" name="组合 30">
            <a:extLst>
              <a:ext uri="{FF2B5EF4-FFF2-40B4-BE49-F238E27FC236}">
                <a16:creationId xmlns:a16="http://schemas.microsoft.com/office/drawing/2014/main" id="{97B7E835-48BE-464C-E94E-82931D5C5B80}"/>
              </a:ext>
            </a:extLst>
          </p:cNvPr>
          <p:cNvGrpSpPr/>
          <p:nvPr/>
        </p:nvGrpSpPr>
        <p:grpSpPr>
          <a:xfrm>
            <a:off x="2264964" y="3456056"/>
            <a:ext cx="7557696" cy="369332"/>
            <a:chOff x="706508" y="3456056"/>
            <a:chExt cx="7557696" cy="369332"/>
          </a:xfrm>
        </p:grpSpPr>
        <p:sp>
          <p:nvSpPr>
            <p:cNvPr id="26" name="文本框 25">
              <a:extLst>
                <a:ext uri="{FF2B5EF4-FFF2-40B4-BE49-F238E27FC236}">
                  <a16:creationId xmlns:a16="http://schemas.microsoft.com/office/drawing/2014/main" id="{27A8E723-44D9-6E98-1021-A7C95AAFBE90}"/>
                </a:ext>
              </a:extLst>
            </p:cNvPr>
            <p:cNvSpPr txBox="1"/>
            <p:nvPr/>
          </p:nvSpPr>
          <p:spPr>
            <a:xfrm>
              <a:off x="706508" y="3456056"/>
              <a:ext cx="1060269" cy="369332"/>
            </a:xfrm>
            <a:prstGeom prst="rect">
              <a:avLst/>
            </a:prstGeom>
            <a:noFill/>
          </p:spPr>
          <p:txBody>
            <a:bodyPr wrap="square" rtlCol="0">
              <a:spAutoFit/>
            </a:bodyPr>
            <a:lstStyle/>
            <a:p>
              <a:pPr algn="ctr"/>
              <a:r>
                <a:rPr lang="en-US" altLang="zh-CN" b="1" dirty="0">
                  <a:solidFill>
                    <a:srgbClr val="C00000"/>
                  </a:solidFill>
                  <a:latin typeface="+mn-ea"/>
                </a:rPr>
                <a:t>Blink</a:t>
              </a:r>
              <a:endParaRPr lang="zh-CN" altLang="en-US" b="1" dirty="0">
                <a:solidFill>
                  <a:srgbClr val="C00000"/>
                </a:solidFill>
                <a:latin typeface="+mn-ea"/>
              </a:endParaRPr>
            </a:p>
          </p:txBody>
        </p:sp>
        <p:sp>
          <p:nvSpPr>
            <p:cNvPr id="27" name="文本框 26">
              <a:extLst>
                <a:ext uri="{FF2B5EF4-FFF2-40B4-BE49-F238E27FC236}">
                  <a16:creationId xmlns:a16="http://schemas.microsoft.com/office/drawing/2014/main" id="{3B3113EA-DB9F-3B35-7F53-BDBE64102A38}"/>
                </a:ext>
              </a:extLst>
            </p:cNvPr>
            <p:cNvSpPr txBox="1"/>
            <p:nvPr/>
          </p:nvSpPr>
          <p:spPr>
            <a:xfrm>
              <a:off x="2772649" y="3456056"/>
              <a:ext cx="1060269" cy="369332"/>
            </a:xfrm>
            <a:prstGeom prst="rect">
              <a:avLst/>
            </a:prstGeom>
            <a:noFill/>
          </p:spPr>
          <p:txBody>
            <a:bodyPr wrap="square" rtlCol="0">
              <a:spAutoFit/>
            </a:bodyPr>
            <a:lstStyle/>
            <a:p>
              <a:pPr algn="ctr"/>
              <a:r>
                <a:rPr lang="en-US" altLang="zh-CN" b="1" dirty="0">
                  <a:solidFill>
                    <a:srgbClr val="C00000"/>
                  </a:solidFill>
                  <a:latin typeface="+mn-ea"/>
                </a:rPr>
                <a:t>Gecko</a:t>
              </a:r>
              <a:endParaRPr lang="zh-CN" altLang="en-US" b="1" dirty="0">
                <a:solidFill>
                  <a:srgbClr val="C00000"/>
                </a:solidFill>
                <a:latin typeface="+mn-ea"/>
              </a:endParaRPr>
            </a:p>
          </p:txBody>
        </p:sp>
        <p:sp>
          <p:nvSpPr>
            <p:cNvPr id="28" name="文本框 27">
              <a:extLst>
                <a:ext uri="{FF2B5EF4-FFF2-40B4-BE49-F238E27FC236}">
                  <a16:creationId xmlns:a16="http://schemas.microsoft.com/office/drawing/2014/main" id="{E9F27105-0AA3-4F2F-A5D6-3DCC88B1CA4D}"/>
                </a:ext>
              </a:extLst>
            </p:cNvPr>
            <p:cNvSpPr txBox="1"/>
            <p:nvPr/>
          </p:nvSpPr>
          <p:spPr>
            <a:xfrm>
              <a:off x="5001354" y="3456056"/>
              <a:ext cx="1060269" cy="369332"/>
            </a:xfrm>
            <a:prstGeom prst="rect">
              <a:avLst/>
            </a:prstGeom>
            <a:noFill/>
          </p:spPr>
          <p:txBody>
            <a:bodyPr wrap="square" rtlCol="0">
              <a:spAutoFit/>
            </a:bodyPr>
            <a:lstStyle/>
            <a:p>
              <a:pPr algn="ctr"/>
              <a:r>
                <a:rPr lang="en-US" altLang="zh-CN" b="1" dirty="0" err="1">
                  <a:solidFill>
                    <a:srgbClr val="C00000"/>
                  </a:solidFill>
                  <a:latin typeface="+mn-ea"/>
                </a:rPr>
                <a:t>WebKit</a:t>
              </a:r>
              <a:endParaRPr lang="zh-CN" altLang="en-US" b="1" dirty="0">
                <a:solidFill>
                  <a:srgbClr val="C00000"/>
                </a:solidFill>
                <a:latin typeface="+mn-ea"/>
              </a:endParaRPr>
            </a:p>
          </p:txBody>
        </p:sp>
        <p:sp>
          <p:nvSpPr>
            <p:cNvPr id="29" name="文本框 28">
              <a:extLst>
                <a:ext uri="{FF2B5EF4-FFF2-40B4-BE49-F238E27FC236}">
                  <a16:creationId xmlns:a16="http://schemas.microsoft.com/office/drawing/2014/main" id="{4E259730-8CBF-10D6-A127-DECFEDF23720}"/>
                </a:ext>
              </a:extLst>
            </p:cNvPr>
            <p:cNvSpPr txBox="1"/>
            <p:nvPr/>
          </p:nvSpPr>
          <p:spPr>
            <a:xfrm>
              <a:off x="7203935" y="3456056"/>
              <a:ext cx="1060269" cy="369332"/>
            </a:xfrm>
            <a:prstGeom prst="rect">
              <a:avLst/>
            </a:prstGeom>
            <a:noFill/>
          </p:spPr>
          <p:txBody>
            <a:bodyPr wrap="square" rtlCol="0">
              <a:spAutoFit/>
            </a:bodyPr>
            <a:lstStyle/>
            <a:p>
              <a:pPr algn="ctr"/>
              <a:r>
                <a:rPr lang="en-US" altLang="zh-CN" b="1" dirty="0">
                  <a:solidFill>
                    <a:srgbClr val="C00000"/>
                  </a:solidFill>
                  <a:latin typeface="+mn-ea"/>
                </a:rPr>
                <a:t>Blink</a:t>
              </a:r>
              <a:endParaRPr lang="zh-CN" altLang="en-US" b="1" dirty="0">
                <a:solidFill>
                  <a:srgbClr val="C00000"/>
                </a:solidFill>
                <a:latin typeface="+mn-ea"/>
              </a:endParaRPr>
            </a:p>
          </p:txBody>
        </p:sp>
      </p:grpSp>
      <p:sp>
        <p:nvSpPr>
          <p:cNvPr id="32" name="矩形 31">
            <a:extLst>
              <a:ext uri="{FF2B5EF4-FFF2-40B4-BE49-F238E27FC236}">
                <a16:creationId xmlns:a16="http://schemas.microsoft.com/office/drawing/2014/main" id="{4EEFB84B-FFD7-9B3A-F6C6-B5A81F123968}"/>
              </a:ext>
            </a:extLst>
          </p:cNvPr>
          <p:cNvSpPr/>
          <p:nvPr/>
        </p:nvSpPr>
        <p:spPr>
          <a:xfrm>
            <a:off x="1407235" y="466862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íşlïḍè">
            <a:extLst>
              <a:ext uri="{FF2B5EF4-FFF2-40B4-BE49-F238E27FC236}">
                <a16:creationId xmlns:a16="http://schemas.microsoft.com/office/drawing/2014/main" id="{C300274F-451B-B9B6-197D-088060459721}"/>
              </a:ext>
            </a:extLst>
          </p:cNvPr>
          <p:cNvSpPr txBox="1"/>
          <p:nvPr/>
        </p:nvSpPr>
        <p:spPr>
          <a:xfrm>
            <a:off x="1684992" y="4590287"/>
            <a:ext cx="10202208" cy="670632"/>
          </a:xfrm>
          <a:prstGeom prst="rect">
            <a:avLst/>
          </a:prstGeom>
          <a:noFill/>
        </p:spPr>
        <p:txBody>
          <a:bodyPr wrap="square" lIns="91440" tIns="45720" rIns="91440" bIns="45720" anchor="ctr">
            <a:noAutofit/>
          </a:bodyPr>
          <a:lstStyle/>
          <a:p>
            <a:r>
              <a:rPr lang="zh-CN" altLang="en-US" b="1" dirty="0"/>
              <a:t>不同的浏览器内核对网页内容的解析也有不同，因此同一网页在不同内核的浏览器里的显示效果可能不同；</a:t>
            </a:r>
            <a:endParaRPr lang="en-US" altLang="zh-CN" b="1" dirty="0"/>
          </a:p>
        </p:txBody>
      </p:sp>
      <p:sp>
        <p:nvSpPr>
          <p:cNvPr id="34" name="矩形 33">
            <a:extLst>
              <a:ext uri="{FF2B5EF4-FFF2-40B4-BE49-F238E27FC236}">
                <a16:creationId xmlns:a16="http://schemas.microsoft.com/office/drawing/2014/main" id="{BE58DE6F-C1BC-25CF-0F01-F7B493A7C82D}"/>
              </a:ext>
            </a:extLst>
          </p:cNvPr>
          <p:cNvSpPr/>
          <p:nvPr/>
        </p:nvSpPr>
        <p:spPr>
          <a:xfrm>
            <a:off x="1407234" y="532885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íşlïḍè">
            <a:extLst>
              <a:ext uri="{FF2B5EF4-FFF2-40B4-BE49-F238E27FC236}">
                <a16:creationId xmlns:a16="http://schemas.microsoft.com/office/drawing/2014/main" id="{51EA5BF6-B551-307C-764B-AED804B2659A}"/>
              </a:ext>
            </a:extLst>
          </p:cNvPr>
          <p:cNvSpPr txBox="1"/>
          <p:nvPr/>
        </p:nvSpPr>
        <p:spPr>
          <a:xfrm>
            <a:off x="1684992" y="5247796"/>
            <a:ext cx="10202208" cy="434911"/>
          </a:xfrm>
          <a:prstGeom prst="rect">
            <a:avLst/>
          </a:prstGeom>
          <a:noFill/>
        </p:spPr>
        <p:txBody>
          <a:bodyPr wrap="square" lIns="91440" tIns="45720" rIns="91440" bIns="45720" anchor="ctr">
            <a:noAutofit/>
          </a:bodyPr>
          <a:lstStyle/>
          <a:p>
            <a:r>
              <a:rPr lang="zh-CN" altLang="en-US" b="1" dirty="0"/>
              <a:t>网页编写者需要在不同内核的浏览器中测试网页显示效果。</a:t>
            </a:r>
            <a:endParaRPr lang="en-US" altLang="zh-CN" b="1" dirty="0"/>
          </a:p>
        </p:txBody>
      </p:sp>
    </p:spTree>
    <p:custDataLst>
      <p:tags r:id="rId1"/>
    </p:custDataLst>
    <p:extLst>
      <p:ext uri="{BB962C8B-B14F-4D97-AF65-F5344CB8AC3E}">
        <p14:creationId xmlns:p14="http://schemas.microsoft.com/office/powerpoint/2010/main" val="16086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 calcmode="lin" valueType="num">
                                      <p:cBhvr>
                                        <p:cTn id="9" dur="500" fill="hold"/>
                                        <p:tgtEl>
                                          <p:spTgt spid="15"/>
                                        </p:tgtEl>
                                        <p:attrNameLst>
                                          <p:attrName>style.rotation</p:attrName>
                                        </p:attrNameLst>
                                      </p:cBhvr>
                                      <p:tavLst>
                                        <p:tav tm="0">
                                          <p:val>
                                            <p:fltVal val="360"/>
                                          </p:val>
                                        </p:tav>
                                        <p:tav tm="100000">
                                          <p:val>
                                            <p:fltVal val="0"/>
                                          </p:val>
                                        </p:tav>
                                      </p:tavLst>
                                    </p:anim>
                                    <p:animEffect transition="in" filter="fade">
                                      <p:cBhvr>
                                        <p:cTn id="10" dur="500"/>
                                        <p:tgtEl>
                                          <p:spTgt spid="1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p:cTn id="18" dur="500" fill="hold"/>
                                        <p:tgtEl>
                                          <p:spTgt spid="20"/>
                                        </p:tgtEl>
                                        <p:attrNameLst>
                                          <p:attrName>ppt_w</p:attrName>
                                        </p:attrNameLst>
                                      </p:cBhvr>
                                      <p:tavLst>
                                        <p:tav tm="0">
                                          <p:val>
                                            <p:fltVal val="0"/>
                                          </p:val>
                                        </p:tav>
                                        <p:tav tm="100000">
                                          <p:val>
                                            <p:strVal val="#ppt_w"/>
                                          </p:val>
                                        </p:tav>
                                      </p:tavLst>
                                    </p:anim>
                                    <p:anim calcmode="lin" valueType="num">
                                      <p:cBhvr>
                                        <p:cTn id="19" dur="500" fill="hold"/>
                                        <p:tgtEl>
                                          <p:spTgt spid="20"/>
                                        </p:tgtEl>
                                        <p:attrNameLst>
                                          <p:attrName>ppt_h</p:attrName>
                                        </p:attrNameLst>
                                      </p:cBhvr>
                                      <p:tavLst>
                                        <p:tav tm="0">
                                          <p:val>
                                            <p:fltVal val="0"/>
                                          </p:val>
                                        </p:tav>
                                        <p:tav tm="100000">
                                          <p:val>
                                            <p:strVal val="#ppt_h"/>
                                          </p:val>
                                        </p:tav>
                                      </p:tavLst>
                                    </p:anim>
                                    <p:anim calcmode="lin" valueType="num">
                                      <p:cBhvr>
                                        <p:cTn id="20" dur="500" fill="hold"/>
                                        <p:tgtEl>
                                          <p:spTgt spid="20"/>
                                        </p:tgtEl>
                                        <p:attrNameLst>
                                          <p:attrName>style.rotation</p:attrName>
                                        </p:attrNameLst>
                                      </p:cBhvr>
                                      <p:tavLst>
                                        <p:tav tm="0">
                                          <p:val>
                                            <p:fltVal val="360"/>
                                          </p:val>
                                        </p:tav>
                                        <p:tav tm="100000">
                                          <p:val>
                                            <p:fltVal val="0"/>
                                          </p:val>
                                        </p:tav>
                                      </p:tavLst>
                                    </p:anim>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49" presetClass="entr" presetSubtype="0" decel="10000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anim calcmode="lin" valueType="num">
                                      <p:cBhvr>
                                        <p:cTn id="26" dur="500" fill="hold"/>
                                        <p:tgtEl>
                                          <p:spTgt spid="21"/>
                                        </p:tgtEl>
                                        <p:attrNameLst>
                                          <p:attrName>ppt_w</p:attrName>
                                        </p:attrNameLst>
                                      </p:cBhvr>
                                      <p:tavLst>
                                        <p:tav tm="0">
                                          <p:val>
                                            <p:fltVal val="0"/>
                                          </p:val>
                                        </p:tav>
                                        <p:tav tm="100000">
                                          <p:val>
                                            <p:strVal val="#ppt_w"/>
                                          </p:val>
                                        </p:tav>
                                      </p:tavLst>
                                    </p:anim>
                                    <p:anim calcmode="lin" valueType="num">
                                      <p:cBhvr>
                                        <p:cTn id="27" dur="500" fill="hold"/>
                                        <p:tgtEl>
                                          <p:spTgt spid="21"/>
                                        </p:tgtEl>
                                        <p:attrNameLst>
                                          <p:attrName>ppt_h</p:attrName>
                                        </p:attrNameLst>
                                      </p:cBhvr>
                                      <p:tavLst>
                                        <p:tav tm="0">
                                          <p:val>
                                            <p:fltVal val="0"/>
                                          </p:val>
                                        </p:tav>
                                        <p:tav tm="100000">
                                          <p:val>
                                            <p:strVal val="#ppt_h"/>
                                          </p:val>
                                        </p:tav>
                                      </p:tavLst>
                                    </p:anim>
                                    <p:anim calcmode="lin" valueType="num">
                                      <p:cBhvr>
                                        <p:cTn id="28" dur="500" fill="hold"/>
                                        <p:tgtEl>
                                          <p:spTgt spid="21"/>
                                        </p:tgtEl>
                                        <p:attrNameLst>
                                          <p:attrName>style.rotation</p:attrName>
                                        </p:attrNameLst>
                                      </p:cBhvr>
                                      <p:tavLst>
                                        <p:tav tm="0">
                                          <p:val>
                                            <p:fltVal val="360"/>
                                          </p:val>
                                        </p:tav>
                                        <p:tav tm="100000">
                                          <p:val>
                                            <p:fltVal val="0"/>
                                          </p:val>
                                        </p:tav>
                                      </p:tavLst>
                                    </p:anim>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 calcmode="lin" valueType="num">
                                      <p:cBhvr>
                                        <p:cTn id="36" dur="500" fill="hold"/>
                                        <p:tgtEl>
                                          <p:spTgt spid="22"/>
                                        </p:tgtEl>
                                        <p:attrNameLst>
                                          <p:attrName>style.rotation</p:attrName>
                                        </p:attrNameLst>
                                      </p:cBhvr>
                                      <p:tavLst>
                                        <p:tav tm="0">
                                          <p:val>
                                            <p:fltVal val="360"/>
                                          </p:val>
                                        </p:tav>
                                        <p:tav tm="100000">
                                          <p:val>
                                            <p:fltVal val="0"/>
                                          </p:val>
                                        </p:tav>
                                      </p:tavLst>
                                    </p:anim>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49" presetClass="entr" presetSubtype="0" decel="10000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 calcmode="lin" valueType="num">
                                      <p:cBhvr>
                                        <p:cTn id="44" dur="500" fill="hold"/>
                                        <p:tgtEl>
                                          <p:spTgt spid="23"/>
                                        </p:tgtEl>
                                        <p:attrNameLst>
                                          <p:attrName>style.rotation</p:attrName>
                                        </p:attrNameLst>
                                      </p:cBhvr>
                                      <p:tavLst>
                                        <p:tav tm="0">
                                          <p:val>
                                            <p:fltVal val="360"/>
                                          </p:val>
                                        </p:tav>
                                        <p:tav tm="100000">
                                          <p:val>
                                            <p:fltVal val="0"/>
                                          </p:val>
                                        </p:tav>
                                      </p:tavLst>
                                    </p:anim>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49" presetClass="entr" presetSubtype="0" decel="10000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ppt_w</p:attrName>
                                        </p:attrNameLst>
                                      </p:cBhvr>
                                      <p:tavLst>
                                        <p:tav tm="0">
                                          <p:val>
                                            <p:fltVal val="0"/>
                                          </p:val>
                                        </p:tav>
                                        <p:tav tm="100000">
                                          <p:val>
                                            <p:strVal val="#ppt_w"/>
                                          </p:val>
                                        </p:tav>
                                      </p:tavLst>
                                    </p:anim>
                                    <p:anim calcmode="lin" valueType="num">
                                      <p:cBhvr>
                                        <p:cTn id="51" dur="500" fill="hold"/>
                                        <p:tgtEl>
                                          <p:spTgt spid="19"/>
                                        </p:tgtEl>
                                        <p:attrNameLst>
                                          <p:attrName>ppt_h</p:attrName>
                                        </p:attrNameLst>
                                      </p:cBhvr>
                                      <p:tavLst>
                                        <p:tav tm="0">
                                          <p:val>
                                            <p:fltVal val="0"/>
                                          </p:val>
                                        </p:tav>
                                        <p:tav tm="100000">
                                          <p:val>
                                            <p:strVal val="#ppt_h"/>
                                          </p:val>
                                        </p:tav>
                                      </p:tavLst>
                                    </p:anim>
                                    <p:anim calcmode="lin" valueType="num">
                                      <p:cBhvr>
                                        <p:cTn id="52" dur="500" fill="hold"/>
                                        <p:tgtEl>
                                          <p:spTgt spid="19"/>
                                        </p:tgtEl>
                                        <p:attrNameLst>
                                          <p:attrName>style.rotation</p:attrName>
                                        </p:attrNameLst>
                                      </p:cBhvr>
                                      <p:tavLst>
                                        <p:tav tm="0">
                                          <p:val>
                                            <p:fltVal val="360"/>
                                          </p:val>
                                        </p:tav>
                                        <p:tav tm="100000">
                                          <p:val>
                                            <p:fltVal val="0"/>
                                          </p:val>
                                        </p:tav>
                                      </p:tavLst>
                                    </p:anim>
                                    <p:animEffect transition="in" filter="fade">
                                      <p:cBhvr>
                                        <p:cTn id="53" dur="500"/>
                                        <p:tgtEl>
                                          <p:spTgt spid="19"/>
                                        </p:tgtEl>
                                      </p:cBhvr>
                                    </p:animEffect>
                                  </p:childTnLst>
                                </p:cTn>
                              </p:par>
                            </p:childTnLst>
                          </p:cTn>
                        </p:par>
                        <p:par>
                          <p:cTn id="54" fill="hold">
                            <p:stCondLst>
                              <p:cond delay="500"/>
                            </p:stCondLst>
                            <p:childTnLst>
                              <p:par>
                                <p:cTn id="55" presetID="1" presetClass="entr" presetSubtype="0" fill="hold" grpId="0" nodeType="afterEffect">
                                  <p:stCondLst>
                                    <p:cond delay="0"/>
                                  </p:stCondLst>
                                  <p:iterate type="lt">
                                    <p:tmAbs val="100"/>
                                  </p:iterate>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2" presetClass="entr" presetSubtype="1" fill="hold" nodeType="click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500"/>
                                        <p:tgtEl>
                                          <p:spTgt spid="31"/>
                                        </p:tgtEl>
                                        <p:attrNameLst>
                                          <p:attrName>ppt_y</p:attrName>
                                        </p:attrNameLst>
                                      </p:cBhvr>
                                      <p:tavLst>
                                        <p:tav tm="0">
                                          <p:val>
                                            <p:strVal val="#ppt_y-#ppt_h*1.125000"/>
                                          </p:val>
                                        </p:tav>
                                        <p:tav tm="100000">
                                          <p:val>
                                            <p:strVal val="#ppt_y"/>
                                          </p:val>
                                        </p:tav>
                                      </p:tavLst>
                                    </p:anim>
                                    <p:animEffect transition="in" filter="wipe(down)">
                                      <p:cBhvr>
                                        <p:cTn id="62" dur="500"/>
                                        <p:tgtEl>
                                          <p:spTgt spid="31"/>
                                        </p:tgtEl>
                                      </p:cBhvr>
                                    </p:animEffect>
                                  </p:childTnLst>
                                </p:cTn>
                              </p:par>
                            </p:childTnLst>
                          </p:cTn>
                        </p:par>
                      </p:childTnLst>
                    </p:cTn>
                  </p:par>
                  <p:par>
                    <p:cTn id="63" fill="hold">
                      <p:stCondLst>
                        <p:cond delay="indefinite"/>
                      </p:stCondLst>
                      <p:childTnLst>
                        <p:par>
                          <p:cTn id="64" fill="hold">
                            <p:stCondLst>
                              <p:cond delay="0"/>
                            </p:stCondLst>
                            <p:childTnLst>
                              <p:par>
                                <p:cTn id="65" presetID="49" presetClass="entr" presetSubtype="0" decel="10000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p:cTn id="67" dur="500" fill="hold"/>
                                        <p:tgtEl>
                                          <p:spTgt spid="32"/>
                                        </p:tgtEl>
                                        <p:attrNameLst>
                                          <p:attrName>ppt_w</p:attrName>
                                        </p:attrNameLst>
                                      </p:cBhvr>
                                      <p:tavLst>
                                        <p:tav tm="0">
                                          <p:val>
                                            <p:fltVal val="0"/>
                                          </p:val>
                                        </p:tav>
                                        <p:tav tm="100000">
                                          <p:val>
                                            <p:strVal val="#ppt_w"/>
                                          </p:val>
                                        </p:tav>
                                      </p:tavLst>
                                    </p:anim>
                                    <p:anim calcmode="lin" valueType="num">
                                      <p:cBhvr>
                                        <p:cTn id="68" dur="500" fill="hold"/>
                                        <p:tgtEl>
                                          <p:spTgt spid="32"/>
                                        </p:tgtEl>
                                        <p:attrNameLst>
                                          <p:attrName>ppt_h</p:attrName>
                                        </p:attrNameLst>
                                      </p:cBhvr>
                                      <p:tavLst>
                                        <p:tav tm="0">
                                          <p:val>
                                            <p:fltVal val="0"/>
                                          </p:val>
                                        </p:tav>
                                        <p:tav tm="100000">
                                          <p:val>
                                            <p:strVal val="#ppt_h"/>
                                          </p:val>
                                        </p:tav>
                                      </p:tavLst>
                                    </p:anim>
                                    <p:anim calcmode="lin" valueType="num">
                                      <p:cBhvr>
                                        <p:cTn id="69" dur="500" fill="hold"/>
                                        <p:tgtEl>
                                          <p:spTgt spid="32"/>
                                        </p:tgtEl>
                                        <p:attrNameLst>
                                          <p:attrName>style.rotation</p:attrName>
                                        </p:attrNameLst>
                                      </p:cBhvr>
                                      <p:tavLst>
                                        <p:tav tm="0">
                                          <p:val>
                                            <p:fltVal val="360"/>
                                          </p:val>
                                        </p:tav>
                                        <p:tav tm="100000">
                                          <p:val>
                                            <p:fltVal val="0"/>
                                          </p:val>
                                        </p:tav>
                                      </p:tavLst>
                                    </p:anim>
                                    <p:animEffect transition="in" filter="fade">
                                      <p:cBhvr>
                                        <p:cTn id="70" dur="500"/>
                                        <p:tgtEl>
                                          <p:spTgt spid="32"/>
                                        </p:tgtEl>
                                      </p:cBhvr>
                                    </p:animEffect>
                                  </p:childTnLst>
                                </p:cTn>
                              </p:par>
                            </p:childTnLst>
                          </p:cTn>
                        </p:par>
                        <p:par>
                          <p:cTn id="71" fill="hold">
                            <p:stCondLst>
                              <p:cond delay="500"/>
                            </p:stCondLst>
                            <p:childTnLst>
                              <p:par>
                                <p:cTn id="72" presetID="1" presetClass="entr" presetSubtype="0" fill="hold" grpId="0" nodeType="afterEffect">
                                  <p:stCondLst>
                                    <p:cond delay="0"/>
                                  </p:stCondLst>
                                  <p:iterate type="lt">
                                    <p:tmAbs val="100"/>
                                  </p:iterate>
                                  <p:childTnLst>
                                    <p:set>
                                      <p:cBhvr>
                                        <p:cTn id="73" dur="1" fill="hold">
                                          <p:stCondLst>
                                            <p:cond delay="0"/>
                                          </p:stCondLst>
                                        </p:cTn>
                                        <p:tgtEl>
                                          <p:spTgt spid="3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49" presetClass="entr" presetSubtype="0" decel="100000" fill="hold" grpId="0" nodeType="clickEffect">
                                  <p:stCondLst>
                                    <p:cond delay="0"/>
                                  </p:stCondLst>
                                  <p:childTnLst>
                                    <p:set>
                                      <p:cBhvr>
                                        <p:cTn id="77" dur="1" fill="hold">
                                          <p:stCondLst>
                                            <p:cond delay="0"/>
                                          </p:stCondLst>
                                        </p:cTn>
                                        <p:tgtEl>
                                          <p:spTgt spid="34"/>
                                        </p:tgtEl>
                                        <p:attrNameLst>
                                          <p:attrName>style.visibility</p:attrName>
                                        </p:attrNameLst>
                                      </p:cBhvr>
                                      <p:to>
                                        <p:strVal val="visible"/>
                                      </p:to>
                                    </p:set>
                                    <p:anim calcmode="lin" valueType="num">
                                      <p:cBhvr>
                                        <p:cTn id="78" dur="500" fill="hold"/>
                                        <p:tgtEl>
                                          <p:spTgt spid="34"/>
                                        </p:tgtEl>
                                        <p:attrNameLst>
                                          <p:attrName>ppt_w</p:attrName>
                                        </p:attrNameLst>
                                      </p:cBhvr>
                                      <p:tavLst>
                                        <p:tav tm="0">
                                          <p:val>
                                            <p:fltVal val="0"/>
                                          </p:val>
                                        </p:tav>
                                        <p:tav tm="100000">
                                          <p:val>
                                            <p:strVal val="#ppt_w"/>
                                          </p:val>
                                        </p:tav>
                                      </p:tavLst>
                                    </p:anim>
                                    <p:anim calcmode="lin" valueType="num">
                                      <p:cBhvr>
                                        <p:cTn id="79" dur="500" fill="hold"/>
                                        <p:tgtEl>
                                          <p:spTgt spid="34"/>
                                        </p:tgtEl>
                                        <p:attrNameLst>
                                          <p:attrName>ppt_h</p:attrName>
                                        </p:attrNameLst>
                                      </p:cBhvr>
                                      <p:tavLst>
                                        <p:tav tm="0">
                                          <p:val>
                                            <p:fltVal val="0"/>
                                          </p:val>
                                        </p:tav>
                                        <p:tav tm="100000">
                                          <p:val>
                                            <p:strVal val="#ppt_h"/>
                                          </p:val>
                                        </p:tav>
                                      </p:tavLst>
                                    </p:anim>
                                    <p:anim calcmode="lin" valueType="num">
                                      <p:cBhvr>
                                        <p:cTn id="80" dur="500" fill="hold"/>
                                        <p:tgtEl>
                                          <p:spTgt spid="34"/>
                                        </p:tgtEl>
                                        <p:attrNameLst>
                                          <p:attrName>style.rotation</p:attrName>
                                        </p:attrNameLst>
                                      </p:cBhvr>
                                      <p:tavLst>
                                        <p:tav tm="0">
                                          <p:val>
                                            <p:fltVal val="360"/>
                                          </p:val>
                                        </p:tav>
                                        <p:tav tm="100000">
                                          <p:val>
                                            <p:fltVal val="0"/>
                                          </p:val>
                                        </p:tav>
                                      </p:tavLst>
                                    </p:anim>
                                    <p:animEffect transition="in" filter="fade">
                                      <p:cBhvr>
                                        <p:cTn id="81" dur="500"/>
                                        <p:tgtEl>
                                          <p:spTgt spid="34"/>
                                        </p:tgtEl>
                                      </p:cBhvr>
                                    </p:animEffect>
                                  </p:childTnLst>
                                </p:cTn>
                              </p:par>
                            </p:childTnLst>
                          </p:cTn>
                        </p:par>
                        <p:par>
                          <p:cTn id="82" fill="hold">
                            <p:stCondLst>
                              <p:cond delay="500"/>
                            </p:stCondLst>
                            <p:childTnLst>
                              <p:par>
                                <p:cTn id="83" presetID="1" presetClass="entr" presetSubtype="0" fill="hold" grpId="0" nodeType="afterEffect">
                                  <p:stCondLst>
                                    <p:cond delay="0"/>
                                  </p:stCondLst>
                                  <p:iterate type="lt">
                                    <p:tmAbs val="100"/>
                                  </p:iterate>
                                  <p:childTnLst>
                                    <p:set>
                                      <p:cBhvr>
                                        <p:cTn id="8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19" grpId="0" animBg="1"/>
      <p:bldP spid="25" grpId="0"/>
      <p:bldP spid="32" grpId="0" animBg="1"/>
      <p:bldP spid="33" grpId="0"/>
      <p:bldP spid="34" grpId="0" animBg="1"/>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为了方便地访问在世界范围的文档，万维网使用</a:t>
            </a:r>
            <a:r>
              <a:rPr lang="zh-CN" altLang="en-US" b="1" dirty="0">
                <a:solidFill>
                  <a:srgbClr val="FF0000"/>
                </a:solidFill>
              </a:rPr>
              <a:t>统一资源定位符</a:t>
            </a:r>
            <a:r>
              <a:rPr lang="en-US" altLang="zh-CN" b="1" dirty="0">
                <a:solidFill>
                  <a:srgbClr val="FF0000"/>
                </a:solidFill>
              </a:rPr>
              <a:t>URL</a:t>
            </a:r>
            <a:r>
              <a:rPr lang="zh-CN" altLang="en-US" b="1" dirty="0"/>
              <a:t>来指明因特网上任何种类“资源”的位置。</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488746"/>
          </a:xfrm>
          <a:prstGeom prst="rect">
            <a:avLst/>
          </a:prstGeom>
          <a:noFill/>
        </p:spPr>
        <p:txBody>
          <a:bodyPr wrap="square" lIns="91440" tIns="45720" rIns="91440" bIns="45720" anchor="ctr">
            <a:noAutofit/>
          </a:bodyPr>
          <a:lstStyle/>
          <a:p>
            <a:r>
              <a:rPr lang="en-US" altLang="zh-CN" b="1" dirty="0"/>
              <a:t>URL</a:t>
            </a:r>
            <a:r>
              <a:rPr lang="zh-CN" altLang="en-US" b="1" dirty="0"/>
              <a:t>的一般形式由以下四个部分组成：</a:t>
            </a:r>
            <a:endParaRPr lang="en-US" altLang="zh-CN" b="1" dirty="0"/>
          </a:p>
        </p:txBody>
      </p:sp>
      <p:grpSp>
        <p:nvGrpSpPr>
          <p:cNvPr id="7" name="组合 6">
            <a:extLst>
              <a:ext uri="{FF2B5EF4-FFF2-40B4-BE49-F238E27FC236}">
                <a16:creationId xmlns:a16="http://schemas.microsoft.com/office/drawing/2014/main" id="{2DFA2E27-1514-9D60-58D6-C026AE39DABE}"/>
              </a:ext>
            </a:extLst>
          </p:cNvPr>
          <p:cNvGrpSpPr/>
          <p:nvPr/>
        </p:nvGrpSpPr>
        <p:grpSpPr>
          <a:xfrm>
            <a:off x="1016000" y="2391997"/>
            <a:ext cx="10394790" cy="444137"/>
            <a:chOff x="1016000" y="2593790"/>
            <a:chExt cx="10394790" cy="444137"/>
          </a:xfrm>
        </p:grpSpPr>
        <p:sp>
          <p:nvSpPr>
            <p:cNvPr id="5" name="矩形 4">
              <a:extLst>
                <a:ext uri="{FF2B5EF4-FFF2-40B4-BE49-F238E27FC236}">
                  <a16:creationId xmlns:a16="http://schemas.microsoft.com/office/drawing/2014/main" id="{E26D51A6-1BDD-027C-BDB4-306E75C4723C}"/>
                </a:ext>
              </a:extLst>
            </p:cNvPr>
            <p:cNvSpPr/>
            <p:nvPr/>
          </p:nvSpPr>
          <p:spPr>
            <a:xfrm>
              <a:off x="1016000" y="2593790"/>
              <a:ext cx="10394790" cy="444137"/>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6" name="文本框 5">
              <a:extLst>
                <a:ext uri="{FF2B5EF4-FFF2-40B4-BE49-F238E27FC236}">
                  <a16:creationId xmlns:a16="http://schemas.microsoft.com/office/drawing/2014/main" id="{4EF29771-7E8E-D6E4-D7CB-7609A1369FAE}"/>
                </a:ext>
              </a:extLst>
            </p:cNvPr>
            <p:cNvSpPr txBox="1"/>
            <p:nvPr/>
          </p:nvSpPr>
          <p:spPr>
            <a:xfrm>
              <a:off x="3012141" y="2613454"/>
              <a:ext cx="5955126" cy="400110"/>
            </a:xfrm>
            <a:prstGeom prst="rect">
              <a:avLst/>
            </a:prstGeom>
            <a:noFill/>
          </p:spPr>
          <p:txBody>
            <a:bodyPr wrap="square" rtlCol="0">
              <a:spAutoFit/>
            </a:bodyPr>
            <a:lstStyle/>
            <a:p>
              <a:pPr algn="ctr"/>
              <a:r>
                <a:rPr lang="en-US" altLang="zh-CN" sz="2000" b="1" spc="600" dirty="0">
                  <a:latin typeface="+mn-ea"/>
                </a:rPr>
                <a:t>&lt;</a:t>
              </a:r>
              <a:r>
                <a:rPr lang="zh-CN" altLang="en-US" sz="2000" b="1" spc="600" dirty="0">
                  <a:solidFill>
                    <a:srgbClr val="FF0000"/>
                  </a:solidFill>
                  <a:latin typeface="+mn-ea"/>
                </a:rPr>
                <a:t>协议</a:t>
              </a:r>
              <a:r>
                <a:rPr lang="en-US" altLang="zh-CN" sz="2000" b="1" spc="600" dirty="0">
                  <a:latin typeface="+mn-ea"/>
                </a:rPr>
                <a:t>&gt;://&lt;</a:t>
              </a:r>
              <a:r>
                <a:rPr lang="zh-CN" altLang="en-US" sz="2000" b="1" spc="600" dirty="0">
                  <a:solidFill>
                    <a:schemeClr val="accent2"/>
                  </a:solidFill>
                  <a:latin typeface="+mn-ea"/>
                </a:rPr>
                <a:t>主机</a:t>
              </a:r>
              <a:r>
                <a:rPr lang="en-US" altLang="zh-CN" sz="2000" b="1" spc="600" dirty="0">
                  <a:latin typeface="+mn-ea"/>
                </a:rPr>
                <a:t>&gt;:&lt;</a:t>
              </a:r>
              <a:r>
                <a:rPr lang="zh-CN" altLang="en-US" sz="2000" b="1" spc="600" dirty="0">
                  <a:solidFill>
                    <a:srgbClr val="7030A0"/>
                  </a:solidFill>
                  <a:latin typeface="+mn-ea"/>
                </a:rPr>
                <a:t>端口</a:t>
              </a:r>
              <a:r>
                <a:rPr lang="en-US" altLang="zh-CN" sz="2000" b="1" spc="600" dirty="0">
                  <a:latin typeface="+mn-ea"/>
                </a:rPr>
                <a:t>&gt;/&lt;</a:t>
              </a:r>
              <a:r>
                <a:rPr lang="zh-CN" altLang="en-US" sz="2000" b="1" spc="600" dirty="0">
                  <a:solidFill>
                    <a:srgbClr val="00B0F0"/>
                  </a:solidFill>
                  <a:latin typeface="+mn-ea"/>
                </a:rPr>
                <a:t>路径</a:t>
              </a:r>
              <a:r>
                <a:rPr lang="en-US" altLang="zh-CN" sz="2000" b="1" spc="600" dirty="0">
                  <a:latin typeface="+mn-ea"/>
                </a:rPr>
                <a:t>&gt;</a:t>
              </a:r>
              <a:endParaRPr lang="zh-CN" altLang="en-US" sz="2000" b="1" spc="600" dirty="0">
                <a:latin typeface="+mn-ea"/>
              </a:endParaRPr>
            </a:p>
          </p:txBody>
        </p:sp>
      </p:grpSp>
      <p:pic>
        <p:nvPicPr>
          <p:cNvPr id="8" name="图片 7" descr="图形用户界面, 应用程序, Word&#10;&#10;描述已自动生成">
            <a:extLst>
              <a:ext uri="{FF2B5EF4-FFF2-40B4-BE49-F238E27FC236}">
                <a16:creationId xmlns:a16="http://schemas.microsoft.com/office/drawing/2014/main" id="{3B3874C7-D56C-FFDF-3F35-2ABE033CC1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3106" y="2943117"/>
            <a:ext cx="5220452" cy="3349115"/>
          </a:xfrm>
          <a:prstGeom prst="rect">
            <a:avLst/>
          </a:prstGeom>
        </p:spPr>
      </p:pic>
      <p:sp>
        <p:nvSpPr>
          <p:cNvPr id="9" name="矩形 8">
            <a:extLst>
              <a:ext uri="{FF2B5EF4-FFF2-40B4-BE49-F238E27FC236}">
                <a16:creationId xmlns:a16="http://schemas.microsoft.com/office/drawing/2014/main" id="{8F3D7F99-54E2-0F47-531B-DDDBBD04F2A1}"/>
              </a:ext>
            </a:extLst>
          </p:cNvPr>
          <p:cNvSpPr/>
          <p:nvPr/>
        </p:nvSpPr>
        <p:spPr>
          <a:xfrm>
            <a:off x="2012710" y="3141498"/>
            <a:ext cx="1054800" cy="9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19004AC6-0C52-209F-460B-974A4981F495}"/>
              </a:ext>
            </a:extLst>
          </p:cNvPr>
          <p:cNvSpPr txBox="1"/>
          <p:nvPr/>
        </p:nvSpPr>
        <p:spPr>
          <a:xfrm>
            <a:off x="1929403" y="3066896"/>
            <a:ext cx="1752576" cy="246221"/>
          </a:xfrm>
          <a:prstGeom prst="rect">
            <a:avLst/>
          </a:prstGeom>
          <a:noFill/>
        </p:spPr>
        <p:txBody>
          <a:bodyPr wrap="square" lIns="91440" tIns="0" rIns="91440" bIns="0" rtlCol="0">
            <a:spAutoFit/>
          </a:bodyPr>
          <a:lstStyle/>
          <a:p>
            <a:r>
              <a:rPr lang="en-US" altLang="zh-CN" sz="1600" b="1" dirty="0"/>
              <a:t>www.hnsut.cn</a:t>
            </a:r>
            <a:endParaRPr lang="zh-CN" altLang="en-US" sz="1600" b="1" dirty="0"/>
          </a:p>
        </p:txBody>
      </p:sp>
      <p:pic>
        <p:nvPicPr>
          <p:cNvPr id="11" name="图片 10" descr="日历&#10;&#10;描述已自动生成">
            <a:extLst>
              <a:ext uri="{FF2B5EF4-FFF2-40B4-BE49-F238E27FC236}">
                <a16:creationId xmlns:a16="http://schemas.microsoft.com/office/drawing/2014/main" id="{22607FDD-277C-C420-3CA6-C25A1C63AF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106" y="3407292"/>
            <a:ext cx="5220452" cy="2873076"/>
          </a:xfrm>
          <a:prstGeom prst="rect">
            <a:avLst/>
          </a:prstGeom>
        </p:spPr>
      </p:pic>
      <p:sp>
        <p:nvSpPr>
          <p:cNvPr id="13" name="矩形 12">
            <a:extLst>
              <a:ext uri="{FF2B5EF4-FFF2-40B4-BE49-F238E27FC236}">
                <a16:creationId xmlns:a16="http://schemas.microsoft.com/office/drawing/2014/main" id="{6E8A3E30-5FDB-8F98-DE0D-B5B68ABA966E}"/>
              </a:ext>
            </a:extLst>
          </p:cNvPr>
          <p:cNvSpPr/>
          <p:nvPr/>
        </p:nvSpPr>
        <p:spPr>
          <a:xfrm>
            <a:off x="10076285" y="3036492"/>
            <a:ext cx="17199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4" name="矩形 13">
            <a:extLst>
              <a:ext uri="{FF2B5EF4-FFF2-40B4-BE49-F238E27FC236}">
                <a16:creationId xmlns:a16="http://schemas.microsoft.com/office/drawing/2014/main" id="{43A5D240-03E9-73BA-1B8C-DC863797CAEE}"/>
              </a:ext>
            </a:extLst>
          </p:cNvPr>
          <p:cNvSpPr/>
          <p:nvPr/>
        </p:nvSpPr>
        <p:spPr>
          <a:xfrm>
            <a:off x="9730931" y="3036492"/>
            <a:ext cx="327938"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6" name="矩形 15">
            <a:extLst>
              <a:ext uri="{FF2B5EF4-FFF2-40B4-BE49-F238E27FC236}">
                <a16:creationId xmlns:a16="http://schemas.microsoft.com/office/drawing/2014/main" id="{7C26EB9B-7774-374E-C9C3-A29A523212D7}"/>
              </a:ext>
            </a:extLst>
          </p:cNvPr>
          <p:cNvSpPr/>
          <p:nvPr/>
        </p:nvSpPr>
        <p:spPr>
          <a:xfrm>
            <a:off x="7424673" y="3036492"/>
            <a:ext cx="2179173"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sp>
        <p:nvSpPr>
          <p:cNvPr id="17" name="矩形 16">
            <a:extLst>
              <a:ext uri="{FF2B5EF4-FFF2-40B4-BE49-F238E27FC236}">
                <a16:creationId xmlns:a16="http://schemas.microsoft.com/office/drawing/2014/main" id="{01CE6FE7-F7A1-96A9-9E7E-CD846EC3D47B}"/>
              </a:ext>
            </a:extLst>
          </p:cNvPr>
          <p:cNvSpPr/>
          <p:nvPr/>
        </p:nvSpPr>
        <p:spPr>
          <a:xfrm>
            <a:off x="6288206" y="3036492"/>
            <a:ext cx="751966" cy="37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pc="300">
              <a:latin typeface="+mn-ea"/>
            </a:endParaRPr>
          </a:p>
        </p:txBody>
      </p:sp>
      <p:grpSp>
        <p:nvGrpSpPr>
          <p:cNvPr id="26" name="组合 25">
            <a:extLst>
              <a:ext uri="{FF2B5EF4-FFF2-40B4-BE49-F238E27FC236}">
                <a16:creationId xmlns:a16="http://schemas.microsoft.com/office/drawing/2014/main" id="{E052F9E7-5CDB-E5BA-4437-A2AEEA133173}"/>
              </a:ext>
            </a:extLst>
          </p:cNvPr>
          <p:cNvGrpSpPr/>
          <p:nvPr/>
        </p:nvGrpSpPr>
        <p:grpSpPr>
          <a:xfrm>
            <a:off x="3273398" y="3036492"/>
            <a:ext cx="8767630" cy="461665"/>
            <a:chOff x="3273398" y="3036492"/>
            <a:chExt cx="8767630" cy="461665"/>
          </a:xfrm>
        </p:grpSpPr>
        <p:sp>
          <p:nvSpPr>
            <p:cNvPr id="20" name="文本框 19">
              <a:extLst>
                <a:ext uri="{FF2B5EF4-FFF2-40B4-BE49-F238E27FC236}">
                  <a16:creationId xmlns:a16="http://schemas.microsoft.com/office/drawing/2014/main" id="{9B2AF433-F01A-1850-2D33-8F7763779882}"/>
                </a:ext>
              </a:extLst>
            </p:cNvPr>
            <p:cNvSpPr txBox="1"/>
            <p:nvPr/>
          </p:nvSpPr>
          <p:spPr>
            <a:xfrm>
              <a:off x="6307386" y="3036492"/>
              <a:ext cx="5733642" cy="461665"/>
            </a:xfrm>
            <a:prstGeom prst="rect">
              <a:avLst/>
            </a:prstGeom>
            <a:noFill/>
            <a:ln>
              <a:noFill/>
            </a:ln>
          </p:spPr>
          <p:txBody>
            <a:bodyPr wrap="square" rtlCol="0">
              <a:spAutoFit/>
            </a:bodyPr>
            <a:lstStyle/>
            <a:p>
              <a:pPr algn="ctr"/>
              <a:r>
                <a:rPr lang="en-US" altLang="zh-CN" sz="2400" b="1" dirty="0">
                  <a:solidFill>
                    <a:srgbClr val="FF0000"/>
                  </a:solidFill>
                  <a:latin typeface="+mn-ea"/>
                </a:rPr>
                <a:t>http</a:t>
              </a:r>
              <a:r>
                <a:rPr lang="en-US" altLang="zh-CN" sz="2400" b="1" dirty="0">
                  <a:latin typeface="+mn-ea"/>
                </a:rPr>
                <a:t>://</a:t>
              </a:r>
              <a:r>
                <a:rPr lang="en-US" altLang="zh-CN" sz="2400" b="1" dirty="0">
                  <a:solidFill>
                    <a:srgbClr val="F5811E"/>
                  </a:solidFill>
                  <a:latin typeface="+mn-ea"/>
                </a:rPr>
                <a:t>www.hnust.cn</a:t>
              </a:r>
              <a:r>
                <a:rPr lang="en-US" altLang="zh-CN" sz="2400" b="1" dirty="0">
                  <a:latin typeface="+mn-ea"/>
                </a:rPr>
                <a:t>:</a:t>
              </a:r>
              <a:r>
                <a:rPr lang="en-US" altLang="zh-CN" sz="2400" b="1" dirty="0">
                  <a:solidFill>
                    <a:srgbClr val="7030A0"/>
                  </a:solidFill>
                  <a:latin typeface="+mn-ea"/>
                </a:rPr>
                <a:t>80</a:t>
              </a:r>
              <a:r>
                <a:rPr lang="en-US" altLang="zh-CN" sz="2400" b="1" dirty="0">
                  <a:solidFill>
                    <a:srgbClr val="03ACF1"/>
                  </a:solidFill>
                  <a:latin typeface="+mn-ea"/>
                </a:rPr>
                <a:t>/</a:t>
              </a:r>
              <a:r>
                <a:rPr lang="en-US" altLang="zh-CN" sz="2400" b="1" dirty="0">
                  <a:latin typeface="+mn-ea"/>
                </a:rPr>
                <a:t>index.htm</a:t>
              </a:r>
              <a:endParaRPr lang="zh-CN" altLang="en-US" sz="2400" b="1" dirty="0">
                <a:latin typeface="+mn-ea"/>
              </a:endParaRPr>
            </a:p>
          </p:txBody>
        </p:sp>
        <p:cxnSp>
          <p:nvCxnSpPr>
            <p:cNvPr id="23" name="直接箭头连接符 22">
              <a:extLst>
                <a:ext uri="{FF2B5EF4-FFF2-40B4-BE49-F238E27FC236}">
                  <a16:creationId xmlns:a16="http://schemas.microsoft.com/office/drawing/2014/main" id="{9DD8E71D-45D5-1EAC-21DC-8859CAFA110B}"/>
                </a:ext>
              </a:extLst>
            </p:cNvPr>
            <p:cNvCxnSpPr>
              <a:cxnSpLocks/>
            </p:cNvCxnSpPr>
            <p:nvPr/>
          </p:nvCxnSpPr>
          <p:spPr>
            <a:xfrm>
              <a:off x="3273398" y="3238698"/>
              <a:ext cx="3153039" cy="0"/>
            </a:xfrm>
            <a:prstGeom prst="straightConnector1">
              <a:avLst/>
            </a:prstGeom>
            <a:ln w="50800">
              <a:solidFill>
                <a:schemeClr val="tx1"/>
              </a:solidFill>
              <a:prstDash val="dash"/>
              <a:headEnd w="lg" len="lg"/>
              <a:tailEnd type="triangle" w="lg" len="lg"/>
            </a:ln>
          </p:spPr>
          <p:style>
            <a:lnRef idx="1">
              <a:schemeClr val="accent1"/>
            </a:lnRef>
            <a:fillRef idx="0">
              <a:schemeClr val="accent1"/>
            </a:fillRef>
            <a:effectRef idx="0">
              <a:schemeClr val="accent1"/>
            </a:effectRef>
            <a:fontRef idx="minor">
              <a:schemeClr val="tx1"/>
            </a:fontRef>
          </p:style>
        </p:cxnSp>
      </p:grpSp>
      <p:pic>
        <p:nvPicPr>
          <p:cNvPr id="30" name="图片 29" descr="徽标, 图标&#10;&#10;描述已自动生成">
            <a:extLst>
              <a:ext uri="{FF2B5EF4-FFF2-40B4-BE49-F238E27FC236}">
                <a16:creationId xmlns:a16="http://schemas.microsoft.com/office/drawing/2014/main" id="{46522403-2EF2-60C9-F204-415A84B151AF}"/>
              </a:ext>
            </a:extLst>
          </p:cNvPr>
          <p:cNvPicPr>
            <a:picLocks noChangeAspect="1"/>
          </p:cNvPicPr>
          <p:nvPr/>
        </p:nvPicPr>
        <p:blipFill>
          <a:blip r:embed="rId5" cstate="print">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tretch>
            <a:fillRect/>
          </a:stretch>
        </p:blipFill>
        <p:spPr>
          <a:xfrm>
            <a:off x="1692602" y="5341527"/>
            <a:ext cx="950705" cy="950705"/>
          </a:xfrm>
          <a:prstGeom prst="rect">
            <a:avLst/>
          </a:prstGeom>
        </p:spPr>
      </p:pic>
      <p:grpSp>
        <p:nvGrpSpPr>
          <p:cNvPr id="31" name="组合 30">
            <a:extLst>
              <a:ext uri="{FF2B5EF4-FFF2-40B4-BE49-F238E27FC236}">
                <a16:creationId xmlns:a16="http://schemas.microsoft.com/office/drawing/2014/main" id="{A1EF76D5-F204-7294-A0E2-BC42CF13C086}"/>
              </a:ext>
            </a:extLst>
          </p:cNvPr>
          <p:cNvGrpSpPr/>
          <p:nvPr/>
        </p:nvGrpSpPr>
        <p:grpSpPr>
          <a:xfrm>
            <a:off x="304799" y="749300"/>
            <a:ext cx="6392777" cy="400110"/>
            <a:chOff x="424117" y="898245"/>
            <a:chExt cx="6223578" cy="400110"/>
          </a:xfrm>
        </p:grpSpPr>
        <p:sp>
          <p:nvSpPr>
            <p:cNvPr id="32" name="平行四边形 31">
              <a:extLst>
                <a:ext uri="{FF2B5EF4-FFF2-40B4-BE49-F238E27FC236}">
                  <a16:creationId xmlns:a16="http://schemas.microsoft.com/office/drawing/2014/main" id="{04AA1263-A3D8-EE18-1166-5C0D4C40071B}"/>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02</a:t>
              </a:r>
              <a:endParaRPr lang="zh-CN" altLang="en-US" sz="2200" dirty="0">
                <a:latin typeface="Impact" panose="020B0806030902050204" pitchFamily="34" charset="0"/>
              </a:endParaRPr>
            </a:p>
          </p:txBody>
        </p:sp>
        <p:sp>
          <p:nvSpPr>
            <p:cNvPr id="33" name="文本框 32">
              <a:extLst>
                <a:ext uri="{FF2B5EF4-FFF2-40B4-BE49-F238E27FC236}">
                  <a16:creationId xmlns:a16="http://schemas.microsoft.com/office/drawing/2014/main" id="{14A42FAD-5016-8F1F-2593-E91B5C2DC16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统一资源定位符</a:t>
              </a:r>
            </a:p>
          </p:txBody>
        </p:sp>
      </p:grpSp>
    </p:spTree>
    <p:custDataLst>
      <p:tags r:id="rId1"/>
    </p:custDataLst>
    <p:extLst>
      <p:ext uri="{BB962C8B-B14F-4D97-AF65-F5344CB8AC3E}">
        <p14:creationId xmlns:p14="http://schemas.microsoft.com/office/powerpoint/2010/main" val="85694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5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10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p:tgtEl>
                                          <p:spTgt spid="30"/>
                                        </p:tgtEl>
                                        <p:attrNameLst>
                                          <p:attrName>ppt_y</p:attrName>
                                        </p:attrNameLst>
                                      </p:cBhvr>
                                      <p:tavLst>
                                        <p:tav tm="0">
                                          <p:val>
                                            <p:strVal val="#ppt_y+#ppt_h*1.125000"/>
                                          </p:val>
                                        </p:tav>
                                        <p:tav tm="100000">
                                          <p:val>
                                            <p:strVal val="#ppt_y"/>
                                          </p:val>
                                        </p:tav>
                                      </p:tavLst>
                                    </p:anim>
                                    <p:animEffect transition="in" filter="wipe(up)">
                                      <p:cBhvr>
                                        <p:cTn id="17" dur="500"/>
                                        <p:tgtEl>
                                          <p:spTgt spid="30"/>
                                        </p:tgtEl>
                                      </p:cBhvr>
                                    </p:animEffect>
                                  </p:childTnLst>
                                </p:cTn>
                              </p:par>
                            </p:childTnLst>
                          </p:cTn>
                        </p:par>
                        <p:par>
                          <p:cTn id="18" fill="hold">
                            <p:stCondLst>
                              <p:cond delay="500"/>
                            </p:stCondLst>
                            <p:childTnLst>
                              <p:par>
                                <p:cTn id="19" presetID="26" presetClass="emph" presetSubtype="0" fill="hold" nodeType="afterEffect">
                                  <p:stCondLst>
                                    <p:cond delay="0"/>
                                  </p:stCondLst>
                                  <p:childTnLst>
                                    <p:animEffect transition="out" filter="fade">
                                      <p:cBhvr>
                                        <p:cTn id="20" dur="500" tmFilter="0, 0; .2, .5; .8, .5; 1, 0"/>
                                        <p:tgtEl>
                                          <p:spTgt spid="30"/>
                                        </p:tgtEl>
                                      </p:cBhvr>
                                    </p:animEffect>
                                    <p:animScale>
                                      <p:cBhvr>
                                        <p:cTn id="21" dur="250" autoRev="1" fill="hold"/>
                                        <p:tgtEl>
                                          <p:spTgt spid="30"/>
                                        </p:tgtEl>
                                      </p:cBhvr>
                                      <p:by x="105000" y="105000"/>
                                    </p:animScale>
                                  </p:childTnLst>
                                </p:cTn>
                              </p:par>
                            </p:childTnLst>
                          </p:cTn>
                        </p:par>
                        <p:par>
                          <p:cTn id="22" fill="hold">
                            <p:stCondLst>
                              <p:cond delay="1000"/>
                            </p:stCondLst>
                            <p:childTnLst>
                              <p:par>
                                <p:cTn id="23" presetID="42" presetClass="exit" presetSubtype="0" fill="hold" nodeType="afterEffect">
                                  <p:stCondLst>
                                    <p:cond delay="0"/>
                                  </p:stCondLst>
                                  <p:childTnLst>
                                    <p:animEffect transition="out" filter="fade">
                                      <p:cBhvr>
                                        <p:cTn id="24" dur="1000"/>
                                        <p:tgtEl>
                                          <p:spTgt spid="30"/>
                                        </p:tgtEl>
                                      </p:cBhvr>
                                    </p:animEffect>
                                    <p:anim calcmode="lin" valueType="num">
                                      <p:cBhvr>
                                        <p:cTn id="25" dur="1000"/>
                                        <p:tgtEl>
                                          <p:spTgt spid="30"/>
                                        </p:tgtEl>
                                        <p:attrNameLst>
                                          <p:attrName>ppt_x</p:attrName>
                                        </p:attrNameLst>
                                      </p:cBhvr>
                                      <p:tavLst>
                                        <p:tav tm="0">
                                          <p:val>
                                            <p:strVal val="ppt_x"/>
                                          </p:val>
                                        </p:tav>
                                        <p:tav tm="100000">
                                          <p:val>
                                            <p:strVal val="ppt_x"/>
                                          </p:val>
                                        </p:tav>
                                      </p:tavLst>
                                    </p:anim>
                                    <p:anim calcmode="lin" valueType="num">
                                      <p:cBhvr>
                                        <p:cTn id="26" dur="1000"/>
                                        <p:tgtEl>
                                          <p:spTgt spid="30"/>
                                        </p:tgtEl>
                                        <p:attrNameLst>
                                          <p:attrName>ppt_y</p:attrName>
                                        </p:attrNameLst>
                                      </p:cBhvr>
                                      <p:tavLst>
                                        <p:tav tm="0">
                                          <p:val>
                                            <p:strVal val="ppt_y"/>
                                          </p:val>
                                        </p:tav>
                                        <p:tav tm="100000">
                                          <p:val>
                                            <p:strVal val="ppt_y+.1"/>
                                          </p:val>
                                        </p:tav>
                                      </p:tavLst>
                                    </p:anim>
                                    <p:set>
                                      <p:cBhvr>
                                        <p:cTn id="27" dur="1" fill="hold">
                                          <p:stCondLst>
                                            <p:cond delay="9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a:t>
            </a:r>
            <a:r>
              <a:rPr lang="zh-CN" altLang="en-US" b="1" dirty="0"/>
              <a:t>定义了浏览器（即万维网客户进程）怎样向万维网服务器请求万维网文档，以及万维网服务器怎样把万维网文档传送给浏览器。</a:t>
            </a:r>
            <a:endParaRPr lang="en-US" altLang="zh-CN" b="1" dirty="0"/>
          </a:p>
        </p:txBody>
      </p:sp>
      <p:cxnSp>
        <p:nvCxnSpPr>
          <p:cNvPr id="22" name="连接符: 曲线 21">
            <a:extLst>
              <a:ext uri="{FF2B5EF4-FFF2-40B4-BE49-F238E27FC236}">
                <a16:creationId xmlns:a16="http://schemas.microsoft.com/office/drawing/2014/main" id="{F171DCE7-4E78-ABC1-1632-546577DE7F48}"/>
              </a:ext>
            </a:extLst>
          </p:cNvPr>
          <p:cNvCxnSpPr>
            <a:cxnSpLocks/>
            <a:stCxn id="16" idx="2"/>
            <a:endCxn id="14" idx="2"/>
          </p:cNvCxnSpPr>
          <p:nvPr/>
        </p:nvCxnSpPr>
        <p:spPr>
          <a:xfrm rot="16200000" flipH="1">
            <a:off x="6012111" y="2583577"/>
            <a:ext cx="59702" cy="6379708"/>
          </a:xfrm>
          <a:prstGeom prst="curvedConnector3">
            <a:avLst>
              <a:gd name="adj1" fmla="val 1095545"/>
            </a:avLst>
          </a:prstGeom>
          <a:ln w="38100">
            <a:solidFill>
              <a:srgbClr val="F5811E"/>
            </a:solidFill>
            <a:prstDash val="sysDash"/>
            <a:tailEnd type="triangle" w="med" len="lg"/>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61583138-326C-D80D-8337-70D29BE69A1C}"/>
              </a:ext>
            </a:extLst>
          </p:cNvPr>
          <p:cNvGrpSpPr/>
          <p:nvPr/>
        </p:nvGrpSpPr>
        <p:grpSpPr>
          <a:xfrm>
            <a:off x="385007" y="2738476"/>
            <a:ext cx="3029674" cy="786777"/>
            <a:chOff x="685800" y="2738476"/>
            <a:chExt cx="3029674" cy="786777"/>
          </a:xfrm>
        </p:grpSpPr>
        <p:pic>
          <p:nvPicPr>
            <p:cNvPr id="23" name="图片 22" descr="卡通画&#10;&#10;描述已自动生成">
              <a:extLst>
                <a:ext uri="{FF2B5EF4-FFF2-40B4-BE49-F238E27FC236}">
                  <a16:creationId xmlns:a16="http://schemas.microsoft.com/office/drawing/2014/main" id="{1A9CB509-BA1B-456A-57F3-1D4B441C12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8697" y="2738476"/>
              <a:ext cx="786777" cy="786777"/>
            </a:xfrm>
            <a:prstGeom prst="rect">
              <a:avLst/>
            </a:prstGeom>
          </p:spPr>
        </p:pic>
        <p:sp>
          <p:nvSpPr>
            <p:cNvPr id="24" name="文本框 23">
              <a:extLst>
                <a:ext uri="{FF2B5EF4-FFF2-40B4-BE49-F238E27FC236}">
                  <a16:creationId xmlns:a16="http://schemas.microsoft.com/office/drawing/2014/main" id="{F79ACF19-AD1A-98C1-DD5E-A0A8A4612B6F}"/>
                </a:ext>
              </a:extLst>
            </p:cNvPr>
            <p:cNvSpPr txBox="1"/>
            <p:nvPr/>
          </p:nvSpPr>
          <p:spPr>
            <a:xfrm>
              <a:off x="685800" y="2783516"/>
              <a:ext cx="2242897" cy="646331"/>
            </a:xfrm>
            <a:prstGeom prst="rect">
              <a:avLst/>
            </a:prstGeom>
            <a:noFill/>
          </p:spPr>
          <p:txBody>
            <a:bodyPr wrap="square" rtlCol="0">
              <a:spAutoFit/>
            </a:bodyPr>
            <a:lstStyle/>
            <a:p>
              <a:pPr algn="ctr"/>
              <a:r>
                <a:rPr lang="en-US" altLang="zh-CN" b="1" dirty="0">
                  <a:latin typeface="+mn-ea"/>
                </a:rPr>
                <a:t>Chrome</a:t>
              </a:r>
              <a:r>
                <a:rPr lang="zh-CN" altLang="en-US" b="1" dirty="0">
                  <a:latin typeface="+mn-ea"/>
                </a:rPr>
                <a:t>浏览器进程</a:t>
              </a:r>
              <a:endParaRPr lang="en-US" altLang="zh-CN" b="1" dirty="0">
                <a:latin typeface="+mn-ea"/>
              </a:endParaRPr>
            </a:p>
            <a:p>
              <a:pPr algn="ctr"/>
              <a:r>
                <a:rPr lang="zh-CN" altLang="en-US" b="1" dirty="0">
                  <a:latin typeface="+mn-ea"/>
                </a:rPr>
                <a:t>（客户进程）</a:t>
              </a:r>
              <a:endParaRPr lang="en-US" altLang="zh-CN" b="1" dirty="0">
                <a:latin typeface="+mn-ea"/>
              </a:endParaRPr>
            </a:p>
          </p:txBody>
        </p:sp>
      </p:grpSp>
      <p:grpSp>
        <p:nvGrpSpPr>
          <p:cNvPr id="36" name="组合 35">
            <a:extLst>
              <a:ext uri="{FF2B5EF4-FFF2-40B4-BE49-F238E27FC236}">
                <a16:creationId xmlns:a16="http://schemas.microsoft.com/office/drawing/2014/main" id="{B08720D1-3C63-ED9E-0D6C-0F373D0087D6}"/>
              </a:ext>
            </a:extLst>
          </p:cNvPr>
          <p:cNvGrpSpPr/>
          <p:nvPr/>
        </p:nvGrpSpPr>
        <p:grpSpPr>
          <a:xfrm>
            <a:off x="3640087" y="2889842"/>
            <a:ext cx="4523623" cy="573703"/>
            <a:chOff x="3640087" y="2889842"/>
            <a:chExt cx="4523623" cy="573703"/>
          </a:xfrm>
        </p:grpSpPr>
        <p:sp>
          <p:nvSpPr>
            <p:cNvPr id="27" name="圆柱体 26">
              <a:extLst>
                <a:ext uri="{FF2B5EF4-FFF2-40B4-BE49-F238E27FC236}">
                  <a16:creationId xmlns:a16="http://schemas.microsoft.com/office/drawing/2014/main" id="{F6F964DD-F3D3-BB74-A9B3-98E73360989C}"/>
                </a:ext>
              </a:extLst>
            </p:cNvPr>
            <p:cNvSpPr/>
            <p:nvPr/>
          </p:nvSpPr>
          <p:spPr>
            <a:xfrm rot="16200000">
              <a:off x="5615047" y="914882"/>
              <a:ext cx="573703" cy="4523623"/>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8" name="文本框 27">
              <a:extLst>
                <a:ext uri="{FF2B5EF4-FFF2-40B4-BE49-F238E27FC236}">
                  <a16:creationId xmlns:a16="http://schemas.microsoft.com/office/drawing/2014/main" id="{4EBA4D14-EC2B-4D49-E7CF-9F76D35CC90A}"/>
                </a:ext>
              </a:extLst>
            </p:cNvPr>
            <p:cNvSpPr txBox="1"/>
            <p:nvPr/>
          </p:nvSpPr>
          <p:spPr>
            <a:xfrm>
              <a:off x="4880897" y="2992027"/>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sp>
        <p:nvSpPr>
          <p:cNvPr id="29" name="标注: 右箭头 28">
            <a:extLst>
              <a:ext uri="{FF2B5EF4-FFF2-40B4-BE49-F238E27FC236}">
                <a16:creationId xmlns:a16="http://schemas.microsoft.com/office/drawing/2014/main" id="{980755D9-3406-1314-4F52-60CFE5BF3CDA}"/>
              </a:ext>
            </a:extLst>
          </p:cNvPr>
          <p:cNvSpPr/>
          <p:nvPr/>
        </p:nvSpPr>
        <p:spPr>
          <a:xfrm>
            <a:off x="4963309" y="1986352"/>
            <a:ext cx="2329543" cy="596513"/>
          </a:xfrm>
          <a:prstGeom prst="rightArrowCallout">
            <a:avLst>
              <a:gd name="adj1" fmla="val 25000"/>
              <a:gd name="adj2" fmla="val 25000"/>
              <a:gd name="adj3" fmla="val 25000"/>
              <a:gd name="adj4" fmla="val 83201"/>
            </a:avLst>
          </a:prstGeom>
          <a:solidFill>
            <a:srgbClr val="F38181"/>
          </a:solidFill>
          <a:ln>
            <a:solidFill>
              <a:srgbClr val="F581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请求报文</a:t>
            </a:r>
          </a:p>
        </p:txBody>
      </p:sp>
      <p:grpSp>
        <p:nvGrpSpPr>
          <p:cNvPr id="37" name="组合 36">
            <a:extLst>
              <a:ext uri="{FF2B5EF4-FFF2-40B4-BE49-F238E27FC236}">
                <a16:creationId xmlns:a16="http://schemas.microsoft.com/office/drawing/2014/main" id="{B2332456-2BBC-3886-66E3-9AE4B24F77C4}"/>
              </a:ext>
            </a:extLst>
          </p:cNvPr>
          <p:cNvGrpSpPr/>
          <p:nvPr/>
        </p:nvGrpSpPr>
        <p:grpSpPr>
          <a:xfrm>
            <a:off x="4571423" y="3725019"/>
            <a:ext cx="2329543" cy="596513"/>
            <a:chOff x="4571423" y="3725019"/>
            <a:chExt cx="2329543" cy="596513"/>
          </a:xfrm>
        </p:grpSpPr>
        <p:sp>
          <p:nvSpPr>
            <p:cNvPr id="30" name="标注: 右箭头 29">
              <a:extLst>
                <a:ext uri="{FF2B5EF4-FFF2-40B4-BE49-F238E27FC236}">
                  <a16:creationId xmlns:a16="http://schemas.microsoft.com/office/drawing/2014/main" id="{88323F87-DC67-E6EC-2F54-8DE4744E3041}"/>
                </a:ext>
              </a:extLst>
            </p:cNvPr>
            <p:cNvSpPr/>
            <p:nvPr/>
          </p:nvSpPr>
          <p:spPr>
            <a:xfrm rot="10800000">
              <a:off x="4571423" y="3725019"/>
              <a:ext cx="2329543" cy="596513"/>
            </a:xfrm>
            <a:prstGeom prst="rightArrowCallout">
              <a:avLst>
                <a:gd name="adj1" fmla="val 25000"/>
                <a:gd name="adj2" fmla="val 25000"/>
                <a:gd name="adj3" fmla="val 25000"/>
                <a:gd name="adj4" fmla="val 83201"/>
              </a:avLst>
            </a:prstGeom>
            <a:solidFill>
              <a:srgbClr val="52BCC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bg1"/>
                </a:solidFill>
                <a:latin typeface="+mn-ea"/>
              </a:endParaRPr>
            </a:p>
          </p:txBody>
        </p:sp>
        <p:sp>
          <p:nvSpPr>
            <p:cNvPr id="31" name="文本框 30">
              <a:extLst>
                <a:ext uri="{FF2B5EF4-FFF2-40B4-BE49-F238E27FC236}">
                  <a16:creationId xmlns:a16="http://schemas.microsoft.com/office/drawing/2014/main" id="{381685E0-434A-47BB-3A0E-710FA002A7BE}"/>
                </a:ext>
              </a:extLst>
            </p:cNvPr>
            <p:cNvSpPr txBox="1"/>
            <p:nvPr/>
          </p:nvSpPr>
          <p:spPr>
            <a:xfrm>
              <a:off x="5017224" y="3844724"/>
              <a:ext cx="1769348" cy="369332"/>
            </a:xfrm>
            <a:prstGeom prst="rect">
              <a:avLst/>
            </a:prstGeom>
            <a:noFill/>
          </p:spPr>
          <p:txBody>
            <a:bodyPr wrap="square">
              <a:spAutoFit/>
            </a:bodyPr>
            <a:lstStyle/>
            <a:p>
              <a:pPr algn="ctr"/>
              <a:r>
                <a:rPr lang="en-US" altLang="zh-CN" b="1" dirty="0">
                  <a:solidFill>
                    <a:schemeClr val="bg1"/>
                  </a:solidFill>
                  <a:latin typeface="+mn-ea"/>
                </a:rPr>
                <a:t>HTTP</a:t>
              </a:r>
              <a:r>
                <a:rPr lang="zh-CN" altLang="en-US" b="1" dirty="0">
                  <a:solidFill>
                    <a:schemeClr val="bg1"/>
                  </a:solidFill>
                  <a:latin typeface="+mn-ea"/>
                </a:rPr>
                <a:t>响应报文</a:t>
              </a:r>
            </a:p>
          </p:txBody>
        </p:sp>
      </p:grpSp>
      <p:grpSp>
        <p:nvGrpSpPr>
          <p:cNvPr id="35" name="组合 34">
            <a:extLst>
              <a:ext uri="{FF2B5EF4-FFF2-40B4-BE49-F238E27FC236}">
                <a16:creationId xmlns:a16="http://schemas.microsoft.com/office/drawing/2014/main" id="{3791C386-2ED9-259E-7CC3-4C31BF63271C}"/>
              </a:ext>
            </a:extLst>
          </p:cNvPr>
          <p:cNvGrpSpPr/>
          <p:nvPr/>
        </p:nvGrpSpPr>
        <p:grpSpPr>
          <a:xfrm>
            <a:off x="8284758" y="2817214"/>
            <a:ext cx="3665751" cy="646331"/>
            <a:chOff x="8284758" y="2817214"/>
            <a:chExt cx="3665751" cy="646331"/>
          </a:xfrm>
        </p:grpSpPr>
        <p:pic>
          <p:nvPicPr>
            <p:cNvPr id="26" name="图片 25" descr="图片包含 钟表, 物体, 游戏机, 画&#10;&#10;描述已自动生成">
              <a:extLst>
                <a:ext uri="{FF2B5EF4-FFF2-40B4-BE49-F238E27FC236}">
                  <a16:creationId xmlns:a16="http://schemas.microsoft.com/office/drawing/2014/main" id="{7CE89E46-40A1-79A4-CBCF-F9AF4D6F9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4758" y="2912965"/>
              <a:ext cx="1683405" cy="344333"/>
            </a:xfrm>
            <a:prstGeom prst="rect">
              <a:avLst/>
            </a:prstGeom>
          </p:spPr>
        </p:pic>
        <p:sp>
          <p:nvSpPr>
            <p:cNvPr id="34" name="文本框 33">
              <a:extLst>
                <a:ext uri="{FF2B5EF4-FFF2-40B4-BE49-F238E27FC236}">
                  <a16:creationId xmlns:a16="http://schemas.microsoft.com/office/drawing/2014/main" id="{6BD24748-5BF6-0CAA-F360-90E345ED407D}"/>
                </a:ext>
              </a:extLst>
            </p:cNvPr>
            <p:cNvSpPr txBox="1"/>
            <p:nvPr/>
          </p:nvSpPr>
          <p:spPr>
            <a:xfrm>
              <a:off x="9855188" y="2817214"/>
              <a:ext cx="2095321" cy="646331"/>
            </a:xfrm>
            <a:prstGeom prst="rect">
              <a:avLst/>
            </a:prstGeom>
            <a:noFill/>
          </p:spPr>
          <p:txBody>
            <a:bodyPr wrap="square" rtlCol="0">
              <a:spAutoFit/>
            </a:bodyPr>
            <a:lstStyle/>
            <a:p>
              <a:pPr algn="ctr"/>
              <a:r>
                <a:rPr lang="en-US" altLang="zh-CN" b="1" dirty="0">
                  <a:latin typeface="+mn-ea"/>
                </a:rPr>
                <a:t>Web</a:t>
              </a:r>
              <a:r>
                <a:rPr lang="zh-CN" altLang="en-US" b="1" dirty="0">
                  <a:latin typeface="+mn-ea"/>
                </a:rPr>
                <a:t>服务器进程</a:t>
              </a:r>
              <a:endParaRPr lang="en-US" altLang="zh-CN" b="1" dirty="0">
                <a:latin typeface="+mn-ea"/>
              </a:endParaRPr>
            </a:p>
            <a:p>
              <a:pPr algn="ctr"/>
              <a:r>
                <a:rPr lang="zh-CN" altLang="en-US" b="1" dirty="0">
                  <a:latin typeface="+mn-ea"/>
                </a:rPr>
                <a:t>（服务器进程）</a:t>
              </a:r>
              <a:endParaRPr lang="en-US" altLang="zh-CN" b="1" dirty="0">
                <a:latin typeface="+mn-ea"/>
              </a:endParaRPr>
            </a:p>
          </p:txBody>
        </p:sp>
      </p:grpSp>
      <p:grpSp>
        <p:nvGrpSpPr>
          <p:cNvPr id="5" name="组合 4">
            <a:extLst>
              <a:ext uri="{FF2B5EF4-FFF2-40B4-BE49-F238E27FC236}">
                <a16:creationId xmlns:a16="http://schemas.microsoft.com/office/drawing/2014/main" id="{B06176A6-78F6-47AF-94A7-21720B210D48}"/>
              </a:ext>
            </a:extLst>
          </p:cNvPr>
          <p:cNvGrpSpPr/>
          <p:nvPr/>
        </p:nvGrpSpPr>
        <p:grpSpPr>
          <a:xfrm>
            <a:off x="1259066" y="4801467"/>
            <a:ext cx="10134376" cy="1106192"/>
            <a:chOff x="1259066" y="4801467"/>
            <a:chExt cx="10134376" cy="1106192"/>
          </a:xfrm>
        </p:grpSpPr>
        <p:grpSp>
          <p:nvGrpSpPr>
            <p:cNvPr id="32" name="组合 31">
              <a:extLst>
                <a:ext uri="{FF2B5EF4-FFF2-40B4-BE49-F238E27FC236}">
                  <a16:creationId xmlns:a16="http://schemas.microsoft.com/office/drawing/2014/main" id="{B51CF61E-67B3-7658-9D35-236631E2E7CC}"/>
                </a:ext>
              </a:extLst>
            </p:cNvPr>
            <p:cNvGrpSpPr/>
            <p:nvPr/>
          </p:nvGrpSpPr>
          <p:grpSpPr>
            <a:xfrm>
              <a:off x="1259066" y="4801467"/>
              <a:ext cx="10134376" cy="1106192"/>
              <a:chOff x="1559859" y="4801467"/>
              <a:chExt cx="10134376" cy="1106192"/>
            </a:xfrm>
          </p:grpSpPr>
          <p:cxnSp>
            <p:nvCxnSpPr>
              <p:cNvPr id="13" name="直接连接符 12">
                <a:extLst>
                  <a:ext uri="{FF2B5EF4-FFF2-40B4-BE49-F238E27FC236}">
                    <a16:creationId xmlns:a16="http://schemas.microsoft.com/office/drawing/2014/main" id="{08190C7F-911D-090A-0F55-74F19733B062}"/>
                  </a:ext>
                </a:extLst>
              </p:cNvPr>
              <p:cNvCxnSpPr/>
              <p:nvPr/>
            </p:nvCxnSpPr>
            <p:spPr>
              <a:xfrm>
                <a:off x="3373196" y="5436602"/>
                <a:ext cx="6478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图形 15">
                <a:extLst>
                  <a:ext uri="{FF2B5EF4-FFF2-40B4-BE49-F238E27FC236}">
                    <a16:creationId xmlns:a16="http://schemas.microsoft.com/office/drawing/2014/main" id="{66438BA7-C3D4-9725-2EDA-1E36A5EE333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65877" y="4801467"/>
                <a:ext cx="974048" cy="942113"/>
              </a:xfrm>
              <a:prstGeom prst="rect">
                <a:avLst/>
              </a:prstGeom>
            </p:spPr>
          </p:pic>
          <p:sp>
            <p:nvSpPr>
              <p:cNvPr id="17" name="图形 73">
                <a:extLst>
                  <a:ext uri="{FF2B5EF4-FFF2-40B4-BE49-F238E27FC236}">
                    <a16:creationId xmlns:a16="http://schemas.microsoft.com/office/drawing/2014/main" id="{6329860D-E198-DBEB-16CC-D71C1BFF67B5}"/>
                  </a:ext>
                </a:extLst>
              </p:cNvPr>
              <p:cNvSpPr/>
              <p:nvPr/>
            </p:nvSpPr>
            <p:spPr>
              <a:xfrm>
                <a:off x="5609960" y="4965546"/>
                <a:ext cx="1441885" cy="942113"/>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20" name="文本框 19">
                <a:extLst>
                  <a:ext uri="{FF2B5EF4-FFF2-40B4-BE49-F238E27FC236}">
                    <a16:creationId xmlns:a16="http://schemas.microsoft.com/office/drawing/2014/main" id="{314BCF6A-FB31-175B-82DA-E57816975D91}"/>
                  </a:ext>
                </a:extLst>
              </p:cNvPr>
              <p:cNvSpPr txBox="1"/>
              <p:nvPr/>
            </p:nvSpPr>
            <p:spPr>
              <a:xfrm>
                <a:off x="1559859" y="5254574"/>
                <a:ext cx="1106018" cy="369332"/>
              </a:xfrm>
              <a:prstGeom prst="rect">
                <a:avLst/>
              </a:prstGeom>
              <a:noFill/>
            </p:spPr>
            <p:txBody>
              <a:bodyPr wrap="square" rtlCol="0">
                <a:spAutoFit/>
              </a:bodyPr>
              <a:lstStyle/>
              <a:p>
                <a:pPr algn="ctr"/>
                <a:r>
                  <a:rPr lang="zh-CN" altLang="en-US" b="1" dirty="0">
                    <a:latin typeface="+mn-ea"/>
                  </a:rPr>
                  <a:t>用户主机</a:t>
                </a:r>
              </a:p>
            </p:txBody>
          </p:sp>
          <p:sp>
            <p:nvSpPr>
              <p:cNvPr id="21" name="文本框 20">
                <a:extLst>
                  <a:ext uri="{FF2B5EF4-FFF2-40B4-BE49-F238E27FC236}">
                    <a16:creationId xmlns:a16="http://schemas.microsoft.com/office/drawing/2014/main" id="{9A40F234-7204-5572-EB3D-C26049245548}"/>
                  </a:ext>
                </a:extLst>
              </p:cNvPr>
              <p:cNvSpPr txBox="1"/>
              <p:nvPr/>
            </p:nvSpPr>
            <p:spPr>
              <a:xfrm>
                <a:off x="9854884" y="4977575"/>
                <a:ext cx="1839351" cy="646331"/>
              </a:xfrm>
              <a:prstGeom prst="rect">
                <a:avLst/>
              </a:prstGeom>
              <a:noFill/>
            </p:spPr>
            <p:txBody>
              <a:bodyPr wrap="square" rtlCol="0">
                <a:spAutoFit/>
              </a:bodyPr>
              <a:lstStyle/>
              <a:p>
                <a:pPr algn="ctr"/>
                <a:r>
                  <a:rPr lang="zh-CN" altLang="en-US" b="1" dirty="0">
                    <a:latin typeface="+mn-ea"/>
                  </a:rPr>
                  <a:t>万维网服务器</a:t>
                </a:r>
                <a:endParaRPr lang="en-US" altLang="zh-CN" b="1" dirty="0">
                  <a:latin typeface="+mn-ea"/>
                </a:endParaRPr>
              </a:p>
              <a:p>
                <a:pPr algn="ctr"/>
                <a:r>
                  <a:rPr lang="en-US" altLang="zh-CN" b="1" dirty="0">
                    <a:latin typeface="+mn-ea"/>
                  </a:rPr>
                  <a:t>www.hnust.cn</a:t>
                </a:r>
                <a:endParaRPr lang="zh-CN" altLang="en-US" b="1" dirty="0">
                  <a:latin typeface="+mn-ea"/>
                </a:endParaRPr>
              </a:p>
            </p:txBody>
          </p:sp>
        </p:grpSp>
        <p:pic>
          <p:nvPicPr>
            <p:cNvPr id="14" name="图形 13">
              <a:extLst>
                <a:ext uri="{FF2B5EF4-FFF2-40B4-BE49-F238E27FC236}">
                  <a16:creationId xmlns:a16="http://schemas.microsoft.com/office/drawing/2014/main" id="{AA0FC6E2-AEE3-20C5-3BFC-7DC3F31D24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12678" y="4965546"/>
              <a:ext cx="638275" cy="837736"/>
            </a:xfrm>
            <a:prstGeom prst="rect">
              <a:avLst/>
            </a:prstGeom>
          </p:spPr>
        </p:pic>
      </p:grpSp>
    </p:spTree>
    <p:custDataLst>
      <p:tags r:id="rId1"/>
    </p:custDataLst>
    <p:extLst>
      <p:ext uri="{BB962C8B-B14F-4D97-AF65-F5344CB8AC3E}">
        <p14:creationId xmlns:p14="http://schemas.microsoft.com/office/powerpoint/2010/main" val="304139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p:tgtEl>
                                          <p:spTgt spid="4"/>
                                        </p:tgtEl>
                                        <p:attrNameLst>
                                          <p:attrName>ppt_y</p:attrName>
                                        </p:attrNameLst>
                                      </p:cBhvr>
                                      <p:tavLst>
                                        <p:tav tm="0">
                                          <p:val>
                                            <p:strVal val="#ppt_y-#ppt_h*1.125000"/>
                                          </p:val>
                                        </p:tav>
                                        <p:tav tm="100000">
                                          <p:val>
                                            <p:strVal val="#ppt_y"/>
                                          </p:val>
                                        </p:tav>
                                      </p:tavLst>
                                    </p:anim>
                                    <p:animEffect transition="in" filter="wipe(down)">
                                      <p:cBhvr>
                                        <p:cTn id="8" dur="10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49" presetClass="entr" presetSubtype="0" decel="10000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childTnLst>
                          </p:cTn>
                        </p:par>
                        <p:par>
                          <p:cTn id="17" fill="hold">
                            <p:stCondLst>
                              <p:cond delay="500"/>
                            </p:stCondLst>
                            <p:childTnLst>
                              <p:par>
                                <p:cTn id="18" presetID="1" presetClass="entr" presetSubtype="0" fill="hold" grpId="0" nodeType="afterEffect">
                                  <p:stCondLst>
                                    <p:cond delay="0"/>
                                  </p:stCondLst>
                                  <p:iterate type="lt">
                                    <p:tmAbs val="100"/>
                                  </p:iterate>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anim calcmode="lin" valueType="num">
                                      <p:cBhvr>
                                        <p:cTn id="37" dur="500" fill="hold"/>
                                        <p:tgtEl>
                                          <p:spTgt spid="33"/>
                                        </p:tgtEl>
                                        <p:attrNameLst>
                                          <p:attrName>ppt_x</p:attrName>
                                        </p:attrNameLst>
                                      </p:cBhvr>
                                      <p:tavLst>
                                        <p:tav tm="0">
                                          <p:val>
                                            <p:strVal val="#ppt_x"/>
                                          </p:val>
                                        </p:tav>
                                        <p:tav tm="100000">
                                          <p:val>
                                            <p:strVal val="#ppt_x"/>
                                          </p:val>
                                        </p:tav>
                                      </p:tavLst>
                                    </p:anim>
                                    <p:anim calcmode="lin" valueType="num">
                                      <p:cBhvr>
                                        <p:cTn id="38"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500"/>
                                        <p:tgtEl>
                                          <p:spTgt spid="35"/>
                                        </p:tgtEl>
                                      </p:cBhvr>
                                    </p:animEffect>
                                    <p:anim calcmode="lin" valueType="num">
                                      <p:cBhvr>
                                        <p:cTn id="44" dur="500" fill="hold"/>
                                        <p:tgtEl>
                                          <p:spTgt spid="35"/>
                                        </p:tgtEl>
                                        <p:attrNameLst>
                                          <p:attrName>ppt_x</p:attrName>
                                        </p:attrNameLst>
                                      </p:cBhvr>
                                      <p:tavLst>
                                        <p:tav tm="0">
                                          <p:val>
                                            <p:strVal val="#ppt_x"/>
                                          </p:val>
                                        </p:tav>
                                        <p:tav tm="100000">
                                          <p:val>
                                            <p:strVal val="#ppt_x"/>
                                          </p:val>
                                        </p:tav>
                                      </p:tavLst>
                                    </p:anim>
                                    <p:anim calcmode="lin" valueType="num">
                                      <p:cBhvr>
                                        <p:cTn id="45"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5" presetClass="entr" presetSubtype="0" fill="hold" nodeType="click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p:cTn id="50" dur="500" fill="hold"/>
                                        <p:tgtEl>
                                          <p:spTgt spid="36"/>
                                        </p:tgtEl>
                                        <p:attrNameLst>
                                          <p:attrName>ppt_w</p:attrName>
                                        </p:attrNameLst>
                                      </p:cBhvr>
                                      <p:tavLst>
                                        <p:tav tm="0">
                                          <p:val>
                                            <p:strVal val="#ppt_w*0.70"/>
                                          </p:val>
                                        </p:tav>
                                        <p:tav tm="100000">
                                          <p:val>
                                            <p:strVal val="#ppt_w"/>
                                          </p:val>
                                        </p:tav>
                                      </p:tavLst>
                                    </p:anim>
                                    <p:anim calcmode="lin" valueType="num">
                                      <p:cBhvr>
                                        <p:cTn id="51" dur="500" fill="hold"/>
                                        <p:tgtEl>
                                          <p:spTgt spid="36"/>
                                        </p:tgtEl>
                                        <p:attrNameLst>
                                          <p:attrName>ppt_h</p:attrName>
                                        </p:attrNameLst>
                                      </p:cBhvr>
                                      <p:tavLst>
                                        <p:tav tm="0">
                                          <p:val>
                                            <p:strVal val="#ppt_h"/>
                                          </p:val>
                                        </p:tav>
                                        <p:tav tm="100000">
                                          <p:val>
                                            <p:strVal val="#ppt_h"/>
                                          </p:val>
                                        </p:tav>
                                      </p:tavLst>
                                    </p:anim>
                                    <p:animEffect transition="in" filter="fade">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additive="base">
                                        <p:cTn id="57" dur="500"/>
                                        <p:tgtEl>
                                          <p:spTgt spid="29"/>
                                        </p:tgtEl>
                                        <p:attrNameLst>
                                          <p:attrName>ppt_x</p:attrName>
                                        </p:attrNameLst>
                                      </p:cBhvr>
                                      <p:tavLst>
                                        <p:tav tm="0">
                                          <p:val>
                                            <p:strVal val="#ppt_x-#ppt_w*1.125000"/>
                                          </p:val>
                                        </p:tav>
                                        <p:tav tm="100000">
                                          <p:val>
                                            <p:strVal val="#ppt_x"/>
                                          </p:val>
                                        </p:tav>
                                      </p:tavLst>
                                    </p:anim>
                                    <p:animEffect transition="in" filter="wipe(right)">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2" fill="hold" nodeType="clickEffect">
                                  <p:stCondLst>
                                    <p:cond delay="0"/>
                                  </p:stCondLst>
                                  <p:childTnLst>
                                    <p:set>
                                      <p:cBhvr>
                                        <p:cTn id="62" dur="1" fill="hold">
                                          <p:stCondLst>
                                            <p:cond delay="0"/>
                                          </p:stCondLst>
                                        </p:cTn>
                                        <p:tgtEl>
                                          <p:spTgt spid="37"/>
                                        </p:tgtEl>
                                        <p:attrNameLst>
                                          <p:attrName>style.visibility</p:attrName>
                                        </p:attrNameLst>
                                      </p:cBhvr>
                                      <p:to>
                                        <p:strVal val="visible"/>
                                      </p:to>
                                    </p:set>
                                    <p:anim calcmode="lin" valueType="num">
                                      <p:cBhvr additive="base">
                                        <p:cTn id="63" dur="500"/>
                                        <p:tgtEl>
                                          <p:spTgt spid="37"/>
                                        </p:tgtEl>
                                        <p:attrNameLst>
                                          <p:attrName>ppt_x</p:attrName>
                                        </p:attrNameLst>
                                      </p:cBhvr>
                                      <p:tavLst>
                                        <p:tav tm="0">
                                          <p:val>
                                            <p:strVal val="#ppt_x+#ppt_w*1.125000"/>
                                          </p:val>
                                        </p:tav>
                                        <p:tav tm="100000">
                                          <p:val>
                                            <p:strVal val="#ppt_x"/>
                                          </p:val>
                                        </p:tav>
                                      </p:tavLst>
                                    </p:anim>
                                    <p:animEffect transition="in" filter="wipe(left)">
                                      <p:cBhvr>
                                        <p:cTn id="6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P spid="2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a:extLst>
              <a:ext uri="{FF2B5EF4-FFF2-40B4-BE49-F238E27FC236}">
                <a16:creationId xmlns:a16="http://schemas.microsoft.com/office/drawing/2014/main" id="{7F254ECD-7BD8-04EC-6BB3-36D91D200351}"/>
              </a:ext>
            </a:extLst>
          </p:cNvPr>
          <p:cNvGrpSpPr/>
          <p:nvPr/>
        </p:nvGrpSpPr>
        <p:grpSpPr>
          <a:xfrm>
            <a:off x="3945366" y="4109208"/>
            <a:ext cx="6959937" cy="1418394"/>
            <a:chOff x="3945366" y="4109208"/>
            <a:chExt cx="6959937" cy="1418394"/>
          </a:xfrm>
        </p:grpSpPr>
        <p:sp>
          <p:nvSpPr>
            <p:cNvPr id="9" name="矩形 8">
              <a:extLst>
                <a:ext uri="{FF2B5EF4-FFF2-40B4-BE49-F238E27FC236}">
                  <a16:creationId xmlns:a16="http://schemas.microsoft.com/office/drawing/2014/main" id="{D92C518A-B6AA-523F-97C4-C5006571CA7E}"/>
                </a:ext>
              </a:extLst>
            </p:cNvPr>
            <p:cNvSpPr/>
            <p:nvPr/>
          </p:nvSpPr>
          <p:spPr>
            <a:xfrm>
              <a:off x="3945366" y="4109208"/>
              <a:ext cx="6959937" cy="14183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2" name="文本框 61">
              <a:extLst>
                <a:ext uri="{FF2B5EF4-FFF2-40B4-BE49-F238E27FC236}">
                  <a16:creationId xmlns:a16="http://schemas.microsoft.com/office/drawing/2014/main" id="{6DDDC161-118E-1D44-EA6A-69FE6B4A86AB}"/>
                </a:ext>
              </a:extLst>
            </p:cNvPr>
            <p:cNvSpPr txBox="1"/>
            <p:nvPr/>
          </p:nvSpPr>
          <p:spPr>
            <a:xfrm>
              <a:off x="9021670" y="4489618"/>
              <a:ext cx="1820838" cy="646331"/>
            </a:xfrm>
            <a:prstGeom prst="rect">
              <a:avLst/>
            </a:prstGeom>
            <a:noFill/>
          </p:spPr>
          <p:txBody>
            <a:bodyPr wrap="square" rtlCol="0">
              <a:spAutoFit/>
            </a:bodyPr>
            <a:lstStyle/>
            <a:p>
              <a:pPr algn="ctr"/>
              <a:r>
                <a:rPr lang="en-US" altLang="zh-CN" b="1" dirty="0">
                  <a:latin typeface="+mn-ea"/>
                </a:rPr>
                <a:t>TCP</a:t>
              </a:r>
            </a:p>
            <a:p>
              <a:pPr algn="ctr"/>
              <a:r>
                <a:rPr lang="zh-CN" altLang="en-US" b="1" dirty="0">
                  <a:latin typeface="+mn-ea"/>
                </a:rPr>
                <a:t>“三报文握手”</a:t>
              </a:r>
            </a:p>
          </p:txBody>
        </p:sp>
      </p:grpSp>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HTTP/1.0</a:t>
            </a:r>
            <a:r>
              <a:rPr lang="zh-CN" altLang="en-US" b="1" dirty="0"/>
              <a:t>采用</a:t>
            </a:r>
            <a:r>
              <a:rPr lang="zh-CN" altLang="en-US" b="1" dirty="0">
                <a:solidFill>
                  <a:srgbClr val="FF0000"/>
                </a:solidFill>
              </a:rPr>
              <a:t>非持续连接</a:t>
            </a:r>
            <a:r>
              <a:rPr lang="zh-CN" altLang="en-US" b="1" dirty="0"/>
              <a:t>方式。在该方式下，每次浏览器要请求一个文件都要与服务器建立</a:t>
            </a:r>
            <a:r>
              <a:rPr lang="en-US" altLang="zh-CN" b="1" dirty="0"/>
              <a:t>TCP</a:t>
            </a:r>
            <a:r>
              <a:rPr lang="zh-CN" altLang="en-US" b="1" dirty="0"/>
              <a:t>连接，当收到响应后就立即关闭连接。</a:t>
            </a:r>
            <a:endParaRPr lang="en-US" altLang="zh-CN" b="1" dirty="0"/>
          </a:p>
        </p:txBody>
      </p:sp>
      <p:sp>
        <p:nvSpPr>
          <p:cNvPr id="5" name="矩形 4">
            <a:extLst>
              <a:ext uri="{FF2B5EF4-FFF2-40B4-BE49-F238E27FC236}">
                <a16:creationId xmlns:a16="http://schemas.microsoft.com/office/drawing/2014/main" id="{536B7519-7CA9-7410-4EEA-F2B51A023D64}"/>
              </a:ext>
            </a:extLst>
          </p:cNvPr>
          <p:cNvSpPr/>
          <p:nvPr/>
        </p:nvSpPr>
        <p:spPr>
          <a:xfrm>
            <a:off x="1407235" y="190913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íşlïḍè">
            <a:extLst>
              <a:ext uri="{FF2B5EF4-FFF2-40B4-BE49-F238E27FC236}">
                <a16:creationId xmlns:a16="http://schemas.microsoft.com/office/drawing/2014/main" id="{1A803FF9-A228-E053-7E59-36967F5CC2C9}"/>
              </a:ext>
            </a:extLst>
          </p:cNvPr>
          <p:cNvSpPr txBox="1"/>
          <p:nvPr/>
        </p:nvSpPr>
        <p:spPr>
          <a:xfrm>
            <a:off x="1684992" y="1830797"/>
            <a:ext cx="10202208" cy="670632"/>
          </a:xfrm>
          <a:prstGeom prst="rect">
            <a:avLst/>
          </a:prstGeom>
          <a:noFill/>
        </p:spPr>
        <p:txBody>
          <a:bodyPr wrap="square" lIns="91440" tIns="45720" rIns="91440" bIns="45720" anchor="ctr">
            <a:noAutofit/>
          </a:bodyPr>
          <a:lstStyle/>
          <a:p>
            <a:r>
              <a:rPr lang="zh-CN" altLang="en-US" b="1" dirty="0">
                <a:solidFill>
                  <a:srgbClr val="FF0000"/>
                </a:solidFill>
              </a:rPr>
              <a:t>每请求一个文档就要有两倍的</a:t>
            </a:r>
            <a:r>
              <a:rPr lang="en-US" altLang="zh-CN" b="1" dirty="0">
                <a:solidFill>
                  <a:srgbClr val="FF0000"/>
                </a:solidFill>
              </a:rPr>
              <a:t>RTT</a:t>
            </a:r>
            <a:r>
              <a:rPr lang="zh-CN" altLang="en-US" b="1" dirty="0">
                <a:solidFill>
                  <a:srgbClr val="FF0000"/>
                </a:solidFill>
              </a:rPr>
              <a:t>的开销</a:t>
            </a:r>
            <a:r>
              <a:rPr lang="zh-CN" altLang="en-US" b="1" dirty="0"/>
              <a:t>。若一个网页上有很多引用对象（例如图片等），那么请求每一个对象都需要花费</a:t>
            </a:r>
            <a:r>
              <a:rPr lang="en-US" altLang="zh-CN" b="1" dirty="0"/>
              <a:t>2RTT</a:t>
            </a:r>
            <a:r>
              <a:rPr lang="zh-CN" altLang="en-US" b="1" dirty="0"/>
              <a:t>的时间。</a:t>
            </a:r>
            <a:endParaRPr lang="en-US" altLang="zh-CN" b="1" dirty="0"/>
          </a:p>
        </p:txBody>
      </p:sp>
      <p:sp>
        <p:nvSpPr>
          <p:cNvPr id="7" name="矩形 6">
            <a:extLst>
              <a:ext uri="{FF2B5EF4-FFF2-40B4-BE49-F238E27FC236}">
                <a16:creationId xmlns:a16="http://schemas.microsoft.com/office/drawing/2014/main" id="{F4E20305-DD2F-BB52-8BFB-402C88ED099F}"/>
              </a:ext>
            </a:extLst>
          </p:cNvPr>
          <p:cNvSpPr/>
          <p:nvPr/>
        </p:nvSpPr>
        <p:spPr>
          <a:xfrm>
            <a:off x="1407234" y="256936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íşlïḍè">
            <a:extLst>
              <a:ext uri="{FF2B5EF4-FFF2-40B4-BE49-F238E27FC236}">
                <a16:creationId xmlns:a16="http://schemas.microsoft.com/office/drawing/2014/main" id="{FB80F377-430A-A2EE-E8B4-BA3669ED48C7}"/>
              </a:ext>
            </a:extLst>
          </p:cNvPr>
          <p:cNvSpPr txBox="1"/>
          <p:nvPr/>
        </p:nvSpPr>
        <p:spPr>
          <a:xfrm>
            <a:off x="1684992" y="2488306"/>
            <a:ext cx="10202208" cy="670632"/>
          </a:xfrm>
          <a:prstGeom prst="rect">
            <a:avLst/>
          </a:prstGeom>
          <a:noFill/>
        </p:spPr>
        <p:txBody>
          <a:bodyPr wrap="square" lIns="91440" tIns="45720" rIns="91440" bIns="45720" anchor="ctr">
            <a:noAutofit/>
          </a:bodyPr>
          <a:lstStyle/>
          <a:p>
            <a:r>
              <a:rPr lang="zh-CN" altLang="en-US" b="1" dirty="0"/>
              <a:t>为了减小时延，</a:t>
            </a:r>
            <a:r>
              <a:rPr lang="zh-CN" altLang="en-US" b="1" dirty="0">
                <a:solidFill>
                  <a:srgbClr val="FF0000"/>
                </a:solidFill>
              </a:rPr>
              <a:t>浏览器通常会建立多个并行的</a:t>
            </a:r>
            <a:r>
              <a:rPr lang="en-US" altLang="zh-CN" b="1" dirty="0">
                <a:solidFill>
                  <a:srgbClr val="FF0000"/>
                </a:solidFill>
              </a:rPr>
              <a:t>TCP</a:t>
            </a:r>
            <a:r>
              <a:rPr lang="zh-CN" altLang="en-US" b="1" dirty="0">
                <a:solidFill>
                  <a:srgbClr val="FF0000"/>
                </a:solidFill>
              </a:rPr>
              <a:t>连接同时请求多个对象</a:t>
            </a:r>
            <a:r>
              <a:rPr lang="zh-CN" altLang="en-US" b="1" dirty="0"/>
              <a:t>。但是，这会大量占用万维网服务器的资源，特别是万维网服务器往往要同时服务于大量客户的请求，这会使其负担很重。</a:t>
            </a:r>
            <a:endParaRPr lang="en-US" altLang="zh-CN" b="1" dirty="0"/>
          </a:p>
        </p:txBody>
      </p:sp>
      <p:grpSp>
        <p:nvGrpSpPr>
          <p:cNvPr id="81" name="组合 80">
            <a:extLst>
              <a:ext uri="{FF2B5EF4-FFF2-40B4-BE49-F238E27FC236}">
                <a16:creationId xmlns:a16="http://schemas.microsoft.com/office/drawing/2014/main" id="{0637C5FB-AB69-6B9D-D431-20BAF4B1676C}"/>
              </a:ext>
            </a:extLst>
          </p:cNvPr>
          <p:cNvGrpSpPr/>
          <p:nvPr/>
        </p:nvGrpSpPr>
        <p:grpSpPr>
          <a:xfrm>
            <a:off x="3292250" y="3109640"/>
            <a:ext cx="6728502" cy="937910"/>
            <a:chOff x="3292250" y="3109640"/>
            <a:chExt cx="6728502" cy="937910"/>
          </a:xfrm>
        </p:grpSpPr>
        <p:cxnSp>
          <p:nvCxnSpPr>
            <p:cNvPr id="11" name="直接连接符 10">
              <a:extLst>
                <a:ext uri="{FF2B5EF4-FFF2-40B4-BE49-F238E27FC236}">
                  <a16:creationId xmlns:a16="http://schemas.microsoft.com/office/drawing/2014/main" id="{BFB75323-0470-70E6-3D31-DF7592970F75}"/>
                </a:ext>
              </a:extLst>
            </p:cNvPr>
            <p:cNvCxnSpPr>
              <a:cxnSpLocks/>
            </p:cNvCxnSpPr>
            <p:nvPr/>
          </p:nvCxnSpPr>
          <p:spPr>
            <a:xfrm>
              <a:off x="4132416" y="3793379"/>
              <a:ext cx="498680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形 11">
              <a:extLst>
                <a:ext uri="{FF2B5EF4-FFF2-40B4-BE49-F238E27FC236}">
                  <a16:creationId xmlns:a16="http://schemas.microsoft.com/office/drawing/2014/main" id="{426A9852-DC72-4AF1-EF89-B33CA8C8FB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03914" y="3483422"/>
              <a:ext cx="400567" cy="525744"/>
            </a:xfrm>
            <a:prstGeom prst="rect">
              <a:avLst/>
            </a:prstGeom>
          </p:spPr>
        </p:pic>
        <p:pic>
          <p:nvPicPr>
            <p:cNvPr id="19" name="图形 18">
              <a:extLst>
                <a:ext uri="{FF2B5EF4-FFF2-40B4-BE49-F238E27FC236}">
                  <a16:creationId xmlns:a16="http://schemas.microsoft.com/office/drawing/2014/main" id="{8E483DAF-21C1-45F4-A34B-4217E2F372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10359" y="3483422"/>
              <a:ext cx="552446" cy="534333"/>
            </a:xfrm>
            <a:prstGeom prst="rect">
              <a:avLst/>
            </a:prstGeom>
          </p:spPr>
        </p:pic>
        <p:sp>
          <p:nvSpPr>
            <p:cNvPr id="25" name="图形 73">
              <a:extLst>
                <a:ext uri="{FF2B5EF4-FFF2-40B4-BE49-F238E27FC236}">
                  <a16:creationId xmlns:a16="http://schemas.microsoft.com/office/drawing/2014/main" id="{BE0EBF02-BEA9-B9EC-C477-2D5615AF36FF}"/>
                </a:ext>
              </a:extLst>
            </p:cNvPr>
            <p:cNvSpPr/>
            <p:nvPr/>
          </p:nvSpPr>
          <p:spPr>
            <a:xfrm>
              <a:off x="5808592" y="3464350"/>
              <a:ext cx="1441885" cy="58320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sp>
          <p:nvSpPr>
            <p:cNvPr id="38" name="文本框 37">
              <a:extLst>
                <a:ext uri="{FF2B5EF4-FFF2-40B4-BE49-F238E27FC236}">
                  <a16:creationId xmlns:a16="http://schemas.microsoft.com/office/drawing/2014/main" id="{F4D82352-31E3-0B00-846A-946BEDAACCE7}"/>
                </a:ext>
              </a:extLst>
            </p:cNvPr>
            <p:cNvSpPr txBox="1"/>
            <p:nvPr/>
          </p:nvSpPr>
          <p:spPr>
            <a:xfrm>
              <a:off x="3292250" y="3117471"/>
              <a:ext cx="1374701" cy="369332"/>
            </a:xfrm>
            <a:prstGeom prst="rect">
              <a:avLst/>
            </a:prstGeom>
            <a:noFill/>
          </p:spPr>
          <p:txBody>
            <a:bodyPr wrap="square" rtlCol="0">
              <a:spAutoFit/>
            </a:bodyPr>
            <a:lstStyle/>
            <a:p>
              <a:pPr algn="ctr"/>
              <a:r>
                <a:rPr lang="zh-CN" altLang="en-US" b="1" dirty="0">
                  <a:latin typeface="+mn-ea"/>
                </a:rPr>
                <a:t>万维网客户</a:t>
              </a:r>
            </a:p>
          </p:txBody>
        </p:sp>
        <p:sp>
          <p:nvSpPr>
            <p:cNvPr id="39" name="文本框 38">
              <a:extLst>
                <a:ext uri="{FF2B5EF4-FFF2-40B4-BE49-F238E27FC236}">
                  <a16:creationId xmlns:a16="http://schemas.microsoft.com/office/drawing/2014/main" id="{9657F291-6A72-CCCE-F3A0-431906FA3C07}"/>
                </a:ext>
              </a:extLst>
            </p:cNvPr>
            <p:cNvSpPr txBox="1"/>
            <p:nvPr/>
          </p:nvSpPr>
          <p:spPr>
            <a:xfrm>
              <a:off x="8425347" y="3109640"/>
              <a:ext cx="1595405" cy="369332"/>
            </a:xfrm>
            <a:prstGeom prst="rect">
              <a:avLst/>
            </a:prstGeom>
            <a:noFill/>
          </p:spPr>
          <p:txBody>
            <a:bodyPr wrap="square" rtlCol="0">
              <a:spAutoFit/>
            </a:bodyPr>
            <a:lstStyle/>
            <a:p>
              <a:pPr algn="ctr"/>
              <a:r>
                <a:rPr lang="zh-CN" altLang="en-US" b="1" dirty="0">
                  <a:latin typeface="+mn-ea"/>
                </a:rPr>
                <a:t>万维网服务器</a:t>
              </a:r>
            </a:p>
          </p:txBody>
        </p:sp>
      </p:grpSp>
      <p:grpSp>
        <p:nvGrpSpPr>
          <p:cNvPr id="86" name="组合 85">
            <a:extLst>
              <a:ext uri="{FF2B5EF4-FFF2-40B4-BE49-F238E27FC236}">
                <a16:creationId xmlns:a16="http://schemas.microsoft.com/office/drawing/2014/main" id="{86AC1264-2DF3-4CAC-9F79-3CBBE3B43DD9}"/>
              </a:ext>
            </a:extLst>
          </p:cNvPr>
          <p:cNvGrpSpPr/>
          <p:nvPr/>
        </p:nvGrpSpPr>
        <p:grpSpPr>
          <a:xfrm>
            <a:off x="3917601" y="5552194"/>
            <a:ext cx="5082752" cy="810798"/>
            <a:chOff x="3917601" y="5552194"/>
            <a:chExt cx="5082752" cy="810798"/>
          </a:xfrm>
        </p:grpSpPr>
        <p:sp>
          <p:nvSpPr>
            <p:cNvPr id="10" name="任意多边形: 形状 9">
              <a:extLst>
                <a:ext uri="{FF2B5EF4-FFF2-40B4-BE49-F238E27FC236}">
                  <a16:creationId xmlns:a16="http://schemas.microsoft.com/office/drawing/2014/main" id="{C7CDB2CC-EC02-75EC-9E75-C62CB1A67493}"/>
                </a:ext>
              </a:extLst>
            </p:cNvPr>
            <p:cNvSpPr/>
            <p:nvPr/>
          </p:nvSpPr>
          <p:spPr>
            <a:xfrm>
              <a:off x="3917601" y="5552194"/>
              <a:ext cx="5082752" cy="810798"/>
            </a:xfrm>
            <a:custGeom>
              <a:avLst/>
              <a:gdLst>
                <a:gd name="connsiteX0" fmla="*/ 5082752 w 5082752"/>
                <a:gd name="connsiteY0" fmla="*/ 0 h 1241110"/>
                <a:gd name="connsiteX1" fmla="*/ 5082752 w 5082752"/>
                <a:gd name="connsiteY1" fmla="*/ 616580 h 1241110"/>
                <a:gd name="connsiteX2" fmla="*/ 0 w 5082752"/>
                <a:gd name="connsiteY2" fmla="*/ 1241110 h 1241110"/>
                <a:gd name="connsiteX3" fmla="*/ 0 w 5082752"/>
                <a:gd name="connsiteY3" fmla="*/ 624531 h 1241110"/>
                <a:gd name="connsiteX4" fmla="*/ 5082752 w 5082752"/>
                <a:gd name="connsiteY4" fmla="*/ 0 h 12411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2752" h="1241110">
                  <a:moveTo>
                    <a:pt x="5082752" y="0"/>
                  </a:moveTo>
                  <a:lnTo>
                    <a:pt x="5082752" y="616580"/>
                  </a:lnTo>
                  <a:lnTo>
                    <a:pt x="0" y="1241110"/>
                  </a:lnTo>
                  <a:lnTo>
                    <a:pt x="0" y="624531"/>
                  </a:lnTo>
                  <a:lnTo>
                    <a:pt x="5082752" y="0"/>
                  </a:lnTo>
                  <a:close/>
                </a:path>
              </a:pathLst>
            </a:cu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1" dirty="0">
                <a:solidFill>
                  <a:schemeClr val="tx1"/>
                </a:solidFill>
                <a:latin typeface="+mn-ea"/>
              </a:endParaRPr>
            </a:p>
          </p:txBody>
        </p:sp>
        <p:sp>
          <p:nvSpPr>
            <p:cNvPr id="44" name="文本框 43">
              <a:extLst>
                <a:ext uri="{FF2B5EF4-FFF2-40B4-BE49-F238E27FC236}">
                  <a16:creationId xmlns:a16="http://schemas.microsoft.com/office/drawing/2014/main" id="{FF7ED9AC-34AE-65B0-E4AB-A85C81D41A33}"/>
                </a:ext>
              </a:extLst>
            </p:cNvPr>
            <p:cNvSpPr txBox="1"/>
            <p:nvPr/>
          </p:nvSpPr>
          <p:spPr>
            <a:xfrm rot="21304726">
              <a:off x="5863431" y="5774407"/>
              <a:ext cx="1840314" cy="369332"/>
            </a:xfrm>
            <a:prstGeom prst="rect">
              <a:avLst/>
            </a:prstGeom>
            <a:noFill/>
          </p:spPr>
          <p:txBody>
            <a:bodyPr wrap="square">
              <a:spAutoFit/>
            </a:bodyPr>
            <a:lstStyle/>
            <a:p>
              <a:pPr algn="ctr"/>
              <a:r>
                <a:rPr lang="en-US" altLang="zh-CN" b="1" dirty="0">
                  <a:solidFill>
                    <a:schemeClr val="bg1"/>
                  </a:solidFill>
                  <a:latin typeface="+mn-ea"/>
                </a:rPr>
                <a:t>HTTP</a:t>
              </a:r>
              <a:r>
                <a:rPr lang="zh-CN" altLang="en-US" b="1" dirty="0">
                  <a:solidFill>
                    <a:schemeClr val="bg1"/>
                  </a:solidFill>
                  <a:latin typeface="+mn-ea"/>
                </a:rPr>
                <a:t>响应报文</a:t>
              </a:r>
            </a:p>
          </p:txBody>
        </p:sp>
        <p:cxnSp>
          <p:nvCxnSpPr>
            <p:cNvPr id="45" name="直接箭头连接符 44">
              <a:extLst>
                <a:ext uri="{FF2B5EF4-FFF2-40B4-BE49-F238E27FC236}">
                  <a16:creationId xmlns:a16="http://schemas.microsoft.com/office/drawing/2014/main" id="{333B9BC5-F8B4-908D-2005-FD9C81BDE463}"/>
                </a:ext>
              </a:extLst>
            </p:cNvPr>
            <p:cNvCxnSpPr>
              <a:cxnSpLocks/>
            </p:cNvCxnSpPr>
            <p:nvPr/>
          </p:nvCxnSpPr>
          <p:spPr>
            <a:xfrm flipH="1">
              <a:off x="5009034" y="6025570"/>
              <a:ext cx="857789" cy="80566"/>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2" name="组合 81">
            <a:extLst>
              <a:ext uri="{FF2B5EF4-FFF2-40B4-BE49-F238E27FC236}">
                <a16:creationId xmlns:a16="http://schemas.microsoft.com/office/drawing/2014/main" id="{D7F096ED-04DD-53A9-DA97-7BDFABD23D65}"/>
              </a:ext>
            </a:extLst>
          </p:cNvPr>
          <p:cNvGrpSpPr/>
          <p:nvPr/>
        </p:nvGrpSpPr>
        <p:grpSpPr>
          <a:xfrm>
            <a:off x="3932581" y="3968317"/>
            <a:ext cx="5091137" cy="2484001"/>
            <a:chOff x="3932581" y="3968317"/>
            <a:chExt cx="5091137" cy="2484001"/>
          </a:xfrm>
        </p:grpSpPr>
        <p:cxnSp>
          <p:nvCxnSpPr>
            <p:cNvPr id="40" name="直接箭头连接符 39">
              <a:extLst>
                <a:ext uri="{FF2B5EF4-FFF2-40B4-BE49-F238E27FC236}">
                  <a16:creationId xmlns:a16="http://schemas.microsoft.com/office/drawing/2014/main" id="{AC91D24E-6D92-8147-4E88-B507C47FC0AD}"/>
                </a:ext>
              </a:extLst>
            </p:cNvPr>
            <p:cNvCxnSpPr>
              <a:cxnSpLocks/>
            </p:cNvCxnSpPr>
            <p:nvPr/>
          </p:nvCxnSpPr>
          <p:spPr>
            <a:xfrm flipH="1">
              <a:off x="9009122" y="3968317"/>
              <a:ext cx="14596" cy="2484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E603CB3E-E29B-C04E-121C-C6B1C53FF261}"/>
                </a:ext>
              </a:extLst>
            </p:cNvPr>
            <p:cNvCxnSpPr>
              <a:cxnSpLocks/>
            </p:cNvCxnSpPr>
            <p:nvPr/>
          </p:nvCxnSpPr>
          <p:spPr>
            <a:xfrm flipH="1">
              <a:off x="3932581" y="3968318"/>
              <a:ext cx="4105" cy="2484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8" name="组合 87">
            <a:extLst>
              <a:ext uri="{FF2B5EF4-FFF2-40B4-BE49-F238E27FC236}">
                <a16:creationId xmlns:a16="http://schemas.microsoft.com/office/drawing/2014/main" id="{AE3B7828-7747-94A6-8348-5CD0125F536B}"/>
              </a:ext>
            </a:extLst>
          </p:cNvPr>
          <p:cNvGrpSpPr/>
          <p:nvPr/>
        </p:nvGrpSpPr>
        <p:grpSpPr>
          <a:xfrm>
            <a:off x="2916460" y="4114859"/>
            <a:ext cx="1050701" cy="931347"/>
            <a:chOff x="2928900" y="4114859"/>
            <a:chExt cx="1050701" cy="931347"/>
          </a:xfrm>
        </p:grpSpPr>
        <p:cxnSp>
          <p:nvCxnSpPr>
            <p:cNvPr id="46" name="直接连接符 45">
              <a:extLst>
                <a:ext uri="{FF2B5EF4-FFF2-40B4-BE49-F238E27FC236}">
                  <a16:creationId xmlns:a16="http://schemas.microsoft.com/office/drawing/2014/main" id="{EA2E66B6-EF29-6356-1831-7227D7933217}"/>
                </a:ext>
              </a:extLst>
            </p:cNvPr>
            <p:cNvCxnSpPr>
              <a:cxnSpLocks/>
            </p:cNvCxnSpPr>
            <p:nvPr/>
          </p:nvCxnSpPr>
          <p:spPr>
            <a:xfrm flipH="1">
              <a:off x="2985796" y="4114859"/>
              <a:ext cx="9938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1E86F224-477C-AACA-DDD1-4CD7F6494DDF}"/>
                </a:ext>
              </a:extLst>
            </p:cNvPr>
            <p:cNvCxnSpPr>
              <a:cxnSpLocks/>
            </p:cNvCxnSpPr>
            <p:nvPr/>
          </p:nvCxnSpPr>
          <p:spPr>
            <a:xfrm flipH="1">
              <a:off x="2928900" y="5046206"/>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DC857BEA-BB04-E486-D5BE-EC9DF1094F97}"/>
                </a:ext>
              </a:extLst>
            </p:cNvPr>
            <p:cNvCxnSpPr/>
            <p:nvPr/>
          </p:nvCxnSpPr>
          <p:spPr>
            <a:xfrm>
              <a:off x="3480294" y="4133691"/>
              <a:ext cx="0" cy="912514"/>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23E672D3-4882-F33B-B3F2-DB0F8EC61D44}"/>
                </a:ext>
              </a:extLst>
            </p:cNvPr>
            <p:cNvSpPr txBox="1"/>
            <p:nvPr/>
          </p:nvSpPr>
          <p:spPr>
            <a:xfrm>
              <a:off x="3130342" y="4403036"/>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grpSp>
      <p:sp>
        <p:nvSpPr>
          <p:cNvPr id="63" name="文本框 62">
            <a:extLst>
              <a:ext uri="{FF2B5EF4-FFF2-40B4-BE49-F238E27FC236}">
                <a16:creationId xmlns:a16="http://schemas.microsoft.com/office/drawing/2014/main" id="{96AFD42E-1C5D-3B0B-E266-E370574665E5}"/>
              </a:ext>
            </a:extLst>
          </p:cNvPr>
          <p:cNvSpPr txBox="1"/>
          <p:nvPr/>
        </p:nvSpPr>
        <p:spPr>
          <a:xfrm rot="316527">
            <a:off x="6049824" y="4991645"/>
            <a:ext cx="1804499" cy="369332"/>
          </a:xfrm>
          <a:prstGeom prst="rect">
            <a:avLst/>
          </a:prstGeom>
          <a:noFill/>
        </p:spPr>
        <p:txBody>
          <a:bodyPr wrap="square" rtlCol="0">
            <a:spAutoFit/>
          </a:bodyPr>
          <a:lstStyle/>
          <a:p>
            <a:pPr algn="ctr"/>
            <a:r>
              <a:rPr lang="en-US" altLang="zh-CN" b="1" dirty="0">
                <a:solidFill>
                  <a:schemeClr val="accent1"/>
                </a:solidFill>
                <a:latin typeface="+mn-ea"/>
              </a:rPr>
              <a:t>HTTP</a:t>
            </a:r>
            <a:r>
              <a:rPr lang="zh-CN" altLang="en-US" b="1" dirty="0">
                <a:solidFill>
                  <a:schemeClr val="accent1"/>
                </a:solidFill>
                <a:latin typeface="+mn-ea"/>
              </a:rPr>
              <a:t>请求报文</a:t>
            </a:r>
          </a:p>
        </p:txBody>
      </p:sp>
      <p:grpSp>
        <p:nvGrpSpPr>
          <p:cNvPr id="83" name="组合 82">
            <a:extLst>
              <a:ext uri="{FF2B5EF4-FFF2-40B4-BE49-F238E27FC236}">
                <a16:creationId xmlns:a16="http://schemas.microsoft.com/office/drawing/2014/main" id="{A5689D7E-0FEE-AD40-7992-082FF0D28730}"/>
              </a:ext>
            </a:extLst>
          </p:cNvPr>
          <p:cNvGrpSpPr/>
          <p:nvPr/>
        </p:nvGrpSpPr>
        <p:grpSpPr>
          <a:xfrm>
            <a:off x="3930386" y="4114859"/>
            <a:ext cx="5114948" cy="1412743"/>
            <a:chOff x="3930386" y="4114859"/>
            <a:chExt cx="5114948" cy="1412743"/>
          </a:xfrm>
        </p:grpSpPr>
        <p:cxnSp>
          <p:nvCxnSpPr>
            <p:cNvPr id="41" name="直接箭头连接符 40">
              <a:extLst>
                <a:ext uri="{FF2B5EF4-FFF2-40B4-BE49-F238E27FC236}">
                  <a16:creationId xmlns:a16="http://schemas.microsoft.com/office/drawing/2014/main" id="{78610024-67ED-6717-44F2-771372F89A1A}"/>
                </a:ext>
              </a:extLst>
            </p:cNvPr>
            <p:cNvCxnSpPr>
              <a:cxnSpLocks/>
            </p:cNvCxnSpPr>
            <p:nvPr/>
          </p:nvCxnSpPr>
          <p:spPr>
            <a:xfrm>
              <a:off x="3936686" y="411485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CEC24985-9EC7-D890-2999-1ACA7B54CD8A}"/>
                </a:ext>
              </a:extLst>
            </p:cNvPr>
            <p:cNvCxnSpPr>
              <a:cxnSpLocks/>
            </p:cNvCxnSpPr>
            <p:nvPr/>
          </p:nvCxnSpPr>
          <p:spPr>
            <a:xfrm flipH="1">
              <a:off x="3930386" y="4590733"/>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0D9CA65C-68BD-AD33-33D2-E374380F11BE}"/>
                </a:ext>
              </a:extLst>
            </p:cNvPr>
            <p:cNvCxnSpPr>
              <a:cxnSpLocks/>
            </p:cNvCxnSpPr>
            <p:nvPr/>
          </p:nvCxnSpPr>
          <p:spPr>
            <a:xfrm>
              <a:off x="3962730" y="507212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0" name="组合 89">
            <a:extLst>
              <a:ext uri="{FF2B5EF4-FFF2-40B4-BE49-F238E27FC236}">
                <a16:creationId xmlns:a16="http://schemas.microsoft.com/office/drawing/2014/main" id="{588D500C-8978-9171-39F4-12D72ADF2AE2}"/>
              </a:ext>
            </a:extLst>
          </p:cNvPr>
          <p:cNvGrpSpPr/>
          <p:nvPr/>
        </p:nvGrpSpPr>
        <p:grpSpPr>
          <a:xfrm>
            <a:off x="2914655" y="5030179"/>
            <a:ext cx="1002073" cy="912514"/>
            <a:chOff x="1789200" y="5027191"/>
            <a:chExt cx="1002073" cy="912514"/>
          </a:xfrm>
        </p:grpSpPr>
        <p:cxnSp>
          <p:nvCxnSpPr>
            <p:cNvPr id="49" name="直接连接符 48">
              <a:extLst>
                <a:ext uri="{FF2B5EF4-FFF2-40B4-BE49-F238E27FC236}">
                  <a16:creationId xmlns:a16="http://schemas.microsoft.com/office/drawing/2014/main" id="{37D8F1E0-5559-9BCA-C5E6-E4F823CD3BD9}"/>
                </a:ext>
              </a:extLst>
            </p:cNvPr>
            <p:cNvCxnSpPr>
              <a:cxnSpLocks/>
            </p:cNvCxnSpPr>
            <p:nvPr/>
          </p:nvCxnSpPr>
          <p:spPr>
            <a:xfrm flipH="1">
              <a:off x="1789787" y="5938300"/>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62D4C18D-27E6-67C6-D820-9965CADF9EF9}"/>
                </a:ext>
              </a:extLst>
            </p:cNvPr>
            <p:cNvCxnSpPr/>
            <p:nvPr/>
          </p:nvCxnSpPr>
          <p:spPr>
            <a:xfrm>
              <a:off x="2339097" y="5027191"/>
              <a:ext cx="0" cy="912514"/>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EF639DEC-8CF3-05C4-B391-D9CD76BA3DE7}"/>
                </a:ext>
              </a:extLst>
            </p:cNvPr>
            <p:cNvSpPr txBox="1"/>
            <p:nvPr/>
          </p:nvSpPr>
          <p:spPr>
            <a:xfrm>
              <a:off x="1989145" y="5296536"/>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89" name="直接连接符 88">
              <a:extLst>
                <a:ext uri="{FF2B5EF4-FFF2-40B4-BE49-F238E27FC236}">
                  <a16:creationId xmlns:a16="http://schemas.microsoft.com/office/drawing/2014/main" id="{BE3587BE-504D-FA75-29AE-EBF9A4FB3C7F}"/>
                </a:ext>
              </a:extLst>
            </p:cNvPr>
            <p:cNvCxnSpPr>
              <a:cxnSpLocks/>
            </p:cNvCxnSpPr>
            <p:nvPr/>
          </p:nvCxnSpPr>
          <p:spPr>
            <a:xfrm flipH="1">
              <a:off x="1789200" y="5046205"/>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组合 92">
            <a:extLst>
              <a:ext uri="{FF2B5EF4-FFF2-40B4-BE49-F238E27FC236}">
                <a16:creationId xmlns:a16="http://schemas.microsoft.com/office/drawing/2014/main" id="{D9F2108B-7BC1-D38A-8774-5EF0906AC177}"/>
              </a:ext>
            </a:extLst>
          </p:cNvPr>
          <p:cNvGrpSpPr/>
          <p:nvPr/>
        </p:nvGrpSpPr>
        <p:grpSpPr>
          <a:xfrm>
            <a:off x="1478381" y="5919186"/>
            <a:ext cx="2445455" cy="434110"/>
            <a:chOff x="4217386" y="7308119"/>
            <a:chExt cx="2051144" cy="434110"/>
          </a:xfrm>
        </p:grpSpPr>
        <p:cxnSp>
          <p:nvCxnSpPr>
            <p:cNvPr id="56" name="直接箭头连接符 55">
              <a:extLst>
                <a:ext uri="{FF2B5EF4-FFF2-40B4-BE49-F238E27FC236}">
                  <a16:creationId xmlns:a16="http://schemas.microsoft.com/office/drawing/2014/main" id="{84B3DA7C-5286-E1A1-F541-3AF918B1FC3E}"/>
                </a:ext>
              </a:extLst>
            </p:cNvPr>
            <p:cNvCxnSpPr>
              <a:cxnSpLocks/>
            </p:cNvCxnSpPr>
            <p:nvPr/>
          </p:nvCxnSpPr>
          <p:spPr>
            <a:xfrm>
              <a:off x="5878926" y="7308119"/>
              <a:ext cx="0" cy="434110"/>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A5027156-EC04-6466-46EB-9FA0D6B4DF18}"/>
                </a:ext>
              </a:extLst>
            </p:cNvPr>
            <p:cNvSpPr txBox="1"/>
            <p:nvPr/>
          </p:nvSpPr>
          <p:spPr>
            <a:xfrm>
              <a:off x="4217386" y="7340508"/>
              <a:ext cx="1882924" cy="369332"/>
            </a:xfrm>
            <a:prstGeom prst="rect">
              <a:avLst/>
            </a:prstGeom>
            <a:noFill/>
          </p:spPr>
          <p:txBody>
            <a:bodyPr wrap="square" rtlCol="0">
              <a:spAutoFit/>
            </a:bodyPr>
            <a:lstStyle/>
            <a:p>
              <a:pPr algn="ctr"/>
              <a:r>
                <a:rPr lang="zh-CN" altLang="en-US" b="1" dirty="0">
                  <a:latin typeface="+mn-ea"/>
                </a:rPr>
                <a:t>文档的传输时延</a:t>
              </a:r>
            </a:p>
          </p:txBody>
        </p:sp>
        <p:cxnSp>
          <p:nvCxnSpPr>
            <p:cNvPr id="91" name="直接连接符 90">
              <a:extLst>
                <a:ext uri="{FF2B5EF4-FFF2-40B4-BE49-F238E27FC236}">
                  <a16:creationId xmlns:a16="http://schemas.microsoft.com/office/drawing/2014/main" id="{AA0B15CB-315D-FED3-8608-2D6FE9ADF5A6}"/>
                </a:ext>
              </a:extLst>
            </p:cNvPr>
            <p:cNvCxnSpPr>
              <a:cxnSpLocks/>
            </p:cNvCxnSpPr>
            <p:nvPr/>
          </p:nvCxnSpPr>
          <p:spPr>
            <a:xfrm flipH="1">
              <a:off x="5267044" y="7330043"/>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4FD1988E-0F9A-A107-0FE0-7BE994D0C06D}"/>
                </a:ext>
              </a:extLst>
            </p:cNvPr>
            <p:cNvCxnSpPr>
              <a:cxnSpLocks/>
            </p:cNvCxnSpPr>
            <p:nvPr/>
          </p:nvCxnSpPr>
          <p:spPr>
            <a:xfrm flipH="1">
              <a:off x="5267044" y="7742229"/>
              <a:ext cx="10014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DFA5889F-CB15-9DAC-ED4E-BE6F2EDAE18B}"/>
              </a:ext>
            </a:extLst>
          </p:cNvPr>
          <p:cNvGrpSpPr/>
          <p:nvPr/>
        </p:nvGrpSpPr>
        <p:grpSpPr>
          <a:xfrm>
            <a:off x="329678" y="4114859"/>
            <a:ext cx="3586463" cy="2237567"/>
            <a:chOff x="329678" y="4114859"/>
            <a:chExt cx="3586463" cy="2237567"/>
          </a:xfrm>
        </p:grpSpPr>
        <p:cxnSp>
          <p:nvCxnSpPr>
            <p:cNvPr id="58" name="直接箭头连接符 57">
              <a:extLst>
                <a:ext uri="{FF2B5EF4-FFF2-40B4-BE49-F238E27FC236}">
                  <a16:creationId xmlns:a16="http://schemas.microsoft.com/office/drawing/2014/main" id="{3395F9CB-DBBC-E2F9-BDFA-26D1E635366B}"/>
                </a:ext>
              </a:extLst>
            </p:cNvPr>
            <p:cNvCxnSpPr>
              <a:cxnSpLocks/>
            </p:cNvCxnSpPr>
            <p:nvPr/>
          </p:nvCxnSpPr>
          <p:spPr>
            <a:xfrm>
              <a:off x="1699921" y="4114859"/>
              <a:ext cx="0" cy="2212066"/>
            </a:xfrm>
            <a:prstGeom prst="straightConnector1">
              <a:avLst/>
            </a:prstGeom>
            <a:ln w="127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13351DE5-6AAC-8F1C-353E-D6316FE6492D}"/>
                </a:ext>
              </a:extLst>
            </p:cNvPr>
            <p:cNvSpPr txBox="1"/>
            <p:nvPr/>
          </p:nvSpPr>
          <p:spPr>
            <a:xfrm>
              <a:off x="329678" y="4765818"/>
              <a:ext cx="2558276" cy="923330"/>
            </a:xfrm>
            <a:prstGeom prst="rect">
              <a:avLst/>
            </a:prstGeom>
            <a:solidFill>
              <a:schemeClr val="bg1"/>
            </a:solidFill>
          </p:spPr>
          <p:txBody>
            <a:bodyPr wrap="square" rtlCol="0">
              <a:spAutoFit/>
            </a:bodyPr>
            <a:lstStyle/>
            <a:p>
              <a:pPr algn="ctr"/>
              <a:r>
                <a:rPr lang="zh-CN" altLang="en-US" b="1" dirty="0">
                  <a:latin typeface="+mn-ea"/>
                </a:rPr>
                <a:t>请求一个万维网文档</a:t>
              </a:r>
              <a:endParaRPr lang="en-US" altLang="zh-CN" b="1" dirty="0">
                <a:latin typeface="+mn-ea"/>
              </a:endParaRPr>
            </a:p>
            <a:p>
              <a:pPr algn="ctr"/>
              <a:r>
                <a:rPr lang="zh-CN" altLang="en-US" b="1" dirty="0">
                  <a:latin typeface="+mn-ea"/>
                </a:rPr>
                <a:t>所需的时间</a:t>
              </a:r>
              <a:endParaRPr lang="en-US" altLang="zh-CN" b="1" dirty="0">
                <a:latin typeface="+mn-ea"/>
              </a:endParaRPr>
            </a:p>
            <a:p>
              <a:pPr algn="ctr"/>
              <a:r>
                <a:rPr lang="en-US" altLang="zh-CN" b="1" dirty="0">
                  <a:latin typeface="+mn-ea"/>
                </a:rPr>
                <a:t>2RTT+</a:t>
              </a:r>
              <a:r>
                <a:rPr lang="zh-CN" altLang="en-US" b="1" dirty="0">
                  <a:latin typeface="+mn-ea"/>
                </a:rPr>
                <a:t>文档的传输时延</a:t>
              </a:r>
            </a:p>
          </p:txBody>
        </p:sp>
        <p:cxnSp>
          <p:nvCxnSpPr>
            <p:cNvPr id="60" name="直接连接符 59">
              <a:extLst>
                <a:ext uri="{FF2B5EF4-FFF2-40B4-BE49-F238E27FC236}">
                  <a16:creationId xmlns:a16="http://schemas.microsoft.com/office/drawing/2014/main" id="{14745324-8F33-84F4-011E-9FA7D596E864}"/>
                </a:ext>
              </a:extLst>
            </p:cNvPr>
            <p:cNvCxnSpPr>
              <a:cxnSpLocks/>
            </p:cNvCxnSpPr>
            <p:nvPr/>
          </p:nvCxnSpPr>
          <p:spPr>
            <a:xfrm flipH="1">
              <a:off x="461906" y="6352426"/>
              <a:ext cx="34542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8BD356E6-43D9-6E7E-1EA5-B36ED1C78B2A}"/>
                </a:ext>
              </a:extLst>
            </p:cNvPr>
            <p:cNvCxnSpPr>
              <a:cxnSpLocks/>
            </p:cNvCxnSpPr>
            <p:nvPr/>
          </p:nvCxnSpPr>
          <p:spPr>
            <a:xfrm flipH="1">
              <a:off x="461906" y="4119927"/>
              <a:ext cx="34542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55525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 calcmode="lin" valueType="num">
                                      <p:cBhvr>
                                        <p:cTn id="20" dur="500" fill="hold"/>
                                        <p:tgtEl>
                                          <p:spTgt spid="7"/>
                                        </p:tgtEl>
                                        <p:attrNameLst>
                                          <p:attrName>style.rotation</p:attrName>
                                        </p:attrNameLst>
                                      </p:cBhvr>
                                      <p:tavLst>
                                        <p:tav tm="0">
                                          <p:val>
                                            <p:fltVal val="360"/>
                                          </p:val>
                                        </p:tav>
                                        <p:tav tm="100000">
                                          <p:val>
                                            <p:fltVal val="0"/>
                                          </p:val>
                                        </p:tav>
                                      </p:tavLst>
                                    </p:anim>
                                    <p:animEffect transition="in" filter="fade">
                                      <p:cBhvr>
                                        <p:cTn id="21" dur="500"/>
                                        <p:tgtEl>
                                          <p:spTgt spid="7"/>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en-US" altLang="zh-CN" b="1" dirty="0"/>
              <a:t>HTTP/1.0</a:t>
            </a:r>
            <a:r>
              <a:rPr lang="zh-CN" altLang="en-US" b="1" dirty="0"/>
              <a:t>采用</a:t>
            </a:r>
            <a:r>
              <a:rPr lang="zh-CN" altLang="en-US" b="1" dirty="0">
                <a:solidFill>
                  <a:srgbClr val="FF0000"/>
                </a:solidFill>
              </a:rPr>
              <a:t>非持续连接</a:t>
            </a:r>
            <a:r>
              <a:rPr lang="zh-CN" altLang="en-US" b="1" dirty="0"/>
              <a:t>方式。在该方式下，每次浏览器要请求一个文件都要与服务器建立</a:t>
            </a:r>
            <a:r>
              <a:rPr lang="en-US" altLang="zh-CN" b="1" dirty="0"/>
              <a:t>TCP</a:t>
            </a:r>
            <a:r>
              <a:rPr lang="zh-CN" altLang="en-US" b="1" dirty="0"/>
              <a:t>连接，当收到响应后就立即关闭连接。</a:t>
            </a:r>
            <a:endParaRPr lang="en-US" altLang="zh-CN" b="1" dirty="0"/>
          </a:p>
        </p:txBody>
      </p:sp>
      <p:sp>
        <p:nvSpPr>
          <p:cNvPr id="5" name="矩形 4">
            <a:extLst>
              <a:ext uri="{FF2B5EF4-FFF2-40B4-BE49-F238E27FC236}">
                <a16:creationId xmlns:a16="http://schemas.microsoft.com/office/drawing/2014/main" id="{536B7519-7CA9-7410-4EEA-F2B51A023D64}"/>
              </a:ext>
            </a:extLst>
          </p:cNvPr>
          <p:cNvSpPr/>
          <p:nvPr/>
        </p:nvSpPr>
        <p:spPr>
          <a:xfrm>
            <a:off x="1407235" y="1909137"/>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íşlïḍè">
            <a:extLst>
              <a:ext uri="{FF2B5EF4-FFF2-40B4-BE49-F238E27FC236}">
                <a16:creationId xmlns:a16="http://schemas.microsoft.com/office/drawing/2014/main" id="{1A803FF9-A228-E053-7E59-36967F5CC2C9}"/>
              </a:ext>
            </a:extLst>
          </p:cNvPr>
          <p:cNvSpPr txBox="1"/>
          <p:nvPr/>
        </p:nvSpPr>
        <p:spPr>
          <a:xfrm>
            <a:off x="1684992" y="1830797"/>
            <a:ext cx="10202208" cy="670632"/>
          </a:xfrm>
          <a:prstGeom prst="rect">
            <a:avLst/>
          </a:prstGeom>
          <a:noFill/>
        </p:spPr>
        <p:txBody>
          <a:bodyPr wrap="square" lIns="91440" tIns="45720" rIns="91440" bIns="45720" anchor="ctr">
            <a:noAutofit/>
          </a:bodyPr>
          <a:lstStyle/>
          <a:p>
            <a:r>
              <a:rPr lang="zh-CN" altLang="en-US" b="1" dirty="0">
                <a:solidFill>
                  <a:srgbClr val="FF0000"/>
                </a:solidFill>
              </a:rPr>
              <a:t>每请求一个文档就要有两倍的</a:t>
            </a:r>
            <a:r>
              <a:rPr lang="en-US" altLang="zh-CN" b="1" dirty="0">
                <a:solidFill>
                  <a:srgbClr val="FF0000"/>
                </a:solidFill>
              </a:rPr>
              <a:t>RTT</a:t>
            </a:r>
            <a:r>
              <a:rPr lang="zh-CN" altLang="en-US" b="1" dirty="0">
                <a:solidFill>
                  <a:srgbClr val="FF0000"/>
                </a:solidFill>
              </a:rPr>
              <a:t>的开销</a:t>
            </a:r>
            <a:r>
              <a:rPr lang="zh-CN" altLang="en-US" b="1" dirty="0"/>
              <a:t>。若一个网页上有很多引用对象（例如图片等），那么请求每一个对象都需要花费</a:t>
            </a:r>
            <a:r>
              <a:rPr lang="en-US" altLang="zh-CN" b="1" dirty="0"/>
              <a:t>2RTT</a:t>
            </a:r>
            <a:r>
              <a:rPr lang="zh-CN" altLang="en-US" b="1" dirty="0"/>
              <a:t>的时间。</a:t>
            </a:r>
            <a:endParaRPr lang="en-US" altLang="zh-CN" b="1" dirty="0"/>
          </a:p>
        </p:txBody>
      </p:sp>
      <p:sp>
        <p:nvSpPr>
          <p:cNvPr id="7" name="矩形 6">
            <a:extLst>
              <a:ext uri="{FF2B5EF4-FFF2-40B4-BE49-F238E27FC236}">
                <a16:creationId xmlns:a16="http://schemas.microsoft.com/office/drawing/2014/main" id="{F4E20305-DD2F-BB52-8BFB-402C88ED099F}"/>
              </a:ext>
            </a:extLst>
          </p:cNvPr>
          <p:cNvSpPr/>
          <p:nvPr/>
        </p:nvSpPr>
        <p:spPr>
          <a:xfrm>
            <a:off x="1407234" y="2569368"/>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íşlïḍè">
            <a:extLst>
              <a:ext uri="{FF2B5EF4-FFF2-40B4-BE49-F238E27FC236}">
                <a16:creationId xmlns:a16="http://schemas.microsoft.com/office/drawing/2014/main" id="{FB80F377-430A-A2EE-E8B4-BA3669ED48C7}"/>
              </a:ext>
            </a:extLst>
          </p:cNvPr>
          <p:cNvSpPr txBox="1"/>
          <p:nvPr/>
        </p:nvSpPr>
        <p:spPr>
          <a:xfrm>
            <a:off x="1684992" y="2488306"/>
            <a:ext cx="10202208" cy="670632"/>
          </a:xfrm>
          <a:prstGeom prst="rect">
            <a:avLst/>
          </a:prstGeom>
          <a:noFill/>
        </p:spPr>
        <p:txBody>
          <a:bodyPr wrap="square" lIns="91440" tIns="45720" rIns="91440" bIns="45720" anchor="ctr">
            <a:noAutofit/>
          </a:bodyPr>
          <a:lstStyle/>
          <a:p>
            <a:r>
              <a:rPr lang="zh-CN" altLang="en-US" b="1" dirty="0"/>
              <a:t>为了减小时延，</a:t>
            </a:r>
            <a:r>
              <a:rPr lang="zh-CN" altLang="en-US" b="1" dirty="0">
                <a:solidFill>
                  <a:srgbClr val="FF0000"/>
                </a:solidFill>
              </a:rPr>
              <a:t>浏览器通常会建立多个并行的</a:t>
            </a:r>
            <a:r>
              <a:rPr lang="en-US" altLang="zh-CN" b="1" dirty="0">
                <a:solidFill>
                  <a:srgbClr val="FF0000"/>
                </a:solidFill>
              </a:rPr>
              <a:t>TCP</a:t>
            </a:r>
            <a:r>
              <a:rPr lang="zh-CN" altLang="en-US" b="1" dirty="0">
                <a:solidFill>
                  <a:srgbClr val="FF0000"/>
                </a:solidFill>
              </a:rPr>
              <a:t>连接同时请求多个对象</a:t>
            </a:r>
            <a:r>
              <a:rPr lang="zh-CN" altLang="en-US" b="1" dirty="0"/>
              <a:t>。但是，这会大量占用万维网服务器的资源，特别是万维网服务器往往要同时服务于大量客户的请求，这会使其负担很重。</a:t>
            </a:r>
            <a:endParaRPr lang="en-US" altLang="zh-CN" b="1" dirty="0"/>
          </a:p>
        </p:txBody>
      </p:sp>
      <p:sp>
        <p:nvSpPr>
          <p:cNvPr id="13" name="矩形 12">
            <a:extLst>
              <a:ext uri="{FF2B5EF4-FFF2-40B4-BE49-F238E27FC236}">
                <a16:creationId xmlns:a16="http://schemas.microsoft.com/office/drawing/2014/main" id="{2DF67D83-D4EB-8735-C7CD-CCDEAB772F37}"/>
              </a:ext>
            </a:extLst>
          </p:cNvPr>
          <p:cNvSpPr/>
          <p:nvPr/>
        </p:nvSpPr>
        <p:spPr>
          <a:xfrm>
            <a:off x="1035333" y="322115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íşlïḍè">
            <a:extLst>
              <a:ext uri="{FF2B5EF4-FFF2-40B4-BE49-F238E27FC236}">
                <a16:creationId xmlns:a16="http://schemas.microsoft.com/office/drawing/2014/main" id="{5386267A-8D61-31BC-DA43-56DAC5E083CC}"/>
              </a:ext>
            </a:extLst>
          </p:cNvPr>
          <p:cNvSpPr txBox="1"/>
          <p:nvPr/>
        </p:nvSpPr>
        <p:spPr>
          <a:xfrm>
            <a:off x="1313090" y="3140093"/>
            <a:ext cx="10593443" cy="965375"/>
          </a:xfrm>
          <a:prstGeom prst="rect">
            <a:avLst/>
          </a:prstGeom>
          <a:noFill/>
        </p:spPr>
        <p:txBody>
          <a:bodyPr wrap="square" lIns="91440" tIns="45720" rIns="91440" bIns="45720" anchor="ctr">
            <a:noAutofit/>
          </a:bodyPr>
          <a:lstStyle/>
          <a:p>
            <a:r>
              <a:rPr lang="en-US" altLang="zh-CN" b="1" dirty="0"/>
              <a:t>HTTP/1.1</a:t>
            </a:r>
            <a:r>
              <a:rPr lang="zh-CN" altLang="en-US" b="1" dirty="0"/>
              <a:t>采用</a:t>
            </a:r>
            <a:r>
              <a:rPr lang="zh-CN" altLang="en-US" b="1" dirty="0">
                <a:solidFill>
                  <a:srgbClr val="FF0000"/>
                </a:solidFill>
              </a:rPr>
              <a:t>持续连接</a:t>
            </a:r>
            <a:r>
              <a:rPr lang="zh-CN" altLang="en-US" b="1" dirty="0"/>
              <a:t>方式。在该方式下，万维网服务器在发送响应后仍然保持这条连接，使同一个客户（浏览器）和该服务器可以继续在这条连接上传送后续的</a:t>
            </a:r>
            <a:r>
              <a:rPr lang="en-US" altLang="zh-CN" b="1" dirty="0"/>
              <a:t>HTTP</a:t>
            </a:r>
            <a:r>
              <a:rPr lang="zh-CN" altLang="en-US" b="1" dirty="0"/>
              <a:t>请求报文和响应报文。这并不局限于传送同一个页面上引用的对象，而是只要这些文档都在同一个服务器上就行。</a:t>
            </a:r>
            <a:endParaRPr lang="en-US" altLang="zh-CN" b="1" dirty="0"/>
          </a:p>
        </p:txBody>
      </p:sp>
      <p:sp>
        <p:nvSpPr>
          <p:cNvPr id="16" name="矩形 15">
            <a:extLst>
              <a:ext uri="{FF2B5EF4-FFF2-40B4-BE49-F238E27FC236}">
                <a16:creationId xmlns:a16="http://schemas.microsoft.com/office/drawing/2014/main" id="{81111F89-CA83-FC27-CC55-C70897DC793E}"/>
              </a:ext>
            </a:extLst>
          </p:cNvPr>
          <p:cNvSpPr/>
          <p:nvPr/>
        </p:nvSpPr>
        <p:spPr>
          <a:xfrm>
            <a:off x="1407234" y="4186131"/>
            <a:ext cx="256976" cy="2569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íşlïḍè">
            <a:extLst>
              <a:ext uri="{FF2B5EF4-FFF2-40B4-BE49-F238E27FC236}">
                <a16:creationId xmlns:a16="http://schemas.microsoft.com/office/drawing/2014/main" id="{605F3B2E-BC99-EF0F-C45D-8D0774CD14ED}"/>
              </a:ext>
            </a:extLst>
          </p:cNvPr>
          <p:cNvSpPr txBox="1"/>
          <p:nvPr/>
        </p:nvSpPr>
        <p:spPr>
          <a:xfrm>
            <a:off x="1684992" y="4105069"/>
            <a:ext cx="10202208" cy="1277924"/>
          </a:xfrm>
          <a:prstGeom prst="rect">
            <a:avLst/>
          </a:prstGeom>
          <a:noFill/>
        </p:spPr>
        <p:txBody>
          <a:bodyPr wrap="square" lIns="91440" tIns="45720" rIns="91440" bIns="45720" anchor="ctr">
            <a:noAutofit/>
          </a:bodyPr>
          <a:lstStyle/>
          <a:p>
            <a:r>
              <a:rPr lang="zh-CN" altLang="en-US" b="1" dirty="0"/>
              <a:t>为了进一步提高效率，</a:t>
            </a:r>
            <a:r>
              <a:rPr lang="en-US" altLang="zh-CN" b="1" dirty="0"/>
              <a:t>HTTP/1.1</a:t>
            </a:r>
            <a:r>
              <a:rPr lang="zh-CN" altLang="en-US" b="1" dirty="0"/>
              <a:t>的持续连接还可以使用</a:t>
            </a:r>
            <a:r>
              <a:rPr lang="zh-CN" altLang="en-US" b="1" dirty="0">
                <a:solidFill>
                  <a:srgbClr val="FF0000"/>
                </a:solidFill>
              </a:rPr>
              <a:t>流水线</a:t>
            </a:r>
            <a:r>
              <a:rPr lang="zh-CN" altLang="en-US" b="1" dirty="0"/>
              <a:t>方式工作，即浏览器在收到</a:t>
            </a:r>
            <a:r>
              <a:rPr lang="en-US" altLang="zh-CN" b="1" dirty="0"/>
              <a:t>HTTP</a:t>
            </a:r>
            <a:r>
              <a:rPr lang="zh-CN" altLang="en-US" b="1" dirty="0"/>
              <a:t>的响应报文之前就能够连续发送多个请求报文。这样的一个接一个的请求报文到达服务器后，服务器就发回一个接一个的响应报文。这样就节省了很多个</a:t>
            </a:r>
            <a:r>
              <a:rPr lang="en-US" altLang="zh-CN" b="1" dirty="0"/>
              <a:t>RTT</a:t>
            </a:r>
            <a:r>
              <a:rPr lang="zh-CN" altLang="en-US" b="1" dirty="0"/>
              <a:t>时间，使</a:t>
            </a:r>
            <a:r>
              <a:rPr lang="en-US" altLang="zh-CN" b="1" dirty="0"/>
              <a:t>TCP</a:t>
            </a:r>
            <a:r>
              <a:rPr lang="zh-CN" altLang="en-US" b="1" dirty="0"/>
              <a:t>连接中的空闲时间减少，提高了下载文档的效率。</a:t>
            </a:r>
            <a:endParaRPr lang="en-US" altLang="zh-CN" b="1" dirty="0"/>
          </a:p>
        </p:txBody>
      </p:sp>
    </p:spTree>
    <p:custDataLst>
      <p:tags r:id="rId1"/>
    </p:custDataLst>
    <p:extLst>
      <p:ext uri="{BB962C8B-B14F-4D97-AF65-F5344CB8AC3E}">
        <p14:creationId xmlns:p14="http://schemas.microsoft.com/office/powerpoint/2010/main" val="5330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 calcmode="lin" valueType="num">
                                      <p:cBhvr>
                                        <p:cTn id="9" dur="500" fill="hold"/>
                                        <p:tgtEl>
                                          <p:spTgt spid="13"/>
                                        </p:tgtEl>
                                        <p:attrNameLst>
                                          <p:attrName>style.rotation</p:attrName>
                                        </p:attrNameLst>
                                      </p:cBhvr>
                                      <p:tavLst>
                                        <p:tav tm="0">
                                          <p:val>
                                            <p:fltVal val="360"/>
                                          </p:val>
                                        </p:tav>
                                        <p:tav tm="100000">
                                          <p:val>
                                            <p:fltVal val="0"/>
                                          </p:val>
                                        </p:tav>
                                      </p:tavLst>
                                    </p:anim>
                                    <p:animEffect transition="in" filter="fade">
                                      <p:cBhvr>
                                        <p:cTn id="10" dur="500"/>
                                        <p:tgtEl>
                                          <p:spTgt spid="13"/>
                                        </p:tgtEl>
                                      </p:cBhvr>
                                    </p:animEffect>
                                  </p:childTnLst>
                                </p:cTn>
                              </p:par>
                            </p:childTnLst>
                          </p:cTn>
                        </p:par>
                        <p:par>
                          <p:cTn id="11" fill="hold">
                            <p:stCondLst>
                              <p:cond delay="5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ppt_w</p:attrName>
                                        </p:attrNameLst>
                                      </p:cBhvr>
                                      <p:tavLst>
                                        <p:tav tm="0">
                                          <p:val>
                                            <p:fltVal val="0"/>
                                          </p:val>
                                        </p:tav>
                                        <p:tav tm="100000">
                                          <p:val>
                                            <p:strVal val="#ppt_w"/>
                                          </p:val>
                                        </p:tav>
                                      </p:tavLst>
                                    </p:anim>
                                    <p:anim calcmode="lin" valueType="num">
                                      <p:cBhvr>
                                        <p:cTn id="19" dur="500" fill="hold"/>
                                        <p:tgtEl>
                                          <p:spTgt spid="16"/>
                                        </p:tgtEl>
                                        <p:attrNameLst>
                                          <p:attrName>ppt_h</p:attrName>
                                        </p:attrNameLst>
                                      </p:cBhvr>
                                      <p:tavLst>
                                        <p:tav tm="0">
                                          <p:val>
                                            <p:fltVal val="0"/>
                                          </p:val>
                                        </p:tav>
                                        <p:tav tm="100000">
                                          <p:val>
                                            <p:strVal val="#ppt_h"/>
                                          </p:val>
                                        </p:tav>
                                      </p:tavLst>
                                    </p:anim>
                                    <p:anim calcmode="lin" valueType="num">
                                      <p:cBhvr>
                                        <p:cTn id="20" dur="500" fill="hold"/>
                                        <p:tgtEl>
                                          <p:spTgt spid="16"/>
                                        </p:tgtEl>
                                        <p:attrNameLst>
                                          <p:attrName>style.rotation</p:attrName>
                                        </p:attrNameLst>
                                      </p:cBhvr>
                                      <p:tavLst>
                                        <p:tav tm="0">
                                          <p:val>
                                            <p:fltVal val="360"/>
                                          </p:val>
                                        </p:tav>
                                        <p:tav tm="100000">
                                          <p:val>
                                            <p:fltVal val="0"/>
                                          </p:val>
                                        </p:tav>
                                      </p:tavLst>
                                    </p:anim>
                                    <p:animEffect transition="in" filter="fade">
                                      <p:cBhvr>
                                        <p:cTn id="21" dur="500"/>
                                        <p:tgtEl>
                                          <p:spTgt spid="16"/>
                                        </p:tgtEl>
                                      </p:cBhvr>
                                    </p:animEffect>
                                  </p:childTnLst>
                                </p:cTn>
                              </p:par>
                            </p:childTnLst>
                          </p:cTn>
                        </p:par>
                        <p:par>
                          <p:cTn id="22" fill="hold">
                            <p:stCondLst>
                              <p:cond delay="500"/>
                            </p:stCondLst>
                            <p:childTnLst>
                              <p:par>
                                <p:cTn id="23" presetID="1" presetClass="entr" presetSubtype="0" fill="hold" grpId="0" nodeType="afterEffect">
                                  <p:stCondLst>
                                    <p:cond delay="0"/>
                                  </p:stCondLst>
                                  <p:iterate type="lt">
                                    <p:tmAbs val="100"/>
                                  </p:iterate>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animBg="1"/>
      <p:bldP spid="1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53" name="组合 52">
            <a:extLst>
              <a:ext uri="{FF2B5EF4-FFF2-40B4-BE49-F238E27FC236}">
                <a16:creationId xmlns:a16="http://schemas.microsoft.com/office/drawing/2014/main" id="{13AB57AF-4C89-0E14-D729-282F0A480A59}"/>
              </a:ext>
            </a:extLst>
          </p:cNvPr>
          <p:cNvGrpSpPr/>
          <p:nvPr/>
        </p:nvGrpSpPr>
        <p:grpSpPr>
          <a:xfrm>
            <a:off x="329943" y="2220150"/>
            <a:ext cx="1950719" cy="887101"/>
            <a:chOff x="329943" y="2220150"/>
            <a:chExt cx="1950719" cy="887101"/>
          </a:xfrm>
        </p:grpSpPr>
        <p:sp>
          <p:nvSpPr>
            <p:cNvPr id="6" name="矩形 5">
              <a:extLst>
                <a:ext uri="{FF2B5EF4-FFF2-40B4-BE49-F238E27FC236}">
                  <a16:creationId xmlns:a16="http://schemas.microsoft.com/office/drawing/2014/main" id="{A1CBC5DA-A09F-0948-48F7-47D5426130C7}"/>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矩形 6">
              <a:extLst>
                <a:ext uri="{FF2B5EF4-FFF2-40B4-BE49-F238E27FC236}">
                  <a16:creationId xmlns:a16="http://schemas.microsoft.com/office/drawing/2014/main" id="{F5F6A2D8-45D0-A454-E1B8-DF79F331B775}"/>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8" name="文本框 7">
              <a:extLst>
                <a:ext uri="{FF2B5EF4-FFF2-40B4-BE49-F238E27FC236}">
                  <a16:creationId xmlns:a16="http://schemas.microsoft.com/office/drawing/2014/main" id="{C3085B90-5B4C-033A-AB4F-E8724CA0E26A}"/>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3" name="文本框 12">
              <a:extLst>
                <a:ext uri="{FF2B5EF4-FFF2-40B4-BE49-F238E27FC236}">
                  <a16:creationId xmlns:a16="http://schemas.microsoft.com/office/drawing/2014/main" id="{5220BE33-3606-A3F4-1931-08656061E9EA}"/>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14" name="矩形 13">
            <a:extLst>
              <a:ext uri="{FF2B5EF4-FFF2-40B4-BE49-F238E27FC236}">
                <a16:creationId xmlns:a16="http://schemas.microsoft.com/office/drawing/2014/main" id="{30AC5AF9-58B1-7242-398A-176EA1ABDCF5}"/>
              </a:ext>
            </a:extLst>
          </p:cNvPr>
          <p:cNvSpPr/>
          <p:nvPr/>
        </p:nvSpPr>
        <p:spPr>
          <a:xfrm>
            <a:off x="1770474"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方 法</a:t>
            </a:r>
          </a:p>
        </p:txBody>
      </p:sp>
      <p:sp>
        <p:nvSpPr>
          <p:cNvPr id="16" name="矩形 15">
            <a:extLst>
              <a:ext uri="{FF2B5EF4-FFF2-40B4-BE49-F238E27FC236}">
                <a16:creationId xmlns:a16="http://schemas.microsoft.com/office/drawing/2014/main" id="{4B95BA0D-88EB-FEDD-F44E-FA8757ACF21C}"/>
              </a:ext>
            </a:extLst>
          </p:cNvPr>
          <p:cNvSpPr/>
          <p:nvPr/>
        </p:nvSpPr>
        <p:spPr>
          <a:xfrm>
            <a:off x="25629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矩形 16">
            <a:extLst>
              <a:ext uri="{FF2B5EF4-FFF2-40B4-BE49-F238E27FC236}">
                <a16:creationId xmlns:a16="http://schemas.microsoft.com/office/drawing/2014/main" id="{4CD43D50-564B-6416-F29E-302EEC855967}"/>
              </a:ext>
            </a:extLst>
          </p:cNvPr>
          <p:cNvSpPr/>
          <p:nvPr/>
        </p:nvSpPr>
        <p:spPr>
          <a:xfrm>
            <a:off x="26935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URL</a:t>
            </a:r>
            <a:endParaRPr lang="zh-CN" altLang="en-US" b="1" dirty="0">
              <a:solidFill>
                <a:schemeClr val="tx1"/>
              </a:solidFill>
              <a:latin typeface="+mn-ea"/>
            </a:endParaRPr>
          </a:p>
        </p:txBody>
      </p:sp>
      <p:sp>
        <p:nvSpPr>
          <p:cNvPr id="20" name="矩形 19">
            <a:extLst>
              <a:ext uri="{FF2B5EF4-FFF2-40B4-BE49-F238E27FC236}">
                <a16:creationId xmlns:a16="http://schemas.microsoft.com/office/drawing/2014/main" id="{781A2040-ED2F-6A40-9774-22622D1F952F}"/>
              </a:ext>
            </a:extLst>
          </p:cNvPr>
          <p:cNvSpPr/>
          <p:nvPr/>
        </p:nvSpPr>
        <p:spPr>
          <a:xfrm>
            <a:off x="36079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21" name="矩形 20">
            <a:extLst>
              <a:ext uri="{FF2B5EF4-FFF2-40B4-BE49-F238E27FC236}">
                <a16:creationId xmlns:a16="http://schemas.microsoft.com/office/drawing/2014/main" id="{709B5240-65DE-749F-1C92-B9021D05E932}"/>
              </a:ext>
            </a:extLst>
          </p:cNvPr>
          <p:cNvSpPr/>
          <p:nvPr/>
        </p:nvSpPr>
        <p:spPr>
          <a:xfrm>
            <a:off x="34773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21">
            <a:extLst>
              <a:ext uri="{FF2B5EF4-FFF2-40B4-BE49-F238E27FC236}">
                <a16:creationId xmlns:a16="http://schemas.microsoft.com/office/drawing/2014/main" id="{91EFE4A4-C56C-1E35-DFB5-61B8A59E2102}"/>
              </a:ext>
            </a:extLst>
          </p:cNvPr>
          <p:cNvSpPr/>
          <p:nvPr/>
        </p:nvSpPr>
        <p:spPr>
          <a:xfrm>
            <a:off x="4391752" y="358844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23" name="矩形 22">
            <a:extLst>
              <a:ext uri="{FF2B5EF4-FFF2-40B4-BE49-F238E27FC236}">
                <a16:creationId xmlns:a16="http://schemas.microsoft.com/office/drawing/2014/main" id="{AAFFB692-49A1-D832-57ED-894069B0B9EB}"/>
              </a:ext>
            </a:extLst>
          </p:cNvPr>
          <p:cNvSpPr/>
          <p:nvPr/>
        </p:nvSpPr>
        <p:spPr>
          <a:xfrm>
            <a:off x="1770474" y="3957776"/>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24" name="矩形 23">
            <a:extLst>
              <a:ext uri="{FF2B5EF4-FFF2-40B4-BE49-F238E27FC236}">
                <a16:creationId xmlns:a16="http://schemas.microsoft.com/office/drawing/2014/main" id="{CC99F3CB-C7EA-5BFB-A023-64116A40AF5C}"/>
              </a:ext>
            </a:extLst>
          </p:cNvPr>
          <p:cNvSpPr/>
          <p:nvPr/>
        </p:nvSpPr>
        <p:spPr>
          <a:xfrm>
            <a:off x="3107238" y="3957776"/>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26" name="矩形 25">
            <a:extLst>
              <a:ext uri="{FF2B5EF4-FFF2-40B4-BE49-F238E27FC236}">
                <a16:creationId xmlns:a16="http://schemas.microsoft.com/office/drawing/2014/main" id="{2953FDE4-E18E-7731-7F45-5BC36017864A}"/>
              </a:ext>
            </a:extLst>
          </p:cNvPr>
          <p:cNvSpPr/>
          <p:nvPr/>
        </p:nvSpPr>
        <p:spPr>
          <a:xfrm>
            <a:off x="3237868" y="3957776"/>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a:extLst>
              <a:ext uri="{FF2B5EF4-FFF2-40B4-BE49-F238E27FC236}">
                <a16:creationId xmlns:a16="http://schemas.microsoft.com/office/drawing/2014/main" id="{92755070-C2BE-16DF-46F4-05E727A16905}"/>
              </a:ext>
            </a:extLst>
          </p:cNvPr>
          <p:cNvSpPr/>
          <p:nvPr/>
        </p:nvSpPr>
        <p:spPr>
          <a:xfrm>
            <a:off x="3368498" y="3957776"/>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28" name="矩形 27">
            <a:extLst>
              <a:ext uri="{FF2B5EF4-FFF2-40B4-BE49-F238E27FC236}">
                <a16:creationId xmlns:a16="http://schemas.microsoft.com/office/drawing/2014/main" id="{E89E5464-16B9-3E09-109F-2D4C83AB1647}"/>
              </a:ext>
            </a:extLst>
          </p:cNvPr>
          <p:cNvSpPr/>
          <p:nvPr/>
        </p:nvSpPr>
        <p:spPr>
          <a:xfrm>
            <a:off x="3786509" y="3957776"/>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4" name="组合 53">
            <a:extLst>
              <a:ext uri="{FF2B5EF4-FFF2-40B4-BE49-F238E27FC236}">
                <a16:creationId xmlns:a16="http://schemas.microsoft.com/office/drawing/2014/main" id="{77322E71-8563-CDEF-0A10-50C6CB714B5D}"/>
              </a:ext>
            </a:extLst>
          </p:cNvPr>
          <p:cNvGrpSpPr/>
          <p:nvPr/>
        </p:nvGrpSpPr>
        <p:grpSpPr>
          <a:xfrm>
            <a:off x="1766120" y="4878095"/>
            <a:ext cx="2729506" cy="369332"/>
            <a:chOff x="1766120" y="4878095"/>
            <a:chExt cx="2729506" cy="369332"/>
          </a:xfrm>
        </p:grpSpPr>
        <p:sp>
          <p:nvSpPr>
            <p:cNvPr id="29" name="矩形 28">
              <a:extLst>
                <a:ext uri="{FF2B5EF4-FFF2-40B4-BE49-F238E27FC236}">
                  <a16:creationId xmlns:a16="http://schemas.microsoft.com/office/drawing/2014/main" id="{A29CB207-EE38-F873-0F15-7866E71F68C6}"/>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30" name="矩形 29">
              <a:extLst>
                <a:ext uri="{FF2B5EF4-FFF2-40B4-BE49-F238E27FC236}">
                  <a16:creationId xmlns:a16="http://schemas.microsoft.com/office/drawing/2014/main" id="{A6D7F398-9799-FDD3-5DA9-EB20960558B9}"/>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31" name="矩形 30">
              <a:extLst>
                <a:ext uri="{FF2B5EF4-FFF2-40B4-BE49-F238E27FC236}">
                  <a16:creationId xmlns:a16="http://schemas.microsoft.com/office/drawing/2014/main" id="{618C2AD1-DABF-27B2-CC51-9D7891A1CF20}"/>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2" name="矩形 31">
              <a:extLst>
                <a:ext uri="{FF2B5EF4-FFF2-40B4-BE49-F238E27FC236}">
                  <a16:creationId xmlns:a16="http://schemas.microsoft.com/office/drawing/2014/main" id="{AA367461-1790-D6B7-BAFA-0AF48EBB601F}"/>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33" name="矩形 32">
              <a:extLst>
                <a:ext uri="{FF2B5EF4-FFF2-40B4-BE49-F238E27FC236}">
                  <a16:creationId xmlns:a16="http://schemas.microsoft.com/office/drawing/2014/main" id="{C9AD9FBC-F5E0-B021-C97C-C6DCFFD4ACD4}"/>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34" name="文本框 33">
            <a:extLst>
              <a:ext uri="{FF2B5EF4-FFF2-40B4-BE49-F238E27FC236}">
                <a16:creationId xmlns:a16="http://schemas.microsoft.com/office/drawing/2014/main" id="{1D0D6F86-132A-2811-3515-E7869738CA81}"/>
              </a:ext>
            </a:extLst>
          </p:cNvPr>
          <p:cNvSpPr txBox="1"/>
          <p:nvPr/>
        </p:nvSpPr>
        <p:spPr>
          <a:xfrm>
            <a:off x="2231917" y="4465662"/>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35" name="矩形 34">
            <a:extLst>
              <a:ext uri="{FF2B5EF4-FFF2-40B4-BE49-F238E27FC236}">
                <a16:creationId xmlns:a16="http://schemas.microsoft.com/office/drawing/2014/main" id="{DB9A0550-5AC6-EA96-06F3-FE2FD1FC6E66}"/>
              </a:ext>
            </a:extLst>
          </p:cNvPr>
          <p:cNvSpPr/>
          <p:nvPr/>
        </p:nvSpPr>
        <p:spPr>
          <a:xfrm>
            <a:off x="1770474" y="5247427"/>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36" name="矩形 35">
            <a:extLst>
              <a:ext uri="{FF2B5EF4-FFF2-40B4-BE49-F238E27FC236}">
                <a16:creationId xmlns:a16="http://schemas.microsoft.com/office/drawing/2014/main" id="{4A9B722D-FF57-57EB-BF21-7A3BFA88C705}"/>
              </a:ext>
            </a:extLst>
          </p:cNvPr>
          <p:cNvSpPr/>
          <p:nvPr/>
        </p:nvSpPr>
        <p:spPr>
          <a:xfrm>
            <a:off x="1770474" y="5619763"/>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（通常不用）</a:t>
            </a:r>
          </a:p>
        </p:txBody>
      </p:sp>
      <p:sp>
        <p:nvSpPr>
          <p:cNvPr id="37" name="文本框 36">
            <a:extLst>
              <a:ext uri="{FF2B5EF4-FFF2-40B4-BE49-F238E27FC236}">
                <a16:creationId xmlns:a16="http://schemas.microsoft.com/office/drawing/2014/main" id="{6EBC12EC-1656-684C-A0AA-0F332D1710D6}"/>
              </a:ext>
            </a:extLst>
          </p:cNvPr>
          <p:cNvSpPr txBox="1"/>
          <p:nvPr/>
        </p:nvSpPr>
        <p:spPr>
          <a:xfrm>
            <a:off x="551275" y="3588444"/>
            <a:ext cx="888279" cy="369332"/>
          </a:xfrm>
          <a:prstGeom prst="rect">
            <a:avLst/>
          </a:prstGeom>
          <a:noFill/>
        </p:spPr>
        <p:txBody>
          <a:bodyPr wrap="square" rtlCol="0">
            <a:spAutoFit/>
          </a:bodyPr>
          <a:lstStyle/>
          <a:p>
            <a:r>
              <a:rPr lang="zh-CN" altLang="en-US" b="1" dirty="0">
                <a:latin typeface="+mn-ea"/>
              </a:rPr>
              <a:t>请求行</a:t>
            </a:r>
          </a:p>
        </p:txBody>
      </p:sp>
      <p:grpSp>
        <p:nvGrpSpPr>
          <p:cNvPr id="55" name="组合 54">
            <a:extLst>
              <a:ext uri="{FF2B5EF4-FFF2-40B4-BE49-F238E27FC236}">
                <a16:creationId xmlns:a16="http://schemas.microsoft.com/office/drawing/2014/main" id="{7A898BC6-E6C3-C3FF-ECDC-774366725D70}"/>
              </a:ext>
            </a:extLst>
          </p:cNvPr>
          <p:cNvGrpSpPr/>
          <p:nvPr/>
        </p:nvGrpSpPr>
        <p:grpSpPr>
          <a:xfrm>
            <a:off x="551275" y="3957776"/>
            <a:ext cx="1214845" cy="1286639"/>
            <a:chOff x="551275" y="3957776"/>
            <a:chExt cx="1214845" cy="1286639"/>
          </a:xfrm>
        </p:grpSpPr>
        <p:sp>
          <p:nvSpPr>
            <p:cNvPr id="42" name="左大括号 41">
              <a:extLst>
                <a:ext uri="{FF2B5EF4-FFF2-40B4-BE49-F238E27FC236}">
                  <a16:creationId xmlns:a16="http://schemas.microsoft.com/office/drawing/2014/main" id="{3F3C1B88-B263-4087-E366-43608391B8CE}"/>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43" name="文本框 42">
              <a:extLst>
                <a:ext uri="{FF2B5EF4-FFF2-40B4-BE49-F238E27FC236}">
                  <a16:creationId xmlns:a16="http://schemas.microsoft.com/office/drawing/2014/main" id="{68270C94-4FF0-86BE-2923-B08B8C839FC8}"/>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sp>
        <p:nvSpPr>
          <p:cNvPr id="50" name="文本框 49">
            <a:extLst>
              <a:ext uri="{FF2B5EF4-FFF2-40B4-BE49-F238E27FC236}">
                <a16:creationId xmlns:a16="http://schemas.microsoft.com/office/drawing/2014/main" id="{7B90DF94-11D5-C9EF-50E5-DCFA18E173E0}"/>
              </a:ext>
            </a:extLst>
          </p:cNvPr>
          <p:cNvSpPr txBox="1"/>
          <p:nvPr/>
        </p:nvSpPr>
        <p:spPr>
          <a:xfrm>
            <a:off x="2231917" y="3080558"/>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请求报文格式</a:t>
            </a:r>
          </a:p>
        </p:txBody>
      </p:sp>
      <p:pic>
        <p:nvPicPr>
          <p:cNvPr id="10" name="图片 9" descr="图形用户界面, 应用程序&#10;&#10;描述已自动生成">
            <a:extLst>
              <a:ext uri="{FF2B5EF4-FFF2-40B4-BE49-F238E27FC236}">
                <a16:creationId xmlns:a16="http://schemas.microsoft.com/office/drawing/2014/main" id="{E4449C81-9A6F-E6F6-03DD-FD9D2BB8EE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46324" y="4162340"/>
            <a:ext cx="5699452" cy="2179642"/>
          </a:xfrm>
          <a:prstGeom prst="rect">
            <a:avLst/>
          </a:prstGeom>
        </p:spPr>
      </p:pic>
      <p:grpSp>
        <p:nvGrpSpPr>
          <p:cNvPr id="44" name="组合 43">
            <a:extLst>
              <a:ext uri="{FF2B5EF4-FFF2-40B4-BE49-F238E27FC236}">
                <a16:creationId xmlns:a16="http://schemas.microsoft.com/office/drawing/2014/main" id="{3F0DDDD6-228C-5D92-D63B-4BB19E898D3C}"/>
              </a:ext>
            </a:extLst>
          </p:cNvPr>
          <p:cNvGrpSpPr/>
          <p:nvPr/>
        </p:nvGrpSpPr>
        <p:grpSpPr>
          <a:xfrm>
            <a:off x="5475940" y="2022629"/>
            <a:ext cx="3382715" cy="2139711"/>
            <a:chOff x="5475940" y="2022629"/>
            <a:chExt cx="3382715" cy="2139711"/>
          </a:xfrm>
        </p:grpSpPr>
        <p:sp>
          <p:nvSpPr>
            <p:cNvPr id="11" name="矩形 10">
              <a:extLst>
                <a:ext uri="{FF2B5EF4-FFF2-40B4-BE49-F238E27FC236}">
                  <a16:creationId xmlns:a16="http://schemas.microsoft.com/office/drawing/2014/main" id="{B0D779B7-3A9F-F573-6AA8-262DCD6B3A7E}"/>
                </a:ext>
              </a:extLst>
            </p:cNvPr>
            <p:cNvSpPr/>
            <p:nvPr/>
          </p:nvSpPr>
          <p:spPr>
            <a:xfrm>
              <a:off x="5475940" y="2022629"/>
              <a:ext cx="2547255" cy="1327769"/>
            </a:xfrm>
            <a:prstGeom prst="rect">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altLang="zh-CN" sz="1400" b="1" dirty="0">
                  <a:solidFill>
                    <a:schemeClr val="tx1"/>
                  </a:solidFill>
                  <a:latin typeface="+mn-ea"/>
                </a:rPr>
                <a:t>GET /index.htm HTTP/1.1</a:t>
              </a:r>
            </a:p>
            <a:p>
              <a:r>
                <a:rPr lang="en-US" altLang="zh-CN" sz="1400" b="1" dirty="0">
                  <a:solidFill>
                    <a:schemeClr val="tx1"/>
                  </a:solidFill>
                  <a:latin typeface="+mn-ea"/>
                </a:rPr>
                <a:t>Host: www.hnust.cn</a:t>
              </a:r>
            </a:p>
            <a:p>
              <a:r>
                <a:rPr lang="en-US" altLang="zh-CN" sz="1400" b="1" dirty="0">
                  <a:solidFill>
                    <a:schemeClr val="tx1"/>
                  </a:solidFill>
                  <a:latin typeface="+mn-ea"/>
                </a:rPr>
                <a:t>Connection: close</a:t>
              </a:r>
            </a:p>
            <a:p>
              <a:r>
                <a:rPr lang="en-US" altLang="zh-CN" sz="1400" b="1" dirty="0">
                  <a:solidFill>
                    <a:schemeClr val="tx1"/>
                  </a:solidFill>
                  <a:latin typeface="+mn-ea"/>
                </a:rPr>
                <a:t>User-Agent: Mozilla/5.0</a:t>
              </a:r>
            </a:p>
            <a:p>
              <a:r>
                <a:rPr lang="en-US" altLang="zh-CN" sz="1400" b="1" dirty="0">
                  <a:solidFill>
                    <a:schemeClr val="tx1"/>
                  </a:solidFill>
                  <a:latin typeface="+mn-ea"/>
                </a:rPr>
                <a:t>Accept-Language: cn</a:t>
              </a:r>
            </a:p>
            <a:p>
              <a:endParaRPr lang="zh-CN" altLang="en-US" sz="1400" b="1" dirty="0">
                <a:solidFill>
                  <a:schemeClr val="tx1"/>
                </a:solidFill>
                <a:latin typeface="+mn-ea"/>
              </a:endParaRPr>
            </a:p>
          </p:txBody>
        </p:sp>
        <p:cxnSp>
          <p:nvCxnSpPr>
            <p:cNvPr id="12" name="直接连接符 11">
              <a:extLst>
                <a:ext uri="{FF2B5EF4-FFF2-40B4-BE49-F238E27FC236}">
                  <a16:creationId xmlns:a16="http://schemas.microsoft.com/office/drawing/2014/main" id="{53C46C70-1753-066F-3D7A-0E23BBA41AF4}"/>
                </a:ext>
              </a:extLst>
            </p:cNvPr>
            <p:cNvCxnSpPr>
              <a:cxnSpLocks/>
            </p:cNvCxnSpPr>
            <p:nvPr/>
          </p:nvCxnSpPr>
          <p:spPr>
            <a:xfrm flipH="1" flipV="1">
              <a:off x="5475940" y="3331426"/>
              <a:ext cx="2468140" cy="830914"/>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23C5FF7-63DC-0E1D-ADCE-D8A7781DCD17}"/>
                </a:ext>
              </a:extLst>
            </p:cNvPr>
            <p:cNvCxnSpPr>
              <a:cxnSpLocks/>
            </p:cNvCxnSpPr>
            <p:nvPr/>
          </p:nvCxnSpPr>
          <p:spPr>
            <a:xfrm flipH="1" flipV="1">
              <a:off x="8023195" y="3350398"/>
              <a:ext cx="835460" cy="81194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B021E02F-90F3-386B-F231-7BD7B22F69F7}"/>
              </a:ext>
            </a:extLst>
          </p:cNvPr>
          <p:cNvSpPr txBox="1"/>
          <p:nvPr/>
        </p:nvSpPr>
        <p:spPr>
          <a:xfrm>
            <a:off x="8030955" y="2023061"/>
            <a:ext cx="3949511" cy="1384995"/>
          </a:xfrm>
          <a:prstGeom prst="rect">
            <a:avLst/>
          </a:prstGeom>
          <a:noFill/>
        </p:spPr>
        <p:txBody>
          <a:bodyPr wrap="square" rtlCol="0">
            <a:spAutoFit/>
          </a:bodyPr>
          <a:lstStyle/>
          <a:p>
            <a:r>
              <a:rPr lang="zh-CN" altLang="en-US" sz="1400" b="1" dirty="0">
                <a:latin typeface="+mn-ea"/>
              </a:rPr>
              <a:t>指明方法“</a:t>
            </a:r>
            <a:r>
              <a:rPr lang="en-US" altLang="zh-CN" sz="1400" b="1" dirty="0">
                <a:latin typeface="+mn-ea"/>
              </a:rPr>
              <a:t>GET</a:t>
            </a:r>
            <a:r>
              <a:rPr lang="zh-CN" altLang="en-US" sz="1400" b="1" dirty="0">
                <a:latin typeface="+mn-ea"/>
              </a:rPr>
              <a:t>”，</a:t>
            </a:r>
            <a:r>
              <a:rPr lang="en-US" altLang="zh-CN" sz="1400" b="1" dirty="0">
                <a:latin typeface="+mn-ea"/>
              </a:rPr>
              <a:t>URL</a:t>
            </a:r>
            <a:r>
              <a:rPr lang="zh-CN" altLang="en-US" sz="1400" b="1" dirty="0">
                <a:latin typeface="+mn-ea"/>
              </a:rPr>
              <a:t>，</a:t>
            </a:r>
            <a:r>
              <a:rPr lang="en-US" altLang="zh-CN" sz="1400" b="1" dirty="0">
                <a:latin typeface="+mn-ea"/>
              </a:rPr>
              <a:t>HTTP</a:t>
            </a:r>
            <a:r>
              <a:rPr lang="zh-CN" altLang="en-US" sz="1400" b="1" dirty="0">
                <a:latin typeface="+mn-ea"/>
              </a:rPr>
              <a:t>版本</a:t>
            </a:r>
            <a:endParaRPr lang="en-US" altLang="zh-CN" sz="1400" b="1" dirty="0">
              <a:latin typeface="+mn-ea"/>
            </a:endParaRPr>
          </a:p>
          <a:p>
            <a:r>
              <a:rPr lang="zh-CN" altLang="en-US" sz="1400" b="1" dirty="0">
                <a:latin typeface="+mn-ea"/>
              </a:rPr>
              <a:t>指明服务器的域名</a:t>
            </a:r>
            <a:endParaRPr lang="en-US" altLang="zh-CN" sz="1400" b="1" dirty="0">
              <a:latin typeface="+mn-ea"/>
            </a:endParaRPr>
          </a:p>
          <a:p>
            <a:r>
              <a:rPr lang="zh-CN" altLang="en-US" sz="1400" b="1" dirty="0">
                <a:latin typeface="+mn-ea"/>
              </a:rPr>
              <a:t>告诉服务器发送完请求的文档后就可以释放连接</a:t>
            </a:r>
            <a:endParaRPr lang="en-US" altLang="zh-CN" sz="1400" b="1" dirty="0">
              <a:latin typeface="+mn-ea"/>
            </a:endParaRPr>
          </a:p>
          <a:p>
            <a:r>
              <a:rPr lang="zh-CN" altLang="en-US" sz="1400" b="1" dirty="0">
                <a:latin typeface="+mn-ea"/>
              </a:rPr>
              <a:t>告诉服务器浏览器的类型及版本</a:t>
            </a:r>
            <a:endParaRPr lang="en-US" altLang="zh-CN" sz="1400" b="1" dirty="0">
              <a:latin typeface="+mn-ea"/>
            </a:endParaRPr>
          </a:p>
          <a:p>
            <a:r>
              <a:rPr lang="zh-CN" altLang="en-US" sz="1400" b="1" dirty="0">
                <a:latin typeface="+mn-ea"/>
              </a:rPr>
              <a:t>告诉服务器用户希望优先得到中文版本的文档</a:t>
            </a:r>
            <a:endParaRPr lang="en-US" altLang="zh-CN" sz="1400" b="1" dirty="0">
              <a:latin typeface="+mn-ea"/>
            </a:endParaRPr>
          </a:p>
          <a:p>
            <a:r>
              <a:rPr lang="zh-CN" altLang="en-US" sz="1400" b="1" dirty="0">
                <a:latin typeface="+mn-ea"/>
              </a:rPr>
              <a:t>报文的最后需要由一个空行</a:t>
            </a:r>
            <a:endParaRPr lang="en-US" altLang="zh-CN" sz="1400" b="1" dirty="0">
              <a:latin typeface="+mn-ea"/>
            </a:endParaRPr>
          </a:p>
        </p:txBody>
      </p:sp>
    </p:spTree>
    <p:custDataLst>
      <p:tags r:id="rId1"/>
    </p:custDataLst>
    <p:extLst>
      <p:ext uri="{BB962C8B-B14F-4D97-AF65-F5344CB8AC3E}">
        <p14:creationId xmlns:p14="http://schemas.microsoft.com/office/powerpoint/2010/main" val="309974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wipe(down)">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38">
                                            <p:txEl>
                                              <p:pRg st="0" end="0"/>
                                            </p:txEl>
                                          </p:spTgt>
                                        </p:tgtEl>
                                        <p:attrNameLst>
                                          <p:attrName>style.visibility</p:attrName>
                                        </p:attrNameLst>
                                      </p:cBhvr>
                                      <p:to>
                                        <p:strVal val="visible"/>
                                      </p:to>
                                    </p:set>
                                    <p:anim calcmode="lin" valueType="num">
                                      <p:cBhvr additive="base">
                                        <p:cTn id="19" dur="500" fill="hold"/>
                                        <p:tgtEl>
                                          <p:spTgt spid="38">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8">
                                            <p:txEl>
                                              <p:pRg st="1" end="1"/>
                                            </p:txEl>
                                          </p:spTgt>
                                        </p:tgtEl>
                                        <p:attrNameLst>
                                          <p:attrName>style.visibility</p:attrName>
                                        </p:attrNameLst>
                                      </p:cBhvr>
                                      <p:to>
                                        <p:strVal val="visible"/>
                                      </p:to>
                                    </p:set>
                                    <p:anim calcmode="lin" valueType="num">
                                      <p:cBhvr additive="base">
                                        <p:cTn id="25" dur="500" fill="hold"/>
                                        <p:tgtEl>
                                          <p:spTgt spid="38">
                                            <p:txEl>
                                              <p:pRg st="1" end="1"/>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38">
                                            <p:txEl>
                                              <p:pRg st="2" end="2"/>
                                            </p:txEl>
                                          </p:spTgt>
                                        </p:tgtEl>
                                        <p:attrNameLst>
                                          <p:attrName>style.visibility</p:attrName>
                                        </p:attrNameLst>
                                      </p:cBhvr>
                                      <p:to>
                                        <p:strVal val="visible"/>
                                      </p:to>
                                    </p:set>
                                    <p:anim calcmode="lin" valueType="num">
                                      <p:cBhvr additive="base">
                                        <p:cTn id="31" dur="500" fill="hold"/>
                                        <p:tgtEl>
                                          <p:spTgt spid="38">
                                            <p:txEl>
                                              <p:pRg st="2" end="2"/>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38">
                                            <p:txEl>
                                              <p:pRg st="3" end="3"/>
                                            </p:txEl>
                                          </p:spTgt>
                                        </p:tgtEl>
                                        <p:attrNameLst>
                                          <p:attrName>style.visibility</p:attrName>
                                        </p:attrNameLst>
                                      </p:cBhvr>
                                      <p:to>
                                        <p:strVal val="visible"/>
                                      </p:to>
                                    </p:set>
                                    <p:anim calcmode="lin" valueType="num">
                                      <p:cBhvr additive="base">
                                        <p:cTn id="37" dur="500" fill="hold"/>
                                        <p:tgtEl>
                                          <p:spTgt spid="38">
                                            <p:txEl>
                                              <p:pRg st="3" end="3"/>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38">
                                            <p:txEl>
                                              <p:pRg st="4" end="4"/>
                                            </p:txEl>
                                          </p:spTgt>
                                        </p:tgtEl>
                                        <p:attrNameLst>
                                          <p:attrName>style.visibility</p:attrName>
                                        </p:attrNameLst>
                                      </p:cBhvr>
                                      <p:to>
                                        <p:strVal val="visible"/>
                                      </p:to>
                                    </p:set>
                                    <p:anim calcmode="lin" valueType="num">
                                      <p:cBhvr additive="base">
                                        <p:cTn id="43" dur="500" fill="hold"/>
                                        <p:tgtEl>
                                          <p:spTgt spid="38">
                                            <p:txEl>
                                              <p:pRg st="4" end="4"/>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38">
                                            <p:txEl>
                                              <p:pRg st="5" end="5"/>
                                            </p:txEl>
                                          </p:spTgt>
                                        </p:tgtEl>
                                        <p:attrNameLst>
                                          <p:attrName>style.visibility</p:attrName>
                                        </p:attrNameLst>
                                      </p:cBhvr>
                                      <p:to>
                                        <p:strVal val="visible"/>
                                      </p:to>
                                    </p:set>
                                    <p:anim calcmode="lin" valueType="num">
                                      <p:cBhvr additive="base">
                                        <p:cTn id="49" dur="500" fill="hold"/>
                                        <p:tgtEl>
                                          <p:spTgt spid="38">
                                            <p:txEl>
                                              <p:pRg st="5" end="5"/>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53" name="组合 52">
            <a:extLst>
              <a:ext uri="{FF2B5EF4-FFF2-40B4-BE49-F238E27FC236}">
                <a16:creationId xmlns:a16="http://schemas.microsoft.com/office/drawing/2014/main" id="{13AB57AF-4C89-0E14-D729-282F0A480A59}"/>
              </a:ext>
            </a:extLst>
          </p:cNvPr>
          <p:cNvGrpSpPr/>
          <p:nvPr/>
        </p:nvGrpSpPr>
        <p:grpSpPr>
          <a:xfrm>
            <a:off x="329943" y="2220150"/>
            <a:ext cx="1950719" cy="887101"/>
            <a:chOff x="329943" y="2220150"/>
            <a:chExt cx="1950719" cy="887101"/>
          </a:xfrm>
        </p:grpSpPr>
        <p:sp>
          <p:nvSpPr>
            <p:cNvPr id="6" name="矩形 5">
              <a:extLst>
                <a:ext uri="{FF2B5EF4-FFF2-40B4-BE49-F238E27FC236}">
                  <a16:creationId xmlns:a16="http://schemas.microsoft.com/office/drawing/2014/main" id="{A1CBC5DA-A09F-0948-48F7-47D5426130C7}"/>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7" name="矩形 6">
              <a:extLst>
                <a:ext uri="{FF2B5EF4-FFF2-40B4-BE49-F238E27FC236}">
                  <a16:creationId xmlns:a16="http://schemas.microsoft.com/office/drawing/2014/main" id="{F5F6A2D8-45D0-A454-E1B8-DF79F331B775}"/>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8" name="文本框 7">
              <a:extLst>
                <a:ext uri="{FF2B5EF4-FFF2-40B4-BE49-F238E27FC236}">
                  <a16:creationId xmlns:a16="http://schemas.microsoft.com/office/drawing/2014/main" id="{C3085B90-5B4C-033A-AB4F-E8724CA0E26A}"/>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3" name="文本框 12">
              <a:extLst>
                <a:ext uri="{FF2B5EF4-FFF2-40B4-BE49-F238E27FC236}">
                  <a16:creationId xmlns:a16="http://schemas.microsoft.com/office/drawing/2014/main" id="{5220BE33-3606-A3F4-1931-08656061E9EA}"/>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14" name="矩形 13">
            <a:extLst>
              <a:ext uri="{FF2B5EF4-FFF2-40B4-BE49-F238E27FC236}">
                <a16:creationId xmlns:a16="http://schemas.microsoft.com/office/drawing/2014/main" id="{30AC5AF9-58B1-7242-398A-176EA1ABDCF5}"/>
              </a:ext>
            </a:extLst>
          </p:cNvPr>
          <p:cNvSpPr/>
          <p:nvPr/>
        </p:nvSpPr>
        <p:spPr>
          <a:xfrm>
            <a:off x="1770474"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方 法</a:t>
            </a:r>
          </a:p>
        </p:txBody>
      </p:sp>
      <p:sp>
        <p:nvSpPr>
          <p:cNvPr id="16" name="矩形 15">
            <a:extLst>
              <a:ext uri="{FF2B5EF4-FFF2-40B4-BE49-F238E27FC236}">
                <a16:creationId xmlns:a16="http://schemas.microsoft.com/office/drawing/2014/main" id="{4B95BA0D-88EB-FEDD-F44E-FA8757ACF21C}"/>
              </a:ext>
            </a:extLst>
          </p:cNvPr>
          <p:cNvSpPr/>
          <p:nvPr/>
        </p:nvSpPr>
        <p:spPr>
          <a:xfrm>
            <a:off x="25629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7" name="矩形 16">
            <a:extLst>
              <a:ext uri="{FF2B5EF4-FFF2-40B4-BE49-F238E27FC236}">
                <a16:creationId xmlns:a16="http://schemas.microsoft.com/office/drawing/2014/main" id="{4CD43D50-564B-6416-F29E-302EEC855967}"/>
              </a:ext>
            </a:extLst>
          </p:cNvPr>
          <p:cNvSpPr/>
          <p:nvPr/>
        </p:nvSpPr>
        <p:spPr>
          <a:xfrm>
            <a:off x="26935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URL</a:t>
            </a:r>
            <a:endParaRPr lang="zh-CN" altLang="en-US" b="1" dirty="0">
              <a:solidFill>
                <a:schemeClr val="tx1"/>
              </a:solidFill>
              <a:latin typeface="+mn-ea"/>
            </a:endParaRPr>
          </a:p>
        </p:txBody>
      </p:sp>
      <p:sp>
        <p:nvSpPr>
          <p:cNvPr id="20" name="矩形 19">
            <a:extLst>
              <a:ext uri="{FF2B5EF4-FFF2-40B4-BE49-F238E27FC236}">
                <a16:creationId xmlns:a16="http://schemas.microsoft.com/office/drawing/2014/main" id="{781A2040-ED2F-6A40-9774-22622D1F952F}"/>
              </a:ext>
            </a:extLst>
          </p:cNvPr>
          <p:cNvSpPr/>
          <p:nvPr/>
        </p:nvSpPr>
        <p:spPr>
          <a:xfrm>
            <a:off x="3607982" y="3588444"/>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21" name="矩形 20">
            <a:extLst>
              <a:ext uri="{FF2B5EF4-FFF2-40B4-BE49-F238E27FC236}">
                <a16:creationId xmlns:a16="http://schemas.microsoft.com/office/drawing/2014/main" id="{709B5240-65DE-749F-1C92-B9021D05E932}"/>
              </a:ext>
            </a:extLst>
          </p:cNvPr>
          <p:cNvSpPr/>
          <p:nvPr/>
        </p:nvSpPr>
        <p:spPr>
          <a:xfrm>
            <a:off x="3477352" y="358844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2" name="矩形 21">
            <a:extLst>
              <a:ext uri="{FF2B5EF4-FFF2-40B4-BE49-F238E27FC236}">
                <a16:creationId xmlns:a16="http://schemas.microsoft.com/office/drawing/2014/main" id="{91EFE4A4-C56C-1E35-DFB5-61B8A59E2102}"/>
              </a:ext>
            </a:extLst>
          </p:cNvPr>
          <p:cNvSpPr/>
          <p:nvPr/>
        </p:nvSpPr>
        <p:spPr>
          <a:xfrm>
            <a:off x="4391752" y="358844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23" name="矩形 22">
            <a:extLst>
              <a:ext uri="{FF2B5EF4-FFF2-40B4-BE49-F238E27FC236}">
                <a16:creationId xmlns:a16="http://schemas.microsoft.com/office/drawing/2014/main" id="{AAFFB692-49A1-D832-57ED-894069B0B9EB}"/>
              </a:ext>
            </a:extLst>
          </p:cNvPr>
          <p:cNvSpPr/>
          <p:nvPr/>
        </p:nvSpPr>
        <p:spPr>
          <a:xfrm>
            <a:off x="1770474" y="3957776"/>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24" name="矩形 23">
            <a:extLst>
              <a:ext uri="{FF2B5EF4-FFF2-40B4-BE49-F238E27FC236}">
                <a16:creationId xmlns:a16="http://schemas.microsoft.com/office/drawing/2014/main" id="{CC99F3CB-C7EA-5BFB-A023-64116A40AF5C}"/>
              </a:ext>
            </a:extLst>
          </p:cNvPr>
          <p:cNvSpPr/>
          <p:nvPr/>
        </p:nvSpPr>
        <p:spPr>
          <a:xfrm>
            <a:off x="3107238" y="3957776"/>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26" name="矩形 25">
            <a:extLst>
              <a:ext uri="{FF2B5EF4-FFF2-40B4-BE49-F238E27FC236}">
                <a16:creationId xmlns:a16="http://schemas.microsoft.com/office/drawing/2014/main" id="{2953FDE4-E18E-7731-7F45-5BC36017864A}"/>
              </a:ext>
            </a:extLst>
          </p:cNvPr>
          <p:cNvSpPr/>
          <p:nvPr/>
        </p:nvSpPr>
        <p:spPr>
          <a:xfrm>
            <a:off x="3237868" y="3957776"/>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27" name="矩形 26">
            <a:extLst>
              <a:ext uri="{FF2B5EF4-FFF2-40B4-BE49-F238E27FC236}">
                <a16:creationId xmlns:a16="http://schemas.microsoft.com/office/drawing/2014/main" id="{92755070-C2BE-16DF-46F4-05E727A16905}"/>
              </a:ext>
            </a:extLst>
          </p:cNvPr>
          <p:cNvSpPr/>
          <p:nvPr/>
        </p:nvSpPr>
        <p:spPr>
          <a:xfrm>
            <a:off x="3368498" y="3957776"/>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28" name="矩形 27">
            <a:extLst>
              <a:ext uri="{FF2B5EF4-FFF2-40B4-BE49-F238E27FC236}">
                <a16:creationId xmlns:a16="http://schemas.microsoft.com/office/drawing/2014/main" id="{E89E5464-16B9-3E09-109F-2D4C83AB1647}"/>
              </a:ext>
            </a:extLst>
          </p:cNvPr>
          <p:cNvSpPr/>
          <p:nvPr/>
        </p:nvSpPr>
        <p:spPr>
          <a:xfrm>
            <a:off x="3786509" y="3957776"/>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4" name="组合 53">
            <a:extLst>
              <a:ext uri="{FF2B5EF4-FFF2-40B4-BE49-F238E27FC236}">
                <a16:creationId xmlns:a16="http://schemas.microsoft.com/office/drawing/2014/main" id="{77322E71-8563-CDEF-0A10-50C6CB714B5D}"/>
              </a:ext>
            </a:extLst>
          </p:cNvPr>
          <p:cNvGrpSpPr/>
          <p:nvPr/>
        </p:nvGrpSpPr>
        <p:grpSpPr>
          <a:xfrm>
            <a:off x="1766120" y="4878095"/>
            <a:ext cx="2729506" cy="369332"/>
            <a:chOff x="1766120" y="4878095"/>
            <a:chExt cx="2729506" cy="369332"/>
          </a:xfrm>
        </p:grpSpPr>
        <p:sp>
          <p:nvSpPr>
            <p:cNvPr id="29" name="矩形 28">
              <a:extLst>
                <a:ext uri="{FF2B5EF4-FFF2-40B4-BE49-F238E27FC236}">
                  <a16:creationId xmlns:a16="http://schemas.microsoft.com/office/drawing/2014/main" id="{A29CB207-EE38-F873-0F15-7866E71F68C6}"/>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30" name="矩形 29">
              <a:extLst>
                <a:ext uri="{FF2B5EF4-FFF2-40B4-BE49-F238E27FC236}">
                  <a16:creationId xmlns:a16="http://schemas.microsoft.com/office/drawing/2014/main" id="{A6D7F398-9799-FDD3-5DA9-EB20960558B9}"/>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31" name="矩形 30">
              <a:extLst>
                <a:ext uri="{FF2B5EF4-FFF2-40B4-BE49-F238E27FC236}">
                  <a16:creationId xmlns:a16="http://schemas.microsoft.com/office/drawing/2014/main" id="{618C2AD1-DABF-27B2-CC51-9D7891A1CF20}"/>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2" name="矩形 31">
              <a:extLst>
                <a:ext uri="{FF2B5EF4-FFF2-40B4-BE49-F238E27FC236}">
                  <a16:creationId xmlns:a16="http://schemas.microsoft.com/office/drawing/2014/main" id="{AA367461-1790-D6B7-BAFA-0AF48EBB601F}"/>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33" name="矩形 32">
              <a:extLst>
                <a:ext uri="{FF2B5EF4-FFF2-40B4-BE49-F238E27FC236}">
                  <a16:creationId xmlns:a16="http://schemas.microsoft.com/office/drawing/2014/main" id="{C9AD9FBC-F5E0-B021-C97C-C6DCFFD4ACD4}"/>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34" name="文本框 33">
            <a:extLst>
              <a:ext uri="{FF2B5EF4-FFF2-40B4-BE49-F238E27FC236}">
                <a16:creationId xmlns:a16="http://schemas.microsoft.com/office/drawing/2014/main" id="{1D0D6F86-132A-2811-3515-E7869738CA81}"/>
              </a:ext>
            </a:extLst>
          </p:cNvPr>
          <p:cNvSpPr txBox="1"/>
          <p:nvPr/>
        </p:nvSpPr>
        <p:spPr>
          <a:xfrm>
            <a:off x="2231917" y="4465662"/>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35" name="矩形 34">
            <a:extLst>
              <a:ext uri="{FF2B5EF4-FFF2-40B4-BE49-F238E27FC236}">
                <a16:creationId xmlns:a16="http://schemas.microsoft.com/office/drawing/2014/main" id="{DB9A0550-5AC6-EA96-06F3-FE2FD1FC6E66}"/>
              </a:ext>
            </a:extLst>
          </p:cNvPr>
          <p:cNvSpPr/>
          <p:nvPr/>
        </p:nvSpPr>
        <p:spPr>
          <a:xfrm>
            <a:off x="1770474" y="5247427"/>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36" name="矩形 35">
            <a:extLst>
              <a:ext uri="{FF2B5EF4-FFF2-40B4-BE49-F238E27FC236}">
                <a16:creationId xmlns:a16="http://schemas.microsoft.com/office/drawing/2014/main" id="{4A9B722D-FF57-57EB-BF21-7A3BFA88C705}"/>
              </a:ext>
            </a:extLst>
          </p:cNvPr>
          <p:cNvSpPr/>
          <p:nvPr/>
        </p:nvSpPr>
        <p:spPr>
          <a:xfrm>
            <a:off x="1770474" y="5619763"/>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（通常不用）</a:t>
            </a:r>
          </a:p>
        </p:txBody>
      </p:sp>
      <p:sp>
        <p:nvSpPr>
          <p:cNvPr id="37" name="文本框 36">
            <a:extLst>
              <a:ext uri="{FF2B5EF4-FFF2-40B4-BE49-F238E27FC236}">
                <a16:creationId xmlns:a16="http://schemas.microsoft.com/office/drawing/2014/main" id="{6EBC12EC-1656-684C-A0AA-0F332D1710D6}"/>
              </a:ext>
            </a:extLst>
          </p:cNvPr>
          <p:cNvSpPr txBox="1"/>
          <p:nvPr/>
        </p:nvSpPr>
        <p:spPr>
          <a:xfrm>
            <a:off x="551275" y="3588444"/>
            <a:ext cx="888279" cy="369332"/>
          </a:xfrm>
          <a:prstGeom prst="rect">
            <a:avLst/>
          </a:prstGeom>
          <a:noFill/>
        </p:spPr>
        <p:txBody>
          <a:bodyPr wrap="square" rtlCol="0">
            <a:spAutoFit/>
          </a:bodyPr>
          <a:lstStyle/>
          <a:p>
            <a:r>
              <a:rPr lang="zh-CN" altLang="en-US" b="1" dirty="0">
                <a:latin typeface="+mn-ea"/>
              </a:rPr>
              <a:t>请求行</a:t>
            </a:r>
          </a:p>
        </p:txBody>
      </p:sp>
      <p:grpSp>
        <p:nvGrpSpPr>
          <p:cNvPr id="55" name="组合 54">
            <a:extLst>
              <a:ext uri="{FF2B5EF4-FFF2-40B4-BE49-F238E27FC236}">
                <a16:creationId xmlns:a16="http://schemas.microsoft.com/office/drawing/2014/main" id="{7A898BC6-E6C3-C3FF-ECDC-774366725D70}"/>
              </a:ext>
            </a:extLst>
          </p:cNvPr>
          <p:cNvGrpSpPr/>
          <p:nvPr/>
        </p:nvGrpSpPr>
        <p:grpSpPr>
          <a:xfrm>
            <a:off x="551275" y="3957776"/>
            <a:ext cx="1214845" cy="1286639"/>
            <a:chOff x="551275" y="3957776"/>
            <a:chExt cx="1214845" cy="1286639"/>
          </a:xfrm>
        </p:grpSpPr>
        <p:sp>
          <p:nvSpPr>
            <p:cNvPr id="42" name="左大括号 41">
              <a:extLst>
                <a:ext uri="{FF2B5EF4-FFF2-40B4-BE49-F238E27FC236}">
                  <a16:creationId xmlns:a16="http://schemas.microsoft.com/office/drawing/2014/main" id="{3F3C1B88-B263-4087-E366-43608391B8CE}"/>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43" name="文本框 42">
              <a:extLst>
                <a:ext uri="{FF2B5EF4-FFF2-40B4-BE49-F238E27FC236}">
                  <a16:creationId xmlns:a16="http://schemas.microsoft.com/office/drawing/2014/main" id="{68270C94-4FF0-86BE-2923-B08B8C839FC8}"/>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sp>
        <p:nvSpPr>
          <p:cNvPr id="50" name="文本框 49">
            <a:extLst>
              <a:ext uri="{FF2B5EF4-FFF2-40B4-BE49-F238E27FC236}">
                <a16:creationId xmlns:a16="http://schemas.microsoft.com/office/drawing/2014/main" id="{7B90DF94-11D5-C9EF-50E5-DCFA18E173E0}"/>
              </a:ext>
            </a:extLst>
          </p:cNvPr>
          <p:cNvSpPr txBox="1"/>
          <p:nvPr/>
        </p:nvSpPr>
        <p:spPr>
          <a:xfrm>
            <a:off x="2231917" y="3080558"/>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请求报文格式</a:t>
            </a:r>
          </a:p>
        </p:txBody>
      </p:sp>
      <p:pic>
        <p:nvPicPr>
          <p:cNvPr id="25" name="图片 24" descr="表格&#10;&#10;描述已自动生成">
            <a:extLst>
              <a:ext uri="{FF2B5EF4-FFF2-40B4-BE49-F238E27FC236}">
                <a16:creationId xmlns:a16="http://schemas.microsoft.com/office/drawing/2014/main" id="{5192DAF8-1D38-2199-37DF-17E970865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945" y="3449890"/>
            <a:ext cx="5748407" cy="3054450"/>
          </a:xfrm>
          <a:prstGeom prst="rect">
            <a:avLst/>
          </a:prstGeom>
        </p:spPr>
      </p:pic>
      <p:sp>
        <p:nvSpPr>
          <p:cNvPr id="45" name="任意多边形: 形状 44">
            <a:extLst>
              <a:ext uri="{FF2B5EF4-FFF2-40B4-BE49-F238E27FC236}">
                <a16:creationId xmlns:a16="http://schemas.microsoft.com/office/drawing/2014/main" id="{F0D6705B-62B0-9CAF-8A66-17B466C7E1EC}"/>
              </a:ext>
            </a:extLst>
          </p:cNvPr>
          <p:cNvSpPr/>
          <p:nvPr/>
        </p:nvSpPr>
        <p:spPr>
          <a:xfrm>
            <a:off x="2135605" y="3397702"/>
            <a:ext cx="3795963" cy="187709"/>
          </a:xfrm>
          <a:custGeom>
            <a:avLst/>
            <a:gdLst>
              <a:gd name="connsiteX0" fmla="*/ 0 w 3795963"/>
              <a:gd name="connsiteY0" fmla="*/ 187709 h 187709"/>
              <a:gd name="connsiteX1" fmla="*/ 2875548 w 3795963"/>
              <a:gd name="connsiteY1" fmla="*/ 1219 h 187709"/>
              <a:gd name="connsiteX2" fmla="*/ 3795963 w 3795963"/>
              <a:gd name="connsiteY2" fmla="*/ 121535 h 187709"/>
            </a:gdLst>
            <a:ahLst/>
            <a:cxnLst>
              <a:cxn ang="0">
                <a:pos x="connsiteX0" y="connsiteY0"/>
              </a:cxn>
              <a:cxn ang="0">
                <a:pos x="connsiteX1" y="connsiteY1"/>
              </a:cxn>
              <a:cxn ang="0">
                <a:pos x="connsiteX2" y="connsiteY2"/>
              </a:cxn>
            </a:cxnLst>
            <a:rect l="l" t="t" r="r" b="b"/>
            <a:pathLst>
              <a:path w="3795963" h="187709">
                <a:moveTo>
                  <a:pt x="0" y="187709"/>
                </a:moveTo>
                <a:cubicBezTo>
                  <a:pt x="1121444" y="99978"/>
                  <a:pt x="2242888" y="12248"/>
                  <a:pt x="2875548" y="1219"/>
                </a:cubicBezTo>
                <a:cubicBezTo>
                  <a:pt x="3508208" y="-9810"/>
                  <a:pt x="3652085" y="55862"/>
                  <a:pt x="3795963" y="121535"/>
                </a:cubicBezTo>
              </a:path>
            </a:pathLst>
          </a:custGeom>
          <a:noFill/>
          <a:ln w="38100">
            <a:solidFill>
              <a:srgbClr val="0070C0"/>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60036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500"/>
                                        <p:tgtEl>
                                          <p:spTgt spid="4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9" name="组合 8">
            <a:extLst>
              <a:ext uri="{FF2B5EF4-FFF2-40B4-BE49-F238E27FC236}">
                <a16:creationId xmlns:a16="http://schemas.microsoft.com/office/drawing/2014/main" id="{E095D7B8-6333-BE48-9868-4884DED38C9E}"/>
              </a:ext>
            </a:extLst>
          </p:cNvPr>
          <p:cNvGrpSpPr/>
          <p:nvPr/>
        </p:nvGrpSpPr>
        <p:grpSpPr>
          <a:xfrm>
            <a:off x="6447713" y="2229488"/>
            <a:ext cx="1950719" cy="887101"/>
            <a:chOff x="329943" y="2220150"/>
            <a:chExt cx="1950719" cy="887101"/>
          </a:xfrm>
        </p:grpSpPr>
        <p:sp>
          <p:nvSpPr>
            <p:cNvPr id="10" name="矩形 9">
              <a:extLst>
                <a:ext uri="{FF2B5EF4-FFF2-40B4-BE49-F238E27FC236}">
                  <a16:creationId xmlns:a16="http://schemas.microsoft.com/office/drawing/2014/main" id="{F64108EA-914D-F668-F219-4A6E53294AB3}"/>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矩形 10">
              <a:extLst>
                <a:ext uri="{FF2B5EF4-FFF2-40B4-BE49-F238E27FC236}">
                  <a16:creationId xmlns:a16="http://schemas.microsoft.com/office/drawing/2014/main" id="{0D681260-45C7-FF4B-745A-38C5CD62F96E}"/>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12" name="文本框 11">
              <a:extLst>
                <a:ext uri="{FF2B5EF4-FFF2-40B4-BE49-F238E27FC236}">
                  <a16:creationId xmlns:a16="http://schemas.microsoft.com/office/drawing/2014/main" id="{D3D52984-312D-B608-5F0A-CF6511BF2048}"/>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9" name="文本框 18">
              <a:extLst>
                <a:ext uri="{FF2B5EF4-FFF2-40B4-BE49-F238E27FC236}">
                  <a16:creationId xmlns:a16="http://schemas.microsoft.com/office/drawing/2014/main" id="{10A8B14E-D11E-1E5D-8BC6-49BF9321B650}"/>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38" name="矩形 37">
            <a:extLst>
              <a:ext uri="{FF2B5EF4-FFF2-40B4-BE49-F238E27FC236}">
                <a16:creationId xmlns:a16="http://schemas.microsoft.com/office/drawing/2014/main" id="{114A4F4F-4C93-1E14-B8B7-B514A50AC841}"/>
              </a:ext>
            </a:extLst>
          </p:cNvPr>
          <p:cNvSpPr/>
          <p:nvPr/>
        </p:nvSpPr>
        <p:spPr>
          <a:xfrm>
            <a:off x="788824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39" name="矩形 38">
            <a:extLst>
              <a:ext uri="{FF2B5EF4-FFF2-40B4-BE49-F238E27FC236}">
                <a16:creationId xmlns:a16="http://schemas.microsoft.com/office/drawing/2014/main" id="{23BF4136-B841-9029-BCC5-207368167D20}"/>
              </a:ext>
            </a:extLst>
          </p:cNvPr>
          <p:cNvSpPr/>
          <p:nvPr/>
        </p:nvSpPr>
        <p:spPr>
          <a:xfrm>
            <a:off x="8680722"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0" name="矩形 39">
            <a:extLst>
              <a:ext uri="{FF2B5EF4-FFF2-40B4-BE49-F238E27FC236}">
                <a16:creationId xmlns:a16="http://schemas.microsoft.com/office/drawing/2014/main" id="{8CD6D27E-42D5-9FEF-D67C-0A6A6EDD2C6D}"/>
              </a:ext>
            </a:extLst>
          </p:cNvPr>
          <p:cNvSpPr/>
          <p:nvPr/>
        </p:nvSpPr>
        <p:spPr>
          <a:xfrm>
            <a:off x="8811351" y="3597782"/>
            <a:ext cx="874581"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状态码</a:t>
            </a:r>
          </a:p>
        </p:txBody>
      </p:sp>
      <p:sp>
        <p:nvSpPr>
          <p:cNvPr id="41" name="矩形 40">
            <a:extLst>
              <a:ext uri="{FF2B5EF4-FFF2-40B4-BE49-F238E27FC236}">
                <a16:creationId xmlns:a16="http://schemas.microsoft.com/office/drawing/2014/main" id="{18F920DF-8F9A-4E24-BE0D-25E111122CE3}"/>
              </a:ext>
            </a:extLst>
          </p:cNvPr>
          <p:cNvSpPr/>
          <p:nvPr/>
        </p:nvSpPr>
        <p:spPr>
          <a:xfrm>
            <a:off x="981283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短 语</a:t>
            </a:r>
          </a:p>
        </p:txBody>
      </p:sp>
      <p:sp>
        <p:nvSpPr>
          <p:cNvPr id="44" name="矩形 43">
            <a:extLst>
              <a:ext uri="{FF2B5EF4-FFF2-40B4-BE49-F238E27FC236}">
                <a16:creationId xmlns:a16="http://schemas.microsoft.com/office/drawing/2014/main" id="{8600164B-8110-D363-AD09-A05E1392E639}"/>
              </a:ext>
            </a:extLst>
          </p:cNvPr>
          <p:cNvSpPr/>
          <p:nvPr/>
        </p:nvSpPr>
        <p:spPr>
          <a:xfrm>
            <a:off x="9682204"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6" name="矩形 45">
            <a:extLst>
              <a:ext uri="{FF2B5EF4-FFF2-40B4-BE49-F238E27FC236}">
                <a16:creationId xmlns:a16="http://schemas.microsoft.com/office/drawing/2014/main" id="{47D2C453-FCF9-14AB-F953-A4A052003316}"/>
              </a:ext>
            </a:extLst>
          </p:cNvPr>
          <p:cNvSpPr/>
          <p:nvPr/>
        </p:nvSpPr>
        <p:spPr>
          <a:xfrm>
            <a:off x="10596604" y="3597782"/>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6" name="文本框 65">
            <a:extLst>
              <a:ext uri="{FF2B5EF4-FFF2-40B4-BE49-F238E27FC236}">
                <a16:creationId xmlns:a16="http://schemas.microsoft.com/office/drawing/2014/main" id="{79ED3064-5F3D-96F5-8760-E34E899F5B78}"/>
              </a:ext>
            </a:extLst>
          </p:cNvPr>
          <p:cNvSpPr txBox="1"/>
          <p:nvPr/>
        </p:nvSpPr>
        <p:spPr>
          <a:xfrm>
            <a:off x="6669045" y="3597782"/>
            <a:ext cx="888279" cy="369332"/>
          </a:xfrm>
          <a:prstGeom prst="rect">
            <a:avLst/>
          </a:prstGeom>
          <a:noFill/>
        </p:spPr>
        <p:txBody>
          <a:bodyPr wrap="square" rtlCol="0">
            <a:spAutoFit/>
          </a:bodyPr>
          <a:lstStyle/>
          <a:p>
            <a:r>
              <a:rPr lang="zh-CN" altLang="en-US" b="1" dirty="0">
                <a:latin typeface="+mn-ea"/>
              </a:rPr>
              <a:t>状态行</a:t>
            </a:r>
          </a:p>
        </p:txBody>
      </p:sp>
      <p:grpSp>
        <p:nvGrpSpPr>
          <p:cNvPr id="71" name="组合 70">
            <a:extLst>
              <a:ext uri="{FF2B5EF4-FFF2-40B4-BE49-F238E27FC236}">
                <a16:creationId xmlns:a16="http://schemas.microsoft.com/office/drawing/2014/main" id="{B07B1349-3F71-FD7E-8A44-D0A56BD34E44}"/>
              </a:ext>
            </a:extLst>
          </p:cNvPr>
          <p:cNvGrpSpPr/>
          <p:nvPr/>
        </p:nvGrpSpPr>
        <p:grpSpPr>
          <a:xfrm>
            <a:off x="6669045" y="3967114"/>
            <a:ext cx="4519745" cy="2366820"/>
            <a:chOff x="6669045" y="3967114"/>
            <a:chExt cx="4519745" cy="2366820"/>
          </a:xfrm>
        </p:grpSpPr>
        <p:sp>
          <p:nvSpPr>
            <p:cNvPr id="47" name="矩形 46">
              <a:extLst>
                <a:ext uri="{FF2B5EF4-FFF2-40B4-BE49-F238E27FC236}">
                  <a16:creationId xmlns:a16="http://schemas.microsoft.com/office/drawing/2014/main" id="{740E98CE-123B-2749-C955-564250A1A429}"/>
                </a:ext>
              </a:extLst>
            </p:cNvPr>
            <p:cNvSpPr/>
            <p:nvPr/>
          </p:nvSpPr>
          <p:spPr>
            <a:xfrm>
              <a:off x="7888244" y="3967114"/>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48" name="矩形 47">
              <a:extLst>
                <a:ext uri="{FF2B5EF4-FFF2-40B4-BE49-F238E27FC236}">
                  <a16:creationId xmlns:a16="http://schemas.microsoft.com/office/drawing/2014/main" id="{DFFC6971-3C5C-6759-8F3C-AB09A448139F}"/>
                </a:ext>
              </a:extLst>
            </p:cNvPr>
            <p:cNvSpPr/>
            <p:nvPr/>
          </p:nvSpPr>
          <p:spPr>
            <a:xfrm>
              <a:off x="9225008" y="3967114"/>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49" name="矩形 48">
              <a:extLst>
                <a:ext uri="{FF2B5EF4-FFF2-40B4-BE49-F238E27FC236}">
                  <a16:creationId xmlns:a16="http://schemas.microsoft.com/office/drawing/2014/main" id="{83974C23-B015-66FE-05DC-3BB5C3E8446C}"/>
                </a:ext>
              </a:extLst>
            </p:cNvPr>
            <p:cNvSpPr/>
            <p:nvPr/>
          </p:nvSpPr>
          <p:spPr>
            <a:xfrm>
              <a:off x="9355638" y="396711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1" name="矩形 50">
              <a:extLst>
                <a:ext uri="{FF2B5EF4-FFF2-40B4-BE49-F238E27FC236}">
                  <a16:creationId xmlns:a16="http://schemas.microsoft.com/office/drawing/2014/main" id="{4F14FBC9-AFC8-7DA6-8362-9765C20A8A2B}"/>
                </a:ext>
              </a:extLst>
            </p:cNvPr>
            <p:cNvSpPr/>
            <p:nvPr/>
          </p:nvSpPr>
          <p:spPr>
            <a:xfrm>
              <a:off x="9486268" y="3967114"/>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52" name="矩形 51">
              <a:extLst>
                <a:ext uri="{FF2B5EF4-FFF2-40B4-BE49-F238E27FC236}">
                  <a16:creationId xmlns:a16="http://schemas.microsoft.com/office/drawing/2014/main" id="{5D7685F6-EE4C-5EA3-D265-DF7D50A425CD}"/>
                </a:ext>
              </a:extLst>
            </p:cNvPr>
            <p:cNvSpPr/>
            <p:nvPr/>
          </p:nvSpPr>
          <p:spPr>
            <a:xfrm>
              <a:off x="9904279" y="396711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6" name="组合 55">
              <a:extLst>
                <a:ext uri="{FF2B5EF4-FFF2-40B4-BE49-F238E27FC236}">
                  <a16:creationId xmlns:a16="http://schemas.microsoft.com/office/drawing/2014/main" id="{60ECEC22-0924-27F7-A10A-EC82F082D0B3}"/>
                </a:ext>
              </a:extLst>
            </p:cNvPr>
            <p:cNvGrpSpPr/>
            <p:nvPr/>
          </p:nvGrpSpPr>
          <p:grpSpPr>
            <a:xfrm>
              <a:off x="7883890" y="4887433"/>
              <a:ext cx="2729506" cy="369332"/>
              <a:chOff x="1766120" y="4878095"/>
              <a:chExt cx="2729506" cy="369332"/>
            </a:xfrm>
          </p:grpSpPr>
          <p:sp>
            <p:nvSpPr>
              <p:cNvPr id="57" name="矩形 56">
                <a:extLst>
                  <a:ext uri="{FF2B5EF4-FFF2-40B4-BE49-F238E27FC236}">
                    <a16:creationId xmlns:a16="http://schemas.microsoft.com/office/drawing/2014/main" id="{5B419F70-710D-6910-C5E1-20984F344260}"/>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58" name="矩形 57">
                <a:extLst>
                  <a:ext uri="{FF2B5EF4-FFF2-40B4-BE49-F238E27FC236}">
                    <a16:creationId xmlns:a16="http://schemas.microsoft.com/office/drawing/2014/main" id="{8B537E8B-D5C5-60BF-666A-F0FAAACF0E40}"/>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59" name="矩形 58">
                <a:extLst>
                  <a:ext uri="{FF2B5EF4-FFF2-40B4-BE49-F238E27FC236}">
                    <a16:creationId xmlns:a16="http://schemas.microsoft.com/office/drawing/2014/main" id="{82B6A845-10BC-CAEC-B3C2-135DBE8D59E5}"/>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矩形 59">
                <a:extLst>
                  <a:ext uri="{FF2B5EF4-FFF2-40B4-BE49-F238E27FC236}">
                    <a16:creationId xmlns:a16="http://schemas.microsoft.com/office/drawing/2014/main" id="{3237ED44-73E4-D437-77E8-DFD31BE2D696}"/>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62" name="矩形 61">
                <a:extLst>
                  <a:ext uri="{FF2B5EF4-FFF2-40B4-BE49-F238E27FC236}">
                    <a16:creationId xmlns:a16="http://schemas.microsoft.com/office/drawing/2014/main" id="{0834241E-C6AE-83A1-0EBE-BD9A3ECC1E95}"/>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63" name="文本框 62">
              <a:extLst>
                <a:ext uri="{FF2B5EF4-FFF2-40B4-BE49-F238E27FC236}">
                  <a16:creationId xmlns:a16="http://schemas.microsoft.com/office/drawing/2014/main" id="{CFDD435A-5119-FECD-FB4A-93C791E86AA7}"/>
                </a:ext>
              </a:extLst>
            </p:cNvPr>
            <p:cNvSpPr txBox="1"/>
            <p:nvPr/>
          </p:nvSpPr>
          <p:spPr>
            <a:xfrm>
              <a:off x="8349687" y="4475000"/>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64" name="矩形 63">
              <a:extLst>
                <a:ext uri="{FF2B5EF4-FFF2-40B4-BE49-F238E27FC236}">
                  <a16:creationId xmlns:a16="http://schemas.microsoft.com/office/drawing/2014/main" id="{3D51A553-7010-64B3-E65A-D38A65DA15A1}"/>
                </a:ext>
              </a:extLst>
            </p:cNvPr>
            <p:cNvSpPr/>
            <p:nvPr/>
          </p:nvSpPr>
          <p:spPr>
            <a:xfrm>
              <a:off x="7888244" y="525676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5" name="矩形 64">
              <a:extLst>
                <a:ext uri="{FF2B5EF4-FFF2-40B4-BE49-F238E27FC236}">
                  <a16:creationId xmlns:a16="http://schemas.microsoft.com/office/drawing/2014/main" id="{AD9B718D-8B8C-D471-9460-2ED0D82103F7}"/>
                </a:ext>
              </a:extLst>
            </p:cNvPr>
            <p:cNvSpPr/>
            <p:nvPr/>
          </p:nvSpPr>
          <p:spPr>
            <a:xfrm>
              <a:off x="7888244" y="5629101"/>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（有些响应报文不用）</a:t>
              </a:r>
            </a:p>
          </p:txBody>
        </p:sp>
        <p:grpSp>
          <p:nvGrpSpPr>
            <p:cNvPr id="67" name="组合 66">
              <a:extLst>
                <a:ext uri="{FF2B5EF4-FFF2-40B4-BE49-F238E27FC236}">
                  <a16:creationId xmlns:a16="http://schemas.microsoft.com/office/drawing/2014/main" id="{091FAFFF-57BA-92CD-39C2-0418CF8342D6}"/>
                </a:ext>
              </a:extLst>
            </p:cNvPr>
            <p:cNvGrpSpPr/>
            <p:nvPr/>
          </p:nvGrpSpPr>
          <p:grpSpPr>
            <a:xfrm>
              <a:off x="6669045" y="3967114"/>
              <a:ext cx="1214845" cy="1286639"/>
              <a:chOff x="551275" y="3957776"/>
              <a:chExt cx="1214845" cy="1286639"/>
            </a:xfrm>
          </p:grpSpPr>
          <p:sp>
            <p:nvSpPr>
              <p:cNvPr id="68" name="左大括号 67">
                <a:extLst>
                  <a:ext uri="{FF2B5EF4-FFF2-40B4-BE49-F238E27FC236}">
                    <a16:creationId xmlns:a16="http://schemas.microsoft.com/office/drawing/2014/main" id="{5D9DA16A-F7A1-6E0A-59A2-A90BB1BCD4E4}"/>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9" name="文本框 68">
                <a:extLst>
                  <a:ext uri="{FF2B5EF4-FFF2-40B4-BE49-F238E27FC236}">
                    <a16:creationId xmlns:a16="http://schemas.microsoft.com/office/drawing/2014/main" id="{CC35C738-3DC9-E5C2-720F-716A496BE0B6}"/>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grpSp>
      <p:sp>
        <p:nvSpPr>
          <p:cNvPr id="70" name="文本框 69">
            <a:extLst>
              <a:ext uri="{FF2B5EF4-FFF2-40B4-BE49-F238E27FC236}">
                <a16:creationId xmlns:a16="http://schemas.microsoft.com/office/drawing/2014/main" id="{BE308C74-9957-9A6A-1F37-17F88F208DC0}"/>
              </a:ext>
            </a:extLst>
          </p:cNvPr>
          <p:cNvSpPr txBox="1"/>
          <p:nvPr/>
        </p:nvSpPr>
        <p:spPr>
          <a:xfrm>
            <a:off x="8349687" y="3089896"/>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响应报文格式</a:t>
            </a:r>
          </a:p>
        </p:txBody>
      </p:sp>
      <p:pic>
        <p:nvPicPr>
          <p:cNvPr id="73" name="图片 72" descr="文本&#10;&#10;描述已自动生成">
            <a:extLst>
              <a:ext uri="{FF2B5EF4-FFF2-40B4-BE49-F238E27FC236}">
                <a16:creationId xmlns:a16="http://schemas.microsoft.com/office/drawing/2014/main" id="{EB503849-94CB-E31A-8F87-FA986B36B4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78" y="3597782"/>
            <a:ext cx="5468978" cy="1771949"/>
          </a:xfrm>
          <a:prstGeom prst="rect">
            <a:avLst/>
          </a:prstGeom>
        </p:spPr>
      </p:pic>
      <p:sp>
        <p:nvSpPr>
          <p:cNvPr id="74" name="任意多边形: 形状 73">
            <a:extLst>
              <a:ext uri="{FF2B5EF4-FFF2-40B4-BE49-F238E27FC236}">
                <a16:creationId xmlns:a16="http://schemas.microsoft.com/office/drawing/2014/main" id="{F008EC34-E496-ECCB-1589-C8A4E3F1B534}"/>
              </a:ext>
            </a:extLst>
          </p:cNvPr>
          <p:cNvSpPr/>
          <p:nvPr/>
        </p:nvSpPr>
        <p:spPr>
          <a:xfrm>
            <a:off x="1167063" y="3158289"/>
            <a:ext cx="7964905" cy="427122"/>
          </a:xfrm>
          <a:custGeom>
            <a:avLst/>
            <a:gdLst>
              <a:gd name="connsiteX0" fmla="*/ 7964905 w 7964905"/>
              <a:gd name="connsiteY0" fmla="*/ 427122 h 427122"/>
              <a:gd name="connsiteX1" fmla="*/ 2496553 w 7964905"/>
              <a:gd name="connsiteY1" fmla="*/ 0 h 427122"/>
              <a:gd name="connsiteX2" fmla="*/ 0 w 7964905"/>
              <a:gd name="connsiteY2" fmla="*/ 427122 h 427122"/>
            </a:gdLst>
            <a:ahLst/>
            <a:cxnLst>
              <a:cxn ang="0">
                <a:pos x="connsiteX0" y="connsiteY0"/>
              </a:cxn>
              <a:cxn ang="0">
                <a:pos x="connsiteX1" y="connsiteY1"/>
              </a:cxn>
              <a:cxn ang="0">
                <a:pos x="connsiteX2" y="connsiteY2"/>
              </a:cxn>
            </a:cxnLst>
            <a:rect l="l" t="t" r="r" b="b"/>
            <a:pathLst>
              <a:path w="7964905" h="427122">
                <a:moveTo>
                  <a:pt x="7964905" y="427122"/>
                </a:moveTo>
                <a:cubicBezTo>
                  <a:pt x="5894471" y="213561"/>
                  <a:pt x="3824037" y="0"/>
                  <a:pt x="2496553" y="0"/>
                </a:cubicBezTo>
                <a:cubicBezTo>
                  <a:pt x="1169069" y="0"/>
                  <a:pt x="584534" y="213561"/>
                  <a:pt x="0" y="427122"/>
                </a:cubicBezTo>
              </a:path>
            </a:pathLst>
          </a:custGeom>
          <a:noFill/>
          <a:ln w="38100">
            <a:solidFill>
              <a:srgbClr val="0070C0"/>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20202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right)">
                                      <p:cBhvr>
                                        <p:cTn id="7" dur="500"/>
                                        <p:tgtEl>
                                          <p:spTgt spid="7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3"/>
                                        </p:tgtEl>
                                        <p:attrNameLst>
                                          <p:attrName>style.visibility</p:attrName>
                                        </p:attrNameLst>
                                      </p:cBhvr>
                                      <p:to>
                                        <p:strVal val="visible"/>
                                      </p:to>
                                    </p:set>
                                    <p:animEffect transition="in" filter="wipe(up)">
                                      <p:cBhvr>
                                        <p:cTn id="11"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04</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超文本传输协议</a:t>
              </a:r>
              <a:r>
                <a:rPr lang="en-US" altLang="zh-CN" sz="2000" b="1" dirty="0"/>
                <a:t>HTTP(</a:t>
              </a:r>
              <a:r>
                <a:rPr lang="en-US" altLang="zh-CN" sz="2000" b="1" dirty="0">
                  <a:solidFill>
                    <a:srgbClr val="FF0000"/>
                  </a:solidFill>
                </a:rPr>
                <a:t>H</a:t>
              </a:r>
              <a:r>
                <a:rPr lang="en-US" altLang="zh-CN" sz="2000" b="1" dirty="0"/>
                <a:t>yper</a:t>
              </a:r>
              <a:r>
                <a:rPr lang="en-US" altLang="zh-CN" sz="2000" b="1" dirty="0">
                  <a:solidFill>
                    <a:srgbClr val="FF0000"/>
                  </a:solidFill>
                </a:rPr>
                <a:t>T</a:t>
              </a:r>
              <a:r>
                <a:rPr lang="en-US" altLang="zh-CN" sz="2000" b="1" dirty="0"/>
                <a:t>ext </a:t>
              </a:r>
              <a:r>
                <a:rPr lang="en-US" altLang="zh-CN" sz="2000" b="1" dirty="0">
                  <a:solidFill>
                    <a:srgbClr val="FF0000"/>
                  </a:solidFill>
                </a:rPr>
                <a:t>T</a:t>
              </a:r>
              <a:r>
                <a:rPr lang="en-US" altLang="zh-CN" sz="2000" b="1" dirty="0"/>
                <a:t>ransfer </a:t>
              </a:r>
              <a:r>
                <a:rPr lang="en-US" altLang="zh-CN" sz="2000" b="1" dirty="0">
                  <a:solidFill>
                    <a:srgbClr val="FF0000"/>
                  </a:solidFill>
                </a:rPr>
                <a:t>P</a:t>
              </a:r>
              <a:r>
                <a:rPr lang="en-US" altLang="zh-CN" sz="2000" b="1" dirty="0"/>
                <a:t>rotocol)</a:t>
              </a:r>
              <a:endParaRPr lang="zh-CN" altLang="en-US" sz="2000" b="1" dirty="0"/>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的报文格式</a:t>
            </a:r>
            <a:endParaRPr lang="en-US" altLang="zh-CN" b="1" dirty="0"/>
          </a:p>
        </p:txBody>
      </p:sp>
      <p:sp>
        <p:nvSpPr>
          <p:cNvPr id="5" name="íşlïḍè">
            <a:extLst>
              <a:ext uri="{FF2B5EF4-FFF2-40B4-BE49-F238E27FC236}">
                <a16:creationId xmlns:a16="http://schemas.microsoft.com/office/drawing/2014/main" id="{1CBF3A64-C995-829C-4488-3620C648B7EB}"/>
              </a:ext>
            </a:extLst>
          </p:cNvPr>
          <p:cNvSpPr txBox="1"/>
          <p:nvPr/>
        </p:nvSpPr>
        <p:spPr>
          <a:xfrm>
            <a:off x="1293757" y="1530698"/>
            <a:ext cx="10593443" cy="430654"/>
          </a:xfrm>
          <a:prstGeom prst="rect">
            <a:avLst/>
          </a:prstGeom>
          <a:noFill/>
        </p:spPr>
        <p:txBody>
          <a:bodyPr wrap="square" lIns="91440" tIns="45720" rIns="91440" bIns="45720" anchor="ctr">
            <a:noAutofit/>
          </a:bodyPr>
          <a:lstStyle/>
          <a:p>
            <a:r>
              <a:rPr lang="en-US" altLang="zh-CN" b="1" dirty="0"/>
              <a:t>HTTP</a:t>
            </a:r>
            <a:r>
              <a:rPr lang="zh-CN" altLang="en-US" b="1" dirty="0"/>
              <a:t>是</a:t>
            </a:r>
            <a:r>
              <a:rPr lang="zh-CN" altLang="en-US" b="1" dirty="0">
                <a:solidFill>
                  <a:srgbClr val="FF0000"/>
                </a:solidFill>
              </a:rPr>
              <a:t>面向文本</a:t>
            </a:r>
            <a:r>
              <a:rPr lang="zh-CN" altLang="en-US" b="1" dirty="0"/>
              <a:t>的，其报文中的每一个</a:t>
            </a:r>
            <a:r>
              <a:rPr lang="zh-CN" altLang="en-US" b="1" dirty="0">
                <a:solidFill>
                  <a:srgbClr val="FF0000"/>
                </a:solidFill>
              </a:rPr>
              <a:t>字段</a:t>
            </a:r>
            <a:r>
              <a:rPr lang="zh-CN" altLang="en-US" b="1" dirty="0"/>
              <a:t>都是一些</a:t>
            </a:r>
            <a:r>
              <a:rPr lang="en-US" altLang="zh-CN" b="1" dirty="0">
                <a:solidFill>
                  <a:srgbClr val="FF0000"/>
                </a:solidFill>
              </a:rPr>
              <a:t>ASCII</a:t>
            </a:r>
            <a:r>
              <a:rPr lang="zh-CN" altLang="en-US" b="1" dirty="0">
                <a:solidFill>
                  <a:srgbClr val="FF0000"/>
                </a:solidFill>
              </a:rPr>
              <a:t>码串</a:t>
            </a:r>
            <a:r>
              <a:rPr lang="zh-CN" altLang="en-US" b="1" dirty="0"/>
              <a:t>，并且每个字段的</a:t>
            </a:r>
            <a:r>
              <a:rPr lang="zh-CN" altLang="en-US" b="1" dirty="0">
                <a:solidFill>
                  <a:srgbClr val="FF0000"/>
                </a:solidFill>
              </a:rPr>
              <a:t>长度</a:t>
            </a:r>
            <a:r>
              <a:rPr lang="zh-CN" altLang="en-US" b="1" dirty="0"/>
              <a:t>都是</a:t>
            </a:r>
            <a:r>
              <a:rPr lang="zh-CN" altLang="en-US" b="1" dirty="0">
                <a:solidFill>
                  <a:srgbClr val="FF0000"/>
                </a:solidFill>
              </a:rPr>
              <a:t>不确定</a:t>
            </a:r>
            <a:r>
              <a:rPr lang="zh-CN" altLang="en-US" b="1" dirty="0"/>
              <a:t>的。</a:t>
            </a:r>
            <a:endParaRPr lang="en-US" altLang="zh-CN" b="1" dirty="0"/>
          </a:p>
        </p:txBody>
      </p:sp>
      <p:grpSp>
        <p:nvGrpSpPr>
          <p:cNvPr id="6" name="组合 5">
            <a:extLst>
              <a:ext uri="{FF2B5EF4-FFF2-40B4-BE49-F238E27FC236}">
                <a16:creationId xmlns:a16="http://schemas.microsoft.com/office/drawing/2014/main" id="{DC7D866D-C932-7792-D881-482A64502D0D}"/>
              </a:ext>
            </a:extLst>
          </p:cNvPr>
          <p:cNvGrpSpPr/>
          <p:nvPr/>
        </p:nvGrpSpPr>
        <p:grpSpPr>
          <a:xfrm>
            <a:off x="482364" y="2229488"/>
            <a:ext cx="4853653" cy="4104446"/>
            <a:chOff x="6447713" y="2229488"/>
            <a:chExt cx="4853653" cy="4104446"/>
          </a:xfrm>
        </p:grpSpPr>
        <p:grpSp>
          <p:nvGrpSpPr>
            <p:cNvPr id="9" name="组合 8">
              <a:extLst>
                <a:ext uri="{FF2B5EF4-FFF2-40B4-BE49-F238E27FC236}">
                  <a16:creationId xmlns:a16="http://schemas.microsoft.com/office/drawing/2014/main" id="{E095D7B8-6333-BE48-9868-4884DED38C9E}"/>
                </a:ext>
              </a:extLst>
            </p:cNvPr>
            <p:cNvGrpSpPr/>
            <p:nvPr/>
          </p:nvGrpSpPr>
          <p:grpSpPr>
            <a:xfrm>
              <a:off x="6447713" y="2229488"/>
              <a:ext cx="1950719" cy="887101"/>
              <a:chOff x="329943" y="2220150"/>
              <a:chExt cx="1950719" cy="887101"/>
            </a:xfrm>
          </p:grpSpPr>
          <p:sp>
            <p:nvSpPr>
              <p:cNvPr id="10" name="矩形 9">
                <a:extLst>
                  <a:ext uri="{FF2B5EF4-FFF2-40B4-BE49-F238E27FC236}">
                    <a16:creationId xmlns:a16="http://schemas.microsoft.com/office/drawing/2014/main" id="{F64108EA-914D-F668-F219-4A6E53294AB3}"/>
                  </a:ext>
                </a:extLst>
              </p:cNvPr>
              <p:cNvSpPr/>
              <p:nvPr/>
            </p:nvSpPr>
            <p:spPr>
              <a:xfrm>
                <a:off x="329943" y="2220150"/>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1" name="矩形 10">
                <a:extLst>
                  <a:ext uri="{FF2B5EF4-FFF2-40B4-BE49-F238E27FC236}">
                    <a16:creationId xmlns:a16="http://schemas.microsoft.com/office/drawing/2014/main" id="{0D681260-45C7-FF4B-745A-38C5CD62F96E}"/>
                  </a:ext>
                </a:extLst>
              </p:cNvPr>
              <p:cNvSpPr/>
              <p:nvPr/>
            </p:nvSpPr>
            <p:spPr>
              <a:xfrm>
                <a:off x="329943" y="2737919"/>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12" name="文本框 11">
                <a:extLst>
                  <a:ext uri="{FF2B5EF4-FFF2-40B4-BE49-F238E27FC236}">
                    <a16:creationId xmlns:a16="http://schemas.microsoft.com/office/drawing/2014/main" id="{D3D52984-312D-B608-5F0A-CF6511BF2048}"/>
                  </a:ext>
                </a:extLst>
              </p:cNvPr>
              <p:cNvSpPr txBox="1"/>
              <p:nvPr/>
            </p:nvSpPr>
            <p:spPr>
              <a:xfrm>
                <a:off x="1139841" y="2220150"/>
                <a:ext cx="792479" cy="369332"/>
              </a:xfrm>
              <a:prstGeom prst="rect">
                <a:avLst/>
              </a:prstGeom>
              <a:noFill/>
            </p:spPr>
            <p:txBody>
              <a:bodyPr wrap="square" rtlCol="0">
                <a:spAutoFit/>
              </a:bodyPr>
              <a:lstStyle/>
              <a:p>
                <a:r>
                  <a:rPr lang="zh-CN" altLang="en-US" b="1" dirty="0">
                    <a:latin typeface="+mn-ea"/>
                  </a:rPr>
                  <a:t>空格</a:t>
                </a:r>
              </a:p>
            </p:txBody>
          </p:sp>
          <p:sp>
            <p:nvSpPr>
              <p:cNvPr id="19" name="文本框 18">
                <a:extLst>
                  <a:ext uri="{FF2B5EF4-FFF2-40B4-BE49-F238E27FC236}">
                    <a16:creationId xmlns:a16="http://schemas.microsoft.com/office/drawing/2014/main" id="{10A8B14E-D11E-1E5D-8BC6-49BF9321B650}"/>
                  </a:ext>
                </a:extLst>
              </p:cNvPr>
              <p:cNvSpPr txBox="1"/>
              <p:nvPr/>
            </p:nvSpPr>
            <p:spPr>
              <a:xfrm>
                <a:off x="1139841" y="2737919"/>
                <a:ext cx="1140821" cy="369332"/>
              </a:xfrm>
              <a:prstGeom prst="rect">
                <a:avLst/>
              </a:prstGeom>
              <a:noFill/>
            </p:spPr>
            <p:txBody>
              <a:bodyPr wrap="square" rtlCol="0">
                <a:spAutoFit/>
              </a:bodyPr>
              <a:lstStyle/>
              <a:p>
                <a:r>
                  <a:rPr lang="zh-CN" altLang="en-US" b="1" dirty="0">
                    <a:latin typeface="+mn-ea"/>
                  </a:rPr>
                  <a:t>回车换行</a:t>
                </a:r>
              </a:p>
            </p:txBody>
          </p:sp>
        </p:grpSp>
        <p:sp>
          <p:nvSpPr>
            <p:cNvPr id="38" name="矩形 37">
              <a:extLst>
                <a:ext uri="{FF2B5EF4-FFF2-40B4-BE49-F238E27FC236}">
                  <a16:creationId xmlns:a16="http://schemas.microsoft.com/office/drawing/2014/main" id="{114A4F4F-4C93-1E14-B8B7-B514A50AC841}"/>
                </a:ext>
              </a:extLst>
            </p:cNvPr>
            <p:cNvSpPr/>
            <p:nvPr/>
          </p:nvSpPr>
          <p:spPr>
            <a:xfrm>
              <a:off x="788824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版 本</a:t>
              </a:r>
            </a:p>
          </p:txBody>
        </p:sp>
        <p:sp>
          <p:nvSpPr>
            <p:cNvPr id="39" name="矩形 38">
              <a:extLst>
                <a:ext uri="{FF2B5EF4-FFF2-40B4-BE49-F238E27FC236}">
                  <a16:creationId xmlns:a16="http://schemas.microsoft.com/office/drawing/2014/main" id="{23BF4136-B841-9029-BCC5-207368167D20}"/>
                </a:ext>
              </a:extLst>
            </p:cNvPr>
            <p:cNvSpPr/>
            <p:nvPr/>
          </p:nvSpPr>
          <p:spPr>
            <a:xfrm>
              <a:off x="8680722"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0" name="矩形 39">
              <a:extLst>
                <a:ext uri="{FF2B5EF4-FFF2-40B4-BE49-F238E27FC236}">
                  <a16:creationId xmlns:a16="http://schemas.microsoft.com/office/drawing/2014/main" id="{8CD6D27E-42D5-9FEF-D67C-0A6A6EDD2C6D}"/>
                </a:ext>
              </a:extLst>
            </p:cNvPr>
            <p:cNvSpPr/>
            <p:nvPr/>
          </p:nvSpPr>
          <p:spPr>
            <a:xfrm>
              <a:off x="8811351" y="3597782"/>
              <a:ext cx="874581"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状态码</a:t>
              </a:r>
            </a:p>
          </p:txBody>
        </p:sp>
        <p:sp>
          <p:nvSpPr>
            <p:cNvPr id="41" name="矩形 40">
              <a:extLst>
                <a:ext uri="{FF2B5EF4-FFF2-40B4-BE49-F238E27FC236}">
                  <a16:creationId xmlns:a16="http://schemas.microsoft.com/office/drawing/2014/main" id="{18F920DF-8F9A-4E24-BE0D-25E111122CE3}"/>
                </a:ext>
              </a:extLst>
            </p:cNvPr>
            <p:cNvSpPr/>
            <p:nvPr/>
          </p:nvSpPr>
          <p:spPr>
            <a:xfrm>
              <a:off x="9812834" y="3597782"/>
              <a:ext cx="79247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短 语</a:t>
              </a:r>
            </a:p>
          </p:txBody>
        </p:sp>
        <p:sp>
          <p:nvSpPr>
            <p:cNvPr id="44" name="矩形 43">
              <a:extLst>
                <a:ext uri="{FF2B5EF4-FFF2-40B4-BE49-F238E27FC236}">
                  <a16:creationId xmlns:a16="http://schemas.microsoft.com/office/drawing/2014/main" id="{8600164B-8110-D363-AD09-A05E1392E639}"/>
                </a:ext>
              </a:extLst>
            </p:cNvPr>
            <p:cNvSpPr/>
            <p:nvPr/>
          </p:nvSpPr>
          <p:spPr>
            <a:xfrm>
              <a:off x="9682204" y="3597782"/>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46" name="矩形 45">
              <a:extLst>
                <a:ext uri="{FF2B5EF4-FFF2-40B4-BE49-F238E27FC236}">
                  <a16:creationId xmlns:a16="http://schemas.microsoft.com/office/drawing/2014/main" id="{47D2C453-FCF9-14AB-F953-A4A052003316}"/>
                </a:ext>
              </a:extLst>
            </p:cNvPr>
            <p:cNvSpPr/>
            <p:nvPr/>
          </p:nvSpPr>
          <p:spPr>
            <a:xfrm>
              <a:off x="10596604" y="3597782"/>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6" name="文本框 65">
              <a:extLst>
                <a:ext uri="{FF2B5EF4-FFF2-40B4-BE49-F238E27FC236}">
                  <a16:creationId xmlns:a16="http://schemas.microsoft.com/office/drawing/2014/main" id="{79ED3064-5F3D-96F5-8760-E34E899F5B78}"/>
                </a:ext>
              </a:extLst>
            </p:cNvPr>
            <p:cNvSpPr txBox="1"/>
            <p:nvPr/>
          </p:nvSpPr>
          <p:spPr>
            <a:xfrm>
              <a:off x="6669045" y="3597782"/>
              <a:ext cx="888279" cy="369332"/>
            </a:xfrm>
            <a:prstGeom prst="rect">
              <a:avLst/>
            </a:prstGeom>
            <a:noFill/>
          </p:spPr>
          <p:txBody>
            <a:bodyPr wrap="square" rtlCol="0">
              <a:spAutoFit/>
            </a:bodyPr>
            <a:lstStyle/>
            <a:p>
              <a:r>
                <a:rPr lang="zh-CN" altLang="en-US" b="1" dirty="0">
                  <a:latin typeface="+mn-ea"/>
                </a:rPr>
                <a:t>状态行</a:t>
              </a:r>
            </a:p>
          </p:txBody>
        </p:sp>
        <p:grpSp>
          <p:nvGrpSpPr>
            <p:cNvPr id="71" name="组合 70">
              <a:extLst>
                <a:ext uri="{FF2B5EF4-FFF2-40B4-BE49-F238E27FC236}">
                  <a16:creationId xmlns:a16="http://schemas.microsoft.com/office/drawing/2014/main" id="{B07B1349-3F71-FD7E-8A44-D0A56BD34E44}"/>
                </a:ext>
              </a:extLst>
            </p:cNvPr>
            <p:cNvGrpSpPr/>
            <p:nvPr/>
          </p:nvGrpSpPr>
          <p:grpSpPr>
            <a:xfrm>
              <a:off x="6669045" y="3967114"/>
              <a:ext cx="4519745" cy="2366820"/>
              <a:chOff x="6669045" y="3967114"/>
              <a:chExt cx="4519745" cy="2366820"/>
            </a:xfrm>
          </p:grpSpPr>
          <p:sp>
            <p:nvSpPr>
              <p:cNvPr id="47" name="矩形 46">
                <a:extLst>
                  <a:ext uri="{FF2B5EF4-FFF2-40B4-BE49-F238E27FC236}">
                    <a16:creationId xmlns:a16="http://schemas.microsoft.com/office/drawing/2014/main" id="{740E98CE-123B-2749-C955-564250A1A429}"/>
                  </a:ext>
                </a:extLst>
              </p:cNvPr>
              <p:cNvSpPr/>
              <p:nvPr/>
            </p:nvSpPr>
            <p:spPr>
              <a:xfrm>
                <a:off x="7888244" y="3967114"/>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48" name="矩形 47">
                <a:extLst>
                  <a:ext uri="{FF2B5EF4-FFF2-40B4-BE49-F238E27FC236}">
                    <a16:creationId xmlns:a16="http://schemas.microsoft.com/office/drawing/2014/main" id="{DFFC6971-3C5C-6759-8F3C-AB09A448139F}"/>
                  </a:ext>
                </a:extLst>
              </p:cNvPr>
              <p:cNvSpPr/>
              <p:nvPr/>
            </p:nvSpPr>
            <p:spPr>
              <a:xfrm>
                <a:off x="9225008" y="3967114"/>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49" name="矩形 48">
                <a:extLst>
                  <a:ext uri="{FF2B5EF4-FFF2-40B4-BE49-F238E27FC236}">
                    <a16:creationId xmlns:a16="http://schemas.microsoft.com/office/drawing/2014/main" id="{83974C23-B015-66FE-05DC-3BB5C3E8446C}"/>
                  </a:ext>
                </a:extLst>
              </p:cNvPr>
              <p:cNvSpPr/>
              <p:nvPr/>
            </p:nvSpPr>
            <p:spPr>
              <a:xfrm>
                <a:off x="9355638" y="3967114"/>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1" name="矩形 50">
                <a:extLst>
                  <a:ext uri="{FF2B5EF4-FFF2-40B4-BE49-F238E27FC236}">
                    <a16:creationId xmlns:a16="http://schemas.microsoft.com/office/drawing/2014/main" id="{4F14FBC9-AFC8-7DA6-8362-9765C20A8A2B}"/>
                  </a:ext>
                </a:extLst>
              </p:cNvPr>
              <p:cNvSpPr/>
              <p:nvPr/>
            </p:nvSpPr>
            <p:spPr>
              <a:xfrm>
                <a:off x="9486268" y="3967114"/>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52" name="矩形 51">
                <a:extLst>
                  <a:ext uri="{FF2B5EF4-FFF2-40B4-BE49-F238E27FC236}">
                    <a16:creationId xmlns:a16="http://schemas.microsoft.com/office/drawing/2014/main" id="{5D7685F6-EE4C-5EA3-D265-DF7D50A425CD}"/>
                  </a:ext>
                </a:extLst>
              </p:cNvPr>
              <p:cNvSpPr/>
              <p:nvPr/>
            </p:nvSpPr>
            <p:spPr>
              <a:xfrm>
                <a:off x="9904279" y="3967114"/>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nvGrpSpPr>
              <p:cNvPr id="56" name="组合 55">
                <a:extLst>
                  <a:ext uri="{FF2B5EF4-FFF2-40B4-BE49-F238E27FC236}">
                    <a16:creationId xmlns:a16="http://schemas.microsoft.com/office/drawing/2014/main" id="{60ECEC22-0924-27F7-A10A-EC82F082D0B3}"/>
                  </a:ext>
                </a:extLst>
              </p:cNvPr>
              <p:cNvGrpSpPr/>
              <p:nvPr/>
            </p:nvGrpSpPr>
            <p:grpSpPr>
              <a:xfrm>
                <a:off x="7883890" y="4887433"/>
                <a:ext cx="2729506" cy="369332"/>
                <a:chOff x="1766120" y="4878095"/>
                <a:chExt cx="2729506" cy="369332"/>
              </a:xfrm>
            </p:grpSpPr>
            <p:sp>
              <p:nvSpPr>
                <p:cNvPr id="57" name="矩形 56">
                  <a:extLst>
                    <a:ext uri="{FF2B5EF4-FFF2-40B4-BE49-F238E27FC236}">
                      <a16:creationId xmlns:a16="http://schemas.microsoft.com/office/drawing/2014/main" id="{5B419F70-710D-6910-C5E1-20984F344260}"/>
                    </a:ext>
                  </a:extLst>
                </p:cNvPr>
                <p:cNvSpPr/>
                <p:nvPr/>
              </p:nvSpPr>
              <p:spPr>
                <a:xfrm>
                  <a:off x="1766120" y="4878095"/>
                  <a:ext cx="1341118"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首部字段名</a:t>
                  </a:r>
                </a:p>
              </p:txBody>
            </p:sp>
            <p:sp>
              <p:nvSpPr>
                <p:cNvPr id="58" name="矩形 57">
                  <a:extLst>
                    <a:ext uri="{FF2B5EF4-FFF2-40B4-BE49-F238E27FC236}">
                      <a16:creationId xmlns:a16="http://schemas.microsoft.com/office/drawing/2014/main" id="{8B537E8B-D5C5-60BF-666A-F0FAAACF0E40}"/>
                    </a:ext>
                  </a:extLst>
                </p:cNvPr>
                <p:cNvSpPr/>
                <p:nvPr/>
              </p:nvSpPr>
              <p:spPr>
                <a:xfrm>
                  <a:off x="3111593" y="4878095"/>
                  <a:ext cx="130630"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latin typeface="+mn-ea"/>
                    </a:rPr>
                    <a:t>:</a:t>
                  </a:r>
                  <a:endParaRPr lang="zh-CN" altLang="en-US" b="1" dirty="0">
                    <a:solidFill>
                      <a:schemeClr val="tx1"/>
                    </a:solidFill>
                    <a:latin typeface="+mn-ea"/>
                  </a:endParaRPr>
                </a:p>
              </p:txBody>
            </p:sp>
            <p:sp>
              <p:nvSpPr>
                <p:cNvPr id="59" name="矩形 58">
                  <a:extLst>
                    <a:ext uri="{FF2B5EF4-FFF2-40B4-BE49-F238E27FC236}">
                      <a16:creationId xmlns:a16="http://schemas.microsoft.com/office/drawing/2014/main" id="{82B6A845-10BC-CAEC-B3C2-135DBE8D59E5}"/>
                    </a:ext>
                  </a:extLst>
                </p:cNvPr>
                <p:cNvSpPr/>
                <p:nvPr/>
              </p:nvSpPr>
              <p:spPr>
                <a:xfrm>
                  <a:off x="3242223" y="4878095"/>
                  <a:ext cx="130630"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矩形 59">
                  <a:extLst>
                    <a:ext uri="{FF2B5EF4-FFF2-40B4-BE49-F238E27FC236}">
                      <a16:creationId xmlns:a16="http://schemas.microsoft.com/office/drawing/2014/main" id="{3237ED44-73E4-D437-77E8-DFD31BE2D696}"/>
                    </a:ext>
                  </a:extLst>
                </p:cNvPr>
                <p:cNvSpPr/>
                <p:nvPr/>
              </p:nvSpPr>
              <p:spPr>
                <a:xfrm>
                  <a:off x="3372853" y="4878095"/>
                  <a:ext cx="422365"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值</a:t>
                  </a:r>
                </a:p>
              </p:txBody>
            </p:sp>
            <p:sp>
              <p:nvSpPr>
                <p:cNvPr id="62" name="矩形 61">
                  <a:extLst>
                    <a:ext uri="{FF2B5EF4-FFF2-40B4-BE49-F238E27FC236}">
                      <a16:creationId xmlns:a16="http://schemas.microsoft.com/office/drawing/2014/main" id="{0834241E-C6AE-83A1-0EBE-BD9A3ECC1E95}"/>
                    </a:ext>
                  </a:extLst>
                </p:cNvPr>
                <p:cNvSpPr/>
                <p:nvPr/>
              </p:nvSpPr>
              <p:spPr>
                <a:xfrm>
                  <a:off x="3790864" y="487809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grpSp>
          <p:sp>
            <p:nvSpPr>
              <p:cNvPr id="63" name="文本框 62">
                <a:extLst>
                  <a:ext uri="{FF2B5EF4-FFF2-40B4-BE49-F238E27FC236}">
                    <a16:creationId xmlns:a16="http://schemas.microsoft.com/office/drawing/2014/main" id="{CFDD435A-5119-FECD-FB4A-93C791E86AA7}"/>
                  </a:ext>
                </a:extLst>
              </p:cNvPr>
              <p:cNvSpPr txBox="1"/>
              <p:nvPr/>
            </p:nvSpPr>
            <p:spPr>
              <a:xfrm>
                <a:off x="8349687" y="4475000"/>
                <a:ext cx="461665" cy="230778"/>
              </a:xfrm>
              <a:prstGeom prst="rect">
                <a:avLst/>
              </a:prstGeom>
              <a:noFill/>
            </p:spPr>
            <p:txBody>
              <a:bodyPr vert="eaVert" wrap="square" rtlCol="0">
                <a:spAutoFit/>
              </a:bodyPr>
              <a:lstStyle/>
              <a:p>
                <a:r>
                  <a:rPr lang="en-US" altLang="zh-CN" b="1" dirty="0">
                    <a:latin typeface="+mn-ea"/>
                  </a:rPr>
                  <a:t>…</a:t>
                </a:r>
                <a:endParaRPr lang="zh-CN" altLang="en-US" b="1" dirty="0">
                  <a:latin typeface="+mn-ea"/>
                </a:endParaRPr>
              </a:p>
            </p:txBody>
          </p:sp>
          <p:sp>
            <p:nvSpPr>
              <p:cNvPr id="64" name="矩形 63">
                <a:extLst>
                  <a:ext uri="{FF2B5EF4-FFF2-40B4-BE49-F238E27FC236}">
                    <a16:creationId xmlns:a16="http://schemas.microsoft.com/office/drawing/2014/main" id="{3D51A553-7010-64B3-E65A-D38A65DA15A1}"/>
                  </a:ext>
                </a:extLst>
              </p:cNvPr>
              <p:cNvSpPr/>
              <p:nvPr/>
            </p:nvSpPr>
            <p:spPr>
              <a:xfrm>
                <a:off x="7888244" y="5256765"/>
                <a:ext cx="704762" cy="36933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CRLF</a:t>
                </a:r>
                <a:endParaRPr lang="zh-CN" altLang="en-US" b="1" dirty="0">
                  <a:solidFill>
                    <a:schemeClr val="tx1"/>
                  </a:solidFill>
                </a:endParaRPr>
              </a:p>
            </p:txBody>
          </p:sp>
          <p:sp>
            <p:nvSpPr>
              <p:cNvPr id="65" name="矩形 64">
                <a:extLst>
                  <a:ext uri="{FF2B5EF4-FFF2-40B4-BE49-F238E27FC236}">
                    <a16:creationId xmlns:a16="http://schemas.microsoft.com/office/drawing/2014/main" id="{AD9B718D-8B8C-D471-9460-2ED0D82103F7}"/>
                  </a:ext>
                </a:extLst>
              </p:cNvPr>
              <p:cNvSpPr/>
              <p:nvPr/>
            </p:nvSpPr>
            <p:spPr>
              <a:xfrm>
                <a:off x="7888244" y="5629101"/>
                <a:ext cx="3300546" cy="7048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mn-ea"/>
                  </a:rPr>
                  <a:t>实体主体</a:t>
                </a:r>
                <a:endParaRPr lang="en-US" altLang="zh-CN" b="1" dirty="0">
                  <a:solidFill>
                    <a:schemeClr val="tx1"/>
                  </a:solidFill>
                  <a:latin typeface="+mn-ea"/>
                </a:endParaRPr>
              </a:p>
              <a:p>
                <a:pPr algn="ctr"/>
                <a:r>
                  <a:rPr lang="zh-CN" altLang="en-US" b="1" dirty="0">
                    <a:solidFill>
                      <a:schemeClr val="tx1"/>
                    </a:solidFill>
                    <a:latin typeface="+mn-ea"/>
                  </a:rPr>
                  <a:t>（有些响应报文不用）</a:t>
                </a:r>
              </a:p>
            </p:txBody>
          </p:sp>
          <p:grpSp>
            <p:nvGrpSpPr>
              <p:cNvPr id="67" name="组合 66">
                <a:extLst>
                  <a:ext uri="{FF2B5EF4-FFF2-40B4-BE49-F238E27FC236}">
                    <a16:creationId xmlns:a16="http://schemas.microsoft.com/office/drawing/2014/main" id="{091FAFFF-57BA-92CD-39C2-0418CF8342D6}"/>
                  </a:ext>
                </a:extLst>
              </p:cNvPr>
              <p:cNvGrpSpPr/>
              <p:nvPr/>
            </p:nvGrpSpPr>
            <p:grpSpPr>
              <a:xfrm>
                <a:off x="6669045" y="3967114"/>
                <a:ext cx="1214845" cy="1286639"/>
                <a:chOff x="551275" y="3957776"/>
                <a:chExt cx="1214845" cy="1286639"/>
              </a:xfrm>
            </p:grpSpPr>
            <p:sp>
              <p:nvSpPr>
                <p:cNvPr id="68" name="左大括号 67">
                  <a:extLst>
                    <a:ext uri="{FF2B5EF4-FFF2-40B4-BE49-F238E27FC236}">
                      <a16:creationId xmlns:a16="http://schemas.microsoft.com/office/drawing/2014/main" id="{5D9DA16A-F7A1-6E0A-59A2-A90BB1BCD4E4}"/>
                    </a:ext>
                  </a:extLst>
                </p:cNvPr>
                <p:cNvSpPr/>
                <p:nvPr/>
              </p:nvSpPr>
              <p:spPr>
                <a:xfrm>
                  <a:off x="1448147" y="3957776"/>
                  <a:ext cx="317973" cy="1286639"/>
                </a:xfrm>
                <a:prstGeom prst="leftBrace">
                  <a:avLst>
                    <a:gd name="adj1" fmla="val 74064"/>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mn-ea"/>
                  </a:endParaRPr>
                </a:p>
              </p:txBody>
            </p:sp>
            <p:sp>
              <p:nvSpPr>
                <p:cNvPr id="69" name="文本框 68">
                  <a:extLst>
                    <a:ext uri="{FF2B5EF4-FFF2-40B4-BE49-F238E27FC236}">
                      <a16:creationId xmlns:a16="http://schemas.microsoft.com/office/drawing/2014/main" id="{CC35C738-3DC9-E5C2-720F-716A496BE0B6}"/>
                    </a:ext>
                  </a:extLst>
                </p:cNvPr>
                <p:cNvSpPr txBox="1"/>
                <p:nvPr/>
              </p:nvSpPr>
              <p:spPr>
                <a:xfrm>
                  <a:off x="551275" y="4396385"/>
                  <a:ext cx="888279" cy="369332"/>
                </a:xfrm>
                <a:prstGeom prst="rect">
                  <a:avLst/>
                </a:prstGeom>
                <a:noFill/>
              </p:spPr>
              <p:txBody>
                <a:bodyPr wrap="square" rtlCol="0">
                  <a:spAutoFit/>
                </a:bodyPr>
                <a:lstStyle/>
                <a:p>
                  <a:r>
                    <a:rPr lang="zh-CN" altLang="en-US" b="1" dirty="0">
                      <a:latin typeface="+mn-ea"/>
                    </a:rPr>
                    <a:t>首部行</a:t>
                  </a:r>
                </a:p>
              </p:txBody>
            </p:sp>
          </p:grpSp>
        </p:grpSp>
        <p:sp>
          <p:nvSpPr>
            <p:cNvPr id="70" name="文本框 69">
              <a:extLst>
                <a:ext uri="{FF2B5EF4-FFF2-40B4-BE49-F238E27FC236}">
                  <a16:creationId xmlns:a16="http://schemas.microsoft.com/office/drawing/2014/main" id="{BE308C74-9957-9A6A-1F37-17F88F208DC0}"/>
                </a:ext>
              </a:extLst>
            </p:cNvPr>
            <p:cNvSpPr txBox="1"/>
            <p:nvPr/>
          </p:nvSpPr>
          <p:spPr>
            <a:xfrm>
              <a:off x="8349687" y="3089896"/>
              <a:ext cx="2288827" cy="369332"/>
            </a:xfrm>
            <a:prstGeom prst="rect">
              <a:avLst/>
            </a:prstGeom>
            <a:noFill/>
          </p:spPr>
          <p:txBody>
            <a:bodyPr wrap="square" rtlCol="0">
              <a:spAutoFit/>
            </a:bodyPr>
            <a:lstStyle/>
            <a:p>
              <a:r>
                <a:rPr lang="en-US" altLang="zh-CN" b="1" dirty="0">
                  <a:latin typeface="+mn-ea"/>
                </a:rPr>
                <a:t>HTTP</a:t>
              </a:r>
              <a:r>
                <a:rPr lang="zh-CN" altLang="en-US" b="1" dirty="0">
                  <a:latin typeface="+mn-ea"/>
                </a:rPr>
                <a:t>响应报文格式</a:t>
              </a:r>
            </a:p>
          </p:txBody>
        </p:sp>
      </p:grpSp>
      <p:sp>
        <p:nvSpPr>
          <p:cNvPr id="7" name="文本框 6">
            <a:extLst>
              <a:ext uri="{FF2B5EF4-FFF2-40B4-BE49-F238E27FC236}">
                <a16:creationId xmlns:a16="http://schemas.microsoft.com/office/drawing/2014/main" id="{12E3834E-1A93-69A5-CB63-7133CC047097}"/>
              </a:ext>
            </a:extLst>
          </p:cNvPr>
          <p:cNvSpPr txBox="1"/>
          <p:nvPr/>
        </p:nvSpPr>
        <p:spPr>
          <a:xfrm>
            <a:off x="7564747" y="3058895"/>
            <a:ext cx="2723808" cy="369332"/>
          </a:xfrm>
          <a:prstGeom prst="rect">
            <a:avLst/>
          </a:prstGeom>
          <a:noFill/>
        </p:spPr>
        <p:txBody>
          <a:bodyPr wrap="square" rtlCol="0">
            <a:spAutoFit/>
          </a:bodyPr>
          <a:lstStyle/>
          <a:p>
            <a:r>
              <a:rPr lang="zh-CN" altLang="en-US" b="1" dirty="0">
                <a:latin typeface="+mn-ea"/>
              </a:rPr>
              <a:t>响应报文中常见的状态行</a:t>
            </a:r>
          </a:p>
        </p:txBody>
      </p:sp>
      <p:sp>
        <p:nvSpPr>
          <p:cNvPr id="8" name="矩形 7">
            <a:extLst>
              <a:ext uri="{FF2B5EF4-FFF2-40B4-BE49-F238E27FC236}">
                <a16:creationId xmlns:a16="http://schemas.microsoft.com/office/drawing/2014/main" id="{DFB5D7BE-6666-C4C3-3FB6-A45FA62A31F3}"/>
              </a:ext>
            </a:extLst>
          </p:cNvPr>
          <p:cNvSpPr/>
          <p:nvPr/>
        </p:nvSpPr>
        <p:spPr>
          <a:xfrm>
            <a:off x="6593626" y="3800719"/>
            <a:ext cx="2956787" cy="41302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b="1" dirty="0">
                <a:solidFill>
                  <a:schemeClr val="tx1"/>
                </a:solidFill>
                <a:latin typeface="+mn-ea"/>
              </a:rPr>
              <a:t>HTTP/1.1 202 Accepted</a:t>
            </a:r>
            <a:endParaRPr lang="zh-CN" altLang="en-US" sz="1600" b="1" dirty="0">
              <a:solidFill>
                <a:schemeClr val="tx1"/>
              </a:solidFill>
              <a:latin typeface="+mn-ea"/>
            </a:endParaRPr>
          </a:p>
        </p:txBody>
      </p:sp>
      <p:sp>
        <p:nvSpPr>
          <p:cNvPr id="13" name="文本框 29">
            <a:extLst>
              <a:ext uri="{FF2B5EF4-FFF2-40B4-BE49-F238E27FC236}">
                <a16:creationId xmlns:a16="http://schemas.microsoft.com/office/drawing/2014/main" id="{E59A0B16-CDCA-6993-6963-231B80A1CFDF}"/>
              </a:ext>
            </a:extLst>
          </p:cNvPr>
          <p:cNvSpPr txBox="1"/>
          <p:nvPr/>
        </p:nvSpPr>
        <p:spPr>
          <a:xfrm>
            <a:off x="9816028" y="3818290"/>
            <a:ext cx="1764235"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接受请求</a:t>
            </a:r>
            <a:endParaRPr lang="en-US" altLang="zh-CN" sz="1600" b="1" dirty="0">
              <a:latin typeface="+mn-ea"/>
            </a:endParaRPr>
          </a:p>
        </p:txBody>
      </p:sp>
      <p:sp>
        <p:nvSpPr>
          <p:cNvPr id="14" name="矩形 13">
            <a:extLst>
              <a:ext uri="{FF2B5EF4-FFF2-40B4-BE49-F238E27FC236}">
                <a16:creationId xmlns:a16="http://schemas.microsoft.com/office/drawing/2014/main" id="{3B86E63D-A122-27DD-2FCB-CAC5184422B8}"/>
              </a:ext>
            </a:extLst>
          </p:cNvPr>
          <p:cNvSpPr/>
          <p:nvPr/>
        </p:nvSpPr>
        <p:spPr>
          <a:xfrm>
            <a:off x="6593626" y="4440799"/>
            <a:ext cx="2956787" cy="41302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b="1" dirty="0">
                <a:solidFill>
                  <a:schemeClr val="tx1"/>
                </a:solidFill>
                <a:latin typeface="+mn-ea"/>
              </a:rPr>
              <a:t>HTTP/1.1 400 Bad Request</a:t>
            </a:r>
            <a:endParaRPr lang="zh-CN" altLang="en-US" sz="1600" b="1" dirty="0">
              <a:solidFill>
                <a:schemeClr val="tx1"/>
              </a:solidFill>
              <a:latin typeface="+mn-ea"/>
            </a:endParaRPr>
          </a:p>
        </p:txBody>
      </p:sp>
      <p:sp>
        <p:nvSpPr>
          <p:cNvPr id="16" name="文本框 29">
            <a:extLst>
              <a:ext uri="{FF2B5EF4-FFF2-40B4-BE49-F238E27FC236}">
                <a16:creationId xmlns:a16="http://schemas.microsoft.com/office/drawing/2014/main" id="{01ABBF54-49AB-AB55-8D4C-6AFBD9EB17C4}"/>
              </a:ext>
            </a:extLst>
          </p:cNvPr>
          <p:cNvSpPr txBox="1"/>
          <p:nvPr/>
        </p:nvSpPr>
        <p:spPr>
          <a:xfrm>
            <a:off x="9816028" y="4458370"/>
            <a:ext cx="2111734"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错误的请求</a:t>
            </a:r>
            <a:endParaRPr lang="en-US" altLang="zh-CN" sz="1600" b="1" dirty="0">
              <a:latin typeface="+mn-ea"/>
            </a:endParaRPr>
          </a:p>
        </p:txBody>
      </p:sp>
      <p:sp>
        <p:nvSpPr>
          <p:cNvPr id="17" name="矩形 16">
            <a:extLst>
              <a:ext uri="{FF2B5EF4-FFF2-40B4-BE49-F238E27FC236}">
                <a16:creationId xmlns:a16="http://schemas.microsoft.com/office/drawing/2014/main" id="{5B30D3AC-FDAC-EC04-B9DB-993FF5C6115E}"/>
              </a:ext>
            </a:extLst>
          </p:cNvPr>
          <p:cNvSpPr/>
          <p:nvPr/>
        </p:nvSpPr>
        <p:spPr>
          <a:xfrm>
            <a:off x="6593626" y="5080879"/>
            <a:ext cx="2956787" cy="413029"/>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altLang="zh-CN" sz="1600" b="1" dirty="0">
                <a:solidFill>
                  <a:schemeClr val="tx1"/>
                </a:solidFill>
                <a:latin typeface="+mn-ea"/>
              </a:rPr>
              <a:t>HTTP/1.1 404 Not Found</a:t>
            </a:r>
            <a:endParaRPr lang="zh-CN" altLang="en-US" sz="1600" b="1" dirty="0">
              <a:solidFill>
                <a:schemeClr val="tx1"/>
              </a:solidFill>
              <a:latin typeface="+mn-ea"/>
            </a:endParaRPr>
          </a:p>
        </p:txBody>
      </p:sp>
      <p:sp>
        <p:nvSpPr>
          <p:cNvPr id="20" name="文本框 29">
            <a:extLst>
              <a:ext uri="{FF2B5EF4-FFF2-40B4-BE49-F238E27FC236}">
                <a16:creationId xmlns:a16="http://schemas.microsoft.com/office/drawing/2014/main" id="{573F2990-69E6-77D2-01F9-F3EF6DDAAF84}"/>
              </a:ext>
            </a:extLst>
          </p:cNvPr>
          <p:cNvSpPr txBox="1"/>
          <p:nvPr/>
        </p:nvSpPr>
        <p:spPr>
          <a:xfrm>
            <a:off x="9816028" y="5098450"/>
            <a:ext cx="2111734"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找不到页面</a:t>
            </a:r>
            <a:endParaRPr lang="en-US" altLang="zh-CN" sz="1600" b="1" dirty="0">
              <a:latin typeface="+mn-ea"/>
            </a:endParaRPr>
          </a:p>
        </p:txBody>
      </p:sp>
    </p:spTree>
    <p:custDataLst>
      <p:tags r:id="rId1"/>
    </p:custDataLst>
    <p:extLst>
      <p:ext uri="{BB962C8B-B14F-4D97-AF65-F5344CB8AC3E}">
        <p14:creationId xmlns:p14="http://schemas.microsoft.com/office/powerpoint/2010/main" val="122835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left)">
                                      <p:cBhvr>
                                        <p:cTn id="8" dur="500"/>
                                        <p:tgtEl>
                                          <p:spTgt spid="6"/>
                                        </p:tgtEl>
                                      </p:cBhvr>
                                    </p:animEffect>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500" fill="hold"/>
                                        <p:tgtEl>
                                          <p:spTgt spid="8"/>
                                        </p:tgtEl>
                                        <p:attrNameLst>
                                          <p:attrName>ppt_y</p:attrName>
                                        </p:attrNameLst>
                                      </p:cBhvr>
                                      <p:tavLst>
                                        <p:tav tm="0">
                                          <p:val>
                                            <p:strVal val="#ppt_y-.1"/>
                                          </p:val>
                                        </p:tav>
                                        <p:tav tm="100000">
                                          <p:val>
                                            <p:strVal val="#ppt_y"/>
                                          </p:val>
                                        </p:tav>
                                      </p:tavLst>
                                    </p:anim>
                                  </p:childTnLst>
                                </p:cTn>
                              </p:par>
                            </p:childTnLst>
                          </p:cTn>
                        </p:par>
                        <p:par>
                          <p:cTn id="22" fill="hold">
                            <p:stCondLst>
                              <p:cond delay="500"/>
                            </p:stCondLst>
                            <p:childTnLst>
                              <p:par>
                                <p:cTn id="23" presetID="12" presetClass="entr" presetSubtype="2"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p:tgtEl>
                                          <p:spTgt spid="13"/>
                                        </p:tgtEl>
                                        <p:attrNameLst>
                                          <p:attrName>ppt_x</p:attrName>
                                        </p:attrNameLst>
                                      </p:cBhvr>
                                      <p:tavLst>
                                        <p:tav tm="0">
                                          <p:val>
                                            <p:strVal val="#ppt_x+#ppt_w*1.125000"/>
                                          </p:val>
                                        </p:tav>
                                        <p:tav tm="100000">
                                          <p:val>
                                            <p:strVal val="#ppt_x"/>
                                          </p:val>
                                        </p:tav>
                                      </p:tavLst>
                                    </p:anim>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anim calcmode="lin" valueType="num">
                                      <p:cBhvr>
                                        <p:cTn id="32" dur="500" fill="hold"/>
                                        <p:tgtEl>
                                          <p:spTgt spid="14"/>
                                        </p:tgtEl>
                                        <p:attrNameLst>
                                          <p:attrName>ppt_x</p:attrName>
                                        </p:attrNameLst>
                                      </p:cBhvr>
                                      <p:tavLst>
                                        <p:tav tm="0">
                                          <p:val>
                                            <p:strVal val="#ppt_x"/>
                                          </p:val>
                                        </p:tav>
                                        <p:tav tm="100000">
                                          <p:val>
                                            <p:strVal val="#ppt_x"/>
                                          </p:val>
                                        </p:tav>
                                      </p:tavLst>
                                    </p:anim>
                                    <p:anim calcmode="lin" valueType="num">
                                      <p:cBhvr>
                                        <p:cTn id="33" dur="500" fill="hold"/>
                                        <p:tgtEl>
                                          <p:spTgt spid="14"/>
                                        </p:tgtEl>
                                        <p:attrNameLst>
                                          <p:attrName>ppt_y</p:attrName>
                                        </p:attrNameLst>
                                      </p:cBhvr>
                                      <p:tavLst>
                                        <p:tav tm="0">
                                          <p:val>
                                            <p:strVal val="#ppt_y-.1"/>
                                          </p:val>
                                        </p:tav>
                                        <p:tav tm="100000">
                                          <p:val>
                                            <p:strVal val="#ppt_y"/>
                                          </p:val>
                                        </p:tav>
                                      </p:tavLst>
                                    </p:anim>
                                  </p:childTnLst>
                                </p:cTn>
                              </p:par>
                            </p:childTnLst>
                          </p:cTn>
                        </p:par>
                        <p:par>
                          <p:cTn id="34" fill="hold">
                            <p:stCondLst>
                              <p:cond delay="500"/>
                            </p:stCondLst>
                            <p:childTnLst>
                              <p:par>
                                <p:cTn id="35" presetID="12" presetClass="entr" presetSubtype="2"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p:tgtEl>
                                          <p:spTgt spid="16"/>
                                        </p:tgtEl>
                                        <p:attrNameLst>
                                          <p:attrName>ppt_x</p:attrName>
                                        </p:attrNameLst>
                                      </p:cBhvr>
                                      <p:tavLst>
                                        <p:tav tm="0">
                                          <p:val>
                                            <p:strVal val="#ppt_x+#ppt_w*1.125000"/>
                                          </p:val>
                                        </p:tav>
                                        <p:tav tm="100000">
                                          <p:val>
                                            <p:strVal val="#ppt_x"/>
                                          </p:val>
                                        </p:tav>
                                      </p:tavLst>
                                    </p:anim>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anim calcmode="lin" valueType="num">
                                      <p:cBhvr>
                                        <p:cTn id="44" dur="500" fill="hold"/>
                                        <p:tgtEl>
                                          <p:spTgt spid="17"/>
                                        </p:tgtEl>
                                        <p:attrNameLst>
                                          <p:attrName>ppt_x</p:attrName>
                                        </p:attrNameLst>
                                      </p:cBhvr>
                                      <p:tavLst>
                                        <p:tav tm="0">
                                          <p:val>
                                            <p:strVal val="#ppt_x"/>
                                          </p:val>
                                        </p:tav>
                                        <p:tav tm="100000">
                                          <p:val>
                                            <p:strVal val="#ppt_x"/>
                                          </p:val>
                                        </p:tav>
                                      </p:tavLst>
                                    </p:anim>
                                    <p:anim calcmode="lin" valueType="num">
                                      <p:cBhvr>
                                        <p:cTn id="45" dur="500" fill="hold"/>
                                        <p:tgtEl>
                                          <p:spTgt spid="17"/>
                                        </p:tgtEl>
                                        <p:attrNameLst>
                                          <p:attrName>ppt_y</p:attrName>
                                        </p:attrNameLst>
                                      </p:cBhvr>
                                      <p:tavLst>
                                        <p:tav tm="0">
                                          <p:val>
                                            <p:strVal val="#ppt_y-.1"/>
                                          </p:val>
                                        </p:tav>
                                        <p:tav tm="100000">
                                          <p:val>
                                            <p:strVal val="#ppt_y"/>
                                          </p:val>
                                        </p:tav>
                                      </p:tavLst>
                                    </p:anim>
                                  </p:childTnLst>
                                </p:cTn>
                              </p:par>
                            </p:childTnLst>
                          </p:cTn>
                        </p:par>
                        <p:par>
                          <p:cTn id="46" fill="hold">
                            <p:stCondLst>
                              <p:cond delay="500"/>
                            </p:stCondLst>
                            <p:childTnLst>
                              <p:par>
                                <p:cTn id="47" presetID="12" presetClass="entr" presetSubtype="2"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p:tgtEl>
                                          <p:spTgt spid="20"/>
                                        </p:tgtEl>
                                        <p:attrNameLst>
                                          <p:attrName>ppt_x</p:attrName>
                                        </p:attrNameLst>
                                      </p:cBhvr>
                                      <p:tavLst>
                                        <p:tav tm="0">
                                          <p:val>
                                            <p:strVal val="#ppt_x+#ppt_w*1.125000"/>
                                          </p:val>
                                        </p:tav>
                                        <p:tav tm="100000">
                                          <p:val>
                                            <p:strVal val="#ppt_x"/>
                                          </p:val>
                                        </p:tav>
                                      </p:tavLst>
                                    </p:anim>
                                    <p:animEffect transition="in" filter="wipe(left)">
                                      <p:cBhvr>
                                        <p:cTn id="5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3" grpId="0"/>
      <p:bldP spid="14" grpId="0" animBg="1"/>
      <p:bldP spid="16" grpId="0"/>
      <p:bldP spid="17" grpId="0" animBg="1"/>
      <p:bldP spid="20"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使用</a:t>
              </a:r>
              <a:r>
                <a:rPr lang="en-US" altLang="zh-CN" sz="2000" b="1" dirty="0"/>
                <a:t>Cookie</a:t>
              </a:r>
              <a:r>
                <a:rPr lang="zh-CN" altLang="en-US" sz="2000" b="1" dirty="0"/>
                <a:t>在服务器上记录用户信息</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670436"/>
          </a:xfrm>
          <a:prstGeom prst="rect">
            <a:avLst/>
          </a:prstGeom>
          <a:noFill/>
        </p:spPr>
        <p:txBody>
          <a:bodyPr wrap="square" lIns="91440" tIns="45720" rIns="91440" bIns="45720" anchor="ctr">
            <a:noAutofit/>
          </a:bodyPr>
          <a:lstStyle/>
          <a:p>
            <a:r>
              <a:rPr lang="zh-CN" altLang="en-US" b="1" dirty="0"/>
              <a:t>早期的万维网应用非常简单，仅仅是用户查看存放在不同服务器上的各种静态的文档。因此</a:t>
            </a:r>
            <a:r>
              <a:rPr lang="en-US" altLang="zh-CN" b="1" dirty="0"/>
              <a:t>HTTP</a:t>
            </a:r>
            <a:r>
              <a:rPr lang="zh-CN" altLang="en-US" b="1" dirty="0"/>
              <a:t>被设计为一种</a:t>
            </a:r>
            <a:r>
              <a:rPr lang="zh-CN" altLang="en-US" b="1" dirty="0">
                <a:solidFill>
                  <a:srgbClr val="FF0000"/>
                </a:solidFill>
              </a:rPr>
              <a:t>无状态</a:t>
            </a:r>
            <a:r>
              <a:rPr lang="zh-CN" altLang="en-US" b="1" dirty="0"/>
              <a:t>的协议。这样可以简化服务器的设计。</a:t>
            </a:r>
            <a:endParaRPr lang="en-US" altLang="zh-CN" b="1" dirty="0"/>
          </a:p>
        </p:txBody>
      </p:sp>
      <p:sp>
        <p:nvSpPr>
          <p:cNvPr id="19" name="矩形 18">
            <a:extLst>
              <a:ext uri="{FF2B5EF4-FFF2-40B4-BE49-F238E27FC236}">
                <a16:creationId xmlns:a16="http://schemas.microsoft.com/office/drawing/2014/main" id="{A3DF86E3-C5A5-14E0-18C0-AEC98ADD0E2C}"/>
              </a:ext>
            </a:extLst>
          </p:cNvPr>
          <p:cNvSpPr/>
          <p:nvPr/>
        </p:nvSpPr>
        <p:spPr>
          <a:xfrm>
            <a:off x="1016000" y="1943630"/>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íşlïḍè">
            <a:extLst>
              <a:ext uri="{FF2B5EF4-FFF2-40B4-BE49-F238E27FC236}">
                <a16:creationId xmlns:a16="http://schemas.microsoft.com/office/drawing/2014/main" id="{1AA153E5-99EB-D5F9-027D-0033E0D9BCA7}"/>
              </a:ext>
            </a:extLst>
          </p:cNvPr>
          <p:cNvSpPr txBox="1"/>
          <p:nvPr/>
        </p:nvSpPr>
        <p:spPr>
          <a:xfrm>
            <a:off x="1293757" y="1827745"/>
            <a:ext cx="10593443" cy="759044"/>
          </a:xfrm>
          <a:prstGeom prst="rect">
            <a:avLst/>
          </a:prstGeom>
          <a:noFill/>
        </p:spPr>
        <p:txBody>
          <a:bodyPr wrap="square" lIns="91440" tIns="45720" rIns="91440" bIns="45720" anchor="ctr">
            <a:noAutofit/>
          </a:bodyPr>
          <a:lstStyle/>
          <a:p>
            <a:r>
              <a:rPr lang="zh-CN" altLang="en-US" b="1" dirty="0"/>
              <a:t>现在，用户可以通过万维网进行各种复杂的应用，如网上购物、电子商务等。这些应用往往需要万维网服务器能够识别用户。</a:t>
            </a:r>
            <a:endParaRPr lang="en-US" altLang="zh-CN" b="1" dirty="0"/>
          </a:p>
        </p:txBody>
      </p:sp>
      <p:sp>
        <p:nvSpPr>
          <p:cNvPr id="5" name="矩形 4">
            <a:extLst>
              <a:ext uri="{FF2B5EF4-FFF2-40B4-BE49-F238E27FC236}">
                <a16:creationId xmlns:a16="http://schemas.microsoft.com/office/drawing/2014/main" id="{D0CB1D06-2301-4927-9F25-C91AC3AF593A}"/>
              </a:ext>
            </a:extLst>
          </p:cNvPr>
          <p:cNvSpPr/>
          <p:nvPr/>
        </p:nvSpPr>
        <p:spPr>
          <a:xfrm>
            <a:off x="1016000" y="2614066"/>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EB1A294-1E06-A233-8CE6-0D12CCF475F1}"/>
              </a:ext>
            </a:extLst>
          </p:cNvPr>
          <p:cNvSpPr txBox="1"/>
          <p:nvPr/>
        </p:nvSpPr>
        <p:spPr>
          <a:xfrm>
            <a:off x="1293757" y="2498181"/>
            <a:ext cx="10593443" cy="759044"/>
          </a:xfrm>
          <a:prstGeom prst="rect">
            <a:avLst/>
          </a:prstGeom>
          <a:noFill/>
        </p:spPr>
        <p:txBody>
          <a:bodyPr wrap="square" lIns="91440" tIns="45720" rIns="91440" bIns="45720" anchor="ctr">
            <a:noAutofit/>
          </a:bodyPr>
          <a:lstStyle/>
          <a:p>
            <a:r>
              <a:rPr lang="en-US" altLang="zh-CN" b="1" dirty="0"/>
              <a:t>Cookie</a:t>
            </a:r>
            <a:r>
              <a:rPr lang="zh-CN" altLang="en-US" b="1" dirty="0"/>
              <a:t>提供了一种机制使得万维网服务器能够“记住”用户，而无需用户主动提供用户标识信息。也就是说，</a:t>
            </a:r>
            <a:r>
              <a:rPr lang="en-US" altLang="zh-CN" b="1" dirty="0">
                <a:solidFill>
                  <a:srgbClr val="FF0000"/>
                </a:solidFill>
              </a:rPr>
              <a:t>Cookie</a:t>
            </a:r>
            <a:r>
              <a:rPr lang="zh-CN" altLang="en-US" b="1" dirty="0">
                <a:solidFill>
                  <a:srgbClr val="FF0000"/>
                </a:solidFill>
              </a:rPr>
              <a:t>是一种对无状态的</a:t>
            </a:r>
            <a:r>
              <a:rPr lang="en-US" altLang="zh-CN" b="1" dirty="0">
                <a:solidFill>
                  <a:srgbClr val="FF0000"/>
                </a:solidFill>
              </a:rPr>
              <a:t>HTTP</a:t>
            </a:r>
            <a:r>
              <a:rPr lang="zh-CN" altLang="en-US" b="1" dirty="0">
                <a:solidFill>
                  <a:srgbClr val="FF0000"/>
                </a:solidFill>
              </a:rPr>
              <a:t>进行状态化的技术</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110791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36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1" presetClass="entr" presetSubtype="0" fill="hold" grpId="0" nodeType="afterEffect">
                                  <p:stCondLst>
                                    <p:cond delay="0"/>
                                  </p:stCondLst>
                                  <p:iterate type="lt">
                                    <p:tmAbs val="100"/>
                                  </p:iterate>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05</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使用</a:t>
              </a:r>
              <a:r>
                <a:rPr lang="en-US" altLang="zh-CN" sz="2000" b="1" dirty="0"/>
                <a:t>Cookie</a:t>
              </a:r>
              <a:r>
                <a:rPr lang="zh-CN" altLang="en-US" sz="2000" b="1" dirty="0"/>
                <a:t>在服务器上记录用户信息</a:t>
              </a:r>
            </a:p>
          </p:txBody>
        </p:sp>
      </p:grpSp>
      <p:grpSp>
        <p:nvGrpSpPr>
          <p:cNvPr id="16" name="组合 15">
            <a:extLst>
              <a:ext uri="{FF2B5EF4-FFF2-40B4-BE49-F238E27FC236}">
                <a16:creationId xmlns:a16="http://schemas.microsoft.com/office/drawing/2014/main" id="{FFB78628-2164-ADED-2BCB-6D4A8BA29EBB}"/>
              </a:ext>
            </a:extLst>
          </p:cNvPr>
          <p:cNvGrpSpPr/>
          <p:nvPr/>
        </p:nvGrpSpPr>
        <p:grpSpPr>
          <a:xfrm>
            <a:off x="4795501" y="1215189"/>
            <a:ext cx="1944819" cy="705003"/>
            <a:chOff x="4795501" y="1215189"/>
            <a:chExt cx="1944819" cy="705003"/>
          </a:xfrm>
        </p:grpSpPr>
        <p:sp>
          <p:nvSpPr>
            <p:cNvPr id="7" name="标注: 右箭头 6">
              <a:extLst>
                <a:ext uri="{FF2B5EF4-FFF2-40B4-BE49-F238E27FC236}">
                  <a16:creationId xmlns:a16="http://schemas.microsoft.com/office/drawing/2014/main" id="{D6D52F54-615A-CB98-9E92-EF9128B67B00}"/>
                </a:ext>
              </a:extLst>
            </p:cNvPr>
            <p:cNvSpPr/>
            <p:nvPr/>
          </p:nvSpPr>
          <p:spPr>
            <a:xfrm>
              <a:off x="4795501" y="1550859"/>
              <a:ext cx="1944819" cy="369333"/>
            </a:xfrm>
            <a:prstGeom prst="rightArrowCallout">
              <a:avLst>
                <a:gd name="adj1" fmla="val 25000"/>
                <a:gd name="adj2" fmla="val 25000"/>
                <a:gd name="adj3" fmla="val 25000"/>
                <a:gd name="adj4" fmla="val 87395"/>
              </a:avLst>
            </a:prstGeom>
            <a:solidFill>
              <a:srgbClr val="F3818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a:t>
              </a:r>
            </a:p>
          </p:txBody>
        </p:sp>
        <p:sp>
          <p:nvSpPr>
            <p:cNvPr id="21" name="文本框 20">
              <a:extLst>
                <a:ext uri="{FF2B5EF4-FFF2-40B4-BE49-F238E27FC236}">
                  <a16:creationId xmlns:a16="http://schemas.microsoft.com/office/drawing/2014/main" id="{8191DEB7-F764-13BE-09DE-7A24B6ADCCA9}"/>
                </a:ext>
              </a:extLst>
            </p:cNvPr>
            <p:cNvSpPr txBox="1"/>
            <p:nvPr/>
          </p:nvSpPr>
          <p:spPr>
            <a:xfrm>
              <a:off x="5612560" y="1215189"/>
              <a:ext cx="461554" cy="369332"/>
            </a:xfrm>
            <a:prstGeom prst="rect">
              <a:avLst/>
            </a:prstGeom>
            <a:noFill/>
          </p:spPr>
          <p:txBody>
            <a:bodyPr wrap="square">
              <a:spAutoFit/>
            </a:bodyPr>
            <a:lstStyle/>
            <a:p>
              <a:pPr algn="ctr"/>
              <a:r>
                <a:rPr lang="zh-CN" altLang="en-US" b="1" dirty="0">
                  <a:latin typeface="+mn-ea"/>
                </a:rPr>
                <a:t>❶</a:t>
              </a:r>
              <a:endParaRPr lang="zh-CN" altLang="en-US" dirty="0">
                <a:latin typeface="+mn-ea"/>
              </a:endParaRPr>
            </a:p>
          </p:txBody>
        </p:sp>
      </p:grpSp>
      <p:grpSp>
        <p:nvGrpSpPr>
          <p:cNvPr id="56" name="组合 55">
            <a:extLst>
              <a:ext uri="{FF2B5EF4-FFF2-40B4-BE49-F238E27FC236}">
                <a16:creationId xmlns:a16="http://schemas.microsoft.com/office/drawing/2014/main" id="{9C643F98-C695-B77C-8B9A-A2BC8180ADFD}"/>
              </a:ext>
            </a:extLst>
          </p:cNvPr>
          <p:cNvGrpSpPr/>
          <p:nvPr/>
        </p:nvGrpSpPr>
        <p:grpSpPr>
          <a:xfrm>
            <a:off x="3719627" y="2401417"/>
            <a:ext cx="3764621" cy="738664"/>
            <a:chOff x="3719627" y="2401417"/>
            <a:chExt cx="3764621" cy="738664"/>
          </a:xfrm>
        </p:grpSpPr>
        <p:sp>
          <p:nvSpPr>
            <p:cNvPr id="22" name="标注: 左箭头 21">
              <a:extLst>
                <a:ext uri="{FF2B5EF4-FFF2-40B4-BE49-F238E27FC236}">
                  <a16:creationId xmlns:a16="http://schemas.microsoft.com/office/drawing/2014/main" id="{0774C9FB-48AF-3EF3-F619-B9F1F9A8C6B9}"/>
                </a:ext>
              </a:extLst>
            </p:cNvPr>
            <p:cNvSpPr/>
            <p:nvPr/>
          </p:nvSpPr>
          <p:spPr>
            <a:xfrm>
              <a:off x="3719627" y="2401417"/>
              <a:ext cx="3764621" cy="369332"/>
            </a:xfrm>
            <a:prstGeom prst="leftArrowCallout">
              <a:avLst>
                <a:gd name="adj1" fmla="val 25000"/>
                <a:gd name="adj2" fmla="val 25000"/>
                <a:gd name="adj3" fmla="val 25000"/>
                <a:gd name="adj4" fmla="val 93455"/>
              </a:avLst>
            </a:pr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响应报文 </a:t>
              </a:r>
              <a:r>
                <a:rPr lang="en-US" altLang="zh-CN" sz="1600" b="1" dirty="0">
                  <a:solidFill>
                    <a:schemeClr val="bg1"/>
                  </a:solidFill>
                </a:rPr>
                <a:t>Set-Cookie: 12345678</a:t>
              </a:r>
              <a:endParaRPr lang="zh-CN" altLang="en-US" sz="1600" b="1" dirty="0">
                <a:solidFill>
                  <a:schemeClr val="bg1"/>
                </a:solidFill>
              </a:endParaRPr>
            </a:p>
          </p:txBody>
        </p:sp>
        <p:sp>
          <p:nvSpPr>
            <p:cNvPr id="26" name="文本框 25">
              <a:extLst>
                <a:ext uri="{FF2B5EF4-FFF2-40B4-BE49-F238E27FC236}">
                  <a16:creationId xmlns:a16="http://schemas.microsoft.com/office/drawing/2014/main" id="{E8AF1D97-C507-A1B1-5521-02B0F53901D2}"/>
                </a:ext>
              </a:extLst>
            </p:cNvPr>
            <p:cNvSpPr txBox="1"/>
            <p:nvPr/>
          </p:nvSpPr>
          <p:spPr>
            <a:xfrm>
              <a:off x="5656103" y="2770749"/>
              <a:ext cx="374468" cy="369332"/>
            </a:xfrm>
            <a:prstGeom prst="rect">
              <a:avLst/>
            </a:prstGeom>
            <a:noFill/>
          </p:spPr>
          <p:txBody>
            <a:bodyPr wrap="square">
              <a:spAutoFit/>
            </a:bodyPr>
            <a:lstStyle/>
            <a:p>
              <a:pPr algn="ctr"/>
              <a:r>
                <a:rPr lang="zh-CN" altLang="en-US" b="1" dirty="0">
                  <a:latin typeface="+mn-ea"/>
                </a:rPr>
                <a:t>❸</a:t>
              </a:r>
              <a:endParaRPr lang="zh-CN" altLang="en-US" dirty="0">
                <a:latin typeface="+mn-ea"/>
              </a:endParaRPr>
            </a:p>
          </p:txBody>
        </p:sp>
      </p:grpSp>
      <p:pic>
        <p:nvPicPr>
          <p:cNvPr id="27" name="图形 26" descr="文档 轮廓">
            <a:extLst>
              <a:ext uri="{FF2B5EF4-FFF2-40B4-BE49-F238E27FC236}">
                <a16:creationId xmlns:a16="http://schemas.microsoft.com/office/drawing/2014/main" id="{86E0FBAC-8228-E462-0264-643194D61C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8299" y="1832322"/>
            <a:ext cx="914400" cy="914400"/>
          </a:xfrm>
          <a:prstGeom prst="rect">
            <a:avLst/>
          </a:prstGeom>
        </p:spPr>
      </p:pic>
      <p:grpSp>
        <p:nvGrpSpPr>
          <p:cNvPr id="57" name="组合 56">
            <a:extLst>
              <a:ext uri="{FF2B5EF4-FFF2-40B4-BE49-F238E27FC236}">
                <a16:creationId xmlns:a16="http://schemas.microsoft.com/office/drawing/2014/main" id="{6629EA90-0368-A517-8D88-0584C5D52518}"/>
              </a:ext>
            </a:extLst>
          </p:cNvPr>
          <p:cNvGrpSpPr/>
          <p:nvPr/>
        </p:nvGrpSpPr>
        <p:grpSpPr>
          <a:xfrm>
            <a:off x="435543" y="1948118"/>
            <a:ext cx="1689423" cy="1015663"/>
            <a:chOff x="435543" y="1948118"/>
            <a:chExt cx="1689423" cy="1015663"/>
          </a:xfrm>
        </p:grpSpPr>
        <p:sp>
          <p:nvSpPr>
            <p:cNvPr id="28" name="文本框 27">
              <a:extLst>
                <a:ext uri="{FF2B5EF4-FFF2-40B4-BE49-F238E27FC236}">
                  <a16:creationId xmlns:a16="http://schemas.microsoft.com/office/drawing/2014/main" id="{A0B5A497-3237-32B7-ADD8-360F852BE58D}"/>
                </a:ext>
              </a:extLst>
            </p:cNvPr>
            <p:cNvSpPr txBox="1"/>
            <p:nvPr/>
          </p:nvSpPr>
          <p:spPr>
            <a:xfrm>
              <a:off x="435543" y="1948118"/>
              <a:ext cx="1689423" cy="646331"/>
            </a:xfrm>
            <a:prstGeom prst="rect">
              <a:avLst/>
            </a:prstGeom>
            <a:solidFill>
              <a:schemeClr val="bg1">
                <a:lumMod val="95000"/>
              </a:schemeClr>
            </a:solidFill>
          </p:spPr>
          <p:txBody>
            <a:bodyPr wrap="square" rtlCol="0">
              <a:spAutoFit/>
            </a:bodyPr>
            <a:lstStyle/>
            <a:p>
              <a:r>
                <a:rPr lang="zh-CN" altLang="en-US" b="1" dirty="0">
                  <a:latin typeface="+mn-ea"/>
                </a:rPr>
                <a:t>将</a:t>
              </a:r>
              <a:r>
                <a:rPr lang="en-US" altLang="zh-CN" b="1" dirty="0">
                  <a:latin typeface="+mn-ea"/>
                </a:rPr>
                <a:t>Cookie</a:t>
              </a:r>
              <a:r>
                <a:rPr lang="zh-CN" altLang="en-US" b="1" dirty="0">
                  <a:latin typeface="+mn-ea"/>
                </a:rPr>
                <a:t>信息</a:t>
              </a:r>
              <a:endParaRPr lang="en-US" altLang="zh-CN" b="1" dirty="0">
                <a:latin typeface="+mn-ea"/>
              </a:endParaRPr>
            </a:p>
            <a:p>
              <a:r>
                <a:rPr lang="zh-CN" altLang="en-US" b="1" dirty="0">
                  <a:latin typeface="+mn-ea"/>
                </a:rPr>
                <a:t>存入文件</a:t>
              </a:r>
            </a:p>
          </p:txBody>
        </p:sp>
        <p:sp>
          <p:nvSpPr>
            <p:cNvPr id="29" name="文本框 28">
              <a:extLst>
                <a:ext uri="{FF2B5EF4-FFF2-40B4-BE49-F238E27FC236}">
                  <a16:creationId xmlns:a16="http://schemas.microsoft.com/office/drawing/2014/main" id="{1C7C955F-F47D-9BDA-0BDF-D4DA854BA625}"/>
                </a:ext>
              </a:extLst>
            </p:cNvPr>
            <p:cNvSpPr txBox="1"/>
            <p:nvPr/>
          </p:nvSpPr>
          <p:spPr>
            <a:xfrm>
              <a:off x="1180226" y="2594449"/>
              <a:ext cx="287382" cy="369332"/>
            </a:xfrm>
            <a:prstGeom prst="rect">
              <a:avLst/>
            </a:prstGeom>
            <a:noFill/>
          </p:spPr>
          <p:txBody>
            <a:bodyPr wrap="square">
              <a:spAutoFit/>
            </a:bodyPr>
            <a:lstStyle/>
            <a:p>
              <a:pPr algn="ctr"/>
              <a:r>
                <a:rPr lang="zh-CN" altLang="en-US" b="1" dirty="0">
                  <a:latin typeface="+mn-ea"/>
                </a:rPr>
                <a:t>❹</a:t>
              </a:r>
              <a:endParaRPr lang="zh-CN" altLang="en-US" dirty="0">
                <a:latin typeface="+mn-ea"/>
              </a:endParaRPr>
            </a:p>
          </p:txBody>
        </p:sp>
      </p:grpSp>
      <p:grpSp>
        <p:nvGrpSpPr>
          <p:cNvPr id="25" name="组合 24">
            <a:extLst>
              <a:ext uri="{FF2B5EF4-FFF2-40B4-BE49-F238E27FC236}">
                <a16:creationId xmlns:a16="http://schemas.microsoft.com/office/drawing/2014/main" id="{14E17511-AAF3-47C0-C8AA-5840F61FFEC9}"/>
              </a:ext>
            </a:extLst>
          </p:cNvPr>
          <p:cNvGrpSpPr/>
          <p:nvPr/>
        </p:nvGrpSpPr>
        <p:grpSpPr>
          <a:xfrm>
            <a:off x="4072233" y="4050590"/>
            <a:ext cx="3542208" cy="707086"/>
            <a:chOff x="4072233" y="4050590"/>
            <a:chExt cx="3542208" cy="707086"/>
          </a:xfrm>
        </p:grpSpPr>
        <p:sp>
          <p:nvSpPr>
            <p:cNvPr id="30" name="标注: 右箭头 29">
              <a:extLst>
                <a:ext uri="{FF2B5EF4-FFF2-40B4-BE49-F238E27FC236}">
                  <a16:creationId xmlns:a16="http://schemas.microsoft.com/office/drawing/2014/main" id="{4CE6576C-0ADA-ED5B-5C24-4E474AB69CF1}"/>
                </a:ext>
              </a:extLst>
            </p:cNvPr>
            <p:cNvSpPr/>
            <p:nvPr/>
          </p:nvSpPr>
          <p:spPr>
            <a:xfrm>
              <a:off x="4072233" y="4388343"/>
              <a:ext cx="3542208" cy="369333"/>
            </a:xfrm>
            <a:prstGeom prst="rightArrowCallout">
              <a:avLst>
                <a:gd name="adj1" fmla="val 25000"/>
                <a:gd name="adj2" fmla="val 25000"/>
                <a:gd name="adj3" fmla="val 25000"/>
                <a:gd name="adj4" fmla="val 92804"/>
              </a:avLst>
            </a:prstGeom>
            <a:solidFill>
              <a:srgbClr val="F3818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请求报文 </a:t>
              </a:r>
              <a:r>
                <a:rPr lang="en-US" altLang="zh-CN" sz="1600" b="1" dirty="0">
                  <a:solidFill>
                    <a:schemeClr val="bg1"/>
                  </a:solidFill>
                </a:rPr>
                <a:t>Cookie: 12345678 </a:t>
              </a:r>
              <a:endParaRPr lang="zh-CN" altLang="en-US" sz="1600" b="1" dirty="0">
                <a:solidFill>
                  <a:schemeClr val="bg1"/>
                </a:solidFill>
              </a:endParaRPr>
            </a:p>
          </p:txBody>
        </p:sp>
        <p:sp>
          <p:nvSpPr>
            <p:cNvPr id="41" name="文本框 40">
              <a:extLst>
                <a:ext uri="{FF2B5EF4-FFF2-40B4-BE49-F238E27FC236}">
                  <a16:creationId xmlns:a16="http://schemas.microsoft.com/office/drawing/2014/main" id="{C301924B-C315-711C-E730-C8F82A4CCEDF}"/>
                </a:ext>
              </a:extLst>
            </p:cNvPr>
            <p:cNvSpPr txBox="1"/>
            <p:nvPr/>
          </p:nvSpPr>
          <p:spPr>
            <a:xfrm>
              <a:off x="5612560" y="4050590"/>
              <a:ext cx="461554" cy="369332"/>
            </a:xfrm>
            <a:prstGeom prst="rect">
              <a:avLst/>
            </a:prstGeom>
            <a:noFill/>
          </p:spPr>
          <p:txBody>
            <a:bodyPr wrap="square">
              <a:spAutoFit/>
            </a:bodyPr>
            <a:lstStyle/>
            <a:p>
              <a:pPr algn="ctr"/>
              <a:r>
                <a:rPr lang="zh-CN" altLang="en-US" b="1" dirty="0">
                  <a:latin typeface="+mn-ea"/>
                </a:rPr>
                <a:t>❻</a:t>
              </a:r>
              <a:endParaRPr lang="zh-CN" altLang="en-US" dirty="0">
                <a:latin typeface="+mn-ea"/>
              </a:endParaRPr>
            </a:p>
          </p:txBody>
        </p:sp>
      </p:grpSp>
      <p:grpSp>
        <p:nvGrpSpPr>
          <p:cNvPr id="52" name="组合 51">
            <a:extLst>
              <a:ext uri="{FF2B5EF4-FFF2-40B4-BE49-F238E27FC236}">
                <a16:creationId xmlns:a16="http://schemas.microsoft.com/office/drawing/2014/main" id="{CD193DA6-D407-340E-2E69-3B6F8E68A255}"/>
              </a:ext>
            </a:extLst>
          </p:cNvPr>
          <p:cNvGrpSpPr/>
          <p:nvPr/>
        </p:nvGrpSpPr>
        <p:grpSpPr>
          <a:xfrm>
            <a:off x="8989051" y="4506520"/>
            <a:ext cx="2866048" cy="1409974"/>
            <a:chOff x="8989051" y="4506520"/>
            <a:chExt cx="2866048" cy="1409974"/>
          </a:xfrm>
        </p:grpSpPr>
        <p:sp>
          <p:nvSpPr>
            <p:cNvPr id="43" name="文本框 42">
              <a:extLst>
                <a:ext uri="{FF2B5EF4-FFF2-40B4-BE49-F238E27FC236}">
                  <a16:creationId xmlns:a16="http://schemas.microsoft.com/office/drawing/2014/main" id="{3AA9F801-A7A1-F4F1-5E52-D8E49FBA9B61}"/>
                </a:ext>
              </a:extLst>
            </p:cNvPr>
            <p:cNvSpPr txBox="1"/>
            <p:nvPr/>
          </p:nvSpPr>
          <p:spPr>
            <a:xfrm>
              <a:off x="8989051" y="4506520"/>
              <a:ext cx="2866048" cy="923330"/>
            </a:xfrm>
            <a:prstGeom prst="rect">
              <a:avLst/>
            </a:prstGeom>
            <a:solidFill>
              <a:schemeClr val="bg1">
                <a:lumMod val="95000"/>
              </a:schemeClr>
            </a:solidFill>
          </p:spPr>
          <p:txBody>
            <a:bodyPr wrap="square" rtlCol="0">
              <a:spAutoFit/>
            </a:bodyPr>
            <a:lstStyle/>
            <a:p>
              <a:r>
                <a:rPr lang="zh-CN" altLang="en-US" b="1" dirty="0">
                  <a:latin typeface="+mn-ea"/>
                </a:rPr>
                <a:t>根据</a:t>
              </a:r>
              <a:r>
                <a:rPr lang="en-US" altLang="zh-CN" b="1" dirty="0">
                  <a:latin typeface="+mn-ea"/>
                </a:rPr>
                <a:t>Cookie</a:t>
              </a:r>
              <a:r>
                <a:rPr lang="zh-CN" altLang="en-US" b="1" dirty="0">
                  <a:latin typeface="+mn-ea"/>
                </a:rPr>
                <a:t>识别码就可以</a:t>
              </a:r>
              <a:endParaRPr lang="en-US" altLang="zh-CN" b="1" dirty="0">
                <a:latin typeface="+mn-ea"/>
              </a:endParaRPr>
            </a:p>
            <a:p>
              <a:r>
                <a:rPr lang="zh-CN" altLang="en-US" b="1" dirty="0">
                  <a:latin typeface="+mn-ea"/>
                </a:rPr>
                <a:t>识别出该用户，并返回该用户的个性化网页。</a:t>
              </a:r>
            </a:p>
          </p:txBody>
        </p:sp>
        <p:sp>
          <p:nvSpPr>
            <p:cNvPr id="44" name="文本框 43">
              <a:extLst>
                <a:ext uri="{FF2B5EF4-FFF2-40B4-BE49-F238E27FC236}">
                  <a16:creationId xmlns:a16="http://schemas.microsoft.com/office/drawing/2014/main" id="{720DF892-1563-352C-F636-899BA45ECC19}"/>
                </a:ext>
              </a:extLst>
            </p:cNvPr>
            <p:cNvSpPr txBox="1"/>
            <p:nvPr/>
          </p:nvSpPr>
          <p:spPr>
            <a:xfrm>
              <a:off x="10307391" y="5547162"/>
              <a:ext cx="304800" cy="369332"/>
            </a:xfrm>
            <a:prstGeom prst="rect">
              <a:avLst/>
            </a:prstGeom>
            <a:noFill/>
          </p:spPr>
          <p:txBody>
            <a:bodyPr wrap="square">
              <a:spAutoFit/>
            </a:bodyPr>
            <a:lstStyle/>
            <a:p>
              <a:pPr algn="ctr"/>
              <a:r>
                <a:rPr lang="zh-CN" altLang="en-US" b="1" dirty="0">
                  <a:latin typeface="+mn-ea"/>
                </a:rPr>
                <a:t>❼</a:t>
              </a:r>
              <a:endParaRPr lang="zh-CN" altLang="en-US" dirty="0">
                <a:latin typeface="+mn-ea"/>
              </a:endParaRPr>
            </a:p>
          </p:txBody>
        </p:sp>
      </p:grpSp>
      <p:grpSp>
        <p:nvGrpSpPr>
          <p:cNvPr id="58" name="组合 57">
            <a:extLst>
              <a:ext uri="{FF2B5EF4-FFF2-40B4-BE49-F238E27FC236}">
                <a16:creationId xmlns:a16="http://schemas.microsoft.com/office/drawing/2014/main" id="{4D84A815-F705-B206-75D2-6EE266856864}"/>
              </a:ext>
            </a:extLst>
          </p:cNvPr>
          <p:cNvGrpSpPr/>
          <p:nvPr/>
        </p:nvGrpSpPr>
        <p:grpSpPr>
          <a:xfrm>
            <a:off x="4801136" y="5249835"/>
            <a:ext cx="1939184" cy="725647"/>
            <a:chOff x="4801136" y="5249835"/>
            <a:chExt cx="1939184" cy="725647"/>
          </a:xfrm>
        </p:grpSpPr>
        <p:sp>
          <p:nvSpPr>
            <p:cNvPr id="42" name="标注: 左箭头 41">
              <a:extLst>
                <a:ext uri="{FF2B5EF4-FFF2-40B4-BE49-F238E27FC236}">
                  <a16:creationId xmlns:a16="http://schemas.microsoft.com/office/drawing/2014/main" id="{C57E0FD7-E0A6-4BC6-5A73-FE0A82B5800D}"/>
                </a:ext>
              </a:extLst>
            </p:cNvPr>
            <p:cNvSpPr/>
            <p:nvPr/>
          </p:nvSpPr>
          <p:spPr>
            <a:xfrm>
              <a:off x="4801136" y="5249835"/>
              <a:ext cx="1939184" cy="369332"/>
            </a:xfrm>
            <a:prstGeom prst="leftArrowCallout">
              <a:avLst>
                <a:gd name="adj1" fmla="val 25000"/>
                <a:gd name="adj2" fmla="val 25000"/>
                <a:gd name="adj3" fmla="val 25000"/>
                <a:gd name="adj4" fmla="val 83851"/>
              </a:avLst>
            </a:prstGeom>
            <a:solidFill>
              <a:srgbClr val="52BCC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mn-ea"/>
                </a:rPr>
                <a:t>HTTP</a:t>
              </a:r>
              <a:r>
                <a:rPr lang="zh-CN" altLang="en-US" b="1" dirty="0">
                  <a:solidFill>
                    <a:schemeClr val="bg1"/>
                  </a:solidFill>
                  <a:latin typeface="+mn-ea"/>
                </a:rPr>
                <a:t>响应</a:t>
              </a:r>
            </a:p>
          </p:txBody>
        </p:sp>
        <p:sp>
          <p:nvSpPr>
            <p:cNvPr id="45" name="文本框 44">
              <a:extLst>
                <a:ext uri="{FF2B5EF4-FFF2-40B4-BE49-F238E27FC236}">
                  <a16:creationId xmlns:a16="http://schemas.microsoft.com/office/drawing/2014/main" id="{FE215E39-E65F-E111-C1FB-459672967167}"/>
                </a:ext>
              </a:extLst>
            </p:cNvPr>
            <p:cNvSpPr txBox="1"/>
            <p:nvPr/>
          </p:nvSpPr>
          <p:spPr>
            <a:xfrm>
              <a:off x="5656103" y="5606150"/>
              <a:ext cx="374468" cy="369332"/>
            </a:xfrm>
            <a:prstGeom prst="rect">
              <a:avLst/>
            </a:prstGeom>
            <a:noFill/>
          </p:spPr>
          <p:txBody>
            <a:bodyPr wrap="square">
              <a:spAutoFit/>
            </a:bodyPr>
            <a:lstStyle/>
            <a:p>
              <a:pPr algn="ctr"/>
              <a:r>
                <a:rPr lang="zh-CN" altLang="en-US" b="1" dirty="0">
                  <a:latin typeface="+mn-ea"/>
                </a:rPr>
                <a:t>❽</a:t>
              </a:r>
              <a:endParaRPr lang="zh-CN" altLang="en-US" dirty="0">
                <a:latin typeface="+mn-ea"/>
              </a:endParaRPr>
            </a:p>
          </p:txBody>
        </p:sp>
      </p:grpSp>
      <p:grpSp>
        <p:nvGrpSpPr>
          <p:cNvPr id="19" name="组合 18">
            <a:extLst>
              <a:ext uri="{FF2B5EF4-FFF2-40B4-BE49-F238E27FC236}">
                <a16:creationId xmlns:a16="http://schemas.microsoft.com/office/drawing/2014/main" id="{F9A793D4-798C-F8AE-5B76-3A22D827EB32}"/>
              </a:ext>
            </a:extLst>
          </p:cNvPr>
          <p:cNvGrpSpPr/>
          <p:nvPr/>
        </p:nvGrpSpPr>
        <p:grpSpPr>
          <a:xfrm>
            <a:off x="435543" y="4783519"/>
            <a:ext cx="1689423" cy="1015663"/>
            <a:chOff x="435543" y="4783519"/>
            <a:chExt cx="1689423" cy="1015663"/>
          </a:xfrm>
        </p:grpSpPr>
        <p:sp>
          <p:nvSpPr>
            <p:cNvPr id="47" name="文本框 46">
              <a:extLst>
                <a:ext uri="{FF2B5EF4-FFF2-40B4-BE49-F238E27FC236}">
                  <a16:creationId xmlns:a16="http://schemas.microsoft.com/office/drawing/2014/main" id="{F92103E8-B4F7-936B-C32F-9CB7727FF46D}"/>
                </a:ext>
              </a:extLst>
            </p:cNvPr>
            <p:cNvSpPr txBox="1"/>
            <p:nvPr/>
          </p:nvSpPr>
          <p:spPr>
            <a:xfrm>
              <a:off x="435543" y="4783519"/>
              <a:ext cx="1689423" cy="646331"/>
            </a:xfrm>
            <a:prstGeom prst="rect">
              <a:avLst/>
            </a:prstGeom>
            <a:solidFill>
              <a:schemeClr val="bg1">
                <a:lumMod val="95000"/>
              </a:schemeClr>
            </a:solidFill>
          </p:spPr>
          <p:txBody>
            <a:bodyPr wrap="square" rtlCol="0">
              <a:spAutoFit/>
            </a:bodyPr>
            <a:lstStyle/>
            <a:p>
              <a:r>
                <a:rPr lang="zh-CN" altLang="en-US" b="1" dirty="0">
                  <a:latin typeface="+mn-ea"/>
                </a:rPr>
                <a:t>从文件读取</a:t>
              </a:r>
              <a:endParaRPr lang="en-US" altLang="zh-CN" b="1" dirty="0">
                <a:latin typeface="+mn-ea"/>
              </a:endParaRPr>
            </a:p>
            <a:p>
              <a:r>
                <a:rPr lang="en-US" altLang="zh-CN" b="1" dirty="0">
                  <a:latin typeface="+mn-ea"/>
                </a:rPr>
                <a:t>Cookie</a:t>
              </a:r>
              <a:r>
                <a:rPr lang="zh-CN" altLang="en-US" b="1" dirty="0">
                  <a:latin typeface="+mn-ea"/>
                </a:rPr>
                <a:t>信息</a:t>
              </a:r>
            </a:p>
          </p:txBody>
        </p:sp>
        <p:sp>
          <p:nvSpPr>
            <p:cNvPr id="48" name="文本框 47">
              <a:extLst>
                <a:ext uri="{FF2B5EF4-FFF2-40B4-BE49-F238E27FC236}">
                  <a16:creationId xmlns:a16="http://schemas.microsoft.com/office/drawing/2014/main" id="{39DAED96-E85F-6EB4-3ED0-AFCB832BB2C0}"/>
                </a:ext>
              </a:extLst>
            </p:cNvPr>
            <p:cNvSpPr txBox="1"/>
            <p:nvPr/>
          </p:nvSpPr>
          <p:spPr>
            <a:xfrm>
              <a:off x="1180226" y="5429850"/>
              <a:ext cx="287382" cy="369332"/>
            </a:xfrm>
            <a:prstGeom prst="rect">
              <a:avLst/>
            </a:prstGeom>
            <a:noFill/>
          </p:spPr>
          <p:txBody>
            <a:bodyPr wrap="square">
              <a:spAutoFit/>
            </a:bodyPr>
            <a:lstStyle/>
            <a:p>
              <a:pPr algn="ctr"/>
              <a:r>
                <a:rPr lang="zh-CN" altLang="en-US" b="1" dirty="0">
                  <a:latin typeface="+mn-ea"/>
                </a:rPr>
                <a:t>❺</a:t>
              </a:r>
              <a:endParaRPr lang="zh-CN" altLang="en-US" dirty="0">
                <a:latin typeface="+mn-ea"/>
              </a:endParaRPr>
            </a:p>
          </p:txBody>
        </p:sp>
      </p:grpSp>
      <p:grpSp>
        <p:nvGrpSpPr>
          <p:cNvPr id="6" name="组合 5">
            <a:extLst>
              <a:ext uri="{FF2B5EF4-FFF2-40B4-BE49-F238E27FC236}">
                <a16:creationId xmlns:a16="http://schemas.microsoft.com/office/drawing/2014/main" id="{FE00DBBF-DC1E-7858-864F-7DEDFA50AAC0}"/>
              </a:ext>
            </a:extLst>
          </p:cNvPr>
          <p:cNvGrpSpPr/>
          <p:nvPr/>
        </p:nvGrpSpPr>
        <p:grpSpPr>
          <a:xfrm>
            <a:off x="2679594" y="1571447"/>
            <a:ext cx="6327485" cy="1648146"/>
            <a:chOff x="2679594" y="1571447"/>
            <a:chExt cx="6327485" cy="1648146"/>
          </a:xfrm>
        </p:grpSpPr>
        <p:grpSp>
          <p:nvGrpSpPr>
            <p:cNvPr id="8" name="组合 7">
              <a:extLst>
                <a:ext uri="{FF2B5EF4-FFF2-40B4-BE49-F238E27FC236}">
                  <a16:creationId xmlns:a16="http://schemas.microsoft.com/office/drawing/2014/main" id="{5AC9921E-F437-F7FA-C4A4-ACA8EB70C8FE}"/>
                </a:ext>
              </a:extLst>
            </p:cNvPr>
            <p:cNvGrpSpPr/>
            <p:nvPr/>
          </p:nvGrpSpPr>
          <p:grpSpPr>
            <a:xfrm>
              <a:off x="2679594" y="1571447"/>
              <a:ext cx="6327485" cy="1648146"/>
              <a:chOff x="2190818" y="3264921"/>
              <a:chExt cx="6327485" cy="1648146"/>
            </a:xfrm>
          </p:grpSpPr>
          <p:grpSp>
            <p:nvGrpSpPr>
              <p:cNvPr id="9" name="组合 8">
                <a:extLst>
                  <a:ext uri="{FF2B5EF4-FFF2-40B4-BE49-F238E27FC236}">
                    <a16:creationId xmlns:a16="http://schemas.microsoft.com/office/drawing/2014/main" id="{662373C7-B70D-D50A-D1F3-29F677A7DF53}"/>
                  </a:ext>
                </a:extLst>
              </p:cNvPr>
              <p:cNvGrpSpPr/>
              <p:nvPr/>
            </p:nvGrpSpPr>
            <p:grpSpPr>
              <a:xfrm>
                <a:off x="2190818" y="3264921"/>
                <a:ext cx="1106018" cy="1648146"/>
                <a:chOff x="2190818" y="3264921"/>
                <a:chExt cx="1106018" cy="1648146"/>
              </a:xfrm>
            </p:grpSpPr>
            <p:pic>
              <p:nvPicPr>
                <p:cNvPr id="17" name="图形 16">
                  <a:extLst>
                    <a:ext uri="{FF2B5EF4-FFF2-40B4-BE49-F238E27FC236}">
                      <a16:creationId xmlns:a16="http://schemas.microsoft.com/office/drawing/2014/main" id="{97E65458-2148-5FFA-B122-E42C9847D11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56803" y="3264921"/>
                  <a:ext cx="974048" cy="942113"/>
                </a:xfrm>
                <a:prstGeom prst="rect">
                  <a:avLst/>
                </a:prstGeom>
              </p:spPr>
            </p:pic>
            <p:sp>
              <p:nvSpPr>
                <p:cNvPr id="20" name="文本框 19">
                  <a:extLst>
                    <a:ext uri="{FF2B5EF4-FFF2-40B4-BE49-F238E27FC236}">
                      <a16:creationId xmlns:a16="http://schemas.microsoft.com/office/drawing/2014/main" id="{EA40210F-99F4-691C-B47D-ED164212FB34}"/>
                    </a:ext>
                  </a:extLst>
                </p:cNvPr>
                <p:cNvSpPr txBox="1"/>
                <p:nvPr/>
              </p:nvSpPr>
              <p:spPr>
                <a:xfrm>
                  <a:off x="2190818"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客户</a:t>
                  </a:r>
                </a:p>
              </p:txBody>
            </p:sp>
          </p:grpSp>
          <p:grpSp>
            <p:nvGrpSpPr>
              <p:cNvPr id="11" name="组合 10">
                <a:extLst>
                  <a:ext uri="{FF2B5EF4-FFF2-40B4-BE49-F238E27FC236}">
                    <a16:creationId xmlns:a16="http://schemas.microsoft.com/office/drawing/2014/main" id="{ABB5D902-9025-9E05-1BC5-8862F245E553}"/>
                  </a:ext>
                </a:extLst>
              </p:cNvPr>
              <p:cNvGrpSpPr/>
              <p:nvPr/>
            </p:nvGrpSpPr>
            <p:grpSpPr>
              <a:xfrm>
                <a:off x="7412285" y="3429000"/>
                <a:ext cx="1106018" cy="1484067"/>
                <a:chOff x="8570525" y="3429000"/>
                <a:chExt cx="1106018" cy="1484067"/>
              </a:xfrm>
            </p:grpSpPr>
            <p:pic>
              <p:nvPicPr>
                <p:cNvPr id="12" name="图形 11">
                  <a:extLst>
                    <a:ext uri="{FF2B5EF4-FFF2-40B4-BE49-F238E27FC236}">
                      <a16:creationId xmlns:a16="http://schemas.microsoft.com/office/drawing/2014/main" id="{81E7B065-BE7A-BCC8-AB3A-F36DF8AA039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04397" y="3429000"/>
                  <a:ext cx="638275" cy="837736"/>
                </a:xfrm>
                <a:prstGeom prst="rect">
                  <a:avLst/>
                </a:prstGeom>
              </p:spPr>
            </p:pic>
            <p:sp>
              <p:nvSpPr>
                <p:cNvPr id="13" name="文本框 12">
                  <a:extLst>
                    <a:ext uri="{FF2B5EF4-FFF2-40B4-BE49-F238E27FC236}">
                      <a16:creationId xmlns:a16="http://schemas.microsoft.com/office/drawing/2014/main" id="{A8DDD0D3-B01B-A32F-2526-E0C6EFF6860D}"/>
                    </a:ext>
                  </a:extLst>
                </p:cNvPr>
                <p:cNvSpPr txBox="1"/>
                <p:nvPr/>
              </p:nvSpPr>
              <p:spPr>
                <a:xfrm>
                  <a:off x="8570525"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服务器</a:t>
                  </a:r>
                </a:p>
              </p:txBody>
            </p:sp>
          </p:grpSp>
        </p:grpSp>
        <p:cxnSp>
          <p:nvCxnSpPr>
            <p:cNvPr id="49" name="直接连接符 48">
              <a:extLst>
                <a:ext uri="{FF2B5EF4-FFF2-40B4-BE49-F238E27FC236}">
                  <a16:creationId xmlns:a16="http://schemas.microsoft.com/office/drawing/2014/main" id="{EABC47A7-0717-378A-5095-270F52A01135}"/>
                </a:ext>
              </a:extLst>
            </p:cNvPr>
            <p:cNvCxnSpPr>
              <a:cxnSpLocks/>
              <a:endCxn id="12" idx="1"/>
            </p:cNvCxnSpPr>
            <p:nvPr/>
          </p:nvCxnSpPr>
          <p:spPr>
            <a:xfrm flipV="1">
              <a:off x="3659979" y="2154394"/>
              <a:ext cx="4474954" cy="2667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图形 73">
              <a:extLst>
                <a:ext uri="{FF2B5EF4-FFF2-40B4-BE49-F238E27FC236}">
                  <a16:creationId xmlns:a16="http://schemas.microsoft.com/office/drawing/2014/main" id="{63840257-D643-2003-937C-A374177F3CC5}"/>
                </a:ext>
              </a:extLst>
            </p:cNvPr>
            <p:cNvSpPr/>
            <p:nvPr/>
          </p:nvSpPr>
          <p:spPr>
            <a:xfrm>
              <a:off x="5271295" y="1977232"/>
              <a:ext cx="1144083" cy="34441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rgbClr val="FFC000"/>
            </a:solidFill>
            <a:ln w="30732" cap="flat">
              <a:solidFill>
                <a:srgbClr val="323232"/>
              </a:solidFill>
              <a:prstDash val="solid"/>
              <a:miter/>
            </a:ln>
          </p:spPr>
          <p:txBody>
            <a:bodyPr rtlCol="0" anchor="ctr"/>
            <a:lstStyle/>
            <a:p>
              <a:pPr algn="ctr"/>
              <a:r>
                <a:rPr lang="zh-CN" altLang="en-US" sz="1600" b="1" dirty="0">
                  <a:latin typeface="+mn-ea"/>
                </a:rPr>
                <a:t>因特网</a:t>
              </a:r>
            </a:p>
          </p:txBody>
        </p:sp>
      </p:grpSp>
      <p:grpSp>
        <p:nvGrpSpPr>
          <p:cNvPr id="15" name="组合 14">
            <a:extLst>
              <a:ext uri="{FF2B5EF4-FFF2-40B4-BE49-F238E27FC236}">
                <a16:creationId xmlns:a16="http://schemas.microsoft.com/office/drawing/2014/main" id="{A337B836-042D-FAF3-155E-E88EEE4E4CE6}"/>
              </a:ext>
            </a:extLst>
          </p:cNvPr>
          <p:cNvGrpSpPr/>
          <p:nvPr/>
        </p:nvGrpSpPr>
        <p:grpSpPr>
          <a:xfrm>
            <a:off x="3785612" y="1969728"/>
            <a:ext cx="4191407" cy="369332"/>
            <a:chOff x="3785612" y="1969728"/>
            <a:chExt cx="4191407" cy="369332"/>
          </a:xfrm>
        </p:grpSpPr>
        <p:sp>
          <p:nvSpPr>
            <p:cNvPr id="10" name="圆柱体 9">
              <a:extLst>
                <a:ext uri="{FF2B5EF4-FFF2-40B4-BE49-F238E27FC236}">
                  <a16:creationId xmlns:a16="http://schemas.microsoft.com/office/drawing/2014/main" id="{13B50523-3F6A-9C40-221E-B5AE4E08E71F}"/>
                </a:ext>
              </a:extLst>
            </p:cNvPr>
            <p:cNvSpPr/>
            <p:nvPr/>
          </p:nvSpPr>
          <p:spPr>
            <a:xfrm rot="16200000">
              <a:off x="5696650" y="58691"/>
              <a:ext cx="369331" cy="4191407"/>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14" name="文本框 13">
              <a:extLst>
                <a:ext uri="{FF2B5EF4-FFF2-40B4-BE49-F238E27FC236}">
                  <a16:creationId xmlns:a16="http://schemas.microsoft.com/office/drawing/2014/main" id="{812D559B-12FC-1029-5FB7-6F5ADB2C8DD8}"/>
                </a:ext>
              </a:extLst>
            </p:cNvPr>
            <p:cNvSpPr txBox="1"/>
            <p:nvPr/>
          </p:nvSpPr>
          <p:spPr>
            <a:xfrm>
              <a:off x="4732103" y="1969728"/>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grpSp>
        <p:nvGrpSpPr>
          <p:cNvPr id="55" name="组合 54">
            <a:extLst>
              <a:ext uri="{FF2B5EF4-FFF2-40B4-BE49-F238E27FC236}">
                <a16:creationId xmlns:a16="http://schemas.microsoft.com/office/drawing/2014/main" id="{518480C4-9A14-E4F1-1CCE-0777F817FC1B}"/>
              </a:ext>
            </a:extLst>
          </p:cNvPr>
          <p:cNvGrpSpPr/>
          <p:nvPr/>
        </p:nvGrpSpPr>
        <p:grpSpPr>
          <a:xfrm>
            <a:off x="8711914" y="1550859"/>
            <a:ext cx="3143185" cy="1846660"/>
            <a:chOff x="8711914" y="1550859"/>
            <a:chExt cx="3143185" cy="1846660"/>
          </a:xfrm>
        </p:grpSpPr>
        <p:sp>
          <p:nvSpPr>
            <p:cNvPr id="23" name="文本框 22">
              <a:extLst>
                <a:ext uri="{FF2B5EF4-FFF2-40B4-BE49-F238E27FC236}">
                  <a16:creationId xmlns:a16="http://schemas.microsoft.com/office/drawing/2014/main" id="{037A72B2-B365-E52F-D796-C1910C9E3742}"/>
                </a:ext>
              </a:extLst>
            </p:cNvPr>
            <p:cNvSpPr txBox="1"/>
            <p:nvPr/>
          </p:nvSpPr>
          <p:spPr>
            <a:xfrm>
              <a:off x="9026349" y="1550859"/>
              <a:ext cx="2828750" cy="1477328"/>
            </a:xfrm>
            <a:prstGeom prst="rect">
              <a:avLst/>
            </a:prstGeom>
            <a:solidFill>
              <a:schemeClr val="bg1">
                <a:lumMod val="95000"/>
              </a:schemeClr>
            </a:solidFill>
          </p:spPr>
          <p:txBody>
            <a:bodyPr wrap="square" rtlCol="0">
              <a:spAutoFit/>
            </a:bodyPr>
            <a:lstStyle/>
            <a:p>
              <a:r>
                <a:rPr lang="zh-CN" altLang="en-US" b="1" dirty="0">
                  <a:latin typeface="+mn-ea"/>
                </a:rPr>
                <a:t>为该客户生成一个唯一的</a:t>
              </a:r>
              <a:endParaRPr lang="en-US" altLang="zh-CN" b="1" dirty="0">
                <a:latin typeface="+mn-ea"/>
              </a:endParaRPr>
            </a:p>
            <a:p>
              <a:r>
                <a:rPr lang="en-US" altLang="zh-CN" b="1" dirty="0">
                  <a:latin typeface="+mn-ea"/>
                </a:rPr>
                <a:t>Cookie</a:t>
              </a:r>
              <a:r>
                <a:rPr lang="zh-CN" altLang="en-US" b="1" dirty="0">
                  <a:latin typeface="+mn-ea"/>
                </a:rPr>
                <a:t>识别码，并以此为</a:t>
              </a:r>
              <a:endParaRPr lang="en-US" altLang="zh-CN" b="1" dirty="0">
                <a:latin typeface="+mn-ea"/>
              </a:endParaRPr>
            </a:p>
            <a:p>
              <a:r>
                <a:rPr lang="zh-CN" altLang="en-US" b="1" dirty="0">
                  <a:latin typeface="+mn-ea"/>
                </a:rPr>
                <a:t>索引在后端数据库中创建</a:t>
              </a:r>
              <a:endParaRPr lang="en-US" altLang="zh-CN" b="1" dirty="0">
                <a:latin typeface="+mn-ea"/>
              </a:endParaRPr>
            </a:p>
            <a:p>
              <a:r>
                <a:rPr lang="zh-CN" altLang="en-US" b="1" dirty="0">
                  <a:latin typeface="+mn-ea"/>
                </a:rPr>
                <a:t>一个项目，用来记录该用</a:t>
              </a:r>
              <a:endParaRPr lang="en-US" altLang="zh-CN" b="1" dirty="0">
                <a:latin typeface="+mn-ea"/>
              </a:endParaRPr>
            </a:p>
            <a:p>
              <a:r>
                <a:rPr lang="zh-CN" altLang="en-US" b="1" dirty="0">
                  <a:latin typeface="+mn-ea"/>
                </a:rPr>
                <a:t>户访问该网站的各种信息。</a:t>
              </a:r>
            </a:p>
          </p:txBody>
        </p:sp>
        <p:sp>
          <p:nvSpPr>
            <p:cNvPr id="24" name="文本框 23">
              <a:extLst>
                <a:ext uri="{FF2B5EF4-FFF2-40B4-BE49-F238E27FC236}">
                  <a16:creationId xmlns:a16="http://schemas.microsoft.com/office/drawing/2014/main" id="{7B1D04C3-5C22-7378-8E50-AD5F80E9AEE7}"/>
                </a:ext>
              </a:extLst>
            </p:cNvPr>
            <p:cNvSpPr txBox="1"/>
            <p:nvPr/>
          </p:nvSpPr>
          <p:spPr>
            <a:xfrm>
              <a:off x="10353495" y="3028187"/>
              <a:ext cx="304800" cy="369332"/>
            </a:xfrm>
            <a:prstGeom prst="rect">
              <a:avLst/>
            </a:prstGeom>
            <a:noFill/>
          </p:spPr>
          <p:txBody>
            <a:bodyPr wrap="square">
              <a:spAutoFit/>
            </a:bodyPr>
            <a:lstStyle/>
            <a:p>
              <a:pPr algn="ctr"/>
              <a:r>
                <a:rPr lang="zh-CN" altLang="en-US" b="1" dirty="0">
                  <a:latin typeface="+mn-ea"/>
                </a:rPr>
                <a:t>❷</a:t>
              </a:r>
              <a:endParaRPr lang="zh-CN" altLang="en-US" dirty="0">
                <a:latin typeface="+mn-ea"/>
              </a:endParaRPr>
            </a:p>
          </p:txBody>
        </p:sp>
        <p:pic>
          <p:nvPicPr>
            <p:cNvPr id="51" name="图片 50" descr="图片包含 游戏机, 瓶子&#10;&#10;描述已自动生成">
              <a:extLst>
                <a:ext uri="{FF2B5EF4-FFF2-40B4-BE49-F238E27FC236}">
                  <a16:creationId xmlns:a16="http://schemas.microsoft.com/office/drawing/2014/main" id="{22874729-1213-B915-4081-1156F53F985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11914" y="1906052"/>
              <a:ext cx="304800" cy="361545"/>
            </a:xfrm>
            <a:prstGeom prst="rect">
              <a:avLst/>
            </a:prstGeom>
          </p:spPr>
        </p:pic>
      </p:grpSp>
      <p:grpSp>
        <p:nvGrpSpPr>
          <p:cNvPr id="5" name="组合 4">
            <a:extLst>
              <a:ext uri="{FF2B5EF4-FFF2-40B4-BE49-F238E27FC236}">
                <a16:creationId xmlns:a16="http://schemas.microsoft.com/office/drawing/2014/main" id="{B721541A-8CEC-3A0D-312A-EFA5FA6D9429}"/>
              </a:ext>
            </a:extLst>
          </p:cNvPr>
          <p:cNvGrpSpPr/>
          <p:nvPr/>
        </p:nvGrpSpPr>
        <p:grpSpPr>
          <a:xfrm>
            <a:off x="1988299" y="4406848"/>
            <a:ext cx="7028415" cy="1648146"/>
            <a:chOff x="1988299" y="4406848"/>
            <a:chExt cx="7028415" cy="1648146"/>
          </a:xfrm>
        </p:grpSpPr>
        <p:grpSp>
          <p:nvGrpSpPr>
            <p:cNvPr id="31" name="组合 30">
              <a:extLst>
                <a:ext uri="{FF2B5EF4-FFF2-40B4-BE49-F238E27FC236}">
                  <a16:creationId xmlns:a16="http://schemas.microsoft.com/office/drawing/2014/main" id="{D478B5B1-39E9-9AA0-3317-7BD888AFA5D5}"/>
                </a:ext>
              </a:extLst>
            </p:cNvPr>
            <p:cNvGrpSpPr/>
            <p:nvPr/>
          </p:nvGrpSpPr>
          <p:grpSpPr>
            <a:xfrm>
              <a:off x="2679594" y="4406848"/>
              <a:ext cx="6327485" cy="1648146"/>
              <a:chOff x="2190818" y="3264921"/>
              <a:chExt cx="6327485" cy="1648146"/>
            </a:xfrm>
          </p:grpSpPr>
          <p:grpSp>
            <p:nvGrpSpPr>
              <p:cNvPr id="32" name="组合 31">
                <a:extLst>
                  <a:ext uri="{FF2B5EF4-FFF2-40B4-BE49-F238E27FC236}">
                    <a16:creationId xmlns:a16="http://schemas.microsoft.com/office/drawing/2014/main" id="{29073CA7-3061-33CC-1D1F-1880ACD9724B}"/>
                  </a:ext>
                </a:extLst>
              </p:cNvPr>
              <p:cNvGrpSpPr/>
              <p:nvPr/>
            </p:nvGrpSpPr>
            <p:grpSpPr>
              <a:xfrm>
                <a:off x="2190818" y="3264921"/>
                <a:ext cx="1106018" cy="1648146"/>
                <a:chOff x="2190818" y="3264921"/>
                <a:chExt cx="1106018" cy="1648146"/>
              </a:xfrm>
            </p:grpSpPr>
            <p:pic>
              <p:nvPicPr>
                <p:cNvPr id="39" name="图形 38">
                  <a:extLst>
                    <a:ext uri="{FF2B5EF4-FFF2-40B4-BE49-F238E27FC236}">
                      <a16:creationId xmlns:a16="http://schemas.microsoft.com/office/drawing/2014/main" id="{F6F55FD4-1C13-7329-4D49-F8C83F4AE74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56803" y="3264921"/>
                  <a:ext cx="974048" cy="942113"/>
                </a:xfrm>
                <a:prstGeom prst="rect">
                  <a:avLst/>
                </a:prstGeom>
              </p:spPr>
            </p:pic>
            <p:sp>
              <p:nvSpPr>
                <p:cNvPr id="40" name="文本框 39">
                  <a:extLst>
                    <a:ext uri="{FF2B5EF4-FFF2-40B4-BE49-F238E27FC236}">
                      <a16:creationId xmlns:a16="http://schemas.microsoft.com/office/drawing/2014/main" id="{8D0D293A-DF1B-D4AA-2817-1E7A5650F5BB}"/>
                    </a:ext>
                  </a:extLst>
                </p:cNvPr>
                <p:cNvSpPr txBox="1"/>
                <p:nvPr/>
              </p:nvSpPr>
              <p:spPr>
                <a:xfrm>
                  <a:off x="2190818"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客户</a:t>
                  </a:r>
                </a:p>
              </p:txBody>
            </p:sp>
          </p:grpSp>
          <p:grpSp>
            <p:nvGrpSpPr>
              <p:cNvPr id="33" name="组合 32">
                <a:extLst>
                  <a:ext uri="{FF2B5EF4-FFF2-40B4-BE49-F238E27FC236}">
                    <a16:creationId xmlns:a16="http://schemas.microsoft.com/office/drawing/2014/main" id="{E51F439A-88D6-E2FB-273C-0687178A156E}"/>
                  </a:ext>
                </a:extLst>
              </p:cNvPr>
              <p:cNvGrpSpPr/>
              <p:nvPr/>
            </p:nvGrpSpPr>
            <p:grpSpPr>
              <a:xfrm>
                <a:off x="3296836" y="3663202"/>
                <a:ext cx="4191407" cy="369332"/>
                <a:chOff x="2888662" y="2311235"/>
                <a:chExt cx="4191407" cy="369332"/>
              </a:xfrm>
            </p:grpSpPr>
            <p:sp>
              <p:nvSpPr>
                <p:cNvPr id="37" name="圆柱体 36">
                  <a:extLst>
                    <a:ext uri="{FF2B5EF4-FFF2-40B4-BE49-F238E27FC236}">
                      <a16:creationId xmlns:a16="http://schemas.microsoft.com/office/drawing/2014/main" id="{2CE2E27D-D7F0-1FBF-C1CF-654A0A9E9A72}"/>
                    </a:ext>
                  </a:extLst>
                </p:cNvPr>
                <p:cNvSpPr/>
                <p:nvPr/>
              </p:nvSpPr>
              <p:spPr>
                <a:xfrm rot="16200000">
                  <a:off x="4799700" y="400198"/>
                  <a:ext cx="369331" cy="4191407"/>
                </a:xfrm>
                <a:prstGeom prst="can">
                  <a:avLst/>
                </a:prstGeom>
                <a:solidFill>
                  <a:srgbClr val="03ACF1"/>
                </a:solidFill>
                <a:ln>
                  <a:solidFill>
                    <a:srgbClr val="5BD5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38" name="文本框 37">
                  <a:extLst>
                    <a:ext uri="{FF2B5EF4-FFF2-40B4-BE49-F238E27FC236}">
                      <a16:creationId xmlns:a16="http://schemas.microsoft.com/office/drawing/2014/main" id="{08799ED3-7CF5-3B74-2A13-03FF8F8B0D97}"/>
                    </a:ext>
                  </a:extLst>
                </p:cNvPr>
                <p:cNvSpPr txBox="1"/>
                <p:nvPr/>
              </p:nvSpPr>
              <p:spPr>
                <a:xfrm>
                  <a:off x="3835153" y="2311235"/>
                  <a:ext cx="2298424" cy="369332"/>
                </a:xfrm>
                <a:prstGeom prst="rect">
                  <a:avLst/>
                </a:prstGeom>
                <a:noFill/>
              </p:spPr>
              <p:txBody>
                <a:bodyPr wrap="square" rtlCol="0">
                  <a:spAutoFit/>
                </a:bodyPr>
                <a:lstStyle/>
                <a:p>
                  <a:pPr algn="ctr"/>
                  <a:r>
                    <a:rPr lang="en-US" altLang="zh-CN" b="1" dirty="0">
                      <a:solidFill>
                        <a:schemeClr val="bg1"/>
                      </a:solidFill>
                      <a:latin typeface="+mn-ea"/>
                    </a:rPr>
                    <a:t>TCP</a:t>
                  </a:r>
                  <a:r>
                    <a:rPr lang="zh-CN" altLang="en-US" b="1" dirty="0">
                      <a:solidFill>
                        <a:schemeClr val="bg1"/>
                      </a:solidFill>
                      <a:latin typeface="+mn-ea"/>
                    </a:rPr>
                    <a:t>连接（端口号</a:t>
                  </a:r>
                  <a:r>
                    <a:rPr lang="en-US" altLang="zh-CN" b="1" dirty="0">
                      <a:solidFill>
                        <a:schemeClr val="bg1"/>
                      </a:solidFill>
                      <a:latin typeface="+mn-ea"/>
                    </a:rPr>
                    <a:t>80</a:t>
                  </a:r>
                  <a:r>
                    <a:rPr lang="zh-CN" altLang="en-US" b="1" dirty="0">
                      <a:solidFill>
                        <a:schemeClr val="bg1"/>
                      </a:solidFill>
                      <a:latin typeface="+mn-ea"/>
                    </a:rPr>
                    <a:t>）</a:t>
                  </a:r>
                </a:p>
              </p:txBody>
            </p:sp>
          </p:grpSp>
          <p:grpSp>
            <p:nvGrpSpPr>
              <p:cNvPr id="34" name="组合 33">
                <a:extLst>
                  <a:ext uri="{FF2B5EF4-FFF2-40B4-BE49-F238E27FC236}">
                    <a16:creationId xmlns:a16="http://schemas.microsoft.com/office/drawing/2014/main" id="{BDF41390-4058-AB98-6070-8587B1F0FB68}"/>
                  </a:ext>
                </a:extLst>
              </p:cNvPr>
              <p:cNvGrpSpPr/>
              <p:nvPr/>
            </p:nvGrpSpPr>
            <p:grpSpPr>
              <a:xfrm>
                <a:off x="7412285" y="3429000"/>
                <a:ext cx="1106018" cy="1484067"/>
                <a:chOff x="8570525" y="3429000"/>
                <a:chExt cx="1106018" cy="1484067"/>
              </a:xfrm>
            </p:grpSpPr>
            <p:pic>
              <p:nvPicPr>
                <p:cNvPr id="35" name="图形 34">
                  <a:extLst>
                    <a:ext uri="{FF2B5EF4-FFF2-40B4-BE49-F238E27FC236}">
                      <a16:creationId xmlns:a16="http://schemas.microsoft.com/office/drawing/2014/main" id="{50C10B00-9E6E-BAC4-D320-B9666E10A43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04397" y="3429000"/>
                  <a:ext cx="638275" cy="837736"/>
                </a:xfrm>
                <a:prstGeom prst="rect">
                  <a:avLst/>
                </a:prstGeom>
              </p:spPr>
            </p:pic>
            <p:sp>
              <p:nvSpPr>
                <p:cNvPr id="36" name="文本框 35">
                  <a:extLst>
                    <a:ext uri="{FF2B5EF4-FFF2-40B4-BE49-F238E27FC236}">
                      <a16:creationId xmlns:a16="http://schemas.microsoft.com/office/drawing/2014/main" id="{38FC8557-1FD9-309E-3531-22388DBA6F92}"/>
                    </a:ext>
                  </a:extLst>
                </p:cNvPr>
                <p:cNvSpPr txBox="1"/>
                <p:nvPr/>
              </p:nvSpPr>
              <p:spPr>
                <a:xfrm>
                  <a:off x="8570525" y="4266736"/>
                  <a:ext cx="1106018" cy="646331"/>
                </a:xfrm>
                <a:prstGeom prst="rect">
                  <a:avLst/>
                </a:prstGeom>
                <a:noFill/>
              </p:spPr>
              <p:txBody>
                <a:bodyPr wrap="square" rtlCol="0">
                  <a:spAutoFit/>
                </a:bodyPr>
                <a:lstStyle/>
                <a:p>
                  <a:pPr algn="ctr"/>
                  <a:r>
                    <a:rPr lang="zh-CN" altLang="en-US" b="1" dirty="0">
                      <a:latin typeface="+mn-ea"/>
                    </a:rPr>
                    <a:t>万维网</a:t>
                  </a:r>
                  <a:endParaRPr lang="en-US" altLang="zh-CN" b="1" dirty="0">
                    <a:latin typeface="+mn-ea"/>
                  </a:endParaRPr>
                </a:p>
                <a:p>
                  <a:pPr algn="ctr"/>
                  <a:r>
                    <a:rPr lang="zh-CN" altLang="en-US" b="1" dirty="0">
                      <a:latin typeface="+mn-ea"/>
                    </a:rPr>
                    <a:t>服务器</a:t>
                  </a:r>
                </a:p>
              </p:txBody>
            </p:sp>
          </p:grpSp>
        </p:grpSp>
        <p:pic>
          <p:nvPicPr>
            <p:cNvPr id="46" name="图形 45" descr="文档 轮廓">
              <a:extLst>
                <a:ext uri="{FF2B5EF4-FFF2-40B4-BE49-F238E27FC236}">
                  <a16:creationId xmlns:a16="http://schemas.microsoft.com/office/drawing/2014/main" id="{EC2B34FC-9CB5-2700-7690-B2E6C7BCEC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88299" y="4667723"/>
              <a:ext cx="914400" cy="914400"/>
            </a:xfrm>
            <a:prstGeom prst="rect">
              <a:avLst/>
            </a:prstGeom>
          </p:spPr>
        </p:pic>
        <p:pic>
          <p:nvPicPr>
            <p:cNvPr id="54" name="图片 53" descr="图片包含 游戏机, 瓶子&#10;&#10;描述已自动生成">
              <a:extLst>
                <a:ext uri="{FF2B5EF4-FFF2-40B4-BE49-F238E27FC236}">
                  <a16:creationId xmlns:a16="http://schemas.microsoft.com/office/drawing/2014/main" id="{613DD0CE-B7C5-2673-B80F-C2BAE9F5124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11914" y="4736941"/>
              <a:ext cx="304800" cy="361545"/>
            </a:xfrm>
            <a:prstGeom prst="rect">
              <a:avLst/>
            </a:prstGeom>
          </p:spPr>
        </p:pic>
      </p:grpSp>
      <p:pic>
        <p:nvPicPr>
          <p:cNvPr id="18" name="图形 17" descr="放大镜 纯色填充">
            <a:extLst>
              <a:ext uri="{FF2B5EF4-FFF2-40B4-BE49-F238E27FC236}">
                <a16:creationId xmlns:a16="http://schemas.microsoft.com/office/drawing/2014/main" id="{35481A7A-ECA8-F355-79A3-6BDB513A53F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56124" y="4715042"/>
            <a:ext cx="441499" cy="441499"/>
          </a:xfrm>
          <a:prstGeom prst="rect">
            <a:avLst/>
          </a:prstGeom>
        </p:spPr>
      </p:pic>
      <p:pic>
        <p:nvPicPr>
          <p:cNvPr id="53" name="图形 52" descr="放大镜 纯色填充">
            <a:extLst>
              <a:ext uri="{FF2B5EF4-FFF2-40B4-BE49-F238E27FC236}">
                <a16:creationId xmlns:a16="http://schemas.microsoft.com/office/drawing/2014/main" id="{48B33ED4-A870-795F-18C4-467108463BB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97073" y="4591326"/>
            <a:ext cx="441499" cy="441499"/>
          </a:xfrm>
          <a:prstGeom prst="rect">
            <a:avLst/>
          </a:prstGeom>
        </p:spPr>
      </p:pic>
    </p:spTree>
    <p:custDataLst>
      <p:tags r:id="rId1"/>
    </p:custDataLst>
    <p:extLst>
      <p:ext uri="{BB962C8B-B14F-4D97-AF65-F5344CB8AC3E}">
        <p14:creationId xmlns:p14="http://schemas.microsoft.com/office/powerpoint/2010/main" val="305575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par>
                          <p:cTn id="14" fill="hold">
                            <p:stCondLst>
                              <p:cond delay="0"/>
                            </p:stCondLst>
                            <p:childTnLst>
                              <p:par>
                                <p:cTn id="15" presetID="42" presetClass="path" presetSubtype="0" accel="50000" decel="50000" fill="hold" nodeType="afterEffect">
                                  <p:stCondLst>
                                    <p:cond delay="0"/>
                                  </p:stCondLst>
                                  <p:childTnLst>
                                    <p:animMotion origin="layout" path="M 5E-6 4.07407E-6 L -0.00143 0.09791 " pathEditMode="relative" rAng="0" ptsTypes="AA">
                                      <p:cBhvr>
                                        <p:cTn id="16" dur="2000" fill="hold"/>
                                        <p:tgtEl>
                                          <p:spTgt spid="18"/>
                                        </p:tgtEl>
                                        <p:attrNameLst>
                                          <p:attrName>ppt_x</p:attrName>
                                          <p:attrName>ppt_y</p:attrName>
                                        </p:attrNameLst>
                                      </p:cBhvr>
                                      <p:rCtr x="-78" y="4884"/>
                                    </p:animMotion>
                                  </p:childTnLst>
                                </p:cTn>
                              </p:par>
                            </p:childTnLst>
                          </p:cTn>
                        </p:par>
                        <p:par>
                          <p:cTn id="17" fill="hold">
                            <p:stCondLst>
                              <p:cond delay="2000"/>
                            </p:stCondLst>
                            <p:childTnLst>
                              <p:par>
                                <p:cTn id="18" presetID="1" presetClass="exit" presetSubtype="0" fill="hold" nodeType="afterEffect">
                                  <p:stCondLst>
                                    <p:cond delay="0"/>
                                  </p:stCondLst>
                                  <p:childTnLst>
                                    <p:set>
                                      <p:cBhvr>
                                        <p:cTn id="19" dur="1" fill="hold">
                                          <p:stCondLst>
                                            <p:cond delay="0"/>
                                          </p:stCondLst>
                                        </p:cTn>
                                        <p:tgtEl>
                                          <p:spTgt spid="18"/>
                                        </p:tgtEl>
                                        <p:attrNameLst>
                                          <p:attrName>style.visibility</p:attrName>
                                        </p:attrNameLst>
                                      </p:cBhvr>
                                      <p:to>
                                        <p:strVal val="hidden"/>
                                      </p:to>
                                    </p:set>
                                  </p:childTnLst>
                                </p:cTn>
                              </p:par>
                            </p:childTnLst>
                          </p:cTn>
                        </p:par>
                        <p:par>
                          <p:cTn id="20" fill="hold">
                            <p:stCondLst>
                              <p:cond delay="2000"/>
                            </p:stCondLst>
                            <p:childTnLst>
                              <p:par>
                                <p:cTn id="21" presetID="12" presetClass="entr" presetSubtype="8"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p:tgtEl>
                                          <p:spTgt spid="19"/>
                                        </p:tgtEl>
                                        <p:attrNameLst>
                                          <p:attrName>ppt_x</p:attrName>
                                        </p:attrNameLst>
                                      </p:cBhvr>
                                      <p:tavLst>
                                        <p:tav tm="0">
                                          <p:val>
                                            <p:strVal val="#ppt_x-#ppt_w*1.125000"/>
                                          </p:val>
                                        </p:tav>
                                        <p:tav tm="100000">
                                          <p:val>
                                            <p:strVal val="#ppt_x"/>
                                          </p:val>
                                        </p:tav>
                                      </p:tavLst>
                                    </p:anim>
                                    <p:animEffect transition="in" filter="wipe(right)">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p:tgtEl>
                                          <p:spTgt spid="25"/>
                                        </p:tgtEl>
                                        <p:attrNameLst>
                                          <p:attrName>ppt_x</p:attrName>
                                        </p:attrNameLst>
                                      </p:cBhvr>
                                      <p:tavLst>
                                        <p:tav tm="0">
                                          <p:val>
                                            <p:strVal val="#ppt_x-#ppt_w*1.125000"/>
                                          </p:val>
                                        </p:tav>
                                        <p:tav tm="100000">
                                          <p:val>
                                            <p:strVal val="#ppt_x"/>
                                          </p:val>
                                        </p:tav>
                                      </p:tavLst>
                                    </p:anim>
                                    <p:animEffect transition="in" filter="wipe(right)">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2" fill="hold" nodeType="clickEffect">
                                  <p:stCondLst>
                                    <p:cond delay="0"/>
                                  </p:stCondLst>
                                  <p:childTnLst>
                                    <p:set>
                                      <p:cBhvr>
                                        <p:cTn id="34" dur="1" fill="hold">
                                          <p:stCondLst>
                                            <p:cond delay="0"/>
                                          </p:stCondLst>
                                        </p:cTn>
                                        <p:tgtEl>
                                          <p:spTgt spid="52"/>
                                        </p:tgtEl>
                                        <p:attrNameLst>
                                          <p:attrName>style.visibility</p:attrName>
                                        </p:attrNameLst>
                                      </p:cBhvr>
                                      <p:to>
                                        <p:strVal val="visible"/>
                                      </p:to>
                                    </p:set>
                                    <p:anim calcmode="lin" valueType="num">
                                      <p:cBhvr additive="base">
                                        <p:cTn id="35" dur="500"/>
                                        <p:tgtEl>
                                          <p:spTgt spid="52"/>
                                        </p:tgtEl>
                                        <p:attrNameLst>
                                          <p:attrName>ppt_x</p:attrName>
                                        </p:attrNameLst>
                                      </p:cBhvr>
                                      <p:tavLst>
                                        <p:tav tm="0">
                                          <p:val>
                                            <p:strVal val="#ppt_x+#ppt_w*1.125000"/>
                                          </p:val>
                                        </p:tav>
                                        <p:tav tm="100000">
                                          <p:val>
                                            <p:strVal val="#ppt_x"/>
                                          </p:val>
                                        </p:tav>
                                      </p:tavLst>
                                    </p:anim>
                                    <p:animEffect transition="in" filter="wipe(left)">
                                      <p:cBhvr>
                                        <p:cTn id="36" dur="500"/>
                                        <p:tgtEl>
                                          <p:spTgt spid="52"/>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0"/>
                                          </p:stCondLst>
                                        </p:cTn>
                                        <p:tgtEl>
                                          <p:spTgt spid="53"/>
                                        </p:tgtEl>
                                        <p:attrNameLst>
                                          <p:attrName>style.visibility</p:attrName>
                                        </p:attrNameLst>
                                      </p:cBhvr>
                                      <p:to>
                                        <p:strVal val="visible"/>
                                      </p:to>
                                    </p:set>
                                  </p:childTnLst>
                                </p:cTn>
                              </p:par>
                            </p:childTnLst>
                          </p:cTn>
                        </p:par>
                        <p:par>
                          <p:cTn id="40" fill="hold">
                            <p:stCondLst>
                              <p:cond delay="500"/>
                            </p:stCondLst>
                            <p:childTnLst>
                              <p:par>
                                <p:cTn id="41" presetID="42" presetClass="path" presetSubtype="0" accel="50000" decel="50000" fill="hold" nodeType="afterEffect">
                                  <p:stCondLst>
                                    <p:cond delay="0"/>
                                  </p:stCondLst>
                                  <p:childTnLst>
                                    <p:animMotion origin="layout" path="M -2.08333E-7 -3.7037E-7 L -0.00143 0.09792 " pathEditMode="relative" rAng="0" ptsTypes="AA">
                                      <p:cBhvr>
                                        <p:cTn id="42" dur="2000" fill="hold"/>
                                        <p:tgtEl>
                                          <p:spTgt spid="53"/>
                                        </p:tgtEl>
                                        <p:attrNameLst>
                                          <p:attrName>ppt_x</p:attrName>
                                          <p:attrName>ppt_y</p:attrName>
                                        </p:attrNameLst>
                                      </p:cBhvr>
                                      <p:rCtr x="-78" y="4884"/>
                                    </p:animMotion>
                                  </p:childTnLst>
                                </p:cTn>
                              </p:par>
                            </p:childTnLst>
                          </p:cTn>
                        </p:par>
                        <p:par>
                          <p:cTn id="43" fill="hold">
                            <p:stCondLst>
                              <p:cond delay="2500"/>
                            </p:stCondLst>
                            <p:childTnLst>
                              <p:par>
                                <p:cTn id="44" presetID="1" presetClass="exit" presetSubtype="0" fill="hold" nodeType="afterEffect">
                                  <p:stCondLst>
                                    <p:cond delay="0"/>
                                  </p:stCondLst>
                                  <p:childTnLst>
                                    <p:set>
                                      <p:cBhvr>
                                        <p:cTn id="45" dur="1" fill="hold">
                                          <p:stCondLst>
                                            <p:cond delay="0"/>
                                          </p:stCondLst>
                                        </p:cTn>
                                        <p:tgtEl>
                                          <p:spTgt spid="53"/>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2" presetClass="entr" presetSubtype="2" fill="hold" nodeType="clickEffect">
                                  <p:stCondLst>
                                    <p:cond delay="0"/>
                                  </p:stCondLst>
                                  <p:childTnLst>
                                    <p:set>
                                      <p:cBhvr>
                                        <p:cTn id="49" dur="1" fill="hold">
                                          <p:stCondLst>
                                            <p:cond delay="0"/>
                                          </p:stCondLst>
                                        </p:cTn>
                                        <p:tgtEl>
                                          <p:spTgt spid="58"/>
                                        </p:tgtEl>
                                        <p:attrNameLst>
                                          <p:attrName>style.visibility</p:attrName>
                                        </p:attrNameLst>
                                      </p:cBhvr>
                                      <p:to>
                                        <p:strVal val="visible"/>
                                      </p:to>
                                    </p:set>
                                    <p:anim calcmode="lin" valueType="num">
                                      <p:cBhvr additive="base">
                                        <p:cTn id="50" dur="500"/>
                                        <p:tgtEl>
                                          <p:spTgt spid="58"/>
                                        </p:tgtEl>
                                        <p:attrNameLst>
                                          <p:attrName>ppt_x</p:attrName>
                                        </p:attrNameLst>
                                      </p:cBhvr>
                                      <p:tavLst>
                                        <p:tav tm="0">
                                          <p:val>
                                            <p:strVal val="#ppt_x+#ppt_w*1.125000"/>
                                          </p:val>
                                        </p:tav>
                                        <p:tav tm="100000">
                                          <p:val>
                                            <p:strVal val="#ppt_x"/>
                                          </p:val>
                                        </p:tav>
                                      </p:tavLst>
                                    </p:anim>
                                    <p:animEffect transition="in" filter="wipe(left)">
                                      <p:cBhvr>
                                        <p:cTn id="5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06</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万维网缓存与代理服务器</a:t>
              </a:r>
            </a:p>
          </p:txBody>
        </p:sp>
      </p:grpSp>
      <p:sp>
        <p:nvSpPr>
          <p:cNvPr id="15" name="矩形 14">
            <a:extLst>
              <a:ext uri="{FF2B5EF4-FFF2-40B4-BE49-F238E27FC236}">
                <a16:creationId xmlns:a16="http://schemas.microsoft.com/office/drawing/2014/main" id="{4462CE75-52E7-6FC6-C7F8-5EA164A90055}"/>
              </a:ext>
            </a:extLst>
          </p:cNvPr>
          <p:cNvSpPr/>
          <p:nvPr/>
        </p:nvSpPr>
        <p:spPr>
          <a:xfrm>
            <a:off x="1016000" y="127319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íşlïḍè">
            <a:extLst>
              <a:ext uri="{FF2B5EF4-FFF2-40B4-BE49-F238E27FC236}">
                <a16:creationId xmlns:a16="http://schemas.microsoft.com/office/drawing/2014/main" id="{801BAE93-A033-F84F-7B52-5CD066BCB7EB}"/>
              </a:ext>
            </a:extLst>
          </p:cNvPr>
          <p:cNvSpPr txBox="1"/>
          <p:nvPr/>
        </p:nvSpPr>
        <p:spPr>
          <a:xfrm>
            <a:off x="1293757" y="1192132"/>
            <a:ext cx="10593443" cy="427540"/>
          </a:xfrm>
          <a:prstGeom prst="rect">
            <a:avLst/>
          </a:prstGeom>
          <a:noFill/>
        </p:spPr>
        <p:txBody>
          <a:bodyPr wrap="square" lIns="91440" tIns="45720" rIns="91440" bIns="45720" anchor="ctr">
            <a:noAutofit/>
          </a:bodyPr>
          <a:lstStyle/>
          <a:p>
            <a:r>
              <a:rPr lang="zh-CN" altLang="en-US" b="1" dirty="0"/>
              <a:t>在万维网中还可以使用缓存机制以提高万维网的效率。</a:t>
            </a:r>
            <a:endParaRPr lang="en-US" altLang="zh-CN" b="1" dirty="0"/>
          </a:p>
        </p:txBody>
      </p:sp>
      <p:sp>
        <p:nvSpPr>
          <p:cNvPr id="5" name="矩形 4">
            <a:extLst>
              <a:ext uri="{FF2B5EF4-FFF2-40B4-BE49-F238E27FC236}">
                <a16:creationId xmlns:a16="http://schemas.microsoft.com/office/drawing/2014/main" id="{D35553E9-C292-B479-4FCF-97B28D8BF897}"/>
              </a:ext>
            </a:extLst>
          </p:cNvPr>
          <p:cNvSpPr/>
          <p:nvPr/>
        </p:nvSpPr>
        <p:spPr>
          <a:xfrm>
            <a:off x="1016000" y="1700734"/>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íşlïḍè">
            <a:extLst>
              <a:ext uri="{FF2B5EF4-FFF2-40B4-BE49-F238E27FC236}">
                <a16:creationId xmlns:a16="http://schemas.microsoft.com/office/drawing/2014/main" id="{F8CD77B1-D9BA-5429-1856-51653DA18D06}"/>
              </a:ext>
            </a:extLst>
          </p:cNvPr>
          <p:cNvSpPr txBox="1"/>
          <p:nvPr/>
        </p:nvSpPr>
        <p:spPr>
          <a:xfrm>
            <a:off x="1293757" y="1619672"/>
            <a:ext cx="10593443" cy="677854"/>
          </a:xfrm>
          <a:prstGeom prst="rect">
            <a:avLst/>
          </a:prstGeom>
          <a:noFill/>
        </p:spPr>
        <p:txBody>
          <a:bodyPr wrap="square" lIns="91440" tIns="45720" rIns="91440" bIns="45720" anchor="ctr">
            <a:noAutofit/>
          </a:bodyPr>
          <a:lstStyle/>
          <a:p>
            <a:r>
              <a:rPr lang="zh-CN" altLang="en-US" b="1" dirty="0"/>
              <a:t>万维网缓存又称为</a:t>
            </a:r>
            <a:r>
              <a:rPr lang="en-US" altLang="zh-CN" b="1" dirty="0">
                <a:solidFill>
                  <a:srgbClr val="FF0000"/>
                </a:solidFill>
              </a:rPr>
              <a:t>Web</a:t>
            </a:r>
            <a:r>
              <a:rPr lang="zh-CN" altLang="en-US" b="1" dirty="0">
                <a:solidFill>
                  <a:srgbClr val="FF0000"/>
                </a:solidFill>
              </a:rPr>
              <a:t>缓存</a:t>
            </a:r>
            <a:r>
              <a:rPr lang="zh-CN" altLang="en-US" b="1" dirty="0"/>
              <a:t>（</a:t>
            </a:r>
            <a:r>
              <a:rPr lang="en-US" altLang="zh-CN" b="1" dirty="0"/>
              <a:t>Web Cache</a:t>
            </a:r>
            <a:r>
              <a:rPr lang="zh-CN" altLang="en-US" b="1" dirty="0"/>
              <a:t>），可位于客户机，也可位于中间系统上，位于中间系统上的</a:t>
            </a:r>
            <a:r>
              <a:rPr lang="en-US" altLang="zh-CN" b="1" dirty="0"/>
              <a:t>Web</a:t>
            </a:r>
            <a:r>
              <a:rPr lang="zh-CN" altLang="en-US" b="1" dirty="0"/>
              <a:t>缓存又称为</a:t>
            </a:r>
            <a:r>
              <a:rPr lang="zh-CN" altLang="en-US" b="1" dirty="0">
                <a:solidFill>
                  <a:srgbClr val="FF0000"/>
                </a:solidFill>
              </a:rPr>
              <a:t>代理服务器</a:t>
            </a:r>
            <a:r>
              <a:rPr lang="zh-CN" altLang="en-US" b="1" dirty="0"/>
              <a:t>（</a:t>
            </a:r>
            <a:r>
              <a:rPr lang="en-US" altLang="zh-CN" b="1" dirty="0"/>
              <a:t>Proxy Server</a:t>
            </a:r>
            <a:r>
              <a:rPr lang="zh-CN" altLang="en-US" b="1" dirty="0"/>
              <a:t>）。</a:t>
            </a:r>
            <a:endParaRPr lang="en-US" altLang="zh-CN" b="1" dirty="0"/>
          </a:p>
        </p:txBody>
      </p:sp>
      <p:sp>
        <p:nvSpPr>
          <p:cNvPr id="7" name="矩形 6">
            <a:extLst>
              <a:ext uri="{FF2B5EF4-FFF2-40B4-BE49-F238E27FC236}">
                <a16:creationId xmlns:a16="http://schemas.microsoft.com/office/drawing/2014/main" id="{7B1F6BF0-E7F8-F49F-1F2F-3CACE984C7EE}"/>
              </a:ext>
            </a:extLst>
          </p:cNvPr>
          <p:cNvSpPr/>
          <p:nvPr/>
        </p:nvSpPr>
        <p:spPr>
          <a:xfrm>
            <a:off x="995219" y="2378588"/>
            <a:ext cx="256976" cy="25697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íşlïḍè">
            <a:extLst>
              <a:ext uri="{FF2B5EF4-FFF2-40B4-BE49-F238E27FC236}">
                <a16:creationId xmlns:a16="http://schemas.microsoft.com/office/drawing/2014/main" id="{5439E5FD-3AC3-5427-DF65-9FB93DCE0E95}"/>
              </a:ext>
            </a:extLst>
          </p:cNvPr>
          <p:cNvSpPr txBox="1"/>
          <p:nvPr/>
        </p:nvSpPr>
        <p:spPr>
          <a:xfrm>
            <a:off x="1272976" y="2297526"/>
            <a:ext cx="10593443" cy="677854"/>
          </a:xfrm>
          <a:prstGeom prst="rect">
            <a:avLst/>
          </a:prstGeom>
          <a:noFill/>
        </p:spPr>
        <p:txBody>
          <a:bodyPr wrap="square" lIns="91440" tIns="45720" rIns="91440" bIns="45720" anchor="ctr">
            <a:noAutofit/>
          </a:bodyPr>
          <a:lstStyle/>
          <a:p>
            <a:r>
              <a:rPr lang="en-US" altLang="zh-CN" b="1" dirty="0"/>
              <a:t>Web</a:t>
            </a:r>
            <a:r>
              <a:rPr lang="zh-CN" altLang="en-US" b="1" dirty="0"/>
              <a:t>缓存把最近的一些请求和响应暂存在本地磁盘中。</a:t>
            </a:r>
            <a:r>
              <a:rPr lang="zh-CN" altLang="en-US" b="1" dirty="0">
                <a:solidFill>
                  <a:srgbClr val="FF0000"/>
                </a:solidFill>
              </a:rPr>
              <a:t>当新请求到达时，若发现这个请求与暂时存放的请求相同，就返回暂存的响应，而不需要按</a:t>
            </a:r>
            <a:r>
              <a:rPr lang="en-US" altLang="zh-CN" b="1" dirty="0">
                <a:solidFill>
                  <a:srgbClr val="FF0000"/>
                </a:solidFill>
              </a:rPr>
              <a:t>URL</a:t>
            </a:r>
            <a:r>
              <a:rPr lang="zh-CN" altLang="en-US" b="1" dirty="0">
                <a:solidFill>
                  <a:srgbClr val="FF0000"/>
                </a:solidFill>
              </a:rPr>
              <a:t>的地址再次去因特网访问该资源</a:t>
            </a:r>
            <a:r>
              <a:rPr lang="zh-CN" altLang="en-US" b="1" dirty="0"/>
              <a:t>。</a:t>
            </a:r>
            <a:endParaRPr lang="en-US" altLang="zh-CN" b="1" dirty="0"/>
          </a:p>
        </p:txBody>
      </p:sp>
      <p:grpSp>
        <p:nvGrpSpPr>
          <p:cNvPr id="9" name="组合 8">
            <a:extLst>
              <a:ext uri="{FF2B5EF4-FFF2-40B4-BE49-F238E27FC236}">
                <a16:creationId xmlns:a16="http://schemas.microsoft.com/office/drawing/2014/main" id="{59060063-2447-F721-CDD4-12A3B8A78D62}"/>
              </a:ext>
            </a:extLst>
          </p:cNvPr>
          <p:cNvGrpSpPr/>
          <p:nvPr/>
        </p:nvGrpSpPr>
        <p:grpSpPr>
          <a:xfrm>
            <a:off x="1887105" y="2975380"/>
            <a:ext cx="8901594" cy="3434359"/>
            <a:chOff x="1887105" y="2975380"/>
            <a:chExt cx="8901594" cy="3434359"/>
          </a:xfrm>
        </p:grpSpPr>
        <p:sp>
          <p:nvSpPr>
            <p:cNvPr id="22" name="文本框 21">
              <a:extLst>
                <a:ext uri="{FF2B5EF4-FFF2-40B4-BE49-F238E27FC236}">
                  <a16:creationId xmlns:a16="http://schemas.microsoft.com/office/drawing/2014/main" id="{A3D4854B-EA1C-AF07-1BC2-F8F9B8427358}"/>
                </a:ext>
              </a:extLst>
            </p:cNvPr>
            <p:cNvSpPr txBox="1"/>
            <p:nvPr/>
          </p:nvSpPr>
          <p:spPr>
            <a:xfrm>
              <a:off x="9442321" y="4225089"/>
              <a:ext cx="1346378" cy="369332"/>
            </a:xfrm>
            <a:prstGeom prst="rect">
              <a:avLst/>
            </a:prstGeom>
            <a:noFill/>
          </p:spPr>
          <p:txBody>
            <a:bodyPr wrap="square" rtlCol="0">
              <a:spAutoFit/>
            </a:bodyPr>
            <a:lstStyle/>
            <a:p>
              <a:pPr algn="ctr"/>
              <a:r>
                <a:rPr lang="zh-CN" altLang="en-US" b="1" dirty="0">
                  <a:latin typeface="+mn-ea"/>
                </a:rPr>
                <a:t>原始服务器</a:t>
              </a:r>
            </a:p>
          </p:txBody>
        </p:sp>
        <p:grpSp>
          <p:nvGrpSpPr>
            <p:cNvPr id="23" name="组合 22">
              <a:extLst>
                <a:ext uri="{FF2B5EF4-FFF2-40B4-BE49-F238E27FC236}">
                  <a16:creationId xmlns:a16="http://schemas.microsoft.com/office/drawing/2014/main" id="{C72770CD-8F06-1B0B-493B-1E8E8B03EB2B}"/>
                </a:ext>
              </a:extLst>
            </p:cNvPr>
            <p:cNvGrpSpPr/>
            <p:nvPr/>
          </p:nvGrpSpPr>
          <p:grpSpPr>
            <a:xfrm>
              <a:off x="2928645" y="2975380"/>
              <a:ext cx="7520639" cy="3434359"/>
              <a:chOff x="2928645" y="2975380"/>
              <a:chExt cx="7520639" cy="3434359"/>
            </a:xfrm>
          </p:grpSpPr>
          <p:sp>
            <p:nvSpPr>
              <p:cNvPr id="24" name="文本框 23">
                <a:extLst>
                  <a:ext uri="{FF2B5EF4-FFF2-40B4-BE49-F238E27FC236}">
                    <a16:creationId xmlns:a16="http://schemas.microsoft.com/office/drawing/2014/main" id="{E8625F25-7FA9-BAFD-A08E-4395C90EE4FA}"/>
                  </a:ext>
                </a:extLst>
              </p:cNvPr>
              <p:cNvSpPr txBox="1"/>
              <p:nvPr/>
            </p:nvSpPr>
            <p:spPr>
              <a:xfrm>
                <a:off x="4135027" y="4350292"/>
                <a:ext cx="650423" cy="369332"/>
              </a:xfrm>
              <a:prstGeom prst="rect">
                <a:avLst/>
              </a:prstGeom>
              <a:noFill/>
            </p:spPr>
            <p:txBody>
              <a:bodyPr wrap="square" rtlCol="0">
                <a:spAutoFit/>
              </a:bodyPr>
              <a:lstStyle/>
              <a:p>
                <a:pPr algn="ctr"/>
                <a:r>
                  <a:rPr lang="en-US" altLang="zh-CN" b="1" dirty="0">
                    <a:latin typeface="+mn-ea"/>
                  </a:rPr>
                  <a:t>R1</a:t>
                </a:r>
                <a:endParaRPr lang="zh-CN" altLang="en-US" b="1" dirty="0">
                  <a:latin typeface="+mn-ea"/>
                </a:endParaRPr>
              </a:p>
            </p:txBody>
          </p:sp>
          <p:sp>
            <p:nvSpPr>
              <p:cNvPr id="25" name="文本框 24">
                <a:extLst>
                  <a:ext uri="{FF2B5EF4-FFF2-40B4-BE49-F238E27FC236}">
                    <a16:creationId xmlns:a16="http://schemas.microsoft.com/office/drawing/2014/main" id="{FE17C339-4C39-A83B-0028-0754F8CA4F7B}"/>
                  </a:ext>
                </a:extLst>
              </p:cNvPr>
              <p:cNvSpPr txBox="1"/>
              <p:nvPr/>
            </p:nvSpPr>
            <p:spPr>
              <a:xfrm>
                <a:off x="7537627" y="4350292"/>
                <a:ext cx="545280" cy="369332"/>
              </a:xfrm>
              <a:prstGeom prst="rect">
                <a:avLst/>
              </a:prstGeom>
              <a:noFill/>
            </p:spPr>
            <p:txBody>
              <a:bodyPr wrap="square" rtlCol="0">
                <a:spAutoFit/>
              </a:bodyPr>
              <a:lstStyle/>
              <a:p>
                <a:pPr algn="ctr"/>
                <a:r>
                  <a:rPr lang="en-US" altLang="zh-CN" b="1" dirty="0">
                    <a:latin typeface="+mn-ea"/>
                  </a:rPr>
                  <a:t>R2</a:t>
                </a:r>
                <a:endParaRPr lang="zh-CN" altLang="en-US" b="1" dirty="0">
                  <a:latin typeface="+mn-ea"/>
                </a:endParaRPr>
              </a:p>
            </p:txBody>
          </p:sp>
          <p:cxnSp>
            <p:nvCxnSpPr>
              <p:cNvPr id="27" name="直接连接符 26">
                <a:extLst>
                  <a:ext uri="{FF2B5EF4-FFF2-40B4-BE49-F238E27FC236}">
                    <a16:creationId xmlns:a16="http://schemas.microsoft.com/office/drawing/2014/main" id="{858B3D12-9F98-11CB-3BE0-0AC5E960735B}"/>
                  </a:ext>
                </a:extLst>
              </p:cNvPr>
              <p:cNvCxnSpPr>
                <a:cxnSpLocks/>
                <a:endCxn id="59" idx="0"/>
              </p:cNvCxnSpPr>
              <p:nvPr/>
            </p:nvCxnSpPr>
            <p:spPr>
              <a:xfrm>
                <a:off x="3561122" y="3808944"/>
                <a:ext cx="0" cy="19058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A19CE71-5D05-95E9-F61A-624149056B49}"/>
                  </a:ext>
                </a:extLst>
              </p:cNvPr>
              <p:cNvCxnSpPr>
                <a:cxnSpLocks/>
                <a:endCxn id="49" idx="1"/>
              </p:cNvCxnSpPr>
              <p:nvPr/>
            </p:nvCxnSpPr>
            <p:spPr>
              <a:xfrm>
                <a:off x="4288059" y="4878958"/>
                <a:ext cx="5631715" cy="629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1BE0E4C4-4F86-8729-723E-E8335B7716F3}"/>
                  </a:ext>
                </a:extLst>
              </p:cNvPr>
              <p:cNvGrpSpPr/>
              <p:nvPr/>
            </p:nvGrpSpPr>
            <p:grpSpPr>
              <a:xfrm>
                <a:off x="3223830" y="2975380"/>
                <a:ext cx="674585" cy="992522"/>
                <a:chOff x="2528171" y="1047487"/>
                <a:chExt cx="674585" cy="992522"/>
              </a:xfrm>
            </p:grpSpPr>
            <p:pic>
              <p:nvPicPr>
                <p:cNvPr id="60" name="图形 59">
                  <a:extLst>
                    <a:ext uri="{FF2B5EF4-FFF2-40B4-BE49-F238E27FC236}">
                      <a16:creationId xmlns:a16="http://schemas.microsoft.com/office/drawing/2014/main" id="{1D6C4B2A-AAA1-6FD4-A9C9-7769030231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28171" y="1416819"/>
                  <a:ext cx="644314" cy="623190"/>
                </a:xfrm>
                <a:prstGeom prst="rect">
                  <a:avLst/>
                </a:prstGeom>
              </p:spPr>
            </p:pic>
            <p:sp>
              <p:nvSpPr>
                <p:cNvPr id="61" name="文本框 60">
                  <a:extLst>
                    <a:ext uri="{FF2B5EF4-FFF2-40B4-BE49-F238E27FC236}">
                      <a16:creationId xmlns:a16="http://schemas.microsoft.com/office/drawing/2014/main" id="{A487DFA3-311E-6AF8-02D6-D6020703BED7}"/>
                    </a:ext>
                  </a:extLst>
                </p:cNvPr>
                <p:cNvSpPr txBox="1"/>
                <p:nvPr/>
              </p:nvSpPr>
              <p:spPr>
                <a:xfrm>
                  <a:off x="2528171" y="1047487"/>
                  <a:ext cx="674585" cy="369332"/>
                </a:xfrm>
                <a:prstGeom prst="rect">
                  <a:avLst/>
                </a:prstGeom>
                <a:noFill/>
              </p:spPr>
              <p:txBody>
                <a:bodyPr wrap="square" rtlCol="0">
                  <a:spAutoFit/>
                </a:bodyPr>
                <a:lstStyle/>
                <a:p>
                  <a:pPr algn="ctr"/>
                  <a:r>
                    <a:rPr lang="zh-CN" altLang="en-US" b="1" dirty="0">
                      <a:latin typeface="+mn-ea"/>
                    </a:rPr>
                    <a:t>主机</a:t>
                  </a:r>
                </a:p>
              </p:txBody>
            </p:sp>
          </p:grpSp>
          <p:sp>
            <p:nvSpPr>
              <p:cNvPr id="32" name="图形 73">
                <a:extLst>
                  <a:ext uri="{FF2B5EF4-FFF2-40B4-BE49-F238E27FC236}">
                    <a16:creationId xmlns:a16="http://schemas.microsoft.com/office/drawing/2014/main" id="{EA9A485A-B78C-16B8-770F-77F31EEF0B3A}"/>
                  </a:ext>
                </a:extLst>
              </p:cNvPr>
              <p:cNvSpPr/>
              <p:nvPr/>
            </p:nvSpPr>
            <p:spPr>
              <a:xfrm>
                <a:off x="2928645" y="4388063"/>
                <a:ext cx="1389781" cy="945540"/>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校园网</a:t>
                </a:r>
              </a:p>
            </p:txBody>
          </p:sp>
          <p:pic>
            <p:nvPicPr>
              <p:cNvPr id="49" name="图形 48">
                <a:extLst>
                  <a:ext uri="{FF2B5EF4-FFF2-40B4-BE49-F238E27FC236}">
                    <a16:creationId xmlns:a16="http://schemas.microsoft.com/office/drawing/2014/main" id="{FF3A9D17-3260-9021-6906-3D6A6CB20E9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19774" y="4594421"/>
                <a:ext cx="529510" cy="694980"/>
              </a:xfrm>
              <a:prstGeom prst="rect">
                <a:avLst/>
              </a:prstGeom>
            </p:spPr>
          </p:pic>
          <p:pic>
            <p:nvPicPr>
              <p:cNvPr id="50" name="图形 49">
                <a:extLst>
                  <a:ext uri="{FF2B5EF4-FFF2-40B4-BE49-F238E27FC236}">
                    <a16:creationId xmlns:a16="http://schemas.microsoft.com/office/drawing/2014/main" id="{783D2C4C-2B40-CB57-767F-444F691E2AC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35773" y="4686828"/>
                <a:ext cx="582252" cy="471348"/>
              </a:xfrm>
              <a:prstGeom prst="rect">
                <a:avLst/>
              </a:prstGeom>
            </p:spPr>
          </p:pic>
          <p:sp>
            <p:nvSpPr>
              <p:cNvPr id="51" name="图形 73">
                <a:extLst>
                  <a:ext uri="{FF2B5EF4-FFF2-40B4-BE49-F238E27FC236}">
                    <a16:creationId xmlns:a16="http://schemas.microsoft.com/office/drawing/2014/main" id="{E309BEBB-052A-813B-7564-D52E12861825}"/>
                  </a:ext>
                </a:extLst>
              </p:cNvPr>
              <p:cNvSpPr/>
              <p:nvPr/>
            </p:nvSpPr>
            <p:spPr>
              <a:xfrm>
                <a:off x="7953238" y="4464424"/>
                <a:ext cx="1420050" cy="758478"/>
              </a:xfrm>
              <a:custGeom>
                <a:avLst/>
                <a:gdLst>
                  <a:gd name="connsiteX0" fmla="*/ 74132 w 1562600"/>
                  <a:gd name="connsiteY0" fmla="*/ 659806 h 1109449"/>
                  <a:gd name="connsiteX1" fmla="*/ 91 w 1562600"/>
                  <a:gd name="connsiteY1" fmla="*/ 528481 h 1109449"/>
                  <a:gd name="connsiteX2" fmla="*/ 154343 w 1562600"/>
                  <a:gd name="connsiteY2" fmla="*/ 370891 h 1109449"/>
                  <a:gd name="connsiteX3" fmla="*/ 154343 w 1562600"/>
                  <a:gd name="connsiteY3" fmla="*/ 370891 h 1109449"/>
                  <a:gd name="connsiteX4" fmla="*/ 240724 w 1562600"/>
                  <a:gd name="connsiteY4" fmla="*/ 154935 h 1109449"/>
                  <a:gd name="connsiteX5" fmla="*/ 512207 w 1562600"/>
                  <a:gd name="connsiteY5" fmla="*/ 152017 h 1109449"/>
                  <a:gd name="connsiteX6" fmla="*/ 641779 w 1562600"/>
                  <a:gd name="connsiteY6" fmla="*/ 46957 h 1109449"/>
                  <a:gd name="connsiteX7" fmla="*/ 811456 w 1562600"/>
                  <a:gd name="connsiteY7" fmla="*/ 93651 h 1109449"/>
                  <a:gd name="connsiteX8" fmla="*/ 928688 w 1562600"/>
                  <a:gd name="connsiteY8" fmla="*/ 3183 h 1109449"/>
                  <a:gd name="connsiteX9" fmla="*/ 1076769 w 1562600"/>
                  <a:gd name="connsiteY9" fmla="*/ 67386 h 1109449"/>
                  <a:gd name="connsiteX10" fmla="*/ 1237191 w 1562600"/>
                  <a:gd name="connsiteY10" fmla="*/ 11937 h 1109449"/>
                  <a:gd name="connsiteX11" fmla="*/ 1385273 w 1562600"/>
                  <a:gd name="connsiteY11" fmla="*/ 152017 h 1109449"/>
                  <a:gd name="connsiteX12" fmla="*/ 1514845 w 1562600"/>
                  <a:gd name="connsiteY12" fmla="*/ 274587 h 1109449"/>
                  <a:gd name="connsiteX13" fmla="*/ 1499419 w 1562600"/>
                  <a:gd name="connsiteY13" fmla="*/ 411748 h 1109449"/>
                  <a:gd name="connsiteX14" fmla="*/ 1548780 w 1562600"/>
                  <a:gd name="connsiteY14" fmla="*/ 621867 h 1109449"/>
                  <a:gd name="connsiteX15" fmla="*/ 1369848 w 1562600"/>
                  <a:gd name="connsiteY15" fmla="*/ 776539 h 1109449"/>
                  <a:gd name="connsiteX16" fmla="*/ 1249531 w 1562600"/>
                  <a:gd name="connsiteY16" fmla="*/ 948720 h 1109449"/>
                  <a:gd name="connsiteX17" fmla="*/ 1049004 w 1562600"/>
                  <a:gd name="connsiteY17" fmla="*/ 942883 h 1109449"/>
                  <a:gd name="connsiteX18" fmla="*/ 817626 w 1562600"/>
                  <a:gd name="connsiteY18" fmla="*/ 1109228 h 1109449"/>
                  <a:gd name="connsiteX19" fmla="*/ 580078 w 1562600"/>
                  <a:gd name="connsiteY19" fmla="*/ 1004168 h 1109449"/>
                  <a:gd name="connsiteX20" fmla="*/ 373381 w 1562600"/>
                  <a:gd name="connsiteY20" fmla="*/ 1039188 h 1109449"/>
                  <a:gd name="connsiteX21" fmla="*/ 222214 w 1562600"/>
                  <a:gd name="connsiteY21" fmla="*/ 916618 h 1109449"/>
                  <a:gd name="connsiteX22" fmla="*/ 52537 w 1562600"/>
                  <a:gd name="connsiteY22" fmla="*/ 814477 h 1109449"/>
                  <a:gd name="connsiteX23" fmla="*/ 74132 w 1562600"/>
                  <a:gd name="connsiteY23" fmla="*/ 659806 h 110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62600" h="1109449">
                    <a:moveTo>
                      <a:pt x="74132" y="659806"/>
                    </a:moveTo>
                    <a:cubicBezTo>
                      <a:pt x="74132" y="659806"/>
                      <a:pt x="-2994" y="613112"/>
                      <a:pt x="91" y="528481"/>
                    </a:cubicBezTo>
                    <a:cubicBezTo>
                      <a:pt x="6261" y="385483"/>
                      <a:pt x="154343" y="370891"/>
                      <a:pt x="154343" y="370891"/>
                    </a:cubicBezTo>
                    <a:lnTo>
                      <a:pt x="154343" y="370891"/>
                    </a:lnTo>
                    <a:cubicBezTo>
                      <a:pt x="154343" y="370891"/>
                      <a:pt x="111153" y="251240"/>
                      <a:pt x="240724" y="154935"/>
                    </a:cubicBezTo>
                    <a:cubicBezTo>
                      <a:pt x="379551" y="49876"/>
                      <a:pt x="512207" y="152017"/>
                      <a:pt x="512207" y="152017"/>
                    </a:cubicBezTo>
                    <a:cubicBezTo>
                      <a:pt x="512207" y="152017"/>
                      <a:pt x="533803" y="67386"/>
                      <a:pt x="641779" y="46957"/>
                    </a:cubicBezTo>
                    <a:cubicBezTo>
                      <a:pt x="755925" y="23611"/>
                      <a:pt x="811456" y="93651"/>
                      <a:pt x="811456" y="93651"/>
                    </a:cubicBezTo>
                    <a:cubicBezTo>
                      <a:pt x="811456" y="93651"/>
                      <a:pt x="839221" y="20692"/>
                      <a:pt x="928688" y="3183"/>
                    </a:cubicBezTo>
                    <a:cubicBezTo>
                      <a:pt x="1018154" y="-17246"/>
                      <a:pt x="1076769" y="67386"/>
                      <a:pt x="1076769" y="67386"/>
                    </a:cubicBezTo>
                    <a:cubicBezTo>
                      <a:pt x="1076769" y="67386"/>
                      <a:pt x="1135385" y="-5572"/>
                      <a:pt x="1237191" y="11937"/>
                    </a:cubicBezTo>
                    <a:cubicBezTo>
                      <a:pt x="1360593" y="35284"/>
                      <a:pt x="1385273" y="152017"/>
                      <a:pt x="1385273" y="152017"/>
                    </a:cubicBezTo>
                    <a:cubicBezTo>
                      <a:pt x="1385273" y="152017"/>
                      <a:pt x="1477824" y="166609"/>
                      <a:pt x="1514845" y="274587"/>
                    </a:cubicBezTo>
                    <a:cubicBezTo>
                      <a:pt x="1548780" y="376728"/>
                      <a:pt x="1499419" y="411748"/>
                      <a:pt x="1499419" y="411748"/>
                    </a:cubicBezTo>
                    <a:cubicBezTo>
                      <a:pt x="1499419" y="411748"/>
                      <a:pt x="1598141" y="499298"/>
                      <a:pt x="1548780" y="621867"/>
                    </a:cubicBezTo>
                    <a:cubicBezTo>
                      <a:pt x="1499419" y="750274"/>
                      <a:pt x="1369848" y="776539"/>
                      <a:pt x="1369848" y="776539"/>
                    </a:cubicBezTo>
                    <a:cubicBezTo>
                      <a:pt x="1369848" y="776539"/>
                      <a:pt x="1366763" y="867007"/>
                      <a:pt x="1249531" y="948720"/>
                    </a:cubicBezTo>
                    <a:cubicBezTo>
                      <a:pt x="1135385" y="1030433"/>
                      <a:pt x="1049004" y="942883"/>
                      <a:pt x="1049004" y="942883"/>
                    </a:cubicBezTo>
                    <a:cubicBezTo>
                      <a:pt x="1049004" y="942883"/>
                      <a:pt x="968793" y="1103391"/>
                      <a:pt x="817626" y="1109228"/>
                    </a:cubicBezTo>
                    <a:cubicBezTo>
                      <a:pt x="654119" y="1115064"/>
                      <a:pt x="580078" y="1004168"/>
                      <a:pt x="580078" y="1004168"/>
                    </a:cubicBezTo>
                    <a:cubicBezTo>
                      <a:pt x="580078" y="1004168"/>
                      <a:pt x="502952" y="1071290"/>
                      <a:pt x="373381" y="1039188"/>
                    </a:cubicBezTo>
                    <a:cubicBezTo>
                      <a:pt x="256149" y="1010005"/>
                      <a:pt x="222214" y="916618"/>
                      <a:pt x="222214" y="916618"/>
                    </a:cubicBezTo>
                    <a:cubicBezTo>
                      <a:pt x="222214" y="916618"/>
                      <a:pt x="89557" y="910782"/>
                      <a:pt x="52537" y="814477"/>
                    </a:cubicBezTo>
                    <a:cubicBezTo>
                      <a:pt x="12431" y="718172"/>
                      <a:pt x="77217" y="665642"/>
                      <a:pt x="74132" y="659806"/>
                    </a:cubicBezTo>
                    <a:close/>
                  </a:path>
                </a:pathLst>
              </a:custGeom>
              <a:solidFill>
                <a:schemeClr val="bg1">
                  <a:lumMod val="95000"/>
                </a:schemeClr>
              </a:solidFill>
              <a:ln w="30732" cap="flat">
                <a:solidFill>
                  <a:srgbClr val="323232"/>
                </a:solidFill>
                <a:prstDash val="solid"/>
                <a:miter/>
              </a:ln>
            </p:spPr>
            <p:txBody>
              <a:bodyPr rtlCol="0" anchor="ctr"/>
              <a:lstStyle/>
              <a:p>
                <a:pPr algn="ctr"/>
                <a:r>
                  <a:rPr lang="zh-CN" altLang="en-US" b="1" dirty="0">
                    <a:latin typeface="+mn-ea"/>
                  </a:rPr>
                  <a:t>因特网</a:t>
                </a:r>
              </a:p>
            </p:txBody>
          </p:sp>
          <p:pic>
            <p:nvPicPr>
              <p:cNvPr id="58" name="图形 57">
                <a:extLst>
                  <a:ext uri="{FF2B5EF4-FFF2-40B4-BE49-F238E27FC236}">
                    <a16:creationId xmlns:a16="http://schemas.microsoft.com/office/drawing/2014/main" id="{2639FAC3-3BDD-07BC-714A-B1E6542EA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500655" y="4686828"/>
                <a:ext cx="582252" cy="471348"/>
              </a:xfrm>
              <a:prstGeom prst="rect">
                <a:avLst/>
              </a:prstGeom>
            </p:spPr>
          </p:pic>
          <p:pic>
            <p:nvPicPr>
              <p:cNvPr id="59" name="图形 58">
                <a:extLst>
                  <a:ext uri="{FF2B5EF4-FFF2-40B4-BE49-F238E27FC236}">
                    <a16:creationId xmlns:a16="http://schemas.microsoft.com/office/drawing/2014/main" id="{D171F51F-8F99-7569-4547-72078683FD7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296367" y="5714756"/>
                <a:ext cx="529510" cy="694983"/>
              </a:xfrm>
              <a:prstGeom prst="rect">
                <a:avLst/>
              </a:prstGeom>
            </p:spPr>
          </p:pic>
        </p:grpSp>
        <p:sp>
          <p:nvSpPr>
            <p:cNvPr id="65" name="文本框 64">
              <a:extLst>
                <a:ext uri="{FF2B5EF4-FFF2-40B4-BE49-F238E27FC236}">
                  <a16:creationId xmlns:a16="http://schemas.microsoft.com/office/drawing/2014/main" id="{0CDF62E0-A628-4246-F0AF-B8BF098C120F}"/>
                </a:ext>
              </a:extLst>
            </p:cNvPr>
            <p:cNvSpPr txBox="1"/>
            <p:nvPr/>
          </p:nvSpPr>
          <p:spPr>
            <a:xfrm>
              <a:off x="1887105" y="5988394"/>
              <a:ext cx="1346378" cy="369332"/>
            </a:xfrm>
            <a:prstGeom prst="rect">
              <a:avLst/>
            </a:prstGeom>
            <a:noFill/>
          </p:spPr>
          <p:txBody>
            <a:bodyPr wrap="square" rtlCol="0">
              <a:spAutoFit/>
            </a:bodyPr>
            <a:lstStyle/>
            <a:p>
              <a:pPr algn="ctr"/>
              <a:r>
                <a:rPr lang="zh-CN" altLang="en-US" b="1" dirty="0">
                  <a:latin typeface="+mn-ea"/>
                </a:rPr>
                <a:t>代理服务器</a:t>
              </a:r>
            </a:p>
          </p:txBody>
        </p:sp>
      </p:grpSp>
      <p:pic>
        <p:nvPicPr>
          <p:cNvPr id="10" name="图形 9" descr="文档 轮廓">
            <a:extLst>
              <a:ext uri="{FF2B5EF4-FFF2-40B4-BE49-F238E27FC236}">
                <a16:creationId xmlns:a16="http://schemas.microsoft.com/office/drawing/2014/main" id="{6D95ED17-27A8-B773-FE01-6878440AA29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60621" y="4534958"/>
            <a:ext cx="914400" cy="914400"/>
          </a:xfrm>
          <a:prstGeom prst="rect">
            <a:avLst/>
          </a:prstGeom>
        </p:spPr>
      </p:pic>
      <p:pic>
        <p:nvPicPr>
          <p:cNvPr id="13" name="图形 12" descr="文档 轮廓">
            <a:extLst>
              <a:ext uri="{FF2B5EF4-FFF2-40B4-BE49-F238E27FC236}">
                <a16:creationId xmlns:a16="http://schemas.microsoft.com/office/drawing/2014/main" id="{2661E61D-DC0F-FA62-1D5F-4A0E9263401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803625" y="5531194"/>
            <a:ext cx="914400" cy="914400"/>
          </a:xfrm>
          <a:prstGeom prst="rect">
            <a:avLst/>
          </a:prstGeom>
        </p:spPr>
      </p:pic>
      <p:sp>
        <p:nvSpPr>
          <p:cNvPr id="11" name="文本框 10">
            <a:extLst>
              <a:ext uri="{FF2B5EF4-FFF2-40B4-BE49-F238E27FC236}">
                <a16:creationId xmlns:a16="http://schemas.microsoft.com/office/drawing/2014/main" id="{095F2C40-6C19-4297-1F40-42633E3B0D21}"/>
              </a:ext>
            </a:extLst>
          </p:cNvPr>
          <p:cNvSpPr txBox="1"/>
          <p:nvPr/>
        </p:nvSpPr>
        <p:spPr>
          <a:xfrm>
            <a:off x="4652208" y="5771370"/>
            <a:ext cx="1566926" cy="646331"/>
          </a:xfrm>
          <a:prstGeom prst="rect">
            <a:avLst/>
          </a:prstGeom>
          <a:noFill/>
        </p:spPr>
        <p:txBody>
          <a:bodyPr wrap="square" rtlCol="0">
            <a:spAutoFit/>
          </a:bodyPr>
          <a:lstStyle/>
          <a:p>
            <a:r>
              <a:rPr lang="en-US" altLang="zh-CN" b="1" dirty="0">
                <a:solidFill>
                  <a:srgbClr val="FF0000"/>
                </a:solidFill>
                <a:latin typeface="Arial Narrow" panose="020B0606020202030204" pitchFamily="34" charset="0"/>
                <a:ea typeface="宋体" panose="02010600030101010101" pitchFamily="2" charset="-122"/>
              </a:rPr>
              <a:t>Last-Modified</a:t>
            </a:r>
          </a:p>
          <a:p>
            <a:r>
              <a:rPr lang="en-US" altLang="zh-CN" b="1" dirty="0">
                <a:solidFill>
                  <a:srgbClr val="FF0000"/>
                </a:solidFill>
                <a:latin typeface="Arial Narrow" panose="020B0606020202030204" pitchFamily="34" charset="0"/>
                <a:ea typeface="宋体" panose="02010600030101010101" pitchFamily="2" charset="-122"/>
              </a:rPr>
              <a:t>Expires</a:t>
            </a:r>
            <a:endParaRPr lang="zh-CN" altLang="en-US" b="1" dirty="0">
              <a:solidFill>
                <a:srgbClr val="FF0000"/>
              </a:solidFill>
              <a:latin typeface="Arial Narrow" panose="020B0606020202030204" pitchFamily="34" charset="0"/>
              <a:ea typeface="宋体" panose="02010600030101010101" pitchFamily="2" charset="-122"/>
            </a:endParaRPr>
          </a:p>
        </p:txBody>
      </p:sp>
      <p:cxnSp>
        <p:nvCxnSpPr>
          <p:cNvPr id="14" name="连接符: 曲线 13">
            <a:extLst>
              <a:ext uri="{FF2B5EF4-FFF2-40B4-BE49-F238E27FC236}">
                <a16:creationId xmlns:a16="http://schemas.microsoft.com/office/drawing/2014/main" id="{D34F07CA-3332-053C-B3B9-73F49EACCAC5}"/>
              </a:ext>
            </a:extLst>
          </p:cNvPr>
          <p:cNvCxnSpPr/>
          <p:nvPr/>
        </p:nvCxnSpPr>
        <p:spPr>
          <a:xfrm>
            <a:off x="3868144" y="3656307"/>
            <a:ext cx="6247366" cy="568782"/>
          </a:xfrm>
          <a:prstGeom prst="curvedConnector2">
            <a:avLst/>
          </a:prstGeom>
          <a:ln w="63500">
            <a:solidFill>
              <a:srgbClr val="F5811E"/>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76560985-09E1-2573-9536-D1947804EC51}"/>
              </a:ext>
            </a:extLst>
          </p:cNvPr>
          <p:cNvGrpSpPr/>
          <p:nvPr/>
        </p:nvGrpSpPr>
        <p:grpSpPr>
          <a:xfrm>
            <a:off x="1823516" y="3656306"/>
            <a:ext cx="1472850" cy="2405941"/>
            <a:chOff x="1823516" y="3656306"/>
            <a:chExt cx="1472850" cy="2405941"/>
          </a:xfrm>
        </p:grpSpPr>
        <p:cxnSp>
          <p:nvCxnSpPr>
            <p:cNvPr id="17" name="连接符: 曲线 16">
              <a:extLst>
                <a:ext uri="{FF2B5EF4-FFF2-40B4-BE49-F238E27FC236}">
                  <a16:creationId xmlns:a16="http://schemas.microsoft.com/office/drawing/2014/main" id="{D1B60D4A-4A1B-3D7F-D1A4-A85123C13261}"/>
                </a:ext>
              </a:extLst>
            </p:cNvPr>
            <p:cNvCxnSpPr>
              <a:cxnSpLocks/>
            </p:cNvCxnSpPr>
            <p:nvPr/>
          </p:nvCxnSpPr>
          <p:spPr>
            <a:xfrm rot="10800000" flipH="1" flipV="1">
              <a:off x="3223829" y="3656306"/>
              <a:ext cx="72537" cy="2405941"/>
            </a:xfrm>
            <a:prstGeom prst="curvedConnector3">
              <a:avLst>
                <a:gd name="adj1" fmla="val -315150"/>
              </a:avLst>
            </a:prstGeom>
            <a:ln w="63500">
              <a:solidFill>
                <a:srgbClr val="00B0F0"/>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88ABEDF-2B2E-ED64-5788-CB01596B5F3F}"/>
                </a:ext>
              </a:extLst>
            </p:cNvPr>
            <p:cNvSpPr txBox="1"/>
            <p:nvPr/>
          </p:nvSpPr>
          <p:spPr>
            <a:xfrm>
              <a:off x="1823516" y="4815993"/>
              <a:ext cx="445738" cy="369332"/>
            </a:xfrm>
            <a:prstGeom prst="rect">
              <a:avLst/>
            </a:prstGeom>
            <a:noFill/>
          </p:spPr>
          <p:txBody>
            <a:bodyPr wrap="square">
              <a:spAutoFit/>
            </a:bodyPr>
            <a:lstStyle/>
            <a:p>
              <a:pPr algn="ctr"/>
              <a:r>
                <a:rPr lang="zh-CN" altLang="en-US" b="1" dirty="0">
                  <a:solidFill>
                    <a:srgbClr val="03ACF1"/>
                  </a:solidFill>
                  <a:latin typeface="+mn-ea"/>
                </a:rPr>
                <a:t>❶</a:t>
              </a:r>
              <a:endParaRPr lang="zh-CN" altLang="en-US" dirty="0">
                <a:solidFill>
                  <a:srgbClr val="03ACF1"/>
                </a:solidFill>
                <a:latin typeface="+mn-ea"/>
              </a:endParaRPr>
            </a:p>
          </p:txBody>
        </p:sp>
        <p:sp>
          <p:nvSpPr>
            <p:cNvPr id="38" name="文本框 37">
              <a:extLst>
                <a:ext uri="{FF2B5EF4-FFF2-40B4-BE49-F238E27FC236}">
                  <a16:creationId xmlns:a16="http://schemas.microsoft.com/office/drawing/2014/main" id="{95DF1E37-B43A-E4EF-EADD-83F39006F00D}"/>
                </a:ext>
              </a:extLst>
            </p:cNvPr>
            <p:cNvSpPr txBox="1"/>
            <p:nvPr/>
          </p:nvSpPr>
          <p:spPr>
            <a:xfrm>
              <a:off x="2126179" y="4788844"/>
              <a:ext cx="674585"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grpSp>
      <p:grpSp>
        <p:nvGrpSpPr>
          <p:cNvPr id="12" name="组合 11">
            <a:extLst>
              <a:ext uri="{FF2B5EF4-FFF2-40B4-BE49-F238E27FC236}">
                <a16:creationId xmlns:a16="http://schemas.microsoft.com/office/drawing/2014/main" id="{34D7D9D3-6834-473D-5753-D0B067D57260}"/>
              </a:ext>
            </a:extLst>
          </p:cNvPr>
          <p:cNvGrpSpPr/>
          <p:nvPr/>
        </p:nvGrpSpPr>
        <p:grpSpPr>
          <a:xfrm>
            <a:off x="3719071" y="4994622"/>
            <a:ext cx="6200701" cy="791455"/>
            <a:chOff x="3719072" y="4994622"/>
            <a:chExt cx="5140310" cy="791455"/>
          </a:xfrm>
        </p:grpSpPr>
        <p:sp>
          <p:nvSpPr>
            <p:cNvPr id="19" name="文本框 18">
              <a:extLst>
                <a:ext uri="{FF2B5EF4-FFF2-40B4-BE49-F238E27FC236}">
                  <a16:creationId xmlns:a16="http://schemas.microsoft.com/office/drawing/2014/main" id="{CAAFE2CA-BE30-CFBC-B61E-9534E171A247}"/>
                </a:ext>
              </a:extLst>
            </p:cNvPr>
            <p:cNvSpPr txBox="1"/>
            <p:nvPr/>
          </p:nvSpPr>
          <p:spPr>
            <a:xfrm>
              <a:off x="4362982" y="5025406"/>
              <a:ext cx="529510" cy="369332"/>
            </a:xfrm>
            <a:prstGeom prst="rect">
              <a:avLst/>
            </a:prstGeom>
            <a:noFill/>
          </p:spPr>
          <p:txBody>
            <a:bodyPr wrap="square">
              <a:spAutoFit/>
            </a:bodyPr>
            <a:lstStyle/>
            <a:p>
              <a:pPr algn="ctr"/>
              <a:r>
                <a:rPr lang="zh-CN" altLang="en-US" b="1" dirty="0">
                  <a:solidFill>
                    <a:srgbClr val="03ACF1"/>
                  </a:solidFill>
                  <a:latin typeface="+mn-ea"/>
                </a:rPr>
                <a:t>❷</a:t>
              </a:r>
              <a:endParaRPr lang="zh-CN" altLang="en-US" dirty="0">
                <a:solidFill>
                  <a:srgbClr val="03ACF1"/>
                </a:solidFill>
                <a:latin typeface="+mn-ea"/>
              </a:endParaRPr>
            </a:p>
          </p:txBody>
        </p:sp>
        <p:sp>
          <p:nvSpPr>
            <p:cNvPr id="20" name="文本框 19">
              <a:extLst>
                <a:ext uri="{FF2B5EF4-FFF2-40B4-BE49-F238E27FC236}">
                  <a16:creationId xmlns:a16="http://schemas.microsoft.com/office/drawing/2014/main" id="{73DE51B5-5F03-B1CA-EA12-5AEB9059F82A}"/>
                </a:ext>
              </a:extLst>
            </p:cNvPr>
            <p:cNvSpPr txBox="1"/>
            <p:nvPr/>
          </p:nvSpPr>
          <p:spPr>
            <a:xfrm>
              <a:off x="4701472" y="5032819"/>
              <a:ext cx="559223" cy="369332"/>
            </a:xfrm>
            <a:prstGeom prst="rect">
              <a:avLst/>
            </a:prstGeom>
            <a:noFill/>
          </p:spPr>
          <p:txBody>
            <a:bodyPr wrap="square" rtlCol="0">
              <a:spAutoFit/>
            </a:bodyPr>
            <a:lstStyle/>
            <a:p>
              <a:pPr algn="ctr"/>
              <a:r>
                <a:rPr lang="zh-CN" altLang="en-US" b="1" dirty="0">
                  <a:solidFill>
                    <a:srgbClr val="03ACF1"/>
                  </a:solidFill>
                  <a:latin typeface="+mn-ea"/>
                </a:rPr>
                <a:t>请求</a:t>
              </a:r>
            </a:p>
          </p:txBody>
        </p:sp>
        <p:cxnSp>
          <p:nvCxnSpPr>
            <p:cNvPr id="21" name="直接连接符 20">
              <a:extLst>
                <a:ext uri="{FF2B5EF4-FFF2-40B4-BE49-F238E27FC236}">
                  <a16:creationId xmlns:a16="http://schemas.microsoft.com/office/drawing/2014/main" id="{9335628E-516A-8AD1-D714-DD711C8F8696}"/>
                </a:ext>
              </a:extLst>
            </p:cNvPr>
            <p:cNvCxnSpPr/>
            <p:nvPr/>
          </p:nvCxnSpPr>
          <p:spPr>
            <a:xfrm flipV="1">
              <a:off x="3719072" y="4994622"/>
              <a:ext cx="722299" cy="791455"/>
            </a:xfrm>
            <a:prstGeom prst="line">
              <a:avLst/>
            </a:prstGeom>
            <a:ln w="50800">
              <a:solidFill>
                <a:srgbClr val="03ACF1"/>
              </a:solidFill>
              <a:prstDash val="dash"/>
              <a:tailEnd type="none" w="med" len="lg"/>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0C8FA8C6-4317-EC22-90B1-1083F6A27C93}"/>
                </a:ext>
              </a:extLst>
            </p:cNvPr>
            <p:cNvCxnSpPr/>
            <p:nvPr/>
          </p:nvCxnSpPr>
          <p:spPr>
            <a:xfrm>
              <a:off x="4446307" y="5011253"/>
              <a:ext cx="4413075" cy="43132"/>
            </a:xfrm>
            <a:prstGeom prst="straightConnector1">
              <a:avLst/>
            </a:prstGeom>
            <a:ln w="50800">
              <a:solidFill>
                <a:srgbClr val="03ACF1"/>
              </a:solidFill>
              <a:prstDash val="dash"/>
              <a:tailEnd type="triangle" w="med" len="lg"/>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0866B4EE-CFE7-4736-4569-BEAC24A053EC}"/>
              </a:ext>
            </a:extLst>
          </p:cNvPr>
          <p:cNvSpPr txBox="1"/>
          <p:nvPr/>
        </p:nvSpPr>
        <p:spPr>
          <a:xfrm>
            <a:off x="5475855" y="5127037"/>
            <a:ext cx="1731769"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If-modified-since</a:t>
            </a:r>
            <a:endParaRPr lang="zh-CN" altLang="en-US" b="1" dirty="0">
              <a:latin typeface="Arial Narrow" panose="020B060602020203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C3EC561D-24DD-D15A-8987-4C17F4D1137A}"/>
              </a:ext>
            </a:extLst>
          </p:cNvPr>
          <p:cNvSpPr txBox="1"/>
          <p:nvPr/>
        </p:nvSpPr>
        <p:spPr>
          <a:xfrm>
            <a:off x="7103916" y="5141738"/>
            <a:ext cx="1441627" cy="369332"/>
          </a:xfrm>
          <a:prstGeom prst="rect">
            <a:avLst/>
          </a:prstGeom>
          <a:noFill/>
        </p:spPr>
        <p:txBody>
          <a:bodyPr wrap="square" rtlCol="0">
            <a:spAutoFit/>
          </a:bodyPr>
          <a:lstStyle/>
          <a:p>
            <a:r>
              <a:rPr lang="en-US" altLang="zh-CN" b="1" dirty="0">
                <a:latin typeface="Arial Narrow" panose="020B0606020202030204" pitchFamily="34" charset="0"/>
                <a:ea typeface="宋体" panose="02010600030101010101" pitchFamily="2" charset="-122"/>
              </a:rPr>
              <a:t>Last-Modified</a:t>
            </a:r>
            <a:endParaRPr lang="zh-CN" altLang="en-US" b="1" dirty="0">
              <a:latin typeface="Arial Narrow" panose="020B0606020202030204" pitchFamily="34" charset="0"/>
              <a:ea typeface="宋体" panose="02010600030101010101" pitchFamily="2" charset="-122"/>
            </a:endParaRPr>
          </a:p>
        </p:txBody>
      </p:sp>
      <p:sp>
        <p:nvSpPr>
          <p:cNvPr id="33" name="任意多边形: 形状 32">
            <a:extLst>
              <a:ext uri="{FF2B5EF4-FFF2-40B4-BE49-F238E27FC236}">
                <a16:creationId xmlns:a16="http://schemas.microsoft.com/office/drawing/2014/main" id="{D5ACB500-87E3-1726-1956-42DE6A349B3B}"/>
              </a:ext>
            </a:extLst>
          </p:cNvPr>
          <p:cNvSpPr/>
          <p:nvPr/>
        </p:nvSpPr>
        <p:spPr>
          <a:xfrm>
            <a:off x="6031966" y="5486400"/>
            <a:ext cx="1728908" cy="461042"/>
          </a:xfrm>
          <a:custGeom>
            <a:avLst/>
            <a:gdLst>
              <a:gd name="connsiteX0" fmla="*/ 0 w 1728908"/>
              <a:gd name="connsiteY0" fmla="*/ 461042 h 461042"/>
              <a:gd name="connsiteX1" fmla="*/ 1206394 w 1728908"/>
              <a:gd name="connsiteY1" fmla="*/ 307361 h 461042"/>
              <a:gd name="connsiteX2" fmla="*/ 1728908 w 1728908"/>
              <a:gd name="connsiteY2" fmla="*/ 0 h 461042"/>
            </a:gdLst>
            <a:ahLst/>
            <a:cxnLst>
              <a:cxn ang="0">
                <a:pos x="connsiteX0" y="connsiteY0"/>
              </a:cxn>
              <a:cxn ang="0">
                <a:pos x="connsiteX1" y="connsiteY1"/>
              </a:cxn>
              <a:cxn ang="0">
                <a:pos x="connsiteX2" y="connsiteY2"/>
              </a:cxn>
            </a:cxnLst>
            <a:rect l="l" t="t" r="r" b="b"/>
            <a:pathLst>
              <a:path w="1728908" h="461042">
                <a:moveTo>
                  <a:pt x="0" y="461042"/>
                </a:moveTo>
                <a:cubicBezTo>
                  <a:pt x="459121" y="422621"/>
                  <a:pt x="918243" y="384201"/>
                  <a:pt x="1206394" y="307361"/>
                </a:cubicBezTo>
                <a:cubicBezTo>
                  <a:pt x="1494545" y="230521"/>
                  <a:pt x="1611726" y="115260"/>
                  <a:pt x="1728908" y="0"/>
                </a:cubicBezTo>
              </a:path>
            </a:pathLst>
          </a:custGeom>
          <a:noFill/>
          <a:ln w="38100">
            <a:solidFill>
              <a:schemeClr val="tx1"/>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F7FD5FB2-576A-8805-7ED2-D016B6E30828}"/>
              </a:ext>
            </a:extLst>
          </p:cNvPr>
          <p:cNvSpPr txBox="1"/>
          <p:nvPr/>
        </p:nvSpPr>
        <p:spPr>
          <a:xfrm rot="20384713">
            <a:off x="10550203" y="4598648"/>
            <a:ext cx="880681" cy="369332"/>
          </a:xfrm>
          <a:prstGeom prst="rect">
            <a:avLst/>
          </a:prstGeom>
          <a:noFill/>
        </p:spPr>
        <p:txBody>
          <a:bodyPr wrap="square" rtlCol="0">
            <a:spAutoFit/>
          </a:bodyPr>
          <a:lstStyle/>
          <a:p>
            <a:pPr algn="ctr"/>
            <a:r>
              <a:rPr lang="zh-CN" altLang="en-US" b="1" dirty="0">
                <a:solidFill>
                  <a:srgbClr val="FF0000"/>
                </a:solidFill>
                <a:latin typeface="+mn-ea"/>
              </a:rPr>
              <a:t>已更改</a:t>
            </a:r>
          </a:p>
        </p:txBody>
      </p:sp>
      <p:grpSp>
        <p:nvGrpSpPr>
          <p:cNvPr id="35" name="组合 34">
            <a:extLst>
              <a:ext uri="{FF2B5EF4-FFF2-40B4-BE49-F238E27FC236}">
                <a16:creationId xmlns:a16="http://schemas.microsoft.com/office/drawing/2014/main" id="{FD9020EB-1563-B8A5-9B3C-D30AF410CE03}"/>
              </a:ext>
            </a:extLst>
          </p:cNvPr>
          <p:cNvGrpSpPr/>
          <p:nvPr/>
        </p:nvGrpSpPr>
        <p:grpSpPr>
          <a:xfrm>
            <a:off x="3874168" y="5309937"/>
            <a:ext cx="5951621" cy="1057919"/>
            <a:chOff x="3874168" y="5309937"/>
            <a:chExt cx="5951621" cy="1057919"/>
          </a:xfrm>
        </p:grpSpPr>
        <p:sp>
          <p:nvSpPr>
            <p:cNvPr id="36" name="任意多边形: 形状 35">
              <a:extLst>
                <a:ext uri="{FF2B5EF4-FFF2-40B4-BE49-F238E27FC236}">
                  <a16:creationId xmlns:a16="http://schemas.microsoft.com/office/drawing/2014/main" id="{49F946DB-C89A-E995-49F7-EBE50E4963F9}"/>
                </a:ext>
              </a:extLst>
            </p:cNvPr>
            <p:cNvSpPr/>
            <p:nvPr/>
          </p:nvSpPr>
          <p:spPr>
            <a:xfrm>
              <a:off x="3874168" y="5309937"/>
              <a:ext cx="5951621" cy="920908"/>
            </a:xfrm>
            <a:custGeom>
              <a:avLst/>
              <a:gdLst>
                <a:gd name="connsiteX0" fmla="*/ 5951621 w 5951621"/>
                <a:gd name="connsiteY0" fmla="*/ 0 h 920908"/>
                <a:gd name="connsiteX1" fmla="*/ 3424990 w 5951621"/>
                <a:gd name="connsiteY1" fmla="*/ 786063 h 920908"/>
                <a:gd name="connsiteX2" fmla="*/ 0 w 5951621"/>
                <a:gd name="connsiteY2" fmla="*/ 914400 h 920908"/>
              </a:gdLst>
              <a:ahLst/>
              <a:cxnLst>
                <a:cxn ang="0">
                  <a:pos x="connsiteX0" y="connsiteY0"/>
                </a:cxn>
                <a:cxn ang="0">
                  <a:pos x="connsiteX1" y="connsiteY1"/>
                </a:cxn>
                <a:cxn ang="0">
                  <a:pos x="connsiteX2" y="connsiteY2"/>
                </a:cxn>
              </a:cxnLst>
              <a:rect l="l" t="t" r="r" b="b"/>
              <a:pathLst>
                <a:path w="5951621" h="920908">
                  <a:moveTo>
                    <a:pt x="5951621" y="0"/>
                  </a:moveTo>
                  <a:cubicBezTo>
                    <a:pt x="5184274" y="316831"/>
                    <a:pt x="4416927" y="633663"/>
                    <a:pt x="3424990" y="786063"/>
                  </a:cubicBezTo>
                  <a:cubicBezTo>
                    <a:pt x="2433053" y="938463"/>
                    <a:pt x="1216526" y="926431"/>
                    <a:pt x="0" y="914400"/>
                  </a:cubicBezTo>
                </a:path>
              </a:pathLst>
            </a:custGeom>
            <a:noFill/>
            <a:ln w="50800">
              <a:solidFill>
                <a:schemeClr val="accent4"/>
              </a:solidFill>
              <a:prstDash val="dash"/>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65AD007-A3FC-203B-BF45-8F7DA1939804}"/>
                </a:ext>
              </a:extLst>
            </p:cNvPr>
            <p:cNvSpPr txBox="1"/>
            <p:nvPr/>
          </p:nvSpPr>
          <p:spPr>
            <a:xfrm>
              <a:off x="7869087" y="5998524"/>
              <a:ext cx="779500"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sp>
          <p:nvSpPr>
            <p:cNvPr id="41" name="文本框 40">
              <a:extLst>
                <a:ext uri="{FF2B5EF4-FFF2-40B4-BE49-F238E27FC236}">
                  <a16:creationId xmlns:a16="http://schemas.microsoft.com/office/drawing/2014/main" id="{671A598A-D3CC-C376-210F-C73FE7D3B846}"/>
                </a:ext>
              </a:extLst>
            </p:cNvPr>
            <p:cNvSpPr txBox="1"/>
            <p:nvPr/>
          </p:nvSpPr>
          <p:spPr>
            <a:xfrm>
              <a:off x="7375950" y="5998524"/>
              <a:ext cx="712080" cy="369332"/>
            </a:xfrm>
            <a:prstGeom prst="rect">
              <a:avLst/>
            </a:prstGeom>
            <a:noFill/>
          </p:spPr>
          <p:txBody>
            <a:bodyPr wrap="square">
              <a:spAutoFit/>
            </a:bodyPr>
            <a:lstStyle/>
            <a:p>
              <a:pPr algn="ctr"/>
              <a:r>
                <a:rPr lang="zh-CN" altLang="en-US" b="1" dirty="0">
                  <a:solidFill>
                    <a:schemeClr val="accent4"/>
                  </a:solidFill>
                  <a:latin typeface="+mn-ea"/>
                </a:rPr>
                <a:t>❸</a:t>
              </a:r>
              <a:endParaRPr lang="zh-CN" altLang="en-US" dirty="0">
                <a:solidFill>
                  <a:schemeClr val="accent4"/>
                </a:solidFill>
                <a:latin typeface="+mn-ea"/>
              </a:endParaRPr>
            </a:p>
          </p:txBody>
        </p:sp>
      </p:grpSp>
      <p:sp>
        <p:nvSpPr>
          <p:cNvPr id="42" name="文本框 41">
            <a:extLst>
              <a:ext uri="{FF2B5EF4-FFF2-40B4-BE49-F238E27FC236}">
                <a16:creationId xmlns:a16="http://schemas.microsoft.com/office/drawing/2014/main" id="{37497987-8AB0-2B73-65AE-69C120CD6BF0}"/>
              </a:ext>
            </a:extLst>
          </p:cNvPr>
          <p:cNvSpPr txBox="1"/>
          <p:nvPr/>
        </p:nvSpPr>
        <p:spPr>
          <a:xfrm>
            <a:off x="8493580" y="6014991"/>
            <a:ext cx="2295119" cy="369332"/>
          </a:xfrm>
          <a:prstGeom prst="rect">
            <a:avLst/>
          </a:prstGeom>
          <a:noFill/>
        </p:spPr>
        <p:txBody>
          <a:bodyPr wrap="square" rtlCol="0">
            <a:spAutoFit/>
          </a:bodyPr>
          <a:lstStyle/>
          <a:p>
            <a:r>
              <a:rPr lang="zh-CN" altLang="en-US" b="1" dirty="0">
                <a:latin typeface="+mn-ea"/>
              </a:rPr>
              <a:t>实体为已更改的对象</a:t>
            </a:r>
          </a:p>
        </p:txBody>
      </p:sp>
      <p:grpSp>
        <p:nvGrpSpPr>
          <p:cNvPr id="44" name="组合 43">
            <a:extLst>
              <a:ext uri="{FF2B5EF4-FFF2-40B4-BE49-F238E27FC236}">
                <a16:creationId xmlns:a16="http://schemas.microsoft.com/office/drawing/2014/main" id="{B4F28BF4-FCFF-1DF0-3AAF-E7B348D72216}"/>
              </a:ext>
            </a:extLst>
          </p:cNvPr>
          <p:cNvGrpSpPr/>
          <p:nvPr/>
        </p:nvGrpSpPr>
        <p:grpSpPr>
          <a:xfrm>
            <a:off x="3752950" y="3692287"/>
            <a:ext cx="1054871" cy="1973581"/>
            <a:chOff x="3752950" y="3692287"/>
            <a:chExt cx="1054871" cy="1973581"/>
          </a:xfrm>
        </p:grpSpPr>
        <p:cxnSp>
          <p:nvCxnSpPr>
            <p:cNvPr id="45" name="连接符: 曲线 44">
              <a:extLst>
                <a:ext uri="{FF2B5EF4-FFF2-40B4-BE49-F238E27FC236}">
                  <a16:creationId xmlns:a16="http://schemas.microsoft.com/office/drawing/2014/main" id="{3EDE0FCE-429D-D457-F073-7C34C28974DC}"/>
                </a:ext>
              </a:extLst>
            </p:cNvPr>
            <p:cNvCxnSpPr>
              <a:cxnSpLocks/>
            </p:cNvCxnSpPr>
            <p:nvPr/>
          </p:nvCxnSpPr>
          <p:spPr>
            <a:xfrm rot="5400000" flipH="1" flipV="1">
              <a:off x="2786235" y="4659003"/>
              <a:ext cx="1973581" cy="40150"/>
            </a:xfrm>
            <a:prstGeom prst="curvedConnector3">
              <a:avLst>
                <a:gd name="adj1" fmla="val 49186"/>
              </a:avLst>
            </a:prstGeom>
            <a:ln w="63500">
              <a:solidFill>
                <a:srgbClr val="52BCC1"/>
              </a:solidFill>
              <a:prstDash val="dash"/>
              <a:tailEnd type="triangle" w="med"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8768FE38-0DF4-7A07-3188-D37B4DE751A0}"/>
                </a:ext>
              </a:extLst>
            </p:cNvPr>
            <p:cNvSpPr txBox="1"/>
            <p:nvPr/>
          </p:nvSpPr>
          <p:spPr>
            <a:xfrm>
              <a:off x="3752950" y="3918223"/>
              <a:ext cx="543701" cy="369332"/>
            </a:xfrm>
            <a:prstGeom prst="rect">
              <a:avLst/>
            </a:prstGeom>
            <a:noFill/>
          </p:spPr>
          <p:txBody>
            <a:bodyPr wrap="square">
              <a:spAutoFit/>
            </a:bodyPr>
            <a:lstStyle/>
            <a:p>
              <a:pPr algn="ctr"/>
              <a:r>
                <a:rPr lang="zh-CN" altLang="en-US" b="1" dirty="0">
                  <a:solidFill>
                    <a:schemeClr val="accent4"/>
                  </a:solidFill>
                  <a:latin typeface="+mn-ea"/>
                </a:rPr>
                <a:t>❹</a:t>
              </a:r>
              <a:endParaRPr lang="zh-CN" altLang="en-US" dirty="0">
                <a:solidFill>
                  <a:schemeClr val="accent4"/>
                </a:solidFill>
                <a:latin typeface="+mn-ea"/>
              </a:endParaRPr>
            </a:p>
          </p:txBody>
        </p:sp>
        <p:sp>
          <p:nvSpPr>
            <p:cNvPr id="47" name="文本框 46">
              <a:extLst>
                <a:ext uri="{FF2B5EF4-FFF2-40B4-BE49-F238E27FC236}">
                  <a16:creationId xmlns:a16="http://schemas.microsoft.com/office/drawing/2014/main" id="{012300F9-2A59-2D4D-F744-7C9CA8547534}"/>
                </a:ext>
              </a:extLst>
            </p:cNvPr>
            <p:cNvSpPr txBox="1"/>
            <p:nvPr/>
          </p:nvSpPr>
          <p:spPr>
            <a:xfrm>
              <a:off x="4133236" y="3918223"/>
              <a:ext cx="674585"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spTree>
    <p:custDataLst>
      <p:tags r:id="rId1"/>
    </p:custDataLst>
    <p:extLst>
      <p:ext uri="{BB962C8B-B14F-4D97-AF65-F5344CB8AC3E}">
        <p14:creationId xmlns:p14="http://schemas.microsoft.com/office/powerpoint/2010/main" val="30520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grpId="0" nodeType="withEffect">
                                  <p:stCondLst>
                                    <p:cond delay="0"/>
                                  </p:stCondLst>
                                  <p:childTnLst>
                                    <p:animRot by="21600000">
                                      <p:cBhvr>
                                        <p:cTn id="6" dur="500" fill="hold"/>
                                        <p:tgtEl>
                                          <p:spTgt spid="11"/>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down)">
                                      <p:cBhvr>
                                        <p:cTn id="1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cxnSp>
        <p:nvCxnSpPr>
          <p:cNvPr id="52" name="直接连接符 51">
            <a:extLst>
              <a:ext uri="{FF2B5EF4-FFF2-40B4-BE49-F238E27FC236}">
                <a16:creationId xmlns:a16="http://schemas.microsoft.com/office/drawing/2014/main" id="{E57E11FF-690A-4E43-C3A3-BCF48AAF369C}"/>
              </a:ext>
            </a:extLst>
          </p:cNvPr>
          <p:cNvCxnSpPr/>
          <p:nvPr/>
        </p:nvCxnSpPr>
        <p:spPr>
          <a:xfrm>
            <a:off x="6096000" y="949355"/>
            <a:ext cx="0" cy="528239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íşlïḍè">
            <a:extLst>
              <a:ext uri="{FF2B5EF4-FFF2-40B4-BE49-F238E27FC236}">
                <a16:creationId xmlns:a16="http://schemas.microsoft.com/office/drawing/2014/main" id="{98C3ED50-22C7-61B4-3FBB-DDA103F08F11}"/>
              </a:ext>
            </a:extLst>
          </p:cNvPr>
          <p:cNvSpPr txBox="1"/>
          <p:nvPr/>
        </p:nvSpPr>
        <p:spPr>
          <a:xfrm>
            <a:off x="6225213" y="2051651"/>
            <a:ext cx="5031895" cy="691549"/>
          </a:xfrm>
          <a:prstGeom prst="rect">
            <a:avLst/>
          </a:prstGeom>
          <a:noFill/>
        </p:spPr>
        <p:txBody>
          <a:bodyPr wrap="square" lIns="91440" tIns="45720" rIns="91440" bIns="45720" anchor="ctr">
            <a:noAutofit/>
          </a:bodyPr>
          <a:lstStyle/>
          <a:p>
            <a:r>
              <a:rPr lang="zh-CN" altLang="en-US" b="1" dirty="0">
                <a:latin typeface="+mn-ea"/>
              </a:rPr>
              <a:t>请求行：指明方法</a:t>
            </a:r>
            <a:r>
              <a:rPr lang="en-US" altLang="zh-CN" b="1" dirty="0">
                <a:latin typeface="+mn-ea"/>
              </a:rPr>
              <a:t>GET</a:t>
            </a:r>
            <a:r>
              <a:rPr lang="zh-CN" altLang="en-US" b="1" dirty="0">
                <a:latin typeface="+mn-ea"/>
              </a:rPr>
              <a:t>，</a:t>
            </a:r>
            <a:r>
              <a:rPr lang="en-US" altLang="zh-CN" b="1" dirty="0">
                <a:latin typeface="+mn-ea"/>
              </a:rPr>
              <a:t>URL</a:t>
            </a:r>
            <a:r>
              <a:rPr lang="zh-CN" altLang="en-US" b="1" dirty="0">
                <a:latin typeface="+mn-ea"/>
              </a:rPr>
              <a:t>，</a:t>
            </a:r>
            <a:r>
              <a:rPr lang="en-US" altLang="zh-CN" b="1" dirty="0">
                <a:latin typeface="+mn-ea"/>
              </a:rPr>
              <a:t>HTTP</a:t>
            </a:r>
            <a:r>
              <a:rPr lang="zh-CN" altLang="en-US" b="1" dirty="0">
                <a:latin typeface="+mn-ea"/>
              </a:rPr>
              <a:t>版本</a:t>
            </a:r>
            <a:endParaRPr lang="en-US" altLang="zh-CN" b="1" dirty="0">
              <a:latin typeface="+mn-ea"/>
            </a:endParaRPr>
          </a:p>
          <a:p>
            <a:r>
              <a:rPr lang="zh-CN" altLang="en-US" b="1" dirty="0">
                <a:latin typeface="+mn-ea"/>
              </a:rPr>
              <a:t>首部行的开始：指明服务器的域名</a:t>
            </a:r>
            <a:endParaRPr lang="en-US" altLang="zh-CN" b="1" dirty="0">
              <a:latin typeface="+mn-ea"/>
            </a:endParaRPr>
          </a:p>
        </p:txBody>
      </p:sp>
      <p:grpSp>
        <p:nvGrpSpPr>
          <p:cNvPr id="10" name="组合 9">
            <a:extLst>
              <a:ext uri="{FF2B5EF4-FFF2-40B4-BE49-F238E27FC236}">
                <a16:creationId xmlns:a16="http://schemas.microsoft.com/office/drawing/2014/main" id="{1F1068A6-4AF8-9DAA-6A93-E385419D60E7}"/>
              </a:ext>
            </a:extLst>
          </p:cNvPr>
          <p:cNvGrpSpPr/>
          <p:nvPr/>
        </p:nvGrpSpPr>
        <p:grpSpPr>
          <a:xfrm>
            <a:off x="4034118" y="2835408"/>
            <a:ext cx="7668664" cy="1191026"/>
            <a:chOff x="4034118" y="2835408"/>
            <a:chExt cx="7668664" cy="1191026"/>
          </a:xfrm>
        </p:grpSpPr>
        <p:sp>
          <p:nvSpPr>
            <p:cNvPr id="5" name="íşlïḍè">
              <a:extLst>
                <a:ext uri="{FF2B5EF4-FFF2-40B4-BE49-F238E27FC236}">
                  <a16:creationId xmlns:a16="http://schemas.microsoft.com/office/drawing/2014/main" id="{B3090326-993E-4801-0281-CDEB31626B0A}"/>
                </a:ext>
              </a:extLst>
            </p:cNvPr>
            <p:cNvSpPr txBox="1"/>
            <p:nvPr/>
          </p:nvSpPr>
          <p:spPr>
            <a:xfrm>
              <a:off x="6225213" y="2899004"/>
              <a:ext cx="5477569" cy="1127430"/>
            </a:xfrm>
            <a:prstGeom prst="rect">
              <a:avLst/>
            </a:prstGeom>
            <a:noFill/>
          </p:spPr>
          <p:txBody>
            <a:bodyPr wrap="square" lIns="91440" tIns="45720" rIns="91440" bIns="45720" anchor="ctr">
              <a:noAutofit/>
            </a:bodyPr>
            <a:lstStyle/>
            <a:p>
              <a:r>
                <a:rPr lang="zh-CN" altLang="en-US" b="1" dirty="0">
                  <a:solidFill>
                    <a:schemeClr val="accent1"/>
                  </a:solidFill>
                  <a:latin typeface="+mn-ea"/>
                </a:rPr>
                <a:t>告诉服务器发送完请求的文档后就可释放连接，即非持续连接；</a:t>
              </a:r>
              <a:endParaRPr lang="en-US" altLang="zh-CN" b="1" dirty="0">
                <a:solidFill>
                  <a:schemeClr val="accent1"/>
                </a:solidFill>
                <a:latin typeface="+mn-ea"/>
              </a:endParaRPr>
            </a:p>
            <a:p>
              <a:r>
                <a:rPr lang="zh-CN" altLang="en-US" b="1" dirty="0">
                  <a:solidFill>
                    <a:schemeClr val="accent1"/>
                  </a:solidFill>
                  <a:latin typeface="+mn-ea"/>
                </a:rPr>
                <a:t>若是持续连接方式，取值应为</a:t>
              </a:r>
              <a:r>
                <a:rPr lang="en-US" altLang="zh-CN" b="1" dirty="0">
                  <a:solidFill>
                    <a:schemeClr val="accent1"/>
                  </a:solidFill>
                  <a:latin typeface="+mn-ea"/>
                </a:rPr>
                <a:t>keep-alive</a:t>
              </a:r>
              <a:r>
                <a:rPr lang="zh-CN" altLang="en-US" b="1" dirty="0">
                  <a:solidFill>
                    <a:schemeClr val="accent1"/>
                  </a:solidFill>
                  <a:latin typeface="+mn-ea"/>
                </a:rPr>
                <a:t>，而不是</a:t>
              </a:r>
              <a:r>
                <a:rPr lang="en-US" altLang="zh-CN" b="1" dirty="0">
                  <a:solidFill>
                    <a:schemeClr val="accent1"/>
                  </a:solidFill>
                  <a:latin typeface="+mn-ea"/>
                </a:rPr>
                <a:t>Close</a:t>
              </a:r>
            </a:p>
          </p:txBody>
        </p:sp>
        <p:cxnSp>
          <p:nvCxnSpPr>
            <p:cNvPr id="9" name="直接箭头连接符 8">
              <a:extLst>
                <a:ext uri="{FF2B5EF4-FFF2-40B4-BE49-F238E27FC236}">
                  <a16:creationId xmlns:a16="http://schemas.microsoft.com/office/drawing/2014/main" id="{8E5A9405-F503-B648-D10E-E2AB285A4868}"/>
                </a:ext>
              </a:extLst>
            </p:cNvPr>
            <p:cNvCxnSpPr/>
            <p:nvPr/>
          </p:nvCxnSpPr>
          <p:spPr>
            <a:xfrm flipH="1" flipV="1">
              <a:off x="4034118" y="2835408"/>
              <a:ext cx="2191095" cy="230521"/>
            </a:xfrm>
            <a:prstGeom prst="straightConnector1">
              <a:avLst/>
            </a:prstGeom>
            <a:ln w="50800">
              <a:solidFill>
                <a:schemeClr val="accent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010F6657-EB94-8145-114B-1574D1013800}"/>
              </a:ext>
            </a:extLst>
          </p:cNvPr>
          <p:cNvGrpSpPr/>
          <p:nvPr/>
        </p:nvGrpSpPr>
        <p:grpSpPr>
          <a:xfrm>
            <a:off x="3866454" y="3129525"/>
            <a:ext cx="7836328" cy="1622402"/>
            <a:chOff x="3866454" y="3129525"/>
            <a:chExt cx="7836328" cy="1622402"/>
          </a:xfrm>
        </p:grpSpPr>
        <p:sp>
          <p:nvSpPr>
            <p:cNvPr id="11" name="íşlïḍè">
              <a:extLst>
                <a:ext uri="{FF2B5EF4-FFF2-40B4-BE49-F238E27FC236}">
                  <a16:creationId xmlns:a16="http://schemas.microsoft.com/office/drawing/2014/main" id="{1C1D48F3-C776-FE27-1801-BF6B34B691BA}"/>
                </a:ext>
              </a:extLst>
            </p:cNvPr>
            <p:cNvSpPr txBox="1"/>
            <p:nvPr/>
          </p:nvSpPr>
          <p:spPr>
            <a:xfrm>
              <a:off x="6225213" y="4069371"/>
              <a:ext cx="5477569" cy="682556"/>
            </a:xfrm>
            <a:prstGeom prst="rect">
              <a:avLst/>
            </a:prstGeom>
            <a:noFill/>
          </p:spPr>
          <p:txBody>
            <a:bodyPr wrap="square" lIns="91440" tIns="45720" rIns="91440" bIns="45720" anchor="ctr">
              <a:noAutofit/>
            </a:bodyPr>
            <a:lstStyle/>
            <a:p>
              <a:r>
                <a:rPr lang="zh-CN" altLang="en-US" b="1" dirty="0">
                  <a:latin typeface="+mn-ea"/>
                </a:rPr>
                <a:t>这是服务器为浏览器生成的</a:t>
              </a:r>
              <a:r>
                <a:rPr lang="en-US" altLang="zh-CN" b="1" dirty="0">
                  <a:latin typeface="+mn-ea"/>
                </a:rPr>
                <a:t>Cookie</a:t>
              </a:r>
              <a:r>
                <a:rPr lang="zh-CN" altLang="en-US" b="1" dirty="0">
                  <a:latin typeface="+mn-ea"/>
                </a:rPr>
                <a:t>识别码，表明该浏览器曾经访问过</a:t>
              </a:r>
              <a:r>
                <a:rPr lang="en-US" altLang="zh-CN" b="1" dirty="0">
                  <a:latin typeface="+mn-ea"/>
                </a:rPr>
                <a:t>www.test.edu.cn</a:t>
              </a:r>
            </a:p>
          </p:txBody>
        </p:sp>
        <p:cxnSp>
          <p:nvCxnSpPr>
            <p:cNvPr id="12" name="直接箭头连接符 11">
              <a:extLst>
                <a:ext uri="{FF2B5EF4-FFF2-40B4-BE49-F238E27FC236}">
                  <a16:creationId xmlns:a16="http://schemas.microsoft.com/office/drawing/2014/main" id="{407B1B03-1C78-4A5D-90BB-51AD8E374113}"/>
                </a:ext>
              </a:extLst>
            </p:cNvPr>
            <p:cNvCxnSpPr>
              <a:cxnSpLocks/>
            </p:cNvCxnSpPr>
            <p:nvPr/>
          </p:nvCxnSpPr>
          <p:spPr>
            <a:xfrm flipH="1" flipV="1">
              <a:off x="3866454" y="3129525"/>
              <a:ext cx="2358759" cy="1106771"/>
            </a:xfrm>
            <a:prstGeom prst="straightConnector1">
              <a:avLst/>
            </a:prstGeom>
            <a:ln w="508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36229417-3130-D2B1-4FE9-9704BB0EE156}"/>
              </a:ext>
            </a:extLst>
          </p:cNvPr>
          <p:cNvGrpSpPr/>
          <p:nvPr/>
        </p:nvGrpSpPr>
        <p:grpSpPr>
          <a:xfrm>
            <a:off x="670066" y="1280868"/>
            <a:ext cx="5296722" cy="4687647"/>
            <a:chOff x="670066" y="1280868"/>
            <a:chExt cx="5296722" cy="4687647"/>
          </a:xfrm>
        </p:grpSpPr>
        <p:sp>
          <p:nvSpPr>
            <p:cNvPr id="13" name="íşlïḍè">
              <a:extLst>
                <a:ext uri="{FF2B5EF4-FFF2-40B4-BE49-F238E27FC236}">
                  <a16:creationId xmlns:a16="http://schemas.microsoft.com/office/drawing/2014/main" id="{03803C7E-8E5D-9D74-81E7-86831BFCD968}"/>
                </a:ext>
              </a:extLst>
            </p:cNvPr>
            <p:cNvSpPr txBox="1"/>
            <p:nvPr/>
          </p:nvSpPr>
          <p:spPr>
            <a:xfrm>
              <a:off x="670066" y="1280868"/>
              <a:ext cx="5296722" cy="427540"/>
            </a:xfrm>
            <a:prstGeom prst="rect">
              <a:avLst/>
            </a:prstGeom>
            <a:noFill/>
          </p:spPr>
          <p:txBody>
            <a:bodyPr wrap="square" lIns="91440" tIns="45720" rIns="91440" bIns="45720" anchor="ctr">
              <a:noAutofit/>
            </a:bodyPr>
            <a:lstStyle/>
            <a:p>
              <a:r>
                <a:rPr lang="en-US" altLang="zh-CN" b="1" dirty="0"/>
                <a:t>【2015</a:t>
              </a:r>
              <a:r>
                <a:rPr lang="zh-CN" altLang="en-US" b="1" dirty="0"/>
                <a:t>年 题</a:t>
              </a:r>
              <a:r>
                <a:rPr lang="en-US" altLang="zh-CN" b="1" dirty="0"/>
                <a:t>40】</a:t>
              </a:r>
              <a:r>
                <a:rPr lang="zh-CN" altLang="en-US" b="1" dirty="0"/>
                <a:t>某浏览器发出的</a:t>
              </a:r>
              <a:r>
                <a:rPr lang="en-US" altLang="zh-CN" b="1" dirty="0"/>
                <a:t>HTTP</a:t>
              </a:r>
              <a:r>
                <a:rPr lang="zh-CN" altLang="en-US" b="1" dirty="0"/>
                <a:t>请求报文如下</a:t>
              </a:r>
              <a:endParaRPr lang="en-US" altLang="zh-CN" b="1" dirty="0"/>
            </a:p>
          </p:txBody>
        </p:sp>
        <p:sp>
          <p:nvSpPr>
            <p:cNvPr id="14" name="íşlïḍè">
              <a:extLst>
                <a:ext uri="{FF2B5EF4-FFF2-40B4-BE49-F238E27FC236}">
                  <a16:creationId xmlns:a16="http://schemas.microsoft.com/office/drawing/2014/main" id="{339537F7-EC50-C0CC-4FE2-BD5AE566E395}"/>
                </a:ext>
              </a:extLst>
            </p:cNvPr>
            <p:cNvSpPr txBox="1"/>
            <p:nvPr/>
          </p:nvSpPr>
          <p:spPr>
            <a:xfrm>
              <a:off x="799278" y="3911173"/>
              <a:ext cx="4525757" cy="2057342"/>
            </a:xfrm>
            <a:prstGeom prst="rect">
              <a:avLst/>
            </a:prstGeom>
            <a:noFill/>
          </p:spPr>
          <p:txBody>
            <a:bodyPr wrap="square" lIns="91440" tIns="45720" rIns="91440" bIns="45720" anchor="ctr">
              <a:noAutofit/>
            </a:bodyPr>
            <a:lstStyle/>
            <a:p>
              <a:pPr>
                <a:lnSpc>
                  <a:spcPct val="150000"/>
                </a:lnSpc>
              </a:pPr>
              <a:r>
                <a:rPr lang="zh-CN" altLang="en-US" b="1" dirty="0"/>
                <a:t>下列叙述中，错误的是（      ）。</a:t>
              </a:r>
            </a:p>
            <a:p>
              <a:pPr>
                <a:lnSpc>
                  <a:spcPct val="150000"/>
                </a:lnSpc>
              </a:pPr>
              <a:r>
                <a:rPr lang="en-US" altLang="zh-CN" b="1" dirty="0"/>
                <a:t>A. </a:t>
              </a:r>
              <a:r>
                <a:rPr lang="zh-CN" altLang="en-US" b="1" dirty="0"/>
                <a:t>该浏览器请求浏览</a:t>
              </a:r>
              <a:r>
                <a:rPr lang="en-US" altLang="zh-CN" b="1" dirty="0"/>
                <a:t>index.html</a:t>
              </a:r>
            </a:p>
            <a:p>
              <a:pPr>
                <a:lnSpc>
                  <a:spcPct val="150000"/>
                </a:lnSpc>
              </a:pPr>
              <a:r>
                <a:rPr lang="en-US" altLang="zh-CN" b="1" dirty="0"/>
                <a:t>B. index.html</a:t>
              </a:r>
              <a:r>
                <a:rPr lang="zh-CN" altLang="en-US" b="1" dirty="0"/>
                <a:t>存放在</a:t>
              </a:r>
              <a:r>
                <a:rPr lang="en-US" altLang="zh-CN" b="1" dirty="0"/>
                <a:t>www.test.edu.cn</a:t>
              </a:r>
              <a:r>
                <a:rPr lang="zh-CN" altLang="en-US" b="1" dirty="0"/>
                <a:t>上</a:t>
              </a:r>
            </a:p>
            <a:p>
              <a:pPr>
                <a:lnSpc>
                  <a:spcPct val="150000"/>
                </a:lnSpc>
              </a:pPr>
              <a:r>
                <a:rPr lang="en-US" altLang="zh-CN" b="1" dirty="0"/>
                <a:t>C. </a:t>
              </a:r>
              <a:r>
                <a:rPr lang="zh-CN" altLang="en-US" b="1" dirty="0"/>
                <a:t>该浏览器请求使用持续连接</a:t>
              </a:r>
            </a:p>
            <a:p>
              <a:pPr>
                <a:lnSpc>
                  <a:spcPct val="150000"/>
                </a:lnSpc>
              </a:pPr>
              <a:r>
                <a:rPr lang="en-US" altLang="zh-CN" b="1" dirty="0"/>
                <a:t>D. </a:t>
              </a:r>
              <a:r>
                <a:rPr lang="zh-CN" altLang="en-US" b="1" dirty="0"/>
                <a:t>该浏览器曾经浏览过</a:t>
              </a:r>
              <a:r>
                <a:rPr lang="en-US" altLang="zh-CN" b="1" dirty="0"/>
                <a:t>www.test.edu.cn</a:t>
              </a:r>
            </a:p>
          </p:txBody>
        </p:sp>
        <p:sp>
          <p:nvSpPr>
            <p:cNvPr id="17" name="íşlïḍè">
              <a:extLst>
                <a:ext uri="{FF2B5EF4-FFF2-40B4-BE49-F238E27FC236}">
                  <a16:creationId xmlns:a16="http://schemas.microsoft.com/office/drawing/2014/main" id="{94859BF2-2E35-C0BB-2864-14A4D94BB3DC}"/>
                </a:ext>
              </a:extLst>
            </p:cNvPr>
            <p:cNvSpPr txBox="1"/>
            <p:nvPr/>
          </p:nvSpPr>
          <p:spPr>
            <a:xfrm>
              <a:off x="2208158" y="1967128"/>
              <a:ext cx="2763411" cy="1385047"/>
            </a:xfrm>
            <a:prstGeom prst="rect">
              <a:avLst/>
            </a:prstGeom>
            <a:noFill/>
          </p:spPr>
          <p:txBody>
            <a:bodyPr wrap="square" lIns="91440" tIns="45720" rIns="91440" bIns="45720" anchor="ctr">
              <a:noAutofit/>
            </a:bodyPr>
            <a:lstStyle/>
            <a:p>
              <a:r>
                <a:rPr lang="en-US" altLang="zh-CN" b="1" dirty="0"/>
                <a:t>GET /index.html HTTP/1.1</a:t>
              </a:r>
            </a:p>
            <a:p>
              <a:r>
                <a:rPr lang="en-US" altLang="zh-CN" b="1" dirty="0"/>
                <a:t>Host: www.test.edu.cn</a:t>
              </a:r>
            </a:p>
            <a:p>
              <a:r>
                <a:rPr lang="en-US" altLang="zh-CN" b="1" dirty="0"/>
                <a:t>Connection: Close</a:t>
              </a:r>
            </a:p>
            <a:p>
              <a:r>
                <a:rPr lang="en-US" altLang="zh-CN" b="1" dirty="0"/>
                <a:t>Cookie: 123456</a:t>
              </a:r>
            </a:p>
          </p:txBody>
        </p:sp>
      </p:grpSp>
      <p:sp>
        <p:nvSpPr>
          <p:cNvPr id="18" name="文本框 17">
            <a:extLst>
              <a:ext uri="{FF2B5EF4-FFF2-40B4-BE49-F238E27FC236}">
                <a16:creationId xmlns:a16="http://schemas.microsoft.com/office/drawing/2014/main" id="{44BFE8B6-3B21-BDA5-70DC-3AE74D3B4EBC}"/>
              </a:ext>
            </a:extLst>
          </p:cNvPr>
          <p:cNvSpPr txBox="1"/>
          <p:nvPr/>
        </p:nvSpPr>
        <p:spPr>
          <a:xfrm>
            <a:off x="3106571" y="3911173"/>
            <a:ext cx="883664" cy="523220"/>
          </a:xfrm>
          <a:prstGeom prst="rect">
            <a:avLst/>
          </a:prstGeom>
          <a:noFill/>
        </p:spPr>
        <p:txBody>
          <a:bodyPr wrap="square" rtlCol="0">
            <a:spAutoFit/>
          </a:bodyPr>
          <a:lstStyle/>
          <a:p>
            <a:pPr algn="ctr"/>
            <a:r>
              <a:rPr lang="en-US" altLang="zh-CN" sz="2800" b="1" dirty="0">
                <a:solidFill>
                  <a:srgbClr val="FF0000"/>
                </a:solidFill>
                <a:latin typeface="Arial Black" panose="020B0A04020102020204" pitchFamily="34" charset="0"/>
              </a:rPr>
              <a:t>C</a:t>
            </a:r>
            <a:endParaRPr lang="zh-CN" altLang="en-US" sz="2800" b="1" dirty="0">
              <a:solidFill>
                <a:srgbClr val="FF0000"/>
              </a:solidFill>
              <a:latin typeface="Arial Black" panose="020B0A04020102020204" pitchFamily="34" charset="0"/>
            </a:endParaRPr>
          </a:p>
        </p:txBody>
      </p:sp>
      <p:sp>
        <p:nvSpPr>
          <p:cNvPr id="19" name="文本框 18">
            <a:extLst>
              <a:ext uri="{FF2B5EF4-FFF2-40B4-BE49-F238E27FC236}">
                <a16:creationId xmlns:a16="http://schemas.microsoft.com/office/drawing/2014/main" id="{C4DB23CD-86BA-5484-EF0F-5622A30F604E}"/>
              </a:ext>
            </a:extLst>
          </p:cNvPr>
          <p:cNvSpPr txBox="1"/>
          <p:nvPr/>
        </p:nvSpPr>
        <p:spPr>
          <a:xfrm>
            <a:off x="6135755" y="1280868"/>
            <a:ext cx="731211" cy="369332"/>
          </a:xfrm>
          <a:prstGeom prst="rect">
            <a:avLst/>
          </a:prstGeom>
          <a:noFill/>
        </p:spPr>
        <p:txBody>
          <a:bodyPr wrap="square">
            <a:spAutoFit/>
          </a:bodyPr>
          <a:lstStyle/>
          <a:p>
            <a:r>
              <a:rPr lang="zh-CN" altLang="en-US" b="1" dirty="0"/>
              <a:t>解析</a:t>
            </a:r>
            <a:endParaRPr lang="zh-CN" altLang="en-US" dirty="0"/>
          </a:p>
        </p:txBody>
      </p:sp>
    </p:spTree>
    <p:custDataLst>
      <p:tags r:id="rId1"/>
    </p:custDataLst>
    <p:extLst>
      <p:ext uri="{BB962C8B-B14F-4D97-AF65-F5344CB8AC3E}">
        <p14:creationId xmlns:p14="http://schemas.microsoft.com/office/powerpoint/2010/main" val="317289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p:tgtEl>
                                          <p:spTgt spid="15"/>
                                        </p:tgtEl>
                                        <p:attrNameLst>
                                          <p:attrName>ppt_x</p:attrName>
                                        </p:attrNameLst>
                                      </p:cBhvr>
                                      <p:tavLst>
                                        <p:tav tm="0">
                                          <p:val>
                                            <p:strVal val="#ppt_x+#ppt_w*1.125000"/>
                                          </p:val>
                                        </p:tav>
                                        <p:tav tm="100000">
                                          <p:val>
                                            <p:strVal val="#ppt_x"/>
                                          </p:val>
                                        </p:tav>
                                      </p:tavLst>
                                    </p:anim>
                                    <p:animEffect transition="in" filter="wipe(left)">
                                      <p:cBhvr>
                                        <p:cTn id="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A1EA9F2-FCB6-48C3-935F-7AE7E3AD14AC}"/>
              </a:ext>
            </a:extLst>
          </p:cNvPr>
          <p:cNvGrpSpPr/>
          <p:nvPr/>
        </p:nvGrpSpPr>
        <p:grpSpPr>
          <a:xfrm>
            <a:off x="304799" y="749300"/>
            <a:ext cx="6392777" cy="400110"/>
            <a:chOff x="424117" y="898245"/>
            <a:chExt cx="6223578" cy="400110"/>
          </a:xfrm>
        </p:grpSpPr>
        <p:sp>
          <p:nvSpPr>
            <p:cNvPr id="2" name="平行四边形 1">
              <a:extLst>
                <a:ext uri="{FF2B5EF4-FFF2-40B4-BE49-F238E27FC236}">
                  <a16:creationId xmlns:a16="http://schemas.microsoft.com/office/drawing/2014/main" id="{1F5BAA3F-9845-4F89-A2DD-8222D3E4EDAC}"/>
                </a:ext>
              </a:extLst>
            </p:cNvPr>
            <p:cNvSpPr/>
            <p:nvPr/>
          </p:nvSpPr>
          <p:spPr>
            <a:xfrm>
              <a:off x="424117" y="898245"/>
              <a:ext cx="711200" cy="387090"/>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dirty="0">
                  <a:latin typeface="Impact" panose="020B0806030902050204" pitchFamily="34" charset="0"/>
                </a:rPr>
                <a:t>01</a:t>
              </a:r>
              <a:endParaRPr lang="zh-CN" altLang="en-US" sz="2200" dirty="0">
                <a:latin typeface="Impact" panose="020B0806030902050204" pitchFamily="34" charset="0"/>
              </a:endParaRPr>
            </a:p>
          </p:txBody>
        </p:sp>
        <p:sp>
          <p:nvSpPr>
            <p:cNvPr id="3" name="文本框 2">
              <a:extLst>
                <a:ext uri="{FF2B5EF4-FFF2-40B4-BE49-F238E27FC236}">
                  <a16:creationId xmlns:a16="http://schemas.microsoft.com/office/drawing/2014/main" id="{4D6BD736-A4D3-4F26-AFED-36E11F50F70B}"/>
                </a:ext>
              </a:extLst>
            </p:cNvPr>
            <p:cNvSpPr txBox="1"/>
            <p:nvPr/>
          </p:nvSpPr>
          <p:spPr>
            <a:xfrm>
              <a:off x="1135316" y="898245"/>
              <a:ext cx="5512379" cy="400110"/>
            </a:xfrm>
            <a:prstGeom prst="rect">
              <a:avLst/>
            </a:prstGeom>
            <a:noFill/>
          </p:spPr>
          <p:txBody>
            <a:bodyPr wrap="square" rtlCol="0">
              <a:spAutoFit/>
            </a:bodyPr>
            <a:lstStyle/>
            <a:p>
              <a:r>
                <a:rPr lang="zh-CN" altLang="en-US" sz="2000" b="1" dirty="0"/>
                <a:t>万维网</a:t>
              </a:r>
            </a:p>
          </p:txBody>
        </p:sp>
      </p:grpSp>
      <p:grpSp>
        <p:nvGrpSpPr>
          <p:cNvPr id="6" name="组合 5">
            <a:extLst>
              <a:ext uri="{FF2B5EF4-FFF2-40B4-BE49-F238E27FC236}">
                <a16:creationId xmlns:a16="http://schemas.microsoft.com/office/drawing/2014/main" id="{B6BB34EE-D6A2-65AA-C5DC-183A89A8985E}"/>
              </a:ext>
            </a:extLst>
          </p:cNvPr>
          <p:cNvGrpSpPr/>
          <p:nvPr/>
        </p:nvGrpSpPr>
        <p:grpSpPr>
          <a:xfrm>
            <a:off x="2592982" y="2609892"/>
            <a:ext cx="6959937" cy="1418394"/>
            <a:chOff x="3945366" y="4109208"/>
            <a:chExt cx="6959937" cy="1418394"/>
          </a:xfrm>
        </p:grpSpPr>
        <p:sp>
          <p:nvSpPr>
            <p:cNvPr id="7" name="矩形 6">
              <a:extLst>
                <a:ext uri="{FF2B5EF4-FFF2-40B4-BE49-F238E27FC236}">
                  <a16:creationId xmlns:a16="http://schemas.microsoft.com/office/drawing/2014/main" id="{A4BED906-86D0-0F6F-132F-F6CD50A177CE}"/>
                </a:ext>
              </a:extLst>
            </p:cNvPr>
            <p:cNvSpPr/>
            <p:nvPr/>
          </p:nvSpPr>
          <p:spPr>
            <a:xfrm>
              <a:off x="3945366" y="4109208"/>
              <a:ext cx="6959937" cy="141839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 name="文本框 7">
              <a:extLst>
                <a:ext uri="{FF2B5EF4-FFF2-40B4-BE49-F238E27FC236}">
                  <a16:creationId xmlns:a16="http://schemas.microsoft.com/office/drawing/2014/main" id="{D666DB29-FBF1-FB8C-0E6D-12F29E83EAF5}"/>
                </a:ext>
              </a:extLst>
            </p:cNvPr>
            <p:cNvSpPr txBox="1"/>
            <p:nvPr/>
          </p:nvSpPr>
          <p:spPr>
            <a:xfrm>
              <a:off x="9021670" y="4489618"/>
              <a:ext cx="1820838" cy="646331"/>
            </a:xfrm>
            <a:prstGeom prst="rect">
              <a:avLst/>
            </a:prstGeom>
            <a:noFill/>
          </p:spPr>
          <p:txBody>
            <a:bodyPr wrap="square" rtlCol="0">
              <a:spAutoFit/>
            </a:bodyPr>
            <a:lstStyle/>
            <a:p>
              <a:pPr algn="ctr"/>
              <a:r>
                <a:rPr lang="en-US" altLang="zh-CN" b="1" dirty="0">
                  <a:latin typeface="+mn-ea"/>
                </a:rPr>
                <a:t>TCP</a:t>
              </a:r>
            </a:p>
            <a:p>
              <a:pPr algn="ctr"/>
              <a:r>
                <a:rPr lang="zh-CN" altLang="en-US" b="1" dirty="0">
                  <a:latin typeface="+mn-ea"/>
                </a:rPr>
                <a:t>“三报文握手”</a:t>
              </a:r>
            </a:p>
          </p:txBody>
        </p:sp>
      </p:grpSp>
      <p:grpSp>
        <p:nvGrpSpPr>
          <p:cNvPr id="49" name="组合 48">
            <a:extLst>
              <a:ext uri="{FF2B5EF4-FFF2-40B4-BE49-F238E27FC236}">
                <a16:creationId xmlns:a16="http://schemas.microsoft.com/office/drawing/2014/main" id="{FB2A850A-CC32-64A2-F60F-30E1EA2E8483}"/>
              </a:ext>
            </a:extLst>
          </p:cNvPr>
          <p:cNvGrpSpPr/>
          <p:nvPr/>
        </p:nvGrpSpPr>
        <p:grpSpPr>
          <a:xfrm>
            <a:off x="1939866" y="2086732"/>
            <a:ext cx="6528718" cy="377163"/>
            <a:chOff x="3407510" y="3109640"/>
            <a:chExt cx="6528718" cy="377163"/>
          </a:xfrm>
        </p:grpSpPr>
        <p:sp>
          <p:nvSpPr>
            <p:cNvPr id="14" name="文本框 13">
              <a:extLst>
                <a:ext uri="{FF2B5EF4-FFF2-40B4-BE49-F238E27FC236}">
                  <a16:creationId xmlns:a16="http://schemas.microsoft.com/office/drawing/2014/main" id="{5FD049ED-2C79-88E8-A636-AABAD614C33D}"/>
                </a:ext>
              </a:extLst>
            </p:cNvPr>
            <p:cNvSpPr txBox="1"/>
            <p:nvPr/>
          </p:nvSpPr>
          <p:spPr>
            <a:xfrm>
              <a:off x="3407510" y="3117471"/>
              <a:ext cx="1374701" cy="369332"/>
            </a:xfrm>
            <a:prstGeom prst="rect">
              <a:avLst/>
            </a:prstGeom>
            <a:noFill/>
          </p:spPr>
          <p:txBody>
            <a:bodyPr wrap="square" rtlCol="0">
              <a:spAutoFit/>
            </a:bodyPr>
            <a:lstStyle/>
            <a:p>
              <a:pPr algn="ctr"/>
              <a:r>
                <a:rPr lang="zh-CN" altLang="en-US" b="1" dirty="0">
                  <a:latin typeface="+mn-ea"/>
                </a:rPr>
                <a:t>浏览器</a:t>
              </a:r>
            </a:p>
          </p:txBody>
        </p:sp>
        <p:sp>
          <p:nvSpPr>
            <p:cNvPr id="15" name="文本框 14">
              <a:extLst>
                <a:ext uri="{FF2B5EF4-FFF2-40B4-BE49-F238E27FC236}">
                  <a16:creationId xmlns:a16="http://schemas.microsoft.com/office/drawing/2014/main" id="{58E7CE71-7F00-0224-2564-238B73BE0104}"/>
                </a:ext>
              </a:extLst>
            </p:cNvPr>
            <p:cNvSpPr txBox="1"/>
            <p:nvPr/>
          </p:nvSpPr>
          <p:spPr>
            <a:xfrm>
              <a:off x="8340823" y="3109640"/>
              <a:ext cx="1595405" cy="369332"/>
            </a:xfrm>
            <a:prstGeom prst="rect">
              <a:avLst/>
            </a:prstGeom>
            <a:noFill/>
          </p:spPr>
          <p:txBody>
            <a:bodyPr wrap="square" rtlCol="0">
              <a:spAutoFit/>
            </a:bodyPr>
            <a:lstStyle/>
            <a:p>
              <a:pPr algn="ctr"/>
              <a:r>
                <a:rPr lang="zh-CN" altLang="en-US" b="1" dirty="0">
                  <a:latin typeface="+mn-ea"/>
                </a:rPr>
                <a:t>服务器</a:t>
              </a:r>
            </a:p>
          </p:txBody>
        </p:sp>
      </p:grpSp>
      <p:grpSp>
        <p:nvGrpSpPr>
          <p:cNvPr id="21" name="组合 20">
            <a:extLst>
              <a:ext uri="{FF2B5EF4-FFF2-40B4-BE49-F238E27FC236}">
                <a16:creationId xmlns:a16="http://schemas.microsoft.com/office/drawing/2014/main" id="{145A9BDF-CEBA-5E37-A95C-4E1CBE4DF456}"/>
              </a:ext>
            </a:extLst>
          </p:cNvPr>
          <p:cNvGrpSpPr/>
          <p:nvPr/>
        </p:nvGrpSpPr>
        <p:grpSpPr>
          <a:xfrm>
            <a:off x="2580197" y="2469001"/>
            <a:ext cx="5091137" cy="4032001"/>
            <a:chOff x="3932581" y="3968317"/>
            <a:chExt cx="5091137" cy="4032001"/>
          </a:xfrm>
        </p:grpSpPr>
        <p:cxnSp>
          <p:nvCxnSpPr>
            <p:cNvPr id="22" name="直接箭头连接符 21">
              <a:extLst>
                <a:ext uri="{FF2B5EF4-FFF2-40B4-BE49-F238E27FC236}">
                  <a16:creationId xmlns:a16="http://schemas.microsoft.com/office/drawing/2014/main" id="{1EEEFB4E-82AE-5C3F-C00A-ADBC6FD9B214}"/>
                </a:ext>
              </a:extLst>
            </p:cNvPr>
            <p:cNvCxnSpPr>
              <a:cxnSpLocks/>
            </p:cNvCxnSpPr>
            <p:nvPr/>
          </p:nvCxnSpPr>
          <p:spPr>
            <a:xfrm flipH="1">
              <a:off x="9009122" y="3968317"/>
              <a:ext cx="14596" cy="4032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F4026AE-845D-1A89-87D1-98E085B8597D}"/>
                </a:ext>
              </a:extLst>
            </p:cNvPr>
            <p:cNvCxnSpPr>
              <a:cxnSpLocks/>
            </p:cNvCxnSpPr>
            <p:nvPr/>
          </p:nvCxnSpPr>
          <p:spPr>
            <a:xfrm flipH="1">
              <a:off x="3932581" y="3968318"/>
              <a:ext cx="4105" cy="4032000"/>
            </a:xfrm>
            <a:prstGeom prst="straightConnector1">
              <a:avLst/>
            </a:prstGeom>
            <a:ln w="25400">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86D6A5CF-D7BE-B684-123D-3F13A1C1EA9B}"/>
              </a:ext>
            </a:extLst>
          </p:cNvPr>
          <p:cNvSpPr txBox="1"/>
          <p:nvPr/>
        </p:nvSpPr>
        <p:spPr>
          <a:xfrm rot="316527">
            <a:off x="4697440" y="3492329"/>
            <a:ext cx="1804499" cy="369332"/>
          </a:xfrm>
          <a:prstGeom prst="rect">
            <a:avLst/>
          </a:prstGeom>
          <a:noFill/>
        </p:spPr>
        <p:txBody>
          <a:bodyPr wrap="square" rtlCol="0">
            <a:spAutoFit/>
          </a:bodyPr>
          <a:lstStyle/>
          <a:p>
            <a:pPr algn="ctr"/>
            <a:r>
              <a:rPr lang="zh-CN" altLang="en-US" b="1" dirty="0">
                <a:solidFill>
                  <a:schemeClr val="accent3"/>
                </a:solidFill>
                <a:latin typeface="+mn-ea"/>
              </a:rPr>
              <a:t>请求</a:t>
            </a:r>
            <a:r>
              <a:rPr lang="en-US" altLang="zh-CN" b="1" dirty="0">
                <a:solidFill>
                  <a:schemeClr val="accent3"/>
                </a:solidFill>
                <a:latin typeface="+mn-ea"/>
              </a:rPr>
              <a:t>rfc.html</a:t>
            </a:r>
            <a:endParaRPr lang="zh-CN" altLang="en-US" b="1" dirty="0">
              <a:solidFill>
                <a:schemeClr val="accent3"/>
              </a:solidFill>
              <a:latin typeface="+mn-ea"/>
            </a:endParaRPr>
          </a:p>
        </p:txBody>
      </p:sp>
      <p:grpSp>
        <p:nvGrpSpPr>
          <p:cNvPr id="30" name="组合 29">
            <a:extLst>
              <a:ext uri="{FF2B5EF4-FFF2-40B4-BE49-F238E27FC236}">
                <a16:creationId xmlns:a16="http://schemas.microsoft.com/office/drawing/2014/main" id="{24669A43-968F-503E-2209-60DFA7114E5D}"/>
              </a:ext>
            </a:extLst>
          </p:cNvPr>
          <p:cNvGrpSpPr/>
          <p:nvPr/>
        </p:nvGrpSpPr>
        <p:grpSpPr>
          <a:xfrm>
            <a:off x="2578002" y="2615543"/>
            <a:ext cx="5114948" cy="1412743"/>
            <a:chOff x="3930386" y="4114859"/>
            <a:chExt cx="5114948" cy="1412743"/>
          </a:xfrm>
        </p:grpSpPr>
        <p:cxnSp>
          <p:nvCxnSpPr>
            <p:cNvPr id="31" name="直接箭头连接符 30">
              <a:extLst>
                <a:ext uri="{FF2B5EF4-FFF2-40B4-BE49-F238E27FC236}">
                  <a16:creationId xmlns:a16="http://schemas.microsoft.com/office/drawing/2014/main" id="{1177AC26-BAC8-3CF1-DBE6-6B6BA36C5C6D}"/>
                </a:ext>
              </a:extLst>
            </p:cNvPr>
            <p:cNvCxnSpPr>
              <a:cxnSpLocks/>
            </p:cNvCxnSpPr>
            <p:nvPr/>
          </p:nvCxnSpPr>
          <p:spPr>
            <a:xfrm>
              <a:off x="3936686" y="411485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8C86CD3-609F-1FB5-F5BF-57E6FFD51CE3}"/>
                </a:ext>
              </a:extLst>
            </p:cNvPr>
            <p:cNvCxnSpPr>
              <a:cxnSpLocks/>
            </p:cNvCxnSpPr>
            <p:nvPr/>
          </p:nvCxnSpPr>
          <p:spPr>
            <a:xfrm flipH="1">
              <a:off x="3930386" y="4590733"/>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B7B33803-304C-072E-91B6-4CAF746D3A3D}"/>
                </a:ext>
              </a:extLst>
            </p:cNvPr>
            <p:cNvCxnSpPr>
              <a:cxnSpLocks/>
            </p:cNvCxnSpPr>
            <p:nvPr/>
          </p:nvCxnSpPr>
          <p:spPr>
            <a:xfrm>
              <a:off x="3962730" y="5072129"/>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42AD0435-4E1B-1768-80EF-D056DC0A27C6}"/>
              </a:ext>
            </a:extLst>
          </p:cNvPr>
          <p:cNvGrpSpPr/>
          <p:nvPr/>
        </p:nvGrpSpPr>
        <p:grpSpPr>
          <a:xfrm>
            <a:off x="2581432" y="3977609"/>
            <a:ext cx="5082604" cy="516350"/>
            <a:chOff x="4049076" y="5000517"/>
            <a:chExt cx="5082604" cy="516350"/>
          </a:xfrm>
        </p:grpSpPr>
        <p:cxnSp>
          <p:nvCxnSpPr>
            <p:cNvPr id="50" name="直接箭头连接符 49">
              <a:extLst>
                <a:ext uri="{FF2B5EF4-FFF2-40B4-BE49-F238E27FC236}">
                  <a16:creationId xmlns:a16="http://schemas.microsoft.com/office/drawing/2014/main" id="{0483D76B-C9AB-D317-244D-E8E3BB95508F}"/>
                </a:ext>
              </a:extLst>
            </p:cNvPr>
            <p:cNvCxnSpPr>
              <a:cxnSpLocks/>
            </p:cNvCxnSpPr>
            <p:nvPr/>
          </p:nvCxnSpPr>
          <p:spPr>
            <a:xfrm flipH="1">
              <a:off x="4049076" y="506139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9F0491CC-56B5-70C3-9A59-99661E0B3C41}"/>
                </a:ext>
              </a:extLst>
            </p:cNvPr>
            <p:cNvSpPr txBox="1"/>
            <p:nvPr/>
          </p:nvSpPr>
          <p:spPr>
            <a:xfrm rot="21253736">
              <a:off x="5064609" y="5000517"/>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57" name="组合 56">
            <a:extLst>
              <a:ext uri="{FF2B5EF4-FFF2-40B4-BE49-F238E27FC236}">
                <a16:creationId xmlns:a16="http://schemas.microsoft.com/office/drawing/2014/main" id="{C57AF971-EB0E-C0C0-5C76-749D100AE6A3}"/>
              </a:ext>
            </a:extLst>
          </p:cNvPr>
          <p:cNvGrpSpPr/>
          <p:nvPr/>
        </p:nvGrpSpPr>
        <p:grpSpPr>
          <a:xfrm>
            <a:off x="2581432" y="5890449"/>
            <a:ext cx="5082604" cy="516350"/>
            <a:chOff x="4049076" y="5000517"/>
            <a:chExt cx="5082604" cy="516350"/>
          </a:xfrm>
        </p:grpSpPr>
        <p:cxnSp>
          <p:nvCxnSpPr>
            <p:cNvPr id="58" name="直接箭头连接符 57">
              <a:extLst>
                <a:ext uri="{FF2B5EF4-FFF2-40B4-BE49-F238E27FC236}">
                  <a16:creationId xmlns:a16="http://schemas.microsoft.com/office/drawing/2014/main" id="{EDCCB6D7-9244-B544-BA91-CB2C7A286BD6}"/>
                </a:ext>
              </a:extLst>
            </p:cNvPr>
            <p:cNvCxnSpPr>
              <a:cxnSpLocks/>
            </p:cNvCxnSpPr>
            <p:nvPr/>
          </p:nvCxnSpPr>
          <p:spPr>
            <a:xfrm flipH="1">
              <a:off x="4049076" y="506139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BBCEC96C-63BC-0B95-4010-2FB56E59D3C2}"/>
                </a:ext>
              </a:extLst>
            </p:cNvPr>
            <p:cNvSpPr txBox="1"/>
            <p:nvPr/>
          </p:nvSpPr>
          <p:spPr>
            <a:xfrm rot="21253736">
              <a:off x="5064609" y="5000517"/>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64" name="组合 63">
            <a:extLst>
              <a:ext uri="{FF2B5EF4-FFF2-40B4-BE49-F238E27FC236}">
                <a16:creationId xmlns:a16="http://schemas.microsoft.com/office/drawing/2014/main" id="{116C2CDA-E627-2AC6-B098-C92F555C78F2}"/>
              </a:ext>
            </a:extLst>
          </p:cNvPr>
          <p:cNvGrpSpPr/>
          <p:nvPr/>
        </p:nvGrpSpPr>
        <p:grpSpPr>
          <a:xfrm>
            <a:off x="2599554" y="4418591"/>
            <a:ext cx="5082604" cy="549496"/>
            <a:chOff x="4067198" y="4418591"/>
            <a:chExt cx="5082604" cy="549496"/>
          </a:xfrm>
        </p:grpSpPr>
        <p:cxnSp>
          <p:nvCxnSpPr>
            <p:cNvPr id="54" name="直接箭头连接符 53">
              <a:extLst>
                <a:ext uri="{FF2B5EF4-FFF2-40B4-BE49-F238E27FC236}">
                  <a16:creationId xmlns:a16="http://schemas.microsoft.com/office/drawing/2014/main" id="{D564EE0C-65FB-6E42-CE5B-3538487487E8}"/>
                </a:ext>
              </a:extLst>
            </p:cNvPr>
            <p:cNvCxnSpPr>
              <a:cxnSpLocks/>
            </p:cNvCxnSpPr>
            <p:nvPr/>
          </p:nvCxnSpPr>
          <p:spPr>
            <a:xfrm>
              <a:off x="4067198" y="451261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1D8E945A-43E6-04C0-5F1A-5558D4BB2742}"/>
                </a:ext>
              </a:extLst>
            </p:cNvPr>
            <p:cNvSpPr txBox="1"/>
            <p:nvPr/>
          </p:nvSpPr>
          <p:spPr>
            <a:xfrm rot="316527">
              <a:off x="6051198" y="4418591"/>
              <a:ext cx="1939674" cy="369332"/>
            </a:xfrm>
            <a:prstGeom prst="rect">
              <a:avLst/>
            </a:prstGeom>
            <a:noFill/>
          </p:spPr>
          <p:txBody>
            <a:bodyPr wrap="square" rtlCol="0">
              <a:spAutoFit/>
            </a:bodyPr>
            <a:lstStyle/>
            <a:p>
              <a:pPr algn="ctr"/>
              <a:r>
                <a:rPr lang="zh-CN" altLang="en-US" b="1" dirty="0">
                  <a:solidFill>
                    <a:schemeClr val="accent3"/>
                  </a:solidFill>
                  <a:latin typeface="+mn-ea"/>
                </a:rPr>
                <a:t>请求第一个</a:t>
              </a:r>
              <a:r>
                <a:rPr lang="en-US" altLang="zh-CN" b="1" dirty="0">
                  <a:solidFill>
                    <a:schemeClr val="accent3"/>
                  </a:solidFill>
                  <a:latin typeface="+mn-ea"/>
                </a:rPr>
                <a:t>JPEG</a:t>
              </a:r>
              <a:endParaRPr lang="zh-CN" altLang="en-US" b="1" dirty="0">
                <a:solidFill>
                  <a:schemeClr val="accent3"/>
                </a:solidFill>
                <a:latin typeface="+mn-ea"/>
              </a:endParaRPr>
            </a:p>
          </p:txBody>
        </p:sp>
      </p:grpSp>
      <p:grpSp>
        <p:nvGrpSpPr>
          <p:cNvPr id="66" name="组合 65">
            <a:extLst>
              <a:ext uri="{FF2B5EF4-FFF2-40B4-BE49-F238E27FC236}">
                <a16:creationId xmlns:a16="http://schemas.microsoft.com/office/drawing/2014/main" id="{033C3A04-5837-6DFB-B754-142DA3598FF9}"/>
              </a:ext>
            </a:extLst>
          </p:cNvPr>
          <p:cNvGrpSpPr/>
          <p:nvPr/>
        </p:nvGrpSpPr>
        <p:grpSpPr>
          <a:xfrm>
            <a:off x="2625598" y="5362311"/>
            <a:ext cx="5082604" cy="563046"/>
            <a:chOff x="4093242" y="5362311"/>
            <a:chExt cx="5082604" cy="563046"/>
          </a:xfrm>
        </p:grpSpPr>
        <p:cxnSp>
          <p:nvCxnSpPr>
            <p:cNvPr id="56" name="直接箭头连接符 55">
              <a:extLst>
                <a:ext uri="{FF2B5EF4-FFF2-40B4-BE49-F238E27FC236}">
                  <a16:creationId xmlns:a16="http://schemas.microsoft.com/office/drawing/2014/main" id="{9479C5C8-16E1-A85A-92B5-6B4155889485}"/>
                </a:ext>
              </a:extLst>
            </p:cNvPr>
            <p:cNvCxnSpPr>
              <a:cxnSpLocks/>
            </p:cNvCxnSpPr>
            <p:nvPr/>
          </p:nvCxnSpPr>
          <p:spPr>
            <a:xfrm>
              <a:off x="4093242" y="5469884"/>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F110E70E-2953-7AB7-6604-04B660306A1D}"/>
                </a:ext>
              </a:extLst>
            </p:cNvPr>
            <p:cNvSpPr txBox="1"/>
            <p:nvPr/>
          </p:nvSpPr>
          <p:spPr>
            <a:xfrm rot="316527">
              <a:off x="6004872" y="5362311"/>
              <a:ext cx="1939674" cy="369332"/>
            </a:xfrm>
            <a:prstGeom prst="rect">
              <a:avLst/>
            </a:prstGeom>
            <a:noFill/>
          </p:spPr>
          <p:txBody>
            <a:bodyPr wrap="square" rtlCol="0">
              <a:spAutoFit/>
            </a:bodyPr>
            <a:lstStyle/>
            <a:p>
              <a:pPr algn="ctr"/>
              <a:r>
                <a:rPr lang="zh-CN" altLang="en-US" b="1" dirty="0">
                  <a:solidFill>
                    <a:schemeClr val="accent3"/>
                  </a:solidFill>
                  <a:latin typeface="+mn-ea"/>
                </a:rPr>
                <a:t>请求第二个</a:t>
              </a:r>
              <a:r>
                <a:rPr lang="en-US" altLang="zh-CN" b="1" dirty="0">
                  <a:solidFill>
                    <a:schemeClr val="accent3"/>
                  </a:solidFill>
                  <a:latin typeface="+mn-ea"/>
                </a:rPr>
                <a:t>JPEG</a:t>
              </a:r>
              <a:endParaRPr lang="zh-CN" altLang="en-US" b="1" dirty="0">
                <a:solidFill>
                  <a:schemeClr val="accent3"/>
                </a:solidFill>
                <a:latin typeface="+mn-ea"/>
              </a:endParaRPr>
            </a:p>
          </p:txBody>
        </p:sp>
      </p:grpSp>
      <p:grpSp>
        <p:nvGrpSpPr>
          <p:cNvPr id="65" name="组合 64">
            <a:extLst>
              <a:ext uri="{FF2B5EF4-FFF2-40B4-BE49-F238E27FC236}">
                <a16:creationId xmlns:a16="http://schemas.microsoft.com/office/drawing/2014/main" id="{E2C35CF4-181E-3203-05D6-9B3D60D9C857}"/>
              </a:ext>
            </a:extLst>
          </p:cNvPr>
          <p:cNvGrpSpPr/>
          <p:nvPr/>
        </p:nvGrpSpPr>
        <p:grpSpPr>
          <a:xfrm>
            <a:off x="2593254" y="4925076"/>
            <a:ext cx="5082604" cy="518885"/>
            <a:chOff x="4060898" y="4925076"/>
            <a:chExt cx="5082604" cy="518885"/>
          </a:xfrm>
        </p:grpSpPr>
        <p:cxnSp>
          <p:nvCxnSpPr>
            <p:cNvPr id="55" name="直接箭头连接符 54">
              <a:extLst>
                <a:ext uri="{FF2B5EF4-FFF2-40B4-BE49-F238E27FC236}">
                  <a16:creationId xmlns:a16="http://schemas.microsoft.com/office/drawing/2014/main" id="{0FC041C7-4C0F-A855-E6CE-97B9E4DFF1E3}"/>
                </a:ext>
              </a:extLst>
            </p:cNvPr>
            <p:cNvCxnSpPr>
              <a:cxnSpLocks/>
            </p:cNvCxnSpPr>
            <p:nvPr/>
          </p:nvCxnSpPr>
          <p:spPr>
            <a:xfrm flipH="1">
              <a:off x="4060898" y="4988488"/>
              <a:ext cx="5082604" cy="455473"/>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B9DF2C20-EE1E-DBD6-9B2F-2EC7E743E23D}"/>
                </a:ext>
              </a:extLst>
            </p:cNvPr>
            <p:cNvSpPr txBox="1"/>
            <p:nvPr/>
          </p:nvSpPr>
          <p:spPr>
            <a:xfrm rot="21253736">
              <a:off x="5131553" y="4925076"/>
              <a:ext cx="1804499" cy="369332"/>
            </a:xfrm>
            <a:prstGeom prst="rect">
              <a:avLst/>
            </a:prstGeom>
            <a:noFill/>
          </p:spPr>
          <p:txBody>
            <a:bodyPr wrap="square" rtlCol="0">
              <a:spAutoFit/>
            </a:bodyPr>
            <a:lstStyle/>
            <a:p>
              <a:pPr algn="ctr"/>
              <a:r>
                <a:rPr lang="zh-CN" altLang="en-US" b="1" dirty="0">
                  <a:solidFill>
                    <a:schemeClr val="accent4"/>
                  </a:solidFill>
                  <a:latin typeface="+mn-ea"/>
                </a:rPr>
                <a:t>响应</a:t>
              </a:r>
            </a:p>
          </p:txBody>
        </p:sp>
      </p:grpSp>
      <p:grpSp>
        <p:nvGrpSpPr>
          <p:cNvPr id="79" name="组合 78">
            <a:extLst>
              <a:ext uri="{FF2B5EF4-FFF2-40B4-BE49-F238E27FC236}">
                <a16:creationId xmlns:a16="http://schemas.microsoft.com/office/drawing/2014/main" id="{0ECD70B9-CFCA-1345-E2AB-E8322651BBC2}"/>
              </a:ext>
            </a:extLst>
          </p:cNvPr>
          <p:cNvGrpSpPr/>
          <p:nvPr/>
        </p:nvGrpSpPr>
        <p:grpSpPr>
          <a:xfrm>
            <a:off x="1579335" y="2618280"/>
            <a:ext cx="1014507" cy="3780837"/>
            <a:chOff x="3046979" y="2618280"/>
            <a:chExt cx="1014507" cy="3780837"/>
          </a:xfrm>
        </p:grpSpPr>
        <p:cxnSp>
          <p:nvCxnSpPr>
            <p:cNvPr id="25" name="直接连接符 24">
              <a:extLst>
                <a:ext uri="{FF2B5EF4-FFF2-40B4-BE49-F238E27FC236}">
                  <a16:creationId xmlns:a16="http://schemas.microsoft.com/office/drawing/2014/main" id="{48FA52A5-3DFF-749E-86CB-A3D7DBE1B764}"/>
                </a:ext>
              </a:extLst>
            </p:cNvPr>
            <p:cNvCxnSpPr>
              <a:cxnSpLocks/>
            </p:cNvCxnSpPr>
            <p:nvPr/>
          </p:nvCxnSpPr>
          <p:spPr>
            <a:xfrm flipH="1">
              <a:off x="3046979" y="2618280"/>
              <a:ext cx="993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EFB7D63-8C0E-D0B9-6A85-C81E52CEA0C5}"/>
                </a:ext>
              </a:extLst>
            </p:cNvPr>
            <p:cNvCxnSpPr>
              <a:cxnSpLocks/>
            </p:cNvCxnSpPr>
            <p:nvPr/>
          </p:nvCxnSpPr>
          <p:spPr>
            <a:xfrm flipH="1">
              <a:off x="3047628" y="3549627"/>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966834B-BC86-B794-E79B-12C52EE53D4F}"/>
                </a:ext>
              </a:extLst>
            </p:cNvPr>
            <p:cNvCxnSpPr/>
            <p:nvPr/>
          </p:nvCxnSpPr>
          <p:spPr>
            <a:xfrm>
              <a:off x="3541477" y="2637112"/>
              <a:ext cx="0" cy="912514"/>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EC1303B-BCF5-37BD-72C4-93EC4BE62C9F}"/>
                </a:ext>
              </a:extLst>
            </p:cNvPr>
            <p:cNvSpPr txBox="1"/>
            <p:nvPr/>
          </p:nvSpPr>
          <p:spPr>
            <a:xfrm>
              <a:off x="3191525" y="2906457"/>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35" name="直接连接符 34">
              <a:extLst>
                <a:ext uri="{FF2B5EF4-FFF2-40B4-BE49-F238E27FC236}">
                  <a16:creationId xmlns:a16="http://schemas.microsoft.com/office/drawing/2014/main" id="{7142FECE-DE29-4EF8-CF52-999F455FA95E}"/>
                </a:ext>
              </a:extLst>
            </p:cNvPr>
            <p:cNvCxnSpPr>
              <a:cxnSpLocks/>
            </p:cNvCxnSpPr>
            <p:nvPr/>
          </p:nvCxnSpPr>
          <p:spPr>
            <a:xfrm flipH="1">
              <a:off x="3059140" y="4493959"/>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EC96E99E-C753-E21A-44E6-72D943D038DF}"/>
                </a:ext>
              </a:extLst>
            </p:cNvPr>
            <p:cNvCxnSpPr>
              <a:cxnSpLocks/>
            </p:cNvCxnSpPr>
            <p:nvPr/>
          </p:nvCxnSpPr>
          <p:spPr>
            <a:xfrm>
              <a:off x="3538175" y="3533600"/>
              <a:ext cx="0" cy="960359"/>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AB2FD320-0A82-784B-E284-A6C347962C99}"/>
                </a:ext>
              </a:extLst>
            </p:cNvPr>
            <p:cNvSpPr txBox="1"/>
            <p:nvPr/>
          </p:nvSpPr>
          <p:spPr>
            <a:xfrm>
              <a:off x="3188223" y="3802945"/>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68" name="直接连接符 67">
              <a:extLst>
                <a:ext uri="{FF2B5EF4-FFF2-40B4-BE49-F238E27FC236}">
                  <a16:creationId xmlns:a16="http://schemas.microsoft.com/office/drawing/2014/main" id="{288124CE-81D4-33B1-B5CC-97C1FD63AE6C}"/>
                </a:ext>
              </a:extLst>
            </p:cNvPr>
            <p:cNvCxnSpPr>
              <a:cxnSpLocks/>
            </p:cNvCxnSpPr>
            <p:nvPr/>
          </p:nvCxnSpPr>
          <p:spPr>
            <a:xfrm flipH="1">
              <a:off x="3060000" y="5443961"/>
              <a:ext cx="9938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C65F1EE2-912C-7581-B3D6-BD7E21DE8B38}"/>
                </a:ext>
              </a:extLst>
            </p:cNvPr>
            <p:cNvCxnSpPr>
              <a:cxnSpLocks/>
            </p:cNvCxnSpPr>
            <p:nvPr/>
          </p:nvCxnSpPr>
          <p:spPr>
            <a:xfrm flipH="1">
              <a:off x="3060000" y="6399117"/>
              <a:ext cx="1001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08EE7100-74A3-0C8A-FA39-483825316B1B}"/>
                </a:ext>
              </a:extLst>
            </p:cNvPr>
            <p:cNvCxnSpPr/>
            <p:nvPr/>
          </p:nvCxnSpPr>
          <p:spPr>
            <a:xfrm>
              <a:off x="3526083" y="4523766"/>
              <a:ext cx="0" cy="912514"/>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10034340-0A7E-0F55-AD28-D3EC80505B7F}"/>
                </a:ext>
              </a:extLst>
            </p:cNvPr>
            <p:cNvSpPr txBox="1"/>
            <p:nvPr/>
          </p:nvSpPr>
          <p:spPr>
            <a:xfrm>
              <a:off x="3176131" y="4793111"/>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cxnSp>
          <p:nvCxnSpPr>
            <p:cNvPr id="74" name="直接箭头连接符 73">
              <a:extLst>
                <a:ext uri="{FF2B5EF4-FFF2-40B4-BE49-F238E27FC236}">
                  <a16:creationId xmlns:a16="http://schemas.microsoft.com/office/drawing/2014/main" id="{A903F2AC-443C-E2BD-A26F-E65C78DE051E}"/>
                </a:ext>
              </a:extLst>
            </p:cNvPr>
            <p:cNvCxnSpPr>
              <a:cxnSpLocks/>
            </p:cNvCxnSpPr>
            <p:nvPr/>
          </p:nvCxnSpPr>
          <p:spPr>
            <a:xfrm>
              <a:off x="3526083" y="5456135"/>
              <a:ext cx="0" cy="942982"/>
            </a:xfrm>
            <a:prstGeom prst="straightConnector1">
              <a:avLst/>
            </a:prstGeom>
            <a:ln w="25400">
              <a:solidFill>
                <a:schemeClr val="tx1"/>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A2B0EADB-A0D4-10E8-5EC5-CF54A5599C3F}"/>
                </a:ext>
              </a:extLst>
            </p:cNvPr>
            <p:cNvSpPr txBox="1"/>
            <p:nvPr/>
          </p:nvSpPr>
          <p:spPr>
            <a:xfrm>
              <a:off x="3176131" y="5725480"/>
              <a:ext cx="697031" cy="369332"/>
            </a:xfrm>
            <a:prstGeom prst="rect">
              <a:avLst/>
            </a:prstGeom>
            <a:solidFill>
              <a:schemeClr val="bg1"/>
            </a:solidFill>
          </p:spPr>
          <p:txBody>
            <a:bodyPr wrap="square" rtlCol="0">
              <a:spAutoFit/>
            </a:bodyPr>
            <a:lstStyle/>
            <a:p>
              <a:pPr algn="ctr"/>
              <a:r>
                <a:rPr lang="en-US" altLang="zh-CN" b="1" dirty="0">
                  <a:latin typeface="+mn-ea"/>
                </a:rPr>
                <a:t>RTT</a:t>
              </a:r>
              <a:endParaRPr lang="zh-CN" altLang="en-US" b="1" dirty="0">
                <a:latin typeface="+mn-ea"/>
              </a:endParaRPr>
            </a:p>
          </p:txBody>
        </p:sp>
      </p:grpSp>
      <p:sp>
        <p:nvSpPr>
          <p:cNvPr id="81" name="íşlïḍè">
            <a:extLst>
              <a:ext uri="{FF2B5EF4-FFF2-40B4-BE49-F238E27FC236}">
                <a16:creationId xmlns:a16="http://schemas.microsoft.com/office/drawing/2014/main" id="{DB60BF71-A3E8-C7EB-E361-C97D193A04B7}"/>
              </a:ext>
            </a:extLst>
          </p:cNvPr>
          <p:cNvSpPr txBox="1"/>
          <p:nvPr/>
        </p:nvSpPr>
        <p:spPr>
          <a:xfrm>
            <a:off x="7995041" y="4127665"/>
            <a:ext cx="3747706" cy="1534928"/>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r>
              <a:rPr lang="zh-CN" altLang="en-US" b="1" dirty="0">
                <a:solidFill>
                  <a:schemeClr val="bg1"/>
                </a:solidFill>
                <a:latin typeface="+mn-ea"/>
              </a:rPr>
              <a:t>持续连接方式：服务器在发送响应后仍然保持这条连接，使同一个客户（浏览器）和该服务器可以继续在这条连接上传送后续的</a:t>
            </a:r>
            <a:r>
              <a:rPr lang="en-US" altLang="zh-CN" b="1" dirty="0">
                <a:solidFill>
                  <a:schemeClr val="bg1"/>
                </a:solidFill>
                <a:latin typeface="+mn-ea"/>
              </a:rPr>
              <a:t>HTTP</a:t>
            </a:r>
            <a:r>
              <a:rPr lang="zh-CN" altLang="en-US" b="1" dirty="0">
                <a:solidFill>
                  <a:schemeClr val="bg1"/>
                </a:solidFill>
                <a:latin typeface="+mn-ea"/>
              </a:rPr>
              <a:t>请求报文和响应报文。</a:t>
            </a:r>
            <a:endParaRPr lang="en-US" altLang="zh-CN" b="1" dirty="0">
              <a:solidFill>
                <a:schemeClr val="bg1"/>
              </a:solidFill>
              <a:latin typeface="+mn-ea"/>
            </a:endParaRPr>
          </a:p>
        </p:txBody>
      </p:sp>
      <p:sp>
        <p:nvSpPr>
          <p:cNvPr id="82" name="íşlïḍè">
            <a:extLst>
              <a:ext uri="{FF2B5EF4-FFF2-40B4-BE49-F238E27FC236}">
                <a16:creationId xmlns:a16="http://schemas.microsoft.com/office/drawing/2014/main" id="{3D0598BC-16D8-3146-D7A6-BAE08E04C2AD}"/>
              </a:ext>
            </a:extLst>
          </p:cNvPr>
          <p:cNvSpPr txBox="1"/>
          <p:nvPr/>
        </p:nvSpPr>
        <p:spPr>
          <a:xfrm>
            <a:off x="7996992" y="5787677"/>
            <a:ext cx="3745755" cy="61427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wrap="square" lIns="91440" tIns="45720" rIns="91440" bIns="45720" anchor="ctr">
            <a:noAutofit/>
          </a:bodyPr>
          <a:lstStyle/>
          <a:p>
            <a:r>
              <a:rPr lang="zh-CN" altLang="en-US" b="1" dirty="0">
                <a:solidFill>
                  <a:schemeClr val="bg1"/>
                </a:solidFill>
                <a:latin typeface="+mn-ea"/>
              </a:rPr>
              <a:t>非流水线方式：只有收到上一个请求的响应，才能发送下一个请求。</a:t>
            </a:r>
            <a:endParaRPr lang="en-US" altLang="zh-CN" b="1" dirty="0">
              <a:solidFill>
                <a:schemeClr val="bg1"/>
              </a:solidFill>
              <a:latin typeface="+mn-ea"/>
            </a:endParaRPr>
          </a:p>
        </p:txBody>
      </p:sp>
      <p:sp>
        <p:nvSpPr>
          <p:cNvPr id="11" name="文本框 10">
            <a:extLst>
              <a:ext uri="{FF2B5EF4-FFF2-40B4-BE49-F238E27FC236}">
                <a16:creationId xmlns:a16="http://schemas.microsoft.com/office/drawing/2014/main" id="{597A93C4-6E3E-E74C-4247-12FA5A0EF17F}"/>
              </a:ext>
            </a:extLst>
          </p:cNvPr>
          <p:cNvSpPr txBox="1"/>
          <p:nvPr/>
        </p:nvSpPr>
        <p:spPr>
          <a:xfrm>
            <a:off x="741626" y="2098586"/>
            <a:ext cx="697560" cy="369332"/>
          </a:xfrm>
          <a:prstGeom prst="rect">
            <a:avLst/>
          </a:prstGeom>
          <a:noFill/>
        </p:spPr>
        <p:txBody>
          <a:bodyPr wrap="square">
            <a:spAutoFit/>
          </a:bodyPr>
          <a:lstStyle/>
          <a:p>
            <a:r>
              <a:rPr lang="zh-CN" altLang="en-US" b="1" dirty="0"/>
              <a:t>解析</a:t>
            </a:r>
            <a:endParaRPr lang="zh-CN" altLang="en-US" dirty="0"/>
          </a:p>
        </p:txBody>
      </p:sp>
      <p:sp>
        <p:nvSpPr>
          <p:cNvPr id="13" name="íşlïḍè">
            <a:extLst>
              <a:ext uri="{FF2B5EF4-FFF2-40B4-BE49-F238E27FC236}">
                <a16:creationId xmlns:a16="http://schemas.microsoft.com/office/drawing/2014/main" id="{C39CEAEC-56AF-49F6-B2F7-4604E6043450}"/>
              </a:ext>
            </a:extLst>
          </p:cNvPr>
          <p:cNvSpPr txBox="1"/>
          <p:nvPr/>
        </p:nvSpPr>
        <p:spPr>
          <a:xfrm>
            <a:off x="670065" y="1280868"/>
            <a:ext cx="11009665" cy="673240"/>
          </a:xfrm>
          <a:prstGeom prst="rect">
            <a:avLst/>
          </a:prstGeom>
          <a:noFill/>
        </p:spPr>
        <p:txBody>
          <a:bodyPr wrap="square" lIns="91440" tIns="45720" rIns="91440" bIns="45720" anchor="ctr">
            <a:noAutofit/>
          </a:bodyPr>
          <a:lstStyle/>
          <a:p>
            <a:r>
              <a:rPr lang="en-US" altLang="zh-CN" b="1" dirty="0"/>
              <a:t>【</a:t>
            </a:r>
            <a:r>
              <a:rPr lang="zh-CN" altLang="en-US" b="1" dirty="0"/>
              <a:t>修改自 </a:t>
            </a:r>
            <a:r>
              <a:rPr lang="en-US" altLang="zh-CN" b="1" dirty="0"/>
              <a:t>2011</a:t>
            </a:r>
            <a:r>
              <a:rPr lang="zh-CN" altLang="en-US" b="1" dirty="0"/>
              <a:t>年 题</a:t>
            </a:r>
            <a:r>
              <a:rPr lang="en-US" altLang="zh-CN" b="1" dirty="0"/>
              <a:t>47 </a:t>
            </a:r>
            <a:r>
              <a:rPr lang="zh-CN" altLang="en-US" b="1" dirty="0"/>
              <a:t>第（</a:t>
            </a:r>
            <a:r>
              <a:rPr lang="en-US" altLang="zh-CN" b="1" dirty="0"/>
              <a:t>3</a:t>
            </a:r>
            <a:r>
              <a:rPr lang="zh-CN" altLang="en-US" b="1" dirty="0"/>
              <a:t>）问</a:t>
            </a:r>
            <a:r>
              <a:rPr lang="en-US" altLang="zh-CN" b="1" dirty="0"/>
              <a:t>】</a:t>
            </a:r>
            <a:r>
              <a:rPr lang="zh-CN" altLang="en-US" b="1" dirty="0"/>
              <a:t>假设</a:t>
            </a:r>
            <a:r>
              <a:rPr lang="en-US" altLang="zh-CN" b="1" dirty="0"/>
              <a:t>HTTP1.1</a:t>
            </a:r>
            <a:r>
              <a:rPr lang="zh-CN" altLang="en-US" b="1" dirty="0"/>
              <a:t>协议以持续的非流水线方式工作，一次请求</a:t>
            </a:r>
            <a:r>
              <a:rPr lang="en-US" altLang="zh-CN" b="1" dirty="0"/>
              <a:t>-</a:t>
            </a:r>
            <a:r>
              <a:rPr lang="zh-CN" altLang="en-US" b="1" dirty="0"/>
              <a:t>响应的时间为</a:t>
            </a:r>
            <a:r>
              <a:rPr lang="en-US" altLang="zh-CN" b="1" dirty="0"/>
              <a:t>RTT</a:t>
            </a:r>
            <a:r>
              <a:rPr lang="zh-CN" altLang="en-US" b="1" dirty="0"/>
              <a:t>，</a:t>
            </a:r>
            <a:r>
              <a:rPr lang="en-US" altLang="zh-CN" b="1" dirty="0"/>
              <a:t>rfc.html</a:t>
            </a:r>
            <a:r>
              <a:rPr lang="zh-CN" altLang="en-US" b="1" dirty="0"/>
              <a:t>页面引用了</a:t>
            </a:r>
            <a:r>
              <a:rPr lang="en-US" altLang="zh-CN" b="1" dirty="0"/>
              <a:t>2</a:t>
            </a:r>
            <a:r>
              <a:rPr lang="zh-CN" altLang="en-US" b="1" dirty="0"/>
              <a:t>个</a:t>
            </a:r>
            <a:r>
              <a:rPr lang="en-US" altLang="zh-CN" b="1" dirty="0"/>
              <a:t>JPEG</a:t>
            </a:r>
            <a:r>
              <a:rPr lang="zh-CN" altLang="en-US" b="1" dirty="0"/>
              <a:t>小图像，则浏览器从开始建立</a:t>
            </a:r>
            <a:r>
              <a:rPr lang="en-US" altLang="zh-CN" b="1" dirty="0"/>
              <a:t>TCP</a:t>
            </a:r>
            <a:r>
              <a:rPr lang="zh-CN" altLang="en-US" b="1" dirty="0"/>
              <a:t>连接到收到全部内容为止，需要多少个</a:t>
            </a:r>
            <a:r>
              <a:rPr lang="en-US" altLang="zh-CN" b="1" dirty="0"/>
              <a:t>RTT</a:t>
            </a:r>
            <a:r>
              <a:rPr lang="zh-CN" altLang="en-US" b="1" dirty="0"/>
              <a:t>？</a:t>
            </a:r>
            <a:endParaRPr lang="en-US" altLang="zh-CN" b="1" dirty="0"/>
          </a:p>
        </p:txBody>
      </p:sp>
    </p:spTree>
    <p:custDataLst>
      <p:tags r:id="rId1"/>
    </p:custDataLst>
    <p:extLst>
      <p:ext uri="{BB962C8B-B14F-4D97-AF65-F5344CB8AC3E}">
        <p14:creationId xmlns:p14="http://schemas.microsoft.com/office/powerpoint/2010/main" val="373466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additive="base">
                                        <p:cTn id="7" dur="500" fill="hold"/>
                                        <p:tgtEl>
                                          <p:spTgt spid="81"/>
                                        </p:tgtEl>
                                        <p:attrNameLst>
                                          <p:attrName>ppt_x</p:attrName>
                                        </p:attrNameLst>
                                      </p:cBhvr>
                                      <p:tavLst>
                                        <p:tav tm="0">
                                          <p:val>
                                            <p:strVal val="1+#ppt_w/2"/>
                                          </p:val>
                                        </p:tav>
                                        <p:tav tm="100000">
                                          <p:val>
                                            <p:strVal val="#ppt_x"/>
                                          </p:val>
                                        </p:tav>
                                      </p:tavLst>
                                    </p:anim>
                                    <p:anim calcmode="lin" valueType="num">
                                      <p:cBhvr additive="base">
                                        <p:cTn id="8" dur="500" fill="hold"/>
                                        <p:tgtEl>
                                          <p:spTgt spid="8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82"/>
                                        </p:tgtEl>
                                        <p:attrNameLst>
                                          <p:attrName>style.visibility</p:attrName>
                                        </p:attrNameLst>
                                      </p:cBhvr>
                                      <p:to>
                                        <p:strVal val="visible"/>
                                      </p:to>
                                    </p:set>
                                    <p:anim calcmode="lin" valueType="num">
                                      <p:cBhvr additive="base">
                                        <p:cTn id="13" dur="500" fill="hold"/>
                                        <p:tgtEl>
                                          <p:spTgt spid="82"/>
                                        </p:tgtEl>
                                        <p:attrNameLst>
                                          <p:attrName>ppt_x</p:attrName>
                                        </p:attrNameLst>
                                      </p:cBhvr>
                                      <p:tavLst>
                                        <p:tav tm="0">
                                          <p:val>
                                            <p:strVal val="1+#ppt_w/2"/>
                                          </p:val>
                                        </p:tav>
                                        <p:tav tm="100000">
                                          <p:val>
                                            <p:strVal val="#ppt_x"/>
                                          </p:val>
                                        </p:tav>
                                      </p:tavLst>
                                    </p:anim>
                                    <p:anim calcmode="lin" valueType="num">
                                      <p:cBhvr additive="base">
                                        <p:cTn id="14" dur="500" fill="hold"/>
                                        <p:tgtEl>
                                          <p:spTgt spid="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 name="COMMONDATA" val="eyJoZGlkIjoiYzE1ZTk0YmFjZjUzZjU2NjkwYjU3ZTI1ZmQyMzJmMTAifQ=="/>
</p:tagLst>
</file>

<file path=ppt/tags/tag2.xml><?xml version="1.0" encoding="utf-8"?>
<p:tagLst xmlns:a="http://schemas.openxmlformats.org/drawingml/2006/main" xmlns:r="http://schemas.openxmlformats.org/officeDocument/2006/relationships" xmlns:p="http://schemas.openxmlformats.org/presentationml/2006/main">
  <p:tag name="ISLIDE.ICON" val="#64751;"/>
</p:tagLst>
</file>

<file path=ppt/tags/tag3.xml><?xml version="1.0" encoding="utf-8"?>
<p:tagLst xmlns:a="http://schemas.openxmlformats.org/drawingml/2006/main" xmlns:r="http://schemas.openxmlformats.org/officeDocument/2006/relationships" xmlns:p="http://schemas.openxmlformats.org/presentationml/2006/main">
  <p:tag name="ISLIDE.ICON" val="#64751;"/>
</p:tagLst>
</file>

<file path=ppt/tags/tag4.xml><?xml version="1.0" encoding="utf-8"?>
<p:tagLst xmlns:a="http://schemas.openxmlformats.org/drawingml/2006/main" xmlns:r="http://schemas.openxmlformats.org/officeDocument/2006/relationships" xmlns:p="http://schemas.openxmlformats.org/presentationml/2006/main">
  <p:tag name="ISLIDE.ICON" val="#64751;"/>
</p:tagLst>
</file>

<file path=ppt/tags/tag5.xml><?xml version="1.0" encoding="utf-8"?>
<p:tagLst xmlns:a="http://schemas.openxmlformats.org/drawingml/2006/main" xmlns:r="http://schemas.openxmlformats.org/officeDocument/2006/relationships" xmlns:p="http://schemas.openxmlformats.org/presentationml/2006/main">
  <p:tag name="ISLIDE.ICON" val="#64751;"/>
</p:tagLst>
</file>

<file path=ppt/tags/tag6.xml><?xml version="1.0" encoding="utf-8"?>
<p:tagLst xmlns:a="http://schemas.openxmlformats.org/drawingml/2006/main" xmlns:r="http://schemas.openxmlformats.org/officeDocument/2006/relationships" xmlns:p="http://schemas.openxmlformats.org/presentationml/2006/main">
  <p:tag name="ISLIDE.ICON" val="#64751;"/>
</p:tagLst>
</file>

<file path=ppt/tags/tag7.xml><?xml version="1.0" encoding="utf-8"?>
<p:tagLst xmlns:a="http://schemas.openxmlformats.org/drawingml/2006/main" xmlns:r="http://schemas.openxmlformats.org/officeDocument/2006/relationships" xmlns:p="http://schemas.openxmlformats.org/presentationml/2006/main">
  <p:tag name="ISLIDE.ICON" val="#64751;"/>
  <p:tag name="ISLIDE.VECTOR" val="#195524;#195524;"/>
</p:tagLst>
</file>

<file path=ppt/tags/tag8.xml><?xml version="1.0" encoding="utf-8"?>
<p:tagLst xmlns:a="http://schemas.openxmlformats.org/drawingml/2006/main" xmlns:r="http://schemas.openxmlformats.org/officeDocument/2006/relationships" xmlns:p="http://schemas.openxmlformats.org/presentationml/2006/main">
  <p:tag name="ISLIDE.ICON" val="#64751;"/>
  <p:tag name="ISLIDE.VECTOR" val="#195524;#195524;"/>
</p:tagLst>
</file>

<file path=ppt/tags/tag9.xml><?xml version="1.0" encoding="utf-8"?>
<p:tagLst xmlns:a="http://schemas.openxmlformats.org/drawingml/2006/main" xmlns:r="http://schemas.openxmlformats.org/officeDocument/2006/relationships" xmlns:p="http://schemas.openxmlformats.org/presentationml/2006/main">
  <p:tag name="ISLIDE.ICON" val="#64751;"/>
</p:tagLst>
</file>

<file path=ppt/tags/tag10.xml><?xml version="1.0" encoding="utf-8"?>
<p:tagLst xmlns:a="http://schemas.openxmlformats.org/drawingml/2006/main" xmlns:r="http://schemas.openxmlformats.org/officeDocument/2006/relationships" xmlns:p="http://schemas.openxmlformats.org/presentationml/2006/main">
  <p:tag name="ISLIDE.ICON" val="#64751;"/>
</p:tagLst>
</file>

<file path=ppt/tags/tag11.xml><?xml version="1.0" encoding="utf-8"?>
<p:tagLst xmlns:a="http://schemas.openxmlformats.org/drawingml/2006/main" xmlns:r="http://schemas.openxmlformats.org/officeDocument/2006/relationships" xmlns:p="http://schemas.openxmlformats.org/presentationml/2006/main">
  <p:tag name="ISLIDE.ICON" val="#64751;"/>
  <p:tag name="ISLIDE.VECTOR" val="#774935;"/>
</p:tagLst>
</file>

<file path=ppt/tags/tag12.xml><?xml version="1.0" encoding="utf-8"?>
<p:tagLst xmlns:a="http://schemas.openxmlformats.org/drawingml/2006/main" xmlns:r="http://schemas.openxmlformats.org/officeDocument/2006/relationships" xmlns:p="http://schemas.openxmlformats.org/presentationml/2006/main">
  <p:tag name="ISLIDE.ICON" val="#64751;#27058;#401140;"/>
  <p:tag name="ISLIDE.VECTOR" val="#774935;"/>
</p:tagLst>
</file>

<file path=ppt/tags/tag13.xml><?xml version="1.0" encoding="utf-8"?>
<p:tagLst xmlns:a="http://schemas.openxmlformats.org/drawingml/2006/main" xmlns:r="http://schemas.openxmlformats.org/officeDocument/2006/relationships" xmlns:p="http://schemas.openxmlformats.org/presentationml/2006/main">
  <p:tag name="ISLIDE.ICON" val="#64751;"/>
</p:tagLst>
</file>

<file path=ppt/tags/tag14.xml><?xml version="1.0" encoding="utf-8"?>
<p:tagLst xmlns:a="http://schemas.openxmlformats.org/drawingml/2006/main" xmlns:r="http://schemas.openxmlformats.org/officeDocument/2006/relationships" xmlns:p="http://schemas.openxmlformats.org/presentationml/2006/main">
  <p:tag name="ISLIDE.ICON" val="#64751;"/>
</p:tagLst>
</file>

<file path=ppt/tags/tag15.xml><?xml version="1.0" encoding="utf-8"?>
<p:tagLst xmlns:a="http://schemas.openxmlformats.org/drawingml/2006/main" xmlns:r="http://schemas.openxmlformats.org/officeDocument/2006/relationships" xmlns:p="http://schemas.openxmlformats.org/presentationml/2006/main">
  <p:tag name="ISLIDE.ICON" val="#64751;"/>
</p:tagLst>
</file>

<file path=ppt/tags/tag16.xml><?xml version="1.0" encoding="utf-8"?>
<p:tagLst xmlns:a="http://schemas.openxmlformats.org/drawingml/2006/main" xmlns:r="http://schemas.openxmlformats.org/officeDocument/2006/relationships" xmlns:p="http://schemas.openxmlformats.org/presentationml/2006/main">
  <p:tag name="ISLIDE.ICON" val="#64751;"/>
</p:tagLst>
</file>

<file path=ppt/tags/tag17.xml><?xml version="1.0" encoding="utf-8"?>
<p:tagLst xmlns:a="http://schemas.openxmlformats.org/drawingml/2006/main" xmlns:r="http://schemas.openxmlformats.org/officeDocument/2006/relationships" xmlns:p="http://schemas.openxmlformats.org/presentationml/2006/main">
  <p:tag name="ISLIDE.ICON" val="#64751;"/>
</p:tagLst>
</file>

<file path=ppt/tags/tag18.xml><?xml version="1.0" encoding="utf-8"?>
<p:tagLst xmlns:a="http://schemas.openxmlformats.org/drawingml/2006/main" xmlns:r="http://schemas.openxmlformats.org/officeDocument/2006/relationships" xmlns:p="http://schemas.openxmlformats.org/presentationml/2006/main">
  <p:tag name="ISLIDE.ICON" val="#64751;"/>
</p:tagLst>
</file>

<file path=ppt/tags/tag19.xml><?xml version="1.0" encoding="utf-8"?>
<p:tagLst xmlns:a="http://schemas.openxmlformats.org/drawingml/2006/main" xmlns:r="http://schemas.openxmlformats.org/officeDocument/2006/relationships" xmlns:p="http://schemas.openxmlformats.org/presentationml/2006/main">
  <p:tag name="ISLIDE.ICON" val="#64751;"/>
</p:tagLst>
</file>

<file path=ppt/tags/tag20.xml><?xml version="1.0" encoding="utf-8"?>
<p:tagLst xmlns:a="http://schemas.openxmlformats.org/drawingml/2006/main" xmlns:r="http://schemas.openxmlformats.org/officeDocument/2006/relationships" xmlns:p="http://schemas.openxmlformats.org/presentationml/2006/main">
  <p:tag name="ISLIDE.ICON" val="#64751;"/>
</p:tagLst>
</file>

<file path=ppt/tags/tag21.xml><?xml version="1.0" encoding="utf-8"?>
<p:tagLst xmlns:a="http://schemas.openxmlformats.org/drawingml/2006/main" xmlns:r="http://schemas.openxmlformats.org/officeDocument/2006/relationships" xmlns:p="http://schemas.openxmlformats.org/presentationml/2006/main">
  <p:tag name="ISLIDE.ICON" val="#64751;"/>
</p:tagLst>
</file>

<file path=ppt/tags/tag22.xml><?xml version="1.0" encoding="utf-8"?>
<p:tagLst xmlns:a="http://schemas.openxmlformats.org/drawingml/2006/main" xmlns:r="http://schemas.openxmlformats.org/officeDocument/2006/relationships" xmlns:p="http://schemas.openxmlformats.org/presentationml/2006/main">
  <p:tag name="ISLIDE.ICON" val="#64751;"/>
</p:tagLst>
</file>

<file path=ppt/tags/tag23.xml><?xml version="1.0" encoding="utf-8"?>
<p:tagLst xmlns:a="http://schemas.openxmlformats.org/drawingml/2006/main" xmlns:r="http://schemas.openxmlformats.org/officeDocument/2006/relationships" xmlns:p="http://schemas.openxmlformats.org/presentationml/2006/main">
  <p:tag name="ISLIDE.ICON" val="#64751;"/>
</p:tagLst>
</file>

<file path=ppt/tags/tag24.xml><?xml version="1.0" encoding="utf-8"?>
<p:tagLst xmlns:a="http://schemas.openxmlformats.org/drawingml/2006/main" xmlns:r="http://schemas.openxmlformats.org/officeDocument/2006/relationships" xmlns:p="http://schemas.openxmlformats.org/presentationml/2006/main">
  <p:tag name="ISLIDE.ICON" val="#64751;"/>
</p:tagLst>
</file>

<file path=ppt/tags/tag25.xml><?xml version="1.0" encoding="utf-8"?>
<p:tagLst xmlns:a="http://schemas.openxmlformats.org/drawingml/2006/main" xmlns:r="http://schemas.openxmlformats.org/officeDocument/2006/relationships" xmlns:p="http://schemas.openxmlformats.org/presentationml/2006/main">
  <p:tag name="ISLIDE.ICON" val="#64751;"/>
</p:tagLst>
</file>

<file path=ppt/tags/tag26.xml><?xml version="1.0" encoding="utf-8"?>
<p:tagLst xmlns:a="http://schemas.openxmlformats.org/drawingml/2006/main" xmlns:r="http://schemas.openxmlformats.org/officeDocument/2006/relationships" xmlns:p="http://schemas.openxmlformats.org/presentationml/2006/main">
  <p:tag name="ISLIDE.ICON" val="#64751;#59049;#61142;#182081;#179574;"/>
</p:tagLst>
</file>

<file path=ppt/tags/tag27.xml><?xml version="1.0" encoding="utf-8"?>
<p:tagLst xmlns:a="http://schemas.openxmlformats.org/drawingml/2006/main" xmlns:r="http://schemas.openxmlformats.org/officeDocument/2006/relationships" xmlns:p="http://schemas.openxmlformats.org/presentationml/2006/main">
  <p:tag name="ISLIDE.ICON" val="#64751;"/>
</p:tagLst>
</file>

<file path=ppt/tags/tag28.xml><?xml version="1.0" encoding="utf-8"?>
<p:tagLst xmlns:a="http://schemas.openxmlformats.org/drawingml/2006/main" xmlns:r="http://schemas.openxmlformats.org/officeDocument/2006/relationships" xmlns:p="http://schemas.openxmlformats.org/presentationml/2006/main">
  <p:tag name="ISLIDE.ICON" val="#64751;"/>
</p:tagLst>
</file>

<file path=ppt/tags/tag29.xml><?xml version="1.0" encoding="utf-8"?>
<p:tagLst xmlns:a="http://schemas.openxmlformats.org/drawingml/2006/main" xmlns:r="http://schemas.openxmlformats.org/officeDocument/2006/relationships" xmlns:p="http://schemas.openxmlformats.org/presentationml/2006/main">
  <p:tag name="ISLIDE.ICON" val="#64751;"/>
</p:tagLst>
</file>

<file path=ppt/tags/tag30.xml><?xml version="1.0" encoding="utf-8"?>
<p:tagLst xmlns:a="http://schemas.openxmlformats.org/drawingml/2006/main" xmlns:r="http://schemas.openxmlformats.org/officeDocument/2006/relationships" xmlns:p="http://schemas.openxmlformats.org/presentationml/2006/main">
  <p:tag name="ISLIDE.ICON" val="#64751;"/>
</p:tagLst>
</file>

<file path=ppt/tags/tag31.xml><?xml version="1.0" encoding="utf-8"?>
<p:tagLst xmlns:a="http://schemas.openxmlformats.org/drawingml/2006/main" xmlns:r="http://schemas.openxmlformats.org/officeDocument/2006/relationships" xmlns:p="http://schemas.openxmlformats.org/presentationml/2006/main">
  <p:tag name="ISLIDE.ICON" val="#64751;"/>
</p:tagLst>
</file>

<file path=ppt/tags/tag32.xml><?xml version="1.0" encoding="utf-8"?>
<p:tagLst xmlns:a="http://schemas.openxmlformats.org/drawingml/2006/main" xmlns:r="http://schemas.openxmlformats.org/officeDocument/2006/relationships" xmlns:p="http://schemas.openxmlformats.org/presentationml/2006/main">
  <p:tag name="ISLIDE.ICON" val="#64751;"/>
</p:tagLst>
</file>

<file path=ppt/tags/tag33.xml><?xml version="1.0" encoding="utf-8"?>
<p:tagLst xmlns:a="http://schemas.openxmlformats.org/drawingml/2006/main" xmlns:r="http://schemas.openxmlformats.org/officeDocument/2006/relationships" xmlns:p="http://schemas.openxmlformats.org/presentationml/2006/main">
  <p:tag name="ISLIDE.ICON" val="#64751;"/>
</p:tagLst>
</file>

<file path=ppt/tags/tag34.xml><?xml version="1.0" encoding="utf-8"?>
<p:tagLst xmlns:a="http://schemas.openxmlformats.org/drawingml/2006/main" xmlns:r="http://schemas.openxmlformats.org/officeDocument/2006/relationships" xmlns:p="http://schemas.openxmlformats.org/presentationml/2006/main">
  <p:tag name="ISLIDE.ICON" val="#64751;"/>
</p:tagLst>
</file>

<file path=ppt/tags/tag35.xml><?xml version="1.0" encoding="utf-8"?>
<p:tagLst xmlns:a="http://schemas.openxmlformats.org/drawingml/2006/main" xmlns:r="http://schemas.openxmlformats.org/officeDocument/2006/relationships" xmlns:p="http://schemas.openxmlformats.org/presentationml/2006/main">
  <p:tag name="ISLIDE.ICON" val="#64751;"/>
</p:tagLst>
</file>

<file path=ppt/tags/tag36.xml><?xml version="1.0" encoding="utf-8"?>
<p:tagLst xmlns:a="http://schemas.openxmlformats.org/drawingml/2006/main" xmlns:r="http://schemas.openxmlformats.org/officeDocument/2006/relationships" xmlns:p="http://schemas.openxmlformats.org/presentationml/2006/main">
  <p:tag name="ISLIDE.ICON" val="#64751;"/>
</p:tagLst>
</file>

<file path=ppt/tags/tag37.xml><?xml version="1.0" encoding="utf-8"?>
<p:tagLst xmlns:a="http://schemas.openxmlformats.org/drawingml/2006/main" xmlns:r="http://schemas.openxmlformats.org/officeDocument/2006/relationships" xmlns:p="http://schemas.openxmlformats.org/presentationml/2006/main">
  <p:tag name="ISLIDE.ICON" val="#64751;"/>
</p:tagLst>
</file>

<file path=ppt/tags/tag38.xml><?xml version="1.0" encoding="utf-8"?>
<p:tagLst xmlns:a="http://schemas.openxmlformats.org/drawingml/2006/main" xmlns:r="http://schemas.openxmlformats.org/officeDocument/2006/relationships" xmlns:p="http://schemas.openxmlformats.org/presentationml/2006/main">
  <p:tag name="ISLIDE.ICON" val="#64751;"/>
</p:tagLst>
</file>

<file path=ppt/tags/tag39.xml><?xml version="1.0" encoding="utf-8"?>
<p:tagLst xmlns:a="http://schemas.openxmlformats.org/drawingml/2006/main" xmlns:r="http://schemas.openxmlformats.org/officeDocument/2006/relationships" xmlns:p="http://schemas.openxmlformats.org/presentationml/2006/main">
  <p:tag name="ISLIDE.ICON" val="#64751;"/>
</p:tagLst>
</file>

<file path=ppt/tags/tag40.xml><?xml version="1.0" encoding="utf-8"?>
<p:tagLst xmlns:a="http://schemas.openxmlformats.org/drawingml/2006/main" xmlns:r="http://schemas.openxmlformats.org/officeDocument/2006/relationships" xmlns:p="http://schemas.openxmlformats.org/presentationml/2006/main">
  <p:tag name="ISLIDE.ICON" val="#64751;"/>
</p:tagLst>
</file>

<file path=ppt/tags/tag41.xml><?xml version="1.0" encoding="utf-8"?>
<p:tagLst xmlns:a="http://schemas.openxmlformats.org/drawingml/2006/main" xmlns:r="http://schemas.openxmlformats.org/officeDocument/2006/relationships" xmlns:p="http://schemas.openxmlformats.org/presentationml/2006/main">
  <p:tag name="ISLIDE.ICON" val="#64751;"/>
</p:tagLst>
</file>

<file path=ppt/tags/tag42.xml><?xml version="1.0" encoding="utf-8"?>
<p:tagLst xmlns:a="http://schemas.openxmlformats.org/drawingml/2006/main" xmlns:r="http://schemas.openxmlformats.org/officeDocument/2006/relationships" xmlns:p="http://schemas.openxmlformats.org/presentationml/2006/main">
  <p:tag name="ISLIDE.ICON" val="#64751;"/>
</p:tagLst>
</file>

<file path=ppt/tags/tag43.xml><?xml version="1.0" encoding="utf-8"?>
<p:tagLst xmlns:a="http://schemas.openxmlformats.org/drawingml/2006/main" xmlns:r="http://schemas.openxmlformats.org/officeDocument/2006/relationships" xmlns:p="http://schemas.openxmlformats.org/presentationml/2006/main">
  <p:tag name="ISLIDE.ICON" val="#64751;"/>
</p:tagLst>
</file>

<file path=ppt/tags/tag44.xml><?xml version="1.0" encoding="utf-8"?>
<p:tagLst xmlns:a="http://schemas.openxmlformats.org/drawingml/2006/main" xmlns:r="http://schemas.openxmlformats.org/officeDocument/2006/relationships" xmlns:p="http://schemas.openxmlformats.org/presentationml/2006/main">
  <p:tag name="ISLIDE.ICON" val="#64751;"/>
</p:tagLst>
</file>

<file path=ppt/tags/tag45.xml><?xml version="1.0" encoding="utf-8"?>
<p:tagLst xmlns:a="http://schemas.openxmlformats.org/drawingml/2006/main" xmlns:r="http://schemas.openxmlformats.org/officeDocument/2006/relationships" xmlns:p="http://schemas.openxmlformats.org/presentationml/2006/main">
  <p:tag name="ISLIDE.ICON" val="#64751;"/>
</p:tagLst>
</file>

<file path=ppt/tags/tag46.xml><?xml version="1.0" encoding="utf-8"?>
<p:tagLst xmlns:a="http://schemas.openxmlformats.org/drawingml/2006/main" xmlns:r="http://schemas.openxmlformats.org/officeDocument/2006/relationships" xmlns:p="http://schemas.openxmlformats.org/presentationml/2006/main">
  <p:tag name="ISLIDE.ICON" val="#64751;"/>
</p:tagLst>
</file>

<file path=ppt/tags/tag47.xml><?xml version="1.0" encoding="utf-8"?>
<p:tagLst xmlns:a="http://schemas.openxmlformats.org/drawingml/2006/main" xmlns:r="http://schemas.openxmlformats.org/officeDocument/2006/relationships" xmlns:p="http://schemas.openxmlformats.org/presentationml/2006/main">
  <p:tag name="ISLIDE.ICON" val="#64751;"/>
</p:tagLst>
</file>

<file path=ppt/tags/tag48.xml><?xml version="1.0" encoding="utf-8"?>
<p:tagLst xmlns:a="http://schemas.openxmlformats.org/drawingml/2006/main" xmlns:r="http://schemas.openxmlformats.org/officeDocument/2006/relationships" xmlns:p="http://schemas.openxmlformats.org/presentationml/2006/main">
  <p:tag name="ISLIDE.ICON" val="#64751;"/>
</p:tagLst>
</file>

<file path=ppt/tags/tag49.xml><?xml version="1.0" encoding="utf-8"?>
<p:tagLst xmlns:a="http://schemas.openxmlformats.org/drawingml/2006/main" xmlns:r="http://schemas.openxmlformats.org/officeDocument/2006/relationships" xmlns:p="http://schemas.openxmlformats.org/presentationml/2006/main">
  <p:tag name="ISLIDE.ICON" val="#64751;"/>
</p:tagLst>
</file>

<file path=ppt/tags/tag50.xml><?xml version="1.0" encoding="utf-8"?>
<p:tagLst xmlns:a="http://schemas.openxmlformats.org/drawingml/2006/main" xmlns:r="http://schemas.openxmlformats.org/officeDocument/2006/relationships" xmlns:p="http://schemas.openxmlformats.org/presentationml/2006/main">
  <p:tag name="ISLIDE.ICON" val="#64751;"/>
</p:tagLst>
</file>

<file path=ppt/tags/tag51.xml><?xml version="1.0" encoding="utf-8"?>
<p:tagLst xmlns:a="http://schemas.openxmlformats.org/drawingml/2006/main" xmlns:r="http://schemas.openxmlformats.org/officeDocument/2006/relationships" xmlns:p="http://schemas.openxmlformats.org/presentationml/2006/main">
  <p:tag name="ISLIDE.ICON" val="#64751;"/>
</p:tagLst>
</file>

<file path=ppt/tags/tag52.xml><?xml version="1.0" encoding="utf-8"?>
<p:tagLst xmlns:a="http://schemas.openxmlformats.org/drawingml/2006/main" xmlns:r="http://schemas.openxmlformats.org/officeDocument/2006/relationships" xmlns:p="http://schemas.openxmlformats.org/presentationml/2006/main">
  <p:tag name="ISLIDE.ICON" val="#64751;"/>
</p:tagLst>
</file>

<file path=ppt/tags/tag53.xml><?xml version="1.0" encoding="utf-8"?>
<p:tagLst xmlns:a="http://schemas.openxmlformats.org/drawingml/2006/main" xmlns:r="http://schemas.openxmlformats.org/officeDocument/2006/relationships" xmlns:p="http://schemas.openxmlformats.org/presentationml/2006/main">
  <p:tag name="ISLIDE.ICON" val="#64751;"/>
</p:tagLst>
</file>

<file path=ppt/tags/tag54.xml><?xml version="1.0" encoding="utf-8"?>
<p:tagLst xmlns:a="http://schemas.openxmlformats.org/drawingml/2006/main" xmlns:r="http://schemas.openxmlformats.org/officeDocument/2006/relationships" xmlns:p="http://schemas.openxmlformats.org/presentationml/2006/main">
  <p:tag name="ISLIDE.ICON" val="#64751;"/>
</p:tagLst>
</file>

<file path=ppt/tags/tag55.xml><?xml version="1.0" encoding="utf-8"?>
<p:tagLst xmlns:a="http://schemas.openxmlformats.org/drawingml/2006/main" xmlns:r="http://schemas.openxmlformats.org/officeDocument/2006/relationships" xmlns:p="http://schemas.openxmlformats.org/presentationml/2006/main">
  <p:tag name="ISLIDE.ICON" val="#64751;"/>
</p:tagLst>
</file>

<file path=ppt/tags/tag56.xml><?xml version="1.0" encoding="utf-8"?>
<p:tagLst xmlns:a="http://schemas.openxmlformats.org/drawingml/2006/main" xmlns:r="http://schemas.openxmlformats.org/officeDocument/2006/relationships" xmlns:p="http://schemas.openxmlformats.org/presentationml/2006/main">
  <p:tag name="ISLIDE.ICON" val="#64751;"/>
</p:tagLst>
</file>

<file path=ppt/tags/tag57.xml><?xml version="1.0" encoding="utf-8"?>
<p:tagLst xmlns:a="http://schemas.openxmlformats.org/drawingml/2006/main" xmlns:r="http://schemas.openxmlformats.org/officeDocument/2006/relationships" xmlns:p="http://schemas.openxmlformats.org/presentationml/2006/main">
  <p:tag name="ISLIDE.ICON" val="#64751;"/>
</p:tagLst>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F84D4D"/>
      </a:accent1>
      <a:accent2>
        <a:srgbClr val="FF6B42"/>
      </a:accent2>
      <a:accent3>
        <a:srgbClr val="5BA3EB"/>
      </a:accent3>
      <a:accent4>
        <a:srgbClr val="06BB9A"/>
      </a:accent4>
      <a:accent5>
        <a:srgbClr val="8E7EF0"/>
      </a:accent5>
      <a:accent6>
        <a:srgbClr val="F4B919"/>
      </a:accent6>
      <a:hlink>
        <a:srgbClr val="4472C4"/>
      </a:hlink>
      <a:folHlink>
        <a:srgbClr val="BFBFBF"/>
      </a:folHlink>
    </a:clrScheme>
    <a:fontScheme name="mgea0xa4">
      <a:majorFont>
        <a:latin typeface="Arial Narrow"/>
        <a:ea typeface="微软雅黑"/>
        <a:cs typeface=""/>
      </a:majorFont>
      <a:minorFont>
        <a:latin typeface="Arial Narrow"/>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7800</Words>
  <Application>Microsoft Office PowerPoint</Application>
  <PresentationFormat>宽屏</PresentationFormat>
  <Paragraphs>1136</Paragraphs>
  <Slides>57</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57</vt:i4>
      </vt:variant>
    </vt:vector>
  </HeadingPairs>
  <TitlesOfParts>
    <vt:vector size="65" baseType="lpstr">
      <vt:lpstr>等线</vt:lpstr>
      <vt:lpstr>微软雅黑</vt:lpstr>
      <vt:lpstr>Arial</vt:lpstr>
      <vt:lpstr>Arial Black</vt:lpstr>
      <vt:lpstr>Arial Narrow</vt:lpstr>
      <vt:lpstr>Impact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user0703</dc:creator>
  <cp:lastModifiedBy>Sonder Utopia</cp:lastModifiedBy>
  <cp:revision>95</cp:revision>
  <dcterms:created xsi:type="dcterms:W3CDTF">2021-12-18T00:21:00Z</dcterms:created>
  <dcterms:modified xsi:type="dcterms:W3CDTF">2025-12-24T05:20:52Z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208DAF508C684E15B93ADEE51A39E057</vt:lpwstr>
  </property>
  <property fmtid="{D5CDD505-2E9C-101B-9397-08002B2CF9AE}" pid="3" name="KSOProductBuildVer">
    <vt:lpwstr>2052-11.1.0.11744</vt:lpwstr>
  </property>
</Properties>
</file>