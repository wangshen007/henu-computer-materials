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81" r:id="rId2"/>
    <p:sldId id="316" r:id="rId3"/>
    <p:sldId id="326" r:id="rId4"/>
    <p:sldId id="327" r:id="rId5"/>
    <p:sldId id="328" r:id="rId6"/>
    <p:sldId id="334" r:id="rId7"/>
    <p:sldId id="340" r:id="rId8"/>
    <p:sldId id="295" r:id="rId9"/>
    <p:sldId id="357" r:id="rId10"/>
    <p:sldId id="358" r:id="rId11"/>
    <p:sldId id="367" r:id="rId12"/>
    <p:sldId id="372" r:id="rId13"/>
    <p:sldId id="373" r:id="rId14"/>
    <p:sldId id="374" r:id="rId15"/>
    <p:sldId id="375" r:id="rId16"/>
    <p:sldId id="376" r:id="rId17"/>
    <p:sldId id="377" r:id="rId18"/>
    <p:sldId id="379" r:id="rId19"/>
    <p:sldId id="382" r:id="rId20"/>
    <p:sldId id="385" r:id="rId21"/>
    <p:sldId id="390" r:id="rId22"/>
    <p:sldId id="391" r:id="rId23"/>
    <p:sldId id="392" r:id="rId24"/>
    <p:sldId id="397" r:id="rId25"/>
    <p:sldId id="404" r:id="rId26"/>
    <p:sldId id="405" r:id="rId27"/>
    <p:sldId id="411" r:id="rId28"/>
    <p:sldId id="416" r:id="rId29"/>
    <p:sldId id="421" r:id="rId30"/>
    <p:sldId id="423" r:id="rId31"/>
    <p:sldId id="424" r:id="rId32"/>
    <p:sldId id="427" r:id="rId33"/>
    <p:sldId id="428" r:id="rId34"/>
    <p:sldId id="455" r:id="rId35"/>
    <p:sldId id="461" r:id="rId36"/>
    <p:sldId id="462" r:id="rId37"/>
    <p:sldId id="465" r:id="rId38"/>
    <p:sldId id="466" r:id="rId39"/>
    <p:sldId id="468" r:id="rId40"/>
    <p:sldId id="472" r:id="rId41"/>
    <p:sldId id="473" r:id="rId42"/>
    <p:sldId id="474" r:id="rId43"/>
  </p:sldIdLst>
  <p:sldSz cx="12192000" cy="6858000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  <p15:guide id="2" pos="3845">
          <p15:clr>
            <a:srgbClr val="A4A3A4"/>
          </p15:clr>
        </p15:guide>
        <p15:guide id="3" pos="186">
          <p15:clr>
            <a:srgbClr val="A4A3A4"/>
          </p15:clr>
        </p15:guide>
        <p15:guide id="4" pos="7488">
          <p15:clr>
            <a:srgbClr val="A4A3A4"/>
          </p15:clr>
        </p15:guide>
        <p15:guide id="5" orient="horz" pos="465">
          <p15:clr>
            <a:srgbClr val="A4A3A4"/>
          </p15:clr>
        </p15:guide>
        <p15:guide id="6" orient="horz" pos="4104">
          <p15:clr>
            <a:srgbClr val="A4A3A4"/>
          </p15:clr>
        </p15:guide>
        <p15:guide id="7" orient="horz" pos="403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7ADA"/>
    <a:srgbClr val="8ACF57"/>
    <a:srgbClr val="00A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7" d="100"/>
          <a:sy n="87" d="100"/>
        </p:scale>
        <p:origin x="668" y="40"/>
      </p:cViewPr>
      <p:guideLst>
        <p:guide orient="horz" pos="2251"/>
        <p:guide pos="3845"/>
        <p:guide pos="186"/>
        <p:guide pos="7488"/>
        <p:guide orient="horz" pos="465"/>
        <p:guide orient="horz" pos="4104"/>
        <p:guide orient="horz" pos="403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C88A2-F8A5-4B5C-8EB3-EEEC4B3A6512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E7FE7-3129-4146-94F4-2216233FBB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61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D80C8F-16B9-4070-8C79-DDB0E9D08CF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915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E0FC4ED-8DEE-4F66-89DE-3B7C9AA7B1E2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1CCCD92-2F31-47A7-BAE3-ED1EDA3B9FF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8120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63500"/>
            <a:ext cx="12207240" cy="415290"/>
          </a:xfrm>
          <a:prstGeom prst="rect">
            <a:avLst/>
          </a:prstGeom>
          <a:solidFill>
            <a:srgbClr val="1B7ADA"/>
          </a:solidFill>
          <a:ln>
            <a:solidFill>
              <a:srgbClr val="1B7AD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/>
              <a:t>深入浅出计算机网络</a:t>
            </a:r>
            <a:r>
              <a:rPr lang="zh-CN" altLang="en-US" b="1"/>
              <a:t>（微课视频版）</a:t>
            </a:r>
          </a:p>
        </p:txBody>
      </p:sp>
      <p:sp>
        <p:nvSpPr>
          <p:cNvPr id="6" name="矩形 5"/>
          <p:cNvSpPr/>
          <p:nvPr userDrawn="1"/>
        </p:nvSpPr>
        <p:spPr>
          <a:xfrm>
            <a:off x="132080" y="0"/>
            <a:ext cx="547200" cy="547200"/>
          </a:xfrm>
          <a:prstGeom prst="rect">
            <a:avLst/>
          </a:prstGeom>
          <a:solidFill>
            <a:srgbClr val="8ACF57"/>
          </a:solidFill>
          <a:ln>
            <a:solidFill>
              <a:srgbClr val="8ACF57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975215" y="147320"/>
            <a:ext cx="76200" cy="2984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55555" y="86995"/>
            <a:ext cx="1994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第</a:t>
            </a:r>
            <a:r>
              <a:rPr lang="en-US" altLang="zh-CN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1</a:t>
            </a:r>
            <a:r>
              <a:rPr lang="zh-CN" altLang="en-US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章</a:t>
            </a:r>
            <a:r>
              <a:rPr lang="en-US" altLang="zh-CN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概述</a:t>
            </a:r>
          </a:p>
        </p:txBody>
      </p:sp>
      <p:pic>
        <p:nvPicPr>
          <p:cNvPr id="11" name="图片 10" descr="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308" y="6414723"/>
            <a:ext cx="1882140" cy="44196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CCA885B-1FAA-25AA-9061-3ED522222E6E}"/>
              </a:ext>
            </a:extLst>
          </p:cNvPr>
          <p:cNvSpPr txBox="1"/>
          <p:nvPr userDrawn="1"/>
        </p:nvSpPr>
        <p:spPr>
          <a:xfrm>
            <a:off x="10365377" y="6486579"/>
            <a:ext cx="182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课件制作：高军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13.png"/><Relationship Id="rId18" Type="http://schemas.openxmlformats.org/officeDocument/2006/relationships/image" Target="../media/image25.svg"/><Relationship Id="rId3" Type="http://schemas.openxmlformats.org/officeDocument/2006/relationships/image" Target="../media/image5.png"/><Relationship Id="rId21" Type="http://schemas.openxmlformats.org/officeDocument/2006/relationships/image" Target="../media/image28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17" Type="http://schemas.openxmlformats.org/officeDocument/2006/relationships/image" Target="../media/image24.png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4.svg"/><Relationship Id="rId20" Type="http://schemas.openxmlformats.org/officeDocument/2006/relationships/image" Target="../media/image27.svg"/><Relationship Id="rId1" Type="http://schemas.openxmlformats.org/officeDocument/2006/relationships/tags" Target="../tags/tag7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3.png"/><Relationship Id="rId10" Type="http://schemas.openxmlformats.org/officeDocument/2006/relationships/image" Target="../media/image21.svg"/><Relationship Id="rId19" Type="http://schemas.openxmlformats.org/officeDocument/2006/relationships/image" Target="../media/image26.png"/><Relationship Id="rId4" Type="http://schemas.openxmlformats.org/officeDocument/2006/relationships/image" Target="../media/image6.svg"/><Relationship Id="rId9" Type="http://schemas.openxmlformats.org/officeDocument/2006/relationships/image" Target="../media/image20.png"/><Relationship Id="rId14" Type="http://schemas.openxmlformats.org/officeDocument/2006/relationships/image" Target="../media/image14.svg"/><Relationship Id="rId22" Type="http://schemas.openxmlformats.org/officeDocument/2006/relationships/image" Target="../media/image2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410.png"/><Relationship Id="rId7" Type="http://schemas.openxmlformats.org/officeDocument/2006/relationships/image" Target="../media/image8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Relationship Id="rId6" Type="http://schemas.openxmlformats.org/officeDocument/2006/relationships/image" Target="../media/image70.png"/><Relationship Id="rId5" Type="http://schemas.openxmlformats.org/officeDocument/2006/relationships/image" Target="../media/image66.png"/><Relationship Id="rId10" Type="http://schemas.openxmlformats.org/officeDocument/2006/relationships/image" Target="../media/image110.png"/><Relationship Id="rId4" Type="http://schemas.openxmlformats.org/officeDocument/2006/relationships/image" Target="../media/image500.png"/><Relationship Id="rId9" Type="http://schemas.openxmlformats.org/officeDocument/2006/relationships/image" Target="../media/image10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png"/><Relationship Id="rId3" Type="http://schemas.openxmlformats.org/officeDocument/2006/relationships/image" Target="../media/image7.png"/><Relationship Id="rId7" Type="http://schemas.openxmlformats.org/officeDocument/2006/relationships/image" Target="../media/image4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7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6" Type="http://schemas.openxmlformats.org/officeDocument/2006/relationships/image" Target="../media/image360.png"/><Relationship Id="rId5" Type="http://schemas.openxmlformats.org/officeDocument/2006/relationships/image" Target="../media/image350.png"/><Relationship Id="rId4" Type="http://schemas.openxmlformats.org/officeDocument/2006/relationships/image" Target="../media/image3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Relationship Id="rId5" Type="http://schemas.openxmlformats.org/officeDocument/2006/relationships/image" Target="../media/image68.png"/><Relationship Id="rId4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Relationship Id="rId4" Type="http://schemas.openxmlformats.org/officeDocument/2006/relationships/image" Target="../media/image9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40.png"/><Relationship Id="rId7" Type="http://schemas.openxmlformats.org/officeDocument/2006/relationships/image" Target="../media/image18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10" Type="http://schemas.openxmlformats.org/officeDocument/2006/relationships/image" Target="../media/image210.png"/><Relationship Id="rId4" Type="http://schemas.openxmlformats.org/officeDocument/2006/relationships/image" Target="../media/image150.png"/><Relationship Id="rId9" Type="http://schemas.openxmlformats.org/officeDocument/2006/relationships/image" Target="../media/image20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Relationship Id="rId4" Type="http://schemas.openxmlformats.org/officeDocument/2006/relationships/image" Target="../media/image6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5.png"/><Relationship Id="rId7" Type="http://schemas.openxmlformats.org/officeDocument/2006/relationships/image" Target="../media/image4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10" Type="http://schemas.openxmlformats.org/officeDocument/2006/relationships/image" Target="../media/image49.svg"/><Relationship Id="rId4" Type="http://schemas.openxmlformats.org/officeDocument/2006/relationships/image" Target="../media/image6.svg"/><Relationship Id="rId9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0.png"/><Relationship Id="rId7" Type="http://schemas.openxmlformats.org/officeDocument/2006/relationships/image" Target="../media/image8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7.xml"/><Relationship Id="rId6" Type="http://schemas.openxmlformats.org/officeDocument/2006/relationships/image" Target="../media/image7.png"/><Relationship Id="rId11" Type="http://schemas.openxmlformats.org/officeDocument/2006/relationships/image" Target="../media/image14.svg"/><Relationship Id="rId5" Type="http://schemas.openxmlformats.org/officeDocument/2006/relationships/image" Target="../media/image52.jpg"/><Relationship Id="rId10" Type="http://schemas.openxmlformats.org/officeDocument/2006/relationships/image" Target="../media/image13.png"/><Relationship Id="rId4" Type="http://schemas.openxmlformats.org/officeDocument/2006/relationships/image" Target="../media/image51.jpeg"/><Relationship Id="rId9" Type="http://schemas.openxmlformats.org/officeDocument/2006/relationships/image" Target="../media/image6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8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54.pn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0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8.svg"/><Relationship Id="rId4" Type="http://schemas.openxmlformats.org/officeDocument/2006/relationships/image" Target="../media/image55.png"/><Relationship Id="rId9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3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5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6.sv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>
            <a:extLst>
              <a:ext uri="{FF2B5EF4-FFF2-40B4-BE49-F238E27FC236}">
                <a16:creationId xmlns:a16="http://schemas.microsoft.com/office/drawing/2014/main" id="{43CB5D9D-206A-F45E-6FD7-47705357A1DC}"/>
              </a:ext>
            </a:extLst>
          </p:cNvPr>
          <p:cNvGrpSpPr/>
          <p:nvPr/>
        </p:nvGrpSpPr>
        <p:grpSpPr>
          <a:xfrm>
            <a:off x="2060273" y="983481"/>
            <a:ext cx="8097766" cy="4841673"/>
            <a:chOff x="2060273" y="983481"/>
            <a:chExt cx="8097766" cy="4841673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E97D90D3-4F28-17DE-24CF-F808D309961E}"/>
                </a:ext>
              </a:extLst>
            </p:cNvPr>
            <p:cNvGrpSpPr/>
            <p:nvPr/>
          </p:nvGrpSpPr>
          <p:grpSpPr>
            <a:xfrm>
              <a:off x="2060273" y="983481"/>
              <a:ext cx="8097766" cy="499963"/>
              <a:chOff x="1592243" y="802566"/>
              <a:chExt cx="8097766" cy="499963"/>
            </a:xfrm>
          </p:grpSpPr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81BC43C-65D8-6884-30CF-35AEDC9722A5}"/>
                  </a:ext>
                </a:extLst>
              </p:cNvPr>
              <p:cNvSpPr/>
              <p:nvPr/>
            </p:nvSpPr>
            <p:spPr>
              <a:xfrm>
                <a:off x="1592243" y="802567"/>
                <a:ext cx="1027894" cy="499962"/>
              </a:xfrm>
              <a:prstGeom prst="rect">
                <a:avLst/>
              </a:prstGeom>
              <a:solidFill>
                <a:srgbClr val="1B7ADA"/>
              </a:solidFill>
              <a:ln>
                <a:solidFill>
                  <a:srgbClr val="1B7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spc="300" dirty="0">
                    <a:latin typeface="Impact" panose="020B0806030902050204" pitchFamily="34" charset="0"/>
                  </a:rPr>
                  <a:t>1.1</a:t>
                </a:r>
                <a:endParaRPr lang="zh-CN" altLang="en-US" sz="2400" b="1" spc="300" dirty="0">
                  <a:latin typeface="Impact" panose="020B0806030902050204" pitchFamily="34" charset="0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876B500-C048-C84B-AF98-80CEF8D7167E}"/>
                  </a:ext>
                </a:extLst>
              </p:cNvPr>
              <p:cNvSpPr/>
              <p:nvPr/>
            </p:nvSpPr>
            <p:spPr>
              <a:xfrm>
                <a:off x="2620137" y="802566"/>
                <a:ext cx="7069872" cy="499962"/>
              </a:xfrm>
              <a:prstGeom prst="rect">
                <a:avLst/>
              </a:prstGeom>
              <a:noFill/>
              <a:ln>
                <a:solidFill>
                  <a:srgbClr val="1B7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spc="300" dirty="0">
                    <a:solidFill>
                      <a:schemeClr val="tx1"/>
                    </a:solidFill>
                    <a:latin typeface="Impact" panose="020B0806030902050204" pitchFamily="34" charset="0"/>
                  </a:rPr>
                  <a:t>  </a:t>
                </a:r>
                <a:r>
                  <a:rPr lang="zh-CN" altLang="en-US" sz="2400" b="1" spc="300" dirty="0">
                    <a:solidFill>
                      <a:schemeClr val="tx1"/>
                    </a:solidFill>
                    <a:latin typeface="Impact" panose="020B0806030902050204" pitchFamily="34" charset="0"/>
                  </a:rPr>
                  <a:t>信息时代的计算机网络</a:t>
                </a:r>
                <a:endParaRPr lang="zh-CN" altLang="en-US" sz="2800" b="1" spc="300" dirty="0">
                  <a:solidFill>
                    <a:schemeClr val="tx1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522EA375-425B-EBE5-994B-A326B166234B}"/>
                </a:ext>
              </a:extLst>
            </p:cNvPr>
            <p:cNvGrpSpPr/>
            <p:nvPr/>
          </p:nvGrpSpPr>
          <p:grpSpPr>
            <a:xfrm>
              <a:off x="2060273" y="1707099"/>
              <a:ext cx="8097766" cy="499963"/>
              <a:chOff x="1592243" y="802566"/>
              <a:chExt cx="8097766" cy="499963"/>
            </a:xfrm>
          </p:grpSpPr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E160CE29-F603-2B78-1822-7D9DA3FA203B}"/>
                  </a:ext>
                </a:extLst>
              </p:cNvPr>
              <p:cNvSpPr/>
              <p:nvPr/>
            </p:nvSpPr>
            <p:spPr>
              <a:xfrm>
                <a:off x="1592243" y="802567"/>
                <a:ext cx="1027894" cy="499962"/>
              </a:xfrm>
              <a:prstGeom prst="rect">
                <a:avLst/>
              </a:prstGeom>
              <a:solidFill>
                <a:srgbClr val="1B7ADA"/>
              </a:solidFill>
              <a:ln>
                <a:solidFill>
                  <a:srgbClr val="1B7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spc="300" dirty="0">
                    <a:latin typeface="Impact" panose="020B0806030902050204" pitchFamily="34" charset="0"/>
                  </a:rPr>
                  <a:t>1.2</a:t>
                </a:r>
                <a:endParaRPr lang="zh-CN" altLang="en-US" sz="2400" b="1" spc="300" dirty="0">
                  <a:latin typeface="Impact" panose="020B0806030902050204" pitchFamily="34" charset="0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600EB7DE-FD2C-9EC3-6191-71A0A273269C}"/>
                  </a:ext>
                </a:extLst>
              </p:cNvPr>
              <p:cNvSpPr/>
              <p:nvPr/>
            </p:nvSpPr>
            <p:spPr>
              <a:xfrm>
                <a:off x="2620137" y="802566"/>
                <a:ext cx="7069872" cy="499962"/>
              </a:xfrm>
              <a:prstGeom prst="rect">
                <a:avLst/>
              </a:prstGeom>
              <a:noFill/>
              <a:ln>
                <a:solidFill>
                  <a:srgbClr val="1B7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spc="300" dirty="0">
                    <a:solidFill>
                      <a:schemeClr val="tx1"/>
                    </a:solidFill>
                    <a:latin typeface="Impact" panose="020B0806030902050204" pitchFamily="34" charset="0"/>
                  </a:rPr>
                  <a:t>  </a:t>
                </a:r>
                <a:r>
                  <a:rPr lang="zh-CN" altLang="en-US" sz="2400" b="1" spc="300" dirty="0">
                    <a:solidFill>
                      <a:schemeClr val="tx1"/>
                    </a:solidFill>
                    <a:latin typeface="Impact" panose="020B0806030902050204" pitchFamily="34" charset="0"/>
                  </a:rPr>
                  <a:t>因特网概述</a:t>
                </a:r>
                <a:endParaRPr lang="zh-CN" altLang="en-US" sz="2800" b="1" spc="300" dirty="0">
                  <a:solidFill>
                    <a:schemeClr val="tx1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BA9F9229-2EC8-DD1B-EFB0-3034B5674C7A}"/>
                </a:ext>
              </a:extLst>
            </p:cNvPr>
            <p:cNvGrpSpPr/>
            <p:nvPr/>
          </p:nvGrpSpPr>
          <p:grpSpPr>
            <a:xfrm>
              <a:off x="2060273" y="2430717"/>
              <a:ext cx="8097766" cy="499963"/>
              <a:chOff x="1592243" y="802566"/>
              <a:chExt cx="8097766" cy="499963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98C9F364-CDF7-6E9F-E913-0A7E2327D124}"/>
                  </a:ext>
                </a:extLst>
              </p:cNvPr>
              <p:cNvSpPr/>
              <p:nvPr/>
            </p:nvSpPr>
            <p:spPr>
              <a:xfrm>
                <a:off x="1592243" y="802567"/>
                <a:ext cx="1027894" cy="499962"/>
              </a:xfrm>
              <a:prstGeom prst="rect">
                <a:avLst/>
              </a:prstGeom>
              <a:solidFill>
                <a:srgbClr val="1B7ADA"/>
              </a:solidFill>
              <a:ln>
                <a:solidFill>
                  <a:srgbClr val="1B7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spc="300" dirty="0">
                    <a:latin typeface="Impact" panose="020B0806030902050204" pitchFamily="34" charset="0"/>
                  </a:rPr>
                  <a:t>1.3</a:t>
                </a:r>
                <a:endParaRPr lang="zh-CN" altLang="en-US" sz="2400" b="1" spc="300" dirty="0">
                  <a:latin typeface="Impact" panose="020B0806030902050204" pitchFamily="34" charset="0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F0AFF96E-5959-29F9-1FA4-CC0EB9518B41}"/>
                  </a:ext>
                </a:extLst>
              </p:cNvPr>
              <p:cNvSpPr/>
              <p:nvPr/>
            </p:nvSpPr>
            <p:spPr>
              <a:xfrm>
                <a:off x="2620137" y="802566"/>
                <a:ext cx="7069872" cy="499962"/>
              </a:xfrm>
              <a:prstGeom prst="rect">
                <a:avLst/>
              </a:prstGeom>
              <a:noFill/>
              <a:ln>
                <a:solidFill>
                  <a:srgbClr val="1B7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spc="300" dirty="0">
                    <a:solidFill>
                      <a:schemeClr val="tx1"/>
                    </a:solidFill>
                    <a:latin typeface="Impact" panose="020B0806030902050204" pitchFamily="34" charset="0"/>
                  </a:rPr>
                  <a:t>  </a:t>
                </a:r>
                <a:r>
                  <a:rPr lang="zh-CN" altLang="en-US" sz="2400" b="1" spc="300" dirty="0">
                    <a:solidFill>
                      <a:schemeClr val="tx1"/>
                    </a:solidFill>
                    <a:latin typeface="Impact" panose="020B0806030902050204" pitchFamily="34" charset="0"/>
                  </a:rPr>
                  <a:t>电路交换、分组交换和报文交换</a:t>
                </a:r>
                <a:endParaRPr lang="zh-CN" altLang="en-US" sz="2800" b="1" spc="300" dirty="0">
                  <a:solidFill>
                    <a:schemeClr val="tx1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68165227-17FB-6EA8-BF34-134A351EAF51}"/>
                </a:ext>
              </a:extLst>
            </p:cNvPr>
            <p:cNvGrpSpPr/>
            <p:nvPr/>
          </p:nvGrpSpPr>
          <p:grpSpPr>
            <a:xfrm>
              <a:off x="2060273" y="3154335"/>
              <a:ext cx="8097766" cy="499963"/>
              <a:chOff x="1592243" y="802566"/>
              <a:chExt cx="8097766" cy="499963"/>
            </a:xfrm>
          </p:grpSpPr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95E473DC-9EAF-CD7A-7193-435D3D1D49C1}"/>
                  </a:ext>
                </a:extLst>
              </p:cNvPr>
              <p:cNvSpPr/>
              <p:nvPr/>
            </p:nvSpPr>
            <p:spPr>
              <a:xfrm>
                <a:off x="1592243" y="802567"/>
                <a:ext cx="1027894" cy="499962"/>
              </a:xfrm>
              <a:prstGeom prst="rect">
                <a:avLst/>
              </a:prstGeom>
              <a:solidFill>
                <a:srgbClr val="1B7ADA"/>
              </a:solidFill>
              <a:ln>
                <a:solidFill>
                  <a:srgbClr val="1B7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spc="300" dirty="0">
                    <a:latin typeface="Impact" panose="020B0806030902050204" pitchFamily="34" charset="0"/>
                  </a:rPr>
                  <a:t>1.4</a:t>
                </a:r>
                <a:endParaRPr lang="zh-CN" altLang="en-US" sz="2400" b="1" spc="300" dirty="0">
                  <a:latin typeface="Impact" panose="020B0806030902050204" pitchFamily="34" charset="0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26D1473E-A333-60C3-7A66-F7C7D971F83E}"/>
                  </a:ext>
                </a:extLst>
              </p:cNvPr>
              <p:cNvSpPr/>
              <p:nvPr/>
            </p:nvSpPr>
            <p:spPr>
              <a:xfrm>
                <a:off x="2620137" y="802566"/>
                <a:ext cx="7069872" cy="499962"/>
              </a:xfrm>
              <a:prstGeom prst="rect">
                <a:avLst/>
              </a:prstGeom>
              <a:noFill/>
              <a:ln>
                <a:solidFill>
                  <a:srgbClr val="1B7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spc="300" dirty="0">
                    <a:solidFill>
                      <a:schemeClr val="tx1"/>
                    </a:solidFill>
                    <a:latin typeface="Impact" panose="020B0806030902050204" pitchFamily="34" charset="0"/>
                  </a:rPr>
                  <a:t>  </a:t>
                </a:r>
                <a:r>
                  <a:rPr lang="zh-CN" altLang="en-US" sz="2400" b="1" spc="300" dirty="0">
                    <a:solidFill>
                      <a:schemeClr val="tx1"/>
                    </a:solidFill>
                    <a:latin typeface="Impact" panose="020B0806030902050204" pitchFamily="34" charset="0"/>
                  </a:rPr>
                  <a:t>计算机网络的定义和分类</a:t>
                </a:r>
                <a:endParaRPr lang="zh-CN" altLang="en-US" sz="2800" b="1" spc="300" dirty="0">
                  <a:solidFill>
                    <a:schemeClr val="tx1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46931709-DD88-7F00-0577-908C3AFD8959}"/>
                </a:ext>
              </a:extLst>
            </p:cNvPr>
            <p:cNvGrpSpPr/>
            <p:nvPr/>
          </p:nvGrpSpPr>
          <p:grpSpPr>
            <a:xfrm>
              <a:off x="2060273" y="3877953"/>
              <a:ext cx="8097766" cy="499963"/>
              <a:chOff x="1592243" y="802566"/>
              <a:chExt cx="8097766" cy="499963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5D60970F-F813-541A-0E36-9870EFE2EDD7}"/>
                  </a:ext>
                </a:extLst>
              </p:cNvPr>
              <p:cNvSpPr/>
              <p:nvPr/>
            </p:nvSpPr>
            <p:spPr>
              <a:xfrm>
                <a:off x="1592243" y="802567"/>
                <a:ext cx="1027894" cy="499962"/>
              </a:xfrm>
              <a:prstGeom prst="rect">
                <a:avLst/>
              </a:prstGeom>
              <a:solidFill>
                <a:srgbClr val="1B7ADA"/>
              </a:solidFill>
              <a:ln>
                <a:solidFill>
                  <a:srgbClr val="1B7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spc="300" dirty="0">
                    <a:latin typeface="Impact" panose="020B0806030902050204" pitchFamily="34" charset="0"/>
                  </a:rPr>
                  <a:t>1.5</a:t>
                </a:r>
                <a:endParaRPr lang="zh-CN" altLang="en-US" sz="2400" b="1" spc="300" dirty="0">
                  <a:latin typeface="Impact" panose="020B0806030902050204" pitchFamily="34" charset="0"/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2FCE4D8E-C4EC-E759-B0C8-261A34AB25BC}"/>
                  </a:ext>
                </a:extLst>
              </p:cNvPr>
              <p:cNvSpPr/>
              <p:nvPr/>
            </p:nvSpPr>
            <p:spPr>
              <a:xfrm>
                <a:off x="2620137" y="802566"/>
                <a:ext cx="7069872" cy="499962"/>
              </a:xfrm>
              <a:prstGeom prst="rect">
                <a:avLst/>
              </a:prstGeom>
              <a:noFill/>
              <a:ln>
                <a:solidFill>
                  <a:srgbClr val="1B7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spc="300" dirty="0">
                    <a:solidFill>
                      <a:schemeClr val="tx1"/>
                    </a:solidFill>
                    <a:latin typeface="Impact" panose="020B0806030902050204" pitchFamily="34" charset="0"/>
                  </a:rPr>
                  <a:t>  </a:t>
                </a:r>
                <a:r>
                  <a:rPr lang="zh-CN" altLang="en-US" sz="2400" b="1" spc="300" dirty="0">
                    <a:solidFill>
                      <a:schemeClr val="tx1"/>
                    </a:solidFill>
                    <a:latin typeface="Impact" panose="020B0806030902050204" pitchFamily="34" charset="0"/>
                  </a:rPr>
                  <a:t>计算机网络的性能指标</a:t>
                </a:r>
                <a:endParaRPr lang="zh-CN" altLang="en-US" sz="2800" b="1" spc="300" dirty="0">
                  <a:solidFill>
                    <a:schemeClr val="tx1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6BA3300E-E244-F10A-38F2-CDFBA01C9CBF}"/>
                </a:ext>
              </a:extLst>
            </p:cNvPr>
            <p:cNvGrpSpPr/>
            <p:nvPr/>
          </p:nvGrpSpPr>
          <p:grpSpPr>
            <a:xfrm>
              <a:off x="2060273" y="4601571"/>
              <a:ext cx="8097766" cy="499963"/>
              <a:chOff x="1592243" y="802566"/>
              <a:chExt cx="8097766" cy="499963"/>
            </a:xfrm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244B0F23-C01E-1085-C8A5-293E5358E400}"/>
                  </a:ext>
                </a:extLst>
              </p:cNvPr>
              <p:cNvSpPr/>
              <p:nvPr/>
            </p:nvSpPr>
            <p:spPr>
              <a:xfrm>
                <a:off x="1592243" y="802567"/>
                <a:ext cx="1027894" cy="499962"/>
              </a:xfrm>
              <a:prstGeom prst="rect">
                <a:avLst/>
              </a:prstGeom>
              <a:solidFill>
                <a:srgbClr val="1B7ADA"/>
              </a:solidFill>
              <a:ln>
                <a:solidFill>
                  <a:srgbClr val="1B7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spc="300" dirty="0">
                    <a:latin typeface="Impact" panose="020B0806030902050204" pitchFamily="34" charset="0"/>
                  </a:rPr>
                  <a:t>1.6</a:t>
                </a:r>
                <a:endParaRPr lang="zh-CN" altLang="en-US" sz="2400" b="1" spc="300" dirty="0">
                  <a:latin typeface="Impact" panose="020B0806030902050204" pitchFamily="34" charset="0"/>
                </a:endParaRPr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A0A0606F-88A2-D6A6-362B-80D0E7338C80}"/>
                  </a:ext>
                </a:extLst>
              </p:cNvPr>
              <p:cNvSpPr/>
              <p:nvPr/>
            </p:nvSpPr>
            <p:spPr>
              <a:xfrm>
                <a:off x="2620137" y="802566"/>
                <a:ext cx="7069872" cy="499962"/>
              </a:xfrm>
              <a:prstGeom prst="rect">
                <a:avLst/>
              </a:prstGeom>
              <a:noFill/>
              <a:ln>
                <a:solidFill>
                  <a:srgbClr val="1B7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spc="300" dirty="0">
                    <a:solidFill>
                      <a:schemeClr val="tx1"/>
                    </a:solidFill>
                    <a:latin typeface="Impact" panose="020B0806030902050204" pitchFamily="34" charset="0"/>
                  </a:rPr>
                  <a:t>  </a:t>
                </a:r>
                <a:r>
                  <a:rPr lang="zh-CN" altLang="en-US" sz="2400" b="1" spc="300" dirty="0">
                    <a:solidFill>
                      <a:schemeClr val="tx1"/>
                    </a:solidFill>
                    <a:latin typeface="Impact" panose="020B0806030902050204" pitchFamily="34" charset="0"/>
                  </a:rPr>
                  <a:t>计算机网络的体系结构</a:t>
                </a:r>
                <a:endParaRPr lang="zh-CN" altLang="en-US" sz="2800" b="1" spc="300" dirty="0">
                  <a:solidFill>
                    <a:schemeClr val="tx1"/>
                  </a:solidFill>
                  <a:latin typeface="Impact" panose="020B0806030902050204" pitchFamily="34" charset="0"/>
                </a:endParaRP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D5BB7472-EC0D-1FE7-7541-E1A4C2365876}"/>
                </a:ext>
              </a:extLst>
            </p:cNvPr>
            <p:cNvGrpSpPr/>
            <p:nvPr/>
          </p:nvGrpSpPr>
          <p:grpSpPr>
            <a:xfrm>
              <a:off x="2060273" y="5325191"/>
              <a:ext cx="8097766" cy="499963"/>
              <a:chOff x="1592243" y="802566"/>
              <a:chExt cx="8097766" cy="499963"/>
            </a:xfrm>
          </p:grpSpPr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451DAE10-368F-6AE7-777C-7521FD9C1343}"/>
                  </a:ext>
                </a:extLst>
              </p:cNvPr>
              <p:cNvSpPr/>
              <p:nvPr/>
            </p:nvSpPr>
            <p:spPr>
              <a:xfrm>
                <a:off x="1592243" y="802567"/>
                <a:ext cx="1027894" cy="499962"/>
              </a:xfrm>
              <a:prstGeom prst="rect">
                <a:avLst/>
              </a:prstGeom>
              <a:solidFill>
                <a:srgbClr val="1B7ADA"/>
              </a:solidFill>
              <a:ln>
                <a:solidFill>
                  <a:srgbClr val="1B7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 spc="300" dirty="0">
                    <a:latin typeface="Impact" panose="020B0806030902050204" pitchFamily="34" charset="0"/>
                  </a:rPr>
                  <a:t>1.7</a:t>
                </a:r>
                <a:endParaRPr lang="zh-CN" altLang="en-US" sz="2400" b="1" spc="300" dirty="0">
                  <a:latin typeface="Impact" panose="020B0806030902050204" pitchFamily="34" charset="0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9A1D9ED8-713E-9CC6-E24A-C830101530BC}"/>
                  </a:ext>
                </a:extLst>
              </p:cNvPr>
              <p:cNvSpPr/>
              <p:nvPr/>
            </p:nvSpPr>
            <p:spPr>
              <a:xfrm>
                <a:off x="2620137" y="802566"/>
                <a:ext cx="7069872" cy="499962"/>
              </a:xfrm>
              <a:prstGeom prst="rect">
                <a:avLst/>
              </a:prstGeom>
              <a:noFill/>
              <a:ln>
                <a:solidFill>
                  <a:srgbClr val="1B7A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spc="300" dirty="0">
                    <a:solidFill>
                      <a:schemeClr val="tx1"/>
                    </a:solidFill>
                    <a:latin typeface="Impact" panose="020B0806030902050204" pitchFamily="34" charset="0"/>
                  </a:rPr>
                  <a:t>  </a:t>
                </a:r>
                <a:r>
                  <a:rPr lang="zh-CN" altLang="en-US" sz="2400" b="1" spc="300" dirty="0">
                    <a:solidFill>
                      <a:schemeClr val="tx1"/>
                    </a:solidFill>
                    <a:latin typeface="Impact" panose="020B0806030902050204" pitchFamily="34" charset="0"/>
                  </a:rPr>
                  <a:t>我国的计算机网络发展情况</a:t>
                </a:r>
                <a:endParaRPr lang="zh-CN" altLang="en-US" sz="2800" b="1" spc="300" dirty="0">
                  <a:solidFill>
                    <a:schemeClr val="tx1"/>
                  </a:solidFill>
                  <a:latin typeface="Impact" panose="020B080603090205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1959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0433978-D4FF-4481-942A-FB7DF64EFE10}"/>
              </a:ext>
            </a:extLst>
          </p:cNvPr>
          <p:cNvGrpSpPr/>
          <p:nvPr/>
        </p:nvGrpSpPr>
        <p:grpSpPr>
          <a:xfrm>
            <a:off x="1419321" y="1536690"/>
            <a:ext cx="9243743" cy="823148"/>
            <a:chOff x="1419321" y="1536690"/>
            <a:chExt cx="9243743" cy="823148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2619E62D-CD6C-422E-B8F6-7E9B934791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9321" y="1536691"/>
              <a:ext cx="823147" cy="8231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" name="Picture 2">
              <a:extLst>
                <a:ext uri="{FF2B5EF4-FFF2-40B4-BE49-F238E27FC236}">
                  <a16:creationId xmlns:a16="http://schemas.microsoft.com/office/drawing/2014/main" id="{F683475B-1921-4AAC-BBE8-DF5AB3611E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39917" y="1536690"/>
              <a:ext cx="823147" cy="8231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3">
                      <a:lumMod val="75000"/>
                    </a:schemeClr>
                  </a:solidFill>
                </a:rPr>
                <a:t>电路交换</a:t>
              </a:r>
              <a:r>
                <a:rPr lang="zh-CN" altLang="en-US" sz="2000" b="1" dirty="0"/>
                <a:t>、分组交换和报文交换</a:t>
              </a: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9828FF6-6EF5-446D-B438-0E9295C02515}"/>
              </a:ext>
            </a:extLst>
          </p:cNvPr>
          <p:cNvCxnSpPr>
            <a:cxnSpLocks/>
          </p:cNvCxnSpPr>
          <p:nvPr/>
        </p:nvCxnSpPr>
        <p:spPr>
          <a:xfrm>
            <a:off x="1028417" y="1149410"/>
            <a:ext cx="1003583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0E1718AF-A53A-40AC-BB51-19A67A91990F}"/>
              </a:ext>
            </a:extLst>
          </p:cNvPr>
          <p:cNvGrpSpPr/>
          <p:nvPr/>
        </p:nvGrpSpPr>
        <p:grpSpPr>
          <a:xfrm>
            <a:off x="5568329" y="2355252"/>
            <a:ext cx="1058779" cy="2144160"/>
            <a:chOff x="2487565" y="2623702"/>
            <a:chExt cx="1058779" cy="2144160"/>
          </a:xfrm>
        </p:grpSpPr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10B29CAF-C45F-454C-8022-D97502144A47}"/>
                </a:ext>
              </a:extLst>
            </p:cNvPr>
            <p:cNvGrpSpPr/>
            <p:nvPr/>
          </p:nvGrpSpPr>
          <p:grpSpPr>
            <a:xfrm>
              <a:off x="2611120" y="3429000"/>
              <a:ext cx="811671" cy="1338862"/>
              <a:chOff x="2021840" y="3429000"/>
              <a:chExt cx="811671" cy="1338862"/>
            </a:xfrm>
          </p:grpSpPr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D3B10D34-9860-4387-A8A6-5B14103DACAF}"/>
                  </a:ext>
                </a:extLst>
              </p:cNvPr>
              <p:cNvSpPr/>
              <p:nvPr/>
            </p:nvSpPr>
            <p:spPr>
              <a:xfrm>
                <a:off x="2123440" y="3429000"/>
                <a:ext cx="608471" cy="133886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9A7803F6-B0DA-4EB0-AB15-D67D37E9AEE0}"/>
                  </a:ext>
                </a:extLst>
              </p:cNvPr>
              <p:cNvGrpSpPr/>
              <p:nvPr/>
            </p:nvGrpSpPr>
            <p:grpSpPr>
              <a:xfrm>
                <a:off x="2731911" y="3462725"/>
                <a:ext cx="101600" cy="1276527"/>
                <a:chOff x="3747911" y="2522925"/>
                <a:chExt cx="101600" cy="1276527"/>
              </a:xfrm>
            </p:grpSpPr>
            <p:sp>
              <p:nvSpPr>
                <p:cNvPr id="80" name="椭圆 79">
                  <a:extLst>
                    <a:ext uri="{FF2B5EF4-FFF2-40B4-BE49-F238E27FC236}">
                      <a16:creationId xmlns:a16="http://schemas.microsoft.com/office/drawing/2014/main" id="{8CC4886B-E71B-4982-9263-32974354C6E5}"/>
                    </a:ext>
                  </a:extLst>
                </p:cNvPr>
                <p:cNvSpPr/>
                <p:nvPr/>
              </p:nvSpPr>
              <p:spPr>
                <a:xfrm>
                  <a:off x="3747911" y="2522925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椭圆 80">
                  <a:extLst>
                    <a:ext uri="{FF2B5EF4-FFF2-40B4-BE49-F238E27FC236}">
                      <a16:creationId xmlns:a16="http://schemas.microsoft.com/office/drawing/2014/main" id="{1C04F7C7-348F-46D3-894E-779EBB9AEACF}"/>
                    </a:ext>
                  </a:extLst>
                </p:cNvPr>
                <p:cNvSpPr/>
                <p:nvPr/>
              </p:nvSpPr>
              <p:spPr>
                <a:xfrm>
                  <a:off x="3747911" y="2816657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椭圆 81">
                  <a:extLst>
                    <a:ext uri="{FF2B5EF4-FFF2-40B4-BE49-F238E27FC236}">
                      <a16:creationId xmlns:a16="http://schemas.microsoft.com/office/drawing/2014/main" id="{8FFE8DE8-0877-4372-865B-D0C4D6979905}"/>
                    </a:ext>
                  </a:extLst>
                </p:cNvPr>
                <p:cNvSpPr/>
                <p:nvPr/>
              </p:nvSpPr>
              <p:spPr>
                <a:xfrm>
                  <a:off x="3747911" y="3110389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3" name="椭圆 82">
                  <a:extLst>
                    <a:ext uri="{FF2B5EF4-FFF2-40B4-BE49-F238E27FC236}">
                      <a16:creationId xmlns:a16="http://schemas.microsoft.com/office/drawing/2014/main" id="{0DAAB987-9BCC-4906-BA91-2A22FE0EEB44}"/>
                    </a:ext>
                  </a:extLst>
                </p:cNvPr>
                <p:cNvSpPr/>
                <p:nvPr/>
              </p:nvSpPr>
              <p:spPr>
                <a:xfrm>
                  <a:off x="3747911" y="3404121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4" name="椭圆 83">
                  <a:extLst>
                    <a:ext uri="{FF2B5EF4-FFF2-40B4-BE49-F238E27FC236}">
                      <a16:creationId xmlns:a16="http://schemas.microsoft.com/office/drawing/2014/main" id="{DF27C603-7A3A-4D52-82BA-80E692A23125}"/>
                    </a:ext>
                  </a:extLst>
                </p:cNvPr>
                <p:cNvSpPr/>
                <p:nvPr/>
              </p:nvSpPr>
              <p:spPr>
                <a:xfrm>
                  <a:off x="3747911" y="3697852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74" name="组合 73">
                <a:extLst>
                  <a:ext uri="{FF2B5EF4-FFF2-40B4-BE49-F238E27FC236}">
                    <a16:creationId xmlns:a16="http://schemas.microsoft.com/office/drawing/2014/main" id="{D1676E3C-7C77-44E2-B6E9-7D8549043703}"/>
                  </a:ext>
                </a:extLst>
              </p:cNvPr>
              <p:cNvGrpSpPr/>
              <p:nvPr/>
            </p:nvGrpSpPr>
            <p:grpSpPr>
              <a:xfrm>
                <a:off x="2021840" y="3462725"/>
                <a:ext cx="101600" cy="1276527"/>
                <a:chOff x="3747911" y="2522925"/>
                <a:chExt cx="101600" cy="1276527"/>
              </a:xfrm>
            </p:grpSpPr>
            <p:sp>
              <p:nvSpPr>
                <p:cNvPr id="75" name="椭圆 74">
                  <a:extLst>
                    <a:ext uri="{FF2B5EF4-FFF2-40B4-BE49-F238E27FC236}">
                      <a16:creationId xmlns:a16="http://schemas.microsoft.com/office/drawing/2014/main" id="{AAB00C96-930D-4CE4-AEB9-CDA282D08912}"/>
                    </a:ext>
                  </a:extLst>
                </p:cNvPr>
                <p:cNvSpPr/>
                <p:nvPr/>
              </p:nvSpPr>
              <p:spPr>
                <a:xfrm>
                  <a:off x="3747911" y="2522925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椭圆 75">
                  <a:extLst>
                    <a:ext uri="{FF2B5EF4-FFF2-40B4-BE49-F238E27FC236}">
                      <a16:creationId xmlns:a16="http://schemas.microsoft.com/office/drawing/2014/main" id="{D6647722-AAAE-4A36-8A71-D881D8018B8E}"/>
                    </a:ext>
                  </a:extLst>
                </p:cNvPr>
                <p:cNvSpPr/>
                <p:nvPr/>
              </p:nvSpPr>
              <p:spPr>
                <a:xfrm>
                  <a:off x="3747911" y="2816657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7" name="椭圆 76">
                  <a:extLst>
                    <a:ext uri="{FF2B5EF4-FFF2-40B4-BE49-F238E27FC236}">
                      <a16:creationId xmlns:a16="http://schemas.microsoft.com/office/drawing/2014/main" id="{472B26E5-92E5-4ABC-969F-AD674C981E7B}"/>
                    </a:ext>
                  </a:extLst>
                </p:cNvPr>
                <p:cNvSpPr/>
                <p:nvPr/>
              </p:nvSpPr>
              <p:spPr>
                <a:xfrm>
                  <a:off x="3747911" y="3110389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8" name="椭圆 77">
                  <a:extLst>
                    <a:ext uri="{FF2B5EF4-FFF2-40B4-BE49-F238E27FC236}">
                      <a16:creationId xmlns:a16="http://schemas.microsoft.com/office/drawing/2014/main" id="{4B468AEE-64A8-48E7-9985-13E835ADA1BB}"/>
                    </a:ext>
                  </a:extLst>
                </p:cNvPr>
                <p:cNvSpPr/>
                <p:nvPr/>
              </p:nvSpPr>
              <p:spPr>
                <a:xfrm>
                  <a:off x="3747911" y="3404121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椭圆 78">
                  <a:extLst>
                    <a:ext uri="{FF2B5EF4-FFF2-40B4-BE49-F238E27FC236}">
                      <a16:creationId xmlns:a16="http://schemas.microsoft.com/office/drawing/2014/main" id="{764A1804-12C4-4D5A-BB61-37F308053FE9}"/>
                    </a:ext>
                  </a:extLst>
                </p:cNvPr>
                <p:cNvSpPr/>
                <p:nvPr/>
              </p:nvSpPr>
              <p:spPr>
                <a:xfrm>
                  <a:off x="3747911" y="3697852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71" name="íşlïḍè">
              <a:extLst>
                <a:ext uri="{FF2B5EF4-FFF2-40B4-BE49-F238E27FC236}">
                  <a16:creationId xmlns:a16="http://schemas.microsoft.com/office/drawing/2014/main" id="{D3951ED9-1A42-45A2-A677-566D3C2C2A64}"/>
                </a:ext>
              </a:extLst>
            </p:cNvPr>
            <p:cNvSpPr txBox="1"/>
            <p:nvPr/>
          </p:nvSpPr>
          <p:spPr>
            <a:xfrm>
              <a:off x="2487565" y="2623702"/>
              <a:ext cx="1058779" cy="80791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zh-CN" altLang="en-US" b="1" dirty="0"/>
                <a:t>电话</a:t>
              </a:r>
              <a:endParaRPr lang="en-US" altLang="zh-CN" b="1" dirty="0"/>
            </a:p>
            <a:p>
              <a:pPr algn="ctr"/>
              <a:r>
                <a:rPr lang="zh-CN" altLang="en-US" b="1" dirty="0"/>
                <a:t>交换机</a:t>
              </a:r>
              <a:endParaRPr lang="en-US" altLang="zh-CN" b="1" dirty="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144B27D-FC75-4888-9EDE-2B67678E307D}"/>
              </a:ext>
            </a:extLst>
          </p:cNvPr>
          <p:cNvGrpSpPr/>
          <p:nvPr/>
        </p:nvGrpSpPr>
        <p:grpSpPr>
          <a:xfrm>
            <a:off x="3152567" y="2355252"/>
            <a:ext cx="1058779" cy="2144160"/>
            <a:chOff x="2487565" y="2623702"/>
            <a:chExt cx="1058779" cy="2144160"/>
          </a:xfrm>
        </p:grpSpPr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02663E8A-67E2-4AFE-BFF7-CCFA6E7379D5}"/>
                </a:ext>
              </a:extLst>
            </p:cNvPr>
            <p:cNvGrpSpPr/>
            <p:nvPr/>
          </p:nvGrpSpPr>
          <p:grpSpPr>
            <a:xfrm>
              <a:off x="2611120" y="3429000"/>
              <a:ext cx="811671" cy="1338862"/>
              <a:chOff x="2021840" y="3429000"/>
              <a:chExt cx="811671" cy="1338862"/>
            </a:xfrm>
          </p:grpSpPr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EC412657-E0A9-40AE-9DBA-83C52F3CEE6C}"/>
                  </a:ext>
                </a:extLst>
              </p:cNvPr>
              <p:cNvSpPr/>
              <p:nvPr/>
            </p:nvSpPr>
            <p:spPr>
              <a:xfrm>
                <a:off x="2123440" y="3429000"/>
                <a:ext cx="608471" cy="133886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724FF722-290B-4923-AB87-BAD98C2C59D3}"/>
                  </a:ext>
                </a:extLst>
              </p:cNvPr>
              <p:cNvGrpSpPr/>
              <p:nvPr/>
            </p:nvGrpSpPr>
            <p:grpSpPr>
              <a:xfrm>
                <a:off x="2731911" y="3462725"/>
                <a:ext cx="101600" cy="1276527"/>
                <a:chOff x="3747911" y="2522925"/>
                <a:chExt cx="101600" cy="1276527"/>
              </a:xfrm>
            </p:grpSpPr>
            <p:sp>
              <p:nvSpPr>
                <p:cNvPr id="65" name="椭圆 64">
                  <a:extLst>
                    <a:ext uri="{FF2B5EF4-FFF2-40B4-BE49-F238E27FC236}">
                      <a16:creationId xmlns:a16="http://schemas.microsoft.com/office/drawing/2014/main" id="{0EE12BB8-A1C7-4A0F-9BBC-FECB92C92E23}"/>
                    </a:ext>
                  </a:extLst>
                </p:cNvPr>
                <p:cNvSpPr/>
                <p:nvPr/>
              </p:nvSpPr>
              <p:spPr>
                <a:xfrm>
                  <a:off x="3747911" y="2522925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6" name="椭圆 65">
                  <a:extLst>
                    <a:ext uri="{FF2B5EF4-FFF2-40B4-BE49-F238E27FC236}">
                      <a16:creationId xmlns:a16="http://schemas.microsoft.com/office/drawing/2014/main" id="{8E6A66B2-54EB-4644-9171-6E264ADB4707}"/>
                    </a:ext>
                  </a:extLst>
                </p:cNvPr>
                <p:cNvSpPr/>
                <p:nvPr/>
              </p:nvSpPr>
              <p:spPr>
                <a:xfrm>
                  <a:off x="3747911" y="2816657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7" name="椭圆 66">
                  <a:extLst>
                    <a:ext uri="{FF2B5EF4-FFF2-40B4-BE49-F238E27FC236}">
                      <a16:creationId xmlns:a16="http://schemas.microsoft.com/office/drawing/2014/main" id="{2D7A971D-2856-42C5-A471-56F7423E2A6E}"/>
                    </a:ext>
                  </a:extLst>
                </p:cNvPr>
                <p:cNvSpPr/>
                <p:nvPr/>
              </p:nvSpPr>
              <p:spPr>
                <a:xfrm>
                  <a:off x="3747911" y="3110389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" name="椭圆 67">
                  <a:extLst>
                    <a:ext uri="{FF2B5EF4-FFF2-40B4-BE49-F238E27FC236}">
                      <a16:creationId xmlns:a16="http://schemas.microsoft.com/office/drawing/2014/main" id="{690BD674-BC9A-4AFA-9D70-5077ACA92732}"/>
                    </a:ext>
                  </a:extLst>
                </p:cNvPr>
                <p:cNvSpPr/>
                <p:nvPr/>
              </p:nvSpPr>
              <p:spPr>
                <a:xfrm>
                  <a:off x="3747911" y="3404121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9" name="椭圆 68">
                  <a:extLst>
                    <a:ext uri="{FF2B5EF4-FFF2-40B4-BE49-F238E27FC236}">
                      <a16:creationId xmlns:a16="http://schemas.microsoft.com/office/drawing/2014/main" id="{DEDCBDE3-BADC-4204-A4D1-3CDB2FE2205A}"/>
                    </a:ext>
                  </a:extLst>
                </p:cNvPr>
                <p:cNvSpPr/>
                <p:nvPr/>
              </p:nvSpPr>
              <p:spPr>
                <a:xfrm>
                  <a:off x="3747911" y="3697852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B12D9AD0-27D2-4033-9B23-D1462E303792}"/>
                  </a:ext>
                </a:extLst>
              </p:cNvPr>
              <p:cNvGrpSpPr/>
              <p:nvPr/>
            </p:nvGrpSpPr>
            <p:grpSpPr>
              <a:xfrm>
                <a:off x="2021840" y="3462725"/>
                <a:ext cx="101600" cy="1276527"/>
                <a:chOff x="3747911" y="2522925"/>
                <a:chExt cx="101600" cy="1276527"/>
              </a:xfrm>
            </p:grpSpPr>
            <p:sp>
              <p:nvSpPr>
                <p:cNvPr id="60" name="椭圆 59">
                  <a:extLst>
                    <a:ext uri="{FF2B5EF4-FFF2-40B4-BE49-F238E27FC236}">
                      <a16:creationId xmlns:a16="http://schemas.microsoft.com/office/drawing/2014/main" id="{F906807F-7E72-4BE2-B26A-8144F042BC55}"/>
                    </a:ext>
                  </a:extLst>
                </p:cNvPr>
                <p:cNvSpPr/>
                <p:nvPr/>
              </p:nvSpPr>
              <p:spPr>
                <a:xfrm>
                  <a:off x="3747911" y="2522925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椭圆 60">
                  <a:extLst>
                    <a:ext uri="{FF2B5EF4-FFF2-40B4-BE49-F238E27FC236}">
                      <a16:creationId xmlns:a16="http://schemas.microsoft.com/office/drawing/2014/main" id="{97A6EEEF-6437-4951-BF95-301465816BF6}"/>
                    </a:ext>
                  </a:extLst>
                </p:cNvPr>
                <p:cNvSpPr/>
                <p:nvPr/>
              </p:nvSpPr>
              <p:spPr>
                <a:xfrm>
                  <a:off x="3747911" y="2816657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椭圆 61">
                  <a:extLst>
                    <a:ext uri="{FF2B5EF4-FFF2-40B4-BE49-F238E27FC236}">
                      <a16:creationId xmlns:a16="http://schemas.microsoft.com/office/drawing/2014/main" id="{2FB477EC-6D83-4E4C-B2D9-E83BE547EAC0}"/>
                    </a:ext>
                  </a:extLst>
                </p:cNvPr>
                <p:cNvSpPr/>
                <p:nvPr/>
              </p:nvSpPr>
              <p:spPr>
                <a:xfrm>
                  <a:off x="3747911" y="3110389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椭圆 62">
                  <a:extLst>
                    <a:ext uri="{FF2B5EF4-FFF2-40B4-BE49-F238E27FC236}">
                      <a16:creationId xmlns:a16="http://schemas.microsoft.com/office/drawing/2014/main" id="{D55C1541-1B52-4C61-BECD-416E82A9ED43}"/>
                    </a:ext>
                  </a:extLst>
                </p:cNvPr>
                <p:cNvSpPr/>
                <p:nvPr/>
              </p:nvSpPr>
              <p:spPr>
                <a:xfrm>
                  <a:off x="3747911" y="3404121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椭圆 63">
                  <a:extLst>
                    <a:ext uri="{FF2B5EF4-FFF2-40B4-BE49-F238E27FC236}">
                      <a16:creationId xmlns:a16="http://schemas.microsoft.com/office/drawing/2014/main" id="{29881F68-2557-4C5D-BF28-E2899220DC7B}"/>
                    </a:ext>
                  </a:extLst>
                </p:cNvPr>
                <p:cNvSpPr/>
                <p:nvPr/>
              </p:nvSpPr>
              <p:spPr>
                <a:xfrm>
                  <a:off x="3747911" y="3697852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56" name="íşlïḍè">
              <a:extLst>
                <a:ext uri="{FF2B5EF4-FFF2-40B4-BE49-F238E27FC236}">
                  <a16:creationId xmlns:a16="http://schemas.microsoft.com/office/drawing/2014/main" id="{CB3F2C12-3306-4392-AE34-6A60947E43A7}"/>
                </a:ext>
              </a:extLst>
            </p:cNvPr>
            <p:cNvSpPr txBox="1"/>
            <p:nvPr/>
          </p:nvSpPr>
          <p:spPr>
            <a:xfrm>
              <a:off x="2487565" y="2623702"/>
              <a:ext cx="1058779" cy="80791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zh-CN" altLang="en-US" b="1" dirty="0"/>
                <a:t>电话</a:t>
              </a:r>
              <a:endParaRPr lang="en-US" altLang="zh-CN" b="1" dirty="0"/>
            </a:p>
            <a:p>
              <a:pPr algn="ctr"/>
              <a:r>
                <a:rPr lang="zh-CN" altLang="en-US" b="1" dirty="0"/>
                <a:t>交换机</a:t>
              </a:r>
              <a:endParaRPr lang="en-US" altLang="zh-CN" b="1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20AFCC4-AEED-4DD6-B99C-63963E171E4B}"/>
              </a:ext>
            </a:extLst>
          </p:cNvPr>
          <p:cNvGrpSpPr/>
          <p:nvPr/>
        </p:nvGrpSpPr>
        <p:grpSpPr>
          <a:xfrm>
            <a:off x="7984091" y="2355252"/>
            <a:ext cx="1058779" cy="2144160"/>
            <a:chOff x="2487565" y="2623702"/>
            <a:chExt cx="1058779" cy="2144160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B5D3A57C-ED9D-4C7B-A4C0-F375AE5C1104}"/>
                </a:ext>
              </a:extLst>
            </p:cNvPr>
            <p:cNvGrpSpPr/>
            <p:nvPr/>
          </p:nvGrpSpPr>
          <p:grpSpPr>
            <a:xfrm>
              <a:off x="2611120" y="3429000"/>
              <a:ext cx="811671" cy="1338862"/>
              <a:chOff x="2021840" y="3429000"/>
              <a:chExt cx="811671" cy="1338862"/>
            </a:xfrm>
          </p:grpSpPr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EBF5E349-EDFA-4FE9-8B36-C8B6F833A0EA}"/>
                  </a:ext>
                </a:extLst>
              </p:cNvPr>
              <p:cNvSpPr/>
              <p:nvPr/>
            </p:nvSpPr>
            <p:spPr>
              <a:xfrm>
                <a:off x="2123440" y="3429000"/>
                <a:ext cx="608471" cy="133886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A3DA2C6D-E988-4B93-A4D3-33CFB798A41E}"/>
                  </a:ext>
                </a:extLst>
              </p:cNvPr>
              <p:cNvGrpSpPr/>
              <p:nvPr/>
            </p:nvGrpSpPr>
            <p:grpSpPr>
              <a:xfrm>
                <a:off x="2731911" y="3462725"/>
                <a:ext cx="101600" cy="1276527"/>
                <a:chOff x="3747911" y="2522925"/>
                <a:chExt cx="101600" cy="1276527"/>
              </a:xfrm>
            </p:grpSpPr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BE34A69E-CD7D-454A-94F8-BC6E806DB5E0}"/>
                    </a:ext>
                  </a:extLst>
                </p:cNvPr>
                <p:cNvSpPr/>
                <p:nvPr/>
              </p:nvSpPr>
              <p:spPr>
                <a:xfrm>
                  <a:off x="3747911" y="2522925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椭圆 50">
                  <a:extLst>
                    <a:ext uri="{FF2B5EF4-FFF2-40B4-BE49-F238E27FC236}">
                      <a16:creationId xmlns:a16="http://schemas.microsoft.com/office/drawing/2014/main" id="{ACBE9F95-C939-4E1D-87BC-038734016602}"/>
                    </a:ext>
                  </a:extLst>
                </p:cNvPr>
                <p:cNvSpPr/>
                <p:nvPr/>
              </p:nvSpPr>
              <p:spPr>
                <a:xfrm>
                  <a:off x="3747911" y="2816657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" name="椭圆 51">
                  <a:extLst>
                    <a:ext uri="{FF2B5EF4-FFF2-40B4-BE49-F238E27FC236}">
                      <a16:creationId xmlns:a16="http://schemas.microsoft.com/office/drawing/2014/main" id="{4A73DEBF-F76A-4532-BCE2-5227712BA9BC}"/>
                    </a:ext>
                  </a:extLst>
                </p:cNvPr>
                <p:cNvSpPr/>
                <p:nvPr/>
              </p:nvSpPr>
              <p:spPr>
                <a:xfrm>
                  <a:off x="3747911" y="3110389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3" name="椭圆 52">
                  <a:extLst>
                    <a:ext uri="{FF2B5EF4-FFF2-40B4-BE49-F238E27FC236}">
                      <a16:creationId xmlns:a16="http://schemas.microsoft.com/office/drawing/2014/main" id="{333FFA51-F592-4DBF-A723-DB589600B6AD}"/>
                    </a:ext>
                  </a:extLst>
                </p:cNvPr>
                <p:cNvSpPr/>
                <p:nvPr/>
              </p:nvSpPr>
              <p:spPr>
                <a:xfrm>
                  <a:off x="3747911" y="3404121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4" name="椭圆 53">
                  <a:extLst>
                    <a:ext uri="{FF2B5EF4-FFF2-40B4-BE49-F238E27FC236}">
                      <a16:creationId xmlns:a16="http://schemas.microsoft.com/office/drawing/2014/main" id="{1418A441-F332-4BB2-AB2D-7C613FCD5AB9}"/>
                    </a:ext>
                  </a:extLst>
                </p:cNvPr>
                <p:cNvSpPr/>
                <p:nvPr/>
              </p:nvSpPr>
              <p:spPr>
                <a:xfrm>
                  <a:off x="3747911" y="3697852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3F0E0E92-B1D0-4764-ABCA-42AC0015D324}"/>
                  </a:ext>
                </a:extLst>
              </p:cNvPr>
              <p:cNvGrpSpPr/>
              <p:nvPr/>
            </p:nvGrpSpPr>
            <p:grpSpPr>
              <a:xfrm>
                <a:off x="2021840" y="3462725"/>
                <a:ext cx="101600" cy="1276527"/>
                <a:chOff x="3747911" y="2522925"/>
                <a:chExt cx="101600" cy="1276527"/>
              </a:xfrm>
            </p:grpSpPr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830C907F-F0B0-4860-B720-11739DAD75B6}"/>
                    </a:ext>
                  </a:extLst>
                </p:cNvPr>
                <p:cNvSpPr/>
                <p:nvPr/>
              </p:nvSpPr>
              <p:spPr>
                <a:xfrm>
                  <a:off x="3747911" y="2522925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ADB4C8E2-9F68-4234-818A-35EEE33D718A}"/>
                    </a:ext>
                  </a:extLst>
                </p:cNvPr>
                <p:cNvSpPr/>
                <p:nvPr/>
              </p:nvSpPr>
              <p:spPr>
                <a:xfrm>
                  <a:off x="3747911" y="2816657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05E45619-0114-4E18-8F97-D68F9E766B68}"/>
                    </a:ext>
                  </a:extLst>
                </p:cNvPr>
                <p:cNvSpPr/>
                <p:nvPr/>
              </p:nvSpPr>
              <p:spPr>
                <a:xfrm>
                  <a:off x="3747911" y="3110389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8" name="椭圆 47">
                  <a:extLst>
                    <a:ext uri="{FF2B5EF4-FFF2-40B4-BE49-F238E27FC236}">
                      <a16:creationId xmlns:a16="http://schemas.microsoft.com/office/drawing/2014/main" id="{52F93010-CB67-431E-83B7-A7C1D90053B9}"/>
                    </a:ext>
                  </a:extLst>
                </p:cNvPr>
                <p:cNvSpPr/>
                <p:nvPr/>
              </p:nvSpPr>
              <p:spPr>
                <a:xfrm>
                  <a:off x="3747911" y="3404121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A31B445B-BB35-43B4-891C-89396BE24C9D}"/>
                    </a:ext>
                  </a:extLst>
                </p:cNvPr>
                <p:cNvSpPr/>
                <p:nvPr/>
              </p:nvSpPr>
              <p:spPr>
                <a:xfrm>
                  <a:off x="3747911" y="3697852"/>
                  <a:ext cx="101600" cy="101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41" name="íşlïḍè">
              <a:extLst>
                <a:ext uri="{FF2B5EF4-FFF2-40B4-BE49-F238E27FC236}">
                  <a16:creationId xmlns:a16="http://schemas.microsoft.com/office/drawing/2014/main" id="{87BEF77F-AD2C-4735-B093-DA0AE498A632}"/>
                </a:ext>
              </a:extLst>
            </p:cNvPr>
            <p:cNvSpPr txBox="1"/>
            <p:nvPr/>
          </p:nvSpPr>
          <p:spPr>
            <a:xfrm>
              <a:off x="2487565" y="2623702"/>
              <a:ext cx="1058779" cy="80791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zh-CN" altLang="en-US" b="1" dirty="0"/>
                <a:t>电话</a:t>
              </a:r>
              <a:endParaRPr lang="en-US" altLang="zh-CN" b="1" dirty="0"/>
            </a:p>
            <a:p>
              <a:pPr algn="ctr"/>
              <a:r>
                <a:rPr lang="zh-CN" altLang="en-US" b="1" dirty="0"/>
                <a:t>交换机</a:t>
              </a:r>
              <a:endParaRPr lang="en-US" altLang="zh-CN" b="1" dirty="0"/>
            </a:p>
          </p:txBody>
        </p:sp>
      </p:grpSp>
      <p:sp>
        <p:nvSpPr>
          <p:cNvPr id="12" name="old-telephone_72355">
            <a:extLst>
              <a:ext uri="{FF2B5EF4-FFF2-40B4-BE49-F238E27FC236}">
                <a16:creationId xmlns:a16="http://schemas.microsoft.com/office/drawing/2014/main" id="{48070A65-B456-4779-AD4C-92E9CD9F7710}"/>
              </a:ext>
            </a:extLst>
          </p:cNvPr>
          <p:cNvSpPr/>
          <p:nvPr/>
        </p:nvSpPr>
        <p:spPr>
          <a:xfrm>
            <a:off x="1774610" y="2849229"/>
            <a:ext cx="427377" cy="380606"/>
          </a:xfrm>
          <a:custGeom>
            <a:avLst/>
            <a:gdLst>
              <a:gd name="connsiteX0" fmla="*/ 362681 w 608697"/>
              <a:gd name="connsiteY0" fmla="*/ 433337 h 542084"/>
              <a:gd name="connsiteX1" fmla="*/ 351119 w 608697"/>
              <a:gd name="connsiteY1" fmla="*/ 444882 h 542084"/>
              <a:gd name="connsiteX2" fmla="*/ 351119 w 608697"/>
              <a:gd name="connsiteY2" fmla="*/ 467823 h 542084"/>
              <a:gd name="connsiteX3" fmla="*/ 362681 w 608697"/>
              <a:gd name="connsiteY3" fmla="*/ 479368 h 542084"/>
              <a:gd name="connsiteX4" fmla="*/ 385656 w 608697"/>
              <a:gd name="connsiteY4" fmla="*/ 479368 h 542084"/>
              <a:gd name="connsiteX5" fmla="*/ 397218 w 608697"/>
              <a:gd name="connsiteY5" fmla="*/ 467823 h 542084"/>
              <a:gd name="connsiteX6" fmla="*/ 397218 w 608697"/>
              <a:gd name="connsiteY6" fmla="*/ 444882 h 542084"/>
              <a:gd name="connsiteX7" fmla="*/ 385656 w 608697"/>
              <a:gd name="connsiteY7" fmla="*/ 433337 h 542084"/>
              <a:gd name="connsiteX8" fmla="*/ 292862 w 608697"/>
              <a:gd name="connsiteY8" fmla="*/ 433337 h 542084"/>
              <a:gd name="connsiteX9" fmla="*/ 281300 w 608697"/>
              <a:gd name="connsiteY9" fmla="*/ 444882 h 542084"/>
              <a:gd name="connsiteX10" fmla="*/ 281300 w 608697"/>
              <a:gd name="connsiteY10" fmla="*/ 467823 h 542084"/>
              <a:gd name="connsiteX11" fmla="*/ 292862 w 608697"/>
              <a:gd name="connsiteY11" fmla="*/ 479368 h 542084"/>
              <a:gd name="connsiteX12" fmla="*/ 315837 w 608697"/>
              <a:gd name="connsiteY12" fmla="*/ 479368 h 542084"/>
              <a:gd name="connsiteX13" fmla="*/ 327399 w 608697"/>
              <a:gd name="connsiteY13" fmla="*/ 467823 h 542084"/>
              <a:gd name="connsiteX14" fmla="*/ 327399 w 608697"/>
              <a:gd name="connsiteY14" fmla="*/ 444882 h 542084"/>
              <a:gd name="connsiteX15" fmla="*/ 315837 w 608697"/>
              <a:gd name="connsiteY15" fmla="*/ 433337 h 542084"/>
              <a:gd name="connsiteX16" fmla="*/ 222968 w 608697"/>
              <a:gd name="connsiteY16" fmla="*/ 433337 h 542084"/>
              <a:gd name="connsiteX17" fmla="*/ 211480 w 608697"/>
              <a:gd name="connsiteY17" fmla="*/ 444882 h 542084"/>
              <a:gd name="connsiteX18" fmla="*/ 211480 w 608697"/>
              <a:gd name="connsiteY18" fmla="*/ 467823 h 542084"/>
              <a:gd name="connsiteX19" fmla="*/ 222968 w 608697"/>
              <a:gd name="connsiteY19" fmla="*/ 479368 h 542084"/>
              <a:gd name="connsiteX20" fmla="*/ 246017 w 608697"/>
              <a:gd name="connsiteY20" fmla="*/ 479368 h 542084"/>
              <a:gd name="connsiteX21" fmla="*/ 257579 w 608697"/>
              <a:gd name="connsiteY21" fmla="*/ 467823 h 542084"/>
              <a:gd name="connsiteX22" fmla="*/ 257579 w 608697"/>
              <a:gd name="connsiteY22" fmla="*/ 444882 h 542084"/>
              <a:gd name="connsiteX23" fmla="*/ 246017 w 608697"/>
              <a:gd name="connsiteY23" fmla="*/ 433337 h 542084"/>
              <a:gd name="connsiteX24" fmla="*/ 362681 w 608697"/>
              <a:gd name="connsiteY24" fmla="*/ 363545 h 542084"/>
              <a:gd name="connsiteX25" fmla="*/ 351119 w 608697"/>
              <a:gd name="connsiteY25" fmla="*/ 375090 h 542084"/>
              <a:gd name="connsiteX26" fmla="*/ 351119 w 608697"/>
              <a:gd name="connsiteY26" fmla="*/ 398106 h 542084"/>
              <a:gd name="connsiteX27" fmla="*/ 362681 w 608697"/>
              <a:gd name="connsiteY27" fmla="*/ 409651 h 542084"/>
              <a:gd name="connsiteX28" fmla="*/ 385656 w 608697"/>
              <a:gd name="connsiteY28" fmla="*/ 409651 h 542084"/>
              <a:gd name="connsiteX29" fmla="*/ 397218 w 608697"/>
              <a:gd name="connsiteY29" fmla="*/ 398106 h 542084"/>
              <a:gd name="connsiteX30" fmla="*/ 397218 w 608697"/>
              <a:gd name="connsiteY30" fmla="*/ 375090 h 542084"/>
              <a:gd name="connsiteX31" fmla="*/ 385656 w 608697"/>
              <a:gd name="connsiteY31" fmla="*/ 363545 h 542084"/>
              <a:gd name="connsiteX32" fmla="*/ 292862 w 608697"/>
              <a:gd name="connsiteY32" fmla="*/ 363545 h 542084"/>
              <a:gd name="connsiteX33" fmla="*/ 281300 w 608697"/>
              <a:gd name="connsiteY33" fmla="*/ 375090 h 542084"/>
              <a:gd name="connsiteX34" fmla="*/ 281300 w 608697"/>
              <a:gd name="connsiteY34" fmla="*/ 398106 h 542084"/>
              <a:gd name="connsiteX35" fmla="*/ 292862 w 608697"/>
              <a:gd name="connsiteY35" fmla="*/ 409651 h 542084"/>
              <a:gd name="connsiteX36" fmla="*/ 315837 w 608697"/>
              <a:gd name="connsiteY36" fmla="*/ 409651 h 542084"/>
              <a:gd name="connsiteX37" fmla="*/ 327399 w 608697"/>
              <a:gd name="connsiteY37" fmla="*/ 398106 h 542084"/>
              <a:gd name="connsiteX38" fmla="*/ 327399 w 608697"/>
              <a:gd name="connsiteY38" fmla="*/ 375090 h 542084"/>
              <a:gd name="connsiteX39" fmla="*/ 315837 w 608697"/>
              <a:gd name="connsiteY39" fmla="*/ 363545 h 542084"/>
              <a:gd name="connsiteX40" fmla="*/ 222968 w 608697"/>
              <a:gd name="connsiteY40" fmla="*/ 363545 h 542084"/>
              <a:gd name="connsiteX41" fmla="*/ 211480 w 608697"/>
              <a:gd name="connsiteY41" fmla="*/ 375090 h 542084"/>
              <a:gd name="connsiteX42" fmla="*/ 211480 w 608697"/>
              <a:gd name="connsiteY42" fmla="*/ 398106 h 542084"/>
              <a:gd name="connsiteX43" fmla="*/ 222968 w 608697"/>
              <a:gd name="connsiteY43" fmla="*/ 409651 h 542084"/>
              <a:gd name="connsiteX44" fmla="*/ 246017 w 608697"/>
              <a:gd name="connsiteY44" fmla="*/ 409651 h 542084"/>
              <a:gd name="connsiteX45" fmla="*/ 257579 w 608697"/>
              <a:gd name="connsiteY45" fmla="*/ 398106 h 542084"/>
              <a:gd name="connsiteX46" fmla="*/ 257579 w 608697"/>
              <a:gd name="connsiteY46" fmla="*/ 375090 h 542084"/>
              <a:gd name="connsiteX47" fmla="*/ 246017 w 608697"/>
              <a:gd name="connsiteY47" fmla="*/ 363545 h 542084"/>
              <a:gd name="connsiteX48" fmla="*/ 362681 w 608697"/>
              <a:gd name="connsiteY48" fmla="*/ 293828 h 542084"/>
              <a:gd name="connsiteX49" fmla="*/ 351119 w 608697"/>
              <a:gd name="connsiteY49" fmla="*/ 305373 h 542084"/>
              <a:gd name="connsiteX50" fmla="*/ 351119 w 608697"/>
              <a:gd name="connsiteY50" fmla="*/ 328314 h 542084"/>
              <a:gd name="connsiteX51" fmla="*/ 362681 w 608697"/>
              <a:gd name="connsiteY51" fmla="*/ 339859 h 542084"/>
              <a:gd name="connsiteX52" fmla="*/ 385656 w 608697"/>
              <a:gd name="connsiteY52" fmla="*/ 339859 h 542084"/>
              <a:gd name="connsiteX53" fmla="*/ 397218 w 608697"/>
              <a:gd name="connsiteY53" fmla="*/ 328314 h 542084"/>
              <a:gd name="connsiteX54" fmla="*/ 397218 w 608697"/>
              <a:gd name="connsiteY54" fmla="*/ 305373 h 542084"/>
              <a:gd name="connsiteX55" fmla="*/ 385656 w 608697"/>
              <a:gd name="connsiteY55" fmla="*/ 293828 h 542084"/>
              <a:gd name="connsiteX56" fmla="*/ 292862 w 608697"/>
              <a:gd name="connsiteY56" fmla="*/ 293828 h 542084"/>
              <a:gd name="connsiteX57" fmla="*/ 281300 w 608697"/>
              <a:gd name="connsiteY57" fmla="*/ 305373 h 542084"/>
              <a:gd name="connsiteX58" fmla="*/ 281300 w 608697"/>
              <a:gd name="connsiteY58" fmla="*/ 328314 h 542084"/>
              <a:gd name="connsiteX59" fmla="*/ 292862 w 608697"/>
              <a:gd name="connsiteY59" fmla="*/ 339859 h 542084"/>
              <a:gd name="connsiteX60" fmla="*/ 315837 w 608697"/>
              <a:gd name="connsiteY60" fmla="*/ 339859 h 542084"/>
              <a:gd name="connsiteX61" fmla="*/ 327399 w 608697"/>
              <a:gd name="connsiteY61" fmla="*/ 328314 h 542084"/>
              <a:gd name="connsiteX62" fmla="*/ 327399 w 608697"/>
              <a:gd name="connsiteY62" fmla="*/ 305373 h 542084"/>
              <a:gd name="connsiteX63" fmla="*/ 315837 w 608697"/>
              <a:gd name="connsiteY63" fmla="*/ 293828 h 542084"/>
              <a:gd name="connsiteX64" fmla="*/ 222968 w 608697"/>
              <a:gd name="connsiteY64" fmla="*/ 293828 h 542084"/>
              <a:gd name="connsiteX65" fmla="*/ 211480 w 608697"/>
              <a:gd name="connsiteY65" fmla="*/ 305373 h 542084"/>
              <a:gd name="connsiteX66" fmla="*/ 211480 w 608697"/>
              <a:gd name="connsiteY66" fmla="*/ 328314 h 542084"/>
              <a:gd name="connsiteX67" fmla="*/ 222968 w 608697"/>
              <a:gd name="connsiteY67" fmla="*/ 339859 h 542084"/>
              <a:gd name="connsiteX68" fmla="*/ 246017 w 608697"/>
              <a:gd name="connsiteY68" fmla="*/ 339859 h 542084"/>
              <a:gd name="connsiteX69" fmla="*/ 257579 w 608697"/>
              <a:gd name="connsiteY69" fmla="*/ 328314 h 542084"/>
              <a:gd name="connsiteX70" fmla="*/ 257579 w 608697"/>
              <a:gd name="connsiteY70" fmla="*/ 305373 h 542084"/>
              <a:gd name="connsiteX71" fmla="*/ 246017 w 608697"/>
              <a:gd name="connsiteY71" fmla="*/ 293828 h 542084"/>
              <a:gd name="connsiteX72" fmla="*/ 263397 w 608697"/>
              <a:gd name="connsiteY72" fmla="*/ 157149 h 542084"/>
              <a:gd name="connsiteX73" fmla="*/ 345301 w 608697"/>
              <a:gd name="connsiteY73" fmla="*/ 157149 h 542084"/>
              <a:gd name="connsiteX74" fmla="*/ 374766 w 608697"/>
              <a:gd name="connsiteY74" fmla="*/ 186570 h 542084"/>
              <a:gd name="connsiteX75" fmla="*/ 374766 w 608697"/>
              <a:gd name="connsiteY75" fmla="*/ 224483 h 542084"/>
              <a:gd name="connsiteX76" fmla="*/ 386999 w 608697"/>
              <a:gd name="connsiteY76" fmla="*/ 227462 h 542084"/>
              <a:gd name="connsiteX77" fmla="*/ 553939 w 608697"/>
              <a:gd name="connsiteY77" fmla="*/ 431326 h 542084"/>
              <a:gd name="connsiteX78" fmla="*/ 523132 w 608697"/>
              <a:gd name="connsiteY78" fmla="*/ 524729 h 542084"/>
              <a:gd name="connsiteX79" fmla="*/ 443019 w 608697"/>
              <a:gd name="connsiteY79" fmla="*/ 542084 h 542084"/>
              <a:gd name="connsiteX80" fmla="*/ 165680 w 608697"/>
              <a:gd name="connsiteY80" fmla="*/ 542084 h 542084"/>
              <a:gd name="connsiteX81" fmla="*/ 85566 w 608697"/>
              <a:gd name="connsiteY81" fmla="*/ 524729 h 542084"/>
              <a:gd name="connsiteX82" fmla="*/ 54759 w 608697"/>
              <a:gd name="connsiteY82" fmla="*/ 431326 h 542084"/>
              <a:gd name="connsiteX83" fmla="*/ 221700 w 608697"/>
              <a:gd name="connsiteY83" fmla="*/ 227462 h 542084"/>
              <a:gd name="connsiteX84" fmla="*/ 233933 w 608697"/>
              <a:gd name="connsiteY84" fmla="*/ 224483 h 542084"/>
              <a:gd name="connsiteX85" fmla="*/ 233933 w 608697"/>
              <a:gd name="connsiteY85" fmla="*/ 186570 h 542084"/>
              <a:gd name="connsiteX86" fmla="*/ 263397 w 608697"/>
              <a:gd name="connsiteY86" fmla="*/ 157149 h 542084"/>
              <a:gd name="connsiteX87" fmla="*/ 304349 w 608697"/>
              <a:gd name="connsiteY87" fmla="*/ 0 h 542084"/>
              <a:gd name="connsiteX88" fmla="*/ 608697 w 608697"/>
              <a:gd name="connsiteY88" fmla="*/ 131760 h 542084"/>
              <a:gd name="connsiteX89" fmla="*/ 608697 w 608697"/>
              <a:gd name="connsiteY89" fmla="*/ 158127 h 542084"/>
              <a:gd name="connsiteX90" fmla="*/ 548051 w 608697"/>
              <a:gd name="connsiteY90" fmla="*/ 218682 h 542084"/>
              <a:gd name="connsiteX91" fmla="*/ 463087 w 608697"/>
              <a:gd name="connsiteY91" fmla="*/ 218682 h 542084"/>
              <a:gd name="connsiteX92" fmla="*/ 402441 w 608697"/>
              <a:gd name="connsiteY92" fmla="*/ 158127 h 542084"/>
              <a:gd name="connsiteX93" fmla="*/ 402441 w 608697"/>
              <a:gd name="connsiteY93" fmla="*/ 131760 h 542084"/>
              <a:gd name="connsiteX94" fmla="*/ 402516 w 608697"/>
              <a:gd name="connsiteY94" fmla="*/ 129898 h 542084"/>
              <a:gd name="connsiteX95" fmla="*/ 206181 w 608697"/>
              <a:gd name="connsiteY95" fmla="*/ 129898 h 542084"/>
              <a:gd name="connsiteX96" fmla="*/ 206256 w 608697"/>
              <a:gd name="connsiteY96" fmla="*/ 131760 h 542084"/>
              <a:gd name="connsiteX97" fmla="*/ 206256 w 608697"/>
              <a:gd name="connsiteY97" fmla="*/ 158127 h 542084"/>
              <a:gd name="connsiteX98" fmla="*/ 145610 w 608697"/>
              <a:gd name="connsiteY98" fmla="*/ 218682 h 542084"/>
              <a:gd name="connsiteX99" fmla="*/ 60646 w 608697"/>
              <a:gd name="connsiteY99" fmla="*/ 218682 h 542084"/>
              <a:gd name="connsiteX100" fmla="*/ 0 w 608697"/>
              <a:gd name="connsiteY100" fmla="*/ 158127 h 542084"/>
              <a:gd name="connsiteX101" fmla="*/ 0 w 608697"/>
              <a:gd name="connsiteY101" fmla="*/ 131760 h 542084"/>
              <a:gd name="connsiteX102" fmla="*/ 304349 w 608697"/>
              <a:gd name="connsiteY102" fmla="*/ 0 h 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608697" h="542084">
                <a:moveTo>
                  <a:pt x="362681" y="433337"/>
                </a:moveTo>
                <a:cubicBezTo>
                  <a:pt x="356341" y="433337"/>
                  <a:pt x="351119" y="438476"/>
                  <a:pt x="351119" y="444882"/>
                </a:cubicBezTo>
                <a:lnTo>
                  <a:pt x="351119" y="467823"/>
                </a:lnTo>
                <a:cubicBezTo>
                  <a:pt x="351119" y="474229"/>
                  <a:pt x="356341" y="479368"/>
                  <a:pt x="362681" y="479368"/>
                </a:cubicBezTo>
                <a:lnTo>
                  <a:pt x="385656" y="479368"/>
                </a:lnTo>
                <a:cubicBezTo>
                  <a:pt x="392071" y="479368"/>
                  <a:pt x="397218" y="474229"/>
                  <a:pt x="397218" y="467823"/>
                </a:cubicBezTo>
                <a:lnTo>
                  <a:pt x="397218" y="444882"/>
                </a:lnTo>
                <a:cubicBezTo>
                  <a:pt x="397218" y="438476"/>
                  <a:pt x="392071" y="433337"/>
                  <a:pt x="385656" y="433337"/>
                </a:cubicBezTo>
                <a:close/>
                <a:moveTo>
                  <a:pt x="292862" y="433337"/>
                </a:moveTo>
                <a:cubicBezTo>
                  <a:pt x="286447" y="433337"/>
                  <a:pt x="281300" y="438476"/>
                  <a:pt x="281300" y="444882"/>
                </a:cubicBezTo>
                <a:lnTo>
                  <a:pt x="281300" y="467823"/>
                </a:lnTo>
                <a:cubicBezTo>
                  <a:pt x="281300" y="474229"/>
                  <a:pt x="286447" y="479368"/>
                  <a:pt x="292862" y="479368"/>
                </a:cubicBezTo>
                <a:lnTo>
                  <a:pt x="315837" y="479368"/>
                </a:lnTo>
                <a:cubicBezTo>
                  <a:pt x="322252" y="479368"/>
                  <a:pt x="327399" y="474229"/>
                  <a:pt x="327399" y="467823"/>
                </a:cubicBezTo>
                <a:lnTo>
                  <a:pt x="327399" y="444882"/>
                </a:lnTo>
                <a:cubicBezTo>
                  <a:pt x="327399" y="438476"/>
                  <a:pt x="322252" y="433337"/>
                  <a:pt x="315837" y="433337"/>
                </a:cubicBezTo>
                <a:close/>
                <a:moveTo>
                  <a:pt x="222968" y="433337"/>
                </a:moveTo>
                <a:cubicBezTo>
                  <a:pt x="216627" y="433337"/>
                  <a:pt x="211480" y="438476"/>
                  <a:pt x="211480" y="444882"/>
                </a:cubicBezTo>
                <a:lnTo>
                  <a:pt x="211480" y="467823"/>
                </a:lnTo>
                <a:cubicBezTo>
                  <a:pt x="211480" y="474229"/>
                  <a:pt x="216627" y="479368"/>
                  <a:pt x="222968" y="479368"/>
                </a:cubicBezTo>
                <a:lnTo>
                  <a:pt x="246017" y="479368"/>
                </a:lnTo>
                <a:cubicBezTo>
                  <a:pt x="252358" y="479368"/>
                  <a:pt x="257579" y="474229"/>
                  <a:pt x="257579" y="467823"/>
                </a:cubicBezTo>
                <a:lnTo>
                  <a:pt x="257579" y="444882"/>
                </a:lnTo>
                <a:cubicBezTo>
                  <a:pt x="257579" y="438476"/>
                  <a:pt x="252358" y="433337"/>
                  <a:pt x="246017" y="433337"/>
                </a:cubicBezTo>
                <a:close/>
                <a:moveTo>
                  <a:pt x="362681" y="363545"/>
                </a:moveTo>
                <a:cubicBezTo>
                  <a:pt x="356341" y="363545"/>
                  <a:pt x="351119" y="368759"/>
                  <a:pt x="351119" y="375090"/>
                </a:cubicBezTo>
                <a:lnTo>
                  <a:pt x="351119" y="398106"/>
                </a:lnTo>
                <a:cubicBezTo>
                  <a:pt x="351119" y="404437"/>
                  <a:pt x="356341" y="409651"/>
                  <a:pt x="362681" y="409651"/>
                </a:cubicBezTo>
                <a:lnTo>
                  <a:pt x="385656" y="409651"/>
                </a:lnTo>
                <a:cubicBezTo>
                  <a:pt x="392071" y="409651"/>
                  <a:pt x="397218" y="404437"/>
                  <a:pt x="397218" y="398106"/>
                </a:cubicBezTo>
                <a:lnTo>
                  <a:pt x="397218" y="375090"/>
                </a:lnTo>
                <a:cubicBezTo>
                  <a:pt x="397218" y="368759"/>
                  <a:pt x="392071" y="363545"/>
                  <a:pt x="385656" y="363545"/>
                </a:cubicBezTo>
                <a:close/>
                <a:moveTo>
                  <a:pt x="292862" y="363545"/>
                </a:moveTo>
                <a:cubicBezTo>
                  <a:pt x="286447" y="363545"/>
                  <a:pt x="281300" y="368759"/>
                  <a:pt x="281300" y="375090"/>
                </a:cubicBezTo>
                <a:lnTo>
                  <a:pt x="281300" y="398106"/>
                </a:lnTo>
                <a:cubicBezTo>
                  <a:pt x="281300" y="404437"/>
                  <a:pt x="286447" y="409651"/>
                  <a:pt x="292862" y="409651"/>
                </a:cubicBezTo>
                <a:lnTo>
                  <a:pt x="315837" y="409651"/>
                </a:lnTo>
                <a:cubicBezTo>
                  <a:pt x="322252" y="409651"/>
                  <a:pt x="327399" y="404437"/>
                  <a:pt x="327399" y="398106"/>
                </a:cubicBezTo>
                <a:lnTo>
                  <a:pt x="327399" y="375090"/>
                </a:lnTo>
                <a:cubicBezTo>
                  <a:pt x="327399" y="368759"/>
                  <a:pt x="322252" y="363545"/>
                  <a:pt x="315837" y="363545"/>
                </a:cubicBezTo>
                <a:close/>
                <a:moveTo>
                  <a:pt x="222968" y="363545"/>
                </a:moveTo>
                <a:cubicBezTo>
                  <a:pt x="216627" y="363545"/>
                  <a:pt x="211480" y="368759"/>
                  <a:pt x="211480" y="375090"/>
                </a:cubicBezTo>
                <a:lnTo>
                  <a:pt x="211480" y="398106"/>
                </a:lnTo>
                <a:cubicBezTo>
                  <a:pt x="211480" y="404437"/>
                  <a:pt x="216627" y="409651"/>
                  <a:pt x="222968" y="409651"/>
                </a:cubicBezTo>
                <a:lnTo>
                  <a:pt x="246017" y="409651"/>
                </a:lnTo>
                <a:cubicBezTo>
                  <a:pt x="252358" y="409651"/>
                  <a:pt x="257579" y="404437"/>
                  <a:pt x="257579" y="398106"/>
                </a:cubicBezTo>
                <a:lnTo>
                  <a:pt x="257579" y="375090"/>
                </a:lnTo>
                <a:cubicBezTo>
                  <a:pt x="257579" y="368759"/>
                  <a:pt x="252358" y="363545"/>
                  <a:pt x="246017" y="363545"/>
                </a:cubicBezTo>
                <a:close/>
                <a:moveTo>
                  <a:pt x="362681" y="293828"/>
                </a:moveTo>
                <a:cubicBezTo>
                  <a:pt x="356341" y="293828"/>
                  <a:pt x="351119" y="298967"/>
                  <a:pt x="351119" y="305373"/>
                </a:cubicBezTo>
                <a:lnTo>
                  <a:pt x="351119" y="328314"/>
                </a:lnTo>
                <a:cubicBezTo>
                  <a:pt x="351119" y="334720"/>
                  <a:pt x="356341" y="339859"/>
                  <a:pt x="362681" y="339859"/>
                </a:cubicBezTo>
                <a:lnTo>
                  <a:pt x="385656" y="339859"/>
                </a:lnTo>
                <a:cubicBezTo>
                  <a:pt x="392071" y="339859"/>
                  <a:pt x="397218" y="334720"/>
                  <a:pt x="397218" y="328314"/>
                </a:cubicBezTo>
                <a:lnTo>
                  <a:pt x="397218" y="305373"/>
                </a:lnTo>
                <a:cubicBezTo>
                  <a:pt x="397218" y="298967"/>
                  <a:pt x="392071" y="293828"/>
                  <a:pt x="385656" y="293828"/>
                </a:cubicBezTo>
                <a:close/>
                <a:moveTo>
                  <a:pt x="292862" y="293828"/>
                </a:moveTo>
                <a:cubicBezTo>
                  <a:pt x="286447" y="293828"/>
                  <a:pt x="281300" y="298967"/>
                  <a:pt x="281300" y="305373"/>
                </a:cubicBezTo>
                <a:lnTo>
                  <a:pt x="281300" y="328314"/>
                </a:lnTo>
                <a:cubicBezTo>
                  <a:pt x="281300" y="334720"/>
                  <a:pt x="286447" y="339859"/>
                  <a:pt x="292862" y="339859"/>
                </a:cubicBezTo>
                <a:lnTo>
                  <a:pt x="315837" y="339859"/>
                </a:lnTo>
                <a:cubicBezTo>
                  <a:pt x="322252" y="339859"/>
                  <a:pt x="327399" y="334720"/>
                  <a:pt x="327399" y="328314"/>
                </a:cubicBezTo>
                <a:lnTo>
                  <a:pt x="327399" y="305373"/>
                </a:lnTo>
                <a:cubicBezTo>
                  <a:pt x="327399" y="298967"/>
                  <a:pt x="322252" y="293828"/>
                  <a:pt x="315837" y="293828"/>
                </a:cubicBezTo>
                <a:close/>
                <a:moveTo>
                  <a:pt x="222968" y="293828"/>
                </a:moveTo>
                <a:cubicBezTo>
                  <a:pt x="216627" y="293828"/>
                  <a:pt x="211480" y="298967"/>
                  <a:pt x="211480" y="305373"/>
                </a:cubicBezTo>
                <a:lnTo>
                  <a:pt x="211480" y="328314"/>
                </a:lnTo>
                <a:cubicBezTo>
                  <a:pt x="211480" y="334720"/>
                  <a:pt x="216627" y="339859"/>
                  <a:pt x="222968" y="339859"/>
                </a:cubicBezTo>
                <a:lnTo>
                  <a:pt x="246017" y="339859"/>
                </a:lnTo>
                <a:cubicBezTo>
                  <a:pt x="252358" y="339859"/>
                  <a:pt x="257579" y="334720"/>
                  <a:pt x="257579" y="328314"/>
                </a:cubicBezTo>
                <a:lnTo>
                  <a:pt x="257579" y="305373"/>
                </a:lnTo>
                <a:cubicBezTo>
                  <a:pt x="257579" y="298967"/>
                  <a:pt x="252358" y="293828"/>
                  <a:pt x="246017" y="293828"/>
                </a:cubicBezTo>
                <a:close/>
                <a:moveTo>
                  <a:pt x="263397" y="157149"/>
                </a:moveTo>
                <a:lnTo>
                  <a:pt x="345301" y="157149"/>
                </a:lnTo>
                <a:cubicBezTo>
                  <a:pt x="361562" y="157149"/>
                  <a:pt x="374766" y="170407"/>
                  <a:pt x="374766" y="186570"/>
                </a:cubicBezTo>
                <a:lnTo>
                  <a:pt x="374766" y="224483"/>
                </a:lnTo>
                <a:lnTo>
                  <a:pt x="386999" y="227462"/>
                </a:lnTo>
                <a:cubicBezTo>
                  <a:pt x="537678" y="264406"/>
                  <a:pt x="553939" y="382315"/>
                  <a:pt x="553939" y="431326"/>
                </a:cubicBezTo>
                <a:cubicBezTo>
                  <a:pt x="553939" y="478400"/>
                  <a:pt x="543869" y="509013"/>
                  <a:pt x="523132" y="524729"/>
                </a:cubicBezTo>
                <a:cubicBezTo>
                  <a:pt x="502992" y="539998"/>
                  <a:pt x="472781" y="542084"/>
                  <a:pt x="443019" y="542084"/>
                </a:cubicBezTo>
                <a:lnTo>
                  <a:pt x="165680" y="542084"/>
                </a:lnTo>
                <a:cubicBezTo>
                  <a:pt x="135917" y="542084"/>
                  <a:pt x="105707" y="539998"/>
                  <a:pt x="85566" y="524729"/>
                </a:cubicBezTo>
                <a:cubicBezTo>
                  <a:pt x="64829" y="509013"/>
                  <a:pt x="54759" y="478400"/>
                  <a:pt x="54759" y="431326"/>
                </a:cubicBezTo>
                <a:cubicBezTo>
                  <a:pt x="54759" y="382315"/>
                  <a:pt x="71021" y="264406"/>
                  <a:pt x="221700" y="227462"/>
                </a:cubicBezTo>
                <a:lnTo>
                  <a:pt x="233933" y="224483"/>
                </a:lnTo>
                <a:lnTo>
                  <a:pt x="233933" y="186570"/>
                </a:lnTo>
                <a:cubicBezTo>
                  <a:pt x="233933" y="170407"/>
                  <a:pt x="247136" y="157149"/>
                  <a:pt x="263397" y="157149"/>
                </a:cubicBezTo>
                <a:close/>
                <a:moveTo>
                  <a:pt x="304349" y="0"/>
                </a:moveTo>
                <a:cubicBezTo>
                  <a:pt x="499341" y="0"/>
                  <a:pt x="608697" y="60555"/>
                  <a:pt x="608697" y="131760"/>
                </a:cubicBezTo>
                <a:lnTo>
                  <a:pt x="608697" y="158127"/>
                </a:lnTo>
                <a:cubicBezTo>
                  <a:pt x="608697" y="191570"/>
                  <a:pt x="581545" y="218682"/>
                  <a:pt x="548051" y="218682"/>
                </a:cubicBezTo>
                <a:lnTo>
                  <a:pt x="463087" y="218682"/>
                </a:lnTo>
                <a:cubicBezTo>
                  <a:pt x="429594" y="218682"/>
                  <a:pt x="402441" y="191570"/>
                  <a:pt x="402441" y="158127"/>
                </a:cubicBezTo>
                <a:lnTo>
                  <a:pt x="402441" y="131760"/>
                </a:lnTo>
                <a:cubicBezTo>
                  <a:pt x="402441" y="131165"/>
                  <a:pt x="402516" y="130569"/>
                  <a:pt x="402516" y="129898"/>
                </a:cubicBezTo>
                <a:lnTo>
                  <a:pt x="206181" y="129898"/>
                </a:lnTo>
                <a:cubicBezTo>
                  <a:pt x="206181" y="130569"/>
                  <a:pt x="206256" y="131165"/>
                  <a:pt x="206256" y="131760"/>
                </a:cubicBezTo>
                <a:lnTo>
                  <a:pt x="206256" y="158127"/>
                </a:lnTo>
                <a:cubicBezTo>
                  <a:pt x="206256" y="191570"/>
                  <a:pt x="179103" y="218682"/>
                  <a:pt x="145610" y="218682"/>
                </a:cubicBezTo>
                <a:lnTo>
                  <a:pt x="60646" y="218682"/>
                </a:lnTo>
                <a:cubicBezTo>
                  <a:pt x="27152" y="218682"/>
                  <a:pt x="0" y="191570"/>
                  <a:pt x="0" y="158127"/>
                </a:cubicBezTo>
                <a:lnTo>
                  <a:pt x="0" y="131760"/>
                </a:lnTo>
                <a:cubicBezTo>
                  <a:pt x="0" y="60480"/>
                  <a:pt x="109357" y="0"/>
                  <a:pt x="304349" y="0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ld-telephone_72355">
            <a:extLst>
              <a:ext uri="{FF2B5EF4-FFF2-40B4-BE49-F238E27FC236}">
                <a16:creationId xmlns:a16="http://schemas.microsoft.com/office/drawing/2014/main" id="{03EC6B22-BAB3-4A60-86F8-FD44867CB5E7}"/>
              </a:ext>
            </a:extLst>
          </p:cNvPr>
          <p:cNvSpPr/>
          <p:nvPr/>
        </p:nvSpPr>
        <p:spPr>
          <a:xfrm>
            <a:off x="1031945" y="3634615"/>
            <a:ext cx="427377" cy="380606"/>
          </a:xfrm>
          <a:custGeom>
            <a:avLst/>
            <a:gdLst>
              <a:gd name="connsiteX0" fmla="*/ 362681 w 608697"/>
              <a:gd name="connsiteY0" fmla="*/ 433337 h 542084"/>
              <a:gd name="connsiteX1" fmla="*/ 351119 w 608697"/>
              <a:gd name="connsiteY1" fmla="*/ 444882 h 542084"/>
              <a:gd name="connsiteX2" fmla="*/ 351119 w 608697"/>
              <a:gd name="connsiteY2" fmla="*/ 467823 h 542084"/>
              <a:gd name="connsiteX3" fmla="*/ 362681 w 608697"/>
              <a:gd name="connsiteY3" fmla="*/ 479368 h 542084"/>
              <a:gd name="connsiteX4" fmla="*/ 385656 w 608697"/>
              <a:gd name="connsiteY4" fmla="*/ 479368 h 542084"/>
              <a:gd name="connsiteX5" fmla="*/ 397218 w 608697"/>
              <a:gd name="connsiteY5" fmla="*/ 467823 h 542084"/>
              <a:gd name="connsiteX6" fmla="*/ 397218 w 608697"/>
              <a:gd name="connsiteY6" fmla="*/ 444882 h 542084"/>
              <a:gd name="connsiteX7" fmla="*/ 385656 w 608697"/>
              <a:gd name="connsiteY7" fmla="*/ 433337 h 542084"/>
              <a:gd name="connsiteX8" fmla="*/ 292862 w 608697"/>
              <a:gd name="connsiteY8" fmla="*/ 433337 h 542084"/>
              <a:gd name="connsiteX9" fmla="*/ 281300 w 608697"/>
              <a:gd name="connsiteY9" fmla="*/ 444882 h 542084"/>
              <a:gd name="connsiteX10" fmla="*/ 281300 w 608697"/>
              <a:gd name="connsiteY10" fmla="*/ 467823 h 542084"/>
              <a:gd name="connsiteX11" fmla="*/ 292862 w 608697"/>
              <a:gd name="connsiteY11" fmla="*/ 479368 h 542084"/>
              <a:gd name="connsiteX12" fmla="*/ 315837 w 608697"/>
              <a:gd name="connsiteY12" fmla="*/ 479368 h 542084"/>
              <a:gd name="connsiteX13" fmla="*/ 327399 w 608697"/>
              <a:gd name="connsiteY13" fmla="*/ 467823 h 542084"/>
              <a:gd name="connsiteX14" fmla="*/ 327399 w 608697"/>
              <a:gd name="connsiteY14" fmla="*/ 444882 h 542084"/>
              <a:gd name="connsiteX15" fmla="*/ 315837 w 608697"/>
              <a:gd name="connsiteY15" fmla="*/ 433337 h 542084"/>
              <a:gd name="connsiteX16" fmla="*/ 222968 w 608697"/>
              <a:gd name="connsiteY16" fmla="*/ 433337 h 542084"/>
              <a:gd name="connsiteX17" fmla="*/ 211480 w 608697"/>
              <a:gd name="connsiteY17" fmla="*/ 444882 h 542084"/>
              <a:gd name="connsiteX18" fmla="*/ 211480 w 608697"/>
              <a:gd name="connsiteY18" fmla="*/ 467823 h 542084"/>
              <a:gd name="connsiteX19" fmla="*/ 222968 w 608697"/>
              <a:gd name="connsiteY19" fmla="*/ 479368 h 542084"/>
              <a:gd name="connsiteX20" fmla="*/ 246017 w 608697"/>
              <a:gd name="connsiteY20" fmla="*/ 479368 h 542084"/>
              <a:gd name="connsiteX21" fmla="*/ 257579 w 608697"/>
              <a:gd name="connsiteY21" fmla="*/ 467823 h 542084"/>
              <a:gd name="connsiteX22" fmla="*/ 257579 w 608697"/>
              <a:gd name="connsiteY22" fmla="*/ 444882 h 542084"/>
              <a:gd name="connsiteX23" fmla="*/ 246017 w 608697"/>
              <a:gd name="connsiteY23" fmla="*/ 433337 h 542084"/>
              <a:gd name="connsiteX24" fmla="*/ 362681 w 608697"/>
              <a:gd name="connsiteY24" fmla="*/ 363545 h 542084"/>
              <a:gd name="connsiteX25" fmla="*/ 351119 w 608697"/>
              <a:gd name="connsiteY25" fmla="*/ 375090 h 542084"/>
              <a:gd name="connsiteX26" fmla="*/ 351119 w 608697"/>
              <a:gd name="connsiteY26" fmla="*/ 398106 h 542084"/>
              <a:gd name="connsiteX27" fmla="*/ 362681 w 608697"/>
              <a:gd name="connsiteY27" fmla="*/ 409651 h 542084"/>
              <a:gd name="connsiteX28" fmla="*/ 385656 w 608697"/>
              <a:gd name="connsiteY28" fmla="*/ 409651 h 542084"/>
              <a:gd name="connsiteX29" fmla="*/ 397218 w 608697"/>
              <a:gd name="connsiteY29" fmla="*/ 398106 h 542084"/>
              <a:gd name="connsiteX30" fmla="*/ 397218 w 608697"/>
              <a:gd name="connsiteY30" fmla="*/ 375090 h 542084"/>
              <a:gd name="connsiteX31" fmla="*/ 385656 w 608697"/>
              <a:gd name="connsiteY31" fmla="*/ 363545 h 542084"/>
              <a:gd name="connsiteX32" fmla="*/ 292862 w 608697"/>
              <a:gd name="connsiteY32" fmla="*/ 363545 h 542084"/>
              <a:gd name="connsiteX33" fmla="*/ 281300 w 608697"/>
              <a:gd name="connsiteY33" fmla="*/ 375090 h 542084"/>
              <a:gd name="connsiteX34" fmla="*/ 281300 w 608697"/>
              <a:gd name="connsiteY34" fmla="*/ 398106 h 542084"/>
              <a:gd name="connsiteX35" fmla="*/ 292862 w 608697"/>
              <a:gd name="connsiteY35" fmla="*/ 409651 h 542084"/>
              <a:gd name="connsiteX36" fmla="*/ 315837 w 608697"/>
              <a:gd name="connsiteY36" fmla="*/ 409651 h 542084"/>
              <a:gd name="connsiteX37" fmla="*/ 327399 w 608697"/>
              <a:gd name="connsiteY37" fmla="*/ 398106 h 542084"/>
              <a:gd name="connsiteX38" fmla="*/ 327399 w 608697"/>
              <a:gd name="connsiteY38" fmla="*/ 375090 h 542084"/>
              <a:gd name="connsiteX39" fmla="*/ 315837 w 608697"/>
              <a:gd name="connsiteY39" fmla="*/ 363545 h 542084"/>
              <a:gd name="connsiteX40" fmla="*/ 222968 w 608697"/>
              <a:gd name="connsiteY40" fmla="*/ 363545 h 542084"/>
              <a:gd name="connsiteX41" fmla="*/ 211480 w 608697"/>
              <a:gd name="connsiteY41" fmla="*/ 375090 h 542084"/>
              <a:gd name="connsiteX42" fmla="*/ 211480 w 608697"/>
              <a:gd name="connsiteY42" fmla="*/ 398106 h 542084"/>
              <a:gd name="connsiteX43" fmla="*/ 222968 w 608697"/>
              <a:gd name="connsiteY43" fmla="*/ 409651 h 542084"/>
              <a:gd name="connsiteX44" fmla="*/ 246017 w 608697"/>
              <a:gd name="connsiteY44" fmla="*/ 409651 h 542084"/>
              <a:gd name="connsiteX45" fmla="*/ 257579 w 608697"/>
              <a:gd name="connsiteY45" fmla="*/ 398106 h 542084"/>
              <a:gd name="connsiteX46" fmla="*/ 257579 w 608697"/>
              <a:gd name="connsiteY46" fmla="*/ 375090 h 542084"/>
              <a:gd name="connsiteX47" fmla="*/ 246017 w 608697"/>
              <a:gd name="connsiteY47" fmla="*/ 363545 h 542084"/>
              <a:gd name="connsiteX48" fmla="*/ 362681 w 608697"/>
              <a:gd name="connsiteY48" fmla="*/ 293828 h 542084"/>
              <a:gd name="connsiteX49" fmla="*/ 351119 w 608697"/>
              <a:gd name="connsiteY49" fmla="*/ 305373 h 542084"/>
              <a:gd name="connsiteX50" fmla="*/ 351119 w 608697"/>
              <a:gd name="connsiteY50" fmla="*/ 328314 h 542084"/>
              <a:gd name="connsiteX51" fmla="*/ 362681 w 608697"/>
              <a:gd name="connsiteY51" fmla="*/ 339859 h 542084"/>
              <a:gd name="connsiteX52" fmla="*/ 385656 w 608697"/>
              <a:gd name="connsiteY52" fmla="*/ 339859 h 542084"/>
              <a:gd name="connsiteX53" fmla="*/ 397218 w 608697"/>
              <a:gd name="connsiteY53" fmla="*/ 328314 h 542084"/>
              <a:gd name="connsiteX54" fmla="*/ 397218 w 608697"/>
              <a:gd name="connsiteY54" fmla="*/ 305373 h 542084"/>
              <a:gd name="connsiteX55" fmla="*/ 385656 w 608697"/>
              <a:gd name="connsiteY55" fmla="*/ 293828 h 542084"/>
              <a:gd name="connsiteX56" fmla="*/ 292862 w 608697"/>
              <a:gd name="connsiteY56" fmla="*/ 293828 h 542084"/>
              <a:gd name="connsiteX57" fmla="*/ 281300 w 608697"/>
              <a:gd name="connsiteY57" fmla="*/ 305373 h 542084"/>
              <a:gd name="connsiteX58" fmla="*/ 281300 w 608697"/>
              <a:gd name="connsiteY58" fmla="*/ 328314 h 542084"/>
              <a:gd name="connsiteX59" fmla="*/ 292862 w 608697"/>
              <a:gd name="connsiteY59" fmla="*/ 339859 h 542084"/>
              <a:gd name="connsiteX60" fmla="*/ 315837 w 608697"/>
              <a:gd name="connsiteY60" fmla="*/ 339859 h 542084"/>
              <a:gd name="connsiteX61" fmla="*/ 327399 w 608697"/>
              <a:gd name="connsiteY61" fmla="*/ 328314 h 542084"/>
              <a:gd name="connsiteX62" fmla="*/ 327399 w 608697"/>
              <a:gd name="connsiteY62" fmla="*/ 305373 h 542084"/>
              <a:gd name="connsiteX63" fmla="*/ 315837 w 608697"/>
              <a:gd name="connsiteY63" fmla="*/ 293828 h 542084"/>
              <a:gd name="connsiteX64" fmla="*/ 222968 w 608697"/>
              <a:gd name="connsiteY64" fmla="*/ 293828 h 542084"/>
              <a:gd name="connsiteX65" fmla="*/ 211480 w 608697"/>
              <a:gd name="connsiteY65" fmla="*/ 305373 h 542084"/>
              <a:gd name="connsiteX66" fmla="*/ 211480 w 608697"/>
              <a:gd name="connsiteY66" fmla="*/ 328314 h 542084"/>
              <a:gd name="connsiteX67" fmla="*/ 222968 w 608697"/>
              <a:gd name="connsiteY67" fmla="*/ 339859 h 542084"/>
              <a:gd name="connsiteX68" fmla="*/ 246017 w 608697"/>
              <a:gd name="connsiteY68" fmla="*/ 339859 h 542084"/>
              <a:gd name="connsiteX69" fmla="*/ 257579 w 608697"/>
              <a:gd name="connsiteY69" fmla="*/ 328314 h 542084"/>
              <a:gd name="connsiteX70" fmla="*/ 257579 w 608697"/>
              <a:gd name="connsiteY70" fmla="*/ 305373 h 542084"/>
              <a:gd name="connsiteX71" fmla="*/ 246017 w 608697"/>
              <a:gd name="connsiteY71" fmla="*/ 293828 h 542084"/>
              <a:gd name="connsiteX72" fmla="*/ 263397 w 608697"/>
              <a:gd name="connsiteY72" fmla="*/ 157149 h 542084"/>
              <a:gd name="connsiteX73" fmla="*/ 345301 w 608697"/>
              <a:gd name="connsiteY73" fmla="*/ 157149 h 542084"/>
              <a:gd name="connsiteX74" fmla="*/ 374766 w 608697"/>
              <a:gd name="connsiteY74" fmla="*/ 186570 h 542084"/>
              <a:gd name="connsiteX75" fmla="*/ 374766 w 608697"/>
              <a:gd name="connsiteY75" fmla="*/ 224483 h 542084"/>
              <a:gd name="connsiteX76" fmla="*/ 386999 w 608697"/>
              <a:gd name="connsiteY76" fmla="*/ 227462 h 542084"/>
              <a:gd name="connsiteX77" fmla="*/ 553939 w 608697"/>
              <a:gd name="connsiteY77" fmla="*/ 431326 h 542084"/>
              <a:gd name="connsiteX78" fmla="*/ 523132 w 608697"/>
              <a:gd name="connsiteY78" fmla="*/ 524729 h 542084"/>
              <a:gd name="connsiteX79" fmla="*/ 443019 w 608697"/>
              <a:gd name="connsiteY79" fmla="*/ 542084 h 542084"/>
              <a:gd name="connsiteX80" fmla="*/ 165680 w 608697"/>
              <a:gd name="connsiteY80" fmla="*/ 542084 h 542084"/>
              <a:gd name="connsiteX81" fmla="*/ 85566 w 608697"/>
              <a:gd name="connsiteY81" fmla="*/ 524729 h 542084"/>
              <a:gd name="connsiteX82" fmla="*/ 54759 w 608697"/>
              <a:gd name="connsiteY82" fmla="*/ 431326 h 542084"/>
              <a:gd name="connsiteX83" fmla="*/ 221700 w 608697"/>
              <a:gd name="connsiteY83" fmla="*/ 227462 h 542084"/>
              <a:gd name="connsiteX84" fmla="*/ 233933 w 608697"/>
              <a:gd name="connsiteY84" fmla="*/ 224483 h 542084"/>
              <a:gd name="connsiteX85" fmla="*/ 233933 w 608697"/>
              <a:gd name="connsiteY85" fmla="*/ 186570 h 542084"/>
              <a:gd name="connsiteX86" fmla="*/ 263397 w 608697"/>
              <a:gd name="connsiteY86" fmla="*/ 157149 h 542084"/>
              <a:gd name="connsiteX87" fmla="*/ 304349 w 608697"/>
              <a:gd name="connsiteY87" fmla="*/ 0 h 542084"/>
              <a:gd name="connsiteX88" fmla="*/ 608697 w 608697"/>
              <a:gd name="connsiteY88" fmla="*/ 131760 h 542084"/>
              <a:gd name="connsiteX89" fmla="*/ 608697 w 608697"/>
              <a:gd name="connsiteY89" fmla="*/ 158127 h 542084"/>
              <a:gd name="connsiteX90" fmla="*/ 548051 w 608697"/>
              <a:gd name="connsiteY90" fmla="*/ 218682 h 542084"/>
              <a:gd name="connsiteX91" fmla="*/ 463087 w 608697"/>
              <a:gd name="connsiteY91" fmla="*/ 218682 h 542084"/>
              <a:gd name="connsiteX92" fmla="*/ 402441 w 608697"/>
              <a:gd name="connsiteY92" fmla="*/ 158127 h 542084"/>
              <a:gd name="connsiteX93" fmla="*/ 402441 w 608697"/>
              <a:gd name="connsiteY93" fmla="*/ 131760 h 542084"/>
              <a:gd name="connsiteX94" fmla="*/ 402516 w 608697"/>
              <a:gd name="connsiteY94" fmla="*/ 129898 h 542084"/>
              <a:gd name="connsiteX95" fmla="*/ 206181 w 608697"/>
              <a:gd name="connsiteY95" fmla="*/ 129898 h 542084"/>
              <a:gd name="connsiteX96" fmla="*/ 206256 w 608697"/>
              <a:gd name="connsiteY96" fmla="*/ 131760 h 542084"/>
              <a:gd name="connsiteX97" fmla="*/ 206256 w 608697"/>
              <a:gd name="connsiteY97" fmla="*/ 158127 h 542084"/>
              <a:gd name="connsiteX98" fmla="*/ 145610 w 608697"/>
              <a:gd name="connsiteY98" fmla="*/ 218682 h 542084"/>
              <a:gd name="connsiteX99" fmla="*/ 60646 w 608697"/>
              <a:gd name="connsiteY99" fmla="*/ 218682 h 542084"/>
              <a:gd name="connsiteX100" fmla="*/ 0 w 608697"/>
              <a:gd name="connsiteY100" fmla="*/ 158127 h 542084"/>
              <a:gd name="connsiteX101" fmla="*/ 0 w 608697"/>
              <a:gd name="connsiteY101" fmla="*/ 131760 h 542084"/>
              <a:gd name="connsiteX102" fmla="*/ 304349 w 608697"/>
              <a:gd name="connsiteY102" fmla="*/ 0 h 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608697" h="542084">
                <a:moveTo>
                  <a:pt x="362681" y="433337"/>
                </a:moveTo>
                <a:cubicBezTo>
                  <a:pt x="356341" y="433337"/>
                  <a:pt x="351119" y="438476"/>
                  <a:pt x="351119" y="444882"/>
                </a:cubicBezTo>
                <a:lnTo>
                  <a:pt x="351119" y="467823"/>
                </a:lnTo>
                <a:cubicBezTo>
                  <a:pt x="351119" y="474229"/>
                  <a:pt x="356341" y="479368"/>
                  <a:pt x="362681" y="479368"/>
                </a:cubicBezTo>
                <a:lnTo>
                  <a:pt x="385656" y="479368"/>
                </a:lnTo>
                <a:cubicBezTo>
                  <a:pt x="392071" y="479368"/>
                  <a:pt x="397218" y="474229"/>
                  <a:pt x="397218" y="467823"/>
                </a:cubicBezTo>
                <a:lnTo>
                  <a:pt x="397218" y="444882"/>
                </a:lnTo>
                <a:cubicBezTo>
                  <a:pt x="397218" y="438476"/>
                  <a:pt x="392071" y="433337"/>
                  <a:pt x="385656" y="433337"/>
                </a:cubicBezTo>
                <a:close/>
                <a:moveTo>
                  <a:pt x="292862" y="433337"/>
                </a:moveTo>
                <a:cubicBezTo>
                  <a:pt x="286447" y="433337"/>
                  <a:pt x="281300" y="438476"/>
                  <a:pt x="281300" y="444882"/>
                </a:cubicBezTo>
                <a:lnTo>
                  <a:pt x="281300" y="467823"/>
                </a:lnTo>
                <a:cubicBezTo>
                  <a:pt x="281300" y="474229"/>
                  <a:pt x="286447" y="479368"/>
                  <a:pt x="292862" y="479368"/>
                </a:cubicBezTo>
                <a:lnTo>
                  <a:pt x="315837" y="479368"/>
                </a:lnTo>
                <a:cubicBezTo>
                  <a:pt x="322252" y="479368"/>
                  <a:pt x="327399" y="474229"/>
                  <a:pt x="327399" y="467823"/>
                </a:cubicBezTo>
                <a:lnTo>
                  <a:pt x="327399" y="444882"/>
                </a:lnTo>
                <a:cubicBezTo>
                  <a:pt x="327399" y="438476"/>
                  <a:pt x="322252" y="433337"/>
                  <a:pt x="315837" y="433337"/>
                </a:cubicBezTo>
                <a:close/>
                <a:moveTo>
                  <a:pt x="222968" y="433337"/>
                </a:moveTo>
                <a:cubicBezTo>
                  <a:pt x="216627" y="433337"/>
                  <a:pt x="211480" y="438476"/>
                  <a:pt x="211480" y="444882"/>
                </a:cubicBezTo>
                <a:lnTo>
                  <a:pt x="211480" y="467823"/>
                </a:lnTo>
                <a:cubicBezTo>
                  <a:pt x="211480" y="474229"/>
                  <a:pt x="216627" y="479368"/>
                  <a:pt x="222968" y="479368"/>
                </a:cubicBezTo>
                <a:lnTo>
                  <a:pt x="246017" y="479368"/>
                </a:lnTo>
                <a:cubicBezTo>
                  <a:pt x="252358" y="479368"/>
                  <a:pt x="257579" y="474229"/>
                  <a:pt x="257579" y="467823"/>
                </a:cubicBezTo>
                <a:lnTo>
                  <a:pt x="257579" y="444882"/>
                </a:lnTo>
                <a:cubicBezTo>
                  <a:pt x="257579" y="438476"/>
                  <a:pt x="252358" y="433337"/>
                  <a:pt x="246017" y="433337"/>
                </a:cubicBezTo>
                <a:close/>
                <a:moveTo>
                  <a:pt x="362681" y="363545"/>
                </a:moveTo>
                <a:cubicBezTo>
                  <a:pt x="356341" y="363545"/>
                  <a:pt x="351119" y="368759"/>
                  <a:pt x="351119" y="375090"/>
                </a:cubicBezTo>
                <a:lnTo>
                  <a:pt x="351119" y="398106"/>
                </a:lnTo>
                <a:cubicBezTo>
                  <a:pt x="351119" y="404437"/>
                  <a:pt x="356341" y="409651"/>
                  <a:pt x="362681" y="409651"/>
                </a:cubicBezTo>
                <a:lnTo>
                  <a:pt x="385656" y="409651"/>
                </a:lnTo>
                <a:cubicBezTo>
                  <a:pt x="392071" y="409651"/>
                  <a:pt x="397218" y="404437"/>
                  <a:pt x="397218" y="398106"/>
                </a:cubicBezTo>
                <a:lnTo>
                  <a:pt x="397218" y="375090"/>
                </a:lnTo>
                <a:cubicBezTo>
                  <a:pt x="397218" y="368759"/>
                  <a:pt x="392071" y="363545"/>
                  <a:pt x="385656" y="363545"/>
                </a:cubicBezTo>
                <a:close/>
                <a:moveTo>
                  <a:pt x="292862" y="363545"/>
                </a:moveTo>
                <a:cubicBezTo>
                  <a:pt x="286447" y="363545"/>
                  <a:pt x="281300" y="368759"/>
                  <a:pt x="281300" y="375090"/>
                </a:cubicBezTo>
                <a:lnTo>
                  <a:pt x="281300" y="398106"/>
                </a:lnTo>
                <a:cubicBezTo>
                  <a:pt x="281300" y="404437"/>
                  <a:pt x="286447" y="409651"/>
                  <a:pt x="292862" y="409651"/>
                </a:cubicBezTo>
                <a:lnTo>
                  <a:pt x="315837" y="409651"/>
                </a:lnTo>
                <a:cubicBezTo>
                  <a:pt x="322252" y="409651"/>
                  <a:pt x="327399" y="404437"/>
                  <a:pt x="327399" y="398106"/>
                </a:cubicBezTo>
                <a:lnTo>
                  <a:pt x="327399" y="375090"/>
                </a:lnTo>
                <a:cubicBezTo>
                  <a:pt x="327399" y="368759"/>
                  <a:pt x="322252" y="363545"/>
                  <a:pt x="315837" y="363545"/>
                </a:cubicBezTo>
                <a:close/>
                <a:moveTo>
                  <a:pt x="222968" y="363545"/>
                </a:moveTo>
                <a:cubicBezTo>
                  <a:pt x="216627" y="363545"/>
                  <a:pt x="211480" y="368759"/>
                  <a:pt x="211480" y="375090"/>
                </a:cubicBezTo>
                <a:lnTo>
                  <a:pt x="211480" y="398106"/>
                </a:lnTo>
                <a:cubicBezTo>
                  <a:pt x="211480" y="404437"/>
                  <a:pt x="216627" y="409651"/>
                  <a:pt x="222968" y="409651"/>
                </a:cubicBezTo>
                <a:lnTo>
                  <a:pt x="246017" y="409651"/>
                </a:lnTo>
                <a:cubicBezTo>
                  <a:pt x="252358" y="409651"/>
                  <a:pt x="257579" y="404437"/>
                  <a:pt x="257579" y="398106"/>
                </a:cubicBezTo>
                <a:lnTo>
                  <a:pt x="257579" y="375090"/>
                </a:lnTo>
                <a:cubicBezTo>
                  <a:pt x="257579" y="368759"/>
                  <a:pt x="252358" y="363545"/>
                  <a:pt x="246017" y="363545"/>
                </a:cubicBezTo>
                <a:close/>
                <a:moveTo>
                  <a:pt x="362681" y="293828"/>
                </a:moveTo>
                <a:cubicBezTo>
                  <a:pt x="356341" y="293828"/>
                  <a:pt x="351119" y="298967"/>
                  <a:pt x="351119" y="305373"/>
                </a:cubicBezTo>
                <a:lnTo>
                  <a:pt x="351119" y="328314"/>
                </a:lnTo>
                <a:cubicBezTo>
                  <a:pt x="351119" y="334720"/>
                  <a:pt x="356341" y="339859"/>
                  <a:pt x="362681" y="339859"/>
                </a:cubicBezTo>
                <a:lnTo>
                  <a:pt x="385656" y="339859"/>
                </a:lnTo>
                <a:cubicBezTo>
                  <a:pt x="392071" y="339859"/>
                  <a:pt x="397218" y="334720"/>
                  <a:pt x="397218" y="328314"/>
                </a:cubicBezTo>
                <a:lnTo>
                  <a:pt x="397218" y="305373"/>
                </a:lnTo>
                <a:cubicBezTo>
                  <a:pt x="397218" y="298967"/>
                  <a:pt x="392071" y="293828"/>
                  <a:pt x="385656" y="293828"/>
                </a:cubicBezTo>
                <a:close/>
                <a:moveTo>
                  <a:pt x="292862" y="293828"/>
                </a:moveTo>
                <a:cubicBezTo>
                  <a:pt x="286447" y="293828"/>
                  <a:pt x="281300" y="298967"/>
                  <a:pt x="281300" y="305373"/>
                </a:cubicBezTo>
                <a:lnTo>
                  <a:pt x="281300" y="328314"/>
                </a:lnTo>
                <a:cubicBezTo>
                  <a:pt x="281300" y="334720"/>
                  <a:pt x="286447" y="339859"/>
                  <a:pt x="292862" y="339859"/>
                </a:cubicBezTo>
                <a:lnTo>
                  <a:pt x="315837" y="339859"/>
                </a:lnTo>
                <a:cubicBezTo>
                  <a:pt x="322252" y="339859"/>
                  <a:pt x="327399" y="334720"/>
                  <a:pt x="327399" y="328314"/>
                </a:cubicBezTo>
                <a:lnTo>
                  <a:pt x="327399" y="305373"/>
                </a:lnTo>
                <a:cubicBezTo>
                  <a:pt x="327399" y="298967"/>
                  <a:pt x="322252" y="293828"/>
                  <a:pt x="315837" y="293828"/>
                </a:cubicBezTo>
                <a:close/>
                <a:moveTo>
                  <a:pt x="222968" y="293828"/>
                </a:moveTo>
                <a:cubicBezTo>
                  <a:pt x="216627" y="293828"/>
                  <a:pt x="211480" y="298967"/>
                  <a:pt x="211480" y="305373"/>
                </a:cubicBezTo>
                <a:lnTo>
                  <a:pt x="211480" y="328314"/>
                </a:lnTo>
                <a:cubicBezTo>
                  <a:pt x="211480" y="334720"/>
                  <a:pt x="216627" y="339859"/>
                  <a:pt x="222968" y="339859"/>
                </a:cubicBezTo>
                <a:lnTo>
                  <a:pt x="246017" y="339859"/>
                </a:lnTo>
                <a:cubicBezTo>
                  <a:pt x="252358" y="339859"/>
                  <a:pt x="257579" y="334720"/>
                  <a:pt x="257579" y="328314"/>
                </a:cubicBezTo>
                <a:lnTo>
                  <a:pt x="257579" y="305373"/>
                </a:lnTo>
                <a:cubicBezTo>
                  <a:pt x="257579" y="298967"/>
                  <a:pt x="252358" y="293828"/>
                  <a:pt x="246017" y="293828"/>
                </a:cubicBezTo>
                <a:close/>
                <a:moveTo>
                  <a:pt x="263397" y="157149"/>
                </a:moveTo>
                <a:lnTo>
                  <a:pt x="345301" y="157149"/>
                </a:lnTo>
                <a:cubicBezTo>
                  <a:pt x="361562" y="157149"/>
                  <a:pt x="374766" y="170407"/>
                  <a:pt x="374766" y="186570"/>
                </a:cubicBezTo>
                <a:lnTo>
                  <a:pt x="374766" y="224483"/>
                </a:lnTo>
                <a:lnTo>
                  <a:pt x="386999" y="227462"/>
                </a:lnTo>
                <a:cubicBezTo>
                  <a:pt x="537678" y="264406"/>
                  <a:pt x="553939" y="382315"/>
                  <a:pt x="553939" y="431326"/>
                </a:cubicBezTo>
                <a:cubicBezTo>
                  <a:pt x="553939" y="478400"/>
                  <a:pt x="543869" y="509013"/>
                  <a:pt x="523132" y="524729"/>
                </a:cubicBezTo>
                <a:cubicBezTo>
                  <a:pt x="502992" y="539998"/>
                  <a:pt x="472781" y="542084"/>
                  <a:pt x="443019" y="542084"/>
                </a:cubicBezTo>
                <a:lnTo>
                  <a:pt x="165680" y="542084"/>
                </a:lnTo>
                <a:cubicBezTo>
                  <a:pt x="135917" y="542084"/>
                  <a:pt x="105707" y="539998"/>
                  <a:pt x="85566" y="524729"/>
                </a:cubicBezTo>
                <a:cubicBezTo>
                  <a:pt x="64829" y="509013"/>
                  <a:pt x="54759" y="478400"/>
                  <a:pt x="54759" y="431326"/>
                </a:cubicBezTo>
                <a:cubicBezTo>
                  <a:pt x="54759" y="382315"/>
                  <a:pt x="71021" y="264406"/>
                  <a:pt x="221700" y="227462"/>
                </a:cubicBezTo>
                <a:lnTo>
                  <a:pt x="233933" y="224483"/>
                </a:lnTo>
                <a:lnTo>
                  <a:pt x="233933" y="186570"/>
                </a:lnTo>
                <a:cubicBezTo>
                  <a:pt x="233933" y="170407"/>
                  <a:pt x="247136" y="157149"/>
                  <a:pt x="263397" y="157149"/>
                </a:cubicBezTo>
                <a:close/>
                <a:moveTo>
                  <a:pt x="304349" y="0"/>
                </a:moveTo>
                <a:cubicBezTo>
                  <a:pt x="499341" y="0"/>
                  <a:pt x="608697" y="60555"/>
                  <a:pt x="608697" y="131760"/>
                </a:cubicBezTo>
                <a:lnTo>
                  <a:pt x="608697" y="158127"/>
                </a:lnTo>
                <a:cubicBezTo>
                  <a:pt x="608697" y="191570"/>
                  <a:pt x="581545" y="218682"/>
                  <a:pt x="548051" y="218682"/>
                </a:cubicBezTo>
                <a:lnTo>
                  <a:pt x="463087" y="218682"/>
                </a:lnTo>
                <a:cubicBezTo>
                  <a:pt x="429594" y="218682"/>
                  <a:pt x="402441" y="191570"/>
                  <a:pt x="402441" y="158127"/>
                </a:cubicBezTo>
                <a:lnTo>
                  <a:pt x="402441" y="131760"/>
                </a:lnTo>
                <a:cubicBezTo>
                  <a:pt x="402441" y="131165"/>
                  <a:pt x="402516" y="130569"/>
                  <a:pt x="402516" y="129898"/>
                </a:cubicBezTo>
                <a:lnTo>
                  <a:pt x="206181" y="129898"/>
                </a:lnTo>
                <a:cubicBezTo>
                  <a:pt x="206181" y="130569"/>
                  <a:pt x="206256" y="131165"/>
                  <a:pt x="206256" y="131760"/>
                </a:cubicBezTo>
                <a:lnTo>
                  <a:pt x="206256" y="158127"/>
                </a:lnTo>
                <a:cubicBezTo>
                  <a:pt x="206256" y="191570"/>
                  <a:pt x="179103" y="218682"/>
                  <a:pt x="145610" y="218682"/>
                </a:cubicBezTo>
                <a:lnTo>
                  <a:pt x="60646" y="218682"/>
                </a:lnTo>
                <a:cubicBezTo>
                  <a:pt x="27152" y="218682"/>
                  <a:pt x="0" y="191570"/>
                  <a:pt x="0" y="158127"/>
                </a:cubicBezTo>
                <a:lnTo>
                  <a:pt x="0" y="131760"/>
                </a:lnTo>
                <a:cubicBezTo>
                  <a:pt x="0" y="60480"/>
                  <a:pt x="109357" y="0"/>
                  <a:pt x="304349" y="0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ld-telephone_72355">
            <a:extLst>
              <a:ext uri="{FF2B5EF4-FFF2-40B4-BE49-F238E27FC236}">
                <a16:creationId xmlns:a16="http://schemas.microsoft.com/office/drawing/2014/main" id="{4F642C2F-217D-44C8-9221-887FC7833127}"/>
              </a:ext>
            </a:extLst>
          </p:cNvPr>
          <p:cNvSpPr/>
          <p:nvPr/>
        </p:nvSpPr>
        <p:spPr>
          <a:xfrm>
            <a:off x="1770541" y="4420002"/>
            <a:ext cx="427377" cy="380606"/>
          </a:xfrm>
          <a:custGeom>
            <a:avLst/>
            <a:gdLst>
              <a:gd name="connsiteX0" fmla="*/ 362681 w 608697"/>
              <a:gd name="connsiteY0" fmla="*/ 433337 h 542084"/>
              <a:gd name="connsiteX1" fmla="*/ 351119 w 608697"/>
              <a:gd name="connsiteY1" fmla="*/ 444882 h 542084"/>
              <a:gd name="connsiteX2" fmla="*/ 351119 w 608697"/>
              <a:gd name="connsiteY2" fmla="*/ 467823 h 542084"/>
              <a:gd name="connsiteX3" fmla="*/ 362681 w 608697"/>
              <a:gd name="connsiteY3" fmla="*/ 479368 h 542084"/>
              <a:gd name="connsiteX4" fmla="*/ 385656 w 608697"/>
              <a:gd name="connsiteY4" fmla="*/ 479368 h 542084"/>
              <a:gd name="connsiteX5" fmla="*/ 397218 w 608697"/>
              <a:gd name="connsiteY5" fmla="*/ 467823 h 542084"/>
              <a:gd name="connsiteX6" fmla="*/ 397218 w 608697"/>
              <a:gd name="connsiteY6" fmla="*/ 444882 h 542084"/>
              <a:gd name="connsiteX7" fmla="*/ 385656 w 608697"/>
              <a:gd name="connsiteY7" fmla="*/ 433337 h 542084"/>
              <a:gd name="connsiteX8" fmla="*/ 292862 w 608697"/>
              <a:gd name="connsiteY8" fmla="*/ 433337 h 542084"/>
              <a:gd name="connsiteX9" fmla="*/ 281300 w 608697"/>
              <a:gd name="connsiteY9" fmla="*/ 444882 h 542084"/>
              <a:gd name="connsiteX10" fmla="*/ 281300 w 608697"/>
              <a:gd name="connsiteY10" fmla="*/ 467823 h 542084"/>
              <a:gd name="connsiteX11" fmla="*/ 292862 w 608697"/>
              <a:gd name="connsiteY11" fmla="*/ 479368 h 542084"/>
              <a:gd name="connsiteX12" fmla="*/ 315837 w 608697"/>
              <a:gd name="connsiteY12" fmla="*/ 479368 h 542084"/>
              <a:gd name="connsiteX13" fmla="*/ 327399 w 608697"/>
              <a:gd name="connsiteY13" fmla="*/ 467823 h 542084"/>
              <a:gd name="connsiteX14" fmla="*/ 327399 w 608697"/>
              <a:gd name="connsiteY14" fmla="*/ 444882 h 542084"/>
              <a:gd name="connsiteX15" fmla="*/ 315837 w 608697"/>
              <a:gd name="connsiteY15" fmla="*/ 433337 h 542084"/>
              <a:gd name="connsiteX16" fmla="*/ 222968 w 608697"/>
              <a:gd name="connsiteY16" fmla="*/ 433337 h 542084"/>
              <a:gd name="connsiteX17" fmla="*/ 211480 w 608697"/>
              <a:gd name="connsiteY17" fmla="*/ 444882 h 542084"/>
              <a:gd name="connsiteX18" fmla="*/ 211480 w 608697"/>
              <a:gd name="connsiteY18" fmla="*/ 467823 h 542084"/>
              <a:gd name="connsiteX19" fmla="*/ 222968 w 608697"/>
              <a:gd name="connsiteY19" fmla="*/ 479368 h 542084"/>
              <a:gd name="connsiteX20" fmla="*/ 246017 w 608697"/>
              <a:gd name="connsiteY20" fmla="*/ 479368 h 542084"/>
              <a:gd name="connsiteX21" fmla="*/ 257579 w 608697"/>
              <a:gd name="connsiteY21" fmla="*/ 467823 h 542084"/>
              <a:gd name="connsiteX22" fmla="*/ 257579 w 608697"/>
              <a:gd name="connsiteY22" fmla="*/ 444882 h 542084"/>
              <a:gd name="connsiteX23" fmla="*/ 246017 w 608697"/>
              <a:gd name="connsiteY23" fmla="*/ 433337 h 542084"/>
              <a:gd name="connsiteX24" fmla="*/ 362681 w 608697"/>
              <a:gd name="connsiteY24" fmla="*/ 363545 h 542084"/>
              <a:gd name="connsiteX25" fmla="*/ 351119 w 608697"/>
              <a:gd name="connsiteY25" fmla="*/ 375090 h 542084"/>
              <a:gd name="connsiteX26" fmla="*/ 351119 w 608697"/>
              <a:gd name="connsiteY26" fmla="*/ 398106 h 542084"/>
              <a:gd name="connsiteX27" fmla="*/ 362681 w 608697"/>
              <a:gd name="connsiteY27" fmla="*/ 409651 h 542084"/>
              <a:gd name="connsiteX28" fmla="*/ 385656 w 608697"/>
              <a:gd name="connsiteY28" fmla="*/ 409651 h 542084"/>
              <a:gd name="connsiteX29" fmla="*/ 397218 w 608697"/>
              <a:gd name="connsiteY29" fmla="*/ 398106 h 542084"/>
              <a:gd name="connsiteX30" fmla="*/ 397218 w 608697"/>
              <a:gd name="connsiteY30" fmla="*/ 375090 h 542084"/>
              <a:gd name="connsiteX31" fmla="*/ 385656 w 608697"/>
              <a:gd name="connsiteY31" fmla="*/ 363545 h 542084"/>
              <a:gd name="connsiteX32" fmla="*/ 292862 w 608697"/>
              <a:gd name="connsiteY32" fmla="*/ 363545 h 542084"/>
              <a:gd name="connsiteX33" fmla="*/ 281300 w 608697"/>
              <a:gd name="connsiteY33" fmla="*/ 375090 h 542084"/>
              <a:gd name="connsiteX34" fmla="*/ 281300 w 608697"/>
              <a:gd name="connsiteY34" fmla="*/ 398106 h 542084"/>
              <a:gd name="connsiteX35" fmla="*/ 292862 w 608697"/>
              <a:gd name="connsiteY35" fmla="*/ 409651 h 542084"/>
              <a:gd name="connsiteX36" fmla="*/ 315837 w 608697"/>
              <a:gd name="connsiteY36" fmla="*/ 409651 h 542084"/>
              <a:gd name="connsiteX37" fmla="*/ 327399 w 608697"/>
              <a:gd name="connsiteY37" fmla="*/ 398106 h 542084"/>
              <a:gd name="connsiteX38" fmla="*/ 327399 w 608697"/>
              <a:gd name="connsiteY38" fmla="*/ 375090 h 542084"/>
              <a:gd name="connsiteX39" fmla="*/ 315837 w 608697"/>
              <a:gd name="connsiteY39" fmla="*/ 363545 h 542084"/>
              <a:gd name="connsiteX40" fmla="*/ 222968 w 608697"/>
              <a:gd name="connsiteY40" fmla="*/ 363545 h 542084"/>
              <a:gd name="connsiteX41" fmla="*/ 211480 w 608697"/>
              <a:gd name="connsiteY41" fmla="*/ 375090 h 542084"/>
              <a:gd name="connsiteX42" fmla="*/ 211480 w 608697"/>
              <a:gd name="connsiteY42" fmla="*/ 398106 h 542084"/>
              <a:gd name="connsiteX43" fmla="*/ 222968 w 608697"/>
              <a:gd name="connsiteY43" fmla="*/ 409651 h 542084"/>
              <a:gd name="connsiteX44" fmla="*/ 246017 w 608697"/>
              <a:gd name="connsiteY44" fmla="*/ 409651 h 542084"/>
              <a:gd name="connsiteX45" fmla="*/ 257579 w 608697"/>
              <a:gd name="connsiteY45" fmla="*/ 398106 h 542084"/>
              <a:gd name="connsiteX46" fmla="*/ 257579 w 608697"/>
              <a:gd name="connsiteY46" fmla="*/ 375090 h 542084"/>
              <a:gd name="connsiteX47" fmla="*/ 246017 w 608697"/>
              <a:gd name="connsiteY47" fmla="*/ 363545 h 542084"/>
              <a:gd name="connsiteX48" fmla="*/ 362681 w 608697"/>
              <a:gd name="connsiteY48" fmla="*/ 293828 h 542084"/>
              <a:gd name="connsiteX49" fmla="*/ 351119 w 608697"/>
              <a:gd name="connsiteY49" fmla="*/ 305373 h 542084"/>
              <a:gd name="connsiteX50" fmla="*/ 351119 w 608697"/>
              <a:gd name="connsiteY50" fmla="*/ 328314 h 542084"/>
              <a:gd name="connsiteX51" fmla="*/ 362681 w 608697"/>
              <a:gd name="connsiteY51" fmla="*/ 339859 h 542084"/>
              <a:gd name="connsiteX52" fmla="*/ 385656 w 608697"/>
              <a:gd name="connsiteY52" fmla="*/ 339859 h 542084"/>
              <a:gd name="connsiteX53" fmla="*/ 397218 w 608697"/>
              <a:gd name="connsiteY53" fmla="*/ 328314 h 542084"/>
              <a:gd name="connsiteX54" fmla="*/ 397218 w 608697"/>
              <a:gd name="connsiteY54" fmla="*/ 305373 h 542084"/>
              <a:gd name="connsiteX55" fmla="*/ 385656 w 608697"/>
              <a:gd name="connsiteY55" fmla="*/ 293828 h 542084"/>
              <a:gd name="connsiteX56" fmla="*/ 292862 w 608697"/>
              <a:gd name="connsiteY56" fmla="*/ 293828 h 542084"/>
              <a:gd name="connsiteX57" fmla="*/ 281300 w 608697"/>
              <a:gd name="connsiteY57" fmla="*/ 305373 h 542084"/>
              <a:gd name="connsiteX58" fmla="*/ 281300 w 608697"/>
              <a:gd name="connsiteY58" fmla="*/ 328314 h 542084"/>
              <a:gd name="connsiteX59" fmla="*/ 292862 w 608697"/>
              <a:gd name="connsiteY59" fmla="*/ 339859 h 542084"/>
              <a:gd name="connsiteX60" fmla="*/ 315837 w 608697"/>
              <a:gd name="connsiteY60" fmla="*/ 339859 h 542084"/>
              <a:gd name="connsiteX61" fmla="*/ 327399 w 608697"/>
              <a:gd name="connsiteY61" fmla="*/ 328314 h 542084"/>
              <a:gd name="connsiteX62" fmla="*/ 327399 w 608697"/>
              <a:gd name="connsiteY62" fmla="*/ 305373 h 542084"/>
              <a:gd name="connsiteX63" fmla="*/ 315837 w 608697"/>
              <a:gd name="connsiteY63" fmla="*/ 293828 h 542084"/>
              <a:gd name="connsiteX64" fmla="*/ 222968 w 608697"/>
              <a:gd name="connsiteY64" fmla="*/ 293828 h 542084"/>
              <a:gd name="connsiteX65" fmla="*/ 211480 w 608697"/>
              <a:gd name="connsiteY65" fmla="*/ 305373 h 542084"/>
              <a:gd name="connsiteX66" fmla="*/ 211480 w 608697"/>
              <a:gd name="connsiteY66" fmla="*/ 328314 h 542084"/>
              <a:gd name="connsiteX67" fmla="*/ 222968 w 608697"/>
              <a:gd name="connsiteY67" fmla="*/ 339859 h 542084"/>
              <a:gd name="connsiteX68" fmla="*/ 246017 w 608697"/>
              <a:gd name="connsiteY68" fmla="*/ 339859 h 542084"/>
              <a:gd name="connsiteX69" fmla="*/ 257579 w 608697"/>
              <a:gd name="connsiteY69" fmla="*/ 328314 h 542084"/>
              <a:gd name="connsiteX70" fmla="*/ 257579 w 608697"/>
              <a:gd name="connsiteY70" fmla="*/ 305373 h 542084"/>
              <a:gd name="connsiteX71" fmla="*/ 246017 w 608697"/>
              <a:gd name="connsiteY71" fmla="*/ 293828 h 542084"/>
              <a:gd name="connsiteX72" fmla="*/ 263397 w 608697"/>
              <a:gd name="connsiteY72" fmla="*/ 157149 h 542084"/>
              <a:gd name="connsiteX73" fmla="*/ 345301 w 608697"/>
              <a:gd name="connsiteY73" fmla="*/ 157149 h 542084"/>
              <a:gd name="connsiteX74" fmla="*/ 374766 w 608697"/>
              <a:gd name="connsiteY74" fmla="*/ 186570 h 542084"/>
              <a:gd name="connsiteX75" fmla="*/ 374766 w 608697"/>
              <a:gd name="connsiteY75" fmla="*/ 224483 h 542084"/>
              <a:gd name="connsiteX76" fmla="*/ 386999 w 608697"/>
              <a:gd name="connsiteY76" fmla="*/ 227462 h 542084"/>
              <a:gd name="connsiteX77" fmla="*/ 553939 w 608697"/>
              <a:gd name="connsiteY77" fmla="*/ 431326 h 542084"/>
              <a:gd name="connsiteX78" fmla="*/ 523132 w 608697"/>
              <a:gd name="connsiteY78" fmla="*/ 524729 h 542084"/>
              <a:gd name="connsiteX79" fmla="*/ 443019 w 608697"/>
              <a:gd name="connsiteY79" fmla="*/ 542084 h 542084"/>
              <a:gd name="connsiteX80" fmla="*/ 165680 w 608697"/>
              <a:gd name="connsiteY80" fmla="*/ 542084 h 542084"/>
              <a:gd name="connsiteX81" fmla="*/ 85566 w 608697"/>
              <a:gd name="connsiteY81" fmla="*/ 524729 h 542084"/>
              <a:gd name="connsiteX82" fmla="*/ 54759 w 608697"/>
              <a:gd name="connsiteY82" fmla="*/ 431326 h 542084"/>
              <a:gd name="connsiteX83" fmla="*/ 221700 w 608697"/>
              <a:gd name="connsiteY83" fmla="*/ 227462 h 542084"/>
              <a:gd name="connsiteX84" fmla="*/ 233933 w 608697"/>
              <a:gd name="connsiteY84" fmla="*/ 224483 h 542084"/>
              <a:gd name="connsiteX85" fmla="*/ 233933 w 608697"/>
              <a:gd name="connsiteY85" fmla="*/ 186570 h 542084"/>
              <a:gd name="connsiteX86" fmla="*/ 263397 w 608697"/>
              <a:gd name="connsiteY86" fmla="*/ 157149 h 542084"/>
              <a:gd name="connsiteX87" fmla="*/ 304349 w 608697"/>
              <a:gd name="connsiteY87" fmla="*/ 0 h 542084"/>
              <a:gd name="connsiteX88" fmla="*/ 608697 w 608697"/>
              <a:gd name="connsiteY88" fmla="*/ 131760 h 542084"/>
              <a:gd name="connsiteX89" fmla="*/ 608697 w 608697"/>
              <a:gd name="connsiteY89" fmla="*/ 158127 h 542084"/>
              <a:gd name="connsiteX90" fmla="*/ 548051 w 608697"/>
              <a:gd name="connsiteY90" fmla="*/ 218682 h 542084"/>
              <a:gd name="connsiteX91" fmla="*/ 463087 w 608697"/>
              <a:gd name="connsiteY91" fmla="*/ 218682 h 542084"/>
              <a:gd name="connsiteX92" fmla="*/ 402441 w 608697"/>
              <a:gd name="connsiteY92" fmla="*/ 158127 h 542084"/>
              <a:gd name="connsiteX93" fmla="*/ 402441 w 608697"/>
              <a:gd name="connsiteY93" fmla="*/ 131760 h 542084"/>
              <a:gd name="connsiteX94" fmla="*/ 402516 w 608697"/>
              <a:gd name="connsiteY94" fmla="*/ 129898 h 542084"/>
              <a:gd name="connsiteX95" fmla="*/ 206181 w 608697"/>
              <a:gd name="connsiteY95" fmla="*/ 129898 h 542084"/>
              <a:gd name="connsiteX96" fmla="*/ 206256 w 608697"/>
              <a:gd name="connsiteY96" fmla="*/ 131760 h 542084"/>
              <a:gd name="connsiteX97" fmla="*/ 206256 w 608697"/>
              <a:gd name="connsiteY97" fmla="*/ 158127 h 542084"/>
              <a:gd name="connsiteX98" fmla="*/ 145610 w 608697"/>
              <a:gd name="connsiteY98" fmla="*/ 218682 h 542084"/>
              <a:gd name="connsiteX99" fmla="*/ 60646 w 608697"/>
              <a:gd name="connsiteY99" fmla="*/ 218682 h 542084"/>
              <a:gd name="connsiteX100" fmla="*/ 0 w 608697"/>
              <a:gd name="connsiteY100" fmla="*/ 158127 h 542084"/>
              <a:gd name="connsiteX101" fmla="*/ 0 w 608697"/>
              <a:gd name="connsiteY101" fmla="*/ 131760 h 542084"/>
              <a:gd name="connsiteX102" fmla="*/ 304349 w 608697"/>
              <a:gd name="connsiteY102" fmla="*/ 0 h 542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608697" h="542084">
                <a:moveTo>
                  <a:pt x="362681" y="433337"/>
                </a:moveTo>
                <a:cubicBezTo>
                  <a:pt x="356341" y="433337"/>
                  <a:pt x="351119" y="438476"/>
                  <a:pt x="351119" y="444882"/>
                </a:cubicBezTo>
                <a:lnTo>
                  <a:pt x="351119" y="467823"/>
                </a:lnTo>
                <a:cubicBezTo>
                  <a:pt x="351119" y="474229"/>
                  <a:pt x="356341" y="479368"/>
                  <a:pt x="362681" y="479368"/>
                </a:cubicBezTo>
                <a:lnTo>
                  <a:pt x="385656" y="479368"/>
                </a:lnTo>
                <a:cubicBezTo>
                  <a:pt x="392071" y="479368"/>
                  <a:pt x="397218" y="474229"/>
                  <a:pt x="397218" y="467823"/>
                </a:cubicBezTo>
                <a:lnTo>
                  <a:pt x="397218" y="444882"/>
                </a:lnTo>
                <a:cubicBezTo>
                  <a:pt x="397218" y="438476"/>
                  <a:pt x="392071" y="433337"/>
                  <a:pt x="385656" y="433337"/>
                </a:cubicBezTo>
                <a:close/>
                <a:moveTo>
                  <a:pt x="292862" y="433337"/>
                </a:moveTo>
                <a:cubicBezTo>
                  <a:pt x="286447" y="433337"/>
                  <a:pt x="281300" y="438476"/>
                  <a:pt x="281300" y="444882"/>
                </a:cubicBezTo>
                <a:lnTo>
                  <a:pt x="281300" y="467823"/>
                </a:lnTo>
                <a:cubicBezTo>
                  <a:pt x="281300" y="474229"/>
                  <a:pt x="286447" y="479368"/>
                  <a:pt x="292862" y="479368"/>
                </a:cubicBezTo>
                <a:lnTo>
                  <a:pt x="315837" y="479368"/>
                </a:lnTo>
                <a:cubicBezTo>
                  <a:pt x="322252" y="479368"/>
                  <a:pt x="327399" y="474229"/>
                  <a:pt x="327399" y="467823"/>
                </a:cubicBezTo>
                <a:lnTo>
                  <a:pt x="327399" y="444882"/>
                </a:lnTo>
                <a:cubicBezTo>
                  <a:pt x="327399" y="438476"/>
                  <a:pt x="322252" y="433337"/>
                  <a:pt x="315837" y="433337"/>
                </a:cubicBezTo>
                <a:close/>
                <a:moveTo>
                  <a:pt x="222968" y="433337"/>
                </a:moveTo>
                <a:cubicBezTo>
                  <a:pt x="216627" y="433337"/>
                  <a:pt x="211480" y="438476"/>
                  <a:pt x="211480" y="444882"/>
                </a:cubicBezTo>
                <a:lnTo>
                  <a:pt x="211480" y="467823"/>
                </a:lnTo>
                <a:cubicBezTo>
                  <a:pt x="211480" y="474229"/>
                  <a:pt x="216627" y="479368"/>
                  <a:pt x="222968" y="479368"/>
                </a:cubicBezTo>
                <a:lnTo>
                  <a:pt x="246017" y="479368"/>
                </a:lnTo>
                <a:cubicBezTo>
                  <a:pt x="252358" y="479368"/>
                  <a:pt x="257579" y="474229"/>
                  <a:pt x="257579" y="467823"/>
                </a:cubicBezTo>
                <a:lnTo>
                  <a:pt x="257579" y="444882"/>
                </a:lnTo>
                <a:cubicBezTo>
                  <a:pt x="257579" y="438476"/>
                  <a:pt x="252358" y="433337"/>
                  <a:pt x="246017" y="433337"/>
                </a:cubicBezTo>
                <a:close/>
                <a:moveTo>
                  <a:pt x="362681" y="363545"/>
                </a:moveTo>
                <a:cubicBezTo>
                  <a:pt x="356341" y="363545"/>
                  <a:pt x="351119" y="368759"/>
                  <a:pt x="351119" y="375090"/>
                </a:cubicBezTo>
                <a:lnTo>
                  <a:pt x="351119" y="398106"/>
                </a:lnTo>
                <a:cubicBezTo>
                  <a:pt x="351119" y="404437"/>
                  <a:pt x="356341" y="409651"/>
                  <a:pt x="362681" y="409651"/>
                </a:cubicBezTo>
                <a:lnTo>
                  <a:pt x="385656" y="409651"/>
                </a:lnTo>
                <a:cubicBezTo>
                  <a:pt x="392071" y="409651"/>
                  <a:pt x="397218" y="404437"/>
                  <a:pt x="397218" y="398106"/>
                </a:cubicBezTo>
                <a:lnTo>
                  <a:pt x="397218" y="375090"/>
                </a:lnTo>
                <a:cubicBezTo>
                  <a:pt x="397218" y="368759"/>
                  <a:pt x="392071" y="363545"/>
                  <a:pt x="385656" y="363545"/>
                </a:cubicBezTo>
                <a:close/>
                <a:moveTo>
                  <a:pt x="292862" y="363545"/>
                </a:moveTo>
                <a:cubicBezTo>
                  <a:pt x="286447" y="363545"/>
                  <a:pt x="281300" y="368759"/>
                  <a:pt x="281300" y="375090"/>
                </a:cubicBezTo>
                <a:lnTo>
                  <a:pt x="281300" y="398106"/>
                </a:lnTo>
                <a:cubicBezTo>
                  <a:pt x="281300" y="404437"/>
                  <a:pt x="286447" y="409651"/>
                  <a:pt x="292862" y="409651"/>
                </a:cubicBezTo>
                <a:lnTo>
                  <a:pt x="315837" y="409651"/>
                </a:lnTo>
                <a:cubicBezTo>
                  <a:pt x="322252" y="409651"/>
                  <a:pt x="327399" y="404437"/>
                  <a:pt x="327399" y="398106"/>
                </a:cubicBezTo>
                <a:lnTo>
                  <a:pt x="327399" y="375090"/>
                </a:lnTo>
                <a:cubicBezTo>
                  <a:pt x="327399" y="368759"/>
                  <a:pt x="322252" y="363545"/>
                  <a:pt x="315837" y="363545"/>
                </a:cubicBezTo>
                <a:close/>
                <a:moveTo>
                  <a:pt x="222968" y="363545"/>
                </a:moveTo>
                <a:cubicBezTo>
                  <a:pt x="216627" y="363545"/>
                  <a:pt x="211480" y="368759"/>
                  <a:pt x="211480" y="375090"/>
                </a:cubicBezTo>
                <a:lnTo>
                  <a:pt x="211480" y="398106"/>
                </a:lnTo>
                <a:cubicBezTo>
                  <a:pt x="211480" y="404437"/>
                  <a:pt x="216627" y="409651"/>
                  <a:pt x="222968" y="409651"/>
                </a:cubicBezTo>
                <a:lnTo>
                  <a:pt x="246017" y="409651"/>
                </a:lnTo>
                <a:cubicBezTo>
                  <a:pt x="252358" y="409651"/>
                  <a:pt x="257579" y="404437"/>
                  <a:pt x="257579" y="398106"/>
                </a:cubicBezTo>
                <a:lnTo>
                  <a:pt x="257579" y="375090"/>
                </a:lnTo>
                <a:cubicBezTo>
                  <a:pt x="257579" y="368759"/>
                  <a:pt x="252358" y="363545"/>
                  <a:pt x="246017" y="363545"/>
                </a:cubicBezTo>
                <a:close/>
                <a:moveTo>
                  <a:pt x="362681" y="293828"/>
                </a:moveTo>
                <a:cubicBezTo>
                  <a:pt x="356341" y="293828"/>
                  <a:pt x="351119" y="298967"/>
                  <a:pt x="351119" y="305373"/>
                </a:cubicBezTo>
                <a:lnTo>
                  <a:pt x="351119" y="328314"/>
                </a:lnTo>
                <a:cubicBezTo>
                  <a:pt x="351119" y="334720"/>
                  <a:pt x="356341" y="339859"/>
                  <a:pt x="362681" y="339859"/>
                </a:cubicBezTo>
                <a:lnTo>
                  <a:pt x="385656" y="339859"/>
                </a:lnTo>
                <a:cubicBezTo>
                  <a:pt x="392071" y="339859"/>
                  <a:pt x="397218" y="334720"/>
                  <a:pt x="397218" y="328314"/>
                </a:cubicBezTo>
                <a:lnTo>
                  <a:pt x="397218" y="305373"/>
                </a:lnTo>
                <a:cubicBezTo>
                  <a:pt x="397218" y="298967"/>
                  <a:pt x="392071" y="293828"/>
                  <a:pt x="385656" y="293828"/>
                </a:cubicBezTo>
                <a:close/>
                <a:moveTo>
                  <a:pt x="292862" y="293828"/>
                </a:moveTo>
                <a:cubicBezTo>
                  <a:pt x="286447" y="293828"/>
                  <a:pt x="281300" y="298967"/>
                  <a:pt x="281300" y="305373"/>
                </a:cubicBezTo>
                <a:lnTo>
                  <a:pt x="281300" y="328314"/>
                </a:lnTo>
                <a:cubicBezTo>
                  <a:pt x="281300" y="334720"/>
                  <a:pt x="286447" y="339859"/>
                  <a:pt x="292862" y="339859"/>
                </a:cubicBezTo>
                <a:lnTo>
                  <a:pt x="315837" y="339859"/>
                </a:lnTo>
                <a:cubicBezTo>
                  <a:pt x="322252" y="339859"/>
                  <a:pt x="327399" y="334720"/>
                  <a:pt x="327399" y="328314"/>
                </a:cubicBezTo>
                <a:lnTo>
                  <a:pt x="327399" y="305373"/>
                </a:lnTo>
                <a:cubicBezTo>
                  <a:pt x="327399" y="298967"/>
                  <a:pt x="322252" y="293828"/>
                  <a:pt x="315837" y="293828"/>
                </a:cubicBezTo>
                <a:close/>
                <a:moveTo>
                  <a:pt x="222968" y="293828"/>
                </a:moveTo>
                <a:cubicBezTo>
                  <a:pt x="216627" y="293828"/>
                  <a:pt x="211480" y="298967"/>
                  <a:pt x="211480" y="305373"/>
                </a:cubicBezTo>
                <a:lnTo>
                  <a:pt x="211480" y="328314"/>
                </a:lnTo>
                <a:cubicBezTo>
                  <a:pt x="211480" y="334720"/>
                  <a:pt x="216627" y="339859"/>
                  <a:pt x="222968" y="339859"/>
                </a:cubicBezTo>
                <a:lnTo>
                  <a:pt x="246017" y="339859"/>
                </a:lnTo>
                <a:cubicBezTo>
                  <a:pt x="252358" y="339859"/>
                  <a:pt x="257579" y="334720"/>
                  <a:pt x="257579" y="328314"/>
                </a:cubicBezTo>
                <a:lnTo>
                  <a:pt x="257579" y="305373"/>
                </a:lnTo>
                <a:cubicBezTo>
                  <a:pt x="257579" y="298967"/>
                  <a:pt x="252358" y="293828"/>
                  <a:pt x="246017" y="293828"/>
                </a:cubicBezTo>
                <a:close/>
                <a:moveTo>
                  <a:pt x="263397" y="157149"/>
                </a:moveTo>
                <a:lnTo>
                  <a:pt x="345301" y="157149"/>
                </a:lnTo>
                <a:cubicBezTo>
                  <a:pt x="361562" y="157149"/>
                  <a:pt x="374766" y="170407"/>
                  <a:pt x="374766" y="186570"/>
                </a:cubicBezTo>
                <a:lnTo>
                  <a:pt x="374766" y="224483"/>
                </a:lnTo>
                <a:lnTo>
                  <a:pt x="386999" y="227462"/>
                </a:lnTo>
                <a:cubicBezTo>
                  <a:pt x="537678" y="264406"/>
                  <a:pt x="553939" y="382315"/>
                  <a:pt x="553939" y="431326"/>
                </a:cubicBezTo>
                <a:cubicBezTo>
                  <a:pt x="553939" y="478400"/>
                  <a:pt x="543869" y="509013"/>
                  <a:pt x="523132" y="524729"/>
                </a:cubicBezTo>
                <a:cubicBezTo>
                  <a:pt x="502992" y="539998"/>
                  <a:pt x="472781" y="542084"/>
                  <a:pt x="443019" y="542084"/>
                </a:cubicBezTo>
                <a:lnTo>
                  <a:pt x="165680" y="542084"/>
                </a:lnTo>
                <a:cubicBezTo>
                  <a:pt x="135917" y="542084"/>
                  <a:pt x="105707" y="539998"/>
                  <a:pt x="85566" y="524729"/>
                </a:cubicBezTo>
                <a:cubicBezTo>
                  <a:pt x="64829" y="509013"/>
                  <a:pt x="54759" y="478400"/>
                  <a:pt x="54759" y="431326"/>
                </a:cubicBezTo>
                <a:cubicBezTo>
                  <a:pt x="54759" y="382315"/>
                  <a:pt x="71021" y="264406"/>
                  <a:pt x="221700" y="227462"/>
                </a:cubicBezTo>
                <a:lnTo>
                  <a:pt x="233933" y="224483"/>
                </a:lnTo>
                <a:lnTo>
                  <a:pt x="233933" y="186570"/>
                </a:lnTo>
                <a:cubicBezTo>
                  <a:pt x="233933" y="170407"/>
                  <a:pt x="247136" y="157149"/>
                  <a:pt x="263397" y="157149"/>
                </a:cubicBezTo>
                <a:close/>
                <a:moveTo>
                  <a:pt x="304349" y="0"/>
                </a:moveTo>
                <a:cubicBezTo>
                  <a:pt x="499341" y="0"/>
                  <a:pt x="608697" y="60555"/>
                  <a:pt x="608697" y="131760"/>
                </a:cubicBezTo>
                <a:lnTo>
                  <a:pt x="608697" y="158127"/>
                </a:lnTo>
                <a:cubicBezTo>
                  <a:pt x="608697" y="191570"/>
                  <a:pt x="581545" y="218682"/>
                  <a:pt x="548051" y="218682"/>
                </a:cubicBezTo>
                <a:lnTo>
                  <a:pt x="463087" y="218682"/>
                </a:lnTo>
                <a:cubicBezTo>
                  <a:pt x="429594" y="218682"/>
                  <a:pt x="402441" y="191570"/>
                  <a:pt x="402441" y="158127"/>
                </a:cubicBezTo>
                <a:lnTo>
                  <a:pt x="402441" y="131760"/>
                </a:lnTo>
                <a:cubicBezTo>
                  <a:pt x="402441" y="131165"/>
                  <a:pt x="402516" y="130569"/>
                  <a:pt x="402516" y="129898"/>
                </a:cubicBezTo>
                <a:lnTo>
                  <a:pt x="206181" y="129898"/>
                </a:lnTo>
                <a:cubicBezTo>
                  <a:pt x="206181" y="130569"/>
                  <a:pt x="206256" y="131165"/>
                  <a:pt x="206256" y="131760"/>
                </a:cubicBezTo>
                <a:lnTo>
                  <a:pt x="206256" y="158127"/>
                </a:lnTo>
                <a:cubicBezTo>
                  <a:pt x="206256" y="191570"/>
                  <a:pt x="179103" y="218682"/>
                  <a:pt x="145610" y="218682"/>
                </a:cubicBezTo>
                <a:lnTo>
                  <a:pt x="60646" y="218682"/>
                </a:lnTo>
                <a:cubicBezTo>
                  <a:pt x="27152" y="218682"/>
                  <a:pt x="0" y="191570"/>
                  <a:pt x="0" y="158127"/>
                </a:cubicBezTo>
                <a:lnTo>
                  <a:pt x="0" y="131760"/>
                </a:lnTo>
                <a:cubicBezTo>
                  <a:pt x="0" y="60480"/>
                  <a:pt x="109357" y="0"/>
                  <a:pt x="304349" y="0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92F2E51-5834-42F7-BC81-6F19A05B1AFA}"/>
              </a:ext>
            </a:extLst>
          </p:cNvPr>
          <p:cNvGrpSpPr/>
          <p:nvPr/>
        </p:nvGrpSpPr>
        <p:grpSpPr>
          <a:xfrm>
            <a:off x="9824114" y="2847394"/>
            <a:ext cx="1246648" cy="1951379"/>
            <a:chOff x="10500502" y="3014244"/>
            <a:chExt cx="1246648" cy="1951379"/>
          </a:xfrm>
        </p:grpSpPr>
        <p:sp>
          <p:nvSpPr>
            <p:cNvPr id="37" name="old-telephone_72355">
              <a:extLst>
                <a:ext uri="{FF2B5EF4-FFF2-40B4-BE49-F238E27FC236}">
                  <a16:creationId xmlns:a16="http://schemas.microsoft.com/office/drawing/2014/main" id="{A3997933-1BB8-41B0-A75F-65ABFEB0E95E}"/>
                </a:ext>
              </a:extLst>
            </p:cNvPr>
            <p:cNvSpPr/>
            <p:nvPr/>
          </p:nvSpPr>
          <p:spPr>
            <a:xfrm>
              <a:off x="10504571" y="3014244"/>
              <a:ext cx="427377" cy="380606"/>
            </a:xfrm>
            <a:custGeom>
              <a:avLst/>
              <a:gdLst>
                <a:gd name="connsiteX0" fmla="*/ 362681 w 608697"/>
                <a:gd name="connsiteY0" fmla="*/ 433337 h 542084"/>
                <a:gd name="connsiteX1" fmla="*/ 351119 w 608697"/>
                <a:gd name="connsiteY1" fmla="*/ 444882 h 542084"/>
                <a:gd name="connsiteX2" fmla="*/ 351119 w 608697"/>
                <a:gd name="connsiteY2" fmla="*/ 467823 h 542084"/>
                <a:gd name="connsiteX3" fmla="*/ 362681 w 608697"/>
                <a:gd name="connsiteY3" fmla="*/ 479368 h 542084"/>
                <a:gd name="connsiteX4" fmla="*/ 385656 w 608697"/>
                <a:gd name="connsiteY4" fmla="*/ 479368 h 542084"/>
                <a:gd name="connsiteX5" fmla="*/ 397218 w 608697"/>
                <a:gd name="connsiteY5" fmla="*/ 467823 h 542084"/>
                <a:gd name="connsiteX6" fmla="*/ 397218 w 608697"/>
                <a:gd name="connsiteY6" fmla="*/ 444882 h 542084"/>
                <a:gd name="connsiteX7" fmla="*/ 385656 w 608697"/>
                <a:gd name="connsiteY7" fmla="*/ 433337 h 542084"/>
                <a:gd name="connsiteX8" fmla="*/ 292862 w 608697"/>
                <a:gd name="connsiteY8" fmla="*/ 433337 h 542084"/>
                <a:gd name="connsiteX9" fmla="*/ 281300 w 608697"/>
                <a:gd name="connsiteY9" fmla="*/ 444882 h 542084"/>
                <a:gd name="connsiteX10" fmla="*/ 281300 w 608697"/>
                <a:gd name="connsiteY10" fmla="*/ 467823 h 542084"/>
                <a:gd name="connsiteX11" fmla="*/ 292862 w 608697"/>
                <a:gd name="connsiteY11" fmla="*/ 479368 h 542084"/>
                <a:gd name="connsiteX12" fmla="*/ 315837 w 608697"/>
                <a:gd name="connsiteY12" fmla="*/ 479368 h 542084"/>
                <a:gd name="connsiteX13" fmla="*/ 327399 w 608697"/>
                <a:gd name="connsiteY13" fmla="*/ 467823 h 542084"/>
                <a:gd name="connsiteX14" fmla="*/ 327399 w 608697"/>
                <a:gd name="connsiteY14" fmla="*/ 444882 h 542084"/>
                <a:gd name="connsiteX15" fmla="*/ 315837 w 608697"/>
                <a:gd name="connsiteY15" fmla="*/ 433337 h 542084"/>
                <a:gd name="connsiteX16" fmla="*/ 222968 w 608697"/>
                <a:gd name="connsiteY16" fmla="*/ 433337 h 542084"/>
                <a:gd name="connsiteX17" fmla="*/ 211480 w 608697"/>
                <a:gd name="connsiteY17" fmla="*/ 444882 h 542084"/>
                <a:gd name="connsiteX18" fmla="*/ 211480 w 608697"/>
                <a:gd name="connsiteY18" fmla="*/ 467823 h 542084"/>
                <a:gd name="connsiteX19" fmla="*/ 222968 w 608697"/>
                <a:gd name="connsiteY19" fmla="*/ 479368 h 542084"/>
                <a:gd name="connsiteX20" fmla="*/ 246017 w 608697"/>
                <a:gd name="connsiteY20" fmla="*/ 479368 h 542084"/>
                <a:gd name="connsiteX21" fmla="*/ 257579 w 608697"/>
                <a:gd name="connsiteY21" fmla="*/ 467823 h 542084"/>
                <a:gd name="connsiteX22" fmla="*/ 257579 w 608697"/>
                <a:gd name="connsiteY22" fmla="*/ 444882 h 542084"/>
                <a:gd name="connsiteX23" fmla="*/ 246017 w 608697"/>
                <a:gd name="connsiteY23" fmla="*/ 433337 h 542084"/>
                <a:gd name="connsiteX24" fmla="*/ 362681 w 608697"/>
                <a:gd name="connsiteY24" fmla="*/ 363545 h 542084"/>
                <a:gd name="connsiteX25" fmla="*/ 351119 w 608697"/>
                <a:gd name="connsiteY25" fmla="*/ 375090 h 542084"/>
                <a:gd name="connsiteX26" fmla="*/ 351119 w 608697"/>
                <a:gd name="connsiteY26" fmla="*/ 398106 h 542084"/>
                <a:gd name="connsiteX27" fmla="*/ 362681 w 608697"/>
                <a:gd name="connsiteY27" fmla="*/ 409651 h 542084"/>
                <a:gd name="connsiteX28" fmla="*/ 385656 w 608697"/>
                <a:gd name="connsiteY28" fmla="*/ 409651 h 542084"/>
                <a:gd name="connsiteX29" fmla="*/ 397218 w 608697"/>
                <a:gd name="connsiteY29" fmla="*/ 398106 h 542084"/>
                <a:gd name="connsiteX30" fmla="*/ 397218 w 608697"/>
                <a:gd name="connsiteY30" fmla="*/ 375090 h 542084"/>
                <a:gd name="connsiteX31" fmla="*/ 385656 w 608697"/>
                <a:gd name="connsiteY31" fmla="*/ 363545 h 542084"/>
                <a:gd name="connsiteX32" fmla="*/ 292862 w 608697"/>
                <a:gd name="connsiteY32" fmla="*/ 363545 h 542084"/>
                <a:gd name="connsiteX33" fmla="*/ 281300 w 608697"/>
                <a:gd name="connsiteY33" fmla="*/ 375090 h 542084"/>
                <a:gd name="connsiteX34" fmla="*/ 281300 w 608697"/>
                <a:gd name="connsiteY34" fmla="*/ 398106 h 542084"/>
                <a:gd name="connsiteX35" fmla="*/ 292862 w 608697"/>
                <a:gd name="connsiteY35" fmla="*/ 409651 h 542084"/>
                <a:gd name="connsiteX36" fmla="*/ 315837 w 608697"/>
                <a:gd name="connsiteY36" fmla="*/ 409651 h 542084"/>
                <a:gd name="connsiteX37" fmla="*/ 327399 w 608697"/>
                <a:gd name="connsiteY37" fmla="*/ 398106 h 542084"/>
                <a:gd name="connsiteX38" fmla="*/ 327399 w 608697"/>
                <a:gd name="connsiteY38" fmla="*/ 375090 h 542084"/>
                <a:gd name="connsiteX39" fmla="*/ 315837 w 608697"/>
                <a:gd name="connsiteY39" fmla="*/ 363545 h 542084"/>
                <a:gd name="connsiteX40" fmla="*/ 222968 w 608697"/>
                <a:gd name="connsiteY40" fmla="*/ 363545 h 542084"/>
                <a:gd name="connsiteX41" fmla="*/ 211480 w 608697"/>
                <a:gd name="connsiteY41" fmla="*/ 375090 h 542084"/>
                <a:gd name="connsiteX42" fmla="*/ 211480 w 608697"/>
                <a:gd name="connsiteY42" fmla="*/ 398106 h 542084"/>
                <a:gd name="connsiteX43" fmla="*/ 222968 w 608697"/>
                <a:gd name="connsiteY43" fmla="*/ 409651 h 542084"/>
                <a:gd name="connsiteX44" fmla="*/ 246017 w 608697"/>
                <a:gd name="connsiteY44" fmla="*/ 409651 h 542084"/>
                <a:gd name="connsiteX45" fmla="*/ 257579 w 608697"/>
                <a:gd name="connsiteY45" fmla="*/ 398106 h 542084"/>
                <a:gd name="connsiteX46" fmla="*/ 257579 w 608697"/>
                <a:gd name="connsiteY46" fmla="*/ 375090 h 542084"/>
                <a:gd name="connsiteX47" fmla="*/ 246017 w 608697"/>
                <a:gd name="connsiteY47" fmla="*/ 363545 h 542084"/>
                <a:gd name="connsiteX48" fmla="*/ 362681 w 608697"/>
                <a:gd name="connsiteY48" fmla="*/ 293828 h 542084"/>
                <a:gd name="connsiteX49" fmla="*/ 351119 w 608697"/>
                <a:gd name="connsiteY49" fmla="*/ 305373 h 542084"/>
                <a:gd name="connsiteX50" fmla="*/ 351119 w 608697"/>
                <a:gd name="connsiteY50" fmla="*/ 328314 h 542084"/>
                <a:gd name="connsiteX51" fmla="*/ 362681 w 608697"/>
                <a:gd name="connsiteY51" fmla="*/ 339859 h 542084"/>
                <a:gd name="connsiteX52" fmla="*/ 385656 w 608697"/>
                <a:gd name="connsiteY52" fmla="*/ 339859 h 542084"/>
                <a:gd name="connsiteX53" fmla="*/ 397218 w 608697"/>
                <a:gd name="connsiteY53" fmla="*/ 328314 h 542084"/>
                <a:gd name="connsiteX54" fmla="*/ 397218 w 608697"/>
                <a:gd name="connsiteY54" fmla="*/ 305373 h 542084"/>
                <a:gd name="connsiteX55" fmla="*/ 385656 w 608697"/>
                <a:gd name="connsiteY55" fmla="*/ 293828 h 542084"/>
                <a:gd name="connsiteX56" fmla="*/ 292862 w 608697"/>
                <a:gd name="connsiteY56" fmla="*/ 293828 h 542084"/>
                <a:gd name="connsiteX57" fmla="*/ 281300 w 608697"/>
                <a:gd name="connsiteY57" fmla="*/ 305373 h 542084"/>
                <a:gd name="connsiteX58" fmla="*/ 281300 w 608697"/>
                <a:gd name="connsiteY58" fmla="*/ 328314 h 542084"/>
                <a:gd name="connsiteX59" fmla="*/ 292862 w 608697"/>
                <a:gd name="connsiteY59" fmla="*/ 339859 h 542084"/>
                <a:gd name="connsiteX60" fmla="*/ 315837 w 608697"/>
                <a:gd name="connsiteY60" fmla="*/ 339859 h 542084"/>
                <a:gd name="connsiteX61" fmla="*/ 327399 w 608697"/>
                <a:gd name="connsiteY61" fmla="*/ 328314 h 542084"/>
                <a:gd name="connsiteX62" fmla="*/ 327399 w 608697"/>
                <a:gd name="connsiteY62" fmla="*/ 305373 h 542084"/>
                <a:gd name="connsiteX63" fmla="*/ 315837 w 608697"/>
                <a:gd name="connsiteY63" fmla="*/ 293828 h 542084"/>
                <a:gd name="connsiteX64" fmla="*/ 222968 w 608697"/>
                <a:gd name="connsiteY64" fmla="*/ 293828 h 542084"/>
                <a:gd name="connsiteX65" fmla="*/ 211480 w 608697"/>
                <a:gd name="connsiteY65" fmla="*/ 305373 h 542084"/>
                <a:gd name="connsiteX66" fmla="*/ 211480 w 608697"/>
                <a:gd name="connsiteY66" fmla="*/ 328314 h 542084"/>
                <a:gd name="connsiteX67" fmla="*/ 222968 w 608697"/>
                <a:gd name="connsiteY67" fmla="*/ 339859 h 542084"/>
                <a:gd name="connsiteX68" fmla="*/ 246017 w 608697"/>
                <a:gd name="connsiteY68" fmla="*/ 339859 h 542084"/>
                <a:gd name="connsiteX69" fmla="*/ 257579 w 608697"/>
                <a:gd name="connsiteY69" fmla="*/ 328314 h 542084"/>
                <a:gd name="connsiteX70" fmla="*/ 257579 w 608697"/>
                <a:gd name="connsiteY70" fmla="*/ 305373 h 542084"/>
                <a:gd name="connsiteX71" fmla="*/ 246017 w 608697"/>
                <a:gd name="connsiteY71" fmla="*/ 293828 h 542084"/>
                <a:gd name="connsiteX72" fmla="*/ 263397 w 608697"/>
                <a:gd name="connsiteY72" fmla="*/ 157149 h 542084"/>
                <a:gd name="connsiteX73" fmla="*/ 345301 w 608697"/>
                <a:gd name="connsiteY73" fmla="*/ 157149 h 542084"/>
                <a:gd name="connsiteX74" fmla="*/ 374766 w 608697"/>
                <a:gd name="connsiteY74" fmla="*/ 186570 h 542084"/>
                <a:gd name="connsiteX75" fmla="*/ 374766 w 608697"/>
                <a:gd name="connsiteY75" fmla="*/ 224483 h 542084"/>
                <a:gd name="connsiteX76" fmla="*/ 386999 w 608697"/>
                <a:gd name="connsiteY76" fmla="*/ 227462 h 542084"/>
                <a:gd name="connsiteX77" fmla="*/ 553939 w 608697"/>
                <a:gd name="connsiteY77" fmla="*/ 431326 h 542084"/>
                <a:gd name="connsiteX78" fmla="*/ 523132 w 608697"/>
                <a:gd name="connsiteY78" fmla="*/ 524729 h 542084"/>
                <a:gd name="connsiteX79" fmla="*/ 443019 w 608697"/>
                <a:gd name="connsiteY79" fmla="*/ 542084 h 542084"/>
                <a:gd name="connsiteX80" fmla="*/ 165680 w 608697"/>
                <a:gd name="connsiteY80" fmla="*/ 542084 h 542084"/>
                <a:gd name="connsiteX81" fmla="*/ 85566 w 608697"/>
                <a:gd name="connsiteY81" fmla="*/ 524729 h 542084"/>
                <a:gd name="connsiteX82" fmla="*/ 54759 w 608697"/>
                <a:gd name="connsiteY82" fmla="*/ 431326 h 542084"/>
                <a:gd name="connsiteX83" fmla="*/ 221700 w 608697"/>
                <a:gd name="connsiteY83" fmla="*/ 227462 h 542084"/>
                <a:gd name="connsiteX84" fmla="*/ 233933 w 608697"/>
                <a:gd name="connsiteY84" fmla="*/ 224483 h 542084"/>
                <a:gd name="connsiteX85" fmla="*/ 233933 w 608697"/>
                <a:gd name="connsiteY85" fmla="*/ 186570 h 542084"/>
                <a:gd name="connsiteX86" fmla="*/ 263397 w 608697"/>
                <a:gd name="connsiteY86" fmla="*/ 157149 h 542084"/>
                <a:gd name="connsiteX87" fmla="*/ 304349 w 608697"/>
                <a:gd name="connsiteY87" fmla="*/ 0 h 542084"/>
                <a:gd name="connsiteX88" fmla="*/ 608697 w 608697"/>
                <a:gd name="connsiteY88" fmla="*/ 131760 h 542084"/>
                <a:gd name="connsiteX89" fmla="*/ 608697 w 608697"/>
                <a:gd name="connsiteY89" fmla="*/ 158127 h 542084"/>
                <a:gd name="connsiteX90" fmla="*/ 548051 w 608697"/>
                <a:gd name="connsiteY90" fmla="*/ 218682 h 542084"/>
                <a:gd name="connsiteX91" fmla="*/ 463087 w 608697"/>
                <a:gd name="connsiteY91" fmla="*/ 218682 h 542084"/>
                <a:gd name="connsiteX92" fmla="*/ 402441 w 608697"/>
                <a:gd name="connsiteY92" fmla="*/ 158127 h 542084"/>
                <a:gd name="connsiteX93" fmla="*/ 402441 w 608697"/>
                <a:gd name="connsiteY93" fmla="*/ 131760 h 542084"/>
                <a:gd name="connsiteX94" fmla="*/ 402516 w 608697"/>
                <a:gd name="connsiteY94" fmla="*/ 129898 h 542084"/>
                <a:gd name="connsiteX95" fmla="*/ 206181 w 608697"/>
                <a:gd name="connsiteY95" fmla="*/ 129898 h 542084"/>
                <a:gd name="connsiteX96" fmla="*/ 206256 w 608697"/>
                <a:gd name="connsiteY96" fmla="*/ 131760 h 542084"/>
                <a:gd name="connsiteX97" fmla="*/ 206256 w 608697"/>
                <a:gd name="connsiteY97" fmla="*/ 158127 h 542084"/>
                <a:gd name="connsiteX98" fmla="*/ 145610 w 608697"/>
                <a:gd name="connsiteY98" fmla="*/ 218682 h 542084"/>
                <a:gd name="connsiteX99" fmla="*/ 60646 w 608697"/>
                <a:gd name="connsiteY99" fmla="*/ 218682 h 542084"/>
                <a:gd name="connsiteX100" fmla="*/ 0 w 608697"/>
                <a:gd name="connsiteY100" fmla="*/ 158127 h 542084"/>
                <a:gd name="connsiteX101" fmla="*/ 0 w 608697"/>
                <a:gd name="connsiteY101" fmla="*/ 131760 h 542084"/>
                <a:gd name="connsiteX102" fmla="*/ 304349 w 608697"/>
                <a:gd name="connsiteY102" fmla="*/ 0 h 54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608697" h="542084">
                  <a:moveTo>
                    <a:pt x="362681" y="433337"/>
                  </a:moveTo>
                  <a:cubicBezTo>
                    <a:pt x="356341" y="433337"/>
                    <a:pt x="351119" y="438476"/>
                    <a:pt x="351119" y="444882"/>
                  </a:cubicBezTo>
                  <a:lnTo>
                    <a:pt x="351119" y="467823"/>
                  </a:lnTo>
                  <a:cubicBezTo>
                    <a:pt x="351119" y="474229"/>
                    <a:pt x="356341" y="479368"/>
                    <a:pt x="362681" y="479368"/>
                  </a:cubicBezTo>
                  <a:lnTo>
                    <a:pt x="385656" y="479368"/>
                  </a:lnTo>
                  <a:cubicBezTo>
                    <a:pt x="392071" y="479368"/>
                    <a:pt x="397218" y="474229"/>
                    <a:pt x="397218" y="467823"/>
                  </a:cubicBezTo>
                  <a:lnTo>
                    <a:pt x="397218" y="444882"/>
                  </a:lnTo>
                  <a:cubicBezTo>
                    <a:pt x="397218" y="438476"/>
                    <a:pt x="392071" y="433337"/>
                    <a:pt x="385656" y="433337"/>
                  </a:cubicBezTo>
                  <a:close/>
                  <a:moveTo>
                    <a:pt x="292862" y="433337"/>
                  </a:moveTo>
                  <a:cubicBezTo>
                    <a:pt x="286447" y="433337"/>
                    <a:pt x="281300" y="438476"/>
                    <a:pt x="281300" y="444882"/>
                  </a:cubicBezTo>
                  <a:lnTo>
                    <a:pt x="281300" y="467823"/>
                  </a:lnTo>
                  <a:cubicBezTo>
                    <a:pt x="281300" y="474229"/>
                    <a:pt x="286447" y="479368"/>
                    <a:pt x="292862" y="479368"/>
                  </a:cubicBezTo>
                  <a:lnTo>
                    <a:pt x="315837" y="479368"/>
                  </a:lnTo>
                  <a:cubicBezTo>
                    <a:pt x="322252" y="479368"/>
                    <a:pt x="327399" y="474229"/>
                    <a:pt x="327399" y="467823"/>
                  </a:cubicBezTo>
                  <a:lnTo>
                    <a:pt x="327399" y="444882"/>
                  </a:lnTo>
                  <a:cubicBezTo>
                    <a:pt x="327399" y="438476"/>
                    <a:pt x="322252" y="433337"/>
                    <a:pt x="315837" y="433337"/>
                  </a:cubicBezTo>
                  <a:close/>
                  <a:moveTo>
                    <a:pt x="222968" y="433337"/>
                  </a:moveTo>
                  <a:cubicBezTo>
                    <a:pt x="216627" y="433337"/>
                    <a:pt x="211480" y="438476"/>
                    <a:pt x="211480" y="444882"/>
                  </a:cubicBezTo>
                  <a:lnTo>
                    <a:pt x="211480" y="467823"/>
                  </a:lnTo>
                  <a:cubicBezTo>
                    <a:pt x="211480" y="474229"/>
                    <a:pt x="216627" y="479368"/>
                    <a:pt x="222968" y="479368"/>
                  </a:cubicBezTo>
                  <a:lnTo>
                    <a:pt x="246017" y="479368"/>
                  </a:lnTo>
                  <a:cubicBezTo>
                    <a:pt x="252358" y="479368"/>
                    <a:pt x="257579" y="474229"/>
                    <a:pt x="257579" y="467823"/>
                  </a:cubicBezTo>
                  <a:lnTo>
                    <a:pt x="257579" y="444882"/>
                  </a:lnTo>
                  <a:cubicBezTo>
                    <a:pt x="257579" y="438476"/>
                    <a:pt x="252358" y="433337"/>
                    <a:pt x="246017" y="433337"/>
                  </a:cubicBezTo>
                  <a:close/>
                  <a:moveTo>
                    <a:pt x="362681" y="363545"/>
                  </a:moveTo>
                  <a:cubicBezTo>
                    <a:pt x="356341" y="363545"/>
                    <a:pt x="351119" y="368759"/>
                    <a:pt x="351119" y="375090"/>
                  </a:cubicBezTo>
                  <a:lnTo>
                    <a:pt x="351119" y="398106"/>
                  </a:lnTo>
                  <a:cubicBezTo>
                    <a:pt x="351119" y="404437"/>
                    <a:pt x="356341" y="409651"/>
                    <a:pt x="362681" y="409651"/>
                  </a:cubicBezTo>
                  <a:lnTo>
                    <a:pt x="385656" y="409651"/>
                  </a:lnTo>
                  <a:cubicBezTo>
                    <a:pt x="392071" y="409651"/>
                    <a:pt x="397218" y="404437"/>
                    <a:pt x="397218" y="398106"/>
                  </a:cubicBezTo>
                  <a:lnTo>
                    <a:pt x="397218" y="375090"/>
                  </a:lnTo>
                  <a:cubicBezTo>
                    <a:pt x="397218" y="368759"/>
                    <a:pt x="392071" y="363545"/>
                    <a:pt x="385656" y="363545"/>
                  </a:cubicBezTo>
                  <a:close/>
                  <a:moveTo>
                    <a:pt x="292862" y="363545"/>
                  </a:moveTo>
                  <a:cubicBezTo>
                    <a:pt x="286447" y="363545"/>
                    <a:pt x="281300" y="368759"/>
                    <a:pt x="281300" y="375090"/>
                  </a:cubicBezTo>
                  <a:lnTo>
                    <a:pt x="281300" y="398106"/>
                  </a:lnTo>
                  <a:cubicBezTo>
                    <a:pt x="281300" y="404437"/>
                    <a:pt x="286447" y="409651"/>
                    <a:pt x="292862" y="409651"/>
                  </a:cubicBezTo>
                  <a:lnTo>
                    <a:pt x="315837" y="409651"/>
                  </a:lnTo>
                  <a:cubicBezTo>
                    <a:pt x="322252" y="409651"/>
                    <a:pt x="327399" y="404437"/>
                    <a:pt x="327399" y="398106"/>
                  </a:cubicBezTo>
                  <a:lnTo>
                    <a:pt x="327399" y="375090"/>
                  </a:lnTo>
                  <a:cubicBezTo>
                    <a:pt x="327399" y="368759"/>
                    <a:pt x="322252" y="363545"/>
                    <a:pt x="315837" y="363545"/>
                  </a:cubicBezTo>
                  <a:close/>
                  <a:moveTo>
                    <a:pt x="222968" y="363545"/>
                  </a:moveTo>
                  <a:cubicBezTo>
                    <a:pt x="216627" y="363545"/>
                    <a:pt x="211480" y="368759"/>
                    <a:pt x="211480" y="375090"/>
                  </a:cubicBezTo>
                  <a:lnTo>
                    <a:pt x="211480" y="398106"/>
                  </a:lnTo>
                  <a:cubicBezTo>
                    <a:pt x="211480" y="404437"/>
                    <a:pt x="216627" y="409651"/>
                    <a:pt x="222968" y="409651"/>
                  </a:cubicBezTo>
                  <a:lnTo>
                    <a:pt x="246017" y="409651"/>
                  </a:lnTo>
                  <a:cubicBezTo>
                    <a:pt x="252358" y="409651"/>
                    <a:pt x="257579" y="404437"/>
                    <a:pt x="257579" y="398106"/>
                  </a:cubicBezTo>
                  <a:lnTo>
                    <a:pt x="257579" y="375090"/>
                  </a:lnTo>
                  <a:cubicBezTo>
                    <a:pt x="257579" y="368759"/>
                    <a:pt x="252358" y="363545"/>
                    <a:pt x="246017" y="363545"/>
                  </a:cubicBezTo>
                  <a:close/>
                  <a:moveTo>
                    <a:pt x="362681" y="293828"/>
                  </a:moveTo>
                  <a:cubicBezTo>
                    <a:pt x="356341" y="293828"/>
                    <a:pt x="351119" y="298967"/>
                    <a:pt x="351119" y="305373"/>
                  </a:cubicBezTo>
                  <a:lnTo>
                    <a:pt x="351119" y="328314"/>
                  </a:lnTo>
                  <a:cubicBezTo>
                    <a:pt x="351119" y="334720"/>
                    <a:pt x="356341" y="339859"/>
                    <a:pt x="362681" y="339859"/>
                  </a:cubicBezTo>
                  <a:lnTo>
                    <a:pt x="385656" y="339859"/>
                  </a:lnTo>
                  <a:cubicBezTo>
                    <a:pt x="392071" y="339859"/>
                    <a:pt x="397218" y="334720"/>
                    <a:pt x="397218" y="328314"/>
                  </a:cubicBezTo>
                  <a:lnTo>
                    <a:pt x="397218" y="305373"/>
                  </a:lnTo>
                  <a:cubicBezTo>
                    <a:pt x="397218" y="298967"/>
                    <a:pt x="392071" y="293828"/>
                    <a:pt x="385656" y="293828"/>
                  </a:cubicBezTo>
                  <a:close/>
                  <a:moveTo>
                    <a:pt x="292862" y="293828"/>
                  </a:moveTo>
                  <a:cubicBezTo>
                    <a:pt x="286447" y="293828"/>
                    <a:pt x="281300" y="298967"/>
                    <a:pt x="281300" y="305373"/>
                  </a:cubicBezTo>
                  <a:lnTo>
                    <a:pt x="281300" y="328314"/>
                  </a:lnTo>
                  <a:cubicBezTo>
                    <a:pt x="281300" y="334720"/>
                    <a:pt x="286447" y="339859"/>
                    <a:pt x="292862" y="339859"/>
                  </a:cubicBezTo>
                  <a:lnTo>
                    <a:pt x="315837" y="339859"/>
                  </a:lnTo>
                  <a:cubicBezTo>
                    <a:pt x="322252" y="339859"/>
                    <a:pt x="327399" y="334720"/>
                    <a:pt x="327399" y="328314"/>
                  </a:cubicBezTo>
                  <a:lnTo>
                    <a:pt x="327399" y="305373"/>
                  </a:lnTo>
                  <a:cubicBezTo>
                    <a:pt x="327399" y="298967"/>
                    <a:pt x="322252" y="293828"/>
                    <a:pt x="315837" y="293828"/>
                  </a:cubicBezTo>
                  <a:close/>
                  <a:moveTo>
                    <a:pt x="222968" y="293828"/>
                  </a:moveTo>
                  <a:cubicBezTo>
                    <a:pt x="216627" y="293828"/>
                    <a:pt x="211480" y="298967"/>
                    <a:pt x="211480" y="305373"/>
                  </a:cubicBezTo>
                  <a:lnTo>
                    <a:pt x="211480" y="328314"/>
                  </a:lnTo>
                  <a:cubicBezTo>
                    <a:pt x="211480" y="334720"/>
                    <a:pt x="216627" y="339859"/>
                    <a:pt x="222968" y="339859"/>
                  </a:cubicBezTo>
                  <a:lnTo>
                    <a:pt x="246017" y="339859"/>
                  </a:lnTo>
                  <a:cubicBezTo>
                    <a:pt x="252358" y="339859"/>
                    <a:pt x="257579" y="334720"/>
                    <a:pt x="257579" y="328314"/>
                  </a:cubicBezTo>
                  <a:lnTo>
                    <a:pt x="257579" y="305373"/>
                  </a:lnTo>
                  <a:cubicBezTo>
                    <a:pt x="257579" y="298967"/>
                    <a:pt x="252358" y="293828"/>
                    <a:pt x="246017" y="293828"/>
                  </a:cubicBezTo>
                  <a:close/>
                  <a:moveTo>
                    <a:pt x="263397" y="157149"/>
                  </a:moveTo>
                  <a:lnTo>
                    <a:pt x="345301" y="157149"/>
                  </a:lnTo>
                  <a:cubicBezTo>
                    <a:pt x="361562" y="157149"/>
                    <a:pt x="374766" y="170407"/>
                    <a:pt x="374766" y="186570"/>
                  </a:cubicBezTo>
                  <a:lnTo>
                    <a:pt x="374766" y="224483"/>
                  </a:lnTo>
                  <a:lnTo>
                    <a:pt x="386999" y="227462"/>
                  </a:lnTo>
                  <a:cubicBezTo>
                    <a:pt x="537678" y="264406"/>
                    <a:pt x="553939" y="382315"/>
                    <a:pt x="553939" y="431326"/>
                  </a:cubicBezTo>
                  <a:cubicBezTo>
                    <a:pt x="553939" y="478400"/>
                    <a:pt x="543869" y="509013"/>
                    <a:pt x="523132" y="524729"/>
                  </a:cubicBezTo>
                  <a:cubicBezTo>
                    <a:pt x="502992" y="539998"/>
                    <a:pt x="472781" y="542084"/>
                    <a:pt x="443019" y="542084"/>
                  </a:cubicBezTo>
                  <a:lnTo>
                    <a:pt x="165680" y="542084"/>
                  </a:lnTo>
                  <a:cubicBezTo>
                    <a:pt x="135917" y="542084"/>
                    <a:pt x="105707" y="539998"/>
                    <a:pt x="85566" y="524729"/>
                  </a:cubicBezTo>
                  <a:cubicBezTo>
                    <a:pt x="64829" y="509013"/>
                    <a:pt x="54759" y="478400"/>
                    <a:pt x="54759" y="431326"/>
                  </a:cubicBezTo>
                  <a:cubicBezTo>
                    <a:pt x="54759" y="382315"/>
                    <a:pt x="71021" y="264406"/>
                    <a:pt x="221700" y="227462"/>
                  </a:cubicBezTo>
                  <a:lnTo>
                    <a:pt x="233933" y="224483"/>
                  </a:lnTo>
                  <a:lnTo>
                    <a:pt x="233933" y="186570"/>
                  </a:lnTo>
                  <a:cubicBezTo>
                    <a:pt x="233933" y="170407"/>
                    <a:pt x="247136" y="157149"/>
                    <a:pt x="263397" y="157149"/>
                  </a:cubicBezTo>
                  <a:close/>
                  <a:moveTo>
                    <a:pt x="304349" y="0"/>
                  </a:moveTo>
                  <a:cubicBezTo>
                    <a:pt x="499341" y="0"/>
                    <a:pt x="608697" y="60555"/>
                    <a:pt x="608697" y="131760"/>
                  </a:cubicBezTo>
                  <a:lnTo>
                    <a:pt x="608697" y="158127"/>
                  </a:lnTo>
                  <a:cubicBezTo>
                    <a:pt x="608697" y="191570"/>
                    <a:pt x="581545" y="218682"/>
                    <a:pt x="548051" y="218682"/>
                  </a:cubicBezTo>
                  <a:lnTo>
                    <a:pt x="463087" y="218682"/>
                  </a:lnTo>
                  <a:cubicBezTo>
                    <a:pt x="429594" y="218682"/>
                    <a:pt x="402441" y="191570"/>
                    <a:pt x="402441" y="158127"/>
                  </a:cubicBezTo>
                  <a:lnTo>
                    <a:pt x="402441" y="131760"/>
                  </a:lnTo>
                  <a:cubicBezTo>
                    <a:pt x="402441" y="131165"/>
                    <a:pt x="402516" y="130569"/>
                    <a:pt x="402516" y="129898"/>
                  </a:cubicBezTo>
                  <a:lnTo>
                    <a:pt x="206181" y="129898"/>
                  </a:lnTo>
                  <a:cubicBezTo>
                    <a:pt x="206181" y="130569"/>
                    <a:pt x="206256" y="131165"/>
                    <a:pt x="206256" y="131760"/>
                  </a:cubicBezTo>
                  <a:lnTo>
                    <a:pt x="206256" y="158127"/>
                  </a:lnTo>
                  <a:cubicBezTo>
                    <a:pt x="206256" y="191570"/>
                    <a:pt x="179103" y="218682"/>
                    <a:pt x="145610" y="218682"/>
                  </a:cubicBezTo>
                  <a:lnTo>
                    <a:pt x="60646" y="218682"/>
                  </a:lnTo>
                  <a:cubicBezTo>
                    <a:pt x="27152" y="218682"/>
                    <a:pt x="0" y="191570"/>
                    <a:pt x="0" y="158127"/>
                  </a:cubicBezTo>
                  <a:lnTo>
                    <a:pt x="0" y="131760"/>
                  </a:lnTo>
                  <a:cubicBezTo>
                    <a:pt x="0" y="60480"/>
                    <a:pt x="109357" y="0"/>
                    <a:pt x="30434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ld-telephone_72355">
              <a:extLst>
                <a:ext uri="{FF2B5EF4-FFF2-40B4-BE49-F238E27FC236}">
                  <a16:creationId xmlns:a16="http://schemas.microsoft.com/office/drawing/2014/main" id="{14A919D5-8C72-4D9D-9A0E-7DB53F572D88}"/>
                </a:ext>
              </a:extLst>
            </p:cNvPr>
            <p:cNvSpPr/>
            <p:nvPr/>
          </p:nvSpPr>
          <p:spPr>
            <a:xfrm>
              <a:off x="11319773" y="3799630"/>
              <a:ext cx="427377" cy="380606"/>
            </a:xfrm>
            <a:custGeom>
              <a:avLst/>
              <a:gdLst>
                <a:gd name="connsiteX0" fmla="*/ 362681 w 608697"/>
                <a:gd name="connsiteY0" fmla="*/ 433337 h 542084"/>
                <a:gd name="connsiteX1" fmla="*/ 351119 w 608697"/>
                <a:gd name="connsiteY1" fmla="*/ 444882 h 542084"/>
                <a:gd name="connsiteX2" fmla="*/ 351119 w 608697"/>
                <a:gd name="connsiteY2" fmla="*/ 467823 h 542084"/>
                <a:gd name="connsiteX3" fmla="*/ 362681 w 608697"/>
                <a:gd name="connsiteY3" fmla="*/ 479368 h 542084"/>
                <a:gd name="connsiteX4" fmla="*/ 385656 w 608697"/>
                <a:gd name="connsiteY4" fmla="*/ 479368 h 542084"/>
                <a:gd name="connsiteX5" fmla="*/ 397218 w 608697"/>
                <a:gd name="connsiteY5" fmla="*/ 467823 h 542084"/>
                <a:gd name="connsiteX6" fmla="*/ 397218 w 608697"/>
                <a:gd name="connsiteY6" fmla="*/ 444882 h 542084"/>
                <a:gd name="connsiteX7" fmla="*/ 385656 w 608697"/>
                <a:gd name="connsiteY7" fmla="*/ 433337 h 542084"/>
                <a:gd name="connsiteX8" fmla="*/ 292862 w 608697"/>
                <a:gd name="connsiteY8" fmla="*/ 433337 h 542084"/>
                <a:gd name="connsiteX9" fmla="*/ 281300 w 608697"/>
                <a:gd name="connsiteY9" fmla="*/ 444882 h 542084"/>
                <a:gd name="connsiteX10" fmla="*/ 281300 w 608697"/>
                <a:gd name="connsiteY10" fmla="*/ 467823 h 542084"/>
                <a:gd name="connsiteX11" fmla="*/ 292862 w 608697"/>
                <a:gd name="connsiteY11" fmla="*/ 479368 h 542084"/>
                <a:gd name="connsiteX12" fmla="*/ 315837 w 608697"/>
                <a:gd name="connsiteY12" fmla="*/ 479368 h 542084"/>
                <a:gd name="connsiteX13" fmla="*/ 327399 w 608697"/>
                <a:gd name="connsiteY13" fmla="*/ 467823 h 542084"/>
                <a:gd name="connsiteX14" fmla="*/ 327399 w 608697"/>
                <a:gd name="connsiteY14" fmla="*/ 444882 h 542084"/>
                <a:gd name="connsiteX15" fmla="*/ 315837 w 608697"/>
                <a:gd name="connsiteY15" fmla="*/ 433337 h 542084"/>
                <a:gd name="connsiteX16" fmla="*/ 222968 w 608697"/>
                <a:gd name="connsiteY16" fmla="*/ 433337 h 542084"/>
                <a:gd name="connsiteX17" fmla="*/ 211480 w 608697"/>
                <a:gd name="connsiteY17" fmla="*/ 444882 h 542084"/>
                <a:gd name="connsiteX18" fmla="*/ 211480 w 608697"/>
                <a:gd name="connsiteY18" fmla="*/ 467823 h 542084"/>
                <a:gd name="connsiteX19" fmla="*/ 222968 w 608697"/>
                <a:gd name="connsiteY19" fmla="*/ 479368 h 542084"/>
                <a:gd name="connsiteX20" fmla="*/ 246017 w 608697"/>
                <a:gd name="connsiteY20" fmla="*/ 479368 h 542084"/>
                <a:gd name="connsiteX21" fmla="*/ 257579 w 608697"/>
                <a:gd name="connsiteY21" fmla="*/ 467823 h 542084"/>
                <a:gd name="connsiteX22" fmla="*/ 257579 w 608697"/>
                <a:gd name="connsiteY22" fmla="*/ 444882 h 542084"/>
                <a:gd name="connsiteX23" fmla="*/ 246017 w 608697"/>
                <a:gd name="connsiteY23" fmla="*/ 433337 h 542084"/>
                <a:gd name="connsiteX24" fmla="*/ 362681 w 608697"/>
                <a:gd name="connsiteY24" fmla="*/ 363545 h 542084"/>
                <a:gd name="connsiteX25" fmla="*/ 351119 w 608697"/>
                <a:gd name="connsiteY25" fmla="*/ 375090 h 542084"/>
                <a:gd name="connsiteX26" fmla="*/ 351119 w 608697"/>
                <a:gd name="connsiteY26" fmla="*/ 398106 h 542084"/>
                <a:gd name="connsiteX27" fmla="*/ 362681 w 608697"/>
                <a:gd name="connsiteY27" fmla="*/ 409651 h 542084"/>
                <a:gd name="connsiteX28" fmla="*/ 385656 w 608697"/>
                <a:gd name="connsiteY28" fmla="*/ 409651 h 542084"/>
                <a:gd name="connsiteX29" fmla="*/ 397218 w 608697"/>
                <a:gd name="connsiteY29" fmla="*/ 398106 h 542084"/>
                <a:gd name="connsiteX30" fmla="*/ 397218 w 608697"/>
                <a:gd name="connsiteY30" fmla="*/ 375090 h 542084"/>
                <a:gd name="connsiteX31" fmla="*/ 385656 w 608697"/>
                <a:gd name="connsiteY31" fmla="*/ 363545 h 542084"/>
                <a:gd name="connsiteX32" fmla="*/ 292862 w 608697"/>
                <a:gd name="connsiteY32" fmla="*/ 363545 h 542084"/>
                <a:gd name="connsiteX33" fmla="*/ 281300 w 608697"/>
                <a:gd name="connsiteY33" fmla="*/ 375090 h 542084"/>
                <a:gd name="connsiteX34" fmla="*/ 281300 w 608697"/>
                <a:gd name="connsiteY34" fmla="*/ 398106 h 542084"/>
                <a:gd name="connsiteX35" fmla="*/ 292862 w 608697"/>
                <a:gd name="connsiteY35" fmla="*/ 409651 h 542084"/>
                <a:gd name="connsiteX36" fmla="*/ 315837 w 608697"/>
                <a:gd name="connsiteY36" fmla="*/ 409651 h 542084"/>
                <a:gd name="connsiteX37" fmla="*/ 327399 w 608697"/>
                <a:gd name="connsiteY37" fmla="*/ 398106 h 542084"/>
                <a:gd name="connsiteX38" fmla="*/ 327399 w 608697"/>
                <a:gd name="connsiteY38" fmla="*/ 375090 h 542084"/>
                <a:gd name="connsiteX39" fmla="*/ 315837 w 608697"/>
                <a:gd name="connsiteY39" fmla="*/ 363545 h 542084"/>
                <a:gd name="connsiteX40" fmla="*/ 222968 w 608697"/>
                <a:gd name="connsiteY40" fmla="*/ 363545 h 542084"/>
                <a:gd name="connsiteX41" fmla="*/ 211480 w 608697"/>
                <a:gd name="connsiteY41" fmla="*/ 375090 h 542084"/>
                <a:gd name="connsiteX42" fmla="*/ 211480 w 608697"/>
                <a:gd name="connsiteY42" fmla="*/ 398106 h 542084"/>
                <a:gd name="connsiteX43" fmla="*/ 222968 w 608697"/>
                <a:gd name="connsiteY43" fmla="*/ 409651 h 542084"/>
                <a:gd name="connsiteX44" fmla="*/ 246017 w 608697"/>
                <a:gd name="connsiteY44" fmla="*/ 409651 h 542084"/>
                <a:gd name="connsiteX45" fmla="*/ 257579 w 608697"/>
                <a:gd name="connsiteY45" fmla="*/ 398106 h 542084"/>
                <a:gd name="connsiteX46" fmla="*/ 257579 w 608697"/>
                <a:gd name="connsiteY46" fmla="*/ 375090 h 542084"/>
                <a:gd name="connsiteX47" fmla="*/ 246017 w 608697"/>
                <a:gd name="connsiteY47" fmla="*/ 363545 h 542084"/>
                <a:gd name="connsiteX48" fmla="*/ 362681 w 608697"/>
                <a:gd name="connsiteY48" fmla="*/ 293828 h 542084"/>
                <a:gd name="connsiteX49" fmla="*/ 351119 w 608697"/>
                <a:gd name="connsiteY49" fmla="*/ 305373 h 542084"/>
                <a:gd name="connsiteX50" fmla="*/ 351119 w 608697"/>
                <a:gd name="connsiteY50" fmla="*/ 328314 h 542084"/>
                <a:gd name="connsiteX51" fmla="*/ 362681 w 608697"/>
                <a:gd name="connsiteY51" fmla="*/ 339859 h 542084"/>
                <a:gd name="connsiteX52" fmla="*/ 385656 w 608697"/>
                <a:gd name="connsiteY52" fmla="*/ 339859 h 542084"/>
                <a:gd name="connsiteX53" fmla="*/ 397218 w 608697"/>
                <a:gd name="connsiteY53" fmla="*/ 328314 h 542084"/>
                <a:gd name="connsiteX54" fmla="*/ 397218 w 608697"/>
                <a:gd name="connsiteY54" fmla="*/ 305373 h 542084"/>
                <a:gd name="connsiteX55" fmla="*/ 385656 w 608697"/>
                <a:gd name="connsiteY55" fmla="*/ 293828 h 542084"/>
                <a:gd name="connsiteX56" fmla="*/ 292862 w 608697"/>
                <a:gd name="connsiteY56" fmla="*/ 293828 h 542084"/>
                <a:gd name="connsiteX57" fmla="*/ 281300 w 608697"/>
                <a:gd name="connsiteY57" fmla="*/ 305373 h 542084"/>
                <a:gd name="connsiteX58" fmla="*/ 281300 w 608697"/>
                <a:gd name="connsiteY58" fmla="*/ 328314 h 542084"/>
                <a:gd name="connsiteX59" fmla="*/ 292862 w 608697"/>
                <a:gd name="connsiteY59" fmla="*/ 339859 h 542084"/>
                <a:gd name="connsiteX60" fmla="*/ 315837 w 608697"/>
                <a:gd name="connsiteY60" fmla="*/ 339859 h 542084"/>
                <a:gd name="connsiteX61" fmla="*/ 327399 w 608697"/>
                <a:gd name="connsiteY61" fmla="*/ 328314 h 542084"/>
                <a:gd name="connsiteX62" fmla="*/ 327399 w 608697"/>
                <a:gd name="connsiteY62" fmla="*/ 305373 h 542084"/>
                <a:gd name="connsiteX63" fmla="*/ 315837 w 608697"/>
                <a:gd name="connsiteY63" fmla="*/ 293828 h 542084"/>
                <a:gd name="connsiteX64" fmla="*/ 222968 w 608697"/>
                <a:gd name="connsiteY64" fmla="*/ 293828 h 542084"/>
                <a:gd name="connsiteX65" fmla="*/ 211480 w 608697"/>
                <a:gd name="connsiteY65" fmla="*/ 305373 h 542084"/>
                <a:gd name="connsiteX66" fmla="*/ 211480 w 608697"/>
                <a:gd name="connsiteY66" fmla="*/ 328314 h 542084"/>
                <a:gd name="connsiteX67" fmla="*/ 222968 w 608697"/>
                <a:gd name="connsiteY67" fmla="*/ 339859 h 542084"/>
                <a:gd name="connsiteX68" fmla="*/ 246017 w 608697"/>
                <a:gd name="connsiteY68" fmla="*/ 339859 h 542084"/>
                <a:gd name="connsiteX69" fmla="*/ 257579 w 608697"/>
                <a:gd name="connsiteY69" fmla="*/ 328314 h 542084"/>
                <a:gd name="connsiteX70" fmla="*/ 257579 w 608697"/>
                <a:gd name="connsiteY70" fmla="*/ 305373 h 542084"/>
                <a:gd name="connsiteX71" fmla="*/ 246017 w 608697"/>
                <a:gd name="connsiteY71" fmla="*/ 293828 h 542084"/>
                <a:gd name="connsiteX72" fmla="*/ 263397 w 608697"/>
                <a:gd name="connsiteY72" fmla="*/ 157149 h 542084"/>
                <a:gd name="connsiteX73" fmla="*/ 345301 w 608697"/>
                <a:gd name="connsiteY73" fmla="*/ 157149 h 542084"/>
                <a:gd name="connsiteX74" fmla="*/ 374766 w 608697"/>
                <a:gd name="connsiteY74" fmla="*/ 186570 h 542084"/>
                <a:gd name="connsiteX75" fmla="*/ 374766 w 608697"/>
                <a:gd name="connsiteY75" fmla="*/ 224483 h 542084"/>
                <a:gd name="connsiteX76" fmla="*/ 386999 w 608697"/>
                <a:gd name="connsiteY76" fmla="*/ 227462 h 542084"/>
                <a:gd name="connsiteX77" fmla="*/ 553939 w 608697"/>
                <a:gd name="connsiteY77" fmla="*/ 431326 h 542084"/>
                <a:gd name="connsiteX78" fmla="*/ 523132 w 608697"/>
                <a:gd name="connsiteY78" fmla="*/ 524729 h 542084"/>
                <a:gd name="connsiteX79" fmla="*/ 443019 w 608697"/>
                <a:gd name="connsiteY79" fmla="*/ 542084 h 542084"/>
                <a:gd name="connsiteX80" fmla="*/ 165680 w 608697"/>
                <a:gd name="connsiteY80" fmla="*/ 542084 h 542084"/>
                <a:gd name="connsiteX81" fmla="*/ 85566 w 608697"/>
                <a:gd name="connsiteY81" fmla="*/ 524729 h 542084"/>
                <a:gd name="connsiteX82" fmla="*/ 54759 w 608697"/>
                <a:gd name="connsiteY82" fmla="*/ 431326 h 542084"/>
                <a:gd name="connsiteX83" fmla="*/ 221700 w 608697"/>
                <a:gd name="connsiteY83" fmla="*/ 227462 h 542084"/>
                <a:gd name="connsiteX84" fmla="*/ 233933 w 608697"/>
                <a:gd name="connsiteY84" fmla="*/ 224483 h 542084"/>
                <a:gd name="connsiteX85" fmla="*/ 233933 w 608697"/>
                <a:gd name="connsiteY85" fmla="*/ 186570 h 542084"/>
                <a:gd name="connsiteX86" fmla="*/ 263397 w 608697"/>
                <a:gd name="connsiteY86" fmla="*/ 157149 h 542084"/>
                <a:gd name="connsiteX87" fmla="*/ 304349 w 608697"/>
                <a:gd name="connsiteY87" fmla="*/ 0 h 542084"/>
                <a:gd name="connsiteX88" fmla="*/ 608697 w 608697"/>
                <a:gd name="connsiteY88" fmla="*/ 131760 h 542084"/>
                <a:gd name="connsiteX89" fmla="*/ 608697 w 608697"/>
                <a:gd name="connsiteY89" fmla="*/ 158127 h 542084"/>
                <a:gd name="connsiteX90" fmla="*/ 548051 w 608697"/>
                <a:gd name="connsiteY90" fmla="*/ 218682 h 542084"/>
                <a:gd name="connsiteX91" fmla="*/ 463087 w 608697"/>
                <a:gd name="connsiteY91" fmla="*/ 218682 h 542084"/>
                <a:gd name="connsiteX92" fmla="*/ 402441 w 608697"/>
                <a:gd name="connsiteY92" fmla="*/ 158127 h 542084"/>
                <a:gd name="connsiteX93" fmla="*/ 402441 w 608697"/>
                <a:gd name="connsiteY93" fmla="*/ 131760 h 542084"/>
                <a:gd name="connsiteX94" fmla="*/ 402516 w 608697"/>
                <a:gd name="connsiteY94" fmla="*/ 129898 h 542084"/>
                <a:gd name="connsiteX95" fmla="*/ 206181 w 608697"/>
                <a:gd name="connsiteY95" fmla="*/ 129898 h 542084"/>
                <a:gd name="connsiteX96" fmla="*/ 206256 w 608697"/>
                <a:gd name="connsiteY96" fmla="*/ 131760 h 542084"/>
                <a:gd name="connsiteX97" fmla="*/ 206256 w 608697"/>
                <a:gd name="connsiteY97" fmla="*/ 158127 h 542084"/>
                <a:gd name="connsiteX98" fmla="*/ 145610 w 608697"/>
                <a:gd name="connsiteY98" fmla="*/ 218682 h 542084"/>
                <a:gd name="connsiteX99" fmla="*/ 60646 w 608697"/>
                <a:gd name="connsiteY99" fmla="*/ 218682 h 542084"/>
                <a:gd name="connsiteX100" fmla="*/ 0 w 608697"/>
                <a:gd name="connsiteY100" fmla="*/ 158127 h 542084"/>
                <a:gd name="connsiteX101" fmla="*/ 0 w 608697"/>
                <a:gd name="connsiteY101" fmla="*/ 131760 h 542084"/>
                <a:gd name="connsiteX102" fmla="*/ 304349 w 608697"/>
                <a:gd name="connsiteY102" fmla="*/ 0 h 54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608697" h="542084">
                  <a:moveTo>
                    <a:pt x="362681" y="433337"/>
                  </a:moveTo>
                  <a:cubicBezTo>
                    <a:pt x="356341" y="433337"/>
                    <a:pt x="351119" y="438476"/>
                    <a:pt x="351119" y="444882"/>
                  </a:cubicBezTo>
                  <a:lnTo>
                    <a:pt x="351119" y="467823"/>
                  </a:lnTo>
                  <a:cubicBezTo>
                    <a:pt x="351119" y="474229"/>
                    <a:pt x="356341" y="479368"/>
                    <a:pt x="362681" y="479368"/>
                  </a:cubicBezTo>
                  <a:lnTo>
                    <a:pt x="385656" y="479368"/>
                  </a:lnTo>
                  <a:cubicBezTo>
                    <a:pt x="392071" y="479368"/>
                    <a:pt x="397218" y="474229"/>
                    <a:pt x="397218" y="467823"/>
                  </a:cubicBezTo>
                  <a:lnTo>
                    <a:pt x="397218" y="444882"/>
                  </a:lnTo>
                  <a:cubicBezTo>
                    <a:pt x="397218" y="438476"/>
                    <a:pt x="392071" y="433337"/>
                    <a:pt x="385656" y="433337"/>
                  </a:cubicBezTo>
                  <a:close/>
                  <a:moveTo>
                    <a:pt x="292862" y="433337"/>
                  </a:moveTo>
                  <a:cubicBezTo>
                    <a:pt x="286447" y="433337"/>
                    <a:pt x="281300" y="438476"/>
                    <a:pt x="281300" y="444882"/>
                  </a:cubicBezTo>
                  <a:lnTo>
                    <a:pt x="281300" y="467823"/>
                  </a:lnTo>
                  <a:cubicBezTo>
                    <a:pt x="281300" y="474229"/>
                    <a:pt x="286447" y="479368"/>
                    <a:pt x="292862" y="479368"/>
                  </a:cubicBezTo>
                  <a:lnTo>
                    <a:pt x="315837" y="479368"/>
                  </a:lnTo>
                  <a:cubicBezTo>
                    <a:pt x="322252" y="479368"/>
                    <a:pt x="327399" y="474229"/>
                    <a:pt x="327399" y="467823"/>
                  </a:cubicBezTo>
                  <a:lnTo>
                    <a:pt x="327399" y="444882"/>
                  </a:lnTo>
                  <a:cubicBezTo>
                    <a:pt x="327399" y="438476"/>
                    <a:pt x="322252" y="433337"/>
                    <a:pt x="315837" y="433337"/>
                  </a:cubicBezTo>
                  <a:close/>
                  <a:moveTo>
                    <a:pt x="222968" y="433337"/>
                  </a:moveTo>
                  <a:cubicBezTo>
                    <a:pt x="216627" y="433337"/>
                    <a:pt x="211480" y="438476"/>
                    <a:pt x="211480" y="444882"/>
                  </a:cubicBezTo>
                  <a:lnTo>
                    <a:pt x="211480" y="467823"/>
                  </a:lnTo>
                  <a:cubicBezTo>
                    <a:pt x="211480" y="474229"/>
                    <a:pt x="216627" y="479368"/>
                    <a:pt x="222968" y="479368"/>
                  </a:cubicBezTo>
                  <a:lnTo>
                    <a:pt x="246017" y="479368"/>
                  </a:lnTo>
                  <a:cubicBezTo>
                    <a:pt x="252358" y="479368"/>
                    <a:pt x="257579" y="474229"/>
                    <a:pt x="257579" y="467823"/>
                  </a:cubicBezTo>
                  <a:lnTo>
                    <a:pt x="257579" y="444882"/>
                  </a:lnTo>
                  <a:cubicBezTo>
                    <a:pt x="257579" y="438476"/>
                    <a:pt x="252358" y="433337"/>
                    <a:pt x="246017" y="433337"/>
                  </a:cubicBezTo>
                  <a:close/>
                  <a:moveTo>
                    <a:pt x="362681" y="363545"/>
                  </a:moveTo>
                  <a:cubicBezTo>
                    <a:pt x="356341" y="363545"/>
                    <a:pt x="351119" y="368759"/>
                    <a:pt x="351119" y="375090"/>
                  </a:cubicBezTo>
                  <a:lnTo>
                    <a:pt x="351119" y="398106"/>
                  </a:lnTo>
                  <a:cubicBezTo>
                    <a:pt x="351119" y="404437"/>
                    <a:pt x="356341" y="409651"/>
                    <a:pt x="362681" y="409651"/>
                  </a:cubicBezTo>
                  <a:lnTo>
                    <a:pt x="385656" y="409651"/>
                  </a:lnTo>
                  <a:cubicBezTo>
                    <a:pt x="392071" y="409651"/>
                    <a:pt x="397218" y="404437"/>
                    <a:pt x="397218" y="398106"/>
                  </a:cubicBezTo>
                  <a:lnTo>
                    <a:pt x="397218" y="375090"/>
                  </a:lnTo>
                  <a:cubicBezTo>
                    <a:pt x="397218" y="368759"/>
                    <a:pt x="392071" y="363545"/>
                    <a:pt x="385656" y="363545"/>
                  </a:cubicBezTo>
                  <a:close/>
                  <a:moveTo>
                    <a:pt x="292862" y="363545"/>
                  </a:moveTo>
                  <a:cubicBezTo>
                    <a:pt x="286447" y="363545"/>
                    <a:pt x="281300" y="368759"/>
                    <a:pt x="281300" y="375090"/>
                  </a:cubicBezTo>
                  <a:lnTo>
                    <a:pt x="281300" y="398106"/>
                  </a:lnTo>
                  <a:cubicBezTo>
                    <a:pt x="281300" y="404437"/>
                    <a:pt x="286447" y="409651"/>
                    <a:pt x="292862" y="409651"/>
                  </a:cubicBezTo>
                  <a:lnTo>
                    <a:pt x="315837" y="409651"/>
                  </a:lnTo>
                  <a:cubicBezTo>
                    <a:pt x="322252" y="409651"/>
                    <a:pt x="327399" y="404437"/>
                    <a:pt x="327399" y="398106"/>
                  </a:cubicBezTo>
                  <a:lnTo>
                    <a:pt x="327399" y="375090"/>
                  </a:lnTo>
                  <a:cubicBezTo>
                    <a:pt x="327399" y="368759"/>
                    <a:pt x="322252" y="363545"/>
                    <a:pt x="315837" y="363545"/>
                  </a:cubicBezTo>
                  <a:close/>
                  <a:moveTo>
                    <a:pt x="222968" y="363545"/>
                  </a:moveTo>
                  <a:cubicBezTo>
                    <a:pt x="216627" y="363545"/>
                    <a:pt x="211480" y="368759"/>
                    <a:pt x="211480" y="375090"/>
                  </a:cubicBezTo>
                  <a:lnTo>
                    <a:pt x="211480" y="398106"/>
                  </a:lnTo>
                  <a:cubicBezTo>
                    <a:pt x="211480" y="404437"/>
                    <a:pt x="216627" y="409651"/>
                    <a:pt x="222968" y="409651"/>
                  </a:cubicBezTo>
                  <a:lnTo>
                    <a:pt x="246017" y="409651"/>
                  </a:lnTo>
                  <a:cubicBezTo>
                    <a:pt x="252358" y="409651"/>
                    <a:pt x="257579" y="404437"/>
                    <a:pt x="257579" y="398106"/>
                  </a:cubicBezTo>
                  <a:lnTo>
                    <a:pt x="257579" y="375090"/>
                  </a:lnTo>
                  <a:cubicBezTo>
                    <a:pt x="257579" y="368759"/>
                    <a:pt x="252358" y="363545"/>
                    <a:pt x="246017" y="363545"/>
                  </a:cubicBezTo>
                  <a:close/>
                  <a:moveTo>
                    <a:pt x="362681" y="293828"/>
                  </a:moveTo>
                  <a:cubicBezTo>
                    <a:pt x="356341" y="293828"/>
                    <a:pt x="351119" y="298967"/>
                    <a:pt x="351119" y="305373"/>
                  </a:cubicBezTo>
                  <a:lnTo>
                    <a:pt x="351119" y="328314"/>
                  </a:lnTo>
                  <a:cubicBezTo>
                    <a:pt x="351119" y="334720"/>
                    <a:pt x="356341" y="339859"/>
                    <a:pt x="362681" y="339859"/>
                  </a:cubicBezTo>
                  <a:lnTo>
                    <a:pt x="385656" y="339859"/>
                  </a:lnTo>
                  <a:cubicBezTo>
                    <a:pt x="392071" y="339859"/>
                    <a:pt x="397218" y="334720"/>
                    <a:pt x="397218" y="328314"/>
                  </a:cubicBezTo>
                  <a:lnTo>
                    <a:pt x="397218" y="305373"/>
                  </a:lnTo>
                  <a:cubicBezTo>
                    <a:pt x="397218" y="298967"/>
                    <a:pt x="392071" y="293828"/>
                    <a:pt x="385656" y="293828"/>
                  </a:cubicBezTo>
                  <a:close/>
                  <a:moveTo>
                    <a:pt x="292862" y="293828"/>
                  </a:moveTo>
                  <a:cubicBezTo>
                    <a:pt x="286447" y="293828"/>
                    <a:pt x="281300" y="298967"/>
                    <a:pt x="281300" y="305373"/>
                  </a:cubicBezTo>
                  <a:lnTo>
                    <a:pt x="281300" y="328314"/>
                  </a:lnTo>
                  <a:cubicBezTo>
                    <a:pt x="281300" y="334720"/>
                    <a:pt x="286447" y="339859"/>
                    <a:pt x="292862" y="339859"/>
                  </a:cubicBezTo>
                  <a:lnTo>
                    <a:pt x="315837" y="339859"/>
                  </a:lnTo>
                  <a:cubicBezTo>
                    <a:pt x="322252" y="339859"/>
                    <a:pt x="327399" y="334720"/>
                    <a:pt x="327399" y="328314"/>
                  </a:cubicBezTo>
                  <a:lnTo>
                    <a:pt x="327399" y="305373"/>
                  </a:lnTo>
                  <a:cubicBezTo>
                    <a:pt x="327399" y="298967"/>
                    <a:pt x="322252" y="293828"/>
                    <a:pt x="315837" y="293828"/>
                  </a:cubicBezTo>
                  <a:close/>
                  <a:moveTo>
                    <a:pt x="222968" y="293828"/>
                  </a:moveTo>
                  <a:cubicBezTo>
                    <a:pt x="216627" y="293828"/>
                    <a:pt x="211480" y="298967"/>
                    <a:pt x="211480" y="305373"/>
                  </a:cubicBezTo>
                  <a:lnTo>
                    <a:pt x="211480" y="328314"/>
                  </a:lnTo>
                  <a:cubicBezTo>
                    <a:pt x="211480" y="334720"/>
                    <a:pt x="216627" y="339859"/>
                    <a:pt x="222968" y="339859"/>
                  </a:cubicBezTo>
                  <a:lnTo>
                    <a:pt x="246017" y="339859"/>
                  </a:lnTo>
                  <a:cubicBezTo>
                    <a:pt x="252358" y="339859"/>
                    <a:pt x="257579" y="334720"/>
                    <a:pt x="257579" y="328314"/>
                  </a:cubicBezTo>
                  <a:lnTo>
                    <a:pt x="257579" y="305373"/>
                  </a:lnTo>
                  <a:cubicBezTo>
                    <a:pt x="257579" y="298967"/>
                    <a:pt x="252358" y="293828"/>
                    <a:pt x="246017" y="293828"/>
                  </a:cubicBezTo>
                  <a:close/>
                  <a:moveTo>
                    <a:pt x="263397" y="157149"/>
                  </a:moveTo>
                  <a:lnTo>
                    <a:pt x="345301" y="157149"/>
                  </a:lnTo>
                  <a:cubicBezTo>
                    <a:pt x="361562" y="157149"/>
                    <a:pt x="374766" y="170407"/>
                    <a:pt x="374766" y="186570"/>
                  </a:cubicBezTo>
                  <a:lnTo>
                    <a:pt x="374766" y="224483"/>
                  </a:lnTo>
                  <a:lnTo>
                    <a:pt x="386999" y="227462"/>
                  </a:lnTo>
                  <a:cubicBezTo>
                    <a:pt x="537678" y="264406"/>
                    <a:pt x="553939" y="382315"/>
                    <a:pt x="553939" y="431326"/>
                  </a:cubicBezTo>
                  <a:cubicBezTo>
                    <a:pt x="553939" y="478400"/>
                    <a:pt x="543869" y="509013"/>
                    <a:pt x="523132" y="524729"/>
                  </a:cubicBezTo>
                  <a:cubicBezTo>
                    <a:pt x="502992" y="539998"/>
                    <a:pt x="472781" y="542084"/>
                    <a:pt x="443019" y="542084"/>
                  </a:cubicBezTo>
                  <a:lnTo>
                    <a:pt x="165680" y="542084"/>
                  </a:lnTo>
                  <a:cubicBezTo>
                    <a:pt x="135917" y="542084"/>
                    <a:pt x="105707" y="539998"/>
                    <a:pt x="85566" y="524729"/>
                  </a:cubicBezTo>
                  <a:cubicBezTo>
                    <a:pt x="64829" y="509013"/>
                    <a:pt x="54759" y="478400"/>
                    <a:pt x="54759" y="431326"/>
                  </a:cubicBezTo>
                  <a:cubicBezTo>
                    <a:pt x="54759" y="382315"/>
                    <a:pt x="71021" y="264406"/>
                    <a:pt x="221700" y="227462"/>
                  </a:cubicBezTo>
                  <a:lnTo>
                    <a:pt x="233933" y="224483"/>
                  </a:lnTo>
                  <a:lnTo>
                    <a:pt x="233933" y="186570"/>
                  </a:lnTo>
                  <a:cubicBezTo>
                    <a:pt x="233933" y="170407"/>
                    <a:pt x="247136" y="157149"/>
                    <a:pt x="263397" y="157149"/>
                  </a:cubicBezTo>
                  <a:close/>
                  <a:moveTo>
                    <a:pt x="304349" y="0"/>
                  </a:moveTo>
                  <a:cubicBezTo>
                    <a:pt x="499341" y="0"/>
                    <a:pt x="608697" y="60555"/>
                    <a:pt x="608697" y="131760"/>
                  </a:cubicBezTo>
                  <a:lnTo>
                    <a:pt x="608697" y="158127"/>
                  </a:lnTo>
                  <a:cubicBezTo>
                    <a:pt x="608697" y="191570"/>
                    <a:pt x="581545" y="218682"/>
                    <a:pt x="548051" y="218682"/>
                  </a:cubicBezTo>
                  <a:lnTo>
                    <a:pt x="463087" y="218682"/>
                  </a:lnTo>
                  <a:cubicBezTo>
                    <a:pt x="429594" y="218682"/>
                    <a:pt x="402441" y="191570"/>
                    <a:pt x="402441" y="158127"/>
                  </a:cubicBezTo>
                  <a:lnTo>
                    <a:pt x="402441" y="131760"/>
                  </a:lnTo>
                  <a:cubicBezTo>
                    <a:pt x="402441" y="131165"/>
                    <a:pt x="402516" y="130569"/>
                    <a:pt x="402516" y="129898"/>
                  </a:cubicBezTo>
                  <a:lnTo>
                    <a:pt x="206181" y="129898"/>
                  </a:lnTo>
                  <a:cubicBezTo>
                    <a:pt x="206181" y="130569"/>
                    <a:pt x="206256" y="131165"/>
                    <a:pt x="206256" y="131760"/>
                  </a:cubicBezTo>
                  <a:lnTo>
                    <a:pt x="206256" y="158127"/>
                  </a:lnTo>
                  <a:cubicBezTo>
                    <a:pt x="206256" y="191570"/>
                    <a:pt x="179103" y="218682"/>
                    <a:pt x="145610" y="218682"/>
                  </a:cubicBezTo>
                  <a:lnTo>
                    <a:pt x="60646" y="218682"/>
                  </a:lnTo>
                  <a:cubicBezTo>
                    <a:pt x="27152" y="218682"/>
                    <a:pt x="0" y="191570"/>
                    <a:pt x="0" y="158127"/>
                  </a:cubicBezTo>
                  <a:lnTo>
                    <a:pt x="0" y="131760"/>
                  </a:lnTo>
                  <a:cubicBezTo>
                    <a:pt x="0" y="60480"/>
                    <a:pt x="109357" y="0"/>
                    <a:pt x="30434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ld-telephone_72355">
              <a:extLst>
                <a:ext uri="{FF2B5EF4-FFF2-40B4-BE49-F238E27FC236}">
                  <a16:creationId xmlns:a16="http://schemas.microsoft.com/office/drawing/2014/main" id="{B1D38D5B-3BD7-4F11-B0E4-7178A9629467}"/>
                </a:ext>
              </a:extLst>
            </p:cNvPr>
            <p:cNvSpPr/>
            <p:nvPr/>
          </p:nvSpPr>
          <p:spPr>
            <a:xfrm>
              <a:off x="10500502" y="4585017"/>
              <a:ext cx="427377" cy="380606"/>
            </a:xfrm>
            <a:custGeom>
              <a:avLst/>
              <a:gdLst>
                <a:gd name="connsiteX0" fmla="*/ 362681 w 608697"/>
                <a:gd name="connsiteY0" fmla="*/ 433337 h 542084"/>
                <a:gd name="connsiteX1" fmla="*/ 351119 w 608697"/>
                <a:gd name="connsiteY1" fmla="*/ 444882 h 542084"/>
                <a:gd name="connsiteX2" fmla="*/ 351119 w 608697"/>
                <a:gd name="connsiteY2" fmla="*/ 467823 h 542084"/>
                <a:gd name="connsiteX3" fmla="*/ 362681 w 608697"/>
                <a:gd name="connsiteY3" fmla="*/ 479368 h 542084"/>
                <a:gd name="connsiteX4" fmla="*/ 385656 w 608697"/>
                <a:gd name="connsiteY4" fmla="*/ 479368 h 542084"/>
                <a:gd name="connsiteX5" fmla="*/ 397218 w 608697"/>
                <a:gd name="connsiteY5" fmla="*/ 467823 h 542084"/>
                <a:gd name="connsiteX6" fmla="*/ 397218 w 608697"/>
                <a:gd name="connsiteY6" fmla="*/ 444882 h 542084"/>
                <a:gd name="connsiteX7" fmla="*/ 385656 w 608697"/>
                <a:gd name="connsiteY7" fmla="*/ 433337 h 542084"/>
                <a:gd name="connsiteX8" fmla="*/ 292862 w 608697"/>
                <a:gd name="connsiteY8" fmla="*/ 433337 h 542084"/>
                <a:gd name="connsiteX9" fmla="*/ 281300 w 608697"/>
                <a:gd name="connsiteY9" fmla="*/ 444882 h 542084"/>
                <a:gd name="connsiteX10" fmla="*/ 281300 w 608697"/>
                <a:gd name="connsiteY10" fmla="*/ 467823 h 542084"/>
                <a:gd name="connsiteX11" fmla="*/ 292862 w 608697"/>
                <a:gd name="connsiteY11" fmla="*/ 479368 h 542084"/>
                <a:gd name="connsiteX12" fmla="*/ 315837 w 608697"/>
                <a:gd name="connsiteY12" fmla="*/ 479368 h 542084"/>
                <a:gd name="connsiteX13" fmla="*/ 327399 w 608697"/>
                <a:gd name="connsiteY13" fmla="*/ 467823 h 542084"/>
                <a:gd name="connsiteX14" fmla="*/ 327399 w 608697"/>
                <a:gd name="connsiteY14" fmla="*/ 444882 h 542084"/>
                <a:gd name="connsiteX15" fmla="*/ 315837 w 608697"/>
                <a:gd name="connsiteY15" fmla="*/ 433337 h 542084"/>
                <a:gd name="connsiteX16" fmla="*/ 222968 w 608697"/>
                <a:gd name="connsiteY16" fmla="*/ 433337 h 542084"/>
                <a:gd name="connsiteX17" fmla="*/ 211480 w 608697"/>
                <a:gd name="connsiteY17" fmla="*/ 444882 h 542084"/>
                <a:gd name="connsiteX18" fmla="*/ 211480 w 608697"/>
                <a:gd name="connsiteY18" fmla="*/ 467823 h 542084"/>
                <a:gd name="connsiteX19" fmla="*/ 222968 w 608697"/>
                <a:gd name="connsiteY19" fmla="*/ 479368 h 542084"/>
                <a:gd name="connsiteX20" fmla="*/ 246017 w 608697"/>
                <a:gd name="connsiteY20" fmla="*/ 479368 h 542084"/>
                <a:gd name="connsiteX21" fmla="*/ 257579 w 608697"/>
                <a:gd name="connsiteY21" fmla="*/ 467823 h 542084"/>
                <a:gd name="connsiteX22" fmla="*/ 257579 w 608697"/>
                <a:gd name="connsiteY22" fmla="*/ 444882 h 542084"/>
                <a:gd name="connsiteX23" fmla="*/ 246017 w 608697"/>
                <a:gd name="connsiteY23" fmla="*/ 433337 h 542084"/>
                <a:gd name="connsiteX24" fmla="*/ 362681 w 608697"/>
                <a:gd name="connsiteY24" fmla="*/ 363545 h 542084"/>
                <a:gd name="connsiteX25" fmla="*/ 351119 w 608697"/>
                <a:gd name="connsiteY25" fmla="*/ 375090 h 542084"/>
                <a:gd name="connsiteX26" fmla="*/ 351119 w 608697"/>
                <a:gd name="connsiteY26" fmla="*/ 398106 h 542084"/>
                <a:gd name="connsiteX27" fmla="*/ 362681 w 608697"/>
                <a:gd name="connsiteY27" fmla="*/ 409651 h 542084"/>
                <a:gd name="connsiteX28" fmla="*/ 385656 w 608697"/>
                <a:gd name="connsiteY28" fmla="*/ 409651 h 542084"/>
                <a:gd name="connsiteX29" fmla="*/ 397218 w 608697"/>
                <a:gd name="connsiteY29" fmla="*/ 398106 h 542084"/>
                <a:gd name="connsiteX30" fmla="*/ 397218 w 608697"/>
                <a:gd name="connsiteY30" fmla="*/ 375090 h 542084"/>
                <a:gd name="connsiteX31" fmla="*/ 385656 w 608697"/>
                <a:gd name="connsiteY31" fmla="*/ 363545 h 542084"/>
                <a:gd name="connsiteX32" fmla="*/ 292862 w 608697"/>
                <a:gd name="connsiteY32" fmla="*/ 363545 h 542084"/>
                <a:gd name="connsiteX33" fmla="*/ 281300 w 608697"/>
                <a:gd name="connsiteY33" fmla="*/ 375090 h 542084"/>
                <a:gd name="connsiteX34" fmla="*/ 281300 w 608697"/>
                <a:gd name="connsiteY34" fmla="*/ 398106 h 542084"/>
                <a:gd name="connsiteX35" fmla="*/ 292862 w 608697"/>
                <a:gd name="connsiteY35" fmla="*/ 409651 h 542084"/>
                <a:gd name="connsiteX36" fmla="*/ 315837 w 608697"/>
                <a:gd name="connsiteY36" fmla="*/ 409651 h 542084"/>
                <a:gd name="connsiteX37" fmla="*/ 327399 w 608697"/>
                <a:gd name="connsiteY37" fmla="*/ 398106 h 542084"/>
                <a:gd name="connsiteX38" fmla="*/ 327399 w 608697"/>
                <a:gd name="connsiteY38" fmla="*/ 375090 h 542084"/>
                <a:gd name="connsiteX39" fmla="*/ 315837 w 608697"/>
                <a:gd name="connsiteY39" fmla="*/ 363545 h 542084"/>
                <a:gd name="connsiteX40" fmla="*/ 222968 w 608697"/>
                <a:gd name="connsiteY40" fmla="*/ 363545 h 542084"/>
                <a:gd name="connsiteX41" fmla="*/ 211480 w 608697"/>
                <a:gd name="connsiteY41" fmla="*/ 375090 h 542084"/>
                <a:gd name="connsiteX42" fmla="*/ 211480 w 608697"/>
                <a:gd name="connsiteY42" fmla="*/ 398106 h 542084"/>
                <a:gd name="connsiteX43" fmla="*/ 222968 w 608697"/>
                <a:gd name="connsiteY43" fmla="*/ 409651 h 542084"/>
                <a:gd name="connsiteX44" fmla="*/ 246017 w 608697"/>
                <a:gd name="connsiteY44" fmla="*/ 409651 h 542084"/>
                <a:gd name="connsiteX45" fmla="*/ 257579 w 608697"/>
                <a:gd name="connsiteY45" fmla="*/ 398106 h 542084"/>
                <a:gd name="connsiteX46" fmla="*/ 257579 w 608697"/>
                <a:gd name="connsiteY46" fmla="*/ 375090 h 542084"/>
                <a:gd name="connsiteX47" fmla="*/ 246017 w 608697"/>
                <a:gd name="connsiteY47" fmla="*/ 363545 h 542084"/>
                <a:gd name="connsiteX48" fmla="*/ 362681 w 608697"/>
                <a:gd name="connsiteY48" fmla="*/ 293828 h 542084"/>
                <a:gd name="connsiteX49" fmla="*/ 351119 w 608697"/>
                <a:gd name="connsiteY49" fmla="*/ 305373 h 542084"/>
                <a:gd name="connsiteX50" fmla="*/ 351119 w 608697"/>
                <a:gd name="connsiteY50" fmla="*/ 328314 h 542084"/>
                <a:gd name="connsiteX51" fmla="*/ 362681 w 608697"/>
                <a:gd name="connsiteY51" fmla="*/ 339859 h 542084"/>
                <a:gd name="connsiteX52" fmla="*/ 385656 w 608697"/>
                <a:gd name="connsiteY52" fmla="*/ 339859 h 542084"/>
                <a:gd name="connsiteX53" fmla="*/ 397218 w 608697"/>
                <a:gd name="connsiteY53" fmla="*/ 328314 h 542084"/>
                <a:gd name="connsiteX54" fmla="*/ 397218 w 608697"/>
                <a:gd name="connsiteY54" fmla="*/ 305373 h 542084"/>
                <a:gd name="connsiteX55" fmla="*/ 385656 w 608697"/>
                <a:gd name="connsiteY55" fmla="*/ 293828 h 542084"/>
                <a:gd name="connsiteX56" fmla="*/ 292862 w 608697"/>
                <a:gd name="connsiteY56" fmla="*/ 293828 h 542084"/>
                <a:gd name="connsiteX57" fmla="*/ 281300 w 608697"/>
                <a:gd name="connsiteY57" fmla="*/ 305373 h 542084"/>
                <a:gd name="connsiteX58" fmla="*/ 281300 w 608697"/>
                <a:gd name="connsiteY58" fmla="*/ 328314 h 542084"/>
                <a:gd name="connsiteX59" fmla="*/ 292862 w 608697"/>
                <a:gd name="connsiteY59" fmla="*/ 339859 h 542084"/>
                <a:gd name="connsiteX60" fmla="*/ 315837 w 608697"/>
                <a:gd name="connsiteY60" fmla="*/ 339859 h 542084"/>
                <a:gd name="connsiteX61" fmla="*/ 327399 w 608697"/>
                <a:gd name="connsiteY61" fmla="*/ 328314 h 542084"/>
                <a:gd name="connsiteX62" fmla="*/ 327399 w 608697"/>
                <a:gd name="connsiteY62" fmla="*/ 305373 h 542084"/>
                <a:gd name="connsiteX63" fmla="*/ 315837 w 608697"/>
                <a:gd name="connsiteY63" fmla="*/ 293828 h 542084"/>
                <a:gd name="connsiteX64" fmla="*/ 222968 w 608697"/>
                <a:gd name="connsiteY64" fmla="*/ 293828 h 542084"/>
                <a:gd name="connsiteX65" fmla="*/ 211480 w 608697"/>
                <a:gd name="connsiteY65" fmla="*/ 305373 h 542084"/>
                <a:gd name="connsiteX66" fmla="*/ 211480 w 608697"/>
                <a:gd name="connsiteY66" fmla="*/ 328314 h 542084"/>
                <a:gd name="connsiteX67" fmla="*/ 222968 w 608697"/>
                <a:gd name="connsiteY67" fmla="*/ 339859 h 542084"/>
                <a:gd name="connsiteX68" fmla="*/ 246017 w 608697"/>
                <a:gd name="connsiteY68" fmla="*/ 339859 h 542084"/>
                <a:gd name="connsiteX69" fmla="*/ 257579 w 608697"/>
                <a:gd name="connsiteY69" fmla="*/ 328314 h 542084"/>
                <a:gd name="connsiteX70" fmla="*/ 257579 w 608697"/>
                <a:gd name="connsiteY70" fmla="*/ 305373 h 542084"/>
                <a:gd name="connsiteX71" fmla="*/ 246017 w 608697"/>
                <a:gd name="connsiteY71" fmla="*/ 293828 h 542084"/>
                <a:gd name="connsiteX72" fmla="*/ 263397 w 608697"/>
                <a:gd name="connsiteY72" fmla="*/ 157149 h 542084"/>
                <a:gd name="connsiteX73" fmla="*/ 345301 w 608697"/>
                <a:gd name="connsiteY73" fmla="*/ 157149 h 542084"/>
                <a:gd name="connsiteX74" fmla="*/ 374766 w 608697"/>
                <a:gd name="connsiteY74" fmla="*/ 186570 h 542084"/>
                <a:gd name="connsiteX75" fmla="*/ 374766 w 608697"/>
                <a:gd name="connsiteY75" fmla="*/ 224483 h 542084"/>
                <a:gd name="connsiteX76" fmla="*/ 386999 w 608697"/>
                <a:gd name="connsiteY76" fmla="*/ 227462 h 542084"/>
                <a:gd name="connsiteX77" fmla="*/ 553939 w 608697"/>
                <a:gd name="connsiteY77" fmla="*/ 431326 h 542084"/>
                <a:gd name="connsiteX78" fmla="*/ 523132 w 608697"/>
                <a:gd name="connsiteY78" fmla="*/ 524729 h 542084"/>
                <a:gd name="connsiteX79" fmla="*/ 443019 w 608697"/>
                <a:gd name="connsiteY79" fmla="*/ 542084 h 542084"/>
                <a:gd name="connsiteX80" fmla="*/ 165680 w 608697"/>
                <a:gd name="connsiteY80" fmla="*/ 542084 h 542084"/>
                <a:gd name="connsiteX81" fmla="*/ 85566 w 608697"/>
                <a:gd name="connsiteY81" fmla="*/ 524729 h 542084"/>
                <a:gd name="connsiteX82" fmla="*/ 54759 w 608697"/>
                <a:gd name="connsiteY82" fmla="*/ 431326 h 542084"/>
                <a:gd name="connsiteX83" fmla="*/ 221700 w 608697"/>
                <a:gd name="connsiteY83" fmla="*/ 227462 h 542084"/>
                <a:gd name="connsiteX84" fmla="*/ 233933 w 608697"/>
                <a:gd name="connsiteY84" fmla="*/ 224483 h 542084"/>
                <a:gd name="connsiteX85" fmla="*/ 233933 w 608697"/>
                <a:gd name="connsiteY85" fmla="*/ 186570 h 542084"/>
                <a:gd name="connsiteX86" fmla="*/ 263397 w 608697"/>
                <a:gd name="connsiteY86" fmla="*/ 157149 h 542084"/>
                <a:gd name="connsiteX87" fmla="*/ 304349 w 608697"/>
                <a:gd name="connsiteY87" fmla="*/ 0 h 542084"/>
                <a:gd name="connsiteX88" fmla="*/ 608697 w 608697"/>
                <a:gd name="connsiteY88" fmla="*/ 131760 h 542084"/>
                <a:gd name="connsiteX89" fmla="*/ 608697 w 608697"/>
                <a:gd name="connsiteY89" fmla="*/ 158127 h 542084"/>
                <a:gd name="connsiteX90" fmla="*/ 548051 w 608697"/>
                <a:gd name="connsiteY90" fmla="*/ 218682 h 542084"/>
                <a:gd name="connsiteX91" fmla="*/ 463087 w 608697"/>
                <a:gd name="connsiteY91" fmla="*/ 218682 h 542084"/>
                <a:gd name="connsiteX92" fmla="*/ 402441 w 608697"/>
                <a:gd name="connsiteY92" fmla="*/ 158127 h 542084"/>
                <a:gd name="connsiteX93" fmla="*/ 402441 w 608697"/>
                <a:gd name="connsiteY93" fmla="*/ 131760 h 542084"/>
                <a:gd name="connsiteX94" fmla="*/ 402516 w 608697"/>
                <a:gd name="connsiteY94" fmla="*/ 129898 h 542084"/>
                <a:gd name="connsiteX95" fmla="*/ 206181 w 608697"/>
                <a:gd name="connsiteY95" fmla="*/ 129898 h 542084"/>
                <a:gd name="connsiteX96" fmla="*/ 206256 w 608697"/>
                <a:gd name="connsiteY96" fmla="*/ 131760 h 542084"/>
                <a:gd name="connsiteX97" fmla="*/ 206256 w 608697"/>
                <a:gd name="connsiteY97" fmla="*/ 158127 h 542084"/>
                <a:gd name="connsiteX98" fmla="*/ 145610 w 608697"/>
                <a:gd name="connsiteY98" fmla="*/ 218682 h 542084"/>
                <a:gd name="connsiteX99" fmla="*/ 60646 w 608697"/>
                <a:gd name="connsiteY99" fmla="*/ 218682 h 542084"/>
                <a:gd name="connsiteX100" fmla="*/ 0 w 608697"/>
                <a:gd name="connsiteY100" fmla="*/ 158127 h 542084"/>
                <a:gd name="connsiteX101" fmla="*/ 0 w 608697"/>
                <a:gd name="connsiteY101" fmla="*/ 131760 h 542084"/>
                <a:gd name="connsiteX102" fmla="*/ 304349 w 608697"/>
                <a:gd name="connsiteY102" fmla="*/ 0 h 54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608697" h="542084">
                  <a:moveTo>
                    <a:pt x="362681" y="433337"/>
                  </a:moveTo>
                  <a:cubicBezTo>
                    <a:pt x="356341" y="433337"/>
                    <a:pt x="351119" y="438476"/>
                    <a:pt x="351119" y="444882"/>
                  </a:cubicBezTo>
                  <a:lnTo>
                    <a:pt x="351119" y="467823"/>
                  </a:lnTo>
                  <a:cubicBezTo>
                    <a:pt x="351119" y="474229"/>
                    <a:pt x="356341" y="479368"/>
                    <a:pt x="362681" y="479368"/>
                  </a:cubicBezTo>
                  <a:lnTo>
                    <a:pt x="385656" y="479368"/>
                  </a:lnTo>
                  <a:cubicBezTo>
                    <a:pt x="392071" y="479368"/>
                    <a:pt x="397218" y="474229"/>
                    <a:pt x="397218" y="467823"/>
                  </a:cubicBezTo>
                  <a:lnTo>
                    <a:pt x="397218" y="444882"/>
                  </a:lnTo>
                  <a:cubicBezTo>
                    <a:pt x="397218" y="438476"/>
                    <a:pt x="392071" y="433337"/>
                    <a:pt x="385656" y="433337"/>
                  </a:cubicBezTo>
                  <a:close/>
                  <a:moveTo>
                    <a:pt x="292862" y="433337"/>
                  </a:moveTo>
                  <a:cubicBezTo>
                    <a:pt x="286447" y="433337"/>
                    <a:pt x="281300" y="438476"/>
                    <a:pt x="281300" y="444882"/>
                  </a:cubicBezTo>
                  <a:lnTo>
                    <a:pt x="281300" y="467823"/>
                  </a:lnTo>
                  <a:cubicBezTo>
                    <a:pt x="281300" y="474229"/>
                    <a:pt x="286447" y="479368"/>
                    <a:pt x="292862" y="479368"/>
                  </a:cubicBezTo>
                  <a:lnTo>
                    <a:pt x="315837" y="479368"/>
                  </a:lnTo>
                  <a:cubicBezTo>
                    <a:pt x="322252" y="479368"/>
                    <a:pt x="327399" y="474229"/>
                    <a:pt x="327399" y="467823"/>
                  </a:cubicBezTo>
                  <a:lnTo>
                    <a:pt x="327399" y="444882"/>
                  </a:lnTo>
                  <a:cubicBezTo>
                    <a:pt x="327399" y="438476"/>
                    <a:pt x="322252" y="433337"/>
                    <a:pt x="315837" y="433337"/>
                  </a:cubicBezTo>
                  <a:close/>
                  <a:moveTo>
                    <a:pt x="222968" y="433337"/>
                  </a:moveTo>
                  <a:cubicBezTo>
                    <a:pt x="216627" y="433337"/>
                    <a:pt x="211480" y="438476"/>
                    <a:pt x="211480" y="444882"/>
                  </a:cubicBezTo>
                  <a:lnTo>
                    <a:pt x="211480" y="467823"/>
                  </a:lnTo>
                  <a:cubicBezTo>
                    <a:pt x="211480" y="474229"/>
                    <a:pt x="216627" y="479368"/>
                    <a:pt x="222968" y="479368"/>
                  </a:cubicBezTo>
                  <a:lnTo>
                    <a:pt x="246017" y="479368"/>
                  </a:lnTo>
                  <a:cubicBezTo>
                    <a:pt x="252358" y="479368"/>
                    <a:pt x="257579" y="474229"/>
                    <a:pt x="257579" y="467823"/>
                  </a:cubicBezTo>
                  <a:lnTo>
                    <a:pt x="257579" y="444882"/>
                  </a:lnTo>
                  <a:cubicBezTo>
                    <a:pt x="257579" y="438476"/>
                    <a:pt x="252358" y="433337"/>
                    <a:pt x="246017" y="433337"/>
                  </a:cubicBezTo>
                  <a:close/>
                  <a:moveTo>
                    <a:pt x="362681" y="363545"/>
                  </a:moveTo>
                  <a:cubicBezTo>
                    <a:pt x="356341" y="363545"/>
                    <a:pt x="351119" y="368759"/>
                    <a:pt x="351119" y="375090"/>
                  </a:cubicBezTo>
                  <a:lnTo>
                    <a:pt x="351119" y="398106"/>
                  </a:lnTo>
                  <a:cubicBezTo>
                    <a:pt x="351119" y="404437"/>
                    <a:pt x="356341" y="409651"/>
                    <a:pt x="362681" y="409651"/>
                  </a:cubicBezTo>
                  <a:lnTo>
                    <a:pt x="385656" y="409651"/>
                  </a:lnTo>
                  <a:cubicBezTo>
                    <a:pt x="392071" y="409651"/>
                    <a:pt x="397218" y="404437"/>
                    <a:pt x="397218" y="398106"/>
                  </a:cubicBezTo>
                  <a:lnTo>
                    <a:pt x="397218" y="375090"/>
                  </a:lnTo>
                  <a:cubicBezTo>
                    <a:pt x="397218" y="368759"/>
                    <a:pt x="392071" y="363545"/>
                    <a:pt x="385656" y="363545"/>
                  </a:cubicBezTo>
                  <a:close/>
                  <a:moveTo>
                    <a:pt x="292862" y="363545"/>
                  </a:moveTo>
                  <a:cubicBezTo>
                    <a:pt x="286447" y="363545"/>
                    <a:pt x="281300" y="368759"/>
                    <a:pt x="281300" y="375090"/>
                  </a:cubicBezTo>
                  <a:lnTo>
                    <a:pt x="281300" y="398106"/>
                  </a:lnTo>
                  <a:cubicBezTo>
                    <a:pt x="281300" y="404437"/>
                    <a:pt x="286447" y="409651"/>
                    <a:pt x="292862" y="409651"/>
                  </a:cubicBezTo>
                  <a:lnTo>
                    <a:pt x="315837" y="409651"/>
                  </a:lnTo>
                  <a:cubicBezTo>
                    <a:pt x="322252" y="409651"/>
                    <a:pt x="327399" y="404437"/>
                    <a:pt x="327399" y="398106"/>
                  </a:cubicBezTo>
                  <a:lnTo>
                    <a:pt x="327399" y="375090"/>
                  </a:lnTo>
                  <a:cubicBezTo>
                    <a:pt x="327399" y="368759"/>
                    <a:pt x="322252" y="363545"/>
                    <a:pt x="315837" y="363545"/>
                  </a:cubicBezTo>
                  <a:close/>
                  <a:moveTo>
                    <a:pt x="222968" y="363545"/>
                  </a:moveTo>
                  <a:cubicBezTo>
                    <a:pt x="216627" y="363545"/>
                    <a:pt x="211480" y="368759"/>
                    <a:pt x="211480" y="375090"/>
                  </a:cubicBezTo>
                  <a:lnTo>
                    <a:pt x="211480" y="398106"/>
                  </a:lnTo>
                  <a:cubicBezTo>
                    <a:pt x="211480" y="404437"/>
                    <a:pt x="216627" y="409651"/>
                    <a:pt x="222968" y="409651"/>
                  </a:cubicBezTo>
                  <a:lnTo>
                    <a:pt x="246017" y="409651"/>
                  </a:lnTo>
                  <a:cubicBezTo>
                    <a:pt x="252358" y="409651"/>
                    <a:pt x="257579" y="404437"/>
                    <a:pt x="257579" y="398106"/>
                  </a:cubicBezTo>
                  <a:lnTo>
                    <a:pt x="257579" y="375090"/>
                  </a:lnTo>
                  <a:cubicBezTo>
                    <a:pt x="257579" y="368759"/>
                    <a:pt x="252358" y="363545"/>
                    <a:pt x="246017" y="363545"/>
                  </a:cubicBezTo>
                  <a:close/>
                  <a:moveTo>
                    <a:pt x="362681" y="293828"/>
                  </a:moveTo>
                  <a:cubicBezTo>
                    <a:pt x="356341" y="293828"/>
                    <a:pt x="351119" y="298967"/>
                    <a:pt x="351119" y="305373"/>
                  </a:cubicBezTo>
                  <a:lnTo>
                    <a:pt x="351119" y="328314"/>
                  </a:lnTo>
                  <a:cubicBezTo>
                    <a:pt x="351119" y="334720"/>
                    <a:pt x="356341" y="339859"/>
                    <a:pt x="362681" y="339859"/>
                  </a:cubicBezTo>
                  <a:lnTo>
                    <a:pt x="385656" y="339859"/>
                  </a:lnTo>
                  <a:cubicBezTo>
                    <a:pt x="392071" y="339859"/>
                    <a:pt x="397218" y="334720"/>
                    <a:pt x="397218" y="328314"/>
                  </a:cubicBezTo>
                  <a:lnTo>
                    <a:pt x="397218" y="305373"/>
                  </a:lnTo>
                  <a:cubicBezTo>
                    <a:pt x="397218" y="298967"/>
                    <a:pt x="392071" y="293828"/>
                    <a:pt x="385656" y="293828"/>
                  </a:cubicBezTo>
                  <a:close/>
                  <a:moveTo>
                    <a:pt x="292862" y="293828"/>
                  </a:moveTo>
                  <a:cubicBezTo>
                    <a:pt x="286447" y="293828"/>
                    <a:pt x="281300" y="298967"/>
                    <a:pt x="281300" y="305373"/>
                  </a:cubicBezTo>
                  <a:lnTo>
                    <a:pt x="281300" y="328314"/>
                  </a:lnTo>
                  <a:cubicBezTo>
                    <a:pt x="281300" y="334720"/>
                    <a:pt x="286447" y="339859"/>
                    <a:pt x="292862" y="339859"/>
                  </a:cubicBezTo>
                  <a:lnTo>
                    <a:pt x="315837" y="339859"/>
                  </a:lnTo>
                  <a:cubicBezTo>
                    <a:pt x="322252" y="339859"/>
                    <a:pt x="327399" y="334720"/>
                    <a:pt x="327399" y="328314"/>
                  </a:cubicBezTo>
                  <a:lnTo>
                    <a:pt x="327399" y="305373"/>
                  </a:lnTo>
                  <a:cubicBezTo>
                    <a:pt x="327399" y="298967"/>
                    <a:pt x="322252" y="293828"/>
                    <a:pt x="315837" y="293828"/>
                  </a:cubicBezTo>
                  <a:close/>
                  <a:moveTo>
                    <a:pt x="222968" y="293828"/>
                  </a:moveTo>
                  <a:cubicBezTo>
                    <a:pt x="216627" y="293828"/>
                    <a:pt x="211480" y="298967"/>
                    <a:pt x="211480" y="305373"/>
                  </a:cubicBezTo>
                  <a:lnTo>
                    <a:pt x="211480" y="328314"/>
                  </a:lnTo>
                  <a:cubicBezTo>
                    <a:pt x="211480" y="334720"/>
                    <a:pt x="216627" y="339859"/>
                    <a:pt x="222968" y="339859"/>
                  </a:cubicBezTo>
                  <a:lnTo>
                    <a:pt x="246017" y="339859"/>
                  </a:lnTo>
                  <a:cubicBezTo>
                    <a:pt x="252358" y="339859"/>
                    <a:pt x="257579" y="334720"/>
                    <a:pt x="257579" y="328314"/>
                  </a:cubicBezTo>
                  <a:lnTo>
                    <a:pt x="257579" y="305373"/>
                  </a:lnTo>
                  <a:cubicBezTo>
                    <a:pt x="257579" y="298967"/>
                    <a:pt x="252358" y="293828"/>
                    <a:pt x="246017" y="293828"/>
                  </a:cubicBezTo>
                  <a:close/>
                  <a:moveTo>
                    <a:pt x="263397" y="157149"/>
                  </a:moveTo>
                  <a:lnTo>
                    <a:pt x="345301" y="157149"/>
                  </a:lnTo>
                  <a:cubicBezTo>
                    <a:pt x="361562" y="157149"/>
                    <a:pt x="374766" y="170407"/>
                    <a:pt x="374766" y="186570"/>
                  </a:cubicBezTo>
                  <a:lnTo>
                    <a:pt x="374766" y="224483"/>
                  </a:lnTo>
                  <a:lnTo>
                    <a:pt x="386999" y="227462"/>
                  </a:lnTo>
                  <a:cubicBezTo>
                    <a:pt x="537678" y="264406"/>
                    <a:pt x="553939" y="382315"/>
                    <a:pt x="553939" y="431326"/>
                  </a:cubicBezTo>
                  <a:cubicBezTo>
                    <a:pt x="553939" y="478400"/>
                    <a:pt x="543869" y="509013"/>
                    <a:pt x="523132" y="524729"/>
                  </a:cubicBezTo>
                  <a:cubicBezTo>
                    <a:pt x="502992" y="539998"/>
                    <a:pt x="472781" y="542084"/>
                    <a:pt x="443019" y="542084"/>
                  </a:cubicBezTo>
                  <a:lnTo>
                    <a:pt x="165680" y="542084"/>
                  </a:lnTo>
                  <a:cubicBezTo>
                    <a:pt x="135917" y="542084"/>
                    <a:pt x="105707" y="539998"/>
                    <a:pt x="85566" y="524729"/>
                  </a:cubicBezTo>
                  <a:cubicBezTo>
                    <a:pt x="64829" y="509013"/>
                    <a:pt x="54759" y="478400"/>
                    <a:pt x="54759" y="431326"/>
                  </a:cubicBezTo>
                  <a:cubicBezTo>
                    <a:pt x="54759" y="382315"/>
                    <a:pt x="71021" y="264406"/>
                    <a:pt x="221700" y="227462"/>
                  </a:cubicBezTo>
                  <a:lnTo>
                    <a:pt x="233933" y="224483"/>
                  </a:lnTo>
                  <a:lnTo>
                    <a:pt x="233933" y="186570"/>
                  </a:lnTo>
                  <a:cubicBezTo>
                    <a:pt x="233933" y="170407"/>
                    <a:pt x="247136" y="157149"/>
                    <a:pt x="263397" y="157149"/>
                  </a:cubicBezTo>
                  <a:close/>
                  <a:moveTo>
                    <a:pt x="304349" y="0"/>
                  </a:moveTo>
                  <a:cubicBezTo>
                    <a:pt x="499341" y="0"/>
                    <a:pt x="608697" y="60555"/>
                    <a:pt x="608697" y="131760"/>
                  </a:cubicBezTo>
                  <a:lnTo>
                    <a:pt x="608697" y="158127"/>
                  </a:lnTo>
                  <a:cubicBezTo>
                    <a:pt x="608697" y="191570"/>
                    <a:pt x="581545" y="218682"/>
                    <a:pt x="548051" y="218682"/>
                  </a:cubicBezTo>
                  <a:lnTo>
                    <a:pt x="463087" y="218682"/>
                  </a:lnTo>
                  <a:cubicBezTo>
                    <a:pt x="429594" y="218682"/>
                    <a:pt x="402441" y="191570"/>
                    <a:pt x="402441" y="158127"/>
                  </a:cubicBezTo>
                  <a:lnTo>
                    <a:pt x="402441" y="131760"/>
                  </a:lnTo>
                  <a:cubicBezTo>
                    <a:pt x="402441" y="131165"/>
                    <a:pt x="402516" y="130569"/>
                    <a:pt x="402516" y="129898"/>
                  </a:cubicBezTo>
                  <a:lnTo>
                    <a:pt x="206181" y="129898"/>
                  </a:lnTo>
                  <a:cubicBezTo>
                    <a:pt x="206181" y="130569"/>
                    <a:pt x="206256" y="131165"/>
                    <a:pt x="206256" y="131760"/>
                  </a:cubicBezTo>
                  <a:lnTo>
                    <a:pt x="206256" y="158127"/>
                  </a:lnTo>
                  <a:cubicBezTo>
                    <a:pt x="206256" y="191570"/>
                    <a:pt x="179103" y="218682"/>
                    <a:pt x="145610" y="218682"/>
                  </a:cubicBezTo>
                  <a:lnTo>
                    <a:pt x="60646" y="218682"/>
                  </a:lnTo>
                  <a:cubicBezTo>
                    <a:pt x="27152" y="218682"/>
                    <a:pt x="0" y="191570"/>
                    <a:pt x="0" y="158127"/>
                  </a:cubicBezTo>
                  <a:lnTo>
                    <a:pt x="0" y="131760"/>
                  </a:lnTo>
                  <a:cubicBezTo>
                    <a:pt x="0" y="60480"/>
                    <a:pt x="109357" y="0"/>
                    <a:pt x="304349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CED993F-DC6E-4D1F-AD20-44C4CE601DDC}"/>
              </a:ext>
            </a:extLst>
          </p:cNvPr>
          <p:cNvCxnSpPr>
            <a:stCxn id="12" idx="77"/>
            <a:endCxn id="60" idx="2"/>
          </p:cNvCxnSpPr>
          <p:nvPr/>
        </p:nvCxnSpPr>
        <p:spPr>
          <a:xfrm>
            <a:off x="2163540" y="3152070"/>
            <a:ext cx="1112582" cy="930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595B6AE-92A6-4138-A0FD-7D3644496C91}"/>
              </a:ext>
            </a:extLst>
          </p:cNvPr>
          <p:cNvCxnSpPr>
            <a:cxnSpLocks/>
            <a:stCxn id="14" idx="77"/>
            <a:endCxn id="64" idx="3"/>
          </p:cNvCxnSpPr>
          <p:nvPr/>
        </p:nvCxnSpPr>
        <p:spPr>
          <a:xfrm flipV="1">
            <a:off x="2159471" y="4455923"/>
            <a:ext cx="1131530" cy="2669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9B3F4C9-EAB8-4CB1-A8D0-C0EAEB8314E9}"/>
              </a:ext>
            </a:extLst>
          </p:cNvPr>
          <p:cNvCxnSpPr/>
          <p:nvPr/>
        </p:nvCxnSpPr>
        <p:spPr>
          <a:xfrm>
            <a:off x="1302765" y="3845661"/>
            <a:ext cx="199029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C219B21-7227-46E4-8C7B-98391A3B338F}"/>
              </a:ext>
            </a:extLst>
          </p:cNvPr>
          <p:cNvCxnSpPr>
            <a:cxnSpLocks/>
            <a:stCxn id="37" idx="65"/>
            <a:endCxn id="50" idx="6"/>
          </p:cNvCxnSpPr>
          <p:nvPr/>
        </p:nvCxnSpPr>
        <p:spPr>
          <a:xfrm flipH="1">
            <a:off x="8919317" y="3061801"/>
            <a:ext cx="1057350" cy="18327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1B0E7F8-05D3-4D8F-AA88-0B3C0A859E84}"/>
              </a:ext>
            </a:extLst>
          </p:cNvPr>
          <p:cNvCxnSpPr/>
          <p:nvPr/>
        </p:nvCxnSpPr>
        <p:spPr>
          <a:xfrm>
            <a:off x="8919317" y="3829981"/>
            <a:ext cx="199029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9D26B25F-136F-4DE1-851A-361CD6AFDE74}"/>
              </a:ext>
            </a:extLst>
          </p:cNvPr>
          <p:cNvCxnSpPr>
            <a:cxnSpLocks/>
            <a:stCxn id="39" idx="41"/>
            <a:endCxn id="54" idx="6"/>
          </p:cNvCxnSpPr>
          <p:nvPr/>
        </p:nvCxnSpPr>
        <p:spPr>
          <a:xfrm flipH="1" flipV="1">
            <a:off x="8919317" y="4420002"/>
            <a:ext cx="1053281" cy="2615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91940CA-4120-40A5-90F1-75C96DF80B05}"/>
              </a:ext>
            </a:extLst>
          </p:cNvPr>
          <p:cNvCxnSpPr>
            <a:cxnSpLocks/>
            <a:stCxn id="60" idx="5"/>
            <a:endCxn id="66" idx="2"/>
          </p:cNvCxnSpPr>
          <p:nvPr/>
        </p:nvCxnSpPr>
        <p:spPr>
          <a:xfrm>
            <a:off x="3362843" y="3280996"/>
            <a:ext cx="623350" cy="2578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10323BB-4917-4E07-BF46-C41815C7A383}"/>
              </a:ext>
            </a:extLst>
          </p:cNvPr>
          <p:cNvCxnSpPr>
            <a:cxnSpLocks/>
            <a:endCxn id="78" idx="2"/>
          </p:cNvCxnSpPr>
          <p:nvPr/>
        </p:nvCxnSpPr>
        <p:spPr>
          <a:xfrm>
            <a:off x="4087793" y="3572170"/>
            <a:ext cx="1604091" cy="5541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8DB2483-F63D-4F3A-B84E-E14C8415C2AE}"/>
              </a:ext>
            </a:extLst>
          </p:cNvPr>
          <p:cNvCxnSpPr>
            <a:cxnSpLocks/>
            <a:endCxn id="81" idx="3"/>
          </p:cNvCxnSpPr>
          <p:nvPr/>
        </p:nvCxnSpPr>
        <p:spPr>
          <a:xfrm flipV="1">
            <a:off x="5782971" y="3574728"/>
            <a:ext cx="633863" cy="5695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94AB500-B774-47EF-B4D7-998514625D49}"/>
              </a:ext>
            </a:extLst>
          </p:cNvPr>
          <p:cNvCxnSpPr>
            <a:cxnSpLocks/>
            <a:stCxn id="81" idx="6"/>
            <a:endCxn id="45" idx="2"/>
          </p:cNvCxnSpPr>
          <p:nvPr/>
        </p:nvCxnSpPr>
        <p:spPr>
          <a:xfrm flipV="1">
            <a:off x="6503555" y="3245075"/>
            <a:ext cx="1604091" cy="2937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226B478-946B-43E6-BCBE-6BAC75E96C01}"/>
              </a:ext>
            </a:extLst>
          </p:cNvPr>
          <p:cNvCxnSpPr>
            <a:cxnSpLocks/>
            <a:endCxn id="42" idx="3"/>
          </p:cNvCxnSpPr>
          <p:nvPr/>
        </p:nvCxnSpPr>
        <p:spPr>
          <a:xfrm>
            <a:off x="8210527" y="3277545"/>
            <a:ext cx="607190" cy="5524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íşlïḍè">
            <a:extLst>
              <a:ext uri="{FF2B5EF4-FFF2-40B4-BE49-F238E27FC236}">
                <a16:creationId xmlns:a16="http://schemas.microsoft.com/office/drawing/2014/main" id="{2BF1942A-C14E-450A-A661-63B8FB84DB3A}"/>
              </a:ext>
            </a:extLst>
          </p:cNvPr>
          <p:cNvSpPr txBox="1"/>
          <p:nvPr/>
        </p:nvSpPr>
        <p:spPr>
          <a:xfrm>
            <a:off x="1796993" y="3417144"/>
            <a:ext cx="1058779" cy="44233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zh-CN" altLang="en-US" b="1" dirty="0"/>
              <a:t>用户线</a:t>
            </a:r>
            <a:endParaRPr lang="en-US" altLang="zh-CN" b="1" dirty="0"/>
          </a:p>
        </p:txBody>
      </p:sp>
      <p:sp>
        <p:nvSpPr>
          <p:cNvPr id="28" name="íşlïḍè">
            <a:extLst>
              <a:ext uri="{FF2B5EF4-FFF2-40B4-BE49-F238E27FC236}">
                <a16:creationId xmlns:a16="http://schemas.microsoft.com/office/drawing/2014/main" id="{E8EEC5CC-5028-44AF-8909-30CF82508E8E}"/>
              </a:ext>
            </a:extLst>
          </p:cNvPr>
          <p:cNvSpPr txBox="1"/>
          <p:nvPr/>
        </p:nvSpPr>
        <p:spPr>
          <a:xfrm>
            <a:off x="9020917" y="3417144"/>
            <a:ext cx="1058779" cy="44233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zh-CN" altLang="en-US" b="1" dirty="0"/>
              <a:t>用户线</a:t>
            </a:r>
            <a:endParaRPr lang="en-US" altLang="zh-CN" b="1" dirty="0"/>
          </a:p>
        </p:txBody>
      </p:sp>
      <p:sp>
        <p:nvSpPr>
          <p:cNvPr id="29" name="íşlïḍè">
            <a:extLst>
              <a:ext uri="{FF2B5EF4-FFF2-40B4-BE49-F238E27FC236}">
                <a16:creationId xmlns:a16="http://schemas.microsoft.com/office/drawing/2014/main" id="{88681EC1-F06B-4F98-A974-3AA618611E54}"/>
              </a:ext>
            </a:extLst>
          </p:cNvPr>
          <p:cNvSpPr txBox="1"/>
          <p:nvPr/>
        </p:nvSpPr>
        <p:spPr>
          <a:xfrm rot="1189986">
            <a:off x="4356408" y="3379880"/>
            <a:ext cx="1058779" cy="44233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zh-CN" altLang="en-US" b="1" dirty="0"/>
              <a:t>中继线</a:t>
            </a:r>
            <a:endParaRPr lang="en-US" altLang="zh-CN" b="1" dirty="0"/>
          </a:p>
        </p:txBody>
      </p:sp>
      <p:sp>
        <p:nvSpPr>
          <p:cNvPr id="30" name="íşlïḍè">
            <a:extLst>
              <a:ext uri="{FF2B5EF4-FFF2-40B4-BE49-F238E27FC236}">
                <a16:creationId xmlns:a16="http://schemas.microsoft.com/office/drawing/2014/main" id="{02F567BD-8F51-477C-9C4D-80F1B5E32A30}"/>
              </a:ext>
            </a:extLst>
          </p:cNvPr>
          <p:cNvSpPr txBox="1"/>
          <p:nvPr/>
        </p:nvSpPr>
        <p:spPr>
          <a:xfrm rot="20907398">
            <a:off x="6703311" y="2947780"/>
            <a:ext cx="1058779" cy="44233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zh-CN" altLang="en-US" b="1" dirty="0"/>
              <a:t>中继线</a:t>
            </a:r>
            <a:endParaRPr lang="en-US" altLang="zh-CN" b="1" dirty="0"/>
          </a:p>
        </p:txBody>
      </p:sp>
      <p:sp>
        <p:nvSpPr>
          <p:cNvPr id="31" name="íşlïḍè">
            <a:extLst>
              <a:ext uri="{FF2B5EF4-FFF2-40B4-BE49-F238E27FC236}">
                <a16:creationId xmlns:a16="http://schemas.microsoft.com/office/drawing/2014/main" id="{408BCB91-EA21-4643-9159-016BEB4E7C71}"/>
              </a:ext>
            </a:extLst>
          </p:cNvPr>
          <p:cNvSpPr txBox="1"/>
          <p:nvPr/>
        </p:nvSpPr>
        <p:spPr>
          <a:xfrm>
            <a:off x="1407822" y="2848425"/>
            <a:ext cx="360064" cy="44233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b="1" dirty="0"/>
              <a:t>A</a:t>
            </a:r>
          </a:p>
        </p:txBody>
      </p:sp>
      <p:sp>
        <p:nvSpPr>
          <p:cNvPr id="32" name="íşlïḍè">
            <a:extLst>
              <a:ext uri="{FF2B5EF4-FFF2-40B4-BE49-F238E27FC236}">
                <a16:creationId xmlns:a16="http://schemas.microsoft.com/office/drawing/2014/main" id="{3D8D11AE-9CC2-4B42-97D2-489E13F868B3}"/>
              </a:ext>
            </a:extLst>
          </p:cNvPr>
          <p:cNvSpPr txBox="1"/>
          <p:nvPr/>
        </p:nvSpPr>
        <p:spPr>
          <a:xfrm>
            <a:off x="681726" y="3624493"/>
            <a:ext cx="360064" cy="44233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b="1" dirty="0"/>
              <a:t>B</a:t>
            </a:r>
          </a:p>
        </p:txBody>
      </p:sp>
      <p:sp>
        <p:nvSpPr>
          <p:cNvPr id="33" name="íşlïḍè">
            <a:extLst>
              <a:ext uri="{FF2B5EF4-FFF2-40B4-BE49-F238E27FC236}">
                <a16:creationId xmlns:a16="http://schemas.microsoft.com/office/drawing/2014/main" id="{44AA2AB0-AB52-4B86-A8D8-4F340E5162BF}"/>
              </a:ext>
            </a:extLst>
          </p:cNvPr>
          <p:cNvSpPr txBox="1"/>
          <p:nvPr/>
        </p:nvSpPr>
        <p:spPr>
          <a:xfrm>
            <a:off x="1407822" y="4387302"/>
            <a:ext cx="360064" cy="44233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b="1" dirty="0"/>
              <a:t>C</a:t>
            </a:r>
          </a:p>
        </p:txBody>
      </p:sp>
      <p:sp>
        <p:nvSpPr>
          <p:cNvPr id="34" name="íşlïḍè">
            <a:extLst>
              <a:ext uri="{FF2B5EF4-FFF2-40B4-BE49-F238E27FC236}">
                <a16:creationId xmlns:a16="http://schemas.microsoft.com/office/drawing/2014/main" id="{2CCD76EC-5410-4CAC-886A-837DCC4F6DB7}"/>
              </a:ext>
            </a:extLst>
          </p:cNvPr>
          <p:cNvSpPr txBox="1"/>
          <p:nvPr/>
        </p:nvSpPr>
        <p:spPr>
          <a:xfrm>
            <a:off x="10244835" y="2848425"/>
            <a:ext cx="360064" cy="44233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b="1" dirty="0"/>
              <a:t>D</a:t>
            </a:r>
          </a:p>
        </p:txBody>
      </p:sp>
      <p:sp>
        <p:nvSpPr>
          <p:cNvPr id="35" name="íşlïḍè">
            <a:extLst>
              <a:ext uri="{FF2B5EF4-FFF2-40B4-BE49-F238E27FC236}">
                <a16:creationId xmlns:a16="http://schemas.microsoft.com/office/drawing/2014/main" id="{CDE2AB8B-0B69-47C0-A456-861578BCB560}"/>
              </a:ext>
            </a:extLst>
          </p:cNvPr>
          <p:cNvSpPr txBox="1"/>
          <p:nvPr/>
        </p:nvSpPr>
        <p:spPr>
          <a:xfrm>
            <a:off x="11128944" y="3624493"/>
            <a:ext cx="360064" cy="44233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b="1" dirty="0"/>
              <a:t>E</a:t>
            </a:r>
          </a:p>
        </p:txBody>
      </p:sp>
      <p:sp>
        <p:nvSpPr>
          <p:cNvPr id="36" name="íşlïḍè">
            <a:extLst>
              <a:ext uri="{FF2B5EF4-FFF2-40B4-BE49-F238E27FC236}">
                <a16:creationId xmlns:a16="http://schemas.microsoft.com/office/drawing/2014/main" id="{1C563736-6174-4296-824A-BC43CD2099BF}"/>
              </a:ext>
            </a:extLst>
          </p:cNvPr>
          <p:cNvSpPr txBox="1"/>
          <p:nvPr/>
        </p:nvSpPr>
        <p:spPr>
          <a:xfrm>
            <a:off x="10244835" y="4387302"/>
            <a:ext cx="360064" cy="44233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b="1" dirty="0"/>
              <a:t>F</a:t>
            </a:r>
          </a:p>
        </p:txBody>
      </p:sp>
      <p:pic>
        <p:nvPicPr>
          <p:cNvPr id="98" name="图形 97">
            <a:extLst>
              <a:ext uri="{FF2B5EF4-FFF2-40B4-BE49-F238E27FC236}">
                <a16:creationId xmlns:a16="http://schemas.microsoft.com/office/drawing/2014/main" id="{B61B6207-71DC-49DB-B023-10512EB5BC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10258" y="2641048"/>
            <a:ext cx="1410625" cy="857089"/>
          </a:xfrm>
          <a:prstGeom prst="rect">
            <a:avLst/>
          </a:prstGeom>
        </p:spPr>
      </p:pic>
      <p:pic>
        <p:nvPicPr>
          <p:cNvPr id="99" name="图形 98">
            <a:extLst>
              <a:ext uri="{FF2B5EF4-FFF2-40B4-BE49-F238E27FC236}">
                <a16:creationId xmlns:a16="http://schemas.microsoft.com/office/drawing/2014/main" id="{13930D33-C23B-4145-92DB-A4A2B38456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3212" y="2497112"/>
            <a:ext cx="951216" cy="920029"/>
          </a:xfrm>
          <a:prstGeom prst="rect">
            <a:avLst/>
          </a:prstGeom>
        </p:spPr>
      </p:pic>
      <p:sp>
        <p:nvSpPr>
          <p:cNvPr id="101" name="文本框 100">
            <a:extLst>
              <a:ext uri="{FF2B5EF4-FFF2-40B4-BE49-F238E27FC236}">
                <a16:creationId xmlns:a16="http://schemas.microsoft.com/office/drawing/2014/main" id="{99255C8F-430F-4F19-8027-A1A1C242081E}"/>
              </a:ext>
            </a:extLst>
          </p:cNvPr>
          <p:cNvSpPr txBox="1"/>
          <p:nvPr/>
        </p:nvSpPr>
        <p:spPr>
          <a:xfrm>
            <a:off x="1746498" y="5006308"/>
            <a:ext cx="8708849" cy="14221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        计算机之间的数据传送是突发式</a:t>
            </a:r>
            <a:r>
              <a:rPr lang="zh-CN" altLang="en-US" sz="2000" b="1" dirty="0"/>
              <a:t>的，当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使用电路交换</a:t>
            </a:r>
            <a:r>
              <a:rPr lang="zh-CN" altLang="en-US" sz="2000" b="1" dirty="0"/>
              <a:t>来传送计算机数据时，其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线路的传输效率一般都会很低</a:t>
            </a:r>
            <a:r>
              <a:rPr lang="zh-CN" altLang="en-US" sz="2000" b="1" dirty="0"/>
              <a:t>，线路上真正用来传送数据的时间往往不到10%甚至1%。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4482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电路交换、</a:t>
              </a:r>
              <a:r>
                <a:rPr lang="zh-CN" altLang="en-US" sz="2000" b="1" dirty="0">
                  <a:solidFill>
                    <a:schemeClr val="accent3">
                      <a:lumMod val="75000"/>
                    </a:schemeClr>
                  </a:solidFill>
                </a:rPr>
                <a:t>分组交换</a:t>
              </a:r>
              <a:r>
                <a:rPr lang="zh-CN" altLang="en-US" sz="2000" b="1" dirty="0"/>
                <a:t>和报文交换</a:t>
              </a: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9828FF6-6EF5-446D-B438-0E9295C02515}"/>
              </a:ext>
            </a:extLst>
          </p:cNvPr>
          <p:cNvCxnSpPr>
            <a:cxnSpLocks/>
          </p:cNvCxnSpPr>
          <p:nvPr/>
        </p:nvCxnSpPr>
        <p:spPr>
          <a:xfrm>
            <a:off x="2308577" y="1149410"/>
            <a:ext cx="1003583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1" name="组合 1040">
            <a:extLst>
              <a:ext uri="{FF2B5EF4-FFF2-40B4-BE49-F238E27FC236}">
                <a16:creationId xmlns:a16="http://schemas.microsoft.com/office/drawing/2014/main" id="{E6795124-D701-4AEE-B4EE-4B195D60F25B}"/>
              </a:ext>
            </a:extLst>
          </p:cNvPr>
          <p:cNvGrpSpPr/>
          <p:nvPr/>
        </p:nvGrpSpPr>
        <p:grpSpPr>
          <a:xfrm>
            <a:off x="4467003" y="1845172"/>
            <a:ext cx="7339047" cy="4456477"/>
            <a:chOff x="2361047" y="1367652"/>
            <a:chExt cx="7339047" cy="4456477"/>
          </a:xfrm>
        </p:grpSpPr>
        <p:sp>
          <p:nvSpPr>
            <p:cNvPr id="125" name="云形 124">
              <a:extLst>
                <a:ext uri="{FF2B5EF4-FFF2-40B4-BE49-F238E27FC236}">
                  <a16:creationId xmlns:a16="http://schemas.microsoft.com/office/drawing/2014/main" id="{436B9C14-5EB0-446D-8B53-B4B711B229DB}"/>
                </a:ext>
              </a:extLst>
            </p:cNvPr>
            <p:cNvSpPr/>
            <p:nvPr/>
          </p:nvSpPr>
          <p:spPr>
            <a:xfrm>
              <a:off x="3454401" y="1999608"/>
              <a:ext cx="4876798" cy="3385192"/>
            </a:xfrm>
            <a:prstGeom prst="cloud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9" name="图形 88">
              <a:extLst>
                <a:ext uri="{FF2B5EF4-FFF2-40B4-BE49-F238E27FC236}">
                  <a16:creationId xmlns:a16="http://schemas.microsoft.com/office/drawing/2014/main" id="{0CDCC071-95C3-45E4-A9A8-5BBD8FEDE6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78433" y="2852407"/>
              <a:ext cx="721661" cy="438478"/>
            </a:xfrm>
            <a:prstGeom prst="rect">
              <a:avLst/>
            </a:prstGeom>
          </p:spPr>
        </p:pic>
        <p:pic>
          <p:nvPicPr>
            <p:cNvPr id="90" name="图形 89">
              <a:extLst>
                <a:ext uri="{FF2B5EF4-FFF2-40B4-BE49-F238E27FC236}">
                  <a16:creationId xmlns:a16="http://schemas.microsoft.com/office/drawing/2014/main" id="{E94C9BF7-A0C4-4D8E-8BD0-2235A19B1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72009" y="3043091"/>
              <a:ext cx="529643" cy="512277"/>
            </a:xfrm>
            <a:prstGeom prst="rect">
              <a:avLst/>
            </a:prstGeom>
          </p:spPr>
        </p:pic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E1E8787F-E739-481D-91B6-E8A6718FA8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40644" y="2493841"/>
              <a:ext cx="1701356" cy="81978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575BEED4-7417-4185-A4AC-DCA856F144F0}"/>
                </a:ext>
              </a:extLst>
            </p:cNvPr>
            <p:cNvCxnSpPr>
              <a:cxnSpLocks/>
            </p:cNvCxnSpPr>
            <p:nvPr/>
          </p:nvCxnSpPr>
          <p:spPr>
            <a:xfrm>
              <a:off x="5842000" y="2445236"/>
              <a:ext cx="1960028" cy="66227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C7D66C2C-5057-4232-BDA1-0538A613872E}"/>
                </a:ext>
              </a:extLst>
            </p:cNvPr>
            <p:cNvCxnSpPr>
              <a:cxnSpLocks/>
            </p:cNvCxnSpPr>
            <p:nvPr/>
          </p:nvCxnSpPr>
          <p:spPr>
            <a:xfrm>
              <a:off x="4135973" y="3313623"/>
              <a:ext cx="1082682" cy="123162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FCFD941F-F221-4E46-AF49-E4E1677BC9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1758" y="4250003"/>
              <a:ext cx="1836720" cy="32685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D092C294-182E-4B9A-AE96-8EB4FD3F2C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14915" y="3021236"/>
              <a:ext cx="687113" cy="122876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0CFF6DC8-41BD-4D7B-8991-C81B5AD6B9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1758" y="2445236"/>
              <a:ext cx="570243" cy="210000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E520468D-17B9-4A65-8262-D061E481B625}"/>
                </a:ext>
              </a:extLst>
            </p:cNvPr>
            <p:cNvCxnSpPr>
              <a:cxnSpLocks/>
            </p:cNvCxnSpPr>
            <p:nvPr/>
          </p:nvCxnSpPr>
          <p:spPr>
            <a:xfrm>
              <a:off x="5842000" y="2445236"/>
              <a:ext cx="1283879" cy="180476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8" name="图形 87">
              <a:extLst>
                <a:ext uri="{FF2B5EF4-FFF2-40B4-BE49-F238E27FC236}">
                  <a16:creationId xmlns:a16="http://schemas.microsoft.com/office/drawing/2014/main" id="{DC05FA6E-D681-4C1F-BFB2-0B6AE7E234C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891316" y="3107513"/>
              <a:ext cx="498657" cy="412221"/>
            </a:xfrm>
            <a:prstGeom prst="rect">
              <a:avLst/>
            </a:prstGeom>
          </p:spPr>
        </p:pic>
        <p:pic>
          <p:nvPicPr>
            <p:cNvPr id="105" name="图形 104">
              <a:extLst>
                <a:ext uri="{FF2B5EF4-FFF2-40B4-BE49-F238E27FC236}">
                  <a16:creationId xmlns:a16="http://schemas.microsoft.com/office/drawing/2014/main" id="{E50722A2-3DF2-4711-A766-1B72D5CEE3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552700" y="2901402"/>
              <a:ext cx="498657" cy="412221"/>
            </a:xfrm>
            <a:prstGeom prst="rect">
              <a:avLst/>
            </a:prstGeom>
          </p:spPr>
        </p:pic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EF9E7BB1-9561-4E61-B413-A6859468C75C}"/>
                </a:ext>
              </a:extLst>
            </p:cNvPr>
            <p:cNvSpPr txBox="1"/>
            <p:nvPr/>
          </p:nvSpPr>
          <p:spPr>
            <a:xfrm>
              <a:off x="3921280" y="3504337"/>
              <a:ext cx="4293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R1</a:t>
              </a:r>
              <a:endParaRPr lang="zh-CN" altLang="en-US" b="1" dirty="0"/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CF209472-F548-4A16-A7EF-EEFE209B9B1A}"/>
                </a:ext>
              </a:extLst>
            </p:cNvPr>
            <p:cNvSpPr txBox="1"/>
            <p:nvPr/>
          </p:nvSpPr>
          <p:spPr>
            <a:xfrm>
              <a:off x="5347897" y="2608954"/>
              <a:ext cx="4293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R2</a:t>
              </a:r>
              <a:endParaRPr lang="zh-CN" altLang="en-US" b="1" dirty="0"/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BF96A8A1-1A52-4E2B-8B55-1C4BE1C8C85E}"/>
                </a:ext>
              </a:extLst>
            </p:cNvPr>
            <p:cNvSpPr txBox="1"/>
            <p:nvPr/>
          </p:nvSpPr>
          <p:spPr>
            <a:xfrm>
              <a:off x="7201253" y="2978286"/>
              <a:ext cx="4293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R3</a:t>
              </a:r>
              <a:endParaRPr lang="zh-CN" altLang="en-US" b="1" dirty="0"/>
            </a:p>
          </p:txBody>
        </p: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F564BCF4-2393-47D6-8D66-7E1BEB5338A6}"/>
                </a:ext>
              </a:extLst>
            </p:cNvPr>
            <p:cNvSpPr txBox="1"/>
            <p:nvPr/>
          </p:nvSpPr>
          <p:spPr>
            <a:xfrm>
              <a:off x="6515135" y="3867212"/>
              <a:ext cx="4293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R4</a:t>
              </a:r>
              <a:endParaRPr lang="zh-CN" altLang="en-US" b="1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4A38D2C2-3DA1-4F8C-965E-9DFD76240FE7}"/>
                </a:ext>
              </a:extLst>
            </p:cNvPr>
            <p:cNvSpPr txBox="1"/>
            <p:nvPr/>
          </p:nvSpPr>
          <p:spPr>
            <a:xfrm>
              <a:off x="5347897" y="4112823"/>
              <a:ext cx="4293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R5</a:t>
              </a:r>
              <a:endParaRPr lang="zh-CN" altLang="en-US" b="1" dirty="0"/>
            </a:p>
          </p:txBody>
        </p:sp>
        <p:cxnSp>
          <p:nvCxnSpPr>
            <p:cNvPr id="1025" name="直接连接符 1024">
              <a:extLst>
                <a:ext uri="{FF2B5EF4-FFF2-40B4-BE49-F238E27FC236}">
                  <a16:creationId xmlns:a16="http://schemas.microsoft.com/office/drawing/2014/main" id="{194ADA99-ED6A-44DC-A942-BF5AA5BA5DDC}"/>
                </a:ext>
              </a:extLst>
            </p:cNvPr>
            <p:cNvCxnSpPr/>
            <p:nvPr/>
          </p:nvCxnSpPr>
          <p:spPr>
            <a:xfrm>
              <a:off x="2882702" y="3347618"/>
              <a:ext cx="10385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AD58CDBF-7909-4BD7-8567-A99F3C6B7992}"/>
                </a:ext>
              </a:extLst>
            </p:cNvPr>
            <p:cNvCxnSpPr/>
            <p:nvPr/>
          </p:nvCxnSpPr>
          <p:spPr>
            <a:xfrm>
              <a:off x="8051357" y="3107512"/>
              <a:ext cx="103857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8DB04A62-C418-4F5D-8F40-2DF7D4CDD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06977" y="4545244"/>
              <a:ext cx="549110" cy="70408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6" name="图形 85">
              <a:extLst>
                <a:ext uri="{FF2B5EF4-FFF2-40B4-BE49-F238E27FC236}">
                  <a16:creationId xmlns:a16="http://schemas.microsoft.com/office/drawing/2014/main" id="{839CE3DB-FB3F-47E5-92C5-FDD2A33247A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27055" y="5248094"/>
              <a:ext cx="464267" cy="576035"/>
            </a:xfrm>
            <a:prstGeom prst="rect">
              <a:avLst/>
            </a:prstGeom>
          </p:spPr>
        </p:pic>
        <p:pic>
          <p:nvPicPr>
            <p:cNvPr id="102" name="图形 101">
              <a:extLst>
                <a:ext uri="{FF2B5EF4-FFF2-40B4-BE49-F238E27FC236}">
                  <a16:creationId xmlns:a16="http://schemas.microsoft.com/office/drawing/2014/main" id="{A7508754-8E0E-457B-BF98-90C1717D7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036154" y="4415369"/>
              <a:ext cx="498657" cy="412221"/>
            </a:xfrm>
            <a:prstGeom prst="rect">
              <a:avLst/>
            </a:prstGeom>
          </p:spPr>
        </p:pic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A0729709-B36F-4AFF-BE3E-29C755E6B1DE}"/>
                </a:ext>
              </a:extLst>
            </p:cNvPr>
            <p:cNvCxnSpPr>
              <a:cxnSpLocks/>
            </p:cNvCxnSpPr>
            <p:nvPr/>
          </p:nvCxnSpPr>
          <p:spPr>
            <a:xfrm>
              <a:off x="7125879" y="4204855"/>
              <a:ext cx="810210" cy="6201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4" name="图形 93">
              <a:extLst>
                <a:ext uri="{FF2B5EF4-FFF2-40B4-BE49-F238E27FC236}">
                  <a16:creationId xmlns:a16="http://schemas.microsoft.com/office/drawing/2014/main" id="{4EA481A1-DC65-4EC5-AF69-B21B6AD56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772980" y="4579712"/>
              <a:ext cx="498657" cy="558839"/>
            </a:xfrm>
            <a:prstGeom prst="rect">
              <a:avLst/>
            </a:prstGeom>
          </p:spPr>
        </p:pic>
        <p:pic>
          <p:nvPicPr>
            <p:cNvPr id="104" name="图形 103">
              <a:extLst>
                <a:ext uri="{FF2B5EF4-FFF2-40B4-BE49-F238E27FC236}">
                  <a16:creationId xmlns:a16="http://schemas.microsoft.com/office/drawing/2014/main" id="{A2F9F766-809A-4EB3-BB8D-1D67D80A9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859150" y="4043891"/>
              <a:ext cx="498657" cy="412221"/>
            </a:xfrm>
            <a:prstGeom prst="rect">
              <a:avLst/>
            </a:prstGeom>
          </p:spPr>
        </p:pic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36D24D3F-D0EF-401D-83C7-75BF33FA34B0}"/>
                </a:ext>
              </a:extLst>
            </p:cNvPr>
            <p:cNvCxnSpPr>
              <a:cxnSpLocks/>
            </p:cNvCxnSpPr>
            <p:nvPr/>
          </p:nvCxnSpPr>
          <p:spPr>
            <a:xfrm>
              <a:off x="5820083" y="1585589"/>
              <a:ext cx="0" cy="8280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2" name="图形 91">
              <a:extLst>
                <a:ext uri="{FF2B5EF4-FFF2-40B4-BE49-F238E27FC236}">
                  <a16:creationId xmlns:a16="http://schemas.microsoft.com/office/drawing/2014/main" id="{3992FAF2-18BE-4966-9479-458B37584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635659" y="1367652"/>
              <a:ext cx="412681" cy="541644"/>
            </a:xfrm>
            <a:prstGeom prst="rect">
              <a:avLst/>
            </a:prstGeom>
          </p:spPr>
        </p:pic>
        <p:pic>
          <p:nvPicPr>
            <p:cNvPr id="100" name="图形 99">
              <a:extLst>
                <a:ext uri="{FF2B5EF4-FFF2-40B4-BE49-F238E27FC236}">
                  <a16:creationId xmlns:a16="http://schemas.microsoft.com/office/drawing/2014/main" id="{8B1AC950-19F0-4515-95FB-8CF0E335A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592672" y="2287731"/>
              <a:ext cx="498657" cy="412221"/>
            </a:xfrm>
            <a:prstGeom prst="rect">
              <a:avLst/>
            </a:prstGeom>
          </p:spPr>
        </p:pic>
        <p:sp>
          <p:nvSpPr>
            <p:cNvPr id="1031" name="文本框 1030">
              <a:extLst>
                <a:ext uri="{FF2B5EF4-FFF2-40B4-BE49-F238E27FC236}">
                  <a16:creationId xmlns:a16="http://schemas.microsoft.com/office/drawing/2014/main" id="{B4F14A5D-0072-45AF-9B0C-8A454DE9DF5B}"/>
                </a:ext>
              </a:extLst>
            </p:cNvPr>
            <p:cNvSpPr txBox="1"/>
            <p:nvPr/>
          </p:nvSpPr>
          <p:spPr>
            <a:xfrm>
              <a:off x="5271758" y="4760804"/>
              <a:ext cx="14671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分组交换网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B168A5C4-7B21-4F0D-8FCF-C15CFB8E8AC9}"/>
                </a:ext>
              </a:extLst>
            </p:cNvPr>
            <p:cNvSpPr txBox="1"/>
            <p:nvPr/>
          </p:nvSpPr>
          <p:spPr>
            <a:xfrm>
              <a:off x="2472267" y="3527877"/>
              <a:ext cx="4293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H1</a:t>
              </a:r>
              <a:endParaRPr lang="zh-CN" altLang="en-US" b="1" dirty="0"/>
            </a:p>
          </p:txBody>
        </p: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F0334957-35D9-416B-9A77-88222A582550}"/>
                </a:ext>
              </a:extLst>
            </p:cNvPr>
            <p:cNvSpPr txBox="1"/>
            <p:nvPr/>
          </p:nvSpPr>
          <p:spPr>
            <a:xfrm>
              <a:off x="6054554" y="1409443"/>
              <a:ext cx="4293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H2</a:t>
              </a:r>
              <a:endParaRPr lang="zh-CN" altLang="en-US" b="1" dirty="0"/>
            </a:p>
          </p:txBody>
        </p: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F51C2765-FF57-4BC0-B5B5-91BAA301D614}"/>
                </a:ext>
              </a:extLst>
            </p:cNvPr>
            <p:cNvSpPr txBox="1"/>
            <p:nvPr/>
          </p:nvSpPr>
          <p:spPr>
            <a:xfrm>
              <a:off x="9124570" y="3335068"/>
              <a:ext cx="4293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H3</a:t>
              </a:r>
              <a:endParaRPr lang="zh-CN" altLang="en-US" b="1" dirty="0"/>
            </a:p>
          </p:txBody>
        </p:sp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F9C20BD1-1C0B-4F9E-A69E-3675BA0B010E}"/>
                </a:ext>
              </a:extLst>
            </p:cNvPr>
            <p:cNvSpPr txBox="1"/>
            <p:nvPr/>
          </p:nvSpPr>
          <p:spPr>
            <a:xfrm>
              <a:off x="7769485" y="5127333"/>
              <a:ext cx="4293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H4</a:t>
              </a:r>
              <a:endParaRPr lang="zh-CN" altLang="en-US" b="1" dirty="0"/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1EE4C832-62EE-467A-B091-7FF754A2F5F4}"/>
                </a:ext>
              </a:extLst>
            </p:cNvPr>
            <p:cNvSpPr txBox="1"/>
            <p:nvPr/>
          </p:nvSpPr>
          <p:spPr>
            <a:xfrm>
              <a:off x="4961313" y="5338990"/>
              <a:ext cx="4293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H5</a:t>
              </a:r>
              <a:endParaRPr lang="zh-CN" altLang="en-US" b="1" dirty="0"/>
            </a:p>
          </p:txBody>
        </p:sp>
        <p:sp>
          <p:nvSpPr>
            <p:cNvPr id="155" name="文本框 154">
              <a:extLst>
                <a:ext uri="{FF2B5EF4-FFF2-40B4-BE49-F238E27FC236}">
                  <a16:creationId xmlns:a16="http://schemas.microsoft.com/office/drawing/2014/main" id="{6FB6437A-FE9E-45B3-9E97-AAEE394A3B65}"/>
                </a:ext>
              </a:extLst>
            </p:cNvPr>
            <p:cNvSpPr txBox="1"/>
            <p:nvPr/>
          </p:nvSpPr>
          <p:spPr>
            <a:xfrm>
              <a:off x="4381946" y="3124291"/>
              <a:ext cx="650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/>
                <a:t>交换</a:t>
              </a:r>
              <a:endParaRPr lang="en-US" altLang="zh-CN" sz="1600" b="1" dirty="0"/>
            </a:p>
            <a:p>
              <a:r>
                <a:rPr lang="zh-CN" altLang="en-US" sz="1600" b="1" dirty="0"/>
                <a:t>节点</a:t>
              </a:r>
            </a:p>
          </p:txBody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0629A0C2-9F4C-4CBC-8363-E1AFA1B280A8}"/>
                </a:ext>
              </a:extLst>
            </p:cNvPr>
            <p:cNvSpPr txBox="1"/>
            <p:nvPr/>
          </p:nvSpPr>
          <p:spPr>
            <a:xfrm>
              <a:off x="2361047" y="2749658"/>
              <a:ext cx="6502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/>
                <a:t>主机</a:t>
              </a:r>
            </a:p>
          </p:txBody>
        </p:sp>
      </p:grpSp>
      <p:cxnSp>
        <p:nvCxnSpPr>
          <p:cNvPr id="1043" name="连接符: 曲线 1042">
            <a:extLst>
              <a:ext uri="{FF2B5EF4-FFF2-40B4-BE49-F238E27FC236}">
                <a16:creationId xmlns:a16="http://schemas.microsoft.com/office/drawing/2014/main" id="{D69A04E2-4000-4447-9FD0-3B479AF9737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015061" y="-143633"/>
            <a:ext cx="192809" cy="6652303"/>
          </a:xfrm>
          <a:prstGeom prst="curvedConnector3">
            <a:avLst>
              <a:gd name="adj1" fmla="val 865070"/>
            </a:avLst>
          </a:prstGeom>
          <a:ln w="76200"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CBE303E7-0008-42BC-AA66-017B9ABE061A}"/>
              </a:ext>
            </a:extLst>
          </p:cNvPr>
          <p:cNvGrpSpPr/>
          <p:nvPr/>
        </p:nvGrpSpPr>
        <p:grpSpPr>
          <a:xfrm>
            <a:off x="5139349" y="3192746"/>
            <a:ext cx="764075" cy="578331"/>
            <a:chOff x="3097189" y="2715226"/>
            <a:chExt cx="764075" cy="57833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90B6BAF-6C0E-4F65-83AD-8A44EEA6C803}"/>
                </a:ext>
              </a:extLst>
            </p:cNvPr>
            <p:cNvSpPr/>
            <p:nvPr/>
          </p:nvSpPr>
          <p:spPr>
            <a:xfrm>
              <a:off x="3097189" y="3071646"/>
              <a:ext cx="215560" cy="21556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7BDC93B2-8B75-4A25-9DBA-AB12F6D43510}"/>
                </a:ext>
              </a:extLst>
            </p:cNvPr>
            <p:cNvSpPr/>
            <p:nvPr/>
          </p:nvSpPr>
          <p:spPr>
            <a:xfrm>
              <a:off x="3645704" y="3071646"/>
              <a:ext cx="215560" cy="21556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BA286CA2-575F-4939-B471-B9EBC0D1DEEB}"/>
                </a:ext>
              </a:extLst>
            </p:cNvPr>
            <p:cNvSpPr txBox="1"/>
            <p:nvPr/>
          </p:nvSpPr>
          <p:spPr>
            <a:xfrm>
              <a:off x="3135843" y="2715226"/>
              <a:ext cx="65029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accent2"/>
                  </a:solidFill>
                </a:rPr>
                <a:t>分组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651AC95-51D2-48ED-8E03-3C428448F72D}"/>
                </a:ext>
              </a:extLst>
            </p:cNvPr>
            <p:cNvSpPr txBox="1"/>
            <p:nvPr/>
          </p:nvSpPr>
          <p:spPr>
            <a:xfrm>
              <a:off x="3278621" y="2924225"/>
              <a:ext cx="294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…</a:t>
              </a:r>
              <a:endParaRPr lang="zh-CN" altLang="en-US" b="1" dirty="0"/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9404CFBC-B12C-4C00-918C-1FC694ABCC9D}"/>
              </a:ext>
            </a:extLst>
          </p:cNvPr>
          <p:cNvSpPr txBox="1"/>
          <p:nvPr/>
        </p:nvSpPr>
        <p:spPr>
          <a:xfrm rot="3230558">
            <a:off x="8143444" y="3592846"/>
            <a:ext cx="1203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4"/>
                </a:solidFill>
              </a:rPr>
              <a:t>链路空闲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223CC2D-0B9C-4ECA-9D42-FA31A044064E}"/>
              </a:ext>
            </a:extLst>
          </p:cNvPr>
          <p:cNvSpPr txBox="1"/>
          <p:nvPr/>
        </p:nvSpPr>
        <p:spPr>
          <a:xfrm rot="17975498">
            <a:off x="9124237" y="4039295"/>
            <a:ext cx="1203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4"/>
                </a:solidFill>
              </a:rPr>
              <a:t>链路空闲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92B1CDF-1514-41EC-9097-A41800CA8F1D}"/>
              </a:ext>
            </a:extLst>
          </p:cNvPr>
          <p:cNvSpPr txBox="1"/>
          <p:nvPr/>
        </p:nvSpPr>
        <p:spPr>
          <a:xfrm rot="20932817">
            <a:off x="7751824" y="4878989"/>
            <a:ext cx="1203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4"/>
                </a:solidFill>
              </a:rPr>
              <a:t>链路空闲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D1E186C-04E6-47C8-85E1-19747F463925}"/>
              </a:ext>
            </a:extLst>
          </p:cNvPr>
          <p:cNvSpPr txBox="1"/>
          <p:nvPr/>
        </p:nvSpPr>
        <p:spPr>
          <a:xfrm rot="3002374">
            <a:off x="6106593" y="4431011"/>
            <a:ext cx="1203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4"/>
                </a:solidFill>
              </a:rPr>
              <a:t>链路空闲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FD134E1D-72A6-4CD7-BB10-CCA51A710886}"/>
              </a:ext>
            </a:extLst>
          </p:cNvPr>
          <p:cNvSpPr txBox="1"/>
          <p:nvPr/>
        </p:nvSpPr>
        <p:spPr>
          <a:xfrm rot="6325481">
            <a:off x="7244787" y="3841336"/>
            <a:ext cx="1203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4"/>
                </a:solidFill>
              </a:rPr>
              <a:t>链路空闲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01D9B02-9777-406B-AA1E-F59CE9F5ACEE}"/>
              </a:ext>
            </a:extLst>
          </p:cNvPr>
          <p:cNvSpPr txBox="1"/>
          <p:nvPr/>
        </p:nvSpPr>
        <p:spPr>
          <a:xfrm>
            <a:off x="6002874" y="5292541"/>
            <a:ext cx="1203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4"/>
                </a:solidFill>
              </a:rPr>
              <a:t>链路空闲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DBDA89D-D109-4BCB-9F79-3FA06BCAE2CE}"/>
              </a:ext>
            </a:extLst>
          </p:cNvPr>
          <p:cNvSpPr txBox="1"/>
          <p:nvPr/>
        </p:nvSpPr>
        <p:spPr>
          <a:xfrm>
            <a:off x="9522518" y="4661300"/>
            <a:ext cx="1203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4"/>
                </a:solidFill>
              </a:rPr>
              <a:t>链路空闲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0216FB5-A8CF-429C-B2E1-8259B5932E52}"/>
              </a:ext>
            </a:extLst>
          </p:cNvPr>
          <p:cNvSpPr txBox="1"/>
          <p:nvPr/>
        </p:nvSpPr>
        <p:spPr>
          <a:xfrm>
            <a:off x="7782299" y="2397220"/>
            <a:ext cx="1203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4"/>
                </a:solidFill>
              </a:rPr>
              <a:t>链路空闲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F246E06-1863-45F0-A815-83F31720365A}"/>
              </a:ext>
            </a:extLst>
          </p:cNvPr>
          <p:cNvSpPr txBox="1"/>
          <p:nvPr/>
        </p:nvSpPr>
        <p:spPr>
          <a:xfrm>
            <a:off x="4948011" y="3850985"/>
            <a:ext cx="1203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</a:rPr>
              <a:t>链路忙</a:t>
            </a: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DC5092C5-2B02-4361-8B2B-3D599E942F36}"/>
              </a:ext>
            </a:extLst>
          </p:cNvPr>
          <p:cNvSpPr/>
          <p:nvPr/>
        </p:nvSpPr>
        <p:spPr>
          <a:xfrm>
            <a:off x="4616455" y="4675337"/>
            <a:ext cx="1186284" cy="512273"/>
          </a:xfrm>
          <a:prstGeom prst="wedgeRoundRectCallout">
            <a:avLst>
              <a:gd name="adj1" fmla="val 74769"/>
              <a:gd name="adj2" fmla="val -191954"/>
              <a:gd name="adj3" fmla="val 16667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存储转发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CA697DF-CEFE-4A63-B52B-1DC06E46D105}"/>
              </a:ext>
            </a:extLst>
          </p:cNvPr>
          <p:cNvGrpSpPr/>
          <p:nvPr/>
        </p:nvGrpSpPr>
        <p:grpSpPr>
          <a:xfrm>
            <a:off x="6449794" y="2896820"/>
            <a:ext cx="1140618" cy="665186"/>
            <a:chOff x="4407634" y="2419300"/>
            <a:chExt cx="1140618" cy="665186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3C5B234E-BB3C-45BA-B062-ABA54AB6E2E1}"/>
                </a:ext>
              </a:extLst>
            </p:cNvPr>
            <p:cNvSpPr/>
            <p:nvPr/>
          </p:nvSpPr>
          <p:spPr>
            <a:xfrm rot="19817992">
              <a:off x="4407634" y="2868926"/>
              <a:ext cx="215560" cy="21556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66C86ED7-5DCA-4F6B-8780-2A44E0C6F574}"/>
                </a:ext>
              </a:extLst>
            </p:cNvPr>
            <p:cNvSpPr txBox="1"/>
            <p:nvPr/>
          </p:nvSpPr>
          <p:spPr>
            <a:xfrm rot="19753522">
              <a:off x="4955525" y="2433439"/>
              <a:ext cx="294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…</a:t>
              </a:r>
              <a:endParaRPr lang="zh-CN" altLang="en-US" b="1" dirty="0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74A5C288-FA8F-46A0-A530-69B533B7B816}"/>
                </a:ext>
              </a:extLst>
            </p:cNvPr>
            <p:cNvSpPr/>
            <p:nvPr/>
          </p:nvSpPr>
          <p:spPr>
            <a:xfrm rot="19817992">
              <a:off x="4771637" y="2682665"/>
              <a:ext cx="215560" cy="21556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4C5C579E-9F13-4BC9-A6C2-EED314251C4A}"/>
                </a:ext>
              </a:extLst>
            </p:cNvPr>
            <p:cNvSpPr/>
            <p:nvPr/>
          </p:nvSpPr>
          <p:spPr>
            <a:xfrm rot="19817992">
              <a:off x="5332692" y="2419300"/>
              <a:ext cx="215560" cy="21556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8" name="对话气泡: 圆角矩形 77">
            <a:extLst>
              <a:ext uri="{FF2B5EF4-FFF2-40B4-BE49-F238E27FC236}">
                <a16:creationId xmlns:a16="http://schemas.microsoft.com/office/drawing/2014/main" id="{198EC3E8-933D-4E20-8ADA-CA2FC2948CDD}"/>
              </a:ext>
            </a:extLst>
          </p:cNvPr>
          <p:cNvSpPr/>
          <p:nvPr/>
        </p:nvSpPr>
        <p:spPr>
          <a:xfrm>
            <a:off x="6443370" y="2053221"/>
            <a:ext cx="1186284" cy="512273"/>
          </a:xfrm>
          <a:prstGeom prst="wedgeRoundRectCallout">
            <a:avLst>
              <a:gd name="adj1" fmla="val 66204"/>
              <a:gd name="adj2" fmla="val 97610"/>
              <a:gd name="adj3" fmla="val 16667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存储转发</a:t>
            </a: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BF90D1F2-AB2A-4BD6-ABCC-8B2C18741EB9}"/>
              </a:ext>
            </a:extLst>
          </p:cNvPr>
          <p:cNvGrpSpPr/>
          <p:nvPr/>
        </p:nvGrpSpPr>
        <p:grpSpPr>
          <a:xfrm rot="2778888">
            <a:off x="8435450" y="2784695"/>
            <a:ext cx="1140618" cy="665186"/>
            <a:chOff x="4407634" y="2419300"/>
            <a:chExt cx="1140618" cy="665186"/>
          </a:xfrm>
        </p:grpSpPr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14AA8EEB-B1F5-4561-8139-1A19A839773D}"/>
                </a:ext>
              </a:extLst>
            </p:cNvPr>
            <p:cNvSpPr/>
            <p:nvPr/>
          </p:nvSpPr>
          <p:spPr>
            <a:xfrm rot="19817992">
              <a:off x="4407634" y="2868926"/>
              <a:ext cx="215560" cy="21556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9B0EE8A8-12FA-4837-88F9-822D7ADDDD37}"/>
                </a:ext>
              </a:extLst>
            </p:cNvPr>
            <p:cNvSpPr txBox="1"/>
            <p:nvPr/>
          </p:nvSpPr>
          <p:spPr>
            <a:xfrm rot="19753522">
              <a:off x="4955525" y="2433439"/>
              <a:ext cx="294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…</a:t>
              </a:r>
              <a:endParaRPr lang="zh-CN" altLang="en-US" b="1" dirty="0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8CFB36DD-90F3-4802-A2D6-5ADCAF5FF1ED}"/>
                </a:ext>
              </a:extLst>
            </p:cNvPr>
            <p:cNvSpPr/>
            <p:nvPr/>
          </p:nvSpPr>
          <p:spPr>
            <a:xfrm rot="19817992">
              <a:off x="4771637" y="2682665"/>
              <a:ext cx="215560" cy="21556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14F25C5E-5A7E-40AE-A007-D5EFBF4D48DD}"/>
                </a:ext>
              </a:extLst>
            </p:cNvPr>
            <p:cNvSpPr/>
            <p:nvPr/>
          </p:nvSpPr>
          <p:spPr>
            <a:xfrm rot="19817992">
              <a:off x="5332692" y="2419300"/>
              <a:ext cx="215560" cy="21556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9" name="对话气泡: 圆角矩形 78">
            <a:extLst>
              <a:ext uri="{FF2B5EF4-FFF2-40B4-BE49-F238E27FC236}">
                <a16:creationId xmlns:a16="http://schemas.microsoft.com/office/drawing/2014/main" id="{9A42631B-EA47-489B-B3CB-456D5B0232F5}"/>
              </a:ext>
            </a:extLst>
          </p:cNvPr>
          <p:cNvSpPr/>
          <p:nvPr/>
        </p:nvSpPr>
        <p:spPr>
          <a:xfrm>
            <a:off x="10520754" y="4188524"/>
            <a:ext cx="1186284" cy="512273"/>
          </a:xfrm>
          <a:prstGeom prst="wedgeRoundRectCallout">
            <a:avLst>
              <a:gd name="adj1" fmla="val -83675"/>
              <a:gd name="adj2" fmla="val -146338"/>
              <a:gd name="adj3" fmla="val 16667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存储转发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834A499-85F4-4042-8A83-EEAF2E3D7527}"/>
              </a:ext>
            </a:extLst>
          </p:cNvPr>
          <p:cNvGrpSpPr/>
          <p:nvPr/>
        </p:nvGrpSpPr>
        <p:grpSpPr>
          <a:xfrm>
            <a:off x="10247532" y="3185943"/>
            <a:ext cx="764075" cy="369332"/>
            <a:chOff x="9911989" y="4794237"/>
            <a:chExt cx="764075" cy="369332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893ACC57-9107-43CF-A423-8B610D4DC108}"/>
                </a:ext>
              </a:extLst>
            </p:cNvPr>
            <p:cNvSpPr/>
            <p:nvPr/>
          </p:nvSpPr>
          <p:spPr>
            <a:xfrm>
              <a:off x="9911989" y="4941658"/>
              <a:ext cx="215560" cy="21556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B72BECDD-69BD-4FB8-94D5-EC20C61E07F8}"/>
                </a:ext>
              </a:extLst>
            </p:cNvPr>
            <p:cNvSpPr/>
            <p:nvPr/>
          </p:nvSpPr>
          <p:spPr>
            <a:xfrm>
              <a:off x="10460504" y="4941658"/>
              <a:ext cx="215560" cy="21556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084E7129-46B1-4CBB-B6EE-3479C7302DA4}"/>
                </a:ext>
              </a:extLst>
            </p:cNvPr>
            <p:cNvSpPr txBox="1"/>
            <p:nvPr/>
          </p:nvSpPr>
          <p:spPr>
            <a:xfrm>
              <a:off x="10093421" y="4794237"/>
              <a:ext cx="294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…</a:t>
              </a:r>
              <a:endParaRPr lang="zh-CN" altLang="en-US" b="1" dirty="0"/>
            </a:p>
          </p:txBody>
        </p:sp>
      </p:grpSp>
      <p:sp>
        <p:nvSpPr>
          <p:cNvPr id="80" name="矩形 79">
            <a:extLst>
              <a:ext uri="{FF2B5EF4-FFF2-40B4-BE49-F238E27FC236}">
                <a16:creationId xmlns:a16="http://schemas.microsoft.com/office/drawing/2014/main" id="{DF1EC027-E03E-4A82-A544-0FC3C2956BB5}"/>
              </a:ext>
            </a:extLst>
          </p:cNvPr>
          <p:cNvSpPr/>
          <p:nvPr/>
        </p:nvSpPr>
        <p:spPr>
          <a:xfrm>
            <a:off x="962166" y="2203500"/>
            <a:ext cx="1849926" cy="734590"/>
          </a:xfrm>
          <a:prstGeom prst="rect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构造分组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发送分组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B2035302-FFEA-400D-9F16-D72E8930B4BD}"/>
              </a:ext>
            </a:extLst>
          </p:cNvPr>
          <p:cNvSpPr/>
          <p:nvPr/>
        </p:nvSpPr>
        <p:spPr>
          <a:xfrm>
            <a:off x="962166" y="3741270"/>
            <a:ext cx="1849926" cy="734590"/>
          </a:xfrm>
          <a:prstGeom prst="rect">
            <a:avLst/>
          </a:prstGeom>
          <a:noFill/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缓存分组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转发分组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4A7A436-3A44-4CC9-BED0-54CCB7623EFC}"/>
              </a:ext>
            </a:extLst>
          </p:cNvPr>
          <p:cNvSpPr/>
          <p:nvPr/>
        </p:nvSpPr>
        <p:spPr>
          <a:xfrm>
            <a:off x="962166" y="5279041"/>
            <a:ext cx="1849926" cy="73459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接收分组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还原报文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BD88D1-50A6-4C82-8DBC-9964BEA9FF7A}"/>
              </a:ext>
            </a:extLst>
          </p:cNvPr>
          <p:cNvSpPr/>
          <p:nvPr/>
        </p:nvSpPr>
        <p:spPr>
          <a:xfrm>
            <a:off x="962165" y="1651066"/>
            <a:ext cx="1849927" cy="541645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发送方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0A43F95-FD70-4B5E-8D6F-BB8904F165A6}"/>
              </a:ext>
            </a:extLst>
          </p:cNvPr>
          <p:cNvSpPr/>
          <p:nvPr/>
        </p:nvSpPr>
        <p:spPr>
          <a:xfrm>
            <a:off x="962165" y="3188836"/>
            <a:ext cx="1849927" cy="541645"/>
          </a:xfrm>
          <a:prstGeom prst="rect">
            <a:avLst/>
          </a:prstGeom>
          <a:solidFill>
            <a:schemeClr val="accent4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交换节点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D37533B-C0CC-47C7-82C4-704111B361CF}"/>
              </a:ext>
            </a:extLst>
          </p:cNvPr>
          <p:cNvSpPr/>
          <p:nvPr/>
        </p:nvSpPr>
        <p:spPr>
          <a:xfrm>
            <a:off x="962165" y="4726607"/>
            <a:ext cx="1849927" cy="541645"/>
          </a:xfrm>
          <a:prstGeom prst="rect">
            <a:avLst/>
          </a:prstGeom>
          <a:solidFill>
            <a:schemeClr val="accent5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接收方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8998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7" grpId="0" animBg="1"/>
      <p:bldP spid="95" grpId="0" animBg="1"/>
      <p:bldP spid="12" grpId="0" animBg="1"/>
      <p:bldP spid="85" grpId="0" animBg="1"/>
      <p:bldP spid="9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0958568F-147D-4A3C-BADE-8275FFDD61E0}"/>
              </a:ext>
            </a:extLst>
          </p:cNvPr>
          <p:cNvGrpSpPr/>
          <p:nvPr/>
        </p:nvGrpSpPr>
        <p:grpSpPr>
          <a:xfrm>
            <a:off x="6400801" y="1659465"/>
            <a:ext cx="5150616" cy="4406898"/>
            <a:chOff x="6400801" y="1659465"/>
            <a:chExt cx="5150616" cy="4406898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B9F3E3B0-A7CC-4F16-82F6-F66DF2981033}"/>
                </a:ext>
              </a:extLst>
            </p:cNvPr>
            <p:cNvGrpSpPr/>
            <p:nvPr/>
          </p:nvGrpSpPr>
          <p:grpSpPr>
            <a:xfrm>
              <a:off x="6400801" y="1659465"/>
              <a:ext cx="5150616" cy="4406898"/>
              <a:chOff x="6400801" y="1659465"/>
              <a:chExt cx="5150616" cy="4406898"/>
            </a:xfrm>
          </p:grpSpPr>
          <p:sp>
            <p:nvSpPr>
              <p:cNvPr id="279" name="矩形 278">
                <a:extLst>
                  <a:ext uri="{FF2B5EF4-FFF2-40B4-BE49-F238E27FC236}">
                    <a16:creationId xmlns:a16="http://schemas.microsoft.com/office/drawing/2014/main" id="{1D8D3BC6-5934-476D-B668-9BF13F94D846}"/>
                  </a:ext>
                </a:extLst>
              </p:cNvPr>
              <p:cNvSpPr/>
              <p:nvPr/>
            </p:nvSpPr>
            <p:spPr>
              <a:xfrm>
                <a:off x="6400801" y="1659465"/>
                <a:ext cx="5150616" cy="440689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1" name="矩形 280">
                <a:extLst>
                  <a:ext uri="{FF2B5EF4-FFF2-40B4-BE49-F238E27FC236}">
                    <a16:creationId xmlns:a16="http://schemas.microsoft.com/office/drawing/2014/main" id="{80D8A78D-4E8E-45C6-83D0-7F80E60FD924}"/>
                  </a:ext>
                </a:extLst>
              </p:cNvPr>
              <p:cNvSpPr/>
              <p:nvPr/>
            </p:nvSpPr>
            <p:spPr>
              <a:xfrm>
                <a:off x="8438266" y="4961826"/>
                <a:ext cx="1015562" cy="1015557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  <a:alpha val="1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283" name="文本框 282">
                <a:extLst>
                  <a:ext uri="{FF2B5EF4-FFF2-40B4-BE49-F238E27FC236}">
                    <a16:creationId xmlns:a16="http://schemas.microsoft.com/office/drawing/2014/main" id="{32077614-47F4-46F2-B4E3-1E1A03688E87}"/>
                  </a:ext>
                </a:extLst>
              </p:cNvPr>
              <p:cNvSpPr txBox="1"/>
              <p:nvPr/>
            </p:nvSpPr>
            <p:spPr>
              <a:xfrm>
                <a:off x="7314578" y="1785945"/>
                <a:ext cx="32629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kumimoji="0" sz="1400" b="1" i="0" u="none" strike="noStrike" cap="none" spc="0" normalizeH="0" baseline="0">
                    <a:ln>
                      <a:noFill/>
                    </a:ln>
                    <a:solidFill>
                      <a:schemeClr val="tx1">
                        <a:alpha val="60000"/>
                      </a:schemeClr>
                    </a:solidFill>
                    <a:effectLst/>
                    <a:uLnTx/>
                    <a:uFillTx/>
                  </a:defRPr>
                </a:lvl1pPr>
              </a:lstStyle>
              <a:p>
                <a:pPr algn="ctr"/>
                <a:r>
                  <a:rPr lang="zh-CN" altLang="en-US" sz="2000" dirty="0">
                    <a:solidFill>
                      <a:schemeClr val="tx1"/>
                    </a:solidFill>
                  </a:rPr>
                  <a:t>缺点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94" name="任意多边形 118">
              <a:extLst>
                <a:ext uri="{FF2B5EF4-FFF2-40B4-BE49-F238E27FC236}">
                  <a16:creationId xmlns:a16="http://schemas.microsoft.com/office/drawing/2014/main" id="{86FCD0DE-816B-4E53-BCAA-9541FEE4CAA9}"/>
                </a:ext>
              </a:extLst>
            </p:cNvPr>
            <p:cNvSpPr/>
            <p:nvPr/>
          </p:nvSpPr>
          <p:spPr bwMode="auto">
            <a:xfrm>
              <a:off x="8711068" y="5234682"/>
              <a:ext cx="469946" cy="469851"/>
            </a:xfrm>
            <a:custGeom>
              <a:avLst/>
              <a:gdLst>
                <a:gd name="T0" fmla="*/ 6034 w 10378"/>
                <a:gd name="T1" fmla="*/ 5117 h 10377"/>
                <a:gd name="T2" fmla="*/ 7180 w 10378"/>
                <a:gd name="T3" fmla="*/ 3970 h 10377"/>
                <a:gd name="T4" fmla="*/ 7180 w 10378"/>
                <a:gd name="T5" fmla="*/ 3052 h 10377"/>
                <a:gd name="T6" fmla="*/ 6263 w 10378"/>
                <a:gd name="T7" fmla="*/ 3052 h 10377"/>
                <a:gd name="T8" fmla="*/ 5117 w 10378"/>
                <a:gd name="T9" fmla="*/ 4198 h 10377"/>
                <a:gd name="T10" fmla="*/ 3970 w 10378"/>
                <a:gd name="T11" fmla="*/ 3052 h 10377"/>
                <a:gd name="T12" fmla="*/ 3053 w 10378"/>
                <a:gd name="T13" fmla="*/ 3052 h 10377"/>
                <a:gd name="T14" fmla="*/ 3053 w 10378"/>
                <a:gd name="T15" fmla="*/ 3969 h 10377"/>
                <a:gd name="T16" fmla="*/ 4199 w 10378"/>
                <a:gd name="T17" fmla="*/ 5117 h 10377"/>
                <a:gd name="T18" fmla="*/ 3053 w 10378"/>
                <a:gd name="T19" fmla="*/ 6263 h 10377"/>
                <a:gd name="T20" fmla="*/ 3053 w 10378"/>
                <a:gd name="T21" fmla="*/ 7181 h 10377"/>
                <a:gd name="T22" fmla="*/ 3970 w 10378"/>
                <a:gd name="T23" fmla="*/ 7181 h 10377"/>
                <a:gd name="T24" fmla="*/ 5118 w 10378"/>
                <a:gd name="T25" fmla="*/ 6034 h 10377"/>
                <a:gd name="T26" fmla="*/ 6264 w 10378"/>
                <a:gd name="T27" fmla="*/ 7181 h 10377"/>
                <a:gd name="T28" fmla="*/ 7182 w 10378"/>
                <a:gd name="T29" fmla="*/ 7181 h 10377"/>
                <a:gd name="T30" fmla="*/ 7182 w 10378"/>
                <a:gd name="T31" fmla="*/ 6263 h 10377"/>
                <a:gd name="T32" fmla="*/ 6034 w 10378"/>
                <a:gd name="T33" fmla="*/ 5117 h 10377"/>
                <a:gd name="T34" fmla="*/ 5189 w 10378"/>
                <a:gd name="T35" fmla="*/ 10377 h 10377"/>
                <a:gd name="T36" fmla="*/ 0 w 10378"/>
                <a:gd name="T37" fmla="*/ 5188 h 10377"/>
                <a:gd name="T38" fmla="*/ 5189 w 10378"/>
                <a:gd name="T39" fmla="*/ 0 h 10377"/>
                <a:gd name="T40" fmla="*/ 10378 w 10378"/>
                <a:gd name="T41" fmla="*/ 5188 h 10377"/>
                <a:gd name="T42" fmla="*/ 5189 w 10378"/>
                <a:gd name="T43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378" h="10377">
                  <a:moveTo>
                    <a:pt x="6034" y="5117"/>
                  </a:moveTo>
                  <a:lnTo>
                    <a:pt x="7180" y="3970"/>
                  </a:lnTo>
                  <a:cubicBezTo>
                    <a:pt x="7434" y="3716"/>
                    <a:pt x="7433" y="3306"/>
                    <a:pt x="7180" y="3052"/>
                  </a:cubicBezTo>
                  <a:cubicBezTo>
                    <a:pt x="6927" y="2798"/>
                    <a:pt x="6517" y="2798"/>
                    <a:pt x="6263" y="3052"/>
                  </a:cubicBezTo>
                  <a:lnTo>
                    <a:pt x="5117" y="4198"/>
                  </a:lnTo>
                  <a:lnTo>
                    <a:pt x="3970" y="3052"/>
                  </a:lnTo>
                  <a:cubicBezTo>
                    <a:pt x="3717" y="2798"/>
                    <a:pt x="3307" y="2798"/>
                    <a:pt x="3053" y="3052"/>
                  </a:cubicBezTo>
                  <a:cubicBezTo>
                    <a:pt x="2799" y="3306"/>
                    <a:pt x="2799" y="3716"/>
                    <a:pt x="3053" y="3969"/>
                  </a:cubicBezTo>
                  <a:lnTo>
                    <a:pt x="4199" y="5117"/>
                  </a:lnTo>
                  <a:lnTo>
                    <a:pt x="3053" y="6263"/>
                  </a:lnTo>
                  <a:cubicBezTo>
                    <a:pt x="2799" y="6517"/>
                    <a:pt x="2799" y="6927"/>
                    <a:pt x="3053" y="7181"/>
                  </a:cubicBezTo>
                  <a:cubicBezTo>
                    <a:pt x="3307" y="7434"/>
                    <a:pt x="3717" y="7434"/>
                    <a:pt x="3970" y="7181"/>
                  </a:cubicBezTo>
                  <a:lnTo>
                    <a:pt x="5118" y="6034"/>
                  </a:lnTo>
                  <a:lnTo>
                    <a:pt x="6264" y="7181"/>
                  </a:lnTo>
                  <a:cubicBezTo>
                    <a:pt x="6518" y="7434"/>
                    <a:pt x="6928" y="7434"/>
                    <a:pt x="7182" y="7181"/>
                  </a:cubicBezTo>
                  <a:cubicBezTo>
                    <a:pt x="7435" y="6927"/>
                    <a:pt x="7435" y="6517"/>
                    <a:pt x="7182" y="6263"/>
                  </a:cubicBezTo>
                  <a:lnTo>
                    <a:pt x="6034" y="511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4" y="10377"/>
                    <a:pt x="5189" y="103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电路交换、</a:t>
              </a:r>
              <a:r>
                <a:rPr lang="zh-CN" altLang="en-US" sz="2000" b="1" dirty="0">
                  <a:solidFill>
                    <a:schemeClr val="accent3">
                      <a:lumMod val="75000"/>
                    </a:schemeClr>
                  </a:solidFill>
                </a:rPr>
                <a:t>分组交换</a:t>
              </a:r>
              <a:r>
                <a:rPr lang="zh-CN" altLang="en-US" sz="2000" b="1" dirty="0"/>
                <a:t>和报文交换</a:t>
              </a: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9828FF6-6EF5-446D-B438-0E9295C02515}"/>
              </a:ext>
            </a:extLst>
          </p:cNvPr>
          <p:cNvCxnSpPr>
            <a:cxnSpLocks/>
          </p:cNvCxnSpPr>
          <p:nvPr/>
        </p:nvCxnSpPr>
        <p:spPr>
          <a:xfrm>
            <a:off x="2308577" y="1149410"/>
            <a:ext cx="1003583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47806F6-E9DF-496C-8FDE-7A4D97177A85}"/>
              </a:ext>
            </a:extLst>
          </p:cNvPr>
          <p:cNvGrpSpPr/>
          <p:nvPr/>
        </p:nvGrpSpPr>
        <p:grpSpPr>
          <a:xfrm>
            <a:off x="640583" y="1659465"/>
            <a:ext cx="5150616" cy="4406898"/>
            <a:chOff x="640583" y="1659465"/>
            <a:chExt cx="5150616" cy="4406898"/>
          </a:xfrm>
        </p:grpSpPr>
        <p:sp>
          <p:nvSpPr>
            <p:cNvPr id="262" name="矩形 261">
              <a:extLst>
                <a:ext uri="{FF2B5EF4-FFF2-40B4-BE49-F238E27FC236}">
                  <a16:creationId xmlns:a16="http://schemas.microsoft.com/office/drawing/2014/main" id="{A4A643C3-6F17-4A60-ABD1-43A3CDE9C303}"/>
                </a:ext>
              </a:extLst>
            </p:cNvPr>
            <p:cNvSpPr/>
            <p:nvPr/>
          </p:nvSpPr>
          <p:spPr>
            <a:xfrm>
              <a:off x="640583" y="1659465"/>
              <a:ext cx="5150616" cy="4406898"/>
            </a:xfrm>
            <a:prstGeom prst="rect">
              <a:avLst/>
            </a:prstGeom>
            <a:solidFill>
              <a:schemeClr val="accent4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68" name="Group 262">
              <a:extLst>
                <a:ext uri="{FF2B5EF4-FFF2-40B4-BE49-F238E27FC236}">
                  <a16:creationId xmlns:a16="http://schemas.microsoft.com/office/drawing/2014/main" id="{033D2E9A-174D-42EE-AE73-3203130743C3}"/>
                </a:ext>
              </a:extLst>
            </p:cNvPr>
            <p:cNvGrpSpPr/>
            <p:nvPr/>
          </p:nvGrpSpPr>
          <p:grpSpPr>
            <a:xfrm>
              <a:off x="2678048" y="4961826"/>
              <a:ext cx="1015562" cy="1015557"/>
              <a:chOff x="6972037" y="956872"/>
              <a:chExt cx="609064" cy="609061"/>
            </a:xfrm>
          </p:grpSpPr>
          <p:sp>
            <p:nvSpPr>
              <p:cNvPr id="269" name="矩形 268">
                <a:extLst>
                  <a:ext uri="{FF2B5EF4-FFF2-40B4-BE49-F238E27FC236}">
                    <a16:creationId xmlns:a16="http://schemas.microsoft.com/office/drawing/2014/main" id="{C1EA31C3-653D-46ED-9B42-7B823C30C4DF}"/>
                  </a:ext>
                </a:extLst>
              </p:cNvPr>
              <p:cNvSpPr/>
              <p:nvPr/>
            </p:nvSpPr>
            <p:spPr>
              <a:xfrm>
                <a:off x="6972037" y="956872"/>
                <a:ext cx="609064" cy="609061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  <a:alpha val="1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270" name="任意多边形 118">
                <a:extLst>
                  <a:ext uri="{FF2B5EF4-FFF2-40B4-BE49-F238E27FC236}">
                    <a16:creationId xmlns:a16="http://schemas.microsoft.com/office/drawing/2014/main" id="{2CAB3439-AFC6-42BD-B09C-A6EB2BBA5A56}"/>
                  </a:ext>
                </a:extLst>
              </p:cNvPr>
              <p:cNvSpPr/>
              <p:nvPr/>
            </p:nvSpPr>
            <p:spPr bwMode="auto">
              <a:xfrm>
                <a:off x="7135645" y="1120643"/>
                <a:ext cx="281841" cy="281523"/>
              </a:xfrm>
              <a:custGeom>
                <a:avLst/>
                <a:gdLst>
                  <a:gd name="T0" fmla="*/ 213 w 427"/>
                  <a:gd name="T1" fmla="*/ 0 h 427"/>
                  <a:gd name="T2" fmla="*/ 0 w 427"/>
                  <a:gd name="T3" fmla="*/ 213 h 427"/>
                  <a:gd name="T4" fmla="*/ 213 w 427"/>
                  <a:gd name="T5" fmla="*/ 427 h 427"/>
                  <a:gd name="T6" fmla="*/ 427 w 427"/>
                  <a:gd name="T7" fmla="*/ 213 h 427"/>
                  <a:gd name="T8" fmla="*/ 213 w 427"/>
                  <a:gd name="T9" fmla="*/ 0 h 427"/>
                  <a:gd name="T10" fmla="*/ 180 w 427"/>
                  <a:gd name="T11" fmla="*/ 312 h 427"/>
                  <a:gd name="T12" fmla="*/ 82 w 427"/>
                  <a:gd name="T13" fmla="*/ 214 h 427"/>
                  <a:gd name="T14" fmla="*/ 120 w 427"/>
                  <a:gd name="T15" fmla="*/ 176 h 427"/>
                  <a:gd name="T16" fmla="*/ 180 w 427"/>
                  <a:gd name="T17" fmla="*/ 236 h 427"/>
                  <a:gd name="T18" fmla="*/ 308 w 427"/>
                  <a:gd name="T19" fmla="*/ 108 h 427"/>
                  <a:gd name="T20" fmla="*/ 346 w 427"/>
                  <a:gd name="T21" fmla="*/ 146 h 427"/>
                  <a:gd name="T22" fmla="*/ 180 w 427"/>
                  <a:gd name="T23" fmla="*/ 312 h 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27" h="427">
                    <a:moveTo>
                      <a:pt x="213" y="0"/>
                    </a:moveTo>
                    <a:cubicBezTo>
                      <a:pt x="96" y="0"/>
                      <a:pt x="0" y="96"/>
                      <a:pt x="0" y="213"/>
                    </a:cubicBezTo>
                    <a:cubicBezTo>
                      <a:pt x="0" y="331"/>
                      <a:pt x="96" y="427"/>
                      <a:pt x="213" y="427"/>
                    </a:cubicBezTo>
                    <a:cubicBezTo>
                      <a:pt x="331" y="427"/>
                      <a:pt x="427" y="331"/>
                      <a:pt x="427" y="213"/>
                    </a:cubicBezTo>
                    <a:cubicBezTo>
                      <a:pt x="427" y="96"/>
                      <a:pt x="331" y="0"/>
                      <a:pt x="213" y="0"/>
                    </a:cubicBezTo>
                    <a:close/>
                    <a:moveTo>
                      <a:pt x="180" y="312"/>
                    </a:moveTo>
                    <a:lnTo>
                      <a:pt x="82" y="214"/>
                    </a:lnTo>
                    <a:lnTo>
                      <a:pt x="120" y="176"/>
                    </a:lnTo>
                    <a:lnTo>
                      <a:pt x="180" y="236"/>
                    </a:lnTo>
                    <a:lnTo>
                      <a:pt x="308" y="108"/>
                    </a:lnTo>
                    <a:lnTo>
                      <a:pt x="346" y="146"/>
                    </a:lnTo>
                    <a:lnTo>
                      <a:pt x="180" y="3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66" name="文本框 265">
              <a:extLst>
                <a:ext uri="{FF2B5EF4-FFF2-40B4-BE49-F238E27FC236}">
                  <a16:creationId xmlns:a16="http://schemas.microsoft.com/office/drawing/2014/main" id="{EF5A8549-8313-4E79-8B79-00DE34693B6A}"/>
                </a:ext>
              </a:extLst>
            </p:cNvPr>
            <p:cNvSpPr txBox="1"/>
            <p:nvPr/>
          </p:nvSpPr>
          <p:spPr>
            <a:xfrm>
              <a:off x="1554360" y="1785945"/>
              <a:ext cx="32629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kumimoji="0" sz="1400" b="1" i="0" u="none" strike="noStrike" cap="none" spc="0" normalizeH="0" baseline="0">
                  <a:ln>
                    <a:noFill/>
                  </a:ln>
                  <a:solidFill>
                    <a:schemeClr val="tx1">
                      <a:alpha val="60000"/>
                    </a:schemeClr>
                  </a:solidFill>
                  <a:effectLst/>
                  <a:uLnTx/>
                  <a:uFillTx/>
                </a:defRPr>
              </a:lvl1pPr>
            </a:lstStyle>
            <a:p>
              <a:pPr algn="ctr"/>
              <a:r>
                <a:rPr lang="zh-CN" altLang="en-US" sz="2000" dirty="0">
                  <a:solidFill>
                    <a:schemeClr val="bg1"/>
                  </a:solidFill>
                </a:rPr>
                <a:t>优点</a:t>
              </a:r>
              <a:endParaRPr lang="en-US" altLang="zh-CN" sz="2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椭圆 13">
            <a:extLst>
              <a:ext uri="{FF2B5EF4-FFF2-40B4-BE49-F238E27FC236}">
                <a16:creationId xmlns:a16="http://schemas.microsoft.com/office/drawing/2014/main" id="{B942C368-D214-4739-A7BB-E4CACE9CF7CC}"/>
              </a:ext>
            </a:extLst>
          </p:cNvPr>
          <p:cNvSpPr/>
          <p:nvPr/>
        </p:nvSpPr>
        <p:spPr>
          <a:xfrm>
            <a:off x="933106" y="2438400"/>
            <a:ext cx="191911" cy="19191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文本框 271">
            <a:extLst>
              <a:ext uri="{FF2B5EF4-FFF2-40B4-BE49-F238E27FC236}">
                <a16:creationId xmlns:a16="http://schemas.microsoft.com/office/drawing/2014/main" id="{E493AC18-FD29-4468-8591-D3CF59FADB78}"/>
              </a:ext>
            </a:extLst>
          </p:cNvPr>
          <p:cNvSpPr txBox="1"/>
          <p:nvPr/>
        </p:nvSpPr>
        <p:spPr>
          <a:xfrm>
            <a:off x="1319380" y="2339798"/>
            <a:ext cx="4234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0" sz="1400" b="1" i="0" u="none" strike="noStrike" cap="none" spc="0" normalizeH="0" baseline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uLnTx/>
                <a:uFillTx/>
              </a:defRPr>
            </a:lvl1pPr>
          </a:lstStyle>
          <a:p>
            <a:r>
              <a:rPr lang="zh-CN" altLang="en-US" sz="1800" dirty="0">
                <a:solidFill>
                  <a:schemeClr val="bg1"/>
                </a:solidFill>
              </a:rPr>
              <a:t>没有建立连接和释放连接的过程。</a:t>
            </a:r>
            <a:endParaRPr lang="en-US" altLang="zh-CN" sz="1800" dirty="0">
              <a:solidFill>
                <a:schemeClr val="bg1"/>
              </a:solidFill>
            </a:endParaRPr>
          </a:p>
        </p:txBody>
      </p:sp>
      <p:sp>
        <p:nvSpPr>
          <p:cNvPr id="274" name="椭圆 273">
            <a:extLst>
              <a:ext uri="{FF2B5EF4-FFF2-40B4-BE49-F238E27FC236}">
                <a16:creationId xmlns:a16="http://schemas.microsoft.com/office/drawing/2014/main" id="{9284F7D2-CCC8-4F14-A898-29672192765C}"/>
              </a:ext>
            </a:extLst>
          </p:cNvPr>
          <p:cNvSpPr/>
          <p:nvPr/>
        </p:nvSpPr>
        <p:spPr>
          <a:xfrm>
            <a:off x="950039" y="2870495"/>
            <a:ext cx="191911" cy="19191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5" name="文本框 274">
            <a:extLst>
              <a:ext uri="{FF2B5EF4-FFF2-40B4-BE49-F238E27FC236}">
                <a16:creationId xmlns:a16="http://schemas.microsoft.com/office/drawing/2014/main" id="{72B9A461-D534-4E20-8EA3-DA736D0F6180}"/>
              </a:ext>
            </a:extLst>
          </p:cNvPr>
          <p:cNvSpPr txBox="1"/>
          <p:nvPr/>
        </p:nvSpPr>
        <p:spPr>
          <a:xfrm>
            <a:off x="1336313" y="2771893"/>
            <a:ext cx="4234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0" sz="1400" b="1" i="0" u="none" strike="noStrike" cap="none" spc="0" normalizeH="0" baseline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uLnTx/>
                <a:uFillTx/>
              </a:defRPr>
            </a:lvl1pPr>
          </a:lstStyle>
          <a:p>
            <a:r>
              <a:rPr lang="zh-CN" altLang="en-US" sz="1800" dirty="0">
                <a:solidFill>
                  <a:schemeClr val="bg1"/>
                </a:solidFill>
              </a:rPr>
              <a:t>分组传输过程中逐段占用通信链路，</a:t>
            </a:r>
            <a:endParaRPr lang="en-US" altLang="zh-CN" sz="1800" dirty="0">
              <a:solidFill>
                <a:schemeClr val="bg1"/>
              </a:solidFill>
            </a:endParaRPr>
          </a:p>
          <a:p>
            <a:r>
              <a:rPr lang="zh-CN" altLang="en-US" sz="1800" dirty="0">
                <a:solidFill>
                  <a:schemeClr val="bg1"/>
                </a:solidFill>
              </a:rPr>
              <a:t>有较高的通信线路利用率。</a:t>
            </a:r>
            <a:endParaRPr lang="en-US" altLang="zh-CN" sz="1800" dirty="0">
              <a:solidFill>
                <a:schemeClr val="bg1"/>
              </a:solidFill>
            </a:endParaRPr>
          </a:p>
        </p:txBody>
      </p:sp>
      <p:sp>
        <p:nvSpPr>
          <p:cNvPr id="277" name="椭圆 276">
            <a:extLst>
              <a:ext uri="{FF2B5EF4-FFF2-40B4-BE49-F238E27FC236}">
                <a16:creationId xmlns:a16="http://schemas.microsoft.com/office/drawing/2014/main" id="{2D84C2B6-E601-4C34-9015-D5C85F8EEDC8}"/>
              </a:ext>
            </a:extLst>
          </p:cNvPr>
          <p:cNvSpPr/>
          <p:nvPr/>
        </p:nvSpPr>
        <p:spPr>
          <a:xfrm>
            <a:off x="933106" y="3579589"/>
            <a:ext cx="191911" cy="19191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8" name="文本框 277">
            <a:extLst>
              <a:ext uri="{FF2B5EF4-FFF2-40B4-BE49-F238E27FC236}">
                <a16:creationId xmlns:a16="http://schemas.microsoft.com/office/drawing/2014/main" id="{FAC13CE8-5F39-46B8-9E06-0F860142A91D}"/>
              </a:ext>
            </a:extLst>
          </p:cNvPr>
          <p:cNvSpPr txBox="1"/>
          <p:nvPr/>
        </p:nvSpPr>
        <p:spPr>
          <a:xfrm>
            <a:off x="1319380" y="3480987"/>
            <a:ext cx="4234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0" sz="1400" b="1" i="0" u="none" strike="noStrike" cap="none" spc="0" normalizeH="0" baseline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uLnTx/>
                <a:uFillTx/>
              </a:defRPr>
            </a:lvl1pPr>
          </a:lstStyle>
          <a:p>
            <a:r>
              <a:rPr lang="zh-CN" altLang="en-US" sz="1800" dirty="0">
                <a:solidFill>
                  <a:schemeClr val="bg1"/>
                </a:solidFill>
              </a:rPr>
              <a:t>交换节点可以为每一个分组独立选择</a:t>
            </a:r>
            <a:endParaRPr lang="en-US" altLang="zh-CN" sz="1800" dirty="0">
              <a:solidFill>
                <a:schemeClr val="bg1"/>
              </a:solidFill>
            </a:endParaRPr>
          </a:p>
          <a:p>
            <a:r>
              <a:rPr lang="zh-CN" altLang="en-US" sz="1800" dirty="0">
                <a:solidFill>
                  <a:schemeClr val="bg1"/>
                </a:solidFill>
              </a:rPr>
              <a:t>转发路由，使得网络有很好的生存性。</a:t>
            </a:r>
            <a:endParaRPr lang="en-US" altLang="zh-CN" sz="1800" dirty="0">
              <a:solidFill>
                <a:schemeClr val="bg1"/>
              </a:solidFill>
            </a:endParaRPr>
          </a:p>
        </p:txBody>
      </p:sp>
      <p:sp>
        <p:nvSpPr>
          <p:cNvPr id="285" name="椭圆 284">
            <a:extLst>
              <a:ext uri="{FF2B5EF4-FFF2-40B4-BE49-F238E27FC236}">
                <a16:creationId xmlns:a16="http://schemas.microsoft.com/office/drawing/2014/main" id="{453D9D48-67EF-4D7F-9DF4-57C7D4F0343E}"/>
              </a:ext>
            </a:extLst>
          </p:cNvPr>
          <p:cNvSpPr/>
          <p:nvPr/>
        </p:nvSpPr>
        <p:spPr>
          <a:xfrm>
            <a:off x="6693324" y="2438400"/>
            <a:ext cx="191911" cy="19191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6" name="文本框 285">
            <a:extLst>
              <a:ext uri="{FF2B5EF4-FFF2-40B4-BE49-F238E27FC236}">
                <a16:creationId xmlns:a16="http://schemas.microsoft.com/office/drawing/2014/main" id="{E738854A-0053-4A7F-9B92-EBC58C97BB28}"/>
              </a:ext>
            </a:extLst>
          </p:cNvPr>
          <p:cNvSpPr txBox="1"/>
          <p:nvPr/>
        </p:nvSpPr>
        <p:spPr>
          <a:xfrm>
            <a:off x="7079598" y="2339798"/>
            <a:ext cx="4234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0" sz="1400" b="1" i="0" u="none" strike="noStrike" cap="none" spc="0" normalizeH="0" baseline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uLnTx/>
                <a:uFillTx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</a:rPr>
              <a:t>分组首部带来了额外的传输开销。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287" name="椭圆 286">
            <a:extLst>
              <a:ext uri="{FF2B5EF4-FFF2-40B4-BE49-F238E27FC236}">
                <a16:creationId xmlns:a16="http://schemas.microsoft.com/office/drawing/2014/main" id="{5B4C039B-ABCD-4BA5-85A2-B3268C3E2FE7}"/>
              </a:ext>
            </a:extLst>
          </p:cNvPr>
          <p:cNvSpPr/>
          <p:nvPr/>
        </p:nvSpPr>
        <p:spPr>
          <a:xfrm>
            <a:off x="6693324" y="2870495"/>
            <a:ext cx="191911" cy="19191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8" name="文本框 287">
            <a:extLst>
              <a:ext uri="{FF2B5EF4-FFF2-40B4-BE49-F238E27FC236}">
                <a16:creationId xmlns:a16="http://schemas.microsoft.com/office/drawing/2014/main" id="{C22E31F8-AC48-4785-985F-42779D815CB8}"/>
              </a:ext>
            </a:extLst>
          </p:cNvPr>
          <p:cNvSpPr txBox="1"/>
          <p:nvPr/>
        </p:nvSpPr>
        <p:spPr>
          <a:xfrm>
            <a:off x="7079598" y="2771893"/>
            <a:ext cx="4454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0" sz="1400" b="1" i="0" u="none" strike="noStrike" cap="none" spc="0" normalizeH="0" baseline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uLnTx/>
                <a:uFillTx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</a:rPr>
              <a:t>交换节点存储转发分组会造成一定的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zh-CN" altLang="en-US" sz="1800" dirty="0">
                <a:solidFill>
                  <a:schemeClr val="tx1"/>
                </a:solidFill>
              </a:rPr>
              <a:t>时延。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290" name="椭圆 289">
            <a:extLst>
              <a:ext uri="{FF2B5EF4-FFF2-40B4-BE49-F238E27FC236}">
                <a16:creationId xmlns:a16="http://schemas.microsoft.com/office/drawing/2014/main" id="{B871F3C5-8B11-4978-8915-C95C459958E2}"/>
              </a:ext>
            </a:extLst>
          </p:cNvPr>
          <p:cNvSpPr/>
          <p:nvPr/>
        </p:nvSpPr>
        <p:spPr>
          <a:xfrm>
            <a:off x="6693324" y="3579589"/>
            <a:ext cx="191911" cy="19191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1" name="文本框 290">
            <a:extLst>
              <a:ext uri="{FF2B5EF4-FFF2-40B4-BE49-F238E27FC236}">
                <a16:creationId xmlns:a16="http://schemas.microsoft.com/office/drawing/2014/main" id="{2A6D96FF-0FD4-4928-B53E-109E38E3F02E}"/>
              </a:ext>
            </a:extLst>
          </p:cNvPr>
          <p:cNvSpPr txBox="1"/>
          <p:nvPr/>
        </p:nvSpPr>
        <p:spPr>
          <a:xfrm>
            <a:off x="7079598" y="3480987"/>
            <a:ext cx="4179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0" sz="1400" b="1" i="0" u="none" strike="noStrike" cap="none" spc="0" normalizeH="0" baseline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uLnTx/>
                <a:uFillTx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</a:rPr>
              <a:t>无法确保通信时端到端通信资源全部可用，在通信量较大时可能造成网络拥塞。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  <p:sp>
        <p:nvSpPr>
          <p:cNvPr id="292" name="椭圆 291">
            <a:extLst>
              <a:ext uri="{FF2B5EF4-FFF2-40B4-BE49-F238E27FC236}">
                <a16:creationId xmlns:a16="http://schemas.microsoft.com/office/drawing/2014/main" id="{A616D5D1-391B-44FB-9F8E-2ED2881E5B9C}"/>
              </a:ext>
            </a:extLst>
          </p:cNvPr>
          <p:cNvSpPr/>
          <p:nvPr/>
        </p:nvSpPr>
        <p:spPr>
          <a:xfrm>
            <a:off x="6693324" y="4288682"/>
            <a:ext cx="191911" cy="19191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11389DA7-878B-4754-947B-36404977D9FD}"/>
              </a:ext>
            </a:extLst>
          </p:cNvPr>
          <p:cNvSpPr txBox="1"/>
          <p:nvPr/>
        </p:nvSpPr>
        <p:spPr>
          <a:xfrm>
            <a:off x="7079598" y="4190080"/>
            <a:ext cx="4179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0" sz="1400" b="1" i="0" u="none" strike="noStrike" cap="none" spc="0" normalizeH="0" baseline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uLnTx/>
                <a:uFillTx/>
              </a:defRPr>
            </a:lvl1pPr>
          </a:lstStyle>
          <a:p>
            <a:r>
              <a:rPr lang="zh-CN" altLang="en-US" sz="1800" dirty="0">
                <a:solidFill>
                  <a:schemeClr val="tx1"/>
                </a:solidFill>
              </a:rPr>
              <a:t>分组可能会出现失序和丢失等问题。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0384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800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72" grpId="0"/>
      <p:bldP spid="274" grpId="0" animBg="1"/>
      <p:bldP spid="275" grpId="0"/>
      <p:bldP spid="277" grpId="0" animBg="1"/>
      <p:bldP spid="278" grpId="0"/>
      <p:bldP spid="285" grpId="0" animBg="1"/>
      <p:bldP spid="286" grpId="0"/>
      <p:bldP spid="287" grpId="0" animBg="1"/>
      <p:bldP spid="288" grpId="0"/>
      <p:bldP spid="290" grpId="0" animBg="1"/>
      <p:bldP spid="291" grpId="0"/>
      <p:bldP spid="292" grpId="0" animBg="1"/>
      <p:bldP spid="29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电路交换、分组交换和</a:t>
              </a:r>
              <a:r>
                <a:rPr lang="zh-CN" altLang="en-US" sz="2000" b="1" dirty="0">
                  <a:solidFill>
                    <a:schemeClr val="accent3">
                      <a:lumMod val="75000"/>
                    </a:schemeClr>
                  </a:solidFill>
                </a:rPr>
                <a:t>报文交换</a:t>
              </a: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9828FF6-6EF5-446D-B438-0E9295C02515}"/>
              </a:ext>
            </a:extLst>
          </p:cNvPr>
          <p:cNvCxnSpPr>
            <a:cxnSpLocks/>
          </p:cNvCxnSpPr>
          <p:nvPr/>
        </p:nvCxnSpPr>
        <p:spPr>
          <a:xfrm>
            <a:off x="3563215" y="1149410"/>
            <a:ext cx="1003583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E29D7388-EF24-40BF-A8F5-87CBAC25E4D1}"/>
              </a:ext>
            </a:extLst>
          </p:cNvPr>
          <p:cNvSpPr/>
          <p:nvPr/>
        </p:nvSpPr>
        <p:spPr>
          <a:xfrm>
            <a:off x="933106" y="1369525"/>
            <a:ext cx="300790" cy="30079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íşlïḍè">
            <a:extLst>
              <a:ext uri="{FF2B5EF4-FFF2-40B4-BE49-F238E27FC236}">
                <a16:creationId xmlns:a16="http://schemas.microsoft.com/office/drawing/2014/main" id="{D0205537-13AD-454B-A704-689CF94461D5}"/>
              </a:ext>
            </a:extLst>
          </p:cNvPr>
          <p:cNvSpPr txBox="1"/>
          <p:nvPr/>
        </p:nvSpPr>
        <p:spPr>
          <a:xfrm>
            <a:off x="1318660" y="1310370"/>
            <a:ext cx="3614847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/>
              <a:t>报文交换是分组交换的前身。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49B38CA-E71B-47EA-89A9-40298C7A3493}"/>
              </a:ext>
            </a:extLst>
          </p:cNvPr>
          <p:cNvSpPr/>
          <p:nvPr/>
        </p:nvSpPr>
        <p:spPr>
          <a:xfrm>
            <a:off x="933106" y="1949584"/>
            <a:ext cx="300790" cy="30079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íşlïḍè">
            <a:extLst>
              <a:ext uri="{FF2B5EF4-FFF2-40B4-BE49-F238E27FC236}">
                <a16:creationId xmlns:a16="http://schemas.microsoft.com/office/drawing/2014/main" id="{C72CF435-03CB-464B-908A-FA1BF8F7725F}"/>
              </a:ext>
            </a:extLst>
          </p:cNvPr>
          <p:cNvSpPr txBox="1"/>
          <p:nvPr/>
        </p:nvSpPr>
        <p:spPr>
          <a:xfrm>
            <a:off x="1318659" y="1890429"/>
            <a:ext cx="8303805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/>
              <a:t>在报文交换中，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报文被整个地发送</a:t>
            </a:r>
            <a:r>
              <a:rPr lang="zh-CN" altLang="en-US" sz="2000" b="1" dirty="0"/>
              <a:t>，而不是拆分成若干个分组进行发送。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A845792-11E5-4669-8BCB-0E8CDE223035}"/>
              </a:ext>
            </a:extLst>
          </p:cNvPr>
          <p:cNvSpPr/>
          <p:nvPr/>
        </p:nvSpPr>
        <p:spPr>
          <a:xfrm>
            <a:off x="933106" y="2588798"/>
            <a:ext cx="300790" cy="30079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íşlïḍè">
            <a:extLst>
              <a:ext uri="{FF2B5EF4-FFF2-40B4-BE49-F238E27FC236}">
                <a16:creationId xmlns:a16="http://schemas.microsoft.com/office/drawing/2014/main" id="{2A17F6DD-55BE-4F06-A92F-9650A8913197}"/>
              </a:ext>
            </a:extLst>
          </p:cNvPr>
          <p:cNvSpPr txBox="1"/>
          <p:nvPr/>
        </p:nvSpPr>
        <p:spPr>
          <a:xfrm>
            <a:off x="1318659" y="2529643"/>
            <a:ext cx="9303267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/>
              <a:t>交换节点将报文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整体接收完成后</a:t>
            </a:r>
            <a:r>
              <a:rPr lang="zh-CN" altLang="en-US" sz="2000" b="1" dirty="0"/>
              <a:t>才能查找转发表，将整个报文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转发</a:t>
            </a:r>
            <a:r>
              <a:rPr lang="zh-CN" altLang="en-US" sz="2000" b="1" dirty="0"/>
              <a:t>到下一个节点。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0DDC703-3595-441F-B83C-F19189391E9D}"/>
              </a:ext>
            </a:extLst>
          </p:cNvPr>
          <p:cNvSpPr/>
          <p:nvPr/>
        </p:nvSpPr>
        <p:spPr>
          <a:xfrm>
            <a:off x="933106" y="3224448"/>
            <a:ext cx="300790" cy="30079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íşlïḍè">
            <a:extLst>
              <a:ext uri="{FF2B5EF4-FFF2-40B4-BE49-F238E27FC236}">
                <a16:creationId xmlns:a16="http://schemas.microsoft.com/office/drawing/2014/main" id="{3334A9B6-B5EA-4E0C-ABF1-909F3373049C}"/>
              </a:ext>
            </a:extLst>
          </p:cNvPr>
          <p:cNvSpPr txBox="1"/>
          <p:nvPr/>
        </p:nvSpPr>
        <p:spPr>
          <a:xfrm>
            <a:off x="1318659" y="3165293"/>
            <a:ext cx="10738662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/>
              <a:t>因此，报文交换比分组交换带来的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转发时延要长很多</a:t>
            </a:r>
            <a:r>
              <a:rPr lang="zh-CN" altLang="en-US" sz="2000" b="1" dirty="0"/>
              <a:t>，需要交换节点具有的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缓存空间也大很多</a:t>
            </a:r>
            <a:r>
              <a:rPr lang="zh-CN" altLang="en-US" sz="2000" b="1" dirty="0"/>
              <a:t>。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3635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78CF17C-89F4-4AFE-9B0C-F7284835C428}"/>
              </a:ext>
            </a:extLst>
          </p:cNvPr>
          <p:cNvGrpSpPr/>
          <p:nvPr/>
        </p:nvGrpSpPr>
        <p:grpSpPr>
          <a:xfrm>
            <a:off x="304800" y="749300"/>
            <a:ext cx="3214576" cy="400110"/>
            <a:chOff x="304800" y="749300"/>
            <a:chExt cx="3214576" cy="400110"/>
          </a:xfrm>
        </p:grpSpPr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5096BFBC-843A-469B-806A-1AE428A99CAA}"/>
                </a:ext>
              </a:extLst>
            </p:cNvPr>
            <p:cNvSpPr/>
            <p:nvPr/>
          </p:nvSpPr>
          <p:spPr>
            <a:xfrm>
              <a:off x="304800" y="749300"/>
              <a:ext cx="724560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02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D054197-E8F2-4666-841F-51C733BE4C5B}"/>
                </a:ext>
              </a:extLst>
            </p:cNvPr>
            <p:cNvSpPr txBox="1"/>
            <p:nvPr/>
          </p:nvSpPr>
          <p:spPr>
            <a:xfrm>
              <a:off x="1029359" y="749300"/>
              <a:ext cx="24900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三种交换方式的对比</a:t>
              </a:r>
            </a:p>
          </p:txBody>
        </p:sp>
      </p:grpSp>
      <p:pic>
        <p:nvPicPr>
          <p:cNvPr id="9" name="图片 8" descr="手机屏幕的截图&#10;&#10;描述已自动生成">
            <a:extLst>
              <a:ext uri="{FF2B5EF4-FFF2-40B4-BE49-F238E27FC236}">
                <a16:creationId xmlns:a16="http://schemas.microsoft.com/office/drawing/2014/main" id="{2A87F798-AC1B-4000-AE38-3FE00B1A05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656" y="3283500"/>
            <a:ext cx="6653007" cy="3223673"/>
          </a:xfrm>
          <a:prstGeom prst="rect">
            <a:avLst/>
          </a:prstGeom>
        </p:spPr>
      </p:pic>
      <p:sp>
        <p:nvSpPr>
          <p:cNvPr id="120" name="矩形 119">
            <a:extLst>
              <a:ext uri="{FF2B5EF4-FFF2-40B4-BE49-F238E27FC236}">
                <a16:creationId xmlns:a16="http://schemas.microsoft.com/office/drawing/2014/main" id="{C46633E2-DFC5-4144-A229-5ADDA6E1F74A}"/>
              </a:ext>
            </a:extLst>
          </p:cNvPr>
          <p:cNvSpPr/>
          <p:nvPr/>
        </p:nvSpPr>
        <p:spPr>
          <a:xfrm>
            <a:off x="994066" y="1278085"/>
            <a:ext cx="235294" cy="23529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íşlïḍè">
            <a:extLst>
              <a:ext uri="{FF2B5EF4-FFF2-40B4-BE49-F238E27FC236}">
                <a16:creationId xmlns:a16="http://schemas.microsoft.com/office/drawing/2014/main" id="{1094943F-5C11-4810-BE6B-CC43B6636E37}"/>
              </a:ext>
            </a:extLst>
          </p:cNvPr>
          <p:cNvSpPr txBox="1"/>
          <p:nvPr/>
        </p:nvSpPr>
        <p:spPr>
          <a:xfrm>
            <a:off x="1318660" y="1168130"/>
            <a:ext cx="10568540" cy="69115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/>
              <a:t>若要连续传送大量的数据，并且数据传送时间远大于建立连接的时间，则使用电路交换可以有较高的传输效率。然而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计算机的数据传送</a:t>
            </a:r>
            <a:r>
              <a:rPr lang="zh-CN" altLang="en-US" b="1" dirty="0"/>
              <a:t>往往是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突发式</a:t>
            </a:r>
            <a:r>
              <a:rPr lang="zh-CN" altLang="en-US" b="1" dirty="0"/>
              <a:t>的，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采用电路交换</a:t>
            </a:r>
            <a:r>
              <a:rPr lang="zh-CN" altLang="en-US" b="1" dirty="0"/>
              <a:t>时通信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线路的利用率会很低</a:t>
            </a:r>
            <a:r>
              <a:rPr lang="zh-CN" altLang="en-US" b="1" dirty="0"/>
              <a:t>。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E76183AD-3103-4707-A850-4438BE2461F3}"/>
              </a:ext>
            </a:extLst>
          </p:cNvPr>
          <p:cNvSpPr/>
          <p:nvPr/>
        </p:nvSpPr>
        <p:spPr>
          <a:xfrm>
            <a:off x="994066" y="1993733"/>
            <a:ext cx="235294" cy="23529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íşlïḍè">
            <a:extLst>
              <a:ext uri="{FF2B5EF4-FFF2-40B4-BE49-F238E27FC236}">
                <a16:creationId xmlns:a16="http://schemas.microsoft.com/office/drawing/2014/main" id="{E9F36719-8D5C-4CA1-8709-FE43BB01AB5D}"/>
              </a:ext>
            </a:extLst>
          </p:cNvPr>
          <p:cNvSpPr txBox="1"/>
          <p:nvPr/>
        </p:nvSpPr>
        <p:spPr>
          <a:xfrm>
            <a:off x="1318660" y="1883778"/>
            <a:ext cx="10568540" cy="69115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/>
              <a:t>报文交换和分组交换都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不需要建立连接</a:t>
            </a:r>
            <a:r>
              <a:rPr lang="zh-CN" altLang="en-US" b="1" dirty="0"/>
              <a:t>（即预先分配通信资源），在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传送计算机的突发数据</a:t>
            </a:r>
            <a:r>
              <a:rPr lang="zh-CN" altLang="en-US" b="1" dirty="0"/>
              <a:t>时可以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提高通信线路的利用率</a:t>
            </a:r>
            <a:r>
              <a:rPr lang="zh-CN" altLang="en-US" b="1" dirty="0"/>
              <a:t>。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B9C1AFE4-C12A-4172-99E4-B2E5A809967E}"/>
              </a:ext>
            </a:extLst>
          </p:cNvPr>
          <p:cNvSpPr/>
          <p:nvPr/>
        </p:nvSpPr>
        <p:spPr>
          <a:xfrm>
            <a:off x="994066" y="2709380"/>
            <a:ext cx="235294" cy="23529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íşlïḍè">
            <a:extLst>
              <a:ext uri="{FF2B5EF4-FFF2-40B4-BE49-F238E27FC236}">
                <a16:creationId xmlns:a16="http://schemas.microsoft.com/office/drawing/2014/main" id="{72BEC971-69B1-4CD0-9499-F911A46B1292}"/>
              </a:ext>
            </a:extLst>
          </p:cNvPr>
          <p:cNvSpPr txBox="1"/>
          <p:nvPr/>
        </p:nvSpPr>
        <p:spPr>
          <a:xfrm>
            <a:off x="1318660" y="2599425"/>
            <a:ext cx="10568540" cy="69115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/>
              <a:t>将报文构造成若干个更小的分组进行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分组交换</a:t>
            </a:r>
            <a:r>
              <a:rPr lang="zh-CN" altLang="en-US" b="1" dirty="0"/>
              <a:t>，比将整个报文进行报文交换的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时延要小</a:t>
            </a:r>
            <a:r>
              <a:rPr lang="zh-CN" altLang="en-US" b="1" dirty="0"/>
              <a:t>，并且还可以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避免太长的报文长时间占用链路</a:t>
            </a:r>
            <a:r>
              <a:rPr lang="zh-CN" altLang="en-US" b="1" dirty="0"/>
              <a:t>，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有利于差错控制</a:t>
            </a:r>
            <a:r>
              <a:rPr lang="zh-CN" altLang="en-US" b="1" dirty="0"/>
              <a:t>，同时具有更好的灵活性。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1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  <p:bldP spid="121" grpId="0"/>
      <p:bldP spid="124" grpId="0" animBg="1"/>
      <p:bldP spid="125" grpId="0"/>
      <p:bldP spid="126" grpId="0" animBg="1"/>
      <p:bldP spid="1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íşlïḋé">
            <a:extLst>
              <a:ext uri="{FF2B5EF4-FFF2-40B4-BE49-F238E27FC236}">
                <a16:creationId xmlns:a16="http://schemas.microsoft.com/office/drawing/2014/main" id="{F8609D53-0A3E-4940-99A3-36AC69333BB6}"/>
              </a:ext>
            </a:extLst>
          </p:cNvPr>
          <p:cNvSpPr txBox="1"/>
          <p:nvPr/>
        </p:nvSpPr>
        <p:spPr>
          <a:xfrm>
            <a:off x="6436660" y="5744302"/>
            <a:ext cx="812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独立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sz="1600" b="1" dirty="0">
                <a:solidFill>
                  <a:schemeClr val="accent5"/>
                </a:solidFill>
              </a:rPr>
              <a:t>运行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</p:txBody>
      </p:sp>
      <p:sp>
        <p:nvSpPr>
          <p:cNvPr id="62" name="íşlïḋé">
            <a:extLst>
              <a:ext uri="{FF2B5EF4-FFF2-40B4-BE49-F238E27FC236}">
                <a16:creationId xmlns:a16="http://schemas.microsoft.com/office/drawing/2014/main" id="{641C4DD6-12D0-4898-8BEE-3F4D50DF13C4}"/>
              </a:ext>
            </a:extLst>
          </p:cNvPr>
          <p:cNvSpPr txBox="1"/>
          <p:nvPr/>
        </p:nvSpPr>
        <p:spPr>
          <a:xfrm>
            <a:off x="7729469" y="5744302"/>
            <a:ext cx="812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独立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sz="1600" b="1" dirty="0">
                <a:solidFill>
                  <a:schemeClr val="accent5"/>
                </a:solidFill>
              </a:rPr>
              <a:t>运行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</p:txBody>
      </p:sp>
      <p:sp>
        <p:nvSpPr>
          <p:cNvPr id="63" name="íşlïḋé">
            <a:extLst>
              <a:ext uri="{FF2B5EF4-FFF2-40B4-BE49-F238E27FC236}">
                <a16:creationId xmlns:a16="http://schemas.microsoft.com/office/drawing/2014/main" id="{EB85ADA7-B08A-48F6-8946-EFBFE3B87CC6}"/>
              </a:ext>
            </a:extLst>
          </p:cNvPr>
          <p:cNvSpPr txBox="1"/>
          <p:nvPr/>
        </p:nvSpPr>
        <p:spPr>
          <a:xfrm>
            <a:off x="9460916" y="5744302"/>
            <a:ext cx="812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独立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sz="1600" b="1" dirty="0">
                <a:solidFill>
                  <a:schemeClr val="accent5"/>
                </a:solidFill>
              </a:rPr>
              <a:t>运行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</p:txBody>
      </p:sp>
      <p:sp>
        <p:nvSpPr>
          <p:cNvPr id="64" name="íşlïḋé">
            <a:extLst>
              <a:ext uri="{FF2B5EF4-FFF2-40B4-BE49-F238E27FC236}">
                <a16:creationId xmlns:a16="http://schemas.microsoft.com/office/drawing/2014/main" id="{95276AF8-1261-447D-A65F-D7F05EC7E766}"/>
              </a:ext>
            </a:extLst>
          </p:cNvPr>
          <p:cNvSpPr txBox="1"/>
          <p:nvPr/>
        </p:nvSpPr>
        <p:spPr>
          <a:xfrm>
            <a:off x="10862312" y="5744302"/>
            <a:ext cx="812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独立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sz="1600" b="1" dirty="0">
                <a:solidFill>
                  <a:schemeClr val="accent5"/>
                </a:solidFill>
              </a:rPr>
              <a:t>运行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</p:txBody>
      </p:sp>
      <p:sp>
        <p:nvSpPr>
          <p:cNvPr id="65" name="íşlïḋé">
            <a:extLst>
              <a:ext uri="{FF2B5EF4-FFF2-40B4-BE49-F238E27FC236}">
                <a16:creationId xmlns:a16="http://schemas.microsoft.com/office/drawing/2014/main" id="{B85754A5-BBFA-46B6-AFDA-5F3E294D4FCE}"/>
              </a:ext>
            </a:extLst>
          </p:cNvPr>
          <p:cNvSpPr txBox="1"/>
          <p:nvPr/>
        </p:nvSpPr>
        <p:spPr>
          <a:xfrm>
            <a:off x="6762107" y="1569605"/>
            <a:ext cx="812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独立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sz="1600" b="1" dirty="0">
                <a:solidFill>
                  <a:schemeClr val="accent5"/>
                </a:solidFill>
              </a:rPr>
              <a:t>运行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</p:txBody>
      </p:sp>
      <p:sp>
        <p:nvSpPr>
          <p:cNvPr id="66" name="íşlïḋé">
            <a:extLst>
              <a:ext uri="{FF2B5EF4-FFF2-40B4-BE49-F238E27FC236}">
                <a16:creationId xmlns:a16="http://schemas.microsoft.com/office/drawing/2014/main" id="{C25B9DC8-69D2-41C4-9804-BE982C54BF41}"/>
              </a:ext>
            </a:extLst>
          </p:cNvPr>
          <p:cNvSpPr txBox="1"/>
          <p:nvPr/>
        </p:nvSpPr>
        <p:spPr>
          <a:xfrm>
            <a:off x="8773373" y="1210545"/>
            <a:ext cx="812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独立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sz="1600" b="1" dirty="0">
                <a:solidFill>
                  <a:schemeClr val="accent5"/>
                </a:solidFill>
              </a:rPr>
              <a:t>运行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</p:txBody>
      </p:sp>
      <p:sp>
        <p:nvSpPr>
          <p:cNvPr id="67" name="íşlïḋé">
            <a:extLst>
              <a:ext uri="{FF2B5EF4-FFF2-40B4-BE49-F238E27FC236}">
                <a16:creationId xmlns:a16="http://schemas.microsoft.com/office/drawing/2014/main" id="{00E55981-786F-48F9-80CE-95B6454A2843}"/>
              </a:ext>
            </a:extLst>
          </p:cNvPr>
          <p:cNvSpPr txBox="1"/>
          <p:nvPr/>
        </p:nvSpPr>
        <p:spPr>
          <a:xfrm>
            <a:off x="10469968" y="1569605"/>
            <a:ext cx="812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</a:rPr>
              <a:t>独立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sz="1600" b="1" dirty="0">
                <a:solidFill>
                  <a:schemeClr val="accent5"/>
                </a:solidFill>
              </a:rPr>
              <a:t>运行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计算机网络的定义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2DC8C8C-0880-4D44-88CD-0231C2766000}"/>
              </a:ext>
            </a:extLst>
          </p:cNvPr>
          <p:cNvGrpSpPr/>
          <p:nvPr/>
        </p:nvGrpSpPr>
        <p:grpSpPr>
          <a:xfrm>
            <a:off x="2328951" y="1576140"/>
            <a:ext cx="1752824" cy="1752824"/>
            <a:chOff x="2352112" y="1855564"/>
            <a:chExt cx="2138680" cy="2138680"/>
          </a:xfrm>
        </p:grpSpPr>
        <p:sp>
          <p:nvSpPr>
            <p:cNvPr id="148" name="îṧ1îḋe">
              <a:extLst>
                <a:ext uri="{FF2B5EF4-FFF2-40B4-BE49-F238E27FC236}">
                  <a16:creationId xmlns:a16="http://schemas.microsoft.com/office/drawing/2014/main" id="{58494977-103F-4498-9D7A-981626270791}"/>
                </a:ext>
              </a:extLst>
            </p:cNvPr>
            <p:cNvSpPr/>
            <p:nvPr/>
          </p:nvSpPr>
          <p:spPr>
            <a:xfrm>
              <a:off x="2352112" y="1855564"/>
              <a:ext cx="2138680" cy="2138680"/>
            </a:xfrm>
            <a:prstGeom prst="ellipse">
              <a:avLst/>
            </a:prstGeom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60000">
                  <a:schemeClr val="accent3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>
                <a:solidFill>
                  <a:schemeClr val="bg1"/>
                </a:solidFill>
              </a:endParaRPr>
            </a:p>
          </p:txBody>
        </p:sp>
        <p:sp>
          <p:nvSpPr>
            <p:cNvPr id="164" name="î$1ídè">
              <a:extLst>
                <a:ext uri="{FF2B5EF4-FFF2-40B4-BE49-F238E27FC236}">
                  <a16:creationId xmlns:a16="http://schemas.microsoft.com/office/drawing/2014/main" id="{8049639C-78EE-4194-A10A-8383E614C3ED}"/>
                </a:ext>
              </a:extLst>
            </p:cNvPr>
            <p:cNvSpPr/>
            <p:nvPr/>
          </p:nvSpPr>
          <p:spPr>
            <a:xfrm>
              <a:off x="3208095" y="2105508"/>
              <a:ext cx="465494" cy="433167"/>
            </a:xfrm>
            <a:custGeom>
              <a:avLst/>
              <a:gdLst>
                <a:gd name="T0" fmla="*/ 3704 w 4110"/>
                <a:gd name="T1" fmla="*/ 2829 h 3830"/>
                <a:gd name="T2" fmla="*/ 3704 w 4110"/>
                <a:gd name="T3" fmla="*/ 2157 h 3830"/>
                <a:gd name="T4" fmla="*/ 3524 w 4110"/>
                <a:gd name="T5" fmla="*/ 1977 h 3830"/>
                <a:gd name="T6" fmla="*/ 2155 w 4110"/>
                <a:gd name="T7" fmla="*/ 1977 h 3830"/>
                <a:gd name="T8" fmla="*/ 2155 w 4110"/>
                <a:gd name="T9" fmla="*/ 1397 h 3830"/>
                <a:gd name="T10" fmla="*/ 2758 w 4110"/>
                <a:gd name="T11" fmla="*/ 702 h 3830"/>
                <a:gd name="T12" fmla="*/ 2055 w 4110"/>
                <a:gd name="T13" fmla="*/ 0 h 3830"/>
                <a:gd name="T14" fmla="*/ 1352 w 4110"/>
                <a:gd name="T15" fmla="*/ 702 h 3830"/>
                <a:gd name="T16" fmla="*/ 1955 w 4110"/>
                <a:gd name="T17" fmla="*/ 1397 h 3830"/>
                <a:gd name="T18" fmla="*/ 1955 w 4110"/>
                <a:gd name="T19" fmla="*/ 1977 h 3830"/>
                <a:gd name="T20" fmla="*/ 586 w 4110"/>
                <a:gd name="T21" fmla="*/ 1977 h 3830"/>
                <a:gd name="T22" fmla="*/ 406 w 4110"/>
                <a:gd name="T23" fmla="*/ 2157 h 3830"/>
                <a:gd name="T24" fmla="*/ 406 w 4110"/>
                <a:gd name="T25" fmla="*/ 2829 h 3830"/>
                <a:gd name="T26" fmla="*/ 0 w 4110"/>
                <a:gd name="T27" fmla="*/ 3325 h 3830"/>
                <a:gd name="T28" fmla="*/ 506 w 4110"/>
                <a:gd name="T29" fmla="*/ 3830 h 3830"/>
                <a:gd name="T30" fmla="*/ 1012 w 4110"/>
                <a:gd name="T31" fmla="*/ 3325 h 3830"/>
                <a:gd name="T32" fmla="*/ 606 w 4110"/>
                <a:gd name="T33" fmla="*/ 2829 h 3830"/>
                <a:gd name="T34" fmla="*/ 606 w 4110"/>
                <a:gd name="T35" fmla="*/ 2177 h 3830"/>
                <a:gd name="T36" fmla="*/ 1955 w 4110"/>
                <a:gd name="T37" fmla="*/ 2177 h 3830"/>
                <a:gd name="T38" fmla="*/ 1955 w 4110"/>
                <a:gd name="T39" fmla="*/ 2829 h 3830"/>
                <a:gd name="T40" fmla="*/ 1549 w 4110"/>
                <a:gd name="T41" fmla="*/ 3325 h 3830"/>
                <a:gd name="T42" fmla="*/ 2055 w 4110"/>
                <a:gd name="T43" fmla="*/ 3830 h 3830"/>
                <a:gd name="T44" fmla="*/ 2561 w 4110"/>
                <a:gd name="T45" fmla="*/ 3325 h 3830"/>
                <a:gd name="T46" fmla="*/ 2155 w 4110"/>
                <a:gd name="T47" fmla="*/ 2829 h 3830"/>
                <a:gd name="T48" fmla="*/ 2155 w 4110"/>
                <a:gd name="T49" fmla="*/ 2177 h 3830"/>
                <a:gd name="T50" fmla="*/ 3504 w 4110"/>
                <a:gd name="T51" fmla="*/ 2177 h 3830"/>
                <a:gd name="T52" fmla="*/ 3504 w 4110"/>
                <a:gd name="T53" fmla="*/ 2829 h 3830"/>
                <a:gd name="T54" fmla="*/ 3098 w 4110"/>
                <a:gd name="T55" fmla="*/ 3325 h 3830"/>
                <a:gd name="T56" fmla="*/ 3604 w 4110"/>
                <a:gd name="T57" fmla="*/ 3830 h 3830"/>
                <a:gd name="T58" fmla="*/ 4110 w 4110"/>
                <a:gd name="T59" fmla="*/ 3325 h 3830"/>
                <a:gd name="T60" fmla="*/ 3704 w 4110"/>
                <a:gd name="T61" fmla="*/ 2829 h 3830"/>
                <a:gd name="T62" fmla="*/ 1552 w 4110"/>
                <a:gd name="T63" fmla="*/ 702 h 3830"/>
                <a:gd name="T64" fmla="*/ 2055 w 4110"/>
                <a:gd name="T65" fmla="*/ 200 h 3830"/>
                <a:gd name="T66" fmla="*/ 2558 w 4110"/>
                <a:gd name="T67" fmla="*/ 702 h 3830"/>
                <a:gd name="T68" fmla="*/ 2055 w 4110"/>
                <a:gd name="T69" fmla="*/ 1205 h 3830"/>
                <a:gd name="T70" fmla="*/ 1552 w 4110"/>
                <a:gd name="T71" fmla="*/ 702 h 3830"/>
                <a:gd name="T72" fmla="*/ 812 w 4110"/>
                <a:gd name="T73" fmla="*/ 3325 h 3830"/>
                <a:gd name="T74" fmla="*/ 506 w 4110"/>
                <a:gd name="T75" fmla="*/ 3630 h 3830"/>
                <a:gd name="T76" fmla="*/ 200 w 4110"/>
                <a:gd name="T77" fmla="*/ 3325 h 3830"/>
                <a:gd name="T78" fmla="*/ 506 w 4110"/>
                <a:gd name="T79" fmla="*/ 3019 h 3830"/>
                <a:gd name="T80" fmla="*/ 812 w 4110"/>
                <a:gd name="T81" fmla="*/ 3325 h 3830"/>
                <a:gd name="T82" fmla="*/ 2361 w 4110"/>
                <a:gd name="T83" fmla="*/ 3325 h 3830"/>
                <a:gd name="T84" fmla="*/ 2055 w 4110"/>
                <a:gd name="T85" fmla="*/ 3630 h 3830"/>
                <a:gd name="T86" fmla="*/ 1749 w 4110"/>
                <a:gd name="T87" fmla="*/ 3325 h 3830"/>
                <a:gd name="T88" fmla="*/ 2055 w 4110"/>
                <a:gd name="T89" fmla="*/ 3019 h 3830"/>
                <a:gd name="T90" fmla="*/ 2361 w 4110"/>
                <a:gd name="T91" fmla="*/ 3325 h 3830"/>
                <a:gd name="T92" fmla="*/ 3604 w 4110"/>
                <a:gd name="T93" fmla="*/ 3630 h 3830"/>
                <a:gd name="T94" fmla="*/ 3298 w 4110"/>
                <a:gd name="T95" fmla="*/ 3325 h 3830"/>
                <a:gd name="T96" fmla="*/ 3604 w 4110"/>
                <a:gd name="T97" fmla="*/ 3019 h 3830"/>
                <a:gd name="T98" fmla="*/ 3910 w 4110"/>
                <a:gd name="T99" fmla="*/ 3325 h 3830"/>
                <a:gd name="T100" fmla="*/ 3604 w 4110"/>
                <a:gd name="T101" fmla="*/ 3630 h 3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110" h="3830">
                  <a:moveTo>
                    <a:pt x="3704" y="2829"/>
                  </a:moveTo>
                  <a:lnTo>
                    <a:pt x="3704" y="2157"/>
                  </a:lnTo>
                  <a:cubicBezTo>
                    <a:pt x="3704" y="2057"/>
                    <a:pt x="3623" y="1977"/>
                    <a:pt x="3524" y="1977"/>
                  </a:cubicBezTo>
                  <a:lnTo>
                    <a:pt x="2155" y="1977"/>
                  </a:lnTo>
                  <a:lnTo>
                    <a:pt x="2155" y="1397"/>
                  </a:lnTo>
                  <a:cubicBezTo>
                    <a:pt x="2495" y="1349"/>
                    <a:pt x="2758" y="1056"/>
                    <a:pt x="2758" y="702"/>
                  </a:cubicBezTo>
                  <a:cubicBezTo>
                    <a:pt x="2758" y="315"/>
                    <a:pt x="2442" y="0"/>
                    <a:pt x="2055" y="0"/>
                  </a:cubicBezTo>
                  <a:cubicBezTo>
                    <a:pt x="1668" y="0"/>
                    <a:pt x="1352" y="315"/>
                    <a:pt x="1352" y="702"/>
                  </a:cubicBezTo>
                  <a:cubicBezTo>
                    <a:pt x="1352" y="1056"/>
                    <a:pt x="1615" y="1349"/>
                    <a:pt x="1955" y="1397"/>
                  </a:cubicBezTo>
                  <a:lnTo>
                    <a:pt x="1955" y="1977"/>
                  </a:lnTo>
                  <a:lnTo>
                    <a:pt x="586" y="1977"/>
                  </a:lnTo>
                  <a:cubicBezTo>
                    <a:pt x="487" y="1977"/>
                    <a:pt x="406" y="2057"/>
                    <a:pt x="406" y="2157"/>
                  </a:cubicBezTo>
                  <a:lnTo>
                    <a:pt x="406" y="2829"/>
                  </a:lnTo>
                  <a:cubicBezTo>
                    <a:pt x="175" y="2875"/>
                    <a:pt x="0" y="3080"/>
                    <a:pt x="0" y="3325"/>
                  </a:cubicBezTo>
                  <a:cubicBezTo>
                    <a:pt x="0" y="3604"/>
                    <a:pt x="227" y="3830"/>
                    <a:pt x="506" y="3830"/>
                  </a:cubicBezTo>
                  <a:cubicBezTo>
                    <a:pt x="785" y="3830"/>
                    <a:pt x="1012" y="3604"/>
                    <a:pt x="1012" y="3325"/>
                  </a:cubicBezTo>
                  <a:cubicBezTo>
                    <a:pt x="1012" y="3080"/>
                    <a:pt x="837" y="2875"/>
                    <a:pt x="606" y="2829"/>
                  </a:cubicBezTo>
                  <a:lnTo>
                    <a:pt x="606" y="2177"/>
                  </a:lnTo>
                  <a:lnTo>
                    <a:pt x="1955" y="2177"/>
                  </a:lnTo>
                  <a:lnTo>
                    <a:pt x="1955" y="2829"/>
                  </a:lnTo>
                  <a:cubicBezTo>
                    <a:pt x="1724" y="2875"/>
                    <a:pt x="1549" y="3080"/>
                    <a:pt x="1549" y="3325"/>
                  </a:cubicBezTo>
                  <a:cubicBezTo>
                    <a:pt x="1549" y="3604"/>
                    <a:pt x="1776" y="3830"/>
                    <a:pt x="2055" y="3830"/>
                  </a:cubicBezTo>
                  <a:cubicBezTo>
                    <a:pt x="2334" y="3830"/>
                    <a:pt x="2561" y="3604"/>
                    <a:pt x="2561" y="3325"/>
                  </a:cubicBezTo>
                  <a:cubicBezTo>
                    <a:pt x="2561" y="3080"/>
                    <a:pt x="2386" y="2875"/>
                    <a:pt x="2155" y="2829"/>
                  </a:cubicBezTo>
                  <a:lnTo>
                    <a:pt x="2155" y="2177"/>
                  </a:lnTo>
                  <a:lnTo>
                    <a:pt x="3504" y="2177"/>
                  </a:lnTo>
                  <a:lnTo>
                    <a:pt x="3504" y="2829"/>
                  </a:lnTo>
                  <a:cubicBezTo>
                    <a:pt x="3273" y="2875"/>
                    <a:pt x="3098" y="3080"/>
                    <a:pt x="3098" y="3325"/>
                  </a:cubicBezTo>
                  <a:cubicBezTo>
                    <a:pt x="3098" y="3604"/>
                    <a:pt x="3325" y="3830"/>
                    <a:pt x="3604" y="3830"/>
                  </a:cubicBezTo>
                  <a:cubicBezTo>
                    <a:pt x="3883" y="3830"/>
                    <a:pt x="4110" y="3604"/>
                    <a:pt x="4110" y="3325"/>
                  </a:cubicBezTo>
                  <a:cubicBezTo>
                    <a:pt x="4110" y="3080"/>
                    <a:pt x="3935" y="2875"/>
                    <a:pt x="3704" y="2829"/>
                  </a:cubicBezTo>
                  <a:close/>
                  <a:moveTo>
                    <a:pt x="1552" y="702"/>
                  </a:moveTo>
                  <a:cubicBezTo>
                    <a:pt x="1552" y="425"/>
                    <a:pt x="1778" y="200"/>
                    <a:pt x="2055" y="200"/>
                  </a:cubicBezTo>
                  <a:cubicBezTo>
                    <a:pt x="2332" y="200"/>
                    <a:pt x="2558" y="425"/>
                    <a:pt x="2558" y="702"/>
                  </a:cubicBezTo>
                  <a:cubicBezTo>
                    <a:pt x="2558" y="979"/>
                    <a:pt x="2332" y="1205"/>
                    <a:pt x="2055" y="1205"/>
                  </a:cubicBezTo>
                  <a:cubicBezTo>
                    <a:pt x="1778" y="1205"/>
                    <a:pt x="1552" y="979"/>
                    <a:pt x="1552" y="702"/>
                  </a:cubicBezTo>
                  <a:close/>
                  <a:moveTo>
                    <a:pt x="812" y="3325"/>
                  </a:moveTo>
                  <a:cubicBezTo>
                    <a:pt x="812" y="3493"/>
                    <a:pt x="674" y="3630"/>
                    <a:pt x="506" y="3630"/>
                  </a:cubicBezTo>
                  <a:cubicBezTo>
                    <a:pt x="337" y="3630"/>
                    <a:pt x="200" y="3493"/>
                    <a:pt x="200" y="3325"/>
                  </a:cubicBezTo>
                  <a:cubicBezTo>
                    <a:pt x="200" y="3156"/>
                    <a:pt x="337" y="3019"/>
                    <a:pt x="506" y="3019"/>
                  </a:cubicBezTo>
                  <a:cubicBezTo>
                    <a:pt x="674" y="3019"/>
                    <a:pt x="812" y="3156"/>
                    <a:pt x="812" y="3325"/>
                  </a:cubicBezTo>
                  <a:close/>
                  <a:moveTo>
                    <a:pt x="2361" y="3325"/>
                  </a:moveTo>
                  <a:cubicBezTo>
                    <a:pt x="2361" y="3493"/>
                    <a:pt x="2224" y="3630"/>
                    <a:pt x="2055" y="3630"/>
                  </a:cubicBezTo>
                  <a:cubicBezTo>
                    <a:pt x="1886" y="3630"/>
                    <a:pt x="1749" y="3493"/>
                    <a:pt x="1749" y="3325"/>
                  </a:cubicBezTo>
                  <a:cubicBezTo>
                    <a:pt x="1749" y="3156"/>
                    <a:pt x="1886" y="3019"/>
                    <a:pt x="2055" y="3019"/>
                  </a:cubicBezTo>
                  <a:cubicBezTo>
                    <a:pt x="2224" y="3019"/>
                    <a:pt x="2361" y="3156"/>
                    <a:pt x="2361" y="3325"/>
                  </a:cubicBezTo>
                  <a:close/>
                  <a:moveTo>
                    <a:pt x="3604" y="3630"/>
                  </a:moveTo>
                  <a:cubicBezTo>
                    <a:pt x="3436" y="3630"/>
                    <a:pt x="3298" y="3493"/>
                    <a:pt x="3298" y="3325"/>
                  </a:cubicBezTo>
                  <a:cubicBezTo>
                    <a:pt x="3298" y="3156"/>
                    <a:pt x="3436" y="3019"/>
                    <a:pt x="3604" y="3019"/>
                  </a:cubicBezTo>
                  <a:cubicBezTo>
                    <a:pt x="3773" y="3019"/>
                    <a:pt x="3910" y="3156"/>
                    <a:pt x="3910" y="3325"/>
                  </a:cubicBezTo>
                  <a:cubicBezTo>
                    <a:pt x="3910" y="3493"/>
                    <a:pt x="3773" y="3630"/>
                    <a:pt x="3604" y="363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50" name="iṧliḋe">
              <a:extLst>
                <a:ext uri="{FF2B5EF4-FFF2-40B4-BE49-F238E27FC236}">
                  <a16:creationId xmlns:a16="http://schemas.microsoft.com/office/drawing/2014/main" id="{26468864-2959-406C-B517-692859FB339A}"/>
                </a:ext>
              </a:extLst>
            </p:cNvPr>
            <p:cNvSpPr txBox="1"/>
            <p:nvPr/>
          </p:nvSpPr>
          <p:spPr>
            <a:xfrm>
              <a:off x="2898310" y="2720829"/>
              <a:ext cx="10669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rgbClr val="FFFFFF"/>
                  </a:solidFill>
                </a:defRPr>
              </a:lvl1pPr>
            </a:lstStyle>
            <a:p>
              <a:r>
                <a:rPr lang="zh-CN" altLang="en-US" sz="2000" dirty="0"/>
                <a:t>互连</a:t>
              </a:r>
              <a:endParaRPr lang="en-US" altLang="zh-CN" sz="2000" dirty="0"/>
            </a:p>
          </p:txBody>
        </p:sp>
      </p:grpSp>
      <p:sp>
        <p:nvSpPr>
          <p:cNvPr id="160" name="íşlïḋé">
            <a:extLst>
              <a:ext uri="{FF2B5EF4-FFF2-40B4-BE49-F238E27FC236}">
                <a16:creationId xmlns:a16="http://schemas.microsoft.com/office/drawing/2014/main" id="{746B8005-E45B-4083-ABD5-62C2E66D9DCB}"/>
              </a:ext>
            </a:extLst>
          </p:cNvPr>
          <p:cNvSpPr txBox="1"/>
          <p:nvPr/>
        </p:nvSpPr>
        <p:spPr>
          <a:xfrm>
            <a:off x="1875521" y="3627041"/>
            <a:ext cx="29166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sz="2400" b="1" dirty="0"/>
              <a:t>计算机网络早期的一个最简单定义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9567A20-3F46-4F12-AEA3-A1174BE220BF}"/>
              </a:ext>
            </a:extLst>
          </p:cNvPr>
          <p:cNvGrpSpPr/>
          <p:nvPr/>
        </p:nvGrpSpPr>
        <p:grpSpPr>
          <a:xfrm>
            <a:off x="339439" y="4339273"/>
            <a:ext cx="1752824" cy="1752824"/>
            <a:chOff x="5026660" y="1855564"/>
            <a:chExt cx="2138680" cy="2138680"/>
          </a:xfrm>
        </p:grpSpPr>
        <p:sp>
          <p:nvSpPr>
            <p:cNvPr id="152" name="íṩḻîďé">
              <a:extLst>
                <a:ext uri="{FF2B5EF4-FFF2-40B4-BE49-F238E27FC236}">
                  <a16:creationId xmlns:a16="http://schemas.microsoft.com/office/drawing/2014/main" id="{1AD6B14C-F366-4D4D-B5ED-24E1CD374255}"/>
                </a:ext>
              </a:extLst>
            </p:cNvPr>
            <p:cNvSpPr/>
            <p:nvPr/>
          </p:nvSpPr>
          <p:spPr>
            <a:xfrm>
              <a:off x="5026660" y="1855564"/>
              <a:ext cx="2138680" cy="2138680"/>
            </a:xfrm>
            <a:prstGeom prst="ellipse">
              <a:avLst/>
            </a:prstGeom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60000">
                  <a:schemeClr val="accent5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>
                <a:solidFill>
                  <a:schemeClr val="bg1"/>
                </a:solidFill>
              </a:endParaRPr>
            </a:p>
          </p:txBody>
        </p:sp>
        <p:sp>
          <p:nvSpPr>
            <p:cNvPr id="165" name="isļïḓê">
              <a:extLst>
                <a:ext uri="{FF2B5EF4-FFF2-40B4-BE49-F238E27FC236}">
                  <a16:creationId xmlns:a16="http://schemas.microsoft.com/office/drawing/2014/main" id="{58B309DA-5E74-410D-8B97-DF08EC014519}"/>
                </a:ext>
              </a:extLst>
            </p:cNvPr>
            <p:cNvSpPr/>
            <p:nvPr/>
          </p:nvSpPr>
          <p:spPr>
            <a:xfrm>
              <a:off x="5873117" y="2118831"/>
              <a:ext cx="450498" cy="449781"/>
            </a:xfrm>
            <a:custGeom>
              <a:avLst/>
              <a:gdLst>
                <a:gd name="connsiteX0" fmla="*/ 212616 w 602040"/>
                <a:gd name="connsiteY0" fmla="*/ 208325 h 601084"/>
                <a:gd name="connsiteX1" fmla="*/ 389423 w 602040"/>
                <a:gd name="connsiteY1" fmla="*/ 208325 h 601084"/>
                <a:gd name="connsiteX2" fmla="*/ 393396 w 602040"/>
                <a:gd name="connsiteY2" fmla="*/ 212291 h 601084"/>
                <a:gd name="connsiteX3" fmla="*/ 393396 w 602040"/>
                <a:gd name="connsiteY3" fmla="*/ 388793 h 601084"/>
                <a:gd name="connsiteX4" fmla="*/ 389423 w 602040"/>
                <a:gd name="connsiteY4" fmla="*/ 392759 h 601084"/>
                <a:gd name="connsiteX5" fmla="*/ 212616 w 602040"/>
                <a:gd name="connsiteY5" fmla="*/ 392759 h 601084"/>
                <a:gd name="connsiteX6" fmla="*/ 208643 w 602040"/>
                <a:gd name="connsiteY6" fmla="*/ 388793 h 601084"/>
                <a:gd name="connsiteX7" fmla="*/ 208643 w 602040"/>
                <a:gd name="connsiteY7" fmla="*/ 212291 h 601084"/>
                <a:gd name="connsiteX8" fmla="*/ 212616 w 602040"/>
                <a:gd name="connsiteY8" fmla="*/ 208325 h 601084"/>
                <a:gd name="connsiteX9" fmla="*/ 212602 w 602040"/>
                <a:gd name="connsiteY9" fmla="*/ 153743 h 601084"/>
                <a:gd name="connsiteX10" fmla="*/ 153987 w 602040"/>
                <a:gd name="connsiteY10" fmla="*/ 212264 h 601084"/>
                <a:gd name="connsiteX11" fmla="*/ 153987 w 602040"/>
                <a:gd name="connsiteY11" fmla="*/ 388820 h 601084"/>
                <a:gd name="connsiteX12" fmla="*/ 212602 w 602040"/>
                <a:gd name="connsiteY12" fmla="*/ 447342 h 601084"/>
                <a:gd name="connsiteX13" fmla="*/ 389438 w 602040"/>
                <a:gd name="connsiteY13" fmla="*/ 447342 h 601084"/>
                <a:gd name="connsiteX14" fmla="*/ 448053 w 602040"/>
                <a:gd name="connsiteY14" fmla="*/ 388820 h 601084"/>
                <a:gd name="connsiteX15" fmla="*/ 448053 w 602040"/>
                <a:gd name="connsiteY15" fmla="*/ 212264 h 601084"/>
                <a:gd name="connsiteX16" fmla="*/ 389438 w 602040"/>
                <a:gd name="connsiteY16" fmla="*/ 153743 h 601084"/>
                <a:gd name="connsiteX17" fmla="*/ 204654 w 602040"/>
                <a:gd name="connsiteY17" fmla="*/ 0 h 601084"/>
                <a:gd name="connsiteX18" fmla="*/ 239425 w 602040"/>
                <a:gd name="connsiteY18" fmla="*/ 33724 h 601084"/>
                <a:gd name="connsiteX19" fmla="*/ 239425 w 602040"/>
                <a:gd name="connsiteY19" fmla="*/ 87286 h 601084"/>
                <a:gd name="connsiteX20" fmla="*/ 267242 w 602040"/>
                <a:gd name="connsiteY20" fmla="*/ 87286 h 601084"/>
                <a:gd name="connsiteX21" fmla="*/ 267242 w 602040"/>
                <a:gd name="connsiteY21" fmla="*/ 33724 h 601084"/>
                <a:gd name="connsiteX22" fmla="*/ 301020 w 602040"/>
                <a:gd name="connsiteY22" fmla="*/ 0 h 601084"/>
                <a:gd name="connsiteX23" fmla="*/ 334798 w 602040"/>
                <a:gd name="connsiteY23" fmla="*/ 33724 h 601084"/>
                <a:gd name="connsiteX24" fmla="*/ 334798 w 602040"/>
                <a:gd name="connsiteY24" fmla="*/ 87286 h 601084"/>
                <a:gd name="connsiteX25" fmla="*/ 362615 w 602040"/>
                <a:gd name="connsiteY25" fmla="*/ 87286 h 601084"/>
                <a:gd name="connsiteX26" fmla="*/ 362615 w 602040"/>
                <a:gd name="connsiteY26" fmla="*/ 33724 h 601084"/>
                <a:gd name="connsiteX27" fmla="*/ 397386 w 602040"/>
                <a:gd name="connsiteY27" fmla="*/ 0 h 601084"/>
                <a:gd name="connsiteX28" fmla="*/ 431164 w 602040"/>
                <a:gd name="connsiteY28" fmla="*/ 33724 h 601084"/>
                <a:gd name="connsiteX29" fmla="*/ 431164 w 602040"/>
                <a:gd name="connsiteY29" fmla="*/ 87286 h 601084"/>
                <a:gd name="connsiteX30" fmla="*/ 514615 w 602040"/>
                <a:gd name="connsiteY30" fmla="*/ 170605 h 601084"/>
                <a:gd name="connsiteX31" fmla="*/ 568262 w 602040"/>
                <a:gd name="connsiteY31" fmla="*/ 170605 h 601084"/>
                <a:gd name="connsiteX32" fmla="*/ 602040 w 602040"/>
                <a:gd name="connsiteY32" fmla="*/ 204329 h 601084"/>
                <a:gd name="connsiteX33" fmla="*/ 568262 w 602040"/>
                <a:gd name="connsiteY33" fmla="*/ 239045 h 601084"/>
                <a:gd name="connsiteX34" fmla="*/ 514615 w 602040"/>
                <a:gd name="connsiteY34" fmla="*/ 239045 h 601084"/>
                <a:gd name="connsiteX35" fmla="*/ 514615 w 602040"/>
                <a:gd name="connsiteY35" fmla="*/ 266818 h 601084"/>
                <a:gd name="connsiteX36" fmla="*/ 568262 w 602040"/>
                <a:gd name="connsiteY36" fmla="*/ 266818 h 601084"/>
                <a:gd name="connsiteX37" fmla="*/ 602040 w 602040"/>
                <a:gd name="connsiteY37" fmla="*/ 300542 h 601084"/>
                <a:gd name="connsiteX38" fmla="*/ 568262 w 602040"/>
                <a:gd name="connsiteY38" fmla="*/ 334266 h 601084"/>
                <a:gd name="connsiteX39" fmla="*/ 514615 w 602040"/>
                <a:gd name="connsiteY39" fmla="*/ 334266 h 601084"/>
                <a:gd name="connsiteX40" fmla="*/ 514615 w 602040"/>
                <a:gd name="connsiteY40" fmla="*/ 362039 h 601084"/>
                <a:gd name="connsiteX41" fmla="*/ 568262 w 602040"/>
                <a:gd name="connsiteY41" fmla="*/ 362039 h 601084"/>
                <a:gd name="connsiteX42" fmla="*/ 602040 w 602040"/>
                <a:gd name="connsiteY42" fmla="*/ 396755 h 601084"/>
                <a:gd name="connsiteX43" fmla="*/ 568262 w 602040"/>
                <a:gd name="connsiteY43" fmla="*/ 430479 h 601084"/>
                <a:gd name="connsiteX44" fmla="*/ 514615 w 602040"/>
                <a:gd name="connsiteY44" fmla="*/ 430479 h 601084"/>
                <a:gd name="connsiteX45" fmla="*/ 431164 w 602040"/>
                <a:gd name="connsiteY45" fmla="*/ 513798 h 601084"/>
                <a:gd name="connsiteX46" fmla="*/ 431164 w 602040"/>
                <a:gd name="connsiteY46" fmla="*/ 567360 h 601084"/>
                <a:gd name="connsiteX47" fmla="*/ 397386 w 602040"/>
                <a:gd name="connsiteY47" fmla="*/ 601084 h 601084"/>
                <a:gd name="connsiteX48" fmla="*/ 362615 w 602040"/>
                <a:gd name="connsiteY48" fmla="*/ 567360 h 601084"/>
                <a:gd name="connsiteX49" fmla="*/ 362615 w 602040"/>
                <a:gd name="connsiteY49" fmla="*/ 513798 h 601084"/>
                <a:gd name="connsiteX50" fmla="*/ 334798 w 602040"/>
                <a:gd name="connsiteY50" fmla="*/ 513798 h 601084"/>
                <a:gd name="connsiteX51" fmla="*/ 334798 w 602040"/>
                <a:gd name="connsiteY51" fmla="*/ 567360 h 601084"/>
                <a:gd name="connsiteX52" fmla="*/ 301020 w 602040"/>
                <a:gd name="connsiteY52" fmla="*/ 601084 h 601084"/>
                <a:gd name="connsiteX53" fmla="*/ 267242 w 602040"/>
                <a:gd name="connsiteY53" fmla="*/ 567360 h 601084"/>
                <a:gd name="connsiteX54" fmla="*/ 267242 w 602040"/>
                <a:gd name="connsiteY54" fmla="*/ 513798 h 601084"/>
                <a:gd name="connsiteX55" fmla="*/ 239425 w 602040"/>
                <a:gd name="connsiteY55" fmla="*/ 513798 h 601084"/>
                <a:gd name="connsiteX56" fmla="*/ 239425 w 602040"/>
                <a:gd name="connsiteY56" fmla="*/ 567360 h 601084"/>
                <a:gd name="connsiteX57" fmla="*/ 204654 w 602040"/>
                <a:gd name="connsiteY57" fmla="*/ 601084 h 601084"/>
                <a:gd name="connsiteX58" fmla="*/ 170876 w 602040"/>
                <a:gd name="connsiteY58" fmla="*/ 567360 h 601084"/>
                <a:gd name="connsiteX59" fmla="*/ 170876 w 602040"/>
                <a:gd name="connsiteY59" fmla="*/ 513798 h 601084"/>
                <a:gd name="connsiteX60" fmla="*/ 87425 w 602040"/>
                <a:gd name="connsiteY60" fmla="*/ 430479 h 601084"/>
                <a:gd name="connsiteX61" fmla="*/ 33778 w 602040"/>
                <a:gd name="connsiteY61" fmla="*/ 430479 h 601084"/>
                <a:gd name="connsiteX62" fmla="*/ 0 w 602040"/>
                <a:gd name="connsiteY62" fmla="*/ 396755 h 601084"/>
                <a:gd name="connsiteX63" fmla="*/ 33778 w 602040"/>
                <a:gd name="connsiteY63" fmla="*/ 362039 h 601084"/>
                <a:gd name="connsiteX64" fmla="*/ 87425 w 602040"/>
                <a:gd name="connsiteY64" fmla="*/ 362039 h 601084"/>
                <a:gd name="connsiteX65" fmla="*/ 87425 w 602040"/>
                <a:gd name="connsiteY65" fmla="*/ 334266 h 601084"/>
                <a:gd name="connsiteX66" fmla="*/ 33778 w 602040"/>
                <a:gd name="connsiteY66" fmla="*/ 334266 h 601084"/>
                <a:gd name="connsiteX67" fmla="*/ 0 w 602040"/>
                <a:gd name="connsiteY67" fmla="*/ 300542 h 601084"/>
                <a:gd name="connsiteX68" fmla="*/ 33778 w 602040"/>
                <a:gd name="connsiteY68" fmla="*/ 266818 h 601084"/>
                <a:gd name="connsiteX69" fmla="*/ 87425 w 602040"/>
                <a:gd name="connsiteY69" fmla="*/ 266818 h 601084"/>
                <a:gd name="connsiteX70" fmla="*/ 87425 w 602040"/>
                <a:gd name="connsiteY70" fmla="*/ 239045 h 601084"/>
                <a:gd name="connsiteX71" fmla="*/ 33778 w 602040"/>
                <a:gd name="connsiteY71" fmla="*/ 239045 h 601084"/>
                <a:gd name="connsiteX72" fmla="*/ 0 w 602040"/>
                <a:gd name="connsiteY72" fmla="*/ 204329 h 601084"/>
                <a:gd name="connsiteX73" fmla="*/ 33778 w 602040"/>
                <a:gd name="connsiteY73" fmla="*/ 170605 h 601084"/>
                <a:gd name="connsiteX74" fmla="*/ 87425 w 602040"/>
                <a:gd name="connsiteY74" fmla="*/ 170605 h 601084"/>
                <a:gd name="connsiteX75" fmla="*/ 170876 w 602040"/>
                <a:gd name="connsiteY75" fmla="*/ 87286 h 601084"/>
                <a:gd name="connsiteX76" fmla="*/ 170876 w 602040"/>
                <a:gd name="connsiteY76" fmla="*/ 33724 h 601084"/>
                <a:gd name="connsiteX77" fmla="*/ 204654 w 602040"/>
                <a:gd name="connsiteY77" fmla="*/ 0 h 601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02040" h="601084">
                  <a:moveTo>
                    <a:pt x="212616" y="208325"/>
                  </a:moveTo>
                  <a:lnTo>
                    <a:pt x="389423" y="208325"/>
                  </a:lnTo>
                  <a:cubicBezTo>
                    <a:pt x="392403" y="208325"/>
                    <a:pt x="393396" y="210308"/>
                    <a:pt x="393396" y="212291"/>
                  </a:cubicBezTo>
                  <a:lnTo>
                    <a:pt x="393396" y="388793"/>
                  </a:lnTo>
                  <a:cubicBezTo>
                    <a:pt x="393396" y="391768"/>
                    <a:pt x="392403" y="392759"/>
                    <a:pt x="389423" y="392759"/>
                  </a:cubicBezTo>
                  <a:lnTo>
                    <a:pt x="212616" y="392759"/>
                  </a:lnTo>
                  <a:cubicBezTo>
                    <a:pt x="210630" y="392759"/>
                    <a:pt x="208643" y="391768"/>
                    <a:pt x="208643" y="388793"/>
                  </a:cubicBezTo>
                  <a:lnTo>
                    <a:pt x="208643" y="212291"/>
                  </a:lnTo>
                  <a:cubicBezTo>
                    <a:pt x="208643" y="210308"/>
                    <a:pt x="210630" y="208325"/>
                    <a:pt x="212616" y="208325"/>
                  </a:cubicBezTo>
                  <a:close/>
                  <a:moveTo>
                    <a:pt x="212602" y="153743"/>
                  </a:moveTo>
                  <a:cubicBezTo>
                    <a:pt x="179817" y="153743"/>
                    <a:pt x="153987" y="179532"/>
                    <a:pt x="153987" y="212264"/>
                  </a:cubicBezTo>
                  <a:lnTo>
                    <a:pt x="153987" y="388820"/>
                  </a:lnTo>
                  <a:cubicBezTo>
                    <a:pt x="153987" y="421552"/>
                    <a:pt x="179817" y="447342"/>
                    <a:pt x="212602" y="447342"/>
                  </a:cubicBezTo>
                  <a:lnTo>
                    <a:pt x="389438" y="447342"/>
                  </a:lnTo>
                  <a:cubicBezTo>
                    <a:pt x="422223" y="447342"/>
                    <a:pt x="448053" y="421552"/>
                    <a:pt x="448053" y="388820"/>
                  </a:cubicBezTo>
                  <a:lnTo>
                    <a:pt x="448053" y="212264"/>
                  </a:lnTo>
                  <a:cubicBezTo>
                    <a:pt x="448053" y="179532"/>
                    <a:pt x="422223" y="153743"/>
                    <a:pt x="389438" y="153743"/>
                  </a:cubicBezTo>
                  <a:close/>
                  <a:moveTo>
                    <a:pt x="204654" y="0"/>
                  </a:moveTo>
                  <a:cubicBezTo>
                    <a:pt x="223530" y="0"/>
                    <a:pt x="239425" y="14878"/>
                    <a:pt x="239425" y="33724"/>
                  </a:cubicBezTo>
                  <a:lnTo>
                    <a:pt x="239425" y="87286"/>
                  </a:lnTo>
                  <a:lnTo>
                    <a:pt x="267242" y="87286"/>
                  </a:lnTo>
                  <a:lnTo>
                    <a:pt x="267242" y="33724"/>
                  </a:lnTo>
                  <a:cubicBezTo>
                    <a:pt x="267242" y="14878"/>
                    <a:pt x="282144" y="0"/>
                    <a:pt x="301020" y="0"/>
                  </a:cubicBezTo>
                  <a:cubicBezTo>
                    <a:pt x="319896" y="0"/>
                    <a:pt x="334798" y="14878"/>
                    <a:pt x="334798" y="33724"/>
                  </a:cubicBezTo>
                  <a:lnTo>
                    <a:pt x="334798" y="87286"/>
                  </a:lnTo>
                  <a:lnTo>
                    <a:pt x="362615" y="87286"/>
                  </a:lnTo>
                  <a:lnTo>
                    <a:pt x="362615" y="33724"/>
                  </a:lnTo>
                  <a:cubicBezTo>
                    <a:pt x="362615" y="14878"/>
                    <a:pt x="378510" y="0"/>
                    <a:pt x="397386" y="0"/>
                  </a:cubicBezTo>
                  <a:cubicBezTo>
                    <a:pt x="416262" y="0"/>
                    <a:pt x="431164" y="14878"/>
                    <a:pt x="431164" y="33724"/>
                  </a:cubicBezTo>
                  <a:lnTo>
                    <a:pt x="431164" y="87286"/>
                  </a:lnTo>
                  <a:cubicBezTo>
                    <a:pt x="475870" y="91254"/>
                    <a:pt x="510641" y="125970"/>
                    <a:pt x="514615" y="170605"/>
                  </a:cubicBezTo>
                  <a:lnTo>
                    <a:pt x="568262" y="170605"/>
                  </a:lnTo>
                  <a:cubicBezTo>
                    <a:pt x="587138" y="170605"/>
                    <a:pt x="602040" y="185483"/>
                    <a:pt x="602040" y="204329"/>
                  </a:cubicBezTo>
                  <a:cubicBezTo>
                    <a:pt x="602040" y="223175"/>
                    <a:pt x="587138" y="239045"/>
                    <a:pt x="568262" y="239045"/>
                  </a:cubicBezTo>
                  <a:lnTo>
                    <a:pt x="514615" y="239045"/>
                  </a:lnTo>
                  <a:lnTo>
                    <a:pt x="514615" y="266818"/>
                  </a:lnTo>
                  <a:lnTo>
                    <a:pt x="568262" y="266818"/>
                  </a:lnTo>
                  <a:cubicBezTo>
                    <a:pt x="587138" y="266818"/>
                    <a:pt x="602040" y="281696"/>
                    <a:pt x="602040" y="300542"/>
                  </a:cubicBezTo>
                  <a:cubicBezTo>
                    <a:pt x="602040" y="319388"/>
                    <a:pt x="587138" y="334266"/>
                    <a:pt x="568262" y="334266"/>
                  </a:cubicBezTo>
                  <a:lnTo>
                    <a:pt x="514615" y="334266"/>
                  </a:lnTo>
                  <a:lnTo>
                    <a:pt x="514615" y="362039"/>
                  </a:lnTo>
                  <a:lnTo>
                    <a:pt x="568262" y="362039"/>
                  </a:lnTo>
                  <a:cubicBezTo>
                    <a:pt x="587138" y="362039"/>
                    <a:pt x="602040" y="377909"/>
                    <a:pt x="602040" y="396755"/>
                  </a:cubicBezTo>
                  <a:cubicBezTo>
                    <a:pt x="602040" y="415601"/>
                    <a:pt x="587138" y="430479"/>
                    <a:pt x="568262" y="430479"/>
                  </a:cubicBezTo>
                  <a:lnTo>
                    <a:pt x="514615" y="430479"/>
                  </a:lnTo>
                  <a:cubicBezTo>
                    <a:pt x="510641" y="475114"/>
                    <a:pt x="475870" y="509830"/>
                    <a:pt x="431164" y="513798"/>
                  </a:cubicBezTo>
                  <a:lnTo>
                    <a:pt x="431164" y="567360"/>
                  </a:lnTo>
                  <a:cubicBezTo>
                    <a:pt x="431164" y="586206"/>
                    <a:pt x="416262" y="601084"/>
                    <a:pt x="397386" y="601084"/>
                  </a:cubicBezTo>
                  <a:cubicBezTo>
                    <a:pt x="378510" y="601084"/>
                    <a:pt x="362615" y="586206"/>
                    <a:pt x="362615" y="567360"/>
                  </a:cubicBezTo>
                  <a:lnTo>
                    <a:pt x="362615" y="513798"/>
                  </a:lnTo>
                  <a:lnTo>
                    <a:pt x="334798" y="513798"/>
                  </a:lnTo>
                  <a:lnTo>
                    <a:pt x="334798" y="567360"/>
                  </a:lnTo>
                  <a:cubicBezTo>
                    <a:pt x="334798" y="586206"/>
                    <a:pt x="319896" y="601084"/>
                    <a:pt x="301020" y="601084"/>
                  </a:cubicBezTo>
                  <a:cubicBezTo>
                    <a:pt x="282144" y="601084"/>
                    <a:pt x="267242" y="586206"/>
                    <a:pt x="267242" y="567360"/>
                  </a:cubicBezTo>
                  <a:lnTo>
                    <a:pt x="267242" y="513798"/>
                  </a:lnTo>
                  <a:lnTo>
                    <a:pt x="239425" y="513798"/>
                  </a:lnTo>
                  <a:lnTo>
                    <a:pt x="239425" y="567360"/>
                  </a:lnTo>
                  <a:cubicBezTo>
                    <a:pt x="239425" y="586206"/>
                    <a:pt x="223530" y="601084"/>
                    <a:pt x="204654" y="601084"/>
                  </a:cubicBezTo>
                  <a:cubicBezTo>
                    <a:pt x="185778" y="601084"/>
                    <a:pt x="170876" y="586206"/>
                    <a:pt x="170876" y="567360"/>
                  </a:cubicBezTo>
                  <a:lnTo>
                    <a:pt x="170876" y="513798"/>
                  </a:lnTo>
                  <a:cubicBezTo>
                    <a:pt x="126170" y="509830"/>
                    <a:pt x="91399" y="475114"/>
                    <a:pt x="87425" y="430479"/>
                  </a:cubicBezTo>
                  <a:lnTo>
                    <a:pt x="33778" y="430479"/>
                  </a:lnTo>
                  <a:cubicBezTo>
                    <a:pt x="14902" y="430479"/>
                    <a:pt x="0" y="415601"/>
                    <a:pt x="0" y="396755"/>
                  </a:cubicBezTo>
                  <a:cubicBezTo>
                    <a:pt x="0" y="377909"/>
                    <a:pt x="14902" y="362039"/>
                    <a:pt x="33778" y="362039"/>
                  </a:cubicBezTo>
                  <a:lnTo>
                    <a:pt x="87425" y="362039"/>
                  </a:lnTo>
                  <a:lnTo>
                    <a:pt x="87425" y="334266"/>
                  </a:lnTo>
                  <a:lnTo>
                    <a:pt x="33778" y="334266"/>
                  </a:lnTo>
                  <a:cubicBezTo>
                    <a:pt x="14902" y="334266"/>
                    <a:pt x="0" y="319388"/>
                    <a:pt x="0" y="300542"/>
                  </a:cubicBezTo>
                  <a:cubicBezTo>
                    <a:pt x="0" y="281696"/>
                    <a:pt x="14902" y="266818"/>
                    <a:pt x="33778" y="266818"/>
                  </a:cubicBezTo>
                  <a:lnTo>
                    <a:pt x="87425" y="266818"/>
                  </a:lnTo>
                  <a:lnTo>
                    <a:pt x="87425" y="239045"/>
                  </a:lnTo>
                  <a:lnTo>
                    <a:pt x="33778" y="239045"/>
                  </a:lnTo>
                  <a:cubicBezTo>
                    <a:pt x="14902" y="239045"/>
                    <a:pt x="0" y="223175"/>
                    <a:pt x="0" y="204329"/>
                  </a:cubicBezTo>
                  <a:cubicBezTo>
                    <a:pt x="0" y="185483"/>
                    <a:pt x="14902" y="170605"/>
                    <a:pt x="33778" y="170605"/>
                  </a:cubicBezTo>
                  <a:lnTo>
                    <a:pt x="87425" y="170605"/>
                  </a:lnTo>
                  <a:cubicBezTo>
                    <a:pt x="91399" y="125970"/>
                    <a:pt x="126170" y="91254"/>
                    <a:pt x="170876" y="87286"/>
                  </a:cubicBezTo>
                  <a:lnTo>
                    <a:pt x="170876" y="33724"/>
                  </a:lnTo>
                  <a:cubicBezTo>
                    <a:pt x="170876" y="14878"/>
                    <a:pt x="185778" y="0"/>
                    <a:pt x="204654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62" name="iṧliḋe">
              <a:extLst>
                <a:ext uri="{FF2B5EF4-FFF2-40B4-BE49-F238E27FC236}">
                  <a16:creationId xmlns:a16="http://schemas.microsoft.com/office/drawing/2014/main" id="{7D51E50A-D01F-4B43-BC1D-439455680A91}"/>
                </a:ext>
              </a:extLst>
            </p:cNvPr>
            <p:cNvSpPr txBox="1"/>
            <p:nvPr/>
          </p:nvSpPr>
          <p:spPr>
            <a:xfrm>
              <a:off x="5562527" y="2720829"/>
              <a:ext cx="10669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rgbClr val="FFFFFF"/>
                  </a:solidFill>
                </a:defRPr>
              </a:lvl1pPr>
            </a:lstStyle>
            <a:p>
              <a:r>
                <a:rPr lang="zh-CN" altLang="en-US" sz="2000" dirty="0"/>
                <a:t>自治</a:t>
              </a:r>
              <a:endParaRPr lang="en-US" altLang="zh-CN" sz="2000" dirty="0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C439281-438D-424C-A357-F66F4D45B9EB}"/>
              </a:ext>
            </a:extLst>
          </p:cNvPr>
          <p:cNvGrpSpPr/>
          <p:nvPr/>
        </p:nvGrpSpPr>
        <p:grpSpPr>
          <a:xfrm>
            <a:off x="4318462" y="4335978"/>
            <a:ext cx="1752824" cy="1752824"/>
            <a:chOff x="7701208" y="1855564"/>
            <a:chExt cx="2138680" cy="2138680"/>
          </a:xfrm>
        </p:grpSpPr>
        <p:sp>
          <p:nvSpPr>
            <p:cNvPr id="155" name="íŝļïďè">
              <a:extLst>
                <a:ext uri="{FF2B5EF4-FFF2-40B4-BE49-F238E27FC236}">
                  <a16:creationId xmlns:a16="http://schemas.microsoft.com/office/drawing/2014/main" id="{918E790D-6264-4A8C-AF59-3448050EA2B5}"/>
                </a:ext>
              </a:extLst>
            </p:cNvPr>
            <p:cNvSpPr/>
            <p:nvPr/>
          </p:nvSpPr>
          <p:spPr>
            <a:xfrm>
              <a:off x="7701208" y="1855564"/>
              <a:ext cx="2138680" cy="2138680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>
                <a:solidFill>
                  <a:schemeClr val="bg1"/>
                </a:solidFill>
              </a:endParaRPr>
            </a:p>
          </p:txBody>
        </p:sp>
        <p:sp>
          <p:nvSpPr>
            <p:cNvPr id="166" name="îšḻîḑè">
              <a:extLst>
                <a:ext uri="{FF2B5EF4-FFF2-40B4-BE49-F238E27FC236}">
                  <a16:creationId xmlns:a16="http://schemas.microsoft.com/office/drawing/2014/main" id="{FA73E667-168D-4A49-A909-C4C2F22597CB}"/>
                </a:ext>
              </a:extLst>
            </p:cNvPr>
            <p:cNvSpPr/>
            <p:nvPr/>
          </p:nvSpPr>
          <p:spPr>
            <a:xfrm>
              <a:off x="8536237" y="2076155"/>
              <a:ext cx="477696" cy="442704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  <a:gd name="connsiteX66" fmla="*/ 373273 h 605239"/>
                <a:gd name="connsiteY66" fmla="*/ 373273 h 605239"/>
                <a:gd name="connsiteX67" fmla="*/ 373273 h 605239"/>
                <a:gd name="connsiteY67" fmla="*/ 373273 h 605239"/>
                <a:gd name="connsiteX68" fmla="*/ 373273 h 605239"/>
                <a:gd name="connsiteY68" fmla="*/ 373273 h 605239"/>
                <a:gd name="connsiteX69" fmla="*/ 373273 h 605239"/>
                <a:gd name="connsiteY69" fmla="*/ 373273 h 605239"/>
                <a:gd name="connsiteX70" fmla="*/ 373273 h 605239"/>
                <a:gd name="connsiteY70" fmla="*/ 373273 h 605239"/>
                <a:gd name="connsiteX71" fmla="*/ 373273 h 605239"/>
                <a:gd name="connsiteY71" fmla="*/ 373273 h 605239"/>
                <a:gd name="connsiteX72" fmla="*/ 373273 h 605239"/>
                <a:gd name="connsiteY72" fmla="*/ 373273 h 605239"/>
                <a:gd name="connsiteX73" fmla="*/ 373273 h 605239"/>
                <a:gd name="connsiteY73" fmla="*/ 373273 h 605239"/>
                <a:gd name="connsiteX74" fmla="*/ 373273 h 605239"/>
                <a:gd name="connsiteY74" fmla="*/ 373273 h 605239"/>
                <a:gd name="connsiteX75" fmla="*/ 373273 h 605239"/>
                <a:gd name="connsiteY75" fmla="*/ 373273 h 605239"/>
                <a:gd name="connsiteX76" fmla="*/ 373273 h 605239"/>
                <a:gd name="connsiteY76" fmla="*/ 373273 h 605239"/>
                <a:gd name="connsiteX77" fmla="*/ 373273 h 605239"/>
                <a:gd name="connsiteY77" fmla="*/ 373273 h 605239"/>
                <a:gd name="connsiteX78" fmla="*/ 373273 h 605239"/>
                <a:gd name="connsiteY78" fmla="*/ 373273 h 605239"/>
                <a:gd name="connsiteX79" fmla="*/ 373273 h 605239"/>
                <a:gd name="connsiteY79" fmla="*/ 373273 h 605239"/>
                <a:gd name="connsiteX80" fmla="*/ 373273 h 605239"/>
                <a:gd name="connsiteY80" fmla="*/ 373273 h 605239"/>
                <a:gd name="connsiteX81" fmla="*/ 373273 h 605239"/>
                <a:gd name="connsiteY81" fmla="*/ 373273 h 605239"/>
                <a:gd name="connsiteX82" fmla="*/ 373273 h 605239"/>
                <a:gd name="connsiteY82" fmla="*/ 373273 h 605239"/>
                <a:gd name="connsiteX83" fmla="*/ 373273 h 605239"/>
                <a:gd name="connsiteY83" fmla="*/ 373273 h 605239"/>
                <a:gd name="connsiteX84" fmla="*/ 373273 h 605239"/>
                <a:gd name="connsiteY84" fmla="*/ 373273 h 605239"/>
                <a:gd name="connsiteX85" fmla="*/ 373273 h 605239"/>
                <a:gd name="connsiteY85" fmla="*/ 373273 h 605239"/>
                <a:gd name="connsiteX86" fmla="*/ 373273 h 605239"/>
                <a:gd name="connsiteY86" fmla="*/ 373273 h 605239"/>
                <a:gd name="connsiteX87" fmla="*/ 373273 h 605239"/>
                <a:gd name="connsiteY87" fmla="*/ 373273 h 605239"/>
                <a:gd name="connsiteX88" fmla="*/ 373273 h 605239"/>
                <a:gd name="connsiteY88" fmla="*/ 373273 h 605239"/>
                <a:gd name="connsiteX89" fmla="*/ 373273 h 605239"/>
                <a:gd name="connsiteY89" fmla="*/ 373273 h 605239"/>
                <a:gd name="connsiteX90" fmla="*/ 373273 h 605239"/>
                <a:gd name="connsiteY90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603052" h="558878">
                  <a:moveTo>
                    <a:pt x="174649" y="543212"/>
                  </a:moveTo>
                  <a:lnTo>
                    <a:pt x="278182" y="543212"/>
                  </a:lnTo>
                  <a:lnTo>
                    <a:pt x="278182" y="549259"/>
                  </a:lnTo>
                  <a:lnTo>
                    <a:pt x="324868" y="549259"/>
                  </a:lnTo>
                  <a:lnTo>
                    <a:pt x="324868" y="543212"/>
                  </a:lnTo>
                  <a:lnTo>
                    <a:pt x="428402" y="543212"/>
                  </a:lnTo>
                  <a:cubicBezTo>
                    <a:pt x="428402" y="551732"/>
                    <a:pt x="423184" y="558878"/>
                    <a:pt x="417143" y="558878"/>
                  </a:cubicBezTo>
                  <a:lnTo>
                    <a:pt x="185908" y="558878"/>
                  </a:lnTo>
                  <a:cubicBezTo>
                    <a:pt x="179867" y="558878"/>
                    <a:pt x="174649" y="551732"/>
                    <a:pt x="174649" y="543212"/>
                  </a:cubicBezTo>
                  <a:close/>
                  <a:moveTo>
                    <a:pt x="210913" y="403140"/>
                  </a:moveTo>
                  <a:lnTo>
                    <a:pt x="392413" y="403140"/>
                  </a:lnTo>
                  <a:cubicBezTo>
                    <a:pt x="400651" y="403140"/>
                    <a:pt x="407515" y="409993"/>
                    <a:pt x="407515" y="418492"/>
                  </a:cubicBezTo>
                  <a:lnTo>
                    <a:pt x="407515" y="523485"/>
                  </a:lnTo>
                  <a:cubicBezTo>
                    <a:pt x="407515" y="531984"/>
                    <a:pt x="400651" y="538837"/>
                    <a:pt x="392413" y="538837"/>
                  </a:cubicBezTo>
                  <a:lnTo>
                    <a:pt x="210913" y="538837"/>
                  </a:lnTo>
                  <a:cubicBezTo>
                    <a:pt x="202401" y="538837"/>
                    <a:pt x="195537" y="531984"/>
                    <a:pt x="195537" y="523485"/>
                  </a:cubicBezTo>
                  <a:lnTo>
                    <a:pt x="195537" y="418492"/>
                  </a:lnTo>
                  <a:cubicBezTo>
                    <a:pt x="195537" y="409993"/>
                    <a:pt x="202401" y="403140"/>
                    <a:pt x="210913" y="403140"/>
                  </a:cubicBezTo>
                  <a:close/>
                  <a:moveTo>
                    <a:pt x="505311" y="368845"/>
                  </a:moveTo>
                  <a:lnTo>
                    <a:pt x="517668" y="368845"/>
                  </a:lnTo>
                  <a:cubicBezTo>
                    <a:pt x="497897" y="416277"/>
                    <a:pt x="463024" y="455484"/>
                    <a:pt x="419088" y="481256"/>
                  </a:cubicBezTo>
                  <a:lnTo>
                    <a:pt x="419088" y="467822"/>
                  </a:lnTo>
                  <a:cubicBezTo>
                    <a:pt x="456983" y="444243"/>
                    <a:pt x="487188" y="409971"/>
                    <a:pt x="505311" y="368845"/>
                  </a:cubicBezTo>
                  <a:close/>
                  <a:moveTo>
                    <a:pt x="85384" y="368845"/>
                  </a:moveTo>
                  <a:lnTo>
                    <a:pt x="97741" y="368845"/>
                  </a:lnTo>
                  <a:cubicBezTo>
                    <a:pt x="115864" y="409971"/>
                    <a:pt x="146344" y="444243"/>
                    <a:pt x="183964" y="467822"/>
                  </a:cubicBezTo>
                  <a:lnTo>
                    <a:pt x="183964" y="481256"/>
                  </a:lnTo>
                  <a:cubicBezTo>
                    <a:pt x="140028" y="455484"/>
                    <a:pt x="105155" y="416277"/>
                    <a:pt x="85384" y="368845"/>
                  </a:cubicBezTo>
                  <a:close/>
                  <a:moveTo>
                    <a:pt x="349581" y="341678"/>
                  </a:moveTo>
                  <a:lnTo>
                    <a:pt x="452837" y="341678"/>
                  </a:lnTo>
                  <a:lnTo>
                    <a:pt x="452837" y="347725"/>
                  </a:lnTo>
                  <a:lnTo>
                    <a:pt x="499796" y="347725"/>
                  </a:lnTo>
                  <a:lnTo>
                    <a:pt x="499796" y="341678"/>
                  </a:lnTo>
                  <a:lnTo>
                    <a:pt x="603052" y="341678"/>
                  </a:lnTo>
                  <a:cubicBezTo>
                    <a:pt x="603052" y="350473"/>
                    <a:pt x="598109" y="357344"/>
                    <a:pt x="591793" y="357344"/>
                  </a:cubicBezTo>
                  <a:lnTo>
                    <a:pt x="360841" y="357344"/>
                  </a:lnTo>
                  <a:cubicBezTo>
                    <a:pt x="354524" y="357344"/>
                    <a:pt x="349581" y="350473"/>
                    <a:pt x="349581" y="341678"/>
                  </a:cubicBezTo>
                  <a:close/>
                  <a:moveTo>
                    <a:pt x="0" y="341678"/>
                  </a:moveTo>
                  <a:lnTo>
                    <a:pt x="103256" y="341678"/>
                  </a:lnTo>
                  <a:lnTo>
                    <a:pt x="103256" y="347725"/>
                  </a:lnTo>
                  <a:lnTo>
                    <a:pt x="150215" y="347725"/>
                  </a:lnTo>
                  <a:lnTo>
                    <a:pt x="150215" y="341678"/>
                  </a:lnTo>
                  <a:lnTo>
                    <a:pt x="253471" y="341678"/>
                  </a:lnTo>
                  <a:cubicBezTo>
                    <a:pt x="253471" y="350473"/>
                    <a:pt x="248528" y="357344"/>
                    <a:pt x="242486" y="357344"/>
                  </a:cubicBezTo>
                  <a:lnTo>
                    <a:pt x="11259" y="357344"/>
                  </a:lnTo>
                  <a:cubicBezTo>
                    <a:pt x="4943" y="357344"/>
                    <a:pt x="0" y="350473"/>
                    <a:pt x="0" y="341678"/>
                  </a:cubicBezTo>
                  <a:close/>
                  <a:moveTo>
                    <a:pt x="385564" y="201535"/>
                  </a:moveTo>
                  <a:lnTo>
                    <a:pt x="567070" y="201535"/>
                  </a:lnTo>
                  <a:cubicBezTo>
                    <a:pt x="575582" y="201535"/>
                    <a:pt x="582447" y="208392"/>
                    <a:pt x="582447" y="216896"/>
                  </a:cubicBezTo>
                  <a:lnTo>
                    <a:pt x="582447" y="322224"/>
                  </a:lnTo>
                  <a:cubicBezTo>
                    <a:pt x="582447" y="330453"/>
                    <a:pt x="575582" y="337585"/>
                    <a:pt x="567070" y="337585"/>
                  </a:cubicBezTo>
                  <a:lnTo>
                    <a:pt x="385564" y="337585"/>
                  </a:lnTo>
                  <a:cubicBezTo>
                    <a:pt x="377051" y="337585"/>
                    <a:pt x="370186" y="330453"/>
                    <a:pt x="370186" y="322224"/>
                  </a:cubicBezTo>
                  <a:lnTo>
                    <a:pt x="370186" y="216896"/>
                  </a:lnTo>
                  <a:cubicBezTo>
                    <a:pt x="370186" y="208392"/>
                    <a:pt x="377051" y="201535"/>
                    <a:pt x="385564" y="201535"/>
                  </a:cubicBezTo>
                  <a:close/>
                  <a:moveTo>
                    <a:pt x="35982" y="201535"/>
                  </a:moveTo>
                  <a:lnTo>
                    <a:pt x="217489" y="201535"/>
                  </a:lnTo>
                  <a:cubicBezTo>
                    <a:pt x="226001" y="201535"/>
                    <a:pt x="232866" y="208392"/>
                    <a:pt x="232866" y="216896"/>
                  </a:cubicBezTo>
                  <a:lnTo>
                    <a:pt x="232866" y="322224"/>
                  </a:lnTo>
                  <a:cubicBezTo>
                    <a:pt x="232866" y="330453"/>
                    <a:pt x="226001" y="337585"/>
                    <a:pt x="217489" y="337585"/>
                  </a:cubicBezTo>
                  <a:lnTo>
                    <a:pt x="35982" y="337585"/>
                  </a:lnTo>
                  <a:cubicBezTo>
                    <a:pt x="27470" y="337585"/>
                    <a:pt x="20605" y="330453"/>
                    <a:pt x="20605" y="322224"/>
                  </a:cubicBezTo>
                  <a:lnTo>
                    <a:pt x="20605" y="216896"/>
                  </a:lnTo>
                  <a:cubicBezTo>
                    <a:pt x="20605" y="208392"/>
                    <a:pt x="27470" y="201535"/>
                    <a:pt x="35982" y="201535"/>
                  </a:cubicBezTo>
                  <a:close/>
                  <a:moveTo>
                    <a:pt x="174649" y="140143"/>
                  </a:moveTo>
                  <a:lnTo>
                    <a:pt x="278182" y="140143"/>
                  </a:lnTo>
                  <a:lnTo>
                    <a:pt x="278182" y="146439"/>
                  </a:lnTo>
                  <a:lnTo>
                    <a:pt x="324868" y="146439"/>
                  </a:lnTo>
                  <a:lnTo>
                    <a:pt x="324868" y="140143"/>
                  </a:lnTo>
                  <a:lnTo>
                    <a:pt x="428402" y="140143"/>
                  </a:lnTo>
                  <a:cubicBezTo>
                    <a:pt x="428402" y="148903"/>
                    <a:pt x="423184" y="156020"/>
                    <a:pt x="417143" y="156020"/>
                  </a:cubicBezTo>
                  <a:lnTo>
                    <a:pt x="185908" y="156020"/>
                  </a:lnTo>
                  <a:cubicBezTo>
                    <a:pt x="179867" y="156020"/>
                    <a:pt x="174649" y="148903"/>
                    <a:pt x="174649" y="140143"/>
                  </a:cubicBezTo>
                  <a:close/>
                  <a:moveTo>
                    <a:pt x="419088" y="77622"/>
                  </a:moveTo>
                  <a:cubicBezTo>
                    <a:pt x="463024" y="103394"/>
                    <a:pt x="497897" y="142875"/>
                    <a:pt x="517668" y="190033"/>
                  </a:cubicBezTo>
                  <a:lnTo>
                    <a:pt x="505311" y="190033"/>
                  </a:lnTo>
                  <a:cubicBezTo>
                    <a:pt x="487188" y="149181"/>
                    <a:pt x="456983" y="114635"/>
                    <a:pt x="419088" y="91056"/>
                  </a:cubicBezTo>
                  <a:close/>
                  <a:moveTo>
                    <a:pt x="184034" y="77622"/>
                  </a:moveTo>
                  <a:lnTo>
                    <a:pt x="184034" y="91056"/>
                  </a:lnTo>
                  <a:cubicBezTo>
                    <a:pt x="146387" y="114635"/>
                    <a:pt x="115886" y="149181"/>
                    <a:pt x="97749" y="190033"/>
                  </a:cubicBezTo>
                  <a:lnTo>
                    <a:pt x="85384" y="190033"/>
                  </a:lnTo>
                  <a:cubicBezTo>
                    <a:pt x="105169" y="142875"/>
                    <a:pt x="140067" y="103394"/>
                    <a:pt x="184034" y="77622"/>
                  </a:cubicBezTo>
                  <a:close/>
                  <a:moveTo>
                    <a:pt x="210913" y="0"/>
                  </a:moveTo>
                  <a:lnTo>
                    <a:pt x="392413" y="0"/>
                  </a:lnTo>
                  <a:cubicBezTo>
                    <a:pt x="400651" y="0"/>
                    <a:pt x="407515" y="6854"/>
                    <a:pt x="407515" y="15353"/>
                  </a:cubicBezTo>
                  <a:lnTo>
                    <a:pt x="407515" y="120627"/>
                  </a:lnTo>
                  <a:cubicBezTo>
                    <a:pt x="407515" y="129126"/>
                    <a:pt x="400651" y="135980"/>
                    <a:pt x="392413" y="135980"/>
                  </a:cubicBezTo>
                  <a:lnTo>
                    <a:pt x="210913" y="135980"/>
                  </a:lnTo>
                  <a:cubicBezTo>
                    <a:pt x="202401" y="135980"/>
                    <a:pt x="195537" y="129126"/>
                    <a:pt x="195537" y="120627"/>
                  </a:cubicBezTo>
                  <a:lnTo>
                    <a:pt x="195537" y="15353"/>
                  </a:lnTo>
                  <a:cubicBezTo>
                    <a:pt x="195537" y="6854"/>
                    <a:pt x="202401" y="0"/>
                    <a:pt x="210913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925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354"/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163" name="iṧliḋe">
              <a:extLst>
                <a:ext uri="{FF2B5EF4-FFF2-40B4-BE49-F238E27FC236}">
                  <a16:creationId xmlns:a16="http://schemas.microsoft.com/office/drawing/2014/main" id="{24CB619E-393B-4DBF-9648-C3933AFBF5BC}"/>
                </a:ext>
              </a:extLst>
            </p:cNvPr>
            <p:cNvSpPr txBox="1"/>
            <p:nvPr/>
          </p:nvSpPr>
          <p:spPr>
            <a:xfrm>
              <a:off x="8237075" y="2585782"/>
              <a:ext cx="1179302" cy="8637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defRPr sz="1400" b="1">
                  <a:solidFill>
                    <a:srgbClr val="FFFFFF"/>
                  </a:solidFill>
                </a:defRPr>
              </a:lvl1pPr>
            </a:lstStyle>
            <a:p>
              <a:r>
                <a:rPr lang="zh-CN" altLang="en-US" sz="2000" dirty="0"/>
                <a:t>计算机</a:t>
              </a:r>
              <a:endParaRPr lang="en-US" altLang="zh-CN" sz="2000" dirty="0"/>
            </a:p>
            <a:p>
              <a:r>
                <a:rPr lang="zh-CN" altLang="en-US" sz="2000" dirty="0"/>
                <a:t>集合</a:t>
              </a:r>
              <a:endParaRPr lang="en-US" altLang="zh-CN" sz="2000" dirty="0"/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5473084-8B1C-47AC-A6C9-72931DFD6148}"/>
              </a:ext>
            </a:extLst>
          </p:cNvPr>
          <p:cNvCxnSpPr/>
          <p:nvPr/>
        </p:nvCxnSpPr>
        <p:spPr>
          <a:xfrm>
            <a:off x="7633024" y="4141212"/>
            <a:ext cx="302395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形 18">
            <a:extLst>
              <a:ext uri="{FF2B5EF4-FFF2-40B4-BE49-F238E27FC236}">
                <a16:creationId xmlns:a16="http://schemas.microsoft.com/office/drawing/2014/main" id="{2E0A7BC8-B046-479C-BA8F-3CF6984DE6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11690" y="2118625"/>
            <a:ext cx="690492" cy="667853"/>
          </a:xfrm>
          <a:prstGeom prst="rect">
            <a:avLst/>
          </a:prstGeom>
        </p:spPr>
      </p:pic>
      <p:pic>
        <p:nvPicPr>
          <p:cNvPr id="23" name="图形 22">
            <a:extLst>
              <a:ext uri="{FF2B5EF4-FFF2-40B4-BE49-F238E27FC236}">
                <a16:creationId xmlns:a16="http://schemas.microsoft.com/office/drawing/2014/main" id="{91EEA90D-9DD1-417C-B9FD-D9F5A6B0D7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41015" y="3849826"/>
            <a:ext cx="611911" cy="582772"/>
          </a:xfrm>
          <a:prstGeom prst="rect">
            <a:avLst/>
          </a:prstGeom>
        </p:spPr>
      </p:pic>
      <p:pic>
        <p:nvPicPr>
          <p:cNvPr id="26" name="图形 25">
            <a:extLst>
              <a:ext uri="{FF2B5EF4-FFF2-40B4-BE49-F238E27FC236}">
                <a16:creationId xmlns:a16="http://schemas.microsoft.com/office/drawing/2014/main" id="{3CEE6BE3-8C61-4B58-97F5-319D992B77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20216" y="1804271"/>
            <a:ext cx="714971" cy="554719"/>
          </a:xfrm>
          <a:prstGeom prst="rect">
            <a:avLst/>
          </a:prstGeom>
        </p:spPr>
      </p:pic>
      <p:pic>
        <p:nvPicPr>
          <p:cNvPr id="27" name="图形 26">
            <a:extLst>
              <a:ext uri="{FF2B5EF4-FFF2-40B4-BE49-F238E27FC236}">
                <a16:creationId xmlns:a16="http://schemas.microsoft.com/office/drawing/2014/main" id="{E207359A-89FF-4C8C-AF60-B756A479DCA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17051" y="2165697"/>
            <a:ext cx="840483" cy="554719"/>
          </a:xfrm>
          <a:prstGeom prst="rect">
            <a:avLst/>
          </a:prstGeom>
        </p:spPr>
      </p:pic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E3DB8C7C-A1C8-40E1-BD9F-C69E4831B435}"/>
              </a:ext>
            </a:extLst>
          </p:cNvPr>
          <p:cNvCxnSpPr>
            <a:cxnSpLocks/>
          </p:cNvCxnSpPr>
          <p:nvPr/>
        </p:nvCxnSpPr>
        <p:spPr>
          <a:xfrm flipH="1">
            <a:off x="6928836" y="4052229"/>
            <a:ext cx="704188" cy="119595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7091288-426F-4906-8517-833DB2B6E261}"/>
              </a:ext>
            </a:extLst>
          </p:cNvPr>
          <p:cNvCxnSpPr>
            <a:cxnSpLocks/>
          </p:cNvCxnSpPr>
          <p:nvPr/>
        </p:nvCxnSpPr>
        <p:spPr>
          <a:xfrm>
            <a:off x="7633024" y="4141212"/>
            <a:ext cx="224731" cy="120564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B16A01D-703B-4EF4-A866-0638FF265C95}"/>
              </a:ext>
            </a:extLst>
          </p:cNvPr>
          <p:cNvCxnSpPr>
            <a:cxnSpLocks/>
          </p:cNvCxnSpPr>
          <p:nvPr/>
        </p:nvCxnSpPr>
        <p:spPr>
          <a:xfrm flipV="1">
            <a:off x="9996150" y="4042539"/>
            <a:ext cx="610046" cy="116985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B09384D0-2920-4C81-8284-60AA9868AE6F}"/>
              </a:ext>
            </a:extLst>
          </p:cNvPr>
          <p:cNvCxnSpPr>
            <a:cxnSpLocks/>
          </p:cNvCxnSpPr>
          <p:nvPr/>
        </p:nvCxnSpPr>
        <p:spPr>
          <a:xfrm flipH="1" flipV="1">
            <a:off x="10609963" y="4049572"/>
            <a:ext cx="397983" cy="123882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形 17">
            <a:extLst>
              <a:ext uri="{FF2B5EF4-FFF2-40B4-BE49-F238E27FC236}">
                <a16:creationId xmlns:a16="http://schemas.microsoft.com/office/drawing/2014/main" id="{7837D590-2A3E-428A-865B-CEC103C03C3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73943" y="3718303"/>
            <a:ext cx="518162" cy="667853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537BDC2A-F8F3-4D4B-8CE7-FB71A05FFCA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70972" y="5050935"/>
            <a:ext cx="497186" cy="652557"/>
          </a:xfrm>
          <a:prstGeom prst="rect">
            <a:avLst/>
          </a:prstGeom>
        </p:spPr>
      </p:pic>
      <p:pic>
        <p:nvPicPr>
          <p:cNvPr id="22" name="图形 21">
            <a:extLst>
              <a:ext uri="{FF2B5EF4-FFF2-40B4-BE49-F238E27FC236}">
                <a16:creationId xmlns:a16="http://schemas.microsoft.com/office/drawing/2014/main" id="{C9684381-D924-4D03-A782-5AA7EC02346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729469" y="5170241"/>
            <a:ext cx="843256" cy="512359"/>
          </a:xfrm>
          <a:prstGeom prst="rect">
            <a:avLst/>
          </a:prstGeom>
        </p:spPr>
      </p:pic>
      <p:pic>
        <p:nvPicPr>
          <p:cNvPr id="24" name="图形 23">
            <a:extLst>
              <a:ext uri="{FF2B5EF4-FFF2-40B4-BE49-F238E27FC236}">
                <a16:creationId xmlns:a16="http://schemas.microsoft.com/office/drawing/2014/main" id="{84C80BB0-560C-440B-BBD0-9E58BD1ECA7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659998" y="5054785"/>
            <a:ext cx="569694" cy="652558"/>
          </a:xfrm>
          <a:prstGeom prst="rect">
            <a:avLst/>
          </a:prstGeom>
        </p:spPr>
      </p:pic>
      <p:pic>
        <p:nvPicPr>
          <p:cNvPr id="25" name="图形 24">
            <a:extLst>
              <a:ext uri="{FF2B5EF4-FFF2-40B4-BE49-F238E27FC236}">
                <a16:creationId xmlns:a16="http://schemas.microsoft.com/office/drawing/2014/main" id="{B9FCE9A7-3885-4A1A-8E6A-3BAD9B714D1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97900" y="3718303"/>
            <a:ext cx="518162" cy="667853"/>
          </a:xfrm>
          <a:prstGeom prst="rect">
            <a:avLst/>
          </a:prstGeom>
        </p:spPr>
      </p:pic>
      <p:pic>
        <p:nvPicPr>
          <p:cNvPr id="28" name="图形 27">
            <a:extLst>
              <a:ext uri="{FF2B5EF4-FFF2-40B4-BE49-F238E27FC236}">
                <a16:creationId xmlns:a16="http://schemas.microsoft.com/office/drawing/2014/main" id="{875172D2-4090-414D-A42E-04A468BB50EB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942348" y="5181030"/>
            <a:ext cx="732066" cy="434413"/>
          </a:xfrm>
          <a:prstGeom prst="rect">
            <a:avLst/>
          </a:prstGeom>
        </p:spPr>
      </p:pic>
      <p:pic>
        <p:nvPicPr>
          <p:cNvPr id="44" name="图形 43">
            <a:extLst>
              <a:ext uri="{FF2B5EF4-FFF2-40B4-BE49-F238E27FC236}">
                <a16:creationId xmlns:a16="http://schemas.microsoft.com/office/drawing/2014/main" id="{9471A095-6F80-4218-809B-0A393BA68C5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765113" y="3505741"/>
            <a:ext cx="383154" cy="265261"/>
          </a:xfrm>
          <a:prstGeom prst="rect">
            <a:avLst/>
          </a:prstGeom>
        </p:spPr>
      </p:pic>
      <p:pic>
        <p:nvPicPr>
          <p:cNvPr id="45" name="图形 44">
            <a:extLst>
              <a:ext uri="{FF2B5EF4-FFF2-40B4-BE49-F238E27FC236}">
                <a16:creationId xmlns:a16="http://schemas.microsoft.com/office/drawing/2014/main" id="{9857C2E3-96EA-470B-B69B-FAA65CC5E74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152033" y="3505741"/>
            <a:ext cx="383154" cy="265261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E33024C2-564C-431F-A180-76C16BA1242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7723627">
            <a:off x="7442855" y="2542856"/>
            <a:ext cx="383154" cy="265261"/>
          </a:xfrm>
          <a:prstGeom prst="rect">
            <a:avLst/>
          </a:prstGeom>
        </p:spPr>
      </p:pic>
      <p:pic>
        <p:nvPicPr>
          <p:cNvPr id="52" name="图形 51">
            <a:extLst>
              <a:ext uri="{FF2B5EF4-FFF2-40B4-BE49-F238E27FC236}">
                <a16:creationId xmlns:a16="http://schemas.microsoft.com/office/drawing/2014/main" id="{EC1C312E-E4AD-41CD-87ED-21915239163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0800000">
            <a:off x="8943145" y="2370564"/>
            <a:ext cx="383154" cy="265261"/>
          </a:xfrm>
          <a:prstGeom prst="rect">
            <a:avLst/>
          </a:prstGeom>
        </p:spPr>
      </p:pic>
      <p:pic>
        <p:nvPicPr>
          <p:cNvPr id="53" name="图形 52">
            <a:extLst>
              <a:ext uri="{FF2B5EF4-FFF2-40B4-BE49-F238E27FC236}">
                <a16:creationId xmlns:a16="http://schemas.microsoft.com/office/drawing/2014/main" id="{80FC6ABB-9F23-4A26-9B51-F830C1D25F7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3052912">
            <a:off x="10270834" y="2715495"/>
            <a:ext cx="383154" cy="265261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7489A711-E92F-4355-A145-A3F532D58E97}"/>
              </a:ext>
            </a:extLst>
          </p:cNvPr>
          <p:cNvSpPr txBox="1"/>
          <p:nvPr/>
        </p:nvSpPr>
        <p:spPr>
          <a:xfrm>
            <a:off x="7248762" y="5127709"/>
            <a:ext cx="371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…</a:t>
            </a:r>
            <a:endParaRPr lang="zh-CN" altLang="en-US" b="1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3792D63-3C61-46FF-AF2D-64DAE784B562}"/>
              </a:ext>
            </a:extLst>
          </p:cNvPr>
          <p:cNvSpPr txBox="1"/>
          <p:nvPr/>
        </p:nvSpPr>
        <p:spPr>
          <a:xfrm>
            <a:off x="9953375" y="2133431"/>
            <a:ext cx="371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…</a:t>
            </a:r>
            <a:endParaRPr lang="zh-CN" altLang="en-US" b="1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B58B942-76DE-42D5-A1B8-C3666B89DEFF}"/>
              </a:ext>
            </a:extLst>
          </p:cNvPr>
          <p:cNvSpPr txBox="1"/>
          <p:nvPr/>
        </p:nvSpPr>
        <p:spPr>
          <a:xfrm>
            <a:off x="10377018" y="5110762"/>
            <a:ext cx="371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…</a:t>
            </a:r>
            <a:endParaRPr lang="zh-CN" altLang="en-US" b="1" dirty="0"/>
          </a:p>
        </p:txBody>
      </p:sp>
      <p:sp>
        <p:nvSpPr>
          <p:cNvPr id="57" name="íşlïḋé">
            <a:extLst>
              <a:ext uri="{FF2B5EF4-FFF2-40B4-BE49-F238E27FC236}">
                <a16:creationId xmlns:a16="http://schemas.microsoft.com/office/drawing/2014/main" id="{48CBC29D-4CC3-42BF-ACEF-933717EC2C94}"/>
              </a:ext>
            </a:extLst>
          </p:cNvPr>
          <p:cNvSpPr txBox="1"/>
          <p:nvPr/>
        </p:nvSpPr>
        <p:spPr>
          <a:xfrm>
            <a:off x="6559958" y="3899535"/>
            <a:ext cx="8121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交换机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58" name="íşlïḋé">
            <a:extLst>
              <a:ext uri="{FF2B5EF4-FFF2-40B4-BE49-F238E27FC236}">
                <a16:creationId xmlns:a16="http://schemas.microsoft.com/office/drawing/2014/main" id="{9F90080D-ABEF-4F6A-81E7-BADDD64E2161}"/>
              </a:ext>
            </a:extLst>
          </p:cNvPr>
          <p:cNvSpPr txBox="1"/>
          <p:nvPr/>
        </p:nvSpPr>
        <p:spPr>
          <a:xfrm>
            <a:off x="10889926" y="3915710"/>
            <a:ext cx="8121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交换机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59" name="íşlïḋé">
            <a:extLst>
              <a:ext uri="{FF2B5EF4-FFF2-40B4-BE49-F238E27FC236}">
                <a16:creationId xmlns:a16="http://schemas.microsoft.com/office/drawing/2014/main" id="{D287B16E-621D-43AF-9CEF-A692D8994015}"/>
              </a:ext>
            </a:extLst>
          </p:cNvPr>
          <p:cNvSpPr txBox="1"/>
          <p:nvPr/>
        </p:nvSpPr>
        <p:spPr>
          <a:xfrm>
            <a:off x="8765113" y="4418047"/>
            <a:ext cx="812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无线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路由器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46" name="íşlïḋé">
            <a:extLst>
              <a:ext uri="{FF2B5EF4-FFF2-40B4-BE49-F238E27FC236}">
                <a16:creationId xmlns:a16="http://schemas.microsoft.com/office/drawing/2014/main" id="{79828C97-E5C9-46E7-AA1F-0EFA2D5D8A0D}"/>
              </a:ext>
            </a:extLst>
          </p:cNvPr>
          <p:cNvSpPr txBox="1"/>
          <p:nvPr/>
        </p:nvSpPr>
        <p:spPr>
          <a:xfrm>
            <a:off x="6481552" y="4358865"/>
            <a:ext cx="812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</a:rPr>
              <a:t>有线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</a:rPr>
              <a:t>链路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</a:endParaRPr>
          </a:p>
        </p:txBody>
      </p:sp>
      <p:sp>
        <p:nvSpPr>
          <p:cNvPr id="47" name="íşlïḋé">
            <a:extLst>
              <a:ext uri="{FF2B5EF4-FFF2-40B4-BE49-F238E27FC236}">
                <a16:creationId xmlns:a16="http://schemas.microsoft.com/office/drawing/2014/main" id="{95BEED9F-6891-4A0C-BA04-BA49EBE38FF3}"/>
              </a:ext>
            </a:extLst>
          </p:cNvPr>
          <p:cNvSpPr txBox="1"/>
          <p:nvPr/>
        </p:nvSpPr>
        <p:spPr>
          <a:xfrm>
            <a:off x="7633115" y="4358865"/>
            <a:ext cx="812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</a:rPr>
              <a:t>有线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</a:rPr>
              <a:t>链路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</a:endParaRPr>
          </a:p>
        </p:txBody>
      </p:sp>
      <p:sp>
        <p:nvSpPr>
          <p:cNvPr id="48" name="íşlïḋé">
            <a:extLst>
              <a:ext uri="{FF2B5EF4-FFF2-40B4-BE49-F238E27FC236}">
                <a16:creationId xmlns:a16="http://schemas.microsoft.com/office/drawing/2014/main" id="{18DFD9A1-10A4-489B-B738-F8FBE609419E}"/>
              </a:ext>
            </a:extLst>
          </p:cNvPr>
          <p:cNvSpPr txBox="1"/>
          <p:nvPr/>
        </p:nvSpPr>
        <p:spPr>
          <a:xfrm>
            <a:off x="7915721" y="3540333"/>
            <a:ext cx="812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</a:rPr>
              <a:t>有线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</a:rPr>
              <a:t>链路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</a:endParaRPr>
          </a:p>
        </p:txBody>
      </p:sp>
      <p:sp>
        <p:nvSpPr>
          <p:cNvPr id="49" name="íşlïḋé">
            <a:extLst>
              <a:ext uri="{FF2B5EF4-FFF2-40B4-BE49-F238E27FC236}">
                <a16:creationId xmlns:a16="http://schemas.microsoft.com/office/drawing/2014/main" id="{04B7364B-182A-4D2C-9B25-6EA908870C77}"/>
              </a:ext>
            </a:extLst>
          </p:cNvPr>
          <p:cNvSpPr txBox="1"/>
          <p:nvPr/>
        </p:nvSpPr>
        <p:spPr>
          <a:xfrm>
            <a:off x="9599588" y="3540333"/>
            <a:ext cx="812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</a:rPr>
              <a:t>有线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</a:rPr>
              <a:t>链路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</a:endParaRPr>
          </a:p>
        </p:txBody>
      </p:sp>
      <p:sp>
        <p:nvSpPr>
          <p:cNvPr id="50" name="íşlïḋé">
            <a:extLst>
              <a:ext uri="{FF2B5EF4-FFF2-40B4-BE49-F238E27FC236}">
                <a16:creationId xmlns:a16="http://schemas.microsoft.com/office/drawing/2014/main" id="{9E596F6D-2089-4331-AAD7-2048C2C7CEAD}"/>
              </a:ext>
            </a:extLst>
          </p:cNvPr>
          <p:cNvSpPr txBox="1"/>
          <p:nvPr/>
        </p:nvSpPr>
        <p:spPr>
          <a:xfrm>
            <a:off x="9532285" y="4358865"/>
            <a:ext cx="812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</a:rPr>
              <a:t>有线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</a:rPr>
              <a:t>链路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</a:endParaRPr>
          </a:p>
        </p:txBody>
      </p:sp>
      <p:sp>
        <p:nvSpPr>
          <p:cNvPr id="54" name="íşlïḋé">
            <a:extLst>
              <a:ext uri="{FF2B5EF4-FFF2-40B4-BE49-F238E27FC236}">
                <a16:creationId xmlns:a16="http://schemas.microsoft.com/office/drawing/2014/main" id="{08A3216A-19B2-4501-9159-2C30343E47D0}"/>
              </a:ext>
            </a:extLst>
          </p:cNvPr>
          <p:cNvSpPr txBox="1"/>
          <p:nvPr/>
        </p:nvSpPr>
        <p:spPr>
          <a:xfrm>
            <a:off x="10808252" y="4358865"/>
            <a:ext cx="812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</a:rPr>
              <a:t>有线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</a:rPr>
              <a:t>链路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</a:endParaRPr>
          </a:p>
        </p:txBody>
      </p:sp>
      <p:sp>
        <p:nvSpPr>
          <p:cNvPr id="60" name="íşlïḋé">
            <a:extLst>
              <a:ext uri="{FF2B5EF4-FFF2-40B4-BE49-F238E27FC236}">
                <a16:creationId xmlns:a16="http://schemas.microsoft.com/office/drawing/2014/main" id="{DE35F853-D607-401F-9A1D-3C2E0E8BD0EC}"/>
              </a:ext>
            </a:extLst>
          </p:cNvPr>
          <p:cNvSpPr txBox="1"/>
          <p:nvPr/>
        </p:nvSpPr>
        <p:spPr>
          <a:xfrm>
            <a:off x="8755286" y="2766346"/>
            <a:ext cx="812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</a:rPr>
              <a:t>无线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sz="1600" b="1" dirty="0">
                <a:solidFill>
                  <a:schemeClr val="accent4"/>
                </a:solidFill>
              </a:rPr>
              <a:t>链路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3197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  <p:bldP spid="63" grpId="0"/>
      <p:bldP spid="64" grpId="0"/>
      <p:bldP spid="65" grpId="0"/>
      <p:bldP spid="66" grpId="0"/>
      <p:bldP spid="67" grpId="0"/>
      <p:bldP spid="46" grpId="0"/>
      <p:bldP spid="47" grpId="0"/>
      <p:bldP spid="48" grpId="0"/>
      <p:bldP spid="49" grpId="0"/>
      <p:bldP spid="50" grpId="0"/>
      <p:bldP spid="54" grpId="0"/>
      <p:bldP spid="6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81C8240-131C-4A49-BD23-068D7BE79B0C}"/>
              </a:ext>
            </a:extLst>
          </p:cNvPr>
          <p:cNvGrpSpPr/>
          <p:nvPr/>
        </p:nvGrpSpPr>
        <p:grpSpPr>
          <a:xfrm>
            <a:off x="304800" y="749300"/>
            <a:ext cx="3214576" cy="400110"/>
            <a:chOff x="304800" y="749300"/>
            <a:chExt cx="3214576" cy="400110"/>
          </a:xfrm>
        </p:grpSpPr>
        <p:sp>
          <p:nvSpPr>
            <p:cNvPr id="3" name="平行四边形 2">
              <a:extLst>
                <a:ext uri="{FF2B5EF4-FFF2-40B4-BE49-F238E27FC236}">
                  <a16:creationId xmlns:a16="http://schemas.microsoft.com/office/drawing/2014/main" id="{6B58DEFB-97D9-4F15-820F-2A3B4BE14A7C}"/>
                </a:ext>
              </a:extLst>
            </p:cNvPr>
            <p:cNvSpPr/>
            <p:nvPr/>
          </p:nvSpPr>
          <p:spPr>
            <a:xfrm>
              <a:off x="304800" y="749300"/>
              <a:ext cx="724560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02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30C710C-E954-4D1C-8BBC-18F88BB1B64F}"/>
                </a:ext>
              </a:extLst>
            </p:cNvPr>
            <p:cNvSpPr txBox="1"/>
            <p:nvPr/>
          </p:nvSpPr>
          <p:spPr>
            <a:xfrm>
              <a:off x="1029359" y="749300"/>
              <a:ext cx="24900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计算机网络的分类</a:t>
              </a:r>
            </a:p>
          </p:txBody>
        </p:sp>
      </p:grpSp>
      <p:sp>
        <p:nvSpPr>
          <p:cNvPr id="5" name="îṡ1îḑè">
            <a:extLst>
              <a:ext uri="{FF2B5EF4-FFF2-40B4-BE49-F238E27FC236}">
                <a16:creationId xmlns:a16="http://schemas.microsoft.com/office/drawing/2014/main" id="{71B72018-A474-496A-ADBE-8A0C7292851A}"/>
              </a:ext>
            </a:extLst>
          </p:cNvPr>
          <p:cNvSpPr/>
          <p:nvPr/>
        </p:nvSpPr>
        <p:spPr>
          <a:xfrm>
            <a:off x="1029359" y="1330898"/>
            <a:ext cx="1545676" cy="482600"/>
          </a:xfrm>
          <a:prstGeom prst="rect">
            <a:avLst/>
          </a:prstGeom>
          <a:solidFill>
            <a:schemeClr val="accent1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sz="2000" b="1" dirty="0">
                <a:solidFill>
                  <a:schemeClr val="bg1"/>
                </a:solidFill>
              </a:rPr>
              <a:t>交换方式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6" name="îṧḻîḍê">
            <a:extLst>
              <a:ext uri="{FF2B5EF4-FFF2-40B4-BE49-F238E27FC236}">
                <a16:creationId xmlns:a16="http://schemas.microsoft.com/office/drawing/2014/main" id="{4B687F2C-BCA5-4ED8-B852-147DB16FF979}"/>
              </a:ext>
            </a:extLst>
          </p:cNvPr>
          <p:cNvSpPr/>
          <p:nvPr/>
        </p:nvSpPr>
        <p:spPr>
          <a:xfrm>
            <a:off x="3286456" y="1330898"/>
            <a:ext cx="1545676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sz="2000" b="1" dirty="0">
                <a:solidFill>
                  <a:schemeClr val="bg1"/>
                </a:solidFill>
              </a:rPr>
              <a:t>使用者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7" name="iṡlíďè">
            <a:extLst>
              <a:ext uri="{FF2B5EF4-FFF2-40B4-BE49-F238E27FC236}">
                <a16:creationId xmlns:a16="http://schemas.microsoft.com/office/drawing/2014/main" id="{7D683560-34E2-45CE-B9FC-820D06F14F55}"/>
              </a:ext>
            </a:extLst>
          </p:cNvPr>
          <p:cNvSpPr/>
          <p:nvPr/>
        </p:nvSpPr>
        <p:spPr>
          <a:xfrm>
            <a:off x="5543553" y="1330898"/>
            <a:ext cx="1545676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sz="2000" b="1" dirty="0">
                <a:solidFill>
                  <a:srgbClr val="FFFFFF"/>
                </a:solidFill>
              </a:rPr>
              <a:t>传输介质</a:t>
            </a:r>
            <a:endParaRPr lang="en-GB" sz="2000" b="1" dirty="0">
              <a:solidFill>
                <a:srgbClr val="FFFFFF"/>
              </a:solidFill>
            </a:endParaRPr>
          </a:p>
        </p:txBody>
      </p:sp>
      <p:sp>
        <p:nvSpPr>
          <p:cNvPr id="8" name="iṥľïdè">
            <a:extLst>
              <a:ext uri="{FF2B5EF4-FFF2-40B4-BE49-F238E27FC236}">
                <a16:creationId xmlns:a16="http://schemas.microsoft.com/office/drawing/2014/main" id="{7ABC7FFA-1177-444C-B813-35883039A274}"/>
              </a:ext>
            </a:extLst>
          </p:cNvPr>
          <p:cNvSpPr/>
          <p:nvPr/>
        </p:nvSpPr>
        <p:spPr>
          <a:xfrm>
            <a:off x="7800650" y="1330898"/>
            <a:ext cx="1545676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sz="2000" b="1" dirty="0">
                <a:solidFill>
                  <a:schemeClr val="bg1"/>
                </a:solidFill>
              </a:rPr>
              <a:t>覆盖范围</a:t>
            </a:r>
            <a:endParaRPr lang="en-GB" sz="2000" b="1" dirty="0">
              <a:solidFill>
                <a:schemeClr val="bg1"/>
              </a:solidFill>
            </a:endParaRPr>
          </a:p>
        </p:txBody>
      </p:sp>
      <p:sp>
        <p:nvSpPr>
          <p:cNvPr id="9" name="îśľîḍé">
            <a:extLst>
              <a:ext uri="{FF2B5EF4-FFF2-40B4-BE49-F238E27FC236}">
                <a16:creationId xmlns:a16="http://schemas.microsoft.com/office/drawing/2014/main" id="{2AD96752-1B8A-43B5-9EEE-1814EE8EC1F4}"/>
              </a:ext>
            </a:extLst>
          </p:cNvPr>
          <p:cNvSpPr/>
          <p:nvPr/>
        </p:nvSpPr>
        <p:spPr>
          <a:xfrm>
            <a:off x="10057746" y="1330898"/>
            <a:ext cx="1545676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sz="2000" b="1" dirty="0">
                <a:solidFill>
                  <a:schemeClr val="bg1"/>
                </a:solidFill>
              </a:rPr>
              <a:t>拓扑结构</a:t>
            </a:r>
            <a:endParaRPr lang="en-GB" sz="2000" b="1" dirty="0">
              <a:solidFill>
                <a:schemeClr val="bg1"/>
              </a:solidFill>
            </a:endParaRPr>
          </a:p>
        </p:txBody>
      </p:sp>
      <p:pic>
        <p:nvPicPr>
          <p:cNvPr id="10" name="图片 9" descr="手机屏幕的截图&#10;&#10;描述已自动生成">
            <a:extLst>
              <a:ext uri="{FF2B5EF4-FFF2-40B4-BE49-F238E27FC236}">
                <a16:creationId xmlns:a16="http://schemas.microsoft.com/office/drawing/2014/main" id="{133C8CD0-766E-4C73-A549-0E87D36F12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254" y="1982263"/>
            <a:ext cx="9197595" cy="445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466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计算机网络的性能指标</a:t>
              </a:r>
            </a:p>
          </p:txBody>
        </p:sp>
      </p:grpSp>
      <p:sp>
        <p:nvSpPr>
          <p:cNvPr id="86" name="îṡ1îḑè">
            <a:extLst>
              <a:ext uri="{FF2B5EF4-FFF2-40B4-BE49-F238E27FC236}">
                <a16:creationId xmlns:a16="http://schemas.microsoft.com/office/drawing/2014/main" id="{A803C2F9-4FBB-4C35-AC3F-2B77804282A2}"/>
              </a:ext>
            </a:extLst>
          </p:cNvPr>
          <p:cNvSpPr/>
          <p:nvPr/>
        </p:nvSpPr>
        <p:spPr>
          <a:xfrm>
            <a:off x="304800" y="1299908"/>
            <a:ext cx="1334228" cy="482600"/>
          </a:xfrm>
          <a:prstGeom prst="rect">
            <a:avLst/>
          </a:prstGeom>
          <a:solidFill>
            <a:schemeClr val="accent1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速率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7" name="îṧḻîḍê">
            <a:extLst>
              <a:ext uri="{FF2B5EF4-FFF2-40B4-BE49-F238E27FC236}">
                <a16:creationId xmlns:a16="http://schemas.microsoft.com/office/drawing/2014/main" id="{DFA6F1EB-29D9-4A75-B24E-7FE2E4C0E97D}"/>
              </a:ext>
            </a:extLst>
          </p:cNvPr>
          <p:cNvSpPr/>
          <p:nvPr/>
        </p:nvSpPr>
        <p:spPr>
          <a:xfrm>
            <a:off x="17688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带宽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8" name="iṡlíďè">
            <a:extLst>
              <a:ext uri="{FF2B5EF4-FFF2-40B4-BE49-F238E27FC236}">
                <a16:creationId xmlns:a16="http://schemas.microsoft.com/office/drawing/2014/main" id="{C52BE881-D827-42B9-AFCD-BFDFE2366E21}"/>
              </a:ext>
            </a:extLst>
          </p:cNvPr>
          <p:cNvSpPr/>
          <p:nvPr/>
        </p:nvSpPr>
        <p:spPr>
          <a:xfrm>
            <a:off x="32328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rgbClr val="FFFFFF"/>
                </a:solidFill>
              </a:rPr>
              <a:t>吞吐量</a:t>
            </a:r>
            <a:endParaRPr lang="en-GB" b="1" dirty="0">
              <a:solidFill>
                <a:srgbClr val="FFFFFF"/>
              </a:solidFill>
            </a:endParaRPr>
          </a:p>
        </p:txBody>
      </p:sp>
      <p:sp>
        <p:nvSpPr>
          <p:cNvPr id="89" name="iṥľïdè">
            <a:extLst>
              <a:ext uri="{FF2B5EF4-FFF2-40B4-BE49-F238E27FC236}">
                <a16:creationId xmlns:a16="http://schemas.microsoft.com/office/drawing/2014/main" id="{7E37DD0B-57D9-45E4-B3AD-EEEB679EF75E}"/>
              </a:ext>
            </a:extLst>
          </p:cNvPr>
          <p:cNvSpPr/>
          <p:nvPr/>
        </p:nvSpPr>
        <p:spPr>
          <a:xfrm>
            <a:off x="469687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0" name="îśľîḍé">
            <a:extLst>
              <a:ext uri="{FF2B5EF4-FFF2-40B4-BE49-F238E27FC236}">
                <a16:creationId xmlns:a16="http://schemas.microsoft.com/office/drawing/2014/main" id="{67EBD377-E6A9-419F-9713-92993F43A27E}"/>
              </a:ext>
            </a:extLst>
          </p:cNvPr>
          <p:cNvSpPr/>
          <p:nvPr/>
        </p:nvSpPr>
        <p:spPr>
          <a:xfrm>
            <a:off x="76249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往返时间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1" name="îśľîḍé">
            <a:extLst>
              <a:ext uri="{FF2B5EF4-FFF2-40B4-BE49-F238E27FC236}">
                <a16:creationId xmlns:a16="http://schemas.microsoft.com/office/drawing/2014/main" id="{01D6FD95-2A4C-4A1F-ADAA-E06A0DB2334E}"/>
              </a:ext>
            </a:extLst>
          </p:cNvPr>
          <p:cNvSpPr/>
          <p:nvPr/>
        </p:nvSpPr>
        <p:spPr>
          <a:xfrm>
            <a:off x="61609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时延带宽积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2" name="îśľîḍé">
            <a:extLst>
              <a:ext uri="{FF2B5EF4-FFF2-40B4-BE49-F238E27FC236}">
                <a16:creationId xmlns:a16="http://schemas.microsoft.com/office/drawing/2014/main" id="{D196E2C0-5678-4A32-8DE3-2A8BA36E0749}"/>
              </a:ext>
            </a:extLst>
          </p:cNvPr>
          <p:cNvSpPr/>
          <p:nvPr/>
        </p:nvSpPr>
        <p:spPr>
          <a:xfrm>
            <a:off x="90889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利用率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3" name="îśľîḍé">
            <a:extLst>
              <a:ext uri="{FF2B5EF4-FFF2-40B4-BE49-F238E27FC236}">
                <a16:creationId xmlns:a16="http://schemas.microsoft.com/office/drawing/2014/main" id="{9010AC37-690A-4F23-99A9-04A6AEEBAC9D}"/>
              </a:ext>
            </a:extLst>
          </p:cNvPr>
          <p:cNvSpPr/>
          <p:nvPr/>
        </p:nvSpPr>
        <p:spPr>
          <a:xfrm>
            <a:off x="10552974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丢包率</a:t>
            </a:r>
            <a:endParaRPr lang="en-GB" b="1" dirty="0">
              <a:solidFill>
                <a:schemeClr val="bg1"/>
              </a:solidFill>
            </a:endParaRPr>
          </a:p>
        </p:txBody>
      </p:sp>
      <p:graphicFrame>
        <p:nvGraphicFramePr>
          <p:cNvPr id="31" name="表格 9">
            <a:extLst>
              <a:ext uri="{FF2B5EF4-FFF2-40B4-BE49-F238E27FC236}">
                <a16:creationId xmlns:a16="http://schemas.microsoft.com/office/drawing/2014/main" id="{AC6BBF18-7981-48CA-9E0C-10D9574CA03D}"/>
              </a:ext>
            </a:extLst>
          </p:cNvPr>
          <p:cNvGraphicFramePr>
            <a:graphicFrameLocks noGrp="1"/>
          </p:cNvGraphicFramePr>
          <p:nvPr/>
        </p:nvGraphicFramePr>
        <p:xfrm>
          <a:off x="736792" y="3215558"/>
          <a:ext cx="499211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6267">
                  <a:extLst>
                    <a:ext uri="{9D8B030D-6E8A-4147-A177-3AD203B41FA5}">
                      <a16:colId xmlns:a16="http://schemas.microsoft.com/office/drawing/2014/main" val="284838766"/>
                    </a:ext>
                  </a:extLst>
                </a:gridCol>
                <a:gridCol w="3225849">
                  <a:extLst>
                    <a:ext uri="{9D8B030D-6E8A-4147-A177-3AD203B41FA5}">
                      <a16:colId xmlns:a16="http://schemas.microsoft.com/office/drawing/2014/main" val="2216436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</a:rPr>
                        <a:t>数据量的单位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chemeClr val="tx1"/>
                          </a:solidFill>
                        </a:rPr>
                        <a:t>换算关系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4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比特（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/>
                        <a:t>基本单位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39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字节（</a:t>
                      </a:r>
                      <a:r>
                        <a:rPr lang="en-US" altLang="zh-CN" sz="1600" b="1" dirty="0"/>
                        <a:t>B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1B = 8bit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116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/>
                        <a:t>千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字节（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en-US" altLang="zh-CN" sz="1600" b="1" dirty="0"/>
                        <a:t>B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KB = 2</a:t>
                      </a:r>
                      <a:r>
                        <a:rPr lang="en-US" altLang="zh-CN" sz="1600" b="1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 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703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/>
                        <a:t>兆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字节（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lang="en-US" altLang="zh-CN" sz="1600" b="1" dirty="0"/>
                        <a:t>B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MB = K·KB = 2</a:t>
                      </a:r>
                      <a:r>
                        <a:rPr lang="en-US" altLang="zh-CN" sz="1600" b="1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 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26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吉字节（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lang="en-US" altLang="zh-CN" sz="1600" b="1" dirty="0"/>
                        <a:t>B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GB = K·MB = 2</a:t>
                      </a:r>
                      <a:r>
                        <a:rPr lang="en-US" altLang="zh-CN" sz="1600" b="1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40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太字节（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sz="1600" b="1" dirty="0"/>
                        <a:t>B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TB = K·GB = 2</a:t>
                      </a:r>
                      <a:r>
                        <a:rPr lang="en-US" altLang="zh-CN" sz="1600" b="1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367763"/>
                  </a:ext>
                </a:extLst>
              </a:tr>
            </a:tbl>
          </a:graphicData>
        </a:graphic>
      </p:graphicFrame>
      <p:graphicFrame>
        <p:nvGraphicFramePr>
          <p:cNvPr id="74" name="表格 9">
            <a:extLst>
              <a:ext uri="{FF2B5EF4-FFF2-40B4-BE49-F238E27FC236}">
                <a16:creationId xmlns:a16="http://schemas.microsoft.com/office/drawing/2014/main" id="{AD2FBD19-6D00-4BAF-8CEC-DF80D434D3EC}"/>
              </a:ext>
            </a:extLst>
          </p:cNvPr>
          <p:cNvGraphicFramePr>
            <a:graphicFrameLocks noGrp="1"/>
          </p:cNvGraphicFramePr>
          <p:nvPr/>
        </p:nvGraphicFramePr>
        <p:xfrm>
          <a:off x="6407706" y="3234114"/>
          <a:ext cx="499211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6267">
                  <a:extLst>
                    <a:ext uri="{9D8B030D-6E8A-4147-A177-3AD203B41FA5}">
                      <a16:colId xmlns:a16="http://schemas.microsoft.com/office/drawing/2014/main" val="284838766"/>
                    </a:ext>
                  </a:extLst>
                </a:gridCol>
                <a:gridCol w="3225849">
                  <a:extLst>
                    <a:ext uri="{9D8B030D-6E8A-4147-A177-3AD203B41FA5}">
                      <a16:colId xmlns:a16="http://schemas.microsoft.com/office/drawing/2014/main" val="2216436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速率的单位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换算关系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94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比特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秒（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b/s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基本单位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39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116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千比特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秒（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kb/s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k</a:t>
                      </a:r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b/s = 10</a:t>
                      </a:r>
                      <a:r>
                        <a:rPr lang="en-US" altLang="zh-CN" sz="1600" b="1" kern="1200" baseline="300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b/s</a:t>
                      </a:r>
                      <a:endParaRPr lang="zh-CN" altLang="en-U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703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兆比特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秒（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Mb/s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Mb/s 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= </a:t>
                      </a:r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</a:rPr>
                        <a:t>k·kb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/s = 10</a:t>
                      </a:r>
                      <a:r>
                        <a:rPr lang="en-US" altLang="zh-CN" sz="1600" b="1" baseline="300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 b/s</a:t>
                      </a:r>
                      <a:endParaRPr lang="zh-CN" altLang="en-US" sz="1600" b="1" kern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26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吉比特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秒（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Gb/s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Gb/s = </a:t>
                      </a:r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</a:rPr>
                        <a:t>k·Mb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/s = 10</a:t>
                      </a:r>
                      <a:r>
                        <a:rPr lang="en-US" altLang="zh-CN" sz="1600" b="1" baseline="300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 b/s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40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太比特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秒（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Tb/s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Tb/s = </a:t>
                      </a:r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</a:rPr>
                        <a:t>k·Gb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/s = 10</a:t>
                      </a:r>
                      <a:r>
                        <a:rPr lang="en-US" altLang="zh-CN" sz="1600" b="1" baseline="300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 b/s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525957"/>
                  </a:ext>
                </a:extLst>
              </a:tr>
            </a:tbl>
          </a:graphicData>
        </a:graphic>
      </p:graphicFrame>
      <p:sp>
        <p:nvSpPr>
          <p:cNvPr id="95" name="íşlïḍè">
            <a:extLst>
              <a:ext uri="{FF2B5EF4-FFF2-40B4-BE49-F238E27FC236}">
                <a16:creationId xmlns:a16="http://schemas.microsoft.com/office/drawing/2014/main" id="{5CD46D34-A330-41B3-8899-447FADFF7F18}"/>
              </a:ext>
            </a:extLst>
          </p:cNvPr>
          <p:cNvSpPr txBox="1"/>
          <p:nvPr/>
        </p:nvSpPr>
        <p:spPr>
          <a:xfrm>
            <a:off x="1223411" y="1933006"/>
            <a:ext cx="10369247" cy="67770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/>
              <a:t>数据量单位中的</a:t>
            </a:r>
            <a:r>
              <a:rPr lang="en-US" altLang="zh-CN" b="1" dirty="0"/>
              <a:t>K</a:t>
            </a:r>
            <a:r>
              <a:rPr lang="zh-CN" altLang="en-US" b="1" dirty="0"/>
              <a:t>、</a:t>
            </a:r>
            <a:r>
              <a:rPr lang="en-US" altLang="zh-CN" b="1" dirty="0"/>
              <a:t>M</a:t>
            </a:r>
            <a:r>
              <a:rPr lang="zh-CN" altLang="en-US" b="1" dirty="0"/>
              <a:t>、</a:t>
            </a:r>
            <a:r>
              <a:rPr lang="en-US" altLang="zh-CN" b="1" dirty="0"/>
              <a:t>G</a:t>
            </a:r>
            <a:r>
              <a:rPr lang="zh-CN" altLang="en-US" b="1" dirty="0"/>
              <a:t>、</a:t>
            </a:r>
            <a:r>
              <a:rPr lang="en-US" altLang="zh-CN" b="1" dirty="0"/>
              <a:t>T</a:t>
            </a:r>
            <a:r>
              <a:rPr lang="zh-CN" altLang="en-US" b="1" dirty="0"/>
              <a:t>的数值分别为</a:t>
            </a:r>
            <a:r>
              <a:rPr lang="en-US" altLang="zh-CN" b="1" dirty="0"/>
              <a:t>2</a:t>
            </a:r>
            <a:r>
              <a:rPr lang="en-US" altLang="zh-CN" b="1" baseline="30000" dirty="0"/>
              <a:t>10</a:t>
            </a:r>
            <a:r>
              <a:rPr lang="zh-CN" altLang="en-US" b="1" dirty="0"/>
              <a:t>、</a:t>
            </a:r>
            <a:r>
              <a:rPr lang="en-US" altLang="zh-CN" b="1" dirty="0"/>
              <a:t>2</a:t>
            </a:r>
            <a:r>
              <a:rPr lang="en-US" altLang="zh-CN" b="1" baseline="30000" dirty="0"/>
              <a:t>20</a:t>
            </a:r>
            <a:r>
              <a:rPr lang="zh-CN" altLang="en-US" b="1" dirty="0"/>
              <a:t>、</a:t>
            </a:r>
            <a:r>
              <a:rPr lang="en-US" altLang="zh-CN" b="1" dirty="0"/>
              <a:t>2</a:t>
            </a:r>
            <a:r>
              <a:rPr lang="en-US" altLang="zh-CN" b="1" baseline="30000" dirty="0"/>
              <a:t>30</a:t>
            </a:r>
            <a:r>
              <a:rPr lang="zh-CN" altLang="en-US" b="1" dirty="0"/>
              <a:t>、</a:t>
            </a:r>
            <a:r>
              <a:rPr lang="en-US" altLang="zh-CN" b="1" dirty="0"/>
              <a:t>2</a:t>
            </a:r>
            <a:r>
              <a:rPr lang="en-US" altLang="zh-CN" b="1" baseline="30000" dirty="0"/>
              <a:t>40</a:t>
            </a:r>
            <a:r>
              <a:rPr lang="zh-CN" altLang="en-US" b="1" dirty="0"/>
              <a:t>。</a:t>
            </a:r>
          </a:p>
        </p:txBody>
      </p:sp>
      <p:sp>
        <p:nvSpPr>
          <p:cNvPr id="96" name="íşlïḍè">
            <a:extLst>
              <a:ext uri="{FF2B5EF4-FFF2-40B4-BE49-F238E27FC236}">
                <a16:creationId xmlns:a16="http://schemas.microsoft.com/office/drawing/2014/main" id="{C267FB1D-2BA2-4621-B86A-59D473C63697}"/>
              </a:ext>
            </a:extLst>
          </p:cNvPr>
          <p:cNvSpPr txBox="1"/>
          <p:nvPr/>
        </p:nvSpPr>
        <p:spPr>
          <a:xfrm>
            <a:off x="1223411" y="2637692"/>
            <a:ext cx="6271717" cy="41877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zh-CN" b="1" dirty="0"/>
              <a:t>速率单位中的</a:t>
            </a:r>
            <a:r>
              <a:rPr lang="en-US" altLang="zh-CN" b="1" dirty="0"/>
              <a:t>k</a:t>
            </a:r>
            <a:r>
              <a:rPr lang="zh-CN" altLang="zh-CN" b="1" dirty="0"/>
              <a:t>、</a:t>
            </a:r>
            <a:r>
              <a:rPr lang="en-US" altLang="zh-CN" b="1" dirty="0"/>
              <a:t>M</a:t>
            </a:r>
            <a:r>
              <a:rPr lang="zh-CN" altLang="zh-CN" b="1" dirty="0"/>
              <a:t>、</a:t>
            </a:r>
            <a:r>
              <a:rPr lang="en-US" altLang="zh-CN" b="1" dirty="0"/>
              <a:t>G</a:t>
            </a:r>
            <a:r>
              <a:rPr lang="zh-CN" altLang="zh-CN" b="1" dirty="0"/>
              <a:t>、</a:t>
            </a:r>
            <a:r>
              <a:rPr lang="en-US" altLang="zh-CN" b="1" dirty="0"/>
              <a:t>T</a:t>
            </a:r>
            <a:r>
              <a:rPr lang="zh-CN" altLang="zh-CN" b="1" dirty="0"/>
              <a:t>的数值分别为</a:t>
            </a:r>
            <a:r>
              <a:rPr lang="en-US" altLang="zh-CN" b="1" dirty="0"/>
              <a:t>10</a:t>
            </a:r>
            <a:r>
              <a:rPr lang="en-US" altLang="zh-CN" b="1" baseline="30000" dirty="0"/>
              <a:t>3</a:t>
            </a:r>
            <a:r>
              <a:rPr lang="zh-CN" altLang="zh-CN" b="1" dirty="0"/>
              <a:t>、</a:t>
            </a:r>
            <a:r>
              <a:rPr lang="en-US" altLang="zh-CN" b="1" dirty="0"/>
              <a:t>10</a:t>
            </a:r>
            <a:r>
              <a:rPr lang="en-US" altLang="zh-CN" b="1" baseline="30000" dirty="0"/>
              <a:t>6</a:t>
            </a:r>
            <a:r>
              <a:rPr lang="zh-CN" altLang="zh-CN" b="1" dirty="0"/>
              <a:t>、</a:t>
            </a:r>
            <a:r>
              <a:rPr lang="en-US" altLang="zh-CN" b="1" dirty="0"/>
              <a:t>10</a:t>
            </a:r>
            <a:r>
              <a:rPr lang="en-US" altLang="zh-CN" b="1" baseline="30000" dirty="0"/>
              <a:t>9</a:t>
            </a:r>
            <a:r>
              <a:rPr lang="zh-CN" altLang="zh-CN" b="1" dirty="0"/>
              <a:t>、</a:t>
            </a:r>
            <a:r>
              <a:rPr lang="en-US" altLang="zh-CN" b="1" dirty="0"/>
              <a:t>10</a:t>
            </a:r>
            <a:r>
              <a:rPr lang="en-US" altLang="zh-CN" b="1" baseline="30000" dirty="0"/>
              <a:t>12</a:t>
            </a:r>
            <a:r>
              <a:rPr lang="zh-CN" altLang="zh-CN" b="1" dirty="0"/>
              <a:t>。</a:t>
            </a:r>
            <a:endParaRPr lang="zh-CN" altLang="en-US" b="1" dirty="0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6C217D8E-4911-4006-B9DA-55DD0396D05C}"/>
              </a:ext>
            </a:extLst>
          </p:cNvPr>
          <p:cNvSpPr/>
          <p:nvPr/>
        </p:nvSpPr>
        <p:spPr>
          <a:xfrm>
            <a:off x="933106" y="2144058"/>
            <a:ext cx="255600" cy="255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BD5EEE06-ABD0-4A53-A565-18D9655072CF}"/>
              </a:ext>
            </a:extLst>
          </p:cNvPr>
          <p:cNvSpPr/>
          <p:nvPr/>
        </p:nvSpPr>
        <p:spPr>
          <a:xfrm>
            <a:off x="936479" y="2709181"/>
            <a:ext cx="255600" cy="255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9" name="表格 9">
            <a:extLst>
              <a:ext uri="{FF2B5EF4-FFF2-40B4-BE49-F238E27FC236}">
                <a16:creationId xmlns:a16="http://schemas.microsoft.com/office/drawing/2014/main" id="{702A5DE6-35A7-4C08-94A4-8E94EF5DCB2C}"/>
              </a:ext>
            </a:extLst>
          </p:cNvPr>
          <p:cNvGraphicFramePr>
            <a:graphicFrameLocks noGrp="1"/>
          </p:cNvGraphicFramePr>
          <p:nvPr/>
        </p:nvGraphicFramePr>
        <p:xfrm>
          <a:off x="736792" y="4324691"/>
          <a:ext cx="499211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6267">
                  <a:extLst>
                    <a:ext uri="{9D8B030D-6E8A-4147-A177-3AD203B41FA5}">
                      <a16:colId xmlns:a16="http://schemas.microsoft.com/office/drawing/2014/main" val="284838766"/>
                    </a:ext>
                  </a:extLst>
                </a:gridCol>
                <a:gridCol w="3225849">
                  <a:extLst>
                    <a:ext uri="{9D8B030D-6E8A-4147-A177-3AD203B41FA5}">
                      <a16:colId xmlns:a16="http://schemas.microsoft.com/office/drawing/2014/main" val="2216436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千字节（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KB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u="sng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 = </a:t>
                      </a:r>
                      <a:r>
                        <a:rPr lang="en-US" altLang="zh-CN" sz="1600" b="1" i="0" u="sng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600" b="1" i="0" u="sng" kern="1200" baseline="300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zh-CN" sz="1600" b="1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703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/>
                        <a:t>兆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字节（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lang="en-US" altLang="zh-CN" sz="1600" b="1" dirty="0"/>
                        <a:t>B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u="sng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 = K·KB = </a:t>
                      </a:r>
                      <a:r>
                        <a:rPr lang="en-US" altLang="zh-CN" sz="1600" b="1" i="0" u="sng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600" b="1" i="0" u="sng" kern="1200" baseline="300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 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26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吉字节（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G</a:t>
                      </a:r>
                      <a:r>
                        <a:rPr lang="en-US" altLang="zh-CN" sz="1600" b="1" dirty="0"/>
                        <a:t>B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u="sng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 = K·MB = </a:t>
                      </a:r>
                      <a:r>
                        <a:rPr lang="en-US" altLang="zh-CN" sz="1600" b="1" i="0" u="sng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600" b="1" i="0" u="sng" kern="1200" baseline="300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40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太字节（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T</a:t>
                      </a:r>
                      <a:r>
                        <a:rPr lang="en-US" altLang="zh-CN" sz="1600" b="1" dirty="0"/>
                        <a:t>B</a:t>
                      </a:r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u="sng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 = K·GB = </a:t>
                      </a:r>
                      <a:r>
                        <a:rPr lang="en-US" altLang="zh-CN" sz="1600" b="1" i="0" u="sng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600" b="1" i="0" u="sng" kern="1200" baseline="300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r>
                        <a:rPr lang="en-US" altLang="zh-CN" sz="1600" b="1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zh-CN" altLang="en-US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367763"/>
                  </a:ext>
                </a:extLst>
              </a:tr>
            </a:tbl>
          </a:graphicData>
        </a:graphic>
      </p:graphicFrame>
      <p:graphicFrame>
        <p:nvGraphicFramePr>
          <p:cNvPr id="100" name="表格 9">
            <a:extLst>
              <a:ext uri="{FF2B5EF4-FFF2-40B4-BE49-F238E27FC236}">
                <a16:creationId xmlns:a16="http://schemas.microsoft.com/office/drawing/2014/main" id="{BA490456-A860-4A6A-B710-965EC7C16BB1}"/>
              </a:ext>
            </a:extLst>
          </p:cNvPr>
          <p:cNvGraphicFramePr>
            <a:graphicFrameLocks noGrp="1"/>
          </p:cNvGraphicFramePr>
          <p:nvPr/>
        </p:nvGraphicFramePr>
        <p:xfrm>
          <a:off x="6407706" y="4339014"/>
          <a:ext cx="499211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6267">
                  <a:extLst>
                    <a:ext uri="{9D8B030D-6E8A-4147-A177-3AD203B41FA5}">
                      <a16:colId xmlns:a16="http://schemas.microsoft.com/office/drawing/2014/main" val="284838766"/>
                    </a:ext>
                  </a:extLst>
                </a:gridCol>
                <a:gridCol w="3225849">
                  <a:extLst>
                    <a:ext uri="{9D8B030D-6E8A-4147-A177-3AD203B41FA5}">
                      <a16:colId xmlns:a16="http://schemas.microsoft.com/office/drawing/2014/main" val="2216436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千比特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秒（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kb/s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u="sng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k</a:t>
                      </a:r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b/s = </a:t>
                      </a:r>
                      <a:r>
                        <a:rPr lang="en-US" altLang="zh-CN" sz="1600" b="1" i="0" u="sng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en-US" altLang="zh-CN" sz="1600" b="1" i="0" u="sng" kern="1200" baseline="300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b/s</a:t>
                      </a:r>
                      <a:endParaRPr lang="zh-CN" altLang="en-U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703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兆比特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秒（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Mb/s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u="sng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b/s 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= </a:t>
                      </a:r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</a:rPr>
                        <a:t>k·kb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/s = </a:t>
                      </a:r>
                      <a:r>
                        <a:rPr lang="en-US" altLang="zh-CN" sz="1600" b="1" i="0" u="sng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</a:t>
                      </a:r>
                      <a:r>
                        <a:rPr lang="en-US" altLang="zh-CN" sz="1600" b="1" i="0" u="sng" baseline="300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6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 b/s</a:t>
                      </a:r>
                      <a:endParaRPr lang="zh-CN" altLang="en-US" sz="1600" b="1" kern="12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726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吉比特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秒（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Gb/s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u="sng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b/s = </a:t>
                      </a:r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</a:rPr>
                        <a:t>k·Mb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/s = </a:t>
                      </a:r>
                      <a:r>
                        <a:rPr lang="en-US" altLang="zh-CN" sz="1600" b="1" i="0" u="sng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</a:t>
                      </a:r>
                      <a:r>
                        <a:rPr lang="en-US" altLang="zh-CN" sz="1600" b="1" i="0" u="sng" baseline="300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9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 b/s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400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太比特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秒（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Tb/s</a:t>
                      </a:r>
                      <a:r>
                        <a:rPr lang="zh-CN" altLang="en-US" sz="1600" b="1" dirty="0">
                          <a:solidFill>
                            <a:schemeClr val="bg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0" u="sng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b/s = </a:t>
                      </a:r>
                      <a:r>
                        <a:rPr lang="en-US" altLang="zh-CN" sz="1600" b="1" dirty="0" err="1">
                          <a:solidFill>
                            <a:schemeClr val="bg1"/>
                          </a:solidFill>
                        </a:rPr>
                        <a:t>k·Gb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/s = </a:t>
                      </a:r>
                      <a:r>
                        <a:rPr lang="en-US" altLang="zh-CN" sz="1600" b="1" i="0" u="sng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10</a:t>
                      </a:r>
                      <a:r>
                        <a:rPr lang="en-US" altLang="zh-CN" sz="1600" b="1" i="0" u="sng" baseline="300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12</a:t>
                      </a:r>
                      <a:r>
                        <a:rPr lang="en-US" altLang="zh-CN" sz="1600" b="1" dirty="0">
                          <a:solidFill>
                            <a:schemeClr val="bg1"/>
                          </a:solidFill>
                        </a:rPr>
                        <a:t> b/s</a:t>
                      </a:r>
                      <a:endParaRPr lang="zh-CN" alt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52595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55048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6" grpId="0"/>
      <p:bldP spid="97" grpId="0" animBg="1"/>
      <p:bldP spid="9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计算机网络的性能指标</a:t>
              </a:r>
            </a:p>
          </p:txBody>
        </p:sp>
      </p:grpSp>
      <p:sp>
        <p:nvSpPr>
          <p:cNvPr id="86" name="îṡ1îḑè">
            <a:extLst>
              <a:ext uri="{FF2B5EF4-FFF2-40B4-BE49-F238E27FC236}">
                <a16:creationId xmlns:a16="http://schemas.microsoft.com/office/drawing/2014/main" id="{A803C2F9-4FBB-4C35-AC3F-2B77804282A2}"/>
              </a:ext>
            </a:extLst>
          </p:cNvPr>
          <p:cNvSpPr/>
          <p:nvPr/>
        </p:nvSpPr>
        <p:spPr>
          <a:xfrm>
            <a:off x="304800" y="1299908"/>
            <a:ext cx="1334228" cy="482600"/>
          </a:xfrm>
          <a:prstGeom prst="rect">
            <a:avLst/>
          </a:prstGeom>
          <a:solidFill>
            <a:schemeClr val="accent1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1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速率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7" name="îṧḻîḍê">
            <a:extLst>
              <a:ext uri="{FF2B5EF4-FFF2-40B4-BE49-F238E27FC236}">
                <a16:creationId xmlns:a16="http://schemas.microsoft.com/office/drawing/2014/main" id="{DFA6F1EB-29D9-4A75-B24E-7FE2E4C0E97D}"/>
              </a:ext>
            </a:extLst>
          </p:cNvPr>
          <p:cNvSpPr/>
          <p:nvPr/>
        </p:nvSpPr>
        <p:spPr>
          <a:xfrm>
            <a:off x="17688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带宽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8" name="iṡlíďè">
            <a:extLst>
              <a:ext uri="{FF2B5EF4-FFF2-40B4-BE49-F238E27FC236}">
                <a16:creationId xmlns:a16="http://schemas.microsoft.com/office/drawing/2014/main" id="{C52BE881-D827-42B9-AFCD-BFDFE2366E21}"/>
              </a:ext>
            </a:extLst>
          </p:cNvPr>
          <p:cNvSpPr/>
          <p:nvPr/>
        </p:nvSpPr>
        <p:spPr>
          <a:xfrm>
            <a:off x="32328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rgbClr val="FFFFFF"/>
                </a:solidFill>
              </a:rPr>
              <a:t>吞吐量</a:t>
            </a:r>
            <a:endParaRPr lang="en-GB" b="1" dirty="0">
              <a:solidFill>
                <a:srgbClr val="FFFFFF"/>
              </a:solidFill>
            </a:endParaRPr>
          </a:p>
        </p:txBody>
      </p:sp>
      <p:sp>
        <p:nvSpPr>
          <p:cNvPr id="89" name="iṥľïdè">
            <a:extLst>
              <a:ext uri="{FF2B5EF4-FFF2-40B4-BE49-F238E27FC236}">
                <a16:creationId xmlns:a16="http://schemas.microsoft.com/office/drawing/2014/main" id="{7E37DD0B-57D9-45E4-B3AD-EEEB679EF75E}"/>
              </a:ext>
            </a:extLst>
          </p:cNvPr>
          <p:cNvSpPr/>
          <p:nvPr/>
        </p:nvSpPr>
        <p:spPr>
          <a:xfrm>
            <a:off x="469687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0" name="îśľîḍé">
            <a:extLst>
              <a:ext uri="{FF2B5EF4-FFF2-40B4-BE49-F238E27FC236}">
                <a16:creationId xmlns:a16="http://schemas.microsoft.com/office/drawing/2014/main" id="{67EBD377-E6A9-419F-9713-92993F43A27E}"/>
              </a:ext>
            </a:extLst>
          </p:cNvPr>
          <p:cNvSpPr/>
          <p:nvPr/>
        </p:nvSpPr>
        <p:spPr>
          <a:xfrm>
            <a:off x="76249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往返时间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1" name="îśľîḍé">
            <a:extLst>
              <a:ext uri="{FF2B5EF4-FFF2-40B4-BE49-F238E27FC236}">
                <a16:creationId xmlns:a16="http://schemas.microsoft.com/office/drawing/2014/main" id="{01D6FD95-2A4C-4A1F-ADAA-E06A0DB2334E}"/>
              </a:ext>
            </a:extLst>
          </p:cNvPr>
          <p:cNvSpPr/>
          <p:nvPr/>
        </p:nvSpPr>
        <p:spPr>
          <a:xfrm>
            <a:off x="61609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时延带宽积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2" name="îśľîḍé">
            <a:extLst>
              <a:ext uri="{FF2B5EF4-FFF2-40B4-BE49-F238E27FC236}">
                <a16:creationId xmlns:a16="http://schemas.microsoft.com/office/drawing/2014/main" id="{D196E2C0-5678-4A32-8DE3-2A8BA36E0749}"/>
              </a:ext>
            </a:extLst>
          </p:cNvPr>
          <p:cNvSpPr/>
          <p:nvPr/>
        </p:nvSpPr>
        <p:spPr>
          <a:xfrm>
            <a:off x="90889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利用率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3" name="îśľîḍé">
            <a:extLst>
              <a:ext uri="{FF2B5EF4-FFF2-40B4-BE49-F238E27FC236}">
                <a16:creationId xmlns:a16="http://schemas.microsoft.com/office/drawing/2014/main" id="{9010AC37-690A-4F23-99A9-04A6AEEBAC9D}"/>
              </a:ext>
            </a:extLst>
          </p:cNvPr>
          <p:cNvSpPr/>
          <p:nvPr/>
        </p:nvSpPr>
        <p:spPr>
          <a:xfrm>
            <a:off x="10552974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丢包率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22A8D3-AA04-4F7A-9E39-8D04E23AD3EA}"/>
              </a:ext>
            </a:extLst>
          </p:cNvPr>
          <p:cNvSpPr txBox="1"/>
          <p:nvPr/>
        </p:nvSpPr>
        <p:spPr>
          <a:xfrm>
            <a:off x="314221" y="2021332"/>
            <a:ext cx="10108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【</a:t>
            </a:r>
            <a:r>
              <a:rPr lang="zh-CN" altLang="en-US" b="1" dirty="0">
                <a:latin typeface="+mn-ea"/>
              </a:rPr>
              <a:t>练习</a:t>
            </a:r>
            <a:r>
              <a:rPr lang="en-US" altLang="zh-CN" b="1" dirty="0">
                <a:latin typeface="+mn-ea"/>
              </a:rPr>
              <a:t>1】</a:t>
            </a:r>
            <a:r>
              <a:rPr lang="zh-CN" altLang="en-US" b="1" dirty="0">
                <a:latin typeface="+mn-ea"/>
              </a:rPr>
              <a:t>有一个待发送的数据块，大小为</a:t>
            </a:r>
            <a:r>
              <a:rPr lang="en-US" altLang="zh-CN" b="1" dirty="0">
                <a:latin typeface="+mn-ea"/>
              </a:rPr>
              <a:t>100MB</a:t>
            </a:r>
            <a:r>
              <a:rPr lang="zh-CN" altLang="en-US" b="1" dirty="0">
                <a:latin typeface="+mn-ea"/>
              </a:rPr>
              <a:t>，网卡的发送速率为</a:t>
            </a:r>
            <a:r>
              <a:rPr lang="en-US" altLang="zh-CN" b="1" dirty="0">
                <a:latin typeface="+mn-ea"/>
              </a:rPr>
              <a:t>100Mbps</a:t>
            </a:r>
            <a:r>
              <a:rPr lang="zh-CN" altLang="en-US" b="1" dirty="0">
                <a:latin typeface="+mn-ea"/>
              </a:rPr>
              <a:t>，</a:t>
            </a:r>
            <a:endParaRPr lang="en-US" altLang="zh-CN" b="1" dirty="0">
              <a:latin typeface="+mn-ea"/>
            </a:endParaRPr>
          </a:p>
          <a:p>
            <a:r>
              <a:rPr lang="en-US" altLang="zh-CN" b="1" dirty="0">
                <a:latin typeface="+mn-ea"/>
              </a:rPr>
              <a:t>                </a:t>
            </a:r>
            <a:r>
              <a:rPr lang="zh-CN" altLang="en-US" b="1" dirty="0">
                <a:latin typeface="+mn-ea"/>
              </a:rPr>
              <a:t>则网卡发送完该数据块需要多长时间？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B28365A-ADC0-4CD2-B30A-0B62CB53EA04}"/>
              </a:ext>
            </a:extLst>
          </p:cNvPr>
          <p:cNvSpPr txBox="1"/>
          <p:nvPr/>
        </p:nvSpPr>
        <p:spPr>
          <a:xfrm>
            <a:off x="493835" y="3244334"/>
            <a:ext cx="878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n-ea"/>
              </a:rPr>
              <a:t>解析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577077B-5994-46AD-8CA3-D7A341C8F6C4}"/>
              </a:ext>
            </a:extLst>
          </p:cNvPr>
          <p:cNvGrpSpPr/>
          <p:nvPr/>
        </p:nvGrpSpPr>
        <p:grpSpPr>
          <a:xfrm>
            <a:off x="3957406" y="3854259"/>
            <a:ext cx="514414" cy="818140"/>
            <a:chOff x="3957406" y="3854259"/>
            <a:chExt cx="514414" cy="818140"/>
          </a:xfrm>
        </p:grpSpPr>
        <p:sp>
          <p:nvSpPr>
            <p:cNvPr id="37" name="流程图: 数据 36">
              <a:extLst>
                <a:ext uri="{FF2B5EF4-FFF2-40B4-BE49-F238E27FC236}">
                  <a16:creationId xmlns:a16="http://schemas.microsoft.com/office/drawing/2014/main" id="{BEBBA2E4-FCEC-4291-A593-DC791B8E5F93}"/>
                </a:ext>
              </a:extLst>
            </p:cNvPr>
            <p:cNvSpPr/>
            <p:nvPr/>
          </p:nvSpPr>
          <p:spPr>
            <a:xfrm>
              <a:off x="4098279" y="3854259"/>
              <a:ext cx="373541" cy="310752"/>
            </a:xfrm>
            <a:prstGeom prst="flowChartInputOutpu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流程图: 数据 12">
              <a:extLst>
                <a:ext uri="{FF2B5EF4-FFF2-40B4-BE49-F238E27FC236}">
                  <a16:creationId xmlns:a16="http://schemas.microsoft.com/office/drawing/2014/main" id="{95CED525-085B-462E-A447-63C313ED2A3F}"/>
                </a:ext>
              </a:extLst>
            </p:cNvPr>
            <p:cNvSpPr/>
            <p:nvPr/>
          </p:nvSpPr>
          <p:spPr>
            <a:xfrm>
              <a:off x="3957406" y="4361647"/>
              <a:ext cx="373541" cy="310752"/>
            </a:xfrm>
            <a:prstGeom prst="flowChartInputOutpu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EBB6935-46EC-4304-BA8E-A17DD97D325E}"/>
                  </a:ext>
                </a:extLst>
              </p:cNvPr>
              <p:cNvSpPr txBox="1"/>
              <p:nvPr/>
            </p:nvSpPr>
            <p:spPr>
              <a:xfrm>
                <a:off x="1972168" y="3842468"/>
                <a:ext cx="1534907" cy="8820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𝑀𝐵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𝑀𝑏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EBB6935-46EC-4304-BA8E-A17DD97D3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168" y="3842468"/>
                <a:ext cx="1534907" cy="8820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97A51E4-1996-4DCC-994B-59AFD6B61DC3}"/>
                  </a:ext>
                </a:extLst>
              </p:cNvPr>
              <p:cNvSpPr txBox="1"/>
              <p:nvPr/>
            </p:nvSpPr>
            <p:spPr>
              <a:xfrm>
                <a:off x="3583152" y="3843878"/>
                <a:ext cx="1306063" cy="8792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𝑀𝐵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𝑀𝑏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97A51E4-1996-4DCC-994B-59AFD6B61D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152" y="3843878"/>
                <a:ext cx="1306063" cy="8792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53FD5D3-2020-4FF2-A034-31B9CC5A9597}"/>
                  </a:ext>
                </a:extLst>
              </p:cNvPr>
              <p:cNvSpPr txBox="1"/>
              <p:nvPr/>
            </p:nvSpPr>
            <p:spPr>
              <a:xfrm>
                <a:off x="4965292" y="3788904"/>
                <a:ext cx="1564595" cy="9371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53FD5D3-2020-4FF2-A034-31B9CC5A9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292" y="3788904"/>
                <a:ext cx="1564595" cy="9371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3229E65-0135-4576-B600-BD5F4242B55F}"/>
                  </a:ext>
                </a:extLst>
              </p:cNvPr>
              <p:cNvSpPr txBox="1"/>
              <p:nvPr/>
            </p:nvSpPr>
            <p:spPr>
              <a:xfrm>
                <a:off x="6605965" y="3785913"/>
                <a:ext cx="1784078" cy="9371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×8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3229E65-0135-4576-B600-BD5F4242B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965" y="3785913"/>
                <a:ext cx="1784078" cy="9371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5CC44A2B-C6E1-4662-AE5D-3B95AA283B18}"/>
                  </a:ext>
                </a:extLst>
              </p:cNvPr>
              <p:cNvSpPr txBox="1"/>
              <p:nvPr/>
            </p:nvSpPr>
            <p:spPr>
              <a:xfrm>
                <a:off x="8466121" y="4068041"/>
                <a:ext cx="208685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=8.388608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5CC44A2B-C6E1-4662-AE5D-3B95AA283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6121" y="4068041"/>
                <a:ext cx="2086853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07D93403-13E9-41C0-9671-3A0C9B668902}"/>
              </a:ext>
            </a:extLst>
          </p:cNvPr>
          <p:cNvSpPr txBox="1"/>
          <p:nvPr/>
        </p:nvSpPr>
        <p:spPr>
          <a:xfrm>
            <a:off x="3535719" y="3321254"/>
            <a:ext cx="1590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  <a:latin typeface="+mn-ea"/>
              </a:rPr>
              <a:t>不能直接约分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85BF4CC-5308-4693-BB54-D51BDD6A4471}"/>
              </a:ext>
            </a:extLst>
          </p:cNvPr>
          <p:cNvGrpSpPr/>
          <p:nvPr/>
        </p:nvGrpSpPr>
        <p:grpSpPr>
          <a:xfrm>
            <a:off x="2047255" y="3842468"/>
            <a:ext cx="692366" cy="769246"/>
            <a:chOff x="2047255" y="3842468"/>
            <a:chExt cx="692366" cy="769246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5A8A7AED-1097-4E09-928D-922201AF9348}"/>
                </a:ext>
              </a:extLst>
            </p:cNvPr>
            <p:cNvCxnSpPr>
              <a:cxnSpLocks/>
            </p:cNvCxnSpPr>
            <p:nvPr/>
          </p:nvCxnSpPr>
          <p:spPr>
            <a:xfrm>
              <a:off x="2182091" y="3842468"/>
              <a:ext cx="557530" cy="225573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5A5966A3-1C45-4475-B652-1989F0FDED12}"/>
                </a:ext>
              </a:extLst>
            </p:cNvPr>
            <p:cNvCxnSpPr>
              <a:cxnSpLocks/>
            </p:cNvCxnSpPr>
            <p:nvPr/>
          </p:nvCxnSpPr>
          <p:spPr>
            <a:xfrm>
              <a:off x="2047255" y="4386141"/>
              <a:ext cx="557530" cy="225573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FF816E6-A923-40BB-A0B3-F30F8BE62BCB}"/>
              </a:ext>
            </a:extLst>
          </p:cNvPr>
          <p:cNvGrpSpPr/>
          <p:nvPr/>
        </p:nvGrpSpPr>
        <p:grpSpPr>
          <a:xfrm>
            <a:off x="7690175" y="3961689"/>
            <a:ext cx="702226" cy="602892"/>
            <a:chOff x="7690175" y="3961689"/>
            <a:chExt cx="702226" cy="602892"/>
          </a:xfrm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9FAB200A-8719-47F7-BF19-24D360FBE545}"/>
                </a:ext>
              </a:extLst>
            </p:cNvPr>
            <p:cNvCxnSpPr>
              <a:cxnSpLocks/>
            </p:cNvCxnSpPr>
            <p:nvPr/>
          </p:nvCxnSpPr>
          <p:spPr>
            <a:xfrm>
              <a:off x="8157311" y="3961689"/>
              <a:ext cx="235090" cy="95116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1432912-D12E-4CFB-ADA8-E6B73B610B97}"/>
                </a:ext>
              </a:extLst>
            </p:cNvPr>
            <p:cNvCxnSpPr>
              <a:cxnSpLocks/>
            </p:cNvCxnSpPr>
            <p:nvPr/>
          </p:nvCxnSpPr>
          <p:spPr>
            <a:xfrm>
              <a:off x="7690175" y="4469465"/>
              <a:ext cx="235090" cy="95116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文本框 59">
            <a:extLst>
              <a:ext uri="{FF2B5EF4-FFF2-40B4-BE49-F238E27FC236}">
                <a16:creationId xmlns:a16="http://schemas.microsoft.com/office/drawing/2014/main" id="{85029622-65CE-415F-840C-20BA55056AE1}"/>
              </a:ext>
            </a:extLst>
          </p:cNvPr>
          <p:cNvSpPr txBox="1"/>
          <p:nvPr/>
        </p:nvSpPr>
        <p:spPr>
          <a:xfrm>
            <a:off x="3616160" y="5112023"/>
            <a:ext cx="1429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4"/>
                </a:solidFill>
                <a:latin typeface="+mn-ea"/>
              </a:rPr>
              <a:t>估算时</a:t>
            </a:r>
            <a:endParaRPr lang="en-US" altLang="zh-CN" b="1" dirty="0">
              <a:solidFill>
                <a:schemeClr val="accent4"/>
              </a:solidFill>
              <a:latin typeface="+mn-ea"/>
            </a:endParaRPr>
          </a:p>
          <a:p>
            <a:pPr algn="ctr"/>
            <a:r>
              <a:rPr lang="zh-CN" altLang="en-US" b="1" dirty="0">
                <a:solidFill>
                  <a:schemeClr val="accent4"/>
                </a:solidFill>
                <a:latin typeface="+mn-ea"/>
              </a:rPr>
              <a:t>直接约分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D55CB2A-E016-46FD-9E30-D562A420A6F8}"/>
              </a:ext>
            </a:extLst>
          </p:cNvPr>
          <p:cNvGrpSpPr/>
          <p:nvPr/>
        </p:nvGrpSpPr>
        <p:grpSpPr>
          <a:xfrm>
            <a:off x="4965292" y="4904858"/>
            <a:ext cx="4321310" cy="900343"/>
            <a:chOff x="4965292" y="4904858"/>
            <a:chExt cx="4321310" cy="9003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1886F0B6-42EE-401B-A588-FAA96156ED55}"/>
                    </a:ext>
                  </a:extLst>
                </p:cNvPr>
                <p:cNvSpPr txBox="1"/>
                <p:nvPr/>
              </p:nvSpPr>
              <p:spPr>
                <a:xfrm>
                  <a:off x="4965292" y="4925986"/>
                  <a:ext cx="996683" cy="87921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f>
                          <m:f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1886F0B6-42EE-401B-A588-FAA96156E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5292" y="4925986"/>
                  <a:ext cx="996683" cy="87921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10C9000A-0A37-4F8D-8B61-DF16F33A5993}"/>
                    </a:ext>
                  </a:extLst>
                </p:cNvPr>
                <p:cNvSpPr txBox="1"/>
                <p:nvPr/>
              </p:nvSpPr>
              <p:spPr>
                <a:xfrm>
                  <a:off x="6605965" y="4904858"/>
                  <a:ext cx="999889" cy="8906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10C9000A-0A37-4F8D-8B61-DF16F33A59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5965" y="4904858"/>
                  <a:ext cx="999889" cy="89062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A2828C7-F7B7-4052-BAC9-1BC614E452C6}"/>
                    </a:ext>
                  </a:extLst>
                </p:cNvPr>
                <p:cNvSpPr txBox="1"/>
                <p:nvPr/>
              </p:nvSpPr>
              <p:spPr>
                <a:xfrm>
                  <a:off x="8466121" y="5150149"/>
                  <a:ext cx="820481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=8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A2828C7-F7B7-4052-BAC9-1BC614E45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6121" y="5150149"/>
                  <a:ext cx="820481" cy="43088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58354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3" grpId="0"/>
      <p:bldP spid="6" grpId="0"/>
      <p:bldP spid="7" grpId="0"/>
      <p:bldP spid="27" grpId="0"/>
      <p:bldP spid="28" grpId="0"/>
      <p:bldP spid="29" grpId="0"/>
      <p:bldP spid="39" grpId="0"/>
      <p:bldP spid="6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计算机网络的性能指标</a:t>
              </a:r>
            </a:p>
          </p:txBody>
        </p:sp>
      </p:grpSp>
      <p:sp>
        <p:nvSpPr>
          <p:cNvPr id="86" name="îṡ1îḑè">
            <a:extLst>
              <a:ext uri="{FF2B5EF4-FFF2-40B4-BE49-F238E27FC236}">
                <a16:creationId xmlns:a16="http://schemas.microsoft.com/office/drawing/2014/main" id="{A803C2F9-4FBB-4C35-AC3F-2B77804282A2}"/>
              </a:ext>
            </a:extLst>
          </p:cNvPr>
          <p:cNvSpPr/>
          <p:nvPr/>
        </p:nvSpPr>
        <p:spPr>
          <a:xfrm>
            <a:off x="3048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速率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7" name="îṧḻîḍê">
            <a:extLst>
              <a:ext uri="{FF2B5EF4-FFF2-40B4-BE49-F238E27FC236}">
                <a16:creationId xmlns:a16="http://schemas.microsoft.com/office/drawing/2014/main" id="{DFA6F1EB-29D9-4A75-B24E-7FE2E4C0E97D}"/>
              </a:ext>
            </a:extLst>
          </p:cNvPr>
          <p:cNvSpPr/>
          <p:nvPr/>
        </p:nvSpPr>
        <p:spPr>
          <a:xfrm>
            <a:off x="17688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带宽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8" name="iṡlíďè">
            <a:extLst>
              <a:ext uri="{FF2B5EF4-FFF2-40B4-BE49-F238E27FC236}">
                <a16:creationId xmlns:a16="http://schemas.microsoft.com/office/drawing/2014/main" id="{C52BE881-D827-42B9-AFCD-BFDFE2366E21}"/>
              </a:ext>
            </a:extLst>
          </p:cNvPr>
          <p:cNvSpPr/>
          <p:nvPr/>
        </p:nvSpPr>
        <p:spPr>
          <a:xfrm>
            <a:off x="32328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rgbClr val="FFFFFF"/>
                </a:solidFill>
              </a:rPr>
              <a:t>吞吐量</a:t>
            </a:r>
            <a:endParaRPr lang="en-GB" b="1" dirty="0">
              <a:solidFill>
                <a:srgbClr val="FFFFFF"/>
              </a:solidFill>
            </a:endParaRPr>
          </a:p>
        </p:txBody>
      </p:sp>
      <p:sp>
        <p:nvSpPr>
          <p:cNvPr id="89" name="iṥľïdè">
            <a:extLst>
              <a:ext uri="{FF2B5EF4-FFF2-40B4-BE49-F238E27FC236}">
                <a16:creationId xmlns:a16="http://schemas.microsoft.com/office/drawing/2014/main" id="{7E37DD0B-57D9-45E4-B3AD-EEEB679EF75E}"/>
              </a:ext>
            </a:extLst>
          </p:cNvPr>
          <p:cNvSpPr/>
          <p:nvPr/>
        </p:nvSpPr>
        <p:spPr>
          <a:xfrm>
            <a:off x="469687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0" name="îśľîḍé">
            <a:extLst>
              <a:ext uri="{FF2B5EF4-FFF2-40B4-BE49-F238E27FC236}">
                <a16:creationId xmlns:a16="http://schemas.microsoft.com/office/drawing/2014/main" id="{67EBD377-E6A9-419F-9713-92993F43A27E}"/>
              </a:ext>
            </a:extLst>
          </p:cNvPr>
          <p:cNvSpPr/>
          <p:nvPr/>
        </p:nvSpPr>
        <p:spPr>
          <a:xfrm>
            <a:off x="76249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往返时间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1" name="îśľîḍé">
            <a:extLst>
              <a:ext uri="{FF2B5EF4-FFF2-40B4-BE49-F238E27FC236}">
                <a16:creationId xmlns:a16="http://schemas.microsoft.com/office/drawing/2014/main" id="{01D6FD95-2A4C-4A1F-ADAA-E06A0DB2334E}"/>
              </a:ext>
            </a:extLst>
          </p:cNvPr>
          <p:cNvSpPr/>
          <p:nvPr/>
        </p:nvSpPr>
        <p:spPr>
          <a:xfrm>
            <a:off x="61609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时延带宽积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2" name="îśľîḍé">
            <a:extLst>
              <a:ext uri="{FF2B5EF4-FFF2-40B4-BE49-F238E27FC236}">
                <a16:creationId xmlns:a16="http://schemas.microsoft.com/office/drawing/2014/main" id="{D196E2C0-5678-4A32-8DE3-2A8BA36E0749}"/>
              </a:ext>
            </a:extLst>
          </p:cNvPr>
          <p:cNvSpPr/>
          <p:nvPr/>
        </p:nvSpPr>
        <p:spPr>
          <a:xfrm>
            <a:off x="90889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利用率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3" name="îśľîḍé">
            <a:extLst>
              <a:ext uri="{FF2B5EF4-FFF2-40B4-BE49-F238E27FC236}">
                <a16:creationId xmlns:a16="http://schemas.microsoft.com/office/drawing/2014/main" id="{9010AC37-690A-4F23-99A9-04A6AEEBAC9D}"/>
              </a:ext>
            </a:extLst>
          </p:cNvPr>
          <p:cNvSpPr/>
          <p:nvPr/>
        </p:nvSpPr>
        <p:spPr>
          <a:xfrm>
            <a:off x="10552974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丢包率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5" name="îṧḻîḍê">
            <a:extLst>
              <a:ext uri="{FF2B5EF4-FFF2-40B4-BE49-F238E27FC236}">
                <a16:creationId xmlns:a16="http://schemas.microsoft.com/office/drawing/2014/main" id="{0A697AD8-C1F3-4AB3-B578-21E430CB1F19}"/>
              </a:ext>
            </a:extLst>
          </p:cNvPr>
          <p:cNvSpPr/>
          <p:nvPr/>
        </p:nvSpPr>
        <p:spPr>
          <a:xfrm>
            <a:off x="3232849" y="1299908"/>
            <a:ext cx="1334228" cy="482600"/>
          </a:xfrm>
          <a:prstGeom prst="rect">
            <a:avLst/>
          </a:prstGeom>
          <a:solidFill>
            <a:schemeClr val="accent3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3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吞吐量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25" name="íşlïḍè">
            <a:extLst>
              <a:ext uri="{FF2B5EF4-FFF2-40B4-BE49-F238E27FC236}">
                <a16:creationId xmlns:a16="http://schemas.microsoft.com/office/drawing/2014/main" id="{A9848A05-7921-4B4A-829E-900FB3D071E2}"/>
              </a:ext>
            </a:extLst>
          </p:cNvPr>
          <p:cNvSpPr txBox="1"/>
          <p:nvPr/>
        </p:nvSpPr>
        <p:spPr>
          <a:xfrm>
            <a:off x="1223412" y="1836186"/>
            <a:ext cx="10136664" cy="934885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/>
              <a:t>吞吐量是指在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单位时间内通过某个网络或接口的实际数据量</a:t>
            </a:r>
            <a:r>
              <a:rPr lang="zh-CN" altLang="en-US" b="1" dirty="0"/>
              <a:t>。吞吐量常被用于对实际网络的测量，以便获知到底有多少数据量通过了网络。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6C10ED3-C8F4-438D-806C-FC2D4BF2EE4B}"/>
              </a:ext>
            </a:extLst>
          </p:cNvPr>
          <p:cNvSpPr/>
          <p:nvPr/>
        </p:nvSpPr>
        <p:spPr>
          <a:xfrm>
            <a:off x="933106" y="2047238"/>
            <a:ext cx="255600" cy="255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íşlïḍè">
            <a:extLst>
              <a:ext uri="{FF2B5EF4-FFF2-40B4-BE49-F238E27FC236}">
                <a16:creationId xmlns:a16="http://schemas.microsoft.com/office/drawing/2014/main" id="{A3268865-C509-416D-BED8-A4F259A5EAE9}"/>
              </a:ext>
            </a:extLst>
          </p:cNvPr>
          <p:cNvSpPr txBox="1"/>
          <p:nvPr/>
        </p:nvSpPr>
        <p:spPr>
          <a:xfrm>
            <a:off x="1223411" y="2686211"/>
            <a:ext cx="2984907" cy="468233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/>
              <a:t>吞吐量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受网络带宽的限制</a:t>
            </a:r>
            <a:r>
              <a:rPr lang="zh-CN" altLang="en-US" b="1" dirty="0"/>
              <a:t>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D48D375-8C0A-48C4-9A01-B02E7D5BD0BF}"/>
              </a:ext>
            </a:extLst>
          </p:cNvPr>
          <p:cNvSpPr/>
          <p:nvPr/>
        </p:nvSpPr>
        <p:spPr>
          <a:xfrm>
            <a:off x="933106" y="2794296"/>
            <a:ext cx="255600" cy="255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20467C4D-2B19-4AF6-8BF1-A4549F3669F4}"/>
              </a:ext>
            </a:extLst>
          </p:cNvPr>
          <p:cNvGrpSpPr/>
          <p:nvPr/>
        </p:nvGrpSpPr>
        <p:grpSpPr>
          <a:xfrm>
            <a:off x="2824001" y="2998607"/>
            <a:ext cx="8092335" cy="2750094"/>
            <a:chOff x="2824001" y="2998607"/>
            <a:chExt cx="8092335" cy="2750094"/>
          </a:xfrm>
        </p:grpSpPr>
        <p:sp>
          <p:nvSpPr>
            <p:cNvPr id="54" name="圆柱体 53">
              <a:extLst>
                <a:ext uri="{FF2B5EF4-FFF2-40B4-BE49-F238E27FC236}">
                  <a16:creationId xmlns:a16="http://schemas.microsoft.com/office/drawing/2014/main" id="{0EE24D00-8014-4C8F-AC9B-34DE82EEDC23}"/>
                </a:ext>
              </a:extLst>
            </p:cNvPr>
            <p:cNvSpPr/>
            <p:nvPr/>
          </p:nvSpPr>
          <p:spPr>
            <a:xfrm rot="16200000">
              <a:off x="8196030" y="4085003"/>
              <a:ext cx="888246" cy="1742111"/>
            </a:xfrm>
            <a:prstGeom prst="can">
              <a:avLst/>
            </a:prstGeom>
            <a:solidFill>
              <a:schemeClr val="bg2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5" name="图形 54">
              <a:extLst>
                <a:ext uri="{FF2B5EF4-FFF2-40B4-BE49-F238E27FC236}">
                  <a16:creationId xmlns:a16="http://schemas.microsoft.com/office/drawing/2014/main" id="{F52C2CB4-A34B-4C5C-A2B8-3A96AA9AA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99636" y="3332638"/>
              <a:ext cx="587844" cy="772326"/>
            </a:xfrm>
            <a:prstGeom prst="rect">
              <a:avLst/>
            </a:prstGeom>
          </p:spPr>
        </p:pic>
        <p:pic>
          <p:nvPicPr>
            <p:cNvPr id="56" name="图形 55">
              <a:extLst>
                <a:ext uri="{FF2B5EF4-FFF2-40B4-BE49-F238E27FC236}">
                  <a16:creationId xmlns:a16="http://schemas.microsoft.com/office/drawing/2014/main" id="{DF02CB89-0B86-4F43-8AF9-6AA4DE3F9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43656" y="2998607"/>
              <a:ext cx="675394" cy="772326"/>
            </a:xfrm>
            <a:prstGeom prst="rect">
              <a:avLst/>
            </a:prstGeom>
          </p:spPr>
        </p:pic>
        <p:pic>
          <p:nvPicPr>
            <p:cNvPr id="57" name="图形 56">
              <a:extLst>
                <a:ext uri="{FF2B5EF4-FFF2-40B4-BE49-F238E27FC236}">
                  <a16:creationId xmlns:a16="http://schemas.microsoft.com/office/drawing/2014/main" id="{48374FB2-C974-4156-BEF2-70FE04E79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201387" y="4739461"/>
              <a:ext cx="712918" cy="797342"/>
            </a:xfrm>
            <a:prstGeom prst="rect">
              <a:avLst/>
            </a:prstGeom>
          </p:spPr>
        </p:pic>
        <p:pic>
          <p:nvPicPr>
            <p:cNvPr id="59" name="图形 58">
              <a:extLst>
                <a:ext uri="{FF2B5EF4-FFF2-40B4-BE49-F238E27FC236}">
                  <a16:creationId xmlns:a16="http://schemas.microsoft.com/office/drawing/2014/main" id="{4849325D-8281-470C-AC40-650308776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558982" y="4625664"/>
              <a:ext cx="1208017" cy="735091"/>
            </a:xfrm>
            <a:prstGeom prst="rect">
              <a:avLst/>
            </a:prstGeom>
          </p:spPr>
        </p:pic>
        <p:pic>
          <p:nvPicPr>
            <p:cNvPr id="60" name="图形 59">
              <a:extLst>
                <a:ext uri="{FF2B5EF4-FFF2-40B4-BE49-F238E27FC236}">
                  <a16:creationId xmlns:a16="http://schemas.microsoft.com/office/drawing/2014/main" id="{98573816-BD44-474D-8A4F-E3778FEF1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083545" y="4104964"/>
              <a:ext cx="2606051" cy="1586483"/>
            </a:xfrm>
            <a:prstGeom prst="rect">
              <a:avLst/>
            </a:prstGeom>
          </p:spPr>
        </p:pic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8CE9E939-5F37-4A82-BD6B-840CB9D4BD63}"/>
                </a:ext>
              </a:extLst>
            </p:cNvPr>
            <p:cNvSpPr txBox="1"/>
            <p:nvPr/>
          </p:nvSpPr>
          <p:spPr>
            <a:xfrm>
              <a:off x="3232849" y="3594100"/>
              <a:ext cx="14013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latin typeface="+mn-ea"/>
                </a:rPr>
                <a:t>Web</a:t>
              </a:r>
              <a:r>
                <a:rPr lang="zh-CN" altLang="en-US" sz="1600" b="1" dirty="0">
                  <a:latin typeface="+mn-ea"/>
                </a:rPr>
                <a:t>服务器</a:t>
              </a: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65E3E879-CC36-4BCE-B56C-85C72AC8CF25}"/>
                </a:ext>
              </a:extLst>
            </p:cNvPr>
            <p:cNvSpPr txBox="1"/>
            <p:nvPr/>
          </p:nvSpPr>
          <p:spPr>
            <a:xfrm>
              <a:off x="5804802" y="5239824"/>
              <a:ext cx="12080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+mn-ea"/>
                </a:rPr>
                <a:t>因特网</a:t>
              </a: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7FD23B90-EC93-4382-A452-03E5A17FFC1B}"/>
                </a:ext>
              </a:extLst>
            </p:cNvPr>
            <p:cNvSpPr txBox="1"/>
            <p:nvPr/>
          </p:nvSpPr>
          <p:spPr>
            <a:xfrm>
              <a:off x="6794469" y="3146716"/>
              <a:ext cx="14013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+mn-ea"/>
                </a:rPr>
                <a:t>文件服务器</a:t>
              </a: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A2F0A831-7837-4151-A2FA-394EE7F2173B}"/>
                </a:ext>
              </a:extLst>
            </p:cNvPr>
            <p:cNvSpPr txBox="1"/>
            <p:nvPr/>
          </p:nvSpPr>
          <p:spPr>
            <a:xfrm>
              <a:off x="2824001" y="4993209"/>
              <a:ext cx="14013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+mn-ea"/>
                </a:rPr>
                <a:t>视频服务器</a:t>
              </a:r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49D9B8BC-EB64-42A9-A284-E6B3FDDCA901}"/>
                </a:ext>
              </a:extLst>
            </p:cNvPr>
            <p:cNvSpPr txBox="1"/>
            <p:nvPr/>
          </p:nvSpPr>
          <p:spPr>
            <a:xfrm>
              <a:off x="9515019" y="5410147"/>
              <a:ext cx="14013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+mn-ea"/>
                </a:rPr>
                <a:t>用户计算机</a:t>
              </a:r>
            </a:p>
          </p:txBody>
        </p:sp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8BF2E23F-BCA0-4AF7-B5FC-C09D0996DAFA}"/>
              </a:ext>
            </a:extLst>
          </p:cNvPr>
          <p:cNvSpPr txBox="1"/>
          <p:nvPr/>
        </p:nvSpPr>
        <p:spPr>
          <a:xfrm>
            <a:off x="7939494" y="3932654"/>
            <a:ext cx="14013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/>
              <a:t>线路带宽</a:t>
            </a:r>
            <a:endParaRPr lang="en-US" altLang="zh-CN" sz="1600" b="1" dirty="0"/>
          </a:p>
          <a:p>
            <a:pPr algn="ctr"/>
            <a:r>
              <a:rPr lang="en-US" altLang="zh-CN" sz="1600" b="1" dirty="0"/>
              <a:t>100Mb/s</a:t>
            </a:r>
            <a:endParaRPr lang="zh-CN" altLang="en-US" sz="1600" b="1" dirty="0"/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2D28B034-324E-441B-AC20-2869F94DF0AD}"/>
              </a:ext>
            </a:extLst>
          </p:cNvPr>
          <p:cNvGrpSpPr/>
          <p:nvPr/>
        </p:nvGrpSpPr>
        <p:grpSpPr>
          <a:xfrm>
            <a:off x="6493841" y="3823364"/>
            <a:ext cx="2977629" cy="1011114"/>
            <a:chOff x="6493841" y="3823364"/>
            <a:chExt cx="2977629" cy="1011114"/>
          </a:xfrm>
        </p:grpSpPr>
        <p:cxnSp>
          <p:nvCxnSpPr>
            <p:cNvPr id="9" name="连接符: 曲线 8">
              <a:extLst>
                <a:ext uri="{FF2B5EF4-FFF2-40B4-BE49-F238E27FC236}">
                  <a16:creationId xmlns:a16="http://schemas.microsoft.com/office/drawing/2014/main" id="{1FC7A34A-4EF4-438D-820E-57CA28335E7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493841" y="3865950"/>
              <a:ext cx="2977629" cy="968528"/>
            </a:xfrm>
            <a:prstGeom prst="curvedConnector2">
              <a:avLst/>
            </a:prstGeom>
            <a:ln w="38100">
              <a:solidFill>
                <a:schemeClr val="accent4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35795189-1ADB-433C-A94B-5F5D4A5B8B8E}"/>
                </a:ext>
              </a:extLst>
            </p:cNvPr>
            <p:cNvSpPr txBox="1"/>
            <p:nvPr/>
          </p:nvSpPr>
          <p:spPr>
            <a:xfrm>
              <a:off x="6597776" y="3823364"/>
              <a:ext cx="675395" cy="337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accent4"/>
                  </a:solidFill>
                </a:rPr>
                <a:t>1Mb/s</a:t>
              </a:r>
              <a:endParaRPr lang="zh-CN" altLang="en-US" sz="1600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F37B1015-76FF-4CAA-BD75-5B5E7C65AD67}"/>
              </a:ext>
            </a:extLst>
          </p:cNvPr>
          <p:cNvGrpSpPr/>
          <p:nvPr/>
        </p:nvGrpSpPr>
        <p:grpSpPr>
          <a:xfrm>
            <a:off x="4962078" y="4127651"/>
            <a:ext cx="4447253" cy="969059"/>
            <a:chOff x="4962078" y="4127651"/>
            <a:chExt cx="4447253" cy="969059"/>
          </a:xfrm>
        </p:grpSpPr>
        <p:cxnSp>
          <p:nvCxnSpPr>
            <p:cNvPr id="80" name="连接符: 曲线 79">
              <a:extLst>
                <a:ext uri="{FF2B5EF4-FFF2-40B4-BE49-F238E27FC236}">
                  <a16:creationId xmlns:a16="http://schemas.microsoft.com/office/drawing/2014/main" id="{4A97AC8F-2B25-4C56-A19F-688B1A70BF8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6701175" y="2388554"/>
              <a:ext cx="969059" cy="4447253"/>
            </a:xfrm>
            <a:prstGeom prst="curvedConnector2">
              <a:avLst/>
            </a:prstGeom>
            <a:ln w="38100">
              <a:solidFill>
                <a:schemeClr val="accent3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F5535251-A837-48B1-8978-263776C0FE68}"/>
                </a:ext>
              </a:extLst>
            </p:cNvPr>
            <p:cNvSpPr txBox="1"/>
            <p:nvPr/>
          </p:nvSpPr>
          <p:spPr>
            <a:xfrm>
              <a:off x="5958221" y="4418134"/>
              <a:ext cx="8507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accent3"/>
                  </a:solidFill>
                </a:rPr>
                <a:t>600kb/s</a:t>
              </a:r>
              <a:endParaRPr lang="zh-CN" altLang="en-US" sz="1600" b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518A73EB-B117-4422-BEC0-9E2B7926900F}"/>
              </a:ext>
            </a:extLst>
          </p:cNvPr>
          <p:cNvGrpSpPr/>
          <p:nvPr/>
        </p:nvGrpSpPr>
        <p:grpSpPr>
          <a:xfrm>
            <a:off x="4974465" y="4913302"/>
            <a:ext cx="4426506" cy="388483"/>
            <a:chOff x="4974465" y="4913302"/>
            <a:chExt cx="4426506" cy="388483"/>
          </a:xfrm>
        </p:grpSpPr>
        <p:cxnSp>
          <p:nvCxnSpPr>
            <p:cNvPr id="82" name="连接符: 曲线 81">
              <a:extLst>
                <a:ext uri="{FF2B5EF4-FFF2-40B4-BE49-F238E27FC236}">
                  <a16:creationId xmlns:a16="http://schemas.microsoft.com/office/drawing/2014/main" id="{28BEE560-2B8C-42CF-A850-809D6D7B9D08}"/>
                </a:ext>
              </a:extLst>
            </p:cNvPr>
            <p:cNvCxnSpPr>
              <a:cxnSpLocks/>
            </p:cNvCxnSpPr>
            <p:nvPr/>
          </p:nvCxnSpPr>
          <p:spPr>
            <a:xfrm>
              <a:off x="4974465" y="5150164"/>
              <a:ext cx="4426506" cy="151621"/>
            </a:xfrm>
            <a:prstGeom prst="curvedConnector3">
              <a:avLst>
                <a:gd name="adj1" fmla="val 3521"/>
              </a:avLst>
            </a:prstGeom>
            <a:ln w="38100">
              <a:solidFill>
                <a:schemeClr val="accent3"/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F37A2434-91DA-417F-9728-CE2D385DDBDC}"/>
                </a:ext>
              </a:extLst>
            </p:cNvPr>
            <p:cNvSpPr txBox="1"/>
            <p:nvPr/>
          </p:nvSpPr>
          <p:spPr>
            <a:xfrm>
              <a:off x="5212986" y="4913302"/>
              <a:ext cx="8507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accent3"/>
                  </a:solidFill>
                </a:rPr>
                <a:t>20Mb/s</a:t>
              </a:r>
              <a:endParaRPr lang="zh-CN" altLang="en-US" sz="1600" b="1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99" name="文本框 98">
            <a:extLst>
              <a:ext uri="{FF2B5EF4-FFF2-40B4-BE49-F238E27FC236}">
                <a16:creationId xmlns:a16="http://schemas.microsoft.com/office/drawing/2014/main" id="{F548BBD1-7737-41D9-B09C-90CFA022FF08}"/>
              </a:ext>
            </a:extLst>
          </p:cNvPr>
          <p:cNvSpPr txBox="1"/>
          <p:nvPr/>
        </p:nvSpPr>
        <p:spPr>
          <a:xfrm>
            <a:off x="4037038" y="5924291"/>
            <a:ext cx="5951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吞吐量 </a:t>
            </a:r>
            <a:r>
              <a:rPr lang="en-US" altLang="zh-CN" sz="2000" b="1" dirty="0"/>
              <a:t>= </a:t>
            </a:r>
            <a:r>
              <a:rPr lang="en-US" altLang="zh-CN" sz="2000" b="1" dirty="0">
                <a:solidFill>
                  <a:schemeClr val="accent3"/>
                </a:solidFill>
              </a:rPr>
              <a:t>20Mb/s </a:t>
            </a:r>
            <a:r>
              <a:rPr lang="en-US" altLang="zh-CN" sz="2000" b="1" dirty="0"/>
              <a:t>+ </a:t>
            </a:r>
            <a:r>
              <a:rPr lang="en-US" altLang="zh-CN" sz="2000" b="1" dirty="0">
                <a:solidFill>
                  <a:schemeClr val="accent3"/>
                </a:solidFill>
              </a:rPr>
              <a:t>600kb/s</a:t>
            </a:r>
            <a:r>
              <a:rPr lang="en-US" altLang="zh-CN" sz="2000" b="1" dirty="0"/>
              <a:t> + </a:t>
            </a:r>
            <a:r>
              <a:rPr lang="en-US" altLang="zh-CN" sz="2000" b="1" dirty="0">
                <a:solidFill>
                  <a:schemeClr val="accent4"/>
                </a:solidFill>
              </a:rPr>
              <a:t>1Mb/s</a:t>
            </a:r>
            <a:r>
              <a:rPr lang="en-US" altLang="zh-CN" sz="2000" b="1" dirty="0"/>
              <a:t> = 21.6Mb/s</a:t>
            </a:r>
            <a:endParaRPr lang="zh-CN" altLang="en-US" sz="20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4623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800" decel="100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5" grpId="0"/>
      <p:bldP spid="26" grpId="0" animBg="1"/>
      <p:bldP spid="27" grpId="0"/>
      <p:bldP spid="28" grpId="0" animBg="1"/>
      <p:bldP spid="77" grpId="0"/>
      <p:bldP spid="9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>
            <a:extLst>
              <a:ext uri="{FF2B5EF4-FFF2-40B4-BE49-F238E27FC236}">
                <a16:creationId xmlns:a16="http://schemas.microsoft.com/office/drawing/2014/main" id="{C598E4F8-5262-4C57-AC65-462A49E92493}"/>
              </a:ext>
            </a:extLst>
          </p:cNvPr>
          <p:cNvSpPr txBox="1"/>
          <p:nvPr/>
        </p:nvSpPr>
        <p:spPr>
          <a:xfrm>
            <a:off x="2435939" y="4839428"/>
            <a:ext cx="13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不方便计算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5929D91-0142-41DA-9B66-9F7CE1F043F5}"/>
              </a:ext>
            </a:extLst>
          </p:cNvPr>
          <p:cNvSpPr txBox="1"/>
          <p:nvPr/>
        </p:nvSpPr>
        <p:spPr>
          <a:xfrm>
            <a:off x="8292039" y="4890827"/>
            <a:ext cx="1334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不方便计算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B91B0A4D-F0DC-41F7-998D-79279BACED35}"/>
              </a:ext>
            </a:extLst>
          </p:cNvPr>
          <p:cNvSpPr/>
          <p:nvPr/>
        </p:nvSpPr>
        <p:spPr>
          <a:xfrm>
            <a:off x="1234827" y="4490096"/>
            <a:ext cx="1067996" cy="106799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n-ea"/>
              </a:rPr>
              <a:t>排队时延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9B429C47-F6DB-4A3B-9ADA-345EE98F700B}"/>
              </a:ext>
            </a:extLst>
          </p:cNvPr>
          <p:cNvSpPr/>
          <p:nvPr/>
        </p:nvSpPr>
        <p:spPr>
          <a:xfrm>
            <a:off x="7090923" y="4490096"/>
            <a:ext cx="1067996" cy="106799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n-ea"/>
              </a:rPr>
              <a:t>处理时延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计算机网络的性能指标</a:t>
              </a:r>
            </a:p>
          </p:txBody>
        </p:sp>
      </p:grpSp>
      <p:sp>
        <p:nvSpPr>
          <p:cNvPr id="86" name="îṡ1îḑè">
            <a:extLst>
              <a:ext uri="{FF2B5EF4-FFF2-40B4-BE49-F238E27FC236}">
                <a16:creationId xmlns:a16="http://schemas.microsoft.com/office/drawing/2014/main" id="{A803C2F9-4FBB-4C35-AC3F-2B77804282A2}"/>
              </a:ext>
            </a:extLst>
          </p:cNvPr>
          <p:cNvSpPr/>
          <p:nvPr/>
        </p:nvSpPr>
        <p:spPr>
          <a:xfrm>
            <a:off x="3048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速率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7" name="îṧḻîḍê">
            <a:extLst>
              <a:ext uri="{FF2B5EF4-FFF2-40B4-BE49-F238E27FC236}">
                <a16:creationId xmlns:a16="http://schemas.microsoft.com/office/drawing/2014/main" id="{DFA6F1EB-29D9-4A75-B24E-7FE2E4C0E97D}"/>
              </a:ext>
            </a:extLst>
          </p:cNvPr>
          <p:cNvSpPr/>
          <p:nvPr/>
        </p:nvSpPr>
        <p:spPr>
          <a:xfrm>
            <a:off x="17688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带宽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8" name="iṡlíďè">
            <a:extLst>
              <a:ext uri="{FF2B5EF4-FFF2-40B4-BE49-F238E27FC236}">
                <a16:creationId xmlns:a16="http://schemas.microsoft.com/office/drawing/2014/main" id="{C52BE881-D827-42B9-AFCD-BFDFE2366E21}"/>
              </a:ext>
            </a:extLst>
          </p:cNvPr>
          <p:cNvSpPr/>
          <p:nvPr/>
        </p:nvSpPr>
        <p:spPr>
          <a:xfrm>
            <a:off x="32328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rgbClr val="FFFFFF"/>
                </a:solidFill>
              </a:rPr>
              <a:t>吞吐量</a:t>
            </a:r>
            <a:endParaRPr lang="en-GB" b="1" dirty="0">
              <a:solidFill>
                <a:srgbClr val="FFFFFF"/>
              </a:solidFill>
            </a:endParaRPr>
          </a:p>
        </p:txBody>
      </p:sp>
      <p:sp>
        <p:nvSpPr>
          <p:cNvPr id="89" name="iṥľïdè">
            <a:extLst>
              <a:ext uri="{FF2B5EF4-FFF2-40B4-BE49-F238E27FC236}">
                <a16:creationId xmlns:a16="http://schemas.microsoft.com/office/drawing/2014/main" id="{7E37DD0B-57D9-45E4-B3AD-EEEB679EF75E}"/>
              </a:ext>
            </a:extLst>
          </p:cNvPr>
          <p:cNvSpPr/>
          <p:nvPr/>
        </p:nvSpPr>
        <p:spPr>
          <a:xfrm>
            <a:off x="469687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0" name="îśľîḍé">
            <a:extLst>
              <a:ext uri="{FF2B5EF4-FFF2-40B4-BE49-F238E27FC236}">
                <a16:creationId xmlns:a16="http://schemas.microsoft.com/office/drawing/2014/main" id="{67EBD377-E6A9-419F-9713-92993F43A27E}"/>
              </a:ext>
            </a:extLst>
          </p:cNvPr>
          <p:cNvSpPr/>
          <p:nvPr/>
        </p:nvSpPr>
        <p:spPr>
          <a:xfrm>
            <a:off x="76249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往返时间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1" name="îśľîḍé">
            <a:extLst>
              <a:ext uri="{FF2B5EF4-FFF2-40B4-BE49-F238E27FC236}">
                <a16:creationId xmlns:a16="http://schemas.microsoft.com/office/drawing/2014/main" id="{01D6FD95-2A4C-4A1F-ADAA-E06A0DB2334E}"/>
              </a:ext>
            </a:extLst>
          </p:cNvPr>
          <p:cNvSpPr/>
          <p:nvPr/>
        </p:nvSpPr>
        <p:spPr>
          <a:xfrm>
            <a:off x="61609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时延带宽积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2" name="îśľîḍé">
            <a:extLst>
              <a:ext uri="{FF2B5EF4-FFF2-40B4-BE49-F238E27FC236}">
                <a16:creationId xmlns:a16="http://schemas.microsoft.com/office/drawing/2014/main" id="{D196E2C0-5678-4A32-8DE3-2A8BA36E0749}"/>
              </a:ext>
            </a:extLst>
          </p:cNvPr>
          <p:cNvSpPr/>
          <p:nvPr/>
        </p:nvSpPr>
        <p:spPr>
          <a:xfrm>
            <a:off x="90889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利用率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3" name="îśľîḍé">
            <a:extLst>
              <a:ext uri="{FF2B5EF4-FFF2-40B4-BE49-F238E27FC236}">
                <a16:creationId xmlns:a16="http://schemas.microsoft.com/office/drawing/2014/main" id="{9010AC37-690A-4F23-99A9-04A6AEEBAC9D}"/>
              </a:ext>
            </a:extLst>
          </p:cNvPr>
          <p:cNvSpPr/>
          <p:nvPr/>
        </p:nvSpPr>
        <p:spPr>
          <a:xfrm>
            <a:off x="10552974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丢包率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5" name="îṧḻîḍê">
            <a:extLst>
              <a:ext uri="{FF2B5EF4-FFF2-40B4-BE49-F238E27FC236}">
                <a16:creationId xmlns:a16="http://schemas.microsoft.com/office/drawing/2014/main" id="{0A697AD8-C1F3-4AB3-B578-21E430CB1F19}"/>
              </a:ext>
            </a:extLst>
          </p:cNvPr>
          <p:cNvSpPr/>
          <p:nvPr/>
        </p:nvSpPr>
        <p:spPr>
          <a:xfrm>
            <a:off x="4696873" y="1299908"/>
            <a:ext cx="1334228" cy="482600"/>
          </a:xfrm>
          <a:prstGeom prst="rect">
            <a:avLst/>
          </a:prstGeom>
          <a:solidFill>
            <a:schemeClr val="accent4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4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CB9B877-BA6A-4C01-BBDB-23BD995348AD}"/>
              </a:ext>
            </a:extLst>
          </p:cNvPr>
          <p:cNvSpPr/>
          <p:nvPr/>
        </p:nvSpPr>
        <p:spPr>
          <a:xfrm>
            <a:off x="1234827" y="2240289"/>
            <a:ext cx="1067996" cy="106799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n-ea"/>
              </a:rPr>
              <a:t>发送</a:t>
            </a:r>
            <a:endParaRPr lang="en-US" altLang="zh-CN" b="1" dirty="0">
              <a:latin typeface="+mn-ea"/>
            </a:endParaRPr>
          </a:p>
          <a:p>
            <a:pPr algn="ctr"/>
            <a:r>
              <a:rPr lang="zh-CN" altLang="en-US" b="1" dirty="0">
                <a:latin typeface="+mn-ea"/>
              </a:rPr>
              <a:t>时延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673E87-BE8E-49B1-817F-FABF64DFAA7F}"/>
              </a:ext>
            </a:extLst>
          </p:cNvPr>
          <p:cNvSpPr txBox="1"/>
          <p:nvPr/>
        </p:nvSpPr>
        <p:spPr>
          <a:xfrm>
            <a:off x="2693455" y="2337115"/>
            <a:ext cx="1954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分组长度（</a:t>
            </a:r>
            <a:r>
              <a:rPr lang="en-US" altLang="zh-CN" b="1" dirty="0"/>
              <a:t>b</a:t>
            </a:r>
            <a:r>
              <a:rPr lang="zh-CN" altLang="en-US" b="1" dirty="0"/>
              <a:t>）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2A8389A-641E-46A6-B6BA-2CBDC5C1350F}"/>
              </a:ext>
            </a:extLst>
          </p:cNvPr>
          <p:cNvCxnSpPr/>
          <p:nvPr/>
        </p:nvCxnSpPr>
        <p:spPr>
          <a:xfrm>
            <a:off x="2693455" y="2729471"/>
            <a:ext cx="187362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CB951F73-6932-4C08-B449-6865FBBB10F1}"/>
              </a:ext>
            </a:extLst>
          </p:cNvPr>
          <p:cNvSpPr txBox="1"/>
          <p:nvPr/>
        </p:nvSpPr>
        <p:spPr>
          <a:xfrm>
            <a:off x="2693455" y="2764473"/>
            <a:ext cx="1954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发送速率（</a:t>
            </a:r>
            <a:r>
              <a:rPr lang="en-US" altLang="zh-CN" b="1" dirty="0"/>
              <a:t>b/s</a:t>
            </a:r>
            <a:r>
              <a:rPr lang="zh-CN" altLang="en-US" b="1" dirty="0"/>
              <a:t>）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178B84F9-67D9-4D83-BF1A-82424318651D}"/>
              </a:ext>
            </a:extLst>
          </p:cNvPr>
          <p:cNvSpPr txBox="1"/>
          <p:nvPr/>
        </p:nvSpPr>
        <p:spPr>
          <a:xfrm>
            <a:off x="2382327" y="2516773"/>
            <a:ext cx="367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=</a:t>
            </a:r>
            <a:endParaRPr lang="zh-CN" altLang="en-US" sz="2000" b="1" dirty="0"/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A4A44B1A-2FD5-4EF4-A41A-778DF633A0ED}"/>
              </a:ext>
            </a:extLst>
          </p:cNvPr>
          <p:cNvSpPr/>
          <p:nvPr/>
        </p:nvSpPr>
        <p:spPr>
          <a:xfrm>
            <a:off x="7090923" y="2240289"/>
            <a:ext cx="1067996" cy="1067996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atin typeface="+mn-ea"/>
              </a:rPr>
              <a:t>传播</a:t>
            </a:r>
            <a:endParaRPr lang="en-US" altLang="zh-CN" b="1" dirty="0">
              <a:latin typeface="+mn-ea"/>
            </a:endParaRPr>
          </a:p>
          <a:p>
            <a:pPr algn="ctr"/>
            <a:r>
              <a:rPr lang="zh-CN" altLang="en-US" b="1" dirty="0">
                <a:latin typeface="+mn-ea"/>
              </a:rPr>
              <a:t>时延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9A945F32-405A-4CD1-AA08-D70706B340E8}"/>
              </a:ext>
            </a:extLst>
          </p:cNvPr>
          <p:cNvSpPr txBox="1"/>
          <p:nvPr/>
        </p:nvSpPr>
        <p:spPr>
          <a:xfrm>
            <a:off x="8553924" y="2337115"/>
            <a:ext cx="2273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信道长度（</a:t>
            </a:r>
            <a:r>
              <a:rPr lang="en-US" altLang="zh-CN" b="1" dirty="0"/>
              <a:t>m</a:t>
            </a:r>
            <a:r>
              <a:rPr lang="zh-CN" altLang="en-US" b="1" dirty="0"/>
              <a:t>）</a:t>
            </a:r>
          </a:p>
        </p:txBody>
      </p: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7F3C3CAC-DAB5-411C-9293-0726D4C6E903}"/>
              </a:ext>
            </a:extLst>
          </p:cNvPr>
          <p:cNvCxnSpPr>
            <a:cxnSpLocks/>
          </p:cNvCxnSpPr>
          <p:nvPr/>
        </p:nvCxnSpPr>
        <p:spPr>
          <a:xfrm>
            <a:off x="8553925" y="2729471"/>
            <a:ext cx="227366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本框 137">
            <a:extLst>
              <a:ext uri="{FF2B5EF4-FFF2-40B4-BE49-F238E27FC236}">
                <a16:creationId xmlns:a16="http://schemas.microsoft.com/office/drawing/2014/main" id="{EBB23666-0EFF-4282-838F-2AE96A0EEB9B}"/>
              </a:ext>
            </a:extLst>
          </p:cNvPr>
          <p:cNvSpPr txBox="1"/>
          <p:nvPr/>
        </p:nvSpPr>
        <p:spPr>
          <a:xfrm>
            <a:off x="8553924" y="2764473"/>
            <a:ext cx="2273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信号传播速率（</a:t>
            </a:r>
            <a:r>
              <a:rPr lang="en-US" altLang="zh-CN" b="1" dirty="0"/>
              <a:t>m/s</a:t>
            </a:r>
            <a:r>
              <a:rPr lang="zh-CN" altLang="en-US" b="1" dirty="0"/>
              <a:t>）</a:t>
            </a: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79314379-2226-4F99-80C3-9CA78040F8A5}"/>
              </a:ext>
            </a:extLst>
          </p:cNvPr>
          <p:cNvSpPr txBox="1"/>
          <p:nvPr/>
        </p:nvSpPr>
        <p:spPr>
          <a:xfrm>
            <a:off x="8242797" y="2516773"/>
            <a:ext cx="367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=</a:t>
            </a:r>
            <a:endParaRPr lang="zh-CN" altLang="en-US" sz="20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6A89E7E-DE88-4FD3-93CD-CAEA011D90B7}"/>
              </a:ext>
            </a:extLst>
          </p:cNvPr>
          <p:cNvSpPr txBox="1"/>
          <p:nvPr/>
        </p:nvSpPr>
        <p:spPr>
          <a:xfrm>
            <a:off x="8542889" y="3258647"/>
            <a:ext cx="28077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自由空间：</a:t>
            </a:r>
            <a:r>
              <a:rPr lang="en-US" altLang="zh-CN" sz="1600" b="1" dirty="0"/>
              <a:t>3.0 × 10</a:t>
            </a:r>
            <a:r>
              <a:rPr lang="en-US" altLang="zh-CN" sz="1600" b="1" baseline="30000" dirty="0"/>
              <a:t>8</a:t>
            </a:r>
            <a:r>
              <a:rPr lang="en-US" altLang="zh-CN" sz="1600" b="1" dirty="0"/>
              <a:t> m/s</a:t>
            </a:r>
          </a:p>
          <a:p>
            <a:r>
              <a:rPr lang="zh-CN" altLang="en-US" sz="1600" b="1" dirty="0"/>
              <a:t>铜         线：</a:t>
            </a:r>
            <a:r>
              <a:rPr lang="en-US" altLang="zh-CN" sz="1600" b="1" dirty="0"/>
              <a:t>2.3 × 10</a:t>
            </a:r>
            <a:r>
              <a:rPr lang="en-US" altLang="zh-CN" sz="1600" b="1" baseline="30000" dirty="0"/>
              <a:t>8</a:t>
            </a:r>
            <a:r>
              <a:rPr lang="en-US" altLang="zh-CN" sz="1600" b="1" dirty="0"/>
              <a:t> m/s</a:t>
            </a:r>
          </a:p>
          <a:p>
            <a:r>
              <a:rPr lang="zh-CN" altLang="en-US" sz="1600" b="1" dirty="0"/>
              <a:t>光         纤：</a:t>
            </a:r>
            <a:r>
              <a:rPr lang="en-US" altLang="zh-CN" sz="1600" b="1" dirty="0"/>
              <a:t>2.0 × 10</a:t>
            </a:r>
            <a:r>
              <a:rPr lang="en-US" altLang="zh-CN" sz="1600" b="1" baseline="30000" dirty="0"/>
              <a:t>8</a:t>
            </a:r>
            <a:r>
              <a:rPr lang="en-US" altLang="zh-CN" sz="1600" b="1" dirty="0"/>
              <a:t> m/s</a:t>
            </a:r>
            <a:endParaRPr lang="zh-CN" altLang="en-US" sz="1600" b="1" dirty="0"/>
          </a:p>
        </p:txBody>
      </p:sp>
      <p:sp>
        <p:nvSpPr>
          <p:cNvPr id="29" name="íşlïḍè">
            <a:extLst>
              <a:ext uri="{FF2B5EF4-FFF2-40B4-BE49-F238E27FC236}">
                <a16:creationId xmlns:a16="http://schemas.microsoft.com/office/drawing/2014/main" id="{8804C95C-08E9-4B16-A529-3870A941D60B}"/>
              </a:ext>
            </a:extLst>
          </p:cNvPr>
          <p:cNvSpPr txBox="1"/>
          <p:nvPr/>
        </p:nvSpPr>
        <p:spPr>
          <a:xfrm>
            <a:off x="2045750" y="3258647"/>
            <a:ext cx="4050250" cy="83099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1600" b="1" dirty="0"/>
              <a:t>发送速率 </a:t>
            </a:r>
            <a:r>
              <a:rPr lang="en-US" altLang="zh-CN" sz="1600" b="1" dirty="0"/>
              <a:t>= min [</a:t>
            </a:r>
            <a:r>
              <a:rPr lang="zh-CN" altLang="en-US" sz="1600" b="1" dirty="0"/>
              <a:t>主机接口速率，</a:t>
            </a:r>
            <a:endParaRPr lang="en-US" altLang="zh-CN" sz="1600" b="1" dirty="0"/>
          </a:p>
          <a:p>
            <a:r>
              <a:rPr lang="zh-CN" altLang="en-US" sz="1600" b="1" dirty="0"/>
              <a:t>                               线路带宽，</a:t>
            </a:r>
            <a:endParaRPr lang="en-US" altLang="zh-CN" sz="1600" b="1" dirty="0"/>
          </a:p>
          <a:p>
            <a:r>
              <a:rPr lang="en-US" altLang="zh-CN" sz="1600" b="1" dirty="0"/>
              <a:t>                               </a:t>
            </a:r>
            <a:r>
              <a:rPr lang="zh-CN" altLang="en-US" sz="1600" b="1" dirty="0"/>
              <a:t>交换机或路由器的接口速率</a:t>
            </a:r>
            <a:r>
              <a:rPr lang="en-US" altLang="zh-CN" sz="1600" b="1" dirty="0"/>
              <a:t>]</a:t>
            </a:r>
            <a:endParaRPr lang="zh-CN" altLang="en-US" sz="16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8414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DA779A8A-1730-4DAB-B3A3-2D43E8F8FF37}"/>
              </a:ext>
            </a:extLst>
          </p:cNvPr>
          <p:cNvGrpSpPr/>
          <p:nvPr/>
        </p:nvGrpSpPr>
        <p:grpSpPr>
          <a:xfrm>
            <a:off x="2389233" y="2138627"/>
            <a:ext cx="8722784" cy="3117478"/>
            <a:chOff x="2092852" y="2291706"/>
            <a:chExt cx="8722784" cy="3117478"/>
          </a:xfrm>
        </p:grpSpPr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34A6804C-4849-4756-8DF5-4AB3488BDBDF}"/>
                </a:ext>
              </a:extLst>
            </p:cNvPr>
            <p:cNvCxnSpPr>
              <a:cxnSpLocks/>
            </p:cNvCxnSpPr>
            <p:nvPr/>
          </p:nvCxnSpPr>
          <p:spPr>
            <a:xfrm>
              <a:off x="2092852" y="5216677"/>
              <a:ext cx="792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FF94FFC5-266A-4494-8CA0-72AD4FA29161}"/>
                </a:ext>
              </a:extLst>
            </p:cNvPr>
            <p:cNvCxnSpPr>
              <a:cxnSpLocks/>
            </p:cNvCxnSpPr>
            <p:nvPr/>
          </p:nvCxnSpPr>
          <p:spPr>
            <a:xfrm>
              <a:off x="2092852" y="2473258"/>
              <a:ext cx="792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CC8B98A3-B6B6-450F-A432-B22FC496712F}"/>
                </a:ext>
              </a:extLst>
            </p:cNvPr>
            <p:cNvCxnSpPr>
              <a:cxnSpLocks/>
            </p:cNvCxnSpPr>
            <p:nvPr/>
          </p:nvCxnSpPr>
          <p:spPr>
            <a:xfrm>
              <a:off x="2092852" y="3844967"/>
              <a:ext cx="792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4A19B3B3-B7DE-42C3-92E7-FFC2291C8A5C}"/>
                </a:ext>
              </a:extLst>
            </p:cNvPr>
            <p:cNvSpPr txBox="1"/>
            <p:nvPr/>
          </p:nvSpPr>
          <p:spPr>
            <a:xfrm>
              <a:off x="10035802" y="5039852"/>
              <a:ext cx="7798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时间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B1E7277F-3A0C-4D4B-9192-C204CBEA2B01}"/>
                </a:ext>
              </a:extLst>
            </p:cNvPr>
            <p:cNvSpPr txBox="1"/>
            <p:nvPr/>
          </p:nvSpPr>
          <p:spPr>
            <a:xfrm>
              <a:off x="10035802" y="3663415"/>
              <a:ext cx="7798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时间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B476EFC-B40B-4C28-AAD7-04EA2175E641}"/>
                </a:ext>
              </a:extLst>
            </p:cNvPr>
            <p:cNvSpPr txBox="1"/>
            <p:nvPr/>
          </p:nvSpPr>
          <p:spPr>
            <a:xfrm>
              <a:off x="10035802" y="2291706"/>
              <a:ext cx="7798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时间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计算机网络的性能指标</a:t>
              </a:r>
            </a:p>
          </p:txBody>
        </p:sp>
      </p:grpSp>
      <p:sp>
        <p:nvSpPr>
          <p:cNvPr id="86" name="îṡ1îḑè">
            <a:extLst>
              <a:ext uri="{FF2B5EF4-FFF2-40B4-BE49-F238E27FC236}">
                <a16:creationId xmlns:a16="http://schemas.microsoft.com/office/drawing/2014/main" id="{A803C2F9-4FBB-4C35-AC3F-2B77804282A2}"/>
              </a:ext>
            </a:extLst>
          </p:cNvPr>
          <p:cNvSpPr/>
          <p:nvPr/>
        </p:nvSpPr>
        <p:spPr>
          <a:xfrm>
            <a:off x="3048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速率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7" name="îṧḻîḍê">
            <a:extLst>
              <a:ext uri="{FF2B5EF4-FFF2-40B4-BE49-F238E27FC236}">
                <a16:creationId xmlns:a16="http://schemas.microsoft.com/office/drawing/2014/main" id="{DFA6F1EB-29D9-4A75-B24E-7FE2E4C0E97D}"/>
              </a:ext>
            </a:extLst>
          </p:cNvPr>
          <p:cNvSpPr/>
          <p:nvPr/>
        </p:nvSpPr>
        <p:spPr>
          <a:xfrm>
            <a:off x="17688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带宽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8" name="iṡlíďè">
            <a:extLst>
              <a:ext uri="{FF2B5EF4-FFF2-40B4-BE49-F238E27FC236}">
                <a16:creationId xmlns:a16="http://schemas.microsoft.com/office/drawing/2014/main" id="{C52BE881-D827-42B9-AFCD-BFDFE2366E21}"/>
              </a:ext>
            </a:extLst>
          </p:cNvPr>
          <p:cNvSpPr/>
          <p:nvPr/>
        </p:nvSpPr>
        <p:spPr>
          <a:xfrm>
            <a:off x="32328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rgbClr val="FFFFFF"/>
                </a:solidFill>
              </a:rPr>
              <a:t>吞吐量</a:t>
            </a:r>
            <a:endParaRPr lang="en-GB" b="1" dirty="0">
              <a:solidFill>
                <a:srgbClr val="FFFFFF"/>
              </a:solidFill>
            </a:endParaRPr>
          </a:p>
        </p:txBody>
      </p:sp>
      <p:sp>
        <p:nvSpPr>
          <p:cNvPr id="89" name="iṥľïdè">
            <a:extLst>
              <a:ext uri="{FF2B5EF4-FFF2-40B4-BE49-F238E27FC236}">
                <a16:creationId xmlns:a16="http://schemas.microsoft.com/office/drawing/2014/main" id="{7E37DD0B-57D9-45E4-B3AD-EEEB679EF75E}"/>
              </a:ext>
            </a:extLst>
          </p:cNvPr>
          <p:cNvSpPr/>
          <p:nvPr/>
        </p:nvSpPr>
        <p:spPr>
          <a:xfrm>
            <a:off x="469687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0" name="îśľîḍé">
            <a:extLst>
              <a:ext uri="{FF2B5EF4-FFF2-40B4-BE49-F238E27FC236}">
                <a16:creationId xmlns:a16="http://schemas.microsoft.com/office/drawing/2014/main" id="{67EBD377-E6A9-419F-9713-92993F43A27E}"/>
              </a:ext>
            </a:extLst>
          </p:cNvPr>
          <p:cNvSpPr/>
          <p:nvPr/>
        </p:nvSpPr>
        <p:spPr>
          <a:xfrm>
            <a:off x="76249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往返时间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1" name="îśľîḍé">
            <a:extLst>
              <a:ext uri="{FF2B5EF4-FFF2-40B4-BE49-F238E27FC236}">
                <a16:creationId xmlns:a16="http://schemas.microsoft.com/office/drawing/2014/main" id="{01D6FD95-2A4C-4A1F-ADAA-E06A0DB2334E}"/>
              </a:ext>
            </a:extLst>
          </p:cNvPr>
          <p:cNvSpPr/>
          <p:nvPr/>
        </p:nvSpPr>
        <p:spPr>
          <a:xfrm>
            <a:off x="61609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时延带宽积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2" name="îśľîḍé">
            <a:extLst>
              <a:ext uri="{FF2B5EF4-FFF2-40B4-BE49-F238E27FC236}">
                <a16:creationId xmlns:a16="http://schemas.microsoft.com/office/drawing/2014/main" id="{D196E2C0-5678-4A32-8DE3-2A8BA36E0749}"/>
              </a:ext>
            </a:extLst>
          </p:cNvPr>
          <p:cNvSpPr/>
          <p:nvPr/>
        </p:nvSpPr>
        <p:spPr>
          <a:xfrm>
            <a:off x="90889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利用率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3" name="îśľîḍé">
            <a:extLst>
              <a:ext uri="{FF2B5EF4-FFF2-40B4-BE49-F238E27FC236}">
                <a16:creationId xmlns:a16="http://schemas.microsoft.com/office/drawing/2014/main" id="{9010AC37-690A-4F23-99A9-04A6AEEBAC9D}"/>
              </a:ext>
            </a:extLst>
          </p:cNvPr>
          <p:cNvSpPr/>
          <p:nvPr/>
        </p:nvSpPr>
        <p:spPr>
          <a:xfrm>
            <a:off x="10552974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丢包率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5" name="îṧḻîḍê">
            <a:extLst>
              <a:ext uri="{FF2B5EF4-FFF2-40B4-BE49-F238E27FC236}">
                <a16:creationId xmlns:a16="http://schemas.microsoft.com/office/drawing/2014/main" id="{0A697AD8-C1F3-4AB3-B578-21E430CB1F19}"/>
              </a:ext>
            </a:extLst>
          </p:cNvPr>
          <p:cNvSpPr/>
          <p:nvPr/>
        </p:nvSpPr>
        <p:spPr>
          <a:xfrm>
            <a:off x="4696873" y="1299908"/>
            <a:ext cx="1334228" cy="482600"/>
          </a:xfrm>
          <a:prstGeom prst="rect">
            <a:avLst/>
          </a:prstGeom>
          <a:solidFill>
            <a:schemeClr val="accent4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4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41EE479-638E-49E9-B577-09A6F5ED3ECE}"/>
              </a:ext>
            </a:extLst>
          </p:cNvPr>
          <p:cNvGrpSpPr/>
          <p:nvPr/>
        </p:nvGrpSpPr>
        <p:grpSpPr>
          <a:xfrm>
            <a:off x="933106" y="1933006"/>
            <a:ext cx="1691499" cy="3323099"/>
            <a:chOff x="636725" y="2086085"/>
            <a:chExt cx="1691499" cy="3323099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9253FF5D-2F4E-4C0E-A75B-21BB915AD6D0}"/>
                </a:ext>
              </a:extLst>
            </p:cNvPr>
            <p:cNvCxnSpPr>
              <a:cxnSpLocks/>
            </p:cNvCxnSpPr>
            <p:nvPr/>
          </p:nvCxnSpPr>
          <p:spPr>
            <a:xfrm>
              <a:off x="1938307" y="2653738"/>
              <a:ext cx="0" cy="253967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图形 30">
              <a:extLst>
                <a:ext uri="{FF2B5EF4-FFF2-40B4-BE49-F238E27FC236}">
                  <a16:creationId xmlns:a16="http://schemas.microsoft.com/office/drawing/2014/main" id="{C3218252-C0B0-4296-ACD8-20FDC0CDB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17410" y="3482361"/>
              <a:ext cx="641794" cy="530548"/>
            </a:xfrm>
            <a:prstGeom prst="rect">
              <a:avLst/>
            </a:prstGeom>
          </p:spPr>
        </p:pic>
        <p:pic>
          <p:nvPicPr>
            <p:cNvPr id="37" name="图形 36">
              <a:extLst>
                <a:ext uri="{FF2B5EF4-FFF2-40B4-BE49-F238E27FC236}">
                  <a16:creationId xmlns:a16="http://schemas.microsoft.com/office/drawing/2014/main" id="{E0AD7FEB-17AC-476E-8847-8C43C2B5C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548390" y="2086085"/>
              <a:ext cx="779834" cy="754265"/>
            </a:xfrm>
            <a:prstGeom prst="rect">
              <a:avLst/>
            </a:prstGeom>
          </p:spPr>
        </p:pic>
        <p:pic>
          <p:nvPicPr>
            <p:cNvPr id="39" name="图形 38">
              <a:extLst>
                <a:ext uri="{FF2B5EF4-FFF2-40B4-BE49-F238E27FC236}">
                  <a16:creationId xmlns:a16="http://schemas.microsoft.com/office/drawing/2014/main" id="{26966D9F-8E2C-4794-8499-C13E2CA46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69431" y="4654919"/>
              <a:ext cx="779834" cy="754265"/>
            </a:xfrm>
            <a:prstGeom prst="rect">
              <a:avLst/>
            </a:prstGeom>
          </p:spPr>
        </p:pic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C7F1AC4-AA22-4882-894D-DF7FD6BCE301}"/>
                </a:ext>
              </a:extLst>
            </p:cNvPr>
            <p:cNvSpPr txBox="1"/>
            <p:nvPr/>
          </p:nvSpPr>
          <p:spPr>
            <a:xfrm>
              <a:off x="636725" y="4996207"/>
              <a:ext cx="7798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主机</a:t>
              </a:r>
              <a:r>
                <a:rPr lang="en-US" altLang="zh-CN" b="1" dirty="0"/>
                <a:t>A</a:t>
              </a:r>
              <a:endParaRPr lang="zh-CN" altLang="en-US" b="1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42CCC720-940A-41F6-8DFC-28496D579703}"/>
                </a:ext>
              </a:extLst>
            </p:cNvPr>
            <p:cNvSpPr txBox="1"/>
            <p:nvPr/>
          </p:nvSpPr>
          <p:spPr>
            <a:xfrm>
              <a:off x="636725" y="3626522"/>
              <a:ext cx="9116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路由器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666F9F7E-5461-4DA1-BFCD-9B1B96353903}"/>
                </a:ext>
              </a:extLst>
            </p:cNvPr>
            <p:cNvSpPr txBox="1"/>
            <p:nvPr/>
          </p:nvSpPr>
          <p:spPr>
            <a:xfrm>
              <a:off x="636725" y="2401221"/>
              <a:ext cx="7798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主机</a:t>
              </a:r>
              <a:r>
                <a:rPr lang="en-US" altLang="zh-CN" b="1" dirty="0"/>
                <a:t>B</a:t>
              </a:r>
              <a:endParaRPr lang="zh-CN" altLang="en-US" b="1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50447EB7-EF71-4FE7-B304-48875F24A39A}"/>
                </a:ext>
              </a:extLst>
            </p:cNvPr>
            <p:cNvSpPr txBox="1"/>
            <p:nvPr/>
          </p:nvSpPr>
          <p:spPr>
            <a:xfrm>
              <a:off x="1585138" y="2838190"/>
              <a:ext cx="3526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链</a:t>
              </a:r>
              <a:endParaRPr lang="en-US" altLang="zh-CN" b="1" dirty="0"/>
            </a:p>
            <a:p>
              <a:pPr algn="ctr"/>
              <a:r>
                <a:rPr lang="zh-CN" altLang="en-US" b="1" dirty="0"/>
                <a:t>路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CE528C69-FD42-4769-97A6-775C923C00AF}"/>
                </a:ext>
              </a:extLst>
            </p:cNvPr>
            <p:cNvSpPr txBox="1"/>
            <p:nvPr/>
          </p:nvSpPr>
          <p:spPr>
            <a:xfrm>
              <a:off x="1564863" y="4020345"/>
              <a:ext cx="3526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链</a:t>
              </a:r>
              <a:endParaRPr lang="en-US" altLang="zh-CN" b="1" dirty="0"/>
            </a:p>
            <a:p>
              <a:pPr algn="ctr"/>
              <a:r>
                <a:rPr lang="zh-CN" altLang="en-US" b="1" dirty="0"/>
                <a:t>路</a:t>
              </a:r>
            </a:p>
          </p:txBody>
        </p:sp>
      </p:grp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AC6A85B4-D427-4081-8A49-CEF7C1DD9DD8}"/>
              </a:ext>
            </a:extLst>
          </p:cNvPr>
          <p:cNvSpPr/>
          <p:nvPr/>
        </p:nvSpPr>
        <p:spPr>
          <a:xfrm>
            <a:off x="2491604" y="3691888"/>
            <a:ext cx="3071724" cy="1371709"/>
          </a:xfrm>
          <a:prstGeom prst="parallelogram">
            <a:avLst>
              <a:gd name="adj" fmla="val 81944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分组</a:t>
            </a: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07C742A8-EBC4-4C94-9D13-539B003A77C1}"/>
              </a:ext>
            </a:extLst>
          </p:cNvPr>
          <p:cNvCxnSpPr>
            <a:cxnSpLocks/>
          </p:cNvCxnSpPr>
          <p:nvPr/>
        </p:nvCxnSpPr>
        <p:spPr>
          <a:xfrm>
            <a:off x="5563328" y="3703920"/>
            <a:ext cx="0" cy="13675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A451955B-4CA6-45BB-BFE6-428D81EFA274}"/>
              </a:ext>
            </a:extLst>
          </p:cNvPr>
          <p:cNvCxnSpPr>
            <a:cxnSpLocks/>
          </p:cNvCxnSpPr>
          <p:nvPr/>
        </p:nvCxnSpPr>
        <p:spPr>
          <a:xfrm>
            <a:off x="6664368" y="3703920"/>
            <a:ext cx="0" cy="13675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平行四边形 67">
            <a:extLst>
              <a:ext uri="{FF2B5EF4-FFF2-40B4-BE49-F238E27FC236}">
                <a16:creationId xmlns:a16="http://schemas.microsoft.com/office/drawing/2014/main" id="{82E349A9-AE46-41FF-80AC-36B836EDA28F}"/>
              </a:ext>
            </a:extLst>
          </p:cNvPr>
          <p:cNvSpPr/>
          <p:nvPr/>
        </p:nvSpPr>
        <p:spPr>
          <a:xfrm>
            <a:off x="6664368" y="2315988"/>
            <a:ext cx="3071724" cy="1371709"/>
          </a:xfrm>
          <a:prstGeom prst="parallelogram">
            <a:avLst>
              <a:gd name="adj" fmla="val 81944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分组</a:t>
            </a:r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9E049C7A-493F-46C5-AD99-664898EB005D}"/>
              </a:ext>
            </a:extLst>
          </p:cNvPr>
          <p:cNvCxnSpPr>
            <a:cxnSpLocks/>
          </p:cNvCxnSpPr>
          <p:nvPr/>
        </p:nvCxnSpPr>
        <p:spPr>
          <a:xfrm>
            <a:off x="8621505" y="3703920"/>
            <a:ext cx="0" cy="13675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CB32C8AF-AB25-4098-BE7F-A991DD6D6E58}"/>
              </a:ext>
            </a:extLst>
          </p:cNvPr>
          <p:cNvCxnSpPr>
            <a:cxnSpLocks/>
          </p:cNvCxnSpPr>
          <p:nvPr/>
        </p:nvCxnSpPr>
        <p:spPr>
          <a:xfrm>
            <a:off x="9736092" y="2336401"/>
            <a:ext cx="0" cy="273503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AE80C81-29B3-4079-9555-0FA2D11E7478}"/>
              </a:ext>
            </a:extLst>
          </p:cNvPr>
          <p:cNvGrpSpPr/>
          <p:nvPr/>
        </p:nvGrpSpPr>
        <p:grpSpPr>
          <a:xfrm>
            <a:off x="2491604" y="5063597"/>
            <a:ext cx="1960333" cy="557577"/>
            <a:chOff x="1978654" y="4988074"/>
            <a:chExt cx="1960333" cy="557577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E338289A-4CBC-437C-AED5-0C9E23D8BC04}"/>
                </a:ext>
              </a:extLst>
            </p:cNvPr>
            <p:cNvSpPr txBox="1"/>
            <p:nvPr/>
          </p:nvSpPr>
          <p:spPr>
            <a:xfrm>
              <a:off x="2344981" y="5163497"/>
              <a:ext cx="1224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发送时延</a:t>
              </a: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E7E613D6-CF63-4D02-8E83-942D11F420E0}"/>
                </a:ext>
              </a:extLst>
            </p:cNvPr>
            <p:cNvCxnSpPr>
              <a:cxnSpLocks/>
            </p:cNvCxnSpPr>
            <p:nvPr/>
          </p:nvCxnSpPr>
          <p:spPr>
            <a:xfrm>
              <a:off x="1978654" y="4988074"/>
              <a:ext cx="0" cy="5465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BDA747AE-9216-4415-A9D7-72BAE5C56595}"/>
                </a:ext>
              </a:extLst>
            </p:cNvPr>
            <p:cNvCxnSpPr/>
            <p:nvPr/>
          </p:nvCxnSpPr>
          <p:spPr>
            <a:xfrm>
              <a:off x="1978654" y="5144171"/>
              <a:ext cx="195886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27C6D0ED-5155-4A42-BD2C-D5AC9CC47708}"/>
                </a:ext>
              </a:extLst>
            </p:cNvPr>
            <p:cNvCxnSpPr>
              <a:cxnSpLocks/>
            </p:cNvCxnSpPr>
            <p:nvPr/>
          </p:nvCxnSpPr>
          <p:spPr>
            <a:xfrm>
              <a:off x="3938987" y="4999139"/>
              <a:ext cx="0" cy="5465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D4DA0F6A-634B-4319-8590-F8AD37DCBFDC}"/>
              </a:ext>
            </a:extLst>
          </p:cNvPr>
          <p:cNvGrpSpPr/>
          <p:nvPr/>
        </p:nvGrpSpPr>
        <p:grpSpPr>
          <a:xfrm>
            <a:off x="4392979" y="5063597"/>
            <a:ext cx="1224483" cy="547200"/>
            <a:chOff x="3880029" y="4988074"/>
            <a:chExt cx="1224483" cy="547200"/>
          </a:xfrm>
        </p:grpSpPr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CD62C454-17FB-4332-A4A9-C241C8756071}"/>
                </a:ext>
              </a:extLst>
            </p:cNvPr>
            <p:cNvCxnSpPr>
              <a:cxnSpLocks/>
            </p:cNvCxnSpPr>
            <p:nvPr/>
          </p:nvCxnSpPr>
          <p:spPr>
            <a:xfrm>
              <a:off x="5049563" y="4988074"/>
              <a:ext cx="0" cy="54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AED424E2-F43F-40CB-8CD6-AF4FF7AA09A1}"/>
                </a:ext>
              </a:extLst>
            </p:cNvPr>
            <p:cNvCxnSpPr>
              <a:cxnSpLocks/>
            </p:cNvCxnSpPr>
            <p:nvPr/>
          </p:nvCxnSpPr>
          <p:spPr>
            <a:xfrm>
              <a:off x="3937522" y="5144171"/>
              <a:ext cx="111204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7DE0CECA-D8B3-48E2-BFD9-62E26C96ADE4}"/>
                </a:ext>
              </a:extLst>
            </p:cNvPr>
            <p:cNvSpPr txBox="1"/>
            <p:nvPr/>
          </p:nvSpPr>
          <p:spPr>
            <a:xfrm>
              <a:off x="3880029" y="5163497"/>
              <a:ext cx="1224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传播时延</a:t>
              </a: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BA32A8D0-4302-4921-BD4F-6F0481229684}"/>
              </a:ext>
            </a:extLst>
          </p:cNvPr>
          <p:cNvGrpSpPr/>
          <p:nvPr/>
        </p:nvGrpSpPr>
        <p:grpSpPr>
          <a:xfrm>
            <a:off x="5499193" y="5071439"/>
            <a:ext cx="1224483" cy="813912"/>
            <a:chOff x="4986243" y="4995916"/>
            <a:chExt cx="1224483" cy="813912"/>
          </a:xfrm>
        </p:grpSpPr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9CD18EED-31DD-4ED0-BF0B-973F0471C38B}"/>
                </a:ext>
              </a:extLst>
            </p:cNvPr>
            <p:cNvCxnSpPr>
              <a:cxnSpLocks/>
            </p:cNvCxnSpPr>
            <p:nvPr/>
          </p:nvCxnSpPr>
          <p:spPr>
            <a:xfrm>
              <a:off x="6151418" y="4995916"/>
              <a:ext cx="0" cy="54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745A6E0C-6B13-462A-BE4E-3BF4601030E9}"/>
                </a:ext>
              </a:extLst>
            </p:cNvPr>
            <p:cNvCxnSpPr>
              <a:cxnSpLocks/>
            </p:cNvCxnSpPr>
            <p:nvPr/>
          </p:nvCxnSpPr>
          <p:spPr>
            <a:xfrm>
              <a:off x="5049563" y="5144477"/>
              <a:ext cx="111204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0A1DE2C2-A8E7-47F7-851B-7DE8F34B416D}"/>
                </a:ext>
              </a:extLst>
            </p:cNvPr>
            <p:cNvSpPr txBox="1"/>
            <p:nvPr/>
          </p:nvSpPr>
          <p:spPr>
            <a:xfrm>
              <a:off x="4986243" y="5163497"/>
              <a:ext cx="12244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排队时延</a:t>
              </a:r>
              <a:endParaRPr lang="en-US" altLang="zh-CN" b="1" dirty="0"/>
            </a:p>
            <a:p>
              <a:pPr algn="ctr"/>
              <a:r>
                <a:rPr lang="zh-CN" altLang="en-US" b="1" dirty="0"/>
                <a:t>处理时延</a:t>
              </a: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CC29CADD-4552-482D-A49D-BEE02EDC303C}"/>
              </a:ext>
            </a:extLst>
          </p:cNvPr>
          <p:cNvGrpSpPr/>
          <p:nvPr/>
        </p:nvGrpSpPr>
        <p:grpSpPr>
          <a:xfrm>
            <a:off x="6667881" y="5071439"/>
            <a:ext cx="1958868" cy="547200"/>
            <a:chOff x="6154931" y="4995916"/>
            <a:chExt cx="1958868" cy="547200"/>
          </a:xfrm>
        </p:grpSpPr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046300A1-A1CC-41F5-909F-4A6E7647A43A}"/>
                </a:ext>
              </a:extLst>
            </p:cNvPr>
            <p:cNvCxnSpPr>
              <a:cxnSpLocks/>
            </p:cNvCxnSpPr>
            <p:nvPr/>
          </p:nvCxnSpPr>
          <p:spPr>
            <a:xfrm>
              <a:off x="8108555" y="4995916"/>
              <a:ext cx="0" cy="54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2371CC1E-5387-4842-B0FD-BFA00302D925}"/>
                </a:ext>
              </a:extLst>
            </p:cNvPr>
            <p:cNvSpPr txBox="1"/>
            <p:nvPr/>
          </p:nvSpPr>
          <p:spPr>
            <a:xfrm>
              <a:off x="6521258" y="5163497"/>
              <a:ext cx="1224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发送时延</a:t>
              </a:r>
            </a:p>
          </p:txBody>
        </p: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0B4A93F1-05F4-44B3-AC30-6AFFCC9BE931}"/>
                </a:ext>
              </a:extLst>
            </p:cNvPr>
            <p:cNvCxnSpPr/>
            <p:nvPr/>
          </p:nvCxnSpPr>
          <p:spPr>
            <a:xfrm>
              <a:off x="6154931" y="5144171"/>
              <a:ext cx="195886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717B5215-C701-40D1-A212-A460B93CA745}"/>
              </a:ext>
            </a:extLst>
          </p:cNvPr>
          <p:cNvGrpSpPr/>
          <p:nvPr/>
        </p:nvGrpSpPr>
        <p:grpSpPr>
          <a:xfrm>
            <a:off x="8567829" y="5071439"/>
            <a:ext cx="1224483" cy="547200"/>
            <a:chOff x="8054879" y="4995916"/>
            <a:chExt cx="1224483" cy="547200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DB098E4C-1DDC-4338-95FB-0DF2AA6D1D80}"/>
                </a:ext>
              </a:extLst>
            </p:cNvPr>
            <p:cNvCxnSpPr>
              <a:cxnSpLocks/>
            </p:cNvCxnSpPr>
            <p:nvPr/>
          </p:nvCxnSpPr>
          <p:spPr>
            <a:xfrm>
              <a:off x="9223142" y="4995916"/>
              <a:ext cx="0" cy="54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371FFBAA-A6DA-4E5F-A1F3-1A18DA799017}"/>
                </a:ext>
              </a:extLst>
            </p:cNvPr>
            <p:cNvCxnSpPr>
              <a:cxnSpLocks/>
            </p:cNvCxnSpPr>
            <p:nvPr/>
          </p:nvCxnSpPr>
          <p:spPr>
            <a:xfrm>
              <a:off x="8111101" y="5144477"/>
              <a:ext cx="111204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905183B-902F-4B9E-B700-D28E83CB6BB2}"/>
                </a:ext>
              </a:extLst>
            </p:cNvPr>
            <p:cNvSpPr txBox="1"/>
            <p:nvPr/>
          </p:nvSpPr>
          <p:spPr>
            <a:xfrm>
              <a:off x="8054879" y="5163497"/>
              <a:ext cx="1224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传播时延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05758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DA779A8A-1730-4DAB-B3A3-2D43E8F8FF37}"/>
              </a:ext>
            </a:extLst>
          </p:cNvPr>
          <p:cNvGrpSpPr/>
          <p:nvPr/>
        </p:nvGrpSpPr>
        <p:grpSpPr>
          <a:xfrm>
            <a:off x="2389233" y="2138627"/>
            <a:ext cx="8722784" cy="3117478"/>
            <a:chOff x="2092852" y="2291706"/>
            <a:chExt cx="8722784" cy="3117478"/>
          </a:xfrm>
        </p:grpSpPr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34A6804C-4849-4756-8DF5-4AB3488BDBDF}"/>
                </a:ext>
              </a:extLst>
            </p:cNvPr>
            <p:cNvCxnSpPr>
              <a:cxnSpLocks/>
            </p:cNvCxnSpPr>
            <p:nvPr/>
          </p:nvCxnSpPr>
          <p:spPr>
            <a:xfrm>
              <a:off x="2092852" y="5216677"/>
              <a:ext cx="792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FF94FFC5-266A-4494-8CA0-72AD4FA29161}"/>
                </a:ext>
              </a:extLst>
            </p:cNvPr>
            <p:cNvCxnSpPr>
              <a:cxnSpLocks/>
            </p:cNvCxnSpPr>
            <p:nvPr/>
          </p:nvCxnSpPr>
          <p:spPr>
            <a:xfrm>
              <a:off x="2092852" y="2473258"/>
              <a:ext cx="792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CC8B98A3-B6B6-450F-A432-B22FC496712F}"/>
                </a:ext>
              </a:extLst>
            </p:cNvPr>
            <p:cNvCxnSpPr>
              <a:cxnSpLocks/>
            </p:cNvCxnSpPr>
            <p:nvPr/>
          </p:nvCxnSpPr>
          <p:spPr>
            <a:xfrm>
              <a:off x="2092852" y="3844967"/>
              <a:ext cx="792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4A19B3B3-B7DE-42C3-92E7-FFC2291C8A5C}"/>
                </a:ext>
              </a:extLst>
            </p:cNvPr>
            <p:cNvSpPr txBox="1"/>
            <p:nvPr/>
          </p:nvSpPr>
          <p:spPr>
            <a:xfrm>
              <a:off x="10035802" y="5039852"/>
              <a:ext cx="7798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时间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B1E7277F-3A0C-4D4B-9192-C204CBEA2B01}"/>
                </a:ext>
              </a:extLst>
            </p:cNvPr>
            <p:cNvSpPr txBox="1"/>
            <p:nvPr/>
          </p:nvSpPr>
          <p:spPr>
            <a:xfrm>
              <a:off x="10035802" y="3663415"/>
              <a:ext cx="7798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时间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B476EFC-B40B-4C28-AAD7-04EA2175E641}"/>
                </a:ext>
              </a:extLst>
            </p:cNvPr>
            <p:cNvSpPr txBox="1"/>
            <p:nvPr/>
          </p:nvSpPr>
          <p:spPr>
            <a:xfrm>
              <a:off x="10035802" y="2291706"/>
              <a:ext cx="7798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时间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计算机网络的性能指标</a:t>
              </a:r>
            </a:p>
          </p:txBody>
        </p:sp>
      </p:grpSp>
      <p:sp>
        <p:nvSpPr>
          <p:cNvPr id="86" name="îṡ1îḑè">
            <a:extLst>
              <a:ext uri="{FF2B5EF4-FFF2-40B4-BE49-F238E27FC236}">
                <a16:creationId xmlns:a16="http://schemas.microsoft.com/office/drawing/2014/main" id="{A803C2F9-4FBB-4C35-AC3F-2B77804282A2}"/>
              </a:ext>
            </a:extLst>
          </p:cNvPr>
          <p:cNvSpPr/>
          <p:nvPr/>
        </p:nvSpPr>
        <p:spPr>
          <a:xfrm>
            <a:off x="3048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速率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7" name="îṧḻîḍê">
            <a:extLst>
              <a:ext uri="{FF2B5EF4-FFF2-40B4-BE49-F238E27FC236}">
                <a16:creationId xmlns:a16="http://schemas.microsoft.com/office/drawing/2014/main" id="{DFA6F1EB-29D9-4A75-B24E-7FE2E4C0E97D}"/>
              </a:ext>
            </a:extLst>
          </p:cNvPr>
          <p:cNvSpPr/>
          <p:nvPr/>
        </p:nvSpPr>
        <p:spPr>
          <a:xfrm>
            <a:off x="17688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带宽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8" name="iṡlíďè">
            <a:extLst>
              <a:ext uri="{FF2B5EF4-FFF2-40B4-BE49-F238E27FC236}">
                <a16:creationId xmlns:a16="http://schemas.microsoft.com/office/drawing/2014/main" id="{C52BE881-D827-42B9-AFCD-BFDFE2366E21}"/>
              </a:ext>
            </a:extLst>
          </p:cNvPr>
          <p:cNvSpPr/>
          <p:nvPr/>
        </p:nvSpPr>
        <p:spPr>
          <a:xfrm>
            <a:off x="32328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rgbClr val="FFFFFF"/>
                </a:solidFill>
              </a:rPr>
              <a:t>吞吐量</a:t>
            </a:r>
            <a:endParaRPr lang="en-GB" b="1" dirty="0">
              <a:solidFill>
                <a:srgbClr val="FFFFFF"/>
              </a:solidFill>
            </a:endParaRPr>
          </a:p>
        </p:txBody>
      </p:sp>
      <p:sp>
        <p:nvSpPr>
          <p:cNvPr id="89" name="iṥľïdè">
            <a:extLst>
              <a:ext uri="{FF2B5EF4-FFF2-40B4-BE49-F238E27FC236}">
                <a16:creationId xmlns:a16="http://schemas.microsoft.com/office/drawing/2014/main" id="{7E37DD0B-57D9-45E4-B3AD-EEEB679EF75E}"/>
              </a:ext>
            </a:extLst>
          </p:cNvPr>
          <p:cNvSpPr/>
          <p:nvPr/>
        </p:nvSpPr>
        <p:spPr>
          <a:xfrm>
            <a:off x="469687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0" name="îśľîḍé">
            <a:extLst>
              <a:ext uri="{FF2B5EF4-FFF2-40B4-BE49-F238E27FC236}">
                <a16:creationId xmlns:a16="http://schemas.microsoft.com/office/drawing/2014/main" id="{67EBD377-E6A9-419F-9713-92993F43A27E}"/>
              </a:ext>
            </a:extLst>
          </p:cNvPr>
          <p:cNvSpPr/>
          <p:nvPr/>
        </p:nvSpPr>
        <p:spPr>
          <a:xfrm>
            <a:off x="76249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往返时间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1" name="îśľîḍé">
            <a:extLst>
              <a:ext uri="{FF2B5EF4-FFF2-40B4-BE49-F238E27FC236}">
                <a16:creationId xmlns:a16="http://schemas.microsoft.com/office/drawing/2014/main" id="{01D6FD95-2A4C-4A1F-ADAA-E06A0DB2334E}"/>
              </a:ext>
            </a:extLst>
          </p:cNvPr>
          <p:cNvSpPr/>
          <p:nvPr/>
        </p:nvSpPr>
        <p:spPr>
          <a:xfrm>
            <a:off x="61609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时延带宽积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2" name="îśľîḍé">
            <a:extLst>
              <a:ext uri="{FF2B5EF4-FFF2-40B4-BE49-F238E27FC236}">
                <a16:creationId xmlns:a16="http://schemas.microsoft.com/office/drawing/2014/main" id="{D196E2C0-5678-4A32-8DE3-2A8BA36E0749}"/>
              </a:ext>
            </a:extLst>
          </p:cNvPr>
          <p:cNvSpPr/>
          <p:nvPr/>
        </p:nvSpPr>
        <p:spPr>
          <a:xfrm>
            <a:off x="90889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利用率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3" name="îśľîḍé">
            <a:extLst>
              <a:ext uri="{FF2B5EF4-FFF2-40B4-BE49-F238E27FC236}">
                <a16:creationId xmlns:a16="http://schemas.microsoft.com/office/drawing/2014/main" id="{9010AC37-690A-4F23-99A9-04A6AEEBAC9D}"/>
              </a:ext>
            </a:extLst>
          </p:cNvPr>
          <p:cNvSpPr/>
          <p:nvPr/>
        </p:nvSpPr>
        <p:spPr>
          <a:xfrm>
            <a:off x="10552974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丢包率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5" name="îṧḻîḍê">
            <a:extLst>
              <a:ext uri="{FF2B5EF4-FFF2-40B4-BE49-F238E27FC236}">
                <a16:creationId xmlns:a16="http://schemas.microsoft.com/office/drawing/2014/main" id="{0A697AD8-C1F3-4AB3-B578-21E430CB1F19}"/>
              </a:ext>
            </a:extLst>
          </p:cNvPr>
          <p:cNvSpPr/>
          <p:nvPr/>
        </p:nvSpPr>
        <p:spPr>
          <a:xfrm>
            <a:off x="4696873" y="1299908"/>
            <a:ext cx="1334228" cy="482600"/>
          </a:xfrm>
          <a:prstGeom prst="rect">
            <a:avLst/>
          </a:prstGeom>
          <a:solidFill>
            <a:schemeClr val="accent4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4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41EE479-638E-49E9-B577-09A6F5ED3ECE}"/>
              </a:ext>
            </a:extLst>
          </p:cNvPr>
          <p:cNvGrpSpPr/>
          <p:nvPr/>
        </p:nvGrpSpPr>
        <p:grpSpPr>
          <a:xfrm>
            <a:off x="933106" y="1933006"/>
            <a:ext cx="1691499" cy="3323099"/>
            <a:chOff x="636725" y="2086085"/>
            <a:chExt cx="1691499" cy="3323099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9253FF5D-2F4E-4C0E-A75B-21BB915AD6D0}"/>
                </a:ext>
              </a:extLst>
            </p:cNvPr>
            <p:cNvCxnSpPr>
              <a:cxnSpLocks/>
            </p:cNvCxnSpPr>
            <p:nvPr/>
          </p:nvCxnSpPr>
          <p:spPr>
            <a:xfrm>
              <a:off x="1938307" y="2653738"/>
              <a:ext cx="0" cy="253967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图形 30">
              <a:extLst>
                <a:ext uri="{FF2B5EF4-FFF2-40B4-BE49-F238E27FC236}">
                  <a16:creationId xmlns:a16="http://schemas.microsoft.com/office/drawing/2014/main" id="{C3218252-C0B0-4296-ACD8-20FDC0CDB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17410" y="3482361"/>
              <a:ext cx="641794" cy="530548"/>
            </a:xfrm>
            <a:prstGeom prst="rect">
              <a:avLst/>
            </a:prstGeom>
          </p:spPr>
        </p:pic>
        <p:pic>
          <p:nvPicPr>
            <p:cNvPr id="37" name="图形 36">
              <a:extLst>
                <a:ext uri="{FF2B5EF4-FFF2-40B4-BE49-F238E27FC236}">
                  <a16:creationId xmlns:a16="http://schemas.microsoft.com/office/drawing/2014/main" id="{E0AD7FEB-17AC-476E-8847-8C43C2B5C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548390" y="2086085"/>
              <a:ext cx="779834" cy="754265"/>
            </a:xfrm>
            <a:prstGeom prst="rect">
              <a:avLst/>
            </a:prstGeom>
          </p:spPr>
        </p:pic>
        <p:pic>
          <p:nvPicPr>
            <p:cNvPr id="39" name="图形 38">
              <a:extLst>
                <a:ext uri="{FF2B5EF4-FFF2-40B4-BE49-F238E27FC236}">
                  <a16:creationId xmlns:a16="http://schemas.microsoft.com/office/drawing/2014/main" id="{26966D9F-8E2C-4794-8499-C13E2CA46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69431" y="4654919"/>
              <a:ext cx="779834" cy="754265"/>
            </a:xfrm>
            <a:prstGeom prst="rect">
              <a:avLst/>
            </a:prstGeom>
          </p:spPr>
        </p:pic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C7F1AC4-AA22-4882-894D-DF7FD6BCE301}"/>
                </a:ext>
              </a:extLst>
            </p:cNvPr>
            <p:cNvSpPr txBox="1"/>
            <p:nvPr/>
          </p:nvSpPr>
          <p:spPr>
            <a:xfrm>
              <a:off x="636725" y="4996207"/>
              <a:ext cx="7798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主机</a:t>
              </a:r>
              <a:r>
                <a:rPr lang="en-US" altLang="zh-CN" b="1" dirty="0"/>
                <a:t>A</a:t>
              </a:r>
              <a:endParaRPr lang="zh-CN" altLang="en-US" b="1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42CCC720-940A-41F6-8DFC-28496D579703}"/>
                </a:ext>
              </a:extLst>
            </p:cNvPr>
            <p:cNvSpPr txBox="1"/>
            <p:nvPr/>
          </p:nvSpPr>
          <p:spPr>
            <a:xfrm>
              <a:off x="636725" y="3626522"/>
              <a:ext cx="9116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路由器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666F9F7E-5461-4DA1-BFCD-9B1B96353903}"/>
                </a:ext>
              </a:extLst>
            </p:cNvPr>
            <p:cNvSpPr txBox="1"/>
            <p:nvPr/>
          </p:nvSpPr>
          <p:spPr>
            <a:xfrm>
              <a:off x="636725" y="2401221"/>
              <a:ext cx="7798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主机</a:t>
              </a:r>
              <a:r>
                <a:rPr lang="en-US" altLang="zh-CN" b="1" dirty="0"/>
                <a:t>B</a:t>
              </a:r>
              <a:endParaRPr lang="zh-CN" altLang="en-US" b="1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50447EB7-EF71-4FE7-B304-48875F24A39A}"/>
                </a:ext>
              </a:extLst>
            </p:cNvPr>
            <p:cNvSpPr txBox="1"/>
            <p:nvPr/>
          </p:nvSpPr>
          <p:spPr>
            <a:xfrm>
              <a:off x="1585138" y="2838190"/>
              <a:ext cx="3526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链</a:t>
              </a:r>
              <a:endParaRPr lang="en-US" altLang="zh-CN" b="1" dirty="0"/>
            </a:p>
            <a:p>
              <a:pPr algn="ctr"/>
              <a:r>
                <a:rPr lang="zh-CN" altLang="en-US" b="1" dirty="0"/>
                <a:t>路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CE528C69-FD42-4769-97A6-775C923C00AF}"/>
                </a:ext>
              </a:extLst>
            </p:cNvPr>
            <p:cNvSpPr txBox="1"/>
            <p:nvPr/>
          </p:nvSpPr>
          <p:spPr>
            <a:xfrm>
              <a:off x="1564863" y="4020345"/>
              <a:ext cx="3526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链</a:t>
              </a:r>
              <a:endParaRPr lang="en-US" altLang="zh-CN" b="1" dirty="0"/>
            </a:p>
            <a:p>
              <a:pPr algn="ctr"/>
              <a:r>
                <a:rPr lang="zh-CN" altLang="en-US" b="1" dirty="0"/>
                <a:t>路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D5C059B-F863-4A0E-80C0-61A94928C499}"/>
              </a:ext>
            </a:extLst>
          </p:cNvPr>
          <p:cNvGrpSpPr/>
          <p:nvPr/>
        </p:nvGrpSpPr>
        <p:grpSpPr>
          <a:xfrm>
            <a:off x="2491604" y="3691888"/>
            <a:ext cx="4621587" cy="1371709"/>
            <a:chOff x="2491604" y="3691888"/>
            <a:chExt cx="4621587" cy="1371709"/>
          </a:xfrm>
        </p:grpSpPr>
        <p:sp>
          <p:nvSpPr>
            <p:cNvPr id="16" name="平行四边形 15">
              <a:extLst>
                <a:ext uri="{FF2B5EF4-FFF2-40B4-BE49-F238E27FC236}">
                  <a16:creationId xmlns:a16="http://schemas.microsoft.com/office/drawing/2014/main" id="{AC6A85B4-D427-4081-8A49-CEF7C1DD9DD8}"/>
                </a:ext>
              </a:extLst>
            </p:cNvPr>
            <p:cNvSpPr/>
            <p:nvPr/>
          </p:nvSpPr>
          <p:spPr>
            <a:xfrm>
              <a:off x="2491604" y="3691888"/>
              <a:ext cx="2293058" cy="1371709"/>
            </a:xfrm>
            <a:prstGeom prst="parallelogram">
              <a:avLst>
                <a:gd name="adj" fmla="val 81944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分组</a:t>
              </a:r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59" name="平行四边形 58">
              <a:extLst>
                <a:ext uri="{FF2B5EF4-FFF2-40B4-BE49-F238E27FC236}">
                  <a16:creationId xmlns:a16="http://schemas.microsoft.com/office/drawing/2014/main" id="{7C7CCF09-019F-4C4F-B729-786C86941BF4}"/>
                </a:ext>
              </a:extLst>
            </p:cNvPr>
            <p:cNvSpPr/>
            <p:nvPr/>
          </p:nvSpPr>
          <p:spPr>
            <a:xfrm>
              <a:off x="3655867" y="3691888"/>
              <a:ext cx="2293058" cy="1371709"/>
            </a:xfrm>
            <a:prstGeom prst="parallelogram">
              <a:avLst>
                <a:gd name="adj" fmla="val 81944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分组</a:t>
              </a:r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  <p:sp>
          <p:nvSpPr>
            <p:cNvPr id="75" name="平行四边形 74">
              <a:extLst>
                <a:ext uri="{FF2B5EF4-FFF2-40B4-BE49-F238E27FC236}">
                  <a16:creationId xmlns:a16="http://schemas.microsoft.com/office/drawing/2014/main" id="{6133D9DD-708F-4B32-A343-0714AE81279F}"/>
                </a:ext>
              </a:extLst>
            </p:cNvPr>
            <p:cNvSpPr/>
            <p:nvPr/>
          </p:nvSpPr>
          <p:spPr>
            <a:xfrm>
              <a:off x="4820133" y="3691888"/>
              <a:ext cx="2293058" cy="1371709"/>
            </a:xfrm>
            <a:prstGeom prst="parallelogram">
              <a:avLst>
                <a:gd name="adj" fmla="val 81944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分组</a:t>
              </a:r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960C6EC2-4132-43AD-9698-5D4EA78BEACF}"/>
              </a:ext>
            </a:extLst>
          </p:cNvPr>
          <p:cNvGrpSpPr/>
          <p:nvPr/>
        </p:nvGrpSpPr>
        <p:grpSpPr>
          <a:xfrm>
            <a:off x="4783369" y="2317049"/>
            <a:ext cx="4618390" cy="1371709"/>
            <a:chOff x="4783369" y="2317049"/>
            <a:chExt cx="4618390" cy="1371709"/>
          </a:xfrm>
        </p:grpSpPr>
        <p:sp>
          <p:nvSpPr>
            <p:cNvPr id="76" name="平行四边形 75">
              <a:extLst>
                <a:ext uri="{FF2B5EF4-FFF2-40B4-BE49-F238E27FC236}">
                  <a16:creationId xmlns:a16="http://schemas.microsoft.com/office/drawing/2014/main" id="{DCE9DAAF-A292-40DB-BF8B-BC834FECC0B8}"/>
                </a:ext>
              </a:extLst>
            </p:cNvPr>
            <p:cNvSpPr/>
            <p:nvPr/>
          </p:nvSpPr>
          <p:spPr>
            <a:xfrm>
              <a:off x="4783369" y="2317049"/>
              <a:ext cx="2293058" cy="1371709"/>
            </a:xfrm>
            <a:prstGeom prst="parallelogram">
              <a:avLst>
                <a:gd name="adj" fmla="val 81944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分组</a:t>
              </a:r>
              <a:r>
                <a:rPr lang="en-US" altLang="zh-CN" b="1" dirty="0"/>
                <a:t>1</a:t>
              </a:r>
              <a:endParaRPr lang="zh-CN" altLang="en-US" b="1" dirty="0"/>
            </a:p>
          </p:txBody>
        </p:sp>
        <p:sp>
          <p:nvSpPr>
            <p:cNvPr id="79" name="平行四边形 78">
              <a:extLst>
                <a:ext uri="{FF2B5EF4-FFF2-40B4-BE49-F238E27FC236}">
                  <a16:creationId xmlns:a16="http://schemas.microsoft.com/office/drawing/2014/main" id="{381B4A8A-2EF3-4111-BDD7-5D8038BCF3AC}"/>
                </a:ext>
              </a:extLst>
            </p:cNvPr>
            <p:cNvSpPr/>
            <p:nvPr/>
          </p:nvSpPr>
          <p:spPr>
            <a:xfrm>
              <a:off x="5951414" y="2317049"/>
              <a:ext cx="2293058" cy="1371709"/>
            </a:xfrm>
            <a:prstGeom prst="parallelogram">
              <a:avLst>
                <a:gd name="adj" fmla="val 81944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分组</a:t>
              </a:r>
              <a:r>
                <a:rPr lang="en-US" altLang="zh-CN" b="1" dirty="0"/>
                <a:t>2</a:t>
              </a:r>
              <a:endParaRPr lang="zh-CN" altLang="en-US" b="1" dirty="0"/>
            </a:p>
          </p:txBody>
        </p:sp>
        <p:sp>
          <p:nvSpPr>
            <p:cNvPr id="80" name="平行四边形 79">
              <a:extLst>
                <a:ext uri="{FF2B5EF4-FFF2-40B4-BE49-F238E27FC236}">
                  <a16:creationId xmlns:a16="http://schemas.microsoft.com/office/drawing/2014/main" id="{01DFBA44-B516-471F-8428-7E1D568E55D0}"/>
                </a:ext>
              </a:extLst>
            </p:cNvPr>
            <p:cNvSpPr/>
            <p:nvPr/>
          </p:nvSpPr>
          <p:spPr>
            <a:xfrm>
              <a:off x="7108701" y="2317049"/>
              <a:ext cx="2293058" cy="1371709"/>
            </a:xfrm>
            <a:prstGeom prst="parallelogram">
              <a:avLst>
                <a:gd name="adj" fmla="val 81944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分组</a:t>
              </a:r>
              <a:r>
                <a:rPr lang="en-US" altLang="zh-CN" b="1" dirty="0"/>
                <a:t>3</a:t>
              </a:r>
              <a:endParaRPr lang="zh-CN" altLang="en-US" b="1" dirty="0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B2A4C7A2-B64F-45A1-9760-F52D123AAE45}"/>
              </a:ext>
            </a:extLst>
          </p:cNvPr>
          <p:cNvGrpSpPr/>
          <p:nvPr/>
        </p:nvGrpSpPr>
        <p:grpSpPr>
          <a:xfrm>
            <a:off x="2459895" y="2336401"/>
            <a:ext cx="6992009" cy="3286939"/>
            <a:chOff x="2459895" y="2336401"/>
            <a:chExt cx="6992009" cy="3286939"/>
          </a:xfrm>
        </p:grpSpPr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07C742A8-EBC4-4C94-9D13-539B003A77C1}"/>
                </a:ext>
              </a:extLst>
            </p:cNvPr>
            <p:cNvCxnSpPr>
              <a:cxnSpLocks/>
            </p:cNvCxnSpPr>
            <p:nvPr/>
          </p:nvCxnSpPr>
          <p:spPr>
            <a:xfrm>
              <a:off x="7109744" y="3703920"/>
              <a:ext cx="0" cy="136751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A451955B-4CA6-45BB-BFE6-428D81EFA274}"/>
                </a:ext>
              </a:extLst>
            </p:cNvPr>
            <p:cNvCxnSpPr>
              <a:cxnSpLocks/>
            </p:cNvCxnSpPr>
            <p:nvPr/>
          </p:nvCxnSpPr>
          <p:spPr>
            <a:xfrm>
              <a:off x="8271887" y="3703920"/>
              <a:ext cx="0" cy="136751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CB32C8AF-AB25-4098-BE7F-A991DD6D6E58}"/>
                </a:ext>
              </a:extLst>
            </p:cNvPr>
            <p:cNvCxnSpPr>
              <a:cxnSpLocks/>
            </p:cNvCxnSpPr>
            <p:nvPr/>
          </p:nvCxnSpPr>
          <p:spPr>
            <a:xfrm>
              <a:off x="9391423" y="2336401"/>
              <a:ext cx="0" cy="2735038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E338289A-4CBC-437C-AED5-0C9E23D8BC04}"/>
                </a:ext>
              </a:extLst>
            </p:cNvPr>
            <p:cNvSpPr txBox="1"/>
            <p:nvPr/>
          </p:nvSpPr>
          <p:spPr>
            <a:xfrm>
              <a:off x="2459895" y="5241186"/>
              <a:ext cx="1224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发送时延</a:t>
              </a: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E7E613D6-CF63-4D02-8E83-942D11F420E0}"/>
                </a:ext>
              </a:extLst>
            </p:cNvPr>
            <p:cNvCxnSpPr>
              <a:cxnSpLocks/>
            </p:cNvCxnSpPr>
            <p:nvPr/>
          </p:nvCxnSpPr>
          <p:spPr>
            <a:xfrm>
              <a:off x="2491604" y="5063597"/>
              <a:ext cx="0" cy="5465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BDA747AE-9216-4415-A9D7-72BAE5C56595}"/>
                </a:ext>
              </a:extLst>
            </p:cNvPr>
            <p:cNvCxnSpPr>
              <a:cxnSpLocks/>
            </p:cNvCxnSpPr>
            <p:nvPr/>
          </p:nvCxnSpPr>
          <p:spPr>
            <a:xfrm>
              <a:off x="2491604" y="5219694"/>
              <a:ext cx="117502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27C6D0ED-5155-4A42-BD2C-D5AC9CC47708}"/>
                </a:ext>
              </a:extLst>
            </p:cNvPr>
            <p:cNvCxnSpPr>
              <a:cxnSpLocks/>
            </p:cNvCxnSpPr>
            <p:nvPr/>
          </p:nvCxnSpPr>
          <p:spPr>
            <a:xfrm>
              <a:off x="3666628" y="5074662"/>
              <a:ext cx="0" cy="5465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CD62C454-17FB-4332-A4A9-C241C8756071}"/>
                </a:ext>
              </a:extLst>
            </p:cNvPr>
            <p:cNvCxnSpPr>
              <a:cxnSpLocks/>
            </p:cNvCxnSpPr>
            <p:nvPr/>
          </p:nvCxnSpPr>
          <p:spPr>
            <a:xfrm>
              <a:off x="7108929" y="5063597"/>
              <a:ext cx="0" cy="54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AED424E2-F43F-40CB-8CD6-AF4FF7AA09A1}"/>
                </a:ext>
              </a:extLst>
            </p:cNvPr>
            <p:cNvCxnSpPr>
              <a:cxnSpLocks/>
            </p:cNvCxnSpPr>
            <p:nvPr/>
          </p:nvCxnSpPr>
          <p:spPr>
            <a:xfrm>
              <a:off x="5996888" y="5219694"/>
              <a:ext cx="111204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7DE0CECA-D8B3-48E2-BFD9-62E26C96ADE4}"/>
                </a:ext>
              </a:extLst>
            </p:cNvPr>
            <p:cNvSpPr txBox="1"/>
            <p:nvPr/>
          </p:nvSpPr>
          <p:spPr>
            <a:xfrm>
              <a:off x="5939395" y="5241186"/>
              <a:ext cx="1224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传播时延</a:t>
              </a:r>
            </a:p>
          </p:txBody>
        </p: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DB098E4C-1DDC-4338-95FB-0DF2AA6D1D80}"/>
                </a:ext>
              </a:extLst>
            </p:cNvPr>
            <p:cNvCxnSpPr>
              <a:cxnSpLocks/>
            </p:cNvCxnSpPr>
            <p:nvPr/>
          </p:nvCxnSpPr>
          <p:spPr>
            <a:xfrm>
              <a:off x="9395684" y="5072712"/>
              <a:ext cx="0" cy="54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371FFBAA-A6DA-4E5F-A1F3-1A18DA799017}"/>
                </a:ext>
              </a:extLst>
            </p:cNvPr>
            <p:cNvCxnSpPr>
              <a:cxnSpLocks/>
            </p:cNvCxnSpPr>
            <p:nvPr/>
          </p:nvCxnSpPr>
          <p:spPr>
            <a:xfrm>
              <a:off x="8283643" y="5221273"/>
              <a:ext cx="111204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905183B-902F-4B9E-B700-D28E83CB6BB2}"/>
                </a:ext>
              </a:extLst>
            </p:cNvPr>
            <p:cNvSpPr txBox="1"/>
            <p:nvPr/>
          </p:nvSpPr>
          <p:spPr>
            <a:xfrm>
              <a:off x="8227421" y="5240293"/>
              <a:ext cx="1224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传播时延</a:t>
              </a: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A96AFD44-52D1-408E-9756-453669E8015F}"/>
                </a:ext>
              </a:extLst>
            </p:cNvPr>
            <p:cNvSpPr txBox="1"/>
            <p:nvPr/>
          </p:nvSpPr>
          <p:spPr>
            <a:xfrm>
              <a:off x="3624158" y="5241186"/>
              <a:ext cx="1224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发送时延</a:t>
              </a:r>
            </a:p>
          </p:txBody>
        </p: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FC440418-78AD-4B8B-9F1F-2604FE9ABC37}"/>
                </a:ext>
              </a:extLst>
            </p:cNvPr>
            <p:cNvCxnSpPr>
              <a:cxnSpLocks/>
            </p:cNvCxnSpPr>
            <p:nvPr/>
          </p:nvCxnSpPr>
          <p:spPr>
            <a:xfrm>
              <a:off x="3655867" y="5221860"/>
              <a:ext cx="117502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F2058ED6-54B7-4289-B628-A2BA82FB1617}"/>
                </a:ext>
              </a:extLst>
            </p:cNvPr>
            <p:cNvCxnSpPr>
              <a:cxnSpLocks/>
            </p:cNvCxnSpPr>
            <p:nvPr/>
          </p:nvCxnSpPr>
          <p:spPr>
            <a:xfrm>
              <a:off x="4830891" y="5076828"/>
              <a:ext cx="0" cy="5465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348CB3B9-65DF-474A-8907-FA3A312498E1}"/>
                </a:ext>
              </a:extLst>
            </p:cNvPr>
            <p:cNvSpPr txBox="1"/>
            <p:nvPr/>
          </p:nvSpPr>
          <p:spPr>
            <a:xfrm>
              <a:off x="4803012" y="5241186"/>
              <a:ext cx="1224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发送时延</a:t>
              </a:r>
            </a:p>
          </p:txBody>
        </p: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D8B48A99-0F13-422C-A914-713575F74DB1}"/>
                </a:ext>
              </a:extLst>
            </p:cNvPr>
            <p:cNvCxnSpPr>
              <a:cxnSpLocks/>
            </p:cNvCxnSpPr>
            <p:nvPr/>
          </p:nvCxnSpPr>
          <p:spPr>
            <a:xfrm>
              <a:off x="4834721" y="5215764"/>
              <a:ext cx="117502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62B5E884-BDDD-442C-90F7-449FF2594D5C}"/>
                </a:ext>
              </a:extLst>
            </p:cNvPr>
            <p:cNvCxnSpPr>
              <a:cxnSpLocks/>
            </p:cNvCxnSpPr>
            <p:nvPr/>
          </p:nvCxnSpPr>
          <p:spPr>
            <a:xfrm>
              <a:off x="5998987" y="5070732"/>
              <a:ext cx="0" cy="5465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999FA47F-91C9-41EB-945A-B8D525B545CB}"/>
                </a:ext>
              </a:extLst>
            </p:cNvPr>
            <p:cNvSpPr txBox="1"/>
            <p:nvPr/>
          </p:nvSpPr>
          <p:spPr>
            <a:xfrm>
              <a:off x="7089741" y="5241186"/>
              <a:ext cx="1224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发送时延</a:t>
              </a:r>
            </a:p>
          </p:txBody>
        </p: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DEEE9AE4-54A1-4DFE-B990-8AE11A5F4CAC}"/>
                </a:ext>
              </a:extLst>
            </p:cNvPr>
            <p:cNvCxnSpPr>
              <a:cxnSpLocks/>
            </p:cNvCxnSpPr>
            <p:nvPr/>
          </p:nvCxnSpPr>
          <p:spPr>
            <a:xfrm>
              <a:off x="7110692" y="5221560"/>
              <a:ext cx="117502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2C3E3759-DBA5-4247-9837-B95E222CAEF0}"/>
                </a:ext>
              </a:extLst>
            </p:cNvPr>
            <p:cNvCxnSpPr>
              <a:cxnSpLocks/>
            </p:cNvCxnSpPr>
            <p:nvPr/>
          </p:nvCxnSpPr>
          <p:spPr>
            <a:xfrm>
              <a:off x="8274958" y="5065770"/>
              <a:ext cx="0" cy="5465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73611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计算机网络的性能指标</a:t>
              </a:r>
            </a:p>
          </p:txBody>
        </p:sp>
      </p:grpSp>
      <p:sp>
        <p:nvSpPr>
          <p:cNvPr id="86" name="îṡ1îḑè">
            <a:extLst>
              <a:ext uri="{FF2B5EF4-FFF2-40B4-BE49-F238E27FC236}">
                <a16:creationId xmlns:a16="http://schemas.microsoft.com/office/drawing/2014/main" id="{A803C2F9-4FBB-4C35-AC3F-2B77804282A2}"/>
              </a:ext>
            </a:extLst>
          </p:cNvPr>
          <p:cNvSpPr/>
          <p:nvPr/>
        </p:nvSpPr>
        <p:spPr>
          <a:xfrm>
            <a:off x="3048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速率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7" name="îṧḻîḍê">
            <a:extLst>
              <a:ext uri="{FF2B5EF4-FFF2-40B4-BE49-F238E27FC236}">
                <a16:creationId xmlns:a16="http://schemas.microsoft.com/office/drawing/2014/main" id="{DFA6F1EB-29D9-4A75-B24E-7FE2E4C0E97D}"/>
              </a:ext>
            </a:extLst>
          </p:cNvPr>
          <p:cNvSpPr/>
          <p:nvPr/>
        </p:nvSpPr>
        <p:spPr>
          <a:xfrm>
            <a:off x="17688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带宽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8" name="iṡlíďè">
            <a:extLst>
              <a:ext uri="{FF2B5EF4-FFF2-40B4-BE49-F238E27FC236}">
                <a16:creationId xmlns:a16="http://schemas.microsoft.com/office/drawing/2014/main" id="{C52BE881-D827-42B9-AFCD-BFDFE2366E21}"/>
              </a:ext>
            </a:extLst>
          </p:cNvPr>
          <p:cNvSpPr/>
          <p:nvPr/>
        </p:nvSpPr>
        <p:spPr>
          <a:xfrm>
            <a:off x="32328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rgbClr val="FFFFFF"/>
                </a:solidFill>
              </a:rPr>
              <a:t>吞吐量</a:t>
            </a:r>
            <a:endParaRPr lang="en-GB" b="1" dirty="0">
              <a:solidFill>
                <a:srgbClr val="FFFFFF"/>
              </a:solidFill>
            </a:endParaRPr>
          </a:p>
        </p:txBody>
      </p:sp>
      <p:sp>
        <p:nvSpPr>
          <p:cNvPr id="89" name="iṥľïdè">
            <a:extLst>
              <a:ext uri="{FF2B5EF4-FFF2-40B4-BE49-F238E27FC236}">
                <a16:creationId xmlns:a16="http://schemas.microsoft.com/office/drawing/2014/main" id="{7E37DD0B-57D9-45E4-B3AD-EEEB679EF75E}"/>
              </a:ext>
            </a:extLst>
          </p:cNvPr>
          <p:cNvSpPr/>
          <p:nvPr/>
        </p:nvSpPr>
        <p:spPr>
          <a:xfrm>
            <a:off x="469687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0" name="îśľîḍé">
            <a:extLst>
              <a:ext uri="{FF2B5EF4-FFF2-40B4-BE49-F238E27FC236}">
                <a16:creationId xmlns:a16="http://schemas.microsoft.com/office/drawing/2014/main" id="{67EBD377-E6A9-419F-9713-92993F43A27E}"/>
              </a:ext>
            </a:extLst>
          </p:cNvPr>
          <p:cNvSpPr/>
          <p:nvPr/>
        </p:nvSpPr>
        <p:spPr>
          <a:xfrm>
            <a:off x="76249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往返时间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1" name="îśľîḍé">
            <a:extLst>
              <a:ext uri="{FF2B5EF4-FFF2-40B4-BE49-F238E27FC236}">
                <a16:creationId xmlns:a16="http://schemas.microsoft.com/office/drawing/2014/main" id="{01D6FD95-2A4C-4A1F-ADAA-E06A0DB2334E}"/>
              </a:ext>
            </a:extLst>
          </p:cNvPr>
          <p:cNvSpPr/>
          <p:nvPr/>
        </p:nvSpPr>
        <p:spPr>
          <a:xfrm>
            <a:off x="61609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时延带宽积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2" name="îśľîḍé">
            <a:extLst>
              <a:ext uri="{FF2B5EF4-FFF2-40B4-BE49-F238E27FC236}">
                <a16:creationId xmlns:a16="http://schemas.microsoft.com/office/drawing/2014/main" id="{D196E2C0-5678-4A32-8DE3-2A8BA36E0749}"/>
              </a:ext>
            </a:extLst>
          </p:cNvPr>
          <p:cNvSpPr/>
          <p:nvPr/>
        </p:nvSpPr>
        <p:spPr>
          <a:xfrm>
            <a:off x="90889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利用率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3" name="îśľîḍé">
            <a:extLst>
              <a:ext uri="{FF2B5EF4-FFF2-40B4-BE49-F238E27FC236}">
                <a16:creationId xmlns:a16="http://schemas.microsoft.com/office/drawing/2014/main" id="{9010AC37-690A-4F23-99A9-04A6AEEBAC9D}"/>
              </a:ext>
            </a:extLst>
          </p:cNvPr>
          <p:cNvSpPr/>
          <p:nvPr/>
        </p:nvSpPr>
        <p:spPr>
          <a:xfrm>
            <a:off x="10552974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丢包率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5" name="îṧḻîḍê">
            <a:extLst>
              <a:ext uri="{FF2B5EF4-FFF2-40B4-BE49-F238E27FC236}">
                <a16:creationId xmlns:a16="http://schemas.microsoft.com/office/drawing/2014/main" id="{0A697AD8-C1F3-4AB3-B578-21E430CB1F19}"/>
              </a:ext>
            </a:extLst>
          </p:cNvPr>
          <p:cNvSpPr/>
          <p:nvPr/>
        </p:nvSpPr>
        <p:spPr>
          <a:xfrm>
            <a:off x="4696873" y="1299908"/>
            <a:ext cx="1334228" cy="482600"/>
          </a:xfrm>
          <a:prstGeom prst="rect">
            <a:avLst/>
          </a:prstGeom>
          <a:solidFill>
            <a:schemeClr val="accent4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4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10" name="图片 9" descr="游戏的屏幕&#10;&#10;描述已自动生成">
            <a:extLst>
              <a:ext uri="{FF2B5EF4-FFF2-40B4-BE49-F238E27FC236}">
                <a16:creationId xmlns:a16="http://schemas.microsoft.com/office/drawing/2014/main" id="{FB24F555-D4DD-4B1B-B258-0B3439117B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019" y="1947294"/>
            <a:ext cx="8527555" cy="450589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390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>
            <a:extLst>
              <a:ext uri="{FF2B5EF4-FFF2-40B4-BE49-F238E27FC236}">
                <a16:creationId xmlns:a16="http://schemas.microsoft.com/office/drawing/2014/main" id="{2EC0701E-198D-4DFB-AA48-02974664C6FD}"/>
              </a:ext>
            </a:extLst>
          </p:cNvPr>
          <p:cNvGrpSpPr/>
          <p:nvPr/>
        </p:nvGrpSpPr>
        <p:grpSpPr>
          <a:xfrm>
            <a:off x="8213187" y="4549518"/>
            <a:ext cx="2829727" cy="307777"/>
            <a:chOff x="8213187" y="4549518"/>
            <a:chExt cx="2829727" cy="307777"/>
          </a:xfrm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85E6801-01A8-47D1-9A2B-1C9842712B0E}"/>
                </a:ext>
              </a:extLst>
            </p:cNvPr>
            <p:cNvSpPr txBox="1"/>
            <p:nvPr/>
          </p:nvSpPr>
          <p:spPr>
            <a:xfrm>
              <a:off x="8213187" y="4549518"/>
              <a:ext cx="6184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忽略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F61ADA66-DAB7-4C3B-A139-3D3623CC8CF3}"/>
                </a:ext>
              </a:extLst>
            </p:cNvPr>
            <p:cNvSpPr txBox="1"/>
            <p:nvPr/>
          </p:nvSpPr>
          <p:spPr>
            <a:xfrm>
              <a:off x="9312646" y="4549518"/>
              <a:ext cx="6184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忽略</a:t>
              </a: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618AED5C-1C17-4D9A-9248-4C4792BC0AAF}"/>
                </a:ext>
              </a:extLst>
            </p:cNvPr>
            <p:cNvSpPr txBox="1"/>
            <p:nvPr/>
          </p:nvSpPr>
          <p:spPr>
            <a:xfrm>
              <a:off x="10424443" y="4549518"/>
              <a:ext cx="6184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忽略</a:t>
              </a: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4CD3DF47-83A0-4758-9E70-B02244597D1D}"/>
              </a:ext>
            </a:extLst>
          </p:cNvPr>
          <p:cNvSpPr txBox="1"/>
          <p:nvPr/>
        </p:nvSpPr>
        <p:spPr>
          <a:xfrm>
            <a:off x="6421210" y="6018089"/>
            <a:ext cx="932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n-ea"/>
              </a:rPr>
              <a:t>1</a:t>
            </a:r>
            <a:r>
              <a:rPr lang="zh-CN" altLang="en-US" sz="1400" b="1" dirty="0">
                <a:latin typeface="+mn-ea"/>
              </a:rPr>
              <a:t>个分组</a:t>
            </a:r>
            <a:endParaRPr lang="en-US" altLang="zh-CN" sz="1400" b="1" dirty="0">
              <a:latin typeface="+mn-ea"/>
            </a:endParaRPr>
          </a:p>
          <a:p>
            <a:pPr algn="ctr"/>
            <a:r>
              <a:rPr lang="zh-CN" altLang="en-US" sz="1400" b="1" dirty="0">
                <a:latin typeface="+mn-ea"/>
              </a:rPr>
              <a:t>发送时延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E35D0CD-6EFE-4F5C-9D53-07FEB23447E1}"/>
              </a:ext>
            </a:extLst>
          </p:cNvPr>
          <p:cNvSpPr txBox="1"/>
          <p:nvPr/>
        </p:nvSpPr>
        <p:spPr>
          <a:xfrm>
            <a:off x="7883267" y="6018089"/>
            <a:ext cx="1278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+mn-ea"/>
              </a:rPr>
              <a:t>构成发送文件</a:t>
            </a:r>
            <a:endParaRPr lang="en-US" altLang="zh-CN" sz="1400" b="1" dirty="0">
              <a:latin typeface="+mn-ea"/>
            </a:endParaRPr>
          </a:p>
          <a:p>
            <a:pPr algn="ctr"/>
            <a:r>
              <a:rPr lang="zh-CN" altLang="en-US" sz="1400" b="1" dirty="0">
                <a:latin typeface="+mn-ea"/>
              </a:rPr>
              <a:t>的分组数量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7E9B8BC-818B-4F09-BA5F-D7B783150728}"/>
              </a:ext>
            </a:extLst>
          </p:cNvPr>
          <p:cNvSpPr txBox="1"/>
          <p:nvPr/>
        </p:nvSpPr>
        <p:spPr>
          <a:xfrm>
            <a:off x="9464768" y="6018089"/>
            <a:ext cx="932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n-ea"/>
              </a:rPr>
              <a:t>1</a:t>
            </a:r>
            <a:r>
              <a:rPr lang="zh-CN" altLang="en-US" sz="1400" b="1" dirty="0">
                <a:latin typeface="+mn-ea"/>
              </a:rPr>
              <a:t>个分组</a:t>
            </a:r>
            <a:endParaRPr lang="en-US" altLang="zh-CN" sz="1400" b="1" dirty="0">
              <a:latin typeface="+mn-ea"/>
            </a:endParaRPr>
          </a:p>
          <a:p>
            <a:pPr algn="ctr"/>
            <a:r>
              <a:rPr lang="zh-CN" altLang="en-US" sz="1400" b="1" dirty="0">
                <a:latin typeface="+mn-ea"/>
              </a:rPr>
              <a:t>发送时延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9693ACA-5254-4C78-87F7-54C720E2D0A1}"/>
              </a:ext>
            </a:extLst>
          </p:cNvPr>
          <p:cNvSpPr txBox="1"/>
          <p:nvPr/>
        </p:nvSpPr>
        <p:spPr>
          <a:xfrm>
            <a:off x="10345482" y="6018089"/>
            <a:ext cx="1394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+mn-ea"/>
              </a:rPr>
              <a:t>转发次数</a:t>
            </a:r>
            <a:endParaRPr lang="en-US" altLang="zh-CN" sz="1400" b="1" dirty="0">
              <a:latin typeface="+mn-ea"/>
            </a:endParaRPr>
          </a:p>
          <a:p>
            <a:pPr algn="ctr"/>
            <a:r>
              <a:rPr lang="zh-CN" altLang="en-US" sz="1400" b="1" dirty="0">
                <a:latin typeface="+mn-ea"/>
              </a:rPr>
              <a:t>（路由器数量）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计算机网络的性能指标</a:t>
              </a:r>
            </a:p>
          </p:txBody>
        </p:sp>
      </p:grpSp>
      <p:sp>
        <p:nvSpPr>
          <p:cNvPr id="86" name="îṡ1îḑè">
            <a:extLst>
              <a:ext uri="{FF2B5EF4-FFF2-40B4-BE49-F238E27FC236}">
                <a16:creationId xmlns:a16="http://schemas.microsoft.com/office/drawing/2014/main" id="{A803C2F9-4FBB-4C35-AC3F-2B77804282A2}"/>
              </a:ext>
            </a:extLst>
          </p:cNvPr>
          <p:cNvSpPr/>
          <p:nvPr/>
        </p:nvSpPr>
        <p:spPr>
          <a:xfrm>
            <a:off x="3048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速率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7" name="îṧḻîḍê">
            <a:extLst>
              <a:ext uri="{FF2B5EF4-FFF2-40B4-BE49-F238E27FC236}">
                <a16:creationId xmlns:a16="http://schemas.microsoft.com/office/drawing/2014/main" id="{DFA6F1EB-29D9-4A75-B24E-7FE2E4C0E97D}"/>
              </a:ext>
            </a:extLst>
          </p:cNvPr>
          <p:cNvSpPr/>
          <p:nvPr/>
        </p:nvSpPr>
        <p:spPr>
          <a:xfrm>
            <a:off x="17688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带宽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8" name="iṡlíďè">
            <a:extLst>
              <a:ext uri="{FF2B5EF4-FFF2-40B4-BE49-F238E27FC236}">
                <a16:creationId xmlns:a16="http://schemas.microsoft.com/office/drawing/2014/main" id="{C52BE881-D827-42B9-AFCD-BFDFE2366E21}"/>
              </a:ext>
            </a:extLst>
          </p:cNvPr>
          <p:cNvSpPr/>
          <p:nvPr/>
        </p:nvSpPr>
        <p:spPr>
          <a:xfrm>
            <a:off x="32328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rgbClr val="FFFFFF"/>
                </a:solidFill>
              </a:rPr>
              <a:t>吞吐量</a:t>
            </a:r>
            <a:endParaRPr lang="en-GB" b="1" dirty="0">
              <a:solidFill>
                <a:srgbClr val="FFFFFF"/>
              </a:solidFill>
            </a:endParaRPr>
          </a:p>
        </p:txBody>
      </p:sp>
      <p:sp>
        <p:nvSpPr>
          <p:cNvPr id="89" name="iṥľïdè">
            <a:extLst>
              <a:ext uri="{FF2B5EF4-FFF2-40B4-BE49-F238E27FC236}">
                <a16:creationId xmlns:a16="http://schemas.microsoft.com/office/drawing/2014/main" id="{7E37DD0B-57D9-45E4-B3AD-EEEB679EF75E}"/>
              </a:ext>
            </a:extLst>
          </p:cNvPr>
          <p:cNvSpPr/>
          <p:nvPr/>
        </p:nvSpPr>
        <p:spPr>
          <a:xfrm>
            <a:off x="469687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0" name="îśľîḍé">
            <a:extLst>
              <a:ext uri="{FF2B5EF4-FFF2-40B4-BE49-F238E27FC236}">
                <a16:creationId xmlns:a16="http://schemas.microsoft.com/office/drawing/2014/main" id="{67EBD377-E6A9-419F-9713-92993F43A27E}"/>
              </a:ext>
            </a:extLst>
          </p:cNvPr>
          <p:cNvSpPr/>
          <p:nvPr/>
        </p:nvSpPr>
        <p:spPr>
          <a:xfrm>
            <a:off x="76249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往返时间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1" name="îśľîḍé">
            <a:extLst>
              <a:ext uri="{FF2B5EF4-FFF2-40B4-BE49-F238E27FC236}">
                <a16:creationId xmlns:a16="http://schemas.microsoft.com/office/drawing/2014/main" id="{01D6FD95-2A4C-4A1F-ADAA-E06A0DB2334E}"/>
              </a:ext>
            </a:extLst>
          </p:cNvPr>
          <p:cNvSpPr/>
          <p:nvPr/>
        </p:nvSpPr>
        <p:spPr>
          <a:xfrm>
            <a:off x="61609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时延带宽积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2" name="îśľîḍé">
            <a:extLst>
              <a:ext uri="{FF2B5EF4-FFF2-40B4-BE49-F238E27FC236}">
                <a16:creationId xmlns:a16="http://schemas.microsoft.com/office/drawing/2014/main" id="{D196E2C0-5678-4A32-8DE3-2A8BA36E0749}"/>
              </a:ext>
            </a:extLst>
          </p:cNvPr>
          <p:cNvSpPr/>
          <p:nvPr/>
        </p:nvSpPr>
        <p:spPr>
          <a:xfrm>
            <a:off x="90889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利用率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3" name="îśľîḍé">
            <a:extLst>
              <a:ext uri="{FF2B5EF4-FFF2-40B4-BE49-F238E27FC236}">
                <a16:creationId xmlns:a16="http://schemas.microsoft.com/office/drawing/2014/main" id="{9010AC37-690A-4F23-99A9-04A6AEEBAC9D}"/>
              </a:ext>
            </a:extLst>
          </p:cNvPr>
          <p:cNvSpPr/>
          <p:nvPr/>
        </p:nvSpPr>
        <p:spPr>
          <a:xfrm>
            <a:off x="10552974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丢包率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5" name="îṧḻîḍê">
            <a:extLst>
              <a:ext uri="{FF2B5EF4-FFF2-40B4-BE49-F238E27FC236}">
                <a16:creationId xmlns:a16="http://schemas.microsoft.com/office/drawing/2014/main" id="{0A697AD8-C1F3-4AB3-B578-21E430CB1F19}"/>
              </a:ext>
            </a:extLst>
          </p:cNvPr>
          <p:cNvSpPr/>
          <p:nvPr/>
        </p:nvSpPr>
        <p:spPr>
          <a:xfrm>
            <a:off x="4696873" y="1299908"/>
            <a:ext cx="1334228" cy="482600"/>
          </a:xfrm>
          <a:prstGeom prst="rect">
            <a:avLst/>
          </a:prstGeom>
          <a:solidFill>
            <a:schemeClr val="accent4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4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6AF1D14-118A-46D7-8ED6-99C9CE212196}"/>
              </a:ext>
            </a:extLst>
          </p:cNvPr>
          <p:cNvCxnSpPr>
            <a:cxnSpLocks/>
          </p:cNvCxnSpPr>
          <p:nvPr/>
        </p:nvCxnSpPr>
        <p:spPr>
          <a:xfrm>
            <a:off x="6102123" y="1834669"/>
            <a:ext cx="0" cy="4678916"/>
          </a:xfrm>
          <a:prstGeom prst="line">
            <a:avLst/>
          </a:prstGeom>
          <a:ln w="254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60EA9C67-7A9C-473E-97A0-A8DB8884D582}"/>
              </a:ext>
            </a:extLst>
          </p:cNvPr>
          <p:cNvGrpSpPr/>
          <p:nvPr/>
        </p:nvGrpSpPr>
        <p:grpSpPr>
          <a:xfrm>
            <a:off x="142902" y="1836184"/>
            <a:ext cx="5808743" cy="4404354"/>
            <a:chOff x="142902" y="1836184"/>
            <a:chExt cx="5808743" cy="4404354"/>
          </a:xfrm>
        </p:grpSpPr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A5462AD7-A2F7-406C-B3F8-49A6B2A9636A}"/>
                </a:ext>
              </a:extLst>
            </p:cNvPr>
            <p:cNvCxnSpPr>
              <a:cxnSpLocks/>
            </p:cNvCxnSpPr>
            <p:nvPr/>
          </p:nvCxnSpPr>
          <p:spPr>
            <a:xfrm>
              <a:off x="2005586" y="5454626"/>
              <a:ext cx="994462" cy="54290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944F99AA-1D3D-476C-A858-4C214805B2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91308" y="5464703"/>
              <a:ext cx="1037622" cy="53282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1B6757B1-6657-43DB-A3BD-09CA5B7EDEDF}"/>
                </a:ext>
              </a:extLst>
            </p:cNvPr>
            <p:cNvCxnSpPr/>
            <p:nvPr/>
          </p:nvCxnSpPr>
          <p:spPr>
            <a:xfrm>
              <a:off x="680238" y="5446461"/>
              <a:ext cx="49756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3BA1B2F-15F6-46F2-9F93-DE2F0C5C1236}"/>
                </a:ext>
              </a:extLst>
            </p:cNvPr>
            <p:cNvSpPr txBox="1"/>
            <p:nvPr/>
          </p:nvSpPr>
          <p:spPr>
            <a:xfrm>
              <a:off x="142902" y="1836184"/>
              <a:ext cx="5808742" cy="2045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en-US" altLang="zh-CN" sz="1600" b="1" dirty="0">
                  <a:latin typeface="+mn-ea"/>
                </a:rPr>
                <a:t>【2010</a:t>
              </a:r>
              <a:r>
                <a:rPr lang="zh-CN" altLang="en-US" sz="1600" b="1" dirty="0">
                  <a:latin typeface="+mn-ea"/>
                </a:rPr>
                <a:t>年 题</a:t>
              </a:r>
              <a:r>
                <a:rPr lang="en-US" altLang="zh-CN" sz="1600" b="1" dirty="0">
                  <a:latin typeface="+mn-ea"/>
                </a:rPr>
                <a:t>34】</a:t>
              </a:r>
            </a:p>
            <a:p>
              <a:pPr>
                <a:lnSpc>
                  <a:spcPts val="2200"/>
                </a:lnSpc>
              </a:pPr>
              <a:r>
                <a:rPr lang="en-US" altLang="zh-CN" sz="1600" b="1" dirty="0">
                  <a:latin typeface="+mn-ea"/>
                </a:rPr>
                <a:t>  </a:t>
              </a:r>
              <a:r>
                <a:rPr lang="zh-CN" altLang="en-US" sz="1600" b="1" dirty="0">
                  <a:latin typeface="+mn-ea"/>
                </a:rPr>
                <a:t>在下图所示的采用“存储</a:t>
              </a:r>
              <a:r>
                <a:rPr lang="en-US" altLang="zh-CN" sz="1600" b="1" dirty="0">
                  <a:latin typeface="+mn-ea"/>
                </a:rPr>
                <a:t>-</a:t>
              </a:r>
              <a:r>
                <a:rPr lang="zh-CN" altLang="en-US" sz="1600" b="1" dirty="0">
                  <a:latin typeface="+mn-ea"/>
                </a:rPr>
                <a:t>转发”方式的分组交换网中，</a:t>
              </a:r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</a:rPr>
                <a:t>所有</a:t>
              </a:r>
              <a:endParaRPr lang="en-US" altLang="zh-CN" sz="1600" b="1" dirty="0">
                <a:latin typeface="+mn-ea"/>
              </a:endParaRPr>
            </a:p>
            <a:p>
              <a:pPr>
                <a:lnSpc>
                  <a:spcPts val="2200"/>
                </a:lnSpc>
              </a:pPr>
              <a:r>
                <a:rPr lang="en-US" altLang="zh-CN" sz="1600" b="1" dirty="0">
                  <a:latin typeface="+mn-ea"/>
                </a:rPr>
                <a:t>  </a:t>
              </a:r>
              <a:r>
                <a:rPr lang="zh-CN" altLang="en-US" sz="1600" b="1" dirty="0">
                  <a:latin typeface="+mn-ea"/>
                </a:rPr>
                <a:t>链路的数据传输速率为</a:t>
              </a:r>
              <a:r>
                <a:rPr lang="en-US" altLang="zh-CN" sz="1600" b="1" dirty="0">
                  <a:latin typeface="+mn-ea"/>
                </a:rPr>
                <a:t>100Mbps</a:t>
              </a:r>
              <a:r>
                <a:rPr lang="zh-CN" altLang="en-US" sz="1600" b="1" dirty="0">
                  <a:latin typeface="+mn-ea"/>
                </a:rPr>
                <a:t>，分组大小为</a:t>
              </a:r>
              <a:r>
                <a:rPr lang="en-US" altLang="zh-CN" sz="1600" b="1" dirty="0">
                  <a:latin typeface="+mn-ea"/>
                </a:rPr>
                <a:t>1000B</a:t>
              </a:r>
              <a:r>
                <a:rPr lang="zh-CN" altLang="en-US" sz="1600" b="1" dirty="0">
                  <a:latin typeface="+mn-ea"/>
                </a:rPr>
                <a:t>，</a:t>
              </a:r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</a:rPr>
                <a:t>其</a:t>
              </a:r>
              <a:endParaRPr lang="en-US" altLang="zh-CN" sz="1600" b="1" dirty="0">
                <a:latin typeface="+mn-ea"/>
              </a:endParaRPr>
            </a:p>
            <a:p>
              <a:pPr>
                <a:lnSpc>
                  <a:spcPts val="2200"/>
                </a:lnSpc>
              </a:pPr>
              <a:r>
                <a:rPr lang="en-US" altLang="zh-CN" sz="1600" b="1" dirty="0">
                  <a:latin typeface="+mn-ea"/>
                </a:rPr>
                <a:t>  </a:t>
              </a:r>
              <a:r>
                <a:rPr lang="zh-CN" altLang="en-US" sz="1600" b="1" dirty="0">
                  <a:latin typeface="+mn-ea"/>
                </a:rPr>
                <a:t>中分组头大小为</a:t>
              </a:r>
              <a:r>
                <a:rPr lang="en-US" altLang="zh-CN" sz="1600" b="1" dirty="0">
                  <a:latin typeface="+mn-ea"/>
                </a:rPr>
                <a:t>20B</a:t>
              </a:r>
              <a:r>
                <a:rPr lang="zh-CN" altLang="en-US" sz="1600" b="1" dirty="0">
                  <a:latin typeface="+mn-ea"/>
                </a:rPr>
                <a:t>。若主机</a:t>
              </a:r>
              <a:r>
                <a:rPr lang="en-US" altLang="zh-CN" sz="1600" b="1" dirty="0">
                  <a:latin typeface="+mn-ea"/>
                </a:rPr>
                <a:t>H1</a:t>
              </a:r>
              <a:r>
                <a:rPr lang="zh-CN" altLang="en-US" sz="1600" b="1" dirty="0">
                  <a:latin typeface="+mn-ea"/>
                </a:rPr>
                <a:t>向主机</a:t>
              </a:r>
              <a:r>
                <a:rPr lang="en-US" altLang="zh-CN" sz="1600" b="1" dirty="0">
                  <a:latin typeface="+mn-ea"/>
                </a:rPr>
                <a:t>H2</a:t>
              </a:r>
              <a:r>
                <a:rPr lang="zh-CN" altLang="en-US" sz="1600" b="1" dirty="0">
                  <a:latin typeface="+mn-ea"/>
                </a:rPr>
                <a:t>发送一个大小为</a:t>
              </a:r>
              <a:endParaRPr lang="en-US" altLang="zh-CN" sz="1600" b="1" dirty="0">
                <a:latin typeface="+mn-ea"/>
              </a:endParaRPr>
            </a:p>
            <a:p>
              <a:pPr>
                <a:lnSpc>
                  <a:spcPts val="2200"/>
                </a:lnSpc>
              </a:pPr>
              <a:r>
                <a:rPr lang="en-US" altLang="zh-CN" sz="1600" b="1" dirty="0">
                  <a:latin typeface="+mn-ea"/>
                </a:rPr>
                <a:t>  980 000B</a:t>
              </a:r>
              <a:r>
                <a:rPr lang="zh-CN" altLang="en-US" sz="1600" b="1" dirty="0">
                  <a:latin typeface="+mn-ea"/>
                </a:rPr>
                <a:t>的文件，则在不考虑分组拆装时间和传播延迟的情</a:t>
              </a:r>
              <a:endParaRPr lang="en-US" altLang="zh-CN" sz="1600" b="1" dirty="0">
                <a:latin typeface="+mn-ea"/>
              </a:endParaRPr>
            </a:p>
            <a:p>
              <a:pPr>
                <a:lnSpc>
                  <a:spcPts val="2200"/>
                </a:lnSpc>
              </a:pPr>
              <a:r>
                <a:rPr lang="en-US" altLang="zh-CN" sz="1600" b="1" dirty="0">
                  <a:latin typeface="+mn-ea"/>
                </a:rPr>
                <a:t>  </a:t>
              </a:r>
              <a:r>
                <a:rPr lang="zh-CN" altLang="en-US" sz="1600" b="1" dirty="0">
                  <a:latin typeface="+mn-ea"/>
                </a:rPr>
                <a:t>况下，从</a:t>
              </a:r>
              <a:r>
                <a:rPr lang="en-US" altLang="zh-CN" sz="1600" b="1" dirty="0">
                  <a:latin typeface="+mn-ea"/>
                </a:rPr>
                <a:t>H1</a:t>
              </a:r>
              <a:r>
                <a:rPr lang="zh-CN" altLang="en-US" sz="1600" b="1" dirty="0">
                  <a:latin typeface="+mn-ea"/>
                </a:rPr>
                <a:t>发送开始到</a:t>
              </a:r>
              <a:r>
                <a:rPr lang="en-US" altLang="zh-CN" sz="1600" b="1" dirty="0">
                  <a:latin typeface="+mn-ea"/>
                </a:rPr>
                <a:t>H2</a:t>
              </a:r>
              <a:r>
                <a:rPr lang="zh-CN" altLang="en-US" sz="1600" b="1" dirty="0">
                  <a:latin typeface="+mn-ea"/>
                </a:rPr>
                <a:t>接收完为止，需要的时间至少是</a:t>
              </a:r>
              <a:endParaRPr lang="en-US" altLang="zh-CN" sz="1600" b="1" dirty="0">
                <a:latin typeface="+mn-ea"/>
              </a:endParaRPr>
            </a:p>
            <a:p>
              <a:pPr>
                <a:lnSpc>
                  <a:spcPts val="2200"/>
                </a:lnSpc>
              </a:pPr>
              <a:r>
                <a:rPr lang="zh-CN" altLang="en-US" sz="1600" b="1" dirty="0">
                  <a:latin typeface="+mn-ea"/>
                </a:rPr>
                <a:t>（    ）。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08FE208-FD30-49DB-9F55-E0D01BE9F24B}"/>
                </a:ext>
              </a:extLst>
            </p:cNvPr>
            <p:cNvSpPr txBox="1"/>
            <p:nvPr/>
          </p:nvSpPr>
          <p:spPr>
            <a:xfrm>
              <a:off x="319028" y="4013707"/>
              <a:ext cx="11893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latin typeface="+mn-ea"/>
                </a:rPr>
                <a:t>A. 80ms</a:t>
              </a:r>
              <a:endParaRPr lang="zh-CN" altLang="en-US" sz="1600" b="1" dirty="0">
                <a:latin typeface="+mn-ea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93FC4F4-AB79-4D2B-A57D-7BA3EDF20C6D}"/>
                </a:ext>
              </a:extLst>
            </p:cNvPr>
            <p:cNvSpPr txBox="1"/>
            <p:nvPr/>
          </p:nvSpPr>
          <p:spPr>
            <a:xfrm>
              <a:off x="3000049" y="4013707"/>
              <a:ext cx="14301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latin typeface="+mn-ea"/>
                </a:rPr>
                <a:t>B. 80.08ms</a:t>
              </a:r>
              <a:endParaRPr lang="zh-CN" altLang="en-US" sz="1600" b="1" dirty="0">
                <a:latin typeface="+mn-ea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BAE5405-F1F1-4573-A9DF-DEF34993960F}"/>
                </a:ext>
              </a:extLst>
            </p:cNvPr>
            <p:cNvSpPr txBox="1"/>
            <p:nvPr/>
          </p:nvSpPr>
          <p:spPr>
            <a:xfrm>
              <a:off x="319028" y="4477014"/>
              <a:ext cx="13182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latin typeface="+mn-ea"/>
                </a:rPr>
                <a:t>C. 80.16ms</a:t>
              </a:r>
              <a:endParaRPr lang="zh-CN" altLang="en-US" sz="1600" b="1" dirty="0">
                <a:latin typeface="+mn-ea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1B2F281-EA60-4F88-B7F7-2452AC8F042C}"/>
                </a:ext>
              </a:extLst>
            </p:cNvPr>
            <p:cNvSpPr txBox="1"/>
            <p:nvPr/>
          </p:nvSpPr>
          <p:spPr>
            <a:xfrm>
              <a:off x="3000050" y="4477014"/>
              <a:ext cx="14301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latin typeface="+mn-ea"/>
                </a:rPr>
                <a:t>D. 80.24ms</a:t>
              </a:r>
              <a:endParaRPr lang="zh-CN" altLang="en-US" sz="1600" b="1" dirty="0">
                <a:latin typeface="+mn-ea"/>
              </a:endParaRPr>
            </a:p>
          </p:txBody>
        </p:sp>
        <p:pic>
          <p:nvPicPr>
            <p:cNvPr id="26" name="图形 25">
              <a:extLst>
                <a:ext uri="{FF2B5EF4-FFF2-40B4-BE49-F238E27FC236}">
                  <a16:creationId xmlns:a16="http://schemas.microsoft.com/office/drawing/2014/main" id="{731D7E73-6DAB-4E6D-AF1E-938C7E0B7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62141" y="5253379"/>
              <a:ext cx="486891" cy="402495"/>
            </a:xfrm>
            <a:prstGeom prst="rect">
              <a:avLst/>
            </a:prstGeom>
          </p:spPr>
        </p:pic>
        <p:pic>
          <p:nvPicPr>
            <p:cNvPr id="27" name="图形 26">
              <a:extLst>
                <a:ext uri="{FF2B5EF4-FFF2-40B4-BE49-F238E27FC236}">
                  <a16:creationId xmlns:a16="http://schemas.microsoft.com/office/drawing/2014/main" id="{E0CBADF9-0FA8-4871-8E3F-CC4EE1562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3868" y="5075493"/>
              <a:ext cx="591614" cy="572217"/>
            </a:xfrm>
            <a:prstGeom prst="rect">
              <a:avLst/>
            </a:prstGeom>
          </p:spPr>
        </p:pic>
        <p:pic>
          <p:nvPicPr>
            <p:cNvPr id="28" name="图形 27">
              <a:extLst>
                <a:ext uri="{FF2B5EF4-FFF2-40B4-BE49-F238E27FC236}">
                  <a16:creationId xmlns:a16="http://schemas.microsoft.com/office/drawing/2014/main" id="{F6A5CC7A-4F5F-4D48-9047-CFDF42A06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360031" y="5075493"/>
              <a:ext cx="591614" cy="572217"/>
            </a:xfrm>
            <a:prstGeom prst="rect">
              <a:avLst/>
            </a:prstGeom>
          </p:spPr>
        </p:pic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3B2E44E8-006D-467D-BFCF-3769F9BD6E92}"/>
                </a:ext>
              </a:extLst>
            </p:cNvPr>
            <p:cNvSpPr txBox="1"/>
            <p:nvPr/>
          </p:nvSpPr>
          <p:spPr>
            <a:xfrm>
              <a:off x="412355" y="5647709"/>
              <a:ext cx="4152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/>
                <a:t>H1</a:t>
              </a:r>
              <a:endParaRPr lang="zh-CN" altLang="en-US" sz="1600" b="1" dirty="0"/>
            </a:p>
          </p:txBody>
        </p:sp>
        <p:pic>
          <p:nvPicPr>
            <p:cNvPr id="34" name="图形 33">
              <a:extLst>
                <a:ext uri="{FF2B5EF4-FFF2-40B4-BE49-F238E27FC236}">
                  <a16:creationId xmlns:a16="http://schemas.microsoft.com/office/drawing/2014/main" id="{3B7AF724-6CE1-4C8A-BBC3-3F8C174D4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51066" y="5253379"/>
              <a:ext cx="486891" cy="402495"/>
            </a:xfrm>
            <a:prstGeom prst="rect">
              <a:avLst/>
            </a:prstGeom>
          </p:spPr>
        </p:pic>
        <p:pic>
          <p:nvPicPr>
            <p:cNvPr id="36" name="图形 35">
              <a:extLst>
                <a:ext uri="{FF2B5EF4-FFF2-40B4-BE49-F238E27FC236}">
                  <a16:creationId xmlns:a16="http://schemas.microsoft.com/office/drawing/2014/main" id="{DF51F6AA-9D14-46D2-8ED7-2FDA1C529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56603" y="5838043"/>
              <a:ext cx="486891" cy="402495"/>
            </a:xfrm>
            <a:prstGeom prst="rect">
              <a:avLst/>
            </a:prstGeom>
          </p:spPr>
        </p:pic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6A44E682-3AC4-4822-84B7-2CB8FA9B3BA3}"/>
                </a:ext>
              </a:extLst>
            </p:cNvPr>
            <p:cNvSpPr txBox="1"/>
            <p:nvPr/>
          </p:nvSpPr>
          <p:spPr>
            <a:xfrm>
              <a:off x="5479063" y="5647709"/>
              <a:ext cx="4152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/>
                <a:t>H2</a:t>
              </a:r>
              <a:endParaRPr lang="zh-CN" altLang="en-US" sz="1600" b="1" dirty="0"/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EA6984F9-BA14-476D-975D-F09A436462A3}"/>
              </a:ext>
            </a:extLst>
          </p:cNvPr>
          <p:cNvSpPr txBox="1"/>
          <p:nvPr/>
        </p:nvSpPr>
        <p:spPr>
          <a:xfrm>
            <a:off x="6104367" y="1836184"/>
            <a:ext cx="5956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+mn-ea"/>
              </a:rPr>
              <a:t>解析</a:t>
            </a:r>
          </a:p>
        </p:txBody>
      </p:sp>
      <p:pic>
        <p:nvPicPr>
          <p:cNvPr id="47" name="图片 46" descr="游戏的屏幕&#10;&#10;描述已自动生成">
            <a:extLst>
              <a:ext uri="{FF2B5EF4-FFF2-40B4-BE49-F238E27FC236}">
                <a16:creationId xmlns:a16="http://schemas.microsoft.com/office/drawing/2014/main" id="{14FD89CA-3E57-4C65-886E-0CD1350C3CF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023" y="2130444"/>
            <a:ext cx="5784177" cy="3056313"/>
          </a:xfrm>
          <a:prstGeom prst="rect">
            <a:avLst/>
          </a:prstGeom>
        </p:spPr>
      </p:pic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B30EC2B-C51B-4C8B-ADF5-7D49ACDD4062}"/>
              </a:ext>
            </a:extLst>
          </p:cNvPr>
          <p:cNvCxnSpPr>
            <a:cxnSpLocks/>
          </p:cNvCxnSpPr>
          <p:nvPr/>
        </p:nvCxnSpPr>
        <p:spPr>
          <a:xfrm>
            <a:off x="858773" y="5456539"/>
            <a:ext cx="4626219" cy="0"/>
          </a:xfrm>
          <a:prstGeom prst="straightConnector1">
            <a:avLst/>
          </a:prstGeom>
          <a:ln w="1016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60C3FE73-C6A0-4330-97BB-084904759A33}"/>
              </a:ext>
            </a:extLst>
          </p:cNvPr>
          <p:cNvSpPr txBox="1"/>
          <p:nvPr/>
        </p:nvSpPr>
        <p:spPr>
          <a:xfrm>
            <a:off x="263096" y="3513336"/>
            <a:ext cx="595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4"/>
                </a:solidFill>
                <a:latin typeface="+mn-ea"/>
              </a:rPr>
              <a:t>C</a:t>
            </a:r>
            <a:endParaRPr lang="zh-CN" altLang="en-US" sz="2000" b="1" dirty="0">
              <a:solidFill>
                <a:schemeClr val="accent4"/>
              </a:solidFill>
              <a:latin typeface="+mn-ea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182A958-F636-41A3-9E2F-81DF44146195}"/>
              </a:ext>
            </a:extLst>
          </p:cNvPr>
          <p:cNvSpPr txBox="1"/>
          <p:nvPr/>
        </p:nvSpPr>
        <p:spPr>
          <a:xfrm>
            <a:off x="6149163" y="5137705"/>
            <a:ext cx="57380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+mn-ea"/>
              </a:rPr>
              <a:t>需要的最小时长 </a:t>
            </a:r>
            <a:r>
              <a:rPr lang="en-US" altLang="zh-CN" sz="1400" b="1" dirty="0">
                <a:latin typeface="+mn-ea"/>
              </a:rPr>
              <a:t>= </a:t>
            </a:r>
            <a:r>
              <a:rPr lang="zh-CN" altLang="en-US" sz="1400" b="1" dirty="0">
                <a:latin typeface="+mn-ea"/>
              </a:rPr>
              <a:t>所有分组的发送时延 </a:t>
            </a:r>
            <a:r>
              <a:rPr lang="en-US" altLang="zh-CN" sz="1400" b="1" dirty="0">
                <a:latin typeface="+mn-ea"/>
              </a:rPr>
              <a:t>+ 1</a:t>
            </a:r>
            <a:r>
              <a:rPr lang="zh-CN" altLang="en-US" sz="1400" b="1" dirty="0">
                <a:latin typeface="+mn-ea"/>
              </a:rPr>
              <a:t>个分组的发送时延</a:t>
            </a:r>
            <a:r>
              <a:rPr lang="en-US" altLang="zh-CN" sz="1400" b="1" dirty="0">
                <a:latin typeface="+mn-ea"/>
              </a:rPr>
              <a:t>×2</a:t>
            </a:r>
            <a:endParaRPr lang="zh-CN" altLang="en-US" sz="1400" b="1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0106ECB-FDB9-4512-A9A0-79131129A4F1}"/>
                  </a:ext>
                </a:extLst>
              </p:cNvPr>
              <p:cNvSpPr txBox="1"/>
              <p:nvPr/>
            </p:nvSpPr>
            <p:spPr>
              <a:xfrm>
                <a:off x="6175492" y="5469910"/>
                <a:ext cx="5826916" cy="5670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980000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×2=80.16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ms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0106ECB-FDB9-4512-A9A0-79131129A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492" y="5469910"/>
                <a:ext cx="5826916" cy="56707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8056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800" decel="100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800" decel="100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1" grpId="0"/>
      <p:bldP spid="46" grpId="0"/>
      <p:bldP spid="51" grpId="0"/>
      <p:bldP spid="56" grpId="0"/>
      <p:bldP spid="4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0A2F4B27-6C35-4484-9A62-208075BF5C5C}"/>
              </a:ext>
            </a:extLst>
          </p:cNvPr>
          <p:cNvGrpSpPr/>
          <p:nvPr/>
        </p:nvGrpSpPr>
        <p:grpSpPr>
          <a:xfrm>
            <a:off x="1214938" y="3329852"/>
            <a:ext cx="7210213" cy="523220"/>
            <a:chOff x="1214938" y="3329852"/>
            <a:chExt cx="7210213" cy="523220"/>
          </a:xfrm>
        </p:grpSpPr>
        <p:sp>
          <p:nvSpPr>
            <p:cNvPr id="161" name="文本框 160">
              <a:extLst>
                <a:ext uri="{FF2B5EF4-FFF2-40B4-BE49-F238E27FC236}">
                  <a16:creationId xmlns:a16="http://schemas.microsoft.com/office/drawing/2014/main" id="{653B3B05-7E86-4D3D-A6CD-96BBFC7BF14A}"/>
                </a:ext>
              </a:extLst>
            </p:cNvPr>
            <p:cNvSpPr txBox="1"/>
            <p:nvPr/>
          </p:nvSpPr>
          <p:spPr>
            <a:xfrm>
              <a:off x="1214938" y="3329852"/>
              <a:ext cx="13342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accent1"/>
                  </a:solidFill>
                </a:rPr>
                <a:t>主导？</a:t>
              </a:r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85521B17-DC4D-4212-9F8A-AD707C9DE1C6}"/>
                </a:ext>
              </a:extLst>
            </p:cNvPr>
            <p:cNvSpPr txBox="1"/>
            <p:nvPr/>
          </p:nvSpPr>
          <p:spPr>
            <a:xfrm>
              <a:off x="7090923" y="3329852"/>
              <a:ext cx="13342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accent1"/>
                  </a:solidFill>
                </a:rPr>
                <a:t>主导？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4C23811-1226-4C14-B9B3-1315820590B8}"/>
              </a:ext>
            </a:extLst>
          </p:cNvPr>
          <p:cNvGrpSpPr/>
          <p:nvPr/>
        </p:nvGrpSpPr>
        <p:grpSpPr>
          <a:xfrm>
            <a:off x="978550" y="5668951"/>
            <a:ext cx="7431778" cy="523220"/>
            <a:chOff x="978550" y="5668951"/>
            <a:chExt cx="7431778" cy="523220"/>
          </a:xfrm>
        </p:grpSpPr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BB356009-5B1A-45EE-8E50-AB134330CEDB}"/>
                </a:ext>
              </a:extLst>
            </p:cNvPr>
            <p:cNvSpPr txBox="1"/>
            <p:nvPr/>
          </p:nvSpPr>
          <p:spPr>
            <a:xfrm>
              <a:off x="978550" y="5668951"/>
              <a:ext cx="158742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accent1"/>
                  </a:solidFill>
                </a:rPr>
                <a:t>不考虑</a:t>
              </a:r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B39DE886-71D7-4B52-9DEA-AAAA5E64F536}"/>
                </a:ext>
              </a:extLst>
            </p:cNvPr>
            <p:cNvSpPr txBox="1"/>
            <p:nvPr/>
          </p:nvSpPr>
          <p:spPr>
            <a:xfrm>
              <a:off x="6822907" y="5668951"/>
              <a:ext cx="158742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accent1"/>
                  </a:solidFill>
                </a:rPr>
                <a:t>不考虑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计算机网络的性能指标</a:t>
              </a:r>
            </a:p>
          </p:txBody>
        </p:sp>
      </p:grpSp>
      <p:sp>
        <p:nvSpPr>
          <p:cNvPr id="86" name="îṡ1îḑè">
            <a:extLst>
              <a:ext uri="{FF2B5EF4-FFF2-40B4-BE49-F238E27FC236}">
                <a16:creationId xmlns:a16="http://schemas.microsoft.com/office/drawing/2014/main" id="{A803C2F9-4FBB-4C35-AC3F-2B77804282A2}"/>
              </a:ext>
            </a:extLst>
          </p:cNvPr>
          <p:cNvSpPr/>
          <p:nvPr/>
        </p:nvSpPr>
        <p:spPr>
          <a:xfrm>
            <a:off x="3048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速率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7" name="îṧḻîḍê">
            <a:extLst>
              <a:ext uri="{FF2B5EF4-FFF2-40B4-BE49-F238E27FC236}">
                <a16:creationId xmlns:a16="http://schemas.microsoft.com/office/drawing/2014/main" id="{DFA6F1EB-29D9-4A75-B24E-7FE2E4C0E97D}"/>
              </a:ext>
            </a:extLst>
          </p:cNvPr>
          <p:cNvSpPr/>
          <p:nvPr/>
        </p:nvSpPr>
        <p:spPr>
          <a:xfrm>
            <a:off x="17688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带宽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8" name="iṡlíďè">
            <a:extLst>
              <a:ext uri="{FF2B5EF4-FFF2-40B4-BE49-F238E27FC236}">
                <a16:creationId xmlns:a16="http://schemas.microsoft.com/office/drawing/2014/main" id="{C52BE881-D827-42B9-AFCD-BFDFE2366E21}"/>
              </a:ext>
            </a:extLst>
          </p:cNvPr>
          <p:cNvSpPr/>
          <p:nvPr/>
        </p:nvSpPr>
        <p:spPr>
          <a:xfrm>
            <a:off x="32328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rgbClr val="FFFFFF"/>
                </a:solidFill>
              </a:rPr>
              <a:t>吞吐量</a:t>
            </a:r>
            <a:endParaRPr lang="en-GB" b="1" dirty="0">
              <a:solidFill>
                <a:srgbClr val="FFFFFF"/>
              </a:solidFill>
            </a:endParaRPr>
          </a:p>
        </p:txBody>
      </p:sp>
      <p:sp>
        <p:nvSpPr>
          <p:cNvPr id="89" name="iṥľïdè">
            <a:extLst>
              <a:ext uri="{FF2B5EF4-FFF2-40B4-BE49-F238E27FC236}">
                <a16:creationId xmlns:a16="http://schemas.microsoft.com/office/drawing/2014/main" id="{7E37DD0B-57D9-45E4-B3AD-EEEB679EF75E}"/>
              </a:ext>
            </a:extLst>
          </p:cNvPr>
          <p:cNvSpPr/>
          <p:nvPr/>
        </p:nvSpPr>
        <p:spPr>
          <a:xfrm>
            <a:off x="469687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0" name="îśľîḍé">
            <a:extLst>
              <a:ext uri="{FF2B5EF4-FFF2-40B4-BE49-F238E27FC236}">
                <a16:creationId xmlns:a16="http://schemas.microsoft.com/office/drawing/2014/main" id="{67EBD377-E6A9-419F-9713-92993F43A27E}"/>
              </a:ext>
            </a:extLst>
          </p:cNvPr>
          <p:cNvSpPr/>
          <p:nvPr/>
        </p:nvSpPr>
        <p:spPr>
          <a:xfrm>
            <a:off x="76249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往返时间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1" name="îśľîḍé">
            <a:extLst>
              <a:ext uri="{FF2B5EF4-FFF2-40B4-BE49-F238E27FC236}">
                <a16:creationId xmlns:a16="http://schemas.microsoft.com/office/drawing/2014/main" id="{01D6FD95-2A4C-4A1F-ADAA-E06A0DB2334E}"/>
              </a:ext>
            </a:extLst>
          </p:cNvPr>
          <p:cNvSpPr/>
          <p:nvPr/>
        </p:nvSpPr>
        <p:spPr>
          <a:xfrm>
            <a:off x="61609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时延带宽积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2" name="îśľîḍé">
            <a:extLst>
              <a:ext uri="{FF2B5EF4-FFF2-40B4-BE49-F238E27FC236}">
                <a16:creationId xmlns:a16="http://schemas.microsoft.com/office/drawing/2014/main" id="{D196E2C0-5678-4A32-8DE3-2A8BA36E0749}"/>
              </a:ext>
            </a:extLst>
          </p:cNvPr>
          <p:cNvSpPr/>
          <p:nvPr/>
        </p:nvSpPr>
        <p:spPr>
          <a:xfrm>
            <a:off x="90889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利用率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3" name="îśľîḍé">
            <a:extLst>
              <a:ext uri="{FF2B5EF4-FFF2-40B4-BE49-F238E27FC236}">
                <a16:creationId xmlns:a16="http://schemas.microsoft.com/office/drawing/2014/main" id="{9010AC37-690A-4F23-99A9-04A6AEEBAC9D}"/>
              </a:ext>
            </a:extLst>
          </p:cNvPr>
          <p:cNvSpPr/>
          <p:nvPr/>
        </p:nvSpPr>
        <p:spPr>
          <a:xfrm>
            <a:off x="10552974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丢包率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5" name="îṧḻîḍê">
            <a:extLst>
              <a:ext uri="{FF2B5EF4-FFF2-40B4-BE49-F238E27FC236}">
                <a16:creationId xmlns:a16="http://schemas.microsoft.com/office/drawing/2014/main" id="{0A697AD8-C1F3-4AB3-B578-21E430CB1F19}"/>
              </a:ext>
            </a:extLst>
          </p:cNvPr>
          <p:cNvSpPr/>
          <p:nvPr/>
        </p:nvSpPr>
        <p:spPr>
          <a:xfrm>
            <a:off x="4696873" y="1299908"/>
            <a:ext cx="1334228" cy="482600"/>
          </a:xfrm>
          <a:prstGeom prst="rect">
            <a:avLst/>
          </a:prstGeom>
          <a:solidFill>
            <a:schemeClr val="accent4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4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6FA9973-61D8-4BB1-9641-166F7CB88DB8}"/>
              </a:ext>
            </a:extLst>
          </p:cNvPr>
          <p:cNvGrpSpPr/>
          <p:nvPr/>
        </p:nvGrpSpPr>
        <p:grpSpPr>
          <a:xfrm>
            <a:off x="1234827" y="2240289"/>
            <a:ext cx="10115847" cy="3317803"/>
            <a:chOff x="1234827" y="2240289"/>
            <a:chExt cx="10115847" cy="3317803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C598E4F8-5262-4C57-AC65-462A49E92493}"/>
                </a:ext>
              </a:extLst>
            </p:cNvPr>
            <p:cNvSpPr txBox="1"/>
            <p:nvPr/>
          </p:nvSpPr>
          <p:spPr>
            <a:xfrm>
              <a:off x="2435939" y="4839428"/>
              <a:ext cx="13342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不方便计算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5929D91-0142-41DA-9B66-9F7CE1F043F5}"/>
                </a:ext>
              </a:extLst>
            </p:cNvPr>
            <p:cNvSpPr txBox="1"/>
            <p:nvPr/>
          </p:nvSpPr>
          <p:spPr>
            <a:xfrm>
              <a:off x="8292039" y="4890827"/>
              <a:ext cx="13342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不方便计算</a:t>
              </a: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B91B0A4D-F0DC-41F7-998D-79279BACED35}"/>
                </a:ext>
              </a:extLst>
            </p:cNvPr>
            <p:cNvSpPr/>
            <p:nvPr/>
          </p:nvSpPr>
          <p:spPr>
            <a:xfrm>
              <a:off x="1234827" y="4490096"/>
              <a:ext cx="1067996" cy="106799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+mn-ea"/>
                </a:rPr>
                <a:t>排队时延</a:t>
              </a: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9B429C47-F6DB-4A3B-9ADA-345EE98F700B}"/>
                </a:ext>
              </a:extLst>
            </p:cNvPr>
            <p:cNvSpPr/>
            <p:nvPr/>
          </p:nvSpPr>
          <p:spPr>
            <a:xfrm>
              <a:off x="7090923" y="4490096"/>
              <a:ext cx="1067996" cy="106799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+mn-ea"/>
                </a:rPr>
                <a:t>处理时延</a:t>
              </a: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CB9B877-BA6A-4C01-BBDB-23BD995348AD}"/>
                </a:ext>
              </a:extLst>
            </p:cNvPr>
            <p:cNvSpPr/>
            <p:nvPr/>
          </p:nvSpPr>
          <p:spPr>
            <a:xfrm>
              <a:off x="1234827" y="2240289"/>
              <a:ext cx="1067996" cy="106799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+mn-ea"/>
                </a:rPr>
                <a:t>发送</a:t>
              </a:r>
              <a:endParaRPr lang="en-US" altLang="zh-CN" b="1" dirty="0">
                <a:latin typeface="+mn-ea"/>
              </a:endParaRPr>
            </a:p>
            <a:p>
              <a:pPr algn="ctr"/>
              <a:r>
                <a:rPr lang="zh-CN" altLang="en-US" b="1" dirty="0">
                  <a:latin typeface="+mn-ea"/>
                </a:rPr>
                <a:t>时延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C673E87-BE8E-49B1-817F-FABF64DFAA7F}"/>
                </a:ext>
              </a:extLst>
            </p:cNvPr>
            <p:cNvSpPr txBox="1"/>
            <p:nvPr/>
          </p:nvSpPr>
          <p:spPr>
            <a:xfrm>
              <a:off x="2693455" y="2337115"/>
              <a:ext cx="1954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分组长度（</a:t>
              </a:r>
              <a:r>
                <a:rPr lang="en-US" altLang="zh-CN" b="1" dirty="0"/>
                <a:t>b</a:t>
              </a:r>
              <a:r>
                <a:rPr lang="zh-CN" altLang="en-US" b="1" dirty="0"/>
                <a:t>）</a:t>
              </a: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2A8389A-641E-46A6-B6BA-2CBDC5C1350F}"/>
                </a:ext>
              </a:extLst>
            </p:cNvPr>
            <p:cNvCxnSpPr/>
            <p:nvPr/>
          </p:nvCxnSpPr>
          <p:spPr>
            <a:xfrm>
              <a:off x="2693455" y="2729471"/>
              <a:ext cx="187362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CB951F73-6932-4C08-B449-6865FBBB10F1}"/>
                </a:ext>
              </a:extLst>
            </p:cNvPr>
            <p:cNvSpPr txBox="1"/>
            <p:nvPr/>
          </p:nvSpPr>
          <p:spPr>
            <a:xfrm>
              <a:off x="2693455" y="2764473"/>
              <a:ext cx="1954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发送速率（</a:t>
              </a:r>
              <a:r>
                <a:rPr lang="en-US" altLang="zh-CN" b="1" dirty="0"/>
                <a:t>b/s</a:t>
              </a:r>
              <a:r>
                <a:rPr lang="zh-CN" altLang="en-US" b="1" dirty="0"/>
                <a:t>）</a:t>
              </a:r>
            </a:p>
          </p:txBody>
        </p:sp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178B84F9-67D9-4D83-BF1A-82424318651D}"/>
                </a:ext>
              </a:extLst>
            </p:cNvPr>
            <p:cNvSpPr txBox="1"/>
            <p:nvPr/>
          </p:nvSpPr>
          <p:spPr>
            <a:xfrm>
              <a:off x="2382327" y="2516773"/>
              <a:ext cx="3672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=</a:t>
              </a:r>
              <a:endParaRPr lang="zh-CN" altLang="en-US" sz="2000" b="1" dirty="0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A4A44B1A-2FD5-4EF4-A41A-778DF633A0ED}"/>
                </a:ext>
              </a:extLst>
            </p:cNvPr>
            <p:cNvSpPr/>
            <p:nvPr/>
          </p:nvSpPr>
          <p:spPr>
            <a:xfrm>
              <a:off x="7090923" y="2240289"/>
              <a:ext cx="1067996" cy="1067996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latin typeface="+mn-ea"/>
                </a:rPr>
                <a:t>传播</a:t>
              </a:r>
              <a:endParaRPr lang="en-US" altLang="zh-CN" b="1" dirty="0">
                <a:latin typeface="+mn-ea"/>
              </a:endParaRPr>
            </a:p>
            <a:p>
              <a:pPr algn="ctr"/>
              <a:r>
                <a:rPr lang="zh-CN" altLang="en-US" b="1" dirty="0">
                  <a:latin typeface="+mn-ea"/>
                </a:rPr>
                <a:t>时延</a:t>
              </a:r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9A945F32-405A-4CD1-AA08-D70706B340E8}"/>
                </a:ext>
              </a:extLst>
            </p:cNvPr>
            <p:cNvSpPr txBox="1"/>
            <p:nvPr/>
          </p:nvSpPr>
          <p:spPr>
            <a:xfrm>
              <a:off x="8553924" y="2337115"/>
              <a:ext cx="2273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信道长度（</a:t>
              </a:r>
              <a:r>
                <a:rPr lang="en-US" altLang="zh-CN" b="1" dirty="0"/>
                <a:t>m</a:t>
              </a:r>
              <a:r>
                <a:rPr lang="zh-CN" altLang="en-US" b="1" dirty="0"/>
                <a:t>）</a:t>
              </a:r>
            </a:p>
          </p:txBody>
        </p: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7F3C3CAC-DAB5-411C-9293-0726D4C6E903}"/>
                </a:ext>
              </a:extLst>
            </p:cNvPr>
            <p:cNvCxnSpPr>
              <a:cxnSpLocks/>
            </p:cNvCxnSpPr>
            <p:nvPr/>
          </p:nvCxnSpPr>
          <p:spPr>
            <a:xfrm>
              <a:off x="8553925" y="2729471"/>
              <a:ext cx="227366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EBB23666-0EFF-4282-838F-2AE96A0EEB9B}"/>
                </a:ext>
              </a:extLst>
            </p:cNvPr>
            <p:cNvSpPr txBox="1"/>
            <p:nvPr/>
          </p:nvSpPr>
          <p:spPr>
            <a:xfrm>
              <a:off x="8553924" y="2764473"/>
              <a:ext cx="2273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信号传播速率（</a:t>
              </a:r>
              <a:r>
                <a:rPr lang="en-US" altLang="zh-CN" b="1" dirty="0"/>
                <a:t>m/s</a:t>
              </a:r>
              <a:r>
                <a:rPr lang="zh-CN" altLang="en-US" b="1" dirty="0"/>
                <a:t>）</a:t>
              </a:r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9314379-2226-4F99-80C3-9CA78040F8A5}"/>
                </a:ext>
              </a:extLst>
            </p:cNvPr>
            <p:cNvSpPr txBox="1"/>
            <p:nvPr/>
          </p:nvSpPr>
          <p:spPr>
            <a:xfrm>
              <a:off x="8242797" y="2516773"/>
              <a:ext cx="3672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=</a:t>
              </a:r>
              <a:endParaRPr lang="zh-CN" altLang="en-US" sz="2000" b="1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6A89E7E-DE88-4FD3-93CD-CAEA011D90B7}"/>
                </a:ext>
              </a:extLst>
            </p:cNvPr>
            <p:cNvSpPr txBox="1"/>
            <p:nvPr/>
          </p:nvSpPr>
          <p:spPr>
            <a:xfrm>
              <a:off x="8542889" y="3258647"/>
              <a:ext cx="28077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/>
                <a:t>自由空间：</a:t>
              </a:r>
              <a:r>
                <a:rPr lang="en-US" altLang="zh-CN" sz="1600" b="1" dirty="0"/>
                <a:t>3.0 × 10</a:t>
              </a:r>
              <a:r>
                <a:rPr lang="en-US" altLang="zh-CN" sz="1600" b="1" baseline="30000" dirty="0"/>
                <a:t>8</a:t>
              </a:r>
              <a:r>
                <a:rPr lang="en-US" altLang="zh-CN" sz="1600" b="1" dirty="0"/>
                <a:t> m/s</a:t>
              </a:r>
            </a:p>
            <a:p>
              <a:r>
                <a:rPr lang="zh-CN" altLang="en-US" sz="1600" b="1" dirty="0"/>
                <a:t>铜         线：</a:t>
              </a:r>
              <a:r>
                <a:rPr lang="en-US" altLang="zh-CN" sz="1600" b="1" dirty="0"/>
                <a:t>2.3 × 10</a:t>
              </a:r>
              <a:r>
                <a:rPr lang="en-US" altLang="zh-CN" sz="1600" b="1" baseline="30000" dirty="0"/>
                <a:t>8</a:t>
              </a:r>
              <a:r>
                <a:rPr lang="en-US" altLang="zh-CN" sz="1600" b="1" dirty="0"/>
                <a:t> m/s</a:t>
              </a:r>
            </a:p>
            <a:p>
              <a:r>
                <a:rPr lang="zh-CN" altLang="en-US" sz="1600" b="1" dirty="0"/>
                <a:t>光         纤：</a:t>
              </a:r>
              <a:r>
                <a:rPr lang="en-US" altLang="zh-CN" sz="1600" b="1" dirty="0"/>
                <a:t>2.0 × 10</a:t>
              </a:r>
              <a:r>
                <a:rPr lang="en-US" altLang="zh-CN" sz="1600" b="1" baseline="30000" dirty="0"/>
                <a:t>8</a:t>
              </a:r>
              <a:r>
                <a:rPr lang="en-US" altLang="zh-CN" sz="1600" b="1" dirty="0"/>
                <a:t> m/s</a:t>
              </a:r>
              <a:endParaRPr lang="zh-CN" altLang="en-US" sz="1600" b="1" dirty="0"/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0C5DFFEB-B0D4-40BD-A3A3-C042E932F40B}"/>
                </a:ext>
              </a:extLst>
            </p:cNvPr>
            <p:cNvGrpSpPr/>
            <p:nvPr/>
          </p:nvGrpSpPr>
          <p:grpSpPr>
            <a:xfrm>
              <a:off x="4242439" y="2706447"/>
              <a:ext cx="2464514" cy="2338983"/>
              <a:chOff x="3632750" y="1090017"/>
              <a:chExt cx="4927514" cy="4676529"/>
            </a:xfrm>
          </p:grpSpPr>
          <p:sp>
            <p:nvSpPr>
              <p:cNvPr id="30" name="任意多边形 4">
                <a:extLst>
                  <a:ext uri="{FF2B5EF4-FFF2-40B4-BE49-F238E27FC236}">
                    <a16:creationId xmlns:a16="http://schemas.microsoft.com/office/drawing/2014/main" id="{8CA727A2-046B-4823-9497-61B18BCC1CEC}"/>
                  </a:ext>
                </a:extLst>
              </p:cNvPr>
              <p:cNvSpPr/>
              <p:nvPr/>
            </p:nvSpPr>
            <p:spPr>
              <a:xfrm>
                <a:off x="4202077" y="5225705"/>
                <a:ext cx="3616081" cy="540841"/>
              </a:xfrm>
              <a:custGeom>
                <a:avLst/>
                <a:gdLst>
                  <a:gd name="connsiteX0" fmla="*/ -567 w 3616081"/>
                  <a:gd name="connsiteY0" fmla="*/ 270234 h 540841"/>
                  <a:gd name="connsiteX1" fmla="*/ 1807507 w 3616081"/>
                  <a:gd name="connsiteY1" fmla="*/ -187 h 540841"/>
                  <a:gd name="connsiteX2" fmla="*/ 3615515 w 3616081"/>
                  <a:gd name="connsiteY2" fmla="*/ 270234 h 540841"/>
                  <a:gd name="connsiteX3" fmla="*/ 1807507 w 3616081"/>
                  <a:gd name="connsiteY3" fmla="*/ 540654 h 540841"/>
                  <a:gd name="connsiteX4" fmla="*/ -567 w 3616081"/>
                  <a:gd name="connsiteY4" fmla="*/ 270234 h 540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6081" h="540841">
                    <a:moveTo>
                      <a:pt x="-567" y="270234"/>
                    </a:moveTo>
                    <a:cubicBezTo>
                      <a:pt x="-567" y="120878"/>
                      <a:pt x="808931" y="-187"/>
                      <a:pt x="1807507" y="-187"/>
                    </a:cubicBezTo>
                    <a:cubicBezTo>
                      <a:pt x="2806083" y="-187"/>
                      <a:pt x="3615515" y="120878"/>
                      <a:pt x="3615515" y="270234"/>
                    </a:cubicBezTo>
                    <a:cubicBezTo>
                      <a:pt x="3615515" y="419589"/>
                      <a:pt x="2806083" y="540654"/>
                      <a:pt x="1807507" y="540654"/>
                    </a:cubicBezTo>
                    <a:cubicBezTo>
                      <a:pt x="808931" y="540654"/>
                      <a:pt x="-567" y="419589"/>
                      <a:pt x="-567" y="270234"/>
                    </a:cubicBezTo>
                    <a:close/>
                  </a:path>
                </a:pathLst>
              </a:custGeom>
              <a:solidFill>
                <a:srgbClr val="E8EEF9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任意多边形 5">
                <a:extLst>
                  <a:ext uri="{FF2B5EF4-FFF2-40B4-BE49-F238E27FC236}">
                    <a16:creationId xmlns:a16="http://schemas.microsoft.com/office/drawing/2014/main" id="{79693D68-7189-4843-A3A1-A93B354E74FE}"/>
                  </a:ext>
                </a:extLst>
              </p:cNvPr>
              <p:cNvSpPr/>
              <p:nvPr/>
            </p:nvSpPr>
            <p:spPr>
              <a:xfrm>
                <a:off x="3632750" y="4695775"/>
                <a:ext cx="1583779" cy="652874"/>
              </a:xfrm>
              <a:custGeom>
                <a:avLst/>
                <a:gdLst>
                  <a:gd name="connsiteX0" fmla="*/ -436 w 1583779"/>
                  <a:gd name="connsiteY0" fmla="*/ 121270 h 652874"/>
                  <a:gd name="connsiteX1" fmla="*/ 532108 w 1583779"/>
                  <a:gd name="connsiteY1" fmla="*/ -187 h 652874"/>
                  <a:gd name="connsiteX2" fmla="*/ 546677 w 1583779"/>
                  <a:gd name="connsiteY2" fmla="*/ 99710 h 652874"/>
                  <a:gd name="connsiteX3" fmla="*/ 645659 w 1583779"/>
                  <a:gd name="connsiteY3" fmla="*/ 16669 h 652874"/>
                  <a:gd name="connsiteX4" fmla="*/ 1583213 w 1583779"/>
                  <a:gd name="connsiteY4" fmla="*/ 476691 h 652874"/>
                  <a:gd name="connsiteX5" fmla="*/ 712562 w 1583779"/>
                  <a:gd name="connsiteY5" fmla="*/ 634671 h 652874"/>
                  <a:gd name="connsiteX6" fmla="*/ 691197 w 1583779"/>
                  <a:gd name="connsiteY6" fmla="*/ 520204 h 652874"/>
                  <a:gd name="connsiteX7" fmla="*/ 639518 w 1583779"/>
                  <a:gd name="connsiteY7" fmla="*/ 618206 h 652874"/>
                  <a:gd name="connsiteX8" fmla="*/ 356292 w 1583779"/>
                  <a:gd name="connsiteY8" fmla="*/ 492894 h 652874"/>
                  <a:gd name="connsiteX9" fmla="*/ 412675 w 1583779"/>
                  <a:gd name="connsiteY9" fmla="*/ 383916 h 652874"/>
                  <a:gd name="connsiteX10" fmla="*/ 282006 w 1583779"/>
                  <a:gd name="connsiteY10" fmla="*/ 440822 h 652874"/>
                  <a:gd name="connsiteX11" fmla="*/ -567 w 1583779"/>
                  <a:gd name="connsiteY11" fmla="*/ 121335 h 652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583779" h="652874">
                    <a:moveTo>
                      <a:pt x="-436" y="121270"/>
                    </a:moveTo>
                    <a:cubicBezTo>
                      <a:pt x="161921" y="44567"/>
                      <a:pt x="381119" y="3668"/>
                      <a:pt x="532108" y="-187"/>
                    </a:cubicBezTo>
                    <a:cubicBezTo>
                      <a:pt x="570067" y="58614"/>
                      <a:pt x="546677" y="99710"/>
                      <a:pt x="546677" y="99710"/>
                    </a:cubicBezTo>
                    <a:lnTo>
                      <a:pt x="645659" y="16669"/>
                    </a:lnTo>
                    <a:cubicBezTo>
                      <a:pt x="1219821" y="51231"/>
                      <a:pt x="1583213" y="476691"/>
                      <a:pt x="1583213" y="476691"/>
                    </a:cubicBezTo>
                    <a:cubicBezTo>
                      <a:pt x="1230405" y="650220"/>
                      <a:pt x="941887" y="677857"/>
                      <a:pt x="712562" y="634671"/>
                    </a:cubicBezTo>
                    <a:cubicBezTo>
                      <a:pt x="703546" y="588936"/>
                      <a:pt x="691197" y="520204"/>
                      <a:pt x="691197" y="520204"/>
                    </a:cubicBezTo>
                    <a:lnTo>
                      <a:pt x="639518" y="618206"/>
                    </a:lnTo>
                    <a:cubicBezTo>
                      <a:pt x="539203" y="591314"/>
                      <a:pt x="443664" y="549043"/>
                      <a:pt x="356292" y="492894"/>
                    </a:cubicBezTo>
                    <a:cubicBezTo>
                      <a:pt x="383471" y="442129"/>
                      <a:pt x="412675" y="383916"/>
                      <a:pt x="412675" y="383916"/>
                    </a:cubicBezTo>
                    <a:lnTo>
                      <a:pt x="282006" y="440822"/>
                    </a:lnTo>
                    <a:cubicBezTo>
                      <a:pt x="89007" y="292774"/>
                      <a:pt x="-567" y="121335"/>
                      <a:pt x="-567" y="121335"/>
                    </a:cubicBezTo>
                    <a:close/>
                  </a:path>
                </a:pathLst>
              </a:custGeom>
              <a:solidFill>
                <a:srgbClr val="62CC95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任意多边形 6">
                <a:extLst>
                  <a:ext uri="{FF2B5EF4-FFF2-40B4-BE49-F238E27FC236}">
                    <a16:creationId xmlns:a16="http://schemas.microsoft.com/office/drawing/2014/main" id="{FCC252AE-22D6-49CA-B43C-BBD0E3C35754}"/>
                  </a:ext>
                </a:extLst>
              </p:cNvPr>
              <p:cNvSpPr/>
              <p:nvPr/>
            </p:nvSpPr>
            <p:spPr>
              <a:xfrm>
                <a:off x="3632750" y="4817210"/>
                <a:ext cx="1583648" cy="531504"/>
              </a:xfrm>
              <a:custGeom>
                <a:avLst/>
                <a:gdLst>
                  <a:gd name="connsiteX0" fmla="*/ 712627 w 1583648"/>
                  <a:gd name="connsiteY0" fmla="*/ 513235 h 531504"/>
                  <a:gd name="connsiteX1" fmla="*/ 691197 w 1583648"/>
                  <a:gd name="connsiteY1" fmla="*/ 398769 h 531504"/>
                  <a:gd name="connsiteX2" fmla="*/ 639583 w 1583648"/>
                  <a:gd name="connsiteY2" fmla="*/ 496771 h 531504"/>
                  <a:gd name="connsiteX3" fmla="*/ 356292 w 1583648"/>
                  <a:gd name="connsiteY3" fmla="*/ 371459 h 531504"/>
                  <a:gd name="connsiteX4" fmla="*/ 412741 w 1583648"/>
                  <a:gd name="connsiteY4" fmla="*/ 262481 h 531504"/>
                  <a:gd name="connsiteX5" fmla="*/ 282071 w 1583648"/>
                  <a:gd name="connsiteY5" fmla="*/ 319387 h 531504"/>
                  <a:gd name="connsiteX6" fmla="*/ -567 w 1583648"/>
                  <a:gd name="connsiteY6" fmla="*/ -100 h 531504"/>
                  <a:gd name="connsiteX7" fmla="*/ 1583082 w 1583648"/>
                  <a:gd name="connsiteY7" fmla="*/ 355322 h 531504"/>
                  <a:gd name="connsiteX8" fmla="*/ 712497 w 1583648"/>
                  <a:gd name="connsiteY8" fmla="*/ 513301 h 531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83648" h="531504">
                    <a:moveTo>
                      <a:pt x="712627" y="513235"/>
                    </a:moveTo>
                    <a:cubicBezTo>
                      <a:pt x="703611" y="467501"/>
                      <a:pt x="691197" y="398769"/>
                      <a:pt x="691197" y="398769"/>
                    </a:cubicBezTo>
                    <a:lnTo>
                      <a:pt x="639583" y="496771"/>
                    </a:lnTo>
                    <a:cubicBezTo>
                      <a:pt x="539249" y="469873"/>
                      <a:pt x="443690" y="427601"/>
                      <a:pt x="356292" y="371459"/>
                    </a:cubicBezTo>
                    <a:cubicBezTo>
                      <a:pt x="383536" y="320759"/>
                      <a:pt x="412741" y="262481"/>
                      <a:pt x="412741" y="262481"/>
                    </a:cubicBezTo>
                    <a:lnTo>
                      <a:pt x="282071" y="319387"/>
                    </a:lnTo>
                    <a:cubicBezTo>
                      <a:pt x="88942" y="171273"/>
                      <a:pt x="-567" y="-100"/>
                      <a:pt x="-567" y="-100"/>
                    </a:cubicBezTo>
                    <a:cubicBezTo>
                      <a:pt x="673361" y="-6633"/>
                      <a:pt x="1583082" y="355322"/>
                      <a:pt x="1583082" y="355322"/>
                    </a:cubicBezTo>
                    <a:cubicBezTo>
                      <a:pt x="1230274" y="528851"/>
                      <a:pt x="941756" y="556487"/>
                      <a:pt x="712497" y="513301"/>
                    </a:cubicBezTo>
                    <a:close/>
                  </a:path>
                </a:pathLst>
              </a:custGeom>
              <a:solidFill>
                <a:srgbClr val="4FA77B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 7">
                <a:extLst>
                  <a:ext uri="{FF2B5EF4-FFF2-40B4-BE49-F238E27FC236}">
                    <a16:creationId xmlns:a16="http://schemas.microsoft.com/office/drawing/2014/main" id="{973767BE-DF97-4343-9169-D4E9420738B3}"/>
                  </a:ext>
                </a:extLst>
              </p:cNvPr>
              <p:cNvSpPr/>
              <p:nvPr/>
            </p:nvSpPr>
            <p:spPr>
              <a:xfrm>
                <a:off x="3704161" y="3619173"/>
                <a:ext cx="1373336" cy="1403406"/>
              </a:xfrm>
              <a:custGeom>
                <a:avLst/>
                <a:gdLst>
                  <a:gd name="connsiteX0" fmla="*/ -567 w 1373336"/>
                  <a:gd name="connsiteY0" fmla="*/ 875 h 1403406"/>
                  <a:gd name="connsiteX1" fmla="*/ 213470 w 1373336"/>
                  <a:gd name="connsiteY1" fmla="*/ 625867 h 1403406"/>
                  <a:gd name="connsiteX2" fmla="*/ 325454 w 1373336"/>
                  <a:gd name="connsiteY2" fmla="*/ 577258 h 1403406"/>
                  <a:gd name="connsiteX3" fmla="*/ 303044 w 1373336"/>
                  <a:gd name="connsiteY3" fmla="*/ 731905 h 1403406"/>
                  <a:gd name="connsiteX4" fmla="*/ 1372770 w 1373336"/>
                  <a:gd name="connsiteY4" fmla="*/ 1403219 h 1403406"/>
                  <a:gd name="connsiteX5" fmla="*/ 981153 w 1373336"/>
                  <a:gd name="connsiteY5" fmla="*/ 407387 h 1403406"/>
                  <a:gd name="connsiteX6" fmla="*/ 849765 w 1373336"/>
                  <a:gd name="connsiteY6" fmla="*/ 458218 h 1403406"/>
                  <a:gd name="connsiteX7" fmla="*/ 917648 w 1373336"/>
                  <a:gd name="connsiteY7" fmla="*/ 342771 h 1403406"/>
                  <a:gd name="connsiteX8" fmla="*/ 608484 w 1373336"/>
                  <a:gd name="connsiteY8" fmla="*/ 131283 h 1403406"/>
                  <a:gd name="connsiteX9" fmla="*/ 532369 w 1373336"/>
                  <a:gd name="connsiteY9" fmla="*/ 258620 h 1403406"/>
                  <a:gd name="connsiteX10" fmla="*/ 507803 w 1373336"/>
                  <a:gd name="connsiteY10" fmla="*/ 88162 h 1403406"/>
                  <a:gd name="connsiteX11" fmla="*/ -567 w 1373336"/>
                  <a:gd name="connsiteY11" fmla="*/ 875 h 1403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73336" h="1403406">
                    <a:moveTo>
                      <a:pt x="-567" y="875"/>
                    </a:moveTo>
                    <a:cubicBezTo>
                      <a:pt x="23869" y="216480"/>
                      <a:pt x="121479" y="468018"/>
                      <a:pt x="213470" y="625867"/>
                    </a:cubicBezTo>
                    <a:cubicBezTo>
                      <a:pt x="298405" y="627369"/>
                      <a:pt x="325454" y="577258"/>
                      <a:pt x="325454" y="577258"/>
                    </a:cubicBezTo>
                    <a:lnTo>
                      <a:pt x="303044" y="731905"/>
                    </a:lnTo>
                    <a:cubicBezTo>
                      <a:pt x="704003" y="1300317"/>
                      <a:pt x="1372770" y="1403219"/>
                      <a:pt x="1372770" y="1403219"/>
                    </a:cubicBezTo>
                    <a:cubicBezTo>
                      <a:pt x="1326643" y="929804"/>
                      <a:pt x="1171473" y="615675"/>
                      <a:pt x="981153" y="407387"/>
                    </a:cubicBezTo>
                    <a:cubicBezTo>
                      <a:pt x="928101" y="427380"/>
                      <a:pt x="849765" y="458218"/>
                      <a:pt x="849765" y="458218"/>
                    </a:cubicBezTo>
                    <a:lnTo>
                      <a:pt x="917648" y="342771"/>
                    </a:lnTo>
                    <a:cubicBezTo>
                      <a:pt x="826153" y="256712"/>
                      <a:pt x="721853" y="185367"/>
                      <a:pt x="608484" y="131283"/>
                    </a:cubicBezTo>
                    <a:cubicBezTo>
                      <a:pt x="573660" y="191522"/>
                      <a:pt x="532369" y="258620"/>
                      <a:pt x="532369" y="258620"/>
                    </a:cubicBezTo>
                    <a:lnTo>
                      <a:pt x="507803" y="88162"/>
                    </a:lnTo>
                    <a:cubicBezTo>
                      <a:pt x="232678" y="-16374"/>
                      <a:pt x="-567" y="875"/>
                      <a:pt x="-567" y="875"/>
                    </a:cubicBezTo>
                    <a:close/>
                  </a:path>
                </a:pathLst>
              </a:custGeom>
              <a:solidFill>
                <a:srgbClr val="4FA77B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 8">
                <a:extLst>
                  <a:ext uri="{FF2B5EF4-FFF2-40B4-BE49-F238E27FC236}">
                    <a16:creationId xmlns:a16="http://schemas.microsoft.com/office/drawing/2014/main" id="{946B7B62-48DC-4C46-88A4-8C6CCB0262D8}"/>
                  </a:ext>
                </a:extLst>
              </p:cNvPr>
              <p:cNvSpPr/>
              <p:nvPr/>
            </p:nvSpPr>
            <p:spPr>
              <a:xfrm>
                <a:off x="3704161" y="3619183"/>
                <a:ext cx="1373336" cy="1403396"/>
              </a:xfrm>
              <a:custGeom>
                <a:avLst/>
                <a:gdLst>
                  <a:gd name="connsiteX0" fmla="*/ 981153 w 1373336"/>
                  <a:gd name="connsiteY0" fmla="*/ 407377 h 1403396"/>
                  <a:gd name="connsiteX1" fmla="*/ 849830 w 1373336"/>
                  <a:gd name="connsiteY1" fmla="*/ 458208 h 1403396"/>
                  <a:gd name="connsiteX2" fmla="*/ 917648 w 1373336"/>
                  <a:gd name="connsiteY2" fmla="*/ 342827 h 1403396"/>
                  <a:gd name="connsiteX3" fmla="*/ 608549 w 1373336"/>
                  <a:gd name="connsiteY3" fmla="*/ 131273 h 1403396"/>
                  <a:gd name="connsiteX4" fmla="*/ 532369 w 1373336"/>
                  <a:gd name="connsiteY4" fmla="*/ 258610 h 1403396"/>
                  <a:gd name="connsiteX5" fmla="*/ 507868 w 1373336"/>
                  <a:gd name="connsiteY5" fmla="*/ 88217 h 1403396"/>
                  <a:gd name="connsiteX6" fmla="*/ -567 w 1373336"/>
                  <a:gd name="connsiteY6" fmla="*/ 865 h 1403396"/>
                  <a:gd name="connsiteX7" fmla="*/ 1372770 w 1373336"/>
                  <a:gd name="connsiteY7" fmla="*/ 1403209 h 1403396"/>
                  <a:gd name="connsiteX8" fmla="*/ 981153 w 1373336"/>
                  <a:gd name="connsiteY8" fmla="*/ 407377 h 14033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73336" h="1403396">
                    <a:moveTo>
                      <a:pt x="981153" y="407377"/>
                    </a:moveTo>
                    <a:cubicBezTo>
                      <a:pt x="928167" y="427370"/>
                      <a:pt x="849830" y="458208"/>
                      <a:pt x="849830" y="458208"/>
                    </a:cubicBezTo>
                    <a:lnTo>
                      <a:pt x="917648" y="342827"/>
                    </a:lnTo>
                    <a:cubicBezTo>
                      <a:pt x="826172" y="256748"/>
                      <a:pt x="721905" y="185383"/>
                      <a:pt x="608549" y="131273"/>
                    </a:cubicBezTo>
                    <a:cubicBezTo>
                      <a:pt x="573726" y="191577"/>
                      <a:pt x="532369" y="258610"/>
                      <a:pt x="532369" y="258610"/>
                    </a:cubicBezTo>
                    <a:lnTo>
                      <a:pt x="507868" y="88217"/>
                    </a:lnTo>
                    <a:cubicBezTo>
                      <a:pt x="232678" y="-16318"/>
                      <a:pt x="-567" y="865"/>
                      <a:pt x="-567" y="865"/>
                    </a:cubicBezTo>
                    <a:cubicBezTo>
                      <a:pt x="421822" y="698182"/>
                      <a:pt x="1372770" y="1403209"/>
                      <a:pt x="1372770" y="1403209"/>
                    </a:cubicBezTo>
                    <a:cubicBezTo>
                      <a:pt x="1326643" y="929794"/>
                      <a:pt x="1171473" y="615730"/>
                      <a:pt x="981153" y="407377"/>
                    </a:cubicBezTo>
                    <a:close/>
                  </a:path>
                </a:pathLst>
              </a:custGeom>
              <a:solidFill>
                <a:srgbClr val="62CC95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 9">
                <a:extLst>
                  <a:ext uri="{FF2B5EF4-FFF2-40B4-BE49-F238E27FC236}">
                    <a16:creationId xmlns:a16="http://schemas.microsoft.com/office/drawing/2014/main" id="{9BFD7A98-DB70-4999-AB24-0E314D7141A9}"/>
                  </a:ext>
                </a:extLst>
              </p:cNvPr>
              <p:cNvSpPr/>
              <p:nvPr/>
            </p:nvSpPr>
            <p:spPr>
              <a:xfrm>
                <a:off x="7287610" y="4265088"/>
                <a:ext cx="638305" cy="934090"/>
              </a:xfrm>
              <a:custGeom>
                <a:avLst/>
                <a:gdLst>
                  <a:gd name="connsiteX0" fmla="*/ 616681 w 638305"/>
                  <a:gd name="connsiteY0" fmla="*/ 9 h 934090"/>
                  <a:gd name="connsiteX1" fmla="*/ 293992 w 638305"/>
                  <a:gd name="connsiteY1" fmla="*/ 194315 h 934090"/>
                  <a:gd name="connsiteX2" fmla="*/ 334566 w 638305"/>
                  <a:gd name="connsiteY2" fmla="*/ 250960 h 934090"/>
                  <a:gd name="connsiteX3" fmla="*/ 245710 w 638305"/>
                  <a:gd name="connsiteY3" fmla="*/ 257036 h 934090"/>
                  <a:gd name="connsiteX4" fmla="*/ -79 w 638305"/>
                  <a:gd name="connsiteY4" fmla="*/ 933904 h 934090"/>
                  <a:gd name="connsiteX5" fmla="*/ 507964 w 638305"/>
                  <a:gd name="connsiteY5" fmla="*/ 596058 h 934090"/>
                  <a:gd name="connsiteX6" fmla="*/ 463863 w 638305"/>
                  <a:gd name="connsiteY6" fmla="*/ 528894 h 934090"/>
                  <a:gd name="connsiteX7" fmla="*/ 536384 w 638305"/>
                  <a:gd name="connsiteY7" fmla="*/ 552872 h 934090"/>
                  <a:gd name="connsiteX8" fmla="*/ 617139 w 638305"/>
                  <a:gd name="connsiteY8" fmla="*/ 355169 h 934090"/>
                  <a:gd name="connsiteX9" fmla="*/ 537038 w 638305"/>
                  <a:gd name="connsiteY9" fmla="*/ 327990 h 934090"/>
                  <a:gd name="connsiteX10" fmla="*/ 629095 w 638305"/>
                  <a:gd name="connsiteY10" fmla="*/ 293819 h 934090"/>
                  <a:gd name="connsiteX11" fmla="*/ 616681 w 638305"/>
                  <a:gd name="connsiteY11" fmla="*/ -187 h 934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38305" h="934090">
                    <a:moveTo>
                      <a:pt x="616681" y="9"/>
                    </a:moveTo>
                    <a:cubicBezTo>
                      <a:pt x="499078" y="39210"/>
                      <a:pt x="370957" y="124145"/>
                      <a:pt x="293992" y="194315"/>
                    </a:cubicBezTo>
                    <a:cubicBezTo>
                      <a:pt x="303336" y="241748"/>
                      <a:pt x="334566" y="250960"/>
                      <a:pt x="334566" y="250960"/>
                    </a:cubicBezTo>
                    <a:lnTo>
                      <a:pt x="245710" y="257036"/>
                    </a:lnTo>
                    <a:cubicBezTo>
                      <a:pt x="-23012" y="548756"/>
                      <a:pt x="-79" y="933904"/>
                      <a:pt x="-79" y="933904"/>
                    </a:cubicBezTo>
                    <a:cubicBezTo>
                      <a:pt x="258255" y="851321"/>
                      <a:pt x="414731" y="727185"/>
                      <a:pt x="507964" y="596058"/>
                    </a:cubicBezTo>
                    <a:cubicBezTo>
                      <a:pt x="490520" y="568879"/>
                      <a:pt x="463863" y="528894"/>
                      <a:pt x="463863" y="528894"/>
                    </a:cubicBezTo>
                    <a:lnTo>
                      <a:pt x="536384" y="552872"/>
                    </a:lnTo>
                    <a:cubicBezTo>
                      <a:pt x="573364" y="491549"/>
                      <a:pt x="600609" y="424855"/>
                      <a:pt x="617139" y="355169"/>
                    </a:cubicBezTo>
                    <a:cubicBezTo>
                      <a:pt x="579375" y="342951"/>
                      <a:pt x="537038" y="327990"/>
                      <a:pt x="537038" y="327990"/>
                    </a:cubicBezTo>
                    <a:lnTo>
                      <a:pt x="629095" y="293819"/>
                    </a:lnTo>
                    <a:cubicBezTo>
                      <a:pt x="654183" y="128000"/>
                      <a:pt x="616681" y="-187"/>
                      <a:pt x="616681" y="-187"/>
                    </a:cubicBezTo>
                    <a:close/>
                  </a:path>
                </a:pathLst>
              </a:custGeom>
              <a:solidFill>
                <a:srgbClr val="62CC95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" name="任意多边形 10">
                <a:extLst>
                  <a:ext uri="{FF2B5EF4-FFF2-40B4-BE49-F238E27FC236}">
                    <a16:creationId xmlns:a16="http://schemas.microsoft.com/office/drawing/2014/main" id="{B2FE21B3-6AFC-43A9-AF88-B4F40421D453}"/>
                  </a:ext>
                </a:extLst>
              </p:cNvPr>
              <p:cNvSpPr/>
              <p:nvPr/>
            </p:nvSpPr>
            <p:spPr>
              <a:xfrm>
                <a:off x="7288294" y="4265154"/>
                <a:ext cx="637818" cy="933894"/>
              </a:xfrm>
              <a:custGeom>
                <a:avLst/>
                <a:gdLst>
                  <a:gd name="connsiteX0" fmla="*/ 507476 w 637818"/>
                  <a:gd name="connsiteY0" fmla="*/ 595992 h 933894"/>
                  <a:gd name="connsiteX1" fmla="*/ 463375 w 637818"/>
                  <a:gd name="connsiteY1" fmla="*/ 528894 h 933894"/>
                  <a:gd name="connsiteX2" fmla="*/ 535897 w 637818"/>
                  <a:gd name="connsiteY2" fmla="*/ 552806 h 933894"/>
                  <a:gd name="connsiteX3" fmla="*/ 616650 w 637818"/>
                  <a:gd name="connsiteY3" fmla="*/ 355103 h 933894"/>
                  <a:gd name="connsiteX4" fmla="*/ 536550 w 637818"/>
                  <a:gd name="connsiteY4" fmla="*/ 327990 h 933894"/>
                  <a:gd name="connsiteX5" fmla="*/ 628607 w 637818"/>
                  <a:gd name="connsiteY5" fmla="*/ 293819 h 933894"/>
                  <a:gd name="connsiteX6" fmla="*/ 616193 w 637818"/>
                  <a:gd name="connsiteY6" fmla="*/ -187 h 933894"/>
                  <a:gd name="connsiteX7" fmla="*/ -567 w 637818"/>
                  <a:gd name="connsiteY7" fmla="*/ 933708 h 933894"/>
                  <a:gd name="connsiteX8" fmla="*/ 507476 w 637818"/>
                  <a:gd name="connsiteY8" fmla="*/ 595862 h 933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37818" h="933894">
                    <a:moveTo>
                      <a:pt x="507476" y="595992"/>
                    </a:moveTo>
                    <a:cubicBezTo>
                      <a:pt x="489966" y="568813"/>
                      <a:pt x="463375" y="528894"/>
                      <a:pt x="463375" y="528894"/>
                    </a:cubicBezTo>
                    <a:lnTo>
                      <a:pt x="535897" y="552806"/>
                    </a:lnTo>
                    <a:cubicBezTo>
                      <a:pt x="572876" y="491490"/>
                      <a:pt x="600121" y="424789"/>
                      <a:pt x="616650" y="355103"/>
                    </a:cubicBezTo>
                    <a:cubicBezTo>
                      <a:pt x="578887" y="342951"/>
                      <a:pt x="536550" y="327990"/>
                      <a:pt x="536550" y="327990"/>
                    </a:cubicBezTo>
                    <a:lnTo>
                      <a:pt x="628607" y="293819"/>
                    </a:lnTo>
                    <a:cubicBezTo>
                      <a:pt x="653695" y="127869"/>
                      <a:pt x="616193" y="-187"/>
                      <a:pt x="616193" y="-187"/>
                    </a:cubicBezTo>
                    <a:cubicBezTo>
                      <a:pt x="278412" y="318973"/>
                      <a:pt x="-567" y="933708"/>
                      <a:pt x="-567" y="933708"/>
                    </a:cubicBezTo>
                    <a:cubicBezTo>
                      <a:pt x="257767" y="851125"/>
                      <a:pt x="414243" y="726924"/>
                      <a:pt x="507476" y="595862"/>
                    </a:cubicBezTo>
                    <a:close/>
                  </a:path>
                </a:pathLst>
              </a:custGeom>
              <a:solidFill>
                <a:srgbClr val="4FA77B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 11">
                <a:extLst>
                  <a:ext uri="{FF2B5EF4-FFF2-40B4-BE49-F238E27FC236}">
                    <a16:creationId xmlns:a16="http://schemas.microsoft.com/office/drawing/2014/main" id="{07640D08-D092-4675-80ED-BDAEF4B3DC23}"/>
                  </a:ext>
                </a:extLst>
              </p:cNvPr>
              <p:cNvSpPr/>
              <p:nvPr/>
            </p:nvSpPr>
            <p:spPr>
              <a:xfrm>
                <a:off x="7299923" y="5034529"/>
                <a:ext cx="894955" cy="412976"/>
              </a:xfrm>
              <a:custGeom>
                <a:avLst/>
                <a:gdLst>
                  <a:gd name="connsiteX0" fmla="*/ 894388 w 894955"/>
                  <a:gd name="connsiteY0" fmla="*/ 36146 h 412976"/>
                  <a:gd name="connsiteX1" fmla="*/ 576600 w 894955"/>
                  <a:gd name="connsiteY1" fmla="*/ 2760 h 412976"/>
                  <a:gd name="connsiteX2" fmla="*/ 575098 w 894955"/>
                  <a:gd name="connsiteY2" fmla="*/ 61561 h 412976"/>
                  <a:gd name="connsiteX3" fmla="*/ 511788 w 894955"/>
                  <a:gd name="connsiteY3" fmla="*/ 20204 h 412976"/>
                  <a:gd name="connsiteX4" fmla="*/ -567 w 894955"/>
                  <a:gd name="connsiteY4" fmla="*/ 352823 h 412976"/>
                  <a:gd name="connsiteX5" fmla="*/ 516100 w 894955"/>
                  <a:gd name="connsiteY5" fmla="*/ 383792 h 412976"/>
                  <a:gd name="connsiteX6" fmla="*/ 520543 w 894955"/>
                  <a:gd name="connsiteY6" fmla="*/ 315844 h 412976"/>
                  <a:gd name="connsiteX7" fmla="*/ 557392 w 894955"/>
                  <a:gd name="connsiteY7" fmla="*/ 369092 h 412976"/>
                  <a:gd name="connsiteX8" fmla="*/ 713150 w 894955"/>
                  <a:gd name="connsiteY8" fmla="*/ 276577 h 412976"/>
                  <a:gd name="connsiteX9" fmla="*/ 672773 w 894955"/>
                  <a:gd name="connsiteY9" fmla="*/ 217188 h 412976"/>
                  <a:gd name="connsiteX10" fmla="*/ 752547 w 894955"/>
                  <a:gd name="connsiteY10" fmla="*/ 241166 h 412976"/>
                  <a:gd name="connsiteX11" fmla="*/ 894388 w 894955"/>
                  <a:gd name="connsiteY11" fmla="*/ 36146 h 412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94955" h="412976">
                    <a:moveTo>
                      <a:pt x="894388" y="36146"/>
                    </a:moveTo>
                    <a:cubicBezTo>
                      <a:pt x="794753" y="2890"/>
                      <a:pt x="664540" y="-5473"/>
                      <a:pt x="576600" y="2760"/>
                    </a:cubicBezTo>
                    <a:cubicBezTo>
                      <a:pt x="558633" y="39609"/>
                      <a:pt x="575098" y="61561"/>
                      <a:pt x="575098" y="61561"/>
                    </a:cubicBezTo>
                    <a:lnTo>
                      <a:pt x="511788" y="20204"/>
                    </a:lnTo>
                    <a:cubicBezTo>
                      <a:pt x="180737" y="80377"/>
                      <a:pt x="-567" y="352823"/>
                      <a:pt x="-567" y="352823"/>
                    </a:cubicBezTo>
                    <a:cubicBezTo>
                      <a:pt x="216540" y="429003"/>
                      <a:pt x="385954" y="424692"/>
                      <a:pt x="516100" y="383792"/>
                    </a:cubicBezTo>
                    <a:cubicBezTo>
                      <a:pt x="518126" y="356482"/>
                      <a:pt x="520543" y="315844"/>
                      <a:pt x="520543" y="315844"/>
                    </a:cubicBezTo>
                    <a:lnTo>
                      <a:pt x="557392" y="369092"/>
                    </a:lnTo>
                    <a:cubicBezTo>
                      <a:pt x="613776" y="346492"/>
                      <a:pt x="666305" y="315282"/>
                      <a:pt x="713150" y="276577"/>
                    </a:cubicBezTo>
                    <a:cubicBezTo>
                      <a:pt x="693549" y="249006"/>
                      <a:pt x="672773" y="217188"/>
                      <a:pt x="672773" y="217188"/>
                    </a:cubicBezTo>
                    <a:lnTo>
                      <a:pt x="752547" y="241166"/>
                    </a:lnTo>
                    <a:cubicBezTo>
                      <a:pt x="812916" y="182848"/>
                      <a:pt x="861068" y="113176"/>
                      <a:pt x="894388" y="36146"/>
                    </a:cubicBezTo>
                    <a:close/>
                  </a:path>
                </a:pathLst>
              </a:custGeom>
              <a:solidFill>
                <a:srgbClr val="62CC95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 12">
                <a:extLst>
                  <a:ext uri="{FF2B5EF4-FFF2-40B4-BE49-F238E27FC236}">
                    <a16:creationId xmlns:a16="http://schemas.microsoft.com/office/drawing/2014/main" id="{06E3C4C8-844D-488A-A049-F1DD808B07C0}"/>
                  </a:ext>
                </a:extLst>
              </p:cNvPr>
              <p:cNvSpPr/>
              <p:nvPr/>
            </p:nvSpPr>
            <p:spPr>
              <a:xfrm>
                <a:off x="7299792" y="5070862"/>
                <a:ext cx="895085" cy="376916"/>
              </a:xfrm>
              <a:custGeom>
                <a:avLst/>
                <a:gdLst>
                  <a:gd name="connsiteX0" fmla="*/ 515970 w 895085"/>
                  <a:gd name="connsiteY0" fmla="*/ 347786 h 376916"/>
                  <a:gd name="connsiteX1" fmla="*/ 520412 w 895085"/>
                  <a:gd name="connsiteY1" fmla="*/ 279773 h 376916"/>
                  <a:gd name="connsiteX2" fmla="*/ 557196 w 895085"/>
                  <a:gd name="connsiteY2" fmla="*/ 333020 h 376916"/>
                  <a:gd name="connsiteX3" fmla="*/ 712954 w 895085"/>
                  <a:gd name="connsiteY3" fmla="*/ 240506 h 376916"/>
                  <a:gd name="connsiteX4" fmla="*/ 672643 w 895085"/>
                  <a:gd name="connsiteY4" fmla="*/ 181117 h 376916"/>
                  <a:gd name="connsiteX5" fmla="*/ 752416 w 895085"/>
                  <a:gd name="connsiteY5" fmla="*/ 205095 h 376916"/>
                  <a:gd name="connsiteX6" fmla="*/ 894519 w 895085"/>
                  <a:gd name="connsiteY6" fmla="*/ -187 h 376916"/>
                  <a:gd name="connsiteX7" fmla="*/ -567 w 895085"/>
                  <a:gd name="connsiteY7" fmla="*/ 316752 h 376916"/>
                  <a:gd name="connsiteX8" fmla="*/ 516100 w 895085"/>
                  <a:gd name="connsiteY8" fmla="*/ 347786 h 376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95085" h="376916">
                    <a:moveTo>
                      <a:pt x="515970" y="347786"/>
                    </a:moveTo>
                    <a:cubicBezTo>
                      <a:pt x="517995" y="320411"/>
                      <a:pt x="520412" y="279773"/>
                      <a:pt x="520412" y="279773"/>
                    </a:cubicBezTo>
                    <a:lnTo>
                      <a:pt x="557196" y="333020"/>
                    </a:lnTo>
                    <a:cubicBezTo>
                      <a:pt x="613580" y="310434"/>
                      <a:pt x="666109" y="279223"/>
                      <a:pt x="712954" y="240506"/>
                    </a:cubicBezTo>
                    <a:cubicBezTo>
                      <a:pt x="693353" y="212935"/>
                      <a:pt x="672643" y="181117"/>
                      <a:pt x="672643" y="181117"/>
                    </a:cubicBezTo>
                    <a:lnTo>
                      <a:pt x="752416" y="205095"/>
                    </a:lnTo>
                    <a:cubicBezTo>
                      <a:pt x="812851" y="146725"/>
                      <a:pt x="861199" y="76954"/>
                      <a:pt x="894519" y="-187"/>
                    </a:cubicBezTo>
                    <a:cubicBezTo>
                      <a:pt x="502511" y="43195"/>
                      <a:pt x="-567" y="316752"/>
                      <a:pt x="-567" y="316752"/>
                    </a:cubicBezTo>
                    <a:cubicBezTo>
                      <a:pt x="216540" y="392932"/>
                      <a:pt x="385954" y="388620"/>
                      <a:pt x="516100" y="347786"/>
                    </a:cubicBezTo>
                    <a:close/>
                  </a:path>
                </a:pathLst>
              </a:custGeom>
              <a:solidFill>
                <a:srgbClr val="4FA77B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 13">
                <a:extLst>
                  <a:ext uri="{FF2B5EF4-FFF2-40B4-BE49-F238E27FC236}">
                    <a16:creationId xmlns:a16="http://schemas.microsoft.com/office/drawing/2014/main" id="{6550A091-F7B9-4531-86E3-2814149879DB}"/>
                  </a:ext>
                </a:extLst>
              </p:cNvPr>
              <p:cNvSpPr/>
              <p:nvPr/>
            </p:nvSpPr>
            <p:spPr>
              <a:xfrm>
                <a:off x="5812403" y="1090017"/>
                <a:ext cx="2531960" cy="4381739"/>
              </a:xfrm>
              <a:custGeom>
                <a:avLst/>
                <a:gdLst>
                  <a:gd name="connsiteX0" fmla="*/ 460675 w 2531960"/>
                  <a:gd name="connsiteY0" fmla="*/ 1425417 h 4381739"/>
                  <a:gd name="connsiteX1" fmla="*/ 106365 w 2531960"/>
                  <a:gd name="connsiteY1" fmla="*/ 1359102 h 4381739"/>
                  <a:gd name="connsiteX2" fmla="*/ 1110 w 2531960"/>
                  <a:gd name="connsiteY2" fmla="*/ 1215366 h 4381739"/>
                  <a:gd name="connsiteX3" fmla="*/ 1296699 w 2531960"/>
                  <a:gd name="connsiteY3" fmla="*/ -187 h 4381739"/>
                  <a:gd name="connsiteX4" fmla="*/ 2199167 w 2531960"/>
                  <a:gd name="connsiteY4" fmla="*/ 320280 h 4381739"/>
                  <a:gd name="connsiteX5" fmla="*/ 2531394 w 2531960"/>
                  <a:gd name="connsiteY5" fmla="*/ 1187794 h 4381739"/>
                  <a:gd name="connsiteX6" fmla="*/ 2415098 w 2531960"/>
                  <a:gd name="connsiteY6" fmla="*/ 1729289 h 4381739"/>
                  <a:gd name="connsiteX7" fmla="*/ 1883600 w 2531960"/>
                  <a:gd name="connsiteY7" fmla="*/ 2342652 h 4381739"/>
                  <a:gd name="connsiteX8" fmla="*/ 1534778 w 2531960"/>
                  <a:gd name="connsiteY8" fmla="*/ 2707285 h 4381739"/>
                  <a:gd name="connsiteX9" fmla="*/ 1473886 w 2531960"/>
                  <a:gd name="connsiteY9" fmla="*/ 3060942 h 4381739"/>
                  <a:gd name="connsiteX10" fmla="*/ 1473886 w 2531960"/>
                  <a:gd name="connsiteY10" fmla="*/ 3099620 h 4381739"/>
                  <a:gd name="connsiteX11" fmla="*/ 1340996 w 2531960"/>
                  <a:gd name="connsiteY11" fmla="*/ 3232249 h 4381739"/>
                  <a:gd name="connsiteX12" fmla="*/ 1008833 w 2531960"/>
                  <a:gd name="connsiteY12" fmla="*/ 3232249 h 4381739"/>
                  <a:gd name="connsiteX13" fmla="*/ 881431 w 2531960"/>
                  <a:gd name="connsiteY13" fmla="*/ 3099620 h 4381739"/>
                  <a:gd name="connsiteX14" fmla="*/ 881431 w 2531960"/>
                  <a:gd name="connsiteY14" fmla="*/ 3099620 h 4381739"/>
                  <a:gd name="connsiteX15" fmla="*/ 953299 w 2531960"/>
                  <a:gd name="connsiteY15" fmla="*/ 2452806 h 4381739"/>
                  <a:gd name="connsiteX16" fmla="*/ 1313163 w 2531960"/>
                  <a:gd name="connsiteY16" fmla="*/ 2027346 h 4381739"/>
                  <a:gd name="connsiteX17" fmla="*/ 1700728 w 2531960"/>
                  <a:gd name="connsiteY17" fmla="*/ 1612928 h 4381739"/>
                  <a:gd name="connsiteX18" fmla="*/ 1811797 w 2531960"/>
                  <a:gd name="connsiteY18" fmla="*/ 1176426 h 4381739"/>
                  <a:gd name="connsiteX19" fmla="*/ 1662312 w 2531960"/>
                  <a:gd name="connsiteY19" fmla="*/ 717777 h 4381739"/>
                  <a:gd name="connsiteX20" fmla="*/ 1252598 w 2531960"/>
                  <a:gd name="connsiteY20" fmla="*/ 563064 h 4381739"/>
                  <a:gd name="connsiteX21" fmla="*/ 610357 w 2531960"/>
                  <a:gd name="connsiteY21" fmla="*/ 1314413 h 4381739"/>
                  <a:gd name="connsiteX22" fmla="*/ 460871 w 2531960"/>
                  <a:gd name="connsiteY22" fmla="*/ 1424960 h 4381739"/>
                  <a:gd name="connsiteX23" fmla="*/ 953430 w 2531960"/>
                  <a:gd name="connsiteY23" fmla="*/ 3602436 h 4381739"/>
                  <a:gd name="connsiteX24" fmla="*/ 1396334 w 2531960"/>
                  <a:gd name="connsiteY24" fmla="*/ 3602436 h 4381739"/>
                  <a:gd name="connsiteX25" fmla="*/ 1529225 w 2531960"/>
                  <a:gd name="connsiteY25" fmla="*/ 3735065 h 4381739"/>
                  <a:gd name="connsiteX26" fmla="*/ 1529225 w 2531960"/>
                  <a:gd name="connsiteY26" fmla="*/ 4248923 h 4381739"/>
                  <a:gd name="connsiteX27" fmla="*/ 1396334 w 2531960"/>
                  <a:gd name="connsiteY27" fmla="*/ 4381552 h 4381739"/>
                  <a:gd name="connsiteX28" fmla="*/ 953430 w 2531960"/>
                  <a:gd name="connsiteY28" fmla="*/ 4381552 h 4381739"/>
                  <a:gd name="connsiteX29" fmla="*/ 826092 w 2531960"/>
                  <a:gd name="connsiteY29" fmla="*/ 4248923 h 4381739"/>
                  <a:gd name="connsiteX30" fmla="*/ 826092 w 2531960"/>
                  <a:gd name="connsiteY30" fmla="*/ 3735065 h 4381739"/>
                  <a:gd name="connsiteX31" fmla="*/ 953430 w 2531960"/>
                  <a:gd name="connsiteY31" fmla="*/ 3602436 h 4381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531960" h="4381739">
                    <a:moveTo>
                      <a:pt x="460675" y="1425417"/>
                    </a:moveTo>
                    <a:lnTo>
                      <a:pt x="106365" y="1359102"/>
                    </a:lnTo>
                    <a:cubicBezTo>
                      <a:pt x="34497" y="1342507"/>
                      <a:pt x="-9931" y="1281746"/>
                      <a:pt x="1110" y="1215366"/>
                    </a:cubicBezTo>
                    <a:cubicBezTo>
                      <a:pt x="106365" y="403190"/>
                      <a:pt x="538162" y="-187"/>
                      <a:pt x="1296699" y="-187"/>
                    </a:cubicBezTo>
                    <a:cubicBezTo>
                      <a:pt x="1673223" y="-187"/>
                      <a:pt x="1977682" y="104806"/>
                      <a:pt x="2199167" y="320280"/>
                    </a:cubicBezTo>
                    <a:cubicBezTo>
                      <a:pt x="2420652" y="535754"/>
                      <a:pt x="2531394" y="823357"/>
                      <a:pt x="2531394" y="1187794"/>
                    </a:cubicBezTo>
                    <a:cubicBezTo>
                      <a:pt x="2531394" y="1364590"/>
                      <a:pt x="2492650" y="1547135"/>
                      <a:pt x="2415098" y="1729289"/>
                    </a:cubicBezTo>
                    <a:cubicBezTo>
                      <a:pt x="2337611" y="1906085"/>
                      <a:pt x="2160424" y="2110537"/>
                      <a:pt x="1883600" y="2342652"/>
                    </a:cubicBezTo>
                    <a:cubicBezTo>
                      <a:pt x="1689817" y="2497364"/>
                      <a:pt x="1573522" y="2618906"/>
                      <a:pt x="1534778" y="2707285"/>
                    </a:cubicBezTo>
                    <a:cubicBezTo>
                      <a:pt x="1490482" y="2795748"/>
                      <a:pt x="1473886" y="2917270"/>
                      <a:pt x="1473886" y="3060942"/>
                    </a:cubicBezTo>
                    <a:lnTo>
                      <a:pt x="1473886" y="3099620"/>
                    </a:lnTo>
                    <a:cubicBezTo>
                      <a:pt x="1472841" y="3172527"/>
                      <a:pt x="1413909" y="3231334"/>
                      <a:pt x="1340996" y="3232249"/>
                    </a:cubicBezTo>
                    <a:lnTo>
                      <a:pt x="1008833" y="3232249"/>
                    </a:lnTo>
                    <a:cubicBezTo>
                      <a:pt x="936965" y="3232249"/>
                      <a:pt x="881431" y="3171488"/>
                      <a:pt x="881431" y="3099620"/>
                    </a:cubicBezTo>
                    <a:lnTo>
                      <a:pt x="881431" y="3099620"/>
                    </a:lnTo>
                    <a:cubicBezTo>
                      <a:pt x="881431" y="2790194"/>
                      <a:pt x="903579" y="2574720"/>
                      <a:pt x="953299" y="2452806"/>
                    </a:cubicBezTo>
                    <a:cubicBezTo>
                      <a:pt x="1003018" y="2330891"/>
                      <a:pt x="1119380" y="2187612"/>
                      <a:pt x="1313163" y="2027346"/>
                    </a:cubicBezTo>
                    <a:cubicBezTo>
                      <a:pt x="1501457" y="1861592"/>
                      <a:pt x="1628795" y="1723474"/>
                      <a:pt x="1700728" y="1612928"/>
                    </a:cubicBezTo>
                    <a:cubicBezTo>
                      <a:pt x="1772597" y="1496893"/>
                      <a:pt x="1811797" y="1347734"/>
                      <a:pt x="1811797" y="1176426"/>
                    </a:cubicBezTo>
                    <a:cubicBezTo>
                      <a:pt x="1811797" y="971994"/>
                      <a:pt x="1762012" y="817085"/>
                      <a:pt x="1662312" y="717777"/>
                    </a:cubicBezTo>
                    <a:cubicBezTo>
                      <a:pt x="1562676" y="612849"/>
                      <a:pt x="1424232" y="563064"/>
                      <a:pt x="1252598" y="563064"/>
                    </a:cubicBezTo>
                    <a:cubicBezTo>
                      <a:pt x="881627" y="563064"/>
                      <a:pt x="671118" y="811728"/>
                      <a:pt x="610357" y="1314413"/>
                    </a:cubicBezTo>
                    <a:cubicBezTo>
                      <a:pt x="604804" y="1386281"/>
                      <a:pt x="532870" y="1441489"/>
                      <a:pt x="460871" y="1424960"/>
                    </a:cubicBezTo>
                    <a:close/>
                    <a:moveTo>
                      <a:pt x="953430" y="3602436"/>
                    </a:moveTo>
                    <a:lnTo>
                      <a:pt x="1396334" y="3602436"/>
                    </a:lnTo>
                    <a:cubicBezTo>
                      <a:pt x="1469248" y="3603350"/>
                      <a:pt x="1528179" y="3662158"/>
                      <a:pt x="1529225" y="3735065"/>
                    </a:cubicBezTo>
                    <a:lnTo>
                      <a:pt x="1529225" y="4248923"/>
                    </a:lnTo>
                    <a:cubicBezTo>
                      <a:pt x="1528179" y="4321830"/>
                      <a:pt x="1469248" y="4380638"/>
                      <a:pt x="1396334" y="4381552"/>
                    </a:cubicBezTo>
                    <a:lnTo>
                      <a:pt x="953430" y="4381552"/>
                    </a:lnTo>
                    <a:cubicBezTo>
                      <a:pt x="881561" y="4381552"/>
                      <a:pt x="826092" y="4320791"/>
                      <a:pt x="826092" y="4248923"/>
                    </a:cubicBezTo>
                    <a:lnTo>
                      <a:pt x="826092" y="3735065"/>
                    </a:lnTo>
                    <a:cubicBezTo>
                      <a:pt x="826092" y="3663197"/>
                      <a:pt x="881431" y="3602436"/>
                      <a:pt x="953430" y="3602436"/>
                    </a:cubicBezTo>
                    <a:close/>
                  </a:path>
                </a:pathLst>
              </a:custGeom>
              <a:solidFill>
                <a:srgbClr val="B2BFD8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 14">
                <a:extLst>
                  <a:ext uri="{FF2B5EF4-FFF2-40B4-BE49-F238E27FC236}">
                    <a16:creationId xmlns:a16="http://schemas.microsoft.com/office/drawing/2014/main" id="{E69DDF6A-FE65-4CDC-A6A9-11315EAB035E}"/>
                  </a:ext>
                </a:extLst>
              </p:cNvPr>
              <p:cNvSpPr/>
              <p:nvPr/>
            </p:nvSpPr>
            <p:spPr>
              <a:xfrm>
                <a:off x="5369598" y="2535638"/>
                <a:ext cx="1126576" cy="566623"/>
              </a:xfrm>
              <a:custGeom>
                <a:avLst/>
                <a:gdLst>
                  <a:gd name="connsiteX0" fmla="*/ 1126010 w 1126576"/>
                  <a:gd name="connsiteY0" fmla="*/ 403165 h 566623"/>
                  <a:gd name="connsiteX1" fmla="*/ 845071 w 1126576"/>
                  <a:gd name="connsiteY1" fmla="*/ 233294 h 566623"/>
                  <a:gd name="connsiteX2" fmla="*/ 508989 w 1126576"/>
                  <a:gd name="connsiteY2" fmla="*/ 167960 h 566623"/>
                  <a:gd name="connsiteX3" fmla="*/ 365644 w 1126576"/>
                  <a:gd name="connsiteY3" fmla="*/ 143916 h 566623"/>
                  <a:gd name="connsiteX4" fmla="*/ 220667 w 1126576"/>
                  <a:gd name="connsiteY4" fmla="*/ 39381 h 566623"/>
                  <a:gd name="connsiteX5" fmla="*/ 210409 w 1126576"/>
                  <a:gd name="connsiteY5" fmla="*/ 19323 h 566623"/>
                  <a:gd name="connsiteX6" fmla="*/ 205901 w 1126576"/>
                  <a:gd name="connsiteY6" fmla="*/ 18604 h 566623"/>
                  <a:gd name="connsiteX7" fmla="*/ 97903 w 1126576"/>
                  <a:gd name="connsiteY7" fmla="*/ 3512 h 566623"/>
                  <a:gd name="connsiteX8" fmla="*/ 47595 w 1126576"/>
                  <a:gd name="connsiteY8" fmla="*/ 94001 h 566623"/>
                  <a:gd name="connsiteX9" fmla="*/ 11334 w 1126576"/>
                  <a:gd name="connsiteY9" fmla="*/ 56499 h 566623"/>
                  <a:gd name="connsiteX10" fmla="*/ 2841 w 1126576"/>
                  <a:gd name="connsiteY10" fmla="*/ 177956 h 566623"/>
                  <a:gd name="connsiteX11" fmla="*/ 103652 w 1126576"/>
                  <a:gd name="connsiteY11" fmla="*/ 237410 h 566623"/>
                  <a:gd name="connsiteX12" fmla="*/ 313834 w 1126576"/>
                  <a:gd name="connsiteY12" fmla="*/ 275174 h 566623"/>
                  <a:gd name="connsiteX13" fmla="*/ 721653 w 1126576"/>
                  <a:gd name="connsiteY13" fmla="*/ 472354 h 566623"/>
                  <a:gd name="connsiteX14" fmla="*/ 997627 w 1126576"/>
                  <a:gd name="connsiteY14" fmla="*/ 566436 h 566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26576" h="566623">
                    <a:moveTo>
                      <a:pt x="1126010" y="403165"/>
                    </a:moveTo>
                    <a:cubicBezTo>
                      <a:pt x="1093343" y="318229"/>
                      <a:pt x="912104" y="252568"/>
                      <a:pt x="845071" y="233294"/>
                    </a:cubicBezTo>
                    <a:cubicBezTo>
                      <a:pt x="731519" y="200627"/>
                      <a:pt x="599216" y="171292"/>
                      <a:pt x="508989" y="167960"/>
                    </a:cubicBezTo>
                    <a:cubicBezTo>
                      <a:pt x="460269" y="167241"/>
                      <a:pt x="411934" y="159133"/>
                      <a:pt x="365644" y="143916"/>
                    </a:cubicBezTo>
                    <a:cubicBezTo>
                      <a:pt x="337616" y="78582"/>
                      <a:pt x="220667" y="39381"/>
                      <a:pt x="220667" y="39381"/>
                    </a:cubicBezTo>
                    <a:cubicBezTo>
                      <a:pt x="223365" y="31011"/>
                      <a:pt x="218778" y="22034"/>
                      <a:pt x="210409" y="19323"/>
                    </a:cubicBezTo>
                    <a:cubicBezTo>
                      <a:pt x="208952" y="18853"/>
                      <a:pt x="207430" y="18611"/>
                      <a:pt x="205901" y="18604"/>
                    </a:cubicBezTo>
                    <a:cubicBezTo>
                      <a:pt x="185909" y="16252"/>
                      <a:pt x="128479" y="-9620"/>
                      <a:pt x="97903" y="3512"/>
                    </a:cubicBezTo>
                    <a:cubicBezTo>
                      <a:pt x="67326" y="16644"/>
                      <a:pt x="47595" y="94001"/>
                      <a:pt x="47595" y="94001"/>
                    </a:cubicBezTo>
                    <a:cubicBezTo>
                      <a:pt x="37076" y="48266"/>
                      <a:pt x="11334" y="56499"/>
                      <a:pt x="11334" y="56499"/>
                    </a:cubicBezTo>
                    <a:cubicBezTo>
                      <a:pt x="11334" y="56499"/>
                      <a:pt x="-8266" y="153586"/>
                      <a:pt x="2841" y="177956"/>
                    </a:cubicBezTo>
                    <a:cubicBezTo>
                      <a:pt x="7153" y="187495"/>
                      <a:pt x="51777" y="215262"/>
                      <a:pt x="103652" y="237410"/>
                    </a:cubicBezTo>
                    <a:cubicBezTo>
                      <a:pt x="158076" y="260474"/>
                      <a:pt x="313834" y="275174"/>
                      <a:pt x="313834" y="275174"/>
                    </a:cubicBezTo>
                    <a:cubicBezTo>
                      <a:pt x="313834" y="275174"/>
                      <a:pt x="638940" y="432827"/>
                      <a:pt x="721653" y="472354"/>
                    </a:cubicBezTo>
                    <a:cubicBezTo>
                      <a:pt x="830893" y="524622"/>
                      <a:pt x="997627" y="566436"/>
                      <a:pt x="997627" y="566436"/>
                    </a:cubicBezTo>
                  </a:path>
                </a:pathLst>
              </a:custGeom>
              <a:solidFill>
                <a:srgbClr val="FCB9AE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任意多边形 15">
                <a:extLst>
                  <a:ext uri="{FF2B5EF4-FFF2-40B4-BE49-F238E27FC236}">
                    <a16:creationId xmlns:a16="http://schemas.microsoft.com/office/drawing/2014/main" id="{968CFFF4-A48D-4954-8BD5-15453C985139}"/>
                  </a:ext>
                </a:extLst>
              </p:cNvPr>
              <p:cNvSpPr/>
              <p:nvPr/>
            </p:nvSpPr>
            <p:spPr>
              <a:xfrm>
                <a:off x="5517330" y="2575728"/>
                <a:ext cx="81668" cy="94212"/>
              </a:xfrm>
              <a:custGeom>
                <a:avLst/>
                <a:gdLst>
                  <a:gd name="connsiteX0" fmla="*/ 81102 w 81668"/>
                  <a:gd name="connsiteY0" fmla="*/ -187 h 94212"/>
                  <a:gd name="connsiteX1" fmla="*/ 57843 w 81668"/>
                  <a:gd name="connsiteY1" fmla="*/ 17192 h 94212"/>
                  <a:gd name="connsiteX2" fmla="*/ 42162 w 81668"/>
                  <a:gd name="connsiteY2" fmla="*/ 54237 h 94212"/>
                  <a:gd name="connsiteX3" fmla="*/ -567 w 81668"/>
                  <a:gd name="connsiteY3" fmla="*/ 94026 h 94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1668" h="94212">
                    <a:moveTo>
                      <a:pt x="81102" y="-187"/>
                    </a:moveTo>
                    <a:cubicBezTo>
                      <a:pt x="75489" y="8026"/>
                      <a:pt x="67309" y="14134"/>
                      <a:pt x="57843" y="17192"/>
                    </a:cubicBezTo>
                    <a:cubicBezTo>
                      <a:pt x="57843" y="17192"/>
                      <a:pt x="66467" y="44829"/>
                      <a:pt x="42162" y="54237"/>
                    </a:cubicBezTo>
                    <a:cubicBezTo>
                      <a:pt x="42162" y="54237"/>
                      <a:pt x="57451" y="93960"/>
                      <a:pt x="-567" y="94026"/>
                    </a:cubicBezTo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 16">
                <a:extLst>
                  <a:ext uri="{FF2B5EF4-FFF2-40B4-BE49-F238E27FC236}">
                    <a16:creationId xmlns:a16="http://schemas.microsoft.com/office/drawing/2014/main" id="{6CBC1BE4-9205-4640-8095-7DBFDB3D5304}"/>
                  </a:ext>
                </a:extLst>
              </p:cNvPr>
              <p:cNvSpPr/>
              <p:nvPr/>
            </p:nvSpPr>
            <p:spPr>
              <a:xfrm>
                <a:off x="5471465" y="2602909"/>
                <a:ext cx="84935" cy="26067"/>
              </a:xfrm>
              <a:custGeom>
                <a:avLst/>
                <a:gdLst>
                  <a:gd name="connsiteX0" fmla="*/ 84368 w 84935"/>
                  <a:gd name="connsiteY0" fmla="*/ 25880 h 26067"/>
                  <a:gd name="connsiteX1" fmla="*/ -567 w 84935"/>
                  <a:gd name="connsiteY1" fmla="*/ 138 h 26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4935" h="26067">
                    <a:moveTo>
                      <a:pt x="84368" y="25880"/>
                    </a:moveTo>
                    <a:cubicBezTo>
                      <a:pt x="84368" y="25880"/>
                      <a:pt x="19818" y="-3586"/>
                      <a:pt x="-567" y="138"/>
                    </a:cubicBezTo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任意多边形 17">
                <a:extLst>
                  <a:ext uri="{FF2B5EF4-FFF2-40B4-BE49-F238E27FC236}">
                    <a16:creationId xmlns:a16="http://schemas.microsoft.com/office/drawing/2014/main" id="{E5679E15-063F-41C1-8C0E-E79DE80198C7}"/>
                  </a:ext>
                </a:extLst>
              </p:cNvPr>
              <p:cNvSpPr/>
              <p:nvPr/>
            </p:nvSpPr>
            <p:spPr>
              <a:xfrm>
                <a:off x="5490412" y="2561598"/>
                <a:ext cx="77029" cy="31117"/>
              </a:xfrm>
              <a:custGeom>
                <a:avLst/>
                <a:gdLst>
                  <a:gd name="connsiteX0" fmla="*/ 76463 w 77029"/>
                  <a:gd name="connsiteY0" fmla="*/ 30931 h 31117"/>
                  <a:gd name="connsiteX1" fmla="*/ -567 w 77029"/>
                  <a:gd name="connsiteY1" fmla="*/ 1008 h 31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7029" h="31117">
                    <a:moveTo>
                      <a:pt x="76463" y="30931"/>
                    </a:moveTo>
                    <a:cubicBezTo>
                      <a:pt x="76463" y="30931"/>
                      <a:pt x="17661" y="-7355"/>
                      <a:pt x="-567" y="1008"/>
                    </a:cubicBezTo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" name="任意多边形 18">
                <a:extLst>
                  <a:ext uri="{FF2B5EF4-FFF2-40B4-BE49-F238E27FC236}">
                    <a16:creationId xmlns:a16="http://schemas.microsoft.com/office/drawing/2014/main" id="{1DE6A474-F547-4330-8056-8FF12F1922AA}"/>
                  </a:ext>
                </a:extLst>
              </p:cNvPr>
              <p:cNvSpPr/>
              <p:nvPr/>
            </p:nvSpPr>
            <p:spPr>
              <a:xfrm>
                <a:off x="5409920" y="2628715"/>
                <a:ext cx="16236" cy="68536"/>
              </a:xfrm>
              <a:custGeom>
                <a:avLst/>
                <a:gdLst>
                  <a:gd name="connsiteX0" fmla="*/ -567 w 16236"/>
                  <a:gd name="connsiteY0" fmla="*/ 68349 h 68536"/>
                  <a:gd name="connsiteX1" fmla="*/ 13611 w 16236"/>
                  <a:gd name="connsiteY1" fmla="*/ -187 h 68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236" h="68536">
                    <a:moveTo>
                      <a:pt x="-567" y="68349"/>
                    </a:moveTo>
                    <a:cubicBezTo>
                      <a:pt x="-567" y="68349"/>
                      <a:pt x="22562" y="33068"/>
                      <a:pt x="13611" y="-187"/>
                    </a:cubicBezTo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多边形 19">
                <a:extLst>
                  <a:ext uri="{FF2B5EF4-FFF2-40B4-BE49-F238E27FC236}">
                    <a16:creationId xmlns:a16="http://schemas.microsoft.com/office/drawing/2014/main" id="{C95F5F79-FF97-459A-9379-E69F0D2EEBB2}"/>
                  </a:ext>
                </a:extLst>
              </p:cNvPr>
              <p:cNvSpPr/>
              <p:nvPr/>
            </p:nvSpPr>
            <p:spPr>
              <a:xfrm>
                <a:off x="5413579" y="2685033"/>
                <a:ext cx="36391" cy="11041"/>
              </a:xfrm>
              <a:custGeom>
                <a:avLst/>
                <a:gdLst>
                  <a:gd name="connsiteX0" fmla="*/ -567 w 36391"/>
                  <a:gd name="connsiteY0" fmla="*/ -187 h 11041"/>
                  <a:gd name="connsiteX1" fmla="*/ 35825 w 36391"/>
                  <a:gd name="connsiteY1" fmla="*/ 10855 h 110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391" h="11041">
                    <a:moveTo>
                      <a:pt x="-567" y="-187"/>
                    </a:moveTo>
                    <a:cubicBezTo>
                      <a:pt x="11122" y="4824"/>
                      <a:pt x="23326" y="8529"/>
                      <a:pt x="35825" y="10855"/>
                    </a:cubicBezTo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任意多边形 20">
                <a:extLst>
                  <a:ext uri="{FF2B5EF4-FFF2-40B4-BE49-F238E27FC236}">
                    <a16:creationId xmlns:a16="http://schemas.microsoft.com/office/drawing/2014/main" id="{F4CE48DD-3E9C-4DF1-BA1B-1D48D3619E30}"/>
                  </a:ext>
                </a:extLst>
              </p:cNvPr>
              <p:cNvSpPr/>
              <p:nvPr/>
            </p:nvSpPr>
            <p:spPr>
              <a:xfrm>
                <a:off x="5426450" y="2602858"/>
                <a:ext cx="281396" cy="184554"/>
              </a:xfrm>
              <a:custGeom>
                <a:avLst/>
                <a:gdLst>
                  <a:gd name="connsiteX0" fmla="*/ 280830 w 281396"/>
                  <a:gd name="connsiteY0" fmla="*/ 119229 h 184554"/>
                  <a:gd name="connsiteX1" fmla="*/ 139446 w 281396"/>
                  <a:gd name="connsiteY1" fmla="*/ 62322 h 184554"/>
                  <a:gd name="connsiteX2" fmla="*/ 84368 w 281396"/>
                  <a:gd name="connsiteY2" fmla="*/ 65524 h 184554"/>
                  <a:gd name="connsiteX3" fmla="*/ -567 w 281396"/>
                  <a:gd name="connsiteY3" fmla="*/ 4371 h 184554"/>
                  <a:gd name="connsiteX4" fmla="*/ 51701 w 281396"/>
                  <a:gd name="connsiteY4" fmla="*/ 128180 h 184554"/>
                  <a:gd name="connsiteX5" fmla="*/ 194000 w 281396"/>
                  <a:gd name="connsiteY5" fmla="*/ 184368 h 184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1396" h="184554">
                    <a:moveTo>
                      <a:pt x="280830" y="119229"/>
                    </a:moveTo>
                    <a:cubicBezTo>
                      <a:pt x="280830" y="119229"/>
                      <a:pt x="206740" y="36776"/>
                      <a:pt x="139446" y="62322"/>
                    </a:cubicBezTo>
                    <a:cubicBezTo>
                      <a:pt x="121511" y="67229"/>
                      <a:pt x="102747" y="68320"/>
                      <a:pt x="84368" y="65524"/>
                    </a:cubicBezTo>
                    <a:cubicBezTo>
                      <a:pt x="84368" y="65524"/>
                      <a:pt x="32688" y="-20653"/>
                      <a:pt x="-567" y="4371"/>
                    </a:cubicBezTo>
                    <a:lnTo>
                      <a:pt x="51701" y="128180"/>
                    </a:lnTo>
                    <a:cubicBezTo>
                      <a:pt x="91503" y="162311"/>
                      <a:pt x="141614" y="182101"/>
                      <a:pt x="194000" y="184368"/>
                    </a:cubicBezTo>
                  </a:path>
                </a:pathLst>
              </a:custGeom>
              <a:solidFill>
                <a:srgbClr val="FCB9AE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任意多边形 21">
                <a:extLst>
                  <a:ext uri="{FF2B5EF4-FFF2-40B4-BE49-F238E27FC236}">
                    <a16:creationId xmlns:a16="http://schemas.microsoft.com/office/drawing/2014/main" id="{DD122AFD-E13D-4293-BF3D-C01A86098A69}"/>
                  </a:ext>
                </a:extLst>
              </p:cNvPr>
              <p:cNvSpPr/>
              <p:nvPr/>
            </p:nvSpPr>
            <p:spPr>
              <a:xfrm>
                <a:off x="5426450" y="2602858"/>
                <a:ext cx="281396" cy="184489"/>
              </a:xfrm>
              <a:custGeom>
                <a:avLst/>
                <a:gdLst>
                  <a:gd name="connsiteX0" fmla="*/ 280830 w 281396"/>
                  <a:gd name="connsiteY0" fmla="*/ 119229 h 184489"/>
                  <a:gd name="connsiteX1" fmla="*/ 139446 w 281396"/>
                  <a:gd name="connsiteY1" fmla="*/ 62322 h 184489"/>
                  <a:gd name="connsiteX2" fmla="*/ 84368 w 281396"/>
                  <a:gd name="connsiteY2" fmla="*/ 65524 h 184489"/>
                  <a:gd name="connsiteX3" fmla="*/ -567 w 281396"/>
                  <a:gd name="connsiteY3" fmla="*/ 4371 h 184489"/>
                  <a:gd name="connsiteX4" fmla="*/ 51701 w 281396"/>
                  <a:gd name="connsiteY4" fmla="*/ 128180 h 184489"/>
                  <a:gd name="connsiteX5" fmla="*/ 194000 w 281396"/>
                  <a:gd name="connsiteY5" fmla="*/ 184302 h 184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1396" h="184489">
                    <a:moveTo>
                      <a:pt x="280830" y="119229"/>
                    </a:moveTo>
                    <a:cubicBezTo>
                      <a:pt x="280830" y="119229"/>
                      <a:pt x="206740" y="36776"/>
                      <a:pt x="139446" y="62322"/>
                    </a:cubicBezTo>
                    <a:cubicBezTo>
                      <a:pt x="121511" y="67229"/>
                      <a:pt x="102747" y="68320"/>
                      <a:pt x="84368" y="65524"/>
                    </a:cubicBezTo>
                    <a:cubicBezTo>
                      <a:pt x="84368" y="65524"/>
                      <a:pt x="32688" y="-20653"/>
                      <a:pt x="-567" y="4371"/>
                    </a:cubicBezTo>
                    <a:lnTo>
                      <a:pt x="51701" y="128180"/>
                    </a:lnTo>
                    <a:cubicBezTo>
                      <a:pt x="91496" y="162324"/>
                      <a:pt x="141614" y="182087"/>
                      <a:pt x="194000" y="184302"/>
                    </a:cubicBezTo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任意多边形 22">
                <a:extLst>
                  <a:ext uri="{FF2B5EF4-FFF2-40B4-BE49-F238E27FC236}">
                    <a16:creationId xmlns:a16="http://schemas.microsoft.com/office/drawing/2014/main" id="{5F5E4150-E6E8-44B8-855A-13294253BF1F}"/>
                  </a:ext>
                </a:extLst>
              </p:cNvPr>
              <p:cNvSpPr/>
              <p:nvPr/>
            </p:nvSpPr>
            <p:spPr>
              <a:xfrm>
                <a:off x="5831329" y="2914263"/>
                <a:ext cx="673276" cy="646908"/>
              </a:xfrm>
              <a:custGeom>
                <a:avLst/>
                <a:gdLst>
                  <a:gd name="connsiteX0" fmla="*/ 602473 w 673276"/>
                  <a:gd name="connsiteY0" fmla="*/ 1933 h 646908"/>
                  <a:gd name="connsiteX1" fmla="*/ 670617 w 673276"/>
                  <a:gd name="connsiteY1" fmla="*/ 39873 h 646908"/>
                  <a:gd name="connsiteX2" fmla="*/ 671466 w 673276"/>
                  <a:gd name="connsiteY2" fmla="*/ 66615 h 646908"/>
                  <a:gd name="connsiteX3" fmla="*/ 532173 w 673276"/>
                  <a:gd name="connsiteY3" fmla="*/ 350298 h 646908"/>
                  <a:gd name="connsiteX4" fmla="*/ 144215 w 673276"/>
                  <a:gd name="connsiteY4" fmla="*/ 646722 h 646908"/>
                  <a:gd name="connsiteX5" fmla="*/ -567 w 673276"/>
                  <a:gd name="connsiteY5" fmla="*/ 303911 h 646908"/>
                  <a:gd name="connsiteX6" fmla="*/ 494409 w 673276"/>
                  <a:gd name="connsiteY6" fmla="*/ 32641 h 646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3276" h="646908">
                    <a:moveTo>
                      <a:pt x="602473" y="1933"/>
                    </a:moveTo>
                    <a:cubicBezTo>
                      <a:pt x="631743" y="-6403"/>
                      <a:pt x="662254" y="10584"/>
                      <a:pt x="670617" y="39873"/>
                    </a:cubicBezTo>
                    <a:cubicBezTo>
                      <a:pt x="673100" y="48582"/>
                      <a:pt x="673361" y="57768"/>
                      <a:pt x="671466" y="66615"/>
                    </a:cubicBezTo>
                    <a:cubicBezTo>
                      <a:pt x="655198" y="142403"/>
                      <a:pt x="617827" y="254452"/>
                      <a:pt x="532173" y="350298"/>
                    </a:cubicBezTo>
                    <a:cubicBezTo>
                      <a:pt x="450831" y="441309"/>
                      <a:pt x="144215" y="646722"/>
                      <a:pt x="144215" y="646722"/>
                    </a:cubicBezTo>
                    <a:lnTo>
                      <a:pt x="-567" y="303911"/>
                    </a:lnTo>
                    <a:cubicBezTo>
                      <a:pt x="106452" y="207476"/>
                      <a:pt x="494409" y="32641"/>
                      <a:pt x="494409" y="32641"/>
                    </a:cubicBezTo>
                    <a:close/>
                  </a:path>
                </a:pathLst>
              </a:custGeom>
              <a:solidFill>
                <a:srgbClr val="FCB9AE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任意多边形 23">
                <a:extLst>
                  <a:ext uri="{FF2B5EF4-FFF2-40B4-BE49-F238E27FC236}">
                    <a16:creationId xmlns:a16="http://schemas.microsoft.com/office/drawing/2014/main" id="{A3E10381-CF1B-4465-96CE-41B93E95D8A0}"/>
                  </a:ext>
                </a:extLst>
              </p:cNvPr>
              <p:cNvSpPr/>
              <p:nvPr/>
            </p:nvSpPr>
            <p:spPr>
              <a:xfrm>
                <a:off x="4872620" y="3229729"/>
                <a:ext cx="1227561" cy="1800960"/>
              </a:xfrm>
              <a:custGeom>
                <a:avLst/>
                <a:gdLst>
                  <a:gd name="connsiteX0" fmla="*/ 27384 w 1227561"/>
                  <a:gd name="connsiteY0" fmla="*/ 261152 h 1800960"/>
                  <a:gd name="connsiteX1" fmla="*/ 494919 w 1227561"/>
                  <a:gd name="connsiteY1" fmla="*/ 104349 h 1800960"/>
                  <a:gd name="connsiteX2" fmla="*/ 1110960 w 1227561"/>
                  <a:gd name="connsiteY2" fmla="*/ -187 h 1800960"/>
                  <a:gd name="connsiteX3" fmla="*/ 1033865 w 1227561"/>
                  <a:gd name="connsiteY3" fmla="*/ 1137618 h 1800960"/>
                  <a:gd name="connsiteX4" fmla="*/ 1226995 w 1227561"/>
                  <a:gd name="connsiteY4" fmla="*/ 1419014 h 1800960"/>
                  <a:gd name="connsiteX5" fmla="*/ 175105 w 1227561"/>
                  <a:gd name="connsiteY5" fmla="*/ 1799589 h 1800960"/>
                  <a:gd name="connsiteX6" fmla="*/ 100363 w 1227561"/>
                  <a:gd name="connsiteY6" fmla="*/ 1285143 h 1800960"/>
                  <a:gd name="connsiteX7" fmla="*/ 27384 w 1227561"/>
                  <a:gd name="connsiteY7" fmla="*/ 261152 h 1800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27561" h="1800960">
                    <a:moveTo>
                      <a:pt x="27384" y="261152"/>
                    </a:moveTo>
                    <a:cubicBezTo>
                      <a:pt x="178908" y="196791"/>
                      <a:pt x="335228" y="144360"/>
                      <a:pt x="494919" y="104349"/>
                    </a:cubicBezTo>
                    <a:cubicBezTo>
                      <a:pt x="730124" y="49075"/>
                      <a:pt x="1110960" y="-187"/>
                      <a:pt x="1110960" y="-187"/>
                    </a:cubicBezTo>
                    <a:cubicBezTo>
                      <a:pt x="1110960" y="-187"/>
                      <a:pt x="1006425" y="1073067"/>
                      <a:pt x="1033865" y="1137618"/>
                    </a:cubicBezTo>
                    <a:cubicBezTo>
                      <a:pt x="1061306" y="1202168"/>
                      <a:pt x="1226995" y="1419014"/>
                      <a:pt x="1226995" y="1419014"/>
                    </a:cubicBezTo>
                    <a:cubicBezTo>
                      <a:pt x="1226995" y="1419014"/>
                      <a:pt x="331125" y="1769731"/>
                      <a:pt x="175105" y="1799589"/>
                    </a:cubicBezTo>
                    <a:cubicBezTo>
                      <a:pt x="19086" y="1829447"/>
                      <a:pt x="100363" y="1285143"/>
                      <a:pt x="100363" y="1285143"/>
                    </a:cubicBezTo>
                    <a:cubicBezTo>
                      <a:pt x="100363" y="1285143"/>
                      <a:pt x="-64738" y="593249"/>
                      <a:pt x="27384" y="261152"/>
                    </a:cubicBezTo>
                    <a:close/>
                  </a:path>
                </a:pathLst>
              </a:custGeom>
              <a:solidFill>
                <a:srgbClr val="F1C649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6" name="任意多边形 24">
                <a:extLst>
                  <a:ext uri="{FF2B5EF4-FFF2-40B4-BE49-F238E27FC236}">
                    <a16:creationId xmlns:a16="http://schemas.microsoft.com/office/drawing/2014/main" id="{24665486-A6E5-4227-AE02-7726D2CF8633}"/>
                  </a:ext>
                </a:extLst>
              </p:cNvPr>
              <p:cNvSpPr/>
              <p:nvPr/>
            </p:nvSpPr>
            <p:spPr>
              <a:xfrm>
                <a:off x="5194903" y="3066484"/>
                <a:ext cx="348009" cy="396345"/>
              </a:xfrm>
              <a:custGeom>
                <a:avLst/>
                <a:gdLst>
                  <a:gd name="connsiteX0" fmla="*/ 26678 w 348009"/>
                  <a:gd name="connsiteY0" fmla="*/ 310062 h 396345"/>
                  <a:gd name="connsiteX1" fmla="*/ 61501 w 348009"/>
                  <a:gd name="connsiteY1" fmla="*/ 372260 h 396345"/>
                  <a:gd name="connsiteX2" fmla="*/ 346230 w 348009"/>
                  <a:gd name="connsiteY2" fmla="*/ 320972 h 396345"/>
                  <a:gd name="connsiteX3" fmla="*/ 301149 w 348009"/>
                  <a:gd name="connsiteY3" fmla="*/ 236037 h 396345"/>
                  <a:gd name="connsiteX4" fmla="*/ 333816 w 348009"/>
                  <a:gd name="connsiteY4" fmla="*/ 138035 h 396345"/>
                  <a:gd name="connsiteX5" fmla="*/ 309316 w 348009"/>
                  <a:gd name="connsiteY5" fmla="*/ 40033 h 396345"/>
                  <a:gd name="connsiteX6" fmla="*/ -567 w 348009"/>
                  <a:gd name="connsiteY6" fmla="*/ 77797 h 396345"/>
                  <a:gd name="connsiteX7" fmla="*/ 26678 w 348009"/>
                  <a:gd name="connsiteY7" fmla="*/ 310062 h 396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8009" h="396345">
                    <a:moveTo>
                      <a:pt x="26678" y="310062"/>
                    </a:moveTo>
                    <a:cubicBezTo>
                      <a:pt x="26678" y="310062"/>
                      <a:pt x="5248" y="350896"/>
                      <a:pt x="61501" y="372260"/>
                    </a:cubicBezTo>
                    <a:cubicBezTo>
                      <a:pt x="207393" y="426749"/>
                      <a:pt x="362760" y="378794"/>
                      <a:pt x="346230" y="320972"/>
                    </a:cubicBezTo>
                    <a:cubicBezTo>
                      <a:pt x="339696" y="298955"/>
                      <a:pt x="306702" y="317248"/>
                      <a:pt x="301149" y="236037"/>
                    </a:cubicBezTo>
                    <a:cubicBezTo>
                      <a:pt x="296445" y="167109"/>
                      <a:pt x="319508" y="157636"/>
                      <a:pt x="333816" y="138035"/>
                    </a:cubicBezTo>
                    <a:cubicBezTo>
                      <a:pt x="349366" y="116148"/>
                      <a:pt x="291610" y="60091"/>
                      <a:pt x="309316" y="40033"/>
                    </a:cubicBezTo>
                    <a:cubicBezTo>
                      <a:pt x="309316" y="40033"/>
                      <a:pt x="171133" y="-71951"/>
                      <a:pt x="-567" y="77797"/>
                    </a:cubicBezTo>
                    <a:cubicBezTo>
                      <a:pt x="-44" y="76490"/>
                      <a:pt x="63788" y="109157"/>
                      <a:pt x="26678" y="310062"/>
                    </a:cubicBezTo>
                    <a:close/>
                  </a:path>
                </a:pathLst>
              </a:custGeom>
              <a:solidFill>
                <a:srgbClr val="FCB9AE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 25">
                <a:extLst>
                  <a:ext uri="{FF2B5EF4-FFF2-40B4-BE49-F238E27FC236}">
                    <a16:creationId xmlns:a16="http://schemas.microsoft.com/office/drawing/2014/main" id="{69A71E4F-365B-4E98-846A-0D68C44BB720}"/>
                  </a:ext>
                </a:extLst>
              </p:cNvPr>
              <p:cNvSpPr/>
              <p:nvPr/>
            </p:nvSpPr>
            <p:spPr>
              <a:xfrm>
                <a:off x="4899511" y="4609513"/>
                <a:ext cx="1944319" cy="887040"/>
              </a:xfrm>
              <a:custGeom>
                <a:avLst/>
                <a:gdLst>
                  <a:gd name="connsiteX0" fmla="*/ 35773 w 1944319"/>
                  <a:gd name="connsiteY0" fmla="*/ 675852 h 887040"/>
                  <a:gd name="connsiteX1" fmla="*/ 840044 w 1944319"/>
                  <a:gd name="connsiteY1" fmla="*/ 886426 h 887040"/>
                  <a:gd name="connsiteX2" fmla="*/ 1865799 w 1944319"/>
                  <a:gd name="connsiteY2" fmla="*/ 465343 h 887040"/>
                  <a:gd name="connsiteX3" fmla="*/ 1850772 w 1944319"/>
                  <a:gd name="connsiteY3" fmla="*/ 42301 h 887040"/>
                  <a:gd name="connsiteX4" fmla="*/ 1804319 w 1944319"/>
                  <a:gd name="connsiteY4" fmla="*/ 12312 h 887040"/>
                  <a:gd name="connsiteX5" fmla="*/ 900870 w 1944319"/>
                  <a:gd name="connsiteY5" fmla="*/ 149515 h 887040"/>
                  <a:gd name="connsiteX6" fmla="*/ 834359 w 1944319"/>
                  <a:gd name="connsiteY6" fmla="*/ 121160 h 887040"/>
                  <a:gd name="connsiteX7" fmla="*/ 629600 w 1944319"/>
                  <a:gd name="connsiteY7" fmla="*/ 203808 h 887040"/>
                  <a:gd name="connsiteX8" fmla="*/ 205382 w 1944319"/>
                  <a:gd name="connsiteY8" fmla="*/ 213935 h 887040"/>
                  <a:gd name="connsiteX9" fmla="*/ 164221 w 1944319"/>
                  <a:gd name="connsiteY9" fmla="*/ 243728 h 887040"/>
                  <a:gd name="connsiteX10" fmla="*/ 35773 w 1944319"/>
                  <a:gd name="connsiteY10" fmla="*/ 675852 h 887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44319" h="887040">
                    <a:moveTo>
                      <a:pt x="35773" y="675852"/>
                    </a:moveTo>
                    <a:cubicBezTo>
                      <a:pt x="126719" y="823247"/>
                      <a:pt x="588178" y="893025"/>
                      <a:pt x="840044" y="886426"/>
                    </a:cubicBezTo>
                    <a:cubicBezTo>
                      <a:pt x="1091909" y="879827"/>
                      <a:pt x="1816733" y="538192"/>
                      <a:pt x="1865799" y="465343"/>
                    </a:cubicBezTo>
                    <a:cubicBezTo>
                      <a:pt x="1911533" y="398375"/>
                      <a:pt x="2023256" y="176368"/>
                      <a:pt x="1850772" y="42301"/>
                    </a:cubicBezTo>
                    <a:cubicBezTo>
                      <a:pt x="1836137" y="31050"/>
                      <a:pt x="1820587" y="21021"/>
                      <a:pt x="1804319" y="12312"/>
                    </a:cubicBezTo>
                    <a:cubicBezTo>
                      <a:pt x="1686194" y="-51454"/>
                      <a:pt x="900870" y="149515"/>
                      <a:pt x="900870" y="149515"/>
                    </a:cubicBezTo>
                    <a:cubicBezTo>
                      <a:pt x="900870" y="149515"/>
                      <a:pt x="852196" y="118873"/>
                      <a:pt x="834359" y="121160"/>
                    </a:cubicBezTo>
                    <a:cubicBezTo>
                      <a:pt x="779544" y="128085"/>
                      <a:pt x="740277" y="172317"/>
                      <a:pt x="629600" y="203808"/>
                    </a:cubicBezTo>
                    <a:cubicBezTo>
                      <a:pt x="552114" y="225891"/>
                      <a:pt x="340494" y="140956"/>
                      <a:pt x="205382" y="213935"/>
                    </a:cubicBezTo>
                    <a:cubicBezTo>
                      <a:pt x="190368" y="221945"/>
                      <a:pt x="176524" y="231967"/>
                      <a:pt x="164221" y="243728"/>
                    </a:cubicBezTo>
                    <a:cubicBezTo>
                      <a:pt x="38060" y="364074"/>
                      <a:pt x="-55042" y="528130"/>
                      <a:pt x="35773" y="675852"/>
                    </a:cubicBezTo>
                    <a:close/>
                  </a:path>
                </a:pathLst>
              </a:custGeom>
              <a:solidFill>
                <a:srgbClr val="557FF6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任意多边形 26">
                <a:extLst>
                  <a:ext uri="{FF2B5EF4-FFF2-40B4-BE49-F238E27FC236}">
                    <a16:creationId xmlns:a16="http://schemas.microsoft.com/office/drawing/2014/main" id="{540FAF5B-0B7A-46F1-A1D7-9ED883143435}"/>
                  </a:ext>
                </a:extLst>
              </p:cNvPr>
              <p:cNvSpPr/>
              <p:nvPr/>
            </p:nvSpPr>
            <p:spPr>
              <a:xfrm>
                <a:off x="5101082" y="4613977"/>
                <a:ext cx="1648657" cy="573637"/>
              </a:xfrm>
              <a:custGeom>
                <a:avLst/>
                <a:gdLst>
                  <a:gd name="connsiteX0" fmla="*/ -567 w 1648657"/>
                  <a:gd name="connsiteY0" fmla="*/ 212999 h 573637"/>
                  <a:gd name="connsiteX1" fmla="*/ 348321 w 1648657"/>
                  <a:gd name="connsiteY1" fmla="*/ 283038 h 573637"/>
                  <a:gd name="connsiteX2" fmla="*/ 934569 w 1648657"/>
                  <a:gd name="connsiteY2" fmla="*/ 573451 h 573637"/>
                  <a:gd name="connsiteX3" fmla="*/ 906541 w 1648657"/>
                  <a:gd name="connsiteY3" fmla="*/ 498773 h 573637"/>
                  <a:gd name="connsiteX4" fmla="*/ 1071054 w 1648657"/>
                  <a:gd name="connsiteY4" fmla="*/ 427559 h 573637"/>
                  <a:gd name="connsiteX5" fmla="*/ 1648091 w 1648657"/>
                  <a:gd name="connsiteY5" fmla="*/ 42084 h 573637"/>
                  <a:gd name="connsiteX6" fmla="*/ 1601571 w 1648657"/>
                  <a:gd name="connsiteY6" fmla="*/ 12226 h 573637"/>
                  <a:gd name="connsiteX7" fmla="*/ 696294 w 1648657"/>
                  <a:gd name="connsiteY7" fmla="*/ 148775 h 573637"/>
                  <a:gd name="connsiteX8" fmla="*/ 629652 w 1648657"/>
                  <a:gd name="connsiteY8" fmla="*/ 120485 h 573637"/>
                  <a:gd name="connsiteX9" fmla="*/ 424566 w 1648657"/>
                  <a:gd name="connsiteY9" fmla="*/ 202676 h 573637"/>
                  <a:gd name="connsiteX10" fmla="*/ -567 w 1648657"/>
                  <a:gd name="connsiteY10" fmla="*/ 212999 h 57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48657" h="573637">
                    <a:moveTo>
                      <a:pt x="-567" y="212999"/>
                    </a:moveTo>
                    <a:cubicBezTo>
                      <a:pt x="138205" y="203787"/>
                      <a:pt x="261949" y="232600"/>
                      <a:pt x="348321" y="283038"/>
                    </a:cubicBezTo>
                    <a:cubicBezTo>
                      <a:pt x="450766" y="342950"/>
                      <a:pt x="934569" y="573451"/>
                      <a:pt x="934569" y="573451"/>
                    </a:cubicBezTo>
                    <a:cubicBezTo>
                      <a:pt x="933459" y="548689"/>
                      <a:pt x="906541" y="498773"/>
                      <a:pt x="906541" y="498773"/>
                    </a:cubicBezTo>
                    <a:cubicBezTo>
                      <a:pt x="952275" y="458854"/>
                      <a:pt x="1071054" y="427559"/>
                      <a:pt x="1071054" y="427559"/>
                    </a:cubicBezTo>
                    <a:cubicBezTo>
                      <a:pt x="1163241" y="349614"/>
                      <a:pt x="1528397" y="117219"/>
                      <a:pt x="1648091" y="42084"/>
                    </a:cubicBezTo>
                    <a:cubicBezTo>
                      <a:pt x="1633455" y="30859"/>
                      <a:pt x="1617905" y="20876"/>
                      <a:pt x="1601571" y="12226"/>
                    </a:cubicBezTo>
                    <a:cubicBezTo>
                      <a:pt x="1483251" y="-51149"/>
                      <a:pt x="696294" y="148775"/>
                      <a:pt x="696294" y="148775"/>
                    </a:cubicBezTo>
                    <a:cubicBezTo>
                      <a:pt x="696294" y="148775"/>
                      <a:pt x="647554" y="118264"/>
                      <a:pt x="629652" y="120485"/>
                    </a:cubicBezTo>
                    <a:cubicBezTo>
                      <a:pt x="574771" y="127411"/>
                      <a:pt x="535440" y="171381"/>
                      <a:pt x="424566" y="202676"/>
                    </a:cubicBezTo>
                    <a:cubicBezTo>
                      <a:pt x="346492" y="224629"/>
                      <a:pt x="134872" y="140216"/>
                      <a:pt x="-567" y="212999"/>
                    </a:cubicBezTo>
                    <a:close/>
                  </a:path>
                </a:pathLst>
              </a:custGeom>
              <a:solidFill>
                <a:srgbClr val="445FA3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 27">
                <a:extLst>
                  <a:ext uri="{FF2B5EF4-FFF2-40B4-BE49-F238E27FC236}">
                    <a16:creationId xmlns:a16="http://schemas.microsoft.com/office/drawing/2014/main" id="{18A893F3-89AD-4520-8A85-1D22B84237FF}"/>
                  </a:ext>
                </a:extLst>
              </p:cNvPr>
              <p:cNvSpPr/>
              <p:nvPr/>
            </p:nvSpPr>
            <p:spPr>
              <a:xfrm>
                <a:off x="5101082" y="4613977"/>
                <a:ext cx="1648657" cy="573637"/>
              </a:xfrm>
              <a:custGeom>
                <a:avLst/>
                <a:gdLst>
                  <a:gd name="connsiteX0" fmla="*/ -567 w 1648657"/>
                  <a:gd name="connsiteY0" fmla="*/ 212999 h 573637"/>
                  <a:gd name="connsiteX1" fmla="*/ 348321 w 1648657"/>
                  <a:gd name="connsiteY1" fmla="*/ 283038 h 573637"/>
                  <a:gd name="connsiteX2" fmla="*/ 934569 w 1648657"/>
                  <a:gd name="connsiteY2" fmla="*/ 573451 h 573637"/>
                  <a:gd name="connsiteX3" fmla="*/ 906541 w 1648657"/>
                  <a:gd name="connsiteY3" fmla="*/ 498773 h 573637"/>
                  <a:gd name="connsiteX4" fmla="*/ 1071054 w 1648657"/>
                  <a:gd name="connsiteY4" fmla="*/ 427559 h 573637"/>
                  <a:gd name="connsiteX5" fmla="*/ 1648091 w 1648657"/>
                  <a:gd name="connsiteY5" fmla="*/ 42084 h 573637"/>
                  <a:gd name="connsiteX6" fmla="*/ 1601571 w 1648657"/>
                  <a:gd name="connsiteY6" fmla="*/ 12226 h 573637"/>
                  <a:gd name="connsiteX7" fmla="*/ 696294 w 1648657"/>
                  <a:gd name="connsiteY7" fmla="*/ 148775 h 573637"/>
                  <a:gd name="connsiteX8" fmla="*/ 629652 w 1648657"/>
                  <a:gd name="connsiteY8" fmla="*/ 120485 h 573637"/>
                  <a:gd name="connsiteX9" fmla="*/ 424566 w 1648657"/>
                  <a:gd name="connsiteY9" fmla="*/ 202676 h 573637"/>
                  <a:gd name="connsiteX10" fmla="*/ -567 w 1648657"/>
                  <a:gd name="connsiteY10" fmla="*/ 212999 h 57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48657" h="573637">
                    <a:moveTo>
                      <a:pt x="-567" y="212999"/>
                    </a:moveTo>
                    <a:cubicBezTo>
                      <a:pt x="138205" y="203787"/>
                      <a:pt x="261949" y="232600"/>
                      <a:pt x="348321" y="283038"/>
                    </a:cubicBezTo>
                    <a:cubicBezTo>
                      <a:pt x="450766" y="342950"/>
                      <a:pt x="934569" y="573451"/>
                      <a:pt x="934569" y="573451"/>
                    </a:cubicBezTo>
                    <a:cubicBezTo>
                      <a:pt x="933459" y="548689"/>
                      <a:pt x="906541" y="498773"/>
                      <a:pt x="906541" y="498773"/>
                    </a:cubicBezTo>
                    <a:cubicBezTo>
                      <a:pt x="952275" y="458854"/>
                      <a:pt x="1071054" y="427559"/>
                      <a:pt x="1071054" y="427559"/>
                    </a:cubicBezTo>
                    <a:cubicBezTo>
                      <a:pt x="1163241" y="349614"/>
                      <a:pt x="1528397" y="117219"/>
                      <a:pt x="1648091" y="42084"/>
                    </a:cubicBezTo>
                    <a:cubicBezTo>
                      <a:pt x="1633455" y="30859"/>
                      <a:pt x="1617905" y="20876"/>
                      <a:pt x="1601571" y="12226"/>
                    </a:cubicBezTo>
                    <a:cubicBezTo>
                      <a:pt x="1483251" y="-51149"/>
                      <a:pt x="696294" y="148775"/>
                      <a:pt x="696294" y="148775"/>
                    </a:cubicBezTo>
                    <a:cubicBezTo>
                      <a:pt x="696294" y="148775"/>
                      <a:pt x="647554" y="118264"/>
                      <a:pt x="629652" y="120485"/>
                    </a:cubicBezTo>
                    <a:cubicBezTo>
                      <a:pt x="574771" y="127411"/>
                      <a:pt x="535440" y="171381"/>
                      <a:pt x="424566" y="202676"/>
                    </a:cubicBezTo>
                    <a:cubicBezTo>
                      <a:pt x="346492" y="224629"/>
                      <a:pt x="134872" y="140216"/>
                      <a:pt x="-567" y="212999"/>
                    </a:cubicBezTo>
                    <a:close/>
                  </a:path>
                </a:pathLst>
              </a:custGeom>
              <a:noFill/>
              <a:ln w="163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多边形 28">
                <a:extLst>
                  <a:ext uri="{FF2B5EF4-FFF2-40B4-BE49-F238E27FC236}">
                    <a16:creationId xmlns:a16="http://schemas.microsoft.com/office/drawing/2014/main" id="{76A0B057-5CFC-4AE6-A719-DB218B033532}"/>
                  </a:ext>
                </a:extLst>
              </p:cNvPr>
              <p:cNvSpPr/>
              <p:nvPr/>
            </p:nvSpPr>
            <p:spPr>
              <a:xfrm>
                <a:off x="4895005" y="4613976"/>
                <a:ext cx="1944369" cy="887077"/>
              </a:xfrm>
              <a:custGeom>
                <a:avLst/>
                <a:gdLst>
                  <a:gd name="connsiteX0" fmla="*/ 35771 w 1944369"/>
                  <a:gd name="connsiteY0" fmla="*/ 675897 h 887077"/>
                  <a:gd name="connsiteX1" fmla="*/ 840107 w 1944369"/>
                  <a:gd name="connsiteY1" fmla="*/ 886471 h 887077"/>
                  <a:gd name="connsiteX2" fmla="*/ 1865863 w 1944369"/>
                  <a:gd name="connsiteY2" fmla="*/ 465323 h 887077"/>
                  <a:gd name="connsiteX3" fmla="*/ 1850771 w 1944369"/>
                  <a:gd name="connsiteY3" fmla="*/ 42346 h 887077"/>
                  <a:gd name="connsiteX4" fmla="*/ 1804318 w 1944369"/>
                  <a:gd name="connsiteY4" fmla="*/ 12292 h 887077"/>
                  <a:gd name="connsiteX5" fmla="*/ 900869 w 1944369"/>
                  <a:gd name="connsiteY5" fmla="*/ 149495 h 887077"/>
                  <a:gd name="connsiteX6" fmla="*/ 834358 w 1944369"/>
                  <a:gd name="connsiteY6" fmla="*/ 121074 h 887077"/>
                  <a:gd name="connsiteX7" fmla="*/ 629664 w 1944369"/>
                  <a:gd name="connsiteY7" fmla="*/ 203723 h 887077"/>
                  <a:gd name="connsiteX8" fmla="*/ 205381 w 1944369"/>
                  <a:gd name="connsiteY8" fmla="*/ 213915 h 887077"/>
                  <a:gd name="connsiteX9" fmla="*/ 164285 w 1944369"/>
                  <a:gd name="connsiteY9" fmla="*/ 243642 h 887077"/>
                  <a:gd name="connsiteX10" fmla="*/ 35771 w 1944369"/>
                  <a:gd name="connsiteY10" fmla="*/ 675897 h 887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44369" h="887077">
                    <a:moveTo>
                      <a:pt x="35771" y="675897"/>
                    </a:moveTo>
                    <a:cubicBezTo>
                      <a:pt x="126717" y="823227"/>
                      <a:pt x="587915" y="893004"/>
                      <a:pt x="840107" y="886471"/>
                    </a:cubicBezTo>
                    <a:cubicBezTo>
                      <a:pt x="1092300" y="879937"/>
                      <a:pt x="1816731" y="538171"/>
                      <a:pt x="1865863" y="465323"/>
                    </a:cubicBezTo>
                    <a:cubicBezTo>
                      <a:pt x="1911597" y="398355"/>
                      <a:pt x="2023319" y="176413"/>
                      <a:pt x="1850771" y="42346"/>
                    </a:cubicBezTo>
                    <a:cubicBezTo>
                      <a:pt x="1836136" y="31063"/>
                      <a:pt x="1820586" y="21008"/>
                      <a:pt x="1804318" y="12292"/>
                    </a:cubicBezTo>
                    <a:cubicBezTo>
                      <a:pt x="1686258" y="-51409"/>
                      <a:pt x="900869" y="149495"/>
                      <a:pt x="900869" y="149495"/>
                    </a:cubicBezTo>
                    <a:cubicBezTo>
                      <a:pt x="900869" y="149495"/>
                      <a:pt x="852260" y="118788"/>
                      <a:pt x="834358" y="121074"/>
                    </a:cubicBezTo>
                    <a:cubicBezTo>
                      <a:pt x="779542" y="128065"/>
                      <a:pt x="740341" y="172231"/>
                      <a:pt x="629664" y="203723"/>
                    </a:cubicBezTo>
                    <a:cubicBezTo>
                      <a:pt x="552112" y="225871"/>
                      <a:pt x="340558" y="140936"/>
                      <a:pt x="205381" y="213915"/>
                    </a:cubicBezTo>
                    <a:cubicBezTo>
                      <a:pt x="190399" y="221918"/>
                      <a:pt x="176575" y="231921"/>
                      <a:pt x="164285" y="243642"/>
                    </a:cubicBezTo>
                    <a:cubicBezTo>
                      <a:pt x="38058" y="364054"/>
                      <a:pt x="-55044" y="528175"/>
                      <a:pt x="35771" y="675897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" name="任意多边形 29">
                <a:extLst>
                  <a:ext uri="{FF2B5EF4-FFF2-40B4-BE49-F238E27FC236}">
                    <a16:creationId xmlns:a16="http://schemas.microsoft.com/office/drawing/2014/main" id="{AF217FBC-79DF-4E4F-BC0D-42B27A086F25}"/>
                  </a:ext>
                </a:extLst>
              </p:cNvPr>
              <p:cNvSpPr/>
              <p:nvPr/>
            </p:nvSpPr>
            <p:spPr>
              <a:xfrm>
                <a:off x="5065345" y="5420403"/>
                <a:ext cx="564492" cy="206092"/>
              </a:xfrm>
              <a:custGeom>
                <a:avLst/>
                <a:gdLst>
                  <a:gd name="connsiteX0" fmla="*/ 10867 w 564492"/>
                  <a:gd name="connsiteY0" fmla="*/ -187 h 206092"/>
                  <a:gd name="connsiteX1" fmla="*/ -567 w 564492"/>
                  <a:gd name="connsiteY1" fmla="*/ 51362 h 206092"/>
                  <a:gd name="connsiteX2" fmla="*/ 165776 w 564492"/>
                  <a:gd name="connsiteY2" fmla="*/ 155114 h 206092"/>
                  <a:gd name="connsiteX3" fmla="*/ 447368 w 564492"/>
                  <a:gd name="connsiteY3" fmla="*/ 204180 h 206092"/>
                  <a:gd name="connsiteX4" fmla="*/ 550467 w 564492"/>
                  <a:gd name="connsiteY4" fmla="*/ 202547 h 206092"/>
                  <a:gd name="connsiteX5" fmla="*/ 563926 w 564492"/>
                  <a:gd name="connsiteY5" fmla="*/ 182293 h 206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64492" h="206092">
                    <a:moveTo>
                      <a:pt x="10867" y="-187"/>
                    </a:moveTo>
                    <a:lnTo>
                      <a:pt x="-567" y="51362"/>
                    </a:lnTo>
                    <a:cubicBezTo>
                      <a:pt x="-567" y="51362"/>
                      <a:pt x="30271" y="140479"/>
                      <a:pt x="165776" y="155114"/>
                    </a:cubicBezTo>
                    <a:cubicBezTo>
                      <a:pt x="301280" y="169749"/>
                      <a:pt x="381380" y="200195"/>
                      <a:pt x="447368" y="204180"/>
                    </a:cubicBezTo>
                    <a:cubicBezTo>
                      <a:pt x="481708" y="206937"/>
                      <a:pt x="516231" y="206389"/>
                      <a:pt x="550467" y="202547"/>
                    </a:cubicBezTo>
                    <a:lnTo>
                      <a:pt x="563926" y="182293"/>
                    </a:lnTo>
                    <a:close/>
                  </a:path>
                </a:pathLst>
              </a:custGeom>
              <a:solidFill>
                <a:srgbClr val="FFFFFF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任意多边形 30">
                <a:extLst>
                  <a:ext uri="{FF2B5EF4-FFF2-40B4-BE49-F238E27FC236}">
                    <a16:creationId xmlns:a16="http://schemas.microsoft.com/office/drawing/2014/main" id="{573B76A8-2F05-4053-AB49-91F878E90DB8}"/>
                  </a:ext>
                </a:extLst>
              </p:cNvPr>
              <p:cNvSpPr/>
              <p:nvPr/>
            </p:nvSpPr>
            <p:spPr>
              <a:xfrm>
                <a:off x="5065345" y="5420403"/>
                <a:ext cx="564492" cy="206092"/>
              </a:xfrm>
              <a:custGeom>
                <a:avLst/>
                <a:gdLst>
                  <a:gd name="connsiteX0" fmla="*/ 10867 w 564492"/>
                  <a:gd name="connsiteY0" fmla="*/ -187 h 206092"/>
                  <a:gd name="connsiteX1" fmla="*/ -567 w 564492"/>
                  <a:gd name="connsiteY1" fmla="*/ 51362 h 206092"/>
                  <a:gd name="connsiteX2" fmla="*/ 165776 w 564492"/>
                  <a:gd name="connsiteY2" fmla="*/ 155114 h 206092"/>
                  <a:gd name="connsiteX3" fmla="*/ 447368 w 564492"/>
                  <a:gd name="connsiteY3" fmla="*/ 204180 h 206092"/>
                  <a:gd name="connsiteX4" fmla="*/ 550467 w 564492"/>
                  <a:gd name="connsiteY4" fmla="*/ 202547 h 206092"/>
                  <a:gd name="connsiteX5" fmla="*/ 563926 w 564492"/>
                  <a:gd name="connsiteY5" fmla="*/ 182293 h 206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64492" h="206092">
                    <a:moveTo>
                      <a:pt x="10867" y="-187"/>
                    </a:moveTo>
                    <a:lnTo>
                      <a:pt x="-567" y="51362"/>
                    </a:lnTo>
                    <a:cubicBezTo>
                      <a:pt x="-567" y="51362"/>
                      <a:pt x="30271" y="140479"/>
                      <a:pt x="165776" y="155114"/>
                    </a:cubicBezTo>
                    <a:cubicBezTo>
                      <a:pt x="301280" y="169749"/>
                      <a:pt x="381380" y="200195"/>
                      <a:pt x="447368" y="204180"/>
                    </a:cubicBezTo>
                    <a:cubicBezTo>
                      <a:pt x="481708" y="206937"/>
                      <a:pt x="516231" y="206389"/>
                      <a:pt x="550467" y="202547"/>
                    </a:cubicBezTo>
                    <a:lnTo>
                      <a:pt x="563926" y="182293"/>
                    </a:ln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" name="任意多边形 31">
                <a:extLst>
                  <a:ext uri="{FF2B5EF4-FFF2-40B4-BE49-F238E27FC236}">
                    <a16:creationId xmlns:a16="http://schemas.microsoft.com/office/drawing/2014/main" id="{76F104C6-5D6B-4283-B2D9-BEBBE3F9BF1B}"/>
                  </a:ext>
                </a:extLst>
              </p:cNvPr>
              <p:cNvSpPr/>
              <p:nvPr/>
            </p:nvSpPr>
            <p:spPr>
              <a:xfrm>
                <a:off x="5074390" y="5277058"/>
                <a:ext cx="788038" cy="331508"/>
              </a:xfrm>
              <a:custGeom>
                <a:avLst/>
                <a:gdLst>
                  <a:gd name="connsiteX0" fmla="*/ 787471 w 788038"/>
                  <a:gd name="connsiteY0" fmla="*/ 143027 h 331508"/>
                  <a:gd name="connsiteX1" fmla="*/ 552266 w 788038"/>
                  <a:gd name="connsiteY1" fmla="*/ 331321 h 331508"/>
                  <a:gd name="connsiteX2" fmla="*/ 214420 w 788038"/>
                  <a:gd name="connsiteY2" fmla="*/ 279838 h 331508"/>
                  <a:gd name="connsiteX3" fmla="*/ -8 w 788038"/>
                  <a:gd name="connsiteY3" fmla="*/ 164130 h 331508"/>
                  <a:gd name="connsiteX4" fmla="*/ 172475 w 788038"/>
                  <a:gd name="connsiteY4" fmla="*/ 67043 h 331508"/>
                  <a:gd name="connsiteX5" fmla="*/ 228533 w 788038"/>
                  <a:gd name="connsiteY5" fmla="*/ 70897 h 331508"/>
                  <a:gd name="connsiteX6" fmla="*/ 585130 w 788038"/>
                  <a:gd name="connsiteY6" fmla="*/ -187 h 331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8038" h="331508">
                    <a:moveTo>
                      <a:pt x="787471" y="143027"/>
                    </a:moveTo>
                    <a:lnTo>
                      <a:pt x="552266" y="331321"/>
                    </a:lnTo>
                    <a:cubicBezTo>
                      <a:pt x="438662" y="321456"/>
                      <a:pt x="325809" y="304253"/>
                      <a:pt x="214420" y="279838"/>
                    </a:cubicBezTo>
                    <a:cubicBezTo>
                      <a:pt x="102763" y="253704"/>
                      <a:pt x="5349" y="215875"/>
                      <a:pt x="-8" y="164130"/>
                    </a:cubicBezTo>
                    <a:cubicBezTo>
                      <a:pt x="-8175" y="85728"/>
                      <a:pt x="74408" y="64037"/>
                      <a:pt x="172475" y="67043"/>
                    </a:cubicBezTo>
                    <a:cubicBezTo>
                      <a:pt x="191213" y="67376"/>
                      <a:pt x="209925" y="68663"/>
                      <a:pt x="228533" y="70897"/>
                    </a:cubicBezTo>
                    <a:cubicBezTo>
                      <a:pt x="385336" y="88015"/>
                      <a:pt x="585130" y="-187"/>
                      <a:pt x="585130" y="-187"/>
                    </a:cubicBezTo>
                    <a:close/>
                  </a:path>
                </a:pathLst>
              </a:custGeom>
              <a:solidFill>
                <a:srgbClr val="263238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任意多边形 32">
                <a:extLst>
                  <a:ext uri="{FF2B5EF4-FFF2-40B4-BE49-F238E27FC236}">
                    <a16:creationId xmlns:a16="http://schemas.microsoft.com/office/drawing/2014/main" id="{A1EBD00E-492D-4A1B-A8F9-A375B4D82E2E}"/>
                  </a:ext>
                </a:extLst>
              </p:cNvPr>
              <p:cNvSpPr/>
              <p:nvPr/>
            </p:nvSpPr>
            <p:spPr>
              <a:xfrm>
                <a:off x="5074390" y="5277058"/>
                <a:ext cx="788038" cy="331508"/>
              </a:xfrm>
              <a:custGeom>
                <a:avLst/>
                <a:gdLst>
                  <a:gd name="connsiteX0" fmla="*/ 787471 w 788038"/>
                  <a:gd name="connsiteY0" fmla="*/ 143027 h 331508"/>
                  <a:gd name="connsiteX1" fmla="*/ 552266 w 788038"/>
                  <a:gd name="connsiteY1" fmla="*/ 331321 h 331508"/>
                  <a:gd name="connsiteX2" fmla="*/ 214420 w 788038"/>
                  <a:gd name="connsiteY2" fmla="*/ 279838 h 331508"/>
                  <a:gd name="connsiteX3" fmla="*/ -8 w 788038"/>
                  <a:gd name="connsiteY3" fmla="*/ 164130 h 331508"/>
                  <a:gd name="connsiteX4" fmla="*/ 172475 w 788038"/>
                  <a:gd name="connsiteY4" fmla="*/ 67043 h 331508"/>
                  <a:gd name="connsiteX5" fmla="*/ 228533 w 788038"/>
                  <a:gd name="connsiteY5" fmla="*/ 70897 h 331508"/>
                  <a:gd name="connsiteX6" fmla="*/ 585130 w 788038"/>
                  <a:gd name="connsiteY6" fmla="*/ -187 h 331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8038" h="331508">
                    <a:moveTo>
                      <a:pt x="787471" y="143027"/>
                    </a:moveTo>
                    <a:lnTo>
                      <a:pt x="552266" y="331321"/>
                    </a:lnTo>
                    <a:cubicBezTo>
                      <a:pt x="438662" y="321456"/>
                      <a:pt x="325809" y="304253"/>
                      <a:pt x="214420" y="279838"/>
                    </a:cubicBezTo>
                    <a:cubicBezTo>
                      <a:pt x="102763" y="253704"/>
                      <a:pt x="5349" y="215875"/>
                      <a:pt x="-8" y="164130"/>
                    </a:cubicBezTo>
                    <a:cubicBezTo>
                      <a:pt x="-8175" y="85728"/>
                      <a:pt x="74408" y="64037"/>
                      <a:pt x="172475" y="67043"/>
                    </a:cubicBezTo>
                    <a:cubicBezTo>
                      <a:pt x="191213" y="67376"/>
                      <a:pt x="209925" y="68663"/>
                      <a:pt x="228533" y="70897"/>
                    </a:cubicBezTo>
                    <a:cubicBezTo>
                      <a:pt x="385336" y="88015"/>
                      <a:pt x="585130" y="-187"/>
                      <a:pt x="585130" y="-187"/>
                    </a:cubicBezTo>
                    <a:close/>
                  </a:path>
                </a:pathLst>
              </a:custGeom>
              <a:noFill/>
              <a:ln w="163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 33">
                <a:extLst>
                  <a:ext uri="{FF2B5EF4-FFF2-40B4-BE49-F238E27FC236}">
                    <a16:creationId xmlns:a16="http://schemas.microsoft.com/office/drawing/2014/main" id="{D16139DE-BA3A-40E1-B271-50858E656599}"/>
                  </a:ext>
                </a:extLst>
              </p:cNvPr>
              <p:cNvSpPr/>
              <p:nvPr/>
            </p:nvSpPr>
            <p:spPr>
              <a:xfrm>
                <a:off x="5078678" y="5272158"/>
                <a:ext cx="788258" cy="277787"/>
              </a:xfrm>
              <a:custGeom>
                <a:avLst/>
                <a:gdLst>
                  <a:gd name="connsiteX0" fmla="*/ -180 w 788258"/>
                  <a:gd name="connsiteY0" fmla="*/ 162431 h 277787"/>
                  <a:gd name="connsiteX1" fmla="*/ 130490 w 788258"/>
                  <a:gd name="connsiteY1" fmla="*/ 227766 h 277787"/>
                  <a:gd name="connsiteX2" fmla="*/ 685835 w 788258"/>
                  <a:gd name="connsiteY2" fmla="*/ 224303 h 277787"/>
                  <a:gd name="connsiteX3" fmla="*/ 787692 w 788258"/>
                  <a:gd name="connsiteY3" fmla="*/ 142962 h 277787"/>
                  <a:gd name="connsiteX4" fmla="*/ 584828 w 788258"/>
                  <a:gd name="connsiteY4" fmla="*/ -187 h 277787"/>
                  <a:gd name="connsiteX5" fmla="*/ 228492 w 788258"/>
                  <a:gd name="connsiteY5" fmla="*/ 70963 h 277787"/>
                  <a:gd name="connsiteX6" fmla="*/ 172435 w 788258"/>
                  <a:gd name="connsiteY6" fmla="*/ 67173 h 277787"/>
                  <a:gd name="connsiteX7" fmla="*/ -180 w 788258"/>
                  <a:gd name="connsiteY7" fmla="*/ 162431 h 277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88258" h="277787">
                    <a:moveTo>
                      <a:pt x="-180" y="162431"/>
                    </a:moveTo>
                    <a:cubicBezTo>
                      <a:pt x="45490" y="179699"/>
                      <a:pt x="89277" y="201586"/>
                      <a:pt x="130490" y="227766"/>
                    </a:cubicBezTo>
                    <a:cubicBezTo>
                      <a:pt x="130490" y="227766"/>
                      <a:pt x="349361" y="342167"/>
                      <a:pt x="685835" y="224303"/>
                    </a:cubicBezTo>
                    <a:lnTo>
                      <a:pt x="787692" y="142962"/>
                    </a:lnTo>
                    <a:lnTo>
                      <a:pt x="584828" y="-187"/>
                    </a:lnTo>
                    <a:cubicBezTo>
                      <a:pt x="584828" y="-187"/>
                      <a:pt x="385622" y="88407"/>
                      <a:pt x="228492" y="70963"/>
                    </a:cubicBezTo>
                    <a:cubicBezTo>
                      <a:pt x="209545" y="68937"/>
                      <a:pt x="190729" y="67565"/>
                      <a:pt x="172435" y="67173"/>
                    </a:cubicBezTo>
                    <a:cubicBezTo>
                      <a:pt x="75021" y="64429"/>
                      <a:pt x="-6909" y="85402"/>
                      <a:pt x="-180" y="162431"/>
                    </a:cubicBezTo>
                    <a:close/>
                  </a:path>
                </a:pathLst>
              </a:custGeom>
              <a:solidFill>
                <a:srgbClr val="000000">
                  <a:alpha val="70000"/>
                </a:srgbClr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任意多边形 34">
                <a:extLst>
                  <a:ext uri="{FF2B5EF4-FFF2-40B4-BE49-F238E27FC236}">
                    <a16:creationId xmlns:a16="http://schemas.microsoft.com/office/drawing/2014/main" id="{54C1578D-6813-41FC-86FC-8A5CF6BFCB83}"/>
                  </a:ext>
                </a:extLst>
              </p:cNvPr>
              <p:cNvSpPr/>
              <p:nvPr/>
            </p:nvSpPr>
            <p:spPr>
              <a:xfrm>
                <a:off x="5074390" y="5277058"/>
                <a:ext cx="788038" cy="331508"/>
              </a:xfrm>
              <a:custGeom>
                <a:avLst/>
                <a:gdLst>
                  <a:gd name="connsiteX0" fmla="*/ 787471 w 788038"/>
                  <a:gd name="connsiteY0" fmla="*/ 143027 h 331508"/>
                  <a:gd name="connsiteX1" fmla="*/ 552266 w 788038"/>
                  <a:gd name="connsiteY1" fmla="*/ 331321 h 331508"/>
                  <a:gd name="connsiteX2" fmla="*/ 214420 w 788038"/>
                  <a:gd name="connsiteY2" fmla="*/ 279838 h 331508"/>
                  <a:gd name="connsiteX3" fmla="*/ -8 w 788038"/>
                  <a:gd name="connsiteY3" fmla="*/ 164130 h 331508"/>
                  <a:gd name="connsiteX4" fmla="*/ 172475 w 788038"/>
                  <a:gd name="connsiteY4" fmla="*/ 67043 h 331508"/>
                  <a:gd name="connsiteX5" fmla="*/ 228533 w 788038"/>
                  <a:gd name="connsiteY5" fmla="*/ 70897 h 331508"/>
                  <a:gd name="connsiteX6" fmla="*/ 585130 w 788038"/>
                  <a:gd name="connsiteY6" fmla="*/ -187 h 331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8038" h="331508">
                    <a:moveTo>
                      <a:pt x="787471" y="143027"/>
                    </a:moveTo>
                    <a:lnTo>
                      <a:pt x="552266" y="331321"/>
                    </a:lnTo>
                    <a:cubicBezTo>
                      <a:pt x="438662" y="321456"/>
                      <a:pt x="325809" y="304253"/>
                      <a:pt x="214420" y="279838"/>
                    </a:cubicBezTo>
                    <a:cubicBezTo>
                      <a:pt x="102763" y="253704"/>
                      <a:pt x="5349" y="215875"/>
                      <a:pt x="-8" y="164130"/>
                    </a:cubicBezTo>
                    <a:cubicBezTo>
                      <a:pt x="-8175" y="85728"/>
                      <a:pt x="74408" y="64037"/>
                      <a:pt x="172475" y="67043"/>
                    </a:cubicBezTo>
                    <a:cubicBezTo>
                      <a:pt x="191213" y="67376"/>
                      <a:pt x="209925" y="68663"/>
                      <a:pt x="228533" y="70897"/>
                    </a:cubicBezTo>
                    <a:cubicBezTo>
                      <a:pt x="385336" y="88015"/>
                      <a:pt x="585130" y="-187"/>
                      <a:pt x="585130" y="-187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7" name="任意多边形 35">
                <a:extLst>
                  <a:ext uri="{FF2B5EF4-FFF2-40B4-BE49-F238E27FC236}">
                    <a16:creationId xmlns:a16="http://schemas.microsoft.com/office/drawing/2014/main" id="{52F5C514-CC9B-4AA3-9F10-149CB42696B1}"/>
                  </a:ext>
                </a:extLst>
              </p:cNvPr>
              <p:cNvSpPr/>
              <p:nvPr/>
            </p:nvSpPr>
            <p:spPr>
              <a:xfrm>
                <a:off x="5558099" y="5492110"/>
                <a:ext cx="98585" cy="71635"/>
              </a:xfrm>
              <a:custGeom>
                <a:avLst/>
                <a:gdLst>
                  <a:gd name="connsiteX0" fmla="*/ 81624 w 98585"/>
                  <a:gd name="connsiteY0" fmla="*/ 497 h 71635"/>
                  <a:gd name="connsiteX1" fmla="*/ 20014 w 98585"/>
                  <a:gd name="connsiteY1" fmla="*/ 66419 h 71635"/>
                  <a:gd name="connsiteX2" fmla="*/ 81624 w 98585"/>
                  <a:gd name="connsiteY2" fmla="*/ 497 h 71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8585" h="71635">
                    <a:moveTo>
                      <a:pt x="81624" y="497"/>
                    </a:moveTo>
                    <a:cubicBezTo>
                      <a:pt x="123961" y="7030"/>
                      <a:pt x="77443" y="92815"/>
                      <a:pt x="20014" y="66419"/>
                    </a:cubicBezTo>
                    <a:cubicBezTo>
                      <a:pt x="-37415" y="40024"/>
                      <a:pt x="39157" y="-6363"/>
                      <a:pt x="81624" y="497"/>
                    </a:cubicBezTo>
                    <a:close/>
                  </a:path>
                </a:pathLst>
              </a:custGeom>
              <a:solidFill>
                <a:srgbClr val="FFFFFF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任意多边形 36">
                <a:extLst>
                  <a:ext uri="{FF2B5EF4-FFF2-40B4-BE49-F238E27FC236}">
                    <a16:creationId xmlns:a16="http://schemas.microsoft.com/office/drawing/2014/main" id="{738678CC-23FE-49A3-A626-7F65C7A53AA4}"/>
                  </a:ext>
                </a:extLst>
              </p:cNvPr>
              <p:cNvSpPr/>
              <p:nvPr/>
            </p:nvSpPr>
            <p:spPr>
              <a:xfrm>
                <a:off x="5558099" y="5492110"/>
                <a:ext cx="98585" cy="71635"/>
              </a:xfrm>
              <a:custGeom>
                <a:avLst/>
                <a:gdLst>
                  <a:gd name="connsiteX0" fmla="*/ 81624 w 98585"/>
                  <a:gd name="connsiteY0" fmla="*/ 497 h 71635"/>
                  <a:gd name="connsiteX1" fmla="*/ 20014 w 98585"/>
                  <a:gd name="connsiteY1" fmla="*/ 66419 h 71635"/>
                  <a:gd name="connsiteX2" fmla="*/ 81624 w 98585"/>
                  <a:gd name="connsiteY2" fmla="*/ 497 h 71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8585" h="71635">
                    <a:moveTo>
                      <a:pt x="81624" y="497"/>
                    </a:moveTo>
                    <a:cubicBezTo>
                      <a:pt x="123961" y="7030"/>
                      <a:pt x="77443" y="92815"/>
                      <a:pt x="20014" y="66419"/>
                    </a:cubicBezTo>
                    <a:cubicBezTo>
                      <a:pt x="-37415" y="40024"/>
                      <a:pt x="39157" y="-6363"/>
                      <a:pt x="81624" y="497"/>
                    </a:cubicBezTo>
                    <a:close/>
                  </a:path>
                </a:pathLst>
              </a:custGeom>
              <a:noFill/>
              <a:ln w="163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任意多边形 37">
                <a:extLst>
                  <a:ext uri="{FF2B5EF4-FFF2-40B4-BE49-F238E27FC236}">
                    <a16:creationId xmlns:a16="http://schemas.microsoft.com/office/drawing/2014/main" id="{B77E4DFD-F46A-45DC-BCA3-862F17475B29}"/>
                  </a:ext>
                </a:extLst>
              </p:cNvPr>
              <p:cNvSpPr/>
              <p:nvPr/>
            </p:nvSpPr>
            <p:spPr>
              <a:xfrm>
                <a:off x="5558041" y="5492128"/>
                <a:ext cx="98738" cy="53717"/>
              </a:xfrm>
              <a:custGeom>
                <a:avLst/>
                <a:gdLst>
                  <a:gd name="connsiteX0" fmla="*/ 2039 w 98738"/>
                  <a:gd name="connsiteY0" fmla="*/ 53530 h 53717"/>
                  <a:gd name="connsiteX1" fmla="*/ 93508 w 98738"/>
                  <a:gd name="connsiteY1" fmla="*/ 37654 h 53717"/>
                  <a:gd name="connsiteX2" fmla="*/ 81747 w 98738"/>
                  <a:gd name="connsiteY2" fmla="*/ 479 h 53717"/>
                  <a:gd name="connsiteX3" fmla="*/ 2039 w 98738"/>
                  <a:gd name="connsiteY3" fmla="*/ 53530 h 53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738" h="53717">
                    <a:moveTo>
                      <a:pt x="2039" y="53530"/>
                    </a:moveTo>
                    <a:cubicBezTo>
                      <a:pt x="32785" y="49819"/>
                      <a:pt x="63310" y="44520"/>
                      <a:pt x="93508" y="37654"/>
                    </a:cubicBezTo>
                    <a:cubicBezTo>
                      <a:pt x="101609" y="20667"/>
                      <a:pt x="100041" y="3288"/>
                      <a:pt x="81747" y="479"/>
                    </a:cubicBezTo>
                    <a:cubicBezTo>
                      <a:pt x="46075" y="-5271"/>
                      <a:pt x="-13772" y="27396"/>
                      <a:pt x="2039" y="53530"/>
                    </a:cubicBezTo>
                    <a:close/>
                  </a:path>
                </a:pathLst>
              </a:custGeom>
              <a:solidFill>
                <a:srgbClr val="000000">
                  <a:alpha val="70000"/>
                </a:srgbClr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0" name="任意多边形 38">
                <a:extLst>
                  <a:ext uri="{FF2B5EF4-FFF2-40B4-BE49-F238E27FC236}">
                    <a16:creationId xmlns:a16="http://schemas.microsoft.com/office/drawing/2014/main" id="{C8E33897-7B04-4BB9-A648-80E1D1EA0472}"/>
                  </a:ext>
                </a:extLst>
              </p:cNvPr>
              <p:cNvSpPr/>
              <p:nvPr/>
            </p:nvSpPr>
            <p:spPr>
              <a:xfrm>
                <a:off x="5558041" y="5492128"/>
                <a:ext cx="98738" cy="53717"/>
              </a:xfrm>
              <a:custGeom>
                <a:avLst/>
                <a:gdLst>
                  <a:gd name="connsiteX0" fmla="*/ 2039 w 98738"/>
                  <a:gd name="connsiteY0" fmla="*/ 53530 h 53717"/>
                  <a:gd name="connsiteX1" fmla="*/ 93508 w 98738"/>
                  <a:gd name="connsiteY1" fmla="*/ 37654 h 53717"/>
                  <a:gd name="connsiteX2" fmla="*/ 81747 w 98738"/>
                  <a:gd name="connsiteY2" fmla="*/ 479 h 53717"/>
                  <a:gd name="connsiteX3" fmla="*/ 2039 w 98738"/>
                  <a:gd name="connsiteY3" fmla="*/ 53530 h 53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738" h="53717">
                    <a:moveTo>
                      <a:pt x="2039" y="53530"/>
                    </a:moveTo>
                    <a:cubicBezTo>
                      <a:pt x="32785" y="49819"/>
                      <a:pt x="63310" y="44520"/>
                      <a:pt x="93508" y="37654"/>
                    </a:cubicBezTo>
                    <a:cubicBezTo>
                      <a:pt x="101609" y="20667"/>
                      <a:pt x="100041" y="3288"/>
                      <a:pt x="81747" y="479"/>
                    </a:cubicBezTo>
                    <a:cubicBezTo>
                      <a:pt x="46075" y="-5271"/>
                      <a:pt x="-13772" y="27396"/>
                      <a:pt x="2039" y="53530"/>
                    </a:cubicBezTo>
                    <a:close/>
                  </a:path>
                </a:pathLst>
              </a:custGeom>
              <a:noFill/>
              <a:ln w="163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1" name="任意多边形 39">
                <a:extLst>
                  <a:ext uri="{FF2B5EF4-FFF2-40B4-BE49-F238E27FC236}">
                    <a16:creationId xmlns:a16="http://schemas.microsoft.com/office/drawing/2014/main" id="{E02711C6-F942-48A0-97AB-5882A177CCF4}"/>
                  </a:ext>
                </a:extLst>
              </p:cNvPr>
              <p:cNvSpPr/>
              <p:nvPr/>
            </p:nvSpPr>
            <p:spPr>
              <a:xfrm>
                <a:off x="5558099" y="5492110"/>
                <a:ext cx="98585" cy="71635"/>
              </a:xfrm>
              <a:custGeom>
                <a:avLst/>
                <a:gdLst>
                  <a:gd name="connsiteX0" fmla="*/ 81624 w 98585"/>
                  <a:gd name="connsiteY0" fmla="*/ 497 h 71635"/>
                  <a:gd name="connsiteX1" fmla="*/ 20014 w 98585"/>
                  <a:gd name="connsiteY1" fmla="*/ 66419 h 71635"/>
                  <a:gd name="connsiteX2" fmla="*/ 81624 w 98585"/>
                  <a:gd name="connsiteY2" fmla="*/ 497 h 71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8585" h="71635">
                    <a:moveTo>
                      <a:pt x="81624" y="497"/>
                    </a:moveTo>
                    <a:cubicBezTo>
                      <a:pt x="123961" y="7030"/>
                      <a:pt x="77443" y="92815"/>
                      <a:pt x="20014" y="66419"/>
                    </a:cubicBezTo>
                    <a:cubicBezTo>
                      <a:pt x="-37415" y="40024"/>
                      <a:pt x="39157" y="-6363"/>
                      <a:pt x="81624" y="497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2" name="任意多边形 40">
                <a:extLst>
                  <a:ext uri="{FF2B5EF4-FFF2-40B4-BE49-F238E27FC236}">
                    <a16:creationId xmlns:a16="http://schemas.microsoft.com/office/drawing/2014/main" id="{E80DABE4-6420-4DDB-96BA-EB1CC3FA0AD7}"/>
                  </a:ext>
                </a:extLst>
              </p:cNvPr>
              <p:cNvSpPr/>
              <p:nvPr/>
            </p:nvSpPr>
            <p:spPr>
              <a:xfrm>
                <a:off x="5074194" y="5348726"/>
                <a:ext cx="233046" cy="206070"/>
              </a:xfrm>
              <a:custGeom>
                <a:avLst/>
                <a:gdLst>
                  <a:gd name="connsiteX0" fmla="*/ 214094 w 233046"/>
                  <a:gd name="connsiteY0" fmla="*/ 205883 h 206070"/>
                  <a:gd name="connsiteX1" fmla="*/ -8 w 233046"/>
                  <a:gd name="connsiteY1" fmla="*/ 93965 h 206070"/>
                  <a:gd name="connsiteX2" fmla="*/ 172149 w 233046"/>
                  <a:gd name="connsiteY2" fmla="*/ 79 h 206070"/>
                  <a:gd name="connsiteX3" fmla="*/ 214094 w 233046"/>
                  <a:gd name="connsiteY3" fmla="*/ 205883 h 20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3046" h="206070">
                    <a:moveTo>
                      <a:pt x="214094" y="205883"/>
                    </a:moveTo>
                    <a:cubicBezTo>
                      <a:pt x="102633" y="180468"/>
                      <a:pt x="5023" y="144076"/>
                      <a:pt x="-8" y="93965"/>
                    </a:cubicBezTo>
                    <a:cubicBezTo>
                      <a:pt x="-8174" y="17980"/>
                      <a:pt x="74278" y="-2862"/>
                      <a:pt x="172149" y="79"/>
                    </a:cubicBezTo>
                    <a:cubicBezTo>
                      <a:pt x="176462" y="4195"/>
                      <a:pt x="271524" y="94618"/>
                      <a:pt x="214094" y="2058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任意多边形 41">
                <a:extLst>
                  <a:ext uri="{FF2B5EF4-FFF2-40B4-BE49-F238E27FC236}">
                    <a16:creationId xmlns:a16="http://schemas.microsoft.com/office/drawing/2014/main" id="{623BAC4F-0E31-46B4-AC0B-08AAB43E92B4}"/>
                  </a:ext>
                </a:extLst>
              </p:cNvPr>
              <p:cNvSpPr/>
              <p:nvPr/>
            </p:nvSpPr>
            <p:spPr>
              <a:xfrm>
                <a:off x="5074194" y="5348726"/>
                <a:ext cx="233046" cy="206070"/>
              </a:xfrm>
              <a:custGeom>
                <a:avLst/>
                <a:gdLst>
                  <a:gd name="connsiteX0" fmla="*/ 214094 w 233046"/>
                  <a:gd name="connsiteY0" fmla="*/ 205883 h 206070"/>
                  <a:gd name="connsiteX1" fmla="*/ -8 w 233046"/>
                  <a:gd name="connsiteY1" fmla="*/ 93965 h 206070"/>
                  <a:gd name="connsiteX2" fmla="*/ 172149 w 233046"/>
                  <a:gd name="connsiteY2" fmla="*/ 79 h 206070"/>
                  <a:gd name="connsiteX3" fmla="*/ 214094 w 233046"/>
                  <a:gd name="connsiteY3" fmla="*/ 205883 h 20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3046" h="206070">
                    <a:moveTo>
                      <a:pt x="214094" y="205883"/>
                    </a:moveTo>
                    <a:cubicBezTo>
                      <a:pt x="102633" y="180468"/>
                      <a:pt x="5023" y="144076"/>
                      <a:pt x="-8" y="93965"/>
                    </a:cubicBezTo>
                    <a:cubicBezTo>
                      <a:pt x="-8174" y="17980"/>
                      <a:pt x="74278" y="-2862"/>
                      <a:pt x="172149" y="79"/>
                    </a:cubicBezTo>
                    <a:cubicBezTo>
                      <a:pt x="176462" y="4195"/>
                      <a:pt x="271524" y="94618"/>
                      <a:pt x="214094" y="205883"/>
                    </a:cubicBezTo>
                    <a:close/>
                  </a:path>
                </a:pathLst>
              </a:custGeom>
              <a:noFill/>
              <a:ln w="163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4" name="任意多边形 42">
                <a:extLst>
                  <a:ext uri="{FF2B5EF4-FFF2-40B4-BE49-F238E27FC236}">
                    <a16:creationId xmlns:a16="http://schemas.microsoft.com/office/drawing/2014/main" id="{F1E2AD7D-5F65-4FAD-AEE1-B41F448F98E7}"/>
                  </a:ext>
                </a:extLst>
              </p:cNvPr>
              <p:cNvSpPr/>
              <p:nvPr/>
            </p:nvSpPr>
            <p:spPr>
              <a:xfrm>
                <a:off x="5074234" y="5348723"/>
                <a:ext cx="232752" cy="188171"/>
              </a:xfrm>
              <a:custGeom>
                <a:avLst/>
                <a:gdLst>
                  <a:gd name="connsiteX0" fmla="*/ -179 w 232752"/>
                  <a:gd name="connsiteY0" fmla="*/ 93183 h 188171"/>
                  <a:gd name="connsiteX1" fmla="*/ 130490 w 232752"/>
                  <a:gd name="connsiteY1" fmla="*/ 157342 h 188171"/>
                  <a:gd name="connsiteX2" fmla="*/ 222547 w 232752"/>
                  <a:gd name="connsiteY2" fmla="*/ 187984 h 188171"/>
                  <a:gd name="connsiteX3" fmla="*/ 171978 w 232752"/>
                  <a:gd name="connsiteY3" fmla="*/ 81 h 188171"/>
                  <a:gd name="connsiteX4" fmla="*/ -179 w 232752"/>
                  <a:gd name="connsiteY4" fmla="*/ 93183 h 188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752" h="188171">
                    <a:moveTo>
                      <a:pt x="-179" y="93183"/>
                    </a:moveTo>
                    <a:cubicBezTo>
                      <a:pt x="45425" y="110118"/>
                      <a:pt x="89206" y="131613"/>
                      <a:pt x="130490" y="157342"/>
                    </a:cubicBezTo>
                    <a:cubicBezTo>
                      <a:pt x="159950" y="170925"/>
                      <a:pt x="190821" y="181202"/>
                      <a:pt x="222547" y="187984"/>
                    </a:cubicBezTo>
                    <a:cubicBezTo>
                      <a:pt x="260115" y="85017"/>
                      <a:pt x="176029" y="3936"/>
                      <a:pt x="171978" y="81"/>
                    </a:cubicBezTo>
                    <a:cubicBezTo>
                      <a:pt x="74891" y="-2859"/>
                      <a:pt x="-6908" y="17722"/>
                      <a:pt x="-179" y="93183"/>
                    </a:cubicBezTo>
                    <a:close/>
                  </a:path>
                </a:pathLst>
              </a:custGeom>
              <a:solidFill>
                <a:srgbClr val="000000">
                  <a:alpha val="70000"/>
                </a:srgbClr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5" name="任意多边形 43">
                <a:extLst>
                  <a:ext uri="{FF2B5EF4-FFF2-40B4-BE49-F238E27FC236}">
                    <a16:creationId xmlns:a16="http://schemas.microsoft.com/office/drawing/2014/main" id="{E58E416F-0A4A-443B-989D-79CAF30B0B8F}"/>
                  </a:ext>
                </a:extLst>
              </p:cNvPr>
              <p:cNvSpPr/>
              <p:nvPr/>
            </p:nvSpPr>
            <p:spPr>
              <a:xfrm>
                <a:off x="5074234" y="5348723"/>
                <a:ext cx="232752" cy="188171"/>
              </a:xfrm>
              <a:custGeom>
                <a:avLst/>
                <a:gdLst>
                  <a:gd name="connsiteX0" fmla="*/ -179 w 232752"/>
                  <a:gd name="connsiteY0" fmla="*/ 93183 h 188171"/>
                  <a:gd name="connsiteX1" fmla="*/ 130490 w 232752"/>
                  <a:gd name="connsiteY1" fmla="*/ 157342 h 188171"/>
                  <a:gd name="connsiteX2" fmla="*/ 222547 w 232752"/>
                  <a:gd name="connsiteY2" fmla="*/ 187984 h 188171"/>
                  <a:gd name="connsiteX3" fmla="*/ 171978 w 232752"/>
                  <a:gd name="connsiteY3" fmla="*/ 81 h 188171"/>
                  <a:gd name="connsiteX4" fmla="*/ -179 w 232752"/>
                  <a:gd name="connsiteY4" fmla="*/ 93183 h 188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752" h="188171">
                    <a:moveTo>
                      <a:pt x="-179" y="93183"/>
                    </a:moveTo>
                    <a:cubicBezTo>
                      <a:pt x="45425" y="110118"/>
                      <a:pt x="89206" y="131613"/>
                      <a:pt x="130490" y="157342"/>
                    </a:cubicBezTo>
                    <a:cubicBezTo>
                      <a:pt x="159950" y="170925"/>
                      <a:pt x="190821" y="181202"/>
                      <a:pt x="222547" y="187984"/>
                    </a:cubicBezTo>
                    <a:cubicBezTo>
                      <a:pt x="260115" y="85017"/>
                      <a:pt x="176029" y="3936"/>
                      <a:pt x="171978" y="81"/>
                    </a:cubicBezTo>
                    <a:cubicBezTo>
                      <a:pt x="74891" y="-2859"/>
                      <a:pt x="-6908" y="17722"/>
                      <a:pt x="-179" y="93183"/>
                    </a:cubicBezTo>
                    <a:close/>
                  </a:path>
                </a:pathLst>
              </a:custGeom>
              <a:noFill/>
              <a:ln w="163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6" name="任意多边形 44">
                <a:extLst>
                  <a:ext uri="{FF2B5EF4-FFF2-40B4-BE49-F238E27FC236}">
                    <a16:creationId xmlns:a16="http://schemas.microsoft.com/office/drawing/2014/main" id="{2773AECB-D90C-446E-A1B1-3AED8CF48B17}"/>
                  </a:ext>
                </a:extLst>
              </p:cNvPr>
              <p:cNvSpPr/>
              <p:nvPr/>
            </p:nvSpPr>
            <p:spPr>
              <a:xfrm>
                <a:off x="5074194" y="5348726"/>
                <a:ext cx="233046" cy="206070"/>
              </a:xfrm>
              <a:custGeom>
                <a:avLst/>
                <a:gdLst>
                  <a:gd name="connsiteX0" fmla="*/ 214094 w 233046"/>
                  <a:gd name="connsiteY0" fmla="*/ 205883 h 206070"/>
                  <a:gd name="connsiteX1" fmla="*/ -8 w 233046"/>
                  <a:gd name="connsiteY1" fmla="*/ 93965 h 206070"/>
                  <a:gd name="connsiteX2" fmla="*/ 172149 w 233046"/>
                  <a:gd name="connsiteY2" fmla="*/ 79 h 206070"/>
                  <a:gd name="connsiteX3" fmla="*/ 214094 w 233046"/>
                  <a:gd name="connsiteY3" fmla="*/ 205883 h 20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3046" h="206070">
                    <a:moveTo>
                      <a:pt x="214094" y="205883"/>
                    </a:moveTo>
                    <a:cubicBezTo>
                      <a:pt x="102633" y="180468"/>
                      <a:pt x="5023" y="144076"/>
                      <a:pt x="-8" y="93965"/>
                    </a:cubicBezTo>
                    <a:cubicBezTo>
                      <a:pt x="-8174" y="17980"/>
                      <a:pt x="74278" y="-2862"/>
                      <a:pt x="172149" y="79"/>
                    </a:cubicBezTo>
                    <a:cubicBezTo>
                      <a:pt x="176462" y="4195"/>
                      <a:pt x="271524" y="94618"/>
                      <a:pt x="214094" y="205883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7" name="任意多边形 45">
                <a:extLst>
                  <a:ext uri="{FF2B5EF4-FFF2-40B4-BE49-F238E27FC236}">
                    <a16:creationId xmlns:a16="http://schemas.microsoft.com/office/drawing/2014/main" id="{950C9BE8-9C27-4942-A9A2-44B67A188425}"/>
                  </a:ext>
                </a:extLst>
              </p:cNvPr>
              <p:cNvSpPr/>
              <p:nvPr/>
            </p:nvSpPr>
            <p:spPr>
              <a:xfrm>
                <a:off x="5307216" y="5339949"/>
                <a:ext cx="71612" cy="116367"/>
              </a:xfrm>
              <a:custGeom>
                <a:avLst/>
                <a:gdLst>
                  <a:gd name="connsiteX0" fmla="*/ 60323 w 71612"/>
                  <a:gd name="connsiteY0" fmla="*/ 116135 h 116367"/>
                  <a:gd name="connsiteX1" fmla="*/ 59604 w 71612"/>
                  <a:gd name="connsiteY1" fmla="*/ 116135 h 116367"/>
                  <a:gd name="connsiteX2" fmla="*/ 46537 w 71612"/>
                  <a:gd name="connsiteY2" fmla="*/ 105355 h 116367"/>
                  <a:gd name="connsiteX3" fmla="*/ 46537 w 71612"/>
                  <a:gd name="connsiteY3" fmla="*/ 105355 h 116367"/>
                  <a:gd name="connsiteX4" fmla="*/ 3089 w 71612"/>
                  <a:gd name="connsiteY4" fmla="*/ 19048 h 116367"/>
                  <a:gd name="connsiteX5" fmla="*/ 1985 w 71612"/>
                  <a:gd name="connsiteY5" fmla="*/ 4210 h 116367"/>
                  <a:gd name="connsiteX6" fmla="*/ 3089 w 71612"/>
                  <a:gd name="connsiteY6" fmla="*/ 3106 h 116367"/>
                  <a:gd name="connsiteX7" fmla="*/ 3089 w 71612"/>
                  <a:gd name="connsiteY7" fmla="*/ 3106 h 116367"/>
                  <a:gd name="connsiteX8" fmla="*/ 20730 w 71612"/>
                  <a:gd name="connsiteY8" fmla="*/ 3106 h 116367"/>
                  <a:gd name="connsiteX9" fmla="*/ 71037 w 71612"/>
                  <a:gd name="connsiteY9" fmla="*/ 104114 h 116367"/>
                  <a:gd name="connsiteX10" fmla="*/ 60323 w 71612"/>
                  <a:gd name="connsiteY10" fmla="*/ 116135 h 116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1612" h="116367">
                    <a:moveTo>
                      <a:pt x="60323" y="116135"/>
                    </a:moveTo>
                    <a:lnTo>
                      <a:pt x="59604" y="116135"/>
                    </a:lnTo>
                    <a:cubicBezTo>
                      <a:pt x="53038" y="116704"/>
                      <a:pt x="47223" y="111908"/>
                      <a:pt x="46537" y="105355"/>
                    </a:cubicBezTo>
                    <a:lnTo>
                      <a:pt x="46537" y="105355"/>
                    </a:lnTo>
                    <a:cubicBezTo>
                      <a:pt x="42107" y="72537"/>
                      <a:pt x="26806" y="42156"/>
                      <a:pt x="3089" y="19048"/>
                    </a:cubicBezTo>
                    <a:cubicBezTo>
                      <a:pt x="-1314" y="15258"/>
                      <a:pt x="-1811" y="8614"/>
                      <a:pt x="1985" y="4210"/>
                    </a:cubicBezTo>
                    <a:cubicBezTo>
                      <a:pt x="2325" y="3818"/>
                      <a:pt x="2691" y="3446"/>
                      <a:pt x="3089" y="3106"/>
                    </a:cubicBezTo>
                    <a:lnTo>
                      <a:pt x="3089" y="3106"/>
                    </a:lnTo>
                    <a:cubicBezTo>
                      <a:pt x="8153" y="-1285"/>
                      <a:pt x="15666" y="-1285"/>
                      <a:pt x="20730" y="3106"/>
                    </a:cubicBezTo>
                    <a:cubicBezTo>
                      <a:pt x="48654" y="29958"/>
                      <a:pt x="66425" y="65644"/>
                      <a:pt x="71037" y="104114"/>
                    </a:cubicBezTo>
                    <a:cubicBezTo>
                      <a:pt x="71266" y="110346"/>
                      <a:pt x="66542" y="115652"/>
                      <a:pt x="60323" y="1161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8" name="任意多边形 46">
                <a:extLst>
                  <a:ext uri="{FF2B5EF4-FFF2-40B4-BE49-F238E27FC236}">
                    <a16:creationId xmlns:a16="http://schemas.microsoft.com/office/drawing/2014/main" id="{9095278B-7C71-43CF-9A38-2DC7133791C8}"/>
                  </a:ext>
                </a:extLst>
              </p:cNvPr>
              <p:cNvSpPr/>
              <p:nvPr/>
            </p:nvSpPr>
            <p:spPr>
              <a:xfrm>
                <a:off x="5307216" y="5339949"/>
                <a:ext cx="71612" cy="116367"/>
              </a:xfrm>
              <a:custGeom>
                <a:avLst/>
                <a:gdLst>
                  <a:gd name="connsiteX0" fmla="*/ 60323 w 71612"/>
                  <a:gd name="connsiteY0" fmla="*/ 116135 h 116367"/>
                  <a:gd name="connsiteX1" fmla="*/ 59604 w 71612"/>
                  <a:gd name="connsiteY1" fmla="*/ 116135 h 116367"/>
                  <a:gd name="connsiteX2" fmla="*/ 46537 w 71612"/>
                  <a:gd name="connsiteY2" fmla="*/ 105355 h 116367"/>
                  <a:gd name="connsiteX3" fmla="*/ 46537 w 71612"/>
                  <a:gd name="connsiteY3" fmla="*/ 105355 h 116367"/>
                  <a:gd name="connsiteX4" fmla="*/ 3089 w 71612"/>
                  <a:gd name="connsiteY4" fmla="*/ 19048 h 116367"/>
                  <a:gd name="connsiteX5" fmla="*/ 1985 w 71612"/>
                  <a:gd name="connsiteY5" fmla="*/ 4210 h 116367"/>
                  <a:gd name="connsiteX6" fmla="*/ 3089 w 71612"/>
                  <a:gd name="connsiteY6" fmla="*/ 3106 h 116367"/>
                  <a:gd name="connsiteX7" fmla="*/ 3089 w 71612"/>
                  <a:gd name="connsiteY7" fmla="*/ 3106 h 116367"/>
                  <a:gd name="connsiteX8" fmla="*/ 20730 w 71612"/>
                  <a:gd name="connsiteY8" fmla="*/ 3106 h 116367"/>
                  <a:gd name="connsiteX9" fmla="*/ 71037 w 71612"/>
                  <a:gd name="connsiteY9" fmla="*/ 104114 h 116367"/>
                  <a:gd name="connsiteX10" fmla="*/ 60323 w 71612"/>
                  <a:gd name="connsiteY10" fmla="*/ 116135 h 116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1612" h="116367">
                    <a:moveTo>
                      <a:pt x="60323" y="116135"/>
                    </a:moveTo>
                    <a:lnTo>
                      <a:pt x="59604" y="116135"/>
                    </a:lnTo>
                    <a:cubicBezTo>
                      <a:pt x="53038" y="116704"/>
                      <a:pt x="47223" y="111908"/>
                      <a:pt x="46537" y="105355"/>
                    </a:cubicBezTo>
                    <a:lnTo>
                      <a:pt x="46537" y="105355"/>
                    </a:lnTo>
                    <a:cubicBezTo>
                      <a:pt x="42107" y="72537"/>
                      <a:pt x="26806" y="42156"/>
                      <a:pt x="3089" y="19048"/>
                    </a:cubicBezTo>
                    <a:cubicBezTo>
                      <a:pt x="-1314" y="15258"/>
                      <a:pt x="-1811" y="8614"/>
                      <a:pt x="1985" y="4210"/>
                    </a:cubicBezTo>
                    <a:cubicBezTo>
                      <a:pt x="2325" y="3818"/>
                      <a:pt x="2691" y="3446"/>
                      <a:pt x="3089" y="3106"/>
                    </a:cubicBezTo>
                    <a:lnTo>
                      <a:pt x="3089" y="3106"/>
                    </a:lnTo>
                    <a:cubicBezTo>
                      <a:pt x="8153" y="-1285"/>
                      <a:pt x="15666" y="-1285"/>
                      <a:pt x="20730" y="3106"/>
                    </a:cubicBezTo>
                    <a:cubicBezTo>
                      <a:pt x="48654" y="29958"/>
                      <a:pt x="66425" y="65644"/>
                      <a:pt x="71037" y="104114"/>
                    </a:cubicBezTo>
                    <a:cubicBezTo>
                      <a:pt x="71266" y="110346"/>
                      <a:pt x="66542" y="115652"/>
                      <a:pt x="60323" y="116135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9" name="任意多边形 47">
                <a:extLst>
                  <a:ext uri="{FF2B5EF4-FFF2-40B4-BE49-F238E27FC236}">
                    <a16:creationId xmlns:a16="http://schemas.microsoft.com/office/drawing/2014/main" id="{A9B9E3C0-B4AF-4680-B505-27E0974E4895}"/>
                  </a:ext>
                </a:extLst>
              </p:cNvPr>
              <p:cNvSpPr/>
              <p:nvPr/>
            </p:nvSpPr>
            <p:spPr>
              <a:xfrm>
                <a:off x="5360806" y="5339800"/>
                <a:ext cx="62588" cy="125424"/>
              </a:xfrm>
              <a:custGeom>
                <a:avLst/>
                <a:gdLst>
                  <a:gd name="connsiteX0" fmla="*/ 51748 w 62588"/>
                  <a:gd name="connsiteY0" fmla="*/ 125236 h 125424"/>
                  <a:gd name="connsiteX1" fmla="*/ 50769 w 62588"/>
                  <a:gd name="connsiteY1" fmla="*/ 125236 h 125424"/>
                  <a:gd name="connsiteX2" fmla="*/ 38878 w 62588"/>
                  <a:gd name="connsiteY2" fmla="*/ 113737 h 125424"/>
                  <a:gd name="connsiteX3" fmla="*/ 38878 w 62588"/>
                  <a:gd name="connsiteY3" fmla="*/ 113737 h 125424"/>
                  <a:gd name="connsiteX4" fmla="*/ 38878 w 62588"/>
                  <a:gd name="connsiteY4" fmla="*/ 113737 h 125424"/>
                  <a:gd name="connsiteX5" fmla="*/ 2878 w 62588"/>
                  <a:gd name="connsiteY5" fmla="*/ 20112 h 125424"/>
                  <a:gd name="connsiteX6" fmla="*/ 2878 w 62588"/>
                  <a:gd name="connsiteY6" fmla="*/ 3321 h 125424"/>
                  <a:gd name="connsiteX7" fmla="*/ 19231 w 62588"/>
                  <a:gd name="connsiteY7" fmla="*/ 3079 h 125424"/>
                  <a:gd name="connsiteX8" fmla="*/ 19473 w 62588"/>
                  <a:gd name="connsiteY8" fmla="*/ 3321 h 125424"/>
                  <a:gd name="connsiteX9" fmla="*/ 20780 w 62588"/>
                  <a:gd name="connsiteY9" fmla="*/ 4889 h 125424"/>
                  <a:gd name="connsiteX10" fmla="*/ 62006 w 62588"/>
                  <a:gd name="connsiteY10" fmla="*/ 113018 h 125424"/>
                  <a:gd name="connsiteX11" fmla="*/ 51748 w 62588"/>
                  <a:gd name="connsiteY11" fmla="*/ 125236 h 125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588" h="125424">
                    <a:moveTo>
                      <a:pt x="51748" y="125236"/>
                    </a:moveTo>
                    <a:lnTo>
                      <a:pt x="50769" y="125236"/>
                    </a:lnTo>
                    <a:cubicBezTo>
                      <a:pt x="44313" y="125347"/>
                      <a:pt x="38988" y="120198"/>
                      <a:pt x="38878" y="113737"/>
                    </a:cubicBezTo>
                    <a:cubicBezTo>
                      <a:pt x="38878" y="113737"/>
                      <a:pt x="38878" y="113737"/>
                      <a:pt x="38878" y="113737"/>
                    </a:cubicBezTo>
                    <a:lnTo>
                      <a:pt x="38878" y="113737"/>
                    </a:lnTo>
                    <a:cubicBezTo>
                      <a:pt x="36238" y="79691"/>
                      <a:pt x="23726" y="47154"/>
                      <a:pt x="2878" y="20112"/>
                    </a:cubicBezTo>
                    <a:cubicBezTo>
                      <a:pt x="-1715" y="15454"/>
                      <a:pt x="-1715" y="7980"/>
                      <a:pt x="2878" y="3321"/>
                    </a:cubicBezTo>
                    <a:cubicBezTo>
                      <a:pt x="7328" y="-1259"/>
                      <a:pt x="14645" y="-1370"/>
                      <a:pt x="19231" y="3079"/>
                    </a:cubicBezTo>
                    <a:cubicBezTo>
                      <a:pt x="19310" y="3158"/>
                      <a:pt x="19395" y="3236"/>
                      <a:pt x="19473" y="3321"/>
                    </a:cubicBezTo>
                    <a:cubicBezTo>
                      <a:pt x="19957" y="3798"/>
                      <a:pt x="20394" y="4327"/>
                      <a:pt x="20780" y="4889"/>
                    </a:cubicBezTo>
                    <a:cubicBezTo>
                      <a:pt x="44934" y="36047"/>
                      <a:pt x="59288" y="73687"/>
                      <a:pt x="62006" y="113018"/>
                    </a:cubicBezTo>
                    <a:cubicBezTo>
                      <a:pt x="62326" y="119153"/>
                      <a:pt x="57844" y="124491"/>
                      <a:pt x="51748" y="1252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0" name="任意多边形 48">
                <a:extLst>
                  <a:ext uri="{FF2B5EF4-FFF2-40B4-BE49-F238E27FC236}">
                    <a16:creationId xmlns:a16="http://schemas.microsoft.com/office/drawing/2014/main" id="{85EC141C-00AE-4F6E-9FCA-BDDCE9142CAB}"/>
                  </a:ext>
                </a:extLst>
              </p:cNvPr>
              <p:cNvSpPr/>
              <p:nvPr/>
            </p:nvSpPr>
            <p:spPr>
              <a:xfrm>
                <a:off x="5360806" y="5339800"/>
                <a:ext cx="62588" cy="125424"/>
              </a:xfrm>
              <a:custGeom>
                <a:avLst/>
                <a:gdLst>
                  <a:gd name="connsiteX0" fmla="*/ 51748 w 62588"/>
                  <a:gd name="connsiteY0" fmla="*/ 125236 h 125424"/>
                  <a:gd name="connsiteX1" fmla="*/ 50769 w 62588"/>
                  <a:gd name="connsiteY1" fmla="*/ 125236 h 125424"/>
                  <a:gd name="connsiteX2" fmla="*/ 38878 w 62588"/>
                  <a:gd name="connsiteY2" fmla="*/ 113737 h 125424"/>
                  <a:gd name="connsiteX3" fmla="*/ 38878 w 62588"/>
                  <a:gd name="connsiteY3" fmla="*/ 113737 h 125424"/>
                  <a:gd name="connsiteX4" fmla="*/ 38878 w 62588"/>
                  <a:gd name="connsiteY4" fmla="*/ 113737 h 125424"/>
                  <a:gd name="connsiteX5" fmla="*/ 2878 w 62588"/>
                  <a:gd name="connsiteY5" fmla="*/ 20112 h 125424"/>
                  <a:gd name="connsiteX6" fmla="*/ 2878 w 62588"/>
                  <a:gd name="connsiteY6" fmla="*/ 3321 h 125424"/>
                  <a:gd name="connsiteX7" fmla="*/ 19231 w 62588"/>
                  <a:gd name="connsiteY7" fmla="*/ 3079 h 125424"/>
                  <a:gd name="connsiteX8" fmla="*/ 19473 w 62588"/>
                  <a:gd name="connsiteY8" fmla="*/ 3321 h 125424"/>
                  <a:gd name="connsiteX9" fmla="*/ 20780 w 62588"/>
                  <a:gd name="connsiteY9" fmla="*/ 4889 h 125424"/>
                  <a:gd name="connsiteX10" fmla="*/ 62006 w 62588"/>
                  <a:gd name="connsiteY10" fmla="*/ 113018 h 125424"/>
                  <a:gd name="connsiteX11" fmla="*/ 51748 w 62588"/>
                  <a:gd name="connsiteY11" fmla="*/ 125236 h 125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588" h="125424">
                    <a:moveTo>
                      <a:pt x="51748" y="125236"/>
                    </a:moveTo>
                    <a:lnTo>
                      <a:pt x="50769" y="125236"/>
                    </a:lnTo>
                    <a:cubicBezTo>
                      <a:pt x="44313" y="125347"/>
                      <a:pt x="38988" y="120198"/>
                      <a:pt x="38878" y="113737"/>
                    </a:cubicBezTo>
                    <a:cubicBezTo>
                      <a:pt x="38878" y="113737"/>
                      <a:pt x="38878" y="113737"/>
                      <a:pt x="38878" y="113737"/>
                    </a:cubicBezTo>
                    <a:lnTo>
                      <a:pt x="38878" y="113737"/>
                    </a:lnTo>
                    <a:cubicBezTo>
                      <a:pt x="36238" y="79691"/>
                      <a:pt x="23726" y="47154"/>
                      <a:pt x="2878" y="20112"/>
                    </a:cubicBezTo>
                    <a:cubicBezTo>
                      <a:pt x="-1715" y="15454"/>
                      <a:pt x="-1715" y="7980"/>
                      <a:pt x="2878" y="3321"/>
                    </a:cubicBezTo>
                    <a:cubicBezTo>
                      <a:pt x="7328" y="-1259"/>
                      <a:pt x="14645" y="-1370"/>
                      <a:pt x="19231" y="3079"/>
                    </a:cubicBezTo>
                    <a:cubicBezTo>
                      <a:pt x="19310" y="3158"/>
                      <a:pt x="19395" y="3236"/>
                      <a:pt x="19473" y="3321"/>
                    </a:cubicBezTo>
                    <a:cubicBezTo>
                      <a:pt x="19957" y="3798"/>
                      <a:pt x="20394" y="4327"/>
                      <a:pt x="20780" y="4889"/>
                    </a:cubicBezTo>
                    <a:cubicBezTo>
                      <a:pt x="44934" y="36047"/>
                      <a:pt x="59288" y="73687"/>
                      <a:pt x="62006" y="113018"/>
                    </a:cubicBezTo>
                    <a:cubicBezTo>
                      <a:pt x="62326" y="119153"/>
                      <a:pt x="57844" y="124491"/>
                      <a:pt x="51748" y="125236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1" name="任意多边形 49">
                <a:extLst>
                  <a:ext uri="{FF2B5EF4-FFF2-40B4-BE49-F238E27FC236}">
                    <a16:creationId xmlns:a16="http://schemas.microsoft.com/office/drawing/2014/main" id="{6537042B-D332-4F6F-A22C-78315B3DD88D}"/>
                  </a:ext>
                </a:extLst>
              </p:cNvPr>
              <p:cNvSpPr/>
              <p:nvPr/>
            </p:nvSpPr>
            <p:spPr>
              <a:xfrm>
                <a:off x="5414700" y="5330878"/>
                <a:ext cx="62719" cy="125367"/>
              </a:xfrm>
              <a:custGeom>
                <a:avLst/>
                <a:gdLst>
                  <a:gd name="connsiteX0" fmla="*/ 51625 w 62719"/>
                  <a:gd name="connsiteY0" fmla="*/ 125141 h 125367"/>
                  <a:gd name="connsiteX1" fmla="*/ 51625 w 62719"/>
                  <a:gd name="connsiteY1" fmla="*/ 125141 h 125367"/>
                  <a:gd name="connsiteX2" fmla="*/ 39290 w 62719"/>
                  <a:gd name="connsiteY2" fmla="*/ 114688 h 125367"/>
                  <a:gd name="connsiteX3" fmla="*/ 39277 w 62719"/>
                  <a:gd name="connsiteY3" fmla="*/ 114492 h 125367"/>
                  <a:gd name="connsiteX4" fmla="*/ 39277 w 62719"/>
                  <a:gd name="connsiteY4" fmla="*/ 114492 h 125367"/>
                  <a:gd name="connsiteX5" fmla="*/ 1317 w 62719"/>
                  <a:gd name="connsiteY5" fmla="*/ 18384 h 125367"/>
                  <a:gd name="connsiteX6" fmla="*/ 4519 w 62719"/>
                  <a:gd name="connsiteY6" fmla="*/ 1789 h 125367"/>
                  <a:gd name="connsiteX7" fmla="*/ 20062 w 62719"/>
                  <a:gd name="connsiteY7" fmla="*/ 4644 h 125367"/>
                  <a:gd name="connsiteX8" fmla="*/ 20329 w 62719"/>
                  <a:gd name="connsiteY8" fmla="*/ 5056 h 125367"/>
                  <a:gd name="connsiteX9" fmla="*/ 62078 w 62719"/>
                  <a:gd name="connsiteY9" fmla="*/ 111747 h 125367"/>
                  <a:gd name="connsiteX10" fmla="*/ 52147 w 62719"/>
                  <a:gd name="connsiteY10" fmla="*/ 124814 h 125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2719" h="125367">
                    <a:moveTo>
                      <a:pt x="51625" y="125141"/>
                    </a:moveTo>
                    <a:lnTo>
                      <a:pt x="51625" y="125141"/>
                    </a:lnTo>
                    <a:cubicBezTo>
                      <a:pt x="45333" y="125657"/>
                      <a:pt x="39812" y="120979"/>
                      <a:pt x="39290" y="114688"/>
                    </a:cubicBezTo>
                    <a:cubicBezTo>
                      <a:pt x="39283" y="114622"/>
                      <a:pt x="39283" y="114557"/>
                      <a:pt x="39277" y="114492"/>
                    </a:cubicBezTo>
                    <a:lnTo>
                      <a:pt x="39277" y="114492"/>
                    </a:lnTo>
                    <a:cubicBezTo>
                      <a:pt x="35683" y="73331"/>
                      <a:pt x="1709" y="19364"/>
                      <a:pt x="1317" y="18384"/>
                    </a:cubicBezTo>
                    <a:cubicBezTo>
                      <a:pt x="-2126" y="12870"/>
                      <a:pt x="-728" y="5631"/>
                      <a:pt x="4519" y="1789"/>
                    </a:cubicBezTo>
                    <a:cubicBezTo>
                      <a:pt x="9595" y="-1713"/>
                      <a:pt x="16553" y="-439"/>
                      <a:pt x="20062" y="4644"/>
                    </a:cubicBezTo>
                    <a:cubicBezTo>
                      <a:pt x="20153" y="4781"/>
                      <a:pt x="20245" y="4919"/>
                      <a:pt x="20329" y="5056"/>
                    </a:cubicBezTo>
                    <a:cubicBezTo>
                      <a:pt x="21897" y="7408"/>
                      <a:pt x="57962" y="63857"/>
                      <a:pt x="62078" y="111747"/>
                    </a:cubicBezTo>
                    <a:cubicBezTo>
                      <a:pt x="62784" y="118052"/>
                      <a:pt x="58413" y="123808"/>
                      <a:pt x="52147" y="12481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2" name="任意多边形 50">
                <a:extLst>
                  <a:ext uri="{FF2B5EF4-FFF2-40B4-BE49-F238E27FC236}">
                    <a16:creationId xmlns:a16="http://schemas.microsoft.com/office/drawing/2014/main" id="{DA97BCE4-6425-479B-9F26-A5DA741A7DE1}"/>
                  </a:ext>
                </a:extLst>
              </p:cNvPr>
              <p:cNvSpPr/>
              <p:nvPr/>
            </p:nvSpPr>
            <p:spPr>
              <a:xfrm>
                <a:off x="5414700" y="5330878"/>
                <a:ext cx="62719" cy="125367"/>
              </a:xfrm>
              <a:custGeom>
                <a:avLst/>
                <a:gdLst>
                  <a:gd name="connsiteX0" fmla="*/ 51625 w 62719"/>
                  <a:gd name="connsiteY0" fmla="*/ 125141 h 125367"/>
                  <a:gd name="connsiteX1" fmla="*/ 51625 w 62719"/>
                  <a:gd name="connsiteY1" fmla="*/ 125141 h 125367"/>
                  <a:gd name="connsiteX2" fmla="*/ 39290 w 62719"/>
                  <a:gd name="connsiteY2" fmla="*/ 114688 h 125367"/>
                  <a:gd name="connsiteX3" fmla="*/ 39277 w 62719"/>
                  <a:gd name="connsiteY3" fmla="*/ 114492 h 125367"/>
                  <a:gd name="connsiteX4" fmla="*/ 39277 w 62719"/>
                  <a:gd name="connsiteY4" fmla="*/ 114492 h 125367"/>
                  <a:gd name="connsiteX5" fmla="*/ 1317 w 62719"/>
                  <a:gd name="connsiteY5" fmla="*/ 18384 h 125367"/>
                  <a:gd name="connsiteX6" fmla="*/ 4519 w 62719"/>
                  <a:gd name="connsiteY6" fmla="*/ 1789 h 125367"/>
                  <a:gd name="connsiteX7" fmla="*/ 20062 w 62719"/>
                  <a:gd name="connsiteY7" fmla="*/ 4644 h 125367"/>
                  <a:gd name="connsiteX8" fmla="*/ 20329 w 62719"/>
                  <a:gd name="connsiteY8" fmla="*/ 5056 h 125367"/>
                  <a:gd name="connsiteX9" fmla="*/ 62078 w 62719"/>
                  <a:gd name="connsiteY9" fmla="*/ 111747 h 125367"/>
                  <a:gd name="connsiteX10" fmla="*/ 52147 w 62719"/>
                  <a:gd name="connsiteY10" fmla="*/ 124814 h 125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2719" h="125367">
                    <a:moveTo>
                      <a:pt x="51625" y="125141"/>
                    </a:moveTo>
                    <a:lnTo>
                      <a:pt x="51625" y="125141"/>
                    </a:lnTo>
                    <a:cubicBezTo>
                      <a:pt x="45333" y="125657"/>
                      <a:pt x="39812" y="120979"/>
                      <a:pt x="39290" y="114688"/>
                    </a:cubicBezTo>
                    <a:cubicBezTo>
                      <a:pt x="39283" y="114622"/>
                      <a:pt x="39283" y="114557"/>
                      <a:pt x="39277" y="114492"/>
                    </a:cubicBezTo>
                    <a:lnTo>
                      <a:pt x="39277" y="114492"/>
                    </a:lnTo>
                    <a:cubicBezTo>
                      <a:pt x="35683" y="73331"/>
                      <a:pt x="1709" y="19364"/>
                      <a:pt x="1317" y="18384"/>
                    </a:cubicBezTo>
                    <a:cubicBezTo>
                      <a:pt x="-2126" y="12870"/>
                      <a:pt x="-728" y="5631"/>
                      <a:pt x="4519" y="1789"/>
                    </a:cubicBezTo>
                    <a:cubicBezTo>
                      <a:pt x="9595" y="-1713"/>
                      <a:pt x="16553" y="-439"/>
                      <a:pt x="20062" y="4644"/>
                    </a:cubicBezTo>
                    <a:cubicBezTo>
                      <a:pt x="20153" y="4781"/>
                      <a:pt x="20245" y="4919"/>
                      <a:pt x="20329" y="5056"/>
                    </a:cubicBezTo>
                    <a:cubicBezTo>
                      <a:pt x="21897" y="7408"/>
                      <a:pt x="57962" y="63857"/>
                      <a:pt x="62078" y="111747"/>
                    </a:cubicBezTo>
                    <a:cubicBezTo>
                      <a:pt x="62784" y="118052"/>
                      <a:pt x="58413" y="123808"/>
                      <a:pt x="52147" y="124814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3" name="任意多边形 51">
                <a:extLst>
                  <a:ext uri="{FF2B5EF4-FFF2-40B4-BE49-F238E27FC236}">
                    <a16:creationId xmlns:a16="http://schemas.microsoft.com/office/drawing/2014/main" id="{DB88A295-6503-441F-BF0F-F09F0A7B8ECF}"/>
                  </a:ext>
                </a:extLst>
              </p:cNvPr>
              <p:cNvSpPr/>
              <p:nvPr/>
            </p:nvSpPr>
            <p:spPr>
              <a:xfrm>
                <a:off x="5468436" y="5322382"/>
                <a:ext cx="62735" cy="124901"/>
              </a:xfrm>
              <a:custGeom>
                <a:avLst/>
                <a:gdLst>
                  <a:gd name="connsiteX0" fmla="*/ 51268 w 62735"/>
                  <a:gd name="connsiteY0" fmla="*/ 124621 h 124901"/>
                  <a:gd name="connsiteX1" fmla="*/ 38821 w 62735"/>
                  <a:gd name="connsiteY1" fmla="*/ 115043 h 124901"/>
                  <a:gd name="connsiteX2" fmla="*/ 38920 w 62735"/>
                  <a:gd name="connsiteY2" fmla="*/ 111554 h 124901"/>
                  <a:gd name="connsiteX3" fmla="*/ 38920 w 62735"/>
                  <a:gd name="connsiteY3" fmla="*/ 111554 h 124901"/>
                  <a:gd name="connsiteX4" fmla="*/ 1548 w 62735"/>
                  <a:gd name="connsiteY4" fmla="*/ 18452 h 124901"/>
                  <a:gd name="connsiteX5" fmla="*/ 4292 w 62735"/>
                  <a:gd name="connsiteY5" fmla="*/ 1988 h 124901"/>
                  <a:gd name="connsiteX6" fmla="*/ 16314 w 62735"/>
                  <a:gd name="connsiteY6" fmla="*/ 1204 h 124901"/>
                  <a:gd name="connsiteX7" fmla="*/ 60872 w 62735"/>
                  <a:gd name="connsiteY7" fmla="*/ 115801 h 124901"/>
                  <a:gd name="connsiteX8" fmla="*/ 51268 w 62735"/>
                  <a:gd name="connsiteY8" fmla="*/ 124621 h 124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735" h="124901">
                    <a:moveTo>
                      <a:pt x="51268" y="124621"/>
                    </a:moveTo>
                    <a:cubicBezTo>
                      <a:pt x="45185" y="125411"/>
                      <a:pt x="39612" y="121125"/>
                      <a:pt x="38821" y="115043"/>
                    </a:cubicBezTo>
                    <a:cubicBezTo>
                      <a:pt x="38671" y="113880"/>
                      <a:pt x="38704" y="112704"/>
                      <a:pt x="38920" y="111554"/>
                    </a:cubicBezTo>
                    <a:lnTo>
                      <a:pt x="38920" y="111554"/>
                    </a:lnTo>
                    <a:cubicBezTo>
                      <a:pt x="46956" y="61638"/>
                      <a:pt x="1940" y="18844"/>
                      <a:pt x="1548" y="18452"/>
                    </a:cubicBezTo>
                    <a:cubicBezTo>
                      <a:pt x="-2117" y="13121"/>
                      <a:pt x="-902" y="5842"/>
                      <a:pt x="4292" y="1988"/>
                    </a:cubicBezTo>
                    <a:cubicBezTo>
                      <a:pt x="7801" y="-600"/>
                      <a:pt x="12498" y="-900"/>
                      <a:pt x="16314" y="1204"/>
                    </a:cubicBezTo>
                    <a:cubicBezTo>
                      <a:pt x="18535" y="3229"/>
                      <a:pt x="70999" y="52949"/>
                      <a:pt x="60872" y="115801"/>
                    </a:cubicBezTo>
                    <a:cubicBezTo>
                      <a:pt x="59742" y="120407"/>
                      <a:pt x="55952" y="123889"/>
                      <a:pt x="51268" y="1246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4" name="任意多边形 52">
                <a:extLst>
                  <a:ext uri="{FF2B5EF4-FFF2-40B4-BE49-F238E27FC236}">
                    <a16:creationId xmlns:a16="http://schemas.microsoft.com/office/drawing/2014/main" id="{E1E0961B-2456-4B04-9D8B-98674682079F}"/>
                  </a:ext>
                </a:extLst>
              </p:cNvPr>
              <p:cNvSpPr/>
              <p:nvPr/>
            </p:nvSpPr>
            <p:spPr>
              <a:xfrm>
                <a:off x="5468436" y="5322382"/>
                <a:ext cx="62735" cy="124901"/>
              </a:xfrm>
              <a:custGeom>
                <a:avLst/>
                <a:gdLst>
                  <a:gd name="connsiteX0" fmla="*/ 51268 w 62735"/>
                  <a:gd name="connsiteY0" fmla="*/ 124621 h 124901"/>
                  <a:gd name="connsiteX1" fmla="*/ 38821 w 62735"/>
                  <a:gd name="connsiteY1" fmla="*/ 115043 h 124901"/>
                  <a:gd name="connsiteX2" fmla="*/ 38920 w 62735"/>
                  <a:gd name="connsiteY2" fmla="*/ 111554 h 124901"/>
                  <a:gd name="connsiteX3" fmla="*/ 38920 w 62735"/>
                  <a:gd name="connsiteY3" fmla="*/ 111554 h 124901"/>
                  <a:gd name="connsiteX4" fmla="*/ 1548 w 62735"/>
                  <a:gd name="connsiteY4" fmla="*/ 18452 h 124901"/>
                  <a:gd name="connsiteX5" fmla="*/ 4292 w 62735"/>
                  <a:gd name="connsiteY5" fmla="*/ 1988 h 124901"/>
                  <a:gd name="connsiteX6" fmla="*/ 16314 w 62735"/>
                  <a:gd name="connsiteY6" fmla="*/ 1204 h 124901"/>
                  <a:gd name="connsiteX7" fmla="*/ 60872 w 62735"/>
                  <a:gd name="connsiteY7" fmla="*/ 115801 h 124901"/>
                  <a:gd name="connsiteX8" fmla="*/ 51268 w 62735"/>
                  <a:gd name="connsiteY8" fmla="*/ 124621 h 124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735" h="124901">
                    <a:moveTo>
                      <a:pt x="51268" y="124621"/>
                    </a:moveTo>
                    <a:cubicBezTo>
                      <a:pt x="45185" y="125411"/>
                      <a:pt x="39612" y="121125"/>
                      <a:pt x="38821" y="115043"/>
                    </a:cubicBezTo>
                    <a:cubicBezTo>
                      <a:pt x="38671" y="113880"/>
                      <a:pt x="38704" y="112704"/>
                      <a:pt x="38920" y="111554"/>
                    </a:cubicBezTo>
                    <a:lnTo>
                      <a:pt x="38920" y="111554"/>
                    </a:lnTo>
                    <a:cubicBezTo>
                      <a:pt x="46956" y="61638"/>
                      <a:pt x="1940" y="18844"/>
                      <a:pt x="1548" y="18452"/>
                    </a:cubicBezTo>
                    <a:cubicBezTo>
                      <a:pt x="-2117" y="13121"/>
                      <a:pt x="-902" y="5842"/>
                      <a:pt x="4292" y="1988"/>
                    </a:cubicBezTo>
                    <a:cubicBezTo>
                      <a:pt x="7801" y="-600"/>
                      <a:pt x="12498" y="-900"/>
                      <a:pt x="16314" y="1204"/>
                    </a:cubicBezTo>
                    <a:cubicBezTo>
                      <a:pt x="18535" y="3229"/>
                      <a:pt x="70999" y="52949"/>
                      <a:pt x="60872" y="115801"/>
                    </a:cubicBezTo>
                    <a:cubicBezTo>
                      <a:pt x="59742" y="120407"/>
                      <a:pt x="55952" y="123889"/>
                      <a:pt x="51268" y="124621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5" name="任意多边形 53">
                <a:extLst>
                  <a:ext uri="{FF2B5EF4-FFF2-40B4-BE49-F238E27FC236}">
                    <a16:creationId xmlns:a16="http://schemas.microsoft.com/office/drawing/2014/main" id="{37D28C9F-77CC-4475-972F-63212E80C84C}"/>
                  </a:ext>
                </a:extLst>
              </p:cNvPr>
              <p:cNvSpPr/>
              <p:nvPr/>
            </p:nvSpPr>
            <p:spPr>
              <a:xfrm>
                <a:off x="5531320" y="5313097"/>
                <a:ext cx="62641" cy="125219"/>
              </a:xfrm>
              <a:custGeom>
                <a:avLst/>
                <a:gdLst>
                  <a:gd name="connsiteX0" fmla="*/ 49602 w 62641"/>
                  <a:gd name="connsiteY0" fmla="*/ 124890 h 125219"/>
                  <a:gd name="connsiteX1" fmla="*/ 45748 w 62641"/>
                  <a:gd name="connsiteY1" fmla="*/ 124890 h 125219"/>
                  <a:gd name="connsiteX2" fmla="*/ 36862 w 62641"/>
                  <a:gd name="connsiteY2" fmla="*/ 111823 h 125219"/>
                  <a:gd name="connsiteX3" fmla="*/ 2366 w 62641"/>
                  <a:gd name="connsiteY3" fmla="*/ 18917 h 125219"/>
                  <a:gd name="connsiteX4" fmla="*/ 3143 w 62641"/>
                  <a:gd name="connsiteY4" fmla="*/ 2949 h 125219"/>
                  <a:gd name="connsiteX5" fmla="*/ 3411 w 62641"/>
                  <a:gd name="connsiteY5" fmla="*/ 2714 h 125219"/>
                  <a:gd name="connsiteX6" fmla="*/ 20071 w 62641"/>
                  <a:gd name="connsiteY6" fmla="*/ 3564 h 125219"/>
                  <a:gd name="connsiteX7" fmla="*/ 20071 w 62641"/>
                  <a:gd name="connsiteY7" fmla="*/ 3564 h 125219"/>
                  <a:gd name="connsiteX8" fmla="*/ 59925 w 62641"/>
                  <a:gd name="connsiteY8" fmla="*/ 117246 h 125219"/>
                  <a:gd name="connsiteX9" fmla="*/ 49602 w 62641"/>
                  <a:gd name="connsiteY9" fmla="*/ 124890 h 125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2641" h="125219">
                    <a:moveTo>
                      <a:pt x="49602" y="124890"/>
                    </a:moveTo>
                    <a:cubicBezTo>
                      <a:pt x="48322" y="125080"/>
                      <a:pt x="47028" y="125080"/>
                      <a:pt x="45748" y="124890"/>
                    </a:cubicBezTo>
                    <a:cubicBezTo>
                      <a:pt x="39809" y="123551"/>
                      <a:pt x="35921" y="117840"/>
                      <a:pt x="36862" y="111823"/>
                    </a:cubicBezTo>
                    <a:cubicBezTo>
                      <a:pt x="47120" y="68310"/>
                      <a:pt x="2888" y="18917"/>
                      <a:pt x="2366" y="18917"/>
                    </a:cubicBezTo>
                    <a:cubicBezTo>
                      <a:pt x="-1829" y="14291"/>
                      <a:pt x="-1483" y="7144"/>
                      <a:pt x="3143" y="2949"/>
                    </a:cubicBezTo>
                    <a:cubicBezTo>
                      <a:pt x="3228" y="2871"/>
                      <a:pt x="3319" y="2792"/>
                      <a:pt x="3411" y="2714"/>
                    </a:cubicBezTo>
                    <a:cubicBezTo>
                      <a:pt x="8311" y="-1461"/>
                      <a:pt x="15622" y="-1088"/>
                      <a:pt x="20071" y="3564"/>
                    </a:cubicBezTo>
                    <a:lnTo>
                      <a:pt x="20071" y="3564"/>
                    </a:lnTo>
                    <a:cubicBezTo>
                      <a:pt x="22293" y="5916"/>
                      <a:pt x="72992" y="62038"/>
                      <a:pt x="59925" y="117246"/>
                    </a:cubicBezTo>
                    <a:cubicBezTo>
                      <a:pt x="58331" y="121636"/>
                      <a:pt x="54267" y="124648"/>
                      <a:pt x="49602" y="1248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6" name="任意多边形 54">
                <a:extLst>
                  <a:ext uri="{FF2B5EF4-FFF2-40B4-BE49-F238E27FC236}">
                    <a16:creationId xmlns:a16="http://schemas.microsoft.com/office/drawing/2014/main" id="{F1AEA056-99E4-4DF8-97FE-7F9D593D2074}"/>
                  </a:ext>
                </a:extLst>
              </p:cNvPr>
              <p:cNvSpPr/>
              <p:nvPr/>
            </p:nvSpPr>
            <p:spPr>
              <a:xfrm>
                <a:off x="5531320" y="5313097"/>
                <a:ext cx="62641" cy="125219"/>
              </a:xfrm>
              <a:custGeom>
                <a:avLst/>
                <a:gdLst>
                  <a:gd name="connsiteX0" fmla="*/ 49602 w 62641"/>
                  <a:gd name="connsiteY0" fmla="*/ 124890 h 125219"/>
                  <a:gd name="connsiteX1" fmla="*/ 45748 w 62641"/>
                  <a:gd name="connsiteY1" fmla="*/ 124890 h 125219"/>
                  <a:gd name="connsiteX2" fmla="*/ 36862 w 62641"/>
                  <a:gd name="connsiteY2" fmla="*/ 111823 h 125219"/>
                  <a:gd name="connsiteX3" fmla="*/ 2366 w 62641"/>
                  <a:gd name="connsiteY3" fmla="*/ 18917 h 125219"/>
                  <a:gd name="connsiteX4" fmla="*/ 3143 w 62641"/>
                  <a:gd name="connsiteY4" fmla="*/ 2949 h 125219"/>
                  <a:gd name="connsiteX5" fmla="*/ 3411 w 62641"/>
                  <a:gd name="connsiteY5" fmla="*/ 2714 h 125219"/>
                  <a:gd name="connsiteX6" fmla="*/ 20071 w 62641"/>
                  <a:gd name="connsiteY6" fmla="*/ 3564 h 125219"/>
                  <a:gd name="connsiteX7" fmla="*/ 20071 w 62641"/>
                  <a:gd name="connsiteY7" fmla="*/ 3564 h 125219"/>
                  <a:gd name="connsiteX8" fmla="*/ 59925 w 62641"/>
                  <a:gd name="connsiteY8" fmla="*/ 117246 h 125219"/>
                  <a:gd name="connsiteX9" fmla="*/ 49602 w 62641"/>
                  <a:gd name="connsiteY9" fmla="*/ 124890 h 125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2641" h="125219">
                    <a:moveTo>
                      <a:pt x="49602" y="124890"/>
                    </a:moveTo>
                    <a:cubicBezTo>
                      <a:pt x="48322" y="125080"/>
                      <a:pt x="47028" y="125080"/>
                      <a:pt x="45748" y="124890"/>
                    </a:cubicBezTo>
                    <a:cubicBezTo>
                      <a:pt x="39809" y="123551"/>
                      <a:pt x="35921" y="117840"/>
                      <a:pt x="36862" y="111823"/>
                    </a:cubicBezTo>
                    <a:cubicBezTo>
                      <a:pt x="47120" y="68310"/>
                      <a:pt x="2888" y="18917"/>
                      <a:pt x="2366" y="18917"/>
                    </a:cubicBezTo>
                    <a:cubicBezTo>
                      <a:pt x="-1829" y="14291"/>
                      <a:pt x="-1483" y="7144"/>
                      <a:pt x="3143" y="2949"/>
                    </a:cubicBezTo>
                    <a:cubicBezTo>
                      <a:pt x="3228" y="2871"/>
                      <a:pt x="3319" y="2792"/>
                      <a:pt x="3411" y="2714"/>
                    </a:cubicBezTo>
                    <a:cubicBezTo>
                      <a:pt x="8311" y="-1461"/>
                      <a:pt x="15622" y="-1088"/>
                      <a:pt x="20071" y="3564"/>
                    </a:cubicBezTo>
                    <a:lnTo>
                      <a:pt x="20071" y="3564"/>
                    </a:lnTo>
                    <a:cubicBezTo>
                      <a:pt x="22293" y="5916"/>
                      <a:pt x="72992" y="62038"/>
                      <a:pt x="59925" y="117246"/>
                    </a:cubicBezTo>
                    <a:cubicBezTo>
                      <a:pt x="58331" y="121636"/>
                      <a:pt x="54267" y="124648"/>
                      <a:pt x="49602" y="124890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7" name="任意多边形 55">
                <a:extLst>
                  <a:ext uri="{FF2B5EF4-FFF2-40B4-BE49-F238E27FC236}">
                    <a16:creationId xmlns:a16="http://schemas.microsoft.com/office/drawing/2014/main" id="{F46F9CD1-EE93-44B7-80EE-933429873743}"/>
                  </a:ext>
                </a:extLst>
              </p:cNvPr>
              <p:cNvSpPr/>
              <p:nvPr/>
            </p:nvSpPr>
            <p:spPr>
              <a:xfrm>
                <a:off x="6256985" y="5348731"/>
                <a:ext cx="546525" cy="250891"/>
              </a:xfrm>
              <a:custGeom>
                <a:avLst/>
                <a:gdLst>
                  <a:gd name="connsiteX0" fmla="*/ 529232 w 546525"/>
                  <a:gd name="connsiteY0" fmla="*/ -187 h 250891"/>
                  <a:gd name="connsiteX1" fmla="*/ 545958 w 546525"/>
                  <a:gd name="connsiteY1" fmla="*/ 48226 h 250891"/>
                  <a:gd name="connsiteX2" fmla="*/ 391442 w 546525"/>
                  <a:gd name="connsiteY2" fmla="*/ 165241 h 250891"/>
                  <a:gd name="connsiteX3" fmla="*/ 117428 w 546525"/>
                  <a:gd name="connsiteY3" fmla="*/ 241682 h 250891"/>
                  <a:gd name="connsiteX4" fmla="*/ 14787 w 546525"/>
                  <a:gd name="connsiteY4" fmla="*/ 250698 h 250891"/>
                  <a:gd name="connsiteX5" fmla="*/ -567 w 546525"/>
                  <a:gd name="connsiteY5" fmla="*/ 232601 h 250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46525" h="250891">
                    <a:moveTo>
                      <a:pt x="529232" y="-187"/>
                    </a:moveTo>
                    <a:lnTo>
                      <a:pt x="545958" y="48226"/>
                    </a:lnTo>
                    <a:cubicBezTo>
                      <a:pt x="545958" y="48226"/>
                      <a:pt x="524529" y="137212"/>
                      <a:pt x="391442" y="165241"/>
                    </a:cubicBezTo>
                    <a:cubicBezTo>
                      <a:pt x="258355" y="193269"/>
                      <a:pt x="181717" y="231359"/>
                      <a:pt x="117428" y="241682"/>
                    </a:cubicBezTo>
                    <a:cubicBezTo>
                      <a:pt x="83565" y="247850"/>
                      <a:pt x="49205" y="250868"/>
                      <a:pt x="14787" y="250698"/>
                    </a:cubicBezTo>
                    <a:lnTo>
                      <a:pt x="-567" y="232601"/>
                    </a:lnTo>
                    <a:close/>
                  </a:path>
                </a:pathLst>
              </a:custGeom>
              <a:solidFill>
                <a:srgbClr val="FFFFFF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8" name="任意多边形 56">
                <a:extLst>
                  <a:ext uri="{FF2B5EF4-FFF2-40B4-BE49-F238E27FC236}">
                    <a16:creationId xmlns:a16="http://schemas.microsoft.com/office/drawing/2014/main" id="{D8ECBEA8-D6CE-4BFB-890A-E8A6F518792D}"/>
                  </a:ext>
                </a:extLst>
              </p:cNvPr>
              <p:cNvSpPr/>
              <p:nvPr/>
            </p:nvSpPr>
            <p:spPr>
              <a:xfrm>
                <a:off x="6256985" y="5348731"/>
                <a:ext cx="546525" cy="250891"/>
              </a:xfrm>
              <a:custGeom>
                <a:avLst/>
                <a:gdLst>
                  <a:gd name="connsiteX0" fmla="*/ 529232 w 546525"/>
                  <a:gd name="connsiteY0" fmla="*/ -187 h 250891"/>
                  <a:gd name="connsiteX1" fmla="*/ 545958 w 546525"/>
                  <a:gd name="connsiteY1" fmla="*/ 48226 h 250891"/>
                  <a:gd name="connsiteX2" fmla="*/ 391442 w 546525"/>
                  <a:gd name="connsiteY2" fmla="*/ 165241 h 250891"/>
                  <a:gd name="connsiteX3" fmla="*/ 117428 w 546525"/>
                  <a:gd name="connsiteY3" fmla="*/ 241682 h 250891"/>
                  <a:gd name="connsiteX4" fmla="*/ 14787 w 546525"/>
                  <a:gd name="connsiteY4" fmla="*/ 250698 h 250891"/>
                  <a:gd name="connsiteX5" fmla="*/ -567 w 546525"/>
                  <a:gd name="connsiteY5" fmla="*/ 232601 h 250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46525" h="250891">
                    <a:moveTo>
                      <a:pt x="529232" y="-187"/>
                    </a:moveTo>
                    <a:lnTo>
                      <a:pt x="545958" y="48226"/>
                    </a:lnTo>
                    <a:cubicBezTo>
                      <a:pt x="545958" y="48226"/>
                      <a:pt x="524529" y="137212"/>
                      <a:pt x="391442" y="165241"/>
                    </a:cubicBezTo>
                    <a:cubicBezTo>
                      <a:pt x="258355" y="193269"/>
                      <a:pt x="181717" y="231359"/>
                      <a:pt x="117428" y="241682"/>
                    </a:cubicBezTo>
                    <a:cubicBezTo>
                      <a:pt x="83565" y="247850"/>
                      <a:pt x="49205" y="250868"/>
                      <a:pt x="14787" y="250698"/>
                    </a:cubicBezTo>
                    <a:lnTo>
                      <a:pt x="-567" y="232601"/>
                    </a:ln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9" name="任意多边形 57">
                <a:extLst>
                  <a:ext uri="{FF2B5EF4-FFF2-40B4-BE49-F238E27FC236}">
                    <a16:creationId xmlns:a16="http://schemas.microsoft.com/office/drawing/2014/main" id="{54D0FC62-331E-400E-8FE5-A35D08CA002F}"/>
                  </a:ext>
                </a:extLst>
              </p:cNvPr>
              <p:cNvSpPr/>
              <p:nvPr/>
            </p:nvSpPr>
            <p:spPr>
              <a:xfrm>
                <a:off x="6010542" y="5263795"/>
                <a:ext cx="788721" cy="313672"/>
              </a:xfrm>
              <a:custGeom>
                <a:avLst/>
                <a:gdLst>
                  <a:gd name="connsiteX0" fmla="*/ -567 w 788721"/>
                  <a:gd name="connsiteY0" fmla="*/ 157727 h 313672"/>
                  <a:gd name="connsiteX1" fmla="*/ 253847 w 788721"/>
                  <a:gd name="connsiteY1" fmla="*/ 313485 h 313672"/>
                  <a:gd name="connsiteX2" fmla="*/ 585617 w 788721"/>
                  <a:gd name="connsiteY2" fmla="*/ 229595 h 313672"/>
                  <a:gd name="connsiteX3" fmla="*/ 788154 w 788721"/>
                  <a:gd name="connsiteY3" fmla="*/ 96835 h 313672"/>
                  <a:gd name="connsiteX4" fmla="*/ 606001 w 788721"/>
                  <a:gd name="connsiteY4" fmla="*/ 21700 h 313672"/>
                  <a:gd name="connsiteX5" fmla="*/ 550467 w 788721"/>
                  <a:gd name="connsiteY5" fmla="*/ 31174 h 313672"/>
                  <a:gd name="connsiteX6" fmla="*/ 187532 w 788721"/>
                  <a:gd name="connsiteY6" fmla="*/ -187 h 313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8721" h="313672">
                    <a:moveTo>
                      <a:pt x="-567" y="157727"/>
                    </a:moveTo>
                    <a:lnTo>
                      <a:pt x="253847" y="313485"/>
                    </a:lnTo>
                    <a:cubicBezTo>
                      <a:pt x="366059" y="292369"/>
                      <a:pt x="476834" y="264353"/>
                      <a:pt x="585617" y="229595"/>
                    </a:cubicBezTo>
                    <a:cubicBezTo>
                      <a:pt x="694203" y="192942"/>
                      <a:pt x="788154" y="146882"/>
                      <a:pt x="788154" y="96835"/>
                    </a:cubicBezTo>
                    <a:cubicBezTo>
                      <a:pt x="788154" y="20785"/>
                      <a:pt x="703545" y="8764"/>
                      <a:pt x="606001" y="21700"/>
                    </a:cubicBezTo>
                    <a:cubicBezTo>
                      <a:pt x="587838" y="24052"/>
                      <a:pt x="569218" y="27319"/>
                      <a:pt x="550467" y="31174"/>
                    </a:cubicBezTo>
                    <a:cubicBezTo>
                      <a:pt x="395689" y="63841"/>
                      <a:pt x="187532" y="-187"/>
                      <a:pt x="187532" y="-187"/>
                    </a:cubicBezTo>
                    <a:close/>
                  </a:path>
                </a:pathLst>
              </a:custGeom>
              <a:solidFill>
                <a:srgbClr val="263238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0" name="任意多边形 58">
                <a:extLst>
                  <a:ext uri="{FF2B5EF4-FFF2-40B4-BE49-F238E27FC236}">
                    <a16:creationId xmlns:a16="http://schemas.microsoft.com/office/drawing/2014/main" id="{B346640C-76AF-4279-AFF6-C8F2BA3A4ACD}"/>
                  </a:ext>
                </a:extLst>
              </p:cNvPr>
              <p:cNvSpPr/>
              <p:nvPr/>
            </p:nvSpPr>
            <p:spPr>
              <a:xfrm>
                <a:off x="6006165" y="5268107"/>
                <a:ext cx="448261" cy="250885"/>
              </a:xfrm>
              <a:custGeom>
                <a:avLst/>
                <a:gdLst>
                  <a:gd name="connsiteX0" fmla="*/ -567 w 448261"/>
                  <a:gd name="connsiteY0" fmla="*/ 158054 h 250885"/>
                  <a:gd name="connsiteX1" fmla="*/ 147155 w 448261"/>
                  <a:gd name="connsiteY1" fmla="*/ 250699 h 250885"/>
                  <a:gd name="connsiteX2" fmla="*/ 447695 w 448261"/>
                  <a:gd name="connsiteY2" fmla="*/ 40713 h 250885"/>
                  <a:gd name="connsiteX3" fmla="*/ 184853 w 448261"/>
                  <a:gd name="connsiteY3" fmla="*/ -187 h 250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8261" h="250885">
                    <a:moveTo>
                      <a:pt x="-567" y="158054"/>
                    </a:moveTo>
                    <a:lnTo>
                      <a:pt x="147155" y="250699"/>
                    </a:lnTo>
                    <a:cubicBezTo>
                      <a:pt x="266855" y="213915"/>
                      <a:pt x="371985" y="140459"/>
                      <a:pt x="447695" y="40713"/>
                    </a:cubicBezTo>
                    <a:cubicBezTo>
                      <a:pt x="358657" y="38739"/>
                      <a:pt x="270279" y="24987"/>
                      <a:pt x="184853" y="-187"/>
                    </a:cubicBezTo>
                    <a:close/>
                  </a:path>
                </a:pathLst>
              </a:custGeom>
              <a:solidFill>
                <a:srgbClr val="000000">
                  <a:alpha val="70000"/>
                </a:srgbClr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1" name="任意多边形 59">
                <a:extLst>
                  <a:ext uri="{FF2B5EF4-FFF2-40B4-BE49-F238E27FC236}">
                    <a16:creationId xmlns:a16="http://schemas.microsoft.com/office/drawing/2014/main" id="{0ED81AD3-1E1E-4588-82E2-EEBE3B12C094}"/>
                  </a:ext>
                </a:extLst>
              </p:cNvPr>
              <p:cNvSpPr/>
              <p:nvPr/>
            </p:nvSpPr>
            <p:spPr>
              <a:xfrm>
                <a:off x="6006165" y="5268107"/>
                <a:ext cx="448261" cy="250885"/>
              </a:xfrm>
              <a:custGeom>
                <a:avLst/>
                <a:gdLst>
                  <a:gd name="connsiteX0" fmla="*/ -567 w 448261"/>
                  <a:gd name="connsiteY0" fmla="*/ 158054 h 250885"/>
                  <a:gd name="connsiteX1" fmla="*/ 147155 w 448261"/>
                  <a:gd name="connsiteY1" fmla="*/ 250699 h 250885"/>
                  <a:gd name="connsiteX2" fmla="*/ 447695 w 448261"/>
                  <a:gd name="connsiteY2" fmla="*/ 40713 h 250885"/>
                  <a:gd name="connsiteX3" fmla="*/ 184853 w 448261"/>
                  <a:gd name="connsiteY3" fmla="*/ -187 h 250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8261" h="250885">
                    <a:moveTo>
                      <a:pt x="-567" y="158054"/>
                    </a:moveTo>
                    <a:lnTo>
                      <a:pt x="147155" y="250699"/>
                    </a:lnTo>
                    <a:cubicBezTo>
                      <a:pt x="266848" y="213896"/>
                      <a:pt x="371972" y="140446"/>
                      <a:pt x="447695" y="40713"/>
                    </a:cubicBezTo>
                    <a:cubicBezTo>
                      <a:pt x="358657" y="38739"/>
                      <a:pt x="270279" y="24987"/>
                      <a:pt x="184853" y="-187"/>
                    </a:cubicBezTo>
                    <a:close/>
                  </a:path>
                </a:pathLst>
              </a:custGeom>
              <a:noFill/>
              <a:ln w="1633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2" name="任意多边形 60">
                <a:extLst>
                  <a:ext uri="{FF2B5EF4-FFF2-40B4-BE49-F238E27FC236}">
                    <a16:creationId xmlns:a16="http://schemas.microsoft.com/office/drawing/2014/main" id="{70384228-733D-4922-83B0-0C50F9E16F18}"/>
                  </a:ext>
                </a:extLst>
              </p:cNvPr>
              <p:cNvSpPr/>
              <p:nvPr/>
            </p:nvSpPr>
            <p:spPr>
              <a:xfrm>
                <a:off x="6006165" y="5268107"/>
                <a:ext cx="788655" cy="313606"/>
              </a:xfrm>
              <a:custGeom>
                <a:avLst/>
                <a:gdLst>
                  <a:gd name="connsiteX0" fmla="*/ -567 w 788655"/>
                  <a:gd name="connsiteY0" fmla="*/ 157662 h 313606"/>
                  <a:gd name="connsiteX1" fmla="*/ 253847 w 788655"/>
                  <a:gd name="connsiteY1" fmla="*/ 313420 h 313606"/>
                  <a:gd name="connsiteX2" fmla="*/ 585551 w 788655"/>
                  <a:gd name="connsiteY2" fmla="*/ 229530 h 313606"/>
                  <a:gd name="connsiteX3" fmla="*/ 788089 w 788655"/>
                  <a:gd name="connsiteY3" fmla="*/ 96835 h 313606"/>
                  <a:gd name="connsiteX4" fmla="*/ 606001 w 788655"/>
                  <a:gd name="connsiteY4" fmla="*/ 21635 h 313606"/>
                  <a:gd name="connsiteX5" fmla="*/ 550401 w 788655"/>
                  <a:gd name="connsiteY5" fmla="*/ 31109 h 313606"/>
                  <a:gd name="connsiteX6" fmla="*/ 187532 w 788655"/>
                  <a:gd name="connsiteY6" fmla="*/ -187 h 313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8655" h="313606">
                    <a:moveTo>
                      <a:pt x="-567" y="157662"/>
                    </a:moveTo>
                    <a:lnTo>
                      <a:pt x="253847" y="313420"/>
                    </a:lnTo>
                    <a:cubicBezTo>
                      <a:pt x="366040" y="292330"/>
                      <a:pt x="476834" y="264308"/>
                      <a:pt x="585551" y="229530"/>
                    </a:cubicBezTo>
                    <a:cubicBezTo>
                      <a:pt x="694137" y="192942"/>
                      <a:pt x="788089" y="146882"/>
                      <a:pt x="788089" y="96835"/>
                    </a:cubicBezTo>
                    <a:cubicBezTo>
                      <a:pt x="788089" y="20720"/>
                      <a:pt x="703546" y="8764"/>
                      <a:pt x="606001" y="21635"/>
                    </a:cubicBezTo>
                    <a:cubicBezTo>
                      <a:pt x="587772" y="24052"/>
                      <a:pt x="569152" y="27319"/>
                      <a:pt x="550401" y="31109"/>
                    </a:cubicBezTo>
                    <a:cubicBezTo>
                      <a:pt x="395689" y="63776"/>
                      <a:pt x="187532" y="-187"/>
                      <a:pt x="187532" y="-187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3" name="任意多边形 61">
                <a:extLst>
                  <a:ext uri="{FF2B5EF4-FFF2-40B4-BE49-F238E27FC236}">
                    <a16:creationId xmlns:a16="http://schemas.microsoft.com/office/drawing/2014/main" id="{8E0D5B61-9245-4110-9BD4-F16B6E9E05C6}"/>
                  </a:ext>
                </a:extLst>
              </p:cNvPr>
              <p:cNvSpPr/>
              <p:nvPr/>
            </p:nvSpPr>
            <p:spPr>
              <a:xfrm>
                <a:off x="6561586" y="5286004"/>
                <a:ext cx="232972" cy="215021"/>
              </a:xfrm>
              <a:custGeom>
                <a:avLst/>
                <a:gdLst>
                  <a:gd name="connsiteX0" fmla="*/ 26863 w 232972"/>
                  <a:gd name="connsiteY0" fmla="*/ 214835 h 215021"/>
                  <a:gd name="connsiteX1" fmla="*/ 232406 w 232972"/>
                  <a:gd name="connsiteY1" fmla="*/ 80507 h 215021"/>
                  <a:gd name="connsiteX2" fmla="*/ 47443 w 232972"/>
                  <a:gd name="connsiteY2" fmla="*/ 4326 h 215021"/>
                  <a:gd name="connsiteX3" fmla="*/ 26863 w 232972"/>
                  <a:gd name="connsiteY3" fmla="*/ 214835 h 215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972" h="215021">
                    <a:moveTo>
                      <a:pt x="26863" y="214835"/>
                    </a:moveTo>
                    <a:cubicBezTo>
                      <a:pt x="137213" y="177790"/>
                      <a:pt x="232406" y="131141"/>
                      <a:pt x="232406" y="80507"/>
                    </a:cubicBezTo>
                    <a:cubicBezTo>
                      <a:pt x="232406" y="3412"/>
                      <a:pt x="146491" y="-8675"/>
                      <a:pt x="47443" y="4326"/>
                    </a:cubicBezTo>
                    <a:cubicBezTo>
                      <a:pt x="43066" y="8900"/>
                      <a:pt x="-43437" y="109384"/>
                      <a:pt x="26863" y="2148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4" name="任意多边形 62">
                <a:extLst>
                  <a:ext uri="{FF2B5EF4-FFF2-40B4-BE49-F238E27FC236}">
                    <a16:creationId xmlns:a16="http://schemas.microsoft.com/office/drawing/2014/main" id="{E43E57E4-6296-4728-8210-F2D4099E7521}"/>
                  </a:ext>
                </a:extLst>
              </p:cNvPr>
              <p:cNvSpPr/>
              <p:nvPr/>
            </p:nvSpPr>
            <p:spPr>
              <a:xfrm>
                <a:off x="6561586" y="5286004"/>
                <a:ext cx="232972" cy="215021"/>
              </a:xfrm>
              <a:custGeom>
                <a:avLst/>
                <a:gdLst>
                  <a:gd name="connsiteX0" fmla="*/ 26863 w 232972"/>
                  <a:gd name="connsiteY0" fmla="*/ 214835 h 215021"/>
                  <a:gd name="connsiteX1" fmla="*/ 232406 w 232972"/>
                  <a:gd name="connsiteY1" fmla="*/ 80507 h 215021"/>
                  <a:gd name="connsiteX2" fmla="*/ 47443 w 232972"/>
                  <a:gd name="connsiteY2" fmla="*/ 4326 h 215021"/>
                  <a:gd name="connsiteX3" fmla="*/ 26863 w 232972"/>
                  <a:gd name="connsiteY3" fmla="*/ 214835 h 215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972" h="215021">
                    <a:moveTo>
                      <a:pt x="26863" y="214835"/>
                    </a:moveTo>
                    <a:cubicBezTo>
                      <a:pt x="137213" y="177790"/>
                      <a:pt x="232406" y="131141"/>
                      <a:pt x="232406" y="80507"/>
                    </a:cubicBezTo>
                    <a:cubicBezTo>
                      <a:pt x="232406" y="3412"/>
                      <a:pt x="146491" y="-8675"/>
                      <a:pt x="47443" y="4326"/>
                    </a:cubicBezTo>
                    <a:cubicBezTo>
                      <a:pt x="43066" y="8900"/>
                      <a:pt x="-43437" y="109384"/>
                      <a:pt x="26863" y="214835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5" name="任意多边形 63">
                <a:extLst>
                  <a:ext uri="{FF2B5EF4-FFF2-40B4-BE49-F238E27FC236}">
                    <a16:creationId xmlns:a16="http://schemas.microsoft.com/office/drawing/2014/main" id="{2AFE2F11-59E1-4CAA-9F2B-A576BE853356}"/>
                  </a:ext>
                </a:extLst>
              </p:cNvPr>
              <p:cNvSpPr/>
              <p:nvPr/>
            </p:nvSpPr>
            <p:spPr>
              <a:xfrm>
                <a:off x="6490089" y="5285877"/>
                <a:ext cx="53682" cy="125575"/>
              </a:xfrm>
              <a:custGeom>
                <a:avLst/>
                <a:gdLst>
                  <a:gd name="connsiteX0" fmla="*/ 10158 w 53682"/>
                  <a:gd name="connsiteY0" fmla="*/ 125388 h 125575"/>
                  <a:gd name="connsiteX1" fmla="*/ 10812 w 53682"/>
                  <a:gd name="connsiteY1" fmla="*/ 125388 h 125575"/>
                  <a:gd name="connsiteX2" fmla="*/ 21200 w 53682"/>
                  <a:gd name="connsiteY2" fmla="*/ 112909 h 125575"/>
                  <a:gd name="connsiteX3" fmla="*/ 49882 w 53682"/>
                  <a:gd name="connsiteY3" fmla="*/ 19938 h 125575"/>
                  <a:gd name="connsiteX4" fmla="*/ 49882 w 53682"/>
                  <a:gd name="connsiteY4" fmla="*/ 3277 h 125575"/>
                  <a:gd name="connsiteX5" fmla="*/ 35116 w 53682"/>
                  <a:gd name="connsiteY5" fmla="*/ 2493 h 125575"/>
                  <a:gd name="connsiteX6" fmla="*/ 34332 w 53682"/>
                  <a:gd name="connsiteY6" fmla="*/ 3277 h 125575"/>
                  <a:gd name="connsiteX7" fmla="*/ 32895 w 53682"/>
                  <a:gd name="connsiteY7" fmla="*/ 5172 h 125575"/>
                  <a:gd name="connsiteX8" fmla="*/ -557 w 53682"/>
                  <a:gd name="connsiteY8" fmla="*/ 113628 h 125575"/>
                  <a:gd name="connsiteX9" fmla="*/ 10158 w 53682"/>
                  <a:gd name="connsiteY9" fmla="*/ 125388 h 125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3682" h="125575">
                    <a:moveTo>
                      <a:pt x="10158" y="125388"/>
                    </a:moveTo>
                    <a:lnTo>
                      <a:pt x="10812" y="125388"/>
                    </a:lnTo>
                    <a:cubicBezTo>
                      <a:pt x="17084" y="124702"/>
                      <a:pt x="21657" y="119188"/>
                      <a:pt x="21200" y="112909"/>
                    </a:cubicBezTo>
                    <a:cubicBezTo>
                      <a:pt x="21330" y="79758"/>
                      <a:pt x="31327" y="47392"/>
                      <a:pt x="49882" y="19938"/>
                    </a:cubicBezTo>
                    <a:cubicBezTo>
                      <a:pt x="54194" y="15221"/>
                      <a:pt x="54194" y="7995"/>
                      <a:pt x="49882" y="3277"/>
                    </a:cubicBezTo>
                    <a:cubicBezTo>
                      <a:pt x="46027" y="-1015"/>
                      <a:pt x="39428" y="-1368"/>
                      <a:pt x="35116" y="2493"/>
                    </a:cubicBezTo>
                    <a:cubicBezTo>
                      <a:pt x="34855" y="2742"/>
                      <a:pt x="34594" y="3003"/>
                      <a:pt x="34332" y="3277"/>
                    </a:cubicBezTo>
                    <a:cubicBezTo>
                      <a:pt x="33810" y="3846"/>
                      <a:pt x="33287" y="4486"/>
                      <a:pt x="32895" y="5172"/>
                    </a:cubicBezTo>
                    <a:cubicBezTo>
                      <a:pt x="10877" y="37030"/>
                      <a:pt x="-818" y="74898"/>
                      <a:pt x="-557" y="113628"/>
                    </a:cubicBezTo>
                    <a:cubicBezTo>
                      <a:pt x="-818" y="119822"/>
                      <a:pt x="3952" y="125068"/>
                      <a:pt x="10158" y="1253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6" name="任意多边形 64">
                <a:extLst>
                  <a:ext uri="{FF2B5EF4-FFF2-40B4-BE49-F238E27FC236}">
                    <a16:creationId xmlns:a16="http://schemas.microsoft.com/office/drawing/2014/main" id="{2A8EEC96-7A15-440F-94C4-17DD188FDCA9}"/>
                  </a:ext>
                </a:extLst>
              </p:cNvPr>
              <p:cNvSpPr/>
              <p:nvPr/>
            </p:nvSpPr>
            <p:spPr>
              <a:xfrm>
                <a:off x="6490089" y="5285877"/>
                <a:ext cx="53682" cy="125575"/>
              </a:xfrm>
              <a:custGeom>
                <a:avLst/>
                <a:gdLst>
                  <a:gd name="connsiteX0" fmla="*/ 10158 w 53682"/>
                  <a:gd name="connsiteY0" fmla="*/ 125388 h 125575"/>
                  <a:gd name="connsiteX1" fmla="*/ 10812 w 53682"/>
                  <a:gd name="connsiteY1" fmla="*/ 125388 h 125575"/>
                  <a:gd name="connsiteX2" fmla="*/ 21200 w 53682"/>
                  <a:gd name="connsiteY2" fmla="*/ 112909 h 125575"/>
                  <a:gd name="connsiteX3" fmla="*/ 49882 w 53682"/>
                  <a:gd name="connsiteY3" fmla="*/ 19938 h 125575"/>
                  <a:gd name="connsiteX4" fmla="*/ 49882 w 53682"/>
                  <a:gd name="connsiteY4" fmla="*/ 3277 h 125575"/>
                  <a:gd name="connsiteX5" fmla="*/ 35116 w 53682"/>
                  <a:gd name="connsiteY5" fmla="*/ 2493 h 125575"/>
                  <a:gd name="connsiteX6" fmla="*/ 34332 w 53682"/>
                  <a:gd name="connsiteY6" fmla="*/ 3277 h 125575"/>
                  <a:gd name="connsiteX7" fmla="*/ 32895 w 53682"/>
                  <a:gd name="connsiteY7" fmla="*/ 5172 h 125575"/>
                  <a:gd name="connsiteX8" fmla="*/ -557 w 53682"/>
                  <a:gd name="connsiteY8" fmla="*/ 113628 h 125575"/>
                  <a:gd name="connsiteX9" fmla="*/ 10158 w 53682"/>
                  <a:gd name="connsiteY9" fmla="*/ 125388 h 125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3682" h="125575">
                    <a:moveTo>
                      <a:pt x="10158" y="125388"/>
                    </a:moveTo>
                    <a:lnTo>
                      <a:pt x="10812" y="125388"/>
                    </a:lnTo>
                    <a:cubicBezTo>
                      <a:pt x="17084" y="124702"/>
                      <a:pt x="21657" y="119188"/>
                      <a:pt x="21200" y="112909"/>
                    </a:cubicBezTo>
                    <a:cubicBezTo>
                      <a:pt x="21330" y="79758"/>
                      <a:pt x="31327" y="47392"/>
                      <a:pt x="49882" y="19938"/>
                    </a:cubicBezTo>
                    <a:cubicBezTo>
                      <a:pt x="54194" y="15221"/>
                      <a:pt x="54194" y="7995"/>
                      <a:pt x="49882" y="3277"/>
                    </a:cubicBezTo>
                    <a:cubicBezTo>
                      <a:pt x="46027" y="-1015"/>
                      <a:pt x="39428" y="-1368"/>
                      <a:pt x="35116" y="2493"/>
                    </a:cubicBezTo>
                    <a:cubicBezTo>
                      <a:pt x="34855" y="2742"/>
                      <a:pt x="34594" y="3003"/>
                      <a:pt x="34332" y="3277"/>
                    </a:cubicBezTo>
                    <a:cubicBezTo>
                      <a:pt x="33810" y="3846"/>
                      <a:pt x="33287" y="4486"/>
                      <a:pt x="32895" y="5172"/>
                    </a:cubicBezTo>
                    <a:cubicBezTo>
                      <a:pt x="10877" y="37030"/>
                      <a:pt x="-818" y="74898"/>
                      <a:pt x="-557" y="113628"/>
                    </a:cubicBezTo>
                    <a:cubicBezTo>
                      <a:pt x="-818" y="119822"/>
                      <a:pt x="3952" y="125068"/>
                      <a:pt x="10158" y="125388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" name="任意多边形 65">
                <a:extLst>
                  <a:ext uri="{FF2B5EF4-FFF2-40B4-BE49-F238E27FC236}">
                    <a16:creationId xmlns:a16="http://schemas.microsoft.com/office/drawing/2014/main" id="{9EAE91E5-D48F-40CC-B8E9-D8D306F7B524}"/>
                  </a:ext>
                </a:extLst>
              </p:cNvPr>
              <p:cNvSpPr/>
              <p:nvPr/>
            </p:nvSpPr>
            <p:spPr>
              <a:xfrm>
                <a:off x="6445145" y="5295022"/>
                <a:ext cx="53731" cy="125383"/>
              </a:xfrm>
              <a:custGeom>
                <a:avLst/>
                <a:gdLst>
                  <a:gd name="connsiteX0" fmla="*/ 11720 w 53731"/>
                  <a:gd name="connsiteY0" fmla="*/ 125194 h 125383"/>
                  <a:gd name="connsiteX1" fmla="*/ 12831 w 53731"/>
                  <a:gd name="connsiteY1" fmla="*/ 125194 h 125383"/>
                  <a:gd name="connsiteX2" fmla="*/ 24003 w 53731"/>
                  <a:gd name="connsiteY2" fmla="*/ 112754 h 125383"/>
                  <a:gd name="connsiteX3" fmla="*/ 24003 w 53731"/>
                  <a:gd name="connsiteY3" fmla="*/ 112650 h 125383"/>
                  <a:gd name="connsiteX4" fmla="*/ 50987 w 53731"/>
                  <a:gd name="connsiteY4" fmla="*/ 18110 h 125383"/>
                  <a:gd name="connsiteX5" fmla="*/ 48569 w 53731"/>
                  <a:gd name="connsiteY5" fmla="*/ 2312 h 125383"/>
                  <a:gd name="connsiteX6" fmla="*/ 47850 w 53731"/>
                  <a:gd name="connsiteY6" fmla="*/ 1842 h 125383"/>
                  <a:gd name="connsiteX7" fmla="*/ 30602 w 53731"/>
                  <a:gd name="connsiteY7" fmla="*/ 4782 h 125383"/>
                  <a:gd name="connsiteX8" fmla="*/ -432 w 53731"/>
                  <a:gd name="connsiteY8" fmla="*/ 114152 h 125383"/>
                  <a:gd name="connsiteX9" fmla="*/ 11720 w 53731"/>
                  <a:gd name="connsiteY9" fmla="*/ 125194 h 125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3731" h="125383">
                    <a:moveTo>
                      <a:pt x="11720" y="125194"/>
                    </a:moveTo>
                    <a:lnTo>
                      <a:pt x="12831" y="125194"/>
                    </a:lnTo>
                    <a:cubicBezTo>
                      <a:pt x="19365" y="124848"/>
                      <a:pt x="24330" y="119274"/>
                      <a:pt x="24003" y="112754"/>
                    </a:cubicBezTo>
                    <a:cubicBezTo>
                      <a:pt x="24003" y="112721"/>
                      <a:pt x="24003" y="112682"/>
                      <a:pt x="24003" y="112650"/>
                    </a:cubicBezTo>
                    <a:cubicBezTo>
                      <a:pt x="23023" y="79107"/>
                      <a:pt x="32431" y="46087"/>
                      <a:pt x="50987" y="18110"/>
                    </a:cubicBezTo>
                    <a:cubicBezTo>
                      <a:pt x="54645" y="13073"/>
                      <a:pt x="53600" y="6004"/>
                      <a:pt x="48569" y="2312"/>
                    </a:cubicBezTo>
                    <a:cubicBezTo>
                      <a:pt x="48308" y="2149"/>
                      <a:pt x="48112" y="1992"/>
                      <a:pt x="47850" y="1842"/>
                    </a:cubicBezTo>
                    <a:cubicBezTo>
                      <a:pt x="42166" y="-1738"/>
                      <a:pt x="34718" y="-471"/>
                      <a:pt x="30602" y="4782"/>
                    </a:cubicBezTo>
                    <a:cubicBezTo>
                      <a:pt x="8944" y="37038"/>
                      <a:pt x="-1921" y="75331"/>
                      <a:pt x="-432" y="114152"/>
                    </a:cubicBezTo>
                    <a:cubicBezTo>
                      <a:pt x="52" y="120470"/>
                      <a:pt x="5383" y="125318"/>
                      <a:pt x="11720" y="1251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8" name="任意多边形 66">
                <a:extLst>
                  <a:ext uri="{FF2B5EF4-FFF2-40B4-BE49-F238E27FC236}">
                    <a16:creationId xmlns:a16="http://schemas.microsoft.com/office/drawing/2014/main" id="{C7A0EAF6-2710-49B9-86E6-6CD214B531DA}"/>
                  </a:ext>
                </a:extLst>
              </p:cNvPr>
              <p:cNvSpPr/>
              <p:nvPr/>
            </p:nvSpPr>
            <p:spPr>
              <a:xfrm>
                <a:off x="6445145" y="5295022"/>
                <a:ext cx="53731" cy="125383"/>
              </a:xfrm>
              <a:custGeom>
                <a:avLst/>
                <a:gdLst>
                  <a:gd name="connsiteX0" fmla="*/ 11720 w 53731"/>
                  <a:gd name="connsiteY0" fmla="*/ 125194 h 125383"/>
                  <a:gd name="connsiteX1" fmla="*/ 12831 w 53731"/>
                  <a:gd name="connsiteY1" fmla="*/ 125194 h 125383"/>
                  <a:gd name="connsiteX2" fmla="*/ 24003 w 53731"/>
                  <a:gd name="connsiteY2" fmla="*/ 112754 h 125383"/>
                  <a:gd name="connsiteX3" fmla="*/ 24003 w 53731"/>
                  <a:gd name="connsiteY3" fmla="*/ 112650 h 125383"/>
                  <a:gd name="connsiteX4" fmla="*/ 50987 w 53731"/>
                  <a:gd name="connsiteY4" fmla="*/ 18110 h 125383"/>
                  <a:gd name="connsiteX5" fmla="*/ 48569 w 53731"/>
                  <a:gd name="connsiteY5" fmla="*/ 2312 h 125383"/>
                  <a:gd name="connsiteX6" fmla="*/ 47850 w 53731"/>
                  <a:gd name="connsiteY6" fmla="*/ 1842 h 125383"/>
                  <a:gd name="connsiteX7" fmla="*/ 30602 w 53731"/>
                  <a:gd name="connsiteY7" fmla="*/ 4782 h 125383"/>
                  <a:gd name="connsiteX8" fmla="*/ -432 w 53731"/>
                  <a:gd name="connsiteY8" fmla="*/ 114152 h 125383"/>
                  <a:gd name="connsiteX9" fmla="*/ 11720 w 53731"/>
                  <a:gd name="connsiteY9" fmla="*/ 125194 h 125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3731" h="125383">
                    <a:moveTo>
                      <a:pt x="11720" y="125194"/>
                    </a:moveTo>
                    <a:lnTo>
                      <a:pt x="12831" y="125194"/>
                    </a:lnTo>
                    <a:cubicBezTo>
                      <a:pt x="19365" y="124848"/>
                      <a:pt x="24330" y="119274"/>
                      <a:pt x="24003" y="112754"/>
                    </a:cubicBezTo>
                    <a:cubicBezTo>
                      <a:pt x="24003" y="112721"/>
                      <a:pt x="24003" y="112682"/>
                      <a:pt x="24003" y="112650"/>
                    </a:cubicBezTo>
                    <a:cubicBezTo>
                      <a:pt x="23089" y="79113"/>
                      <a:pt x="32497" y="46106"/>
                      <a:pt x="50987" y="18110"/>
                    </a:cubicBezTo>
                    <a:cubicBezTo>
                      <a:pt x="54645" y="13073"/>
                      <a:pt x="53600" y="6004"/>
                      <a:pt x="48569" y="2312"/>
                    </a:cubicBezTo>
                    <a:cubicBezTo>
                      <a:pt x="48308" y="2149"/>
                      <a:pt x="48112" y="1992"/>
                      <a:pt x="47850" y="1842"/>
                    </a:cubicBezTo>
                    <a:cubicBezTo>
                      <a:pt x="42166" y="-1738"/>
                      <a:pt x="34718" y="-471"/>
                      <a:pt x="30602" y="4782"/>
                    </a:cubicBezTo>
                    <a:cubicBezTo>
                      <a:pt x="8944" y="37038"/>
                      <a:pt x="-1921" y="75331"/>
                      <a:pt x="-432" y="114152"/>
                    </a:cubicBezTo>
                    <a:cubicBezTo>
                      <a:pt x="52" y="120470"/>
                      <a:pt x="5383" y="125318"/>
                      <a:pt x="11720" y="125194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9" name="任意多边形 67">
                <a:extLst>
                  <a:ext uri="{FF2B5EF4-FFF2-40B4-BE49-F238E27FC236}">
                    <a16:creationId xmlns:a16="http://schemas.microsoft.com/office/drawing/2014/main" id="{9F2AD67B-54B2-4C11-B282-3B981288781B}"/>
                  </a:ext>
                </a:extLst>
              </p:cNvPr>
              <p:cNvSpPr/>
              <p:nvPr/>
            </p:nvSpPr>
            <p:spPr>
              <a:xfrm>
                <a:off x="6391940" y="5295146"/>
                <a:ext cx="44482" cy="125256"/>
              </a:xfrm>
              <a:custGeom>
                <a:avLst/>
                <a:gdLst>
                  <a:gd name="connsiteX0" fmla="*/ 8802 w 44482"/>
                  <a:gd name="connsiteY0" fmla="*/ 125070 h 125256"/>
                  <a:gd name="connsiteX1" fmla="*/ 8802 w 44482"/>
                  <a:gd name="connsiteY1" fmla="*/ 125070 h 125256"/>
                  <a:gd name="connsiteX2" fmla="*/ 18733 w 44482"/>
                  <a:gd name="connsiteY2" fmla="*/ 113310 h 125256"/>
                  <a:gd name="connsiteX3" fmla="*/ 42776 w 44482"/>
                  <a:gd name="connsiteY3" fmla="*/ 16745 h 125256"/>
                  <a:gd name="connsiteX4" fmla="*/ 38660 w 44482"/>
                  <a:gd name="connsiteY4" fmla="*/ 934 h 125256"/>
                  <a:gd name="connsiteX5" fmla="*/ 26168 w 44482"/>
                  <a:gd name="connsiteY5" fmla="*/ 4625 h 125256"/>
                  <a:gd name="connsiteX6" fmla="*/ 25593 w 44482"/>
                  <a:gd name="connsiteY6" fmla="*/ 5899 h 125256"/>
                  <a:gd name="connsiteX7" fmla="*/ -541 w 44482"/>
                  <a:gd name="connsiteY7" fmla="*/ 113702 h 125256"/>
                  <a:gd name="connsiteX8" fmla="*/ 8802 w 44482"/>
                  <a:gd name="connsiteY8" fmla="*/ 125070 h 125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482" h="125256">
                    <a:moveTo>
                      <a:pt x="8802" y="125070"/>
                    </a:moveTo>
                    <a:lnTo>
                      <a:pt x="8802" y="125070"/>
                    </a:lnTo>
                    <a:cubicBezTo>
                      <a:pt x="14767" y="124515"/>
                      <a:pt x="19184" y="119281"/>
                      <a:pt x="18733" y="113310"/>
                    </a:cubicBezTo>
                    <a:cubicBezTo>
                      <a:pt x="18080" y="72476"/>
                      <a:pt x="42450" y="17268"/>
                      <a:pt x="42776" y="16745"/>
                    </a:cubicBezTo>
                    <a:cubicBezTo>
                      <a:pt x="45272" y="11159"/>
                      <a:pt x="43567" y="4593"/>
                      <a:pt x="38660" y="934"/>
                    </a:cubicBezTo>
                    <a:cubicBezTo>
                      <a:pt x="34191" y="-1497"/>
                      <a:pt x="28599" y="157"/>
                      <a:pt x="26168" y="4625"/>
                    </a:cubicBezTo>
                    <a:cubicBezTo>
                      <a:pt x="25946" y="5037"/>
                      <a:pt x="25750" y="5462"/>
                      <a:pt x="25593" y="5899"/>
                    </a:cubicBezTo>
                    <a:cubicBezTo>
                      <a:pt x="24482" y="8317"/>
                      <a:pt x="-1390" y="66857"/>
                      <a:pt x="-541" y="113702"/>
                    </a:cubicBezTo>
                    <a:cubicBezTo>
                      <a:pt x="-933" y="119366"/>
                      <a:pt x="3164" y="124358"/>
                      <a:pt x="8802" y="1250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0" name="任意多边形 68">
                <a:extLst>
                  <a:ext uri="{FF2B5EF4-FFF2-40B4-BE49-F238E27FC236}">
                    <a16:creationId xmlns:a16="http://schemas.microsoft.com/office/drawing/2014/main" id="{28FA2629-DBB5-4F5D-B89F-19299B6048E2}"/>
                  </a:ext>
                </a:extLst>
              </p:cNvPr>
              <p:cNvSpPr/>
              <p:nvPr/>
            </p:nvSpPr>
            <p:spPr>
              <a:xfrm>
                <a:off x="6391940" y="5295146"/>
                <a:ext cx="44482" cy="125256"/>
              </a:xfrm>
              <a:custGeom>
                <a:avLst/>
                <a:gdLst>
                  <a:gd name="connsiteX0" fmla="*/ 8802 w 44482"/>
                  <a:gd name="connsiteY0" fmla="*/ 125070 h 125256"/>
                  <a:gd name="connsiteX1" fmla="*/ 8802 w 44482"/>
                  <a:gd name="connsiteY1" fmla="*/ 125070 h 125256"/>
                  <a:gd name="connsiteX2" fmla="*/ 18733 w 44482"/>
                  <a:gd name="connsiteY2" fmla="*/ 113310 h 125256"/>
                  <a:gd name="connsiteX3" fmla="*/ 42776 w 44482"/>
                  <a:gd name="connsiteY3" fmla="*/ 16745 h 125256"/>
                  <a:gd name="connsiteX4" fmla="*/ 38660 w 44482"/>
                  <a:gd name="connsiteY4" fmla="*/ 934 h 125256"/>
                  <a:gd name="connsiteX5" fmla="*/ 26168 w 44482"/>
                  <a:gd name="connsiteY5" fmla="*/ 4625 h 125256"/>
                  <a:gd name="connsiteX6" fmla="*/ 25593 w 44482"/>
                  <a:gd name="connsiteY6" fmla="*/ 5899 h 125256"/>
                  <a:gd name="connsiteX7" fmla="*/ -541 w 44482"/>
                  <a:gd name="connsiteY7" fmla="*/ 113702 h 125256"/>
                  <a:gd name="connsiteX8" fmla="*/ 8802 w 44482"/>
                  <a:gd name="connsiteY8" fmla="*/ 125070 h 125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482" h="125256">
                    <a:moveTo>
                      <a:pt x="8802" y="125070"/>
                    </a:moveTo>
                    <a:lnTo>
                      <a:pt x="8802" y="125070"/>
                    </a:lnTo>
                    <a:cubicBezTo>
                      <a:pt x="14767" y="124515"/>
                      <a:pt x="19184" y="119281"/>
                      <a:pt x="18733" y="113310"/>
                    </a:cubicBezTo>
                    <a:cubicBezTo>
                      <a:pt x="18080" y="72476"/>
                      <a:pt x="42450" y="17268"/>
                      <a:pt x="42776" y="16745"/>
                    </a:cubicBezTo>
                    <a:cubicBezTo>
                      <a:pt x="45272" y="11159"/>
                      <a:pt x="43567" y="4593"/>
                      <a:pt x="38660" y="934"/>
                    </a:cubicBezTo>
                    <a:cubicBezTo>
                      <a:pt x="34191" y="-1497"/>
                      <a:pt x="28599" y="157"/>
                      <a:pt x="26168" y="4625"/>
                    </a:cubicBezTo>
                    <a:cubicBezTo>
                      <a:pt x="25946" y="5037"/>
                      <a:pt x="25750" y="5462"/>
                      <a:pt x="25593" y="5899"/>
                    </a:cubicBezTo>
                    <a:cubicBezTo>
                      <a:pt x="24482" y="8317"/>
                      <a:pt x="-1390" y="66857"/>
                      <a:pt x="-541" y="113702"/>
                    </a:cubicBezTo>
                    <a:cubicBezTo>
                      <a:pt x="-933" y="119366"/>
                      <a:pt x="3164" y="124358"/>
                      <a:pt x="8802" y="125070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1" name="任意多边形 69">
                <a:extLst>
                  <a:ext uri="{FF2B5EF4-FFF2-40B4-BE49-F238E27FC236}">
                    <a16:creationId xmlns:a16="http://schemas.microsoft.com/office/drawing/2014/main" id="{7F9E9C0E-8CF7-4A29-A16F-86D755EF938E}"/>
                  </a:ext>
                </a:extLst>
              </p:cNvPr>
              <p:cNvSpPr/>
              <p:nvPr/>
            </p:nvSpPr>
            <p:spPr>
              <a:xfrm>
                <a:off x="6328635" y="5285987"/>
                <a:ext cx="62713" cy="134416"/>
              </a:xfrm>
              <a:custGeom>
                <a:avLst/>
                <a:gdLst>
                  <a:gd name="connsiteX0" fmla="*/ 15593 w 62713"/>
                  <a:gd name="connsiteY0" fmla="*/ 134229 h 134416"/>
                  <a:gd name="connsiteX1" fmla="*/ 18925 w 62713"/>
                  <a:gd name="connsiteY1" fmla="*/ 134229 h 134416"/>
                  <a:gd name="connsiteX2" fmla="*/ 27726 w 62713"/>
                  <a:gd name="connsiteY2" fmla="*/ 119575 h 134416"/>
                  <a:gd name="connsiteX3" fmla="*/ 27680 w 62713"/>
                  <a:gd name="connsiteY3" fmla="*/ 119398 h 134416"/>
                  <a:gd name="connsiteX4" fmla="*/ 58256 w 62713"/>
                  <a:gd name="connsiteY4" fmla="*/ 20612 h 134416"/>
                  <a:gd name="connsiteX5" fmla="*/ 59165 w 62713"/>
                  <a:gd name="connsiteY5" fmla="*/ 4096 h 134416"/>
                  <a:gd name="connsiteX6" fmla="*/ 58648 w 62713"/>
                  <a:gd name="connsiteY6" fmla="*/ 3560 h 134416"/>
                  <a:gd name="connsiteX7" fmla="*/ 40747 w 62713"/>
                  <a:gd name="connsiteY7" fmla="*/ 3168 h 134416"/>
                  <a:gd name="connsiteX8" fmla="*/ 39440 w 62713"/>
                  <a:gd name="connsiteY8" fmla="*/ 4540 h 134416"/>
                  <a:gd name="connsiteX9" fmla="*/ 3310 w 62713"/>
                  <a:gd name="connsiteY9" fmla="*/ 125932 h 134416"/>
                  <a:gd name="connsiteX10" fmla="*/ 15593 w 62713"/>
                  <a:gd name="connsiteY10" fmla="*/ 134229 h 134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2713" h="134416">
                    <a:moveTo>
                      <a:pt x="15593" y="134229"/>
                    </a:moveTo>
                    <a:lnTo>
                      <a:pt x="18925" y="134229"/>
                    </a:lnTo>
                    <a:cubicBezTo>
                      <a:pt x="25400" y="132615"/>
                      <a:pt x="29340" y="126049"/>
                      <a:pt x="27726" y="119575"/>
                    </a:cubicBezTo>
                    <a:cubicBezTo>
                      <a:pt x="27713" y="119516"/>
                      <a:pt x="27693" y="119457"/>
                      <a:pt x="27680" y="119398"/>
                    </a:cubicBezTo>
                    <a:cubicBezTo>
                      <a:pt x="13110" y="69613"/>
                      <a:pt x="57799" y="21396"/>
                      <a:pt x="58256" y="20612"/>
                    </a:cubicBezTo>
                    <a:cubicBezTo>
                      <a:pt x="63065" y="16300"/>
                      <a:pt x="63470" y="8911"/>
                      <a:pt x="59165" y="4096"/>
                    </a:cubicBezTo>
                    <a:cubicBezTo>
                      <a:pt x="58995" y="3913"/>
                      <a:pt x="58825" y="3736"/>
                      <a:pt x="58648" y="3560"/>
                    </a:cubicBezTo>
                    <a:cubicBezTo>
                      <a:pt x="53722" y="-1281"/>
                      <a:pt x="45882" y="-1451"/>
                      <a:pt x="40747" y="3168"/>
                    </a:cubicBezTo>
                    <a:cubicBezTo>
                      <a:pt x="40276" y="3592"/>
                      <a:pt x="39845" y="4050"/>
                      <a:pt x="39440" y="4540"/>
                    </a:cubicBezTo>
                    <a:cubicBezTo>
                      <a:pt x="37284" y="6892"/>
                      <a:pt x="-14984" y="63341"/>
                      <a:pt x="3310" y="125932"/>
                    </a:cubicBezTo>
                    <a:cubicBezTo>
                      <a:pt x="5290" y="130976"/>
                      <a:pt x="10177" y="134275"/>
                      <a:pt x="15593" y="1342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" name="任意多边形 70">
                <a:extLst>
                  <a:ext uri="{FF2B5EF4-FFF2-40B4-BE49-F238E27FC236}">
                    <a16:creationId xmlns:a16="http://schemas.microsoft.com/office/drawing/2014/main" id="{98E7BE3D-30DF-417F-8CA3-13EFCDE9B1A2}"/>
                  </a:ext>
                </a:extLst>
              </p:cNvPr>
              <p:cNvSpPr/>
              <p:nvPr/>
            </p:nvSpPr>
            <p:spPr>
              <a:xfrm>
                <a:off x="6328635" y="5285987"/>
                <a:ext cx="62713" cy="134416"/>
              </a:xfrm>
              <a:custGeom>
                <a:avLst/>
                <a:gdLst>
                  <a:gd name="connsiteX0" fmla="*/ 15593 w 62713"/>
                  <a:gd name="connsiteY0" fmla="*/ 134229 h 134416"/>
                  <a:gd name="connsiteX1" fmla="*/ 18925 w 62713"/>
                  <a:gd name="connsiteY1" fmla="*/ 134229 h 134416"/>
                  <a:gd name="connsiteX2" fmla="*/ 27726 w 62713"/>
                  <a:gd name="connsiteY2" fmla="*/ 119575 h 134416"/>
                  <a:gd name="connsiteX3" fmla="*/ 27680 w 62713"/>
                  <a:gd name="connsiteY3" fmla="*/ 119398 h 134416"/>
                  <a:gd name="connsiteX4" fmla="*/ 58256 w 62713"/>
                  <a:gd name="connsiteY4" fmla="*/ 20612 h 134416"/>
                  <a:gd name="connsiteX5" fmla="*/ 59165 w 62713"/>
                  <a:gd name="connsiteY5" fmla="*/ 4096 h 134416"/>
                  <a:gd name="connsiteX6" fmla="*/ 58648 w 62713"/>
                  <a:gd name="connsiteY6" fmla="*/ 3560 h 134416"/>
                  <a:gd name="connsiteX7" fmla="*/ 40747 w 62713"/>
                  <a:gd name="connsiteY7" fmla="*/ 3168 h 134416"/>
                  <a:gd name="connsiteX8" fmla="*/ 39440 w 62713"/>
                  <a:gd name="connsiteY8" fmla="*/ 4540 h 134416"/>
                  <a:gd name="connsiteX9" fmla="*/ 3310 w 62713"/>
                  <a:gd name="connsiteY9" fmla="*/ 125932 h 134416"/>
                  <a:gd name="connsiteX10" fmla="*/ 15593 w 62713"/>
                  <a:gd name="connsiteY10" fmla="*/ 134229 h 134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2713" h="134416">
                    <a:moveTo>
                      <a:pt x="15593" y="134229"/>
                    </a:moveTo>
                    <a:lnTo>
                      <a:pt x="18925" y="134229"/>
                    </a:lnTo>
                    <a:cubicBezTo>
                      <a:pt x="25400" y="132615"/>
                      <a:pt x="29340" y="126049"/>
                      <a:pt x="27726" y="119575"/>
                    </a:cubicBezTo>
                    <a:cubicBezTo>
                      <a:pt x="27713" y="119516"/>
                      <a:pt x="27693" y="119457"/>
                      <a:pt x="27680" y="119398"/>
                    </a:cubicBezTo>
                    <a:cubicBezTo>
                      <a:pt x="13110" y="69613"/>
                      <a:pt x="57799" y="21396"/>
                      <a:pt x="58256" y="20612"/>
                    </a:cubicBezTo>
                    <a:cubicBezTo>
                      <a:pt x="63065" y="16300"/>
                      <a:pt x="63470" y="8911"/>
                      <a:pt x="59165" y="4096"/>
                    </a:cubicBezTo>
                    <a:cubicBezTo>
                      <a:pt x="58995" y="3913"/>
                      <a:pt x="58825" y="3736"/>
                      <a:pt x="58648" y="3560"/>
                    </a:cubicBezTo>
                    <a:cubicBezTo>
                      <a:pt x="53722" y="-1281"/>
                      <a:pt x="45882" y="-1451"/>
                      <a:pt x="40747" y="3168"/>
                    </a:cubicBezTo>
                    <a:cubicBezTo>
                      <a:pt x="40276" y="3592"/>
                      <a:pt x="39845" y="4050"/>
                      <a:pt x="39440" y="4540"/>
                    </a:cubicBezTo>
                    <a:cubicBezTo>
                      <a:pt x="37284" y="6892"/>
                      <a:pt x="-14984" y="63341"/>
                      <a:pt x="3310" y="125932"/>
                    </a:cubicBezTo>
                    <a:cubicBezTo>
                      <a:pt x="5290" y="130976"/>
                      <a:pt x="10177" y="134275"/>
                      <a:pt x="15593" y="134229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" name="任意多边形 71">
                <a:extLst>
                  <a:ext uri="{FF2B5EF4-FFF2-40B4-BE49-F238E27FC236}">
                    <a16:creationId xmlns:a16="http://schemas.microsoft.com/office/drawing/2014/main" id="{28D7A66E-A43A-435C-874D-4858DFD4C462}"/>
                  </a:ext>
                </a:extLst>
              </p:cNvPr>
              <p:cNvSpPr/>
              <p:nvPr/>
            </p:nvSpPr>
            <p:spPr>
              <a:xfrm>
                <a:off x="6274965" y="5277036"/>
                <a:ext cx="53802" cy="134424"/>
              </a:xfrm>
              <a:custGeom>
                <a:avLst/>
                <a:gdLst>
                  <a:gd name="connsiteX0" fmla="*/ 15166 w 53802"/>
                  <a:gd name="connsiteY0" fmla="*/ 134229 h 134424"/>
                  <a:gd name="connsiteX1" fmla="*/ 18955 w 53802"/>
                  <a:gd name="connsiteY1" fmla="*/ 133510 h 134424"/>
                  <a:gd name="connsiteX2" fmla="*/ 26449 w 53802"/>
                  <a:gd name="connsiteY2" fmla="*/ 119078 h 134424"/>
                  <a:gd name="connsiteX3" fmla="*/ 26403 w 53802"/>
                  <a:gd name="connsiteY3" fmla="*/ 118941 h 134424"/>
                  <a:gd name="connsiteX4" fmla="*/ 26403 w 53802"/>
                  <a:gd name="connsiteY4" fmla="*/ 118549 h 134424"/>
                  <a:gd name="connsiteX5" fmla="*/ 50250 w 53802"/>
                  <a:gd name="connsiteY5" fmla="*/ 19632 h 134424"/>
                  <a:gd name="connsiteX6" fmla="*/ 49336 w 53802"/>
                  <a:gd name="connsiteY6" fmla="*/ 2841 h 134424"/>
                  <a:gd name="connsiteX7" fmla="*/ 32727 w 53802"/>
                  <a:gd name="connsiteY7" fmla="*/ 3696 h 134424"/>
                  <a:gd name="connsiteX8" fmla="*/ 32675 w 53802"/>
                  <a:gd name="connsiteY8" fmla="*/ 3755 h 134424"/>
                  <a:gd name="connsiteX9" fmla="*/ 31107 w 53802"/>
                  <a:gd name="connsiteY9" fmla="*/ 5977 h 134424"/>
                  <a:gd name="connsiteX10" fmla="*/ 4059 w 53802"/>
                  <a:gd name="connsiteY10" fmla="*/ 126454 h 134424"/>
                  <a:gd name="connsiteX11" fmla="*/ 15166 w 53802"/>
                  <a:gd name="connsiteY11" fmla="*/ 134229 h 134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3802" h="134424">
                    <a:moveTo>
                      <a:pt x="15166" y="134229"/>
                    </a:moveTo>
                    <a:cubicBezTo>
                      <a:pt x="16466" y="134288"/>
                      <a:pt x="17766" y="134039"/>
                      <a:pt x="18955" y="133510"/>
                    </a:cubicBezTo>
                    <a:cubicBezTo>
                      <a:pt x="25012" y="131596"/>
                      <a:pt x="28363" y="125134"/>
                      <a:pt x="26449" y="119078"/>
                    </a:cubicBezTo>
                    <a:cubicBezTo>
                      <a:pt x="26436" y="119032"/>
                      <a:pt x="26416" y="118986"/>
                      <a:pt x="26403" y="118941"/>
                    </a:cubicBezTo>
                    <a:cubicBezTo>
                      <a:pt x="26403" y="118941"/>
                      <a:pt x="26403" y="118941"/>
                      <a:pt x="26403" y="118549"/>
                    </a:cubicBezTo>
                    <a:cubicBezTo>
                      <a:pt x="11638" y="75166"/>
                      <a:pt x="49924" y="20154"/>
                      <a:pt x="50250" y="19632"/>
                    </a:cubicBezTo>
                    <a:cubicBezTo>
                      <a:pt x="54563" y="14719"/>
                      <a:pt x="54157" y="7257"/>
                      <a:pt x="49336" y="2841"/>
                    </a:cubicBezTo>
                    <a:cubicBezTo>
                      <a:pt x="44514" y="-1511"/>
                      <a:pt x="37079" y="-1125"/>
                      <a:pt x="32727" y="3696"/>
                    </a:cubicBezTo>
                    <a:cubicBezTo>
                      <a:pt x="32708" y="3716"/>
                      <a:pt x="32695" y="3736"/>
                      <a:pt x="32675" y="3755"/>
                    </a:cubicBezTo>
                    <a:cubicBezTo>
                      <a:pt x="32081" y="4441"/>
                      <a:pt x="31551" y="5186"/>
                      <a:pt x="31107" y="5977"/>
                    </a:cubicBezTo>
                    <a:cubicBezTo>
                      <a:pt x="29213" y="8590"/>
                      <a:pt x="-14627" y="71311"/>
                      <a:pt x="4059" y="126454"/>
                    </a:cubicBezTo>
                    <a:cubicBezTo>
                      <a:pt x="5790" y="131099"/>
                      <a:pt x="10207" y="134190"/>
                      <a:pt x="15166" y="1342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" name="任意多边形 72">
                <a:extLst>
                  <a:ext uri="{FF2B5EF4-FFF2-40B4-BE49-F238E27FC236}">
                    <a16:creationId xmlns:a16="http://schemas.microsoft.com/office/drawing/2014/main" id="{58F669FF-702F-426C-B79A-639A1C1A7C2E}"/>
                  </a:ext>
                </a:extLst>
              </p:cNvPr>
              <p:cNvSpPr/>
              <p:nvPr/>
            </p:nvSpPr>
            <p:spPr>
              <a:xfrm>
                <a:off x="6274965" y="5277036"/>
                <a:ext cx="53802" cy="134424"/>
              </a:xfrm>
              <a:custGeom>
                <a:avLst/>
                <a:gdLst>
                  <a:gd name="connsiteX0" fmla="*/ 15166 w 53802"/>
                  <a:gd name="connsiteY0" fmla="*/ 134229 h 134424"/>
                  <a:gd name="connsiteX1" fmla="*/ 18955 w 53802"/>
                  <a:gd name="connsiteY1" fmla="*/ 133510 h 134424"/>
                  <a:gd name="connsiteX2" fmla="*/ 26449 w 53802"/>
                  <a:gd name="connsiteY2" fmla="*/ 119078 h 134424"/>
                  <a:gd name="connsiteX3" fmla="*/ 26403 w 53802"/>
                  <a:gd name="connsiteY3" fmla="*/ 118941 h 134424"/>
                  <a:gd name="connsiteX4" fmla="*/ 26403 w 53802"/>
                  <a:gd name="connsiteY4" fmla="*/ 118549 h 134424"/>
                  <a:gd name="connsiteX5" fmla="*/ 50250 w 53802"/>
                  <a:gd name="connsiteY5" fmla="*/ 19632 h 134424"/>
                  <a:gd name="connsiteX6" fmla="*/ 49336 w 53802"/>
                  <a:gd name="connsiteY6" fmla="*/ 2841 h 134424"/>
                  <a:gd name="connsiteX7" fmla="*/ 32727 w 53802"/>
                  <a:gd name="connsiteY7" fmla="*/ 3696 h 134424"/>
                  <a:gd name="connsiteX8" fmla="*/ 32675 w 53802"/>
                  <a:gd name="connsiteY8" fmla="*/ 3755 h 134424"/>
                  <a:gd name="connsiteX9" fmla="*/ 31107 w 53802"/>
                  <a:gd name="connsiteY9" fmla="*/ 5977 h 134424"/>
                  <a:gd name="connsiteX10" fmla="*/ 4059 w 53802"/>
                  <a:gd name="connsiteY10" fmla="*/ 126454 h 134424"/>
                  <a:gd name="connsiteX11" fmla="*/ 15166 w 53802"/>
                  <a:gd name="connsiteY11" fmla="*/ 134229 h 134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3802" h="134424">
                    <a:moveTo>
                      <a:pt x="15166" y="134229"/>
                    </a:moveTo>
                    <a:cubicBezTo>
                      <a:pt x="16466" y="134288"/>
                      <a:pt x="17766" y="134039"/>
                      <a:pt x="18955" y="133510"/>
                    </a:cubicBezTo>
                    <a:cubicBezTo>
                      <a:pt x="25012" y="131596"/>
                      <a:pt x="28363" y="125134"/>
                      <a:pt x="26449" y="119078"/>
                    </a:cubicBezTo>
                    <a:cubicBezTo>
                      <a:pt x="26436" y="119032"/>
                      <a:pt x="26416" y="118986"/>
                      <a:pt x="26403" y="118941"/>
                    </a:cubicBezTo>
                    <a:cubicBezTo>
                      <a:pt x="26403" y="118941"/>
                      <a:pt x="26403" y="118941"/>
                      <a:pt x="26403" y="118549"/>
                    </a:cubicBezTo>
                    <a:cubicBezTo>
                      <a:pt x="11638" y="75166"/>
                      <a:pt x="49924" y="20154"/>
                      <a:pt x="50250" y="19632"/>
                    </a:cubicBezTo>
                    <a:cubicBezTo>
                      <a:pt x="54563" y="14719"/>
                      <a:pt x="54157" y="7257"/>
                      <a:pt x="49336" y="2841"/>
                    </a:cubicBezTo>
                    <a:cubicBezTo>
                      <a:pt x="44514" y="-1511"/>
                      <a:pt x="37079" y="-1125"/>
                      <a:pt x="32727" y="3696"/>
                    </a:cubicBezTo>
                    <a:cubicBezTo>
                      <a:pt x="32708" y="3716"/>
                      <a:pt x="32695" y="3736"/>
                      <a:pt x="32675" y="3755"/>
                    </a:cubicBezTo>
                    <a:cubicBezTo>
                      <a:pt x="32081" y="4441"/>
                      <a:pt x="31551" y="5186"/>
                      <a:pt x="31107" y="5977"/>
                    </a:cubicBezTo>
                    <a:cubicBezTo>
                      <a:pt x="29213" y="8590"/>
                      <a:pt x="-14627" y="71311"/>
                      <a:pt x="4059" y="126454"/>
                    </a:cubicBezTo>
                    <a:cubicBezTo>
                      <a:pt x="5790" y="131099"/>
                      <a:pt x="10207" y="134190"/>
                      <a:pt x="15166" y="134229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5" name="任意多边形 73">
                <a:extLst>
                  <a:ext uri="{FF2B5EF4-FFF2-40B4-BE49-F238E27FC236}">
                    <a16:creationId xmlns:a16="http://schemas.microsoft.com/office/drawing/2014/main" id="{5BD61D14-4B0B-44D8-A44F-F7DEE9B42678}"/>
                  </a:ext>
                </a:extLst>
              </p:cNvPr>
              <p:cNvSpPr/>
              <p:nvPr/>
            </p:nvSpPr>
            <p:spPr>
              <a:xfrm>
                <a:off x="6221132" y="5474180"/>
                <a:ext cx="98531" cy="71661"/>
              </a:xfrm>
              <a:custGeom>
                <a:avLst/>
                <a:gdLst>
                  <a:gd name="connsiteX0" fmla="*/ 13595 w 98531"/>
                  <a:gd name="connsiteY0" fmla="*/ 1832 h 71661"/>
                  <a:gd name="connsiteX1" fmla="*/ 80106 w 98531"/>
                  <a:gd name="connsiteY1" fmla="*/ 63769 h 71661"/>
                  <a:gd name="connsiteX2" fmla="*/ 13595 w 98531"/>
                  <a:gd name="connsiteY2" fmla="*/ 1832 h 71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8531" h="71661">
                    <a:moveTo>
                      <a:pt x="13595" y="1832"/>
                    </a:moveTo>
                    <a:cubicBezTo>
                      <a:pt x="-26782" y="13527"/>
                      <a:pt x="26662" y="96829"/>
                      <a:pt x="80106" y="63769"/>
                    </a:cubicBezTo>
                    <a:cubicBezTo>
                      <a:pt x="133550" y="30710"/>
                      <a:pt x="53841" y="-9732"/>
                      <a:pt x="13595" y="1832"/>
                    </a:cubicBezTo>
                    <a:close/>
                  </a:path>
                </a:pathLst>
              </a:custGeom>
              <a:solidFill>
                <a:srgbClr val="FFFFFF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6" name="任意多边形 74">
                <a:extLst>
                  <a:ext uri="{FF2B5EF4-FFF2-40B4-BE49-F238E27FC236}">
                    <a16:creationId xmlns:a16="http://schemas.microsoft.com/office/drawing/2014/main" id="{CBEC2535-4E92-454A-81FA-652F10F781BC}"/>
                  </a:ext>
                </a:extLst>
              </p:cNvPr>
              <p:cNvSpPr/>
              <p:nvPr/>
            </p:nvSpPr>
            <p:spPr>
              <a:xfrm>
                <a:off x="6221132" y="5474180"/>
                <a:ext cx="98531" cy="71661"/>
              </a:xfrm>
              <a:custGeom>
                <a:avLst/>
                <a:gdLst>
                  <a:gd name="connsiteX0" fmla="*/ 13595 w 98531"/>
                  <a:gd name="connsiteY0" fmla="*/ 1832 h 71661"/>
                  <a:gd name="connsiteX1" fmla="*/ 80106 w 98531"/>
                  <a:gd name="connsiteY1" fmla="*/ 63769 h 71661"/>
                  <a:gd name="connsiteX2" fmla="*/ 13595 w 98531"/>
                  <a:gd name="connsiteY2" fmla="*/ 1832 h 71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8531" h="71661">
                    <a:moveTo>
                      <a:pt x="13595" y="1832"/>
                    </a:moveTo>
                    <a:cubicBezTo>
                      <a:pt x="-26782" y="13527"/>
                      <a:pt x="26662" y="96829"/>
                      <a:pt x="80106" y="63769"/>
                    </a:cubicBezTo>
                    <a:cubicBezTo>
                      <a:pt x="133550" y="30710"/>
                      <a:pt x="53841" y="-9732"/>
                      <a:pt x="13595" y="1832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7" name="任意多边形 75">
                <a:extLst>
                  <a:ext uri="{FF2B5EF4-FFF2-40B4-BE49-F238E27FC236}">
                    <a16:creationId xmlns:a16="http://schemas.microsoft.com/office/drawing/2014/main" id="{07271566-15B4-40BB-B44B-206C32E198B6}"/>
                  </a:ext>
                </a:extLst>
              </p:cNvPr>
              <p:cNvSpPr/>
              <p:nvPr/>
            </p:nvSpPr>
            <p:spPr>
              <a:xfrm>
                <a:off x="4984395" y="5044075"/>
                <a:ext cx="1729540" cy="483856"/>
              </a:xfrm>
              <a:custGeom>
                <a:avLst/>
                <a:gdLst>
                  <a:gd name="connsiteX0" fmla="*/ 1728974 w 1729540"/>
                  <a:gd name="connsiteY0" fmla="*/ -187 h 483856"/>
                  <a:gd name="connsiteX1" fmla="*/ 1299333 w 1729540"/>
                  <a:gd name="connsiteY1" fmla="*/ 263243 h 483856"/>
                  <a:gd name="connsiteX2" fmla="*/ 1184148 w 1729540"/>
                  <a:gd name="connsiteY2" fmla="*/ 414166 h 483856"/>
                  <a:gd name="connsiteX3" fmla="*/ 1025058 w 1729540"/>
                  <a:gd name="connsiteY3" fmla="*/ 465453 h 483856"/>
                  <a:gd name="connsiteX4" fmla="*/ 848262 w 1729540"/>
                  <a:gd name="connsiteY4" fmla="*/ 442979 h 483856"/>
                  <a:gd name="connsiteX5" fmla="*/ 794557 w 1729540"/>
                  <a:gd name="connsiteY5" fmla="*/ 472967 h 483856"/>
                  <a:gd name="connsiteX6" fmla="*/ 724649 w 1729540"/>
                  <a:gd name="connsiteY6" fmla="*/ 425207 h 483856"/>
                  <a:gd name="connsiteX7" fmla="*/ -567 w 1729540"/>
                  <a:gd name="connsiteY7" fmla="*/ 239134 h 483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29540" h="483856">
                    <a:moveTo>
                      <a:pt x="1728974" y="-187"/>
                    </a:moveTo>
                    <a:cubicBezTo>
                      <a:pt x="1666841" y="87166"/>
                      <a:pt x="1482466" y="183730"/>
                      <a:pt x="1299333" y="263243"/>
                    </a:cubicBezTo>
                    <a:cubicBezTo>
                      <a:pt x="1266614" y="317640"/>
                      <a:pt x="1227981" y="368255"/>
                      <a:pt x="1184148" y="414166"/>
                    </a:cubicBezTo>
                    <a:cubicBezTo>
                      <a:pt x="1071119" y="530723"/>
                      <a:pt x="1025058" y="465453"/>
                      <a:pt x="1025058" y="465453"/>
                    </a:cubicBezTo>
                    <a:cubicBezTo>
                      <a:pt x="1025058" y="465453"/>
                      <a:pt x="953647" y="457352"/>
                      <a:pt x="848262" y="442979"/>
                    </a:cubicBezTo>
                    <a:cubicBezTo>
                      <a:pt x="839285" y="464049"/>
                      <a:pt x="817202" y="476378"/>
                      <a:pt x="794557" y="472967"/>
                    </a:cubicBezTo>
                    <a:cubicBezTo>
                      <a:pt x="781490" y="470811"/>
                      <a:pt x="754311" y="451210"/>
                      <a:pt x="724649" y="425207"/>
                    </a:cubicBezTo>
                    <a:cubicBezTo>
                      <a:pt x="458410" y="384831"/>
                      <a:pt x="97109" y="317536"/>
                      <a:pt x="-567" y="239134"/>
                    </a:cubicBezTo>
                  </a:path>
                </a:pathLst>
              </a:custGeom>
              <a:solidFill>
                <a:srgbClr val="557FF6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8" name="任意多边形 76">
                <a:extLst>
                  <a:ext uri="{FF2B5EF4-FFF2-40B4-BE49-F238E27FC236}">
                    <a16:creationId xmlns:a16="http://schemas.microsoft.com/office/drawing/2014/main" id="{B6076A8E-A7D4-4FA2-9964-45940D3C3F99}"/>
                  </a:ext>
                </a:extLst>
              </p:cNvPr>
              <p:cNvSpPr/>
              <p:nvPr/>
            </p:nvSpPr>
            <p:spPr>
              <a:xfrm>
                <a:off x="4984329" y="5044075"/>
                <a:ext cx="1729606" cy="483856"/>
              </a:xfrm>
              <a:custGeom>
                <a:avLst/>
                <a:gdLst>
                  <a:gd name="connsiteX0" fmla="*/ 1729040 w 1729606"/>
                  <a:gd name="connsiteY0" fmla="*/ -187 h 483856"/>
                  <a:gd name="connsiteX1" fmla="*/ 1299399 w 1729606"/>
                  <a:gd name="connsiteY1" fmla="*/ 263243 h 483856"/>
                  <a:gd name="connsiteX2" fmla="*/ 1184214 w 1729606"/>
                  <a:gd name="connsiteY2" fmla="*/ 414166 h 483856"/>
                  <a:gd name="connsiteX3" fmla="*/ 1025124 w 1729606"/>
                  <a:gd name="connsiteY3" fmla="*/ 465453 h 483856"/>
                  <a:gd name="connsiteX4" fmla="*/ 848328 w 1729606"/>
                  <a:gd name="connsiteY4" fmla="*/ 442979 h 483856"/>
                  <a:gd name="connsiteX5" fmla="*/ 794622 w 1729606"/>
                  <a:gd name="connsiteY5" fmla="*/ 472967 h 483856"/>
                  <a:gd name="connsiteX6" fmla="*/ 724649 w 1729606"/>
                  <a:gd name="connsiteY6" fmla="*/ 425207 h 483856"/>
                  <a:gd name="connsiteX7" fmla="*/ -567 w 1729606"/>
                  <a:gd name="connsiteY7" fmla="*/ 239134 h 483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29606" h="483856">
                    <a:moveTo>
                      <a:pt x="1729040" y="-187"/>
                    </a:moveTo>
                    <a:cubicBezTo>
                      <a:pt x="1666906" y="87166"/>
                      <a:pt x="1482532" y="183730"/>
                      <a:pt x="1299399" y="263243"/>
                    </a:cubicBezTo>
                    <a:cubicBezTo>
                      <a:pt x="1266679" y="317640"/>
                      <a:pt x="1228047" y="368255"/>
                      <a:pt x="1184214" y="414166"/>
                    </a:cubicBezTo>
                    <a:cubicBezTo>
                      <a:pt x="1071185" y="530723"/>
                      <a:pt x="1025124" y="465453"/>
                      <a:pt x="1025124" y="465453"/>
                    </a:cubicBezTo>
                    <a:cubicBezTo>
                      <a:pt x="1025124" y="465453"/>
                      <a:pt x="953712" y="457352"/>
                      <a:pt x="848328" y="442979"/>
                    </a:cubicBezTo>
                    <a:cubicBezTo>
                      <a:pt x="839351" y="464049"/>
                      <a:pt x="817268" y="476378"/>
                      <a:pt x="794622" y="472967"/>
                    </a:cubicBezTo>
                    <a:cubicBezTo>
                      <a:pt x="781556" y="470811"/>
                      <a:pt x="754376" y="451210"/>
                      <a:pt x="724649" y="425207"/>
                    </a:cubicBezTo>
                    <a:cubicBezTo>
                      <a:pt x="458475" y="384831"/>
                      <a:pt x="97435" y="317536"/>
                      <a:pt x="-567" y="239134"/>
                    </a:cubicBezTo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9" name="任意多边形 77">
                <a:extLst>
                  <a:ext uri="{FF2B5EF4-FFF2-40B4-BE49-F238E27FC236}">
                    <a16:creationId xmlns:a16="http://schemas.microsoft.com/office/drawing/2014/main" id="{6A62D399-BCC0-46D7-B686-E03AD2BCC9B5}"/>
                  </a:ext>
                </a:extLst>
              </p:cNvPr>
              <p:cNvSpPr/>
              <p:nvPr/>
            </p:nvSpPr>
            <p:spPr>
              <a:xfrm>
                <a:off x="5083181" y="4829073"/>
                <a:ext cx="1209405" cy="474903"/>
              </a:xfrm>
              <a:custGeom>
                <a:avLst/>
                <a:gdLst>
                  <a:gd name="connsiteX0" fmla="*/ -567 w 1209405"/>
                  <a:gd name="connsiteY0" fmla="*/ 48407 h 474903"/>
                  <a:gd name="connsiteX1" fmla="*/ 188904 w 1209405"/>
                  <a:gd name="connsiteY1" fmla="*/ 2673 h 474903"/>
                  <a:gd name="connsiteX2" fmla="*/ 619133 w 1209405"/>
                  <a:gd name="connsiteY2" fmla="*/ 188158 h 474903"/>
                  <a:gd name="connsiteX3" fmla="*/ 1053871 w 1209405"/>
                  <a:gd name="connsiteY3" fmla="*/ 405265 h 474903"/>
                  <a:gd name="connsiteX4" fmla="*/ 1187284 w 1209405"/>
                  <a:gd name="connsiteY4" fmla="*/ 405265 h 474903"/>
                  <a:gd name="connsiteX5" fmla="*/ 1199959 w 1209405"/>
                  <a:gd name="connsiteY5" fmla="*/ 474716 h 474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9405" h="474903">
                    <a:moveTo>
                      <a:pt x="-567" y="48407"/>
                    </a:moveTo>
                    <a:cubicBezTo>
                      <a:pt x="45690" y="-1966"/>
                      <a:pt x="91947" y="-4253"/>
                      <a:pt x="188904" y="2673"/>
                    </a:cubicBezTo>
                    <a:cubicBezTo>
                      <a:pt x="188904" y="2673"/>
                      <a:pt x="442338" y="82773"/>
                      <a:pt x="619133" y="188158"/>
                    </a:cubicBezTo>
                    <a:cubicBezTo>
                      <a:pt x="795929" y="293543"/>
                      <a:pt x="1053871" y="405265"/>
                      <a:pt x="1053871" y="405265"/>
                    </a:cubicBezTo>
                    <a:cubicBezTo>
                      <a:pt x="1053871" y="405265"/>
                      <a:pt x="1132272" y="382725"/>
                      <a:pt x="1187284" y="405265"/>
                    </a:cubicBezTo>
                    <a:cubicBezTo>
                      <a:pt x="1187284" y="405265"/>
                      <a:pt x="1225701" y="408206"/>
                      <a:pt x="1199959" y="474716"/>
                    </a:cubicBezTo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0" name="任意多边形 78">
                <a:extLst>
                  <a:ext uri="{FF2B5EF4-FFF2-40B4-BE49-F238E27FC236}">
                    <a16:creationId xmlns:a16="http://schemas.microsoft.com/office/drawing/2014/main" id="{8BDE8417-D414-4E76-B92C-0E53A9BEA129}"/>
                  </a:ext>
                </a:extLst>
              </p:cNvPr>
              <p:cNvSpPr/>
              <p:nvPr/>
            </p:nvSpPr>
            <p:spPr>
              <a:xfrm>
                <a:off x="4966689" y="5178468"/>
                <a:ext cx="107541" cy="134393"/>
              </a:xfrm>
              <a:custGeom>
                <a:avLst/>
                <a:gdLst>
                  <a:gd name="connsiteX0" fmla="*/ -566 w 107541"/>
                  <a:gd name="connsiteY0" fmla="*/ -187 h 134393"/>
                  <a:gd name="connsiteX1" fmla="*/ 106975 w 107541"/>
                  <a:gd name="connsiteY1" fmla="*/ 134207 h 1343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7541" h="134393">
                    <a:moveTo>
                      <a:pt x="-566" y="-187"/>
                    </a:moveTo>
                    <a:cubicBezTo>
                      <a:pt x="-566" y="-187"/>
                      <a:pt x="-1873" y="79260"/>
                      <a:pt x="106975" y="134207"/>
                    </a:cubicBezTo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1" name="任意多边形 79">
                <a:extLst>
                  <a:ext uri="{FF2B5EF4-FFF2-40B4-BE49-F238E27FC236}">
                    <a16:creationId xmlns:a16="http://schemas.microsoft.com/office/drawing/2014/main" id="{DC7EA9F8-1ED8-4B1A-8A63-297336AE43BF}"/>
                  </a:ext>
                </a:extLst>
              </p:cNvPr>
              <p:cNvSpPr/>
              <p:nvPr/>
            </p:nvSpPr>
            <p:spPr>
              <a:xfrm>
                <a:off x="5880395" y="4855911"/>
                <a:ext cx="304851" cy="260032"/>
              </a:xfrm>
              <a:custGeom>
                <a:avLst/>
                <a:gdLst>
                  <a:gd name="connsiteX0" fmla="*/ 304285 w 304851"/>
                  <a:gd name="connsiteY0" fmla="*/ -187 h 260032"/>
                  <a:gd name="connsiteX1" fmla="*/ 97435 w 304851"/>
                  <a:gd name="connsiteY1" fmla="*/ 208884 h 260032"/>
                  <a:gd name="connsiteX2" fmla="*/ -567 w 304851"/>
                  <a:gd name="connsiteY2" fmla="*/ 259845 h 260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4851" h="260032">
                    <a:moveTo>
                      <a:pt x="304285" y="-187"/>
                    </a:moveTo>
                    <a:cubicBezTo>
                      <a:pt x="304285" y="-187"/>
                      <a:pt x="132063" y="125647"/>
                      <a:pt x="97435" y="208884"/>
                    </a:cubicBezTo>
                    <a:cubicBezTo>
                      <a:pt x="63481" y="223271"/>
                      <a:pt x="30709" y="240310"/>
                      <a:pt x="-567" y="259845"/>
                    </a:cubicBezTo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2" name="任意多边形 80">
                <a:extLst>
                  <a:ext uri="{FF2B5EF4-FFF2-40B4-BE49-F238E27FC236}">
                    <a16:creationId xmlns:a16="http://schemas.microsoft.com/office/drawing/2014/main" id="{AA0A72AB-6D08-490B-A50B-1BAFA0FA1E54}"/>
                  </a:ext>
                </a:extLst>
              </p:cNvPr>
              <p:cNvSpPr/>
              <p:nvPr/>
            </p:nvSpPr>
            <p:spPr>
              <a:xfrm>
                <a:off x="5952275" y="4963451"/>
                <a:ext cx="18020" cy="107541"/>
              </a:xfrm>
              <a:custGeom>
                <a:avLst/>
                <a:gdLst>
                  <a:gd name="connsiteX0" fmla="*/ 17454 w 18020"/>
                  <a:gd name="connsiteY0" fmla="*/ -187 h 107541"/>
                  <a:gd name="connsiteX1" fmla="*/ 7588 w 18020"/>
                  <a:gd name="connsiteY1" fmla="*/ 107354 h 107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020" h="107541">
                    <a:moveTo>
                      <a:pt x="17454" y="-187"/>
                    </a:moveTo>
                    <a:cubicBezTo>
                      <a:pt x="-2428" y="32160"/>
                      <a:pt x="-6073" y="71930"/>
                      <a:pt x="7588" y="107354"/>
                    </a:cubicBezTo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3" name="任意多边形 81">
                <a:extLst>
                  <a:ext uri="{FF2B5EF4-FFF2-40B4-BE49-F238E27FC236}">
                    <a16:creationId xmlns:a16="http://schemas.microsoft.com/office/drawing/2014/main" id="{77FA13BA-00F3-4889-8867-85A9B4164B59}"/>
                  </a:ext>
                </a:extLst>
              </p:cNvPr>
              <p:cNvSpPr/>
              <p:nvPr/>
            </p:nvSpPr>
            <p:spPr>
              <a:xfrm>
                <a:off x="5979247" y="4873812"/>
                <a:ext cx="26917" cy="44819"/>
              </a:xfrm>
              <a:custGeom>
                <a:avLst/>
                <a:gdLst>
                  <a:gd name="connsiteX0" fmla="*/ 26351 w 26917"/>
                  <a:gd name="connsiteY0" fmla="*/ -187 h 44819"/>
                  <a:gd name="connsiteX1" fmla="*/ -567 w 26917"/>
                  <a:gd name="connsiteY1" fmla="*/ 44633 h 44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6917" h="44819">
                    <a:moveTo>
                      <a:pt x="26351" y="-187"/>
                    </a:moveTo>
                    <a:cubicBezTo>
                      <a:pt x="16133" y="13971"/>
                      <a:pt x="7130" y="28959"/>
                      <a:pt x="-567" y="44633"/>
                    </a:cubicBezTo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4" name="任意多边形 82">
                <a:extLst>
                  <a:ext uri="{FF2B5EF4-FFF2-40B4-BE49-F238E27FC236}">
                    <a16:creationId xmlns:a16="http://schemas.microsoft.com/office/drawing/2014/main" id="{926456E4-1CE2-4660-B40E-57232F0EC9E4}"/>
                  </a:ext>
                </a:extLst>
              </p:cNvPr>
              <p:cNvSpPr/>
              <p:nvPr/>
            </p:nvSpPr>
            <p:spPr>
              <a:xfrm>
                <a:off x="5683346" y="4864862"/>
                <a:ext cx="71868" cy="143736"/>
              </a:xfrm>
              <a:custGeom>
                <a:avLst/>
                <a:gdLst>
                  <a:gd name="connsiteX0" fmla="*/ 71301 w 71868"/>
                  <a:gd name="connsiteY0" fmla="*/ -187 h 143736"/>
                  <a:gd name="connsiteX1" fmla="*/ -567 w 71868"/>
                  <a:gd name="connsiteY1" fmla="*/ 143549 h 143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1868" h="143736">
                    <a:moveTo>
                      <a:pt x="71301" y="-187"/>
                    </a:moveTo>
                    <a:cubicBezTo>
                      <a:pt x="71301" y="-187"/>
                      <a:pt x="13872" y="78999"/>
                      <a:pt x="-567" y="143549"/>
                    </a:cubicBezTo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5" name="任意多边形 83">
                <a:extLst>
                  <a:ext uri="{FF2B5EF4-FFF2-40B4-BE49-F238E27FC236}">
                    <a16:creationId xmlns:a16="http://schemas.microsoft.com/office/drawing/2014/main" id="{E61B20DC-3B20-4D63-8C1C-F3FCAD47F3B4}"/>
                  </a:ext>
                </a:extLst>
              </p:cNvPr>
              <p:cNvSpPr/>
              <p:nvPr/>
            </p:nvSpPr>
            <p:spPr>
              <a:xfrm>
                <a:off x="5369870" y="5330829"/>
                <a:ext cx="62721" cy="8950"/>
              </a:xfrm>
              <a:custGeom>
                <a:avLst/>
                <a:gdLst>
                  <a:gd name="connsiteX0" fmla="*/ 62155 w 62721"/>
                  <a:gd name="connsiteY0" fmla="*/ 8764 h 8950"/>
                  <a:gd name="connsiteX1" fmla="*/ -567 w 62721"/>
                  <a:gd name="connsiteY1" fmla="*/ -187 h 8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2721" h="8950">
                    <a:moveTo>
                      <a:pt x="62155" y="8764"/>
                    </a:moveTo>
                    <a:cubicBezTo>
                      <a:pt x="41058" y="7313"/>
                      <a:pt x="20092" y="4321"/>
                      <a:pt x="-567" y="-187"/>
                    </a:cubicBezTo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6" name="任意多边形 84">
                <a:extLst>
                  <a:ext uri="{FF2B5EF4-FFF2-40B4-BE49-F238E27FC236}">
                    <a16:creationId xmlns:a16="http://schemas.microsoft.com/office/drawing/2014/main" id="{35BB662B-B3D2-48A8-BFD2-B3AC9FAC3528}"/>
                  </a:ext>
                </a:extLst>
              </p:cNvPr>
              <p:cNvSpPr/>
              <p:nvPr/>
            </p:nvSpPr>
            <p:spPr>
              <a:xfrm>
                <a:off x="5477411" y="5286009"/>
                <a:ext cx="501770" cy="53770"/>
              </a:xfrm>
              <a:custGeom>
                <a:avLst/>
                <a:gdLst>
                  <a:gd name="connsiteX0" fmla="*/ 501204 w 501770"/>
                  <a:gd name="connsiteY0" fmla="*/ -187 h 53770"/>
                  <a:gd name="connsiteX1" fmla="*/ -567 w 501770"/>
                  <a:gd name="connsiteY1" fmla="*/ 53584 h 53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1770" h="53770">
                    <a:moveTo>
                      <a:pt x="501204" y="-187"/>
                    </a:moveTo>
                    <a:cubicBezTo>
                      <a:pt x="335548" y="30410"/>
                      <a:pt x="167807" y="48383"/>
                      <a:pt x="-567" y="53584"/>
                    </a:cubicBezTo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7" name="任意多边形 85">
                <a:extLst>
                  <a:ext uri="{FF2B5EF4-FFF2-40B4-BE49-F238E27FC236}">
                    <a16:creationId xmlns:a16="http://schemas.microsoft.com/office/drawing/2014/main" id="{F0E48092-5167-4C4C-8D6F-835185A974AC}"/>
                  </a:ext>
                </a:extLst>
              </p:cNvPr>
              <p:cNvSpPr/>
              <p:nvPr/>
            </p:nvSpPr>
            <p:spPr>
              <a:xfrm>
                <a:off x="4800935" y="3991271"/>
                <a:ext cx="931868" cy="770688"/>
              </a:xfrm>
              <a:custGeom>
                <a:avLst/>
                <a:gdLst>
                  <a:gd name="connsiteX0" fmla="*/ -567 w 931868"/>
                  <a:gd name="connsiteY0" fmla="*/ 102976 h 770688"/>
                  <a:gd name="connsiteX1" fmla="*/ 68231 w 931868"/>
                  <a:gd name="connsiteY1" fmla="*/ 681058 h 770688"/>
                  <a:gd name="connsiteX2" fmla="*/ 275407 w 931868"/>
                  <a:gd name="connsiteY2" fmla="*/ 731301 h 770688"/>
                  <a:gd name="connsiteX3" fmla="*/ 878316 w 931868"/>
                  <a:gd name="connsiteY3" fmla="*/ 770502 h 770688"/>
                  <a:gd name="connsiteX4" fmla="*/ 931302 w 931868"/>
                  <a:gd name="connsiteY4" fmla="*/ 613698 h 770688"/>
                  <a:gd name="connsiteX5" fmla="*/ 553798 w 931868"/>
                  <a:gd name="connsiteY5" fmla="*/ 545031 h 770688"/>
                  <a:gd name="connsiteX6" fmla="*/ 285926 w 931868"/>
                  <a:gd name="connsiteY6" fmla="*/ 474927 h 770688"/>
                  <a:gd name="connsiteX7" fmla="*/ 308009 w 931868"/>
                  <a:gd name="connsiteY7" fmla="*/ 278204 h 770688"/>
                  <a:gd name="connsiteX8" fmla="*/ 308009 w 931868"/>
                  <a:gd name="connsiteY8" fmla="*/ -187 h 770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31868" h="770688">
                    <a:moveTo>
                      <a:pt x="-567" y="102976"/>
                    </a:moveTo>
                    <a:cubicBezTo>
                      <a:pt x="-567" y="102976"/>
                      <a:pt x="30990" y="649698"/>
                      <a:pt x="68231" y="681058"/>
                    </a:cubicBezTo>
                    <a:cubicBezTo>
                      <a:pt x="105471" y="712419"/>
                      <a:pt x="164207" y="722088"/>
                      <a:pt x="275407" y="731301"/>
                    </a:cubicBezTo>
                    <a:cubicBezTo>
                      <a:pt x="386607" y="740513"/>
                      <a:pt x="878316" y="770502"/>
                      <a:pt x="878316" y="770502"/>
                    </a:cubicBezTo>
                    <a:lnTo>
                      <a:pt x="931302" y="613698"/>
                    </a:lnTo>
                    <a:cubicBezTo>
                      <a:pt x="931302" y="613698"/>
                      <a:pt x="669963" y="587042"/>
                      <a:pt x="553798" y="545031"/>
                    </a:cubicBezTo>
                    <a:cubicBezTo>
                      <a:pt x="466282" y="515343"/>
                      <a:pt x="376767" y="491914"/>
                      <a:pt x="285926" y="474927"/>
                    </a:cubicBezTo>
                    <a:cubicBezTo>
                      <a:pt x="285926" y="474927"/>
                      <a:pt x="308009" y="337724"/>
                      <a:pt x="308009" y="278204"/>
                    </a:cubicBezTo>
                    <a:lnTo>
                      <a:pt x="308009" y="-187"/>
                    </a:lnTo>
                  </a:path>
                </a:pathLst>
              </a:custGeom>
              <a:solidFill>
                <a:srgbClr val="F49C92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8" name="任意多边形 86">
                <a:extLst>
                  <a:ext uri="{FF2B5EF4-FFF2-40B4-BE49-F238E27FC236}">
                    <a16:creationId xmlns:a16="http://schemas.microsoft.com/office/drawing/2014/main" id="{0723E39C-2B26-466C-9F10-FB6FA33BDD7B}"/>
                  </a:ext>
                </a:extLst>
              </p:cNvPr>
              <p:cNvSpPr/>
              <p:nvPr/>
            </p:nvSpPr>
            <p:spPr>
              <a:xfrm>
                <a:off x="4765092" y="3489500"/>
                <a:ext cx="403197" cy="672098"/>
              </a:xfrm>
              <a:custGeom>
                <a:avLst/>
                <a:gdLst>
                  <a:gd name="connsiteX0" fmla="*/ 132102 w 403197"/>
                  <a:gd name="connsiteY0" fmla="*/ -187 h 672098"/>
                  <a:gd name="connsiteX1" fmla="*/ 16329 w 403197"/>
                  <a:gd name="connsiteY1" fmla="*/ 607426 h 672098"/>
                  <a:gd name="connsiteX2" fmla="*/ 33577 w 403197"/>
                  <a:gd name="connsiteY2" fmla="*/ 671911 h 672098"/>
                  <a:gd name="connsiteX3" fmla="*/ 325623 w 403197"/>
                  <a:gd name="connsiteY3" fmla="*/ 649175 h 672098"/>
                  <a:gd name="connsiteX4" fmla="*/ 394029 w 403197"/>
                  <a:gd name="connsiteY4" fmla="*/ 579593 h 672098"/>
                  <a:gd name="connsiteX5" fmla="*/ 347772 w 403197"/>
                  <a:gd name="connsiteY5" fmla="*/ 184579 h 672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3197" h="672098">
                    <a:moveTo>
                      <a:pt x="132102" y="-187"/>
                    </a:moveTo>
                    <a:cubicBezTo>
                      <a:pt x="10187" y="73510"/>
                      <a:pt x="-25812" y="243773"/>
                      <a:pt x="16329" y="607426"/>
                    </a:cubicBezTo>
                    <a:cubicBezTo>
                      <a:pt x="16329" y="607426"/>
                      <a:pt x="-19671" y="650416"/>
                      <a:pt x="33577" y="671911"/>
                    </a:cubicBezTo>
                    <a:cubicBezTo>
                      <a:pt x="33577" y="671911"/>
                      <a:pt x="232979" y="598736"/>
                      <a:pt x="325623" y="649175"/>
                    </a:cubicBezTo>
                    <a:cubicBezTo>
                      <a:pt x="418268" y="699613"/>
                      <a:pt x="394029" y="579593"/>
                      <a:pt x="394029" y="579593"/>
                    </a:cubicBezTo>
                    <a:cubicBezTo>
                      <a:pt x="394029" y="579593"/>
                      <a:pt x="432184" y="245145"/>
                      <a:pt x="347772" y="184579"/>
                    </a:cubicBezTo>
                  </a:path>
                </a:pathLst>
              </a:custGeom>
              <a:solidFill>
                <a:srgbClr val="F1C649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9" name="任意多边形 87">
                <a:extLst>
                  <a:ext uri="{FF2B5EF4-FFF2-40B4-BE49-F238E27FC236}">
                    <a16:creationId xmlns:a16="http://schemas.microsoft.com/office/drawing/2014/main" id="{188F439D-BACF-4A19-8F08-5669B214573E}"/>
                  </a:ext>
                </a:extLst>
              </p:cNvPr>
              <p:cNvSpPr/>
              <p:nvPr/>
            </p:nvSpPr>
            <p:spPr>
              <a:xfrm>
                <a:off x="5119442" y="3628336"/>
                <a:ext cx="53413" cy="528688"/>
              </a:xfrm>
              <a:custGeom>
                <a:avLst/>
                <a:gdLst>
                  <a:gd name="connsiteX0" fmla="*/ -110 w 53413"/>
                  <a:gd name="connsiteY0" fmla="*/ -187 h 528688"/>
                  <a:gd name="connsiteX1" fmla="*/ 12957 w 53413"/>
                  <a:gd name="connsiteY1" fmla="*/ 422398 h 528688"/>
                  <a:gd name="connsiteX2" fmla="*/ 26024 w 53413"/>
                  <a:gd name="connsiteY2" fmla="*/ 497729 h 528688"/>
                  <a:gd name="connsiteX3" fmla="*/ -567 w 53413"/>
                  <a:gd name="connsiteY3" fmla="*/ 528502 h 528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3413" h="528688">
                    <a:moveTo>
                      <a:pt x="-110" y="-187"/>
                    </a:moveTo>
                    <a:cubicBezTo>
                      <a:pt x="-110" y="-187"/>
                      <a:pt x="109783" y="119637"/>
                      <a:pt x="12957" y="422398"/>
                    </a:cubicBezTo>
                    <a:cubicBezTo>
                      <a:pt x="19171" y="447153"/>
                      <a:pt x="23541" y="472327"/>
                      <a:pt x="26024" y="497729"/>
                    </a:cubicBezTo>
                    <a:cubicBezTo>
                      <a:pt x="26024" y="517983"/>
                      <a:pt x="-567" y="528502"/>
                      <a:pt x="-567" y="528502"/>
                    </a:cubicBezTo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0" name="任意多边形 88">
                <a:extLst>
                  <a:ext uri="{FF2B5EF4-FFF2-40B4-BE49-F238E27FC236}">
                    <a16:creationId xmlns:a16="http://schemas.microsoft.com/office/drawing/2014/main" id="{FB570DAA-8A38-45D8-A7A2-1994CE2F57FE}"/>
                  </a:ext>
                </a:extLst>
              </p:cNvPr>
              <p:cNvSpPr/>
              <p:nvPr/>
            </p:nvSpPr>
            <p:spPr>
              <a:xfrm>
                <a:off x="5154853" y="3834467"/>
                <a:ext cx="98589" cy="206065"/>
              </a:xfrm>
              <a:custGeom>
                <a:avLst/>
                <a:gdLst>
                  <a:gd name="connsiteX0" fmla="*/ 98023 w 98589"/>
                  <a:gd name="connsiteY0" fmla="*/ -187 h 206065"/>
                  <a:gd name="connsiteX1" fmla="*/ -567 w 98589"/>
                  <a:gd name="connsiteY1" fmla="*/ 205879 h 206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8589" h="206065">
                    <a:moveTo>
                      <a:pt x="98023" y="-187"/>
                    </a:moveTo>
                    <a:cubicBezTo>
                      <a:pt x="98023" y="-187"/>
                      <a:pt x="89791" y="143549"/>
                      <a:pt x="-567" y="205879"/>
                    </a:cubicBezTo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1" name="任意多边形 89">
                <a:extLst>
                  <a:ext uri="{FF2B5EF4-FFF2-40B4-BE49-F238E27FC236}">
                    <a16:creationId xmlns:a16="http://schemas.microsoft.com/office/drawing/2014/main" id="{D70FE4D2-9E5B-4CB9-9BA7-75F2FE92260E}"/>
                  </a:ext>
                </a:extLst>
              </p:cNvPr>
              <p:cNvSpPr/>
              <p:nvPr/>
            </p:nvSpPr>
            <p:spPr>
              <a:xfrm>
                <a:off x="5271660" y="4792993"/>
                <a:ext cx="1290247" cy="89835"/>
              </a:xfrm>
              <a:custGeom>
                <a:avLst/>
                <a:gdLst>
                  <a:gd name="connsiteX0" fmla="*/ 1237016 w 1290247"/>
                  <a:gd name="connsiteY0" fmla="*/ 89648 h 89835"/>
                  <a:gd name="connsiteX1" fmla="*/ 265096 w 1290247"/>
                  <a:gd name="connsiteY1" fmla="*/ 89648 h 89835"/>
                  <a:gd name="connsiteX2" fmla="*/ 199761 w 1290247"/>
                  <a:gd name="connsiteY2" fmla="*/ 80501 h 89835"/>
                  <a:gd name="connsiteX3" fmla="*/ 8723 w 1290247"/>
                  <a:gd name="connsiteY3" fmla="*/ 26339 h 89835"/>
                  <a:gd name="connsiteX4" fmla="*/ -555 w 1290247"/>
                  <a:gd name="connsiteY4" fmla="*/ 13272 h 89835"/>
                  <a:gd name="connsiteX5" fmla="*/ 11924 w 1290247"/>
                  <a:gd name="connsiteY5" fmla="*/ -187 h 89835"/>
                  <a:gd name="connsiteX6" fmla="*/ 1277327 w 1290247"/>
                  <a:gd name="connsiteY6" fmla="*/ -187 h 89835"/>
                  <a:gd name="connsiteX7" fmla="*/ 1289676 w 1290247"/>
                  <a:gd name="connsiteY7" fmla="*/ 13272 h 89835"/>
                  <a:gd name="connsiteX8" fmla="*/ 1289676 w 1290247"/>
                  <a:gd name="connsiteY8" fmla="*/ 32872 h 89835"/>
                  <a:gd name="connsiteX9" fmla="*/ 1237016 w 1290247"/>
                  <a:gd name="connsiteY9" fmla="*/ 89648 h 8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0247" h="89835">
                    <a:moveTo>
                      <a:pt x="1237016" y="89648"/>
                    </a:moveTo>
                    <a:lnTo>
                      <a:pt x="265096" y="89648"/>
                    </a:lnTo>
                    <a:cubicBezTo>
                      <a:pt x="242993" y="89681"/>
                      <a:pt x="221002" y="86597"/>
                      <a:pt x="199761" y="80501"/>
                    </a:cubicBezTo>
                    <a:lnTo>
                      <a:pt x="8723" y="26339"/>
                    </a:lnTo>
                    <a:cubicBezTo>
                      <a:pt x="3006" y="24614"/>
                      <a:pt x="-810" y="19237"/>
                      <a:pt x="-555" y="13272"/>
                    </a:cubicBezTo>
                    <a:cubicBezTo>
                      <a:pt x="-777" y="6131"/>
                      <a:pt x="4783" y="133"/>
                      <a:pt x="11924" y="-187"/>
                    </a:cubicBezTo>
                    <a:lnTo>
                      <a:pt x="1277327" y="-187"/>
                    </a:lnTo>
                    <a:cubicBezTo>
                      <a:pt x="1284449" y="198"/>
                      <a:pt x="1289872" y="6177"/>
                      <a:pt x="1289676" y="13272"/>
                    </a:cubicBezTo>
                    <a:lnTo>
                      <a:pt x="1289676" y="32872"/>
                    </a:lnTo>
                    <a:cubicBezTo>
                      <a:pt x="1289284" y="64298"/>
                      <a:pt x="1265828" y="89648"/>
                      <a:pt x="1237016" y="89648"/>
                    </a:cubicBezTo>
                    <a:close/>
                  </a:path>
                </a:pathLst>
              </a:custGeom>
              <a:solidFill>
                <a:srgbClr val="252530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2" name="任意多边形 90">
                <a:extLst>
                  <a:ext uri="{FF2B5EF4-FFF2-40B4-BE49-F238E27FC236}">
                    <a16:creationId xmlns:a16="http://schemas.microsoft.com/office/drawing/2014/main" id="{76347048-0DE0-4C57-8F63-AFAC27337B37}"/>
                  </a:ext>
                </a:extLst>
              </p:cNvPr>
              <p:cNvSpPr/>
              <p:nvPr/>
            </p:nvSpPr>
            <p:spPr>
              <a:xfrm>
                <a:off x="5271660" y="4792993"/>
                <a:ext cx="1290247" cy="89835"/>
              </a:xfrm>
              <a:custGeom>
                <a:avLst/>
                <a:gdLst>
                  <a:gd name="connsiteX0" fmla="*/ 1237016 w 1290247"/>
                  <a:gd name="connsiteY0" fmla="*/ 89648 h 89835"/>
                  <a:gd name="connsiteX1" fmla="*/ 265096 w 1290247"/>
                  <a:gd name="connsiteY1" fmla="*/ 89648 h 89835"/>
                  <a:gd name="connsiteX2" fmla="*/ 199761 w 1290247"/>
                  <a:gd name="connsiteY2" fmla="*/ 80501 h 89835"/>
                  <a:gd name="connsiteX3" fmla="*/ 8723 w 1290247"/>
                  <a:gd name="connsiteY3" fmla="*/ 26339 h 89835"/>
                  <a:gd name="connsiteX4" fmla="*/ -555 w 1290247"/>
                  <a:gd name="connsiteY4" fmla="*/ 13272 h 89835"/>
                  <a:gd name="connsiteX5" fmla="*/ 11924 w 1290247"/>
                  <a:gd name="connsiteY5" fmla="*/ -187 h 89835"/>
                  <a:gd name="connsiteX6" fmla="*/ 1277327 w 1290247"/>
                  <a:gd name="connsiteY6" fmla="*/ -187 h 89835"/>
                  <a:gd name="connsiteX7" fmla="*/ 1289676 w 1290247"/>
                  <a:gd name="connsiteY7" fmla="*/ 13272 h 89835"/>
                  <a:gd name="connsiteX8" fmla="*/ 1289676 w 1290247"/>
                  <a:gd name="connsiteY8" fmla="*/ 32872 h 89835"/>
                  <a:gd name="connsiteX9" fmla="*/ 1237016 w 1290247"/>
                  <a:gd name="connsiteY9" fmla="*/ 89648 h 8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0247" h="89835">
                    <a:moveTo>
                      <a:pt x="1237016" y="89648"/>
                    </a:moveTo>
                    <a:lnTo>
                      <a:pt x="265096" y="89648"/>
                    </a:lnTo>
                    <a:cubicBezTo>
                      <a:pt x="242993" y="89681"/>
                      <a:pt x="221002" y="86597"/>
                      <a:pt x="199761" y="80501"/>
                    </a:cubicBezTo>
                    <a:lnTo>
                      <a:pt x="8723" y="26339"/>
                    </a:lnTo>
                    <a:cubicBezTo>
                      <a:pt x="3006" y="24614"/>
                      <a:pt x="-810" y="19237"/>
                      <a:pt x="-555" y="13272"/>
                    </a:cubicBezTo>
                    <a:cubicBezTo>
                      <a:pt x="-777" y="6131"/>
                      <a:pt x="4783" y="133"/>
                      <a:pt x="11924" y="-187"/>
                    </a:cubicBezTo>
                    <a:lnTo>
                      <a:pt x="1277327" y="-187"/>
                    </a:lnTo>
                    <a:cubicBezTo>
                      <a:pt x="1284449" y="198"/>
                      <a:pt x="1289872" y="6177"/>
                      <a:pt x="1289676" y="13272"/>
                    </a:cubicBezTo>
                    <a:lnTo>
                      <a:pt x="1289676" y="32872"/>
                    </a:lnTo>
                    <a:cubicBezTo>
                      <a:pt x="1289284" y="64298"/>
                      <a:pt x="1265828" y="89648"/>
                      <a:pt x="1237016" y="89648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3" name="任意多边形 91">
                <a:extLst>
                  <a:ext uri="{FF2B5EF4-FFF2-40B4-BE49-F238E27FC236}">
                    <a16:creationId xmlns:a16="http://schemas.microsoft.com/office/drawing/2014/main" id="{F60E1C31-9C83-4B4D-A42B-63B543788830}"/>
                  </a:ext>
                </a:extLst>
              </p:cNvPr>
              <p:cNvSpPr/>
              <p:nvPr/>
            </p:nvSpPr>
            <p:spPr>
              <a:xfrm>
                <a:off x="5603081" y="4067429"/>
                <a:ext cx="1218744" cy="761592"/>
              </a:xfrm>
              <a:custGeom>
                <a:avLst/>
                <a:gdLst>
                  <a:gd name="connsiteX0" fmla="*/ 996671 w 1218744"/>
                  <a:gd name="connsiteY0" fmla="*/ 761377 h 761592"/>
                  <a:gd name="connsiteX1" fmla="*/ 23576 w 1218744"/>
                  <a:gd name="connsiteY1" fmla="*/ 761377 h 761592"/>
                  <a:gd name="connsiteX2" fmla="*/ -533 w 1218744"/>
                  <a:gd name="connsiteY2" fmla="*/ 739542 h 761592"/>
                  <a:gd name="connsiteX3" fmla="*/ -533 w 1218744"/>
                  <a:gd name="connsiteY3" fmla="*/ 739489 h 761592"/>
                  <a:gd name="connsiteX4" fmla="*/ 839 w 1218744"/>
                  <a:gd name="connsiteY4" fmla="*/ 730408 h 761592"/>
                  <a:gd name="connsiteX5" fmla="*/ 181359 w 1218744"/>
                  <a:gd name="connsiteY5" fmla="*/ 30934 h 761592"/>
                  <a:gd name="connsiteX6" fmla="*/ 220560 w 1218744"/>
                  <a:gd name="connsiteY6" fmla="*/ -165 h 761592"/>
                  <a:gd name="connsiteX7" fmla="*/ 1194048 w 1218744"/>
                  <a:gd name="connsiteY7" fmla="*/ -165 h 761592"/>
                  <a:gd name="connsiteX8" fmla="*/ 1218156 w 1218744"/>
                  <a:gd name="connsiteY8" fmla="*/ 21944 h 761592"/>
                  <a:gd name="connsiteX9" fmla="*/ 1218156 w 1218744"/>
                  <a:gd name="connsiteY9" fmla="*/ 22049 h 761592"/>
                  <a:gd name="connsiteX10" fmla="*/ 1216719 w 1218744"/>
                  <a:gd name="connsiteY10" fmla="*/ 30934 h 761592"/>
                  <a:gd name="connsiteX11" fmla="*/ 1036133 w 1218744"/>
                  <a:gd name="connsiteY11" fmla="*/ 730408 h 761592"/>
                  <a:gd name="connsiteX12" fmla="*/ 996671 w 1218744"/>
                  <a:gd name="connsiteY12" fmla="*/ 761377 h 76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744" h="761592">
                    <a:moveTo>
                      <a:pt x="996671" y="761377"/>
                    </a:moveTo>
                    <a:lnTo>
                      <a:pt x="23576" y="761377"/>
                    </a:lnTo>
                    <a:cubicBezTo>
                      <a:pt x="10888" y="762004"/>
                      <a:pt x="94" y="752230"/>
                      <a:pt x="-533" y="739542"/>
                    </a:cubicBezTo>
                    <a:cubicBezTo>
                      <a:pt x="-533" y="739522"/>
                      <a:pt x="-533" y="739509"/>
                      <a:pt x="-533" y="739489"/>
                    </a:cubicBezTo>
                    <a:cubicBezTo>
                      <a:pt x="-703" y="736399"/>
                      <a:pt x="-232" y="733309"/>
                      <a:pt x="839" y="730408"/>
                    </a:cubicBezTo>
                    <a:lnTo>
                      <a:pt x="181359" y="30934"/>
                    </a:lnTo>
                    <a:cubicBezTo>
                      <a:pt x="186390" y="13222"/>
                      <a:pt x="202168" y="704"/>
                      <a:pt x="220560" y="-165"/>
                    </a:cubicBezTo>
                    <a:lnTo>
                      <a:pt x="1194048" y="-165"/>
                    </a:lnTo>
                    <a:cubicBezTo>
                      <a:pt x="1206788" y="-714"/>
                      <a:pt x="1217633" y="9184"/>
                      <a:pt x="1218156" y="21944"/>
                    </a:cubicBezTo>
                    <a:cubicBezTo>
                      <a:pt x="1218156" y="21977"/>
                      <a:pt x="1218156" y="22016"/>
                      <a:pt x="1218156" y="22049"/>
                    </a:cubicBezTo>
                    <a:cubicBezTo>
                      <a:pt x="1218287" y="25080"/>
                      <a:pt x="1217830" y="28105"/>
                      <a:pt x="1216719" y="30934"/>
                    </a:cubicBezTo>
                    <a:lnTo>
                      <a:pt x="1036133" y="730408"/>
                    </a:lnTo>
                    <a:cubicBezTo>
                      <a:pt x="1031102" y="748205"/>
                      <a:pt x="1015161" y="760717"/>
                      <a:pt x="996671" y="761377"/>
                    </a:cubicBezTo>
                    <a:close/>
                  </a:path>
                </a:pathLst>
              </a:custGeom>
              <a:solidFill>
                <a:srgbClr val="6D7992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4" name="任意多边形 92">
                <a:extLst>
                  <a:ext uri="{FF2B5EF4-FFF2-40B4-BE49-F238E27FC236}">
                    <a16:creationId xmlns:a16="http://schemas.microsoft.com/office/drawing/2014/main" id="{AC02043D-EF8A-416C-8701-F898152DD109}"/>
                  </a:ext>
                </a:extLst>
              </p:cNvPr>
              <p:cNvSpPr/>
              <p:nvPr/>
            </p:nvSpPr>
            <p:spPr>
              <a:xfrm>
                <a:off x="5603081" y="4067429"/>
                <a:ext cx="1218744" cy="761592"/>
              </a:xfrm>
              <a:custGeom>
                <a:avLst/>
                <a:gdLst>
                  <a:gd name="connsiteX0" fmla="*/ 996671 w 1218744"/>
                  <a:gd name="connsiteY0" fmla="*/ 761377 h 761592"/>
                  <a:gd name="connsiteX1" fmla="*/ 23576 w 1218744"/>
                  <a:gd name="connsiteY1" fmla="*/ 761377 h 761592"/>
                  <a:gd name="connsiteX2" fmla="*/ -533 w 1218744"/>
                  <a:gd name="connsiteY2" fmla="*/ 739542 h 761592"/>
                  <a:gd name="connsiteX3" fmla="*/ -533 w 1218744"/>
                  <a:gd name="connsiteY3" fmla="*/ 739489 h 761592"/>
                  <a:gd name="connsiteX4" fmla="*/ 839 w 1218744"/>
                  <a:gd name="connsiteY4" fmla="*/ 730408 h 761592"/>
                  <a:gd name="connsiteX5" fmla="*/ 181359 w 1218744"/>
                  <a:gd name="connsiteY5" fmla="*/ 30934 h 761592"/>
                  <a:gd name="connsiteX6" fmla="*/ 220560 w 1218744"/>
                  <a:gd name="connsiteY6" fmla="*/ -165 h 761592"/>
                  <a:gd name="connsiteX7" fmla="*/ 1194048 w 1218744"/>
                  <a:gd name="connsiteY7" fmla="*/ -165 h 761592"/>
                  <a:gd name="connsiteX8" fmla="*/ 1218156 w 1218744"/>
                  <a:gd name="connsiteY8" fmla="*/ 21944 h 761592"/>
                  <a:gd name="connsiteX9" fmla="*/ 1218156 w 1218744"/>
                  <a:gd name="connsiteY9" fmla="*/ 22049 h 761592"/>
                  <a:gd name="connsiteX10" fmla="*/ 1216719 w 1218744"/>
                  <a:gd name="connsiteY10" fmla="*/ 30934 h 761592"/>
                  <a:gd name="connsiteX11" fmla="*/ 1036133 w 1218744"/>
                  <a:gd name="connsiteY11" fmla="*/ 730408 h 761592"/>
                  <a:gd name="connsiteX12" fmla="*/ 996671 w 1218744"/>
                  <a:gd name="connsiteY12" fmla="*/ 761377 h 76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18744" h="761592">
                    <a:moveTo>
                      <a:pt x="996671" y="761377"/>
                    </a:moveTo>
                    <a:lnTo>
                      <a:pt x="23576" y="761377"/>
                    </a:lnTo>
                    <a:cubicBezTo>
                      <a:pt x="10888" y="762004"/>
                      <a:pt x="94" y="752230"/>
                      <a:pt x="-533" y="739542"/>
                    </a:cubicBezTo>
                    <a:cubicBezTo>
                      <a:pt x="-533" y="739522"/>
                      <a:pt x="-533" y="739509"/>
                      <a:pt x="-533" y="739489"/>
                    </a:cubicBezTo>
                    <a:cubicBezTo>
                      <a:pt x="-703" y="736399"/>
                      <a:pt x="-232" y="733309"/>
                      <a:pt x="839" y="730408"/>
                    </a:cubicBezTo>
                    <a:lnTo>
                      <a:pt x="181359" y="30934"/>
                    </a:lnTo>
                    <a:cubicBezTo>
                      <a:pt x="186390" y="13222"/>
                      <a:pt x="202168" y="704"/>
                      <a:pt x="220560" y="-165"/>
                    </a:cubicBezTo>
                    <a:lnTo>
                      <a:pt x="1194048" y="-165"/>
                    </a:lnTo>
                    <a:cubicBezTo>
                      <a:pt x="1206788" y="-714"/>
                      <a:pt x="1217633" y="9184"/>
                      <a:pt x="1218156" y="21944"/>
                    </a:cubicBezTo>
                    <a:cubicBezTo>
                      <a:pt x="1218156" y="21977"/>
                      <a:pt x="1218156" y="22016"/>
                      <a:pt x="1218156" y="22049"/>
                    </a:cubicBezTo>
                    <a:cubicBezTo>
                      <a:pt x="1218287" y="25080"/>
                      <a:pt x="1217830" y="28105"/>
                      <a:pt x="1216719" y="30934"/>
                    </a:cubicBezTo>
                    <a:lnTo>
                      <a:pt x="1036133" y="730408"/>
                    </a:lnTo>
                    <a:cubicBezTo>
                      <a:pt x="1031102" y="748205"/>
                      <a:pt x="1015161" y="760717"/>
                      <a:pt x="996671" y="761377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0" name="任意多边形 93">
                <a:extLst>
                  <a:ext uri="{FF2B5EF4-FFF2-40B4-BE49-F238E27FC236}">
                    <a16:creationId xmlns:a16="http://schemas.microsoft.com/office/drawing/2014/main" id="{CCA19292-26F0-438D-8763-7AE26E6A7560}"/>
                  </a:ext>
                </a:extLst>
              </p:cNvPr>
              <p:cNvSpPr/>
              <p:nvPr/>
            </p:nvSpPr>
            <p:spPr>
              <a:xfrm>
                <a:off x="6767641" y="4085353"/>
                <a:ext cx="17901" cy="6533"/>
              </a:xfrm>
              <a:custGeom>
                <a:avLst/>
                <a:gdLst>
                  <a:gd name="connsiteX0" fmla="*/ 0 w 17901"/>
                  <a:gd name="connsiteY0" fmla="*/ 0 h 6533"/>
                  <a:gd name="connsiteX1" fmla="*/ 17902 w 17901"/>
                  <a:gd name="connsiteY1" fmla="*/ 0 h 6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901" h="6533">
                    <a:moveTo>
                      <a:pt x="0" y="0"/>
                    </a:moveTo>
                    <a:lnTo>
                      <a:pt x="17902" y="0"/>
                    </a:lnTo>
                  </a:path>
                </a:pathLst>
              </a:custGeom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1" name="任意多边形 94">
                <a:extLst>
                  <a:ext uri="{FF2B5EF4-FFF2-40B4-BE49-F238E27FC236}">
                    <a16:creationId xmlns:a16="http://schemas.microsoft.com/office/drawing/2014/main" id="{BCC4004C-ECED-45D8-AF40-8D48BD1BB960}"/>
                  </a:ext>
                </a:extLst>
              </p:cNvPr>
              <p:cNvSpPr/>
              <p:nvPr/>
            </p:nvSpPr>
            <p:spPr>
              <a:xfrm>
                <a:off x="6624297" y="4085353"/>
                <a:ext cx="89573" cy="6533"/>
              </a:xfrm>
              <a:custGeom>
                <a:avLst/>
                <a:gdLst>
                  <a:gd name="connsiteX0" fmla="*/ 0 w 89573"/>
                  <a:gd name="connsiteY0" fmla="*/ 0 h 6533"/>
                  <a:gd name="connsiteX1" fmla="*/ 89574 w 89573"/>
                  <a:gd name="connsiteY1" fmla="*/ 0 h 6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573" h="6533">
                    <a:moveTo>
                      <a:pt x="0" y="0"/>
                    </a:moveTo>
                    <a:lnTo>
                      <a:pt x="89574" y="0"/>
                    </a:lnTo>
                  </a:path>
                </a:pathLst>
              </a:custGeom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2" name="任意多边形 95">
                <a:extLst>
                  <a:ext uri="{FF2B5EF4-FFF2-40B4-BE49-F238E27FC236}">
                    <a16:creationId xmlns:a16="http://schemas.microsoft.com/office/drawing/2014/main" id="{D49E887A-754F-4F2F-BB1C-B14497638D29}"/>
                  </a:ext>
                </a:extLst>
              </p:cNvPr>
              <p:cNvSpPr/>
              <p:nvPr/>
            </p:nvSpPr>
            <p:spPr>
              <a:xfrm>
                <a:off x="5647673" y="4085353"/>
                <a:ext cx="949836" cy="654065"/>
              </a:xfrm>
              <a:custGeom>
                <a:avLst/>
                <a:gdLst>
                  <a:gd name="connsiteX0" fmla="*/ -567 w 949836"/>
                  <a:gd name="connsiteY0" fmla="*/ 653879 h 654065"/>
                  <a:gd name="connsiteX1" fmla="*/ 159111 w 949836"/>
                  <a:gd name="connsiteY1" fmla="*/ 31239 h 654065"/>
                  <a:gd name="connsiteX2" fmla="*/ 197920 w 949836"/>
                  <a:gd name="connsiteY2" fmla="*/ -187 h 654065"/>
                  <a:gd name="connsiteX3" fmla="*/ 949270 w 949836"/>
                  <a:gd name="connsiteY3" fmla="*/ -187 h 654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49836" h="654065">
                    <a:moveTo>
                      <a:pt x="-567" y="653879"/>
                    </a:moveTo>
                    <a:lnTo>
                      <a:pt x="159111" y="31239"/>
                    </a:lnTo>
                    <a:cubicBezTo>
                      <a:pt x="163959" y="13520"/>
                      <a:pt x="179581" y="871"/>
                      <a:pt x="197920" y="-187"/>
                    </a:cubicBezTo>
                    <a:lnTo>
                      <a:pt x="949270" y="-187"/>
                    </a:lnTo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3" name="任意多边形 96">
                <a:extLst>
                  <a:ext uri="{FF2B5EF4-FFF2-40B4-BE49-F238E27FC236}">
                    <a16:creationId xmlns:a16="http://schemas.microsoft.com/office/drawing/2014/main" id="{0E958750-A46C-4E04-BF77-497FE4B7D246}"/>
                  </a:ext>
                </a:extLst>
              </p:cNvPr>
              <p:cNvSpPr/>
              <p:nvPr/>
            </p:nvSpPr>
            <p:spPr>
              <a:xfrm>
                <a:off x="5629706" y="4775288"/>
                <a:ext cx="8950" cy="17967"/>
              </a:xfrm>
              <a:custGeom>
                <a:avLst/>
                <a:gdLst>
                  <a:gd name="connsiteX0" fmla="*/ 0 w 8950"/>
                  <a:gd name="connsiteY0" fmla="*/ 17967 h 17967"/>
                  <a:gd name="connsiteX1" fmla="*/ 8951 w 8950"/>
                  <a:gd name="connsiteY1" fmla="*/ 0 h 179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8950" h="17967">
                    <a:moveTo>
                      <a:pt x="0" y="17967"/>
                    </a:moveTo>
                    <a:lnTo>
                      <a:pt x="8951" y="0"/>
                    </a:lnTo>
                  </a:path>
                </a:pathLst>
              </a:custGeom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4" name="任意多边形 97">
                <a:extLst>
                  <a:ext uri="{FF2B5EF4-FFF2-40B4-BE49-F238E27FC236}">
                    <a16:creationId xmlns:a16="http://schemas.microsoft.com/office/drawing/2014/main" id="{984540DF-37DF-4256-9BE0-45C154E84982}"/>
                  </a:ext>
                </a:extLst>
              </p:cNvPr>
              <p:cNvSpPr/>
              <p:nvPr/>
            </p:nvSpPr>
            <p:spPr>
              <a:xfrm>
                <a:off x="6167368" y="4380906"/>
                <a:ext cx="143322" cy="161407"/>
              </a:xfrm>
              <a:custGeom>
                <a:avLst/>
                <a:gdLst>
                  <a:gd name="connsiteX0" fmla="*/ 142755 w 143322"/>
                  <a:gd name="connsiteY0" fmla="*/ 83201 h 161407"/>
                  <a:gd name="connsiteX1" fmla="*/ 139162 w 143322"/>
                  <a:gd name="connsiteY1" fmla="*/ 100319 h 161407"/>
                  <a:gd name="connsiteX2" fmla="*/ 48085 w 143322"/>
                  <a:gd name="connsiteY2" fmla="*/ 158728 h 161407"/>
                  <a:gd name="connsiteX3" fmla="*/ 3266 w 143322"/>
                  <a:gd name="connsiteY3" fmla="*/ 60726 h 161407"/>
                  <a:gd name="connsiteX4" fmla="*/ 94735 w 143322"/>
                  <a:gd name="connsiteY4" fmla="*/ 2317 h 161407"/>
                  <a:gd name="connsiteX5" fmla="*/ 107344 w 143322"/>
                  <a:gd name="connsiteY5" fmla="*/ 7609 h 161407"/>
                  <a:gd name="connsiteX6" fmla="*/ 142755 w 143322"/>
                  <a:gd name="connsiteY6" fmla="*/ 83201 h 161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3322" h="161407">
                    <a:moveTo>
                      <a:pt x="142755" y="83201"/>
                    </a:moveTo>
                    <a:cubicBezTo>
                      <a:pt x="142109" y="89009"/>
                      <a:pt x="140907" y="94739"/>
                      <a:pt x="139162" y="100319"/>
                    </a:cubicBezTo>
                    <a:cubicBezTo>
                      <a:pt x="126422" y="143374"/>
                      <a:pt x="85588" y="169704"/>
                      <a:pt x="48085" y="158728"/>
                    </a:cubicBezTo>
                    <a:cubicBezTo>
                      <a:pt x="10583" y="147752"/>
                      <a:pt x="-9474" y="103978"/>
                      <a:pt x="3266" y="60726"/>
                    </a:cubicBezTo>
                    <a:cubicBezTo>
                      <a:pt x="16006" y="17474"/>
                      <a:pt x="57102" y="-8659"/>
                      <a:pt x="94735" y="2317"/>
                    </a:cubicBezTo>
                    <a:cubicBezTo>
                      <a:pt x="99119" y="3617"/>
                      <a:pt x="103346" y="5394"/>
                      <a:pt x="107344" y="7609"/>
                    </a:cubicBezTo>
                    <a:cubicBezTo>
                      <a:pt x="103117" y="37597"/>
                      <a:pt x="117007" y="67253"/>
                      <a:pt x="142755" y="8320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5" name="任意多边形 98">
                <a:extLst>
                  <a:ext uri="{FF2B5EF4-FFF2-40B4-BE49-F238E27FC236}">
                    <a16:creationId xmlns:a16="http://schemas.microsoft.com/office/drawing/2014/main" id="{D6CA78B3-F856-4E09-91BD-BD36750CDBC4}"/>
                  </a:ext>
                </a:extLst>
              </p:cNvPr>
              <p:cNvSpPr/>
              <p:nvPr/>
            </p:nvSpPr>
            <p:spPr>
              <a:xfrm>
                <a:off x="6167368" y="4380906"/>
                <a:ext cx="143322" cy="161407"/>
              </a:xfrm>
              <a:custGeom>
                <a:avLst/>
                <a:gdLst>
                  <a:gd name="connsiteX0" fmla="*/ 142755 w 143322"/>
                  <a:gd name="connsiteY0" fmla="*/ 83201 h 161407"/>
                  <a:gd name="connsiteX1" fmla="*/ 139162 w 143322"/>
                  <a:gd name="connsiteY1" fmla="*/ 100319 h 161407"/>
                  <a:gd name="connsiteX2" fmla="*/ 48085 w 143322"/>
                  <a:gd name="connsiteY2" fmla="*/ 158728 h 161407"/>
                  <a:gd name="connsiteX3" fmla="*/ 3266 w 143322"/>
                  <a:gd name="connsiteY3" fmla="*/ 60726 h 161407"/>
                  <a:gd name="connsiteX4" fmla="*/ 94735 w 143322"/>
                  <a:gd name="connsiteY4" fmla="*/ 2317 h 161407"/>
                  <a:gd name="connsiteX5" fmla="*/ 107344 w 143322"/>
                  <a:gd name="connsiteY5" fmla="*/ 7609 h 161407"/>
                  <a:gd name="connsiteX6" fmla="*/ 142755 w 143322"/>
                  <a:gd name="connsiteY6" fmla="*/ 83201 h 161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3322" h="161407">
                    <a:moveTo>
                      <a:pt x="142755" y="83201"/>
                    </a:moveTo>
                    <a:cubicBezTo>
                      <a:pt x="142109" y="89009"/>
                      <a:pt x="140907" y="94739"/>
                      <a:pt x="139162" y="100319"/>
                    </a:cubicBezTo>
                    <a:cubicBezTo>
                      <a:pt x="126422" y="143374"/>
                      <a:pt x="85588" y="169704"/>
                      <a:pt x="48085" y="158728"/>
                    </a:cubicBezTo>
                    <a:cubicBezTo>
                      <a:pt x="10583" y="147752"/>
                      <a:pt x="-9474" y="103978"/>
                      <a:pt x="3266" y="60726"/>
                    </a:cubicBezTo>
                    <a:cubicBezTo>
                      <a:pt x="16006" y="17474"/>
                      <a:pt x="57102" y="-8659"/>
                      <a:pt x="94735" y="2317"/>
                    </a:cubicBezTo>
                    <a:cubicBezTo>
                      <a:pt x="99119" y="3617"/>
                      <a:pt x="103346" y="5394"/>
                      <a:pt x="107344" y="7609"/>
                    </a:cubicBezTo>
                    <a:cubicBezTo>
                      <a:pt x="103117" y="37597"/>
                      <a:pt x="117007" y="67253"/>
                      <a:pt x="142755" y="83201"/>
                    </a:cubicBezTo>
                    <a:close/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6" name="任意多边形 99">
                <a:extLst>
                  <a:ext uri="{FF2B5EF4-FFF2-40B4-BE49-F238E27FC236}">
                    <a16:creationId xmlns:a16="http://schemas.microsoft.com/office/drawing/2014/main" id="{30F6104E-36ED-4BE2-91FF-C7C7E289F574}"/>
                  </a:ext>
                </a:extLst>
              </p:cNvPr>
              <p:cNvSpPr/>
              <p:nvPr/>
            </p:nvSpPr>
            <p:spPr>
              <a:xfrm>
                <a:off x="5607623" y="3024382"/>
                <a:ext cx="689681" cy="724954"/>
              </a:xfrm>
              <a:custGeom>
                <a:avLst/>
                <a:gdLst>
                  <a:gd name="connsiteX0" fmla="*/ 275669 w 689681"/>
                  <a:gd name="connsiteY0" fmla="*/ 117938 h 724954"/>
                  <a:gd name="connsiteX1" fmla="*/ 405554 w 689681"/>
                  <a:gd name="connsiteY1" fmla="*/ 49075 h 724954"/>
                  <a:gd name="connsiteX2" fmla="*/ 482061 w 689681"/>
                  <a:gd name="connsiteY2" fmla="*/ -187 h 724954"/>
                  <a:gd name="connsiteX3" fmla="*/ 678065 w 689681"/>
                  <a:gd name="connsiteY3" fmla="*/ 343016 h 724954"/>
                  <a:gd name="connsiteX4" fmla="*/ 263059 w 689681"/>
                  <a:gd name="connsiteY4" fmla="*/ 724767 h 724954"/>
                  <a:gd name="connsiteX5" fmla="*/ -567 w 689681"/>
                  <a:gd name="connsiteY5" fmla="*/ 261544 h 724954"/>
                  <a:gd name="connsiteX6" fmla="*/ 275669 w 689681"/>
                  <a:gd name="connsiteY6" fmla="*/ 117938 h 724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9681" h="724954">
                    <a:moveTo>
                      <a:pt x="275669" y="117938"/>
                    </a:moveTo>
                    <a:cubicBezTo>
                      <a:pt x="360604" y="108791"/>
                      <a:pt x="354462" y="61554"/>
                      <a:pt x="405554" y="49075"/>
                    </a:cubicBezTo>
                    <a:cubicBezTo>
                      <a:pt x="434040" y="42542"/>
                      <a:pt x="449328" y="-187"/>
                      <a:pt x="482061" y="-187"/>
                    </a:cubicBezTo>
                    <a:cubicBezTo>
                      <a:pt x="577319" y="-187"/>
                      <a:pt x="555563" y="293819"/>
                      <a:pt x="678065" y="343016"/>
                    </a:cubicBezTo>
                    <a:cubicBezTo>
                      <a:pt x="769534" y="379604"/>
                      <a:pt x="263059" y="724767"/>
                      <a:pt x="263059" y="724767"/>
                    </a:cubicBezTo>
                    <a:lnTo>
                      <a:pt x="-567" y="261544"/>
                    </a:lnTo>
                    <a:cubicBezTo>
                      <a:pt x="-567" y="261544"/>
                      <a:pt x="190799" y="127150"/>
                      <a:pt x="275669" y="117938"/>
                    </a:cubicBezTo>
                    <a:close/>
                  </a:path>
                </a:pathLst>
              </a:custGeom>
              <a:solidFill>
                <a:srgbClr val="F1C649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7" name="任意多边形 100">
                <a:extLst>
                  <a:ext uri="{FF2B5EF4-FFF2-40B4-BE49-F238E27FC236}">
                    <a16:creationId xmlns:a16="http://schemas.microsoft.com/office/drawing/2014/main" id="{1F268C09-0A0C-4B79-A281-D9664BFE286C}"/>
                  </a:ext>
                </a:extLst>
              </p:cNvPr>
              <p:cNvSpPr/>
              <p:nvPr/>
            </p:nvSpPr>
            <p:spPr>
              <a:xfrm>
                <a:off x="5342821" y="3897189"/>
                <a:ext cx="385474" cy="519672"/>
              </a:xfrm>
              <a:custGeom>
                <a:avLst/>
                <a:gdLst>
                  <a:gd name="connsiteX0" fmla="*/ 384908 w 385474"/>
                  <a:gd name="connsiteY0" fmla="*/ -187 h 519672"/>
                  <a:gd name="connsiteX1" fmla="*/ -567 w 385474"/>
                  <a:gd name="connsiteY1" fmla="*/ 519486 h 519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5474" h="519672">
                    <a:moveTo>
                      <a:pt x="384908" y="-187"/>
                    </a:moveTo>
                    <a:cubicBezTo>
                      <a:pt x="384908" y="-187"/>
                      <a:pt x="263451" y="401295"/>
                      <a:pt x="-567" y="519486"/>
                    </a:cubicBezTo>
                  </a:path>
                </a:pathLst>
              </a:custGeom>
              <a:noFill/>
              <a:ln w="1633" cap="rnd">
                <a:solidFill>
                  <a:srgbClr val="263238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8" name="任意多边形 101">
                <a:extLst>
                  <a:ext uri="{FF2B5EF4-FFF2-40B4-BE49-F238E27FC236}">
                    <a16:creationId xmlns:a16="http://schemas.microsoft.com/office/drawing/2014/main" id="{1B8C548D-A154-4505-8256-D0BB41693E6D}"/>
                  </a:ext>
                </a:extLst>
              </p:cNvPr>
              <p:cNvSpPr/>
              <p:nvPr/>
            </p:nvSpPr>
            <p:spPr>
              <a:xfrm>
                <a:off x="5100037" y="3124624"/>
                <a:ext cx="180350" cy="119810"/>
              </a:xfrm>
              <a:custGeom>
                <a:avLst/>
                <a:gdLst>
                  <a:gd name="connsiteX0" fmla="*/ -567 w 180350"/>
                  <a:gd name="connsiteY0" fmla="*/ 45986 h 119810"/>
                  <a:gd name="connsiteX1" fmla="*/ 155126 w 180350"/>
                  <a:gd name="connsiteY1" fmla="*/ 93223 h 119810"/>
                  <a:gd name="connsiteX2" fmla="*/ -567 w 180350"/>
                  <a:gd name="connsiteY2" fmla="*/ 45986 h 119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0350" h="119810">
                    <a:moveTo>
                      <a:pt x="-567" y="45986"/>
                    </a:moveTo>
                    <a:cubicBezTo>
                      <a:pt x="-567" y="45986"/>
                      <a:pt x="65813" y="173192"/>
                      <a:pt x="155126" y="93223"/>
                    </a:cubicBezTo>
                    <a:cubicBezTo>
                      <a:pt x="244439" y="13253"/>
                      <a:pt x="67512" y="-44960"/>
                      <a:pt x="-567" y="45986"/>
                    </a:cubicBezTo>
                    <a:close/>
                  </a:path>
                </a:pathLst>
              </a:custGeom>
              <a:solidFill>
                <a:srgbClr val="263238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9" name="任意多边形 102">
                <a:extLst>
                  <a:ext uri="{FF2B5EF4-FFF2-40B4-BE49-F238E27FC236}">
                    <a16:creationId xmlns:a16="http://schemas.microsoft.com/office/drawing/2014/main" id="{B2377032-A89F-4DDE-8C75-7563A95EA900}"/>
                  </a:ext>
                </a:extLst>
              </p:cNvPr>
              <p:cNvSpPr/>
              <p:nvPr/>
            </p:nvSpPr>
            <p:spPr>
              <a:xfrm>
                <a:off x="5400837" y="2654326"/>
                <a:ext cx="152373" cy="334056"/>
              </a:xfrm>
              <a:custGeom>
                <a:avLst/>
                <a:gdLst>
                  <a:gd name="connsiteX0" fmla="*/ 67448 w 152373"/>
                  <a:gd name="connsiteY0" fmla="*/ -187 h 334056"/>
                  <a:gd name="connsiteX1" fmla="*/ 94954 w 152373"/>
                  <a:gd name="connsiteY1" fmla="*/ 333870 h 334056"/>
                  <a:gd name="connsiteX2" fmla="*/ 9562 w 152373"/>
                  <a:gd name="connsiteY2" fmla="*/ 93438 h 334056"/>
                  <a:gd name="connsiteX3" fmla="*/ 52682 w 152373"/>
                  <a:gd name="connsiteY3" fmla="*/ 41170 h 334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2373" h="334056">
                    <a:moveTo>
                      <a:pt x="67448" y="-187"/>
                    </a:moveTo>
                    <a:cubicBezTo>
                      <a:pt x="67448" y="-187"/>
                      <a:pt x="237318" y="204376"/>
                      <a:pt x="94954" y="333870"/>
                    </a:cubicBezTo>
                    <a:cubicBezTo>
                      <a:pt x="94954" y="333870"/>
                      <a:pt x="-37545" y="126628"/>
                      <a:pt x="9562" y="93438"/>
                    </a:cubicBezTo>
                    <a:cubicBezTo>
                      <a:pt x="58824" y="53910"/>
                      <a:pt x="52682" y="41170"/>
                      <a:pt x="52682" y="41170"/>
                    </a:cubicBezTo>
                    <a:close/>
                  </a:path>
                </a:pathLst>
              </a:custGeom>
              <a:solidFill>
                <a:srgbClr val="263238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0" name="任意多边形 103">
                <a:extLst>
                  <a:ext uri="{FF2B5EF4-FFF2-40B4-BE49-F238E27FC236}">
                    <a16:creationId xmlns:a16="http://schemas.microsoft.com/office/drawing/2014/main" id="{E0E22D9A-2E41-4FA8-96AA-E2315F9DFFD5}"/>
                  </a:ext>
                </a:extLst>
              </p:cNvPr>
              <p:cNvSpPr/>
              <p:nvPr/>
            </p:nvSpPr>
            <p:spPr>
              <a:xfrm>
                <a:off x="5110688" y="2679236"/>
                <a:ext cx="468945" cy="594142"/>
              </a:xfrm>
              <a:custGeom>
                <a:avLst/>
                <a:gdLst>
                  <a:gd name="connsiteX0" fmla="*/ 453640 w 468945"/>
                  <a:gd name="connsiteY0" fmla="*/ 308437 h 594142"/>
                  <a:gd name="connsiteX1" fmla="*/ 323558 w 468945"/>
                  <a:gd name="connsiteY1" fmla="*/ 588789 h 594142"/>
                  <a:gd name="connsiteX2" fmla="*/ 64702 w 468945"/>
                  <a:gd name="connsiteY2" fmla="*/ 468638 h 594142"/>
                  <a:gd name="connsiteX3" fmla="*/ 34125 w 468945"/>
                  <a:gd name="connsiteY3" fmla="*/ 73951 h 594142"/>
                  <a:gd name="connsiteX4" fmla="*/ 315065 w 468945"/>
                  <a:gd name="connsiteY4" fmla="*/ 19070 h 594142"/>
                  <a:gd name="connsiteX5" fmla="*/ 453966 w 468945"/>
                  <a:gd name="connsiteY5" fmla="*/ 308568 h 594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68945" h="594142">
                    <a:moveTo>
                      <a:pt x="453640" y="308437"/>
                    </a:moveTo>
                    <a:cubicBezTo>
                      <a:pt x="475984" y="388080"/>
                      <a:pt x="496957" y="564092"/>
                      <a:pt x="323558" y="588789"/>
                    </a:cubicBezTo>
                    <a:cubicBezTo>
                      <a:pt x="147938" y="619953"/>
                      <a:pt x="85609" y="501305"/>
                      <a:pt x="64702" y="468638"/>
                    </a:cubicBezTo>
                    <a:cubicBezTo>
                      <a:pt x="48107" y="434076"/>
                      <a:pt x="-52378" y="147387"/>
                      <a:pt x="34125" y="73951"/>
                    </a:cubicBezTo>
                    <a:cubicBezTo>
                      <a:pt x="116316" y="2606"/>
                      <a:pt x="253388" y="-20588"/>
                      <a:pt x="315065" y="19070"/>
                    </a:cubicBezTo>
                    <a:cubicBezTo>
                      <a:pt x="378635" y="52325"/>
                      <a:pt x="453966" y="308568"/>
                      <a:pt x="453966" y="308568"/>
                    </a:cubicBezTo>
                    <a:close/>
                  </a:path>
                </a:pathLst>
              </a:custGeom>
              <a:solidFill>
                <a:srgbClr val="FCB9AE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1" name="任意多边形 104">
                <a:extLst>
                  <a:ext uri="{FF2B5EF4-FFF2-40B4-BE49-F238E27FC236}">
                    <a16:creationId xmlns:a16="http://schemas.microsoft.com/office/drawing/2014/main" id="{AFC41A96-58D5-4F73-A039-F5268CDC9C2D}"/>
                  </a:ext>
                </a:extLst>
              </p:cNvPr>
              <p:cNvSpPr/>
              <p:nvPr/>
            </p:nvSpPr>
            <p:spPr>
              <a:xfrm rot="19799999">
                <a:off x="5405111" y="3108856"/>
                <a:ext cx="87287" cy="45734"/>
              </a:xfrm>
              <a:custGeom>
                <a:avLst/>
                <a:gdLst>
                  <a:gd name="connsiteX0" fmla="*/ 86720 w 87287"/>
                  <a:gd name="connsiteY0" fmla="*/ 22680 h 45734"/>
                  <a:gd name="connsiteX1" fmla="*/ 43077 w 87287"/>
                  <a:gd name="connsiteY1" fmla="*/ 45547 h 45734"/>
                  <a:gd name="connsiteX2" fmla="*/ -567 w 87287"/>
                  <a:gd name="connsiteY2" fmla="*/ 22680 h 45734"/>
                  <a:gd name="connsiteX3" fmla="*/ 43077 w 87287"/>
                  <a:gd name="connsiteY3" fmla="*/ -187 h 45734"/>
                  <a:gd name="connsiteX4" fmla="*/ 86720 w 87287"/>
                  <a:gd name="connsiteY4" fmla="*/ 22680 h 45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287" h="45734">
                    <a:moveTo>
                      <a:pt x="86720" y="22680"/>
                    </a:moveTo>
                    <a:cubicBezTo>
                      <a:pt x="86720" y="35309"/>
                      <a:pt x="67181" y="45547"/>
                      <a:pt x="43077" y="45547"/>
                    </a:cubicBezTo>
                    <a:cubicBezTo>
                      <a:pt x="18973" y="45547"/>
                      <a:pt x="-567" y="35309"/>
                      <a:pt x="-567" y="22680"/>
                    </a:cubicBezTo>
                    <a:cubicBezTo>
                      <a:pt x="-567" y="10051"/>
                      <a:pt x="18973" y="-187"/>
                      <a:pt x="43077" y="-187"/>
                    </a:cubicBezTo>
                    <a:cubicBezTo>
                      <a:pt x="67181" y="-187"/>
                      <a:pt x="86720" y="10051"/>
                      <a:pt x="86720" y="22680"/>
                    </a:cubicBezTo>
                    <a:close/>
                  </a:path>
                </a:pathLst>
              </a:custGeom>
              <a:solidFill>
                <a:srgbClr val="E88282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2" name="任意多边形 105">
                <a:extLst>
                  <a:ext uri="{FF2B5EF4-FFF2-40B4-BE49-F238E27FC236}">
                    <a16:creationId xmlns:a16="http://schemas.microsoft.com/office/drawing/2014/main" id="{FAE58711-103E-4983-AFD4-D1B6F1288A19}"/>
                  </a:ext>
                </a:extLst>
              </p:cNvPr>
              <p:cNvSpPr/>
              <p:nvPr/>
            </p:nvSpPr>
            <p:spPr>
              <a:xfrm rot="20116199">
                <a:off x="5281641" y="2933329"/>
                <a:ext cx="36848" cy="55273"/>
              </a:xfrm>
              <a:custGeom>
                <a:avLst/>
                <a:gdLst>
                  <a:gd name="connsiteX0" fmla="*/ 36282 w 36848"/>
                  <a:gd name="connsiteY0" fmla="*/ 27450 h 55273"/>
                  <a:gd name="connsiteX1" fmla="*/ 17858 w 36848"/>
                  <a:gd name="connsiteY1" fmla="*/ 55086 h 55273"/>
                  <a:gd name="connsiteX2" fmla="*/ -567 w 36848"/>
                  <a:gd name="connsiteY2" fmla="*/ 27450 h 55273"/>
                  <a:gd name="connsiteX3" fmla="*/ 17858 w 36848"/>
                  <a:gd name="connsiteY3" fmla="*/ -187 h 55273"/>
                  <a:gd name="connsiteX4" fmla="*/ 36282 w 36848"/>
                  <a:gd name="connsiteY4" fmla="*/ 27450 h 55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848" h="55273">
                    <a:moveTo>
                      <a:pt x="36282" y="27450"/>
                    </a:moveTo>
                    <a:cubicBezTo>
                      <a:pt x="36282" y="42713"/>
                      <a:pt x="28033" y="55086"/>
                      <a:pt x="17858" y="55086"/>
                    </a:cubicBezTo>
                    <a:cubicBezTo>
                      <a:pt x="7682" y="55086"/>
                      <a:pt x="-567" y="42713"/>
                      <a:pt x="-567" y="27450"/>
                    </a:cubicBezTo>
                    <a:cubicBezTo>
                      <a:pt x="-567" y="12186"/>
                      <a:pt x="7682" y="-187"/>
                      <a:pt x="17858" y="-187"/>
                    </a:cubicBezTo>
                    <a:cubicBezTo>
                      <a:pt x="28033" y="-187"/>
                      <a:pt x="36282" y="12186"/>
                      <a:pt x="36282" y="27450"/>
                    </a:cubicBezTo>
                    <a:close/>
                  </a:path>
                </a:pathLst>
              </a:custGeom>
              <a:solidFill>
                <a:srgbClr val="263238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3" name="任意多边形 106">
                <a:extLst>
                  <a:ext uri="{FF2B5EF4-FFF2-40B4-BE49-F238E27FC236}">
                    <a16:creationId xmlns:a16="http://schemas.microsoft.com/office/drawing/2014/main" id="{1BC6316F-A168-4395-868C-CEBC2CD41AE0}"/>
                  </a:ext>
                </a:extLst>
              </p:cNvPr>
              <p:cNvSpPr/>
              <p:nvPr/>
            </p:nvSpPr>
            <p:spPr>
              <a:xfrm rot="20116199">
                <a:off x="5465990" y="2864678"/>
                <a:ext cx="36848" cy="55273"/>
              </a:xfrm>
              <a:custGeom>
                <a:avLst/>
                <a:gdLst>
                  <a:gd name="connsiteX0" fmla="*/ 36282 w 36848"/>
                  <a:gd name="connsiteY0" fmla="*/ 27450 h 55273"/>
                  <a:gd name="connsiteX1" fmla="*/ 17858 w 36848"/>
                  <a:gd name="connsiteY1" fmla="*/ 55086 h 55273"/>
                  <a:gd name="connsiteX2" fmla="*/ -567 w 36848"/>
                  <a:gd name="connsiteY2" fmla="*/ 27450 h 55273"/>
                  <a:gd name="connsiteX3" fmla="*/ 17858 w 36848"/>
                  <a:gd name="connsiteY3" fmla="*/ -187 h 55273"/>
                  <a:gd name="connsiteX4" fmla="*/ 36282 w 36848"/>
                  <a:gd name="connsiteY4" fmla="*/ 27450 h 55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848" h="55273">
                    <a:moveTo>
                      <a:pt x="36282" y="27450"/>
                    </a:moveTo>
                    <a:cubicBezTo>
                      <a:pt x="36282" y="42713"/>
                      <a:pt x="28033" y="55086"/>
                      <a:pt x="17858" y="55086"/>
                    </a:cubicBezTo>
                    <a:cubicBezTo>
                      <a:pt x="7682" y="55086"/>
                      <a:pt x="-567" y="42713"/>
                      <a:pt x="-567" y="27450"/>
                    </a:cubicBezTo>
                    <a:cubicBezTo>
                      <a:pt x="-567" y="12186"/>
                      <a:pt x="7682" y="-187"/>
                      <a:pt x="17858" y="-187"/>
                    </a:cubicBezTo>
                    <a:cubicBezTo>
                      <a:pt x="28033" y="-187"/>
                      <a:pt x="36282" y="12186"/>
                      <a:pt x="36282" y="27450"/>
                    </a:cubicBezTo>
                    <a:close/>
                  </a:path>
                </a:pathLst>
              </a:custGeom>
              <a:solidFill>
                <a:srgbClr val="263238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4" name="任意多边形 107">
                <a:extLst>
                  <a:ext uri="{FF2B5EF4-FFF2-40B4-BE49-F238E27FC236}">
                    <a16:creationId xmlns:a16="http://schemas.microsoft.com/office/drawing/2014/main" id="{BC0595E0-956B-4067-9EF9-234ABEB8481C}"/>
                  </a:ext>
                </a:extLst>
              </p:cNvPr>
              <p:cNvSpPr/>
              <p:nvPr/>
            </p:nvSpPr>
            <p:spPr>
              <a:xfrm>
                <a:off x="4931854" y="2493225"/>
                <a:ext cx="578523" cy="598843"/>
              </a:xfrm>
              <a:custGeom>
                <a:avLst/>
                <a:gdLst>
                  <a:gd name="connsiteX0" fmla="*/ 211979 w 578523"/>
                  <a:gd name="connsiteY0" fmla="*/ 566055 h 598843"/>
                  <a:gd name="connsiteX1" fmla="*/ 211195 w 578523"/>
                  <a:gd name="connsiteY1" fmla="*/ 343198 h 598843"/>
                  <a:gd name="connsiteX2" fmla="*/ 573607 w 578523"/>
                  <a:gd name="connsiteY2" fmla="*/ 153270 h 598843"/>
                  <a:gd name="connsiteX3" fmla="*/ 378386 w 578523"/>
                  <a:gd name="connsiteY3" fmla="*/ 1824 h 598843"/>
                  <a:gd name="connsiteX4" fmla="*/ -555 w 578523"/>
                  <a:gd name="connsiteY4" fmla="*/ 255127 h 598843"/>
                  <a:gd name="connsiteX5" fmla="*/ 110514 w 578523"/>
                  <a:gd name="connsiteY5" fmla="*/ 598657 h 598843"/>
                  <a:gd name="connsiteX6" fmla="*/ 211652 w 578523"/>
                  <a:gd name="connsiteY6" fmla="*/ 565989 h 598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8523" h="598843">
                    <a:moveTo>
                      <a:pt x="211979" y="566055"/>
                    </a:moveTo>
                    <a:cubicBezTo>
                      <a:pt x="211979" y="566055"/>
                      <a:pt x="317102" y="552988"/>
                      <a:pt x="211195" y="343198"/>
                    </a:cubicBezTo>
                    <a:cubicBezTo>
                      <a:pt x="211195" y="343198"/>
                      <a:pt x="518268" y="278582"/>
                      <a:pt x="573607" y="153270"/>
                    </a:cubicBezTo>
                    <a:cubicBezTo>
                      <a:pt x="598826" y="96167"/>
                      <a:pt x="511865" y="-16601"/>
                      <a:pt x="378386" y="1824"/>
                    </a:cubicBezTo>
                    <a:cubicBezTo>
                      <a:pt x="167813" y="31355"/>
                      <a:pt x="-2188" y="102766"/>
                      <a:pt x="-555" y="255127"/>
                    </a:cubicBezTo>
                    <a:cubicBezTo>
                      <a:pt x="621" y="364366"/>
                      <a:pt x="110514" y="598657"/>
                      <a:pt x="110514" y="598657"/>
                    </a:cubicBezTo>
                    <a:lnTo>
                      <a:pt x="211652" y="565989"/>
                    </a:lnTo>
                    <a:close/>
                  </a:path>
                </a:pathLst>
              </a:custGeom>
              <a:solidFill>
                <a:srgbClr val="263238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5" name="任意多边形 108">
                <a:extLst>
                  <a:ext uri="{FF2B5EF4-FFF2-40B4-BE49-F238E27FC236}">
                    <a16:creationId xmlns:a16="http://schemas.microsoft.com/office/drawing/2014/main" id="{0E644EC5-7D11-447C-A22C-1919A87C924B}"/>
                  </a:ext>
                </a:extLst>
              </p:cNvPr>
              <p:cNvSpPr/>
              <p:nvPr/>
            </p:nvSpPr>
            <p:spPr>
              <a:xfrm>
                <a:off x="5019990" y="3017899"/>
                <a:ext cx="193393" cy="169990"/>
              </a:xfrm>
              <a:custGeom>
                <a:avLst/>
                <a:gdLst>
                  <a:gd name="connsiteX0" fmla="*/ 163305 w 193393"/>
                  <a:gd name="connsiteY0" fmla="*/ 35958 h 169990"/>
                  <a:gd name="connsiteX1" fmla="*/ 29891 w 193393"/>
                  <a:gd name="connsiteY1" fmla="*/ 9824 h 169990"/>
                  <a:gd name="connsiteX2" fmla="*/ 47531 w 193393"/>
                  <a:gd name="connsiteY2" fmla="*/ 144936 h 169990"/>
                  <a:gd name="connsiteX3" fmla="*/ 187805 w 193393"/>
                  <a:gd name="connsiteY3" fmla="*/ 120175 h 169990"/>
                  <a:gd name="connsiteX4" fmla="*/ 163305 w 193393"/>
                  <a:gd name="connsiteY4" fmla="*/ 36219 h 169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3393" h="169990">
                    <a:moveTo>
                      <a:pt x="163305" y="35958"/>
                    </a:moveTo>
                    <a:cubicBezTo>
                      <a:pt x="163305" y="35958"/>
                      <a:pt x="97970" y="-23170"/>
                      <a:pt x="29891" y="9824"/>
                    </a:cubicBezTo>
                    <a:cubicBezTo>
                      <a:pt x="-25513" y="36415"/>
                      <a:pt x="3365" y="107826"/>
                      <a:pt x="47531" y="144936"/>
                    </a:cubicBezTo>
                    <a:cubicBezTo>
                      <a:pt x="87516" y="173618"/>
                      <a:pt x="174281" y="190671"/>
                      <a:pt x="187805" y="120175"/>
                    </a:cubicBezTo>
                    <a:cubicBezTo>
                      <a:pt x="207406" y="52161"/>
                      <a:pt x="163305" y="36219"/>
                      <a:pt x="163305" y="36219"/>
                    </a:cubicBezTo>
                    <a:close/>
                  </a:path>
                </a:pathLst>
              </a:custGeom>
              <a:solidFill>
                <a:srgbClr val="FCB9AE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6" name="任意多边形 109">
                <a:extLst>
                  <a:ext uri="{FF2B5EF4-FFF2-40B4-BE49-F238E27FC236}">
                    <a16:creationId xmlns:a16="http://schemas.microsoft.com/office/drawing/2014/main" id="{CCD6AF1A-709A-45E5-9A7C-66C31BD9FF01}"/>
                  </a:ext>
                </a:extLst>
              </p:cNvPr>
              <p:cNvSpPr/>
              <p:nvPr/>
            </p:nvSpPr>
            <p:spPr>
              <a:xfrm>
                <a:off x="5401557" y="2936376"/>
                <a:ext cx="75621" cy="116094"/>
              </a:xfrm>
              <a:custGeom>
                <a:avLst/>
                <a:gdLst>
                  <a:gd name="connsiteX0" fmla="*/ -567 w 75621"/>
                  <a:gd name="connsiteY0" fmla="*/ 9 h 116094"/>
                  <a:gd name="connsiteX1" fmla="*/ 73327 w 75621"/>
                  <a:gd name="connsiteY1" fmla="*/ 71877 h 116094"/>
                  <a:gd name="connsiteX2" fmla="*/ 34453 w 75621"/>
                  <a:gd name="connsiteY2" fmla="*/ 115847 h 116094"/>
                  <a:gd name="connsiteX3" fmla="*/ 20994 w 75621"/>
                  <a:gd name="connsiteY3" fmla="*/ 105851 h 116094"/>
                  <a:gd name="connsiteX4" fmla="*/ -567 w 75621"/>
                  <a:gd name="connsiteY4" fmla="*/ -187 h 116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621" h="116094">
                    <a:moveTo>
                      <a:pt x="-567" y="9"/>
                    </a:moveTo>
                    <a:cubicBezTo>
                      <a:pt x="12500" y="9286"/>
                      <a:pt x="51701" y="31566"/>
                      <a:pt x="73327" y="71877"/>
                    </a:cubicBezTo>
                    <a:cubicBezTo>
                      <a:pt x="81755" y="87623"/>
                      <a:pt x="57843" y="113430"/>
                      <a:pt x="34453" y="115847"/>
                    </a:cubicBezTo>
                    <a:cubicBezTo>
                      <a:pt x="28063" y="116475"/>
                      <a:pt x="22241" y="112150"/>
                      <a:pt x="20994" y="105851"/>
                    </a:cubicBezTo>
                    <a:lnTo>
                      <a:pt x="-567" y="-187"/>
                    </a:lnTo>
                    <a:close/>
                  </a:path>
                </a:pathLst>
              </a:custGeom>
              <a:solidFill>
                <a:srgbClr val="E88282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7" name="任意多边形 110">
                <a:extLst>
                  <a:ext uri="{FF2B5EF4-FFF2-40B4-BE49-F238E27FC236}">
                    <a16:creationId xmlns:a16="http://schemas.microsoft.com/office/drawing/2014/main" id="{84283C63-CF4C-4636-B93A-E803E80D1FED}"/>
                  </a:ext>
                </a:extLst>
              </p:cNvPr>
              <p:cNvSpPr/>
              <p:nvPr/>
            </p:nvSpPr>
            <p:spPr>
              <a:xfrm>
                <a:off x="4794900" y="2491455"/>
                <a:ext cx="195464" cy="320132"/>
              </a:xfrm>
              <a:custGeom>
                <a:avLst/>
                <a:gdLst>
                  <a:gd name="connsiteX0" fmla="*/ 28139 w 195464"/>
                  <a:gd name="connsiteY0" fmla="*/ 319945 h 320132"/>
                  <a:gd name="connsiteX1" fmla="*/ 12263 w 195464"/>
                  <a:gd name="connsiteY1" fmla="*/ 307596 h 320132"/>
                  <a:gd name="connsiteX2" fmla="*/ 35326 w 195464"/>
                  <a:gd name="connsiteY2" fmla="*/ 85916 h 320132"/>
                  <a:gd name="connsiteX3" fmla="*/ 176449 w 195464"/>
                  <a:gd name="connsiteY3" fmla="*/ -65 h 320132"/>
                  <a:gd name="connsiteX4" fmla="*/ 194775 w 195464"/>
                  <a:gd name="connsiteY4" fmla="*/ 14276 h 320132"/>
                  <a:gd name="connsiteX5" fmla="*/ 180434 w 195464"/>
                  <a:gd name="connsiteY5" fmla="*/ 32603 h 320132"/>
                  <a:gd name="connsiteX6" fmla="*/ 61982 w 195464"/>
                  <a:gd name="connsiteY6" fmla="*/ 104994 h 320132"/>
                  <a:gd name="connsiteX7" fmla="*/ 44015 w 195464"/>
                  <a:gd name="connsiteY7" fmla="*/ 299887 h 320132"/>
                  <a:gd name="connsiteX8" fmla="*/ 32124 w 195464"/>
                  <a:gd name="connsiteY8" fmla="*/ 319487 h 320132"/>
                  <a:gd name="connsiteX9" fmla="*/ 28139 w 195464"/>
                  <a:gd name="connsiteY9" fmla="*/ 319945 h 320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5464" h="320132">
                    <a:moveTo>
                      <a:pt x="28139" y="319945"/>
                    </a:moveTo>
                    <a:cubicBezTo>
                      <a:pt x="20658" y="319912"/>
                      <a:pt x="14131" y="314842"/>
                      <a:pt x="12263" y="307596"/>
                    </a:cubicBezTo>
                    <a:cubicBezTo>
                      <a:pt x="-10604" y="216128"/>
                      <a:pt x="-2895" y="141385"/>
                      <a:pt x="35326" y="85916"/>
                    </a:cubicBezTo>
                    <a:cubicBezTo>
                      <a:pt x="86418" y="11630"/>
                      <a:pt x="172529" y="393"/>
                      <a:pt x="176449" y="-65"/>
                    </a:cubicBezTo>
                    <a:cubicBezTo>
                      <a:pt x="185472" y="-1162"/>
                      <a:pt x="193678" y="5254"/>
                      <a:pt x="194775" y="14276"/>
                    </a:cubicBezTo>
                    <a:cubicBezTo>
                      <a:pt x="195873" y="23299"/>
                      <a:pt x="189457" y="31505"/>
                      <a:pt x="180434" y="32603"/>
                    </a:cubicBezTo>
                    <a:cubicBezTo>
                      <a:pt x="179389" y="32603"/>
                      <a:pt x="104450" y="42926"/>
                      <a:pt x="61982" y="104994"/>
                    </a:cubicBezTo>
                    <a:cubicBezTo>
                      <a:pt x="29315" y="152361"/>
                      <a:pt x="23500" y="217957"/>
                      <a:pt x="44015" y="299887"/>
                    </a:cubicBezTo>
                    <a:cubicBezTo>
                      <a:pt x="46034" y="308564"/>
                      <a:pt x="40755" y="317273"/>
                      <a:pt x="32124" y="319487"/>
                    </a:cubicBezTo>
                    <a:cubicBezTo>
                      <a:pt x="30818" y="319795"/>
                      <a:pt x="29479" y="319951"/>
                      <a:pt x="28139" y="319945"/>
                    </a:cubicBezTo>
                    <a:close/>
                  </a:path>
                </a:pathLst>
              </a:custGeom>
              <a:solidFill>
                <a:srgbClr val="B2BFD8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8" name="任意多边形 111">
                <a:extLst>
                  <a:ext uri="{FF2B5EF4-FFF2-40B4-BE49-F238E27FC236}">
                    <a16:creationId xmlns:a16="http://schemas.microsoft.com/office/drawing/2014/main" id="{840A6B57-555C-4659-9AC7-1127FBEB0601}"/>
                  </a:ext>
                </a:extLst>
              </p:cNvPr>
              <p:cNvSpPr/>
              <p:nvPr/>
            </p:nvSpPr>
            <p:spPr>
              <a:xfrm>
                <a:off x="8418932" y="2195277"/>
                <a:ext cx="141332" cy="590176"/>
              </a:xfrm>
              <a:custGeom>
                <a:avLst/>
                <a:gdLst>
                  <a:gd name="connsiteX0" fmla="*/ 15746 w 141332"/>
                  <a:gd name="connsiteY0" fmla="*/ 589989 h 590176"/>
                  <a:gd name="connsiteX1" fmla="*/ 5880 w 141332"/>
                  <a:gd name="connsiteY1" fmla="*/ 586592 h 590176"/>
                  <a:gd name="connsiteX2" fmla="*/ 2744 w 141332"/>
                  <a:gd name="connsiteY2" fmla="*/ 563725 h 590176"/>
                  <a:gd name="connsiteX3" fmla="*/ 87680 w 141332"/>
                  <a:gd name="connsiteY3" fmla="*/ 20140 h 590176"/>
                  <a:gd name="connsiteX4" fmla="*/ 99505 w 141332"/>
                  <a:gd name="connsiteY4" fmla="*/ 311 h 590176"/>
                  <a:gd name="connsiteX5" fmla="*/ 119367 w 141332"/>
                  <a:gd name="connsiteY5" fmla="*/ 12169 h 590176"/>
                  <a:gd name="connsiteX6" fmla="*/ 28813 w 141332"/>
                  <a:gd name="connsiteY6" fmla="*/ 583521 h 590176"/>
                  <a:gd name="connsiteX7" fmla="*/ 15746 w 141332"/>
                  <a:gd name="connsiteY7" fmla="*/ 589989 h 590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332" h="590176">
                    <a:moveTo>
                      <a:pt x="15746" y="589989"/>
                    </a:moveTo>
                    <a:cubicBezTo>
                      <a:pt x="12152" y="589989"/>
                      <a:pt x="8689" y="588794"/>
                      <a:pt x="5880" y="586592"/>
                    </a:cubicBezTo>
                    <a:cubicBezTo>
                      <a:pt x="-1306" y="581136"/>
                      <a:pt x="-2679" y="570905"/>
                      <a:pt x="2744" y="563725"/>
                    </a:cubicBezTo>
                    <a:cubicBezTo>
                      <a:pt x="167257" y="348120"/>
                      <a:pt x="88464" y="23406"/>
                      <a:pt x="87680" y="20140"/>
                    </a:cubicBezTo>
                    <a:cubicBezTo>
                      <a:pt x="85458" y="11391"/>
                      <a:pt x="90816" y="2512"/>
                      <a:pt x="99505" y="311"/>
                    </a:cubicBezTo>
                    <a:cubicBezTo>
                      <a:pt x="108259" y="-1891"/>
                      <a:pt x="117146" y="3421"/>
                      <a:pt x="119367" y="12169"/>
                    </a:cubicBezTo>
                    <a:cubicBezTo>
                      <a:pt x="122894" y="26085"/>
                      <a:pt x="202929" y="355111"/>
                      <a:pt x="28813" y="583521"/>
                    </a:cubicBezTo>
                    <a:cubicBezTo>
                      <a:pt x="25742" y="587618"/>
                      <a:pt x="20907" y="590015"/>
                      <a:pt x="15746" y="589989"/>
                    </a:cubicBezTo>
                    <a:close/>
                  </a:path>
                </a:pathLst>
              </a:custGeom>
              <a:solidFill>
                <a:srgbClr val="B2BFD8"/>
              </a:solidFill>
              <a:ln w="6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156204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72090A66-91E4-4911-9494-6CD6ECB0E1EC}"/>
              </a:ext>
            </a:extLst>
          </p:cNvPr>
          <p:cNvSpPr/>
          <p:nvPr/>
        </p:nvSpPr>
        <p:spPr>
          <a:xfrm>
            <a:off x="4349908" y="2147594"/>
            <a:ext cx="251460" cy="26175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EE2150-C0B7-40A1-8F12-9A0CF6FE1210}"/>
              </a:ext>
            </a:extLst>
          </p:cNvPr>
          <p:cNvSpPr/>
          <p:nvPr/>
        </p:nvSpPr>
        <p:spPr>
          <a:xfrm>
            <a:off x="2456130" y="2147594"/>
            <a:ext cx="251460" cy="26175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计算机网络的性能指标</a:t>
              </a:r>
            </a:p>
          </p:txBody>
        </p:sp>
      </p:grpSp>
      <p:sp>
        <p:nvSpPr>
          <p:cNvPr id="86" name="îṡ1îḑè">
            <a:extLst>
              <a:ext uri="{FF2B5EF4-FFF2-40B4-BE49-F238E27FC236}">
                <a16:creationId xmlns:a16="http://schemas.microsoft.com/office/drawing/2014/main" id="{A803C2F9-4FBB-4C35-AC3F-2B77804282A2}"/>
              </a:ext>
            </a:extLst>
          </p:cNvPr>
          <p:cNvSpPr/>
          <p:nvPr/>
        </p:nvSpPr>
        <p:spPr>
          <a:xfrm>
            <a:off x="3048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速率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7" name="îṧḻîḍê">
            <a:extLst>
              <a:ext uri="{FF2B5EF4-FFF2-40B4-BE49-F238E27FC236}">
                <a16:creationId xmlns:a16="http://schemas.microsoft.com/office/drawing/2014/main" id="{DFA6F1EB-29D9-4A75-B24E-7FE2E4C0E97D}"/>
              </a:ext>
            </a:extLst>
          </p:cNvPr>
          <p:cNvSpPr/>
          <p:nvPr/>
        </p:nvSpPr>
        <p:spPr>
          <a:xfrm>
            <a:off x="17688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带宽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8" name="iṡlíďè">
            <a:extLst>
              <a:ext uri="{FF2B5EF4-FFF2-40B4-BE49-F238E27FC236}">
                <a16:creationId xmlns:a16="http://schemas.microsoft.com/office/drawing/2014/main" id="{C52BE881-D827-42B9-AFCD-BFDFE2366E21}"/>
              </a:ext>
            </a:extLst>
          </p:cNvPr>
          <p:cNvSpPr/>
          <p:nvPr/>
        </p:nvSpPr>
        <p:spPr>
          <a:xfrm>
            <a:off x="32328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rgbClr val="FFFFFF"/>
                </a:solidFill>
              </a:rPr>
              <a:t>吞吐量</a:t>
            </a:r>
            <a:endParaRPr lang="en-GB" b="1" dirty="0">
              <a:solidFill>
                <a:srgbClr val="FFFFFF"/>
              </a:solidFill>
            </a:endParaRPr>
          </a:p>
        </p:txBody>
      </p:sp>
      <p:sp>
        <p:nvSpPr>
          <p:cNvPr id="89" name="iṥľïdè">
            <a:extLst>
              <a:ext uri="{FF2B5EF4-FFF2-40B4-BE49-F238E27FC236}">
                <a16:creationId xmlns:a16="http://schemas.microsoft.com/office/drawing/2014/main" id="{7E37DD0B-57D9-45E4-B3AD-EEEB679EF75E}"/>
              </a:ext>
            </a:extLst>
          </p:cNvPr>
          <p:cNvSpPr/>
          <p:nvPr/>
        </p:nvSpPr>
        <p:spPr>
          <a:xfrm>
            <a:off x="469687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0" name="îśľîḍé">
            <a:extLst>
              <a:ext uri="{FF2B5EF4-FFF2-40B4-BE49-F238E27FC236}">
                <a16:creationId xmlns:a16="http://schemas.microsoft.com/office/drawing/2014/main" id="{67EBD377-E6A9-419F-9713-92993F43A27E}"/>
              </a:ext>
            </a:extLst>
          </p:cNvPr>
          <p:cNvSpPr/>
          <p:nvPr/>
        </p:nvSpPr>
        <p:spPr>
          <a:xfrm>
            <a:off x="76249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往返时间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1" name="îśľîḍé">
            <a:extLst>
              <a:ext uri="{FF2B5EF4-FFF2-40B4-BE49-F238E27FC236}">
                <a16:creationId xmlns:a16="http://schemas.microsoft.com/office/drawing/2014/main" id="{01D6FD95-2A4C-4A1F-ADAA-E06A0DB2334E}"/>
              </a:ext>
            </a:extLst>
          </p:cNvPr>
          <p:cNvSpPr/>
          <p:nvPr/>
        </p:nvSpPr>
        <p:spPr>
          <a:xfrm>
            <a:off x="61609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时延带宽积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2" name="îśľîḍé">
            <a:extLst>
              <a:ext uri="{FF2B5EF4-FFF2-40B4-BE49-F238E27FC236}">
                <a16:creationId xmlns:a16="http://schemas.microsoft.com/office/drawing/2014/main" id="{D196E2C0-5678-4A32-8DE3-2A8BA36E0749}"/>
              </a:ext>
            </a:extLst>
          </p:cNvPr>
          <p:cNvSpPr/>
          <p:nvPr/>
        </p:nvSpPr>
        <p:spPr>
          <a:xfrm>
            <a:off x="90889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利用率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3" name="îśľîḍé">
            <a:extLst>
              <a:ext uri="{FF2B5EF4-FFF2-40B4-BE49-F238E27FC236}">
                <a16:creationId xmlns:a16="http://schemas.microsoft.com/office/drawing/2014/main" id="{9010AC37-690A-4F23-99A9-04A6AEEBAC9D}"/>
              </a:ext>
            </a:extLst>
          </p:cNvPr>
          <p:cNvSpPr/>
          <p:nvPr/>
        </p:nvSpPr>
        <p:spPr>
          <a:xfrm>
            <a:off x="10552974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丢包率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5" name="îṧḻîḍê">
            <a:extLst>
              <a:ext uri="{FF2B5EF4-FFF2-40B4-BE49-F238E27FC236}">
                <a16:creationId xmlns:a16="http://schemas.microsoft.com/office/drawing/2014/main" id="{0A697AD8-C1F3-4AB3-B578-21E430CB1F19}"/>
              </a:ext>
            </a:extLst>
          </p:cNvPr>
          <p:cNvSpPr/>
          <p:nvPr/>
        </p:nvSpPr>
        <p:spPr>
          <a:xfrm>
            <a:off x="4696873" y="1299908"/>
            <a:ext cx="1334228" cy="482600"/>
          </a:xfrm>
          <a:prstGeom prst="rect">
            <a:avLst/>
          </a:prstGeom>
          <a:solidFill>
            <a:schemeClr val="accent4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4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11027454-A69C-4A99-ABA2-C51C564F2CC6}"/>
              </a:ext>
            </a:extLst>
          </p:cNvPr>
          <p:cNvSpPr txBox="1"/>
          <p:nvPr/>
        </p:nvSpPr>
        <p:spPr>
          <a:xfrm>
            <a:off x="309158" y="1836184"/>
            <a:ext cx="50400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【</a:t>
            </a:r>
            <a:r>
              <a:rPr lang="zh-CN" altLang="en-US" b="1" dirty="0">
                <a:latin typeface="+mn-ea"/>
              </a:rPr>
              <a:t>练习</a:t>
            </a:r>
            <a:r>
              <a:rPr lang="en-US" altLang="zh-CN" b="1" dirty="0">
                <a:latin typeface="+mn-ea"/>
              </a:rPr>
              <a:t>2】</a:t>
            </a:r>
          </a:p>
          <a:p>
            <a:r>
              <a:rPr lang="zh-CN" altLang="en-US" b="1" dirty="0">
                <a:latin typeface="+mn-ea"/>
              </a:rPr>
              <a:t>    数据块长度为</a:t>
            </a:r>
            <a:r>
              <a:rPr lang="en-US" altLang="zh-CN" b="1" dirty="0">
                <a:latin typeface="+mn-ea"/>
              </a:rPr>
              <a:t>100MB</a:t>
            </a:r>
            <a:r>
              <a:rPr lang="zh-CN" altLang="en-US" b="1" dirty="0">
                <a:latin typeface="+mn-ea"/>
              </a:rPr>
              <a:t>，信道带宽为</a:t>
            </a:r>
            <a:r>
              <a:rPr lang="en-US" altLang="zh-CN" b="1" dirty="0">
                <a:latin typeface="+mn-ea"/>
              </a:rPr>
              <a:t>1Mb/s</a:t>
            </a:r>
            <a:r>
              <a:rPr lang="zh-CN" altLang="en-US" b="1" dirty="0">
                <a:latin typeface="+mn-ea"/>
              </a:rPr>
              <a:t>，</a:t>
            </a:r>
            <a:endParaRPr lang="en-US" altLang="zh-CN" b="1" dirty="0">
              <a:latin typeface="+mn-ea"/>
            </a:endParaRPr>
          </a:p>
          <a:p>
            <a:r>
              <a:rPr lang="en-US" altLang="zh-CN" b="1" dirty="0">
                <a:latin typeface="+mn-ea"/>
              </a:rPr>
              <a:t>    </a:t>
            </a:r>
            <a:r>
              <a:rPr lang="zh-CN" altLang="en-US" b="1" dirty="0">
                <a:latin typeface="+mn-ea"/>
              </a:rPr>
              <a:t>传送距离为</a:t>
            </a:r>
            <a:r>
              <a:rPr lang="en-US" altLang="zh-CN" b="1" dirty="0">
                <a:latin typeface="+mn-ea"/>
              </a:rPr>
              <a:t>1000KM</a:t>
            </a:r>
            <a:r>
              <a:rPr lang="zh-CN" altLang="en-US" b="1" dirty="0">
                <a:latin typeface="+mn-ea"/>
              </a:rPr>
              <a:t>，传输介质为光纤，</a:t>
            </a:r>
            <a:endParaRPr lang="en-US" altLang="zh-CN" b="1" dirty="0">
              <a:latin typeface="+mn-ea"/>
            </a:endParaRPr>
          </a:p>
          <a:p>
            <a:r>
              <a:rPr lang="zh-CN" altLang="en-US" b="1" dirty="0">
                <a:latin typeface="+mn-ea"/>
              </a:rPr>
              <a:t>    计算发送时延和传播时延。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F3DD825-0A22-4232-BEFE-99F9846779AE}"/>
              </a:ext>
            </a:extLst>
          </p:cNvPr>
          <p:cNvSpPr txBox="1"/>
          <p:nvPr/>
        </p:nvSpPr>
        <p:spPr>
          <a:xfrm>
            <a:off x="6452323" y="1836184"/>
            <a:ext cx="54305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【</a:t>
            </a:r>
            <a:r>
              <a:rPr lang="zh-CN" altLang="en-US" b="1" dirty="0">
                <a:latin typeface="+mn-ea"/>
              </a:rPr>
              <a:t>练习</a:t>
            </a:r>
            <a:r>
              <a:rPr lang="en-US" altLang="zh-CN" b="1" dirty="0">
                <a:latin typeface="+mn-ea"/>
              </a:rPr>
              <a:t>3】</a:t>
            </a:r>
          </a:p>
          <a:p>
            <a:r>
              <a:rPr lang="zh-CN" altLang="en-US" b="1" dirty="0">
                <a:latin typeface="+mn-ea"/>
              </a:rPr>
              <a:t>    数据块长度为</a:t>
            </a:r>
            <a:r>
              <a:rPr lang="en-US" altLang="zh-CN" b="1" dirty="0">
                <a:latin typeface="+mn-ea"/>
              </a:rPr>
              <a:t>1B</a:t>
            </a:r>
            <a:r>
              <a:rPr lang="zh-CN" altLang="en-US" b="1" dirty="0">
                <a:latin typeface="+mn-ea"/>
              </a:rPr>
              <a:t>，信道带宽为</a:t>
            </a:r>
            <a:r>
              <a:rPr lang="en-US" altLang="zh-CN" b="1" dirty="0">
                <a:latin typeface="+mn-ea"/>
              </a:rPr>
              <a:t>1Mb/s</a:t>
            </a:r>
            <a:r>
              <a:rPr lang="zh-CN" altLang="en-US" b="1" dirty="0">
                <a:latin typeface="+mn-ea"/>
              </a:rPr>
              <a:t>，</a:t>
            </a:r>
            <a:endParaRPr lang="en-US" altLang="zh-CN" b="1" dirty="0">
              <a:latin typeface="+mn-ea"/>
            </a:endParaRPr>
          </a:p>
          <a:p>
            <a:r>
              <a:rPr lang="en-US" altLang="zh-CN" b="1" dirty="0">
                <a:latin typeface="+mn-ea"/>
              </a:rPr>
              <a:t>    </a:t>
            </a:r>
            <a:r>
              <a:rPr lang="zh-CN" altLang="en-US" b="1" dirty="0">
                <a:latin typeface="+mn-ea"/>
              </a:rPr>
              <a:t>传送距离为</a:t>
            </a:r>
            <a:r>
              <a:rPr lang="en-US" altLang="zh-CN" b="1" dirty="0">
                <a:latin typeface="+mn-ea"/>
              </a:rPr>
              <a:t>1000KM</a:t>
            </a:r>
            <a:r>
              <a:rPr lang="zh-CN" altLang="en-US" b="1" dirty="0">
                <a:latin typeface="+mn-ea"/>
              </a:rPr>
              <a:t>，传输介质为光纤，</a:t>
            </a:r>
            <a:endParaRPr lang="en-US" altLang="zh-CN" b="1" dirty="0">
              <a:latin typeface="+mn-ea"/>
            </a:endParaRPr>
          </a:p>
          <a:p>
            <a:r>
              <a:rPr lang="zh-CN" altLang="en-US" b="1" dirty="0">
                <a:latin typeface="+mn-ea"/>
              </a:rPr>
              <a:t>    计算发送时延和传播时延。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97E933D-01C2-4592-9ADD-D722A25D05F1}"/>
              </a:ext>
            </a:extLst>
          </p:cNvPr>
          <p:cNvGrpSpPr/>
          <p:nvPr/>
        </p:nvGrpSpPr>
        <p:grpSpPr>
          <a:xfrm>
            <a:off x="583805" y="3006033"/>
            <a:ext cx="10999134" cy="3393114"/>
            <a:chOff x="583805" y="3006033"/>
            <a:chExt cx="10999134" cy="339311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4B2815A6-F3E7-4570-8C13-8348133FC4D0}"/>
                </a:ext>
              </a:extLst>
            </p:cNvPr>
            <p:cNvSpPr/>
            <p:nvPr/>
          </p:nvSpPr>
          <p:spPr>
            <a:xfrm>
              <a:off x="2360260" y="4462250"/>
              <a:ext cx="299356" cy="250609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9F2F836-9C9B-448B-91CF-E2FEEBE11D14}"/>
                </a:ext>
              </a:extLst>
            </p:cNvPr>
            <p:cNvSpPr/>
            <p:nvPr/>
          </p:nvSpPr>
          <p:spPr>
            <a:xfrm>
              <a:off x="2549150" y="4092705"/>
              <a:ext cx="299357" cy="266138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3A6FE4C1-BF5F-4673-A88B-564FF945DCFA}"/>
                </a:ext>
              </a:extLst>
            </p:cNvPr>
            <p:cNvSpPr txBox="1"/>
            <p:nvPr/>
          </p:nvSpPr>
          <p:spPr>
            <a:xfrm>
              <a:off x="4959763" y="4141612"/>
              <a:ext cx="9869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主导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E3278CB-6650-4EA9-BF74-313B45BB8156}"/>
                </a:ext>
              </a:extLst>
            </p:cNvPr>
            <p:cNvSpPr txBox="1"/>
            <p:nvPr/>
          </p:nvSpPr>
          <p:spPr>
            <a:xfrm>
              <a:off x="740015" y="3482934"/>
              <a:ext cx="13175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+mn-ea"/>
                </a:rPr>
                <a:t>发送时延 </a:t>
              </a:r>
              <a:r>
                <a:rPr lang="en-US" altLang="zh-CN" sz="1600" b="1" dirty="0">
                  <a:latin typeface="+mn-ea"/>
                </a:rPr>
                <a:t>=</a:t>
              </a:r>
              <a:endParaRPr lang="zh-CN" altLang="en-US" sz="1600" b="1" dirty="0">
                <a:latin typeface="+mn-ea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D497A64-2629-4F9E-80ED-2A3C54F14AC4}"/>
                </a:ext>
              </a:extLst>
            </p:cNvPr>
            <p:cNvSpPr txBox="1"/>
            <p:nvPr/>
          </p:nvSpPr>
          <p:spPr>
            <a:xfrm>
              <a:off x="1929032" y="3302860"/>
              <a:ext cx="15960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+mn-ea"/>
                </a:rPr>
                <a:t>分组长度（</a:t>
              </a:r>
              <a:r>
                <a:rPr lang="en-US" altLang="zh-CN" sz="1600" b="1" dirty="0">
                  <a:latin typeface="+mn-ea"/>
                </a:rPr>
                <a:t>b</a:t>
              </a:r>
              <a:r>
                <a:rPr lang="zh-CN" altLang="en-US" sz="1600" b="1" dirty="0">
                  <a:latin typeface="+mn-ea"/>
                </a:rPr>
                <a:t>）</a:t>
              </a: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66DB872B-5B2A-4AC7-B42A-DB60D4C48B59}"/>
                </a:ext>
              </a:extLst>
            </p:cNvPr>
            <p:cNvCxnSpPr>
              <a:cxnSpLocks/>
            </p:cNvCxnSpPr>
            <p:nvPr/>
          </p:nvCxnSpPr>
          <p:spPr>
            <a:xfrm>
              <a:off x="1929032" y="3649327"/>
              <a:ext cx="159609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86D94D0-D77D-440D-A942-293492CF20E7}"/>
                </a:ext>
              </a:extLst>
            </p:cNvPr>
            <p:cNvSpPr txBox="1"/>
            <p:nvPr/>
          </p:nvSpPr>
          <p:spPr>
            <a:xfrm>
              <a:off x="1929032" y="3722377"/>
              <a:ext cx="15960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+mn-ea"/>
                </a:rPr>
                <a:t>发送速率（</a:t>
              </a:r>
              <a:r>
                <a:rPr lang="en-US" altLang="zh-CN" sz="1600" b="1" dirty="0">
                  <a:latin typeface="+mn-ea"/>
                </a:rPr>
                <a:t>b/s</a:t>
              </a:r>
              <a:r>
                <a:rPr lang="zh-CN" altLang="en-US" sz="1600" b="1" dirty="0">
                  <a:latin typeface="+mn-ea"/>
                </a:rPr>
                <a:t>）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03D9F7A-6D4E-4AB9-BCA3-C142F091056A}"/>
                    </a:ext>
                  </a:extLst>
                </p:cNvPr>
                <p:cNvSpPr txBox="1"/>
                <p:nvPr/>
              </p:nvSpPr>
              <p:spPr>
                <a:xfrm>
                  <a:off x="1689308" y="4134334"/>
                  <a:ext cx="3342005" cy="53777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</m:t>
                                </m:r>
                              </m:sup>
                            </m:s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×8 (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=838.8608 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03D9F7A-6D4E-4AB9-BCA3-C142F09105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9308" y="4134334"/>
                  <a:ext cx="3342005" cy="53777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6227F38-32A9-4A5F-A77F-0835CAC55D4A}"/>
                </a:ext>
              </a:extLst>
            </p:cNvPr>
            <p:cNvSpPr txBox="1"/>
            <p:nvPr/>
          </p:nvSpPr>
          <p:spPr>
            <a:xfrm>
              <a:off x="740015" y="5209971"/>
              <a:ext cx="13175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+mn-ea"/>
                </a:rPr>
                <a:t>传播时延 </a:t>
              </a:r>
              <a:r>
                <a:rPr lang="en-US" altLang="zh-CN" sz="1600" b="1" dirty="0">
                  <a:latin typeface="+mn-ea"/>
                </a:rPr>
                <a:t>=</a:t>
              </a:r>
              <a:endParaRPr lang="zh-CN" altLang="en-US" sz="1600" b="1" dirty="0">
                <a:latin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31C5F197-E49C-41BF-845B-1D55F08974A2}"/>
                </a:ext>
              </a:extLst>
            </p:cNvPr>
            <p:cNvSpPr txBox="1"/>
            <p:nvPr/>
          </p:nvSpPr>
          <p:spPr>
            <a:xfrm>
              <a:off x="2195292" y="5026027"/>
              <a:ext cx="15960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+mn-ea"/>
                </a:rPr>
                <a:t>信道长度（</a:t>
              </a:r>
              <a:r>
                <a:rPr lang="en-US" altLang="zh-CN" sz="1600" b="1" dirty="0">
                  <a:latin typeface="+mn-ea"/>
                </a:rPr>
                <a:t>m</a:t>
              </a:r>
              <a:r>
                <a:rPr lang="zh-CN" altLang="en-US" sz="1600" b="1" dirty="0">
                  <a:latin typeface="+mn-ea"/>
                </a:rPr>
                <a:t>）</a:t>
              </a: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DAA5B2F-6637-460E-BF55-784FE27760D1}"/>
                </a:ext>
              </a:extLst>
            </p:cNvPr>
            <p:cNvCxnSpPr>
              <a:cxnSpLocks/>
            </p:cNvCxnSpPr>
            <p:nvPr/>
          </p:nvCxnSpPr>
          <p:spPr>
            <a:xfrm>
              <a:off x="1929032" y="5376364"/>
              <a:ext cx="212861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BC737723-54DC-4957-B211-C93B73A6E4CE}"/>
                </a:ext>
              </a:extLst>
            </p:cNvPr>
            <p:cNvSpPr txBox="1"/>
            <p:nvPr/>
          </p:nvSpPr>
          <p:spPr>
            <a:xfrm>
              <a:off x="1929032" y="5449414"/>
              <a:ext cx="21286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+mn-ea"/>
                </a:rPr>
                <a:t>信号传播速率（</a:t>
              </a:r>
              <a:r>
                <a:rPr lang="en-US" altLang="zh-CN" sz="1600" b="1" dirty="0">
                  <a:latin typeface="+mn-ea"/>
                </a:rPr>
                <a:t>m/s</a:t>
              </a:r>
              <a:r>
                <a:rPr lang="zh-CN" altLang="en-US" sz="1600" b="1" dirty="0">
                  <a:latin typeface="+mn-ea"/>
                </a:rPr>
                <a:t>）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D5AA5509-B107-4057-A93D-03F0E672F74B}"/>
                    </a:ext>
                  </a:extLst>
                </p:cNvPr>
                <p:cNvSpPr txBox="1"/>
                <p:nvPr/>
              </p:nvSpPr>
              <p:spPr>
                <a:xfrm>
                  <a:off x="1689308" y="5861371"/>
                  <a:ext cx="2740687" cy="53777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1000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=0.005 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D5AA5509-B107-4057-A93D-03F0E672F7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9308" y="5861371"/>
                  <a:ext cx="2740687" cy="53777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0CADE012-B793-4EEC-9DE7-E43E10260D9D}"/>
                </a:ext>
              </a:extLst>
            </p:cNvPr>
            <p:cNvSpPr txBox="1"/>
            <p:nvPr/>
          </p:nvSpPr>
          <p:spPr>
            <a:xfrm>
              <a:off x="583805" y="3006033"/>
              <a:ext cx="648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n-ea"/>
                </a:rPr>
                <a:t>解析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034A358-D204-46AA-99C1-C4B30D045F25}"/>
                </a:ext>
              </a:extLst>
            </p:cNvPr>
            <p:cNvSpPr txBox="1"/>
            <p:nvPr/>
          </p:nvSpPr>
          <p:spPr>
            <a:xfrm>
              <a:off x="10596020" y="5868649"/>
              <a:ext cx="9869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accent1">
                      <a:lumMod val="75000"/>
                    </a:schemeClr>
                  </a:solidFill>
                  <a:latin typeface="+mn-ea"/>
                </a:rPr>
                <a:t>主导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1EAD3BC1-CD65-40CA-ACEE-D8C1816F935C}"/>
                </a:ext>
              </a:extLst>
            </p:cNvPr>
            <p:cNvSpPr txBox="1"/>
            <p:nvPr/>
          </p:nvSpPr>
          <p:spPr>
            <a:xfrm>
              <a:off x="6906040" y="3482934"/>
              <a:ext cx="13175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+mn-ea"/>
                </a:rPr>
                <a:t>发送时延 </a:t>
              </a:r>
              <a:r>
                <a:rPr lang="en-US" altLang="zh-CN" sz="1600" b="1" dirty="0">
                  <a:latin typeface="+mn-ea"/>
                </a:rPr>
                <a:t>=</a:t>
              </a:r>
              <a:endParaRPr lang="zh-CN" altLang="en-US" sz="1600" b="1" dirty="0">
                <a:latin typeface="+mn-ea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409FA21-7E59-4CD8-887A-E1679662A57F}"/>
                </a:ext>
              </a:extLst>
            </p:cNvPr>
            <p:cNvSpPr txBox="1"/>
            <p:nvPr/>
          </p:nvSpPr>
          <p:spPr>
            <a:xfrm>
              <a:off x="8095057" y="3302860"/>
              <a:ext cx="15960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+mn-ea"/>
                </a:rPr>
                <a:t>分组长度（</a:t>
              </a:r>
              <a:r>
                <a:rPr lang="en-US" altLang="zh-CN" sz="1600" b="1" dirty="0">
                  <a:latin typeface="+mn-ea"/>
                </a:rPr>
                <a:t>b</a:t>
              </a:r>
              <a:r>
                <a:rPr lang="zh-CN" altLang="en-US" sz="1600" b="1" dirty="0">
                  <a:latin typeface="+mn-ea"/>
                </a:rPr>
                <a:t>）</a:t>
              </a:r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AA4EEBAC-297F-4B3B-81B5-674B62E193D0}"/>
                </a:ext>
              </a:extLst>
            </p:cNvPr>
            <p:cNvCxnSpPr>
              <a:cxnSpLocks/>
            </p:cNvCxnSpPr>
            <p:nvPr/>
          </p:nvCxnSpPr>
          <p:spPr>
            <a:xfrm>
              <a:off x="8095057" y="3649327"/>
              <a:ext cx="159609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CE6CA026-87F0-4DE1-8FAF-90739BE4CBAC}"/>
                </a:ext>
              </a:extLst>
            </p:cNvPr>
            <p:cNvSpPr txBox="1"/>
            <p:nvPr/>
          </p:nvSpPr>
          <p:spPr>
            <a:xfrm>
              <a:off x="8095057" y="3722377"/>
              <a:ext cx="15960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+mn-ea"/>
                </a:rPr>
                <a:t>发送速率（</a:t>
              </a:r>
              <a:r>
                <a:rPr lang="en-US" altLang="zh-CN" sz="1600" b="1" dirty="0">
                  <a:latin typeface="+mn-ea"/>
                </a:rPr>
                <a:t>b/s</a:t>
              </a:r>
              <a:r>
                <a:rPr lang="zh-CN" altLang="en-US" sz="1600" b="1" dirty="0">
                  <a:latin typeface="+mn-ea"/>
                </a:rPr>
                <a:t>）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220F4A11-1611-4541-B7B7-F2DE8F2BF6E1}"/>
                    </a:ext>
                  </a:extLst>
                </p:cNvPr>
                <p:cNvSpPr txBox="1"/>
                <p:nvPr/>
              </p:nvSpPr>
              <p:spPr>
                <a:xfrm>
                  <a:off x="7855333" y="4134334"/>
                  <a:ext cx="2473882" cy="5127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×8 (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=8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−6</m:t>
                            </m:r>
                          </m:sup>
                        </m:s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220F4A11-1611-4541-B7B7-F2DE8F2BF6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5333" y="4134334"/>
                  <a:ext cx="2473882" cy="51270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4BA4BF41-1476-4E56-AC17-ECDE6EEEC79D}"/>
                </a:ext>
              </a:extLst>
            </p:cNvPr>
            <p:cNvSpPr txBox="1"/>
            <p:nvPr/>
          </p:nvSpPr>
          <p:spPr>
            <a:xfrm>
              <a:off x="6906040" y="5209971"/>
              <a:ext cx="13175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latin typeface="+mn-ea"/>
                </a:rPr>
                <a:t>传播时延 </a:t>
              </a:r>
              <a:r>
                <a:rPr lang="en-US" altLang="zh-CN" sz="1600" b="1" dirty="0">
                  <a:latin typeface="+mn-ea"/>
                </a:rPr>
                <a:t>=</a:t>
              </a:r>
              <a:endParaRPr lang="zh-CN" altLang="en-US" sz="1600" b="1" dirty="0">
                <a:latin typeface="+mn-ea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B1192976-0566-46F4-B720-AB40F73CD423}"/>
                </a:ext>
              </a:extLst>
            </p:cNvPr>
            <p:cNvSpPr txBox="1"/>
            <p:nvPr/>
          </p:nvSpPr>
          <p:spPr>
            <a:xfrm>
              <a:off x="8361317" y="5026027"/>
              <a:ext cx="159609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+mn-ea"/>
                </a:rPr>
                <a:t>信道长度（</a:t>
              </a:r>
              <a:r>
                <a:rPr lang="en-US" altLang="zh-CN" sz="1600" b="1" dirty="0">
                  <a:latin typeface="+mn-ea"/>
                </a:rPr>
                <a:t>m</a:t>
              </a:r>
              <a:r>
                <a:rPr lang="zh-CN" altLang="en-US" sz="1600" b="1" dirty="0">
                  <a:latin typeface="+mn-ea"/>
                </a:rPr>
                <a:t>）</a:t>
              </a:r>
            </a:p>
          </p:txBody>
        </p: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227F22C2-1335-416D-8437-17F1E159FBDA}"/>
                </a:ext>
              </a:extLst>
            </p:cNvPr>
            <p:cNvCxnSpPr>
              <a:cxnSpLocks/>
            </p:cNvCxnSpPr>
            <p:nvPr/>
          </p:nvCxnSpPr>
          <p:spPr>
            <a:xfrm>
              <a:off x="8095057" y="5376364"/>
              <a:ext cx="212861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FA1B38C7-3891-487A-A3BA-1AB47EEDB5E5}"/>
                </a:ext>
              </a:extLst>
            </p:cNvPr>
            <p:cNvSpPr txBox="1"/>
            <p:nvPr/>
          </p:nvSpPr>
          <p:spPr>
            <a:xfrm>
              <a:off x="8095057" y="5449414"/>
              <a:ext cx="21286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latin typeface="+mn-ea"/>
                </a:rPr>
                <a:t>信号传播速率（</a:t>
              </a:r>
              <a:r>
                <a:rPr lang="en-US" altLang="zh-CN" sz="1600" b="1" dirty="0">
                  <a:latin typeface="+mn-ea"/>
                </a:rPr>
                <a:t>m/s</a:t>
              </a:r>
              <a:r>
                <a:rPr lang="zh-CN" altLang="en-US" sz="1600" b="1" dirty="0">
                  <a:latin typeface="+mn-ea"/>
                </a:rPr>
                <a:t>）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82B6D558-F304-4D47-AA23-F1FFC9E1F49B}"/>
                    </a:ext>
                  </a:extLst>
                </p:cNvPr>
                <p:cNvSpPr txBox="1"/>
                <p:nvPr/>
              </p:nvSpPr>
              <p:spPr>
                <a:xfrm>
                  <a:off x="7855333" y="5861371"/>
                  <a:ext cx="2740687" cy="53777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1000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 (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=0.005 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82B6D558-F304-4D47-AA23-F1FFC9E1F4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5333" y="5861371"/>
                  <a:ext cx="2740687" cy="53777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7E5F78CF-1522-4AFC-AE23-DB73738240E9}"/>
                </a:ext>
              </a:extLst>
            </p:cNvPr>
            <p:cNvSpPr txBox="1"/>
            <p:nvPr/>
          </p:nvSpPr>
          <p:spPr>
            <a:xfrm>
              <a:off x="6704110" y="3006033"/>
              <a:ext cx="648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n-ea"/>
                </a:rPr>
                <a:t>解析</a:t>
              </a:r>
            </a:p>
          </p:txBody>
        </p:sp>
      </p:grp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8493629-9540-4B59-9531-6DDF1CE03DC0}"/>
              </a:ext>
            </a:extLst>
          </p:cNvPr>
          <p:cNvCxnSpPr>
            <a:cxnSpLocks/>
          </p:cNvCxnSpPr>
          <p:nvPr/>
        </p:nvCxnSpPr>
        <p:spPr>
          <a:xfrm>
            <a:off x="6096000" y="1836184"/>
            <a:ext cx="0" cy="4678916"/>
          </a:xfrm>
          <a:prstGeom prst="line">
            <a:avLst/>
          </a:prstGeom>
          <a:ln w="254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5798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729AC91F-6DE2-4147-BFDC-4D3465921C7B}"/>
              </a:ext>
            </a:extLst>
          </p:cNvPr>
          <p:cNvGrpSpPr/>
          <p:nvPr/>
        </p:nvGrpSpPr>
        <p:grpSpPr>
          <a:xfrm>
            <a:off x="2636208" y="3790875"/>
            <a:ext cx="6942121" cy="532815"/>
            <a:chOff x="2646966" y="4253457"/>
            <a:chExt cx="6942121" cy="532815"/>
          </a:xfrm>
        </p:grpSpPr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D2537DC7-C88E-4451-B9F9-3C4690C09C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89087" y="4301131"/>
              <a:ext cx="0" cy="4851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37F5CB4D-A1B2-47FE-828E-C7DBC9DE07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6966" y="4261440"/>
              <a:ext cx="0" cy="4851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AFB7D594-D23E-46A1-9C64-7ECB13D8F5A1}"/>
                </a:ext>
              </a:extLst>
            </p:cNvPr>
            <p:cNvCxnSpPr>
              <a:cxnSpLocks/>
            </p:cNvCxnSpPr>
            <p:nvPr/>
          </p:nvCxnSpPr>
          <p:spPr>
            <a:xfrm>
              <a:off x="2646966" y="4450220"/>
              <a:ext cx="694212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íşlïḍè">
              <a:extLst>
                <a:ext uri="{FF2B5EF4-FFF2-40B4-BE49-F238E27FC236}">
                  <a16:creationId xmlns:a16="http://schemas.microsoft.com/office/drawing/2014/main" id="{89C72975-6EB5-4D1D-BB6C-2FAF432B0DE7}"/>
                </a:ext>
              </a:extLst>
            </p:cNvPr>
            <p:cNvSpPr txBox="1"/>
            <p:nvPr/>
          </p:nvSpPr>
          <p:spPr>
            <a:xfrm>
              <a:off x="3979945" y="4253457"/>
              <a:ext cx="4210128" cy="36418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zh-CN" altLang="en-US" b="1" dirty="0"/>
                <a:t>光纤链路长</a:t>
              </a:r>
              <a:r>
                <a:rPr lang="en-US" altLang="zh-CN" b="1" dirty="0"/>
                <a:t>1km</a:t>
              </a:r>
              <a:r>
                <a:rPr lang="zh-CN" altLang="en-US" b="1" dirty="0"/>
                <a:t>，则信号传播时延为</a:t>
              </a:r>
              <a:r>
                <a:rPr lang="en-US" altLang="zh-CN" b="1" dirty="0"/>
                <a:t>5</a:t>
              </a:r>
              <a:r>
                <a:rPr lang="el-GR" altLang="zh-CN" b="1" dirty="0"/>
                <a:t>μ</a:t>
              </a:r>
              <a:r>
                <a:rPr lang="en-US" altLang="zh-CN" b="1" dirty="0"/>
                <a:t>s</a:t>
              </a: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38EBC2A4-A53F-4F83-BBD1-63E1C40E8A73}"/>
              </a:ext>
            </a:extLst>
          </p:cNvPr>
          <p:cNvGrpSpPr/>
          <p:nvPr/>
        </p:nvGrpSpPr>
        <p:grpSpPr>
          <a:xfrm>
            <a:off x="581887" y="4113067"/>
            <a:ext cx="11028226" cy="735604"/>
            <a:chOff x="571129" y="4414751"/>
            <a:chExt cx="11028226" cy="735604"/>
          </a:xfrm>
        </p:grpSpPr>
        <p:pic>
          <p:nvPicPr>
            <p:cNvPr id="35" name="图形 34">
              <a:extLst>
                <a:ext uri="{FF2B5EF4-FFF2-40B4-BE49-F238E27FC236}">
                  <a16:creationId xmlns:a16="http://schemas.microsoft.com/office/drawing/2014/main" id="{EDCF436E-B2DC-4DA4-A137-683FCBD2D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04476" y="4414751"/>
              <a:ext cx="1210681" cy="735604"/>
            </a:xfrm>
            <a:prstGeom prst="rect">
              <a:avLst/>
            </a:prstGeom>
          </p:spPr>
        </p:pic>
        <p:sp>
          <p:nvSpPr>
            <p:cNvPr id="13" name="圆柱体 12">
              <a:extLst>
                <a:ext uri="{FF2B5EF4-FFF2-40B4-BE49-F238E27FC236}">
                  <a16:creationId xmlns:a16="http://schemas.microsoft.com/office/drawing/2014/main" id="{525E2058-B2CD-477B-BD17-EA87A915539F}"/>
                </a:ext>
              </a:extLst>
            </p:cNvPr>
            <p:cNvSpPr/>
            <p:nvPr/>
          </p:nvSpPr>
          <p:spPr>
            <a:xfrm rot="16200000">
              <a:off x="5885170" y="1273021"/>
              <a:ext cx="419549" cy="7019062"/>
            </a:xfrm>
            <a:prstGeom prst="can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íşlïḍè">
              <a:extLst>
                <a:ext uri="{FF2B5EF4-FFF2-40B4-BE49-F238E27FC236}">
                  <a16:creationId xmlns:a16="http://schemas.microsoft.com/office/drawing/2014/main" id="{65CDCDB4-8720-46F2-8873-EC89A98AD9DF}"/>
                </a:ext>
              </a:extLst>
            </p:cNvPr>
            <p:cNvSpPr txBox="1"/>
            <p:nvPr/>
          </p:nvSpPr>
          <p:spPr>
            <a:xfrm>
              <a:off x="571129" y="4423994"/>
              <a:ext cx="900717" cy="4826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r"/>
              <a:r>
                <a:rPr lang="zh-CN" altLang="en-US" sz="2000" b="1" dirty="0"/>
                <a:t>主机</a:t>
              </a:r>
              <a:r>
                <a:rPr lang="en-US" altLang="zh-CN" sz="2000" b="1" dirty="0"/>
                <a:t>A</a:t>
              </a:r>
              <a:endParaRPr lang="en-US" altLang="zh-CN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6" name="íşlïḍè">
              <a:extLst>
                <a:ext uri="{FF2B5EF4-FFF2-40B4-BE49-F238E27FC236}">
                  <a16:creationId xmlns:a16="http://schemas.microsoft.com/office/drawing/2014/main" id="{6ACE1CA9-3C17-41B8-ABF0-81ED1CA76E2C}"/>
                </a:ext>
              </a:extLst>
            </p:cNvPr>
            <p:cNvSpPr txBox="1"/>
            <p:nvPr/>
          </p:nvSpPr>
          <p:spPr>
            <a:xfrm>
              <a:off x="10698638" y="4414751"/>
              <a:ext cx="900717" cy="4826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zh-CN" altLang="en-US" sz="2000" b="1" dirty="0"/>
                <a:t>主机</a:t>
              </a:r>
              <a:r>
                <a:rPr lang="en-US" altLang="zh-CN" sz="2000" b="1" dirty="0"/>
                <a:t>B</a:t>
              </a:r>
              <a:endParaRPr lang="en-US" altLang="zh-CN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pic>
          <p:nvPicPr>
            <p:cNvPr id="37" name="图形 36">
              <a:extLst>
                <a:ext uri="{FF2B5EF4-FFF2-40B4-BE49-F238E27FC236}">
                  <a16:creationId xmlns:a16="http://schemas.microsoft.com/office/drawing/2014/main" id="{797DA984-653A-40C1-B5B4-81B3AC47A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74733" y="4414751"/>
              <a:ext cx="1210681" cy="735604"/>
            </a:xfrm>
            <a:prstGeom prst="rect">
              <a:avLst/>
            </a:prstGeom>
            <a:scene3d>
              <a:camera prst="orthographicFront">
                <a:rot lat="0" lon="10800000" rev="0"/>
              </a:camera>
              <a:lightRig rig="threePt" dir="t"/>
            </a:scene3d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74B31C8-B8F5-47EF-B71C-DA1846F1FE7A}"/>
              </a:ext>
            </a:extLst>
          </p:cNvPr>
          <p:cNvGrpSpPr/>
          <p:nvPr/>
        </p:nvGrpSpPr>
        <p:grpSpPr>
          <a:xfrm>
            <a:off x="5130644" y="2487086"/>
            <a:ext cx="1248643" cy="1012161"/>
            <a:chOff x="5130644" y="2885121"/>
            <a:chExt cx="1248643" cy="1012161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ABB8C10-05AB-4D37-947F-C9C7CFF8DB9D}"/>
                </a:ext>
              </a:extLst>
            </p:cNvPr>
            <p:cNvSpPr/>
            <p:nvPr/>
          </p:nvSpPr>
          <p:spPr>
            <a:xfrm>
              <a:off x="5130644" y="3324689"/>
              <a:ext cx="1248642" cy="57259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íşlïḍè">
              <a:extLst>
                <a:ext uri="{FF2B5EF4-FFF2-40B4-BE49-F238E27FC236}">
                  <a16:creationId xmlns:a16="http://schemas.microsoft.com/office/drawing/2014/main" id="{04EDBC7E-47DF-4814-875F-1B89D37DC4AE}"/>
                </a:ext>
              </a:extLst>
            </p:cNvPr>
            <p:cNvSpPr txBox="1"/>
            <p:nvPr/>
          </p:nvSpPr>
          <p:spPr>
            <a:xfrm>
              <a:off x="5130644" y="2885121"/>
              <a:ext cx="1248643" cy="4826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zh-CN" altLang="en-US" sz="2000" b="1" dirty="0"/>
                <a:t>传播时延</a:t>
              </a:r>
              <a:endParaRPr lang="en-US" altLang="zh-CN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8215AD7-75E4-43CB-8DAF-92DE3DB86F3D}"/>
              </a:ext>
            </a:extLst>
          </p:cNvPr>
          <p:cNvGrpSpPr/>
          <p:nvPr/>
        </p:nvGrpSpPr>
        <p:grpSpPr>
          <a:xfrm>
            <a:off x="6748509" y="2487086"/>
            <a:ext cx="701872" cy="1010196"/>
            <a:chOff x="6748509" y="2885121"/>
            <a:chExt cx="701872" cy="1010196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EEB1624-CB65-4DDE-B381-CC2E828DB236}"/>
                </a:ext>
              </a:extLst>
            </p:cNvPr>
            <p:cNvSpPr/>
            <p:nvPr/>
          </p:nvSpPr>
          <p:spPr>
            <a:xfrm>
              <a:off x="6748509" y="3322724"/>
              <a:ext cx="695783" cy="57259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íşlïḍè">
              <a:extLst>
                <a:ext uri="{FF2B5EF4-FFF2-40B4-BE49-F238E27FC236}">
                  <a16:creationId xmlns:a16="http://schemas.microsoft.com/office/drawing/2014/main" id="{D0B72E32-3504-4547-B4D5-BE50414866D7}"/>
                </a:ext>
              </a:extLst>
            </p:cNvPr>
            <p:cNvSpPr txBox="1"/>
            <p:nvPr/>
          </p:nvSpPr>
          <p:spPr>
            <a:xfrm>
              <a:off x="6748509" y="2885121"/>
              <a:ext cx="701872" cy="4826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zh-CN" altLang="en-US" sz="2000" b="1" dirty="0"/>
                <a:t>带宽</a:t>
              </a:r>
              <a:endParaRPr lang="en-US" altLang="zh-CN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计算机网络的性能指标</a:t>
              </a:r>
            </a:p>
          </p:txBody>
        </p:sp>
      </p:grpSp>
      <p:sp>
        <p:nvSpPr>
          <p:cNvPr id="86" name="îṡ1îḑè">
            <a:extLst>
              <a:ext uri="{FF2B5EF4-FFF2-40B4-BE49-F238E27FC236}">
                <a16:creationId xmlns:a16="http://schemas.microsoft.com/office/drawing/2014/main" id="{A803C2F9-4FBB-4C35-AC3F-2B77804282A2}"/>
              </a:ext>
            </a:extLst>
          </p:cNvPr>
          <p:cNvSpPr/>
          <p:nvPr/>
        </p:nvSpPr>
        <p:spPr>
          <a:xfrm>
            <a:off x="3048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速率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7" name="îṧḻîḍê">
            <a:extLst>
              <a:ext uri="{FF2B5EF4-FFF2-40B4-BE49-F238E27FC236}">
                <a16:creationId xmlns:a16="http://schemas.microsoft.com/office/drawing/2014/main" id="{DFA6F1EB-29D9-4A75-B24E-7FE2E4C0E97D}"/>
              </a:ext>
            </a:extLst>
          </p:cNvPr>
          <p:cNvSpPr/>
          <p:nvPr/>
        </p:nvSpPr>
        <p:spPr>
          <a:xfrm>
            <a:off x="17688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带宽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8" name="iṡlíďè">
            <a:extLst>
              <a:ext uri="{FF2B5EF4-FFF2-40B4-BE49-F238E27FC236}">
                <a16:creationId xmlns:a16="http://schemas.microsoft.com/office/drawing/2014/main" id="{C52BE881-D827-42B9-AFCD-BFDFE2366E21}"/>
              </a:ext>
            </a:extLst>
          </p:cNvPr>
          <p:cNvSpPr/>
          <p:nvPr/>
        </p:nvSpPr>
        <p:spPr>
          <a:xfrm>
            <a:off x="32328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rgbClr val="FFFFFF"/>
                </a:solidFill>
              </a:rPr>
              <a:t>吞吐量</a:t>
            </a:r>
            <a:endParaRPr lang="en-GB" b="1" dirty="0">
              <a:solidFill>
                <a:srgbClr val="FFFFFF"/>
              </a:solidFill>
            </a:endParaRPr>
          </a:p>
        </p:txBody>
      </p:sp>
      <p:sp>
        <p:nvSpPr>
          <p:cNvPr id="89" name="iṥľïdè">
            <a:extLst>
              <a:ext uri="{FF2B5EF4-FFF2-40B4-BE49-F238E27FC236}">
                <a16:creationId xmlns:a16="http://schemas.microsoft.com/office/drawing/2014/main" id="{7E37DD0B-57D9-45E4-B3AD-EEEB679EF75E}"/>
              </a:ext>
            </a:extLst>
          </p:cNvPr>
          <p:cNvSpPr/>
          <p:nvPr/>
        </p:nvSpPr>
        <p:spPr>
          <a:xfrm>
            <a:off x="469687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0" name="îśľîḍé">
            <a:extLst>
              <a:ext uri="{FF2B5EF4-FFF2-40B4-BE49-F238E27FC236}">
                <a16:creationId xmlns:a16="http://schemas.microsoft.com/office/drawing/2014/main" id="{67EBD377-E6A9-419F-9713-92993F43A27E}"/>
              </a:ext>
            </a:extLst>
          </p:cNvPr>
          <p:cNvSpPr/>
          <p:nvPr/>
        </p:nvSpPr>
        <p:spPr>
          <a:xfrm>
            <a:off x="76249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往返时间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1" name="îśľîḍé">
            <a:extLst>
              <a:ext uri="{FF2B5EF4-FFF2-40B4-BE49-F238E27FC236}">
                <a16:creationId xmlns:a16="http://schemas.microsoft.com/office/drawing/2014/main" id="{01D6FD95-2A4C-4A1F-ADAA-E06A0DB2334E}"/>
              </a:ext>
            </a:extLst>
          </p:cNvPr>
          <p:cNvSpPr/>
          <p:nvPr/>
        </p:nvSpPr>
        <p:spPr>
          <a:xfrm>
            <a:off x="61609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时延带宽积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2" name="îśľîḍé">
            <a:extLst>
              <a:ext uri="{FF2B5EF4-FFF2-40B4-BE49-F238E27FC236}">
                <a16:creationId xmlns:a16="http://schemas.microsoft.com/office/drawing/2014/main" id="{D196E2C0-5678-4A32-8DE3-2A8BA36E0749}"/>
              </a:ext>
            </a:extLst>
          </p:cNvPr>
          <p:cNvSpPr/>
          <p:nvPr/>
        </p:nvSpPr>
        <p:spPr>
          <a:xfrm>
            <a:off x="90889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利用率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3" name="îśľîḍé">
            <a:extLst>
              <a:ext uri="{FF2B5EF4-FFF2-40B4-BE49-F238E27FC236}">
                <a16:creationId xmlns:a16="http://schemas.microsoft.com/office/drawing/2014/main" id="{9010AC37-690A-4F23-99A9-04A6AEEBAC9D}"/>
              </a:ext>
            </a:extLst>
          </p:cNvPr>
          <p:cNvSpPr/>
          <p:nvPr/>
        </p:nvSpPr>
        <p:spPr>
          <a:xfrm>
            <a:off x="10552974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丢包率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4" name="îśľîḍé">
            <a:extLst>
              <a:ext uri="{FF2B5EF4-FFF2-40B4-BE49-F238E27FC236}">
                <a16:creationId xmlns:a16="http://schemas.microsoft.com/office/drawing/2014/main" id="{66A7D740-2B8E-4682-8E8B-8E6742A7FCEA}"/>
              </a:ext>
            </a:extLst>
          </p:cNvPr>
          <p:cNvSpPr/>
          <p:nvPr/>
        </p:nvSpPr>
        <p:spPr>
          <a:xfrm>
            <a:off x="6160900" y="1299908"/>
            <a:ext cx="1334228" cy="482600"/>
          </a:xfrm>
          <a:prstGeom prst="rect">
            <a:avLst/>
          </a:prstGeom>
          <a:solidFill>
            <a:schemeClr val="accent5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5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时延带宽积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6" name="íşlïḍè">
            <a:extLst>
              <a:ext uri="{FF2B5EF4-FFF2-40B4-BE49-F238E27FC236}">
                <a16:creationId xmlns:a16="http://schemas.microsoft.com/office/drawing/2014/main" id="{C44AEED8-FED5-4B0D-922A-131BFA5643D8}"/>
              </a:ext>
            </a:extLst>
          </p:cNvPr>
          <p:cNvSpPr txBox="1"/>
          <p:nvPr/>
        </p:nvSpPr>
        <p:spPr>
          <a:xfrm>
            <a:off x="307439" y="1883307"/>
            <a:ext cx="11579763" cy="4826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en-US" altLang="zh-CN" sz="2000" b="1" dirty="0"/>
              <a:t>【</a:t>
            </a:r>
            <a:r>
              <a:rPr lang="zh-CN" altLang="en-US" sz="2000" b="1" dirty="0"/>
              <a:t>举例</a:t>
            </a:r>
            <a:r>
              <a:rPr lang="en-US" altLang="zh-CN" sz="2000" b="1" dirty="0"/>
              <a:t>】</a:t>
            </a:r>
            <a:r>
              <a:rPr lang="zh-CN" altLang="en-US" sz="2000" b="1" dirty="0"/>
              <a:t>主机</a:t>
            </a:r>
            <a:r>
              <a:rPr lang="en-US" altLang="zh-CN" sz="2000" b="1" dirty="0"/>
              <a:t>A</a:t>
            </a:r>
            <a:r>
              <a:rPr lang="zh-CN" altLang="en-US" sz="2000" b="1" dirty="0"/>
              <a:t>和</a:t>
            </a:r>
            <a:r>
              <a:rPr lang="en-US" altLang="zh-CN" sz="2000" b="1" dirty="0"/>
              <a:t>B</a:t>
            </a:r>
            <a:r>
              <a:rPr lang="zh-CN" altLang="en-US" sz="2000" b="1" dirty="0"/>
              <a:t>之间采用光纤链路，链路长</a:t>
            </a:r>
            <a:r>
              <a:rPr lang="en-US" altLang="zh-CN" sz="2000" b="1" dirty="0"/>
              <a:t>1km</a:t>
            </a:r>
            <a:r>
              <a:rPr lang="zh-CN" altLang="en-US" sz="2000" b="1" dirty="0"/>
              <a:t>，链路带宽为</a:t>
            </a:r>
            <a:r>
              <a:rPr lang="en-US" altLang="zh-CN" sz="2000" b="1" dirty="0"/>
              <a:t>1Gb/s</a:t>
            </a:r>
            <a:r>
              <a:rPr lang="zh-CN" altLang="en-US" sz="2000" b="1" dirty="0"/>
              <a:t>，请计算该链路的时延带宽积。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C45623A6-7F16-483E-A3DD-FE61902F8079}"/>
              </a:ext>
            </a:extLst>
          </p:cNvPr>
          <p:cNvGrpSpPr/>
          <p:nvPr/>
        </p:nvGrpSpPr>
        <p:grpSpPr>
          <a:xfrm>
            <a:off x="3392245" y="2924689"/>
            <a:ext cx="4990638" cy="572593"/>
            <a:chOff x="3392245" y="2924689"/>
            <a:chExt cx="4990638" cy="572593"/>
          </a:xfrm>
        </p:grpSpPr>
        <p:sp>
          <p:nvSpPr>
            <p:cNvPr id="29" name="íşlïḍè">
              <a:extLst>
                <a:ext uri="{FF2B5EF4-FFF2-40B4-BE49-F238E27FC236}">
                  <a16:creationId xmlns:a16="http://schemas.microsoft.com/office/drawing/2014/main" id="{B5BFF03D-ACB8-4622-87BE-F3D25340EF98}"/>
                </a:ext>
              </a:extLst>
            </p:cNvPr>
            <p:cNvSpPr txBox="1"/>
            <p:nvPr/>
          </p:nvSpPr>
          <p:spPr>
            <a:xfrm>
              <a:off x="3392245" y="2969686"/>
              <a:ext cx="1480969" cy="4826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zh-CN" altLang="en-US" sz="2000" b="1" dirty="0"/>
                <a:t>时延带宽积</a:t>
              </a:r>
              <a:endParaRPr lang="en-US" altLang="zh-CN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697F6AC7-02DC-40E0-B80D-ADFF4154FEB1}"/>
                    </a:ext>
                  </a:extLst>
                </p:cNvPr>
                <p:cNvSpPr txBox="1"/>
                <p:nvPr/>
              </p:nvSpPr>
              <p:spPr>
                <a:xfrm>
                  <a:off x="4879755" y="2924689"/>
                  <a:ext cx="3503128" cy="57259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𝑘𝑚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  1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5000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oMath>
                    </m:oMathPara>
                  </a14:m>
                  <a:endParaRPr lang="en-US" altLang="zh-CN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697F6AC7-02DC-40E0-B80D-ADFF4154F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9755" y="2924689"/>
                  <a:ext cx="3503128" cy="57259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B9703181-FFDB-40F6-BFD2-B353DA3CA654}"/>
              </a:ext>
            </a:extLst>
          </p:cNvPr>
          <p:cNvGrpSpPr/>
          <p:nvPr/>
        </p:nvGrpSpPr>
        <p:grpSpPr>
          <a:xfrm>
            <a:off x="1984772" y="4411257"/>
            <a:ext cx="1302871" cy="1133390"/>
            <a:chOff x="1984772" y="4776833"/>
            <a:chExt cx="1302871" cy="1133390"/>
          </a:xfrm>
        </p:grpSpPr>
        <p:sp>
          <p:nvSpPr>
            <p:cNvPr id="64" name="íşlïḍè">
              <a:extLst>
                <a:ext uri="{FF2B5EF4-FFF2-40B4-BE49-F238E27FC236}">
                  <a16:creationId xmlns:a16="http://schemas.microsoft.com/office/drawing/2014/main" id="{B7A0D737-E891-464F-A7AC-8906E2E4828F}"/>
                </a:ext>
              </a:extLst>
            </p:cNvPr>
            <p:cNvSpPr txBox="1"/>
            <p:nvPr/>
          </p:nvSpPr>
          <p:spPr>
            <a:xfrm>
              <a:off x="1984772" y="5427623"/>
              <a:ext cx="1302871" cy="4826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zh-CN" altLang="en-US" sz="2000" b="1" dirty="0"/>
                <a:t>带宽</a:t>
              </a:r>
              <a:r>
                <a:rPr lang="en-US" altLang="zh-CN" sz="2000" b="1" dirty="0"/>
                <a:t>1Gb/s</a:t>
              </a:r>
              <a:endParaRPr lang="en-US" altLang="zh-CN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E4A9796B-E22C-45EB-A6BF-66806D2A7F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1590" y="4776833"/>
              <a:ext cx="0" cy="76972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7D4A352C-068E-4AB7-A10F-05F996912118}"/>
              </a:ext>
            </a:extLst>
          </p:cNvPr>
          <p:cNvGrpSpPr/>
          <p:nvPr/>
        </p:nvGrpSpPr>
        <p:grpSpPr>
          <a:xfrm>
            <a:off x="2694574" y="4618594"/>
            <a:ext cx="6868584" cy="954865"/>
            <a:chOff x="2694574" y="4909053"/>
            <a:chExt cx="6868584" cy="954865"/>
          </a:xfrm>
        </p:grpSpPr>
        <p:sp>
          <p:nvSpPr>
            <p:cNvPr id="63" name="左大括号 62">
              <a:extLst>
                <a:ext uri="{FF2B5EF4-FFF2-40B4-BE49-F238E27FC236}">
                  <a16:creationId xmlns:a16="http://schemas.microsoft.com/office/drawing/2014/main" id="{309CD1E1-2656-465D-9362-016EBFF251EC}"/>
                </a:ext>
              </a:extLst>
            </p:cNvPr>
            <p:cNvSpPr/>
            <p:nvPr/>
          </p:nvSpPr>
          <p:spPr>
            <a:xfrm rot="16200000">
              <a:off x="5887566" y="1716061"/>
              <a:ext cx="482600" cy="6868584"/>
            </a:xfrm>
            <a:prstGeom prst="leftBrace">
              <a:avLst>
                <a:gd name="adj1" fmla="val 69446"/>
                <a:gd name="adj2" fmla="val 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íşlïḍè">
              <a:extLst>
                <a:ext uri="{FF2B5EF4-FFF2-40B4-BE49-F238E27FC236}">
                  <a16:creationId xmlns:a16="http://schemas.microsoft.com/office/drawing/2014/main" id="{AED8F5AC-0367-40EB-B8C9-0DEB5C8BA2B3}"/>
                </a:ext>
              </a:extLst>
            </p:cNvPr>
            <p:cNvSpPr txBox="1"/>
            <p:nvPr/>
          </p:nvSpPr>
          <p:spPr>
            <a:xfrm>
              <a:off x="4661061" y="5381318"/>
              <a:ext cx="2945609" cy="4826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zh-CN" altLang="en-US" sz="2000" b="1" dirty="0"/>
                <a:t>链路中充满了</a:t>
              </a:r>
              <a:r>
                <a:rPr lang="en-US" altLang="zh-CN" sz="2000" b="1" dirty="0"/>
                <a:t>5000</a:t>
              </a:r>
              <a:r>
                <a:rPr lang="zh-CN" altLang="en-US" sz="2000" b="1" dirty="0"/>
                <a:t>个比特</a:t>
              </a:r>
              <a:endParaRPr lang="en-US" altLang="zh-CN" sz="2000" b="1" dirty="0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B328A9F9-E0E1-4A15-B7AA-ADCB8394EE9C}"/>
              </a:ext>
            </a:extLst>
          </p:cNvPr>
          <p:cNvGrpSpPr/>
          <p:nvPr/>
        </p:nvGrpSpPr>
        <p:grpSpPr>
          <a:xfrm>
            <a:off x="2706658" y="4169802"/>
            <a:ext cx="6871671" cy="482600"/>
            <a:chOff x="2706658" y="4460261"/>
            <a:chExt cx="6871671" cy="482600"/>
          </a:xfrm>
        </p:grpSpPr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2F411710-171B-4854-8970-B138CD4E02BA}"/>
                </a:ext>
              </a:extLst>
            </p:cNvPr>
            <p:cNvGrpSpPr/>
            <p:nvPr/>
          </p:nvGrpSpPr>
          <p:grpSpPr>
            <a:xfrm>
              <a:off x="2706658" y="4664218"/>
              <a:ext cx="6871671" cy="236668"/>
              <a:chOff x="2706658" y="4664218"/>
              <a:chExt cx="6871671" cy="236668"/>
            </a:xfrm>
          </p:grpSpPr>
          <p:sp>
            <p:nvSpPr>
              <p:cNvPr id="17" name="六边形 16">
                <a:extLst>
                  <a:ext uri="{FF2B5EF4-FFF2-40B4-BE49-F238E27FC236}">
                    <a16:creationId xmlns:a16="http://schemas.microsoft.com/office/drawing/2014/main" id="{C2A2D0D3-1DE6-48F9-A1E3-0E688FFF787E}"/>
                  </a:ext>
                </a:extLst>
              </p:cNvPr>
              <p:cNvSpPr/>
              <p:nvPr/>
            </p:nvSpPr>
            <p:spPr>
              <a:xfrm>
                <a:off x="2706658" y="4664218"/>
                <a:ext cx="398033" cy="236668"/>
              </a:xfrm>
              <a:prstGeom prst="hexagon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0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六边形 39">
                <a:extLst>
                  <a:ext uri="{FF2B5EF4-FFF2-40B4-BE49-F238E27FC236}">
                    <a16:creationId xmlns:a16="http://schemas.microsoft.com/office/drawing/2014/main" id="{F025D609-E545-46BF-9B4F-3984DB1292F2}"/>
                  </a:ext>
                </a:extLst>
              </p:cNvPr>
              <p:cNvSpPr/>
              <p:nvPr/>
            </p:nvSpPr>
            <p:spPr>
              <a:xfrm>
                <a:off x="3104691" y="4664218"/>
                <a:ext cx="398033" cy="236668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1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六边形 40">
                <a:extLst>
                  <a:ext uri="{FF2B5EF4-FFF2-40B4-BE49-F238E27FC236}">
                    <a16:creationId xmlns:a16="http://schemas.microsoft.com/office/drawing/2014/main" id="{65338C79-A01B-4420-96C1-E40E755847FE}"/>
                  </a:ext>
                </a:extLst>
              </p:cNvPr>
              <p:cNvSpPr/>
              <p:nvPr/>
            </p:nvSpPr>
            <p:spPr>
              <a:xfrm>
                <a:off x="3511015" y="4664218"/>
                <a:ext cx="398033" cy="236668"/>
              </a:xfrm>
              <a:prstGeom prst="hexagon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0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六边形 41">
                <a:extLst>
                  <a:ext uri="{FF2B5EF4-FFF2-40B4-BE49-F238E27FC236}">
                    <a16:creationId xmlns:a16="http://schemas.microsoft.com/office/drawing/2014/main" id="{49891045-B20E-43BD-8E83-39EDAC3F0AB3}"/>
                  </a:ext>
                </a:extLst>
              </p:cNvPr>
              <p:cNvSpPr/>
              <p:nvPr/>
            </p:nvSpPr>
            <p:spPr>
              <a:xfrm>
                <a:off x="3914604" y="4664218"/>
                <a:ext cx="398033" cy="236668"/>
              </a:xfrm>
              <a:prstGeom prst="hexagon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0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六边形 42">
                <a:extLst>
                  <a:ext uri="{FF2B5EF4-FFF2-40B4-BE49-F238E27FC236}">
                    <a16:creationId xmlns:a16="http://schemas.microsoft.com/office/drawing/2014/main" id="{76B68F9F-E390-44C2-82F5-34BAE9591659}"/>
                  </a:ext>
                </a:extLst>
              </p:cNvPr>
              <p:cNvSpPr/>
              <p:nvPr/>
            </p:nvSpPr>
            <p:spPr>
              <a:xfrm>
                <a:off x="4320928" y="4664218"/>
                <a:ext cx="398033" cy="236668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1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六边形 43">
                <a:extLst>
                  <a:ext uri="{FF2B5EF4-FFF2-40B4-BE49-F238E27FC236}">
                    <a16:creationId xmlns:a16="http://schemas.microsoft.com/office/drawing/2014/main" id="{CD7C8783-793D-4ED9-AECE-CD10B5E380F1}"/>
                  </a:ext>
                </a:extLst>
              </p:cNvPr>
              <p:cNvSpPr/>
              <p:nvPr/>
            </p:nvSpPr>
            <p:spPr>
              <a:xfrm>
                <a:off x="4721853" y="4664218"/>
                <a:ext cx="398033" cy="236668"/>
              </a:xfrm>
              <a:prstGeom prst="hexagon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0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六边形 44">
                <a:extLst>
                  <a:ext uri="{FF2B5EF4-FFF2-40B4-BE49-F238E27FC236}">
                    <a16:creationId xmlns:a16="http://schemas.microsoft.com/office/drawing/2014/main" id="{8D1643C4-2B63-4206-B71C-3D6E9E2A16AE}"/>
                  </a:ext>
                </a:extLst>
              </p:cNvPr>
              <p:cNvSpPr/>
              <p:nvPr/>
            </p:nvSpPr>
            <p:spPr>
              <a:xfrm>
                <a:off x="5129908" y="4664218"/>
                <a:ext cx="398033" cy="236668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1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六边形 45">
                <a:extLst>
                  <a:ext uri="{FF2B5EF4-FFF2-40B4-BE49-F238E27FC236}">
                    <a16:creationId xmlns:a16="http://schemas.microsoft.com/office/drawing/2014/main" id="{528742B8-1D3A-4E52-B720-97686F1EE4E2}"/>
                  </a:ext>
                </a:extLst>
              </p:cNvPr>
              <p:cNvSpPr/>
              <p:nvPr/>
            </p:nvSpPr>
            <p:spPr>
              <a:xfrm>
                <a:off x="5530833" y="4664218"/>
                <a:ext cx="398033" cy="236668"/>
              </a:xfrm>
              <a:prstGeom prst="hexagon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0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六边形 46">
                <a:extLst>
                  <a:ext uri="{FF2B5EF4-FFF2-40B4-BE49-F238E27FC236}">
                    <a16:creationId xmlns:a16="http://schemas.microsoft.com/office/drawing/2014/main" id="{CED53FC4-4957-4983-A76A-3E4988376CBB}"/>
                  </a:ext>
                </a:extLst>
              </p:cNvPr>
              <p:cNvSpPr/>
              <p:nvPr/>
            </p:nvSpPr>
            <p:spPr>
              <a:xfrm>
                <a:off x="6356121" y="4664218"/>
                <a:ext cx="398033" cy="236668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1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六边形 47">
                <a:extLst>
                  <a:ext uri="{FF2B5EF4-FFF2-40B4-BE49-F238E27FC236}">
                    <a16:creationId xmlns:a16="http://schemas.microsoft.com/office/drawing/2014/main" id="{7E3AE520-6102-4CAE-BAF3-0826FCA50F86}"/>
                  </a:ext>
                </a:extLst>
              </p:cNvPr>
              <p:cNvSpPr/>
              <p:nvPr/>
            </p:nvSpPr>
            <p:spPr>
              <a:xfrm>
                <a:off x="6754154" y="4664218"/>
                <a:ext cx="398033" cy="236668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1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六边形 48">
                <a:extLst>
                  <a:ext uri="{FF2B5EF4-FFF2-40B4-BE49-F238E27FC236}">
                    <a16:creationId xmlns:a16="http://schemas.microsoft.com/office/drawing/2014/main" id="{32DA2432-678F-4F5B-8056-CE549359BEB6}"/>
                  </a:ext>
                </a:extLst>
              </p:cNvPr>
              <p:cNvSpPr/>
              <p:nvPr/>
            </p:nvSpPr>
            <p:spPr>
              <a:xfrm>
                <a:off x="7160478" y="4664218"/>
                <a:ext cx="398033" cy="236668"/>
              </a:xfrm>
              <a:prstGeom prst="hexagon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0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六边形 49">
                <a:extLst>
                  <a:ext uri="{FF2B5EF4-FFF2-40B4-BE49-F238E27FC236}">
                    <a16:creationId xmlns:a16="http://schemas.microsoft.com/office/drawing/2014/main" id="{307D39BA-2820-491D-A027-2F2CD42183C2}"/>
                  </a:ext>
                </a:extLst>
              </p:cNvPr>
              <p:cNvSpPr/>
              <p:nvPr/>
            </p:nvSpPr>
            <p:spPr>
              <a:xfrm>
                <a:off x="7564067" y="4664218"/>
                <a:ext cx="398033" cy="236668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1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六边形 50">
                <a:extLst>
                  <a:ext uri="{FF2B5EF4-FFF2-40B4-BE49-F238E27FC236}">
                    <a16:creationId xmlns:a16="http://schemas.microsoft.com/office/drawing/2014/main" id="{D240DA62-5D41-4A15-9750-14A1883AC404}"/>
                  </a:ext>
                </a:extLst>
              </p:cNvPr>
              <p:cNvSpPr/>
              <p:nvPr/>
            </p:nvSpPr>
            <p:spPr>
              <a:xfrm>
                <a:off x="7970391" y="4664218"/>
                <a:ext cx="398033" cy="236668"/>
              </a:xfrm>
              <a:prstGeom prst="hexagon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0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六边形 51">
                <a:extLst>
                  <a:ext uri="{FF2B5EF4-FFF2-40B4-BE49-F238E27FC236}">
                    <a16:creationId xmlns:a16="http://schemas.microsoft.com/office/drawing/2014/main" id="{85DDC044-3CD7-4552-97AC-4A2E384EDA86}"/>
                  </a:ext>
                </a:extLst>
              </p:cNvPr>
              <p:cNvSpPr/>
              <p:nvPr/>
            </p:nvSpPr>
            <p:spPr>
              <a:xfrm>
                <a:off x="8371316" y="4664218"/>
                <a:ext cx="398033" cy="236668"/>
              </a:xfrm>
              <a:prstGeom prst="hexagon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1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六边形 52">
                <a:extLst>
                  <a:ext uri="{FF2B5EF4-FFF2-40B4-BE49-F238E27FC236}">
                    <a16:creationId xmlns:a16="http://schemas.microsoft.com/office/drawing/2014/main" id="{4D71A0AE-89C6-45D3-A560-EDA77847D5D5}"/>
                  </a:ext>
                </a:extLst>
              </p:cNvPr>
              <p:cNvSpPr/>
              <p:nvPr/>
            </p:nvSpPr>
            <p:spPr>
              <a:xfrm>
                <a:off x="8779371" y="4664218"/>
                <a:ext cx="398033" cy="236668"/>
              </a:xfrm>
              <a:prstGeom prst="hexagon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0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六边形 53">
                <a:extLst>
                  <a:ext uri="{FF2B5EF4-FFF2-40B4-BE49-F238E27FC236}">
                    <a16:creationId xmlns:a16="http://schemas.microsoft.com/office/drawing/2014/main" id="{3FA3D15C-A6ED-4F14-B041-D9AABA6C87BE}"/>
                  </a:ext>
                </a:extLst>
              </p:cNvPr>
              <p:cNvSpPr/>
              <p:nvPr/>
            </p:nvSpPr>
            <p:spPr>
              <a:xfrm>
                <a:off x="9180296" y="4664218"/>
                <a:ext cx="398033" cy="236668"/>
              </a:xfrm>
              <a:prstGeom prst="hexagon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0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8" name="íşlïḍè">
              <a:extLst>
                <a:ext uri="{FF2B5EF4-FFF2-40B4-BE49-F238E27FC236}">
                  <a16:creationId xmlns:a16="http://schemas.microsoft.com/office/drawing/2014/main" id="{B5AF22E0-F685-4D64-BCD0-D816E73F3C6B}"/>
                </a:ext>
              </a:extLst>
            </p:cNvPr>
            <p:cNvSpPr txBox="1"/>
            <p:nvPr/>
          </p:nvSpPr>
          <p:spPr>
            <a:xfrm>
              <a:off x="5706746" y="4460261"/>
              <a:ext cx="900717" cy="4826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en-US" altLang="zh-CN" sz="2000" b="1" dirty="0"/>
                <a:t>…</a:t>
              </a:r>
              <a:endParaRPr lang="en-US" altLang="zh-CN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80" name="íşlïḍè">
            <a:extLst>
              <a:ext uri="{FF2B5EF4-FFF2-40B4-BE49-F238E27FC236}">
                <a16:creationId xmlns:a16="http://schemas.microsoft.com/office/drawing/2014/main" id="{920F225A-9EDE-425B-92C9-5B28B3181C45}"/>
              </a:ext>
            </a:extLst>
          </p:cNvPr>
          <p:cNvSpPr txBox="1"/>
          <p:nvPr/>
        </p:nvSpPr>
        <p:spPr>
          <a:xfrm>
            <a:off x="313432" y="5709268"/>
            <a:ext cx="11579763" cy="73560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/>
              <a:t>因此，链路的时延带宽积也称为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以比特为单位的链路长度</a:t>
            </a:r>
            <a:r>
              <a:rPr lang="zh-CN" altLang="en-US" sz="2000" b="1" dirty="0"/>
              <a:t>，这对我们以后理解以太网的最短帧长是非常有帮助的。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049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3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3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计算机网络的性能指标</a:t>
              </a:r>
            </a:p>
          </p:txBody>
        </p:sp>
      </p:grpSp>
      <p:sp>
        <p:nvSpPr>
          <p:cNvPr id="86" name="îṡ1îḑè">
            <a:extLst>
              <a:ext uri="{FF2B5EF4-FFF2-40B4-BE49-F238E27FC236}">
                <a16:creationId xmlns:a16="http://schemas.microsoft.com/office/drawing/2014/main" id="{A803C2F9-4FBB-4C35-AC3F-2B77804282A2}"/>
              </a:ext>
            </a:extLst>
          </p:cNvPr>
          <p:cNvSpPr/>
          <p:nvPr/>
        </p:nvSpPr>
        <p:spPr>
          <a:xfrm>
            <a:off x="3048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速率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7" name="îṧḻîḍê">
            <a:extLst>
              <a:ext uri="{FF2B5EF4-FFF2-40B4-BE49-F238E27FC236}">
                <a16:creationId xmlns:a16="http://schemas.microsoft.com/office/drawing/2014/main" id="{DFA6F1EB-29D9-4A75-B24E-7FE2E4C0E97D}"/>
              </a:ext>
            </a:extLst>
          </p:cNvPr>
          <p:cNvSpPr/>
          <p:nvPr/>
        </p:nvSpPr>
        <p:spPr>
          <a:xfrm>
            <a:off x="17688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带宽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8" name="iṡlíďè">
            <a:extLst>
              <a:ext uri="{FF2B5EF4-FFF2-40B4-BE49-F238E27FC236}">
                <a16:creationId xmlns:a16="http://schemas.microsoft.com/office/drawing/2014/main" id="{C52BE881-D827-42B9-AFCD-BFDFE2366E21}"/>
              </a:ext>
            </a:extLst>
          </p:cNvPr>
          <p:cNvSpPr/>
          <p:nvPr/>
        </p:nvSpPr>
        <p:spPr>
          <a:xfrm>
            <a:off x="32328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rgbClr val="FFFFFF"/>
                </a:solidFill>
              </a:rPr>
              <a:t>吞吐量</a:t>
            </a:r>
            <a:endParaRPr lang="en-GB" b="1" dirty="0">
              <a:solidFill>
                <a:srgbClr val="FFFFFF"/>
              </a:solidFill>
            </a:endParaRPr>
          </a:p>
        </p:txBody>
      </p:sp>
      <p:sp>
        <p:nvSpPr>
          <p:cNvPr id="89" name="iṥľïdè">
            <a:extLst>
              <a:ext uri="{FF2B5EF4-FFF2-40B4-BE49-F238E27FC236}">
                <a16:creationId xmlns:a16="http://schemas.microsoft.com/office/drawing/2014/main" id="{7E37DD0B-57D9-45E4-B3AD-EEEB679EF75E}"/>
              </a:ext>
            </a:extLst>
          </p:cNvPr>
          <p:cNvSpPr/>
          <p:nvPr/>
        </p:nvSpPr>
        <p:spPr>
          <a:xfrm>
            <a:off x="469687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0" name="îśľîḍé">
            <a:extLst>
              <a:ext uri="{FF2B5EF4-FFF2-40B4-BE49-F238E27FC236}">
                <a16:creationId xmlns:a16="http://schemas.microsoft.com/office/drawing/2014/main" id="{67EBD377-E6A9-419F-9713-92993F43A27E}"/>
              </a:ext>
            </a:extLst>
          </p:cNvPr>
          <p:cNvSpPr/>
          <p:nvPr/>
        </p:nvSpPr>
        <p:spPr>
          <a:xfrm>
            <a:off x="76249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往返时间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1" name="îśľîḍé">
            <a:extLst>
              <a:ext uri="{FF2B5EF4-FFF2-40B4-BE49-F238E27FC236}">
                <a16:creationId xmlns:a16="http://schemas.microsoft.com/office/drawing/2014/main" id="{01D6FD95-2A4C-4A1F-ADAA-E06A0DB2334E}"/>
              </a:ext>
            </a:extLst>
          </p:cNvPr>
          <p:cNvSpPr/>
          <p:nvPr/>
        </p:nvSpPr>
        <p:spPr>
          <a:xfrm>
            <a:off x="61609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时延带宽积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2" name="îśľîḍé">
            <a:extLst>
              <a:ext uri="{FF2B5EF4-FFF2-40B4-BE49-F238E27FC236}">
                <a16:creationId xmlns:a16="http://schemas.microsoft.com/office/drawing/2014/main" id="{D196E2C0-5678-4A32-8DE3-2A8BA36E0749}"/>
              </a:ext>
            </a:extLst>
          </p:cNvPr>
          <p:cNvSpPr/>
          <p:nvPr/>
        </p:nvSpPr>
        <p:spPr>
          <a:xfrm>
            <a:off x="90889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利用率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3" name="îśľîḍé">
            <a:extLst>
              <a:ext uri="{FF2B5EF4-FFF2-40B4-BE49-F238E27FC236}">
                <a16:creationId xmlns:a16="http://schemas.microsoft.com/office/drawing/2014/main" id="{9010AC37-690A-4F23-99A9-04A6AEEBAC9D}"/>
              </a:ext>
            </a:extLst>
          </p:cNvPr>
          <p:cNvSpPr/>
          <p:nvPr/>
        </p:nvSpPr>
        <p:spPr>
          <a:xfrm>
            <a:off x="10552974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丢包率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4" name="îśľîḍé">
            <a:extLst>
              <a:ext uri="{FF2B5EF4-FFF2-40B4-BE49-F238E27FC236}">
                <a16:creationId xmlns:a16="http://schemas.microsoft.com/office/drawing/2014/main" id="{66A7D740-2B8E-4682-8E8B-8E6742A7FCEA}"/>
              </a:ext>
            </a:extLst>
          </p:cNvPr>
          <p:cNvSpPr/>
          <p:nvPr/>
        </p:nvSpPr>
        <p:spPr>
          <a:xfrm>
            <a:off x="7624925" y="1299908"/>
            <a:ext cx="1334228" cy="482600"/>
          </a:xfrm>
          <a:prstGeom prst="rect">
            <a:avLst/>
          </a:prstGeom>
          <a:solidFill>
            <a:schemeClr val="accent6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6"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往返时间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6" name="图片 5" descr="图示&#10;&#10;描述已自动生成">
            <a:extLst>
              <a:ext uri="{FF2B5EF4-FFF2-40B4-BE49-F238E27FC236}">
                <a16:creationId xmlns:a16="http://schemas.microsoft.com/office/drawing/2014/main" id="{252E7AB8-5076-42B8-9891-6899C0E990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019" y="1933006"/>
            <a:ext cx="8071961" cy="4391020"/>
          </a:xfrm>
          <a:prstGeom prst="rect">
            <a:avLst/>
          </a:prstGeom>
        </p:spPr>
      </p:pic>
      <p:sp>
        <p:nvSpPr>
          <p:cNvPr id="25" name="íşlïḍè">
            <a:extLst>
              <a:ext uri="{FF2B5EF4-FFF2-40B4-BE49-F238E27FC236}">
                <a16:creationId xmlns:a16="http://schemas.microsoft.com/office/drawing/2014/main" id="{EAD940D9-C011-43BD-B75F-80278932CE8D}"/>
              </a:ext>
            </a:extLst>
          </p:cNvPr>
          <p:cNvSpPr txBox="1"/>
          <p:nvPr/>
        </p:nvSpPr>
        <p:spPr>
          <a:xfrm>
            <a:off x="2815609" y="1860330"/>
            <a:ext cx="1261512" cy="70577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耗时较多？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íşlïḍè">
            <a:extLst>
              <a:ext uri="{FF2B5EF4-FFF2-40B4-BE49-F238E27FC236}">
                <a16:creationId xmlns:a16="http://schemas.microsoft.com/office/drawing/2014/main" id="{3050815E-74AD-494E-9781-657C0C968E44}"/>
              </a:ext>
            </a:extLst>
          </p:cNvPr>
          <p:cNvSpPr txBox="1"/>
          <p:nvPr/>
        </p:nvSpPr>
        <p:spPr>
          <a:xfrm>
            <a:off x="7468551" y="3076113"/>
            <a:ext cx="1261512" cy="70577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耗时较多？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íşlïḍè">
            <a:extLst>
              <a:ext uri="{FF2B5EF4-FFF2-40B4-BE49-F238E27FC236}">
                <a16:creationId xmlns:a16="http://schemas.microsoft.com/office/drawing/2014/main" id="{8B47EBBF-998A-42E0-9E19-CF64C00F39F7}"/>
              </a:ext>
            </a:extLst>
          </p:cNvPr>
          <p:cNvSpPr txBox="1"/>
          <p:nvPr/>
        </p:nvSpPr>
        <p:spPr>
          <a:xfrm>
            <a:off x="4102477" y="4496046"/>
            <a:ext cx="1261512" cy="70577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耗时较多？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26F808F-3024-4047-BC6C-20B10F6030EA}"/>
                  </a:ext>
                </a:extLst>
              </p:cNvPr>
              <p:cNvSpPr txBox="1"/>
              <p:nvPr/>
            </p:nvSpPr>
            <p:spPr>
              <a:xfrm>
                <a:off x="6763467" y="5795384"/>
                <a:ext cx="2510809" cy="601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36000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num>
                        <m:den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2=240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26F808F-3024-4047-BC6C-20B10F603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3467" y="5795384"/>
                <a:ext cx="2510809" cy="6013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345741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计算机网络的性能指标</a:t>
              </a:r>
            </a:p>
          </p:txBody>
        </p:sp>
      </p:grpSp>
      <p:sp>
        <p:nvSpPr>
          <p:cNvPr id="86" name="îṡ1îḑè">
            <a:extLst>
              <a:ext uri="{FF2B5EF4-FFF2-40B4-BE49-F238E27FC236}">
                <a16:creationId xmlns:a16="http://schemas.microsoft.com/office/drawing/2014/main" id="{A803C2F9-4FBB-4C35-AC3F-2B77804282A2}"/>
              </a:ext>
            </a:extLst>
          </p:cNvPr>
          <p:cNvSpPr/>
          <p:nvPr/>
        </p:nvSpPr>
        <p:spPr>
          <a:xfrm>
            <a:off x="3048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速率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7" name="îṧḻîḍê">
            <a:extLst>
              <a:ext uri="{FF2B5EF4-FFF2-40B4-BE49-F238E27FC236}">
                <a16:creationId xmlns:a16="http://schemas.microsoft.com/office/drawing/2014/main" id="{DFA6F1EB-29D9-4A75-B24E-7FE2E4C0E97D}"/>
              </a:ext>
            </a:extLst>
          </p:cNvPr>
          <p:cNvSpPr/>
          <p:nvPr/>
        </p:nvSpPr>
        <p:spPr>
          <a:xfrm>
            <a:off x="17688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带宽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8" name="iṡlíďè">
            <a:extLst>
              <a:ext uri="{FF2B5EF4-FFF2-40B4-BE49-F238E27FC236}">
                <a16:creationId xmlns:a16="http://schemas.microsoft.com/office/drawing/2014/main" id="{C52BE881-D827-42B9-AFCD-BFDFE2366E21}"/>
              </a:ext>
            </a:extLst>
          </p:cNvPr>
          <p:cNvSpPr/>
          <p:nvPr/>
        </p:nvSpPr>
        <p:spPr>
          <a:xfrm>
            <a:off x="32328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rgbClr val="FFFFFF"/>
                </a:solidFill>
              </a:rPr>
              <a:t>吞吐量</a:t>
            </a:r>
            <a:endParaRPr lang="en-GB" b="1" dirty="0">
              <a:solidFill>
                <a:srgbClr val="FFFFFF"/>
              </a:solidFill>
            </a:endParaRPr>
          </a:p>
        </p:txBody>
      </p:sp>
      <p:sp>
        <p:nvSpPr>
          <p:cNvPr id="89" name="iṥľïdè">
            <a:extLst>
              <a:ext uri="{FF2B5EF4-FFF2-40B4-BE49-F238E27FC236}">
                <a16:creationId xmlns:a16="http://schemas.microsoft.com/office/drawing/2014/main" id="{7E37DD0B-57D9-45E4-B3AD-EEEB679EF75E}"/>
              </a:ext>
            </a:extLst>
          </p:cNvPr>
          <p:cNvSpPr/>
          <p:nvPr/>
        </p:nvSpPr>
        <p:spPr>
          <a:xfrm>
            <a:off x="469687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0" name="îśľîḍé">
            <a:extLst>
              <a:ext uri="{FF2B5EF4-FFF2-40B4-BE49-F238E27FC236}">
                <a16:creationId xmlns:a16="http://schemas.microsoft.com/office/drawing/2014/main" id="{67EBD377-E6A9-419F-9713-92993F43A27E}"/>
              </a:ext>
            </a:extLst>
          </p:cNvPr>
          <p:cNvSpPr/>
          <p:nvPr/>
        </p:nvSpPr>
        <p:spPr>
          <a:xfrm>
            <a:off x="76249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往返时间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1" name="îśľîḍé">
            <a:extLst>
              <a:ext uri="{FF2B5EF4-FFF2-40B4-BE49-F238E27FC236}">
                <a16:creationId xmlns:a16="http://schemas.microsoft.com/office/drawing/2014/main" id="{01D6FD95-2A4C-4A1F-ADAA-E06A0DB2334E}"/>
              </a:ext>
            </a:extLst>
          </p:cNvPr>
          <p:cNvSpPr/>
          <p:nvPr/>
        </p:nvSpPr>
        <p:spPr>
          <a:xfrm>
            <a:off x="61609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时延带宽积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2" name="îśľîḍé">
            <a:extLst>
              <a:ext uri="{FF2B5EF4-FFF2-40B4-BE49-F238E27FC236}">
                <a16:creationId xmlns:a16="http://schemas.microsoft.com/office/drawing/2014/main" id="{D196E2C0-5678-4A32-8DE3-2A8BA36E0749}"/>
              </a:ext>
            </a:extLst>
          </p:cNvPr>
          <p:cNvSpPr/>
          <p:nvPr/>
        </p:nvSpPr>
        <p:spPr>
          <a:xfrm>
            <a:off x="90889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利用率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3" name="îśľîḍé">
            <a:extLst>
              <a:ext uri="{FF2B5EF4-FFF2-40B4-BE49-F238E27FC236}">
                <a16:creationId xmlns:a16="http://schemas.microsoft.com/office/drawing/2014/main" id="{9010AC37-690A-4F23-99A9-04A6AEEBAC9D}"/>
              </a:ext>
            </a:extLst>
          </p:cNvPr>
          <p:cNvSpPr/>
          <p:nvPr/>
        </p:nvSpPr>
        <p:spPr>
          <a:xfrm>
            <a:off x="10552974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丢包率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4" name="îśľîḍé">
            <a:extLst>
              <a:ext uri="{FF2B5EF4-FFF2-40B4-BE49-F238E27FC236}">
                <a16:creationId xmlns:a16="http://schemas.microsoft.com/office/drawing/2014/main" id="{66A7D740-2B8E-4682-8E8B-8E6742A7FCEA}"/>
              </a:ext>
            </a:extLst>
          </p:cNvPr>
          <p:cNvSpPr/>
          <p:nvPr/>
        </p:nvSpPr>
        <p:spPr>
          <a:xfrm>
            <a:off x="9088950" y="1299908"/>
            <a:ext cx="1334228" cy="4826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4">
                <a:lumMod val="75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利用率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DDE8438-CA28-45E0-9363-ABDE1FA67202}"/>
              </a:ext>
            </a:extLst>
          </p:cNvPr>
          <p:cNvSpPr/>
          <p:nvPr/>
        </p:nvSpPr>
        <p:spPr>
          <a:xfrm>
            <a:off x="933106" y="1974735"/>
            <a:ext cx="300790" cy="30079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íşlïḍè">
            <a:extLst>
              <a:ext uri="{FF2B5EF4-FFF2-40B4-BE49-F238E27FC236}">
                <a16:creationId xmlns:a16="http://schemas.microsoft.com/office/drawing/2014/main" id="{0BB3B737-EAAA-489E-B65A-931A39D34546}"/>
              </a:ext>
            </a:extLst>
          </p:cNvPr>
          <p:cNvSpPr txBox="1"/>
          <p:nvPr/>
        </p:nvSpPr>
        <p:spPr>
          <a:xfrm>
            <a:off x="1318660" y="1904823"/>
            <a:ext cx="9554679" cy="48260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/>
              <a:t>根据排队论可知，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当某链路的利用率增大时</a:t>
            </a:r>
            <a:r>
              <a:rPr lang="zh-CN" altLang="en-US" sz="2000" b="1" dirty="0"/>
              <a:t>，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该链路引起的时延就会迅速增加</a:t>
            </a:r>
            <a:r>
              <a:rPr lang="zh-CN" altLang="en-US" sz="2000" b="1" dirty="0"/>
              <a:t>。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B5E2D4D-8B77-4EFA-B72C-47E3CC2AC86B}"/>
              </a:ext>
            </a:extLst>
          </p:cNvPr>
          <p:cNvSpPr/>
          <p:nvPr/>
        </p:nvSpPr>
        <p:spPr>
          <a:xfrm>
            <a:off x="933106" y="2436839"/>
            <a:ext cx="300790" cy="30079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íşlïḍè">
            <a:extLst>
              <a:ext uri="{FF2B5EF4-FFF2-40B4-BE49-F238E27FC236}">
                <a16:creationId xmlns:a16="http://schemas.microsoft.com/office/drawing/2014/main" id="{F5EDE178-30DD-4848-9B68-F73E18D92659}"/>
              </a:ext>
            </a:extLst>
          </p:cNvPr>
          <p:cNvSpPr txBox="1"/>
          <p:nvPr/>
        </p:nvSpPr>
        <p:spPr>
          <a:xfrm>
            <a:off x="1318661" y="2366927"/>
            <a:ext cx="10568542" cy="77591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/>
              <a:t>当网络的通信量较少时，产生的时延并不大，但在网络通信量不断增大时，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分组在交换节点（路由器或交换机）中的排队时延会随之增大</a:t>
            </a:r>
            <a:r>
              <a:rPr lang="zh-CN" altLang="en-US" sz="2000" b="1" dirty="0"/>
              <a:t>，因此网络引起的时延就会增大。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6CAE416-D192-4B77-B428-B6E9A0B5793B}"/>
              </a:ext>
            </a:extLst>
          </p:cNvPr>
          <p:cNvSpPr/>
          <p:nvPr/>
        </p:nvSpPr>
        <p:spPr>
          <a:xfrm>
            <a:off x="933105" y="3194631"/>
            <a:ext cx="300790" cy="30079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íşlïḍè">
            <a:extLst>
              <a:ext uri="{FF2B5EF4-FFF2-40B4-BE49-F238E27FC236}">
                <a16:creationId xmlns:a16="http://schemas.microsoft.com/office/drawing/2014/main" id="{6EC59E25-B6A6-4940-A02B-8BAEB9AFA257}"/>
              </a:ext>
            </a:extLst>
          </p:cNvPr>
          <p:cNvSpPr txBox="1"/>
          <p:nvPr/>
        </p:nvSpPr>
        <p:spPr>
          <a:xfrm>
            <a:off x="1318660" y="3124719"/>
            <a:ext cx="10568542" cy="77591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/>
              <a:t>令</a:t>
            </a:r>
            <a:r>
              <a:rPr lang="en-US" altLang="zh-CN" sz="2000" b="1" dirty="0"/>
              <a:t>D</a:t>
            </a:r>
            <a:r>
              <a:rPr lang="en-US" altLang="zh-CN" sz="2000" b="1" baseline="-25000" dirty="0"/>
              <a:t>0</a:t>
            </a:r>
            <a:r>
              <a:rPr lang="zh-CN" altLang="en-US" sz="2000" b="1" dirty="0"/>
              <a:t>表示网络空闲时的时延，</a:t>
            </a:r>
            <a:r>
              <a:rPr lang="en-US" altLang="zh-CN" sz="2000" b="1" dirty="0"/>
              <a:t>D</a:t>
            </a:r>
            <a:r>
              <a:rPr lang="zh-CN" altLang="en-US" sz="2000" b="1" dirty="0"/>
              <a:t>表示网络当前的时延，那么在理想的假定条件下，可用下式来表示</a:t>
            </a:r>
            <a:r>
              <a:rPr lang="en-US" altLang="zh-CN" sz="2000" b="1" dirty="0"/>
              <a:t>D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D</a:t>
            </a:r>
            <a:r>
              <a:rPr lang="en-US" altLang="zh-CN" sz="2000" b="1" baseline="-25000" dirty="0"/>
              <a:t>0</a:t>
            </a:r>
            <a:r>
              <a:rPr lang="zh-CN" altLang="en-US" sz="2000" b="1" dirty="0"/>
              <a:t>和网络利用率</a:t>
            </a:r>
            <a:r>
              <a:rPr lang="en-US" altLang="zh-CN" sz="2000" b="1" dirty="0"/>
              <a:t>U</a:t>
            </a:r>
            <a:r>
              <a:rPr lang="zh-CN" altLang="en-US" sz="2000" b="1" dirty="0"/>
              <a:t>之间的关系。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522E02C-7D4D-4735-B490-65BAA7177E3E}"/>
                  </a:ext>
                </a:extLst>
              </p:cNvPr>
              <p:cNvSpPr txBox="1"/>
              <p:nvPr/>
            </p:nvSpPr>
            <p:spPr>
              <a:xfrm>
                <a:off x="5063266" y="4005562"/>
                <a:ext cx="2065468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den>
                      </m:f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522E02C-7D4D-4735-B490-65BAA7177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266" y="4005562"/>
                <a:ext cx="2065468" cy="898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29209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9" grpId="0" animBg="1"/>
      <p:bldP spid="30" grpId="0"/>
      <p:bldP spid="31" grpId="0" animBg="1"/>
      <p:bldP spid="32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537EEBDF-5A43-482A-A191-0B08CD4C0B0C}"/>
              </a:ext>
            </a:extLst>
          </p:cNvPr>
          <p:cNvGrpSpPr/>
          <p:nvPr/>
        </p:nvGrpSpPr>
        <p:grpSpPr>
          <a:xfrm>
            <a:off x="6698695" y="2269454"/>
            <a:ext cx="1333418" cy="3823349"/>
            <a:chOff x="6698695" y="2269454"/>
            <a:chExt cx="1333418" cy="3823349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3F20E917-9011-47D4-9AEE-8ADB6B66CEB2}"/>
                </a:ext>
              </a:extLst>
            </p:cNvPr>
            <p:cNvSpPr/>
            <p:nvPr/>
          </p:nvSpPr>
          <p:spPr>
            <a:xfrm>
              <a:off x="6698695" y="2269454"/>
              <a:ext cx="1333418" cy="382334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95F5513E-4D5F-43BA-B278-B59B44F2F698}"/>
                </a:ext>
              </a:extLst>
            </p:cNvPr>
            <p:cNvSpPr txBox="1"/>
            <p:nvPr/>
          </p:nvSpPr>
          <p:spPr>
            <a:xfrm>
              <a:off x="7697777" y="3048871"/>
              <a:ext cx="233013" cy="1773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延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急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剧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增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大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计算机网络的性能指标</a:t>
              </a:r>
            </a:p>
          </p:txBody>
        </p:sp>
      </p:grpSp>
      <p:sp>
        <p:nvSpPr>
          <p:cNvPr id="86" name="îṡ1îḑè">
            <a:extLst>
              <a:ext uri="{FF2B5EF4-FFF2-40B4-BE49-F238E27FC236}">
                <a16:creationId xmlns:a16="http://schemas.microsoft.com/office/drawing/2014/main" id="{A803C2F9-4FBB-4C35-AC3F-2B77804282A2}"/>
              </a:ext>
            </a:extLst>
          </p:cNvPr>
          <p:cNvSpPr/>
          <p:nvPr/>
        </p:nvSpPr>
        <p:spPr>
          <a:xfrm>
            <a:off x="3048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速率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7" name="îṧḻîḍê">
            <a:extLst>
              <a:ext uri="{FF2B5EF4-FFF2-40B4-BE49-F238E27FC236}">
                <a16:creationId xmlns:a16="http://schemas.microsoft.com/office/drawing/2014/main" id="{DFA6F1EB-29D9-4A75-B24E-7FE2E4C0E97D}"/>
              </a:ext>
            </a:extLst>
          </p:cNvPr>
          <p:cNvSpPr/>
          <p:nvPr/>
        </p:nvSpPr>
        <p:spPr>
          <a:xfrm>
            <a:off x="17688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带宽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8" name="iṡlíďè">
            <a:extLst>
              <a:ext uri="{FF2B5EF4-FFF2-40B4-BE49-F238E27FC236}">
                <a16:creationId xmlns:a16="http://schemas.microsoft.com/office/drawing/2014/main" id="{C52BE881-D827-42B9-AFCD-BFDFE2366E21}"/>
              </a:ext>
            </a:extLst>
          </p:cNvPr>
          <p:cNvSpPr/>
          <p:nvPr/>
        </p:nvSpPr>
        <p:spPr>
          <a:xfrm>
            <a:off x="32328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rgbClr val="FFFFFF"/>
                </a:solidFill>
              </a:rPr>
              <a:t>吞吐量</a:t>
            </a:r>
            <a:endParaRPr lang="en-GB" b="1" dirty="0">
              <a:solidFill>
                <a:srgbClr val="FFFFFF"/>
              </a:solidFill>
            </a:endParaRPr>
          </a:p>
        </p:txBody>
      </p:sp>
      <p:sp>
        <p:nvSpPr>
          <p:cNvPr id="89" name="iṥľïdè">
            <a:extLst>
              <a:ext uri="{FF2B5EF4-FFF2-40B4-BE49-F238E27FC236}">
                <a16:creationId xmlns:a16="http://schemas.microsoft.com/office/drawing/2014/main" id="{7E37DD0B-57D9-45E4-B3AD-EEEB679EF75E}"/>
              </a:ext>
            </a:extLst>
          </p:cNvPr>
          <p:cNvSpPr/>
          <p:nvPr/>
        </p:nvSpPr>
        <p:spPr>
          <a:xfrm>
            <a:off x="469687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0" name="îśľîḍé">
            <a:extLst>
              <a:ext uri="{FF2B5EF4-FFF2-40B4-BE49-F238E27FC236}">
                <a16:creationId xmlns:a16="http://schemas.microsoft.com/office/drawing/2014/main" id="{67EBD377-E6A9-419F-9713-92993F43A27E}"/>
              </a:ext>
            </a:extLst>
          </p:cNvPr>
          <p:cNvSpPr/>
          <p:nvPr/>
        </p:nvSpPr>
        <p:spPr>
          <a:xfrm>
            <a:off x="76249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往返时间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1" name="îśľîḍé">
            <a:extLst>
              <a:ext uri="{FF2B5EF4-FFF2-40B4-BE49-F238E27FC236}">
                <a16:creationId xmlns:a16="http://schemas.microsoft.com/office/drawing/2014/main" id="{01D6FD95-2A4C-4A1F-ADAA-E06A0DB2334E}"/>
              </a:ext>
            </a:extLst>
          </p:cNvPr>
          <p:cNvSpPr/>
          <p:nvPr/>
        </p:nvSpPr>
        <p:spPr>
          <a:xfrm>
            <a:off x="61609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时延带宽积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2" name="îśľîḍé">
            <a:extLst>
              <a:ext uri="{FF2B5EF4-FFF2-40B4-BE49-F238E27FC236}">
                <a16:creationId xmlns:a16="http://schemas.microsoft.com/office/drawing/2014/main" id="{D196E2C0-5678-4A32-8DE3-2A8BA36E0749}"/>
              </a:ext>
            </a:extLst>
          </p:cNvPr>
          <p:cNvSpPr/>
          <p:nvPr/>
        </p:nvSpPr>
        <p:spPr>
          <a:xfrm>
            <a:off x="90889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利用率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3" name="îśľîḍé">
            <a:extLst>
              <a:ext uri="{FF2B5EF4-FFF2-40B4-BE49-F238E27FC236}">
                <a16:creationId xmlns:a16="http://schemas.microsoft.com/office/drawing/2014/main" id="{9010AC37-690A-4F23-99A9-04A6AEEBAC9D}"/>
              </a:ext>
            </a:extLst>
          </p:cNvPr>
          <p:cNvSpPr/>
          <p:nvPr/>
        </p:nvSpPr>
        <p:spPr>
          <a:xfrm>
            <a:off x="10552974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丢包率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4" name="îśľîḍé">
            <a:extLst>
              <a:ext uri="{FF2B5EF4-FFF2-40B4-BE49-F238E27FC236}">
                <a16:creationId xmlns:a16="http://schemas.microsoft.com/office/drawing/2014/main" id="{66A7D740-2B8E-4682-8E8B-8E6742A7FCEA}"/>
              </a:ext>
            </a:extLst>
          </p:cNvPr>
          <p:cNvSpPr/>
          <p:nvPr/>
        </p:nvSpPr>
        <p:spPr>
          <a:xfrm>
            <a:off x="9088950" y="1299908"/>
            <a:ext cx="1334228" cy="4826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4">
                <a:lumMod val="75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利用率</a:t>
            </a:r>
            <a:endParaRPr lang="en-GB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522E02C-7D4D-4735-B490-65BAA7177E3E}"/>
                  </a:ext>
                </a:extLst>
              </p:cNvPr>
              <p:cNvSpPr txBox="1"/>
              <p:nvPr/>
            </p:nvSpPr>
            <p:spPr>
              <a:xfrm>
                <a:off x="316682" y="2213393"/>
                <a:ext cx="2065468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den>
                      </m:f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522E02C-7D4D-4735-B490-65BAA7177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82" y="2213393"/>
                <a:ext cx="2065468" cy="898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8E72B3BC-3ED6-411E-8C91-AFDE9CC389EF}"/>
              </a:ext>
            </a:extLst>
          </p:cNvPr>
          <p:cNvGrpSpPr/>
          <p:nvPr/>
        </p:nvGrpSpPr>
        <p:grpSpPr>
          <a:xfrm>
            <a:off x="3598843" y="5732485"/>
            <a:ext cx="6588494" cy="521891"/>
            <a:chOff x="3598843" y="5732485"/>
            <a:chExt cx="6588494" cy="521891"/>
          </a:xfrm>
        </p:grpSpPr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D0FE9935-AEC4-4961-9F18-A30B35271E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0698" y="6101817"/>
              <a:ext cx="4977318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BF47F185-D95F-4672-9D29-FE6A2E301AFF}"/>
                    </a:ext>
                  </a:extLst>
                </p:cNvPr>
                <p:cNvSpPr txBox="1"/>
                <p:nvPr/>
              </p:nvSpPr>
              <p:spPr>
                <a:xfrm>
                  <a:off x="8448799" y="5732485"/>
                  <a:ext cx="173853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zh-CN" altLang="en-US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网络利用率</a:t>
                  </a:r>
                  <a14:m>
                    <m:oMath xmlns:m="http://schemas.openxmlformats.org/officeDocument/2006/math"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𝑼</m:t>
                      </m:r>
                    </m:oMath>
                  </a14:m>
                  <a:endPara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BF47F185-D95F-4672-9D29-FE6A2E301A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8799" y="5732485"/>
                  <a:ext cx="1738538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6557" b="-262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BEA45FD-6DC7-42D2-945B-4DBBE922B3BC}"/>
                    </a:ext>
                  </a:extLst>
                </p:cNvPr>
                <p:cNvSpPr txBox="1"/>
                <p:nvPr/>
              </p:nvSpPr>
              <p:spPr>
                <a:xfrm>
                  <a:off x="3598843" y="5885044"/>
                  <a:ext cx="20002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𝟎</m:t>
                        </m:r>
                      </m:oMath>
                    </m:oMathPara>
                  </a14:m>
                  <a:endParaRPr lang="zh-CN" altLang="en-US" b="1" baseline="-250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BEA45FD-6DC7-42D2-945B-4DBBE922B3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8843" y="5885044"/>
                  <a:ext cx="200027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42424" r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88E283B-02BE-4A31-B541-A4CCB79B96FB}"/>
              </a:ext>
            </a:extLst>
          </p:cNvPr>
          <p:cNvGrpSpPr/>
          <p:nvPr/>
        </p:nvGrpSpPr>
        <p:grpSpPr>
          <a:xfrm>
            <a:off x="2699534" y="1957892"/>
            <a:ext cx="1111164" cy="4143926"/>
            <a:chOff x="2699534" y="1957892"/>
            <a:chExt cx="1111164" cy="4143926"/>
          </a:xfrm>
        </p:grpSpPr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CC32EB56-847D-4E28-96C4-51B9C09EC7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10698" y="1957892"/>
              <a:ext cx="0" cy="414392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C0BD993D-105D-4A1F-979D-96CA575ED3BE}"/>
                    </a:ext>
                  </a:extLst>
                </p:cNvPr>
                <p:cNvSpPr txBox="1"/>
                <p:nvPr/>
              </p:nvSpPr>
              <p:spPr>
                <a:xfrm>
                  <a:off x="2699534" y="1981570"/>
                  <a:ext cx="11069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zh-CN" altLang="en-US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时延</a:t>
                  </a:r>
                  <a14:m>
                    <m:oMath xmlns:m="http://schemas.openxmlformats.org/officeDocument/2006/math"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𝑫</m:t>
                      </m:r>
                    </m:oMath>
                  </a14:m>
                  <a:endPara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C0BD993D-105D-4A1F-979D-96CA575ED3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9534" y="1981570"/>
                  <a:ext cx="1106900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6557" b="-262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F6778113-F9A7-43F7-8CBC-644214826F83}"/>
              </a:ext>
            </a:extLst>
          </p:cNvPr>
          <p:cNvSpPr/>
          <p:nvPr/>
        </p:nvSpPr>
        <p:spPr>
          <a:xfrm>
            <a:off x="3808166" y="2299305"/>
            <a:ext cx="4136833" cy="3272590"/>
          </a:xfrm>
          <a:custGeom>
            <a:avLst/>
            <a:gdLst>
              <a:gd name="connsiteX0" fmla="*/ 0 w 4042611"/>
              <a:gd name="connsiteY0" fmla="*/ 3272590 h 3272590"/>
              <a:gd name="connsiteX1" fmla="*/ 2117558 w 4042611"/>
              <a:gd name="connsiteY1" fmla="*/ 2759242 h 3272590"/>
              <a:gd name="connsiteX2" fmla="*/ 3368843 w 4042611"/>
              <a:gd name="connsiteY2" fmla="*/ 1620253 h 3272590"/>
              <a:gd name="connsiteX3" fmla="*/ 4042611 w 4042611"/>
              <a:gd name="connsiteY3" fmla="*/ 0 h 3272590"/>
              <a:gd name="connsiteX4" fmla="*/ 4042611 w 4042611"/>
              <a:gd name="connsiteY4" fmla="*/ 0 h 32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2611" h="3272590">
                <a:moveTo>
                  <a:pt x="0" y="3272590"/>
                </a:moveTo>
                <a:cubicBezTo>
                  <a:pt x="778042" y="3153610"/>
                  <a:pt x="1556084" y="3034631"/>
                  <a:pt x="2117558" y="2759242"/>
                </a:cubicBezTo>
                <a:cubicBezTo>
                  <a:pt x="2679032" y="2483853"/>
                  <a:pt x="3048001" y="2080127"/>
                  <a:pt x="3368843" y="1620253"/>
                </a:cubicBezTo>
                <a:cubicBezTo>
                  <a:pt x="3689685" y="1160379"/>
                  <a:pt x="4042611" y="0"/>
                  <a:pt x="4042611" y="0"/>
                </a:cubicBezTo>
                <a:lnTo>
                  <a:pt x="4042611" y="0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0A892A4-C328-4022-A267-EE7857DB8AB8}"/>
              </a:ext>
            </a:extLst>
          </p:cNvPr>
          <p:cNvGrpSpPr/>
          <p:nvPr/>
        </p:nvGrpSpPr>
        <p:grpSpPr>
          <a:xfrm>
            <a:off x="2969111" y="4885456"/>
            <a:ext cx="2956613" cy="369332"/>
            <a:chOff x="2969111" y="4885456"/>
            <a:chExt cx="2956613" cy="369332"/>
          </a:xfrm>
        </p:grpSpPr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771436C6-826C-41BE-BF7C-26B11908D4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19945" y="5042505"/>
              <a:ext cx="2105779" cy="1604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CCC53DF2-6779-439A-9728-4F9E65C00854}"/>
                    </a:ext>
                  </a:extLst>
                </p:cNvPr>
                <p:cNvSpPr txBox="1"/>
                <p:nvPr/>
              </p:nvSpPr>
              <p:spPr>
                <a:xfrm>
                  <a:off x="2969111" y="4885456"/>
                  <a:ext cx="75751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𝟐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𝑫</m:t>
                        </m:r>
                        <m:r>
                          <a:rPr lang="en-US" altLang="zh-CN" b="1" i="1" baseline="-25000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𝟎</m:t>
                        </m:r>
                      </m:oMath>
                    </m:oMathPara>
                  </a14:m>
                  <a:endParaRPr lang="zh-CN" altLang="en-US" b="1" baseline="-250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CCC53DF2-6779-439A-9728-4F9E65C008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9111" y="4885456"/>
                  <a:ext cx="75751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90819A5-7D22-4570-A6A1-C14D717E45AD}"/>
              </a:ext>
            </a:extLst>
          </p:cNvPr>
          <p:cNvGrpSpPr/>
          <p:nvPr/>
        </p:nvGrpSpPr>
        <p:grpSpPr>
          <a:xfrm>
            <a:off x="5688807" y="5058547"/>
            <a:ext cx="552128" cy="1421207"/>
            <a:chOff x="5688807" y="5058547"/>
            <a:chExt cx="552128" cy="1421207"/>
          </a:xfrm>
        </p:grpSpPr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D20C54BE-B48E-48DB-8ACE-33ABE3CE9FC8}"/>
                </a:ext>
              </a:extLst>
            </p:cNvPr>
            <p:cNvCxnSpPr>
              <a:cxnSpLocks/>
              <a:stCxn id="36" idx="1"/>
            </p:cNvCxnSpPr>
            <p:nvPr/>
          </p:nvCxnSpPr>
          <p:spPr>
            <a:xfrm>
              <a:off x="5975078" y="5058547"/>
              <a:ext cx="0" cy="102268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AAC1C5DA-9D8E-4AE5-B47B-62FE804E7939}"/>
                    </a:ext>
                  </a:extLst>
                </p:cNvPr>
                <p:cNvSpPr txBox="1"/>
                <p:nvPr/>
              </p:nvSpPr>
              <p:spPr>
                <a:xfrm>
                  <a:off x="5688807" y="6110422"/>
                  <a:ext cx="5521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𝟎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.</m:t>
                        </m:r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𝟓</m:t>
                        </m:r>
                      </m:oMath>
                    </m:oMathPara>
                  </a14:m>
                  <a:endParaRPr lang="zh-CN" altLang="en-US" b="1" baseline="-250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AAC1C5DA-9D8E-4AE5-B47B-62FE804E79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8807" y="6110422"/>
                  <a:ext cx="552128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32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FFFB62D-A459-467E-8C00-A59BBDDFB303}"/>
              </a:ext>
            </a:extLst>
          </p:cNvPr>
          <p:cNvGrpSpPr/>
          <p:nvPr/>
        </p:nvGrpSpPr>
        <p:grpSpPr>
          <a:xfrm>
            <a:off x="7684251" y="2257880"/>
            <a:ext cx="691681" cy="4221874"/>
            <a:chOff x="7684251" y="2257880"/>
            <a:chExt cx="691681" cy="4221874"/>
          </a:xfrm>
        </p:grpSpPr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AFEEDC2-0504-480F-B08E-DFC9BCF8CF50}"/>
                </a:ext>
              </a:extLst>
            </p:cNvPr>
            <p:cNvCxnSpPr/>
            <p:nvPr/>
          </p:nvCxnSpPr>
          <p:spPr>
            <a:xfrm>
              <a:off x="8032114" y="2257880"/>
              <a:ext cx="0" cy="384340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D1B3F375-BB63-48D1-BF26-54A0016AF4D5}"/>
                    </a:ext>
                  </a:extLst>
                </p:cNvPr>
                <p:cNvSpPr txBox="1"/>
                <p:nvPr/>
              </p:nvSpPr>
              <p:spPr>
                <a:xfrm>
                  <a:off x="7684251" y="6110422"/>
                  <a:ext cx="6916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𝟏</m:t>
                        </m:r>
                      </m:oMath>
                    </m:oMathPara>
                  </a14:m>
                  <a:endParaRPr lang="zh-CN" altLang="en-US" b="1" baseline="-250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D1B3F375-BB63-48D1-BF26-54A0016AF4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4251" y="6110422"/>
                  <a:ext cx="69168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BA87D43-B76B-4556-AE5D-529E449C160D}"/>
              </a:ext>
            </a:extLst>
          </p:cNvPr>
          <p:cNvGrpSpPr/>
          <p:nvPr/>
        </p:nvGrpSpPr>
        <p:grpSpPr>
          <a:xfrm>
            <a:off x="1268541" y="5362620"/>
            <a:ext cx="2572920" cy="369332"/>
            <a:chOff x="1268541" y="5362620"/>
            <a:chExt cx="2572920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39064C8F-7D6E-446D-B7C8-E8F34ADC0E3A}"/>
                    </a:ext>
                  </a:extLst>
                </p:cNvPr>
                <p:cNvSpPr txBox="1"/>
                <p:nvPr/>
              </p:nvSpPr>
              <p:spPr>
                <a:xfrm>
                  <a:off x="1268541" y="5362620"/>
                  <a:ext cx="244824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zh-CN" altLang="en-US" b="1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网络空闲时的时延</a:t>
                  </a:r>
                  <a14:m>
                    <m:oMath xmlns:m="http://schemas.openxmlformats.org/officeDocument/2006/math">
                      <m:r>
                        <a:rPr lang="en-US" altLang="zh-CN" b="1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𝑫</m:t>
                      </m:r>
                      <m:r>
                        <a:rPr lang="en-US" altLang="zh-CN" b="1" i="1" baseline="-25000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𝟎</m:t>
                      </m:r>
                    </m:oMath>
                  </a14:m>
                  <a:endParaRPr lang="zh-CN" altLang="en-US" b="1" baseline="-25000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39064C8F-7D6E-446D-B7C8-E8F34ADC0E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8541" y="5362620"/>
                  <a:ext cx="2448246" cy="369332"/>
                </a:xfrm>
                <a:prstGeom prst="rect">
                  <a:avLst/>
                </a:prstGeom>
                <a:blipFill>
                  <a:blip r:embed="rId10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9F00036A-40D0-49B1-A34E-2BF288EF93CA}"/>
                </a:ext>
              </a:extLst>
            </p:cNvPr>
            <p:cNvSpPr/>
            <p:nvPr/>
          </p:nvSpPr>
          <p:spPr>
            <a:xfrm>
              <a:off x="3776915" y="5537643"/>
              <a:ext cx="64546" cy="6454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3" name="流程图: 可选过程 42">
            <a:extLst>
              <a:ext uri="{FF2B5EF4-FFF2-40B4-BE49-F238E27FC236}">
                <a16:creationId xmlns:a16="http://schemas.microsoft.com/office/drawing/2014/main" id="{D28C0394-0669-4F2B-A779-DAA6D51481A3}"/>
              </a:ext>
            </a:extLst>
          </p:cNvPr>
          <p:cNvSpPr/>
          <p:nvPr/>
        </p:nvSpPr>
        <p:spPr>
          <a:xfrm>
            <a:off x="8573782" y="2315815"/>
            <a:ext cx="3227109" cy="1414547"/>
          </a:xfrm>
          <a:prstGeom prst="flowChartAlternateProcess">
            <a:avLst/>
          </a:prstGeom>
          <a:solidFill>
            <a:schemeClr val="accent4"/>
          </a:solidFill>
          <a:ln>
            <a:noFill/>
          </a:ln>
          <a:effectLst>
            <a:outerShdw blurRad="50800" dist="50800" dir="5400000" algn="ctr" rotWithShape="0">
              <a:schemeClr val="accent4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/>
              <a:t>一些大型</a:t>
            </a:r>
            <a:r>
              <a:rPr lang="en-US" altLang="zh-CN" b="1" dirty="0"/>
              <a:t>ISP</a:t>
            </a:r>
            <a:r>
              <a:rPr lang="zh-CN" altLang="en-US" b="1" dirty="0"/>
              <a:t>往往会控制信道利用率不超过</a:t>
            </a:r>
            <a:r>
              <a:rPr lang="en-US" altLang="zh-CN" b="1" dirty="0"/>
              <a:t>50%</a:t>
            </a:r>
            <a:r>
              <a:rPr lang="zh-CN" altLang="en-US" b="1" dirty="0"/>
              <a:t>。如果超过了就要进行扩容，增大线路的带宽。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3478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800" decel="100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4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计算机网络的性能指标</a:t>
              </a:r>
            </a:p>
          </p:txBody>
        </p:sp>
      </p:grpSp>
      <p:sp>
        <p:nvSpPr>
          <p:cNvPr id="86" name="îṡ1îḑè">
            <a:extLst>
              <a:ext uri="{FF2B5EF4-FFF2-40B4-BE49-F238E27FC236}">
                <a16:creationId xmlns:a16="http://schemas.microsoft.com/office/drawing/2014/main" id="{A803C2F9-4FBB-4C35-AC3F-2B77804282A2}"/>
              </a:ext>
            </a:extLst>
          </p:cNvPr>
          <p:cNvSpPr/>
          <p:nvPr/>
        </p:nvSpPr>
        <p:spPr>
          <a:xfrm>
            <a:off x="3048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速率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7" name="îṧḻîḍê">
            <a:extLst>
              <a:ext uri="{FF2B5EF4-FFF2-40B4-BE49-F238E27FC236}">
                <a16:creationId xmlns:a16="http://schemas.microsoft.com/office/drawing/2014/main" id="{DFA6F1EB-29D9-4A75-B24E-7FE2E4C0E97D}"/>
              </a:ext>
            </a:extLst>
          </p:cNvPr>
          <p:cNvSpPr/>
          <p:nvPr/>
        </p:nvSpPr>
        <p:spPr>
          <a:xfrm>
            <a:off x="17688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带宽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8" name="iṡlíďè">
            <a:extLst>
              <a:ext uri="{FF2B5EF4-FFF2-40B4-BE49-F238E27FC236}">
                <a16:creationId xmlns:a16="http://schemas.microsoft.com/office/drawing/2014/main" id="{C52BE881-D827-42B9-AFCD-BFDFE2366E21}"/>
              </a:ext>
            </a:extLst>
          </p:cNvPr>
          <p:cNvSpPr/>
          <p:nvPr/>
        </p:nvSpPr>
        <p:spPr>
          <a:xfrm>
            <a:off x="32328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rgbClr val="FFFFFF"/>
                </a:solidFill>
              </a:rPr>
              <a:t>吞吐量</a:t>
            </a:r>
            <a:endParaRPr lang="en-GB" b="1" dirty="0">
              <a:solidFill>
                <a:srgbClr val="FFFFFF"/>
              </a:solidFill>
            </a:endParaRPr>
          </a:p>
        </p:txBody>
      </p:sp>
      <p:sp>
        <p:nvSpPr>
          <p:cNvPr id="89" name="iṥľïdè">
            <a:extLst>
              <a:ext uri="{FF2B5EF4-FFF2-40B4-BE49-F238E27FC236}">
                <a16:creationId xmlns:a16="http://schemas.microsoft.com/office/drawing/2014/main" id="{7E37DD0B-57D9-45E4-B3AD-EEEB679EF75E}"/>
              </a:ext>
            </a:extLst>
          </p:cNvPr>
          <p:cNvSpPr/>
          <p:nvPr/>
        </p:nvSpPr>
        <p:spPr>
          <a:xfrm>
            <a:off x="469687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0" name="îśľîḍé">
            <a:extLst>
              <a:ext uri="{FF2B5EF4-FFF2-40B4-BE49-F238E27FC236}">
                <a16:creationId xmlns:a16="http://schemas.microsoft.com/office/drawing/2014/main" id="{67EBD377-E6A9-419F-9713-92993F43A27E}"/>
              </a:ext>
            </a:extLst>
          </p:cNvPr>
          <p:cNvSpPr/>
          <p:nvPr/>
        </p:nvSpPr>
        <p:spPr>
          <a:xfrm>
            <a:off x="76249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往返时间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1" name="îśľîḍé">
            <a:extLst>
              <a:ext uri="{FF2B5EF4-FFF2-40B4-BE49-F238E27FC236}">
                <a16:creationId xmlns:a16="http://schemas.microsoft.com/office/drawing/2014/main" id="{01D6FD95-2A4C-4A1F-ADAA-E06A0DB2334E}"/>
              </a:ext>
            </a:extLst>
          </p:cNvPr>
          <p:cNvSpPr/>
          <p:nvPr/>
        </p:nvSpPr>
        <p:spPr>
          <a:xfrm>
            <a:off x="61609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时延带宽积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2" name="îśľîḍé">
            <a:extLst>
              <a:ext uri="{FF2B5EF4-FFF2-40B4-BE49-F238E27FC236}">
                <a16:creationId xmlns:a16="http://schemas.microsoft.com/office/drawing/2014/main" id="{D196E2C0-5678-4A32-8DE3-2A8BA36E0749}"/>
              </a:ext>
            </a:extLst>
          </p:cNvPr>
          <p:cNvSpPr/>
          <p:nvPr/>
        </p:nvSpPr>
        <p:spPr>
          <a:xfrm>
            <a:off x="90889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利用率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3" name="îśľîḍé">
            <a:extLst>
              <a:ext uri="{FF2B5EF4-FFF2-40B4-BE49-F238E27FC236}">
                <a16:creationId xmlns:a16="http://schemas.microsoft.com/office/drawing/2014/main" id="{9010AC37-690A-4F23-99A9-04A6AEEBAC9D}"/>
              </a:ext>
            </a:extLst>
          </p:cNvPr>
          <p:cNvSpPr/>
          <p:nvPr/>
        </p:nvSpPr>
        <p:spPr>
          <a:xfrm>
            <a:off x="10552974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丢包率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4" name="îśľîḍé">
            <a:extLst>
              <a:ext uri="{FF2B5EF4-FFF2-40B4-BE49-F238E27FC236}">
                <a16:creationId xmlns:a16="http://schemas.microsoft.com/office/drawing/2014/main" id="{66A7D740-2B8E-4682-8E8B-8E6742A7FCEA}"/>
              </a:ext>
            </a:extLst>
          </p:cNvPr>
          <p:cNvSpPr/>
          <p:nvPr/>
        </p:nvSpPr>
        <p:spPr>
          <a:xfrm>
            <a:off x="10552974" y="1299908"/>
            <a:ext cx="1334228" cy="4826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3">
                <a:lumMod val="75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丢包率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312B1F9-4528-4036-9B4E-928B60BE146E}"/>
              </a:ext>
            </a:extLst>
          </p:cNvPr>
          <p:cNvSpPr/>
          <p:nvPr/>
        </p:nvSpPr>
        <p:spPr>
          <a:xfrm>
            <a:off x="933106" y="1974735"/>
            <a:ext cx="300790" cy="30079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íşlïḍè">
            <a:extLst>
              <a:ext uri="{FF2B5EF4-FFF2-40B4-BE49-F238E27FC236}">
                <a16:creationId xmlns:a16="http://schemas.microsoft.com/office/drawing/2014/main" id="{17DDA2DD-6C29-49F0-88BF-0F33000AF872}"/>
              </a:ext>
            </a:extLst>
          </p:cNvPr>
          <p:cNvSpPr txBox="1"/>
          <p:nvPr/>
        </p:nvSpPr>
        <p:spPr>
          <a:xfrm>
            <a:off x="1318660" y="1904823"/>
            <a:ext cx="9554679" cy="48260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/>
              <a:t>丢包率是指在一定的时间范围内，传输过程中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丢失的分组数量与总分组数量的比率</a:t>
            </a:r>
            <a:r>
              <a:rPr lang="zh-CN" altLang="en-US" sz="2000" b="1" dirty="0"/>
              <a:t>。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995AAAB-7B54-4D52-84A7-7A028BF58A16}"/>
              </a:ext>
            </a:extLst>
          </p:cNvPr>
          <p:cNvGrpSpPr/>
          <p:nvPr/>
        </p:nvGrpSpPr>
        <p:grpSpPr>
          <a:xfrm>
            <a:off x="4111730" y="2514376"/>
            <a:ext cx="3991206" cy="3853252"/>
            <a:chOff x="4122488" y="2546650"/>
            <a:chExt cx="3991206" cy="385325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FA4655C6-990B-46CF-8154-A33168C25809}"/>
                </a:ext>
              </a:extLst>
            </p:cNvPr>
            <p:cNvSpPr/>
            <p:nvPr/>
          </p:nvSpPr>
          <p:spPr>
            <a:xfrm>
              <a:off x="5531799" y="4028487"/>
              <a:ext cx="1172584" cy="117258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latin typeface="+mn-ea"/>
                </a:rPr>
                <a:t>丢包率</a:t>
              </a: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E70334B8-33EF-438F-A7B5-1DDF44320A8C}"/>
                </a:ext>
              </a:extLst>
            </p:cNvPr>
            <p:cNvSpPr/>
            <p:nvPr/>
          </p:nvSpPr>
          <p:spPr>
            <a:xfrm rot="-4320000">
              <a:off x="4122488" y="3570574"/>
              <a:ext cx="1172584" cy="117258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>
                <a:latin typeface="+mn-ea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6B2BC9DD-1B48-4C75-945A-8A06A82CEEB7}"/>
                </a:ext>
              </a:extLst>
            </p:cNvPr>
            <p:cNvSpPr/>
            <p:nvPr/>
          </p:nvSpPr>
          <p:spPr>
            <a:xfrm>
              <a:off x="5531799" y="2546650"/>
              <a:ext cx="1172584" cy="117258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600" b="1" dirty="0">
                <a:latin typeface="+mn-ea"/>
              </a:endParaRP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934876A7-098A-424C-8A5A-E808DCC103ED}"/>
                </a:ext>
              </a:extLst>
            </p:cNvPr>
            <p:cNvSpPr/>
            <p:nvPr/>
          </p:nvSpPr>
          <p:spPr>
            <a:xfrm rot="4320000">
              <a:off x="6941110" y="3570574"/>
              <a:ext cx="1172584" cy="117258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>
                <a:latin typeface="+mn-ea"/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786AF4AF-8801-4250-B658-5E0AE45CCF37}"/>
                </a:ext>
              </a:extLst>
            </p:cNvPr>
            <p:cNvSpPr/>
            <p:nvPr/>
          </p:nvSpPr>
          <p:spPr>
            <a:xfrm rot="8640000">
              <a:off x="6402801" y="5227318"/>
              <a:ext cx="1172584" cy="117258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>
                <a:latin typeface="+mn-ea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25297725-B13D-4C46-945B-C9B78570365A}"/>
                </a:ext>
              </a:extLst>
            </p:cNvPr>
            <p:cNvSpPr/>
            <p:nvPr/>
          </p:nvSpPr>
          <p:spPr>
            <a:xfrm rot="12960000">
              <a:off x="4660797" y="5227318"/>
              <a:ext cx="1172584" cy="117258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b="1" dirty="0">
                <a:latin typeface="+mn-ea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950603B3-0994-4BCE-9B92-45AB30A66886}"/>
                </a:ext>
              </a:extLst>
            </p:cNvPr>
            <p:cNvSpPr txBox="1"/>
            <p:nvPr/>
          </p:nvSpPr>
          <p:spPr>
            <a:xfrm>
              <a:off x="5584073" y="2807802"/>
              <a:ext cx="108006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b="1" dirty="0">
                  <a:solidFill>
                    <a:schemeClr val="bg1"/>
                  </a:solidFill>
                  <a:latin typeface="+mn-ea"/>
                </a:rPr>
                <a:t>接口</a:t>
              </a:r>
              <a:endParaRPr lang="en-US" altLang="zh-CN" sz="1800" b="1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lang="zh-CN" altLang="en-US" sz="1800" b="1" dirty="0">
                  <a:solidFill>
                    <a:schemeClr val="bg1"/>
                  </a:solidFill>
                  <a:latin typeface="+mn-ea"/>
                </a:rPr>
                <a:t>丢包率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10D8098A-FC56-4C61-8E89-452BE446F4A5}"/>
                </a:ext>
              </a:extLst>
            </p:cNvPr>
            <p:cNvSpPr txBox="1"/>
            <p:nvPr/>
          </p:nvSpPr>
          <p:spPr>
            <a:xfrm>
              <a:off x="6989093" y="3833700"/>
              <a:ext cx="108006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b="1" dirty="0">
                  <a:solidFill>
                    <a:schemeClr val="bg1"/>
                  </a:solidFill>
                  <a:latin typeface="+mn-ea"/>
                </a:rPr>
                <a:t>节点</a:t>
              </a:r>
              <a:endParaRPr lang="en-US" altLang="zh-CN" sz="1800" b="1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lang="zh-CN" altLang="en-US" sz="1800" b="1" dirty="0">
                  <a:solidFill>
                    <a:schemeClr val="bg1"/>
                  </a:solidFill>
                  <a:latin typeface="+mn-ea"/>
                </a:rPr>
                <a:t>丢包率</a:t>
              </a: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4E8B6623-0326-4644-BEF1-FBD4205E73D6}"/>
                </a:ext>
              </a:extLst>
            </p:cNvPr>
            <p:cNvSpPr txBox="1"/>
            <p:nvPr/>
          </p:nvSpPr>
          <p:spPr>
            <a:xfrm>
              <a:off x="6449058" y="5490444"/>
              <a:ext cx="108006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b="1" dirty="0">
                  <a:solidFill>
                    <a:schemeClr val="bg1"/>
                  </a:solidFill>
                  <a:latin typeface="+mn-ea"/>
                </a:rPr>
                <a:t>链路</a:t>
              </a:r>
              <a:endParaRPr lang="en-US" altLang="zh-CN" sz="1800" b="1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lang="zh-CN" altLang="en-US" sz="1800" b="1" dirty="0">
                  <a:solidFill>
                    <a:schemeClr val="bg1"/>
                  </a:solidFill>
                  <a:latin typeface="+mn-ea"/>
                </a:rPr>
                <a:t>丢包率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379CE5B-9377-4CC2-BD8B-FBD829D1BDE8}"/>
                </a:ext>
              </a:extLst>
            </p:cNvPr>
            <p:cNvSpPr txBox="1"/>
            <p:nvPr/>
          </p:nvSpPr>
          <p:spPr>
            <a:xfrm>
              <a:off x="4707054" y="5487501"/>
              <a:ext cx="108006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800" b="1" dirty="0">
                  <a:solidFill>
                    <a:schemeClr val="bg1"/>
                  </a:solidFill>
                  <a:latin typeface="+mn-ea"/>
                </a:rPr>
                <a:t>路径</a:t>
              </a:r>
              <a:endParaRPr lang="en-US" altLang="zh-CN" sz="1800" b="1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lang="zh-CN" altLang="en-US" sz="1800" b="1" dirty="0">
                  <a:solidFill>
                    <a:schemeClr val="bg1"/>
                  </a:solidFill>
                  <a:latin typeface="+mn-ea"/>
                </a:rPr>
                <a:t>丢包率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9CBA098C-4265-4E6F-8345-4735E7B5B879}"/>
                </a:ext>
              </a:extLst>
            </p:cNvPr>
            <p:cNvSpPr txBox="1"/>
            <p:nvPr/>
          </p:nvSpPr>
          <p:spPr>
            <a:xfrm>
              <a:off x="4156840" y="3833700"/>
              <a:ext cx="108006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ea"/>
                </a:rPr>
                <a:t>网络</a:t>
              </a:r>
              <a:endParaRPr lang="en-US" altLang="zh-CN" sz="1800" b="1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lang="zh-CN" altLang="en-US" sz="1800" b="1" dirty="0">
                  <a:solidFill>
                    <a:schemeClr val="bg1"/>
                  </a:solidFill>
                  <a:latin typeface="+mn-ea"/>
                </a:rPr>
                <a:t>丢包率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3531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4" grpId="0" animBg="1"/>
      <p:bldP spid="4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计算机网络的性能指标</a:t>
              </a:r>
            </a:p>
          </p:txBody>
        </p:sp>
      </p:grpSp>
      <p:sp>
        <p:nvSpPr>
          <p:cNvPr id="86" name="îṡ1îḑè">
            <a:extLst>
              <a:ext uri="{FF2B5EF4-FFF2-40B4-BE49-F238E27FC236}">
                <a16:creationId xmlns:a16="http://schemas.microsoft.com/office/drawing/2014/main" id="{A803C2F9-4FBB-4C35-AC3F-2B77804282A2}"/>
              </a:ext>
            </a:extLst>
          </p:cNvPr>
          <p:cNvSpPr/>
          <p:nvPr/>
        </p:nvSpPr>
        <p:spPr>
          <a:xfrm>
            <a:off x="3048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速率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7" name="îṧḻîḍê">
            <a:extLst>
              <a:ext uri="{FF2B5EF4-FFF2-40B4-BE49-F238E27FC236}">
                <a16:creationId xmlns:a16="http://schemas.microsoft.com/office/drawing/2014/main" id="{DFA6F1EB-29D9-4A75-B24E-7FE2E4C0E97D}"/>
              </a:ext>
            </a:extLst>
          </p:cNvPr>
          <p:cNvSpPr/>
          <p:nvPr/>
        </p:nvSpPr>
        <p:spPr>
          <a:xfrm>
            <a:off x="17688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带宽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88" name="iṡlíďè">
            <a:extLst>
              <a:ext uri="{FF2B5EF4-FFF2-40B4-BE49-F238E27FC236}">
                <a16:creationId xmlns:a16="http://schemas.microsoft.com/office/drawing/2014/main" id="{C52BE881-D827-42B9-AFCD-BFDFE2366E21}"/>
              </a:ext>
            </a:extLst>
          </p:cNvPr>
          <p:cNvSpPr/>
          <p:nvPr/>
        </p:nvSpPr>
        <p:spPr>
          <a:xfrm>
            <a:off x="32328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rgbClr val="FFFFFF"/>
                </a:solidFill>
              </a:rPr>
              <a:t>吞吐量</a:t>
            </a:r>
            <a:endParaRPr lang="en-GB" b="1" dirty="0">
              <a:solidFill>
                <a:srgbClr val="FFFFFF"/>
              </a:solidFill>
            </a:endParaRPr>
          </a:p>
        </p:txBody>
      </p:sp>
      <p:sp>
        <p:nvSpPr>
          <p:cNvPr id="89" name="iṥľïdè">
            <a:extLst>
              <a:ext uri="{FF2B5EF4-FFF2-40B4-BE49-F238E27FC236}">
                <a16:creationId xmlns:a16="http://schemas.microsoft.com/office/drawing/2014/main" id="{7E37DD0B-57D9-45E4-B3AD-EEEB679EF75E}"/>
              </a:ext>
            </a:extLst>
          </p:cNvPr>
          <p:cNvSpPr/>
          <p:nvPr/>
        </p:nvSpPr>
        <p:spPr>
          <a:xfrm>
            <a:off x="469687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0" name="îśľîḍé">
            <a:extLst>
              <a:ext uri="{FF2B5EF4-FFF2-40B4-BE49-F238E27FC236}">
                <a16:creationId xmlns:a16="http://schemas.microsoft.com/office/drawing/2014/main" id="{67EBD377-E6A9-419F-9713-92993F43A27E}"/>
              </a:ext>
            </a:extLst>
          </p:cNvPr>
          <p:cNvSpPr/>
          <p:nvPr/>
        </p:nvSpPr>
        <p:spPr>
          <a:xfrm>
            <a:off x="7624925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往返时间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1" name="îśľîḍé">
            <a:extLst>
              <a:ext uri="{FF2B5EF4-FFF2-40B4-BE49-F238E27FC236}">
                <a16:creationId xmlns:a16="http://schemas.microsoft.com/office/drawing/2014/main" id="{01D6FD95-2A4C-4A1F-ADAA-E06A0DB2334E}"/>
              </a:ext>
            </a:extLst>
          </p:cNvPr>
          <p:cNvSpPr/>
          <p:nvPr/>
        </p:nvSpPr>
        <p:spPr>
          <a:xfrm>
            <a:off x="616090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时延带宽积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2" name="îśľîḍé">
            <a:extLst>
              <a:ext uri="{FF2B5EF4-FFF2-40B4-BE49-F238E27FC236}">
                <a16:creationId xmlns:a16="http://schemas.microsoft.com/office/drawing/2014/main" id="{D196E2C0-5678-4A32-8DE3-2A8BA36E0749}"/>
              </a:ext>
            </a:extLst>
          </p:cNvPr>
          <p:cNvSpPr/>
          <p:nvPr/>
        </p:nvSpPr>
        <p:spPr>
          <a:xfrm>
            <a:off x="9088950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利用率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93" name="îśľîḍé">
            <a:extLst>
              <a:ext uri="{FF2B5EF4-FFF2-40B4-BE49-F238E27FC236}">
                <a16:creationId xmlns:a16="http://schemas.microsoft.com/office/drawing/2014/main" id="{9010AC37-690A-4F23-99A9-04A6AEEBAC9D}"/>
              </a:ext>
            </a:extLst>
          </p:cNvPr>
          <p:cNvSpPr/>
          <p:nvPr/>
        </p:nvSpPr>
        <p:spPr>
          <a:xfrm>
            <a:off x="10552974" y="1299908"/>
            <a:ext cx="1334228" cy="48260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bg2">
                <a:lumMod val="90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丢包率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4" name="îśľîḍé">
            <a:extLst>
              <a:ext uri="{FF2B5EF4-FFF2-40B4-BE49-F238E27FC236}">
                <a16:creationId xmlns:a16="http://schemas.microsoft.com/office/drawing/2014/main" id="{66A7D740-2B8E-4682-8E8B-8E6742A7FCEA}"/>
              </a:ext>
            </a:extLst>
          </p:cNvPr>
          <p:cNvSpPr/>
          <p:nvPr/>
        </p:nvSpPr>
        <p:spPr>
          <a:xfrm>
            <a:off x="10552974" y="1299908"/>
            <a:ext cx="1334228" cy="4826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3">
                <a:lumMod val="75000"/>
                <a:alpha val="3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914354"/>
            <a:r>
              <a:rPr lang="zh-CN" altLang="en-US" b="1" dirty="0">
                <a:solidFill>
                  <a:schemeClr val="bg1"/>
                </a:solidFill>
              </a:rPr>
              <a:t>丢包率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97F4305-30DC-467B-A7EE-F4F54983146A}"/>
              </a:ext>
            </a:extLst>
          </p:cNvPr>
          <p:cNvSpPr/>
          <p:nvPr/>
        </p:nvSpPr>
        <p:spPr>
          <a:xfrm>
            <a:off x="933106" y="1974735"/>
            <a:ext cx="300790" cy="30079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íşlïḍè">
            <a:extLst>
              <a:ext uri="{FF2B5EF4-FFF2-40B4-BE49-F238E27FC236}">
                <a16:creationId xmlns:a16="http://schemas.microsoft.com/office/drawing/2014/main" id="{FE6B1660-641C-40D4-9897-6CA4F8457B02}"/>
              </a:ext>
            </a:extLst>
          </p:cNvPr>
          <p:cNvSpPr txBox="1"/>
          <p:nvPr/>
        </p:nvSpPr>
        <p:spPr>
          <a:xfrm>
            <a:off x="1318660" y="1904823"/>
            <a:ext cx="3769707" cy="48260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/>
              <a:t>分组丢失主要有以下两种情况：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D30F593-61D2-46E1-B5D3-A946C20A781F}"/>
              </a:ext>
            </a:extLst>
          </p:cNvPr>
          <p:cNvSpPr/>
          <p:nvPr/>
        </p:nvSpPr>
        <p:spPr>
          <a:xfrm>
            <a:off x="1383271" y="2457336"/>
            <a:ext cx="300790" cy="30079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íşlïḍè">
            <a:extLst>
              <a:ext uri="{FF2B5EF4-FFF2-40B4-BE49-F238E27FC236}">
                <a16:creationId xmlns:a16="http://schemas.microsoft.com/office/drawing/2014/main" id="{01EFDF89-7423-4840-BC16-61E9F2A31D97}"/>
              </a:ext>
            </a:extLst>
          </p:cNvPr>
          <p:cNvSpPr txBox="1"/>
          <p:nvPr/>
        </p:nvSpPr>
        <p:spPr>
          <a:xfrm>
            <a:off x="1768825" y="2395842"/>
            <a:ext cx="9937901" cy="678723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/>
              <a:t>分组在传输过程中出现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误码</a:t>
            </a:r>
            <a:r>
              <a:rPr lang="zh-CN" altLang="en-US" sz="2000" b="1" dirty="0"/>
              <a:t>，被传输路径中的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节点交换机</a:t>
            </a:r>
            <a:r>
              <a:rPr lang="zh-CN" altLang="en-US" sz="2000" b="1" dirty="0"/>
              <a:t>（例如路由器）或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目的主机</a:t>
            </a:r>
            <a:r>
              <a:rPr lang="zh-CN" altLang="en-US" sz="2000" b="1" dirty="0"/>
              <a:t>检测出误码而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丢弃</a:t>
            </a:r>
            <a:r>
              <a:rPr lang="zh-CN" altLang="en-US" sz="2000" b="1" dirty="0"/>
              <a:t>。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03C566EA-FD25-442D-96CB-9911D8CA71B4}"/>
              </a:ext>
            </a:extLst>
          </p:cNvPr>
          <p:cNvSpPr/>
          <p:nvPr/>
        </p:nvSpPr>
        <p:spPr>
          <a:xfrm>
            <a:off x="1383271" y="3232011"/>
            <a:ext cx="300790" cy="30079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íşlïḍè">
            <a:extLst>
              <a:ext uri="{FF2B5EF4-FFF2-40B4-BE49-F238E27FC236}">
                <a16:creationId xmlns:a16="http://schemas.microsoft.com/office/drawing/2014/main" id="{09F8DDA7-CA3D-4571-BD54-99139897C758}"/>
              </a:ext>
            </a:extLst>
          </p:cNvPr>
          <p:cNvSpPr txBox="1"/>
          <p:nvPr/>
        </p:nvSpPr>
        <p:spPr>
          <a:xfrm>
            <a:off x="1768825" y="3158485"/>
            <a:ext cx="4728319" cy="43316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/>
              <a:t>节点交换机根据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丢弃策略</a:t>
            </a:r>
            <a:r>
              <a:rPr lang="zh-CN" altLang="en-US" sz="2000" b="1" dirty="0"/>
              <a:t>主动丢弃分组。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18EED24-EDE4-49B2-B86B-E0AA5A50C85C}"/>
              </a:ext>
            </a:extLst>
          </p:cNvPr>
          <p:cNvSpPr/>
          <p:nvPr/>
        </p:nvSpPr>
        <p:spPr>
          <a:xfrm>
            <a:off x="933106" y="3891743"/>
            <a:ext cx="300790" cy="30079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íşlïḍè">
            <a:extLst>
              <a:ext uri="{FF2B5EF4-FFF2-40B4-BE49-F238E27FC236}">
                <a16:creationId xmlns:a16="http://schemas.microsoft.com/office/drawing/2014/main" id="{CFBFDDC9-A54E-43F5-9699-9FB111D568C5}"/>
              </a:ext>
            </a:extLst>
          </p:cNvPr>
          <p:cNvSpPr txBox="1"/>
          <p:nvPr/>
        </p:nvSpPr>
        <p:spPr>
          <a:xfrm>
            <a:off x="1318660" y="3821831"/>
            <a:ext cx="3769707" cy="48260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/>
              <a:t>丢包率可以反映网络的拥塞情况：</a:t>
            </a:r>
            <a:endParaRPr lang="en-US" altLang="zh-CN" sz="2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F00D71EC-0037-45E7-B146-CC56E9E2718A}"/>
              </a:ext>
            </a:extLst>
          </p:cNvPr>
          <p:cNvSpPr/>
          <p:nvPr/>
        </p:nvSpPr>
        <p:spPr>
          <a:xfrm>
            <a:off x="1383271" y="4374344"/>
            <a:ext cx="300790" cy="30079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íşlïḍè">
            <a:extLst>
              <a:ext uri="{FF2B5EF4-FFF2-40B4-BE49-F238E27FC236}">
                <a16:creationId xmlns:a16="http://schemas.microsoft.com/office/drawing/2014/main" id="{29EA4734-852A-464D-A460-FC9BED856A81}"/>
              </a:ext>
            </a:extLst>
          </p:cNvPr>
          <p:cNvSpPr txBox="1"/>
          <p:nvPr/>
        </p:nvSpPr>
        <p:spPr>
          <a:xfrm>
            <a:off x="1768826" y="4312850"/>
            <a:ext cx="2928050" cy="48260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/>
              <a:t>无拥塞时路径丢包率为</a:t>
            </a:r>
            <a:r>
              <a:rPr lang="en-US" altLang="zh-CN" sz="2000" b="1" dirty="0"/>
              <a:t>0</a:t>
            </a:r>
            <a:r>
              <a:rPr lang="zh-CN" altLang="en-US" sz="2000" b="1" dirty="0"/>
              <a:t>。</a:t>
            </a:r>
            <a:endParaRPr lang="en-US" altLang="zh-CN" sz="2000" b="1" dirty="0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A536BA07-9763-490A-B69A-06EFDE1740AD}"/>
              </a:ext>
            </a:extLst>
          </p:cNvPr>
          <p:cNvSpPr/>
          <p:nvPr/>
        </p:nvSpPr>
        <p:spPr>
          <a:xfrm>
            <a:off x="1383276" y="4926857"/>
            <a:ext cx="300790" cy="30079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íşlïḍè">
            <a:extLst>
              <a:ext uri="{FF2B5EF4-FFF2-40B4-BE49-F238E27FC236}">
                <a16:creationId xmlns:a16="http://schemas.microsoft.com/office/drawing/2014/main" id="{52BF0223-3058-40A5-B894-E27FDB73C39F}"/>
              </a:ext>
            </a:extLst>
          </p:cNvPr>
          <p:cNvSpPr txBox="1"/>
          <p:nvPr/>
        </p:nvSpPr>
        <p:spPr>
          <a:xfrm>
            <a:off x="1768831" y="4865363"/>
            <a:ext cx="6256232" cy="48260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/>
              <a:t>轻度拥塞时路径丢包率为</a:t>
            </a:r>
            <a:r>
              <a:rPr lang="en-US" altLang="zh-CN" sz="2000" b="1" dirty="0"/>
              <a:t>1%~4%</a:t>
            </a:r>
            <a:r>
              <a:rPr lang="zh-CN" altLang="en-US" sz="2000" b="1" dirty="0"/>
              <a:t>。</a:t>
            </a:r>
            <a:endParaRPr lang="en-US" altLang="zh-CN" sz="2000" b="1" dirty="0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F1CFAA48-75A9-4900-8C5B-00DBA8C16BBD}"/>
              </a:ext>
            </a:extLst>
          </p:cNvPr>
          <p:cNvSpPr/>
          <p:nvPr/>
        </p:nvSpPr>
        <p:spPr>
          <a:xfrm>
            <a:off x="1383270" y="5479370"/>
            <a:ext cx="300790" cy="30079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íşlïḍè">
            <a:extLst>
              <a:ext uri="{FF2B5EF4-FFF2-40B4-BE49-F238E27FC236}">
                <a16:creationId xmlns:a16="http://schemas.microsoft.com/office/drawing/2014/main" id="{29AD74DA-E529-4EC4-A1D4-9BA963F27F7F}"/>
              </a:ext>
            </a:extLst>
          </p:cNvPr>
          <p:cNvSpPr txBox="1"/>
          <p:nvPr/>
        </p:nvSpPr>
        <p:spPr>
          <a:xfrm>
            <a:off x="1768824" y="5417876"/>
            <a:ext cx="5257617" cy="48260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sz="2000" b="1" dirty="0"/>
              <a:t>严重拥塞时路径丢包率为</a:t>
            </a:r>
            <a:r>
              <a:rPr lang="en-US" altLang="zh-CN" sz="2000" b="1" dirty="0"/>
              <a:t>5%~15%</a:t>
            </a:r>
            <a:r>
              <a:rPr lang="zh-CN" altLang="en-US" sz="2000" b="1" dirty="0"/>
              <a:t>。</a:t>
            </a:r>
            <a:endParaRPr lang="en-US" altLang="zh-CN" sz="20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255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6" grpId="0"/>
      <p:bldP spid="57" grpId="0" animBg="1"/>
      <p:bldP spid="81" grpId="0"/>
      <p:bldP spid="82" grpId="0" animBg="1"/>
      <p:bldP spid="83" grpId="0"/>
      <p:bldP spid="84" grpId="0" animBg="1"/>
      <p:bldP spid="85" grpId="0"/>
      <p:bldP spid="94" grpId="0" animBg="1"/>
      <p:bldP spid="95" grpId="0"/>
      <p:bldP spid="98" grpId="0" animBg="1"/>
      <p:bldP spid="99" grpId="0"/>
      <p:bldP spid="100" grpId="0" animBg="1"/>
      <p:bldP spid="10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638DE4A7-8D43-4E38-AFE9-5E046B246C44}"/>
              </a:ext>
            </a:extLst>
          </p:cNvPr>
          <p:cNvGrpSpPr/>
          <p:nvPr/>
        </p:nvGrpSpPr>
        <p:grpSpPr>
          <a:xfrm>
            <a:off x="2888887" y="1297017"/>
            <a:ext cx="8581905" cy="3043125"/>
            <a:chOff x="2888887" y="1297017"/>
            <a:chExt cx="8581905" cy="3043125"/>
          </a:xfrm>
          <a:solidFill>
            <a:schemeClr val="bg2">
              <a:lumMod val="90000"/>
            </a:schemeClr>
          </a:solidFill>
        </p:grpSpPr>
        <p:sp>
          <p:nvSpPr>
            <p:cNvPr id="136" name="等腰三角形 135">
              <a:extLst>
                <a:ext uri="{FF2B5EF4-FFF2-40B4-BE49-F238E27FC236}">
                  <a16:creationId xmlns:a16="http://schemas.microsoft.com/office/drawing/2014/main" id="{60EE8779-1F9E-41F8-808A-EAC20B69A163}"/>
                </a:ext>
              </a:extLst>
            </p:cNvPr>
            <p:cNvSpPr/>
            <p:nvPr/>
          </p:nvSpPr>
          <p:spPr>
            <a:xfrm rot="10800000">
              <a:off x="2888887" y="1991293"/>
              <a:ext cx="8581905" cy="23488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8C96490-F9E2-49A5-A039-9D6CD36AA576}"/>
                </a:ext>
              </a:extLst>
            </p:cNvPr>
            <p:cNvSpPr txBox="1"/>
            <p:nvPr/>
          </p:nvSpPr>
          <p:spPr>
            <a:xfrm>
              <a:off x="4380662" y="1297017"/>
              <a:ext cx="559835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lang="zh-CN" altLang="en-US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协议可以为各种网络应用提供服务</a:t>
              </a:r>
              <a:endParaRPr lang="en-US" altLang="zh-CN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(Everything over IP)</a:t>
              </a:r>
            </a:p>
            <a:p>
              <a:pPr algn="ctr"/>
              <a:endParaRPr lang="zh-CN" altLang="en-US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334AA542-A40A-4E7E-AF35-05BA8B477E78}"/>
              </a:ext>
            </a:extLst>
          </p:cNvPr>
          <p:cNvGrpSpPr/>
          <p:nvPr/>
        </p:nvGrpSpPr>
        <p:grpSpPr>
          <a:xfrm>
            <a:off x="2776773" y="3332183"/>
            <a:ext cx="8581905" cy="3032150"/>
            <a:chOff x="2776773" y="3332183"/>
            <a:chExt cx="8581905" cy="303215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37" name="等腰三角形 136">
              <a:extLst>
                <a:ext uri="{FF2B5EF4-FFF2-40B4-BE49-F238E27FC236}">
                  <a16:creationId xmlns:a16="http://schemas.microsoft.com/office/drawing/2014/main" id="{70B7C413-AAD0-4CA4-94BE-D4775E02F1DD}"/>
                </a:ext>
              </a:extLst>
            </p:cNvPr>
            <p:cNvSpPr/>
            <p:nvPr/>
          </p:nvSpPr>
          <p:spPr>
            <a:xfrm>
              <a:off x="2776773" y="3332183"/>
              <a:ext cx="8581905" cy="2285911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34A6668B-3AE0-4273-8810-834CB019B290}"/>
                </a:ext>
              </a:extLst>
            </p:cNvPr>
            <p:cNvSpPr txBox="1"/>
            <p:nvPr/>
          </p:nvSpPr>
          <p:spPr>
            <a:xfrm>
              <a:off x="4344881" y="5718002"/>
              <a:ext cx="5598354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lang="zh-CN" altLang="en-US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协议互连不同的网络接口</a:t>
              </a:r>
              <a:endParaRPr lang="en-US" altLang="zh-CN" b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over everything</a:t>
              </a:r>
              <a:r>
                <a:rPr lang="zh-CN" altLang="en-US" b="1" dirty="0">
                  <a:solidFill>
                    <a:schemeClr val="accent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8A3751B7-CAC9-4645-992F-01E72A2F5279}"/>
              </a:ext>
            </a:extLst>
          </p:cNvPr>
          <p:cNvGrpSpPr/>
          <p:nvPr/>
        </p:nvGrpSpPr>
        <p:grpSpPr>
          <a:xfrm>
            <a:off x="5008605" y="3117647"/>
            <a:ext cx="4294508" cy="344426"/>
            <a:chOff x="5008605" y="3117647"/>
            <a:chExt cx="4294508" cy="344426"/>
          </a:xfrm>
        </p:grpSpPr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7025A24E-1127-48C5-B642-199A225A8E61}"/>
                </a:ext>
              </a:extLst>
            </p:cNvPr>
            <p:cNvSpPr/>
            <p:nvPr/>
          </p:nvSpPr>
          <p:spPr>
            <a:xfrm>
              <a:off x="5008605" y="3117647"/>
              <a:ext cx="863622" cy="320897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ea typeface="微软雅黑" panose="020B0503020204020204" pitchFamily="34" charset="-122"/>
                </a:rPr>
                <a:t>TCP</a:t>
              </a:r>
              <a:endParaRPr lang="zh-CN" altLang="en-US" sz="2000" b="1" dirty="0">
                <a:ea typeface="微软雅黑" panose="020B0503020204020204" pitchFamily="34" charset="-122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0C185497-EE81-4764-869B-D986056BEB4D}"/>
                </a:ext>
              </a:extLst>
            </p:cNvPr>
            <p:cNvSpPr/>
            <p:nvPr/>
          </p:nvSpPr>
          <p:spPr>
            <a:xfrm>
              <a:off x="8439491" y="3141176"/>
              <a:ext cx="863622" cy="320897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ea typeface="微软雅黑" panose="020B0503020204020204" pitchFamily="34" charset="-122"/>
                </a:rPr>
                <a:t>UDP</a:t>
              </a:r>
              <a:endParaRPr lang="zh-CN" altLang="en-US" sz="2000" b="1" dirty="0">
                <a:ea typeface="微软雅黑" panose="020B0503020204020204" pitchFamily="34" charset="-122"/>
              </a:endParaRPr>
            </a:p>
          </p:txBody>
        </p:sp>
      </p:grpSp>
      <p:sp>
        <p:nvSpPr>
          <p:cNvPr id="87" name="矩形 86">
            <a:extLst>
              <a:ext uri="{FF2B5EF4-FFF2-40B4-BE49-F238E27FC236}">
                <a16:creationId xmlns:a16="http://schemas.microsoft.com/office/drawing/2014/main" id="{B1B0FF78-C664-41AD-9652-896033FDAF77}"/>
              </a:ext>
            </a:extLst>
          </p:cNvPr>
          <p:cNvSpPr/>
          <p:nvPr/>
        </p:nvSpPr>
        <p:spPr>
          <a:xfrm>
            <a:off x="6673159" y="4170225"/>
            <a:ext cx="941798" cy="320897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IP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503AA92F-709E-4293-8B80-D03012F438F4}"/>
              </a:ext>
            </a:extLst>
          </p:cNvPr>
          <p:cNvGrpSpPr/>
          <p:nvPr/>
        </p:nvGrpSpPr>
        <p:grpSpPr>
          <a:xfrm>
            <a:off x="4144983" y="1968305"/>
            <a:ext cx="6045354" cy="417661"/>
            <a:chOff x="4144983" y="1968305"/>
            <a:chExt cx="6045354" cy="417661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80F11C38-953A-4788-ADCB-227F280D198E}"/>
                </a:ext>
              </a:extLst>
            </p:cNvPr>
            <p:cNvSpPr/>
            <p:nvPr/>
          </p:nvSpPr>
          <p:spPr>
            <a:xfrm>
              <a:off x="4144983" y="2065069"/>
              <a:ext cx="863622" cy="3208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ea typeface="微软雅黑" panose="020B0503020204020204" pitchFamily="34" charset="-122"/>
                </a:rPr>
                <a:t>HTTP</a:t>
              </a:r>
              <a:endParaRPr lang="zh-CN" altLang="en-US" sz="2000" b="1" dirty="0">
                <a:ea typeface="微软雅黑" panose="020B0503020204020204" pitchFamily="34" charset="-122"/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33110D0F-0EDC-4E0E-98AF-CCB368C88EC0}"/>
                </a:ext>
              </a:extLst>
            </p:cNvPr>
            <p:cNvSpPr/>
            <p:nvPr/>
          </p:nvSpPr>
          <p:spPr>
            <a:xfrm>
              <a:off x="5872227" y="2065069"/>
              <a:ext cx="863622" cy="3208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ea typeface="微软雅黑" panose="020B0503020204020204" pitchFamily="34" charset="-122"/>
                </a:rPr>
                <a:t>SMTP</a:t>
              </a:r>
              <a:endParaRPr lang="zh-CN" altLang="en-US" sz="2000" b="1" dirty="0">
                <a:ea typeface="微软雅黑" panose="020B0503020204020204" pitchFamily="34" charset="-122"/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48F78090-5E08-49FB-971F-AC5F74CD6DC0}"/>
                </a:ext>
              </a:extLst>
            </p:cNvPr>
            <p:cNvSpPr/>
            <p:nvPr/>
          </p:nvSpPr>
          <p:spPr>
            <a:xfrm>
              <a:off x="7599471" y="2065069"/>
              <a:ext cx="863622" cy="3208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ea typeface="微软雅黑" panose="020B0503020204020204" pitchFamily="34" charset="-122"/>
                </a:rPr>
                <a:t>DNS</a:t>
              </a:r>
              <a:endParaRPr lang="zh-CN" altLang="en-US" sz="2000" b="1" dirty="0">
                <a:ea typeface="微软雅黑" panose="020B0503020204020204" pitchFamily="34" charset="-122"/>
              </a:endParaRP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E7055877-786E-47C0-BA79-3B9AD87EEE7B}"/>
                </a:ext>
              </a:extLst>
            </p:cNvPr>
            <p:cNvSpPr/>
            <p:nvPr/>
          </p:nvSpPr>
          <p:spPr>
            <a:xfrm>
              <a:off x="9326715" y="2065069"/>
              <a:ext cx="863622" cy="3208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ea typeface="微软雅黑" panose="020B0503020204020204" pitchFamily="34" charset="-122"/>
                </a:rPr>
                <a:t>RTP</a:t>
              </a:r>
              <a:endParaRPr lang="zh-CN" altLang="en-US" sz="2000" b="1" dirty="0">
                <a:ea typeface="微软雅黑" panose="020B0503020204020204" pitchFamily="34" charset="-122"/>
              </a:endParaRP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110D1F3A-EEC3-4F97-B0BB-D8787CF227C1}"/>
                </a:ext>
              </a:extLst>
            </p:cNvPr>
            <p:cNvSpPr txBox="1"/>
            <p:nvPr/>
          </p:nvSpPr>
          <p:spPr>
            <a:xfrm>
              <a:off x="4792699" y="1968305"/>
              <a:ext cx="1320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…</a:t>
              </a:r>
              <a:endParaRPr lang="zh-CN" altLang="en-US" b="1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7E9FE05D-609A-48F3-8769-455D6CBD8F2C}"/>
                </a:ext>
              </a:extLst>
            </p:cNvPr>
            <p:cNvSpPr txBox="1"/>
            <p:nvPr/>
          </p:nvSpPr>
          <p:spPr>
            <a:xfrm>
              <a:off x="8236559" y="1968305"/>
              <a:ext cx="1320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…</a:t>
              </a:r>
              <a:endParaRPr lang="zh-CN" altLang="en-US" b="1" dirty="0"/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026F8431-39C7-4DD5-897E-1A27FCDE459A}"/>
              </a:ext>
            </a:extLst>
          </p:cNvPr>
          <p:cNvGrpSpPr/>
          <p:nvPr/>
        </p:nvGrpSpPr>
        <p:grpSpPr>
          <a:xfrm>
            <a:off x="4132666" y="5170986"/>
            <a:ext cx="6034068" cy="372715"/>
            <a:chOff x="4132666" y="5170986"/>
            <a:chExt cx="6034068" cy="372715"/>
          </a:xfrm>
        </p:grpSpPr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CDF8BBEA-3C47-46AF-B3E9-616EF76D25AB}"/>
                </a:ext>
              </a:extLst>
            </p:cNvPr>
            <p:cNvGrpSpPr/>
            <p:nvPr/>
          </p:nvGrpSpPr>
          <p:grpSpPr>
            <a:xfrm>
              <a:off x="4132666" y="5222804"/>
              <a:ext cx="6034068" cy="320897"/>
              <a:chOff x="4132666" y="5222804"/>
              <a:chExt cx="6034068" cy="320897"/>
            </a:xfrm>
          </p:grpSpPr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7E938CDB-3B64-47BE-B503-7B2140C698D6}"/>
                  </a:ext>
                </a:extLst>
              </p:cNvPr>
              <p:cNvSpPr/>
              <p:nvPr/>
            </p:nvSpPr>
            <p:spPr>
              <a:xfrm>
                <a:off x="4132666" y="5222804"/>
                <a:ext cx="941798" cy="320897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以太网</a:t>
                </a:r>
              </a:p>
            </p:txBody>
          </p:sp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49CC8F0B-FC06-4418-98D6-003749D689FB}"/>
                  </a:ext>
                </a:extLst>
              </p:cNvPr>
              <p:cNvSpPr/>
              <p:nvPr/>
            </p:nvSpPr>
            <p:spPr>
              <a:xfrm>
                <a:off x="6673159" y="5222804"/>
                <a:ext cx="941798" cy="320897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000" b="1" dirty="0"/>
                  <a:t>Wi-Fi</a:t>
                </a:r>
                <a:endParaRPr lang="zh-CN" altLang="en-US" sz="2000" b="1" dirty="0"/>
              </a:p>
            </p:txBody>
          </p:sp>
          <p:sp>
            <p:nvSpPr>
              <p:cNvPr id="92" name="矩形 91">
                <a:extLst>
                  <a:ext uri="{FF2B5EF4-FFF2-40B4-BE49-F238E27FC236}">
                    <a16:creationId xmlns:a16="http://schemas.microsoft.com/office/drawing/2014/main" id="{49F37813-BABE-4EF4-A574-096103A1A216}"/>
                  </a:ext>
                </a:extLst>
              </p:cNvPr>
              <p:cNvSpPr/>
              <p:nvPr/>
            </p:nvSpPr>
            <p:spPr>
              <a:xfrm>
                <a:off x="9224936" y="5222804"/>
                <a:ext cx="941798" cy="320897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接口</a:t>
                </a:r>
                <a:r>
                  <a:rPr lang="en-US" altLang="zh-CN" b="1" dirty="0"/>
                  <a:t>n</a:t>
                </a:r>
                <a:endParaRPr lang="zh-CN" altLang="en-US" b="1" dirty="0"/>
              </a:p>
            </p:txBody>
          </p:sp>
        </p:grp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BE1F9251-C7E0-434D-B391-2E2D0E23AEBA}"/>
                </a:ext>
              </a:extLst>
            </p:cNvPr>
            <p:cNvSpPr txBox="1"/>
            <p:nvPr/>
          </p:nvSpPr>
          <p:spPr>
            <a:xfrm>
              <a:off x="7779091" y="5170986"/>
              <a:ext cx="1320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…</a:t>
              </a:r>
              <a:endParaRPr lang="zh-CN" altLang="en-US" b="1" dirty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常见的三种计算机网络体系结构</a:t>
              </a:r>
            </a:p>
          </p:txBody>
        </p: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EE98965E-A0B7-4348-8EE9-17893DC378AF}"/>
              </a:ext>
            </a:extLst>
          </p:cNvPr>
          <p:cNvGrpSpPr/>
          <p:nvPr/>
        </p:nvGrpSpPr>
        <p:grpSpPr>
          <a:xfrm>
            <a:off x="756177" y="1706812"/>
            <a:ext cx="1902744" cy="4651866"/>
            <a:chOff x="756177" y="1706812"/>
            <a:chExt cx="1902744" cy="4651866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63DEFACC-5158-4761-B797-1FBDEF61C2F7}"/>
                </a:ext>
              </a:extLst>
            </p:cNvPr>
            <p:cNvSpPr/>
            <p:nvPr/>
          </p:nvSpPr>
          <p:spPr>
            <a:xfrm>
              <a:off x="756177" y="4857653"/>
              <a:ext cx="1899920" cy="105120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网络接口层</a:t>
              </a: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2C806201-9623-4F64-935F-2E1EB9B56847}"/>
                </a:ext>
              </a:extLst>
            </p:cNvPr>
            <p:cNvSpPr/>
            <p:nvPr/>
          </p:nvSpPr>
          <p:spPr>
            <a:xfrm>
              <a:off x="756177" y="2753870"/>
              <a:ext cx="1899920" cy="105120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运输层</a:t>
              </a: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D366B7D8-9FB8-4B18-B433-2576FB0C13B7}"/>
                </a:ext>
              </a:extLst>
            </p:cNvPr>
            <p:cNvSpPr/>
            <p:nvPr/>
          </p:nvSpPr>
          <p:spPr>
            <a:xfrm>
              <a:off x="756177" y="3809869"/>
              <a:ext cx="1899920" cy="105120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网际层</a:t>
              </a: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EFA478C7-9178-4A17-8C4C-230F54D89DFA}"/>
                </a:ext>
              </a:extLst>
            </p:cNvPr>
            <p:cNvSpPr/>
            <p:nvPr/>
          </p:nvSpPr>
          <p:spPr>
            <a:xfrm>
              <a:off x="756177" y="1706812"/>
              <a:ext cx="1899920" cy="10512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应用层</a:t>
              </a: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B8F43D96-BE11-4361-ACF7-3BF2466C478E}"/>
                </a:ext>
              </a:extLst>
            </p:cNvPr>
            <p:cNvSpPr txBox="1"/>
            <p:nvPr/>
          </p:nvSpPr>
          <p:spPr>
            <a:xfrm>
              <a:off x="759001" y="5989346"/>
              <a:ext cx="18999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TCP/IP</a:t>
              </a:r>
              <a:r>
                <a:rPr lang="zh-CN" altLang="en-US" b="1" dirty="0"/>
                <a:t>体系结构</a:t>
              </a:r>
            </a:p>
          </p:txBody>
        </p:sp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5CF16394-3CB7-497C-AB1E-5B1B04D1C736}"/>
              </a:ext>
            </a:extLst>
          </p:cNvPr>
          <p:cNvGrpSpPr/>
          <p:nvPr/>
        </p:nvGrpSpPr>
        <p:grpSpPr>
          <a:xfrm>
            <a:off x="4576794" y="2385966"/>
            <a:ext cx="1727244" cy="730993"/>
            <a:chOff x="4576794" y="2385966"/>
            <a:chExt cx="1727244" cy="730993"/>
          </a:xfrm>
        </p:grpSpPr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5868696A-A764-45DC-A10C-1C7AC3017FA2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 flipH="1" flipV="1">
              <a:off x="4576794" y="2385966"/>
              <a:ext cx="431811" cy="73099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93">
              <a:extLst>
                <a:ext uri="{FF2B5EF4-FFF2-40B4-BE49-F238E27FC236}">
                  <a16:creationId xmlns:a16="http://schemas.microsoft.com/office/drawing/2014/main" id="{EE29FE9C-799C-4ABE-AEE8-B754C9239762}"/>
                </a:ext>
              </a:extLst>
            </p:cNvPr>
            <p:cNvCxnSpPr>
              <a:cxnSpLocks/>
              <a:endCxn id="82" idx="2"/>
            </p:cNvCxnSpPr>
            <p:nvPr/>
          </p:nvCxnSpPr>
          <p:spPr>
            <a:xfrm flipV="1">
              <a:off x="5872227" y="2385966"/>
              <a:ext cx="431811" cy="73099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1D910611-2B80-4990-9AD3-77BAFD830D28}"/>
              </a:ext>
            </a:extLst>
          </p:cNvPr>
          <p:cNvGrpSpPr/>
          <p:nvPr/>
        </p:nvGrpSpPr>
        <p:grpSpPr>
          <a:xfrm>
            <a:off x="8031282" y="2385966"/>
            <a:ext cx="1727244" cy="755210"/>
            <a:chOff x="8031282" y="2385966"/>
            <a:chExt cx="1727244" cy="755210"/>
          </a:xfrm>
        </p:grpSpPr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A26E2A4B-4725-4220-95DB-E762261BA6C8}"/>
                </a:ext>
              </a:extLst>
            </p:cNvPr>
            <p:cNvCxnSpPr>
              <a:cxnSpLocks/>
              <a:endCxn id="83" idx="2"/>
            </p:cNvCxnSpPr>
            <p:nvPr/>
          </p:nvCxnSpPr>
          <p:spPr>
            <a:xfrm flipH="1" flipV="1">
              <a:off x="8031282" y="2385966"/>
              <a:ext cx="408209" cy="75521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BE3C2BDF-7AD8-4EF7-8C96-65553F45B075}"/>
                </a:ext>
              </a:extLst>
            </p:cNvPr>
            <p:cNvCxnSpPr>
              <a:cxnSpLocks/>
              <a:endCxn id="84" idx="2"/>
            </p:cNvCxnSpPr>
            <p:nvPr/>
          </p:nvCxnSpPr>
          <p:spPr>
            <a:xfrm flipV="1">
              <a:off x="9303113" y="2385966"/>
              <a:ext cx="455413" cy="75521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40926BD3-6D39-4F0E-A099-DB2876CAD99A}"/>
              </a:ext>
            </a:extLst>
          </p:cNvPr>
          <p:cNvGrpSpPr/>
          <p:nvPr/>
        </p:nvGrpSpPr>
        <p:grpSpPr>
          <a:xfrm>
            <a:off x="5872227" y="3438544"/>
            <a:ext cx="2590866" cy="731682"/>
            <a:chOff x="5872227" y="3438544"/>
            <a:chExt cx="2590866" cy="731682"/>
          </a:xfrm>
        </p:grpSpPr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75B77DCA-6F0C-4C03-A3CF-8AECE6E9C8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2227" y="3438544"/>
              <a:ext cx="800932" cy="73168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EF9D17AE-8799-4A1C-B3F6-8E16077171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14957" y="3462073"/>
              <a:ext cx="848136" cy="70815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368B5455-CF1A-40DB-B8F6-29F70B7712E6}"/>
              </a:ext>
            </a:extLst>
          </p:cNvPr>
          <p:cNvGrpSpPr/>
          <p:nvPr/>
        </p:nvGrpSpPr>
        <p:grpSpPr>
          <a:xfrm>
            <a:off x="5074464" y="4491122"/>
            <a:ext cx="4150472" cy="731682"/>
            <a:chOff x="5074464" y="4491122"/>
            <a:chExt cx="4150472" cy="731682"/>
          </a:xfrm>
        </p:grpSpPr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B60413BC-12D9-4D72-9BFB-F9EF3EDA5F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14957" y="4491122"/>
              <a:ext cx="1609979" cy="73168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30B2D227-B5EA-4369-AC75-21E5307C6051}"/>
                </a:ext>
              </a:extLst>
            </p:cNvPr>
            <p:cNvCxnSpPr>
              <a:cxnSpLocks/>
              <a:stCxn id="91" idx="0"/>
              <a:endCxn id="87" idx="2"/>
            </p:cNvCxnSpPr>
            <p:nvPr/>
          </p:nvCxnSpPr>
          <p:spPr>
            <a:xfrm flipV="1">
              <a:off x="7144058" y="4491122"/>
              <a:ext cx="0" cy="73168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70E95B8B-F5E5-46CB-9BBB-5422887FE0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4464" y="4491122"/>
              <a:ext cx="1609979" cy="73168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9369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192344" cy="400110"/>
            <a:chOff x="424117" y="898245"/>
            <a:chExt cx="619234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628306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01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05242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常见的三种计算机网络体系结构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C15A15CD-6A17-25DC-B209-6750831A2890}"/>
              </a:ext>
            </a:extLst>
          </p:cNvPr>
          <p:cNvGrpSpPr/>
          <p:nvPr/>
        </p:nvGrpSpPr>
        <p:grpSpPr>
          <a:xfrm>
            <a:off x="894080" y="1770291"/>
            <a:ext cx="10312398" cy="4390729"/>
            <a:chOff x="894080" y="1770291"/>
            <a:chExt cx="10312398" cy="4390729"/>
          </a:xfrm>
        </p:grpSpPr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15CD67D2-61E2-41CD-8EE2-9C4DC0DA1BA3}"/>
                </a:ext>
              </a:extLst>
            </p:cNvPr>
            <p:cNvSpPr/>
            <p:nvPr/>
          </p:nvSpPr>
          <p:spPr>
            <a:xfrm>
              <a:off x="9244790" y="5222720"/>
              <a:ext cx="1961688" cy="51187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物理层</a:t>
              </a: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A8059E87-9DE8-4C6C-9C32-2D7604566104}"/>
                </a:ext>
              </a:extLst>
            </p:cNvPr>
            <p:cNvSpPr/>
            <p:nvPr/>
          </p:nvSpPr>
          <p:spPr>
            <a:xfrm>
              <a:off x="9244789" y="3685660"/>
              <a:ext cx="1961688" cy="51187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运输层</a:t>
              </a: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A673BEA0-59F0-4AE4-85D2-28550307A22A}"/>
                </a:ext>
              </a:extLst>
            </p:cNvPr>
            <p:cNvSpPr/>
            <p:nvPr/>
          </p:nvSpPr>
          <p:spPr>
            <a:xfrm>
              <a:off x="9244790" y="4198980"/>
              <a:ext cx="1961688" cy="51187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网络层</a:t>
              </a: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3B80BF63-A646-43CA-8EB8-A2FDD31296C5}"/>
                </a:ext>
              </a:extLst>
            </p:cNvPr>
            <p:cNvSpPr/>
            <p:nvPr/>
          </p:nvSpPr>
          <p:spPr>
            <a:xfrm>
              <a:off x="9244790" y="4710850"/>
              <a:ext cx="1961688" cy="51187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数据链路层</a:t>
              </a: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0E0251D2-508B-41C9-88D2-50D1A38E7322}"/>
                </a:ext>
              </a:extLst>
            </p:cNvPr>
            <p:cNvSpPr/>
            <p:nvPr/>
          </p:nvSpPr>
          <p:spPr>
            <a:xfrm>
              <a:off x="9244788" y="3172223"/>
              <a:ext cx="1961688" cy="51187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应用层</a:t>
              </a:r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57D018CF-554B-463E-8547-414F523E9C84}"/>
                </a:ext>
              </a:extLst>
            </p:cNvPr>
            <p:cNvSpPr txBox="1"/>
            <p:nvPr/>
          </p:nvSpPr>
          <p:spPr>
            <a:xfrm>
              <a:off x="9244788" y="2796451"/>
              <a:ext cx="1961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原理参考模型</a:t>
              </a: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34DD493E-77EA-4A6F-8E7F-816BC55558CA}"/>
                </a:ext>
              </a:extLst>
            </p:cNvPr>
            <p:cNvSpPr txBox="1"/>
            <p:nvPr/>
          </p:nvSpPr>
          <p:spPr>
            <a:xfrm>
              <a:off x="9244788" y="5791688"/>
              <a:ext cx="1961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适于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教学</a:t>
              </a:r>
              <a:endParaRPr lang="zh-CN" altLang="en-US" b="1" dirty="0"/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5DCA0F87-0FF4-4849-B15D-761BFB5EF700}"/>
                </a:ext>
              </a:extLst>
            </p:cNvPr>
            <p:cNvGrpSpPr/>
            <p:nvPr/>
          </p:nvGrpSpPr>
          <p:grpSpPr>
            <a:xfrm>
              <a:off x="894080" y="1770291"/>
              <a:ext cx="6091324" cy="4390729"/>
              <a:chOff x="894080" y="1770291"/>
              <a:chExt cx="6091324" cy="4390729"/>
            </a:xfrm>
          </p:grpSpPr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0D98E50A-B025-4F22-86E2-127B448F9B08}"/>
                  </a:ext>
                </a:extLst>
              </p:cNvPr>
              <p:cNvSpPr/>
              <p:nvPr/>
            </p:nvSpPr>
            <p:spPr>
              <a:xfrm>
                <a:off x="894082" y="5222720"/>
                <a:ext cx="1961688" cy="511870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物理层</a:t>
                </a:r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04E517D6-606E-45F7-A224-CC6712B061E0}"/>
                  </a:ext>
                </a:extLst>
              </p:cNvPr>
              <p:cNvSpPr/>
              <p:nvPr/>
            </p:nvSpPr>
            <p:spPr>
              <a:xfrm>
                <a:off x="894081" y="3685660"/>
                <a:ext cx="1961688" cy="511870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运输层</a:t>
                </a:r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9CFCCD46-B004-4AD7-8260-5D2CD9983407}"/>
                  </a:ext>
                </a:extLst>
              </p:cNvPr>
              <p:cNvSpPr/>
              <p:nvPr/>
            </p:nvSpPr>
            <p:spPr>
              <a:xfrm>
                <a:off x="894082" y="4198980"/>
                <a:ext cx="1961688" cy="51187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网络层</a:t>
                </a:r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6848752C-BC06-4823-ADBD-01AC5A389767}"/>
                  </a:ext>
                </a:extLst>
              </p:cNvPr>
              <p:cNvSpPr/>
              <p:nvPr/>
            </p:nvSpPr>
            <p:spPr>
              <a:xfrm>
                <a:off x="894082" y="4710850"/>
                <a:ext cx="1961688" cy="511870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数据链路层</a:t>
                </a:r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F3D89EE7-2454-4853-9C51-9680F1D2282D}"/>
                  </a:ext>
                </a:extLst>
              </p:cNvPr>
              <p:cNvSpPr/>
              <p:nvPr/>
            </p:nvSpPr>
            <p:spPr>
              <a:xfrm>
                <a:off x="894080" y="2146063"/>
                <a:ext cx="1961688" cy="511870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应用层</a:t>
                </a:r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185B8B9F-4906-409B-89E1-813F4DC62050}"/>
                  </a:ext>
                </a:extLst>
              </p:cNvPr>
              <p:cNvSpPr/>
              <p:nvPr/>
            </p:nvSpPr>
            <p:spPr>
              <a:xfrm>
                <a:off x="894080" y="3173065"/>
                <a:ext cx="1961688" cy="51187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会话层</a:t>
                </a:r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D0665C3C-039B-4F82-A220-C442DDF548D0}"/>
                  </a:ext>
                </a:extLst>
              </p:cNvPr>
              <p:cNvSpPr/>
              <p:nvPr/>
            </p:nvSpPr>
            <p:spPr>
              <a:xfrm>
                <a:off x="894080" y="2659020"/>
                <a:ext cx="1961688" cy="511870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表示层</a:t>
                </a:r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78B2BFD4-5542-48EC-8137-C4947898A70E}"/>
                  </a:ext>
                </a:extLst>
              </p:cNvPr>
              <p:cNvSpPr txBox="1"/>
              <p:nvPr/>
            </p:nvSpPr>
            <p:spPr>
              <a:xfrm>
                <a:off x="894080" y="1770291"/>
                <a:ext cx="1961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OSI</a:t>
                </a:r>
                <a:r>
                  <a:rPr lang="zh-CN" altLang="en-US" b="1" dirty="0"/>
                  <a:t>参考模型</a:t>
                </a:r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8CB3198E-09FA-473E-9E7A-ACEA2D080FA6}"/>
                  </a:ext>
                </a:extLst>
              </p:cNvPr>
              <p:cNvSpPr txBox="1"/>
              <p:nvPr/>
            </p:nvSpPr>
            <p:spPr>
              <a:xfrm>
                <a:off x="894080" y="5791688"/>
                <a:ext cx="1961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法律</a:t>
                </a:r>
                <a:r>
                  <a:rPr lang="zh-CN" altLang="en-US" b="1" dirty="0"/>
                  <a:t>标准</a:t>
                </a:r>
              </a:p>
            </p:txBody>
          </p:sp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0BF13F80-9F49-440A-81C2-2DD483E4110C}"/>
                  </a:ext>
                </a:extLst>
              </p:cNvPr>
              <p:cNvSpPr/>
              <p:nvPr/>
            </p:nvSpPr>
            <p:spPr>
              <a:xfrm>
                <a:off x="5023716" y="5222720"/>
                <a:ext cx="1961688" cy="511870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网络接口层</a:t>
                </a:r>
              </a:p>
            </p:txBody>
          </p:sp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4E9E3BB1-4DCA-414F-8D21-5BBBA4DE7787}"/>
                  </a:ext>
                </a:extLst>
              </p:cNvPr>
              <p:cNvSpPr/>
              <p:nvPr/>
            </p:nvSpPr>
            <p:spPr>
              <a:xfrm>
                <a:off x="5023714" y="4198980"/>
                <a:ext cx="1961688" cy="511870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运输层</a:t>
                </a:r>
              </a:p>
            </p:txBody>
          </p:sp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1D669B62-F843-4F96-8AAE-837F76F39C65}"/>
                  </a:ext>
                </a:extLst>
              </p:cNvPr>
              <p:cNvSpPr/>
              <p:nvPr/>
            </p:nvSpPr>
            <p:spPr>
              <a:xfrm>
                <a:off x="5023714" y="4710850"/>
                <a:ext cx="1961688" cy="51187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网际层</a:t>
                </a:r>
              </a:p>
            </p:txBody>
          </p:sp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0AEF539E-682D-4988-8738-E781C6BA8FDF}"/>
                  </a:ext>
                </a:extLst>
              </p:cNvPr>
              <p:cNvSpPr/>
              <p:nvPr/>
            </p:nvSpPr>
            <p:spPr>
              <a:xfrm>
                <a:off x="5023714" y="3695820"/>
                <a:ext cx="1961688" cy="511870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/>
                  <a:t>应用层</a:t>
                </a:r>
              </a:p>
            </p:txBody>
          </p: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0C78450A-57B6-4F9F-9A22-8ADC00C8D8C8}"/>
                  </a:ext>
                </a:extLst>
              </p:cNvPr>
              <p:cNvSpPr txBox="1"/>
              <p:nvPr/>
            </p:nvSpPr>
            <p:spPr>
              <a:xfrm>
                <a:off x="5023714" y="3314611"/>
                <a:ext cx="1961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b="1" dirty="0"/>
                  <a:t>TCP/IP</a:t>
                </a:r>
                <a:r>
                  <a:rPr lang="zh-CN" altLang="en-US" b="1" dirty="0"/>
                  <a:t>参考模型</a:t>
                </a:r>
              </a:p>
            </p:txBody>
          </p: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72F8428D-2C22-42D8-9966-3CECA9C7F96F}"/>
                  </a:ext>
                </a:extLst>
              </p:cNvPr>
              <p:cNvSpPr txBox="1"/>
              <p:nvPr/>
            </p:nvSpPr>
            <p:spPr>
              <a:xfrm>
                <a:off x="5023714" y="5791688"/>
                <a:ext cx="19616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事实</a:t>
                </a:r>
                <a:r>
                  <a:rPr lang="zh-CN" altLang="en-US" b="1" dirty="0"/>
                  <a:t>标准</a:t>
                </a:r>
              </a:p>
            </p:txBody>
          </p:sp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7AEAED83-744B-4A4D-BD22-FAB42E9CDE39}"/>
                  </a:ext>
                </a:extLst>
              </p:cNvPr>
              <p:cNvGrpSpPr/>
              <p:nvPr/>
            </p:nvGrpSpPr>
            <p:grpSpPr>
              <a:xfrm>
                <a:off x="2855768" y="4710850"/>
                <a:ext cx="2183592" cy="1027130"/>
                <a:chOff x="2855768" y="4710850"/>
                <a:chExt cx="2183592" cy="1027130"/>
              </a:xfrm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FA798D3E-63D7-4B0E-A57D-939A2A50F7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55768" y="5737980"/>
                  <a:ext cx="2183592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27BE573F-8B19-40AE-BDA5-74051C054C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55768" y="4710850"/>
                  <a:ext cx="2167946" cy="51187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21BA88B-3F33-4761-A40D-E31168778CC7}"/>
                    </a:ext>
                  </a:extLst>
                </p:cNvPr>
                <p:cNvSpPr txBox="1"/>
                <p:nvPr/>
              </p:nvSpPr>
              <p:spPr>
                <a:xfrm>
                  <a:off x="3481136" y="5177541"/>
                  <a:ext cx="7573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b="1" dirty="0"/>
                    <a:t>合并</a:t>
                  </a:r>
                </a:p>
              </p:txBody>
            </p:sp>
          </p:grp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E26DF5A8-0573-40DC-B302-F1CBE62A195D}"/>
                  </a:ext>
                </a:extLst>
              </p:cNvPr>
              <p:cNvGrpSpPr/>
              <p:nvPr/>
            </p:nvGrpSpPr>
            <p:grpSpPr>
              <a:xfrm>
                <a:off x="2840122" y="2651493"/>
                <a:ext cx="2199238" cy="1555852"/>
                <a:chOff x="2840122" y="2651493"/>
                <a:chExt cx="2199238" cy="1555852"/>
              </a:xfrm>
            </p:grpSpPr>
            <p:cxnSp>
              <p:nvCxnSpPr>
                <p:cNvPr id="34" name="直接连接符 33">
                  <a:extLst>
                    <a:ext uri="{FF2B5EF4-FFF2-40B4-BE49-F238E27FC236}">
                      <a16:creationId xmlns:a16="http://schemas.microsoft.com/office/drawing/2014/main" id="{6A9CE7E7-5DD9-4DE5-AE42-CF97BC2AE3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40122" y="3695820"/>
                  <a:ext cx="2199238" cy="51152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>
                  <a:extLst>
                    <a:ext uri="{FF2B5EF4-FFF2-40B4-BE49-F238E27FC236}">
                      <a16:creationId xmlns:a16="http://schemas.microsoft.com/office/drawing/2014/main" id="{CA756B9C-4592-456D-B7D3-E1993578CF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40122" y="2651493"/>
                  <a:ext cx="2183592" cy="104261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6003B62A-4407-48C8-B2B2-D194C2DCBBC3}"/>
                    </a:ext>
                  </a:extLst>
                </p:cNvPr>
                <p:cNvSpPr txBox="1"/>
                <p:nvPr/>
              </p:nvSpPr>
              <p:spPr>
                <a:xfrm>
                  <a:off x="3481136" y="3311751"/>
                  <a:ext cx="7573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b="1" dirty="0"/>
                    <a:t>合并</a:t>
                  </a:r>
                </a:p>
              </p:txBody>
            </p:sp>
          </p:grp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A43E24AA-1F92-44D9-9753-C3A829E75D1C}"/>
                </a:ext>
              </a:extLst>
            </p:cNvPr>
            <p:cNvGrpSpPr/>
            <p:nvPr/>
          </p:nvGrpSpPr>
          <p:grpSpPr>
            <a:xfrm>
              <a:off x="6985402" y="4710850"/>
              <a:ext cx="2259386" cy="1021320"/>
              <a:chOff x="6985402" y="4710850"/>
              <a:chExt cx="2259386" cy="1021320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18F401A0-46C1-4606-AD57-BB0DD1312B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85402" y="4710850"/>
                <a:ext cx="2259386" cy="51187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C43B2A29-F78E-4A46-96A2-99ABC62641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05722" y="5732170"/>
                <a:ext cx="2183592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EBB955C8-44E5-4C4C-BDF7-A6D1086DECD2}"/>
                  </a:ext>
                </a:extLst>
              </p:cNvPr>
              <p:cNvSpPr txBox="1"/>
              <p:nvPr/>
            </p:nvSpPr>
            <p:spPr>
              <a:xfrm>
                <a:off x="7509767" y="5177541"/>
                <a:ext cx="12106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/>
                  <a:t>重新划分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93089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263464" cy="400110"/>
            <a:chOff x="424117" y="898245"/>
            <a:chExt cx="626346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711200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02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12354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计算机网络体系结构分层的必要性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A230AD2-D7DA-4F65-91AD-3F2F5131B5C3}"/>
              </a:ext>
            </a:extLst>
          </p:cNvPr>
          <p:cNvGrpSpPr/>
          <p:nvPr/>
        </p:nvGrpSpPr>
        <p:grpSpPr>
          <a:xfrm>
            <a:off x="1293704" y="1412997"/>
            <a:ext cx="9628037" cy="1125809"/>
            <a:chOff x="1098578" y="1401274"/>
            <a:chExt cx="9628037" cy="1125809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074550AC-DF59-4E5A-896C-B70F969DCD6C}"/>
                </a:ext>
              </a:extLst>
            </p:cNvPr>
            <p:cNvCxnSpPr/>
            <p:nvPr/>
          </p:nvCxnSpPr>
          <p:spPr>
            <a:xfrm>
              <a:off x="1992923" y="2180492"/>
              <a:ext cx="808892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6" name="图形 65">
              <a:extLst>
                <a:ext uri="{FF2B5EF4-FFF2-40B4-BE49-F238E27FC236}">
                  <a16:creationId xmlns:a16="http://schemas.microsoft.com/office/drawing/2014/main" id="{89401510-641F-486D-A72D-45E5BC897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98578" y="1401274"/>
              <a:ext cx="1163975" cy="1125809"/>
            </a:xfrm>
            <a:prstGeom prst="rect">
              <a:avLst/>
            </a:prstGeom>
          </p:spPr>
        </p:pic>
        <p:pic>
          <p:nvPicPr>
            <p:cNvPr id="67" name="图形 66">
              <a:extLst>
                <a:ext uri="{FF2B5EF4-FFF2-40B4-BE49-F238E27FC236}">
                  <a16:creationId xmlns:a16="http://schemas.microsoft.com/office/drawing/2014/main" id="{431F2065-0417-449E-B651-489933998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62640" y="1401274"/>
              <a:ext cx="1163975" cy="1125809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5D9CDC1-F4F1-4B93-85BA-EBDADF59ED44}"/>
              </a:ext>
            </a:extLst>
          </p:cNvPr>
          <p:cNvGrpSpPr/>
          <p:nvPr/>
        </p:nvGrpSpPr>
        <p:grpSpPr>
          <a:xfrm>
            <a:off x="518643" y="3702131"/>
            <a:ext cx="5359941" cy="2150751"/>
            <a:chOff x="518643" y="3702131"/>
            <a:chExt cx="5359941" cy="2150751"/>
          </a:xfrm>
        </p:grpSpPr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85CDD020-5F94-48BF-B4C6-1F83D20DA60E}"/>
                </a:ext>
              </a:extLst>
            </p:cNvPr>
            <p:cNvSpPr/>
            <p:nvPr/>
          </p:nvSpPr>
          <p:spPr>
            <a:xfrm>
              <a:off x="518643" y="3702131"/>
              <a:ext cx="5359941" cy="51187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需要考虑的主要问题</a:t>
              </a: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04C84201-C2DF-4E50-A9AD-097E1C25C62D}"/>
                </a:ext>
              </a:extLst>
            </p:cNvPr>
            <p:cNvSpPr/>
            <p:nvPr/>
          </p:nvSpPr>
          <p:spPr>
            <a:xfrm>
              <a:off x="518643" y="4214002"/>
              <a:ext cx="5359941" cy="163888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id="{98A76B2A-4328-4120-AFF3-945841430428}"/>
              </a:ext>
            </a:extLst>
          </p:cNvPr>
          <p:cNvSpPr/>
          <p:nvPr/>
        </p:nvSpPr>
        <p:spPr>
          <a:xfrm>
            <a:off x="729945" y="4425016"/>
            <a:ext cx="211015" cy="21101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B097FF-2964-40F0-96F0-4DE34D201316}"/>
              </a:ext>
            </a:extLst>
          </p:cNvPr>
          <p:cNvSpPr txBox="1"/>
          <p:nvPr/>
        </p:nvSpPr>
        <p:spPr>
          <a:xfrm>
            <a:off x="940960" y="4345857"/>
            <a:ext cx="2907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采用什么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传输媒体</a:t>
            </a:r>
            <a:r>
              <a:rPr lang="zh-CN" altLang="en-US" b="1" dirty="0"/>
              <a:t>（介质）</a:t>
            </a: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C8A1AA8B-0407-4EF1-A517-DFF66B5C76A4}"/>
              </a:ext>
            </a:extLst>
          </p:cNvPr>
          <p:cNvSpPr/>
          <p:nvPr/>
        </p:nvSpPr>
        <p:spPr>
          <a:xfrm>
            <a:off x="729945" y="4913087"/>
            <a:ext cx="211015" cy="21101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802B29BA-97E1-4035-8228-AE5FEDDF3062}"/>
              </a:ext>
            </a:extLst>
          </p:cNvPr>
          <p:cNvSpPr txBox="1"/>
          <p:nvPr/>
        </p:nvSpPr>
        <p:spPr>
          <a:xfrm>
            <a:off x="940960" y="4833928"/>
            <a:ext cx="2907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采用什么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物理接口</a:t>
            </a:r>
            <a:endParaRPr lang="zh-CN" altLang="en-US" b="1" dirty="0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63748F61-360A-4510-95E4-0298C4A20A3E}"/>
              </a:ext>
            </a:extLst>
          </p:cNvPr>
          <p:cNvSpPr/>
          <p:nvPr/>
        </p:nvSpPr>
        <p:spPr>
          <a:xfrm>
            <a:off x="729945" y="5401157"/>
            <a:ext cx="211015" cy="21101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0E40F038-7F44-4F4A-82F4-2CEB6E32620D}"/>
              </a:ext>
            </a:extLst>
          </p:cNvPr>
          <p:cNvSpPr txBox="1"/>
          <p:nvPr/>
        </p:nvSpPr>
        <p:spPr>
          <a:xfrm>
            <a:off x="940960" y="5321998"/>
            <a:ext cx="2907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采用什么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信号</a:t>
            </a:r>
            <a:r>
              <a:rPr lang="zh-CN" altLang="en-US" b="1" dirty="0"/>
              <a:t>表示比特</a:t>
            </a:r>
            <a:r>
              <a:rPr lang="en-US" altLang="zh-CN" b="1" dirty="0"/>
              <a:t>0</a:t>
            </a:r>
            <a:r>
              <a:rPr lang="zh-CN" altLang="en-US" b="1" dirty="0"/>
              <a:t>和</a:t>
            </a:r>
            <a:r>
              <a:rPr lang="en-US" altLang="zh-CN" b="1" dirty="0"/>
              <a:t>1</a:t>
            </a:r>
            <a:endParaRPr lang="zh-CN" altLang="en-US" b="1" dirty="0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4F3AB1D-575B-4C00-A0BC-0D18C8CD533D}"/>
              </a:ext>
            </a:extLst>
          </p:cNvPr>
          <p:cNvGrpSpPr/>
          <p:nvPr/>
        </p:nvGrpSpPr>
        <p:grpSpPr>
          <a:xfrm>
            <a:off x="7922984" y="2568525"/>
            <a:ext cx="1961690" cy="2938139"/>
            <a:chOff x="9800114" y="1848477"/>
            <a:chExt cx="1961690" cy="2938139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BC1EFFD8-328B-49B7-8021-1474CFAE4CA5}"/>
                </a:ext>
              </a:extLst>
            </p:cNvPr>
            <p:cNvSpPr/>
            <p:nvPr/>
          </p:nvSpPr>
          <p:spPr>
            <a:xfrm>
              <a:off x="9800116" y="4274746"/>
              <a:ext cx="1961688" cy="51187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物理层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CCDB5685-99E1-469A-9018-94F6097993EA}"/>
                </a:ext>
              </a:extLst>
            </p:cNvPr>
            <p:cNvSpPr/>
            <p:nvPr/>
          </p:nvSpPr>
          <p:spPr>
            <a:xfrm>
              <a:off x="9800115" y="2737686"/>
              <a:ext cx="1961688" cy="51187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运输层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DA08AD7C-581B-48F7-B76C-81A93D6F233B}"/>
                </a:ext>
              </a:extLst>
            </p:cNvPr>
            <p:cNvSpPr/>
            <p:nvPr/>
          </p:nvSpPr>
          <p:spPr>
            <a:xfrm>
              <a:off x="9800116" y="3251006"/>
              <a:ext cx="1961688" cy="51187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网络层</a:t>
              </a: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B393B704-2024-4C58-94E4-759E5383CEE2}"/>
                </a:ext>
              </a:extLst>
            </p:cNvPr>
            <p:cNvSpPr/>
            <p:nvPr/>
          </p:nvSpPr>
          <p:spPr>
            <a:xfrm>
              <a:off x="9800116" y="3762876"/>
              <a:ext cx="1961688" cy="51187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数据链路层</a:t>
              </a: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FFE65CB2-63A5-42F8-A899-D5B6E1BCA9A3}"/>
                </a:ext>
              </a:extLst>
            </p:cNvPr>
            <p:cNvSpPr/>
            <p:nvPr/>
          </p:nvSpPr>
          <p:spPr>
            <a:xfrm>
              <a:off x="9800114" y="2224249"/>
              <a:ext cx="1961688" cy="51187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应用层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914A2878-1898-4F7C-80A8-3D92E5B209D5}"/>
                </a:ext>
              </a:extLst>
            </p:cNvPr>
            <p:cNvSpPr txBox="1"/>
            <p:nvPr/>
          </p:nvSpPr>
          <p:spPr>
            <a:xfrm>
              <a:off x="9800114" y="1848477"/>
              <a:ext cx="1961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原理体系结构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C67C7F2-2102-477F-AD4A-80E41B8EF2E8}"/>
              </a:ext>
            </a:extLst>
          </p:cNvPr>
          <p:cNvGrpSpPr/>
          <p:nvPr/>
        </p:nvGrpSpPr>
        <p:grpSpPr>
          <a:xfrm>
            <a:off x="5878582" y="4214001"/>
            <a:ext cx="2044402" cy="1638881"/>
            <a:chOff x="5878582" y="4214001"/>
            <a:chExt cx="2044402" cy="1638881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7E70F7F0-0303-4E3B-A021-4FBCA8DB3564}"/>
                </a:ext>
              </a:extLst>
            </p:cNvPr>
            <p:cNvCxnSpPr>
              <a:cxnSpLocks/>
            </p:cNvCxnSpPr>
            <p:nvPr/>
          </p:nvCxnSpPr>
          <p:spPr>
            <a:xfrm>
              <a:off x="5878584" y="4214001"/>
              <a:ext cx="2044400" cy="78079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EFCB5A0E-5B20-4DCF-8E9D-5ED10F521A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8582" y="5503598"/>
              <a:ext cx="2044402" cy="34928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82C5050C-31FB-451E-AC71-9C642BE9CE78}"/>
              </a:ext>
            </a:extLst>
          </p:cNvPr>
          <p:cNvSpPr txBox="1"/>
          <p:nvPr/>
        </p:nvSpPr>
        <p:spPr>
          <a:xfrm>
            <a:off x="3550380" y="4345857"/>
            <a:ext cx="1961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（物理层之下）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628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文本框 119">
            <a:extLst>
              <a:ext uri="{FF2B5EF4-FFF2-40B4-BE49-F238E27FC236}">
                <a16:creationId xmlns:a16="http://schemas.microsoft.com/office/drawing/2014/main" id="{9C9C24B4-54C0-47D3-9F48-2258B30DC39B}"/>
              </a:ext>
            </a:extLst>
          </p:cNvPr>
          <p:cNvSpPr txBox="1"/>
          <p:nvPr/>
        </p:nvSpPr>
        <p:spPr>
          <a:xfrm>
            <a:off x="9253796" y="873233"/>
            <a:ext cx="2694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</a:rPr>
              <a:t>正在处理很多其他任务</a:t>
            </a:r>
            <a:endParaRPr lang="en-US" altLang="zh-CN" sz="1600" b="1" dirty="0">
              <a:solidFill>
                <a:schemeClr val="accent2"/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accent2"/>
                </a:solidFill>
              </a:rPr>
              <a:t>来不及取走缓存中的数据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28BD22E1-F696-4023-BB94-5A6F6392CEAA}"/>
              </a:ext>
            </a:extLst>
          </p:cNvPr>
          <p:cNvSpPr txBox="1"/>
          <p:nvPr/>
        </p:nvSpPr>
        <p:spPr>
          <a:xfrm>
            <a:off x="6221680" y="2044822"/>
            <a:ext cx="13277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4"/>
                </a:solidFill>
              </a:rPr>
              <a:t>有线网络</a:t>
            </a:r>
            <a:endParaRPr lang="en-US" altLang="zh-CN" sz="1600" b="1" dirty="0">
              <a:solidFill>
                <a:schemeClr val="accent4"/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accent4"/>
                </a:solidFill>
              </a:rPr>
              <a:t>很少误码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42842A70-5DFE-45ED-825F-62944E982066}"/>
              </a:ext>
            </a:extLst>
          </p:cNvPr>
          <p:cNvSpPr txBox="1"/>
          <p:nvPr/>
        </p:nvSpPr>
        <p:spPr>
          <a:xfrm>
            <a:off x="4268871" y="2044822"/>
            <a:ext cx="13277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无线网络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容易误码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263464" cy="400110"/>
            <a:chOff x="424117" y="898245"/>
            <a:chExt cx="626346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711200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02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12354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计算机网络体系结构分层的必要性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E14EB5D-E446-4D96-8127-03A527A1F79E}"/>
              </a:ext>
            </a:extLst>
          </p:cNvPr>
          <p:cNvGrpSpPr/>
          <p:nvPr/>
        </p:nvGrpSpPr>
        <p:grpSpPr>
          <a:xfrm>
            <a:off x="529402" y="3332979"/>
            <a:ext cx="5359941" cy="3046309"/>
            <a:chOff x="529402" y="3332979"/>
            <a:chExt cx="5359941" cy="3046309"/>
          </a:xfrm>
        </p:grpSpPr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85CDD020-5F94-48BF-B4C6-1F83D20DA60E}"/>
                </a:ext>
              </a:extLst>
            </p:cNvPr>
            <p:cNvSpPr/>
            <p:nvPr/>
          </p:nvSpPr>
          <p:spPr>
            <a:xfrm>
              <a:off x="529402" y="3332979"/>
              <a:ext cx="5359941" cy="51187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需要考虑的主要问题</a:t>
              </a: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04C84201-C2DF-4E50-A9AD-097E1C25C62D}"/>
                </a:ext>
              </a:extLst>
            </p:cNvPr>
            <p:cNvSpPr/>
            <p:nvPr/>
          </p:nvSpPr>
          <p:spPr>
            <a:xfrm>
              <a:off x="529402" y="3844850"/>
              <a:ext cx="5359941" cy="253443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id="{98A76B2A-4328-4120-AFF3-945841430428}"/>
              </a:ext>
            </a:extLst>
          </p:cNvPr>
          <p:cNvSpPr/>
          <p:nvPr/>
        </p:nvSpPr>
        <p:spPr>
          <a:xfrm>
            <a:off x="740704" y="3936596"/>
            <a:ext cx="211015" cy="21101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B097FF-2964-40F0-96F0-4DE34D201316}"/>
              </a:ext>
            </a:extLst>
          </p:cNvPr>
          <p:cNvSpPr txBox="1"/>
          <p:nvPr/>
        </p:nvSpPr>
        <p:spPr>
          <a:xfrm>
            <a:off x="951719" y="3857437"/>
            <a:ext cx="4256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标识网络中各主机（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主机编址</a:t>
            </a:r>
            <a:r>
              <a:rPr lang="zh-CN" altLang="en-US" sz="1600" b="1" dirty="0"/>
              <a:t>，例如</a:t>
            </a:r>
            <a:r>
              <a:rPr lang="en-US" altLang="zh-CN" sz="1600" b="1" dirty="0"/>
              <a:t>MAC</a:t>
            </a:r>
            <a:r>
              <a:rPr lang="zh-CN" altLang="en-US" sz="1600" b="1" dirty="0"/>
              <a:t>地址）</a:t>
            </a:r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877E9943-4020-4CFF-BEE2-0C87E631C15D}"/>
              </a:ext>
            </a:extLst>
          </p:cNvPr>
          <p:cNvSpPr/>
          <p:nvPr/>
        </p:nvSpPr>
        <p:spPr>
          <a:xfrm>
            <a:off x="740704" y="4298426"/>
            <a:ext cx="211015" cy="21101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60C7BB9-2BA9-46BA-9E79-CF4A4994E461}"/>
              </a:ext>
            </a:extLst>
          </p:cNvPr>
          <p:cNvSpPr txBox="1"/>
          <p:nvPr/>
        </p:nvSpPr>
        <p:spPr>
          <a:xfrm>
            <a:off x="951719" y="4219267"/>
            <a:ext cx="44154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从比特流中区分出地址和数据（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数据封装格式</a:t>
            </a:r>
            <a:r>
              <a:rPr lang="zh-CN" altLang="en-US" sz="1600" b="1" dirty="0"/>
              <a:t>）</a:t>
            </a:r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78DE9FD8-2FB0-43AF-8F6F-F9D70CCB5678}"/>
              </a:ext>
            </a:extLst>
          </p:cNvPr>
          <p:cNvSpPr/>
          <p:nvPr/>
        </p:nvSpPr>
        <p:spPr>
          <a:xfrm>
            <a:off x="740704" y="4660256"/>
            <a:ext cx="211015" cy="21101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0432546-2F4C-4B81-BAC1-30B814F63098}"/>
              </a:ext>
            </a:extLst>
          </p:cNvPr>
          <p:cNvSpPr txBox="1"/>
          <p:nvPr/>
        </p:nvSpPr>
        <p:spPr>
          <a:xfrm>
            <a:off x="951719" y="4581097"/>
            <a:ext cx="36202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协调各主机争用总线（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媒体接入控制</a:t>
            </a:r>
            <a:r>
              <a:rPr lang="zh-CN" altLang="en-US" sz="1600" b="1" dirty="0"/>
              <a:t>）</a:t>
            </a: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0145ED56-1A6D-48D0-BF95-587D53DF6DA5}"/>
              </a:ext>
            </a:extLst>
          </p:cNvPr>
          <p:cNvSpPr/>
          <p:nvPr/>
        </p:nvSpPr>
        <p:spPr>
          <a:xfrm>
            <a:off x="740704" y="5022086"/>
            <a:ext cx="211015" cy="21101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E6369AC-278F-47EA-9D9C-4A083E70602A}"/>
              </a:ext>
            </a:extLst>
          </p:cNvPr>
          <p:cNvSpPr txBox="1"/>
          <p:nvPr/>
        </p:nvSpPr>
        <p:spPr>
          <a:xfrm>
            <a:off x="951719" y="4942927"/>
            <a:ext cx="3779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以太网交换机的实现（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自学习和转发帧</a:t>
            </a:r>
            <a:r>
              <a:rPr lang="zh-CN" altLang="en-US" sz="1600" b="1" dirty="0"/>
              <a:t>）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71DF6DE-6825-4841-8377-1155D748ABCE}"/>
              </a:ext>
            </a:extLst>
          </p:cNvPr>
          <p:cNvGrpSpPr/>
          <p:nvPr/>
        </p:nvGrpSpPr>
        <p:grpSpPr>
          <a:xfrm>
            <a:off x="7362589" y="862411"/>
            <a:ext cx="3530698" cy="2701872"/>
            <a:chOff x="7332772" y="3665100"/>
            <a:chExt cx="3530698" cy="2701872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1EAEE920-2C66-4AB1-9A8C-665A9D7DB6FD}"/>
                </a:ext>
              </a:extLst>
            </p:cNvPr>
            <p:cNvGrpSpPr/>
            <p:nvPr/>
          </p:nvGrpSpPr>
          <p:grpSpPr>
            <a:xfrm>
              <a:off x="7332772" y="3665100"/>
              <a:ext cx="3530698" cy="2701872"/>
              <a:chOff x="7332772" y="3665100"/>
              <a:chExt cx="3530698" cy="2701872"/>
            </a:xfrm>
          </p:grpSpPr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BB573EB4-0D07-429C-8967-F08C3A82A2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54957" y="5049198"/>
                <a:ext cx="2845353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id="{AAB3CD13-60EB-446B-AE3A-188B99923B7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98162" y="4092253"/>
                <a:ext cx="0" cy="204638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1" name="组合 80">
                <a:extLst>
                  <a:ext uri="{FF2B5EF4-FFF2-40B4-BE49-F238E27FC236}">
                    <a16:creationId xmlns:a16="http://schemas.microsoft.com/office/drawing/2014/main" id="{58502DE4-B659-4127-B7A6-F34ACDD98BEB}"/>
                  </a:ext>
                </a:extLst>
              </p:cNvPr>
              <p:cNvGrpSpPr/>
              <p:nvPr/>
            </p:nvGrpSpPr>
            <p:grpSpPr>
              <a:xfrm>
                <a:off x="7332772" y="4650263"/>
                <a:ext cx="629867" cy="609213"/>
                <a:chOff x="1016000" y="2126185"/>
                <a:chExt cx="753165" cy="728468"/>
              </a:xfrm>
            </p:grpSpPr>
            <p:pic>
              <p:nvPicPr>
                <p:cNvPr id="82" name="图形 81">
                  <a:extLst>
                    <a:ext uri="{FF2B5EF4-FFF2-40B4-BE49-F238E27FC236}">
                      <a16:creationId xmlns:a16="http://schemas.microsoft.com/office/drawing/2014/main" id="{94F79449-A41E-4582-A5AE-10661D2F02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16000" y="2126185"/>
                  <a:ext cx="753165" cy="728468"/>
                </a:xfrm>
                <a:prstGeom prst="rect">
                  <a:avLst/>
                </a:prstGeom>
              </p:spPr>
            </p:pic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6C7B3FB3-B2D3-464A-BEE2-E4ACAE4DDB4C}"/>
                    </a:ext>
                  </a:extLst>
                </p:cNvPr>
                <p:cNvSpPr txBox="1"/>
                <p:nvPr/>
              </p:nvSpPr>
              <p:spPr>
                <a:xfrm>
                  <a:off x="1357670" y="2145861"/>
                  <a:ext cx="342446" cy="4416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b="1" dirty="0"/>
                    <a:t>A</a:t>
                  </a:r>
                  <a:endParaRPr lang="zh-CN" altLang="en-US" b="1" dirty="0"/>
                </a:p>
              </p:txBody>
            </p:sp>
          </p:grpSp>
          <p:grpSp>
            <p:nvGrpSpPr>
              <p:cNvPr id="84" name="组合 83">
                <a:extLst>
                  <a:ext uri="{FF2B5EF4-FFF2-40B4-BE49-F238E27FC236}">
                    <a16:creationId xmlns:a16="http://schemas.microsoft.com/office/drawing/2014/main" id="{26973D38-4048-4215-92CE-D9800DCE71FF}"/>
                  </a:ext>
                </a:extLst>
              </p:cNvPr>
              <p:cNvGrpSpPr/>
              <p:nvPr/>
            </p:nvGrpSpPr>
            <p:grpSpPr>
              <a:xfrm>
                <a:off x="8723182" y="3665100"/>
                <a:ext cx="629867" cy="609213"/>
                <a:chOff x="1016000" y="2126185"/>
                <a:chExt cx="753165" cy="728468"/>
              </a:xfrm>
            </p:grpSpPr>
            <p:pic>
              <p:nvPicPr>
                <p:cNvPr id="85" name="图形 84">
                  <a:extLst>
                    <a:ext uri="{FF2B5EF4-FFF2-40B4-BE49-F238E27FC236}">
                      <a16:creationId xmlns:a16="http://schemas.microsoft.com/office/drawing/2014/main" id="{114DEBC9-AC03-4DE8-A248-0C1E3C5272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16000" y="2126185"/>
                  <a:ext cx="753165" cy="728468"/>
                </a:xfrm>
                <a:prstGeom prst="rect">
                  <a:avLst/>
                </a:prstGeom>
              </p:spPr>
            </p:pic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E7CC13B3-ED27-44D6-AB65-C525B99690C3}"/>
                    </a:ext>
                  </a:extLst>
                </p:cNvPr>
                <p:cNvSpPr txBox="1"/>
                <p:nvPr/>
              </p:nvSpPr>
              <p:spPr>
                <a:xfrm>
                  <a:off x="1357670" y="2145861"/>
                  <a:ext cx="342446" cy="4416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b="1" dirty="0"/>
                    <a:t>B</a:t>
                  </a:r>
                  <a:endParaRPr lang="zh-CN" altLang="en-US" b="1" dirty="0"/>
                </a:p>
              </p:txBody>
            </p:sp>
          </p:grpSp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2B1C5D84-7AC1-4B31-9869-0AF3A1BD766D}"/>
                  </a:ext>
                </a:extLst>
              </p:cNvPr>
              <p:cNvGrpSpPr/>
              <p:nvPr/>
            </p:nvGrpSpPr>
            <p:grpSpPr>
              <a:xfrm>
                <a:off x="8643708" y="5757759"/>
                <a:ext cx="629867" cy="609213"/>
                <a:chOff x="1016000" y="2126185"/>
                <a:chExt cx="753165" cy="728468"/>
              </a:xfrm>
            </p:grpSpPr>
            <p:pic>
              <p:nvPicPr>
                <p:cNvPr id="88" name="图形 87">
                  <a:extLst>
                    <a:ext uri="{FF2B5EF4-FFF2-40B4-BE49-F238E27FC236}">
                      <a16:creationId xmlns:a16="http://schemas.microsoft.com/office/drawing/2014/main" id="{16C215FD-F8B3-407E-A7EB-712F9D91B6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16000" y="2126185"/>
                  <a:ext cx="753165" cy="728468"/>
                </a:xfrm>
                <a:prstGeom prst="rect">
                  <a:avLst/>
                </a:prstGeom>
              </p:spPr>
            </p:pic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2D9D4DD0-72E1-4D39-9B32-74B90BBBFA6D}"/>
                    </a:ext>
                  </a:extLst>
                </p:cNvPr>
                <p:cNvSpPr txBox="1"/>
                <p:nvPr/>
              </p:nvSpPr>
              <p:spPr>
                <a:xfrm>
                  <a:off x="1357670" y="2145861"/>
                  <a:ext cx="342446" cy="4416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b="1" dirty="0"/>
                    <a:t>D</a:t>
                  </a:r>
                  <a:endParaRPr lang="zh-CN" altLang="en-US" b="1" dirty="0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E8D22C30-9BE5-4D33-97D0-27BE7FE158B9}"/>
                  </a:ext>
                </a:extLst>
              </p:cNvPr>
              <p:cNvGrpSpPr/>
              <p:nvPr/>
            </p:nvGrpSpPr>
            <p:grpSpPr>
              <a:xfrm>
                <a:off x="10233603" y="4648140"/>
                <a:ext cx="629867" cy="609213"/>
                <a:chOff x="1016000" y="2126185"/>
                <a:chExt cx="753165" cy="728468"/>
              </a:xfrm>
            </p:grpSpPr>
            <p:pic>
              <p:nvPicPr>
                <p:cNvPr id="93" name="图形 92">
                  <a:extLst>
                    <a:ext uri="{FF2B5EF4-FFF2-40B4-BE49-F238E27FC236}">
                      <a16:creationId xmlns:a16="http://schemas.microsoft.com/office/drawing/2014/main" id="{256DDCF6-1354-446B-AEF2-D09F03A17D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16000" y="2126185"/>
                  <a:ext cx="753165" cy="728468"/>
                </a:xfrm>
                <a:prstGeom prst="rect">
                  <a:avLst/>
                </a:prstGeom>
              </p:spPr>
            </p:pic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D799B26C-81A8-4768-964E-BC57E6DDB867}"/>
                    </a:ext>
                  </a:extLst>
                </p:cNvPr>
                <p:cNvSpPr txBox="1"/>
                <p:nvPr/>
              </p:nvSpPr>
              <p:spPr>
                <a:xfrm>
                  <a:off x="1357670" y="2145861"/>
                  <a:ext cx="342446" cy="4416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b="1" dirty="0"/>
                    <a:t>C</a:t>
                  </a:r>
                  <a:endParaRPr lang="zh-CN" altLang="en-US" b="1" dirty="0"/>
                </a:p>
              </p:txBody>
            </p:sp>
          </p:grpSp>
          <p:pic>
            <p:nvPicPr>
              <p:cNvPr id="95" name="图形 94">
                <a:extLst>
                  <a:ext uri="{FF2B5EF4-FFF2-40B4-BE49-F238E27FC236}">
                    <a16:creationId xmlns:a16="http://schemas.microsoft.com/office/drawing/2014/main" id="{5A8547F1-5552-4C8D-83DD-A91537470F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865240" y="4822895"/>
                <a:ext cx="465844" cy="465844"/>
              </a:xfrm>
              <a:prstGeom prst="rect">
                <a:avLst/>
              </a:prstGeom>
            </p:spPr>
          </p:pic>
        </p:grp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02DA8DDD-30AA-472B-8DBB-055558259296}"/>
                </a:ext>
              </a:extLst>
            </p:cNvPr>
            <p:cNvSpPr txBox="1"/>
            <p:nvPr/>
          </p:nvSpPr>
          <p:spPr>
            <a:xfrm>
              <a:off x="9179049" y="5231911"/>
              <a:ext cx="8216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/>
                <a:t>交换机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6E9A94CF-B8C1-4FD5-8EA8-95DF24460C99}"/>
              </a:ext>
            </a:extLst>
          </p:cNvPr>
          <p:cNvGrpSpPr/>
          <p:nvPr/>
        </p:nvGrpSpPr>
        <p:grpSpPr>
          <a:xfrm>
            <a:off x="1298712" y="1336775"/>
            <a:ext cx="3346872" cy="1955019"/>
            <a:chOff x="1298712" y="1252693"/>
            <a:chExt cx="3346872" cy="1955019"/>
          </a:xfrm>
        </p:grpSpPr>
        <p:pic>
          <p:nvPicPr>
            <p:cNvPr id="103" name="图形 102">
              <a:extLst>
                <a:ext uri="{FF2B5EF4-FFF2-40B4-BE49-F238E27FC236}">
                  <a16:creationId xmlns:a16="http://schemas.microsoft.com/office/drawing/2014/main" id="{E6277EA5-D761-429A-B287-A1DE68EA8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98712" y="2598499"/>
              <a:ext cx="629867" cy="609213"/>
            </a:xfrm>
            <a:prstGeom prst="rect">
              <a:avLst/>
            </a:prstGeom>
          </p:spPr>
        </p:pic>
        <p:pic>
          <p:nvPicPr>
            <p:cNvPr id="97" name="图形 96">
              <a:extLst>
                <a:ext uri="{FF2B5EF4-FFF2-40B4-BE49-F238E27FC236}">
                  <a16:creationId xmlns:a16="http://schemas.microsoft.com/office/drawing/2014/main" id="{2F361047-197F-4266-B087-832BBC4B5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98713" y="1252693"/>
              <a:ext cx="629867" cy="609213"/>
            </a:xfrm>
            <a:prstGeom prst="rect">
              <a:avLst/>
            </a:prstGeom>
          </p:spPr>
        </p:pic>
        <p:pic>
          <p:nvPicPr>
            <p:cNvPr id="78" name="图形 77">
              <a:extLst>
                <a:ext uri="{FF2B5EF4-FFF2-40B4-BE49-F238E27FC236}">
                  <a16:creationId xmlns:a16="http://schemas.microsoft.com/office/drawing/2014/main" id="{F788F0D6-8281-4BD7-BC67-682D42B6A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15717" y="1252693"/>
              <a:ext cx="629867" cy="609213"/>
            </a:xfrm>
            <a:prstGeom prst="rect">
              <a:avLst/>
            </a:prstGeom>
          </p:spPr>
        </p:pic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B91EA55B-9047-4EC1-AD5B-BE788DCCB0D7}"/>
                </a:ext>
              </a:extLst>
            </p:cNvPr>
            <p:cNvSpPr txBox="1"/>
            <p:nvPr/>
          </p:nvSpPr>
          <p:spPr>
            <a:xfrm>
              <a:off x="2303559" y="2457717"/>
              <a:ext cx="13277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/>
                <a:t>无线路由器</a:t>
              </a:r>
            </a:p>
          </p:txBody>
        </p:sp>
        <p:pic>
          <p:nvPicPr>
            <p:cNvPr id="105" name="图形 104">
              <a:extLst>
                <a:ext uri="{FF2B5EF4-FFF2-40B4-BE49-F238E27FC236}">
                  <a16:creationId xmlns:a16="http://schemas.microsoft.com/office/drawing/2014/main" id="{1F479780-3C29-47AE-A970-EE068E82A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15716" y="2598499"/>
              <a:ext cx="629867" cy="609213"/>
            </a:xfrm>
            <a:prstGeom prst="rect">
              <a:avLst/>
            </a:prstGeom>
          </p:spPr>
        </p:pic>
        <p:pic>
          <p:nvPicPr>
            <p:cNvPr id="106" name="图形 105">
              <a:extLst>
                <a:ext uri="{FF2B5EF4-FFF2-40B4-BE49-F238E27FC236}">
                  <a16:creationId xmlns:a16="http://schemas.microsoft.com/office/drawing/2014/main" id="{EED485D6-7512-4E41-8EB0-AC3B98DB9B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524564" y="1808460"/>
              <a:ext cx="821559" cy="631969"/>
            </a:xfrm>
            <a:prstGeom prst="rect">
              <a:avLst/>
            </a:prstGeom>
          </p:spPr>
        </p:pic>
        <p:pic>
          <p:nvPicPr>
            <p:cNvPr id="107" name="图形 106">
              <a:extLst>
                <a:ext uri="{FF2B5EF4-FFF2-40B4-BE49-F238E27FC236}">
                  <a16:creationId xmlns:a16="http://schemas.microsoft.com/office/drawing/2014/main" id="{94AEBF27-3A2E-4A44-8527-1CA786D85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6890274">
              <a:off x="1848741" y="1738082"/>
              <a:ext cx="383154" cy="265261"/>
            </a:xfrm>
            <a:prstGeom prst="rect">
              <a:avLst/>
            </a:prstGeom>
          </p:spPr>
        </p:pic>
        <p:pic>
          <p:nvPicPr>
            <p:cNvPr id="108" name="图形 107">
              <a:extLst>
                <a:ext uri="{FF2B5EF4-FFF2-40B4-BE49-F238E27FC236}">
                  <a16:creationId xmlns:a16="http://schemas.microsoft.com/office/drawing/2014/main" id="{086C2CDB-AEAB-4895-9E8A-AA1B2E484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3898589">
              <a:off x="1936748" y="2694935"/>
              <a:ext cx="383154" cy="265261"/>
            </a:xfrm>
            <a:prstGeom prst="rect">
              <a:avLst/>
            </a:prstGeom>
          </p:spPr>
        </p:pic>
        <p:pic>
          <p:nvPicPr>
            <p:cNvPr id="109" name="图形 108">
              <a:extLst>
                <a:ext uri="{FF2B5EF4-FFF2-40B4-BE49-F238E27FC236}">
                  <a16:creationId xmlns:a16="http://schemas.microsoft.com/office/drawing/2014/main" id="{4069AA30-E5A2-4A32-A631-07159DE8D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3130096">
              <a:off x="3675584" y="1731961"/>
              <a:ext cx="383154" cy="265261"/>
            </a:xfrm>
            <a:prstGeom prst="rect">
              <a:avLst/>
            </a:prstGeom>
          </p:spPr>
        </p:pic>
        <p:pic>
          <p:nvPicPr>
            <p:cNvPr id="110" name="图形 109">
              <a:extLst>
                <a:ext uri="{FF2B5EF4-FFF2-40B4-BE49-F238E27FC236}">
                  <a16:creationId xmlns:a16="http://schemas.microsoft.com/office/drawing/2014/main" id="{D2186967-BCF7-4665-9709-9759D5154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8580151">
              <a:off x="3706473" y="2692501"/>
              <a:ext cx="383154" cy="265261"/>
            </a:xfrm>
            <a:prstGeom prst="rect">
              <a:avLst/>
            </a:prstGeom>
          </p:spPr>
        </p:pic>
      </p:grpSp>
      <p:sp>
        <p:nvSpPr>
          <p:cNvPr id="113" name="椭圆 112">
            <a:extLst>
              <a:ext uri="{FF2B5EF4-FFF2-40B4-BE49-F238E27FC236}">
                <a16:creationId xmlns:a16="http://schemas.microsoft.com/office/drawing/2014/main" id="{ACE2E18E-E412-4E39-8B2D-726D8A5EAA83}"/>
              </a:ext>
            </a:extLst>
          </p:cNvPr>
          <p:cNvSpPr/>
          <p:nvPr/>
        </p:nvSpPr>
        <p:spPr>
          <a:xfrm>
            <a:off x="740704" y="5384878"/>
            <a:ext cx="211015" cy="21101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246576EF-E095-41A0-B20C-4470C6414966}"/>
              </a:ext>
            </a:extLst>
          </p:cNvPr>
          <p:cNvSpPr txBox="1"/>
          <p:nvPr/>
        </p:nvSpPr>
        <p:spPr>
          <a:xfrm>
            <a:off x="951720" y="5305719"/>
            <a:ext cx="29245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检测数据是否误码（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差错检测</a:t>
            </a:r>
            <a:r>
              <a:rPr lang="zh-CN" altLang="en-US" sz="1600" b="1" dirty="0"/>
              <a:t>）</a:t>
            </a:r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FDCB2BC7-108F-4E8B-8394-FE7EB4066F9A}"/>
              </a:ext>
            </a:extLst>
          </p:cNvPr>
          <p:cNvSpPr/>
          <p:nvPr/>
        </p:nvSpPr>
        <p:spPr>
          <a:xfrm>
            <a:off x="740704" y="5737731"/>
            <a:ext cx="211015" cy="21101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0B3E80B2-EEF0-43B1-BF04-B98FC31343AE}"/>
              </a:ext>
            </a:extLst>
          </p:cNvPr>
          <p:cNvSpPr txBox="1"/>
          <p:nvPr/>
        </p:nvSpPr>
        <p:spPr>
          <a:xfrm>
            <a:off x="951720" y="5658572"/>
            <a:ext cx="4812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出现传输差错如何处理（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可靠传输和不可靠传输</a:t>
            </a:r>
            <a:r>
              <a:rPr lang="zh-CN" altLang="en-US" sz="1600" b="1" dirty="0"/>
              <a:t>）</a:t>
            </a:r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D87B1744-78C4-40BA-B818-657F34825182}"/>
              </a:ext>
            </a:extLst>
          </p:cNvPr>
          <p:cNvSpPr/>
          <p:nvPr/>
        </p:nvSpPr>
        <p:spPr>
          <a:xfrm>
            <a:off x="740704" y="6101283"/>
            <a:ext cx="211015" cy="21101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9FD2C5F-DD77-4B18-899D-80C24132BBED}"/>
              </a:ext>
            </a:extLst>
          </p:cNvPr>
          <p:cNvSpPr txBox="1"/>
          <p:nvPr/>
        </p:nvSpPr>
        <p:spPr>
          <a:xfrm>
            <a:off x="951720" y="6022124"/>
            <a:ext cx="4812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接收方控制发送方注入网络的数据量（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流量控制</a:t>
            </a:r>
            <a:r>
              <a:rPr lang="zh-CN" altLang="en-US" sz="1600" b="1" dirty="0"/>
              <a:t>）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A98E2A2-DB4C-441A-8958-D8A81FB9A75F}"/>
              </a:ext>
            </a:extLst>
          </p:cNvPr>
          <p:cNvGrpSpPr/>
          <p:nvPr/>
        </p:nvGrpSpPr>
        <p:grpSpPr>
          <a:xfrm>
            <a:off x="7828690" y="1324126"/>
            <a:ext cx="1033846" cy="602468"/>
            <a:chOff x="7828690" y="1324126"/>
            <a:chExt cx="1033846" cy="602468"/>
          </a:xfrm>
        </p:grpSpPr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A1C6168A-0610-4FE0-BDFF-FCF9DF45C4CD}"/>
                </a:ext>
              </a:extLst>
            </p:cNvPr>
            <p:cNvSpPr txBox="1"/>
            <p:nvPr/>
          </p:nvSpPr>
          <p:spPr>
            <a:xfrm rot="19828081">
              <a:off x="7828690" y="1588040"/>
              <a:ext cx="10338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/>
                <a:t>连续发送</a:t>
              </a:r>
            </a:p>
          </p:txBody>
        </p: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A04CB22A-2436-4013-A387-ABB4891556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8911" y="1324126"/>
              <a:ext cx="811755" cy="494358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189B544-8BFC-414C-B67E-3F368B7AB86F}"/>
              </a:ext>
            </a:extLst>
          </p:cNvPr>
          <p:cNvGrpSpPr/>
          <p:nvPr/>
        </p:nvGrpSpPr>
        <p:grpSpPr>
          <a:xfrm>
            <a:off x="7317687" y="1086300"/>
            <a:ext cx="1386385" cy="632176"/>
            <a:chOff x="7317687" y="1086300"/>
            <a:chExt cx="1386385" cy="632176"/>
          </a:xfrm>
        </p:grpSpPr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16109EB5-9463-4FD4-A948-774458A07B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6678" y="1147082"/>
              <a:ext cx="993029" cy="571394"/>
            </a:xfrm>
            <a:prstGeom prst="straightConnector1">
              <a:avLst/>
            </a:prstGeom>
            <a:ln w="381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6E5545DC-C46E-4BB5-8503-EE271F135AA6}"/>
                </a:ext>
              </a:extLst>
            </p:cNvPr>
            <p:cNvSpPr txBox="1"/>
            <p:nvPr/>
          </p:nvSpPr>
          <p:spPr>
            <a:xfrm rot="19828081">
              <a:off x="7317687" y="1086300"/>
              <a:ext cx="13863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/>
                <a:t>请停止发送</a:t>
              </a: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600FA418-0BDE-4917-944B-9B1892069B7E}"/>
              </a:ext>
            </a:extLst>
          </p:cNvPr>
          <p:cNvGrpSpPr/>
          <p:nvPr/>
        </p:nvGrpSpPr>
        <p:grpSpPr>
          <a:xfrm>
            <a:off x="9700908" y="3473857"/>
            <a:ext cx="1961690" cy="2938139"/>
            <a:chOff x="9800114" y="1848477"/>
            <a:chExt cx="1961690" cy="2938139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014EC339-E4D4-4A62-9C3B-E689BD58F2B7}"/>
                </a:ext>
              </a:extLst>
            </p:cNvPr>
            <p:cNvSpPr/>
            <p:nvPr/>
          </p:nvSpPr>
          <p:spPr>
            <a:xfrm>
              <a:off x="9800116" y="4274746"/>
              <a:ext cx="1961688" cy="51187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物理层</a:t>
              </a: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4D85124D-7BA6-42B5-8360-DA1B6FF63FC1}"/>
                </a:ext>
              </a:extLst>
            </p:cNvPr>
            <p:cNvSpPr/>
            <p:nvPr/>
          </p:nvSpPr>
          <p:spPr>
            <a:xfrm>
              <a:off x="9800115" y="2737686"/>
              <a:ext cx="1961688" cy="51187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运输层</a:t>
              </a:r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3D0ABCD5-392E-492A-8FE4-DF25714C1F2C}"/>
                </a:ext>
              </a:extLst>
            </p:cNvPr>
            <p:cNvSpPr/>
            <p:nvPr/>
          </p:nvSpPr>
          <p:spPr>
            <a:xfrm>
              <a:off x="9800116" y="3251006"/>
              <a:ext cx="1961688" cy="51187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网络层</a:t>
              </a: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00C36608-516F-4572-ADAB-81A43697A086}"/>
                </a:ext>
              </a:extLst>
            </p:cNvPr>
            <p:cNvSpPr/>
            <p:nvPr/>
          </p:nvSpPr>
          <p:spPr>
            <a:xfrm>
              <a:off x="9800116" y="3762876"/>
              <a:ext cx="1961688" cy="51187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数据链路层</a:t>
              </a: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1D70E8F8-7FEF-4E6C-BE74-3295A6ECA0DA}"/>
                </a:ext>
              </a:extLst>
            </p:cNvPr>
            <p:cNvSpPr/>
            <p:nvPr/>
          </p:nvSpPr>
          <p:spPr>
            <a:xfrm>
              <a:off x="9800114" y="2224249"/>
              <a:ext cx="1961688" cy="51187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应用层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5906C911-F399-40F6-B549-370C5E485CA2}"/>
                </a:ext>
              </a:extLst>
            </p:cNvPr>
            <p:cNvSpPr txBox="1"/>
            <p:nvPr/>
          </p:nvSpPr>
          <p:spPr>
            <a:xfrm>
              <a:off x="9800114" y="1848477"/>
              <a:ext cx="1961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原理体系结构</a:t>
              </a:r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70E70DAA-86EE-448E-9667-E485C3BF36C7}"/>
              </a:ext>
            </a:extLst>
          </p:cNvPr>
          <p:cNvGrpSpPr/>
          <p:nvPr/>
        </p:nvGrpSpPr>
        <p:grpSpPr>
          <a:xfrm>
            <a:off x="5889343" y="3849630"/>
            <a:ext cx="3811565" cy="2529658"/>
            <a:chOff x="4111419" y="2944297"/>
            <a:chExt cx="3811565" cy="2987705"/>
          </a:xfrm>
        </p:grpSpPr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9F451A56-F330-4664-9158-1500EE65E2A4}"/>
                </a:ext>
              </a:extLst>
            </p:cNvPr>
            <p:cNvCxnSpPr>
              <a:cxnSpLocks/>
            </p:cNvCxnSpPr>
            <p:nvPr/>
          </p:nvCxnSpPr>
          <p:spPr>
            <a:xfrm>
              <a:off x="4111419" y="2944297"/>
              <a:ext cx="3811565" cy="181537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7851FB87-B6D8-403B-A544-B84EAD2CAE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11419" y="5366078"/>
              <a:ext cx="3811565" cy="565924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45129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  <p:bldP spid="117" grpId="0" animBg="1"/>
      <p:bldP spid="1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>
            <a:extLst>
              <a:ext uri="{FF2B5EF4-FFF2-40B4-BE49-F238E27FC236}">
                <a16:creationId xmlns:a16="http://schemas.microsoft.com/office/drawing/2014/main" id="{15FA99A5-4756-46F4-8007-A335A7C5A9FC}"/>
              </a:ext>
            </a:extLst>
          </p:cNvPr>
          <p:cNvSpPr txBox="1"/>
          <p:nvPr/>
        </p:nvSpPr>
        <p:spPr>
          <a:xfrm>
            <a:off x="3539870" y="2454686"/>
            <a:ext cx="1438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192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3"/>
                </a:solidFill>
              </a:rPr>
              <a:t>168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3"/>
                </a:solidFill>
              </a:rPr>
              <a:t>0</a:t>
            </a:r>
            <a:r>
              <a:rPr lang="en-US" altLang="zh-CN" b="1" dirty="0"/>
              <a:t>.254</a:t>
            </a:r>
            <a:endParaRPr lang="zh-CN" altLang="en-US" b="1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B0BCCFB-9A24-47EB-9205-7BCC9ABEB450}"/>
              </a:ext>
            </a:extLst>
          </p:cNvPr>
          <p:cNvGrpSpPr/>
          <p:nvPr/>
        </p:nvGrpSpPr>
        <p:grpSpPr>
          <a:xfrm>
            <a:off x="3447787" y="2788188"/>
            <a:ext cx="1033132" cy="651776"/>
            <a:chOff x="3447787" y="2788188"/>
            <a:chExt cx="1033132" cy="651776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7DFD79A5-B86B-40E7-9D67-5E3617329504}"/>
                </a:ext>
              </a:extLst>
            </p:cNvPr>
            <p:cNvCxnSpPr>
              <a:cxnSpLocks/>
            </p:cNvCxnSpPr>
            <p:nvPr/>
          </p:nvCxnSpPr>
          <p:spPr>
            <a:xfrm>
              <a:off x="3667539" y="2788188"/>
              <a:ext cx="813380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FFDF8B80-2D52-447B-9090-D9B76AC3584E}"/>
                </a:ext>
              </a:extLst>
            </p:cNvPr>
            <p:cNvSpPr txBox="1"/>
            <p:nvPr/>
          </p:nvSpPr>
          <p:spPr>
            <a:xfrm>
              <a:off x="3447787" y="3070632"/>
              <a:ext cx="9367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accent3"/>
                  </a:solidFill>
                </a:rPr>
                <a:t>网络号</a:t>
              </a:r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3EFFD259-7E69-43AA-8036-186DDC6D1A45}"/>
                </a:ext>
              </a:extLst>
            </p:cNvPr>
            <p:cNvCxnSpPr>
              <a:cxnSpLocks/>
              <a:stCxn id="42" idx="0"/>
            </p:cNvCxnSpPr>
            <p:nvPr/>
          </p:nvCxnSpPr>
          <p:spPr>
            <a:xfrm flipV="1">
              <a:off x="3916144" y="2824018"/>
              <a:ext cx="75495" cy="246614"/>
            </a:xfrm>
            <a:prstGeom prst="straightConnector1">
              <a:avLst/>
            </a:prstGeom>
            <a:ln w="2540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89EA8DE-6777-4C9E-9887-E58B7A8B1C18}"/>
              </a:ext>
            </a:extLst>
          </p:cNvPr>
          <p:cNvGrpSpPr/>
          <p:nvPr/>
        </p:nvGrpSpPr>
        <p:grpSpPr>
          <a:xfrm>
            <a:off x="4417820" y="2788188"/>
            <a:ext cx="936713" cy="651776"/>
            <a:chOff x="4417820" y="2788188"/>
            <a:chExt cx="936713" cy="651776"/>
          </a:xfrm>
        </p:grpSpPr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27FFB83A-1675-47D6-B23D-B44D20429F25}"/>
                </a:ext>
              </a:extLst>
            </p:cNvPr>
            <p:cNvCxnSpPr>
              <a:cxnSpLocks/>
            </p:cNvCxnSpPr>
            <p:nvPr/>
          </p:nvCxnSpPr>
          <p:spPr>
            <a:xfrm>
              <a:off x="4504980" y="2788188"/>
              <a:ext cx="36942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2BAB2D5E-19E9-4507-80A7-04475AE817C8}"/>
                </a:ext>
              </a:extLst>
            </p:cNvPr>
            <p:cNvSpPr txBox="1"/>
            <p:nvPr/>
          </p:nvSpPr>
          <p:spPr>
            <a:xfrm>
              <a:off x="4417820" y="3070632"/>
              <a:ext cx="9367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主机号</a:t>
              </a:r>
            </a:p>
          </p:txBody>
        </p: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82226DB9-5400-4A11-AAA5-91099E5F34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1572" y="2828132"/>
              <a:ext cx="112423" cy="2425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34DCB8C5-699C-40CB-A8A8-1A881E0A6666}"/>
              </a:ext>
            </a:extLst>
          </p:cNvPr>
          <p:cNvSpPr txBox="1"/>
          <p:nvPr/>
        </p:nvSpPr>
        <p:spPr>
          <a:xfrm>
            <a:off x="300044" y="2800219"/>
            <a:ext cx="1235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192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3"/>
                </a:solidFill>
              </a:rPr>
              <a:t>168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3"/>
                </a:solidFill>
              </a:rPr>
              <a:t>0</a:t>
            </a:r>
            <a:r>
              <a:rPr lang="en-US" altLang="zh-CN" b="1" dirty="0"/>
              <a:t>.2</a:t>
            </a:r>
            <a:endParaRPr lang="zh-CN" altLang="en-US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229FEF6-65A5-494B-B5D7-AFD3DD4E1D01}"/>
              </a:ext>
            </a:extLst>
          </p:cNvPr>
          <p:cNvSpPr txBox="1"/>
          <p:nvPr/>
        </p:nvSpPr>
        <p:spPr>
          <a:xfrm>
            <a:off x="300044" y="1666288"/>
            <a:ext cx="1235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192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3"/>
                </a:solidFill>
              </a:rPr>
              <a:t>168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3"/>
                </a:solidFill>
              </a:rPr>
              <a:t>0</a:t>
            </a:r>
            <a:r>
              <a:rPr lang="en-US" altLang="zh-CN" b="1" dirty="0"/>
              <a:t>.1</a:t>
            </a:r>
            <a:endParaRPr lang="zh-CN" altLang="en-US" b="1"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17B1475-052A-41CE-B62C-C4A50C02CA41}"/>
              </a:ext>
            </a:extLst>
          </p:cNvPr>
          <p:cNvGrpSpPr/>
          <p:nvPr/>
        </p:nvGrpSpPr>
        <p:grpSpPr>
          <a:xfrm>
            <a:off x="7162228" y="2454686"/>
            <a:ext cx="1906746" cy="985278"/>
            <a:chOff x="7162228" y="2454686"/>
            <a:chExt cx="1906746" cy="985278"/>
          </a:xfrm>
        </p:grpSpPr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4E1D900-9D94-447F-BB0C-77FD9933D106}"/>
                </a:ext>
              </a:extLst>
            </p:cNvPr>
            <p:cNvCxnSpPr>
              <a:cxnSpLocks/>
            </p:cNvCxnSpPr>
            <p:nvPr/>
          </p:nvCxnSpPr>
          <p:spPr>
            <a:xfrm>
              <a:off x="8219421" y="2788188"/>
              <a:ext cx="36942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5C920C17-7B71-45C5-9186-8FF3533843B3}"/>
                </a:ext>
              </a:extLst>
            </p:cNvPr>
            <p:cNvGrpSpPr/>
            <p:nvPr/>
          </p:nvGrpSpPr>
          <p:grpSpPr>
            <a:xfrm>
              <a:off x="7162228" y="2788188"/>
              <a:ext cx="1033132" cy="651776"/>
              <a:chOff x="7162228" y="2788188"/>
              <a:chExt cx="1033132" cy="651776"/>
            </a:xfrm>
          </p:grpSpPr>
          <p:cxnSp>
            <p:nvCxnSpPr>
              <p:cNvPr id="56" name="直接连接符 55">
                <a:extLst>
                  <a:ext uri="{FF2B5EF4-FFF2-40B4-BE49-F238E27FC236}">
                    <a16:creationId xmlns:a16="http://schemas.microsoft.com/office/drawing/2014/main" id="{E05A4B34-582A-4C44-B786-6613D92C11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81980" y="2788188"/>
                <a:ext cx="813380" cy="0"/>
              </a:xfrm>
              <a:prstGeom prst="line">
                <a:avLst/>
              </a:prstGeom>
              <a:ln w="254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0D339565-B5EE-4408-93DC-0855CC1D1E55}"/>
                  </a:ext>
                </a:extLst>
              </p:cNvPr>
              <p:cNvSpPr txBox="1"/>
              <p:nvPr/>
            </p:nvSpPr>
            <p:spPr>
              <a:xfrm>
                <a:off x="7162228" y="3070632"/>
                <a:ext cx="9367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accent4"/>
                    </a:solidFill>
                  </a:rPr>
                  <a:t>网络号</a:t>
                </a:r>
              </a:p>
            </p:txBody>
          </p:sp>
          <p:cxnSp>
            <p:nvCxnSpPr>
              <p:cNvPr id="59" name="直接箭头连接符 58">
                <a:extLst>
                  <a:ext uri="{FF2B5EF4-FFF2-40B4-BE49-F238E27FC236}">
                    <a16:creationId xmlns:a16="http://schemas.microsoft.com/office/drawing/2014/main" id="{4C91E905-0919-426C-81C2-2DEF5D02D043}"/>
                  </a:ext>
                </a:extLst>
              </p:cNvPr>
              <p:cNvCxnSpPr>
                <a:cxnSpLocks/>
                <a:stCxn id="57" idx="0"/>
              </p:cNvCxnSpPr>
              <p:nvPr/>
            </p:nvCxnSpPr>
            <p:spPr>
              <a:xfrm flipV="1">
                <a:off x="7630585" y="2824018"/>
                <a:ext cx="75495" cy="246614"/>
              </a:xfrm>
              <a:prstGeom prst="straightConnector1">
                <a:avLst/>
              </a:prstGeom>
              <a:ln w="25400">
                <a:solidFill>
                  <a:schemeClr val="accent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E421AC9-0532-4F34-B986-9707DB548590}"/>
                </a:ext>
              </a:extLst>
            </p:cNvPr>
            <p:cNvSpPr txBox="1"/>
            <p:nvPr/>
          </p:nvSpPr>
          <p:spPr>
            <a:xfrm>
              <a:off x="7254311" y="2454686"/>
              <a:ext cx="14383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accent4"/>
                  </a:solidFill>
                </a:rPr>
                <a:t>192</a:t>
              </a:r>
              <a:r>
                <a:rPr lang="en-US" altLang="zh-CN" b="1" dirty="0"/>
                <a:t>.</a:t>
              </a:r>
              <a:r>
                <a:rPr lang="en-US" altLang="zh-CN" b="1" dirty="0">
                  <a:solidFill>
                    <a:schemeClr val="accent4"/>
                  </a:solidFill>
                </a:rPr>
                <a:t>168</a:t>
              </a:r>
              <a:r>
                <a:rPr lang="en-US" altLang="zh-CN" b="1" dirty="0"/>
                <a:t>.</a:t>
              </a:r>
              <a:r>
                <a:rPr lang="en-US" altLang="zh-CN" b="1" dirty="0">
                  <a:solidFill>
                    <a:schemeClr val="accent4"/>
                  </a:solidFill>
                </a:rPr>
                <a:t>1</a:t>
              </a:r>
              <a:r>
                <a:rPr lang="en-US" altLang="zh-CN" b="1" dirty="0"/>
                <a:t>.254</a:t>
              </a:r>
              <a:endParaRPr lang="zh-CN" altLang="en-US" b="1" dirty="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39F8BF09-D12C-4EC3-B144-A13260DF312F}"/>
                </a:ext>
              </a:extLst>
            </p:cNvPr>
            <p:cNvSpPr txBox="1"/>
            <p:nvPr/>
          </p:nvSpPr>
          <p:spPr>
            <a:xfrm>
              <a:off x="8132261" y="3070632"/>
              <a:ext cx="9367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主机号</a:t>
              </a:r>
            </a:p>
          </p:txBody>
        </p:sp>
        <p:cxnSp>
          <p:nvCxnSpPr>
            <p:cNvPr id="61" name="直接箭头连接符 60">
              <a:extLst>
                <a:ext uri="{FF2B5EF4-FFF2-40B4-BE49-F238E27FC236}">
                  <a16:creationId xmlns:a16="http://schemas.microsoft.com/office/drawing/2014/main" id="{E9C6CEC4-ABD4-4C23-93EF-2984E66AA6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16013" y="2828132"/>
              <a:ext cx="112423" cy="2425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A92BE7B9-6304-4EED-AFD2-79097347840E}"/>
              </a:ext>
            </a:extLst>
          </p:cNvPr>
          <p:cNvSpPr txBox="1"/>
          <p:nvPr/>
        </p:nvSpPr>
        <p:spPr>
          <a:xfrm>
            <a:off x="10748303" y="1666288"/>
            <a:ext cx="1235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192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4"/>
                </a:solidFill>
              </a:rPr>
              <a:t>168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r>
              <a:rPr lang="en-US" altLang="zh-CN" b="1" dirty="0"/>
              <a:t>.1</a:t>
            </a:r>
            <a:endParaRPr lang="zh-CN" altLang="en-US" b="1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945D21F-7374-40F3-AC98-C0ED9A927B2C}"/>
              </a:ext>
            </a:extLst>
          </p:cNvPr>
          <p:cNvSpPr txBox="1"/>
          <p:nvPr/>
        </p:nvSpPr>
        <p:spPr>
          <a:xfrm>
            <a:off x="10748303" y="2800219"/>
            <a:ext cx="1235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192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4"/>
                </a:solidFill>
              </a:rPr>
              <a:t>168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r>
              <a:rPr lang="en-US" altLang="zh-CN" b="1" dirty="0"/>
              <a:t>.2</a:t>
            </a:r>
            <a:endParaRPr lang="zh-CN" altLang="en-US" b="1" dirty="0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D45D7F-24FC-4FA2-8BEF-05B3D0E5C26E}"/>
              </a:ext>
            </a:extLst>
          </p:cNvPr>
          <p:cNvCxnSpPr>
            <a:cxnSpLocks/>
          </p:cNvCxnSpPr>
          <p:nvPr/>
        </p:nvCxnSpPr>
        <p:spPr>
          <a:xfrm>
            <a:off x="4895918" y="2469495"/>
            <a:ext cx="2248897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75B3A315-67BA-4633-A269-D151CE79C96B}"/>
              </a:ext>
            </a:extLst>
          </p:cNvPr>
          <p:cNvCxnSpPr>
            <a:cxnSpLocks/>
          </p:cNvCxnSpPr>
          <p:nvPr/>
        </p:nvCxnSpPr>
        <p:spPr>
          <a:xfrm>
            <a:off x="6896429" y="2469495"/>
            <a:ext cx="2248897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263464" cy="400110"/>
            <a:chOff x="424117" y="898245"/>
            <a:chExt cx="626346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711200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02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12354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计算机网络体系结构分层的必要性</a:t>
              </a:r>
            </a:p>
          </p:txBody>
        </p:sp>
      </p:grp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FA2174FC-388B-4946-A916-F378BB7D3736}"/>
              </a:ext>
            </a:extLst>
          </p:cNvPr>
          <p:cNvCxnSpPr>
            <a:cxnSpLocks/>
          </p:cNvCxnSpPr>
          <p:nvPr/>
        </p:nvCxnSpPr>
        <p:spPr>
          <a:xfrm flipH="1">
            <a:off x="6139025" y="2512131"/>
            <a:ext cx="936288" cy="921504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B2EB8CD1-FBD0-49FF-8F6F-FA11BAB3F151}"/>
              </a:ext>
            </a:extLst>
          </p:cNvPr>
          <p:cNvCxnSpPr>
            <a:cxnSpLocks/>
          </p:cNvCxnSpPr>
          <p:nvPr/>
        </p:nvCxnSpPr>
        <p:spPr>
          <a:xfrm>
            <a:off x="5116687" y="2469495"/>
            <a:ext cx="935448" cy="946898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C413054-EB1F-4B58-816D-DE9D516F5428}"/>
              </a:ext>
            </a:extLst>
          </p:cNvPr>
          <p:cNvCxnSpPr>
            <a:cxnSpLocks/>
          </p:cNvCxnSpPr>
          <p:nvPr/>
        </p:nvCxnSpPr>
        <p:spPr>
          <a:xfrm>
            <a:off x="2867790" y="2469495"/>
            <a:ext cx="2248897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图形 99">
            <a:extLst>
              <a:ext uri="{FF2B5EF4-FFF2-40B4-BE49-F238E27FC236}">
                <a16:creationId xmlns:a16="http://schemas.microsoft.com/office/drawing/2014/main" id="{8BBA0F5B-0E76-4A5F-96F6-6B42F0B4DC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5624" y="2265025"/>
            <a:ext cx="494252" cy="400109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2789957-776A-4C61-823C-7565D8FF654B}"/>
              </a:ext>
            </a:extLst>
          </p:cNvPr>
          <p:cNvCxnSpPr/>
          <p:nvPr/>
        </p:nvCxnSpPr>
        <p:spPr>
          <a:xfrm flipV="1">
            <a:off x="1767141" y="2469496"/>
            <a:ext cx="1100649" cy="53332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F29C9122-F912-4E8D-BD8C-21FF5F0983D5}"/>
              </a:ext>
            </a:extLst>
          </p:cNvPr>
          <p:cNvCxnSpPr>
            <a:cxnSpLocks/>
          </p:cNvCxnSpPr>
          <p:nvPr/>
        </p:nvCxnSpPr>
        <p:spPr>
          <a:xfrm>
            <a:off x="1767141" y="2026606"/>
            <a:ext cx="1100649" cy="4428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图形 104">
            <a:extLst>
              <a:ext uri="{FF2B5EF4-FFF2-40B4-BE49-F238E27FC236}">
                <a16:creationId xmlns:a16="http://schemas.microsoft.com/office/drawing/2014/main" id="{1F479780-3C29-47AE-A970-EE068E82AE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1345" y="1660229"/>
            <a:ext cx="629867" cy="609213"/>
          </a:xfrm>
          <a:prstGeom prst="rect">
            <a:avLst/>
          </a:prstGeom>
        </p:spPr>
      </p:pic>
      <p:pic>
        <p:nvPicPr>
          <p:cNvPr id="98" name="图形 97">
            <a:extLst>
              <a:ext uri="{FF2B5EF4-FFF2-40B4-BE49-F238E27FC236}">
                <a16:creationId xmlns:a16="http://schemas.microsoft.com/office/drawing/2014/main" id="{1090155D-E5D4-47D1-88FA-653B0F1245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24140" y="2669551"/>
            <a:ext cx="486002" cy="637878"/>
          </a:xfrm>
          <a:prstGeom prst="rect">
            <a:avLst/>
          </a:prstGeom>
        </p:spPr>
      </p:pic>
      <p:sp>
        <p:nvSpPr>
          <p:cNvPr id="7" name="云形 6">
            <a:extLst>
              <a:ext uri="{FF2B5EF4-FFF2-40B4-BE49-F238E27FC236}">
                <a16:creationId xmlns:a16="http://schemas.microsoft.com/office/drawing/2014/main" id="{BFE9D540-70B6-4F5D-8FB9-CE354B942BBB}"/>
              </a:ext>
            </a:extLst>
          </p:cNvPr>
          <p:cNvSpPr/>
          <p:nvPr/>
        </p:nvSpPr>
        <p:spPr>
          <a:xfrm>
            <a:off x="2495073" y="2213562"/>
            <a:ext cx="745435" cy="511870"/>
          </a:xfrm>
          <a:prstGeom prst="cloud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N1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C5A5DC2B-9ABC-4B27-8880-0AFBC23C96E0}"/>
              </a:ext>
            </a:extLst>
          </p:cNvPr>
          <p:cNvCxnSpPr>
            <a:cxnSpLocks/>
          </p:cNvCxnSpPr>
          <p:nvPr/>
        </p:nvCxnSpPr>
        <p:spPr>
          <a:xfrm flipV="1">
            <a:off x="9353994" y="2092474"/>
            <a:ext cx="1199512" cy="43290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8660BBBF-BFA8-4DE5-96DA-4C96ABA29B6E}"/>
              </a:ext>
            </a:extLst>
          </p:cNvPr>
          <p:cNvCxnSpPr>
            <a:cxnSpLocks/>
          </p:cNvCxnSpPr>
          <p:nvPr/>
        </p:nvCxnSpPr>
        <p:spPr>
          <a:xfrm>
            <a:off x="9353994" y="2504712"/>
            <a:ext cx="1048301" cy="5669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图形 100">
            <a:extLst>
              <a:ext uri="{FF2B5EF4-FFF2-40B4-BE49-F238E27FC236}">
                <a16:creationId xmlns:a16="http://schemas.microsoft.com/office/drawing/2014/main" id="{6F3C1048-C6F9-46DB-B020-4CDDD9637F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80788" y="1660229"/>
            <a:ext cx="629867" cy="609213"/>
          </a:xfrm>
          <a:prstGeom prst="rect">
            <a:avLst/>
          </a:prstGeom>
        </p:spPr>
      </p:pic>
      <p:pic>
        <p:nvPicPr>
          <p:cNvPr id="102" name="图形 101">
            <a:extLst>
              <a:ext uri="{FF2B5EF4-FFF2-40B4-BE49-F238E27FC236}">
                <a16:creationId xmlns:a16="http://schemas.microsoft.com/office/drawing/2014/main" id="{7EF832E3-2481-46E4-B972-0096A46781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79718" y="2698216"/>
            <a:ext cx="629867" cy="609213"/>
          </a:xfrm>
          <a:prstGeom prst="rect">
            <a:avLst/>
          </a:prstGeom>
        </p:spPr>
      </p:pic>
      <p:sp>
        <p:nvSpPr>
          <p:cNvPr id="104" name="云形 103">
            <a:extLst>
              <a:ext uri="{FF2B5EF4-FFF2-40B4-BE49-F238E27FC236}">
                <a16:creationId xmlns:a16="http://schemas.microsoft.com/office/drawing/2014/main" id="{C4737D9D-D28E-4652-880C-1178245D007A}"/>
              </a:ext>
            </a:extLst>
          </p:cNvPr>
          <p:cNvSpPr/>
          <p:nvPr/>
        </p:nvSpPr>
        <p:spPr>
          <a:xfrm>
            <a:off x="8949352" y="2213562"/>
            <a:ext cx="745435" cy="511870"/>
          </a:xfrm>
          <a:prstGeom prst="clou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N2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124" name="图形 123">
            <a:extLst>
              <a:ext uri="{FF2B5EF4-FFF2-40B4-BE49-F238E27FC236}">
                <a16:creationId xmlns:a16="http://schemas.microsoft.com/office/drawing/2014/main" id="{CB587546-499F-4041-83B9-D72348F72C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2123" y="2265025"/>
            <a:ext cx="494252" cy="400109"/>
          </a:xfrm>
          <a:prstGeom prst="rect">
            <a:avLst/>
          </a:prstGeom>
        </p:spPr>
      </p:pic>
      <p:pic>
        <p:nvPicPr>
          <p:cNvPr id="125" name="图形 124">
            <a:extLst>
              <a:ext uri="{FF2B5EF4-FFF2-40B4-BE49-F238E27FC236}">
                <a16:creationId xmlns:a16="http://schemas.microsoft.com/office/drawing/2014/main" id="{A1C5797D-BC2B-41B8-9B1C-B31D123EBC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8874" y="3191976"/>
            <a:ext cx="494252" cy="400109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A40C1ED6-89F7-4AE0-BD52-416407F2BAFD}"/>
              </a:ext>
            </a:extLst>
          </p:cNvPr>
          <p:cNvSpPr txBox="1"/>
          <p:nvPr/>
        </p:nvSpPr>
        <p:spPr>
          <a:xfrm>
            <a:off x="1871130" y="1647870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H1</a:t>
            </a:r>
            <a:endParaRPr lang="zh-CN" altLang="en-US" b="1" dirty="0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0E000922-C4F7-4659-A512-598374B57DF8}"/>
              </a:ext>
            </a:extLst>
          </p:cNvPr>
          <p:cNvSpPr txBox="1"/>
          <p:nvPr/>
        </p:nvSpPr>
        <p:spPr>
          <a:xfrm>
            <a:off x="1871130" y="2934599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H2</a:t>
            </a:r>
            <a:endParaRPr lang="zh-CN" altLang="en-US" b="1" dirty="0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77404B7D-995E-470F-9F36-2E155CEDE156}"/>
              </a:ext>
            </a:extLst>
          </p:cNvPr>
          <p:cNvSpPr txBox="1"/>
          <p:nvPr/>
        </p:nvSpPr>
        <p:spPr>
          <a:xfrm>
            <a:off x="9718443" y="1647870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H3</a:t>
            </a:r>
            <a:endParaRPr lang="zh-CN" altLang="en-US" b="1" dirty="0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E28E7D80-45CD-4972-8A59-BCDB3C63123A}"/>
              </a:ext>
            </a:extLst>
          </p:cNvPr>
          <p:cNvSpPr txBox="1"/>
          <p:nvPr/>
        </p:nvSpPr>
        <p:spPr>
          <a:xfrm>
            <a:off x="9718443" y="2934599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H4</a:t>
            </a:r>
            <a:endParaRPr lang="zh-CN" altLang="en-US" b="1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C018541F-FCE1-4B1D-9556-0A01C03C28DB}"/>
              </a:ext>
            </a:extLst>
          </p:cNvPr>
          <p:cNvSpPr txBox="1"/>
          <p:nvPr/>
        </p:nvSpPr>
        <p:spPr>
          <a:xfrm>
            <a:off x="4782156" y="1928834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R1</a:t>
            </a:r>
            <a:endParaRPr lang="zh-CN" altLang="en-US" b="1" dirty="0"/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CEBE538B-81C7-4869-A95D-6FF6A9D2C20E}"/>
              </a:ext>
            </a:extLst>
          </p:cNvPr>
          <p:cNvSpPr txBox="1"/>
          <p:nvPr/>
        </p:nvSpPr>
        <p:spPr>
          <a:xfrm>
            <a:off x="6783761" y="1928834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R2</a:t>
            </a:r>
            <a:endParaRPr lang="zh-CN" altLang="en-US" b="1" dirty="0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C3122CB3-B17B-4D7A-9CD7-4FC2A0BEF55C}"/>
              </a:ext>
            </a:extLst>
          </p:cNvPr>
          <p:cNvSpPr txBox="1"/>
          <p:nvPr/>
        </p:nvSpPr>
        <p:spPr>
          <a:xfrm>
            <a:off x="5784028" y="2828132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R3</a:t>
            </a:r>
            <a:endParaRPr lang="zh-CN" altLang="en-US" b="1" dirty="0"/>
          </a:p>
        </p:txBody>
      </p: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F4F879E4-79F9-4BB1-8477-190021AE4327}"/>
              </a:ext>
            </a:extLst>
          </p:cNvPr>
          <p:cNvGrpSpPr/>
          <p:nvPr/>
        </p:nvGrpSpPr>
        <p:grpSpPr>
          <a:xfrm>
            <a:off x="518643" y="4117937"/>
            <a:ext cx="7671200" cy="1589042"/>
            <a:chOff x="518643" y="3702131"/>
            <a:chExt cx="5359941" cy="1589042"/>
          </a:xfrm>
        </p:grpSpPr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53E2FB54-2D82-4B93-8B47-95E5F688F0A4}"/>
                </a:ext>
              </a:extLst>
            </p:cNvPr>
            <p:cNvSpPr/>
            <p:nvPr/>
          </p:nvSpPr>
          <p:spPr>
            <a:xfrm>
              <a:off x="518643" y="3702131"/>
              <a:ext cx="5359941" cy="51187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需要考虑的主要问题</a:t>
              </a: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AD2799C8-C096-4B3D-A4DE-864E12A474B2}"/>
                </a:ext>
              </a:extLst>
            </p:cNvPr>
            <p:cNvSpPr/>
            <p:nvPr/>
          </p:nvSpPr>
          <p:spPr>
            <a:xfrm>
              <a:off x="518643" y="4214002"/>
              <a:ext cx="5359941" cy="107717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</p:grpSp>
      <p:sp>
        <p:nvSpPr>
          <p:cNvPr id="138" name="椭圆 137">
            <a:extLst>
              <a:ext uri="{FF2B5EF4-FFF2-40B4-BE49-F238E27FC236}">
                <a16:creationId xmlns:a16="http://schemas.microsoft.com/office/drawing/2014/main" id="{465722CD-0740-4189-A248-070DEAB968B6}"/>
              </a:ext>
            </a:extLst>
          </p:cNvPr>
          <p:cNvSpPr/>
          <p:nvPr/>
        </p:nvSpPr>
        <p:spPr>
          <a:xfrm>
            <a:off x="729945" y="4840822"/>
            <a:ext cx="211015" cy="21101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CE0EBE65-BC93-421F-BA7D-D9E34D15EC4D}"/>
              </a:ext>
            </a:extLst>
          </p:cNvPr>
          <p:cNvSpPr txBox="1"/>
          <p:nvPr/>
        </p:nvSpPr>
        <p:spPr>
          <a:xfrm>
            <a:off x="940960" y="4761663"/>
            <a:ext cx="7079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标识网络和网络中的各主机（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网络和主机共同编址</a:t>
            </a:r>
            <a:r>
              <a:rPr lang="zh-CN" altLang="en-US" b="1" dirty="0"/>
              <a:t>，例如</a:t>
            </a:r>
            <a:r>
              <a:rPr lang="en-US" altLang="zh-CN" b="1" dirty="0"/>
              <a:t>IP</a:t>
            </a:r>
            <a:r>
              <a:rPr lang="zh-CN" altLang="en-US" b="1" dirty="0"/>
              <a:t>地址）</a:t>
            </a:r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0BDA8C59-0D49-4D37-B1B3-527A64B7DBB1}"/>
              </a:ext>
            </a:extLst>
          </p:cNvPr>
          <p:cNvSpPr/>
          <p:nvPr/>
        </p:nvSpPr>
        <p:spPr>
          <a:xfrm>
            <a:off x="729945" y="5328893"/>
            <a:ext cx="211015" cy="21101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08AE62F4-5945-4381-B03A-F1B1799D9D8E}"/>
              </a:ext>
            </a:extLst>
          </p:cNvPr>
          <p:cNvSpPr txBox="1"/>
          <p:nvPr/>
        </p:nvSpPr>
        <p:spPr>
          <a:xfrm>
            <a:off x="940960" y="5249734"/>
            <a:ext cx="6920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路由器转发分组（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路由选择协议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路由表和转发表</a:t>
            </a:r>
            <a:r>
              <a:rPr lang="zh-CN" altLang="en-US" b="1" dirty="0"/>
              <a:t>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5C11F7-FF69-4500-9EB8-A2D02F45AC69}"/>
              </a:ext>
            </a:extLst>
          </p:cNvPr>
          <p:cNvSpPr/>
          <p:nvPr/>
        </p:nvSpPr>
        <p:spPr>
          <a:xfrm>
            <a:off x="1664221" y="1838284"/>
            <a:ext cx="225841" cy="225841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7B46AB83-422D-4780-806B-62F11574626C}"/>
              </a:ext>
            </a:extLst>
          </p:cNvPr>
          <p:cNvGrpSpPr/>
          <p:nvPr/>
        </p:nvGrpSpPr>
        <p:grpSpPr>
          <a:xfrm>
            <a:off x="9700908" y="3473857"/>
            <a:ext cx="1961690" cy="2938139"/>
            <a:chOff x="9800114" y="1848477"/>
            <a:chExt cx="1961690" cy="2938139"/>
          </a:xfrm>
        </p:grpSpPr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B152CD9C-DF15-43A9-BFAE-0383C609B3F1}"/>
                </a:ext>
              </a:extLst>
            </p:cNvPr>
            <p:cNvSpPr/>
            <p:nvPr/>
          </p:nvSpPr>
          <p:spPr>
            <a:xfrm>
              <a:off x="9800116" y="4274746"/>
              <a:ext cx="1961688" cy="51187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物理层</a:t>
              </a: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04B4FE9A-902E-4274-A32A-17F8A31E90C6}"/>
                </a:ext>
              </a:extLst>
            </p:cNvPr>
            <p:cNvSpPr/>
            <p:nvPr/>
          </p:nvSpPr>
          <p:spPr>
            <a:xfrm>
              <a:off x="9800115" y="2737686"/>
              <a:ext cx="1961688" cy="51187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运输层</a:t>
              </a: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CBC57040-05EB-4EAC-ADA5-48A49603BC2A}"/>
                </a:ext>
              </a:extLst>
            </p:cNvPr>
            <p:cNvSpPr/>
            <p:nvPr/>
          </p:nvSpPr>
          <p:spPr>
            <a:xfrm>
              <a:off x="9800116" y="3251006"/>
              <a:ext cx="1961688" cy="51187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网络层</a:t>
              </a: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FBA007A5-6A79-43AA-8222-94D63A6F3037}"/>
                </a:ext>
              </a:extLst>
            </p:cNvPr>
            <p:cNvSpPr/>
            <p:nvPr/>
          </p:nvSpPr>
          <p:spPr>
            <a:xfrm>
              <a:off x="9800116" y="3762876"/>
              <a:ext cx="1961688" cy="51187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数据链路层</a:t>
              </a: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B7FF0E82-6764-45EE-91F4-27A826A7F3F5}"/>
                </a:ext>
              </a:extLst>
            </p:cNvPr>
            <p:cNvSpPr/>
            <p:nvPr/>
          </p:nvSpPr>
          <p:spPr>
            <a:xfrm>
              <a:off x="9800114" y="2224249"/>
              <a:ext cx="1961688" cy="51187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应用层</a:t>
              </a: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0972F187-E912-4B79-AF98-5836ED943B33}"/>
                </a:ext>
              </a:extLst>
            </p:cNvPr>
            <p:cNvSpPr txBox="1"/>
            <p:nvPr/>
          </p:nvSpPr>
          <p:spPr>
            <a:xfrm>
              <a:off x="9800114" y="1848477"/>
              <a:ext cx="1961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原理体系结构</a:t>
              </a: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D511F533-9DEF-4DA9-A5BE-FAE75B8FC02C}"/>
              </a:ext>
            </a:extLst>
          </p:cNvPr>
          <p:cNvGrpSpPr/>
          <p:nvPr/>
        </p:nvGrpSpPr>
        <p:grpSpPr>
          <a:xfrm>
            <a:off x="8189843" y="4629806"/>
            <a:ext cx="1498326" cy="1071932"/>
            <a:chOff x="6424658" y="4450912"/>
            <a:chExt cx="1498326" cy="1266028"/>
          </a:xfrm>
        </p:grpSpPr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26A9A976-7101-4A60-AAF2-C0CC3C1465C9}"/>
                </a:ext>
              </a:extLst>
            </p:cNvPr>
            <p:cNvCxnSpPr>
              <a:cxnSpLocks/>
            </p:cNvCxnSpPr>
            <p:nvPr/>
          </p:nvCxnSpPr>
          <p:spPr>
            <a:xfrm>
              <a:off x="6424658" y="4450912"/>
              <a:ext cx="1498326" cy="308759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7431FF13-1678-4AB9-B69A-2B0C431A7F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4658" y="5366078"/>
              <a:ext cx="1498326" cy="35086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267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-0.00185 L 0.00104 -0.00185 C 0.00261 0.00185 0.00391 0.00625 0.00586 0.00972 C 0.00651 0.01065 0.00756 0.01042 0.00834 0.01111 C 0.01589 0.0169 0.01042 0.01435 0.01732 0.0169 C 0.02748 0.03056 0.01224 0.01111 0.02539 0.02407 C 0.02644 0.025 0.02696 0.02732 0.02787 0.02847 C 0.02865 0.0294 0.02956 0.0294 0.03034 0.02986 C 0.03138 0.03079 0.03243 0.03195 0.0336 0.03287 C 0.03438 0.03333 0.03529 0.03357 0.03607 0.03426 C 0.03685 0.03495 0.03763 0.03634 0.03841 0.03704 C 0.04167 0.04005 0.04219 0.03958 0.04506 0.04144 C 0.04636 0.04236 0.04779 0.04329 0.04909 0.04445 C 0.05131 0.0463 0.05326 0.04907 0.0556 0.05023 C 0.06042 0.05232 0.05782 0.05139 0.06381 0.05301 C 0.06576 0.05486 0.06901 0.05787 0.0711 0.0588 C 0.07292 0.05972 0.07487 0.05995 0.07683 0.06042 C 0.07813 0.06134 0.07943 0.06273 0.08086 0.0632 C 0.08464 0.06435 0.08841 0.06435 0.09232 0.06458 C 0.10612 0.06551 0.12006 0.06574 0.13386 0.0662 C 0.18099 0.08472 0.12657 0.06412 0.26107 0.07037 C 0.26289 0.0706 0.2642 0.07361 0.26589 0.07477 C 0.26719 0.0757 0.26862 0.0757 0.27006 0.07616 C 0.27084 0.07662 0.27162 0.07732 0.2724 0.07778 C 0.27578 0.08681 0.27318 0.08125 0.28216 0.09074 L 0.28216 0.09074 C 0.2836 0.09306 0.28477 0.09583 0.28633 0.09792 C 0.28933 0.10208 0.29024 0.10278 0.29284 0.1081 C 0.29349 0.10949 0.29388 0.11111 0.2944 0.1125 C 0.29493 0.11366 0.29558 0.11435 0.2961 0.11528 C 0.29701 0.11713 0.29779 0.11921 0.29857 0.12107 C 0.29909 0.12269 0.29948 0.12431 0.30013 0.12546 C 0.3017 0.12847 0.30404 0.13056 0.30508 0.13426 C 0.30586 0.13704 0.30703 0.1419 0.30834 0.14445 C 0.31016 0.14792 0.31211 0.15116 0.31407 0.1544 C 0.31511 0.15648 0.31641 0.1581 0.31732 0.16019 C 0.32136 0.17107 0.31667 0.15926 0.32058 0.16759 C 0.32136 0.16945 0.32201 0.17153 0.32305 0.17338 C 0.3237 0.17454 0.32461 0.17523 0.32539 0.17616 C 0.32604 0.17708 0.32644 0.17824 0.32709 0.17917 C 0.32787 0.18009 0.32878 0.18079 0.32956 0.18195 C 0.33177 0.18565 0.33308 0.1919 0.33607 0.19352 C 0.33685 0.19398 0.33776 0.19445 0.33841 0.19514 C 0.33959 0.19607 0.34362 0.20139 0.34414 0.20232 C 0.34479 0.20324 0.34519 0.20463 0.34584 0.20509 C 0.3474 0.20648 0.34909 0.20695 0.35065 0.2081 C 0.35183 0.2088 0.35287 0.21019 0.35391 0.21088 C 0.35534 0.21204 0.35664 0.2132 0.35808 0.21389 C 0.36068 0.21505 0.36615 0.2169 0.36615 0.2169 C 0.36758 0.2162 0.36901 0.21644 0.37032 0.21528 C 0.3737 0.2125 0.37461 0.21042 0.37683 0.20671 C 0.37735 0.20417 0.378 0.20185 0.37839 0.19931 C 0.37865 0.19815 0.3793 0.18982 0.38008 0.18773 C 0.38073 0.18611 0.38177 0.18519 0.38256 0.18357 C 0.38373 0.18079 0.38438 0.17732 0.38581 0.17477 C 0.38763 0.1713 0.38998 0.16852 0.39141 0.16458 C 0.39336 0.15972 0.39375 0.1581 0.39636 0.15301 C 0.3974 0.15093 0.39857 0.14931 0.39961 0.14722 C 0.40026 0.14583 0.40065 0.14421 0.40131 0.14282 C 0.40209 0.14097 0.40287 0.13912 0.40365 0.13704 C 0.40599 0.12477 0.40274 0.13982 0.40612 0.12986 C 0.40664 0.12847 0.40651 0.12685 0.4069 0.12546 C 0.40782 0.12338 0.40938 0.12199 0.41016 0.11968 C 0.41081 0.11829 0.4112 0.11667 0.41185 0.11528 C 0.41302 0.1132 0.41472 0.11181 0.41589 0.10949 C 0.41667 0.10833 0.4168 0.10648 0.41758 0.10532 C 0.41849 0.10347 0.41979 0.10232 0.42084 0.10093 C 0.4237 0.09306 0.42175 0.09769 0.42735 0.08796 L 0.42735 0.08796 C 0.42943 0.08287 0.43021 0.08032 0.43308 0.07616 C 0.43516 0.07315 0.43959 0.06759 0.43959 0.06759 C 0.59479 0.07083 0.53256 0.07338 0.62631 0.06759 C 0.62813 0.06713 0.63008 0.06713 0.6319 0.0662 C 0.63308 0.06551 0.63399 0.06389 0.63516 0.0632 C 0.63633 0.06273 0.64675 0.06042 0.6474 0.06042 C 0.64883 0.05995 0.65013 0.05926 0.65157 0.0588 C 0.65339 0.05833 0.65534 0.05787 0.65716 0.05741 C 0.65886 0.05695 0.66055 0.05648 0.66211 0.05602 C 0.66784 0.05185 0.66485 0.05394 0.6711 0.05023 C 0.67266 0.04931 0.67422 0.04769 0.67591 0.04722 L 0.68256 0.04583 C 0.6836 0.04537 0.68477 0.04537 0.68581 0.04445 C 0.68646 0.04375 0.68672 0.0419 0.68737 0.04144 C 0.6905 0.03958 0.69401 0.03912 0.69714 0.03704 C 0.69805 0.03657 0.69883 0.03634 0.69961 0.03565 C 0.70131 0.03449 0.70287 0.03287 0.70456 0.03125 C 0.70964 0.02639 0.70469 0.03079 0.7086 0.02546 C 0.71016 0.02338 0.71211 0.02222 0.71341 0.01968 C 0.71537 0.01644 0.71719 0.01273 0.72006 0.01111 L 0.7224 0.00972 C 0.72331 0.0081 0.72422 0.00695 0.72487 0.00532 C 0.72591 0.00255 0.72565 0.0007 0.72565 -0.00185 L 0.72565 -0.00185 " pathEditMode="relative" ptsTypes="AAAAAAAAAAAAAAAAAAAAAAAAAAAAAAAAAAAAAAAAAAAAAAAAAAAAAAAAAAAAAAAAAAAAAAAAAAAAAAAAAAAAAAAAAAAAA">
                                      <p:cBhvr>
                                        <p:cTn id="12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  <p:bldP spid="141" grpId="0"/>
      <p:bldP spid="5" grpId="0" animBg="1"/>
      <p:bldP spid="5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>
            <a:extLst>
              <a:ext uri="{FF2B5EF4-FFF2-40B4-BE49-F238E27FC236}">
                <a16:creationId xmlns:a16="http://schemas.microsoft.com/office/drawing/2014/main" id="{08CA01EA-9CBA-42C8-B361-EF457BCA6D3B}"/>
              </a:ext>
            </a:extLst>
          </p:cNvPr>
          <p:cNvSpPr txBox="1"/>
          <p:nvPr/>
        </p:nvSpPr>
        <p:spPr>
          <a:xfrm>
            <a:off x="6794719" y="2656339"/>
            <a:ext cx="730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丢弃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zh-CN" altLang="en-US" sz="1800" b="1" dirty="0">
                <a:solidFill>
                  <a:schemeClr val="accent1">
                    <a:lumMod val="75000"/>
                  </a:schemeClr>
                </a:solidFill>
              </a:rPr>
              <a:t>分组</a:t>
            </a:r>
          </a:p>
        </p:txBody>
      </p:sp>
      <p:sp>
        <p:nvSpPr>
          <p:cNvPr id="99" name="question-mark-draw_16686">
            <a:extLst>
              <a:ext uri="{FF2B5EF4-FFF2-40B4-BE49-F238E27FC236}">
                <a16:creationId xmlns:a16="http://schemas.microsoft.com/office/drawing/2014/main" id="{EE6C4E7A-4941-4D0F-84D1-BD7FF436CBFC}"/>
              </a:ext>
            </a:extLst>
          </p:cNvPr>
          <p:cNvSpPr/>
          <p:nvPr/>
        </p:nvSpPr>
        <p:spPr>
          <a:xfrm>
            <a:off x="10414480" y="895652"/>
            <a:ext cx="395105" cy="609685"/>
          </a:xfrm>
          <a:custGeom>
            <a:avLst/>
            <a:gdLst>
              <a:gd name="connsiteX0" fmla="*/ 148049 w 391493"/>
              <a:gd name="connsiteY0" fmla="*/ 466367 h 604111"/>
              <a:gd name="connsiteX1" fmla="*/ 196111 w 391493"/>
              <a:gd name="connsiteY1" fmla="*/ 466367 h 604111"/>
              <a:gd name="connsiteX2" fmla="*/ 251915 w 391493"/>
              <a:gd name="connsiteY2" fmla="*/ 522109 h 604111"/>
              <a:gd name="connsiteX3" fmla="*/ 251915 w 391493"/>
              <a:gd name="connsiteY3" fmla="*/ 548208 h 604111"/>
              <a:gd name="connsiteX4" fmla="*/ 196111 w 391493"/>
              <a:gd name="connsiteY4" fmla="*/ 604111 h 604111"/>
              <a:gd name="connsiteX5" fmla="*/ 148049 w 391493"/>
              <a:gd name="connsiteY5" fmla="*/ 604111 h 604111"/>
              <a:gd name="connsiteX6" fmla="*/ 92084 w 391493"/>
              <a:gd name="connsiteY6" fmla="*/ 548208 h 604111"/>
              <a:gd name="connsiteX7" fmla="*/ 92084 w 391493"/>
              <a:gd name="connsiteY7" fmla="*/ 522109 h 604111"/>
              <a:gd name="connsiteX8" fmla="*/ 148049 w 391493"/>
              <a:gd name="connsiteY8" fmla="*/ 466367 h 604111"/>
              <a:gd name="connsiteX9" fmla="*/ 188697 w 391493"/>
              <a:gd name="connsiteY9" fmla="*/ 0 h 604111"/>
              <a:gd name="connsiteX10" fmla="*/ 391493 w 391493"/>
              <a:gd name="connsiteY10" fmla="*/ 170104 h 604111"/>
              <a:gd name="connsiteX11" fmla="*/ 391493 w 391493"/>
              <a:gd name="connsiteY11" fmla="*/ 171715 h 604111"/>
              <a:gd name="connsiteX12" fmla="*/ 233387 w 391493"/>
              <a:gd name="connsiteY12" fmla="*/ 367431 h 604111"/>
              <a:gd name="connsiteX13" fmla="*/ 228385 w 391493"/>
              <a:gd name="connsiteY13" fmla="*/ 393365 h 604111"/>
              <a:gd name="connsiteX14" fmla="*/ 174500 w 391493"/>
              <a:gd name="connsiteY14" fmla="*/ 419300 h 604111"/>
              <a:gd name="connsiteX15" fmla="*/ 117065 w 391493"/>
              <a:gd name="connsiteY15" fmla="*/ 364048 h 604111"/>
              <a:gd name="connsiteX16" fmla="*/ 113355 w 391493"/>
              <a:gd name="connsiteY16" fmla="*/ 339241 h 604111"/>
              <a:gd name="connsiteX17" fmla="*/ 108353 w 391493"/>
              <a:gd name="connsiteY17" fmla="*/ 280285 h 604111"/>
              <a:gd name="connsiteX18" fmla="*/ 111580 w 391493"/>
              <a:gd name="connsiteY18" fmla="*/ 276741 h 604111"/>
              <a:gd name="connsiteX19" fmla="*/ 239033 w 391493"/>
              <a:gd name="connsiteY19" fmla="*/ 183957 h 604111"/>
              <a:gd name="connsiteX20" fmla="*/ 239033 w 391493"/>
              <a:gd name="connsiteY20" fmla="*/ 183152 h 604111"/>
              <a:gd name="connsiteX21" fmla="*/ 178211 w 391493"/>
              <a:gd name="connsiteY21" fmla="*/ 138531 h 604111"/>
              <a:gd name="connsiteX22" fmla="*/ 104965 w 391493"/>
              <a:gd name="connsiteY22" fmla="*/ 159472 h 604111"/>
              <a:gd name="connsiteX23" fmla="*/ 25911 w 391493"/>
              <a:gd name="connsiteY23" fmla="*/ 147552 h 604111"/>
              <a:gd name="connsiteX24" fmla="*/ 12198 w 391493"/>
              <a:gd name="connsiteY24" fmla="*/ 129511 h 604111"/>
              <a:gd name="connsiteX25" fmla="*/ 21394 w 391493"/>
              <a:gd name="connsiteY25" fmla="*/ 49291 h 604111"/>
              <a:gd name="connsiteX26" fmla="*/ 188697 w 391493"/>
              <a:gd name="connsiteY26" fmla="*/ 0 h 604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91493" h="604111">
                <a:moveTo>
                  <a:pt x="148049" y="466367"/>
                </a:moveTo>
                <a:lnTo>
                  <a:pt x="196111" y="466367"/>
                </a:lnTo>
                <a:cubicBezTo>
                  <a:pt x="226916" y="466367"/>
                  <a:pt x="251915" y="491338"/>
                  <a:pt x="251915" y="522109"/>
                </a:cubicBezTo>
                <a:lnTo>
                  <a:pt x="251915" y="548208"/>
                </a:lnTo>
                <a:cubicBezTo>
                  <a:pt x="251915" y="579140"/>
                  <a:pt x="226916" y="604111"/>
                  <a:pt x="196111" y="604111"/>
                </a:cubicBezTo>
                <a:lnTo>
                  <a:pt x="148049" y="604111"/>
                </a:lnTo>
                <a:cubicBezTo>
                  <a:pt x="117244" y="604111"/>
                  <a:pt x="92084" y="579140"/>
                  <a:pt x="92084" y="548208"/>
                </a:cubicBezTo>
                <a:lnTo>
                  <a:pt x="92084" y="522109"/>
                </a:lnTo>
                <a:cubicBezTo>
                  <a:pt x="92084" y="491338"/>
                  <a:pt x="117083" y="466367"/>
                  <a:pt x="148049" y="466367"/>
                </a:cubicBezTo>
                <a:close/>
                <a:moveTo>
                  <a:pt x="188697" y="0"/>
                </a:moveTo>
                <a:cubicBezTo>
                  <a:pt x="307923" y="0"/>
                  <a:pt x="391493" y="64755"/>
                  <a:pt x="391493" y="170104"/>
                </a:cubicBezTo>
                <a:lnTo>
                  <a:pt x="391493" y="171715"/>
                </a:lnTo>
                <a:cubicBezTo>
                  <a:pt x="391493" y="273841"/>
                  <a:pt x="323411" y="345524"/>
                  <a:pt x="233387" y="367431"/>
                </a:cubicBezTo>
                <a:cubicBezTo>
                  <a:pt x="233387" y="367431"/>
                  <a:pt x="231128" y="379029"/>
                  <a:pt x="228385" y="393365"/>
                </a:cubicBezTo>
                <a:cubicBezTo>
                  <a:pt x="225804" y="407702"/>
                  <a:pt x="201604" y="419300"/>
                  <a:pt x="174500" y="419300"/>
                </a:cubicBezTo>
                <a:cubicBezTo>
                  <a:pt x="147396" y="419300"/>
                  <a:pt x="121744" y="394493"/>
                  <a:pt x="117065" y="364048"/>
                </a:cubicBezTo>
                <a:lnTo>
                  <a:pt x="113355" y="339241"/>
                </a:lnTo>
                <a:cubicBezTo>
                  <a:pt x="108837" y="308635"/>
                  <a:pt x="106579" y="282379"/>
                  <a:pt x="108353" y="280285"/>
                </a:cubicBezTo>
                <a:lnTo>
                  <a:pt x="111580" y="276741"/>
                </a:lnTo>
                <a:cubicBezTo>
                  <a:pt x="205799" y="268526"/>
                  <a:pt x="239033" y="218751"/>
                  <a:pt x="239033" y="183957"/>
                </a:cubicBezTo>
                <a:lnTo>
                  <a:pt x="239033" y="183152"/>
                </a:lnTo>
                <a:cubicBezTo>
                  <a:pt x="239033" y="155606"/>
                  <a:pt x="217092" y="138531"/>
                  <a:pt x="178211" y="138531"/>
                </a:cubicBezTo>
                <a:cubicBezTo>
                  <a:pt x="154656" y="138531"/>
                  <a:pt x="129649" y="145941"/>
                  <a:pt x="104965" y="159472"/>
                </a:cubicBezTo>
                <a:cubicBezTo>
                  <a:pt x="78022" y="174453"/>
                  <a:pt x="44465" y="172037"/>
                  <a:pt x="25911" y="147552"/>
                </a:cubicBezTo>
                <a:lnTo>
                  <a:pt x="12198" y="129511"/>
                </a:lnTo>
                <a:cubicBezTo>
                  <a:pt x="-6355" y="105026"/>
                  <a:pt x="-4097" y="66849"/>
                  <a:pt x="21394" y="49291"/>
                </a:cubicBezTo>
                <a:cubicBezTo>
                  <a:pt x="65115" y="19330"/>
                  <a:pt x="119808" y="0"/>
                  <a:pt x="18869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6DA2E32-63EC-41C3-B92F-A367004755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127" y="3471135"/>
            <a:ext cx="1048301" cy="209660"/>
          </a:xfrm>
          <a:prstGeom prst="rect">
            <a:avLst/>
          </a:prstGeom>
        </p:spPr>
      </p:pic>
      <p:pic>
        <p:nvPicPr>
          <p:cNvPr id="17" name="图片 16" descr="卡通画&#10;&#10;描述已自动生成">
            <a:extLst>
              <a:ext uri="{FF2B5EF4-FFF2-40B4-BE49-F238E27FC236}">
                <a16:creationId xmlns:a16="http://schemas.microsoft.com/office/drawing/2014/main" id="{E5CECAE3-CD51-469D-9A05-CDCC6AA510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5511" y="907749"/>
            <a:ext cx="605266" cy="546359"/>
          </a:xfrm>
          <a:prstGeom prst="rect">
            <a:avLst/>
          </a:prstGeom>
        </p:spPr>
      </p:pic>
      <p:pic>
        <p:nvPicPr>
          <p:cNvPr id="28" name="图片 27" descr="图片包含 徽标&#10;&#10;描述已自动生成">
            <a:extLst>
              <a:ext uri="{FF2B5EF4-FFF2-40B4-BE49-F238E27FC236}">
                <a16:creationId xmlns:a16="http://schemas.microsoft.com/office/drawing/2014/main" id="{9A3755AC-200B-47E7-9D65-E1858A9414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943" y="855630"/>
            <a:ext cx="676042" cy="676042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15FA99A5-4756-46F4-8007-A335A7C5A9FC}"/>
              </a:ext>
            </a:extLst>
          </p:cNvPr>
          <p:cNvSpPr txBox="1"/>
          <p:nvPr/>
        </p:nvSpPr>
        <p:spPr>
          <a:xfrm>
            <a:off x="3539870" y="2454686"/>
            <a:ext cx="1438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192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3"/>
                </a:solidFill>
              </a:rPr>
              <a:t>168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3"/>
                </a:solidFill>
              </a:rPr>
              <a:t>0</a:t>
            </a:r>
            <a:r>
              <a:rPr lang="en-US" altLang="zh-CN" b="1" dirty="0"/>
              <a:t>.254</a:t>
            </a:r>
            <a:endParaRPr lang="zh-CN" altLang="en-US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4DCB8C5-699C-40CB-A8A8-1A881E0A6666}"/>
              </a:ext>
            </a:extLst>
          </p:cNvPr>
          <p:cNvSpPr txBox="1"/>
          <p:nvPr/>
        </p:nvSpPr>
        <p:spPr>
          <a:xfrm>
            <a:off x="300044" y="2800219"/>
            <a:ext cx="1235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192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3"/>
                </a:solidFill>
              </a:rPr>
              <a:t>168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3"/>
                </a:solidFill>
              </a:rPr>
              <a:t>0</a:t>
            </a:r>
            <a:r>
              <a:rPr lang="en-US" altLang="zh-CN" b="1" dirty="0"/>
              <a:t>.2</a:t>
            </a:r>
            <a:endParaRPr lang="zh-CN" altLang="en-US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229FEF6-65A5-494B-B5D7-AFD3DD4E1D01}"/>
              </a:ext>
            </a:extLst>
          </p:cNvPr>
          <p:cNvSpPr txBox="1"/>
          <p:nvPr/>
        </p:nvSpPr>
        <p:spPr>
          <a:xfrm>
            <a:off x="300044" y="1666288"/>
            <a:ext cx="1235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192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3"/>
                </a:solidFill>
              </a:rPr>
              <a:t>168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3"/>
                </a:solidFill>
              </a:rPr>
              <a:t>0</a:t>
            </a:r>
            <a:r>
              <a:rPr lang="en-US" altLang="zh-CN" b="1" dirty="0"/>
              <a:t>.1</a:t>
            </a:r>
            <a:endParaRPr lang="zh-CN" altLang="en-US" b="1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E421AC9-0532-4F34-B986-9707DB548590}"/>
              </a:ext>
            </a:extLst>
          </p:cNvPr>
          <p:cNvSpPr txBox="1"/>
          <p:nvPr/>
        </p:nvSpPr>
        <p:spPr>
          <a:xfrm>
            <a:off x="7254311" y="2454686"/>
            <a:ext cx="1438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192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4"/>
                </a:solidFill>
              </a:rPr>
              <a:t>168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r>
              <a:rPr lang="en-US" altLang="zh-CN" b="1" dirty="0"/>
              <a:t>.254</a:t>
            </a:r>
            <a:endParaRPr lang="zh-CN" altLang="en-US" b="1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92BE7B9-6304-4EED-AFD2-79097347840E}"/>
              </a:ext>
            </a:extLst>
          </p:cNvPr>
          <p:cNvSpPr txBox="1"/>
          <p:nvPr/>
        </p:nvSpPr>
        <p:spPr>
          <a:xfrm>
            <a:off x="10748303" y="1666288"/>
            <a:ext cx="1235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192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4"/>
                </a:solidFill>
              </a:rPr>
              <a:t>168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r>
              <a:rPr lang="en-US" altLang="zh-CN" b="1" dirty="0"/>
              <a:t>.1</a:t>
            </a:r>
            <a:endParaRPr lang="zh-CN" altLang="en-US" b="1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945D21F-7374-40F3-AC98-C0ED9A927B2C}"/>
              </a:ext>
            </a:extLst>
          </p:cNvPr>
          <p:cNvSpPr txBox="1"/>
          <p:nvPr/>
        </p:nvSpPr>
        <p:spPr>
          <a:xfrm>
            <a:off x="10748303" y="2800219"/>
            <a:ext cx="1235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192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4"/>
                </a:solidFill>
              </a:rPr>
              <a:t>168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r>
              <a:rPr lang="en-US" altLang="zh-CN" b="1" dirty="0"/>
              <a:t>.2</a:t>
            </a:r>
            <a:endParaRPr lang="zh-CN" altLang="en-US" b="1" dirty="0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D45D7F-24FC-4FA2-8BEF-05B3D0E5C26E}"/>
              </a:ext>
            </a:extLst>
          </p:cNvPr>
          <p:cNvCxnSpPr>
            <a:cxnSpLocks/>
          </p:cNvCxnSpPr>
          <p:nvPr/>
        </p:nvCxnSpPr>
        <p:spPr>
          <a:xfrm>
            <a:off x="4895918" y="2469495"/>
            <a:ext cx="2248897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75B3A315-67BA-4633-A269-D151CE79C96B}"/>
              </a:ext>
            </a:extLst>
          </p:cNvPr>
          <p:cNvCxnSpPr>
            <a:cxnSpLocks/>
          </p:cNvCxnSpPr>
          <p:nvPr/>
        </p:nvCxnSpPr>
        <p:spPr>
          <a:xfrm>
            <a:off x="6896429" y="2469495"/>
            <a:ext cx="2248897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263464" cy="400110"/>
            <a:chOff x="424117" y="898245"/>
            <a:chExt cx="626346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711200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02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12354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计算机网络体系结构分层的必要性</a:t>
              </a:r>
            </a:p>
          </p:txBody>
        </p:sp>
      </p:grp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FA2174FC-388B-4946-A916-F378BB7D3736}"/>
              </a:ext>
            </a:extLst>
          </p:cNvPr>
          <p:cNvCxnSpPr>
            <a:cxnSpLocks/>
          </p:cNvCxnSpPr>
          <p:nvPr/>
        </p:nvCxnSpPr>
        <p:spPr>
          <a:xfrm flipH="1">
            <a:off x="6139025" y="2512131"/>
            <a:ext cx="936288" cy="921504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B2EB8CD1-FBD0-49FF-8F6F-FA11BAB3F151}"/>
              </a:ext>
            </a:extLst>
          </p:cNvPr>
          <p:cNvCxnSpPr>
            <a:cxnSpLocks/>
          </p:cNvCxnSpPr>
          <p:nvPr/>
        </p:nvCxnSpPr>
        <p:spPr>
          <a:xfrm>
            <a:off x="5116687" y="2469495"/>
            <a:ext cx="935448" cy="946898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C413054-EB1F-4B58-816D-DE9D516F5428}"/>
              </a:ext>
            </a:extLst>
          </p:cNvPr>
          <p:cNvCxnSpPr>
            <a:cxnSpLocks/>
          </p:cNvCxnSpPr>
          <p:nvPr/>
        </p:nvCxnSpPr>
        <p:spPr>
          <a:xfrm>
            <a:off x="2867790" y="2469495"/>
            <a:ext cx="2248897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图形 99">
            <a:extLst>
              <a:ext uri="{FF2B5EF4-FFF2-40B4-BE49-F238E27FC236}">
                <a16:creationId xmlns:a16="http://schemas.microsoft.com/office/drawing/2014/main" id="{8BBA0F5B-0E76-4A5F-96F6-6B42F0B4DC2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45624" y="2265025"/>
            <a:ext cx="494252" cy="400109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2789957-776A-4C61-823C-7565D8FF654B}"/>
              </a:ext>
            </a:extLst>
          </p:cNvPr>
          <p:cNvCxnSpPr/>
          <p:nvPr/>
        </p:nvCxnSpPr>
        <p:spPr>
          <a:xfrm flipV="1">
            <a:off x="1767141" y="2469496"/>
            <a:ext cx="1100649" cy="53332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F29C9122-F912-4E8D-BD8C-21FF5F0983D5}"/>
              </a:ext>
            </a:extLst>
          </p:cNvPr>
          <p:cNvCxnSpPr>
            <a:cxnSpLocks/>
          </p:cNvCxnSpPr>
          <p:nvPr/>
        </p:nvCxnSpPr>
        <p:spPr>
          <a:xfrm>
            <a:off x="1767141" y="2026606"/>
            <a:ext cx="1100649" cy="4428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图形 104">
            <a:extLst>
              <a:ext uri="{FF2B5EF4-FFF2-40B4-BE49-F238E27FC236}">
                <a16:creationId xmlns:a16="http://schemas.microsoft.com/office/drawing/2014/main" id="{1F479780-3C29-47AE-A970-EE068E82AE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81345" y="1660229"/>
            <a:ext cx="629867" cy="609213"/>
          </a:xfrm>
          <a:prstGeom prst="rect">
            <a:avLst/>
          </a:prstGeom>
        </p:spPr>
      </p:pic>
      <p:pic>
        <p:nvPicPr>
          <p:cNvPr id="98" name="图形 97">
            <a:extLst>
              <a:ext uri="{FF2B5EF4-FFF2-40B4-BE49-F238E27FC236}">
                <a16:creationId xmlns:a16="http://schemas.microsoft.com/office/drawing/2014/main" id="{1090155D-E5D4-47D1-88FA-653B0F1245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24140" y="2669551"/>
            <a:ext cx="486002" cy="637878"/>
          </a:xfrm>
          <a:prstGeom prst="rect">
            <a:avLst/>
          </a:prstGeom>
        </p:spPr>
      </p:pic>
      <p:sp>
        <p:nvSpPr>
          <p:cNvPr id="7" name="云形 6">
            <a:extLst>
              <a:ext uri="{FF2B5EF4-FFF2-40B4-BE49-F238E27FC236}">
                <a16:creationId xmlns:a16="http://schemas.microsoft.com/office/drawing/2014/main" id="{BFE9D540-70B6-4F5D-8FB9-CE354B942BBB}"/>
              </a:ext>
            </a:extLst>
          </p:cNvPr>
          <p:cNvSpPr/>
          <p:nvPr/>
        </p:nvSpPr>
        <p:spPr>
          <a:xfrm>
            <a:off x="2495073" y="2213562"/>
            <a:ext cx="745435" cy="511870"/>
          </a:xfrm>
          <a:prstGeom prst="cloud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N1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C5A5DC2B-9ABC-4B27-8880-0AFBC23C96E0}"/>
              </a:ext>
            </a:extLst>
          </p:cNvPr>
          <p:cNvCxnSpPr>
            <a:cxnSpLocks/>
          </p:cNvCxnSpPr>
          <p:nvPr/>
        </p:nvCxnSpPr>
        <p:spPr>
          <a:xfrm flipV="1">
            <a:off x="9353994" y="2092474"/>
            <a:ext cx="1199512" cy="43290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8660BBBF-BFA8-4DE5-96DA-4C96ABA29B6E}"/>
              </a:ext>
            </a:extLst>
          </p:cNvPr>
          <p:cNvCxnSpPr>
            <a:cxnSpLocks/>
          </p:cNvCxnSpPr>
          <p:nvPr/>
        </p:nvCxnSpPr>
        <p:spPr>
          <a:xfrm>
            <a:off x="9353994" y="2504712"/>
            <a:ext cx="1048301" cy="5669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图形 100">
            <a:extLst>
              <a:ext uri="{FF2B5EF4-FFF2-40B4-BE49-F238E27FC236}">
                <a16:creationId xmlns:a16="http://schemas.microsoft.com/office/drawing/2014/main" id="{6F3C1048-C6F9-46DB-B020-4CDDD9637F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80788" y="1660229"/>
            <a:ext cx="629867" cy="609213"/>
          </a:xfrm>
          <a:prstGeom prst="rect">
            <a:avLst/>
          </a:prstGeom>
        </p:spPr>
      </p:pic>
      <p:pic>
        <p:nvPicPr>
          <p:cNvPr id="102" name="图形 101">
            <a:extLst>
              <a:ext uri="{FF2B5EF4-FFF2-40B4-BE49-F238E27FC236}">
                <a16:creationId xmlns:a16="http://schemas.microsoft.com/office/drawing/2014/main" id="{7EF832E3-2481-46E4-B972-0096A46781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79718" y="2698216"/>
            <a:ext cx="629867" cy="609213"/>
          </a:xfrm>
          <a:prstGeom prst="rect">
            <a:avLst/>
          </a:prstGeom>
        </p:spPr>
      </p:pic>
      <p:sp>
        <p:nvSpPr>
          <p:cNvPr id="104" name="云形 103">
            <a:extLst>
              <a:ext uri="{FF2B5EF4-FFF2-40B4-BE49-F238E27FC236}">
                <a16:creationId xmlns:a16="http://schemas.microsoft.com/office/drawing/2014/main" id="{C4737D9D-D28E-4652-880C-1178245D007A}"/>
              </a:ext>
            </a:extLst>
          </p:cNvPr>
          <p:cNvSpPr/>
          <p:nvPr/>
        </p:nvSpPr>
        <p:spPr>
          <a:xfrm>
            <a:off x="8949352" y="2213562"/>
            <a:ext cx="745435" cy="511870"/>
          </a:xfrm>
          <a:prstGeom prst="clou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N2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124" name="图形 123">
            <a:extLst>
              <a:ext uri="{FF2B5EF4-FFF2-40B4-BE49-F238E27FC236}">
                <a16:creationId xmlns:a16="http://schemas.microsoft.com/office/drawing/2014/main" id="{CB587546-499F-4041-83B9-D72348F72C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2123" y="2265025"/>
            <a:ext cx="494252" cy="400109"/>
          </a:xfrm>
          <a:prstGeom prst="rect">
            <a:avLst/>
          </a:prstGeom>
        </p:spPr>
      </p:pic>
      <p:pic>
        <p:nvPicPr>
          <p:cNvPr id="125" name="图形 124">
            <a:extLst>
              <a:ext uri="{FF2B5EF4-FFF2-40B4-BE49-F238E27FC236}">
                <a16:creationId xmlns:a16="http://schemas.microsoft.com/office/drawing/2014/main" id="{A1C5797D-BC2B-41B8-9B1C-B31D123EBCD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48874" y="3191976"/>
            <a:ext cx="494252" cy="400109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A40C1ED6-89F7-4AE0-BD52-416407F2BAFD}"/>
              </a:ext>
            </a:extLst>
          </p:cNvPr>
          <p:cNvSpPr txBox="1"/>
          <p:nvPr/>
        </p:nvSpPr>
        <p:spPr>
          <a:xfrm>
            <a:off x="1871130" y="1647870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H1</a:t>
            </a:r>
            <a:endParaRPr lang="zh-CN" altLang="en-US" b="1" dirty="0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0E000922-C4F7-4659-A512-598374B57DF8}"/>
              </a:ext>
            </a:extLst>
          </p:cNvPr>
          <p:cNvSpPr txBox="1"/>
          <p:nvPr/>
        </p:nvSpPr>
        <p:spPr>
          <a:xfrm>
            <a:off x="1871130" y="2934599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H2</a:t>
            </a:r>
            <a:endParaRPr lang="zh-CN" altLang="en-US" b="1" dirty="0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77404B7D-995E-470F-9F36-2E155CEDE156}"/>
              </a:ext>
            </a:extLst>
          </p:cNvPr>
          <p:cNvSpPr txBox="1"/>
          <p:nvPr/>
        </p:nvSpPr>
        <p:spPr>
          <a:xfrm>
            <a:off x="9718443" y="1647870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H3</a:t>
            </a:r>
            <a:endParaRPr lang="zh-CN" altLang="en-US" b="1" dirty="0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E28E7D80-45CD-4972-8A59-BCDB3C63123A}"/>
              </a:ext>
            </a:extLst>
          </p:cNvPr>
          <p:cNvSpPr txBox="1"/>
          <p:nvPr/>
        </p:nvSpPr>
        <p:spPr>
          <a:xfrm>
            <a:off x="9718443" y="2934599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H4</a:t>
            </a:r>
            <a:endParaRPr lang="zh-CN" altLang="en-US" b="1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C018541F-FCE1-4B1D-9556-0A01C03C28DB}"/>
              </a:ext>
            </a:extLst>
          </p:cNvPr>
          <p:cNvSpPr txBox="1"/>
          <p:nvPr/>
        </p:nvSpPr>
        <p:spPr>
          <a:xfrm>
            <a:off x="4782156" y="1928834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R1</a:t>
            </a:r>
            <a:endParaRPr lang="zh-CN" altLang="en-US" b="1" dirty="0"/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CEBE538B-81C7-4869-A95D-6FF6A9D2C20E}"/>
              </a:ext>
            </a:extLst>
          </p:cNvPr>
          <p:cNvSpPr txBox="1"/>
          <p:nvPr/>
        </p:nvSpPr>
        <p:spPr>
          <a:xfrm>
            <a:off x="6783761" y="1928834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R2</a:t>
            </a:r>
            <a:endParaRPr lang="zh-CN" altLang="en-US" b="1" dirty="0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C3122CB3-B17B-4D7A-9CD7-4FC2A0BEF55C}"/>
              </a:ext>
            </a:extLst>
          </p:cNvPr>
          <p:cNvSpPr txBox="1"/>
          <p:nvPr/>
        </p:nvSpPr>
        <p:spPr>
          <a:xfrm>
            <a:off x="5784028" y="2828132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R3</a:t>
            </a:r>
            <a:endParaRPr lang="zh-CN" altLang="en-US" b="1" dirty="0"/>
          </a:p>
        </p:txBody>
      </p: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F4F879E4-79F9-4BB1-8477-190021AE4327}"/>
              </a:ext>
            </a:extLst>
          </p:cNvPr>
          <p:cNvGrpSpPr/>
          <p:nvPr/>
        </p:nvGrpSpPr>
        <p:grpSpPr>
          <a:xfrm>
            <a:off x="518643" y="4117937"/>
            <a:ext cx="7671200" cy="1589042"/>
            <a:chOff x="518643" y="3702131"/>
            <a:chExt cx="5359941" cy="1589042"/>
          </a:xfrm>
        </p:grpSpPr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53E2FB54-2D82-4B93-8B47-95E5F688F0A4}"/>
                </a:ext>
              </a:extLst>
            </p:cNvPr>
            <p:cNvSpPr/>
            <p:nvPr/>
          </p:nvSpPr>
          <p:spPr>
            <a:xfrm>
              <a:off x="518643" y="3702131"/>
              <a:ext cx="5359941" cy="51187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需要考虑的主要问题</a:t>
              </a: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AD2799C8-C096-4B3D-A4DE-864E12A474B2}"/>
                </a:ext>
              </a:extLst>
            </p:cNvPr>
            <p:cNvSpPr/>
            <p:nvPr/>
          </p:nvSpPr>
          <p:spPr>
            <a:xfrm>
              <a:off x="518643" y="4214002"/>
              <a:ext cx="5359941" cy="107717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</p:grpSp>
      <p:sp>
        <p:nvSpPr>
          <p:cNvPr id="138" name="椭圆 137">
            <a:extLst>
              <a:ext uri="{FF2B5EF4-FFF2-40B4-BE49-F238E27FC236}">
                <a16:creationId xmlns:a16="http://schemas.microsoft.com/office/drawing/2014/main" id="{465722CD-0740-4189-A248-070DEAB968B6}"/>
              </a:ext>
            </a:extLst>
          </p:cNvPr>
          <p:cNvSpPr/>
          <p:nvPr/>
        </p:nvSpPr>
        <p:spPr>
          <a:xfrm>
            <a:off x="729945" y="4840822"/>
            <a:ext cx="211015" cy="21101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CE0EBE65-BC93-421F-BA7D-D9E34D15EC4D}"/>
              </a:ext>
            </a:extLst>
          </p:cNvPr>
          <p:cNvSpPr txBox="1"/>
          <p:nvPr/>
        </p:nvSpPr>
        <p:spPr>
          <a:xfrm>
            <a:off x="940960" y="4761663"/>
            <a:ext cx="7079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进程之间基于网络的通信（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进程的标识</a:t>
            </a:r>
            <a:r>
              <a:rPr lang="zh-CN" altLang="en-US" b="1" dirty="0"/>
              <a:t>，例如端口号）</a:t>
            </a:r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0BDA8C59-0D49-4D37-B1B3-527A64B7DBB1}"/>
              </a:ext>
            </a:extLst>
          </p:cNvPr>
          <p:cNvSpPr/>
          <p:nvPr/>
        </p:nvSpPr>
        <p:spPr>
          <a:xfrm>
            <a:off x="729945" y="5328893"/>
            <a:ext cx="211015" cy="21101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08AE62F4-5945-4381-B03A-F1B1799D9D8E}"/>
              </a:ext>
            </a:extLst>
          </p:cNvPr>
          <p:cNvSpPr txBox="1"/>
          <p:nvPr/>
        </p:nvSpPr>
        <p:spPr>
          <a:xfrm>
            <a:off x="940960" y="5249734"/>
            <a:ext cx="6920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/>
              <a:t>出现传输差错如何处理（</a:t>
            </a:r>
            <a:r>
              <a:rPr lang="zh-CN" altLang="en-US" sz="1800" b="1" dirty="0">
                <a:solidFill>
                  <a:schemeClr val="accent1">
                    <a:lumMod val="75000"/>
                  </a:schemeClr>
                </a:solidFill>
              </a:rPr>
              <a:t>可靠传输和不可靠传输</a:t>
            </a:r>
            <a:r>
              <a:rPr lang="zh-CN" altLang="en-US" sz="1800" b="1" dirty="0"/>
              <a:t>）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23D234C5-803E-4D4E-90C0-BBA3F3DB979F}"/>
              </a:ext>
            </a:extLst>
          </p:cNvPr>
          <p:cNvSpPr/>
          <p:nvPr/>
        </p:nvSpPr>
        <p:spPr>
          <a:xfrm>
            <a:off x="2150734" y="2663267"/>
            <a:ext cx="225841" cy="22584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5C478264-503D-43AD-B1E1-40FC56DACEFE}"/>
              </a:ext>
            </a:extLst>
          </p:cNvPr>
          <p:cNvSpPr/>
          <p:nvPr/>
        </p:nvSpPr>
        <p:spPr>
          <a:xfrm>
            <a:off x="4431925" y="2193858"/>
            <a:ext cx="225841" cy="22584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2B209476-1C59-4BAB-B6C9-D8E9298437BB}"/>
              </a:ext>
            </a:extLst>
          </p:cNvPr>
          <p:cNvSpPr/>
          <p:nvPr/>
        </p:nvSpPr>
        <p:spPr>
          <a:xfrm>
            <a:off x="3766397" y="2193858"/>
            <a:ext cx="225841" cy="22584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186ED635-E483-4F39-8095-948DD748FFBC}"/>
              </a:ext>
            </a:extLst>
          </p:cNvPr>
          <p:cNvSpPr/>
          <p:nvPr/>
        </p:nvSpPr>
        <p:spPr>
          <a:xfrm>
            <a:off x="5508489" y="2193858"/>
            <a:ext cx="225841" cy="22584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0DF9AD11-8EB6-44AA-97F7-8FD93F253D9E}"/>
              </a:ext>
            </a:extLst>
          </p:cNvPr>
          <p:cNvSpPr/>
          <p:nvPr/>
        </p:nvSpPr>
        <p:spPr>
          <a:xfrm>
            <a:off x="6294546" y="2193858"/>
            <a:ext cx="225841" cy="22584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6AE4ED3-046A-4996-BEF5-3F11576F884F}"/>
              </a:ext>
            </a:extLst>
          </p:cNvPr>
          <p:cNvSpPr/>
          <p:nvPr/>
        </p:nvSpPr>
        <p:spPr>
          <a:xfrm>
            <a:off x="7532980" y="2193858"/>
            <a:ext cx="225841" cy="22584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EB626A7F-4789-4A50-B785-F7CB1DAC8F7B}"/>
              </a:ext>
            </a:extLst>
          </p:cNvPr>
          <p:cNvSpPr/>
          <p:nvPr/>
        </p:nvSpPr>
        <p:spPr>
          <a:xfrm>
            <a:off x="8247513" y="2193858"/>
            <a:ext cx="225841" cy="22584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EE9EDCC-FD40-4374-BC63-C8E13522659B}"/>
              </a:ext>
            </a:extLst>
          </p:cNvPr>
          <p:cNvSpPr/>
          <p:nvPr/>
        </p:nvSpPr>
        <p:spPr>
          <a:xfrm>
            <a:off x="9677614" y="2054872"/>
            <a:ext cx="225841" cy="22584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97CD9D9E-05B8-43F0-8B49-1E47F973AD38}"/>
              </a:ext>
            </a:extLst>
          </p:cNvPr>
          <p:cNvSpPr/>
          <p:nvPr/>
        </p:nvSpPr>
        <p:spPr>
          <a:xfrm>
            <a:off x="3053661" y="2193858"/>
            <a:ext cx="225841" cy="22584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017880DB-66B5-40C4-9BEF-F42C56B35A75}"/>
              </a:ext>
            </a:extLst>
          </p:cNvPr>
          <p:cNvSpPr/>
          <p:nvPr/>
        </p:nvSpPr>
        <p:spPr>
          <a:xfrm>
            <a:off x="8864652" y="2193858"/>
            <a:ext cx="225841" cy="22584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B07D9831-FA89-4DCB-BB4A-AE311687FCC0}"/>
              </a:ext>
            </a:extLst>
          </p:cNvPr>
          <p:cNvSpPr/>
          <p:nvPr/>
        </p:nvSpPr>
        <p:spPr>
          <a:xfrm>
            <a:off x="10227085" y="1828997"/>
            <a:ext cx="225841" cy="22584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052EF4A-4C34-4838-A4FB-4B5FACB1F61A}"/>
              </a:ext>
            </a:extLst>
          </p:cNvPr>
          <p:cNvSpPr/>
          <p:nvPr/>
        </p:nvSpPr>
        <p:spPr>
          <a:xfrm>
            <a:off x="7012251" y="2193858"/>
            <a:ext cx="225841" cy="225841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B49D7243-98E0-45AD-98D4-880987FA03F6}"/>
              </a:ext>
            </a:extLst>
          </p:cNvPr>
          <p:cNvGrpSpPr/>
          <p:nvPr/>
        </p:nvGrpSpPr>
        <p:grpSpPr>
          <a:xfrm>
            <a:off x="9700908" y="3473857"/>
            <a:ext cx="1961690" cy="2938139"/>
            <a:chOff x="9800114" y="1848477"/>
            <a:chExt cx="1961690" cy="2938139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4833D504-DDF9-4EC8-807C-4A7D4E8B1118}"/>
                </a:ext>
              </a:extLst>
            </p:cNvPr>
            <p:cNvSpPr/>
            <p:nvPr/>
          </p:nvSpPr>
          <p:spPr>
            <a:xfrm>
              <a:off x="9800116" y="4274746"/>
              <a:ext cx="1961688" cy="51187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物理层</a:t>
              </a: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D280643B-FA12-4C1A-8D37-07267D200BF3}"/>
                </a:ext>
              </a:extLst>
            </p:cNvPr>
            <p:cNvSpPr/>
            <p:nvPr/>
          </p:nvSpPr>
          <p:spPr>
            <a:xfrm>
              <a:off x="9800115" y="2737686"/>
              <a:ext cx="1961688" cy="51187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运输层</a:t>
              </a: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330BA225-4684-4A52-8006-A626A5CB049B}"/>
                </a:ext>
              </a:extLst>
            </p:cNvPr>
            <p:cNvSpPr/>
            <p:nvPr/>
          </p:nvSpPr>
          <p:spPr>
            <a:xfrm>
              <a:off x="9800116" y="3251006"/>
              <a:ext cx="1961688" cy="51187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网络层</a:t>
              </a: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F3A32184-CC3B-45A7-B1C0-A71B02E1E19F}"/>
                </a:ext>
              </a:extLst>
            </p:cNvPr>
            <p:cNvSpPr/>
            <p:nvPr/>
          </p:nvSpPr>
          <p:spPr>
            <a:xfrm>
              <a:off x="9800116" y="3762876"/>
              <a:ext cx="1961688" cy="51187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数据链路层</a:t>
              </a: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7B035B9A-111F-4040-9406-32B616B47D43}"/>
                </a:ext>
              </a:extLst>
            </p:cNvPr>
            <p:cNvSpPr/>
            <p:nvPr/>
          </p:nvSpPr>
          <p:spPr>
            <a:xfrm>
              <a:off x="9800114" y="2224249"/>
              <a:ext cx="1961688" cy="51187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应用层</a:t>
              </a: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09726196-18F2-45E5-BDD4-0F68D453B4AF}"/>
                </a:ext>
              </a:extLst>
            </p:cNvPr>
            <p:cNvSpPr txBox="1"/>
            <p:nvPr/>
          </p:nvSpPr>
          <p:spPr>
            <a:xfrm>
              <a:off x="9800114" y="1848477"/>
              <a:ext cx="1961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原理体系结构</a:t>
              </a:r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0EE8E63-E3D2-47AE-9C47-5AE0E59254F3}"/>
              </a:ext>
            </a:extLst>
          </p:cNvPr>
          <p:cNvGrpSpPr/>
          <p:nvPr/>
        </p:nvGrpSpPr>
        <p:grpSpPr>
          <a:xfrm>
            <a:off x="8189843" y="4361498"/>
            <a:ext cx="1528600" cy="1340239"/>
            <a:chOff x="6424658" y="4134023"/>
            <a:chExt cx="1528600" cy="1582918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0308B87D-72D7-470D-84E3-DE47964F5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4658" y="4134023"/>
              <a:ext cx="1528600" cy="31689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75CC4A86-BEDF-4DF3-8661-0CCDB4C3B6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4658" y="4740429"/>
              <a:ext cx="1504944" cy="976512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288205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140" grpId="0" animBg="1"/>
      <p:bldP spid="141" grpId="0"/>
      <p:bldP spid="5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>
            <a:extLst>
              <a:ext uri="{FF2B5EF4-FFF2-40B4-BE49-F238E27FC236}">
                <a16:creationId xmlns:a16="http://schemas.microsoft.com/office/drawing/2014/main" id="{15FA99A5-4756-46F4-8007-A335A7C5A9FC}"/>
              </a:ext>
            </a:extLst>
          </p:cNvPr>
          <p:cNvSpPr txBox="1"/>
          <p:nvPr/>
        </p:nvSpPr>
        <p:spPr>
          <a:xfrm>
            <a:off x="3539870" y="2454686"/>
            <a:ext cx="1438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192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3"/>
                </a:solidFill>
              </a:rPr>
              <a:t>168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3"/>
                </a:solidFill>
              </a:rPr>
              <a:t>0</a:t>
            </a:r>
            <a:r>
              <a:rPr lang="en-US" altLang="zh-CN" b="1" dirty="0"/>
              <a:t>.254</a:t>
            </a:r>
            <a:endParaRPr lang="zh-CN" altLang="en-US" b="1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E421AC9-0532-4F34-B986-9707DB548590}"/>
              </a:ext>
            </a:extLst>
          </p:cNvPr>
          <p:cNvSpPr txBox="1"/>
          <p:nvPr/>
        </p:nvSpPr>
        <p:spPr>
          <a:xfrm>
            <a:off x="7254311" y="2454686"/>
            <a:ext cx="1438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192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4"/>
                </a:solidFill>
              </a:rPr>
              <a:t>168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r>
              <a:rPr lang="en-US" altLang="zh-CN" b="1" dirty="0"/>
              <a:t>.254</a:t>
            </a:r>
            <a:endParaRPr lang="zh-CN" altLang="en-US" b="1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92BE7B9-6304-4EED-AFD2-79097347840E}"/>
              </a:ext>
            </a:extLst>
          </p:cNvPr>
          <p:cNvSpPr txBox="1"/>
          <p:nvPr/>
        </p:nvSpPr>
        <p:spPr>
          <a:xfrm>
            <a:off x="10748303" y="1666288"/>
            <a:ext cx="1235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192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4"/>
                </a:solidFill>
              </a:rPr>
              <a:t>168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r>
              <a:rPr lang="en-US" altLang="zh-CN" b="1" dirty="0"/>
              <a:t>.1</a:t>
            </a:r>
            <a:endParaRPr lang="zh-CN" altLang="en-US" b="1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B945D21F-7374-40F3-AC98-C0ED9A927B2C}"/>
              </a:ext>
            </a:extLst>
          </p:cNvPr>
          <p:cNvSpPr txBox="1"/>
          <p:nvPr/>
        </p:nvSpPr>
        <p:spPr>
          <a:xfrm>
            <a:off x="10748303" y="2800219"/>
            <a:ext cx="1235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4"/>
                </a:solidFill>
              </a:rPr>
              <a:t>192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4"/>
                </a:solidFill>
              </a:rPr>
              <a:t>168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4"/>
                </a:solidFill>
              </a:rPr>
              <a:t>1</a:t>
            </a:r>
            <a:r>
              <a:rPr lang="en-US" altLang="zh-CN" b="1" dirty="0"/>
              <a:t>.2</a:t>
            </a:r>
            <a:endParaRPr lang="zh-CN" altLang="en-US" b="1" dirty="0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6D45D7F-24FC-4FA2-8BEF-05B3D0E5C26E}"/>
              </a:ext>
            </a:extLst>
          </p:cNvPr>
          <p:cNvCxnSpPr>
            <a:cxnSpLocks/>
          </p:cNvCxnSpPr>
          <p:nvPr/>
        </p:nvCxnSpPr>
        <p:spPr>
          <a:xfrm>
            <a:off x="4895918" y="2469495"/>
            <a:ext cx="2248897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75B3A315-67BA-4633-A269-D151CE79C96B}"/>
              </a:ext>
            </a:extLst>
          </p:cNvPr>
          <p:cNvCxnSpPr>
            <a:cxnSpLocks/>
          </p:cNvCxnSpPr>
          <p:nvPr/>
        </p:nvCxnSpPr>
        <p:spPr>
          <a:xfrm>
            <a:off x="6896429" y="2469495"/>
            <a:ext cx="2248897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263464" cy="400110"/>
            <a:chOff x="424117" y="898245"/>
            <a:chExt cx="626346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711200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02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12354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计算机网络体系结构分层的必要性</a:t>
              </a:r>
            </a:p>
          </p:txBody>
        </p:sp>
      </p:grp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FA2174FC-388B-4946-A916-F378BB7D3736}"/>
              </a:ext>
            </a:extLst>
          </p:cNvPr>
          <p:cNvCxnSpPr>
            <a:cxnSpLocks/>
          </p:cNvCxnSpPr>
          <p:nvPr/>
        </p:nvCxnSpPr>
        <p:spPr>
          <a:xfrm flipH="1">
            <a:off x="6139025" y="2512131"/>
            <a:ext cx="936288" cy="921504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B2EB8CD1-FBD0-49FF-8F6F-FA11BAB3F151}"/>
              </a:ext>
            </a:extLst>
          </p:cNvPr>
          <p:cNvCxnSpPr>
            <a:cxnSpLocks/>
          </p:cNvCxnSpPr>
          <p:nvPr/>
        </p:nvCxnSpPr>
        <p:spPr>
          <a:xfrm>
            <a:off x="5116687" y="2469495"/>
            <a:ext cx="935448" cy="946898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C413054-EB1F-4B58-816D-DE9D516F5428}"/>
              </a:ext>
            </a:extLst>
          </p:cNvPr>
          <p:cNvCxnSpPr>
            <a:cxnSpLocks/>
          </p:cNvCxnSpPr>
          <p:nvPr/>
        </p:nvCxnSpPr>
        <p:spPr>
          <a:xfrm>
            <a:off x="2867790" y="2469495"/>
            <a:ext cx="2248897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图形 99">
            <a:extLst>
              <a:ext uri="{FF2B5EF4-FFF2-40B4-BE49-F238E27FC236}">
                <a16:creationId xmlns:a16="http://schemas.microsoft.com/office/drawing/2014/main" id="{8BBA0F5B-0E76-4A5F-96F6-6B42F0B4DC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5624" y="2265025"/>
            <a:ext cx="494252" cy="400109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2789957-776A-4C61-823C-7565D8FF654B}"/>
              </a:ext>
            </a:extLst>
          </p:cNvPr>
          <p:cNvCxnSpPr/>
          <p:nvPr/>
        </p:nvCxnSpPr>
        <p:spPr>
          <a:xfrm flipV="1">
            <a:off x="1767141" y="2469496"/>
            <a:ext cx="1100649" cy="53332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F29C9122-F912-4E8D-BD8C-21FF5F0983D5}"/>
              </a:ext>
            </a:extLst>
          </p:cNvPr>
          <p:cNvCxnSpPr>
            <a:cxnSpLocks/>
          </p:cNvCxnSpPr>
          <p:nvPr/>
        </p:nvCxnSpPr>
        <p:spPr>
          <a:xfrm>
            <a:off x="1767141" y="2026606"/>
            <a:ext cx="1100649" cy="44289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图形 104">
            <a:extLst>
              <a:ext uri="{FF2B5EF4-FFF2-40B4-BE49-F238E27FC236}">
                <a16:creationId xmlns:a16="http://schemas.microsoft.com/office/drawing/2014/main" id="{1F479780-3C29-47AE-A970-EE068E82AE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1345" y="1660229"/>
            <a:ext cx="629867" cy="609213"/>
          </a:xfrm>
          <a:prstGeom prst="rect">
            <a:avLst/>
          </a:prstGeom>
        </p:spPr>
      </p:pic>
      <p:pic>
        <p:nvPicPr>
          <p:cNvPr id="98" name="图形 97">
            <a:extLst>
              <a:ext uri="{FF2B5EF4-FFF2-40B4-BE49-F238E27FC236}">
                <a16:creationId xmlns:a16="http://schemas.microsoft.com/office/drawing/2014/main" id="{1090155D-E5D4-47D1-88FA-653B0F1245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24140" y="2669551"/>
            <a:ext cx="486002" cy="637878"/>
          </a:xfrm>
          <a:prstGeom prst="rect">
            <a:avLst/>
          </a:prstGeom>
        </p:spPr>
      </p:pic>
      <p:sp>
        <p:nvSpPr>
          <p:cNvPr id="7" name="云形 6">
            <a:extLst>
              <a:ext uri="{FF2B5EF4-FFF2-40B4-BE49-F238E27FC236}">
                <a16:creationId xmlns:a16="http://schemas.microsoft.com/office/drawing/2014/main" id="{BFE9D540-70B6-4F5D-8FB9-CE354B942BBB}"/>
              </a:ext>
            </a:extLst>
          </p:cNvPr>
          <p:cNvSpPr/>
          <p:nvPr/>
        </p:nvSpPr>
        <p:spPr>
          <a:xfrm>
            <a:off x="2495073" y="2213562"/>
            <a:ext cx="745435" cy="511870"/>
          </a:xfrm>
          <a:prstGeom prst="cloud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N1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C5A5DC2B-9ABC-4B27-8880-0AFBC23C96E0}"/>
              </a:ext>
            </a:extLst>
          </p:cNvPr>
          <p:cNvCxnSpPr>
            <a:cxnSpLocks/>
          </p:cNvCxnSpPr>
          <p:nvPr/>
        </p:nvCxnSpPr>
        <p:spPr>
          <a:xfrm flipV="1">
            <a:off x="9353994" y="2092474"/>
            <a:ext cx="1199512" cy="43290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8660BBBF-BFA8-4DE5-96DA-4C96ABA29B6E}"/>
              </a:ext>
            </a:extLst>
          </p:cNvPr>
          <p:cNvCxnSpPr>
            <a:cxnSpLocks/>
          </p:cNvCxnSpPr>
          <p:nvPr/>
        </p:nvCxnSpPr>
        <p:spPr>
          <a:xfrm>
            <a:off x="9353994" y="2504712"/>
            <a:ext cx="1048301" cy="56695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图形 100">
            <a:extLst>
              <a:ext uri="{FF2B5EF4-FFF2-40B4-BE49-F238E27FC236}">
                <a16:creationId xmlns:a16="http://schemas.microsoft.com/office/drawing/2014/main" id="{6F3C1048-C6F9-46DB-B020-4CDDD9637F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80788" y="1660229"/>
            <a:ext cx="629867" cy="609213"/>
          </a:xfrm>
          <a:prstGeom prst="rect">
            <a:avLst/>
          </a:prstGeom>
        </p:spPr>
      </p:pic>
      <p:pic>
        <p:nvPicPr>
          <p:cNvPr id="102" name="图形 101">
            <a:extLst>
              <a:ext uri="{FF2B5EF4-FFF2-40B4-BE49-F238E27FC236}">
                <a16:creationId xmlns:a16="http://schemas.microsoft.com/office/drawing/2014/main" id="{7EF832E3-2481-46E4-B972-0096A46781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79718" y="2698216"/>
            <a:ext cx="629867" cy="609213"/>
          </a:xfrm>
          <a:prstGeom prst="rect">
            <a:avLst/>
          </a:prstGeom>
        </p:spPr>
      </p:pic>
      <p:sp>
        <p:nvSpPr>
          <p:cNvPr id="104" name="云形 103">
            <a:extLst>
              <a:ext uri="{FF2B5EF4-FFF2-40B4-BE49-F238E27FC236}">
                <a16:creationId xmlns:a16="http://schemas.microsoft.com/office/drawing/2014/main" id="{C4737D9D-D28E-4652-880C-1178245D007A}"/>
              </a:ext>
            </a:extLst>
          </p:cNvPr>
          <p:cNvSpPr/>
          <p:nvPr/>
        </p:nvSpPr>
        <p:spPr>
          <a:xfrm>
            <a:off x="8949352" y="2213562"/>
            <a:ext cx="745435" cy="511870"/>
          </a:xfrm>
          <a:prstGeom prst="cloud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N2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124" name="图形 123">
            <a:extLst>
              <a:ext uri="{FF2B5EF4-FFF2-40B4-BE49-F238E27FC236}">
                <a16:creationId xmlns:a16="http://schemas.microsoft.com/office/drawing/2014/main" id="{CB587546-499F-4041-83B9-D72348F72C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2123" y="2265025"/>
            <a:ext cx="494252" cy="400109"/>
          </a:xfrm>
          <a:prstGeom prst="rect">
            <a:avLst/>
          </a:prstGeom>
        </p:spPr>
      </p:pic>
      <p:pic>
        <p:nvPicPr>
          <p:cNvPr id="125" name="图形 124">
            <a:extLst>
              <a:ext uri="{FF2B5EF4-FFF2-40B4-BE49-F238E27FC236}">
                <a16:creationId xmlns:a16="http://schemas.microsoft.com/office/drawing/2014/main" id="{A1C5797D-BC2B-41B8-9B1C-B31D123EBC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8874" y="3191976"/>
            <a:ext cx="494252" cy="400109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A40C1ED6-89F7-4AE0-BD52-416407F2BAFD}"/>
              </a:ext>
            </a:extLst>
          </p:cNvPr>
          <p:cNvSpPr txBox="1"/>
          <p:nvPr/>
        </p:nvSpPr>
        <p:spPr>
          <a:xfrm>
            <a:off x="1871130" y="1647870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H1</a:t>
            </a:r>
            <a:endParaRPr lang="zh-CN" altLang="en-US" b="1" dirty="0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0E000922-C4F7-4659-A512-598374B57DF8}"/>
              </a:ext>
            </a:extLst>
          </p:cNvPr>
          <p:cNvSpPr txBox="1"/>
          <p:nvPr/>
        </p:nvSpPr>
        <p:spPr>
          <a:xfrm>
            <a:off x="1871130" y="2934599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H2</a:t>
            </a:r>
            <a:endParaRPr lang="zh-CN" altLang="en-US" b="1" dirty="0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77404B7D-995E-470F-9F36-2E155CEDE156}"/>
              </a:ext>
            </a:extLst>
          </p:cNvPr>
          <p:cNvSpPr txBox="1"/>
          <p:nvPr/>
        </p:nvSpPr>
        <p:spPr>
          <a:xfrm>
            <a:off x="9718443" y="1647870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H3</a:t>
            </a:r>
            <a:endParaRPr lang="zh-CN" altLang="en-US" b="1" dirty="0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E28E7D80-45CD-4972-8A59-BCDB3C63123A}"/>
              </a:ext>
            </a:extLst>
          </p:cNvPr>
          <p:cNvSpPr txBox="1"/>
          <p:nvPr/>
        </p:nvSpPr>
        <p:spPr>
          <a:xfrm>
            <a:off x="9718443" y="2934599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H4</a:t>
            </a:r>
            <a:endParaRPr lang="zh-CN" altLang="en-US" b="1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C018541F-FCE1-4B1D-9556-0A01C03C28DB}"/>
              </a:ext>
            </a:extLst>
          </p:cNvPr>
          <p:cNvSpPr txBox="1"/>
          <p:nvPr/>
        </p:nvSpPr>
        <p:spPr>
          <a:xfrm>
            <a:off x="4782156" y="1928834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R1</a:t>
            </a:r>
            <a:endParaRPr lang="zh-CN" altLang="en-US" b="1" dirty="0"/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CEBE538B-81C7-4869-A95D-6FF6A9D2C20E}"/>
              </a:ext>
            </a:extLst>
          </p:cNvPr>
          <p:cNvSpPr txBox="1"/>
          <p:nvPr/>
        </p:nvSpPr>
        <p:spPr>
          <a:xfrm>
            <a:off x="6783761" y="1928834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R2</a:t>
            </a:r>
            <a:endParaRPr lang="zh-CN" altLang="en-US" b="1" dirty="0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C3122CB3-B17B-4D7A-9CD7-4FC2A0BEF55C}"/>
              </a:ext>
            </a:extLst>
          </p:cNvPr>
          <p:cNvSpPr txBox="1"/>
          <p:nvPr/>
        </p:nvSpPr>
        <p:spPr>
          <a:xfrm>
            <a:off x="5784028" y="2828132"/>
            <a:ext cx="62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R3</a:t>
            </a:r>
            <a:endParaRPr lang="zh-CN" altLang="en-US" b="1" dirty="0"/>
          </a:p>
        </p:txBody>
      </p: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F4F879E4-79F9-4BB1-8477-190021AE4327}"/>
              </a:ext>
            </a:extLst>
          </p:cNvPr>
          <p:cNvGrpSpPr/>
          <p:nvPr/>
        </p:nvGrpSpPr>
        <p:grpSpPr>
          <a:xfrm>
            <a:off x="518643" y="4117937"/>
            <a:ext cx="7671200" cy="1589042"/>
            <a:chOff x="518643" y="3702131"/>
            <a:chExt cx="5359941" cy="1589042"/>
          </a:xfrm>
        </p:grpSpPr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53E2FB54-2D82-4B93-8B47-95E5F688F0A4}"/>
                </a:ext>
              </a:extLst>
            </p:cNvPr>
            <p:cNvSpPr/>
            <p:nvPr/>
          </p:nvSpPr>
          <p:spPr>
            <a:xfrm>
              <a:off x="518643" y="3702131"/>
              <a:ext cx="5359941" cy="51187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需要考虑的主要问题</a:t>
              </a: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AD2799C8-C096-4B3D-A4DE-864E12A474B2}"/>
                </a:ext>
              </a:extLst>
            </p:cNvPr>
            <p:cNvSpPr/>
            <p:nvPr/>
          </p:nvSpPr>
          <p:spPr>
            <a:xfrm>
              <a:off x="518643" y="4214002"/>
              <a:ext cx="5359941" cy="107717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</p:grpSp>
      <p:sp>
        <p:nvSpPr>
          <p:cNvPr id="138" name="椭圆 137">
            <a:extLst>
              <a:ext uri="{FF2B5EF4-FFF2-40B4-BE49-F238E27FC236}">
                <a16:creationId xmlns:a16="http://schemas.microsoft.com/office/drawing/2014/main" id="{465722CD-0740-4189-A248-070DEAB968B6}"/>
              </a:ext>
            </a:extLst>
          </p:cNvPr>
          <p:cNvSpPr/>
          <p:nvPr/>
        </p:nvSpPr>
        <p:spPr>
          <a:xfrm>
            <a:off x="729945" y="4840822"/>
            <a:ext cx="211015" cy="21101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CE0EBE65-BC93-421F-BA7D-D9E34D15EC4D}"/>
              </a:ext>
            </a:extLst>
          </p:cNvPr>
          <p:cNvSpPr txBox="1"/>
          <p:nvPr/>
        </p:nvSpPr>
        <p:spPr>
          <a:xfrm>
            <a:off x="940960" y="4761663"/>
            <a:ext cx="7079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通过应用进程间的交互来完成特定的网络应用</a:t>
            </a:r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0BDA8C59-0D49-4D37-B1B3-527A64B7DBB1}"/>
              </a:ext>
            </a:extLst>
          </p:cNvPr>
          <p:cNvSpPr/>
          <p:nvPr/>
        </p:nvSpPr>
        <p:spPr>
          <a:xfrm>
            <a:off x="729945" y="5328893"/>
            <a:ext cx="211015" cy="21101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08AE62F4-5945-4381-B03A-F1B1799D9D8E}"/>
              </a:ext>
            </a:extLst>
          </p:cNvPr>
          <p:cNvSpPr txBox="1"/>
          <p:nvPr/>
        </p:nvSpPr>
        <p:spPr>
          <a:xfrm>
            <a:off x="940960" y="5249734"/>
            <a:ext cx="6920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b="1" dirty="0"/>
              <a:t>进行会话管理和数据表示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AF2E2CC-027B-44B2-9C5D-4B691C956403}"/>
              </a:ext>
            </a:extLst>
          </p:cNvPr>
          <p:cNvGrpSpPr/>
          <p:nvPr/>
        </p:nvGrpSpPr>
        <p:grpSpPr>
          <a:xfrm>
            <a:off x="363817" y="1954530"/>
            <a:ext cx="985619" cy="249132"/>
            <a:chOff x="382880" y="1734586"/>
            <a:chExt cx="985619" cy="249132"/>
          </a:xfrm>
        </p:grpSpPr>
        <p:sp>
          <p:nvSpPr>
            <p:cNvPr id="78" name="domain-registration_48708">
              <a:extLst>
                <a:ext uri="{FF2B5EF4-FFF2-40B4-BE49-F238E27FC236}">
                  <a16:creationId xmlns:a16="http://schemas.microsoft.com/office/drawing/2014/main" id="{FDD2EEA7-8A04-4066-9F53-BDA319DE5C7E}"/>
                </a:ext>
              </a:extLst>
            </p:cNvPr>
            <p:cNvSpPr/>
            <p:nvPr/>
          </p:nvSpPr>
          <p:spPr>
            <a:xfrm>
              <a:off x="382880" y="1734586"/>
              <a:ext cx="231899" cy="249132"/>
            </a:xfrm>
            <a:custGeom>
              <a:avLst/>
              <a:gdLst>
                <a:gd name="connsiteX0" fmla="*/ 382227 w 512765"/>
                <a:gd name="connsiteY0" fmla="*/ 454054 h 550871"/>
                <a:gd name="connsiteX1" fmla="*/ 365434 w 512765"/>
                <a:gd name="connsiteY1" fmla="*/ 482454 h 550871"/>
                <a:gd name="connsiteX2" fmla="*/ 395145 w 512765"/>
                <a:gd name="connsiteY2" fmla="*/ 463090 h 550871"/>
                <a:gd name="connsiteX3" fmla="*/ 382227 w 512765"/>
                <a:gd name="connsiteY3" fmla="*/ 454054 h 550871"/>
                <a:gd name="connsiteX4" fmla="*/ 129039 w 512765"/>
                <a:gd name="connsiteY4" fmla="*/ 454054 h 550871"/>
                <a:gd name="connsiteX5" fmla="*/ 116122 w 512765"/>
                <a:gd name="connsiteY5" fmla="*/ 463090 h 550871"/>
                <a:gd name="connsiteX6" fmla="*/ 147124 w 512765"/>
                <a:gd name="connsiteY6" fmla="*/ 482454 h 550871"/>
                <a:gd name="connsiteX7" fmla="*/ 129039 w 512765"/>
                <a:gd name="connsiteY7" fmla="*/ 454054 h 550871"/>
                <a:gd name="connsiteX8" fmla="*/ 312471 w 512765"/>
                <a:gd name="connsiteY8" fmla="*/ 424364 h 550871"/>
                <a:gd name="connsiteX9" fmla="*/ 294386 w 512765"/>
                <a:gd name="connsiteY9" fmla="*/ 505690 h 550871"/>
                <a:gd name="connsiteX10" fmla="*/ 356391 w 512765"/>
                <a:gd name="connsiteY10" fmla="*/ 439854 h 550871"/>
                <a:gd name="connsiteX11" fmla="*/ 312471 w 512765"/>
                <a:gd name="connsiteY11" fmla="*/ 424364 h 550871"/>
                <a:gd name="connsiteX12" fmla="*/ 198795 w 512765"/>
                <a:gd name="connsiteY12" fmla="*/ 424364 h 550871"/>
                <a:gd name="connsiteX13" fmla="*/ 157458 w 512765"/>
                <a:gd name="connsiteY13" fmla="*/ 439854 h 550871"/>
                <a:gd name="connsiteX14" fmla="*/ 218172 w 512765"/>
                <a:gd name="connsiteY14" fmla="*/ 504399 h 550871"/>
                <a:gd name="connsiteX15" fmla="*/ 198795 w 512765"/>
                <a:gd name="connsiteY15" fmla="*/ 424364 h 550871"/>
                <a:gd name="connsiteX16" fmla="*/ 255633 w 512765"/>
                <a:gd name="connsiteY16" fmla="*/ 417909 h 550871"/>
                <a:gd name="connsiteX17" fmla="*/ 229797 w 512765"/>
                <a:gd name="connsiteY17" fmla="*/ 419200 h 550871"/>
                <a:gd name="connsiteX18" fmla="*/ 253049 w 512765"/>
                <a:gd name="connsiteY18" fmla="*/ 509562 h 550871"/>
                <a:gd name="connsiteX19" fmla="*/ 255633 w 512765"/>
                <a:gd name="connsiteY19" fmla="*/ 509562 h 550871"/>
                <a:gd name="connsiteX20" fmla="*/ 259508 w 512765"/>
                <a:gd name="connsiteY20" fmla="*/ 509562 h 550871"/>
                <a:gd name="connsiteX21" fmla="*/ 282760 w 512765"/>
                <a:gd name="connsiteY21" fmla="*/ 419200 h 550871"/>
                <a:gd name="connsiteX22" fmla="*/ 255633 w 512765"/>
                <a:gd name="connsiteY22" fmla="*/ 417909 h 550871"/>
                <a:gd name="connsiteX23" fmla="*/ 8905 w 512765"/>
                <a:gd name="connsiteY23" fmla="*/ 395964 h 550871"/>
                <a:gd name="connsiteX24" fmla="*/ 55408 w 512765"/>
                <a:gd name="connsiteY24" fmla="*/ 395964 h 550871"/>
                <a:gd name="connsiteX25" fmla="*/ 92870 w 512765"/>
                <a:gd name="connsiteY25" fmla="*/ 442436 h 550871"/>
                <a:gd name="connsiteX26" fmla="*/ 116122 w 512765"/>
                <a:gd name="connsiteY26" fmla="*/ 426945 h 550871"/>
                <a:gd name="connsiteX27" fmla="*/ 104496 w 512765"/>
                <a:gd name="connsiteY27" fmla="*/ 395964 h 550871"/>
                <a:gd name="connsiteX28" fmla="*/ 138082 w 512765"/>
                <a:gd name="connsiteY28" fmla="*/ 395964 h 550871"/>
                <a:gd name="connsiteX29" fmla="*/ 144541 w 512765"/>
                <a:gd name="connsiteY29" fmla="*/ 411455 h 550871"/>
                <a:gd name="connsiteX30" fmla="*/ 192336 w 512765"/>
                <a:gd name="connsiteY30" fmla="*/ 395964 h 550871"/>
                <a:gd name="connsiteX31" fmla="*/ 320221 w 512765"/>
                <a:gd name="connsiteY31" fmla="*/ 395964 h 550871"/>
                <a:gd name="connsiteX32" fmla="*/ 369309 w 512765"/>
                <a:gd name="connsiteY32" fmla="*/ 412746 h 550871"/>
                <a:gd name="connsiteX33" fmla="*/ 374476 w 512765"/>
                <a:gd name="connsiteY33" fmla="*/ 395964 h 550871"/>
                <a:gd name="connsiteX34" fmla="*/ 406770 w 512765"/>
                <a:gd name="connsiteY34" fmla="*/ 395964 h 550871"/>
                <a:gd name="connsiteX35" fmla="*/ 396436 w 512765"/>
                <a:gd name="connsiteY35" fmla="*/ 426945 h 550871"/>
                <a:gd name="connsiteX36" fmla="*/ 419688 w 512765"/>
                <a:gd name="connsiteY36" fmla="*/ 442436 h 550871"/>
                <a:gd name="connsiteX37" fmla="*/ 457150 w 512765"/>
                <a:gd name="connsiteY37" fmla="*/ 395964 h 550871"/>
                <a:gd name="connsiteX38" fmla="*/ 503653 w 512765"/>
                <a:gd name="connsiteY38" fmla="*/ 395964 h 550871"/>
                <a:gd name="connsiteX39" fmla="*/ 255633 w 512765"/>
                <a:gd name="connsiteY39" fmla="*/ 550871 h 550871"/>
                <a:gd name="connsiteX40" fmla="*/ 8905 w 512765"/>
                <a:gd name="connsiteY40" fmla="*/ 395964 h 550871"/>
                <a:gd name="connsiteX41" fmla="*/ 347297 w 512765"/>
                <a:gd name="connsiteY41" fmla="*/ 220555 h 550871"/>
                <a:gd name="connsiteX42" fmla="*/ 382201 w 512765"/>
                <a:gd name="connsiteY42" fmla="*/ 220555 h 550871"/>
                <a:gd name="connsiteX43" fmla="*/ 391250 w 512765"/>
                <a:gd name="connsiteY43" fmla="*/ 265750 h 550871"/>
                <a:gd name="connsiteX44" fmla="*/ 397713 w 512765"/>
                <a:gd name="connsiteY44" fmla="*/ 301907 h 550871"/>
                <a:gd name="connsiteX45" fmla="*/ 405470 w 512765"/>
                <a:gd name="connsiteY45" fmla="*/ 265750 h 550871"/>
                <a:gd name="connsiteX46" fmla="*/ 417104 w 512765"/>
                <a:gd name="connsiteY46" fmla="*/ 220555 h 550871"/>
                <a:gd name="connsiteX47" fmla="*/ 444251 w 512765"/>
                <a:gd name="connsiteY47" fmla="*/ 220555 h 550871"/>
                <a:gd name="connsiteX48" fmla="*/ 455886 w 512765"/>
                <a:gd name="connsiteY48" fmla="*/ 264459 h 550871"/>
                <a:gd name="connsiteX49" fmla="*/ 463642 w 512765"/>
                <a:gd name="connsiteY49" fmla="*/ 301907 h 550871"/>
                <a:gd name="connsiteX50" fmla="*/ 470106 w 512765"/>
                <a:gd name="connsiteY50" fmla="*/ 264459 h 550871"/>
                <a:gd name="connsiteX51" fmla="*/ 479155 w 512765"/>
                <a:gd name="connsiteY51" fmla="*/ 220555 h 550871"/>
                <a:gd name="connsiteX52" fmla="*/ 512765 w 512765"/>
                <a:gd name="connsiteY52" fmla="*/ 220555 h 550871"/>
                <a:gd name="connsiteX53" fmla="*/ 479155 w 512765"/>
                <a:gd name="connsiteY53" fmla="*/ 330315 h 550871"/>
                <a:gd name="connsiteX54" fmla="*/ 446837 w 512765"/>
                <a:gd name="connsiteY54" fmla="*/ 330315 h 550871"/>
                <a:gd name="connsiteX55" fmla="*/ 436495 w 512765"/>
                <a:gd name="connsiteY55" fmla="*/ 291576 h 550871"/>
                <a:gd name="connsiteX56" fmla="*/ 430031 w 512765"/>
                <a:gd name="connsiteY56" fmla="*/ 258003 h 550871"/>
                <a:gd name="connsiteX57" fmla="*/ 422275 w 512765"/>
                <a:gd name="connsiteY57" fmla="*/ 291576 h 550871"/>
                <a:gd name="connsiteX58" fmla="*/ 411933 w 512765"/>
                <a:gd name="connsiteY58" fmla="*/ 330315 h 550871"/>
                <a:gd name="connsiteX59" fmla="*/ 379615 w 512765"/>
                <a:gd name="connsiteY59" fmla="*/ 330315 h 550871"/>
                <a:gd name="connsiteX60" fmla="*/ 172924 w 512765"/>
                <a:gd name="connsiteY60" fmla="*/ 220555 h 550871"/>
                <a:gd name="connsiteX61" fmla="*/ 207827 w 512765"/>
                <a:gd name="connsiteY61" fmla="*/ 220555 h 550871"/>
                <a:gd name="connsiteX62" fmla="*/ 216876 w 512765"/>
                <a:gd name="connsiteY62" fmla="*/ 265750 h 550871"/>
                <a:gd name="connsiteX63" fmla="*/ 223340 w 512765"/>
                <a:gd name="connsiteY63" fmla="*/ 301907 h 550871"/>
                <a:gd name="connsiteX64" fmla="*/ 231096 w 512765"/>
                <a:gd name="connsiteY64" fmla="*/ 265750 h 550871"/>
                <a:gd name="connsiteX65" fmla="*/ 242731 w 512765"/>
                <a:gd name="connsiteY65" fmla="*/ 220555 h 550871"/>
                <a:gd name="connsiteX66" fmla="*/ 269878 w 512765"/>
                <a:gd name="connsiteY66" fmla="*/ 220555 h 550871"/>
                <a:gd name="connsiteX67" fmla="*/ 281512 w 512765"/>
                <a:gd name="connsiteY67" fmla="*/ 264459 h 550871"/>
                <a:gd name="connsiteX68" fmla="*/ 289268 w 512765"/>
                <a:gd name="connsiteY68" fmla="*/ 301907 h 550871"/>
                <a:gd name="connsiteX69" fmla="*/ 295732 w 512765"/>
                <a:gd name="connsiteY69" fmla="*/ 264459 h 550871"/>
                <a:gd name="connsiteX70" fmla="*/ 304781 w 512765"/>
                <a:gd name="connsiteY70" fmla="*/ 220555 h 550871"/>
                <a:gd name="connsiteX71" fmla="*/ 338392 w 512765"/>
                <a:gd name="connsiteY71" fmla="*/ 220555 h 550871"/>
                <a:gd name="connsiteX72" fmla="*/ 304781 w 512765"/>
                <a:gd name="connsiteY72" fmla="*/ 330315 h 550871"/>
                <a:gd name="connsiteX73" fmla="*/ 273756 w 512765"/>
                <a:gd name="connsiteY73" fmla="*/ 330315 h 550871"/>
                <a:gd name="connsiteX74" fmla="*/ 263414 w 512765"/>
                <a:gd name="connsiteY74" fmla="*/ 291576 h 550871"/>
                <a:gd name="connsiteX75" fmla="*/ 255658 w 512765"/>
                <a:gd name="connsiteY75" fmla="*/ 258003 h 550871"/>
                <a:gd name="connsiteX76" fmla="*/ 247901 w 512765"/>
                <a:gd name="connsiteY76" fmla="*/ 291576 h 550871"/>
                <a:gd name="connsiteX77" fmla="*/ 237560 w 512765"/>
                <a:gd name="connsiteY77" fmla="*/ 330315 h 550871"/>
                <a:gd name="connsiteX78" fmla="*/ 205242 w 512765"/>
                <a:gd name="connsiteY78" fmla="*/ 330315 h 550871"/>
                <a:gd name="connsiteX79" fmla="*/ 0 w 512765"/>
                <a:gd name="connsiteY79" fmla="*/ 220555 h 550871"/>
                <a:gd name="connsiteX80" fmla="*/ 33578 w 512765"/>
                <a:gd name="connsiteY80" fmla="*/ 220555 h 550871"/>
                <a:gd name="connsiteX81" fmla="*/ 42619 w 512765"/>
                <a:gd name="connsiteY81" fmla="*/ 265750 h 550871"/>
                <a:gd name="connsiteX82" fmla="*/ 49076 w 512765"/>
                <a:gd name="connsiteY82" fmla="*/ 301907 h 550871"/>
                <a:gd name="connsiteX83" fmla="*/ 58117 w 512765"/>
                <a:gd name="connsiteY83" fmla="*/ 265750 h 550871"/>
                <a:gd name="connsiteX84" fmla="*/ 69740 w 512765"/>
                <a:gd name="connsiteY84" fmla="*/ 220555 h 550871"/>
                <a:gd name="connsiteX85" fmla="*/ 95570 w 512765"/>
                <a:gd name="connsiteY85" fmla="*/ 220555 h 550871"/>
                <a:gd name="connsiteX86" fmla="*/ 107193 w 512765"/>
                <a:gd name="connsiteY86" fmla="*/ 264459 h 550871"/>
                <a:gd name="connsiteX87" fmla="*/ 114942 w 512765"/>
                <a:gd name="connsiteY87" fmla="*/ 301907 h 550871"/>
                <a:gd name="connsiteX88" fmla="*/ 116234 w 512765"/>
                <a:gd name="connsiteY88" fmla="*/ 301907 h 550871"/>
                <a:gd name="connsiteX89" fmla="*/ 121400 w 512765"/>
                <a:gd name="connsiteY89" fmla="*/ 264459 h 550871"/>
                <a:gd name="connsiteX90" fmla="*/ 131732 w 512765"/>
                <a:gd name="connsiteY90" fmla="*/ 220555 h 550871"/>
                <a:gd name="connsiteX91" fmla="*/ 164019 w 512765"/>
                <a:gd name="connsiteY91" fmla="*/ 220555 h 550871"/>
                <a:gd name="connsiteX92" fmla="*/ 130440 w 512765"/>
                <a:gd name="connsiteY92" fmla="*/ 330315 h 550871"/>
                <a:gd name="connsiteX93" fmla="*/ 99444 w 512765"/>
                <a:gd name="connsiteY93" fmla="*/ 330315 h 550871"/>
                <a:gd name="connsiteX94" fmla="*/ 89112 w 512765"/>
                <a:gd name="connsiteY94" fmla="*/ 291576 h 550871"/>
                <a:gd name="connsiteX95" fmla="*/ 81364 w 512765"/>
                <a:gd name="connsiteY95" fmla="*/ 258003 h 550871"/>
                <a:gd name="connsiteX96" fmla="*/ 73615 w 512765"/>
                <a:gd name="connsiteY96" fmla="*/ 291576 h 550871"/>
                <a:gd name="connsiteX97" fmla="*/ 63283 w 512765"/>
                <a:gd name="connsiteY97" fmla="*/ 330315 h 550871"/>
                <a:gd name="connsiteX98" fmla="*/ 30995 w 512765"/>
                <a:gd name="connsiteY98" fmla="*/ 330315 h 550871"/>
                <a:gd name="connsiteX99" fmla="*/ 365434 w 512765"/>
                <a:gd name="connsiteY99" fmla="*/ 67126 h 550871"/>
                <a:gd name="connsiteX100" fmla="*/ 382227 w 512765"/>
                <a:gd name="connsiteY100" fmla="*/ 95526 h 550871"/>
                <a:gd name="connsiteX101" fmla="*/ 395145 w 512765"/>
                <a:gd name="connsiteY101" fmla="*/ 87781 h 550871"/>
                <a:gd name="connsiteX102" fmla="*/ 365434 w 512765"/>
                <a:gd name="connsiteY102" fmla="*/ 67126 h 550871"/>
                <a:gd name="connsiteX103" fmla="*/ 147124 w 512765"/>
                <a:gd name="connsiteY103" fmla="*/ 67126 h 550871"/>
                <a:gd name="connsiteX104" fmla="*/ 116122 w 512765"/>
                <a:gd name="connsiteY104" fmla="*/ 87781 h 550871"/>
                <a:gd name="connsiteX105" fmla="*/ 129039 w 512765"/>
                <a:gd name="connsiteY105" fmla="*/ 95526 h 550871"/>
                <a:gd name="connsiteX106" fmla="*/ 147124 w 512765"/>
                <a:gd name="connsiteY106" fmla="*/ 67126 h 550871"/>
                <a:gd name="connsiteX107" fmla="*/ 294386 w 512765"/>
                <a:gd name="connsiteY107" fmla="*/ 45181 h 550871"/>
                <a:gd name="connsiteX108" fmla="*/ 312471 w 512765"/>
                <a:gd name="connsiteY108" fmla="*/ 125216 h 550871"/>
                <a:gd name="connsiteX109" fmla="*/ 356391 w 512765"/>
                <a:gd name="connsiteY109" fmla="*/ 111017 h 550871"/>
                <a:gd name="connsiteX110" fmla="*/ 294386 w 512765"/>
                <a:gd name="connsiteY110" fmla="*/ 45181 h 550871"/>
                <a:gd name="connsiteX111" fmla="*/ 218172 w 512765"/>
                <a:gd name="connsiteY111" fmla="*/ 45181 h 550871"/>
                <a:gd name="connsiteX112" fmla="*/ 157458 w 512765"/>
                <a:gd name="connsiteY112" fmla="*/ 111017 h 550871"/>
                <a:gd name="connsiteX113" fmla="*/ 198795 w 512765"/>
                <a:gd name="connsiteY113" fmla="*/ 125216 h 550871"/>
                <a:gd name="connsiteX114" fmla="*/ 218172 w 512765"/>
                <a:gd name="connsiteY114" fmla="*/ 45181 h 550871"/>
                <a:gd name="connsiteX115" fmla="*/ 253049 w 512765"/>
                <a:gd name="connsiteY115" fmla="*/ 41309 h 550871"/>
                <a:gd name="connsiteX116" fmla="*/ 229797 w 512765"/>
                <a:gd name="connsiteY116" fmla="*/ 130380 h 550871"/>
                <a:gd name="connsiteX117" fmla="*/ 255633 w 512765"/>
                <a:gd name="connsiteY117" fmla="*/ 132962 h 550871"/>
                <a:gd name="connsiteX118" fmla="*/ 282760 w 512765"/>
                <a:gd name="connsiteY118" fmla="*/ 130380 h 550871"/>
                <a:gd name="connsiteX119" fmla="*/ 259508 w 512765"/>
                <a:gd name="connsiteY119" fmla="*/ 41309 h 550871"/>
                <a:gd name="connsiteX120" fmla="*/ 255633 w 512765"/>
                <a:gd name="connsiteY120" fmla="*/ 41309 h 550871"/>
                <a:gd name="connsiteX121" fmla="*/ 253049 w 512765"/>
                <a:gd name="connsiteY121" fmla="*/ 41309 h 550871"/>
                <a:gd name="connsiteX122" fmla="*/ 255633 w 512765"/>
                <a:gd name="connsiteY122" fmla="*/ 0 h 550871"/>
                <a:gd name="connsiteX123" fmla="*/ 503653 w 512765"/>
                <a:gd name="connsiteY123" fmla="*/ 154907 h 550871"/>
                <a:gd name="connsiteX124" fmla="*/ 457150 w 512765"/>
                <a:gd name="connsiteY124" fmla="*/ 154907 h 550871"/>
                <a:gd name="connsiteX125" fmla="*/ 419688 w 512765"/>
                <a:gd name="connsiteY125" fmla="*/ 107144 h 550871"/>
                <a:gd name="connsiteX126" fmla="*/ 396436 w 512765"/>
                <a:gd name="connsiteY126" fmla="*/ 123926 h 550871"/>
                <a:gd name="connsiteX127" fmla="*/ 406770 w 512765"/>
                <a:gd name="connsiteY127" fmla="*/ 154907 h 550871"/>
                <a:gd name="connsiteX128" fmla="*/ 374476 w 512765"/>
                <a:gd name="connsiteY128" fmla="*/ 154907 h 550871"/>
                <a:gd name="connsiteX129" fmla="*/ 369309 w 512765"/>
                <a:gd name="connsiteY129" fmla="*/ 138125 h 550871"/>
                <a:gd name="connsiteX130" fmla="*/ 320221 w 512765"/>
                <a:gd name="connsiteY130" fmla="*/ 154907 h 550871"/>
                <a:gd name="connsiteX131" fmla="*/ 192336 w 512765"/>
                <a:gd name="connsiteY131" fmla="*/ 154907 h 550871"/>
                <a:gd name="connsiteX132" fmla="*/ 144541 w 512765"/>
                <a:gd name="connsiteY132" fmla="*/ 138125 h 550871"/>
                <a:gd name="connsiteX133" fmla="*/ 138082 w 512765"/>
                <a:gd name="connsiteY133" fmla="*/ 154907 h 550871"/>
                <a:gd name="connsiteX134" fmla="*/ 104496 w 512765"/>
                <a:gd name="connsiteY134" fmla="*/ 154907 h 550871"/>
                <a:gd name="connsiteX135" fmla="*/ 116122 w 512765"/>
                <a:gd name="connsiteY135" fmla="*/ 123926 h 550871"/>
                <a:gd name="connsiteX136" fmla="*/ 92870 w 512765"/>
                <a:gd name="connsiteY136" fmla="*/ 107144 h 550871"/>
                <a:gd name="connsiteX137" fmla="*/ 55408 w 512765"/>
                <a:gd name="connsiteY137" fmla="*/ 154907 h 550871"/>
                <a:gd name="connsiteX138" fmla="*/ 8905 w 512765"/>
                <a:gd name="connsiteY138" fmla="*/ 154907 h 550871"/>
                <a:gd name="connsiteX139" fmla="*/ 255633 w 512765"/>
                <a:gd name="connsiteY139" fmla="*/ 0 h 55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512765" h="550871">
                  <a:moveTo>
                    <a:pt x="382227" y="454054"/>
                  </a:moveTo>
                  <a:cubicBezTo>
                    <a:pt x="377060" y="464381"/>
                    <a:pt x="371893" y="473417"/>
                    <a:pt x="365434" y="482454"/>
                  </a:cubicBezTo>
                  <a:cubicBezTo>
                    <a:pt x="375768" y="477290"/>
                    <a:pt x="386102" y="470836"/>
                    <a:pt x="395145" y="463090"/>
                  </a:cubicBezTo>
                  <a:cubicBezTo>
                    <a:pt x="391269" y="460509"/>
                    <a:pt x="387394" y="456636"/>
                    <a:pt x="382227" y="454054"/>
                  </a:cubicBezTo>
                  <a:close/>
                  <a:moveTo>
                    <a:pt x="129039" y="454054"/>
                  </a:moveTo>
                  <a:cubicBezTo>
                    <a:pt x="125164" y="456636"/>
                    <a:pt x="121289" y="460509"/>
                    <a:pt x="116122" y="463090"/>
                  </a:cubicBezTo>
                  <a:cubicBezTo>
                    <a:pt x="126456" y="470836"/>
                    <a:pt x="136790" y="477290"/>
                    <a:pt x="147124" y="482454"/>
                  </a:cubicBezTo>
                  <a:cubicBezTo>
                    <a:pt x="140665" y="474708"/>
                    <a:pt x="135498" y="464381"/>
                    <a:pt x="129039" y="454054"/>
                  </a:cubicBezTo>
                  <a:close/>
                  <a:moveTo>
                    <a:pt x="312471" y="424364"/>
                  </a:moveTo>
                  <a:cubicBezTo>
                    <a:pt x="308595" y="454054"/>
                    <a:pt x="303428" y="483745"/>
                    <a:pt x="294386" y="505690"/>
                  </a:cubicBezTo>
                  <a:cubicBezTo>
                    <a:pt x="317638" y="492781"/>
                    <a:pt x="339598" y="470836"/>
                    <a:pt x="356391" y="439854"/>
                  </a:cubicBezTo>
                  <a:cubicBezTo>
                    <a:pt x="342181" y="433400"/>
                    <a:pt x="327972" y="428236"/>
                    <a:pt x="312471" y="424364"/>
                  </a:cubicBezTo>
                  <a:close/>
                  <a:moveTo>
                    <a:pt x="198795" y="424364"/>
                  </a:moveTo>
                  <a:cubicBezTo>
                    <a:pt x="184586" y="428236"/>
                    <a:pt x="170376" y="433400"/>
                    <a:pt x="157458" y="439854"/>
                  </a:cubicBezTo>
                  <a:cubicBezTo>
                    <a:pt x="174251" y="469545"/>
                    <a:pt x="194920" y="492781"/>
                    <a:pt x="218172" y="504399"/>
                  </a:cubicBezTo>
                  <a:cubicBezTo>
                    <a:pt x="209129" y="482454"/>
                    <a:pt x="203962" y="454054"/>
                    <a:pt x="198795" y="424364"/>
                  </a:cubicBezTo>
                  <a:close/>
                  <a:moveTo>
                    <a:pt x="255633" y="417909"/>
                  </a:moveTo>
                  <a:cubicBezTo>
                    <a:pt x="246590" y="417909"/>
                    <a:pt x="238840" y="417909"/>
                    <a:pt x="229797" y="419200"/>
                  </a:cubicBezTo>
                  <a:cubicBezTo>
                    <a:pt x="236256" y="466963"/>
                    <a:pt x="245299" y="496654"/>
                    <a:pt x="253049" y="509562"/>
                  </a:cubicBezTo>
                  <a:cubicBezTo>
                    <a:pt x="254341" y="509562"/>
                    <a:pt x="255633" y="509562"/>
                    <a:pt x="255633" y="509562"/>
                  </a:cubicBezTo>
                  <a:cubicBezTo>
                    <a:pt x="256925" y="509562"/>
                    <a:pt x="258216" y="509562"/>
                    <a:pt x="259508" y="509562"/>
                  </a:cubicBezTo>
                  <a:cubicBezTo>
                    <a:pt x="267259" y="496654"/>
                    <a:pt x="276301" y="466963"/>
                    <a:pt x="282760" y="419200"/>
                  </a:cubicBezTo>
                  <a:cubicBezTo>
                    <a:pt x="273718" y="417909"/>
                    <a:pt x="264675" y="417909"/>
                    <a:pt x="255633" y="417909"/>
                  </a:cubicBezTo>
                  <a:close/>
                  <a:moveTo>
                    <a:pt x="8905" y="395964"/>
                  </a:moveTo>
                  <a:lnTo>
                    <a:pt x="55408" y="395964"/>
                  </a:lnTo>
                  <a:cubicBezTo>
                    <a:pt x="65743" y="412746"/>
                    <a:pt x="78660" y="428236"/>
                    <a:pt x="92870" y="442436"/>
                  </a:cubicBezTo>
                  <a:cubicBezTo>
                    <a:pt x="100620" y="437273"/>
                    <a:pt x="108371" y="432109"/>
                    <a:pt x="116122" y="426945"/>
                  </a:cubicBezTo>
                  <a:cubicBezTo>
                    <a:pt x="112246" y="416618"/>
                    <a:pt x="108371" y="406291"/>
                    <a:pt x="104496" y="395964"/>
                  </a:cubicBezTo>
                  <a:lnTo>
                    <a:pt x="138082" y="395964"/>
                  </a:lnTo>
                  <a:cubicBezTo>
                    <a:pt x="139374" y="401128"/>
                    <a:pt x="141957" y="406291"/>
                    <a:pt x="144541" y="411455"/>
                  </a:cubicBezTo>
                  <a:cubicBezTo>
                    <a:pt x="158750" y="405000"/>
                    <a:pt x="175543" y="399837"/>
                    <a:pt x="192336" y="395964"/>
                  </a:cubicBezTo>
                  <a:lnTo>
                    <a:pt x="320221" y="395964"/>
                  </a:lnTo>
                  <a:cubicBezTo>
                    <a:pt x="337014" y="399837"/>
                    <a:pt x="353808" y="405000"/>
                    <a:pt x="369309" y="412746"/>
                  </a:cubicBezTo>
                  <a:cubicBezTo>
                    <a:pt x="370601" y="406291"/>
                    <a:pt x="373184" y="401128"/>
                    <a:pt x="374476" y="395964"/>
                  </a:cubicBezTo>
                  <a:lnTo>
                    <a:pt x="406770" y="395964"/>
                  </a:lnTo>
                  <a:cubicBezTo>
                    <a:pt x="404187" y="406291"/>
                    <a:pt x="400312" y="416618"/>
                    <a:pt x="396436" y="426945"/>
                  </a:cubicBezTo>
                  <a:cubicBezTo>
                    <a:pt x="404187" y="432109"/>
                    <a:pt x="411938" y="437273"/>
                    <a:pt x="419688" y="442436"/>
                  </a:cubicBezTo>
                  <a:cubicBezTo>
                    <a:pt x="433898" y="428236"/>
                    <a:pt x="446815" y="412746"/>
                    <a:pt x="457150" y="395964"/>
                  </a:cubicBezTo>
                  <a:lnTo>
                    <a:pt x="503653" y="395964"/>
                  </a:lnTo>
                  <a:cubicBezTo>
                    <a:pt x="458441" y="487617"/>
                    <a:pt x="365434" y="550871"/>
                    <a:pt x="255633" y="550871"/>
                  </a:cubicBezTo>
                  <a:cubicBezTo>
                    <a:pt x="147124" y="550871"/>
                    <a:pt x="54117" y="487617"/>
                    <a:pt x="8905" y="395964"/>
                  </a:cubicBezTo>
                  <a:close/>
                  <a:moveTo>
                    <a:pt x="347297" y="220555"/>
                  </a:moveTo>
                  <a:lnTo>
                    <a:pt x="382201" y="220555"/>
                  </a:lnTo>
                  <a:lnTo>
                    <a:pt x="391250" y="265750"/>
                  </a:lnTo>
                  <a:cubicBezTo>
                    <a:pt x="393835" y="276081"/>
                    <a:pt x="395128" y="288994"/>
                    <a:pt x="397713" y="301907"/>
                  </a:cubicBezTo>
                  <a:cubicBezTo>
                    <a:pt x="400299" y="288994"/>
                    <a:pt x="402884" y="276081"/>
                    <a:pt x="405470" y="265750"/>
                  </a:cubicBezTo>
                  <a:lnTo>
                    <a:pt x="417104" y="220555"/>
                  </a:lnTo>
                  <a:lnTo>
                    <a:pt x="444251" y="220555"/>
                  </a:lnTo>
                  <a:lnTo>
                    <a:pt x="455886" y="264459"/>
                  </a:lnTo>
                  <a:cubicBezTo>
                    <a:pt x="458471" y="276081"/>
                    <a:pt x="461056" y="288994"/>
                    <a:pt x="463642" y="301907"/>
                  </a:cubicBezTo>
                  <a:cubicBezTo>
                    <a:pt x="464935" y="288994"/>
                    <a:pt x="467520" y="276081"/>
                    <a:pt x="470106" y="264459"/>
                  </a:cubicBezTo>
                  <a:lnTo>
                    <a:pt x="479155" y="220555"/>
                  </a:lnTo>
                  <a:lnTo>
                    <a:pt x="512765" y="220555"/>
                  </a:lnTo>
                  <a:lnTo>
                    <a:pt x="479155" y="330315"/>
                  </a:lnTo>
                  <a:lnTo>
                    <a:pt x="446837" y="330315"/>
                  </a:lnTo>
                  <a:lnTo>
                    <a:pt x="436495" y="291576"/>
                  </a:lnTo>
                  <a:cubicBezTo>
                    <a:pt x="433909" y="281246"/>
                    <a:pt x="432617" y="270915"/>
                    <a:pt x="430031" y="258003"/>
                  </a:cubicBezTo>
                  <a:cubicBezTo>
                    <a:pt x="427446" y="270915"/>
                    <a:pt x="424860" y="281246"/>
                    <a:pt x="422275" y="291576"/>
                  </a:cubicBezTo>
                  <a:lnTo>
                    <a:pt x="411933" y="330315"/>
                  </a:lnTo>
                  <a:lnTo>
                    <a:pt x="379615" y="330315"/>
                  </a:lnTo>
                  <a:close/>
                  <a:moveTo>
                    <a:pt x="172924" y="220555"/>
                  </a:moveTo>
                  <a:lnTo>
                    <a:pt x="207827" y="220555"/>
                  </a:lnTo>
                  <a:lnTo>
                    <a:pt x="216876" y="265750"/>
                  </a:lnTo>
                  <a:cubicBezTo>
                    <a:pt x="219462" y="276081"/>
                    <a:pt x="220754" y="288994"/>
                    <a:pt x="223340" y="301907"/>
                  </a:cubicBezTo>
                  <a:cubicBezTo>
                    <a:pt x="225925" y="288994"/>
                    <a:pt x="228511" y="276081"/>
                    <a:pt x="231096" y="265750"/>
                  </a:cubicBezTo>
                  <a:lnTo>
                    <a:pt x="242731" y="220555"/>
                  </a:lnTo>
                  <a:lnTo>
                    <a:pt x="269878" y="220555"/>
                  </a:lnTo>
                  <a:lnTo>
                    <a:pt x="281512" y="264459"/>
                  </a:lnTo>
                  <a:cubicBezTo>
                    <a:pt x="284098" y="276081"/>
                    <a:pt x="286683" y="288994"/>
                    <a:pt x="289268" y="301907"/>
                  </a:cubicBezTo>
                  <a:cubicBezTo>
                    <a:pt x="291854" y="288994"/>
                    <a:pt x="293147" y="276081"/>
                    <a:pt x="295732" y="264459"/>
                  </a:cubicBezTo>
                  <a:lnTo>
                    <a:pt x="304781" y="220555"/>
                  </a:lnTo>
                  <a:lnTo>
                    <a:pt x="338392" y="220555"/>
                  </a:lnTo>
                  <a:lnTo>
                    <a:pt x="304781" y="330315"/>
                  </a:lnTo>
                  <a:lnTo>
                    <a:pt x="273756" y="330315"/>
                  </a:lnTo>
                  <a:lnTo>
                    <a:pt x="263414" y="291576"/>
                  </a:lnTo>
                  <a:cubicBezTo>
                    <a:pt x="259536" y="281246"/>
                    <a:pt x="258243" y="270915"/>
                    <a:pt x="255658" y="258003"/>
                  </a:cubicBezTo>
                  <a:cubicBezTo>
                    <a:pt x="253072" y="270915"/>
                    <a:pt x="251780" y="281246"/>
                    <a:pt x="247901" y="291576"/>
                  </a:cubicBezTo>
                  <a:lnTo>
                    <a:pt x="237560" y="330315"/>
                  </a:lnTo>
                  <a:lnTo>
                    <a:pt x="205242" y="330315"/>
                  </a:lnTo>
                  <a:close/>
                  <a:moveTo>
                    <a:pt x="0" y="220555"/>
                  </a:moveTo>
                  <a:lnTo>
                    <a:pt x="33578" y="220555"/>
                  </a:lnTo>
                  <a:lnTo>
                    <a:pt x="42619" y="265750"/>
                  </a:lnTo>
                  <a:cubicBezTo>
                    <a:pt x="45202" y="276081"/>
                    <a:pt x="47785" y="288994"/>
                    <a:pt x="49076" y="301907"/>
                  </a:cubicBezTo>
                  <a:cubicBezTo>
                    <a:pt x="51659" y="288994"/>
                    <a:pt x="55534" y="276081"/>
                    <a:pt x="58117" y="265750"/>
                  </a:cubicBezTo>
                  <a:lnTo>
                    <a:pt x="69740" y="220555"/>
                  </a:lnTo>
                  <a:lnTo>
                    <a:pt x="95570" y="220555"/>
                  </a:lnTo>
                  <a:lnTo>
                    <a:pt x="107193" y="264459"/>
                  </a:lnTo>
                  <a:cubicBezTo>
                    <a:pt x="109776" y="276081"/>
                    <a:pt x="112359" y="288994"/>
                    <a:pt x="114942" y="301907"/>
                  </a:cubicBezTo>
                  <a:lnTo>
                    <a:pt x="116234" y="301907"/>
                  </a:lnTo>
                  <a:cubicBezTo>
                    <a:pt x="117525" y="288994"/>
                    <a:pt x="118817" y="276081"/>
                    <a:pt x="121400" y="264459"/>
                  </a:cubicBezTo>
                  <a:lnTo>
                    <a:pt x="131732" y="220555"/>
                  </a:lnTo>
                  <a:lnTo>
                    <a:pt x="164019" y="220555"/>
                  </a:lnTo>
                  <a:lnTo>
                    <a:pt x="130440" y="330315"/>
                  </a:lnTo>
                  <a:lnTo>
                    <a:pt x="99444" y="330315"/>
                  </a:lnTo>
                  <a:lnTo>
                    <a:pt x="89112" y="291576"/>
                  </a:lnTo>
                  <a:cubicBezTo>
                    <a:pt x="86529" y="281246"/>
                    <a:pt x="83946" y="270915"/>
                    <a:pt x="81364" y="258003"/>
                  </a:cubicBezTo>
                  <a:cubicBezTo>
                    <a:pt x="78781" y="270915"/>
                    <a:pt x="77489" y="281246"/>
                    <a:pt x="73615" y="291576"/>
                  </a:cubicBezTo>
                  <a:lnTo>
                    <a:pt x="63283" y="330315"/>
                  </a:lnTo>
                  <a:lnTo>
                    <a:pt x="30995" y="330315"/>
                  </a:lnTo>
                  <a:close/>
                  <a:moveTo>
                    <a:pt x="365434" y="67126"/>
                  </a:moveTo>
                  <a:cubicBezTo>
                    <a:pt x="371893" y="76163"/>
                    <a:pt x="377060" y="86490"/>
                    <a:pt x="382227" y="95526"/>
                  </a:cubicBezTo>
                  <a:cubicBezTo>
                    <a:pt x="387394" y="92944"/>
                    <a:pt x="391269" y="90362"/>
                    <a:pt x="395145" y="87781"/>
                  </a:cubicBezTo>
                  <a:cubicBezTo>
                    <a:pt x="386102" y="80035"/>
                    <a:pt x="375768" y="73581"/>
                    <a:pt x="365434" y="67126"/>
                  </a:cubicBezTo>
                  <a:close/>
                  <a:moveTo>
                    <a:pt x="147124" y="67126"/>
                  </a:moveTo>
                  <a:cubicBezTo>
                    <a:pt x="136790" y="73581"/>
                    <a:pt x="126456" y="80035"/>
                    <a:pt x="116122" y="87781"/>
                  </a:cubicBezTo>
                  <a:cubicBezTo>
                    <a:pt x="121289" y="90362"/>
                    <a:pt x="125164" y="92944"/>
                    <a:pt x="129039" y="95526"/>
                  </a:cubicBezTo>
                  <a:cubicBezTo>
                    <a:pt x="135498" y="86490"/>
                    <a:pt x="140665" y="76163"/>
                    <a:pt x="147124" y="67126"/>
                  </a:cubicBezTo>
                  <a:close/>
                  <a:moveTo>
                    <a:pt x="294386" y="45181"/>
                  </a:moveTo>
                  <a:cubicBezTo>
                    <a:pt x="303428" y="67126"/>
                    <a:pt x="308595" y="95526"/>
                    <a:pt x="312471" y="125216"/>
                  </a:cubicBezTo>
                  <a:cubicBezTo>
                    <a:pt x="327972" y="122635"/>
                    <a:pt x="342181" y="117471"/>
                    <a:pt x="356391" y="111017"/>
                  </a:cubicBezTo>
                  <a:cubicBezTo>
                    <a:pt x="339598" y="80035"/>
                    <a:pt x="317638" y="56799"/>
                    <a:pt x="294386" y="45181"/>
                  </a:cubicBezTo>
                  <a:close/>
                  <a:moveTo>
                    <a:pt x="218172" y="45181"/>
                  </a:moveTo>
                  <a:cubicBezTo>
                    <a:pt x="194920" y="58090"/>
                    <a:pt x="174251" y="81326"/>
                    <a:pt x="157458" y="111017"/>
                  </a:cubicBezTo>
                  <a:cubicBezTo>
                    <a:pt x="170376" y="117471"/>
                    <a:pt x="184586" y="122635"/>
                    <a:pt x="198795" y="125216"/>
                  </a:cubicBezTo>
                  <a:cubicBezTo>
                    <a:pt x="203962" y="95526"/>
                    <a:pt x="209129" y="67126"/>
                    <a:pt x="218172" y="45181"/>
                  </a:cubicBezTo>
                  <a:close/>
                  <a:moveTo>
                    <a:pt x="253049" y="41309"/>
                  </a:moveTo>
                  <a:cubicBezTo>
                    <a:pt x="245299" y="52927"/>
                    <a:pt x="236256" y="83908"/>
                    <a:pt x="229797" y="130380"/>
                  </a:cubicBezTo>
                  <a:cubicBezTo>
                    <a:pt x="238840" y="131671"/>
                    <a:pt x="246590" y="132962"/>
                    <a:pt x="255633" y="132962"/>
                  </a:cubicBezTo>
                  <a:cubicBezTo>
                    <a:pt x="264675" y="132962"/>
                    <a:pt x="273718" y="131671"/>
                    <a:pt x="282760" y="130380"/>
                  </a:cubicBezTo>
                  <a:cubicBezTo>
                    <a:pt x="276301" y="83908"/>
                    <a:pt x="267259" y="52927"/>
                    <a:pt x="259508" y="41309"/>
                  </a:cubicBezTo>
                  <a:cubicBezTo>
                    <a:pt x="258216" y="41309"/>
                    <a:pt x="256925" y="41309"/>
                    <a:pt x="255633" y="41309"/>
                  </a:cubicBezTo>
                  <a:cubicBezTo>
                    <a:pt x="255633" y="41309"/>
                    <a:pt x="254341" y="41309"/>
                    <a:pt x="253049" y="41309"/>
                  </a:cubicBezTo>
                  <a:close/>
                  <a:moveTo>
                    <a:pt x="255633" y="0"/>
                  </a:moveTo>
                  <a:cubicBezTo>
                    <a:pt x="365434" y="0"/>
                    <a:pt x="458441" y="63254"/>
                    <a:pt x="503653" y="154907"/>
                  </a:cubicBezTo>
                  <a:lnTo>
                    <a:pt x="457150" y="154907"/>
                  </a:lnTo>
                  <a:cubicBezTo>
                    <a:pt x="446815" y="138125"/>
                    <a:pt x="433898" y="121344"/>
                    <a:pt x="419688" y="107144"/>
                  </a:cubicBezTo>
                  <a:cubicBezTo>
                    <a:pt x="411938" y="113598"/>
                    <a:pt x="404187" y="118762"/>
                    <a:pt x="396436" y="123926"/>
                  </a:cubicBezTo>
                  <a:cubicBezTo>
                    <a:pt x="400312" y="134253"/>
                    <a:pt x="404187" y="144580"/>
                    <a:pt x="406770" y="154907"/>
                  </a:cubicBezTo>
                  <a:lnTo>
                    <a:pt x="374476" y="154907"/>
                  </a:lnTo>
                  <a:cubicBezTo>
                    <a:pt x="373184" y="149743"/>
                    <a:pt x="370601" y="143289"/>
                    <a:pt x="369309" y="138125"/>
                  </a:cubicBezTo>
                  <a:cubicBezTo>
                    <a:pt x="353808" y="145871"/>
                    <a:pt x="337014" y="151034"/>
                    <a:pt x="320221" y="154907"/>
                  </a:cubicBezTo>
                  <a:lnTo>
                    <a:pt x="192336" y="154907"/>
                  </a:lnTo>
                  <a:cubicBezTo>
                    <a:pt x="175543" y="151034"/>
                    <a:pt x="158750" y="145871"/>
                    <a:pt x="144541" y="138125"/>
                  </a:cubicBezTo>
                  <a:cubicBezTo>
                    <a:pt x="141957" y="143289"/>
                    <a:pt x="139374" y="149743"/>
                    <a:pt x="138082" y="154907"/>
                  </a:cubicBezTo>
                  <a:lnTo>
                    <a:pt x="104496" y="154907"/>
                  </a:lnTo>
                  <a:cubicBezTo>
                    <a:pt x="108371" y="144580"/>
                    <a:pt x="112246" y="134253"/>
                    <a:pt x="116122" y="123926"/>
                  </a:cubicBezTo>
                  <a:cubicBezTo>
                    <a:pt x="108371" y="118762"/>
                    <a:pt x="100620" y="113598"/>
                    <a:pt x="92870" y="107144"/>
                  </a:cubicBezTo>
                  <a:cubicBezTo>
                    <a:pt x="77369" y="121344"/>
                    <a:pt x="65743" y="138125"/>
                    <a:pt x="55408" y="154907"/>
                  </a:cubicBezTo>
                  <a:lnTo>
                    <a:pt x="8905" y="154907"/>
                  </a:lnTo>
                  <a:cubicBezTo>
                    <a:pt x="54117" y="63254"/>
                    <a:pt x="147124" y="0"/>
                    <a:pt x="2556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平行四边形 7">
              <a:extLst>
                <a:ext uri="{FF2B5EF4-FFF2-40B4-BE49-F238E27FC236}">
                  <a16:creationId xmlns:a16="http://schemas.microsoft.com/office/drawing/2014/main" id="{13DC2607-A288-45C4-B162-017C2D890127}"/>
                </a:ext>
              </a:extLst>
            </p:cNvPr>
            <p:cNvSpPr/>
            <p:nvPr/>
          </p:nvSpPr>
          <p:spPr>
            <a:xfrm>
              <a:off x="658721" y="1734586"/>
              <a:ext cx="709778" cy="249132"/>
            </a:xfrm>
            <a:prstGeom prst="parallelogram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/>
                <a:t>HTTP</a:t>
              </a:r>
              <a:endParaRPr lang="zh-CN" altLang="en-US" sz="1200" b="1" dirty="0"/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7C2BE645-FD2E-47B5-98FB-4D3104D92F0A}"/>
              </a:ext>
            </a:extLst>
          </p:cNvPr>
          <p:cNvSpPr txBox="1"/>
          <p:nvPr/>
        </p:nvSpPr>
        <p:spPr>
          <a:xfrm>
            <a:off x="1149557" y="3386431"/>
            <a:ext cx="1235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192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3"/>
                </a:solidFill>
              </a:rPr>
              <a:t>168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3"/>
                </a:solidFill>
              </a:rPr>
              <a:t>0</a:t>
            </a:r>
            <a:r>
              <a:rPr lang="en-US" altLang="zh-CN" b="1" dirty="0"/>
              <a:t>.2</a:t>
            </a:r>
            <a:endParaRPr lang="zh-CN" altLang="en-US" b="1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252BABC6-C7A5-41E3-90A6-E99C8E366004}"/>
              </a:ext>
            </a:extLst>
          </p:cNvPr>
          <p:cNvSpPr txBox="1"/>
          <p:nvPr/>
        </p:nvSpPr>
        <p:spPr>
          <a:xfrm>
            <a:off x="1149557" y="1278806"/>
            <a:ext cx="1235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192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3"/>
                </a:solidFill>
              </a:rPr>
              <a:t>168</a:t>
            </a:r>
            <a:r>
              <a:rPr lang="en-US" altLang="zh-CN" b="1" dirty="0"/>
              <a:t>.</a:t>
            </a:r>
            <a:r>
              <a:rPr lang="en-US" altLang="zh-CN" b="1" dirty="0">
                <a:solidFill>
                  <a:schemeClr val="accent3"/>
                </a:solidFill>
              </a:rPr>
              <a:t>0</a:t>
            </a:r>
            <a:r>
              <a:rPr lang="en-US" altLang="zh-CN" b="1" dirty="0"/>
              <a:t>.1</a:t>
            </a:r>
            <a:endParaRPr lang="zh-CN" altLang="en-US" b="1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42BCC90-123B-43B7-94B6-A0E416725E74}"/>
              </a:ext>
            </a:extLst>
          </p:cNvPr>
          <p:cNvGrpSpPr/>
          <p:nvPr/>
        </p:nvGrpSpPr>
        <p:grpSpPr>
          <a:xfrm>
            <a:off x="363817" y="2429482"/>
            <a:ext cx="994235" cy="249132"/>
            <a:chOff x="377209" y="2152975"/>
            <a:chExt cx="994235" cy="249132"/>
          </a:xfrm>
        </p:grpSpPr>
        <p:sp>
          <p:nvSpPr>
            <p:cNvPr id="103" name="domain-registration_48708">
              <a:extLst>
                <a:ext uri="{FF2B5EF4-FFF2-40B4-BE49-F238E27FC236}">
                  <a16:creationId xmlns:a16="http://schemas.microsoft.com/office/drawing/2014/main" id="{3355063A-FB18-4CDA-A1E6-949389294CF6}"/>
                </a:ext>
              </a:extLst>
            </p:cNvPr>
            <p:cNvSpPr/>
            <p:nvPr/>
          </p:nvSpPr>
          <p:spPr>
            <a:xfrm>
              <a:off x="377209" y="2152975"/>
              <a:ext cx="249132" cy="249132"/>
            </a:xfrm>
            <a:custGeom>
              <a:avLst/>
              <a:gdLst>
                <a:gd name="T0" fmla="*/ 12800 w 12800"/>
                <a:gd name="T1" fmla="*/ 6400 h 12800"/>
                <a:gd name="T2" fmla="*/ 6400 w 12800"/>
                <a:gd name="T3" fmla="*/ 0 h 12800"/>
                <a:gd name="T4" fmla="*/ 0 w 12800"/>
                <a:gd name="T5" fmla="*/ 6400 h 12800"/>
                <a:gd name="T6" fmla="*/ 6400 w 12800"/>
                <a:gd name="T7" fmla="*/ 12800 h 12800"/>
                <a:gd name="T8" fmla="*/ 12800 w 12800"/>
                <a:gd name="T9" fmla="*/ 6400 h 12800"/>
                <a:gd name="T10" fmla="*/ 10445 w 12800"/>
                <a:gd name="T11" fmla="*/ 8849 h 12800"/>
                <a:gd name="T12" fmla="*/ 8243 w 12800"/>
                <a:gd name="T13" fmla="*/ 6993 h 12800"/>
                <a:gd name="T14" fmla="*/ 8778 w 12800"/>
                <a:gd name="T15" fmla="*/ 6691 h 12800"/>
                <a:gd name="T16" fmla="*/ 10731 w 12800"/>
                <a:gd name="T17" fmla="*/ 8260 h 12800"/>
                <a:gd name="T18" fmla="*/ 10445 w 12800"/>
                <a:gd name="T19" fmla="*/ 8849 h 12800"/>
                <a:gd name="T20" fmla="*/ 2036 w 12800"/>
                <a:gd name="T21" fmla="*/ 4073 h 12800"/>
                <a:gd name="T22" fmla="*/ 6400 w 12800"/>
                <a:gd name="T23" fmla="*/ 6691 h 12800"/>
                <a:gd name="T24" fmla="*/ 10764 w 12800"/>
                <a:gd name="T25" fmla="*/ 4073 h 12800"/>
                <a:gd name="T26" fmla="*/ 10764 w 12800"/>
                <a:gd name="T27" fmla="*/ 4655 h 12800"/>
                <a:gd name="T28" fmla="*/ 6400 w 12800"/>
                <a:gd name="T29" fmla="*/ 7273 h 12800"/>
                <a:gd name="T30" fmla="*/ 2036 w 12800"/>
                <a:gd name="T31" fmla="*/ 4655 h 12800"/>
                <a:gd name="T32" fmla="*/ 2036 w 12800"/>
                <a:gd name="T33" fmla="*/ 4073 h 12800"/>
                <a:gd name="T34" fmla="*/ 2128 w 12800"/>
                <a:gd name="T35" fmla="*/ 8731 h 12800"/>
                <a:gd name="T36" fmla="*/ 1843 w 12800"/>
                <a:gd name="T37" fmla="*/ 8142 h 12800"/>
                <a:gd name="T38" fmla="*/ 3795 w 12800"/>
                <a:gd name="T39" fmla="*/ 6573 h 12800"/>
                <a:gd name="T40" fmla="*/ 4331 w 12800"/>
                <a:gd name="T41" fmla="*/ 6875 h 12800"/>
                <a:gd name="T42" fmla="*/ 2128 w 12800"/>
                <a:gd name="T43" fmla="*/ 8731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800" h="12800">
                  <a:moveTo>
                    <a:pt x="12800" y="6400"/>
                  </a:moveTo>
                  <a:cubicBezTo>
                    <a:pt x="12800" y="2865"/>
                    <a:pt x="9935" y="0"/>
                    <a:pt x="6400" y="0"/>
                  </a:cubicBezTo>
                  <a:cubicBezTo>
                    <a:pt x="2865" y="0"/>
                    <a:pt x="0" y="2865"/>
                    <a:pt x="0" y="6400"/>
                  </a:cubicBezTo>
                  <a:cubicBezTo>
                    <a:pt x="0" y="9935"/>
                    <a:pt x="2865" y="12800"/>
                    <a:pt x="6400" y="12800"/>
                  </a:cubicBezTo>
                  <a:cubicBezTo>
                    <a:pt x="9935" y="12800"/>
                    <a:pt x="12800" y="9935"/>
                    <a:pt x="12800" y="6400"/>
                  </a:cubicBezTo>
                  <a:close/>
                  <a:moveTo>
                    <a:pt x="10445" y="8849"/>
                  </a:moveTo>
                  <a:lnTo>
                    <a:pt x="8243" y="6993"/>
                  </a:lnTo>
                  <a:lnTo>
                    <a:pt x="8778" y="6691"/>
                  </a:lnTo>
                  <a:lnTo>
                    <a:pt x="10731" y="8260"/>
                  </a:lnTo>
                  <a:lnTo>
                    <a:pt x="10445" y="8849"/>
                  </a:lnTo>
                  <a:close/>
                  <a:moveTo>
                    <a:pt x="2036" y="4073"/>
                  </a:moveTo>
                  <a:lnTo>
                    <a:pt x="6400" y="6691"/>
                  </a:lnTo>
                  <a:lnTo>
                    <a:pt x="10764" y="4073"/>
                  </a:lnTo>
                  <a:lnTo>
                    <a:pt x="10764" y="4655"/>
                  </a:lnTo>
                  <a:lnTo>
                    <a:pt x="6400" y="7273"/>
                  </a:lnTo>
                  <a:lnTo>
                    <a:pt x="2036" y="4655"/>
                  </a:lnTo>
                  <a:lnTo>
                    <a:pt x="2036" y="4073"/>
                  </a:lnTo>
                  <a:close/>
                  <a:moveTo>
                    <a:pt x="2128" y="8731"/>
                  </a:moveTo>
                  <a:lnTo>
                    <a:pt x="1843" y="8142"/>
                  </a:lnTo>
                  <a:lnTo>
                    <a:pt x="3795" y="6573"/>
                  </a:lnTo>
                  <a:lnTo>
                    <a:pt x="4331" y="6875"/>
                  </a:lnTo>
                  <a:lnTo>
                    <a:pt x="2128" y="87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4" name="平行四边形 83">
              <a:extLst>
                <a:ext uri="{FF2B5EF4-FFF2-40B4-BE49-F238E27FC236}">
                  <a16:creationId xmlns:a16="http://schemas.microsoft.com/office/drawing/2014/main" id="{A305E57E-47A2-4012-86BC-A8049C4B6441}"/>
                </a:ext>
              </a:extLst>
            </p:cNvPr>
            <p:cNvSpPr/>
            <p:nvPr/>
          </p:nvSpPr>
          <p:spPr>
            <a:xfrm>
              <a:off x="661666" y="2152975"/>
              <a:ext cx="709778" cy="249132"/>
            </a:xfrm>
            <a:prstGeom prst="parallelogram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/>
                <a:t>SMTP</a:t>
              </a:r>
              <a:endParaRPr lang="zh-CN" altLang="en-US" sz="1200" b="1" dirty="0"/>
            </a:p>
          </p:txBody>
        </p:sp>
      </p:grpSp>
      <p:grpSp>
        <p:nvGrpSpPr>
          <p:cNvPr id="106" name="Group 13">
            <a:extLst>
              <a:ext uri="{FF2B5EF4-FFF2-40B4-BE49-F238E27FC236}">
                <a16:creationId xmlns:a16="http://schemas.microsoft.com/office/drawing/2014/main" id="{CB3C2BEA-DB91-4B4F-9997-F27F49C3D092}"/>
              </a:ext>
            </a:extLst>
          </p:cNvPr>
          <p:cNvGrpSpPr/>
          <p:nvPr/>
        </p:nvGrpSpPr>
        <p:grpSpPr>
          <a:xfrm>
            <a:off x="359508" y="2904434"/>
            <a:ext cx="994236" cy="249132"/>
            <a:chOff x="378693" y="2684490"/>
            <a:chExt cx="994236" cy="249132"/>
          </a:xfrm>
        </p:grpSpPr>
        <p:sp>
          <p:nvSpPr>
            <p:cNvPr id="107" name="domain-registration_48708">
              <a:extLst>
                <a:ext uri="{FF2B5EF4-FFF2-40B4-BE49-F238E27FC236}">
                  <a16:creationId xmlns:a16="http://schemas.microsoft.com/office/drawing/2014/main" id="{545DAAF6-F395-4696-8884-1695561F67CB}"/>
                </a:ext>
              </a:extLst>
            </p:cNvPr>
            <p:cNvSpPr/>
            <p:nvPr/>
          </p:nvSpPr>
          <p:spPr>
            <a:xfrm>
              <a:off x="378693" y="2684490"/>
              <a:ext cx="249132" cy="249132"/>
            </a:xfrm>
            <a:custGeom>
              <a:avLst/>
              <a:gdLst>
                <a:gd name="T0" fmla="*/ 4569 w 9137"/>
                <a:gd name="T1" fmla="*/ 0 h 9137"/>
                <a:gd name="T2" fmla="*/ 0 w 9137"/>
                <a:gd name="T3" fmla="*/ 4569 h 9137"/>
                <a:gd name="T4" fmla="*/ 4569 w 9137"/>
                <a:gd name="T5" fmla="*/ 9137 h 9137"/>
                <a:gd name="T6" fmla="*/ 9137 w 9137"/>
                <a:gd name="T7" fmla="*/ 4569 h 9137"/>
                <a:gd name="T8" fmla="*/ 4569 w 9137"/>
                <a:gd name="T9" fmla="*/ 0 h 9137"/>
                <a:gd name="T10" fmla="*/ 6909 w 9137"/>
                <a:gd name="T11" fmla="*/ 5354 h 9137"/>
                <a:gd name="T12" fmla="*/ 6046 w 9137"/>
                <a:gd name="T13" fmla="*/ 6092 h 9137"/>
                <a:gd name="T14" fmla="*/ 4675 w 9137"/>
                <a:gd name="T15" fmla="*/ 6092 h 9137"/>
                <a:gd name="T16" fmla="*/ 5285 w 9137"/>
                <a:gd name="T17" fmla="*/ 5420 h 9137"/>
                <a:gd name="T18" fmla="*/ 4878 w 9137"/>
                <a:gd name="T19" fmla="*/ 5414 h 9137"/>
                <a:gd name="T20" fmla="*/ 4874 w 9137"/>
                <a:gd name="T21" fmla="*/ 4592 h 9137"/>
                <a:gd name="T22" fmla="*/ 4340 w 9137"/>
                <a:gd name="T23" fmla="*/ 4596 h 9137"/>
                <a:gd name="T24" fmla="*/ 4340 w 9137"/>
                <a:gd name="T25" fmla="*/ 5416 h 9137"/>
                <a:gd name="T26" fmla="*/ 3924 w 9137"/>
                <a:gd name="T27" fmla="*/ 5412 h 9137"/>
                <a:gd name="T28" fmla="*/ 4675 w 9137"/>
                <a:gd name="T29" fmla="*/ 6089 h 9137"/>
                <a:gd name="T30" fmla="*/ 3056 w 9137"/>
                <a:gd name="T31" fmla="*/ 6092 h 9137"/>
                <a:gd name="T32" fmla="*/ 2226 w 9137"/>
                <a:gd name="T33" fmla="*/ 5308 h 9137"/>
                <a:gd name="T34" fmla="*/ 2990 w 9137"/>
                <a:gd name="T35" fmla="*/ 4383 h 9137"/>
                <a:gd name="T36" fmla="*/ 3273 w 9137"/>
                <a:gd name="T37" fmla="*/ 3783 h 9137"/>
                <a:gd name="T38" fmla="*/ 3941 w 9137"/>
                <a:gd name="T39" fmla="*/ 3833 h 9137"/>
                <a:gd name="T40" fmla="*/ 5169 w 9137"/>
                <a:gd name="T41" fmla="*/ 3056 h 9137"/>
                <a:gd name="T42" fmla="*/ 6178 w 9137"/>
                <a:gd name="T43" fmla="*/ 4388 h 9137"/>
                <a:gd name="T44" fmla="*/ 6909 w 9137"/>
                <a:gd name="T45" fmla="*/ 5354 h 9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37" h="9137">
                  <a:moveTo>
                    <a:pt x="4569" y="0"/>
                  </a:moveTo>
                  <a:cubicBezTo>
                    <a:pt x="2045" y="0"/>
                    <a:pt x="0" y="2046"/>
                    <a:pt x="0" y="4569"/>
                  </a:cubicBezTo>
                  <a:cubicBezTo>
                    <a:pt x="0" y="7092"/>
                    <a:pt x="2045" y="9137"/>
                    <a:pt x="4569" y="9137"/>
                  </a:cubicBezTo>
                  <a:cubicBezTo>
                    <a:pt x="7092" y="9137"/>
                    <a:pt x="9137" y="7092"/>
                    <a:pt x="9137" y="4569"/>
                  </a:cubicBezTo>
                  <a:cubicBezTo>
                    <a:pt x="9137" y="2045"/>
                    <a:pt x="7092" y="0"/>
                    <a:pt x="4569" y="0"/>
                  </a:cubicBezTo>
                  <a:close/>
                  <a:moveTo>
                    <a:pt x="6909" y="5354"/>
                  </a:moveTo>
                  <a:cubicBezTo>
                    <a:pt x="6803" y="6092"/>
                    <a:pt x="6046" y="6092"/>
                    <a:pt x="6046" y="6092"/>
                  </a:cubicBezTo>
                  <a:lnTo>
                    <a:pt x="4675" y="6092"/>
                  </a:lnTo>
                  <a:lnTo>
                    <a:pt x="5285" y="5420"/>
                  </a:lnTo>
                  <a:lnTo>
                    <a:pt x="4878" y="5414"/>
                  </a:lnTo>
                  <a:lnTo>
                    <a:pt x="4874" y="4592"/>
                  </a:lnTo>
                  <a:lnTo>
                    <a:pt x="4340" y="4596"/>
                  </a:lnTo>
                  <a:lnTo>
                    <a:pt x="4340" y="5416"/>
                  </a:lnTo>
                  <a:lnTo>
                    <a:pt x="3924" y="5412"/>
                  </a:lnTo>
                  <a:lnTo>
                    <a:pt x="4675" y="6089"/>
                  </a:lnTo>
                  <a:lnTo>
                    <a:pt x="3056" y="6092"/>
                  </a:lnTo>
                  <a:cubicBezTo>
                    <a:pt x="3056" y="6092"/>
                    <a:pt x="2243" y="6084"/>
                    <a:pt x="2226" y="5308"/>
                  </a:cubicBezTo>
                  <a:cubicBezTo>
                    <a:pt x="2226" y="4531"/>
                    <a:pt x="2990" y="4383"/>
                    <a:pt x="2990" y="4383"/>
                  </a:cubicBezTo>
                  <a:cubicBezTo>
                    <a:pt x="2990" y="4383"/>
                    <a:pt x="2929" y="3995"/>
                    <a:pt x="3273" y="3783"/>
                  </a:cubicBezTo>
                  <a:cubicBezTo>
                    <a:pt x="3658" y="3561"/>
                    <a:pt x="3941" y="3833"/>
                    <a:pt x="3941" y="3833"/>
                  </a:cubicBezTo>
                  <a:cubicBezTo>
                    <a:pt x="3941" y="3833"/>
                    <a:pt x="4228" y="2961"/>
                    <a:pt x="5169" y="3056"/>
                  </a:cubicBezTo>
                  <a:cubicBezTo>
                    <a:pt x="6267" y="3193"/>
                    <a:pt x="6178" y="4388"/>
                    <a:pt x="6178" y="4388"/>
                  </a:cubicBezTo>
                  <a:cubicBezTo>
                    <a:pt x="6178" y="4388"/>
                    <a:pt x="6960" y="4547"/>
                    <a:pt x="6909" y="53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8" name="平行四边形 107">
              <a:extLst>
                <a:ext uri="{FF2B5EF4-FFF2-40B4-BE49-F238E27FC236}">
                  <a16:creationId xmlns:a16="http://schemas.microsoft.com/office/drawing/2014/main" id="{6CAB9381-4925-40D0-9E12-61CA762ABFE1}"/>
                </a:ext>
              </a:extLst>
            </p:cNvPr>
            <p:cNvSpPr/>
            <p:nvPr/>
          </p:nvSpPr>
          <p:spPr>
            <a:xfrm>
              <a:off x="663151" y="2684490"/>
              <a:ext cx="709778" cy="249132"/>
            </a:xfrm>
            <a:prstGeom prst="parallelogram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200" b="1" dirty="0"/>
                <a:t>FTP</a:t>
              </a:r>
              <a:endParaRPr lang="zh-CN" altLang="en-US" sz="1200" b="1" dirty="0"/>
            </a:p>
          </p:txBody>
        </p: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DF97A16F-4D2D-475B-9E11-22639274055D}"/>
              </a:ext>
            </a:extLst>
          </p:cNvPr>
          <p:cNvCxnSpPr/>
          <p:nvPr/>
        </p:nvCxnSpPr>
        <p:spPr>
          <a:xfrm>
            <a:off x="1503776" y="2201976"/>
            <a:ext cx="0" cy="586212"/>
          </a:xfrm>
          <a:prstGeom prst="straightConnector1">
            <a:avLst/>
          </a:prstGeom>
          <a:ln w="25400">
            <a:solidFill>
              <a:schemeClr val="accent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5B88E9AE-2A9B-45DF-A91C-3A1999B6ED56}"/>
              </a:ext>
            </a:extLst>
          </p:cNvPr>
          <p:cNvGrpSpPr/>
          <p:nvPr/>
        </p:nvGrpSpPr>
        <p:grpSpPr>
          <a:xfrm>
            <a:off x="9700908" y="3473857"/>
            <a:ext cx="1961690" cy="2938139"/>
            <a:chOff x="9800114" y="1848477"/>
            <a:chExt cx="1961690" cy="2938139"/>
          </a:xfrm>
        </p:grpSpPr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9F8DFE7E-512F-4C18-92FA-C87361C85670}"/>
                </a:ext>
              </a:extLst>
            </p:cNvPr>
            <p:cNvSpPr/>
            <p:nvPr/>
          </p:nvSpPr>
          <p:spPr>
            <a:xfrm>
              <a:off x="9800116" y="4274746"/>
              <a:ext cx="1961688" cy="51187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物理层</a:t>
              </a:r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BE1492C4-6752-46ED-994E-A431B94E5979}"/>
                </a:ext>
              </a:extLst>
            </p:cNvPr>
            <p:cNvSpPr/>
            <p:nvPr/>
          </p:nvSpPr>
          <p:spPr>
            <a:xfrm>
              <a:off x="9800115" y="2737686"/>
              <a:ext cx="1961688" cy="51187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运输层</a:t>
              </a:r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DB2CC5B1-C508-4A95-9D25-8746E72A36BC}"/>
                </a:ext>
              </a:extLst>
            </p:cNvPr>
            <p:cNvSpPr/>
            <p:nvPr/>
          </p:nvSpPr>
          <p:spPr>
            <a:xfrm>
              <a:off x="9800116" y="3251006"/>
              <a:ext cx="1961688" cy="51187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网络层</a:t>
              </a:r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B538AA7D-D3B6-4250-B123-4637CC626277}"/>
                </a:ext>
              </a:extLst>
            </p:cNvPr>
            <p:cNvSpPr/>
            <p:nvPr/>
          </p:nvSpPr>
          <p:spPr>
            <a:xfrm>
              <a:off x="9800116" y="3762876"/>
              <a:ext cx="1961688" cy="51187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数据链路层</a:t>
              </a:r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BAE2A504-EA44-479D-A3F8-7C7BD6742790}"/>
                </a:ext>
              </a:extLst>
            </p:cNvPr>
            <p:cNvSpPr/>
            <p:nvPr/>
          </p:nvSpPr>
          <p:spPr>
            <a:xfrm>
              <a:off x="9800114" y="2224249"/>
              <a:ext cx="1961688" cy="51187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应用层</a:t>
              </a:r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id="{44915388-F870-4003-A22D-E57F31807A37}"/>
                </a:ext>
              </a:extLst>
            </p:cNvPr>
            <p:cNvSpPr txBox="1"/>
            <p:nvPr/>
          </p:nvSpPr>
          <p:spPr>
            <a:xfrm>
              <a:off x="9800114" y="1848477"/>
              <a:ext cx="19616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原理体系结构</a:t>
              </a:r>
            </a:p>
          </p:txBody>
        </p: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50EF76A5-D768-4C33-8DA9-CCA7E5DBC412}"/>
              </a:ext>
            </a:extLst>
          </p:cNvPr>
          <p:cNvGrpSpPr/>
          <p:nvPr/>
        </p:nvGrpSpPr>
        <p:grpSpPr>
          <a:xfrm>
            <a:off x="8189843" y="3849629"/>
            <a:ext cx="1528600" cy="1852108"/>
            <a:chOff x="6424658" y="3529469"/>
            <a:chExt cx="1528600" cy="2187472"/>
          </a:xfrm>
        </p:grpSpPr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8995795C-EDC9-45FB-A72F-DF0CA31472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4658" y="3529469"/>
              <a:ext cx="1528600" cy="921445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0BC8C6DE-C270-42E5-976D-6C87F5A314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4658" y="4134023"/>
              <a:ext cx="1504944" cy="1582918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94321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animBg="1"/>
      <p:bldP spid="139" grpId="0"/>
      <p:bldP spid="140" grpId="0" animBg="1"/>
      <p:bldP spid="14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263464" cy="400110"/>
            <a:chOff x="424117" y="898245"/>
            <a:chExt cx="626346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711200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02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12354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计算机网络体系结构分层的必要性</a:t>
              </a:r>
            </a:p>
          </p:txBody>
        </p:sp>
      </p:grpSp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F3E38913-4AEE-796B-08F2-4934BBCF7037}"/>
              </a:ext>
            </a:extLst>
          </p:cNvPr>
          <p:cNvGrpSpPr/>
          <p:nvPr/>
        </p:nvGrpSpPr>
        <p:grpSpPr>
          <a:xfrm>
            <a:off x="1055618" y="1349138"/>
            <a:ext cx="10101375" cy="5096986"/>
            <a:chOff x="397779" y="836021"/>
            <a:chExt cx="10884858" cy="5492318"/>
          </a:xfrm>
        </p:grpSpPr>
        <p:pic>
          <p:nvPicPr>
            <p:cNvPr id="202" name="图片 201" descr="形状&#10;&#10;中度可信度描述已自动生成">
              <a:extLst>
                <a:ext uri="{FF2B5EF4-FFF2-40B4-BE49-F238E27FC236}">
                  <a16:creationId xmlns:a16="http://schemas.microsoft.com/office/drawing/2014/main" id="{06DE73AD-101C-5488-B31C-82020E5A2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5379" y="3429000"/>
              <a:ext cx="7247258" cy="2899339"/>
            </a:xfrm>
            <a:prstGeom prst="rect">
              <a:avLst/>
            </a:prstGeom>
          </p:spPr>
        </p:pic>
        <p:grpSp>
          <p:nvGrpSpPr>
            <p:cNvPr id="203" name="组合 20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E9D2161E-BA35-7E3D-AEA1-CEE4531C214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97779" y="836021"/>
              <a:ext cx="3772396" cy="2008942"/>
              <a:chOff x="2525713" y="1527688"/>
              <a:chExt cx="7140575" cy="3802625"/>
            </a:xfrm>
          </p:grpSpPr>
          <p:sp>
            <p:nvSpPr>
              <p:cNvPr id="207" name="iṣḷïḋè">
                <a:extLst>
                  <a:ext uri="{FF2B5EF4-FFF2-40B4-BE49-F238E27FC236}">
                    <a16:creationId xmlns:a16="http://schemas.microsoft.com/office/drawing/2014/main" id="{87D506B4-FFA0-2F5F-9851-377DC2412F33}"/>
                  </a:ext>
                </a:extLst>
              </p:cNvPr>
              <p:cNvSpPr/>
              <p:nvPr/>
            </p:nvSpPr>
            <p:spPr bwMode="auto">
              <a:xfrm>
                <a:off x="2525713" y="1527688"/>
                <a:ext cx="7140575" cy="3802625"/>
              </a:xfrm>
              <a:custGeom>
                <a:avLst/>
                <a:gdLst>
                  <a:gd name="T0" fmla="*/ 459 w 1693"/>
                  <a:gd name="T1" fmla="*/ 159 h 901"/>
                  <a:gd name="T2" fmla="*/ 210 w 1693"/>
                  <a:gd name="T3" fmla="*/ 259 h 901"/>
                  <a:gd name="T4" fmla="*/ 15 w 1693"/>
                  <a:gd name="T5" fmla="*/ 435 h 901"/>
                  <a:gd name="T6" fmla="*/ 3 w 1693"/>
                  <a:gd name="T7" fmla="*/ 508 h 901"/>
                  <a:gd name="T8" fmla="*/ 108 w 1693"/>
                  <a:gd name="T9" fmla="*/ 632 h 901"/>
                  <a:gd name="T10" fmla="*/ 447 w 1693"/>
                  <a:gd name="T11" fmla="*/ 776 h 901"/>
                  <a:gd name="T12" fmla="*/ 587 w 1693"/>
                  <a:gd name="T13" fmla="*/ 851 h 901"/>
                  <a:gd name="T14" fmla="*/ 957 w 1693"/>
                  <a:gd name="T15" fmla="*/ 815 h 901"/>
                  <a:gd name="T16" fmla="*/ 1084 w 1693"/>
                  <a:gd name="T17" fmla="*/ 724 h 901"/>
                  <a:gd name="T18" fmla="*/ 1322 w 1693"/>
                  <a:gd name="T19" fmla="*/ 690 h 901"/>
                  <a:gd name="T20" fmla="*/ 1562 w 1693"/>
                  <a:gd name="T21" fmla="*/ 661 h 901"/>
                  <a:gd name="T22" fmla="*/ 1670 w 1693"/>
                  <a:gd name="T23" fmla="*/ 466 h 901"/>
                  <a:gd name="T24" fmla="*/ 1568 w 1693"/>
                  <a:gd name="T25" fmla="*/ 358 h 901"/>
                  <a:gd name="T26" fmla="*/ 1428 w 1693"/>
                  <a:gd name="T27" fmla="*/ 298 h 901"/>
                  <a:gd name="T28" fmla="*/ 1075 w 1693"/>
                  <a:gd name="T29" fmla="*/ 42 h 901"/>
                  <a:gd name="T30" fmla="*/ 737 w 1693"/>
                  <a:gd name="T31" fmla="*/ 59 h 901"/>
                  <a:gd name="T32" fmla="*/ 601 w 1693"/>
                  <a:gd name="T33" fmla="*/ 87 h 901"/>
                  <a:gd name="T34" fmla="*/ 459 w 1693"/>
                  <a:gd name="T35" fmla="*/ 159 h 9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693" h="901">
                    <a:moveTo>
                      <a:pt x="459" y="159"/>
                    </a:moveTo>
                    <a:cubicBezTo>
                      <a:pt x="380" y="200"/>
                      <a:pt x="292" y="222"/>
                      <a:pt x="210" y="259"/>
                    </a:cubicBezTo>
                    <a:cubicBezTo>
                      <a:pt x="128" y="296"/>
                      <a:pt x="49" y="352"/>
                      <a:pt x="15" y="435"/>
                    </a:cubicBezTo>
                    <a:cubicBezTo>
                      <a:pt x="6" y="458"/>
                      <a:pt x="0" y="483"/>
                      <a:pt x="3" y="508"/>
                    </a:cubicBezTo>
                    <a:cubicBezTo>
                      <a:pt x="10" y="564"/>
                      <a:pt x="59" y="605"/>
                      <a:pt x="108" y="632"/>
                    </a:cubicBezTo>
                    <a:cubicBezTo>
                      <a:pt x="215" y="693"/>
                      <a:pt x="338" y="719"/>
                      <a:pt x="447" y="776"/>
                    </a:cubicBezTo>
                    <a:cubicBezTo>
                      <a:pt x="494" y="800"/>
                      <a:pt x="538" y="830"/>
                      <a:pt x="587" y="851"/>
                    </a:cubicBezTo>
                    <a:cubicBezTo>
                      <a:pt x="706" y="901"/>
                      <a:pt x="850" y="887"/>
                      <a:pt x="957" y="815"/>
                    </a:cubicBezTo>
                    <a:cubicBezTo>
                      <a:pt x="1001" y="785"/>
                      <a:pt x="1038" y="748"/>
                      <a:pt x="1084" y="724"/>
                    </a:cubicBezTo>
                    <a:cubicBezTo>
                      <a:pt x="1156" y="687"/>
                      <a:pt x="1241" y="687"/>
                      <a:pt x="1322" y="690"/>
                    </a:cubicBezTo>
                    <a:cubicBezTo>
                      <a:pt x="1403" y="692"/>
                      <a:pt x="1488" y="695"/>
                      <a:pt x="1562" y="661"/>
                    </a:cubicBezTo>
                    <a:cubicBezTo>
                      <a:pt x="1635" y="627"/>
                      <a:pt x="1693" y="543"/>
                      <a:pt x="1670" y="466"/>
                    </a:cubicBezTo>
                    <a:cubicBezTo>
                      <a:pt x="1655" y="417"/>
                      <a:pt x="1613" y="382"/>
                      <a:pt x="1568" y="358"/>
                    </a:cubicBezTo>
                    <a:cubicBezTo>
                      <a:pt x="1523" y="335"/>
                      <a:pt x="1473" y="321"/>
                      <a:pt x="1428" y="298"/>
                    </a:cubicBezTo>
                    <a:cubicBezTo>
                      <a:pt x="1298" y="231"/>
                      <a:pt x="1212" y="93"/>
                      <a:pt x="1075" y="42"/>
                    </a:cubicBezTo>
                    <a:cubicBezTo>
                      <a:pt x="965" y="0"/>
                      <a:pt x="845" y="22"/>
                      <a:pt x="737" y="59"/>
                    </a:cubicBezTo>
                    <a:cubicBezTo>
                      <a:pt x="692" y="75"/>
                      <a:pt x="647" y="72"/>
                      <a:pt x="601" y="87"/>
                    </a:cubicBezTo>
                    <a:cubicBezTo>
                      <a:pt x="551" y="103"/>
                      <a:pt x="506" y="134"/>
                      <a:pt x="459" y="159"/>
                    </a:cubicBezTo>
                    <a:close/>
                  </a:path>
                </a:pathLst>
              </a:custGeom>
              <a:solidFill>
                <a:srgbClr val="68AFFD">
                  <a:alpha val="20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8" name="iŝḻiďe">
                <a:extLst>
                  <a:ext uri="{FF2B5EF4-FFF2-40B4-BE49-F238E27FC236}">
                    <a16:creationId xmlns:a16="http://schemas.microsoft.com/office/drawing/2014/main" id="{2A9882DA-0B8E-3F73-D602-A5AB46EC5A16}"/>
                  </a:ext>
                </a:extLst>
              </p:cNvPr>
              <p:cNvSpPr/>
              <p:nvPr/>
            </p:nvSpPr>
            <p:spPr bwMode="auto">
              <a:xfrm>
                <a:off x="4140915" y="2911568"/>
                <a:ext cx="3421145" cy="1012546"/>
              </a:xfrm>
              <a:custGeom>
                <a:avLst/>
                <a:gdLst>
                  <a:gd name="T0" fmla="*/ 406 w 811"/>
                  <a:gd name="T1" fmla="*/ 240 h 240"/>
                  <a:gd name="T2" fmla="*/ 0 w 811"/>
                  <a:gd name="T3" fmla="*/ 120 h 240"/>
                  <a:gd name="T4" fmla="*/ 406 w 811"/>
                  <a:gd name="T5" fmla="*/ 0 h 240"/>
                  <a:gd name="T6" fmla="*/ 811 w 811"/>
                  <a:gd name="T7" fmla="*/ 120 h 240"/>
                  <a:gd name="T8" fmla="*/ 406 w 811"/>
                  <a:gd name="T9" fmla="*/ 240 h 240"/>
                  <a:gd name="T10" fmla="*/ 406 w 811"/>
                  <a:gd name="T11" fmla="*/ 11 h 240"/>
                  <a:gd name="T12" fmla="*/ 11 w 811"/>
                  <a:gd name="T13" fmla="*/ 120 h 240"/>
                  <a:gd name="T14" fmla="*/ 406 w 811"/>
                  <a:gd name="T15" fmla="*/ 229 h 240"/>
                  <a:gd name="T16" fmla="*/ 800 w 811"/>
                  <a:gd name="T17" fmla="*/ 120 h 240"/>
                  <a:gd name="T18" fmla="*/ 406 w 811"/>
                  <a:gd name="T19" fmla="*/ 11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11" h="240">
                    <a:moveTo>
                      <a:pt x="406" y="240"/>
                    </a:moveTo>
                    <a:cubicBezTo>
                      <a:pt x="178" y="240"/>
                      <a:pt x="0" y="187"/>
                      <a:pt x="0" y="120"/>
                    </a:cubicBezTo>
                    <a:cubicBezTo>
                      <a:pt x="0" y="53"/>
                      <a:pt x="178" y="0"/>
                      <a:pt x="406" y="0"/>
                    </a:cubicBezTo>
                    <a:cubicBezTo>
                      <a:pt x="633" y="0"/>
                      <a:pt x="811" y="53"/>
                      <a:pt x="811" y="120"/>
                    </a:cubicBezTo>
                    <a:cubicBezTo>
                      <a:pt x="811" y="187"/>
                      <a:pt x="633" y="240"/>
                      <a:pt x="406" y="240"/>
                    </a:cubicBezTo>
                    <a:close/>
                    <a:moveTo>
                      <a:pt x="406" y="11"/>
                    </a:moveTo>
                    <a:cubicBezTo>
                      <a:pt x="192" y="11"/>
                      <a:pt x="11" y="61"/>
                      <a:pt x="11" y="120"/>
                    </a:cubicBezTo>
                    <a:cubicBezTo>
                      <a:pt x="11" y="179"/>
                      <a:pt x="192" y="229"/>
                      <a:pt x="406" y="229"/>
                    </a:cubicBezTo>
                    <a:cubicBezTo>
                      <a:pt x="620" y="229"/>
                      <a:pt x="800" y="179"/>
                      <a:pt x="800" y="120"/>
                    </a:cubicBezTo>
                    <a:cubicBezTo>
                      <a:pt x="800" y="61"/>
                      <a:pt x="620" y="11"/>
                      <a:pt x="406" y="11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9" name="îṡliďé">
                <a:extLst>
                  <a:ext uri="{FF2B5EF4-FFF2-40B4-BE49-F238E27FC236}">
                    <a16:creationId xmlns:a16="http://schemas.microsoft.com/office/drawing/2014/main" id="{2FB2EF0D-8606-D118-2FA3-06EDEB214EDC}"/>
                  </a:ext>
                </a:extLst>
              </p:cNvPr>
              <p:cNvSpPr/>
              <p:nvPr/>
            </p:nvSpPr>
            <p:spPr bwMode="auto">
              <a:xfrm>
                <a:off x="2959951" y="2546321"/>
                <a:ext cx="5892648" cy="1854642"/>
              </a:xfrm>
              <a:custGeom>
                <a:avLst/>
                <a:gdLst>
                  <a:gd name="T0" fmla="*/ 698 w 1397"/>
                  <a:gd name="T1" fmla="*/ 440 h 440"/>
                  <a:gd name="T2" fmla="*/ 206 w 1397"/>
                  <a:gd name="T3" fmla="*/ 377 h 440"/>
                  <a:gd name="T4" fmla="*/ 0 w 1397"/>
                  <a:gd name="T5" fmla="*/ 220 h 440"/>
                  <a:gd name="T6" fmla="*/ 206 w 1397"/>
                  <a:gd name="T7" fmla="*/ 63 h 440"/>
                  <a:gd name="T8" fmla="*/ 698 w 1397"/>
                  <a:gd name="T9" fmla="*/ 0 h 440"/>
                  <a:gd name="T10" fmla="*/ 1190 w 1397"/>
                  <a:gd name="T11" fmla="*/ 63 h 440"/>
                  <a:gd name="T12" fmla="*/ 1397 w 1397"/>
                  <a:gd name="T13" fmla="*/ 220 h 440"/>
                  <a:gd name="T14" fmla="*/ 1190 w 1397"/>
                  <a:gd name="T15" fmla="*/ 377 h 440"/>
                  <a:gd name="T16" fmla="*/ 698 w 1397"/>
                  <a:gd name="T17" fmla="*/ 440 h 440"/>
                  <a:gd name="T18" fmla="*/ 698 w 1397"/>
                  <a:gd name="T19" fmla="*/ 11 h 440"/>
                  <a:gd name="T20" fmla="*/ 210 w 1397"/>
                  <a:gd name="T21" fmla="*/ 74 h 440"/>
                  <a:gd name="T22" fmla="*/ 11 w 1397"/>
                  <a:gd name="T23" fmla="*/ 220 h 440"/>
                  <a:gd name="T24" fmla="*/ 210 w 1397"/>
                  <a:gd name="T25" fmla="*/ 366 h 440"/>
                  <a:gd name="T26" fmla="*/ 698 w 1397"/>
                  <a:gd name="T27" fmla="*/ 429 h 440"/>
                  <a:gd name="T28" fmla="*/ 1186 w 1397"/>
                  <a:gd name="T29" fmla="*/ 366 h 440"/>
                  <a:gd name="T30" fmla="*/ 1385 w 1397"/>
                  <a:gd name="T31" fmla="*/ 220 h 440"/>
                  <a:gd name="T32" fmla="*/ 1186 w 1397"/>
                  <a:gd name="T33" fmla="*/ 74 h 440"/>
                  <a:gd name="T34" fmla="*/ 698 w 1397"/>
                  <a:gd name="T35" fmla="*/ 11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97" h="440">
                    <a:moveTo>
                      <a:pt x="698" y="440"/>
                    </a:moveTo>
                    <a:cubicBezTo>
                      <a:pt x="512" y="440"/>
                      <a:pt x="338" y="418"/>
                      <a:pt x="206" y="377"/>
                    </a:cubicBezTo>
                    <a:cubicBezTo>
                      <a:pt x="73" y="336"/>
                      <a:pt x="0" y="280"/>
                      <a:pt x="0" y="220"/>
                    </a:cubicBezTo>
                    <a:cubicBezTo>
                      <a:pt x="0" y="160"/>
                      <a:pt x="73" y="104"/>
                      <a:pt x="206" y="63"/>
                    </a:cubicBezTo>
                    <a:cubicBezTo>
                      <a:pt x="338" y="22"/>
                      <a:pt x="513" y="0"/>
                      <a:pt x="698" y="0"/>
                    </a:cubicBezTo>
                    <a:cubicBezTo>
                      <a:pt x="884" y="0"/>
                      <a:pt x="1059" y="22"/>
                      <a:pt x="1190" y="63"/>
                    </a:cubicBezTo>
                    <a:cubicBezTo>
                      <a:pt x="1323" y="104"/>
                      <a:pt x="1397" y="160"/>
                      <a:pt x="1397" y="220"/>
                    </a:cubicBezTo>
                    <a:cubicBezTo>
                      <a:pt x="1397" y="280"/>
                      <a:pt x="1323" y="336"/>
                      <a:pt x="1190" y="377"/>
                    </a:cubicBezTo>
                    <a:cubicBezTo>
                      <a:pt x="1058" y="418"/>
                      <a:pt x="884" y="440"/>
                      <a:pt x="698" y="440"/>
                    </a:cubicBezTo>
                    <a:close/>
                    <a:moveTo>
                      <a:pt x="698" y="11"/>
                    </a:moveTo>
                    <a:cubicBezTo>
                      <a:pt x="514" y="11"/>
                      <a:pt x="340" y="33"/>
                      <a:pt x="210" y="74"/>
                    </a:cubicBezTo>
                    <a:cubicBezTo>
                      <a:pt x="83" y="113"/>
                      <a:pt x="11" y="166"/>
                      <a:pt x="11" y="220"/>
                    </a:cubicBezTo>
                    <a:cubicBezTo>
                      <a:pt x="11" y="274"/>
                      <a:pt x="83" y="327"/>
                      <a:pt x="210" y="366"/>
                    </a:cubicBezTo>
                    <a:cubicBezTo>
                      <a:pt x="340" y="407"/>
                      <a:pt x="514" y="429"/>
                      <a:pt x="698" y="429"/>
                    </a:cubicBezTo>
                    <a:cubicBezTo>
                      <a:pt x="882" y="429"/>
                      <a:pt x="1056" y="407"/>
                      <a:pt x="1186" y="366"/>
                    </a:cubicBezTo>
                    <a:cubicBezTo>
                      <a:pt x="1313" y="327"/>
                      <a:pt x="1385" y="274"/>
                      <a:pt x="1385" y="220"/>
                    </a:cubicBezTo>
                    <a:cubicBezTo>
                      <a:pt x="1385" y="166"/>
                      <a:pt x="1313" y="113"/>
                      <a:pt x="1186" y="74"/>
                    </a:cubicBezTo>
                    <a:cubicBezTo>
                      <a:pt x="1056" y="33"/>
                      <a:pt x="883" y="11"/>
                      <a:pt x="698" y="11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0" name="ïṡ1iḋe">
                <a:extLst>
                  <a:ext uri="{FF2B5EF4-FFF2-40B4-BE49-F238E27FC236}">
                    <a16:creationId xmlns:a16="http://schemas.microsoft.com/office/drawing/2014/main" id="{1CD00E98-45C7-5963-5451-133BD948ED34}"/>
                  </a:ext>
                </a:extLst>
              </p:cNvPr>
              <p:cNvSpPr/>
              <p:nvPr/>
            </p:nvSpPr>
            <p:spPr bwMode="auto">
              <a:xfrm>
                <a:off x="5216364" y="2528059"/>
                <a:ext cx="1308802" cy="1300685"/>
              </a:xfrm>
              <a:custGeom>
                <a:avLst/>
                <a:gdLst>
                  <a:gd name="T0" fmla="*/ 181 w 310"/>
                  <a:gd name="T1" fmla="*/ 69 h 308"/>
                  <a:gd name="T2" fmla="*/ 180 w 310"/>
                  <a:gd name="T3" fmla="*/ 82 h 308"/>
                  <a:gd name="T4" fmla="*/ 177 w 310"/>
                  <a:gd name="T5" fmla="*/ 73 h 308"/>
                  <a:gd name="T6" fmla="*/ 176 w 310"/>
                  <a:gd name="T7" fmla="*/ 33 h 308"/>
                  <a:gd name="T8" fmla="*/ 157 w 310"/>
                  <a:gd name="T9" fmla="*/ 49 h 308"/>
                  <a:gd name="T10" fmla="*/ 119 w 310"/>
                  <a:gd name="T11" fmla="*/ 57 h 308"/>
                  <a:gd name="T12" fmla="*/ 135 w 310"/>
                  <a:gd name="T13" fmla="*/ 32 h 308"/>
                  <a:gd name="T14" fmla="*/ 169 w 310"/>
                  <a:gd name="T15" fmla="*/ 56 h 308"/>
                  <a:gd name="T16" fmla="*/ 120 w 310"/>
                  <a:gd name="T17" fmla="*/ 30 h 308"/>
                  <a:gd name="T18" fmla="*/ 92 w 310"/>
                  <a:gd name="T19" fmla="*/ 37 h 308"/>
                  <a:gd name="T20" fmla="*/ 91 w 310"/>
                  <a:gd name="T21" fmla="*/ 45 h 308"/>
                  <a:gd name="T22" fmla="*/ 97 w 310"/>
                  <a:gd name="T23" fmla="*/ 61 h 308"/>
                  <a:gd name="T24" fmla="*/ 80 w 310"/>
                  <a:gd name="T25" fmla="*/ 49 h 308"/>
                  <a:gd name="T26" fmla="*/ 102 w 310"/>
                  <a:gd name="T27" fmla="*/ 88 h 308"/>
                  <a:gd name="T28" fmla="*/ 97 w 310"/>
                  <a:gd name="T29" fmla="*/ 240 h 308"/>
                  <a:gd name="T30" fmla="*/ 85 w 310"/>
                  <a:gd name="T31" fmla="*/ 273 h 308"/>
                  <a:gd name="T32" fmla="*/ 70 w 310"/>
                  <a:gd name="T33" fmla="*/ 256 h 308"/>
                  <a:gd name="T34" fmla="*/ 49 w 310"/>
                  <a:gd name="T35" fmla="*/ 194 h 308"/>
                  <a:gd name="T36" fmla="*/ 42 w 310"/>
                  <a:gd name="T37" fmla="*/ 162 h 308"/>
                  <a:gd name="T38" fmla="*/ 12 w 310"/>
                  <a:gd name="T39" fmla="*/ 109 h 308"/>
                  <a:gd name="T40" fmla="*/ 73 w 310"/>
                  <a:gd name="T41" fmla="*/ 43 h 308"/>
                  <a:gd name="T42" fmla="*/ 72 w 310"/>
                  <a:gd name="T43" fmla="*/ 57 h 308"/>
                  <a:gd name="T44" fmla="*/ 66 w 310"/>
                  <a:gd name="T45" fmla="*/ 82 h 308"/>
                  <a:gd name="T46" fmla="*/ 99 w 310"/>
                  <a:gd name="T47" fmla="*/ 67 h 308"/>
                  <a:gd name="T48" fmla="*/ 87 w 310"/>
                  <a:gd name="T49" fmla="*/ 87 h 308"/>
                  <a:gd name="T50" fmla="*/ 68 w 310"/>
                  <a:gd name="T51" fmla="*/ 102 h 308"/>
                  <a:gd name="T52" fmla="*/ 47 w 310"/>
                  <a:gd name="T53" fmla="*/ 129 h 308"/>
                  <a:gd name="T54" fmla="*/ 34 w 310"/>
                  <a:gd name="T55" fmla="*/ 124 h 308"/>
                  <a:gd name="T56" fmla="*/ 32 w 310"/>
                  <a:gd name="T57" fmla="*/ 139 h 308"/>
                  <a:gd name="T58" fmla="*/ 42 w 310"/>
                  <a:gd name="T59" fmla="*/ 156 h 308"/>
                  <a:gd name="T60" fmla="*/ 60 w 310"/>
                  <a:gd name="T61" fmla="*/ 159 h 308"/>
                  <a:gd name="T62" fmla="*/ 97 w 310"/>
                  <a:gd name="T63" fmla="*/ 173 h 308"/>
                  <a:gd name="T64" fmla="*/ 101 w 310"/>
                  <a:gd name="T65" fmla="*/ 180 h 308"/>
                  <a:gd name="T66" fmla="*/ 119 w 310"/>
                  <a:gd name="T67" fmla="*/ 200 h 308"/>
                  <a:gd name="T68" fmla="*/ 265 w 310"/>
                  <a:gd name="T69" fmla="*/ 221 h 308"/>
                  <a:gd name="T70" fmla="*/ 270 w 310"/>
                  <a:gd name="T71" fmla="*/ 209 h 308"/>
                  <a:gd name="T72" fmla="*/ 277 w 310"/>
                  <a:gd name="T73" fmla="*/ 129 h 308"/>
                  <a:gd name="T74" fmla="*/ 255 w 310"/>
                  <a:gd name="T75" fmla="*/ 139 h 308"/>
                  <a:gd name="T76" fmla="*/ 261 w 310"/>
                  <a:gd name="T77" fmla="*/ 157 h 308"/>
                  <a:gd name="T78" fmla="*/ 254 w 310"/>
                  <a:gd name="T79" fmla="*/ 204 h 308"/>
                  <a:gd name="T80" fmla="*/ 218 w 310"/>
                  <a:gd name="T81" fmla="*/ 241 h 308"/>
                  <a:gd name="T82" fmla="*/ 208 w 310"/>
                  <a:gd name="T83" fmla="*/ 195 h 308"/>
                  <a:gd name="T84" fmla="*/ 186 w 310"/>
                  <a:gd name="T85" fmla="*/ 165 h 308"/>
                  <a:gd name="T86" fmla="*/ 158 w 310"/>
                  <a:gd name="T87" fmla="*/ 133 h 308"/>
                  <a:gd name="T88" fmla="*/ 189 w 310"/>
                  <a:gd name="T89" fmla="*/ 110 h 308"/>
                  <a:gd name="T90" fmla="*/ 220 w 310"/>
                  <a:gd name="T91" fmla="*/ 114 h 308"/>
                  <a:gd name="T92" fmla="*/ 243 w 310"/>
                  <a:gd name="T93" fmla="*/ 108 h 308"/>
                  <a:gd name="T94" fmla="*/ 221 w 310"/>
                  <a:gd name="T95" fmla="*/ 106 h 308"/>
                  <a:gd name="T96" fmla="*/ 203 w 310"/>
                  <a:gd name="T97" fmla="*/ 95 h 308"/>
                  <a:gd name="T98" fmla="*/ 195 w 310"/>
                  <a:gd name="T99" fmla="*/ 97 h 308"/>
                  <a:gd name="T100" fmla="*/ 175 w 310"/>
                  <a:gd name="T101" fmla="*/ 96 h 308"/>
                  <a:gd name="T102" fmla="*/ 189 w 310"/>
                  <a:gd name="T103" fmla="*/ 81 h 308"/>
                  <a:gd name="T104" fmla="*/ 214 w 310"/>
                  <a:gd name="T105" fmla="*/ 74 h 308"/>
                  <a:gd name="T106" fmla="*/ 217 w 310"/>
                  <a:gd name="T107" fmla="*/ 59 h 308"/>
                  <a:gd name="T108" fmla="*/ 194 w 310"/>
                  <a:gd name="T109" fmla="*/ 69 h 308"/>
                  <a:gd name="T110" fmla="*/ 230 w 310"/>
                  <a:gd name="T111" fmla="*/ 53 h 308"/>
                  <a:gd name="T112" fmla="*/ 249 w 310"/>
                  <a:gd name="T113" fmla="*/ 53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10" h="308">
                    <a:moveTo>
                      <a:pt x="156" y="1"/>
                    </a:moveTo>
                    <a:cubicBezTo>
                      <a:pt x="71" y="0"/>
                      <a:pt x="2" y="68"/>
                      <a:pt x="1" y="152"/>
                    </a:cubicBezTo>
                    <a:cubicBezTo>
                      <a:pt x="0" y="237"/>
                      <a:pt x="68" y="307"/>
                      <a:pt x="152" y="308"/>
                    </a:cubicBezTo>
                    <a:cubicBezTo>
                      <a:pt x="154" y="308"/>
                      <a:pt x="156" y="308"/>
                      <a:pt x="157" y="308"/>
                    </a:cubicBezTo>
                    <a:cubicBezTo>
                      <a:pt x="242" y="306"/>
                      <a:pt x="310" y="236"/>
                      <a:pt x="308" y="151"/>
                    </a:cubicBezTo>
                    <a:cubicBezTo>
                      <a:pt x="306" y="68"/>
                      <a:pt x="239" y="2"/>
                      <a:pt x="156" y="1"/>
                    </a:cubicBezTo>
                    <a:close/>
                    <a:moveTo>
                      <a:pt x="179" y="71"/>
                    </a:moveTo>
                    <a:cubicBezTo>
                      <a:pt x="179" y="71"/>
                      <a:pt x="179" y="71"/>
                      <a:pt x="179" y="70"/>
                    </a:cubicBezTo>
                    <a:cubicBezTo>
                      <a:pt x="180" y="70"/>
                      <a:pt x="180" y="69"/>
                      <a:pt x="181" y="69"/>
                    </a:cubicBezTo>
                    <a:cubicBezTo>
                      <a:pt x="181" y="68"/>
                      <a:pt x="182" y="69"/>
                      <a:pt x="183" y="70"/>
                    </a:cubicBezTo>
                    <a:cubicBezTo>
                      <a:pt x="181" y="71"/>
                      <a:pt x="182" y="72"/>
                      <a:pt x="184" y="73"/>
                    </a:cubicBezTo>
                    <a:cubicBezTo>
                      <a:pt x="184" y="73"/>
                      <a:pt x="184" y="73"/>
                      <a:pt x="184" y="74"/>
                    </a:cubicBezTo>
                    <a:cubicBezTo>
                      <a:pt x="185" y="75"/>
                      <a:pt x="185" y="76"/>
                      <a:pt x="186" y="77"/>
                    </a:cubicBezTo>
                    <a:cubicBezTo>
                      <a:pt x="187" y="77"/>
                      <a:pt x="188" y="78"/>
                      <a:pt x="189" y="79"/>
                    </a:cubicBezTo>
                    <a:cubicBezTo>
                      <a:pt x="188" y="79"/>
                      <a:pt x="187" y="80"/>
                      <a:pt x="186" y="81"/>
                    </a:cubicBezTo>
                    <a:cubicBezTo>
                      <a:pt x="185" y="81"/>
                      <a:pt x="184" y="82"/>
                      <a:pt x="183" y="82"/>
                    </a:cubicBezTo>
                    <a:cubicBezTo>
                      <a:pt x="182" y="82"/>
                      <a:pt x="181" y="82"/>
                      <a:pt x="180" y="82"/>
                    </a:cubicBezTo>
                    <a:cubicBezTo>
                      <a:pt x="180" y="82"/>
                      <a:pt x="180" y="82"/>
                      <a:pt x="180" y="82"/>
                    </a:cubicBezTo>
                    <a:cubicBezTo>
                      <a:pt x="182" y="81"/>
                      <a:pt x="182" y="81"/>
                      <a:pt x="182" y="81"/>
                    </a:cubicBezTo>
                    <a:cubicBezTo>
                      <a:pt x="181" y="80"/>
                      <a:pt x="180" y="79"/>
                      <a:pt x="180" y="78"/>
                    </a:cubicBezTo>
                    <a:cubicBezTo>
                      <a:pt x="180" y="77"/>
                      <a:pt x="181" y="77"/>
                      <a:pt x="182" y="76"/>
                    </a:cubicBezTo>
                    <a:cubicBezTo>
                      <a:pt x="181" y="74"/>
                      <a:pt x="179" y="74"/>
                      <a:pt x="179" y="74"/>
                    </a:cubicBezTo>
                    <a:cubicBezTo>
                      <a:pt x="176" y="76"/>
                      <a:pt x="176" y="77"/>
                      <a:pt x="177" y="78"/>
                    </a:cubicBezTo>
                    <a:cubicBezTo>
                      <a:pt x="175" y="79"/>
                      <a:pt x="173" y="80"/>
                      <a:pt x="172" y="80"/>
                    </a:cubicBezTo>
                    <a:cubicBezTo>
                      <a:pt x="171" y="79"/>
                      <a:pt x="173" y="77"/>
                      <a:pt x="172" y="75"/>
                    </a:cubicBezTo>
                    <a:cubicBezTo>
                      <a:pt x="172" y="74"/>
                      <a:pt x="174" y="73"/>
                      <a:pt x="175" y="73"/>
                    </a:cubicBezTo>
                    <a:cubicBezTo>
                      <a:pt x="177" y="73"/>
                      <a:pt x="177" y="73"/>
                      <a:pt x="177" y="73"/>
                    </a:cubicBezTo>
                    <a:cubicBezTo>
                      <a:pt x="178" y="73"/>
                      <a:pt x="179" y="73"/>
                      <a:pt x="179" y="71"/>
                    </a:cubicBezTo>
                    <a:close/>
                    <a:moveTo>
                      <a:pt x="135" y="32"/>
                    </a:moveTo>
                    <a:cubicBezTo>
                      <a:pt x="139" y="33"/>
                      <a:pt x="142" y="33"/>
                      <a:pt x="146" y="33"/>
                    </a:cubicBezTo>
                    <a:cubicBezTo>
                      <a:pt x="147" y="34"/>
                      <a:pt x="149" y="33"/>
                      <a:pt x="149" y="32"/>
                    </a:cubicBezTo>
                    <a:cubicBezTo>
                      <a:pt x="150" y="32"/>
                      <a:pt x="151" y="32"/>
                      <a:pt x="152" y="31"/>
                    </a:cubicBezTo>
                    <a:cubicBezTo>
                      <a:pt x="154" y="31"/>
                      <a:pt x="157" y="30"/>
                      <a:pt x="160" y="30"/>
                    </a:cubicBezTo>
                    <a:cubicBezTo>
                      <a:pt x="161" y="30"/>
                      <a:pt x="163" y="30"/>
                      <a:pt x="164" y="30"/>
                    </a:cubicBezTo>
                    <a:cubicBezTo>
                      <a:pt x="168" y="31"/>
                      <a:pt x="171" y="31"/>
                      <a:pt x="175" y="32"/>
                    </a:cubicBezTo>
                    <a:cubicBezTo>
                      <a:pt x="175" y="32"/>
                      <a:pt x="176" y="32"/>
                      <a:pt x="176" y="33"/>
                    </a:cubicBezTo>
                    <a:cubicBezTo>
                      <a:pt x="175" y="33"/>
                      <a:pt x="173" y="33"/>
                      <a:pt x="172" y="33"/>
                    </a:cubicBezTo>
                    <a:cubicBezTo>
                      <a:pt x="171" y="33"/>
                      <a:pt x="170" y="33"/>
                      <a:pt x="169" y="34"/>
                    </a:cubicBezTo>
                    <a:cubicBezTo>
                      <a:pt x="168" y="34"/>
                      <a:pt x="167" y="35"/>
                      <a:pt x="167" y="37"/>
                    </a:cubicBezTo>
                    <a:cubicBezTo>
                      <a:pt x="167" y="39"/>
                      <a:pt x="165" y="41"/>
                      <a:pt x="164" y="41"/>
                    </a:cubicBezTo>
                    <a:cubicBezTo>
                      <a:pt x="162" y="42"/>
                      <a:pt x="160" y="42"/>
                      <a:pt x="158" y="43"/>
                    </a:cubicBezTo>
                    <a:cubicBezTo>
                      <a:pt x="157" y="44"/>
                      <a:pt x="157" y="44"/>
                      <a:pt x="158" y="45"/>
                    </a:cubicBezTo>
                    <a:cubicBezTo>
                      <a:pt x="159" y="45"/>
                      <a:pt x="161" y="46"/>
                      <a:pt x="162" y="47"/>
                    </a:cubicBezTo>
                    <a:cubicBezTo>
                      <a:pt x="160" y="48"/>
                      <a:pt x="160" y="48"/>
                      <a:pt x="155" y="46"/>
                    </a:cubicBezTo>
                    <a:cubicBezTo>
                      <a:pt x="156" y="47"/>
                      <a:pt x="157" y="48"/>
                      <a:pt x="157" y="49"/>
                    </a:cubicBezTo>
                    <a:cubicBezTo>
                      <a:pt x="154" y="50"/>
                      <a:pt x="151" y="51"/>
                      <a:pt x="148" y="51"/>
                    </a:cubicBezTo>
                    <a:cubicBezTo>
                      <a:pt x="145" y="52"/>
                      <a:pt x="143" y="53"/>
                      <a:pt x="141" y="55"/>
                    </a:cubicBezTo>
                    <a:cubicBezTo>
                      <a:pt x="138" y="57"/>
                      <a:pt x="136" y="57"/>
                      <a:pt x="133" y="58"/>
                    </a:cubicBezTo>
                    <a:cubicBezTo>
                      <a:pt x="132" y="58"/>
                      <a:pt x="131" y="58"/>
                      <a:pt x="131" y="60"/>
                    </a:cubicBezTo>
                    <a:cubicBezTo>
                      <a:pt x="131" y="61"/>
                      <a:pt x="130" y="61"/>
                      <a:pt x="129" y="62"/>
                    </a:cubicBezTo>
                    <a:cubicBezTo>
                      <a:pt x="129" y="63"/>
                      <a:pt x="128" y="63"/>
                      <a:pt x="127" y="64"/>
                    </a:cubicBezTo>
                    <a:cubicBezTo>
                      <a:pt x="125" y="65"/>
                      <a:pt x="122" y="65"/>
                      <a:pt x="120" y="63"/>
                    </a:cubicBezTo>
                    <a:cubicBezTo>
                      <a:pt x="120" y="62"/>
                      <a:pt x="119" y="61"/>
                      <a:pt x="119" y="60"/>
                    </a:cubicBezTo>
                    <a:cubicBezTo>
                      <a:pt x="119" y="59"/>
                      <a:pt x="119" y="58"/>
                      <a:pt x="119" y="57"/>
                    </a:cubicBezTo>
                    <a:cubicBezTo>
                      <a:pt x="120" y="56"/>
                      <a:pt x="120" y="55"/>
                      <a:pt x="121" y="54"/>
                    </a:cubicBezTo>
                    <a:cubicBezTo>
                      <a:pt x="121" y="53"/>
                      <a:pt x="121" y="53"/>
                      <a:pt x="122" y="52"/>
                    </a:cubicBezTo>
                    <a:cubicBezTo>
                      <a:pt x="125" y="50"/>
                      <a:pt x="125" y="46"/>
                      <a:pt x="123" y="43"/>
                    </a:cubicBezTo>
                    <a:cubicBezTo>
                      <a:pt x="122" y="42"/>
                      <a:pt x="121" y="41"/>
                      <a:pt x="120" y="41"/>
                    </a:cubicBezTo>
                    <a:cubicBezTo>
                      <a:pt x="118" y="39"/>
                      <a:pt x="115" y="39"/>
                      <a:pt x="113" y="38"/>
                    </a:cubicBezTo>
                    <a:cubicBezTo>
                      <a:pt x="112" y="38"/>
                      <a:pt x="111" y="38"/>
                      <a:pt x="110" y="37"/>
                    </a:cubicBezTo>
                    <a:cubicBezTo>
                      <a:pt x="114" y="37"/>
                      <a:pt x="117" y="36"/>
                      <a:pt x="120" y="36"/>
                    </a:cubicBezTo>
                    <a:cubicBezTo>
                      <a:pt x="121" y="35"/>
                      <a:pt x="123" y="35"/>
                      <a:pt x="124" y="34"/>
                    </a:cubicBezTo>
                    <a:cubicBezTo>
                      <a:pt x="127" y="33"/>
                      <a:pt x="131" y="32"/>
                      <a:pt x="135" y="32"/>
                    </a:cubicBezTo>
                    <a:close/>
                    <a:moveTo>
                      <a:pt x="169" y="56"/>
                    </a:moveTo>
                    <a:cubicBezTo>
                      <a:pt x="169" y="56"/>
                      <a:pt x="168" y="57"/>
                      <a:pt x="168" y="58"/>
                    </a:cubicBezTo>
                    <a:cubicBezTo>
                      <a:pt x="166" y="58"/>
                      <a:pt x="165" y="59"/>
                      <a:pt x="164" y="60"/>
                    </a:cubicBezTo>
                    <a:cubicBezTo>
                      <a:pt x="162" y="60"/>
                      <a:pt x="161" y="60"/>
                      <a:pt x="160" y="59"/>
                    </a:cubicBezTo>
                    <a:cubicBezTo>
                      <a:pt x="159" y="58"/>
                      <a:pt x="159" y="58"/>
                      <a:pt x="158" y="58"/>
                    </a:cubicBezTo>
                    <a:cubicBezTo>
                      <a:pt x="158" y="58"/>
                      <a:pt x="158" y="57"/>
                      <a:pt x="158" y="57"/>
                    </a:cubicBezTo>
                    <a:cubicBezTo>
                      <a:pt x="159" y="57"/>
                      <a:pt x="159" y="57"/>
                      <a:pt x="160" y="56"/>
                    </a:cubicBezTo>
                    <a:cubicBezTo>
                      <a:pt x="162" y="56"/>
                      <a:pt x="164" y="55"/>
                      <a:pt x="166" y="55"/>
                    </a:cubicBezTo>
                    <a:cubicBezTo>
                      <a:pt x="167" y="54"/>
                      <a:pt x="168" y="54"/>
                      <a:pt x="169" y="56"/>
                    </a:cubicBezTo>
                    <a:close/>
                    <a:moveTo>
                      <a:pt x="92" y="37"/>
                    </a:moveTo>
                    <a:cubicBezTo>
                      <a:pt x="93" y="37"/>
                      <a:pt x="94" y="37"/>
                      <a:pt x="95" y="36"/>
                    </a:cubicBezTo>
                    <a:cubicBezTo>
                      <a:pt x="96" y="36"/>
                      <a:pt x="98" y="36"/>
                      <a:pt x="98" y="34"/>
                    </a:cubicBezTo>
                    <a:cubicBezTo>
                      <a:pt x="99" y="34"/>
                      <a:pt x="99" y="33"/>
                      <a:pt x="100" y="33"/>
                    </a:cubicBezTo>
                    <a:cubicBezTo>
                      <a:pt x="101" y="33"/>
                      <a:pt x="101" y="33"/>
                      <a:pt x="101" y="33"/>
                    </a:cubicBezTo>
                    <a:cubicBezTo>
                      <a:pt x="103" y="32"/>
                      <a:pt x="105" y="32"/>
                      <a:pt x="106" y="32"/>
                    </a:cubicBezTo>
                    <a:cubicBezTo>
                      <a:pt x="108" y="32"/>
                      <a:pt x="109" y="32"/>
                      <a:pt x="110" y="31"/>
                    </a:cubicBezTo>
                    <a:cubicBezTo>
                      <a:pt x="113" y="30"/>
                      <a:pt x="115" y="30"/>
                      <a:pt x="118" y="30"/>
                    </a:cubicBezTo>
                    <a:cubicBezTo>
                      <a:pt x="118" y="30"/>
                      <a:pt x="119" y="30"/>
                      <a:pt x="120" y="30"/>
                    </a:cubicBezTo>
                    <a:cubicBezTo>
                      <a:pt x="122" y="30"/>
                      <a:pt x="122" y="30"/>
                      <a:pt x="122" y="30"/>
                    </a:cubicBezTo>
                    <a:cubicBezTo>
                      <a:pt x="122" y="30"/>
                      <a:pt x="122" y="30"/>
                      <a:pt x="122" y="31"/>
                    </a:cubicBezTo>
                    <a:cubicBezTo>
                      <a:pt x="120" y="33"/>
                      <a:pt x="116" y="34"/>
                      <a:pt x="113" y="35"/>
                    </a:cubicBezTo>
                    <a:cubicBezTo>
                      <a:pt x="108" y="35"/>
                      <a:pt x="104" y="37"/>
                      <a:pt x="100" y="40"/>
                    </a:cubicBezTo>
                    <a:cubicBezTo>
                      <a:pt x="98" y="41"/>
                      <a:pt x="97" y="41"/>
                      <a:pt x="96" y="39"/>
                    </a:cubicBezTo>
                    <a:cubicBezTo>
                      <a:pt x="96" y="39"/>
                      <a:pt x="96" y="39"/>
                      <a:pt x="96" y="39"/>
                    </a:cubicBezTo>
                    <a:cubicBezTo>
                      <a:pt x="96" y="39"/>
                      <a:pt x="95" y="39"/>
                      <a:pt x="95" y="39"/>
                    </a:cubicBezTo>
                    <a:cubicBezTo>
                      <a:pt x="93" y="39"/>
                      <a:pt x="92" y="38"/>
                      <a:pt x="91" y="38"/>
                    </a:cubicBezTo>
                    <a:cubicBezTo>
                      <a:pt x="91" y="38"/>
                      <a:pt x="92" y="37"/>
                      <a:pt x="92" y="37"/>
                    </a:cubicBezTo>
                    <a:close/>
                    <a:moveTo>
                      <a:pt x="84" y="41"/>
                    </a:moveTo>
                    <a:cubicBezTo>
                      <a:pt x="84" y="41"/>
                      <a:pt x="84" y="41"/>
                      <a:pt x="84" y="41"/>
                    </a:cubicBezTo>
                    <a:cubicBezTo>
                      <a:pt x="85" y="39"/>
                      <a:pt x="86" y="39"/>
                      <a:pt x="88" y="40"/>
                    </a:cubicBezTo>
                    <a:cubicBezTo>
                      <a:pt x="90" y="41"/>
                      <a:pt x="92" y="41"/>
                      <a:pt x="95" y="40"/>
                    </a:cubicBezTo>
                    <a:cubicBezTo>
                      <a:pt x="95" y="40"/>
                      <a:pt x="95" y="40"/>
                      <a:pt x="95" y="40"/>
                    </a:cubicBezTo>
                    <a:cubicBezTo>
                      <a:pt x="95" y="41"/>
                      <a:pt x="94" y="41"/>
                      <a:pt x="94" y="42"/>
                    </a:cubicBezTo>
                    <a:cubicBezTo>
                      <a:pt x="94" y="42"/>
                      <a:pt x="92" y="42"/>
                      <a:pt x="91" y="42"/>
                    </a:cubicBezTo>
                    <a:cubicBezTo>
                      <a:pt x="90" y="43"/>
                      <a:pt x="90" y="43"/>
                      <a:pt x="90" y="44"/>
                    </a:cubicBezTo>
                    <a:cubicBezTo>
                      <a:pt x="90" y="44"/>
                      <a:pt x="90" y="44"/>
                      <a:pt x="91" y="45"/>
                    </a:cubicBezTo>
                    <a:cubicBezTo>
                      <a:pt x="92" y="45"/>
                      <a:pt x="92" y="45"/>
                      <a:pt x="92" y="45"/>
                    </a:cubicBezTo>
                    <a:cubicBezTo>
                      <a:pt x="103" y="48"/>
                      <a:pt x="103" y="48"/>
                      <a:pt x="103" y="48"/>
                    </a:cubicBezTo>
                    <a:cubicBezTo>
                      <a:pt x="103" y="48"/>
                      <a:pt x="103" y="48"/>
                      <a:pt x="104" y="49"/>
                    </a:cubicBezTo>
                    <a:cubicBezTo>
                      <a:pt x="103" y="49"/>
                      <a:pt x="103" y="50"/>
                      <a:pt x="103" y="50"/>
                    </a:cubicBezTo>
                    <a:cubicBezTo>
                      <a:pt x="103" y="53"/>
                      <a:pt x="103" y="54"/>
                      <a:pt x="106" y="54"/>
                    </a:cubicBezTo>
                    <a:cubicBezTo>
                      <a:pt x="106" y="56"/>
                      <a:pt x="106" y="56"/>
                      <a:pt x="105" y="57"/>
                    </a:cubicBezTo>
                    <a:cubicBezTo>
                      <a:pt x="103" y="57"/>
                      <a:pt x="101" y="58"/>
                      <a:pt x="99" y="58"/>
                    </a:cubicBezTo>
                    <a:cubicBezTo>
                      <a:pt x="98" y="59"/>
                      <a:pt x="97" y="59"/>
                      <a:pt x="97" y="60"/>
                    </a:cubicBezTo>
                    <a:cubicBezTo>
                      <a:pt x="97" y="60"/>
                      <a:pt x="97" y="61"/>
                      <a:pt x="97" y="61"/>
                    </a:cubicBezTo>
                    <a:cubicBezTo>
                      <a:pt x="95" y="62"/>
                      <a:pt x="93" y="62"/>
                      <a:pt x="92" y="61"/>
                    </a:cubicBezTo>
                    <a:cubicBezTo>
                      <a:pt x="90" y="60"/>
                      <a:pt x="91" y="58"/>
                      <a:pt x="92" y="57"/>
                    </a:cubicBezTo>
                    <a:cubicBezTo>
                      <a:pt x="92" y="57"/>
                      <a:pt x="93" y="56"/>
                      <a:pt x="93" y="56"/>
                    </a:cubicBezTo>
                    <a:cubicBezTo>
                      <a:pt x="94" y="56"/>
                      <a:pt x="95" y="56"/>
                      <a:pt x="97" y="56"/>
                    </a:cubicBezTo>
                    <a:cubicBezTo>
                      <a:pt x="97" y="56"/>
                      <a:pt x="98" y="55"/>
                      <a:pt x="98" y="55"/>
                    </a:cubicBezTo>
                    <a:cubicBezTo>
                      <a:pt x="98" y="54"/>
                      <a:pt x="98" y="54"/>
                      <a:pt x="97" y="53"/>
                    </a:cubicBezTo>
                    <a:cubicBezTo>
                      <a:pt x="95" y="51"/>
                      <a:pt x="92" y="50"/>
                      <a:pt x="89" y="49"/>
                    </a:cubicBezTo>
                    <a:cubicBezTo>
                      <a:pt x="88" y="49"/>
                      <a:pt x="87" y="49"/>
                      <a:pt x="86" y="49"/>
                    </a:cubicBezTo>
                    <a:cubicBezTo>
                      <a:pt x="84" y="49"/>
                      <a:pt x="82" y="49"/>
                      <a:pt x="80" y="49"/>
                    </a:cubicBezTo>
                    <a:cubicBezTo>
                      <a:pt x="79" y="49"/>
                      <a:pt x="78" y="49"/>
                      <a:pt x="78" y="47"/>
                    </a:cubicBezTo>
                    <a:cubicBezTo>
                      <a:pt x="77" y="46"/>
                      <a:pt x="78" y="45"/>
                      <a:pt x="79" y="45"/>
                    </a:cubicBezTo>
                    <a:cubicBezTo>
                      <a:pt x="79" y="45"/>
                      <a:pt x="80" y="45"/>
                      <a:pt x="80" y="45"/>
                    </a:cubicBezTo>
                    <a:cubicBezTo>
                      <a:pt x="81" y="45"/>
                      <a:pt x="83" y="45"/>
                      <a:pt x="84" y="44"/>
                    </a:cubicBezTo>
                    <a:cubicBezTo>
                      <a:pt x="85" y="44"/>
                      <a:pt x="86" y="44"/>
                      <a:pt x="86" y="43"/>
                    </a:cubicBezTo>
                    <a:cubicBezTo>
                      <a:pt x="86" y="42"/>
                      <a:pt x="85" y="41"/>
                      <a:pt x="84" y="41"/>
                    </a:cubicBezTo>
                    <a:close/>
                    <a:moveTo>
                      <a:pt x="103" y="84"/>
                    </a:moveTo>
                    <a:cubicBezTo>
                      <a:pt x="104" y="85"/>
                      <a:pt x="105" y="86"/>
                      <a:pt x="105" y="86"/>
                    </a:cubicBezTo>
                    <a:cubicBezTo>
                      <a:pt x="104" y="87"/>
                      <a:pt x="103" y="88"/>
                      <a:pt x="102" y="88"/>
                    </a:cubicBezTo>
                    <a:cubicBezTo>
                      <a:pt x="100" y="88"/>
                      <a:pt x="98" y="87"/>
                      <a:pt x="96" y="87"/>
                    </a:cubicBezTo>
                    <a:cubicBezTo>
                      <a:pt x="98" y="85"/>
                      <a:pt x="100" y="83"/>
                      <a:pt x="103" y="82"/>
                    </a:cubicBezTo>
                    <a:cubicBezTo>
                      <a:pt x="102" y="83"/>
                      <a:pt x="102" y="83"/>
                      <a:pt x="102" y="83"/>
                    </a:cubicBezTo>
                    <a:cubicBezTo>
                      <a:pt x="102" y="83"/>
                      <a:pt x="103" y="84"/>
                      <a:pt x="103" y="84"/>
                    </a:cubicBezTo>
                    <a:close/>
                    <a:moveTo>
                      <a:pt x="109" y="221"/>
                    </a:moveTo>
                    <a:cubicBezTo>
                      <a:pt x="107" y="222"/>
                      <a:pt x="106" y="223"/>
                      <a:pt x="104" y="224"/>
                    </a:cubicBezTo>
                    <a:cubicBezTo>
                      <a:pt x="103" y="226"/>
                      <a:pt x="103" y="227"/>
                      <a:pt x="103" y="228"/>
                    </a:cubicBezTo>
                    <a:cubicBezTo>
                      <a:pt x="102" y="231"/>
                      <a:pt x="102" y="234"/>
                      <a:pt x="101" y="236"/>
                    </a:cubicBezTo>
                    <a:cubicBezTo>
                      <a:pt x="100" y="237"/>
                      <a:pt x="98" y="238"/>
                      <a:pt x="97" y="240"/>
                    </a:cubicBezTo>
                    <a:cubicBezTo>
                      <a:pt x="96" y="242"/>
                      <a:pt x="92" y="243"/>
                      <a:pt x="90" y="241"/>
                    </a:cubicBezTo>
                    <a:cubicBezTo>
                      <a:pt x="89" y="243"/>
                      <a:pt x="91" y="244"/>
                      <a:pt x="91" y="245"/>
                    </a:cubicBezTo>
                    <a:cubicBezTo>
                      <a:pt x="92" y="247"/>
                      <a:pt x="92" y="247"/>
                      <a:pt x="91" y="248"/>
                    </a:cubicBezTo>
                    <a:cubicBezTo>
                      <a:pt x="89" y="249"/>
                      <a:pt x="87" y="251"/>
                      <a:pt x="86" y="252"/>
                    </a:cubicBezTo>
                    <a:cubicBezTo>
                      <a:pt x="85" y="253"/>
                      <a:pt x="84" y="255"/>
                      <a:pt x="85" y="256"/>
                    </a:cubicBezTo>
                    <a:cubicBezTo>
                      <a:pt x="85" y="258"/>
                      <a:pt x="85" y="259"/>
                      <a:pt x="84" y="260"/>
                    </a:cubicBezTo>
                    <a:cubicBezTo>
                      <a:pt x="84" y="261"/>
                      <a:pt x="84" y="262"/>
                      <a:pt x="84" y="262"/>
                    </a:cubicBezTo>
                    <a:cubicBezTo>
                      <a:pt x="84" y="264"/>
                      <a:pt x="85" y="265"/>
                      <a:pt x="85" y="266"/>
                    </a:cubicBezTo>
                    <a:cubicBezTo>
                      <a:pt x="85" y="268"/>
                      <a:pt x="85" y="271"/>
                      <a:pt x="85" y="273"/>
                    </a:cubicBezTo>
                    <a:cubicBezTo>
                      <a:pt x="85" y="274"/>
                      <a:pt x="86" y="274"/>
                      <a:pt x="87" y="274"/>
                    </a:cubicBezTo>
                    <a:cubicBezTo>
                      <a:pt x="87" y="275"/>
                      <a:pt x="88" y="275"/>
                      <a:pt x="88" y="275"/>
                    </a:cubicBezTo>
                    <a:cubicBezTo>
                      <a:pt x="88" y="277"/>
                      <a:pt x="89" y="278"/>
                      <a:pt x="90" y="279"/>
                    </a:cubicBezTo>
                    <a:cubicBezTo>
                      <a:pt x="88" y="280"/>
                      <a:pt x="86" y="280"/>
                      <a:pt x="85" y="279"/>
                    </a:cubicBezTo>
                    <a:cubicBezTo>
                      <a:pt x="85" y="279"/>
                      <a:pt x="85" y="279"/>
                      <a:pt x="85" y="279"/>
                    </a:cubicBezTo>
                    <a:cubicBezTo>
                      <a:pt x="84" y="277"/>
                      <a:pt x="83" y="276"/>
                      <a:pt x="81" y="275"/>
                    </a:cubicBezTo>
                    <a:cubicBezTo>
                      <a:pt x="78" y="274"/>
                      <a:pt x="76" y="272"/>
                      <a:pt x="75" y="270"/>
                    </a:cubicBezTo>
                    <a:cubicBezTo>
                      <a:pt x="73" y="267"/>
                      <a:pt x="72" y="264"/>
                      <a:pt x="73" y="261"/>
                    </a:cubicBezTo>
                    <a:cubicBezTo>
                      <a:pt x="73" y="259"/>
                      <a:pt x="72" y="256"/>
                      <a:pt x="70" y="256"/>
                    </a:cubicBezTo>
                    <a:cubicBezTo>
                      <a:pt x="69" y="256"/>
                      <a:pt x="69" y="255"/>
                      <a:pt x="69" y="254"/>
                    </a:cubicBezTo>
                    <a:cubicBezTo>
                      <a:pt x="69" y="252"/>
                      <a:pt x="69" y="250"/>
                      <a:pt x="68" y="247"/>
                    </a:cubicBezTo>
                    <a:cubicBezTo>
                      <a:pt x="68" y="243"/>
                      <a:pt x="67" y="238"/>
                      <a:pt x="67" y="234"/>
                    </a:cubicBezTo>
                    <a:cubicBezTo>
                      <a:pt x="67" y="230"/>
                      <a:pt x="67" y="227"/>
                      <a:pt x="67" y="223"/>
                    </a:cubicBezTo>
                    <a:cubicBezTo>
                      <a:pt x="67" y="221"/>
                      <a:pt x="67" y="220"/>
                      <a:pt x="67" y="218"/>
                    </a:cubicBezTo>
                    <a:cubicBezTo>
                      <a:pt x="67" y="214"/>
                      <a:pt x="64" y="211"/>
                      <a:pt x="60" y="209"/>
                    </a:cubicBezTo>
                    <a:cubicBezTo>
                      <a:pt x="58" y="209"/>
                      <a:pt x="56" y="207"/>
                      <a:pt x="56" y="205"/>
                    </a:cubicBezTo>
                    <a:cubicBezTo>
                      <a:pt x="56" y="203"/>
                      <a:pt x="55" y="201"/>
                      <a:pt x="54" y="200"/>
                    </a:cubicBezTo>
                    <a:cubicBezTo>
                      <a:pt x="51" y="199"/>
                      <a:pt x="50" y="197"/>
                      <a:pt x="49" y="194"/>
                    </a:cubicBezTo>
                    <a:cubicBezTo>
                      <a:pt x="48" y="194"/>
                      <a:pt x="48" y="193"/>
                      <a:pt x="47" y="192"/>
                    </a:cubicBezTo>
                    <a:cubicBezTo>
                      <a:pt x="46" y="191"/>
                      <a:pt x="46" y="189"/>
                      <a:pt x="46" y="188"/>
                    </a:cubicBezTo>
                    <a:cubicBezTo>
                      <a:pt x="46" y="187"/>
                      <a:pt x="46" y="185"/>
                      <a:pt x="46" y="184"/>
                    </a:cubicBezTo>
                    <a:cubicBezTo>
                      <a:pt x="46" y="184"/>
                      <a:pt x="45" y="183"/>
                      <a:pt x="45" y="182"/>
                    </a:cubicBezTo>
                    <a:cubicBezTo>
                      <a:pt x="46" y="180"/>
                      <a:pt x="47" y="178"/>
                      <a:pt x="48" y="176"/>
                    </a:cubicBezTo>
                    <a:cubicBezTo>
                      <a:pt x="49" y="174"/>
                      <a:pt x="50" y="171"/>
                      <a:pt x="51" y="169"/>
                    </a:cubicBezTo>
                    <a:cubicBezTo>
                      <a:pt x="52" y="167"/>
                      <a:pt x="51" y="164"/>
                      <a:pt x="49" y="162"/>
                    </a:cubicBezTo>
                    <a:cubicBezTo>
                      <a:pt x="48" y="162"/>
                      <a:pt x="48" y="162"/>
                      <a:pt x="47" y="162"/>
                    </a:cubicBezTo>
                    <a:cubicBezTo>
                      <a:pt x="45" y="163"/>
                      <a:pt x="43" y="163"/>
                      <a:pt x="42" y="162"/>
                    </a:cubicBezTo>
                    <a:cubicBezTo>
                      <a:pt x="39" y="160"/>
                      <a:pt x="37" y="158"/>
                      <a:pt x="35" y="155"/>
                    </a:cubicBezTo>
                    <a:cubicBezTo>
                      <a:pt x="35" y="154"/>
                      <a:pt x="35" y="154"/>
                      <a:pt x="34" y="154"/>
                    </a:cubicBezTo>
                    <a:cubicBezTo>
                      <a:pt x="33" y="153"/>
                      <a:pt x="33" y="153"/>
                      <a:pt x="32" y="153"/>
                    </a:cubicBezTo>
                    <a:cubicBezTo>
                      <a:pt x="30" y="153"/>
                      <a:pt x="28" y="152"/>
                      <a:pt x="27" y="151"/>
                    </a:cubicBezTo>
                    <a:cubicBezTo>
                      <a:pt x="25" y="149"/>
                      <a:pt x="23" y="148"/>
                      <a:pt x="20" y="148"/>
                    </a:cubicBezTo>
                    <a:cubicBezTo>
                      <a:pt x="20" y="148"/>
                      <a:pt x="20" y="148"/>
                      <a:pt x="19" y="148"/>
                    </a:cubicBezTo>
                    <a:cubicBezTo>
                      <a:pt x="15" y="147"/>
                      <a:pt x="11" y="145"/>
                      <a:pt x="7" y="141"/>
                    </a:cubicBezTo>
                    <a:cubicBezTo>
                      <a:pt x="6" y="140"/>
                      <a:pt x="6" y="138"/>
                      <a:pt x="6" y="136"/>
                    </a:cubicBezTo>
                    <a:cubicBezTo>
                      <a:pt x="7" y="127"/>
                      <a:pt x="9" y="118"/>
                      <a:pt x="12" y="109"/>
                    </a:cubicBezTo>
                    <a:cubicBezTo>
                      <a:pt x="17" y="95"/>
                      <a:pt x="23" y="82"/>
                      <a:pt x="32" y="70"/>
                    </a:cubicBezTo>
                    <a:cubicBezTo>
                      <a:pt x="35" y="66"/>
                      <a:pt x="38" y="62"/>
                      <a:pt x="42" y="57"/>
                    </a:cubicBezTo>
                    <a:cubicBezTo>
                      <a:pt x="42" y="57"/>
                      <a:pt x="43" y="56"/>
                      <a:pt x="44" y="57"/>
                    </a:cubicBezTo>
                    <a:cubicBezTo>
                      <a:pt x="45" y="57"/>
                      <a:pt x="46" y="58"/>
                      <a:pt x="47" y="57"/>
                    </a:cubicBezTo>
                    <a:cubicBezTo>
                      <a:pt x="50" y="57"/>
                      <a:pt x="52" y="57"/>
                      <a:pt x="55" y="57"/>
                    </a:cubicBezTo>
                    <a:cubicBezTo>
                      <a:pt x="58" y="56"/>
                      <a:pt x="62" y="55"/>
                      <a:pt x="65" y="54"/>
                    </a:cubicBezTo>
                    <a:cubicBezTo>
                      <a:pt x="67" y="52"/>
                      <a:pt x="68" y="50"/>
                      <a:pt x="69" y="47"/>
                    </a:cubicBezTo>
                    <a:cubicBezTo>
                      <a:pt x="69" y="47"/>
                      <a:pt x="69" y="46"/>
                      <a:pt x="69" y="45"/>
                    </a:cubicBezTo>
                    <a:cubicBezTo>
                      <a:pt x="70" y="43"/>
                      <a:pt x="70" y="43"/>
                      <a:pt x="73" y="43"/>
                    </a:cubicBezTo>
                    <a:cubicBezTo>
                      <a:pt x="75" y="44"/>
                      <a:pt x="77" y="44"/>
                      <a:pt x="79" y="44"/>
                    </a:cubicBezTo>
                    <a:cubicBezTo>
                      <a:pt x="77" y="45"/>
                      <a:pt x="75" y="46"/>
                      <a:pt x="74" y="46"/>
                    </a:cubicBezTo>
                    <a:cubicBezTo>
                      <a:pt x="72" y="47"/>
                      <a:pt x="73" y="47"/>
                      <a:pt x="73" y="48"/>
                    </a:cubicBezTo>
                    <a:cubicBezTo>
                      <a:pt x="74" y="49"/>
                      <a:pt x="76" y="51"/>
                      <a:pt x="77" y="52"/>
                    </a:cubicBezTo>
                    <a:cubicBezTo>
                      <a:pt x="77" y="52"/>
                      <a:pt x="78" y="53"/>
                      <a:pt x="78" y="52"/>
                    </a:cubicBezTo>
                    <a:cubicBezTo>
                      <a:pt x="80" y="52"/>
                      <a:pt x="83" y="51"/>
                      <a:pt x="85" y="51"/>
                    </a:cubicBezTo>
                    <a:cubicBezTo>
                      <a:pt x="85" y="53"/>
                      <a:pt x="84" y="53"/>
                      <a:pt x="83" y="54"/>
                    </a:cubicBezTo>
                    <a:cubicBezTo>
                      <a:pt x="82" y="55"/>
                      <a:pt x="81" y="56"/>
                      <a:pt x="80" y="56"/>
                    </a:cubicBezTo>
                    <a:cubicBezTo>
                      <a:pt x="77" y="56"/>
                      <a:pt x="74" y="57"/>
                      <a:pt x="72" y="57"/>
                    </a:cubicBezTo>
                    <a:cubicBezTo>
                      <a:pt x="71" y="59"/>
                      <a:pt x="70" y="60"/>
                      <a:pt x="68" y="60"/>
                    </a:cubicBezTo>
                    <a:cubicBezTo>
                      <a:pt x="64" y="61"/>
                      <a:pt x="61" y="63"/>
                      <a:pt x="58" y="65"/>
                    </a:cubicBezTo>
                    <a:cubicBezTo>
                      <a:pt x="56" y="66"/>
                      <a:pt x="55" y="69"/>
                      <a:pt x="56" y="71"/>
                    </a:cubicBezTo>
                    <a:cubicBezTo>
                      <a:pt x="56" y="72"/>
                      <a:pt x="56" y="73"/>
                      <a:pt x="58" y="72"/>
                    </a:cubicBezTo>
                    <a:cubicBezTo>
                      <a:pt x="58" y="72"/>
                      <a:pt x="58" y="72"/>
                      <a:pt x="59" y="72"/>
                    </a:cubicBezTo>
                    <a:cubicBezTo>
                      <a:pt x="60" y="73"/>
                      <a:pt x="61" y="74"/>
                      <a:pt x="63" y="74"/>
                    </a:cubicBezTo>
                    <a:cubicBezTo>
                      <a:pt x="64" y="75"/>
                      <a:pt x="65" y="76"/>
                      <a:pt x="66" y="75"/>
                    </a:cubicBezTo>
                    <a:cubicBezTo>
                      <a:pt x="67" y="75"/>
                      <a:pt x="67" y="75"/>
                      <a:pt x="67" y="75"/>
                    </a:cubicBezTo>
                    <a:cubicBezTo>
                      <a:pt x="67" y="78"/>
                      <a:pt x="67" y="80"/>
                      <a:pt x="66" y="82"/>
                    </a:cubicBezTo>
                    <a:cubicBezTo>
                      <a:pt x="68" y="82"/>
                      <a:pt x="69" y="81"/>
                      <a:pt x="70" y="80"/>
                    </a:cubicBezTo>
                    <a:cubicBezTo>
                      <a:pt x="73" y="76"/>
                      <a:pt x="75" y="72"/>
                      <a:pt x="78" y="69"/>
                    </a:cubicBezTo>
                    <a:cubicBezTo>
                      <a:pt x="79" y="68"/>
                      <a:pt x="79" y="68"/>
                      <a:pt x="79" y="67"/>
                    </a:cubicBezTo>
                    <a:cubicBezTo>
                      <a:pt x="79" y="67"/>
                      <a:pt x="79" y="67"/>
                      <a:pt x="79" y="67"/>
                    </a:cubicBezTo>
                    <a:cubicBezTo>
                      <a:pt x="81" y="64"/>
                      <a:pt x="84" y="63"/>
                      <a:pt x="87" y="63"/>
                    </a:cubicBezTo>
                    <a:cubicBezTo>
                      <a:pt x="89" y="64"/>
                      <a:pt x="90" y="64"/>
                      <a:pt x="90" y="66"/>
                    </a:cubicBezTo>
                    <a:cubicBezTo>
                      <a:pt x="90" y="67"/>
                      <a:pt x="91" y="67"/>
                      <a:pt x="92" y="67"/>
                    </a:cubicBezTo>
                    <a:cubicBezTo>
                      <a:pt x="94" y="67"/>
                      <a:pt x="96" y="67"/>
                      <a:pt x="99" y="66"/>
                    </a:cubicBezTo>
                    <a:cubicBezTo>
                      <a:pt x="99" y="66"/>
                      <a:pt x="99" y="66"/>
                      <a:pt x="99" y="67"/>
                    </a:cubicBezTo>
                    <a:cubicBezTo>
                      <a:pt x="99" y="67"/>
                      <a:pt x="99" y="68"/>
                      <a:pt x="99" y="68"/>
                    </a:cubicBezTo>
                    <a:cubicBezTo>
                      <a:pt x="98" y="72"/>
                      <a:pt x="100" y="76"/>
                      <a:pt x="103" y="77"/>
                    </a:cubicBezTo>
                    <a:cubicBezTo>
                      <a:pt x="104" y="78"/>
                      <a:pt x="104" y="78"/>
                      <a:pt x="104" y="78"/>
                    </a:cubicBezTo>
                    <a:cubicBezTo>
                      <a:pt x="101" y="80"/>
                      <a:pt x="98" y="82"/>
                      <a:pt x="94" y="82"/>
                    </a:cubicBezTo>
                    <a:cubicBezTo>
                      <a:pt x="92" y="82"/>
                      <a:pt x="89" y="82"/>
                      <a:pt x="87" y="84"/>
                    </a:cubicBezTo>
                    <a:cubicBezTo>
                      <a:pt x="85" y="85"/>
                      <a:pt x="83" y="85"/>
                      <a:pt x="81" y="86"/>
                    </a:cubicBezTo>
                    <a:cubicBezTo>
                      <a:pt x="81" y="86"/>
                      <a:pt x="80" y="87"/>
                      <a:pt x="80" y="87"/>
                    </a:cubicBezTo>
                    <a:cubicBezTo>
                      <a:pt x="80" y="88"/>
                      <a:pt x="80" y="88"/>
                      <a:pt x="80" y="88"/>
                    </a:cubicBezTo>
                    <a:cubicBezTo>
                      <a:pt x="87" y="87"/>
                      <a:pt x="87" y="87"/>
                      <a:pt x="87" y="87"/>
                    </a:cubicBezTo>
                    <a:cubicBezTo>
                      <a:pt x="87" y="89"/>
                      <a:pt x="87" y="90"/>
                      <a:pt x="89" y="90"/>
                    </a:cubicBezTo>
                    <a:cubicBezTo>
                      <a:pt x="90" y="90"/>
                      <a:pt x="90" y="91"/>
                      <a:pt x="91" y="92"/>
                    </a:cubicBezTo>
                    <a:cubicBezTo>
                      <a:pt x="88" y="93"/>
                      <a:pt x="86" y="96"/>
                      <a:pt x="82" y="95"/>
                    </a:cubicBezTo>
                    <a:cubicBezTo>
                      <a:pt x="86" y="92"/>
                      <a:pt x="86" y="92"/>
                      <a:pt x="86" y="92"/>
                    </a:cubicBezTo>
                    <a:cubicBezTo>
                      <a:pt x="84" y="91"/>
                      <a:pt x="84" y="90"/>
                      <a:pt x="82" y="92"/>
                    </a:cubicBezTo>
                    <a:cubicBezTo>
                      <a:pt x="80" y="93"/>
                      <a:pt x="78" y="94"/>
                      <a:pt x="76" y="96"/>
                    </a:cubicBezTo>
                    <a:cubicBezTo>
                      <a:pt x="76" y="96"/>
                      <a:pt x="75" y="97"/>
                      <a:pt x="75" y="97"/>
                    </a:cubicBezTo>
                    <a:cubicBezTo>
                      <a:pt x="72" y="97"/>
                      <a:pt x="70" y="100"/>
                      <a:pt x="68" y="102"/>
                    </a:cubicBezTo>
                    <a:cubicBezTo>
                      <a:pt x="68" y="102"/>
                      <a:pt x="68" y="102"/>
                      <a:pt x="68" y="102"/>
                    </a:cubicBezTo>
                    <a:cubicBezTo>
                      <a:pt x="67" y="104"/>
                      <a:pt x="65" y="104"/>
                      <a:pt x="64" y="104"/>
                    </a:cubicBezTo>
                    <a:cubicBezTo>
                      <a:pt x="63" y="104"/>
                      <a:pt x="63" y="105"/>
                      <a:pt x="62" y="105"/>
                    </a:cubicBezTo>
                    <a:cubicBezTo>
                      <a:pt x="62" y="105"/>
                      <a:pt x="61" y="106"/>
                      <a:pt x="61" y="107"/>
                    </a:cubicBezTo>
                    <a:cubicBezTo>
                      <a:pt x="62" y="110"/>
                      <a:pt x="60" y="112"/>
                      <a:pt x="58" y="113"/>
                    </a:cubicBezTo>
                    <a:cubicBezTo>
                      <a:pt x="55" y="115"/>
                      <a:pt x="53" y="116"/>
                      <a:pt x="51" y="117"/>
                    </a:cubicBezTo>
                    <a:cubicBezTo>
                      <a:pt x="50" y="119"/>
                      <a:pt x="49" y="122"/>
                      <a:pt x="50" y="124"/>
                    </a:cubicBezTo>
                    <a:cubicBezTo>
                      <a:pt x="51" y="126"/>
                      <a:pt x="51" y="128"/>
                      <a:pt x="50" y="129"/>
                    </a:cubicBezTo>
                    <a:cubicBezTo>
                      <a:pt x="50" y="130"/>
                      <a:pt x="49" y="130"/>
                      <a:pt x="48" y="130"/>
                    </a:cubicBezTo>
                    <a:cubicBezTo>
                      <a:pt x="48" y="130"/>
                      <a:pt x="47" y="129"/>
                      <a:pt x="47" y="129"/>
                    </a:cubicBezTo>
                    <a:cubicBezTo>
                      <a:pt x="47" y="127"/>
                      <a:pt x="46" y="125"/>
                      <a:pt x="46" y="123"/>
                    </a:cubicBezTo>
                    <a:cubicBezTo>
                      <a:pt x="46" y="122"/>
                      <a:pt x="45" y="121"/>
                      <a:pt x="45" y="121"/>
                    </a:cubicBezTo>
                    <a:cubicBezTo>
                      <a:pt x="44" y="121"/>
                      <a:pt x="44" y="121"/>
                      <a:pt x="44" y="121"/>
                    </a:cubicBezTo>
                    <a:cubicBezTo>
                      <a:pt x="44" y="122"/>
                      <a:pt x="44" y="122"/>
                      <a:pt x="44" y="123"/>
                    </a:cubicBezTo>
                    <a:cubicBezTo>
                      <a:pt x="44" y="123"/>
                      <a:pt x="44" y="123"/>
                      <a:pt x="44" y="123"/>
                    </a:cubicBezTo>
                    <a:cubicBezTo>
                      <a:pt x="44" y="123"/>
                      <a:pt x="43" y="122"/>
                      <a:pt x="42" y="122"/>
                    </a:cubicBezTo>
                    <a:cubicBezTo>
                      <a:pt x="42" y="121"/>
                      <a:pt x="41" y="120"/>
                      <a:pt x="40" y="120"/>
                    </a:cubicBezTo>
                    <a:cubicBezTo>
                      <a:pt x="39" y="119"/>
                      <a:pt x="38" y="120"/>
                      <a:pt x="37" y="121"/>
                    </a:cubicBezTo>
                    <a:cubicBezTo>
                      <a:pt x="36" y="122"/>
                      <a:pt x="35" y="123"/>
                      <a:pt x="34" y="124"/>
                    </a:cubicBezTo>
                    <a:cubicBezTo>
                      <a:pt x="33" y="123"/>
                      <a:pt x="32" y="122"/>
                      <a:pt x="32" y="122"/>
                    </a:cubicBezTo>
                    <a:cubicBezTo>
                      <a:pt x="31" y="121"/>
                      <a:pt x="31" y="121"/>
                      <a:pt x="30" y="121"/>
                    </a:cubicBezTo>
                    <a:cubicBezTo>
                      <a:pt x="28" y="121"/>
                      <a:pt x="26" y="122"/>
                      <a:pt x="25" y="124"/>
                    </a:cubicBezTo>
                    <a:cubicBezTo>
                      <a:pt x="24" y="126"/>
                      <a:pt x="22" y="127"/>
                      <a:pt x="21" y="128"/>
                    </a:cubicBezTo>
                    <a:cubicBezTo>
                      <a:pt x="19" y="129"/>
                      <a:pt x="19" y="131"/>
                      <a:pt x="20" y="133"/>
                    </a:cubicBezTo>
                    <a:cubicBezTo>
                      <a:pt x="20" y="134"/>
                      <a:pt x="20" y="134"/>
                      <a:pt x="20" y="135"/>
                    </a:cubicBezTo>
                    <a:cubicBezTo>
                      <a:pt x="19" y="139"/>
                      <a:pt x="21" y="143"/>
                      <a:pt x="25" y="144"/>
                    </a:cubicBezTo>
                    <a:cubicBezTo>
                      <a:pt x="27" y="144"/>
                      <a:pt x="29" y="144"/>
                      <a:pt x="30" y="142"/>
                    </a:cubicBezTo>
                    <a:cubicBezTo>
                      <a:pt x="31" y="141"/>
                      <a:pt x="31" y="140"/>
                      <a:pt x="32" y="139"/>
                    </a:cubicBezTo>
                    <a:cubicBezTo>
                      <a:pt x="32" y="138"/>
                      <a:pt x="33" y="137"/>
                      <a:pt x="34" y="138"/>
                    </a:cubicBezTo>
                    <a:cubicBezTo>
                      <a:pt x="34" y="138"/>
                      <a:pt x="34" y="138"/>
                      <a:pt x="34" y="138"/>
                    </a:cubicBezTo>
                    <a:cubicBezTo>
                      <a:pt x="35" y="138"/>
                      <a:pt x="35" y="139"/>
                      <a:pt x="35" y="140"/>
                    </a:cubicBezTo>
                    <a:cubicBezTo>
                      <a:pt x="35" y="142"/>
                      <a:pt x="34" y="143"/>
                      <a:pt x="34" y="145"/>
                    </a:cubicBezTo>
                    <a:cubicBezTo>
                      <a:pt x="33" y="146"/>
                      <a:pt x="34" y="147"/>
                      <a:pt x="35" y="147"/>
                    </a:cubicBezTo>
                    <a:cubicBezTo>
                      <a:pt x="37" y="148"/>
                      <a:pt x="38" y="148"/>
                      <a:pt x="39" y="148"/>
                    </a:cubicBezTo>
                    <a:cubicBezTo>
                      <a:pt x="40" y="148"/>
                      <a:pt x="41" y="149"/>
                      <a:pt x="42" y="150"/>
                    </a:cubicBezTo>
                    <a:cubicBezTo>
                      <a:pt x="42" y="150"/>
                      <a:pt x="42" y="151"/>
                      <a:pt x="42" y="151"/>
                    </a:cubicBezTo>
                    <a:cubicBezTo>
                      <a:pt x="41" y="153"/>
                      <a:pt x="41" y="155"/>
                      <a:pt x="42" y="156"/>
                    </a:cubicBezTo>
                    <a:cubicBezTo>
                      <a:pt x="42" y="158"/>
                      <a:pt x="42" y="159"/>
                      <a:pt x="43" y="159"/>
                    </a:cubicBezTo>
                    <a:cubicBezTo>
                      <a:pt x="44" y="160"/>
                      <a:pt x="45" y="160"/>
                      <a:pt x="45" y="159"/>
                    </a:cubicBezTo>
                    <a:cubicBezTo>
                      <a:pt x="46" y="159"/>
                      <a:pt x="48" y="158"/>
                      <a:pt x="49" y="159"/>
                    </a:cubicBezTo>
                    <a:cubicBezTo>
                      <a:pt x="50" y="159"/>
                      <a:pt x="50" y="159"/>
                      <a:pt x="51" y="159"/>
                    </a:cubicBezTo>
                    <a:cubicBezTo>
                      <a:pt x="53" y="160"/>
                      <a:pt x="54" y="159"/>
                      <a:pt x="55" y="158"/>
                    </a:cubicBezTo>
                    <a:cubicBezTo>
                      <a:pt x="56" y="157"/>
                      <a:pt x="57" y="156"/>
                      <a:pt x="59" y="155"/>
                    </a:cubicBezTo>
                    <a:cubicBezTo>
                      <a:pt x="59" y="155"/>
                      <a:pt x="60" y="155"/>
                      <a:pt x="60" y="156"/>
                    </a:cubicBezTo>
                    <a:cubicBezTo>
                      <a:pt x="60" y="156"/>
                      <a:pt x="60" y="157"/>
                      <a:pt x="60" y="157"/>
                    </a:cubicBezTo>
                    <a:cubicBezTo>
                      <a:pt x="59" y="158"/>
                      <a:pt x="59" y="159"/>
                      <a:pt x="60" y="159"/>
                    </a:cubicBezTo>
                    <a:cubicBezTo>
                      <a:pt x="63" y="160"/>
                      <a:pt x="63" y="160"/>
                      <a:pt x="63" y="160"/>
                    </a:cubicBezTo>
                    <a:cubicBezTo>
                      <a:pt x="61" y="157"/>
                      <a:pt x="64" y="156"/>
                      <a:pt x="65" y="155"/>
                    </a:cubicBezTo>
                    <a:cubicBezTo>
                      <a:pt x="65" y="155"/>
                      <a:pt x="66" y="155"/>
                      <a:pt x="66" y="156"/>
                    </a:cubicBezTo>
                    <a:cubicBezTo>
                      <a:pt x="67" y="157"/>
                      <a:pt x="70" y="158"/>
                      <a:pt x="72" y="158"/>
                    </a:cubicBezTo>
                    <a:cubicBezTo>
                      <a:pt x="72" y="158"/>
                      <a:pt x="72" y="158"/>
                      <a:pt x="72" y="158"/>
                    </a:cubicBezTo>
                    <a:cubicBezTo>
                      <a:pt x="75" y="158"/>
                      <a:pt x="78" y="159"/>
                      <a:pt x="80" y="161"/>
                    </a:cubicBezTo>
                    <a:cubicBezTo>
                      <a:pt x="83" y="164"/>
                      <a:pt x="87" y="166"/>
                      <a:pt x="91" y="166"/>
                    </a:cubicBezTo>
                    <a:cubicBezTo>
                      <a:pt x="92" y="167"/>
                      <a:pt x="94" y="168"/>
                      <a:pt x="95" y="169"/>
                    </a:cubicBezTo>
                    <a:cubicBezTo>
                      <a:pt x="95" y="170"/>
                      <a:pt x="96" y="172"/>
                      <a:pt x="97" y="173"/>
                    </a:cubicBezTo>
                    <a:cubicBezTo>
                      <a:pt x="98" y="175"/>
                      <a:pt x="98" y="176"/>
                      <a:pt x="96" y="177"/>
                    </a:cubicBezTo>
                    <a:cubicBezTo>
                      <a:pt x="94" y="178"/>
                      <a:pt x="94" y="178"/>
                      <a:pt x="94" y="178"/>
                    </a:cubicBezTo>
                    <a:cubicBezTo>
                      <a:pt x="95" y="179"/>
                      <a:pt x="95" y="179"/>
                      <a:pt x="96" y="178"/>
                    </a:cubicBezTo>
                    <a:cubicBezTo>
                      <a:pt x="97" y="178"/>
                      <a:pt x="97" y="178"/>
                      <a:pt x="98" y="177"/>
                    </a:cubicBezTo>
                    <a:cubicBezTo>
                      <a:pt x="99" y="177"/>
                      <a:pt x="99" y="178"/>
                      <a:pt x="100" y="178"/>
                    </a:cubicBezTo>
                    <a:cubicBezTo>
                      <a:pt x="100" y="179"/>
                      <a:pt x="99" y="179"/>
                      <a:pt x="99" y="179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100" y="180"/>
                      <a:pt x="100" y="181"/>
                      <a:pt x="100" y="180"/>
                    </a:cubicBezTo>
                    <a:cubicBezTo>
                      <a:pt x="101" y="180"/>
                      <a:pt x="101" y="180"/>
                      <a:pt x="101" y="180"/>
                    </a:cubicBezTo>
                    <a:cubicBezTo>
                      <a:pt x="102" y="179"/>
                      <a:pt x="105" y="179"/>
                      <a:pt x="106" y="180"/>
                    </a:cubicBezTo>
                    <a:cubicBezTo>
                      <a:pt x="106" y="180"/>
                      <a:pt x="106" y="180"/>
                      <a:pt x="106" y="180"/>
                    </a:cubicBezTo>
                    <a:cubicBezTo>
                      <a:pt x="107" y="180"/>
                      <a:pt x="107" y="180"/>
                      <a:pt x="107" y="181"/>
                    </a:cubicBezTo>
                    <a:cubicBezTo>
                      <a:pt x="107" y="183"/>
                      <a:pt x="109" y="182"/>
                      <a:pt x="110" y="182"/>
                    </a:cubicBezTo>
                    <a:cubicBezTo>
                      <a:pt x="111" y="181"/>
                      <a:pt x="113" y="181"/>
                      <a:pt x="114" y="182"/>
                    </a:cubicBezTo>
                    <a:cubicBezTo>
                      <a:pt x="116" y="183"/>
                      <a:pt x="119" y="184"/>
                      <a:pt x="122" y="185"/>
                    </a:cubicBezTo>
                    <a:cubicBezTo>
                      <a:pt x="123" y="185"/>
                      <a:pt x="124" y="186"/>
                      <a:pt x="124" y="187"/>
                    </a:cubicBezTo>
                    <a:cubicBezTo>
                      <a:pt x="124" y="192"/>
                      <a:pt x="123" y="196"/>
                      <a:pt x="120" y="200"/>
                    </a:cubicBezTo>
                    <a:cubicBezTo>
                      <a:pt x="119" y="200"/>
                      <a:pt x="119" y="200"/>
                      <a:pt x="119" y="200"/>
                    </a:cubicBezTo>
                    <a:cubicBezTo>
                      <a:pt x="118" y="201"/>
                      <a:pt x="117" y="202"/>
                      <a:pt x="117" y="203"/>
                    </a:cubicBezTo>
                    <a:cubicBezTo>
                      <a:pt x="117" y="206"/>
                      <a:pt x="117" y="209"/>
                      <a:pt x="117" y="212"/>
                    </a:cubicBezTo>
                    <a:cubicBezTo>
                      <a:pt x="117" y="214"/>
                      <a:pt x="116" y="216"/>
                      <a:pt x="115" y="217"/>
                    </a:cubicBezTo>
                    <a:cubicBezTo>
                      <a:pt x="114" y="219"/>
                      <a:pt x="114" y="220"/>
                      <a:pt x="112" y="220"/>
                    </a:cubicBezTo>
                    <a:cubicBezTo>
                      <a:pt x="111" y="220"/>
                      <a:pt x="110" y="220"/>
                      <a:pt x="110" y="220"/>
                    </a:cubicBezTo>
                    <a:cubicBezTo>
                      <a:pt x="109" y="220"/>
                      <a:pt x="109" y="221"/>
                      <a:pt x="109" y="221"/>
                    </a:cubicBezTo>
                    <a:close/>
                    <a:moveTo>
                      <a:pt x="270" y="209"/>
                    </a:moveTo>
                    <a:cubicBezTo>
                      <a:pt x="268" y="212"/>
                      <a:pt x="268" y="215"/>
                      <a:pt x="267" y="218"/>
                    </a:cubicBezTo>
                    <a:cubicBezTo>
                      <a:pt x="266" y="219"/>
                      <a:pt x="266" y="220"/>
                      <a:pt x="265" y="221"/>
                    </a:cubicBezTo>
                    <a:cubicBezTo>
                      <a:pt x="264" y="223"/>
                      <a:pt x="264" y="223"/>
                      <a:pt x="261" y="223"/>
                    </a:cubicBezTo>
                    <a:cubicBezTo>
                      <a:pt x="258" y="222"/>
                      <a:pt x="257" y="219"/>
                      <a:pt x="258" y="217"/>
                    </a:cubicBezTo>
                    <a:cubicBezTo>
                      <a:pt x="259" y="216"/>
                      <a:pt x="259" y="215"/>
                      <a:pt x="260" y="214"/>
                    </a:cubicBezTo>
                    <a:cubicBezTo>
                      <a:pt x="260" y="212"/>
                      <a:pt x="260" y="211"/>
                      <a:pt x="260" y="210"/>
                    </a:cubicBezTo>
                    <a:cubicBezTo>
                      <a:pt x="260" y="208"/>
                      <a:pt x="261" y="206"/>
                      <a:pt x="263" y="205"/>
                    </a:cubicBezTo>
                    <a:cubicBezTo>
                      <a:pt x="263" y="205"/>
                      <a:pt x="263" y="205"/>
                      <a:pt x="264" y="205"/>
                    </a:cubicBezTo>
                    <a:cubicBezTo>
                      <a:pt x="265" y="203"/>
                      <a:pt x="267" y="202"/>
                      <a:pt x="268" y="200"/>
                    </a:cubicBezTo>
                    <a:cubicBezTo>
                      <a:pt x="269" y="200"/>
                      <a:pt x="269" y="199"/>
                      <a:pt x="269" y="198"/>
                    </a:cubicBezTo>
                    <a:cubicBezTo>
                      <a:pt x="270" y="202"/>
                      <a:pt x="271" y="205"/>
                      <a:pt x="270" y="209"/>
                    </a:cubicBezTo>
                    <a:close/>
                    <a:moveTo>
                      <a:pt x="299" y="130"/>
                    </a:moveTo>
                    <a:cubicBezTo>
                      <a:pt x="298" y="129"/>
                      <a:pt x="296" y="128"/>
                      <a:pt x="295" y="128"/>
                    </a:cubicBezTo>
                    <a:cubicBezTo>
                      <a:pt x="290" y="128"/>
                      <a:pt x="285" y="128"/>
                      <a:pt x="280" y="126"/>
                    </a:cubicBezTo>
                    <a:cubicBezTo>
                      <a:pt x="277" y="125"/>
                      <a:pt x="274" y="124"/>
                      <a:pt x="271" y="122"/>
                    </a:cubicBezTo>
                    <a:cubicBezTo>
                      <a:pt x="269" y="121"/>
                      <a:pt x="266" y="120"/>
                      <a:pt x="263" y="119"/>
                    </a:cubicBezTo>
                    <a:cubicBezTo>
                      <a:pt x="264" y="120"/>
                      <a:pt x="264" y="120"/>
                      <a:pt x="264" y="121"/>
                    </a:cubicBezTo>
                    <a:cubicBezTo>
                      <a:pt x="263" y="124"/>
                      <a:pt x="266" y="126"/>
                      <a:pt x="268" y="128"/>
                    </a:cubicBezTo>
                    <a:cubicBezTo>
                      <a:pt x="269" y="129"/>
                      <a:pt x="270" y="130"/>
                      <a:pt x="271" y="131"/>
                    </a:cubicBezTo>
                    <a:cubicBezTo>
                      <a:pt x="277" y="129"/>
                      <a:pt x="277" y="129"/>
                      <a:pt x="277" y="129"/>
                    </a:cubicBezTo>
                    <a:cubicBezTo>
                      <a:pt x="279" y="129"/>
                      <a:pt x="280" y="129"/>
                      <a:pt x="281" y="131"/>
                    </a:cubicBezTo>
                    <a:cubicBezTo>
                      <a:pt x="282" y="132"/>
                      <a:pt x="283" y="133"/>
                      <a:pt x="285" y="135"/>
                    </a:cubicBezTo>
                    <a:cubicBezTo>
                      <a:pt x="286" y="136"/>
                      <a:pt x="286" y="136"/>
                      <a:pt x="284" y="137"/>
                    </a:cubicBezTo>
                    <a:cubicBezTo>
                      <a:pt x="281" y="139"/>
                      <a:pt x="278" y="142"/>
                      <a:pt x="275" y="144"/>
                    </a:cubicBezTo>
                    <a:cubicBezTo>
                      <a:pt x="275" y="145"/>
                      <a:pt x="274" y="145"/>
                      <a:pt x="274" y="146"/>
                    </a:cubicBezTo>
                    <a:cubicBezTo>
                      <a:pt x="272" y="147"/>
                      <a:pt x="270" y="148"/>
                      <a:pt x="268" y="150"/>
                    </a:cubicBezTo>
                    <a:cubicBezTo>
                      <a:pt x="265" y="151"/>
                      <a:pt x="262" y="150"/>
                      <a:pt x="260" y="147"/>
                    </a:cubicBezTo>
                    <a:cubicBezTo>
                      <a:pt x="260" y="147"/>
                      <a:pt x="260" y="147"/>
                      <a:pt x="260" y="147"/>
                    </a:cubicBezTo>
                    <a:cubicBezTo>
                      <a:pt x="259" y="144"/>
                      <a:pt x="257" y="141"/>
                      <a:pt x="255" y="139"/>
                    </a:cubicBezTo>
                    <a:cubicBezTo>
                      <a:pt x="254" y="137"/>
                      <a:pt x="253" y="136"/>
                      <a:pt x="253" y="134"/>
                    </a:cubicBezTo>
                    <a:cubicBezTo>
                      <a:pt x="252" y="132"/>
                      <a:pt x="251" y="131"/>
                      <a:pt x="249" y="130"/>
                    </a:cubicBezTo>
                    <a:cubicBezTo>
                      <a:pt x="247" y="129"/>
                      <a:pt x="246" y="128"/>
                      <a:pt x="246" y="126"/>
                    </a:cubicBezTo>
                    <a:cubicBezTo>
                      <a:pt x="245" y="124"/>
                      <a:pt x="244" y="122"/>
                      <a:pt x="243" y="120"/>
                    </a:cubicBezTo>
                    <a:cubicBezTo>
                      <a:pt x="240" y="120"/>
                      <a:pt x="240" y="120"/>
                      <a:pt x="241" y="123"/>
                    </a:cubicBezTo>
                    <a:cubicBezTo>
                      <a:pt x="242" y="127"/>
                      <a:pt x="244" y="130"/>
                      <a:pt x="246" y="134"/>
                    </a:cubicBezTo>
                    <a:cubicBezTo>
                      <a:pt x="250" y="139"/>
                      <a:pt x="253" y="144"/>
                      <a:pt x="256" y="150"/>
                    </a:cubicBezTo>
                    <a:cubicBezTo>
                      <a:pt x="256" y="152"/>
                      <a:pt x="257" y="154"/>
                      <a:pt x="257" y="155"/>
                    </a:cubicBezTo>
                    <a:cubicBezTo>
                      <a:pt x="258" y="158"/>
                      <a:pt x="259" y="158"/>
                      <a:pt x="261" y="157"/>
                    </a:cubicBezTo>
                    <a:cubicBezTo>
                      <a:pt x="262" y="157"/>
                      <a:pt x="262" y="156"/>
                      <a:pt x="262" y="156"/>
                    </a:cubicBezTo>
                    <a:cubicBezTo>
                      <a:pt x="271" y="156"/>
                      <a:pt x="271" y="156"/>
                      <a:pt x="271" y="156"/>
                    </a:cubicBezTo>
                    <a:cubicBezTo>
                      <a:pt x="270" y="159"/>
                      <a:pt x="270" y="161"/>
                      <a:pt x="269" y="163"/>
                    </a:cubicBezTo>
                    <a:cubicBezTo>
                      <a:pt x="269" y="165"/>
                      <a:pt x="268" y="167"/>
                      <a:pt x="267" y="168"/>
                    </a:cubicBezTo>
                    <a:cubicBezTo>
                      <a:pt x="265" y="170"/>
                      <a:pt x="263" y="172"/>
                      <a:pt x="260" y="173"/>
                    </a:cubicBezTo>
                    <a:cubicBezTo>
                      <a:pt x="260" y="173"/>
                      <a:pt x="259" y="174"/>
                      <a:pt x="259" y="174"/>
                    </a:cubicBezTo>
                    <a:cubicBezTo>
                      <a:pt x="256" y="179"/>
                      <a:pt x="254" y="184"/>
                      <a:pt x="252" y="188"/>
                    </a:cubicBezTo>
                    <a:cubicBezTo>
                      <a:pt x="251" y="189"/>
                      <a:pt x="251" y="190"/>
                      <a:pt x="252" y="191"/>
                    </a:cubicBezTo>
                    <a:cubicBezTo>
                      <a:pt x="255" y="195"/>
                      <a:pt x="254" y="199"/>
                      <a:pt x="254" y="204"/>
                    </a:cubicBezTo>
                    <a:cubicBezTo>
                      <a:pt x="254" y="204"/>
                      <a:pt x="253" y="205"/>
                      <a:pt x="253" y="205"/>
                    </a:cubicBezTo>
                    <a:cubicBezTo>
                      <a:pt x="250" y="206"/>
                      <a:pt x="248" y="208"/>
                      <a:pt x="246" y="210"/>
                    </a:cubicBezTo>
                    <a:cubicBezTo>
                      <a:pt x="245" y="211"/>
                      <a:pt x="244" y="212"/>
                      <a:pt x="244" y="214"/>
                    </a:cubicBezTo>
                    <a:cubicBezTo>
                      <a:pt x="243" y="217"/>
                      <a:pt x="242" y="221"/>
                      <a:pt x="240" y="224"/>
                    </a:cubicBezTo>
                    <a:cubicBezTo>
                      <a:pt x="238" y="229"/>
                      <a:pt x="235" y="234"/>
                      <a:pt x="233" y="238"/>
                    </a:cubicBezTo>
                    <a:cubicBezTo>
                      <a:pt x="232" y="240"/>
                      <a:pt x="231" y="240"/>
                      <a:pt x="230" y="240"/>
                    </a:cubicBezTo>
                    <a:cubicBezTo>
                      <a:pt x="223" y="241"/>
                      <a:pt x="223" y="241"/>
                      <a:pt x="223" y="241"/>
                    </a:cubicBezTo>
                    <a:cubicBezTo>
                      <a:pt x="222" y="241"/>
                      <a:pt x="221" y="241"/>
                      <a:pt x="220" y="241"/>
                    </a:cubicBezTo>
                    <a:cubicBezTo>
                      <a:pt x="219" y="241"/>
                      <a:pt x="219" y="241"/>
                      <a:pt x="218" y="241"/>
                    </a:cubicBezTo>
                    <a:cubicBezTo>
                      <a:pt x="217" y="240"/>
                      <a:pt x="217" y="239"/>
                      <a:pt x="216" y="239"/>
                    </a:cubicBezTo>
                    <a:cubicBezTo>
                      <a:pt x="216" y="236"/>
                      <a:pt x="215" y="234"/>
                      <a:pt x="214" y="232"/>
                    </a:cubicBezTo>
                    <a:cubicBezTo>
                      <a:pt x="214" y="231"/>
                      <a:pt x="213" y="230"/>
                      <a:pt x="212" y="230"/>
                    </a:cubicBezTo>
                    <a:cubicBezTo>
                      <a:pt x="211" y="227"/>
                      <a:pt x="210" y="224"/>
                      <a:pt x="210" y="222"/>
                    </a:cubicBezTo>
                    <a:cubicBezTo>
                      <a:pt x="210" y="220"/>
                      <a:pt x="209" y="218"/>
                      <a:pt x="209" y="217"/>
                    </a:cubicBezTo>
                    <a:cubicBezTo>
                      <a:pt x="207" y="214"/>
                      <a:pt x="206" y="211"/>
                      <a:pt x="205" y="208"/>
                    </a:cubicBezTo>
                    <a:cubicBezTo>
                      <a:pt x="205" y="206"/>
                      <a:pt x="206" y="204"/>
                      <a:pt x="206" y="202"/>
                    </a:cubicBezTo>
                    <a:cubicBezTo>
                      <a:pt x="206" y="201"/>
                      <a:pt x="207" y="201"/>
                      <a:pt x="207" y="200"/>
                    </a:cubicBezTo>
                    <a:cubicBezTo>
                      <a:pt x="208" y="199"/>
                      <a:pt x="208" y="197"/>
                      <a:pt x="208" y="195"/>
                    </a:cubicBezTo>
                    <a:cubicBezTo>
                      <a:pt x="206" y="190"/>
                      <a:pt x="204" y="184"/>
                      <a:pt x="201" y="180"/>
                    </a:cubicBezTo>
                    <a:cubicBezTo>
                      <a:pt x="200" y="179"/>
                      <a:pt x="200" y="177"/>
                      <a:pt x="201" y="176"/>
                    </a:cubicBezTo>
                    <a:cubicBezTo>
                      <a:pt x="201" y="175"/>
                      <a:pt x="202" y="174"/>
                      <a:pt x="202" y="173"/>
                    </a:cubicBezTo>
                    <a:cubicBezTo>
                      <a:pt x="203" y="172"/>
                      <a:pt x="203" y="171"/>
                      <a:pt x="202" y="171"/>
                    </a:cubicBezTo>
                    <a:cubicBezTo>
                      <a:pt x="201" y="171"/>
                      <a:pt x="200" y="170"/>
                      <a:pt x="200" y="169"/>
                    </a:cubicBezTo>
                    <a:cubicBezTo>
                      <a:pt x="200" y="168"/>
                      <a:pt x="199" y="168"/>
                      <a:pt x="198" y="168"/>
                    </a:cubicBezTo>
                    <a:cubicBezTo>
                      <a:pt x="196" y="168"/>
                      <a:pt x="194" y="167"/>
                      <a:pt x="193" y="166"/>
                    </a:cubicBezTo>
                    <a:cubicBezTo>
                      <a:pt x="192" y="165"/>
                      <a:pt x="190" y="165"/>
                      <a:pt x="189" y="165"/>
                    </a:cubicBezTo>
                    <a:cubicBezTo>
                      <a:pt x="188" y="165"/>
                      <a:pt x="187" y="165"/>
                      <a:pt x="186" y="165"/>
                    </a:cubicBezTo>
                    <a:cubicBezTo>
                      <a:pt x="173" y="169"/>
                      <a:pt x="173" y="169"/>
                      <a:pt x="173" y="169"/>
                    </a:cubicBezTo>
                    <a:cubicBezTo>
                      <a:pt x="171" y="169"/>
                      <a:pt x="168" y="168"/>
                      <a:pt x="167" y="167"/>
                    </a:cubicBezTo>
                    <a:cubicBezTo>
                      <a:pt x="167" y="166"/>
                      <a:pt x="166" y="166"/>
                      <a:pt x="166" y="166"/>
                    </a:cubicBezTo>
                    <a:cubicBezTo>
                      <a:pt x="164" y="164"/>
                      <a:pt x="163" y="162"/>
                      <a:pt x="162" y="160"/>
                    </a:cubicBezTo>
                    <a:cubicBezTo>
                      <a:pt x="162" y="159"/>
                      <a:pt x="162" y="158"/>
                      <a:pt x="161" y="158"/>
                    </a:cubicBezTo>
                    <a:cubicBezTo>
                      <a:pt x="157" y="157"/>
                      <a:pt x="156" y="153"/>
                      <a:pt x="155" y="150"/>
                    </a:cubicBezTo>
                    <a:cubicBezTo>
                      <a:pt x="155" y="149"/>
                      <a:pt x="155" y="148"/>
                      <a:pt x="156" y="147"/>
                    </a:cubicBezTo>
                    <a:cubicBezTo>
                      <a:pt x="157" y="146"/>
                      <a:pt x="157" y="145"/>
                      <a:pt x="157" y="143"/>
                    </a:cubicBezTo>
                    <a:cubicBezTo>
                      <a:pt x="155" y="140"/>
                      <a:pt x="156" y="136"/>
                      <a:pt x="158" y="133"/>
                    </a:cubicBezTo>
                    <a:cubicBezTo>
                      <a:pt x="159" y="131"/>
                      <a:pt x="160" y="129"/>
                      <a:pt x="162" y="128"/>
                    </a:cubicBezTo>
                    <a:cubicBezTo>
                      <a:pt x="163" y="127"/>
                      <a:pt x="163" y="126"/>
                      <a:pt x="164" y="125"/>
                    </a:cubicBezTo>
                    <a:cubicBezTo>
                      <a:pt x="166" y="123"/>
                      <a:pt x="167" y="121"/>
                      <a:pt x="168" y="118"/>
                    </a:cubicBezTo>
                    <a:cubicBezTo>
                      <a:pt x="169" y="116"/>
                      <a:pt x="170" y="115"/>
                      <a:pt x="171" y="115"/>
                    </a:cubicBezTo>
                    <a:cubicBezTo>
                      <a:pt x="172" y="113"/>
                      <a:pt x="174" y="112"/>
                      <a:pt x="176" y="110"/>
                    </a:cubicBezTo>
                    <a:cubicBezTo>
                      <a:pt x="177" y="109"/>
                      <a:pt x="177" y="109"/>
                      <a:pt x="178" y="110"/>
                    </a:cubicBezTo>
                    <a:cubicBezTo>
                      <a:pt x="178" y="111"/>
                      <a:pt x="179" y="111"/>
                      <a:pt x="179" y="111"/>
                    </a:cubicBezTo>
                    <a:cubicBezTo>
                      <a:pt x="186" y="110"/>
                      <a:pt x="186" y="110"/>
                      <a:pt x="186" y="110"/>
                    </a:cubicBezTo>
                    <a:cubicBezTo>
                      <a:pt x="187" y="110"/>
                      <a:pt x="188" y="110"/>
                      <a:pt x="189" y="110"/>
                    </a:cubicBezTo>
                    <a:cubicBezTo>
                      <a:pt x="192" y="110"/>
                      <a:pt x="196" y="109"/>
                      <a:pt x="199" y="108"/>
                    </a:cubicBezTo>
                    <a:cubicBezTo>
                      <a:pt x="199" y="107"/>
                      <a:pt x="200" y="107"/>
                      <a:pt x="201" y="108"/>
                    </a:cubicBezTo>
                    <a:cubicBezTo>
                      <a:pt x="201" y="108"/>
                      <a:pt x="201" y="109"/>
                      <a:pt x="201" y="109"/>
                    </a:cubicBezTo>
                    <a:cubicBezTo>
                      <a:pt x="201" y="111"/>
                      <a:pt x="202" y="112"/>
                      <a:pt x="203" y="113"/>
                    </a:cubicBezTo>
                    <a:cubicBezTo>
                      <a:pt x="207" y="117"/>
                      <a:pt x="207" y="117"/>
                      <a:pt x="207" y="117"/>
                    </a:cubicBezTo>
                    <a:cubicBezTo>
                      <a:pt x="207" y="117"/>
                      <a:pt x="207" y="117"/>
                      <a:pt x="208" y="117"/>
                    </a:cubicBezTo>
                    <a:cubicBezTo>
                      <a:pt x="210" y="118"/>
                      <a:pt x="213" y="118"/>
                      <a:pt x="215" y="118"/>
                    </a:cubicBezTo>
                    <a:cubicBezTo>
                      <a:pt x="216" y="118"/>
                      <a:pt x="217" y="118"/>
                      <a:pt x="217" y="117"/>
                    </a:cubicBezTo>
                    <a:cubicBezTo>
                      <a:pt x="218" y="115"/>
                      <a:pt x="219" y="115"/>
                      <a:pt x="220" y="114"/>
                    </a:cubicBezTo>
                    <a:cubicBezTo>
                      <a:pt x="220" y="114"/>
                      <a:pt x="220" y="114"/>
                      <a:pt x="220" y="114"/>
                    </a:cubicBezTo>
                    <a:cubicBezTo>
                      <a:pt x="220" y="115"/>
                      <a:pt x="221" y="115"/>
                      <a:pt x="222" y="116"/>
                    </a:cubicBezTo>
                    <a:cubicBezTo>
                      <a:pt x="223" y="116"/>
                      <a:pt x="224" y="117"/>
                      <a:pt x="226" y="117"/>
                    </a:cubicBezTo>
                    <a:cubicBezTo>
                      <a:pt x="227" y="117"/>
                      <a:pt x="228" y="117"/>
                      <a:pt x="229" y="117"/>
                    </a:cubicBezTo>
                    <a:cubicBezTo>
                      <a:pt x="229" y="117"/>
                      <a:pt x="230" y="117"/>
                      <a:pt x="231" y="117"/>
                    </a:cubicBezTo>
                    <a:cubicBezTo>
                      <a:pt x="233" y="118"/>
                      <a:pt x="236" y="118"/>
                      <a:pt x="238" y="118"/>
                    </a:cubicBezTo>
                    <a:cubicBezTo>
                      <a:pt x="239" y="119"/>
                      <a:pt x="240" y="118"/>
                      <a:pt x="241" y="118"/>
                    </a:cubicBezTo>
                    <a:cubicBezTo>
                      <a:pt x="243" y="117"/>
                      <a:pt x="244" y="114"/>
                      <a:pt x="243" y="111"/>
                    </a:cubicBezTo>
                    <a:cubicBezTo>
                      <a:pt x="243" y="110"/>
                      <a:pt x="243" y="109"/>
                      <a:pt x="243" y="108"/>
                    </a:cubicBezTo>
                    <a:cubicBezTo>
                      <a:pt x="241" y="108"/>
                      <a:pt x="239" y="108"/>
                      <a:pt x="238" y="109"/>
                    </a:cubicBezTo>
                    <a:cubicBezTo>
                      <a:pt x="236" y="110"/>
                      <a:pt x="233" y="110"/>
                      <a:pt x="232" y="108"/>
                    </a:cubicBezTo>
                    <a:cubicBezTo>
                      <a:pt x="229" y="106"/>
                      <a:pt x="228" y="104"/>
                      <a:pt x="227" y="101"/>
                    </a:cubicBezTo>
                    <a:cubicBezTo>
                      <a:pt x="229" y="102"/>
                      <a:pt x="230" y="101"/>
                      <a:pt x="231" y="99"/>
                    </a:cubicBezTo>
                    <a:cubicBezTo>
                      <a:pt x="228" y="99"/>
                      <a:pt x="225" y="100"/>
                      <a:pt x="223" y="101"/>
                    </a:cubicBezTo>
                    <a:cubicBezTo>
                      <a:pt x="222" y="101"/>
                      <a:pt x="221" y="102"/>
                      <a:pt x="221" y="103"/>
                    </a:cubicBezTo>
                    <a:cubicBezTo>
                      <a:pt x="222" y="103"/>
                      <a:pt x="222" y="103"/>
                      <a:pt x="222" y="103"/>
                    </a:cubicBezTo>
                    <a:cubicBezTo>
                      <a:pt x="222" y="104"/>
                      <a:pt x="222" y="104"/>
                      <a:pt x="222" y="104"/>
                    </a:cubicBezTo>
                    <a:cubicBezTo>
                      <a:pt x="222" y="105"/>
                      <a:pt x="222" y="106"/>
                      <a:pt x="221" y="106"/>
                    </a:cubicBezTo>
                    <a:cubicBezTo>
                      <a:pt x="221" y="106"/>
                      <a:pt x="220" y="106"/>
                      <a:pt x="219" y="105"/>
                    </a:cubicBezTo>
                    <a:cubicBezTo>
                      <a:pt x="219" y="104"/>
                      <a:pt x="218" y="103"/>
                      <a:pt x="217" y="103"/>
                    </a:cubicBezTo>
                    <a:cubicBezTo>
                      <a:pt x="217" y="103"/>
                      <a:pt x="217" y="102"/>
                      <a:pt x="217" y="102"/>
                    </a:cubicBezTo>
                    <a:cubicBezTo>
                      <a:pt x="217" y="100"/>
                      <a:pt x="215" y="98"/>
                      <a:pt x="214" y="96"/>
                    </a:cubicBezTo>
                    <a:cubicBezTo>
                      <a:pt x="213" y="96"/>
                      <a:pt x="213" y="96"/>
                      <a:pt x="212" y="96"/>
                    </a:cubicBezTo>
                    <a:cubicBezTo>
                      <a:pt x="210" y="96"/>
                      <a:pt x="209" y="95"/>
                      <a:pt x="208" y="93"/>
                    </a:cubicBezTo>
                    <a:cubicBezTo>
                      <a:pt x="207" y="93"/>
                      <a:pt x="207" y="92"/>
                      <a:pt x="206" y="92"/>
                    </a:cubicBezTo>
                    <a:cubicBezTo>
                      <a:pt x="205" y="91"/>
                      <a:pt x="204" y="91"/>
                      <a:pt x="204" y="92"/>
                    </a:cubicBezTo>
                    <a:cubicBezTo>
                      <a:pt x="203" y="93"/>
                      <a:pt x="203" y="94"/>
                      <a:pt x="203" y="95"/>
                    </a:cubicBezTo>
                    <a:cubicBezTo>
                      <a:pt x="203" y="95"/>
                      <a:pt x="203" y="95"/>
                      <a:pt x="204" y="95"/>
                    </a:cubicBezTo>
                    <a:cubicBezTo>
                      <a:pt x="205" y="97"/>
                      <a:pt x="207" y="98"/>
                      <a:pt x="209" y="99"/>
                    </a:cubicBezTo>
                    <a:cubicBezTo>
                      <a:pt x="210" y="100"/>
                      <a:pt x="211" y="101"/>
                      <a:pt x="212" y="102"/>
                    </a:cubicBezTo>
                    <a:cubicBezTo>
                      <a:pt x="210" y="104"/>
                      <a:pt x="207" y="103"/>
                      <a:pt x="206" y="101"/>
                    </a:cubicBezTo>
                    <a:cubicBezTo>
                      <a:pt x="205" y="101"/>
                      <a:pt x="205" y="101"/>
                      <a:pt x="205" y="100"/>
                    </a:cubicBezTo>
                    <a:cubicBezTo>
                      <a:pt x="205" y="100"/>
                      <a:pt x="204" y="99"/>
                      <a:pt x="203" y="98"/>
                    </a:cubicBezTo>
                    <a:cubicBezTo>
                      <a:pt x="202" y="97"/>
                      <a:pt x="201" y="96"/>
                      <a:pt x="200" y="94"/>
                    </a:cubicBezTo>
                    <a:cubicBezTo>
                      <a:pt x="198" y="93"/>
                      <a:pt x="195" y="93"/>
                      <a:pt x="195" y="96"/>
                    </a:cubicBezTo>
                    <a:cubicBezTo>
                      <a:pt x="195" y="96"/>
                      <a:pt x="195" y="96"/>
                      <a:pt x="195" y="97"/>
                    </a:cubicBezTo>
                    <a:cubicBezTo>
                      <a:pt x="193" y="96"/>
                      <a:pt x="193" y="96"/>
                      <a:pt x="193" y="96"/>
                    </a:cubicBezTo>
                    <a:cubicBezTo>
                      <a:pt x="192" y="96"/>
                      <a:pt x="189" y="96"/>
                      <a:pt x="188" y="98"/>
                    </a:cubicBezTo>
                    <a:cubicBezTo>
                      <a:pt x="188" y="99"/>
                      <a:pt x="187" y="99"/>
                      <a:pt x="187" y="100"/>
                    </a:cubicBezTo>
                    <a:cubicBezTo>
                      <a:pt x="187" y="100"/>
                      <a:pt x="186" y="101"/>
                      <a:pt x="186" y="101"/>
                    </a:cubicBezTo>
                    <a:cubicBezTo>
                      <a:pt x="185" y="104"/>
                      <a:pt x="184" y="106"/>
                      <a:pt x="181" y="106"/>
                    </a:cubicBezTo>
                    <a:cubicBezTo>
                      <a:pt x="178" y="107"/>
                      <a:pt x="175" y="107"/>
                      <a:pt x="172" y="107"/>
                    </a:cubicBezTo>
                    <a:cubicBezTo>
                      <a:pt x="171" y="107"/>
                      <a:pt x="171" y="106"/>
                      <a:pt x="171" y="106"/>
                    </a:cubicBezTo>
                    <a:cubicBezTo>
                      <a:pt x="170" y="103"/>
                      <a:pt x="170" y="101"/>
                      <a:pt x="171" y="99"/>
                    </a:cubicBezTo>
                    <a:cubicBezTo>
                      <a:pt x="171" y="97"/>
                      <a:pt x="173" y="95"/>
                      <a:pt x="175" y="96"/>
                    </a:cubicBezTo>
                    <a:cubicBezTo>
                      <a:pt x="182" y="96"/>
                      <a:pt x="182" y="96"/>
                      <a:pt x="182" y="96"/>
                    </a:cubicBezTo>
                    <a:cubicBezTo>
                      <a:pt x="183" y="96"/>
                      <a:pt x="183" y="95"/>
                      <a:pt x="183" y="94"/>
                    </a:cubicBezTo>
                    <a:cubicBezTo>
                      <a:pt x="183" y="94"/>
                      <a:pt x="183" y="94"/>
                      <a:pt x="183" y="93"/>
                    </a:cubicBezTo>
                    <a:cubicBezTo>
                      <a:pt x="184" y="91"/>
                      <a:pt x="183" y="90"/>
                      <a:pt x="181" y="89"/>
                    </a:cubicBezTo>
                    <a:cubicBezTo>
                      <a:pt x="180" y="89"/>
                      <a:pt x="180" y="88"/>
                      <a:pt x="179" y="88"/>
                    </a:cubicBezTo>
                    <a:cubicBezTo>
                      <a:pt x="178" y="88"/>
                      <a:pt x="178" y="87"/>
                      <a:pt x="178" y="87"/>
                    </a:cubicBezTo>
                    <a:cubicBezTo>
                      <a:pt x="178" y="87"/>
                      <a:pt x="179" y="86"/>
                      <a:pt x="179" y="86"/>
                    </a:cubicBezTo>
                    <a:cubicBezTo>
                      <a:pt x="180" y="86"/>
                      <a:pt x="181" y="86"/>
                      <a:pt x="181" y="86"/>
                    </a:cubicBezTo>
                    <a:cubicBezTo>
                      <a:pt x="185" y="86"/>
                      <a:pt x="188" y="84"/>
                      <a:pt x="189" y="81"/>
                    </a:cubicBezTo>
                    <a:cubicBezTo>
                      <a:pt x="190" y="79"/>
                      <a:pt x="192" y="78"/>
                      <a:pt x="194" y="77"/>
                    </a:cubicBezTo>
                    <a:cubicBezTo>
                      <a:pt x="197" y="77"/>
                      <a:pt x="197" y="76"/>
                      <a:pt x="198" y="73"/>
                    </a:cubicBezTo>
                    <a:cubicBezTo>
                      <a:pt x="198" y="72"/>
                      <a:pt x="198" y="71"/>
                      <a:pt x="199" y="71"/>
                    </a:cubicBezTo>
                    <a:cubicBezTo>
                      <a:pt x="199" y="71"/>
                      <a:pt x="199" y="71"/>
                      <a:pt x="199" y="71"/>
                    </a:cubicBezTo>
                    <a:cubicBezTo>
                      <a:pt x="200" y="72"/>
                      <a:pt x="200" y="73"/>
                      <a:pt x="201" y="74"/>
                    </a:cubicBezTo>
                    <a:cubicBezTo>
                      <a:pt x="201" y="75"/>
                      <a:pt x="202" y="76"/>
                      <a:pt x="203" y="76"/>
                    </a:cubicBezTo>
                    <a:cubicBezTo>
                      <a:pt x="204" y="76"/>
                      <a:pt x="205" y="76"/>
                      <a:pt x="206" y="76"/>
                    </a:cubicBezTo>
                    <a:cubicBezTo>
                      <a:pt x="208" y="76"/>
                      <a:pt x="210" y="76"/>
                      <a:pt x="212" y="75"/>
                    </a:cubicBezTo>
                    <a:cubicBezTo>
                      <a:pt x="213" y="75"/>
                      <a:pt x="214" y="75"/>
                      <a:pt x="214" y="74"/>
                    </a:cubicBezTo>
                    <a:cubicBezTo>
                      <a:pt x="214" y="73"/>
                      <a:pt x="215" y="73"/>
                      <a:pt x="216" y="72"/>
                    </a:cubicBezTo>
                    <a:cubicBezTo>
                      <a:pt x="216" y="71"/>
                      <a:pt x="217" y="71"/>
                      <a:pt x="217" y="70"/>
                    </a:cubicBezTo>
                    <a:cubicBezTo>
                      <a:pt x="218" y="68"/>
                      <a:pt x="219" y="67"/>
                      <a:pt x="221" y="67"/>
                    </a:cubicBezTo>
                    <a:cubicBezTo>
                      <a:pt x="221" y="68"/>
                      <a:pt x="222" y="68"/>
                      <a:pt x="222" y="68"/>
                    </a:cubicBezTo>
                    <a:cubicBezTo>
                      <a:pt x="223" y="69"/>
                      <a:pt x="223" y="70"/>
                      <a:pt x="223" y="71"/>
                    </a:cubicBezTo>
                    <a:cubicBezTo>
                      <a:pt x="225" y="69"/>
                      <a:pt x="226" y="66"/>
                      <a:pt x="225" y="63"/>
                    </a:cubicBezTo>
                    <a:cubicBezTo>
                      <a:pt x="225" y="63"/>
                      <a:pt x="224" y="64"/>
                      <a:pt x="223" y="64"/>
                    </a:cubicBezTo>
                    <a:cubicBezTo>
                      <a:pt x="222" y="64"/>
                      <a:pt x="221" y="64"/>
                      <a:pt x="219" y="64"/>
                    </a:cubicBezTo>
                    <a:cubicBezTo>
                      <a:pt x="216" y="63"/>
                      <a:pt x="215" y="61"/>
                      <a:pt x="217" y="59"/>
                    </a:cubicBezTo>
                    <a:cubicBezTo>
                      <a:pt x="218" y="58"/>
                      <a:pt x="219" y="56"/>
                      <a:pt x="218" y="55"/>
                    </a:cubicBezTo>
                    <a:cubicBezTo>
                      <a:pt x="217" y="54"/>
                      <a:pt x="216" y="56"/>
                      <a:pt x="215" y="56"/>
                    </a:cubicBezTo>
                    <a:cubicBezTo>
                      <a:pt x="213" y="58"/>
                      <a:pt x="211" y="61"/>
                      <a:pt x="210" y="63"/>
                    </a:cubicBezTo>
                    <a:cubicBezTo>
                      <a:pt x="210" y="66"/>
                      <a:pt x="209" y="68"/>
                      <a:pt x="208" y="70"/>
                    </a:cubicBezTo>
                    <a:cubicBezTo>
                      <a:pt x="207" y="71"/>
                      <a:pt x="205" y="71"/>
                      <a:pt x="204" y="71"/>
                    </a:cubicBezTo>
                    <a:cubicBezTo>
                      <a:pt x="204" y="71"/>
                      <a:pt x="203" y="70"/>
                      <a:pt x="203" y="70"/>
                    </a:cubicBezTo>
                    <a:cubicBezTo>
                      <a:pt x="202" y="69"/>
                      <a:pt x="202" y="68"/>
                      <a:pt x="201" y="68"/>
                    </a:cubicBezTo>
                    <a:cubicBezTo>
                      <a:pt x="201" y="68"/>
                      <a:pt x="201" y="68"/>
                      <a:pt x="201" y="68"/>
                    </a:cubicBezTo>
                    <a:cubicBezTo>
                      <a:pt x="194" y="69"/>
                      <a:pt x="194" y="69"/>
                      <a:pt x="194" y="69"/>
                    </a:cubicBezTo>
                    <a:cubicBezTo>
                      <a:pt x="194" y="68"/>
                      <a:pt x="194" y="68"/>
                      <a:pt x="194" y="68"/>
                    </a:cubicBezTo>
                    <a:cubicBezTo>
                      <a:pt x="193" y="62"/>
                      <a:pt x="192" y="63"/>
                      <a:pt x="197" y="61"/>
                    </a:cubicBezTo>
                    <a:cubicBezTo>
                      <a:pt x="199" y="60"/>
                      <a:pt x="200" y="59"/>
                      <a:pt x="201" y="58"/>
                    </a:cubicBezTo>
                    <a:cubicBezTo>
                      <a:pt x="205" y="55"/>
                      <a:pt x="205" y="55"/>
                      <a:pt x="205" y="55"/>
                    </a:cubicBezTo>
                    <a:cubicBezTo>
                      <a:pt x="205" y="55"/>
                      <a:pt x="205" y="55"/>
                      <a:pt x="205" y="54"/>
                    </a:cubicBezTo>
                    <a:cubicBezTo>
                      <a:pt x="209" y="50"/>
                      <a:pt x="214" y="49"/>
                      <a:pt x="219" y="48"/>
                    </a:cubicBezTo>
                    <a:cubicBezTo>
                      <a:pt x="223" y="48"/>
                      <a:pt x="228" y="49"/>
                      <a:pt x="232" y="51"/>
                    </a:cubicBezTo>
                    <a:cubicBezTo>
                      <a:pt x="239" y="53"/>
                      <a:pt x="239" y="53"/>
                      <a:pt x="239" y="53"/>
                    </a:cubicBezTo>
                    <a:cubicBezTo>
                      <a:pt x="236" y="56"/>
                      <a:pt x="233" y="53"/>
                      <a:pt x="230" y="53"/>
                    </a:cubicBezTo>
                    <a:cubicBezTo>
                      <a:pt x="230" y="53"/>
                      <a:pt x="230" y="54"/>
                      <a:pt x="230" y="54"/>
                    </a:cubicBezTo>
                    <a:cubicBezTo>
                      <a:pt x="232" y="55"/>
                      <a:pt x="233" y="57"/>
                      <a:pt x="235" y="59"/>
                    </a:cubicBezTo>
                    <a:cubicBezTo>
                      <a:pt x="236" y="59"/>
                      <a:pt x="238" y="59"/>
                      <a:pt x="239" y="58"/>
                    </a:cubicBezTo>
                    <a:cubicBezTo>
                      <a:pt x="239" y="57"/>
                      <a:pt x="239" y="57"/>
                      <a:pt x="239" y="57"/>
                    </a:cubicBezTo>
                    <a:cubicBezTo>
                      <a:pt x="239" y="56"/>
                      <a:pt x="239" y="55"/>
                      <a:pt x="241" y="55"/>
                    </a:cubicBezTo>
                    <a:cubicBezTo>
                      <a:pt x="242" y="55"/>
                      <a:pt x="243" y="55"/>
                      <a:pt x="244" y="53"/>
                    </a:cubicBezTo>
                    <a:cubicBezTo>
                      <a:pt x="244" y="52"/>
                      <a:pt x="245" y="52"/>
                      <a:pt x="246" y="52"/>
                    </a:cubicBezTo>
                    <a:cubicBezTo>
                      <a:pt x="246" y="53"/>
                      <a:pt x="246" y="54"/>
                      <a:pt x="248" y="54"/>
                    </a:cubicBezTo>
                    <a:cubicBezTo>
                      <a:pt x="248" y="53"/>
                      <a:pt x="249" y="53"/>
                      <a:pt x="249" y="53"/>
                    </a:cubicBezTo>
                    <a:cubicBezTo>
                      <a:pt x="250" y="52"/>
                      <a:pt x="252" y="52"/>
                      <a:pt x="254" y="52"/>
                    </a:cubicBezTo>
                    <a:cubicBezTo>
                      <a:pt x="256" y="52"/>
                      <a:pt x="259" y="51"/>
                      <a:pt x="261" y="50"/>
                    </a:cubicBezTo>
                    <a:cubicBezTo>
                      <a:pt x="263" y="50"/>
                      <a:pt x="264" y="50"/>
                      <a:pt x="265" y="51"/>
                    </a:cubicBezTo>
                    <a:cubicBezTo>
                      <a:pt x="275" y="62"/>
                      <a:pt x="283" y="73"/>
                      <a:pt x="290" y="86"/>
                    </a:cubicBezTo>
                    <a:cubicBezTo>
                      <a:pt x="298" y="101"/>
                      <a:pt x="304" y="117"/>
                      <a:pt x="306" y="134"/>
                    </a:cubicBezTo>
                    <a:cubicBezTo>
                      <a:pt x="306" y="134"/>
                      <a:pt x="306" y="134"/>
                      <a:pt x="306" y="134"/>
                    </a:cubicBezTo>
                    <a:cubicBezTo>
                      <a:pt x="302" y="135"/>
                      <a:pt x="301" y="132"/>
                      <a:pt x="299" y="130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1" name="işlïḓê">
                <a:extLst>
                  <a:ext uri="{FF2B5EF4-FFF2-40B4-BE49-F238E27FC236}">
                    <a16:creationId xmlns:a16="http://schemas.microsoft.com/office/drawing/2014/main" id="{705E29FD-53B7-CE07-7C49-6B65446BAE6F}"/>
                  </a:ext>
                </a:extLst>
              </p:cNvPr>
              <p:cNvSpPr/>
              <p:nvPr/>
            </p:nvSpPr>
            <p:spPr bwMode="auto">
              <a:xfrm>
                <a:off x="5869750" y="2730974"/>
                <a:ext cx="637153" cy="813689"/>
              </a:xfrm>
              <a:custGeom>
                <a:avLst/>
                <a:gdLst>
                  <a:gd name="T0" fmla="*/ 116 w 151"/>
                  <a:gd name="T1" fmla="*/ 74 h 193"/>
                  <a:gd name="T2" fmla="*/ 116 w 151"/>
                  <a:gd name="T3" fmla="*/ 83 h 193"/>
                  <a:gd name="T4" fmla="*/ 129 w 151"/>
                  <a:gd name="T5" fmla="*/ 89 h 193"/>
                  <a:gd name="T6" fmla="*/ 105 w 151"/>
                  <a:gd name="T7" fmla="*/ 99 h 193"/>
                  <a:gd name="T8" fmla="*/ 94 w 151"/>
                  <a:gd name="T9" fmla="*/ 82 h 193"/>
                  <a:gd name="T10" fmla="*/ 91 w 151"/>
                  <a:gd name="T11" fmla="*/ 85 h 193"/>
                  <a:gd name="T12" fmla="*/ 107 w 151"/>
                  <a:gd name="T13" fmla="*/ 108 h 193"/>
                  <a:gd name="T14" fmla="*/ 105 w 151"/>
                  <a:gd name="T15" fmla="*/ 125 h 193"/>
                  <a:gd name="T16" fmla="*/ 99 w 151"/>
                  <a:gd name="T17" fmla="*/ 155 h 193"/>
                  <a:gd name="T18" fmla="*/ 85 w 151"/>
                  <a:gd name="T19" fmla="*/ 176 h 193"/>
                  <a:gd name="T20" fmla="*/ 64 w 151"/>
                  <a:gd name="T21" fmla="*/ 193 h 193"/>
                  <a:gd name="T22" fmla="*/ 57 w 151"/>
                  <a:gd name="T23" fmla="*/ 181 h 193"/>
                  <a:gd name="T24" fmla="*/ 51 w 151"/>
                  <a:gd name="T25" fmla="*/ 154 h 193"/>
                  <a:gd name="T26" fmla="*/ 45 w 151"/>
                  <a:gd name="T27" fmla="*/ 128 h 193"/>
                  <a:gd name="T28" fmla="*/ 43 w 151"/>
                  <a:gd name="T29" fmla="*/ 120 h 193"/>
                  <a:gd name="T30" fmla="*/ 18 w 151"/>
                  <a:gd name="T31" fmla="*/ 120 h 193"/>
                  <a:gd name="T32" fmla="*/ 6 w 151"/>
                  <a:gd name="T33" fmla="*/ 110 h 193"/>
                  <a:gd name="T34" fmla="*/ 2 w 151"/>
                  <a:gd name="T35" fmla="*/ 85 h 193"/>
                  <a:gd name="T36" fmla="*/ 16 w 151"/>
                  <a:gd name="T37" fmla="*/ 66 h 193"/>
                  <a:gd name="T38" fmla="*/ 31 w 151"/>
                  <a:gd name="T39" fmla="*/ 62 h 193"/>
                  <a:gd name="T40" fmla="*/ 46 w 151"/>
                  <a:gd name="T41" fmla="*/ 61 h 193"/>
                  <a:gd name="T42" fmla="*/ 60 w 151"/>
                  <a:gd name="T43" fmla="*/ 70 h 193"/>
                  <a:gd name="T44" fmla="*/ 67 w 151"/>
                  <a:gd name="T45" fmla="*/ 67 h 193"/>
                  <a:gd name="T46" fmla="*/ 83 w 151"/>
                  <a:gd name="T47" fmla="*/ 70 h 193"/>
                  <a:gd name="T48" fmla="*/ 83 w 151"/>
                  <a:gd name="T49" fmla="*/ 60 h 193"/>
                  <a:gd name="T50" fmla="*/ 68 w 151"/>
                  <a:gd name="T51" fmla="*/ 53 h 193"/>
                  <a:gd name="T52" fmla="*/ 67 w 151"/>
                  <a:gd name="T53" fmla="*/ 58 h 193"/>
                  <a:gd name="T54" fmla="*/ 59 w 151"/>
                  <a:gd name="T55" fmla="*/ 48 h 193"/>
                  <a:gd name="T56" fmla="*/ 49 w 151"/>
                  <a:gd name="T57" fmla="*/ 44 h 193"/>
                  <a:gd name="T58" fmla="*/ 57 w 151"/>
                  <a:gd name="T59" fmla="*/ 54 h 193"/>
                  <a:gd name="T60" fmla="*/ 45 w 151"/>
                  <a:gd name="T61" fmla="*/ 46 h 193"/>
                  <a:gd name="T62" fmla="*/ 34 w 151"/>
                  <a:gd name="T63" fmla="*/ 50 h 193"/>
                  <a:gd name="T64" fmla="*/ 17 w 151"/>
                  <a:gd name="T65" fmla="*/ 59 h 193"/>
                  <a:gd name="T66" fmla="*/ 27 w 151"/>
                  <a:gd name="T67" fmla="*/ 47 h 193"/>
                  <a:gd name="T68" fmla="*/ 24 w 151"/>
                  <a:gd name="T69" fmla="*/ 40 h 193"/>
                  <a:gd name="T70" fmla="*/ 35 w 151"/>
                  <a:gd name="T71" fmla="*/ 33 h 193"/>
                  <a:gd name="T72" fmla="*/ 44 w 151"/>
                  <a:gd name="T73" fmla="*/ 23 h 193"/>
                  <a:gd name="T74" fmla="*/ 57 w 151"/>
                  <a:gd name="T75" fmla="*/ 27 h 193"/>
                  <a:gd name="T76" fmla="*/ 66 w 151"/>
                  <a:gd name="T77" fmla="*/ 19 h 193"/>
                  <a:gd name="T78" fmla="*/ 68 w 151"/>
                  <a:gd name="T79" fmla="*/ 16 h 193"/>
                  <a:gd name="T80" fmla="*/ 60 w 151"/>
                  <a:gd name="T81" fmla="*/ 8 h 193"/>
                  <a:gd name="T82" fmla="*/ 48 w 151"/>
                  <a:gd name="T83" fmla="*/ 22 h 193"/>
                  <a:gd name="T84" fmla="*/ 39 w 151"/>
                  <a:gd name="T85" fmla="*/ 19 h 193"/>
                  <a:gd name="T86" fmla="*/ 50 w 151"/>
                  <a:gd name="T87" fmla="*/ 6 h 193"/>
                  <a:gd name="T88" fmla="*/ 75 w 151"/>
                  <a:gd name="T89" fmla="*/ 5 h 193"/>
                  <a:gd name="T90" fmla="*/ 85 w 151"/>
                  <a:gd name="T91" fmla="*/ 7 h 193"/>
                  <a:gd name="T92" fmla="*/ 94 w 151"/>
                  <a:gd name="T93" fmla="*/ 5 h 193"/>
                  <a:gd name="T94" fmla="*/ 135 w 151"/>
                  <a:gd name="T95" fmla="*/ 38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51" h="193">
                    <a:moveTo>
                      <a:pt x="151" y="86"/>
                    </a:moveTo>
                    <a:cubicBezTo>
                      <a:pt x="147" y="87"/>
                      <a:pt x="146" y="84"/>
                      <a:pt x="144" y="82"/>
                    </a:cubicBezTo>
                    <a:cubicBezTo>
                      <a:pt x="143" y="81"/>
                      <a:pt x="141" y="80"/>
                      <a:pt x="140" y="80"/>
                    </a:cubicBezTo>
                    <a:cubicBezTo>
                      <a:pt x="131" y="80"/>
                      <a:pt x="123" y="78"/>
                      <a:pt x="116" y="74"/>
                    </a:cubicBezTo>
                    <a:cubicBezTo>
                      <a:pt x="114" y="72"/>
                      <a:pt x="111" y="72"/>
                      <a:pt x="108" y="71"/>
                    </a:cubicBezTo>
                    <a:cubicBezTo>
                      <a:pt x="108" y="72"/>
                      <a:pt x="109" y="72"/>
                      <a:pt x="109" y="72"/>
                    </a:cubicBezTo>
                    <a:cubicBezTo>
                      <a:pt x="108" y="76"/>
                      <a:pt x="111" y="78"/>
                      <a:pt x="113" y="80"/>
                    </a:cubicBezTo>
                    <a:cubicBezTo>
                      <a:pt x="114" y="81"/>
                      <a:pt x="115" y="82"/>
                      <a:pt x="116" y="83"/>
                    </a:cubicBezTo>
                    <a:cubicBezTo>
                      <a:pt x="122" y="81"/>
                      <a:pt x="122" y="81"/>
                      <a:pt x="122" y="81"/>
                    </a:cubicBezTo>
                    <a:cubicBezTo>
                      <a:pt x="124" y="81"/>
                      <a:pt x="125" y="81"/>
                      <a:pt x="126" y="83"/>
                    </a:cubicBezTo>
                    <a:cubicBezTo>
                      <a:pt x="127" y="84"/>
                      <a:pt x="128" y="85"/>
                      <a:pt x="130" y="86"/>
                    </a:cubicBezTo>
                    <a:cubicBezTo>
                      <a:pt x="131" y="88"/>
                      <a:pt x="130" y="88"/>
                      <a:pt x="129" y="89"/>
                    </a:cubicBezTo>
                    <a:cubicBezTo>
                      <a:pt x="126" y="91"/>
                      <a:pt x="122" y="93"/>
                      <a:pt x="120" y="96"/>
                    </a:cubicBezTo>
                    <a:cubicBezTo>
                      <a:pt x="119" y="97"/>
                      <a:pt x="119" y="97"/>
                      <a:pt x="119" y="97"/>
                    </a:cubicBezTo>
                    <a:cubicBezTo>
                      <a:pt x="117" y="99"/>
                      <a:pt x="115" y="100"/>
                      <a:pt x="113" y="101"/>
                    </a:cubicBezTo>
                    <a:cubicBezTo>
                      <a:pt x="110" y="103"/>
                      <a:pt x="106" y="102"/>
                      <a:pt x="105" y="99"/>
                    </a:cubicBezTo>
                    <a:cubicBezTo>
                      <a:pt x="105" y="99"/>
                      <a:pt x="105" y="99"/>
                      <a:pt x="105" y="99"/>
                    </a:cubicBezTo>
                    <a:cubicBezTo>
                      <a:pt x="104" y="96"/>
                      <a:pt x="102" y="93"/>
                      <a:pt x="100" y="91"/>
                    </a:cubicBezTo>
                    <a:cubicBezTo>
                      <a:pt x="99" y="89"/>
                      <a:pt x="98" y="88"/>
                      <a:pt x="98" y="86"/>
                    </a:cubicBezTo>
                    <a:cubicBezTo>
                      <a:pt x="97" y="84"/>
                      <a:pt x="96" y="82"/>
                      <a:pt x="94" y="82"/>
                    </a:cubicBezTo>
                    <a:cubicBezTo>
                      <a:pt x="92" y="81"/>
                      <a:pt x="91" y="80"/>
                      <a:pt x="90" y="78"/>
                    </a:cubicBezTo>
                    <a:cubicBezTo>
                      <a:pt x="90" y="76"/>
                      <a:pt x="88" y="74"/>
                      <a:pt x="87" y="71"/>
                    </a:cubicBezTo>
                    <a:cubicBezTo>
                      <a:pt x="85" y="72"/>
                      <a:pt x="85" y="72"/>
                      <a:pt x="86" y="74"/>
                    </a:cubicBezTo>
                    <a:cubicBezTo>
                      <a:pt x="87" y="78"/>
                      <a:pt x="89" y="82"/>
                      <a:pt x="91" y="85"/>
                    </a:cubicBezTo>
                    <a:cubicBezTo>
                      <a:pt x="95" y="91"/>
                      <a:pt x="98" y="96"/>
                      <a:pt x="100" y="102"/>
                    </a:cubicBezTo>
                    <a:cubicBezTo>
                      <a:pt x="101" y="104"/>
                      <a:pt x="101" y="105"/>
                      <a:pt x="102" y="107"/>
                    </a:cubicBezTo>
                    <a:cubicBezTo>
                      <a:pt x="103" y="109"/>
                      <a:pt x="104" y="110"/>
                      <a:pt x="106" y="108"/>
                    </a:cubicBezTo>
                    <a:cubicBezTo>
                      <a:pt x="106" y="108"/>
                      <a:pt x="107" y="108"/>
                      <a:pt x="107" y="108"/>
                    </a:cubicBezTo>
                    <a:cubicBezTo>
                      <a:pt x="116" y="108"/>
                      <a:pt x="116" y="108"/>
                      <a:pt x="116" y="108"/>
                    </a:cubicBezTo>
                    <a:cubicBezTo>
                      <a:pt x="115" y="110"/>
                      <a:pt x="115" y="113"/>
                      <a:pt x="114" y="115"/>
                    </a:cubicBezTo>
                    <a:cubicBezTo>
                      <a:pt x="114" y="117"/>
                      <a:pt x="113" y="119"/>
                      <a:pt x="111" y="120"/>
                    </a:cubicBezTo>
                    <a:cubicBezTo>
                      <a:pt x="109" y="122"/>
                      <a:pt x="107" y="123"/>
                      <a:pt x="105" y="125"/>
                    </a:cubicBezTo>
                    <a:cubicBezTo>
                      <a:pt x="105" y="125"/>
                      <a:pt x="104" y="126"/>
                      <a:pt x="104" y="126"/>
                    </a:cubicBezTo>
                    <a:cubicBezTo>
                      <a:pt x="101" y="131"/>
                      <a:pt x="99" y="135"/>
                      <a:pt x="96" y="140"/>
                    </a:cubicBezTo>
                    <a:cubicBezTo>
                      <a:pt x="96" y="141"/>
                      <a:pt x="96" y="142"/>
                      <a:pt x="96" y="143"/>
                    </a:cubicBezTo>
                    <a:cubicBezTo>
                      <a:pt x="100" y="147"/>
                      <a:pt x="99" y="151"/>
                      <a:pt x="99" y="155"/>
                    </a:cubicBezTo>
                    <a:cubicBezTo>
                      <a:pt x="99" y="156"/>
                      <a:pt x="98" y="156"/>
                      <a:pt x="98" y="157"/>
                    </a:cubicBezTo>
                    <a:cubicBezTo>
                      <a:pt x="95" y="158"/>
                      <a:pt x="92" y="160"/>
                      <a:pt x="90" y="162"/>
                    </a:cubicBezTo>
                    <a:cubicBezTo>
                      <a:pt x="90" y="163"/>
                      <a:pt x="89" y="164"/>
                      <a:pt x="89" y="165"/>
                    </a:cubicBezTo>
                    <a:cubicBezTo>
                      <a:pt x="88" y="169"/>
                      <a:pt x="87" y="173"/>
                      <a:pt x="85" y="176"/>
                    </a:cubicBezTo>
                    <a:cubicBezTo>
                      <a:pt x="83" y="181"/>
                      <a:pt x="80" y="185"/>
                      <a:pt x="78" y="190"/>
                    </a:cubicBezTo>
                    <a:cubicBezTo>
                      <a:pt x="77" y="191"/>
                      <a:pt x="76" y="192"/>
                      <a:pt x="75" y="192"/>
                    </a:cubicBezTo>
                    <a:cubicBezTo>
                      <a:pt x="73" y="192"/>
                      <a:pt x="70" y="192"/>
                      <a:pt x="68" y="193"/>
                    </a:cubicBezTo>
                    <a:cubicBezTo>
                      <a:pt x="67" y="193"/>
                      <a:pt x="65" y="193"/>
                      <a:pt x="64" y="193"/>
                    </a:cubicBezTo>
                    <a:cubicBezTo>
                      <a:pt x="64" y="193"/>
                      <a:pt x="63" y="193"/>
                      <a:pt x="63" y="193"/>
                    </a:cubicBezTo>
                    <a:cubicBezTo>
                      <a:pt x="62" y="192"/>
                      <a:pt x="61" y="191"/>
                      <a:pt x="61" y="190"/>
                    </a:cubicBezTo>
                    <a:cubicBezTo>
                      <a:pt x="61" y="188"/>
                      <a:pt x="60" y="186"/>
                      <a:pt x="59" y="183"/>
                    </a:cubicBezTo>
                    <a:cubicBezTo>
                      <a:pt x="58" y="183"/>
                      <a:pt x="58" y="182"/>
                      <a:pt x="57" y="181"/>
                    </a:cubicBezTo>
                    <a:cubicBezTo>
                      <a:pt x="56" y="179"/>
                      <a:pt x="55" y="176"/>
                      <a:pt x="55" y="173"/>
                    </a:cubicBezTo>
                    <a:cubicBezTo>
                      <a:pt x="55" y="172"/>
                      <a:pt x="54" y="170"/>
                      <a:pt x="53" y="169"/>
                    </a:cubicBezTo>
                    <a:cubicBezTo>
                      <a:pt x="51" y="166"/>
                      <a:pt x="50" y="163"/>
                      <a:pt x="50" y="160"/>
                    </a:cubicBezTo>
                    <a:cubicBezTo>
                      <a:pt x="50" y="158"/>
                      <a:pt x="50" y="156"/>
                      <a:pt x="51" y="154"/>
                    </a:cubicBezTo>
                    <a:cubicBezTo>
                      <a:pt x="51" y="153"/>
                      <a:pt x="52" y="153"/>
                      <a:pt x="52" y="152"/>
                    </a:cubicBezTo>
                    <a:cubicBezTo>
                      <a:pt x="53" y="150"/>
                      <a:pt x="53" y="149"/>
                      <a:pt x="52" y="147"/>
                    </a:cubicBezTo>
                    <a:cubicBezTo>
                      <a:pt x="51" y="142"/>
                      <a:pt x="49" y="136"/>
                      <a:pt x="45" y="132"/>
                    </a:cubicBezTo>
                    <a:cubicBezTo>
                      <a:pt x="45" y="131"/>
                      <a:pt x="45" y="129"/>
                      <a:pt x="45" y="128"/>
                    </a:cubicBezTo>
                    <a:cubicBezTo>
                      <a:pt x="46" y="127"/>
                      <a:pt x="47" y="126"/>
                      <a:pt x="47" y="125"/>
                    </a:cubicBezTo>
                    <a:cubicBezTo>
                      <a:pt x="48" y="124"/>
                      <a:pt x="48" y="123"/>
                      <a:pt x="47" y="123"/>
                    </a:cubicBezTo>
                    <a:cubicBezTo>
                      <a:pt x="46" y="122"/>
                      <a:pt x="45" y="122"/>
                      <a:pt x="45" y="120"/>
                    </a:cubicBezTo>
                    <a:cubicBezTo>
                      <a:pt x="44" y="120"/>
                      <a:pt x="44" y="120"/>
                      <a:pt x="43" y="120"/>
                    </a:cubicBezTo>
                    <a:cubicBezTo>
                      <a:pt x="41" y="120"/>
                      <a:pt x="39" y="119"/>
                      <a:pt x="37" y="118"/>
                    </a:cubicBezTo>
                    <a:cubicBezTo>
                      <a:pt x="36" y="117"/>
                      <a:pt x="35" y="117"/>
                      <a:pt x="34" y="117"/>
                    </a:cubicBezTo>
                    <a:cubicBezTo>
                      <a:pt x="33" y="117"/>
                      <a:pt x="32" y="117"/>
                      <a:pt x="31" y="117"/>
                    </a:cubicBezTo>
                    <a:cubicBezTo>
                      <a:pt x="18" y="120"/>
                      <a:pt x="18" y="120"/>
                      <a:pt x="18" y="120"/>
                    </a:cubicBezTo>
                    <a:cubicBezTo>
                      <a:pt x="16" y="121"/>
                      <a:pt x="13" y="120"/>
                      <a:pt x="12" y="119"/>
                    </a:cubicBezTo>
                    <a:cubicBezTo>
                      <a:pt x="11" y="118"/>
                      <a:pt x="11" y="118"/>
                      <a:pt x="11" y="117"/>
                    </a:cubicBezTo>
                    <a:cubicBezTo>
                      <a:pt x="9" y="116"/>
                      <a:pt x="7" y="114"/>
                      <a:pt x="7" y="112"/>
                    </a:cubicBezTo>
                    <a:cubicBezTo>
                      <a:pt x="7" y="111"/>
                      <a:pt x="7" y="110"/>
                      <a:pt x="6" y="110"/>
                    </a:cubicBezTo>
                    <a:cubicBezTo>
                      <a:pt x="2" y="108"/>
                      <a:pt x="1" y="105"/>
                      <a:pt x="0" y="102"/>
                    </a:cubicBezTo>
                    <a:cubicBezTo>
                      <a:pt x="0" y="101"/>
                      <a:pt x="0" y="100"/>
                      <a:pt x="1" y="99"/>
                    </a:cubicBezTo>
                    <a:cubicBezTo>
                      <a:pt x="2" y="98"/>
                      <a:pt x="2" y="97"/>
                      <a:pt x="1" y="95"/>
                    </a:cubicBezTo>
                    <a:cubicBezTo>
                      <a:pt x="0" y="92"/>
                      <a:pt x="0" y="88"/>
                      <a:pt x="2" y="85"/>
                    </a:cubicBezTo>
                    <a:cubicBezTo>
                      <a:pt x="3" y="83"/>
                      <a:pt x="5" y="81"/>
                      <a:pt x="7" y="80"/>
                    </a:cubicBezTo>
                    <a:cubicBezTo>
                      <a:pt x="8" y="79"/>
                      <a:pt x="8" y="78"/>
                      <a:pt x="9" y="77"/>
                    </a:cubicBezTo>
                    <a:cubicBezTo>
                      <a:pt x="11" y="75"/>
                      <a:pt x="12" y="72"/>
                      <a:pt x="13" y="70"/>
                    </a:cubicBezTo>
                    <a:cubicBezTo>
                      <a:pt x="14" y="68"/>
                      <a:pt x="15" y="67"/>
                      <a:pt x="16" y="66"/>
                    </a:cubicBezTo>
                    <a:cubicBezTo>
                      <a:pt x="17" y="65"/>
                      <a:pt x="19" y="64"/>
                      <a:pt x="21" y="62"/>
                    </a:cubicBezTo>
                    <a:cubicBezTo>
                      <a:pt x="21" y="61"/>
                      <a:pt x="22" y="61"/>
                      <a:pt x="23" y="62"/>
                    </a:cubicBezTo>
                    <a:cubicBezTo>
                      <a:pt x="23" y="63"/>
                      <a:pt x="23" y="63"/>
                      <a:pt x="24" y="63"/>
                    </a:cubicBezTo>
                    <a:cubicBezTo>
                      <a:pt x="26" y="63"/>
                      <a:pt x="29" y="62"/>
                      <a:pt x="31" y="62"/>
                    </a:cubicBezTo>
                    <a:cubicBezTo>
                      <a:pt x="32" y="62"/>
                      <a:pt x="33" y="62"/>
                      <a:pt x="33" y="62"/>
                    </a:cubicBezTo>
                    <a:cubicBezTo>
                      <a:pt x="37" y="62"/>
                      <a:pt x="40" y="61"/>
                      <a:pt x="44" y="59"/>
                    </a:cubicBezTo>
                    <a:cubicBezTo>
                      <a:pt x="44" y="59"/>
                      <a:pt x="45" y="59"/>
                      <a:pt x="46" y="59"/>
                    </a:cubicBezTo>
                    <a:cubicBezTo>
                      <a:pt x="46" y="59"/>
                      <a:pt x="46" y="61"/>
                      <a:pt x="46" y="61"/>
                    </a:cubicBezTo>
                    <a:cubicBezTo>
                      <a:pt x="46" y="63"/>
                      <a:pt x="47" y="64"/>
                      <a:pt x="48" y="65"/>
                    </a:cubicBezTo>
                    <a:cubicBezTo>
                      <a:pt x="49" y="67"/>
                      <a:pt x="51" y="68"/>
                      <a:pt x="52" y="69"/>
                    </a:cubicBezTo>
                    <a:cubicBezTo>
                      <a:pt x="52" y="69"/>
                      <a:pt x="52" y="69"/>
                      <a:pt x="53" y="69"/>
                    </a:cubicBezTo>
                    <a:cubicBezTo>
                      <a:pt x="55" y="70"/>
                      <a:pt x="57" y="70"/>
                      <a:pt x="60" y="70"/>
                    </a:cubicBezTo>
                    <a:cubicBezTo>
                      <a:pt x="61" y="70"/>
                      <a:pt x="62" y="70"/>
                      <a:pt x="62" y="68"/>
                    </a:cubicBezTo>
                    <a:cubicBezTo>
                      <a:pt x="63" y="67"/>
                      <a:pt x="64" y="67"/>
                      <a:pt x="65" y="66"/>
                    </a:cubicBezTo>
                    <a:cubicBezTo>
                      <a:pt x="65" y="66"/>
                      <a:pt x="65" y="66"/>
                      <a:pt x="65" y="66"/>
                    </a:cubicBezTo>
                    <a:cubicBezTo>
                      <a:pt x="66" y="67"/>
                      <a:pt x="66" y="67"/>
                      <a:pt x="67" y="67"/>
                    </a:cubicBezTo>
                    <a:cubicBezTo>
                      <a:pt x="68" y="68"/>
                      <a:pt x="69" y="69"/>
                      <a:pt x="71" y="69"/>
                    </a:cubicBezTo>
                    <a:cubicBezTo>
                      <a:pt x="72" y="69"/>
                      <a:pt x="73" y="69"/>
                      <a:pt x="74" y="69"/>
                    </a:cubicBezTo>
                    <a:cubicBezTo>
                      <a:pt x="74" y="69"/>
                      <a:pt x="75" y="69"/>
                      <a:pt x="76" y="69"/>
                    </a:cubicBezTo>
                    <a:cubicBezTo>
                      <a:pt x="78" y="70"/>
                      <a:pt x="81" y="70"/>
                      <a:pt x="83" y="70"/>
                    </a:cubicBezTo>
                    <a:cubicBezTo>
                      <a:pt x="84" y="71"/>
                      <a:pt x="85" y="70"/>
                      <a:pt x="86" y="70"/>
                    </a:cubicBezTo>
                    <a:cubicBezTo>
                      <a:pt x="88" y="68"/>
                      <a:pt x="89" y="66"/>
                      <a:pt x="88" y="63"/>
                    </a:cubicBezTo>
                    <a:cubicBezTo>
                      <a:pt x="88" y="62"/>
                      <a:pt x="88" y="61"/>
                      <a:pt x="88" y="60"/>
                    </a:cubicBezTo>
                    <a:cubicBezTo>
                      <a:pt x="86" y="59"/>
                      <a:pt x="84" y="60"/>
                      <a:pt x="83" y="60"/>
                    </a:cubicBezTo>
                    <a:cubicBezTo>
                      <a:pt x="81" y="62"/>
                      <a:pt x="79" y="61"/>
                      <a:pt x="77" y="60"/>
                    </a:cubicBezTo>
                    <a:cubicBezTo>
                      <a:pt x="74" y="58"/>
                      <a:pt x="73" y="56"/>
                      <a:pt x="72" y="53"/>
                    </a:cubicBezTo>
                    <a:cubicBezTo>
                      <a:pt x="74" y="54"/>
                      <a:pt x="75" y="53"/>
                      <a:pt x="76" y="51"/>
                    </a:cubicBezTo>
                    <a:cubicBezTo>
                      <a:pt x="73" y="51"/>
                      <a:pt x="71" y="52"/>
                      <a:pt x="68" y="53"/>
                    </a:cubicBezTo>
                    <a:cubicBezTo>
                      <a:pt x="67" y="53"/>
                      <a:pt x="66" y="54"/>
                      <a:pt x="67" y="55"/>
                    </a:cubicBezTo>
                    <a:cubicBezTo>
                      <a:pt x="67" y="55"/>
                      <a:pt x="67" y="55"/>
                      <a:pt x="67" y="55"/>
                    </a:cubicBezTo>
                    <a:cubicBezTo>
                      <a:pt x="67" y="56"/>
                      <a:pt x="67" y="56"/>
                      <a:pt x="67" y="56"/>
                    </a:cubicBezTo>
                    <a:cubicBezTo>
                      <a:pt x="67" y="57"/>
                      <a:pt x="67" y="58"/>
                      <a:pt x="67" y="58"/>
                    </a:cubicBezTo>
                    <a:cubicBezTo>
                      <a:pt x="66" y="58"/>
                      <a:pt x="65" y="58"/>
                      <a:pt x="64" y="57"/>
                    </a:cubicBezTo>
                    <a:cubicBezTo>
                      <a:pt x="64" y="57"/>
                      <a:pt x="64" y="55"/>
                      <a:pt x="62" y="55"/>
                    </a:cubicBezTo>
                    <a:cubicBezTo>
                      <a:pt x="62" y="55"/>
                      <a:pt x="62" y="54"/>
                      <a:pt x="62" y="54"/>
                    </a:cubicBezTo>
                    <a:cubicBezTo>
                      <a:pt x="62" y="52"/>
                      <a:pt x="60" y="50"/>
                      <a:pt x="59" y="48"/>
                    </a:cubicBezTo>
                    <a:cubicBezTo>
                      <a:pt x="59" y="48"/>
                      <a:pt x="58" y="48"/>
                      <a:pt x="57" y="48"/>
                    </a:cubicBezTo>
                    <a:cubicBezTo>
                      <a:pt x="55" y="48"/>
                      <a:pt x="54" y="47"/>
                      <a:pt x="53" y="45"/>
                    </a:cubicBezTo>
                    <a:cubicBezTo>
                      <a:pt x="52" y="45"/>
                      <a:pt x="52" y="44"/>
                      <a:pt x="51" y="44"/>
                    </a:cubicBezTo>
                    <a:cubicBezTo>
                      <a:pt x="50" y="43"/>
                      <a:pt x="49" y="43"/>
                      <a:pt x="49" y="44"/>
                    </a:cubicBezTo>
                    <a:cubicBezTo>
                      <a:pt x="48" y="45"/>
                      <a:pt x="48" y="46"/>
                      <a:pt x="48" y="47"/>
                    </a:cubicBezTo>
                    <a:cubicBezTo>
                      <a:pt x="48" y="47"/>
                      <a:pt x="48" y="47"/>
                      <a:pt x="49" y="47"/>
                    </a:cubicBezTo>
                    <a:cubicBezTo>
                      <a:pt x="50" y="49"/>
                      <a:pt x="52" y="50"/>
                      <a:pt x="54" y="51"/>
                    </a:cubicBezTo>
                    <a:cubicBezTo>
                      <a:pt x="55" y="51"/>
                      <a:pt x="56" y="53"/>
                      <a:pt x="57" y="54"/>
                    </a:cubicBezTo>
                    <a:cubicBezTo>
                      <a:pt x="55" y="55"/>
                      <a:pt x="52" y="55"/>
                      <a:pt x="51" y="53"/>
                    </a:cubicBezTo>
                    <a:cubicBezTo>
                      <a:pt x="50" y="53"/>
                      <a:pt x="50" y="53"/>
                      <a:pt x="50" y="52"/>
                    </a:cubicBezTo>
                    <a:cubicBezTo>
                      <a:pt x="50" y="51"/>
                      <a:pt x="49" y="51"/>
                      <a:pt x="48" y="50"/>
                    </a:cubicBezTo>
                    <a:cubicBezTo>
                      <a:pt x="47" y="49"/>
                      <a:pt x="46" y="48"/>
                      <a:pt x="45" y="46"/>
                    </a:cubicBezTo>
                    <a:cubicBezTo>
                      <a:pt x="43" y="45"/>
                      <a:pt x="40" y="45"/>
                      <a:pt x="40" y="48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39" y="48"/>
                      <a:pt x="39" y="48"/>
                      <a:pt x="39" y="48"/>
                    </a:cubicBezTo>
                    <a:cubicBezTo>
                      <a:pt x="37" y="47"/>
                      <a:pt x="34" y="48"/>
                      <a:pt x="34" y="50"/>
                    </a:cubicBezTo>
                    <a:cubicBezTo>
                      <a:pt x="33" y="51"/>
                      <a:pt x="33" y="51"/>
                      <a:pt x="32" y="52"/>
                    </a:cubicBezTo>
                    <a:cubicBezTo>
                      <a:pt x="32" y="52"/>
                      <a:pt x="31" y="53"/>
                      <a:pt x="31" y="53"/>
                    </a:cubicBezTo>
                    <a:cubicBezTo>
                      <a:pt x="30" y="56"/>
                      <a:pt x="29" y="57"/>
                      <a:pt x="26" y="58"/>
                    </a:cubicBezTo>
                    <a:cubicBezTo>
                      <a:pt x="23" y="58"/>
                      <a:pt x="20" y="59"/>
                      <a:pt x="17" y="59"/>
                    </a:cubicBezTo>
                    <a:cubicBezTo>
                      <a:pt x="16" y="59"/>
                      <a:pt x="16" y="58"/>
                      <a:pt x="16" y="57"/>
                    </a:cubicBezTo>
                    <a:cubicBezTo>
                      <a:pt x="15" y="55"/>
                      <a:pt x="15" y="53"/>
                      <a:pt x="16" y="51"/>
                    </a:cubicBezTo>
                    <a:cubicBezTo>
                      <a:pt x="16" y="49"/>
                      <a:pt x="18" y="47"/>
                      <a:pt x="20" y="47"/>
                    </a:cubicBezTo>
                    <a:cubicBezTo>
                      <a:pt x="22" y="47"/>
                      <a:pt x="25" y="47"/>
                      <a:pt x="27" y="47"/>
                    </a:cubicBezTo>
                    <a:cubicBezTo>
                      <a:pt x="28" y="47"/>
                      <a:pt x="28" y="47"/>
                      <a:pt x="28" y="46"/>
                    </a:cubicBezTo>
                    <a:cubicBezTo>
                      <a:pt x="28" y="46"/>
                      <a:pt x="28" y="45"/>
                      <a:pt x="28" y="45"/>
                    </a:cubicBezTo>
                    <a:cubicBezTo>
                      <a:pt x="29" y="43"/>
                      <a:pt x="28" y="42"/>
                      <a:pt x="26" y="41"/>
                    </a:cubicBezTo>
                    <a:cubicBezTo>
                      <a:pt x="25" y="40"/>
                      <a:pt x="25" y="40"/>
                      <a:pt x="24" y="40"/>
                    </a:cubicBezTo>
                    <a:cubicBezTo>
                      <a:pt x="23" y="39"/>
                      <a:pt x="23" y="39"/>
                      <a:pt x="23" y="39"/>
                    </a:cubicBezTo>
                    <a:cubicBezTo>
                      <a:pt x="23" y="39"/>
                      <a:pt x="24" y="38"/>
                      <a:pt x="24" y="38"/>
                    </a:cubicBezTo>
                    <a:cubicBezTo>
                      <a:pt x="25" y="38"/>
                      <a:pt x="26" y="38"/>
                      <a:pt x="27" y="38"/>
                    </a:cubicBezTo>
                    <a:cubicBezTo>
                      <a:pt x="30" y="38"/>
                      <a:pt x="33" y="36"/>
                      <a:pt x="35" y="33"/>
                    </a:cubicBezTo>
                    <a:cubicBezTo>
                      <a:pt x="35" y="31"/>
                      <a:pt x="37" y="29"/>
                      <a:pt x="39" y="29"/>
                    </a:cubicBezTo>
                    <a:cubicBezTo>
                      <a:pt x="42" y="29"/>
                      <a:pt x="42" y="28"/>
                      <a:pt x="43" y="25"/>
                    </a:cubicBezTo>
                    <a:cubicBezTo>
                      <a:pt x="43" y="24"/>
                      <a:pt x="43" y="23"/>
                      <a:pt x="44" y="23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45" y="24"/>
                      <a:pt x="45" y="25"/>
                      <a:pt x="46" y="26"/>
                    </a:cubicBezTo>
                    <a:cubicBezTo>
                      <a:pt x="46" y="27"/>
                      <a:pt x="47" y="28"/>
                      <a:pt x="48" y="28"/>
                    </a:cubicBezTo>
                    <a:cubicBezTo>
                      <a:pt x="49" y="28"/>
                      <a:pt x="50" y="28"/>
                      <a:pt x="51" y="28"/>
                    </a:cubicBezTo>
                    <a:cubicBezTo>
                      <a:pt x="53" y="28"/>
                      <a:pt x="55" y="28"/>
                      <a:pt x="57" y="27"/>
                    </a:cubicBezTo>
                    <a:cubicBezTo>
                      <a:pt x="58" y="27"/>
                      <a:pt x="59" y="27"/>
                      <a:pt x="59" y="26"/>
                    </a:cubicBezTo>
                    <a:cubicBezTo>
                      <a:pt x="59" y="25"/>
                      <a:pt x="60" y="25"/>
                      <a:pt x="61" y="24"/>
                    </a:cubicBezTo>
                    <a:cubicBezTo>
                      <a:pt x="61" y="23"/>
                      <a:pt x="62" y="23"/>
                      <a:pt x="62" y="22"/>
                    </a:cubicBezTo>
                    <a:cubicBezTo>
                      <a:pt x="62" y="20"/>
                      <a:pt x="64" y="19"/>
                      <a:pt x="66" y="19"/>
                    </a:cubicBezTo>
                    <a:cubicBezTo>
                      <a:pt x="66" y="19"/>
                      <a:pt x="67" y="20"/>
                      <a:pt x="67" y="20"/>
                    </a:cubicBezTo>
                    <a:cubicBezTo>
                      <a:pt x="68" y="21"/>
                      <a:pt x="68" y="22"/>
                      <a:pt x="68" y="23"/>
                    </a:cubicBezTo>
                    <a:cubicBezTo>
                      <a:pt x="70" y="21"/>
                      <a:pt x="71" y="18"/>
                      <a:pt x="70" y="15"/>
                    </a:cubicBezTo>
                    <a:cubicBezTo>
                      <a:pt x="70" y="15"/>
                      <a:pt x="69" y="15"/>
                      <a:pt x="68" y="16"/>
                    </a:cubicBezTo>
                    <a:cubicBezTo>
                      <a:pt x="67" y="16"/>
                      <a:pt x="66" y="16"/>
                      <a:pt x="64" y="16"/>
                    </a:cubicBezTo>
                    <a:cubicBezTo>
                      <a:pt x="61" y="15"/>
                      <a:pt x="60" y="13"/>
                      <a:pt x="62" y="10"/>
                    </a:cubicBezTo>
                    <a:cubicBezTo>
                      <a:pt x="63" y="10"/>
                      <a:pt x="64" y="7"/>
                      <a:pt x="63" y="7"/>
                    </a:cubicBezTo>
                    <a:cubicBezTo>
                      <a:pt x="62" y="6"/>
                      <a:pt x="61" y="8"/>
                      <a:pt x="60" y="8"/>
                    </a:cubicBezTo>
                    <a:cubicBezTo>
                      <a:pt x="58" y="10"/>
                      <a:pt x="56" y="12"/>
                      <a:pt x="56" y="15"/>
                    </a:cubicBezTo>
                    <a:cubicBezTo>
                      <a:pt x="55" y="18"/>
                      <a:pt x="54" y="20"/>
                      <a:pt x="53" y="22"/>
                    </a:cubicBezTo>
                    <a:cubicBezTo>
                      <a:pt x="52" y="23"/>
                      <a:pt x="50" y="23"/>
                      <a:pt x="49" y="23"/>
                    </a:cubicBezTo>
                    <a:cubicBezTo>
                      <a:pt x="49" y="23"/>
                      <a:pt x="48" y="22"/>
                      <a:pt x="48" y="22"/>
                    </a:cubicBezTo>
                    <a:cubicBezTo>
                      <a:pt x="47" y="21"/>
                      <a:pt x="47" y="20"/>
                      <a:pt x="46" y="20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39" y="20"/>
                      <a:pt x="39" y="20"/>
                      <a:pt x="39" y="19"/>
                    </a:cubicBezTo>
                    <a:cubicBezTo>
                      <a:pt x="38" y="14"/>
                      <a:pt x="37" y="15"/>
                      <a:pt x="42" y="13"/>
                    </a:cubicBezTo>
                    <a:cubicBezTo>
                      <a:pt x="44" y="12"/>
                      <a:pt x="45" y="11"/>
                      <a:pt x="46" y="10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50" y="7"/>
                      <a:pt x="50" y="7"/>
                      <a:pt x="50" y="6"/>
                    </a:cubicBezTo>
                    <a:cubicBezTo>
                      <a:pt x="54" y="2"/>
                      <a:pt x="59" y="1"/>
                      <a:pt x="64" y="0"/>
                    </a:cubicBezTo>
                    <a:cubicBezTo>
                      <a:pt x="68" y="0"/>
                      <a:pt x="73" y="1"/>
                      <a:pt x="77" y="3"/>
                    </a:cubicBezTo>
                    <a:cubicBezTo>
                      <a:pt x="79" y="3"/>
                      <a:pt x="81" y="4"/>
                      <a:pt x="84" y="5"/>
                    </a:cubicBezTo>
                    <a:cubicBezTo>
                      <a:pt x="81" y="7"/>
                      <a:pt x="78" y="5"/>
                      <a:pt x="75" y="5"/>
                    </a:cubicBezTo>
                    <a:cubicBezTo>
                      <a:pt x="75" y="6"/>
                      <a:pt x="75" y="6"/>
                      <a:pt x="75" y="6"/>
                    </a:cubicBezTo>
                    <a:cubicBezTo>
                      <a:pt x="77" y="7"/>
                      <a:pt x="78" y="9"/>
                      <a:pt x="80" y="10"/>
                    </a:cubicBezTo>
                    <a:cubicBezTo>
                      <a:pt x="81" y="11"/>
                      <a:pt x="83" y="10"/>
                      <a:pt x="84" y="9"/>
                    </a:cubicBezTo>
                    <a:cubicBezTo>
                      <a:pt x="84" y="7"/>
                      <a:pt x="84" y="7"/>
                      <a:pt x="85" y="7"/>
                    </a:cubicBezTo>
                    <a:cubicBezTo>
                      <a:pt x="87" y="7"/>
                      <a:pt x="88" y="6"/>
                      <a:pt x="89" y="5"/>
                    </a:cubicBezTo>
                    <a:cubicBezTo>
                      <a:pt x="89" y="4"/>
                      <a:pt x="90" y="4"/>
                      <a:pt x="91" y="4"/>
                    </a:cubicBezTo>
                    <a:cubicBezTo>
                      <a:pt x="91" y="5"/>
                      <a:pt x="91" y="6"/>
                      <a:pt x="93" y="5"/>
                    </a:cubicBezTo>
                    <a:cubicBezTo>
                      <a:pt x="93" y="5"/>
                      <a:pt x="94" y="5"/>
                      <a:pt x="94" y="5"/>
                    </a:cubicBezTo>
                    <a:cubicBezTo>
                      <a:pt x="95" y="4"/>
                      <a:pt x="97" y="4"/>
                      <a:pt x="99" y="4"/>
                    </a:cubicBezTo>
                    <a:cubicBezTo>
                      <a:pt x="101" y="4"/>
                      <a:pt x="104" y="3"/>
                      <a:pt x="106" y="2"/>
                    </a:cubicBezTo>
                    <a:cubicBezTo>
                      <a:pt x="107" y="2"/>
                      <a:pt x="109" y="2"/>
                      <a:pt x="110" y="3"/>
                    </a:cubicBezTo>
                    <a:cubicBezTo>
                      <a:pt x="120" y="13"/>
                      <a:pt x="128" y="25"/>
                      <a:pt x="135" y="38"/>
                    </a:cubicBezTo>
                    <a:cubicBezTo>
                      <a:pt x="143" y="53"/>
                      <a:pt x="148" y="69"/>
                      <a:pt x="151" y="8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2" name="ïṧlïďe">
                <a:extLst>
                  <a:ext uri="{FF2B5EF4-FFF2-40B4-BE49-F238E27FC236}">
                    <a16:creationId xmlns:a16="http://schemas.microsoft.com/office/drawing/2014/main" id="{C0DE4A74-82AC-4913-0B89-C40F4D26661E}"/>
                  </a:ext>
                </a:extLst>
              </p:cNvPr>
              <p:cNvSpPr/>
              <p:nvPr/>
            </p:nvSpPr>
            <p:spPr bwMode="auto">
              <a:xfrm>
                <a:off x="5242744" y="2706624"/>
                <a:ext cx="497142" cy="1002400"/>
              </a:xfrm>
              <a:custGeom>
                <a:avLst/>
                <a:gdLst>
                  <a:gd name="T0" fmla="*/ 64 w 118"/>
                  <a:gd name="T1" fmla="*/ 37 h 238"/>
                  <a:gd name="T2" fmla="*/ 81 w 118"/>
                  <a:gd name="T3" fmla="*/ 21 h 238"/>
                  <a:gd name="T4" fmla="*/ 92 w 118"/>
                  <a:gd name="T5" fmla="*/ 23 h 238"/>
                  <a:gd name="T6" fmla="*/ 97 w 118"/>
                  <a:gd name="T7" fmla="*/ 35 h 238"/>
                  <a:gd name="T8" fmla="*/ 81 w 118"/>
                  <a:gd name="T9" fmla="*/ 41 h 238"/>
                  <a:gd name="T10" fmla="*/ 74 w 118"/>
                  <a:gd name="T11" fmla="*/ 45 h 238"/>
                  <a:gd name="T12" fmla="*/ 85 w 118"/>
                  <a:gd name="T13" fmla="*/ 49 h 238"/>
                  <a:gd name="T14" fmla="*/ 76 w 118"/>
                  <a:gd name="T15" fmla="*/ 49 h 238"/>
                  <a:gd name="T16" fmla="*/ 62 w 118"/>
                  <a:gd name="T17" fmla="*/ 60 h 238"/>
                  <a:gd name="T18" fmla="*/ 55 w 118"/>
                  <a:gd name="T19" fmla="*/ 64 h 238"/>
                  <a:gd name="T20" fmla="*/ 44 w 118"/>
                  <a:gd name="T21" fmla="*/ 82 h 238"/>
                  <a:gd name="T22" fmla="*/ 41 w 118"/>
                  <a:gd name="T23" fmla="*/ 86 h 238"/>
                  <a:gd name="T24" fmla="*/ 38 w 118"/>
                  <a:gd name="T25" fmla="*/ 78 h 238"/>
                  <a:gd name="T26" fmla="*/ 36 w 118"/>
                  <a:gd name="T27" fmla="*/ 79 h 238"/>
                  <a:gd name="T28" fmla="*/ 28 w 118"/>
                  <a:gd name="T29" fmla="*/ 82 h 238"/>
                  <a:gd name="T30" fmla="*/ 19 w 118"/>
                  <a:gd name="T31" fmla="*/ 82 h 238"/>
                  <a:gd name="T32" fmla="*/ 14 w 118"/>
                  <a:gd name="T33" fmla="*/ 93 h 238"/>
                  <a:gd name="T34" fmla="*/ 25 w 118"/>
                  <a:gd name="T35" fmla="*/ 97 h 238"/>
                  <a:gd name="T36" fmla="*/ 29 w 118"/>
                  <a:gd name="T37" fmla="*/ 98 h 238"/>
                  <a:gd name="T38" fmla="*/ 33 w 118"/>
                  <a:gd name="T39" fmla="*/ 106 h 238"/>
                  <a:gd name="T40" fmla="*/ 35 w 118"/>
                  <a:gd name="T41" fmla="*/ 114 h 238"/>
                  <a:gd name="T42" fmla="*/ 43 w 118"/>
                  <a:gd name="T43" fmla="*/ 117 h 238"/>
                  <a:gd name="T44" fmla="*/ 53 w 118"/>
                  <a:gd name="T45" fmla="*/ 113 h 238"/>
                  <a:gd name="T46" fmla="*/ 54 w 118"/>
                  <a:gd name="T47" fmla="*/ 117 h 238"/>
                  <a:gd name="T48" fmla="*/ 60 w 118"/>
                  <a:gd name="T49" fmla="*/ 113 h 238"/>
                  <a:gd name="T50" fmla="*/ 85 w 118"/>
                  <a:gd name="T51" fmla="*/ 124 h 238"/>
                  <a:gd name="T52" fmla="*/ 91 w 118"/>
                  <a:gd name="T53" fmla="*/ 134 h 238"/>
                  <a:gd name="T54" fmla="*/ 90 w 118"/>
                  <a:gd name="T55" fmla="*/ 136 h 238"/>
                  <a:gd name="T56" fmla="*/ 93 w 118"/>
                  <a:gd name="T57" fmla="*/ 137 h 238"/>
                  <a:gd name="T58" fmla="*/ 95 w 118"/>
                  <a:gd name="T59" fmla="*/ 138 h 238"/>
                  <a:gd name="T60" fmla="*/ 101 w 118"/>
                  <a:gd name="T61" fmla="*/ 138 h 238"/>
                  <a:gd name="T62" fmla="*/ 116 w 118"/>
                  <a:gd name="T63" fmla="*/ 143 h 238"/>
                  <a:gd name="T64" fmla="*/ 113 w 118"/>
                  <a:gd name="T65" fmla="*/ 158 h 238"/>
                  <a:gd name="T66" fmla="*/ 109 w 118"/>
                  <a:gd name="T67" fmla="*/ 175 h 238"/>
                  <a:gd name="T68" fmla="*/ 98 w 118"/>
                  <a:gd name="T69" fmla="*/ 182 h 238"/>
                  <a:gd name="T70" fmla="*/ 91 w 118"/>
                  <a:gd name="T71" fmla="*/ 197 h 238"/>
                  <a:gd name="T72" fmla="*/ 85 w 118"/>
                  <a:gd name="T73" fmla="*/ 206 h 238"/>
                  <a:gd name="T74" fmla="*/ 78 w 118"/>
                  <a:gd name="T75" fmla="*/ 218 h 238"/>
                  <a:gd name="T76" fmla="*/ 79 w 118"/>
                  <a:gd name="T77" fmla="*/ 231 h 238"/>
                  <a:gd name="T78" fmla="*/ 83 w 118"/>
                  <a:gd name="T79" fmla="*/ 237 h 238"/>
                  <a:gd name="T80" fmla="*/ 75 w 118"/>
                  <a:gd name="T81" fmla="*/ 233 h 238"/>
                  <a:gd name="T82" fmla="*/ 64 w 118"/>
                  <a:gd name="T83" fmla="*/ 213 h 238"/>
                  <a:gd name="T84" fmla="*/ 61 w 118"/>
                  <a:gd name="T85" fmla="*/ 191 h 238"/>
                  <a:gd name="T86" fmla="*/ 54 w 118"/>
                  <a:gd name="T87" fmla="*/ 167 h 238"/>
                  <a:gd name="T88" fmla="*/ 43 w 118"/>
                  <a:gd name="T89" fmla="*/ 152 h 238"/>
                  <a:gd name="T90" fmla="*/ 40 w 118"/>
                  <a:gd name="T91" fmla="*/ 142 h 238"/>
                  <a:gd name="T92" fmla="*/ 45 w 118"/>
                  <a:gd name="T93" fmla="*/ 127 h 238"/>
                  <a:gd name="T94" fmla="*/ 36 w 118"/>
                  <a:gd name="T95" fmla="*/ 120 h 238"/>
                  <a:gd name="T96" fmla="*/ 26 w 118"/>
                  <a:gd name="T97" fmla="*/ 111 h 238"/>
                  <a:gd name="T98" fmla="*/ 13 w 118"/>
                  <a:gd name="T99" fmla="*/ 106 h 238"/>
                  <a:gd name="T100" fmla="*/ 6 w 118"/>
                  <a:gd name="T101" fmla="*/ 67 h 238"/>
                  <a:gd name="T102" fmla="*/ 37 w 118"/>
                  <a:gd name="T103" fmla="*/ 14 h 238"/>
                  <a:gd name="T104" fmla="*/ 58 w 118"/>
                  <a:gd name="T105" fmla="*/ 11 h 238"/>
                  <a:gd name="T106" fmla="*/ 67 w 118"/>
                  <a:gd name="T107" fmla="*/ 1 h 238"/>
                  <a:gd name="T108" fmla="*/ 67 w 118"/>
                  <a:gd name="T109" fmla="*/ 6 h 238"/>
                  <a:gd name="T110" fmla="*/ 79 w 118"/>
                  <a:gd name="T111" fmla="*/ 9 h 238"/>
                  <a:gd name="T112" fmla="*/ 65 w 118"/>
                  <a:gd name="T113" fmla="*/ 15 h 238"/>
                  <a:gd name="T114" fmla="*/ 50 w 118"/>
                  <a:gd name="T115" fmla="*/ 28 h 238"/>
                  <a:gd name="T116" fmla="*/ 57 w 118"/>
                  <a:gd name="T117" fmla="*/ 32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18" h="238">
                    <a:moveTo>
                      <a:pt x="61" y="33"/>
                    </a:moveTo>
                    <a:cubicBezTo>
                      <a:pt x="60" y="39"/>
                      <a:pt x="60" y="39"/>
                      <a:pt x="60" y="39"/>
                    </a:cubicBezTo>
                    <a:cubicBezTo>
                      <a:pt x="62" y="39"/>
                      <a:pt x="63" y="39"/>
                      <a:pt x="64" y="37"/>
                    </a:cubicBezTo>
                    <a:cubicBezTo>
                      <a:pt x="67" y="34"/>
                      <a:pt x="69" y="30"/>
                      <a:pt x="72" y="26"/>
                    </a:cubicBezTo>
                    <a:cubicBezTo>
                      <a:pt x="72" y="26"/>
                      <a:pt x="73" y="25"/>
                      <a:pt x="73" y="25"/>
                    </a:cubicBezTo>
                    <a:cubicBezTo>
                      <a:pt x="75" y="22"/>
                      <a:pt x="78" y="20"/>
                      <a:pt x="81" y="21"/>
                    </a:cubicBezTo>
                    <a:cubicBezTo>
                      <a:pt x="83" y="21"/>
                      <a:pt x="84" y="22"/>
                      <a:pt x="84" y="24"/>
                    </a:cubicBezTo>
                    <a:cubicBezTo>
                      <a:pt x="84" y="24"/>
                      <a:pt x="85" y="25"/>
                      <a:pt x="86" y="25"/>
                    </a:cubicBezTo>
                    <a:cubicBezTo>
                      <a:pt x="88" y="25"/>
                      <a:pt x="90" y="24"/>
                      <a:pt x="92" y="23"/>
                    </a:cubicBezTo>
                    <a:cubicBezTo>
                      <a:pt x="93" y="23"/>
                      <a:pt x="93" y="24"/>
                      <a:pt x="93" y="24"/>
                    </a:cubicBezTo>
                    <a:cubicBezTo>
                      <a:pt x="93" y="25"/>
                      <a:pt x="93" y="25"/>
                      <a:pt x="93" y="26"/>
                    </a:cubicBezTo>
                    <a:cubicBezTo>
                      <a:pt x="92" y="29"/>
                      <a:pt x="94" y="33"/>
                      <a:pt x="97" y="35"/>
                    </a:cubicBezTo>
                    <a:cubicBezTo>
                      <a:pt x="98" y="35"/>
                      <a:pt x="98" y="35"/>
                      <a:pt x="98" y="35"/>
                    </a:cubicBezTo>
                    <a:cubicBezTo>
                      <a:pt x="95" y="38"/>
                      <a:pt x="92" y="39"/>
                      <a:pt x="88" y="39"/>
                    </a:cubicBezTo>
                    <a:cubicBezTo>
                      <a:pt x="86" y="39"/>
                      <a:pt x="83" y="40"/>
                      <a:pt x="81" y="41"/>
                    </a:cubicBezTo>
                    <a:cubicBezTo>
                      <a:pt x="79" y="42"/>
                      <a:pt x="77" y="43"/>
                      <a:pt x="75" y="43"/>
                    </a:cubicBezTo>
                    <a:cubicBezTo>
                      <a:pt x="75" y="44"/>
                      <a:pt x="74" y="44"/>
                      <a:pt x="73" y="45"/>
                    </a:cubicBezTo>
                    <a:cubicBezTo>
                      <a:pt x="74" y="45"/>
                      <a:pt x="74" y="45"/>
                      <a:pt x="74" y="45"/>
                    </a:cubicBezTo>
                    <a:cubicBezTo>
                      <a:pt x="81" y="45"/>
                      <a:pt x="81" y="45"/>
                      <a:pt x="81" y="45"/>
                    </a:cubicBezTo>
                    <a:cubicBezTo>
                      <a:pt x="81" y="47"/>
                      <a:pt x="81" y="48"/>
                      <a:pt x="83" y="48"/>
                    </a:cubicBezTo>
                    <a:cubicBezTo>
                      <a:pt x="84" y="48"/>
                      <a:pt x="84" y="49"/>
                      <a:pt x="85" y="49"/>
                    </a:cubicBezTo>
                    <a:cubicBezTo>
                      <a:pt x="82" y="50"/>
                      <a:pt x="80" y="53"/>
                      <a:pt x="76" y="53"/>
                    </a:cubicBezTo>
                    <a:cubicBezTo>
                      <a:pt x="79" y="50"/>
                      <a:pt x="79" y="50"/>
                      <a:pt x="79" y="50"/>
                    </a:cubicBezTo>
                    <a:cubicBezTo>
                      <a:pt x="78" y="48"/>
                      <a:pt x="78" y="48"/>
                      <a:pt x="76" y="49"/>
                    </a:cubicBezTo>
                    <a:cubicBezTo>
                      <a:pt x="74" y="50"/>
                      <a:pt x="72" y="52"/>
                      <a:pt x="70" y="53"/>
                    </a:cubicBezTo>
                    <a:cubicBezTo>
                      <a:pt x="70" y="54"/>
                      <a:pt x="69" y="54"/>
                      <a:pt x="69" y="54"/>
                    </a:cubicBezTo>
                    <a:cubicBezTo>
                      <a:pt x="66" y="55"/>
                      <a:pt x="64" y="57"/>
                      <a:pt x="62" y="60"/>
                    </a:cubicBezTo>
                    <a:cubicBezTo>
                      <a:pt x="61" y="61"/>
                      <a:pt x="60" y="62"/>
                      <a:pt x="58" y="62"/>
                    </a:cubicBezTo>
                    <a:cubicBezTo>
                      <a:pt x="57" y="62"/>
                      <a:pt x="57" y="62"/>
                      <a:pt x="56" y="63"/>
                    </a:cubicBezTo>
                    <a:cubicBezTo>
                      <a:pt x="56" y="63"/>
                      <a:pt x="55" y="64"/>
                      <a:pt x="55" y="64"/>
                    </a:cubicBezTo>
                    <a:cubicBezTo>
                      <a:pt x="56" y="67"/>
                      <a:pt x="54" y="70"/>
                      <a:pt x="51" y="71"/>
                    </a:cubicBezTo>
                    <a:cubicBezTo>
                      <a:pt x="49" y="72"/>
                      <a:pt x="47" y="73"/>
                      <a:pt x="45" y="75"/>
                    </a:cubicBezTo>
                    <a:cubicBezTo>
                      <a:pt x="43" y="77"/>
                      <a:pt x="43" y="79"/>
                      <a:pt x="44" y="82"/>
                    </a:cubicBezTo>
                    <a:cubicBezTo>
                      <a:pt x="45" y="83"/>
                      <a:pt x="45" y="85"/>
                      <a:pt x="44" y="87"/>
                    </a:cubicBezTo>
                    <a:cubicBezTo>
                      <a:pt x="44" y="87"/>
                      <a:pt x="43" y="87"/>
                      <a:pt x="42" y="87"/>
                    </a:cubicBezTo>
                    <a:cubicBezTo>
                      <a:pt x="42" y="87"/>
                      <a:pt x="41" y="87"/>
                      <a:pt x="41" y="86"/>
                    </a:cubicBezTo>
                    <a:cubicBezTo>
                      <a:pt x="41" y="84"/>
                      <a:pt x="40" y="82"/>
                      <a:pt x="40" y="80"/>
                    </a:cubicBezTo>
                    <a:cubicBezTo>
                      <a:pt x="40" y="80"/>
                      <a:pt x="39" y="79"/>
                      <a:pt x="39" y="78"/>
                    </a:cubicBezTo>
                    <a:cubicBezTo>
                      <a:pt x="38" y="78"/>
                      <a:pt x="38" y="78"/>
                      <a:pt x="38" y="78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8" y="81"/>
                      <a:pt x="38" y="81"/>
                      <a:pt x="38" y="81"/>
                    </a:cubicBezTo>
                    <a:cubicBezTo>
                      <a:pt x="37" y="80"/>
                      <a:pt x="37" y="80"/>
                      <a:pt x="36" y="79"/>
                    </a:cubicBezTo>
                    <a:cubicBezTo>
                      <a:pt x="36" y="79"/>
                      <a:pt x="35" y="78"/>
                      <a:pt x="34" y="78"/>
                    </a:cubicBezTo>
                    <a:cubicBezTo>
                      <a:pt x="33" y="77"/>
                      <a:pt x="32" y="77"/>
                      <a:pt x="31" y="78"/>
                    </a:cubicBezTo>
                    <a:cubicBezTo>
                      <a:pt x="30" y="80"/>
                      <a:pt x="29" y="81"/>
                      <a:pt x="28" y="82"/>
                    </a:cubicBezTo>
                    <a:cubicBezTo>
                      <a:pt x="27" y="81"/>
                      <a:pt x="26" y="80"/>
                      <a:pt x="25" y="79"/>
                    </a:cubicBezTo>
                    <a:cubicBezTo>
                      <a:pt x="25" y="79"/>
                      <a:pt x="25" y="79"/>
                      <a:pt x="24" y="79"/>
                    </a:cubicBezTo>
                    <a:cubicBezTo>
                      <a:pt x="22" y="79"/>
                      <a:pt x="20" y="80"/>
                      <a:pt x="19" y="82"/>
                    </a:cubicBezTo>
                    <a:cubicBezTo>
                      <a:pt x="18" y="83"/>
                      <a:pt x="16" y="85"/>
                      <a:pt x="15" y="86"/>
                    </a:cubicBezTo>
                    <a:cubicBezTo>
                      <a:pt x="13" y="87"/>
                      <a:pt x="13" y="89"/>
                      <a:pt x="14" y="91"/>
                    </a:cubicBezTo>
                    <a:cubicBezTo>
                      <a:pt x="14" y="91"/>
                      <a:pt x="14" y="92"/>
                      <a:pt x="14" y="93"/>
                    </a:cubicBezTo>
                    <a:cubicBezTo>
                      <a:pt x="13" y="96"/>
                      <a:pt x="15" y="100"/>
                      <a:pt x="19" y="101"/>
                    </a:cubicBezTo>
                    <a:cubicBezTo>
                      <a:pt x="21" y="102"/>
                      <a:pt x="23" y="101"/>
                      <a:pt x="24" y="99"/>
                    </a:cubicBezTo>
                    <a:cubicBezTo>
                      <a:pt x="25" y="98"/>
                      <a:pt x="25" y="97"/>
                      <a:pt x="25" y="97"/>
                    </a:cubicBezTo>
                    <a:cubicBezTo>
                      <a:pt x="26" y="96"/>
                      <a:pt x="27" y="95"/>
                      <a:pt x="28" y="95"/>
                    </a:cubicBezTo>
                    <a:cubicBezTo>
                      <a:pt x="28" y="95"/>
                      <a:pt x="28" y="95"/>
                      <a:pt x="28" y="95"/>
                    </a:cubicBezTo>
                    <a:cubicBezTo>
                      <a:pt x="29" y="96"/>
                      <a:pt x="29" y="97"/>
                      <a:pt x="29" y="98"/>
                    </a:cubicBezTo>
                    <a:cubicBezTo>
                      <a:pt x="29" y="99"/>
                      <a:pt x="28" y="101"/>
                      <a:pt x="28" y="102"/>
                    </a:cubicBezTo>
                    <a:cubicBezTo>
                      <a:pt x="27" y="104"/>
                      <a:pt x="28" y="105"/>
                      <a:pt x="29" y="105"/>
                    </a:cubicBezTo>
                    <a:cubicBezTo>
                      <a:pt x="31" y="105"/>
                      <a:pt x="32" y="105"/>
                      <a:pt x="33" y="106"/>
                    </a:cubicBezTo>
                    <a:cubicBezTo>
                      <a:pt x="34" y="106"/>
                      <a:pt x="35" y="107"/>
                      <a:pt x="35" y="108"/>
                    </a:cubicBezTo>
                    <a:cubicBezTo>
                      <a:pt x="36" y="108"/>
                      <a:pt x="35" y="108"/>
                      <a:pt x="35" y="108"/>
                    </a:cubicBezTo>
                    <a:cubicBezTo>
                      <a:pt x="35" y="110"/>
                      <a:pt x="35" y="112"/>
                      <a:pt x="35" y="114"/>
                    </a:cubicBezTo>
                    <a:cubicBezTo>
                      <a:pt x="36" y="115"/>
                      <a:pt x="36" y="116"/>
                      <a:pt x="37" y="117"/>
                    </a:cubicBezTo>
                    <a:cubicBezTo>
                      <a:pt x="38" y="117"/>
                      <a:pt x="39" y="117"/>
                      <a:pt x="39" y="117"/>
                    </a:cubicBezTo>
                    <a:cubicBezTo>
                      <a:pt x="40" y="116"/>
                      <a:pt x="42" y="116"/>
                      <a:pt x="43" y="117"/>
                    </a:cubicBezTo>
                    <a:cubicBezTo>
                      <a:pt x="45" y="117"/>
                      <a:pt x="45" y="117"/>
                      <a:pt x="45" y="117"/>
                    </a:cubicBezTo>
                    <a:cubicBezTo>
                      <a:pt x="47" y="118"/>
                      <a:pt x="48" y="117"/>
                      <a:pt x="49" y="116"/>
                    </a:cubicBezTo>
                    <a:cubicBezTo>
                      <a:pt x="50" y="115"/>
                      <a:pt x="51" y="114"/>
                      <a:pt x="53" y="113"/>
                    </a:cubicBezTo>
                    <a:cubicBezTo>
                      <a:pt x="53" y="113"/>
                      <a:pt x="53" y="113"/>
                      <a:pt x="54" y="113"/>
                    </a:cubicBezTo>
                    <a:cubicBezTo>
                      <a:pt x="54" y="114"/>
                      <a:pt x="54" y="114"/>
                      <a:pt x="54" y="115"/>
                    </a:cubicBezTo>
                    <a:cubicBezTo>
                      <a:pt x="53" y="116"/>
                      <a:pt x="53" y="116"/>
                      <a:pt x="54" y="117"/>
                    </a:cubicBezTo>
                    <a:cubicBezTo>
                      <a:pt x="57" y="118"/>
                      <a:pt x="57" y="118"/>
                      <a:pt x="57" y="118"/>
                    </a:cubicBezTo>
                    <a:cubicBezTo>
                      <a:pt x="55" y="115"/>
                      <a:pt x="58" y="114"/>
                      <a:pt x="59" y="112"/>
                    </a:cubicBezTo>
                    <a:cubicBezTo>
                      <a:pt x="59" y="113"/>
                      <a:pt x="59" y="113"/>
                      <a:pt x="60" y="113"/>
                    </a:cubicBezTo>
                    <a:cubicBezTo>
                      <a:pt x="61" y="115"/>
                      <a:pt x="64" y="116"/>
                      <a:pt x="66" y="116"/>
                    </a:cubicBezTo>
                    <a:cubicBezTo>
                      <a:pt x="69" y="115"/>
                      <a:pt x="72" y="117"/>
                      <a:pt x="74" y="119"/>
                    </a:cubicBezTo>
                    <a:cubicBezTo>
                      <a:pt x="77" y="121"/>
                      <a:pt x="81" y="123"/>
                      <a:pt x="85" y="124"/>
                    </a:cubicBezTo>
                    <a:cubicBezTo>
                      <a:pt x="86" y="124"/>
                      <a:pt x="88" y="125"/>
                      <a:pt x="89" y="127"/>
                    </a:cubicBezTo>
                    <a:cubicBezTo>
                      <a:pt x="89" y="128"/>
                      <a:pt x="90" y="129"/>
                      <a:pt x="91" y="130"/>
                    </a:cubicBezTo>
                    <a:cubicBezTo>
                      <a:pt x="92" y="131"/>
                      <a:pt x="92" y="133"/>
                      <a:pt x="91" y="134"/>
                    </a:cubicBezTo>
                    <a:cubicBezTo>
                      <a:pt x="91" y="134"/>
                      <a:pt x="90" y="134"/>
                      <a:pt x="90" y="134"/>
                    </a:cubicBezTo>
                    <a:cubicBezTo>
                      <a:pt x="88" y="135"/>
                      <a:pt x="88" y="135"/>
                      <a:pt x="88" y="135"/>
                    </a:cubicBezTo>
                    <a:cubicBezTo>
                      <a:pt x="89" y="136"/>
                      <a:pt x="89" y="136"/>
                      <a:pt x="90" y="136"/>
                    </a:cubicBezTo>
                    <a:cubicBezTo>
                      <a:pt x="91" y="136"/>
                      <a:pt x="91" y="135"/>
                      <a:pt x="92" y="135"/>
                    </a:cubicBezTo>
                    <a:cubicBezTo>
                      <a:pt x="93" y="135"/>
                      <a:pt x="93" y="135"/>
                      <a:pt x="94" y="136"/>
                    </a:cubicBezTo>
                    <a:cubicBezTo>
                      <a:pt x="94" y="136"/>
                      <a:pt x="93" y="137"/>
                      <a:pt x="93" y="137"/>
                    </a:cubicBezTo>
                    <a:cubicBezTo>
                      <a:pt x="93" y="137"/>
                      <a:pt x="93" y="138"/>
                      <a:pt x="93" y="138"/>
                    </a:cubicBezTo>
                    <a:cubicBezTo>
                      <a:pt x="94" y="138"/>
                      <a:pt x="94" y="138"/>
                      <a:pt x="94" y="138"/>
                    </a:cubicBezTo>
                    <a:cubicBezTo>
                      <a:pt x="95" y="138"/>
                      <a:pt x="95" y="138"/>
                      <a:pt x="95" y="138"/>
                    </a:cubicBezTo>
                    <a:cubicBezTo>
                      <a:pt x="96" y="136"/>
                      <a:pt x="99" y="136"/>
                      <a:pt x="100" y="137"/>
                    </a:cubicBezTo>
                    <a:cubicBezTo>
                      <a:pt x="100" y="137"/>
                      <a:pt x="100" y="138"/>
                      <a:pt x="100" y="138"/>
                    </a:cubicBezTo>
                    <a:cubicBezTo>
                      <a:pt x="100" y="138"/>
                      <a:pt x="101" y="138"/>
                      <a:pt x="101" y="138"/>
                    </a:cubicBezTo>
                    <a:cubicBezTo>
                      <a:pt x="101" y="141"/>
                      <a:pt x="103" y="140"/>
                      <a:pt x="104" y="139"/>
                    </a:cubicBezTo>
                    <a:cubicBezTo>
                      <a:pt x="105" y="139"/>
                      <a:pt x="106" y="139"/>
                      <a:pt x="108" y="139"/>
                    </a:cubicBezTo>
                    <a:cubicBezTo>
                      <a:pt x="110" y="141"/>
                      <a:pt x="113" y="142"/>
                      <a:pt x="116" y="143"/>
                    </a:cubicBezTo>
                    <a:cubicBezTo>
                      <a:pt x="117" y="143"/>
                      <a:pt x="118" y="144"/>
                      <a:pt x="118" y="145"/>
                    </a:cubicBezTo>
                    <a:cubicBezTo>
                      <a:pt x="118" y="149"/>
                      <a:pt x="117" y="154"/>
                      <a:pt x="114" y="157"/>
                    </a:cubicBezTo>
                    <a:cubicBezTo>
                      <a:pt x="114" y="157"/>
                      <a:pt x="113" y="158"/>
                      <a:pt x="113" y="158"/>
                    </a:cubicBezTo>
                    <a:cubicBezTo>
                      <a:pt x="112" y="158"/>
                      <a:pt x="111" y="159"/>
                      <a:pt x="111" y="161"/>
                    </a:cubicBezTo>
                    <a:cubicBezTo>
                      <a:pt x="111" y="164"/>
                      <a:pt x="111" y="167"/>
                      <a:pt x="111" y="169"/>
                    </a:cubicBezTo>
                    <a:cubicBezTo>
                      <a:pt x="111" y="171"/>
                      <a:pt x="110" y="173"/>
                      <a:pt x="109" y="175"/>
                    </a:cubicBezTo>
                    <a:cubicBezTo>
                      <a:pt x="108" y="176"/>
                      <a:pt x="108" y="177"/>
                      <a:pt x="106" y="177"/>
                    </a:cubicBezTo>
                    <a:cubicBezTo>
                      <a:pt x="105" y="177"/>
                      <a:pt x="103" y="178"/>
                      <a:pt x="103" y="179"/>
                    </a:cubicBezTo>
                    <a:cubicBezTo>
                      <a:pt x="101" y="180"/>
                      <a:pt x="99" y="181"/>
                      <a:pt x="98" y="182"/>
                    </a:cubicBezTo>
                    <a:cubicBezTo>
                      <a:pt x="97" y="183"/>
                      <a:pt x="97" y="185"/>
                      <a:pt x="97" y="186"/>
                    </a:cubicBezTo>
                    <a:cubicBezTo>
                      <a:pt x="96" y="189"/>
                      <a:pt x="96" y="191"/>
                      <a:pt x="95" y="194"/>
                    </a:cubicBezTo>
                    <a:cubicBezTo>
                      <a:pt x="94" y="195"/>
                      <a:pt x="92" y="196"/>
                      <a:pt x="91" y="197"/>
                    </a:cubicBezTo>
                    <a:cubicBezTo>
                      <a:pt x="90" y="200"/>
                      <a:pt x="86" y="200"/>
                      <a:pt x="84" y="199"/>
                    </a:cubicBezTo>
                    <a:cubicBezTo>
                      <a:pt x="83" y="201"/>
                      <a:pt x="85" y="202"/>
                      <a:pt x="85" y="203"/>
                    </a:cubicBezTo>
                    <a:cubicBezTo>
                      <a:pt x="86" y="205"/>
                      <a:pt x="86" y="205"/>
                      <a:pt x="85" y="206"/>
                    </a:cubicBezTo>
                    <a:cubicBezTo>
                      <a:pt x="83" y="207"/>
                      <a:pt x="81" y="209"/>
                      <a:pt x="80" y="210"/>
                    </a:cubicBezTo>
                    <a:cubicBezTo>
                      <a:pt x="79" y="211"/>
                      <a:pt x="78" y="212"/>
                      <a:pt x="79" y="214"/>
                    </a:cubicBezTo>
                    <a:cubicBezTo>
                      <a:pt x="79" y="215"/>
                      <a:pt x="79" y="217"/>
                      <a:pt x="78" y="218"/>
                    </a:cubicBezTo>
                    <a:cubicBezTo>
                      <a:pt x="78" y="219"/>
                      <a:pt x="78" y="219"/>
                      <a:pt x="78" y="220"/>
                    </a:cubicBezTo>
                    <a:cubicBezTo>
                      <a:pt x="78" y="221"/>
                      <a:pt x="79" y="223"/>
                      <a:pt x="79" y="224"/>
                    </a:cubicBezTo>
                    <a:cubicBezTo>
                      <a:pt x="79" y="226"/>
                      <a:pt x="79" y="228"/>
                      <a:pt x="79" y="231"/>
                    </a:cubicBezTo>
                    <a:cubicBezTo>
                      <a:pt x="79" y="231"/>
                      <a:pt x="80" y="232"/>
                      <a:pt x="81" y="232"/>
                    </a:cubicBezTo>
                    <a:cubicBezTo>
                      <a:pt x="81" y="232"/>
                      <a:pt x="82" y="233"/>
                      <a:pt x="82" y="233"/>
                    </a:cubicBezTo>
                    <a:cubicBezTo>
                      <a:pt x="82" y="234"/>
                      <a:pt x="83" y="236"/>
                      <a:pt x="83" y="237"/>
                    </a:cubicBezTo>
                    <a:cubicBezTo>
                      <a:pt x="82" y="238"/>
                      <a:pt x="80" y="238"/>
                      <a:pt x="79" y="236"/>
                    </a:cubicBezTo>
                    <a:cubicBezTo>
                      <a:pt x="79" y="236"/>
                      <a:pt x="79" y="236"/>
                      <a:pt x="79" y="236"/>
                    </a:cubicBezTo>
                    <a:cubicBezTo>
                      <a:pt x="78" y="235"/>
                      <a:pt x="77" y="234"/>
                      <a:pt x="75" y="233"/>
                    </a:cubicBezTo>
                    <a:cubicBezTo>
                      <a:pt x="72" y="232"/>
                      <a:pt x="70" y="230"/>
                      <a:pt x="69" y="227"/>
                    </a:cubicBezTo>
                    <a:cubicBezTo>
                      <a:pt x="67" y="225"/>
                      <a:pt x="66" y="222"/>
                      <a:pt x="67" y="218"/>
                    </a:cubicBezTo>
                    <a:cubicBezTo>
                      <a:pt x="67" y="216"/>
                      <a:pt x="66" y="214"/>
                      <a:pt x="64" y="213"/>
                    </a:cubicBezTo>
                    <a:cubicBezTo>
                      <a:pt x="63" y="213"/>
                      <a:pt x="63" y="212"/>
                      <a:pt x="63" y="212"/>
                    </a:cubicBezTo>
                    <a:cubicBezTo>
                      <a:pt x="63" y="210"/>
                      <a:pt x="63" y="207"/>
                      <a:pt x="62" y="205"/>
                    </a:cubicBezTo>
                    <a:cubicBezTo>
                      <a:pt x="62" y="200"/>
                      <a:pt x="61" y="196"/>
                      <a:pt x="61" y="191"/>
                    </a:cubicBezTo>
                    <a:cubicBezTo>
                      <a:pt x="61" y="188"/>
                      <a:pt x="61" y="184"/>
                      <a:pt x="61" y="181"/>
                    </a:cubicBezTo>
                    <a:cubicBezTo>
                      <a:pt x="61" y="179"/>
                      <a:pt x="61" y="178"/>
                      <a:pt x="61" y="176"/>
                    </a:cubicBezTo>
                    <a:cubicBezTo>
                      <a:pt x="61" y="172"/>
                      <a:pt x="58" y="168"/>
                      <a:pt x="54" y="167"/>
                    </a:cubicBezTo>
                    <a:cubicBezTo>
                      <a:pt x="52" y="167"/>
                      <a:pt x="50" y="165"/>
                      <a:pt x="50" y="163"/>
                    </a:cubicBezTo>
                    <a:cubicBezTo>
                      <a:pt x="50" y="161"/>
                      <a:pt x="49" y="159"/>
                      <a:pt x="48" y="158"/>
                    </a:cubicBezTo>
                    <a:cubicBezTo>
                      <a:pt x="45" y="157"/>
                      <a:pt x="44" y="155"/>
                      <a:pt x="43" y="152"/>
                    </a:cubicBezTo>
                    <a:cubicBezTo>
                      <a:pt x="42" y="151"/>
                      <a:pt x="42" y="151"/>
                      <a:pt x="41" y="150"/>
                    </a:cubicBezTo>
                    <a:cubicBezTo>
                      <a:pt x="40" y="149"/>
                      <a:pt x="39" y="147"/>
                      <a:pt x="40" y="145"/>
                    </a:cubicBezTo>
                    <a:cubicBezTo>
                      <a:pt x="40" y="144"/>
                      <a:pt x="40" y="143"/>
                      <a:pt x="40" y="142"/>
                    </a:cubicBezTo>
                    <a:cubicBezTo>
                      <a:pt x="39" y="141"/>
                      <a:pt x="39" y="140"/>
                      <a:pt x="39" y="140"/>
                    </a:cubicBezTo>
                    <a:cubicBezTo>
                      <a:pt x="40" y="137"/>
                      <a:pt x="41" y="135"/>
                      <a:pt x="42" y="133"/>
                    </a:cubicBezTo>
                    <a:cubicBezTo>
                      <a:pt x="43" y="131"/>
                      <a:pt x="44" y="129"/>
                      <a:pt x="45" y="127"/>
                    </a:cubicBezTo>
                    <a:cubicBezTo>
                      <a:pt x="46" y="124"/>
                      <a:pt x="45" y="121"/>
                      <a:pt x="43" y="120"/>
                    </a:cubicBezTo>
                    <a:cubicBezTo>
                      <a:pt x="42" y="120"/>
                      <a:pt x="42" y="120"/>
                      <a:pt x="41" y="120"/>
                    </a:cubicBezTo>
                    <a:cubicBezTo>
                      <a:pt x="39" y="121"/>
                      <a:pt x="37" y="121"/>
                      <a:pt x="36" y="120"/>
                    </a:cubicBezTo>
                    <a:cubicBezTo>
                      <a:pt x="33" y="118"/>
                      <a:pt x="31" y="115"/>
                      <a:pt x="29" y="112"/>
                    </a:cubicBezTo>
                    <a:cubicBezTo>
                      <a:pt x="29" y="112"/>
                      <a:pt x="29" y="111"/>
                      <a:pt x="28" y="111"/>
                    </a:cubicBezTo>
                    <a:cubicBezTo>
                      <a:pt x="27" y="111"/>
                      <a:pt x="27" y="111"/>
                      <a:pt x="26" y="111"/>
                    </a:cubicBezTo>
                    <a:cubicBezTo>
                      <a:pt x="24" y="111"/>
                      <a:pt x="22" y="110"/>
                      <a:pt x="21" y="108"/>
                    </a:cubicBezTo>
                    <a:cubicBezTo>
                      <a:pt x="19" y="106"/>
                      <a:pt x="17" y="106"/>
                      <a:pt x="14" y="106"/>
                    </a:cubicBezTo>
                    <a:cubicBezTo>
                      <a:pt x="14" y="106"/>
                      <a:pt x="14" y="106"/>
                      <a:pt x="13" y="106"/>
                    </a:cubicBezTo>
                    <a:cubicBezTo>
                      <a:pt x="9" y="105"/>
                      <a:pt x="5" y="102"/>
                      <a:pt x="1" y="99"/>
                    </a:cubicBezTo>
                    <a:cubicBezTo>
                      <a:pt x="0" y="97"/>
                      <a:pt x="0" y="96"/>
                      <a:pt x="0" y="94"/>
                    </a:cubicBezTo>
                    <a:cubicBezTo>
                      <a:pt x="1" y="85"/>
                      <a:pt x="3" y="75"/>
                      <a:pt x="6" y="67"/>
                    </a:cubicBezTo>
                    <a:cubicBezTo>
                      <a:pt x="11" y="53"/>
                      <a:pt x="17" y="40"/>
                      <a:pt x="26" y="28"/>
                    </a:cubicBezTo>
                    <a:cubicBezTo>
                      <a:pt x="29" y="23"/>
                      <a:pt x="32" y="19"/>
                      <a:pt x="36" y="15"/>
                    </a:cubicBezTo>
                    <a:cubicBezTo>
                      <a:pt x="36" y="14"/>
                      <a:pt x="37" y="14"/>
                      <a:pt x="37" y="14"/>
                    </a:cubicBezTo>
                    <a:cubicBezTo>
                      <a:pt x="39" y="15"/>
                      <a:pt x="40" y="15"/>
                      <a:pt x="41" y="15"/>
                    </a:cubicBezTo>
                    <a:cubicBezTo>
                      <a:pt x="44" y="15"/>
                      <a:pt x="46" y="15"/>
                      <a:pt x="49" y="14"/>
                    </a:cubicBezTo>
                    <a:cubicBezTo>
                      <a:pt x="52" y="13"/>
                      <a:pt x="55" y="12"/>
                      <a:pt x="58" y="11"/>
                    </a:cubicBezTo>
                    <a:cubicBezTo>
                      <a:pt x="61" y="10"/>
                      <a:pt x="62" y="8"/>
                      <a:pt x="63" y="5"/>
                    </a:cubicBezTo>
                    <a:cubicBezTo>
                      <a:pt x="63" y="4"/>
                      <a:pt x="63" y="4"/>
                      <a:pt x="63" y="3"/>
                    </a:cubicBezTo>
                    <a:cubicBezTo>
                      <a:pt x="64" y="0"/>
                      <a:pt x="64" y="0"/>
                      <a:pt x="67" y="1"/>
                    </a:cubicBezTo>
                    <a:cubicBezTo>
                      <a:pt x="72" y="2"/>
                      <a:pt x="72" y="2"/>
                      <a:pt x="72" y="2"/>
                    </a:cubicBezTo>
                    <a:cubicBezTo>
                      <a:pt x="71" y="3"/>
                      <a:pt x="69" y="3"/>
                      <a:pt x="68" y="4"/>
                    </a:cubicBezTo>
                    <a:cubicBezTo>
                      <a:pt x="67" y="4"/>
                      <a:pt x="67" y="5"/>
                      <a:pt x="67" y="6"/>
                    </a:cubicBezTo>
                    <a:cubicBezTo>
                      <a:pt x="68" y="6"/>
                      <a:pt x="69" y="8"/>
                      <a:pt x="70" y="10"/>
                    </a:cubicBezTo>
                    <a:cubicBezTo>
                      <a:pt x="71" y="10"/>
                      <a:pt x="71" y="10"/>
                      <a:pt x="72" y="10"/>
                    </a:cubicBezTo>
                    <a:cubicBezTo>
                      <a:pt x="74" y="9"/>
                      <a:pt x="77" y="9"/>
                      <a:pt x="79" y="9"/>
                    </a:cubicBezTo>
                    <a:cubicBezTo>
                      <a:pt x="78" y="10"/>
                      <a:pt x="78" y="11"/>
                      <a:pt x="77" y="12"/>
                    </a:cubicBezTo>
                    <a:cubicBezTo>
                      <a:pt x="76" y="13"/>
                      <a:pt x="75" y="13"/>
                      <a:pt x="74" y="13"/>
                    </a:cubicBezTo>
                    <a:cubicBezTo>
                      <a:pt x="71" y="14"/>
                      <a:pt x="68" y="14"/>
                      <a:pt x="65" y="15"/>
                    </a:cubicBezTo>
                    <a:cubicBezTo>
                      <a:pt x="65" y="17"/>
                      <a:pt x="63" y="18"/>
                      <a:pt x="61" y="18"/>
                    </a:cubicBezTo>
                    <a:cubicBezTo>
                      <a:pt x="58" y="19"/>
                      <a:pt x="54" y="20"/>
                      <a:pt x="52" y="23"/>
                    </a:cubicBezTo>
                    <a:cubicBezTo>
                      <a:pt x="50" y="24"/>
                      <a:pt x="49" y="26"/>
                      <a:pt x="50" y="28"/>
                    </a:cubicBezTo>
                    <a:cubicBezTo>
                      <a:pt x="50" y="29"/>
                      <a:pt x="50" y="30"/>
                      <a:pt x="52" y="30"/>
                    </a:cubicBezTo>
                    <a:cubicBezTo>
                      <a:pt x="52" y="30"/>
                      <a:pt x="52" y="30"/>
                      <a:pt x="53" y="30"/>
                    </a:cubicBezTo>
                    <a:cubicBezTo>
                      <a:pt x="54" y="31"/>
                      <a:pt x="55" y="31"/>
                      <a:pt x="57" y="32"/>
                    </a:cubicBezTo>
                    <a:cubicBezTo>
                      <a:pt x="58" y="33"/>
                      <a:pt x="59" y="33"/>
                      <a:pt x="60" y="33"/>
                    </a:cubicBezTo>
                    <a:cubicBezTo>
                      <a:pt x="61" y="33"/>
                      <a:pt x="61" y="33"/>
                      <a:pt x="61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3" name="iṣḷîḓè">
                <a:extLst>
                  <a:ext uri="{FF2B5EF4-FFF2-40B4-BE49-F238E27FC236}">
                    <a16:creationId xmlns:a16="http://schemas.microsoft.com/office/drawing/2014/main" id="{E5CE33D5-EA47-9D28-1C9D-F60C3A1F137E}"/>
                  </a:ext>
                </a:extLst>
              </p:cNvPr>
              <p:cNvSpPr/>
              <p:nvPr/>
            </p:nvSpPr>
            <p:spPr bwMode="auto">
              <a:xfrm>
                <a:off x="5681040" y="2655895"/>
                <a:ext cx="277994" cy="146099"/>
              </a:xfrm>
              <a:custGeom>
                <a:avLst/>
                <a:gdLst>
                  <a:gd name="T0" fmla="*/ 0 w 66"/>
                  <a:gd name="T1" fmla="*/ 7 h 35"/>
                  <a:gd name="T2" fmla="*/ 10 w 66"/>
                  <a:gd name="T3" fmla="*/ 6 h 35"/>
                  <a:gd name="T4" fmla="*/ 14 w 66"/>
                  <a:gd name="T5" fmla="*/ 4 h 35"/>
                  <a:gd name="T6" fmla="*/ 25 w 66"/>
                  <a:gd name="T7" fmla="*/ 2 h 35"/>
                  <a:gd name="T8" fmla="*/ 36 w 66"/>
                  <a:gd name="T9" fmla="*/ 3 h 35"/>
                  <a:gd name="T10" fmla="*/ 39 w 66"/>
                  <a:gd name="T11" fmla="*/ 2 h 35"/>
                  <a:gd name="T12" fmla="*/ 41 w 66"/>
                  <a:gd name="T13" fmla="*/ 1 h 35"/>
                  <a:gd name="T14" fmla="*/ 50 w 66"/>
                  <a:gd name="T15" fmla="*/ 0 h 35"/>
                  <a:gd name="T16" fmla="*/ 54 w 66"/>
                  <a:gd name="T17" fmla="*/ 0 h 35"/>
                  <a:gd name="T18" fmla="*/ 65 w 66"/>
                  <a:gd name="T19" fmla="*/ 2 h 35"/>
                  <a:gd name="T20" fmla="*/ 66 w 66"/>
                  <a:gd name="T21" fmla="*/ 3 h 35"/>
                  <a:gd name="T22" fmla="*/ 62 w 66"/>
                  <a:gd name="T23" fmla="*/ 3 h 35"/>
                  <a:gd name="T24" fmla="*/ 59 w 66"/>
                  <a:gd name="T25" fmla="*/ 4 h 35"/>
                  <a:gd name="T26" fmla="*/ 57 w 66"/>
                  <a:gd name="T27" fmla="*/ 7 h 35"/>
                  <a:gd name="T28" fmla="*/ 53 w 66"/>
                  <a:gd name="T29" fmla="*/ 11 h 35"/>
                  <a:gd name="T30" fmla="*/ 48 w 66"/>
                  <a:gd name="T31" fmla="*/ 13 h 35"/>
                  <a:gd name="T32" fmla="*/ 48 w 66"/>
                  <a:gd name="T33" fmla="*/ 15 h 35"/>
                  <a:gd name="T34" fmla="*/ 52 w 66"/>
                  <a:gd name="T35" fmla="*/ 17 h 35"/>
                  <a:gd name="T36" fmla="*/ 45 w 66"/>
                  <a:gd name="T37" fmla="*/ 16 h 35"/>
                  <a:gd name="T38" fmla="*/ 47 w 66"/>
                  <a:gd name="T39" fmla="*/ 19 h 35"/>
                  <a:gd name="T40" fmla="*/ 38 w 66"/>
                  <a:gd name="T41" fmla="*/ 21 h 35"/>
                  <a:gd name="T42" fmla="*/ 31 w 66"/>
                  <a:gd name="T43" fmla="*/ 25 h 35"/>
                  <a:gd name="T44" fmla="*/ 23 w 66"/>
                  <a:gd name="T45" fmla="*/ 27 h 35"/>
                  <a:gd name="T46" fmla="*/ 21 w 66"/>
                  <a:gd name="T47" fmla="*/ 30 h 35"/>
                  <a:gd name="T48" fmla="*/ 19 w 66"/>
                  <a:gd name="T49" fmla="*/ 32 h 35"/>
                  <a:gd name="T50" fmla="*/ 17 w 66"/>
                  <a:gd name="T51" fmla="*/ 34 h 35"/>
                  <a:gd name="T52" fmla="*/ 10 w 66"/>
                  <a:gd name="T53" fmla="*/ 33 h 35"/>
                  <a:gd name="T54" fmla="*/ 9 w 66"/>
                  <a:gd name="T55" fmla="*/ 30 h 35"/>
                  <a:gd name="T56" fmla="*/ 9 w 66"/>
                  <a:gd name="T57" fmla="*/ 27 h 35"/>
                  <a:gd name="T58" fmla="*/ 11 w 66"/>
                  <a:gd name="T59" fmla="*/ 24 h 35"/>
                  <a:gd name="T60" fmla="*/ 12 w 66"/>
                  <a:gd name="T61" fmla="*/ 22 h 35"/>
                  <a:gd name="T62" fmla="*/ 13 w 66"/>
                  <a:gd name="T63" fmla="*/ 13 h 35"/>
                  <a:gd name="T64" fmla="*/ 10 w 66"/>
                  <a:gd name="T65" fmla="*/ 11 h 35"/>
                  <a:gd name="T66" fmla="*/ 2 w 66"/>
                  <a:gd name="T67" fmla="*/ 8 h 35"/>
                  <a:gd name="T68" fmla="*/ 0 w 66"/>
                  <a:gd name="T69" fmla="*/ 7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6" h="35">
                    <a:moveTo>
                      <a:pt x="0" y="7"/>
                    </a:moveTo>
                    <a:cubicBezTo>
                      <a:pt x="3" y="7"/>
                      <a:pt x="7" y="6"/>
                      <a:pt x="10" y="6"/>
                    </a:cubicBezTo>
                    <a:cubicBezTo>
                      <a:pt x="11" y="5"/>
                      <a:pt x="13" y="5"/>
                      <a:pt x="14" y="4"/>
                    </a:cubicBezTo>
                    <a:cubicBezTo>
                      <a:pt x="17" y="3"/>
                      <a:pt x="21" y="2"/>
                      <a:pt x="25" y="2"/>
                    </a:cubicBezTo>
                    <a:cubicBezTo>
                      <a:pt x="28" y="3"/>
                      <a:pt x="32" y="3"/>
                      <a:pt x="36" y="3"/>
                    </a:cubicBezTo>
                    <a:cubicBezTo>
                      <a:pt x="37" y="4"/>
                      <a:pt x="38" y="3"/>
                      <a:pt x="39" y="2"/>
                    </a:cubicBezTo>
                    <a:cubicBezTo>
                      <a:pt x="40" y="2"/>
                      <a:pt x="41" y="2"/>
                      <a:pt x="41" y="1"/>
                    </a:cubicBezTo>
                    <a:cubicBezTo>
                      <a:pt x="44" y="1"/>
                      <a:pt x="47" y="0"/>
                      <a:pt x="50" y="0"/>
                    </a:cubicBezTo>
                    <a:cubicBezTo>
                      <a:pt x="51" y="0"/>
                      <a:pt x="53" y="0"/>
                      <a:pt x="54" y="0"/>
                    </a:cubicBezTo>
                    <a:cubicBezTo>
                      <a:pt x="58" y="1"/>
                      <a:pt x="61" y="1"/>
                      <a:pt x="65" y="2"/>
                    </a:cubicBezTo>
                    <a:cubicBezTo>
                      <a:pt x="65" y="2"/>
                      <a:pt x="66" y="2"/>
                      <a:pt x="66" y="3"/>
                    </a:cubicBezTo>
                    <a:cubicBezTo>
                      <a:pt x="65" y="3"/>
                      <a:pt x="63" y="3"/>
                      <a:pt x="62" y="3"/>
                    </a:cubicBezTo>
                    <a:cubicBezTo>
                      <a:pt x="61" y="3"/>
                      <a:pt x="60" y="3"/>
                      <a:pt x="59" y="4"/>
                    </a:cubicBezTo>
                    <a:cubicBezTo>
                      <a:pt x="58" y="4"/>
                      <a:pt x="57" y="5"/>
                      <a:pt x="57" y="7"/>
                    </a:cubicBezTo>
                    <a:cubicBezTo>
                      <a:pt x="57" y="9"/>
                      <a:pt x="55" y="10"/>
                      <a:pt x="53" y="11"/>
                    </a:cubicBezTo>
                    <a:cubicBezTo>
                      <a:pt x="52" y="12"/>
                      <a:pt x="50" y="12"/>
                      <a:pt x="48" y="13"/>
                    </a:cubicBezTo>
                    <a:cubicBezTo>
                      <a:pt x="47" y="14"/>
                      <a:pt x="47" y="14"/>
                      <a:pt x="48" y="15"/>
                    </a:cubicBezTo>
                    <a:cubicBezTo>
                      <a:pt x="52" y="17"/>
                      <a:pt x="52" y="17"/>
                      <a:pt x="52" y="17"/>
                    </a:cubicBezTo>
                    <a:cubicBezTo>
                      <a:pt x="50" y="18"/>
                      <a:pt x="50" y="18"/>
                      <a:pt x="45" y="16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4" y="20"/>
                      <a:pt x="41" y="21"/>
                      <a:pt x="38" y="21"/>
                    </a:cubicBezTo>
                    <a:cubicBezTo>
                      <a:pt x="35" y="22"/>
                      <a:pt x="33" y="23"/>
                      <a:pt x="31" y="25"/>
                    </a:cubicBezTo>
                    <a:cubicBezTo>
                      <a:pt x="28" y="26"/>
                      <a:pt x="26" y="27"/>
                      <a:pt x="23" y="27"/>
                    </a:cubicBezTo>
                    <a:cubicBezTo>
                      <a:pt x="22" y="28"/>
                      <a:pt x="20" y="28"/>
                      <a:pt x="21" y="30"/>
                    </a:cubicBezTo>
                    <a:cubicBezTo>
                      <a:pt x="20" y="31"/>
                      <a:pt x="20" y="31"/>
                      <a:pt x="19" y="32"/>
                    </a:cubicBezTo>
                    <a:cubicBezTo>
                      <a:pt x="19" y="33"/>
                      <a:pt x="18" y="33"/>
                      <a:pt x="17" y="34"/>
                    </a:cubicBezTo>
                    <a:cubicBezTo>
                      <a:pt x="15" y="35"/>
                      <a:pt x="12" y="35"/>
                      <a:pt x="10" y="33"/>
                    </a:cubicBezTo>
                    <a:cubicBezTo>
                      <a:pt x="9" y="32"/>
                      <a:pt x="9" y="31"/>
                      <a:pt x="9" y="30"/>
                    </a:cubicBezTo>
                    <a:cubicBezTo>
                      <a:pt x="9" y="29"/>
                      <a:pt x="9" y="28"/>
                      <a:pt x="9" y="27"/>
                    </a:cubicBezTo>
                    <a:cubicBezTo>
                      <a:pt x="9" y="26"/>
                      <a:pt x="10" y="25"/>
                      <a:pt x="11" y="24"/>
                    </a:cubicBezTo>
                    <a:cubicBezTo>
                      <a:pt x="11" y="23"/>
                      <a:pt x="11" y="23"/>
                      <a:pt x="12" y="22"/>
                    </a:cubicBezTo>
                    <a:cubicBezTo>
                      <a:pt x="14" y="20"/>
                      <a:pt x="15" y="16"/>
                      <a:pt x="13" y="13"/>
                    </a:cubicBezTo>
                    <a:cubicBezTo>
                      <a:pt x="12" y="12"/>
                      <a:pt x="11" y="11"/>
                      <a:pt x="10" y="11"/>
                    </a:cubicBezTo>
                    <a:cubicBezTo>
                      <a:pt x="7" y="9"/>
                      <a:pt x="5" y="9"/>
                      <a:pt x="2" y="8"/>
                    </a:cubicBezTo>
                    <a:cubicBezTo>
                      <a:pt x="2" y="8"/>
                      <a:pt x="1" y="8"/>
                      <a:pt x="0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4" name="íSḻîḍè">
                <a:extLst>
                  <a:ext uri="{FF2B5EF4-FFF2-40B4-BE49-F238E27FC236}">
                    <a16:creationId xmlns:a16="http://schemas.microsoft.com/office/drawing/2014/main" id="{4F431253-38B3-FAD3-4464-A7A9D900B9AA}"/>
                  </a:ext>
                </a:extLst>
              </p:cNvPr>
              <p:cNvSpPr/>
              <p:nvPr/>
            </p:nvSpPr>
            <p:spPr bwMode="auto">
              <a:xfrm>
                <a:off x="5541028" y="2692419"/>
                <a:ext cx="121749" cy="97399"/>
              </a:xfrm>
              <a:custGeom>
                <a:avLst/>
                <a:gdLst>
                  <a:gd name="T0" fmla="*/ 7 w 29"/>
                  <a:gd name="T1" fmla="*/ 2 h 23"/>
                  <a:gd name="T2" fmla="*/ 11 w 29"/>
                  <a:gd name="T3" fmla="*/ 1 h 23"/>
                  <a:gd name="T4" fmla="*/ 17 w 29"/>
                  <a:gd name="T5" fmla="*/ 1 h 23"/>
                  <a:gd name="T6" fmla="*/ 18 w 29"/>
                  <a:gd name="T7" fmla="*/ 2 h 23"/>
                  <a:gd name="T8" fmla="*/ 17 w 29"/>
                  <a:gd name="T9" fmla="*/ 3 h 23"/>
                  <a:gd name="T10" fmla="*/ 14 w 29"/>
                  <a:gd name="T11" fmla="*/ 4 h 23"/>
                  <a:gd name="T12" fmla="*/ 13 w 29"/>
                  <a:gd name="T13" fmla="*/ 5 h 23"/>
                  <a:gd name="T14" fmla="*/ 14 w 29"/>
                  <a:gd name="T15" fmla="*/ 6 h 23"/>
                  <a:gd name="T16" fmla="*/ 26 w 29"/>
                  <a:gd name="T17" fmla="*/ 9 h 23"/>
                  <a:gd name="T18" fmla="*/ 26 w 29"/>
                  <a:gd name="T19" fmla="*/ 10 h 23"/>
                  <a:gd name="T20" fmla="*/ 26 w 29"/>
                  <a:gd name="T21" fmla="*/ 12 h 23"/>
                  <a:gd name="T22" fmla="*/ 29 w 29"/>
                  <a:gd name="T23" fmla="*/ 16 h 23"/>
                  <a:gd name="T24" fmla="*/ 27 w 29"/>
                  <a:gd name="T25" fmla="*/ 18 h 23"/>
                  <a:gd name="T26" fmla="*/ 22 w 29"/>
                  <a:gd name="T27" fmla="*/ 19 h 23"/>
                  <a:gd name="T28" fmla="*/ 20 w 29"/>
                  <a:gd name="T29" fmla="*/ 21 h 23"/>
                  <a:gd name="T30" fmla="*/ 20 w 29"/>
                  <a:gd name="T31" fmla="*/ 22 h 23"/>
                  <a:gd name="T32" fmla="*/ 14 w 29"/>
                  <a:gd name="T33" fmla="*/ 22 h 23"/>
                  <a:gd name="T34" fmla="*/ 15 w 29"/>
                  <a:gd name="T35" fmla="*/ 18 h 23"/>
                  <a:gd name="T36" fmla="*/ 16 w 29"/>
                  <a:gd name="T37" fmla="*/ 17 h 23"/>
                  <a:gd name="T38" fmla="*/ 19 w 29"/>
                  <a:gd name="T39" fmla="*/ 17 h 23"/>
                  <a:gd name="T40" fmla="*/ 21 w 29"/>
                  <a:gd name="T41" fmla="*/ 16 h 23"/>
                  <a:gd name="T42" fmla="*/ 20 w 29"/>
                  <a:gd name="T43" fmla="*/ 15 h 23"/>
                  <a:gd name="T44" fmla="*/ 9 w 29"/>
                  <a:gd name="T45" fmla="*/ 10 h 23"/>
                  <a:gd name="T46" fmla="*/ 3 w 29"/>
                  <a:gd name="T47" fmla="*/ 10 h 23"/>
                  <a:gd name="T48" fmla="*/ 0 w 29"/>
                  <a:gd name="T49" fmla="*/ 8 h 23"/>
                  <a:gd name="T50" fmla="*/ 2 w 29"/>
                  <a:gd name="T51" fmla="*/ 6 h 23"/>
                  <a:gd name="T52" fmla="*/ 3 w 29"/>
                  <a:gd name="T53" fmla="*/ 6 h 23"/>
                  <a:gd name="T54" fmla="*/ 7 w 29"/>
                  <a:gd name="T55" fmla="*/ 6 h 23"/>
                  <a:gd name="T56" fmla="*/ 9 w 29"/>
                  <a:gd name="T57" fmla="*/ 5 h 23"/>
                  <a:gd name="T58" fmla="*/ 7 w 29"/>
                  <a:gd name="T59" fmla="*/ 3 h 23"/>
                  <a:gd name="T60" fmla="*/ 7 w 29"/>
                  <a:gd name="T61" fmla="*/ 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9" h="23">
                    <a:moveTo>
                      <a:pt x="7" y="2"/>
                    </a:moveTo>
                    <a:cubicBezTo>
                      <a:pt x="8" y="0"/>
                      <a:pt x="9" y="0"/>
                      <a:pt x="11" y="1"/>
                    </a:cubicBezTo>
                    <a:cubicBezTo>
                      <a:pt x="13" y="2"/>
                      <a:pt x="15" y="2"/>
                      <a:pt x="17" y="1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7" y="2"/>
                      <a:pt x="17" y="3"/>
                      <a:pt x="17" y="3"/>
                    </a:cubicBezTo>
                    <a:cubicBezTo>
                      <a:pt x="16" y="3"/>
                      <a:pt x="15" y="3"/>
                      <a:pt x="14" y="4"/>
                    </a:cubicBezTo>
                    <a:cubicBezTo>
                      <a:pt x="13" y="4"/>
                      <a:pt x="13" y="4"/>
                      <a:pt x="13" y="5"/>
                    </a:cubicBezTo>
                    <a:cubicBezTo>
                      <a:pt x="13" y="5"/>
                      <a:pt x="13" y="6"/>
                      <a:pt x="14" y="6"/>
                    </a:cubicBezTo>
                    <a:cubicBezTo>
                      <a:pt x="26" y="9"/>
                      <a:pt x="26" y="9"/>
                      <a:pt x="26" y="9"/>
                    </a:cubicBezTo>
                    <a:cubicBezTo>
                      <a:pt x="26" y="9"/>
                      <a:pt x="26" y="10"/>
                      <a:pt x="26" y="10"/>
                    </a:cubicBezTo>
                    <a:cubicBezTo>
                      <a:pt x="26" y="11"/>
                      <a:pt x="26" y="11"/>
                      <a:pt x="26" y="12"/>
                    </a:cubicBezTo>
                    <a:cubicBezTo>
                      <a:pt x="25" y="15"/>
                      <a:pt x="26" y="16"/>
                      <a:pt x="29" y="16"/>
                    </a:cubicBezTo>
                    <a:cubicBezTo>
                      <a:pt x="29" y="17"/>
                      <a:pt x="28" y="18"/>
                      <a:pt x="27" y="18"/>
                    </a:cubicBezTo>
                    <a:cubicBezTo>
                      <a:pt x="26" y="18"/>
                      <a:pt x="23" y="19"/>
                      <a:pt x="22" y="19"/>
                    </a:cubicBezTo>
                    <a:cubicBezTo>
                      <a:pt x="21" y="20"/>
                      <a:pt x="20" y="20"/>
                      <a:pt x="20" y="21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18" y="23"/>
                      <a:pt x="16" y="23"/>
                      <a:pt x="14" y="22"/>
                    </a:cubicBezTo>
                    <a:cubicBezTo>
                      <a:pt x="13" y="21"/>
                      <a:pt x="13" y="19"/>
                      <a:pt x="15" y="18"/>
                    </a:cubicBezTo>
                    <a:cubicBezTo>
                      <a:pt x="15" y="18"/>
                      <a:pt x="15" y="18"/>
                      <a:pt x="16" y="17"/>
                    </a:cubicBezTo>
                    <a:cubicBezTo>
                      <a:pt x="17" y="17"/>
                      <a:pt x="18" y="17"/>
                      <a:pt x="19" y="17"/>
                    </a:cubicBezTo>
                    <a:cubicBezTo>
                      <a:pt x="20" y="17"/>
                      <a:pt x="20" y="16"/>
                      <a:pt x="21" y="16"/>
                    </a:cubicBezTo>
                    <a:cubicBezTo>
                      <a:pt x="21" y="16"/>
                      <a:pt x="20" y="15"/>
                      <a:pt x="20" y="15"/>
                    </a:cubicBezTo>
                    <a:cubicBezTo>
                      <a:pt x="17" y="12"/>
                      <a:pt x="13" y="10"/>
                      <a:pt x="9" y="10"/>
                    </a:cubicBezTo>
                    <a:cubicBezTo>
                      <a:pt x="7" y="10"/>
                      <a:pt x="5" y="10"/>
                      <a:pt x="3" y="10"/>
                    </a:cubicBezTo>
                    <a:cubicBezTo>
                      <a:pt x="2" y="10"/>
                      <a:pt x="1" y="10"/>
                      <a:pt x="0" y="8"/>
                    </a:cubicBezTo>
                    <a:cubicBezTo>
                      <a:pt x="0" y="7"/>
                      <a:pt x="1" y="6"/>
                      <a:pt x="2" y="6"/>
                    </a:cubicBezTo>
                    <a:cubicBezTo>
                      <a:pt x="2" y="6"/>
                      <a:pt x="2" y="6"/>
                      <a:pt x="3" y="6"/>
                    </a:cubicBezTo>
                    <a:cubicBezTo>
                      <a:pt x="4" y="6"/>
                      <a:pt x="5" y="6"/>
                      <a:pt x="7" y="6"/>
                    </a:cubicBezTo>
                    <a:cubicBezTo>
                      <a:pt x="7" y="6"/>
                      <a:pt x="8" y="5"/>
                      <a:pt x="9" y="5"/>
                    </a:cubicBezTo>
                    <a:cubicBezTo>
                      <a:pt x="9" y="4"/>
                      <a:pt x="8" y="3"/>
                      <a:pt x="7" y="3"/>
                    </a:cubicBezTo>
                    <a:cubicBezTo>
                      <a:pt x="7" y="2"/>
                      <a:pt x="7" y="2"/>
                      <a:pt x="7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5" name="ïṣḻîďe">
                <a:extLst>
                  <a:ext uri="{FF2B5EF4-FFF2-40B4-BE49-F238E27FC236}">
                    <a16:creationId xmlns:a16="http://schemas.microsoft.com/office/drawing/2014/main" id="{178A6745-1D6D-71F9-C3F8-84CF9445D1C3}"/>
                  </a:ext>
                </a:extLst>
              </p:cNvPr>
              <p:cNvSpPr/>
              <p:nvPr/>
            </p:nvSpPr>
            <p:spPr bwMode="auto">
              <a:xfrm>
                <a:off x="6299930" y="3368127"/>
                <a:ext cx="58846" cy="101457"/>
              </a:xfrm>
              <a:custGeom>
                <a:avLst/>
                <a:gdLst>
                  <a:gd name="T0" fmla="*/ 12 w 14"/>
                  <a:gd name="T1" fmla="*/ 0 h 24"/>
                  <a:gd name="T2" fmla="*/ 13 w 14"/>
                  <a:gd name="T3" fmla="*/ 10 h 24"/>
                  <a:gd name="T4" fmla="*/ 10 w 14"/>
                  <a:gd name="T5" fmla="*/ 19 h 24"/>
                  <a:gd name="T6" fmla="*/ 8 w 14"/>
                  <a:gd name="T7" fmla="*/ 22 h 24"/>
                  <a:gd name="T8" fmla="*/ 4 w 14"/>
                  <a:gd name="T9" fmla="*/ 24 h 24"/>
                  <a:gd name="T10" fmla="*/ 1 w 14"/>
                  <a:gd name="T11" fmla="*/ 18 h 24"/>
                  <a:gd name="T12" fmla="*/ 1 w 14"/>
                  <a:gd name="T13" fmla="*/ 18 h 24"/>
                  <a:gd name="T14" fmla="*/ 3 w 14"/>
                  <a:gd name="T15" fmla="*/ 15 h 24"/>
                  <a:gd name="T16" fmla="*/ 3 w 14"/>
                  <a:gd name="T17" fmla="*/ 11 h 24"/>
                  <a:gd name="T18" fmla="*/ 5 w 14"/>
                  <a:gd name="T19" fmla="*/ 6 h 24"/>
                  <a:gd name="T20" fmla="*/ 7 w 14"/>
                  <a:gd name="T21" fmla="*/ 6 h 24"/>
                  <a:gd name="T22" fmla="*/ 11 w 14"/>
                  <a:gd name="T23" fmla="*/ 1 h 24"/>
                  <a:gd name="T24" fmla="*/ 12 w 14"/>
                  <a:gd name="T2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" h="24">
                    <a:moveTo>
                      <a:pt x="12" y="0"/>
                    </a:moveTo>
                    <a:cubicBezTo>
                      <a:pt x="13" y="3"/>
                      <a:pt x="14" y="7"/>
                      <a:pt x="13" y="10"/>
                    </a:cubicBezTo>
                    <a:cubicBezTo>
                      <a:pt x="11" y="13"/>
                      <a:pt x="11" y="16"/>
                      <a:pt x="10" y="19"/>
                    </a:cubicBezTo>
                    <a:cubicBezTo>
                      <a:pt x="9" y="20"/>
                      <a:pt x="9" y="21"/>
                      <a:pt x="8" y="22"/>
                    </a:cubicBezTo>
                    <a:cubicBezTo>
                      <a:pt x="7" y="24"/>
                      <a:pt x="7" y="24"/>
                      <a:pt x="4" y="24"/>
                    </a:cubicBezTo>
                    <a:cubicBezTo>
                      <a:pt x="1" y="23"/>
                      <a:pt x="0" y="20"/>
                      <a:pt x="1" y="18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2" y="17"/>
                      <a:pt x="2" y="16"/>
                      <a:pt x="3" y="15"/>
                    </a:cubicBezTo>
                    <a:cubicBezTo>
                      <a:pt x="3" y="13"/>
                      <a:pt x="3" y="12"/>
                      <a:pt x="3" y="11"/>
                    </a:cubicBezTo>
                    <a:cubicBezTo>
                      <a:pt x="3" y="9"/>
                      <a:pt x="4" y="7"/>
                      <a:pt x="5" y="6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8" y="4"/>
                      <a:pt x="10" y="3"/>
                      <a:pt x="11" y="1"/>
                    </a:cubicBezTo>
                    <a:cubicBezTo>
                      <a:pt x="12" y="1"/>
                      <a:pt x="12" y="0"/>
                      <a:pt x="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6" name="ïṧľîḓè">
                <a:extLst>
                  <a:ext uri="{FF2B5EF4-FFF2-40B4-BE49-F238E27FC236}">
                    <a16:creationId xmlns:a16="http://schemas.microsoft.com/office/drawing/2014/main" id="{459387A2-8BA0-DB26-6EB1-6598DC9F00A6}"/>
                  </a:ext>
                </a:extLst>
              </p:cNvPr>
              <p:cNvSpPr/>
              <p:nvPr/>
            </p:nvSpPr>
            <p:spPr bwMode="auto">
              <a:xfrm>
                <a:off x="5599874" y="2655895"/>
                <a:ext cx="131895" cy="44641"/>
              </a:xfrm>
              <a:custGeom>
                <a:avLst/>
                <a:gdLst>
                  <a:gd name="T0" fmla="*/ 31 w 31"/>
                  <a:gd name="T1" fmla="*/ 0 h 11"/>
                  <a:gd name="T2" fmla="*/ 22 w 31"/>
                  <a:gd name="T3" fmla="*/ 4 h 11"/>
                  <a:gd name="T4" fmla="*/ 9 w 31"/>
                  <a:gd name="T5" fmla="*/ 10 h 11"/>
                  <a:gd name="T6" fmla="*/ 5 w 31"/>
                  <a:gd name="T7" fmla="*/ 9 h 11"/>
                  <a:gd name="T8" fmla="*/ 4 w 31"/>
                  <a:gd name="T9" fmla="*/ 8 h 11"/>
                  <a:gd name="T10" fmla="*/ 0 w 31"/>
                  <a:gd name="T11" fmla="*/ 8 h 11"/>
                  <a:gd name="T12" fmla="*/ 1 w 31"/>
                  <a:gd name="T13" fmla="*/ 7 h 11"/>
                  <a:gd name="T14" fmla="*/ 4 w 31"/>
                  <a:gd name="T15" fmla="*/ 6 h 11"/>
                  <a:gd name="T16" fmla="*/ 7 w 31"/>
                  <a:gd name="T17" fmla="*/ 4 h 11"/>
                  <a:gd name="T18" fmla="*/ 9 w 31"/>
                  <a:gd name="T19" fmla="*/ 3 h 11"/>
                  <a:gd name="T20" fmla="*/ 15 w 31"/>
                  <a:gd name="T21" fmla="*/ 2 h 11"/>
                  <a:gd name="T22" fmla="*/ 19 w 31"/>
                  <a:gd name="T23" fmla="*/ 1 h 11"/>
                  <a:gd name="T24" fmla="*/ 27 w 31"/>
                  <a:gd name="T25" fmla="*/ 0 h 11"/>
                  <a:gd name="T26" fmla="*/ 29 w 31"/>
                  <a:gd name="T27" fmla="*/ 0 h 11"/>
                  <a:gd name="T28" fmla="*/ 31 w 31"/>
                  <a:gd name="T2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1" h="11">
                    <a:moveTo>
                      <a:pt x="31" y="0"/>
                    </a:moveTo>
                    <a:cubicBezTo>
                      <a:pt x="28" y="3"/>
                      <a:pt x="25" y="4"/>
                      <a:pt x="22" y="4"/>
                    </a:cubicBezTo>
                    <a:cubicBezTo>
                      <a:pt x="17" y="5"/>
                      <a:pt x="13" y="7"/>
                      <a:pt x="9" y="10"/>
                    </a:cubicBezTo>
                    <a:cubicBezTo>
                      <a:pt x="7" y="10"/>
                      <a:pt x="6" y="11"/>
                      <a:pt x="5" y="9"/>
                    </a:cubicBezTo>
                    <a:cubicBezTo>
                      <a:pt x="5" y="9"/>
                      <a:pt x="4" y="9"/>
                      <a:pt x="4" y="8"/>
                    </a:cubicBezTo>
                    <a:cubicBezTo>
                      <a:pt x="2" y="8"/>
                      <a:pt x="1" y="8"/>
                      <a:pt x="0" y="8"/>
                    </a:cubicBezTo>
                    <a:cubicBezTo>
                      <a:pt x="0" y="7"/>
                      <a:pt x="1" y="7"/>
                      <a:pt x="1" y="7"/>
                    </a:cubicBezTo>
                    <a:cubicBezTo>
                      <a:pt x="2" y="7"/>
                      <a:pt x="3" y="6"/>
                      <a:pt x="4" y="6"/>
                    </a:cubicBezTo>
                    <a:cubicBezTo>
                      <a:pt x="5" y="6"/>
                      <a:pt x="7" y="6"/>
                      <a:pt x="7" y="4"/>
                    </a:cubicBezTo>
                    <a:cubicBezTo>
                      <a:pt x="7" y="3"/>
                      <a:pt x="8" y="3"/>
                      <a:pt x="9" y="3"/>
                    </a:cubicBezTo>
                    <a:cubicBezTo>
                      <a:pt x="11" y="2"/>
                      <a:pt x="13" y="2"/>
                      <a:pt x="15" y="2"/>
                    </a:cubicBezTo>
                    <a:cubicBezTo>
                      <a:pt x="16" y="2"/>
                      <a:pt x="18" y="1"/>
                      <a:pt x="19" y="1"/>
                    </a:cubicBezTo>
                    <a:cubicBezTo>
                      <a:pt x="21" y="0"/>
                      <a:pt x="24" y="0"/>
                      <a:pt x="27" y="0"/>
                    </a:cubicBezTo>
                    <a:cubicBezTo>
                      <a:pt x="27" y="0"/>
                      <a:pt x="28" y="0"/>
                      <a:pt x="29" y="0"/>
                    </a:cubicBezTo>
                    <a:cubicBezTo>
                      <a:pt x="31" y="0"/>
                      <a:pt x="31" y="0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7" name="iṡḻide">
                <a:extLst>
                  <a:ext uri="{FF2B5EF4-FFF2-40B4-BE49-F238E27FC236}">
                    <a16:creationId xmlns:a16="http://schemas.microsoft.com/office/drawing/2014/main" id="{AE8E162F-E53E-AC3B-5C11-E894BFE112B2}"/>
                  </a:ext>
                </a:extLst>
              </p:cNvPr>
              <p:cNvSpPr/>
              <p:nvPr/>
            </p:nvSpPr>
            <p:spPr bwMode="auto">
              <a:xfrm>
                <a:off x="5938741" y="2820256"/>
                <a:ext cx="75079" cy="54788"/>
              </a:xfrm>
              <a:custGeom>
                <a:avLst/>
                <a:gdLst>
                  <a:gd name="T0" fmla="*/ 11 w 18"/>
                  <a:gd name="T1" fmla="*/ 7 h 13"/>
                  <a:gd name="T2" fmla="*/ 7 w 18"/>
                  <a:gd name="T3" fmla="*/ 5 h 13"/>
                  <a:gd name="T4" fmla="*/ 6 w 18"/>
                  <a:gd name="T5" fmla="*/ 10 h 13"/>
                  <a:gd name="T6" fmla="*/ 0 w 18"/>
                  <a:gd name="T7" fmla="*/ 12 h 13"/>
                  <a:gd name="T8" fmla="*/ 0 w 18"/>
                  <a:gd name="T9" fmla="*/ 6 h 13"/>
                  <a:gd name="T10" fmla="*/ 4 w 18"/>
                  <a:gd name="T11" fmla="*/ 4 h 13"/>
                  <a:gd name="T12" fmla="*/ 6 w 18"/>
                  <a:gd name="T13" fmla="*/ 4 h 13"/>
                  <a:gd name="T14" fmla="*/ 8 w 18"/>
                  <a:gd name="T15" fmla="*/ 3 h 13"/>
                  <a:gd name="T16" fmla="*/ 8 w 18"/>
                  <a:gd name="T17" fmla="*/ 1 h 13"/>
                  <a:gd name="T18" fmla="*/ 10 w 18"/>
                  <a:gd name="T19" fmla="*/ 0 h 13"/>
                  <a:gd name="T20" fmla="*/ 12 w 18"/>
                  <a:gd name="T21" fmla="*/ 1 h 13"/>
                  <a:gd name="T22" fmla="*/ 12 w 18"/>
                  <a:gd name="T23" fmla="*/ 4 h 13"/>
                  <a:gd name="T24" fmla="*/ 13 w 18"/>
                  <a:gd name="T25" fmla="*/ 5 h 13"/>
                  <a:gd name="T26" fmla="*/ 15 w 18"/>
                  <a:gd name="T27" fmla="*/ 8 h 13"/>
                  <a:gd name="T28" fmla="*/ 18 w 18"/>
                  <a:gd name="T29" fmla="*/ 10 h 13"/>
                  <a:gd name="T30" fmla="*/ 15 w 18"/>
                  <a:gd name="T31" fmla="*/ 12 h 13"/>
                  <a:gd name="T32" fmla="*/ 12 w 18"/>
                  <a:gd name="T33" fmla="*/ 13 h 13"/>
                  <a:gd name="T34" fmla="*/ 9 w 18"/>
                  <a:gd name="T35" fmla="*/ 13 h 13"/>
                  <a:gd name="T36" fmla="*/ 9 w 18"/>
                  <a:gd name="T37" fmla="*/ 13 h 13"/>
                  <a:gd name="T38" fmla="*/ 11 w 18"/>
                  <a:gd name="T39" fmla="*/ 12 h 13"/>
                  <a:gd name="T40" fmla="*/ 9 w 18"/>
                  <a:gd name="T41" fmla="*/ 9 h 13"/>
                  <a:gd name="T42" fmla="*/ 11 w 18"/>
                  <a:gd name="T43" fmla="*/ 7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8" h="13">
                    <a:moveTo>
                      <a:pt x="11" y="7"/>
                    </a:moveTo>
                    <a:cubicBezTo>
                      <a:pt x="10" y="5"/>
                      <a:pt x="8" y="5"/>
                      <a:pt x="7" y="5"/>
                    </a:cubicBezTo>
                    <a:cubicBezTo>
                      <a:pt x="5" y="7"/>
                      <a:pt x="5" y="8"/>
                      <a:pt x="6" y="10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0"/>
                      <a:pt x="2" y="8"/>
                      <a:pt x="0" y="6"/>
                    </a:cubicBezTo>
                    <a:cubicBezTo>
                      <a:pt x="1" y="5"/>
                      <a:pt x="3" y="4"/>
                      <a:pt x="4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7" y="4"/>
                      <a:pt x="8" y="4"/>
                      <a:pt x="8" y="3"/>
                    </a:cubicBezTo>
                    <a:cubicBezTo>
                      <a:pt x="8" y="2"/>
                      <a:pt x="8" y="2"/>
                      <a:pt x="8" y="1"/>
                    </a:cubicBezTo>
                    <a:cubicBezTo>
                      <a:pt x="9" y="1"/>
                      <a:pt x="9" y="0"/>
                      <a:pt x="10" y="0"/>
                    </a:cubicBezTo>
                    <a:cubicBezTo>
                      <a:pt x="10" y="0"/>
                      <a:pt x="11" y="0"/>
                      <a:pt x="12" y="1"/>
                    </a:cubicBezTo>
                    <a:cubicBezTo>
                      <a:pt x="10" y="2"/>
                      <a:pt x="11" y="3"/>
                      <a:pt x="12" y="4"/>
                    </a:cubicBezTo>
                    <a:cubicBezTo>
                      <a:pt x="13" y="4"/>
                      <a:pt x="13" y="4"/>
                      <a:pt x="13" y="5"/>
                    </a:cubicBezTo>
                    <a:cubicBezTo>
                      <a:pt x="14" y="6"/>
                      <a:pt x="14" y="7"/>
                      <a:pt x="15" y="8"/>
                    </a:cubicBezTo>
                    <a:cubicBezTo>
                      <a:pt x="16" y="9"/>
                      <a:pt x="17" y="9"/>
                      <a:pt x="18" y="10"/>
                    </a:cubicBezTo>
                    <a:cubicBezTo>
                      <a:pt x="17" y="10"/>
                      <a:pt x="16" y="11"/>
                      <a:pt x="15" y="12"/>
                    </a:cubicBezTo>
                    <a:cubicBezTo>
                      <a:pt x="14" y="13"/>
                      <a:pt x="13" y="13"/>
                      <a:pt x="12" y="13"/>
                    </a:cubicBezTo>
                    <a:cubicBezTo>
                      <a:pt x="11" y="13"/>
                      <a:pt x="10" y="13"/>
                      <a:pt x="9" y="13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0" y="11"/>
                      <a:pt x="9" y="10"/>
                      <a:pt x="9" y="9"/>
                    </a:cubicBezTo>
                    <a:cubicBezTo>
                      <a:pt x="9" y="8"/>
                      <a:pt x="10" y="8"/>
                      <a:pt x="11" y="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8" name="išľíḋè">
                <a:extLst>
                  <a:ext uri="{FF2B5EF4-FFF2-40B4-BE49-F238E27FC236}">
                    <a16:creationId xmlns:a16="http://schemas.microsoft.com/office/drawing/2014/main" id="{EB78ADFC-AB2D-8F5C-D19E-6A978847E8CE}"/>
                  </a:ext>
                </a:extLst>
              </p:cNvPr>
              <p:cNvSpPr/>
              <p:nvPr/>
            </p:nvSpPr>
            <p:spPr bwMode="auto">
              <a:xfrm>
                <a:off x="5883955" y="2761411"/>
                <a:ext cx="44641" cy="20291"/>
              </a:xfrm>
              <a:custGeom>
                <a:avLst/>
                <a:gdLst>
                  <a:gd name="T0" fmla="*/ 0 w 11"/>
                  <a:gd name="T1" fmla="*/ 2 h 5"/>
                  <a:gd name="T2" fmla="*/ 2 w 11"/>
                  <a:gd name="T3" fmla="*/ 2 h 5"/>
                  <a:gd name="T4" fmla="*/ 8 w 11"/>
                  <a:gd name="T5" fmla="*/ 0 h 5"/>
                  <a:gd name="T6" fmla="*/ 11 w 11"/>
                  <a:gd name="T7" fmla="*/ 1 h 5"/>
                  <a:gd name="T8" fmla="*/ 10 w 11"/>
                  <a:gd name="T9" fmla="*/ 3 h 5"/>
                  <a:gd name="T10" fmla="*/ 6 w 11"/>
                  <a:gd name="T11" fmla="*/ 5 h 5"/>
                  <a:gd name="T12" fmla="*/ 2 w 11"/>
                  <a:gd name="T13" fmla="*/ 4 h 5"/>
                  <a:gd name="T14" fmla="*/ 0 w 11"/>
                  <a:gd name="T15" fmla="*/ 3 h 5"/>
                  <a:gd name="T16" fmla="*/ 0 w 11"/>
                  <a:gd name="T17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5">
                    <a:moveTo>
                      <a:pt x="0" y="2"/>
                    </a:moveTo>
                    <a:cubicBezTo>
                      <a:pt x="0" y="2"/>
                      <a:pt x="1" y="2"/>
                      <a:pt x="2" y="2"/>
                    </a:cubicBezTo>
                    <a:cubicBezTo>
                      <a:pt x="4" y="1"/>
                      <a:pt x="6" y="0"/>
                      <a:pt x="8" y="0"/>
                    </a:cubicBezTo>
                    <a:cubicBezTo>
                      <a:pt x="9" y="0"/>
                      <a:pt x="10" y="0"/>
                      <a:pt x="11" y="1"/>
                    </a:cubicBezTo>
                    <a:cubicBezTo>
                      <a:pt x="11" y="2"/>
                      <a:pt x="10" y="2"/>
                      <a:pt x="10" y="3"/>
                    </a:cubicBezTo>
                    <a:cubicBezTo>
                      <a:pt x="8" y="4"/>
                      <a:pt x="7" y="4"/>
                      <a:pt x="6" y="5"/>
                    </a:cubicBezTo>
                    <a:cubicBezTo>
                      <a:pt x="4" y="5"/>
                      <a:pt x="3" y="5"/>
                      <a:pt x="2" y="4"/>
                    </a:cubicBezTo>
                    <a:cubicBezTo>
                      <a:pt x="1" y="3"/>
                      <a:pt x="0" y="3"/>
                      <a:pt x="0" y="3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9" name="ïśļîďe">
                <a:extLst>
                  <a:ext uri="{FF2B5EF4-FFF2-40B4-BE49-F238E27FC236}">
                    <a16:creationId xmlns:a16="http://schemas.microsoft.com/office/drawing/2014/main" id="{C25564E3-4FFC-2E66-31AA-134F88FC18E8}"/>
                  </a:ext>
                </a:extLst>
              </p:cNvPr>
              <p:cNvSpPr/>
              <p:nvPr/>
            </p:nvSpPr>
            <p:spPr bwMode="auto">
              <a:xfrm>
                <a:off x="5622194" y="2875043"/>
                <a:ext cx="36525" cy="24350"/>
              </a:xfrm>
              <a:custGeom>
                <a:avLst/>
                <a:gdLst>
                  <a:gd name="T0" fmla="*/ 0 w 9"/>
                  <a:gd name="T1" fmla="*/ 5 h 6"/>
                  <a:gd name="T2" fmla="*/ 7 w 9"/>
                  <a:gd name="T3" fmla="*/ 0 h 6"/>
                  <a:gd name="T4" fmla="*/ 5 w 9"/>
                  <a:gd name="T5" fmla="*/ 1 h 6"/>
                  <a:gd name="T6" fmla="*/ 7 w 9"/>
                  <a:gd name="T7" fmla="*/ 2 h 6"/>
                  <a:gd name="T8" fmla="*/ 8 w 9"/>
                  <a:gd name="T9" fmla="*/ 4 h 6"/>
                  <a:gd name="T10" fmla="*/ 6 w 9"/>
                  <a:gd name="T11" fmla="*/ 6 h 6"/>
                  <a:gd name="T12" fmla="*/ 0 w 9"/>
                  <a:gd name="T13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6">
                    <a:moveTo>
                      <a:pt x="0" y="5"/>
                    </a:moveTo>
                    <a:cubicBezTo>
                      <a:pt x="2" y="3"/>
                      <a:pt x="4" y="1"/>
                      <a:pt x="7" y="0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6" y="1"/>
                      <a:pt x="7" y="2"/>
                      <a:pt x="7" y="2"/>
                    </a:cubicBezTo>
                    <a:cubicBezTo>
                      <a:pt x="7" y="2"/>
                      <a:pt x="9" y="4"/>
                      <a:pt x="8" y="4"/>
                    </a:cubicBezTo>
                    <a:cubicBezTo>
                      <a:pt x="8" y="5"/>
                      <a:pt x="7" y="6"/>
                      <a:pt x="6" y="6"/>
                    </a:cubicBezTo>
                    <a:cubicBezTo>
                      <a:pt x="4" y="5"/>
                      <a:pt x="2" y="5"/>
                      <a:pt x="0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0" name="iṡľïďe">
                <a:extLst>
                  <a:ext uri="{FF2B5EF4-FFF2-40B4-BE49-F238E27FC236}">
                    <a16:creationId xmlns:a16="http://schemas.microsoft.com/office/drawing/2014/main" id="{C18FC19B-DF8A-86D3-DFB0-318D0F6B142A}"/>
                  </a:ext>
                </a:extLst>
              </p:cNvPr>
              <p:cNvSpPr/>
              <p:nvPr/>
            </p:nvSpPr>
            <p:spPr bwMode="auto">
              <a:xfrm>
                <a:off x="5137228" y="2540234"/>
                <a:ext cx="1075449" cy="1379821"/>
              </a:xfrm>
              <a:custGeom>
                <a:avLst/>
                <a:gdLst>
                  <a:gd name="T0" fmla="*/ 255 w 255"/>
                  <a:gd name="T1" fmla="*/ 281 h 327"/>
                  <a:gd name="T2" fmla="*/ 254 w 255"/>
                  <a:gd name="T3" fmla="*/ 283 h 327"/>
                  <a:gd name="T4" fmla="*/ 43 w 255"/>
                  <a:gd name="T5" fmla="*/ 230 h 327"/>
                  <a:gd name="T6" fmla="*/ 96 w 255"/>
                  <a:gd name="T7" fmla="*/ 20 h 327"/>
                  <a:gd name="T8" fmla="*/ 150 w 255"/>
                  <a:gd name="T9" fmla="*/ 0 h 327"/>
                  <a:gd name="T10" fmla="*/ 120 w 255"/>
                  <a:gd name="T11" fmla="*/ 30 h 327"/>
                  <a:gd name="T12" fmla="*/ 115 w 255"/>
                  <a:gd name="T13" fmla="*/ 36 h 327"/>
                  <a:gd name="T14" fmla="*/ 111 w 255"/>
                  <a:gd name="T15" fmla="*/ 42 h 327"/>
                  <a:gd name="T16" fmla="*/ 108 w 255"/>
                  <a:gd name="T17" fmla="*/ 46 h 327"/>
                  <a:gd name="T18" fmla="*/ 98 w 255"/>
                  <a:gd name="T19" fmla="*/ 64 h 327"/>
                  <a:gd name="T20" fmla="*/ 98 w 255"/>
                  <a:gd name="T21" fmla="*/ 64 h 327"/>
                  <a:gd name="T22" fmla="*/ 87 w 255"/>
                  <a:gd name="T23" fmla="*/ 99 h 327"/>
                  <a:gd name="T24" fmla="*/ 91 w 255"/>
                  <a:gd name="T25" fmla="*/ 155 h 327"/>
                  <a:gd name="T26" fmla="*/ 103 w 255"/>
                  <a:gd name="T27" fmla="*/ 181 h 327"/>
                  <a:gd name="T28" fmla="*/ 129 w 255"/>
                  <a:gd name="T29" fmla="*/ 217 h 327"/>
                  <a:gd name="T30" fmla="*/ 255 w 255"/>
                  <a:gd name="T31" fmla="*/ 281 h 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5" h="327">
                    <a:moveTo>
                      <a:pt x="255" y="281"/>
                    </a:moveTo>
                    <a:cubicBezTo>
                      <a:pt x="254" y="283"/>
                      <a:pt x="254" y="283"/>
                      <a:pt x="254" y="283"/>
                    </a:cubicBezTo>
                    <a:cubicBezTo>
                      <a:pt x="182" y="327"/>
                      <a:pt x="87" y="303"/>
                      <a:pt x="43" y="230"/>
                    </a:cubicBezTo>
                    <a:cubicBezTo>
                      <a:pt x="0" y="158"/>
                      <a:pt x="23" y="63"/>
                      <a:pt x="96" y="20"/>
                    </a:cubicBezTo>
                    <a:cubicBezTo>
                      <a:pt x="113" y="10"/>
                      <a:pt x="131" y="3"/>
                      <a:pt x="150" y="0"/>
                    </a:cubicBezTo>
                    <a:cubicBezTo>
                      <a:pt x="139" y="9"/>
                      <a:pt x="129" y="19"/>
                      <a:pt x="120" y="30"/>
                    </a:cubicBezTo>
                    <a:cubicBezTo>
                      <a:pt x="119" y="32"/>
                      <a:pt x="117" y="34"/>
                      <a:pt x="115" y="36"/>
                    </a:cubicBezTo>
                    <a:cubicBezTo>
                      <a:pt x="113" y="39"/>
                      <a:pt x="112" y="40"/>
                      <a:pt x="111" y="42"/>
                    </a:cubicBezTo>
                    <a:cubicBezTo>
                      <a:pt x="110" y="44"/>
                      <a:pt x="109" y="45"/>
                      <a:pt x="108" y="46"/>
                    </a:cubicBezTo>
                    <a:cubicBezTo>
                      <a:pt x="104" y="52"/>
                      <a:pt x="101" y="58"/>
                      <a:pt x="98" y="64"/>
                    </a:cubicBezTo>
                    <a:cubicBezTo>
                      <a:pt x="98" y="64"/>
                      <a:pt x="98" y="64"/>
                      <a:pt x="98" y="64"/>
                    </a:cubicBezTo>
                    <a:cubicBezTo>
                      <a:pt x="93" y="75"/>
                      <a:pt x="89" y="87"/>
                      <a:pt x="87" y="99"/>
                    </a:cubicBezTo>
                    <a:cubicBezTo>
                      <a:pt x="83" y="118"/>
                      <a:pt x="85" y="137"/>
                      <a:pt x="91" y="155"/>
                    </a:cubicBezTo>
                    <a:cubicBezTo>
                      <a:pt x="94" y="164"/>
                      <a:pt x="98" y="173"/>
                      <a:pt x="103" y="181"/>
                    </a:cubicBezTo>
                    <a:cubicBezTo>
                      <a:pt x="111" y="194"/>
                      <a:pt x="119" y="206"/>
                      <a:pt x="129" y="217"/>
                    </a:cubicBezTo>
                    <a:cubicBezTo>
                      <a:pt x="187" y="285"/>
                      <a:pt x="255" y="281"/>
                      <a:pt x="255" y="281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1" name="ïṩḻide">
                <a:extLst>
                  <a:ext uri="{FF2B5EF4-FFF2-40B4-BE49-F238E27FC236}">
                    <a16:creationId xmlns:a16="http://schemas.microsoft.com/office/drawing/2014/main" id="{763E4FD1-B19B-A5D9-8049-A67FF99AF64A}"/>
                  </a:ext>
                </a:extLst>
              </p:cNvPr>
              <p:cNvSpPr/>
              <p:nvPr/>
            </p:nvSpPr>
            <p:spPr bwMode="auto">
              <a:xfrm>
                <a:off x="8304729" y="3301164"/>
                <a:ext cx="606716" cy="375393"/>
              </a:xfrm>
              <a:custGeom>
                <a:avLst/>
                <a:gdLst>
                  <a:gd name="T0" fmla="*/ 140 w 144"/>
                  <a:gd name="T1" fmla="*/ 73 h 89"/>
                  <a:gd name="T2" fmla="*/ 117 w 144"/>
                  <a:gd name="T3" fmla="*/ 86 h 89"/>
                  <a:gd name="T4" fmla="*/ 2 w 144"/>
                  <a:gd name="T5" fmla="*/ 86 h 89"/>
                  <a:gd name="T6" fmla="*/ 2 w 144"/>
                  <a:gd name="T7" fmla="*/ 76 h 89"/>
                  <a:gd name="T8" fmla="*/ 2 w 144"/>
                  <a:gd name="T9" fmla="*/ 75 h 89"/>
                  <a:gd name="T10" fmla="*/ 34 w 144"/>
                  <a:gd name="T11" fmla="*/ 75 h 89"/>
                  <a:gd name="T12" fmla="*/ 25 w 144"/>
                  <a:gd name="T13" fmla="*/ 31 h 89"/>
                  <a:gd name="T14" fmla="*/ 108 w 144"/>
                  <a:gd name="T15" fmla="*/ 0 h 89"/>
                  <a:gd name="T16" fmla="*/ 116 w 144"/>
                  <a:gd name="T17" fmla="*/ 0 h 89"/>
                  <a:gd name="T18" fmla="*/ 140 w 144"/>
                  <a:gd name="T19" fmla="*/ 73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4" h="89">
                    <a:moveTo>
                      <a:pt x="140" y="73"/>
                    </a:moveTo>
                    <a:cubicBezTo>
                      <a:pt x="136" y="89"/>
                      <a:pt x="117" y="86"/>
                      <a:pt x="117" y="86"/>
                    </a:cubicBezTo>
                    <a:cubicBezTo>
                      <a:pt x="117" y="86"/>
                      <a:pt x="5" y="88"/>
                      <a:pt x="2" y="86"/>
                    </a:cubicBezTo>
                    <a:cubicBezTo>
                      <a:pt x="0" y="84"/>
                      <a:pt x="2" y="78"/>
                      <a:pt x="2" y="76"/>
                    </a:cubicBezTo>
                    <a:cubicBezTo>
                      <a:pt x="2" y="75"/>
                      <a:pt x="2" y="75"/>
                      <a:pt x="2" y="75"/>
                    </a:cubicBezTo>
                    <a:cubicBezTo>
                      <a:pt x="34" y="75"/>
                      <a:pt x="34" y="75"/>
                      <a:pt x="34" y="75"/>
                    </a:cubicBezTo>
                    <a:cubicBezTo>
                      <a:pt x="34" y="75"/>
                      <a:pt x="49" y="67"/>
                      <a:pt x="25" y="31"/>
                    </a:cubicBezTo>
                    <a:cubicBezTo>
                      <a:pt x="4" y="1"/>
                      <a:pt x="82" y="0"/>
                      <a:pt x="108" y="0"/>
                    </a:cubicBezTo>
                    <a:cubicBezTo>
                      <a:pt x="113" y="0"/>
                      <a:pt x="116" y="0"/>
                      <a:pt x="116" y="0"/>
                    </a:cubicBezTo>
                    <a:cubicBezTo>
                      <a:pt x="116" y="0"/>
                      <a:pt x="144" y="57"/>
                      <a:pt x="140" y="73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2" name="îṡḻíḍè">
                <a:extLst>
                  <a:ext uri="{FF2B5EF4-FFF2-40B4-BE49-F238E27FC236}">
                    <a16:creationId xmlns:a16="http://schemas.microsoft.com/office/drawing/2014/main" id="{07EEC001-CA18-D9DE-9F1B-0583A0EBECD3}"/>
                  </a:ext>
                </a:extLst>
              </p:cNvPr>
              <p:cNvSpPr/>
              <p:nvPr/>
            </p:nvSpPr>
            <p:spPr bwMode="auto">
              <a:xfrm>
                <a:off x="8312845" y="3301164"/>
                <a:ext cx="539754" cy="328722"/>
              </a:xfrm>
              <a:custGeom>
                <a:avLst/>
                <a:gdLst>
                  <a:gd name="T0" fmla="*/ 125 w 128"/>
                  <a:gd name="T1" fmla="*/ 61 h 78"/>
                  <a:gd name="T2" fmla="*/ 101 w 128"/>
                  <a:gd name="T3" fmla="*/ 75 h 78"/>
                  <a:gd name="T4" fmla="*/ 0 w 128"/>
                  <a:gd name="T5" fmla="*/ 76 h 78"/>
                  <a:gd name="T6" fmla="*/ 0 w 128"/>
                  <a:gd name="T7" fmla="*/ 75 h 78"/>
                  <a:gd name="T8" fmla="*/ 32 w 128"/>
                  <a:gd name="T9" fmla="*/ 75 h 78"/>
                  <a:gd name="T10" fmla="*/ 23 w 128"/>
                  <a:gd name="T11" fmla="*/ 31 h 78"/>
                  <a:gd name="T12" fmla="*/ 106 w 128"/>
                  <a:gd name="T13" fmla="*/ 0 h 78"/>
                  <a:gd name="T14" fmla="*/ 125 w 128"/>
                  <a:gd name="T15" fmla="*/ 6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8" h="78">
                    <a:moveTo>
                      <a:pt x="125" y="61"/>
                    </a:moveTo>
                    <a:cubicBezTo>
                      <a:pt x="121" y="78"/>
                      <a:pt x="101" y="75"/>
                      <a:pt x="101" y="75"/>
                    </a:cubicBezTo>
                    <a:cubicBezTo>
                      <a:pt x="101" y="75"/>
                      <a:pt x="30" y="76"/>
                      <a:pt x="0" y="76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2" y="75"/>
                      <a:pt x="47" y="67"/>
                      <a:pt x="23" y="31"/>
                    </a:cubicBezTo>
                    <a:cubicBezTo>
                      <a:pt x="2" y="1"/>
                      <a:pt x="80" y="0"/>
                      <a:pt x="106" y="0"/>
                    </a:cubicBezTo>
                    <a:cubicBezTo>
                      <a:pt x="114" y="18"/>
                      <a:pt x="128" y="50"/>
                      <a:pt x="125" y="61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3" name="ísḻïḑé">
                <a:extLst>
                  <a:ext uri="{FF2B5EF4-FFF2-40B4-BE49-F238E27FC236}">
                    <a16:creationId xmlns:a16="http://schemas.microsoft.com/office/drawing/2014/main" id="{F70AFE7B-BDA8-6328-5FA7-A044423CF469}"/>
                  </a:ext>
                </a:extLst>
              </p:cNvPr>
              <p:cNvSpPr/>
              <p:nvPr/>
            </p:nvSpPr>
            <p:spPr bwMode="auto">
              <a:xfrm>
                <a:off x="8312845" y="3301164"/>
                <a:ext cx="555987" cy="336839"/>
              </a:xfrm>
              <a:custGeom>
                <a:avLst/>
                <a:gdLst>
                  <a:gd name="T0" fmla="*/ 129 w 132"/>
                  <a:gd name="T1" fmla="*/ 64 h 80"/>
                  <a:gd name="T2" fmla="*/ 101 w 132"/>
                  <a:gd name="T3" fmla="*/ 75 h 80"/>
                  <a:gd name="T4" fmla="*/ 0 w 132"/>
                  <a:gd name="T5" fmla="*/ 76 h 80"/>
                  <a:gd name="T6" fmla="*/ 0 w 132"/>
                  <a:gd name="T7" fmla="*/ 75 h 80"/>
                  <a:gd name="T8" fmla="*/ 32 w 132"/>
                  <a:gd name="T9" fmla="*/ 75 h 80"/>
                  <a:gd name="T10" fmla="*/ 23 w 132"/>
                  <a:gd name="T11" fmla="*/ 31 h 80"/>
                  <a:gd name="T12" fmla="*/ 106 w 132"/>
                  <a:gd name="T13" fmla="*/ 0 h 80"/>
                  <a:gd name="T14" fmla="*/ 129 w 132"/>
                  <a:gd name="T15" fmla="*/ 64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2" h="80">
                    <a:moveTo>
                      <a:pt x="129" y="64"/>
                    </a:moveTo>
                    <a:cubicBezTo>
                      <a:pt x="125" y="80"/>
                      <a:pt x="101" y="75"/>
                      <a:pt x="101" y="75"/>
                    </a:cubicBezTo>
                    <a:cubicBezTo>
                      <a:pt x="101" y="75"/>
                      <a:pt x="30" y="76"/>
                      <a:pt x="0" y="76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32" y="75"/>
                      <a:pt x="32" y="75"/>
                      <a:pt x="32" y="75"/>
                    </a:cubicBezTo>
                    <a:cubicBezTo>
                      <a:pt x="32" y="75"/>
                      <a:pt x="48" y="67"/>
                      <a:pt x="23" y="31"/>
                    </a:cubicBezTo>
                    <a:cubicBezTo>
                      <a:pt x="2" y="1"/>
                      <a:pt x="80" y="0"/>
                      <a:pt x="106" y="0"/>
                    </a:cubicBezTo>
                    <a:cubicBezTo>
                      <a:pt x="114" y="18"/>
                      <a:pt x="132" y="52"/>
                      <a:pt x="129" y="64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4" name="iṥľîḓé">
                <a:extLst>
                  <a:ext uri="{FF2B5EF4-FFF2-40B4-BE49-F238E27FC236}">
                    <a16:creationId xmlns:a16="http://schemas.microsoft.com/office/drawing/2014/main" id="{5B3012A9-DA01-4CFD-DBD1-3033D56D7BD5}"/>
                  </a:ext>
                </a:extLst>
              </p:cNvPr>
              <p:cNvSpPr/>
              <p:nvPr/>
            </p:nvSpPr>
            <p:spPr bwMode="auto">
              <a:xfrm>
                <a:off x="7953686" y="2621400"/>
                <a:ext cx="1203286" cy="805573"/>
              </a:xfrm>
              <a:custGeom>
                <a:avLst/>
                <a:gdLst>
                  <a:gd name="T0" fmla="*/ 23 w 285"/>
                  <a:gd name="T1" fmla="*/ 0 h 191"/>
                  <a:gd name="T2" fmla="*/ 262 w 285"/>
                  <a:gd name="T3" fmla="*/ 0 h 191"/>
                  <a:gd name="T4" fmla="*/ 285 w 285"/>
                  <a:gd name="T5" fmla="*/ 23 h 191"/>
                  <a:gd name="T6" fmla="*/ 285 w 285"/>
                  <a:gd name="T7" fmla="*/ 169 h 191"/>
                  <a:gd name="T8" fmla="*/ 262 w 285"/>
                  <a:gd name="T9" fmla="*/ 191 h 191"/>
                  <a:gd name="T10" fmla="*/ 23 w 285"/>
                  <a:gd name="T11" fmla="*/ 191 h 191"/>
                  <a:gd name="T12" fmla="*/ 0 w 285"/>
                  <a:gd name="T13" fmla="*/ 169 h 191"/>
                  <a:gd name="T14" fmla="*/ 0 w 285"/>
                  <a:gd name="T15" fmla="*/ 23 h 191"/>
                  <a:gd name="T16" fmla="*/ 23 w 285"/>
                  <a:gd name="T17" fmla="*/ 0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5" h="191">
                    <a:moveTo>
                      <a:pt x="23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75" y="0"/>
                      <a:pt x="285" y="10"/>
                      <a:pt x="285" y="23"/>
                    </a:cubicBezTo>
                    <a:cubicBezTo>
                      <a:pt x="285" y="169"/>
                      <a:pt x="285" y="169"/>
                      <a:pt x="285" y="169"/>
                    </a:cubicBezTo>
                    <a:cubicBezTo>
                      <a:pt x="285" y="181"/>
                      <a:pt x="275" y="191"/>
                      <a:pt x="262" y="191"/>
                    </a:cubicBezTo>
                    <a:cubicBezTo>
                      <a:pt x="23" y="191"/>
                      <a:pt x="23" y="191"/>
                      <a:pt x="23" y="191"/>
                    </a:cubicBezTo>
                    <a:cubicBezTo>
                      <a:pt x="10" y="191"/>
                      <a:pt x="0" y="181"/>
                      <a:pt x="0" y="169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3" y="0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5" name="îSḻíḍè">
                <a:extLst>
                  <a:ext uri="{FF2B5EF4-FFF2-40B4-BE49-F238E27FC236}">
                    <a16:creationId xmlns:a16="http://schemas.microsoft.com/office/drawing/2014/main" id="{FBDFF493-97DB-E63D-CBAB-FB81C3176A1E}"/>
                  </a:ext>
                </a:extLst>
              </p:cNvPr>
              <p:cNvSpPr/>
              <p:nvPr/>
            </p:nvSpPr>
            <p:spPr bwMode="auto">
              <a:xfrm>
                <a:off x="7953686" y="2621400"/>
                <a:ext cx="1203286" cy="805573"/>
              </a:xfrm>
              <a:custGeom>
                <a:avLst/>
                <a:gdLst>
                  <a:gd name="T0" fmla="*/ 23 w 285"/>
                  <a:gd name="T1" fmla="*/ 0 h 191"/>
                  <a:gd name="T2" fmla="*/ 262 w 285"/>
                  <a:gd name="T3" fmla="*/ 0 h 191"/>
                  <a:gd name="T4" fmla="*/ 285 w 285"/>
                  <a:gd name="T5" fmla="*/ 23 h 191"/>
                  <a:gd name="T6" fmla="*/ 285 w 285"/>
                  <a:gd name="T7" fmla="*/ 169 h 191"/>
                  <a:gd name="T8" fmla="*/ 262 w 285"/>
                  <a:gd name="T9" fmla="*/ 191 h 191"/>
                  <a:gd name="T10" fmla="*/ 23 w 285"/>
                  <a:gd name="T11" fmla="*/ 191 h 191"/>
                  <a:gd name="T12" fmla="*/ 0 w 285"/>
                  <a:gd name="T13" fmla="*/ 169 h 191"/>
                  <a:gd name="T14" fmla="*/ 0 w 285"/>
                  <a:gd name="T15" fmla="*/ 23 h 191"/>
                  <a:gd name="T16" fmla="*/ 23 w 285"/>
                  <a:gd name="T17" fmla="*/ 0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5" h="191">
                    <a:moveTo>
                      <a:pt x="23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75" y="0"/>
                      <a:pt x="285" y="10"/>
                      <a:pt x="285" y="23"/>
                    </a:cubicBezTo>
                    <a:cubicBezTo>
                      <a:pt x="285" y="169"/>
                      <a:pt x="285" y="169"/>
                      <a:pt x="285" y="169"/>
                    </a:cubicBezTo>
                    <a:cubicBezTo>
                      <a:pt x="285" y="181"/>
                      <a:pt x="275" y="191"/>
                      <a:pt x="262" y="191"/>
                    </a:cubicBezTo>
                    <a:cubicBezTo>
                      <a:pt x="23" y="191"/>
                      <a:pt x="23" y="191"/>
                      <a:pt x="23" y="191"/>
                    </a:cubicBezTo>
                    <a:cubicBezTo>
                      <a:pt x="10" y="191"/>
                      <a:pt x="0" y="181"/>
                      <a:pt x="0" y="169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3" y="0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6" name="ïśľïdé">
                <a:extLst>
                  <a:ext uri="{FF2B5EF4-FFF2-40B4-BE49-F238E27FC236}">
                    <a16:creationId xmlns:a16="http://schemas.microsoft.com/office/drawing/2014/main" id="{18419A5A-53F6-9290-353F-E7369B1B4A46}"/>
                  </a:ext>
                </a:extLst>
              </p:cNvPr>
              <p:cNvSpPr/>
              <p:nvPr/>
            </p:nvSpPr>
            <p:spPr bwMode="auto">
              <a:xfrm>
                <a:off x="7929337" y="2621400"/>
                <a:ext cx="1201256" cy="805573"/>
              </a:xfrm>
              <a:custGeom>
                <a:avLst/>
                <a:gdLst>
                  <a:gd name="T0" fmla="*/ 23 w 285"/>
                  <a:gd name="T1" fmla="*/ 0 h 191"/>
                  <a:gd name="T2" fmla="*/ 262 w 285"/>
                  <a:gd name="T3" fmla="*/ 0 h 191"/>
                  <a:gd name="T4" fmla="*/ 285 w 285"/>
                  <a:gd name="T5" fmla="*/ 23 h 191"/>
                  <a:gd name="T6" fmla="*/ 285 w 285"/>
                  <a:gd name="T7" fmla="*/ 169 h 191"/>
                  <a:gd name="T8" fmla="*/ 262 w 285"/>
                  <a:gd name="T9" fmla="*/ 191 h 191"/>
                  <a:gd name="T10" fmla="*/ 23 w 285"/>
                  <a:gd name="T11" fmla="*/ 191 h 191"/>
                  <a:gd name="T12" fmla="*/ 0 w 285"/>
                  <a:gd name="T13" fmla="*/ 169 h 191"/>
                  <a:gd name="T14" fmla="*/ 0 w 285"/>
                  <a:gd name="T15" fmla="*/ 23 h 191"/>
                  <a:gd name="T16" fmla="*/ 23 w 285"/>
                  <a:gd name="T17" fmla="*/ 0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5" h="191">
                    <a:moveTo>
                      <a:pt x="23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75" y="0"/>
                      <a:pt x="285" y="10"/>
                      <a:pt x="285" y="23"/>
                    </a:cubicBezTo>
                    <a:cubicBezTo>
                      <a:pt x="285" y="169"/>
                      <a:pt x="285" y="169"/>
                      <a:pt x="285" y="169"/>
                    </a:cubicBezTo>
                    <a:cubicBezTo>
                      <a:pt x="285" y="181"/>
                      <a:pt x="275" y="191"/>
                      <a:pt x="262" y="191"/>
                    </a:cubicBezTo>
                    <a:cubicBezTo>
                      <a:pt x="23" y="191"/>
                      <a:pt x="23" y="191"/>
                      <a:pt x="23" y="191"/>
                    </a:cubicBezTo>
                    <a:cubicBezTo>
                      <a:pt x="10" y="191"/>
                      <a:pt x="0" y="181"/>
                      <a:pt x="0" y="169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3" y="0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7" name="işḻíḓê">
                <a:extLst>
                  <a:ext uri="{FF2B5EF4-FFF2-40B4-BE49-F238E27FC236}">
                    <a16:creationId xmlns:a16="http://schemas.microsoft.com/office/drawing/2014/main" id="{E83F18AD-AF70-14A6-529E-101AF81361BC}"/>
                  </a:ext>
                </a:extLst>
              </p:cNvPr>
              <p:cNvSpPr/>
              <p:nvPr/>
            </p:nvSpPr>
            <p:spPr bwMode="auto">
              <a:xfrm>
                <a:off x="7929337" y="2621400"/>
                <a:ext cx="1201256" cy="805573"/>
              </a:xfrm>
              <a:custGeom>
                <a:avLst/>
                <a:gdLst>
                  <a:gd name="T0" fmla="*/ 23 w 285"/>
                  <a:gd name="T1" fmla="*/ 0 h 191"/>
                  <a:gd name="T2" fmla="*/ 262 w 285"/>
                  <a:gd name="T3" fmla="*/ 0 h 191"/>
                  <a:gd name="T4" fmla="*/ 285 w 285"/>
                  <a:gd name="T5" fmla="*/ 23 h 191"/>
                  <a:gd name="T6" fmla="*/ 285 w 285"/>
                  <a:gd name="T7" fmla="*/ 169 h 191"/>
                  <a:gd name="T8" fmla="*/ 262 w 285"/>
                  <a:gd name="T9" fmla="*/ 191 h 191"/>
                  <a:gd name="T10" fmla="*/ 23 w 285"/>
                  <a:gd name="T11" fmla="*/ 191 h 191"/>
                  <a:gd name="T12" fmla="*/ 0 w 285"/>
                  <a:gd name="T13" fmla="*/ 169 h 191"/>
                  <a:gd name="T14" fmla="*/ 0 w 285"/>
                  <a:gd name="T15" fmla="*/ 23 h 191"/>
                  <a:gd name="T16" fmla="*/ 23 w 285"/>
                  <a:gd name="T17" fmla="*/ 0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5" h="191">
                    <a:moveTo>
                      <a:pt x="23" y="0"/>
                    </a:moveTo>
                    <a:cubicBezTo>
                      <a:pt x="262" y="0"/>
                      <a:pt x="262" y="0"/>
                      <a:pt x="262" y="0"/>
                    </a:cubicBezTo>
                    <a:cubicBezTo>
                      <a:pt x="275" y="0"/>
                      <a:pt x="285" y="10"/>
                      <a:pt x="285" y="23"/>
                    </a:cubicBezTo>
                    <a:cubicBezTo>
                      <a:pt x="285" y="169"/>
                      <a:pt x="285" y="169"/>
                      <a:pt x="285" y="169"/>
                    </a:cubicBezTo>
                    <a:cubicBezTo>
                      <a:pt x="285" y="181"/>
                      <a:pt x="275" y="191"/>
                      <a:pt x="262" y="191"/>
                    </a:cubicBezTo>
                    <a:cubicBezTo>
                      <a:pt x="23" y="191"/>
                      <a:pt x="23" y="191"/>
                      <a:pt x="23" y="191"/>
                    </a:cubicBezTo>
                    <a:cubicBezTo>
                      <a:pt x="10" y="191"/>
                      <a:pt x="0" y="181"/>
                      <a:pt x="0" y="169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3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0"/>
                    </a:schemeClr>
                  </a:gs>
                  <a:gs pos="6000">
                    <a:srgbClr val="68AFFD"/>
                  </a:gs>
                </a:gsLst>
                <a:lin ang="5400000" scaled="1"/>
              </a:gra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8" name="îṡḻiḋê">
                <a:extLst>
                  <a:ext uri="{FF2B5EF4-FFF2-40B4-BE49-F238E27FC236}">
                    <a16:creationId xmlns:a16="http://schemas.microsoft.com/office/drawing/2014/main" id="{C12D8F2C-98F2-0E40-79C3-41753953032C}"/>
                  </a:ext>
                </a:extLst>
              </p:cNvPr>
              <p:cNvSpPr/>
              <p:nvPr/>
            </p:nvSpPr>
            <p:spPr bwMode="auto">
              <a:xfrm>
                <a:off x="7929337" y="3254494"/>
                <a:ext cx="1201256" cy="172478"/>
              </a:xfrm>
              <a:custGeom>
                <a:avLst/>
                <a:gdLst>
                  <a:gd name="T0" fmla="*/ 285 w 285"/>
                  <a:gd name="T1" fmla="*/ 0 h 41"/>
                  <a:gd name="T2" fmla="*/ 285 w 285"/>
                  <a:gd name="T3" fmla="*/ 19 h 41"/>
                  <a:gd name="T4" fmla="*/ 262 w 285"/>
                  <a:gd name="T5" fmla="*/ 41 h 41"/>
                  <a:gd name="T6" fmla="*/ 262 w 285"/>
                  <a:gd name="T7" fmla="*/ 41 h 41"/>
                  <a:gd name="T8" fmla="*/ 23 w 285"/>
                  <a:gd name="T9" fmla="*/ 41 h 41"/>
                  <a:gd name="T10" fmla="*/ 0 w 285"/>
                  <a:gd name="T11" fmla="*/ 19 h 41"/>
                  <a:gd name="T12" fmla="*/ 0 w 285"/>
                  <a:gd name="T13" fmla="*/ 19 h 41"/>
                  <a:gd name="T14" fmla="*/ 0 w 285"/>
                  <a:gd name="T15" fmla="*/ 0 h 41"/>
                  <a:gd name="T16" fmla="*/ 285 w 285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5" h="41">
                    <a:moveTo>
                      <a:pt x="285" y="0"/>
                    </a:moveTo>
                    <a:cubicBezTo>
                      <a:pt x="285" y="19"/>
                      <a:pt x="285" y="19"/>
                      <a:pt x="285" y="19"/>
                    </a:cubicBezTo>
                    <a:cubicBezTo>
                      <a:pt x="285" y="31"/>
                      <a:pt x="275" y="41"/>
                      <a:pt x="262" y="41"/>
                    </a:cubicBezTo>
                    <a:cubicBezTo>
                      <a:pt x="262" y="41"/>
                      <a:pt x="262" y="41"/>
                      <a:pt x="262" y="41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10" y="41"/>
                      <a:pt x="0" y="31"/>
                      <a:pt x="0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285" y="0"/>
                    </a:ln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9" name="iśḷïḓè">
                <a:extLst>
                  <a:ext uri="{FF2B5EF4-FFF2-40B4-BE49-F238E27FC236}">
                    <a16:creationId xmlns:a16="http://schemas.microsoft.com/office/drawing/2014/main" id="{70635967-D66C-CFD7-A6A7-2A63916885CB}"/>
                  </a:ext>
                </a:extLst>
              </p:cNvPr>
              <p:cNvSpPr/>
              <p:nvPr/>
            </p:nvSpPr>
            <p:spPr bwMode="auto">
              <a:xfrm>
                <a:off x="8312845" y="3621770"/>
                <a:ext cx="472792" cy="40583"/>
              </a:xfrm>
              <a:prstGeom prst="rect">
                <a:avLst/>
              </a:pr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0" name="ïṩḷíḑê">
                <a:extLst>
                  <a:ext uri="{FF2B5EF4-FFF2-40B4-BE49-F238E27FC236}">
                    <a16:creationId xmlns:a16="http://schemas.microsoft.com/office/drawing/2014/main" id="{683F1A17-A7F5-18DF-9481-507D33349412}"/>
                  </a:ext>
                </a:extLst>
              </p:cNvPr>
              <p:cNvSpPr/>
              <p:nvPr/>
            </p:nvSpPr>
            <p:spPr bwMode="auto">
              <a:xfrm>
                <a:off x="8785637" y="3571042"/>
                <a:ext cx="75079" cy="101457"/>
              </a:xfrm>
              <a:custGeom>
                <a:avLst/>
                <a:gdLst>
                  <a:gd name="T0" fmla="*/ 17 w 18"/>
                  <a:gd name="T1" fmla="*/ 0 h 24"/>
                  <a:gd name="T2" fmla="*/ 18 w 18"/>
                  <a:gd name="T3" fmla="*/ 19 h 24"/>
                  <a:gd name="T4" fmla="*/ 0 w 18"/>
                  <a:gd name="T5" fmla="*/ 22 h 24"/>
                  <a:gd name="T6" fmla="*/ 0 w 18"/>
                  <a:gd name="T7" fmla="*/ 12 h 24"/>
                  <a:gd name="T8" fmla="*/ 17 w 18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24">
                    <a:moveTo>
                      <a:pt x="17" y="0"/>
                    </a:moveTo>
                    <a:cubicBezTo>
                      <a:pt x="18" y="19"/>
                      <a:pt x="18" y="19"/>
                      <a:pt x="18" y="19"/>
                    </a:cubicBezTo>
                    <a:cubicBezTo>
                      <a:pt x="13" y="22"/>
                      <a:pt x="6" y="24"/>
                      <a:pt x="0" y="22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2"/>
                      <a:pt x="16" y="16"/>
                      <a:pt x="17" y="0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1" name="íśḻíḑe">
                <a:extLst>
                  <a:ext uri="{FF2B5EF4-FFF2-40B4-BE49-F238E27FC236}">
                    <a16:creationId xmlns:a16="http://schemas.microsoft.com/office/drawing/2014/main" id="{67ED0CF8-AC38-9D15-E691-0E523BCEA55F}"/>
                  </a:ext>
                </a:extLst>
              </p:cNvPr>
              <p:cNvSpPr/>
              <p:nvPr/>
            </p:nvSpPr>
            <p:spPr bwMode="auto">
              <a:xfrm>
                <a:off x="3229828" y="2870985"/>
                <a:ext cx="460617" cy="282052"/>
              </a:xfrm>
              <a:custGeom>
                <a:avLst/>
                <a:gdLst>
                  <a:gd name="T0" fmla="*/ 3 w 109"/>
                  <a:gd name="T1" fmla="*/ 55 h 67"/>
                  <a:gd name="T2" fmla="*/ 21 w 109"/>
                  <a:gd name="T3" fmla="*/ 65 h 67"/>
                  <a:gd name="T4" fmla="*/ 107 w 109"/>
                  <a:gd name="T5" fmla="*/ 65 h 67"/>
                  <a:gd name="T6" fmla="*/ 107 w 109"/>
                  <a:gd name="T7" fmla="*/ 57 h 67"/>
                  <a:gd name="T8" fmla="*/ 107 w 109"/>
                  <a:gd name="T9" fmla="*/ 57 h 67"/>
                  <a:gd name="T10" fmla="*/ 83 w 109"/>
                  <a:gd name="T11" fmla="*/ 57 h 67"/>
                  <a:gd name="T12" fmla="*/ 90 w 109"/>
                  <a:gd name="T13" fmla="*/ 24 h 67"/>
                  <a:gd name="T14" fmla="*/ 27 w 109"/>
                  <a:gd name="T15" fmla="*/ 0 h 67"/>
                  <a:gd name="T16" fmla="*/ 21 w 109"/>
                  <a:gd name="T17" fmla="*/ 0 h 67"/>
                  <a:gd name="T18" fmla="*/ 3 w 109"/>
                  <a:gd name="T19" fmla="*/ 55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9" h="67">
                    <a:moveTo>
                      <a:pt x="3" y="55"/>
                    </a:moveTo>
                    <a:cubicBezTo>
                      <a:pt x="6" y="67"/>
                      <a:pt x="21" y="65"/>
                      <a:pt x="21" y="65"/>
                    </a:cubicBezTo>
                    <a:cubicBezTo>
                      <a:pt x="21" y="65"/>
                      <a:pt x="105" y="67"/>
                      <a:pt x="107" y="65"/>
                    </a:cubicBezTo>
                    <a:cubicBezTo>
                      <a:pt x="109" y="64"/>
                      <a:pt x="108" y="59"/>
                      <a:pt x="107" y="57"/>
                    </a:cubicBezTo>
                    <a:cubicBezTo>
                      <a:pt x="107" y="57"/>
                      <a:pt x="107" y="57"/>
                      <a:pt x="107" y="57"/>
                    </a:cubicBezTo>
                    <a:cubicBezTo>
                      <a:pt x="83" y="57"/>
                      <a:pt x="83" y="57"/>
                      <a:pt x="83" y="57"/>
                    </a:cubicBezTo>
                    <a:cubicBezTo>
                      <a:pt x="83" y="57"/>
                      <a:pt x="71" y="51"/>
                      <a:pt x="90" y="24"/>
                    </a:cubicBezTo>
                    <a:cubicBezTo>
                      <a:pt x="106" y="1"/>
                      <a:pt x="46" y="0"/>
                      <a:pt x="27" y="0"/>
                    </a:cubicBezTo>
                    <a:cubicBezTo>
                      <a:pt x="23" y="0"/>
                      <a:pt x="21" y="0"/>
                      <a:pt x="21" y="0"/>
                    </a:cubicBezTo>
                    <a:cubicBezTo>
                      <a:pt x="21" y="0"/>
                      <a:pt x="0" y="43"/>
                      <a:pt x="3" y="55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2" name="ïŝḻiḑé">
                <a:extLst>
                  <a:ext uri="{FF2B5EF4-FFF2-40B4-BE49-F238E27FC236}">
                    <a16:creationId xmlns:a16="http://schemas.microsoft.com/office/drawing/2014/main" id="{1C226A60-A246-AFB1-81D3-115112600846}"/>
                  </a:ext>
                </a:extLst>
              </p:cNvPr>
              <p:cNvSpPr/>
              <p:nvPr/>
            </p:nvSpPr>
            <p:spPr bwMode="auto">
              <a:xfrm>
                <a:off x="3272440" y="2870985"/>
                <a:ext cx="407860" cy="247556"/>
              </a:xfrm>
              <a:custGeom>
                <a:avLst/>
                <a:gdLst>
                  <a:gd name="T0" fmla="*/ 3 w 97"/>
                  <a:gd name="T1" fmla="*/ 46 h 59"/>
                  <a:gd name="T2" fmla="*/ 21 w 97"/>
                  <a:gd name="T3" fmla="*/ 56 h 59"/>
                  <a:gd name="T4" fmla="*/ 97 w 97"/>
                  <a:gd name="T5" fmla="*/ 57 h 59"/>
                  <a:gd name="T6" fmla="*/ 97 w 97"/>
                  <a:gd name="T7" fmla="*/ 56 h 59"/>
                  <a:gd name="T8" fmla="*/ 73 w 97"/>
                  <a:gd name="T9" fmla="*/ 56 h 59"/>
                  <a:gd name="T10" fmla="*/ 80 w 97"/>
                  <a:gd name="T11" fmla="*/ 23 h 59"/>
                  <a:gd name="T12" fmla="*/ 17 w 97"/>
                  <a:gd name="T13" fmla="*/ 0 h 59"/>
                  <a:gd name="T14" fmla="*/ 3 w 97"/>
                  <a:gd name="T15" fmla="*/ 46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7" h="59">
                    <a:moveTo>
                      <a:pt x="3" y="46"/>
                    </a:moveTo>
                    <a:cubicBezTo>
                      <a:pt x="6" y="59"/>
                      <a:pt x="21" y="56"/>
                      <a:pt x="21" y="56"/>
                    </a:cubicBezTo>
                    <a:cubicBezTo>
                      <a:pt x="21" y="56"/>
                      <a:pt x="74" y="57"/>
                      <a:pt x="97" y="57"/>
                    </a:cubicBezTo>
                    <a:cubicBezTo>
                      <a:pt x="97" y="57"/>
                      <a:pt x="97" y="57"/>
                      <a:pt x="97" y="56"/>
                    </a:cubicBezTo>
                    <a:cubicBezTo>
                      <a:pt x="73" y="56"/>
                      <a:pt x="73" y="56"/>
                      <a:pt x="73" y="56"/>
                    </a:cubicBezTo>
                    <a:cubicBezTo>
                      <a:pt x="73" y="56"/>
                      <a:pt x="61" y="50"/>
                      <a:pt x="80" y="23"/>
                    </a:cubicBezTo>
                    <a:cubicBezTo>
                      <a:pt x="96" y="1"/>
                      <a:pt x="36" y="0"/>
                      <a:pt x="17" y="0"/>
                    </a:cubicBezTo>
                    <a:cubicBezTo>
                      <a:pt x="11" y="13"/>
                      <a:pt x="0" y="37"/>
                      <a:pt x="3" y="46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3" name="îŝḻîdè">
                <a:extLst>
                  <a:ext uri="{FF2B5EF4-FFF2-40B4-BE49-F238E27FC236}">
                    <a16:creationId xmlns:a16="http://schemas.microsoft.com/office/drawing/2014/main" id="{BD4606EC-2FDD-97F9-FE01-968496749170}"/>
                  </a:ext>
                </a:extLst>
              </p:cNvPr>
              <p:cNvSpPr/>
              <p:nvPr/>
            </p:nvSpPr>
            <p:spPr bwMode="auto">
              <a:xfrm>
                <a:off x="3258236" y="2870985"/>
                <a:ext cx="422063" cy="255673"/>
              </a:xfrm>
              <a:custGeom>
                <a:avLst/>
                <a:gdLst>
                  <a:gd name="T0" fmla="*/ 2 w 100"/>
                  <a:gd name="T1" fmla="*/ 48 h 61"/>
                  <a:gd name="T2" fmla="*/ 24 w 100"/>
                  <a:gd name="T3" fmla="*/ 57 h 61"/>
                  <a:gd name="T4" fmla="*/ 100 w 100"/>
                  <a:gd name="T5" fmla="*/ 57 h 61"/>
                  <a:gd name="T6" fmla="*/ 100 w 100"/>
                  <a:gd name="T7" fmla="*/ 57 h 61"/>
                  <a:gd name="T8" fmla="*/ 76 w 100"/>
                  <a:gd name="T9" fmla="*/ 57 h 61"/>
                  <a:gd name="T10" fmla="*/ 83 w 100"/>
                  <a:gd name="T11" fmla="*/ 24 h 61"/>
                  <a:gd name="T12" fmla="*/ 20 w 100"/>
                  <a:gd name="T13" fmla="*/ 0 h 61"/>
                  <a:gd name="T14" fmla="*/ 2 w 100"/>
                  <a:gd name="T15" fmla="*/ 48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0" h="61">
                    <a:moveTo>
                      <a:pt x="2" y="48"/>
                    </a:moveTo>
                    <a:cubicBezTo>
                      <a:pt x="5" y="61"/>
                      <a:pt x="24" y="57"/>
                      <a:pt x="24" y="57"/>
                    </a:cubicBezTo>
                    <a:cubicBezTo>
                      <a:pt x="24" y="57"/>
                      <a:pt x="77" y="58"/>
                      <a:pt x="100" y="57"/>
                    </a:cubicBezTo>
                    <a:cubicBezTo>
                      <a:pt x="100" y="57"/>
                      <a:pt x="100" y="57"/>
                      <a:pt x="100" y="57"/>
                    </a:cubicBezTo>
                    <a:cubicBezTo>
                      <a:pt x="76" y="57"/>
                      <a:pt x="76" y="57"/>
                      <a:pt x="76" y="57"/>
                    </a:cubicBezTo>
                    <a:cubicBezTo>
                      <a:pt x="76" y="57"/>
                      <a:pt x="64" y="51"/>
                      <a:pt x="83" y="24"/>
                    </a:cubicBezTo>
                    <a:cubicBezTo>
                      <a:pt x="99" y="1"/>
                      <a:pt x="39" y="0"/>
                      <a:pt x="20" y="0"/>
                    </a:cubicBezTo>
                    <a:cubicBezTo>
                      <a:pt x="14" y="13"/>
                      <a:pt x="0" y="39"/>
                      <a:pt x="2" y="48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4" name="îśḻïde">
                <a:extLst>
                  <a:ext uri="{FF2B5EF4-FFF2-40B4-BE49-F238E27FC236}">
                    <a16:creationId xmlns:a16="http://schemas.microsoft.com/office/drawing/2014/main" id="{A7495CAF-3A87-8D53-BDA3-CCC65C650B6F}"/>
                  </a:ext>
                </a:extLst>
              </p:cNvPr>
              <p:cNvSpPr/>
              <p:nvPr/>
            </p:nvSpPr>
            <p:spPr bwMode="auto">
              <a:xfrm>
                <a:off x="3043147" y="2355581"/>
                <a:ext cx="913117" cy="610774"/>
              </a:xfrm>
              <a:custGeom>
                <a:avLst/>
                <a:gdLst>
                  <a:gd name="T0" fmla="*/ 17 w 216"/>
                  <a:gd name="T1" fmla="*/ 0 h 145"/>
                  <a:gd name="T2" fmla="*/ 198 w 216"/>
                  <a:gd name="T3" fmla="*/ 0 h 145"/>
                  <a:gd name="T4" fmla="*/ 216 w 216"/>
                  <a:gd name="T5" fmla="*/ 17 h 145"/>
                  <a:gd name="T6" fmla="*/ 216 w 216"/>
                  <a:gd name="T7" fmla="*/ 127 h 145"/>
                  <a:gd name="T8" fmla="*/ 198 w 216"/>
                  <a:gd name="T9" fmla="*/ 145 h 145"/>
                  <a:gd name="T10" fmla="*/ 17 w 216"/>
                  <a:gd name="T11" fmla="*/ 145 h 145"/>
                  <a:gd name="T12" fmla="*/ 0 w 216"/>
                  <a:gd name="T13" fmla="*/ 127 h 145"/>
                  <a:gd name="T14" fmla="*/ 0 w 216"/>
                  <a:gd name="T15" fmla="*/ 17 h 145"/>
                  <a:gd name="T16" fmla="*/ 17 w 216"/>
                  <a:gd name="T17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6" h="145">
                    <a:moveTo>
                      <a:pt x="17" y="0"/>
                    </a:moveTo>
                    <a:cubicBezTo>
                      <a:pt x="198" y="0"/>
                      <a:pt x="198" y="0"/>
                      <a:pt x="198" y="0"/>
                    </a:cubicBezTo>
                    <a:cubicBezTo>
                      <a:pt x="208" y="0"/>
                      <a:pt x="216" y="7"/>
                      <a:pt x="216" y="17"/>
                    </a:cubicBezTo>
                    <a:cubicBezTo>
                      <a:pt x="216" y="127"/>
                      <a:pt x="216" y="127"/>
                      <a:pt x="216" y="127"/>
                    </a:cubicBezTo>
                    <a:cubicBezTo>
                      <a:pt x="216" y="137"/>
                      <a:pt x="208" y="145"/>
                      <a:pt x="198" y="145"/>
                    </a:cubicBezTo>
                    <a:cubicBezTo>
                      <a:pt x="17" y="145"/>
                      <a:pt x="17" y="145"/>
                      <a:pt x="17" y="145"/>
                    </a:cubicBezTo>
                    <a:cubicBezTo>
                      <a:pt x="7" y="145"/>
                      <a:pt x="0" y="137"/>
                      <a:pt x="0" y="12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7"/>
                      <a:pt x="7" y="0"/>
                      <a:pt x="17" y="0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5" name="îšľiďé">
                <a:extLst>
                  <a:ext uri="{FF2B5EF4-FFF2-40B4-BE49-F238E27FC236}">
                    <a16:creationId xmlns:a16="http://schemas.microsoft.com/office/drawing/2014/main" id="{787CE28C-3C8C-79EE-8C4A-B1E51B7FEF40}"/>
                  </a:ext>
                </a:extLst>
              </p:cNvPr>
              <p:cNvSpPr/>
              <p:nvPr/>
            </p:nvSpPr>
            <p:spPr bwMode="auto">
              <a:xfrm>
                <a:off x="3043147" y="2355581"/>
                <a:ext cx="913117" cy="610774"/>
              </a:xfrm>
              <a:custGeom>
                <a:avLst/>
                <a:gdLst>
                  <a:gd name="T0" fmla="*/ 17 w 216"/>
                  <a:gd name="T1" fmla="*/ 0 h 145"/>
                  <a:gd name="T2" fmla="*/ 198 w 216"/>
                  <a:gd name="T3" fmla="*/ 0 h 145"/>
                  <a:gd name="T4" fmla="*/ 216 w 216"/>
                  <a:gd name="T5" fmla="*/ 17 h 145"/>
                  <a:gd name="T6" fmla="*/ 216 w 216"/>
                  <a:gd name="T7" fmla="*/ 127 h 145"/>
                  <a:gd name="T8" fmla="*/ 198 w 216"/>
                  <a:gd name="T9" fmla="*/ 145 h 145"/>
                  <a:gd name="T10" fmla="*/ 17 w 216"/>
                  <a:gd name="T11" fmla="*/ 145 h 145"/>
                  <a:gd name="T12" fmla="*/ 0 w 216"/>
                  <a:gd name="T13" fmla="*/ 127 h 145"/>
                  <a:gd name="T14" fmla="*/ 0 w 216"/>
                  <a:gd name="T15" fmla="*/ 17 h 145"/>
                  <a:gd name="T16" fmla="*/ 17 w 216"/>
                  <a:gd name="T17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6" h="145">
                    <a:moveTo>
                      <a:pt x="17" y="0"/>
                    </a:moveTo>
                    <a:cubicBezTo>
                      <a:pt x="198" y="0"/>
                      <a:pt x="198" y="0"/>
                      <a:pt x="198" y="0"/>
                    </a:cubicBezTo>
                    <a:cubicBezTo>
                      <a:pt x="208" y="0"/>
                      <a:pt x="216" y="7"/>
                      <a:pt x="216" y="17"/>
                    </a:cubicBezTo>
                    <a:cubicBezTo>
                      <a:pt x="216" y="127"/>
                      <a:pt x="216" y="127"/>
                      <a:pt x="216" y="127"/>
                    </a:cubicBezTo>
                    <a:cubicBezTo>
                      <a:pt x="216" y="137"/>
                      <a:pt x="208" y="145"/>
                      <a:pt x="198" y="145"/>
                    </a:cubicBezTo>
                    <a:cubicBezTo>
                      <a:pt x="17" y="145"/>
                      <a:pt x="17" y="145"/>
                      <a:pt x="17" y="145"/>
                    </a:cubicBezTo>
                    <a:cubicBezTo>
                      <a:pt x="7" y="145"/>
                      <a:pt x="0" y="137"/>
                      <a:pt x="0" y="12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7"/>
                      <a:pt x="7" y="0"/>
                      <a:pt x="17" y="0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6" name="ïšľïdè">
                <a:extLst>
                  <a:ext uri="{FF2B5EF4-FFF2-40B4-BE49-F238E27FC236}">
                    <a16:creationId xmlns:a16="http://schemas.microsoft.com/office/drawing/2014/main" id="{B97A6075-6EB7-89E0-D26D-195B4677C418}"/>
                  </a:ext>
                </a:extLst>
              </p:cNvPr>
              <p:cNvSpPr/>
              <p:nvPr/>
            </p:nvSpPr>
            <p:spPr bwMode="auto">
              <a:xfrm>
                <a:off x="3061408" y="2355581"/>
                <a:ext cx="911088" cy="610774"/>
              </a:xfrm>
              <a:custGeom>
                <a:avLst/>
                <a:gdLst>
                  <a:gd name="T0" fmla="*/ 17 w 216"/>
                  <a:gd name="T1" fmla="*/ 0 h 145"/>
                  <a:gd name="T2" fmla="*/ 199 w 216"/>
                  <a:gd name="T3" fmla="*/ 0 h 145"/>
                  <a:gd name="T4" fmla="*/ 216 w 216"/>
                  <a:gd name="T5" fmla="*/ 17 h 145"/>
                  <a:gd name="T6" fmla="*/ 216 w 216"/>
                  <a:gd name="T7" fmla="*/ 127 h 145"/>
                  <a:gd name="T8" fmla="*/ 199 w 216"/>
                  <a:gd name="T9" fmla="*/ 145 h 145"/>
                  <a:gd name="T10" fmla="*/ 17 w 216"/>
                  <a:gd name="T11" fmla="*/ 145 h 145"/>
                  <a:gd name="T12" fmla="*/ 0 w 216"/>
                  <a:gd name="T13" fmla="*/ 127 h 145"/>
                  <a:gd name="T14" fmla="*/ 0 w 216"/>
                  <a:gd name="T15" fmla="*/ 17 h 145"/>
                  <a:gd name="T16" fmla="*/ 17 w 216"/>
                  <a:gd name="T17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6" h="145">
                    <a:moveTo>
                      <a:pt x="17" y="0"/>
                    </a:moveTo>
                    <a:cubicBezTo>
                      <a:pt x="199" y="0"/>
                      <a:pt x="199" y="0"/>
                      <a:pt x="199" y="0"/>
                    </a:cubicBezTo>
                    <a:cubicBezTo>
                      <a:pt x="208" y="0"/>
                      <a:pt x="216" y="7"/>
                      <a:pt x="216" y="17"/>
                    </a:cubicBezTo>
                    <a:cubicBezTo>
                      <a:pt x="216" y="127"/>
                      <a:pt x="216" y="127"/>
                      <a:pt x="216" y="127"/>
                    </a:cubicBezTo>
                    <a:cubicBezTo>
                      <a:pt x="216" y="137"/>
                      <a:pt x="208" y="145"/>
                      <a:pt x="199" y="145"/>
                    </a:cubicBezTo>
                    <a:cubicBezTo>
                      <a:pt x="17" y="145"/>
                      <a:pt x="17" y="145"/>
                      <a:pt x="17" y="145"/>
                    </a:cubicBezTo>
                    <a:cubicBezTo>
                      <a:pt x="8" y="145"/>
                      <a:pt x="0" y="137"/>
                      <a:pt x="0" y="12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7" name="ïSḷîḋé">
                <a:extLst>
                  <a:ext uri="{FF2B5EF4-FFF2-40B4-BE49-F238E27FC236}">
                    <a16:creationId xmlns:a16="http://schemas.microsoft.com/office/drawing/2014/main" id="{5B811AEA-0D09-787C-A855-269D8DFC52EB}"/>
                  </a:ext>
                </a:extLst>
              </p:cNvPr>
              <p:cNvSpPr/>
              <p:nvPr/>
            </p:nvSpPr>
            <p:spPr bwMode="auto">
              <a:xfrm>
                <a:off x="3061408" y="2355581"/>
                <a:ext cx="911088" cy="610774"/>
              </a:xfrm>
              <a:custGeom>
                <a:avLst/>
                <a:gdLst>
                  <a:gd name="T0" fmla="*/ 17 w 216"/>
                  <a:gd name="T1" fmla="*/ 0 h 145"/>
                  <a:gd name="T2" fmla="*/ 199 w 216"/>
                  <a:gd name="T3" fmla="*/ 0 h 145"/>
                  <a:gd name="T4" fmla="*/ 216 w 216"/>
                  <a:gd name="T5" fmla="*/ 17 h 145"/>
                  <a:gd name="T6" fmla="*/ 216 w 216"/>
                  <a:gd name="T7" fmla="*/ 127 h 145"/>
                  <a:gd name="T8" fmla="*/ 199 w 216"/>
                  <a:gd name="T9" fmla="*/ 145 h 145"/>
                  <a:gd name="T10" fmla="*/ 17 w 216"/>
                  <a:gd name="T11" fmla="*/ 145 h 145"/>
                  <a:gd name="T12" fmla="*/ 0 w 216"/>
                  <a:gd name="T13" fmla="*/ 127 h 145"/>
                  <a:gd name="T14" fmla="*/ 0 w 216"/>
                  <a:gd name="T15" fmla="*/ 17 h 145"/>
                  <a:gd name="T16" fmla="*/ 17 w 216"/>
                  <a:gd name="T17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6" h="145">
                    <a:moveTo>
                      <a:pt x="17" y="0"/>
                    </a:moveTo>
                    <a:cubicBezTo>
                      <a:pt x="199" y="0"/>
                      <a:pt x="199" y="0"/>
                      <a:pt x="199" y="0"/>
                    </a:cubicBezTo>
                    <a:cubicBezTo>
                      <a:pt x="208" y="0"/>
                      <a:pt x="216" y="7"/>
                      <a:pt x="216" y="17"/>
                    </a:cubicBezTo>
                    <a:cubicBezTo>
                      <a:pt x="216" y="127"/>
                      <a:pt x="216" y="127"/>
                      <a:pt x="216" y="127"/>
                    </a:cubicBezTo>
                    <a:cubicBezTo>
                      <a:pt x="216" y="137"/>
                      <a:pt x="208" y="145"/>
                      <a:pt x="199" y="145"/>
                    </a:cubicBezTo>
                    <a:cubicBezTo>
                      <a:pt x="17" y="145"/>
                      <a:pt x="17" y="145"/>
                      <a:pt x="17" y="145"/>
                    </a:cubicBezTo>
                    <a:cubicBezTo>
                      <a:pt x="8" y="145"/>
                      <a:pt x="0" y="137"/>
                      <a:pt x="0" y="127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7"/>
                      <a:pt x="8" y="0"/>
                      <a:pt x="17" y="0"/>
                    </a:cubicBezTo>
                    <a:close/>
                  </a:path>
                </a:pathLst>
              </a:custGeom>
              <a:gradFill>
                <a:gsLst>
                  <a:gs pos="100000">
                    <a:schemeClr val="bg1">
                      <a:alpha val="0"/>
                    </a:schemeClr>
                  </a:gs>
                  <a:gs pos="6000">
                    <a:srgbClr val="68AFFD"/>
                  </a:gs>
                </a:gsLst>
                <a:lin ang="5400000" scaled="1"/>
              </a:gra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8" name="ïSḷiḋe">
                <a:extLst>
                  <a:ext uri="{FF2B5EF4-FFF2-40B4-BE49-F238E27FC236}">
                    <a16:creationId xmlns:a16="http://schemas.microsoft.com/office/drawing/2014/main" id="{48DF1895-6778-F065-A276-D63F5593CC84}"/>
                  </a:ext>
                </a:extLst>
              </p:cNvPr>
              <p:cNvSpPr/>
              <p:nvPr/>
            </p:nvSpPr>
            <p:spPr bwMode="auto">
              <a:xfrm>
                <a:off x="3065467" y="2832431"/>
                <a:ext cx="907030" cy="133924"/>
              </a:xfrm>
              <a:custGeom>
                <a:avLst/>
                <a:gdLst>
                  <a:gd name="T0" fmla="*/ 0 w 215"/>
                  <a:gd name="T1" fmla="*/ 0 h 32"/>
                  <a:gd name="T2" fmla="*/ 0 w 215"/>
                  <a:gd name="T3" fmla="*/ 14 h 32"/>
                  <a:gd name="T4" fmla="*/ 17 w 215"/>
                  <a:gd name="T5" fmla="*/ 32 h 32"/>
                  <a:gd name="T6" fmla="*/ 17 w 215"/>
                  <a:gd name="T7" fmla="*/ 32 h 32"/>
                  <a:gd name="T8" fmla="*/ 198 w 215"/>
                  <a:gd name="T9" fmla="*/ 32 h 32"/>
                  <a:gd name="T10" fmla="*/ 215 w 215"/>
                  <a:gd name="T11" fmla="*/ 14 h 32"/>
                  <a:gd name="T12" fmla="*/ 215 w 215"/>
                  <a:gd name="T13" fmla="*/ 14 h 32"/>
                  <a:gd name="T14" fmla="*/ 215 w 215"/>
                  <a:gd name="T15" fmla="*/ 0 h 32"/>
                  <a:gd name="T16" fmla="*/ 0 w 215"/>
                  <a:gd name="T17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5" h="32">
                    <a:moveTo>
                      <a:pt x="0" y="0"/>
                    </a:moveTo>
                    <a:cubicBezTo>
                      <a:pt x="0" y="14"/>
                      <a:pt x="0" y="14"/>
                      <a:pt x="0" y="14"/>
                    </a:cubicBezTo>
                    <a:cubicBezTo>
                      <a:pt x="0" y="24"/>
                      <a:pt x="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98" y="32"/>
                      <a:pt x="198" y="32"/>
                      <a:pt x="198" y="32"/>
                    </a:cubicBezTo>
                    <a:cubicBezTo>
                      <a:pt x="207" y="32"/>
                      <a:pt x="215" y="24"/>
                      <a:pt x="215" y="14"/>
                    </a:cubicBezTo>
                    <a:cubicBezTo>
                      <a:pt x="215" y="14"/>
                      <a:pt x="215" y="14"/>
                      <a:pt x="215" y="14"/>
                    </a:cubicBezTo>
                    <a:cubicBezTo>
                      <a:pt x="215" y="0"/>
                      <a:pt x="215" y="0"/>
                      <a:pt x="2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9" name="ísľíḑe">
                <a:extLst>
                  <a:ext uri="{FF2B5EF4-FFF2-40B4-BE49-F238E27FC236}">
                    <a16:creationId xmlns:a16="http://schemas.microsoft.com/office/drawing/2014/main" id="{2D94A2F8-399A-7A23-696F-7BC1871925EF}"/>
                  </a:ext>
                </a:extLst>
              </p:cNvPr>
              <p:cNvSpPr/>
              <p:nvPr/>
            </p:nvSpPr>
            <p:spPr bwMode="auto">
              <a:xfrm>
                <a:off x="3323169" y="3110424"/>
                <a:ext cx="357130" cy="34496"/>
              </a:xfrm>
              <a:prstGeom prst="rect">
                <a:avLst/>
              </a:pr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0" name="iślïďé">
                <a:extLst>
                  <a:ext uri="{FF2B5EF4-FFF2-40B4-BE49-F238E27FC236}">
                    <a16:creationId xmlns:a16="http://schemas.microsoft.com/office/drawing/2014/main" id="{6B17BC2B-AA0F-15F5-7295-AD8E36BC874D}"/>
                  </a:ext>
                </a:extLst>
              </p:cNvPr>
              <p:cNvSpPr/>
              <p:nvPr/>
            </p:nvSpPr>
            <p:spPr bwMode="auto">
              <a:xfrm>
                <a:off x="3264323" y="3071871"/>
                <a:ext cx="58846" cy="77108"/>
              </a:xfrm>
              <a:custGeom>
                <a:avLst/>
                <a:gdLst>
                  <a:gd name="T0" fmla="*/ 1 w 14"/>
                  <a:gd name="T1" fmla="*/ 0 h 18"/>
                  <a:gd name="T2" fmla="*/ 0 w 14"/>
                  <a:gd name="T3" fmla="*/ 15 h 18"/>
                  <a:gd name="T4" fmla="*/ 14 w 14"/>
                  <a:gd name="T5" fmla="*/ 17 h 18"/>
                  <a:gd name="T6" fmla="*/ 14 w 14"/>
                  <a:gd name="T7" fmla="*/ 9 h 18"/>
                  <a:gd name="T8" fmla="*/ 1 w 14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8">
                    <a:moveTo>
                      <a:pt x="1" y="0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5" y="18"/>
                      <a:pt x="10" y="18"/>
                      <a:pt x="14" y="17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9"/>
                      <a:pt x="2" y="12"/>
                      <a:pt x="1" y="0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1" name="îşḷíḋé">
                <a:extLst>
                  <a:ext uri="{FF2B5EF4-FFF2-40B4-BE49-F238E27FC236}">
                    <a16:creationId xmlns:a16="http://schemas.microsoft.com/office/drawing/2014/main" id="{65D60F59-CF38-520C-D4D9-DF9E1C34066A}"/>
                  </a:ext>
                </a:extLst>
              </p:cNvPr>
              <p:cNvSpPr/>
              <p:nvPr/>
            </p:nvSpPr>
            <p:spPr bwMode="auto">
              <a:xfrm>
                <a:off x="6515019" y="2199337"/>
                <a:ext cx="574250" cy="519462"/>
              </a:xfrm>
              <a:custGeom>
                <a:avLst/>
                <a:gdLst>
                  <a:gd name="T0" fmla="*/ 126 w 136"/>
                  <a:gd name="T1" fmla="*/ 123 h 123"/>
                  <a:gd name="T2" fmla="*/ 15 w 136"/>
                  <a:gd name="T3" fmla="*/ 106 h 123"/>
                  <a:gd name="T4" fmla="*/ 9 w 136"/>
                  <a:gd name="T5" fmla="*/ 99 h 123"/>
                  <a:gd name="T6" fmla="*/ 1 w 136"/>
                  <a:gd name="T7" fmla="*/ 9 h 123"/>
                  <a:gd name="T8" fmla="*/ 8 w 136"/>
                  <a:gd name="T9" fmla="*/ 0 h 123"/>
                  <a:gd name="T10" fmla="*/ 10 w 136"/>
                  <a:gd name="T11" fmla="*/ 0 h 123"/>
                  <a:gd name="T12" fmla="*/ 121 w 136"/>
                  <a:gd name="T13" fmla="*/ 17 h 123"/>
                  <a:gd name="T14" fmla="*/ 127 w 136"/>
                  <a:gd name="T15" fmla="*/ 24 h 123"/>
                  <a:gd name="T16" fmla="*/ 135 w 136"/>
                  <a:gd name="T17" fmla="*/ 114 h 123"/>
                  <a:gd name="T18" fmla="*/ 128 w 136"/>
                  <a:gd name="T19" fmla="*/ 123 h 123"/>
                  <a:gd name="T20" fmla="*/ 126 w 136"/>
                  <a:gd name="T21" fmla="*/ 123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6" h="123">
                    <a:moveTo>
                      <a:pt x="126" y="123"/>
                    </a:moveTo>
                    <a:cubicBezTo>
                      <a:pt x="15" y="106"/>
                      <a:pt x="15" y="106"/>
                      <a:pt x="15" y="106"/>
                    </a:cubicBezTo>
                    <a:cubicBezTo>
                      <a:pt x="12" y="106"/>
                      <a:pt x="9" y="103"/>
                      <a:pt x="9" y="9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0" y="5"/>
                      <a:pt x="3" y="1"/>
                      <a:pt x="8" y="0"/>
                    </a:cubicBezTo>
                    <a:cubicBezTo>
                      <a:pt x="8" y="0"/>
                      <a:pt x="9" y="0"/>
                      <a:pt x="10" y="0"/>
                    </a:cubicBezTo>
                    <a:cubicBezTo>
                      <a:pt x="121" y="17"/>
                      <a:pt x="121" y="17"/>
                      <a:pt x="121" y="17"/>
                    </a:cubicBezTo>
                    <a:cubicBezTo>
                      <a:pt x="124" y="18"/>
                      <a:pt x="127" y="21"/>
                      <a:pt x="127" y="24"/>
                    </a:cubicBezTo>
                    <a:cubicBezTo>
                      <a:pt x="135" y="114"/>
                      <a:pt x="135" y="114"/>
                      <a:pt x="135" y="114"/>
                    </a:cubicBezTo>
                    <a:cubicBezTo>
                      <a:pt x="136" y="119"/>
                      <a:pt x="132" y="123"/>
                      <a:pt x="128" y="123"/>
                    </a:cubicBezTo>
                    <a:cubicBezTo>
                      <a:pt x="127" y="123"/>
                      <a:pt x="127" y="123"/>
                      <a:pt x="126" y="123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2" name="iṧļíḓê">
                <a:extLst>
                  <a:ext uri="{FF2B5EF4-FFF2-40B4-BE49-F238E27FC236}">
                    <a16:creationId xmlns:a16="http://schemas.microsoft.com/office/drawing/2014/main" id="{96A33117-7E61-5C93-2668-92568BA2FAC6}"/>
                  </a:ext>
                </a:extLst>
              </p:cNvPr>
              <p:cNvSpPr/>
              <p:nvPr/>
            </p:nvSpPr>
            <p:spPr bwMode="auto">
              <a:xfrm>
                <a:off x="6545457" y="2225715"/>
                <a:ext cx="515404" cy="450471"/>
              </a:xfrm>
              <a:custGeom>
                <a:avLst/>
                <a:gdLst>
                  <a:gd name="T0" fmla="*/ 114 w 122"/>
                  <a:gd name="T1" fmla="*/ 107 h 107"/>
                  <a:gd name="T2" fmla="*/ 14 w 122"/>
                  <a:gd name="T3" fmla="*/ 92 h 107"/>
                  <a:gd name="T4" fmla="*/ 8 w 122"/>
                  <a:gd name="T5" fmla="*/ 85 h 107"/>
                  <a:gd name="T6" fmla="*/ 0 w 122"/>
                  <a:gd name="T7" fmla="*/ 7 h 107"/>
                  <a:gd name="T8" fmla="*/ 7 w 122"/>
                  <a:gd name="T9" fmla="*/ 0 h 107"/>
                  <a:gd name="T10" fmla="*/ 8 w 122"/>
                  <a:gd name="T11" fmla="*/ 0 h 107"/>
                  <a:gd name="T12" fmla="*/ 108 w 122"/>
                  <a:gd name="T13" fmla="*/ 15 h 107"/>
                  <a:gd name="T14" fmla="*/ 115 w 122"/>
                  <a:gd name="T15" fmla="*/ 21 h 107"/>
                  <a:gd name="T16" fmla="*/ 122 w 122"/>
                  <a:gd name="T17" fmla="*/ 99 h 107"/>
                  <a:gd name="T18" fmla="*/ 116 w 122"/>
                  <a:gd name="T19" fmla="*/ 107 h 107"/>
                  <a:gd name="T20" fmla="*/ 114 w 122"/>
                  <a:gd name="T21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2" h="107">
                    <a:moveTo>
                      <a:pt x="114" y="107"/>
                    </a:moveTo>
                    <a:cubicBezTo>
                      <a:pt x="14" y="92"/>
                      <a:pt x="14" y="92"/>
                      <a:pt x="14" y="92"/>
                    </a:cubicBezTo>
                    <a:cubicBezTo>
                      <a:pt x="10" y="91"/>
                      <a:pt x="8" y="89"/>
                      <a:pt x="8" y="85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108" y="15"/>
                      <a:pt x="108" y="15"/>
                      <a:pt x="108" y="15"/>
                    </a:cubicBezTo>
                    <a:cubicBezTo>
                      <a:pt x="112" y="15"/>
                      <a:pt x="114" y="18"/>
                      <a:pt x="115" y="21"/>
                    </a:cubicBezTo>
                    <a:cubicBezTo>
                      <a:pt x="122" y="99"/>
                      <a:pt x="122" y="99"/>
                      <a:pt x="122" y="99"/>
                    </a:cubicBezTo>
                    <a:cubicBezTo>
                      <a:pt x="122" y="103"/>
                      <a:pt x="119" y="106"/>
                      <a:pt x="116" y="107"/>
                    </a:cubicBezTo>
                    <a:cubicBezTo>
                      <a:pt x="115" y="107"/>
                      <a:pt x="114" y="107"/>
                      <a:pt x="114" y="107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3" name="îş1íde">
                <a:extLst>
                  <a:ext uri="{FF2B5EF4-FFF2-40B4-BE49-F238E27FC236}">
                    <a16:creationId xmlns:a16="http://schemas.microsoft.com/office/drawing/2014/main" id="{4F8057DC-F7B3-3798-A662-73E6B5EB53B2}"/>
                  </a:ext>
                </a:extLst>
              </p:cNvPr>
              <p:cNvSpPr/>
              <p:nvPr/>
            </p:nvSpPr>
            <p:spPr bwMode="auto">
              <a:xfrm>
                <a:off x="6561690" y="2633575"/>
                <a:ext cx="655416" cy="135954"/>
              </a:xfrm>
              <a:custGeom>
                <a:avLst/>
                <a:gdLst>
                  <a:gd name="T0" fmla="*/ 6 w 155"/>
                  <a:gd name="T1" fmla="*/ 0 h 32"/>
                  <a:gd name="T2" fmla="*/ 151 w 155"/>
                  <a:gd name="T3" fmla="*/ 22 h 32"/>
                  <a:gd name="T4" fmla="*/ 155 w 155"/>
                  <a:gd name="T5" fmla="*/ 27 h 32"/>
                  <a:gd name="T6" fmla="*/ 155 w 155"/>
                  <a:gd name="T7" fmla="*/ 27 h 32"/>
                  <a:gd name="T8" fmla="*/ 155 w 155"/>
                  <a:gd name="T9" fmla="*/ 27 h 32"/>
                  <a:gd name="T10" fmla="*/ 149 w 155"/>
                  <a:gd name="T11" fmla="*/ 32 h 32"/>
                  <a:gd name="T12" fmla="*/ 149 w 155"/>
                  <a:gd name="T13" fmla="*/ 32 h 32"/>
                  <a:gd name="T14" fmla="*/ 5 w 155"/>
                  <a:gd name="T15" fmla="*/ 10 h 32"/>
                  <a:gd name="T16" fmla="*/ 1 w 155"/>
                  <a:gd name="T17" fmla="*/ 4 h 32"/>
                  <a:gd name="T18" fmla="*/ 1 w 155"/>
                  <a:gd name="T19" fmla="*/ 4 h 32"/>
                  <a:gd name="T20" fmla="*/ 1 w 155"/>
                  <a:gd name="T21" fmla="*/ 4 h 32"/>
                  <a:gd name="T22" fmla="*/ 6 w 155"/>
                  <a:gd name="T23" fmla="*/ 0 h 32"/>
                  <a:gd name="T24" fmla="*/ 6 w 155"/>
                  <a:gd name="T25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5" h="32">
                    <a:moveTo>
                      <a:pt x="6" y="0"/>
                    </a:moveTo>
                    <a:cubicBezTo>
                      <a:pt x="151" y="22"/>
                      <a:pt x="151" y="22"/>
                      <a:pt x="151" y="22"/>
                    </a:cubicBezTo>
                    <a:cubicBezTo>
                      <a:pt x="153" y="22"/>
                      <a:pt x="155" y="25"/>
                      <a:pt x="155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27"/>
                      <a:pt x="155" y="27"/>
                      <a:pt x="155" y="27"/>
                    </a:cubicBezTo>
                    <a:cubicBezTo>
                      <a:pt x="155" y="30"/>
                      <a:pt x="152" y="32"/>
                      <a:pt x="149" y="32"/>
                    </a:cubicBezTo>
                    <a:cubicBezTo>
                      <a:pt x="149" y="32"/>
                      <a:pt x="149" y="32"/>
                      <a:pt x="149" y="32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2" y="10"/>
                      <a:pt x="0" y="7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2"/>
                      <a:pt x="4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4" name="íṩḷíḑê">
                <a:extLst>
                  <a:ext uri="{FF2B5EF4-FFF2-40B4-BE49-F238E27FC236}">
                    <a16:creationId xmlns:a16="http://schemas.microsoft.com/office/drawing/2014/main" id="{8907DA04-B834-FB19-018F-A6E3553F4C5D}"/>
                  </a:ext>
                </a:extLst>
              </p:cNvPr>
              <p:cNvSpPr/>
              <p:nvPr/>
            </p:nvSpPr>
            <p:spPr bwMode="auto">
              <a:xfrm>
                <a:off x="6831567" y="2672128"/>
                <a:ext cx="531637" cy="117691"/>
              </a:xfrm>
              <a:custGeom>
                <a:avLst/>
                <a:gdLst>
                  <a:gd name="T0" fmla="*/ 6 w 126"/>
                  <a:gd name="T1" fmla="*/ 1 h 28"/>
                  <a:gd name="T2" fmla="*/ 122 w 126"/>
                  <a:gd name="T3" fmla="*/ 18 h 28"/>
                  <a:gd name="T4" fmla="*/ 125 w 126"/>
                  <a:gd name="T5" fmla="*/ 23 h 28"/>
                  <a:gd name="T6" fmla="*/ 125 w 126"/>
                  <a:gd name="T7" fmla="*/ 24 h 28"/>
                  <a:gd name="T8" fmla="*/ 120 w 126"/>
                  <a:gd name="T9" fmla="*/ 28 h 28"/>
                  <a:gd name="T10" fmla="*/ 4 w 126"/>
                  <a:gd name="T11" fmla="*/ 10 h 28"/>
                  <a:gd name="T12" fmla="*/ 0 w 126"/>
                  <a:gd name="T13" fmla="*/ 5 h 28"/>
                  <a:gd name="T14" fmla="*/ 1 w 126"/>
                  <a:gd name="T15" fmla="*/ 4 h 28"/>
                  <a:gd name="T16" fmla="*/ 6 w 126"/>
                  <a:gd name="T17" fmla="*/ 1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6" h="28">
                    <a:moveTo>
                      <a:pt x="6" y="1"/>
                    </a:moveTo>
                    <a:cubicBezTo>
                      <a:pt x="122" y="18"/>
                      <a:pt x="122" y="18"/>
                      <a:pt x="122" y="18"/>
                    </a:cubicBezTo>
                    <a:cubicBezTo>
                      <a:pt x="124" y="18"/>
                      <a:pt x="126" y="21"/>
                      <a:pt x="125" y="23"/>
                    </a:cubicBezTo>
                    <a:cubicBezTo>
                      <a:pt x="125" y="24"/>
                      <a:pt x="125" y="24"/>
                      <a:pt x="125" y="24"/>
                    </a:cubicBezTo>
                    <a:cubicBezTo>
                      <a:pt x="125" y="26"/>
                      <a:pt x="123" y="28"/>
                      <a:pt x="120" y="28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2" y="10"/>
                      <a:pt x="0" y="8"/>
                      <a:pt x="0" y="5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2"/>
                      <a:pt x="3" y="0"/>
                      <a:pt x="6" y="1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5" name="iṣlíďê">
                <a:extLst>
                  <a:ext uri="{FF2B5EF4-FFF2-40B4-BE49-F238E27FC236}">
                    <a16:creationId xmlns:a16="http://schemas.microsoft.com/office/drawing/2014/main" id="{8623E9E4-B120-8FDA-E4BF-BBD3911A5B8E}"/>
                  </a:ext>
                </a:extLst>
              </p:cNvPr>
              <p:cNvSpPr/>
              <p:nvPr/>
            </p:nvSpPr>
            <p:spPr bwMode="auto">
              <a:xfrm>
                <a:off x="6831567" y="2672128"/>
                <a:ext cx="531637" cy="117691"/>
              </a:xfrm>
              <a:custGeom>
                <a:avLst/>
                <a:gdLst>
                  <a:gd name="T0" fmla="*/ 6 w 126"/>
                  <a:gd name="T1" fmla="*/ 1 h 28"/>
                  <a:gd name="T2" fmla="*/ 122 w 126"/>
                  <a:gd name="T3" fmla="*/ 18 h 28"/>
                  <a:gd name="T4" fmla="*/ 125 w 126"/>
                  <a:gd name="T5" fmla="*/ 23 h 28"/>
                  <a:gd name="T6" fmla="*/ 125 w 126"/>
                  <a:gd name="T7" fmla="*/ 24 h 28"/>
                  <a:gd name="T8" fmla="*/ 120 w 126"/>
                  <a:gd name="T9" fmla="*/ 28 h 28"/>
                  <a:gd name="T10" fmla="*/ 4 w 126"/>
                  <a:gd name="T11" fmla="*/ 10 h 28"/>
                  <a:gd name="T12" fmla="*/ 0 w 126"/>
                  <a:gd name="T13" fmla="*/ 5 h 28"/>
                  <a:gd name="T14" fmla="*/ 1 w 126"/>
                  <a:gd name="T15" fmla="*/ 4 h 28"/>
                  <a:gd name="T16" fmla="*/ 6 w 126"/>
                  <a:gd name="T17" fmla="*/ 1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6" h="28">
                    <a:moveTo>
                      <a:pt x="6" y="1"/>
                    </a:moveTo>
                    <a:cubicBezTo>
                      <a:pt x="122" y="18"/>
                      <a:pt x="122" y="18"/>
                      <a:pt x="122" y="18"/>
                    </a:cubicBezTo>
                    <a:cubicBezTo>
                      <a:pt x="124" y="18"/>
                      <a:pt x="126" y="21"/>
                      <a:pt x="125" y="23"/>
                    </a:cubicBezTo>
                    <a:cubicBezTo>
                      <a:pt x="125" y="24"/>
                      <a:pt x="125" y="24"/>
                      <a:pt x="125" y="24"/>
                    </a:cubicBezTo>
                    <a:cubicBezTo>
                      <a:pt x="125" y="26"/>
                      <a:pt x="123" y="28"/>
                      <a:pt x="120" y="28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2" y="10"/>
                      <a:pt x="0" y="8"/>
                      <a:pt x="0" y="5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2"/>
                      <a:pt x="3" y="0"/>
                      <a:pt x="6" y="1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6" name="ís1ïdè">
                <a:extLst>
                  <a:ext uri="{FF2B5EF4-FFF2-40B4-BE49-F238E27FC236}">
                    <a16:creationId xmlns:a16="http://schemas.microsoft.com/office/drawing/2014/main" id="{BC5C0477-B6FC-E5EA-AF4F-925F035598EB}"/>
                  </a:ext>
                </a:extLst>
              </p:cNvPr>
              <p:cNvSpPr/>
              <p:nvPr/>
            </p:nvSpPr>
            <p:spPr bwMode="auto">
              <a:xfrm>
                <a:off x="3976555" y="2992733"/>
                <a:ext cx="675707" cy="515404"/>
              </a:xfrm>
              <a:custGeom>
                <a:avLst/>
                <a:gdLst>
                  <a:gd name="T0" fmla="*/ 155 w 160"/>
                  <a:gd name="T1" fmla="*/ 84 h 122"/>
                  <a:gd name="T2" fmla="*/ 58 w 160"/>
                  <a:gd name="T3" fmla="*/ 121 h 122"/>
                  <a:gd name="T4" fmla="*/ 49 w 160"/>
                  <a:gd name="T5" fmla="*/ 118 h 122"/>
                  <a:gd name="T6" fmla="*/ 2 w 160"/>
                  <a:gd name="T7" fmla="*/ 49 h 122"/>
                  <a:gd name="T8" fmla="*/ 4 w 160"/>
                  <a:gd name="T9" fmla="*/ 39 h 122"/>
                  <a:gd name="T10" fmla="*/ 6 w 160"/>
                  <a:gd name="T11" fmla="*/ 38 h 122"/>
                  <a:gd name="T12" fmla="*/ 102 w 160"/>
                  <a:gd name="T13" fmla="*/ 1 h 122"/>
                  <a:gd name="T14" fmla="*/ 111 w 160"/>
                  <a:gd name="T15" fmla="*/ 4 h 122"/>
                  <a:gd name="T16" fmla="*/ 158 w 160"/>
                  <a:gd name="T17" fmla="*/ 73 h 122"/>
                  <a:gd name="T18" fmla="*/ 156 w 160"/>
                  <a:gd name="T19" fmla="*/ 83 h 122"/>
                  <a:gd name="T20" fmla="*/ 155 w 160"/>
                  <a:gd name="T21" fmla="*/ 84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0" h="122">
                    <a:moveTo>
                      <a:pt x="155" y="84"/>
                    </a:moveTo>
                    <a:cubicBezTo>
                      <a:pt x="58" y="121"/>
                      <a:pt x="58" y="121"/>
                      <a:pt x="58" y="121"/>
                    </a:cubicBezTo>
                    <a:cubicBezTo>
                      <a:pt x="55" y="122"/>
                      <a:pt x="51" y="121"/>
                      <a:pt x="49" y="118"/>
                    </a:cubicBezTo>
                    <a:cubicBezTo>
                      <a:pt x="2" y="49"/>
                      <a:pt x="2" y="49"/>
                      <a:pt x="2" y="49"/>
                    </a:cubicBezTo>
                    <a:cubicBezTo>
                      <a:pt x="0" y="46"/>
                      <a:pt x="1" y="41"/>
                      <a:pt x="4" y="39"/>
                    </a:cubicBezTo>
                    <a:cubicBezTo>
                      <a:pt x="5" y="38"/>
                      <a:pt x="5" y="38"/>
                      <a:pt x="6" y="38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0"/>
                      <a:pt x="109" y="1"/>
                      <a:pt x="111" y="4"/>
                    </a:cubicBezTo>
                    <a:cubicBezTo>
                      <a:pt x="158" y="73"/>
                      <a:pt x="158" y="73"/>
                      <a:pt x="158" y="73"/>
                    </a:cubicBezTo>
                    <a:cubicBezTo>
                      <a:pt x="160" y="76"/>
                      <a:pt x="159" y="81"/>
                      <a:pt x="156" y="83"/>
                    </a:cubicBezTo>
                    <a:cubicBezTo>
                      <a:pt x="156" y="84"/>
                      <a:pt x="155" y="84"/>
                      <a:pt x="155" y="84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7" name="ïṣḷiďè">
                <a:extLst>
                  <a:ext uri="{FF2B5EF4-FFF2-40B4-BE49-F238E27FC236}">
                    <a16:creationId xmlns:a16="http://schemas.microsoft.com/office/drawing/2014/main" id="{5A6EECD8-7A0A-0E1F-2A6F-40A1DFE7AB01}"/>
                  </a:ext>
                </a:extLst>
              </p:cNvPr>
              <p:cNvSpPr/>
              <p:nvPr/>
            </p:nvSpPr>
            <p:spPr bwMode="auto">
              <a:xfrm>
                <a:off x="4004963" y="3013025"/>
                <a:ext cx="608745" cy="456559"/>
              </a:xfrm>
              <a:custGeom>
                <a:avLst/>
                <a:gdLst>
                  <a:gd name="T0" fmla="*/ 139 w 144"/>
                  <a:gd name="T1" fmla="*/ 73 h 108"/>
                  <a:gd name="T2" fmla="*/ 51 w 144"/>
                  <a:gd name="T3" fmla="*/ 106 h 108"/>
                  <a:gd name="T4" fmla="*/ 43 w 144"/>
                  <a:gd name="T5" fmla="*/ 104 h 108"/>
                  <a:gd name="T6" fmla="*/ 2 w 144"/>
                  <a:gd name="T7" fmla="*/ 44 h 108"/>
                  <a:gd name="T8" fmla="*/ 4 w 144"/>
                  <a:gd name="T9" fmla="*/ 35 h 108"/>
                  <a:gd name="T10" fmla="*/ 5 w 144"/>
                  <a:gd name="T11" fmla="*/ 35 h 108"/>
                  <a:gd name="T12" fmla="*/ 93 w 144"/>
                  <a:gd name="T13" fmla="*/ 2 h 108"/>
                  <a:gd name="T14" fmla="*/ 101 w 144"/>
                  <a:gd name="T15" fmla="*/ 4 h 108"/>
                  <a:gd name="T16" fmla="*/ 142 w 144"/>
                  <a:gd name="T17" fmla="*/ 64 h 108"/>
                  <a:gd name="T18" fmla="*/ 140 w 144"/>
                  <a:gd name="T19" fmla="*/ 73 h 108"/>
                  <a:gd name="T20" fmla="*/ 139 w 144"/>
                  <a:gd name="T21" fmla="*/ 73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4" h="108">
                    <a:moveTo>
                      <a:pt x="139" y="73"/>
                    </a:moveTo>
                    <a:cubicBezTo>
                      <a:pt x="51" y="106"/>
                      <a:pt x="51" y="106"/>
                      <a:pt x="51" y="106"/>
                    </a:cubicBezTo>
                    <a:cubicBezTo>
                      <a:pt x="48" y="108"/>
                      <a:pt x="45" y="107"/>
                      <a:pt x="43" y="104"/>
                    </a:cubicBezTo>
                    <a:cubicBezTo>
                      <a:pt x="2" y="44"/>
                      <a:pt x="2" y="44"/>
                      <a:pt x="2" y="44"/>
                    </a:cubicBezTo>
                    <a:cubicBezTo>
                      <a:pt x="0" y="42"/>
                      <a:pt x="1" y="37"/>
                      <a:pt x="4" y="35"/>
                    </a:cubicBezTo>
                    <a:cubicBezTo>
                      <a:pt x="4" y="35"/>
                      <a:pt x="5" y="35"/>
                      <a:pt x="5" y="3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6" y="0"/>
                      <a:pt x="99" y="1"/>
                      <a:pt x="101" y="4"/>
                    </a:cubicBezTo>
                    <a:cubicBezTo>
                      <a:pt x="142" y="64"/>
                      <a:pt x="142" y="64"/>
                      <a:pt x="142" y="64"/>
                    </a:cubicBezTo>
                    <a:cubicBezTo>
                      <a:pt x="144" y="67"/>
                      <a:pt x="143" y="71"/>
                      <a:pt x="140" y="73"/>
                    </a:cubicBezTo>
                    <a:cubicBezTo>
                      <a:pt x="140" y="73"/>
                      <a:pt x="139" y="73"/>
                      <a:pt x="139" y="73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8" name="îSlîḓé">
                <a:extLst>
                  <a:ext uri="{FF2B5EF4-FFF2-40B4-BE49-F238E27FC236}">
                    <a16:creationId xmlns:a16="http://schemas.microsoft.com/office/drawing/2014/main" id="{507C8D2A-C38B-1FA8-4FD3-0C68CC7BB9ED}"/>
                  </a:ext>
                </a:extLst>
              </p:cNvPr>
              <p:cNvSpPr/>
              <p:nvPr/>
            </p:nvSpPr>
            <p:spPr bwMode="auto">
              <a:xfrm>
                <a:off x="4203820" y="3282902"/>
                <a:ext cx="578308" cy="245528"/>
              </a:xfrm>
              <a:custGeom>
                <a:avLst/>
                <a:gdLst>
                  <a:gd name="T0" fmla="*/ 4 w 137"/>
                  <a:gd name="T1" fmla="*/ 48 h 58"/>
                  <a:gd name="T2" fmla="*/ 130 w 137"/>
                  <a:gd name="T3" fmla="*/ 1 h 58"/>
                  <a:gd name="T4" fmla="*/ 136 w 137"/>
                  <a:gd name="T5" fmla="*/ 3 h 58"/>
                  <a:gd name="T6" fmla="*/ 136 w 137"/>
                  <a:gd name="T7" fmla="*/ 3 h 58"/>
                  <a:gd name="T8" fmla="*/ 133 w 137"/>
                  <a:gd name="T9" fmla="*/ 9 h 58"/>
                  <a:gd name="T10" fmla="*/ 7 w 137"/>
                  <a:gd name="T11" fmla="*/ 57 h 58"/>
                  <a:gd name="T12" fmla="*/ 1 w 137"/>
                  <a:gd name="T13" fmla="*/ 54 h 58"/>
                  <a:gd name="T14" fmla="*/ 1 w 137"/>
                  <a:gd name="T15" fmla="*/ 54 h 58"/>
                  <a:gd name="T16" fmla="*/ 1 w 137"/>
                  <a:gd name="T17" fmla="*/ 54 h 58"/>
                  <a:gd name="T18" fmla="*/ 4 w 137"/>
                  <a:gd name="T19" fmla="*/ 48 h 58"/>
                  <a:gd name="T20" fmla="*/ 4 w 137"/>
                  <a:gd name="T21" fmla="*/ 4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7" h="58">
                    <a:moveTo>
                      <a:pt x="4" y="48"/>
                    </a:moveTo>
                    <a:cubicBezTo>
                      <a:pt x="130" y="1"/>
                      <a:pt x="130" y="1"/>
                      <a:pt x="130" y="1"/>
                    </a:cubicBezTo>
                    <a:cubicBezTo>
                      <a:pt x="133" y="0"/>
                      <a:pt x="135" y="1"/>
                      <a:pt x="136" y="3"/>
                    </a:cubicBezTo>
                    <a:cubicBezTo>
                      <a:pt x="136" y="3"/>
                      <a:pt x="136" y="3"/>
                      <a:pt x="136" y="3"/>
                    </a:cubicBezTo>
                    <a:cubicBezTo>
                      <a:pt x="137" y="6"/>
                      <a:pt x="136" y="8"/>
                      <a:pt x="133" y="9"/>
                    </a:cubicBezTo>
                    <a:cubicBezTo>
                      <a:pt x="7" y="57"/>
                      <a:pt x="7" y="57"/>
                      <a:pt x="7" y="57"/>
                    </a:cubicBezTo>
                    <a:cubicBezTo>
                      <a:pt x="5" y="58"/>
                      <a:pt x="2" y="57"/>
                      <a:pt x="1" y="54"/>
                    </a:cubicBezTo>
                    <a:cubicBezTo>
                      <a:pt x="1" y="54"/>
                      <a:pt x="1" y="54"/>
                      <a:pt x="1" y="54"/>
                    </a:cubicBezTo>
                    <a:cubicBezTo>
                      <a:pt x="1" y="54"/>
                      <a:pt x="1" y="54"/>
                      <a:pt x="1" y="54"/>
                    </a:cubicBezTo>
                    <a:cubicBezTo>
                      <a:pt x="0" y="52"/>
                      <a:pt x="2" y="49"/>
                      <a:pt x="4" y="48"/>
                    </a:cubicBezTo>
                    <a:cubicBezTo>
                      <a:pt x="4" y="48"/>
                      <a:pt x="4" y="48"/>
                      <a:pt x="4" y="48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9" name="iṧliḍè">
                <a:extLst>
                  <a:ext uri="{FF2B5EF4-FFF2-40B4-BE49-F238E27FC236}">
                    <a16:creationId xmlns:a16="http://schemas.microsoft.com/office/drawing/2014/main" id="{A9784EC0-60C7-B8ED-A941-F38E2F1DD378}"/>
                  </a:ext>
                </a:extLst>
              </p:cNvPr>
              <p:cNvSpPr/>
              <p:nvPr/>
            </p:nvSpPr>
            <p:spPr bwMode="auto">
              <a:xfrm>
                <a:off x="4441229" y="3232173"/>
                <a:ext cx="466704" cy="206973"/>
              </a:xfrm>
              <a:custGeom>
                <a:avLst/>
                <a:gdLst>
                  <a:gd name="T0" fmla="*/ 3 w 111"/>
                  <a:gd name="T1" fmla="*/ 39 h 49"/>
                  <a:gd name="T2" fmla="*/ 105 w 111"/>
                  <a:gd name="T3" fmla="*/ 1 h 49"/>
                  <a:gd name="T4" fmla="*/ 110 w 111"/>
                  <a:gd name="T5" fmla="*/ 3 h 49"/>
                  <a:gd name="T6" fmla="*/ 110 w 111"/>
                  <a:gd name="T7" fmla="*/ 4 h 49"/>
                  <a:gd name="T8" fmla="*/ 108 w 111"/>
                  <a:gd name="T9" fmla="*/ 10 h 49"/>
                  <a:gd name="T10" fmla="*/ 6 w 111"/>
                  <a:gd name="T11" fmla="*/ 48 h 49"/>
                  <a:gd name="T12" fmla="*/ 1 w 111"/>
                  <a:gd name="T13" fmla="*/ 46 h 49"/>
                  <a:gd name="T14" fmla="*/ 1 w 111"/>
                  <a:gd name="T15" fmla="*/ 45 h 49"/>
                  <a:gd name="T16" fmla="*/ 3 w 111"/>
                  <a:gd name="T17" fmla="*/ 3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1" h="49">
                    <a:moveTo>
                      <a:pt x="3" y="39"/>
                    </a:moveTo>
                    <a:cubicBezTo>
                      <a:pt x="105" y="1"/>
                      <a:pt x="105" y="1"/>
                      <a:pt x="105" y="1"/>
                    </a:cubicBezTo>
                    <a:cubicBezTo>
                      <a:pt x="107" y="0"/>
                      <a:pt x="109" y="1"/>
                      <a:pt x="110" y="3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1" y="6"/>
                      <a:pt x="110" y="9"/>
                      <a:pt x="108" y="10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4" y="49"/>
                      <a:pt x="2" y="48"/>
                      <a:pt x="1" y="46"/>
                    </a:cubicBezTo>
                    <a:cubicBezTo>
                      <a:pt x="1" y="45"/>
                      <a:pt x="1" y="45"/>
                      <a:pt x="1" y="45"/>
                    </a:cubicBezTo>
                    <a:cubicBezTo>
                      <a:pt x="0" y="43"/>
                      <a:pt x="1" y="40"/>
                      <a:pt x="3" y="39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0" name="iśľïdé">
                <a:extLst>
                  <a:ext uri="{FF2B5EF4-FFF2-40B4-BE49-F238E27FC236}">
                    <a16:creationId xmlns:a16="http://schemas.microsoft.com/office/drawing/2014/main" id="{EBCD29EC-B5AC-7E79-FD9D-AE6CA9D03D40}"/>
                  </a:ext>
                </a:extLst>
              </p:cNvPr>
              <p:cNvSpPr/>
              <p:nvPr/>
            </p:nvSpPr>
            <p:spPr bwMode="auto">
              <a:xfrm>
                <a:off x="4441229" y="3232173"/>
                <a:ext cx="466704" cy="206973"/>
              </a:xfrm>
              <a:custGeom>
                <a:avLst/>
                <a:gdLst>
                  <a:gd name="T0" fmla="*/ 3 w 111"/>
                  <a:gd name="T1" fmla="*/ 39 h 49"/>
                  <a:gd name="T2" fmla="*/ 105 w 111"/>
                  <a:gd name="T3" fmla="*/ 1 h 49"/>
                  <a:gd name="T4" fmla="*/ 110 w 111"/>
                  <a:gd name="T5" fmla="*/ 3 h 49"/>
                  <a:gd name="T6" fmla="*/ 110 w 111"/>
                  <a:gd name="T7" fmla="*/ 4 h 49"/>
                  <a:gd name="T8" fmla="*/ 108 w 111"/>
                  <a:gd name="T9" fmla="*/ 10 h 49"/>
                  <a:gd name="T10" fmla="*/ 6 w 111"/>
                  <a:gd name="T11" fmla="*/ 48 h 49"/>
                  <a:gd name="T12" fmla="*/ 1 w 111"/>
                  <a:gd name="T13" fmla="*/ 46 h 49"/>
                  <a:gd name="T14" fmla="*/ 1 w 111"/>
                  <a:gd name="T15" fmla="*/ 45 h 49"/>
                  <a:gd name="T16" fmla="*/ 3 w 111"/>
                  <a:gd name="T17" fmla="*/ 3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1" h="49">
                    <a:moveTo>
                      <a:pt x="3" y="39"/>
                    </a:moveTo>
                    <a:cubicBezTo>
                      <a:pt x="105" y="1"/>
                      <a:pt x="105" y="1"/>
                      <a:pt x="105" y="1"/>
                    </a:cubicBezTo>
                    <a:cubicBezTo>
                      <a:pt x="107" y="0"/>
                      <a:pt x="109" y="1"/>
                      <a:pt x="110" y="3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1" y="6"/>
                      <a:pt x="110" y="9"/>
                      <a:pt x="108" y="10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4" y="49"/>
                      <a:pt x="2" y="48"/>
                      <a:pt x="1" y="46"/>
                    </a:cubicBezTo>
                    <a:cubicBezTo>
                      <a:pt x="1" y="45"/>
                      <a:pt x="1" y="45"/>
                      <a:pt x="1" y="45"/>
                    </a:cubicBezTo>
                    <a:cubicBezTo>
                      <a:pt x="0" y="43"/>
                      <a:pt x="1" y="40"/>
                      <a:pt x="3" y="39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1" name="íšḻïḋé">
                <a:extLst>
                  <a:ext uri="{FF2B5EF4-FFF2-40B4-BE49-F238E27FC236}">
                    <a16:creationId xmlns:a16="http://schemas.microsoft.com/office/drawing/2014/main" id="{3F73EF67-C673-56DC-4F72-BDC9FDCF2D54}"/>
                  </a:ext>
                </a:extLst>
              </p:cNvPr>
              <p:cNvSpPr/>
              <p:nvPr/>
            </p:nvSpPr>
            <p:spPr bwMode="auto">
              <a:xfrm>
                <a:off x="4508192" y="3524370"/>
                <a:ext cx="728465" cy="1290539"/>
              </a:xfrm>
              <a:custGeom>
                <a:avLst/>
                <a:gdLst>
                  <a:gd name="T0" fmla="*/ 25 w 173"/>
                  <a:gd name="T1" fmla="*/ 11 h 306"/>
                  <a:gd name="T2" fmla="*/ 121 w 173"/>
                  <a:gd name="T3" fmla="*/ 2 h 306"/>
                  <a:gd name="T4" fmla="*/ 149 w 173"/>
                  <a:gd name="T5" fmla="*/ 25 h 306"/>
                  <a:gd name="T6" fmla="*/ 172 w 173"/>
                  <a:gd name="T7" fmla="*/ 267 h 306"/>
                  <a:gd name="T8" fmla="*/ 149 w 173"/>
                  <a:gd name="T9" fmla="*/ 296 h 306"/>
                  <a:gd name="T10" fmla="*/ 53 w 173"/>
                  <a:gd name="T11" fmla="*/ 305 h 306"/>
                  <a:gd name="T12" fmla="*/ 25 w 173"/>
                  <a:gd name="T13" fmla="*/ 281 h 306"/>
                  <a:gd name="T14" fmla="*/ 2 w 173"/>
                  <a:gd name="T15" fmla="*/ 39 h 306"/>
                  <a:gd name="T16" fmla="*/ 25 w 173"/>
                  <a:gd name="T17" fmla="*/ 11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3" h="306">
                    <a:moveTo>
                      <a:pt x="25" y="11"/>
                    </a:moveTo>
                    <a:cubicBezTo>
                      <a:pt x="121" y="2"/>
                      <a:pt x="121" y="2"/>
                      <a:pt x="121" y="2"/>
                    </a:cubicBezTo>
                    <a:cubicBezTo>
                      <a:pt x="135" y="0"/>
                      <a:pt x="148" y="11"/>
                      <a:pt x="149" y="25"/>
                    </a:cubicBezTo>
                    <a:cubicBezTo>
                      <a:pt x="172" y="267"/>
                      <a:pt x="172" y="267"/>
                      <a:pt x="172" y="267"/>
                    </a:cubicBezTo>
                    <a:cubicBezTo>
                      <a:pt x="173" y="281"/>
                      <a:pt x="163" y="294"/>
                      <a:pt x="149" y="296"/>
                    </a:cubicBezTo>
                    <a:cubicBezTo>
                      <a:pt x="53" y="305"/>
                      <a:pt x="53" y="305"/>
                      <a:pt x="53" y="305"/>
                    </a:cubicBezTo>
                    <a:cubicBezTo>
                      <a:pt x="39" y="306"/>
                      <a:pt x="26" y="295"/>
                      <a:pt x="25" y="281"/>
                    </a:cubicBezTo>
                    <a:cubicBezTo>
                      <a:pt x="2" y="39"/>
                      <a:pt x="2" y="39"/>
                      <a:pt x="2" y="39"/>
                    </a:cubicBezTo>
                    <a:cubicBezTo>
                      <a:pt x="0" y="25"/>
                      <a:pt x="11" y="12"/>
                      <a:pt x="25" y="11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2" name="ïṣḻïḍè">
                <a:extLst>
                  <a:ext uri="{FF2B5EF4-FFF2-40B4-BE49-F238E27FC236}">
                    <a16:creationId xmlns:a16="http://schemas.microsoft.com/office/drawing/2014/main" id="{D964C188-C66C-C2EB-3B54-98572323CF4C}"/>
                  </a:ext>
                </a:extLst>
              </p:cNvPr>
              <p:cNvSpPr/>
              <p:nvPr/>
            </p:nvSpPr>
            <p:spPr bwMode="auto">
              <a:xfrm>
                <a:off x="4508192" y="3524370"/>
                <a:ext cx="728465" cy="1290539"/>
              </a:xfrm>
              <a:custGeom>
                <a:avLst/>
                <a:gdLst>
                  <a:gd name="T0" fmla="*/ 25 w 173"/>
                  <a:gd name="T1" fmla="*/ 11 h 306"/>
                  <a:gd name="T2" fmla="*/ 121 w 173"/>
                  <a:gd name="T3" fmla="*/ 2 h 306"/>
                  <a:gd name="T4" fmla="*/ 149 w 173"/>
                  <a:gd name="T5" fmla="*/ 25 h 306"/>
                  <a:gd name="T6" fmla="*/ 172 w 173"/>
                  <a:gd name="T7" fmla="*/ 267 h 306"/>
                  <a:gd name="T8" fmla="*/ 149 w 173"/>
                  <a:gd name="T9" fmla="*/ 296 h 306"/>
                  <a:gd name="T10" fmla="*/ 53 w 173"/>
                  <a:gd name="T11" fmla="*/ 305 h 306"/>
                  <a:gd name="T12" fmla="*/ 25 w 173"/>
                  <a:gd name="T13" fmla="*/ 281 h 306"/>
                  <a:gd name="T14" fmla="*/ 2 w 173"/>
                  <a:gd name="T15" fmla="*/ 39 h 306"/>
                  <a:gd name="T16" fmla="*/ 25 w 173"/>
                  <a:gd name="T17" fmla="*/ 11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3" h="306">
                    <a:moveTo>
                      <a:pt x="25" y="11"/>
                    </a:moveTo>
                    <a:cubicBezTo>
                      <a:pt x="121" y="2"/>
                      <a:pt x="121" y="2"/>
                      <a:pt x="121" y="2"/>
                    </a:cubicBezTo>
                    <a:cubicBezTo>
                      <a:pt x="135" y="0"/>
                      <a:pt x="148" y="11"/>
                      <a:pt x="149" y="25"/>
                    </a:cubicBezTo>
                    <a:cubicBezTo>
                      <a:pt x="172" y="267"/>
                      <a:pt x="172" y="267"/>
                      <a:pt x="172" y="267"/>
                    </a:cubicBezTo>
                    <a:cubicBezTo>
                      <a:pt x="173" y="281"/>
                      <a:pt x="163" y="294"/>
                      <a:pt x="149" y="296"/>
                    </a:cubicBezTo>
                    <a:cubicBezTo>
                      <a:pt x="53" y="305"/>
                      <a:pt x="53" y="305"/>
                      <a:pt x="53" y="305"/>
                    </a:cubicBezTo>
                    <a:cubicBezTo>
                      <a:pt x="39" y="306"/>
                      <a:pt x="26" y="295"/>
                      <a:pt x="25" y="281"/>
                    </a:cubicBezTo>
                    <a:cubicBezTo>
                      <a:pt x="2" y="39"/>
                      <a:pt x="2" y="39"/>
                      <a:pt x="2" y="39"/>
                    </a:cubicBezTo>
                    <a:cubicBezTo>
                      <a:pt x="0" y="25"/>
                      <a:pt x="11" y="12"/>
                      <a:pt x="25" y="11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3" name="íṩľiďé">
                <a:extLst>
                  <a:ext uri="{FF2B5EF4-FFF2-40B4-BE49-F238E27FC236}">
                    <a16:creationId xmlns:a16="http://schemas.microsoft.com/office/drawing/2014/main" id="{7601EB4C-A2F4-C786-E174-55E1791F8FD8}"/>
                  </a:ext>
                </a:extLst>
              </p:cNvPr>
              <p:cNvSpPr/>
              <p:nvPr/>
            </p:nvSpPr>
            <p:spPr bwMode="auto">
              <a:xfrm>
                <a:off x="4508192" y="3524370"/>
                <a:ext cx="728465" cy="1260102"/>
              </a:xfrm>
              <a:custGeom>
                <a:avLst/>
                <a:gdLst>
                  <a:gd name="T0" fmla="*/ 25 w 173"/>
                  <a:gd name="T1" fmla="*/ 10 h 299"/>
                  <a:gd name="T2" fmla="*/ 121 w 173"/>
                  <a:gd name="T3" fmla="*/ 1 h 299"/>
                  <a:gd name="T4" fmla="*/ 149 w 173"/>
                  <a:gd name="T5" fmla="*/ 25 h 299"/>
                  <a:gd name="T6" fmla="*/ 172 w 173"/>
                  <a:gd name="T7" fmla="*/ 261 h 299"/>
                  <a:gd name="T8" fmla="*/ 148 w 173"/>
                  <a:gd name="T9" fmla="*/ 289 h 299"/>
                  <a:gd name="T10" fmla="*/ 52 w 173"/>
                  <a:gd name="T11" fmla="*/ 298 h 299"/>
                  <a:gd name="T12" fmla="*/ 24 w 173"/>
                  <a:gd name="T13" fmla="*/ 275 h 299"/>
                  <a:gd name="T14" fmla="*/ 2 w 173"/>
                  <a:gd name="T15" fmla="*/ 39 h 299"/>
                  <a:gd name="T16" fmla="*/ 25 w 173"/>
                  <a:gd name="T17" fmla="*/ 10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3" h="299">
                    <a:moveTo>
                      <a:pt x="25" y="10"/>
                    </a:moveTo>
                    <a:cubicBezTo>
                      <a:pt x="121" y="1"/>
                      <a:pt x="121" y="1"/>
                      <a:pt x="121" y="1"/>
                    </a:cubicBezTo>
                    <a:cubicBezTo>
                      <a:pt x="135" y="0"/>
                      <a:pt x="148" y="10"/>
                      <a:pt x="149" y="25"/>
                    </a:cubicBezTo>
                    <a:cubicBezTo>
                      <a:pt x="172" y="261"/>
                      <a:pt x="172" y="261"/>
                      <a:pt x="172" y="261"/>
                    </a:cubicBezTo>
                    <a:cubicBezTo>
                      <a:pt x="173" y="275"/>
                      <a:pt x="162" y="288"/>
                      <a:pt x="148" y="289"/>
                    </a:cubicBezTo>
                    <a:cubicBezTo>
                      <a:pt x="52" y="298"/>
                      <a:pt x="52" y="298"/>
                      <a:pt x="52" y="298"/>
                    </a:cubicBezTo>
                    <a:cubicBezTo>
                      <a:pt x="38" y="299"/>
                      <a:pt x="25" y="289"/>
                      <a:pt x="24" y="275"/>
                    </a:cubicBezTo>
                    <a:cubicBezTo>
                      <a:pt x="2" y="39"/>
                      <a:pt x="2" y="39"/>
                      <a:pt x="2" y="39"/>
                    </a:cubicBezTo>
                    <a:cubicBezTo>
                      <a:pt x="0" y="24"/>
                      <a:pt x="11" y="12"/>
                      <a:pt x="25" y="10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4" name="îṣḻîde">
                <a:extLst>
                  <a:ext uri="{FF2B5EF4-FFF2-40B4-BE49-F238E27FC236}">
                    <a16:creationId xmlns:a16="http://schemas.microsoft.com/office/drawing/2014/main" id="{297BA7D4-8A78-2C49-E2C8-5BC933374050}"/>
                  </a:ext>
                </a:extLst>
              </p:cNvPr>
              <p:cNvSpPr/>
              <p:nvPr/>
            </p:nvSpPr>
            <p:spPr bwMode="auto">
              <a:xfrm>
                <a:off x="4546745" y="3552779"/>
                <a:ext cx="653386" cy="1136323"/>
              </a:xfrm>
              <a:custGeom>
                <a:avLst/>
                <a:gdLst>
                  <a:gd name="T0" fmla="*/ 22 w 155"/>
                  <a:gd name="T1" fmla="*/ 10 h 269"/>
                  <a:gd name="T2" fmla="*/ 108 w 155"/>
                  <a:gd name="T3" fmla="*/ 1 h 269"/>
                  <a:gd name="T4" fmla="*/ 134 w 155"/>
                  <a:gd name="T5" fmla="*/ 22 h 269"/>
                  <a:gd name="T6" fmla="*/ 154 w 155"/>
                  <a:gd name="T7" fmla="*/ 234 h 269"/>
                  <a:gd name="T8" fmla="*/ 133 w 155"/>
                  <a:gd name="T9" fmla="*/ 260 h 269"/>
                  <a:gd name="T10" fmla="*/ 46 w 155"/>
                  <a:gd name="T11" fmla="*/ 268 h 269"/>
                  <a:gd name="T12" fmla="*/ 21 w 155"/>
                  <a:gd name="T13" fmla="*/ 247 h 269"/>
                  <a:gd name="T14" fmla="*/ 1 w 155"/>
                  <a:gd name="T15" fmla="*/ 35 h 269"/>
                  <a:gd name="T16" fmla="*/ 22 w 155"/>
                  <a:gd name="T17" fmla="*/ 10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5" h="269">
                    <a:moveTo>
                      <a:pt x="22" y="10"/>
                    </a:moveTo>
                    <a:cubicBezTo>
                      <a:pt x="108" y="1"/>
                      <a:pt x="108" y="1"/>
                      <a:pt x="108" y="1"/>
                    </a:cubicBezTo>
                    <a:cubicBezTo>
                      <a:pt x="121" y="0"/>
                      <a:pt x="132" y="10"/>
                      <a:pt x="134" y="22"/>
                    </a:cubicBezTo>
                    <a:cubicBezTo>
                      <a:pt x="154" y="234"/>
                      <a:pt x="154" y="234"/>
                      <a:pt x="154" y="234"/>
                    </a:cubicBezTo>
                    <a:cubicBezTo>
                      <a:pt x="155" y="247"/>
                      <a:pt x="145" y="258"/>
                      <a:pt x="133" y="260"/>
                    </a:cubicBezTo>
                    <a:cubicBezTo>
                      <a:pt x="46" y="268"/>
                      <a:pt x="46" y="268"/>
                      <a:pt x="46" y="268"/>
                    </a:cubicBezTo>
                    <a:cubicBezTo>
                      <a:pt x="33" y="269"/>
                      <a:pt x="22" y="260"/>
                      <a:pt x="21" y="247"/>
                    </a:cubicBezTo>
                    <a:cubicBezTo>
                      <a:pt x="1" y="35"/>
                      <a:pt x="1" y="35"/>
                      <a:pt x="1" y="35"/>
                    </a:cubicBezTo>
                    <a:cubicBezTo>
                      <a:pt x="0" y="22"/>
                      <a:pt x="9" y="11"/>
                      <a:pt x="22" y="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5" name="îsḷîďê">
                <a:extLst>
                  <a:ext uri="{FF2B5EF4-FFF2-40B4-BE49-F238E27FC236}">
                    <a16:creationId xmlns:a16="http://schemas.microsoft.com/office/drawing/2014/main" id="{736B37B2-0B25-48E9-CAD3-BEDA7A4DF2CC}"/>
                  </a:ext>
                </a:extLst>
              </p:cNvPr>
              <p:cNvSpPr/>
              <p:nvPr/>
            </p:nvSpPr>
            <p:spPr bwMode="auto">
              <a:xfrm>
                <a:off x="5567408" y="2136433"/>
                <a:ext cx="501200" cy="243498"/>
              </a:xfrm>
              <a:custGeom>
                <a:avLst/>
                <a:gdLst>
                  <a:gd name="T0" fmla="*/ 13 w 119"/>
                  <a:gd name="T1" fmla="*/ 58 h 58"/>
                  <a:gd name="T2" fmla="*/ 0 w 119"/>
                  <a:gd name="T3" fmla="*/ 46 h 58"/>
                  <a:gd name="T4" fmla="*/ 5 w 119"/>
                  <a:gd name="T5" fmla="*/ 36 h 58"/>
                  <a:gd name="T6" fmla="*/ 112 w 119"/>
                  <a:gd name="T7" fmla="*/ 32 h 58"/>
                  <a:gd name="T8" fmla="*/ 115 w 119"/>
                  <a:gd name="T9" fmla="*/ 49 h 58"/>
                  <a:gd name="T10" fmla="*/ 98 w 119"/>
                  <a:gd name="T11" fmla="*/ 52 h 58"/>
                  <a:gd name="T12" fmla="*/ 98 w 119"/>
                  <a:gd name="T13" fmla="*/ 52 h 58"/>
                  <a:gd name="T14" fmla="*/ 20 w 119"/>
                  <a:gd name="T15" fmla="*/ 55 h 58"/>
                  <a:gd name="T16" fmla="*/ 13 w 119"/>
                  <a:gd name="T17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9" h="58">
                    <a:moveTo>
                      <a:pt x="13" y="58"/>
                    </a:moveTo>
                    <a:cubicBezTo>
                      <a:pt x="6" y="58"/>
                      <a:pt x="0" y="53"/>
                      <a:pt x="0" y="46"/>
                    </a:cubicBezTo>
                    <a:cubicBezTo>
                      <a:pt x="0" y="42"/>
                      <a:pt x="2" y="39"/>
                      <a:pt x="5" y="36"/>
                    </a:cubicBezTo>
                    <a:cubicBezTo>
                      <a:pt x="23" y="21"/>
                      <a:pt x="70" y="0"/>
                      <a:pt x="112" y="32"/>
                    </a:cubicBezTo>
                    <a:cubicBezTo>
                      <a:pt x="118" y="36"/>
                      <a:pt x="119" y="44"/>
                      <a:pt x="115" y="49"/>
                    </a:cubicBezTo>
                    <a:cubicBezTo>
                      <a:pt x="112" y="55"/>
                      <a:pt x="104" y="56"/>
                      <a:pt x="98" y="52"/>
                    </a:cubicBezTo>
                    <a:cubicBezTo>
                      <a:pt x="98" y="52"/>
                      <a:pt x="98" y="52"/>
                      <a:pt x="98" y="52"/>
                    </a:cubicBezTo>
                    <a:cubicBezTo>
                      <a:pt x="60" y="23"/>
                      <a:pt x="22" y="54"/>
                      <a:pt x="20" y="55"/>
                    </a:cubicBezTo>
                    <a:cubicBezTo>
                      <a:pt x="18" y="57"/>
                      <a:pt x="15" y="58"/>
                      <a:pt x="13" y="58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6" name="ïSľiḑe">
                <a:extLst>
                  <a:ext uri="{FF2B5EF4-FFF2-40B4-BE49-F238E27FC236}">
                    <a16:creationId xmlns:a16="http://schemas.microsoft.com/office/drawing/2014/main" id="{885EFE54-ECD8-D3FE-08C4-19D9EDA3E029}"/>
                  </a:ext>
                </a:extLst>
              </p:cNvPr>
              <p:cNvSpPr/>
              <p:nvPr/>
            </p:nvSpPr>
            <p:spPr bwMode="auto">
              <a:xfrm>
                <a:off x="5439571" y="1828002"/>
                <a:ext cx="730494" cy="383510"/>
              </a:xfrm>
              <a:custGeom>
                <a:avLst/>
                <a:gdLst>
                  <a:gd name="T0" fmla="*/ 14 w 173"/>
                  <a:gd name="T1" fmla="*/ 91 h 91"/>
                  <a:gd name="T2" fmla="*/ 5 w 173"/>
                  <a:gd name="T3" fmla="*/ 88 h 91"/>
                  <a:gd name="T4" fmla="*/ 5 w 173"/>
                  <a:gd name="T5" fmla="*/ 71 h 91"/>
                  <a:gd name="T6" fmla="*/ 167 w 173"/>
                  <a:gd name="T7" fmla="*/ 65 h 91"/>
                  <a:gd name="T8" fmla="*/ 169 w 173"/>
                  <a:gd name="T9" fmla="*/ 82 h 91"/>
                  <a:gd name="T10" fmla="*/ 152 w 173"/>
                  <a:gd name="T11" fmla="*/ 85 h 91"/>
                  <a:gd name="T12" fmla="*/ 22 w 173"/>
                  <a:gd name="T13" fmla="*/ 88 h 91"/>
                  <a:gd name="T14" fmla="*/ 14 w 173"/>
                  <a:gd name="T15" fmla="*/ 91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3" h="91">
                    <a:moveTo>
                      <a:pt x="14" y="91"/>
                    </a:moveTo>
                    <a:cubicBezTo>
                      <a:pt x="10" y="91"/>
                      <a:pt x="7" y="90"/>
                      <a:pt x="5" y="88"/>
                    </a:cubicBezTo>
                    <a:cubicBezTo>
                      <a:pt x="0" y="83"/>
                      <a:pt x="0" y="75"/>
                      <a:pt x="5" y="71"/>
                    </a:cubicBezTo>
                    <a:cubicBezTo>
                      <a:pt x="6" y="70"/>
                      <a:pt x="76" y="0"/>
                      <a:pt x="167" y="65"/>
                    </a:cubicBezTo>
                    <a:cubicBezTo>
                      <a:pt x="172" y="69"/>
                      <a:pt x="173" y="77"/>
                      <a:pt x="169" y="82"/>
                    </a:cubicBezTo>
                    <a:cubicBezTo>
                      <a:pt x="166" y="88"/>
                      <a:pt x="158" y="89"/>
                      <a:pt x="152" y="85"/>
                    </a:cubicBezTo>
                    <a:cubicBezTo>
                      <a:pt x="79" y="33"/>
                      <a:pt x="25" y="86"/>
                      <a:pt x="22" y="88"/>
                    </a:cubicBezTo>
                    <a:cubicBezTo>
                      <a:pt x="20" y="90"/>
                      <a:pt x="17" y="91"/>
                      <a:pt x="14" y="91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7" name="îŝḷîḑe">
                <a:extLst>
                  <a:ext uri="{FF2B5EF4-FFF2-40B4-BE49-F238E27FC236}">
                    <a16:creationId xmlns:a16="http://schemas.microsoft.com/office/drawing/2014/main" id="{4A000EEE-26E3-63CC-64B4-0982EC293FCD}"/>
                  </a:ext>
                </a:extLst>
              </p:cNvPr>
              <p:cNvSpPr/>
              <p:nvPr/>
            </p:nvSpPr>
            <p:spPr bwMode="auto">
              <a:xfrm>
                <a:off x="5283327" y="1545951"/>
                <a:ext cx="1042982" cy="480909"/>
              </a:xfrm>
              <a:custGeom>
                <a:avLst/>
                <a:gdLst>
                  <a:gd name="T0" fmla="*/ 233 w 247"/>
                  <a:gd name="T1" fmla="*/ 113 h 114"/>
                  <a:gd name="T2" fmla="*/ 226 w 247"/>
                  <a:gd name="T3" fmla="*/ 110 h 114"/>
                  <a:gd name="T4" fmla="*/ 21 w 247"/>
                  <a:gd name="T5" fmla="*/ 110 h 114"/>
                  <a:gd name="T6" fmla="*/ 4 w 247"/>
                  <a:gd name="T7" fmla="*/ 108 h 114"/>
                  <a:gd name="T8" fmla="*/ 5 w 247"/>
                  <a:gd name="T9" fmla="*/ 91 h 114"/>
                  <a:gd name="T10" fmla="*/ 241 w 247"/>
                  <a:gd name="T11" fmla="*/ 90 h 114"/>
                  <a:gd name="T12" fmla="*/ 243 w 247"/>
                  <a:gd name="T13" fmla="*/ 108 h 114"/>
                  <a:gd name="T14" fmla="*/ 233 w 247"/>
                  <a:gd name="T15" fmla="*/ 11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7" h="114">
                    <a:moveTo>
                      <a:pt x="233" y="113"/>
                    </a:moveTo>
                    <a:cubicBezTo>
                      <a:pt x="231" y="113"/>
                      <a:pt x="228" y="112"/>
                      <a:pt x="226" y="110"/>
                    </a:cubicBezTo>
                    <a:cubicBezTo>
                      <a:pt x="118" y="31"/>
                      <a:pt x="25" y="106"/>
                      <a:pt x="21" y="110"/>
                    </a:cubicBezTo>
                    <a:cubicBezTo>
                      <a:pt x="16" y="114"/>
                      <a:pt x="8" y="113"/>
                      <a:pt x="4" y="108"/>
                    </a:cubicBezTo>
                    <a:cubicBezTo>
                      <a:pt x="0" y="103"/>
                      <a:pt x="1" y="95"/>
                      <a:pt x="5" y="91"/>
                    </a:cubicBezTo>
                    <a:cubicBezTo>
                      <a:pt x="7" y="90"/>
                      <a:pt x="116" y="0"/>
                      <a:pt x="241" y="90"/>
                    </a:cubicBezTo>
                    <a:cubicBezTo>
                      <a:pt x="246" y="95"/>
                      <a:pt x="247" y="102"/>
                      <a:pt x="243" y="108"/>
                    </a:cubicBezTo>
                    <a:cubicBezTo>
                      <a:pt x="241" y="111"/>
                      <a:pt x="237" y="113"/>
                      <a:pt x="233" y="113"/>
                    </a:cubicBezTo>
                    <a:close/>
                  </a:path>
                </a:pathLst>
              </a:custGeom>
              <a:solidFill>
                <a:srgbClr val="68AFF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21898789-BA82-C864-6C16-68D2A9E2773B}"/>
                </a:ext>
              </a:extLst>
            </p:cNvPr>
            <p:cNvSpPr txBox="1"/>
            <p:nvPr/>
          </p:nvSpPr>
          <p:spPr>
            <a:xfrm>
              <a:off x="493390" y="2959916"/>
              <a:ext cx="3307904" cy="3648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/>
                <a:t>计算机网络是个</a:t>
              </a:r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非常复杂的系统</a:t>
              </a:r>
            </a:p>
          </p:txBody>
        </p:sp>
        <p:cxnSp>
          <p:nvCxnSpPr>
            <p:cNvPr id="205" name="连接符: 肘形 204">
              <a:extLst>
                <a:ext uri="{FF2B5EF4-FFF2-40B4-BE49-F238E27FC236}">
                  <a16:creationId xmlns:a16="http://schemas.microsoft.com/office/drawing/2014/main" id="{AB08E4CE-E51E-A918-446F-3FFA962F141F}"/>
                </a:ext>
              </a:extLst>
            </p:cNvPr>
            <p:cNvCxnSpPr>
              <a:cxnSpLocks/>
              <a:stCxn id="207" idx="11"/>
              <a:endCxn id="202" idx="0"/>
            </p:cNvCxnSpPr>
            <p:nvPr/>
          </p:nvCxnSpPr>
          <p:spPr>
            <a:xfrm>
              <a:off x="4118926" y="1875052"/>
              <a:ext cx="3540082" cy="1553948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2D634254-3D58-942F-3479-3B8BF437A5BC}"/>
                </a:ext>
              </a:extLst>
            </p:cNvPr>
            <p:cNvSpPr txBox="1"/>
            <p:nvPr/>
          </p:nvSpPr>
          <p:spPr>
            <a:xfrm>
              <a:off x="4206733" y="1287341"/>
              <a:ext cx="3769907" cy="63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</a:rPr>
                <a:t>“</a:t>
              </a:r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分层</a:t>
              </a:r>
              <a:r>
                <a:rPr lang="zh-CN" altLang="en-US" sz="1600" b="1" dirty="0">
                  <a:solidFill>
                    <a:schemeClr val="tx1"/>
                  </a:solidFill>
                </a:rPr>
                <a:t>”可将庞大复杂的问题转化为</a:t>
              </a:r>
              <a:endParaRPr lang="en-US" altLang="zh-CN" sz="1600" b="1" dirty="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若干较小的局部问题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51913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C17E84F2-E68C-4E83-BE4F-358726CF3E95}"/>
              </a:ext>
            </a:extLst>
          </p:cNvPr>
          <p:cNvGrpSpPr/>
          <p:nvPr/>
        </p:nvGrpSpPr>
        <p:grpSpPr>
          <a:xfrm>
            <a:off x="394449" y="1457659"/>
            <a:ext cx="9520518" cy="4797080"/>
            <a:chOff x="179296" y="833714"/>
            <a:chExt cx="9520518" cy="4797080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0A914D70-B107-4998-B8F9-AF1D78982728}"/>
                </a:ext>
              </a:extLst>
            </p:cNvPr>
            <p:cNvGrpSpPr/>
            <p:nvPr/>
          </p:nvGrpSpPr>
          <p:grpSpPr>
            <a:xfrm>
              <a:off x="179296" y="833714"/>
              <a:ext cx="9520518" cy="1361676"/>
              <a:chOff x="304801" y="950259"/>
              <a:chExt cx="9520518" cy="1361676"/>
            </a:xfrm>
          </p:grpSpPr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0627428-4DEF-49DA-B8A4-A00B12312B47}"/>
                  </a:ext>
                </a:extLst>
              </p:cNvPr>
              <p:cNvSpPr txBox="1"/>
              <p:nvPr/>
            </p:nvSpPr>
            <p:spPr>
              <a:xfrm>
                <a:off x="304801" y="950259"/>
                <a:ext cx="95205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【2013</a:t>
                </a:r>
                <a:r>
                  <a:rPr lang="zh-CN" altLang="en-US" b="1" dirty="0"/>
                  <a:t>年 题</a:t>
                </a:r>
                <a:r>
                  <a:rPr lang="en-US" altLang="zh-CN" b="1" dirty="0"/>
                  <a:t>33】</a:t>
                </a:r>
                <a:r>
                  <a:rPr lang="zh-CN" altLang="en-US" b="1" dirty="0"/>
                  <a:t>在</a:t>
                </a:r>
                <a:r>
                  <a:rPr lang="en-US" altLang="zh-CN" b="1" dirty="0"/>
                  <a:t>OSI</a:t>
                </a:r>
                <a:r>
                  <a:rPr lang="zh-CN" altLang="en-US" b="1" dirty="0"/>
                  <a:t>参考模型中，下列功能需由应用层的相邻层实现的是（      ）。</a:t>
                </a:r>
              </a:p>
            </p:txBody>
          </p:sp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02400CB-635E-43D7-928A-038120E9D691}"/>
                  </a:ext>
                </a:extLst>
              </p:cNvPr>
              <p:cNvSpPr txBox="1"/>
              <p:nvPr/>
            </p:nvSpPr>
            <p:spPr>
              <a:xfrm>
                <a:off x="1663235" y="1393087"/>
                <a:ext cx="14923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A. </a:t>
                </a:r>
                <a:r>
                  <a:rPr lang="zh-CN" altLang="en-US" b="1" dirty="0"/>
                  <a:t>对话管理</a:t>
                </a:r>
              </a:p>
            </p:txBody>
          </p:sp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51E47D1-132B-49F5-8BA2-563B823D5E83}"/>
                  </a:ext>
                </a:extLst>
              </p:cNvPr>
              <p:cNvSpPr txBox="1"/>
              <p:nvPr/>
            </p:nvSpPr>
            <p:spPr>
              <a:xfrm>
                <a:off x="5157883" y="1393087"/>
                <a:ext cx="2209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B. </a:t>
                </a:r>
                <a:r>
                  <a:rPr lang="zh-CN" altLang="en-US" b="1" dirty="0"/>
                  <a:t>数据格式转换</a:t>
                </a: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28DB814-39F3-47E5-9566-2ECDD20E00EE}"/>
                  </a:ext>
                </a:extLst>
              </p:cNvPr>
              <p:cNvSpPr txBox="1"/>
              <p:nvPr/>
            </p:nvSpPr>
            <p:spPr>
              <a:xfrm>
                <a:off x="1663235" y="1942603"/>
                <a:ext cx="14923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C. </a:t>
                </a:r>
                <a:r>
                  <a:rPr lang="zh-CN" altLang="en-US" b="1" dirty="0"/>
                  <a:t>路由选择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07F442E-D68F-4A81-838B-55ADE8558F9B}"/>
                  </a:ext>
                </a:extLst>
              </p:cNvPr>
              <p:cNvSpPr txBox="1"/>
              <p:nvPr/>
            </p:nvSpPr>
            <p:spPr>
              <a:xfrm>
                <a:off x="5157883" y="1942603"/>
                <a:ext cx="18108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D. </a:t>
                </a:r>
                <a:r>
                  <a:rPr lang="zh-CN" altLang="en-US" b="1" dirty="0"/>
                  <a:t>可靠数据传输</a:t>
                </a: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EDA13107-2CD5-43B9-B068-C7E8E8D6C23E}"/>
                </a:ext>
              </a:extLst>
            </p:cNvPr>
            <p:cNvGrpSpPr/>
            <p:nvPr/>
          </p:nvGrpSpPr>
          <p:grpSpPr>
            <a:xfrm>
              <a:off x="179296" y="2551416"/>
              <a:ext cx="8130988" cy="1361676"/>
              <a:chOff x="304801" y="2786316"/>
              <a:chExt cx="8130988" cy="1361676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73DF49D-8B97-4B49-B5ED-6E2A4E1AFA5B}"/>
                  </a:ext>
                </a:extLst>
              </p:cNvPr>
              <p:cNvSpPr txBox="1"/>
              <p:nvPr/>
            </p:nvSpPr>
            <p:spPr>
              <a:xfrm>
                <a:off x="304801" y="2786316"/>
                <a:ext cx="81309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【2019</a:t>
                </a:r>
                <a:r>
                  <a:rPr lang="zh-CN" altLang="en-US" b="1" dirty="0"/>
                  <a:t>年</a:t>
                </a:r>
                <a:r>
                  <a:rPr lang="en-US" altLang="zh-CN" b="1" dirty="0"/>
                  <a:t> </a:t>
                </a:r>
                <a:r>
                  <a:rPr lang="zh-CN" altLang="en-US" b="1" dirty="0"/>
                  <a:t>题</a:t>
                </a:r>
                <a:r>
                  <a:rPr lang="en-US" altLang="zh-CN" b="1" dirty="0"/>
                  <a:t>33】OSI</a:t>
                </a:r>
                <a:r>
                  <a:rPr lang="zh-CN" altLang="en-US" b="1" dirty="0"/>
                  <a:t>参考模型的第</a:t>
                </a:r>
                <a:r>
                  <a:rPr lang="en-US" altLang="zh-CN" b="1" dirty="0"/>
                  <a:t>5</a:t>
                </a:r>
                <a:r>
                  <a:rPr lang="zh-CN" altLang="en-US" b="1" dirty="0"/>
                  <a:t>层（自下而上）完成的主要功能是（      ）。</a:t>
                </a: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DC21CDA-F787-44F7-B5D0-BB7C94EF81F7}"/>
                  </a:ext>
                </a:extLst>
              </p:cNvPr>
              <p:cNvSpPr txBox="1"/>
              <p:nvPr/>
            </p:nvSpPr>
            <p:spPr>
              <a:xfrm>
                <a:off x="1663235" y="3229144"/>
                <a:ext cx="14923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A. </a:t>
                </a:r>
                <a:r>
                  <a:rPr lang="zh-CN" altLang="en-US" b="1" dirty="0"/>
                  <a:t>差错控制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CDF2B8B-AAC7-4E7C-9D40-5D1CD2F468E9}"/>
                  </a:ext>
                </a:extLst>
              </p:cNvPr>
              <p:cNvSpPr txBox="1"/>
              <p:nvPr/>
            </p:nvSpPr>
            <p:spPr>
              <a:xfrm>
                <a:off x="5157882" y="3229144"/>
                <a:ext cx="2209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B. </a:t>
                </a:r>
                <a:r>
                  <a:rPr lang="zh-CN" altLang="en-US" b="1" dirty="0"/>
                  <a:t>路由选择</a:t>
                </a: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1AF3B9AA-69BE-484C-997F-3C0A830EF6B2}"/>
                  </a:ext>
                </a:extLst>
              </p:cNvPr>
              <p:cNvSpPr txBox="1"/>
              <p:nvPr/>
            </p:nvSpPr>
            <p:spPr>
              <a:xfrm>
                <a:off x="1663235" y="3778660"/>
                <a:ext cx="14923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C. </a:t>
                </a:r>
                <a:r>
                  <a:rPr lang="zh-CN" altLang="en-US" b="1" dirty="0"/>
                  <a:t>会话管理</a:t>
                </a:r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96E143C-0D1E-467F-833B-7A028A8087FB}"/>
                  </a:ext>
                </a:extLst>
              </p:cNvPr>
              <p:cNvSpPr txBox="1"/>
              <p:nvPr/>
            </p:nvSpPr>
            <p:spPr>
              <a:xfrm>
                <a:off x="5157883" y="3778660"/>
                <a:ext cx="18108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D. </a:t>
                </a:r>
                <a:r>
                  <a:rPr lang="zh-CN" altLang="en-US" b="1" dirty="0"/>
                  <a:t>数据表示转换</a:t>
                </a: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A32E5FB9-E86C-4CB2-9010-0F6F006E12C1}"/>
                </a:ext>
              </a:extLst>
            </p:cNvPr>
            <p:cNvGrpSpPr/>
            <p:nvPr/>
          </p:nvGrpSpPr>
          <p:grpSpPr>
            <a:xfrm>
              <a:off x="179296" y="4269118"/>
              <a:ext cx="9036424" cy="1361676"/>
              <a:chOff x="304801" y="4385663"/>
              <a:chExt cx="9036424" cy="1361676"/>
            </a:xfrm>
          </p:grpSpPr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25A43DC-9C61-4FD9-B6B2-9374833F4BEA}"/>
                  </a:ext>
                </a:extLst>
              </p:cNvPr>
              <p:cNvSpPr txBox="1"/>
              <p:nvPr/>
            </p:nvSpPr>
            <p:spPr>
              <a:xfrm>
                <a:off x="304801" y="4385663"/>
                <a:ext cx="90364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【2021</a:t>
                </a:r>
                <a:r>
                  <a:rPr lang="zh-CN" altLang="en-US" b="1" dirty="0"/>
                  <a:t>年 题</a:t>
                </a:r>
                <a:r>
                  <a:rPr lang="en-US" altLang="zh-CN" b="1" dirty="0"/>
                  <a:t>33】</a:t>
                </a:r>
                <a:r>
                  <a:rPr lang="zh-CN" altLang="en-US" b="1" dirty="0"/>
                  <a:t>在</a:t>
                </a:r>
                <a:r>
                  <a:rPr lang="en-US" altLang="zh-CN" b="1" dirty="0"/>
                  <a:t>TCP/IP</a:t>
                </a:r>
                <a:r>
                  <a:rPr lang="zh-CN" altLang="en-US" b="1" dirty="0"/>
                  <a:t>参考模型中，由传输层相邻的下一层实现的主要功能是（      ）。</a:t>
                </a: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93161CB-A779-4A5D-8B9C-B535B9CFA9F9}"/>
                  </a:ext>
                </a:extLst>
              </p:cNvPr>
              <p:cNvSpPr txBox="1"/>
              <p:nvPr/>
            </p:nvSpPr>
            <p:spPr>
              <a:xfrm>
                <a:off x="1663235" y="4828491"/>
                <a:ext cx="14923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A. </a:t>
                </a:r>
                <a:r>
                  <a:rPr lang="zh-CN" altLang="en-US" b="1" dirty="0"/>
                  <a:t>对话管理</a:t>
                </a: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F018E3B-83AF-4F47-8A61-39B12EBE1CF6}"/>
                  </a:ext>
                </a:extLst>
              </p:cNvPr>
              <p:cNvSpPr txBox="1"/>
              <p:nvPr/>
            </p:nvSpPr>
            <p:spPr>
              <a:xfrm>
                <a:off x="5157883" y="4828491"/>
                <a:ext cx="2209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B. </a:t>
                </a:r>
                <a:r>
                  <a:rPr lang="zh-CN" altLang="en-US" b="1" dirty="0"/>
                  <a:t>路由选择</a:t>
                </a: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2E4F960-B007-4666-AE62-2B04D8A0B88B}"/>
                  </a:ext>
                </a:extLst>
              </p:cNvPr>
              <p:cNvSpPr txBox="1"/>
              <p:nvPr/>
            </p:nvSpPr>
            <p:spPr>
              <a:xfrm>
                <a:off x="1663235" y="5378007"/>
                <a:ext cx="20871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C. </a:t>
                </a:r>
                <a:r>
                  <a:rPr lang="zh-CN" altLang="en-US" b="1" dirty="0"/>
                  <a:t>端到端报文传输</a:t>
                </a: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6AE59EF-E212-4D1C-9080-BCBC4138C7CA}"/>
                  </a:ext>
                </a:extLst>
              </p:cNvPr>
              <p:cNvSpPr txBox="1"/>
              <p:nvPr/>
            </p:nvSpPr>
            <p:spPr>
              <a:xfrm>
                <a:off x="5157882" y="5378007"/>
                <a:ext cx="30047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D. </a:t>
                </a:r>
                <a:r>
                  <a:rPr lang="zh-CN" altLang="en-US" b="1" dirty="0"/>
                  <a:t>节点到节点流量控制</a:t>
                </a:r>
              </a:p>
            </p:txBody>
          </p:sp>
        </p:grp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A336173D-8282-429B-AE3A-9D7F60EE1C05}"/>
              </a:ext>
            </a:extLst>
          </p:cNvPr>
          <p:cNvSpPr txBox="1"/>
          <p:nvPr/>
        </p:nvSpPr>
        <p:spPr>
          <a:xfrm>
            <a:off x="8081636" y="1380715"/>
            <a:ext cx="409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B</a:t>
            </a:r>
            <a:endParaRPr lang="zh-CN" altLang="en-US" sz="28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826EDB5-6133-4929-995D-B93CB160DD9B}"/>
              </a:ext>
            </a:extLst>
          </p:cNvPr>
          <p:cNvSpPr txBox="1"/>
          <p:nvPr/>
        </p:nvSpPr>
        <p:spPr>
          <a:xfrm>
            <a:off x="7490988" y="3113856"/>
            <a:ext cx="409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C</a:t>
            </a:r>
            <a:endParaRPr lang="zh-CN" altLang="en-US" sz="28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B01C552-4D46-4296-89C8-98ACDDED8CAD}"/>
              </a:ext>
            </a:extLst>
          </p:cNvPr>
          <p:cNvSpPr txBox="1"/>
          <p:nvPr/>
        </p:nvSpPr>
        <p:spPr>
          <a:xfrm>
            <a:off x="8583349" y="4816119"/>
            <a:ext cx="409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B</a:t>
            </a:r>
            <a:endParaRPr lang="zh-CN" altLang="en-US" sz="28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0FFCF42-845E-459E-86F8-A39BBD1BBED1}"/>
              </a:ext>
            </a:extLst>
          </p:cNvPr>
          <p:cNvGrpSpPr/>
          <p:nvPr/>
        </p:nvGrpSpPr>
        <p:grpSpPr>
          <a:xfrm>
            <a:off x="304800" y="749300"/>
            <a:ext cx="6263464" cy="400110"/>
            <a:chOff x="424117" y="898245"/>
            <a:chExt cx="6263464" cy="400110"/>
          </a:xfrm>
        </p:grpSpPr>
        <p:sp>
          <p:nvSpPr>
            <p:cNvPr id="32" name="平行四边形 31">
              <a:extLst>
                <a:ext uri="{FF2B5EF4-FFF2-40B4-BE49-F238E27FC236}">
                  <a16:creationId xmlns:a16="http://schemas.microsoft.com/office/drawing/2014/main" id="{B5FD12FA-C16A-4C48-9010-32838D11DFD2}"/>
                </a:ext>
              </a:extLst>
            </p:cNvPr>
            <p:cNvSpPr/>
            <p:nvPr/>
          </p:nvSpPr>
          <p:spPr>
            <a:xfrm>
              <a:off x="424117" y="898245"/>
              <a:ext cx="711200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02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3CD9D02-7B0B-47EF-8BD7-50B46F50BBDF}"/>
                </a:ext>
              </a:extLst>
            </p:cNvPr>
            <p:cNvSpPr txBox="1"/>
            <p:nvPr/>
          </p:nvSpPr>
          <p:spPr>
            <a:xfrm>
              <a:off x="112354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计算机网络体系结构分层的必要性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083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6FCEB70C-0A6A-4B60-93B9-AD65E6408346}"/>
              </a:ext>
            </a:extLst>
          </p:cNvPr>
          <p:cNvSpPr/>
          <p:nvPr/>
        </p:nvSpPr>
        <p:spPr>
          <a:xfrm>
            <a:off x="10266155" y="2562931"/>
            <a:ext cx="585933" cy="28848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b="1" dirty="0"/>
              <a:t>HTTP</a:t>
            </a:r>
            <a:endParaRPr lang="zh-CN" altLang="en-US" b="1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AC3CC6-332A-431D-9299-EC6271C71DD2}"/>
              </a:ext>
            </a:extLst>
          </p:cNvPr>
          <p:cNvSpPr/>
          <p:nvPr/>
        </p:nvSpPr>
        <p:spPr>
          <a:xfrm>
            <a:off x="304800" y="4452192"/>
            <a:ext cx="927262" cy="495455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物理层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9E1121C-2A81-4FA4-8C52-9161EED1D31E}"/>
              </a:ext>
            </a:extLst>
          </p:cNvPr>
          <p:cNvSpPr/>
          <p:nvPr/>
        </p:nvSpPr>
        <p:spPr>
          <a:xfrm>
            <a:off x="304800" y="2965827"/>
            <a:ext cx="927262" cy="495455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运输层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9F960C8-34D8-4025-924E-487D102F06A0}"/>
              </a:ext>
            </a:extLst>
          </p:cNvPr>
          <p:cNvSpPr/>
          <p:nvPr/>
        </p:nvSpPr>
        <p:spPr>
          <a:xfrm>
            <a:off x="304800" y="3462133"/>
            <a:ext cx="927262" cy="49545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网络层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87D59D4-A7CB-4A89-9810-976AB3350843}"/>
              </a:ext>
            </a:extLst>
          </p:cNvPr>
          <p:cNvSpPr/>
          <p:nvPr/>
        </p:nvSpPr>
        <p:spPr>
          <a:xfrm>
            <a:off x="304800" y="3956737"/>
            <a:ext cx="927262" cy="495455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链路层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C16E3FE-5B9B-4364-AE6F-E54D6396E7D7}"/>
              </a:ext>
            </a:extLst>
          </p:cNvPr>
          <p:cNvSpPr/>
          <p:nvPr/>
        </p:nvSpPr>
        <p:spPr>
          <a:xfrm>
            <a:off x="304800" y="2470372"/>
            <a:ext cx="927262" cy="49545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应用层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268DA0A-65FC-4269-B519-900DB34C935C}"/>
              </a:ext>
            </a:extLst>
          </p:cNvPr>
          <p:cNvSpPr/>
          <p:nvPr/>
        </p:nvSpPr>
        <p:spPr>
          <a:xfrm>
            <a:off x="5191154" y="4452192"/>
            <a:ext cx="883201" cy="495455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物理层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6A61CF9-E828-43B9-9112-46C034E9C9C0}"/>
              </a:ext>
            </a:extLst>
          </p:cNvPr>
          <p:cNvSpPr/>
          <p:nvPr/>
        </p:nvSpPr>
        <p:spPr>
          <a:xfrm>
            <a:off x="5191154" y="3462133"/>
            <a:ext cx="1820192" cy="49545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网络层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2D5931B-948C-446C-BE28-77EF1EBA2215}"/>
              </a:ext>
            </a:extLst>
          </p:cNvPr>
          <p:cNvSpPr/>
          <p:nvPr/>
        </p:nvSpPr>
        <p:spPr>
          <a:xfrm>
            <a:off x="5191154" y="3956737"/>
            <a:ext cx="883201" cy="495455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链路层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89BACBA-8A95-4719-BB9E-C3CE2920C3B3}"/>
              </a:ext>
            </a:extLst>
          </p:cNvPr>
          <p:cNvSpPr/>
          <p:nvPr/>
        </p:nvSpPr>
        <p:spPr>
          <a:xfrm>
            <a:off x="6128145" y="4451342"/>
            <a:ext cx="883201" cy="495455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物理层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086CC60-C59D-4D6F-82D9-FE72BB8DE969}"/>
              </a:ext>
            </a:extLst>
          </p:cNvPr>
          <p:cNvSpPr/>
          <p:nvPr/>
        </p:nvSpPr>
        <p:spPr>
          <a:xfrm>
            <a:off x="6128145" y="3955887"/>
            <a:ext cx="883201" cy="495455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链路层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2CB7861-47A6-4DD2-A9F0-2E6CFEAA56DC}"/>
              </a:ext>
            </a:extLst>
          </p:cNvPr>
          <p:cNvSpPr/>
          <p:nvPr/>
        </p:nvSpPr>
        <p:spPr>
          <a:xfrm>
            <a:off x="10953108" y="4452192"/>
            <a:ext cx="927262" cy="495455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物理层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DE38B29-2EFB-44D7-8036-E96406D38011}"/>
              </a:ext>
            </a:extLst>
          </p:cNvPr>
          <p:cNvSpPr/>
          <p:nvPr/>
        </p:nvSpPr>
        <p:spPr>
          <a:xfrm>
            <a:off x="10953108" y="2965827"/>
            <a:ext cx="927262" cy="495455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运输层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12C75E6-C8CF-4ABE-80E8-0FAB3BAA4CF4}"/>
              </a:ext>
            </a:extLst>
          </p:cNvPr>
          <p:cNvSpPr/>
          <p:nvPr/>
        </p:nvSpPr>
        <p:spPr>
          <a:xfrm>
            <a:off x="10953108" y="3462133"/>
            <a:ext cx="927262" cy="495455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网络层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00B7B11-E0F9-4886-A3DF-4B5F68897266}"/>
              </a:ext>
            </a:extLst>
          </p:cNvPr>
          <p:cNvSpPr/>
          <p:nvPr/>
        </p:nvSpPr>
        <p:spPr>
          <a:xfrm>
            <a:off x="10953108" y="3956737"/>
            <a:ext cx="927262" cy="495455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链路层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3DC90F9-1C68-4E74-BA2D-312BB7159AB3}"/>
              </a:ext>
            </a:extLst>
          </p:cNvPr>
          <p:cNvSpPr/>
          <p:nvPr/>
        </p:nvSpPr>
        <p:spPr>
          <a:xfrm>
            <a:off x="10953108" y="2470372"/>
            <a:ext cx="927262" cy="495455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应用层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8B4F239-64D8-4DC1-B04C-A42FCF79760A}"/>
              </a:ext>
            </a:extLst>
          </p:cNvPr>
          <p:cNvGrpSpPr/>
          <p:nvPr/>
        </p:nvGrpSpPr>
        <p:grpSpPr>
          <a:xfrm>
            <a:off x="77095" y="1292648"/>
            <a:ext cx="1366623" cy="918742"/>
            <a:chOff x="77095" y="4183632"/>
            <a:chExt cx="1366623" cy="918742"/>
          </a:xfrm>
        </p:grpSpPr>
        <p:pic>
          <p:nvPicPr>
            <p:cNvPr id="15" name="图片 14" descr="徽标, 图标&#10;&#10;描述已自动生成">
              <a:extLst>
                <a:ext uri="{FF2B5EF4-FFF2-40B4-BE49-F238E27FC236}">
                  <a16:creationId xmlns:a16="http://schemas.microsoft.com/office/drawing/2014/main" id="{F2E45ACF-7AA3-4BEF-8BA7-17872ADB7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630" y="4183632"/>
              <a:ext cx="577551" cy="577551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220450C-85D8-4D7E-9F25-CB3F6BEBAACD}"/>
                </a:ext>
              </a:extLst>
            </p:cNvPr>
            <p:cNvSpPr txBox="1"/>
            <p:nvPr/>
          </p:nvSpPr>
          <p:spPr>
            <a:xfrm>
              <a:off x="77095" y="4733042"/>
              <a:ext cx="13666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浏览器进程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59805CD-9402-4050-8FD3-987DED9A9379}"/>
              </a:ext>
            </a:extLst>
          </p:cNvPr>
          <p:cNvGrpSpPr/>
          <p:nvPr/>
        </p:nvGrpSpPr>
        <p:grpSpPr>
          <a:xfrm>
            <a:off x="10447479" y="1193371"/>
            <a:ext cx="1901294" cy="1036230"/>
            <a:chOff x="10447479" y="4084355"/>
            <a:chExt cx="1901294" cy="1036230"/>
          </a:xfrm>
        </p:grpSpPr>
        <p:pic>
          <p:nvPicPr>
            <p:cNvPr id="17" name="图片 16" descr="徽标&#10;&#10;描述已自动生成">
              <a:extLst>
                <a:ext uri="{FF2B5EF4-FFF2-40B4-BE49-F238E27FC236}">
                  <a16:creationId xmlns:a16="http://schemas.microsoft.com/office/drawing/2014/main" id="{A301B515-BB75-47D6-8E0A-BEF2F1368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33955" y="4084355"/>
              <a:ext cx="1528343" cy="875507"/>
            </a:xfrm>
            <a:prstGeom prst="rect">
              <a:avLst/>
            </a:prstGeom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BBB7138C-F751-41C6-96E6-44FFBC5EC89A}"/>
                </a:ext>
              </a:extLst>
            </p:cNvPr>
            <p:cNvSpPr txBox="1"/>
            <p:nvPr/>
          </p:nvSpPr>
          <p:spPr>
            <a:xfrm>
              <a:off x="10447479" y="4751253"/>
              <a:ext cx="1901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Web</a:t>
              </a:r>
              <a:r>
                <a:rPr lang="zh-CN" altLang="en-US" b="1" dirty="0"/>
                <a:t>服务器进程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263464" cy="400110"/>
            <a:chOff x="424117" y="898245"/>
            <a:chExt cx="626346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711200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03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12354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计算机网络体系结构分层思想举例</a:t>
              </a:r>
            </a:p>
          </p:txBody>
        </p:sp>
      </p:grp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F675CDFF-4ED7-41B8-AFFB-26931A0A06F1}"/>
              </a:ext>
            </a:extLst>
          </p:cNvPr>
          <p:cNvCxnSpPr>
            <a:cxnSpLocks/>
          </p:cNvCxnSpPr>
          <p:nvPr/>
        </p:nvCxnSpPr>
        <p:spPr>
          <a:xfrm>
            <a:off x="1004226" y="5719482"/>
            <a:ext cx="1037198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形 17">
            <a:extLst>
              <a:ext uri="{FF2B5EF4-FFF2-40B4-BE49-F238E27FC236}">
                <a16:creationId xmlns:a16="http://schemas.microsoft.com/office/drawing/2014/main" id="{8D61745B-9660-49CB-AF60-D3E262CB16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1630" y="5114528"/>
            <a:ext cx="897547" cy="868116"/>
          </a:xfrm>
          <a:prstGeom prst="rect">
            <a:avLst/>
          </a:prstGeom>
        </p:spPr>
      </p:pic>
      <p:pic>
        <p:nvPicPr>
          <p:cNvPr id="33" name="图形 32">
            <a:extLst>
              <a:ext uri="{FF2B5EF4-FFF2-40B4-BE49-F238E27FC236}">
                <a16:creationId xmlns:a16="http://schemas.microsoft.com/office/drawing/2014/main" id="{A476B6FA-E503-4514-81EA-54DDE2DFAA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094309" y="5114529"/>
            <a:ext cx="661421" cy="868115"/>
          </a:xfrm>
          <a:prstGeom prst="rect">
            <a:avLst/>
          </a:prstGeom>
        </p:spPr>
      </p:pic>
      <p:pic>
        <p:nvPicPr>
          <p:cNvPr id="34" name="图形 33">
            <a:extLst>
              <a:ext uri="{FF2B5EF4-FFF2-40B4-BE49-F238E27FC236}">
                <a16:creationId xmlns:a16="http://schemas.microsoft.com/office/drawing/2014/main" id="{F855224E-4D79-413A-9B8E-DC81C65208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13749" y="5407958"/>
            <a:ext cx="787803" cy="637746"/>
          </a:xfrm>
          <a:prstGeom prst="rect">
            <a:avLst/>
          </a:prstGeom>
        </p:spPr>
      </p:pic>
      <p:sp>
        <p:nvSpPr>
          <p:cNvPr id="131" name="云形 130">
            <a:extLst>
              <a:ext uri="{FF2B5EF4-FFF2-40B4-BE49-F238E27FC236}">
                <a16:creationId xmlns:a16="http://schemas.microsoft.com/office/drawing/2014/main" id="{7632E2A4-00DB-46C5-BFE0-462D4E11D853}"/>
              </a:ext>
            </a:extLst>
          </p:cNvPr>
          <p:cNvSpPr/>
          <p:nvPr/>
        </p:nvSpPr>
        <p:spPr>
          <a:xfrm>
            <a:off x="8349157" y="5400609"/>
            <a:ext cx="897547" cy="637746"/>
          </a:xfrm>
          <a:prstGeom prst="cloud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N2</a:t>
            </a:r>
            <a:endParaRPr lang="zh-CN" altLang="en-US" b="1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6E34913-2081-4FBB-A0A5-7064CCCF6E03}"/>
              </a:ext>
            </a:extLst>
          </p:cNvPr>
          <p:cNvGrpSpPr/>
          <p:nvPr/>
        </p:nvGrpSpPr>
        <p:grpSpPr>
          <a:xfrm>
            <a:off x="1132886" y="1416137"/>
            <a:ext cx="9587862" cy="369332"/>
            <a:chOff x="1132886" y="1490028"/>
            <a:chExt cx="9587862" cy="369332"/>
          </a:xfrm>
        </p:grpSpPr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066BA807-F875-49A3-8F58-7FD0DC132764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86" y="1672831"/>
              <a:ext cx="9587862" cy="0"/>
            </a:xfrm>
            <a:prstGeom prst="straightConnector1">
              <a:avLst/>
            </a:prstGeom>
            <a:ln w="63500">
              <a:solidFill>
                <a:schemeClr val="tx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9DDAC90-551A-4DB7-940C-33B6345781B6}"/>
                </a:ext>
              </a:extLst>
            </p:cNvPr>
            <p:cNvSpPr txBox="1"/>
            <p:nvPr/>
          </p:nvSpPr>
          <p:spPr>
            <a:xfrm>
              <a:off x="4633822" y="1490028"/>
              <a:ext cx="294412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应用进程间基于网络的通信</a:t>
              </a:r>
            </a:p>
          </p:txBody>
        </p:sp>
      </p:grpSp>
      <p:sp>
        <p:nvSpPr>
          <p:cNvPr id="60" name="云形 59">
            <a:extLst>
              <a:ext uri="{FF2B5EF4-FFF2-40B4-BE49-F238E27FC236}">
                <a16:creationId xmlns:a16="http://schemas.microsoft.com/office/drawing/2014/main" id="{90C1525D-7BDD-47B3-B0ED-160BE5215BBA}"/>
              </a:ext>
            </a:extLst>
          </p:cNvPr>
          <p:cNvSpPr/>
          <p:nvPr/>
        </p:nvSpPr>
        <p:spPr>
          <a:xfrm>
            <a:off x="2791606" y="5400609"/>
            <a:ext cx="897547" cy="637746"/>
          </a:xfrm>
          <a:prstGeom prst="cloud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N1</a:t>
            </a:r>
            <a:endParaRPr lang="zh-CN" altLang="en-US" b="1" dirty="0"/>
          </a:p>
        </p:txBody>
      </p:sp>
      <p:sp>
        <p:nvSpPr>
          <p:cNvPr id="37" name="对话气泡: 圆角矩形 36">
            <a:extLst>
              <a:ext uri="{FF2B5EF4-FFF2-40B4-BE49-F238E27FC236}">
                <a16:creationId xmlns:a16="http://schemas.microsoft.com/office/drawing/2014/main" id="{6862D4FC-675B-4F98-AC8F-AEC241FDD4BB}"/>
              </a:ext>
            </a:extLst>
          </p:cNvPr>
          <p:cNvSpPr/>
          <p:nvPr/>
        </p:nvSpPr>
        <p:spPr>
          <a:xfrm>
            <a:off x="7843455" y="1997846"/>
            <a:ext cx="2236225" cy="853571"/>
          </a:xfrm>
          <a:prstGeom prst="wedgeRoundRectCallout">
            <a:avLst>
              <a:gd name="adj1" fmla="val 57499"/>
              <a:gd name="adj2" fmla="val 2378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b="1" dirty="0"/>
              <a:t>HTTP</a:t>
            </a:r>
            <a:r>
              <a:rPr lang="zh-CN" altLang="en-US" b="1" dirty="0"/>
              <a:t>响应报文</a:t>
            </a:r>
            <a:endParaRPr lang="en-US" altLang="zh-CN" b="1" dirty="0"/>
          </a:p>
          <a:p>
            <a:pPr algn="ctr">
              <a:lnSpc>
                <a:spcPct val="150000"/>
              </a:lnSpc>
            </a:pPr>
            <a:r>
              <a:rPr lang="zh-CN" altLang="en-US" sz="1600" b="1" dirty="0"/>
              <a:t>浏览器所请求的内容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4E57D26-330F-4657-BDEE-0CD757C780D7}"/>
              </a:ext>
            </a:extLst>
          </p:cNvPr>
          <p:cNvGrpSpPr/>
          <p:nvPr/>
        </p:nvGrpSpPr>
        <p:grpSpPr>
          <a:xfrm>
            <a:off x="7997908" y="5063744"/>
            <a:ext cx="1968639" cy="259976"/>
            <a:chOff x="7997908" y="5063744"/>
            <a:chExt cx="1968639" cy="259976"/>
          </a:xfrm>
        </p:grpSpPr>
        <p:sp>
          <p:nvSpPr>
            <p:cNvPr id="42" name="箭头: 下 41">
              <a:extLst>
                <a:ext uri="{FF2B5EF4-FFF2-40B4-BE49-F238E27FC236}">
                  <a16:creationId xmlns:a16="http://schemas.microsoft.com/office/drawing/2014/main" id="{A724F48B-51EE-4ED0-86FB-3BCA53EB13F3}"/>
                </a:ext>
              </a:extLst>
            </p:cNvPr>
            <p:cNvSpPr/>
            <p:nvPr/>
          </p:nvSpPr>
          <p:spPr>
            <a:xfrm rot="5400000">
              <a:off x="8035716" y="5025936"/>
              <a:ext cx="259976" cy="33559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箭头: 下 42">
              <a:extLst>
                <a:ext uri="{FF2B5EF4-FFF2-40B4-BE49-F238E27FC236}">
                  <a16:creationId xmlns:a16="http://schemas.microsoft.com/office/drawing/2014/main" id="{8D57BFED-005E-4B77-8337-C3B31F03A0B8}"/>
                </a:ext>
              </a:extLst>
            </p:cNvPr>
            <p:cNvSpPr/>
            <p:nvPr/>
          </p:nvSpPr>
          <p:spPr>
            <a:xfrm rot="5400000">
              <a:off x="8852240" y="5025936"/>
              <a:ext cx="259976" cy="33559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箭头: 下 43">
              <a:extLst>
                <a:ext uri="{FF2B5EF4-FFF2-40B4-BE49-F238E27FC236}">
                  <a16:creationId xmlns:a16="http://schemas.microsoft.com/office/drawing/2014/main" id="{0535FD74-0867-45AA-AD60-546E13B96205}"/>
                </a:ext>
              </a:extLst>
            </p:cNvPr>
            <p:cNvSpPr/>
            <p:nvPr/>
          </p:nvSpPr>
          <p:spPr>
            <a:xfrm rot="5400000">
              <a:off x="9668764" y="5025936"/>
              <a:ext cx="259976" cy="33559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EF30E4C-4716-4647-AB05-64167348A4A2}"/>
              </a:ext>
            </a:extLst>
          </p:cNvPr>
          <p:cNvGrpSpPr/>
          <p:nvPr/>
        </p:nvGrpSpPr>
        <p:grpSpPr>
          <a:xfrm>
            <a:off x="5517231" y="3129976"/>
            <a:ext cx="1152115" cy="259976"/>
            <a:chOff x="5517231" y="3129976"/>
            <a:chExt cx="1152115" cy="259976"/>
          </a:xfrm>
        </p:grpSpPr>
        <p:sp>
          <p:nvSpPr>
            <p:cNvPr id="49" name="箭头: 下 48">
              <a:extLst>
                <a:ext uri="{FF2B5EF4-FFF2-40B4-BE49-F238E27FC236}">
                  <a16:creationId xmlns:a16="http://schemas.microsoft.com/office/drawing/2014/main" id="{41617066-DF28-4AD2-8511-F90A8CBC4743}"/>
                </a:ext>
              </a:extLst>
            </p:cNvPr>
            <p:cNvSpPr/>
            <p:nvPr/>
          </p:nvSpPr>
          <p:spPr>
            <a:xfrm rot="5400000">
              <a:off x="5555039" y="3092168"/>
              <a:ext cx="259976" cy="335591"/>
            </a:xfrm>
            <a:prstGeom prst="downArrow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箭头: 下 49">
              <a:extLst>
                <a:ext uri="{FF2B5EF4-FFF2-40B4-BE49-F238E27FC236}">
                  <a16:creationId xmlns:a16="http://schemas.microsoft.com/office/drawing/2014/main" id="{54C5E8CB-C2F6-4ECD-B9A0-6704FB55CFC3}"/>
                </a:ext>
              </a:extLst>
            </p:cNvPr>
            <p:cNvSpPr/>
            <p:nvPr/>
          </p:nvSpPr>
          <p:spPr>
            <a:xfrm rot="5400000">
              <a:off x="6371563" y="3092168"/>
              <a:ext cx="259976" cy="335591"/>
            </a:xfrm>
            <a:prstGeom prst="downArrow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589DB361-A6ED-4642-810C-955FAEC95F35}"/>
              </a:ext>
            </a:extLst>
          </p:cNvPr>
          <p:cNvGrpSpPr/>
          <p:nvPr/>
        </p:nvGrpSpPr>
        <p:grpSpPr>
          <a:xfrm>
            <a:off x="2230673" y="5063744"/>
            <a:ext cx="1968639" cy="259976"/>
            <a:chOff x="7997908" y="5063744"/>
            <a:chExt cx="1968639" cy="259976"/>
          </a:xfrm>
        </p:grpSpPr>
        <p:sp>
          <p:nvSpPr>
            <p:cNvPr id="62" name="箭头: 下 61">
              <a:extLst>
                <a:ext uri="{FF2B5EF4-FFF2-40B4-BE49-F238E27FC236}">
                  <a16:creationId xmlns:a16="http://schemas.microsoft.com/office/drawing/2014/main" id="{1495B182-66ED-4838-ADFD-3841C941AEEB}"/>
                </a:ext>
              </a:extLst>
            </p:cNvPr>
            <p:cNvSpPr/>
            <p:nvPr/>
          </p:nvSpPr>
          <p:spPr>
            <a:xfrm rot="5400000">
              <a:off x="8035716" y="5025936"/>
              <a:ext cx="259976" cy="33559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箭头: 下 62">
              <a:extLst>
                <a:ext uri="{FF2B5EF4-FFF2-40B4-BE49-F238E27FC236}">
                  <a16:creationId xmlns:a16="http://schemas.microsoft.com/office/drawing/2014/main" id="{E422E8D1-FB33-48C9-B5B8-B4D392F4EC66}"/>
                </a:ext>
              </a:extLst>
            </p:cNvPr>
            <p:cNvSpPr/>
            <p:nvPr/>
          </p:nvSpPr>
          <p:spPr>
            <a:xfrm rot="5400000">
              <a:off x="8852240" y="5025936"/>
              <a:ext cx="259976" cy="33559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箭头: 下 63">
              <a:extLst>
                <a:ext uri="{FF2B5EF4-FFF2-40B4-BE49-F238E27FC236}">
                  <a16:creationId xmlns:a16="http://schemas.microsoft.com/office/drawing/2014/main" id="{982837DB-CD26-4BE8-A1D2-028F21E66413}"/>
                </a:ext>
              </a:extLst>
            </p:cNvPr>
            <p:cNvSpPr/>
            <p:nvPr/>
          </p:nvSpPr>
          <p:spPr>
            <a:xfrm rot="5400000">
              <a:off x="9668764" y="5025936"/>
              <a:ext cx="259976" cy="335591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3DE4C3F-A8B3-4C02-BF21-01D6137F6358}"/>
              </a:ext>
            </a:extLst>
          </p:cNvPr>
          <p:cNvGrpSpPr/>
          <p:nvPr/>
        </p:nvGrpSpPr>
        <p:grpSpPr>
          <a:xfrm>
            <a:off x="9871418" y="3032868"/>
            <a:ext cx="836037" cy="1832426"/>
            <a:chOff x="9871418" y="3032868"/>
            <a:chExt cx="836037" cy="1832426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15187B54-04B3-4AAD-806A-CDD8EC171EA3}"/>
                </a:ext>
              </a:extLst>
            </p:cNvPr>
            <p:cNvGrpSpPr/>
            <p:nvPr/>
          </p:nvGrpSpPr>
          <p:grpSpPr>
            <a:xfrm>
              <a:off x="10447479" y="3032868"/>
              <a:ext cx="259976" cy="1832426"/>
              <a:chOff x="10447479" y="3032868"/>
              <a:chExt cx="259976" cy="1832426"/>
            </a:xfrm>
          </p:grpSpPr>
          <p:sp>
            <p:nvSpPr>
              <p:cNvPr id="5" name="箭头: 下 4">
                <a:extLst>
                  <a:ext uri="{FF2B5EF4-FFF2-40B4-BE49-F238E27FC236}">
                    <a16:creationId xmlns:a16="http://schemas.microsoft.com/office/drawing/2014/main" id="{C7BA4CD9-60FF-4603-B23E-C580F24B7BCB}"/>
                  </a:ext>
                </a:extLst>
              </p:cNvPr>
              <p:cNvSpPr/>
              <p:nvPr/>
            </p:nvSpPr>
            <p:spPr>
              <a:xfrm>
                <a:off x="10447479" y="3032868"/>
                <a:ext cx="259976" cy="335591"/>
              </a:xfrm>
              <a:prstGeom prst="downArrow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箭头: 下 37">
                <a:extLst>
                  <a:ext uri="{FF2B5EF4-FFF2-40B4-BE49-F238E27FC236}">
                    <a16:creationId xmlns:a16="http://schemas.microsoft.com/office/drawing/2014/main" id="{9E3C8559-B974-4C9B-B75E-EEEE9355A423}"/>
                  </a:ext>
                </a:extLst>
              </p:cNvPr>
              <p:cNvSpPr/>
              <p:nvPr/>
            </p:nvSpPr>
            <p:spPr>
              <a:xfrm>
                <a:off x="10447479" y="3531813"/>
                <a:ext cx="259976" cy="335591"/>
              </a:xfrm>
              <a:prstGeom prst="downArrow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箭头: 下 38">
                <a:extLst>
                  <a:ext uri="{FF2B5EF4-FFF2-40B4-BE49-F238E27FC236}">
                    <a16:creationId xmlns:a16="http://schemas.microsoft.com/office/drawing/2014/main" id="{9609902D-CF68-4D18-9C47-C041C21E7E3D}"/>
                  </a:ext>
                </a:extLst>
              </p:cNvPr>
              <p:cNvSpPr/>
              <p:nvPr/>
            </p:nvSpPr>
            <p:spPr>
              <a:xfrm>
                <a:off x="10447479" y="4030758"/>
                <a:ext cx="259976" cy="335591"/>
              </a:xfrm>
              <a:prstGeom prst="downArrow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箭头: 下 39">
                <a:extLst>
                  <a:ext uri="{FF2B5EF4-FFF2-40B4-BE49-F238E27FC236}">
                    <a16:creationId xmlns:a16="http://schemas.microsoft.com/office/drawing/2014/main" id="{77E72F5C-85A4-4E20-B0EC-D82D21D37054}"/>
                  </a:ext>
                </a:extLst>
              </p:cNvPr>
              <p:cNvSpPr/>
              <p:nvPr/>
            </p:nvSpPr>
            <p:spPr>
              <a:xfrm>
                <a:off x="10447479" y="4529703"/>
                <a:ext cx="259976" cy="335591"/>
              </a:xfrm>
              <a:prstGeom prst="downArrow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528CD60-914F-461E-8596-727E853A70FA}"/>
                </a:ext>
              </a:extLst>
            </p:cNvPr>
            <p:cNvSpPr txBox="1"/>
            <p:nvPr/>
          </p:nvSpPr>
          <p:spPr>
            <a:xfrm>
              <a:off x="9871418" y="3536209"/>
              <a:ext cx="56249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逐层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封装</a:t>
              </a: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CAD1C704-7FA2-40CB-AF9B-D04B48261882}"/>
              </a:ext>
            </a:extLst>
          </p:cNvPr>
          <p:cNvGrpSpPr/>
          <p:nvPr/>
        </p:nvGrpSpPr>
        <p:grpSpPr>
          <a:xfrm>
            <a:off x="1315228" y="2562931"/>
            <a:ext cx="1027555" cy="2302363"/>
            <a:chOff x="1315228" y="2562931"/>
            <a:chExt cx="1027555" cy="2302363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66E4F4A-BA4F-43C6-9CBC-2CD3FA81C3F1}"/>
                </a:ext>
              </a:extLst>
            </p:cNvPr>
            <p:cNvGrpSpPr/>
            <p:nvPr/>
          </p:nvGrpSpPr>
          <p:grpSpPr>
            <a:xfrm>
              <a:off x="1315228" y="2562931"/>
              <a:ext cx="585933" cy="2302363"/>
              <a:chOff x="1315228" y="2562931"/>
              <a:chExt cx="585933" cy="2302363"/>
            </a:xfrm>
          </p:grpSpPr>
          <p:sp>
            <p:nvSpPr>
              <p:cNvPr id="66" name="箭头: 下 65">
                <a:extLst>
                  <a:ext uri="{FF2B5EF4-FFF2-40B4-BE49-F238E27FC236}">
                    <a16:creationId xmlns:a16="http://schemas.microsoft.com/office/drawing/2014/main" id="{4942988D-B878-41D0-90DC-CB6F0BCE7CD8}"/>
                  </a:ext>
                </a:extLst>
              </p:cNvPr>
              <p:cNvSpPr/>
              <p:nvPr/>
            </p:nvSpPr>
            <p:spPr>
              <a:xfrm rot="10800000">
                <a:off x="1482375" y="4529703"/>
                <a:ext cx="259976" cy="335591"/>
              </a:xfrm>
              <a:prstGeom prst="downArrow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箭头: 下 66">
                <a:extLst>
                  <a:ext uri="{FF2B5EF4-FFF2-40B4-BE49-F238E27FC236}">
                    <a16:creationId xmlns:a16="http://schemas.microsoft.com/office/drawing/2014/main" id="{BBDB611D-EBF2-4403-893B-CF72532DE8C2}"/>
                  </a:ext>
                </a:extLst>
              </p:cNvPr>
              <p:cNvSpPr/>
              <p:nvPr/>
            </p:nvSpPr>
            <p:spPr>
              <a:xfrm rot="10800000">
                <a:off x="1482375" y="4032164"/>
                <a:ext cx="259976" cy="335591"/>
              </a:xfrm>
              <a:prstGeom prst="downArrow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箭头: 下 67">
                <a:extLst>
                  <a:ext uri="{FF2B5EF4-FFF2-40B4-BE49-F238E27FC236}">
                    <a16:creationId xmlns:a16="http://schemas.microsoft.com/office/drawing/2014/main" id="{0A31D23D-D4EB-4392-9F0C-945F1CB0961B}"/>
                  </a:ext>
                </a:extLst>
              </p:cNvPr>
              <p:cNvSpPr/>
              <p:nvPr/>
            </p:nvSpPr>
            <p:spPr>
              <a:xfrm rot="10800000">
                <a:off x="1482375" y="3536210"/>
                <a:ext cx="259976" cy="335591"/>
              </a:xfrm>
              <a:prstGeom prst="downArrow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箭头: 下 68">
                <a:extLst>
                  <a:ext uri="{FF2B5EF4-FFF2-40B4-BE49-F238E27FC236}">
                    <a16:creationId xmlns:a16="http://schemas.microsoft.com/office/drawing/2014/main" id="{A1DC7AA3-D4C0-4FA7-844E-531728727F8B}"/>
                  </a:ext>
                </a:extLst>
              </p:cNvPr>
              <p:cNvSpPr/>
              <p:nvPr/>
            </p:nvSpPr>
            <p:spPr>
              <a:xfrm rot="10800000">
                <a:off x="1482375" y="3032868"/>
                <a:ext cx="259976" cy="335591"/>
              </a:xfrm>
              <a:prstGeom prst="downArrow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9B0D95AA-EBA8-454F-BA5A-62E701E18444}"/>
                  </a:ext>
                </a:extLst>
              </p:cNvPr>
              <p:cNvSpPr/>
              <p:nvPr/>
            </p:nvSpPr>
            <p:spPr>
              <a:xfrm>
                <a:off x="1315228" y="2562931"/>
                <a:ext cx="585933" cy="288486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zh-CN" b="1" dirty="0"/>
                  <a:t>HTTP</a:t>
                </a:r>
                <a:endParaRPr lang="zh-CN" altLang="en-US" b="1" dirty="0"/>
              </a:p>
            </p:txBody>
          </p:sp>
        </p:grp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925ED08B-6156-4589-BFEE-1553F4363B79}"/>
                </a:ext>
              </a:extLst>
            </p:cNvPr>
            <p:cNvSpPr txBox="1"/>
            <p:nvPr/>
          </p:nvSpPr>
          <p:spPr>
            <a:xfrm>
              <a:off x="1780288" y="3536209"/>
              <a:ext cx="56249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逐层</a:t>
              </a:r>
              <a:endParaRPr lang="en-US" altLang="zh-CN" b="1" dirty="0"/>
            </a:p>
            <a:p>
              <a:pPr algn="ctr"/>
              <a:r>
                <a:rPr lang="zh-CN" altLang="en-US" b="1" dirty="0">
                  <a:solidFill>
                    <a:schemeClr val="accent4">
                      <a:lumMod val="75000"/>
                    </a:schemeClr>
                  </a:solidFill>
                </a:rPr>
                <a:t>解封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C0517FCA-17E4-4F9F-AC2E-FD201ED7F614}"/>
              </a:ext>
            </a:extLst>
          </p:cNvPr>
          <p:cNvGrpSpPr/>
          <p:nvPr/>
        </p:nvGrpSpPr>
        <p:grpSpPr>
          <a:xfrm>
            <a:off x="4115532" y="3536209"/>
            <a:ext cx="832078" cy="1333481"/>
            <a:chOff x="4115532" y="3536209"/>
            <a:chExt cx="832078" cy="133348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C188486-637A-45B4-97B9-4CC70E38AE0F}"/>
                </a:ext>
              </a:extLst>
            </p:cNvPr>
            <p:cNvGrpSpPr/>
            <p:nvPr/>
          </p:nvGrpSpPr>
          <p:grpSpPr>
            <a:xfrm>
              <a:off x="4687634" y="3536209"/>
              <a:ext cx="259976" cy="1333481"/>
              <a:chOff x="4632453" y="3675914"/>
              <a:chExt cx="259976" cy="1333481"/>
            </a:xfrm>
          </p:grpSpPr>
          <p:sp>
            <p:nvSpPr>
              <p:cNvPr id="51" name="箭头: 下 50">
                <a:extLst>
                  <a:ext uri="{FF2B5EF4-FFF2-40B4-BE49-F238E27FC236}">
                    <a16:creationId xmlns:a16="http://schemas.microsoft.com/office/drawing/2014/main" id="{45557139-2207-46F6-8DDF-C77B0A26D048}"/>
                  </a:ext>
                </a:extLst>
              </p:cNvPr>
              <p:cNvSpPr/>
              <p:nvPr/>
            </p:nvSpPr>
            <p:spPr>
              <a:xfrm>
                <a:off x="4632453" y="3675914"/>
                <a:ext cx="259976" cy="335591"/>
              </a:xfrm>
              <a:prstGeom prst="downArrow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箭头: 下 51">
                <a:extLst>
                  <a:ext uri="{FF2B5EF4-FFF2-40B4-BE49-F238E27FC236}">
                    <a16:creationId xmlns:a16="http://schemas.microsoft.com/office/drawing/2014/main" id="{93002F6B-02A7-49DD-AFB0-0427D41CFC2C}"/>
                  </a:ext>
                </a:extLst>
              </p:cNvPr>
              <p:cNvSpPr/>
              <p:nvPr/>
            </p:nvSpPr>
            <p:spPr>
              <a:xfrm>
                <a:off x="4632453" y="4174859"/>
                <a:ext cx="259976" cy="335591"/>
              </a:xfrm>
              <a:prstGeom prst="downArrow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箭头: 下 52">
                <a:extLst>
                  <a:ext uri="{FF2B5EF4-FFF2-40B4-BE49-F238E27FC236}">
                    <a16:creationId xmlns:a16="http://schemas.microsoft.com/office/drawing/2014/main" id="{F3F80D69-F6BF-469F-AD74-99C87C15D344}"/>
                  </a:ext>
                </a:extLst>
              </p:cNvPr>
              <p:cNvSpPr/>
              <p:nvPr/>
            </p:nvSpPr>
            <p:spPr>
              <a:xfrm>
                <a:off x="4632453" y="4673804"/>
                <a:ext cx="259976" cy="335591"/>
              </a:xfrm>
              <a:prstGeom prst="downArrow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8708BCB6-80C8-4913-A732-B7179E604FEC}"/>
                </a:ext>
              </a:extLst>
            </p:cNvPr>
            <p:cNvSpPr txBox="1"/>
            <p:nvPr/>
          </p:nvSpPr>
          <p:spPr>
            <a:xfrm>
              <a:off x="4115532" y="3536209"/>
              <a:ext cx="56249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逐层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封装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BDF9F51-7584-413B-81E1-6F54AC8C6293}"/>
              </a:ext>
            </a:extLst>
          </p:cNvPr>
          <p:cNvGrpSpPr/>
          <p:nvPr/>
        </p:nvGrpSpPr>
        <p:grpSpPr>
          <a:xfrm>
            <a:off x="7256999" y="3536209"/>
            <a:ext cx="850115" cy="1329084"/>
            <a:chOff x="7256999" y="3536209"/>
            <a:chExt cx="850115" cy="1329084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75FE472-0DD2-4BBB-8737-55CBCDDB5EE5}"/>
                </a:ext>
              </a:extLst>
            </p:cNvPr>
            <p:cNvGrpSpPr/>
            <p:nvPr/>
          </p:nvGrpSpPr>
          <p:grpSpPr>
            <a:xfrm>
              <a:off x="7256999" y="3536209"/>
              <a:ext cx="259976" cy="1329084"/>
              <a:chOff x="7256999" y="3536209"/>
              <a:chExt cx="259976" cy="1329084"/>
            </a:xfrm>
          </p:grpSpPr>
          <p:sp>
            <p:nvSpPr>
              <p:cNvPr id="45" name="箭头: 下 44">
                <a:extLst>
                  <a:ext uri="{FF2B5EF4-FFF2-40B4-BE49-F238E27FC236}">
                    <a16:creationId xmlns:a16="http://schemas.microsoft.com/office/drawing/2014/main" id="{035E7356-0487-4977-803C-24E4605A0173}"/>
                  </a:ext>
                </a:extLst>
              </p:cNvPr>
              <p:cNvSpPr/>
              <p:nvPr/>
            </p:nvSpPr>
            <p:spPr>
              <a:xfrm rot="10800000">
                <a:off x="7256999" y="4529702"/>
                <a:ext cx="259976" cy="335591"/>
              </a:xfrm>
              <a:prstGeom prst="downArrow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箭头: 下 45">
                <a:extLst>
                  <a:ext uri="{FF2B5EF4-FFF2-40B4-BE49-F238E27FC236}">
                    <a16:creationId xmlns:a16="http://schemas.microsoft.com/office/drawing/2014/main" id="{5BB5CFD5-2481-4589-9293-374DBE84430E}"/>
                  </a:ext>
                </a:extLst>
              </p:cNvPr>
              <p:cNvSpPr/>
              <p:nvPr/>
            </p:nvSpPr>
            <p:spPr>
              <a:xfrm rot="10800000">
                <a:off x="7256999" y="4032163"/>
                <a:ext cx="259976" cy="335591"/>
              </a:xfrm>
              <a:prstGeom prst="downArrow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箭头: 下 46">
                <a:extLst>
                  <a:ext uri="{FF2B5EF4-FFF2-40B4-BE49-F238E27FC236}">
                    <a16:creationId xmlns:a16="http://schemas.microsoft.com/office/drawing/2014/main" id="{022B595C-96F1-4A73-826A-B77141F25079}"/>
                  </a:ext>
                </a:extLst>
              </p:cNvPr>
              <p:cNvSpPr/>
              <p:nvPr/>
            </p:nvSpPr>
            <p:spPr>
              <a:xfrm rot="10800000">
                <a:off x="7256999" y="3536209"/>
                <a:ext cx="259976" cy="335591"/>
              </a:xfrm>
              <a:prstGeom prst="downArrow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C7CD4A53-0DC9-44F4-93BF-64B7998E5510}"/>
                </a:ext>
              </a:extLst>
            </p:cNvPr>
            <p:cNvSpPr txBox="1"/>
            <p:nvPr/>
          </p:nvSpPr>
          <p:spPr>
            <a:xfrm>
              <a:off x="7544619" y="3536209"/>
              <a:ext cx="56249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逐层</a:t>
              </a:r>
              <a:endParaRPr lang="en-US" altLang="zh-CN" b="1" dirty="0"/>
            </a:p>
            <a:p>
              <a:pPr algn="ctr"/>
              <a:r>
                <a:rPr lang="zh-CN" altLang="en-US" b="1" dirty="0">
                  <a:solidFill>
                    <a:schemeClr val="accent4">
                      <a:lumMod val="75000"/>
                    </a:schemeClr>
                  </a:solidFill>
                </a:rPr>
                <a:t>解封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849501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矩形 158">
            <a:extLst>
              <a:ext uri="{FF2B5EF4-FFF2-40B4-BE49-F238E27FC236}">
                <a16:creationId xmlns:a16="http://schemas.microsoft.com/office/drawing/2014/main" id="{4D613E68-0045-4755-A1DC-F94BEF32FD0D}"/>
              </a:ext>
            </a:extLst>
          </p:cNvPr>
          <p:cNvSpPr/>
          <p:nvPr/>
        </p:nvSpPr>
        <p:spPr>
          <a:xfrm>
            <a:off x="7485877" y="5081905"/>
            <a:ext cx="576071" cy="356168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20B</a:t>
            </a:r>
            <a:endParaRPr lang="zh-CN" altLang="en-US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263464" cy="400110"/>
            <a:chOff x="424117" y="898245"/>
            <a:chExt cx="626346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711200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03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12354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计算机网络体系结构分层思想举例</a:t>
              </a: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6144AEE-28F7-4904-9A13-512351A5D48E}"/>
              </a:ext>
            </a:extLst>
          </p:cNvPr>
          <p:cNvGrpSpPr/>
          <p:nvPr/>
        </p:nvGrpSpPr>
        <p:grpSpPr>
          <a:xfrm>
            <a:off x="385214" y="1199479"/>
            <a:ext cx="11412339" cy="989677"/>
            <a:chOff x="385214" y="1199479"/>
            <a:chExt cx="11412339" cy="989677"/>
          </a:xfrm>
        </p:grpSpPr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3CB18DCE-556D-4E7B-8A8F-97FFEFDC4956}"/>
                </a:ext>
              </a:extLst>
            </p:cNvPr>
            <p:cNvSpPr txBox="1"/>
            <p:nvPr/>
          </p:nvSpPr>
          <p:spPr>
            <a:xfrm>
              <a:off x="385214" y="1199479"/>
              <a:ext cx="114123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【2017</a:t>
              </a:r>
              <a:r>
                <a:rPr lang="zh-CN" altLang="en-US" b="1" dirty="0"/>
                <a:t>年 题</a:t>
              </a:r>
              <a:r>
                <a:rPr lang="en-US" altLang="zh-CN" b="1" dirty="0"/>
                <a:t>33】</a:t>
              </a:r>
              <a:r>
                <a:rPr lang="zh-CN" altLang="en-US" b="1" dirty="0"/>
                <a:t>假设</a:t>
              </a:r>
              <a:r>
                <a:rPr lang="en-US" altLang="zh-CN" b="1" dirty="0"/>
                <a:t>OSI</a:t>
              </a:r>
              <a:r>
                <a:rPr lang="zh-CN" altLang="en-US" b="1" dirty="0"/>
                <a:t>参考模型的应用层欲发送</a:t>
              </a:r>
              <a:r>
                <a:rPr lang="en-US" altLang="zh-CN" b="1" dirty="0"/>
                <a:t>400B</a:t>
              </a:r>
              <a:r>
                <a:rPr lang="zh-CN" altLang="en-US" b="1" dirty="0"/>
                <a:t>的数据（无拆分），除物理层和应用层之外，其他各层在</a:t>
              </a:r>
              <a:endParaRPr lang="en-US" altLang="zh-CN" b="1" dirty="0"/>
            </a:p>
            <a:p>
              <a:r>
                <a:rPr lang="en-US" altLang="zh-CN" b="1" dirty="0"/>
                <a:t>                              </a:t>
              </a:r>
              <a:r>
                <a:rPr lang="zh-CN" altLang="en-US" b="1" dirty="0"/>
                <a:t>封装</a:t>
              </a:r>
              <a:r>
                <a:rPr lang="en-US" altLang="zh-CN" b="1" dirty="0"/>
                <a:t>PDU</a:t>
              </a:r>
              <a:r>
                <a:rPr lang="zh-CN" altLang="en-US" b="1" dirty="0"/>
                <a:t>时均引入</a:t>
              </a:r>
              <a:r>
                <a:rPr lang="en-US" altLang="zh-CN" b="1" dirty="0"/>
                <a:t>20B</a:t>
              </a:r>
              <a:r>
                <a:rPr lang="zh-CN" altLang="en-US" b="1" dirty="0"/>
                <a:t>的额外开销，则应用层数据传输效率约为（      ）。</a:t>
              </a:r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38BA9C8C-B8D2-4B37-B0E0-C447748441EE}"/>
                </a:ext>
              </a:extLst>
            </p:cNvPr>
            <p:cNvSpPr txBox="1"/>
            <p:nvPr/>
          </p:nvSpPr>
          <p:spPr>
            <a:xfrm>
              <a:off x="2029976" y="1819824"/>
              <a:ext cx="9441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A. 80%</a:t>
              </a:r>
              <a:endParaRPr lang="zh-CN" altLang="en-US" b="1" dirty="0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C0A780E7-A595-4777-B380-17B314184922}"/>
                </a:ext>
              </a:extLst>
            </p:cNvPr>
            <p:cNvSpPr txBox="1"/>
            <p:nvPr/>
          </p:nvSpPr>
          <p:spPr>
            <a:xfrm>
              <a:off x="3851742" y="1819824"/>
              <a:ext cx="8577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B. 83%</a:t>
              </a:r>
              <a:endParaRPr lang="zh-CN" altLang="en-US" b="1" dirty="0"/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E6A1A8ED-7F06-4B3C-A485-7C0BE8B019E1}"/>
                </a:ext>
              </a:extLst>
            </p:cNvPr>
            <p:cNvSpPr txBox="1"/>
            <p:nvPr/>
          </p:nvSpPr>
          <p:spPr>
            <a:xfrm>
              <a:off x="5587078" y="1819824"/>
              <a:ext cx="8332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C. 87%</a:t>
              </a:r>
              <a:endParaRPr lang="zh-CN" altLang="en-US" b="1" dirty="0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46E5EE43-2F5D-46C1-B728-B7E5E9CDA0BB}"/>
                </a:ext>
              </a:extLst>
            </p:cNvPr>
            <p:cNvSpPr txBox="1"/>
            <p:nvPr/>
          </p:nvSpPr>
          <p:spPr>
            <a:xfrm>
              <a:off x="7298007" y="1819824"/>
              <a:ext cx="8577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D. 91%</a:t>
              </a:r>
              <a:endParaRPr lang="zh-CN" altLang="en-US" b="1" dirty="0"/>
            </a:p>
          </p:txBody>
        </p:sp>
      </p:grpSp>
      <p:sp>
        <p:nvSpPr>
          <p:cNvPr id="113" name="文本框 112">
            <a:extLst>
              <a:ext uri="{FF2B5EF4-FFF2-40B4-BE49-F238E27FC236}">
                <a16:creationId xmlns:a16="http://schemas.microsoft.com/office/drawing/2014/main" id="{C636BC6D-3FDF-4E53-B989-C7C3E3B21635}"/>
              </a:ext>
            </a:extLst>
          </p:cNvPr>
          <p:cNvSpPr txBox="1"/>
          <p:nvPr/>
        </p:nvSpPr>
        <p:spPr>
          <a:xfrm>
            <a:off x="8448647" y="1407939"/>
            <a:ext cx="4091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A</a:t>
            </a:r>
            <a:endParaRPr lang="zh-CN" altLang="en-US" sz="28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0B350DCB-F345-482E-AB6D-AA1EEEDAB775}"/>
              </a:ext>
            </a:extLst>
          </p:cNvPr>
          <p:cNvSpPr txBox="1"/>
          <p:nvPr/>
        </p:nvSpPr>
        <p:spPr>
          <a:xfrm>
            <a:off x="521389" y="2099508"/>
            <a:ext cx="70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解析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D057E9C1-4FB0-45CA-A04F-36E6DF7AE448}"/>
              </a:ext>
            </a:extLst>
          </p:cNvPr>
          <p:cNvSpPr/>
          <p:nvPr/>
        </p:nvSpPr>
        <p:spPr>
          <a:xfrm>
            <a:off x="3084927" y="5081905"/>
            <a:ext cx="2096670" cy="35616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400B</a:t>
            </a:r>
            <a:endParaRPr lang="zh-CN" altLang="en-US" b="1" dirty="0"/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E8B9915F-6D31-4450-B508-3B17C06DD7E0}"/>
              </a:ext>
            </a:extLst>
          </p:cNvPr>
          <p:cNvSpPr/>
          <p:nvPr/>
        </p:nvSpPr>
        <p:spPr>
          <a:xfrm>
            <a:off x="5181596" y="5081905"/>
            <a:ext cx="576071" cy="356168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20B</a:t>
            </a:r>
            <a:endParaRPr lang="zh-CN" altLang="en-US" b="1" dirty="0"/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7171C6C2-EC9A-46C6-842B-8C7616B2D3BB}"/>
              </a:ext>
            </a:extLst>
          </p:cNvPr>
          <p:cNvSpPr/>
          <p:nvPr/>
        </p:nvSpPr>
        <p:spPr>
          <a:xfrm>
            <a:off x="5757667" y="5081905"/>
            <a:ext cx="576071" cy="356168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20B</a:t>
            </a:r>
            <a:endParaRPr lang="zh-CN" altLang="en-US" b="1" dirty="0"/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6C987829-168C-41F7-AE53-15BD27403A62}"/>
              </a:ext>
            </a:extLst>
          </p:cNvPr>
          <p:cNvSpPr/>
          <p:nvPr/>
        </p:nvSpPr>
        <p:spPr>
          <a:xfrm>
            <a:off x="6333737" y="5081905"/>
            <a:ext cx="576071" cy="356168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20B</a:t>
            </a:r>
            <a:endParaRPr lang="zh-CN" altLang="en-US" b="1" dirty="0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A8EDD56E-5061-4988-AC0C-88FDD4179F39}"/>
              </a:ext>
            </a:extLst>
          </p:cNvPr>
          <p:cNvSpPr/>
          <p:nvPr/>
        </p:nvSpPr>
        <p:spPr>
          <a:xfrm>
            <a:off x="6909807" y="5081905"/>
            <a:ext cx="576071" cy="35616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20B</a:t>
            </a:r>
            <a:endParaRPr lang="zh-CN" altLang="en-US" b="1" dirty="0"/>
          </a:p>
        </p:txBody>
      </p: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5EFA908C-E297-43BF-9D4C-C76EC1FBA55D}"/>
              </a:ext>
            </a:extLst>
          </p:cNvPr>
          <p:cNvGrpSpPr/>
          <p:nvPr/>
        </p:nvGrpSpPr>
        <p:grpSpPr>
          <a:xfrm>
            <a:off x="1181034" y="2489192"/>
            <a:ext cx="1612352" cy="3946136"/>
            <a:chOff x="1181034" y="2489192"/>
            <a:chExt cx="1612352" cy="3946136"/>
          </a:xfrm>
        </p:grpSpPr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FB7CD97E-6861-4E7B-86B7-97C8A5B8E19B}"/>
                </a:ext>
              </a:extLst>
            </p:cNvPr>
            <p:cNvSpPr/>
            <p:nvPr/>
          </p:nvSpPr>
          <p:spPr>
            <a:xfrm>
              <a:off x="1181034" y="5532123"/>
              <a:ext cx="1612351" cy="51187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物理层</a:t>
              </a: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31751933-9269-4E5F-846F-0F17FA222593}"/>
                </a:ext>
              </a:extLst>
            </p:cNvPr>
            <p:cNvSpPr/>
            <p:nvPr/>
          </p:nvSpPr>
          <p:spPr>
            <a:xfrm>
              <a:off x="1181034" y="4003352"/>
              <a:ext cx="1612351" cy="51187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运输层</a:t>
              </a:r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815E9B0C-1DC7-434E-B270-259740B22C79}"/>
                </a:ext>
              </a:extLst>
            </p:cNvPr>
            <p:cNvSpPr/>
            <p:nvPr/>
          </p:nvSpPr>
          <p:spPr>
            <a:xfrm>
              <a:off x="1181034" y="4508383"/>
              <a:ext cx="1612351" cy="51187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网络层</a:t>
              </a:r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7478B678-77C0-49C8-BCE2-87D9EEFBB28D}"/>
                </a:ext>
              </a:extLst>
            </p:cNvPr>
            <p:cNvSpPr/>
            <p:nvPr/>
          </p:nvSpPr>
          <p:spPr>
            <a:xfrm>
              <a:off x="1181034" y="5020253"/>
              <a:ext cx="1612351" cy="51187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数据链路层</a:t>
              </a:r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BE7E2AA1-25ED-43E6-9CCC-FEFBF359DCC3}"/>
                </a:ext>
              </a:extLst>
            </p:cNvPr>
            <p:cNvSpPr/>
            <p:nvPr/>
          </p:nvSpPr>
          <p:spPr>
            <a:xfrm>
              <a:off x="1181035" y="2489192"/>
              <a:ext cx="1612351" cy="51187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应用层</a:t>
              </a:r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74C2C869-62B7-42C4-990A-9EC21F663ECA}"/>
                </a:ext>
              </a:extLst>
            </p:cNvPr>
            <p:cNvSpPr/>
            <p:nvPr/>
          </p:nvSpPr>
          <p:spPr>
            <a:xfrm>
              <a:off x="1181034" y="3506779"/>
              <a:ext cx="1612351" cy="51187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会话层</a:t>
              </a:r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67B3E4EF-A132-4838-9E7C-A1048B79B66E}"/>
                </a:ext>
              </a:extLst>
            </p:cNvPr>
            <p:cNvSpPr/>
            <p:nvPr/>
          </p:nvSpPr>
          <p:spPr>
            <a:xfrm>
              <a:off x="1181035" y="2994334"/>
              <a:ext cx="1612351" cy="51187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表示层</a:t>
              </a: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20C97898-BBC7-4F61-B373-E7DDD7E5DCB2}"/>
                </a:ext>
              </a:extLst>
            </p:cNvPr>
            <p:cNvSpPr txBox="1"/>
            <p:nvPr/>
          </p:nvSpPr>
          <p:spPr>
            <a:xfrm>
              <a:off x="1181034" y="6065996"/>
              <a:ext cx="16123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OSI</a:t>
              </a:r>
              <a:r>
                <a:rPr lang="zh-CN" altLang="en-US" b="1" dirty="0"/>
                <a:t>参考模型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10F3BD2-4187-43E1-B050-43765B7D5A89}"/>
                  </a:ext>
                </a:extLst>
              </p:cNvPr>
              <p:cNvSpPr txBox="1"/>
              <p:nvPr/>
            </p:nvSpPr>
            <p:spPr>
              <a:xfrm>
                <a:off x="3429936" y="3544196"/>
                <a:ext cx="5343066" cy="5833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400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400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altLang="zh-CN" sz="20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altLang="zh-CN" sz="2000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altLang="zh-CN" sz="20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altLang="zh-CN" sz="20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altLang="zh-CN" sz="20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=80%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10F3BD2-4187-43E1-B050-43765B7D5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936" y="3544196"/>
                <a:ext cx="5343066" cy="5833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4B34709C-6C19-46B5-A266-A0157992E6E6}"/>
              </a:ext>
            </a:extLst>
          </p:cNvPr>
          <p:cNvSpPr txBox="1"/>
          <p:nvPr/>
        </p:nvSpPr>
        <p:spPr>
          <a:xfrm>
            <a:off x="4271126" y="2560461"/>
            <a:ext cx="3663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应用层数据传输效率计算如下：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0162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 decel="100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 animBg="1"/>
      <p:bldP spid="113" grpId="0"/>
      <p:bldP spid="5" grpId="0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263464" cy="400110"/>
            <a:chOff x="424117" y="898245"/>
            <a:chExt cx="626346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711200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04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12354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计算机网络体系结构中的专用术语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07EAD51-2C7E-4196-8724-4EDE70C99ACA}"/>
              </a:ext>
            </a:extLst>
          </p:cNvPr>
          <p:cNvGrpSpPr/>
          <p:nvPr/>
        </p:nvGrpSpPr>
        <p:grpSpPr>
          <a:xfrm>
            <a:off x="4013995" y="2077094"/>
            <a:ext cx="4180338" cy="3654234"/>
            <a:chOff x="5604128" y="1133272"/>
            <a:chExt cx="5656312" cy="4944454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FBFF55A2-7F2E-4086-B868-51322E881A31}"/>
                </a:ext>
              </a:extLst>
            </p:cNvPr>
            <p:cNvSpPr/>
            <p:nvPr/>
          </p:nvSpPr>
          <p:spPr>
            <a:xfrm>
              <a:off x="5604128" y="3461779"/>
              <a:ext cx="2615947" cy="2615947"/>
            </a:xfrm>
            <a:prstGeom prst="ellipse">
              <a:avLst/>
            </a:prstGeom>
            <a:solidFill>
              <a:schemeClr val="accent3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accent3">
                  <a:alpha val="3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r>
                <a:rPr lang="zh-CN" altLang="en-US" sz="2800" b="1" dirty="0">
                  <a:solidFill>
                    <a:srgbClr val="FFFFFF"/>
                  </a:solidFill>
                </a:rPr>
                <a:t>协议</a:t>
              </a: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A72B09A5-8155-49AB-87CE-03413C87F4C9}"/>
                </a:ext>
              </a:extLst>
            </p:cNvPr>
            <p:cNvSpPr/>
            <p:nvPr/>
          </p:nvSpPr>
          <p:spPr>
            <a:xfrm>
              <a:off x="8644493" y="3461779"/>
              <a:ext cx="2615947" cy="2615947"/>
            </a:xfrm>
            <a:prstGeom prst="ellipse">
              <a:avLst/>
            </a:prstGeom>
            <a:solidFill>
              <a:schemeClr val="accent4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accent4">
                  <a:alpha val="3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r>
                <a:rPr lang="zh-CN" altLang="en-US" sz="2800" b="1" dirty="0">
                  <a:solidFill>
                    <a:schemeClr val="bg1"/>
                  </a:solidFill>
                </a:rPr>
                <a:t>服务</a:t>
              </a: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606D9BCC-A2B9-4C12-A43D-EEF9ABD691D8}"/>
                </a:ext>
              </a:extLst>
            </p:cNvPr>
            <p:cNvSpPr/>
            <p:nvPr/>
          </p:nvSpPr>
          <p:spPr>
            <a:xfrm>
              <a:off x="7124311" y="1133272"/>
              <a:ext cx="2615947" cy="2615947"/>
            </a:xfrm>
            <a:prstGeom prst="ellipse">
              <a:avLst/>
            </a:prstGeom>
            <a:solidFill>
              <a:schemeClr val="accent2"/>
            </a:solidFill>
            <a:ln w="12700" cap="rnd">
              <a:noFill/>
              <a:prstDash val="solid"/>
              <a:round/>
              <a:headEnd/>
              <a:tailEnd/>
            </a:ln>
            <a:effectLst>
              <a:outerShdw blurRad="254000" dist="127000" algn="ctr" rotWithShape="0">
                <a:schemeClr val="accent2">
                  <a:alpha val="3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r>
                <a:rPr lang="zh-CN" altLang="en-US" sz="2800" b="1" dirty="0">
                  <a:solidFill>
                    <a:schemeClr val="bg1"/>
                  </a:solidFill>
                </a:rPr>
                <a:t>实体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3C8F0E3-27BE-4870-8E1D-117C1C0777A7}"/>
              </a:ext>
            </a:extLst>
          </p:cNvPr>
          <p:cNvGrpSpPr/>
          <p:nvPr/>
        </p:nvGrpSpPr>
        <p:grpSpPr>
          <a:xfrm>
            <a:off x="8168046" y="972798"/>
            <a:ext cx="3707254" cy="5454649"/>
            <a:chOff x="8168046" y="972798"/>
            <a:chExt cx="3707254" cy="5454649"/>
          </a:xfrm>
        </p:grpSpPr>
        <p:pic>
          <p:nvPicPr>
            <p:cNvPr id="8" name="图片 7" descr="图形用户界面&#10;&#10;描述已自动生成">
              <a:extLst>
                <a:ext uri="{FF2B5EF4-FFF2-40B4-BE49-F238E27FC236}">
                  <a16:creationId xmlns:a16="http://schemas.microsoft.com/office/drawing/2014/main" id="{F1F3A699-107B-4827-B692-13A2C69F6E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82625" y="972798"/>
              <a:ext cx="1492674" cy="2242152"/>
            </a:xfrm>
            <a:prstGeom prst="rect">
              <a:avLst/>
            </a:prstGeom>
          </p:spPr>
        </p:pic>
        <p:pic>
          <p:nvPicPr>
            <p:cNvPr id="10" name="图片 9" descr="图形用户界面&#10;&#10;中度可信度描述已自动生成">
              <a:extLst>
                <a:ext uri="{FF2B5EF4-FFF2-40B4-BE49-F238E27FC236}">
                  <a16:creationId xmlns:a16="http://schemas.microsoft.com/office/drawing/2014/main" id="{7BAF118C-A41D-4821-B271-F95A2F456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82625" y="3797994"/>
              <a:ext cx="1492675" cy="2629453"/>
            </a:xfrm>
            <a:prstGeom prst="rect">
              <a:avLst/>
            </a:prstGeom>
          </p:spPr>
        </p:pic>
        <p:sp>
          <p:nvSpPr>
            <p:cNvPr id="35" name="箭头: 右 34">
              <a:extLst>
                <a:ext uri="{FF2B5EF4-FFF2-40B4-BE49-F238E27FC236}">
                  <a16:creationId xmlns:a16="http://schemas.microsoft.com/office/drawing/2014/main" id="{1E04FD60-FDA3-41D6-86E6-84FB9883D229}"/>
                </a:ext>
              </a:extLst>
            </p:cNvPr>
            <p:cNvSpPr/>
            <p:nvPr/>
          </p:nvSpPr>
          <p:spPr>
            <a:xfrm rot="20624085">
              <a:off x="8168046" y="2593788"/>
              <a:ext cx="1492675" cy="739362"/>
            </a:xfrm>
            <a:prstGeom prst="rightArrow">
              <a:avLst/>
            </a:prstGeom>
            <a:noFill/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</a:rPr>
                <a:t>适用</a:t>
              </a:r>
            </a:p>
          </p:txBody>
        </p:sp>
        <p:sp>
          <p:nvSpPr>
            <p:cNvPr id="36" name="箭头: 右 35">
              <a:extLst>
                <a:ext uri="{FF2B5EF4-FFF2-40B4-BE49-F238E27FC236}">
                  <a16:creationId xmlns:a16="http://schemas.microsoft.com/office/drawing/2014/main" id="{D53E121B-1216-416F-A3B0-7A3CA8171DD2}"/>
                </a:ext>
              </a:extLst>
            </p:cNvPr>
            <p:cNvSpPr/>
            <p:nvPr/>
          </p:nvSpPr>
          <p:spPr>
            <a:xfrm rot="516896">
              <a:off x="8239751" y="3830998"/>
              <a:ext cx="1492675" cy="739362"/>
            </a:xfrm>
            <a:prstGeom prst="rightArrow">
              <a:avLst/>
            </a:prstGeom>
            <a:noFill/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</a:rPr>
                <a:t>适用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7C00BEA-21CF-4964-958E-C1612D884844}"/>
              </a:ext>
            </a:extLst>
          </p:cNvPr>
          <p:cNvGrpSpPr/>
          <p:nvPr/>
        </p:nvGrpSpPr>
        <p:grpSpPr>
          <a:xfrm>
            <a:off x="506734" y="2093874"/>
            <a:ext cx="3507261" cy="3408240"/>
            <a:chOff x="506734" y="2093874"/>
            <a:chExt cx="3507261" cy="3408240"/>
          </a:xfrm>
        </p:grpSpPr>
        <p:pic>
          <p:nvPicPr>
            <p:cNvPr id="6" name="图片 5" descr="图形用户界面&#10;&#10;描述已自动生成">
              <a:extLst>
                <a:ext uri="{FF2B5EF4-FFF2-40B4-BE49-F238E27FC236}">
                  <a16:creationId xmlns:a16="http://schemas.microsoft.com/office/drawing/2014/main" id="{C3F2B983-8439-451F-873A-A1198A88C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734" y="2093874"/>
              <a:ext cx="1492675" cy="3408240"/>
            </a:xfrm>
            <a:prstGeom prst="rect">
              <a:avLst/>
            </a:prstGeom>
          </p:spPr>
        </p:pic>
        <p:sp>
          <p:nvSpPr>
            <p:cNvPr id="27" name="箭头: 左 26">
              <a:extLst>
                <a:ext uri="{FF2B5EF4-FFF2-40B4-BE49-F238E27FC236}">
                  <a16:creationId xmlns:a16="http://schemas.microsoft.com/office/drawing/2014/main" id="{DC12FA4F-BC78-4264-BFC0-F1B839866940}"/>
                </a:ext>
              </a:extLst>
            </p:cNvPr>
            <p:cNvSpPr/>
            <p:nvPr/>
          </p:nvSpPr>
          <p:spPr>
            <a:xfrm>
              <a:off x="2386713" y="3185212"/>
              <a:ext cx="1627282" cy="817775"/>
            </a:xfrm>
            <a:prstGeom prst="leftArrow">
              <a:avLst/>
            </a:prstGeom>
            <a:noFill/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</a:rPr>
                <a:t>来自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437682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电子设备&#10;&#10;中度可信度描述已自动生成">
            <a:extLst>
              <a:ext uri="{FF2B5EF4-FFF2-40B4-BE49-F238E27FC236}">
                <a16:creationId xmlns:a16="http://schemas.microsoft.com/office/drawing/2014/main" id="{77FD5A69-7F7E-42AE-8F5F-AE330B1FC1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22" y="5061745"/>
            <a:ext cx="825874" cy="657700"/>
          </a:xfrm>
          <a:prstGeom prst="rect">
            <a:avLst/>
          </a:prstGeom>
        </p:spPr>
      </p:pic>
      <p:pic>
        <p:nvPicPr>
          <p:cNvPr id="26" name="图片 25" descr="徽标, 图标&#10;&#10;描述已自动生成">
            <a:extLst>
              <a:ext uri="{FF2B5EF4-FFF2-40B4-BE49-F238E27FC236}">
                <a16:creationId xmlns:a16="http://schemas.microsoft.com/office/drawing/2014/main" id="{3BF25D90-D92A-4CFF-85F2-DF770D41A3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35" y="2262678"/>
            <a:ext cx="547647" cy="547647"/>
          </a:xfrm>
          <a:prstGeom prst="rect">
            <a:avLst/>
          </a:prstGeom>
        </p:spPr>
      </p:pic>
      <p:pic>
        <p:nvPicPr>
          <p:cNvPr id="68" name="图片 67" descr="徽标&#10;&#10;描述已自动生成">
            <a:extLst>
              <a:ext uri="{FF2B5EF4-FFF2-40B4-BE49-F238E27FC236}">
                <a16:creationId xmlns:a16="http://schemas.microsoft.com/office/drawing/2014/main" id="{71DC5483-D23F-4199-AEE7-9229E9C00E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7268" y="2234107"/>
            <a:ext cx="1055756" cy="604788"/>
          </a:xfrm>
          <a:prstGeom prst="rect">
            <a:avLst/>
          </a:prstGeom>
        </p:spPr>
      </p:pic>
      <p:pic>
        <p:nvPicPr>
          <p:cNvPr id="71" name="图片 70" descr="电子设备&#10;&#10;中度可信度描述已自动生成">
            <a:extLst>
              <a:ext uri="{FF2B5EF4-FFF2-40B4-BE49-F238E27FC236}">
                <a16:creationId xmlns:a16="http://schemas.microsoft.com/office/drawing/2014/main" id="{0AA8271A-C910-4CCC-8A26-EE83719102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9987" y="5061745"/>
            <a:ext cx="825874" cy="65770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263464" cy="400110"/>
            <a:chOff x="424117" y="898245"/>
            <a:chExt cx="626346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711200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04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12354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计算机网络体系结构中的专用术语</a:t>
              </a:r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E0A531D-A482-4A62-9E67-468F1538B60D}"/>
              </a:ext>
            </a:extLst>
          </p:cNvPr>
          <p:cNvSpPr/>
          <p:nvPr/>
        </p:nvSpPr>
        <p:spPr>
          <a:xfrm>
            <a:off x="5257014" y="727692"/>
            <a:ext cx="1696825" cy="408698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实体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B8B906A-22F0-4816-A5DC-1F7CB6FDF922}"/>
              </a:ext>
            </a:extLst>
          </p:cNvPr>
          <p:cNvSpPr/>
          <p:nvPr/>
        </p:nvSpPr>
        <p:spPr>
          <a:xfrm>
            <a:off x="7345920" y="727692"/>
            <a:ext cx="1696825" cy="408698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协议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373B9E-4D4C-457F-A09D-CEE50B463F4E}"/>
              </a:ext>
            </a:extLst>
          </p:cNvPr>
          <p:cNvSpPr/>
          <p:nvPr/>
        </p:nvSpPr>
        <p:spPr>
          <a:xfrm>
            <a:off x="9434826" y="727692"/>
            <a:ext cx="1696825" cy="408698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服务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E59C2C-CFAF-4AB5-972A-5720278628BC}"/>
              </a:ext>
            </a:extLst>
          </p:cNvPr>
          <p:cNvSpPr/>
          <p:nvPr/>
        </p:nvSpPr>
        <p:spPr>
          <a:xfrm>
            <a:off x="1016000" y="1297642"/>
            <a:ext cx="256976" cy="25697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íşlïḍè">
            <a:extLst>
              <a:ext uri="{FF2B5EF4-FFF2-40B4-BE49-F238E27FC236}">
                <a16:creationId xmlns:a16="http://schemas.microsoft.com/office/drawing/2014/main" id="{4BA97076-69E3-411F-BF77-23FDF614EB0A}"/>
              </a:ext>
            </a:extLst>
          </p:cNvPr>
          <p:cNvSpPr txBox="1"/>
          <p:nvPr/>
        </p:nvSpPr>
        <p:spPr>
          <a:xfrm>
            <a:off x="1293758" y="1216580"/>
            <a:ext cx="5956140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实体</a:t>
            </a:r>
            <a:r>
              <a:rPr lang="zh-CN" altLang="en-US" b="1" dirty="0"/>
              <a:t>是指任何可发送或接收信息的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硬件</a:t>
            </a:r>
            <a:r>
              <a:rPr lang="zh-CN" altLang="en-US" b="1" dirty="0"/>
              <a:t>或</a:t>
            </a:r>
            <a:r>
              <a:rPr lang="zh-CN" altLang="en-US" b="1" dirty="0">
                <a:solidFill>
                  <a:srgbClr val="FF0000"/>
                </a:solidFill>
              </a:rPr>
              <a:t>软件进程</a:t>
            </a:r>
            <a:r>
              <a:rPr lang="zh-CN" altLang="en-US" b="1" dirty="0"/>
              <a:t>。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8A387F7-1F50-4C3A-B566-C67ABA0D4A94}"/>
              </a:ext>
            </a:extLst>
          </p:cNvPr>
          <p:cNvSpPr/>
          <p:nvPr/>
        </p:nvSpPr>
        <p:spPr>
          <a:xfrm>
            <a:off x="1016000" y="1701078"/>
            <a:ext cx="256976" cy="25697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íşlïḍè">
            <a:extLst>
              <a:ext uri="{FF2B5EF4-FFF2-40B4-BE49-F238E27FC236}">
                <a16:creationId xmlns:a16="http://schemas.microsoft.com/office/drawing/2014/main" id="{5B05B182-7D31-4779-8A87-A8B3314BD614}"/>
              </a:ext>
            </a:extLst>
          </p:cNvPr>
          <p:cNvSpPr txBox="1"/>
          <p:nvPr/>
        </p:nvSpPr>
        <p:spPr>
          <a:xfrm>
            <a:off x="1293758" y="1620016"/>
            <a:ext cx="4967568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对等实体</a:t>
            </a:r>
            <a:r>
              <a:rPr lang="zh-CN" altLang="en-US" b="1" dirty="0"/>
              <a:t>是指通信双方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相同层次中的实体</a:t>
            </a:r>
            <a:r>
              <a:rPr lang="zh-CN" altLang="en-US" b="1" dirty="0"/>
              <a:t>。</a:t>
            </a:r>
            <a:endParaRPr lang="en-US" altLang="zh-CN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8AB15A1-71F2-4D30-932B-8581242663EE}"/>
              </a:ext>
            </a:extLst>
          </p:cNvPr>
          <p:cNvGrpSpPr/>
          <p:nvPr/>
        </p:nvGrpSpPr>
        <p:grpSpPr>
          <a:xfrm>
            <a:off x="1272976" y="2140795"/>
            <a:ext cx="9646048" cy="4062250"/>
            <a:chOff x="1272976" y="2140795"/>
            <a:chExt cx="9646048" cy="4062250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017FD526-7003-42BF-9DBC-74784350B48E}"/>
                </a:ext>
              </a:extLst>
            </p:cNvPr>
            <p:cNvGrpSpPr/>
            <p:nvPr/>
          </p:nvGrpSpPr>
          <p:grpSpPr>
            <a:xfrm>
              <a:off x="1272976" y="2140795"/>
              <a:ext cx="1615697" cy="4062250"/>
              <a:chOff x="1272976" y="2208576"/>
              <a:chExt cx="1615697" cy="4062250"/>
            </a:xfrm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475EFD0-C6A2-4E39-A5E6-EB76461F07E4}"/>
                  </a:ext>
                </a:extLst>
              </p:cNvPr>
              <p:cNvSpPr/>
              <p:nvPr/>
            </p:nvSpPr>
            <p:spPr>
              <a:xfrm>
                <a:off x="1272976" y="5458376"/>
                <a:ext cx="1615697" cy="812450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600" b="1" dirty="0"/>
                  <a:t>物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理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层</a:t>
                </a: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12D1F6EF-D6FB-4D4E-AB50-CF503E172BF0}"/>
                  </a:ext>
                </a:extLst>
              </p:cNvPr>
              <p:cNvSpPr/>
              <p:nvPr/>
            </p:nvSpPr>
            <p:spPr>
              <a:xfrm>
                <a:off x="1272976" y="4645926"/>
                <a:ext cx="1615697" cy="812450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600" b="1" dirty="0"/>
                  <a:t>链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路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层</a:t>
                </a: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00F1A246-E262-42B2-B2D4-7F26636D6722}"/>
                  </a:ext>
                </a:extLst>
              </p:cNvPr>
              <p:cNvSpPr/>
              <p:nvPr/>
            </p:nvSpPr>
            <p:spPr>
              <a:xfrm>
                <a:off x="1272976" y="3833476"/>
                <a:ext cx="1615697" cy="81245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600" b="1" dirty="0"/>
                  <a:t>网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络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层</a:t>
                </a: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D0411867-9818-44AD-8E20-1B6EF8C325AB}"/>
                  </a:ext>
                </a:extLst>
              </p:cNvPr>
              <p:cNvSpPr/>
              <p:nvPr/>
            </p:nvSpPr>
            <p:spPr>
              <a:xfrm>
                <a:off x="1272976" y="3021026"/>
                <a:ext cx="1615697" cy="812450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600" b="1" dirty="0"/>
                  <a:t>运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输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层</a:t>
                </a: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B27547E4-18A2-4A10-98FD-9D40D53728C5}"/>
                  </a:ext>
                </a:extLst>
              </p:cNvPr>
              <p:cNvSpPr/>
              <p:nvPr/>
            </p:nvSpPr>
            <p:spPr>
              <a:xfrm>
                <a:off x="1272976" y="2208576"/>
                <a:ext cx="1615697" cy="812450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600" b="1" dirty="0"/>
                  <a:t>应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用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层</a:t>
                </a:r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F731CA2F-E01C-4783-9D40-24534578BFE1}"/>
                </a:ext>
              </a:extLst>
            </p:cNvPr>
            <p:cNvGrpSpPr/>
            <p:nvPr/>
          </p:nvGrpSpPr>
          <p:grpSpPr>
            <a:xfrm>
              <a:off x="9303327" y="2140795"/>
              <a:ext cx="1615697" cy="4062250"/>
              <a:chOff x="1272976" y="2208576"/>
              <a:chExt cx="1615697" cy="4062250"/>
            </a:xfrm>
          </p:grpSpPr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8532FF05-C538-426C-8D1B-FA4EC45782F7}"/>
                  </a:ext>
                </a:extLst>
              </p:cNvPr>
              <p:cNvSpPr/>
              <p:nvPr/>
            </p:nvSpPr>
            <p:spPr>
              <a:xfrm>
                <a:off x="1272976" y="5458376"/>
                <a:ext cx="1615697" cy="812450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zh-CN" altLang="en-US" sz="1600" b="1" dirty="0"/>
                  <a:t>物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理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层</a:t>
                </a: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B2F7EEE7-1ED7-492E-9484-FBB615B5D4A1}"/>
                  </a:ext>
                </a:extLst>
              </p:cNvPr>
              <p:cNvSpPr/>
              <p:nvPr/>
            </p:nvSpPr>
            <p:spPr>
              <a:xfrm>
                <a:off x="1272976" y="4645926"/>
                <a:ext cx="1615697" cy="812450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zh-CN" altLang="en-US" sz="1600" b="1" dirty="0"/>
                  <a:t>链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路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层</a:t>
                </a: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C95C399A-227F-4CBC-9F46-BC4696BC0C35}"/>
                  </a:ext>
                </a:extLst>
              </p:cNvPr>
              <p:cNvSpPr/>
              <p:nvPr/>
            </p:nvSpPr>
            <p:spPr>
              <a:xfrm>
                <a:off x="1272976" y="3833476"/>
                <a:ext cx="1615697" cy="81245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zh-CN" altLang="en-US" sz="1600" b="1" dirty="0"/>
                  <a:t>网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络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层</a:t>
                </a: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530BBD26-2078-403D-9C1D-5ADA1C308328}"/>
                  </a:ext>
                </a:extLst>
              </p:cNvPr>
              <p:cNvSpPr/>
              <p:nvPr/>
            </p:nvSpPr>
            <p:spPr>
              <a:xfrm>
                <a:off x="1272976" y="3021026"/>
                <a:ext cx="1615697" cy="812450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zh-CN" altLang="en-US" sz="1600" b="1" dirty="0"/>
                  <a:t>运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输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层</a:t>
                </a:r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FC345A29-A536-4D85-B757-FA3E7D76D9F0}"/>
                  </a:ext>
                </a:extLst>
              </p:cNvPr>
              <p:cNvSpPr/>
              <p:nvPr/>
            </p:nvSpPr>
            <p:spPr>
              <a:xfrm>
                <a:off x="1272976" y="2208576"/>
                <a:ext cx="1615697" cy="812450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zh-CN" altLang="en-US" sz="1600" b="1" dirty="0"/>
                  <a:t>应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用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层</a:t>
                </a:r>
              </a:p>
            </p:txBody>
          </p:sp>
        </p:grp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89F5E2CE-E8F9-4F91-B7BA-DA244AD9D48C}"/>
              </a:ext>
            </a:extLst>
          </p:cNvPr>
          <p:cNvSpPr/>
          <p:nvPr/>
        </p:nvSpPr>
        <p:spPr>
          <a:xfrm>
            <a:off x="2561358" y="239227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A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1054F15-C8EA-4EE0-B7E5-CE13AAB1CB62}"/>
              </a:ext>
            </a:extLst>
          </p:cNvPr>
          <p:cNvSpPr/>
          <p:nvPr/>
        </p:nvSpPr>
        <p:spPr>
          <a:xfrm>
            <a:off x="2561357" y="320472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B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21F786E-000C-449E-B91E-8B11E37AD027}"/>
              </a:ext>
            </a:extLst>
          </p:cNvPr>
          <p:cNvSpPr/>
          <p:nvPr/>
        </p:nvSpPr>
        <p:spPr>
          <a:xfrm>
            <a:off x="2561357" y="401717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C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B39520A-AED0-4477-9B8A-0BC045529FF1}"/>
              </a:ext>
            </a:extLst>
          </p:cNvPr>
          <p:cNvSpPr/>
          <p:nvPr/>
        </p:nvSpPr>
        <p:spPr>
          <a:xfrm>
            <a:off x="2561356" y="482962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D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8B9EDDA-1B45-4A27-B713-F6CFD44BC8E6}"/>
              </a:ext>
            </a:extLst>
          </p:cNvPr>
          <p:cNvSpPr/>
          <p:nvPr/>
        </p:nvSpPr>
        <p:spPr>
          <a:xfrm>
            <a:off x="2552129" y="564207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E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0D647F3-610B-475B-AF5F-4BB005B5C5EF}"/>
              </a:ext>
            </a:extLst>
          </p:cNvPr>
          <p:cNvSpPr/>
          <p:nvPr/>
        </p:nvSpPr>
        <p:spPr>
          <a:xfrm>
            <a:off x="9338534" y="239227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F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A5CB563-0162-4185-AE73-04B3B55D20E8}"/>
              </a:ext>
            </a:extLst>
          </p:cNvPr>
          <p:cNvSpPr/>
          <p:nvPr/>
        </p:nvSpPr>
        <p:spPr>
          <a:xfrm>
            <a:off x="9338533" y="320472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G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30CB170-A571-4F1F-B298-D24F6EED45E3}"/>
              </a:ext>
            </a:extLst>
          </p:cNvPr>
          <p:cNvSpPr/>
          <p:nvPr/>
        </p:nvSpPr>
        <p:spPr>
          <a:xfrm>
            <a:off x="9338533" y="401717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H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E3B497F-CA68-4DBB-9483-34210A87B3A6}"/>
              </a:ext>
            </a:extLst>
          </p:cNvPr>
          <p:cNvSpPr/>
          <p:nvPr/>
        </p:nvSpPr>
        <p:spPr>
          <a:xfrm>
            <a:off x="9338532" y="482962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I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60BCB8C-EA86-43D5-BD32-49213CE9DE31}"/>
              </a:ext>
            </a:extLst>
          </p:cNvPr>
          <p:cNvSpPr/>
          <p:nvPr/>
        </p:nvSpPr>
        <p:spPr>
          <a:xfrm>
            <a:off x="9329305" y="564207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J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6BB4872-761F-4DBA-A3F6-7740CB257ED5}"/>
              </a:ext>
            </a:extLst>
          </p:cNvPr>
          <p:cNvGrpSpPr/>
          <p:nvPr/>
        </p:nvGrpSpPr>
        <p:grpSpPr>
          <a:xfrm>
            <a:off x="2853466" y="5587270"/>
            <a:ext cx="6475839" cy="419100"/>
            <a:chOff x="2853466" y="5587270"/>
            <a:chExt cx="6475839" cy="419100"/>
          </a:xfrm>
        </p:grpSpPr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973F2F7B-8725-44EF-BEC2-0E9ADD8EE117}"/>
                </a:ext>
              </a:extLst>
            </p:cNvPr>
            <p:cNvCxnSpPr>
              <a:cxnSpLocks/>
              <a:stCxn id="37" idx="3"/>
              <a:endCxn id="42" idx="1"/>
            </p:cNvCxnSpPr>
            <p:nvPr/>
          </p:nvCxnSpPr>
          <p:spPr>
            <a:xfrm>
              <a:off x="2853466" y="5796820"/>
              <a:ext cx="647583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íşlïḍè">
              <a:extLst>
                <a:ext uri="{FF2B5EF4-FFF2-40B4-BE49-F238E27FC236}">
                  <a16:creationId xmlns:a16="http://schemas.microsoft.com/office/drawing/2014/main" id="{5C405943-F01C-4735-8DA0-DBADBA58FCA4}"/>
                </a:ext>
              </a:extLst>
            </p:cNvPr>
            <p:cNvSpPr txBox="1"/>
            <p:nvPr/>
          </p:nvSpPr>
          <p:spPr>
            <a:xfrm>
              <a:off x="5551455" y="5587270"/>
              <a:ext cx="1109872" cy="4191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zh-CN" altLang="en-US" b="1" dirty="0"/>
                <a:t>对等实体</a:t>
              </a:r>
              <a:endParaRPr lang="en-US" altLang="zh-CN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6E7C1CA-CF95-4D23-88B9-90F3123148D1}"/>
              </a:ext>
            </a:extLst>
          </p:cNvPr>
          <p:cNvGrpSpPr/>
          <p:nvPr/>
        </p:nvGrpSpPr>
        <p:grpSpPr>
          <a:xfrm>
            <a:off x="2853466" y="4775812"/>
            <a:ext cx="6475839" cy="419100"/>
            <a:chOff x="2853466" y="5587270"/>
            <a:chExt cx="6475839" cy="419100"/>
          </a:xfrm>
        </p:grpSpPr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1B9A5614-2557-4179-9D6A-7A16BE2E1F98}"/>
                </a:ext>
              </a:extLst>
            </p:cNvPr>
            <p:cNvCxnSpPr>
              <a:cxnSpLocks/>
            </p:cNvCxnSpPr>
            <p:nvPr/>
          </p:nvCxnSpPr>
          <p:spPr>
            <a:xfrm>
              <a:off x="2853466" y="5796820"/>
              <a:ext cx="647583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íşlïḍè">
              <a:extLst>
                <a:ext uri="{FF2B5EF4-FFF2-40B4-BE49-F238E27FC236}">
                  <a16:creationId xmlns:a16="http://schemas.microsoft.com/office/drawing/2014/main" id="{29B905F5-4984-4406-8620-8FF103ABCADC}"/>
                </a:ext>
              </a:extLst>
            </p:cNvPr>
            <p:cNvSpPr txBox="1"/>
            <p:nvPr/>
          </p:nvSpPr>
          <p:spPr>
            <a:xfrm>
              <a:off x="5551455" y="5587270"/>
              <a:ext cx="1109872" cy="4191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zh-CN" altLang="en-US" b="1" dirty="0"/>
                <a:t>对等实体</a:t>
              </a:r>
              <a:endParaRPr lang="en-US" altLang="zh-CN" b="1" dirty="0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ED898E72-812E-4807-B64A-42522FB3A9AE}"/>
              </a:ext>
            </a:extLst>
          </p:cNvPr>
          <p:cNvGrpSpPr/>
          <p:nvPr/>
        </p:nvGrpSpPr>
        <p:grpSpPr>
          <a:xfrm>
            <a:off x="2853466" y="3964353"/>
            <a:ext cx="6475839" cy="419100"/>
            <a:chOff x="2853466" y="5587270"/>
            <a:chExt cx="6475839" cy="419100"/>
          </a:xfrm>
        </p:grpSpPr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9A43BA94-CF41-44BC-9C5F-505036CDB78C}"/>
                </a:ext>
              </a:extLst>
            </p:cNvPr>
            <p:cNvCxnSpPr>
              <a:cxnSpLocks/>
            </p:cNvCxnSpPr>
            <p:nvPr/>
          </p:nvCxnSpPr>
          <p:spPr>
            <a:xfrm>
              <a:off x="2853466" y="5796820"/>
              <a:ext cx="647583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íşlïḍè">
              <a:extLst>
                <a:ext uri="{FF2B5EF4-FFF2-40B4-BE49-F238E27FC236}">
                  <a16:creationId xmlns:a16="http://schemas.microsoft.com/office/drawing/2014/main" id="{9DAAF3EE-004D-4091-8B14-8FFE137A03C4}"/>
                </a:ext>
              </a:extLst>
            </p:cNvPr>
            <p:cNvSpPr txBox="1"/>
            <p:nvPr/>
          </p:nvSpPr>
          <p:spPr>
            <a:xfrm>
              <a:off x="5551455" y="5587270"/>
              <a:ext cx="1109872" cy="4191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zh-CN" altLang="en-US" b="1" dirty="0"/>
                <a:t>对等实体</a:t>
              </a:r>
              <a:endParaRPr lang="en-US" altLang="zh-CN" b="1" dirty="0"/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64206A3C-3C2F-4F4B-B42F-CDDF4F6382B2}"/>
              </a:ext>
            </a:extLst>
          </p:cNvPr>
          <p:cNvGrpSpPr/>
          <p:nvPr/>
        </p:nvGrpSpPr>
        <p:grpSpPr>
          <a:xfrm>
            <a:off x="2853466" y="3152894"/>
            <a:ext cx="6475839" cy="419100"/>
            <a:chOff x="2853466" y="5587270"/>
            <a:chExt cx="6475839" cy="419100"/>
          </a:xfrm>
        </p:grpSpPr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734948B4-CF74-4CBC-B78C-20175327168C}"/>
                </a:ext>
              </a:extLst>
            </p:cNvPr>
            <p:cNvCxnSpPr>
              <a:cxnSpLocks/>
            </p:cNvCxnSpPr>
            <p:nvPr/>
          </p:nvCxnSpPr>
          <p:spPr>
            <a:xfrm>
              <a:off x="2853466" y="5796820"/>
              <a:ext cx="647583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íşlïḍè">
              <a:extLst>
                <a:ext uri="{FF2B5EF4-FFF2-40B4-BE49-F238E27FC236}">
                  <a16:creationId xmlns:a16="http://schemas.microsoft.com/office/drawing/2014/main" id="{A23262AD-7294-47FC-911E-C899A95E158F}"/>
                </a:ext>
              </a:extLst>
            </p:cNvPr>
            <p:cNvSpPr txBox="1"/>
            <p:nvPr/>
          </p:nvSpPr>
          <p:spPr>
            <a:xfrm>
              <a:off x="5551455" y="5587270"/>
              <a:ext cx="1109872" cy="4191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zh-CN" altLang="en-US" b="1" dirty="0"/>
                <a:t>对等实体</a:t>
              </a:r>
              <a:endParaRPr lang="en-US" altLang="zh-CN" b="1" dirty="0"/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C9694B14-E2EC-42EF-A496-DAE540C2E3DE}"/>
              </a:ext>
            </a:extLst>
          </p:cNvPr>
          <p:cNvGrpSpPr/>
          <p:nvPr/>
        </p:nvGrpSpPr>
        <p:grpSpPr>
          <a:xfrm>
            <a:off x="2853466" y="2341436"/>
            <a:ext cx="6475839" cy="419100"/>
            <a:chOff x="2853466" y="5587270"/>
            <a:chExt cx="6475839" cy="419100"/>
          </a:xfrm>
        </p:grpSpPr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96D95F31-46EC-4FB7-AE02-35F20709B79E}"/>
                </a:ext>
              </a:extLst>
            </p:cNvPr>
            <p:cNvCxnSpPr>
              <a:cxnSpLocks/>
            </p:cNvCxnSpPr>
            <p:nvPr/>
          </p:nvCxnSpPr>
          <p:spPr>
            <a:xfrm>
              <a:off x="2853466" y="5796820"/>
              <a:ext cx="647583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íşlïḍè">
              <a:extLst>
                <a:ext uri="{FF2B5EF4-FFF2-40B4-BE49-F238E27FC236}">
                  <a16:creationId xmlns:a16="http://schemas.microsoft.com/office/drawing/2014/main" id="{4AAFC26C-33F2-490A-8C1C-3A784183C2EA}"/>
                </a:ext>
              </a:extLst>
            </p:cNvPr>
            <p:cNvSpPr txBox="1"/>
            <p:nvPr/>
          </p:nvSpPr>
          <p:spPr>
            <a:xfrm>
              <a:off x="5551455" y="5587270"/>
              <a:ext cx="1109872" cy="4191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zh-CN" altLang="en-US" b="1" dirty="0"/>
                <a:t>对等实体</a:t>
              </a:r>
              <a:endParaRPr lang="en-US" altLang="zh-CN" b="1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88716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263464" cy="400110"/>
            <a:chOff x="424117" y="898245"/>
            <a:chExt cx="626346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711200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04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12354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计算机网络体系结构中的专用术语</a:t>
              </a:r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E0A531D-A482-4A62-9E67-468F1538B60D}"/>
              </a:ext>
            </a:extLst>
          </p:cNvPr>
          <p:cNvSpPr/>
          <p:nvPr/>
        </p:nvSpPr>
        <p:spPr>
          <a:xfrm>
            <a:off x="5257014" y="727692"/>
            <a:ext cx="1696825" cy="408698"/>
          </a:xfrm>
          <a:prstGeom prst="roundRect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实体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B8B906A-22F0-4816-A5DC-1F7CB6FDF922}"/>
              </a:ext>
            </a:extLst>
          </p:cNvPr>
          <p:cNvSpPr/>
          <p:nvPr/>
        </p:nvSpPr>
        <p:spPr>
          <a:xfrm>
            <a:off x="7345920" y="727692"/>
            <a:ext cx="1696825" cy="408698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协议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373B9E-4D4C-457F-A09D-CEE50B463F4E}"/>
              </a:ext>
            </a:extLst>
          </p:cNvPr>
          <p:cNvSpPr/>
          <p:nvPr/>
        </p:nvSpPr>
        <p:spPr>
          <a:xfrm>
            <a:off x="9434826" y="727692"/>
            <a:ext cx="1696825" cy="408698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服务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E59C2C-CFAF-4AB5-972A-5720278628BC}"/>
              </a:ext>
            </a:extLst>
          </p:cNvPr>
          <p:cNvSpPr/>
          <p:nvPr/>
        </p:nvSpPr>
        <p:spPr>
          <a:xfrm>
            <a:off x="1016000" y="1297642"/>
            <a:ext cx="256976" cy="25697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íşlïḍè">
            <a:extLst>
              <a:ext uri="{FF2B5EF4-FFF2-40B4-BE49-F238E27FC236}">
                <a16:creationId xmlns:a16="http://schemas.microsoft.com/office/drawing/2014/main" id="{4BA97076-69E3-411F-BF77-23FDF614EB0A}"/>
              </a:ext>
            </a:extLst>
          </p:cNvPr>
          <p:cNvSpPr txBox="1"/>
          <p:nvPr/>
        </p:nvSpPr>
        <p:spPr>
          <a:xfrm>
            <a:off x="1293757" y="1216580"/>
            <a:ext cx="8035548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协议</a:t>
            </a:r>
            <a:r>
              <a:rPr lang="zh-CN" altLang="en-US" b="1" dirty="0"/>
              <a:t>是控制两个对等实体在“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水平方向</a:t>
            </a:r>
            <a:r>
              <a:rPr lang="zh-CN" altLang="en-US" b="1" dirty="0"/>
              <a:t>”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CN" altLang="en-US" b="1" dirty="0"/>
              <a:t>进行“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逻辑通信</a:t>
            </a:r>
            <a:r>
              <a:rPr lang="zh-CN" altLang="en-US" b="1" dirty="0"/>
              <a:t>”的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规则</a:t>
            </a:r>
            <a:r>
              <a:rPr lang="zh-CN" altLang="en-US" b="1" dirty="0"/>
              <a:t>的集合。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9DD1A17D-0E53-43A1-9777-72494BD01AEF}"/>
              </a:ext>
            </a:extLst>
          </p:cNvPr>
          <p:cNvSpPr/>
          <p:nvPr/>
        </p:nvSpPr>
        <p:spPr>
          <a:xfrm>
            <a:off x="7345920" y="727692"/>
            <a:ext cx="1696825" cy="408698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协议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139CA69-894D-4C57-88B4-DFCF99B220A9}"/>
              </a:ext>
            </a:extLst>
          </p:cNvPr>
          <p:cNvGrpSpPr/>
          <p:nvPr/>
        </p:nvGrpSpPr>
        <p:grpSpPr>
          <a:xfrm>
            <a:off x="1272976" y="2140795"/>
            <a:ext cx="9646048" cy="4062250"/>
            <a:chOff x="1272976" y="2140795"/>
            <a:chExt cx="9646048" cy="4062250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7F24D25B-AF4B-4F5A-ACEB-4F2B4235A3D1}"/>
                </a:ext>
              </a:extLst>
            </p:cNvPr>
            <p:cNvGrpSpPr/>
            <p:nvPr/>
          </p:nvGrpSpPr>
          <p:grpSpPr>
            <a:xfrm>
              <a:off x="1272976" y="2140795"/>
              <a:ext cx="1615697" cy="4062250"/>
              <a:chOff x="1272976" y="2208576"/>
              <a:chExt cx="1615697" cy="4062250"/>
            </a:xfrm>
          </p:grpSpPr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5A2CF478-467C-4E7B-8D71-594443085FB0}"/>
                  </a:ext>
                </a:extLst>
              </p:cNvPr>
              <p:cNvSpPr/>
              <p:nvPr/>
            </p:nvSpPr>
            <p:spPr>
              <a:xfrm>
                <a:off x="1272976" y="5458376"/>
                <a:ext cx="1615697" cy="812450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600" b="1" dirty="0"/>
                  <a:t>物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理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层</a:t>
                </a:r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F7B4C4AB-F7C0-4A78-ACCF-C175C32C523B}"/>
                  </a:ext>
                </a:extLst>
              </p:cNvPr>
              <p:cNvSpPr/>
              <p:nvPr/>
            </p:nvSpPr>
            <p:spPr>
              <a:xfrm>
                <a:off x="1272976" y="4645926"/>
                <a:ext cx="1615697" cy="812450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600" b="1" dirty="0"/>
                  <a:t>链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路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层</a:t>
                </a:r>
              </a:p>
            </p:txBody>
          </p:sp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E2515D24-79C7-4C3F-B34D-D0037BB1C89B}"/>
                  </a:ext>
                </a:extLst>
              </p:cNvPr>
              <p:cNvSpPr/>
              <p:nvPr/>
            </p:nvSpPr>
            <p:spPr>
              <a:xfrm>
                <a:off x="1272976" y="3833476"/>
                <a:ext cx="1615697" cy="81245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600" b="1" dirty="0"/>
                  <a:t>网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络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层</a:t>
                </a:r>
              </a:p>
            </p:txBody>
          </p:sp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31E57393-C038-4C59-8F08-261F3FB9A74A}"/>
                  </a:ext>
                </a:extLst>
              </p:cNvPr>
              <p:cNvSpPr/>
              <p:nvPr/>
            </p:nvSpPr>
            <p:spPr>
              <a:xfrm>
                <a:off x="1272976" y="3021026"/>
                <a:ext cx="1615697" cy="812450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600" b="1" dirty="0"/>
                  <a:t>运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输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层</a:t>
                </a:r>
              </a:p>
            </p:txBody>
          </p:sp>
          <p:sp>
            <p:nvSpPr>
              <p:cNvPr id="76" name="矩形 75">
                <a:extLst>
                  <a:ext uri="{FF2B5EF4-FFF2-40B4-BE49-F238E27FC236}">
                    <a16:creationId xmlns:a16="http://schemas.microsoft.com/office/drawing/2014/main" id="{CB46AF80-4579-4C35-835E-B144B1269171}"/>
                  </a:ext>
                </a:extLst>
              </p:cNvPr>
              <p:cNvSpPr/>
              <p:nvPr/>
            </p:nvSpPr>
            <p:spPr>
              <a:xfrm>
                <a:off x="1272976" y="2208576"/>
                <a:ext cx="1615697" cy="812450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1600" b="1" dirty="0"/>
                  <a:t>应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用</a:t>
                </a:r>
                <a:endParaRPr lang="en-US" altLang="zh-CN" sz="1600" b="1" dirty="0"/>
              </a:p>
              <a:p>
                <a:r>
                  <a:rPr lang="zh-CN" altLang="en-US" sz="1600" b="1" dirty="0"/>
                  <a:t>层</a:t>
                </a:r>
              </a:p>
            </p:txBody>
          </p: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60C44187-5BA4-4A2D-82BD-F081D40CA128}"/>
                </a:ext>
              </a:extLst>
            </p:cNvPr>
            <p:cNvGrpSpPr/>
            <p:nvPr/>
          </p:nvGrpSpPr>
          <p:grpSpPr>
            <a:xfrm>
              <a:off x="9303327" y="2140795"/>
              <a:ext cx="1615697" cy="4062250"/>
              <a:chOff x="1272976" y="2208576"/>
              <a:chExt cx="1615697" cy="4062250"/>
            </a:xfrm>
          </p:grpSpPr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D12A07BE-53B4-41E7-95BC-ECAB7A0B08AE}"/>
                  </a:ext>
                </a:extLst>
              </p:cNvPr>
              <p:cNvSpPr/>
              <p:nvPr/>
            </p:nvSpPr>
            <p:spPr>
              <a:xfrm>
                <a:off x="1272976" y="5458376"/>
                <a:ext cx="1615697" cy="812450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zh-CN" altLang="en-US" sz="1600" b="1" dirty="0"/>
                  <a:t>物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理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层</a:t>
                </a:r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7A625D36-894A-4D19-984E-3DDB5F6A4E61}"/>
                  </a:ext>
                </a:extLst>
              </p:cNvPr>
              <p:cNvSpPr/>
              <p:nvPr/>
            </p:nvSpPr>
            <p:spPr>
              <a:xfrm>
                <a:off x="1272976" y="4645926"/>
                <a:ext cx="1615697" cy="812450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zh-CN" altLang="en-US" sz="1600" b="1" dirty="0"/>
                  <a:t>链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路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层</a:t>
                </a:r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B5A1A6D2-AF8F-4D1C-9558-214F3E3658C5}"/>
                  </a:ext>
                </a:extLst>
              </p:cNvPr>
              <p:cNvSpPr/>
              <p:nvPr/>
            </p:nvSpPr>
            <p:spPr>
              <a:xfrm>
                <a:off x="1272976" y="3833476"/>
                <a:ext cx="1615697" cy="812450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zh-CN" altLang="en-US" sz="1600" b="1" dirty="0"/>
                  <a:t>网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络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层</a:t>
                </a:r>
              </a:p>
            </p:txBody>
          </p:sp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9AB86016-B24A-4F8C-808E-E766D225AE22}"/>
                  </a:ext>
                </a:extLst>
              </p:cNvPr>
              <p:cNvSpPr/>
              <p:nvPr/>
            </p:nvSpPr>
            <p:spPr>
              <a:xfrm>
                <a:off x="1272976" y="3021026"/>
                <a:ext cx="1615697" cy="812450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zh-CN" altLang="en-US" sz="1600" b="1" dirty="0"/>
                  <a:t>运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输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层</a:t>
                </a:r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F672AD18-75B3-4DD1-A15B-9013EB4DF11E}"/>
                  </a:ext>
                </a:extLst>
              </p:cNvPr>
              <p:cNvSpPr/>
              <p:nvPr/>
            </p:nvSpPr>
            <p:spPr>
              <a:xfrm>
                <a:off x="1272976" y="2208576"/>
                <a:ext cx="1615697" cy="812450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zh-CN" altLang="en-US" sz="1600" b="1" dirty="0"/>
                  <a:t>应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用</a:t>
                </a:r>
                <a:endParaRPr lang="en-US" altLang="zh-CN" sz="1600" b="1" dirty="0"/>
              </a:p>
              <a:p>
                <a:pPr algn="r"/>
                <a:r>
                  <a:rPr lang="zh-CN" altLang="en-US" sz="1600" b="1" dirty="0"/>
                  <a:t>层</a:t>
                </a:r>
              </a:p>
            </p:txBody>
          </p:sp>
        </p:grp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8CA0E146-2440-4699-A950-05AE0A79AA64}"/>
                </a:ext>
              </a:extLst>
            </p:cNvPr>
            <p:cNvSpPr/>
            <p:nvPr/>
          </p:nvSpPr>
          <p:spPr>
            <a:xfrm>
              <a:off x="2561358" y="2392270"/>
              <a:ext cx="301337" cy="309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A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0265E831-76DE-4949-9FBA-D6C3513F47BC}"/>
                </a:ext>
              </a:extLst>
            </p:cNvPr>
            <p:cNvSpPr/>
            <p:nvPr/>
          </p:nvSpPr>
          <p:spPr>
            <a:xfrm>
              <a:off x="2561357" y="3204720"/>
              <a:ext cx="301337" cy="309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B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1E616346-A825-4796-BA56-422A40987512}"/>
                </a:ext>
              </a:extLst>
            </p:cNvPr>
            <p:cNvSpPr/>
            <p:nvPr/>
          </p:nvSpPr>
          <p:spPr>
            <a:xfrm>
              <a:off x="2561357" y="4017170"/>
              <a:ext cx="301337" cy="309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C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6242450A-74AD-4DFD-9E37-542224B5FA08}"/>
                </a:ext>
              </a:extLst>
            </p:cNvPr>
            <p:cNvSpPr/>
            <p:nvPr/>
          </p:nvSpPr>
          <p:spPr>
            <a:xfrm>
              <a:off x="2561356" y="4829620"/>
              <a:ext cx="301337" cy="309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D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5A05C82E-E0EE-4204-968E-10D6CF3C9FFD}"/>
                </a:ext>
              </a:extLst>
            </p:cNvPr>
            <p:cNvSpPr/>
            <p:nvPr/>
          </p:nvSpPr>
          <p:spPr>
            <a:xfrm>
              <a:off x="2552129" y="5642070"/>
              <a:ext cx="301337" cy="309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E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EF8FAF90-AA59-4810-AC9F-8ACFE25A4F51}"/>
                </a:ext>
              </a:extLst>
            </p:cNvPr>
            <p:cNvSpPr/>
            <p:nvPr/>
          </p:nvSpPr>
          <p:spPr>
            <a:xfrm>
              <a:off x="9338534" y="2392270"/>
              <a:ext cx="301337" cy="309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F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BD62EB8A-DDA5-4DFE-85E7-719292BC224E}"/>
                </a:ext>
              </a:extLst>
            </p:cNvPr>
            <p:cNvSpPr/>
            <p:nvPr/>
          </p:nvSpPr>
          <p:spPr>
            <a:xfrm>
              <a:off x="9338533" y="3204720"/>
              <a:ext cx="301337" cy="309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G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C9FE424E-CD46-4EDA-8E71-9501D80B750E}"/>
                </a:ext>
              </a:extLst>
            </p:cNvPr>
            <p:cNvSpPr/>
            <p:nvPr/>
          </p:nvSpPr>
          <p:spPr>
            <a:xfrm>
              <a:off x="9338533" y="4017170"/>
              <a:ext cx="301337" cy="309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H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2575CE9E-6758-4FFF-AF3E-EB92CFD65327}"/>
                </a:ext>
              </a:extLst>
            </p:cNvPr>
            <p:cNvSpPr/>
            <p:nvPr/>
          </p:nvSpPr>
          <p:spPr>
            <a:xfrm>
              <a:off x="9338532" y="4829620"/>
              <a:ext cx="301337" cy="309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I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483E83BA-2F87-4FE2-934E-3449ADFCC30E}"/>
                </a:ext>
              </a:extLst>
            </p:cNvPr>
            <p:cNvSpPr/>
            <p:nvPr/>
          </p:nvSpPr>
          <p:spPr>
            <a:xfrm>
              <a:off x="9329305" y="5642070"/>
              <a:ext cx="301337" cy="309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J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8C5B8782-9A20-4810-A991-B35656262892}"/>
              </a:ext>
            </a:extLst>
          </p:cNvPr>
          <p:cNvGrpSpPr/>
          <p:nvPr/>
        </p:nvGrpSpPr>
        <p:grpSpPr>
          <a:xfrm>
            <a:off x="2853466" y="5561357"/>
            <a:ext cx="6475839" cy="470924"/>
            <a:chOff x="2853466" y="5561357"/>
            <a:chExt cx="6475839" cy="470924"/>
          </a:xfrm>
        </p:grpSpPr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098BD722-F606-42C8-83BE-090E0455EE47}"/>
                </a:ext>
              </a:extLst>
            </p:cNvPr>
            <p:cNvCxnSpPr>
              <a:cxnSpLocks/>
              <a:stCxn id="81" idx="3"/>
              <a:endCxn id="86" idx="1"/>
            </p:cNvCxnSpPr>
            <p:nvPr/>
          </p:nvCxnSpPr>
          <p:spPr>
            <a:xfrm>
              <a:off x="2853466" y="5796820"/>
              <a:ext cx="647583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0F5D707-5A47-4827-9FA1-9DFC5E45A81C}"/>
                </a:ext>
              </a:extLst>
            </p:cNvPr>
            <p:cNvSpPr/>
            <p:nvPr/>
          </p:nvSpPr>
          <p:spPr>
            <a:xfrm>
              <a:off x="3284750" y="5561357"/>
              <a:ext cx="5622500" cy="47092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/>
                <a:t>使用物理层协议（例如传统以太网使用曼彻斯特编码）通信</a:t>
              </a:r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AB995BCB-72F8-48CD-B7D5-C29294A434F9}"/>
              </a:ext>
            </a:extLst>
          </p:cNvPr>
          <p:cNvGrpSpPr/>
          <p:nvPr/>
        </p:nvGrpSpPr>
        <p:grpSpPr>
          <a:xfrm>
            <a:off x="2853466" y="2311558"/>
            <a:ext cx="6475839" cy="470924"/>
            <a:chOff x="2853466" y="5561357"/>
            <a:chExt cx="6475839" cy="470924"/>
          </a:xfrm>
        </p:grpSpPr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A918782E-1F60-4841-AFDF-0AAEB752B9B6}"/>
                </a:ext>
              </a:extLst>
            </p:cNvPr>
            <p:cNvCxnSpPr>
              <a:cxnSpLocks/>
            </p:cNvCxnSpPr>
            <p:nvPr/>
          </p:nvCxnSpPr>
          <p:spPr>
            <a:xfrm>
              <a:off x="2853466" y="5796820"/>
              <a:ext cx="647583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D77F2F42-3D72-46DE-A9C5-AF4AEE421F56}"/>
                </a:ext>
              </a:extLst>
            </p:cNvPr>
            <p:cNvSpPr/>
            <p:nvPr/>
          </p:nvSpPr>
          <p:spPr>
            <a:xfrm>
              <a:off x="3284750" y="5561357"/>
              <a:ext cx="5622500" cy="47092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/>
                <a:t>使用应用层协议（例如</a:t>
              </a:r>
              <a:r>
                <a:rPr lang="en-US" altLang="zh-CN" sz="1600" b="1" dirty="0"/>
                <a:t>DHCP</a:t>
              </a:r>
              <a:r>
                <a:rPr lang="zh-CN" altLang="en-US" sz="1600" b="1" dirty="0"/>
                <a:t>、</a:t>
              </a:r>
              <a:r>
                <a:rPr lang="en-US" altLang="zh-CN" sz="1600" b="1" dirty="0"/>
                <a:t>DNS</a:t>
              </a:r>
              <a:r>
                <a:rPr lang="zh-CN" altLang="en-US" sz="1600" b="1" dirty="0"/>
                <a:t>、</a:t>
              </a:r>
              <a:r>
                <a:rPr lang="en-US" altLang="zh-CN" sz="1600" b="1" dirty="0"/>
                <a:t>HTTP</a:t>
              </a:r>
              <a:r>
                <a:rPr lang="zh-CN" altLang="en-US" sz="1600" b="1" dirty="0"/>
                <a:t>、</a:t>
              </a:r>
              <a:r>
                <a:rPr lang="en-US" altLang="zh-CN" sz="1600" b="1" dirty="0"/>
                <a:t>SMTP</a:t>
              </a:r>
              <a:r>
                <a:rPr lang="zh-CN" altLang="en-US" sz="1600" b="1" dirty="0"/>
                <a:t>）通信</a:t>
              </a:r>
            </a:p>
          </p:txBody>
        </p: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4220E973-9962-45D2-8B6C-F9293F41FBD0}"/>
              </a:ext>
            </a:extLst>
          </p:cNvPr>
          <p:cNvGrpSpPr/>
          <p:nvPr/>
        </p:nvGrpSpPr>
        <p:grpSpPr>
          <a:xfrm>
            <a:off x="2853466" y="3124008"/>
            <a:ext cx="6475839" cy="470924"/>
            <a:chOff x="2853466" y="5561357"/>
            <a:chExt cx="6475839" cy="470924"/>
          </a:xfrm>
        </p:grpSpPr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DDDD086F-DECA-4069-894D-A011BC02B9D0}"/>
                </a:ext>
              </a:extLst>
            </p:cNvPr>
            <p:cNvCxnSpPr>
              <a:cxnSpLocks/>
            </p:cNvCxnSpPr>
            <p:nvPr/>
          </p:nvCxnSpPr>
          <p:spPr>
            <a:xfrm>
              <a:off x="2853466" y="5796820"/>
              <a:ext cx="647583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2344BE1C-B401-4C72-AD28-5C6B775F8ECE}"/>
                </a:ext>
              </a:extLst>
            </p:cNvPr>
            <p:cNvSpPr/>
            <p:nvPr/>
          </p:nvSpPr>
          <p:spPr>
            <a:xfrm>
              <a:off x="3284750" y="5561357"/>
              <a:ext cx="5622500" cy="4709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/>
                <a:t>使用运输层协议（例如</a:t>
              </a:r>
              <a:r>
                <a:rPr lang="en-US" altLang="zh-CN" sz="1600" b="1" dirty="0"/>
                <a:t>TCP</a:t>
              </a:r>
              <a:r>
                <a:rPr lang="zh-CN" altLang="en-US" sz="1600" b="1" dirty="0"/>
                <a:t>或</a:t>
              </a:r>
              <a:r>
                <a:rPr lang="en-US" altLang="zh-CN" sz="1600" b="1" dirty="0"/>
                <a:t>UDP</a:t>
              </a:r>
              <a:r>
                <a:rPr lang="zh-CN" altLang="en-US" sz="1600" b="1" dirty="0"/>
                <a:t>）通信</a:t>
              </a:r>
            </a:p>
          </p:txBody>
        </p:sp>
      </p:grp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50A6C26A-399C-458F-A1CC-CE04D62D410D}"/>
              </a:ext>
            </a:extLst>
          </p:cNvPr>
          <p:cNvGrpSpPr/>
          <p:nvPr/>
        </p:nvGrpSpPr>
        <p:grpSpPr>
          <a:xfrm>
            <a:off x="2853466" y="3936458"/>
            <a:ext cx="6475839" cy="470924"/>
            <a:chOff x="2853466" y="5561357"/>
            <a:chExt cx="6475839" cy="470924"/>
          </a:xfrm>
        </p:grpSpPr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935154A7-082D-41FE-A00B-3E81DA9C3B88}"/>
                </a:ext>
              </a:extLst>
            </p:cNvPr>
            <p:cNvCxnSpPr>
              <a:cxnSpLocks/>
            </p:cNvCxnSpPr>
            <p:nvPr/>
          </p:nvCxnSpPr>
          <p:spPr>
            <a:xfrm>
              <a:off x="2853466" y="5796820"/>
              <a:ext cx="647583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DC696E0E-9B62-44B3-B584-E0CBF9C6E23A}"/>
                </a:ext>
              </a:extLst>
            </p:cNvPr>
            <p:cNvSpPr/>
            <p:nvPr/>
          </p:nvSpPr>
          <p:spPr>
            <a:xfrm>
              <a:off x="3284750" y="5561357"/>
              <a:ext cx="5622500" cy="470924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/>
                <a:t>使用网际层协议（例如</a:t>
              </a:r>
              <a:r>
                <a:rPr lang="en-US" altLang="zh-CN" sz="1600" b="1" dirty="0"/>
                <a:t>IP</a:t>
              </a:r>
              <a:r>
                <a:rPr lang="zh-CN" altLang="en-US" sz="1600" b="1" dirty="0"/>
                <a:t>）通信</a:t>
              </a:r>
            </a:p>
          </p:txBody>
        </p: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F023C54F-4301-4F57-B5DF-694231F5EA86}"/>
              </a:ext>
            </a:extLst>
          </p:cNvPr>
          <p:cNvGrpSpPr/>
          <p:nvPr/>
        </p:nvGrpSpPr>
        <p:grpSpPr>
          <a:xfrm>
            <a:off x="2853466" y="4748908"/>
            <a:ext cx="6475839" cy="470924"/>
            <a:chOff x="2853466" y="5561357"/>
            <a:chExt cx="6475839" cy="470924"/>
          </a:xfrm>
        </p:grpSpPr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0539AD8E-79A9-4EBA-989B-6A1E48D13B50}"/>
                </a:ext>
              </a:extLst>
            </p:cNvPr>
            <p:cNvCxnSpPr>
              <a:cxnSpLocks/>
            </p:cNvCxnSpPr>
            <p:nvPr/>
          </p:nvCxnSpPr>
          <p:spPr>
            <a:xfrm>
              <a:off x="2853466" y="5796820"/>
              <a:ext cx="6475839" cy="0"/>
            </a:xfrm>
            <a:prstGeom prst="straightConnector1">
              <a:avLst/>
            </a:prstGeom>
            <a:ln w="76200">
              <a:solidFill>
                <a:schemeClr val="tx1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7A4E9A19-9B49-4389-9762-C40C3E1D6365}"/>
                </a:ext>
              </a:extLst>
            </p:cNvPr>
            <p:cNvSpPr/>
            <p:nvPr/>
          </p:nvSpPr>
          <p:spPr>
            <a:xfrm>
              <a:off x="3284750" y="5561357"/>
              <a:ext cx="5622500" cy="470924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/>
                <a:t>使用链路层协议（例如传统以太网使用</a:t>
              </a:r>
              <a:r>
                <a:rPr lang="en-US" altLang="zh-CN" sz="1600" b="1" dirty="0"/>
                <a:t>CSMA/CD</a:t>
              </a:r>
              <a:r>
                <a:rPr lang="zh-CN" altLang="en-US" sz="1600" b="1" dirty="0"/>
                <a:t>）通信</a:t>
              </a: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B3FA8C07-87CC-44BA-9B97-B6F855D3B244}"/>
              </a:ext>
            </a:extLst>
          </p:cNvPr>
          <p:cNvSpPr/>
          <p:nvPr/>
        </p:nvSpPr>
        <p:spPr>
          <a:xfrm>
            <a:off x="1175439" y="2116411"/>
            <a:ext cx="9864031" cy="828459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5968D06-34E1-4B5E-999E-8D7D2F6A87BD}"/>
              </a:ext>
            </a:extLst>
          </p:cNvPr>
          <p:cNvSpPr/>
          <p:nvPr/>
        </p:nvSpPr>
        <p:spPr>
          <a:xfrm>
            <a:off x="1170083" y="3790077"/>
            <a:ext cx="9864031" cy="243735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790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61" grpId="0" animBg="1"/>
      <p:bldP spid="6" grpId="0" animBg="1"/>
      <p:bldP spid="5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263464" cy="400110"/>
            <a:chOff x="424117" y="898245"/>
            <a:chExt cx="626346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711200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04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12354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计算机网络体系结构中的专用术语</a:t>
              </a:r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E0A531D-A482-4A62-9E67-468F1538B60D}"/>
              </a:ext>
            </a:extLst>
          </p:cNvPr>
          <p:cNvSpPr/>
          <p:nvPr/>
        </p:nvSpPr>
        <p:spPr>
          <a:xfrm>
            <a:off x="5257014" y="727692"/>
            <a:ext cx="1696825" cy="408698"/>
          </a:xfrm>
          <a:prstGeom prst="roundRect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实体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B8B906A-22F0-4816-A5DC-1F7CB6FDF922}"/>
              </a:ext>
            </a:extLst>
          </p:cNvPr>
          <p:cNvSpPr/>
          <p:nvPr/>
        </p:nvSpPr>
        <p:spPr>
          <a:xfrm>
            <a:off x="7345920" y="727692"/>
            <a:ext cx="1696825" cy="408698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协议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373B9E-4D4C-457F-A09D-CEE50B463F4E}"/>
              </a:ext>
            </a:extLst>
          </p:cNvPr>
          <p:cNvSpPr/>
          <p:nvPr/>
        </p:nvSpPr>
        <p:spPr>
          <a:xfrm>
            <a:off x="9434826" y="727692"/>
            <a:ext cx="1696825" cy="408698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服务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E59C2C-CFAF-4AB5-972A-5720278628BC}"/>
              </a:ext>
            </a:extLst>
          </p:cNvPr>
          <p:cNvSpPr/>
          <p:nvPr/>
        </p:nvSpPr>
        <p:spPr>
          <a:xfrm>
            <a:off x="1016000" y="1297642"/>
            <a:ext cx="256976" cy="25697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íşlïḍè">
            <a:extLst>
              <a:ext uri="{FF2B5EF4-FFF2-40B4-BE49-F238E27FC236}">
                <a16:creationId xmlns:a16="http://schemas.microsoft.com/office/drawing/2014/main" id="{4BA97076-69E3-411F-BF77-23FDF614EB0A}"/>
              </a:ext>
            </a:extLst>
          </p:cNvPr>
          <p:cNvSpPr txBox="1"/>
          <p:nvPr/>
        </p:nvSpPr>
        <p:spPr>
          <a:xfrm>
            <a:off x="1293757" y="1216580"/>
            <a:ext cx="7748988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协议</a:t>
            </a:r>
            <a:r>
              <a:rPr lang="zh-CN" altLang="en-US" b="1" dirty="0"/>
              <a:t>是控制两个对等实体在“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水平方向</a:t>
            </a:r>
            <a:r>
              <a:rPr lang="zh-CN" altLang="en-US" b="1" dirty="0"/>
              <a:t>”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CN" altLang="en-US" b="1" dirty="0"/>
              <a:t>进行“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逻辑通信</a:t>
            </a:r>
            <a:r>
              <a:rPr lang="zh-CN" altLang="en-US" b="1" dirty="0"/>
              <a:t>”的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规则</a:t>
            </a:r>
            <a:r>
              <a:rPr lang="zh-CN" altLang="en-US" b="1" dirty="0"/>
              <a:t>的集合。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9DD1A17D-0E53-43A1-9777-72494BD01AEF}"/>
              </a:ext>
            </a:extLst>
          </p:cNvPr>
          <p:cNvSpPr/>
          <p:nvPr/>
        </p:nvSpPr>
        <p:spPr>
          <a:xfrm>
            <a:off x="7345920" y="727692"/>
            <a:ext cx="1696825" cy="408698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协议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880C707-C01E-403A-9D6A-BA438E6CA2DC}"/>
              </a:ext>
            </a:extLst>
          </p:cNvPr>
          <p:cNvSpPr/>
          <p:nvPr/>
        </p:nvSpPr>
        <p:spPr>
          <a:xfrm>
            <a:off x="1016000" y="1655424"/>
            <a:ext cx="256976" cy="25697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íşlïḍè">
            <a:extLst>
              <a:ext uri="{FF2B5EF4-FFF2-40B4-BE49-F238E27FC236}">
                <a16:creationId xmlns:a16="http://schemas.microsoft.com/office/drawing/2014/main" id="{C59F9D30-A71D-40B4-ABFD-CF711342613B}"/>
              </a:ext>
            </a:extLst>
          </p:cNvPr>
          <p:cNvSpPr txBox="1"/>
          <p:nvPr/>
        </p:nvSpPr>
        <p:spPr>
          <a:xfrm>
            <a:off x="1293757" y="1574362"/>
            <a:ext cx="2081039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/>
              <a:t>协议的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三要素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E1C70B4-0C63-4759-B831-E7B6979CB4BE}"/>
              </a:ext>
            </a:extLst>
          </p:cNvPr>
          <p:cNvSpPr/>
          <p:nvPr/>
        </p:nvSpPr>
        <p:spPr>
          <a:xfrm>
            <a:off x="1404951" y="2074524"/>
            <a:ext cx="256976" cy="25697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íşlïḍè">
            <a:extLst>
              <a:ext uri="{FF2B5EF4-FFF2-40B4-BE49-F238E27FC236}">
                <a16:creationId xmlns:a16="http://schemas.microsoft.com/office/drawing/2014/main" id="{C2C9A1F1-A64E-48DC-830A-C4A0FF09ECC2}"/>
              </a:ext>
            </a:extLst>
          </p:cNvPr>
          <p:cNvSpPr txBox="1"/>
          <p:nvPr/>
        </p:nvSpPr>
        <p:spPr>
          <a:xfrm>
            <a:off x="1682709" y="1993462"/>
            <a:ext cx="673992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语法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3" name="íşlïḍè">
            <a:extLst>
              <a:ext uri="{FF2B5EF4-FFF2-40B4-BE49-F238E27FC236}">
                <a16:creationId xmlns:a16="http://schemas.microsoft.com/office/drawing/2014/main" id="{882B2F4C-205F-48BC-8ED2-2ED49A13F374}"/>
              </a:ext>
            </a:extLst>
          </p:cNvPr>
          <p:cNvSpPr txBox="1"/>
          <p:nvPr/>
        </p:nvSpPr>
        <p:spPr>
          <a:xfrm>
            <a:off x="2263992" y="1993462"/>
            <a:ext cx="2505435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/>
              <a:t>定义所交换信息的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格式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3761425-8B44-4B0C-ABA5-438CFDA4263D}"/>
              </a:ext>
            </a:extLst>
          </p:cNvPr>
          <p:cNvSpPr/>
          <p:nvPr/>
        </p:nvSpPr>
        <p:spPr>
          <a:xfrm>
            <a:off x="1404951" y="2493624"/>
            <a:ext cx="256976" cy="25697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íşlïḍè">
            <a:extLst>
              <a:ext uri="{FF2B5EF4-FFF2-40B4-BE49-F238E27FC236}">
                <a16:creationId xmlns:a16="http://schemas.microsoft.com/office/drawing/2014/main" id="{8C4D7C89-C745-4153-A6F6-998A51A8F0F7}"/>
              </a:ext>
            </a:extLst>
          </p:cNvPr>
          <p:cNvSpPr txBox="1"/>
          <p:nvPr/>
        </p:nvSpPr>
        <p:spPr>
          <a:xfrm>
            <a:off x="1682709" y="2412562"/>
            <a:ext cx="673992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语义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6" name="íşlïḍè">
            <a:extLst>
              <a:ext uri="{FF2B5EF4-FFF2-40B4-BE49-F238E27FC236}">
                <a16:creationId xmlns:a16="http://schemas.microsoft.com/office/drawing/2014/main" id="{16C7D102-EE27-4044-9FFA-DEE8E85C8B84}"/>
              </a:ext>
            </a:extLst>
          </p:cNvPr>
          <p:cNvSpPr txBox="1"/>
          <p:nvPr/>
        </p:nvSpPr>
        <p:spPr>
          <a:xfrm>
            <a:off x="2263992" y="2412562"/>
            <a:ext cx="3218254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/>
              <a:t>定义通信双方所要完成的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操作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920F272-4BA9-4B04-A1D1-DF200B472DA4}"/>
              </a:ext>
            </a:extLst>
          </p:cNvPr>
          <p:cNvSpPr/>
          <p:nvPr/>
        </p:nvSpPr>
        <p:spPr>
          <a:xfrm>
            <a:off x="1404951" y="2912724"/>
            <a:ext cx="256976" cy="25697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íşlïḍè">
            <a:extLst>
              <a:ext uri="{FF2B5EF4-FFF2-40B4-BE49-F238E27FC236}">
                <a16:creationId xmlns:a16="http://schemas.microsoft.com/office/drawing/2014/main" id="{46D1974E-30DD-46BC-8AEC-BAA79C7B2F6E}"/>
              </a:ext>
            </a:extLst>
          </p:cNvPr>
          <p:cNvSpPr txBox="1"/>
          <p:nvPr/>
        </p:nvSpPr>
        <p:spPr>
          <a:xfrm>
            <a:off x="1682709" y="2831662"/>
            <a:ext cx="673992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同步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E4531AC-F18F-4DCE-A7F7-85E02D75A621}"/>
              </a:ext>
            </a:extLst>
          </p:cNvPr>
          <p:cNvGrpSpPr/>
          <p:nvPr/>
        </p:nvGrpSpPr>
        <p:grpSpPr>
          <a:xfrm>
            <a:off x="6188041" y="2331500"/>
            <a:ext cx="5252588" cy="3792811"/>
            <a:chOff x="6188041" y="2331500"/>
            <a:chExt cx="5252588" cy="3792811"/>
          </a:xfrm>
        </p:grpSpPr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4887EEE6-55EA-4C19-AFAA-FC8ECBC64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36815" y="2798725"/>
              <a:ext cx="650437" cy="629109"/>
            </a:xfrm>
            <a:prstGeom prst="rect">
              <a:avLst/>
            </a:prstGeom>
          </p:spPr>
        </p:pic>
        <p:pic>
          <p:nvPicPr>
            <p:cNvPr id="24" name="图形 23">
              <a:extLst>
                <a:ext uri="{FF2B5EF4-FFF2-40B4-BE49-F238E27FC236}">
                  <a16:creationId xmlns:a16="http://schemas.microsoft.com/office/drawing/2014/main" id="{16324622-EF03-464D-80ED-7683411CF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47190" y="2774663"/>
              <a:ext cx="479320" cy="629108"/>
            </a:xfrm>
            <a:prstGeom prst="rect">
              <a:avLst/>
            </a:prstGeom>
          </p:spPr>
        </p:pic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8CCE9A82-19CC-4589-9E92-DDDDC54ED2C5}"/>
                </a:ext>
              </a:extLst>
            </p:cNvPr>
            <p:cNvCxnSpPr>
              <a:cxnSpLocks/>
            </p:cNvCxnSpPr>
            <p:nvPr/>
          </p:nvCxnSpPr>
          <p:spPr>
            <a:xfrm>
              <a:off x="6862033" y="3427834"/>
              <a:ext cx="0" cy="266123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íşlïḍè">
              <a:extLst>
                <a:ext uri="{FF2B5EF4-FFF2-40B4-BE49-F238E27FC236}">
                  <a16:creationId xmlns:a16="http://schemas.microsoft.com/office/drawing/2014/main" id="{7D1B5392-DB05-4507-B5BC-2753C97474DB}"/>
                </a:ext>
              </a:extLst>
            </p:cNvPr>
            <p:cNvSpPr txBox="1"/>
            <p:nvPr/>
          </p:nvSpPr>
          <p:spPr>
            <a:xfrm>
              <a:off x="6525037" y="2331500"/>
              <a:ext cx="673992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zh-CN" altLang="en-US" b="1" dirty="0"/>
                <a:t>主机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8" name="íşlïḍè">
              <a:extLst>
                <a:ext uri="{FF2B5EF4-FFF2-40B4-BE49-F238E27FC236}">
                  <a16:creationId xmlns:a16="http://schemas.microsoft.com/office/drawing/2014/main" id="{A3F494AE-9F77-4E57-A093-AEC49713F3BC}"/>
                </a:ext>
              </a:extLst>
            </p:cNvPr>
            <p:cNvSpPr txBox="1"/>
            <p:nvPr/>
          </p:nvSpPr>
          <p:spPr>
            <a:xfrm>
              <a:off x="10098031" y="2331500"/>
              <a:ext cx="1337213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en-US" altLang="zh-CN" b="1" dirty="0"/>
                <a:t>Web</a:t>
              </a:r>
              <a:r>
                <a:rPr lang="zh-CN" altLang="en-US" b="1" dirty="0"/>
                <a:t>服务器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9" name="íşlïḍè">
              <a:extLst>
                <a:ext uri="{FF2B5EF4-FFF2-40B4-BE49-F238E27FC236}">
                  <a16:creationId xmlns:a16="http://schemas.microsoft.com/office/drawing/2014/main" id="{13F23477-CC87-4E3E-97F1-A2F91836533F}"/>
                </a:ext>
              </a:extLst>
            </p:cNvPr>
            <p:cNvSpPr txBox="1"/>
            <p:nvPr/>
          </p:nvSpPr>
          <p:spPr>
            <a:xfrm>
              <a:off x="6188041" y="5705211"/>
              <a:ext cx="673992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zh-CN" altLang="en-US" b="1" dirty="0"/>
                <a:t>时间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0" name="íşlïḍè">
              <a:extLst>
                <a:ext uri="{FF2B5EF4-FFF2-40B4-BE49-F238E27FC236}">
                  <a16:creationId xmlns:a16="http://schemas.microsoft.com/office/drawing/2014/main" id="{FA68D299-89E5-422C-81C8-9C936DA495F7}"/>
                </a:ext>
              </a:extLst>
            </p:cNvPr>
            <p:cNvSpPr txBox="1"/>
            <p:nvPr/>
          </p:nvSpPr>
          <p:spPr>
            <a:xfrm>
              <a:off x="10766637" y="5705211"/>
              <a:ext cx="673992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zh-CN" altLang="en-US" b="1" dirty="0"/>
                <a:t>时间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887ADC9E-6219-4373-B4AE-2CE07AF6A2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25073" y="3427834"/>
              <a:ext cx="0" cy="266123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标注: 右箭头 8">
            <a:extLst>
              <a:ext uri="{FF2B5EF4-FFF2-40B4-BE49-F238E27FC236}">
                <a16:creationId xmlns:a16="http://schemas.microsoft.com/office/drawing/2014/main" id="{1A163877-382F-418D-96AF-85666572CA15}"/>
              </a:ext>
            </a:extLst>
          </p:cNvPr>
          <p:cNvSpPr/>
          <p:nvPr/>
        </p:nvSpPr>
        <p:spPr>
          <a:xfrm>
            <a:off x="6933532" y="3777067"/>
            <a:ext cx="2459243" cy="419100"/>
          </a:xfrm>
          <a:prstGeom prst="rightArrowCallout">
            <a:avLst>
              <a:gd name="adj1" fmla="val 25000"/>
              <a:gd name="adj2" fmla="val 25000"/>
              <a:gd name="adj3" fmla="val 25000"/>
              <a:gd name="adj4" fmla="val 89718"/>
            </a:avLst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HTTP</a:t>
            </a:r>
            <a:r>
              <a:rPr lang="zh-CN" altLang="en-US" b="1" dirty="0"/>
              <a:t>的</a:t>
            </a:r>
            <a:r>
              <a:rPr lang="en-US" altLang="zh-CN" b="1" dirty="0"/>
              <a:t>GET</a:t>
            </a:r>
            <a:r>
              <a:rPr lang="zh-CN" altLang="en-US" b="1" dirty="0"/>
              <a:t>请求报文</a:t>
            </a:r>
          </a:p>
        </p:txBody>
      </p:sp>
      <p:sp>
        <p:nvSpPr>
          <p:cNvPr id="14" name="标注: 左箭头 13">
            <a:extLst>
              <a:ext uri="{FF2B5EF4-FFF2-40B4-BE49-F238E27FC236}">
                <a16:creationId xmlns:a16="http://schemas.microsoft.com/office/drawing/2014/main" id="{1739CC86-9F05-4338-B08F-B5C235444B68}"/>
              </a:ext>
            </a:extLst>
          </p:cNvPr>
          <p:cNvSpPr/>
          <p:nvPr/>
        </p:nvSpPr>
        <p:spPr>
          <a:xfrm>
            <a:off x="8172589" y="4743755"/>
            <a:ext cx="2480986" cy="41910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6756"/>
            </a:avLst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HTTP</a:t>
            </a:r>
            <a:r>
              <a:rPr lang="zh-CN" altLang="en-US" b="1" dirty="0"/>
              <a:t>的响应报文</a:t>
            </a:r>
          </a:p>
        </p:txBody>
      </p:sp>
      <p:sp>
        <p:nvSpPr>
          <p:cNvPr id="37" name="íşlïḍè">
            <a:extLst>
              <a:ext uri="{FF2B5EF4-FFF2-40B4-BE49-F238E27FC236}">
                <a16:creationId xmlns:a16="http://schemas.microsoft.com/office/drawing/2014/main" id="{2705B76B-B111-4324-9ADC-08B9F9584BBE}"/>
              </a:ext>
            </a:extLst>
          </p:cNvPr>
          <p:cNvSpPr txBox="1"/>
          <p:nvPr/>
        </p:nvSpPr>
        <p:spPr>
          <a:xfrm>
            <a:off x="2263992" y="2831662"/>
            <a:ext cx="3218254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/>
              <a:t>定义通信双方的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时序关系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804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Rot by="21600000">
                                      <p:cBhvr>
                                        <p:cTn id="6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5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8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Rot by="21600000">
                                      <p:cBhvr>
                                        <p:cTn id="33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uild="allAtOnce"/>
      <p:bldP spid="56" grpId="0"/>
      <p:bldP spid="59" grpId="0" build="allAtOnce"/>
      <p:bldP spid="9" grpId="0" animBg="1"/>
      <p:bldP spid="14" grpId="0" animBg="1"/>
      <p:bldP spid="3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íşlïḍè">
            <a:extLst>
              <a:ext uri="{FF2B5EF4-FFF2-40B4-BE49-F238E27FC236}">
                <a16:creationId xmlns:a16="http://schemas.microsoft.com/office/drawing/2014/main" id="{4BA97076-69E3-411F-BF77-23FDF614EB0A}"/>
              </a:ext>
            </a:extLst>
          </p:cNvPr>
          <p:cNvSpPr txBox="1"/>
          <p:nvPr/>
        </p:nvSpPr>
        <p:spPr>
          <a:xfrm>
            <a:off x="930957" y="1061358"/>
            <a:ext cx="10593442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/>
              <a:t>上层要使用下层所提供的服务，必须通过与下层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交换一些命令</a:t>
            </a:r>
            <a:r>
              <a:rPr lang="zh-CN" altLang="en-US" b="1" dirty="0"/>
              <a:t>，这些命令称为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服务原语</a:t>
            </a:r>
            <a:r>
              <a:rPr lang="zh-CN" altLang="en-US" b="1" dirty="0"/>
              <a:t>。</a:t>
            </a:r>
            <a:endParaRPr lang="en-US" altLang="zh-CN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17FD526-7003-42BF-9DBC-74784350B48E}"/>
              </a:ext>
            </a:extLst>
          </p:cNvPr>
          <p:cNvGrpSpPr/>
          <p:nvPr/>
        </p:nvGrpSpPr>
        <p:grpSpPr>
          <a:xfrm>
            <a:off x="1272976" y="2140795"/>
            <a:ext cx="1615697" cy="4062250"/>
            <a:chOff x="1272976" y="2208576"/>
            <a:chExt cx="1615697" cy="406225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475EFD0-C6A2-4E39-A5E6-EB76461F07E4}"/>
                </a:ext>
              </a:extLst>
            </p:cNvPr>
            <p:cNvSpPr/>
            <p:nvPr/>
          </p:nvSpPr>
          <p:spPr>
            <a:xfrm>
              <a:off x="1272976" y="5458376"/>
              <a:ext cx="1615697" cy="81245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/>
                <a:t>物</a:t>
              </a:r>
              <a:endParaRPr lang="en-US" altLang="zh-CN" sz="1600" b="1" dirty="0"/>
            </a:p>
            <a:p>
              <a:r>
                <a:rPr lang="zh-CN" altLang="en-US" sz="1600" b="1" dirty="0"/>
                <a:t>理</a:t>
              </a:r>
              <a:endParaRPr lang="en-US" altLang="zh-CN" sz="1600" b="1" dirty="0"/>
            </a:p>
            <a:p>
              <a:r>
                <a:rPr lang="zh-CN" altLang="en-US" sz="1600" b="1" dirty="0"/>
                <a:t>层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2D1F6EF-D6FB-4D4E-AB50-CF503E172BF0}"/>
                </a:ext>
              </a:extLst>
            </p:cNvPr>
            <p:cNvSpPr/>
            <p:nvPr/>
          </p:nvSpPr>
          <p:spPr>
            <a:xfrm>
              <a:off x="1272976" y="4645926"/>
              <a:ext cx="1615697" cy="81245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/>
                <a:t>链</a:t>
              </a:r>
              <a:endParaRPr lang="en-US" altLang="zh-CN" sz="1600" b="1" dirty="0"/>
            </a:p>
            <a:p>
              <a:r>
                <a:rPr lang="zh-CN" altLang="en-US" sz="1600" b="1" dirty="0"/>
                <a:t>路</a:t>
              </a:r>
              <a:endParaRPr lang="en-US" altLang="zh-CN" sz="1600" b="1" dirty="0"/>
            </a:p>
            <a:p>
              <a:r>
                <a:rPr lang="zh-CN" altLang="en-US" sz="1600" b="1" dirty="0"/>
                <a:t>层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0F1A246-E262-42B2-B2D4-7F26636D6722}"/>
                </a:ext>
              </a:extLst>
            </p:cNvPr>
            <p:cNvSpPr/>
            <p:nvPr/>
          </p:nvSpPr>
          <p:spPr>
            <a:xfrm>
              <a:off x="1272976" y="3833476"/>
              <a:ext cx="1615697" cy="81245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/>
                <a:t>网</a:t>
              </a:r>
              <a:endParaRPr lang="en-US" altLang="zh-CN" sz="1600" b="1" dirty="0"/>
            </a:p>
            <a:p>
              <a:r>
                <a:rPr lang="zh-CN" altLang="en-US" sz="1600" b="1" dirty="0"/>
                <a:t>络</a:t>
              </a:r>
              <a:endParaRPr lang="en-US" altLang="zh-CN" sz="1600" b="1" dirty="0"/>
            </a:p>
            <a:p>
              <a:r>
                <a:rPr lang="zh-CN" altLang="en-US" sz="1600" b="1" dirty="0"/>
                <a:t>层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0411867-9818-44AD-8E20-1B6EF8C325AB}"/>
                </a:ext>
              </a:extLst>
            </p:cNvPr>
            <p:cNvSpPr/>
            <p:nvPr/>
          </p:nvSpPr>
          <p:spPr>
            <a:xfrm>
              <a:off x="1272976" y="3021026"/>
              <a:ext cx="1615697" cy="81245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/>
                <a:t>运</a:t>
              </a:r>
              <a:endParaRPr lang="en-US" altLang="zh-CN" sz="1600" b="1" dirty="0"/>
            </a:p>
            <a:p>
              <a:r>
                <a:rPr lang="zh-CN" altLang="en-US" sz="1600" b="1" dirty="0"/>
                <a:t>输</a:t>
              </a:r>
              <a:endParaRPr lang="en-US" altLang="zh-CN" sz="1600" b="1" dirty="0"/>
            </a:p>
            <a:p>
              <a:r>
                <a:rPr lang="zh-CN" altLang="en-US" sz="1600" b="1" dirty="0"/>
                <a:t>层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27547E4-18A2-4A10-98FD-9D40D53728C5}"/>
                </a:ext>
              </a:extLst>
            </p:cNvPr>
            <p:cNvSpPr/>
            <p:nvPr/>
          </p:nvSpPr>
          <p:spPr>
            <a:xfrm>
              <a:off x="1272976" y="2208576"/>
              <a:ext cx="1615697" cy="81245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600" b="1" dirty="0"/>
                <a:t>应</a:t>
              </a:r>
              <a:endParaRPr lang="en-US" altLang="zh-CN" sz="1600" b="1" dirty="0"/>
            </a:p>
            <a:p>
              <a:r>
                <a:rPr lang="zh-CN" altLang="en-US" sz="1600" b="1" dirty="0"/>
                <a:t>用</a:t>
              </a:r>
              <a:endParaRPr lang="en-US" altLang="zh-CN" sz="1600" b="1" dirty="0"/>
            </a:p>
            <a:p>
              <a:r>
                <a:rPr lang="zh-CN" altLang="en-US" sz="1600" b="1" dirty="0"/>
                <a:t>层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731CA2F-E01C-4783-9D40-24534578BFE1}"/>
              </a:ext>
            </a:extLst>
          </p:cNvPr>
          <p:cNvGrpSpPr/>
          <p:nvPr/>
        </p:nvGrpSpPr>
        <p:grpSpPr>
          <a:xfrm>
            <a:off x="9303327" y="2140795"/>
            <a:ext cx="1615697" cy="4062250"/>
            <a:chOff x="1272976" y="2208576"/>
            <a:chExt cx="1615697" cy="4062250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8532FF05-C538-426C-8D1B-FA4EC45782F7}"/>
                </a:ext>
              </a:extLst>
            </p:cNvPr>
            <p:cNvSpPr/>
            <p:nvPr/>
          </p:nvSpPr>
          <p:spPr>
            <a:xfrm>
              <a:off x="1272976" y="5458376"/>
              <a:ext cx="1615697" cy="81245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600" b="1" dirty="0"/>
                <a:t>物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理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层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2F7EEE7-1ED7-492E-9484-FBB615B5D4A1}"/>
                </a:ext>
              </a:extLst>
            </p:cNvPr>
            <p:cNvSpPr/>
            <p:nvPr/>
          </p:nvSpPr>
          <p:spPr>
            <a:xfrm>
              <a:off x="1272976" y="4645926"/>
              <a:ext cx="1615697" cy="81245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600" b="1" dirty="0"/>
                <a:t>链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路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层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95C399A-227F-4CBC-9F46-BC4696BC0C35}"/>
                </a:ext>
              </a:extLst>
            </p:cNvPr>
            <p:cNvSpPr/>
            <p:nvPr/>
          </p:nvSpPr>
          <p:spPr>
            <a:xfrm>
              <a:off x="1272976" y="3833476"/>
              <a:ext cx="1615697" cy="81245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600" b="1" dirty="0"/>
                <a:t>网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络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层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30BBD26-2078-403D-9C1D-5ADA1C308328}"/>
                </a:ext>
              </a:extLst>
            </p:cNvPr>
            <p:cNvSpPr/>
            <p:nvPr/>
          </p:nvSpPr>
          <p:spPr>
            <a:xfrm>
              <a:off x="1272976" y="3021026"/>
              <a:ext cx="1615697" cy="81245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600" b="1" dirty="0"/>
                <a:t>运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输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层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C345A29-A536-4D85-B757-FA3E7D76D9F0}"/>
                </a:ext>
              </a:extLst>
            </p:cNvPr>
            <p:cNvSpPr/>
            <p:nvPr/>
          </p:nvSpPr>
          <p:spPr>
            <a:xfrm>
              <a:off x="1272976" y="2208576"/>
              <a:ext cx="1615697" cy="81245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600" b="1" dirty="0"/>
                <a:t>应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用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层</a:t>
              </a: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89F5E2CE-E8F9-4F91-B7BA-DA244AD9D48C}"/>
              </a:ext>
            </a:extLst>
          </p:cNvPr>
          <p:cNvSpPr/>
          <p:nvPr/>
        </p:nvSpPr>
        <p:spPr>
          <a:xfrm>
            <a:off x="2561358" y="239227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A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1054F15-C8EA-4EE0-B7E5-CE13AAB1CB62}"/>
              </a:ext>
            </a:extLst>
          </p:cNvPr>
          <p:cNvSpPr/>
          <p:nvPr/>
        </p:nvSpPr>
        <p:spPr>
          <a:xfrm>
            <a:off x="2561357" y="320472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B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21F786E-000C-449E-B91E-8B11E37AD027}"/>
              </a:ext>
            </a:extLst>
          </p:cNvPr>
          <p:cNvSpPr/>
          <p:nvPr/>
        </p:nvSpPr>
        <p:spPr>
          <a:xfrm>
            <a:off x="2561357" y="401717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C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B39520A-AED0-4477-9B8A-0BC045529FF1}"/>
              </a:ext>
            </a:extLst>
          </p:cNvPr>
          <p:cNvSpPr/>
          <p:nvPr/>
        </p:nvSpPr>
        <p:spPr>
          <a:xfrm>
            <a:off x="2561356" y="482962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D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8B9EDDA-1B45-4A27-B713-F6CFD44BC8E6}"/>
              </a:ext>
            </a:extLst>
          </p:cNvPr>
          <p:cNvSpPr/>
          <p:nvPr/>
        </p:nvSpPr>
        <p:spPr>
          <a:xfrm>
            <a:off x="2552129" y="564207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E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0D647F3-610B-475B-AF5F-4BB005B5C5EF}"/>
              </a:ext>
            </a:extLst>
          </p:cNvPr>
          <p:cNvSpPr/>
          <p:nvPr/>
        </p:nvSpPr>
        <p:spPr>
          <a:xfrm>
            <a:off x="9338534" y="239227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F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A5CB563-0162-4185-AE73-04B3B55D20E8}"/>
              </a:ext>
            </a:extLst>
          </p:cNvPr>
          <p:cNvSpPr/>
          <p:nvPr/>
        </p:nvSpPr>
        <p:spPr>
          <a:xfrm>
            <a:off x="9338533" y="320472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G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30CB170-A571-4F1F-B298-D24F6EED45E3}"/>
              </a:ext>
            </a:extLst>
          </p:cNvPr>
          <p:cNvSpPr/>
          <p:nvPr/>
        </p:nvSpPr>
        <p:spPr>
          <a:xfrm>
            <a:off x="9338533" y="401717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H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E3B497F-CA68-4DBB-9483-34210A87B3A6}"/>
              </a:ext>
            </a:extLst>
          </p:cNvPr>
          <p:cNvSpPr/>
          <p:nvPr/>
        </p:nvSpPr>
        <p:spPr>
          <a:xfrm>
            <a:off x="9338532" y="482962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I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60BCB8C-EA86-43D5-BD32-49213CE9DE31}"/>
              </a:ext>
            </a:extLst>
          </p:cNvPr>
          <p:cNvSpPr/>
          <p:nvPr/>
        </p:nvSpPr>
        <p:spPr>
          <a:xfrm>
            <a:off x="9329305" y="564207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J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73D32D7-53EF-483F-9675-591299F21530}"/>
              </a:ext>
            </a:extLst>
          </p:cNvPr>
          <p:cNvGrpSpPr/>
          <p:nvPr/>
        </p:nvGrpSpPr>
        <p:grpSpPr>
          <a:xfrm>
            <a:off x="2862893" y="2336353"/>
            <a:ext cx="6475839" cy="3664159"/>
            <a:chOff x="2862893" y="2336353"/>
            <a:chExt cx="6475839" cy="3664159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9CDA1A6-9F52-4C4F-988A-4295E863619A}"/>
                </a:ext>
              </a:extLst>
            </p:cNvPr>
            <p:cNvGrpSpPr/>
            <p:nvPr/>
          </p:nvGrpSpPr>
          <p:grpSpPr>
            <a:xfrm>
              <a:off x="2862893" y="5581412"/>
              <a:ext cx="6475839" cy="419100"/>
              <a:chOff x="2853466" y="5581412"/>
              <a:chExt cx="6475839" cy="419100"/>
            </a:xfrm>
          </p:grpSpPr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973F2F7B-8725-44EF-BEC2-0E9ADD8EE117}"/>
                  </a:ext>
                </a:extLst>
              </p:cNvPr>
              <p:cNvCxnSpPr>
                <a:cxnSpLocks/>
                <a:stCxn id="37" idx="3"/>
                <a:endCxn id="42" idx="1"/>
              </p:cNvCxnSpPr>
              <p:nvPr/>
            </p:nvCxnSpPr>
            <p:spPr>
              <a:xfrm>
                <a:off x="2853466" y="5796820"/>
                <a:ext cx="6475839" cy="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prstDash val="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íşlïḍè">
                <a:extLst>
                  <a:ext uri="{FF2B5EF4-FFF2-40B4-BE49-F238E27FC236}">
                    <a16:creationId xmlns:a16="http://schemas.microsoft.com/office/drawing/2014/main" id="{5C405943-F01C-4735-8DA0-DBADBA58FCA4}"/>
                  </a:ext>
                </a:extLst>
              </p:cNvPr>
              <p:cNvSpPr txBox="1"/>
              <p:nvPr/>
            </p:nvSpPr>
            <p:spPr>
              <a:xfrm>
                <a:off x="4439910" y="5581412"/>
                <a:ext cx="3331034" cy="4191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  <a:r>
                  <a:rPr lang="zh-CN" altLang="en-US" sz="1600" b="1" dirty="0"/>
                  <a:t>使用物理层协议进行通信</a:t>
                </a:r>
                <a:endParaRPr lang="en-US" altLang="zh-CN" sz="1600" b="1" dirty="0"/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615565B8-F72D-4D56-B62F-DD4936ACEA2C}"/>
                </a:ext>
              </a:extLst>
            </p:cNvPr>
            <p:cNvGrpSpPr/>
            <p:nvPr/>
          </p:nvGrpSpPr>
          <p:grpSpPr>
            <a:xfrm>
              <a:off x="2862893" y="4770148"/>
              <a:ext cx="6475839" cy="419100"/>
              <a:chOff x="2862693" y="4768653"/>
              <a:chExt cx="6475839" cy="419100"/>
            </a:xfrm>
          </p:grpSpPr>
          <p:cxnSp>
            <p:nvCxnSpPr>
              <p:cNvPr id="63" name="直接箭头连接符 62">
                <a:extLst>
                  <a:ext uri="{FF2B5EF4-FFF2-40B4-BE49-F238E27FC236}">
                    <a16:creationId xmlns:a16="http://schemas.microsoft.com/office/drawing/2014/main" id="{9E5BBA77-2D84-4E5A-997C-5CEA9ACB46D5}"/>
                  </a:ext>
                </a:extLst>
              </p:cNvPr>
              <p:cNvCxnSpPr>
                <a:cxnSpLocks/>
                <a:stCxn id="36" idx="3"/>
                <a:endCxn id="41" idx="1"/>
              </p:cNvCxnSpPr>
              <p:nvPr/>
            </p:nvCxnSpPr>
            <p:spPr>
              <a:xfrm>
                <a:off x="2862693" y="4984370"/>
                <a:ext cx="6475839" cy="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prstDash val="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íşlïḍè">
                <a:extLst>
                  <a:ext uri="{FF2B5EF4-FFF2-40B4-BE49-F238E27FC236}">
                    <a16:creationId xmlns:a16="http://schemas.microsoft.com/office/drawing/2014/main" id="{683E2FB1-C9C9-47EC-9DC5-0CEC0A85C49E}"/>
                  </a:ext>
                </a:extLst>
              </p:cNvPr>
              <p:cNvSpPr txBox="1"/>
              <p:nvPr/>
            </p:nvSpPr>
            <p:spPr>
              <a:xfrm>
                <a:off x="4435295" y="4768653"/>
                <a:ext cx="3331034" cy="4191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  <a:r>
                  <a:rPr lang="zh-CN" altLang="en-US" sz="1600" b="1" dirty="0"/>
                  <a:t>实现链路层协议并进行逻辑通信</a:t>
                </a:r>
                <a:endParaRPr lang="en-US" altLang="zh-CN" sz="1600" b="1" dirty="0"/>
              </a:p>
              <a:p>
                <a:pPr algn="ctr"/>
                <a:r>
                  <a:rPr lang="zh-CN" altLang="en-US" sz="1600" b="1" dirty="0"/>
                  <a:t>“享受”物理层提供的服务</a:t>
                </a:r>
                <a:endParaRPr lang="en-US" altLang="zh-CN" sz="1600" b="1" dirty="0"/>
              </a:p>
            </p:txBody>
          </p: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4A0DF6B3-34CF-4265-BED4-933E155B0749}"/>
                </a:ext>
              </a:extLst>
            </p:cNvPr>
            <p:cNvGrpSpPr/>
            <p:nvPr/>
          </p:nvGrpSpPr>
          <p:grpSpPr>
            <a:xfrm>
              <a:off x="2862893" y="3958883"/>
              <a:ext cx="6475839" cy="419100"/>
              <a:chOff x="2862693" y="4768653"/>
              <a:chExt cx="6475839" cy="419100"/>
            </a:xfrm>
          </p:grpSpPr>
          <p:cxnSp>
            <p:nvCxnSpPr>
              <p:cNvPr id="65" name="直接箭头连接符 64">
                <a:extLst>
                  <a:ext uri="{FF2B5EF4-FFF2-40B4-BE49-F238E27FC236}">
                    <a16:creationId xmlns:a16="http://schemas.microsoft.com/office/drawing/2014/main" id="{7F867F8E-366B-4C56-8F77-1C65EB0D8E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2693" y="4984370"/>
                <a:ext cx="6475839" cy="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prstDash val="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íşlïḍè">
                <a:extLst>
                  <a:ext uri="{FF2B5EF4-FFF2-40B4-BE49-F238E27FC236}">
                    <a16:creationId xmlns:a16="http://schemas.microsoft.com/office/drawing/2014/main" id="{D084BBEE-DEAB-4109-AC2D-56673616EE86}"/>
                  </a:ext>
                </a:extLst>
              </p:cNvPr>
              <p:cNvSpPr txBox="1"/>
              <p:nvPr/>
            </p:nvSpPr>
            <p:spPr>
              <a:xfrm>
                <a:off x="4435295" y="4768653"/>
                <a:ext cx="3331034" cy="4191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  <a:r>
                  <a:rPr lang="zh-CN" altLang="en-US" sz="1600" b="1" dirty="0"/>
                  <a:t>实现网络层协议并进行逻辑通信</a:t>
                </a:r>
                <a:endParaRPr lang="en-US" altLang="zh-CN" sz="1600" b="1" dirty="0"/>
              </a:p>
              <a:p>
                <a:pPr algn="ctr"/>
                <a:r>
                  <a:rPr lang="zh-CN" altLang="en-US" sz="1600" b="1" dirty="0"/>
                  <a:t>“享受”链路层提供的服务</a:t>
                </a:r>
                <a:endParaRPr lang="en-US" altLang="zh-CN" sz="1600" b="1" dirty="0"/>
              </a:p>
            </p:txBody>
          </p: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7F94D2C3-21BF-4809-B73D-57E0AD10803F}"/>
                </a:ext>
              </a:extLst>
            </p:cNvPr>
            <p:cNvGrpSpPr/>
            <p:nvPr/>
          </p:nvGrpSpPr>
          <p:grpSpPr>
            <a:xfrm>
              <a:off x="2862893" y="3147618"/>
              <a:ext cx="6475839" cy="419100"/>
              <a:chOff x="2862693" y="4768653"/>
              <a:chExt cx="6475839" cy="419100"/>
            </a:xfrm>
          </p:grpSpPr>
          <p:cxnSp>
            <p:nvCxnSpPr>
              <p:cNvPr id="69" name="直接箭头连接符 68">
                <a:extLst>
                  <a:ext uri="{FF2B5EF4-FFF2-40B4-BE49-F238E27FC236}">
                    <a16:creationId xmlns:a16="http://schemas.microsoft.com/office/drawing/2014/main" id="{8EDC5967-2F58-4DAA-B11B-537892250D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2693" y="4984370"/>
                <a:ext cx="6475839" cy="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prstDash val="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íşlïḍè">
                <a:extLst>
                  <a:ext uri="{FF2B5EF4-FFF2-40B4-BE49-F238E27FC236}">
                    <a16:creationId xmlns:a16="http://schemas.microsoft.com/office/drawing/2014/main" id="{DFBA56BE-19B3-4ED1-A395-950B6C573AA2}"/>
                  </a:ext>
                </a:extLst>
              </p:cNvPr>
              <p:cNvSpPr txBox="1"/>
              <p:nvPr/>
            </p:nvSpPr>
            <p:spPr>
              <a:xfrm>
                <a:off x="4435295" y="4768653"/>
                <a:ext cx="3331034" cy="4191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  <a:r>
                  <a:rPr lang="zh-CN" altLang="en-US" sz="1600" b="1" dirty="0"/>
                  <a:t>实现运输层协议并进行逻辑通信</a:t>
                </a:r>
                <a:endParaRPr lang="en-US" altLang="zh-CN" sz="1600" b="1" dirty="0"/>
              </a:p>
              <a:p>
                <a:pPr algn="ctr"/>
                <a:r>
                  <a:rPr lang="zh-CN" altLang="en-US" sz="1600" b="1" dirty="0"/>
                  <a:t>“享受”网络层提供的服务</a:t>
                </a:r>
                <a:endParaRPr lang="en-US" altLang="zh-CN" sz="1600" b="1" dirty="0"/>
              </a:p>
            </p:txBody>
          </p: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83743649-448E-459C-8993-4FF440104EB2}"/>
                </a:ext>
              </a:extLst>
            </p:cNvPr>
            <p:cNvGrpSpPr/>
            <p:nvPr/>
          </p:nvGrpSpPr>
          <p:grpSpPr>
            <a:xfrm>
              <a:off x="2862893" y="2336353"/>
              <a:ext cx="6475839" cy="419100"/>
              <a:chOff x="2862693" y="4768653"/>
              <a:chExt cx="6475839" cy="419100"/>
            </a:xfrm>
          </p:grpSpPr>
          <p:cxnSp>
            <p:nvCxnSpPr>
              <p:cNvPr id="73" name="直接箭头连接符 72">
                <a:extLst>
                  <a:ext uri="{FF2B5EF4-FFF2-40B4-BE49-F238E27FC236}">
                    <a16:creationId xmlns:a16="http://schemas.microsoft.com/office/drawing/2014/main" id="{DA9C2D9F-AF7C-4414-A50F-2ADEFAD6C5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2693" y="4984370"/>
                <a:ext cx="6475839" cy="0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prstDash val="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íşlïḍè">
                <a:extLst>
                  <a:ext uri="{FF2B5EF4-FFF2-40B4-BE49-F238E27FC236}">
                    <a16:creationId xmlns:a16="http://schemas.microsoft.com/office/drawing/2014/main" id="{992A6057-B335-4F5F-AB7C-285868EB5FC5}"/>
                  </a:ext>
                </a:extLst>
              </p:cNvPr>
              <p:cNvSpPr txBox="1"/>
              <p:nvPr/>
            </p:nvSpPr>
            <p:spPr>
              <a:xfrm>
                <a:off x="4435295" y="4768653"/>
                <a:ext cx="3331034" cy="4191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  <a:r>
                  <a:rPr lang="zh-CN" altLang="en-US" sz="1600" b="1" dirty="0"/>
                  <a:t>实现应用层协议并进行逻辑通信</a:t>
                </a:r>
                <a:endParaRPr lang="en-US" altLang="zh-CN" sz="1600" b="1" dirty="0"/>
              </a:p>
              <a:p>
                <a:pPr algn="ctr"/>
                <a:r>
                  <a:rPr lang="zh-CN" altLang="en-US" sz="1600" b="1" dirty="0"/>
                  <a:t>“享受”运输层提供的服务</a:t>
                </a:r>
                <a:endParaRPr lang="en-US" altLang="zh-CN" sz="1600" b="1" dirty="0"/>
              </a:p>
            </p:txBody>
          </p:sp>
        </p:grp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44ACF90-78CE-4EB0-9225-8576135B3055}"/>
              </a:ext>
            </a:extLst>
          </p:cNvPr>
          <p:cNvGrpSpPr/>
          <p:nvPr/>
        </p:nvGrpSpPr>
        <p:grpSpPr>
          <a:xfrm>
            <a:off x="369193" y="2233233"/>
            <a:ext cx="11413473" cy="3883992"/>
            <a:chOff x="369193" y="2233233"/>
            <a:chExt cx="11413473" cy="3883992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8F39D980-84ED-4F8B-B15B-48F334670C60}"/>
                </a:ext>
              </a:extLst>
            </p:cNvPr>
            <p:cNvGrpSpPr/>
            <p:nvPr/>
          </p:nvGrpSpPr>
          <p:grpSpPr>
            <a:xfrm>
              <a:off x="388047" y="5485498"/>
              <a:ext cx="11394619" cy="631727"/>
              <a:chOff x="388047" y="5485498"/>
              <a:chExt cx="11394619" cy="631727"/>
            </a:xfrm>
          </p:grpSpPr>
          <p:sp>
            <p:nvSpPr>
              <p:cNvPr id="20" name="箭头: 上 19">
                <a:extLst>
                  <a:ext uri="{FF2B5EF4-FFF2-40B4-BE49-F238E27FC236}">
                    <a16:creationId xmlns:a16="http://schemas.microsoft.com/office/drawing/2014/main" id="{A259B816-39D4-43E1-A50B-5D2F21F930EB}"/>
                  </a:ext>
                </a:extLst>
              </p:cNvPr>
              <p:cNvSpPr/>
              <p:nvPr/>
            </p:nvSpPr>
            <p:spPr>
              <a:xfrm>
                <a:off x="388047" y="5485498"/>
                <a:ext cx="542910" cy="631727"/>
              </a:xfrm>
              <a:prstGeom prst="upArrow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  <p:sp>
            <p:nvSpPr>
              <p:cNvPr id="79" name="箭头: 上 78">
                <a:extLst>
                  <a:ext uri="{FF2B5EF4-FFF2-40B4-BE49-F238E27FC236}">
                    <a16:creationId xmlns:a16="http://schemas.microsoft.com/office/drawing/2014/main" id="{269080AB-6247-4F3D-A926-A6B1B5ACD4FF}"/>
                  </a:ext>
                </a:extLst>
              </p:cNvPr>
              <p:cNvSpPr/>
              <p:nvPr/>
            </p:nvSpPr>
            <p:spPr>
              <a:xfrm>
                <a:off x="11239756" y="5485498"/>
                <a:ext cx="542910" cy="631727"/>
              </a:xfrm>
              <a:prstGeom prst="upArrow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</p:grp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F66A14A4-0357-4718-BB5D-EBB18879B3C5}"/>
                </a:ext>
              </a:extLst>
            </p:cNvPr>
            <p:cNvGrpSpPr/>
            <p:nvPr/>
          </p:nvGrpSpPr>
          <p:grpSpPr>
            <a:xfrm>
              <a:off x="388047" y="4672431"/>
              <a:ext cx="11394619" cy="631727"/>
              <a:chOff x="388047" y="4672431"/>
              <a:chExt cx="11394619" cy="631727"/>
            </a:xfrm>
          </p:grpSpPr>
          <p:sp>
            <p:nvSpPr>
              <p:cNvPr id="75" name="箭头: 上 74">
                <a:extLst>
                  <a:ext uri="{FF2B5EF4-FFF2-40B4-BE49-F238E27FC236}">
                    <a16:creationId xmlns:a16="http://schemas.microsoft.com/office/drawing/2014/main" id="{03CC585D-0C98-40D8-AF53-A8392326B962}"/>
                  </a:ext>
                </a:extLst>
              </p:cNvPr>
              <p:cNvSpPr/>
              <p:nvPr/>
            </p:nvSpPr>
            <p:spPr>
              <a:xfrm>
                <a:off x="388047" y="4672431"/>
                <a:ext cx="542910" cy="631727"/>
              </a:xfrm>
              <a:prstGeom prst="upArrow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  <p:sp>
            <p:nvSpPr>
              <p:cNvPr id="80" name="箭头: 上 79">
                <a:extLst>
                  <a:ext uri="{FF2B5EF4-FFF2-40B4-BE49-F238E27FC236}">
                    <a16:creationId xmlns:a16="http://schemas.microsoft.com/office/drawing/2014/main" id="{05F7C1E1-A270-4E12-A3D1-7437FD0E0B80}"/>
                  </a:ext>
                </a:extLst>
              </p:cNvPr>
              <p:cNvSpPr/>
              <p:nvPr/>
            </p:nvSpPr>
            <p:spPr>
              <a:xfrm>
                <a:off x="11239756" y="4672431"/>
                <a:ext cx="542910" cy="631727"/>
              </a:xfrm>
              <a:prstGeom prst="upArrow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</p:grp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B86075A4-D798-4066-A6DA-C56ED36F2A07}"/>
                </a:ext>
              </a:extLst>
            </p:cNvPr>
            <p:cNvGrpSpPr/>
            <p:nvPr/>
          </p:nvGrpSpPr>
          <p:grpSpPr>
            <a:xfrm>
              <a:off x="388047" y="3859365"/>
              <a:ext cx="11394619" cy="631727"/>
              <a:chOff x="388047" y="3859365"/>
              <a:chExt cx="11394619" cy="631727"/>
            </a:xfrm>
          </p:grpSpPr>
          <p:sp>
            <p:nvSpPr>
              <p:cNvPr id="76" name="箭头: 上 75">
                <a:extLst>
                  <a:ext uri="{FF2B5EF4-FFF2-40B4-BE49-F238E27FC236}">
                    <a16:creationId xmlns:a16="http://schemas.microsoft.com/office/drawing/2014/main" id="{4039EAE5-2330-4B2A-9FA5-159CF5099BB1}"/>
                  </a:ext>
                </a:extLst>
              </p:cNvPr>
              <p:cNvSpPr/>
              <p:nvPr/>
            </p:nvSpPr>
            <p:spPr>
              <a:xfrm>
                <a:off x="388047" y="3859365"/>
                <a:ext cx="542910" cy="631727"/>
              </a:xfrm>
              <a:prstGeom prst="upArrow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  <p:sp>
            <p:nvSpPr>
              <p:cNvPr id="81" name="箭头: 上 80">
                <a:extLst>
                  <a:ext uri="{FF2B5EF4-FFF2-40B4-BE49-F238E27FC236}">
                    <a16:creationId xmlns:a16="http://schemas.microsoft.com/office/drawing/2014/main" id="{B81D3955-7262-4236-8B4F-B72F04B6F405}"/>
                  </a:ext>
                </a:extLst>
              </p:cNvPr>
              <p:cNvSpPr/>
              <p:nvPr/>
            </p:nvSpPr>
            <p:spPr>
              <a:xfrm>
                <a:off x="11239756" y="3859365"/>
                <a:ext cx="542910" cy="631727"/>
              </a:xfrm>
              <a:prstGeom prst="upArrow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</p:grp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E58A780D-9E35-4047-B05E-DA9FDB2022C4}"/>
                </a:ext>
              </a:extLst>
            </p:cNvPr>
            <p:cNvGrpSpPr/>
            <p:nvPr/>
          </p:nvGrpSpPr>
          <p:grpSpPr>
            <a:xfrm>
              <a:off x="388047" y="3046299"/>
              <a:ext cx="11394619" cy="631727"/>
              <a:chOff x="388047" y="3046299"/>
              <a:chExt cx="11394619" cy="631727"/>
            </a:xfrm>
          </p:grpSpPr>
          <p:sp>
            <p:nvSpPr>
              <p:cNvPr id="77" name="箭头: 上 76">
                <a:extLst>
                  <a:ext uri="{FF2B5EF4-FFF2-40B4-BE49-F238E27FC236}">
                    <a16:creationId xmlns:a16="http://schemas.microsoft.com/office/drawing/2014/main" id="{325D6C1B-591E-474A-A89A-A1F88AE7BD82}"/>
                  </a:ext>
                </a:extLst>
              </p:cNvPr>
              <p:cNvSpPr/>
              <p:nvPr/>
            </p:nvSpPr>
            <p:spPr>
              <a:xfrm>
                <a:off x="388047" y="3046299"/>
                <a:ext cx="542910" cy="631727"/>
              </a:xfrm>
              <a:prstGeom prst="upArrow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  <p:sp>
            <p:nvSpPr>
              <p:cNvPr id="82" name="箭头: 上 81">
                <a:extLst>
                  <a:ext uri="{FF2B5EF4-FFF2-40B4-BE49-F238E27FC236}">
                    <a16:creationId xmlns:a16="http://schemas.microsoft.com/office/drawing/2014/main" id="{9AFB07A1-6D25-41A8-8551-79E43B6FCE72}"/>
                  </a:ext>
                </a:extLst>
              </p:cNvPr>
              <p:cNvSpPr/>
              <p:nvPr/>
            </p:nvSpPr>
            <p:spPr>
              <a:xfrm>
                <a:off x="11239756" y="3046299"/>
                <a:ext cx="542910" cy="631727"/>
              </a:xfrm>
              <a:prstGeom prst="upArrow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A5AA4A89-BCEF-4473-B054-9CF651EBB140}"/>
                </a:ext>
              </a:extLst>
            </p:cNvPr>
            <p:cNvGrpSpPr/>
            <p:nvPr/>
          </p:nvGrpSpPr>
          <p:grpSpPr>
            <a:xfrm>
              <a:off x="369193" y="2233233"/>
              <a:ext cx="11413473" cy="631727"/>
              <a:chOff x="369193" y="2233233"/>
              <a:chExt cx="11413473" cy="631727"/>
            </a:xfrm>
          </p:grpSpPr>
          <p:sp>
            <p:nvSpPr>
              <p:cNvPr id="78" name="箭头: 上 77">
                <a:extLst>
                  <a:ext uri="{FF2B5EF4-FFF2-40B4-BE49-F238E27FC236}">
                    <a16:creationId xmlns:a16="http://schemas.microsoft.com/office/drawing/2014/main" id="{67C5579E-6049-40F2-AD7A-D781E1750EC2}"/>
                  </a:ext>
                </a:extLst>
              </p:cNvPr>
              <p:cNvSpPr/>
              <p:nvPr/>
            </p:nvSpPr>
            <p:spPr>
              <a:xfrm>
                <a:off x="369193" y="2233233"/>
                <a:ext cx="542910" cy="631727"/>
              </a:xfrm>
              <a:prstGeom prst="upArrow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  <p:sp>
            <p:nvSpPr>
              <p:cNvPr id="83" name="箭头: 上 82">
                <a:extLst>
                  <a:ext uri="{FF2B5EF4-FFF2-40B4-BE49-F238E27FC236}">
                    <a16:creationId xmlns:a16="http://schemas.microsoft.com/office/drawing/2014/main" id="{35E4C5CC-78CB-4507-BC79-8F0F3FCEC22B}"/>
                  </a:ext>
                </a:extLst>
              </p:cNvPr>
              <p:cNvSpPr/>
              <p:nvPr/>
            </p:nvSpPr>
            <p:spPr>
              <a:xfrm>
                <a:off x="11239756" y="2233233"/>
                <a:ext cx="542910" cy="631727"/>
              </a:xfrm>
              <a:prstGeom prst="upArrow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</p:grp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9DFF4325-FE75-4C81-B536-5F0EFFCE3DC6}"/>
              </a:ext>
            </a:extLst>
          </p:cNvPr>
          <p:cNvGrpSpPr/>
          <p:nvPr/>
        </p:nvGrpSpPr>
        <p:grpSpPr>
          <a:xfrm>
            <a:off x="2712026" y="2701770"/>
            <a:ext cx="1209278" cy="502950"/>
            <a:chOff x="2712026" y="2701770"/>
            <a:chExt cx="1209278" cy="502950"/>
          </a:xfrm>
        </p:grpSpPr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035842A5-1048-4758-A827-D1E0044BCA04}"/>
                </a:ext>
              </a:extLst>
            </p:cNvPr>
            <p:cNvCxnSpPr>
              <a:cxnSpLocks/>
              <a:stCxn id="34" idx="0"/>
              <a:endCxn id="8" idx="2"/>
            </p:cNvCxnSpPr>
            <p:nvPr/>
          </p:nvCxnSpPr>
          <p:spPr>
            <a:xfrm flipV="1">
              <a:off x="2712026" y="2701770"/>
              <a:ext cx="1" cy="50295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íşlïḍè">
              <a:extLst>
                <a:ext uri="{FF2B5EF4-FFF2-40B4-BE49-F238E27FC236}">
                  <a16:creationId xmlns:a16="http://schemas.microsoft.com/office/drawing/2014/main" id="{9BD6085F-3FD7-4E56-937C-752C3B2AC9D4}"/>
                </a:ext>
              </a:extLst>
            </p:cNvPr>
            <p:cNvSpPr txBox="1"/>
            <p:nvPr/>
          </p:nvSpPr>
          <p:spPr>
            <a:xfrm>
              <a:off x="2897997" y="2740543"/>
              <a:ext cx="1023307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服务原语</a:t>
              </a:r>
              <a:endParaRPr lang="en-US" altLang="zh-CN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2001B140-3328-4C11-AEC1-D98D149BE64C}"/>
              </a:ext>
            </a:extLst>
          </p:cNvPr>
          <p:cNvGrpSpPr/>
          <p:nvPr/>
        </p:nvGrpSpPr>
        <p:grpSpPr>
          <a:xfrm>
            <a:off x="2712026" y="3517887"/>
            <a:ext cx="1209278" cy="502950"/>
            <a:chOff x="2712026" y="2701770"/>
            <a:chExt cx="1209278" cy="502950"/>
          </a:xfrm>
        </p:grpSpPr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DD72D0C4-5F3F-4601-BEFC-E70A9998F4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2026" y="2701770"/>
              <a:ext cx="1" cy="50295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íşlïḍè">
              <a:extLst>
                <a:ext uri="{FF2B5EF4-FFF2-40B4-BE49-F238E27FC236}">
                  <a16:creationId xmlns:a16="http://schemas.microsoft.com/office/drawing/2014/main" id="{A8274099-8ED1-4D24-AF42-E5CA0093AB9C}"/>
                </a:ext>
              </a:extLst>
            </p:cNvPr>
            <p:cNvSpPr txBox="1"/>
            <p:nvPr/>
          </p:nvSpPr>
          <p:spPr>
            <a:xfrm>
              <a:off x="2897997" y="2740543"/>
              <a:ext cx="1023307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服务原语</a:t>
              </a:r>
              <a:endParaRPr lang="en-US" altLang="zh-CN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4BEE4C71-56A8-491A-AD54-4246FEF704A7}"/>
              </a:ext>
            </a:extLst>
          </p:cNvPr>
          <p:cNvGrpSpPr/>
          <p:nvPr/>
        </p:nvGrpSpPr>
        <p:grpSpPr>
          <a:xfrm>
            <a:off x="2712026" y="4330610"/>
            <a:ext cx="1209278" cy="502950"/>
            <a:chOff x="2712026" y="2701770"/>
            <a:chExt cx="1209278" cy="502950"/>
          </a:xfrm>
        </p:grpSpPr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C77716C8-F186-4F75-A01F-6E56A82296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2026" y="2701770"/>
              <a:ext cx="1" cy="50295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íşlïḍè">
              <a:extLst>
                <a:ext uri="{FF2B5EF4-FFF2-40B4-BE49-F238E27FC236}">
                  <a16:creationId xmlns:a16="http://schemas.microsoft.com/office/drawing/2014/main" id="{4ABFC94B-4DA0-4188-9605-553A8EFB09C5}"/>
                </a:ext>
              </a:extLst>
            </p:cNvPr>
            <p:cNvSpPr txBox="1"/>
            <p:nvPr/>
          </p:nvSpPr>
          <p:spPr>
            <a:xfrm>
              <a:off x="2897997" y="2740543"/>
              <a:ext cx="1023307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服务原语</a:t>
              </a:r>
              <a:endParaRPr lang="en-US" altLang="zh-CN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79EDD31E-0A77-494C-A20D-D4E60F32B875}"/>
              </a:ext>
            </a:extLst>
          </p:cNvPr>
          <p:cNvGrpSpPr/>
          <p:nvPr/>
        </p:nvGrpSpPr>
        <p:grpSpPr>
          <a:xfrm>
            <a:off x="2712026" y="5135878"/>
            <a:ext cx="1209278" cy="502950"/>
            <a:chOff x="2712026" y="2701770"/>
            <a:chExt cx="1209278" cy="502950"/>
          </a:xfrm>
        </p:grpSpPr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7B077354-6A9D-4F9E-B137-F3270CC64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2026" y="2701770"/>
              <a:ext cx="1" cy="50295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íşlïḍè">
              <a:extLst>
                <a:ext uri="{FF2B5EF4-FFF2-40B4-BE49-F238E27FC236}">
                  <a16:creationId xmlns:a16="http://schemas.microsoft.com/office/drawing/2014/main" id="{89CF17D9-5F02-45D3-97EA-5817120F7B14}"/>
                </a:ext>
              </a:extLst>
            </p:cNvPr>
            <p:cNvSpPr txBox="1"/>
            <p:nvPr/>
          </p:nvSpPr>
          <p:spPr>
            <a:xfrm>
              <a:off x="2897997" y="2740543"/>
              <a:ext cx="1023307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服务原语</a:t>
              </a:r>
              <a:endParaRPr lang="en-US" altLang="zh-CN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71" name="椭圆 70">
            <a:extLst>
              <a:ext uri="{FF2B5EF4-FFF2-40B4-BE49-F238E27FC236}">
                <a16:creationId xmlns:a16="http://schemas.microsoft.com/office/drawing/2014/main" id="{7DA2AEE5-63CB-4420-B61F-346D74C8B2CC}"/>
              </a:ext>
            </a:extLst>
          </p:cNvPr>
          <p:cNvSpPr/>
          <p:nvPr/>
        </p:nvSpPr>
        <p:spPr>
          <a:xfrm>
            <a:off x="2604024" y="3666752"/>
            <a:ext cx="216000" cy="216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A092FF71-2D9E-4DDB-91E5-408D95C09139}"/>
              </a:ext>
            </a:extLst>
          </p:cNvPr>
          <p:cNvSpPr/>
          <p:nvPr/>
        </p:nvSpPr>
        <p:spPr>
          <a:xfrm>
            <a:off x="2604024" y="4481938"/>
            <a:ext cx="216000" cy="216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B9CDA4C3-425F-415C-8395-401B3CF8F2DC}"/>
              </a:ext>
            </a:extLst>
          </p:cNvPr>
          <p:cNvSpPr/>
          <p:nvPr/>
        </p:nvSpPr>
        <p:spPr>
          <a:xfrm>
            <a:off x="2604024" y="5297123"/>
            <a:ext cx="216000" cy="216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9919211F-39D4-441F-B441-3F5E9B524DB5}"/>
              </a:ext>
            </a:extLst>
          </p:cNvPr>
          <p:cNvSpPr/>
          <p:nvPr/>
        </p:nvSpPr>
        <p:spPr>
          <a:xfrm>
            <a:off x="2604024" y="2851566"/>
            <a:ext cx="216000" cy="216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FA98005-C6DE-4348-A4A0-70D65D429DE6}"/>
              </a:ext>
            </a:extLst>
          </p:cNvPr>
          <p:cNvGrpSpPr/>
          <p:nvPr/>
        </p:nvGrpSpPr>
        <p:grpSpPr>
          <a:xfrm>
            <a:off x="8214218" y="2701770"/>
            <a:ext cx="1265757" cy="502950"/>
            <a:chOff x="8214218" y="2701770"/>
            <a:chExt cx="1265757" cy="502950"/>
          </a:xfrm>
        </p:grpSpPr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E5D49F56-F5FD-4DFD-8F55-F9A690F31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79974" y="2701770"/>
              <a:ext cx="1" cy="50295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íşlïḍè">
              <a:extLst>
                <a:ext uri="{FF2B5EF4-FFF2-40B4-BE49-F238E27FC236}">
                  <a16:creationId xmlns:a16="http://schemas.microsoft.com/office/drawing/2014/main" id="{8E0E96FC-FAB7-44B8-BFFD-190940A52D20}"/>
                </a:ext>
              </a:extLst>
            </p:cNvPr>
            <p:cNvSpPr txBox="1"/>
            <p:nvPr/>
          </p:nvSpPr>
          <p:spPr>
            <a:xfrm>
              <a:off x="8214218" y="2740543"/>
              <a:ext cx="1023307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r"/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服务原语</a:t>
              </a:r>
              <a:endParaRPr lang="en-US" altLang="zh-CN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33BC4AC0-D993-42B1-AEC6-217CE63ED10C}"/>
              </a:ext>
            </a:extLst>
          </p:cNvPr>
          <p:cNvGrpSpPr/>
          <p:nvPr/>
        </p:nvGrpSpPr>
        <p:grpSpPr>
          <a:xfrm>
            <a:off x="8214218" y="3517887"/>
            <a:ext cx="1265757" cy="502950"/>
            <a:chOff x="8214218" y="3517887"/>
            <a:chExt cx="1265757" cy="502950"/>
          </a:xfrm>
        </p:grpSpPr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6F00D446-18EC-423D-A130-FC15ABBCCB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79974" y="3517887"/>
              <a:ext cx="1" cy="50295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íşlïḍè">
              <a:extLst>
                <a:ext uri="{FF2B5EF4-FFF2-40B4-BE49-F238E27FC236}">
                  <a16:creationId xmlns:a16="http://schemas.microsoft.com/office/drawing/2014/main" id="{493A5A18-FC57-48B2-BEF1-F3406F19EB01}"/>
                </a:ext>
              </a:extLst>
            </p:cNvPr>
            <p:cNvSpPr txBox="1"/>
            <p:nvPr/>
          </p:nvSpPr>
          <p:spPr>
            <a:xfrm>
              <a:off x="8214218" y="3556660"/>
              <a:ext cx="1023307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r"/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服务原语</a:t>
              </a:r>
              <a:endParaRPr lang="en-US" altLang="zh-CN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46639D3-96D1-43BF-BCD6-9F444F0DE7D8}"/>
              </a:ext>
            </a:extLst>
          </p:cNvPr>
          <p:cNvGrpSpPr/>
          <p:nvPr/>
        </p:nvGrpSpPr>
        <p:grpSpPr>
          <a:xfrm>
            <a:off x="8214218" y="4330610"/>
            <a:ext cx="1265757" cy="502950"/>
            <a:chOff x="8214218" y="4330610"/>
            <a:chExt cx="1265757" cy="502950"/>
          </a:xfrm>
        </p:grpSpPr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594A2559-9923-4607-96C4-5F27AA006C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79974" y="4330610"/>
              <a:ext cx="1" cy="50295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íşlïḍè">
              <a:extLst>
                <a:ext uri="{FF2B5EF4-FFF2-40B4-BE49-F238E27FC236}">
                  <a16:creationId xmlns:a16="http://schemas.microsoft.com/office/drawing/2014/main" id="{BFEF60DD-8A5D-4EA5-ACDD-CE98D0E022C2}"/>
                </a:ext>
              </a:extLst>
            </p:cNvPr>
            <p:cNvSpPr txBox="1"/>
            <p:nvPr/>
          </p:nvSpPr>
          <p:spPr>
            <a:xfrm>
              <a:off x="8214218" y="4369383"/>
              <a:ext cx="1023307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r"/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服务原语</a:t>
              </a:r>
              <a:endParaRPr lang="en-US" altLang="zh-CN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F0A4CE1-803E-4336-9AFD-2D2B4995429E}"/>
              </a:ext>
            </a:extLst>
          </p:cNvPr>
          <p:cNvGrpSpPr/>
          <p:nvPr/>
        </p:nvGrpSpPr>
        <p:grpSpPr>
          <a:xfrm>
            <a:off x="8214218" y="5135878"/>
            <a:ext cx="1265757" cy="502950"/>
            <a:chOff x="8214218" y="5135878"/>
            <a:chExt cx="1265757" cy="502950"/>
          </a:xfrm>
        </p:grpSpPr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32A7DE4C-1C0B-47D5-A743-5EEC671D20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79974" y="5135878"/>
              <a:ext cx="1" cy="50295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íşlïḍè">
              <a:extLst>
                <a:ext uri="{FF2B5EF4-FFF2-40B4-BE49-F238E27FC236}">
                  <a16:creationId xmlns:a16="http://schemas.microsoft.com/office/drawing/2014/main" id="{B361633A-42D8-4A8B-B2A0-5941EF99FC7D}"/>
                </a:ext>
              </a:extLst>
            </p:cNvPr>
            <p:cNvSpPr txBox="1"/>
            <p:nvPr/>
          </p:nvSpPr>
          <p:spPr>
            <a:xfrm>
              <a:off x="8214218" y="5174651"/>
              <a:ext cx="1023307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r"/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服务原语</a:t>
              </a:r>
              <a:endParaRPr lang="en-US" altLang="zh-CN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91" name="椭圆 90">
            <a:extLst>
              <a:ext uri="{FF2B5EF4-FFF2-40B4-BE49-F238E27FC236}">
                <a16:creationId xmlns:a16="http://schemas.microsoft.com/office/drawing/2014/main" id="{7673B0FB-9AAC-4816-8F73-D11E731DFE99}"/>
              </a:ext>
            </a:extLst>
          </p:cNvPr>
          <p:cNvSpPr/>
          <p:nvPr/>
        </p:nvSpPr>
        <p:spPr>
          <a:xfrm>
            <a:off x="9381300" y="3666752"/>
            <a:ext cx="216000" cy="216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9E3A2064-53AB-464E-B8DE-B600F118C059}"/>
              </a:ext>
            </a:extLst>
          </p:cNvPr>
          <p:cNvSpPr/>
          <p:nvPr/>
        </p:nvSpPr>
        <p:spPr>
          <a:xfrm>
            <a:off x="9381300" y="4481938"/>
            <a:ext cx="216000" cy="216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951E848A-EADE-4CE0-AF41-A945DAB3104D}"/>
              </a:ext>
            </a:extLst>
          </p:cNvPr>
          <p:cNvSpPr/>
          <p:nvPr/>
        </p:nvSpPr>
        <p:spPr>
          <a:xfrm>
            <a:off x="9381300" y="5297123"/>
            <a:ext cx="216000" cy="216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9C412B20-19A1-4571-B408-F9E57AF24066}"/>
              </a:ext>
            </a:extLst>
          </p:cNvPr>
          <p:cNvSpPr/>
          <p:nvPr/>
        </p:nvSpPr>
        <p:spPr>
          <a:xfrm>
            <a:off x="9381300" y="2851566"/>
            <a:ext cx="216000" cy="216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íşlïḍè">
            <a:extLst>
              <a:ext uri="{FF2B5EF4-FFF2-40B4-BE49-F238E27FC236}">
                <a16:creationId xmlns:a16="http://schemas.microsoft.com/office/drawing/2014/main" id="{A684E401-E26C-BAC8-797C-26393693823E}"/>
              </a:ext>
            </a:extLst>
          </p:cNvPr>
          <p:cNvSpPr txBox="1"/>
          <p:nvPr/>
        </p:nvSpPr>
        <p:spPr>
          <a:xfrm>
            <a:off x="930957" y="670468"/>
            <a:ext cx="10593442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/>
              <a:t>在同一系统中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相邻两层的实体交换信息的逻辑接口</a:t>
            </a:r>
            <a:r>
              <a:rPr lang="zh-CN" altLang="en-US" b="1" dirty="0"/>
              <a:t>称为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服务访问点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SAP</a:t>
            </a:r>
            <a:r>
              <a:rPr lang="zh-CN" altLang="en-US" b="1" dirty="0"/>
              <a:t>，它被用于区分不同的服务类型。</a:t>
            </a:r>
            <a:endParaRPr lang="en-US" altLang="zh-CN" b="1" dirty="0"/>
          </a:p>
        </p:txBody>
      </p:sp>
      <p:sp>
        <p:nvSpPr>
          <p:cNvPr id="15" name="íşlïḍè">
            <a:extLst>
              <a:ext uri="{FF2B5EF4-FFF2-40B4-BE49-F238E27FC236}">
                <a16:creationId xmlns:a16="http://schemas.microsoft.com/office/drawing/2014/main" id="{6DF46777-AFC5-0C37-BC23-491C23774EBA}"/>
              </a:ext>
            </a:extLst>
          </p:cNvPr>
          <p:cNvSpPr txBox="1"/>
          <p:nvPr/>
        </p:nvSpPr>
        <p:spPr>
          <a:xfrm>
            <a:off x="930957" y="1423440"/>
            <a:ext cx="10593442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/>
              <a:t>帧的“类型”字段、</a:t>
            </a:r>
            <a:r>
              <a:rPr lang="en-US" altLang="zh-CN" b="1" dirty="0"/>
              <a:t>IP</a:t>
            </a:r>
            <a:r>
              <a:rPr lang="zh-CN" altLang="en-US" b="1" dirty="0"/>
              <a:t>数据报的“协议”字段，</a:t>
            </a:r>
            <a:r>
              <a:rPr lang="en-US" altLang="zh-CN" b="1" dirty="0"/>
              <a:t>TCP</a:t>
            </a:r>
            <a:r>
              <a:rPr lang="zh-CN" altLang="en-US" b="1" dirty="0"/>
              <a:t>报文段或</a:t>
            </a:r>
            <a:r>
              <a:rPr lang="en-US" altLang="zh-CN" b="1" dirty="0"/>
              <a:t>UDP</a:t>
            </a:r>
            <a:r>
              <a:rPr lang="zh-CN" altLang="en-US" b="1" dirty="0"/>
              <a:t>用户数据报的“端口号”字段都是</a:t>
            </a:r>
            <a:r>
              <a:rPr lang="en-US" altLang="zh-CN" b="1" dirty="0"/>
              <a:t>SAP</a:t>
            </a:r>
            <a:r>
              <a:rPr lang="zh-CN" altLang="en-US" b="1" dirty="0"/>
              <a:t>。</a:t>
            </a:r>
            <a:endParaRPr lang="en-US" altLang="zh-CN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942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101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263464" cy="400110"/>
            <a:chOff x="424117" y="898245"/>
            <a:chExt cx="626346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711200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04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12354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计算机网络体系结构中的专用术语</a:t>
              </a:r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E0A531D-A482-4A62-9E67-468F1538B60D}"/>
              </a:ext>
            </a:extLst>
          </p:cNvPr>
          <p:cNvSpPr/>
          <p:nvPr/>
        </p:nvSpPr>
        <p:spPr>
          <a:xfrm>
            <a:off x="5257014" y="727692"/>
            <a:ext cx="1696825" cy="408698"/>
          </a:xfrm>
          <a:prstGeom prst="roundRect">
            <a:avLst>
              <a:gd name="adj" fmla="val 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实体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B8B906A-22F0-4816-A5DC-1F7CB6FDF922}"/>
              </a:ext>
            </a:extLst>
          </p:cNvPr>
          <p:cNvSpPr/>
          <p:nvPr/>
        </p:nvSpPr>
        <p:spPr>
          <a:xfrm>
            <a:off x="7345920" y="727692"/>
            <a:ext cx="1696825" cy="408698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协议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373B9E-4D4C-457F-A09D-CEE50B463F4E}"/>
              </a:ext>
            </a:extLst>
          </p:cNvPr>
          <p:cNvSpPr/>
          <p:nvPr/>
        </p:nvSpPr>
        <p:spPr>
          <a:xfrm>
            <a:off x="9434826" y="727692"/>
            <a:ext cx="1696825" cy="408698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服务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E59C2C-CFAF-4AB5-972A-5720278628BC}"/>
              </a:ext>
            </a:extLst>
          </p:cNvPr>
          <p:cNvSpPr/>
          <p:nvPr/>
        </p:nvSpPr>
        <p:spPr>
          <a:xfrm>
            <a:off x="1016000" y="1297642"/>
            <a:ext cx="256976" cy="25697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íşlïḍè">
            <a:extLst>
              <a:ext uri="{FF2B5EF4-FFF2-40B4-BE49-F238E27FC236}">
                <a16:creationId xmlns:a16="http://schemas.microsoft.com/office/drawing/2014/main" id="{4BA97076-69E3-411F-BF77-23FDF614EB0A}"/>
              </a:ext>
            </a:extLst>
          </p:cNvPr>
          <p:cNvSpPr txBox="1"/>
          <p:nvPr/>
        </p:nvSpPr>
        <p:spPr>
          <a:xfrm>
            <a:off x="1293758" y="1216580"/>
            <a:ext cx="10593442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zh-CN" b="1" dirty="0"/>
              <a:t>对等层次之间传送的数据包称为该层的</a:t>
            </a: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</a:rPr>
              <a:t>协议数据单元</a:t>
            </a:r>
            <a:r>
              <a:rPr lang="zh-CN" altLang="zh-CN" b="1" dirty="0"/>
              <a:t>（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US" altLang="zh-CN" b="1" dirty="0"/>
              <a:t>rotocol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 altLang="zh-CN" b="1" dirty="0"/>
              <a:t>ata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U</a:t>
            </a:r>
            <a:r>
              <a:rPr lang="en-US" altLang="zh-CN" b="1" dirty="0"/>
              <a:t>nit</a:t>
            </a:r>
            <a:r>
              <a:rPr lang="zh-CN" altLang="zh-CN" b="1" dirty="0"/>
              <a:t>，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PDU</a:t>
            </a:r>
            <a:r>
              <a:rPr lang="zh-CN" altLang="zh-CN" b="1" dirty="0"/>
              <a:t>）。</a:t>
            </a:r>
            <a:endParaRPr lang="en-US" altLang="zh-CN" b="1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75EFD0-C6A2-4E39-A5E6-EB76461F07E4}"/>
              </a:ext>
            </a:extLst>
          </p:cNvPr>
          <p:cNvSpPr/>
          <p:nvPr/>
        </p:nvSpPr>
        <p:spPr>
          <a:xfrm>
            <a:off x="1272976" y="5390595"/>
            <a:ext cx="1615697" cy="812450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/>
              <a:t>物</a:t>
            </a:r>
            <a:endParaRPr lang="en-US" altLang="zh-CN" sz="1600" b="1" dirty="0"/>
          </a:p>
          <a:p>
            <a:r>
              <a:rPr lang="zh-CN" altLang="en-US" sz="1600" b="1" dirty="0"/>
              <a:t>理</a:t>
            </a:r>
            <a:endParaRPr lang="en-US" altLang="zh-CN" sz="1600" b="1" dirty="0"/>
          </a:p>
          <a:p>
            <a:r>
              <a:rPr lang="zh-CN" altLang="en-US" sz="1600" b="1" dirty="0"/>
              <a:t>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2D1F6EF-D6FB-4D4E-AB50-CF503E172BF0}"/>
              </a:ext>
            </a:extLst>
          </p:cNvPr>
          <p:cNvSpPr/>
          <p:nvPr/>
        </p:nvSpPr>
        <p:spPr>
          <a:xfrm>
            <a:off x="1272976" y="4578145"/>
            <a:ext cx="1615697" cy="812450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/>
              <a:t>链</a:t>
            </a:r>
            <a:endParaRPr lang="en-US" altLang="zh-CN" sz="1600" b="1" dirty="0"/>
          </a:p>
          <a:p>
            <a:r>
              <a:rPr lang="zh-CN" altLang="en-US" sz="1600" b="1" dirty="0"/>
              <a:t>路</a:t>
            </a:r>
            <a:endParaRPr lang="en-US" altLang="zh-CN" sz="1600" b="1" dirty="0"/>
          </a:p>
          <a:p>
            <a:r>
              <a:rPr lang="zh-CN" altLang="en-US" sz="1600" b="1" dirty="0"/>
              <a:t>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0F1A246-E262-42B2-B2D4-7F26636D6722}"/>
              </a:ext>
            </a:extLst>
          </p:cNvPr>
          <p:cNvSpPr/>
          <p:nvPr/>
        </p:nvSpPr>
        <p:spPr>
          <a:xfrm>
            <a:off x="1272976" y="3765695"/>
            <a:ext cx="1615697" cy="81245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/>
              <a:t>网</a:t>
            </a:r>
            <a:endParaRPr lang="en-US" altLang="zh-CN" sz="1600" b="1" dirty="0"/>
          </a:p>
          <a:p>
            <a:r>
              <a:rPr lang="zh-CN" altLang="en-US" sz="1600" b="1" dirty="0"/>
              <a:t>络</a:t>
            </a:r>
            <a:endParaRPr lang="en-US" altLang="zh-CN" sz="1600" b="1" dirty="0"/>
          </a:p>
          <a:p>
            <a:r>
              <a:rPr lang="zh-CN" altLang="en-US" sz="1600" b="1" dirty="0"/>
              <a:t>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0411867-9818-44AD-8E20-1B6EF8C325AB}"/>
              </a:ext>
            </a:extLst>
          </p:cNvPr>
          <p:cNvSpPr/>
          <p:nvPr/>
        </p:nvSpPr>
        <p:spPr>
          <a:xfrm>
            <a:off x="1272976" y="2953245"/>
            <a:ext cx="1615697" cy="812450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/>
              <a:t>运</a:t>
            </a:r>
            <a:endParaRPr lang="en-US" altLang="zh-CN" sz="1600" b="1" dirty="0"/>
          </a:p>
          <a:p>
            <a:r>
              <a:rPr lang="zh-CN" altLang="en-US" sz="1600" b="1" dirty="0"/>
              <a:t>输</a:t>
            </a:r>
            <a:endParaRPr lang="en-US" altLang="zh-CN" sz="1600" b="1" dirty="0"/>
          </a:p>
          <a:p>
            <a:r>
              <a:rPr lang="zh-CN" altLang="en-US" sz="1600" b="1" dirty="0"/>
              <a:t>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27547E4-18A2-4A10-98FD-9D40D53728C5}"/>
              </a:ext>
            </a:extLst>
          </p:cNvPr>
          <p:cNvSpPr/>
          <p:nvPr/>
        </p:nvSpPr>
        <p:spPr>
          <a:xfrm>
            <a:off x="1272976" y="2140795"/>
            <a:ext cx="1615697" cy="81245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/>
              <a:t>应</a:t>
            </a:r>
            <a:endParaRPr lang="en-US" altLang="zh-CN" sz="1600" b="1" dirty="0"/>
          </a:p>
          <a:p>
            <a:r>
              <a:rPr lang="zh-CN" altLang="en-US" sz="1600" b="1" dirty="0"/>
              <a:t>用</a:t>
            </a:r>
            <a:endParaRPr lang="en-US" altLang="zh-CN" sz="1600" b="1" dirty="0"/>
          </a:p>
          <a:p>
            <a:r>
              <a:rPr lang="zh-CN" altLang="en-US" sz="1600" b="1" dirty="0"/>
              <a:t>层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731CA2F-E01C-4783-9D40-24534578BFE1}"/>
              </a:ext>
            </a:extLst>
          </p:cNvPr>
          <p:cNvGrpSpPr/>
          <p:nvPr/>
        </p:nvGrpSpPr>
        <p:grpSpPr>
          <a:xfrm>
            <a:off x="9303327" y="2140795"/>
            <a:ext cx="1615697" cy="4062250"/>
            <a:chOff x="1272976" y="2208576"/>
            <a:chExt cx="1615697" cy="4062250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8532FF05-C538-426C-8D1B-FA4EC45782F7}"/>
                </a:ext>
              </a:extLst>
            </p:cNvPr>
            <p:cNvSpPr/>
            <p:nvPr/>
          </p:nvSpPr>
          <p:spPr>
            <a:xfrm>
              <a:off x="1272976" y="5458376"/>
              <a:ext cx="1615697" cy="81245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600" b="1" dirty="0"/>
                <a:t>物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理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层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2F7EEE7-1ED7-492E-9484-FBB615B5D4A1}"/>
                </a:ext>
              </a:extLst>
            </p:cNvPr>
            <p:cNvSpPr/>
            <p:nvPr/>
          </p:nvSpPr>
          <p:spPr>
            <a:xfrm>
              <a:off x="1272976" y="4645926"/>
              <a:ext cx="1615697" cy="812450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600" b="1" dirty="0"/>
                <a:t>链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路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层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95C399A-227F-4CBC-9F46-BC4696BC0C35}"/>
                </a:ext>
              </a:extLst>
            </p:cNvPr>
            <p:cNvSpPr/>
            <p:nvPr/>
          </p:nvSpPr>
          <p:spPr>
            <a:xfrm>
              <a:off x="1272976" y="3833476"/>
              <a:ext cx="1615697" cy="812450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600" b="1" dirty="0"/>
                <a:t>网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络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层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30BBD26-2078-403D-9C1D-5ADA1C308328}"/>
                </a:ext>
              </a:extLst>
            </p:cNvPr>
            <p:cNvSpPr/>
            <p:nvPr/>
          </p:nvSpPr>
          <p:spPr>
            <a:xfrm>
              <a:off x="1272976" y="3021026"/>
              <a:ext cx="1615697" cy="81245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600" b="1" dirty="0"/>
                <a:t>运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输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层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C345A29-A536-4D85-B757-FA3E7D76D9F0}"/>
                </a:ext>
              </a:extLst>
            </p:cNvPr>
            <p:cNvSpPr/>
            <p:nvPr/>
          </p:nvSpPr>
          <p:spPr>
            <a:xfrm>
              <a:off x="1272976" y="2208576"/>
              <a:ext cx="1615697" cy="81245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600" b="1" dirty="0"/>
                <a:t>应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用</a:t>
              </a:r>
              <a:endParaRPr lang="en-US" altLang="zh-CN" sz="1600" b="1" dirty="0"/>
            </a:p>
            <a:p>
              <a:pPr algn="r"/>
              <a:r>
                <a:rPr lang="zh-CN" altLang="en-US" sz="1600" b="1" dirty="0"/>
                <a:t>层</a:t>
              </a: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89F5E2CE-E8F9-4F91-B7BA-DA244AD9D48C}"/>
              </a:ext>
            </a:extLst>
          </p:cNvPr>
          <p:cNvSpPr/>
          <p:nvPr/>
        </p:nvSpPr>
        <p:spPr>
          <a:xfrm>
            <a:off x="2561358" y="239227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A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1054F15-C8EA-4EE0-B7E5-CE13AAB1CB62}"/>
              </a:ext>
            </a:extLst>
          </p:cNvPr>
          <p:cNvSpPr/>
          <p:nvPr/>
        </p:nvSpPr>
        <p:spPr>
          <a:xfrm>
            <a:off x="2561357" y="320472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B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21F786E-000C-449E-B91E-8B11E37AD027}"/>
              </a:ext>
            </a:extLst>
          </p:cNvPr>
          <p:cNvSpPr/>
          <p:nvPr/>
        </p:nvSpPr>
        <p:spPr>
          <a:xfrm>
            <a:off x="2561357" y="401717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C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B39520A-AED0-4477-9B8A-0BC045529FF1}"/>
              </a:ext>
            </a:extLst>
          </p:cNvPr>
          <p:cNvSpPr/>
          <p:nvPr/>
        </p:nvSpPr>
        <p:spPr>
          <a:xfrm>
            <a:off x="2561356" y="482962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D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8B9EDDA-1B45-4A27-B713-F6CFD44BC8E6}"/>
              </a:ext>
            </a:extLst>
          </p:cNvPr>
          <p:cNvSpPr/>
          <p:nvPr/>
        </p:nvSpPr>
        <p:spPr>
          <a:xfrm>
            <a:off x="2552129" y="564207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E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0D647F3-610B-475B-AF5F-4BB005B5C5EF}"/>
              </a:ext>
            </a:extLst>
          </p:cNvPr>
          <p:cNvSpPr/>
          <p:nvPr/>
        </p:nvSpPr>
        <p:spPr>
          <a:xfrm>
            <a:off x="9338534" y="239227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F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A5CB563-0162-4185-AE73-04B3B55D20E8}"/>
              </a:ext>
            </a:extLst>
          </p:cNvPr>
          <p:cNvSpPr/>
          <p:nvPr/>
        </p:nvSpPr>
        <p:spPr>
          <a:xfrm>
            <a:off x="9338533" y="320472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G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30CB170-A571-4F1F-B298-D24F6EED45E3}"/>
              </a:ext>
            </a:extLst>
          </p:cNvPr>
          <p:cNvSpPr/>
          <p:nvPr/>
        </p:nvSpPr>
        <p:spPr>
          <a:xfrm>
            <a:off x="9338533" y="401717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H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E3B497F-CA68-4DBB-9483-34210A87B3A6}"/>
              </a:ext>
            </a:extLst>
          </p:cNvPr>
          <p:cNvSpPr/>
          <p:nvPr/>
        </p:nvSpPr>
        <p:spPr>
          <a:xfrm>
            <a:off x="9338532" y="482962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I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60BCB8C-EA86-43D5-BD32-49213CE9DE31}"/>
              </a:ext>
            </a:extLst>
          </p:cNvPr>
          <p:cNvSpPr/>
          <p:nvPr/>
        </p:nvSpPr>
        <p:spPr>
          <a:xfrm>
            <a:off x="9329305" y="5642070"/>
            <a:ext cx="301337" cy="3095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J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A7233F32-F038-49EF-89D4-DF0F3DCBE949}"/>
              </a:ext>
            </a:extLst>
          </p:cNvPr>
          <p:cNvSpPr/>
          <p:nvPr/>
        </p:nvSpPr>
        <p:spPr>
          <a:xfrm>
            <a:off x="9434825" y="738496"/>
            <a:ext cx="1696825" cy="408698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服务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973F2F7B-8725-44EF-BEC2-0E9ADD8EE117}"/>
              </a:ext>
            </a:extLst>
          </p:cNvPr>
          <p:cNvCxnSpPr>
            <a:cxnSpLocks/>
            <a:stCxn id="37" idx="3"/>
            <a:endCxn id="42" idx="1"/>
          </p:cNvCxnSpPr>
          <p:nvPr/>
        </p:nvCxnSpPr>
        <p:spPr>
          <a:xfrm>
            <a:off x="2862893" y="5796820"/>
            <a:ext cx="6475839" cy="0"/>
          </a:xfrm>
          <a:prstGeom prst="straightConnector1">
            <a:avLst/>
          </a:prstGeom>
          <a:ln w="76200"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íşlïḍè">
            <a:extLst>
              <a:ext uri="{FF2B5EF4-FFF2-40B4-BE49-F238E27FC236}">
                <a16:creationId xmlns:a16="http://schemas.microsoft.com/office/drawing/2014/main" id="{5C405943-F01C-4735-8DA0-DBADBA58FCA4}"/>
              </a:ext>
            </a:extLst>
          </p:cNvPr>
          <p:cNvSpPr txBox="1"/>
          <p:nvPr/>
        </p:nvSpPr>
        <p:spPr>
          <a:xfrm>
            <a:off x="4724343" y="5370943"/>
            <a:ext cx="2762167" cy="41909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tx2"/>
                </a:solidFill>
              </a:rPr>
              <a:t>比特流（</a:t>
            </a:r>
            <a:r>
              <a:rPr lang="en-US" altLang="zh-CN" sz="1600" b="1" dirty="0">
                <a:solidFill>
                  <a:schemeClr val="tx2"/>
                </a:solidFill>
              </a:rPr>
              <a:t>bit stream</a:t>
            </a:r>
            <a:r>
              <a:rPr lang="zh-CN" altLang="en-US" sz="1600" b="1" dirty="0">
                <a:solidFill>
                  <a:schemeClr val="tx2"/>
                </a:solidFill>
              </a:rPr>
              <a:t>）</a:t>
            </a:r>
            <a:endParaRPr lang="en-US" altLang="zh-CN" sz="1600" b="1" dirty="0">
              <a:solidFill>
                <a:schemeClr val="tx2"/>
              </a:solidFill>
            </a:endParaRP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9E5BBA77-2D84-4E5A-997C-5CEA9ACB46D5}"/>
              </a:ext>
            </a:extLst>
          </p:cNvPr>
          <p:cNvCxnSpPr>
            <a:cxnSpLocks/>
            <a:stCxn id="36" idx="3"/>
            <a:endCxn id="41" idx="1"/>
          </p:cNvCxnSpPr>
          <p:nvPr/>
        </p:nvCxnSpPr>
        <p:spPr>
          <a:xfrm>
            <a:off x="2862893" y="4985865"/>
            <a:ext cx="6475839" cy="0"/>
          </a:xfrm>
          <a:prstGeom prst="straightConnector1">
            <a:avLst/>
          </a:prstGeom>
          <a:ln w="76200"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7F867F8E-366B-4C56-8F77-1C65EB0D8EEE}"/>
              </a:ext>
            </a:extLst>
          </p:cNvPr>
          <p:cNvCxnSpPr>
            <a:cxnSpLocks/>
          </p:cNvCxnSpPr>
          <p:nvPr/>
        </p:nvCxnSpPr>
        <p:spPr>
          <a:xfrm>
            <a:off x="2862893" y="4174600"/>
            <a:ext cx="6475839" cy="0"/>
          </a:xfrm>
          <a:prstGeom prst="straightConnector1">
            <a:avLst/>
          </a:prstGeom>
          <a:ln w="76200"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8EDC5967-2F58-4DAA-B11B-537892250D1A}"/>
              </a:ext>
            </a:extLst>
          </p:cNvPr>
          <p:cNvCxnSpPr>
            <a:cxnSpLocks/>
          </p:cNvCxnSpPr>
          <p:nvPr/>
        </p:nvCxnSpPr>
        <p:spPr>
          <a:xfrm>
            <a:off x="2862893" y="3363335"/>
            <a:ext cx="6475839" cy="0"/>
          </a:xfrm>
          <a:prstGeom prst="straightConnector1">
            <a:avLst/>
          </a:prstGeom>
          <a:ln w="76200"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DA9C2D9F-AF7C-4414-A50F-2ADEFAD6C5B7}"/>
              </a:ext>
            </a:extLst>
          </p:cNvPr>
          <p:cNvCxnSpPr>
            <a:cxnSpLocks/>
          </p:cNvCxnSpPr>
          <p:nvPr/>
        </p:nvCxnSpPr>
        <p:spPr>
          <a:xfrm>
            <a:off x="2862893" y="2552070"/>
            <a:ext cx="6475839" cy="0"/>
          </a:xfrm>
          <a:prstGeom prst="straightConnector1">
            <a:avLst/>
          </a:prstGeom>
          <a:ln w="76200"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44ACF90-78CE-4EB0-9225-8576135B3055}"/>
              </a:ext>
            </a:extLst>
          </p:cNvPr>
          <p:cNvGrpSpPr/>
          <p:nvPr/>
        </p:nvGrpSpPr>
        <p:grpSpPr>
          <a:xfrm>
            <a:off x="369193" y="2233233"/>
            <a:ext cx="11413473" cy="3883992"/>
            <a:chOff x="369193" y="2233233"/>
            <a:chExt cx="11413473" cy="3883992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8F39D980-84ED-4F8B-B15B-48F334670C60}"/>
                </a:ext>
              </a:extLst>
            </p:cNvPr>
            <p:cNvGrpSpPr/>
            <p:nvPr/>
          </p:nvGrpSpPr>
          <p:grpSpPr>
            <a:xfrm>
              <a:off x="388047" y="5485498"/>
              <a:ext cx="11394619" cy="631727"/>
              <a:chOff x="388047" y="5485498"/>
              <a:chExt cx="11394619" cy="631727"/>
            </a:xfrm>
          </p:grpSpPr>
          <p:sp>
            <p:nvSpPr>
              <p:cNvPr id="20" name="箭头: 上 19">
                <a:extLst>
                  <a:ext uri="{FF2B5EF4-FFF2-40B4-BE49-F238E27FC236}">
                    <a16:creationId xmlns:a16="http://schemas.microsoft.com/office/drawing/2014/main" id="{A259B816-39D4-43E1-A50B-5D2F21F930EB}"/>
                  </a:ext>
                </a:extLst>
              </p:cNvPr>
              <p:cNvSpPr/>
              <p:nvPr/>
            </p:nvSpPr>
            <p:spPr>
              <a:xfrm>
                <a:off x="388047" y="5485498"/>
                <a:ext cx="542910" cy="631727"/>
              </a:xfrm>
              <a:prstGeom prst="upArrow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  <p:sp>
            <p:nvSpPr>
              <p:cNvPr id="79" name="箭头: 上 78">
                <a:extLst>
                  <a:ext uri="{FF2B5EF4-FFF2-40B4-BE49-F238E27FC236}">
                    <a16:creationId xmlns:a16="http://schemas.microsoft.com/office/drawing/2014/main" id="{269080AB-6247-4F3D-A926-A6B1B5ACD4FF}"/>
                  </a:ext>
                </a:extLst>
              </p:cNvPr>
              <p:cNvSpPr/>
              <p:nvPr/>
            </p:nvSpPr>
            <p:spPr>
              <a:xfrm>
                <a:off x="11239756" y="5485498"/>
                <a:ext cx="542910" cy="631727"/>
              </a:xfrm>
              <a:prstGeom prst="upArrow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</p:grp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F66A14A4-0357-4718-BB5D-EBB18879B3C5}"/>
                </a:ext>
              </a:extLst>
            </p:cNvPr>
            <p:cNvGrpSpPr/>
            <p:nvPr/>
          </p:nvGrpSpPr>
          <p:grpSpPr>
            <a:xfrm>
              <a:off x="388047" y="4672431"/>
              <a:ext cx="11394619" cy="631727"/>
              <a:chOff x="388047" y="4672431"/>
              <a:chExt cx="11394619" cy="631727"/>
            </a:xfrm>
          </p:grpSpPr>
          <p:sp>
            <p:nvSpPr>
              <p:cNvPr id="75" name="箭头: 上 74">
                <a:extLst>
                  <a:ext uri="{FF2B5EF4-FFF2-40B4-BE49-F238E27FC236}">
                    <a16:creationId xmlns:a16="http://schemas.microsoft.com/office/drawing/2014/main" id="{03CC585D-0C98-40D8-AF53-A8392326B962}"/>
                  </a:ext>
                </a:extLst>
              </p:cNvPr>
              <p:cNvSpPr/>
              <p:nvPr/>
            </p:nvSpPr>
            <p:spPr>
              <a:xfrm>
                <a:off x="388047" y="4672431"/>
                <a:ext cx="542910" cy="631727"/>
              </a:xfrm>
              <a:prstGeom prst="upArrow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  <p:sp>
            <p:nvSpPr>
              <p:cNvPr id="80" name="箭头: 上 79">
                <a:extLst>
                  <a:ext uri="{FF2B5EF4-FFF2-40B4-BE49-F238E27FC236}">
                    <a16:creationId xmlns:a16="http://schemas.microsoft.com/office/drawing/2014/main" id="{05F7C1E1-A270-4E12-A3D1-7437FD0E0B80}"/>
                  </a:ext>
                </a:extLst>
              </p:cNvPr>
              <p:cNvSpPr/>
              <p:nvPr/>
            </p:nvSpPr>
            <p:spPr>
              <a:xfrm>
                <a:off x="11239756" y="4672431"/>
                <a:ext cx="542910" cy="631727"/>
              </a:xfrm>
              <a:prstGeom prst="upArrow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</p:grp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B86075A4-D798-4066-A6DA-C56ED36F2A07}"/>
                </a:ext>
              </a:extLst>
            </p:cNvPr>
            <p:cNvGrpSpPr/>
            <p:nvPr/>
          </p:nvGrpSpPr>
          <p:grpSpPr>
            <a:xfrm>
              <a:off x="388047" y="3859365"/>
              <a:ext cx="11394619" cy="631727"/>
              <a:chOff x="388047" y="3859365"/>
              <a:chExt cx="11394619" cy="631727"/>
            </a:xfrm>
          </p:grpSpPr>
          <p:sp>
            <p:nvSpPr>
              <p:cNvPr id="76" name="箭头: 上 75">
                <a:extLst>
                  <a:ext uri="{FF2B5EF4-FFF2-40B4-BE49-F238E27FC236}">
                    <a16:creationId xmlns:a16="http://schemas.microsoft.com/office/drawing/2014/main" id="{4039EAE5-2330-4B2A-9FA5-159CF5099BB1}"/>
                  </a:ext>
                </a:extLst>
              </p:cNvPr>
              <p:cNvSpPr/>
              <p:nvPr/>
            </p:nvSpPr>
            <p:spPr>
              <a:xfrm>
                <a:off x="388047" y="3859365"/>
                <a:ext cx="542910" cy="631727"/>
              </a:xfrm>
              <a:prstGeom prst="upArrow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  <p:sp>
            <p:nvSpPr>
              <p:cNvPr id="81" name="箭头: 上 80">
                <a:extLst>
                  <a:ext uri="{FF2B5EF4-FFF2-40B4-BE49-F238E27FC236}">
                    <a16:creationId xmlns:a16="http://schemas.microsoft.com/office/drawing/2014/main" id="{B81D3955-7262-4236-8B4F-B72F04B6F405}"/>
                  </a:ext>
                </a:extLst>
              </p:cNvPr>
              <p:cNvSpPr/>
              <p:nvPr/>
            </p:nvSpPr>
            <p:spPr>
              <a:xfrm>
                <a:off x="11239756" y="3859365"/>
                <a:ext cx="542910" cy="631727"/>
              </a:xfrm>
              <a:prstGeom prst="upArrow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</p:grp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E58A780D-9E35-4047-B05E-DA9FDB2022C4}"/>
                </a:ext>
              </a:extLst>
            </p:cNvPr>
            <p:cNvGrpSpPr/>
            <p:nvPr/>
          </p:nvGrpSpPr>
          <p:grpSpPr>
            <a:xfrm>
              <a:off x="388047" y="3046299"/>
              <a:ext cx="11394619" cy="631727"/>
              <a:chOff x="388047" y="3046299"/>
              <a:chExt cx="11394619" cy="631727"/>
            </a:xfrm>
          </p:grpSpPr>
          <p:sp>
            <p:nvSpPr>
              <p:cNvPr id="77" name="箭头: 上 76">
                <a:extLst>
                  <a:ext uri="{FF2B5EF4-FFF2-40B4-BE49-F238E27FC236}">
                    <a16:creationId xmlns:a16="http://schemas.microsoft.com/office/drawing/2014/main" id="{325D6C1B-591E-474A-A89A-A1F88AE7BD82}"/>
                  </a:ext>
                </a:extLst>
              </p:cNvPr>
              <p:cNvSpPr/>
              <p:nvPr/>
            </p:nvSpPr>
            <p:spPr>
              <a:xfrm>
                <a:off x="388047" y="3046299"/>
                <a:ext cx="542910" cy="631727"/>
              </a:xfrm>
              <a:prstGeom prst="upArrow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  <p:sp>
            <p:nvSpPr>
              <p:cNvPr id="82" name="箭头: 上 81">
                <a:extLst>
                  <a:ext uri="{FF2B5EF4-FFF2-40B4-BE49-F238E27FC236}">
                    <a16:creationId xmlns:a16="http://schemas.microsoft.com/office/drawing/2014/main" id="{9AFB07A1-6D25-41A8-8551-79E43B6FCE72}"/>
                  </a:ext>
                </a:extLst>
              </p:cNvPr>
              <p:cNvSpPr/>
              <p:nvPr/>
            </p:nvSpPr>
            <p:spPr>
              <a:xfrm>
                <a:off x="11239756" y="3046299"/>
                <a:ext cx="542910" cy="631727"/>
              </a:xfrm>
              <a:prstGeom prst="upArrow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A5AA4A89-BCEF-4473-B054-9CF651EBB140}"/>
                </a:ext>
              </a:extLst>
            </p:cNvPr>
            <p:cNvGrpSpPr/>
            <p:nvPr/>
          </p:nvGrpSpPr>
          <p:grpSpPr>
            <a:xfrm>
              <a:off x="369193" y="2233233"/>
              <a:ext cx="11413473" cy="631727"/>
              <a:chOff x="369193" y="2233233"/>
              <a:chExt cx="11413473" cy="631727"/>
            </a:xfrm>
          </p:grpSpPr>
          <p:sp>
            <p:nvSpPr>
              <p:cNvPr id="78" name="箭头: 上 77">
                <a:extLst>
                  <a:ext uri="{FF2B5EF4-FFF2-40B4-BE49-F238E27FC236}">
                    <a16:creationId xmlns:a16="http://schemas.microsoft.com/office/drawing/2014/main" id="{67C5579E-6049-40F2-AD7A-D781E1750EC2}"/>
                  </a:ext>
                </a:extLst>
              </p:cNvPr>
              <p:cNvSpPr/>
              <p:nvPr/>
            </p:nvSpPr>
            <p:spPr>
              <a:xfrm>
                <a:off x="369193" y="2233233"/>
                <a:ext cx="542910" cy="631727"/>
              </a:xfrm>
              <a:prstGeom prst="upArrow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  <p:sp>
            <p:nvSpPr>
              <p:cNvPr id="83" name="箭头: 上 82">
                <a:extLst>
                  <a:ext uri="{FF2B5EF4-FFF2-40B4-BE49-F238E27FC236}">
                    <a16:creationId xmlns:a16="http://schemas.microsoft.com/office/drawing/2014/main" id="{35E4C5CC-78CB-4507-BC79-8F0F3FCEC22B}"/>
                  </a:ext>
                </a:extLst>
              </p:cNvPr>
              <p:cNvSpPr/>
              <p:nvPr/>
            </p:nvSpPr>
            <p:spPr>
              <a:xfrm>
                <a:off x="11239756" y="2233233"/>
                <a:ext cx="542910" cy="631727"/>
              </a:xfrm>
              <a:prstGeom prst="upArrow">
                <a:avLst/>
              </a:prstGeom>
              <a:solidFill>
                <a:schemeClr val="accent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600" b="1" dirty="0"/>
                  <a:t>服务</a:t>
                </a:r>
              </a:p>
            </p:txBody>
          </p:sp>
        </p:grp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9DFF4325-FE75-4C81-B536-5F0EFFCE3DC6}"/>
              </a:ext>
            </a:extLst>
          </p:cNvPr>
          <p:cNvGrpSpPr/>
          <p:nvPr/>
        </p:nvGrpSpPr>
        <p:grpSpPr>
          <a:xfrm>
            <a:off x="2712026" y="2701770"/>
            <a:ext cx="1209278" cy="502950"/>
            <a:chOff x="2712026" y="2701770"/>
            <a:chExt cx="1209278" cy="502950"/>
          </a:xfrm>
        </p:grpSpPr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035842A5-1048-4758-A827-D1E0044BCA04}"/>
                </a:ext>
              </a:extLst>
            </p:cNvPr>
            <p:cNvCxnSpPr>
              <a:cxnSpLocks/>
              <a:stCxn id="34" idx="0"/>
              <a:endCxn id="8" idx="2"/>
            </p:cNvCxnSpPr>
            <p:nvPr/>
          </p:nvCxnSpPr>
          <p:spPr>
            <a:xfrm flipV="1">
              <a:off x="2712026" y="2701770"/>
              <a:ext cx="1" cy="50295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íşlïḍè">
              <a:extLst>
                <a:ext uri="{FF2B5EF4-FFF2-40B4-BE49-F238E27FC236}">
                  <a16:creationId xmlns:a16="http://schemas.microsoft.com/office/drawing/2014/main" id="{9BD6085F-3FD7-4E56-937C-752C3B2AC9D4}"/>
                </a:ext>
              </a:extLst>
            </p:cNvPr>
            <p:cNvSpPr txBox="1"/>
            <p:nvPr/>
          </p:nvSpPr>
          <p:spPr>
            <a:xfrm>
              <a:off x="2897997" y="2740543"/>
              <a:ext cx="1023307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zh-CN" altLang="en-US" sz="1600" b="1" dirty="0"/>
                <a:t>服务原语</a:t>
              </a:r>
              <a:endParaRPr lang="en-US" altLang="zh-CN" sz="1600" b="1" dirty="0"/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2001B140-3328-4C11-AEC1-D98D149BE64C}"/>
              </a:ext>
            </a:extLst>
          </p:cNvPr>
          <p:cNvGrpSpPr/>
          <p:nvPr/>
        </p:nvGrpSpPr>
        <p:grpSpPr>
          <a:xfrm>
            <a:off x="2712026" y="3517887"/>
            <a:ext cx="1209278" cy="502950"/>
            <a:chOff x="2712026" y="2701770"/>
            <a:chExt cx="1209278" cy="502950"/>
          </a:xfrm>
        </p:grpSpPr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DD72D0C4-5F3F-4601-BEFC-E70A9998F4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2026" y="2701770"/>
              <a:ext cx="1" cy="50295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íşlïḍè">
              <a:extLst>
                <a:ext uri="{FF2B5EF4-FFF2-40B4-BE49-F238E27FC236}">
                  <a16:creationId xmlns:a16="http://schemas.microsoft.com/office/drawing/2014/main" id="{A8274099-8ED1-4D24-AF42-E5CA0093AB9C}"/>
                </a:ext>
              </a:extLst>
            </p:cNvPr>
            <p:cNvSpPr txBox="1"/>
            <p:nvPr/>
          </p:nvSpPr>
          <p:spPr>
            <a:xfrm>
              <a:off x="2897997" y="2740543"/>
              <a:ext cx="1023307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zh-CN" altLang="en-US" sz="1600" b="1" dirty="0"/>
                <a:t>服务原语</a:t>
              </a:r>
              <a:endParaRPr lang="en-US" altLang="zh-CN" sz="1600" b="1" dirty="0"/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4BEE4C71-56A8-491A-AD54-4246FEF704A7}"/>
              </a:ext>
            </a:extLst>
          </p:cNvPr>
          <p:cNvGrpSpPr/>
          <p:nvPr/>
        </p:nvGrpSpPr>
        <p:grpSpPr>
          <a:xfrm>
            <a:off x="2712026" y="4330610"/>
            <a:ext cx="1209278" cy="502950"/>
            <a:chOff x="2712026" y="2701770"/>
            <a:chExt cx="1209278" cy="502950"/>
          </a:xfrm>
        </p:grpSpPr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C77716C8-F186-4F75-A01F-6E56A82296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2026" y="2701770"/>
              <a:ext cx="1" cy="50295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íşlïḍè">
              <a:extLst>
                <a:ext uri="{FF2B5EF4-FFF2-40B4-BE49-F238E27FC236}">
                  <a16:creationId xmlns:a16="http://schemas.microsoft.com/office/drawing/2014/main" id="{4ABFC94B-4DA0-4188-9605-553A8EFB09C5}"/>
                </a:ext>
              </a:extLst>
            </p:cNvPr>
            <p:cNvSpPr txBox="1"/>
            <p:nvPr/>
          </p:nvSpPr>
          <p:spPr>
            <a:xfrm>
              <a:off x="2897997" y="2740543"/>
              <a:ext cx="1023307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zh-CN" altLang="en-US" sz="1600" b="1" dirty="0"/>
                <a:t>服务原语</a:t>
              </a:r>
              <a:endParaRPr lang="en-US" altLang="zh-CN" sz="1600" b="1" dirty="0"/>
            </a:p>
          </p:txBody>
        </p: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79EDD31E-0A77-494C-A20D-D4E60F32B875}"/>
              </a:ext>
            </a:extLst>
          </p:cNvPr>
          <p:cNvGrpSpPr/>
          <p:nvPr/>
        </p:nvGrpSpPr>
        <p:grpSpPr>
          <a:xfrm>
            <a:off x="2712026" y="5135878"/>
            <a:ext cx="1209278" cy="502950"/>
            <a:chOff x="2712026" y="2701770"/>
            <a:chExt cx="1209278" cy="502950"/>
          </a:xfrm>
        </p:grpSpPr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7B077354-6A9D-4F9E-B137-F3270CC64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2026" y="2701770"/>
              <a:ext cx="1" cy="50295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íşlïḍè">
              <a:extLst>
                <a:ext uri="{FF2B5EF4-FFF2-40B4-BE49-F238E27FC236}">
                  <a16:creationId xmlns:a16="http://schemas.microsoft.com/office/drawing/2014/main" id="{89CF17D9-5F02-45D3-97EA-5817120F7B14}"/>
                </a:ext>
              </a:extLst>
            </p:cNvPr>
            <p:cNvSpPr txBox="1"/>
            <p:nvPr/>
          </p:nvSpPr>
          <p:spPr>
            <a:xfrm>
              <a:off x="2897997" y="2740543"/>
              <a:ext cx="1023307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zh-CN" altLang="en-US" sz="1600" b="1" dirty="0"/>
                <a:t>服务原语</a:t>
              </a:r>
              <a:endParaRPr lang="en-US" altLang="zh-CN" sz="1600" b="1" dirty="0"/>
            </a:p>
          </p:txBody>
        </p:sp>
      </p:grpSp>
      <p:sp>
        <p:nvSpPr>
          <p:cNvPr id="71" name="椭圆 70">
            <a:extLst>
              <a:ext uri="{FF2B5EF4-FFF2-40B4-BE49-F238E27FC236}">
                <a16:creationId xmlns:a16="http://schemas.microsoft.com/office/drawing/2014/main" id="{7DA2AEE5-63CB-4420-B61F-346D74C8B2CC}"/>
              </a:ext>
            </a:extLst>
          </p:cNvPr>
          <p:cNvSpPr/>
          <p:nvPr/>
        </p:nvSpPr>
        <p:spPr>
          <a:xfrm>
            <a:off x="2604024" y="3666752"/>
            <a:ext cx="216000" cy="216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A092FF71-2D9E-4DDB-91E5-408D95C09139}"/>
              </a:ext>
            </a:extLst>
          </p:cNvPr>
          <p:cNvSpPr/>
          <p:nvPr/>
        </p:nvSpPr>
        <p:spPr>
          <a:xfrm>
            <a:off x="2604024" y="4481938"/>
            <a:ext cx="216000" cy="216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9" name="椭圆 88">
            <a:extLst>
              <a:ext uri="{FF2B5EF4-FFF2-40B4-BE49-F238E27FC236}">
                <a16:creationId xmlns:a16="http://schemas.microsoft.com/office/drawing/2014/main" id="{B9CDA4C3-425F-415C-8395-401B3CF8F2DC}"/>
              </a:ext>
            </a:extLst>
          </p:cNvPr>
          <p:cNvSpPr/>
          <p:nvPr/>
        </p:nvSpPr>
        <p:spPr>
          <a:xfrm>
            <a:off x="2604024" y="5297123"/>
            <a:ext cx="216000" cy="216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9919211F-39D4-441F-B441-3F5E9B524DB5}"/>
              </a:ext>
            </a:extLst>
          </p:cNvPr>
          <p:cNvSpPr/>
          <p:nvPr/>
        </p:nvSpPr>
        <p:spPr>
          <a:xfrm>
            <a:off x="2604024" y="2851566"/>
            <a:ext cx="216000" cy="216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FA98005-C6DE-4348-A4A0-70D65D429DE6}"/>
              </a:ext>
            </a:extLst>
          </p:cNvPr>
          <p:cNvGrpSpPr/>
          <p:nvPr/>
        </p:nvGrpSpPr>
        <p:grpSpPr>
          <a:xfrm>
            <a:off x="8214218" y="2701770"/>
            <a:ext cx="1265757" cy="502950"/>
            <a:chOff x="8214218" y="2701770"/>
            <a:chExt cx="1265757" cy="502950"/>
          </a:xfrm>
        </p:grpSpPr>
        <p:cxnSp>
          <p:nvCxnSpPr>
            <p:cNvPr id="105" name="直接箭头连接符 104">
              <a:extLst>
                <a:ext uri="{FF2B5EF4-FFF2-40B4-BE49-F238E27FC236}">
                  <a16:creationId xmlns:a16="http://schemas.microsoft.com/office/drawing/2014/main" id="{E5D49F56-F5FD-4DFD-8F55-F9A690F31C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79974" y="2701770"/>
              <a:ext cx="1" cy="50295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íşlïḍè">
              <a:extLst>
                <a:ext uri="{FF2B5EF4-FFF2-40B4-BE49-F238E27FC236}">
                  <a16:creationId xmlns:a16="http://schemas.microsoft.com/office/drawing/2014/main" id="{8E0E96FC-FAB7-44B8-BFFD-190940A52D20}"/>
                </a:ext>
              </a:extLst>
            </p:cNvPr>
            <p:cNvSpPr txBox="1"/>
            <p:nvPr/>
          </p:nvSpPr>
          <p:spPr>
            <a:xfrm>
              <a:off x="8214218" y="2740543"/>
              <a:ext cx="1023307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r"/>
              <a:r>
                <a:rPr lang="zh-CN" altLang="en-US" sz="1600" b="1" dirty="0"/>
                <a:t>服务原语</a:t>
              </a:r>
              <a:endParaRPr lang="en-US" altLang="zh-CN" sz="1600" b="1" dirty="0"/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33BC4AC0-D993-42B1-AEC6-217CE63ED10C}"/>
              </a:ext>
            </a:extLst>
          </p:cNvPr>
          <p:cNvGrpSpPr/>
          <p:nvPr/>
        </p:nvGrpSpPr>
        <p:grpSpPr>
          <a:xfrm>
            <a:off x="8214218" y="3517887"/>
            <a:ext cx="1265757" cy="502950"/>
            <a:chOff x="8214218" y="3517887"/>
            <a:chExt cx="1265757" cy="502950"/>
          </a:xfrm>
        </p:grpSpPr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6F00D446-18EC-423D-A130-FC15ABBCCB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79974" y="3517887"/>
              <a:ext cx="1" cy="50295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íşlïḍè">
              <a:extLst>
                <a:ext uri="{FF2B5EF4-FFF2-40B4-BE49-F238E27FC236}">
                  <a16:creationId xmlns:a16="http://schemas.microsoft.com/office/drawing/2014/main" id="{493A5A18-FC57-48B2-BEF1-F3406F19EB01}"/>
                </a:ext>
              </a:extLst>
            </p:cNvPr>
            <p:cNvSpPr txBox="1"/>
            <p:nvPr/>
          </p:nvSpPr>
          <p:spPr>
            <a:xfrm>
              <a:off x="8214218" y="3556660"/>
              <a:ext cx="1023307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r"/>
              <a:r>
                <a:rPr lang="zh-CN" altLang="en-US" sz="1600" b="1" dirty="0"/>
                <a:t>服务原语</a:t>
              </a:r>
              <a:endParaRPr lang="en-US" altLang="zh-CN" sz="1600" b="1" dirty="0"/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46639D3-96D1-43BF-BCD6-9F444F0DE7D8}"/>
              </a:ext>
            </a:extLst>
          </p:cNvPr>
          <p:cNvGrpSpPr/>
          <p:nvPr/>
        </p:nvGrpSpPr>
        <p:grpSpPr>
          <a:xfrm>
            <a:off x="8214218" y="4330610"/>
            <a:ext cx="1265757" cy="502950"/>
            <a:chOff x="8214218" y="4330610"/>
            <a:chExt cx="1265757" cy="502950"/>
          </a:xfrm>
        </p:grpSpPr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594A2559-9923-4607-96C4-5F27AA006C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79974" y="4330610"/>
              <a:ext cx="1" cy="50295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íşlïḍè">
              <a:extLst>
                <a:ext uri="{FF2B5EF4-FFF2-40B4-BE49-F238E27FC236}">
                  <a16:creationId xmlns:a16="http://schemas.microsoft.com/office/drawing/2014/main" id="{BFEF60DD-8A5D-4EA5-ACDD-CE98D0E022C2}"/>
                </a:ext>
              </a:extLst>
            </p:cNvPr>
            <p:cNvSpPr txBox="1"/>
            <p:nvPr/>
          </p:nvSpPr>
          <p:spPr>
            <a:xfrm>
              <a:off x="8214218" y="4369383"/>
              <a:ext cx="1023307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r"/>
              <a:r>
                <a:rPr lang="zh-CN" altLang="en-US" sz="1600" b="1" dirty="0"/>
                <a:t>服务原语</a:t>
              </a:r>
              <a:endParaRPr lang="en-US" altLang="zh-CN" sz="1600" b="1" dirty="0"/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F0A4CE1-803E-4336-9AFD-2D2B4995429E}"/>
              </a:ext>
            </a:extLst>
          </p:cNvPr>
          <p:cNvGrpSpPr/>
          <p:nvPr/>
        </p:nvGrpSpPr>
        <p:grpSpPr>
          <a:xfrm>
            <a:off x="8214218" y="5135878"/>
            <a:ext cx="1265757" cy="502950"/>
            <a:chOff x="8214218" y="5135878"/>
            <a:chExt cx="1265757" cy="502950"/>
          </a:xfrm>
        </p:grpSpPr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id="{32A7DE4C-1C0B-47D5-A743-5EEC671D20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79974" y="5135878"/>
              <a:ext cx="1" cy="50295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íşlïḍè">
              <a:extLst>
                <a:ext uri="{FF2B5EF4-FFF2-40B4-BE49-F238E27FC236}">
                  <a16:creationId xmlns:a16="http://schemas.microsoft.com/office/drawing/2014/main" id="{B361633A-42D8-4A8B-B2A0-5941EF99FC7D}"/>
                </a:ext>
              </a:extLst>
            </p:cNvPr>
            <p:cNvSpPr txBox="1"/>
            <p:nvPr/>
          </p:nvSpPr>
          <p:spPr>
            <a:xfrm>
              <a:off x="8214218" y="5174651"/>
              <a:ext cx="1023307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r"/>
              <a:r>
                <a:rPr lang="zh-CN" altLang="en-US" sz="1600" b="1" dirty="0"/>
                <a:t>服务原语</a:t>
              </a:r>
              <a:endParaRPr lang="en-US" altLang="zh-CN" sz="1600" b="1" dirty="0"/>
            </a:p>
          </p:txBody>
        </p:sp>
      </p:grpSp>
      <p:sp>
        <p:nvSpPr>
          <p:cNvPr id="91" name="椭圆 90">
            <a:extLst>
              <a:ext uri="{FF2B5EF4-FFF2-40B4-BE49-F238E27FC236}">
                <a16:creationId xmlns:a16="http://schemas.microsoft.com/office/drawing/2014/main" id="{7673B0FB-9AAC-4816-8F73-D11E731DFE99}"/>
              </a:ext>
            </a:extLst>
          </p:cNvPr>
          <p:cNvSpPr/>
          <p:nvPr/>
        </p:nvSpPr>
        <p:spPr>
          <a:xfrm>
            <a:off x="9381300" y="3666752"/>
            <a:ext cx="216000" cy="216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9E3A2064-53AB-464E-B8DE-B600F118C059}"/>
              </a:ext>
            </a:extLst>
          </p:cNvPr>
          <p:cNvSpPr/>
          <p:nvPr/>
        </p:nvSpPr>
        <p:spPr>
          <a:xfrm>
            <a:off x="9381300" y="4481938"/>
            <a:ext cx="216000" cy="216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951E848A-EADE-4CE0-AF41-A945DAB3104D}"/>
              </a:ext>
            </a:extLst>
          </p:cNvPr>
          <p:cNvSpPr/>
          <p:nvPr/>
        </p:nvSpPr>
        <p:spPr>
          <a:xfrm>
            <a:off x="9381300" y="5297123"/>
            <a:ext cx="216000" cy="216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0" name="椭圆 89">
            <a:extLst>
              <a:ext uri="{FF2B5EF4-FFF2-40B4-BE49-F238E27FC236}">
                <a16:creationId xmlns:a16="http://schemas.microsoft.com/office/drawing/2014/main" id="{9C412B20-19A1-4571-B408-F9E57AF24066}"/>
              </a:ext>
            </a:extLst>
          </p:cNvPr>
          <p:cNvSpPr/>
          <p:nvPr/>
        </p:nvSpPr>
        <p:spPr>
          <a:xfrm>
            <a:off x="9381300" y="2851566"/>
            <a:ext cx="216000" cy="216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7" name="íşlïḍè">
            <a:extLst>
              <a:ext uri="{FF2B5EF4-FFF2-40B4-BE49-F238E27FC236}">
                <a16:creationId xmlns:a16="http://schemas.microsoft.com/office/drawing/2014/main" id="{1C427B47-7844-42FC-B273-F8E2551AB4A6}"/>
              </a:ext>
            </a:extLst>
          </p:cNvPr>
          <p:cNvSpPr txBox="1"/>
          <p:nvPr/>
        </p:nvSpPr>
        <p:spPr>
          <a:xfrm>
            <a:off x="4724385" y="4555797"/>
            <a:ext cx="2762167" cy="41909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accent4"/>
                </a:solidFill>
              </a:rPr>
              <a:t>帧（</a:t>
            </a:r>
            <a:r>
              <a:rPr lang="en-US" altLang="zh-CN" sz="1600" b="1" dirty="0">
                <a:solidFill>
                  <a:schemeClr val="accent4"/>
                </a:solidFill>
              </a:rPr>
              <a:t>frame</a:t>
            </a:r>
            <a:r>
              <a:rPr lang="zh-CN" altLang="en-US" sz="1600" b="1" dirty="0">
                <a:solidFill>
                  <a:schemeClr val="accent4"/>
                </a:solidFill>
              </a:rPr>
              <a:t>）</a:t>
            </a:r>
            <a:endParaRPr lang="en-US" altLang="zh-CN" sz="1600" b="1" dirty="0">
              <a:solidFill>
                <a:schemeClr val="accent4"/>
              </a:solidFill>
            </a:endParaRPr>
          </a:p>
        </p:txBody>
      </p:sp>
      <p:sp>
        <p:nvSpPr>
          <p:cNvPr id="110" name="íşlïḍè">
            <a:extLst>
              <a:ext uri="{FF2B5EF4-FFF2-40B4-BE49-F238E27FC236}">
                <a16:creationId xmlns:a16="http://schemas.microsoft.com/office/drawing/2014/main" id="{7AFD9A44-79BD-4A79-8744-7242215F92EB}"/>
              </a:ext>
            </a:extLst>
          </p:cNvPr>
          <p:cNvSpPr txBox="1"/>
          <p:nvPr/>
        </p:nvSpPr>
        <p:spPr>
          <a:xfrm>
            <a:off x="4724343" y="3744015"/>
            <a:ext cx="2762167" cy="41909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1600" b="1" dirty="0">
                <a:solidFill>
                  <a:schemeClr val="accent6"/>
                </a:solidFill>
              </a:rPr>
              <a:t>IP</a:t>
            </a:r>
            <a:r>
              <a:rPr lang="zh-CN" altLang="en-US" sz="1600" b="1" dirty="0">
                <a:solidFill>
                  <a:schemeClr val="accent6"/>
                </a:solidFill>
              </a:rPr>
              <a:t>数据报或分组（</a:t>
            </a:r>
            <a:r>
              <a:rPr lang="en-US" altLang="zh-CN" sz="1600" b="1" dirty="0">
                <a:solidFill>
                  <a:schemeClr val="accent6"/>
                </a:solidFill>
              </a:rPr>
              <a:t>packet</a:t>
            </a:r>
            <a:r>
              <a:rPr lang="zh-CN" altLang="en-US" sz="1600" b="1" dirty="0">
                <a:solidFill>
                  <a:schemeClr val="accent6"/>
                </a:solidFill>
              </a:rPr>
              <a:t>）</a:t>
            </a:r>
            <a:endParaRPr lang="en-US" altLang="zh-CN" sz="1600" b="1" dirty="0">
              <a:solidFill>
                <a:schemeClr val="accent6"/>
              </a:solidFill>
            </a:endParaRPr>
          </a:p>
        </p:txBody>
      </p:sp>
      <p:sp>
        <p:nvSpPr>
          <p:cNvPr id="113" name="íşlïḍè">
            <a:extLst>
              <a:ext uri="{FF2B5EF4-FFF2-40B4-BE49-F238E27FC236}">
                <a16:creationId xmlns:a16="http://schemas.microsoft.com/office/drawing/2014/main" id="{E84DCF37-C64F-4F78-BCD3-AF4CF6BC59C1}"/>
              </a:ext>
            </a:extLst>
          </p:cNvPr>
          <p:cNvSpPr txBox="1"/>
          <p:nvPr/>
        </p:nvSpPr>
        <p:spPr>
          <a:xfrm>
            <a:off x="4725006" y="2708316"/>
            <a:ext cx="2762167" cy="64723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altLang="zh-CN" sz="1600" b="1" dirty="0">
                <a:solidFill>
                  <a:schemeClr val="accent3"/>
                </a:solidFill>
              </a:rPr>
              <a:t>TCP</a:t>
            </a:r>
            <a:r>
              <a:rPr lang="zh-CN" altLang="en-US" sz="1600" b="1" dirty="0">
                <a:solidFill>
                  <a:schemeClr val="accent3"/>
                </a:solidFill>
              </a:rPr>
              <a:t>报文段（</a:t>
            </a:r>
            <a:r>
              <a:rPr lang="en-US" altLang="zh-CN" sz="1600" b="1" dirty="0">
                <a:solidFill>
                  <a:schemeClr val="accent3"/>
                </a:solidFill>
              </a:rPr>
              <a:t>segment</a:t>
            </a:r>
            <a:r>
              <a:rPr lang="zh-CN" altLang="en-US" sz="1600" b="1" dirty="0">
                <a:solidFill>
                  <a:schemeClr val="accent3"/>
                </a:solidFill>
              </a:rPr>
              <a:t>）</a:t>
            </a:r>
            <a:endParaRPr lang="en-US" altLang="zh-CN" sz="1600" b="1" dirty="0">
              <a:solidFill>
                <a:schemeClr val="accent3"/>
              </a:solidFill>
            </a:endParaRPr>
          </a:p>
          <a:p>
            <a:pPr algn="ctr"/>
            <a:r>
              <a:rPr lang="en-US" altLang="zh-CN" sz="1600" b="1" dirty="0">
                <a:solidFill>
                  <a:schemeClr val="accent3"/>
                </a:solidFill>
              </a:rPr>
              <a:t>UDP</a:t>
            </a:r>
            <a:r>
              <a:rPr lang="zh-CN" altLang="en-US" sz="1600" b="1" dirty="0">
                <a:solidFill>
                  <a:schemeClr val="accent3"/>
                </a:solidFill>
              </a:rPr>
              <a:t>用户数据报（</a:t>
            </a:r>
            <a:r>
              <a:rPr lang="en-US" altLang="zh-CN" sz="1600" b="1" dirty="0">
                <a:solidFill>
                  <a:schemeClr val="accent3"/>
                </a:solidFill>
              </a:rPr>
              <a:t>datagram</a:t>
            </a:r>
            <a:r>
              <a:rPr lang="zh-CN" altLang="en-US" sz="1600" b="1" dirty="0">
                <a:solidFill>
                  <a:schemeClr val="accent3"/>
                </a:solidFill>
              </a:rPr>
              <a:t>）</a:t>
            </a:r>
            <a:endParaRPr lang="en-US" altLang="zh-CN" sz="1600" b="1" dirty="0">
              <a:solidFill>
                <a:schemeClr val="accent3"/>
              </a:solidFill>
            </a:endParaRPr>
          </a:p>
        </p:txBody>
      </p:sp>
      <p:sp>
        <p:nvSpPr>
          <p:cNvPr id="116" name="íşlïḍè">
            <a:extLst>
              <a:ext uri="{FF2B5EF4-FFF2-40B4-BE49-F238E27FC236}">
                <a16:creationId xmlns:a16="http://schemas.microsoft.com/office/drawing/2014/main" id="{4DF2AE01-A14A-4E5E-8D8F-8575A540819D}"/>
              </a:ext>
            </a:extLst>
          </p:cNvPr>
          <p:cNvSpPr txBox="1"/>
          <p:nvPr/>
        </p:nvSpPr>
        <p:spPr>
          <a:xfrm>
            <a:off x="4724847" y="2120651"/>
            <a:ext cx="2762167" cy="41909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accent1"/>
                </a:solidFill>
              </a:rPr>
              <a:t>应用报文（</a:t>
            </a:r>
            <a:r>
              <a:rPr lang="en-US" altLang="zh-CN" sz="1600" b="1" dirty="0">
                <a:solidFill>
                  <a:schemeClr val="accent1"/>
                </a:solidFill>
              </a:rPr>
              <a:t>message</a:t>
            </a:r>
            <a:r>
              <a:rPr lang="zh-CN" altLang="en-US" sz="1600" b="1" dirty="0">
                <a:solidFill>
                  <a:schemeClr val="accent1"/>
                </a:solidFill>
              </a:rPr>
              <a:t>）</a:t>
            </a:r>
            <a:endParaRPr lang="en-US" altLang="zh-CN" sz="1600" b="1" dirty="0">
              <a:solidFill>
                <a:schemeClr val="accent1"/>
              </a:solidFill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152BD80-EE95-4ECD-BDDB-D2F537B58D23}"/>
              </a:ext>
            </a:extLst>
          </p:cNvPr>
          <p:cNvGrpSpPr/>
          <p:nvPr/>
        </p:nvGrpSpPr>
        <p:grpSpPr>
          <a:xfrm>
            <a:off x="4609718" y="2140795"/>
            <a:ext cx="3073138" cy="4299509"/>
            <a:chOff x="4609718" y="2140795"/>
            <a:chExt cx="3073138" cy="429950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2F91D4A-3B6F-4A6E-99D2-4D95340643CD}"/>
                </a:ext>
              </a:extLst>
            </p:cNvPr>
            <p:cNvSpPr/>
            <p:nvPr/>
          </p:nvSpPr>
          <p:spPr>
            <a:xfrm>
              <a:off x="4609718" y="2140795"/>
              <a:ext cx="3073138" cy="3912504"/>
            </a:xfrm>
            <a:prstGeom prst="rect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íşlïḍè">
              <a:extLst>
                <a:ext uri="{FF2B5EF4-FFF2-40B4-BE49-F238E27FC236}">
                  <a16:creationId xmlns:a16="http://schemas.microsoft.com/office/drawing/2014/main" id="{8E216CB1-509E-40BC-8E8F-23C618393A65}"/>
                </a:ext>
              </a:extLst>
            </p:cNvPr>
            <p:cNvSpPr txBox="1"/>
            <p:nvPr/>
          </p:nvSpPr>
          <p:spPr>
            <a:xfrm>
              <a:off x="4925532" y="6021204"/>
              <a:ext cx="2359789" cy="419100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zh-CN" altLang="zh-CN" b="1" dirty="0">
                  <a:solidFill>
                    <a:schemeClr val="accent1">
                      <a:lumMod val="75000"/>
                    </a:schemeClr>
                  </a:solidFill>
                </a:rPr>
                <a:t>协议数据单元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PDU</a:t>
              </a:r>
            </a:p>
          </p:txBody>
        </p:sp>
      </p:grpSp>
      <p:sp>
        <p:nvSpPr>
          <p:cNvPr id="134" name="矩形 133">
            <a:extLst>
              <a:ext uri="{FF2B5EF4-FFF2-40B4-BE49-F238E27FC236}">
                <a16:creationId xmlns:a16="http://schemas.microsoft.com/office/drawing/2014/main" id="{72ED1EFF-074E-4BFE-AE85-B25B5E0E6863}"/>
              </a:ext>
            </a:extLst>
          </p:cNvPr>
          <p:cNvSpPr/>
          <p:nvPr/>
        </p:nvSpPr>
        <p:spPr>
          <a:xfrm>
            <a:off x="1016000" y="1677020"/>
            <a:ext cx="256976" cy="25697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íşlïḍè">
            <a:extLst>
              <a:ext uri="{FF2B5EF4-FFF2-40B4-BE49-F238E27FC236}">
                <a16:creationId xmlns:a16="http://schemas.microsoft.com/office/drawing/2014/main" id="{69C750C0-4733-40F7-AA67-70C4CAA533DA}"/>
              </a:ext>
            </a:extLst>
          </p:cNvPr>
          <p:cNvSpPr txBox="1"/>
          <p:nvPr/>
        </p:nvSpPr>
        <p:spPr>
          <a:xfrm>
            <a:off x="1293758" y="1595958"/>
            <a:ext cx="10593442" cy="4191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r>
              <a:rPr lang="zh-CN" altLang="en-US" b="1" dirty="0"/>
              <a:t>同一系统内层与层之间交换的数据包称为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服务数据单元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US" altLang="zh-CN" b="1" dirty="0"/>
              <a:t>ervice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 altLang="zh-CN" b="1" dirty="0"/>
              <a:t>ata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U</a:t>
            </a:r>
            <a:r>
              <a:rPr lang="en-US" altLang="zh-CN" b="1" dirty="0"/>
              <a:t>nit</a:t>
            </a:r>
            <a:r>
              <a:rPr lang="zh-CN" altLang="en-US" b="1" dirty="0"/>
              <a:t>，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SDU</a:t>
            </a:r>
            <a:r>
              <a:rPr lang="zh-CN" altLang="en-US" b="1" dirty="0"/>
              <a:t>）。</a:t>
            </a:r>
            <a:endParaRPr lang="en-US" altLang="zh-CN" b="1" dirty="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34DB9D4D-DBE7-4AEB-9070-3D01664D50B6}"/>
              </a:ext>
            </a:extLst>
          </p:cNvPr>
          <p:cNvGrpSpPr/>
          <p:nvPr/>
        </p:nvGrpSpPr>
        <p:grpSpPr>
          <a:xfrm>
            <a:off x="1790876" y="5218497"/>
            <a:ext cx="8616075" cy="502950"/>
            <a:chOff x="1790876" y="5218497"/>
            <a:chExt cx="8616075" cy="502950"/>
          </a:xfrm>
        </p:grpSpPr>
        <p:sp>
          <p:nvSpPr>
            <p:cNvPr id="15" name="标注: 上箭头 14">
              <a:extLst>
                <a:ext uri="{FF2B5EF4-FFF2-40B4-BE49-F238E27FC236}">
                  <a16:creationId xmlns:a16="http://schemas.microsoft.com/office/drawing/2014/main" id="{AFE9770F-46DC-4D97-87DC-2A691805C526}"/>
                </a:ext>
              </a:extLst>
            </p:cNvPr>
            <p:cNvSpPr/>
            <p:nvPr/>
          </p:nvSpPr>
          <p:spPr>
            <a:xfrm>
              <a:off x="1790876" y="5218497"/>
              <a:ext cx="591553" cy="502950"/>
            </a:xfrm>
            <a:prstGeom prst="upArrowCallou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2"/>
                  </a:solidFill>
                </a:rPr>
                <a:t>SDU</a:t>
              </a:r>
              <a:endParaRPr lang="zh-CN" altLang="en-US" b="1" dirty="0">
                <a:solidFill>
                  <a:schemeClr val="tx2"/>
                </a:solidFill>
              </a:endParaRPr>
            </a:p>
          </p:txBody>
        </p:sp>
        <p:sp>
          <p:nvSpPr>
            <p:cNvPr id="141" name="标注: 上箭头 140">
              <a:extLst>
                <a:ext uri="{FF2B5EF4-FFF2-40B4-BE49-F238E27FC236}">
                  <a16:creationId xmlns:a16="http://schemas.microsoft.com/office/drawing/2014/main" id="{14550663-4030-4DD1-BB8C-58A9FBC8BB49}"/>
                </a:ext>
              </a:extLst>
            </p:cNvPr>
            <p:cNvSpPr/>
            <p:nvPr/>
          </p:nvSpPr>
          <p:spPr>
            <a:xfrm>
              <a:off x="9815398" y="5218497"/>
              <a:ext cx="591553" cy="502950"/>
            </a:xfrm>
            <a:prstGeom prst="upArrowCallou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2"/>
                  </a:solidFill>
                </a:rPr>
                <a:t>SDU</a:t>
              </a:r>
              <a:endParaRPr lang="zh-CN" altLang="en-US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2DC1049-C6B7-446A-AECA-B2E85C282522}"/>
              </a:ext>
            </a:extLst>
          </p:cNvPr>
          <p:cNvGrpSpPr/>
          <p:nvPr/>
        </p:nvGrpSpPr>
        <p:grpSpPr>
          <a:xfrm>
            <a:off x="1790876" y="4406542"/>
            <a:ext cx="8616075" cy="502950"/>
            <a:chOff x="1790876" y="4406542"/>
            <a:chExt cx="8616075" cy="502950"/>
          </a:xfrm>
        </p:grpSpPr>
        <p:sp>
          <p:nvSpPr>
            <p:cNvPr id="136" name="标注: 上箭头 135">
              <a:extLst>
                <a:ext uri="{FF2B5EF4-FFF2-40B4-BE49-F238E27FC236}">
                  <a16:creationId xmlns:a16="http://schemas.microsoft.com/office/drawing/2014/main" id="{A1C95C96-ED32-4A92-B6A8-9B7D0DABA0FA}"/>
                </a:ext>
              </a:extLst>
            </p:cNvPr>
            <p:cNvSpPr/>
            <p:nvPr/>
          </p:nvSpPr>
          <p:spPr>
            <a:xfrm>
              <a:off x="1790876" y="4406542"/>
              <a:ext cx="591553" cy="502950"/>
            </a:xfrm>
            <a:prstGeom prst="upArrowCallou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accent4"/>
                  </a:solidFill>
                </a:rPr>
                <a:t>SDU</a:t>
              </a:r>
              <a:endParaRPr lang="zh-CN" altLang="en-US" b="1" dirty="0">
                <a:solidFill>
                  <a:schemeClr val="accent4"/>
                </a:solidFill>
              </a:endParaRPr>
            </a:p>
          </p:txBody>
        </p:sp>
        <p:sp>
          <p:nvSpPr>
            <p:cNvPr id="142" name="标注: 上箭头 141">
              <a:extLst>
                <a:ext uri="{FF2B5EF4-FFF2-40B4-BE49-F238E27FC236}">
                  <a16:creationId xmlns:a16="http://schemas.microsoft.com/office/drawing/2014/main" id="{2F81C3E4-9054-4280-8B18-45D9CED1731C}"/>
                </a:ext>
              </a:extLst>
            </p:cNvPr>
            <p:cNvSpPr/>
            <p:nvPr/>
          </p:nvSpPr>
          <p:spPr>
            <a:xfrm>
              <a:off x="9815398" y="4406542"/>
              <a:ext cx="591553" cy="502950"/>
            </a:xfrm>
            <a:prstGeom prst="upArrowCallou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accent4"/>
                  </a:solidFill>
                </a:rPr>
                <a:t>SDU</a:t>
              </a:r>
              <a:endParaRPr lang="zh-CN" altLang="en-US" b="1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C2AE2AAF-1FA2-49F3-ADE3-6A27FEAE26E9}"/>
              </a:ext>
            </a:extLst>
          </p:cNvPr>
          <p:cNvGrpSpPr/>
          <p:nvPr/>
        </p:nvGrpSpPr>
        <p:grpSpPr>
          <a:xfrm>
            <a:off x="1790876" y="3584665"/>
            <a:ext cx="8616075" cy="502950"/>
            <a:chOff x="1790876" y="3584665"/>
            <a:chExt cx="8616075" cy="502950"/>
          </a:xfrm>
        </p:grpSpPr>
        <p:sp>
          <p:nvSpPr>
            <p:cNvPr id="137" name="标注: 上箭头 136">
              <a:extLst>
                <a:ext uri="{FF2B5EF4-FFF2-40B4-BE49-F238E27FC236}">
                  <a16:creationId xmlns:a16="http://schemas.microsoft.com/office/drawing/2014/main" id="{74132C4C-89A0-4CBD-9D3C-EEAFFDC01279}"/>
                </a:ext>
              </a:extLst>
            </p:cNvPr>
            <p:cNvSpPr/>
            <p:nvPr/>
          </p:nvSpPr>
          <p:spPr>
            <a:xfrm>
              <a:off x="1790876" y="3584665"/>
              <a:ext cx="591553" cy="502950"/>
            </a:xfrm>
            <a:prstGeom prst="upArrowCallou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accent6"/>
                  </a:solidFill>
                </a:rPr>
                <a:t>SDU</a:t>
              </a:r>
              <a:endParaRPr lang="zh-CN" altLang="en-US" b="1" dirty="0">
                <a:solidFill>
                  <a:schemeClr val="accent6"/>
                </a:solidFill>
              </a:endParaRPr>
            </a:p>
          </p:txBody>
        </p:sp>
        <p:sp>
          <p:nvSpPr>
            <p:cNvPr id="143" name="标注: 上箭头 142">
              <a:extLst>
                <a:ext uri="{FF2B5EF4-FFF2-40B4-BE49-F238E27FC236}">
                  <a16:creationId xmlns:a16="http://schemas.microsoft.com/office/drawing/2014/main" id="{A077B064-5661-48C2-A9AD-CB77B319511F}"/>
                </a:ext>
              </a:extLst>
            </p:cNvPr>
            <p:cNvSpPr/>
            <p:nvPr/>
          </p:nvSpPr>
          <p:spPr>
            <a:xfrm>
              <a:off x="9815398" y="3584665"/>
              <a:ext cx="591553" cy="502950"/>
            </a:xfrm>
            <a:prstGeom prst="upArrowCallou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accent6"/>
                  </a:solidFill>
                </a:rPr>
                <a:t>SDU</a:t>
              </a:r>
              <a:endParaRPr lang="zh-CN" altLang="en-US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12DBECD-56FA-421B-8644-7C067058EBED}"/>
              </a:ext>
            </a:extLst>
          </p:cNvPr>
          <p:cNvGrpSpPr/>
          <p:nvPr/>
        </p:nvGrpSpPr>
        <p:grpSpPr>
          <a:xfrm>
            <a:off x="1790876" y="2775680"/>
            <a:ext cx="8616075" cy="502950"/>
            <a:chOff x="1790876" y="2775680"/>
            <a:chExt cx="8616075" cy="502950"/>
          </a:xfrm>
        </p:grpSpPr>
        <p:sp>
          <p:nvSpPr>
            <p:cNvPr id="138" name="标注: 上箭头 137">
              <a:extLst>
                <a:ext uri="{FF2B5EF4-FFF2-40B4-BE49-F238E27FC236}">
                  <a16:creationId xmlns:a16="http://schemas.microsoft.com/office/drawing/2014/main" id="{FBC78C7C-F3DD-4A5C-B53B-2249092980D4}"/>
                </a:ext>
              </a:extLst>
            </p:cNvPr>
            <p:cNvSpPr/>
            <p:nvPr/>
          </p:nvSpPr>
          <p:spPr>
            <a:xfrm>
              <a:off x="1790876" y="2775680"/>
              <a:ext cx="591553" cy="502950"/>
            </a:xfrm>
            <a:prstGeom prst="upArrowCallou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accent3"/>
                  </a:solidFill>
                </a:rPr>
                <a:t>SDU</a:t>
              </a:r>
              <a:endParaRPr lang="zh-CN" altLang="en-US" b="1" dirty="0">
                <a:solidFill>
                  <a:schemeClr val="accent3"/>
                </a:solidFill>
              </a:endParaRPr>
            </a:p>
          </p:txBody>
        </p:sp>
        <p:sp>
          <p:nvSpPr>
            <p:cNvPr id="144" name="标注: 上箭头 143">
              <a:extLst>
                <a:ext uri="{FF2B5EF4-FFF2-40B4-BE49-F238E27FC236}">
                  <a16:creationId xmlns:a16="http://schemas.microsoft.com/office/drawing/2014/main" id="{CF653115-FDDE-4888-93DE-EAD1FE681AFC}"/>
                </a:ext>
              </a:extLst>
            </p:cNvPr>
            <p:cNvSpPr/>
            <p:nvPr/>
          </p:nvSpPr>
          <p:spPr>
            <a:xfrm>
              <a:off x="9815398" y="2775680"/>
              <a:ext cx="591553" cy="502950"/>
            </a:xfrm>
            <a:prstGeom prst="upArrowCallou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accent3"/>
                  </a:solidFill>
                </a:rPr>
                <a:t>SDU</a:t>
              </a:r>
              <a:endParaRPr lang="zh-CN" altLang="en-US" b="1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2B258D7A-3886-44C4-B9CF-BE499C91FC65}"/>
              </a:ext>
            </a:extLst>
          </p:cNvPr>
          <p:cNvGrpSpPr/>
          <p:nvPr/>
        </p:nvGrpSpPr>
        <p:grpSpPr>
          <a:xfrm>
            <a:off x="1790876" y="1969156"/>
            <a:ext cx="8616075" cy="502950"/>
            <a:chOff x="1790876" y="1969156"/>
            <a:chExt cx="8616075" cy="502950"/>
          </a:xfrm>
        </p:grpSpPr>
        <p:sp>
          <p:nvSpPr>
            <p:cNvPr id="139" name="标注: 上箭头 138">
              <a:extLst>
                <a:ext uri="{FF2B5EF4-FFF2-40B4-BE49-F238E27FC236}">
                  <a16:creationId xmlns:a16="http://schemas.microsoft.com/office/drawing/2014/main" id="{81295A36-E631-4251-8911-EF310201DD87}"/>
                </a:ext>
              </a:extLst>
            </p:cNvPr>
            <p:cNvSpPr/>
            <p:nvPr/>
          </p:nvSpPr>
          <p:spPr>
            <a:xfrm>
              <a:off x="1790876" y="1969156"/>
              <a:ext cx="591553" cy="502950"/>
            </a:xfrm>
            <a:prstGeom prst="upArrowCallou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accent1"/>
                  </a:solidFill>
                </a:rPr>
                <a:t>SDU</a:t>
              </a:r>
              <a:endParaRPr lang="zh-CN" altLang="en-US" b="1" dirty="0">
                <a:solidFill>
                  <a:schemeClr val="accent1"/>
                </a:solidFill>
              </a:endParaRPr>
            </a:p>
          </p:txBody>
        </p:sp>
        <p:sp>
          <p:nvSpPr>
            <p:cNvPr id="145" name="标注: 上箭头 144">
              <a:extLst>
                <a:ext uri="{FF2B5EF4-FFF2-40B4-BE49-F238E27FC236}">
                  <a16:creationId xmlns:a16="http://schemas.microsoft.com/office/drawing/2014/main" id="{3D6AFE4C-430F-40F9-9781-1013D4D3AC58}"/>
                </a:ext>
              </a:extLst>
            </p:cNvPr>
            <p:cNvSpPr/>
            <p:nvPr/>
          </p:nvSpPr>
          <p:spPr>
            <a:xfrm>
              <a:off x="9815398" y="1969156"/>
              <a:ext cx="591553" cy="502950"/>
            </a:xfrm>
            <a:prstGeom prst="upArrowCallou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accent1"/>
                  </a:solidFill>
                </a:rPr>
                <a:t>SDU</a:t>
              </a:r>
              <a:endParaRPr lang="zh-CN" altLang="en-US" b="1" dirty="0">
                <a:solidFill>
                  <a:schemeClr val="accent1"/>
                </a:solidFill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35205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 tmFilter="0,0; .5, 1; 1, 1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 tmFilter="0,0; .5, 1; 1, 1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 tmFilter="0,0; .5, 1; 1, 1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47" grpId="0"/>
      <p:bldP spid="107" grpId="0"/>
      <p:bldP spid="110" grpId="0"/>
      <p:bldP spid="113" grpId="0"/>
      <p:bldP spid="116" grpId="0"/>
      <p:bldP spid="134" grpId="0" animBg="1"/>
      <p:bldP spid="13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A1EA9F2-FCB6-48C3-935F-7AE7E3AD14AC}"/>
              </a:ext>
            </a:extLst>
          </p:cNvPr>
          <p:cNvGrpSpPr/>
          <p:nvPr/>
        </p:nvGrpSpPr>
        <p:grpSpPr>
          <a:xfrm>
            <a:off x="304800" y="749300"/>
            <a:ext cx="6263464" cy="400110"/>
            <a:chOff x="424117" y="898245"/>
            <a:chExt cx="6263464" cy="400110"/>
          </a:xfrm>
        </p:grpSpPr>
        <p:sp>
          <p:nvSpPr>
            <p:cNvPr id="2" name="平行四边形 1">
              <a:extLst>
                <a:ext uri="{FF2B5EF4-FFF2-40B4-BE49-F238E27FC236}">
                  <a16:creationId xmlns:a16="http://schemas.microsoft.com/office/drawing/2014/main" id="{1F5BAA3F-9845-4F89-A2DD-8222D3E4EDAC}"/>
                </a:ext>
              </a:extLst>
            </p:cNvPr>
            <p:cNvSpPr/>
            <p:nvPr/>
          </p:nvSpPr>
          <p:spPr>
            <a:xfrm>
              <a:off x="424117" y="898245"/>
              <a:ext cx="711200" cy="387090"/>
            </a:xfrm>
            <a:prstGeom prst="parallelogram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200" dirty="0">
                  <a:latin typeface="Impact" panose="020B0806030902050204" pitchFamily="34" charset="0"/>
                </a:rPr>
                <a:t>04</a:t>
              </a:r>
              <a:endParaRPr lang="zh-CN" altLang="en-US" sz="2200" dirty="0">
                <a:latin typeface="Impact" panose="020B0806030902050204" pitchFamily="34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D6BD736-A4D3-4F26-AFED-36E11F50F70B}"/>
                </a:ext>
              </a:extLst>
            </p:cNvPr>
            <p:cNvSpPr txBox="1"/>
            <p:nvPr/>
          </p:nvSpPr>
          <p:spPr>
            <a:xfrm>
              <a:off x="1123543" y="898245"/>
              <a:ext cx="556403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计算机网络体系结构中的专用术语</a:t>
              </a:r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E0A531D-A482-4A62-9E67-468F1538B60D}"/>
              </a:ext>
            </a:extLst>
          </p:cNvPr>
          <p:cNvSpPr/>
          <p:nvPr/>
        </p:nvSpPr>
        <p:spPr>
          <a:xfrm>
            <a:off x="5257014" y="727692"/>
            <a:ext cx="1696825" cy="408698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实体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B8B906A-22F0-4816-A5DC-1F7CB6FDF922}"/>
              </a:ext>
            </a:extLst>
          </p:cNvPr>
          <p:cNvSpPr/>
          <p:nvPr/>
        </p:nvSpPr>
        <p:spPr>
          <a:xfrm>
            <a:off x="7345920" y="727692"/>
            <a:ext cx="1696825" cy="408698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协议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373B9E-4D4C-457F-A09D-CEE50B463F4E}"/>
              </a:ext>
            </a:extLst>
          </p:cNvPr>
          <p:cNvSpPr/>
          <p:nvPr/>
        </p:nvSpPr>
        <p:spPr>
          <a:xfrm>
            <a:off x="9434826" y="727692"/>
            <a:ext cx="1696825" cy="408698"/>
          </a:xfrm>
          <a:prstGeom prst="roundRect">
            <a:avLst>
              <a:gd name="adj" fmla="val 0"/>
            </a:avLst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服务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A7233F32-F038-49EF-89D4-DF0F3DCBE949}"/>
              </a:ext>
            </a:extLst>
          </p:cNvPr>
          <p:cNvSpPr/>
          <p:nvPr/>
        </p:nvSpPr>
        <p:spPr>
          <a:xfrm>
            <a:off x="9434825" y="738496"/>
            <a:ext cx="1696825" cy="408698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服务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6EB9E01-3D48-4201-BD55-0BBDF2180BB4}"/>
              </a:ext>
            </a:extLst>
          </p:cNvPr>
          <p:cNvGrpSpPr/>
          <p:nvPr/>
        </p:nvGrpSpPr>
        <p:grpSpPr>
          <a:xfrm>
            <a:off x="300037" y="1428750"/>
            <a:ext cx="8824842" cy="4849582"/>
            <a:chOff x="300037" y="1428750"/>
            <a:chExt cx="8824842" cy="48495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3C6CC380-B87F-47A3-8B5B-016BCFA4D935}"/>
                </a:ext>
              </a:extLst>
            </p:cNvPr>
            <p:cNvGrpSpPr/>
            <p:nvPr/>
          </p:nvGrpSpPr>
          <p:grpSpPr>
            <a:xfrm>
              <a:off x="300037" y="1428750"/>
              <a:ext cx="8824842" cy="1202670"/>
              <a:chOff x="300037" y="1428750"/>
              <a:chExt cx="8824842" cy="1202670"/>
            </a:xfrm>
          </p:grpSpPr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8C85414-7FA7-4C55-AFD4-A98EDFF64AD3}"/>
                  </a:ext>
                </a:extLst>
              </p:cNvPr>
              <p:cNvSpPr txBox="1"/>
              <p:nvPr/>
            </p:nvSpPr>
            <p:spPr>
              <a:xfrm>
                <a:off x="300037" y="1428750"/>
                <a:ext cx="88248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【2010</a:t>
                </a:r>
                <a:r>
                  <a:rPr lang="zh-CN" altLang="en-US" b="1" dirty="0"/>
                  <a:t>年 题</a:t>
                </a:r>
                <a:r>
                  <a:rPr lang="en-US" altLang="zh-CN" b="1" dirty="0"/>
                  <a:t>33】</a:t>
                </a:r>
                <a:r>
                  <a:rPr lang="zh-CN" altLang="en-US" b="1" dirty="0"/>
                  <a:t>下列选项中，不属于网络体系结构所描述的内容是（      ）。</a:t>
                </a:r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D3718D67-ABCF-4518-A8F0-87F1CFEDE2F2}"/>
                  </a:ext>
                </a:extLst>
              </p:cNvPr>
              <p:cNvSpPr txBox="1"/>
              <p:nvPr/>
            </p:nvSpPr>
            <p:spPr>
              <a:xfrm>
                <a:off x="1970386" y="1892756"/>
                <a:ext cx="18158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A. </a:t>
                </a:r>
                <a:r>
                  <a:rPr lang="zh-CN" altLang="en-US" b="1" dirty="0"/>
                  <a:t>网络的层次</a:t>
                </a: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392167FA-35E6-42BA-AE51-BD7F94CE2AC2}"/>
                  </a:ext>
                </a:extLst>
              </p:cNvPr>
              <p:cNvSpPr txBox="1"/>
              <p:nvPr/>
            </p:nvSpPr>
            <p:spPr>
              <a:xfrm>
                <a:off x="6096000" y="1892756"/>
                <a:ext cx="2530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B. </a:t>
                </a:r>
                <a:r>
                  <a:rPr lang="zh-CN" altLang="en-US" b="1" dirty="0"/>
                  <a:t>每一层使用的协议</a:t>
                </a: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55D62FCD-6774-4C66-9CF5-4C07224FA893}"/>
                  </a:ext>
                </a:extLst>
              </p:cNvPr>
              <p:cNvSpPr txBox="1"/>
              <p:nvPr/>
            </p:nvSpPr>
            <p:spPr>
              <a:xfrm>
                <a:off x="1970386" y="2262088"/>
                <a:ext cx="25300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C. </a:t>
                </a:r>
                <a:r>
                  <a:rPr lang="zh-CN" altLang="en-US" b="1" dirty="0"/>
                  <a:t>协议的内部实现细节</a:t>
                </a: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AD955663-D885-4474-82EF-CA072253AB22}"/>
                  </a:ext>
                </a:extLst>
              </p:cNvPr>
              <p:cNvSpPr txBox="1"/>
              <p:nvPr/>
            </p:nvSpPr>
            <p:spPr>
              <a:xfrm>
                <a:off x="6096000" y="2262088"/>
                <a:ext cx="30288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D. </a:t>
                </a:r>
                <a:r>
                  <a:rPr lang="zh-CN" altLang="en-US" b="1" dirty="0"/>
                  <a:t>每一层必须完成的功能</a:t>
                </a:r>
              </a:p>
            </p:txBody>
          </p:sp>
        </p:grp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98410F18-B1C3-47D5-96EC-D6FB3F8E7683}"/>
                </a:ext>
              </a:extLst>
            </p:cNvPr>
            <p:cNvSpPr txBox="1"/>
            <p:nvPr/>
          </p:nvSpPr>
          <p:spPr>
            <a:xfrm>
              <a:off x="300037" y="2930767"/>
              <a:ext cx="8824842" cy="873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 dirty="0"/>
                <a:t>【2020</a:t>
              </a:r>
              <a:r>
                <a:rPr lang="zh-CN" altLang="en-US" b="1" dirty="0"/>
                <a:t>年 题</a:t>
              </a:r>
              <a:r>
                <a:rPr lang="en-US" altLang="zh-CN" b="1" dirty="0"/>
                <a:t>33】</a:t>
              </a:r>
              <a:r>
                <a:rPr lang="zh-CN" altLang="en-US" b="1" dirty="0"/>
                <a:t>下图描述的协议要素是（      ）。</a:t>
              </a:r>
              <a:endParaRPr lang="en-US" altLang="zh-CN" b="1" dirty="0"/>
            </a:p>
            <a:p>
              <a:pPr>
                <a:lnSpc>
                  <a:spcPct val="150000"/>
                </a:lnSpc>
              </a:pPr>
              <a:r>
                <a:rPr lang="en-US" altLang="zh-CN" b="1" dirty="0"/>
                <a:t>                                I. </a:t>
              </a:r>
              <a:r>
                <a:rPr lang="zh-CN" altLang="en-US" b="1" dirty="0"/>
                <a:t>语法                </a:t>
              </a:r>
              <a:r>
                <a:rPr lang="en-US" altLang="zh-CN" b="1" dirty="0"/>
                <a:t>II. </a:t>
              </a:r>
              <a:r>
                <a:rPr lang="zh-CN" altLang="en-US" b="1" dirty="0"/>
                <a:t>语义                </a:t>
              </a:r>
              <a:r>
                <a:rPr lang="en-US" altLang="zh-CN" b="1" dirty="0"/>
                <a:t>III. </a:t>
              </a:r>
              <a:r>
                <a:rPr lang="zh-CN" altLang="en-US" b="1" dirty="0"/>
                <a:t>时序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3DEAE819-D30F-4A0A-8D41-D0EB659C0467}"/>
                </a:ext>
              </a:extLst>
            </p:cNvPr>
            <p:cNvSpPr txBox="1"/>
            <p:nvPr/>
          </p:nvSpPr>
          <p:spPr>
            <a:xfrm>
              <a:off x="1970386" y="3856366"/>
              <a:ext cx="18158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A. </a:t>
              </a:r>
              <a:r>
                <a:rPr lang="zh-CN" altLang="en-US" b="1" dirty="0"/>
                <a:t>仅</a:t>
              </a:r>
              <a:r>
                <a:rPr lang="en-US" altLang="zh-CN" b="1" dirty="0"/>
                <a:t>I</a:t>
              </a:r>
              <a:endParaRPr lang="zh-CN" altLang="en-US" b="1" dirty="0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B47C6F20-BBAB-4AE2-AC1D-B0B5FE3E8540}"/>
                </a:ext>
              </a:extLst>
            </p:cNvPr>
            <p:cNvSpPr txBox="1"/>
            <p:nvPr/>
          </p:nvSpPr>
          <p:spPr>
            <a:xfrm>
              <a:off x="3925491" y="3856366"/>
              <a:ext cx="13661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B. </a:t>
              </a:r>
              <a:r>
                <a:rPr lang="zh-CN" altLang="en-US" b="1" dirty="0"/>
                <a:t>仅</a:t>
              </a:r>
              <a:r>
                <a:rPr lang="en-US" altLang="zh-CN" b="1" dirty="0"/>
                <a:t>II</a:t>
              </a:r>
              <a:endParaRPr lang="zh-CN" altLang="en-US" b="1" dirty="0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4DB5137F-59E5-4DCE-8CF5-E044B19AEE39}"/>
                </a:ext>
              </a:extLst>
            </p:cNvPr>
            <p:cNvSpPr txBox="1"/>
            <p:nvPr/>
          </p:nvSpPr>
          <p:spPr>
            <a:xfrm>
              <a:off x="5597756" y="3856366"/>
              <a:ext cx="11848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C. </a:t>
              </a:r>
              <a:r>
                <a:rPr lang="zh-CN" altLang="en-US" b="1" dirty="0"/>
                <a:t>仅</a:t>
              </a:r>
              <a:r>
                <a:rPr lang="en-US" altLang="zh-CN" b="1" dirty="0"/>
                <a:t>III</a:t>
              </a:r>
              <a:endParaRPr lang="zh-CN" altLang="en-US" b="1" dirty="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0CEF6A16-D1F0-468A-9CD1-C2133AB8D0C6}"/>
                </a:ext>
              </a:extLst>
            </p:cNvPr>
            <p:cNvSpPr txBox="1"/>
            <p:nvPr/>
          </p:nvSpPr>
          <p:spPr>
            <a:xfrm>
              <a:off x="7676588" y="3856366"/>
              <a:ext cx="1366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D. I</a:t>
              </a:r>
              <a:r>
                <a:rPr lang="zh-CN" altLang="en-US" b="1" dirty="0"/>
                <a:t>、</a:t>
              </a:r>
              <a:r>
                <a:rPr lang="en-US" altLang="zh-CN" b="1" dirty="0"/>
                <a:t>II</a:t>
              </a:r>
              <a:r>
                <a:rPr lang="zh-CN" altLang="en-US" b="1" dirty="0"/>
                <a:t>和</a:t>
              </a:r>
              <a:r>
                <a:rPr lang="en-US" altLang="zh-CN" b="1" dirty="0"/>
                <a:t>III</a:t>
              </a:r>
              <a:endParaRPr lang="zh-CN" altLang="en-US" b="1" dirty="0"/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D6AF31D7-9765-4B1A-8782-66B562682187}"/>
                </a:ext>
              </a:extLst>
            </p:cNvPr>
            <p:cNvCxnSpPr>
              <a:cxnSpLocks/>
            </p:cNvCxnSpPr>
            <p:nvPr/>
          </p:nvCxnSpPr>
          <p:spPr>
            <a:xfrm>
              <a:off x="2250059" y="4694461"/>
              <a:ext cx="0" cy="158387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30115E08-12BC-4189-8C24-AD251CA99D0C}"/>
                </a:ext>
              </a:extLst>
            </p:cNvPr>
            <p:cNvSpPr txBox="1"/>
            <p:nvPr/>
          </p:nvSpPr>
          <p:spPr>
            <a:xfrm>
              <a:off x="1753084" y="4324154"/>
              <a:ext cx="9939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发送方</a:t>
              </a:r>
            </a:p>
          </p:txBody>
        </p: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B60AD7D4-68E8-4464-B9EC-3DB7A49E1091}"/>
                </a:ext>
              </a:extLst>
            </p:cNvPr>
            <p:cNvCxnSpPr>
              <a:cxnSpLocks/>
            </p:cNvCxnSpPr>
            <p:nvPr/>
          </p:nvCxnSpPr>
          <p:spPr>
            <a:xfrm>
              <a:off x="4003483" y="4694461"/>
              <a:ext cx="0" cy="158387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CDB8AD24-3F0A-4BBB-84D8-5177963049BE}"/>
                </a:ext>
              </a:extLst>
            </p:cNvPr>
            <p:cNvSpPr txBox="1"/>
            <p:nvPr/>
          </p:nvSpPr>
          <p:spPr>
            <a:xfrm>
              <a:off x="3506508" y="4324154"/>
              <a:ext cx="9939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/>
                <a:t>接收方</a:t>
              </a: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EB1BE28E-7726-4FEE-8402-9759360B02E2}"/>
                </a:ext>
              </a:extLst>
            </p:cNvPr>
            <p:cNvCxnSpPr/>
            <p:nvPr/>
          </p:nvCxnSpPr>
          <p:spPr>
            <a:xfrm>
              <a:off x="2250059" y="4825090"/>
              <a:ext cx="1753424" cy="3102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F3193A3F-322E-4CC2-8C34-DB6EE84A8A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0059" y="5163727"/>
              <a:ext cx="1753424" cy="4834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22B26A18-A60A-4468-B054-D2127B9FEEDE}"/>
                </a:ext>
              </a:extLst>
            </p:cNvPr>
            <p:cNvCxnSpPr/>
            <p:nvPr/>
          </p:nvCxnSpPr>
          <p:spPr>
            <a:xfrm>
              <a:off x="2250058" y="5685816"/>
              <a:ext cx="1753424" cy="31024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文本框 69">
            <a:extLst>
              <a:ext uri="{FF2B5EF4-FFF2-40B4-BE49-F238E27FC236}">
                <a16:creationId xmlns:a16="http://schemas.microsoft.com/office/drawing/2014/main" id="{02FC2838-4D9E-4F1A-883A-CFB03F1BC10A}"/>
              </a:ext>
            </a:extLst>
          </p:cNvPr>
          <p:cNvSpPr txBox="1"/>
          <p:nvPr/>
        </p:nvSpPr>
        <p:spPr>
          <a:xfrm>
            <a:off x="7269057" y="1348587"/>
            <a:ext cx="291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C</a:t>
            </a:r>
            <a:endParaRPr lang="zh-CN" altLang="en-US" sz="28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AA143484-6BE5-404C-8DF7-F192E7F72E54}"/>
              </a:ext>
            </a:extLst>
          </p:cNvPr>
          <p:cNvSpPr txBox="1"/>
          <p:nvPr/>
        </p:nvSpPr>
        <p:spPr>
          <a:xfrm>
            <a:off x="4520553" y="2945972"/>
            <a:ext cx="291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0000"/>
                </a:solidFill>
                <a:latin typeface="Arial Black" panose="020B0A04020102020204" pitchFamily="34" charset="0"/>
              </a:rPr>
              <a:t>C</a:t>
            </a:r>
            <a:endParaRPr lang="zh-CN" altLang="en-US" sz="28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801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较窄&quot;,&quot;Kind&quot;:&quot;System&quot;,&quot;OldGuidesSetting&quot;:{&quot;HeaderHeight&quot;:10.0,&quot;FooterHeight&quot;:5.0,&quot;SideMargin&quot;:2.5,&quot;TopMargin&quot;:0.0,&quot;BottomMargin&quot;:0.0,&quot;IntervalMargin&quot;:1.0}}"/>
  <p:tag name="COMMONDATA" val="eyJoZGlkIjoiYzE1ZTk0YmFjZjUzZjU2NjkwYjU3ZTI1ZmQyMzJmMT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64751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64751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64751;#120587;#407046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64751;#120587;#407046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64751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774935;"/>
  <p:tag name="ISLIDE.ICON" val="#170926;#35023;#45985;#37569;#36906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70926;#35023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70926;#35023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70926;#35023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70926;#35023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70926;#35023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70926;#35023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70926;#35023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70926;#35023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70926;#35023;"/>
  <p:tag name="ISLIDE.VECTOR" val="#774933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70926;#35023;"/>
  <p:tag name="ISLIDE.VECTOR" val="#774933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70926;#35023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70926;#35023;"/>
  <p:tag name="ISLIDE.VECTOR" val="#431601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70926;#35023;"/>
  <p:tag name="ISLIDE.VECTOR" val="#431601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70926;#35023;"/>
  <p:tag name="ISLIDE.VECTOR" val="#431601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70926;#35023;"/>
  <p:tag name="ISLIDE.VECTOR" val="#431601;#185208;#184776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70926;#35023;"/>
  <p:tag name="ISLIDE.VECTOR" val="#431601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03957;#184166;#275511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03957;#184166;#275511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03957;#184166;#275511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03957;#184166;#275511;"/>
  <p:tag name="ISLIDE.ICON" val="#96562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03957;#184166;#275511;"/>
  <p:tag name="ISLIDE.ICON" val="#96562;#174617;#164665;#179661;#33574;#109804;#59065;#401779;#400550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96562;#174617;#164665;#179661;#33574;#109804;#59065;#401779;#400550;"/>
  <p:tag name="ISLIDE.VECTOR" val="#203957;#184166;#275511;#199048;#185811;#204950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03957;#184166;#275511;"/>
  <p:tag name="ISLIDE.ICON" val="#43546;#61040;#407111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03957;#184166;#275511;"/>
  <p:tag name="ISLIDE.ICON" val="#43546;#61040;#407111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03957;#184166;#275511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03957;#184166;#275511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03957;#184166;#275511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03957;#184166;#275511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03957;#184166;#275511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03957;#184166;#275511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203957;#184166;#275511;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84D4D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4472C4"/>
      </a:hlink>
      <a:folHlink>
        <a:srgbClr val="BFBFBF"/>
      </a:folHlink>
    </a:clrScheme>
    <a:fontScheme name="mgea0xa4">
      <a:majorFont>
        <a:latin typeface="Arial Narrow"/>
        <a:ea typeface="微软雅黑"/>
        <a:cs typeface=""/>
      </a:majorFont>
      <a:minorFont>
        <a:latin typeface="Arial Narrow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3838</Words>
  <Application>Microsoft Office PowerPoint</Application>
  <PresentationFormat>宽屏</PresentationFormat>
  <Paragraphs>1172</Paragraphs>
  <Slides>42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1" baseType="lpstr">
      <vt:lpstr>等线</vt:lpstr>
      <vt:lpstr>宋体</vt:lpstr>
      <vt:lpstr>微软雅黑</vt:lpstr>
      <vt:lpstr>Arial</vt:lpstr>
      <vt:lpstr>Arial Black</vt:lpstr>
      <vt:lpstr>Arial Narrow</vt:lpstr>
      <vt:lpstr>Cambria Math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user0703</dc:creator>
  <cp:lastModifiedBy>Sonder Utopia</cp:lastModifiedBy>
  <cp:revision>62</cp:revision>
  <dcterms:created xsi:type="dcterms:W3CDTF">2021-12-18T00:21:00Z</dcterms:created>
  <dcterms:modified xsi:type="dcterms:W3CDTF">2025-12-15T13:55:05Z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208DAF508C684E15B93ADEE51A39E057</vt:lpwstr>
  </property>
  <property fmtid="{D5CDD505-2E9C-101B-9397-08002B2CF9AE}" pid="3" name="KSOProductBuildVer">
    <vt:lpwstr>2052-11.1.0.11744</vt:lpwstr>
  </property>
</Properties>
</file>