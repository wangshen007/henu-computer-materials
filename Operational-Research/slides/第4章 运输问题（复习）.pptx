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39"/>
  </p:notesMasterIdLst>
  <p:sldIdLst>
    <p:sldId id="257" r:id="rId2"/>
    <p:sldId id="648" r:id="rId3"/>
    <p:sldId id="721" r:id="rId4"/>
    <p:sldId id="649" r:id="rId5"/>
    <p:sldId id="530" r:id="rId6"/>
    <p:sldId id="651" r:id="rId7"/>
    <p:sldId id="653" r:id="rId8"/>
    <p:sldId id="741" r:id="rId9"/>
    <p:sldId id="742" r:id="rId10"/>
    <p:sldId id="793" r:id="rId11"/>
    <p:sldId id="794" r:id="rId12"/>
    <p:sldId id="795" r:id="rId13"/>
    <p:sldId id="796" r:id="rId14"/>
    <p:sldId id="797" r:id="rId15"/>
    <p:sldId id="744" r:id="rId16"/>
    <p:sldId id="745" r:id="rId17"/>
    <p:sldId id="747" r:id="rId18"/>
    <p:sldId id="752" r:id="rId19"/>
    <p:sldId id="753" r:id="rId20"/>
    <p:sldId id="754" r:id="rId21"/>
    <p:sldId id="755" r:id="rId22"/>
    <p:sldId id="756" r:id="rId23"/>
    <p:sldId id="757" r:id="rId24"/>
    <p:sldId id="758" r:id="rId25"/>
    <p:sldId id="689" r:id="rId26"/>
    <p:sldId id="767" r:id="rId27"/>
    <p:sldId id="775" r:id="rId28"/>
    <p:sldId id="776" r:id="rId29"/>
    <p:sldId id="777" r:id="rId30"/>
    <p:sldId id="762" r:id="rId31"/>
    <p:sldId id="778" r:id="rId32"/>
    <p:sldId id="779" r:id="rId33"/>
    <p:sldId id="799" r:id="rId34"/>
    <p:sldId id="800" r:id="rId35"/>
    <p:sldId id="801" r:id="rId36"/>
    <p:sldId id="802" r:id="rId37"/>
    <p:sldId id="803" r:id="rId38"/>
  </p:sldIdLst>
  <p:sldSz cx="9144000" cy="6858000" type="screen4x3"/>
  <p:notesSz cx="6858000" cy="9144000"/>
  <p:defaultTextStyle>
    <a:defPPr>
      <a:defRPr lang="zh-CN"/>
    </a:defPPr>
    <a:lvl1pPr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1pPr>
    <a:lvl2pPr marL="4572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2pPr>
    <a:lvl3pPr marL="9144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3pPr>
    <a:lvl4pPr marL="13716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4pPr>
    <a:lvl5pPr marL="1828800" algn="l" rtl="0" fontAlgn="base">
      <a:spcBef>
        <a:spcPct val="20000"/>
      </a:spcBef>
      <a:spcAft>
        <a:spcPct val="0"/>
      </a:spcAft>
      <a:buClr>
        <a:schemeClr val="bg1"/>
      </a:buClr>
      <a:buSzPct val="100000"/>
      <a:buFont typeface="Wingdings" panose="05000000000000000000" pitchFamily="2" charset="2"/>
      <a:buChar char="•"/>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5pPr>
    <a:lvl6pPr marL="22860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6pPr>
    <a:lvl7pPr marL="27432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7pPr>
    <a:lvl8pPr marL="32004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8pPr>
    <a:lvl9pPr marL="3657600" algn="l" defTabSz="914400" rtl="0" eaLnBrk="1" latinLnBrk="0" hangingPunct="1">
      <a:defRPr sz="2400" b="1" kern="1200">
        <a:solidFill>
          <a:schemeClr val="tx1"/>
        </a:solidFill>
        <a:latin typeface="Arial" panose="020B0604020202020204" pitchFamily="34" charset="0"/>
        <a:ea typeface="宋体" panose="02010600030101010101" pitchFamily="2" charset="-122"/>
        <a:cs typeface="Times New Roman" panose="02020603050405020304" pitchFamily="18"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05BF"/>
    <a:srgbClr val="553AF8"/>
    <a:srgbClr val="FF0000"/>
    <a:srgbClr val="0064F6"/>
    <a:srgbClr val="008000"/>
    <a:srgbClr val="3B8AFF"/>
    <a:srgbClr val="0046AC"/>
    <a:srgbClr val="0051C8"/>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6" autoAdjust="0"/>
    <p:restoredTop sz="92485" autoAdjust="0"/>
  </p:normalViewPr>
  <p:slideViewPr>
    <p:cSldViewPr>
      <p:cViewPr varScale="1">
        <p:scale>
          <a:sx n="51" d="100"/>
          <a:sy n="51" d="100"/>
        </p:scale>
        <p:origin x="66" y="30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48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9.emf"/><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9.emf"/><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19.emf"/><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19.emf"/><Relationship Id="rId1" Type="http://schemas.openxmlformats.org/officeDocument/2006/relationships/image" Target="../media/image27.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19.emf"/><Relationship Id="rId1" Type="http://schemas.openxmlformats.org/officeDocument/2006/relationships/image" Target="../media/image29.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image" Target="../media/image38.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image" Target="../media/image40.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5.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 Id="rId4" Type="http://schemas.openxmlformats.org/officeDocument/2006/relationships/image" Target="../media/image5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e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image" Target="../media/image58.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6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image" Target="../media/image61.emf"/><Relationship Id="rId4" Type="http://schemas.openxmlformats.org/officeDocument/2006/relationships/image" Target="../media/image6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4178" name="Rectangle 2">
            <a:extLst>
              <a:ext uri="{FF2B5EF4-FFF2-40B4-BE49-F238E27FC236}">
                <a16:creationId xmlns:a16="http://schemas.microsoft.com/office/drawing/2014/main" id="{3B75323E-21AB-41BB-9CB0-62E36FA352B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200" b="0"/>
            </a:lvl1pPr>
          </a:lstStyle>
          <a:p>
            <a:endParaRPr lang="en-US" altLang="zh-CN"/>
          </a:p>
        </p:txBody>
      </p:sp>
      <p:sp>
        <p:nvSpPr>
          <p:cNvPr id="434179" name="Rectangle 3">
            <a:extLst>
              <a:ext uri="{FF2B5EF4-FFF2-40B4-BE49-F238E27FC236}">
                <a16:creationId xmlns:a16="http://schemas.microsoft.com/office/drawing/2014/main" id="{BAD5EFF9-CF9F-4BAA-ACBF-C74A2C7B20E6}"/>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b="0"/>
            </a:lvl1pPr>
          </a:lstStyle>
          <a:p>
            <a:endParaRPr lang="en-US" altLang="zh-CN"/>
          </a:p>
        </p:txBody>
      </p:sp>
      <p:sp>
        <p:nvSpPr>
          <p:cNvPr id="434180" name="Rectangle 4">
            <a:extLst>
              <a:ext uri="{FF2B5EF4-FFF2-40B4-BE49-F238E27FC236}">
                <a16:creationId xmlns:a16="http://schemas.microsoft.com/office/drawing/2014/main" id="{0428D389-2194-4210-98F5-0842FD291EE6}"/>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4181" name="Rectangle 5">
            <a:extLst>
              <a:ext uri="{FF2B5EF4-FFF2-40B4-BE49-F238E27FC236}">
                <a16:creationId xmlns:a16="http://schemas.microsoft.com/office/drawing/2014/main" id="{3B70E0AB-9B2B-4946-A2D6-6A6362A5F5F5}"/>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34182" name="Rectangle 6">
            <a:extLst>
              <a:ext uri="{FF2B5EF4-FFF2-40B4-BE49-F238E27FC236}">
                <a16:creationId xmlns:a16="http://schemas.microsoft.com/office/drawing/2014/main" id="{0C83B14E-8E6E-48A2-96E5-05EB5B902D5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SzTx/>
              <a:buFontTx/>
              <a:buNone/>
              <a:defRPr sz="1200" b="0"/>
            </a:lvl1pPr>
          </a:lstStyle>
          <a:p>
            <a:endParaRPr lang="en-US" altLang="zh-CN"/>
          </a:p>
        </p:txBody>
      </p:sp>
      <p:sp>
        <p:nvSpPr>
          <p:cNvPr id="434183" name="Rectangle 7">
            <a:extLst>
              <a:ext uri="{FF2B5EF4-FFF2-40B4-BE49-F238E27FC236}">
                <a16:creationId xmlns:a16="http://schemas.microsoft.com/office/drawing/2014/main" id="{3E6A5E50-4C5F-4237-B03F-DB4AD773BAD0}"/>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b="0"/>
            </a:lvl1pPr>
          </a:lstStyle>
          <a:p>
            <a:fld id="{ECA2971B-0D44-48B5-ACD1-98D457D6519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CA2971B-0D44-48B5-ACD1-98D457D65192}" type="slidenum">
              <a:rPr lang="en-US" altLang="zh-CN" smtClean="0"/>
              <a:pPr/>
              <a:t>1</a:t>
            </a:fld>
            <a:endParaRPr lang="en-US" altLang="zh-CN"/>
          </a:p>
        </p:txBody>
      </p:sp>
    </p:spTree>
    <p:extLst>
      <p:ext uri="{BB962C8B-B14F-4D97-AF65-F5344CB8AC3E}">
        <p14:creationId xmlns:p14="http://schemas.microsoft.com/office/powerpoint/2010/main" val="1070501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CA2971B-0D44-48B5-ACD1-98D457D65192}" type="slidenum">
              <a:rPr lang="en-US" altLang="zh-CN" smtClean="0"/>
              <a:pPr/>
              <a:t>2</a:t>
            </a:fld>
            <a:endParaRPr lang="en-US" altLang="zh-CN"/>
          </a:p>
        </p:txBody>
      </p:sp>
    </p:spTree>
    <p:extLst>
      <p:ext uri="{BB962C8B-B14F-4D97-AF65-F5344CB8AC3E}">
        <p14:creationId xmlns:p14="http://schemas.microsoft.com/office/powerpoint/2010/main" val="565356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6"/>
          <p:cNvSpPr>
            <a:spLocks noGrp="1" noChangeArrowheads="1"/>
          </p:cNvSpPr>
          <p:nvPr>
            <p:ph type="sldNum" sz="quarter" idx="10"/>
          </p:nvPr>
        </p:nvSpPr>
        <p:spPr>
          <a:ln/>
        </p:spPr>
        <p:txBody>
          <a:bodyPr/>
          <a:lstStyle>
            <a:lvl1pPr>
              <a:defRPr/>
            </a:lvl1pPr>
          </a:lstStyle>
          <a:p>
            <a:pPr>
              <a:defRPr/>
            </a:pPr>
            <a:fld id="{8FFFFCE3-EB99-4BB2-88F2-4D8DB23415DF}" type="slidenum">
              <a:rPr lang="zh-CN" altLang="en-US"/>
              <a:pPr>
                <a:defRPr/>
              </a:pPr>
              <a:t>‹#›</a:t>
            </a:fld>
            <a:endParaRPr lang="zh-CN" altLang="en-US"/>
          </a:p>
        </p:txBody>
      </p:sp>
    </p:spTree>
    <p:extLst>
      <p:ext uri="{BB962C8B-B14F-4D97-AF65-F5344CB8AC3E}">
        <p14:creationId xmlns:p14="http://schemas.microsoft.com/office/powerpoint/2010/main" val="623828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3EBD2E7D-C37C-4795-8898-D5E1C36CF231}" type="slidenum">
              <a:rPr lang="zh-CN" altLang="en-US"/>
              <a:pPr>
                <a:defRPr/>
              </a:pPr>
              <a:t>‹#›</a:t>
            </a:fld>
            <a:endParaRPr lang="zh-CN" altLang="en-US"/>
          </a:p>
        </p:txBody>
      </p:sp>
    </p:spTree>
    <p:extLst>
      <p:ext uri="{BB962C8B-B14F-4D97-AF65-F5344CB8AC3E}">
        <p14:creationId xmlns:p14="http://schemas.microsoft.com/office/powerpoint/2010/main" val="11658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7E96C395-8327-469C-91AE-B7D56BD15D39}" type="slidenum">
              <a:rPr lang="zh-CN" altLang="en-US"/>
              <a:pPr>
                <a:defRPr/>
              </a:pPr>
              <a:t>‹#›</a:t>
            </a:fld>
            <a:endParaRPr lang="zh-CN" altLang="en-US"/>
          </a:p>
        </p:txBody>
      </p:sp>
    </p:spTree>
    <p:extLst>
      <p:ext uri="{BB962C8B-B14F-4D97-AF65-F5344CB8AC3E}">
        <p14:creationId xmlns:p14="http://schemas.microsoft.com/office/powerpoint/2010/main" val="2424956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6096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572000" y="1524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C0274855-4376-47EC-99E4-749804395E67}" type="slidenum">
              <a:rPr lang="zh-CN" altLang="en-US"/>
              <a:pPr>
                <a:defRPr/>
              </a:pPr>
              <a:t>‹#›</a:t>
            </a:fld>
            <a:endParaRPr lang="zh-CN" altLang="en-US"/>
          </a:p>
        </p:txBody>
      </p:sp>
    </p:spTree>
    <p:extLst>
      <p:ext uri="{BB962C8B-B14F-4D97-AF65-F5344CB8AC3E}">
        <p14:creationId xmlns:p14="http://schemas.microsoft.com/office/powerpoint/2010/main" val="2812930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6"/>
          <p:cNvSpPr>
            <a:spLocks noGrp="1" noChangeArrowheads="1"/>
          </p:cNvSpPr>
          <p:nvPr>
            <p:ph type="sldNum" sz="quarter" idx="10"/>
          </p:nvPr>
        </p:nvSpPr>
        <p:spPr>
          <a:ln/>
        </p:spPr>
        <p:txBody>
          <a:bodyPr/>
          <a:lstStyle>
            <a:lvl1pPr>
              <a:defRPr/>
            </a:lvl1pPr>
          </a:lstStyle>
          <a:p>
            <a:pPr>
              <a:defRPr/>
            </a:pPr>
            <a:fld id="{077C0244-4050-4D98-9A78-519087134B79}" type="slidenum">
              <a:rPr lang="zh-CN" altLang="en-US"/>
              <a:pPr>
                <a:defRPr/>
              </a:pPr>
              <a:t>‹#›</a:t>
            </a:fld>
            <a:endParaRPr lang="zh-CN" altLang="en-US"/>
          </a:p>
        </p:txBody>
      </p:sp>
    </p:spTree>
    <p:extLst>
      <p:ext uri="{BB962C8B-B14F-4D97-AF65-F5344CB8AC3E}">
        <p14:creationId xmlns:p14="http://schemas.microsoft.com/office/powerpoint/2010/main" val="421798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784435D2-B3F2-44DD-952F-C7BA5620240B}" type="slidenum">
              <a:rPr lang="zh-CN" altLang="en-US"/>
              <a:pPr>
                <a:defRPr/>
              </a:pPr>
              <a:t>‹#›</a:t>
            </a:fld>
            <a:endParaRPr lang="zh-CN" altLang="en-US"/>
          </a:p>
        </p:txBody>
      </p:sp>
    </p:spTree>
    <p:extLst>
      <p:ext uri="{BB962C8B-B14F-4D97-AF65-F5344CB8AC3E}">
        <p14:creationId xmlns:p14="http://schemas.microsoft.com/office/powerpoint/2010/main" val="93749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5AC8E24F-7B6C-4B1D-A8A7-A7F8B20DC8C0}" type="slidenum">
              <a:rPr lang="zh-CN" altLang="en-US"/>
              <a:pPr>
                <a:defRPr/>
              </a:pPr>
              <a:t>‹#›</a:t>
            </a:fld>
            <a:endParaRPr lang="zh-CN" altLang="en-US"/>
          </a:p>
        </p:txBody>
      </p:sp>
    </p:spTree>
    <p:extLst>
      <p:ext uri="{BB962C8B-B14F-4D97-AF65-F5344CB8AC3E}">
        <p14:creationId xmlns:p14="http://schemas.microsoft.com/office/powerpoint/2010/main" val="2966525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E933CC1F-92F2-4E5B-AEBD-98CC213720AD}" type="slidenum">
              <a:rPr lang="zh-CN" altLang="en-US"/>
              <a:pPr>
                <a:defRPr/>
              </a:pPr>
              <a:t>‹#›</a:t>
            </a:fld>
            <a:endParaRPr lang="zh-CN" altLang="en-US"/>
          </a:p>
        </p:txBody>
      </p:sp>
    </p:spTree>
    <p:extLst>
      <p:ext uri="{BB962C8B-B14F-4D97-AF65-F5344CB8AC3E}">
        <p14:creationId xmlns:p14="http://schemas.microsoft.com/office/powerpoint/2010/main" val="3259854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1AEF09B7-FFB3-4AD9-B0FF-C6803DAEFA4B}" type="slidenum">
              <a:rPr lang="zh-CN" altLang="en-US"/>
              <a:pPr>
                <a:defRPr/>
              </a:pPr>
              <a:t>‹#›</a:t>
            </a:fld>
            <a:endParaRPr lang="zh-CN" altLang="en-US"/>
          </a:p>
        </p:txBody>
      </p:sp>
    </p:spTree>
    <p:extLst>
      <p:ext uri="{BB962C8B-B14F-4D97-AF65-F5344CB8AC3E}">
        <p14:creationId xmlns:p14="http://schemas.microsoft.com/office/powerpoint/2010/main" val="42767296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7A9496B0-F4B8-40AD-9B93-574FD137F886}" type="slidenum">
              <a:rPr lang="zh-CN" altLang="en-US"/>
              <a:pPr>
                <a:defRPr/>
              </a:pPr>
              <a:t>‹#›</a:t>
            </a:fld>
            <a:endParaRPr lang="zh-CN" altLang="en-US"/>
          </a:p>
        </p:txBody>
      </p:sp>
    </p:spTree>
    <p:extLst>
      <p:ext uri="{BB962C8B-B14F-4D97-AF65-F5344CB8AC3E}">
        <p14:creationId xmlns:p14="http://schemas.microsoft.com/office/powerpoint/2010/main" val="42073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96050" y="476250"/>
            <a:ext cx="1962150" cy="5162550"/>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09600" y="476250"/>
            <a:ext cx="5734050" cy="5162550"/>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40221CE6-83E5-4DBC-99BD-B30D10EE2845}" type="slidenum">
              <a:rPr lang="zh-CN" altLang="en-US"/>
              <a:pPr>
                <a:defRPr/>
              </a:pPr>
              <a:t>‹#›</a:t>
            </a:fld>
            <a:endParaRPr lang="zh-CN" altLang="en-US"/>
          </a:p>
        </p:txBody>
      </p:sp>
    </p:spTree>
    <p:extLst>
      <p:ext uri="{BB962C8B-B14F-4D97-AF65-F5344CB8AC3E}">
        <p14:creationId xmlns:p14="http://schemas.microsoft.com/office/powerpoint/2010/main" val="3977573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6553200"/>
            <a:ext cx="9144000" cy="304800"/>
          </a:xfrm>
          <a:prstGeom prst="rect">
            <a:avLst/>
          </a:prstGeom>
          <a:solidFill>
            <a:srgbClr val="8C25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a:p>
        </p:txBody>
      </p:sp>
      <p:sp>
        <p:nvSpPr>
          <p:cNvPr id="1027" name="Rectangle 3"/>
          <p:cNvSpPr>
            <a:spLocks noGrp="1" noChangeArrowheads="1"/>
          </p:cNvSpPr>
          <p:nvPr>
            <p:ph type="title"/>
          </p:nvPr>
        </p:nvSpPr>
        <p:spPr bwMode="auto">
          <a:xfrm>
            <a:off x="1403350" y="476250"/>
            <a:ext cx="7054850" cy="457200"/>
          </a:xfrm>
          <a:prstGeom prst="rect">
            <a:avLst/>
          </a:prstGeom>
          <a:noFill/>
          <a:ln>
            <a:noFill/>
          </a:ln>
          <a:effectLst/>
        </p:spPr>
        <p:txBody>
          <a:bodyPr vert="horz" wrap="square" lIns="91440" tIns="45720" rIns="91440" bIns="45720" numCol="1" anchor="ctr" anchorCtr="0" compatLnSpc="1"/>
          <a:lstStyle/>
          <a:p>
            <a:pPr lvl="0"/>
            <a:r>
              <a:rPr lang="zh-CN" noProof="1"/>
              <a:t>单击此处编辑母版标题样式</a:t>
            </a:r>
          </a:p>
        </p:txBody>
      </p:sp>
      <p:sp>
        <p:nvSpPr>
          <p:cNvPr id="2052" name="Rectangle 4" descr="浅色横线"/>
          <p:cNvSpPr>
            <a:spLocks noChangeArrowheads="1"/>
          </p:cNvSpPr>
          <p:nvPr/>
        </p:nvSpPr>
        <p:spPr bwMode="auto">
          <a:xfrm>
            <a:off x="76200" y="1066800"/>
            <a:ext cx="9067800" cy="69850"/>
          </a:xfrm>
          <a:prstGeom prst="rect">
            <a:avLst/>
          </a:prstGeom>
          <a:blipFill dpi="0" rotWithShape="0">
            <a:blip r:embed="rId1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a:p>
        </p:txBody>
      </p:sp>
      <p:sp>
        <p:nvSpPr>
          <p:cNvPr id="2053" name="Rectangle 5"/>
          <p:cNvSpPr>
            <a:spLocks noGrp="1" noChangeArrowheads="1"/>
          </p:cNvSpPr>
          <p:nvPr>
            <p:ph type="body" idx="4294967295"/>
          </p:nvPr>
        </p:nvSpPr>
        <p:spPr bwMode="auto">
          <a:xfrm>
            <a:off x="609600" y="1524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
        <p:nvSpPr>
          <p:cNvPr id="2" name="Rectangle 6"/>
          <p:cNvSpPr>
            <a:spLocks noGrp="1" noChangeArrowheads="1"/>
          </p:cNvSpPr>
          <p:nvPr>
            <p:ph type="sldNum" sz="quarter" idx="4"/>
          </p:nvPr>
        </p:nvSpPr>
        <p:spPr bwMode="auto">
          <a:xfrm>
            <a:off x="7162800" y="6553200"/>
            <a:ext cx="19050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400" noProof="1" dirty="0">
                <a:solidFill>
                  <a:srgbClr val="FF3300"/>
                </a:solidFill>
              </a:defRPr>
            </a:lvl1pPr>
          </a:lstStyle>
          <a:p>
            <a:pPr>
              <a:defRPr/>
            </a:pPr>
            <a:fld id="{EB9A4CC2-CCB7-4E01-B090-9C2AF932F9CB}" type="slidenum">
              <a:rPr lang="zh-CN" altLang="en-US"/>
              <a:pPr>
                <a:defRPr/>
              </a:pPr>
              <a:t>‹#›</a:t>
            </a:fld>
            <a:endParaRPr lang="zh-CN" altLang="en-US"/>
          </a:p>
        </p:txBody>
      </p:sp>
      <p:sp>
        <p:nvSpPr>
          <p:cNvPr id="2059" name="任意多边形 1024"/>
          <p:cNvSpPr>
            <a:spLocks noChangeArrowheads="1"/>
          </p:cNvSpPr>
          <p:nvPr/>
        </p:nvSpPr>
        <p:spPr bwMode="auto">
          <a:xfrm>
            <a:off x="0" y="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buFont typeface="Arial" panose="020B0604020202020204" pitchFamily="34" charset="0"/>
              <a:buNone/>
              <a:defRPr/>
            </a:pPr>
            <a:endParaRPr lang="zh-CN" altLang="en-US" sz="2400"/>
          </a:p>
        </p:txBody>
      </p:sp>
      <p:pic>
        <p:nvPicPr>
          <p:cNvPr id="2056" name="图片 2"/>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 y="7938"/>
            <a:ext cx="1241425"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86186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2pPr>
      <a:lvl3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3pPr>
      <a:lvl4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4pPr>
      <a:lvl5pPr algn="l" rtl="0" eaLnBrk="0" fontAlgn="base" hangingPunct="0">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5pPr>
      <a:lvl6pPr marL="4572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6pPr>
      <a:lvl7pPr marL="9144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7pPr>
      <a:lvl8pPr marL="13716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8pPr>
      <a:lvl9pPr marL="1828800" algn="l" rtl="0" fontAlgn="base">
        <a:spcBef>
          <a:spcPct val="0"/>
        </a:spcBef>
        <a:spcAft>
          <a:spcPct val="0"/>
        </a:spcAft>
        <a:defRPr sz="2800">
          <a:solidFill>
            <a:schemeClr val="tx2"/>
          </a:solidFill>
          <a:effectLst>
            <a:outerShdw blurRad="38100" dist="38100" dir="2700000" algn="tl">
              <a:srgbClr val="C0C0C0"/>
            </a:outerShdw>
          </a:effectLst>
          <a:latin typeface="Times New Roman" panose="02020603050405020304" pitchFamily="18"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楷体_GB2312" pitchFamily="1" charset="-122"/>
        </a:defRPr>
      </a:lvl2pPr>
      <a:lvl3pPr marL="1143000" indent="-228600" algn="l" rtl="0" eaLnBrk="0" fontAlgn="base" hangingPunct="0">
        <a:spcBef>
          <a:spcPct val="20000"/>
        </a:spcBef>
        <a:spcAft>
          <a:spcPct val="0"/>
        </a:spcAft>
        <a:buChar char="•"/>
        <a:defRPr sz="2000" b="1">
          <a:solidFill>
            <a:schemeClr val="tx1"/>
          </a:solidFill>
          <a:latin typeface="+mn-lt"/>
          <a:ea typeface="楷体_GB2312" pitchFamily="1" charset="-122"/>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8.png"/><Relationship Id="rId11" Type="http://schemas.openxmlformats.org/officeDocument/2006/relationships/image" Target="../media/image14.png"/><Relationship Id="rId5" Type="http://schemas.openxmlformats.org/officeDocument/2006/relationships/image" Target="../media/image7.wmf"/><Relationship Id="rId10" Type="http://schemas.openxmlformats.org/officeDocument/2006/relationships/image" Target="../media/image13.png"/><Relationship Id="rId4" Type="http://schemas.openxmlformats.org/officeDocument/2006/relationships/oleObject" Target="../embeddings/oleObject1.bin"/><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emf"/><Relationship Id="rId5" Type="http://schemas.openxmlformats.org/officeDocument/2006/relationships/oleObject" Target="../embeddings/oleObject3.bin"/><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emf"/><Relationship Id="rId5" Type="http://schemas.openxmlformats.org/officeDocument/2006/relationships/oleObject" Target="../embeddings/oleObject2.bin"/><Relationship Id="rId4" Type="http://schemas.openxmlformats.org/officeDocument/2006/relationships/image" Target="../media/image17.emf"/></Relationships>
</file>

<file path=ppt/slides/_rels/slide9.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18.emf"/></Relationships>
</file>

<file path=ppt/slides/_rels/slide10.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8.bin"/><Relationship Id="rId7"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oleObject" Target="../embeddings/oleObject10.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3.emf"/></Relationships>
</file>

<file path=ppt/slides/_rels/slide12.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12.bin"/><Relationship Id="rId7"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5.emf"/></Relationships>
</file>

<file path=ppt/slides/_rels/slide13.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14.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7.emf"/></Relationships>
</file>

<file path=ppt/slides/_rels/slide14.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oleObject" Target="../embeddings/oleObject16.bin"/><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9.emf"/><Relationship Id="rId5" Type="http://schemas.openxmlformats.org/officeDocument/2006/relationships/oleObject" Target="../embeddings/oleObject6.bin"/><Relationship Id="rId4" Type="http://schemas.openxmlformats.org/officeDocument/2006/relationships/image" Target="../media/image29.emf"/></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3.wmf"/><Relationship Id="rId5" Type="http://schemas.openxmlformats.org/officeDocument/2006/relationships/oleObject" Target="../embeddings/oleObject19.bin"/><Relationship Id="rId4" Type="http://schemas.openxmlformats.org/officeDocument/2006/relationships/image" Target="../media/image32.wmf"/></Relationships>
</file>

<file path=ppt/slides/_rels/slide18.xml.rels><?xml version="1.0" encoding="UTF-8" standalone="yes"?>
<Relationships xmlns="http://schemas.openxmlformats.org/package/2006/relationships"><Relationship Id="rId8" Type="http://schemas.openxmlformats.org/officeDocument/2006/relationships/image" Target="../media/image37.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6.emf"/><Relationship Id="rId5" Type="http://schemas.openxmlformats.org/officeDocument/2006/relationships/oleObject" Target="../embeddings/oleObject22.bin"/><Relationship Id="rId4" Type="http://schemas.openxmlformats.org/officeDocument/2006/relationships/image" Target="../media/image35.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9.emf"/><Relationship Id="rId5" Type="http://schemas.openxmlformats.org/officeDocument/2006/relationships/oleObject" Target="../embeddings/oleObject25.bin"/><Relationship Id="rId4" Type="http://schemas.openxmlformats.org/officeDocument/2006/relationships/image" Target="../media/image38.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41.emf"/><Relationship Id="rId5" Type="http://schemas.openxmlformats.org/officeDocument/2006/relationships/oleObject" Target="../embeddings/oleObject27.bin"/><Relationship Id="rId4" Type="http://schemas.openxmlformats.org/officeDocument/2006/relationships/image" Target="../media/image40.emf"/></Relationships>
</file>

<file path=ppt/slides/_rels/slide21.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3.emf"/><Relationship Id="rId5" Type="http://schemas.openxmlformats.org/officeDocument/2006/relationships/oleObject" Target="../embeddings/oleObject29.bin"/><Relationship Id="rId4" Type="http://schemas.openxmlformats.org/officeDocument/2006/relationships/image" Target="../media/image42.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3.emf"/><Relationship Id="rId5" Type="http://schemas.openxmlformats.org/officeDocument/2006/relationships/oleObject" Target="../embeddings/oleObject29.bin"/><Relationship Id="rId4" Type="http://schemas.openxmlformats.org/officeDocument/2006/relationships/image" Target="../media/image45.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7.emf"/><Relationship Id="rId5" Type="http://schemas.openxmlformats.org/officeDocument/2006/relationships/oleObject" Target="../embeddings/oleObject33.bin"/><Relationship Id="rId4" Type="http://schemas.openxmlformats.org/officeDocument/2006/relationships/image" Target="../media/image46.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image" Target="../media/image70.png"/><Relationship Id="rId3" Type="http://schemas.openxmlformats.org/officeDocument/2006/relationships/image" Target="../media/image68.png"/><Relationship Id="rId7" Type="http://schemas.openxmlformats.org/officeDocument/2006/relationships/oleObject" Target="../embeddings/oleObject35.bin"/><Relationship Id="rId12" Type="http://schemas.openxmlformats.org/officeDocument/2006/relationships/image" Target="../media/image51.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48.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50.wmf"/><Relationship Id="rId4" Type="http://schemas.openxmlformats.org/officeDocument/2006/relationships/image" Target="../media/image69.png"/><Relationship Id="rId9" Type="http://schemas.openxmlformats.org/officeDocument/2006/relationships/oleObject" Target="../embeddings/oleObject36.bin"/></Relationships>
</file>

<file path=ppt/slides/_rels/slide26.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53.wmf"/><Relationship Id="rId5" Type="http://schemas.openxmlformats.org/officeDocument/2006/relationships/oleObject" Target="../embeddings/oleObject39.bin"/><Relationship Id="rId4" Type="http://schemas.openxmlformats.org/officeDocument/2006/relationships/image" Target="../media/image52.emf"/></Relationships>
</file>

<file path=ppt/slides/_rels/slide27.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oleObject" Target="../embeddings/oleObject45.bin"/><Relationship Id="rId3" Type="http://schemas.openxmlformats.org/officeDocument/2006/relationships/oleObject" Target="../embeddings/oleObject41.bin"/><Relationship Id="rId7" Type="http://schemas.openxmlformats.org/officeDocument/2006/relationships/oleObject" Target="../embeddings/oleObject40.bin"/><Relationship Id="rId12" Type="http://schemas.openxmlformats.org/officeDocument/2006/relationships/image" Target="../media/image56.w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3.wmf"/><Relationship Id="rId11" Type="http://schemas.openxmlformats.org/officeDocument/2006/relationships/oleObject" Target="../embeddings/oleObject44.bin"/><Relationship Id="rId5" Type="http://schemas.openxmlformats.org/officeDocument/2006/relationships/oleObject" Target="../embeddings/oleObject42.bin"/><Relationship Id="rId10" Type="http://schemas.openxmlformats.org/officeDocument/2006/relationships/image" Target="../media/image55.emf"/><Relationship Id="rId4" Type="http://schemas.openxmlformats.org/officeDocument/2006/relationships/image" Target="../media/image52.emf"/><Relationship Id="rId9" Type="http://schemas.openxmlformats.org/officeDocument/2006/relationships/oleObject" Target="../embeddings/oleObject43.bin"/><Relationship Id="rId14" Type="http://schemas.openxmlformats.org/officeDocument/2006/relationships/image" Target="../media/image57.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6.bin"/><Relationship Id="rId7" Type="http://schemas.openxmlformats.org/officeDocument/2006/relationships/image" Target="../media/image78.png"/><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6.wmf"/><Relationship Id="rId5" Type="http://schemas.openxmlformats.org/officeDocument/2006/relationships/oleObject" Target="../embeddings/oleObject44.bin"/><Relationship Id="rId4" Type="http://schemas.openxmlformats.org/officeDocument/2006/relationships/image" Target="../media/image58.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7.bin"/><Relationship Id="rId7" Type="http://schemas.openxmlformats.org/officeDocument/2006/relationships/image" Target="../media/image80.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59.emf"/><Relationship Id="rId5" Type="http://schemas.openxmlformats.org/officeDocument/2006/relationships/oleObject" Target="../embeddings/oleObject48.bin"/><Relationship Id="rId4" Type="http://schemas.openxmlformats.org/officeDocument/2006/relationships/image" Target="../media/image58.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9.bin"/><Relationship Id="rId7" Type="http://schemas.openxmlformats.org/officeDocument/2006/relationships/image" Target="../media/image82.png"/><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51.wmf"/><Relationship Id="rId5" Type="http://schemas.openxmlformats.org/officeDocument/2006/relationships/oleObject" Target="../embeddings/oleObject50.bin"/><Relationship Id="rId4" Type="http://schemas.openxmlformats.org/officeDocument/2006/relationships/image" Target="../media/image60.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61.emf"/></Relationships>
</file>

<file path=ppt/slides/_rels/slide32.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62.emf"/><Relationship Id="rId5" Type="http://schemas.openxmlformats.org/officeDocument/2006/relationships/oleObject" Target="../embeddings/oleObject52.bin"/><Relationship Id="rId10" Type="http://schemas.openxmlformats.org/officeDocument/2006/relationships/image" Target="../media/image64.emf"/><Relationship Id="rId4" Type="http://schemas.openxmlformats.org/officeDocument/2006/relationships/image" Target="../media/image61.emf"/><Relationship Id="rId9" Type="http://schemas.openxmlformats.org/officeDocument/2006/relationships/oleObject" Target="../embeddings/oleObject54.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64A344A-C511-438D-B0C4-6320BF04A14D}"/>
              </a:ext>
            </a:extLst>
          </p:cNvPr>
          <p:cNvSpPr>
            <a:spLocks noGrp="1" noChangeArrowheads="1"/>
          </p:cNvSpPr>
          <p:nvPr>
            <p:ph type="title"/>
          </p:nvPr>
        </p:nvSpPr>
        <p:spPr/>
        <p:txBody>
          <a:bodyPr/>
          <a:lstStyle/>
          <a:p>
            <a:r>
              <a:rPr lang="en-US" altLang="zh-CN" sz="3200" dirty="0"/>
              <a:t>4.1 </a:t>
            </a:r>
            <a:r>
              <a:rPr lang="zh-CN" altLang="en-US" sz="3200" dirty="0"/>
              <a:t>运输问题的数学模型</a:t>
            </a:r>
          </a:p>
        </p:txBody>
      </p:sp>
      <p:sp>
        <p:nvSpPr>
          <p:cNvPr id="2" name="内容占位符 1"/>
          <p:cNvSpPr>
            <a:spLocks noGrp="1"/>
          </p:cNvSpPr>
          <p:nvPr>
            <p:ph idx="1"/>
          </p:nvPr>
        </p:nvSpPr>
        <p:spPr>
          <a:xfrm>
            <a:off x="544020" y="1083457"/>
            <a:ext cx="8259528" cy="4114800"/>
          </a:xfrm>
        </p:spPr>
        <p:txBody>
          <a:bodyPr/>
          <a:lstStyle/>
          <a:p>
            <a:r>
              <a:rPr lang="zh-CN" altLang="en-US" dirty="0">
                <a:latin typeface="+mn-ea"/>
              </a:rPr>
              <a:t>已知</a:t>
            </a:r>
            <a:endParaRPr lang="en-US" altLang="zh-CN" dirty="0">
              <a:latin typeface="+mn-ea"/>
            </a:endParaRPr>
          </a:p>
          <a:p>
            <a:pPr lvl="1"/>
            <a:r>
              <a:rPr lang="zh-CN" altLang="en-US" sz="2000" dirty="0">
                <a:latin typeface="+mn-ea"/>
              </a:rPr>
              <a:t>有</a:t>
            </a:r>
            <a:r>
              <a:rPr lang="en-US" altLang="zh-CN" sz="2000" i="1" dirty="0"/>
              <a:t>m</a:t>
            </a:r>
            <a:r>
              <a:rPr lang="zh-CN" altLang="en-US" sz="2000" dirty="0">
                <a:latin typeface="+mn-ea"/>
              </a:rPr>
              <a:t>个生产地点</a:t>
            </a:r>
            <a:r>
              <a:rPr lang="en-US" altLang="zh-CN" sz="2000" i="1" dirty="0"/>
              <a:t>A</a:t>
            </a:r>
            <a:r>
              <a:rPr lang="en-US" altLang="zh-CN" sz="2000" i="1" baseline="-30000" dirty="0"/>
              <a:t>i</a:t>
            </a:r>
            <a:r>
              <a:rPr lang="en-US" altLang="zh-CN" sz="2000" dirty="0" smtClean="0"/>
              <a:t>, </a:t>
            </a:r>
            <a:r>
              <a:rPr lang="en-US" altLang="zh-CN" sz="2000" i="1" dirty="0" err="1" smtClean="0"/>
              <a:t>i</a:t>
            </a:r>
            <a:r>
              <a:rPr lang="en-US" altLang="zh-CN" sz="2000" dirty="0" smtClean="0"/>
              <a:t>=1,2</a:t>
            </a:r>
            <a:r>
              <a:rPr lang="en-US" altLang="zh-CN" sz="2000" dirty="0"/>
              <a:t>,…</a:t>
            </a:r>
            <a:r>
              <a:rPr lang="zh-CN" altLang="en-US" sz="2000" dirty="0"/>
              <a:t>，</a:t>
            </a:r>
            <a:r>
              <a:rPr lang="en-US" altLang="zh-CN" sz="2000" i="1" dirty="0"/>
              <a:t>m</a:t>
            </a:r>
            <a:r>
              <a:rPr lang="zh-CN" altLang="en-US" sz="2000" dirty="0"/>
              <a:t>。</a:t>
            </a:r>
            <a:r>
              <a:rPr lang="zh-CN" altLang="en-US" sz="2000" dirty="0">
                <a:latin typeface="+mn-ea"/>
              </a:rPr>
              <a:t>可供应某种物资，其供应量</a:t>
            </a:r>
            <a:r>
              <a:rPr lang="en-US" altLang="zh-CN" sz="2000" dirty="0">
                <a:latin typeface="+mn-ea"/>
              </a:rPr>
              <a:t>(</a:t>
            </a:r>
            <a:r>
              <a:rPr lang="zh-CN" altLang="en-US" sz="2000" dirty="0">
                <a:latin typeface="+mn-ea"/>
              </a:rPr>
              <a:t>产量</a:t>
            </a:r>
            <a:r>
              <a:rPr lang="en-US" altLang="zh-CN" sz="2000" dirty="0">
                <a:latin typeface="+mn-ea"/>
              </a:rPr>
              <a:t>)</a:t>
            </a:r>
            <a:r>
              <a:rPr lang="zh-CN" altLang="en-US" sz="2000" dirty="0">
                <a:latin typeface="+mn-ea"/>
              </a:rPr>
              <a:t>分别为</a:t>
            </a:r>
            <a:r>
              <a:rPr lang="en-US" altLang="zh-CN" sz="2000" i="1" dirty="0" err="1"/>
              <a:t>a</a:t>
            </a:r>
            <a:r>
              <a:rPr lang="en-US" altLang="zh-CN" sz="2000" i="1" baseline="-30000" dirty="0" err="1"/>
              <a:t>i</a:t>
            </a:r>
            <a:r>
              <a:rPr lang="zh-CN" altLang="en-US" sz="2000" dirty="0"/>
              <a:t>，</a:t>
            </a:r>
            <a:r>
              <a:rPr lang="en-US" altLang="zh-CN" sz="2000" i="1" dirty="0" err="1"/>
              <a:t>i</a:t>
            </a:r>
            <a:r>
              <a:rPr lang="en-US" altLang="zh-CN" sz="2000" dirty="0"/>
              <a:t>=1</a:t>
            </a:r>
            <a:r>
              <a:rPr lang="zh-CN" altLang="en-US" sz="2000" dirty="0"/>
              <a:t>，</a:t>
            </a:r>
            <a:r>
              <a:rPr lang="en-US" altLang="zh-CN" sz="2000" dirty="0"/>
              <a:t>2</a:t>
            </a:r>
            <a:r>
              <a:rPr lang="zh-CN" altLang="en-US" sz="2000" dirty="0"/>
              <a:t>，</a:t>
            </a:r>
            <a:r>
              <a:rPr lang="en-US" altLang="zh-CN" sz="2000" dirty="0"/>
              <a:t>…</a:t>
            </a:r>
            <a:r>
              <a:rPr lang="zh-CN" altLang="en-US" sz="2000" dirty="0"/>
              <a:t>，</a:t>
            </a:r>
            <a:r>
              <a:rPr lang="en-US" altLang="zh-CN" sz="2000" i="1" dirty="0"/>
              <a:t>m</a:t>
            </a:r>
            <a:r>
              <a:rPr lang="zh-CN" altLang="en-US" sz="2000" dirty="0">
                <a:latin typeface="+mn-ea"/>
              </a:rPr>
              <a:t>，</a:t>
            </a:r>
            <a:endParaRPr lang="en-US" altLang="zh-CN" sz="2000" dirty="0">
              <a:latin typeface="+mn-ea"/>
            </a:endParaRPr>
          </a:p>
          <a:p>
            <a:pPr lvl="1"/>
            <a:r>
              <a:rPr lang="zh-CN" altLang="en-US" sz="2000" dirty="0">
                <a:latin typeface="+mn-ea"/>
              </a:rPr>
              <a:t>有</a:t>
            </a:r>
            <a:r>
              <a:rPr lang="en-US" altLang="zh-CN" sz="2000" i="1" dirty="0"/>
              <a:t>n</a:t>
            </a:r>
            <a:r>
              <a:rPr lang="zh-CN" altLang="en-US" sz="2000" dirty="0">
                <a:latin typeface="+mn-ea"/>
              </a:rPr>
              <a:t>个销地</a:t>
            </a:r>
            <a:r>
              <a:rPr lang="en-US" altLang="zh-CN" sz="2000" i="1" dirty="0" err="1">
                <a:latin typeface="+mn-ea"/>
              </a:rPr>
              <a:t>B</a:t>
            </a:r>
            <a:r>
              <a:rPr lang="en-US" altLang="zh-CN" sz="2000" i="1" baseline="-30000" dirty="0" err="1">
                <a:latin typeface="+mn-ea"/>
              </a:rPr>
              <a:t>j</a:t>
            </a:r>
            <a:r>
              <a:rPr lang="zh-CN" altLang="en-US" sz="2000" dirty="0">
                <a:latin typeface="+mn-ea"/>
              </a:rPr>
              <a:t>，</a:t>
            </a:r>
            <a:r>
              <a:rPr lang="en-US" altLang="zh-CN" sz="2000" i="1" dirty="0"/>
              <a:t>j=1,2,…,n</a:t>
            </a:r>
            <a:r>
              <a:rPr lang="zh-CN" altLang="en-US" sz="2000" i="1" dirty="0"/>
              <a:t>，</a:t>
            </a:r>
            <a:r>
              <a:rPr lang="zh-CN" altLang="en-US" sz="2000" dirty="0" smtClean="0">
                <a:latin typeface="+mn-ea"/>
              </a:rPr>
              <a:t>其需求量</a:t>
            </a:r>
            <a:r>
              <a:rPr lang="zh-CN" altLang="en-US" sz="2000" dirty="0">
                <a:latin typeface="+mn-ea"/>
              </a:rPr>
              <a:t>分别为</a:t>
            </a:r>
            <a:r>
              <a:rPr lang="en-US" altLang="zh-CN" sz="2000" i="1" dirty="0" err="1">
                <a:latin typeface="+mn-ea"/>
              </a:rPr>
              <a:t>b</a:t>
            </a:r>
            <a:r>
              <a:rPr lang="en-US" altLang="zh-CN" sz="2000" i="1" baseline="-30000" dirty="0" err="1">
                <a:latin typeface="+mn-ea"/>
              </a:rPr>
              <a:t>j</a:t>
            </a:r>
            <a:r>
              <a:rPr lang="zh-CN" altLang="en-US" sz="2000" dirty="0">
                <a:latin typeface="+mn-ea"/>
              </a:rPr>
              <a:t>，</a:t>
            </a:r>
            <a:r>
              <a:rPr lang="en-US" altLang="zh-CN" sz="2000" i="1" dirty="0"/>
              <a:t>j=1,2,…,n</a:t>
            </a:r>
            <a:r>
              <a:rPr lang="zh-CN" altLang="en-US" sz="2000" i="1" dirty="0"/>
              <a:t>，</a:t>
            </a:r>
            <a:endParaRPr lang="en-US" altLang="zh-CN" sz="2000" i="1" dirty="0"/>
          </a:p>
          <a:p>
            <a:pPr lvl="1"/>
            <a:r>
              <a:rPr lang="zh-CN" altLang="en-US" sz="2000" dirty="0">
                <a:latin typeface="+mn-ea"/>
              </a:rPr>
              <a:t>从</a:t>
            </a:r>
            <a:r>
              <a:rPr lang="en-US" altLang="zh-CN" sz="2000" i="1" dirty="0"/>
              <a:t>A</a:t>
            </a:r>
            <a:r>
              <a:rPr lang="en-US" altLang="zh-CN" sz="2000" i="1" baseline="-30000" dirty="0"/>
              <a:t>i</a:t>
            </a:r>
            <a:r>
              <a:rPr lang="zh-CN" altLang="en-US" sz="2000" dirty="0">
                <a:latin typeface="+mn-ea"/>
              </a:rPr>
              <a:t>到</a:t>
            </a:r>
            <a:r>
              <a:rPr lang="en-US" altLang="zh-CN" sz="2000" i="1" dirty="0" err="1"/>
              <a:t>B</a:t>
            </a:r>
            <a:r>
              <a:rPr lang="en-US" altLang="zh-CN" sz="2000" i="1" baseline="-30000" dirty="0" err="1"/>
              <a:t>j</a:t>
            </a:r>
            <a:r>
              <a:rPr lang="zh-CN" altLang="en-US" sz="2000" dirty="0">
                <a:latin typeface="+mn-ea"/>
              </a:rPr>
              <a:t>运输单位物资的运价</a:t>
            </a:r>
            <a:r>
              <a:rPr lang="en-US" altLang="zh-CN" sz="2000" dirty="0">
                <a:latin typeface="+mn-ea"/>
              </a:rPr>
              <a:t>(</a:t>
            </a:r>
            <a:r>
              <a:rPr lang="zh-CN" altLang="en-US" sz="2000" dirty="0">
                <a:latin typeface="+mn-ea"/>
              </a:rPr>
              <a:t>单价</a:t>
            </a:r>
            <a:r>
              <a:rPr lang="en-US" altLang="zh-CN" sz="2000" dirty="0">
                <a:latin typeface="+mn-ea"/>
              </a:rPr>
              <a:t>)</a:t>
            </a:r>
            <a:r>
              <a:rPr lang="zh-CN" altLang="en-US" sz="2000" dirty="0">
                <a:latin typeface="+mn-ea"/>
              </a:rPr>
              <a:t>为</a:t>
            </a:r>
            <a:r>
              <a:rPr lang="en-US" altLang="zh-CN" sz="2000" i="1" dirty="0" err="1"/>
              <a:t>c</a:t>
            </a:r>
            <a:r>
              <a:rPr lang="en-US" altLang="zh-CN" sz="2000" i="1" baseline="-30000" dirty="0" err="1"/>
              <a:t>ij</a:t>
            </a:r>
            <a:r>
              <a:rPr lang="zh-CN" altLang="en-US" sz="2000" dirty="0" smtClean="0">
                <a:latin typeface="+mn-ea"/>
              </a:rPr>
              <a:t>，运量为</a:t>
            </a:r>
            <a:r>
              <a:rPr lang="en-US" altLang="zh-CN" sz="2000" i="1" dirty="0" err="1" smtClean="0"/>
              <a:t>x</a:t>
            </a:r>
            <a:r>
              <a:rPr lang="en-US" altLang="zh-CN" sz="2000" i="1" baseline="-30000" dirty="0" err="1" smtClean="0"/>
              <a:t>ij</a:t>
            </a:r>
            <a:r>
              <a:rPr lang="zh-CN" altLang="en-US" sz="2000" dirty="0">
                <a:latin typeface="+mn-ea"/>
              </a:rPr>
              <a:t> </a:t>
            </a:r>
            <a:r>
              <a:rPr lang="zh-CN" altLang="en-US" sz="2000" dirty="0" smtClean="0">
                <a:latin typeface="+mn-ea"/>
              </a:rPr>
              <a:t>。</a:t>
            </a:r>
            <a:endParaRPr lang="en-US" altLang="zh-CN" sz="2000" dirty="0" smtClean="0">
              <a:latin typeface="+mn-ea"/>
            </a:endParaRPr>
          </a:p>
          <a:p>
            <a:pPr lvl="1"/>
            <a:r>
              <a:rPr lang="zh-CN" altLang="en-US" sz="2000" dirty="0" smtClean="0">
                <a:latin typeface="+mn-ea"/>
              </a:rPr>
              <a:t>要求找到使得总运费最小的运输方案。</a:t>
            </a:r>
            <a:endParaRPr lang="en-US" altLang="zh-CN" sz="2000" dirty="0">
              <a:latin typeface="+mn-ea"/>
            </a:endParaRPr>
          </a:p>
          <a:p>
            <a:pPr lvl="1"/>
            <a:r>
              <a:rPr lang="zh-CN" altLang="en-US" sz="2000" dirty="0">
                <a:latin typeface="+mn-ea"/>
              </a:rPr>
              <a:t>这些数据可汇总于产销平衡表和单位运价表中。 </a:t>
            </a:r>
          </a:p>
          <a:p>
            <a:endParaRPr lang="zh-CN" altLang="en-US" dirty="0"/>
          </a:p>
        </p:txBody>
      </p:sp>
      <p:sp>
        <p:nvSpPr>
          <p:cNvPr id="38" name="灯片编号占位符 5">
            <a:extLst>
              <a:ext uri="{FF2B5EF4-FFF2-40B4-BE49-F238E27FC236}">
                <a16:creationId xmlns:a16="http://schemas.microsoft.com/office/drawing/2014/main" id="{CCF906E8-5E4B-46AF-B967-15FC6E8210A3}"/>
              </a:ext>
            </a:extLst>
          </p:cNvPr>
          <p:cNvSpPr>
            <a:spLocks noGrp="1"/>
          </p:cNvSpPr>
          <p:nvPr>
            <p:ph type="sldNum" sz="quarter" idx="10"/>
          </p:nvPr>
        </p:nvSpPr>
        <p:spPr/>
        <p:txBody>
          <a:bodyPr/>
          <a:lstStyle/>
          <a:p>
            <a:fld id="{3CCB5BA9-9895-4B68-812E-883F7C75942C}" type="slidenum">
              <a:rPr lang="en-US" altLang="zh-CN"/>
              <a:pPr/>
              <a:t>1</a:t>
            </a:fld>
            <a:endParaRPr lang="en-US" altLang="zh-CN"/>
          </a:p>
        </p:txBody>
      </p:sp>
      <p:pic>
        <p:nvPicPr>
          <p:cNvPr id="40" name="图片 39" descr="1617686897(1)">
            <a:extLst>
              <a:ext uri="{FF2B5EF4-FFF2-40B4-BE49-F238E27FC236}">
                <a16:creationId xmlns:a16="http://schemas.microsoft.com/office/drawing/2014/main" id="{B9B4DD80-8A52-4D58-A3F1-8EF3DA724833}"/>
              </a:ext>
            </a:extLst>
          </p:cNvPr>
          <p:cNvPicPr/>
          <p:nvPr/>
        </p:nvPicPr>
        <p:blipFill rotWithShape="1">
          <a:blip r:embed="rId3">
            <a:extLst>
              <a:ext uri="{28A0092B-C50C-407E-A947-70E740481C1C}">
                <a14:useLocalDpi xmlns:a14="http://schemas.microsoft.com/office/drawing/2010/main" val="0"/>
              </a:ext>
            </a:extLst>
          </a:blip>
          <a:srcRect t="10051"/>
          <a:stretch/>
        </p:blipFill>
        <p:spPr bwMode="auto">
          <a:xfrm>
            <a:off x="497320" y="4139920"/>
            <a:ext cx="4176464" cy="2396512"/>
          </a:xfrm>
          <a:prstGeom prst="rect">
            <a:avLst/>
          </a:prstGeom>
          <a:noFill/>
          <a:ln>
            <a:noFill/>
          </a:ln>
        </p:spPr>
      </p:pic>
      <p:pic>
        <p:nvPicPr>
          <p:cNvPr id="41" name="图片 40" descr="1617686920(1)">
            <a:extLst>
              <a:ext uri="{FF2B5EF4-FFF2-40B4-BE49-F238E27FC236}">
                <a16:creationId xmlns:a16="http://schemas.microsoft.com/office/drawing/2014/main" id="{FDA5DBD8-4BAC-4699-B9E5-0DA8748F18D6}"/>
              </a:ext>
            </a:extLst>
          </p:cNvPr>
          <p:cNvPicPr/>
          <p:nvPr/>
        </p:nvPicPr>
        <p:blipFill rotWithShape="1">
          <a:blip r:embed="rId4">
            <a:extLst>
              <a:ext uri="{28A0092B-C50C-407E-A947-70E740481C1C}">
                <a14:useLocalDpi xmlns:a14="http://schemas.microsoft.com/office/drawing/2010/main" val="0"/>
              </a:ext>
            </a:extLst>
          </a:blip>
          <a:srcRect t="10766"/>
          <a:stretch/>
        </p:blipFill>
        <p:spPr bwMode="auto">
          <a:xfrm>
            <a:off x="5169054" y="4149080"/>
            <a:ext cx="3715042" cy="2387352"/>
          </a:xfrm>
          <a:prstGeom prst="rect">
            <a:avLst/>
          </a:prstGeom>
          <a:noFill/>
          <a:ln>
            <a:noFill/>
          </a:ln>
        </p:spPr>
      </p:pic>
      <p:sp>
        <p:nvSpPr>
          <p:cNvPr id="3" name="文本框 2"/>
          <p:cNvSpPr txBox="1"/>
          <p:nvPr/>
        </p:nvSpPr>
        <p:spPr>
          <a:xfrm>
            <a:off x="1383941" y="3720034"/>
            <a:ext cx="2403222" cy="400110"/>
          </a:xfrm>
          <a:prstGeom prst="rect">
            <a:avLst/>
          </a:prstGeom>
          <a:noFill/>
        </p:spPr>
        <p:txBody>
          <a:bodyPr wrap="none" rtlCol="0">
            <a:spAutoFit/>
          </a:bodyPr>
          <a:lstStyle/>
          <a:p>
            <a:r>
              <a:rPr lang="zh-CN" altLang="en-US" sz="2000" dirty="0"/>
              <a:t>表</a:t>
            </a:r>
            <a:r>
              <a:rPr lang="en-US" altLang="zh-CN" sz="2000" dirty="0"/>
              <a:t>4-1 </a:t>
            </a:r>
            <a:r>
              <a:rPr lang="zh-CN" altLang="en-US" sz="2000" dirty="0"/>
              <a:t>产销平衡表</a:t>
            </a:r>
          </a:p>
        </p:txBody>
      </p:sp>
      <p:sp>
        <p:nvSpPr>
          <p:cNvPr id="8" name="文本框 7"/>
          <p:cNvSpPr txBox="1"/>
          <p:nvPr/>
        </p:nvSpPr>
        <p:spPr>
          <a:xfrm>
            <a:off x="5557325" y="3741180"/>
            <a:ext cx="2403222" cy="400110"/>
          </a:xfrm>
          <a:prstGeom prst="rect">
            <a:avLst/>
          </a:prstGeom>
          <a:noFill/>
        </p:spPr>
        <p:txBody>
          <a:bodyPr wrap="none" rtlCol="0">
            <a:spAutoFit/>
          </a:bodyPr>
          <a:lstStyle/>
          <a:p>
            <a:r>
              <a:rPr lang="zh-CN" altLang="en-US" sz="2000" dirty="0"/>
              <a:t>表</a:t>
            </a:r>
            <a:r>
              <a:rPr lang="en-US" altLang="zh-CN" sz="2000" dirty="0"/>
              <a:t>4-2 </a:t>
            </a:r>
            <a:r>
              <a:rPr lang="zh-CN" altLang="en-US" sz="2000" dirty="0"/>
              <a:t>单位运价表</a:t>
            </a:r>
          </a:p>
        </p:txBody>
      </p:sp>
      <p:pic>
        <p:nvPicPr>
          <p:cNvPr id="9" name="图片 8">
            <a:extLst>
              <a:ext uri="{FF2B5EF4-FFF2-40B4-BE49-F238E27FC236}">
                <a16:creationId xmlns:a16="http://schemas.microsoft.com/office/drawing/2014/main" id="{A2E625F5-2291-471F-A134-C1694B9E2905}"/>
              </a:ext>
            </a:extLst>
          </p:cNvPr>
          <p:cNvPicPr>
            <a:picLocks noChangeAspect="1"/>
          </p:cNvPicPr>
          <p:nvPr/>
        </p:nvPicPr>
        <p:blipFill>
          <a:blip r:embed="rId5"/>
          <a:stretch>
            <a:fillRect/>
          </a:stretch>
        </p:blipFill>
        <p:spPr>
          <a:xfrm>
            <a:off x="7567536" y="1416"/>
            <a:ext cx="1584176" cy="1734899"/>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a:extLst>
              <a:ext uri="{FF2B5EF4-FFF2-40B4-BE49-F238E27FC236}">
                <a16:creationId xmlns:a16="http://schemas.microsoft.com/office/drawing/2014/main" id="{AF54DF14-6D12-4F36-993C-0A2BBBD5D1FE}"/>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4.1 </a:t>
            </a:r>
            <a:r>
              <a:rPr lang="zh-CN" altLang="en-US" dirty="0">
                <a:latin typeface="+mn-ea"/>
              </a:rPr>
              <a:t>运输问题的数学模型</a:t>
            </a:r>
          </a:p>
        </p:txBody>
      </p:sp>
      <p:sp>
        <p:nvSpPr>
          <p:cNvPr id="3" name="内容占位符 2"/>
          <p:cNvSpPr>
            <a:spLocks noGrp="1"/>
          </p:cNvSpPr>
          <p:nvPr>
            <p:ph sz="half" idx="2"/>
          </p:nvPr>
        </p:nvSpPr>
        <p:spPr>
          <a:xfrm>
            <a:off x="254868" y="1285220"/>
            <a:ext cx="8493596" cy="838150"/>
          </a:xfrm>
        </p:spPr>
        <p:txBody>
          <a:bodyPr/>
          <a:lstStyle/>
          <a:p>
            <a:r>
              <a:rPr lang="zh-CN" altLang="en-US" sz="2400" dirty="0">
                <a:latin typeface="+mn-ea"/>
              </a:rPr>
              <a:t>若用</a:t>
            </a:r>
            <a:r>
              <a:rPr lang="en-US" altLang="zh-CN" sz="2400" i="1" dirty="0" err="1"/>
              <a:t>x</a:t>
            </a:r>
            <a:r>
              <a:rPr lang="en-US" altLang="zh-CN" sz="2400" i="1" baseline="-30000" dirty="0" err="1"/>
              <a:t>ij</a:t>
            </a:r>
            <a:r>
              <a:rPr lang="zh-CN" altLang="en-US" sz="2400" dirty="0"/>
              <a:t>表</a:t>
            </a:r>
            <a:r>
              <a:rPr lang="zh-CN" altLang="en-US" sz="2400" dirty="0">
                <a:latin typeface="+mn-ea"/>
              </a:rPr>
              <a:t>示从</a:t>
            </a:r>
            <a:r>
              <a:rPr lang="en-US" altLang="zh-CN" sz="2400" i="1" dirty="0"/>
              <a:t>A</a:t>
            </a:r>
            <a:r>
              <a:rPr lang="en-US" altLang="zh-CN" sz="2400" i="1" baseline="-30000" dirty="0"/>
              <a:t>i</a:t>
            </a:r>
            <a:r>
              <a:rPr lang="zh-CN" altLang="en-US" sz="2400" dirty="0">
                <a:latin typeface="+mn-ea"/>
              </a:rPr>
              <a:t>到</a:t>
            </a:r>
            <a:r>
              <a:rPr lang="en-US" altLang="zh-CN" sz="2400" i="1" dirty="0" err="1"/>
              <a:t>B</a:t>
            </a:r>
            <a:r>
              <a:rPr lang="en-US" altLang="zh-CN" sz="2400" i="1" baseline="-30000" dirty="0" err="1"/>
              <a:t>j</a:t>
            </a:r>
            <a:r>
              <a:rPr lang="zh-CN" altLang="en-US" sz="2400" dirty="0">
                <a:latin typeface="+mn-ea"/>
              </a:rPr>
              <a:t>的运量，那么</a:t>
            </a:r>
            <a:r>
              <a:rPr lang="zh-CN" altLang="en-US" sz="2400" dirty="0">
                <a:solidFill>
                  <a:srgbClr val="FF0000"/>
                </a:solidFill>
                <a:latin typeface="+mn-ea"/>
              </a:rPr>
              <a:t>在产销平衡的条件</a:t>
            </a:r>
            <a:r>
              <a:rPr lang="zh-CN" altLang="en-US" sz="2400" dirty="0">
                <a:latin typeface="+mn-ea"/>
              </a:rPr>
              <a:t>下，要求得</a:t>
            </a:r>
            <a:r>
              <a:rPr lang="zh-CN" altLang="en-US" sz="2400" dirty="0">
                <a:solidFill>
                  <a:srgbClr val="FF0000"/>
                </a:solidFill>
                <a:latin typeface="+mn-ea"/>
              </a:rPr>
              <a:t>总运费最小</a:t>
            </a:r>
            <a:r>
              <a:rPr lang="zh-CN" altLang="en-US" sz="2400" dirty="0">
                <a:latin typeface="+mn-ea"/>
              </a:rPr>
              <a:t>的调运方案的数学模型为：</a:t>
            </a:r>
            <a:endParaRPr lang="en-US" altLang="zh-CN" sz="2400" dirty="0">
              <a:latin typeface="+mn-ea"/>
            </a:endParaRPr>
          </a:p>
          <a:p>
            <a:endParaRPr lang="en-US" altLang="zh-CN" sz="2400" dirty="0">
              <a:latin typeface="+mn-ea"/>
            </a:endParaRPr>
          </a:p>
          <a:p>
            <a:endParaRPr lang="zh-CN" altLang="en-US" sz="2400" dirty="0">
              <a:latin typeface="+mn-ea"/>
            </a:endParaRPr>
          </a:p>
          <a:p>
            <a:endParaRPr lang="zh-CN" altLang="en-US" sz="2400" dirty="0">
              <a:latin typeface="+mn-ea"/>
            </a:endParaRPr>
          </a:p>
        </p:txBody>
      </p:sp>
      <p:sp>
        <p:nvSpPr>
          <p:cNvPr id="7" name="灯片编号占位符 5">
            <a:extLst>
              <a:ext uri="{FF2B5EF4-FFF2-40B4-BE49-F238E27FC236}">
                <a16:creationId xmlns:a16="http://schemas.microsoft.com/office/drawing/2014/main" id="{C3B37027-2D0C-41E0-9DB4-8DE53105C34E}"/>
              </a:ext>
            </a:extLst>
          </p:cNvPr>
          <p:cNvSpPr>
            <a:spLocks noGrp="1"/>
          </p:cNvSpPr>
          <p:nvPr>
            <p:ph type="sldNum" sz="quarter" idx="10"/>
          </p:nvPr>
        </p:nvSpPr>
        <p:spPr/>
        <p:txBody>
          <a:bodyPr/>
          <a:lstStyle/>
          <a:p>
            <a:fld id="{88469C41-A63D-4C92-A3F6-8202F549B7A9}" type="slidenum">
              <a:rPr lang="en-US" altLang="zh-CN"/>
              <a:pPr/>
              <a:t>2</a:t>
            </a:fld>
            <a:endParaRPr lang="en-US" altLang="zh-CN"/>
          </a:p>
        </p:txBody>
      </p:sp>
      <p:sp>
        <p:nvSpPr>
          <p:cNvPr id="602115" name="Rectangle 3">
            <a:extLst>
              <a:ext uri="{FF2B5EF4-FFF2-40B4-BE49-F238E27FC236}">
                <a16:creationId xmlns:a16="http://schemas.microsoft.com/office/drawing/2014/main" id="{6F2A9530-62B4-4A6F-91A2-23B2156A4600}"/>
              </a:ext>
            </a:extLst>
          </p:cNvPr>
          <p:cNvSpPr>
            <a:spLocks noChangeArrowheads="1"/>
          </p:cNvSpPr>
          <p:nvPr/>
        </p:nvSpPr>
        <p:spPr bwMode="auto">
          <a:xfrm>
            <a:off x="611188" y="15573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endParaRPr lang="zh-CN" altLang="en-US" sz="2400" b="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矩形 3"/>
              <p:cNvSpPr/>
              <p:nvPr/>
            </p:nvSpPr>
            <p:spPr>
              <a:xfrm>
                <a:off x="1907704" y="2204864"/>
                <a:ext cx="4939667" cy="2394310"/>
              </a:xfrm>
              <a:prstGeom prst="rect">
                <a:avLst/>
              </a:prstGeom>
            </p:spPr>
            <p:txBody>
              <a:bodyPr wrap="square">
                <a:spAutoFit/>
              </a:bodyPr>
              <a:lstStyle/>
              <a:p>
                <a14:m>
                  <m:oMath xmlns:m="http://schemas.openxmlformats.org/officeDocument/2006/math">
                    <m:func>
                      <m:funcPr>
                        <m:ctrlPr>
                          <a:rPr lang="zh-CN" altLang="en-US" sz="1800" b="0" i="1" smtClean="0">
                            <a:solidFill>
                              <a:srgbClr val="000000"/>
                            </a:solidFill>
                            <a:latin typeface="Cambria Math" panose="02040503050406030204" pitchFamily="18" charset="0"/>
                          </a:rPr>
                        </m:ctrlPr>
                      </m:funcPr>
                      <m:fName>
                        <m:r>
                          <a:rPr lang="zh-CN" altLang="en-US" sz="1800" b="0" i="1">
                            <a:solidFill>
                              <a:srgbClr val="000000"/>
                            </a:solidFill>
                            <a:latin typeface="Cambria Math" panose="02040503050406030204" pitchFamily="18" charset="0"/>
                          </a:rPr>
                          <m:t>𝑚𝑖𝑛</m:t>
                        </m:r>
                      </m:fName>
                      <m:e>
                        <m:r>
                          <a:rPr lang="zh-CN" altLang="en-US" sz="1800" b="0" i="1">
                            <a:solidFill>
                              <a:srgbClr val="000000"/>
                            </a:solidFill>
                            <a:latin typeface="Cambria Math" panose="02040503050406030204" pitchFamily="18" charset="0"/>
                          </a:rPr>
                          <m:t> </m:t>
                        </m:r>
                      </m:e>
                    </m:func>
                    <m:r>
                      <a:rPr lang="zh-CN" altLang="en-US" sz="1800" b="0" i="1">
                        <a:solidFill>
                          <a:srgbClr val="000000"/>
                        </a:solidFill>
                        <a:latin typeface="Cambria Math" panose="02040503050406030204" pitchFamily="18" charset="0"/>
                      </a:rPr>
                      <m:t>𝑧</m:t>
                    </m:r>
                    <m:r>
                      <a:rPr lang="zh-CN" altLang="en-US" sz="1800" b="0" i="1">
                        <a:solidFill>
                          <a:srgbClr val="000000"/>
                        </a:solidFill>
                        <a:latin typeface="Cambria Math" panose="02040503050406030204" pitchFamily="18" charset="0"/>
                      </a:rPr>
                      <m:t>=</m:t>
                    </m:r>
                    <m:nary>
                      <m:naryPr>
                        <m:chr m:val="∑"/>
                        <m:ctrlPr>
                          <a:rPr lang="zh-CN" altLang="en-US" sz="1800" b="0" i="1">
                            <a:solidFill>
                              <a:srgbClr val="000000"/>
                            </a:solidFill>
                            <a:latin typeface="Cambria Math" panose="02040503050406030204" pitchFamily="18" charset="0"/>
                          </a:rPr>
                        </m:ctrlPr>
                      </m:naryPr>
                      <m:sub>
                        <m:r>
                          <a:rPr lang="zh-CN" altLang="en-US" sz="1800" b="0" i="1">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m:t>
                        </m:r>
                      </m:sub>
                      <m:sup>
                        <m:r>
                          <a:rPr lang="zh-CN" altLang="en-US" sz="1800" b="0" i="1">
                            <a:solidFill>
                              <a:srgbClr val="000000"/>
                            </a:solidFill>
                            <a:latin typeface="Cambria Math" panose="02040503050406030204" pitchFamily="18" charset="0"/>
                          </a:rPr>
                          <m:t>𝑚</m:t>
                        </m:r>
                      </m:sup>
                      <m:e>
                        <m:nary>
                          <m:naryPr>
                            <m:chr m:val="∑"/>
                            <m:ctrlPr>
                              <a:rPr lang="zh-CN" altLang="en-US" sz="1800" b="0" i="1">
                                <a:solidFill>
                                  <a:srgbClr val="000000"/>
                                </a:solidFill>
                                <a:latin typeface="Cambria Math" panose="02040503050406030204" pitchFamily="18" charset="0"/>
                              </a:rPr>
                            </m:ctrlPr>
                          </m:naryPr>
                          <m:sub>
                            <m:r>
                              <a:rPr lang="zh-CN" altLang="en-US" sz="1800" b="0" i="1">
                                <a:solidFill>
                                  <a:srgbClr val="000000"/>
                                </a:solidFill>
                                <a:latin typeface="Cambria Math" panose="02040503050406030204" pitchFamily="18" charset="0"/>
                              </a:rPr>
                              <m:t>𝑗</m:t>
                            </m:r>
                            <m:r>
                              <a:rPr lang="zh-CN" altLang="en-US" sz="1800" b="0" i="1">
                                <a:solidFill>
                                  <a:srgbClr val="000000"/>
                                </a:solidFill>
                                <a:latin typeface="Cambria Math" panose="02040503050406030204" pitchFamily="18" charset="0"/>
                              </a:rPr>
                              <m:t>=1</m:t>
                            </m:r>
                          </m:sub>
                          <m:sup>
                            <m:r>
                              <a:rPr lang="zh-CN" altLang="en-US" sz="1800" b="0" i="1">
                                <a:solidFill>
                                  <a:srgbClr val="000000"/>
                                </a:solidFill>
                                <a:latin typeface="Cambria Math" panose="02040503050406030204" pitchFamily="18" charset="0"/>
                              </a:rPr>
                              <m:t>𝑛</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𝑐</m:t>
                                </m:r>
                              </m:e>
                              <m:sub>
                                <m:r>
                                  <a:rPr lang="zh-CN" altLang="en-US" sz="1800" b="0" i="1">
                                    <a:solidFill>
                                      <a:srgbClr val="000000"/>
                                    </a:solidFill>
                                    <a:latin typeface="Cambria Math" panose="02040503050406030204" pitchFamily="18" charset="0"/>
                                  </a:rPr>
                                  <m:t>𝑖𝑗</m:t>
                                </m:r>
                              </m:sub>
                            </m:sSub>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e>
                        </m:nary>
                      </m:e>
                    </m:nary>
                  </m:oMath>
                </a14:m>
                <a:r>
                  <a:rPr lang="zh-CN" altLang="en-US" sz="1800" b="0" i="1" dirty="0">
                    <a:solidFill>
                      <a:srgbClr val="000000"/>
                    </a:solidFill>
                    <a:latin typeface="Cambria Math" panose="02040503050406030204" pitchFamily="18" charset="0"/>
                  </a:rPr>
                  <a:t/>
                </a:r>
                <a:br>
                  <a:rPr lang="zh-CN" altLang="en-US" sz="1800" b="0" i="1" dirty="0">
                    <a:solidFill>
                      <a:srgbClr val="000000"/>
                    </a:solidFill>
                    <a:latin typeface="Cambria Math" panose="02040503050406030204" pitchFamily="18" charset="0"/>
                  </a:rPr>
                </a:br>
                <a14:m>
                  <m:oMath xmlns:m="http://schemas.openxmlformats.org/officeDocument/2006/math">
                    <m:r>
                      <a:rPr lang="zh-CN" altLang="en-US" sz="1800" b="0" i="1">
                        <a:solidFill>
                          <a:srgbClr val="000000"/>
                        </a:solidFill>
                        <a:latin typeface="Cambria Math" panose="02040503050406030204" pitchFamily="18" charset="0"/>
                      </a:rPr>
                      <m:t>𝑠</m:t>
                    </m:r>
                    <m:r>
                      <a:rPr lang="zh-CN" altLang="en-US" sz="1800" b="0" i="1">
                        <a:solidFill>
                          <a:srgbClr val="000000"/>
                        </a:solidFill>
                        <a:latin typeface="Cambria Math" panose="02040503050406030204" pitchFamily="18" charset="0"/>
                      </a:rPr>
                      <m:t>.</m:t>
                    </m:r>
                    <m:r>
                      <a:rPr lang="zh-CN" altLang="en-US" sz="1800" b="0" i="1">
                        <a:solidFill>
                          <a:srgbClr val="000000"/>
                        </a:solidFill>
                        <a:latin typeface="Cambria Math" panose="02040503050406030204" pitchFamily="18" charset="0"/>
                      </a:rPr>
                      <m:t>𝑡</m:t>
                    </m:r>
                    <m:r>
                      <a:rPr lang="zh-CN" altLang="en-US" sz="1800" b="0" i="1">
                        <a:solidFill>
                          <a:srgbClr val="000000"/>
                        </a:solidFill>
                        <a:latin typeface="Cambria Math" panose="02040503050406030204" pitchFamily="18" charset="0"/>
                      </a:rPr>
                      <m:t>.</m:t>
                    </m:r>
                    <m:d>
                      <m:dPr>
                        <m:begChr m:val="{"/>
                        <m:endChr m:val=""/>
                        <m:ctrlPr>
                          <a:rPr lang="zh-CN" altLang="en-US" sz="1800" b="0" i="1">
                            <a:solidFill>
                              <a:srgbClr val="000000"/>
                            </a:solidFill>
                            <a:latin typeface="Cambria Math" panose="02040503050406030204" pitchFamily="18" charset="0"/>
                          </a:rPr>
                        </m:ctrlPr>
                      </m:dPr>
                      <m:e>
                        <m:eqArr>
                          <m:eqArrPr>
                            <m:ctrlPr>
                              <a:rPr lang="zh-CN" altLang="en-US" sz="1800" b="0" i="1">
                                <a:solidFill>
                                  <a:srgbClr val="000000"/>
                                </a:solidFill>
                                <a:latin typeface="Cambria Math" panose="02040503050406030204" pitchFamily="18" charset="0"/>
                              </a:rPr>
                            </m:ctrlPr>
                          </m:eqArrPr>
                          <m:e>
                            <m:nary>
                              <m:naryPr>
                                <m:chr m:val="∑"/>
                                <m:ctrlPr>
                                  <a:rPr lang="zh-CN" altLang="en-US" sz="1800" b="0" i="1">
                                    <a:solidFill>
                                      <a:srgbClr val="000000"/>
                                    </a:solidFill>
                                    <a:latin typeface="Cambria Math" panose="02040503050406030204" pitchFamily="18" charset="0"/>
                                  </a:rPr>
                                </m:ctrlPr>
                              </m:naryPr>
                              <m:sub>
                                <m:r>
                                  <a:rPr lang="en-US" altLang="zh-CN" sz="1800" b="0" i="1" smtClean="0">
                                    <a:solidFill>
                                      <a:srgbClr val="000000"/>
                                    </a:solidFill>
                                    <a:latin typeface="Cambria Math" panose="02040503050406030204" pitchFamily="18" charset="0"/>
                                  </a:rPr>
                                  <m:t>𝑗</m:t>
                                </m:r>
                                <m:r>
                                  <a:rPr lang="en-US" altLang="zh-CN" sz="1800" b="0" i="1" smtClean="0">
                                    <a:solidFill>
                                      <a:srgbClr val="000000"/>
                                    </a:solidFill>
                                    <a:latin typeface="Cambria Math" panose="02040503050406030204" pitchFamily="18" charset="0"/>
                                  </a:rPr>
                                  <m:t>=1</m:t>
                                </m:r>
                              </m:sub>
                              <m:sup>
                                <m:r>
                                  <a:rPr lang="en-US" altLang="zh-CN" sz="1800" b="0" i="1" smtClean="0">
                                    <a:solidFill>
                                      <a:srgbClr val="000000"/>
                                    </a:solidFill>
                                    <a:latin typeface="Cambria Math" panose="02040503050406030204" pitchFamily="18" charset="0"/>
                                  </a:rPr>
                                  <m:t>𝑛</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m:t>
                                </m:r>
                                <m:sSub>
                                  <m:sSubPr>
                                    <m:ctrlPr>
                                      <a:rPr lang="zh-CN" altLang="en-US" sz="1800" b="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𝑎</m:t>
                                    </m:r>
                                  </m:e>
                                  <m:sub>
                                    <m:r>
                                      <a:rPr lang="en-US" altLang="zh-CN" sz="1800" b="0" i="1" smtClean="0">
                                        <a:solidFill>
                                          <a:srgbClr val="000000"/>
                                        </a:solidFill>
                                        <a:latin typeface="Cambria Math" panose="02040503050406030204" pitchFamily="18" charset="0"/>
                                      </a:rPr>
                                      <m:t>𝑖</m:t>
                                    </m:r>
                                  </m:sub>
                                </m:sSub>
                                <m:r>
                                  <a:rPr lang="zh-CN" altLang="en-US" sz="1800" b="0" i="1">
                                    <a:solidFill>
                                      <a:srgbClr val="000000"/>
                                    </a:solidFill>
                                    <a:latin typeface="Cambria Math" panose="02040503050406030204" pitchFamily="18" charset="0"/>
                                  </a:rPr>
                                  <m:t> </m:t>
                                </m:r>
                                <m:r>
                                  <a:rPr lang="en-US" altLang="zh-CN" sz="1800" b="0" i="1" smtClean="0">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=1,2,⋯,</m:t>
                                </m:r>
                                <m:r>
                                  <a:rPr lang="en-US" altLang="zh-CN" sz="1800" b="0" i="1" smtClean="0">
                                    <a:solidFill>
                                      <a:srgbClr val="000000"/>
                                    </a:solidFill>
                                    <a:latin typeface="Cambria Math" panose="02040503050406030204" pitchFamily="18" charset="0"/>
                                  </a:rPr>
                                  <m:t>𝑚</m:t>
                                </m:r>
                                <m:r>
                                  <a:rPr lang="en-US" altLang="zh-CN" sz="1800" b="0" i="1" smtClean="0">
                                    <a:solidFill>
                                      <a:srgbClr val="000000"/>
                                    </a:solidFill>
                                    <a:latin typeface="Cambria Math" panose="02040503050406030204" pitchFamily="18" charset="0"/>
                                  </a:rPr>
                                  <m:t>)    (4−1)</m:t>
                                </m:r>
                              </m:e>
                            </m:nary>
                          </m:e>
                          <m:e>
                            <m:nary>
                              <m:naryPr>
                                <m:chr m:val="∑"/>
                                <m:ctrlPr>
                                  <a:rPr lang="zh-CN" altLang="en-US" sz="1800" b="0" i="1" smtClean="0">
                                    <a:solidFill>
                                      <a:srgbClr val="000000"/>
                                    </a:solidFill>
                                    <a:latin typeface="Cambria Math" panose="02040503050406030204" pitchFamily="18" charset="0"/>
                                  </a:rPr>
                                </m:ctrlPr>
                              </m:naryPr>
                              <m:sub>
                                <m:r>
                                  <a:rPr lang="en-US" altLang="zh-CN" sz="1800" b="0" i="1" smtClean="0">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m:t>
                                </m:r>
                              </m:sub>
                              <m:sup>
                                <m:r>
                                  <a:rPr lang="en-US" altLang="zh-CN" sz="1800" b="0" i="1" smtClean="0">
                                    <a:solidFill>
                                      <a:srgbClr val="000000"/>
                                    </a:solidFill>
                                    <a:latin typeface="Cambria Math" panose="02040503050406030204" pitchFamily="18" charset="0"/>
                                  </a:rPr>
                                  <m:t>𝑚</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m:t>
                                </m:r>
                                <m:sSub>
                                  <m:sSubPr>
                                    <m:ctrlPr>
                                      <a:rPr lang="zh-CN" altLang="en-US" sz="1800" b="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𝑏</m:t>
                                    </m:r>
                                  </m:e>
                                  <m:sub>
                                    <m:r>
                                      <a:rPr lang="en-US" altLang="zh-CN" sz="1800" b="0" i="1" smtClean="0">
                                        <a:solidFill>
                                          <a:srgbClr val="000000"/>
                                        </a:solidFill>
                                        <a:latin typeface="Cambria Math" panose="02040503050406030204" pitchFamily="18" charset="0"/>
                                      </a:rPr>
                                      <m:t>𝑗</m:t>
                                    </m:r>
                                  </m:sub>
                                </m:sSub>
                                <m:r>
                                  <a:rPr lang="zh-CN" altLang="en-US" sz="1800" b="0" i="1">
                                    <a:solidFill>
                                      <a:srgbClr val="000000"/>
                                    </a:solidFill>
                                    <a:latin typeface="Cambria Math" panose="02040503050406030204" pitchFamily="18" charset="0"/>
                                  </a:rPr>
                                  <m:t> </m:t>
                                </m:r>
                                <m:r>
                                  <a:rPr lang="en-US" altLang="zh-CN" sz="1800" b="0" i="1" smtClean="0">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𝑗</m:t>
                                </m:r>
                                <m:r>
                                  <a:rPr lang="zh-CN" altLang="en-US" sz="1800" b="0" i="1">
                                    <a:solidFill>
                                      <a:srgbClr val="000000"/>
                                    </a:solidFill>
                                    <a:latin typeface="Cambria Math" panose="02040503050406030204" pitchFamily="18" charset="0"/>
                                  </a:rPr>
                                  <m:t>=1,2,⋯,</m:t>
                                </m:r>
                                <m:r>
                                  <a:rPr lang="en-US" altLang="zh-CN" sz="1800" b="0" i="1" smtClean="0">
                                    <a:solidFill>
                                      <a:srgbClr val="000000"/>
                                    </a:solidFill>
                                    <a:latin typeface="Cambria Math" panose="02040503050406030204" pitchFamily="18" charset="0"/>
                                  </a:rPr>
                                  <m:t>𝑛</m:t>
                                </m:r>
                                <m:r>
                                  <a:rPr lang="en-US" altLang="zh-CN" sz="1800" b="0" i="1" smtClean="0">
                                    <a:solidFill>
                                      <a:srgbClr val="000000"/>
                                    </a:solidFill>
                                    <a:latin typeface="Cambria Math" panose="02040503050406030204" pitchFamily="18" charset="0"/>
                                  </a:rPr>
                                  <m:t>)</m:t>
                                </m:r>
                              </m:e>
                            </m:nary>
                            <m:r>
                              <a:rPr lang="zh-CN" altLang="en-US" sz="1800" b="0" i="1">
                                <a:solidFill>
                                  <a:srgbClr val="000000"/>
                                </a:solidFill>
                                <a:latin typeface="Cambria Math" panose="02040503050406030204" pitchFamily="18" charset="0"/>
                              </a:rPr>
                              <m:t>    (</m:t>
                            </m:r>
                            <m:r>
                              <a:rPr lang="en-US" altLang="zh-CN" sz="1800" b="0" i="1">
                                <a:solidFill>
                                  <a:srgbClr val="000000"/>
                                </a:solidFill>
                                <a:latin typeface="Cambria Math" panose="02040503050406030204" pitchFamily="18" charset="0"/>
                              </a:rPr>
                              <m:t>4</m:t>
                            </m:r>
                            <m:r>
                              <a:rPr lang="zh-CN" altLang="en-US" sz="1800" b="0" i="1">
                                <a:solidFill>
                                  <a:srgbClr val="000000"/>
                                </a:solidFill>
                                <a:latin typeface="Cambria Math" panose="02040503050406030204" pitchFamily="18" charset="0"/>
                              </a:rPr>
                              <m:t>−2)</m:t>
                            </m:r>
                          </m:e>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≥0</m:t>
                            </m:r>
                            <m:d>
                              <m:dPr>
                                <m:ctrlPr>
                                  <a:rPr lang="en-US" altLang="zh-CN" sz="1800" b="0" i="1">
                                    <a:solidFill>
                                      <a:srgbClr val="000000"/>
                                    </a:solidFill>
                                    <a:latin typeface="Cambria Math" panose="02040503050406030204" pitchFamily="18" charset="0"/>
                                  </a:rPr>
                                </m:ctrlPr>
                              </m:dPr>
                              <m:e>
                                <m:r>
                                  <a:rPr lang="en-US" altLang="zh-CN" sz="1800" b="0" i="1">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=1,2,⋯,</m:t>
                                </m:r>
                                <m:r>
                                  <a:rPr lang="en-US" altLang="zh-CN" sz="1800" b="0" i="1">
                                    <a:solidFill>
                                      <a:srgbClr val="000000"/>
                                    </a:solidFill>
                                    <a:latin typeface="Cambria Math" panose="02040503050406030204" pitchFamily="18" charset="0"/>
                                  </a:rPr>
                                  <m:t>𝑚</m:t>
                                </m:r>
                                <m:r>
                                  <a:rPr lang="en-US" altLang="zh-CN" sz="1800" b="0" i="1" smtClean="0">
                                    <a:solidFill>
                                      <a:srgbClr val="000000"/>
                                    </a:solidFill>
                                    <a:latin typeface="Cambria Math" panose="02040503050406030204" pitchFamily="18" charset="0"/>
                                  </a:rPr>
                                  <m:t>,</m:t>
                                </m:r>
                                <m:r>
                                  <a:rPr lang="en-US" altLang="zh-CN" sz="1800" b="0" i="1">
                                    <a:solidFill>
                                      <a:srgbClr val="000000"/>
                                    </a:solidFill>
                                    <a:latin typeface="Cambria Math" panose="02040503050406030204" pitchFamily="18" charset="0"/>
                                  </a:rPr>
                                  <m:t>𝑗</m:t>
                                </m:r>
                                <m:r>
                                  <a:rPr lang="zh-CN" altLang="en-US" sz="1800" b="0" i="1">
                                    <a:solidFill>
                                      <a:srgbClr val="000000"/>
                                    </a:solidFill>
                                    <a:latin typeface="Cambria Math" panose="02040503050406030204" pitchFamily="18" charset="0"/>
                                  </a:rPr>
                                  <m:t>=1,2,⋯,</m:t>
                                </m:r>
                                <m:r>
                                  <a:rPr lang="en-US" altLang="zh-CN" sz="1800" b="0" i="1">
                                    <a:solidFill>
                                      <a:srgbClr val="000000"/>
                                    </a:solidFill>
                                    <a:latin typeface="Cambria Math" panose="02040503050406030204" pitchFamily="18" charset="0"/>
                                  </a:rPr>
                                  <m:t>𝑛</m:t>
                                </m:r>
                              </m:e>
                            </m:d>
                            <m:r>
                              <a:rPr lang="zh-CN" altLang="en-US" sz="1800" b="0" i="1">
                                <a:solidFill>
                                  <a:srgbClr val="000000"/>
                                </a:solidFill>
                                <a:latin typeface="Cambria Math" panose="02040503050406030204" pitchFamily="18" charset="0"/>
                              </a:rPr>
                              <m:t>(</m:t>
                            </m:r>
                            <m:r>
                              <a:rPr lang="en-US" altLang="zh-CN" sz="1800" b="0" i="1">
                                <a:solidFill>
                                  <a:srgbClr val="000000"/>
                                </a:solidFill>
                                <a:latin typeface="Cambria Math" panose="02040503050406030204" pitchFamily="18" charset="0"/>
                              </a:rPr>
                              <m:t>4</m:t>
                            </m:r>
                            <m:r>
                              <a:rPr lang="zh-CN" altLang="en-US" sz="1800" b="0" i="1">
                                <a:solidFill>
                                  <a:srgbClr val="000000"/>
                                </a:solidFill>
                                <a:latin typeface="Cambria Math" panose="02040503050406030204" pitchFamily="18" charset="0"/>
                              </a:rPr>
                              <m:t>−</m:t>
                            </m:r>
                            <m:r>
                              <a:rPr lang="en-US" altLang="zh-CN" sz="1800" b="0" i="1">
                                <a:solidFill>
                                  <a:srgbClr val="000000"/>
                                </a:solidFill>
                                <a:latin typeface="Cambria Math" panose="02040503050406030204" pitchFamily="18" charset="0"/>
                              </a:rPr>
                              <m:t>3</m:t>
                            </m:r>
                            <m:r>
                              <a:rPr lang="zh-CN" altLang="en-US" sz="1800" b="0" i="1">
                                <a:solidFill>
                                  <a:srgbClr val="000000"/>
                                </a:solidFill>
                                <a:latin typeface="Cambria Math" panose="02040503050406030204" pitchFamily="18" charset="0"/>
                              </a:rPr>
                              <m:t>)</m:t>
                            </m:r>
                          </m:e>
                        </m:eqArr>
                      </m:e>
                    </m:d>
                  </m:oMath>
                </a14:m>
                <a:endParaRPr lang="zh-CN" altLang="en-US" sz="1800" b="0" dirty="0"/>
              </a:p>
            </p:txBody>
          </p:sp>
        </mc:Choice>
        <mc:Fallback xmlns="">
          <p:sp>
            <p:nvSpPr>
              <p:cNvPr id="4" name="矩形 3"/>
              <p:cNvSpPr>
                <a:spLocks noRot="1" noChangeAspect="1" noMove="1" noResize="1" noEditPoints="1" noAdjustHandles="1" noChangeArrowheads="1" noChangeShapeType="1" noTextEdit="1"/>
              </p:cNvSpPr>
              <p:nvPr/>
            </p:nvSpPr>
            <p:spPr>
              <a:xfrm>
                <a:off x="1907704" y="2204864"/>
                <a:ext cx="4939667" cy="2394310"/>
              </a:xfrm>
              <a:prstGeom prst="rect">
                <a:avLst/>
              </a:prstGeom>
              <a:blipFill>
                <a:blip r:embed="rId3"/>
                <a:stretch>
                  <a:fillRect l="-864" t="-18367"/>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25C98B-8960-4F88-B51F-E9BD4D9EBC36}"/>
              </a:ext>
            </a:extLst>
          </p:cNvPr>
          <p:cNvSpPr>
            <a:spLocks noGrp="1"/>
          </p:cNvSpPr>
          <p:nvPr>
            <p:ph type="title"/>
          </p:nvPr>
        </p:nvSpPr>
        <p:spPr/>
        <p:txBody>
          <a:bodyPr/>
          <a:lstStyle/>
          <a:p>
            <a:r>
              <a:rPr lang="en-US" altLang="zh-CN" sz="3200" dirty="0"/>
              <a:t>4.1 </a:t>
            </a:r>
            <a:r>
              <a:rPr lang="zh-CN" altLang="en-US" sz="3200" dirty="0"/>
              <a:t>运输问题的数学模型</a:t>
            </a:r>
          </a:p>
        </p:txBody>
      </p:sp>
      <p:sp>
        <p:nvSpPr>
          <p:cNvPr id="7" name="内容占位符 6">
            <a:extLst>
              <a:ext uri="{FF2B5EF4-FFF2-40B4-BE49-F238E27FC236}">
                <a16:creationId xmlns:a16="http://schemas.microsoft.com/office/drawing/2014/main" id="{B80ADB36-AEB7-4463-8CEB-3231BD04AD0C}"/>
              </a:ext>
            </a:extLst>
          </p:cNvPr>
          <p:cNvSpPr>
            <a:spLocks noGrp="1"/>
          </p:cNvSpPr>
          <p:nvPr>
            <p:ph idx="1"/>
          </p:nvPr>
        </p:nvSpPr>
        <p:spPr>
          <a:xfrm>
            <a:off x="454025" y="1327417"/>
            <a:ext cx="7661275" cy="584775"/>
          </a:xfrm>
        </p:spPr>
        <p:txBody>
          <a:bodyPr/>
          <a:lstStyle/>
          <a:p>
            <a:r>
              <a:rPr lang="zh-CN" altLang="zh-CN" dirty="0"/>
              <a:t>上述运输问题用表格表示为：</a:t>
            </a:r>
            <a:endParaRPr lang="zh-CN" altLang="en-US" dirty="0"/>
          </a:p>
        </p:txBody>
      </p:sp>
      <p:sp>
        <p:nvSpPr>
          <p:cNvPr id="5" name="灯片编号占位符 4">
            <a:extLst>
              <a:ext uri="{FF2B5EF4-FFF2-40B4-BE49-F238E27FC236}">
                <a16:creationId xmlns:a16="http://schemas.microsoft.com/office/drawing/2014/main" id="{5762D953-53E2-406F-9E4F-4D4EB308DD9F}"/>
              </a:ext>
            </a:extLst>
          </p:cNvPr>
          <p:cNvSpPr>
            <a:spLocks noGrp="1"/>
          </p:cNvSpPr>
          <p:nvPr>
            <p:ph type="sldNum" sz="quarter" idx="10"/>
          </p:nvPr>
        </p:nvSpPr>
        <p:spPr/>
        <p:txBody>
          <a:bodyPr/>
          <a:lstStyle/>
          <a:p>
            <a:fld id="{76421019-3724-4534-A701-4A04AFD5F779}" type="slidenum">
              <a:rPr lang="en-US" altLang="zh-CN" smtClean="0"/>
              <a:pPr/>
              <a:t>3</a:t>
            </a:fld>
            <a:endParaRPr lang="en-US" altLang="zh-CN"/>
          </a:p>
        </p:txBody>
      </p:sp>
      <p:pic>
        <p:nvPicPr>
          <p:cNvPr id="9" name="图片 8">
            <a:extLst>
              <a:ext uri="{FF2B5EF4-FFF2-40B4-BE49-F238E27FC236}">
                <a16:creationId xmlns:a16="http://schemas.microsoft.com/office/drawing/2014/main" id="{A5B3C83E-D682-43DB-B127-F39CCEB238E2}"/>
              </a:ext>
            </a:extLst>
          </p:cNvPr>
          <p:cNvPicPr>
            <a:picLocks noChangeAspect="1"/>
          </p:cNvPicPr>
          <p:nvPr/>
        </p:nvPicPr>
        <p:blipFill>
          <a:blip r:embed="rId2"/>
          <a:stretch>
            <a:fillRect/>
          </a:stretch>
        </p:blipFill>
        <p:spPr>
          <a:xfrm>
            <a:off x="683568" y="1914351"/>
            <a:ext cx="7637899" cy="4153248"/>
          </a:xfrm>
          <a:prstGeom prst="rect">
            <a:avLst/>
          </a:prstGeom>
        </p:spPr>
      </p:pic>
    </p:spTree>
    <p:extLst>
      <p:ext uri="{BB962C8B-B14F-4D97-AF65-F5344CB8AC3E}">
        <p14:creationId xmlns:p14="http://schemas.microsoft.com/office/powerpoint/2010/main" val="30674149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a:extLst>
              <a:ext uri="{FF2B5EF4-FFF2-40B4-BE49-F238E27FC236}">
                <a16:creationId xmlns:a16="http://schemas.microsoft.com/office/drawing/2014/main" id="{1561CB6A-55F5-44AA-81D7-61BD204E9142}"/>
              </a:ext>
            </a:extLst>
          </p:cNvPr>
          <p:cNvSpPr>
            <a:spLocks noGrp="1" noChangeArrowheads="1"/>
          </p:cNvSpPr>
          <p:nvPr>
            <p:ph type="title"/>
          </p:nvPr>
        </p:nvSpPr>
        <p:spPr/>
        <p:txBody>
          <a:bodyPr/>
          <a:lstStyle/>
          <a:p>
            <a:r>
              <a:rPr lang="en-US" altLang="zh-CN" sz="3200" dirty="0"/>
              <a:t>4.1 </a:t>
            </a:r>
            <a:r>
              <a:rPr lang="zh-CN" altLang="en-US" sz="3200" dirty="0"/>
              <a:t>运输问题的数学模型</a:t>
            </a:r>
          </a:p>
        </p:txBody>
      </p:sp>
      <mc:AlternateContent xmlns:mc="http://schemas.openxmlformats.org/markup-compatibility/2006" xmlns:a14="http://schemas.microsoft.com/office/drawing/2010/main">
        <mc:Choice Requires="a14">
          <p:sp>
            <p:nvSpPr>
              <p:cNvPr id="3" name="内容占位符 2"/>
              <p:cNvSpPr>
                <a:spLocks noGrp="1"/>
              </p:cNvSpPr>
              <p:nvPr>
                <p:ph sz="half" idx="2"/>
              </p:nvPr>
            </p:nvSpPr>
            <p:spPr>
              <a:xfrm>
                <a:off x="215516" y="2673704"/>
                <a:ext cx="8712968" cy="4320480"/>
              </a:xfrm>
            </p:spPr>
            <p:txBody>
              <a:bodyPr/>
              <a:lstStyle/>
              <a:p>
                <a:r>
                  <a:rPr lang="zh-CN" altLang="en-US" sz="2400" b="0" dirty="0">
                    <a:latin typeface="Times New Roman" panose="02020603050405020304" pitchFamily="18" charset="0"/>
                  </a:rPr>
                  <a:t>运输问题的数学模型的三个特征</a:t>
                </a:r>
                <a:endParaRPr lang="en-US" altLang="zh-CN" sz="2400" b="0" dirty="0">
                  <a:latin typeface="Times New Roman" panose="02020603050405020304" pitchFamily="18" charset="0"/>
                </a:endParaRPr>
              </a:p>
              <a:p>
                <a:pPr lvl="1"/>
                <a:r>
                  <a:rPr lang="zh-CN" altLang="en-US" sz="2000" b="0" dirty="0">
                    <a:latin typeface="Times New Roman" panose="02020603050405020304" pitchFamily="18" charset="0"/>
                  </a:rPr>
                  <a:t>（</a:t>
                </a:r>
                <a:r>
                  <a:rPr lang="en-US" altLang="zh-CN" sz="2000" b="0" dirty="0">
                    <a:latin typeface="Times New Roman" panose="02020603050405020304" pitchFamily="18" charset="0"/>
                  </a:rPr>
                  <a:t>1</a:t>
                </a:r>
                <a:r>
                  <a:rPr lang="zh-CN" altLang="en-US" sz="2000" b="0" dirty="0">
                    <a:latin typeface="Times New Roman" panose="02020603050405020304" pitchFamily="18" charset="0"/>
                  </a:rPr>
                  <a:t>）该系数矩阵中对应于变量</a:t>
                </a:r>
                <a:r>
                  <a:rPr lang="en-US" altLang="zh-CN" sz="2000" b="0" i="1" dirty="0" err="1">
                    <a:latin typeface="Times New Roman" panose="02020603050405020304" pitchFamily="18" charset="0"/>
                  </a:rPr>
                  <a:t>x</a:t>
                </a:r>
                <a:r>
                  <a:rPr lang="en-US" altLang="zh-CN" sz="2000" b="0" i="1" baseline="-30000" dirty="0" err="1">
                    <a:latin typeface="Times New Roman" panose="02020603050405020304" pitchFamily="18" charset="0"/>
                  </a:rPr>
                  <a:t>ij</a:t>
                </a:r>
                <a:r>
                  <a:rPr lang="zh-CN" altLang="en-US" sz="2000" b="0" dirty="0">
                    <a:latin typeface="Times New Roman" panose="02020603050405020304" pitchFamily="18" charset="0"/>
                  </a:rPr>
                  <a:t>的系数向量</a:t>
                </a:r>
                <a:r>
                  <a:rPr lang="en-US" altLang="zh-CN" sz="2000" b="0" i="1" dirty="0" err="1">
                    <a:latin typeface="Times New Roman" panose="02020603050405020304" pitchFamily="18" charset="0"/>
                  </a:rPr>
                  <a:t>P</a:t>
                </a:r>
                <a:r>
                  <a:rPr lang="en-US" altLang="zh-CN" sz="2000" b="0" i="1" baseline="-30000" dirty="0" err="1">
                    <a:latin typeface="Times New Roman" panose="02020603050405020304" pitchFamily="18" charset="0"/>
                  </a:rPr>
                  <a:t>ij</a:t>
                </a:r>
                <a:r>
                  <a:rPr lang="zh-CN" altLang="en-US" sz="2000" b="0" dirty="0">
                    <a:latin typeface="Times New Roman" panose="02020603050405020304" pitchFamily="18" charset="0"/>
                  </a:rPr>
                  <a:t>，其分量中除第</a:t>
                </a:r>
                <a:r>
                  <a:rPr lang="en-US" altLang="zh-CN" sz="2000" b="0" i="1" dirty="0" err="1">
                    <a:latin typeface="Times New Roman" panose="02020603050405020304" pitchFamily="18" charset="0"/>
                  </a:rPr>
                  <a:t>i</a:t>
                </a:r>
                <a:r>
                  <a:rPr lang="zh-CN" altLang="en-US" sz="2000" b="0" dirty="0">
                    <a:latin typeface="Times New Roman" panose="02020603050405020304" pitchFamily="18" charset="0"/>
                  </a:rPr>
                  <a:t>个和第</a:t>
                </a:r>
                <a:r>
                  <a:rPr lang="en-US" altLang="zh-CN" sz="2000" b="0" i="1" dirty="0" err="1">
                    <a:latin typeface="Times New Roman" panose="02020603050405020304" pitchFamily="18" charset="0"/>
                  </a:rPr>
                  <a:t>m</a:t>
                </a:r>
                <a:r>
                  <a:rPr lang="en-US" altLang="zh-CN" sz="2000" b="0" dirty="0" err="1">
                    <a:latin typeface="Times New Roman" panose="02020603050405020304" pitchFamily="18" charset="0"/>
                  </a:rPr>
                  <a:t>+</a:t>
                </a:r>
                <a:r>
                  <a:rPr lang="en-US" altLang="zh-CN" sz="2000" b="0" i="1" dirty="0" err="1">
                    <a:latin typeface="Times New Roman" panose="02020603050405020304" pitchFamily="18" charset="0"/>
                  </a:rPr>
                  <a:t>j</a:t>
                </a:r>
                <a:r>
                  <a:rPr lang="zh-CN" altLang="en-US" sz="2000" b="0" dirty="0">
                    <a:latin typeface="Times New Roman" panose="02020603050405020304" pitchFamily="18" charset="0"/>
                  </a:rPr>
                  <a:t>个为</a:t>
                </a:r>
                <a:r>
                  <a:rPr lang="en-US" altLang="zh-CN" sz="2000" b="0" dirty="0">
                    <a:latin typeface="Times New Roman" panose="02020603050405020304" pitchFamily="18" charset="0"/>
                  </a:rPr>
                  <a:t>1</a:t>
                </a:r>
                <a:r>
                  <a:rPr lang="zh-CN" altLang="en-US" sz="2000" b="0" dirty="0">
                    <a:latin typeface="Times New Roman" panose="02020603050405020304" pitchFamily="18" charset="0"/>
                  </a:rPr>
                  <a:t>以外，其余的都为零。即</a:t>
                </a:r>
                <a:r>
                  <a:rPr lang="en-US" altLang="zh-CN" sz="2000" b="0" i="1" dirty="0" err="1">
                    <a:latin typeface="Times New Roman" panose="02020603050405020304" pitchFamily="18" charset="0"/>
                  </a:rPr>
                  <a:t>P</a:t>
                </a:r>
                <a:r>
                  <a:rPr lang="en-US" altLang="zh-CN" sz="2000" b="0" i="1" baseline="-30000" dirty="0" err="1">
                    <a:latin typeface="Times New Roman" panose="02020603050405020304" pitchFamily="18" charset="0"/>
                  </a:rPr>
                  <a:t>ij</a:t>
                </a:r>
                <a:r>
                  <a:rPr lang="en-US" altLang="zh-CN" sz="2000" b="0" dirty="0">
                    <a:latin typeface="Times New Roman" panose="02020603050405020304" pitchFamily="18" charset="0"/>
                  </a:rPr>
                  <a:t>=(0,… ,1,0,…,0,1,0,…,0)</a:t>
                </a:r>
                <a:r>
                  <a:rPr lang="en-US" altLang="zh-CN" sz="2000" b="0" baseline="30000" dirty="0">
                    <a:latin typeface="Times New Roman" panose="02020603050405020304" pitchFamily="18" charset="0"/>
                  </a:rPr>
                  <a:t>T</a:t>
                </a:r>
                <a:r>
                  <a:rPr lang="en-US" altLang="zh-CN" sz="2000" b="0" dirty="0">
                    <a:latin typeface="Times New Roman" panose="02020603050405020304" pitchFamily="18" charset="0"/>
                  </a:rPr>
                  <a:t>=</a:t>
                </a:r>
                <a:r>
                  <a:rPr lang="en-US" altLang="zh-CN" sz="2000" b="0" i="1" dirty="0" err="1">
                    <a:latin typeface="Times New Roman" panose="02020603050405020304" pitchFamily="18" charset="0"/>
                  </a:rPr>
                  <a:t>e</a:t>
                </a:r>
                <a:r>
                  <a:rPr lang="en-US" altLang="zh-CN" sz="2000" b="0" i="1" baseline="-30000" dirty="0" err="1">
                    <a:latin typeface="Times New Roman" panose="02020603050405020304" pitchFamily="18" charset="0"/>
                  </a:rPr>
                  <a:t>i</a:t>
                </a:r>
                <a:r>
                  <a:rPr lang="en-US" altLang="zh-CN" sz="2000" b="0" dirty="0" err="1">
                    <a:latin typeface="Times New Roman" panose="02020603050405020304" pitchFamily="18" charset="0"/>
                  </a:rPr>
                  <a:t>+</a:t>
                </a:r>
                <a:r>
                  <a:rPr lang="en-US" altLang="zh-CN" sz="2000" b="0" i="1" dirty="0" err="1">
                    <a:latin typeface="Times New Roman" panose="02020603050405020304" pitchFamily="18" charset="0"/>
                  </a:rPr>
                  <a:t>e</a:t>
                </a:r>
                <a:r>
                  <a:rPr lang="en-US" altLang="zh-CN" sz="2000" b="0" i="1" baseline="-30000" dirty="0" err="1">
                    <a:latin typeface="Times New Roman" panose="02020603050405020304" pitchFamily="18" charset="0"/>
                  </a:rPr>
                  <a:t>m+j</a:t>
                </a:r>
                <a:r>
                  <a:rPr lang="en-US" altLang="zh-CN" sz="2000" b="0" dirty="0">
                    <a:latin typeface="Times New Roman" panose="02020603050405020304" pitchFamily="18" charset="0"/>
                  </a:rPr>
                  <a:t/>
                </a:r>
                <a:br>
                  <a:rPr lang="en-US" altLang="zh-CN" sz="2000" b="0" dirty="0">
                    <a:latin typeface="Times New Roman" panose="02020603050405020304" pitchFamily="18" charset="0"/>
                  </a:rPr>
                </a:br>
                <a:r>
                  <a:rPr lang="en-US" altLang="zh-CN" sz="2000" b="0" i="1" dirty="0" err="1">
                    <a:latin typeface="Times New Roman" panose="02020603050405020304" pitchFamily="18" charset="0"/>
                  </a:rPr>
                  <a:t>e</a:t>
                </a:r>
                <a:r>
                  <a:rPr lang="en-US" altLang="zh-CN" sz="2000" b="0" i="1" baseline="-30000" dirty="0" err="1">
                    <a:latin typeface="Times New Roman" panose="02020603050405020304" pitchFamily="18" charset="0"/>
                  </a:rPr>
                  <a:t>i</a:t>
                </a:r>
                <a:r>
                  <a:rPr lang="en-US" altLang="zh-CN" sz="2000" b="0" dirty="0">
                    <a:latin typeface="Times New Roman" panose="02020603050405020304" pitchFamily="18" charset="0"/>
                  </a:rPr>
                  <a:t>=(0,… ,1,…0)</a:t>
                </a:r>
                <a:r>
                  <a:rPr lang="en-US" altLang="zh-CN" sz="2000" b="0" baseline="30000" dirty="0">
                    <a:latin typeface="Times New Roman" panose="02020603050405020304" pitchFamily="18" charset="0"/>
                  </a:rPr>
                  <a:t> T</a:t>
                </a:r>
                <a:r>
                  <a:rPr lang="en-US" altLang="zh-CN" sz="2000" b="0" dirty="0">
                    <a:latin typeface="Times New Roman" panose="02020603050405020304" pitchFamily="18" charset="0"/>
                  </a:rPr>
                  <a:t>,</a:t>
                </a:r>
                <a:r>
                  <a:rPr lang="zh-CN" altLang="en-US" sz="2000" b="0" dirty="0">
                    <a:latin typeface="Times New Roman" panose="02020603050405020304" pitchFamily="18" charset="0"/>
                  </a:rPr>
                  <a:t>第</a:t>
                </a:r>
                <a:r>
                  <a:rPr lang="en-US" altLang="zh-CN" sz="2000" b="0" i="1" dirty="0" err="1">
                    <a:latin typeface="Times New Roman" panose="02020603050405020304" pitchFamily="18" charset="0"/>
                  </a:rPr>
                  <a:t>i</a:t>
                </a:r>
                <a:r>
                  <a:rPr lang="zh-CN" altLang="en-US" sz="2000" b="0" dirty="0">
                    <a:latin typeface="Times New Roman" panose="02020603050405020304" pitchFamily="18" charset="0"/>
                  </a:rPr>
                  <a:t>个元素为</a:t>
                </a:r>
                <a:r>
                  <a:rPr lang="en-US" altLang="zh-CN" sz="2000" b="0" dirty="0">
                    <a:latin typeface="Times New Roman" panose="02020603050405020304" pitchFamily="18" charset="0"/>
                  </a:rPr>
                  <a:t>1</a:t>
                </a:r>
                <a:r>
                  <a:rPr lang="zh-CN" altLang="en-US" sz="2000" b="0" dirty="0">
                    <a:latin typeface="Times New Roman" panose="02020603050405020304" pitchFamily="18" charset="0"/>
                  </a:rPr>
                  <a:t>，其他为</a:t>
                </a:r>
                <a:r>
                  <a:rPr lang="en-US" altLang="zh-CN" sz="2000" b="0" dirty="0">
                    <a:latin typeface="Times New Roman" panose="02020603050405020304" pitchFamily="18" charset="0"/>
                  </a:rPr>
                  <a:t>0</a:t>
                </a:r>
                <a:r>
                  <a:rPr lang="zh-CN" altLang="en-US" sz="2000" b="0" dirty="0">
                    <a:latin typeface="Times New Roman" panose="02020603050405020304" pitchFamily="18" charset="0"/>
                  </a:rPr>
                  <a:t>。</a:t>
                </a:r>
                <a:endParaRPr lang="en-US" altLang="zh-CN" sz="2000" b="0" dirty="0">
                  <a:latin typeface="Times New Roman" panose="02020603050405020304" pitchFamily="18" charset="0"/>
                </a:endParaRPr>
              </a:p>
              <a:p>
                <a:pPr lvl="1"/>
                <a:r>
                  <a:rPr lang="zh-CN" altLang="en-US" sz="2000" b="0" dirty="0">
                    <a:latin typeface="Times New Roman" panose="02020603050405020304" pitchFamily="18" charset="0"/>
                  </a:rPr>
                  <a:t>（</a:t>
                </a:r>
                <a:r>
                  <a:rPr lang="en-US" altLang="zh-CN" sz="2000" b="0" dirty="0">
                    <a:latin typeface="Times New Roman" panose="02020603050405020304" pitchFamily="18" charset="0"/>
                  </a:rPr>
                  <a:t>2</a:t>
                </a:r>
                <a:r>
                  <a:rPr lang="zh-CN" altLang="en-US" sz="2000" b="0" dirty="0">
                    <a:latin typeface="Times New Roman" panose="02020603050405020304" pitchFamily="18" charset="0"/>
                  </a:rPr>
                  <a:t>）对产销平衡的运输问题，由于有以下关系式存在</a:t>
                </a:r>
                <a:r>
                  <a:rPr lang="zh-CN" altLang="en-US" sz="2000" b="0" dirty="0" smtClean="0">
                    <a:latin typeface="Times New Roman" panose="02020603050405020304" pitchFamily="18" charset="0"/>
                  </a:rPr>
                  <a:t>：</a:t>
                </a:r>
                <a:endParaRPr lang="en-US" altLang="zh-CN" sz="2000" b="0" dirty="0" smtClean="0">
                  <a:latin typeface="Times New Roman" panose="02020603050405020304" pitchFamily="18" charset="0"/>
                </a:endParaRPr>
              </a:p>
              <a:p>
                <a:pPr lvl="1"/>
                <a:endParaRPr lang="en-US" altLang="zh-CN" sz="2000" b="0" dirty="0" smtClean="0">
                  <a:latin typeface="Times New Roman" panose="02020603050405020304" pitchFamily="18" charset="0"/>
                </a:endParaRPr>
              </a:p>
              <a:p>
                <a:pPr lvl="2"/>
                <a:endParaRPr lang="en-US" altLang="zh-CN" sz="1600" b="0" dirty="0">
                  <a:latin typeface="Times New Roman" panose="02020603050405020304" pitchFamily="18" charset="0"/>
                </a:endParaRPr>
              </a:p>
              <a:p>
                <a:pPr lvl="2"/>
                <a:r>
                  <a:rPr lang="zh-CN" altLang="en-US" sz="1600" b="0" dirty="0" smtClean="0">
                    <a:latin typeface="Times New Roman" panose="02020603050405020304" pitchFamily="18" charset="0"/>
                  </a:rPr>
                  <a:t>模型</a:t>
                </a:r>
                <a:r>
                  <a:rPr lang="zh-CN" altLang="en-US" sz="1600" b="0" dirty="0">
                    <a:latin typeface="Times New Roman" panose="02020603050405020304" pitchFamily="18" charset="0"/>
                  </a:rPr>
                  <a:t>最多只有</a:t>
                </a:r>
                <a14:m>
                  <m:oMath xmlns:m="http://schemas.openxmlformats.org/officeDocument/2006/math">
                    <m:r>
                      <a:rPr lang="en-US" altLang="zh-CN" sz="1600" b="0" i="1">
                        <a:latin typeface="Cambria Math" panose="02040503050406030204" pitchFamily="18" charset="0"/>
                      </a:rPr>
                      <m:t>𝑚</m:t>
                    </m:r>
                    <m:r>
                      <a:rPr lang="en-US" altLang="zh-CN" sz="1600" b="0" i="1">
                        <a:latin typeface="Cambria Math" panose="02040503050406030204" pitchFamily="18" charset="0"/>
                      </a:rPr>
                      <m:t>+</m:t>
                    </m:r>
                    <m:r>
                      <a:rPr lang="en-US" altLang="zh-CN" sz="1600" b="0" i="1">
                        <a:latin typeface="Cambria Math" panose="02040503050406030204" pitchFamily="18" charset="0"/>
                      </a:rPr>
                      <m:t>𝑛</m:t>
                    </m:r>
                    <m:r>
                      <a:rPr lang="en-US" altLang="zh-CN" sz="1600" b="0" i="1">
                        <a:latin typeface="Cambria Math" panose="02040503050406030204" pitchFamily="18" charset="0"/>
                      </a:rPr>
                      <m:t>−1</m:t>
                    </m:r>
                  </m:oMath>
                </a14:m>
                <a:r>
                  <a:rPr lang="zh-CN" altLang="en-US" sz="1600" b="0" dirty="0">
                    <a:latin typeface="Times New Roman" panose="02020603050405020304" pitchFamily="18" charset="0"/>
                  </a:rPr>
                  <a:t>个独立约束方程，即系数矩阵的秩</a:t>
                </a:r>
                <a14:m>
                  <m:oMath xmlns:m="http://schemas.openxmlformats.org/officeDocument/2006/math">
                    <m:r>
                      <a:rPr lang="zh-CN" altLang="en-US" sz="1600" b="0" i="1" smtClean="0">
                        <a:latin typeface="Cambria Math" panose="02040503050406030204" pitchFamily="18" charset="0"/>
                      </a:rPr>
                      <m:t>≤</m:t>
                    </m:r>
                    <m:r>
                      <a:rPr lang="en-US" altLang="zh-CN" sz="1600" b="0" i="1" smtClean="0">
                        <a:latin typeface="Cambria Math" panose="02040503050406030204" pitchFamily="18" charset="0"/>
                      </a:rPr>
                      <m:t>𝑚</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𝑛</m:t>
                    </m:r>
                    <m:r>
                      <a:rPr lang="en-US" altLang="zh-CN" sz="1600" b="0" i="1" smtClean="0">
                        <a:latin typeface="Cambria Math" panose="02040503050406030204" pitchFamily="18" charset="0"/>
                      </a:rPr>
                      <m:t>−1</m:t>
                    </m:r>
                  </m:oMath>
                </a14:m>
                <a:endParaRPr lang="en-US" altLang="zh-CN" sz="1600" b="0" dirty="0">
                  <a:latin typeface="Times New Roman" panose="02020603050405020304" pitchFamily="18" charset="0"/>
                </a:endParaRPr>
              </a:p>
              <a:p>
                <a:pPr lvl="2"/>
                <a:r>
                  <a:rPr lang="zh-CN" altLang="en-US" sz="1600" b="0" dirty="0">
                    <a:latin typeface="Times New Roman" panose="02020603050405020304" pitchFamily="18" charset="0"/>
                  </a:rPr>
                  <a:t>求解这类问题</a:t>
                </a:r>
                <a:r>
                  <a:rPr lang="zh-CN" altLang="en-US" sz="1600" b="0" dirty="0" smtClean="0">
                    <a:latin typeface="Times New Roman" panose="02020603050405020304" pitchFamily="18" charset="0"/>
                  </a:rPr>
                  <a:t>有很简便</a:t>
                </a:r>
                <a:r>
                  <a:rPr lang="zh-CN" altLang="en-US" sz="1600" b="0" dirty="0">
                    <a:latin typeface="Times New Roman" panose="02020603050405020304" pitchFamily="18" charset="0"/>
                  </a:rPr>
                  <a:t>的计算方法，称为表上作业法。</a:t>
                </a:r>
                <a:endParaRPr lang="en-US" altLang="zh-CN" sz="1600" b="0" dirty="0">
                  <a:latin typeface="Times New Roman" panose="02020603050405020304" pitchFamily="18" charset="0"/>
                </a:endParaRPr>
              </a:p>
              <a:p>
                <a:pPr lvl="1"/>
                <a:r>
                  <a:rPr lang="zh-CN" altLang="en-US" sz="2000" b="0" dirty="0">
                    <a:latin typeface="Times New Roman" panose="02020603050405020304" pitchFamily="18" charset="0"/>
                  </a:rPr>
                  <a:t>（</a:t>
                </a:r>
                <a:r>
                  <a:rPr lang="en-US" altLang="zh-CN" sz="2000" b="0" dirty="0">
                    <a:latin typeface="Times New Roman" panose="02020603050405020304" pitchFamily="18" charset="0"/>
                  </a:rPr>
                  <a:t>3</a:t>
                </a:r>
                <a:r>
                  <a:rPr lang="zh-CN" altLang="en-US" sz="2000" b="0" dirty="0">
                    <a:latin typeface="Times New Roman" panose="02020603050405020304" pitchFamily="18" charset="0"/>
                  </a:rPr>
                  <a:t>）</a:t>
                </a:r>
                <a:r>
                  <a:rPr lang="zh-CN" altLang="zh-CN" sz="2000" b="0" dirty="0"/>
                  <a:t>对产销平衡的运输问题，一定存在可行解</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𝑖𝑗</m:t>
                        </m:r>
                      </m:sub>
                    </m:sSub>
                    <m:r>
                      <a:rPr lang="en-US" altLang="zh-CN" sz="2000" b="0" i="1">
                        <a:latin typeface="Cambria Math" panose="02040503050406030204" pitchFamily="18" charset="0"/>
                      </a:rPr>
                      <m:t>=</m:t>
                    </m:r>
                    <m:f>
                      <m:fPr>
                        <m:ctrlPr>
                          <a:rPr lang="zh-CN" altLang="zh-CN" sz="2000" b="0" i="1">
                            <a:latin typeface="Cambria Math" panose="02040503050406030204" pitchFamily="18" charset="0"/>
                          </a:rPr>
                        </m:ctrlPr>
                      </m:fPr>
                      <m:num>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𝑎</m:t>
                            </m:r>
                          </m:e>
                          <m:sub>
                            <m:r>
                              <a:rPr lang="en-US" altLang="zh-CN" sz="2000" b="0" i="1">
                                <a:latin typeface="Cambria Math" panose="02040503050406030204" pitchFamily="18" charset="0"/>
                              </a:rPr>
                              <m:t>𝑖</m:t>
                            </m:r>
                          </m:sub>
                        </m:sSub>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𝑏</m:t>
                            </m:r>
                          </m:e>
                          <m:sub>
                            <m:r>
                              <a:rPr lang="en-US" altLang="zh-CN" sz="2000" b="0" i="1">
                                <a:latin typeface="Cambria Math" panose="02040503050406030204" pitchFamily="18" charset="0"/>
                              </a:rPr>
                              <m:t>𝑗</m:t>
                            </m:r>
                          </m:sub>
                        </m:sSub>
                      </m:num>
                      <m:den>
                        <m:r>
                          <a:rPr lang="en-US" altLang="zh-CN" sz="2000" b="0" i="1">
                            <a:latin typeface="Cambria Math" panose="02040503050406030204" pitchFamily="18" charset="0"/>
                          </a:rPr>
                          <m:t>𝑄</m:t>
                        </m:r>
                      </m:den>
                    </m:f>
                  </m:oMath>
                </a14:m>
                <a:r>
                  <a:rPr lang="zh-CN" altLang="zh-CN" sz="2000" b="0" dirty="0"/>
                  <a:t>。</a:t>
                </a:r>
                <a:endParaRPr lang="en-US" altLang="zh-CN" sz="2000" b="0" dirty="0"/>
              </a:p>
              <a:p>
                <a:pPr lvl="2"/>
                <a:r>
                  <a:rPr lang="zh-CN" altLang="en-US" sz="1600" b="0" dirty="0" smtClean="0">
                    <a:latin typeface="Times New Roman" panose="02020603050405020304" pitchFamily="18" charset="0"/>
                  </a:rPr>
                  <a:t>又因为</a:t>
                </a:r>
                <a:r>
                  <a:rPr lang="zh-CN" altLang="en-US" sz="1600" b="0" dirty="0">
                    <a:latin typeface="Times New Roman" panose="02020603050405020304" pitchFamily="18" charset="0"/>
                  </a:rPr>
                  <a:t>所有变量有界，因而存在最优解</a:t>
                </a:r>
              </a:p>
              <a:p>
                <a:pPr lvl="3"/>
                <a:endParaRPr lang="zh-CN" altLang="en-US" sz="1400" dirty="0"/>
              </a:p>
            </p:txBody>
          </p:sp>
        </mc:Choice>
        <mc:Fallback xmlns="">
          <p:sp>
            <p:nvSpPr>
              <p:cNvPr id="3" name="内容占位符 2"/>
              <p:cNvSpPr>
                <a:spLocks noGrp="1" noRot="1" noChangeAspect="1" noMove="1" noResize="1" noEditPoints="1" noAdjustHandles="1" noChangeArrowheads="1" noChangeShapeType="1" noTextEdit="1"/>
              </p:cNvSpPr>
              <p:nvPr>
                <p:ph sz="half" idx="2"/>
              </p:nvPr>
            </p:nvSpPr>
            <p:spPr>
              <a:xfrm>
                <a:off x="215516" y="2673704"/>
                <a:ext cx="8712968" cy="4320480"/>
              </a:xfrm>
              <a:blipFill>
                <a:blip r:embed="rId3"/>
                <a:stretch>
                  <a:fillRect l="-909" t="-1554" r="-699"/>
                </a:stretch>
              </a:blipFill>
            </p:spPr>
            <p:txBody>
              <a:bodyPr/>
              <a:lstStyle/>
              <a:p>
                <a:r>
                  <a:rPr lang="zh-CN" altLang="en-US">
                    <a:noFill/>
                  </a:rPr>
                  <a:t> </a:t>
                </a:r>
              </a:p>
            </p:txBody>
          </p:sp>
        </mc:Fallback>
      </mc:AlternateContent>
      <p:sp>
        <p:nvSpPr>
          <p:cNvPr id="7" name="灯片编号占位符 5">
            <a:extLst>
              <a:ext uri="{FF2B5EF4-FFF2-40B4-BE49-F238E27FC236}">
                <a16:creationId xmlns:a16="http://schemas.microsoft.com/office/drawing/2014/main" id="{577F782A-FBAD-4610-B5BC-FF805E94828A}"/>
              </a:ext>
            </a:extLst>
          </p:cNvPr>
          <p:cNvSpPr>
            <a:spLocks noGrp="1"/>
          </p:cNvSpPr>
          <p:nvPr>
            <p:ph type="sldNum" sz="quarter" idx="10"/>
          </p:nvPr>
        </p:nvSpPr>
        <p:spPr/>
        <p:txBody>
          <a:bodyPr/>
          <a:lstStyle/>
          <a:p>
            <a:fld id="{E921DE25-C72A-481B-B22E-B0B628802270}" type="slidenum">
              <a:rPr lang="en-US" altLang="zh-CN"/>
              <a:pPr/>
              <a:t>4</a:t>
            </a:fld>
            <a:endParaRPr lang="en-US" altLang="zh-CN"/>
          </a:p>
        </p:txBody>
      </p:sp>
      <p:sp>
        <p:nvSpPr>
          <p:cNvPr id="603139" name="Rectangle 3">
            <a:extLst>
              <a:ext uri="{FF2B5EF4-FFF2-40B4-BE49-F238E27FC236}">
                <a16:creationId xmlns:a16="http://schemas.microsoft.com/office/drawing/2014/main" id="{6D591B3F-90A5-40CC-868B-166F4068666B}"/>
              </a:ext>
            </a:extLst>
          </p:cNvPr>
          <p:cNvSpPr>
            <a:spLocks noChangeArrowheads="1"/>
          </p:cNvSpPr>
          <p:nvPr/>
        </p:nvSpPr>
        <p:spPr bwMode="auto">
          <a:xfrm>
            <a:off x="611560" y="1556792"/>
            <a:ext cx="80645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endParaRPr lang="zh-CN" altLang="en-US" sz="2400" b="0" dirty="0">
              <a:latin typeface="Times New Roman" panose="02020603050405020304" pitchFamily="18" charset="0"/>
            </a:endParaRPr>
          </a:p>
        </p:txBody>
      </p:sp>
      <p:sp>
        <p:nvSpPr>
          <p:cNvPr id="8" name="Rectangle 6">
            <a:extLst>
              <a:ext uri="{FF2B5EF4-FFF2-40B4-BE49-F238E27FC236}">
                <a16:creationId xmlns:a16="http://schemas.microsoft.com/office/drawing/2014/main" id="{0ADA99C6-A142-4B2F-95CD-3BB27B87C90A}"/>
              </a:ext>
            </a:extLst>
          </p:cNvPr>
          <p:cNvSpPr>
            <a:spLocks noChangeArrowheads="1"/>
          </p:cNvSpPr>
          <p:nvPr/>
        </p:nvSpPr>
        <p:spPr bwMode="auto">
          <a:xfrm>
            <a:off x="0" y="4749404"/>
            <a:ext cx="9144000" cy="1847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buNone/>
            </a:pPr>
            <a:endParaRPr lang="zh-CN" altLang="en-US" sz="2000" b="0" dirty="0">
              <a:latin typeface="Times New Roman" panose="02020603050405020304" pitchFamily="18" charset="0"/>
            </a:endParaRPr>
          </a:p>
        </p:txBody>
      </p:sp>
      <p:graphicFrame>
        <p:nvGraphicFramePr>
          <p:cNvPr id="9" name="Object 7">
            <a:extLst>
              <a:ext uri="{FF2B5EF4-FFF2-40B4-BE49-F238E27FC236}">
                <a16:creationId xmlns:a16="http://schemas.microsoft.com/office/drawing/2014/main" id="{7A0422D2-B827-48F2-9F7E-5B937247780D}"/>
              </a:ext>
            </a:extLst>
          </p:cNvPr>
          <p:cNvGraphicFramePr>
            <a:graphicFrameLocks noChangeAspect="1"/>
          </p:cNvGraphicFramePr>
          <p:nvPr>
            <p:extLst>
              <p:ext uri="{D42A27DB-BD31-4B8C-83A1-F6EECF244321}">
                <p14:modId xmlns:p14="http://schemas.microsoft.com/office/powerpoint/2010/main" val="1380805747"/>
              </p:ext>
            </p:extLst>
          </p:nvPr>
        </p:nvGraphicFramePr>
        <p:xfrm>
          <a:off x="1763688" y="4425627"/>
          <a:ext cx="3600401" cy="647554"/>
        </p:xfrm>
        <a:graphic>
          <a:graphicData uri="http://schemas.openxmlformats.org/presentationml/2006/ole">
            <mc:AlternateContent xmlns:mc="http://schemas.openxmlformats.org/markup-compatibility/2006">
              <mc:Choice xmlns:v="urn:schemas-microsoft-com:vml" Requires="v">
                <p:oleObj spid="_x0000_s603268" name="Equation" r:id="rId4" imgW="2679480" imgH="482400" progId="Equation.DSMT4">
                  <p:embed/>
                </p:oleObj>
              </mc:Choice>
              <mc:Fallback>
                <p:oleObj name="Equation" r:id="rId4" imgW="2679480" imgH="482400" progId="Equation.DSMT4">
                  <p:embed/>
                  <p:pic>
                    <p:nvPicPr>
                      <p:cNvPr id="604167" name="Object 7">
                        <a:extLst>
                          <a:ext uri="{FF2B5EF4-FFF2-40B4-BE49-F238E27FC236}">
                            <a16:creationId xmlns:a16="http://schemas.microsoft.com/office/drawing/2014/main" id="{7A0422D2-B827-48F2-9F7E-5B937247780D}"/>
                          </a:ext>
                        </a:extLst>
                      </p:cNvPr>
                      <p:cNvPicPr>
                        <a:picLocks noChangeAspect="1" noChangeArrowheads="1"/>
                      </p:cNvPicPr>
                      <p:nvPr/>
                    </p:nvPicPr>
                    <p:blipFill>
                      <a:blip r:embed="rId5"/>
                      <a:srcRect/>
                      <a:stretch>
                        <a:fillRect/>
                      </a:stretch>
                    </p:blipFill>
                    <p:spPr bwMode="auto">
                      <a:xfrm>
                        <a:off x="1763688" y="4425627"/>
                        <a:ext cx="3600401" cy="647554"/>
                      </a:xfrm>
                      <a:prstGeom prst="rect">
                        <a:avLst/>
                      </a:prstGeom>
                      <a:noFill/>
                      <a:ln>
                        <a:noFill/>
                      </a:ln>
                      <a:effectLst/>
                      <a:extLst/>
                    </p:spPr>
                  </p:pic>
                </p:oleObj>
              </mc:Fallback>
            </mc:AlternateContent>
          </a:graphicData>
        </a:graphic>
      </p:graphicFrame>
      <p:pic>
        <p:nvPicPr>
          <p:cNvPr id="11" name="图片 10"/>
          <p:cNvPicPr>
            <a:picLocks noChangeAspect="1"/>
          </p:cNvPicPr>
          <p:nvPr/>
        </p:nvPicPr>
        <p:blipFill rotWithShape="1">
          <a:blip r:embed="rId6">
            <a:extLst>
              <a:ext uri="{28A0092B-C50C-407E-A947-70E740481C1C}">
                <a14:useLocalDpi xmlns:a14="http://schemas.microsoft.com/office/drawing/2010/main" val="0"/>
              </a:ext>
            </a:extLst>
          </a:blip>
          <a:srcRect t="1825" r="2873"/>
          <a:stretch/>
        </p:blipFill>
        <p:spPr>
          <a:xfrm>
            <a:off x="544442" y="1210271"/>
            <a:ext cx="2968103" cy="1137204"/>
          </a:xfrm>
          <a:prstGeom prst="rect">
            <a:avLst/>
          </a:prstGeom>
        </p:spPr>
      </p:pic>
      <p:pic>
        <p:nvPicPr>
          <p:cNvPr id="12" name="图片 11"/>
          <p:cNvPicPr>
            <a:picLocks noChangeAspect="1"/>
          </p:cNvPicPr>
          <p:nvPr/>
        </p:nvPicPr>
        <p:blipFill rotWithShape="1">
          <a:blip r:embed="rId7">
            <a:extLst>
              <a:ext uri="{28A0092B-C50C-407E-A947-70E740481C1C}">
                <a14:useLocalDpi xmlns:a14="http://schemas.microsoft.com/office/drawing/2010/main" val="0"/>
              </a:ext>
            </a:extLst>
          </a:blip>
          <a:srcRect r="2492"/>
          <a:stretch/>
        </p:blipFill>
        <p:spPr>
          <a:xfrm>
            <a:off x="4618178" y="1178476"/>
            <a:ext cx="3566766" cy="1325995"/>
          </a:xfrm>
          <a:prstGeom prst="rect">
            <a:avLst/>
          </a:prstGeom>
        </p:spPr>
      </p:pic>
      <p:pic>
        <p:nvPicPr>
          <p:cNvPr id="4" name="图片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5516" y="1107747"/>
            <a:ext cx="8565622" cy="1630821"/>
          </a:xfrm>
          <a:prstGeom prst="rect">
            <a:avLst/>
          </a:prstGeom>
        </p:spPr>
      </p:pic>
      <p:pic>
        <p:nvPicPr>
          <p:cNvPr id="5" name="图片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8083" y="1121666"/>
            <a:ext cx="8550381" cy="1615580"/>
          </a:xfrm>
          <a:prstGeom prst="rect">
            <a:avLst/>
          </a:prstGeom>
        </p:spPr>
      </p:pic>
      <p:pic>
        <p:nvPicPr>
          <p:cNvPr id="6" name="图片 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39035" y="46178"/>
            <a:ext cx="3657917" cy="1059272"/>
          </a:xfrm>
          <a:prstGeom prst="rect">
            <a:avLst/>
          </a:prstGeom>
        </p:spPr>
      </p:pic>
      <mc:AlternateContent xmlns:mc="http://schemas.openxmlformats.org/markup-compatibility/2006" xmlns:a14="http://schemas.microsoft.com/office/drawing/2010/main">
        <mc:Choice Requires="a14">
          <p:sp>
            <p:nvSpPr>
              <p:cNvPr id="14" name="文本框 13"/>
              <p:cNvSpPr txBox="1"/>
              <p:nvPr/>
            </p:nvSpPr>
            <p:spPr>
              <a:xfrm>
                <a:off x="611560" y="3173730"/>
                <a:ext cx="8223598" cy="3013133"/>
              </a:xfrm>
              <a:prstGeom prst="rect">
                <a:avLst/>
              </a:prstGeom>
              <a:solidFill>
                <a:schemeClr val="bg2">
                  <a:lumMod val="20000"/>
                  <a:lumOff val="80000"/>
                </a:schemeClr>
              </a:solidFill>
            </p:spPr>
            <p:txBody>
              <a:bodyPr wrap="none" rtlCol="0">
                <a:spAutoFit/>
              </a:bodyPr>
              <a:lstStyle/>
              <a:p>
                <a:pPr>
                  <a:buNone/>
                </a:pPr>
                <a:r>
                  <a:rPr lang="zh-CN" altLang="en-US" sz="1800" b="0" dirty="0" smtClean="0"/>
                  <a:t>若另</a:t>
                </a:r>
                <a14:m>
                  <m:oMath xmlns:m="http://schemas.openxmlformats.org/officeDocument/2006/math">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𝑥</m:t>
                        </m:r>
                      </m:e>
                      <m:sub>
                        <m:r>
                          <a:rPr lang="en-US" altLang="zh-CN" sz="1800" b="0" i="1">
                            <a:latin typeface="Cambria Math" panose="02040503050406030204" pitchFamily="18" charset="0"/>
                          </a:rPr>
                          <m:t>𝑖𝑗</m:t>
                        </m:r>
                      </m:sub>
                    </m:sSub>
                    <m:r>
                      <a:rPr lang="en-US" altLang="zh-CN" sz="1800" b="0" i="1">
                        <a:latin typeface="Cambria Math" panose="02040503050406030204" pitchFamily="18" charset="0"/>
                      </a:rPr>
                      <m:t>=</m:t>
                    </m:r>
                    <m:f>
                      <m:fPr>
                        <m:ctrlPr>
                          <a:rPr lang="zh-CN" altLang="zh-CN" sz="1800" b="0" i="1">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num>
                      <m:den>
                        <m:r>
                          <a:rPr lang="en-US" altLang="zh-CN" sz="1800" b="0" i="1">
                            <a:latin typeface="Cambria Math" panose="02040503050406030204" pitchFamily="18" charset="0"/>
                          </a:rPr>
                          <m:t>𝑄</m:t>
                        </m:r>
                      </m:den>
                    </m:f>
                  </m:oMath>
                </a14:m>
                <a:r>
                  <a:rPr lang="zh-CN" altLang="en-US" sz="1800" b="0" dirty="0" smtClean="0"/>
                  <a:t>（</a:t>
                </a:r>
                <a:r>
                  <a:rPr lang="en-US" altLang="zh-CN" sz="1800" b="0" i="1" dirty="0" err="1" smtClean="0">
                    <a:latin typeface="+mn-lt"/>
                  </a:rPr>
                  <a:t>i</a:t>
                </a:r>
                <a:r>
                  <a:rPr lang="en-US" altLang="zh-CN" sz="1800" b="0" dirty="0" smtClean="0">
                    <a:latin typeface="+mn-lt"/>
                  </a:rPr>
                  <a:t>=1,2,…,</a:t>
                </a:r>
                <a:r>
                  <a:rPr lang="en-US" altLang="zh-CN" sz="1800" b="0" i="1" dirty="0" err="1" smtClean="0">
                    <a:latin typeface="+mn-lt"/>
                  </a:rPr>
                  <a:t>m</a:t>
                </a:r>
                <a:r>
                  <a:rPr lang="en-US" altLang="zh-CN" sz="1800" b="0" dirty="0" err="1" smtClean="0">
                    <a:latin typeface="+mn-lt"/>
                  </a:rPr>
                  <a:t>,</a:t>
                </a:r>
                <a:r>
                  <a:rPr lang="en-US" altLang="zh-CN" sz="1800" b="0" i="1" dirty="0" err="1" smtClean="0">
                    <a:latin typeface="+mn-lt"/>
                  </a:rPr>
                  <a:t>j</a:t>
                </a:r>
                <a:r>
                  <a:rPr lang="en-US" altLang="zh-CN" sz="1800" b="0" dirty="0" smtClean="0">
                    <a:latin typeface="+mn-lt"/>
                  </a:rPr>
                  <a:t>=1,2,…,</a:t>
                </a:r>
                <a:r>
                  <a:rPr lang="en-US" altLang="zh-CN" sz="1800" b="0" i="1" dirty="0" smtClean="0">
                    <a:latin typeface="+mn-lt"/>
                  </a:rPr>
                  <a:t>n</a:t>
                </a:r>
                <a:r>
                  <a:rPr lang="zh-CN" altLang="en-US" sz="1800" b="0" dirty="0" smtClean="0"/>
                  <a:t>），其中</a:t>
                </a:r>
                <a:r>
                  <a:rPr lang="en-US" altLang="zh-CN" sz="1800" b="0" i="1" dirty="0" smtClean="0"/>
                  <a:t>Q</a:t>
                </a:r>
                <a:r>
                  <a:rPr lang="en-US" altLang="zh-CN" sz="1800" b="0" dirty="0" smtClean="0"/>
                  <a:t>=</a:t>
                </a:r>
                <a14:m>
                  <m:oMath xmlns:m="http://schemas.openxmlformats.org/officeDocument/2006/math">
                    <m:nary>
                      <m:naryPr>
                        <m:chr m:val="∑"/>
                        <m:ctrlPr>
                          <a:rPr lang="en-US" altLang="zh-CN" sz="1800" b="0" i="1" smtClean="0">
                            <a:latin typeface="Cambria Math" panose="02040503050406030204" pitchFamily="18" charset="0"/>
                          </a:rPr>
                        </m:ctrlPr>
                      </m:naryPr>
                      <m:sub>
                        <m:r>
                          <m:rPr>
                            <m:brk m:alnAt="23"/>
                          </m:rP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𝑚</m:t>
                        </m:r>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𝑖</m:t>
                            </m:r>
                          </m:sub>
                        </m:sSub>
                      </m:e>
                    </m:nary>
                    <m:r>
                      <a:rPr lang="en-US" altLang="zh-CN" sz="1800" b="0" i="1" smtClean="0">
                        <a:latin typeface="Cambria Math" panose="02040503050406030204" pitchFamily="18" charset="0"/>
                      </a:rPr>
                      <m:t>=</m:t>
                    </m:r>
                    <m:nary>
                      <m:naryPr>
                        <m:chr m:val="∑"/>
                        <m:ctrlPr>
                          <a:rPr lang="en-US" altLang="zh-CN" sz="1800" b="0" i="1">
                            <a:latin typeface="Cambria Math" panose="02040503050406030204" pitchFamily="18" charset="0"/>
                          </a:rPr>
                        </m:ctrlPr>
                      </m:naryPr>
                      <m:sub>
                        <m:r>
                          <a:rPr lang="en-US" altLang="zh-CN" sz="1800" b="0" i="1" smtClean="0">
                            <a:latin typeface="Cambria Math" panose="02040503050406030204" pitchFamily="18" charset="0"/>
                          </a:rPr>
                          <m:t>𝑗</m:t>
                        </m:r>
                        <m:r>
                          <a:rPr lang="en-US" altLang="zh-CN" sz="1800" b="0" i="1">
                            <a:latin typeface="Cambria Math" panose="02040503050406030204" pitchFamily="18" charset="0"/>
                          </a:rPr>
                          <m:t>=1</m:t>
                        </m:r>
                      </m:sub>
                      <m:sup>
                        <m:r>
                          <a:rPr lang="en-US" altLang="zh-CN" sz="1800" b="0" i="1" smtClean="0">
                            <a:latin typeface="Cambria Math" panose="02040503050406030204" pitchFamily="18" charset="0"/>
                          </a:rPr>
                          <m:t>𝑛</m:t>
                        </m:r>
                      </m:sup>
                      <m:e>
                        <m:sSub>
                          <m:sSubPr>
                            <m:ctrlPr>
                              <a:rPr lang="en-US" altLang="zh-CN" sz="1800" b="0" i="1">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𝑗</m:t>
                            </m:r>
                          </m:sub>
                        </m:sSub>
                      </m:e>
                    </m:nary>
                  </m:oMath>
                </a14:m>
                <a:endParaRPr lang="en-US" altLang="zh-CN" sz="1800" b="0" dirty="0" smtClean="0"/>
              </a:p>
              <a:p>
                <a:pPr>
                  <a:buNone/>
                </a:pPr>
                <a:r>
                  <a:rPr lang="zh-CN" altLang="en-US" sz="1800" b="0" dirty="0" smtClean="0"/>
                  <a:t>则</a:t>
                </a:r>
                <a14:m>
                  <m:oMath xmlns:m="http://schemas.openxmlformats.org/officeDocument/2006/math">
                    <m:nary>
                      <m:naryPr>
                        <m:chr m:val="∑"/>
                        <m:limLoc m:val="subSup"/>
                        <m:ctrlPr>
                          <a:rPr lang="zh-CN" altLang="en-US" sz="1800" b="0" i="1" smtClean="0">
                            <a:latin typeface="Cambria Math" panose="02040503050406030204" pitchFamily="18" charset="0"/>
                          </a:rPr>
                        </m:ctrlPr>
                      </m:naryPr>
                      <m:sub>
                        <m:r>
                          <m:rPr>
                            <m:brk m:alnAt="25"/>
                          </m:rPr>
                          <a:rPr lang="en-US" altLang="zh-CN" sz="1800" b="0" i="1" smtClean="0">
                            <a:latin typeface="Cambria Math" panose="02040503050406030204" pitchFamily="18" charset="0"/>
                          </a:rPr>
                          <m:t>𝑗</m:t>
                        </m:r>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𝑛</m:t>
                        </m:r>
                      </m:sup>
                      <m:e>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𝑥</m:t>
                            </m:r>
                          </m:e>
                          <m:sub>
                            <m:r>
                              <a:rPr lang="en-US" altLang="zh-CN" sz="1800" b="0" i="1">
                                <a:latin typeface="Cambria Math" panose="02040503050406030204" pitchFamily="18" charset="0"/>
                              </a:rPr>
                              <m:t>𝑖𝑗</m:t>
                            </m:r>
                          </m:sub>
                        </m:sSub>
                      </m:e>
                    </m:nary>
                    <m:r>
                      <a:rPr lang="en-US" altLang="zh-CN" sz="1800" b="0" i="1" smtClean="0">
                        <a:latin typeface="Cambria Math" panose="02040503050406030204" pitchFamily="18" charset="0"/>
                      </a:rPr>
                      <m:t>=</m:t>
                    </m:r>
                    <m:nary>
                      <m:naryPr>
                        <m:chr m:val="∑"/>
                        <m:limLoc m:val="subSup"/>
                        <m:ctrlPr>
                          <a:rPr lang="en-US" altLang="zh-CN" sz="1800" b="0" i="1" smtClean="0">
                            <a:latin typeface="Cambria Math" panose="02040503050406030204" pitchFamily="18" charset="0"/>
                          </a:rPr>
                        </m:ctrlPr>
                      </m:naryPr>
                      <m:sub>
                        <m:r>
                          <m:rPr>
                            <m:brk m:alnAt="25"/>
                          </m:rPr>
                          <a:rPr lang="en-US" altLang="zh-CN" sz="1800" b="0" i="1" smtClean="0">
                            <a:latin typeface="Cambria Math" panose="02040503050406030204" pitchFamily="18" charset="0"/>
                          </a:rPr>
                          <m:t>𝑗</m:t>
                        </m:r>
                        <m:r>
                          <a:rPr lang="en-US" altLang="zh-CN" sz="1800" b="0" i="1" smtClean="0">
                            <a:latin typeface="Cambria Math" panose="02040503050406030204" pitchFamily="18" charset="0"/>
                          </a:rPr>
                          <m:t>=1</m:t>
                        </m:r>
                      </m:sub>
                      <m:sup>
                        <m:r>
                          <a:rPr lang="en-US" altLang="zh-CN" sz="1800" b="0" i="1" smtClean="0">
                            <a:latin typeface="Cambria Math" panose="02040503050406030204" pitchFamily="18" charset="0"/>
                          </a:rPr>
                          <m:t>𝑛</m:t>
                        </m:r>
                      </m:sup>
                      <m:e>
                        <m:f>
                          <m:fPr>
                            <m:ctrlPr>
                              <a:rPr lang="zh-CN" altLang="zh-CN" sz="1800" b="0" i="1">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num>
                          <m:den>
                            <m:r>
                              <a:rPr lang="en-US" altLang="zh-CN" sz="1800" b="0" i="1">
                                <a:latin typeface="Cambria Math" panose="02040503050406030204" pitchFamily="18" charset="0"/>
                              </a:rPr>
                              <m:t>𝑄</m:t>
                            </m:r>
                          </m:den>
                        </m:f>
                      </m:e>
                    </m:nary>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num>
                      <m:den>
                        <m:r>
                          <a:rPr lang="en-US" altLang="zh-CN" sz="1800" b="0" i="1">
                            <a:latin typeface="Cambria Math" panose="02040503050406030204" pitchFamily="18" charset="0"/>
                          </a:rPr>
                          <m:t>𝑄</m:t>
                        </m:r>
                      </m:den>
                    </m:f>
                    <m:nary>
                      <m:naryPr>
                        <m:chr m:val="∑"/>
                        <m:limLoc m:val="subSup"/>
                        <m:ctrlPr>
                          <a:rPr lang="en-US" altLang="zh-CN" sz="1800" b="0" i="1">
                            <a:latin typeface="Cambria Math" panose="02040503050406030204" pitchFamily="18" charset="0"/>
                          </a:rPr>
                        </m:ctrlPr>
                      </m:naryPr>
                      <m:sub>
                        <m:r>
                          <m:rPr>
                            <m:brk m:alnAt="25"/>
                          </m:rPr>
                          <a:rPr lang="en-US" altLang="zh-CN" sz="1800" b="0" i="1">
                            <a:latin typeface="Cambria Math" panose="02040503050406030204" pitchFamily="18" charset="0"/>
                          </a:rPr>
                          <m:t>𝑗</m:t>
                        </m:r>
                        <m:r>
                          <a:rPr lang="en-US" altLang="zh-CN" sz="1800" b="0" i="1">
                            <a:latin typeface="Cambria Math" panose="02040503050406030204" pitchFamily="18" charset="0"/>
                          </a:rPr>
                          <m:t>=1</m:t>
                        </m:r>
                      </m:sub>
                      <m:sup>
                        <m:r>
                          <a:rPr lang="en-US" altLang="zh-CN" sz="1800" b="0" i="1">
                            <a:latin typeface="Cambria Math" panose="02040503050406030204" pitchFamily="18" charset="0"/>
                          </a:rPr>
                          <m:t>𝑛</m:t>
                        </m:r>
                      </m:sup>
                      <m:e>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e>
                    </m:nary>
                    <m:r>
                      <a:rPr lang="en-US" altLang="zh-CN" sz="1800" b="0" i="1" smtClean="0">
                        <a:latin typeface="Cambria Math" panose="02040503050406030204" pitchFamily="18" charset="0"/>
                      </a:rPr>
                      <m:t>=</m:t>
                    </m:r>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oMath>
                </a14:m>
                <a:r>
                  <a:rPr lang="en-US" altLang="zh-CN" sz="1800" b="0" dirty="0" smtClean="0">
                    <a:latin typeface="+mn-lt"/>
                  </a:rPr>
                  <a:t>,</a:t>
                </a:r>
                <a:r>
                  <a:rPr lang="en-US" altLang="zh-CN" sz="1800" b="0" i="1" dirty="0">
                    <a:latin typeface="+mn-lt"/>
                  </a:rPr>
                  <a:t> i</a:t>
                </a:r>
                <a:r>
                  <a:rPr lang="en-US" altLang="zh-CN" sz="1800" b="0" dirty="0">
                    <a:latin typeface="+mn-lt"/>
                  </a:rPr>
                  <a:t>=1,2,…,</a:t>
                </a:r>
                <a:r>
                  <a:rPr lang="en-US" altLang="zh-CN" sz="1800" b="0" i="1" dirty="0" smtClean="0">
                    <a:latin typeface="+mn-lt"/>
                  </a:rPr>
                  <a:t>m, </a:t>
                </a:r>
                <a:r>
                  <a:rPr lang="zh-CN" altLang="en-US" sz="1800" b="0" dirty="0" smtClean="0">
                    <a:latin typeface="+mn-lt"/>
                  </a:rPr>
                  <a:t>满足</a:t>
                </a:r>
                <a:r>
                  <a:rPr lang="en-US" altLang="zh-CN" sz="1800" b="0" dirty="0" smtClean="0">
                    <a:latin typeface="+mn-lt"/>
                  </a:rPr>
                  <a:t>m</a:t>
                </a:r>
                <a:r>
                  <a:rPr lang="zh-CN" altLang="en-US" sz="1800" b="0" dirty="0" smtClean="0">
                    <a:latin typeface="+mn-lt"/>
                  </a:rPr>
                  <a:t>个产量约束方程，同理</a:t>
                </a:r>
                <a:endParaRPr lang="en-US" altLang="zh-CN" sz="1800" b="0" dirty="0" smtClean="0">
                  <a:latin typeface="+mn-lt"/>
                </a:endParaRPr>
              </a:p>
              <a:p>
                <a:pPr>
                  <a:buNone/>
                </a:pPr>
                <a:r>
                  <a:rPr lang="zh-CN" altLang="en-US" sz="1800" b="0" dirty="0" smtClean="0">
                    <a:latin typeface="+mn-lt"/>
                  </a:rPr>
                  <a:t>有</a:t>
                </a:r>
                <a14:m>
                  <m:oMath xmlns:m="http://schemas.openxmlformats.org/officeDocument/2006/math">
                    <m:nary>
                      <m:naryPr>
                        <m:chr m:val="∑"/>
                        <m:limLoc m:val="subSup"/>
                        <m:ctrlPr>
                          <a:rPr lang="zh-CN" altLang="en-US" sz="1800" b="0" i="1">
                            <a:latin typeface="Cambria Math" panose="02040503050406030204" pitchFamily="18" charset="0"/>
                          </a:rPr>
                        </m:ctrlPr>
                      </m:naryPr>
                      <m:sub>
                        <m:r>
                          <a:rPr lang="en-US" altLang="zh-CN" sz="1800" b="0" i="1" smtClean="0">
                            <a:latin typeface="Cambria Math" panose="02040503050406030204" pitchFamily="18" charset="0"/>
                          </a:rPr>
                          <m:t>𝑖</m:t>
                        </m:r>
                        <m:r>
                          <a:rPr lang="en-US" altLang="zh-CN" sz="1800" b="0" i="1">
                            <a:latin typeface="Cambria Math" panose="02040503050406030204" pitchFamily="18" charset="0"/>
                          </a:rPr>
                          <m:t>=1</m:t>
                        </m:r>
                      </m:sub>
                      <m:sup>
                        <m:r>
                          <a:rPr lang="en-US" altLang="zh-CN" sz="1800" b="0" i="1" smtClean="0">
                            <a:latin typeface="Cambria Math" panose="02040503050406030204" pitchFamily="18" charset="0"/>
                          </a:rPr>
                          <m:t>𝑚</m:t>
                        </m:r>
                      </m:sup>
                      <m:e>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𝑥</m:t>
                            </m:r>
                          </m:e>
                          <m:sub>
                            <m:r>
                              <a:rPr lang="en-US" altLang="zh-CN" sz="1800" b="0" i="1">
                                <a:latin typeface="Cambria Math" panose="02040503050406030204" pitchFamily="18" charset="0"/>
                              </a:rPr>
                              <m:t>𝑖𝑗</m:t>
                            </m:r>
                          </m:sub>
                        </m:sSub>
                      </m:e>
                    </m:nary>
                    <m:r>
                      <a:rPr lang="en-US" altLang="zh-CN" sz="1800" b="0" i="1">
                        <a:latin typeface="Cambria Math" panose="02040503050406030204" pitchFamily="18" charset="0"/>
                      </a:rPr>
                      <m:t>=</m:t>
                    </m:r>
                    <m:nary>
                      <m:naryPr>
                        <m:chr m:val="∑"/>
                        <m:limLoc m:val="subSup"/>
                        <m:ctrlPr>
                          <a:rPr lang="en-US" altLang="zh-CN" sz="1800" b="0" i="1">
                            <a:latin typeface="Cambria Math" panose="02040503050406030204" pitchFamily="18" charset="0"/>
                          </a:rPr>
                        </m:ctrlPr>
                      </m:naryPr>
                      <m:sub>
                        <m:r>
                          <a:rPr lang="en-US" altLang="zh-CN" sz="1800" b="0" i="1" smtClean="0">
                            <a:latin typeface="Cambria Math" panose="02040503050406030204" pitchFamily="18" charset="0"/>
                          </a:rPr>
                          <m:t>𝑖</m:t>
                        </m:r>
                        <m:r>
                          <a:rPr lang="en-US" altLang="zh-CN" sz="1800" b="0" i="1">
                            <a:latin typeface="Cambria Math" panose="02040503050406030204" pitchFamily="18" charset="0"/>
                          </a:rPr>
                          <m:t>=1</m:t>
                        </m:r>
                      </m:sub>
                      <m:sup>
                        <m:r>
                          <a:rPr lang="en-US" altLang="zh-CN" sz="1800" b="0" i="1" smtClean="0">
                            <a:latin typeface="Cambria Math" panose="02040503050406030204" pitchFamily="18" charset="0"/>
                          </a:rPr>
                          <m:t>𝑚</m:t>
                        </m:r>
                      </m:sup>
                      <m:e>
                        <m:f>
                          <m:fPr>
                            <m:ctrlPr>
                              <a:rPr lang="zh-CN" altLang="zh-CN" sz="1800" b="0" i="1">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num>
                          <m:den>
                            <m:r>
                              <a:rPr lang="en-US" altLang="zh-CN" sz="1800" b="0" i="1">
                                <a:latin typeface="Cambria Math" panose="02040503050406030204" pitchFamily="18" charset="0"/>
                              </a:rPr>
                              <m:t>𝑄</m:t>
                            </m:r>
                          </m:den>
                        </m:f>
                      </m:e>
                    </m:nary>
                    <m:r>
                      <a:rPr lang="en-US" altLang="zh-CN" sz="1800" b="0" i="1">
                        <a:latin typeface="Cambria Math" panose="02040503050406030204" pitchFamily="18" charset="0"/>
                      </a:rPr>
                      <m:t>=</m:t>
                    </m:r>
                    <m:f>
                      <m:fPr>
                        <m:ctrlPr>
                          <a:rPr lang="en-US" altLang="zh-CN" sz="1800" b="0" i="1">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num>
                      <m:den>
                        <m:r>
                          <a:rPr lang="en-US" altLang="zh-CN" sz="1800" b="0" i="1">
                            <a:latin typeface="Cambria Math" panose="02040503050406030204" pitchFamily="18" charset="0"/>
                          </a:rPr>
                          <m:t>𝑄</m:t>
                        </m:r>
                      </m:den>
                    </m:f>
                    <m:nary>
                      <m:naryPr>
                        <m:chr m:val="∑"/>
                        <m:limLoc m:val="subSup"/>
                        <m:ctrlPr>
                          <a:rPr lang="en-US" altLang="zh-CN" sz="1800" b="0" i="1">
                            <a:latin typeface="Cambria Math" panose="02040503050406030204" pitchFamily="18" charset="0"/>
                          </a:rPr>
                        </m:ctrlPr>
                      </m:naryPr>
                      <m:sub>
                        <m:r>
                          <m:rPr>
                            <m:brk m:alnAt="25"/>
                          </m:rPr>
                          <a:rPr lang="en-US" altLang="zh-CN" sz="1800" b="0" i="1">
                            <a:latin typeface="Cambria Math" panose="02040503050406030204" pitchFamily="18" charset="0"/>
                          </a:rPr>
                          <m:t>𝑗</m:t>
                        </m:r>
                        <m:r>
                          <a:rPr lang="en-US" altLang="zh-CN" sz="1800" b="0" i="1">
                            <a:latin typeface="Cambria Math" panose="02040503050406030204" pitchFamily="18" charset="0"/>
                          </a:rPr>
                          <m:t>=1</m:t>
                        </m:r>
                      </m:sub>
                      <m:sup>
                        <m:r>
                          <a:rPr lang="en-US" altLang="zh-CN" sz="1800" b="0" i="1">
                            <a:latin typeface="Cambria Math" panose="02040503050406030204" pitchFamily="18" charset="0"/>
                          </a:rPr>
                          <m:t>𝑛</m:t>
                        </m:r>
                      </m:sup>
                      <m:e>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e>
                    </m:nary>
                    <m:r>
                      <a:rPr lang="en-US" altLang="zh-CN" sz="1800" b="0" i="1">
                        <a:latin typeface="Cambria Math" panose="02040503050406030204" pitchFamily="18" charset="0"/>
                      </a:rPr>
                      <m:t>=</m:t>
                    </m:r>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oMath>
                </a14:m>
                <a:r>
                  <a:rPr lang="en-US" altLang="zh-CN" sz="1800" b="0" dirty="0"/>
                  <a:t>,</a:t>
                </a:r>
                <a:r>
                  <a:rPr lang="en-US" altLang="zh-CN" sz="1800" b="0" i="1" dirty="0"/>
                  <a:t> </a:t>
                </a:r>
                <a:r>
                  <a:rPr lang="en-US" altLang="zh-CN" sz="1800" b="0" i="1" dirty="0" smtClean="0">
                    <a:latin typeface="+mn-lt"/>
                  </a:rPr>
                  <a:t>j</a:t>
                </a:r>
                <a:r>
                  <a:rPr lang="en-US" altLang="zh-CN" sz="1800" b="0" dirty="0" smtClean="0">
                    <a:latin typeface="+mn-lt"/>
                  </a:rPr>
                  <a:t>=1,2,…,</a:t>
                </a:r>
                <a:r>
                  <a:rPr lang="en-US" altLang="zh-CN" sz="1800" b="0" i="1" dirty="0" smtClean="0">
                    <a:latin typeface="+mn-lt"/>
                  </a:rPr>
                  <a:t>n,  </a:t>
                </a:r>
                <a:r>
                  <a:rPr lang="zh-CN" altLang="en-US" sz="1800" b="0" dirty="0" smtClean="0"/>
                  <a:t>满足</a:t>
                </a:r>
                <a:r>
                  <a:rPr lang="en-US" altLang="zh-CN" sz="1800" b="0" dirty="0" smtClean="0">
                    <a:latin typeface="+mn-lt"/>
                  </a:rPr>
                  <a:t>n</a:t>
                </a:r>
                <a:r>
                  <a:rPr lang="zh-CN" altLang="en-US" sz="1800" b="0" dirty="0" smtClean="0"/>
                  <a:t>个</a:t>
                </a:r>
                <a:r>
                  <a:rPr lang="zh-CN" altLang="en-US" sz="1800" b="0" dirty="0"/>
                  <a:t>销量</a:t>
                </a:r>
                <a:r>
                  <a:rPr lang="zh-CN" altLang="en-US" sz="1800" b="0" dirty="0" smtClean="0"/>
                  <a:t>约束方程</a:t>
                </a:r>
                <a:endParaRPr lang="en-US" altLang="zh-CN" sz="1800" b="0" dirty="0" smtClean="0"/>
              </a:p>
              <a:p>
                <a:pPr>
                  <a:buNone/>
                </a:pPr>
                <a:r>
                  <a:rPr lang="zh-CN" altLang="en-US" sz="1800" b="0" dirty="0" smtClean="0"/>
                  <a:t>又因</a:t>
                </a:r>
                <a14:m>
                  <m:oMath xmlns:m="http://schemas.openxmlformats.org/officeDocument/2006/math">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r>
                      <a:rPr lang="en-US" altLang="zh-CN" sz="1800" b="0" i="1" smtClean="0">
                        <a:latin typeface="Cambria Math" panose="02040503050406030204" pitchFamily="18" charset="0"/>
                        <a:ea typeface="Cambria Math" panose="02040503050406030204" pitchFamily="18" charset="0"/>
                      </a:rPr>
                      <m:t>≥0,</m:t>
                    </m:r>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oMath>
                </a14:m>
                <a:r>
                  <a:rPr lang="en-US" altLang="zh-CN" sz="1800" b="0" dirty="0">
                    <a:ea typeface="Cambria Math" panose="02040503050406030204" pitchFamily="18" charset="0"/>
                  </a:rPr>
                  <a:t> </a:t>
                </a:r>
                <a14:m>
                  <m:oMath xmlns:m="http://schemas.openxmlformats.org/officeDocument/2006/math">
                    <m:r>
                      <a:rPr lang="en-US" altLang="zh-CN" sz="1800" b="0" i="1">
                        <a:latin typeface="Cambria Math" panose="02040503050406030204" pitchFamily="18" charset="0"/>
                        <a:ea typeface="Cambria Math" panose="02040503050406030204" pitchFamily="18" charset="0"/>
                      </a:rPr>
                      <m:t>≥0</m:t>
                    </m:r>
                  </m:oMath>
                </a14:m>
                <a:r>
                  <a:rPr lang="en-US" altLang="zh-CN" sz="1800" b="0" dirty="0" smtClean="0"/>
                  <a:t>,</a:t>
                </a:r>
                <a:r>
                  <a:rPr lang="en-US" altLang="zh-CN" sz="1800" b="0" dirty="0"/>
                  <a:t> </a:t>
                </a:r>
                <a14:m>
                  <m:oMath xmlns:m="http://schemas.openxmlformats.org/officeDocument/2006/math">
                    <m:r>
                      <a:rPr lang="en-US" altLang="zh-CN" sz="1800" b="0" i="1">
                        <a:latin typeface="Cambria Math" panose="02040503050406030204" pitchFamily="18" charset="0"/>
                      </a:rPr>
                      <m:t>𝑄</m:t>
                    </m:r>
                  </m:oMath>
                </a14:m>
                <a:r>
                  <a:rPr lang="en-US" altLang="zh-CN" sz="1800" b="0" dirty="0">
                    <a:ea typeface="Cambria Math" panose="02040503050406030204" pitchFamily="18" charset="0"/>
                  </a:rPr>
                  <a:t> </a:t>
                </a:r>
                <a14:m>
                  <m:oMath xmlns:m="http://schemas.openxmlformats.org/officeDocument/2006/math">
                    <m:r>
                      <a:rPr lang="en-US" altLang="zh-CN" sz="1800" b="0" i="1">
                        <a:latin typeface="Cambria Math" panose="02040503050406030204" pitchFamily="18" charset="0"/>
                        <a:ea typeface="Cambria Math" panose="02040503050406030204" pitchFamily="18" charset="0"/>
                      </a:rPr>
                      <m:t>≥0</m:t>
                    </m:r>
                  </m:oMath>
                </a14:m>
                <a:r>
                  <a:rPr lang="en-US" altLang="zh-CN" sz="1800" b="0" dirty="0" smtClean="0"/>
                  <a:t>,</a:t>
                </a:r>
                <a:r>
                  <a:rPr lang="zh-CN" altLang="en-US" sz="1800" b="0" dirty="0" smtClean="0"/>
                  <a:t>所以</a:t>
                </a:r>
                <a14:m>
                  <m:oMath xmlns:m="http://schemas.openxmlformats.org/officeDocument/2006/math">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𝑥</m:t>
                        </m:r>
                      </m:e>
                      <m:sub>
                        <m:r>
                          <a:rPr lang="en-US" altLang="zh-CN" sz="1800" b="0" i="1">
                            <a:latin typeface="Cambria Math" panose="02040503050406030204" pitchFamily="18" charset="0"/>
                          </a:rPr>
                          <m:t>𝑖𝑗</m:t>
                        </m:r>
                      </m:sub>
                    </m:sSub>
                    <m:r>
                      <a:rPr lang="en-US" altLang="zh-CN" sz="1800" b="0" i="1">
                        <a:latin typeface="Cambria Math" panose="02040503050406030204" pitchFamily="18" charset="0"/>
                      </a:rPr>
                      <m:t>=</m:t>
                    </m:r>
                    <m:f>
                      <m:fPr>
                        <m:ctrlPr>
                          <a:rPr lang="zh-CN" altLang="zh-CN" sz="1800" b="0" i="1">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num>
                      <m:den>
                        <m:r>
                          <a:rPr lang="en-US" altLang="zh-CN" sz="1800" b="0" i="1">
                            <a:latin typeface="Cambria Math" panose="02040503050406030204" pitchFamily="18" charset="0"/>
                          </a:rPr>
                          <m:t>𝑄</m:t>
                        </m:r>
                      </m:den>
                    </m:f>
                  </m:oMath>
                </a14:m>
                <a:r>
                  <a:rPr lang="en-US" altLang="zh-CN" sz="1800" b="0" i="1" dirty="0"/>
                  <a:t>,  </a:t>
                </a:r>
                <a:r>
                  <a:rPr lang="zh-CN" altLang="en-US" sz="1800" b="0" dirty="0" smtClean="0"/>
                  <a:t>满足决策变量非负约束</a:t>
                </a:r>
                <a:endParaRPr lang="en-US" altLang="zh-CN" sz="1800" b="0" dirty="0" smtClean="0"/>
              </a:p>
              <a:p>
                <a:pPr>
                  <a:buNone/>
                </a:pPr>
                <a:r>
                  <a:rPr lang="zh-CN" altLang="en-US" sz="1800" b="0" dirty="0">
                    <a:latin typeface="+mn-lt"/>
                  </a:rPr>
                  <a:t>所以</a:t>
                </a:r>
                <a14:m>
                  <m:oMath xmlns:m="http://schemas.openxmlformats.org/officeDocument/2006/math">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𝑥</m:t>
                        </m:r>
                      </m:e>
                      <m:sub>
                        <m:r>
                          <a:rPr lang="en-US" altLang="zh-CN" sz="1800" b="0" i="1">
                            <a:latin typeface="Cambria Math" panose="02040503050406030204" pitchFamily="18" charset="0"/>
                          </a:rPr>
                          <m:t>𝑖𝑗</m:t>
                        </m:r>
                      </m:sub>
                    </m:sSub>
                    <m:r>
                      <a:rPr lang="en-US" altLang="zh-CN" sz="1800" b="0" i="1">
                        <a:latin typeface="Cambria Math" panose="02040503050406030204" pitchFamily="18" charset="0"/>
                      </a:rPr>
                      <m:t>=</m:t>
                    </m:r>
                    <m:f>
                      <m:fPr>
                        <m:ctrlPr>
                          <a:rPr lang="zh-CN" altLang="zh-CN" sz="1800" b="0" i="1">
                            <a:latin typeface="Cambria Math" panose="02040503050406030204" pitchFamily="18" charset="0"/>
                          </a:rPr>
                        </m:ctrlPr>
                      </m:fPr>
                      <m:num>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𝑎</m:t>
                            </m:r>
                          </m:e>
                          <m:sub>
                            <m:r>
                              <a:rPr lang="en-US" altLang="zh-CN" sz="1800" b="0" i="1">
                                <a:latin typeface="Cambria Math" panose="02040503050406030204" pitchFamily="18" charset="0"/>
                              </a:rPr>
                              <m:t>𝑖</m:t>
                            </m:r>
                          </m:sub>
                        </m:sSub>
                        <m:sSub>
                          <m:sSubPr>
                            <m:ctrlPr>
                              <a:rPr lang="zh-CN" altLang="zh-CN" sz="1800" b="0" i="1">
                                <a:latin typeface="Cambria Math" panose="02040503050406030204" pitchFamily="18" charset="0"/>
                              </a:rPr>
                            </m:ctrlPr>
                          </m:sSubPr>
                          <m:e>
                            <m:r>
                              <a:rPr lang="en-US" altLang="zh-CN" sz="1800" b="0" i="1">
                                <a:latin typeface="Cambria Math" panose="02040503050406030204" pitchFamily="18" charset="0"/>
                              </a:rPr>
                              <m:t>𝑏</m:t>
                            </m:r>
                          </m:e>
                          <m:sub>
                            <m:r>
                              <a:rPr lang="en-US" altLang="zh-CN" sz="1800" b="0" i="1">
                                <a:latin typeface="Cambria Math" panose="02040503050406030204" pitchFamily="18" charset="0"/>
                              </a:rPr>
                              <m:t>𝑗</m:t>
                            </m:r>
                          </m:sub>
                        </m:sSub>
                      </m:num>
                      <m:den>
                        <m:r>
                          <a:rPr lang="en-US" altLang="zh-CN" sz="1800" b="0" i="1">
                            <a:latin typeface="Cambria Math" panose="02040503050406030204" pitchFamily="18" charset="0"/>
                          </a:rPr>
                          <m:t>𝑄</m:t>
                        </m:r>
                      </m:den>
                    </m:f>
                  </m:oMath>
                </a14:m>
                <a:r>
                  <a:rPr lang="zh-CN" altLang="en-US" sz="1800" b="0" dirty="0" smtClean="0">
                    <a:latin typeface="+mn-lt"/>
                  </a:rPr>
                  <a:t>是运输问题数学模型的一个可行解。</a:t>
                </a:r>
                <a:endParaRPr lang="en-US" altLang="zh-CN" sz="1800" b="0" dirty="0" smtClean="0">
                  <a:latin typeface="+mn-lt"/>
                </a:endParaRPr>
              </a:p>
              <a:p>
                <a:pPr>
                  <a:buNone/>
                </a:pPr>
                <a:r>
                  <a:rPr lang="zh-CN" altLang="en-US" sz="1800" b="0" dirty="0" smtClean="0">
                    <a:latin typeface="+mn-lt"/>
                  </a:rPr>
                  <a:t>又因为运输问题的目标函数有下界</a:t>
                </a:r>
                <a:r>
                  <a:rPr lang="en-US" altLang="zh-CN" sz="1800" b="0" dirty="0" smtClean="0">
                    <a:latin typeface="+mn-lt"/>
                  </a:rPr>
                  <a:t>0</a:t>
                </a:r>
                <a:r>
                  <a:rPr lang="zh-CN" altLang="en-US" sz="1800" b="0" dirty="0" smtClean="0">
                    <a:latin typeface="+mn-lt"/>
                  </a:rPr>
                  <a:t>，所以该问题存在有限最优解。</a:t>
                </a:r>
                <a:endParaRPr lang="zh-CN" altLang="en-US" sz="1800" b="0" dirty="0">
                  <a:latin typeface="+mn-lt"/>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611560" y="3173730"/>
                <a:ext cx="8223598" cy="3013133"/>
              </a:xfrm>
              <a:prstGeom prst="rect">
                <a:avLst/>
              </a:prstGeom>
              <a:blipFill>
                <a:blip r:embed="rId11"/>
                <a:stretch>
                  <a:fillRect l="-1260" t="-11943" b="-2429"/>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a:extLst>
              <a:ext uri="{FF2B5EF4-FFF2-40B4-BE49-F238E27FC236}">
                <a16:creationId xmlns:a16="http://schemas.microsoft.com/office/drawing/2014/main" id="{E8634737-2BA3-4EAF-943D-5C249FA9B148}"/>
              </a:ext>
            </a:extLst>
          </p:cNvPr>
          <p:cNvSpPr>
            <a:spLocks noGrp="1" noChangeArrowheads="1"/>
          </p:cNvSpPr>
          <p:nvPr>
            <p:ph type="title"/>
          </p:nvPr>
        </p:nvSpPr>
        <p:spPr>
          <a:xfrm>
            <a:off x="1043608" y="476671"/>
            <a:ext cx="7848600" cy="576065"/>
          </a:xfrm>
        </p:spPr>
        <p:txBody>
          <a:bodyPr>
            <a:noAutofit/>
          </a:bodyPr>
          <a:lstStyle/>
          <a:p>
            <a:pPr marL="163513" lvl="1" indent="0">
              <a:lnSpc>
                <a:spcPct val="150000"/>
              </a:lnSpc>
              <a:buNone/>
            </a:pPr>
            <a:r>
              <a:rPr lang="en-US" altLang="zh-CN" dirty="0">
                <a:latin typeface="+mn-ea"/>
              </a:rPr>
              <a:t>4.2 </a:t>
            </a:r>
            <a:r>
              <a:rPr lang="zh-CN" altLang="en-US" dirty="0">
                <a:latin typeface="+mn-ea"/>
              </a:rPr>
              <a:t>表上作业法</a:t>
            </a:r>
          </a:p>
        </p:txBody>
      </p:sp>
      <p:sp>
        <p:nvSpPr>
          <p:cNvPr id="433158" name="Rectangle 6">
            <a:extLst>
              <a:ext uri="{FF2B5EF4-FFF2-40B4-BE49-F238E27FC236}">
                <a16:creationId xmlns:a16="http://schemas.microsoft.com/office/drawing/2014/main" id="{D7F1D07F-BE1C-4CEF-A6E2-B4C17A6A495F}"/>
              </a:ext>
            </a:extLst>
          </p:cNvPr>
          <p:cNvSpPr>
            <a:spLocks noGrp="1" noChangeArrowheads="1"/>
          </p:cNvSpPr>
          <p:nvPr>
            <p:ph idx="1"/>
          </p:nvPr>
        </p:nvSpPr>
        <p:spPr>
          <a:xfrm>
            <a:off x="228600" y="1447802"/>
            <a:ext cx="8591550" cy="4765675"/>
          </a:xfrm>
          <a:noFill/>
          <a:ln/>
        </p:spPr>
        <p:txBody>
          <a:bodyPr/>
          <a:lstStyle/>
          <a:p>
            <a:r>
              <a:rPr lang="zh-CN" altLang="en-US" dirty="0">
                <a:latin typeface="Times New Roman" panose="02020603050405020304" pitchFamily="18" charset="0"/>
                <a:cs typeface="Times New Roman" panose="02020603050405020304" pitchFamily="18" charset="0"/>
              </a:rPr>
              <a:t>表上作业法是单纯形法在求解运输问题时的一种简化方法，实质是单纯形法。但具体计算和术语有所不同。可归纳为：</a:t>
            </a:r>
          </a:p>
          <a:p>
            <a:pPr lvl="1"/>
            <a:r>
              <a:rPr lang="en-US" altLang="zh-CN" sz="2000" dirty="0">
                <a:latin typeface="Times New Roman" panose="02020603050405020304" pitchFamily="18" charset="0"/>
                <a:cs typeface="Times New Roman" panose="02020603050405020304" pitchFamily="18" charset="0"/>
              </a:rPr>
              <a:t>(1) </a:t>
            </a:r>
            <a:r>
              <a:rPr lang="zh-CN" altLang="en-US" sz="2000" dirty="0">
                <a:solidFill>
                  <a:srgbClr val="FF0000"/>
                </a:solidFill>
                <a:latin typeface="Times New Roman" panose="02020603050405020304" pitchFamily="18" charset="0"/>
                <a:cs typeface="Times New Roman" panose="02020603050405020304" pitchFamily="18" charset="0"/>
              </a:rPr>
              <a:t>找出初始基可行解</a:t>
            </a:r>
            <a:r>
              <a:rPr lang="zh-CN" altLang="en-US" sz="2000" dirty="0">
                <a:latin typeface="Times New Roman" panose="02020603050405020304" pitchFamily="18" charset="0"/>
                <a:cs typeface="Times New Roman" panose="02020603050405020304" pitchFamily="18" charset="0"/>
              </a:rPr>
              <a:t>。即在</a:t>
            </a:r>
            <a:r>
              <a:rPr lang="en-US" altLang="zh-CN" sz="2000" dirty="0">
                <a:latin typeface="Times New Roman" panose="02020603050405020304" pitchFamily="18" charset="0"/>
                <a:cs typeface="Times New Roman" panose="02020603050405020304" pitchFamily="18" charset="0"/>
              </a:rPr>
              <a:t>(</a:t>
            </a:r>
            <a:r>
              <a:rPr lang="en-US" altLang="zh-CN" sz="2000" i="1" dirty="0" err="1">
                <a:latin typeface="Times New Roman" panose="02020603050405020304" pitchFamily="18" charset="0"/>
                <a:cs typeface="Times New Roman" panose="02020603050405020304" pitchFamily="18" charset="0"/>
              </a:rPr>
              <a:t>m×n</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产销平衡表上用西北角法或最小元素</a:t>
            </a:r>
            <a:r>
              <a:rPr lang="zh-CN" altLang="en-US" sz="2000" dirty="0" smtClean="0">
                <a:latin typeface="Times New Roman" panose="02020603050405020304" pitchFamily="18" charset="0"/>
                <a:cs typeface="Times New Roman" panose="02020603050405020304" pitchFamily="18" charset="0"/>
              </a:rPr>
              <a:t>法或</a:t>
            </a:r>
            <a:r>
              <a:rPr lang="en-US" altLang="zh-CN" sz="2000" dirty="0" smtClean="0">
                <a:latin typeface="Times New Roman" panose="02020603050405020304" pitchFamily="18" charset="0"/>
                <a:cs typeface="Times New Roman" panose="02020603050405020304" pitchFamily="18" charset="0"/>
              </a:rPr>
              <a:t>Vogel</a:t>
            </a:r>
            <a:r>
              <a:rPr lang="zh-CN" altLang="en-US" sz="2000" dirty="0">
                <a:latin typeface="Times New Roman" panose="02020603050405020304" pitchFamily="18" charset="0"/>
                <a:cs typeface="Times New Roman" panose="02020603050405020304" pitchFamily="18" charset="0"/>
              </a:rPr>
              <a:t>法给出</a:t>
            </a:r>
            <a:r>
              <a:rPr lang="en-US" altLang="zh-CN" sz="2000" i="1" dirty="0">
                <a:latin typeface="Times New Roman" panose="02020603050405020304" pitchFamily="18" charset="0"/>
                <a:cs typeface="Times New Roman" panose="02020603050405020304" pitchFamily="18" charset="0"/>
              </a:rPr>
              <a:t>m+n-1</a:t>
            </a:r>
            <a:r>
              <a:rPr lang="zh-CN" altLang="en-US" sz="2000" i="1" dirty="0">
                <a:latin typeface="Times New Roman" panose="02020603050405020304" pitchFamily="18" charset="0"/>
                <a:cs typeface="Times New Roman" panose="02020603050405020304" pitchFamily="18" charset="0"/>
              </a:rPr>
              <a:t>个</a:t>
            </a:r>
            <a:r>
              <a:rPr lang="zh-CN" altLang="en-US" sz="2000" dirty="0">
                <a:latin typeface="Times New Roman" panose="02020603050405020304" pitchFamily="18" charset="0"/>
                <a:cs typeface="Times New Roman" panose="02020603050405020304" pitchFamily="18" charset="0"/>
              </a:rPr>
              <a:t>数字，称为数字格。它们就是初始基变量的取值</a:t>
            </a:r>
            <a:r>
              <a:rPr lang="zh-CN" altLang="en-US" sz="2000" dirty="0" smtClean="0">
                <a:latin typeface="Times New Roman" panose="02020603050405020304" pitchFamily="18" charset="0"/>
                <a:cs typeface="Times New Roman" panose="02020603050405020304" pitchFamily="18" charset="0"/>
              </a:rPr>
              <a:t>。其余没有填入数字的格为空格，代表非基变量。</a:t>
            </a:r>
            <a:endParaRPr lang="zh-CN" altLang="en-US" sz="2000" dirty="0">
              <a:latin typeface="Times New Roman" panose="02020603050405020304" pitchFamily="18" charset="0"/>
              <a:cs typeface="Times New Roman" panose="02020603050405020304" pitchFamily="18" charset="0"/>
            </a:endParaRPr>
          </a:p>
          <a:p>
            <a:pPr lvl="1"/>
            <a:r>
              <a:rPr lang="en-US" altLang="zh-CN" sz="2000" dirty="0">
                <a:latin typeface="Times New Roman" panose="02020603050405020304" pitchFamily="18" charset="0"/>
                <a:cs typeface="Times New Roman" panose="02020603050405020304" pitchFamily="18" charset="0"/>
              </a:rPr>
              <a:t>(2) </a:t>
            </a:r>
            <a:r>
              <a:rPr lang="zh-CN" altLang="en-US" sz="2000" dirty="0" smtClean="0">
                <a:solidFill>
                  <a:srgbClr val="FF0000"/>
                </a:solidFill>
                <a:latin typeface="Times New Roman" panose="02020603050405020304" pitchFamily="18" charset="0"/>
                <a:cs typeface="Times New Roman" panose="02020603050405020304" pitchFamily="18" charset="0"/>
              </a:rPr>
              <a:t>判断是否最优</a:t>
            </a:r>
            <a:r>
              <a:rPr lang="zh-CN" altLang="en-US" sz="2000" dirty="0" smtClean="0">
                <a:latin typeface="Times New Roman" panose="02020603050405020304" pitchFamily="18" charset="0"/>
                <a:cs typeface="Times New Roman" panose="02020603050405020304" pitchFamily="18" charset="0"/>
              </a:rPr>
              <a:t>。求</a:t>
            </a:r>
            <a:r>
              <a:rPr lang="zh-CN" altLang="en-US" sz="2000" dirty="0">
                <a:latin typeface="Times New Roman" panose="02020603050405020304" pitchFamily="18" charset="0"/>
                <a:cs typeface="Times New Roman" panose="02020603050405020304" pitchFamily="18" charset="0"/>
              </a:rPr>
              <a:t>各非基变量的检验数，即在表上计算空格的检验数，判别是否达到最优解。如已是最优解，则停止计算，否则转到下一步。</a:t>
            </a:r>
          </a:p>
          <a:p>
            <a:pPr lvl="1"/>
            <a:r>
              <a:rPr lang="en-US" altLang="zh-CN" sz="2000" dirty="0">
                <a:latin typeface="Times New Roman" panose="02020603050405020304" pitchFamily="18" charset="0"/>
                <a:cs typeface="Times New Roman" panose="02020603050405020304" pitchFamily="18" charset="0"/>
              </a:rPr>
              <a:t>(3) </a:t>
            </a:r>
            <a:r>
              <a:rPr lang="zh-CN" altLang="en-US" sz="2000" dirty="0" smtClean="0">
                <a:solidFill>
                  <a:srgbClr val="FF0000"/>
                </a:solidFill>
                <a:latin typeface="Times New Roman" panose="02020603050405020304" pitchFamily="18" charset="0"/>
                <a:cs typeface="Times New Roman" panose="02020603050405020304" pitchFamily="18" charset="0"/>
              </a:rPr>
              <a:t>不是最优就进行调整。</a:t>
            </a:r>
            <a:r>
              <a:rPr lang="zh-CN" altLang="en-US" sz="2000" dirty="0" smtClean="0">
                <a:latin typeface="Times New Roman" panose="02020603050405020304" pitchFamily="18" charset="0"/>
                <a:cs typeface="Times New Roman" panose="02020603050405020304" pitchFamily="18" charset="0"/>
              </a:rPr>
              <a:t>确定</a:t>
            </a:r>
            <a:r>
              <a:rPr lang="zh-CN" altLang="en-US" sz="2000" dirty="0">
                <a:latin typeface="Times New Roman" panose="02020603050405020304" pitchFamily="18" charset="0"/>
                <a:cs typeface="Times New Roman" panose="02020603050405020304" pitchFamily="18" charset="0"/>
              </a:rPr>
              <a:t>换入变量和换出变量，找出新的基可行解。在表上用闭回路法调整。</a:t>
            </a:r>
          </a:p>
          <a:p>
            <a:pPr lvl="1"/>
            <a:r>
              <a:rPr lang="en-US" altLang="zh-CN" sz="2000" dirty="0">
                <a:latin typeface="Times New Roman" panose="02020603050405020304" pitchFamily="18" charset="0"/>
                <a:cs typeface="Times New Roman" panose="02020603050405020304" pitchFamily="18" charset="0"/>
              </a:rPr>
              <a:t>(4) </a:t>
            </a:r>
            <a:r>
              <a:rPr lang="zh-CN" altLang="en-US" sz="2000" dirty="0">
                <a:solidFill>
                  <a:srgbClr val="FF0000"/>
                </a:solidFill>
                <a:latin typeface="Times New Roman" panose="02020603050405020304" pitchFamily="18" charset="0"/>
                <a:cs typeface="Times New Roman" panose="02020603050405020304" pitchFamily="18" charset="0"/>
              </a:rPr>
              <a:t>重复</a:t>
            </a:r>
            <a:r>
              <a:rPr lang="en-US" altLang="zh-CN" sz="2000" dirty="0">
                <a:solidFill>
                  <a:srgbClr val="FF0000"/>
                </a:solidFill>
                <a:latin typeface="Times New Roman" panose="02020603050405020304" pitchFamily="18" charset="0"/>
                <a:cs typeface="Times New Roman" panose="02020603050405020304" pitchFamily="18" charset="0"/>
              </a:rPr>
              <a:t>(2)</a:t>
            </a:r>
            <a:r>
              <a:rPr lang="zh-CN" altLang="en-US" sz="2000" dirty="0">
                <a:solidFill>
                  <a:srgbClr val="FF0000"/>
                </a:solidFill>
                <a:latin typeface="Times New Roman" panose="02020603050405020304" pitchFamily="18" charset="0"/>
                <a:cs typeface="Times New Roman" panose="02020603050405020304" pitchFamily="18" charset="0"/>
              </a:rPr>
              <a:t>，</a:t>
            </a:r>
            <a:r>
              <a:rPr lang="en-US" altLang="zh-CN" sz="2000" dirty="0">
                <a:solidFill>
                  <a:srgbClr val="FF0000"/>
                </a:solidFill>
                <a:latin typeface="Times New Roman" panose="02020603050405020304" pitchFamily="18" charset="0"/>
                <a:cs typeface="Times New Roman" panose="02020603050405020304" pitchFamily="18" charset="0"/>
              </a:rPr>
              <a:t>(3)</a:t>
            </a:r>
            <a:r>
              <a:rPr lang="zh-CN" altLang="en-US" sz="2000" dirty="0">
                <a:solidFill>
                  <a:srgbClr val="FF0000"/>
                </a:solidFill>
                <a:latin typeface="Times New Roman" panose="02020603050405020304" pitchFamily="18" charset="0"/>
                <a:cs typeface="Times New Roman" panose="02020603050405020304" pitchFamily="18" charset="0"/>
              </a:rPr>
              <a:t>直到得到最优解为止</a:t>
            </a:r>
            <a:r>
              <a:rPr lang="zh-CN" altLang="en-US" sz="2000" dirty="0">
                <a:latin typeface="Times New Roman" panose="02020603050405020304" pitchFamily="18" charset="0"/>
                <a:cs typeface="Times New Roman" panose="02020603050405020304" pitchFamily="18" charset="0"/>
              </a:rPr>
              <a:t>。 </a:t>
            </a:r>
          </a:p>
        </p:txBody>
      </p:sp>
      <p:sp>
        <p:nvSpPr>
          <p:cNvPr id="6" name="灯片编号占位符 5">
            <a:extLst>
              <a:ext uri="{FF2B5EF4-FFF2-40B4-BE49-F238E27FC236}">
                <a16:creationId xmlns:a16="http://schemas.microsoft.com/office/drawing/2014/main" id="{CEC8A0CF-BAE5-45F4-B02F-8CB15616D975}"/>
              </a:ext>
            </a:extLst>
          </p:cNvPr>
          <p:cNvSpPr>
            <a:spLocks noGrp="1"/>
          </p:cNvSpPr>
          <p:nvPr>
            <p:ph type="sldNum" sz="quarter" idx="10"/>
          </p:nvPr>
        </p:nvSpPr>
        <p:spPr/>
        <p:txBody>
          <a:bodyPr/>
          <a:lstStyle/>
          <a:p>
            <a:fld id="{3023A0C8-2672-45AE-9AA0-486D03EA181C}" type="slidenum">
              <a:rPr lang="en-US" altLang="zh-CN"/>
              <a:pPr/>
              <a:t>5</a:t>
            </a:fld>
            <a:endParaRPr lang="en-US" altLang="zh-C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a:extLst>
              <a:ext uri="{FF2B5EF4-FFF2-40B4-BE49-F238E27FC236}">
                <a16:creationId xmlns:a16="http://schemas.microsoft.com/office/drawing/2014/main" id="{CC9E1FD9-48FC-4772-BAAC-C6B480C87765}"/>
              </a:ext>
            </a:extLst>
          </p:cNvPr>
          <p:cNvSpPr>
            <a:spLocks noGrp="1" noChangeArrowheads="1"/>
          </p:cNvSpPr>
          <p:nvPr>
            <p:ph type="title"/>
          </p:nvPr>
        </p:nvSpPr>
        <p:spPr/>
        <p:txBody>
          <a:bodyPr>
            <a:noAutofit/>
          </a:bodyPr>
          <a:lstStyle/>
          <a:p>
            <a:r>
              <a:rPr lang="en-US" altLang="zh-CN" dirty="0">
                <a:latin typeface="宋体" panose="02010600030101010101" pitchFamily="2" charset="-122"/>
              </a:rPr>
              <a:t>4.2 </a:t>
            </a:r>
            <a:r>
              <a:rPr lang="zh-CN" altLang="en-US" dirty="0">
                <a:latin typeface="宋体" panose="02010600030101010101" pitchFamily="2" charset="-122"/>
              </a:rPr>
              <a:t>表上作业法</a:t>
            </a:r>
            <a:endParaRPr lang="zh-CN" altLang="en-US" dirty="0"/>
          </a:p>
        </p:txBody>
      </p:sp>
      <p:sp>
        <p:nvSpPr>
          <p:cNvPr id="605189" name="Rectangle 5">
            <a:extLst>
              <a:ext uri="{FF2B5EF4-FFF2-40B4-BE49-F238E27FC236}">
                <a16:creationId xmlns:a16="http://schemas.microsoft.com/office/drawing/2014/main" id="{98668A92-1064-4A9B-B361-3594BEE738DE}"/>
              </a:ext>
            </a:extLst>
          </p:cNvPr>
          <p:cNvSpPr>
            <a:spLocks noGrp="1" noChangeArrowheads="1"/>
          </p:cNvSpPr>
          <p:nvPr>
            <p:ph idx="1"/>
          </p:nvPr>
        </p:nvSpPr>
        <p:spPr>
          <a:xfrm>
            <a:off x="362206" y="1268760"/>
            <a:ext cx="8314249" cy="4114800"/>
          </a:xfrm>
          <a:noFill/>
          <a:ln/>
        </p:spPr>
        <p:txBody>
          <a:bodyPr/>
          <a:lstStyle/>
          <a:p>
            <a:r>
              <a:rPr lang="zh-CN" altLang="en-US" sz="2000" dirty="0">
                <a:latin typeface="Times New Roman" panose="02020603050405020304" pitchFamily="18" charset="0"/>
                <a:cs typeface="Times New Roman" panose="02020603050405020304" pitchFamily="18" charset="0"/>
              </a:rPr>
              <a:t>例</a:t>
            </a:r>
            <a:r>
              <a:rPr lang="en-US" altLang="zh-CN" sz="2000" dirty="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某公司经销甲产品。它下设三个加工厂。每日的产量分别是：</a:t>
            </a:r>
            <a:r>
              <a:rPr lang="en-US" altLang="zh-CN" sz="2000" dirty="0">
                <a:latin typeface="Times New Roman" panose="02020603050405020304" pitchFamily="18" charset="0"/>
                <a:cs typeface="Times New Roman" panose="02020603050405020304" pitchFamily="18" charset="0"/>
              </a:rPr>
              <a:t>A</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7</a:t>
            </a:r>
            <a:r>
              <a:rPr lang="zh-CN" altLang="en-US" sz="2000" dirty="0">
                <a:latin typeface="Times New Roman" panose="02020603050405020304" pitchFamily="18" charset="0"/>
                <a:cs typeface="Times New Roman" panose="02020603050405020304" pitchFamily="18" charset="0"/>
              </a:rPr>
              <a:t>吨，</a:t>
            </a:r>
            <a:r>
              <a:rPr lang="en-US" altLang="zh-CN" sz="2000" dirty="0">
                <a:latin typeface="Times New Roman" panose="02020603050405020304" pitchFamily="18" charset="0"/>
                <a:cs typeface="Times New Roman" panose="02020603050405020304" pitchFamily="18" charset="0"/>
              </a:rPr>
              <a:t>A</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吨，</a:t>
            </a:r>
            <a:r>
              <a:rPr lang="en-US" altLang="zh-CN" sz="2000" dirty="0">
                <a:latin typeface="Times New Roman" panose="02020603050405020304" pitchFamily="18" charset="0"/>
                <a:cs typeface="Times New Roman" panose="02020603050405020304" pitchFamily="18" charset="0"/>
              </a:rPr>
              <a:t>A</a:t>
            </a:r>
            <a:r>
              <a:rPr lang="en-US" altLang="zh-CN" sz="2000" baseline="-25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9</a:t>
            </a:r>
            <a:r>
              <a:rPr lang="zh-CN" altLang="en-US" sz="2000" dirty="0">
                <a:latin typeface="Times New Roman" panose="02020603050405020304" pitchFamily="18" charset="0"/>
                <a:cs typeface="Times New Roman" panose="02020603050405020304" pitchFamily="18" charset="0"/>
              </a:rPr>
              <a:t>吨。该公司把这些产品分别运往四个销售点。各销售点每日销量为：</a:t>
            </a:r>
            <a:r>
              <a:rPr lang="en-US" altLang="zh-CN" sz="2000" dirty="0">
                <a:latin typeface="Times New Roman" panose="02020603050405020304" pitchFamily="18" charset="0"/>
                <a:cs typeface="Times New Roman" panose="02020603050405020304" pitchFamily="18" charset="0"/>
              </a:rPr>
              <a:t>B</a:t>
            </a:r>
            <a:r>
              <a:rPr lang="en-US" altLang="zh-CN" sz="2000" baseline="-25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吨，</a:t>
            </a:r>
            <a:r>
              <a:rPr lang="en-US" altLang="zh-CN" sz="2000" dirty="0">
                <a:latin typeface="Times New Roman" panose="02020603050405020304" pitchFamily="18" charset="0"/>
                <a:cs typeface="Times New Roman" panose="02020603050405020304" pitchFamily="18" charset="0"/>
              </a:rPr>
              <a:t>B</a:t>
            </a:r>
            <a:r>
              <a:rPr lang="en-US" altLang="zh-CN" sz="2000" baseline="-25000" dirty="0">
                <a:latin typeface="Times New Roman" panose="02020603050405020304" pitchFamily="18" charset="0"/>
                <a:cs typeface="Times New Roman" panose="02020603050405020304" pitchFamily="18" charset="0"/>
              </a:rPr>
              <a:t>2</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吨，</a:t>
            </a:r>
            <a:r>
              <a:rPr lang="en-US" altLang="zh-CN" sz="2000" dirty="0">
                <a:latin typeface="Times New Roman" panose="02020603050405020304" pitchFamily="18" charset="0"/>
                <a:cs typeface="Times New Roman" panose="02020603050405020304" pitchFamily="18" charset="0"/>
              </a:rPr>
              <a:t>B</a:t>
            </a:r>
            <a:r>
              <a:rPr lang="en-US" altLang="zh-CN" sz="2000" baseline="-25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5</a:t>
            </a:r>
            <a:r>
              <a:rPr lang="zh-CN" altLang="en-US" sz="2000" dirty="0">
                <a:latin typeface="Times New Roman" panose="02020603050405020304" pitchFamily="18" charset="0"/>
                <a:cs typeface="Times New Roman" panose="02020603050405020304" pitchFamily="18" charset="0"/>
              </a:rPr>
              <a:t>吨，</a:t>
            </a:r>
            <a:r>
              <a:rPr lang="en-US" altLang="zh-CN" sz="2000" dirty="0">
                <a:latin typeface="Times New Roman" panose="02020603050405020304" pitchFamily="18" charset="0"/>
                <a:cs typeface="Times New Roman" panose="02020603050405020304" pitchFamily="18" charset="0"/>
              </a:rPr>
              <a:t>B</a:t>
            </a:r>
            <a:r>
              <a:rPr lang="en-US" altLang="zh-CN" sz="2000" baseline="-25000" dirty="0">
                <a:latin typeface="Times New Roman" panose="02020603050405020304" pitchFamily="18" charset="0"/>
                <a:cs typeface="Times New Roman" panose="02020603050405020304" pitchFamily="18" charset="0"/>
              </a:rPr>
              <a:t>4</a:t>
            </a:r>
            <a:r>
              <a:rPr lang="zh-CN" altLang="en-US" sz="2000" dirty="0">
                <a:latin typeface="Times New Roman" panose="02020603050405020304" pitchFamily="18" charset="0"/>
                <a:cs typeface="Times New Roman" panose="02020603050405020304" pitchFamily="18" charset="0"/>
              </a:rPr>
              <a:t>为</a:t>
            </a:r>
            <a:r>
              <a:rPr lang="en-US" altLang="zh-CN" sz="2000" dirty="0">
                <a:latin typeface="Times New Roman" panose="02020603050405020304" pitchFamily="18" charset="0"/>
                <a:cs typeface="Times New Roman" panose="02020603050405020304" pitchFamily="18" charset="0"/>
              </a:rPr>
              <a:t>6</a:t>
            </a:r>
            <a:r>
              <a:rPr lang="zh-CN" altLang="en-US" sz="2000" dirty="0">
                <a:latin typeface="Times New Roman" panose="02020603050405020304" pitchFamily="18" charset="0"/>
                <a:cs typeface="Times New Roman" panose="02020603050405020304" pitchFamily="18" charset="0"/>
              </a:rPr>
              <a:t>吨。已知从各工厂到各销售点的单位产品的运价为表</a:t>
            </a:r>
            <a:r>
              <a:rPr lang="en-US" altLang="zh-CN" sz="2000" dirty="0">
                <a:latin typeface="Times New Roman" panose="02020603050405020304" pitchFamily="18" charset="0"/>
                <a:cs typeface="Times New Roman" panose="02020603050405020304" pitchFamily="18" charset="0"/>
              </a:rPr>
              <a:t>4-4</a:t>
            </a:r>
            <a:r>
              <a:rPr lang="zh-CN" altLang="en-US" sz="2000" dirty="0">
                <a:latin typeface="Times New Roman" panose="02020603050405020304" pitchFamily="18" charset="0"/>
                <a:cs typeface="Times New Roman" panose="02020603050405020304" pitchFamily="18" charset="0"/>
              </a:rPr>
              <a:t>所示。问该公司应如何调运产品，在满足各销点的需要量的前提下，使总运费为最少。</a:t>
            </a:r>
            <a:endParaRPr lang="en-US" altLang="zh-CN" sz="2000"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zh-CN" altLang="en-US" sz="2000" dirty="0">
                <a:latin typeface="宋体" panose="02010600030101010101" pitchFamily="2" charset="-122"/>
              </a:rPr>
              <a:t>解：先作出这问题的产销平衡表和单位运价表，见表</a:t>
            </a:r>
            <a:r>
              <a:rPr lang="en-US" altLang="zh-CN" sz="2000" dirty="0">
                <a:latin typeface="宋体" panose="02010600030101010101" pitchFamily="2" charset="-122"/>
              </a:rPr>
              <a:t>4</a:t>
            </a:r>
            <a:r>
              <a:rPr lang="en-US" altLang="zh-CN" sz="2000" dirty="0"/>
              <a:t>-4</a:t>
            </a:r>
            <a:r>
              <a:rPr lang="zh-CN" altLang="en-US" sz="2000" dirty="0">
                <a:latin typeface="宋体" panose="02010600030101010101" pitchFamily="2" charset="-122"/>
              </a:rPr>
              <a:t>，表</a:t>
            </a:r>
            <a:r>
              <a:rPr lang="en-US" altLang="zh-CN" sz="2000" dirty="0">
                <a:latin typeface="宋体" panose="02010600030101010101" pitchFamily="2" charset="-122"/>
              </a:rPr>
              <a:t>4</a:t>
            </a:r>
            <a:r>
              <a:rPr lang="en-US" altLang="zh-CN" sz="2000" dirty="0"/>
              <a:t>-5</a:t>
            </a:r>
          </a:p>
          <a:p>
            <a:r>
              <a:rPr lang="zh-CN" altLang="en-US" sz="2000" dirty="0">
                <a:latin typeface="Times New Roman" panose="02020603050405020304" pitchFamily="18" charset="0"/>
                <a:cs typeface="Times New Roman" panose="02020603050405020304" pitchFamily="18" charset="0"/>
              </a:rPr>
              <a:t> </a:t>
            </a:r>
          </a:p>
        </p:txBody>
      </p:sp>
      <p:sp>
        <p:nvSpPr>
          <p:cNvPr id="6" name="灯片编号占位符 5">
            <a:extLst>
              <a:ext uri="{FF2B5EF4-FFF2-40B4-BE49-F238E27FC236}">
                <a16:creationId xmlns:a16="http://schemas.microsoft.com/office/drawing/2014/main" id="{E0DE1A63-21C1-412C-AAE2-8E7491EBB679}"/>
              </a:ext>
            </a:extLst>
          </p:cNvPr>
          <p:cNvSpPr>
            <a:spLocks noGrp="1"/>
          </p:cNvSpPr>
          <p:nvPr>
            <p:ph type="sldNum" sz="quarter" idx="10"/>
          </p:nvPr>
        </p:nvSpPr>
        <p:spPr/>
        <p:txBody>
          <a:bodyPr/>
          <a:lstStyle/>
          <a:p>
            <a:fld id="{314BA382-70B8-426C-A7A1-34753D3EE776}" type="slidenum">
              <a:rPr lang="en-US" altLang="zh-CN"/>
              <a:pPr/>
              <a:t>6</a:t>
            </a:fld>
            <a:endParaRPr lang="en-US" altLang="zh-CN"/>
          </a:p>
        </p:txBody>
      </p:sp>
      <p:graphicFrame>
        <p:nvGraphicFramePr>
          <p:cNvPr id="5" name="Object 4">
            <a:extLst>
              <a:ext uri="{FF2B5EF4-FFF2-40B4-BE49-F238E27FC236}">
                <a16:creationId xmlns:a16="http://schemas.microsoft.com/office/drawing/2014/main" id="{96609F8B-72C2-482F-844A-CA4A5BEE6F4A}"/>
              </a:ext>
            </a:extLst>
          </p:cNvPr>
          <p:cNvGraphicFramePr>
            <a:graphicFrameLocks noChangeAspect="1"/>
          </p:cNvGraphicFramePr>
          <p:nvPr>
            <p:extLst>
              <p:ext uri="{D42A27DB-BD31-4B8C-83A1-F6EECF244321}">
                <p14:modId xmlns:p14="http://schemas.microsoft.com/office/powerpoint/2010/main" val="710618553"/>
              </p:ext>
            </p:extLst>
          </p:nvPr>
        </p:nvGraphicFramePr>
        <p:xfrm>
          <a:off x="755576" y="4038690"/>
          <a:ext cx="3999877" cy="1517650"/>
        </p:xfrm>
        <a:graphic>
          <a:graphicData uri="http://schemas.openxmlformats.org/presentationml/2006/ole">
            <mc:AlternateContent xmlns:mc="http://schemas.openxmlformats.org/markup-compatibility/2006">
              <mc:Choice xmlns:v="urn:schemas-microsoft-com:vml" Requires="v">
                <p:oleObj spid="_x0000_s709780" name="Document" r:id="rId3" imgW="2688195" imgH="1171412" progId="Word.Document.8">
                  <p:embed/>
                </p:oleObj>
              </mc:Choice>
              <mc:Fallback>
                <p:oleObj name="Document" r:id="rId3" imgW="2688195" imgH="1171412" progId="Word.Document.8">
                  <p:embed/>
                  <p:pic>
                    <p:nvPicPr>
                      <p:cNvPr id="606212" name="Object 4">
                        <a:extLst>
                          <a:ext uri="{FF2B5EF4-FFF2-40B4-BE49-F238E27FC236}">
                            <a16:creationId xmlns:a16="http://schemas.microsoft.com/office/drawing/2014/main" id="{96609F8B-72C2-482F-844A-CA4A5BEE6F4A}"/>
                          </a:ext>
                        </a:extLst>
                      </p:cNvPr>
                      <p:cNvPicPr>
                        <a:picLocks noChangeAspect="1" noChangeArrowheads="1"/>
                      </p:cNvPicPr>
                      <p:nvPr/>
                    </p:nvPicPr>
                    <p:blipFill>
                      <a:blip r:embed="rId4"/>
                      <a:srcRect/>
                      <a:stretch>
                        <a:fillRect/>
                      </a:stretch>
                    </p:blipFill>
                    <p:spPr bwMode="auto">
                      <a:xfrm>
                        <a:off x="755576" y="4038690"/>
                        <a:ext cx="3999877" cy="1517650"/>
                      </a:xfrm>
                      <a:prstGeom prst="rect">
                        <a:avLst/>
                      </a:prstGeom>
                      <a:noFill/>
                      <a:ln>
                        <a:noFill/>
                      </a:ln>
                      <a:effectLst/>
                      <a:extLst/>
                    </p:spPr>
                  </p:pic>
                </p:oleObj>
              </mc:Fallback>
            </mc:AlternateContent>
          </a:graphicData>
        </a:graphic>
      </p:graphicFrame>
      <p:sp>
        <p:nvSpPr>
          <p:cNvPr id="7" name="Text Box 8">
            <a:extLst>
              <a:ext uri="{FF2B5EF4-FFF2-40B4-BE49-F238E27FC236}">
                <a16:creationId xmlns:a16="http://schemas.microsoft.com/office/drawing/2014/main" id="{BCD99F01-187A-406B-8818-54EF6F6B832A}"/>
              </a:ext>
            </a:extLst>
          </p:cNvPr>
          <p:cNvSpPr txBox="1">
            <a:spLocks noChangeArrowheads="1"/>
          </p:cNvSpPr>
          <p:nvPr/>
        </p:nvSpPr>
        <p:spPr bwMode="auto">
          <a:xfrm>
            <a:off x="5434881" y="3714402"/>
            <a:ext cx="22349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kumimoji="1" lang="zh-CN" altLang="en-US" sz="2000" b="0" dirty="0">
                <a:solidFill>
                  <a:schemeClr val="tx2"/>
                </a:solidFill>
              </a:rPr>
              <a:t>表</a:t>
            </a:r>
            <a:r>
              <a:rPr kumimoji="1" lang="en-US" altLang="zh-CN" sz="2000" b="0" dirty="0">
                <a:solidFill>
                  <a:schemeClr val="tx2"/>
                </a:solidFill>
              </a:rPr>
              <a:t>4-5  </a:t>
            </a:r>
            <a:r>
              <a:rPr kumimoji="1" lang="zh-CN" altLang="en-US" sz="2000" b="0" dirty="0">
                <a:solidFill>
                  <a:schemeClr val="tx2"/>
                </a:solidFill>
              </a:rPr>
              <a:t>产销平衡表</a:t>
            </a:r>
          </a:p>
        </p:txBody>
      </p:sp>
      <p:sp>
        <p:nvSpPr>
          <p:cNvPr id="8" name="Text Box 9">
            <a:extLst>
              <a:ext uri="{FF2B5EF4-FFF2-40B4-BE49-F238E27FC236}">
                <a16:creationId xmlns:a16="http://schemas.microsoft.com/office/drawing/2014/main" id="{7AD49140-FBBC-4D65-B97F-BD7BD19FFA8E}"/>
              </a:ext>
            </a:extLst>
          </p:cNvPr>
          <p:cNvSpPr txBox="1">
            <a:spLocks noChangeArrowheads="1"/>
          </p:cNvSpPr>
          <p:nvPr/>
        </p:nvSpPr>
        <p:spPr bwMode="auto">
          <a:xfrm>
            <a:off x="1033757" y="3703380"/>
            <a:ext cx="23759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4-4   </a:t>
            </a:r>
            <a:r>
              <a:rPr kumimoji="1" lang="zh-CN" altLang="en-US" sz="2000" b="0" dirty="0"/>
              <a:t>单位运价表 </a:t>
            </a:r>
            <a:endParaRPr lang="zh-CN" altLang="en-US" sz="2000" b="0" dirty="0"/>
          </a:p>
        </p:txBody>
      </p:sp>
      <p:graphicFrame>
        <p:nvGraphicFramePr>
          <p:cNvPr id="9" name="Object 6">
            <a:extLst>
              <a:ext uri="{FF2B5EF4-FFF2-40B4-BE49-F238E27FC236}">
                <a16:creationId xmlns:a16="http://schemas.microsoft.com/office/drawing/2014/main" id="{085D302E-4618-41DB-B5FC-C9A884C22DCB}"/>
              </a:ext>
            </a:extLst>
          </p:cNvPr>
          <p:cNvGraphicFramePr>
            <a:graphicFrameLocks noChangeAspect="1"/>
          </p:cNvGraphicFramePr>
          <p:nvPr>
            <p:extLst>
              <p:ext uri="{D42A27DB-BD31-4B8C-83A1-F6EECF244321}">
                <p14:modId xmlns:p14="http://schemas.microsoft.com/office/powerpoint/2010/main" val="852705691"/>
              </p:ext>
            </p:extLst>
          </p:nvPr>
        </p:nvGraphicFramePr>
        <p:xfrm>
          <a:off x="4571999" y="4049712"/>
          <a:ext cx="3999877" cy="1827560"/>
        </p:xfrm>
        <a:graphic>
          <a:graphicData uri="http://schemas.openxmlformats.org/presentationml/2006/ole">
            <mc:AlternateContent xmlns:mc="http://schemas.openxmlformats.org/markup-compatibility/2006">
              <mc:Choice xmlns:v="urn:schemas-microsoft-com:vml" Requires="v">
                <p:oleObj spid="_x0000_s709781" name="Document" r:id="rId5" imgW="4656269" imgH="2458163" progId="Word.Document.8">
                  <p:embed/>
                </p:oleObj>
              </mc:Choice>
              <mc:Fallback>
                <p:oleObj name="Document" r:id="rId5" imgW="4656269" imgH="2458163" progId="Word.Document.8">
                  <p:embed/>
                  <p:pic>
                    <p:nvPicPr>
                      <p:cNvPr id="606214" name="Object 6">
                        <a:extLst>
                          <a:ext uri="{FF2B5EF4-FFF2-40B4-BE49-F238E27FC236}">
                            <a16:creationId xmlns:a16="http://schemas.microsoft.com/office/drawing/2014/main" id="{085D302E-4618-41DB-B5FC-C9A884C22DCB}"/>
                          </a:ext>
                        </a:extLst>
                      </p:cNvPr>
                      <p:cNvPicPr>
                        <a:picLocks noChangeAspect="1" noChangeArrowheads="1"/>
                      </p:cNvPicPr>
                      <p:nvPr/>
                    </p:nvPicPr>
                    <p:blipFill>
                      <a:blip r:embed="rId6"/>
                      <a:srcRect/>
                      <a:stretch>
                        <a:fillRect/>
                      </a:stretch>
                    </p:blipFill>
                    <p:spPr bwMode="auto">
                      <a:xfrm>
                        <a:off x="4571999" y="4049712"/>
                        <a:ext cx="3999877" cy="1827560"/>
                      </a:xfrm>
                      <a:prstGeom prst="rect">
                        <a:avLst/>
                      </a:prstGeom>
                      <a:noFill/>
                      <a:ln>
                        <a:noFill/>
                      </a:ln>
                      <a:effectLs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a:extLst>
              <a:ext uri="{FF2B5EF4-FFF2-40B4-BE49-F238E27FC236}">
                <a16:creationId xmlns:a16="http://schemas.microsoft.com/office/drawing/2014/main" id="{AB70C5F6-1245-4A17-8996-FE98A58660A9}"/>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8" name="灯片编号占位符 5">
            <a:extLst>
              <a:ext uri="{FF2B5EF4-FFF2-40B4-BE49-F238E27FC236}">
                <a16:creationId xmlns:a16="http://schemas.microsoft.com/office/drawing/2014/main" id="{CC62296B-7785-451B-B71E-239E4E076D6A}"/>
              </a:ext>
            </a:extLst>
          </p:cNvPr>
          <p:cNvSpPr>
            <a:spLocks noGrp="1"/>
          </p:cNvSpPr>
          <p:nvPr>
            <p:ph type="sldNum" sz="quarter" idx="10"/>
          </p:nvPr>
        </p:nvSpPr>
        <p:spPr/>
        <p:txBody>
          <a:bodyPr/>
          <a:lstStyle/>
          <a:p>
            <a:fld id="{51448000-07F8-44DB-A39C-FFEB63889FD2}" type="slidenum">
              <a:rPr lang="en-US" altLang="zh-CN"/>
              <a:pPr/>
              <a:t>7</a:t>
            </a:fld>
            <a:endParaRPr lang="en-US" altLang="zh-CN"/>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342900" y="1268760"/>
                <a:ext cx="8458200" cy="4114800"/>
              </a:xfrm>
            </p:spPr>
            <p:txBody>
              <a:bodyPr/>
              <a:lstStyle/>
              <a:p>
                <a:r>
                  <a:rPr lang="zh-CN" altLang="en-US" sz="2000" dirty="0" smtClean="0">
                    <a:solidFill>
                      <a:srgbClr val="FF0000"/>
                    </a:solidFill>
                  </a:rPr>
                  <a:t>闭回路定义：</a:t>
                </a:r>
                <a:r>
                  <a:rPr lang="zh-CN" altLang="en-US" sz="2000" dirty="0" smtClean="0"/>
                  <a:t>凡是排列成下列形式的变量集合称为一个闭回路：</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smtClean="0">
                            <a:latin typeface="Cambria Math" panose="02040503050406030204" pitchFamily="18" charset="0"/>
                          </a:rPr>
                          <m:t>1</m:t>
                        </m:r>
                        <m:r>
                          <a:rPr lang="en-US" altLang="zh-CN" sz="2000" b="0" i="1">
                            <a:latin typeface="Cambria Math" panose="02040503050406030204" pitchFamily="18" charset="0"/>
                          </a:rPr>
                          <m:t>𝑗</m:t>
                        </m:r>
                        <m:r>
                          <a:rPr lang="en-US" altLang="zh-CN" sz="2000" b="0" i="1" baseline="-25000" smtClean="0">
                            <a:latin typeface="Cambria Math" panose="02040503050406030204" pitchFamily="18" charset="0"/>
                          </a:rPr>
                          <m:t>1</m:t>
                        </m:r>
                      </m:sub>
                    </m:sSub>
                    <m:r>
                      <a:rPr lang="zh-CN" altLang="en-US" sz="2000" b="0" i="1" smtClean="0">
                        <a:latin typeface="Cambria Math" panose="02040503050406030204" pitchFamily="18" charset="0"/>
                      </a:rPr>
                      <m:t>，</m:t>
                    </m:r>
                  </m:oMath>
                </a14:m>
                <a:r>
                  <a:rPr lang="zh-CN" altLang="zh-CN" sz="2000" b="0" dirty="0"/>
                  <a:t> </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a:latin typeface="Cambria Math" panose="02040503050406030204" pitchFamily="18" charset="0"/>
                          </a:rPr>
                          <m:t>1</m:t>
                        </m:r>
                        <m:r>
                          <a:rPr lang="en-US" altLang="zh-CN" sz="2000" b="0" i="1">
                            <a:latin typeface="Cambria Math" panose="02040503050406030204" pitchFamily="18" charset="0"/>
                          </a:rPr>
                          <m:t>𝑗</m:t>
                        </m:r>
                        <m:r>
                          <a:rPr lang="en-US" altLang="zh-CN" sz="2000" b="0" i="1" baseline="-25000" smtClean="0">
                            <a:latin typeface="Cambria Math" panose="02040503050406030204" pitchFamily="18" charset="0"/>
                          </a:rPr>
                          <m:t>2</m:t>
                        </m:r>
                      </m:sub>
                    </m:sSub>
                    <m:r>
                      <a:rPr lang="zh-CN" altLang="en-US" sz="2000" b="0" i="1">
                        <a:latin typeface="Cambria Math" panose="02040503050406030204" pitchFamily="18" charset="0"/>
                      </a:rPr>
                      <m:t>，</m:t>
                    </m:r>
                  </m:oMath>
                </a14:m>
                <a:r>
                  <a:rPr lang="zh-CN" altLang="zh-CN" sz="2000" b="0" dirty="0"/>
                  <a:t> </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smtClean="0">
                            <a:latin typeface="Cambria Math" panose="02040503050406030204" pitchFamily="18" charset="0"/>
                          </a:rPr>
                          <m:t>2</m:t>
                        </m:r>
                        <m:r>
                          <a:rPr lang="en-US" altLang="zh-CN" sz="2000" b="0" i="1">
                            <a:latin typeface="Cambria Math" panose="02040503050406030204" pitchFamily="18" charset="0"/>
                          </a:rPr>
                          <m:t>𝑗</m:t>
                        </m:r>
                        <m:r>
                          <a:rPr lang="en-US" altLang="zh-CN" sz="2000" b="0" i="1" baseline="-25000" smtClean="0">
                            <a:latin typeface="Cambria Math" panose="02040503050406030204" pitchFamily="18" charset="0"/>
                          </a:rPr>
                          <m:t>2</m:t>
                        </m:r>
                      </m:sub>
                    </m:sSub>
                    <m:r>
                      <a:rPr lang="zh-CN" altLang="en-US" sz="2000" b="0" i="1">
                        <a:latin typeface="Cambria Math" panose="02040503050406030204" pitchFamily="18" charset="0"/>
                      </a:rPr>
                      <m:t>，</m:t>
                    </m:r>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a:latin typeface="Cambria Math" panose="02040503050406030204" pitchFamily="18" charset="0"/>
                          </a:rPr>
                          <m:t>2</m:t>
                        </m:r>
                        <m:r>
                          <a:rPr lang="en-US" altLang="zh-CN" sz="2000" b="0" i="1">
                            <a:latin typeface="Cambria Math" panose="02040503050406030204" pitchFamily="18" charset="0"/>
                          </a:rPr>
                          <m:t>𝑗</m:t>
                        </m:r>
                        <m:r>
                          <a:rPr lang="en-US" altLang="zh-CN" sz="2000" b="0" i="1" baseline="-25000" smtClean="0">
                            <a:latin typeface="Cambria Math" panose="02040503050406030204" pitchFamily="18" charset="0"/>
                          </a:rPr>
                          <m:t>3</m:t>
                        </m:r>
                      </m:sub>
                    </m:sSub>
                  </m:oMath>
                </a14:m>
                <a:r>
                  <a:rPr lang="zh-CN" altLang="en-US" sz="2000" dirty="0" smtClean="0"/>
                  <a:t>，</a:t>
                </a:r>
                <a:r>
                  <a:rPr lang="en-US" altLang="zh-CN" sz="2000" dirty="0" smtClean="0"/>
                  <a:t>… </a:t>
                </a:r>
                <a:r>
                  <a:rPr lang="zh-CN" altLang="en-US" sz="2000" dirty="0" smtClean="0"/>
                  <a:t>，</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smtClean="0">
                            <a:latin typeface="Cambria Math" panose="02040503050406030204" pitchFamily="18" charset="0"/>
                          </a:rPr>
                          <m:t>𝑠</m:t>
                        </m:r>
                        <m:r>
                          <a:rPr lang="en-US" altLang="zh-CN" sz="2000" b="0" i="1">
                            <a:latin typeface="Cambria Math" panose="02040503050406030204" pitchFamily="18" charset="0"/>
                          </a:rPr>
                          <m:t>𝑗</m:t>
                        </m:r>
                        <m:r>
                          <a:rPr lang="en-US" altLang="zh-CN" sz="2000" b="0" i="1" baseline="-25000" smtClean="0">
                            <a:latin typeface="Cambria Math" panose="02040503050406030204" pitchFamily="18" charset="0"/>
                          </a:rPr>
                          <m:t>𝑠</m:t>
                        </m:r>
                      </m:sub>
                    </m:sSub>
                  </m:oMath>
                </a14:m>
                <a:r>
                  <a:rPr lang="en-US" altLang="zh-CN" sz="2000" dirty="0" smtClean="0"/>
                  <a:t>,</a:t>
                </a:r>
                <a:r>
                  <a:rPr lang="zh-CN" altLang="zh-CN" sz="2000" b="0" dirty="0"/>
                  <a:t> </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smtClean="0">
                            <a:latin typeface="Cambria Math" panose="02040503050406030204" pitchFamily="18" charset="0"/>
                          </a:rPr>
                          <m:t>𝑠</m:t>
                        </m:r>
                        <m:r>
                          <a:rPr lang="en-US" altLang="zh-CN" sz="2000" b="0" i="1">
                            <a:latin typeface="Cambria Math" panose="02040503050406030204" pitchFamily="18" charset="0"/>
                          </a:rPr>
                          <m:t>𝑗</m:t>
                        </m:r>
                        <m:r>
                          <a:rPr lang="en-US" altLang="zh-CN" sz="2000" b="0" i="1" baseline="-25000" smtClean="0">
                            <a:latin typeface="Cambria Math" panose="02040503050406030204" pitchFamily="18" charset="0"/>
                          </a:rPr>
                          <m:t>1</m:t>
                        </m:r>
                      </m:sub>
                    </m:sSub>
                  </m:oMath>
                </a14:m>
                <a:r>
                  <a:rPr lang="en-US" altLang="zh-CN" sz="2000" dirty="0" smtClean="0"/>
                  <a:t>,</a:t>
                </a:r>
                <a:r>
                  <a:rPr lang="zh-CN" altLang="en-US" sz="2000" dirty="0" smtClean="0"/>
                  <a:t>其中</a:t>
                </a:r>
                <a14:m>
                  <m:oMath xmlns:m="http://schemas.openxmlformats.org/officeDocument/2006/math">
                    <m:r>
                      <a:rPr lang="en-US" altLang="zh-CN" sz="2000" b="0" i="1">
                        <a:latin typeface="Cambria Math" panose="02040503050406030204" pitchFamily="18" charset="0"/>
                      </a:rPr>
                      <m:t>𝑖</m:t>
                    </m:r>
                    <m:r>
                      <a:rPr lang="en-US" altLang="zh-CN" sz="2000" b="0" i="1" baseline="-25000">
                        <a:latin typeface="Cambria Math" panose="02040503050406030204" pitchFamily="18" charset="0"/>
                      </a:rPr>
                      <m:t>1</m:t>
                    </m:r>
                  </m:oMath>
                </a14:m>
                <a:r>
                  <a:rPr lang="zh-CN" altLang="en-US" sz="2000" dirty="0" smtClean="0"/>
                  <a:t>，</a:t>
                </a:r>
                <a:r>
                  <a:rPr lang="en-US" altLang="zh-CN" sz="2000" b="0" dirty="0"/>
                  <a:t> </a:t>
                </a:r>
                <a14:m>
                  <m:oMath xmlns:m="http://schemas.openxmlformats.org/officeDocument/2006/math">
                    <m:r>
                      <a:rPr lang="en-US" altLang="zh-CN" sz="2000" b="0" i="1">
                        <a:latin typeface="Cambria Math" panose="02040503050406030204" pitchFamily="18" charset="0"/>
                      </a:rPr>
                      <m:t>𝑖</m:t>
                    </m:r>
                    <m:r>
                      <a:rPr lang="en-US" altLang="zh-CN" sz="2000" b="0" i="1" baseline="-25000">
                        <a:latin typeface="Cambria Math" panose="02040503050406030204" pitchFamily="18" charset="0"/>
                      </a:rPr>
                      <m:t>2</m:t>
                    </m:r>
                  </m:oMath>
                </a14:m>
                <a:r>
                  <a:rPr lang="zh-CN" altLang="en-US" sz="2000" dirty="0" smtClean="0"/>
                  <a:t>，</a:t>
                </a:r>
                <a:r>
                  <a:rPr lang="en-US" altLang="zh-CN" sz="2000" dirty="0"/>
                  <a:t> … </a:t>
                </a:r>
                <a:r>
                  <a:rPr lang="zh-CN" altLang="en-US" sz="2000" dirty="0"/>
                  <a:t>，</a:t>
                </a:r>
                <a14:m>
                  <m:oMath xmlns:m="http://schemas.openxmlformats.org/officeDocument/2006/math">
                    <m:r>
                      <a:rPr lang="en-US" altLang="zh-CN" sz="2000" b="0" i="1">
                        <a:latin typeface="Cambria Math" panose="02040503050406030204" pitchFamily="18" charset="0"/>
                      </a:rPr>
                      <m:t>𝑖</m:t>
                    </m:r>
                    <m:r>
                      <a:rPr lang="en-US" altLang="zh-CN" sz="2000" b="0" i="1" baseline="-25000">
                        <a:latin typeface="Cambria Math" panose="02040503050406030204" pitchFamily="18" charset="0"/>
                      </a:rPr>
                      <m:t>𝑠</m:t>
                    </m:r>
                  </m:oMath>
                </a14:m>
                <a:r>
                  <a:rPr lang="zh-CN" altLang="en-US" sz="2000" dirty="0" smtClean="0"/>
                  <a:t>互不相同，</a:t>
                </a:r>
                <a14:m>
                  <m:oMath xmlns:m="http://schemas.openxmlformats.org/officeDocument/2006/math">
                    <m:r>
                      <a:rPr lang="en-US" altLang="zh-CN" sz="2000" b="0" i="1">
                        <a:latin typeface="Cambria Math" panose="02040503050406030204" pitchFamily="18" charset="0"/>
                      </a:rPr>
                      <m:t>𝑗</m:t>
                    </m:r>
                    <m:r>
                      <a:rPr lang="en-US" altLang="zh-CN" sz="2000" b="0" i="1" baseline="-25000">
                        <a:latin typeface="Cambria Math" panose="02040503050406030204" pitchFamily="18" charset="0"/>
                      </a:rPr>
                      <m:t>1</m:t>
                    </m:r>
                  </m:oMath>
                </a14:m>
                <a:r>
                  <a:rPr lang="zh-CN" altLang="en-US" sz="2000" dirty="0"/>
                  <a:t>，</a:t>
                </a:r>
                <a:r>
                  <a:rPr lang="en-US" altLang="zh-CN" sz="2000" b="0" dirty="0"/>
                  <a:t> </a:t>
                </a:r>
                <a14:m>
                  <m:oMath xmlns:m="http://schemas.openxmlformats.org/officeDocument/2006/math">
                    <m:r>
                      <a:rPr lang="en-US" altLang="zh-CN" sz="2000" b="0" i="1" smtClean="0">
                        <a:latin typeface="Cambria Math" panose="02040503050406030204" pitchFamily="18" charset="0"/>
                      </a:rPr>
                      <m:t>𝑗</m:t>
                    </m:r>
                    <m:r>
                      <a:rPr lang="en-US" altLang="zh-CN" sz="2000" b="0" i="1" baseline="-25000">
                        <a:latin typeface="Cambria Math" panose="02040503050406030204" pitchFamily="18" charset="0"/>
                      </a:rPr>
                      <m:t>2</m:t>
                    </m:r>
                  </m:oMath>
                </a14:m>
                <a:r>
                  <a:rPr lang="zh-CN" altLang="en-US" sz="2000" dirty="0"/>
                  <a:t>，</a:t>
                </a:r>
                <a:r>
                  <a:rPr lang="en-US" altLang="zh-CN" sz="2000" dirty="0"/>
                  <a:t> … </a:t>
                </a:r>
                <a:r>
                  <a:rPr lang="zh-CN" altLang="en-US" sz="2000" dirty="0"/>
                  <a:t>，</a:t>
                </a:r>
                <a14:m>
                  <m:oMath xmlns:m="http://schemas.openxmlformats.org/officeDocument/2006/math">
                    <m:r>
                      <a:rPr lang="en-US" altLang="zh-CN" sz="2000" b="0" i="1" smtClean="0">
                        <a:latin typeface="Cambria Math" panose="02040503050406030204" pitchFamily="18" charset="0"/>
                      </a:rPr>
                      <m:t>𝑗</m:t>
                    </m:r>
                    <m:r>
                      <a:rPr lang="en-US" altLang="zh-CN" sz="2000" b="0" i="1" baseline="-25000">
                        <a:latin typeface="Cambria Math" panose="02040503050406030204" pitchFamily="18" charset="0"/>
                      </a:rPr>
                      <m:t>𝑠</m:t>
                    </m:r>
                  </m:oMath>
                </a14:m>
                <a:r>
                  <a:rPr lang="zh-CN" altLang="en-US" sz="2000" dirty="0" smtClean="0"/>
                  <a:t>互不相同。式中的变量即</a:t>
                </a:r>
                <a:r>
                  <a:rPr lang="zh-CN" altLang="en-US" sz="2000" dirty="0"/>
                  <a:t>为</a:t>
                </a:r>
                <a:r>
                  <a:rPr lang="zh-CN" altLang="en-US" sz="2000" dirty="0" smtClean="0"/>
                  <a:t>闭回路的顶点。</a:t>
                </a:r>
                <a:endParaRPr lang="en-US" altLang="zh-CN" sz="2000" dirty="0" smtClean="0"/>
              </a:p>
              <a:p>
                <a:endParaRPr lang="en-US" altLang="zh-CN" dirty="0" smtClean="0"/>
              </a:p>
              <a:p>
                <a:endParaRPr lang="en-US" altLang="zh-CN" dirty="0"/>
              </a:p>
              <a:p>
                <a:endParaRPr lang="en-US" altLang="zh-CN" dirty="0" smtClean="0"/>
              </a:p>
              <a:p>
                <a:endParaRPr lang="en-US" altLang="zh-CN" dirty="0"/>
              </a:p>
              <a:p>
                <a:r>
                  <a:rPr lang="zh-CN" altLang="en-US" sz="2000" dirty="0" smtClean="0">
                    <a:solidFill>
                      <a:srgbClr val="FF0000"/>
                    </a:solidFill>
                  </a:rPr>
                  <a:t>定理：</a:t>
                </a:r>
                <a:r>
                  <a:rPr lang="zh-CN" altLang="en-US" sz="2000" dirty="0" smtClean="0"/>
                  <a:t>运输表上符合产销平衡的</a:t>
                </a:r>
                <a:r>
                  <a:rPr lang="en-US" altLang="zh-CN" sz="2000" i="1" dirty="0">
                    <a:latin typeface="Times New Roman" panose="02020603050405020304" pitchFamily="18" charset="0"/>
                    <a:cs typeface="Times New Roman" panose="02020603050405020304" pitchFamily="18" charset="0"/>
                  </a:rPr>
                  <a:t>m+n-1</a:t>
                </a:r>
                <a:r>
                  <a:rPr lang="zh-CN" altLang="en-US" sz="2000" dirty="0" smtClean="0"/>
                  <a:t>个变量</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a:latin typeface="Cambria Math" panose="02040503050406030204" pitchFamily="18" charset="0"/>
                          </a:rPr>
                          <m:t>1</m:t>
                        </m:r>
                        <m:r>
                          <a:rPr lang="en-US" altLang="zh-CN" sz="2000" b="0" i="1">
                            <a:latin typeface="Cambria Math" panose="02040503050406030204" pitchFamily="18" charset="0"/>
                          </a:rPr>
                          <m:t>𝑗</m:t>
                        </m:r>
                        <m:r>
                          <a:rPr lang="en-US" altLang="zh-CN" sz="2000" b="0" i="1" baseline="-25000">
                            <a:latin typeface="Cambria Math" panose="02040503050406030204" pitchFamily="18" charset="0"/>
                          </a:rPr>
                          <m:t>2</m:t>
                        </m:r>
                      </m:sub>
                    </m:sSub>
                    <m:r>
                      <a:rPr lang="zh-CN" altLang="en-US" sz="2000" b="0" i="1">
                        <a:latin typeface="Cambria Math" panose="02040503050406030204" pitchFamily="18" charset="0"/>
                      </a:rPr>
                      <m:t>，</m:t>
                    </m:r>
                  </m:oMath>
                </a14:m>
                <a:r>
                  <a:rPr lang="zh-CN" altLang="zh-CN" sz="2000" b="0" dirty="0"/>
                  <a:t> </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a:latin typeface="Cambria Math" panose="02040503050406030204" pitchFamily="18" charset="0"/>
                          </a:rPr>
                          <m:t>2</m:t>
                        </m:r>
                        <m:r>
                          <a:rPr lang="en-US" altLang="zh-CN" sz="2000" b="0" i="1">
                            <a:latin typeface="Cambria Math" panose="02040503050406030204" pitchFamily="18" charset="0"/>
                          </a:rPr>
                          <m:t>𝑗</m:t>
                        </m:r>
                        <m:r>
                          <a:rPr lang="en-US" altLang="zh-CN" sz="2000" b="0" i="1" baseline="-25000">
                            <a:latin typeface="Cambria Math" panose="02040503050406030204" pitchFamily="18" charset="0"/>
                          </a:rPr>
                          <m:t>2</m:t>
                        </m:r>
                      </m:sub>
                    </m:sSub>
                    <m:r>
                      <a:rPr lang="zh-CN" altLang="en-US" sz="2000" b="0" i="1">
                        <a:latin typeface="Cambria Math" panose="02040503050406030204" pitchFamily="18" charset="0"/>
                      </a:rPr>
                      <m:t>，</m:t>
                    </m:r>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a:latin typeface="Cambria Math" panose="02040503050406030204" pitchFamily="18" charset="0"/>
                          </a:rPr>
                          <m:t>2</m:t>
                        </m:r>
                        <m:r>
                          <a:rPr lang="en-US" altLang="zh-CN" sz="2000" b="0" i="1">
                            <a:latin typeface="Cambria Math" panose="02040503050406030204" pitchFamily="18" charset="0"/>
                          </a:rPr>
                          <m:t>𝑗</m:t>
                        </m:r>
                        <m:r>
                          <a:rPr lang="en-US" altLang="zh-CN" sz="2000" b="0" i="1" baseline="-25000">
                            <a:latin typeface="Cambria Math" panose="02040503050406030204" pitchFamily="18" charset="0"/>
                          </a:rPr>
                          <m:t>3</m:t>
                        </m:r>
                      </m:sub>
                    </m:sSub>
                  </m:oMath>
                </a14:m>
                <a:r>
                  <a:rPr lang="zh-CN" altLang="en-US" sz="2000" dirty="0"/>
                  <a:t>，</a:t>
                </a:r>
                <a:r>
                  <a:rPr lang="en-US" altLang="zh-CN" sz="2000" dirty="0"/>
                  <a:t>… </a:t>
                </a:r>
                <a:r>
                  <a:rPr lang="zh-CN" altLang="en-US" sz="2000" dirty="0"/>
                  <a:t>，</a:t>
                </a:r>
                <a14:m>
                  <m:oMath xmlns:m="http://schemas.openxmlformats.org/officeDocument/2006/math">
                    <m:sSub>
                      <m:sSubPr>
                        <m:ctrlPr>
                          <a:rPr lang="zh-CN" altLang="zh-CN" sz="2000" b="0" i="1">
                            <a:latin typeface="Cambria Math" panose="02040503050406030204" pitchFamily="18" charset="0"/>
                          </a:rPr>
                        </m:ctrlPr>
                      </m:sSubPr>
                      <m:e>
                        <m:r>
                          <a:rPr lang="en-US" altLang="zh-CN" sz="2000" b="0" i="1">
                            <a:latin typeface="Cambria Math" panose="02040503050406030204" pitchFamily="18" charset="0"/>
                          </a:rPr>
                          <m:t>𝑥</m:t>
                        </m:r>
                      </m:e>
                      <m:sub>
                        <m:r>
                          <a:rPr lang="en-US" altLang="zh-CN" sz="2000" b="0" i="1">
                            <a:latin typeface="Cambria Math" panose="02040503050406030204" pitchFamily="18" charset="0"/>
                          </a:rPr>
                          <m:t>𝑖</m:t>
                        </m:r>
                        <m:r>
                          <a:rPr lang="en-US" altLang="zh-CN" sz="2000" b="0" i="1" baseline="-25000">
                            <a:latin typeface="Cambria Math" panose="02040503050406030204" pitchFamily="18" charset="0"/>
                          </a:rPr>
                          <m:t>𝑠</m:t>
                        </m:r>
                        <m:r>
                          <a:rPr lang="en-US" altLang="zh-CN" sz="2000" b="0" i="1">
                            <a:latin typeface="Cambria Math" panose="02040503050406030204" pitchFamily="18" charset="0"/>
                          </a:rPr>
                          <m:t>𝑗</m:t>
                        </m:r>
                        <m:r>
                          <a:rPr lang="en-US" altLang="zh-CN" sz="2000" b="0" i="1" baseline="-25000">
                            <a:latin typeface="Cambria Math" panose="02040503050406030204" pitchFamily="18" charset="0"/>
                          </a:rPr>
                          <m:t>𝑠</m:t>
                        </m:r>
                      </m:sub>
                    </m:sSub>
                  </m:oMath>
                </a14:m>
                <a:r>
                  <a:rPr lang="zh-CN" altLang="en-US" sz="2000" dirty="0" smtClean="0"/>
                  <a:t>构成基本可行解的充要条件式它不包含闭回路。</a:t>
                </a:r>
                <a:endParaRPr lang="en-US" altLang="zh-CN" sz="2000" dirty="0" smtClean="0"/>
              </a:p>
              <a:p>
                <a:endParaRPr lang="en-US" altLang="zh-CN" dirty="0"/>
              </a:p>
              <a:p>
                <a:r>
                  <a:rPr lang="zh-CN" altLang="en-US" sz="2000" dirty="0" smtClean="0"/>
                  <a:t>确定</a:t>
                </a:r>
                <a:r>
                  <a:rPr lang="zh-CN" altLang="en-US" sz="2000" dirty="0"/>
                  <a:t>初始基可行解的方法很多，有</a:t>
                </a:r>
                <a:r>
                  <a:rPr lang="zh-CN" altLang="en-US" sz="2000" dirty="0">
                    <a:solidFill>
                      <a:srgbClr val="FF0000"/>
                    </a:solidFill>
                  </a:rPr>
                  <a:t>西北角法</a:t>
                </a:r>
                <a:r>
                  <a:rPr lang="zh-CN" altLang="en-US" sz="2000" dirty="0"/>
                  <a:t>，</a:t>
                </a:r>
                <a:r>
                  <a:rPr lang="zh-CN" altLang="en-US" sz="2000" dirty="0">
                    <a:solidFill>
                      <a:srgbClr val="FF0000"/>
                    </a:solidFill>
                  </a:rPr>
                  <a:t>最小元素法</a:t>
                </a:r>
                <a:r>
                  <a:rPr lang="zh-CN" altLang="en-US" sz="2000" dirty="0"/>
                  <a:t>和</a:t>
                </a:r>
                <a:r>
                  <a:rPr lang="zh-CN" altLang="en-US" sz="2000" dirty="0">
                    <a:solidFill>
                      <a:srgbClr val="FF0000"/>
                    </a:solidFill>
                  </a:rPr>
                  <a:t>伏格尔</a:t>
                </a:r>
                <a:r>
                  <a:rPr lang="en-US" altLang="zh-CN" sz="2000" dirty="0">
                    <a:solidFill>
                      <a:srgbClr val="FF0000"/>
                    </a:solidFill>
                  </a:rPr>
                  <a:t>(Vogel)</a:t>
                </a:r>
                <a:r>
                  <a:rPr lang="zh-CN" altLang="en-US" sz="2000" dirty="0">
                    <a:solidFill>
                      <a:srgbClr val="FF0000"/>
                    </a:solidFill>
                  </a:rPr>
                  <a:t>法</a:t>
                </a:r>
                <a:r>
                  <a:rPr lang="zh-CN" altLang="en-US" sz="2000" dirty="0"/>
                  <a:t>。一般希望的方法是既简便，又尽可能接近最优解</a:t>
                </a:r>
                <a:r>
                  <a:rPr lang="zh-CN" altLang="en-US" sz="2000" dirty="0" smtClean="0"/>
                  <a:t>。</a:t>
                </a:r>
                <a:endParaRPr kumimoji="1" lang="zh-CN" altLang="en-US" dirty="0">
                  <a:latin typeface="+mn-ea"/>
                </a:endParaRPr>
              </a:p>
              <a:p>
                <a:endParaRPr lang="zh-CN" altLang="en-US" dirty="0"/>
              </a:p>
              <a:p>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342900" y="1268760"/>
                <a:ext cx="8458200" cy="4114800"/>
              </a:xfrm>
              <a:blipFill>
                <a:blip r:embed="rId2"/>
                <a:stretch>
                  <a:fillRect l="-576" t="-1185" b="-15704"/>
                </a:stretch>
              </a:blipFill>
            </p:spPr>
            <p:txBody>
              <a:bodyPr/>
              <a:lstStyle/>
              <a:p>
                <a:r>
                  <a:rPr lang="zh-CN" altLang="en-US">
                    <a:noFill/>
                  </a:rPr>
                  <a:t> </a:t>
                </a:r>
              </a:p>
            </p:txBody>
          </p:sp>
        </mc:Fallback>
      </mc:AlternateContent>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656" y="2396648"/>
            <a:ext cx="5020798" cy="146439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kumimoji="1" lang="zh-CN" altLang="en-US" sz="2000" dirty="0">
                <a:latin typeface="+mn-ea"/>
                <a:ea typeface="+mn-ea"/>
              </a:rPr>
              <a:t>伏格尔法考虑到，一产地的产品假如不能按最小运费就近供应，就考虑次小运费，这就有一个差额。差额越大，说明不能按最小运费调运时，运费增加越多。</a:t>
            </a:r>
            <a:r>
              <a:rPr kumimoji="1" lang="zh-CN" altLang="en-US" sz="2000" dirty="0">
                <a:solidFill>
                  <a:srgbClr val="FF0000"/>
                </a:solidFill>
                <a:latin typeface="+mn-ea"/>
                <a:ea typeface="+mn-ea"/>
              </a:rPr>
              <a:t>因而对差额最大处，就应当采用最小运费调运</a:t>
            </a:r>
            <a:r>
              <a:rPr kumimoji="1" lang="zh-CN" altLang="en-US" sz="2000" dirty="0">
                <a:latin typeface="+mn-ea"/>
                <a:ea typeface="+mn-ea"/>
              </a:rPr>
              <a:t>。</a:t>
            </a:r>
            <a:endParaRPr kumimoji="1" lang="en-US" altLang="zh-CN" sz="2000" dirty="0">
              <a:latin typeface="+mn-ea"/>
              <a:ea typeface="+mn-ea"/>
            </a:endParaRPr>
          </a:p>
          <a:p>
            <a:pPr lvl="1"/>
            <a:r>
              <a:rPr kumimoji="1" lang="zh-CN" altLang="en-US" sz="2000" dirty="0">
                <a:latin typeface="+mn-ea"/>
                <a:ea typeface="+mn-ea"/>
              </a:rPr>
              <a:t>第一步：在表</a:t>
            </a:r>
            <a:r>
              <a:rPr kumimoji="1" lang="en-US" altLang="zh-CN" sz="2000" dirty="0">
                <a:latin typeface="+mn-ea"/>
                <a:ea typeface="+mn-ea"/>
              </a:rPr>
              <a:t>4-4</a:t>
            </a:r>
            <a:r>
              <a:rPr kumimoji="1" lang="zh-CN" altLang="en-US" sz="2000" dirty="0">
                <a:latin typeface="+mn-ea"/>
                <a:ea typeface="+mn-ea"/>
              </a:rPr>
              <a:t>中分别计算出各行和各列的最小运费和次最小运费的差额，并填入该表的最右列和最下行，见表</a:t>
            </a:r>
            <a:r>
              <a:rPr kumimoji="1" lang="en-US" altLang="zh-CN" sz="2000" dirty="0">
                <a:latin typeface="+mn-ea"/>
                <a:ea typeface="+mn-ea"/>
              </a:rPr>
              <a:t>4-11</a:t>
            </a:r>
            <a:r>
              <a:rPr kumimoji="1" lang="zh-CN" altLang="en-US" sz="2000" dirty="0">
                <a:latin typeface="+mn-ea"/>
                <a:ea typeface="+mn-ea"/>
              </a:rPr>
              <a:t>。</a:t>
            </a:r>
          </a:p>
          <a:p>
            <a:pPr lvl="1"/>
            <a:endParaRPr kumimoji="1"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8</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2978742851"/>
              </p:ext>
            </p:extLst>
          </p:nvPr>
        </p:nvGraphicFramePr>
        <p:xfrm>
          <a:off x="4870077" y="3462262"/>
          <a:ext cx="4197721" cy="1852961"/>
        </p:xfrm>
        <a:graphic>
          <a:graphicData uri="http://schemas.openxmlformats.org/presentationml/2006/ole">
            <mc:AlternateContent xmlns:mc="http://schemas.openxmlformats.org/markup-compatibility/2006">
              <mc:Choice xmlns:v="urn:schemas-microsoft-com:vml" Requires="v">
                <p:oleObj spid="_x0000_s716933" name="Document" r:id="rId3" imgW="3487602" imgH="1429844" progId="Word.Document.8">
                  <p:embed/>
                </p:oleObj>
              </mc:Choice>
              <mc:Fallback>
                <p:oleObj name="Document" r:id="rId3" imgW="3487602" imgH="1429844" progId="Word.Document.8">
                  <p:embed/>
                  <p:pic>
                    <p:nvPicPr>
                      <p:cNvPr id="626692" name="Object 4">
                        <a:extLst>
                          <a:ext uri="{FF2B5EF4-FFF2-40B4-BE49-F238E27FC236}">
                            <a16:creationId xmlns:a16="http://schemas.microsoft.com/office/drawing/2014/main" id="{ED9F4CB1-9FEF-4E14-8CF3-16AB85489367}"/>
                          </a:ext>
                        </a:extLst>
                      </p:cNvPr>
                      <p:cNvPicPr>
                        <a:picLocks noChangeAspect="1" noChangeArrowheads="1"/>
                      </p:cNvPicPr>
                      <p:nvPr/>
                    </p:nvPicPr>
                    <p:blipFill>
                      <a:blip r:embed="rId4"/>
                      <a:srcRect/>
                      <a:stretch>
                        <a:fillRect/>
                      </a:stretch>
                    </p:blipFill>
                    <p:spPr bwMode="auto">
                      <a:xfrm>
                        <a:off x="4870077" y="3462262"/>
                        <a:ext cx="4197721" cy="1852961"/>
                      </a:xfrm>
                      <a:prstGeom prst="rect">
                        <a:avLst/>
                      </a:prstGeom>
                      <a:noFill/>
                      <a:ln>
                        <a:noFill/>
                      </a:ln>
                      <a:effectLst/>
                      <a:extLst/>
                    </p:spPr>
                  </p:pic>
                </p:oleObj>
              </mc:Fallback>
            </mc:AlternateContent>
          </a:graphicData>
        </a:graphic>
      </p:graphicFrame>
      <p:graphicFrame>
        <p:nvGraphicFramePr>
          <p:cNvPr id="6" name="Object 4">
            <a:extLst>
              <a:ext uri="{FF2B5EF4-FFF2-40B4-BE49-F238E27FC236}">
                <a16:creationId xmlns:a16="http://schemas.microsoft.com/office/drawing/2014/main" id="{A12C89C5-7412-4EDF-9E69-3AB89AADDB83}"/>
              </a:ext>
            </a:extLst>
          </p:cNvPr>
          <p:cNvGraphicFramePr>
            <a:graphicFrameLocks noChangeAspect="1"/>
          </p:cNvGraphicFramePr>
          <p:nvPr>
            <p:extLst>
              <p:ext uri="{D42A27DB-BD31-4B8C-83A1-F6EECF244321}">
                <p14:modId xmlns:p14="http://schemas.microsoft.com/office/powerpoint/2010/main" val="1306491452"/>
              </p:ext>
            </p:extLst>
          </p:nvPr>
        </p:nvGraphicFramePr>
        <p:xfrm>
          <a:off x="968371" y="3462263"/>
          <a:ext cx="3999877" cy="1517650"/>
        </p:xfrm>
        <a:graphic>
          <a:graphicData uri="http://schemas.openxmlformats.org/presentationml/2006/ole">
            <mc:AlternateContent xmlns:mc="http://schemas.openxmlformats.org/markup-compatibility/2006">
              <mc:Choice xmlns:v="urn:schemas-microsoft-com:vml" Requires="v">
                <p:oleObj spid="_x0000_s716934" name="Document" r:id="rId5" imgW="2688195" imgH="1171412" progId="Word.Document.8">
                  <p:embed/>
                </p:oleObj>
              </mc:Choice>
              <mc:Fallback>
                <p:oleObj name="Document" r:id="rId5" imgW="2688195" imgH="1171412" progId="Word.Document.8">
                  <p:embed/>
                  <p:pic>
                    <p:nvPicPr>
                      <p:cNvPr id="8" name="Object 4">
                        <a:extLst>
                          <a:ext uri="{FF2B5EF4-FFF2-40B4-BE49-F238E27FC236}">
                            <a16:creationId xmlns:a16="http://schemas.microsoft.com/office/drawing/2014/main" id="{7B98A168-02EC-4AE0-895B-894EAB2E9379}"/>
                          </a:ext>
                        </a:extLst>
                      </p:cNvPr>
                      <p:cNvPicPr>
                        <a:picLocks noChangeAspect="1" noChangeArrowheads="1"/>
                      </p:cNvPicPr>
                      <p:nvPr/>
                    </p:nvPicPr>
                    <p:blipFill>
                      <a:blip r:embed="rId6"/>
                      <a:srcRect/>
                      <a:stretch>
                        <a:fillRect/>
                      </a:stretch>
                    </p:blipFill>
                    <p:spPr bwMode="auto">
                      <a:xfrm>
                        <a:off x="968371" y="3462263"/>
                        <a:ext cx="3999877" cy="1517650"/>
                      </a:xfrm>
                      <a:prstGeom prst="rect">
                        <a:avLst/>
                      </a:prstGeom>
                      <a:noFill/>
                      <a:ln>
                        <a:noFill/>
                      </a:ln>
                      <a:effectLst/>
                      <a:extLst/>
                    </p:spPr>
                  </p:pic>
                </p:oleObj>
              </mc:Fallback>
            </mc:AlternateContent>
          </a:graphicData>
        </a:graphic>
      </p:graphicFrame>
      <p:sp>
        <p:nvSpPr>
          <p:cNvPr id="8" name="Text Box 9">
            <a:extLst>
              <a:ext uri="{FF2B5EF4-FFF2-40B4-BE49-F238E27FC236}">
                <a16:creationId xmlns:a16="http://schemas.microsoft.com/office/drawing/2014/main" id="{42133C52-6512-4FDD-8786-AC647C17D75D}"/>
              </a:ext>
            </a:extLst>
          </p:cNvPr>
          <p:cNvSpPr txBox="1">
            <a:spLocks noChangeArrowheads="1"/>
          </p:cNvSpPr>
          <p:nvPr/>
        </p:nvSpPr>
        <p:spPr bwMode="auto">
          <a:xfrm>
            <a:off x="1547957" y="3126953"/>
            <a:ext cx="23759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4-4   </a:t>
            </a:r>
            <a:r>
              <a:rPr kumimoji="1" lang="zh-CN" altLang="en-US" sz="2000" b="0" dirty="0"/>
              <a:t>单位运价表 </a:t>
            </a:r>
            <a:endParaRPr lang="zh-CN" altLang="en-US" sz="2000" b="0" dirty="0"/>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6157216" y="3140968"/>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spTree>
    <p:extLst>
      <p:ext uri="{BB962C8B-B14F-4D97-AF65-F5344CB8AC3E}">
        <p14:creationId xmlns:p14="http://schemas.microsoft.com/office/powerpoint/2010/main" val="38448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lang="zh-CN" altLang="en-US" sz="2000" dirty="0">
                <a:latin typeface="+mn-ea"/>
                <a:ea typeface="+mn-ea"/>
              </a:rPr>
              <a:t>第二步：从行或列差额中选出最大者，选择它所在行或列中的最小元素。在表</a:t>
            </a:r>
            <a:r>
              <a:rPr lang="en-US" altLang="zh-CN" sz="2000" dirty="0">
                <a:latin typeface="+mn-ea"/>
                <a:ea typeface="+mn-ea"/>
              </a:rPr>
              <a:t>4-11</a:t>
            </a:r>
            <a:r>
              <a:rPr lang="zh-CN" altLang="en-US" sz="2000" dirty="0">
                <a:latin typeface="+mn-ea"/>
                <a:ea typeface="+mn-ea"/>
              </a:rPr>
              <a:t>中</a:t>
            </a:r>
            <a:r>
              <a:rPr lang="en-US" altLang="zh-CN" sz="2000" dirty="0">
                <a:latin typeface="+mn-ea"/>
                <a:ea typeface="+mn-ea"/>
              </a:rPr>
              <a:t>B</a:t>
            </a:r>
            <a:r>
              <a:rPr lang="en-US" altLang="zh-CN" sz="2000" baseline="-30000" dirty="0">
                <a:latin typeface="+mn-ea"/>
                <a:ea typeface="+mn-ea"/>
              </a:rPr>
              <a:t>2</a:t>
            </a:r>
            <a:r>
              <a:rPr lang="zh-CN" altLang="en-US" sz="2000" dirty="0">
                <a:latin typeface="+mn-ea"/>
                <a:ea typeface="+mn-ea"/>
              </a:rPr>
              <a:t>列是最大差额所在列。</a:t>
            </a:r>
            <a:r>
              <a:rPr lang="en-US" altLang="zh-CN" sz="2000" dirty="0">
                <a:latin typeface="+mn-ea"/>
                <a:ea typeface="+mn-ea"/>
              </a:rPr>
              <a:t>B</a:t>
            </a:r>
            <a:r>
              <a:rPr lang="en-US" altLang="zh-CN" sz="2000" baseline="-30000" dirty="0">
                <a:latin typeface="+mn-ea"/>
                <a:ea typeface="+mn-ea"/>
              </a:rPr>
              <a:t>2</a:t>
            </a:r>
            <a:r>
              <a:rPr lang="zh-CN" altLang="en-US" sz="2000" dirty="0">
                <a:latin typeface="+mn-ea"/>
                <a:ea typeface="+mn-ea"/>
              </a:rPr>
              <a:t>列中最小元素为</a:t>
            </a:r>
            <a:r>
              <a:rPr lang="en-US" altLang="zh-CN" sz="2000" dirty="0">
                <a:latin typeface="+mn-ea"/>
                <a:ea typeface="+mn-ea"/>
              </a:rPr>
              <a:t>4</a:t>
            </a:r>
            <a:r>
              <a:rPr lang="zh-CN" altLang="en-US" sz="2000" dirty="0">
                <a:latin typeface="+mn-ea"/>
                <a:ea typeface="+mn-ea"/>
              </a:rPr>
              <a:t>，可确定</a:t>
            </a:r>
            <a:r>
              <a:rPr lang="en-US" altLang="zh-CN" sz="2000" dirty="0">
                <a:latin typeface="+mn-ea"/>
                <a:ea typeface="+mn-ea"/>
              </a:rPr>
              <a:t>A</a:t>
            </a:r>
            <a:r>
              <a:rPr lang="en-US" altLang="zh-CN" sz="2000" baseline="-30000" dirty="0">
                <a:latin typeface="+mn-ea"/>
                <a:ea typeface="+mn-ea"/>
              </a:rPr>
              <a:t>3</a:t>
            </a:r>
            <a:r>
              <a:rPr lang="zh-CN" altLang="en-US" sz="2000" dirty="0">
                <a:latin typeface="+mn-ea"/>
                <a:ea typeface="+mn-ea"/>
              </a:rPr>
              <a:t>的产品先供应</a:t>
            </a:r>
            <a:r>
              <a:rPr lang="en-US" altLang="zh-CN" sz="2000" dirty="0">
                <a:latin typeface="+mn-ea"/>
                <a:ea typeface="+mn-ea"/>
              </a:rPr>
              <a:t>B</a:t>
            </a:r>
            <a:r>
              <a:rPr lang="en-US" altLang="zh-CN" sz="2000" baseline="-30000" dirty="0">
                <a:latin typeface="+mn-ea"/>
                <a:ea typeface="+mn-ea"/>
              </a:rPr>
              <a:t>2</a:t>
            </a:r>
            <a:r>
              <a:rPr lang="zh-CN" altLang="en-US" sz="2000" dirty="0">
                <a:latin typeface="+mn-ea"/>
                <a:ea typeface="+mn-ea"/>
              </a:rPr>
              <a:t>的需要。得表</a:t>
            </a:r>
            <a:r>
              <a:rPr lang="en-US" altLang="zh-CN" sz="2000" dirty="0">
                <a:latin typeface="+mn-ea"/>
                <a:ea typeface="+mn-ea"/>
              </a:rPr>
              <a:t>4-12</a:t>
            </a:r>
            <a:r>
              <a:rPr lang="zh-CN" altLang="en-US" sz="2000" dirty="0">
                <a:latin typeface="+mn-ea"/>
                <a:ea typeface="+mn-ea"/>
              </a:rPr>
              <a:t>。同时将运价表中的</a:t>
            </a:r>
            <a:r>
              <a:rPr lang="en-US" altLang="zh-CN" sz="2000" dirty="0">
                <a:latin typeface="+mn-ea"/>
                <a:ea typeface="+mn-ea"/>
              </a:rPr>
              <a:t>B</a:t>
            </a:r>
            <a:r>
              <a:rPr lang="en-US" altLang="zh-CN" sz="2000" baseline="-30000" dirty="0">
                <a:latin typeface="+mn-ea"/>
                <a:ea typeface="+mn-ea"/>
              </a:rPr>
              <a:t>2</a:t>
            </a:r>
            <a:r>
              <a:rPr lang="zh-CN" altLang="en-US" sz="2000" dirty="0">
                <a:latin typeface="+mn-ea"/>
                <a:ea typeface="+mn-ea"/>
              </a:rPr>
              <a:t>列数字划去。如表</a:t>
            </a:r>
            <a:r>
              <a:rPr lang="en-US" altLang="zh-CN" sz="2000" dirty="0">
                <a:latin typeface="+mn-ea"/>
                <a:ea typeface="+mn-ea"/>
              </a:rPr>
              <a:t>4-13</a:t>
            </a:r>
            <a:r>
              <a:rPr lang="zh-CN" altLang="en-US" sz="2000" dirty="0">
                <a:latin typeface="+mn-ea"/>
                <a:ea typeface="+mn-ea"/>
              </a:rPr>
              <a:t>所示。</a:t>
            </a:r>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9</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2920851803"/>
              </p:ext>
            </p:extLst>
          </p:nvPr>
        </p:nvGraphicFramePr>
        <p:xfrm>
          <a:off x="827584" y="2924944"/>
          <a:ext cx="4197721" cy="1852961"/>
        </p:xfrm>
        <a:graphic>
          <a:graphicData uri="http://schemas.openxmlformats.org/presentationml/2006/ole">
            <mc:AlternateContent xmlns:mc="http://schemas.openxmlformats.org/markup-compatibility/2006">
              <mc:Choice xmlns:v="urn:schemas-microsoft-com:vml" Requires="v">
                <p:oleObj spid="_x0000_s718021" name="Document" r:id="rId3" imgW="3487602" imgH="1432006" progId="Word.Document.8">
                  <p:embed/>
                </p:oleObj>
              </mc:Choice>
              <mc:Fallback>
                <p:oleObj name="Document" r:id="rId3" imgW="3487602" imgH="1432006" progId="Word.Document.8">
                  <p:embed/>
                  <p:pic>
                    <p:nvPicPr>
                      <p:cNvPr id="5" name="Object 4">
                        <a:extLst>
                          <a:ext uri="{FF2B5EF4-FFF2-40B4-BE49-F238E27FC236}">
                            <a16:creationId xmlns:a16="http://schemas.microsoft.com/office/drawing/2014/main" id="{C240E138-A3B1-42A2-B470-28DFCDB1E0F6}"/>
                          </a:ext>
                        </a:extLst>
                      </p:cNvPr>
                      <p:cNvPicPr>
                        <a:picLocks noChangeAspect="1" noChangeArrowheads="1"/>
                      </p:cNvPicPr>
                      <p:nvPr/>
                    </p:nvPicPr>
                    <p:blipFill>
                      <a:blip r:embed="rId4"/>
                      <a:srcRect/>
                      <a:stretch>
                        <a:fillRect/>
                      </a:stretch>
                    </p:blipFill>
                    <p:spPr bwMode="auto">
                      <a:xfrm>
                        <a:off x="827584" y="2924944"/>
                        <a:ext cx="4197721" cy="1852961"/>
                      </a:xfrm>
                      <a:prstGeom prst="rect">
                        <a:avLst/>
                      </a:prstGeom>
                      <a:noFill/>
                      <a:ln>
                        <a:noFill/>
                      </a:ln>
                      <a:effectLst/>
                      <a:extLst/>
                    </p:spPr>
                  </p:pic>
                </p:oleObj>
              </mc:Fallback>
            </mc:AlternateContent>
          </a:graphicData>
        </a:graphic>
      </p:graphicFrame>
      <p:sp>
        <p:nvSpPr>
          <p:cNvPr id="9" name="矩形: 圆角 8">
            <a:extLst>
              <a:ext uri="{FF2B5EF4-FFF2-40B4-BE49-F238E27FC236}">
                <a16:creationId xmlns:a16="http://schemas.microsoft.com/office/drawing/2014/main" id="{20149716-1C9B-4893-90AB-ECE6435C7E90}"/>
              </a:ext>
            </a:extLst>
          </p:cNvPr>
          <p:cNvSpPr/>
          <p:nvPr/>
        </p:nvSpPr>
        <p:spPr bwMode="auto">
          <a:xfrm>
            <a:off x="2545731" y="4259834"/>
            <a:ext cx="216024"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2186731" y="2603650"/>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graphicFrame>
        <p:nvGraphicFramePr>
          <p:cNvPr id="11" name="Object 6">
            <a:extLst>
              <a:ext uri="{FF2B5EF4-FFF2-40B4-BE49-F238E27FC236}">
                <a16:creationId xmlns:a16="http://schemas.microsoft.com/office/drawing/2014/main" id="{6DFED7DF-8E12-4DF4-9FFC-259D7F57FEDD}"/>
              </a:ext>
            </a:extLst>
          </p:cNvPr>
          <p:cNvGraphicFramePr>
            <a:graphicFrameLocks noChangeAspect="1"/>
          </p:cNvGraphicFramePr>
          <p:nvPr>
            <p:extLst>
              <p:ext uri="{D42A27DB-BD31-4B8C-83A1-F6EECF244321}">
                <p14:modId xmlns:p14="http://schemas.microsoft.com/office/powerpoint/2010/main" val="3930160004"/>
              </p:ext>
            </p:extLst>
          </p:nvPr>
        </p:nvGraphicFramePr>
        <p:xfrm>
          <a:off x="4665541" y="2924944"/>
          <a:ext cx="4215226" cy="1852961"/>
        </p:xfrm>
        <a:graphic>
          <a:graphicData uri="http://schemas.openxmlformats.org/presentationml/2006/ole">
            <mc:AlternateContent xmlns:mc="http://schemas.openxmlformats.org/markup-compatibility/2006">
              <mc:Choice xmlns:v="urn:schemas-microsoft-com:vml" Requires="v">
                <p:oleObj spid="_x0000_s718022" name="Document" r:id="rId5" imgW="3253880" imgH="1429844" progId="Word.Document.8">
                  <p:embed/>
                </p:oleObj>
              </mc:Choice>
              <mc:Fallback>
                <p:oleObj name="Document" r:id="rId5" imgW="3253880" imgH="1429844" progId="Word.Document.8">
                  <p:embed/>
                  <p:pic>
                    <p:nvPicPr>
                      <p:cNvPr id="628742" name="Object 6">
                        <a:extLst>
                          <a:ext uri="{FF2B5EF4-FFF2-40B4-BE49-F238E27FC236}">
                            <a16:creationId xmlns:a16="http://schemas.microsoft.com/office/drawing/2014/main" id="{766E5A52-1923-45C9-87CE-476030E1BDAD}"/>
                          </a:ext>
                        </a:extLst>
                      </p:cNvPr>
                      <p:cNvPicPr>
                        <a:picLocks noChangeAspect="1" noChangeArrowheads="1"/>
                      </p:cNvPicPr>
                      <p:nvPr/>
                    </p:nvPicPr>
                    <p:blipFill>
                      <a:blip r:embed="rId6"/>
                      <a:srcRect/>
                      <a:stretch>
                        <a:fillRect/>
                      </a:stretch>
                    </p:blipFill>
                    <p:spPr bwMode="auto">
                      <a:xfrm>
                        <a:off x="4665541" y="2924944"/>
                        <a:ext cx="4215226" cy="1852961"/>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5725168" y="25968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4-12</a:t>
            </a:r>
            <a:endParaRPr lang="zh-CN" altLang="en-US" sz="2000" b="0" dirty="0"/>
          </a:p>
        </p:txBody>
      </p:sp>
      <p:graphicFrame>
        <p:nvGraphicFramePr>
          <p:cNvPr id="13" name="Object 6">
            <a:extLst>
              <a:ext uri="{FF2B5EF4-FFF2-40B4-BE49-F238E27FC236}">
                <a16:creationId xmlns:a16="http://schemas.microsoft.com/office/drawing/2014/main" id="{44E7C315-C25B-4C53-8350-76655C814622}"/>
              </a:ext>
            </a:extLst>
          </p:cNvPr>
          <p:cNvGraphicFramePr>
            <a:graphicFrameLocks noChangeAspect="1"/>
          </p:cNvGraphicFramePr>
          <p:nvPr>
            <p:extLst>
              <p:ext uri="{D42A27DB-BD31-4B8C-83A1-F6EECF244321}">
                <p14:modId xmlns:p14="http://schemas.microsoft.com/office/powerpoint/2010/main" val="1943271086"/>
              </p:ext>
            </p:extLst>
          </p:nvPr>
        </p:nvGraphicFramePr>
        <p:xfrm>
          <a:off x="852488" y="4922838"/>
          <a:ext cx="3957637" cy="1628775"/>
        </p:xfrm>
        <a:graphic>
          <a:graphicData uri="http://schemas.openxmlformats.org/presentationml/2006/ole">
            <mc:AlternateContent xmlns:mc="http://schemas.openxmlformats.org/markup-compatibility/2006">
              <mc:Choice xmlns:v="urn:schemas-microsoft-com:vml" Requires="v">
                <p:oleObj spid="_x0000_s718023" name="Document" r:id="rId7" imgW="3355294" imgH="1381185" progId="Word.Document.8">
                  <p:embed/>
                </p:oleObj>
              </mc:Choice>
              <mc:Fallback>
                <p:oleObj name="Document" r:id="rId7" imgW="3355294" imgH="1381185" progId="Word.Document.8">
                  <p:embed/>
                  <p:pic>
                    <p:nvPicPr>
                      <p:cNvPr id="629766" name="Object 6">
                        <a:extLst>
                          <a:ext uri="{FF2B5EF4-FFF2-40B4-BE49-F238E27FC236}">
                            <a16:creationId xmlns:a16="http://schemas.microsoft.com/office/drawing/2014/main" id="{B479643C-74DC-488E-AB72-900047EAE163}"/>
                          </a:ext>
                        </a:extLst>
                      </p:cNvPr>
                      <p:cNvPicPr>
                        <a:picLocks noChangeAspect="1" noChangeArrowheads="1"/>
                      </p:cNvPicPr>
                      <p:nvPr/>
                    </p:nvPicPr>
                    <p:blipFill>
                      <a:blip r:embed="rId8"/>
                      <a:srcRect/>
                      <a:stretch>
                        <a:fillRect/>
                      </a:stretch>
                    </p:blipFill>
                    <p:spPr bwMode="auto">
                      <a:xfrm>
                        <a:off x="852488" y="4922838"/>
                        <a:ext cx="3957637" cy="1628775"/>
                      </a:xfrm>
                      <a:prstGeom prst="rect">
                        <a:avLst/>
                      </a:prstGeom>
                      <a:noFill/>
                      <a:ln>
                        <a:noFill/>
                      </a:ln>
                      <a:effectLst/>
                      <a:extLst/>
                    </p:spPr>
                  </p:pic>
                </p:oleObj>
              </mc:Fallback>
            </mc:AlternateContent>
          </a:graphicData>
        </a:graphic>
      </p:graphicFrame>
      <p:sp>
        <p:nvSpPr>
          <p:cNvPr id="14" name="Text Box 9">
            <a:extLst>
              <a:ext uri="{FF2B5EF4-FFF2-40B4-BE49-F238E27FC236}">
                <a16:creationId xmlns:a16="http://schemas.microsoft.com/office/drawing/2014/main" id="{FD241836-9775-42EB-A35F-0C92FFC05F7A}"/>
              </a:ext>
            </a:extLst>
          </p:cNvPr>
          <p:cNvSpPr txBox="1">
            <a:spLocks noChangeArrowheads="1"/>
          </p:cNvSpPr>
          <p:nvPr/>
        </p:nvSpPr>
        <p:spPr bwMode="auto">
          <a:xfrm>
            <a:off x="2195736" y="454105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4-13</a:t>
            </a:r>
            <a:endParaRPr lang="zh-CN" altLang="en-US" sz="2000" b="0" dirty="0"/>
          </a:p>
        </p:txBody>
      </p:sp>
    </p:spTree>
    <p:extLst>
      <p:ext uri="{BB962C8B-B14F-4D97-AF65-F5344CB8AC3E}">
        <p14:creationId xmlns:p14="http://schemas.microsoft.com/office/powerpoint/2010/main" val="2642771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lang="zh-CN" altLang="en-US" sz="2000" dirty="0">
                <a:latin typeface="+mn-ea"/>
              </a:rPr>
              <a:t>第三步：对表</a:t>
            </a:r>
            <a:r>
              <a:rPr lang="en-US" altLang="zh-CN" sz="2000" dirty="0">
                <a:latin typeface="+mn-ea"/>
              </a:rPr>
              <a:t>4-13</a:t>
            </a:r>
            <a:r>
              <a:rPr lang="zh-CN" altLang="en-US" sz="2000" dirty="0">
                <a:latin typeface="+mn-ea"/>
              </a:rPr>
              <a:t>中未划去的元素再分别计算出各行、各列的最小运费和次最小运费的差额，并填入该表的最右列和最下行。重复第一、二步。直到给出初始解为止。 </a:t>
            </a:r>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10</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3608552837"/>
              </p:ext>
            </p:extLst>
          </p:nvPr>
        </p:nvGraphicFramePr>
        <p:xfrm>
          <a:off x="823913" y="2924174"/>
          <a:ext cx="4194175" cy="1853195"/>
        </p:xfrm>
        <a:graphic>
          <a:graphicData uri="http://schemas.openxmlformats.org/presentationml/2006/ole">
            <mc:AlternateContent xmlns:mc="http://schemas.openxmlformats.org/markup-compatibility/2006">
              <mc:Choice xmlns:v="urn:schemas-microsoft-com:vml" Requires="v">
                <p:oleObj spid="_x0000_s760990" name="Document" r:id="rId3" imgW="3487602" imgH="1433808" progId="Word.Document.8">
                  <p:embed/>
                </p:oleObj>
              </mc:Choice>
              <mc:Fallback>
                <p:oleObj name="Document" r:id="rId3" imgW="3487602" imgH="1433808" progId="Word.Document.8">
                  <p:embed/>
                  <p:pic>
                    <p:nvPicPr>
                      <p:cNvPr id="5" name="Object 4">
                        <a:extLst>
                          <a:ext uri="{FF2B5EF4-FFF2-40B4-BE49-F238E27FC236}">
                            <a16:creationId xmlns:a16="http://schemas.microsoft.com/office/drawing/2014/main" id="{C240E138-A3B1-42A2-B470-28DFCDB1E0F6}"/>
                          </a:ext>
                        </a:extLst>
                      </p:cNvPr>
                      <p:cNvPicPr>
                        <a:picLocks noChangeAspect="1" noChangeArrowheads="1"/>
                      </p:cNvPicPr>
                      <p:nvPr/>
                    </p:nvPicPr>
                    <p:blipFill>
                      <a:blip r:embed="rId4"/>
                      <a:srcRect/>
                      <a:stretch>
                        <a:fillRect/>
                      </a:stretch>
                    </p:blipFill>
                    <p:spPr bwMode="auto">
                      <a:xfrm>
                        <a:off x="823913" y="2924174"/>
                        <a:ext cx="4194175" cy="1853195"/>
                      </a:xfrm>
                      <a:prstGeom prst="rect">
                        <a:avLst/>
                      </a:prstGeom>
                      <a:noFill/>
                      <a:ln>
                        <a:noFill/>
                      </a:ln>
                      <a:effectLst/>
                      <a:extLst/>
                    </p:spPr>
                  </p:pic>
                </p:oleObj>
              </mc:Fallback>
            </mc:AlternateContent>
          </a:graphicData>
        </a:graphic>
      </p:graphicFrame>
      <p:sp>
        <p:nvSpPr>
          <p:cNvPr id="9" name="矩形: 圆角 8">
            <a:extLst>
              <a:ext uri="{FF2B5EF4-FFF2-40B4-BE49-F238E27FC236}">
                <a16:creationId xmlns:a16="http://schemas.microsoft.com/office/drawing/2014/main" id="{20149716-1C9B-4893-90AB-ECE6435C7E90}"/>
              </a:ext>
            </a:extLst>
          </p:cNvPr>
          <p:cNvSpPr/>
          <p:nvPr/>
        </p:nvSpPr>
        <p:spPr bwMode="auto">
          <a:xfrm>
            <a:off x="3491880" y="4293096"/>
            <a:ext cx="216024"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2186731" y="2603650"/>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graphicFrame>
        <p:nvGraphicFramePr>
          <p:cNvPr id="11" name="Object 6">
            <a:extLst>
              <a:ext uri="{FF2B5EF4-FFF2-40B4-BE49-F238E27FC236}">
                <a16:creationId xmlns:a16="http://schemas.microsoft.com/office/drawing/2014/main" id="{6DFED7DF-8E12-4DF4-9FFC-259D7F57FEDD}"/>
              </a:ext>
            </a:extLst>
          </p:cNvPr>
          <p:cNvGraphicFramePr>
            <a:graphicFrameLocks noChangeAspect="1"/>
          </p:cNvGraphicFramePr>
          <p:nvPr>
            <p:extLst/>
          </p:nvPr>
        </p:nvGraphicFramePr>
        <p:xfrm>
          <a:off x="4665541" y="2924944"/>
          <a:ext cx="4215226" cy="1852961"/>
        </p:xfrm>
        <a:graphic>
          <a:graphicData uri="http://schemas.openxmlformats.org/presentationml/2006/ole">
            <mc:AlternateContent xmlns:mc="http://schemas.openxmlformats.org/markup-compatibility/2006">
              <mc:Choice xmlns:v="urn:schemas-microsoft-com:vml" Requires="v">
                <p:oleObj spid="_x0000_s760991" name="Document" r:id="rId5" imgW="3253880" imgH="1429844" progId="Word.Document.8">
                  <p:embed/>
                </p:oleObj>
              </mc:Choice>
              <mc:Fallback>
                <p:oleObj name="Document" r:id="rId5" imgW="3253880" imgH="1429844" progId="Word.Document.8">
                  <p:embed/>
                  <p:pic>
                    <p:nvPicPr>
                      <p:cNvPr id="11" name="Object 6">
                        <a:extLst>
                          <a:ext uri="{FF2B5EF4-FFF2-40B4-BE49-F238E27FC236}">
                            <a16:creationId xmlns:a16="http://schemas.microsoft.com/office/drawing/2014/main" id="{6DFED7DF-8E12-4DF4-9FFC-259D7F57FEDD}"/>
                          </a:ext>
                        </a:extLst>
                      </p:cNvPr>
                      <p:cNvPicPr>
                        <a:picLocks noChangeAspect="1" noChangeArrowheads="1"/>
                      </p:cNvPicPr>
                      <p:nvPr/>
                    </p:nvPicPr>
                    <p:blipFill>
                      <a:blip r:embed="rId6"/>
                      <a:srcRect/>
                      <a:stretch>
                        <a:fillRect/>
                      </a:stretch>
                    </p:blipFill>
                    <p:spPr bwMode="auto">
                      <a:xfrm>
                        <a:off x="4665541" y="2924944"/>
                        <a:ext cx="4215226" cy="1852961"/>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5725168" y="25968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4-12</a:t>
            </a:r>
            <a:endParaRPr lang="zh-CN" altLang="en-US" sz="2000" b="0" dirty="0"/>
          </a:p>
        </p:txBody>
      </p:sp>
      <p:graphicFrame>
        <p:nvGraphicFramePr>
          <p:cNvPr id="13" name="Object 6">
            <a:extLst>
              <a:ext uri="{FF2B5EF4-FFF2-40B4-BE49-F238E27FC236}">
                <a16:creationId xmlns:a16="http://schemas.microsoft.com/office/drawing/2014/main" id="{44E7C315-C25B-4C53-8350-76655C814622}"/>
              </a:ext>
            </a:extLst>
          </p:cNvPr>
          <p:cNvGraphicFramePr>
            <a:graphicFrameLocks noChangeAspect="1"/>
          </p:cNvGraphicFramePr>
          <p:nvPr>
            <p:extLst>
              <p:ext uri="{D42A27DB-BD31-4B8C-83A1-F6EECF244321}">
                <p14:modId xmlns:p14="http://schemas.microsoft.com/office/powerpoint/2010/main" val="527272469"/>
              </p:ext>
            </p:extLst>
          </p:nvPr>
        </p:nvGraphicFramePr>
        <p:xfrm>
          <a:off x="846138" y="4919663"/>
          <a:ext cx="3983037" cy="1639887"/>
        </p:xfrm>
        <a:graphic>
          <a:graphicData uri="http://schemas.openxmlformats.org/presentationml/2006/ole">
            <mc:AlternateContent xmlns:mc="http://schemas.openxmlformats.org/markup-compatibility/2006">
              <mc:Choice xmlns:v="urn:schemas-microsoft-com:vml" Requires="v">
                <p:oleObj spid="_x0000_s760992" name="Document" r:id="rId7" imgW="3355294" imgH="1381185" progId="Word.Document.8">
                  <p:embed/>
                </p:oleObj>
              </mc:Choice>
              <mc:Fallback>
                <p:oleObj name="Document" r:id="rId7" imgW="3355294" imgH="1381185" progId="Word.Document.8">
                  <p:embed/>
                  <p:pic>
                    <p:nvPicPr>
                      <p:cNvPr id="13" name="Object 6">
                        <a:extLst>
                          <a:ext uri="{FF2B5EF4-FFF2-40B4-BE49-F238E27FC236}">
                            <a16:creationId xmlns:a16="http://schemas.microsoft.com/office/drawing/2014/main" id="{44E7C315-C25B-4C53-8350-76655C814622}"/>
                          </a:ext>
                        </a:extLst>
                      </p:cNvPr>
                      <p:cNvPicPr>
                        <a:picLocks noChangeAspect="1" noChangeArrowheads="1"/>
                      </p:cNvPicPr>
                      <p:nvPr/>
                    </p:nvPicPr>
                    <p:blipFill>
                      <a:blip r:embed="rId8"/>
                      <a:srcRect/>
                      <a:stretch>
                        <a:fillRect/>
                      </a:stretch>
                    </p:blipFill>
                    <p:spPr bwMode="auto">
                      <a:xfrm>
                        <a:off x="846138" y="4919663"/>
                        <a:ext cx="3983037" cy="1639887"/>
                      </a:xfrm>
                      <a:prstGeom prst="rect">
                        <a:avLst/>
                      </a:prstGeom>
                      <a:noFill/>
                      <a:ln>
                        <a:noFill/>
                      </a:ln>
                      <a:effectLst/>
                      <a:extLst/>
                    </p:spPr>
                  </p:pic>
                </p:oleObj>
              </mc:Fallback>
            </mc:AlternateContent>
          </a:graphicData>
        </a:graphic>
      </p:graphicFrame>
      <p:sp>
        <p:nvSpPr>
          <p:cNvPr id="14" name="Text Box 9">
            <a:extLst>
              <a:ext uri="{FF2B5EF4-FFF2-40B4-BE49-F238E27FC236}">
                <a16:creationId xmlns:a16="http://schemas.microsoft.com/office/drawing/2014/main" id="{FD241836-9775-42EB-A35F-0C92FFC05F7A}"/>
              </a:ext>
            </a:extLst>
          </p:cNvPr>
          <p:cNvSpPr txBox="1">
            <a:spLocks noChangeArrowheads="1"/>
          </p:cNvSpPr>
          <p:nvPr/>
        </p:nvSpPr>
        <p:spPr bwMode="auto">
          <a:xfrm>
            <a:off x="2195736" y="454105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4-13</a:t>
            </a:r>
            <a:endParaRPr lang="zh-CN" altLang="en-US" sz="2000" b="0" dirty="0"/>
          </a:p>
        </p:txBody>
      </p:sp>
      <p:sp>
        <p:nvSpPr>
          <p:cNvPr id="15" name="文本框 14"/>
          <p:cNvSpPr txBox="1"/>
          <p:nvPr/>
        </p:nvSpPr>
        <p:spPr>
          <a:xfrm>
            <a:off x="7282120" y="3959478"/>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Tree>
    <p:extLst>
      <p:ext uri="{BB962C8B-B14F-4D97-AF65-F5344CB8AC3E}">
        <p14:creationId xmlns:p14="http://schemas.microsoft.com/office/powerpoint/2010/main" val="199636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lang="zh-CN" altLang="en-US" sz="2000" dirty="0">
                <a:latin typeface="+mn-ea"/>
              </a:rPr>
              <a:t>第三步：对表</a:t>
            </a:r>
            <a:r>
              <a:rPr lang="en-US" altLang="zh-CN" sz="2000" dirty="0">
                <a:latin typeface="+mn-ea"/>
              </a:rPr>
              <a:t>4-13</a:t>
            </a:r>
            <a:r>
              <a:rPr lang="zh-CN" altLang="en-US" sz="2000" dirty="0">
                <a:latin typeface="+mn-ea"/>
              </a:rPr>
              <a:t>中未划去的元素再分别计算出各行、各列的最小运费和次最小运费的差额，并填入该表的最右列和最下行。重复第一、二步。直到给出初始解为止。 </a:t>
            </a:r>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11</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3470129580"/>
              </p:ext>
            </p:extLst>
          </p:nvPr>
        </p:nvGraphicFramePr>
        <p:xfrm>
          <a:off x="827088" y="2917825"/>
          <a:ext cx="4133850" cy="1860080"/>
        </p:xfrm>
        <a:graphic>
          <a:graphicData uri="http://schemas.openxmlformats.org/presentationml/2006/ole">
            <mc:AlternateContent xmlns:mc="http://schemas.openxmlformats.org/markup-compatibility/2006">
              <mc:Choice xmlns:v="urn:schemas-microsoft-com:vml" Requires="v">
                <p:oleObj spid="_x0000_s763029" name="Document" r:id="rId3" imgW="3487602" imgH="1435250" progId="Word.Document.8">
                  <p:embed/>
                </p:oleObj>
              </mc:Choice>
              <mc:Fallback>
                <p:oleObj name="Document" r:id="rId3" imgW="3487602" imgH="1435250" progId="Word.Document.8">
                  <p:embed/>
                  <p:pic>
                    <p:nvPicPr>
                      <p:cNvPr id="5" name="Object 4">
                        <a:extLst>
                          <a:ext uri="{FF2B5EF4-FFF2-40B4-BE49-F238E27FC236}">
                            <a16:creationId xmlns:a16="http://schemas.microsoft.com/office/drawing/2014/main" id="{C240E138-A3B1-42A2-B470-28DFCDB1E0F6}"/>
                          </a:ext>
                        </a:extLst>
                      </p:cNvPr>
                      <p:cNvPicPr>
                        <a:picLocks noChangeAspect="1" noChangeArrowheads="1"/>
                      </p:cNvPicPr>
                      <p:nvPr/>
                    </p:nvPicPr>
                    <p:blipFill>
                      <a:blip r:embed="rId4"/>
                      <a:srcRect/>
                      <a:stretch>
                        <a:fillRect/>
                      </a:stretch>
                    </p:blipFill>
                    <p:spPr bwMode="auto">
                      <a:xfrm>
                        <a:off x="827088" y="2917825"/>
                        <a:ext cx="4133850" cy="1860080"/>
                      </a:xfrm>
                      <a:prstGeom prst="rect">
                        <a:avLst/>
                      </a:prstGeom>
                      <a:noFill/>
                      <a:ln>
                        <a:noFill/>
                      </a:ln>
                      <a:effectLst/>
                      <a:extLst/>
                    </p:spPr>
                  </p:pic>
                </p:oleObj>
              </mc:Fallback>
            </mc:AlternateContent>
          </a:graphicData>
        </a:graphic>
      </p:graphicFrame>
      <p:sp>
        <p:nvSpPr>
          <p:cNvPr id="9" name="矩形: 圆角 8">
            <a:extLst>
              <a:ext uri="{FF2B5EF4-FFF2-40B4-BE49-F238E27FC236}">
                <a16:creationId xmlns:a16="http://schemas.microsoft.com/office/drawing/2014/main" id="{20149716-1C9B-4893-90AB-ECE6435C7E90}"/>
              </a:ext>
            </a:extLst>
          </p:cNvPr>
          <p:cNvSpPr/>
          <p:nvPr/>
        </p:nvSpPr>
        <p:spPr bwMode="auto">
          <a:xfrm>
            <a:off x="2128335" y="4254155"/>
            <a:ext cx="216024"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2186731" y="2603650"/>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graphicFrame>
        <p:nvGraphicFramePr>
          <p:cNvPr id="11" name="Object 6">
            <a:extLst>
              <a:ext uri="{FF2B5EF4-FFF2-40B4-BE49-F238E27FC236}">
                <a16:creationId xmlns:a16="http://schemas.microsoft.com/office/drawing/2014/main" id="{6DFED7DF-8E12-4DF4-9FFC-259D7F57FEDD}"/>
              </a:ext>
            </a:extLst>
          </p:cNvPr>
          <p:cNvGraphicFramePr>
            <a:graphicFrameLocks noChangeAspect="1"/>
          </p:cNvGraphicFramePr>
          <p:nvPr>
            <p:extLst/>
          </p:nvPr>
        </p:nvGraphicFramePr>
        <p:xfrm>
          <a:off x="4665541" y="2924944"/>
          <a:ext cx="4215226" cy="1852961"/>
        </p:xfrm>
        <a:graphic>
          <a:graphicData uri="http://schemas.openxmlformats.org/presentationml/2006/ole">
            <mc:AlternateContent xmlns:mc="http://schemas.openxmlformats.org/markup-compatibility/2006">
              <mc:Choice xmlns:v="urn:schemas-microsoft-com:vml" Requires="v">
                <p:oleObj spid="_x0000_s763030" name="Document" r:id="rId5" imgW="3253880" imgH="1429844" progId="Word.Document.8">
                  <p:embed/>
                </p:oleObj>
              </mc:Choice>
              <mc:Fallback>
                <p:oleObj name="Document" r:id="rId5" imgW="3253880" imgH="1429844" progId="Word.Document.8">
                  <p:embed/>
                  <p:pic>
                    <p:nvPicPr>
                      <p:cNvPr id="11" name="Object 6">
                        <a:extLst>
                          <a:ext uri="{FF2B5EF4-FFF2-40B4-BE49-F238E27FC236}">
                            <a16:creationId xmlns:a16="http://schemas.microsoft.com/office/drawing/2014/main" id="{6DFED7DF-8E12-4DF4-9FFC-259D7F57FEDD}"/>
                          </a:ext>
                        </a:extLst>
                      </p:cNvPr>
                      <p:cNvPicPr>
                        <a:picLocks noChangeAspect="1" noChangeArrowheads="1"/>
                      </p:cNvPicPr>
                      <p:nvPr/>
                    </p:nvPicPr>
                    <p:blipFill>
                      <a:blip r:embed="rId6"/>
                      <a:srcRect/>
                      <a:stretch>
                        <a:fillRect/>
                      </a:stretch>
                    </p:blipFill>
                    <p:spPr bwMode="auto">
                      <a:xfrm>
                        <a:off x="4665541" y="2924944"/>
                        <a:ext cx="4215226" cy="1852961"/>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5725168" y="25968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4-12</a:t>
            </a:r>
            <a:endParaRPr lang="zh-CN" altLang="en-US" sz="2000" b="0" dirty="0"/>
          </a:p>
        </p:txBody>
      </p:sp>
      <p:graphicFrame>
        <p:nvGraphicFramePr>
          <p:cNvPr id="13" name="Object 6">
            <a:extLst>
              <a:ext uri="{FF2B5EF4-FFF2-40B4-BE49-F238E27FC236}">
                <a16:creationId xmlns:a16="http://schemas.microsoft.com/office/drawing/2014/main" id="{44E7C315-C25B-4C53-8350-76655C814622}"/>
              </a:ext>
            </a:extLst>
          </p:cNvPr>
          <p:cNvGraphicFramePr>
            <a:graphicFrameLocks noChangeAspect="1"/>
          </p:cNvGraphicFramePr>
          <p:nvPr>
            <p:extLst>
              <p:ext uri="{D42A27DB-BD31-4B8C-83A1-F6EECF244321}">
                <p14:modId xmlns:p14="http://schemas.microsoft.com/office/powerpoint/2010/main" val="2143145978"/>
              </p:ext>
            </p:extLst>
          </p:nvPr>
        </p:nvGraphicFramePr>
        <p:xfrm>
          <a:off x="842963" y="4919663"/>
          <a:ext cx="3978275" cy="1630362"/>
        </p:xfrm>
        <a:graphic>
          <a:graphicData uri="http://schemas.openxmlformats.org/presentationml/2006/ole">
            <mc:AlternateContent xmlns:mc="http://schemas.openxmlformats.org/markup-compatibility/2006">
              <mc:Choice xmlns:v="urn:schemas-microsoft-com:vml" Requires="v">
                <p:oleObj spid="_x0000_s763031" name="Document" r:id="rId7" imgW="3355294" imgH="1381185" progId="Word.Document.8">
                  <p:embed/>
                </p:oleObj>
              </mc:Choice>
              <mc:Fallback>
                <p:oleObj name="Document" r:id="rId7" imgW="3355294" imgH="1381185" progId="Word.Document.8">
                  <p:embed/>
                  <p:pic>
                    <p:nvPicPr>
                      <p:cNvPr id="13" name="Object 6">
                        <a:extLst>
                          <a:ext uri="{FF2B5EF4-FFF2-40B4-BE49-F238E27FC236}">
                            <a16:creationId xmlns:a16="http://schemas.microsoft.com/office/drawing/2014/main" id="{44E7C315-C25B-4C53-8350-76655C814622}"/>
                          </a:ext>
                        </a:extLst>
                      </p:cNvPr>
                      <p:cNvPicPr>
                        <a:picLocks noChangeAspect="1" noChangeArrowheads="1"/>
                      </p:cNvPicPr>
                      <p:nvPr/>
                    </p:nvPicPr>
                    <p:blipFill>
                      <a:blip r:embed="rId8"/>
                      <a:srcRect/>
                      <a:stretch>
                        <a:fillRect/>
                      </a:stretch>
                    </p:blipFill>
                    <p:spPr bwMode="auto">
                      <a:xfrm>
                        <a:off x="842963" y="4919663"/>
                        <a:ext cx="3978275" cy="1630362"/>
                      </a:xfrm>
                      <a:prstGeom prst="rect">
                        <a:avLst/>
                      </a:prstGeom>
                      <a:noFill/>
                      <a:ln>
                        <a:noFill/>
                      </a:ln>
                      <a:effectLst/>
                      <a:extLst/>
                    </p:spPr>
                  </p:pic>
                </p:oleObj>
              </mc:Fallback>
            </mc:AlternateContent>
          </a:graphicData>
        </a:graphic>
      </p:graphicFrame>
      <p:sp>
        <p:nvSpPr>
          <p:cNvPr id="14" name="Text Box 9">
            <a:extLst>
              <a:ext uri="{FF2B5EF4-FFF2-40B4-BE49-F238E27FC236}">
                <a16:creationId xmlns:a16="http://schemas.microsoft.com/office/drawing/2014/main" id="{FD241836-9775-42EB-A35F-0C92FFC05F7A}"/>
              </a:ext>
            </a:extLst>
          </p:cNvPr>
          <p:cNvSpPr txBox="1">
            <a:spLocks noChangeArrowheads="1"/>
          </p:cNvSpPr>
          <p:nvPr/>
        </p:nvSpPr>
        <p:spPr bwMode="auto">
          <a:xfrm>
            <a:off x="2195736" y="454105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4-13</a:t>
            </a:r>
            <a:endParaRPr lang="zh-CN" altLang="en-US" sz="2000" b="0" dirty="0"/>
          </a:p>
        </p:txBody>
      </p:sp>
      <p:sp>
        <p:nvSpPr>
          <p:cNvPr id="15" name="文本框 14"/>
          <p:cNvSpPr txBox="1"/>
          <p:nvPr/>
        </p:nvSpPr>
        <p:spPr>
          <a:xfrm>
            <a:off x="7282120" y="3959478"/>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6" name="文本框 15"/>
          <p:cNvSpPr txBox="1"/>
          <p:nvPr/>
        </p:nvSpPr>
        <p:spPr>
          <a:xfrm>
            <a:off x="5859604" y="3725071"/>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Tree>
    <p:extLst>
      <p:ext uri="{BB962C8B-B14F-4D97-AF65-F5344CB8AC3E}">
        <p14:creationId xmlns:p14="http://schemas.microsoft.com/office/powerpoint/2010/main" val="487160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lang="zh-CN" altLang="en-US" sz="2000" dirty="0">
                <a:latin typeface="+mn-ea"/>
              </a:rPr>
              <a:t>第三步：对表</a:t>
            </a:r>
            <a:r>
              <a:rPr lang="en-US" altLang="zh-CN" sz="2000" dirty="0">
                <a:latin typeface="+mn-ea"/>
              </a:rPr>
              <a:t>4-13</a:t>
            </a:r>
            <a:r>
              <a:rPr lang="zh-CN" altLang="en-US" sz="2000" dirty="0">
                <a:latin typeface="+mn-ea"/>
              </a:rPr>
              <a:t>中未划去的元素再分别计算出各行、各列的最小运费和次最小运费的差额，并填入该表的最右列和最下行。重复第一、二步。直到给出初始解为止。 </a:t>
            </a:r>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12</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3563410907"/>
              </p:ext>
            </p:extLst>
          </p:nvPr>
        </p:nvGraphicFramePr>
        <p:xfrm>
          <a:off x="825500" y="2955925"/>
          <a:ext cx="4075113" cy="1769219"/>
        </p:xfrm>
        <a:graphic>
          <a:graphicData uri="http://schemas.openxmlformats.org/presentationml/2006/ole">
            <mc:AlternateContent xmlns:mc="http://schemas.openxmlformats.org/markup-compatibility/2006">
              <mc:Choice xmlns:v="urn:schemas-microsoft-com:vml" Requires="v">
                <p:oleObj spid="_x0000_s764038" name="Document" r:id="rId3" imgW="3487602" imgH="1379022" progId="Word.Document.8">
                  <p:embed/>
                </p:oleObj>
              </mc:Choice>
              <mc:Fallback>
                <p:oleObj name="Document" r:id="rId3" imgW="3487602" imgH="1379022" progId="Word.Document.8">
                  <p:embed/>
                  <p:pic>
                    <p:nvPicPr>
                      <p:cNvPr id="5" name="Object 4">
                        <a:extLst>
                          <a:ext uri="{FF2B5EF4-FFF2-40B4-BE49-F238E27FC236}">
                            <a16:creationId xmlns:a16="http://schemas.microsoft.com/office/drawing/2014/main" id="{C240E138-A3B1-42A2-B470-28DFCDB1E0F6}"/>
                          </a:ext>
                        </a:extLst>
                      </p:cNvPr>
                      <p:cNvPicPr>
                        <a:picLocks noChangeAspect="1" noChangeArrowheads="1"/>
                      </p:cNvPicPr>
                      <p:nvPr/>
                    </p:nvPicPr>
                    <p:blipFill>
                      <a:blip r:embed="rId4"/>
                      <a:srcRect/>
                      <a:stretch>
                        <a:fillRect/>
                      </a:stretch>
                    </p:blipFill>
                    <p:spPr bwMode="auto">
                      <a:xfrm>
                        <a:off x="825500" y="2955925"/>
                        <a:ext cx="4075113" cy="1769219"/>
                      </a:xfrm>
                      <a:prstGeom prst="rect">
                        <a:avLst/>
                      </a:prstGeom>
                      <a:noFill/>
                      <a:ln>
                        <a:noFill/>
                      </a:ln>
                      <a:effectLst/>
                      <a:extLst/>
                    </p:spPr>
                  </p:pic>
                </p:oleObj>
              </mc:Fallback>
            </mc:AlternateContent>
          </a:graphicData>
        </a:graphic>
      </p:graphicFrame>
      <p:sp>
        <p:nvSpPr>
          <p:cNvPr id="9" name="矩形: 圆角 8">
            <a:extLst>
              <a:ext uri="{FF2B5EF4-FFF2-40B4-BE49-F238E27FC236}">
                <a16:creationId xmlns:a16="http://schemas.microsoft.com/office/drawing/2014/main" id="{20149716-1C9B-4893-90AB-ECE6435C7E90}"/>
              </a:ext>
            </a:extLst>
          </p:cNvPr>
          <p:cNvSpPr/>
          <p:nvPr/>
        </p:nvSpPr>
        <p:spPr bwMode="auto">
          <a:xfrm>
            <a:off x="3995936" y="3501008"/>
            <a:ext cx="216024"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2186731" y="2636912"/>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graphicFrame>
        <p:nvGraphicFramePr>
          <p:cNvPr id="11" name="Object 6">
            <a:extLst>
              <a:ext uri="{FF2B5EF4-FFF2-40B4-BE49-F238E27FC236}">
                <a16:creationId xmlns:a16="http://schemas.microsoft.com/office/drawing/2014/main" id="{6DFED7DF-8E12-4DF4-9FFC-259D7F57FEDD}"/>
              </a:ext>
            </a:extLst>
          </p:cNvPr>
          <p:cNvGraphicFramePr>
            <a:graphicFrameLocks noChangeAspect="1"/>
          </p:cNvGraphicFramePr>
          <p:nvPr>
            <p:extLst/>
          </p:nvPr>
        </p:nvGraphicFramePr>
        <p:xfrm>
          <a:off x="4665541" y="2924944"/>
          <a:ext cx="4215226" cy="1852961"/>
        </p:xfrm>
        <a:graphic>
          <a:graphicData uri="http://schemas.openxmlformats.org/presentationml/2006/ole">
            <mc:AlternateContent xmlns:mc="http://schemas.openxmlformats.org/markup-compatibility/2006">
              <mc:Choice xmlns:v="urn:schemas-microsoft-com:vml" Requires="v">
                <p:oleObj spid="_x0000_s764039" name="Document" r:id="rId5" imgW="3253880" imgH="1429844" progId="Word.Document.8">
                  <p:embed/>
                </p:oleObj>
              </mc:Choice>
              <mc:Fallback>
                <p:oleObj name="Document" r:id="rId5" imgW="3253880" imgH="1429844" progId="Word.Document.8">
                  <p:embed/>
                  <p:pic>
                    <p:nvPicPr>
                      <p:cNvPr id="11" name="Object 6">
                        <a:extLst>
                          <a:ext uri="{FF2B5EF4-FFF2-40B4-BE49-F238E27FC236}">
                            <a16:creationId xmlns:a16="http://schemas.microsoft.com/office/drawing/2014/main" id="{6DFED7DF-8E12-4DF4-9FFC-259D7F57FEDD}"/>
                          </a:ext>
                        </a:extLst>
                      </p:cNvPr>
                      <p:cNvPicPr>
                        <a:picLocks noChangeAspect="1" noChangeArrowheads="1"/>
                      </p:cNvPicPr>
                      <p:nvPr/>
                    </p:nvPicPr>
                    <p:blipFill>
                      <a:blip r:embed="rId6"/>
                      <a:srcRect/>
                      <a:stretch>
                        <a:fillRect/>
                      </a:stretch>
                    </p:blipFill>
                    <p:spPr bwMode="auto">
                      <a:xfrm>
                        <a:off x="4665541" y="2924944"/>
                        <a:ext cx="4215226" cy="1852961"/>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5725168" y="25968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4-12</a:t>
            </a:r>
            <a:endParaRPr lang="zh-CN" altLang="en-US" sz="2000" b="0" dirty="0"/>
          </a:p>
        </p:txBody>
      </p:sp>
      <p:graphicFrame>
        <p:nvGraphicFramePr>
          <p:cNvPr id="13" name="Object 6">
            <a:extLst>
              <a:ext uri="{FF2B5EF4-FFF2-40B4-BE49-F238E27FC236}">
                <a16:creationId xmlns:a16="http://schemas.microsoft.com/office/drawing/2014/main" id="{44E7C315-C25B-4C53-8350-76655C814622}"/>
              </a:ext>
            </a:extLst>
          </p:cNvPr>
          <p:cNvGraphicFramePr>
            <a:graphicFrameLocks noChangeAspect="1"/>
          </p:cNvGraphicFramePr>
          <p:nvPr>
            <p:extLst>
              <p:ext uri="{D42A27DB-BD31-4B8C-83A1-F6EECF244321}">
                <p14:modId xmlns:p14="http://schemas.microsoft.com/office/powerpoint/2010/main" val="3629148376"/>
              </p:ext>
            </p:extLst>
          </p:nvPr>
        </p:nvGraphicFramePr>
        <p:xfrm>
          <a:off x="842963" y="4919663"/>
          <a:ext cx="3978275" cy="1630362"/>
        </p:xfrm>
        <a:graphic>
          <a:graphicData uri="http://schemas.openxmlformats.org/presentationml/2006/ole">
            <mc:AlternateContent xmlns:mc="http://schemas.openxmlformats.org/markup-compatibility/2006">
              <mc:Choice xmlns:v="urn:schemas-microsoft-com:vml" Requires="v">
                <p:oleObj spid="_x0000_s764040" name="Document" r:id="rId7" imgW="3355294" imgH="1381185" progId="Word.Document.8">
                  <p:embed/>
                </p:oleObj>
              </mc:Choice>
              <mc:Fallback>
                <p:oleObj name="Document" r:id="rId7" imgW="3355294" imgH="1381185" progId="Word.Document.8">
                  <p:embed/>
                  <p:pic>
                    <p:nvPicPr>
                      <p:cNvPr id="13" name="Object 6">
                        <a:extLst>
                          <a:ext uri="{FF2B5EF4-FFF2-40B4-BE49-F238E27FC236}">
                            <a16:creationId xmlns:a16="http://schemas.microsoft.com/office/drawing/2014/main" id="{44E7C315-C25B-4C53-8350-76655C814622}"/>
                          </a:ext>
                        </a:extLst>
                      </p:cNvPr>
                      <p:cNvPicPr>
                        <a:picLocks noChangeAspect="1" noChangeArrowheads="1"/>
                      </p:cNvPicPr>
                      <p:nvPr/>
                    </p:nvPicPr>
                    <p:blipFill>
                      <a:blip r:embed="rId8"/>
                      <a:srcRect/>
                      <a:stretch>
                        <a:fillRect/>
                      </a:stretch>
                    </p:blipFill>
                    <p:spPr bwMode="auto">
                      <a:xfrm>
                        <a:off x="842963" y="4919663"/>
                        <a:ext cx="3978275" cy="1630362"/>
                      </a:xfrm>
                      <a:prstGeom prst="rect">
                        <a:avLst/>
                      </a:prstGeom>
                      <a:noFill/>
                      <a:ln>
                        <a:noFill/>
                      </a:ln>
                      <a:effectLst/>
                      <a:extLst/>
                    </p:spPr>
                  </p:pic>
                </p:oleObj>
              </mc:Fallback>
            </mc:AlternateContent>
          </a:graphicData>
        </a:graphic>
      </p:graphicFrame>
      <p:sp>
        <p:nvSpPr>
          <p:cNvPr id="14" name="Text Box 9">
            <a:extLst>
              <a:ext uri="{FF2B5EF4-FFF2-40B4-BE49-F238E27FC236}">
                <a16:creationId xmlns:a16="http://schemas.microsoft.com/office/drawing/2014/main" id="{FD241836-9775-42EB-A35F-0C92FFC05F7A}"/>
              </a:ext>
            </a:extLst>
          </p:cNvPr>
          <p:cNvSpPr txBox="1">
            <a:spLocks noChangeArrowheads="1"/>
          </p:cNvSpPr>
          <p:nvPr/>
        </p:nvSpPr>
        <p:spPr bwMode="auto">
          <a:xfrm>
            <a:off x="2195736" y="454105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4-13</a:t>
            </a:r>
            <a:endParaRPr lang="zh-CN" altLang="en-US" sz="2000" b="0" dirty="0"/>
          </a:p>
        </p:txBody>
      </p:sp>
      <p:sp>
        <p:nvSpPr>
          <p:cNvPr id="15" name="文本框 14"/>
          <p:cNvSpPr txBox="1"/>
          <p:nvPr/>
        </p:nvSpPr>
        <p:spPr>
          <a:xfrm>
            <a:off x="7282120" y="3959478"/>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6" name="文本框 15"/>
          <p:cNvSpPr txBox="1"/>
          <p:nvPr/>
        </p:nvSpPr>
        <p:spPr>
          <a:xfrm>
            <a:off x="5859604" y="3725071"/>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7" name="文本框 16"/>
          <p:cNvSpPr txBox="1"/>
          <p:nvPr/>
        </p:nvSpPr>
        <p:spPr>
          <a:xfrm>
            <a:off x="6804248" y="3429000"/>
            <a:ext cx="458232" cy="261610"/>
          </a:xfrm>
          <a:prstGeom prst="rect">
            <a:avLst/>
          </a:prstGeom>
          <a:noFill/>
        </p:spPr>
        <p:txBody>
          <a:bodyPr wrap="square" lIns="0" tIns="0" rIns="0" bIns="0" rtlCol="0">
            <a:spAutoFit/>
          </a:bodyPr>
          <a:lstStyle/>
          <a:p>
            <a:r>
              <a:rPr lang="en-US" altLang="zh-CN" sz="1700" b="0" dirty="0" smtClean="0">
                <a:latin typeface="+mn-ea"/>
                <a:ea typeface="+mn-ea"/>
              </a:rPr>
              <a:t>5</a:t>
            </a:r>
            <a:endParaRPr lang="zh-CN" altLang="en-US" sz="1700" b="0" dirty="0">
              <a:latin typeface="+mn-ea"/>
              <a:ea typeface="+mn-ea"/>
            </a:endParaRPr>
          </a:p>
        </p:txBody>
      </p:sp>
    </p:spTree>
    <p:extLst>
      <p:ext uri="{BB962C8B-B14F-4D97-AF65-F5344CB8AC3E}">
        <p14:creationId xmlns:p14="http://schemas.microsoft.com/office/powerpoint/2010/main" val="320307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lang="zh-CN" altLang="en-US" sz="2000" dirty="0" smtClean="0">
                <a:latin typeface="+mn-ea"/>
              </a:rPr>
              <a:t>第三</a:t>
            </a:r>
            <a:r>
              <a:rPr lang="zh-CN" altLang="en-US" sz="2000" dirty="0">
                <a:latin typeface="+mn-ea"/>
              </a:rPr>
              <a:t>步：对表</a:t>
            </a:r>
            <a:r>
              <a:rPr lang="en-US" altLang="zh-CN" sz="2000" dirty="0">
                <a:latin typeface="+mn-ea"/>
              </a:rPr>
              <a:t>4-13</a:t>
            </a:r>
            <a:r>
              <a:rPr lang="zh-CN" altLang="en-US" sz="2000" dirty="0">
                <a:latin typeface="+mn-ea"/>
              </a:rPr>
              <a:t>中未划去的元素再分别计算出各行、各列的最小运费和次最小运费的差额，并填入该表的最右列和最下行。重复第一、二步。直到给出初始解为止</a:t>
            </a:r>
            <a:r>
              <a:rPr lang="zh-CN" altLang="en-US" sz="2000" dirty="0" smtClean="0">
                <a:latin typeface="+mn-ea"/>
              </a:rPr>
              <a:t>。</a:t>
            </a:r>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13</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1118877068"/>
              </p:ext>
            </p:extLst>
          </p:nvPr>
        </p:nvGraphicFramePr>
        <p:xfrm>
          <a:off x="825500" y="2955925"/>
          <a:ext cx="4075113" cy="1821980"/>
        </p:xfrm>
        <a:graphic>
          <a:graphicData uri="http://schemas.openxmlformats.org/presentationml/2006/ole">
            <mc:AlternateContent xmlns:mc="http://schemas.openxmlformats.org/markup-compatibility/2006">
              <mc:Choice xmlns:v="urn:schemas-microsoft-com:vml" Requires="v">
                <p:oleObj spid="_x0000_s765047" name="Document" r:id="rId3" imgW="3487602" imgH="1381185" progId="Word.Document.8">
                  <p:embed/>
                </p:oleObj>
              </mc:Choice>
              <mc:Fallback>
                <p:oleObj name="Document" r:id="rId3" imgW="3487602" imgH="1381185" progId="Word.Document.8">
                  <p:embed/>
                  <p:pic>
                    <p:nvPicPr>
                      <p:cNvPr id="5" name="Object 4">
                        <a:extLst>
                          <a:ext uri="{FF2B5EF4-FFF2-40B4-BE49-F238E27FC236}">
                            <a16:creationId xmlns:a16="http://schemas.microsoft.com/office/drawing/2014/main" id="{C240E138-A3B1-42A2-B470-28DFCDB1E0F6}"/>
                          </a:ext>
                        </a:extLst>
                      </p:cNvPr>
                      <p:cNvPicPr>
                        <a:picLocks noChangeAspect="1" noChangeArrowheads="1"/>
                      </p:cNvPicPr>
                      <p:nvPr/>
                    </p:nvPicPr>
                    <p:blipFill>
                      <a:blip r:embed="rId4"/>
                      <a:srcRect/>
                      <a:stretch>
                        <a:fillRect/>
                      </a:stretch>
                    </p:blipFill>
                    <p:spPr bwMode="auto">
                      <a:xfrm>
                        <a:off x="825500" y="2955925"/>
                        <a:ext cx="4075113" cy="1821980"/>
                      </a:xfrm>
                      <a:prstGeom prst="rect">
                        <a:avLst/>
                      </a:prstGeom>
                      <a:noFill/>
                      <a:ln>
                        <a:noFill/>
                      </a:ln>
                      <a:effectLst/>
                      <a:extLst/>
                    </p:spPr>
                  </p:pic>
                </p:oleObj>
              </mc:Fallback>
            </mc:AlternateContent>
          </a:graphicData>
        </a:graphic>
      </p:graphicFrame>
      <p:sp>
        <p:nvSpPr>
          <p:cNvPr id="9" name="矩形: 圆角 8">
            <a:extLst>
              <a:ext uri="{FF2B5EF4-FFF2-40B4-BE49-F238E27FC236}">
                <a16:creationId xmlns:a16="http://schemas.microsoft.com/office/drawing/2014/main" id="{20149716-1C9B-4893-90AB-ECE6435C7E90}"/>
              </a:ext>
            </a:extLst>
          </p:cNvPr>
          <p:cNvSpPr/>
          <p:nvPr/>
        </p:nvSpPr>
        <p:spPr bwMode="auto">
          <a:xfrm>
            <a:off x="3419872" y="4293096"/>
            <a:ext cx="216024"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2186731" y="2603650"/>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graphicFrame>
        <p:nvGraphicFramePr>
          <p:cNvPr id="11" name="Object 6">
            <a:extLst>
              <a:ext uri="{FF2B5EF4-FFF2-40B4-BE49-F238E27FC236}">
                <a16:creationId xmlns:a16="http://schemas.microsoft.com/office/drawing/2014/main" id="{6DFED7DF-8E12-4DF4-9FFC-259D7F57FEDD}"/>
              </a:ext>
            </a:extLst>
          </p:cNvPr>
          <p:cNvGraphicFramePr>
            <a:graphicFrameLocks noChangeAspect="1"/>
          </p:cNvGraphicFramePr>
          <p:nvPr>
            <p:extLst/>
          </p:nvPr>
        </p:nvGraphicFramePr>
        <p:xfrm>
          <a:off x="4665541" y="2924944"/>
          <a:ext cx="4215226" cy="1852961"/>
        </p:xfrm>
        <a:graphic>
          <a:graphicData uri="http://schemas.openxmlformats.org/presentationml/2006/ole">
            <mc:AlternateContent xmlns:mc="http://schemas.openxmlformats.org/markup-compatibility/2006">
              <mc:Choice xmlns:v="urn:schemas-microsoft-com:vml" Requires="v">
                <p:oleObj spid="_x0000_s765048" name="Document" r:id="rId5" imgW="3253880" imgH="1429844" progId="Word.Document.8">
                  <p:embed/>
                </p:oleObj>
              </mc:Choice>
              <mc:Fallback>
                <p:oleObj name="Document" r:id="rId5" imgW="3253880" imgH="1429844" progId="Word.Document.8">
                  <p:embed/>
                  <p:pic>
                    <p:nvPicPr>
                      <p:cNvPr id="11" name="Object 6">
                        <a:extLst>
                          <a:ext uri="{FF2B5EF4-FFF2-40B4-BE49-F238E27FC236}">
                            <a16:creationId xmlns:a16="http://schemas.microsoft.com/office/drawing/2014/main" id="{6DFED7DF-8E12-4DF4-9FFC-259D7F57FEDD}"/>
                          </a:ext>
                        </a:extLst>
                      </p:cNvPr>
                      <p:cNvPicPr>
                        <a:picLocks noChangeAspect="1" noChangeArrowheads="1"/>
                      </p:cNvPicPr>
                      <p:nvPr/>
                    </p:nvPicPr>
                    <p:blipFill>
                      <a:blip r:embed="rId6"/>
                      <a:srcRect/>
                      <a:stretch>
                        <a:fillRect/>
                      </a:stretch>
                    </p:blipFill>
                    <p:spPr bwMode="auto">
                      <a:xfrm>
                        <a:off x="4665541" y="2924944"/>
                        <a:ext cx="4215226" cy="1852961"/>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5725168" y="25968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4-12</a:t>
            </a:r>
            <a:endParaRPr lang="zh-CN" altLang="en-US" sz="2000" b="0" dirty="0"/>
          </a:p>
        </p:txBody>
      </p:sp>
      <p:graphicFrame>
        <p:nvGraphicFramePr>
          <p:cNvPr id="13" name="Object 6">
            <a:extLst>
              <a:ext uri="{FF2B5EF4-FFF2-40B4-BE49-F238E27FC236}">
                <a16:creationId xmlns:a16="http://schemas.microsoft.com/office/drawing/2014/main" id="{44E7C315-C25B-4C53-8350-76655C814622}"/>
              </a:ext>
            </a:extLst>
          </p:cNvPr>
          <p:cNvGraphicFramePr>
            <a:graphicFrameLocks noChangeAspect="1"/>
          </p:cNvGraphicFramePr>
          <p:nvPr>
            <p:extLst>
              <p:ext uri="{D42A27DB-BD31-4B8C-83A1-F6EECF244321}">
                <p14:modId xmlns:p14="http://schemas.microsoft.com/office/powerpoint/2010/main" val="3209086408"/>
              </p:ext>
            </p:extLst>
          </p:nvPr>
        </p:nvGraphicFramePr>
        <p:xfrm>
          <a:off x="846138" y="4921250"/>
          <a:ext cx="3962400" cy="1625600"/>
        </p:xfrm>
        <a:graphic>
          <a:graphicData uri="http://schemas.openxmlformats.org/presentationml/2006/ole">
            <mc:AlternateContent xmlns:mc="http://schemas.openxmlformats.org/markup-compatibility/2006">
              <mc:Choice xmlns:v="urn:schemas-microsoft-com:vml" Requires="v">
                <p:oleObj spid="_x0000_s765049" name="Document" r:id="rId7" imgW="3355294" imgH="1382627" progId="Word.Document.8">
                  <p:embed/>
                </p:oleObj>
              </mc:Choice>
              <mc:Fallback>
                <p:oleObj name="Document" r:id="rId7" imgW="3355294" imgH="1382627" progId="Word.Document.8">
                  <p:embed/>
                  <p:pic>
                    <p:nvPicPr>
                      <p:cNvPr id="13" name="Object 6">
                        <a:extLst>
                          <a:ext uri="{FF2B5EF4-FFF2-40B4-BE49-F238E27FC236}">
                            <a16:creationId xmlns:a16="http://schemas.microsoft.com/office/drawing/2014/main" id="{44E7C315-C25B-4C53-8350-76655C814622}"/>
                          </a:ext>
                        </a:extLst>
                      </p:cNvPr>
                      <p:cNvPicPr>
                        <a:picLocks noChangeAspect="1" noChangeArrowheads="1"/>
                      </p:cNvPicPr>
                      <p:nvPr/>
                    </p:nvPicPr>
                    <p:blipFill>
                      <a:blip r:embed="rId8"/>
                      <a:srcRect/>
                      <a:stretch>
                        <a:fillRect/>
                      </a:stretch>
                    </p:blipFill>
                    <p:spPr bwMode="auto">
                      <a:xfrm>
                        <a:off x="846138" y="4921250"/>
                        <a:ext cx="3962400" cy="1625600"/>
                      </a:xfrm>
                      <a:prstGeom prst="rect">
                        <a:avLst/>
                      </a:prstGeom>
                      <a:noFill/>
                      <a:ln>
                        <a:noFill/>
                      </a:ln>
                      <a:effectLst/>
                      <a:extLst/>
                    </p:spPr>
                  </p:pic>
                </p:oleObj>
              </mc:Fallback>
            </mc:AlternateContent>
          </a:graphicData>
        </a:graphic>
      </p:graphicFrame>
      <p:sp>
        <p:nvSpPr>
          <p:cNvPr id="14" name="Text Box 9">
            <a:extLst>
              <a:ext uri="{FF2B5EF4-FFF2-40B4-BE49-F238E27FC236}">
                <a16:creationId xmlns:a16="http://schemas.microsoft.com/office/drawing/2014/main" id="{FD241836-9775-42EB-A35F-0C92FFC05F7A}"/>
              </a:ext>
            </a:extLst>
          </p:cNvPr>
          <p:cNvSpPr txBox="1">
            <a:spLocks noChangeArrowheads="1"/>
          </p:cNvSpPr>
          <p:nvPr/>
        </p:nvSpPr>
        <p:spPr bwMode="auto">
          <a:xfrm>
            <a:off x="2195736" y="454105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4-13</a:t>
            </a:r>
            <a:endParaRPr lang="zh-CN" altLang="en-US" sz="2000" b="0" dirty="0"/>
          </a:p>
        </p:txBody>
      </p:sp>
      <p:sp>
        <p:nvSpPr>
          <p:cNvPr id="15" name="文本框 14"/>
          <p:cNvSpPr txBox="1"/>
          <p:nvPr/>
        </p:nvSpPr>
        <p:spPr>
          <a:xfrm>
            <a:off x="7282120" y="3959478"/>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6" name="文本框 15"/>
          <p:cNvSpPr txBox="1"/>
          <p:nvPr/>
        </p:nvSpPr>
        <p:spPr>
          <a:xfrm>
            <a:off x="5859604" y="3725071"/>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7" name="文本框 16"/>
          <p:cNvSpPr txBox="1"/>
          <p:nvPr/>
        </p:nvSpPr>
        <p:spPr>
          <a:xfrm>
            <a:off x="6804248" y="3429000"/>
            <a:ext cx="458232" cy="261610"/>
          </a:xfrm>
          <a:prstGeom prst="rect">
            <a:avLst/>
          </a:prstGeom>
          <a:noFill/>
        </p:spPr>
        <p:txBody>
          <a:bodyPr wrap="square" lIns="0" tIns="0" rIns="0" bIns="0" rtlCol="0">
            <a:spAutoFit/>
          </a:bodyPr>
          <a:lstStyle/>
          <a:p>
            <a:r>
              <a:rPr lang="en-US" altLang="zh-CN" sz="1700" b="0" dirty="0" smtClean="0">
                <a:latin typeface="+mn-ea"/>
                <a:ea typeface="+mn-ea"/>
              </a:rPr>
              <a:t>5</a:t>
            </a:r>
            <a:endParaRPr lang="zh-CN" altLang="en-US" sz="1700" b="0" dirty="0">
              <a:latin typeface="+mn-ea"/>
              <a:ea typeface="+mn-ea"/>
            </a:endParaRPr>
          </a:p>
        </p:txBody>
      </p:sp>
      <p:sp>
        <p:nvSpPr>
          <p:cNvPr id="18" name="文本框 17"/>
          <p:cNvSpPr txBox="1"/>
          <p:nvPr/>
        </p:nvSpPr>
        <p:spPr>
          <a:xfrm>
            <a:off x="7282120" y="3717032"/>
            <a:ext cx="458232" cy="261610"/>
          </a:xfrm>
          <a:prstGeom prst="rect">
            <a:avLst/>
          </a:prstGeom>
          <a:noFill/>
        </p:spPr>
        <p:txBody>
          <a:bodyPr wrap="square" lIns="0" tIns="0" rIns="0" bIns="0" rtlCol="0">
            <a:spAutoFit/>
          </a:bodyPr>
          <a:lstStyle/>
          <a:p>
            <a:r>
              <a:rPr lang="en-US" altLang="zh-CN" sz="1700" b="0" dirty="0" smtClean="0">
                <a:latin typeface="+mn-ea"/>
                <a:ea typeface="+mn-ea"/>
              </a:rPr>
              <a:t>1</a:t>
            </a:r>
            <a:endParaRPr lang="zh-CN" altLang="en-US" sz="1700" b="0" dirty="0">
              <a:latin typeface="+mn-ea"/>
              <a:ea typeface="+mn-ea"/>
            </a:endParaRPr>
          </a:p>
        </p:txBody>
      </p:sp>
    </p:spTree>
    <p:extLst>
      <p:ext uri="{BB962C8B-B14F-4D97-AF65-F5344CB8AC3E}">
        <p14:creationId xmlns:p14="http://schemas.microsoft.com/office/powerpoint/2010/main" val="557865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smtClean="0"/>
              <a:t>3.  </a:t>
            </a:r>
            <a:r>
              <a:rPr lang="zh-CN" altLang="en-US" dirty="0" smtClean="0"/>
              <a:t>伏格尔法</a:t>
            </a:r>
            <a:endParaRPr lang="zh-CN" altLang="en-US" dirty="0"/>
          </a:p>
          <a:p>
            <a:pPr lvl="1"/>
            <a:r>
              <a:rPr lang="zh-CN" altLang="en-US" sz="2000" dirty="0">
                <a:latin typeface="+mn-ea"/>
              </a:rPr>
              <a:t>第三步：对表</a:t>
            </a:r>
            <a:r>
              <a:rPr lang="en-US" altLang="zh-CN" sz="2000" dirty="0">
                <a:latin typeface="+mn-ea"/>
              </a:rPr>
              <a:t>4-13</a:t>
            </a:r>
            <a:r>
              <a:rPr lang="zh-CN" altLang="en-US" sz="2000" dirty="0">
                <a:latin typeface="+mn-ea"/>
              </a:rPr>
              <a:t>中未划去的元素再分别计算出各行、各列的最小运费和次最小运费的差额，并填入该表的最右列和最下行。重复第一、二步。直到给出初始解为止。 </a:t>
            </a:r>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14</a:t>
            </a:fld>
            <a:endParaRPr lang="en-US" altLang="zh-CN"/>
          </a:p>
        </p:txBody>
      </p:sp>
      <p:graphicFrame>
        <p:nvGraphicFramePr>
          <p:cNvPr id="5" name="Object 4">
            <a:extLst>
              <a:ext uri="{FF2B5EF4-FFF2-40B4-BE49-F238E27FC236}">
                <a16:creationId xmlns:a16="http://schemas.microsoft.com/office/drawing/2014/main" id="{C240E138-A3B1-42A2-B470-28DFCDB1E0F6}"/>
              </a:ext>
            </a:extLst>
          </p:cNvPr>
          <p:cNvGraphicFramePr>
            <a:graphicFrameLocks noChangeAspect="1"/>
          </p:cNvGraphicFramePr>
          <p:nvPr>
            <p:extLst>
              <p:ext uri="{D42A27DB-BD31-4B8C-83A1-F6EECF244321}">
                <p14:modId xmlns:p14="http://schemas.microsoft.com/office/powerpoint/2010/main" val="2686099537"/>
              </p:ext>
            </p:extLst>
          </p:nvPr>
        </p:nvGraphicFramePr>
        <p:xfrm>
          <a:off x="823913" y="2959100"/>
          <a:ext cx="4041775" cy="1816100"/>
        </p:xfrm>
        <a:graphic>
          <a:graphicData uri="http://schemas.openxmlformats.org/presentationml/2006/ole">
            <mc:AlternateContent xmlns:mc="http://schemas.openxmlformats.org/markup-compatibility/2006">
              <mc:Choice xmlns:v="urn:schemas-microsoft-com:vml" Requires="v">
                <p:oleObj spid="_x0000_s766059" name="Document" r:id="rId3" imgW="3487602" imgH="1379022" progId="Word.Document.8">
                  <p:embed/>
                </p:oleObj>
              </mc:Choice>
              <mc:Fallback>
                <p:oleObj name="Document" r:id="rId3" imgW="3487602" imgH="1379022" progId="Word.Document.8">
                  <p:embed/>
                  <p:pic>
                    <p:nvPicPr>
                      <p:cNvPr id="5" name="Object 4">
                        <a:extLst>
                          <a:ext uri="{FF2B5EF4-FFF2-40B4-BE49-F238E27FC236}">
                            <a16:creationId xmlns:a16="http://schemas.microsoft.com/office/drawing/2014/main" id="{C240E138-A3B1-42A2-B470-28DFCDB1E0F6}"/>
                          </a:ext>
                        </a:extLst>
                      </p:cNvPr>
                      <p:cNvPicPr>
                        <a:picLocks noChangeAspect="1" noChangeArrowheads="1"/>
                      </p:cNvPicPr>
                      <p:nvPr/>
                    </p:nvPicPr>
                    <p:blipFill>
                      <a:blip r:embed="rId4"/>
                      <a:srcRect/>
                      <a:stretch>
                        <a:fillRect/>
                      </a:stretch>
                    </p:blipFill>
                    <p:spPr bwMode="auto">
                      <a:xfrm>
                        <a:off x="823913" y="2959100"/>
                        <a:ext cx="4041775" cy="1816100"/>
                      </a:xfrm>
                      <a:prstGeom prst="rect">
                        <a:avLst/>
                      </a:prstGeom>
                      <a:noFill/>
                      <a:ln>
                        <a:noFill/>
                      </a:ln>
                      <a:effectLst/>
                      <a:extLst/>
                    </p:spPr>
                  </p:pic>
                </p:oleObj>
              </mc:Fallback>
            </mc:AlternateContent>
          </a:graphicData>
        </a:graphic>
      </p:graphicFrame>
      <p:sp>
        <p:nvSpPr>
          <p:cNvPr id="9" name="矩形: 圆角 8">
            <a:extLst>
              <a:ext uri="{FF2B5EF4-FFF2-40B4-BE49-F238E27FC236}">
                <a16:creationId xmlns:a16="http://schemas.microsoft.com/office/drawing/2014/main" id="{20149716-1C9B-4893-90AB-ECE6435C7E90}"/>
              </a:ext>
            </a:extLst>
          </p:cNvPr>
          <p:cNvSpPr/>
          <p:nvPr/>
        </p:nvSpPr>
        <p:spPr bwMode="auto">
          <a:xfrm>
            <a:off x="3419872" y="3501008"/>
            <a:ext cx="216024"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p:txBody>
      </p:sp>
      <p:sp>
        <p:nvSpPr>
          <p:cNvPr id="10" name="Text Box 9">
            <a:extLst>
              <a:ext uri="{FF2B5EF4-FFF2-40B4-BE49-F238E27FC236}">
                <a16:creationId xmlns:a16="http://schemas.microsoft.com/office/drawing/2014/main" id="{E60D096B-98AD-4B1A-93D9-AB955F6F0E86}"/>
              </a:ext>
            </a:extLst>
          </p:cNvPr>
          <p:cNvSpPr txBox="1">
            <a:spLocks noChangeArrowheads="1"/>
          </p:cNvSpPr>
          <p:nvPr/>
        </p:nvSpPr>
        <p:spPr bwMode="auto">
          <a:xfrm>
            <a:off x="2186731" y="2603650"/>
            <a:ext cx="9350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4-11</a:t>
            </a:r>
            <a:endParaRPr lang="zh-CN" altLang="en-US" sz="2000" b="0" dirty="0"/>
          </a:p>
        </p:txBody>
      </p:sp>
      <p:graphicFrame>
        <p:nvGraphicFramePr>
          <p:cNvPr id="11" name="Object 6">
            <a:extLst>
              <a:ext uri="{FF2B5EF4-FFF2-40B4-BE49-F238E27FC236}">
                <a16:creationId xmlns:a16="http://schemas.microsoft.com/office/drawing/2014/main" id="{6DFED7DF-8E12-4DF4-9FFC-259D7F57FEDD}"/>
              </a:ext>
            </a:extLst>
          </p:cNvPr>
          <p:cNvGraphicFramePr>
            <a:graphicFrameLocks noChangeAspect="1"/>
          </p:cNvGraphicFramePr>
          <p:nvPr>
            <p:extLst/>
          </p:nvPr>
        </p:nvGraphicFramePr>
        <p:xfrm>
          <a:off x="4665541" y="2924944"/>
          <a:ext cx="4215226" cy="1852961"/>
        </p:xfrm>
        <a:graphic>
          <a:graphicData uri="http://schemas.openxmlformats.org/presentationml/2006/ole">
            <mc:AlternateContent xmlns:mc="http://schemas.openxmlformats.org/markup-compatibility/2006">
              <mc:Choice xmlns:v="urn:schemas-microsoft-com:vml" Requires="v">
                <p:oleObj spid="_x0000_s766060" name="Document" r:id="rId5" imgW="3253880" imgH="1429844" progId="Word.Document.8">
                  <p:embed/>
                </p:oleObj>
              </mc:Choice>
              <mc:Fallback>
                <p:oleObj name="Document" r:id="rId5" imgW="3253880" imgH="1429844" progId="Word.Document.8">
                  <p:embed/>
                  <p:pic>
                    <p:nvPicPr>
                      <p:cNvPr id="11" name="Object 6">
                        <a:extLst>
                          <a:ext uri="{FF2B5EF4-FFF2-40B4-BE49-F238E27FC236}">
                            <a16:creationId xmlns:a16="http://schemas.microsoft.com/office/drawing/2014/main" id="{6DFED7DF-8E12-4DF4-9FFC-259D7F57FEDD}"/>
                          </a:ext>
                        </a:extLst>
                      </p:cNvPr>
                      <p:cNvPicPr>
                        <a:picLocks noChangeAspect="1" noChangeArrowheads="1"/>
                      </p:cNvPicPr>
                      <p:nvPr/>
                    </p:nvPicPr>
                    <p:blipFill>
                      <a:blip r:embed="rId6"/>
                      <a:srcRect/>
                      <a:stretch>
                        <a:fillRect/>
                      </a:stretch>
                    </p:blipFill>
                    <p:spPr bwMode="auto">
                      <a:xfrm>
                        <a:off x="4665541" y="2924944"/>
                        <a:ext cx="4215226" cy="1852961"/>
                      </a:xfrm>
                      <a:prstGeom prst="rect">
                        <a:avLst/>
                      </a:prstGeom>
                      <a:noFill/>
                      <a:ln>
                        <a:noFill/>
                      </a:ln>
                      <a:effectLst/>
                      <a:extLst/>
                    </p:spPr>
                  </p:pic>
                </p:oleObj>
              </mc:Fallback>
            </mc:AlternateContent>
          </a:graphicData>
        </a:graphic>
      </p:graphicFrame>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5725168" y="2596842"/>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4-12</a:t>
            </a:r>
            <a:endParaRPr lang="zh-CN" altLang="en-US" sz="2000" b="0" dirty="0"/>
          </a:p>
        </p:txBody>
      </p:sp>
      <p:graphicFrame>
        <p:nvGraphicFramePr>
          <p:cNvPr id="13" name="Object 6">
            <a:extLst>
              <a:ext uri="{FF2B5EF4-FFF2-40B4-BE49-F238E27FC236}">
                <a16:creationId xmlns:a16="http://schemas.microsoft.com/office/drawing/2014/main" id="{44E7C315-C25B-4C53-8350-76655C814622}"/>
              </a:ext>
            </a:extLst>
          </p:cNvPr>
          <p:cNvGraphicFramePr>
            <a:graphicFrameLocks noChangeAspect="1"/>
          </p:cNvGraphicFramePr>
          <p:nvPr>
            <p:extLst>
              <p:ext uri="{D42A27DB-BD31-4B8C-83A1-F6EECF244321}">
                <p14:modId xmlns:p14="http://schemas.microsoft.com/office/powerpoint/2010/main" val="692005205"/>
              </p:ext>
            </p:extLst>
          </p:nvPr>
        </p:nvGraphicFramePr>
        <p:xfrm>
          <a:off x="846138" y="4921250"/>
          <a:ext cx="3917950" cy="1614488"/>
        </p:xfrm>
        <a:graphic>
          <a:graphicData uri="http://schemas.openxmlformats.org/presentationml/2006/ole">
            <mc:AlternateContent xmlns:mc="http://schemas.openxmlformats.org/markup-compatibility/2006">
              <mc:Choice xmlns:v="urn:schemas-microsoft-com:vml" Requires="v">
                <p:oleObj spid="_x0000_s766061" name="Document" r:id="rId7" imgW="3355294" imgH="1384429" progId="Word.Document.8">
                  <p:embed/>
                </p:oleObj>
              </mc:Choice>
              <mc:Fallback>
                <p:oleObj name="Document" r:id="rId7" imgW="3355294" imgH="1384429" progId="Word.Document.8">
                  <p:embed/>
                  <p:pic>
                    <p:nvPicPr>
                      <p:cNvPr id="13" name="Object 6">
                        <a:extLst>
                          <a:ext uri="{FF2B5EF4-FFF2-40B4-BE49-F238E27FC236}">
                            <a16:creationId xmlns:a16="http://schemas.microsoft.com/office/drawing/2014/main" id="{44E7C315-C25B-4C53-8350-76655C814622}"/>
                          </a:ext>
                        </a:extLst>
                      </p:cNvPr>
                      <p:cNvPicPr>
                        <a:picLocks noChangeAspect="1" noChangeArrowheads="1"/>
                      </p:cNvPicPr>
                      <p:nvPr/>
                    </p:nvPicPr>
                    <p:blipFill>
                      <a:blip r:embed="rId8"/>
                      <a:srcRect/>
                      <a:stretch>
                        <a:fillRect/>
                      </a:stretch>
                    </p:blipFill>
                    <p:spPr bwMode="auto">
                      <a:xfrm>
                        <a:off x="846138" y="4921250"/>
                        <a:ext cx="3917950" cy="1614488"/>
                      </a:xfrm>
                      <a:prstGeom prst="rect">
                        <a:avLst/>
                      </a:prstGeom>
                      <a:noFill/>
                      <a:ln>
                        <a:noFill/>
                      </a:ln>
                      <a:effectLst/>
                      <a:extLst/>
                    </p:spPr>
                  </p:pic>
                </p:oleObj>
              </mc:Fallback>
            </mc:AlternateContent>
          </a:graphicData>
        </a:graphic>
      </p:graphicFrame>
      <p:sp>
        <p:nvSpPr>
          <p:cNvPr id="14" name="Text Box 9">
            <a:extLst>
              <a:ext uri="{FF2B5EF4-FFF2-40B4-BE49-F238E27FC236}">
                <a16:creationId xmlns:a16="http://schemas.microsoft.com/office/drawing/2014/main" id="{FD241836-9775-42EB-A35F-0C92FFC05F7A}"/>
              </a:ext>
            </a:extLst>
          </p:cNvPr>
          <p:cNvSpPr txBox="1">
            <a:spLocks noChangeArrowheads="1"/>
          </p:cNvSpPr>
          <p:nvPr/>
        </p:nvSpPr>
        <p:spPr bwMode="auto">
          <a:xfrm>
            <a:off x="2195736" y="454105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4-13</a:t>
            </a:r>
            <a:endParaRPr lang="zh-CN" altLang="en-US" sz="2000" b="0" dirty="0"/>
          </a:p>
        </p:txBody>
      </p:sp>
      <p:sp>
        <p:nvSpPr>
          <p:cNvPr id="15" name="文本框 14"/>
          <p:cNvSpPr txBox="1"/>
          <p:nvPr/>
        </p:nvSpPr>
        <p:spPr>
          <a:xfrm>
            <a:off x="7282120" y="3959478"/>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6" name="文本框 15"/>
          <p:cNvSpPr txBox="1"/>
          <p:nvPr/>
        </p:nvSpPr>
        <p:spPr>
          <a:xfrm>
            <a:off x="5859604" y="3725071"/>
            <a:ext cx="458232" cy="261610"/>
          </a:xfrm>
          <a:prstGeom prst="rect">
            <a:avLst/>
          </a:prstGeom>
          <a:noFill/>
        </p:spPr>
        <p:txBody>
          <a:bodyPr wrap="square" lIns="0" tIns="0" rIns="0" bIns="0" rtlCol="0">
            <a:spAutoFit/>
          </a:bodyPr>
          <a:lstStyle/>
          <a:p>
            <a:r>
              <a:rPr lang="en-US" altLang="zh-CN" sz="1700" b="0" dirty="0" smtClean="0">
                <a:latin typeface="+mn-ea"/>
                <a:ea typeface="+mn-ea"/>
              </a:rPr>
              <a:t>3</a:t>
            </a:r>
            <a:endParaRPr lang="zh-CN" altLang="en-US" sz="1700" b="0" dirty="0">
              <a:latin typeface="+mn-ea"/>
              <a:ea typeface="+mn-ea"/>
            </a:endParaRPr>
          </a:p>
        </p:txBody>
      </p:sp>
      <p:sp>
        <p:nvSpPr>
          <p:cNvPr id="17" name="文本框 16"/>
          <p:cNvSpPr txBox="1"/>
          <p:nvPr/>
        </p:nvSpPr>
        <p:spPr>
          <a:xfrm>
            <a:off x="6804248" y="3429000"/>
            <a:ext cx="458232" cy="261610"/>
          </a:xfrm>
          <a:prstGeom prst="rect">
            <a:avLst/>
          </a:prstGeom>
          <a:noFill/>
        </p:spPr>
        <p:txBody>
          <a:bodyPr wrap="square" lIns="0" tIns="0" rIns="0" bIns="0" rtlCol="0">
            <a:spAutoFit/>
          </a:bodyPr>
          <a:lstStyle/>
          <a:p>
            <a:r>
              <a:rPr lang="en-US" altLang="zh-CN" sz="1700" b="0" dirty="0" smtClean="0">
                <a:latin typeface="+mn-ea"/>
                <a:ea typeface="+mn-ea"/>
              </a:rPr>
              <a:t>5</a:t>
            </a:r>
            <a:endParaRPr lang="zh-CN" altLang="en-US" sz="1700" b="0" dirty="0">
              <a:latin typeface="+mn-ea"/>
              <a:ea typeface="+mn-ea"/>
            </a:endParaRPr>
          </a:p>
        </p:txBody>
      </p:sp>
      <p:sp>
        <p:nvSpPr>
          <p:cNvPr id="18" name="文本框 17"/>
          <p:cNvSpPr txBox="1"/>
          <p:nvPr/>
        </p:nvSpPr>
        <p:spPr>
          <a:xfrm>
            <a:off x="7282120" y="3717032"/>
            <a:ext cx="458232" cy="261610"/>
          </a:xfrm>
          <a:prstGeom prst="rect">
            <a:avLst/>
          </a:prstGeom>
          <a:noFill/>
        </p:spPr>
        <p:txBody>
          <a:bodyPr wrap="square" lIns="0" tIns="0" rIns="0" bIns="0" rtlCol="0">
            <a:spAutoFit/>
          </a:bodyPr>
          <a:lstStyle/>
          <a:p>
            <a:r>
              <a:rPr lang="en-US" altLang="zh-CN" sz="1700" b="0" dirty="0" smtClean="0">
                <a:latin typeface="+mn-ea"/>
                <a:ea typeface="+mn-ea"/>
              </a:rPr>
              <a:t>1</a:t>
            </a:r>
            <a:endParaRPr lang="zh-CN" altLang="en-US" sz="1700" b="0" dirty="0">
              <a:latin typeface="+mn-ea"/>
              <a:ea typeface="+mn-ea"/>
            </a:endParaRPr>
          </a:p>
        </p:txBody>
      </p:sp>
      <p:sp>
        <p:nvSpPr>
          <p:cNvPr id="19" name="文本框 18"/>
          <p:cNvSpPr txBox="1"/>
          <p:nvPr/>
        </p:nvSpPr>
        <p:spPr>
          <a:xfrm>
            <a:off x="7282120" y="3429000"/>
            <a:ext cx="458232" cy="261610"/>
          </a:xfrm>
          <a:prstGeom prst="rect">
            <a:avLst/>
          </a:prstGeom>
          <a:noFill/>
        </p:spPr>
        <p:txBody>
          <a:bodyPr wrap="square" lIns="0" tIns="0" rIns="0" bIns="0" rtlCol="0">
            <a:spAutoFit/>
          </a:bodyPr>
          <a:lstStyle/>
          <a:p>
            <a:r>
              <a:rPr lang="en-US" altLang="zh-CN" sz="1700" b="0" dirty="0" smtClean="0">
                <a:latin typeface="+mn-ea"/>
                <a:ea typeface="+mn-ea"/>
              </a:rPr>
              <a:t>2</a:t>
            </a:r>
            <a:endParaRPr lang="zh-CN" altLang="en-US" sz="1700" b="0" dirty="0">
              <a:latin typeface="+mn-ea"/>
              <a:ea typeface="+mn-ea"/>
            </a:endParaRPr>
          </a:p>
        </p:txBody>
      </p:sp>
    </p:spTree>
    <p:extLst>
      <p:ext uri="{BB962C8B-B14F-4D97-AF65-F5344CB8AC3E}">
        <p14:creationId xmlns:p14="http://schemas.microsoft.com/office/powerpoint/2010/main" val="3218099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4.2.1  </a:t>
            </a:r>
            <a:r>
              <a:rPr lang="zh-CN" altLang="en-US" dirty="0">
                <a:latin typeface="宋体" panose="02010600030101010101" pitchFamily="2" charset="-122"/>
              </a:rPr>
              <a:t>确定初始基可行解</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107504" y="1034062"/>
            <a:ext cx="8629242" cy="4114800"/>
          </a:xfrm>
        </p:spPr>
        <p:txBody>
          <a:bodyPr/>
          <a:lstStyle/>
          <a:p>
            <a:r>
              <a:rPr lang="en-US" altLang="zh-CN" dirty="0" smtClean="0"/>
              <a:t>3.  </a:t>
            </a:r>
            <a:r>
              <a:rPr lang="zh-CN" altLang="en-US" dirty="0" smtClean="0"/>
              <a:t>伏格尔法</a:t>
            </a:r>
            <a:endParaRPr lang="zh-CN" altLang="en-US" dirty="0"/>
          </a:p>
          <a:p>
            <a:pPr lvl="1"/>
            <a:r>
              <a:rPr lang="zh-CN" altLang="en-US" sz="2000" dirty="0" smtClean="0">
                <a:latin typeface="+mn-ea"/>
                <a:ea typeface="+mn-ea"/>
              </a:rPr>
              <a:t>用</a:t>
            </a:r>
            <a:r>
              <a:rPr lang="zh-CN" altLang="en-US" sz="2000" dirty="0">
                <a:latin typeface="+mn-ea"/>
                <a:ea typeface="+mn-ea"/>
              </a:rPr>
              <a:t>此法给出例</a:t>
            </a:r>
            <a:r>
              <a:rPr lang="en-US" altLang="zh-CN" sz="2000" dirty="0">
                <a:latin typeface="+mn-ea"/>
                <a:ea typeface="+mn-ea"/>
              </a:rPr>
              <a:t>1</a:t>
            </a:r>
            <a:r>
              <a:rPr lang="zh-CN" altLang="en-US" sz="2000" dirty="0">
                <a:latin typeface="+mn-ea"/>
                <a:ea typeface="+mn-ea"/>
              </a:rPr>
              <a:t>的初始解列于表</a:t>
            </a:r>
            <a:r>
              <a:rPr lang="en-US" altLang="zh-CN" sz="2000" dirty="0">
                <a:latin typeface="+mn-ea"/>
                <a:ea typeface="+mn-ea"/>
              </a:rPr>
              <a:t>4-14</a:t>
            </a:r>
            <a:r>
              <a:rPr lang="zh-CN" altLang="en-US" sz="2000" dirty="0">
                <a:latin typeface="+mn-ea"/>
                <a:ea typeface="+mn-ea"/>
              </a:rPr>
              <a:t>。</a:t>
            </a:r>
          </a:p>
          <a:p>
            <a:pPr lvl="1"/>
            <a:endParaRPr lang="zh-CN" altLang="en-US" dirty="0"/>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15</a:t>
            </a:fld>
            <a:endParaRPr lang="en-US" altLang="zh-CN"/>
          </a:p>
        </p:txBody>
      </p:sp>
      <p:sp>
        <p:nvSpPr>
          <p:cNvPr id="12" name="Text Box 9">
            <a:extLst>
              <a:ext uri="{FF2B5EF4-FFF2-40B4-BE49-F238E27FC236}">
                <a16:creationId xmlns:a16="http://schemas.microsoft.com/office/drawing/2014/main" id="{418AA1C1-D470-4A9E-AB72-27476BD4D611}"/>
              </a:ext>
            </a:extLst>
          </p:cNvPr>
          <p:cNvSpPr txBox="1">
            <a:spLocks noChangeArrowheads="1"/>
          </p:cNvSpPr>
          <p:nvPr/>
        </p:nvSpPr>
        <p:spPr bwMode="auto">
          <a:xfrm>
            <a:off x="3684135" y="2420888"/>
            <a:ext cx="9541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ClrTx/>
              <a:buSzTx/>
              <a:buFontTx/>
              <a:buNone/>
            </a:pPr>
            <a:r>
              <a:rPr kumimoji="1" lang="zh-CN" altLang="en-US" sz="2000" b="0" dirty="0"/>
              <a:t>表</a:t>
            </a:r>
            <a:r>
              <a:rPr kumimoji="1" lang="en-US" altLang="zh-CN" sz="2000" b="0" dirty="0"/>
              <a:t>4-14</a:t>
            </a:r>
            <a:endParaRPr lang="zh-CN" altLang="en-US" sz="2000" b="0" dirty="0"/>
          </a:p>
        </p:txBody>
      </p:sp>
      <p:pic>
        <p:nvPicPr>
          <p:cNvPr id="15" name="图片 14">
            <a:extLst>
              <a:ext uri="{FF2B5EF4-FFF2-40B4-BE49-F238E27FC236}">
                <a16:creationId xmlns:a16="http://schemas.microsoft.com/office/drawing/2014/main" id="{5BCBA5F8-FCE7-4F32-A8A6-563BAAF4F1EB}"/>
              </a:ext>
            </a:extLst>
          </p:cNvPr>
          <p:cNvPicPr>
            <a:picLocks noChangeAspect="1"/>
          </p:cNvPicPr>
          <p:nvPr/>
        </p:nvPicPr>
        <p:blipFill>
          <a:blip r:embed="rId2"/>
          <a:stretch>
            <a:fillRect/>
          </a:stretch>
        </p:blipFill>
        <p:spPr>
          <a:xfrm>
            <a:off x="495806" y="1916832"/>
            <a:ext cx="7852638" cy="4636368"/>
          </a:xfrm>
          <a:prstGeom prst="rect">
            <a:avLst/>
          </a:prstGeom>
        </p:spPr>
      </p:pic>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E090FDA5-ED8C-47DD-A6C5-C0B7541BCB3B}"/>
                  </a:ext>
                </a:extLst>
              </p:cNvPr>
              <p:cNvSpPr/>
              <p:nvPr/>
            </p:nvSpPr>
            <p:spPr>
              <a:xfrm>
                <a:off x="5319987" y="5249474"/>
                <a:ext cx="3824013" cy="1060868"/>
              </a:xfrm>
              <a:prstGeom prst="rect">
                <a:avLst/>
              </a:prstGeom>
            </p:spPr>
            <p:txBody>
              <a:bodyPr wrap="square">
                <a:spAutoFit/>
              </a:bodyPr>
              <a:lstStyle/>
              <a:p>
                <a14:m>
                  <m:oMath xmlns:m="http://schemas.openxmlformats.org/officeDocument/2006/math">
                    <m:r>
                      <a:rPr lang="zh-CN" altLang="en-US" sz="2000" smtClean="0">
                        <a:latin typeface="Cambria Math" panose="02040503050406030204" pitchFamily="18" charset="0"/>
                      </a:rPr>
                      <m:t>总运费</m:t>
                    </m:r>
                    <m:r>
                      <a:rPr lang="zh-CN" altLang="en-US" sz="2000" smtClean="0">
                        <a:latin typeface="Cambria Math" panose="02040503050406030204" pitchFamily="18" charset="0"/>
                      </a:rPr>
                      <m:t>=</m:t>
                    </m:r>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a:latin typeface="Cambria Math" panose="02040503050406030204" pitchFamily="18" charset="0"/>
                          </a:rPr>
                          <m:t>=1</m:t>
                        </m:r>
                      </m:sub>
                      <m:sup>
                        <m:r>
                          <a:rPr lang="zh-CN" altLang="en-US" sz="2000">
                            <a:latin typeface="Cambria Math" panose="02040503050406030204" pitchFamily="18" charset="0"/>
                          </a:rPr>
                          <m:t>3</m:t>
                        </m:r>
                      </m:sup>
                      <m:e>
                        <m:nary>
                          <m:naryPr>
                            <m:chr m:val="∑"/>
                            <m:limLoc m:val="undOvr"/>
                            <m:ctrlPr>
                              <a:rPr lang="zh-CN" altLang="en-US" sz="2000" i="1">
                                <a:latin typeface="Cambria Math" panose="02040503050406030204" pitchFamily="18" charset="0"/>
                              </a:rPr>
                            </m:ctrlPr>
                          </m:naryPr>
                          <m:sub>
                            <m:r>
                              <a:rPr lang="zh-CN" altLang="en-US" sz="2000" i="1">
                                <a:latin typeface="Cambria Math" panose="02040503050406030204" pitchFamily="18" charset="0"/>
                              </a:rPr>
                              <m:t>𝑗</m:t>
                            </m:r>
                            <m:r>
                              <a:rPr lang="zh-CN" altLang="en-US" sz="2000">
                                <a:latin typeface="Cambria Math" panose="02040503050406030204" pitchFamily="18" charset="0"/>
                              </a:rPr>
                              <m:t>=1</m:t>
                            </m:r>
                          </m:sub>
                          <m:sup>
                            <m:r>
                              <a:rPr lang="zh-CN" altLang="en-US" sz="2000">
                                <a:latin typeface="Cambria Math" panose="02040503050406030204" pitchFamily="18" charset="0"/>
                              </a:rPr>
                              <m:t>4</m:t>
                            </m:r>
                          </m:sup>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𝑐</m:t>
                                </m:r>
                              </m:e>
                              <m:sub>
                                <m:r>
                                  <a:rPr lang="zh-CN" altLang="en-US" sz="2000" i="1">
                                    <a:latin typeface="Cambria Math" panose="02040503050406030204" pitchFamily="18" charset="0"/>
                                  </a:rPr>
                                  <m:t>𝑖𝑗</m:t>
                                </m:r>
                              </m:sub>
                            </m:sSub>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𝑖𝑗</m:t>
                                </m:r>
                              </m:sub>
                            </m:sSub>
                          </m:e>
                        </m:nary>
                      </m:e>
                    </m:nary>
                    <m:r>
                      <a:rPr lang="zh-CN" altLang="en-US" sz="2000">
                        <a:latin typeface="Cambria Math" panose="02040503050406030204" pitchFamily="18" charset="0"/>
                      </a:rPr>
                      <m:t>=1×3+4×6+3×</m:t>
                    </m:r>
                    <m:r>
                      <a:rPr lang="en-US" altLang="zh-CN" sz="2000" b="1" i="0" smtClean="0">
                        <a:latin typeface="Cambria Math" panose="02040503050406030204" pitchFamily="18" charset="0"/>
                      </a:rPr>
                      <m:t>𝟓</m:t>
                    </m:r>
                    <m:r>
                      <a:rPr lang="zh-CN" altLang="en-US" sz="2000">
                        <a:latin typeface="Cambria Math" panose="02040503050406030204" pitchFamily="18" charset="0"/>
                      </a:rPr>
                      <m:t>+10×</m:t>
                    </m:r>
                    <m:r>
                      <a:rPr lang="en-US" altLang="zh-CN" sz="2000" b="1" i="0" smtClean="0">
                        <a:latin typeface="Cambria Math" panose="02040503050406030204" pitchFamily="18" charset="0"/>
                      </a:rPr>
                      <m:t>𝟐</m:t>
                    </m:r>
                    <m:r>
                      <a:rPr lang="zh-CN" altLang="en-US" sz="2000">
                        <a:latin typeface="Cambria Math" panose="02040503050406030204" pitchFamily="18" charset="0"/>
                      </a:rPr>
                      <m:t>+</m:t>
                    </m:r>
                    <m:r>
                      <a:rPr lang="en-US" altLang="zh-CN" sz="2000" b="1" i="0" smtClean="0">
                        <a:latin typeface="Cambria Math" panose="02040503050406030204" pitchFamily="18" charset="0"/>
                      </a:rPr>
                      <m:t>𝟖</m:t>
                    </m:r>
                    <m:r>
                      <a:rPr lang="zh-CN" altLang="en-US" sz="2000">
                        <a:latin typeface="Cambria Math" panose="02040503050406030204" pitchFamily="18" charset="0"/>
                      </a:rPr>
                      <m:t>×</m:t>
                    </m:r>
                    <m:r>
                      <a:rPr lang="en-US" altLang="zh-CN" sz="2000" b="1" i="0" smtClean="0">
                        <a:latin typeface="Cambria Math" panose="02040503050406030204" pitchFamily="18" charset="0"/>
                      </a:rPr>
                      <m:t>𝟏</m:t>
                    </m:r>
                    <m:r>
                      <a:rPr lang="en-US" altLang="zh-CN" sz="2000" b="1" i="0" smtClean="0">
                        <a:latin typeface="Cambria Math" panose="02040503050406030204" pitchFamily="18" charset="0"/>
                      </a:rPr>
                      <m:t>+</m:t>
                    </m:r>
                    <m:r>
                      <a:rPr lang="zh-CN" altLang="en-US" sz="2000">
                        <a:latin typeface="Cambria Math" panose="02040503050406030204" pitchFamily="18" charset="0"/>
                      </a:rPr>
                      <m:t>5×3=8</m:t>
                    </m:r>
                    <m:r>
                      <a:rPr lang="en-US" altLang="zh-CN" sz="2000" b="1" i="0" smtClean="0">
                        <a:latin typeface="Cambria Math" panose="02040503050406030204" pitchFamily="18" charset="0"/>
                      </a:rPr>
                      <m:t>𝟓</m:t>
                    </m:r>
                    <m:r>
                      <a:rPr lang="zh-CN" altLang="en-US" sz="2000">
                        <a:latin typeface="Cambria Math" panose="02040503050406030204" pitchFamily="18" charset="0"/>
                      </a:rPr>
                      <m:t>（元）</m:t>
                    </m:r>
                  </m:oMath>
                </a14:m>
                <a:endParaRPr lang="zh-CN" altLang="en-US" sz="2000" dirty="0"/>
              </a:p>
            </p:txBody>
          </p:sp>
        </mc:Choice>
        <mc:Fallback xmlns="">
          <p:sp>
            <p:nvSpPr>
              <p:cNvPr id="8" name="矩形 7">
                <a:extLst>
                  <a:ext uri="{FF2B5EF4-FFF2-40B4-BE49-F238E27FC236}">
                    <a16:creationId xmlns:a16="http://schemas.microsoft.com/office/drawing/2014/main" id="{E090FDA5-ED8C-47DD-A6C5-C0B7541BCB3B}"/>
                  </a:ext>
                </a:extLst>
              </p:cNvPr>
              <p:cNvSpPr>
                <a:spLocks noRot="1" noChangeAspect="1" noMove="1" noResize="1" noEditPoints="1" noAdjustHandles="1" noChangeArrowheads="1" noChangeShapeType="1" noTextEdit="1"/>
              </p:cNvSpPr>
              <p:nvPr/>
            </p:nvSpPr>
            <p:spPr>
              <a:xfrm>
                <a:off x="5319987" y="5249474"/>
                <a:ext cx="3824013" cy="1060868"/>
              </a:xfrm>
              <a:prstGeom prst="rect">
                <a:avLst/>
              </a:prstGeom>
              <a:blipFill>
                <a:blip r:embed="rId3"/>
                <a:stretch>
                  <a:fillRect l="-1435" t="-44828" b="-862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4903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4.2.2  </a:t>
            </a:r>
            <a:r>
              <a:rPr lang="zh-CN" altLang="en-US" dirty="0">
                <a:latin typeface="宋体" panose="02010600030101010101" pitchFamily="2" charset="-122"/>
              </a:rPr>
              <a:t>最优解的判别</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395536" y="1340768"/>
            <a:ext cx="8352928" cy="4176464"/>
          </a:xfrm>
        </p:spPr>
        <p:txBody>
          <a:bodyPr/>
          <a:lstStyle/>
          <a:p>
            <a:pPr>
              <a:lnSpc>
                <a:spcPct val="110000"/>
              </a:lnSpc>
            </a:pPr>
            <a:r>
              <a:rPr lang="zh-CN" altLang="en-US" dirty="0">
                <a:latin typeface="+mn-ea"/>
              </a:rPr>
              <a:t>判别的方法是计算空格</a:t>
            </a:r>
            <a:r>
              <a:rPr lang="en-US" altLang="zh-CN" dirty="0">
                <a:latin typeface="+mn-ea"/>
              </a:rPr>
              <a:t>(</a:t>
            </a:r>
            <a:r>
              <a:rPr lang="zh-CN" altLang="en-US" dirty="0">
                <a:latin typeface="+mn-ea"/>
              </a:rPr>
              <a:t>非基变量</a:t>
            </a:r>
            <a:r>
              <a:rPr lang="en-US" altLang="zh-CN" dirty="0">
                <a:latin typeface="+mn-ea"/>
              </a:rPr>
              <a:t>)</a:t>
            </a:r>
            <a:r>
              <a:rPr lang="zh-CN" altLang="en-US" dirty="0">
                <a:latin typeface="+mn-ea"/>
              </a:rPr>
              <a:t>的检验数</a:t>
            </a:r>
            <a:r>
              <a:rPr lang="en-US" altLang="zh-CN" i="1" dirty="0"/>
              <a:t>c</a:t>
            </a:r>
            <a:r>
              <a:rPr lang="en-US" altLang="zh-CN" i="1" baseline="-30000" dirty="0"/>
              <a:t>ij</a:t>
            </a:r>
            <a:r>
              <a:rPr lang="en-US" altLang="zh-CN" dirty="0"/>
              <a:t>−</a:t>
            </a:r>
            <a:r>
              <a:rPr lang="en-US" altLang="zh-CN" i="1" dirty="0"/>
              <a:t>C</a:t>
            </a:r>
            <a:r>
              <a:rPr lang="en-US" altLang="zh-CN" i="1" baseline="-30000" dirty="0"/>
              <a:t>B</a:t>
            </a:r>
            <a:r>
              <a:rPr lang="en-US" altLang="zh-CN" i="1" dirty="0"/>
              <a:t>B</a:t>
            </a:r>
            <a:r>
              <a:rPr lang="en-US" altLang="zh-CN" baseline="30000" dirty="0"/>
              <a:t>-1</a:t>
            </a:r>
            <a:r>
              <a:rPr lang="en-US" altLang="zh-CN" i="1" dirty="0"/>
              <a:t>P</a:t>
            </a:r>
            <a:r>
              <a:rPr lang="en-US" altLang="zh-CN" i="1" baseline="-30000" dirty="0"/>
              <a:t>ij</a:t>
            </a:r>
            <a:r>
              <a:rPr lang="zh-CN" altLang="en-US" dirty="0">
                <a:latin typeface="+mn-ea"/>
              </a:rPr>
              <a:t>，</a:t>
            </a:r>
            <a:r>
              <a:rPr lang="en-US" altLang="zh-CN" i="1" dirty="0" err="1"/>
              <a:t>i</a:t>
            </a:r>
            <a:r>
              <a:rPr lang="en-US" altLang="zh-CN" dirty="0" err="1"/>
              <a:t>,</a:t>
            </a:r>
            <a:r>
              <a:rPr lang="en-US" altLang="zh-CN" i="1" dirty="0" err="1"/>
              <a:t>j</a:t>
            </a:r>
            <a:r>
              <a:rPr lang="en-US" altLang="zh-CN" dirty="0" err="1"/>
              <a:t>∈</a:t>
            </a:r>
            <a:r>
              <a:rPr lang="en-US" altLang="zh-CN" i="1" dirty="0" err="1"/>
              <a:t>N</a:t>
            </a:r>
            <a:r>
              <a:rPr lang="zh-CN" altLang="en-US" dirty="0">
                <a:latin typeface="+mn-ea"/>
              </a:rPr>
              <a:t>。因运输问题的目标函数是要求实现最小化，故当所有的</a:t>
            </a:r>
            <a:r>
              <a:rPr lang="en-US" altLang="zh-CN" i="1" dirty="0"/>
              <a:t>c</a:t>
            </a:r>
            <a:r>
              <a:rPr lang="en-US" altLang="zh-CN" i="1" baseline="-30000" dirty="0"/>
              <a:t>ij</a:t>
            </a:r>
            <a:r>
              <a:rPr lang="en-US" altLang="zh-CN" dirty="0"/>
              <a:t>−</a:t>
            </a:r>
            <a:r>
              <a:rPr lang="en-US" altLang="zh-CN" i="1" dirty="0"/>
              <a:t>C</a:t>
            </a:r>
            <a:r>
              <a:rPr lang="en-US" altLang="zh-CN" i="1" baseline="-30000" dirty="0"/>
              <a:t>B</a:t>
            </a:r>
            <a:r>
              <a:rPr lang="en-US" altLang="zh-CN" i="1" dirty="0"/>
              <a:t>B</a:t>
            </a:r>
            <a:r>
              <a:rPr lang="en-US" altLang="zh-CN" baseline="30000" dirty="0"/>
              <a:t>-1</a:t>
            </a:r>
            <a:r>
              <a:rPr lang="en-US" altLang="zh-CN" i="1" dirty="0"/>
              <a:t>P</a:t>
            </a:r>
            <a:r>
              <a:rPr lang="en-US" altLang="zh-CN" i="1" baseline="-30000" dirty="0"/>
              <a:t>ij</a:t>
            </a:r>
            <a:r>
              <a:rPr lang="en-US" altLang="zh-CN" dirty="0"/>
              <a:t>≥0</a:t>
            </a:r>
            <a:r>
              <a:rPr lang="zh-CN" altLang="en-US" dirty="0">
                <a:latin typeface="+mn-ea"/>
              </a:rPr>
              <a:t>时，为最优解。</a:t>
            </a:r>
            <a:endParaRPr lang="en-US" altLang="zh-CN" dirty="0">
              <a:latin typeface="+mn-ea"/>
            </a:endParaRPr>
          </a:p>
          <a:p>
            <a:pPr>
              <a:lnSpc>
                <a:spcPct val="110000"/>
              </a:lnSpc>
            </a:pPr>
            <a:r>
              <a:rPr lang="zh-CN" altLang="en-US" dirty="0">
                <a:latin typeface="+mn-ea"/>
              </a:rPr>
              <a:t>下面介绍两种求空格检验数的方法。 </a:t>
            </a:r>
            <a:endParaRPr lang="en-US" altLang="zh-CN" dirty="0">
              <a:latin typeface="+mn-ea"/>
            </a:endParaRPr>
          </a:p>
          <a:p>
            <a:pPr lvl="1">
              <a:lnSpc>
                <a:spcPct val="110000"/>
              </a:lnSpc>
            </a:pPr>
            <a:r>
              <a:rPr lang="en-US" altLang="zh-CN" sz="2000" dirty="0">
                <a:latin typeface="+mn-ea"/>
                <a:ea typeface="+mn-ea"/>
              </a:rPr>
              <a:t>1.</a:t>
            </a:r>
            <a:r>
              <a:rPr lang="zh-CN" altLang="en-US" sz="2000" dirty="0">
                <a:latin typeface="+mn-ea"/>
                <a:ea typeface="+mn-ea"/>
              </a:rPr>
              <a:t>闭回路</a:t>
            </a:r>
            <a:r>
              <a:rPr lang="zh-CN" altLang="en-US" sz="2000" dirty="0" smtClean="0">
                <a:latin typeface="+mn-ea"/>
                <a:ea typeface="+mn-ea"/>
              </a:rPr>
              <a:t>法</a:t>
            </a:r>
            <a:endParaRPr lang="en-US" altLang="zh-CN" sz="2000" dirty="0">
              <a:latin typeface="+mn-ea"/>
              <a:ea typeface="+mn-ea"/>
            </a:endParaRPr>
          </a:p>
          <a:p>
            <a:pPr lvl="1">
              <a:lnSpc>
                <a:spcPct val="110000"/>
              </a:lnSpc>
            </a:pPr>
            <a:r>
              <a:rPr lang="en-US" altLang="zh-CN" sz="2000" dirty="0">
                <a:latin typeface="+mn-ea"/>
                <a:ea typeface="+mn-ea"/>
              </a:rPr>
              <a:t>2.</a:t>
            </a:r>
            <a:r>
              <a:rPr lang="zh-CN" altLang="en-US" sz="2000" dirty="0">
                <a:latin typeface="+mn-ea"/>
                <a:ea typeface="+mn-ea"/>
              </a:rPr>
              <a:t>位势法</a:t>
            </a:r>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16</a:t>
            </a:fld>
            <a:endParaRPr lang="en-US" altLang="zh-CN"/>
          </a:p>
        </p:txBody>
      </p:sp>
    </p:spTree>
    <p:extLst>
      <p:ext uri="{BB962C8B-B14F-4D97-AF65-F5344CB8AC3E}">
        <p14:creationId xmlns:p14="http://schemas.microsoft.com/office/powerpoint/2010/main" val="2596845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4.2.2  </a:t>
            </a:r>
            <a:r>
              <a:rPr lang="zh-CN" altLang="en-US" dirty="0">
                <a:latin typeface="宋体" panose="02010600030101010101" pitchFamily="2" charset="-122"/>
              </a:rPr>
              <a:t>最优解的判别</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a:t>2. </a:t>
            </a:r>
            <a:r>
              <a:rPr lang="zh-CN" altLang="en-US" dirty="0"/>
              <a:t>位势法</a:t>
            </a:r>
          </a:p>
          <a:p>
            <a:pPr lvl="1"/>
            <a:r>
              <a:rPr lang="zh-CN" altLang="en-US" sz="2000" dirty="0">
                <a:latin typeface="+mn-ea"/>
                <a:ea typeface="+mn-ea"/>
              </a:rPr>
              <a:t>用闭回路法求检验数时，需给每一空格找一条闭回路。当产销点很多时，这种计算很繁。下面介绍较为简便的方法</a:t>
            </a:r>
            <a:r>
              <a:rPr lang="en-US" altLang="zh-CN" sz="2000" dirty="0">
                <a:latin typeface="+mn-ea"/>
                <a:ea typeface="+mn-ea"/>
              </a:rPr>
              <a:t>——</a:t>
            </a:r>
            <a:r>
              <a:rPr lang="zh-CN" altLang="en-US" sz="2000" dirty="0">
                <a:latin typeface="+mn-ea"/>
                <a:ea typeface="+mn-ea"/>
              </a:rPr>
              <a:t>位势法。</a:t>
            </a:r>
            <a:endParaRPr lang="en-US" altLang="zh-CN" sz="2000" dirty="0">
              <a:latin typeface="+mn-ea"/>
              <a:ea typeface="+mn-ea"/>
            </a:endParaRPr>
          </a:p>
          <a:p>
            <a:pPr lvl="1"/>
            <a:r>
              <a:rPr lang="zh-CN" altLang="en-US" sz="2000" dirty="0">
                <a:latin typeface="+mn-ea"/>
                <a:ea typeface="+mn-ea"/>
              </a:rPr>
              <a:t>设</a:t>
            </a:r>
            <a:r>
              <a:rPr lang="en-US" altLang="zh-CN" sz="2000" i="1" dirty="0">
                <a:ea typeface="+mn-ea"/>
              </a:rPr>
              <a:t>u</a:t>
            </a:r>
            <a:r>
              <a:rPr lang="en-US" altLang="zh-CN" sz="2000" baseline="-30000" dirty="0">
                <a:ea typeface="+mn-ea"/>
              </a:rPr>
              <a:t>1</a:t>
            </a:r>
            <a:r>
              <a:rPr lang="zh-CN" altLang="en-US" sz="2000" dirty="0">
                <a:ea typeface="+mn-ea"/>
              </a:rPr>
              <a:t>，</a:t>
            </a:r>
            <a:r>
              <a:rPr lang="en-US" altLang="zh-CN" sz="2000" i="1" dirty="0">
                <a:ea typeface="+mn-ea"/>
              </a:rPr>
              <a:t>u</a:t>
            </a:r>
            <a:r>
              <a:rPr lang="en-US" altLang="zh-CN" sz="2000" baseline="-30000" dirty="0">
                <a:ea typeface="+mn-ea"/>
              </a:rPr>
              <a:t>2</a:t>
            </a:r>
            <a:r>
              <a:rPr lang="zh-CN" altLang="en-US" sz="2000" dirty="0">
                <a:ea typeface="+mn-ea"/>
              </a:rPr>
              <a:t>，</a:t>
            </a:r>
            <a:r>
              <a:rPr lang="en-US" altLang="zh-CN" sz="2000" dirty="0">
                <a:ea typeface="+mn-ea"/>
              </a:rPr>
              <a:t>…</a:t>
            </a:r>
            <a:r>
              <a:rPr lang="zh-CN" altLang="en-US" sz="2000" dirty="0">
                <a:ea typeface="+mn-ea"/>
              </a:rPr>
              <a:t>，</a:t>
            </a:r>
            <a:r>
              <a:rPr lang="en-US" altLang="zh-CN" sz="2000" i="1" dirty="0">
                <a:ea typeface="+mn-ea"/>
              </a:rPr>
              <a:t>u</a:t>
            </a:r>
            <a:r>
              <a:rPr lang="en-US" altLang="zh-CN" sz="2000" i="1" baseline="-30000" dirty="0">
                <a:ea typeface="+mn-ea"/>
              </a:rPr>
              <a:t>m</a:t>
            </a:r>
            <a:r>
              <a:rPr lang="en-US" altLang="zh-CN" sz="2000" dirty="0">
                <a:ea typeface="+mn-ea"/>
              </a:rPr>
              <a:t>;</a:t>
            </a:r>
            <a:r>
              <a:rPr lang="en-US" altLang="zh-CN" sz="2000" i="1" dirty="0">
                <a:ea typeface="+mn-ea"/>
              </a:rPr>
              <a:t>v</a:t>
            </a:r>
            <a:r>
              <a:rPr lang="en-US" altLang="zh-CN" sz="2000" baseline="-30000" dirty="0">
                <a:ea typeface="+mn-ea"/>
              </a:rPr>
              <a:t>1</a:t>
            </a:r>
            <a:r>
              <a:rPr lang="zh-CN" altLang="en-US" sz="2000" dirty="0">
                <a:ea typeface="+mn-ea"/>
              </a:rPr>
              <a:t>，</a:t>
            </a:r>
            <a:r>
              <a:rPr lang="en-US" altLang="zh-CN" sz="2000" i="1" dirty="0">
                <a:ea typeface="+mn-ea"/>
              </a:rPr>
              <a:t>v</a:t>
            </a:r>
            <a:r>
              <a:rPr lang="en-US" altLang="zh-CN" sz="2000" baseline="-30000" dirty="0">
                <a:ea typeface="+mn-ea"/>
              </a:rPr>
              <a:t>2</a:t>
            </a:r>
            <a:r>
              <a:rPr lang="zh-CN" altLang="en-US" sz="2000" dirty="0">
                <a:ea typeface="+mn-ea"/>
              </a:rPr>
              <a:t>，</a:t>
            </a:r>
            <a:r>
              <a:rPr lang="en-US" altLang="zh-CN" sz="2000" dirty="0">
                <a:ea typeface="+mn-ea"/>
              </a:rPr>
              <a:t>…</a:t>
            </a:r>
            <a:r>
              <a:rPr lang="zh-CN" altLang="en-US" sz="2000" dirty="0">
                <a:ea typeface="+mn-ea"/>
              </a:rPr>
              <a:t>，</a:t>
            </a:r>
            <a:r>
              <a:rPr lang="en-US" altLang="zh-CN" sz="2000" i="1" dirty="0" err="1">
                <a:ea typeface="+mn-ea"/>
              </a:rPr>
              <a:t>v</a:t>
            </a:r>
            <a:r>
              <a:rPr lang="en-US" altLang="zh-CN" sz="2000" i="1" baseline="-30000" dirty="0" err="1">
                <a:ea typeface="+mn-ea"/>
              </a:rPr>
              <a:t>n</a:t>
            </a:r>
            <a:r>
              <a:rPr lang="zh-CN" altLang="en-US" sz="2000" dirty="0">
                <a:latin typeface="+mn-ea"/>
                <a:ea typeface="+mn-ea"/>
              </a:rPr>
              <a:t>是</a:t>
            </a:r>
            <a:r>
              <a:rPr lang="zh-CN" altLang="en-US" sz="2000" dirty="0" smtClean="0">
                <a:latin typeface="+mn-ea"/>
                <a:ea typeface="+mn-ea"/>
              </a:rPr>
              <a:t>对应运输问题的</a:t>
            </a:r>
            <a:r>
              <a:rPr lang="en-US" altLang="zh-CN" sz="2000" i="1" dirty="0" err="1" smtClean="0">
                <a:solidFill>
                  <a:srgbClr val="FF0000"/>
                </a:solidFill>
                <a:ea typeface="+mn-ea"/>
              </a:rPr>
              <a:t>m+n</a:t>
            </a:r>
            <a:r>
              <a:rPr lang="zh-CN" altLang="en-US" sz="2000" dirty="0" smtClean="0">
                <a:solidFill>
                  <a:srgbClr val="FF0000"/>
                </a:solidFill>
                <a:latin typeface="+mn-ea"/>
                <a:ea typeface="+mn-ea"/>
              </a:rPr>
              <a:t>个约束条件的</a:t>
            </a:r>
            <a:r>
              <a:rPr lang="zh-CN" altLang="en-US" sz="2000" dirty="0">
                <a:solidFill>
                  <a:srgbClr val="FF0000"/>
                </a:solidFill>
                <a:latin typeface="+mn-ea"/>
                <a:ea typeface="+mn-ea"/>
              </a:rPr>
              <a:t>对偶变量</a:t>
            </a:r>
            <a:r>
              <a:rPr lang="zh-CN" altLang="en-US" sz="2000" dirty="0">
                <a:latin typeface="+mn-ea"/>
                <a:ea typeface="+mn-ea"/>
              </a:rPr>
              <a:t>。</a:t>
            </a:r>
            <a:r>
              <a:rPr lang="en-US" altLang="zh-CN" sz="2000" i="1" dirty="0">
                <a:latin typeface="+mn-ea"/>
                <a:ea typeface="+mn-ea"/>
              </a:rPr>
              <a:t>B</a:t>
            </a:r>
            <a:r>
              <a:rPr lang="zh-CN" altLang="en-US" sz="2000" dirty="0">
                <a:latin typeface="+mn-ea"/>
                <a:ea typeface="+mn-ea"/>
              </a:rPr>
              <a:t>是含有一个人工变量</a:t>
            </a:r>
            <a:r>
              <a:rPr lang="en-US" altLang="zh-CN" sz="2000" i="1" dirty="0" err="1">
                <a:ea typeface="+mn-ea"/>
              </a:rPr>
              <a:t>x</a:t>
            </a:r>
            <a:r>
              <a:rPr lang="en-US" altLang="zh-CN" sz="2000" i="1" baseline="-30000" dirty="0" err="1">
                <a:ea typeface="+mn-ea"/>
              </a:rPr>
              <a:t>a</a:t>
            </a:r>
            <a:r>
              <a:rPr lang="zh-CN" altLang="en-US" sz="2000" dirty="0">
                <a:latin typeface="+mn-ea"/>
                <a:ea typeface="+mn-ea"/>
              </a:rPr>
              <a:t>的</a:t>
            </a:r>
            <a:r>
              <a:rPr lang="en-US" altLang="zh-CN" sz="2000" dirty="0">
                <a:latin typeface="+mn-ea"/>
                <a:ea typeface="+mn-ea"/>
              </a:rPr>
              <a:t>(</a:t>
            </a:r>
            <a:r>
              <a:rPr lang="en-US" altLang="zh-CN" sz="2000" i="1" dirty="0" err="1"/>
              <a:t>m+n</a:t>
            </a:r>
            <a:r>
              <a:rPr lang="en-US" altLang="zh-CN" sz="2000" dirty="0">
                <a:latin typeface="+mn-ea"/>
                <a:ea typeface="+mn-ea"/>
              </a:rPr>
              <a:t>)×(</a:t>
            </a:r>
            <a:r>
              <a:rPr lang="en-US" altLang="zh-CN" sz="2000" i="1" dirty="0" err="1"/>
              <a:t>m+n</a:t>
            </a:r>
            <a:r>
              <a:rPr lang="en-US" altLang="zh-CN" sz="2000" dirty="0">
                <a:latin typeface="+mn-ea"/>
                <a:ea typeface="+mn-ea"/>
              </a:rPr>
              <a:t>)</a:t>
            </a:r>
            <a:r>
              <a:rPr lang="zh-CN" altLang="en-US" sz="2000" dirty="0">
                <a:latin typeface="+mn-ea"/>
                <a:ea typeface="+mn-ea"/>
              </a:rPr>
              <a:t>初始基矩阵。</a:t>
            </a:r>
            <a:r>
              <a:rPr lang="zh-CN" altLang="en-US" sz="2000" dirty="0" smtClean="0">
                <a:latin typeface="+mn-ea"/>
                <a:ea typeface="+mn-ea"/>
              </a:rPr>
              <a:t>人工变量</a:t>
            </a:r>
            <a:r>
              <a:rPr lang="en-US" altLang="zh-CN" sz="2000" i="1" dirty="0" err="1">
                <a:ea typeface="+mn-ea"/>
              </a:rPr>
              <a:t>x</a:t>
            </a:r>
            <a:r>
              <a:rPr lang="en-US" altLang="zh-CN" sz="2000" i="1" baseline="-30000" dirty="0" err="1">
                <a:ea typeface="+mn-ea"/>
              </a:rPr>
              <a:t>a</a:t>
            </a:r>
            <a:r>
              <a:rPr lang="zh-CN" altLang="en-US" sz="2000" dirty="0">
                <a:latin typeface="+mn-ea"/>
                <a:ea typeface="+mn-ea"/>
              </a:rPr>
              <a:t>在目标函数中的系数</a:t>
            </a:r>
            <a:r>
              <a:rPr lang="en-US" altLang="zh-CN" sz="2000" i="1" dirty="0">
                <a:ea typeface="+mn-ea"/>
              </a:rPr>
              <a:t>c</a:t>
            </a:r>
            <a:r>
              <a:rPr lang="en-US" altLang="zh-CN" sz="2000" i="1" baseline="-30000" dirty="0">
                <a:ea typeface="+mn-ea"/>
              </a:rPr>
              <a:t>a</a:t>
            </a:r>
            <a:r>
              <a:rPr lang="en-US" altLang="zh-CN" sz="2000" dirty="0">
                <a:latin typeface="+mn-ea"/>
                <a:ea typeface="+mn-ea"/>
              </a:rPr>
              <a:t>=0</a:t>
            </a:r>
            <a:r>
              <a:rPr lang="zh-CN" altLang="en-US" sz="2000" dirty="0">
                <a:latin typeface="+mn-ea"/>
                <a:ea typeface="+mn-ea"/>
              </a:rPr>
              <a:t>，从线性规划的对偶理论可知： </a:t>
            </a:r>
            <a:endParaRPr lang="en-US" altLang="zh-CN" sz="2000" dirty="0">
              <a:latin typeface="+mn-ea"/>
              <a:ea typeface="+mn-ea"/>
            </a:endParaRPr>
          </a:p>
          <a:p>
            <a:pPr lvl="1"/>
            <a:endParaRPr lang="en-US" altLang="zh-CN" sz="2000" dirty="0">
              <a:latin typeface="+mn-ea"/>
              <a:ea typeface="+mn-ea"/>
            </a:endParaRPr>
          </a:p>
          <a:p>
            <a:pPr lvl="1"/>
            <a:r>
              <a:rPr lang="zh-CN" altLang="en-US" sz="2000" dirty="0" smtClean="0">
                <a:latin typeface="+mn-ea"/>
                <a:ea typeface="+mn-ea"/>
              </a:rPr>
              <a:t>而</a:t>
            </a:r>
            <a:r>
              <a:rPr lang="zh-CN" altLang="en-US" sz="2000" dirty="0">
                <a:latin typeface="+mn-ea"/>
                <a:ea typeface="+mn-ea"/>
              </a:rPr>
              <a:t>每个决策变量</a:t>
            </a:r>
            <a:r>
              <a:rPr lang="en-US" altLang="zh-CN" sz="2000" i="1" dirty="0" err="1">
                <a:ea typeface="+mn-ea"/>
              </a:rPr>
              <a:t>x</a:t>
            </a:r>
            <a:r>
              <a:rPr lang="en-US" altLang="zh-CN" sz="2000" i="1" baseline="-30000" dirty="0" err="1">
                <a:ea typeface="+mn-ea"/>
              </a:rPr>
              <a:t>ij</a:t>
            </a:r>
            <a:r>
              <a:rPr lang="zh-CN" altLang="en-US" sz="2000" dirty="0">
                <a:latin typeface="+mn-ea"/>
                <a:ea typeface="+mn-ea"/>
              </a:rPr>
              <a:t>的系数向量</a:t>
            </a:r>
            <a:r>
              <a:rPr lang="en-US" altLang="zh-CN" sz="2000" i="1" dirty="0" err="1">
                <a:ea typeface="+mn-ea"/>
              </a:rPr>
              <a:t>P</a:t>
            </a:r>
            <a:r>
              <a:rPr lang="en-US" altLang="zh-CN" sz="2000" i="1" baseline="-30000" dirty="0" err="1">
                <a:ea typeface="+mn-ea"/>
              </a:rPr>
              <a:t>ij</a:t>
            </a:r>
            <a:r>
              <a:rPr lang="en-US" altLang="zh-CN" sz="2000" dirty="0">
                <a:ea typeface="+mn-ea"/>
              </a:rPr>
              <a:t>=</a:t>
            </a:r>
            <a:r>
              <a:rPr lang="en-US" altLang="zh-CN" sz="2000" i="1" dirty="0" err="1">
                <a:ea typeface="+mn-ea"/>
              </a:rPr>
              <a:t>e</a:t>
            </a:r>
            <a:r>
              <a:rPr lang="en-US" altLang="zh-CN" sz="2000" i="1" baseline="-30000" dirty="0" err="1">
                <a:ea typeface="+mn-ea"/>
              </a:rPr>
              <a:t>i</a:t>
            </a:r>
            <a:r>
              <a:rPr lang="en-US" altLang="zh-CN" sz="2000" dirty="0" err="1">
                <a:ea typeface="+mn-ea"/>
              </a:rPr>
              <a:t>+</a:t>
            </a:r>
            <a:r>
              <a:rPr lang="en-US" altLang="zh-CN" sz="2000" i="1" dirty="0" err="1">
                <a:ea typeface="+mn-ea"/>
              </a:rPr>
              <a:t>e</a:t>
            </a:r>
            <a:r>
              <a:rPr lang="en-US" altLang="zh-CN" sz="2000" i="1" baseline="-30000" dirty="0" err="1">
                <a:ea typeface="+mn-ea"/>
              </a:rPr>
              <a:t>m+j</a:t>
            </a:r>
            <a:r>
              <a:rPr lang="zh-CN" altLang="en-US" sz="2000" dirty="0">
                <a:latin typeface="+mn-ea"/>
                <a:ea typeface="+mn-ea"/>
              </a:rPr>
              <a:t>，所以</a:t>
            </a:r>
            <a:r>
              <a:rPr lang="en-US" altLang="zh-CN" sz="2000" i="1" dirty="0">
                <a:ea typeface="+mn-ea"/>
              </a:rPr>
              <a:t>C</a:t>
            </a:r>
            <a:r>
              <a:rPr lang="en-US" altLang="zh-CN" sz="2000" i="1" baseline="-30000" dirty="0">
                <a:ea typeface="+mn-ea"/>
              </a:rPr>
              <a:t>B</a:t>
            </a:r>
            <a:r>
              <a:rPr lang="en-US" altLang="zh-CN" sz="2000" i="1" dirty="0">
                <a:ea typeface="+mn-ea"/>
              </a:rPr>
              <a:t>B</a:t>
            </a:r>
            <a:r>
              <a:rPr lang="en-US" altLang="zh-CN" sz="2000" baseline="30000" dirty="0">
                <a:ea typeface="+mn-ea"/>
              </a:rPr>
              <a:t>-1</a:t>
            </a:r>
            <a:r>
              <a:rPr lang="en-US" altLang="zh-CN" sz="2000" i="1" dirty="0">
                <a:ea typeface="+mn-ea"/>
              </a:rPr>
              <a:t>P</a:t>
            </a:r>
            <a:r>
              <a:rPr lang="en-US" altLang="zh-CN" sz="2000" i="1" baseline="-30000" dirty="0">
                <a:ea typeface="+mn-ea"/>
              </a:rPr>
              <a:t>ij</a:t>
            </a:r>
            <a:r>
              <a:rPr lang="en-US" altLang="zh-CN" sz="2000" dirty="0">
                <a:ea typeface="+mn-ea"/>
              </a:rPr>
              <a:t>=</a:t>
            </a:r>
            <a:r>
              <a:rPr lang="en-US" altLang="zh-CN" sz="2000" i="1" dirty="0" err="1">
                <a:ea typeface="+mn-ea"/>
              </a:rPr>
              <a:t>u</a:t>
            </a:r>
            <a:r>
              <a:rPr lang="en-US" altLang="zh-CN" sz="2000" i="1" baseline="-30000" dirty="0" err="1">
                <a:ea typeface="+mn-ea"/>
              </a:rPr>
              <a:t>i</a:t>
            </a:r>
            <a:r>
              <a:rPr lang="en-US" altLang="zh-CN" sz="2000" dirty="0" err="1">
                <a:ea typeface="+mn-ea"/>
              </a:rPr>
              <a:t>+</a:t>
            </a:r>
            <a:r>
              <a:rPr lang="en-US" altLang="zh-CN" sz="2000" i="1" dirty="0" err="1">
                <a:ea typeface="+mn-ea"/>
              </a:rPr>
              <a:t>v</a:t>
            </a:r>
            <a:r>
              <a:rPr lang="en-US" altLang="zh-CN" sz="2000" i="1" baseline="-30000" dirty="0" err="1">
                <a:ea typeface="+mn-ea"/>
              </a:rPr>
              <a:t>j</a:t>
            </a:r>
            <a:r>
              <a:rPr lang="zh-CN" altLang="en-US" sz="2000" dirty="0" smtClean="0">
                <a:latin typeface="+mn-ea"/>
                <a:ea typeface="+mn-ea"/>
              </a:rPr>
              <a:t>。</a:t>
            </a:r>
            <a:endParaRPr lang="en-US" altLang="zh-CN" sz="2000" dirty="0" smtClean="0">
              <a:latin typeface="+mn-ea"/>
              <a:ea typeface="+mn-ea"/>
            </a:endParaRPr>
          </a:p>
          <a:p>
            <a:pPr lvl="1"/>
            <a:r>
              <a:rPr lang="zh-CN" altLang="en-US" sz="2000" dirty="0" smtClean="0">
                <a:latin typeface="+mn-ea"/>
                <a:ea typeface="+mn-ea"/>
              </a:rPr>
              <a:t>于是检验数为：</a:t>
            </a:r>
            <a:endParaRPr lang="en-US" altLang="zh-CN" sz="2000" dirty="0">
              <a:latin typeface="+mn-ea"/>
              <a:ea typeface="+mn-ea"/>
            </a:endParaRPr>
          </a:p>
          <a:p>
            <a:pPr lvl="1"/>
            <a:endParaRPr lang="en-US" altLang="zh-CN" sz="2000" dirty="0">
              <a:latin typeface="+mn-ea"/>
              <a:ea typeface="+mn-ea"/>
            </a:endParaRPr>
          </a:p>
          <a:p>
            <a:pPr lvl="1"/>
            <a:r>
              <a:rPr lang="zh-CN" altLang="en-US" sz="2000" dirty="0" smtClean="0">
                <a:latin typeface="+mn-ea"/>
                <a:ea typeface="+mn-ea"/>
              </a:rPr>
              <a:t>所有</a:t>
            </a:r>
            <a:r>
              <a:rPr lang="zh-CN" altLang="en-US" sz="2000" dirty="0">
                <a:latin typeface="+mn-ea"/>
                <a:ea typeface="+mn-ea"/>
              </a:rPr>
              <a:t>基变量的检验数等于</a:t>
            </a:r>
            <a:r>
              <a:rPr lang="en-US" altLang="zh-CN" sz="2000" dirty="0">
                <a:latin typeface="+mn-ea"/>
                <a:ea typeface="+mn-ea"/>
              </a:rPr>
              <a:t>0</a:t>
            </a:r>
            <a:r>
              <a:rPr lang="zh-CN" altLang="en-US" sz="2000" dirty="0">
                <a:latin typeface="+mn-ea"/>
                <a:ea typeface="+mn-ea"/>
              </a:rPr>
              <a:t>。</a:t>
            </a:r>
            <a:r>
              <a:rPr lang="zh-CN" altLang="en-US" sz="2000" dirty="0" smtClean="0">
                <a:latin typeface="+mn-ea"/>
                <a:ea typeface="+mn-ea"/>
              </a:rPr>
              <a:t>即：</a:t>
            </a:r>
            <a:endParaRPr lang="en-US" altLang="zh-CN" sz="2000" dirty="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r>
              <a:rPr lang="zh-CN" altLang="en-US" sz="2000" dirty="0" smtClean="0">
                <a:latin typeface="+mn-ea"/>
                <a:ea typeface="+mn-ea"/>
              </a:rPr>
              <a:t>由于运输问题</a:t>
            </a:r>
            <a:r>
              <a:rPr lang="zh-CN" altLang="en-US" sz="2000" dirty="0">
                <a:latin typeface="+mn-ea"/>
                <a:ea typeface="+mn-ea"/>
              </a:rPr>
              <a:t>的</a:t>
            </a:r>
            <a:r>
              <a:rPr lang="zh-CN" altLang="en-US" sz="2000" dirty="0">
                <a:solidFill>
                  <a:srgbClr val="FF0000"/>
                </a:solidFill>
                <a:latin typeface="+mn-ea"/>
                <a:ea typeface="+mn-ea"/>
              </a:rPr>
              <a:t>原问题是等式约束</a:t>
            </a:r>
            <a:r>
              <a:rPr lang="zh-CN" altLang="en-US" sz="2000" dirty="0" smtClean="0">
                <a:latin typeface="+mn-ea"/>
                <a:ea typeface="+mn-ea"/>
              </a:rPr>
              <a:t>，所以</a:t>
            </a:r>
            <a:r>
              <a:rPr lang="zh-CN" altLang="en-US" sz="2000" dirty="0" smtClean="0">
                <a:solidFill>
                  <a:srgbClr val="FF0000"/>
                </a:solidFill>
                <a:latin typeface="+mn-ea"/>
                <a:ea typeface="+mn-ea"/>
              </a:rPr>
              <a:t>对偶</a:t>
            </a:r>
            <a:r>
              <a:rPr lang="zh-CN" altLang="en-US" sz="2000" dirty="0">
                <a:solidFill>
                  <a:srgbClr val="FF0000"/>
                </a:solidFill>
                <a:latin typeface="+mn-ea"/>
                <a:ea typeface="+mn-ea"/>
              </a:rPr>
              <a:t>问题的变量是无约束</a:t>
            </a:r>
            <a:r>
              <a:rPr lang="zh-CN" altLang="en-US" sz="2000" dirty="0" smtClean="0">
                <a:latin typeface="+mn-ea"/>
                <a:ea typeface="+mn-ea"/>
              </a:rPr>
              <a:t>。</a:t>
            </a:r>
            <a:endParaRPr lang="zh-CN" altLang="en-US" sz="2000" dirty="0">
              <a:latin typeface="+mn-ea"/>
              <a:ea typeface="+mn-ea"/>
            </a:endParaRPr>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17</a:t>
            </a:fld>
            <a:endParaRPr lang="en-US" altLang="zh-CN"/>
          </a:p>
        </p:txBody>
      </p:sp>
      <p:graphicFrame>
        <p:nvGraphicFramePr>
          <p:cNvPr id="5" name="Object 7">
            <a:extLst>
              <a:ext uri="{FF2B5EF4-FFF2-40B4-BE49-F238E27FC236}">
                <a16:creationId xmlns:a16="http://schemas.microsoft.com/office/drawing/2014/main" id="{EC669172-4550-4A39-953F-444D25A01830}"/>
              </a:ext>
            </a:extLst>
          </p:cNvPr>
          <p:cNvGraphicFramePr>
            <a:graphicFrameLocks noChangeAspect="1"/>
          </p:cNvGraphicFramePr>
          <p:nvPr>
            <p:extLst>
              <p:ext uri="{D42A27DB-BD31-4B8C-83A1-F6EECF244321}">
                <p14:modId xmlns:p14="http://schemas.microsoft.com/office/powerpoint/2010/main" val="4190687465"/>
              </p:ext>
            </p:extLst>
          </p:nvPr>
        </p:nvGraphicFramePr>
        <p:xfrm>
          <a:off x="3131840" y="3147099"/>
          <a:ext cx="3456384" cy="380191"/>
        </p:xfrm>
        <a:graphic>
          <a:graphicData uri="http://schemas.openxmlformats.org/presentationml/2006/ole">
            <mc:AlternateContent xmlns:mc="http://schemas.openxmlformats.org/markup-compatibility/2006">
              <mc:Choice xmlns:v="urn:schemas-microsoft-com:vml" Requires="v">
                <p:oleObj spid="_x0000_s722114" name="Microsoft 公式 3.0" r:id="rId3" imgW="2539800" imgH="279360" progId="Equation.3">
                  <p:embed/>
                </p:oleObj>
              </mc:Choice>
              <mc:Fallback>
                <p:oleObj name="Microsoft 公式 3.0" r:id="rId3" imgW="2539800" imgH="279360" progId="Equation.3">
                  <p:embed/>
                  <p:pic>
                    <p:nvPicPr>
                      <p:cNvPr id="640007" name="Object 7">
                        <a:extLst>
                          <a:ext uri="{FF2B5EF4-FFF2-40B4-BE49-F238E27FC236}">
                            <a16:creationId xmlns:a16="http://schemas.microsoft.com/office/drawing/2014/main" id="{788DFE6D-DCE5-47F6-8B46-150E64170E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1840" y="3147099"/>
                        <a:ext cx="3456384" cy="380191"/>
                      </a:xfrm>
                      <a:prstGeom prst="rect">
                        <a:avLst/>
                      </a:prstGeom>
                      <a:noFill/>
                      <a:ln>
                        <a:noFill/>
                      </a:ln>
                      <a:effectLst/>
                      <a:extLst/>
                    </p:spPr>
                  </p:pic>
                </p:oleObj>
              </mc:Fallback>
            </mc:AlternateContent>
          </a:graphicData>
        </a:graphic>
      </p:graphicFrame>
      <p:graphicFrame>
        <p:nvGraphicFramePr>
          <p:cNvPr id="6" name="Object 7">
            <a:extLst>
              <a:ext uri="{FF2B5EF4-FFF2-40B4-BE49-F238E27FC236}">
                <a16:creationId xmlns:a16="http://schemas.microsoft.com/office/drawing/2014/main" id="{4346C8F5-1256-4E18-BCD0-2F402C6A0ECF}"/>
              </a:ext>
            </a:extLst>
          </p:cNvPr>
          <p:cNvGraphicFramePr>
            <a:graphicFrameLocks noChangeAspect="1"/>
          </p:cNvGraphicFramePr>
          <p:nvPr>
            <p:extLst>
              <p:ext uri="{D42A27DB-BD31-4B8C-83A1-F6EECF244321}">
                <p14:modId xmlns:p14="http://schemas.microsoft.com/office/powerpoint/2010/main" val="2974810271"/>
              </p:ext>
            </p:extLst>
          </p:nvPr>
        </p:nvGraphicFramePr>
        <p:xfrm>
          <a:off x="3131840" y="3895473"/>
          <a:ext cx="3817689" cy="472869"/>
        </p:xfrm>
        <a:graphic>
          <a:graphicData uri="http://schemas.openxmlformats.org/presentationml/2006/ole">
            <mc:AlternateContent xmlns:mc="http://schemas.openxmlformats.org/markup-compatibility/2006">
              <mc:Choice xmlns:v="urn:schemas-microsoft-com:vml" Requires="v">
                <p:oleObj spid="_x0000_s722115" name="Equation" r:id="rId5" imgW="2463480" imgH="304560" progId="Equation.3">
                  <p:embed/>
                </p:oleObj>
              </mc:Choice>
              <mc:Fallback>
                <p:oleObj name="Equation" r:id="rId5" imgW="2463480" imgH="304560" progId="Equation.3">
                  <p:embed/>
                  <p:pic>
                    <p:nvPicPr>
                      <p:cNvPr id="641031" name="Object 7">
                        <a:extLst>
                          <a:ext uri="{FF2B5EF4-FFF2-40B4-BE49-F238E27FC236}">
                            <a16:creationId xmlns:a16="http://schemas.microsoft.com/office/drawing/2014/main" id="{FE66274C-8C76-403D-B8A8-E492C919B5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1840" y="3895473"/>
                        <a:ext cx="3817689" cy="472869"/>
                      </a:xfrm>
                      <a:prstGeom prst="rect">
                        <a:avLst/>
                      </a:prstGeom>
                      <a:noFill/>
                      <a:ln>
                        <a:noFill/>
                      </a:ln>
                      <a:effectLst/>
                      <a:extLst/>
                    </p:spPr>
                  </p:pic>
                </p:oleObj>
              </mc:Fallback>
            </mc:AlternateContent>
          </a:graphicData>
        </a:graphic>
      </p:graphicFrame>
      <p:graphicFrame>
        <p:nvGraphicFramePr>
          <p:cNvPr id="8" name="Object 10">
            <a:extLst>
              <a:ext uri="{FF2B5EF4-FFF2-40B4-BE49-F238E27FC236}">
                <a16:creationId xmlns:a16="http://schemas.microsoft.com/office/drawing/2014/main" id="{572F22A0-7F62-4C78-BA3B-0E024B2BECEB}"/>
              </a:ext>
            </a:extLst>
          </p:cNvPr>
          <p:cNvGraphicFramePr>
            <a:graphicFrameLocks noChangeAspect="1"/>
          </p:cNvGraphicFramePr>
          <p:nvPr>
            <p:extLst>
              <p:ext uri="{D42A27DB-BD31-4B8C-83A1-F6EECF244321}">
                <p14:modId xmlns:p14="http://schemas.microsoft.com/office/powerpoint/2010/main" val="235812640"/>
              </p:ext>
            </p:extLst>
          </p:nvPr>
        </p:nvGraphicFramePr>
        <p:xfrm>
          <a:off x="3275214" y="5013176"/>
          <a:ext cx="3169636" cy="477776"/>
        </p:xfrm>
        <a:graphic>
          <a:graphicData uri="http://schemas.openxmlformats.org/presentationml/2006/ole">
            <mc:AlternateContent xmlns:mc="http://schemas.openxmlformats.org/markup-compatibility/2006">
              <mc:Choice xmlns:v="urn:schemas-microsoft-com:vml" Requires="v">
                <p:oleObj spid="_x0000_s722116" name="Equation" r:id="rId7" imgW="1600200" imgH="241200" progId="Equation.DSMT4">
                  <p:embed/>
                </p:oleObj>
              </mc:Choice>
              <mc:Fallback>
                <p:oleObj name="Equation" r:id="rId7" imgW="1600200" imgH="241200" progId="Equation.DSMT4">
                  <p:embed/>
                  <p:pic>
                    <p:nvPicPr>
                      <p:cNvPr id="641034" name="Object 10">
                        <a:extLst>
                          <a:ext uri="{FF2B5EF4-FFF2-40B4-BE49-F238E27FC236}">
                            <a16:creationId xmlns:a16="http://schemas.microsoft.com/office/drawing/2014/main" id="{D012716B-D09A-4404-9752-B36C8EBEB45B}"/>
                          </a:ext>
                        </a:extLst>
                      </p:cNvPr>
                      <p:cNvPicPr>
                        <a:picLocks noChangeAspect="1" noChangeArrowheads="1"/>
                      </p:cNvPicPr>
                      <p:nvPr/>
                    </p:nvPicPr>
                    <p:blipFill>
                      <a:blip r:embed="rId8"/>
                      <a:srcRect/>
                      <a:stretch>
                        <a:fillRect/>
                      </a:stretch>
                    </p:blipFill>
                    <p:spPr bwMode="auto">
                      <a:xfrm>
                        <a:off x="3275214" y="5013176"/>
                        <a:ext cx="3169636" cy="477776"/>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3975242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p:txBody>
          <a:bodyPr/>
          <a:lstStyle/>
          <a:p>
            <a:r>
              <a:rPr lang="en-US" altLang="zh-CN" dirty="0">
                <a:latin typeface="宋体" panose="02010600030101010101" pitchFamily="2" charset="-122"/>
              </a:rPr>
              <a:t>4.2.2  </a:t>
            </a:r>
            <a:r>
              <a:rPr lang="zh-CN" altLang="en-US" dirty="0">
                <a:latin typeface="宋体" panose="02010600030101010101" pitchFamily="2" charset="-122"/>
              </a:rPr>
              <a:t>最优解的判别</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a:t>2. </a:t>
            </a:r>
            <a:r>
              <a:rPr lang="zh-CN" altLang="en-US" dirty="0"/>
              <a:t>位势法</a:t>
            </a:r>
          </a:p>
          <a:p>
            <a:pPr lvl="1"/>
            <a:r>
              <a:rPr lang="zh-CN" altLang="en-US" sz="2000" dirty="0">
                <a:latin typeface="+mn-ea"/>
                <a:ea typeface="+mn-ea"/>
              </a:rPr>
              <a:t>第一步：按最小元素法给出表</a:t>
            </a:r>
            <a:r>
              <a:rPr lang="en-US" altLang="zh-CN" sz="2000" dirty="0">
                <a:latin typeface="+mn-ea"/>
                <a:ea typeface="+mn-ea"/>
              </a:rPr>
              <a:t>4-10</a:t>
            </a:r>
            <a:r>
              <a:rPr lang="zh-CN" altLang="en-US" sz="2000" dirty="0">
                <a:latin typeface="+mn-ea"/>
                <a:ea typeface="+mn-ea"/>
              </a:rPr>
              <a:t>的初始解，然后做表</a:t>
            </a:r>
            <a:r>
              <a:rPr lang="en-US" altLang="zh-CN" sz="2000" dirty="0">
                <a:latin typeface="+mn-ea"/>
                <a:ea typeface="+mn-ea"/>
              </a:rPr>
              <a:t>4-17</a:t>
            </a:r>
            <a:r>
              <a:rPr lang="zh-CN" altLang="en-US" sz="2000" dirty="0">
                <a:latin typeface="+mn-ea"/>
                <a:ea typeface="+mn-ea"/>
              </a:rPr>
              <a:t>；即在对应表</a:t>
            </a:r>
            <a:r>
              <a:rPr lang="en-US" altLang="zh-CN" sz="2000" dirty="0">
                <a:latin typeface="+mn-ea"/>
                <a:ea typeface="+mn-ea"/>
              </a:rPr>
              <a:t>4-10</a:t>
            </a:r>
            <a:r>
              <a:rPr lang="zh-CN" altLang="en-US" sz="2000" dirty="0">
                <a:latin typeface="+mn-ea"/>
                <a:ea typeface="+mn-ea"/>
              </a:rPr>
              <a:t>的数字格处填入单位运价，见表</a:t>
            </a:r>
            <a:r>
              <a:rPr lang="en-US" altLang="zh-CN" sz="2000" dirty="0">
                <a:latin typeface="+mn-ea"/>
                <a:ea typeface="+mn-ea"/>
              </a:rPr>
              <a:t>4-17</a:t>
            </a:r>
            <a:r>
              <a:rPr lang="zh-CN" altLang="en-US" sz="2000" dirty="0">
                <a:latin typeface="+mn-ea"/>
                <a:ea typeface="+mn-ea"/>
              </a:rPr>
              <a:t>。</a:t>
            </a:r>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dirty="0">
              <a:latin typeface="+mn-ea"/>
              <a:ea typeface="+mn-ea"/>
            </a:endParaRPr>
          </a:p>
          <a:p>
            <a:pPr lvl="1"/>
            <a:endParaRPr lang="en-US" altLang="zh-CN" sz="2000" b="0" dirty="0">
              <a:latin typeface="Times New Roman" panose="02020603050405020304" pitchFamily="18" charset="0"/>
            </a:endParaRPr>
          </a:p>
          <a:p>
            <a:pPr lvl="1"/>
            <a:r>
              <a:rPr lang="zh-CN" altLang="en-US" sz="2000" dirty="0">
                <a:latin typeface="+mn-ea"/>
                <a:ea typeface="+mn-ea"/>
              </a:rPr>
              <a:t>第二步：在表</a:t>
            </a:r>
            <a:r>
              <a:rPr lang="en-US" altLang="zh-CN" sz="2000" dirty="0">
                <a:latin typeface="+mn-ea"/>
                <a:ea typeface="+mn-ea"/>
              </a:rPr>
              <a:t>4-17</a:t>
            </a:r>
            <a:r>
              <a:rPr lang="zh-CN" altLang="en-US" sz="2000" dirty="0">
                <a:latin typeface="+mn-ea"/>
                <a:ea typeface="+mn-ea"/>
              </a:rPr>
              <a:t>上增加</a:t>
            </a:r>
            <a:r>
              <a:rPr lang="zh-CN" altLang="en-US" sz="2000" dirty="0" smtClean="0">
                <a:latin typeface="+mn-ea"/>
                <a:ea typeface="+mn-ea"/>
              </a:rPr>
              <a:t>一行（</a:t>
            </a:r>
            <a:r>
              <a:rPr lang="en-US" altLang="zh-CN" sz="2000" b="0" i="1" dirty="0" err="1">
                <a:latin typeface="Times New Roman" panose="02020603050405020304" pitchFamily="18" charset="0"/>
              </a:rPr>
              <a:t>v</a:t>
            </a:r>
            <a:r>
              <a:rPr lang="en-US" altLang="zh-CN" sz="2000" b="0" i="1" baseline="-30000" dirty="0" err="1">
                <a:latin typeface="Times New Roman" panose="02020603050405020304" pitchFamily="18" charset="0"/>
              </a:rPr>
              <a:t>j</a:t>
            </a:r>
            <a:r>
              <a:rPr lang="zh-CN" altLang="en-US" sz="2000" dirty="0" smtClean="0">
                <a:latin typeface="+mn-ea"/>
                <a:ea typeface="+mn-ea"/>
              </a:rPr>
              <a:t>），一列（</a:t>
            </a:r>
            <a:r>
              <a:rPr lang="en-US" altLang="zh-CN" sz="2000" b="0" i="1" dirty="0" err="1">
                <a:latin typeface="Times New Roman" panose="02020603050405020304" pitchFamily="18" charset="0"/>
              </a:rPr>
              <a:t>u</a:t>
            </a:r>
            <a:r>
              <a:rPr lang="en-US" altLang="zh-CN" sz="2000" b="0" i="1" baseline="-30000" dirty="0" err="1">
                <a:latin typeface="Times New Roman" panose="02020603050405020304" pitchFamily="18" charset="0"/>
              </a:rPr>
              <a:t>i</a:t>
            </a:r>
            <a:r>
              <a:rPr lang="zh-CN" altLang="en-US" sz="2000" dirty="0" smtClean="0">
                <a:latin typeface="+mn-ea"/>
                <a:ea typeface="+mn-ea"/>
              </a:rPr>
              <a:t>）</a:t>
            </a:r>
            <a:r>
              <a:rPr lang="zh-CN" altLang="en-US" sz="2000" b="0" dirty="0" smtClean="0">
                <a:latin typeface="Times New Roman" panose="02020603050405020304" pitchFamily="18" charset="0"/>
              </a:rPr>
              <a:t>，</a:t>
            </a:r>
            <a:r>
              <a:rPr lang="zh-CN" altLang="en-US" sz="2000" dirty="0">
                <a:latin typeface="+mn-ea"/>
                <a:ea typeface="+mn-ea"/>
              </a:rPr>
              <a:t>经过计算</a:t>
            </a:r>
            <a:r>
              <a:rPr lang="zh-CN" altLang="en-US" sz="2000" dirty="0" smtClean="0">
                <a:latin typeface="+mn-ea"/>
                <a:ea typeface="+mn-ea"/>
              </a:rPr>
              <a:t>得</a:t>
            </a:r>
            <a:r>
              <a:rPr lang="zh-CN" altLang="en-US" sz="2000" dirty="0">
                <a:latin typeface="+mn-ea"/>
                <a:ea typeface="+mn-ea"/>
              </a:rPr>
              <a:t>表</a:t>
            </a:r>
            <a:r>
              <a:rPr lang="en-US" altLang="zh-CN" sz="2000" dirty="0">
                <a:latin typeface="+mn-ea"/>
                <a:ea typeface="+mn-ea"/>
              </a:rPr>
              <a:t>4-18</a:t>
            </a:r>
            <a:r>
              <a:rPr lang="zh-CN" altLang="en-US" sz="2000" b="0" dirty="0"/>
              <a:t>。</a:t>
            </a:r>
            <a:r>
              <a:rPr lang="zh-CN" altLang="en-US" sz="2000" dirty="0">
                <a:latin typeface="+mn-ea"/>
                <a:ea typeface="+mn-ea"/>
              </a:rPr>
              <a:t> </a:t>
            </a:r>
            <a:endParaRPr lang="en-US" altLang="zh-CN" sz="2000" dirty="0">
              <a:latin typeface="+mn-ea"/>
              <a:ea typeface="+mn-ea"/>
            </a:endParaRPr>
          </a:p>
          <a:p>
            <a:pPr lvl="1"/>
            <a:endParaRPr lang="zh-CN" altLang="en-US" sz="2000" dirty="0">
              <a:latin typeface="+mn-ea"/>
              <a:ea typeface="+mn-ea"/>
            </a:endParaRPr>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18</a:t>
            </a:fld>
            <a:endParaRPr lang="en-US" altLang="zh-CN"/>
          </a:p>
        </p:txBody>
      </p:sp>
      <p:graphicFrame>
        <p:nvGraphicFramePr>
          <p:cNvPr id="8" name="Object 8">
            <a:extLst>
              <a:ext uri="{FF2B5EF4-FFF2-40B4-BE49-F238E27FC236}">
                <a16:creationId xmlns:a16="http://schemas.microsoft.com/office/drawing/2014/main" id="{EBA78592-D9FE-42EF-939E-9B1E32BF6980}"/>
              </a:ext>
            </a:extLst>
          </p:cNvPr>
          <p:cNvGraphicFramePr>
            <a:graphicFrameLocks noChangeAspect="1"/>
          </p:cNvGraphicFramePr>
          <p:nvPr>
            <p:extLst>
              <p:ext uri="{D42A27DB-BD31-4B8C-83A1-F6EECF244321}">
                <p14:modId xmlns:p14="http://schemas.microsoft.com/office/powerpoint/2010/main" val="382302640"/>
              </p:ext>
            </p:extLst>
          </p:nvPr>
        </p:nvGraphicFramePr>
        <p:xfrm>
          <a:off x="4771999" y="2460016"/>
          <a:ext cx="3551666" cy="1617056"/>
        </p:xfrm>
        <a:graphic>
          <a:graphicData uri="http://schemas.openxmlformats.org/presentationml/2006/ole">
            <mc:AlternateContent xmlns:mc="http://schemas.openxmlformats.org/markup-compatibility/2006">
              <mc:Choice xmlns:v="urn:schemas-microsoft-com:vml" Requires="v">
                <p:oleObj spid="_x0000_s724170" name="Document" r:id="rId3" imgW="2707089" imgH="1230884" progId="Word.Document.8">
                  <p:embed/>
                </p:oleObj>
              </mc:Choice>
              <mc:Fallback>
                <p:oleObj name="Document" r:id="rId3" imgW="2707089" imgH="1230884" progId="Word.Document.8">
                  <p:embed/>
                  <p:pic>
                    <p:nvPicPr>
                      <p:cNvPr id="644104" name="Object 8">
                        <a:extLst>
                          <a:ext uri="{FF2B5EF4-FFF2-40B4-BE49-F238E27FC236}">
                            <a16:creationId xmlns:a16="http://schemas.microsoft.com/office/drawing/2014/main" id="{8AE2C50A-8707-4206-BD00-B65CA4EEE3CA}"/>
                          </a:ext>
                        </a:extLst>
                      </p:cNvPr>
                      <p:cNvPicPr>
                        <a:picLocks noChangeAspect="1" noChangeArrowheads="1"/>
                      </p:cNvPicPr>
                      <p:nvPr/>
                    </p:nvPicPr>
                    <p:blipFill>
                      <a:blip r:embed="rId4"/>
                      <a:srcRect/>
                      <a:stretch>
                        <a:fillRect/>
                      </a:stretch>
                    </p:blipFill>
                    <p:spPr bwMode="auto">
                      <a:xfrm>
                        <a:off x="4771999" y="2460016"/>
                        <a:ext cx="3551666" cy="1617056"/>
                      </a:xfrm>
                      <a:prstGeom prst="rect">
                        <a:avLst/>
                      </a:prstGeom>
                      <a:noFill/>
                      <a:ln>
                        <a:noFill/>
                      </a:ln>
                      <a:effectLst/>
                      <a:extLst/>
                    </p:spPr>
                  </p:pic>
                </p:oleObj>
              </mc:Fallback>
            </mc:AlternateContent>
          </a:graphicData>
        </a:graphic>
      </p:graphicFrame>
      <p:graphicFrame>
        <p:nvGraphicFramePr>
          <p:cNvPr id="11" name="Object 9">
            <a:extLst>
              <a:ext uri="{FF2B5EF4-FFF2-40B4-BE49-F238E27FC236}">
                <a16:creationId xmlns:a16="http://schemas.microsoft.com/office/drawing/2014/main" id="{C7B4F34B-9F8C-4598-93A6-A4A06CF68417}"/>
              </a:ext>
            </a:extLst>
          </p:cNvPr>
          <p:cNvGraphicFramePr>
            <a:graphicFrameLocks noChangeAspect="1"/>
          </p:cNvGraphicFramePr>
          <p:nvPr>
            <p:extLst>
              <p:ext uri="{D42A27DB-BD31-4B8C-83A1-F6EECF244321}">
                <p14:modId xmlns:p14="http://schemas.microsoft.com/office/powerpoint/2010/main" val="160670980"/>
              </p:ext>
            </p:extLst>
          </p:nvPr>
        </p:nvGraphicFramePr>
        <p:xfrm>
          <a:off x="691410" y="2465517"/>
          <a:ext cx="4321139" cy="1926966"/>
        </p:xfrm>
        <a:graphic>
          <a:graphicData uri="http://schemas.openxmlformats.org/presentationml/2006/ole">
            <mc:AlternateContent xmlns:mc="http://schemas.openxmlformats.org/markup-compatibility/2006">
              <mc:Choice xmlns:v="urn:schemas-microsoft-com:vml" Requires="v">
                <p:oleObj spid="_x0000_s724171" name="Document" r:id="rId5" imgW="3207167" imgH="1429844" progId="Word.Document.8">
                  <p:embed/>
                </p:oleObj>
              </mc:Choice>
              <mc:Fallback>
                <p:oleObj name="Document" r:id="rId5" imgW="3207167" imgH="1429844" progId="Word.Document.8">
                  <p:embed/>
                  <p:pic>
                    <p:nvPicPr>
                      <p:cNvPr id="24" name="Object 9">
                        <a:extLst>
                          <a:ext uri="{FF2B5EF4-FFF2-40B4-BE49-F238E27FC236}">
                            <a16:creationId xmlns:a16="http://schemas.microsoft.com/office/drawing/2014/main" id="{F047CD64-57C8-444D-B1A1-A225AE89E15A}"/>
                          </a:ext>
                        </a:extLst>
                      </p:cNvPr>
                      <p:cNvPicPr>
                        <a:picLocks noChangeAspect="1" noChangeArrowheads="1"/>
                      </p:cNvPicPr>
                      <p:nvPr/>
                    </p:nvPicPr>
                    <p:blipFill>
                      <a:blip r:embed="rId6"/>
                      <a:srcRect/>
                      <a:stretch>
                        <a:fillRect/>
                      </a:stretch>
                    </p:blipFill>
                    <p:spPr bwMode="auto">
                      <a:xfrm>
                        <a:off x="691410" y="2465517"/>
                        <a:ext cx="4321139" cy="1926966"/>
                      </a:xfrm>
                      <a:prstGeom prst="rect">
                        <a:avLst/>
                      </a:prstGeom>
                      <a:noFill/>
                      <a:ln>
                        <a:noFill/>
                      </a:ln>
                      <a:effectLst/>
                      <a:extLst/>
                    </p:spPr>
                  </p:pic>
                </p:oleObj>
              </mc:Fallback>
            </mc:AlternateContent>
          </a:graphicData>
        </a:graphic>
      </p:graphicFrame>
      <p:sp>
        <p:nvSpPr>
          <p:cNvPr id="12" name="Rectangle 11">
            <a:extLst>
              <a:ext uri="{FF2B5EF4-FFF2-40B4-BE49-F238E27FC236}">
                <a16:creationId xmlns:a16="http://schemas.microsoft.com/office/drawing/2014/main" id="{8069404E-0B18-4BAF-BBDE-A0133FC18407}"/>
              </a:ext>
            </a:extLst>
          </p:cNvPr>
          <p:cNvSpPr>
            <a:spLocks noChangeArrowheads="1"/>
          </p:cNvSpPr>
          <p:nvPr/>
        </p:nvSpPr>
        <p:spPr bwMode="auto">
          <a:xfrm>
            <a:off x="1738973" y="2105477"/>
            <a:ext cx="11833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0" dirty="0">
                <a:solidFill>
                  <a:schemeClr val="tx2"/>
                </a:solidFill>
              </a:rPr>
              <a:t>表</a:t>
            </a:r>
            <a:r>
              <a:rPr kumimoji="1" lang="en-US" altLang="zh-CN" sz="2000" b="0" dirty="0">
                <a:solidFill>
                  <a:schemeClr val="tx2"/>
                </a:solidFill>
              </a:rPr>
              <a:t>4-10</a:t>
            </a:r>
          </a:p>
        </p:txBody>
      </p:sp>
      <p:sp>
        <p:nvSpPr>
          <p:cNvPr id="13" name="Rectangle 11">
            <a:extLst>
              <a:ext uri="{FF2B5EF4-FFF2-40B4-BE49-F238E27FC236}">
                <a16:creationId xmlns:a16="http://schemas.microsoft.com/office/drawing/2014/main" id="{39242482-C2BA-4B7B-8D41-02700212DFE6}"/>
              </a:ext>
            </a:extLst>
          </p:cNvPr>
          <p:cNvSpPr>
            <a:spLocks noChangeArrowheads="1"/>
          </p:cNvSpPr>
          <p:nvPr/>
        </p:nvSpPr>
        <p:spPr bwMode="auto">
          <a:xfrm>
            <a:off x="5620911" y="2092786"/>
            <a:ext cx="11833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0" dirty="0">
                <a:solidFill>
                  <a:schemeClr val="tx2"/>
                </a:solidFill>
              </a:rPr>
              <a:t>表</a:t>
            </a:r>
            <a:r>
              <a:rPr kumimoji="1" lang="en-US" altLang="zh-CN" sz="2000" b="0" dirty="0">
                <a:solidFill>
                  <a:schemeClr val="tx2"/>
                </a:solidFill>
              </a:rPr>
              <a:t>4-17</a:t>
            </a:r>
          </a:p>
        </p:txBody>
      </p:sp>
      <p:graphicFrame>
        <p:nvGraphicFramePr>
          <p:cNvPr id="14" name="Object 9">
            <a:extLst>
              <a:ext uri="{FF2B5EF4-FFF2-40B4-BE49-F238E27FC236}">
                <a16:creationId xmlns:a16="http://schemas.microsoft.com/office/drawing/2014/main" id="{FD9EAEB5-6E7B-43AD-B376-2703375A31AF}"/>
              </a:ext>
            </a:extLst>
          </p:cNvPr>
          <p:cNvGraphicFramePr>
            <a:graphicFrameLocks noChangeAspect="1"/>
          </p:cNvGraphicFramePr>
          <p:nvPr>
            <p:extLst>
              <p:ext uri="{D42A27DB-BD31-4B8C-83A1-F6EECF244321}">
                <p14:modId xmlns:p14="http://schemas.microsoft.com/office/powerpoint/2010/main" val="575233930"/>
              </p:ext>
            </p:extLst>
          </p:nvPr>
        </p:nvGraphicFramePr>
        <p:xfrm>
          <a:off x="4263214" y="4725144"/>
          <a:ext cx="5013994" cy="2132855"/>
        </p:xfrm>
        <a:graphic>
          <a:graphicData uri="http://schemas.openxmlformats.org/presentationml/2006/ole">
            <mc:AlternateContent xmlns:mc="http://schemas.openxmlformats.org/markup-compatibility/2006">
              <mc:Choice xmlns:v="urn:schemas-microsoft-com:vml" Requires="v">
                <p:oleObj spid="_x0000_s724172" name="Document" r:id="rId7" imgW="3362061" imgH="1429844" progId="Word.Document.8">
                  <p:embed/>
                </p:oleObj>
              </mc:Choice>
              <mc:Fallback>
                <p:oleObj name="Document" r:id="rId7" imgW="3362061" imgH="1429844" progId="Word.Document.8">
                  <p:embed/>
                  <p:pic>
                    <p:nvPicPr>
                      <p:cNvPr id="647177" name="Object 9">
                        <a:extLst>
                          <a:ext uri="{FF2B5EF4-FFF2-40B4-BE49-F238E27FC236}">
                            <a16:creationId xmlns:a16="http://schemas.microsoft.com/office/drawing/2014/main" id="{633E3EE0-95DE-409A-98FA-5FD81554D03E}"/>
                          </a:ext>
                        </a:extLst>
                      </p:cNvPr>
                      <p:cNvPicPr>
                        <a:picLocks noChangeAspect="1" noChangeArrowheads="1"/>
                      </p:cNvPicPr>
                      <p:nvPr/>
                    </p:nvPicPr>
                    <p:blipFill>
                      <a:blip r:embed="rId8"/>
                      <a:srcRect/>
                      <a:stretch>
                        <a:fillRect/>
                      </a:stretch>
                    </p:blipFill>
                    <p:spPr bwMode="auto">
                      <a:xfrm>
                        <a:off x="4263214" y="4725144"/>
                        <a:ext cx="5013994" cy="2132855"/>
                      </a:xfrm>
                      <a:prstGeom prst="rect">
                        <a:avLst/>
                      </a:prstGeom>
                      <a:noFill/>
                      <a:ln>
                        <a:noFill/>
                      </a:ln>
                      <a:effectLst/>
                      <a:extLst/>
                    </p:spPr>
                  </p:pic>
                </p:oleObj>
              </mc:Fallback>
            </mc:AlternateContent>
          </a:graphicData>
        </a:graphic>
      </p:graphicFrame>
      <p:sp>
        <p:nvSpPr>
          <p:cNvPr id="15" name="Rectangle 11">
            <a:extLst>
              <a:ext uri="{FF2B5EF4-FFF2-40B4-BE49-F238E27FC236}">
                <a16:creationId xmlns:a16="http://schemas.microsoft.com/office/drawing/2014/main" id="{3B5E4FA9-F5A0-439D-9598-3AE528E755A7}"/>
              </a:ext>
            </a:extLst>
          </p:cNvPr>
          <p:cNvSpPr>
            <a:spLocks noChangeArrowheads="1"/>
          </p:cNvSpPr>
          <p:nvPr/>
        </p:nvSpPr>
        <p:spPr bwMode="auto">
          <a:xfrm>
            <a:off x="8320454" y="5119715"/>
            <a:ext cx="92685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0" dirty="0" smtClean="0">
                <a:solidFill>
                  <a:schemeClr val="tx2"/>
                </a:solidFill>
              </a:rPr>
              <a:t>表</a:t>
            </a:r>
            <a:endParaRPr kumimoji="1" lang="en-US" altLang="zh-CN" sz="2000" b="0" dirty="0" smtClean="0">
              <a:solidFill>
                <a:schemeClr val="tx2"/>
              </a:solidFill>
            </a:endParaRPr>
          </a:p>
          <a:p>
            <a:r>
              <a:rPr kumimoji="1" lang="en-US" altLang="zh-CN" sz="2000" b="0" dirty="0" smtClean="0">
                <a:solidFill>
                  <a:schemeClr val="tx2"/>
                </a:solidFill>
              </a:rPr>
              <a:t>4-18</a:t>
            </a:r>
            <a:endParaRPr kumimoji="1" lang="en-US" altLang="zh-CN" sz="2000" b="0" dirty="0">
              <a:solidFill>
                <a:schemeClr val="tx2"/>
              </a:solidFill>
            </a:endParaRPr>
          </a:p>
        </p:txBody>
      </p:sp>
      <p:sp>
        <p:nvSpPr>
          <p:cNvPr id="16" name="Rectangle 11">
            <a:extLst>
              <a:ext uri="{FF2B5EF4-FFF2-40B4-BE49-F238E27FC236}">
                <a16:creationId xmlns:a16="http://schemas.microsoft.com/office/drawing/2014/main" id="{FA8DFF84-B0B2-463D-B44D-B49AB5D07B5E}"/>
              </a:ext>
            </a:extLst>
          </p:cNvPr>
          <p:cNvSpPr>
            <a:spLocks noChangeArrowheads="1"/>
          </p:cNvSpPr>
          <p:nvPr/>
        </p:nvSpPr>
        <p:spPr bwMode="auto">
          <a:xfrm>
            <a:off x="351174" y="4869160"/>
            <a:ext cx="396044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buClrTx/>
              <a:buSzTx/>
              <a:buFontTx/>
              <a:buNone/>
            </a:pPr>
            <a:r>
              <a:rPr kumimoji="1" lang="zh-CN" altLang="en-US" sz="1800" b="0" dirty="0">
                <a:latin typeface="Times New Roman" panose="02020603050405020304" pitchFamily="18" charset="0"/>
              </a:rPr>
              <a:t>先令</a:t>
            </a:r>
            <a:r>
              <a:rPr kumimoji="1" lang="en-US" altLang="zh-CN" sz="1800" b="0" i="1" dirty="0">
                <a:latin typeface="Times New Roman" panose="02020603050405020304" pitchFamily="18" charset="0"/>
              </a:rPr>
              <a:t>u</a:t>
            </a:r>
            <a:r>
              <a:rPr kumimoji="1" lang="en-US" altLang="zh-CN" sz="1800" b="0" baseline="-30000" dirty="0">
                <a:latin typeface="Times New Roman" panose="02020603050405020304" pitchFamily="18" charset="0"/>
              </a:rPr>
              <a:t>1</a:t>
            </a:r>
            <a:r>
              <a:rPr kumimoji="1" lang="en-US" altLang="zh-CN" sz="1800" b="0" dirty="0">
                <a:latin typeface="Times New Roman" panose="02020603050405020304" pitchFamily="18" charset="0"/>
              </a:rPr>
              <a:t>=0</a:t>
            </a:r>
            <a:r>
              <a:rPr kumimoji="1" lang="zh-CN" altLang="en-US" sz="1800" b="0" dirty="0">
                <a:latin typeface="Times New Roman" panose="02020603050405020304" pitchFamily="18" charset="0"/>
              </a:rPr>
              <a:t>，然后按</a:t>
            </a:r>
            <a:r>
              <a:rPr kumimoji="1" lang="en-US" altLang="zh-CN" sz="1800" b="0" i="1" dirty="0" err="1">
                <a:latin typeface="Times New Roman" panose="02020603050405020304" pitchFamily="18" charset="0"/>
              </a:rPr>
              <a:t>u</a:t>
            </a:r>
            <a:r>
              <a:rPr kumimoji="1" lang="en-US" altLang="zh-CN" sz="1800" b="0" i="1" baseline="-30000" dirty="0" err="1">
                <a:latin typeface="Times New Roman" panose="02020603050405020304" pitchFamily="18" charset="0"/>
              </a:rPr>
              <a:t>i</a:t>
            </a:r>
            <a:r>
              <a:rPr kumimoji="1" lang="en-US" altLang="zh-CN" sz="1800" b="0" dirty="0" err="1">
                <a:latin typeface="Times New Roman" panose="02020603050405020304" pitchFamily="18" charset="0"/>
              </a:rPr>
              <a:t>+</a:t>
            </a:r>
            <a:r>
              <a:rPr kumimoji="1" lang="en-US" altLang="zh-CN" sz="1800" b="0" i="1" dirty="0" err="1">
                <a:latin typeface="Times New Roman" panose="02020603050405020304" pitchFamily="18" charset="0"/>
              </a:rPr>
              <a:t>v</a:t>
            </a:r>
            <a:r>
              <a:rPr kumimoji="1" lang="en-US" altLang="zh-CN" sz="1800" b="0" i="1" baseline="-30000" dirty="0" err="1">
                <a:latin typeface="Times New Roman" panose="02020603050405020304" pitchFamily="18" charset="0"/>
              </a:rPr>
              <a:t>j</a:t>
            </a:r>
            <a:r>
              <a:rPr kumimoji="1" lang="en-US" altLang="zh-CN" sz="1800" b="0" dirty="0">
                <a:latin typeface="Times New Roman" panose="02020603050405020304" pitchFamily="18" charset="0"/>
              </a:rPr>
              <a:t>=</a:t>
            </a:r>
            <a:r>
              <a:rPr kumimoji="1" lang="en-US" altLang="zh-CN" sz="1800" b="0" i="1" dirty="0" err="1">
                <a:latin typeface="Times New Roman" panose="02020603050405020304" pitchFamily="18" charset="0"/>
              </a:rPr>
              <a:t>c</a:t>
            </a:r>
            <a:r>
              <a:rPr kumimoji="1" lang="en-US" altLang="zh-CN" sz="1800" b="0" i="1" baseline="-30000" dirty="0" err="1">
                <a:latin typeface="Times New Roman" panose="02020603050405020304" pitchFamily="18" charset="0"/>
              </a:rPr>
              <a:t>ij</a:t>
            </a:r>
            <a:r>
              <a:rPr kumimoji="1" lang="zh-CN" altLang="en-US" sz="1800" b="0" dirty="0">
                <a:latin typeface="Times New Roman" panose="02020603050405020304" pitchFamily="18" charset="0"/>
              </a:rPr>
              <a:t>，</a:t>
            </a:r>
            <a:r>
              <a:rPr kumimoji="1" lang="zh-CN" altLang="en-US" sz="1800" b="0" i="1" dirty="0">
                <a:latin typeface="Times New Roman" panose="02020603050405020304" pitchFamily="18" charset="0"/>
              </a:rPr>
              <a:t> </a:t>
            </a:r>
            <a:r>
              <a:rPr kumimoji="1" lang="en-US" altLang="zh-CN" sz="1800" b="0" i="1" dirty="0" err="1">
                <a:latin typeface="Times New Roman" panose="02020603050405020304" pitchFamily="18" charset="0"/>
              </a:rPr>
              <a:t>i</a:t>
            </a:r>
            <a:r>
              <a:rPr kumimoji="1" lang="zh-CN" altLang="en-US" sz="1800" b="0" dirty="0">
                <a:latin typeface="Times New Roman" panose="02020603050405020304" pitchFamily="18" charset="0"/>
              </a:rPr>
              <a:t>，</a:t>
            </a:r>
            <a:r>
              <a:rPr kumimoji="1" lang="en-US" altLang="zh-CN" sz="1800" b="0" i="1" dirty="0" err="1">
                <a:latin typeface="Times New Roman" panose="02020603050405020304" pitchFamily="18" charset="0"/>
              </a:rPr>
              <a:t>j</a:t>
            </a:r>
            <a:r>
              <a:rPr kumimoji="1" lang="en-US" altLang="zh-CN" sz="1800" b="0" dirty="0" err="1">
                <a:latin typeface="Times New Roman" panose="02020603050405020304" pitchFamily="18" charset="0"/>
              </a:rPr>
              <a:t>∈</a:t>
            </a:r>
            <a:r>
              <a:rPr kumimoji="1" lang="en-US" altLang="zh-CN" sz="1800" b="0" i="1" dirty="0" err="1">
                <a:latin typeface="Times New Roman" panose="02020603050405020304" pitchFamily="18" charset="0"/>
              </a:rPr>
              <a:t>B</a:t>
            </a:r>
            <a:r>
              <a:rPr kumimoji="1" lang="zh-CN" altLang="en-US" sz="1800" b="0" dirty="0">
                <a:latin typeface="Times New Roman" panose="02020603050405020304" pitchFamily="18" charset="0"/>
              </a:rPr>
              <a:t>相继地确定</a:t>
            </a:r>
            <a:r>
              <a:rPr kumimoji="1" lang="en-US" altLang="zh-CN" sz="1800" b="0" i="1" dirty="0" err="1">
                <a:latin typeface="Times New Roman" panose="02020603050405020304" pitchFamily="18" charset="0"/>
              </a:rPr>
              <a:t>u</a:t>
            </a:r>
            <a:r>
              <a:rPr kumimoji="1" lang="en-US" altLang="zh-CN" sz="1800" b="0" i="1" baseline="-30000" dirty="0" err="1">
                <a:latin typeface="Times New Roman" panose="02020603050405020304" pitchFamily="18" charset="0"/>
              </a:rPr>
              <a:t>i</a:t>
            </a:r>
            <a:r>
              <a:rPr kumimoji="1" lang="zh-CN" altLang="en-US" sz="1800" b="0" dirty="0">
                <a:latin typeface="Times New Roman" panose="02020603050405020304" pitchFamily="18" charset="0"/>
              </a:rPr>
              <a:t>，</a:t>
            </a:r>
            <a:r>
              <a:rPr kumimoji="1" lang="en-US" altLang="zh-CN" sz="1800" b="0" i="1" dirty="0" err="1">
                <a:latin typeface="Times New Roman" panose="02020603050405020304" pitchFamily="18" charset="0"/>
              </a:rPr>
              <a:t>v</a:t>
            </a:r>
            <a:r>
              <a:rPr kumimoji="1" lang="en-US" altLang="zh-CN" sz="1800" b="0" i="1" baseline="-30000" dirty="0" err="1">
                <a:latin typeface="Times New Roman" panose="02020603050405020304" pitchFamily="18" charset="0"/>
              </a:rPr>
              <a:t>j</a:t>
            </a:r>
            <a:r>
              <a:rPr kumimoji="1" lang="zh-CN" altLang="en-US" sz="1800" b="0" dirty="0">
                <a:latin typeface="Times New Roman" panose="02020603050405020304" pitchFamily="18" charset="0"/>
              </a:rPr>
              <a:t>。由</a:t>
            </a:r>
            <a:r>
              <a:rPr kumimoji="1" lang="zh-CN" altLang="en-US" sz="1800" b="0" dirty="0" smtClean="0">
                <a:latin typeface="Times New Roman" panose="02020603050405020304" pitchFamily="18" charset="0"/>
              </a:rPr>
              <a:t>表</a:t>
            </a:r>
            <a:r>
              <a:rPr kumimoji="1" lang="en-US" altLang="zh-CN" sz="1800" b="0" dirty="0" smtClean="0">
                <a:latin typeface="Times New Roman" panose="02020603050405020304" pitchFamily="18" charset="0"/>
              </a:rPr>
              <a:t>4-18</a:t>
            </a:r>
            <a:r>
              <a:rPr kumimoji="1" lang="zh-CN" altLang="en-US" sz="1800" b="0" dirty="0" smtClean="0">
                <a:latin typeface="Times New Roman" panose="02020603050405020304" pitchFamily="18" charset="0"/>
              </a:rPr>
              <a:t>可见：</a:t>
            </a:r>
            <a:endParaRPr kumimoji="1" lang="en-US" altLang="zh-CN" sz="1800" b="0" dirty="0" smtClean="0">
              <a:latin typeface="Times New Roman" panose="02020603050405020304" pitchFamily="18" charset="0"/>
            </a:endParaRPr>
          </a:p>
          <a:p>
            <a:pPr>
              <a:spcBef>
                <a:spcPct val="0"/>
              </a:spcBef>
              <a:buClrTx/>
              <a:buSzTx/>
              <a:buFontTx/>
              <a:buNone/>
            </a:pPr>
            <a:r>
              <a:rPr kumimoji="1" lang="zh-CN" altLang="en-US" sz="1800" b="0" dirty="0" smtClean="0">
                <a:latin typeface="Times New Roman" panose="02020603050405020304" pitchFamily="18" charset="0"/>
              </a:rPr>
              <a:t>当</a:t>
            </a:r>
            <a:r>
              <a:rPr kumimoji="1" lang="en-US" altLang="zh-CN" sz="1800" b="0" i="1" dirty="0">
                <a:latin typeface="Times New Roman" panose="02020603050405020304" pitchFamily="18" charset="0"/>
              </a:rPr>
              <a:t>u</a:t>
            </a:r>
            <a:r>
              <a:rPr kumimoji="1" lang="en-US" altLang="zh-CN" sz="1800" b="0" baseline="-30000" dirty="0">
                <a:latin typeface="Times New Roman" panose="02020603050405020304" pitchFamily="18" charset="0"/>
              </a:rPr>
              <a:t>1</a:t>
            </a:r>
            <a:r>
              <a:rPr kumimoji="1" lang="en-US" altLang="zh-CN" sz="1800" b="0" dirty="0">
                <a:latin typeface="Times New Roman" panose="02020603050405020304" pitchFamily="18" charset="0"/>
              </a:rPr>
              <a:t>=0</a:t>
            </a:r>
            <a:r>
              <a:rPr kumimoji="1" lang="zh-CN" altLang="en-US" sz="1800" b="0" dirty="0">
                <a:latin typeface="Times New Roman" panose="02020603050405020304" pitchFamily="18" charset="0"/>
              </a:rPr>
              <a:t>时</a:t>
            </a:r>
            <a:r>
              <a:rPr kumimoji="1" lang="zh-CN" altLang="en-US" sz="1800" b="0" dirty="0" smtClean="0">
                <a:latin typeface="Times New Roman" panose="02020603050405020304" pitchFamily="18" charset="0"/>
              </a:rPr>
              <a:t>，  由</a:t>
            </a:r>
            <a:r>
              <a:rPr kumimoji="1" lang="en-US" altLang="zh-CN" sz="1800" b="0" i="1" dirty="0">
                <a:latin typeface="Times New Roman" panose="02020603050405020304" pitchFamily="18" charset="0"/>
              </a:rPr>
              <a:t>u</a:t>
            </a:r>
            <a:r>
              <a:rPr kumimoji="1" lang="en-US" altLang="zh-CN" sz="1800" b="0" baseline="-30000" dirty="0">
                <a:latin typeface="Times New Roman" panose="02020603050405020304" pitchFamily="18" charset="0"/>
              </a:rPr>
              <a:t>1</a:t>
            </a:r>
            <a:r>
              <a:rPr kumimoji="1" lang="en-US" altLang="zh-CN" sz="1800" b="0" i="1" dirty="0">
                <a:latin typeface="Times New Roman" panose="02020603050405020304" pitchFamily="18" charset="0"/>
              </a:rPr>
              <a:t>+v</a:t>
            </a:r>
            <a:r>
              <a:rPr kumimoji="1" lang="en-US" altLang="zh-CN" sz="1800" b="0" baseline="-30000" dirty="0">
                <a:latin typeface="Times New Roman" panose="02020603050405020304" pitchFamily="18" charset="0"/>
              </a:rPr>
              <a:t>3</a:t>
            </a:r>
            <a:r>
              <a:rPr kumimoji="1" lang="en-US" altLang="zh-CN" sz="1800" b="0" i="1" dirty="0">
                <a:latin typeface="Times New Roman" panose="02020603050405020304" pitchFamily="18" charset="0"/>
              </a:rPr>
              <a:t>=3</a:t>
            </a:r>
            <a:r>
              <a:rPr kumimoji="1" lang="zh-CN" altLang="en-US" sz="1800" b="0" dirty="0">
                <a:latin typeface="Times New Roman" panose="02020603050405020304" pitchFamily="18" charset="0"/>
              </a:rPr>
              <a:t>可得</a:t>
            </a:r>
            <a:r>
              <a:rPr kumimoji="1" lang="en-US" altLang="zh-CN" sz="1800" b="0" i="1" dirty="0">
                <a:latin typeface="Times New Roman" panose="02020603050405020304" pitchFamily="18" charset="0"/>
              </a:rPr>
              <a:t>v</a:t>
            </a:r>
            <a:r>
              <a:rPr kumimoji="1" lang="en-US" altLang="zh-CN" sz="1800" b="0" baseline="-30000" dirty="0">
                <a:latin typeface="Times New Roman" panose="02020603050405020304" pitchFamily="18" charset="0"/>
              </a:rPr>
              <a:t>3</a:t>
            </a:r>
            <a:r>
              <a:rPr kumimoji="1" lang="en-US" altLang="zh-CN" sz="1800" b="0" dirty="0">
                <a:latin typeface="Times New Roman" panose="02020603050405020304" pitchFamily="18" charset="0"/>
              </a:rPr>
              <a:t>=3</a:t>
            </a:r>
            <a:r>
              <a:rPr kumimoji="1" lang="zh-CN" altLang="en-US" sz="1800" b="0" dirty="0" smtClean="0">
                <a:latin typeface="Times New Roman" panose="02020603050405020304" pitchFamily="18" charset="0"/>
              </a:rPr>
              <a:t>，</a:t>
            </a:r>
            <a:endParaRPr kumimoji="1" lang="en-US" altLang="zh-CN" sz="1800" b="0" dirty="0">
              <a:latin typeface="Times New Roman" panose="02020603050405020304" pitchFamily="18" charset="0"/>
            </a:endParaRPr>
          </a:p>
          <a:p>
            <a:pPr>
              <a:spcBef>
                <a:spcPct val="0"/>
              </a:spcBef>
              <a:buClrTx/>
              <a:buSzTx/>
              <a:buFontTx/>
              <a:buNone/>
            </a:pPr>
            <a:r>
              <a:rPr kumimoji="1" lang="zh-CN" altLang="en-US" sz="1800" b="0" dirty="0" smtClean="0">
                <a:latin typeface="Times New Roman" panose="02020603050405020304" pitchFamily="18" charset="0"/>
              </a:rPr>
              <a:t>                     由</a:t>
            </a:r>
            <a:r>
              <a:rPr kumimoji="1" lang="en-US" altLang="zh-CN" sz="1800" b="0" i="1" dirty="0">
                <a:latin typeface="Times New Roman" panose="02020603050405020304" pitchFamily="18" charset="0"/>
              </a:rPr>
              <a:t>u</a:t>
            </a:r>
            <a:r>
              <a:rPr kumimoji="1" lang="en-US" altLang="zh-CN" sz="1800" b="0" baseline="-30000" dirty="0">
                <a:latin typeface="Times New Roman" panose="02020603050405020304" pitchFamily="18" charset="0"/>
              </a:rPr>
              <a:t>1</a:t>
            </a:r>
            <a:r>
              <a:rPr kumimoji="1" lang="en-US" altLang="zh-CN" sz="1800" b="0" dirty="0">
                <a:latin typeface="Times New Roman" panose="02020603050405020304" pitchFamily="18" charset="0"/>
              </a:rPr>
              <a:t>+</a:t>
            </a:r>
            <a:r>
              <a:rPr kumimoji="1" lang="en-US" altLang="zh-CN" sz="1800" b="0" i="1" dirty="0">
                <a:latin typeface="Times New Roman" panose="02020603050405020304" pitchFamily="18" charset="0"/>
              </a:rPr>
              <a:t>v</a:t>
            </a:r>
            <a:r>
              <a:rPr kumimoji="1" lang="en-US" altLang="zh-CN" sz="1800" b="0" baseline="-30000" dirty="0">
                <a:latin typeface="Times New Roman" panose="02020603050405020304" pitchFamily="18" charset="0"/>
              </a:rPr>
              <a:t>4</a:t>
            </a:r>
            <a:r>
              <a:rPr kumimoji="1" lang="en-US" altLang="zh-CN" sz="1800" b="0" dirty="0">
                <a:latin typeface="Times New Roman" panose="02020603050405020304" pitchFamily="18" charset="0"/>
              </a:rPr>
              <a:t>=10</a:t>
            </a:r>
            <a:r>
              <a:rPr kumimoji="1" lang="zh-CN" altLang="en-US" sz="1800" b="0" dirty="0">
                <a:latin typeface="Times New Roman" panose="02020603050405020304" pitchFamily="18" charset="0"/>
              </a:rPr>
              <a:t>可得</a:t>
            </a:r>
            <a:r>
              <a:rPr kumimoji="1" lang="en-US" altLang="zh-CN" sz="1800" b="0" i="1" dirty="0">
                <a:latin typeface="Times New Roman" panose="02020603050405020304" pitchFamily="18" charset="0"/>
              </a:rPr>
              <a:t>v</a:t>
            </a:r>
            <a:r>
              <a:rPr kumimoji="1" lang="en-US" altLang="zh-CN" sz="1800" b="0" baseline="-30000" dirty="0">
                <a:latin typeface="Times New Roman" panose="02020603050405020304" pitchFamily="18" charset="0"/>
              </a:rPr>
              <a:t>4</a:t>
            </a:r>
            <a:r>
              <a:rPr kumimoji="1" lang="en-US" altLang="zh-CN" sz="1800" b="0" dirty="0">
                <a:latin typeface="Times New Roman" panose="02020603050405020304" pitchFamily="18" charset="0"/>
              </a:rPr>
              <a:t>=10</a:t>
            </a:r>
            <a:r>
              <a:rPr kumimoji="1" lang="zh-CN" altLang="en-US" sz="1800" b="0" dirty="0" smtClean="0">
                <a:latin typeface="Times New Roman" panose="02020603050405020304" pitchFamily="18" charset="0"/>
              </a:rPr>
              <a:t>；</a:t>
            </a:r>
            <a:endParaRPr kumimoji="1" lang="en-US" altLang="zh-CN" sz="1800" b="0" dirty="0" smtClean="0">
              <a:latin typeface="Times New Roman" panose="02020603050405020304" pitchFamily="18" charset="0"/>
            </a:endParaRPr>
          </a:p>
          <a:p>
            <a:pPr>
              <a:spcBef>
                <a:spcPct val="0"/>
              </a:spcBef>
              <a:buClrTx/>
              <a:buSzTx/>
              <a:buFontTx/>
              <a:buNone/>
            </a:pPr>
            <a:r>
              <a:rPr kumimoji="1" lang="zh-CN" altLang="en-US" sz="1800" b="0" dirty="0" smtClean="0">
                <a:latin typeface="Times New Roman" panose="02020603050405020304" pitchFamily="18" charset="0"/>
              </a:rPr>
              <a:t>在</a:t>
            </a:r>
            <a:r>
              <a:rPr kumimoji="1" lang="en-US" altLang="zh-CN" sz="1800" b="0" i="1" dirty="0">
                <a:latin typeface="Times New Roman" panose="02020603050405020304" pitchFamily="18" charset="0"/>
              </a:rPr>
              <a:t>v</a:t>
            </a:r>
            <a:r>
              <a:rPr kumimoji="1" lang="en-US" altLang="zh-CN" sz="1800" b="0" baseline="-30000" dirty="0">
                <a:latin typeface="Times New Roman" panose="02020603050405020304" pitchFamily="18" charset="0"/>
              </a:rPr>
              <a:t>4</a:t>
            </a:r>
            <a:r>
              <a:rPr kumimoji="1" lang="en-US" altLang="zh-CN" sz="1800" b="0" dirty="0">
                <a:latin typeface="Times New Roman" panose="02020603050405020304" pitchFamily="18" charset="0"/>
              </a:rPr>
              <a:t>=10</a:t>
            </a:r>
            <a:r>
              <a:rPr kumimoji="1" lang="zh-CN" altLang="en-US" sz="1800" b="0" dirty="0">
                <a:latin typeface="Times New Roman" panose="02020603050405020304" pitchFamily="18" charset="0"/>
              </a:rPr>
              <a:t>时，由</a:t>
            </a:r>
            <a:r>
              <a:rPr kumimoji="1" lang="en-US" altLang="zh-CN" sz="1800" b="0" i="1" dirty="0">
                <a:latin typeface="Times New Roman" panose="02020603050405020304" pitchFamily="18" charset="0"/>
              </a:rPr>
              <a:t>u</a:t>
            </a:r>
            <a:r>
              <a:rPr kumimoji="1" lang="en-US" altLang="zh-CN" sz="1800" b="0" baseline="-30000" dirty="0">
                <a:latin typeface="Times New Roman" panose="02020603050405020304" pitchFamily="18" charset="0"/>
              </a:rPr>
              <a:t>3</a:t>
            </a:r>
            <a:r>
              <a:rPr kumimoji="1" lang="en-US" altLang="zh-CN" sz="1800" b="0" dirty="0">
                <a:latin typeface="Times New Roman" panose="02020603050405020304" pitchFamily="18" charset="0"/>
              </a:rPr>
              <a:t>+</a:t>
            </a:r>
            <a:r>
              <a:rPr kumimoji="1" lang="en-US" altLang="zh-CN" sz="1800" b="0" i="1" dirty="0">
                <a:latin typeface="Times New Roman" panose="02020603050405020304" pitchFamily="18" charset="0"/>
              </a:rPr>
              <a:t>v</a:t>
            </a:r>
            <a:r>
              <a:rPr kumimoji="1" lang="en-US" altLang="zh-CN" sz="1800" b="0" baseline="-30000" dirty="0">
                <a:latin typeface="Times New Roman" panose="02020603050405020304" pitchFamily="18" charset="0"/>
              </a:rPr>
              <a:t>4</a:t>
            </a:r>
            <a:r>
              <a:rPr kumimoji="1" lang="en-US" altLang="zh-CN" sz="1800" b="0" dirty="0">
                <a:latin typeface="Times New Roman" panose="02020603050405020304" pitchFamily="18" charset="0"/>
              </a:rPr>
              <a:t>=5</a:t>
            </a:r>
            <a:r>
              <a:rPr kumimoji="1" lang="zh-CN" altLang="en-US" sz="1800" b="0" dirty="0">
                <a:latin typeface="Times New Roman" panose="02020603050405020304" pitchFamily="18" charset="0"/>
              </a:rPr>
              <a:t>可得</a:t>
            </a:r>
            <a:r>
              <a:rPr kumimoji="1" lang="en-US" altLang="zh-CN" sz="1800" b="0" i="1" dirty="0">
                <a:latin typeface="Times New Roman" panose="02020603050405020304" pitchFamily="18" charset="0"/>
              </a:rPr>
              <a:t>u</a:t>
            </a:r>
            <a:r>
              <a:rPr kumimoji="1" lang="en-US" altLang="zh-CN" sz="1800" b="0" baseline="-30000" dirty="0">
                <a:latin typeface="Times New Roman" panose="02020603050405020304" pitchFamily="18" charset="0"/>
              </a:rPr>
              <a:t>3</a:t>
            </a:r>
            <a:r>
              <a:rPr kumimoji="1" lang="en-US" altLang="zh-CN" sz="1800" b="0" dirty="0">
                <a:latin typeface="Times New Roman" panose="02020603050405020304" pitchFamily="18" charset="0"/>
              </a:rPr>
              <a:t>= </a:t>
            </a:r>
            <a:r>
              <a:rPr lang="en-US" altLang="zh-CN" sz="1800" b="0" dirty="0"/>
              <a:t>−</a:t>
            </a:r>
            <a:r>
              <a:rPr kumimoji="1" lang="en-US" altLang="zh-CN" sz="1800" dirty="0"/>
              <a:t> </a:t>
            </a:r>
            <a:r>
              <a:rPr kumimoji="1" lang="en-US" altLang="zh-CN" sz="1800" b="0" dirty="0">
                <a:latin typeface="Times New Roman" panose="02020603050405020304" pitchFamily="18" charset="0"/>
              </a:rPr>
              <a:t>5</a:t>
            </a:r>
            <a:r>
              <a:rPr kumimoji="1" lang="zh-CN" altLang="en-US" sz="1800" b="0" dirty="0" smtClean="0">
                <a:latin typeface="Times New Roman" panose="02020603050405020304" pitchFamily="18" charset="0"/>
              </a:rPr>
              <a:t>，</a:t>
            </a:r>
            <a:endParaRPr kumimoji="1" lang="en-US" altLang="zh-CN" sz="1800" b="0" dirty="0" smtClean="0">
              <a:latin typeface="Times New Roman" panose="02020603050405020304" pitchFamily="18" charset="0"/>
            </a:endParaRPr>
          </a:p>
          <a:p>
            <a:pPr>
              <a:spcBef>
                <a:spcPct val="0"/>
              </a:spcBef>
              <a:buClrTx/>
              <a:buSzTx/>
              <a:buFontTx/>
              <a:buNone/>
            </a:pPr>
            <a:r>
              <a:rPr kumimoji="1" lang="zh-CN" altLang="en-US" sz="1800" b="0" dirty="0" smtClean="0">
                <a:latin typeface="Times New Roman" panose="02020603050405020304" pitchFamily="18" charset="0"/>
              </a:rPr>
              <a:t>以此类推</a:t>
            </a:r>
            <a:r>
              <a:rPr kumimoji="1" lang="zh-CN" altLang="en-US" sz="1800" b="0" dirty="0">
                <a:latin typeface="Times New Roman" panose="02020603050405020304" pitchFamily="18" charset="0"/>
              </a:rPr>
              <a:t>可确定所有的</a:t>
            </a:r>
            <a:r>
              <a:rPr kumimoji="1" lang="en-US" altLang="zh-CN" sz="1800" b="0" i="1" dirty="0" err="1">
                <a:latin typeface="Times New Roman" panose="02020603050405020304" pitchFamily="18" charset="0"/>
              </a:rPr>
              <a:t>u</a:t>
            </a:r>
            <a:r>
              <a:rPr kumimoji="1" lang="en-US" altLang="zh-CN" sz="1800" b="0" i="1" baseline="-30000" dirty="0" err="1">
                <a:latin typeface="Times New Roman" panose="02020603050405020304" pitchFamily="18" charset="0"/>
              </a:rPr>
              <a:t>i</a:t>
            </a:r>
            <a:r>
              <a:rPr kumimoji="1" lang="zh-CN" altLang="en-US" sz="1800" b="0" dirty="0">
                <a:latin typeface="Times New Roman" panose="02020603050405020304" pitchFamily="18" charset="0"/>
              </a:rPr>
              <a:t>，</a:t>
            </a:r>
            <a:r>
              <a:rPr kumimoji="1" lang="en-US" altLang="zh-CN" sz="1800" b="0" i="1" dirty="0" err="1">
                <a:latin typeface="Times New Roman" panose="02020603050405020304" pitchFamily="18" charset="0"/>
              </a:rPr>
              <a:t>v</a:t>
            </a:r>
            <a:r>
              <a:rPr kumimoji="1" lang="en-US" altLang="zh-CN" sz="1800" b="0" i="1" baseline="-30000" dirty="0" err="1">
                <a:latin typeface="Times New Roman" panose="02020603050405020304" pitchFamily="18" charset="0"/>
              </a:rPr>
              <a:t>j</a:t>
            </a:r>
            <a:r>
              <a:rPr kumimoji="1" lang="zh-CN" altLang="en-US" sz="1800" b="0" dirty="0">
                <a:latin typeface="Times New Roman" panose="02020603050405020304" pitchFamily="18" charset="0"/>
              </a:rPr>
              <a:t>的数值。 </a:t>
            </a:r>
          </a:p>
        </p:txBody>
      </p:sp>
    </p:spTree>
    <p:extLst>
      <p:ext uri="{BB962C8B-B14F-4D97-AF65-F5344CB8AC3E}">
        <p14:creationId xmlns:p14="http://schemas.microsoft.com/office/powerpoint/2010/main" val="2900829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a:xfrm>
            <a:off x="1187624" y="471258"/>
            <a:ext cx="7054850" cy="457200"/>
          </a:xfrm>
        </p:spPr>
        <p:txBody>
          <a:bodyPr/>
          <a:lstStyle/>
          <a:p>
            <a:r>
              <a:rPr lang="en-US" altLang="zh-CN" dirty="0">
                <a:latin typeface="宋体" panose="02010600030101010101" pitchFamily="2" charset="-122"/>
              </a:rPr>
              <a:t>4.2.2  </a:t>
            </a:r>
            <a:r>
              <a:rPr lang="zh-CN" altLang="en-US" dirty="0">
                <a:latin typeface="宋体" panose="02010600030101010101" pitchFamily="2" charset="-122"/>
              </a:rPr>
              <a:t>最优解的判别</a:t>
            </a: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dirty="0"/>
              <a:t>2. </a:t>
            </a:r>
            <a:r>
              <a:rPr lang="zh-CN" altLang="en-US" dirty="0"/>
              <a:t>位势法</a:t>
            </a:r>
          </a:p>
          <a:p>
            <a:pPr lvl="1"/>
            <a:r>
              <a:rPr lang="zh-CN" altLang="en-US" sz="2000" dirty="0" smtClean="0">
                <a:latin typeface="+mn-ea"/>
                <a:ea typeface="+mn-ea"/>
              </a:rPr>
              <a:t>第三</a:t>
            </a:r>
            <a:r>
              <a:rPr lang="zh-CN" altLang="en-US" sz="2000" dirty="0">
                <a:latin typeface="+mn-ea"/>
                <a:ea typeface="+mn-ea"/>
              </a:rPr>
              <a:t>步：按</a:t>
            </a:r>
            <a:r>
              <a:rPr lang="en-US" altLang="zh-CN" sz="2000" i="1" dirty="0" err="1">
                <a:ea typeface="+mn-ea"/>
              </a:rPr>
              <a:t>σ</a:t>
            </a:r>
            <a:r>
              <a:rPr lang="en-US" altLang="zh-CN" sz="2000" i="1" baseline="-30000" dirty="0" err="1">
                <a:ea typeface="+mn-ea"/>
              </a:rPr>
              <a:t>ij</a:t>
            </a:r>
            <a:r>
              <a:rPr lang="en-US" altLang="zh-CN" sz="2000" dirty="0">
                <a:ea typeface="+mn-ea"/>
              </a:rPr>
              <a:t>=</a:t>
            </a:r>
            <a:r>
              <a:rPr lang="en-US" altLang="zh-CN" sz="2000" i="1" dirty="0" err="1">
                <a:ea typeface="+mn-ea"/>
              </a:rPr>
              <a:t>c</a:t>
            </a:r>
            <a:r>
              <a:rPr lang="en-US" altLang="zh-CN" sz="2000" i="1" baseline="-30000" dirty="0" err="1">
                <a:ea typeface="+mn-ea"/>
              </a:rPr>
              <a:t>ij</a:t>
            </a:r>
            <a:r>
              <a:rPr lang="en-US" altLang="zh-CN" sz="2000" dirty="0">
                <a:ea typeface="+mn-ea"/>
              </a:rPr>
              <a:t> −(</a:t>
            </a:r>
            <a:r>
              <a:rPr lang="en-US" altLang="zh-CN" sz="2000" i="1" dirty="0" err="1">
                <a:ea typeface="+mn-ea"/>
              </a:rPr>
              <a:t>u</a:t>
            </a:r>
            <a:r>
              <a:rPr lang="en-US" altLang="zh-CN" sz="2000" i="1" baseline="-30000" dirty="0" err="1">
                <a:ea typeface="+mn-ea"/>
              </a:rPr>
              <a:t>i</a:t>
            </a:r>
            <a:r>
              <a:rPr lang="en-US" altLang="zh-CN" sz="2000" dirty="0" err="1">
                <a:ea typeface="+mn-ea"/>
              </a:rPr>
              <a:t>+</a:t>
            </a:r>
            <a:r>
              <a:rPr lang="en-US" altLang="zh-CN" sz="2000" i="1" dirty="0" err="1">
                <a:ea typeface="+mn-ea"/>
              </a:rPr>
              <a:t>v</a:t>
            </a:r>
            <a:r>
              <a:rPr lang="en-US" altLang="zh-CN" sz="2000" i="1" baseline="-30000" dirty="0" err="1">
                <a:ea typeface="+mn-ea"/>
              </a:rPr>
              <a:t>j</a:t>
            </a:r>
            <a:r>
              <a:rPr lang="en-US" altLang="zh-CN" sz="2000" dirty="0">
                <a:ea typeface="+mn-ea"/>
              </a:rPr>
              <a:t>),</a:t>
            </a:r>
            <a:r>
              <a:rPr lang="en-US" altLang="zh-CN" sz="2000" i="1" dirty="0">
                <a:ea typeface="+mn-ea"/>
              </a:rPr>
              <a:t> </a:t>
            </a:r>
            <a:r>
              <a:rPr lang="en-US" altLang="zh-CN" sz="2000" i="1" dirty="0" err="1">
                <a:ea typeface="+mn-ea"/>
              </a:rPr>
              <a:t>i</a:t>
            </a:r>
            <a:r>
              <a:rPr lang="en-US" altLang="zh-CN" sz="2000" dirty="0" err="1">
                <a:ea typeface="+mn-ea"/>
              </a:rPr>
              <a:t>,</a:t>
            </a:r>
            <a:r>
              <a:rPr lang="en-US" altLang="zh-CN" sz="2000" i="1" dirty="0" err="1">
                <a:ea typeface="+mn-ea"/>
              </a:rPr>
              <a:t>j</a:t>
            </a:r>
            <a:r>
              <a:rPr lang="en-US" altLang="zh-CN" sz="2000" dirty="0" err="1">
                <a:ea typeface="+mn-ea"/>
              </a:rPr>
              <a:t>∈</a:t>
            </a:r>
            <a:r>
              <a:rPr lang="en-US" altLang="zh-CN" sz="2000" i="1" dirty="0" err="1">
                <a:ea typeface="+mn-ea"/>
              </a:rPr>
              <a:t>N</a:t>
            </a:r>
            <a:r>
              <a:rPr lang="zh-CN" altLang="en-US" sz="2000" dirty="0">
                <a:latin typeface="+mn-ea"/>
                <a:ea typeface="+mn-ea"/>
              </a:rPr>
              <a:t>计算所有空格的检验数。如</a:t>
            </a:r>
            <a:br>
              <a:rPr lang="zh-CN" altLang="en-US" sz="2000" dirty="0">
                <a:latin typeface="+mn-ea"/>
                <a:ea typeface="+mn-ea"/>
              </a:rPr>
            </a:br>
            <a:r>
              <a:rPr lang="en-US" altLang="zh-CN" sz="2000" i="1" dirty="0">
                <a:ea typeface="+mn-ea"/>
              </a:rPr>
              <a:t>σ</a:t>
            </a:r>
            <a:r>
              <a:rPr lang="en-US" altLang="zh-CN" sz="2000" baseline="-30000" dirty="0">
                <a:ea typeface="+mn-ea"/>
              </a:rPr>
              <a:t>11</a:t>
            </a:r>
            <a:r>
              <a:rPr lang="en-US" altLang="zh-CN" sz="2000" dirty="0">
                <a:ea typeface="+mn-ea"/>
              </a:rPr>
              <a:t>=</a:t>
            </a:r>
            <a:r>
              <a:rPr lang="en-US" altLang="zh-CN" sz="2000" i="1" dirty="0">
                <a:ea typeface="+mn-ea"/>
              </a:rPr>
              <a:t>c</a:t>
            </a:r>
            <a:r>
              <a:rPr lang="en-US" altLang="zh-CN" sz="2000" baseline="-30000" dirty="0">
                <a:ea typeface="+mn-ea"/>
              </a:rPr>
              <a:t>11 </a:t>
            </a:r>
            <a:r>
              <a:rPr lang="en-US" altLang="zh-CN" sz="2000" dirty="0">
                <a:ea typeface="+mn-ea"/>
              </a:rPr>
              <a:t>−</a:t>
            </a:r>
            <a:r>
              <a:rPr lang="en-US" altLang="zh-CN" sz="2000" baseline="-30000" dirty="0">
                <a:ea typeface="+mn-ea"/>
              </a:rPr>
              <a:t> </a:t>
            </a:r>
            <a:r>
              <a:rPr lang="en-US" altLang="zh-CN" sz="2000" dirty="0">
                <a:ea typeface="+mn-ea"/>
              </a:rPr>
              <a:t>(</a:t>
            </a:r>
            <a:r>
              <a:rPr lang="en-US" altLang="zh-CN" sz="2000" i="1" dirty="0">
                <a:ea typeface="+mn-ea"/>
              </a:rPr>
              <a:t>u</a:t>
            </a:r>
            <a:r>
              <a:rPr lang="en-US" altLang="zh-CN" sz="2000" baseline="-30000" dirty="0">
                <a:ea typeface="+mn-ea"/>
              </a:rPr>
              <a:t>1</a:t>
            </a:r>
            <a:r>
              <a:rPr lang="en-US" altLang="zh-CN" sz="2000" dirty="0">
                <a:ea typeface="+mn-ea"/>
              </a:rPr>
              <a:t>+</a:t>
            </a:r>
            <a:r>
              <a:rPr lang="en-US" altLang="zh-CN" sz="2000" i="1" dirty="0">
                <a:ea typeface="+mn-ea"/>
              </a:rPr>
              <a:t>v</a:t>
            </a:r>
            <a:r>
              <a:rPr lang="en-US" altLang="zh-CN" sz="2000" baseline="-30000" dirty="0">
                <a:ea typeface="+mn-ea"/>
              </a:rPr>
              <a:t>1</a:t>
            </a:r>
            <a:r>
              <a:rPr lang="en-US" altLang="zh-CN" sz="2000" dirty="0">
                <a:ea typeface="+mn-ea"/>
              </a:rPr>
              <a:t>)=3 − (0+2)=1</a:t>
            </a:r>
            <a:br>
              <a:rPr lang="en-US" altLang="zh-CN" sz="2000" dirty="0">
                <a:ea typeface="+mn-ea"/>
              </a:rPr>
            </a:br>
            <a:r>
              <a:rPr lang="en-US" altLang="zh-CN" sz="2000" i="1" dirty="0">
                <a:ea typeface="+mn-ea"/>
              </a:rPr>
              <a:t>σ</a:t>
            </a:r>
            <a:r>
              <a:rPr lang="en-US" altLang="zh-CN" sz="2000" baseline="-30000" dirty="0">
                <a:ea typeface="+mn-ea"/>
              </a:rPr>
              <a:t>12</a:t>
            </a:r>
            <a:r>
              <a:rPr lang="en-US" altLang="zh-CN" sz="2000" dirty="0">
                <a:ea typeface="+mn-ea"/>
              </a:rPr>
              <a:t>=</a:t>
            </a:r>
            <a:r>
              <a:rPr lang="en-US" altLang="zh-CN" sz="2000" i="1" dirty="0">
                <a:ea typeface="+mn-ea"/>
              </a:rPr>
              <a:t>c</a:t>
            </a:r>
            <a:r>
              <a:rPr lang="en-US" altLang="zh-CN" sz="2000" baseline="-30000" dirty="0">
                <a:ea typeface="+mn-ea"/>
              </a:rPr>
              <a:t>12 </a:t>
            </a:r>
            <a:r>
              <a:rPr lang="en-US" altLang="zh-CN" sz="2000" dirty="0">
                <a:ea typeface="+mn-ea"/>
              </a:rPr>
              <a:t>−</a:t>
            </a:r>
            <a:r>
              <a:rPr lang="en-US" altLang="zh-CN" sz="2000" baseline="-30000" dirty="0">
                <a:ea typeface="+mn-ea"/>
              </a:rPr>
              <a:t> </a:t>
            </a:r>
            <a:r>
              <a:rPr lang="en-US" altLang="zh-CN" sz="2000" dirty="0">
                <a:ea typeface="+mn-ea"/>
              </a:rPr>
              <a:t>(</a:t>
            </a:r>
            <a:r>
              <a:rPr lang="en-US" altLang="zh-CN" sz="2000" i="1" dirty="0">
                <a:ea typeface="+mn-ea"/>
              </a:rPr>
              <a:t>u</a:t>
            </a:r>
            <a:r>
              <a:rPr lang="en-US" altLang="zh-CN" sz="2000" baseline="-30000" dirty="0">
                <a:ea typeface="+mn-ea"/>
              </a:rPr>
              <a:t>1</a:t>
            </a:r>
            <a:r>
              <a:rPr lang="en-US" altLang="zh-CN" sz="2000" dirty="0">
                <a:ea typeface="+mn-ea"/>
              </a:rPr>
              <a:t>+</a:t>
            </a:r>
            <a:r>
              <a:rPr lang="en-US" altLang="zh-CN" sz="2000" i="1" dirty="0">
                <a:ea typeface="+mn-ea"/>
              </a:rPr>
              <a:t>v</a:t>
            </a:r>
            <a:r>
              <a:rPr lang="en-US" altLang="zh-CN" sz="2000" baseline="-30000" dirty="0">
                <a:ea typeface="+mn-ea"/>
              </a:rPr>
              <a:t>2</a:t>
            </a:r>
            <a:r>
              <a:rPr lang="en-US" altLang="zh-CN" sz="2000" dirty="0">
                <a:ea typeface="+mn-ea"/>
              </a:rPr>
              <a:t>)=11 − (0+9)=2</a:t>
            </a:r>
          </a:p>
          <a:p>
            <a:pPr lvl="1"/>
            <a:r>
              <a:rPr lang="zh-CN" altLang="en-US" sz="2000" dirty="0" smtClean="0">
                <a:latin typeface="+mn-ea"/>
              </a:rPr>
              <a:t>这些</a:t>
            </a:r>
            <a:r>
              <a:rPr lang="zh-CN" altLang="en-US" sz="2000" dirty="0">
                <a:latin typeface="+mn-ea"/>
              </a:rPr>
              <a:t>计算可直接在表</a:t>
            </a:r>
            <a:r>
              <a:rPr lang="en-US" altLang="zh-CN" sz="2000" dirty="0">
                <a:latin typeface="+mn-ea"/>
              </a:rPr>
              <a:t>4-18</a:t>
            </a:r>
            <a:r>
              <a:rPr lang="zh-CN" altLang="en-US" sz="2000" dirty="0">
                <a:latin typeface="+mn-ea"/>
              </a:rPr>
              <a:t>上进行。为方便，特设计计算表</a:t>
            </a:r>
            <a:r>
              <a:rPr lang="en-US" altLang="zh-CN" sz="2000" dirty="0">
                <a:latin typeface="+mn-ea"/>
              </a:rPr>
              <a:t>4-19</a:t>
            </a:r>
            <a:r>
              <a:rPr lang="zh-CN" altLang="en-US" sz="2000" dirty="0">
                <a:latin typeface="+mn-ea"/>
              </a:rPr>
              <a:t>如下：</a:t>
            </a:r>
            <a:endParaRPr lang="en-US" altLang="zh-CN" sz="2000" dirty="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r>
              <a:rPr kumimoji="1" lang="zh-CN" altLang="en-US" sz="2000" dirty="0">
                <a:solidFill>
                  <a:schemeClr val="tx2"/>
                </a:solidFill>
                <a:latin typeface="+mn-ea"/>
                <a:ea typeface="+mn-ea"/>
              </a:rPr>
              <a:t>表</a:t>
            </a:r>
            <a:r>
              <a:rPr kumimoji="1" lang="en-US" altLang="zh-CN" sz="2000" dirty="0">
                <a:solidFill>
                  <a:schemeClr val="tx2"/>
                </a:solidFill>
                <a:latin typeface="+mn-ea"/>
                <a:ea typeface="+mn-ea"/>
              </a:rPr>
              <a:t>4-19 </a:t>
            </a:r>
            <a:r>
              <a:rPr kumimoji="1" lang="zh-CN" altLang="en-US" sz="2000" dirty="0">
                <a:solidFill>
                  <a:schemeClr val="tx2"/>
                </a:solidFill>
                <a:latin typeface="+mn-ea"/>
                <a:ea typeface="+mn-ea"/>
              </a:rPr>
              <a:t>中还有负检验数。说明未得最优解，还可以改进</a:t>
            </a:r>
            <a:r>
              <a:rPr kumimoji="1" lang="zh-CN" altLang="en-US" sz="2000" dirty="0" smtClean="0">
                <a:solidFill>
                  <a:schemeClr val="tx2"/>
                </a:solidFill>
                <a:latin typeface="+mn-ea"/>
                <a:ea typeface="+mn-ea"/>
              </a:rPr>
              <a:t>。</a:t>
            </a:r>
            <a:endParaRPr kumimoji="1" lang="zh-CN" altLang="en-US" sz="2000" dirty="0">
              <a:solidFill>
                <a:schemeClr val="tx2"/>
              </a:solidFill>
              <a:latin typeface="+mn-ea"/>
              <a:ea typeface="+mn-ea"/>
            </a:endParaRPr>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19</a:t>
            </a:fld>
            <a:endParaRPr lang="en-US" altLang="zh-CN"/>
          </a:p>
        </p:txBody>
      </p:sp>
      <p:graphicFrame>
        <p:nvGraphicFramePr>
          <p:cNvPr id="14" name="Object 9">
            <a:extLst>
              <a:ext uri="{FF2B5EF4-FFF2-40B4-BE49-F238E27FC236}">
                <a16:creationId xmlns:a16="http://schemas.microsoft.com/office/drawing/2014/main" id="{FD9EAEB5-6E7B-43AD-B376-2703375A31AF}"/>
              </a:ext>
            </a:extLst>
          </p:cNvPr>
          <p:cNvGraphicFramePr>
            <a:graphicFrameLocks noChangeAspect="1"/>
          </p:cNvGraphicFramePr>
          <p:nvPr>
            <p:extLst>
              <p:ext uri="{D42A27DB-BD31-4B8C-83A1-F6EECF244321}">
                <p14:modId xmlns:p14="http://schemas.microsoft.com/office/powerpoint/2010/main" val="2112610556"/>
              </p:ext>
            </p:extLst>
          </p:nvPr>
        </p:nvGraphicFramePr>
        <p:xfrm>
          <a:off x="4797425" y="7573"/>
          <a:ext cx="4346575" cy="1570038"/>
        </p:xfrm>
        <a:graphic>
          <a:graphicData uri="http://schemas.openxmlformats.org/presentationml/2006/ole">
            <mc:AlternateContent xmlns:mc="http://schemas.openxmlformats.org/markup-compatibility/2006">
              <mc:Choice xmlns:v="urn:schemas-microsoft-com:vml" Requires="v">
                <p:oleObj spid="_x0000_s725119" name="Document" r:id="rId3" imgW="2919849" imgH="1230523" progId="Word.Document.8">
                  <p:embed/>
                </p:oleObj>
              </mc:Choice>
              <mc:Fallback>
                <p:oleObj name="Document" r:id="rId3" imgW="2919849" imgH="1230523" progId="Word.Document.8">
                  <p:embed/>
                  <p:pic>
                    <p:nvPicPr>
                      <p:cNvPr id="14" name="Object 9">
                        <a:extLst>
                          <a:ext uri="{FF2B5EF4-FFF2-40B4-BE49-F238E27FC236}">
                            <a16:creationId xmlns:a16="http://schemas.microsoft.com/office/drawing/2014/main" id="{FD9EAEB5-6E7B-43AD-B376-2703375A31AF}"/>
                          </a:ext>
                        </a:extLst>
                      </p:cNvPr>
                      <p:cNvPicPr>
                        <a:picLocks noChangeAspect="1" noChangeArrowheads="1"/>
                      </p:cNvPicPr>
                      <p:nvPr/>
                    </p:nvPicPr>
                    <p:blipFill>
                      <a:blip r:embed="rId4"/>
                      <a:srcRect/>
                      <a:stretch>
                        <a:fillRect/>
                      </a:stretch>
                    </p:blipFill>
                    <p:spPr bwMode="auto">
                      <a:xfrm>
                        <a:off x="4797425" y="7573"/>
                        <a:ext cx="4346575" cy="1570038"/>
                      </a:xfrm>
                      <a:prstGeom prst="rect">
                        <a:avLst/>
                      </a:prstGeom>
                      <a:solidFill>
                        <a:schemeClr val="bg2">
                          <a:lumMod val="20000"/>
                          <a:lumOff val="80000"/>
                        </a:schemeClr>
                      </a:solidFill>
                      <a:ln>
                        <a:noFill/>
                      </a:ln>
                      <a:effectLst/>
                      <a:extLst/>
                    </p:spPr>
                  </p:pic>
                </p:oleObj>
              </mc:Fallback>
            </mc:AlternateContent>
          </a:graphicData>
        </a:graphic>
      </p:graphicFrame>
      <p:sp>
        <p:nvSpPr>
          <p:cNvPr id="15" name="Rectangle 11">
            <a:extLst>
              <a:ext uri="{FF2B5EF4-FFF2-40B4-BE49-F238E27FC236}">
                <a16:creationId xmlns:a16="http://schemas.microsoft.com/office/drawing/2014/main" id="{3B5E4FA9-F5A0-439D-9598-3AE528E755A7}"/>
              </a:ext>
            </a:extLst>
          </p:cNvPr>
          <p:cNvSpPr>
            <a:spLocks noChangeArrowheads="1"/>
          </p:cNvSpPr>
          <p:nvPr/>
        </p:nvSpPr>
        <p:spPr bwMode="auto">
          <a:xfrm>
            <a:off x="3491880" y="2789170"/>
            <a:ext cx="28083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4-19</a:t>
            </a:r>
            <a:endParaRPr kumimoji="1" lang="en-US" altLang="zh-CN" sz="2000" b="0" dirty="0">
              <a:solidFill>
                <a:schemeClr val="tx2"/>
              </a:solidFill>
            </a:endParaRPr>
          </a:p>
        </p:txBody>
      </p:sp>
      <p:graphicFrame>
        <p:nvGraphicFramePr>
          <p:cNvPr id="17" name="Object 7">
            <a:extLst>
              <a:ext uri="{FF2B5EF4-FFF2-40B4-BE49-F238E27FC236}">
                <a16:creationId xmlns:a16="http://schemas.microsoft.com/office/drawing/2014/main" id="{62FC39CA-D15E-4D48-AC5F-365C9B4B5815}"/>
              </a:ext>
            </a:extLst>
          </p:cNvPr>
          <p:cNvGraphicFramePr>
            <a:graphicFrameLocks noChangeAspect="1"/>
          </p:cNvGraphicFramePr>
          <p:nvPr>
            <p:extLst>
              <p:ext uri="{D42A27DB-BD31-4B8C-83A1-F6EECF244321}">
                <p14:modId xmlns:p14="http://schemas.microsoft.com/office/powerpoint/2010/main" val="1750833312"/>
              </p:ext>
            </p:extLst>
          </p:nvPr>
        </p:nvGraphicFramePr>
        <p:xfrm>
          <a:off x="323528" y="2697973"/>
          <a:ext cx="8086725" cy="4160838"/>
        </p:xfrm>
        <a:graphic>
          <a:graphicData uri="http://schemas.openxmlformats.org/presentationml/2006/ole">
            <mc:AlternateContent xmlns:mc="http://schemas.openxmlformats.org/markup-compatibility/2006">
              <mc:Choice xmlns:v="urn:schemas-microsoft-com:vml" Requires="v">
                <p:oleObj spid="_x0000_s725120" name="文档" r:id="rId5" imgW="5448923" imgH="2803447" progId="Word.Document.8">
                  <p:embed/>
                </p:oleObj>
              </mc:Choice>
              <mc:Fallback>
                <p:oleObj name="文档" r:id="rId5" imgW="5448923" imgH="2803447" progId="Word.Document.8">
                  <p:embed/>
                  <p:pic>
                    <p:nvPicPr>
                      <p:cNvPr id="649223" name="Object 7">
                        <a:extLst>
                          <a:ext uri="{FF2B5EF4-FFF2-40B4-BE49-F238E27FC236}">
                            <a16:creationId xmlns:a16="http://schemas.microsoft.com/office/drawing/2014/main" id="{62FC39CA-D15E-4D48-AC5F-365C9B4B58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528" y="2697973"/>
                        <a:ext cx="8086725" cy="4160838"/>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329075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a:xfrm>
            <a:off x="1187624" y="471258"/>
            <a:ext cx="7054850" cy="457200"/>
          </a:xfrm>
        </p:spPr>
        <p:txBody>
          <a:bodyPr/>
          <a:lstStyle/>
          <a:p>
            <a:r>
              <a:rPr lang="en-US" altLang="zh-CN" dirty="0" smtClean="0">
                <a:latin typeface="宋体" panose="02010600030101010101" pitchFamily="2" charset="-122"/>
              </a:rPr>
              <a:t>4.2.3  </a:t>
            </a:r>
            <a:r>
              <a:rPr lang="zh-CN" altLang="en-US" dirty="0" smtClean="0">
                <a:latin typeface="宋体" panose="02010600030101010101" pitchFamily="2" charset="-122"/>
              </a:rPr>
              <a:t>改进的方法</a:t>
            </a:r>
            <a:r>
              <a:rPr lang="en-US" altLang="zh-CN" dirty="0" smtClean="0">
                <a:latin typeface="宋体" panose="02010600030101010101" pitchFamily="2" charset="-122"/>
              </a:rPr>
              <a:t>——</a:t>
            </a:r>
            <a:r>
              <a:rPr lang="zh-CN" altLang="en-US" dirty="0" smtClean="0">
                <a:latin typeface="宋体" panose="02010600030101010101" pitchFamily="2" charset="-122"/>
              </a:rPr>
              <a:t>闭回路调整法</a:t>
            </a:r>
            <a:endParaRPr lang="zh-CN" altLang="en-US" dirty="0">
              <a:latin typeface="宋体" panose="02010600030101010101" pitchFamily="2" charset="-122"/>
            </a:endParaRP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zh-CN" altLang="en-US" sz="2000" dirty="0" smtClean="0">
                <a:latin typeface="+mn-ea"/>
                <a:ea typeface="+mn-ea"/>
              </a:rPr>
              <a:t>若</a:t>
            </a:r>
            <a:r>
              <a:rPr lang="zh-CN" altLang="en-US" sz="2000" dirty="0">
                <a:latin typeface="+mn-ea"/>
                <a:ea typeface="+mn-ea"/>
              </a:rPr>
              <a:t>有两个和两个以上的负检验数时，一般</a:t>
            </a:r>
            <a:r>
              <a:rPr lang="zh-CN" altLang="en-US" sz="2000" dirty="0">
                <a:solidFill>
                  <a:srgbClr val="FF0000"/>
                </a:solidFill>
                <a:latin typeface="+mn-ea"/>
                <a:ea typeface="+mn-ea"/>
              </a:rPr>
              <a:t>选其中最小的负检验数</a:t>
            </a:r>
            <a:r>
              <a:rPr lang="zh-CN" altLang="en-US" sz="2000" dirty="0">
                <a:latin typeface="+mn-ea"/>
                <a:ea typeface="+mn-ea"/>
              </a:rPr>
              <a:t>，以它对应的空格为</a:t>
            </a:r>
            <a:r>
              <a:rPr lang="zh-CN" altLang="en-US" sz="2000" dirty="0">
                <a:solidFill>
                  <a:srgbClr val="FF0000"/>
                </a:solidFill>
                <a:latin typeface="+mn-ea"/>
                <a:ea typeface="+mn-ea"/>
              </a:rPr>
              <a:t>调入格</a:t>
            </a:r>
            <a:r>
              <a:rPr lang="zh-CN" altLang="en-US" sz="2000" dirty="0">
                <a:latin typeface="+mn-ea"/>
                <a:ea typeface="+mn-ea"/>
              </a:rPr>
              <a:t>。即以</a:t>
            </a:r>
            <a:r>
              <a:rPr lang="zh-CN" altLang="en-US" sz="2000" dirty="0">
                <a:solidFill>
                  <a:srgbClr val="FF0000"/>
                </a:solidFill>
                <a:latin typeface="+mn-ea"/>
                <a:ea typeface="+mn-ea"/>
              </a:rPr>
              <a:t>它对应的非基变量为换入变量</a:t>
            </a:r>
            <a:r>
              <a:rPr lang="zh-CN" altLang="en-US" sz="2000" dirty="0">
                <a:latin typeface="+mn-ea"/>
                <a:ea typeface="+mn-ea"/>
              </a:rPr>
              <a:t>。由表</a:t>
            </a:r>
            <a:r>
              <a:rPr lang="en-US" altLang="zh-CN" sz="2000" dirty="0">
                <a:latin typeface="+mn-ea"/>
                <a:ea typeface="+mn-ea"/>
              </a:rPr>
              <a:t>4-19</a:t>
            </a:r>
            <a:r>
              <a:rPr lang="zh-CN" altLang="en-US" sz="2000" dirty="0">
                <a:latin typeface="+mn-ea"/>
                <a:ea typeface="+mn-ea"/>
              </a:rPr>
              <a:t>得</a:t>
            </a:r>
            <a:r>
              <a:rPr lang="en-US" altLang="zh-CN" sz="2000" dirty="0">
                <a:latin typeface="+mn-ea"/>
                <a:ea typeface="+mn-ea"/>
              </a:rPr>
              <a:t>(2</a:t>
            </a:r>
            <a:r>
              <a:rPr lang="zh-CN" altLang="en-US" sz="2000" dirty="0">
                <a:latin typeface="+mn-ea"/>
                <a:ea typeface="+mn-ea"/>
              </a:rPr>
              <a:t>，</a:t>
            </a:r>
            <a:r>
              <a:rPr lang="en-US" altLang="zh-CN" sz="2000" dirty="0">
                <a:latin typeface="+mn-ea"/>
                <a:ea typeface="+mn-ea"/>
              </a:rPr>
              <a:t>4)</a:t>
            </a:r>
            <a:r>
              <a:rPr lang="zh-CN" altLang="en-US" sz="2000" dirty="0">
                <a:latin typeface="+mn-ea"/>
                <a:ea typeface="+mn-ea"/>
              </a:rPr>
              <a:t>为调入格。以此格为出发点，作一闭回路，如表</a:t>
            </a:r>
            <a:r>
              <a:rPr lang="en-US" altLang="zh-CN" sz="2000" dirty="0">
                <a:latin typeface="+mn-ea"/>
                <a:ea typeface="+mn-ea"/>
              </a:rPr>
              <a:t>4-20</a:t>
            </a:r>
            <a:r>
              <a:rPr lang="zh-CN" altLang="en-US" sz="2000" dirty="0">
                <a:latin typeface="+mn-ea"/>
                <a:ea typeface="+mn-ea"/>
              </a:rPr>
              <a:t>所示。</a:t>
            </a: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20</a:t>
            </a:fld>
            <a:endParaRPr lang="en-US" altLang="zh-CN"/>
          </a:p>
        </p:txBody>
      </p:sp>
      <p:sp>
        <p:nvSpPr>
          <p:cNvPr id="15" name="Rectangle 11">
            <a:extLst>
              <a:ext uri="{FF2B5EF4-FFF2-40B4-BE49-F238E27FC236}">
                <a16:creationId xmlns:a16="http://schemas.microsoft.com/office/drawing/2014/main" id="{3B5E4FA9-F5A0-439D-9598-3AE528E755A7}"/>
              </a:ext>
            </a:extLst>
          </p:cNvPr>
          <p:cNvSpPr>
            <a:spLocks noChangeArrowheads="1"/>
          </p:cNvSpPr>
          <p:nvPr/>
        </p:nvSpPr>
        <p:spPr bwMode="auto">
          <a:xfrm>
            <a:off x="107504" y="2348880"/>
            <a:ext cx="12961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4-19</a:t>
            </a:r>
            <a:endParaRPr kumimoji="1" lang="en-US" altLang="zh-CN" sz="2000" b="0" dirty="0">
              <a:solidFill>
                <a:schemeClr val="tx2"/>
              </a:solidFill>
            </a:endParaRPr>
          </a:p>
        </p:txBody>
      </p:sp>
      <p:graphicFrame>
        <p:nvGraphicFramePr>
          <p:cNvPr id="17" name="Object 7">
            <a:extLst>
              <a:ext uri="{FF2B5EF4-FFF2-40B4-BE49-F238E27FC236}">
                <a16:creationId xmlns:a16="http://schemas.microsoft.com/office/drawing/2014/main" id="{62FC39CA-D15E-4D48-AC5F-365C9B4B5815}"/>
              </a:ext>
            </a:extLst>
          </p:cNvPr>
          <p:cNvGraphicFramePr>
            <a:graphicFrameLocks noChangeAspect="1"/>
          </p:cNvGraphicFramePr>
          <p:nvPr>
            <p:extLst>
              <p:ext uri="{D42A27DB-BD31-4B8C-83A1-F6EECF244321}">
                <p14:modId xmlns:p14="http://schemas.microsoft.com/office/powerpoint/2010/main" val="3232418402"/>
              </p:ext>
            </p:extLst>
          </p:nvPr>
        </p:nvGraphicFramePr>
        <p:xfrm>
          <a:off x="755576" y="1757972"/>
          <a:ext cx="8086725" cy="3387172"/>
        </p:xfrm>
        <a:graphic>
          <a:graphicData uri="http://schemas.openxmlformats.org/presentationml/2006/ole">
            <mc:AlternateContent xmlns:mc="http://schemas.openxmlformats.org/markup-compatibility/2006">
              <mc:Choice xmlns:v="urn:schemas-microsoft-com:vml" Requires="v">
                <p:oleObj spid="_x0000_s726145" name="Document" r:id="rId3" imgW="5438839" imgH="2801394" progId="Word.Document.8">
                  <p:embed/>
                </p:oleObj>
              </mc:Choice>
              <mc:Fallback>
                <p:oleObj name="Document" r:id="rId3" imgW="5438839" imgH="2801394" progId="Word.Document.8">
                  <p:embed/>
                  <p:pic>
                    <p:nvPicPr>
                      <p:cNvPr id="17" name="Object 7">
                        <a:extLst>
                          <a:ext uri="{FF2B5EF4-FFF2-40B4-BE49-F238E27FC236}">
                            <a16:creationId xmlns:a16="http://schemas.microsoft.com/office/drawing/2014/main" id="{62FC39CA-D15E-4D48-AC5F-365C9B4B5815}"/>
                          </a:ext>
                        </a:extLst>
                      </p:cNvPr>
                      <p:cNvPicPr>
                        <a:picLocks noChangeAspect="1" noChangeArrowheads="1"/>
                      </p:cNvPicPr>
                      <p:nvPr/>
                    </p:nvPicPr>
                    <p:blipFill>
                      <a:blip r:embed="rId4"/>
                      <a:srcRect/>
                      <a:stretch>
                        <a:fillRect/>
                      </a:stretch>
                    </p:blipFill>
                    <p:spPr bwMode="auto">
                      <a:xfrm>
                        <a:off x="755576" y="1757972"/>
                        <a:ext cx="8086725" cy="3387172"/>
                      </a:xfrm>
                      <a:prstGeom prst="rect">
                        <a:avLst/>
                      </a:prstGeom>
                      <a:noFill/>
                      <a:ln>
                        <a:noFill/>
                      </a:ln>
                      <a:effectLst/>
                      <a:extLst/>
                    </p:spPr>
                  </p:pic>
                </p:oleObj>
              </mc:Fallback>
            </mc:AlternateContent>
          </a:graphicData>
        </a:graphic>
      </p:graphicFrame>
      <p:graphicFrame>
        <p:nvGraphicFramePr>
          <p:cNvPr id="9" name="Object 8">
            <a:extLst>
              <a:ext uri="{FF2B5EF4-FFF2-40B4-BE49-F238E27FC236}">
                <a16:creationId xmlns:a16="http://schemas.microsoft.com/office/drawing/2014/main" id="{696DF98A-F6B3-459D-BD7A-F4FE5378DEBB}"/>
              </a:ext>
            </a:extLst>
          </p:cNvPr>
          <p:cNvGraphicFramePr>
            <a:graphicFrameLocks noChangeAspect="1"/>
          </p:cNvGraphicFramePr>
          <p:nvPr>
            <p:extLst>
              <p:ext uri="{D42A27DB-BD31-4B8C-83A1-F6EECF244321}">
                <p14:modId xmlns:p14="http://schemas.microsoft.com/office/powerpoint/2010/main" val="1677083450"/>
              </p:ext>
            </p:extLst>
          </p:nvPr>
        </p:nvGraphicFramePr>
        <p:xfrm>
          <a:off x="1363964" y="4726054"/>
          <a:ext cx="6590922" cy="1972072"/>
        </p:xfrm>
        <a:graphic>
          <a:graphicData uri="http://schemas.openxmlformats.org/presentationml/2006/ole">
            <mc:AlternateContent xmlns:mc="http://schemas.openxmlformats.org/markup-compatibility/2006">
              <mc:Choice xmlns:v="urn:schemas-microsoft-com:vml" Requires="v">
                <p:oleObj spid="_x0000_s726146" name="文档" r:id="rId5" imgW="5428383" imgH="1624737" progId="Word.Document.8">
                  <p:embed/>
                </p:oleObj>
              </mc:Choice>
              <mc:Fallback>
                <p:oleObj name="文档" r:id="rId5" imgW="5428383" imgH="1624737" progId="Word.Document.8">
                  <p:embed/>
                  <p:pic>
                    <p:nvPicPr>
                      <p:cNvPr id="650248" name="Object 8">
                        <a:extLst>
                          <a:ext uri="{FF2B5EF4-FFF2-40B4-BE49-F238E27FC236}">
                            <a16:creationId xmlns:a16="http://schemas.microsoft.com/office/drawing/2014/main" id="{696DF98A-F6B3-459D-BD7A-F4FE5378DE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3964" y="4726054"/>
                        <a:ext cx="6590922" cy="1972072"/>
                      </a:xfrm>
                      <a:prstGeom prst="rect">
                        <a:avLst/>
                      </a:prstGeom>
                      <a:noFill/>
                      <a:ln>
                        <a:noFill/>
                      </a:ln>
                      <a:effectLst/>
                      <a:extLst/>
                    </p:spPr>
                  </p:pic>
                </p:oleObj>
              </mc:Fallback>
            </mc:AlternateContent>
          </a:graphicData>
        </a:graphic>
      </p:graphicFrame>
      <p:sp>
        <p:nvSpPr>
          <p:cNvPr id="10" name="Rectangle 11">
            <a:extLst>
              <a:ext uri="{FF2B5EF4-FFF2-40B4-BE49-F238E27FC236}">
                <a16:creationId xmlns:a16="http://schemas.microsoft.com/office/drawing/2014/main" id="{3B5E4FA9-F5A0-439D-9598-3AE528E755A7}"/>
              </a:ext>
            </a:extLst>
          </p:cNvPr>
          <p:cNvSpPr>
            <a:spLocks noChangeArrowheads="1"/>
          </p:cNvSpPr>
          <p:nvPr/>
        </p:nvSpPr>
        <p:spPr bwMode="auto">
          <a:xfrm>
            <a:off x="107504" y="5457418"/>
            <a:ext cx="12564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4-20</a:t>
            </a:r>
            <a:endParaRPr kumimoji="1" lang="en-US" altLang="zh-CN" sz="2000" b="0" dirty="0">
              <a:solidFill>
                <a:schemeClr val="tx2"/>
              </a:solidFill>
            </a:endParaRPr>
          </a:p>
        </p:txBody>
      </p:sp>
      <p:cxnSp>
        <p:nvCxnSpPr>
          <p:cNvPr id="11" name="直接箭头连接符 10"/>
          <p:cNvCxnSpPr/>
          <p:nvPr/>
        </p:nvCxnSpPr>
        <p:spPr bwMode="auto">
          <a:xfrm flipV="1">
            <a:off x="4572000" y="5445224"/>
            <a:ext cx="0" cy="288032"/>
          </a:xfrm>
          <a:prstGeom prst="straightConnector1">
            <a:avLst/>
          </a:prstGeom>
          <a:solidFill>
            <a:srgbClr val="6CAAC0"/>
          </a:solidFill>
          <a:ln w="19050" cap="flat" cmpd="sng" algn="ctr">
            <a:solidFill>
              <a:srgbClr val="FF0000"/>
            </a:solidFill>
            <a:prstDash val="solid"/>
            <a:round/>
            <a:headEnd type="none" w="med" len="med"/>
            <a:tailEnd type="triangle"/>
          </a:ln>
        </p:spPr>
      </p:cxnSp>
      <p:cxnSp>
        <p:nvCxnSpPr>
          <p:cNvPr id="13" name="直接箭头连接符 12"/>
          <p:cNvCxnSpPr/>
          <p:nvPr/>
        </p:nvCxnSpPr>
        <p:spPr bwMode="auto">
          <a:xfrm flipH="1">
            <a:off x="3851920" y="5445224"/>
            <a:ext cx="720080" cy="0"/>
          </a:xfrm>
          <a:prstGeom prst="straightConnector1">
            <a:avLst/>
          </a:prstGeom>
          <a:solidFill>
            <a:srgbClr val="6CAAC0"/>
          </a:solidFill>
          <a:ln w="19050" cap="flat" cmpd="sng" algn="ctr">
            <a:solidFill>
              <a:srgbClr val="FF0000"/>
            </a:solidFill>
            <a:prstDash val="solid"/>
            <a:round/>
            <a:headEnd type="none" w="med" len="med"/>
            <a:tailEnd type="triangle"/>
          </a:ln>
        </p:spPr>
      </p:cxnSp>
      <p:cxnSp>
        <p:nvCxnSpPr>
          <p:cNvPr id="16" name="直接箭头连接符 15"/>
          <p:cNvCxnSpPr/>
          <p:nvPr/>
        </p:nvCxnSpPr>
        <p:spPr bwMode="auto">
          <a:xfrm>
            <a:off x="3851920" y="5445224"/>
            <a:ext cx="0" cy="288032"/>
          </a:xfrm>
          <a:prstGeom prst="straightConnector1">
            <a:avLst/>
          </a:prstGeom>
          <a:solidFill>
            <a:srgbClr val="6CAAC0"/>
          </a:solidFill>
          <a:ln w="19050" cap="flat" cmpd="sng" algn="ctr">
            <a:solidFill>
              <a:srgbClr val="FF0000"/>
            </a:solidFill>
            <a:prstDash val="solid"/>
            <a:round/>
            <a:headEnd type="none" w="med" len="med"/>
            <a:tailEnd type="triangle"/>
          </a:ln>
        </p:spPr>
      </p:cxnSp>
      <p:cxnSp>
        <p:nvCxnSpPr>
          <p:cNvPr id="20" name="直接箭头连接符 19"/>
          <p:cNvCxnSpPr/>
          <p:nvPr/>
        </p:nvCxnSpPr>
        <p:spPr bwMode="auto">
          <a:xfrm>
            <a:off x="3851920" y="5733256"/>
            <a:ext cx="720080" cy="0"/>
          </a:xfrm>
          <a:prstGeom prst="straightConnector1">
            <a:avLst/>
          </a:prstGeom>
          <a:solidFill>
            <a:srgbClr val="6CAAC0"/>
          </a:solidFill>
          <a:ln w="19050" cap="flat" cmpd="sng" algn="ctr">
            <a:solidFill>
              <a:srgbClr val="FF0000"/>
            </a:solidFill>
            <a:prstDash val="solid"/>
            <a:round/>
            <a:headEnd type="none" w="med" len="med"/>
            <a:tailEnd type="triangle"/>
          </a:ln>
        </p:spPr>
      </p:cxnSp>
      <p:sp>
        <p:nvSpPr>
          <p:cNvPr id="3" name="矩形 2"/>
          <p:cNvSpPr/>
          <p:nvPr/>
        </p:nvSpPr>
        <p:spPr bwMode="auto">
          <a:xfrm>
            <a:off x="6660232" y="3140968"/>
            <a:ext cx="1440160" cy="504056"/>
          </a:xfrm>
          <a:prstGeom prst="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993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a:extLst>
              <a:ext uri="{FF2B5EF4-FFF2-40B4-BE49-F238E27FC236}">
                <a16:creationId xmlns:a16="http://schemas.microsoft.com/office/drawing/2014/main" id="{BB4C3746-B1B4-45FE-933C-5A947B93D663}"/>
              </a:ext>
            </a:extLst>
          </p:cNvPr>
          <p:cNvSpPr>
            <a:spLocks noGrp="1" noChangeArrowheads="1"/>
          </p:cNvSpPr>
          <p:nvPr>
            <p:ph type="title"/>
          </p:nvPr>
        </p:nvSpPr>
        <p:spPr>
          <a:xfrm>
            <a:off x="1187624" y="471258"/>
            <a:ext cx="7054850" cy="457200"/>
          </a:xfrm>
        </p:spPr>
        <p:txBody>
          <a:bodyPr/>
          <a:lstStyle/>
          <a:p>
            <a:r>
              <a:rPr lang="en-US" altLang="zh-CN" dirty="0" smtClean="0">
                <a:latin typeface="宋体" panose="02010600030101010101" pitchFamily="2" charset="-122"/>
              </a:rPr>
              <a:t>4.2.3  </a:t>
            </a:r>
            <a:r>
              <a:rPr lang="zh-CN" altLang="en-US" dirty="0" smtClean="0">
                <a:latin typeface="宋体" panose="02010600030101010101" pitchFamily="2" charset="-122"/>
              </a:rPr>
              <a:t>改进的方法</a:t>
            </a:r>
            <a:r>
              <a:rPr lang="en-US" altLang="zh-CN" dirty="0" smtClean="0">
                <a:latin typeface="宋体" panose="02010600030101010101" pitchFamily="2" charset="-122"/>
              </a:rPr>
              <a:t>——</a:t>
            </a:r>
            <a:r>
              <a:rPr lang="zh-CN" altLang="en-US" dirty="0" smtClean="0">
                <a:latin typeface="宋体" panose="02010600030101010101" pitchFamily="2" charset="-122"/>
              </a:rPr>
              <a:t>闭回路调整法</a:t>
            </a:r>
            <a:endParaRPr lang="zh-CN" altLang="en-US" dirty="0">
              <a:latin typeface="宋体" panose="02010600030101010101" pitchFamily="2" charset="-122"/>
            </a:endParaRPr>
          </a:p>
        </p:txBody>
      </p:sp>
      <p:sp>
        <p:nvSpPr>
          <p:cNvPr id="2" name="内容占位符 1">
            <a:extLst>
              <a:ext uri="{FF2B5EF4-FFF2-40B4-BE49-F238E27FC236}">
                <a16:creationId xmlns:a16="http://schemas.microsoft.com/office/drawing/2014/main" id="{09D2ADB2-0367-4963-8BB1-69AD18800C3B}"/>
              </a:ext>
            </a:extLst>
          </p:cNvPr>
          <p:cNvSpPr>
            <a:spLocks noGrp="1"/>
          </p:cNvSpPr>
          <p:nvPr>
            <p:ph idx="1"/>
          </p:nvPr>
        </p:nvSpPr>
        <p:spPr>
          <a:xfrm>
            <a:off x="76201" y="1042392"/>
            <a:ext cx="9067799" cy="5626968"/>
          </a:xfrm>
        </p:spPr>
        <p:txBody>
          <a:bodyPr/>
          <a:lstStyle/>
          <a:p>
            <a:r>
              <a:rPr lang="en-US" altLang="zh-CN" sz="2000" dirty="0">
                <a:latin typeface="+mn-ea"/>
              </a:rPr>
              <a:t>(2</a:t>
            </a:r>
            <a:r>
              <a:rPr lang="zh-CN" altLang="en-US" sz="2000" dirty="0">
                <a:latin typeface="+mn-ea"/>
              </a:rPr>
              <a:t>，</a:t>
            </a:r>
            <a:r>
              <a:rPr lang="en-US" altLang="zh-CN" sz="2000" dirty="0">
                <a:latin typeface="+mn-ea"/>
              </a:rPr>
              <a:t>4)</a:t>
            </a:r>
            <a:r>
              <a:rPr lang="zh-CN" altLang="en-US" sz="2000" dirty="0">
                <a:latin typeface="+mn-ea"/>
              </a:rPr>
              <a:t>格的</a:t>
            </a:r>
            <a:r>
              <a:rPr lang="zh-CN" altLang="en-US" sz="2000" dirty="0">
                <a:solidFill>
                  <a:srgbClr val="FF0000"/>
                </a:solidFill>
                <a:latin typeface="+mn-ea"/>
              </a:rPr>
              <a:t>调入量</a:t>
            </a:r>
            <a:r>
              <a:rPr lang="en-US" altLang="zh-CN" sz="2000" i="1" dirty="0">
                <a:solidFill>
                  <a:srgbClr val="FF0000"/>
                </a:solidFill>
                <a:latin typeface="+mn-ea"/>
              </a:rPr>
              <a:t>θ</a:t>
            </a:r>
            <a:r>
              <a:rPr lang="zh-CN" altLang="en-US" sz="2000" dirty="0">
                <a:solidFill>
                  <a:srgbClr val="FF0000"/>
                </a:solidFill>
                <a:latin typeface="+mn-ea"/>
              </a:rPr>
              <a:t>是选择闭回路上具有</a:t>
            </a:r>
            <a:r>
              <a:rPr lang="en-US" altLang="zh-CN" sz="2000" dirty="0">
                <a:solidFill>
                  <a:srgbClr val="FF0000"/>
                </a:solidFill>
                <a:latin typeface="+mn-ea"/>
              </a:rPr>
              <a:t>(-1)</a:t>
            </a:r>
            <a:r>
              <a:rPr lang="zh-CN" altLang="en-US" sz="2000" dirty="0">
                <a:solidFill>
                  <a:srgbClr val="FF0000"/>
                </a:solidFill>
                <a:latin typeface="+mn-ea"/>
              </a:rPr>
              <a:t>的数字格中的最小者</a:t>
            </a:r>
            <a:r>
              <a:rPr lang="zh-CN" altLang="en-US" sz="2000" dirty="0">
                <a:latin typeface="+mn-ea"/>
              </a:rPr>
              <a:t>。即</a:t>
            </a:r>
            <a:r>
              <a:rPr lang="en-US" altLang="zh-CN" sz="2000" i="1" dirty="0">
                <a:latin typeface="+mn-ea"/>
              </a:rPr>
              <a:t>θ</a:t>
            </a:r>
            <a:r>
              <a:rPr lang="en-US" altLang="zh-CN" sz="2000" dirty="0">
                <a:latin typeface="+mn-ea"/>
              </a:rPr>
              <a:t>=min(1,3)=1(</a:t>
            </a:r>
            <a:r>
              <a:rPr lang="zh-CN" altLang="en-US" sz="2000" dirty="0">
                <a:latin typeface="+mn-ea"/>
              </a:rPr>
              <a:t>其原理与单纯形法中按</a:t>
            </a:r>
            <a:r>
              <a:rPr lang="en-US" altLang="zh-CN" sz="2000" i="1" dirty="0">
                <a:latin typeface="+mn-ea"/>
              </a:rPr>
              <a:t>θ</a:t>
            </a:r>
            <a:r>
              <a:rPr lang="zh-CN" altLang="en-US" sz="2000" dirty="0">
                <a:latin typeface="+mn-ea"/>
              </a:rPr>
              <a:t>规划来确定换出变量相同</a:t>
            </a:r>
            <a:r>
              <a:rPr lang="en-US" altLang="zh-CN" sz="2000" dirty="0">
                <a:latin typeface="+mn-ea"/>
              </a:rPr>
              <a:t>)</a:t>
            </a:r>
            <a:r>
              <a:rPr lang="zh-CN" altLang="en-US" sz="2000" dirty="0">
                <a:latin typeface="+mn-ea"/>
              </a:rPr>
              <a:t>。然后按闭回路上的正、负号，加入和减去此值，得到调整方案，如表</a:t>
            </a:r>
            <a:r>
              <a:rPr lang="en-US" altLang="zh-CN" sz="2000" dirty="0">
                <a:latin typeface="+mn-ea"/>
              </a:rPr>
              <a:t>4-21</a:t>
            </a:r>
            <a:r>
              <a:rPr lang="zh-CN" altLang="en-US" sz="2000" dirty="0">
                <a:latin typeface="+mn-ea"/>
              </a:rPr>
              <a:t>所示</a:t>
            </a:r>
            <a:r>
              <a:rPr lang="zh-CN" altLang="en-US" sz="2000" dirty="0" smtClean="0">
                <a:latin typeface="+mn-ea"/>
              </a:rPr>
              <a:t>。</a:t>
            </a:r>
            <a:endParaRPr lang="en-US" altLang="zh-CN" sz="2000" dirty="0" smtClean="0">
              <a:latin typeface="+mn-ea"/>
            </a:endParaRPr>
          </a:p>
          <a:p>
            <a:endParaRPr lang="en-US" altLang="zh-CN" sz="2000" dirty="0">
              <a:latin typeface="+mn-ea"/>
              <a:ea typeface="+mn-ea"/>
            </a:endParaRPr>
          </a:p>
          <a:p>
            <a:endParaRPr lang="en-US" altLang="zh-CN" sz="2000" dirty="0" smtClean="0">
              <a:latin typeface="+mn-ea"/>
            </a:endParaRPr>
          </a:p>
          <a:p>
            <a:endParaRPr lang="en-US" altLang="zh-CN" sz="2000" dirty="0">
              <a:latin typeface="+mn-ea"/>
              <a:ea typeface="+mn-ea"/>
            </a:endParaRPr>
          </a:p>
          <a:p>
            <a:endParaRPr lang="en-US" altLang="zh-CN" sz="2000" dirty="0" smtClean="0">
              <a:latin typeface="+mn-ea"/>
            </a:endParaRPr>
          </a:p>
          <a:p>
            <a:endParaRPr lang="en-US" altLang="zh-CN" sz="2000" dirty="0">
              <a:latin typeface="+mn-ea"/>
              <a:ea typeface="+mn-ea"/>
            </a:endParaRPr>
          </a:p>
          <a:p>
            <a:endParaRPr lang="en-US" altLang="zh-CN" sz="2000" dirty="0" smtClean="0">
              <a:latin typeface="+mn-ea"/>
            </a:endParaRPr>
          </a:p>
          <a:p>
            <a:r>
              <a:rPr lang="zh-CN" altLang="en-US" sz="2000" dirty="0" smtClean="0">
                <a:latin typeface="+mn-ea"/>
              </a:rPr>
              <a:t>对</a:t>
            </a:r>
            <a:r>
              <a:rPr lang="zh-CN" altLang="en-US" sz="2000" dirty="0">
                <a:latin typeface="+mn-ea"/>
              </a:rPr>
              <a:t>表</a:t>
            </a:r>
            <a:r>
              <a:rPr lang="en-US" altLang="zh-CN" sz="2000" dirty="0" smtClean="0">
                <a:latin typeface="+mn-ea"/>
              </a:rPr>
              <a:t>4-21</a:t>
            </a:r>
            <a:r>
              <a:rPr lang="zh-CN" altLang="en-US" sz="2000" dirty="0" smtClean="0">
                <a:solidFill>
                  <a:srgbClr val="FF0000"/>
                </a:solidFill>
                <a:latin typeface="+mn-ea"/>
              </a:rPr>
              <a:t>再</a:t>
            </a:r>
            <a:r>
              <a:rPr lang="zh-CN" altLang="en-US" sz="2000" dirty="0">
                <a:solidFill>
                  <a:srgbClr val="FF0000"/>
                </a:solidFill>
                <a:latin typeface="+mn-ea"/>
              </a:rPr>
              <a:t>用闭回路法或位势法求各空格的检验数</a:t>
            </a:r>
            <a:r>
              <a:rPr lang="zh-CN" altLang="en-US" sz="2000" dirty="0">
                <a:latin typeface="+mn-ea"/>
              </a:rPr>
              <a:t>，见表</a:t>
            </a:r>
            <a:r>
              <a:rPr lang="en-US" altLang="zh-CN" sz="2000" dirty="0">
                <a:latin typeface="+mn-ea"/>
              </a:rPr>
              <a:t>4-22</a:t>
            </a:r>
            <a:r>
              <a:rPr lang="zh-CN" altLang="en-US" sz="2000" dirty="0">
                <a:latin typeface="+mn-ea"/>
              </a:rPr>
              <a:t>。表中的所有检验数都非负，故表</a:t>
            </a:r>
            <a:r>
              <a:rPr lang="en-US" altLang="zh-CN" sz="2000" dirty="0" smtClean="0">
                <a:latin typeface="+mn-ea"/>
              </a:rPr>
              <a:t>4-22</a:t>
            </a:r>
            <a:r>
              <a:rPr lang="zh-CN" altLang="en-US" sz="2000" dirty="0" smtClean="0">
                <a:latin typeface="+mn-ea"/>
              </a:rPr>
              <a:t>中</a:t>
            </a:r>
            <a:r>
              <a:rPr lang="zh-CN" altLang="en-US" sz="2000" dirty="0">
                <a:latin typeface="+mn-ea"/>
              </a:rPr>
              <a:t>的解为最优解。这时得到的总运费最小是</a:t>
            </a:r>
            <a:r>
              <a:rPr lang="en-US" altLang="zh-CN" sz="2000" dirty="0">
                <a:latin typeface="+mn-ea"/>
              </a:rPr>
              <a:t>85</a:t>
            </a:r>
            <a:r>
              <a:rPr lang="zh-CN" altLang="en-US" sz="2000" dirty="0">
                <a:latin typeface="+mn-ea"/>
              </a:rPr>
              <a:t>元。</a:t>
            </a:r>
          </a:p>
          <a:p>
            <a:endParaRPr lang="zh-CN" altLang="en-US" sz="2000" dirty="0" smtClean="0">
              <a:latin typeface="+mn-ea"/>
              <a:ea typeface="+mn-ea"/>
            </a:endParaRPr>
          </a:p>
          <a:p>
            <a:pPr lvl="1"/>
            <a:endParaRPr lang="en-US" altLang="zh-CN" sz="2000" dirty="0" smtClean="0">
              <a:latin typeface="+mn-ea"/>
              <a:ea typeface="+mn-ea"/>
            </a:endParaRPr>
          </a:p>
          <a:p>
            <a:pPr lvl="1"/>
            <a:endParaRPr lang="en-US" altLang="zh-CN" sz="2000" dirty="0">
              <a:latin typeface="+mn-ea"/>
              <a:ea typeface="+mn-ea"/>
            </a:endParaRPr>
          </a:p>
          <a:p>
            <a:pPr lvl="1"/>
            <a:endParaRPr lang="en-US" altLang="zh-CN" sz="2000" dirty="0">
              <a:latin typeface="+mn-ea"/>
              <a:ea typeface="+mn-ea"/>
            </a:endParaRPr>
          </a:p>
        </p:txBody>
      </p:sp>
      <p:sp>
        <p:nvSpPr>
          <p:cNvPr id="7" name="灯片编号占位符 5">
            <a:extLst>
              <a:ext uri="{FF2B5EF4-FFF2-40B4-BE49-F238E27FC236}">
                <a16:creationId xmlns:a16="http://schemas.microsoft.com/office/drawing/2014/main" id="{93253A9C-B75E-47DD-B41F-372753B89FE3}"/>
              </a:ext>
            </a:extLst>
          </p:cNvPr>
          <p:cNvSpPr>
            <a:spLocks noGrp="1"/>
          </p:cNvSpPr>
          <p:nvPr>
            <p:ph type="sldNum" sz="quarter" idx="10"/>
          </p:nvPr>
        </p:nvSpPr>
        <p:spPr/>
        <p:txBody>
          <a:bodyPr/>
          <a:lstStyle/>
          <a:p>
            <a:fld id="{1F27F048-23F4-4A25-8877-A08083E26629}" type="slidenum">
              <a:rPr lang="en-US" altLang="zh-CN"/>
              <a:pPr/>
              <a:t>21</a:t>
            </a:fld>
            <a:endParaRPr lang="en-US" altLang="zh-CN"/>
          </a:p>
        </p:txBody>
      </p:sp>
      <p:graphicFrame>
        <p:nvGraphicFramePr>
          <p:cNvPr id="9" name="Object 8">
            <a:extLst>
              <a:ext uri="{FF2B5EF4-FFF2-40B4-BE49-F238E27FC236}">
                <a16:creationId xmlns:a16="http://schemas.microsoft.com/office/drawing/2014/main" id="{696DF98A-F6B3-459D-BD7A-F4FE5378DEBB}"/>
              </a:ext>
            </a:extLst>
          </p:cNvPr>
          <p:cNvGraphicFramePr>
            <a:graphicFrameLocks noChangeAspect="1"/>
          </p:cNvGraphicFramePr>
          <p:nvPr>
            <p:extLst>
              <p:ext uri="{D42A27DB-BD31-4B8C-83A1-F6EECF244321}">
                <p14:modId xmlns:p14="http://schemas.microsoft.com/office/powerpoint/2010/main" val="1816942615"/>
              </p:ext>
            </p:extLst>
          </p:nvPr>
        </p:nvGraphicFramePr>
        <p:xfrm>
          <a:off x="323528" y="2460626"/>
          <a:ext cx="4690293" cy="2009698"/>
        </p:xfrm>
        <a:graphic>
          <a:graphicData uri="http://schemas.openxmlformats.org/presentationml/2006/ole">
            <mc:AlternateContent xmlns:mc="http://schemas.openxmlformats.org/markup-compatibility/2006">
              <mc:Choice xmlns:v="urn:schemas-microsoft-com:vml" Requires="v">
                <p:oleObj spid="_x0000_s727234" name="Document" r:id="rId3" imgW="3793736" imgH="1632408" progId="Word.Document.8">
                  <p:embed/>
                </p:oleObj>
              </mc:Choice>
              <mc:Fallback>
                <p:oleObj name="Document" r:id="rId3" imgW="3793736" imgH="1632408" progId="Word.Document.8">
                  <p:embed/>
                  <p:pic>
                    <p:nvPicPr>
                      <p:cNvPr id="9" name="Object 8">
                        <a:extLst>
                          <a:ext uri="{FF2B5EF4-FFF2-40B4-BE49-F238E27FC236}">
                            <a16:creationId xmlns:a16="http://schemas.microsoft.com/office/drawing/2014/main" id="{696DF98A-F6B3-459D-BD7A-F4FE5378DEBB}"/>
                          </a:ext>
                        </a:extLst>
                      </p:cNvPr>
                      <p:cNvPicPr>
                        <a:picLocks noChangeAspect="1" noChangeArrowheads="1"/>
                      </p:cNvPicPr>
                      <p:nvPr/>
                    </p:nvPicPr>
                    <p:blipFill>
                      <a:blip r:embed="rId4"/>
                      <a:srcRect/>
                      <a:stretch>
                        <a:fillRect/>
                      </a:stretch>
                    </p:blipFill>
                    <p:spPr bwMode="auto">
                      <a:xfrm>
                        <a:off x="323528" y="2460626"/>
                        <a:ext cx="4690293" cy="2009698"/>
                      </a:xfrm>
                      <a:prstGeom prst="rect">
                        <a:avLst/>
                      </a:prstGeom>
                      <a:noFill/>
                      <a:ln>
                        <a:noFill/>
                      </a:ln>
                      <a:effectLst/>
                      <a:extLst/>
                    </p:spPr>
                  </p:pic>
                </p:oleObj>
              </mc:Fallback>
            </mc:AlternateContent>
          </a:graphicData>
        </a:graphic>
      </p:graphicFrame>
      <p:sp>
        <p:nvSpPr>
          <p:cNvPr id="10" name="Rectangle 11">
            <a:extLst>
              <a:ext uri="{FF2B5EF4-FFF2-40B4-BE49-F238E27FC236}">
                <a16:creationId xmlns:a16="http://schemas.microsoft.com/office/drawing/2014/main" id="{3B5E4FA9-F5A0-439D-9598-3AE528E755A7}"/>
              </a:ext>
            </a:extLst>
          </p:cNvPr>
          <p:cNvSpPr>
            <a:spLocks noChangeArrowheads="1"/>
          </p:cNvSpPr>
          <p:nvPr/>
        </p:nvSpPr>
        <p:spPr bwMode="auto">
          <a:xfrm>
            <a:off x="971600" y="2060848"/>
            <a:ext cx="12961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4-20</a:t>
            </a:r>
            <a:endParaRPr kumimoji="1" lang="en-US" altLang="zh-CN" sz="2000" b="0" dirty="0">
              <a:solidFill>
                <a:schemeClr val="tx2"/>
              </a:solidFill>
            </a:endParaRPr>
          </a:p>
        </p:txBody>
      </p:sp>
      <p:sp>
        <p:nvSpPr>
          <p:cNvPr id="11" name="Rectangle 11">
            <a:extLst>
              <a:ext uri="{FF2B5EF4-FFF2-40B4-BE49-F238E27FC236}">
                <a16:creationId xmlns:a16="http://schemas.microsoft.com/office/drawing/2014/main" id="{3B5E4FA9-F5A0-439D-9598-3AE528E755A7}"/>
              </a:ext>
            </a:extLst>
          </p:cNvPr>
          <p:cNvSpPr>
            <a:spLocks noChangeArrowheads="1"/>
          </p:cNvSpPr>
          <p:nvPr/>
        </p:nvSpPr>
        <p:spPr bwMode="auto">
          <a:xfrm>
            <a:off x="6121013" y="2060848"/>
            <a:ext cx="12961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4-21</a:t>
            </a:r>
            <a:endParaRPr kumimoji="1" lang="en-US" altLang="zh-CN" sz="2000" b="0" dirty="0">
              <a:solidFill>
                <a:schemeClr val="tx2"/>
              </a:solidFill>
            </a:endParaRPr>
          </a:p>
        </p:txBody>
      </p:sp>
      <p:graphicFrame>
        <p:nvGraphicFramePr>
          <p:cNvPr id="12" name="Object 6">
            <a:extLst>
              <a:ext uri="{FF2B5EF4-FFF2-40B4-BE49-F238E27FC236}">
                <a16:creationId xmlns:a16="http://schemas.microsoft.com/office/drawing/2014/main" id="{7228D855-8D81-4750-869E-1324969009F0}"/>
              </a:ext>
            </a:extLst>
          </p:cNvPr>
          <p:cNvGraphicFramePr>
            <a:graphicFrameLocks noChangeAspect="1"/>
          </p:cNvGraphicFramePr>
          <p:nvPr>
            <p:extLst>
              <p:ext uri="{D42A27DB-BD31-4B8C-83A1-F6EECF244321}">
                <p14:modId xmlns:p14="http://schemas.microsoft.com/office/powerpoint/2010/main" val="3440568466"/>
              </p:ext>
            </p:extLst>
          </p:nvPr>
        </p:nvGraphicFramePr>
        <p:xfrm>
          <a:off x="4475163" y="2460625"/>
          <a:ext cx="4462462" cy="2046288"/>
        </p:xfrm>
        <a:graphic>
          <a:graphicData uri="http://schemas.openxmlformats.org/presentationml/2006/ole">
            <mc:AlternateContent xmlns:mc="http://schemas.openxmlformats.org/markup-compatibility/2006">
              <mc:Choice xmlns:v="urn:schemas-microsoft-com:vml" Requires="v">
                <p:oleObj spid="_x0000_s727235" name="Document" r:id="rId5" imgW="3110762" imgH="1426960" progId="Word.Document.8">
                  <p:embed/>
                </p:oleObj>
              </mc:Choice>
              <mc:Fallback>
                <p:oleObj name="Document" r:id="rId5" imgW="3110762" imgH="1426960" progId="Word.Document.8">
                  <p:embed/>
                  <p:pic>
                    <p:nvPicPr>
                      <p:cNvPr id="651270" name="Object 6">
                        <a:extLst>
                          <a:ext uri="{FF2B5EF4-FFF2-40B4-BE49-F238E27FC236}">
                            <a16:creationId xmlns:a16="http://schemas.microsoft.com/office/drawing/2014/main" id="{7228D855-8D81-4750-869E-1324969009F0}"/>
                          </a:ext>
                        </a:extLst>
                      </p:cNvPr>
                      <p:cNvPicPr>
                        <a:picLocks noChangeAspect="1" noChangeArrowheads="1"/>
                      </p:cNvPicPr>
                      <p:nvPr/>
                    </p:nvPicPr>
                    <p:blipFill>
                      <a:blip r:embed="rId6"/>
                      <a:srcRect/>
                      <a:stretch>
                        <a:fillRect/>
                      </a:stretch>
                    </p:blipFill>
                    <p:spPr bwMode="auto">
                      <a:xfrm>
                        <a:off x="4475163" y="2460625"/>
                        <a:ext cx="4462462" cy="2046288"/>
                      </a:xfrm>
                      <a:prstGeom prst="rect">
                        <a:avLst/>
                      </a:prstGeom>
                      <a:noFill/>
                      <a:ln>
                        <a:noFill/>
                      </a:ln>
                      <a:effectLst/>
                      <a:extLst/>
                    </p:spPr>
                  </p:pic>
                </p:oleObj>
              </mc:Fallback>
            </mc:AlternateContent>
          </a:graphicData>
        </a:graphic>
      </p:graphicFrame>
      <p:graphicFrame>
        <p:nvGraphicFramePr>
          <p:cNvPr id="13" name="Object 6">
            <a:extLst>
              <a:ext uri="{FF2B5EF4-FFF2-40B4-BE49-F238E27FC236}">
                <a16:creationId xmlns:a16="http://schemas.microsoft.com/office/drawing/2014/main" id="{80391A35-E931-475A-9FFF-DE888F45B822}"/>
              </a:ext>
            </a:extLst>
          </p:cNvPr>
          <p:cNvGraphicFramePr>
            <a:graphicFrameLocks noChangeAspect="1"/>
          </p:cNvGraphicFramePr>
          <p:nvPr>
            <p:extLst>
              <p:ext uri="{D42A27DB-BD31-4B8C-83A1-F6EECF244321}">
                <p14:modId xmlns:p14="http://schemas.microsoft.com/office/powerpoint/2010/main" val="2394126020"/>
              </p:ext>
            </p:extLst>
          </p:nvPr>
        </p:nvGraphicFramePr>
        <p:xfrm>
          <a:off x="3170721" y="4906690"/>
          <a:ext cx="3523419" cy="1562560"/>
        </p:xfrm>
        <a:graphic>
          <a:graphicData uri="http://schemas.openxmlformats.org/presentationml/2006/ole">
            <mc:AlternateContent xmlns:mc="http://schemas.openxmlformats.org/markup-compatibility/2006">
              <mc:Choice xmlns:v="urn:schemas-microsoft-com:vml" Requires="v">
                <p:oleObj spid="_x0000_s727236" name="Document" r:id="rId7" imgW="2568768" imgH="1171412" progId="Word.Document.8">
                  <p:embed/>
                </p:oleObj>
              </mc:Choice>
              <mc:Fallback>
                <p:oleObj name="Document" r:id="rId7" imgW="2568768" imgH="1171412" progId="Word.Document.8">
                  <p:embed/>
                  <p:pic>
                    <p:nvPicPr>
                      <p:cNvPr id="652294" name="Object 6">
                        <a:extLst>
                          <a:ext uri="{FF2B5EF4-FFF2-40B4-BE49-F238E27FC236}">
                            <a16:creationId xmlns:a16="http://schemas.microsoft.com/office/drawing/2014/main" id="{80391A35-E931-475A-9FFF-DE888F45B822}"/>
                          </a:ext>
                        </a:extLst>
                      </p:cNvPr>
                      <p:cNvPicPr>
                        <a:picLocks noChangeAspect="1" noChangeArrowheads="1"/>
                      </p:cNvPicPr>
                      <p:nvPr/>
                    </p:nvPicPr>
                    <p:blipFill>
                      <a:blip r:embed="rId8"/>
                      <a:srcRect/>
                      <a:stretch>
                        <a:fillRect/>
                      </a:stretch>
                    </p:blipFill>
                    <p:spPr bwMode="auto">
                      <a:xfrm>
                        <a:off x="3170721" y="4906690"/>
                        <a:ext cx="3523419" cy="1562560"/>
                      </a:xfrm>
                      <a:prstGeom prst="rect">
                        <a:avLst/>
                      </a:prstGeom>
                      <a:noFill/>
                      <a:ln>
                        <a:noFill/>
                      </a:ln>
                      <a:effectLst/>
                      <a:extLst/>
                    </p:spPr>
                  </p:pic>
                </p:oleObj>
              </mc:Fallback>
            </mc:AlternateContent>
          </a:graphicData>
        </a:graphic>
      </p:graphicFrame>
      <p:sp>
        <p:nvSpPr>
          <p:cNvPr id="14" name="Rectangle 11">
            <a:extLst>
              <a:ext uri="{FF2B5EF4-FFF2-40B4-BE49-F238E27FC236}">
                <a16:creationId xmlns:a16="http://schemas.microsoft.com/office/drawing/2014/main" id="{3B5E4FA9-F5A0-439D-9598-3AE528E755A7}"/>
              </a:ext>
            </a:extLst>
          </p:cNvPr>
          <p:cNvSpPr>
            <a:spLocks noChangeArrowheads="1"/>
          </p:cNvSpPr>
          <p:nvPr/>
        </p:nvSpPr>
        <p:spPr bwMode="auto">
          <a:xfrm>
            <a:off x="1907704" y="5188026"/>
            <a:ext cx="12961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4-22</a:t>
            </a:r>
            <a:endParaRPr kumimoji="1" lang="en-US" altLang="zh-CN" sz="2000" b="0" dirty="0">
              <a:solidFill>
                <a:schemeClr val="tx2"/>
              </a:solidFill>
            </a:endParaRPr>
          </a:p>
        </p:txBody>
      </p:sp>
      <p:sp>
        <p:nvSpPr>
          <p:cNvPr id="15" name="矩形 14"/>
          <p:cNvSpPr/>
          <p:nvPr/>
        </p:nvSpPr>
        <p:spPr bwMode="auto">
          <a:xfrm>
            <a:off x="3235150" y="3416221"/>
            <a:ext cx="544761" cy="300811"/>
          </a:xfrm>
          <a:prstGeom prst="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6" name="矩形 15"/>
          <p:cNvSpPr/>
          <p:nvPr/>
        </p:nvSpPr>
        <p:spPr bwMode="auto">
          <a:xfrm>
            <a:off x="2483768" y="3416221"/>
            <a:ext cx="504056" cy="300811"/>
          </a:xfrm>
          <a:prstGeom prst="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17" name="矩形 16"/>
          <p:cNvSpPr/>
          <p:nvPr/>
        </p:nvSpPr>
        <p:spPr bwMode="auto">
          <a:xfrm>
            <a:off x="6969212" y="3081026"/>
            <a:ext cx="771140" cy="491990"/>
          </a:xfrm>
          <a:prstGeom prst="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631374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a:extLst>
              <a:ext uri="{FF2B5EF4-FFF2-40B4-BE49-F238E27FC236}">
                <a16:creationId xmlns:a16="http://schemas.microsoft.com/office/drawing/2014/main" id="{65527F3E-8090-470D-BFFD-9D09F642A913}"/>
              </a:ext>
            </a:extLst>
          </p:cNvPr>
          <p:cNvSpPr>
            <a:spLocks noGrp="1" noChangeArrowheads="1"/>
          </p:cNvSpPr>
          <p:nvPr>
            <p:ph type="title"/>
          </p:nvPr>
        </p:nvSpPr>
        <p:spPr/>
        <p:txBody>
          <a:bodyPr/>
          <a:lstStyle/>
          <a:p>
            <a:r>
              <a:rPr lang="en-US" altLang="zh-CN" dirty="0">
                <a:latin typeface="宋体" panose="02010600030101010101" pitchFamily="2" charset="-122"/>
              </a:rPr>
              <a:t>4.2.4  </a:t>
            </a:r>
            <a:r>
              <a:rPr lang="zh-CN" altLang="en-US" sz="3200" dirty="0">
                <a:latin typeface="Arial" panose="020B0604020202020204" pitchFamily="34" charset="0"/>
              </a:rPr>
              <a:t>表上作业法计算中的问题</a:t>
            </a:r>
          </a:p>
        </p:txBody>
      </p:sp>
      <p:sp>
        <p:nvSpPr>
          <p:cNvPr id="2" name="内容占位符 1"/>
          <p:cNvSpPr>
            <a:spLocks noGrp="1"/>
          </p:cNvSpPr>
          <p:nvPr>
            <p:ph idx="1"/>
          </p:nvPr>
        </p:nvSpPr>
        <p:spPr>
          <a:xfrm>
            <a:off x="395535" y="1196752"/>
            <a:ext cx="8497639" cy="4536504"/>
          </a:xfrm>
        </p:spPr>
        <p:txBody>
          <a:bodyPr/>
          <a:lstStyle/>
          <a:p>
            <a:r>
              <a:rPr lang="en-US" altLang="zh-CN" dirty="0"/>
              <a:t>1. </a:t>
            </a:r>
            <a:r>
              <a:rPr lang="zh-CN" altLang="en-US" dirty="0"/>
              <a:t>无穷多</a:t>
            </a:r>
            <a:r>
              <a:rPr lang="zh-CN" altLang="en-US" dirty="0" smtClean="0"/>
              <a:t>最优解</a:t>
            </a:r>
            <a:endParaRPr lang="en-US" altLang="zh-CN" dirty="0" smtClean="0"/>
          </a:p>
          <a:p>
            <a:pPr lvl="1"/>
            <a:r>
              <a:rPr lang="zh-CN" altLang="en-US" sz="2000" dirty="0" smtClean="0"/>
              <a:t>在本章</a:t>
            </a:r>
            <a:r>
              <a:rPr lang="en-US" altLang="zh-CN" sz="2000" dirty="0" smtClean="0"/>
              <a:t>4.2.1</a:t>
            </a:r>
            <a:r>
              <a:rPr lang="zh-CN" altLang="en-US" sz="2000" dirty="0"/>
              <a:t>节中提到，产销平衡的运输问题</a:t>
            </a:r>
            <a:r>
              <a:rPr lang="zh-CN" altLang="en-US" sz="2000" dirty="0">
                <a:solidFill>
                  <a:srgbClr val="FF0000"/>
                </a:solidFill>
              </a:rPr>
              <a:t>必定存在最优解</a:t>
            </a:r>
            <a:r>
              <a:rPr lang="zh-CN" altLang="en-US" sz="2000" dirty="0"/>
              <a:t>。那么有唯一最优解还是无穷多最优解</a:t>
            </a:r>
            <a:r>
              <a:rPr lang="en-US" altLang="zh-CN" sz="2000" dirty="0"/>
              <a:t>? </a:t>
            </a:r>
            <a:r>
              <a:rPr lang="zh-CN" altLang="en-US" sz="2000" dirty="0"/>
              <a:t>判别依据与</a:t>
            </a:r>
            <a:r>
              <a:rPr lang="zh-CN" altLang="en-US" sz="2000" dirty="0" smtClean="0"/>
              <a:t>第</a:t>
            </a:r>
            <a:r>
              <a:rPr lang="en-US" altLang="zh-CN" sz="2000" dirty="0" smtClean="0"/>
              <a:t>2</a:t>
            </a:r>
            <a:r>
              <a:rPr lang="zh-CN" altLang="en-US" sz="2000" dirty="0" smtClean="0"/>
              <a:t>章</a:t>
            </a:r>
            <a:r>
              <a:rPr lang="zh-CN" altLang="en-US" sz="2000" dirty="0"/>
              <a:t>讲述的相同。即某个</a:t>
            </a:r>
            <a:r>
              <a:rPr lang="zh-CN" altLang="en-US" sz="2000" dirty="0">
                <a:solidFill>
                  <a:srgbClr val="FF0000"/>
                </a:solidFill>
              </a:rPr>
              <a:t>非基变量</a:t>
            </a:r>
            <a:r>
              <a:rPr lang="en-US" altLang="zh-CN" sz="2000" dirty="0">
                <a:solidFill>
                  <a:srgbClr val="FF0000"/>
                </a:solidFill>
              </a:rPr>
              <a:t>(</a:t>
            </a:r>
            <a:r>
              <a:rPr lang="zh-CN" altLang="en-US" sz="2000" dirty="0">
                <a:solidFill>
                  <a:srgbClr val="FF0000"/>
                </a:solidFill>
              </a:rPr>
              <a:t>空格</a:t>
            </a:r>
            <a:r>
              <a:rPr lang="en-US" altLang="zh-CN" sz="2000" dirty="0">
                <a:solidFill>
                  <a:srgbClr val="FF0000"/>
                </a:solidFill>
              </a:rPr>
              <a:t>)</a:t>
            </a:r>
            <a:r>
              <a:rPr lang="zh-CN" altLang="en-US" sz="2000" dirty="0">
                <a:solidFill>
                  <a:srgbClr val="FF0000"/>
                </a:solidFill>
              </a:rPr>
              <a:t>的检验数为</a:t>
            </a:r>
            <a:r>
              <a:rPr lang="en-US" altLang="zh-CN" sz="2000" dirty="0">
                <a:solidFill>
                  <a:srgbClr val="FF0000"/>
                </a:solidFill>
              </a:rPr>
              <a:t>0</a:t>
            </a:r>
            <a:r>
              <a:rPr lang="zh-CN" altLang="en-US" sz="2000" dirty="0">
                <a:solidFill>
                  <a:srgbClr val="FF0000"/>
                </a:solidFill>
              </a:rPr>
              <a:t>时，该问题有无穷多最优解</a:t>
            </a:r>
            <a:r>
              <a:rPr lang="zh-CN" altLang="en-US" sz="2000" dirty="0"/>
              <a:t>。表</a:t>
            </a:r>
            <a:r>
              <a:rPr lang="en-US" altLang="zh-CN" sz="2000" dirty="0"/>
              <a:t>4-22</a:t>
            </a:r>
            <a:r>
              <a:rPr lang="zh-CN" altLang="en-US" sz="2000" dirty="0"/>
              <a:t>空格</a:t>
            </a:r>
            <a:r>
              <a:rPr lang="en-US" altLang="zh-CN" sz="2000" dirty="0"/>
              <a:t>(1</a:t>
            </a:r>
            <a:r>
              <a:rPr lang="zh-CN" altLang="en-US" sz="2000" dirty="0"/>
              <a:t>，</a:t>
            </a:r>
            <a:r>
              <a:rPr lang="en-US" altLang="zh-CN" sz="2000" dirty="0"/>
              <a:t>1)</a:t>
            </a:r>
            <a:r>
              <a:rPr lang="zh-CN" altLang="en-US" sz="2000" dirty="0"/>
              <a:t>的检验数是</a:t>
            </a:r>
            <a:r>
              <a:rPr lang="en-US" altLang="zh-CN" sz="2000" dirty="0"/>
              <a:t>0</a:t>
            </a:r>
            <a:r>
              <a:rPr lang="zh-CN" altLang="en-US" sz="2000" dirty="0"/>
              <a:t>，表明例</a:t>
            </a:r>
            <a:r>
              <a:rPr lang="en-US" altLang="zh-CN" sz="2000" dirty="0"/>
              <a:t>1</a:t>
            </a:r>
            <a:r>
              <a:rPr lang="zh-CN" altLang="en-US" sz="2000" dirty="0"/>
              <a:t>有无穷多最优解</a:t>
            </a:r>
            <a:r>
              <a:rPr lang="zh-CN" altLang="en-US" sz="2000" dirty="0" smtClean="0"/>
              <a:t>。</a:t>
            </a:r>
            <a:endParaRPr lang="en-US" altLang="zh-CN" sz="2000" dirty="0" smtClean="0"/>
          </a:p>
          <a:p>
            <a:pPr lvl="1"/>
            <a:r>
              <a:rPr lang="zh-CN" altLang="en-US" sz="2000" dirty="0" smtClean="0"/>
              <a:t>可</a:t>
            </a:r>
            <a:r>
              <a:rPr lang="zh-CN" altLang="en-US" sz="2000" dirty="0"/>
              <a:t>在表</a:t>
            </a:r>
            <a:r>
              <a:rPr lang="en-US" altLang="zh-CN" sz="2000" dirty="0"/>
              <a:t>4-21</a:t>
            </a:r>
            <a:r>
              <a:rPr lang="zh-CN" altLang="en-US" sz="2000" dirty="0"/>
              <a:t>中以</a:t>
            </a:r>
            <a:r>
              <a:rPr lang="en-US" altLang="zh-CN" sz="2000" dirty="0"/>
              <a:t>(1</a:t>
            </a:r>
            <a:r>
              <a:rPr lang="zh-CN" altLang="en-US" sz="2000" dirty="0"/>
              <a:t>，</a:t>
            </a:r>
            <a:r>
              <a:rPr lang="en-US" altLang="zh-CN" sz="2000" dirty="0"/>
              <a:t>1)</a:t>
            </a:r>
            <a:r>
              <a:rPr lang="zh-CN" altLang="en-US" sz="2000" dirty="0"/>
              <a:t>为调入格，作闭回路</a:t>
            </a:r>
          </a:p>
          <a:p>
            <a:pPr marL="457200" lvl="1" indent="0">
              <a:buNone/>
            </a:pPr>
            <a:r>
              <a:rPr lang="zh-CN" altLang="en-US" sz="2000" dirty="0" smtClean="0"/>
              <a:t>               </a:t>
            </a:r>
            <a:r>
              <a:rPr lang="en-US" altLang="zh-CN" sz="2000" dirty="0"/>
              <a:t>(1</a:t>
            </a:r>
            <a:r>
              <a:rPr lang="zh-CN" altLang="en-US" sz="2000" dirty="0"/>
              <a:t>，</a:t>
            </a:r>
            <a:r>
              <a:rPr lang="en-US" altLang="zh-CN" sz="2000" dirty="0"/>
              <a:t>1</a:t>
            </a:r>
            <a:r>
              <a:rPr lang="en-US" altLang="zh-CN" sz="2000" dirty="0" smtClean="0"/>
              <a:t>)</a:t>
            </a:r>
            <a:r>
              <a:rPr lang="en-US" altLang="zh-CN" sz="2000" baseline="-25000" dirty="0" smtClean="0"/>
              <a:t>+</a:t>
            </a:r>
            <a:r>
              <a:rPr lang="en-US" altLang="zh-CN" sz="2000" dirty="0"/>
              <a:t> </a:t>
            </a:r>
            <a:r>
              <a:rPr lang="en-US" altLang="zh-CN" sz="2000" dirty="0" smtClean="0"/>
              <a:t> (1</a:t>
            </a:r>
            <a:r>
              <a:rPr lang="zh-CN" altLang="en-US" sz="2000" dirty="0"/>
              <a:t>，</a:t>
            </a:r>
            <a:r>
              <a:rPr lang="en-US" altLang="zh-CN" sz="2000" dirty="0"/>
              <a:t>4</a:t>
            </a:r>
            <a:r>
              <a:rPr lang="en-US" altLang="zh-CN" sz="2000" dirty="0" smtClean="0"/>
              <a:t>)</a:t>
            </a:r>
            <a:r>
              <a:rPr lang="en-US" altLang="zh-CN" sz="2000" baseline="-25000" dirty="0" smtClean="0"/>
              <a:t>-</a:t>
            </a:r>
            <a:r>
              <a:rPr lang="en-US" altLang="zh-CN" sz="2000" dirty="0" smtClean="0"/>
              <a:t>   (</a:t>
            </a:r>
            <a:r>
              <a:rPr lang="en-US" altLang="zh-CN" sz="2000" dirty="0"/>
              <a:t>2</a:t>
            </a:r>
            <a:r>
              <a:rPr lang="zh-CN" altLang="en-US" sz="2000" dirty="0"/>
              <a:t>，</a:t>
            </a:r>
            <a:r>
              <a:rPr lang="en-US" altLang="zh-CN" sz="2000" dirty="0"/>
              <a:t>4</a:t>
            </a:r>
            <a:r>
              <a:rPr lang="en-US" altLang="zh-CN" sz="2000" dirty="0" smtClean="0"/>
              <a:t>)</a:t>
            </a:r>
            <a:r>
              <a:rPr lang="en-US" altLang="zh-CN" sz="2000" baseline="-25000" dirty="0" smtClean="0"/>
              <a:t>+</a:t>
            </a:r>
            <a:r>
              <a:rPr lang="en-US" altLang="zh-CN" sz="2000" dirty="0" smtClean="0"/>
              <a:t>  (</a:t>
            </a:r>
            <a:r>
              <a:rPr lang="en-US" altLang="zh-CN" sz="2000" dirty="0"/>
              <a:t>2</a:t>
            </a:r>
            <a:r>
              <a:rPr lang="zh-CN" altLang="en-US" sz="2000" dirty="0"/>
              <a:t>，</a:t>
            </a:r>
            <a:r>
              <a:rPr lang="en-US" altLang="zh-CN" sz="2000" dirty="0"/>
              <a:t>1</a:t>
            </a:r>
            <a:r>
              <a:rPr lang="en-US" altLang="zh-CN" sz="2000" dirty="0" smtClean="0"/>
              <a:t>)</a:t>
            </a:r>
            <a:r>
              <a:rPr lang="en-US" altLang="zh-CN" sz="2000" baseline="-25000" dirty="0" smtClean="0"/>
              <a:t>-</a:t>
            </a:r>
            <a:r>
              <a:rPr lang="en-US" altLang="zh-CN" sz="2000" dirty="0" smtClean="0"/>
              <a:t>  (</a:t>
            </a:r>
            <a:r>
              <a:rPr lang="en-US" altLang="zh-CN" sz="2000" dirty="0"/>
              <a:t>1</a:t>
            </a:r>
            <a:r>
              <a:rPr lang="zh-CN" altLang="en-US" sz="2000" dirty="0"/>
              <a:t>，</a:t>
            </a:r>
            <a:r>
              <a:rPr lang="en-US" altLang="zh-CN" sz="2000" dirty="0"/>
              <a:t>1)</a:t>
            </a:r>
            <a:r>
              <a:rPr lang="en-US" altLang="zh-CN" sz="2000" baseline="-25000" dirty="0"/>
              <a:t>+</a:t>
            </a:r>
            <a:r>
              <a:rPr lang="zh-CN" altLang="en-US" sz="2000" dirty="0"/>
              <a:t>。</a:t>
            </a:r>
          </a:p>
          <a:p>
            <a:pPr lvl="1"/>
            <a:r>
              <a:rPr lang="zh-CN" altLang="en-US" sz="2000" dirty="0"/>
              <a:t>   确定</a:t>
            </a:r>
            <a:r>
              <a:rPr lang="en-US" altLang="zh-CN" sz="2000" dirty="0"/>
              <a:t>θ=min(2,3)=2</a:t>
            </a:r>
            <a:r>
              <a:rPr lang="zh-CN" altLang="en-US" sz="2000" dirty="0"/>
              <a:t>。经调整后得到另一最优解，见表</a:t>
            </a:r>
            <a:r>
              <a:rPr lang="en-US" altLang="zh-CN" sz="2000" dirty="0"/>
              <a:t>4-23</a:t>
            </a:r>
            <a:r>
              <a:rPr lang="zh-CN" altLang="en-US" sz="2000" dirty="0"/>
              <a:t>。</a:t>
            </a:r>
          </a:p>
          <a:p>
            <a:pPr lvl="1"/>
            <a:endParaRPr lang="zh-CN" altLang="en-US" sz="2000" dirty="0"/>
          </a:p>
          <a:p>
            <a:endParaRPr lang="zh-CN" altLang="en-US" sz="2000" dirty="0"/>
          </a:p>
        </p:txBody>
      </p:sp>
      <p:sp>
        <p:nvSpPr>
          <p:cNvPr id="6" name="灯片编号占位符 5">
            <a:extLst>
              <a:ext uri="{FF2B5EF4-FFF2-40B4-BE49-F238E27FC236}">
                <a16:creationId xmlns:a16="http://schemas.microsoft.com/office/drawing/2014/main" id="{DA8A8878-D765-4A77-913B-26DD20F2F307}"/>
              </a:ext>
            </a:extLst>
          </p:cNvPr>
          <p:cNvSpPr>
            <a:spLocks noGrp="1"/>
          </p:cNvSpPr>
          <p:nvPr>
            <p:ph type="sldNum" sz="quarter" idx="10"/>
          </p:nvPr>
        </p:nvSpPr>
        <p:spPr/>
        <p:txBody>
          <a:bodyPr/>
          <a:lstStyle/>
          <a:p>
            <a:fld id="{59264FDD-1C60-42B4-A707-180EBC7087D6}" type="slidenum">
              <a:rPr lang="en-US" altLang="zh-CN"/>
              <a:pPr/>
              <a:t>22</a:t>
            </a:fld>
            <a:endParaRPr lang="en-US" altLang="zh-CN"/>
          </a:p>
        </p:txBody>
      </p:sp>
      <p:sp>
        <p:nvSpPr>
          <p:cNvPr id="653315" name="Rectangle 3">
            <a:extLst>
              <a:ext uri="{FF2B5EF4-FFF2-40B4-BE49-F238E27FC236}">
                <a16:creationId xmlns:a16="http://schemas.microsoft.com/office/drawing/2014/main" id="{81B2DF32-A1E9-4F77-9386-D85D8588C9C0}"/>
              </a:ext>
            </a:extLst>
          </p:cNvPr>
          <p:cNvSpPr>
            <a:spLocks noChangeArrowheads="1"/>
          </p:cNvSpPr>
          <p:nvPr/>
        </p:nvSpPr>
        <p:spPr bwMode="auto">
          <a:xfrm>
            <a:off x="282575" y="1557338"/>
            <a:ext cx="8610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just"/>
            <a:endParaRPr lang="zh-CN" altLang="en-US" b="0" dirty="0">
              <a:latin typeface="宋体" panose="02010600030101010101" pitchFamily="2" charset="-122"/>
            </a:endParaRPr>
          </a:p>
        </p:txBody>
      </p:sp>
      <p:cxnSp>
        <p:nvCxnSpPr>
          <p:cNvPr id="4" name="直接箭头连接符 3"/>
          <p:cNvCxnSpPr/>
          <p:nvPr/>
        </p:nvCxnSpPr>
        <p:spPr bwMode="auto">
          <a:xfrm>
            <a:off x="2627784" y="3429000"/>
            <a:ext cx="216024" cy="0"/>
          </a:xfrm>
          <a:prstGeom prst="straightConnector1">
            <a:avLst/>
          </a:prstGeom>
          <a:solidFill>
            <a:srgbClr val="6CAAC0"/>
          </a:solidFill>
          <a:ln w="9525" cap="flat" cmpd="sng" algn="ctr">
            <a:solidFill>
              <a:schemeClr val="tx1"/>
            </a:solidFill>
            <a:prstDash val="solid"/>
            <a:round/>
            <a:headEnd type="none" w="med" len="med"/>
            <a:tailEnd type="triangle"/>
          </a:ln>
        </p:spPr>
      </p:cxnSp>
      <p:cxnSp>
        <p:nvCxnSpPr>
          <p:cNvPr id="8" name="直接箭头连接符 7"/>
          <p:cNvCxnSpPr/>
          <p:nvPr/>
        </p:nvCxnSpPr>
        <p:spPr bwMode="auto">
          <a:xfrm>
            <a:off x="3563888" y="3429000"/>
            <a:ext cx="216024" cy="0"/>
          </a:xfrm>
          <a:prstGeom prst="straightConnector1">
            <a:avLst/>
          </a:prstGeom>
          <a:solidFill>
            <a:srgbClr val="6CAAC0"/>
          </a:solidFill>
          <a:ln w="9525" cap="flat" cmpd="sng" algn="ctr">
            <a:solidFill>
              <a:schemeClr val="tx1"/>
            </a:solidFill>
            <a:prstDash val="solid"/>
            <a:round/>
            <a:headEnd type="none" w="med" len="med"/>
            <a:tailEnd type="triangle"/>
          </a:ln>
        </p:spPr>
      </p:cxnSp>
      <p:cxnSp>
        <p:nvCxnSpPr>
          <p:cNvPr id="9" name="直接箭头连接符 8"/>
          <p:cNvCxnSpPr/>
          <p:nvPr/>
        </p:nvCxnSpPr>
        <p:spPr bwMode="auto">
          <a:xfrm>
            <a:off x="4427984" y="3429000"/>
            <a:ext cx="216024" cy="0"/>
          </a:xfrm>
          <a:prstGeom prst="straightConnector1">
            <a:avLst/>
          </a:prstGeom>
          <a:solidFill>
            <a:srgbClr val="6CAAC0"/>
          </a:solidFill>
          <a:ln w="9525" cap="flat" cmpd="sng" algn="ctr">
            <a:solidFill>
              <a:schemeClr val="tx1"/>
            </a:solidFill>
            <a:prstDash val="solid"/>
            <a:round/>
            <a:headEnd type="none" w="med" len="med"/>
            <a:tailEnd type="triangle"/>
          </a:ln>
        </p:spPr>
      </p:cxnSp>
      <p:cxnSp>
        <p:nvCxnSpPr>
          <p:cNvPr id="10" name="直接箭头连接符 9"/>
          <p:cNvCxnSpPr/>
          <p:nvPr/>
        </p:nvCxnSpPr>
        <p:spPr bwMode="auto">
          <a:xfrm>
            <a:off x="5292080" y="3429000"/>
            <a:ext cx="216024" cy="0"/>
          </a:xfrm>
          <a:prstGeom prst="straightConnector1">
            <a:avLst/>
          </a:prstGeom>
          <a:solidFill>
            <a:srgbClr val="6CAAC0"/>
          </a:solidFill>
          <a:ln w="9525" cap="flat" cmpd="sng" algn="ctr">
            <a:solidFill>
              <a:schemeClr val="tx1"/>
            </a:solidFill>
            <a:prstDash val="solid"/>
            <a:round/>
            <a:headEnd type="none" w="med" len="med"/>
            <a:tailEnd type="triangle"/>
          </a:ln>
        </p:spPr>
      </p:cxnSp>
      <p:graphicFrame>
        <p:nvGraphicFramePr>
          <p:cNvPr id="11" name="Object 4">
            <a:extLst>
              <a:ext uri="{FF2B5EF4-FFF2-40B4-BE49-F238E27FC236}">
                <a16:creationId xmlns:a16="http://schemas.microsoft.com/office/drawing/2014/main" id="{939B3670-CF12-41B4-8E06-F9F1A08C15DF}"/>
              </a:ext>
            </a:extLst>
          </p:cNvPr>
          <p:cNvGraphicFramePr>
            <a:graphicFrameLocks noChangeAspect="1"/>
          </p:cNvGraphicFramePr>
          <p:nvPr>
            <p:extLst>
              <p:ext uri="{D42A27DB-BD31-4B8C-83A1-F6EECF244321}">
                <p14:modId xmlns:p14="http://schemas.microsoft.com/office/powerpoint/2010/main" val="2463636967"/>
              </p:ext>
            </p:extLst>
          </p:nvPr>
        </p:nvGraphicFramePr>
        <p:xfrm>
          <a:off x="5004048" y="4742147"/>
          <a:ext cx="7538164" cy="1982217"/>
        </p:xfrm>
        <a:graphic>
          <a:graphicData uri="http://schemas.openxmlformats.org/presentationml/2006/ole">
            <mc:AlternateContent xmlns:mc="http://schemas.openxmlformats.org/markup-compatibility/2006">
              <mc:Choice xmlns:v="urn:schemas-microsoft-com:vml" Requires="v">
                <p:oleObj spid="_x0000_s728153" name="Document" r:id="rId3" imgW="5420880" imgH="1424880" progId="Word.Document.8">
                  <p:embed/>
                </p:oleObj>
              </mc:Choice>
              <mc:Fallback>
                <p:oleObj name="Document" r:id="rId3" imgW="5420880" imgH="1424880" progId="Word.Document.8">
                  <p:embed/>
                  <p:pic>
                    <p:nvPicPr>
                      <p:cNvPr id="655364" name="Object 4">
                        <a:extLst>
                          <a:ext uri="{FF2B5EF4-FFF2-40B4-BE49-F238E27FC236}">
                            <a16:creationId xmlns:a16="http://schemas.microsoft.com/office/drawing/2014/main" id="{939B3670-CF12-41B4-8E06-F9F1A08C15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4048" y="4742147"/>
                        <a:ext cx="7538164" cy="1982217"/>
                      </a:xfrm>
                      <a:prstGeom prst="rect">
                        <a:avLst/>
                      </a:prstGeom>
                      <a:noFill/>
                      <a:ln>
                        <a:noFill/>
                      </a:ln>
                      <a:effectLst/>
                      <a:extLst/>
                    </p:spPr>
                  </p:pic>
                </p:oleObj>
              </mc:Fallback>
            </mc:AlternateContent>
          </a:graphicData>
        </a:graphic>
      </p:graphicFrame>
      <p:sp>
        <p:nvSpPr>
          <p:cNvPr id="12" name="Rectangle 11">
            <a:extLst>
              <a:ext uri="{FF2B5EF4-FFF2-40B4-BE49-F238E27FC236}">
                <a16:creationId xmlns:a16="http://schemas.microsoft.com/office/drawing/2014/main" id="{3B5E4FA9-F5A0-439D-9598-3AE528E755A7}"/>
              </a:ext>
            </a:extLst>
          </p:cNvPr>
          <p:cNvSpPr>
            <a:spLocks noChangeArrowheads="1"/>
          </p:cNvSpPr>
          <p:nvPr/>
        </p:nvSpPr>
        <p:spPr bwMode="auto">
          <a:xfrm>
            <a:off x="6372200" y="4392252"/>
            <a:ext cx="12961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4-23</a:t>
            </a:r>
            <a:endParaRPr kumimoji="1" lang="en-US" altLang="zh-CN" sz="2000" b="0" dirty="0">
              <a:solidFill>
                <a:schemeClr val="tx2"/>
              </a:solidFill>
            </a:endParaRPr>
          </a:p>
        </p:txBody>
      </p:sp>
      <p:sp>
        <p:nvSpPr>
          <p:cNvPr id="13" name="Rectangle 11">
            <a:extLst>
              <a:ext uri="{FF2B5EF4-FFF2-40B4-BE49-F238E27FC236}">
                <a16:creationId xmlns:a16="http://schemas.microsoft.com/office/drawing/2014/main" id="{3B5E4FA9-F5A0-439D-9598-3AE528E755A7}"/>
              </a:ext>
            </a:extLst>
          </p:cNvPr>
          <p:cNvSpPr>
            <a:spLocks noChangeArrowheads="1"/>
          </p:cNvSpPr>
          <p:nvPr/>
        </p:nvSpPr>
        <p:spPr bwMode="auto">
          <a:xfrm>
            <a:off x="2117521" y="4323771"/>
            <a:ext cx="12961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b="0" dirty="0" smtClean="0">
                <a:solidFill>
                  <a:schemeClr val="tx2"/>
                </a:solidFill>
              </a:rPr>
              <a:t>表</a:t>
            </a:r>
            <a:r>
              <a:rPr kumimoji="1" lang="en-US" altLang="zh-CN" sz="2000" b="0" dirty="0" smtClean="0">
                <a:solidFill>
                  <a:schemeClr val="tx2"/>
                </a:solidFill>
              </a:rPr>
              <a:t>4-21</a:t>
            </a:r>
            <a:endParaRPr kumimoji="1" lang="en-US" altLang="zh-CN" sz="2000" b="0" dirty="0">
              <a:solidFill>
                <a:schemeClr val="tx2"/>
              </a:solidFill>
            </a:endParaRPr>
          </a:p>
        </p:txBody>
      </p:sp>
      <p:graphicFrame>
        <p:nvGraphicFramePr>
          <p:cNvPr id="14" name="Object 6">
            <a:extLst>
              <a:ext uri="{FF2B5EF4-FFF2-40B4-BE49-F238E27FC236}">
                <a16:creationId xmlns:a16="http://schemas.microsoft.com/office/drawing/2014/main" id="{7228D855-8D81-4750-869E-1324969009F0}"/>
              </a:ext>
            </a:extLst>
          </p:cNvPr>
          <p:cNvGraphicFramePr>
            <a:graphicFrameLocks noChangeAspect="1"/>
          </p:cNvGraphicFramePr>
          <p:nvPr>
            <p:extLst>
              <p:ext uri="{D42A27DB-BD31-4B8C-83A1-F6EECF244321}">
                <p14:modId xmlns:p14="http://schemas.microsoft.com/office/powerpoint/2010/main" val="2318919162"/>
              </p:ext>
            </p:extLst>
          </p:nvPr>
        </p:nvGraphicFramePr>
        <p:xfrm>
          <a:off x="471671" y="4723548"/>
          <a:ext cx="4462462" cy="2046288"/>
        </p:xfrm>
        <a:graphic>
          <a:graphicData uri="http://schemas.openxmlformats.org/presentationml/2006/ole">
            <mc:AlternateContent xmlns:mc="http://schemas.openxmlformats.org/markup-compatibility/2006">
              <mc:Choice xmlns:v="urn:schemas-microsoft-com:vml" Requires="v">
                <p:oleObj spid="_x0000_s728154" name="Document" r:id="rId5" imgW="3110762" imgH="1426960" progId="Word.Document.8">
                  <p:embed/>
                </p:oleObj>
              </mc:Choice>
              <mc:Fallback>
                <p:oleObj name="Document" r:id="rId5" imgW="3110762" imgH="1426960" progId="Word.Document.8">
                  <p:embed/>
                  <p:pic>
                    <p:nvPicPr>
                      <p:cNvPr id="12" name="Object 6">
                        <a:extLst>
                          <a:ext uri="{FF2B5EF4-FFF2-40B4-BE49-F238E27FC236}">
                            <a16:creationId xmlns:a16="http://schemas.microsoft.com/office/drawing/2014/main" id="{7228D855-8D81-4750-869E-1324969009F0}"/>
                          </a:ext>
                        </a:extLst>
                      </p:cNvPr>
                      <p:cNvPicPr>
                        <a:picLocks noChangeAspect="1" noChangeArrowheads="1"/>
                      </p:cNvPicPr>
                      <p:nvPr/>
                    </p:nvPicPr>
                    <p:blipFill>
                      <a:blip r:embed="rId6"/>
                      <a:srcRect/>
                      <a:stretch>
                        <a:fillRect/>
                      </a:stretch>
                    </p:blipFill>
                    <p:spPr bwMode="auto">
                      <a:xfrm>
                        <a:off x="471671" y="4723548"/>
                        <a:ext cx="4462462" cy="2046288"/>
                      </a:xfrm>
                      <a:prstGeom prst="rect">
                        <a:avLst/>
                      </a:prstGeom>
                      <a:noFill/>
                      <a:ln>
                        <a:noFill/>
                      </a:ln>
                      <a:effectLst/>
                      <a:extLst/>
                    </p:spPr>
                  </p:pic>
                </p:oleObj>
              </mc:Fallback>
            </mc:AlternateContent>
          </a:graphicData>
        </a:graphic>
      </p:graphicFrame>
      <p:cxnSp>
        <p:nvCxnSpPr>
          <p:cNvPr id="15" name="直接箭头连接符 14"/>
          <p:cNvCxnSpPr/>
          <p:nvPr/>
        </p:nvCxnSpPr>
        <p:spPr bwMode="auto">
          <a:xfrm>
            <a:off x="2117521" y="5445224"/>
            <a:ext cx="1446367" cy="0"/>
          </a:xfrm>
          <a:prstGeom prst="straightConnector1">
            <a:avLst/>
          </a:prstGeom>
          <a:solidFill>
            <a:srgbClr val="6CAAC0"/>
          </a:solidFill>
          <a:ln w="19050" cap="flat" cmpd="sng" algn="ctr">
            <a:solidFill>
              <a:srgbClr val="FF0000"/>
            </a:solidFill>
            <a:prstDash val="solid"/>
            <a:round/>
            <a:headEnd type="none" w="med" len="med"/>
            <a:tailEnd type="triangle"/>
          </a:ln>
        </p:spPr>
      </p:cxnSp>
      <p:cxnSp>
        <p:nvCxnSpPr>
          <p:cNvPr id="16" name="直接箭头连接符 15"/>
          <p:cNvCxnSpPr/>
          <p:nvPr/>
        </p:nvCxnSpPr>
        <p:spPr bwMode="auto">
          <a:xfrm>
            <a:off x="3563888" y="5445224"/>
            <a:ext cx="0" cy="288032"/>
          </a:xfrm>
          <a:prstGeom prst="straightConnector1">
            <a:avLst/>
          </a:prstGeom>
          <a:solidFill>
            <a:srgbClr val="6CAAC0"/>
          </a:solidFill>
          <a:ln w="19050" cap="flat" cmpd="sng" algn="ctr">
            <a:solidFill>
              <a:srgbClr val="FF0000"/>
            </a:solidFill>
            <a:prstDash val="solid"/>
            <a:round/>
            <a:headEnd type="none" w="med" len="med"/>
            <a:tailEnd type="triangle"/>
          </a:ln>
        </p:spPr>
      </p:cxnSp>
      <p:cxnSp>
        <p:nvCxnSpPr>
          <p:cNvPr id="17" name="直接箭头连接符 16"/>
          <p:cNvCxnSpPr/>
          <p:nvPr/>
        </p:nvCxnSpPr>
        <p:spPr bwMode="auto">
          <a:xfrm flipH="1">
            <a:off x="2117521" y="5733256"/>
            <a:ext cx="1446367" cy="0"/>
          </a:xfrm>
          <a:prstGeom prst="straightConnector1">
            <a:avLst/>
          </a:prstGeom>
          <a:solidFill>
            <a:srgbClr val="6CAAC0"/>
          </a:solidFill>
          <a:ln w="19050" cap="flat" cmpd="sng" algn="ctr">
            <a:solidFill>
              <a:srgbClr val="FF0000"/>
            </a:solidFill>
            <a:prstDash val="solid"/>
            <a:round/>
            <a:headEnd type="none" w="med" len="med"/>
            <a:tailEnd type="triangle"/>
          </a:ln>
        </p:spPr>
      </p:cxnSp>
      <p:cxnSp>
        <p:nvCxnSpPr>
          <p:cNvPr id="18" name="直接箭头连接符 17"/>
          <p:cNvCxnSpPr/>
          <p:nvPr/>
        </p:nvCxnSpPr>
        <p:spPr bwMode="auto">
          <a:xfrm flipV="1">
            <a:off x="2123728" y="5445224"/>
            <a:ext cx="0" cy="288032"/>
          </a:xfrm>
          <a:prstGeom prst="straightConnector1">
            <a:avLst/>
          </a:prstGeom>
          <a:solidFill>
            <a:srgbClr val="6CAAC0"/>
          </a:solidFill>
          <a:ln w="19050" cap="flat" cmpd="sng" algn="ctr">
            <a:solidFill>
              <a:srgbClr val="FF0000"/>
            </a:solidFill>
            <a:prstDash val="solid"/>
            <a:round/>
            <a:headEnd type="none" w="med" len="med"/>
            <a:tailEnd type="triangle"/>
          </a:ln>
        </p:spPr>
      </p:cxnSp>
      <p:sp>
        <p:nvSpPr>
          <p:cNvPr id="29" name="圆角矩形 28"/>
          <p:cNvSpPr/>
          <p:nvPr/>
        </p:nvSpPr>
        <p:spPr bwMode="auto">
          <a:xfrm>
            <a:off x="3491880" y="5373216"/>
            <a:ext cx="288032"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33" name="圆角矩形 32"/>
          <p:cNvSpPr/>
          <p:nvPr/>
        </p:nvSpPr>
        <p:spPr bwMode="auto">
          <a:xfrm>
            <a:off x="6372200" y="5338528"/>
            <a:ext cx="288032"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34" name="圆角矩形 33"/>
          <p:cNvSpPr/>
          <p:nvPr/>
        </p:nvSpPr>
        <p:spPr bwMode="auto">
          <a:xfrm>
            <a:off x="6372200" y="5601680"/>
            <a:ext cx="288032"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35" name="圆角矩形 34"/>
          <p:cNvSpPr/>
          <p:nvPr/>
        </p:nvSpPr>
        <p:spPr bwMode="auto">
          <a:xfrm>
            <a:off x="7956376" y="5589240"/>
            <a:ext cx="288032"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996592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9" grpId="0" animBg="1"/>
      <p:bldP spid="33" grpId="0" animBg="1"/>
      <p:bldP spid="34" grpId="0" animBg="1"/>
      <p:bldP spid="3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a:extLst>
              <a:ext uri="{FF2B5EF4-FFF2-40B4-BE49-F238E27FC236}">
                <a16:creationId xmlns:a16="http://schemas.microsoft.com/office/drawing/2014/main" id="{65527F3E-8090-470D-BFFD-9D09F642A913}"/>
              </a:ext>
            </a:extLst>
          </p:cNvPr>
          <p:cNvSpPr>
            <a:spLocks noGrp="1" noChangeArrowheads="1"/>
          </p:cNvSpPr>
          <p:nvPr>
            <p:ph type="title"/>
          </p:nvPr>
        </p:nvSpPr>
        <p:spPr/>
        <p:txBody>
          <a:bodyPr/>
          <a:lstStyle/>
          <a:p>
            <a:r>
              <a:rPr lang="en-US" altLang="zh-CN" dirty="0">
                <a:latin typeface="宋体" panose="02010600030101010101" pitchFamily="2" charset="-122"/>
              </a:rPr>
              <a:t>4.2.4  </a:t>
            </a:r>
            <a:r>
              <a:rPr lang="zh-CN" altLang="en-US" sz="3200" dirty="0">
                <a:latin typeface="Arial" panose="020B0604020202020204" pitchFamily="34" charset="0"/>
              </a:rPr>
              <a:t>表上作业法计算中的问题</a:t>
            </a:r>
          </a:p>
        </p:txBody>
      </p:sp>
      <p:sp>
        <p:nvSpPr>
          <p:cNvPr id="2" name="内容占位符 1"/>
          <p:cNvSpPr>
            <a:spLocks noGrp="1"/>
          </p:cNvSpPr>
          <p:nvPr>
            <p:ph idx="1"/>
          </p:nvPr>
        </p:nvSpPr>
        <p:spPr>
          <a:xfrm>
            <a:off x="539552" y="1268760"/>
            <a:ext cx="7992888" cy="4248472"/>
          </a:xfrm>
        </p:spPr>
        <p:txBody>
          <a:bodyPr/>
          <a:lstStyle/>
          <a:p>
            <a:r>
              <a:rPr lang="en-US" altLang="zh-CN" dirty="0" smtClean="0"/>
              <a:t>2</a:t>
            </a:r>
            <a:r>
              <a:rPr lang="en-US" altLang="zh-CN" dirty="0"/>
              <a:t>. </a:t>
            </a:r>
            <a:r>
              <a:rPr lang="zh-CN" altLang="en-US" dirty="0" smtClean="0"/>
              <a:t>退化</a:t>
            </a:r>
            <a:endParaRPr lang="en-US" altLang="zh-CN" dirty="0" smtClean="0"/>
          </a:p>
          <a:p>
            <a:pPr lvl="1"/>
            <a:r>
              <a:rPr lang="zh-CN" altLang="en-US" sz="2000" dirty="0" smtClean="0"/>
              <a:t>用</a:t>
            </a:r>
            <a:r>
              <a:rPr lang="zh-CN" altLang="en-US" sz="2000" dirty="0"/>
              <a:t>表上作业法求解运输问题当出现退化时，在相应的格中一定要填一个</a:t>
            </a:r>
            <a:r>
              <a:rPr lang="en-US" altLang="zh-CN" sz="2000" dirty="0"/>
              <a:t>0</a:t>
            </a:r>
            <a:r>
              <a:rPr lang="zh-CN" altLang="en-US" sz="2000" dirty="0"/>
              <a:t>，以表示此格为数字格。有以下两种情况：</a:t>
            </a:r>
          </a:p>
          <a:p>
            <a:pPr lvl="2"/>
            <a:r>
              <a:rPr lang="en-US" altLang="zh-CN" sz="1600" dirty="0" smtClean="0"/>
              <a:t>(</a:t>
            </a:r>
            <a:r>
              <a:rPr lang="en-US" altLang="zh-CN" sz="1600" dirty="0"/>
              <a:t>1) </a:t>
            </a:r>
            <a:r>
              <a:rPr lang="zh-CN" altLang="en-US" sz="1600" dirty="0">
                <a:solidFill>
                  <a:srgbClr val="FF0000"/>
                </a:solidFill>
              </a:rPr>
              <a:t>当确定初始解的各供需关系时</a:t>
            </a:r>
            <a:r>
              <a:rPr lang="zh-CN" altLang="en-US" sz="1600" dirty="0"/>
              <a:t>，若在</a:t>
            </a:r>
            <a:r>
              <a:rPr lang="en-US" altLang="zh-CN" sz="1600" dirty="0"/>
              <a:t>(</a:t>
            </a:r>
            <a:r>
              <a:rPr lang="en-US" altLang="zh-CN" sz="1600" i="1" dirty="0" err="1"/>
              <a:t>i,j</a:t>
            </a:r>
            <a:r>
              <a:rPr lang="en-US" altLang="zh-CN" sz="1600" dirty="0"/>
              <a:t>)</a:t>
            </a:r>
            <a:r>
              <a:rPr lang="zh-CN" altLang="en-US" sz="1600" dirty="0"/>
              <a:t>格填入某数字后，</a:t>
            </a:r>
            <a:r>
              <a:rPr lang="zh-CN" altLang="en-US" sz="1600" dirty="0">
                <a:solidFill>
                  <a:srgbClr val="FF0000"/>
                </a:solidFill>
              </a:rPr>
              <a:t>出现</a:t>
            </a:r>
            <a:r>
              <a:rPr lang="en-US" altLang="zh-CN" sz="1600" i="1" dirty="0">
                <a:solidFill>
                  <a:srgbClr val="FF0000"/>
                </a:solidFill>
              </a:rPr>
              <a:t>A</a:t>
            </a:r>
            <a:r>
              <a:rPr lang="en-US" altLang="zh-CN" sz="1600" i="1" baseline="-25000" dirty="0">
                <a:solidFill>
                  <a:srgbClr val="FF0000"/>
                </a:solidFill>
              </a:rPr>
              <a:t>i</a:t>
            </a:r>
            <a:r>
              <a:rPr lang="zh-CN" altLang="en-US" sz="1600" dirty="0">
                <a:solidFill>
                  <a:srgbClr val="FF0000"/>
                </a:solidFill>
              </a:rPr>
              <a:t>处的余量等于</a:t>
            </a:r>
            <a:r>
              <a:rPr lang="en-US" altLang="zh-CN" sz="1600" i="1" dirty="0" err="1">
                <a:solidFill>
                  <a:srgbClr val="FF0000"/>
                </a:solidFill>
              </a:rPr>
              <a:t>B</a:t>
            </a:r>
            <a:r>
              <a:rPr lang="en-US" altLang="zh-CN" sz="1600" i="1" baseline="-25000" dirty="0" err="1">
                <a:solidFill>
                  <a:srgbClr val="FF0000"/>
                </a:solidFill>
              </a:rPr>
              <a:t>j</a:t>
            </a:r>
            <a:r>
              <a:rPr lang="zh-CN" altLang="en-US" sz="1600" dirty="0">
                <a:solidFill>
                  <a:srgbClr val="FF0000"/>
                </a:solidFill>
              </a:rPr>
              <a:t>处的需量</a:t>
            </a:r>
            <a:r>
              <a:rPr lang="zh-CN" altLang="en-US" sz="1600" dirty="0"/>
              <a:t>。这时在产销平衡表上填一个数，而在单位运价表上相应地要划去一行和一列。为了使在产销平衡表上有</a:t>
            </a:r>
            <a:r>
              <a:rPr lang="en-US" altLang="zh-CN" sz="1600" dirty="0"/>
              <a:t>(</a:t>
            </a:r>
            <a:r>
              <a:rPr lang="en-US" altLang="zh-CN" sz="1600" i="1" dirty="0"/>
              <a:t>m+n</a:t>
            </a:r>
            <a:r>
              <a:rPr lang="en-US" altLang="zh-CN" sz="1600" dirty="0"/>
              <a:t>-1)</a:t>
            </a:r>
            <a:r>
              <a:rPr lang="zh-CN" altLang="en-US" sz="1600" dirty="0"/>
              <a:t>个数字格。这时需要添一个“</a:t>
            </a:r>
            <a:r>
              <a:rPr lang="en-US" altLang="zh-CN" sz="1600" dirty="0"/>
              <a:t>0”</a:t>
            </a:r>
            <a:r>
              <a:rPr lang="zh-CN" altLang="en-US" sz="1600" dirty="0"/>
              <a:t>。它的</a:t>
            </a:r>
            <a:r>
              <a:rPr lang="zh-CN" altLang="en-US" sz="1600" dirty="0">
                <a:solidFill>
                  <a:srgbClr val="FF0000"/>
                </a:solidFill>
              </a:rPr>
              <a:t>位置可在对应同时划去的那行或那列的任一空格处</a:t>
            </a:r>
            <a:r>
              <a:rPr lang="zh-CN" altLang="en-US" sz="1600" dirty="0"/>
              <a:t>。如表</a:t>
            </a:r>
            <a:r>
              <a:rPr lang="en-US" altLang="zh-CN" sz="1600" dirty="0"/>
              <a:t>4-24</a:t>
            </a:r>
            <a:r>
              <a:rPr lang="zh-CN" altLang="en-US" sz="1600" dirty="0"/>
              <a:t>，表</a:t>
            </a:r>
            <a:r>
              <a:rPr lang="en-US" altLang="zh-CN" sz="1600" dirty="0"/>
              <a:t>4-25</a:t>
            </a:r>
            <a:r>
              <a:rPr lang="zh-CN" altLang="en-US" sz="1600" dirty="0"/>
              <a:t>所示。因第一次划去第一列，剩下最小元素为</a:t>
            </a:r>
            <a:r>
              <a:rPr lang="en-US" altLang="zh-CN" sz="1600" dirty="0"/>
              <a:t>2</a:t>
            </a:r>
            <a:r>
              <a:rPr lang="zh-CN" altLang="en-US" sz="1600" dirty="0"/>
              <a:t>，其对应的销地</a:t>
            </a:r>
            <a:r>
              <a:rPr lang="en-US" altLang="zh-CN" sz="1600" i="1" dirty="0"/>
              <a:t>B</a:t>
            </a:r>
            <a:r>
              <a:rPr lang="en-US" altLang="zh-CN" sz="1600" i="1" baseline="-25000" dirty="0"/>
              <a:t>2</a:t>
            </a:r>
            <a:r>
              <a:rPr lang="zh-CN" altLang="en-US" sz="1600" dirty="0"/>
              <a:t>，需要量为</a:t>
            </a:r>
            <a:r>
              <a:rPr lang="en-US" altLang="zh-CN" sz="1600" dirty="0"/>
              <a:t>6</a:t>
            </a:r>
            <a:r>
              <a:rPr lang="zh-CN" altLang="en-US" sz="1600" dirty="0"/>
              <a:t>，而对应的产地</a:t>
            </a:r>
            <a:r>
              <a:rPr lang="en-US" altLang="zh-CN" sz="1600" i="1" dirty="0"/>
              <a:t>A</a:t>
            </a:r>
            <a:r>
              <a:rPr lang="en-US" altLang="zh-CN" sz="1600" i="1" baseline="-25000" dirty="0"/>
              <a:t>3</a:t>
            </a:r>
            <a:r>
              <a:rPr lang="zh-CN" altLang="en-US" sz="1600" dirty="0"/>
              <a:t>未分配量也是</a:t>
            </a:r>
            <a:r>
              <a:rPr lang="en-US" altLang="zh-CN" sz="1600" dirty="0"/>
              <a:t>6</a:t>
            </a:r>
            <a:r>
              <a:rPr lang="zh-CN" altLang="en-US" sz="1600" dirty="0"/>
              <a:t>。这时在产销表</a:t>
            </a:r>
            <a:r>
              <a:rPr lang="en-US" altLang="zh-CN" sz="1600" dirty="0"/>
              <a:t>(3</a:t>
            </a:r>
            <a:r>
              <a:rPr lang="zh-CN" altLang="en-US" sz="1600" dirty="0"/>
              <a:t>，</a:t>
            </a:r>
            <a:r>
              <a:rPr lang="en-US" altLang="zh-CN" sz="1600" dirty="0"/>
              <a:t>2)</a:t>
            </a:r>
            <a:r>
              <a:rPr lang="zh-CN" altLang="en-US" sz="1600" dirty="0"/>
              <a:t>交叉格中填入</a:t>
            </a:r>
            <a:r>
              <a:rPr lang="en-US" altLang="zh-CN" sz="1600" dirty="0"/>
              <a:t>6</a:t>
            </a:r>
            <a:r>
              <a:rPr lang="zh-CN" altLang="en-US" sz="1600" dirty="0"/>
              <a:t>，这时在单位运价表</a:t>
            </a:r>
            <a:r>
              <a:rPr lang="en-US" altLang="zh-CN" sz="1600" dirty="0"/>
              <a:t>4-25</a:t>
            </a:r>
            <a:r>
              <a:rPr lang="zh-CN" altLang="en-US" sz="1600" dirty="0"/>
              <a:t>中需同时划去</a:t>
            </a:r>
            <a:r>
              <a:rPr lang="en-US" altLang="zh-CN" sz="1600" i="1" dirty="0"/>
              <a:t>B</a:t>
            </a:r>
            <a:r>
              <a:rPr lang="en-US" altLang="zh-CN" sz="1600" i="1" baseline="-25000" dirty="0"/>
              <a:t>2</a:t>
            </a:r>
            <a:r>
              <a:rPr lang="zh-CN" altLang="en-US" sz="1600" dirty="0"/>
              <a:t>列和</a:t>
            </a:r>
            <a:r>
              <a:rPr lang="en-US" altLang="zh-CN" sz="1600" i="1" dirty="0"/>
              <a:t>A</a:t>
            </a:r>
            <a:r>
              <a:rPr lang="en-US" altLang="zh-CN" sz="1600" i="1" baseline="-25000" dirty="0"/>
              <a:t>3</a:t>
            </a:r>
            <a:r>
              <a:rPr lang="zh-CN" altLang="en-US" sz="1600" dirty="0"/>
              <a:t>行。在表</a:t>
            </a:r>
            <a:r>
              <a:rPr lang="en-US" altLang="zh-CN" sz="1600" dirty="0"/>
              <a:t>4-24</a:t>
            </a:r>
            <a:r>
              <a:rPr lang="zh-CN" altLang="en-US" sz="1600" dirty="0"/>
              <a:t>的空格</a:t>
            </a:r>
            <a:r>
              <a:rPr lang="en-US" altLang="zh-CN" sz="1600" dirty="0"/>
              <a:t>(1</a:t>
            </a:r>
            <a:r>
              <a:rPr lang="zh-CN" altLang="en-US" sz="1600" dirty="0"/>
              <a:t>，</a:t>
            </a:r>
            <a:r>
              <a:rPr lang="en-US" altLang="zh-CN" sz="1600" dirty="0"/>
              <a:t>2)</a:t>
            </a:r>
            <a:r>
              <a:rPr lang="zh-CN" altLang="en-US" sz="1600" dirty="0"/>
              <a:t>，</a:t>
            </a:r>
            <a:r>
              <a:rPr lang="en-US" altLang="zh-CN" sz="1600" dirty="0"/>
              <a:t>(2</a:t>
            </a:r>
            <a:r>
              <a:rPr lang="zh-CN" altLang="en-US" sz="1600" dirty="0"/>
              <a:t>，</a:t>
            </a:r>
            <a:r>
              <a:rPr lang="en-US" altLang="zh-CN" sz="1600" dirty="0"/>
              <a:t>2)</a:t>
            </a:r>
            <a:r>
              <a:rPr lang="zh-CN" altLang="en-US" sz="1600" dirty="0"/>
              <a:t>，</a:t>
            </a:r>
            <a:r>
              <a:rPr lang="en-US" altLang="zh-CN" sz="1600" dirty="0"/>
              <a:t>(3</a:t>
            </a:r>
            <a:r>
              <a:rPr lang="zh-CN" altLang="en-US" sz="1600" dirty="0"/>
              <a:t>，</a:t>
            </a:r>
            <a:r>
              <a:rPr lang="en-US" altLang="zh-CN" sz="1600" dirty="0"/>
              <a:t>3)</a:t>
            </a:r>
            <a:r>
              <a:rPr lang="zh-CN" altLang="en-US" sz="1600" dirty="0"/>
              <a:t>，</a:t>
            </a:r>
            <a:r>
              <a:rPr lang="en-US" altLang="zh-CN" sz="1600" dirty="0"/>
              <a:t>(3</a:t>
            </a:r>
            <a:r>
              <a:rPr lang="zh-CN" altLang="en-US" sz="1600" dirty="0"/>
              <a:t>，</a:t>
            </a:r>
            <a:r>
              <a:rPr lang="en-US" altLang="zh-CN" sz="1600" dirty="0"/>
              <a:t>4)</a:t>
            </a:r>
            <a:r>
              <a:rPr lang="zh-CN" altLang="en-US" sz="1600" dirty="0"/>
              <a:t>中任选一格添加一个</a:t>
            </a:r>
            <a:r>
              <a:rPr lang="en-US" altLang="zh-CN" sz="1600" dirty="0"/>
              <a:t>0</a:t>
            </a:r>
            <a:r>
              <a:rPr lang="zh-CN" altLang="en-US" sz="1600" dirty="0"/>
              <a:t>。</a:t>
            </a:r>
          </a:p>
          <a:p>
            <a:pPr lvl="1"/>
            <a:endParaRPr lang="zh-CN" altLang="en-US" sz="2000" dirty="0"/>
          </a:p>
          <a:p>
            <a:endParaRPr lang="zh-CN" altLang="en-US" sz="2000" dirty="0"/>
          </a:p>
        </p:txBody>
      </p:sp>
      <p:sp>
        <p:nvSpPr>
          <p:cNvPr id="6" name="灯片编号占位符 5">
            <a:extLst>
              <a:ext uri="{FF2B5EF4-FFF2-40B4-BE49-F238E27FC236}">
                <a16:creationId xmlns:a16="http://schemas.microsoft.com/office/drawing/2014/main" id="{DA8A8878-D765-4A77-913B-26DD20F2F307}"/>
              </a:ext>
            </a:extLst>
          </p:cNvPr>
          <p:cNvSpPr>
            <a:spLocks noGrp="1"/>
          </p:cNvSpPr>
          <p:nvPr>
            <p:ph type="sldNum" sz="quarter" idx="10"/>
          </p:nvPr>
        </p:nvSpPr>
        <p:spPr/>
        <p:txBody>
          <a:bodyPr/>
          <a:lstStyle/>
          <a:p>
            <a:fld id="{59264FDD-1C60-42B4-A707-180EBC7087D6}" type="slidenum">
              <a:rPr lang="en-US" altLang="zh-CN"/>
              <a:pPr/>
              <a:t>23</a:t>
            </a:fld>
            <a:endParaRPr lang="en-US" altLang="zh-CN"/>
          </a:p>
        </p:txBody>
      </p:sp>
      <p:sp>
        <p:nvSpPr>
          <p:cNvPr id="653315" name="Rectangle 3">
            <a:extLst>
              <a:ext uri="{FF2B5EF4-FFF2-40B4-BE49-F238E27FC236}">
                <a16:creationId xmlns:a16="http://schemas.microsoft.com/office/drawing/2014/main" id="{81B2DF32-A1E9-4F77-9386-D85D8588C9C0}"/>
              </a:ext>
            </a:extLst>
          </p:cNvPr>
          <p:cNvSpPr>
            <a:spLocks noChangeArrowheads="1"/>
          </p:cNvSpPr>
          <p:nvPr/>
        </p:nvSpPr>
        <p:spPr bwMode="auto">
          <a:xfrm>
            <a:off x="282575" y="1557338"/>
            <a:ext cx="8610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just"/>
            <a:endParaRPr lang="zh-CN" altLang="en-US" b="0" dirty="0">
              <a:latin typeface="宋体" panose="02010600030101010101" pitchFamily="2" charset="-122"/>
            </a:endParaRPr>
          </a:p>
        </p:txBody>
      </p:sp>
      <p:graphicFrame>
        <p:nvGraphicFramePr>
          <p:cNvPr id="7" name="Object 4">
            <a:extLst>
              <a:ext uri="{FF2B5EF4-FFF2-40B4-BE49-F238E27FC236}">
                <a16:creationId xmlns:a16="http://schemas.microsoft.com/office/drawing/2014/main" id="{5598E2EF-6C66-497B-BD4F-56E7B48234C1}"/>
              </a:ext>
            </a:extLst>
          </p:cNvPr>
          <p:cNvGraphicFramePr>
            <a:graphicFrameLocks noChangeAspect="1"/>
          </p:cNvGraphicFramePr>
          <p:nvPr>
            <p:extLst>
              <p:ext uri="{D42A27DB-BD31-4B8C-83A1-F6EECF244321}">
                <p14:modId xmlns:p14="http://schemas.microsoft.com/office/powerpoint/2010/main" val="1473517263"/>
              </p:ext>
            </p:extLst>
          </p:nvPr>
        </p:nvGraphicFramePr>
        <p:xfrm>
          <a:off x="1643063" y="4889500"/>
          <a:ext cx="3557587" cy="1563688"/>
        </p:xfrm>
        <a:graphic>
          <a:graphicData uri="http://schemas.openxmlformats.org/presentationml/2006/ole">
            <mc:AlternateContent xmlns:mc="http://schemas.openxmlformats.org/markup-compatibility/2006">
              <mc:Choice xmlns:v="urn:schemas-microsoft-com:vml" Requires="v">
                <p:oleObj spid="_x0000_s729216" name="Document" r:id="rId3" imgW="3121121" imgH="1379022" progId="Word.Document.8">
                  <p:embed/>
                </p:oleObj>
              </mc:Choice>
              <mc:Fallback>
                <p:oleObj name="Document" r:id="rId3" imgW="3121121" imgH="1379022" progId="Word.Document.8">
                  <p:embed/>
                  <p:pic>
                    <p:nvPicPr>
                      <p:cNvPr id="657412" name="Object 4">
                        <a:extLst>
                          <a:ext uri="{FF2B5EF4-FFF2-40B4-BE49-F238E27FC236}">
                            <a16:creationId xmlns:a16="http://schemas.microsoft.com/office/drawing/2014/main" id="{5598E2EF-6C66-497B-BD4F-56E7B48234C1}"/>
                          </a:ext>
                        </a:extLst>
                      </p:cNvPr>
                      <p:cNvPicPr>
                        <a:picLocks noChangeAspect="1" noChangeArrowheads="1"/>
                      </p:cNvPicPr>
                      <p:nvPr/>
                    </p:nvPicPr>
                    <p:blipFill>
                      <a:blip r:embed="rId4"/>
                      <a:srcRect/>
                      <a:stretch>
                        <a:fillRect/>
                      </a:stretch>
                    </p:blipFill>
                    <p:spPr bwMode="auto">
                      <a:xfrm>
                        <a:off x="1643063" y="4889500"/>
                        <a:ext cx="3557587" cy="1563688"/>
                      </a:xfrm>
                      <a:prstGeom prst="rect">
                        <a:avLst/>
                      </a:prstGeom>
                      <a:noFill/>
                      <a:ln>
                        <a:noFill/>
                      </a:ln>
                      <a:effectLst/>
                      <a:extLst/>
                    </p:spPr>
                  </p:pic>
                </p:oleObj>
              </mc:Fallback>
            </mc:AlternateContent>
          </a:graphicData>
        </a:graphic>
      </p:graphicFrame>
      <p:graphicFrame>
        <p:nvGraphicFramePr>
          <p:cNvPr id="8" name="Object 6">
            <a:extLst>
              <a:ext uri="{FF2B5EF4-FFF2-40B4-BE49-F238E27FC236}">
                <a16:creationId xmlns:a16="http://schemas.microsoft.com/office/drawing/2014/main" id="{73BA9ACF-9568-4B7F-865D-E8E99DD9AE43}"/>
              </a:ext>
            </a:extLst>
          </p:cNvPr>
          <p:cNvGraphicFramePr>
            <a:graphicFrameLocks noChangeAspect="1"/>
          </p:cNvGraphicFramePr>
          <p:nvPr>
            <p:extLst>
              <p:ext uri="{D42A27DB-BD31-4B8C-83A1-F6EECF244321}">
                <p14:modId xmlns:p14="http://schemas.microsoft.com/office/powerpoint/2010/main" val="1353208090"/>
              </p:ext>
            </p:extLst>
          </p:nvPr>
        </p:nvGraphicFramePr>
        <p:xfrm>
          <a:off x="5086350" y="4897438"/>
          <a:ext cx="3386138" cy="1576387"/>
        </p:xfrm>
        <a:graphic>
          <a:graphicData uri="http://schemas.openxmlformats.org/presentationml/2006/ole">
            <mc:AlternateContent xmlns:mc="http://schemas.openxmlformats.org/markup-compatibility/2006">
              <mc:Choice xmlns:v="urn:schemas-microsoft-com:vml" Requires="v">
                <p:oleObj spid="_x0000_s729217" name="Document" r:id="rId5" imgW="2514740" imgH="1171412" progId="Word.Document.8">
                  <p:embed/>
                </p:oleObj>
              </mc:Choice>
              <mc:Fallback>
                <p:oleObj name="Document" r:id="rId5" imgW="2514740" imgH="1171412" progId="Word.Document.8">
                  <p:embed/>
                  <p:pic>
                    <p:nvPicPr>
                      <p:cNvPr id="657414" name="Object 6">
                        <a:extLst>
                          <a:ext uri="{FF2B5EF4-FFF2-40B4-BE49-F238E27FC236}">
                            <a16:creationId xmlns:a16="http://schemas.microsoft.com/office/drawing/2014/main" id="{73BA9ACF-9568-4B7F-865D-E8E99DD9AE43}"/>
                          </a:ext>
                        </a:extLst>
                      </p:cNvPr>
                      <p:cNvPicPr>
                        <a:picLocks noChangeAspect="1" noChangeArrowheads="1"/>
                      </p:cNvPicPr>
                      <p:nvPr/>
                    </p:nvPicPr>
                    <p:blipFill>
                      <a:blip r:embed="rId6"/>
                      <a:srcRect/>
                      <a:stretch>
                        <a:fillRect/>
                      </a:stretch>
                    </p:blipFill>
                    <p:spPr bwMode="auto">
                      <a:xfrm>
                        <a:off x="5086350" y="4897438"/>
                        <a:ext cx="3386138" cy="157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8">
            <a:extLst>
              <a:ext uri="{FF2B5EF4-FFF2-40B4-BE49-F238E27FC236}">
                <a16:creationId xmlns:a16="http://schemas.microsoft.com/office/drawing/2014/main" id="{47B14114-59E2-4242-A408-F7F8C6BB6F73}"/>
              </a:ext>
            </a:extLst>
          </p:cNvPr>
          <p:cNvSpPr>
            <a:spLocks noChangeArrowheads="1"/>
          </p:cNvSpPr>
          <p:nvPr/>
        </p:nvSpPr>
        <p:spPr bwMode="auto">
          <a:xfrm>
            <a:off x="6360105" y="4467233"/>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None/>
            </a:pPr>
            <a:r>
              <a:rPr lang="zh-CN" altLang="en-US" sz="2000" b="0" dirty="0">
                <a:solidFill>
                  <a:schemeClr val="tx2"/>
                </a:solidFill>
              </a:rPr>
              <a:t>表  </a:t>
            </a:r>
            <a:r>
              <a:rPr lang="en-US" altLang="zh-CN" sz="2000" b="0" dirty="0">
                <a:solidFill>
                  <a:schemeClr val="tx2"/>
                </a:solidFill>
              </a:rPr>
              <a:t>4-25</a:t>
            </a:r>
          </a:p>
        </p:txBody>
      </p:sp>
      <p:sp>
        <p:nvSpPr>
          <p:cNvPr id="10" name="Rectangle 9">
            <a:extLst>
              <a:ext uri="{FF2B5EF4-FFF2-40B4-BE49-F238E27FC236}">
                <a16:creationId xmlns:a16="http://schemas.microsoft.com/office/drawing/2014/main" id="{5558B986-1AE2-488E-AC1C-F8491BCE15E4}"/>
              </a:ext>
            </a:extLst>
          </p:cNvPr>
          <p:cNvSpPr>
            <a:spLocks noChangeArrowheads="1"/>
          </p:cNvSpPr>
          <p:nvPr/>
        </p:nvSpPr>
        <p:spPr bwMode="auto">
          <a:xfrm>
            <a:off x="3008869" y="4454473"/>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a:solidFill>
                  <a:schemeClr val="tx2"/>
                </a:solidFill>
              </a:rPr>
              <a:t>4-24</a:t>
            </a:r>
          </a:p>
        </p:txBody>
      </p:sp>
      <p:sp>
        <p:nvSpPr>
          <p:cNvPr id="11" name="圆角矩形 10"/>
          <p:cNvSpPr/>
          <p:nvPr/>
        </p:nvSpPr>
        <p:spPr bwMode="auto">
          <a:xfrm>
            <a:off x="7020272" y="5949280"/>
            <a:ext cx="288032" cy="216024"/>
          </a:xfrm>
          <a:prstGeom prst="roundRect">
            <a:avLst/>
          </a:prstGeom>
          <a:noFill/>
          <a:ln w="952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3" name="文本框 2"/>
          <p:cNvSpPr txBox="1"/>
          <p:nvPr/>
        </p:nvSpPr>
        <p:spPr>
          <a:xfrm>
            <a:off x="2938650" y="5718738"/>
            <a:ext cx="481222" cy="338554"/>
          </a:xfrm>
          <a:prstGeom prst="rect">
            <a:avLst/>
          </a:prstGeom>
          <a:noFill/>
        </p:spPr>
        <p:txBody>
          <a:bodyPr wrap="none" rtlCol="0">
            <a:spAutoFit/>
          </a:bodyPr>
          <a:lstStyle/>
          <a:p>
            <a:r>
              <a:rPr lang="en-US" altLang="zh-CN" sz="1600" b="0" dirty="0" smtClean="0">
                <a:solidFill>
                  <a:srgbClr val="FF0000"/>
                </a:solidFill>
                <a:latin typeface="+mn-lt"/>
              </a:rPr>
              <a:t>6</a:t>
            </a:r>
            <a:endParaRPr lang="zh-CN" altLang="en-US" sz="1600" b="0" dirty="0">
              <a:solidFill>
                <a:srgbClr val="FF0000"/>
              </a:solidFill>
              <a:latin typeface="+mn-lt"/>
            </a:endParaRPr>
          </a:p>
        </p:txBody>
      </p:sp>
      <p:cxnSp>
        <p:nvCxnSpPr>
          <p:cNvPr id="5" name="直接连接符 4"/>
          <p:cNvCxnSpPr/>
          <p:nvPr/>
        </p:nvCxnSpPr>
        <p:spPr bwMode="auto">
          <a:xfrm>
            <a:off x="5364088" y="6093296"/>
            <a:ext cx="2880320" cy="0"/>
          </a:xfrm>
          <a:prstGeom prst="line">
            <a:avLst/>
          </a:prstGeom>
          <a:solidFill>
            <a:srgbClr val="6CAAC0"/>
          </a:solidFill>
          <a:ln w="19050" cap="flat" cmpd="sng" algn="ctr">
            <a:solidFill>
              <a:srgbClr val="FF0000"/>
            </a:solidFill>
            <a:prstDash val="dash"/>
            <a:round/>
            <a:headEnd type="none" w="med" len="med"/>
            <a:tailEnd type="none" w="med" len="med"/>
          </a:ln>
        </p:spPr>
      </p:cxnSp>
      <p:cxnSp>
        <p:nvCxnSpPr>
          <p:cNvPr id="14" name="直接连接符 13"/>
          <p:cNvCxnSpPr/>
          <p:nvPr/>
        </p:nvCxnSpPr>
        <p:spPr bwMode="auto">
          <a:xfrm>
            <a:off x="7162800" y="4867343"/>
            <a:ext cx="0" cy="1441976"/>
          </a:xfrm>
          <a:prstGeom prst="line">
            <a:avLst/>
          </a:prstGeom>
          <a:solidFill>
            <a:srgbClr val="6CAAC0"/>
          </a:solidFill>
          <a:ln w="19050" cap="flat" cmpd="sng" algn="ctr">
            <a:solidFill>
              <a:srgbClr val="FF0000"/>
            </a:solidFill>
            <a:prstDash val="dash"/>
            <a:round/>
            <a:headEnd type="none" w="med" len="med"/>
            <a:tailEnd type="none" w="med" len="med"/>
          </a:ln>
        </p:spPr>
      </p:cxnSp>
      <p:sp>
        <p:nvSpPr>
          <p:cNvPr id="17" name="文本框 16"/>
          <p:cNvSpPr txBox="1"/>
          <p:nvPr/>
        </p:nvSpPr>
        <p:spPr>
          <a:xfrm>
            <a:off x="3491880" y="5733256"/>
            <a:ext cx="481222" cy="338554"/>
          </a:xfrm>
          <a:prstGeom prst="rect">
            <a:avLst/>
          </a:prstGeom>
          <a:noFill/>
        </p:spPr>
        <p:txBody>
          <a:bodyPr wrap="none" rtlCol="0">
            <a:spAutoFit/>
          </a:bodyPr>
          <a:lstStyle/>
          <a:p>
            <a:r>
              <a:rPr lang="en-US" altLang="zh-CN" sz="1600" b="0" dirty="0" smtClean="0">
                <a:solidFill>
                  <a:srgbClr val="FF0000"/>
                </a:solidFill>
                <a:latin typeface="+mn-lt"/>
              </a:rPr>
              <a:t>0</a:t>
            </a:r>
            <a:endParaRPr lang="zh-CN" altLang="en-US" sz="1600" b="0" dirty="0">
              <a:solidFill>
                <a:srgbClr val="FF0000"/>
              </a:solidFill>
              <a:latin typeface="+mn-lt"/>
            </a:endParaRPr>
          </a:p>
        </p:txBody>
      </p:sp>
    </p:spTree>
    <p:extLst>
      <p:ext uri="{BB962C8B-B14F-4D97-AF65-F5344CB8AC3E}">
        <p14:creationId xmlns:p14="http://schemas.microsoft.com/office/powerpoint/2010/main" val="378577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animBg="1"/>
      <p:bldP spid="3" grpId="0"/>
      <p:bldP spid="1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a:extLst>
              <a:ext uri="{FF2B5EF4-FFF2-40B4-BE49-F238E27FC236}">
                <a16:creationId xmlns:a16="http://schemas.microsoft.com/office/drawing/2014/main" id="{65527F3E-8090-470D-BFFD-9D09F642A913}"/>
              </a:ext>
            </a:extLst>
          </p:cNvPr>
          <p:cNvSpPr>
            <a:spLocks noGrp="1" noChangeArrowheads="1"/>
          </p:cNvSpPr>
          <p:nvPr>
            <p:ph type="title"/>
          </p:nvPr>
        </p:nvSpPr>
        <p:spPr/>
        <p:txBody>
          <a:bodyPr/>
          <a:lstStyle/>
          <a:p>
            <a:r>
              <a:rPr lang="en-US" altLang="zh-CN" dirty="0">
                <a:latin typeface="宋体" panose="02010600030101010101" pitchFamily="2" charset="-122"/>
              </a:rPr>
              <a:t>4.2.4  </a:t>
            </a:r>
            <a:r>
              <a:rPr lang="zh-CN" altLang="en-US" sz="3200" dirty="0">
                <a:latin typeface="Arial" panose="020B0604020202020204" pitchFamily="34" charset="0"/>
              </a:rPr>
              <a:t>表上作业法计算中的问题</a:t>
            </a:r>
          </a:p>
        </p:txBody>
      </p:sp>
      <p:sp>
        <p:nvSpPr>
          <p:cNvPr id="2" name="内容占位符 1"/>
          <p:cNvSpPr>
            <a:spLocks noGrp="1"/>
          </p:cNvSpPr>
          <p:nvPr>
            <p:ph idx="1"/>
          </p:nvPr>
        </p:nvSpPr>
        <p:spPr>
          <a:xfrm>
            <a:off x="539552" y="1268760"/>
            <a:ext cx="7992888" cy="4248472"/>
          </a:xfrm>
        </p:spPr>
        <p:txBody>
          <a:bodyPr/>
          <a:lstStyle/>
          <a:p>
            <a:r>
              <a:rPr lang="en-US" altLang="zh-CN" dirty="0" smtClean="0"/>
              <a:t>2</a:t>
            </a:r>
            <a:r>
              <a:rPr lang="en-US" altLang="zh-CN" dirty="0"/>
              <a:t>. </a:t>
            </a:r>
            <a:r>
              <a:rPr lang="zh-CN" altLang="en-US" dirty="0" smtClean="0"/>
              <a:t>退化</a:t>
            </a:r>
            <a:endParaRPr lang="en-US" altLang="zh-CN" dirty="0" smtClean="0"/>
          </a:p>
          <a:p>
            <a:pPr lvl="1"/>
            <a:r>
              <a:rPr lang="zh-CN" altLang="en-US" sz="2000" dirty="0" smtClean="0"/>
              <a:t>用</a:t>
            </a:r>
            <a:r>
              <a:rPr lang="zh-CN" altLang="en-US" sz="2000" dirty="0"/>
              <a:t>表上作业法求解运输问题当出现退化时，在相应的格中一定要填一个</a:t>
            </a:r>
            <a:r>
              <a:rPr lang="en-US" altLang="zh-CN" sz="2000" dirty="0"/>
              <a:t>0</a:t>
            </a:r>
            <a:r>
              <a:rPr lang="zh-CN" altLang="en-US" sz="2000" dirty="0"/>
              <a:t>，以表示此格为数字格。有以下两种情况：</a:t>
            </a:r>
          </a:p>
          <a:p>
            <a:pPr lvl="2"/>
            <a:r>
              <a:rPr lang="en-US" altLang="zh-CN" sz="1600" dirty="0"/>
              <a:t>(2) </a:t>
            </a:r>
            <a:r>
              <a:rPr lang="zh-CN" altLang="en-US" sz="1600" dirty="0"/>
              <a:t>在用闭回路法调整时，在闭回路上出现两个和两个以上的</a:t>
            </a:r>
            <a:r>
              <a:rPr lang="zh-CN" altLang="en-US" sz="1600" dirty="0">
                <a:solidFill>
                  <a:srgbClr val="FF0000"/>
                </a:solidFill>
              </a:rPr>
              <a:t>具有</a:t>
            </a:r>
            <a:r>
              <a:rPr lang="en-US" altLang="zh-CN" sz="1600" dirty="0">
                <a:solidFill>
                  <a:srgbClr val="FF0000"/>
                </a:solidFill>
              </a:rPr>
              <a:t>(-1)</a:t>
            </a:r>
            <a:r>
              <a:rPr lang="zh-CN" altLang="en-US" sz="1600" dirty="0">
                <a:solidFill>
                  <a:srgbClr val="FF0000"/>
                </a:solidFill>
              </a:rPr>
              <a:t>标记的相等的最小值</a:t>
            </a:r>
            <a:r>
              <a:rPr lang="zh-CN" altLang="en-US" sz="1600" dirty="0"/>
              <a:t>。这时只能选择其中一个作为调入格。而经调整后，得到退化解。这时另一个数字格必须填入一个</a:t>
            </a:r>
            <a:r>
              <a:rPr lang="en-US" altLang="zh-CN" sz="1600" dirty="0"/>
              <a:t>0</a:t>
            </a:r>
            <a:r>
              <a:rPr lang="zh-CN" altLang="en-US" sz="1600" dirty="0"/>
              <a:t>，表明它是基变量</a:t>
            </a:r>
            <a:r>
              <a:rPr lang="zh-CN" altLang="en-US" sz="1600" dirty="0" smtClean="0"/>
              <a:t>。</a:t>
            </a:r>
            <a:endParaRPr lang="en-US" altLang="zh-CN" sz="1600" dirty="0" smtClean="0"/>
          </a:p>
          <a:p>
            <a:pPr lvl="2"/>
            <a:endParaRPr lang="en-US" altLang="zh-CN" sz="1600" dirty="0"/>
          </a:p>
          <a:p>
            <a:pPr lvl="2"/>
            <a:r>
              <a:rPr lang="zh-CN" altLang="en-US" sz="1600" dirty="0" smtClean="0"/>
              <a:t>当</a:t>
            </a:r>
            <a:r>
              <a:rPr lang="zh-CN" altLang="en-US" sz="1600" dirty="0"/>
              <a:t>出现退化解后，并作改进调整时，可能在某闭回路上有标记为</a:t>
            </a:r>
            <a:r>
              <a:rPr lang="en-US" altLang="zh-CN" sz="1600" dirty="0"/>
              <a:t>(-1)</a:t>
            </a:r>
            <a:r>
              <a:rPr lang="zh-CN" altLang="en-US" sz="1600" dirty="0"/>
              <a:t>的取值为</a:t>
            </a:r>
            <a:r>
              <a:rPr lang="en-US" altLang="zh-CN" sz="1600" dirty="0"/>
              <a:t>0</a:t>
            </a:r>
            <a:r>
              <a:rPr lang="zh-CN" altLang="en-US" sz="1600" dirty="0"/>
              <a:t>的数字格，这时应取调整量</a:t>
            </a:r>
            <a:r>
              <a:rPr lang="en-US" altLang="zh-CN" sz="1600" dirty="0"/>
              <a:t>θ=0</a:t>
            </a:r>
            <a:r>
              <a:rPr lang="zh-CN" altLang="en-US" sz="1600" dirty="0"/>
              <a:t>。</a:t>
            </a:r>
          </a:p>
          <a:p>
            <a:pPr lvl="1"/>
            <a:endParaRPr lang="zh-CN" altLang="en-US" sz="2000" dirty="0"/>
          </a:p>
          <a:p>
            <a:endParaRPr lang="zh-CN" altLang="en-US" sz="2000" dirty="0"/>
          </a:p>
        </p:txBody>
      </p:sp>
      <p:sp>
        <p:nvSpPr>
          <p:cNvPr id="6" name="灯片编号占位符 5">
            <a:extLst>
              <a:ext uri="{FF2B5EF4-FFF2-40B4-BE49-F238E27FC236}">
                <a16:creationId xmlns:a16="http://schemas.microsoft.com/office/drawing/2014/main" id="{DA8A8878-D765-4A77-913B-26DD20F2F307}"/>
              </a:ext>
            </a:extLst>
          </p:cNvPr>
          <p:cNvSpPr>
            <a:spLocks noGrp="1"/>
          </p:cNvSpPr>
          <p:nvPr>
            <p:ph type="sldNum" sz="quarter" idx="10"/>
          </p:nvPr>
        </p:nvSpPr>
        <p:spPr/>
        <p:txBody>
          <a:bodyPr/>
          <a:lstStyle/>
          <a:p>
            <a:fld id="{59264FDD-1C60-42B4-A707-180EBC7087D6}" type="slidenum">
              <a:rPr lang="en-US" altLang="zh-CN"/>
              <a:pPr/>
              <a:t>24</a:t>
            </a:fld>
            <a:endParaRPr lang="en-US" altLang="zh-CN"/>
          </a:p>
        </p:txBody>
      </p:sp>
      <p:sp>
        <p:nvSpPr>
          <p:cNvPr id="653315" name="Rectangle 3">
            <a:extLst>
              <a:ext uri="{FF2B5EF4-FFF2-40B4-BE49-F238E27FC236}">
                <a16:creationId xmlns:a16="http://schemas.microsoft.com/office/drawing/2014/main" id="{81B2DF32-A1E9-4F77-9386-D85D8588C9C0}"/>
              </a:ext>
            </a:extLst>
          </p:cNvPr>
          <p:cNvSpPr>
            <a:spLocks noChangeArrowheads="1"/>
          </p:cNvSpPr>
          <p:nvPr/>
        </p:nvSpPr>
        <p:spPr bwMode="auto">
          <a:xfrm>
            <a:off x="282575" y="1557338"/>
            <a:ext cx="86106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gn="just"/>
            <a:endParaRPr lang="zh-CN" altLang="en-US" b="0" dirty="0">
              <a:latin typeface="宋体" panose="02010600030101010101" pitchFamily="2" charset="-122"/>
            </a:endParaRPr>
          </a:p>
        </p:txBody>
      </p:sp>
    </p:spTree>
    <p:extLst>
      <p:ext uri="{BB962C8B-B14F-4D97-AF65-F5344CB8AC3E}">
        <p14:creationId xmlns:p14="http://schemas.microsoft.com/office/powerpoint/2010/main" val="37340359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25</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2" name="内容占位符 1"/>
              <p:cNvSpPr>
                <a:spLocks noGrp="1"/>
              </p:cNvSpPr>
              <p:nvPr>
                <p:ph idx="1"/>
              </p:nvPr>
            </p:nvSpPr>
            <p:spPr>
              <a:xfrm>
                <a:off x="1" y="1227848"/>
                <a:ext cx="9144000" cy="4114800"/>
              </a:xfrm>
            </p:spPr>
            <p:txBody>
              <a:bodyPr/>
              <a:lstStyle/>
              <a:p>
                <a:r>
                  <a:rPr lang="zh-CN" altLang="en-US" dirty="0" smtClean="0">
                    <a:solidFill>
                      <a:srgbClr val="FF0000"/>
                    </a:solidFill>
                  </a:rPr>
                  <a:t>当</a:t>
                </a:r>
                <a:r>
                  <a:rPr lang="zh-CN" altLang="en-US" dirty="0">
                    <a:solidFill>
                      <a:srgbClr val="FF0000"/>
                    </a:solidFill>
                  </a:rPr>
                  <a:t>产大于销</a:t>
                </a:r>
                <a:r>
                  <a:rPr lang="zh-CN" altLang="en-US" dirty="0" smtClean="0">
                    <a:solidFill>
                      <a:srgbClr val="FF0000"/>
                    </a:solidFill>
                  </a:rPr>
                  <a:t>时</a:t>
                </a:r>
                <a:r>
                  <a:rPr lang="en-US" altLang="zh-CN" dirty="0" smtClean="0">
                    <a:solidFill>
                      <a:srgbClr val="FF0000"/>
                    </a:solidFill>
                  </a:rPr>
                  <a:t>:  </a:t>
                </a:r>
                <a14:m>
                  <m:oMath xmlns:m="http://schemas.openxmlformats.org/officeDocument/2006/math">
                    <m:nary>
                      <m:naryPr>
                        <m:chr m:val="∑"/>
                        <m:ctrlPr>
                          <a:rPr lang="zh-CN" altLang="en-US" b="0" i="1">
                            <a:solidFill>
                              <a:srgbClr val="000000"/>
                            </a:solidFill>
                            <a:latin typeface="Cambria Math" panose="02040503050406030204" pitchFamily="18" charset="0"/>
                          </a:rPr>
                        </m:ctrlPr>
                      </m:naryPr>
                      <m:sub>
                        <m:r>
                          <a:rPr lang="en-US" altLang="zh-CN" b="0" i="1">
                            <a:solidFill>
                              <a:srgbClr val="000000"/>
                            </a:solidFill>
                            <a:latin typeface="Cambria Math" panose="02040503050406030204" pitchFamily="18" charset="0"/>
                          </a:rPr>
                          <m:t>𝑖</m:t>
                        </m:r>
                        <m:r>
                          <a:rPr lang="en-US" altLang="zh-CN" b="0" i="1">
                            <a:solidFill>
                              <a:srgbClr val="000000"/>
                            </a:solidFill>
                            <a:latin typeface="Cambria Math" panose="02040503050406030204" pitchFamily="18" charset="0"/>
                          </a:rPr>
                          <m:t>=1</m:t>
                        </m:r>
                      </m:sub>
                      <m:sup>
                        <m:r>
                          <a:rPr lang="en-US" altLang="zh-CN" b="0" i="1">
                            <a:solidFill>
                              <a:srgbClr val="000000"/>
                            </a:solidFill>
                            <a:latin typeface="Cambria Math" panose="02040503050406030204" pitchFamily="18" charset="0"/>
                          </a:rPr>
                          <m:t>𝑚</m:t>
                        </m:r>
                      </m:sup>
                      <m:e>
                        <m:sSub>
                          <m:sSubPr>
                            <m:ctrlPr>
                              <a:rPr lang="zh-CN" altLang="en-US" b="0" i="1">
                                <a:solidFill>
                                  <a:srgbClr val="000000"/>
                                </a:solidFill>
                                <a:latin typeface="Cambria Math" panose="02040503050406030204" pitchFamily="18" charset="0"/>
                              </a:rPr>
                            </m:ctrlPr>
                          </m:sSubPr>
                          <m:e>
                            <m:r>
                              <a:rPr lang="en-US" altLang="zh-CN" b="0" i="1">
                                <a:solidFill>
                                  <a:srgbClr val="000000"/>
                                </a:solidFill>
                                <a:latin typeface="Cambria Math" panose="02040503050406030204" pitchFamily="18" charset="0"/>
                              </a:rPr>
                              <m:t>𝑎</m:t>
                            </m:r>
                          </m:e>
                          <m:sub>
                            <m:r>
                              <a:rPr lang="en-US" altLang="zh-CN" b="0" i="1">
                                <a:solidFill>
                                  <a:srgbClr val="000000"/>
                                </a:solidFill>
                                <a:latin typeface="Cambria Math" panose="02040503050406030204" pitchFamily="18" charset="0"/>
                              </a:rPr>
                              <m:t>𝑖</m:t>
                            </m:r>
                          </m:sub>
                        </m:sSub>
                      </m:e>
                    </m:nary>
                    <m:r>
                      <a:rPr lang="en-US" altLang="zh-CN" b="0" i="1" smtClean="0">
                        <a:solidFill>
                          <a:srgbClr val="000000"/>
                        </a:solidFill>
                        <a:latin typeface="Cambria Math" panose="02040503050406030204" pitchFamily="18" charset="0"/>
                      </a:rPr>
                      <m:t>&gt;</m:t>
                    </m:r>
                    <m:nary>
                      <m:naryPr>
                        <m:chr m:val="∑"/>
                        <m:ctrlPr>
                          <a:rPr lang="zh-CN" altLang="en-US" b="0" i="1">
                            <a:solidFill>
                              <a:srgbClr val="000000"/>
                            </a:solidFill>
                            <a:latin typeface="Cambria Math" panose="02040503050406030204" pitchFamily="18" charset="0"/>
                          </a:rPr>
                        </m:ctrlPr>
                      </m:naryPr>
                      <m:sub>
                        <m:r>
                          <a:rPr lang="zh-CN" altLang="en-US" b="0" i="1">
                            <a:solidFill>
                              <a:srgbClr val="000000"/>
                            </a:solidFill>
                            <a:latin typeface="Cambria Math" panose="02040503050406030204" pitchFamily="18" charset="0"/>
                          </a:rPr>
                          <m:t>𝑗</m:t>
                        </m:r>
                        <m:r>
                          <a:rPr lang="zh-CN" altLang="en-US" b="0" i="1">
                            <a:solidFill>
                              <a:srgbClr val="000000"/>
                            </a:solidFill>
                            <a:latin typeface="Cambria Math" panose="02040503050406030204" pitchFamily="18" charset="0"/>
                          </a:rPr>
                          <m:t>=1</m:t>
                        </m:r>
                      </m:sub>
                      <m:sup>
                        <m:r>
                          <a:rPr lang="zh-CN" altLang="en-US" b="0" i="1">
                            <a:solidFill>
                              <a:srgbClr val="000000"/>
                            </a:solidFill>
                            <a:latin typeface="Cambria Math" panose="02040503050406030204" pitchFamily="18" charset="0"/>
                          </a:rPr>
                          <m:t>𝑛</m:t>
                        </m:r>
                      </m:sup>
                      <m:e>
                        <m:sSub>
                          <m:sSubPr>
                            <m:ctrlPr>
                              <a:rPr lang="zh-CN" altLang="en-US" b="0" i="1">
                                <a:solidFill>
                                  <a:srgbClr val="000000"/>
                                </a:solidFill>
                                <a:latin typeface="Cambria Math" panose="02040503050406030204" pitchFamily="18" charset="0"/>
                              </a:rPr>
                            </m:ctrlPr>
                          </m:sSubPr>
                          <m:e>
                            <m:r>
                              <a:rPr lang="en-US" altLang="zh-CN" b="0" i="1">
                                <a:solidFill>
                                  <a:srgbClr val="000000"/>
                                </a:solidFill>
                                <a:latin typeface="Cambria Math" panose="02040503050406030204" pitchFamily="18" charset="0"/>
                              </a:rPr>
                              <m:t>𝑏</m:t>
                            </m:r>
                          </m:e>
                          <m:sub>
                            <m:r>
                              <a:rPr lang="en-US" altLang="zh-CN" b="0" i="1">
                                <a:solidFill>
                                  <a:srgbClr val="000000"/>
                                </a:solidFill>
                                <a:latin typeface="Cambria Math" panose="02040503050406030204" pitchFamily="18" charset="0"/>
                              </a:rPr>
                              <m:t>𝑗</m:t>
                            </m:r>
                          </m:sub>
                        </m:sSub>
                      </m:e>
                    </m:nary>
                  </m:oMath>
                </a14:m>
                <a:endParaRPr lang="en-US" altLang="zh-CN" dirty="0" smtClean="0"/>
              </a:p>
              <a:p>
                <a:pPr lvl="1"/>
                <a:r>
                  <a:rPr lang="zh-CN" altLang="en-US" sz="2000" dirty="0" smtClean="0"/>
                  <a:t>运输问题的数学模型可写为：</a:t>
                </a:r>
                <a:endParaRPr lang="en-US" altLang="zh-CN" sz="2000" dirty="0" smtClean="0"/>
              </a:p>
              <a:p>
                <a:pPr marL="0" indent="0">
                  <a:buNone/>
                </a:pPr>
                <a:r>
                  <a:rPr lang="zh-CN" altLang="en-US" sz="2000" b="0" dirty="0" smtClean="0">
                    <a:solidFill>
                      <a:srgbClr val="000000"/>
                    </a:solidFill>
                  </a:rPr>
                  <a:t>             </a:t>
                </a:r>
                <a14:m>
                  <m:oMath xmlns:m="http://schemas.openxmlformats.org/officeDocument/2006/math">
                    <m:func>
                      <m:funcPr>
                        <m:ctrlPr>
                          <a:rPr lang="zh-CN" altLang="en-US" sz="2000" b="0" i="1">
                            <a:solidFill>
                              <a:srgbClr val="000000"/>
                            </a:solidFill>
                            <a:latin typeface="Cambria Math" panose="02040503050406030204" pitchFamily="18" charset="0"/>
                          </a:rPr>
                        </m:ctrlPr>
                      </m:funcPr>
                      <m:fName>
                        <m:r>
                          <a:rPr lang="zh-CN" altLang="en-US" sz="2000" b="0" i="1">
                            <a:solidFill>
                              <a:srgbClr val="000000"/>
                            </a:solidFill>
                            <a:latin typeface="Cambria Math" panose="02040503050406030204" pitchFamily="18" charset="0"/>
                          </a:rPr>
                          <m:t>𝑚𝑖𝑛</m:t>
                        </m:r>
                      </m:fName>
                      <m:e>
                        <m:r>
                          <a:rPr lang="zh-CN" altLang="en-US" sz="2000" b="0" i="1">
                            <a:solidFill>
                              <a:srgbClr val="000000"/>
                            </a:solidFill>
                            <a:latin typeface="Cambria Math" panose="02040503050406030204" pitchFamily="18" charset="0"/>
                          </a:rPr>
                          <m:t> </m:t>
                        </m:r>
                      </m:e>
                    </m:func>
                    <m:r>
                      <a:rPr lang="zh-CN" altLang="en-US" sz="2000" b="0" i="1">
                        <a:solidFill>
                          <a:srgbClr val="000000"/>
                        </a:solidFill>
                        <a:latin typeface="Cambria Math" panose="02040503050406030204" pitchFamily="18" charset="0"/>
                      </a:rPr>
                      <m:t>𝑧</m:t>
                    </m:r>
                    <m:r>
                      <a:rPr lang="zh-CN" altLang="en-US" sz="2000" b="0" i="1">
                        <a:solidFill>
                          <a:srgbClr val="000000"/>
                        </a:solidFill>
                        <a:latin typeface="Cambria Math" panose="02040503050406030204" pitchFamily="18" charset="0"/>
                      </a:rPr>
                      <m:t>=</m:t>
                    </m:r>
                    <m:nary>
                      <m:naryPr>
                        <m:chr m:val="∑"/>
                        <m:ctrlPr>
                          <a:rPr lang="zh-CN" altLang="en-US" sz="2000" b="0" i="1">
                            <a:solidFill>
                              <a:srgbClr val="000000"/>
                            </a:solidFill>
                            <a:latin typeface="Cambria Math" panose="02040503050406030204" pitchFamily="18" charset="0"/>
                          </a:rPr>
                        </m:ctrlPr>
                      </m:naryPr>
                      <m:sub>
                        <m:r>
                          <a:rPr lang="zh-CN" altLang="en-US" sz="2000" b="0" i="1">
                            <a:solidFill>
                              <a:srgbClr val="000000"/>
                            </a:solidFill>
                            <a:latin typeface="Cambria Math" panose="02040503050406030204" pitchFamily="18" charset="0"/>
                          </a:rPr>
                          <m:t>𝑖</m:t>
                        </m:r>
                        <m:r>
                          <a:rPr lang="zh-CN" altLang="en-US" sz="2000" b="0" i="1">
                            <a:solidFill>
                              <a:srgbClr val="000000"/>
                            </a:solidFill>
                            <a:latin typeface="Cambria Math" panose="02040503050406030204" pitchFamily="18" charset="0"/>
                          </a:rPr>
                          <m:t>=1</m:t>
                        </m:r>
                      </m:sub>
                      <m:sup>
                        <m:r>
                          <a:rPr lang="zh-CN" altLang="en-US" sz="2000" b="0" i="1">
                            <a:solidFill>
                              <a:srgbClr val="000000"/>
                            </a:solidFill>
                            <a:latin typeface="Cambria Math" panose="02040503050406030204" pitchFamily="18" charset="0"/>
                          </a:rPr>
                          <m:t>𝑚</m:t>
                        </m:r>
                      </m:sup>
                      <m:e>
                        <m:nary>
                          <m:naryPr>
                            <m:chr m:val="∑"/>
                            <m:ctrlPr>
                              <a:rPr lang="zh-CN" altLang="en-US" sz="2000" b="0" i="1">
                                <a:solidFill>
                                  <a:srgbClr val="000000"/>
                                </a:solidFill>
                                <a:latin typeface="Cambria Math" panose="02040503050406030204" pitchFamily="18" charset="0"/>
                              </a:rPr>
                            </m:ctrlPr>
                          </m:naryPr>
                          <m:sub>
                            <m:r>
                              <a:rPr lang="zh-CN" altLang="en-US" sz="2000" b="0" i="1">
                                <a:solidFill>
                                  <a:srgbClr val="000000"/>
                                </a:solidFill>
                                <a:latin typeface="Cambria Math" panose="02040503050406030204" pitchFamily="18" charset="0"/>
                              </a:rPr>
                              <m:t>𝑗</m:t>
                            </m:r>
                            <m:r>
                              <a:rPr lang="zh-CN" altLang="en-US" sz="2000" b="0" i="1">
                                <a:solidFill>
                                  <a:srgbClr val="000000"/>
                                </a:solidFill>
                                <a:latin typeface="Cambria Math" panose="02040503050406030204" pitchFamily="18" charset="0"/>
                              </a:rPr>
                              <m:t>=1</m:t>
                            </m:r>
                          </m:sub>
                          <m:sup>
                            <m:r>
                              <a:rPr lang="zh-CN" altLang="en-US" sz="2000" b="0" i="1">
                                <a:solidFill>
                                  <a:srgbClr val="000000"/>
                                </a:solidFill>
                                <a:latin typeface="Cambria Math" panose="02040503050406030204" pitchFamily="18" charset="0"/>
                              </a:rPr>
                              <m:t>𝑛</m:t>
                            </m:r>
                          </m:sup>
                          <m:e>
                            <m:sSub>
                              <m:sSubPr>
                                <m:ctrlPr>
                                  <a:rPr lang="zh-CN" altLang="en-US" sz="2000" b="0" i="1">
                                    <a:solidFill>
                                      <a:srgbClr val="000000"/>
                                    </a:solidFill>
                                    <a:latin typeface="Cambria Math" panose="02040503050406030204" pitchFamily="18" charset="0"/>
                                  </a:rPr>
                                </m:ctrlPr>
                              </m:sSubPr>
                              <m:e>
                                <m:r>
                                  <a:rPr lang="zh-CN" altLang="en-US" sz="2000" b="0" i="1">
                                    <a:solidFill>
                                      <a:srgbClr val="000000"/>
                                    </a:solidFill>
                                    <a:latin typeface="Cambria Math" panose="02040503050406030204" pitchFamily="18" charset="0"/>
                                  </a:rPr>
                                  <m:t>𝑐</m:t>
                                </m:r>
                              </m:e>
                              <m:sub>
                                <m:r>
                                  <a:rPr lang="zh-CN" altLang="en-US" sz="2000" b="0" i="1">
                                    <a:solidFill>
                                      <a:srgbClr val="000000"/>
                                    </a:solidFill>
                                    <a:latin typeface="Cambria Math" panose="02040503050406030204" pitchFamily="18" charset="0"/>
                                  </a:rPr>
                                  <m:t>𝑖𝑗</m:t>
                                </m:r>
                              </m:sub>
                            </m:sSub>
                            <m:sSub>
                              <m:sSubPr>
                                <m:ctrlPr>
                                  <a:rPr lang="zh-CN" altLang="en-US" sz="2000" b="0" i="1">
                                    <a:solidFill>
                                      <a:srgbClr val="000000"/>
                                    </a:solidFill>
                                    <a:latin typeface="Cambria Math" panose="02040503050406030204" pitchFamily="18" charset="0"/>
                                  </a:rPr>
                                </m:ctrlPr>
                              </m:sSubPr>
                              <m:e>
                                <m:r>
                                  <a:rPr lang="zh-CN" altLang="en-US" sz="2000" b="0" i="1">
                                    <a:solidFill>
                                      <a:srgbClr val="000000"/>
                                    </a:solidFill>
                                    <a:latin typeface="Cambria Math" panose="02040503050406030204" pitchFamily="18" charset="0"/>
                                  </a:rPr>
                                  <m:t>𝑥</m:t>
                                </m:r>
                              </m:e>
                              <m:sub>
                                <m:r>
                                  <a:rPr lang="zh-CN" altLang="en-US" sz="2000" b="0" i="1">
                                    <a:solidFill>
                                      <a:srgbClr val="000000"/>
                                    </a:solidFill>
                                    <a:latin typeface="Cambria Math" panose="02040503050406030204" pitchFamily="18" charset="0"/>
                                  </a:rPr>
                                  <m:t>𝑖𝑗</m:t>
                                </m:r>
                              </m:sub>
                            </m:sSub>
                          </m:e>
                        </m:nary>
                      </m:e>
                    </m:nary>
                  </m:oMath>
                </a14:m>
                <a:endParaRPr lang="en-US" altLang="zh-CN" sz="2000" dirty="0" smtClean="0"/>
              </a:p>
              <a:p>
                <a:endParaRPr lang="en-US" altLang="zh-CN" dirty="0"/>
              </a:p>
              <a:p>
                <a:pPr lvl="1"/>
                <a:r>
                  <a:rPr lang="zh-CN" altLang="en-US" sz="2000" dirty="0" smtClean="0"/>
                  <a:t>解决办法：</a:t>
                </a:r>
                <a:r>
                  <a:rPr lang="zh-CN" altLang="en-US" sz="2000" dirty="0" smtClean="0">
                    <a:solidFill>
                      <a:srgbClr val="FF0000"/>
                    </a:solidFill>
                  </a:rPr>
                  <a:t>增设销地就地</a:t>
                </a:r>
                <a:r>
                  <a:rPr lang="zh-CN" altLang="en-US" sz="2000" dirty="0">
                    <a:solidFill>
                      <a:srgbClr val="FF0000"/>
                    </a:solidFill>
                  </a:rPr>
                  <a:t>储存多余</a:t>
                </a:r>
                <a:r>
                  <a:rPr lang="zh-CN" altLang="en-US" sz="2000" dirty="0" smtClean="0">
                    <a:solidFill>
                      <a:srgbClr val="FF0000"/>
                    </a:solidFill>
                  </a:rPr>
                  <a:t>物资，单位运费为</a:t>
                </a:r>
                <a:r>
                  <a:rPr lang="en-US" altLang="zh-CN" sz="2000" dirty="0" smtClean="0">
                    <a:solidFill>
                      <a:srgbClr val="FF0000"/>
                    </a:solidFill>
                  </a:rPr>
                  <a:t>0</a:t>
                </a:r>
                <a:r>
                  <a:rPr lang="zh-CN" altLang="en-US" sz="2000" dirty="0" smtClean="0">
                    <a:solidFill>
                      <a:srgbClr val="FF0000"/>
                    </a:solidFill>
                  </a:rPr>
                  <a:t>，目标函数不变</a:t>
                </a:r>
                <a:r>
                  <a:rPr lang="zh-CN" altLang="en-US" sz="2000" dirty="0" smtClean="0"/>
                  <a:t>。</a:t>
                </a:r>
                <a:endParaRPr lang="en-US" altLang="zh-CN" sz="2000" dirty="0" smtClean="0"/>
              </a:p>
              <a:p>
                <a:pPr lvl="1"/>
                <a:r>
                  <a:rPr lang="zh-CN" altLang="en-US" sz="2000" dirty="0" smtClean="0"/>
                  <a:t>设</a:t>
                </a:r>
                <a:r>
                  <a:rPr lang="en-US" altLang="zh-CN" sz="2000" b="0" i="1" dirty="0">
                    <a:latin typeface="Times New Roman" panose="02020603050405020304" pitchFamily="18" charset="0"/>
                  </a:rPr>
                  <a:t>x</a:t>
                </a:r>
                <a:r>
                  <a:rPr lang="en-US" altLang="zh-CN" sz="2000" b="0" i="1" baseline="-30000" dirty="0">
                    <a:latin typeface="Times New Roman" panose="02020603050405020304" pitchFamily="18" charset="0"/>
                  </a:rPr>
                  <a:t>i</a:t>
                </a:r>
                <a:r>
                  <a:rPr lang="en-US" altLang="zh-CN" sz="2000" b="0" dirty="0">
                    <a:latin typeface="Times New Roman" panose="02020603050405020304" pitchFamily="18" charset="0"/>
                  </a:rPr>
                  <a:t>, </a:t>
                </a:r>
                <a:r>
                  <a:rPr lang="en-US" altLang="zh-CN" sz="2000" b="0" i="1" baseline="-30000" dirty="0">
                    <a:latin typeface="Times New Roman" panose="02020603050405020304" pitchFamily="18" charset="0"/>
                  </a:rPr>
                  <a:t>n</a:t>
                </a:r>
                <a:r>
                  <a:rPr lang="en-US" altLang="zh-CN" sz="2000" b="0" baseline="-30000" dirty="0">
                    <a:latin typeface="Times New Roman" panose="02020603050405020304" pitchFamily="18" charset="0"/>
                  </a:rPr>
                  <a:t>+1</a:t>
                </a:r>
                <a:r>
                  <a:rPr lang="zh-CN" altLang="en-US" sz="2000" dirty="0"/>
                  <a:t>是产地</a:t>
                </a:r>
                <a:r>
                  <a:rPr lang="en-US" altLang="zh-CN" sz="2000" b="0" i="1" dirty="0">
                    <a:latin typeface="Times New Roman" panose="02020603050405020304" pitchFamily="18" charset="0"/>
                  </a:rPr>
                  <a:t>A</a:t>
                </a:r>
                <a:r>
                  <a:rPr lang="en-US" altLang="zh-CN" sz="2000" b="0" i="1" baseline="-30000" dirty="0">
                    <a:latin typeface="Times New Roman" panose="02020603050405020304" pitchFamily="18" charset="0"/>
                  </a:rPr>
                  <a:t>i</a:t>
                </a:r>
                <a:r>
                  <a:rPr lang="zh-CN" altLang="en-US" sz="2000" dirty="0"/>
                  <a:t>的储存量，</a:t>
                </a:r>
                <a:r>
                  <a:rPr lang="zh-CN" altLang="en-US" sz="2000" dirty="0" smtClean="0"/>
                  <a:t>于是：</a:t>
                </a:r>
                <a:endParaRPr lang="en-US" altLang="zh-CN" sz="2000" dirty="0" smtClean="0"/>
              </a:p>
              <a:p>
                <a:pPr lvl="1"/>
                <a:endParaRPr lang="en-US" altLang="zh-CN" sz="2000" dirty="0"/>
              </a:p>
              <a:p>
                <a:pPr lvl="1"/>
                <a:endParaRPr lang="en-US" altLang="zh-CN" sz="2000" dirty="0" smtClean="0"/>
              </a:p>
              <a:p>
                <a:pPr lvl="1"/>
                <a:endParaRPr lang="en-US" altLang="zh-CN" sz="2000" dirty="0" smtClean="0"/>
              </a:p>
              <a:p>
                <a:pPr lvl="1"/>
                <a:endParaRPr lang="en-US" altLang="zh-CN" sz="2000" dirty="0"/>
              </a:p>
              <a:p>
                <a:pPr lvl="1"/>
                <a:r>
                  <a:rPr lang="zh-CN" altLang="en-US" sz="2000" dirty="0" smtClean="0"/>
                  <a:t>新模型产销平衡，为：</a:t>
                </a:r>
                <a:endParaRPr lang="en-US" altLang="zh-CN" sz="2000" dirty="0" smtClean="0"/>
              </a:p>
              <a:p>
                <a:pPr lvl="1"/>
                <a:endParaRPr lang="en-US" altLang="zh-CN" sz="2000" dirty="0"/>
              </a:p>
              <a:p>
                <a:pPr lvl="1"/>
                <a:endParaRPr lang="en-US" altLang="zh-CN" sz="2000" dirty="0" smtClean="0"/>
              </a:p>
              <a:p>
                <a:pPr lvl="1"/>
                <a:endParaRPr lang="zh-CN" altLang="en-US" sz="2000"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1" y="1227848"/>
                <a:ext cx="9144000" cy="4114800"/>
              </a:xfrm>
              <a:blipFill>
                <a:blip r:embed="rId3"/>
                <a:stretch>
                  <a:fillRect l="-867" t="-14370" b="-6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3995936" y="1730693"/>
                <a:ext cx="3959013" cy="1117998"/>
              </a:xfrm>
              <a:prstGeom prst="rect">
                <a:avLst/>
              </a:prstGeom>
            </p:spPr>
            <p:txBody>
              <a:bodyPr wrap="square">
                <a:spAutoFit/>
              </a:bodyPr>
              <a:lstStyle/>
              <a:p>
                <a14:m>
                  <m:oMath xmlns:m="http://schemas.openxmlformats.org/officeDocument/2006/math">
                    <m:r>
                      <a:rPr lang="zh-CN" altLang="en-US" sz="1800" b="0" i="1">
                        <a:solidFill>
                          <a:srgbClr val="000000"/>
                        </a:solidFill>
                        <a:latin typeface="Cambria Math" panose="02040503050406030204" pitchFamily="18" charset="0"/>
                      </a:rPr>
                      <m:t>𝑠</m:t>
                    </m:r>
                    <m:r>
                      <a:rPr lang="zh-CN" altLang="en-US" sz="1800" b="0" i="1">
                        <a:solidFill>
                          <a:srgbClr val="000000"/>
                        </a:solidFill>
                        <a:latin typeface="Cambria Math" panose="02040503050406030204" pitchFamily="18" charset="0"/>
                      </a:rPr>
                      <m:t>.</m:t>
                    </m:r>
                    <m:r>
                      <a:rPr lang="zh-CN" altLang="en-US" sz="1800" b="0" i="1">
                        <a:solidFill>
                          <a:srgbClr val="000000"/>
                        </a:solidFill>
                        <a:latin typeface="Cambria Math" panose="02040503050406030204" pitchFamily="18" charset="0"/>
                      </a:rPr>
                      <m:t>𝑡</m:t>
                    </m:r>
                    <m:r>
                      <a:rPr lang="zh-CN" altLang="en-US" sz="1800" b="0" i="1">
                        <a:solidFill>
                          <a:srgbClr val="000000"/>
                        </a:solidFill>
                        <a:latin typeface="Cambria Math" panose="02040503050406030204" pitchFamily="18" charset="0"/>
                      </a:rPr>
                      <m:t>.</m:t>
                    </m:r>
                    <m:d>
                      <m:dPr>
                        <m:begChr m:val="{"/>
                        <m:endChr m:val=""/>
                        <m:ctrlPr>
                          <a:rPr lang="zh-CN" altLang="en-US" sz="1800" b="0" i="1">
                            <a:solidFill>
                              <a:srgbClr val="000000"/>
                            </a:solidFill>
                            <a:latin typeface="Cambria Math" panose="02040503050406030204" pitchFamily="18" charset="0"/>
                          </a:rPr>
                        </m:ctrlPr>
                      </m:dPr>
                      <m:e>
                        <m:eqArr>
                          <m:eqArrPr>
                            <m:ctrlPr>
                              <a:rPr lang="zh-CN" altLang="en-US" sz="1800" b="0" i="1">
                                <a:solidFill>
                                  <a:srgbClr val="000000"/>
                                </a:solidFill>
                                <a:latin typeface="Cambria Math" panose="02040503050406030204" pitchFamily="18" charset="0"/>
                              </a:rPr>
                            </m:ctrlPr>
                          </m:eqArrPr>
                          <m:e>
                            <m:nary>
                              <m:naryPr>
                                <m:chr m:val="∑"/>
                                <m:ctrlPr>
                                  <a:rPr lang="zh-CN" altLang="en-US" sz="1800" b="0" i="1">
                                    <a:solidFill>
                                      <a:srgbClr val="000000"/>
                                    </a:solidFill>
                                    <a:latin typeface="Cambria Math" panose="02040503050406030204" pitchFamily="18" charset="0"/>
                                  </a:rPr>
                                </m:ctrlPr>
                              </m:naryPr>
                              <m:sub>
                                <m:r>
                                  <a:rPr lang="en-US" altLang="zh-CN" sz="1800" b="0" i="1" smtClean="0">
                                    <a:solidFill>
                                      <a:srgbClr val="000000"/>
                                    </a:solidFill>
                                    <a:latin typeface="Cambria Math" panose="02040503050406030204" pitchFamily="18" charset="0"/>
                                  </a:rPr>
                                  <m:t>𝑗</m:t>
                                </m:r>
                                <m:r>
                                  <a:rPr lang="en-US" altLang="zh-CN" sz="1800" b="0" i="1" smtClean="0">
                                    <a:solidFill>
                                      <a:srgbClr val="000000"/>
                                    </a:solidFill>
                                    <a:latin typeface="Cambria Math" panose="02040503050406030204" pitchFamily="18" charset="0"/>
                                  </a:rPr>
                                  <m:t>=1</m:t>
                                </m:r>
                              </m:sub>
                              <m:sup>
                                <m:r>
                                  <a:rPr lang="en-US" altLang="zh-CN" sz="1800" b="0" i="1" smtClean="0">
                                    <a:solidFill>
                                      <a:srgbClr val="000000"/>
                                    </a:solidFill>
                                    <a:latin typeface="Cambria Math" panose="02040503050406030204" pitchFamily="18" charset="0"/>
                                  </a:rPr>
                                  <m:t>𝑛</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m:t>
                                </m:r>
                                <m:sSub>
                                  <m:sSubPr>
                                    <m:ctrlPr>
                                      <a:rPr lang="zh-CN" altLang="en-US" sz="1800" b="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𝑎</m:t>
                                    </m:r>
                                  </m:e>
                                  <m:sub>
                                    <m:r>
                                      <a:rPr lang="en-US" altLang="zh-CN" sz="1800" b="0" i="1" smtClean="0">
                                        <a:solidFill>
                                          <a:srgbClr val="000000"/>
                                        </a:solidFill>
                                        <a:latin typeface="Cambria Math" panose="02040503050406030204" pitchFamily="18" charset="0"/>
                                      </a:rPr>
                                      <m:t>𝑖</m:t>
                                    </m:r>
                                  </m:sub>
                                </m:sSub>
                                <m:r>
                                  <a:rPr lang="zh-CN" altLang="en-US" sz="1800" b="0" i="1">
                                    <a:solidFill>
                                      <a:srgbClr val="000000"/>
                                    </a:solidFill>
                                    <a:latin typeface="Cambria Math" panose="02040503050406030204" pitchFamily="18" charset="0"/>
                                  </a:rPr>
                                  <m:t> </m:t>
                                </m:r>
                                <m:r>
                                  <a:rPr lang="en-US" altLang="zh-CN" sz="1800" b="0" i="1" smtClean="0">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=1,2,⋯,</m:t>
                                </m:r>
                                <m:r>
                                  <a:rPr lang="en-US" altLang="zh-CN" sz="1800" b="0" i="1" smtClean="0">
                                    <a:solidFill>
                                      <a:srgbClr val="000000"/>
                                    </a:solidFill>
                                    <a:latin typeface="Cambria Math" panose="02040503050406030204" pitchFamily="18" charset="0"/>
                                  </a:rPr>
                                  <m:t>𝑚</m:t>
                                </m:r>
                                <m:r>
                                  <a:rPr lang="en-US" altLang="zh-CN" sz="1800" b="0" i="1" smtClean="0">
                                    <a:solidFill>
                                      <a:srgbClr val="000000"/>
                                    </a:solidFill>
                                    <a:latin typeface="Cambria Math" panose="02040503050406030204" pitchFamily="18" charset="0"/>
                                  </a:rPr>
                                  <m:t>) </m:t>
                                </m:r>
                              </m:e>
                            </m:nary>
                          </m:e>
                          <m:e>
                            <m:nary>
                              <m:naryPr>
                                <m:chr m:val="∑"/>
                                <m:ctrlPr>
                                  <a:rPr lang="zh-CN" altLang="en-US" sz="1800" b="0" i="1" smtClean="0">
                                    <a:solidFill>
                                      <a:srgbClr val="000000"/>
                                    </a:solidFill>
                                    <a:latin typeface="Cambria Math" panose="02040503050406030204" pitchFamily="18" charset="0"/>
                                  </a:rPr>
                                </m:ctrlPr>
                              </m:naryPr>
                              <m:sub>
                                <m:r>
                                  <a:rPr lang="en-US" altLang="zh-CN" sz="1800" b="0" i="1" smtClean="0">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m:t>
                                </m:r>
                              </m:sub>
                              <m:sup>
                                <m:r>
                                  <a:rPr lang="en-US" altLang="zh-CN" sz="1800" b="0" i="1" smtClean="0">
                                    <a:solidFill>
                                      <a:srgbClr val="000000"/>
                                    </a:solidFill>
                                    <a:latin typeface="Cambria Math" panose="02040503050406030204" pitchFamily="18" charset="0"/>
                                  </a:rPr>
                                  <m:t>𝑚</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m:t>
                                </m:r>
                                <m:sSub>
                                  <m:sSubPr>
                                    <m:ctrlPr>
                                      <a:rPr lang="zh-CN" altLang="en-US" sz="1800" b="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𝑏</m:t>
                                    </m:r>
                                  </m:e>
                                  <m:sub>
                                    <m:r>
                                      <a:rPr lang="en-US" altLang="zh-CN" sz="1800" b="0" i="1" smtClean="0">
                                        <a:solidFill>
                                          <a:srgbClr val="000000"/>
                                        </a:solidFill>
                                        <a:latin typeface="Cambria Math" panose="02040503050406030204" pitchFamily="18" charset="0"/>
                                      </a:rPr>
                                      <m:t>𝑗</m:t>
                                    </m:r>
                                  </m:sub>
                                </m:sSub>
                                <m:r>
                                  <a:rPr lang="zh-CN" altLang="en-US" sz="1800" b="0" i="1">
                                    <a:solidFill>
                                      <a:srgbClr val="000000"/>
                                    </a:solidFill>
                                    <a:latin typeface="Cambria Math" panose="02040503050406030204" pitchFamily="18" charset="0"/>
                                  </a:rPr>
                                  <m:t> </m:t>
                                </m:r>
                                <m:r>
                                  <a:rPr lang="en-US" altLang="zh-CN" sz="1800" b="0" i="1" smtClean="0">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𝑗</m:t>
                                </m:r>
                                <m:r>
                                  <a:rPr lang="zh-CN" altLang="en-US" sz="1800" b="0" i="1">
                                    <a:solidFill>
                                      <a:srgbClr val="000000"/>
                                    </a:solidFill>
                                    <a:latin typeface="Cambria Math" panose="02040503050406030204" pitchFamily="18" charset="0"/>
                                  </a:rPr>
                                  <m:t>=1,2,⋯,</m:t>
                                </m:r>
                                <m:r>
                                  <a:rPr lang="en-US" altLang="zh-CN" sz="1800" b="0" i="1" smtClean="0">
                                    <a:solidFill>
                                      <a:srgbClr val="000000"/>
                                    </a:solidFill>
                                    <a:latin typeface="Cambria Math" panose="02040503050406030204" pitchFamily="18" charset="0"/>
                                  </a:rPr>
                                  <m:t>𝑛</m:t>
                                </m:r>
                                <m:r>
                                  <a:rPr lang="en-US" altLang="zh-CN" sz="1800" b="0" i="1" smtClean="0">
                                    <a:solidFill>
                                      <a:srgbClr val="000000"/>
                                    </a:solidFill>
                                    <a:latin typeface="Cambria Math" panose="02040503050406030204" pitchFamily="18" charset="0"/>
                                  </a:rPr>
                                  <m:t>)</m:t>
                                </m:r>
                              </m:e>
                            </m:nary>
                          </m:e>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≥0</m:t>
                            </m:r>
                            <m:r>
                              <a:rPr lang="en-US" altLang="zh-CN" sz="1800" b="0" i="1" smtClean="0">
                                <a:solidFill>
                                  <a:srgbClr val="000000"/>
                                </a:solidFill>
                                <a:latin typeface="Cambria Math" panose="02040503050406030204" pitchFamily="18" charset="0"/>
                              </a:rPr>
                              <m:t>                                      </m:t>
                            </m:r>
                          </m:e>
                        </m:eqArr>
                      </m:e>
                    </m:d>
                  </m:oMath>
                </a14:m>
                <a:endParaRPr lang="zh-CN" altLang="en-US" sz="1800" b="0" dirty="0"/>
              </a:p>
            </p:txBody>
          </p:sp>
        </mc:Choice>
        <mc:Fallback xmlns="">
          <p:sp>
            <p:nvSpPr>
              <p:cNvPr id="8" name="矩形 7"/>
              <p:cNvSpPr>
                <a:spLocks noRot="1" noChangeAspect="1" noMove="1" noResize="1" noEditPoints="1" noAdjustHandles="1" noChangeArrowheads="1" noChangeShapeType="1" noTextEdit="1"/>
              </p:cNvSpPr>
              <p:nvPr/>
            </p:nvSpPr>
            <p:spPr>
              <a:xfrm>
                <a:off x="3995936" y="1730693"/>
                <a:ext cx="3959013" cy="1117998"/>
              </a:xfrm>
              <a:prstGeom prst="rect">
                <a:avLst/>
              </a:prstGeom>
              <a:blipFill>
                <a:blip r:embed="rId4"/>
                <a:stretch>
                  <a:fillRect/>
                </a:stretch>
              </a:blipFill>
            </p:spPr>
            <p:txBody>
              <a:bodyPr/>
              <a:lstStyle/>
              <a:p>
                <a:r>
                  <a:rPr lang="zh-CN" altLang="en-US">
                    <a:noFill/>
                  </a:rPr>
                  <a:t> </a:t>
                </a:r>
              </a:p>
            </p:txBody>
          </p:sp>
        </mc:Fallback>
      </mc:AlternateContent>
      <p:graphicFrame>
        <p:nvGraphicFramePr>
          <p:cNvPr id="10" name="Object 8">
            <a:extLst>
              <a:ext uri="{FF2B5EF4-FFF2-40B4-BE49-F238E27FC236}">
                <a16:creationId xmlns:a16="http://schemas.microsoft.com/office/drawing/2014/main" id="{86E25E7C-65D6-4A79-9EF0-C93655BB15D0}"/>
              </a:ext>
            </a:extLst>
          </p:cNvPr>
          <p:cNvGraphicFramePr>
            <a:graphicFrameLocks noChangeAspect="1"/>
          </p:cNvGraphicFramePr>
          <p:nvPr>
            <p:extLst>
              <p:ext uri="{D42A27DB-BD31-4B8C-83A1-F6EECF244321}">
                <p14:modId xmlns:p14="http://schemas.microsoft.com/office/powerpoint/2010/main" val="948652440"/>
              </p:ext>
            </p:extLst>
          </p:nvPr>
        </p:nvGraphicFramePr>
        <p:xfrm>
          <a:off x="4790913" y="3244930"/>
          <a:ext cx="3959082" cy="727402"/>
        </p:xfrm>
        <a:graphic>
          <a:graphicData uri="http://schemas.openxmlformats.org/presentationml/2006/ole">
            <mc:AlternateContent xmlns:mc="http://schemas.openxmlformats.org/markup-compatibility/2006">
              <mc:Choice xmlns:v="urn:schemas-microsoft-com:vml" Requires="v">
                <p:oleObj spid="_x0000_s660878" name="Equation" r:id="rId5" imgW="2971800" imgH="545760" progId="Equation.DSMT4">
                  <p:embed/>
                </p:oleObj>
              </mc:Choice>
              <mc:Fallback>
                <p:oleObj name="Equation" r:id="rId5" imgW="2971800" imgH="545760" progId="Equation.DSMT4">
                  <p:embed/>
                  <p:pic>
                    <p:nvPicPr>
                      <p:cNvPr id="664584" name="Object 8">
                        <a:extLst>
                          <a:ext uri="{FF2B5EF4-FFF2-40B4-BE49-F238E27FC236}">
                            <a16:creationId xmlns:a16="http://schemas.microsoft.com/office/drawing/2014/main" id="{86E25E7C-65D6-4A79-9EF0-C93655BB15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0913" y="3244930"/>
                        <a:ext cx="3959082" cy="727402"/>
                      </a:xfrm>
                      <a:prstGeom prst="rect">
                        <a:avLst/>
                      </a:prstGeom>
                      <a:noFill/>
                      <a:ln>
                        <a:noFill/>
                      </a:ln>
                      <a:effectLst/>
                      <a:extLst/>
                    </p:spPr>
                  </p:pic>
                </p:oleObj>
              </mc:Fallback>
            </mc:AlternateContent>
          </a:graphicData>
        </a:graphic>
      </p:graphicFrame>
      <p:graphicFrame>
        <p:nvGraphicFramePr>
          <p:cNvPr id="11" name="Object 10">
            <a:extLst>
              <a:ext uri="{FF2B5EF4-FFF2-40B4-BE49-F238E27FC236}">
                <a16:creationId xmlns:a16="http://schemas.microsoft.com/office/drawing/2014/main" id="{6DDE5140-1A63-41C7-91C9-3BCECFB97819}"/>
              </a:ext>
            </a:extLst>
          </p:cNvPr>
          <p:cNvGraphicFramePr>
            <a:graphicFrameLocks noChangeAspect="1"/>
          </p:cNvGraphicFramePr>
          <p:nvPr>
            <p:extLst>
              <p:ext uri="{D42A27DB-BD31-4B8C-83A1-F6EECF244321}">
                <p14:modId xmlns:p14="http://schemas.microsoft.com/office/powerpoint/2010/main" val="3103586273"/>
              </p:ext>
            </p:extLst>
          </p:nvPr>
        </p:nvGraphicFramePr>
        <p:xfrm>
          <a:off x="4794564" y="3973335"/>
          <a:ext cx="2613383" cy="734053"/>
        </p:xfrm>
        <a:graphic>
          <a:graphicData uri="http://schemas.openxmlformats.org/presentationml/2006/ole">
            <mc:AlternateContent xmlns:mc="http://schemas.openxmlformats.org/markup-compatibility/2006">
              <mc:Choice xmlns:v="urn:schemas-microsoft-com:vml" Requires="v">
                <p:oleObj spid="_x0000_s660879" name="Equation" r:id="rId7" imgW="1854000" imgH="520560" progId="Equation.3">
                  <p:embed/>
                </p:oleObj>
              </mc:Choice>
              <mc:Fallback>
                <p:oleObj name="Equation" r:id="rId7" imgW="1854000" imgH="520560" progId="Equation.3">
                  <p:embed/>
                  <p:pic>
                    <p:nvPicPr>
                      <p:cNvPr id="664586" name="Object 10">
                        <a:extLst>
                          <a:ext uri="{FF2B5EF4-FFF2-40B4-BE49-F238E27FC236}">
                            <a16:creationId xmlns:a16="http://schemas.microsoft.com/office/drawing/2014/main" id="{6DDE5140-1A63-41C7-91C9-3BCECFB978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94564" y="3973335"/>
                        <a:ext cx="2613383" cy="734053"/>
                      </a:xfrm>
                      <a:prstGeom prst="rect">
                        <a:avLst/>
                      </a:prstGeom>
                      <a:noFill/>
                      <a:ln>
                        <a:noFill/>
                      </a:ln>
                      <a:effectLst/>
                      <a:extLst/>
                    </p:spPr>
                  </p:pic>
                </p:oleObj>
              </mc:Fallback>
            </mc:AlternateContent>
          </a:graphicData>
        </a:graphic>
      </p:graphicFrame>
      <p:graphicFrame>
        <p:nvGraphicFramePr>
          <p:cNvPr id="12" name="Object 12">
            <a:extLst>
              <a:ext uri="{FF2B5EF4-FFF2-40B4-BE49-F238E27FC236}">
                <a16:creationId xmlns:a16="http://schemas.microsoft.com/office/drawing/2014/main" id="{C2CC8566-258C-4AD0-9635-352C2C70E436}"/>
              </a:ext>
            </a:extLst>
          </p:cNvPr>
          <p:cNvGraphicFramePr>
            <a:graphicFrameLocks noChangeAspect="1"/>
          </p:cNvGraphicFramePr>
          <p:nvPr>
            <p:extLst>
              <p:ext uri="{D42A27DB-BD31-4B8C-83A1-F6EECF244321}">
                <p14:modId xmlns:p14="http://schemas.microsoft.com/office/powerpoint/2010/main" val="1431542145"/>
              </p:ext>
            </p:extLst>
          </p:nvPr>
        </p:nvGraphicFramePr>
        <p:xfrm>
          <a:off x="4721360" y="4707388"/>
          <a:ext cx="3145608" cy="764115"/>
        </p:xfrm>
        <a:graphic>
          <a:graphicData uri="http://schemas.openxmlformats.org/presentationml/2006/ole">
            <mc:AlternateContent xmlns:mc="http://schemas.openxmlformats.org/markup-compatibility/2006">
              <mc:Choice xmlns:v="urn:schemas-microsoft-com:vml" Requires="v">
                <p:oleObj spid="_x0000_s660880" name="Equation" r:id="rId9" imgW="2247840" imgH="545760" progId="Equation.3">
                  <p:embed/>
                </p:oleObj>
              </mc:Choice>
              <mc:Fallback>
                <p:oleObj name="Equation" r:id="rId9" imgW="2247840" imgH="545760" progId="Equation.3">
                  <p:embed/>
                  <p:pic>
                    <p:nvPicPr>
                      <p:cNvPr id="664588" name="Object 12">
                        <a:extLst>
                          <a:ext uri="{FF2B5EF4-FFF2-40B4-BE49-F238E27FC236}">
                            <a16:creationId xmlns:a16="http://schemas.microsoft.com/office/drawing/2014/main" id="{C2CC8566-258C-4AD0-9635-352C2C70E4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1360" y="4707388"/>
                        <a:ext cx="3145608" cy="764115"/>
                      </a:xfrm>
                      <a:prstGeom prst="rect">
                        <a:avLst/>
                      </a:prstGeom>
                      <a:noFill/>
                      <a:ln>
                        <a:noFill/>
                      </a:ln>
                      <a:effectLst/>
                      <a:extLst/>
                    </p:spPr>
                  </p:pic>
                </p:oleObj>
              </mc:Fallback>
            </mc:AlternateContent>
          </a:graphicData>
        </a:graphic>
      </p:graphicFrame>
      <p:graphicFrame>
        <p:nvGraphicFramePr>
          <p:cNvPr id="15" name="Object 9">
            <a:extLst>
              <a:ext uri="{FF2B5EF4-FFF2-40B4-BE49-F238E27FC236}">
                <a16:creationId xmlns:a16="http://schemas.microsoft.com/office/drawing/2014/main" id="{BE74966B-8ED7-436B-A4D6-ED504516156A}"/>
              </a:ext>
            </a:extLst>
          </p:cNvPr>
          <p:cNvGraphicFramePr>
            <a:graphicFrameLocks noChangeAspect="1"/>
          </p:cNvGraphicFramePr>
          <p:nvPr>
            <p:extLst>
              <p:ext uri="{D42A27DB-BD31-4B8C-83A1-F6EECF244321}">
                <p14:modId xmlns:p14="http://schemas.microsoft.com/office/powerpoint/2010/main" val="3800151165"/>
              </p:ext>
            </p:extLst>
          </p:nvPr>
        </p:nvGraphicFramePr>
        <p:xfrm>
          <a:off x="1087218" y="5679676"/>
          <a:ext cx="1928812" cy="654050"/>
        </p:xfrm>
        <a:graphic>
          <a:graphicData uri="http://schemas.openxmlformats.org/presentationml/2006/ole">
            <mc:AlternateContent xmlns:mc="http://schemas.openxmlformats.org/markup-compatibility/2006">
              <mc:Choice xmlns:v="urn:schemas-microsoft-com:vml" Requires="v">
                <p:oleObj spid="_x0000_s660881" name="Equation" r:id="rId11" imgW="1168200" imgH="444240" progId="Equation.DSMT4">
                  <p:embed/>
                </p:oleObj>
              </mc:Choice>
              <mc:Fallback>
                <p:oleObj name="Equation" r:id="rId11" imgW="1168200" imgH="444240" progId="Equation.DSMT4">
                  <p:embed/>
                  <p:pic>
                    <p:nvPicPr>
                      <p:cNvPr id="16" name="Object 9">
                        <a:extLst>
                          <a:ext uri="{FF2B5EF4-FFF2-40B4-BE49-F238E27FC236}">
                            <a16:creationId xmlns:a16="http://schemas.microsoft.com/office/drawing/2014/main" id="{BE74966B-8ED7-436B-A4D6-ED504516156A}"/>
                          </a:ext>
                        </a:extLst>
                      </p:cNvPr>
                      <p:cNvPicPr>
                        <a:picLocks noChangeAspect="1" noChangeArrowheads="1"/>
                      </p:cNvPicPr>
                      <p:nvPr/>
                    </p:nvPicPr>
                    <p:blipFill>
                      <a:blip r:embed="rId12"/>
                      <a:srcRect/>
                      <a:stretch>
                        <a:fillRect/>
                      </a:stretch>
                    </p:blipFill>
                    <p:spPr bwMode="auto">
                      <a:xfrm>
                        <a:off x="1087218" y="5679676"/>
                        <a:ext cx="1928812" cy="654050"/>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sp>
            <p:nvSpPr>
              <p:cNvPr id="16" name="矩形 15"/>
              <p:cNvSpPr/>
              <p:nvPr/>
            </p:nvSpPr>
            <p:spPr>
              <a:xfrm>
                <a:off x="3298604" y="5471504"/>
                <a:ext cx="2984618" cy="1130759"/>
              </a:xfrm>
              <a:prstGeom prst="rect">
                <a:avLst/>
              </a:prstGeom>
            </p:spPr>
            <p:txBody>
              <a:bodyPr wrap="square">
                <a:spAutoFit/>
              </a:bodyPr>
              <a:lstStyle/>
              <a:p>
                <a14:m>
                  <m:oMath xmlns:m="http://schemas.openxmlformats.org/officeDocument/2006/math">
                    <m:r>
                      <a:rPr lang="zh-CN" altLang="en-US" sz="1800" b="0" i="1">
                        <a:solidFill>
                          <a:srgbClr val="000000"/>
                        </a:solidFill>
                        <a:latin typeface="Cambria Math" panose="02040503050406030204" pitchFamily="18" charset="0"/>
                      </a:rPr>
                      <m:t>𝑠</m:t>
                    </m:r>
                    <m:r>
                      <a:rPr lang="zh-CN" altLang="en-US" sz="1800" b="0" i="1">
                        <a:solidFill>
                          <a:srgbClr val="000000"/>
                        </a:solidFill>
                        <a:latin typeface="Cambria Math" panose="02040503050406030204" pitchFamily="18" charset="0"/>
                      </a:rPr>
                      <m:t>.</m:t>
                    </m:r>
                    <m:r>
                      <a:rPr lang="zh-CN" altLang="en-US" sz="1800" b="0" i="1">
                        <a:solidFill>
                          <a:srgbClr val="000000"/>
                        </a:solidFill>
                        <a:latin typeface="Cambria Math" panose="02040503050406030204" pitchFamily="18" charset="0"/>
                      </a:rPr>
                      <m:t>𝑡</m:t>
                    </m:r>
                    <m:r>
                      <a:rPr lang="zh-CN" altLang="en-US" sz="1800" b="0" i="1">
                        <a:solidFill>
                          <a:srgbClr val="000000"/>
                        </a:solidFill>
                        <a:latin typeface="Cambria Math" panose="02040503050406030204" pitchFamily="18" charset="0"/>
                      </a:rPr>
                      <m:t>.</m:t>
                    </m:r>
                    <m:d>
                      <m:dPr>
                        <m:begChr m:val="{"/>
                        <m:endChr m:val=""/>
                        <m:ctrlPr>
                          <a:rPr lang="zh-CN" altLang="en-US" sz="1800" b="0" i="1">
                            <a:solidFill>
                              <a:srgbClr val="000000"/>
                            </a:solidFill>
                            <a:latin typeface="Cambria Math" panose="02040503050406030204" pitchFamily="18" charset="0"/>
                          </a:rPr>
                        </m:ctrlPr>
                      </m:dPr>
                      <m:e>
                        <m:eqArr>
                          <m:eqArrPr>
                            <m:ctrlPr>
                              <a:rPr lang="zh-CN" altLang="en-US" sz="1800" b="0" i="1">
                                <a:solidFill>
                                  <a:srgbClr val="000000"/>
                                </a:solidFill>
                                <a:latin typeface="Cambria Math" panose="02040503050406030204" pitchFamily="18" charset="0"/>
                              </a:rPr>
                            </m:ctrlPr>
                          </m:eqArrPr>
                          <m:e>
                            <m:nary>
                              <m:naryPr>
                                <m:chr m:val="∑"/>
                                <m:ctrlPr>
                                  <a:rPr lang="zh-CN" altLang="en-US" sz="1800" b="0" i="1">
                                    <a:solidFill>
                                      <a:srgbClr val="000000"/>
                                    </a:solidFill>
                                    <a:latin typeface="Cambria Math" panose="02040503050406030204" pitchFamily="18" charset="0"/>
                                  </a:rPr>
                                </m:ctrlPr>
                              </m:naryPr>
                              <m:sub>
                                <m:r>
                                  <a:rPr lang="en-US" altLang="zh-CN" sz="1800" b="0" i="1" smtClean="0">
                                    <a:solidFill>
                                      <a:srgbClr val="000000"/>
                                    </a:solidFill>
                                    <a:latin typeface="Cambria Math" panose="02040503050406030204" pitchFamily="18" charset="0"/>
                                  </a:rPr>
                                  <m:t>𝑗</m:t>
                                </m:r>
                                <m:r>
                                  <a:rPr lang="en-US" altLang="zh-CN" sz="1800" b="0" i="1" smtClean="0">
                                    <a:solidFill>
                                      <a:srgbClr val="000000"/>
                                    </a:solidFill>
                                    <a:latin typeface="Cambria Math" panose="02040503050406030204" pitchFamily="18" charset="0"/>
                                  </a:rPr>
                                  <m:t>=1</m:t>
                                </m:r>
                              </m:sub>
                              <m:sup>
                                <m:r>
                                  <a:rPr lang="en-US" altLang="zh-CN" sz="1800" b="0" i="1" smtClean="0">
                                    <a:solidFill>
                                      <a:srgbClr val="000000"/>
                                    </a:solidFill>
                                    <a:latin typeface="Cambria Math" panose="02040503050406030204" pitchFamily="18" charset="0"/>
                                  </a:rPr>
                                  <m:t>𝑛</m:t>
                                </m:r>
                                <m:r>
                                  <a:rPr lang="en-US" altLang="zh-CN" sz="1800" b="0" i="1" smtClean="0">
                                    <a:solidFill>
                                      <a:srgbClr val="000000"/>
                                    </a:solidFill>
                                    <a:latin typeface="Cambria Math" panose="02040503050406030204" pitchFamily="18" charset="0"/>
                                  </a:rPr>
                                  <m:t>+1</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en-US" altLang="zh-CN" sz="1800" b="0" i="1" smtClean="0">
                                    <a:solidFill>
                                      <a:srgbClr val="000000"/>
                                    </a:solidFill>
                                    <a:latin typeface="Cambria Math" panose="02040503050406030204" pitchFamily="18" charset="0"/>
                                  </a:rPr>
                                  <m:t>=</m:t>
                                </m:r>
                                <m:sSub>
                                  <m:sSubPr>
                                    <m:ctrlPr>
                                      <a:rPr lang="zh-CN" altLang="en-US" sz="1800" b="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𝑎</m:t>
                                    </m:r>
                                  </m:e>
                                  <m:sub>
                                    <m:r>
                                      <a:rPr lang="en-US" altLang="zh-CN" sz="1800" b="0" i="1" smtClean="0">
                                        <a:solidFill>
                                          <a:srgbClr val="000000"/>
                                        </a:solidFill>
                                        <a:latin typeface="Cambria Math" panose="02040503050406030204" pitchFamily="18" charset="0"/>
                                      </a:rPr>
                                      <m:t>𝑖</m:t>
                                    </m:r>
                                  </m:sub>
                                </m:sSub>
                              </m:e>
                            </m:nary>
                          </m:e>
                          <m:e>
                            <m:nary>
                              <m:naryPr>
                                <m:chr m:val="∑"/>
                                <m:ctrlPr>
                                  <a:rPr lang="zh-CN" altLang="en-US" sz="1800" b="0" i="1" smtClean="0">
                                    <a:solidFill>
                                      <a:srgbClr val="000000"/>
                                    </a:solidFill>
                                    <a:latin typeface="Cambria Math" panose="02040503050406030204" pitchFamily="18" charset="0"/>
                                  </a:rPr>
                                </m:ctrlPr>
                              </m:naryPr>
                              <m:sub>
                                <m:r>
                                  <a:rPr lang="en-US" altLang="zh-CN" sz="1800" b="0" i="1" smtClean="0">
                                    <a:solidFill>
                                      <a:srgbClr val="000000"/>
                                    </a:solidFill>
                                    <a:latin typeface="Cambria Math" panose="02040503050406030204" pitchFamily="18" charset="0"/>
                                  </a:rPr>
                                  <m:t>𝑖</m:t>
                                </m:r>
                                <m:r>
                                  <a:rPr lang="zh-CN" altLang="en-US" sz="1800" b="0" i="1">
                                    <a:solidFill>
                                      <a:srgbClr val="000000"/>
                                    </a:solidFill>
                                    <a:latin typeface="Cambria Math" panose="02040503050406030204" pitchFamily="18" charset="0"/>
                                  </a:rPr>
                                  <m:t>=1</m:t>
                                </m:r>
                              </m:sub>
                              <m:sup>
                                <m:r>
                                  <a:rPr lang="en-US" altLang="zh-CN" sz="1800" b="0" i="1" smtClean="0">
                                    <a:solidFill>
                                      <a:srgbClr val="000000"/>
                                    </a:solidFill>
                                    <a:latin typeface="Cambria Math" panose="02040503050406030204" pitchFamily="18" charset="0"/>
                                  </a:rPr>
                                  <m:t>𝑚</m:t>
                                </m:r>
                              </m:sup>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m:t>
                                </m:r>
                                <m:sSub>
                                  <m:sSubPr>
                                    <m:ctrlPr>
                                      <a:rPr lang="zh-CN" altLang="en-US" sz="1800" b="0" i="1">
                                        <a:solidFill>
                                          <a:srgbClr val="000000"/>
                                        </a:solidFill>
                                        <a:latin typeface="Cambria Math" panose="02040503050406030204" pitchFamily="18" charset="0"/>
                                      </a:rPr>
                                    </m:ctrlPr>
                                  </m:sSubPr>
                                  <m:e>
                                    <m:r>
                                      <a:rPr lang="en-US" altLang="zh-CN" sz="1800" b="0" i="1" smtClean="0">
                                        <a:solidFill>
                                          <a:srgbClr val="000000"/>
                                        </a:solidFill>
                                        <a:latin typeface="Cambria Math" panose="02040503050406030204" pitchFamily="18" charset="0"/>
                                      </a:rPr>
                                      <m:t>𝑏</m:t>
                                    </m:r>
                                  </m:e>
                                  <m:sub>
                                    <m:r>
                                      <a:rPr lang="en-US" altLang="zh-CN" sz="1800" b="0" i="1" smtClean="0">
                                        <a:solidFill>
                                          <a:srgbClr val="000000"/>
                                        </a:solidFill>
                                        <a:latin typeface="Cambria Math" panose="02040503050406030204" pitchFamily="18" charset="0"/>
                                      </a:rPr>
                                      <m:t>𝑗</m:t>
                                    </m:r>
                                  </m:sub>
                                </m:sSub>
                                <m:r>
                                  <a:rPr lang="zh-CN" altLang="en-US" sz="1800" b="0" i="1">
                                    <a:solidFill>
                                      <a:srgbClr val="000000"/>
                                    </a:solidFill>
                                    <a:latin typeface="Cambria Math" panose="02040503050406030204" pitchFamily="18" charset="0"/>
                                  </a:rPr>
                                  <m:t> </m:t>
                                </m:r>
                              </m:e>
                            </m:nary>
                          </m:e>
                          <m:e>
                            <m:sSub>
                              <m:sSubPr>
                                <m:ctrlPr>
                                  <a:rPr lang="zh-CN" altLang="en-US" sz="1800" b="0" i="1">
                                    <a:solidFill>
                                      <a:srgbClr val="000000"/>
                                    </a:solidFill>
                                    <a:latin typeface="Cambria Math" panose="02040503050406030204" pitchFamily="18" charset="0"/>
                                  </a:rPr>
                                </m:ctrlPr>
                              </m:sSubPr>
                              <m:e>
                                <m:r>
                                  <a:rPr lang="zh-CN" altLang="en-US" sz="1800" b="0" i="1">
                                    <a:solidFill>
                                      <a:srgbClr val="000000"/>
                                    </a:solidFill>
                                    <a:latin typeface="Cambria Math" panose="02040503050406030204" pitchFamily="18" charset="0"/>
                                  </a:rPr>
                                  <m:t>𝑥</m:t>
                                </m:r>
                              </m:e>
                              <m:sub>
                                <m:r>
                                  <a:rPr lang="zh-CN" altLang="en-US" sz="1800" b="0" i="1">
                                    <a:solidFill>
                                      <a:srgbClr val="000000"/>
                                    </a:solidFill>
                                    <a:latin typeface="Cambria Math" panose="02040503050406030204" pitchFamily="18" charset="0"/>
                                  </a:rPr>
                                  <m:t>𝑖𝑗</m:t>
                                </m:r>
                              </m:sub>
                            </m:sSub>
                            <m:r>
                              <a:rPr lang="zh-CN" altLang="en-US" sz="1800" b="0" i="1">
                                <a:solidFill>
                                  <a:srgbClr val="000000"/>
                                </a:solidFill>
                                <a:latin typeface="Cambria Math" panose="02040503050406030204" pitchFamily="18" charset="0"/>
                              </a:rPr>
                              <m:t>≥0</m:t>
                            </m:r>
                            <m:r>
                              <a:rPr lang="en-US" altLang="zh-CN" sz="1800" b="0" i="1" smtClean="0">
                                <a:solidFill>
                                  <a:srgbClr val="000000"/>
                                </a:solidFill>
                                <a:latin typeface="Cambria Math" panose="02040503050406030204" pitchFamily="18" charset="0"/>
                              </a:rPr>
                              <m:t>             </m:t>
                            </m:r>
                          </m:e>
                        </m:eqArr>
                      </m:e>
                    </m:d>
                  </m:oMath>
                </a14:m>
                <a:endParaRPr lang="zh-CN" altLang="en-US" sz="1800" b="0" dirty="0"/>
              </a:p>
            </p:txBody>
          </p:sp>
        </mc:Choice>
        <mc:Fallback xmlns="">
          <p:sp>
            <p:nvSpPr>
              <p:cNvPr id="16" name="矩形 15"/>
              <p:cNvSpPr>
                <a:spLocks noRot="1" noChangeAspect="1" noMove="1" noResize="1" noEditPoints="1" noAdjustHandles="1" noChangeArrowheads="1" noChangeShapeType="1" noTextEdit="1"/>
              </p:cNvSpPr>
              <p:nvPr/>
            </p:nvSpPr>
            <p:spPr>
              <a:xfrm>
                <a:off x="3298604" y="5471504"/>
                <a:ext cx="2984618" cy="1130759"/>
              </a:xfrm>
              <a:prstGeom prst="rect">
                <a:avLst/>
              </a:prstGeom>
              <a:blipFill>
                <a:blip r:embed="rId13"/>
                <a:stretch>
                  <a:fillRect/>
                </a:stretch>
              </a:blipFill>
            </p:spPr>
            <p:txBody>
              <a:bodyPr/>
              <a:lstStyle/>
              <a:p>
                <a:r>
                  <a:rPr lang="zh-CN" altLang="en-US">
                    <a:noFill/>
                  </a:rPr>
                  <a:t> </a:t>
                </a:r>
              </a:p>
            </p:txBody>
          </p:sp>
        </mc:Fallback>
      </mc:AlternateContent>
      <p:sp>
        <p:nvSpPr>
          <p:cNvPr id="3" name="矩形 2"/>
          <p:cNvSpPr/>
          <p:nvPr/>
        </p:nvSpPr>
        <p:spPr>
          <a:xfrm>
            <a:off x="7489746" y="4839036"/>
            <a:ext cx="1319592" cy="701731"/>
          </a:xfrm>
          <a:prstGeom prst="rect">
            <a:avLst/>
          </a:prstGeom>
        </p:spPr>
        <p:txBody>
          <a:bodyPr wrap="none">
            <a:spAutoFit/>
          </a:bodyPr>
          <a:lstStyle/>
          <a:p>
            <a:r>
              <a:rPr lang="zh-CN" altLang="en-US" sz="1800" dirty="0"/>
              <a:t>该销</a:t>
            </a:r>
            <a:r>
              <a:rPr lang="zh-CN" altLang="en-US" sz="1800" dirty="0" smtClean="0"/>
              <a:t>地</a:t>
            </a:r>
            <a:endParaRPr lang="en-US" altLang="zh-CN" sz="1800" dirty="0" smtClean="0"/>
          </a:p>
          <a:p>
            <a:r>
              <a:rPr lang="zh-CN" altLang="en-US" sz="1800" dirty="0" smtClean="0"/>
              <a:t>总</a:t>
            </a:r>
            <a:r>
              <a:rPr lang="zh-CN" altLang="en-US" sz="1800" dirty="0"/>
              <a:t>需要量</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26</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79512" y="1128002"/>
            <a:ext cx="8585017" cy="5325333"/>
          </a:xfrm>
        </p:spPr>
        <p:txBody>
          <a:bodyPr/>
          <a:lstStyle/>
          <a:p>
            <a:r>
              <a:rPr lang="zh-CN" altLang="en-US" dirty="0" smtClean="0">
                <a:solidFill>
                  <a:srgbClr val="FF0000"/>
                </a:solidFill>
              </a:rPr>
              <a:t>当</a:t>
            </a:r>
            <a:r>
              <a:rPr lang="zh-CN" altLang="en-US" dirty="0">
                <a:solidFill>
                  <a:srgbClr val="FF0000"/>
                </a:solidFill>
              </a:rPr>
              <a:t>产大于销</a:t>
            </a:r>
            <a:r>
              <a:rPr lang="zh-CN" altLang="en-US" dirty="0" smtClean="0">
                <a:solidFill>
                  <a:srgbClr val="FF0000"/>
                </a:solidFill>
              </a:rPr>
              <a:t>时</a:t>
            </a:r>
            <a:endParaRPr lang="en-US" altLang="zh-CN" dirty="0" smtClean="0">
              <a:solidFill>
                <a:srgbClr val="FF0000"/>
              </a:solidFill>
            </a:endParaRPr>
          </a:p>
          <a:p>
            <a:pPr lvl="1"/>
            <a:r>
              <a:rPr lang="zh-CN" altLang="en-US" sz="2000" dirty="0" smtClean="0"/>
              <a:t>例题</a:t>
            </a:r>
            <a:r>
              <a:rPr lang="en-US" altLang="zh-CN" sz="2000" dirty="0" smtClean="0"/>
              <a:t>4-3</a:t>
            </a:r>
            <a:r>
              <a:rPr lang="zh-CN" altLang="en-US" sz="2000" dirty="0" smtClean="0"/>
              <a:t>：某</a:t>
            </a:r>
            <a:r>
              <a:rPr lang="zh-CN" altLang="en-US" sz="2000" dirty="0"/>
              <a:t>厂按合同规定须于当年每个季度末分别提供</a:t>
            </a:r>
            <a:r>
              <a:rPr lang="en-US" altLang="zh-CN" sz="2000" dirty="0"/>
              <a:t>10</a:t>
            </a:r>
            <a:r>
              <a:rPr lang="zh-CN" altLang="en-US" sz="2000" dirty="0"/>
              <a:t>，</a:t>
            </a:r>
            <a:r>
              <a:rPr lang="en-US" altLang="zh-CN" sz="2000" dirty="0"/>
              <a:t>15</a:t>
            </a:r>
            <a:r>
              <a:rPr lang="zh-CN" altLang="en-US" sz="2000" dirty="0"/>
              <a:t>，</a:t>
            </a:r>
            <a:r>
              <a:rPr lang="en-US" altLang="zh-CN" sz="2000" dirty="0"/>
              <a:t>25</a:t>
            </a:r>
            <a:r>
              <a:rPr lang="zh-CN" altLang="en-US" sz="2000" dirty="0"/>
              <a:t>，</a:t>
            </a:r>
            <a:r>
              <a:rPr lang="en-US" altLang="zh-CN" sz="2000" dirty="0"/>
              <a:t>20</a:t>
            </a:r>
            <a:r>
              <a:rPr lang="zh-CN" altLang="en-US" sz="2000" dirty="0"/>
              <a:t>台同一规格的柴油机。已知该厂各季度的生产能力及生产每台柴油机的成本如</a:t>
            </a:r>
            <a:r>
              <a:rPr lang="zh-CN" altLang="en-US" sz="2000" dirty="0" smtClean="0"/>
              <a:t>表</a:t>
            </a:r>
            <a:r>
              <a:rPr lang="en-US" altLang="zh-CN" sz="2000" dirty="0" smtClean="0"/>
              <a:t>4-30</a:t>
            </a:r>
            <a:r>
              <a:rPr lang="zh-CN" altLang="en-US" sz="2000" dirty="0" smtClean="0"/>
              <a:t>所</a:t>
            </a:r>
            <a:r>
              <a:rPr lang="zh-CN" altLang="en-US" sz="2000" dirty="0"/>
              <a:t>示。又如果</a:t>
            </a:r>
            <a:r>
              <a:rPr lang="zh-CN" altLang="en-US" sz="2000" dirty="0">
                <a:solidFill>
                  <a:srgbClr val="FF0000"/>
                </a:solidFill>
              </a:rPr>
              <a:t>生产出来的柴油机当季不交货的，每台每积压一个季度需储存、维护等费用</a:t>
            </a:r>
            <a:r>
              <a:rPr lang="en-US" altLang="zh-CN" sz="2000" dirty="0">
                <a:solidFill>
                  <a:srgbClr val="FF0000"/>
                </a:solidFill>
              </a:rPr>
              <a:t>0.15</a:t>
            </a:r>
            <a:r>
              <a:rPr lang="zh-CN" altLang="en-US" sz="2000" dirty="0">
                <a:solidFill>
                  <a:srgbClr val="FF0000"/>
                </a:solidFill>
              </a:rPr>
              <a:t>万元</a:t>
            </a:r>
            <a:r>
              <a:rPr lang="zh-CN" altLang="en-US" sz="2000" dirty="0" smtClean="0"/>
              <a:t>。求</a:t>
            </a:r>
            <a:r>
              <a:rPr lang="zh-CN" altLang="en-US" sz="2000" dirty="0"/>
              <a:t>在完成合同的情况下，作出使该厂全年生产</a:t>
            </a:r>
            <a:r>
              <a:rPr lang="en-US" altLang="zh-CN" sz="2000" dirty="0"/>
              <a:t>(</a:t>
            </a:r>
            <a:r>
              <a:rPr lang="zh-CN" altLang="en-US" sz="2000" dirty="0"/>
              <a:t>包括储存、维护</a:t>
            </a:r>
            <a:r>
              <a:rPr lang="en-US" altLang="zh-CN" sz="2000" dirty="0"/>
              <a:t>)</a:t>
            </a:r>
            <a:r>
              <a:rPr lang="zh-CN" altLang="en-US" sz="2000" dirty="0"/>
              <a:t>费用最小的决策</a:t>
            </a:r>
            <a:r>
              <a:rPr lang="zh-CN" altLang="en-US" sz="2000" dirty="0" smtClean="0"/>
              <a:t>。</a:t>
            </a:r>
            <a:endParaRPr lang="en-US" altLang="zh-CN" sz="2000" dirty="0" smtClean="0"/>
          </a:p>
          <a:p>
            <a:pPr lvl="1"/>
            <a:endParaRPr lang="en-US" altLang="zh-CN" sz="2000" dirty="0">
              <a:latin typeface="Times New Roman" panose="02020603050405020304" pitchFamily="18" charset="0"/>
            </a:endParaRPr>
          </a:p>
          <a:p>
            <a:pPr lvl="1"/>
            <a:endParaRPr lang="en-US" altLang="zh-CN" sz="2000" dirty="0" smtClean="0">
              <a:latin typeface="Times New Roman" panose="02020603050405020304" pitchFamily="18" charset="0"/>
            </a:endParaRPr>
          </a:p>
          <a:p>
            <a:pPr lvl="1"/>
            <a:endParaRPr lang="en-US" altLang="zh-CN" sz="2000" dirty="0">
              <a:latin typeface="Times New Roman" panose="02020603050405020304" pitchFamily="18" charset="0"/>
            </a:endParaRPr>
          </a:p>
          <a:p>
            <a:endParaRPr lang="zh-CN" altLang="en-US" dirty="0"/>
          </a:p>
        </p:txBody>
      </p:sp>
      <p:graphicFrame>
        <p:nvGraphicFramePr>
          <p:cNvPr id="11" name="Object 4">
            <a:extLst>
              <a:ext uri="{FF2B5EF4-FFF2-40B4-BE49-F238E27FC236}">
                <a16:creationId xmlns:a16="http://schemas.microsoft.com/office/drawing/2014/main" id="{6AFAA560-CCF9-464E-BC59-CDA2D8B3D483}"/>
              </a:ext>
            </a:extLst>
          </p:cNvPr>
          <p:cNvGraphicFramePr>
            <a:graphicFrameLocks noChangeAspect="1"/>
          </p:cNvGraphicFramePr>
          <p:nvPr>
            <p:extLst>
              <p:ext uri="{D42A27DB-BD31-4B8C-83A1-F6EECF244321}">
                <p14:modId xmlns:p14="http://schemas.microsoft.com/office/powerpoint/2010/main" val="4073555505"/>
              </p:ext>
            </p:extLst>
          </p:nvPr>
        </p:nvGraphicFramePr>
        <p:xfrm>
          <a:off x="2273506" y="3263416"/>
          <a:ext cx="4981115" cy="1650202"/>
        </p:xfrm>
        <a:graphic>
          <a:graphicData uri="http://schemas.openxmlformats.org/presentationml/2006/ole">
            <mc:AlternateContent xmlns:mc="http://schemas.openxmlformats.org/markup-compatibility/2006">
              <mc:Choice xmlns:v="urn:schemas-microsoft-com:vml" Requires="v">
                <p:oleObj spid="_x0000_s733460" name="Document" r:id="rId3" imgW="3116659" imgH="1171412" progId="Word.Document.8">
                  <p:embed/>
                </p:oleObj>
              </mc:Choice>
              <mc:Fallback>
                <p:oleObj name="Document" r:id="rId3" imgW="3116659" imgH="1171412" progId="Word.Document.8">
                  <p:embed/>
                  <p:pic>
                    <p:nvPicPr>
                      <p:cNvPr id="681988" name="Object 4">
                        <a:extLst>
                          <a:ext uri="{FF2B5EF4-FFF2-40B4-BE49-F238E27FC236}">
                            <a16:creationId xmlns:a16="http://schemas.microsoft.com/office/drawing/2014/main" id="{6AFAA560-CCF9-464E-BC59-CDA2D8B3D483}"/>
                          </a:ext>
                        </a:extLst>
                      </p:cNvPr>
                      <p:cNvPicPr>
                        <a:picLocks noChangeAspect="1" noChangeArrowheads="1"/>
                      </p:cNvPicPr>
                      <p:nvPr/>
                    </p:nvPicPr>
                    <p:blipFill>
                      <a:blip r:embed="rId4"/>
                      <a:srcRect/>
                      <a:stretch>
                        <a:fillRect/>
                      </a:stretch>
                    </p:blipFill>
                    <p:spPr bwMode="auto">
                      <a:xfrm>
                        <a:off x="2273506" y="3263416"/>
                        <a:ext cx="4981115" cy="1650202"/>
                      </a:xfrm>
                      <a:prstGeom prst="rect">
                        <a:avLst/>
                      </a:prstGeom>
                      <a:noFill/>
                      <a:ln>
                        <a:noFill/>
                      </a:ln>
                      <a:effectLst/>
                      <a:extLst/>
                    </p:spPr>
                  </p:pic>
                </p:oleObj>
              </mc:Fallback>
            </mc:AlternateContent>
          </a:graphicData>
        </a:graphic>
      </p:graphicFrame>
      <p:graphicFrame>
        <p:nvGraphicFramePr>
          <p:cNvPr id="12" name="Object 6">
            <a:extLst>
              <a:ext uri="{FF2B5EF4-FFF2-40B4-BE49-F238E27FC236}">
                <a16:creationId xmlns:a16="http://schemas.microsoft.com/office/drawing/2014/main" id="{64619FFE-BD08-4058-8200-4F6BCB687D3E}"/>
              </a:ext>
            </a:extLst>
          </p:cNvPr>
          <p:cNvGraphicFramePr>
            <a:graphicFrameLocks noChangeAspect="1"/>
          </p:cNvGraphicFramePr>
          <p:nvPr>
            <p:extLst>
              <p:ext uri="{D42A27DB-BD31-4B8C-83A1-F6EECF244321}">
                <p14:modId xmlns:p14="http://schemas.microsoft.com/office/powerpoint/2010/main" val="2680594687"/>
              </p:ext>
            </p:extLst>
          </p:nvPr>
        </p:nvGraphicFramePr>
        <p:xfrm>
          <a:off x="3995936" y="4759739"/>
          <a:ext cx="2566492" cy="1473998"/>
        </p:xfrm>
        <a:graphic>
          <a:graphicData uri="http://schemas.openxmlformats.org/presentationml/2006/ole">
            <mc:AlternateContent xmlns:mc="http://schemas.openxmlformats.org/markup-compatibility/2006">
              <mc:Choice xmlns:v="urn:schemas-microsoft-com:vml" Requires="v">
                <p:oleObj spid="_x0000_s733461" name="Equation" r:id="rId5" imgW="1879560" imgH="1079280" progId="Equation.DSMT4">
                  <p:embed/>
                </p:oleObj>
              </mc:Choice>
              <mc:Fallback>
                <p:oleObj name="Equation" r:id="rId5" imgW="1879560" imgH="1079280" progId="Equation.DSMT4">
                  <p:embed/>
                  <p:pic>
                    <p:nvPicPr>
                      <p:cNvPr id="683014" name="Object 6">
                        <a:extLst>
                          <a:ext uri="{FF2B5EF4-FFF2-40B4-BE49-F238E27FC236}">
                            <a16:creationId xmlns:a16="http://schemas.microsoft.com/office/drawing/2014/main" id="{64619FFE-BD08-4058-8200-4F6BCB687D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5936" y="4759739"/>
                        <a:ext cx="2566492" cy="1473998"/>
                      </a:xfrm>
                      <a:prstGeom prst="rect">
                        <a:avLst/>
                      </a:prstGeom>
                      <a:noFill/>
                      <a:ln>
                        <a:noFill/>
                      </a:ln>
                      <a:effectLst/>
                      <a:extLst/>
                    </p:spPr>
                  </p:pic>
                </p:oleObj>
              </mc:Fallback>
            </mc:AlternateContent>
          </a:graphicData>
        </a:graphic>
      </p:graphicFrame>
      <p:sp>
        <p:nvSpPr>
          <p:cNvPr id="3" name="矩形 2"/>
          <p:cNvSpPr/>
          <p:nvPr/>
        </p:nvSpPr>
        <p:spPr>
          <a:xfrm>
            <a:off x="111293" y="4706769"/>
            <a:ext cx="4028659" cy="923330"/>
          </a:xfrm>
          <a:prstGeom prst="rect">
            <a:avLst/>
          </a:prstGeom>
        </p:spPr>
        <p:txBody>
          <a:bodyPr wrap="square">
            <a:spAutoFit/>
          </a:bodyPr>
          <a:lstStyle/>
          <a:p>
            <a:pPr marL="0" lvl="1"/>
            <a:r>
              <a:rPr lang="zh-CN" altLang="en-US" sz="1800" dirty="0">
                <a:latin typeface="+mn-ea"/>
              </a:rPr>
              <a:t>解：</a:t>
            </a:r>
            <a:r>
              <a:rPr lang="zh-CN" altLang="en-US" sz="1800" dirty="0" smtClean="0">
                <a:latin typeface="+mn-ea"/>
              </a:rPr>
              <a:t>由于不一定</a:t>
            </a:r>
            <a:r>
              <a:rPr lang="zh-CN" altLang="en-US" sz="1800" dirty="0">
                <a:latin typeface="+mn-ea"/>
              </a:rPr>
              <a:t>当季交货，所以设</a:t>
            </a:r>
            <a:r>
              <a:rPr lang="en-US" altLang="zh-CN" sz="1800" i="1" dirty="0" err="1">
                <a:latin typeface="Times New Roman" panose="02020603050405020304" pitchFamily="18" charset="0"/>
              </a:rPr>
              <a:t>x</a:t>
            </a:r>
            <a:r>
              <a:rPr lang="en-US" altLang="zh-CN" sz="1800" i="1" baseline="-30000" dirty="0" err="1">
                <a:latin typeface="Times New Roman" panose="02020603050405020304" pitchFamily="18" charset="0"/>
              </a:rPr>
              <a:t>ij</a:t>
            </a:r>
            <a:r>
              <a:rPr lang="zh-CN" altLang="en-US" sz="1800" dirty="0">
                <a:latin typeface="Times New Roman" panose="02020603050405020304" pitchFamily="18" charset="0"/>
              </a:rPr>
              <a:t>为</a:t>
            </a:r>
            <a:r>
              <a:rPr lang="zh-CN" altLang="en-US" sz="1800" dirty="0">
                <a:solidFill>
                  <a:srgbClr val="FF0000"/>
                </a:solidFill>
                <a:latin typeface="Times New Roman" panose="02020603050405020304" pitchFamily="18" charset="0"/>
              </a:rPr>
              <a:t>第</a:t>
            </a:r>
            <a:r>
              <a:rPr lang="en-US" altLang="zh-CN" sz="1800" i="1" dirty="0" err="1">
                <a:solidFill>
                  <a:srgbClr val="FF0000"/>
                </a:solidFill>
                <a:latin typeface="Times New Roman" panose="02020603050405020304" pitchFamily="18" charset="0"/>
              </a:rPr>
              <a:t>i</a:t>
            </a:r>
            <a:r>
              <a:rPr lang="zh-CN" altLang="en-US" sz="1800" dirty="0">
                <a:solidFill>
                  <a:srgbClr val="FF0000"/>
                </a:solidFill>
                <a:latin typeface="Times New Roman" panose="02020603050405020304" pitchFamily="18" charset="0"/>
              </a:rPr>
              <a:t>季度生产的用于第</a:t>
            </a:r>
            <a:r>
              <a:rPr lang="en-US" altLang="zh-CN" sz="1800" i="1" dirty="0">
                <a:solidFill>
                  <a:srgbClr val="FF0000"/>
                </a:solidFill>
                <a:latin typeface="Times New Roman" panose="02020603050405020304" pitchFamily="18" charset="0"/>
              </a:rPr>
              <a:t>j</a:t>
            </a:r>
            <a:r>
              <a:rPr lang="zh-CN" altLang="en-US" sz="1800" dirty="0">
                <a:solidFill>
                  <a:srgbClr val="FF0000"/>
                </a:solidFill>
                <a:latin typeface="Times New Roman" panose="02020603050405020304" pitchFamily="18" charset="0"/>
              </a:rPr>
              <a:t>季度交货</a:t>
            </a:r>
            <a:r>
              <a:rPr lang="zh-CN" altLang="en-US" sz="1800" dirty="0">
                <a:latin typeface="Times New Roman" panose="02020603050405020304" pitchFamily="18" charset="0"/>
              </a:rPr>
              <a:t>的柴油机数。根据合同要求，必须</a:t>
            </a:r>
            <a:r>
              <a:rPr lang="zh-CN" altLang="en-US" sz="1800" dirty="0" smtClean="0">
                <a:latin typeface="Times New Roman" panose="02020603050405020304" pitchFamily="18" charset="0"/>
              </a:rPr>
              <a:t>满足：</a:t>
            </a:r>
            <a:endParaRPr lang="zh-CN" altLang="en-US" sz="1800" dirty="0">
              <a:latin typeface="Times New Roman" panose="02020603050405020304" pitchFamily="18" charset="0"/>
            </a:endParaRPr>
          </a:p>
        </p:txBody>
      </p:sp>
      <p:graphicFrame>
        <p:nvGraphicFramePr>
          <p:cNvPr id="20" name="Object 6">
            <a:extLst>
              <a:ext uri="{FF2B5EF4-FFF2-40B4-BE49-F238E27FC236}">
                <a16:creationId xmlns:a16="http://schemas.microsoft.com/office/drawing/2014/main" id="{740C5EF2-3CE1-4FE3-ABFF-7A63C00DA3DE}"/>
              </a:ext>
            </a:extLst>
          </p:cNvPr>
          <p:cNvGraphicFramePr>
            <a:graphicFrameLocks noChangeAspect="1"/>
          </p:cNvGraphicFramePr>
          <p:nvPr>
            <p:extLst>
              <p:ext uri="{D42A27DB-BD31-4B8C-83A1-F6EECF244321}">
                <p14:modId xmlns:p14="http://schemas.microsoft.com/office/powerpoint/2010/main" val="2993634209"/>
              </p:ext>
            </p:extLst>
          </p:nvPr>
        </p:nvGraphicFramePr>
        <p:xfrm>
          <a:off x="6454642" y="4759739"/>
          <a:ext cx="2697269" cy="1950053"/>
        </p:xfrm>
        <a:graphic>
          <a:graphicData uri="http://schemas.openxmlformats.org/presentationml/2006/ole">
            <mc:AlternateContent xmlns:mc="http://schemas.openxmlformats.org/markup-compatibility/2006">
              <mc:Choice xmlns:v="urn:schemas-microsoft-com:vml" Requires="v">
                <p:oleObj spid="_x0000_s733462" name="Equation" r:id="rId7" imgW="1879560" imgH="1358640" progId="Equation.3">
                  <p:embed/>
                </p:oleObj>
              </mc:Choice>
              <mc:Fallback>
                <p:oleObj name="Equation" r:id="rId7" imgW="1879560" imgH="1358640" progId="Equation.3">
                  <p:embed/>
                  <p:pic>
                    <p:nvPicPr>
                      <p:cNvPr id="684038" name="Object 6">
                        <a:extLst>
                          <a:ext uri="{FF2B5EF4-FFF2-40B4-BE49-F238E27FC236}">
                            <a16:creationId xmlns:a16="http://schemas.microsoft.com/office/drawing/2014/main" id="{740C5EF2-3CE1-4FE3-ABFF-7A63C00DA3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54642" y="4759739"/>
                        <a:ext cx="2697269" cy="1950053"/>
                      </a:xfrm>
                      <a:prstGeom prst="rect">
                        <a:avLst/>
                      </a:prstGeom>
                      <a:noFill/>
                      <a:ln>
                        <a:noFill/>
                      </a:ln>
                      <a:effectLst/>
                      <a:extLst/>
                    </p:spPr>
                  </p:pic>
                </p:oleObj>
              </mc:Fallback>
            </mc:AlternateContent>
          </a:graphicData>
        </a:graphic>
      </p:graphicFrame>
      <p:sp>
        <p:nvSpPr>
          <p:cNvPr id="5" name="矩形 4"/>
          <p:cNvSpPr/>
          <p:nvPr/>
        </p:nvSpPr>
        <p:spPr>
          <a:xfrm>
            <a:off x="145328" y="5697986"/>
            <a:ext cx="4011662" cy="923330"/>
          </a:xfrm>
          <a:prstGeom prst="rect">
            <a:avLst/>
          </a:prstGeom>
        </p:spPr>
        <p:txBody>
          <a:bodyPr wrap="square">
            <a:spAutoFit/>
          </a:bodyPr>
          <a:lstStyle/>
          <a:p>
            <a:pPr marL="0" lvl="1">
              <a:buNone/>
            </a:pPr>
            <a:r>
              <a:rPr lang="zh-CN" altLang="en-US" sz="1800" dirty="0">
                <a:latin typeface="Times New Roman" panose="02020603050405020304" pitchFamily="18" charset="0"/>
              </a:rPr>
              <a:t>又每季度</a:t>
            </a:r>
            <a:r>
              <a:rPr lang="zh-CN" altLang="en-US" sz="1800" dirty="0">
                <a:solidFill>
                  <a:srgbClr val="FF0000"/>
                </a:solidFill>
                <a:latin typeface="Times New Roman" panose="02020603050405020304" pitchFamily="18" charset="0"/>
              </a:rPr>
              <a:t>生产的用于当季和以后各季交货的柴油机数不可能超过该季度的生产能力</a:t>
            </a:r>
            <a:r>
              <a:rPr lang="zh-CN" altLang="en-US" sz="1800" dirty="0">
                <a:latin typeface="Times New Roman" panose="02020603050405020304" pitchFamily="18" charset="0"/>
              </a:rPr>
              <a:t>，故又有：</a:t>
            </a:r>
          </a:p>
        </p:txBody>
      </p:sp>
      <p:sp>
        <p:nvSpPr>
          <p:cNvPr id="21" name="Rectangle 9">
            <a:extLst>
              <a:ext uri="{FF2B5EF4-FFF2-40B4-BE49-F238E27FC236}">
                <a16:creationId xmlns:a16="http://schemas.microsoft.com/office/drawing/2014/main" id="{5558B986-1AE2-488E-AC1C-F8491BCE15E4}"/>
              </a:ext>
            </a:extLst>
          </p:cNvPr>
          <p:cNvSpPr>
            <a:spLocks noChangeArrowheads="1"/>
          </p:cNvSpPr>
          <p:nvPr/>
        </p:nvSpPr>
        <p:spPr bwMode="auto">
          <a:xfrm>
            <a:off x="1231290" y="3762879"/>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smtClean="0">
                <a:solidFill>
                  <a:schemeClr val="tx2"/>
                </a:solidFill>
              </a:rPr>
              <a:t>4-30</a:t>
            </a:r>
            <a:endParaRPr lang="en-US" altLang="zh-CN" sz="2000" b="0" dirty="0">
              <a:solidFill>
                <a:schemeClr val="tx2"/>
              </a:solidFill>
            </a:endParaRPr>
          </a:p>
        </p:txBody>
      </p:sp>
    </p:spTree>
    <p:extLst>
      <p:ext uri="{BB962C8B-B14F-4D97-AF65-F5344CB8AC3E}">
        <p14:creationId xmlns:p14="http://schemas.microsoft.com/office/powerpoint/2010/main" val="399076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27</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81781" y="1128402"/>
            <a:ext cx="8585017" cy="5325333"/>
          </a:xfrm>
        </p:spPr>
        <p:txBody>
          <a:bodyPr/>
          <a:lstStyle/>
          <a:p>
            <a:r>
              <a:rPr lang="zh-CN" altLang="en-US" dirty="0" smtClean="0">
                <a:solidFill>
                  <a:srgbClr val="FF0000"/>
                </a:solidFill>
              </a:rPr>
              <a:t>当</a:t>
            </a:r>
            <a:r>
              <a:rPr lang="zh-CN" altLang="en-US" dirty="0">
                <a:solidFill>
                  <a:srgbClr val="FF0000"/>
                </a:solidFill>
              </a:rPr>
              <a:t>产大于销</a:t>
            </a:r>
            <a:r>
              <a:rPr lang="zh-CN" altLang="en-US" dirty="0" smtClean="0">
                <a:solidFill>
                  <a:srgbClr val="FF0000"/>
                </a:solidFill>
              </a:rPr>
              <a:t>时</a:t>
            </a:r>
            <a:endParaRPr lang="en-US" altLang="zh-CN" dirty="0" smtClean="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en-US" altLang="zh-CN" dirty="0">
              <a:solidFill>
                <a:srgbClr val="FF0000"/>
              </a:solidFill>
            </a:endParaRPr>
          </a:p>
          <a:p>
            <a:pPr lvl="1"/>
            <a:r>
              <a:rPr lang="zh-CN" altLang="en-US" sz="2000" dirty="0">
                <a:latin typeface="Times New Roman" panose="02020603050405020304" pitchFamily="18" charset="0"/>
              </a:rPr>
              <a:t>第</a:t>
            </a:r>
            <a:r>
              <a:rPr lang="en-US" altLang="zh-CN" sz="2000" i="1" dirty="0" err="1">
                <a:latin typeface="Times New Roman" panose="02020603050405020304" pitchFamily="18" charset="0"/>
              </a:rPr>
              <a:t>i</a:t>
            </a:r>
            <a:r>
              <a:rPr lang="zh-CN" altLang="en-US" sz="2000" dirty="0">
                <a:latin typeface="Times New Roman" panose="02020603050405020304" pitchFamily="18" charset="0"/>
              </a:rPr>
              <a:t>季度生产的用于</a:t>
            </a:r>
            <a:r>
              <a:rPr lang="en-US" altLang="zh-CN" sz="2000" i="1" dirty="0">
                <a:latin typeface="Times New Roman" panose="02020603050405020304" pitchFamily="18" charset="0"/>
              </a:rPr>
              <a:t>j</a:t>
            </a:r>
            <a:r>
              <a:rPr lang="zh-CN" altLang="en-US" sz="2000" dirty="0">
                <a:latin typeface="Times New Roman" panose="02020603050405020304" pitchFamily="18" charset="0"/>
              </a:rPr>
              <a:t>季度交货的每台柴油机的实际成本</a:t>
            </a:r>
            <a:r>
              <a:rPr lang="en-US" altLang="zh-CN" sz="2000" i="1" dirty="0" err="1">
                <a:latin typeface="Times New Roman" panose="02020603050405020304" pitchFamily="18" charset="0"/>
              </a:rPr>
              <a:t>c</a:t>
            </a:r>
            <a:r>
              <a:rPr lang="en-US" altLang="zh-CN" sz="2000" i="1" baseline="-30000" dirty="0" err="1">
                <a:latin typeface="Times New Roman" panose="02020603050405020304" pitchFamily="18" charset="0"/>
              </a:rPr>
              <a:t>ij</a:t>
            </a:r>
            <a:r>
              <a:rPr lang="zh-CN" altLang="en-US" sz="2000" dirty="0">
                <a:latin typeface="Times New Roman" panose="02020603050405020304" pitchFamily="18" charset="0"/>
              </a:rPr>
              <a:t>应该是该季度单位成本加上储存、维护等费用。</a:t>
            </a:r>
            <a:r>
              <a:rPr lang="en-US" altLang="zh-CN" sz="2000" i="1" dirty="0" err="1">
                <a:latin typeface="Times New Roman" panose="02020603050405020304" pitchFamily="18" charset="0"/>
              </a:rPr>
              <a:t>c</a:t>
            </a:r>
            <a:r>
              <a:rPr lang="en-US" altLang="zh-CN" sz="2000" i="1" baseline="-30000" dirty="0" err="1">
                <a:latin typeface="Times New Roman" panose="02020603050405020304" pitchFamily="18" charset="0"/>
              </a:rPr>
              <a:t>ij</a:t>
            </a:r>
            <a:r>
              <a:rPr lang="zh-CN" altLang="en-US" sz="2000" dirty="0">
                <a:latin typeface="Times New Roman" panose="02020603050405020304" pitchFamily="18" charset="0"/>
              </a:rPr>
              <a:t>的具体数值见</a:t>
            </a:r>
            <a:r>
              <a:rPr lang="zh-CN" altLang="en-US" sz="2000" dirty="0" smtClean="0">
                <a:latin typeface="Times New Roman" panose="02020603050405020304" pitchFamily="18" charset="0"/>
              </a:rPr>
              <a:t>表</a:t>
            </a:r>
            <a:r>
              <a:rPr lang="en-US" altLang="zh-CN" sz="2000" dirty="0" smtClean="0">
                <a:latin typeface="Times New Roman" panose="02020603050405020304" pitchFamily="18" charset="0"/>
              </a:rPr>
              <a:t>4-31</a:t>
            </a:r>
            <a:r>
              <a:rPr lang="zh-CN" altLang="en-US" sz="2000" dirty="0" smtClean="0">
                <a:latin typeface="Times New Roman" panose="02020603050405020304" pitchFamily="18" charset="0"/>
              </a:rPr>
              <a:t>。</a:t>
            </a:r>
            <a:endParaRPr lang="zh-CN" altLang="en-US" sz="2000" dirty="0">
              <a:latin typeface="Times New Roman" panose="02020603050405020304" pitchFamily="18" charset="0"/>
            </a:endParaRPr>
          </a:p>
          <a:p>
            <a:pPr lvl="1"/>
            <a:endParaRPr lang="en-US" altLang="zh-CN" dirty="0"/>
          </a:p>
          <a:p>
            <a:pPr lvl="2"/>
            <a:endParaRPr lang="en-US" altLang="zh-CN" sz="1600" dirty="0" smtClean="0">
              <a:latin typeface="Times New Roman" panose="02020603050405020304" pitchFamily="18" charset="0"/>
            </a:endParaRPr>
          </a:p>
          <a:p>
            <a:pPr marL="1314450" lvl="3" indent="0">
              <a:buNone/>
            </a:pPr>
            <a:endParaRPr lang="en-US" altLang="zh-CN" dirty="0" smtClean="0"/>
          </a:p>
          <a:p>
            <a:endParaRPr lang="zh-CN" altLang="en-US" dirty="0"/>
          </a:p>
          <a:p>
            <a:endParaRPr lang="zh-CN" altLang="en-US" dirty="0"/>
          </a:p>
        </p:txBody>
      </p:sp>
      <p:graphicFrame>
        <p:nvGraphicFramePr>
          <p:cNvPr id="11" name="Object 4">
            <a:extLst>
              <a:ext uri="{FF2B5EF4-FFF2-40B4-BE49-F238E27FC236}">
                <a16:creationId xmlns:a16="http://schemas.microsoft.com/office/drawing/2014/main" id="{6AFAA560-CCF9-464E-BC59-CDA2D8B3D483}"/>
              </a:ext>
            </a:extLst>
          </p:cNvPr>
          <p:cNvGraphicFramePr>
            <a:graphicFrameLocks noChangeAspect="1"/>
          </p:cNvGraphicFramePr>
          <p:nvPr>
            <p:extLst>
              <p:ext uri="{D42A27DB-BD31-4B8C-83A1-F6EECF244321}">
                <p14:modId xmlns:p14="http://schemas.microsoft.com/office/powerpoint/2010/main" val="238135355"/>
              </p:ext>
            </p:extLst>
          </p:nvPr>
        </p:nvGraphicFramePr>
        <p:xfrm>
          <a:off x="181781" y="1838787"/>
          <a:ext cx="4347106" cy="1440160"/>
        </p:xfrm>
        <a:graphic>
          <a:graphicData uri="http://schemas.openxmlformats.org/presentationml/2006/ole">
            <mc:AlternateContent xmlns:mc="http://schemas.openxmlformats.org/markup-compatibility/2006">
              <mc:Choice xmlns:v="urn:schemas-microsoft-com:vml" Requires="v">
                <p:oleObj spid="_x0000_s743880" name="Document" r:id="rId3" imgW="3116659" imgH="1171412" progId="Word.Document.8">
                  <p:embed/>
                </p:oleObj>
              </mc:Choice>
              <mc:Fallback>
                <p:oleObj name="Document" r:id="rId3" imgW="3116659" imgH="1171412" progId="Word.Document.8">
                  <p:embed/>
                  <p:pic>
                    <p:nvPicPr>
                      <p:cNvPr id="11" name="Object 4">
                        <a:extLst>
                          <a:ext uri="{FF2B5EF4-FFF2-40B4-BE49-F238E27FC236}">
                            <a16:creationId xmlns:a16="http://schemas.microsoft.com/office/drawing/2014/main" id="{6AFAA560-CCF9-464E-BC59-CDA2D8B3D483}"/>
                          </a:ext>
                        </a:extLst>
                      </p:cNvPr>
                      <p:cNvPicPr>
                        <a:picLocks noChangeAspect="1" noChangeArrowheads="1"/>
                      </p:cNvPicPr>
                      <p:nvPr/>
                    </p:nvPicPr>
                    <p:blipFill>
                      <a:blip r:embed="rId4"/>
                      <a:srcRect/>
                      <a:stretch>
                        <a:fillRect/>
                      </a:stretch>
                    </p:blipFill>
                    <p:spPr bwMode="auto">
                      <a:xfrm>
                        <a:off x="181781" y="1838787"/>
                        <a:ext cx="4347106" cy="1440160"/>
                      </a:xfrm>
                      <a:prstGeom prst="rect">
                        <a:avLst/>
                      </a:prstGeom>
                      <a:noFill/>
                      <a:ln>
                        <a:noFill/>
                      </a:ln>
                      <a:effectLst/>
                      <a:extLst/>
                    </p:spPr>
                  </p:pic>
                </p:oleObj>
              </mc:Fallback>
            </mc:AlternateContent>
          </a:graphicData>
        </a:graphic>
      </p:graphicFrame>
      <p:graphicFrame>
        <p:nvGraphicFramePr>
          <p:cNvPr id="12" name="Object 6">
            <a:extLst>
              <a:ext uri="{FF2B5EF4-FFF2-40B4-BE49-F238E27FC236}">
                <a16:creationId xmlns:a16="http://schemas.microsoft.com/office/drawing/2014/main" id="{64619FFE-BD08-4058-8200-4F6BCB687D3E}"/>
              </a:ext>
            </a:extLst>
          </p:cNvPr>
          <p:cNvGraphicFramePr>
            <a:graphicFrameLocks noChangeAspect="1"/>
          </p:cNvGraphicFramePr>
          <p:nvPr>
            <p:extLst>
              <p:ext uri="{D42A27DB-BD31-4B8C-83A1-F6EECF244321}">
                <p14:modId xmlns:p14="http://schemas.microsoft.com/office/powerpoint/2010/main" val="3638648568"/>
              </p:ext>
            </p:extLst>
          </p:nvPr>
        </p:nvGraphicFramePr>
        <p:xfrm>
          <a:off x="4528888" y="1820862"/>
          <a:ext cx="2298538" cy="1320106"/>
        </p:xfrm>
        <a:graphic>
          <a:graphicData uri="http://schemas.openxmlformats.org/presentationml/2006/ole">
            <mc:AlternateContent xmlns:mc="http://schemas.openxmlformats.org/markup-compatibility/2006">
              <mc:Choice xmlns:v="urn:schemas-microsoft-com:vml" Requires="v">
                <p:oleObj spid="_x0000_s743881" name="Equation" r:id="rId5" imgW="1879560" imgH="1079280" progId="Equation.3">
                  <p:embed/>
                </p:oleObj>
              </mc:Choice>
              <mc:Fallback>
                <p:oleObj name="Equation" r:id="rId5" imgW="1879560" imgH="1079280" progId="Equation.3">
                  <p:embed/>
                  <p:pic>
                    <p:nvPicPr>
                      <p:cNvPr id="12" name="Object 6">
                        <a:extLst>
                          <a:ext uri="{FF2B5EF4-FFF2-40B4-BE49-F238E27FC236}">
                            <a16:creationId xmlns:a16="http://schemas.microsoft.com/office/drawing/2014/main" id="{64619FFE-BD08-4058-8200-4F6BCB687D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8888" y="1820862"/>
                        <a:ext cx="2298538" cy="1320106"/>
                      </a:xfrm>
                      <a:prstGeom prst="rect">
                        <a:avLst/>
                      </a:prstGeom>
                      <a:noFill/>
                      <a:ln>
                        <a:noFill/>
                      </a:ln>
                      <a:effectLst/>
                      <a:extLst/>
                    </p:spPr>
                  </p:pic>
                </p:oleObj>
              </mc:Fallback>
            </mc:AlternateContent>
          </a:graphicData>
        </a:graphic>
      </p:graphicFrame>
      <p:graphicFrame>
        <p:nvGraphicFramePr>
          <p:cNvPr id="13" name="Object 6">
            <a:extLst>
              <a:ext uri="{FF2B5EF4-FFF2-40B4-BE49-F238E27FC236}">
                <a16:creationId xmlns:a16="http://schemas.microsoft.com/office/drawing/2014/main" id="{740C5EF2-3CE1-4FE3-ABFF-7A63C00DA3DE}"/>
              </a:ext>
            </a:extLst>
          </p:cNvPr>
          <p:cNvGraphicFramePr>
            <a:graphicFrameLocks noChangeAspect="1"/>
          </p:cNvGraphicFramePr>
          <p:nvPr>
            <p:extLst>
              <p:ext uri="{D42A27DB-BD31-4B8C-83A1-F6EECF244321}">
                <p14:modId xmlns:p14="http://schemas.microsoft.com/office/powerpoint/2010/main" val="4178607084"/>
              </p:ext>
            </p:extLst>
          </p:nvPr>
        </p:nvGraphicFramePr>
        <p:xfrm>
          <a:off x="6804248" y="1736491"/>
          <a:ext cx="2335560" cy="1688547"/>
        </p:xfrm>
        <a:graphic>
          <a:graphicData uri="http://schemas.openxmlformats.org/presentationml/2006/ole">
            <mc:AlternateContent xmlns:mc="http://schemas.openxmlformats.org/markup-compatibility/2006">
              <mc:Choice xmlns:v="urn:schemas-microsoft-com:vml" Requires="v">
                <p:oleObj spid="_x0000_s743882" name="Equation" r:id="rId7" imgW="1879560" imgH="1358640" progId="Equation.3">
                  <p:embed/>
                </p:oleObj>
              </mc:Choice>
              <mc:Fallback>
                <p:oleObj name="Equation" r:id="rId7" imgW="1879560" imgH="1358640" progId="Equation.3">
                  <p:embed/>
                  <p:pic>
                    <p:nvPicPr>
                      <p:cNvPr id="20" name="Object 6">
                        <a:extLst>
                          <a:ext uri="{FF2B5EF4-FFF2-40B4-BE49-F238E27FC236}">
                            <a16:creationId xmlns:a16="http://schemas.microsoft.com/office/drawing/2014/main" id="{740C5EF2-3CE1-4FE3-ABFF-7A63C00DA3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04248" y="1736491"/>
                        <a:ext cx="2335560" cy="1688547"/>
                      </a:xfrm>
                      <a:prstGeom prst="rect">
                        <a:avLst/>
                      </a:prstGeom>
                      <a:noFill/>
                      <a:ln>
                        <a:noFill/>
                      </a:ln>
                      <a:effectLst/>
                      <a:extLst/>
                    </p:spPr>
                  </p:pic>
                </p:oleObj>
              </mc:Fallback>
            </mc:AlternateContent>
          </a:graphicData>
        </a:graphic>
      </p:graphicFrame>
      <p:graphicFrame>
        <p:nvGraphicFramePr>
          <p:cNvPr id="14" name="Object 6">
            <a:extLst>
              <a:ext uri="{FF2B5EF4-FFF2-40B4-BE49-F238E27FC236}">
                <a16:creationId xmlns:a16="http://schemas.microsoft.com/office/drawing/2014/main" id="{6CCBC889-BBEA-4EFE-91FC-9E90F41C1A6B}"/>
              </a:ext>
            </a:extLst>
          </p:cNvPr>
          <p:cNvGraphicFramePr>
            <a:graphicFrameLocks noChangeAspect="1"/>
          </p:cNvGraphicFramePr>
          <p:nvPr>
            <p:extLst>
              <p:ext uri="{D42A27DB-BD31-4B8C-83A1-F6EECF244321}">
                <p14:modId xmlns:p14="http://schemas.microsoft.com/office/powerpoint/2010/main" val="3855461722"/>
              </p:ext>
            </p:extLst>
          </p:nvPr>
        </p:nvGraphicFramePr>
        <p:xfrm>
          <a:off x="1276953" y="3968064"/>
          <a:ext cx="4428880" cy="1787233"/>
        </p:xfrm>
        <a:graphic>
          <a:graphicData uri="http://schemas.openxmlformats.org/presentationml/2006/ole">
            <mc:AlternateContent xmlns:mc="http://schemas.openxmlformats.org/markup-compatibility/2006">
              <mc:Choice xmlns:v="urn:schemas-microsoft-com:vml" Requires="v">
                <p:oleObj spid="_x0000_s743883" name="Document" r:id="rId9" imgW="3102955" imgH="1369291" progId="Word.Document.8">
                  <p:embed/>
                </p:oleObj>
              </mc:Choice>
              <mc:Fallback>
                <p:oleObj name="Document" r:id="rId9" imgW="3102955" imgH="1369291" progId="Word.Document.8">
                  <p:embed/>
                  <p:pic>
                    <p:nvPicPr>
                      <p:cNvPr id="685062" name="Object 6">
                        <a:extLst>
                          <a:ext uri="{FF2B5EF4-FFF2-40B4-BE49-F238E27FC236}">
                            <a16:creationId xmlns:a16="http://schemas.microsoft.com/office/drawing/2014/main" id="{6CCBC889-BBEA-4EFE-91FC-9E90F41C1A6B}"/>
                          </a:ext>
                        </a:extLst>
                      </p:cNvPr>
                      <p:cNvPicPr>
                        <a:picLocks noChangeAspect="1" noChangeArrowheads="1"/>
                      </p:cNvPicPr>
                      <p:nvPr/>
                    </p:nvPicPr>
                    <p:blipFill>
                      <a:blip r:embed="rId10"/>
                      <a:srcRect/>
                      <a:stretch>
                        <a:fillRect/>
                      </a:stretch>
                    </p:blipFill>
                    <p:spPr bwMode="auto">
                      <a:xfrm>
                        <a:off x="1276953" y="3968064"/>
                        <a:ext cx="4428880" cy="1787233"/>
                      </a:xfrm>
                      <a:prstGeom prst="rect">
                        <a:avLst/>
                      </a:prstGeom>
                      <a:noFill/>
                      <a:ln>
                        <a:noFill/>
                      </a:ln>
                      <a:effectLst/>
                      <a:extLst/>
                    </p:spPr>
                  </p:pic>
                </p:oleObj>
              </mc:Fallback>
            </mc:AlternateContent>
          </a:graphicData>
        </a:graphic>
      </p:graphicFrame>
      <p:sp>
        <p:nvSpPr>
          <p:cNvPr id="4" name="矩形 3"/>
          <p:cNvSpPr/>
          <p:nvPr/>
        </p:nvSpPr>
        <p:spPr>
          <a:xfrm>
            <a:off x="358774" y="5686326"/>
            <a:ext cx="4789289" cy="707886"/>
          </a:xfrm>
          <a:prstGeom prst="rect">
            <a:avLst/>
          </a:prstGeom>
        </p:spPr>
        <p:txBody>
          <a:bodyPr wrap="square">
            <a:spAutoFit/>
          </a:bodyPr>
          <a:lstStyle/>
          <a:p>
            <a:pPr>
              <a:buNone/>
            </a:pPr>
            <a:r>
              <a:rPr lang="zh-CN" altLang="en-US" sz="2000" dirty="0">
                <a:latin typeface="Times New Roman" panose="02020603050405020304" pitchFamily="18" charset="0"/>
              </a:rPr>
              <a:t>设用</a:t>
            </a:r>
            <a:r>
              <a:rPr lang="en-US" altLang="zh-CN" sz="2000" i="1" dirty="0" err="1">
                <a:latin typeface="Times New Roman" panose="02020603050405020304" pitchFamily="18" charset="0"/>
              </a:rPr>
              <a:t>a</a:t>
            </a:r>
            <a:r>
              <a:rPr lang="en-US" altLang="zh-CN" sz="2000" i="1" baseline="-30000" dirty="0" err="1">
                <a:latin typeface="Times New Roman" panose="02020603050405020304" pitchFamily="18" charset="0"/>
              </a:rPr>
              <a:t>i</a:t>
            </a:r>
            <a:r>
              <a:rPr lang="zh-CN" altLang="en-US" sz="2000" dirty="0">
                <a:latin typeface="Times New Roman" panose="02020603050405020304" pitchFamily="18" charset="0"/>
              </a:rPr>
              <a:t>表示该厂第</a:t>
            </a:r>
            <a:r>
              <a:rPr lang="en-US" altLang="zh-CN" sz="2000" i="1" dirty="0" err="1">
                <a:latin typeface="Times New Roman" panose="02020603050405020304" pitchFamily="18" charset="0"/>
              </a:rPr>
              <a:t>i</a:t>
            </a:r>
            <a:r>
              <a:rPr lang="zh-CN" altLang="en-US" sz="2000" dirty="0">
                <a:latin typeface="Times New Roman" panose="02020603050405020304" pitchFamily="18" charset="0"/>
              </a:rPr>
              <a:t>季度的生产能力，</a:t>
            </a:r>
            <a:r>
              <a:rPr lang="en-US" altLang="zh-CN" sz="2000" i="1" dirty="0" err="1">
                <a:latin typeface="Times New Roman" panose="02020603050405020304" pitchFamily="18" charset="0"/>
              </a:rPr>
              <a:t>b</a:t>
            </a:r>
            <a:r>
              <a:rPr lang="en-US" altLang="zh-CN" sz="2000" i="1" baseline="-30000" dirty="0" err="1">
                <a:latin typeface="Times New Roman" panose="02020603050405020304" pitchFamily="18" charset="0"/>
              </a:rPr>
              <a:t>j</a:t>
            </a:r>
            <a:r>
              <a:rPr lang="zh-CN" altLang="en-US" sz="2000" dirty="0">
                <a:latin typeface="Times New Roman" panose="02020603050405020304" pitchFamily="18" charset="0"/>
              </a:rPr>
              <a:t>表示第</a:t>
            </a:r>
            <a:r>
              <a:rPr lang="en-US" altLang="zh-CN" sz="2000" i="1" dirty="0" err="1">
                <a:latin typeface="Times New Roman" panose="02020603050405020304" pitchFamily="18" charset="0"/>
              </a:rPr>
              <a:t>i</a:t>
            </a:r>
            <a:r>
              <a:rPr lang="zh-CN" altLang="en-US" sz="2000" dirty="0">
                <a:latin typeface="Times New Roman" panose="02020603050405020304" pitchFamily="18" charset="0"/>
              </a:rPr>
              <a:t>季度的合同供应量，则问题可写成：</a:t>
            </a:r>
            <a:endParaRPr lang="zh-CN" altLang="en-US" sz="2000" dirty="0"/>
          </a:p>
        </p:txBody>
      </p:sp>
      <p:graphicFrame>
        <p:nvGraphicFramePr>
          <p:cNvPr id="15" name="Object 5">
            <a:extLst>
              <a:ext uri="{FF2B5EF4-FFF2-40B4-BE49-F238E27FC236}">
                <a16:creationId xmlns:a16="http://schemas.microsoft.com/office/drawing/2014/main" id="{77F9557C-0D22-4843-BD3C-6B4E9ABA9D60}"/>
              </a:ext>
            </a:extLst>
          </p:cNvPr>
          <p:cNvGraphicFramePr>
            <a:graphicFrameLocks noChangeAspect="1"/>
          </p:cNvGraphicFramePr>
          <p:nvPr>
            <p:extLst>
              <p:ext uri="{D42A27DB-BD31-4B8C-83A1-F6EECF244321}">
                <p14:modId xmlns:p14="http://schemas.microsoft.com/office/powerpoint/2010/main" val="3835243761"/>
              </p:ext>
            </p:extLst>
          </p:nvPr>
        </p:nvGraphicFramePr>
        <p:xfrm>
          <a:off x="5202294" y="5654057"/>
          <a:ext cx="1989479" cy="722914"/>
        </p:xfrm>
        <a:graphic>
          <a:graphicData uri="http://schemas.openxmlformats.org/presentationml/2006/ole">
            <mc:AlternateContent xmlns:mc="http://schemas.openxmlformats.org/markup-compatibility/2006">
              <mc:Choice xmlns:v="urn:schemas-microsoft-com:vml" Requires="v">
                <p:oleObj spid="_x0000_s743884" name="Equation" r:id="rId11" imgW="1333440" imgH="545760" progId="Equation.3">
                  <p:embed/>
                </p:oleObj>
              </mc:Choice>
              <mc:Fallback>
                <p:oleObj name="Equation" r:id="rId11" imgW="1333440" imgH="545760" progId="Equation.3">
                  <p:embed/>
                  <p:pic>
                    <p:nvPicPr>
                      <p:cNvPr id="686085" name="Object 5">
                        <a:extLst>
                          <a:ext uri="{FF2B5EF4-FFF2-40B4-BE49-F238E27FC236}">
                            <a16:creationId xmlns:a16="http://schemas.microsoft.com/office/drawing/2014/main" id="{77F9557C-0D22-4843-BD3C-6B4E9ABA9D6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02294" y="5654057"/>
                        <a:ext cx="1989479" cy="722914"/>
                      </a:xfrm>
                      <a:prstGeom prst="rect">
                        <a:avLst/>
                      </a:prstGeom>
                      <a:noFill/>
                      <a:ln>
                        <a:noFill/>
                      </a:ln>
                      <a:effectLst/>
                      <a:extLst/>
                    </p:spPr>
                  </p:pic>
                </p:oleObj>
              </mc:Fallback>
            </mc:AlternateContent>
          </a:graphicData>
        </a:graphic>
      </p:graphicFrame>
      <p:graphicFrame>
        <p:nvGraphicFramePr>
          <p:cNvPr id="16" name="Object 6">
            <a:extLst>
              <a:ext uri="{FF2B5EF4-FFF2-40B4-BE49-F238E27FC236}">
                <a16:creationId xmlns:a16="http://schemas.microsoft.com/office/drawing/2014/main" id="{64CC2BEB-7406-4AD9-B3A8-0D3AB4A31F68}"/>
              </a:ext>
            </a:extLst>
          </p:cNvPr>
          <p:cNvGraphicFramePr>
            <a:graphicFrameLocks noChangeAspect="1"/>
          </p:cNvGraphicFramePr>
          <p:nvPr>
            <p:extLst>
              <p:ext uri="{D42A27DB-BD31-4B8C-83A1-F6EECF244321}">
                <p14:modId xmlns:p14="http://schemas.microsoft.com/office/powerpoint/2010/main" val="2323300470"/>
              </p:ext>
            </p:extLst>
          </p:nvPr>
        </p:nvGraphicFramePr>
        <p:xfrm>
          <a:off x="7330860" y="4373535"/>
          <a:ext cx="1202325" cy="2238667"/>
        </p:xfrm>
        <a:graphic>
          <a:graphicData uri="http://schemas.openxmlformats.org/presentationml/2006/ole">
            <mc:AlternateContent xmlns:mc="http://schemas.openxmlformats.org/markup-compatibility/2006">
              <mc:Choice xmlns:v="urn:schemas-microsoft-com:vml" Requires="v">
                <p:oleObj spid="_x0000_s743885" name="Equation" r:id="rId13" imgW="736560" imgH="1371600" progId="Equation.DSMT4">
                  <p:embed/>
                </p:oleObj>
              </mc:Choice>
              <mc:Fallback>
                <p:oleObj name="Equation" r:id="rId13" imgW="736560" imgH="1371600" progId="Equation.DSMT4">
                  <p:embed/>
                  <p:pic>
                    <p:nvPicPr>
                      <p:cNvPr id="686086" name="Object 6">
                        <a:extLst>
                          <a:ext uri="{FF2B5EF4-FFF2-40B4-BE49-F238E27FC236}">
                            <a16:creationId xmlns:a16="http://schemas.microsoft.com/office/drawing/2014/main" id="{64CC2BEB-7406-4AD9-B3A8-0D3AB4A31F68}"/>
                          </a:ext>
                        </a:extLst>
                      </p:cNvPr>
                      <p:cNvPicPr>
                        <a:picLocks noChangeAspect="1" noChangeArrowheads="1"/>
                      </p:cNvPicPr>
                      <p:nvPr/>
                    </p:nvPicPr>
                    <p:blipFill>
                      <a:blip r:embed="rId14"/>
                      <a:srcRect/>
                      <a:stretch>
                        <a:fillRect/>
                      </a:stretch>
                    </p:blipFill>
                    <p:spPr bwMode="auto">
                      <a:xfrm>
                        <a:off x="7330860" y="4373535"/>
                        <a:ext cx="1202325" cy="2238667"/>
                      </a:xfrm>
                      <a:prstGeom prst="rect">
                        <a:avLst/>
                      </a:prstGeom>
                      <a:noFill/>
                      <a:ln>
                        <a:noFill/>
                      </a:ln>
                      <a:effectLst/>
                      <a:extLst/>
                    </p:spPr>
                  </p:pic>
                </p:oleObj>
              </mc:Fallback>
            </mc:AlternateContent>
          </a:graphicData>
        </a:graphic>
      </p:graphicFrame>
      <p:sp>
        <p:nvSpPr>
          <p:cNvPr id="17" name="Rectangle 9">
            <a:extLst>
              <a:ext uri="{FF2B5EF4-FFF2-40B4-BE49-F238E27FC236}">
                <a16:creationId xmlns:a16="http://schemas.microsoft.com/office/drawing/2014/main" id="{5558B986-1AE2-488E-AC1C-F8491BCE15E4}"/>
              </a:ext>
            </a:extLst>
          </p:cNvPr>
          <p:cNvSpPr>
            <a:spLocks noChangeArrowheads="1"/>
          </p:cNvSpPr>
          <p:nvPr/>
        </p:nvSpPr>
        <p:spPr bwMode="auto">
          <a:xfrm>
            <a:off x="857013" y="1484784"/>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smtClean="0">
                <a:solidFill>
                  <a:schemeClr val="tx2"/>
                </a:solidFill>
              </a:rPr>
              <a:t>4-30</a:t>
            </a:r>
            <a:endParaRPr lang="en-US" altLang="zh-CN" sz="2000" b="0" dirty="0">
              <a:solidFill>
                <a:schemeClr val="tx2"/>
              </a:solidFill>
            </a:endParaRPr>
          </a:p>
        </p:txBody>
      </p:sp>
      <p:sp>
        <p:nvSpPr>
          <p:cNvPr id="20" name="Rectangle 9">
            <a:extLst>
              <a:ext uri="{FF2B5EF4-FFF2-40B4-BE49-F238E27FC236}">
                <a16:creationId xmlns:a16="http://schemas.microsoft.com/office/drawing/2014/main" id="{5558B986-1AE2-488E-AC1C-F8491BCE15E4}"/>
              </a:ext>
            </a:extLst>
          </p:cNvPr>
          <p:cNvSpPr>
            <a:spLocks noChangeArrowheads="1"/>
          </p:cNvSpPr>
          <p:nvPr/>
        </p:nvSpPr>
        <p:spPr bwMode="auto">
          <a:xfrm>
            <a:off x="181781" y="4322288"/>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smtClean="0">
                <a:solidFill>
                  <a:schemeClr val="tx2"/>
                </a:solidFill>
              </a:rPr>
              <a:t>4-31</a:t>
            </a:r>
            <a:endParaRPr lang="en-US" altLang="zh-CN" sz="2000" b="0" dirty="0">
              <a:solidFill>
                <a:schemeClr val="tx2"/>
              </a:solidFill>
            </a:endParaRPr>
          </a:p>
        </p:txBody>
      </p:sp>
    </p:spTree>
    <p:extLst>
      <p:ext uri="{BB962C8B-B14F-4D97-AF65-F5344CB8AC3E}">
        <p14:creationId xmlns:p14="http://schemas.microsoft.com/office/powerpoint/2010/main" val="164054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28</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81781" y="1128402"/>
            <a:ext cx="8585017" cy="5325333"/>
          </a:xfrm>
        </p:spPr>
        <p:txBody>
          <a:bodyPr/>
          <a:lstStyle/>
          <a:p>
            <a:r>
              <a:rPr lang="zh-CN" altLang="en-US" dirty="0" smtClean="0">
                <a:solidFill>
                  <a:srgbClr val="FF0000"/>
                </a:solidFill>
              </a:rPr>
              <a:t>当</a:t>
            </a:r>
            <a:r>
              <a:rPr lang="zh-CN" altLang="en-US" dirty="0">
                <a:solidFill>
                  <a:srgbClr val="FF0000"/>
                </a:solidFill>
              </a:rPr>
              <a:t>产大于销</a:t>
            </a:r>
            <a:r>
              <a:rPr lang="zh-CN" altLang="en-US" dirty="0" smtClean="0">
                <a:solidFill>
                  <a:srgbClr val="FF0000"/>
                </a:solidFill>
              </a:rPr>
              <a:t>时</a:t>
            </a:r>
            <a:endParaRPr lang="en-US" altLang="zh-CN" dirty="0" smtClean="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zh-CN" altLang="en-US" dirty="0"/>
          </a:p>
          <a:p>
            <a:endParaRPr lang="zh-CN" altLang="en-US" dirty="0"/>
          </a:p>
        </p:txBody>
      </p:sp>
      <p:sp>
        <p:nvSpPr>
          <p:cNvPr id="3" name="矩形 2"/>
          <p:cNvSpPr/>
          <p:nvPr/>
        </p:nvSpPr>
        <p:spPr>
          <a:xfrm>
            <a:off x="354763" y="2849719"/>
            <a:ext cx="8435361" cy="1446550"/>
          </a:xfrm>
          <a:prstGeom prst="rect">
            <a:avLst/>
          </a:prstGeom>
        </p:spPr>
        <p:txBody>
          <a:bodyPr wrap="square">
            <a:spAutoFit/>
          </a:bodyPr>
          <a:lstStyle/>
          <a:p>
            <a:pPr>
              <a:buNone/>
            </a:pPr>
            <a:r>
              <a:rPr lang="zh-CN" altLang="en-US" sz="2000" dirty="0">
                <a:latin typeface="Times New Roman" panose="02020603050405020304" pitchFamily="18" charset="0"/>
              </a:rPr>
              <a:t>显然，这是一个</a:t>
            </a:r>
            <a:r>
              <a:rPr lang="zh-CN" altLang="en-US" sz="2000" dirty="0">
                <a:solidFill>
                  <a:srgbClr val="FF0000"/>
                </a:solidFill>
                <a:latin typeface="Times New Roman" panose="02020603050405020304" pitchFamily="18" charset="0"/>
              </a:rPr>
              <a:t>有限制的产大于销的运输问题模型</a:t>
            </a:r>
            <a:r>
              <a:rPr lang="zh-CN" altLang="en-US" sz="2000" dirty="0" smtClean="0">
                <a:latin typeface="Times New Roman" panose="02020603050405020304" pitchFamily="18" charset="0"/>
              </a:rPr>
              <a:t>。</a:t>
            </a:r>
            <a:endParaRPr lang="en-US" altLang="zh-CN" sz="2000" dirty="0" smtClean="0">
              <a:latin typeface="Times New Roman" panose="02020603050405020304" pitchFamily="18" charset="0"/>
            </a:endParaRPr>
          </a:p>
          <a:p>
            <a:pPr>
              <a:buNone/>
            </a:pPr>
            <a:r>
              <a:rPr lang="zh-CN" altLang="en-US" sz="2000" dirty="0" smtClean="0">
                <a:latin typeface="Times New Roman" panose="02020603050405020304" pitchFamily="18" charset="0"/>
              </a:rPr>
              <a:t>本问题</a:t>
            </a:r>
            <a:r>
              <a:rPr lang="zh-CN" altLang="en-US" sz="2000" dirty="0">
                <a:latin typeface="Times New Roman" panose="02020603050405020304" pitchFamily="18" charset="0"/>
              </a:rPr>
              <a:t>中当</a:t>
            </a:r>
            <a:r>
              <a:rPr lang="en-US" altLang="zh-CN" sz="2000" i="1" dirty="0" err="1">
                <a:latin typeface="Times New Roman" panose="02020603050405020304" pitchFamily="18" charset="0"/>
              </a:rPr>
              <a:t>i</a:t>
            </a:r>
            <a:r>
              <a:rPr lang="zh-CN" altLang="en-US" sz="2000" dirty="0">
                <a:latin typeface="Times New Roman" panose="02020603050405020304" pitchFamily="18" charset="0"/>
              </a:rPr>
              <a:t>＞</a:t>
            </a:r>
            <a:r>
              <a:rPr lang="en-US" altLang="zh-CN" sz="2000" i="1" dirty="0">
                <a:latin typeface="Times New Roman" panose="02020603050405020304" pitchFamily="18" charset="0"/>
              </a:rPr>
              <a:t>j</a:t>
            </a:r>
            <a:r>
              <a:rPr lang="zh-CN" altLang="en-US" sz="2000" dirty="0">
                <a:latin typeface="Times New Roman" panose="02020603050405020304" pitchFamily="18" charset="0"/>
              </a:rPr>
              <a:t>时，</a:t>
            </a:r>
            <a:r>
              <a:rPr lang="en-US" altLang="zh-CN" sz="2000" i="1" dirty="0" err="1">
                <a:latin typeface="Times New Roman" panose="02020603050405020304" pitchFamily="18" charset="0"/>
              </a:rPr>
              <a:t>x</a:t>
            </a:r>
            <a:r>
              <a:rPr lang="en-US" altLang="zh-CN" sz="2000" i="1" baseline="-30000" dirty="0" err="1">
                <a:latin typeface="Times New Roman" panose="02020603050405020304" pitchFamily="18" charset="0"/>
              </a:rPr>
              <a:t>ij</a:t>
            </a:r>
            <a:r>
              <a:rPr lang="en-US" altLang="zh-CN" sz="2000" dirty="0">
                <a:latin typeface="Times New Roman" panose="02020603050405020304" pitchFamily="18" charset="0"/>
              </a:rPr>
              <a:t>=0</a:t>
            </a:r>
            <a:r>
              <a:rPr lang="zh-CN" altLang="en-US" sz="2000" dirty="0">
                <a:latin typeface="Times New Roman" panose="02020603050405020304" pitchFamily="18" charset="0"/>
              </a:rPr>
              <a:t>，所以应令对应的</a:t>
            </a:r>
            <a:r>
              <a:rPr lang="en-US" altLang="zh-CN" sz="2000" i="1" dirty="0" err="1">
                <a:latin typeface="Times New Roman" panose="02020603050405020304" pitchFamily="18" charset="0"/>
              </a:rPr>
              <a:t>c</a:t>
            </a:r>
            <a:r>
              <a:rPr lang="en-US" altLang="zh-CN" sz="2000" i="1" baseline="-30000" dirty="0" err="1">
                <a:latin typeface="Times New Roman" panose="02020603050405020304" pitchFamily="18" charset="0"/>
              </a:rPr>
              <a:t>ij</a:t>
            </a:r>
            <a:r>
              <a:rPr lang="en-US" altLang="zh-CN" sz="2000" dirty="0">
                <a:latin typeface="Times New Roman" panose="02020603050405020304" pitchFamily="18" charset="0"/>
              </a:rPr>
              <a:t>=</a:t>
            </a:r>
            <a:r>
              <a:rPr lang="en-US" altLang="zh-CN" sz="2000" i="1" dirty="0">
                <a:latin typeface="Times New Roman" panose="02020603050405020304" pitchFamily="18" charset="0"/>
              </a:rPr>
              <a:t>M</a:t>
            </a:r>
            <a:r>
              <a:rPr lang="zh-CN" altLang="en-US" sz="2000" dirty="0" smtClean="0">
                <a:latin typeface="Times New Roman" panose="02020603050405020304" pitchFamily="18" charset="0"/>
              </a:rPr>
              <a:t>，</a:t>
            </a:r>
            <a:endParaRPr lang="en-US" altLang="zh-CN" sz="2000" dirty="0" smtClean="0">
              <a:latin typeface="Times New Roman" panose="02020603050405020304" pitchFamily="18" charset="0"/>
            </a:endParaRPr>
          </a:p>
          <a:p>
            <a:pPr>
              <a:buNone/>
            </a:pPr>
            <a:r>
              <a:rPr lang="zh-CN" altLang="en-US" sz="2000" dirty="0" smtClean="0">
                <a:latin typeface="Times New Roman" panose="02020603050405020304" pitchFamily="18" charset="0"/>
              </a:rPr>
              <a:t>再</a:t>
            </a:r>
            <a:r>
              <a:rPr lang="zh-CN" altLang="en-US" sz="2000" dirty="0">
                <a:latin typeface="Times New Roman" panose="02020603050405020304" pitchFamily="18" charset="0"/>
              </a:rPr>
              <a:t>加上一个假想的需求</a:t>
            </a:r>
            <a:r>
              <a:rPr lang="en-US" altLang="zh-CN" sz="2000" i="1" dirty="0">
                <a:latin typeface="Times New Roman" panose="02020603050405020304" pitchFamily="18" charset="0"/>
              </a:rPr>
              <a:t>D</a:t>
            </a:r>
            <a:r>
              <a:rPr lang="zh-CN" altLang="en-US" sz="2000" dirty="0">
                <a:latin typeface="Times New Roman" panose="02020603050405020304" pitchFamily="18" charset="0"/>
              </a:rPr>
              <a:t>，就可以把这个问题变成产销平衡的运输模型，并写出产销平衡表和单位运价表</a:t>
            </a:r>
            <a:r>
              <a:rPr lang="en-US" altLang="zh-CN" sz="2000" dirty="0">
                <a:latin typeface="Times New Roman" panose="02020603050405020304" pitchFamily="18" charset="0"/>
              </a:rPr>
              <a:t>(</a:t>
            </a:r>
            <a:r>
              <a:rPr lang="zh-CN" altLang="en-US" sz="2000" dirty="0">
                <a:latin typeface="Times New Roman" panose="02020603050405020304" pitchFamily="18" charset="0"/>
              </a:rPr>
              <a:t>合在一起，见表</a:t>
            </a:r>
            <a:r>
              <a:rPr lang="en-US" altLang="zh-CN" sz="2000" dirty="0">
                <a:latin typeface="Times New Roman" panose="02020603050405020304" pitchFamily="18" charset="0"/>
              </a:rPr>
              <a:t>4-32)</a:t>
            </a:r>
            <a:r>
              <a:rPr lang="zh-CN" altLang="en-US" sz="2000" dirty="0">
                <a:latin typeface="Times New Roman" panose="02020603050405020304" pitchFamily="18" charset="0"/>
              </a:rPr>
              <a:t>。 </a:t>
            </a:r>
            <a:endParaRPr lang="zh-CN" altLang="en-US" sz="2000" dirty="0"/>
          </a:p>
        </p:txBody>
      </p:sp>
      <p:graphicFrame>
        <p:nvGraphicFramePr>
          <p:cNvPr id="17" name="Object 6">
            <a:extLst>
              <a:ext uri="{FF2B5EF4-FFF2-40B4-BE49-F238E27FC236}">
                <a16:creationId xmlns:a16="http://schemas.microsoft.com/office/drawing/2014/main" id="{A8C0AF01-FF25-417F-AC90-445412F8FDF5}"/>
              </a:ext>
            </a:extLst>
          </p:cNvPr>
          <p:cNvGraphicFramePr>
            <a:graphicFrameLocks noChangeAspect="1"/>
          </p:cNvGraphicFramePr>
          <p:nvPr>
            <p:extLst>
              <p:ext uri="{D42A27DB-BD31-4B8C-83A1-F6EECF244321}">
                <p14:modId xmlns:p14="http://schemas.microsoft.com/office/powerpoint/2010/main" val="3434090785"/>
              </p:ext>
            </p:extLst>
          </p:nvPr>
        </p:nvGraphicFramePr>
        <p:xfrm>
          <a:off x="611560" y="4350141"/>
          <a:ext cx="7585544" cy="2431073"/>
        </p:xfrm>
        <a:graphic>
          <a:graphicData uri="http://schemas.openxmlformats.org/presentationml/2006/ole">
            <mc:AlternateContent xmlns:mc="http://schemas.openxmlformats.org/markup-compatibility/2006">
              <mc:Choice xmlns:v="urn:schemas-microsoft-com:vml" Requires="v">
                <p:oleObj spid="_x0000_s744700" name="Document" r:id="rId3" imgW="4261869" imgH="1527521" progId="Word.Document.8">
                  <p:embed/>
                </p:oleObj>
              </mc:Choice>
              <mc:Fallback>
                <p:oleObj name="Document" r:id="rId3" imgW="4261869" imgH="1527521" progId="Word.Document.8">
                  <p:embed/>
                  <p:pic>
                    <p:nvPicPr>
                      <p:cNvPr id="687110" name="Object 6">
                        <a:extLst>
                          <a:ext uri="{FF2B5EF4-FFF2-40B4-BE49-F238E27FC236}">
                            <a16:creationId xmlns:a16="http://schemas.microsoft.com/office/drawing/2014/main" id="{A8C0AF01-FF25-417F-AC90-445412F8FDF5}"/>
                          </a:ext>
                        </a:extLst>
                      </p:cNvPr>
                      <p:cNvPicPr>
                        <a:picLocks noChangeAspect="1" noChangeArrowheads="1"/>
                      </p:cNvPicPr>
                      <p:nvPr/>
                    </p:nvPicPr>
                    <p:blipFill>
                      <a:blip r:embed="rId4"/>
                      <a:srcRect/>
                      <a:stretch>
                        <a:fillRect/>
                      </a:stretch>
                    </p:blipFill>
                    <p:spPr bwMode="auto">
                      <a:xfrm>
                        <a:off x="611560" y="4350141"/>
                        <a:ext cx="7585544" cy="2431073"/>
                      </a:xfrm>
                      <a:prstGeom prst="rect">
                        <a:avLst/>
                      </a:prstGeom>
                      <a:noFill/>
                      <a:ln>
                        <a:noFill/>
                      </a:ln>
                      <a:effectLst/>
                      <a:extLst/>
                    </p:spPr>
                  </p:pic>
                </p:oleObj>
              </mc:Fallback>
            </mc:AlternateContent>
          </a:graphicData>
        </a:graphic>
      </p:graphicFrame>
      <p:sp>
        <p:nvSpPr>
          <p:cNvPr id="20" name="Rectangle 9">
            <a:extLst>
              <a:ext uri="{FF2B5EF4-FFF2-40B4-BE49-F238E27FC236}">
                <a16:creationId xmlns:a16="http://schemas.microsoft.com/office/drawing/2014/main" id="{5558B986-1AE2-488E-AC1C-F8491BCE15E4}"/>
              </a:ext>
            </a:extLst>
          </p:cNvPr>
          <p:cNvSpPr>
            <a:spLocks noChangeArrowheads="1"/>
          </p:cNvSpPr>
          <p:nvPr/>
        </p:nvSpPr>
        <p:spPr bwMode="auto">
          <a:xfrm>
            <a:off x="-100518" y="5504096"/>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smtClean="0">
                <a:solidFill>
                  <a:schemeClr val="tx2"/>
                </a:solidFill>
              </a:rPr>
              <a:t>4-32</a:t>
            </a:r>
            <a:endParaRPr lang="en-US" altLang="zh-CN" sz="2000" b="0" dirty="0">
              <a:solidFill>
                <a:schemeClr val="tx2"/>
              </a:solidFill>
            </a:endParaRPr>
          </a:p>
        </p:txBody>
      </p:sp>
      <p:graphicFrame>
        <p:nvGraphicFramePr>
          <p:cNvPr id="13" name="Object 5">
            <a:extLst>
              <a:ext uri="{FF2B5EF4-FFF2-40B4-BE49-F238E27FC236}">
                <a16:creationId xmlns:a16="http://schemas.microsoft.com/office/drawing/2014/main" id="{77F9557C-0D22-4843-BD3C-6B4E9ABA9D60}"/>
              </a:ext>
            </a:extLst>
          </p:cNvPr>
          <p:cNvGraphicFramePr>
            <a:graphicFrameLocks noChangeAspect="1"/>
          </p:cNvGraphicFramePr>
          <p:nvPr>
            <p:extLst>
              <p:ext uri="{D42A27DB-BD31-4B8C-83A1-F6EECF244321}">
                <p14:modId xmlns:p14="http://schemas.microsoft.com/office/powerpoint/2010/main" val="13250646"/>
              </p:ext>
            </p:extLst>
          </p:nvPr>
        </p:nvGraphicFramePr>
        <p:xfrm>
          <a:off x="811297" y="1652861"/>
          <a:ext cx="2392551" cy="869378"/>
        </p:xfrm>
        <a:graphic>
          <a:graphicData uri="http://schemas.openxmlformats.org/presentationml/2006/ole">
            <mc:AlternateContent xmlns:mc="http://schemas.openxmlformats.org/markup-compatibility/2006">
              <mc:Choice xmlns:v="urn:schemas-microsoft-com:vml" Requires="v">
                <p:oleObj spid="_x0000_s744701" name="Equation" r:id="rId5" imgW="1333440" imgH="545760" progId="Equation.3">
                  <p:embed/>
                </p:oleObj>
              </mc:Choice>
              <mc:Fallback>
                <p:oleObj name="Equation" r:id="rId5" imgW="1333440" imgH="545760" progId="Equation.3">
                  <p:embed/>
                  <p:pic>
                    <p:nvPicPr>
                      <p:cNvPr id="15" name="Object 5">
                        <a:extLst>
                          <a:ext uri="{FF2B5EF4-FFF2-40B4-BE49-F238E27FC236}">
                            <a16:creationId xmlns:a16="http://schemas.microsoft.com/office/drawing/2014/main" id="{77F9557C-0D22-4843-BD3C-6B4E9ABA9D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297" y="1652861"/>
                        <a:ext cx="2392551" cy="869378"/>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sp>
            <p:nvSpPr>
              <p:cNvPr id="4" name="矩形 3"/>
              <p:cNvSpPr/>
              <p:nvPr/>
            </p:nvSpPr>
            <p:spPr>
              <a:xfrm>
                <a:off x="3486147" y="1169988"/>
                <a:ext cx="3212902" cy="1771832"/>
              </a:xfrm>
              <a:prstGeom prst="rect">
                <a:avLst/>
              </a:prstGeom>
            </p:spPr>
            <p:txBody>
              <a:bodyPr wrap="square">
                <a:spAutoFit/>
              </a:bodyPr>
              <a:lstStyle/>
              <a:p>
                <a14:m>
                  <m:oMath xmlns:m="http://schemas.openxmlformats.org/officeDocument/2006/math">
                    <m:m>
                      <m:mPr>
                        <m:mcs>
                          <m:mc>
                            <m:mcPr>
                              <m:count m:val="1"/>
                              <m:mcJc m:val="center"/>
                            </m:mcPr>
                          </m:mc>
                        </m:mcs>
                        <m:ctrlPr>
                          <a:rPr lang="zh-CN" altLang="en-US" sz="2000" i="1">
                            <a:latin typeface="Cambria Math" panose="02040503050406030204" pitchFamily="18" charset="0"/>
                          </a:rPr>
                        </m:ctrlPr>
                      </m:mPr>
                      <m:mr>
                        <m:e>
                          <m:nary>
                            <m:naryPr>
                              <m:chr m:val="∑"/>
                              <m:limLoc m:val="undOvr"/>
                              <m:grow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𝑗</m:t>
                              </m:r>
                              <m:r>
                                <a:rPr lang="zh-CN" altLang="en-US" sz="2000" i="0">
                                  <a:latin typeface="Cambria Math" panose="02040503050406030204" pitchFamily="18" charset="0"/>
                                </a:rPr>
                                <m:t>=1</m:t>
                              </m:r>
                            </m:sub>
                            <m:sup>
                              <m:r>
                                <a:rPr lang="zh-CN" altLang="en-US" sz="2000" i="0">
                                  <a:latin typeface="Cambria Math" panose="02040503050406030204" pitchFamily="18" charset="0"/>
                                </a:rPr>
                                <m:t>4</m:t>
                              </m:r>
                            </m:sup>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𝑖𝑗</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𝑎</m:t>
                                  </m:r>
                                </m:e>
                                <m:sub>
                                  <m:r>
                                    <a:rPr lang="zh-CN" altLang="en-US" sz="2000" i="1">
                                      <a:latin typeface="Cambria Math" panose="02040503050406030204" pitchFamily="18" charset="0"/>
                                    </a:rPr>
                                    <m:t>𝑖</m:t>
                                  </m:r>
                                </m:sub>
                              </m:sSub>
                            </m:e>
                          </m:nary>
                        </m:e>
                      </m:mr>
                      <m:mr>
                        <m:e>
                          <m:nary>
                            <m:naryPr>
                              <m:chr m:val="∑"/>
                              <m:limLoc m:val="undOvr"/>
                              <m:grow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=1</m:t>
                              </m:r>
                            </m:sub>
                            <m:sup>
                              <m:r>
                                <a:rPr lang="zh-CN" altLang="en-US" sz="2000" i="0">
                                  <a:latin typeface="Cambria Math" panose="02040503050406030204" pitchFamily="18" charset="0"/>
                                </a:rPr>
                                <m:t>4</m:t>
                              </m:r>
                            </m:sup>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𝑖𝑗</m:t>
                                  </m:r>
                                </m:sub>
                              </m:sSub>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𝑏</m:t>
                                  </m:r>
                                </m:e>
                                <m:sub>
                                  <m:r>
                                    <a:rPr lang="zh-CN" altLang="en-US" sz="2000" i="1">
                                      <a:latin typeface="Cambria Math" panose="02040503050406030204" pitchFamily="18" charset="0"/>
                                    </a:rPr>
                                    <m:t>𝑗</m:t>
                                  </m:r>
                                </m:sub>
                              </m:sSub>
                            </m:e>
                          </m:nary>
                        </m:e>
                      </m:mr>
                      <m:m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𝑖𝑗</m:t>
                              </m:r>
                            </m:sub>
                          </m:sSub>
                          <m:r>
                            <a:rPr lang="zh-CN" altLang="en-US" sz="2000" i="0">
                              <a:latin typeface="Cambria Math" panose="02040503050406030204" pitchFamily="18" charset="0"/>
                            </a:rPr>
                            <m:t>≥0</m:t>
                          </m:r>
                        </m:e>
                      </m:mr>
                    </m:m>
                  </m:oMath>
                </a14:m>
                <a:endParaRPr lang="zh-CN" altLang="en-US" sz="2000" dirty="0"/>
              </a:p>
            </p:txBody>
          </p:sp>
        </mc:Choice>
        <mc:Fallback xmlns="">
          <p:sp>
            <p:nvSpPr>
              <p:cNvPr id="4" name="矩形 3"/>
              <p:cNvSpPr>
                <a:spLocks noRot="1" noChangeAspect="1" noMove="1" noResize="1" noEditPoints="1" noAdjustHandles="1" noChangeArrowheads="1" noChangeShapeType="1" noTextEdit="1"/>
              </p:cNvSpPr>
              <p:nvPr/>
            </p:nvSpPr>
            <p:spPr>
              <a:xfrm>
                <a:off x="3486147" y="1169988"/>
                <a:ext cx="3212902" cy="1771832"/>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950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29</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81781" y="1128402"/>
            <a:ext cx="8585017" cy="5325333"/>
          </a:xfrm>
        </p:spPr>
        <p:txBody>
          <a:bodyPr/>
          <a:lstStyle/>
          <a:p>
            <a:r>
              <a:rPr lang="zh-CN" altLang="en-US" dirty="0" smtClean="0">
                <a:solidFill>
                  <a:srgbClr val="FF0000"/>
                </a:solidFill>
              </a:rPr>
              <a:t>当</a:t>
            </a:r>
            <a:r>
              <a:rPr lang="zh-CN" altLang="en-US" dirty="0">
                <a:solidFill>
                  <a:srgbClr val="FF0000"/>
                </a:solidFill>
              </a:rPr>
              <a:t>产大于销</a:t>
            </a:r>
            <a:r>
              <a:rPr lang="zh-CN" altLang="en-US" dirty="0" smtClean="0">
                <a:solidFill>
                  <a:srgbClr val="FF0000"/>
                </a:solidFill>
              </a:rPr>
              <a:t>时</a:t>
            </a:r>
            <a:endParaRPr lang="en-US" altLang="zh-CN" dirty="0" smtClean="0">
              <a:solidFill>
                <a:srgbClr val="FF0000"/>
              </a:solidFill>
            </a:endParaRPr>
          </a:p>
          <a:p>
            <a:endParaRPr lang="en-US" altLang="zh-CN" dirty="0" smtClean="0">
              <a:solidFill>
                <a:srgbClr val="FF0000"/>
              </a:solidFill>
            </a:endParaRPr>
          </a:p>
          <a:p>
            <a:endParaRPr lang="en-US" altLang="zh-CN" dirty="0">
              <a:solidFill>
                <a:srgbClr val="FF0000"/>
              </a:solidFill>
            </a:endParaRPr>
          </a:p>
          <a:p>
            <a:endParaRPr lang="en-US" altLang="zh-CN" dirty="0" smtClean="0">
              <a:solidFill>
                <a:srgbClr val="FF0000"/>
              </a:solidFill>
            </a:endParaRPr>
          </a:p>
          <a:p>
            <a:endParaRPr lang="en-US" altLang="zh-CN" dirty="0">
              <a:solidFill>
                <a:srgbClr val="FF0000"/>
              </a:solidFill>
            </a:endParaRPr>
          </a:p>
          <a:p>
            <a:pPr lvl="2"/>
            <a:endParaRPr lang="en-US" altLang="zh-CN" sz="1600" dirty="0" smtClean="0">
              <a:latin typeface="Times New Roman" panose="02020603050405020304" pitchFamily="18" charset="0"/>
            </a:endParaRPr>
          </a:p>
          <a:p>
            <a:pPr marL="1314450" lvl="3" indent="0">
              <a:buNone/>
            </a:pPr>
            <a:endParaRPr lang="en-US" altLang="zh-CN" dirty="0" smtClean="0"/>
          </a:p>
          <a:p>
            <a:endParaRPr lang="zh-CN" altLang="en-US" dirty="0"/>
          </a:p>
          <a:p>
            <a:endParaRPr lang="zh-CN" altLang="en-US" dirty="0"/>
          </a:p>
        </p:txBody>
      </p:sp>
      <p:sp>
        <p:nvSpPr>
          <p:cNvPr id="3" name="矩形 2"/>
          <p:cNvSpPr/>
          <p:nvPr/>
        </p:nvSpPr>
        <p:spPr>
          <a:xfrm>
            <a:off x="15875" y="3412166"/>
            <a:ext cx="9144000" cy="1077218"/>
          </a:xfrm>
          <a:prstGeom prst="rect">
            <a:avLst/>
          </a:prstGeom>
        </p:spPr>
        <p:txBody>
          <a:bodyPr wrap="square">
            <a:spAutoFit/>
          </a:bodyPr>
          <a:lstStyle/>
          <a:p>
            <a:pPr>
              <a:buNone/>
            </a:pPr>
            <a:r>
              <a:rPr lang="zh-CN" altLang="en-US" sz="2000" dirty="0" smtClean="0">
                <a:latin typeface="Times New Roman" panose="02020603050405020304" pitchFamily="18" charset="0"/>
              </a:rPr>
              <a:t>用</a:t>
            </a:r>
            <a:r>
              <a:rPr lang="zh-CN" altLang="en-US" sz="2000" dirty="0">
                <a:latin typeface="Times New Roman" panose="02020603050405020304" pitchFamily="18" charset="0"/>
              </a:rPr>
              <a:t>表上作业法</a:t>
            </a:r>
            <a:r>
              <a:rPr lang="zh-CN" altLang="en-US" sz="2000" dirty="0" smtClean="0">
                <a:latin typeface="Times New Roman" panose="02020603050405020304" pitchFamily="18" charset="0"/>
              </a:rPr>
              <a:t>求解可</a:t>
            </a:r>
            <a:r>
              <a:rPr lang="zh-CN" altLang="en-US" sz="2000" dirty="0">
                <a:latin typeface="Times New Roman" panose="02020603050405020304" pitchFamily="18" charset="0"/>
              </a:rPr>
              <a:t>得多个最优方案，</a:t>
            </a:r>
            <a:r>
              <a:rPr lang="zh-CN" altLang="en-US" sz="2000" dirty="0" smtClean="0">
                <a:latin typeface="Times New Roman" panose="02020603050405020304" pitchFamily="18" charset="0"/>
              </a:rPr>
              <a:t>表</a:t>
            </a:r>
            <a:r>
              <a:rPr lang="en-US" altLang="zh-CN" sz="2000" dirty="0" smtClean="0">
                <a:latin typeface="Times New Roman" panose="02020603050405020304" pitchFamily="18" charset="0"/>
              </a:rPr>
              <a:t>4-33</a:t>
            </a:r>
            <a:r>
              <a:rPr lang="zh-CN" altLang="en-US" sz="2000" dirty="0" smtClean="0">
                <a:latin typeface="Times New Roman" panose="02020603050405020304" pitchFamily="18" charset="0"/>
              </a:rPr>
              <a:t>中</a:t>
            </a:r>
            <a:r>
              <a:rPr lang="zh-CN" altLang="en-US" sz="2000" dirty="0">
                <a:latin typeface="Times New Roman" panose="02020603050405020304" pitchFamily="18" charset="0"/>
              </a:rPr>
              <a:t>列出最优方案之一。即第</a:t>
            </a:r>
            <a:r>
              <a:rPr lang="en-US" altLang="zh-CN" sz="2000" dirty="0">
                <a:latin typeface="Times New Roman" panose="02020603050405020304" pitchFamily="18" charset="0"/>
              </a:rPr>
              <a:t>Ⅰ</a:t>
            </a:r>
            <a:r>
              <a:rPr lang="zh-CN" altLang="en-US" sz="2000" dirty="0">
                <a:latin typeface="Times New Roman" panose="02020603050405020304" pitchFamily="18" charset="0"/>
              </a:rPr>
              <a:t>季度生产</a:t>
            </a:r>
            <a:r>
              <a:rPr lang="en-US" altLang="zh-CN" sz="2000" dirty="0">
                <a:latin typeface="Times New Roman" panose="02020603050405020304" pitchFamily="18" charset="0"/>
              </a:rPr>
              <a:t>25</a:t>
            </a:r>
            <a:r>
              <a:rPr lang="zh-CN" altLang="en-US" sz="2000" dirty="0">
                <a:latin typeface="Times New Roman" panose="02020603050405020304" pitchFamily="18" charset="0"/>
              </a:rPr>
              <a:t>台，</a:t>
            </a:r>
            <a:r>
              <a:rPr lang="en-US" altLang="zh-CN" sz="2000" dirty="0">
                <a:latin typeface="Times New Roman" panose="02020603050405020304" pitchFamily="18" charset="0"/>
              </a:rPr>
              <a:t>10</a:t>
            </a:r>
            <a:r>
              <a:rPr lang="zh-CN" altLang="en-US" sz="2000" dirty="0">
                <a:latin typeface="Times New Roman" panose="02020603050405020304" pitchFamily="18" charset="0"/>
              </a:rPr>
              <a:t>台当季交货，</a:t>
            </a:r>
            <a:r>
              <a:rPr lang="en-US" altLang="zh-CN" sz="2000" dirty="0">
                <a:latin typeface="Times New Roman" panose="02020603050405020304" pitchFamily="18" charset="0"/>
              </a:rPr>
              <a:t>15</a:t>
            </a:r>
            <a:r>
              <a:rPr lang="zh-CN" altLang="en-US" sz="2000" dirty="0">
                <a:latin typeface="Times New Roman" panose="02020603050405020304" pitchFamily="18" charset="0"/>
              </a:rPr>
              <a:t>台</a:t>
            </a:r>
            <a:r>
              <a:rPr lang="en-US" altLang="zh-CN" sz="2000" dirty="0">
                <a:latin typeface="Times New Roman" panose="02020603050405020304" pitchFamily="18" charset="0"/>
              </a:rPr>
              <a:t>Ⅱ</a:t>
            </a:r>
            <a:r>
              <a:rPr lang="zh-CN" altLang="en-US" sz="2000" dirty="0">
                <a:latin typeface="Times New Roman" panose="02020603050405020304" pitchFamily="18" charset="0"/>
              </a:rPr>
              <a:t>季度交货；</a:t>
            </a:r>
            <a:r>
              <a:rPr lang="en-US" altLang="zh-CN" sz="2000" dirty="0">
                <a:latin typeface="Times New Roman" panose="02020603050405020304" pitchFamily="18" charset="0"/>
              </a:rPr>
              <a:t>Ⅱ</a:t>
            </a:r>
            <a:r>
              <a:rPr lang="zh-CN" altLang="en-US" sz="2000" dirty="0" smtClean="0">
                <a:latin typeface="Times New Roman" panose="02020603050405020304" pitchFamily="18" charset="0"/>
              </a:rPr>
              <a:t>季度</a:t>
            </a:r>
            <a:r>
              <a:rPr lang="en-US" altLang="zh-CN" sz="2000" dirty="0" smtClean="0">
                <a:latin typeface="Times New Roman" panose="02020603050405020304" pitchFamily="18" charset="0"/>
              </a:rPr>
              <a:t>……</a:t>
            </a:r>
            <a:r>
              <a:rPr lang="zh-CN" altLang="en-US" sz="2000" dirty="0" smtClean="0">
                <a:latin typeface="Times New Roman" panose="02020603050405020304" pitchFamily="18" charset="0"/>
              </a:rPr>
              <a:t>。</a:t>
            </a:r>
            <a:endParaRPr lang="en-US" altLang="zh-CN" sz="2000" dirty="0" smtClean="0">
              <a:latin typeface="Times New Roman" panose="02020603050405020304" pitchFamily="18" charset="0"/>
            </a:endParaRPr>
          </a:p>
          <a:p>
            <a:pPr>
              <a:buNone/>
            </a:pPr>
            <a:r>
              <a:rPr lang="zh-CN" altLang="en-US" sz="2000" dirty="0" smtClean="0">
                <a:latin typeface="Times New Roman" panose="02020603050405020304" pitchFamily="18" charset="0"/>
              </a:rPr>
              <a:t>按</a:t>
            </a:r>
            <a:r>
              <a:rPr lang="zh-CN" altLang="en-US" sz="2000" dirty="0">
                <a:latin typeface="Times New Roman" panose="02020603050405020304" pitchFamily="18" charset="0"/>
              </a:rPr>
              <a:t>此方案生产，该厂总的生产</a:t>
            </a:r>
            <a:r>
              <a:rPr lang="en-US" altLang="zh-CN" sz="2000" dirty="0">
                <a:latin typeface="Times New Roman" panose="02020603050405020304" pitchFamily="18" charset="0"/>
              </a:rPr>
              <a:t>(</a:t>
            </a:r>
            <a:r>
              <a:rPr lang="zh-CN" altLang="en-US" sz="2000" dirty="0">
                <a:latin typeface="Times New Roman" panose="02020603050405020304" pitchFamily="18" charset="0"/>
              </a:rPr>
              <a:t>包括储存、维护</a:t>
            </a:r>
            <a:r>
              <a:rPr lang="en-US" altLang="zh-CN" sz="2000" dirty="0">
                <a:latin typeface="Times New Roman" panose="02020603050405020304" pitchFamily="18" charset="0"/>
              </a:rPr>
              <a:t>)</a:t>
            </a:r>
            <a:r>
              <a:rPr lang="zh-CN" altLang="en-US" sz="2000" dirty="0">
                <a:latin typeface="Times New Roman" panose="02020603050405020304" pitchFamily="18" charset="0"/>
              </a:rPr>
              <a:t>的费用为</a:t>
            </a:r>
            <a:r>
              <a:rPr lang="en-US" altLang="zh-CN" sz="2000" dirty="0">
                <a:latin typeface="Times New Roman" panose="02020603050405020304" pitchFamily="18" charset="0"/>
              </a:rPr>
              <a:t>773</a:t>
            </a:r>
            <a:r>
              <a:rPr lang="zh-CN" altLang="en-US" sz="2000" dirty="0">
                <a:latin typeface="Times New Roman" panose="02020603050405020304" pitchFamily="18" charset="0"/>
              </a:rPr>
              <a:t>万元。</a:t>
            </a:r>
          </a:p>
        </p:txBody>
      </p:sp>
      <p:graphicFrame>
        <p:nvGraphicFramePr>
          <p:cNvPr id="17" name="Object 6">
            <a:extLst>
              <a:ext uri="{FF2B5EF4-FFF2-40B4-BE49-F238E27FC236}">
                <a16:creationId xmlns:a16="http://schemas.microsoft.com/office/drawing/2014/main" id="{A8C0AF01-FF25-417F-AC90-445412F8FDF5}"/>
              </a:ext>
            </a:extLst>
          </p:cNvPr>
          <p:cNvGraphicFramePr>
            <a:graphicFrameLocks noChangeAspect="1"/>
          </p:cNvGraphicFramePr>
          <p:nvPr>
            <p:extLst>
              <p:ext uri="{D42A27DB-BD31-4B8C-83A1-F6EECF244321}">
                <p14:modId xmlns:p14="http://schemas.microsoft.com/office/powerpoint/2010/main" val="111234874"/>
              </p:ext>
            </p:extLst>
          </p:nvPr>
        </p:nvGraphicFramePr>
        <p:xfrm>
          <a:off x="539552" y="1551234"/>
          <a:ext cx="6662666" cy="2135302"/>
        </p:xfrm>
        <a:graphic>
          <a:graphicData uri="http://schemas.openxmlformats.org/presentationml/2006/ole">
            <mc:AlternateContent xmlns:mc="http://schemas.openxmlformats.org/markup-compatibility/2006">
              <mc:Choice xmlns:v="urn:schemas-microsoft-com:vml" Requires="v">
                <p:oleObj spid="_x0000_s745602" name="Document" r:id="rId3" imgW="4261869" imgH="1527521" progId="Word.Document.8">
                  <p:embed/>
                </p:oleObj>
              </mc:Choice>
              <mc:Fallback>
                <p:oleObj name="Document" r:id="rId3" imgW="4261869" imgH="1527521" progId="Word.Document.8">
                  <p:embed/>
                  <p:pic>
                    <p:nvPicPr>
                      <p:cNvPr id="17" name="Object 6">
                        <a:extLst>
                          <a:ext uri="{FF2B5EF4-FFF2-40B4-BE49-F238E27FC236}">
                            <a16:creationId xmlns:a16="http://schemas.microsoft.com/office/drawing/2014/main" id="{A8C0AF01-FF25-417F-AC90-445412F8FDF5}"/>
                          </a:ext>
                        </a:extLst>
                      </p:cNvPr>
                      <p:cNvPicPr>
                        <a:picLocks noChangeAspect="1" noChangeArrowheads="1"/>
                      </p:cNvPicPr>
                      <p:nvPr/>
                    </p:nvPicPr>
                    <p:blipFill>
                      <a:blip r:embed="rId4"/>
                      <a:srcRect/>
                      <a:stretch>
                        <a:fillRect/>
                      </a:stretch>
                    </p:blipFill>
                    <p:spPr bwMode="auto">
                      <a:xfrm>
                        <a:off x="539552" y="1551234"/>
                        <a:ext cx="6662666" cy="2135302"/>
                      </a:xfrm>
                      <a:prstGeom prst="rect">
                        <a:avLst/>
                      </a:prstGeom>
                      <a:noFill/>
                      <a:ln>
                        <a:noFill/>
                      </a:ln>
                      <a:effectLst/>
                      <a:extLst/>
                    </p:spPr>
                  </p:pic>
                </p:oleObj>
              </mc:Fallback>
            </mc:AlternateContent>
          </a:graphicData>
        </a:graphic>
      </p:graphicFrame>
      <p:graphicFrame>
        <p:nvGraphicFramePr>
          <p:cNvPr id="12" name="Object 5">
            <a:extLst>
              <a:ext uri="{FF2B5EF4-FFF2-40B4-BE49-F238E27FC236}">
                <a16:creationId xmlns:a16="http://schemas.microsoft.com/office/drawing/2014/main" id="{3952067B-D866-4531-A70A-A43784512544}"/>
              </a:ext>
            </a:extLst>
          </p:cNvPr>
          <p:cNvGraphicFramePr>
            <a:graphicFrameLocks noChangeAspect="1"/>
          </p:cNvGraphicFramePr>
          <p:nvPr>
            <p:extLst>
              <p:ext uri="{D42A27DB-BD31-4B8C-83A1-F6EECF244321}">
                <p14:modId xmlns:p14="http://schemas.microsoft.com/office/powerpoint/2010/main" val="397085618"/>
              </p:ext>
            </p:extLst>
          </p:nvPr>
        </p:nvGraphicFramePr>
        <p:xfrm>
          <a:off x="880426" y="4414837"/>
          <a:ext cx="5815012" cy="2443163"/>
        </p:xfrm>
        <a:graphic>
          <a:graphicData uri="http://schemas.openxmlformats.org/presentationml/2006/ole">
            <mc:AlternateContent xmlns:mc="http://schemas.openxmlformats.org/markup-compatibility/2006">
              <mc:Choice xmlns:v="urn:schemas-microsoft-com:vml" Requires="v">
                <p:oleObj spid="_x0000_s745603" name="Document" r:id="rId5" imgW="3747512" imgH="1578343" progId="Word.Document.8">
                  <p:embed/>
                </p:oleObj>
              </mc:Choice>
              <mc:Fallback>
                <p:oleObj name="Document" r:id="rId5" imgW="3747512" imgH="1578343" progId="Word.Document.8">
                  <p:embed/>
                  <p:pic>
                    <p:nvPicPr>
                      <p:cNvPr id="688133" name="Object 5">
                        <a:extLst>
                          <a:ext uri="{FF2B5EF4-FFF2-40B4-BE49-F238E27FC236}">
                            <a16:creationId xmlns:a16="http://schemas.microsoft.com/office/drawing/2014/main" id="{3952067B-D866-4531-A70A-A43784512544}"/>
                          </a:ext>
                        </a:extLst>
                      </p:cNvPr>
                      <p:cNvPicPr>
                        <a:picLocks noChangeAspect="1" noChangeArrowheads="1"/>
                      </p:cNvPicPr>
                      <p:nvPr/>
                    </p:nvPicPr>
                    <p:blipFill>
                      <a:blip r:embed="rId6"/>
                      <a:srcRect/>
                      <a:stretch>
                        <a:fillRect/>
                      </a:stretch>
                    </p:blipFill>
                    <p:spPr bwMode="auto">
                      <a:xfrm>
                        <a:off x="880426" y="4414837"/>
                        <a:ext cx="5815012" cy="2443163"/>
                      </a:xfrm>
                      <a:prstGeom prst="rect">
                        <a:avLst/>
                      </a:prstGeom>
                      <a:noFill/>
                      <a:ln>
                        <a:noFill/>
                      </a:ln>
                      <a:effectLst/>
                      <a:extLst/>
                    </p:spPr>
                  </p:pic>
                </p:oleObj>
              </mc:Fallback>
            </mc:AlternateContent>
          </a:graphicData>
        </a:graphic>
      </p:graphicFrame>
      <p:sp>
        <p:nvSpPr>
          <p:cNvPr id="13" name="Rectangle 9">
            <a:extLst>
              <a:ext uri="{FF2B5EF4-FFF2-40B4-BE49-F238E27FC236}">
                <a16:creationId xmlns:a16="http://schemas.microsoft.com/office/drawing/2014/main" id="{5558B986-1AE2-488E-AC1C-F8491BCE15E4}"/>
              </a:ext>
            </a:extLst>
          </p:cNvPr>
          <p:cNvSpPr>
            <a:spLocks noChangeArrowheads="1"/>
          </p:cNvSpPr>
          <p:nvPr/>
        </p:nvSpPr>
        <p:spPr bwMode="auto">
          <a:xfrm>
            <a:off x="-80070" y="5341309"/>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smtClean="0">
                <a:solidFill>
                  <a:schemeClr val="tx2"/>
                </a:solidFill>
              </a:rPr>
              <a:t>4-33</a:t>
            </a:r>
            <a:endParaRPr lang="en-US" altLang="zh-CN" sz="2000" b="0" dirty="0">
              <a:solidFill>
                <a:schemeClr val="tx2"/>
              </a:solidFill>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E090FDA5-ED8C-47DD-A6C5-C0B7541BCB3B}"/>
                  </a:ext>
                </a:extLst>
              </p:cNvPr>
              <p:cNvSpPr/>
              <p:nvPr/>
            </p:nvSpPr>
            <p:spPr>
              <a:xfrm>
                <a:off x="6695438" y="4414837"/>
                <a:ext cx="2748399" cy="2116285"/>
              </a:xfrm>
              <a:prstGeom prst="rect">
                <a:avLst/>
              </a:prstGeom>
            </p:spPr>
            <p:txBody>
              <a:bodyPr wrap="square">
                <a:spAutoFit/>
              </a:bodyPr>
              <a:lstStyle/>
              <a:p>
                <a14:m>
                  <m:oMath xmlns:m="http://schemas.openxmlformats.org/officeDocument/2006/math">
                    <m:r>
                      <a:rPr lang="zh-CN" altLang="en-US" sz="1800" b="0" smtClean="0">
                        <a:latin typeface="Cambria Math" panose="02040503050406030204" pitchFamily="18" charset="0"/>
                      </a:rPr>
                      <m:t>总运费</m:t>
                    </m:r>
                    <m:r>
                      <a:rPr lang="zh-CN" altLang="en-US" sz="1800" b="0" smtClean="0">
                        <a:latin typeface="Cambria Math" panose="02040503050406030204" pitchFamily="18" charset="0"/>
                      </a:rPr>
                      <m:t>=</m:t>
                    </m:r>
                    <m:nary>
                      <m:naryPr>
                        <m:chr m:val="∑"/>
                        <m:limLoc m:val="undOvr"/>
                        <m:ctrlPr>
                          <a:rPr lang="zh-CN" altLang="en-US" sz="1800" b="0" i="1">
                            <a:latin typeface="Cambria Math" panose="02040503050406030204" pitchFamily="18" charset="0"/>
                          </a:rPr>
                        </m:ctrlPr>
                      </m:naryPr>
                      <m:sub>
                        <m:r>
                          <a:rPr lang="zh-CN" altLang="en-US" sz="1800" b="0" i="1">
                            <a:latin typeface="Cambria Math" panose="02040503050406030204" pitchFamily="18" charset="0"/>
                          </a:rPr>
                          <m:t>𝑖</m:t>
                        </m:r>
                        <m:r>
                          <a:rPr lang="zh-CN" altLang="en-US" sz="1800" b="0">
                            <a:latin typeface="Cambria Math" panose="02040503050406030204" pitchFamily="18" charset="0"/>
                          </a:rPr>
                          <m:t>=1</m:t>
                        </m:r>
                      </m:sub>
                      <m:sup>
                        <m:r>
                          <a:rPr lang="en-US" altLang="zh-CN" sz="1800" b="0" i="0" smtClean="0">
                            <a:latin typeface="Cambria Math" panose="02040503050406030204" pitchFamily="18" charset="0"/>
                          </a:rPr>
                          <m:t>4</m:t>
                        </m:r>
                      </m:sup>
                      <m:e>
                        <m:nary>
                          <m:naryPr>
                            <m:chr m:val="∑"/>
                            <m:limLoc m:val="undOvr"/>
                            <m:ctrlPr>
                              <a:rPr lang="zh-CN" altLang="en-US" sz="1800" b="0" i="1">
                                <a:latin typeface="Cambria Math" panose="02040503050406030204" pitchFamily="18" charset="0"/>
                              </a:rPr>
                            </m:ctrlPr>
                          </m:naryPr>
                          <m:sub>
                            <m:r>
                              <a:rPr lang="zh-CN" altLang="en-US" sz="1800" b="0" i="1">
                                <a:latin typeface="Cambria Math" panose="02040503050406030204" pitchFamily="18" charset="0"/>
                              </a:rPr>
                              <m:t>𝑗</m:t>
                            </m:r>
                            <m:r>
                              <a:rPr lang="zh-CN" altLang="en-US" sz="1800" b="0">
                                <a:latin typeface="Cambria Math" panose="02040503050406030204" pitchFamily="18" charset="0"/>
                              </a:rPr>
                              <m:t>=1</m:t>
                            </m:r>
                          </m:sub>
                          <m:sup>
                            <m:r>
                              <a:rPr lang="en-US" altLang="zh-CN" sz="1800" b="0" i="0" smtClean="0">
                                <a:latin typeface="Cambria Math" panose="02040503050406030204" pitchFamily="18" charset="0"/>
                              </a:rPr>
                              <m:t>5</m:t>
                            </m:r>
                          </m:sup>
                          <m:e>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𝑐</m:t>
                                </m:r>
                              </m:e>
                              <m:sub>
                                <m:r>
                                  <a:rPr lang="zh-CN" altLang="en-US" sz="1800" b="0" i="1">
                                    <a:latin typeface="Cambria Math" panose="02040503050406030204" pitchFamily="18" charset="0"/>
                                  </a:rPr>
                                  <m:t>𝑖𝑗</m:t>
                                </m:r>
                              </m:sub>
                            </m:sSub>
                            <m:sSub>
                              <m:sSubPr>
                                <m:ctrlPr>
                                  <a:rPr lang="zh-CN" altLang="en-US" sz="1800" b="0" i="1">
                                    <a:latin typeface="Cambria Math" panose="02040503050406030204" pitchFamily="18" charset="0"/>
                                  </a:rPr>
                                </m:ctrlPr>
                              </m:sSubPr>
                              <m:e>
                                <m:r>
                                  <a:rPr lang="zh-CN" altLang="en-US" sz="1800" b="0" i="1">
                                    <a:latin typeface="Cambria Math" panose="02040503050406030204" pitchFamily="18" charset="0"/>
                                  </a:rPr>
                                  <m:t>𝑥</m:t>
                                </m:r>
                              </m:e>
                              <m:sub>
                                <m:r>
                                  <a:rPr lang="zh-CN" altLang="en-US" sz="1800" b="0" i="1">
                                    <a:latin typeface="Cambria Math" panose="02040503050406030204" pitchFamily="18" charset="0"/>
                                  </a:rPr>
                                  <m:t>𝑖𝑗</m:t>
                                </m:r>
                              </m:sub>
                            </m:sSub>
                          </m:e>
                        </m:nary>
                      </m:e>
                    </m:nary>
                  </m:oMath>
                </a14:m>
                <a:endParaRPr lang="en-US" altLang="zh-CN" sz="1800" b="0" i="1" dirty="0" smtClean="0">
                  <a:latin typeface="Cambria Math" panose="02040503050406030204" pitchFamily="18" charset="0"/>
                </a:endParaRPr>
              </a:p>
              <a:p>
                <a14:m>
                  <m:oMath xmlns:m="http://schemas.openxmlformats.org/officeDocument/2006/math">
                    <m:r>
                      <a:rPr lang="zh-CN" altLang="en-US" sz="1800" b="0">
                        <a:latin typeface="Cambria Math" panose="02040503050406030204" pitchFamily="18" charset="0"/>
                      </a:rPr>
                      <m:t>=1</m:t>
                    </m:r>
                    <m:r>
                      <a:rPr lang="en-US" altLang="zh-CN" sz="1800" b="0" i="0" smtClean="0">
                        <a:latin typeface="Cambria Math" panose="02040503050406030204" pitchFamily="18" charset="0"/>
                      </a:rPr>
                      <m:t>0.8</m:t>
                    </m:r>
                    <m:r>
                      <a:rPr lang="zh-CN" altLang="en-US" sz="1800" b="0">
                        <a:latin typeface="Cambria Math" panose="02040503050406030204" pitchFamily="18" charset="0"/>
                      </a:rPr>
                      <m:t>×</m:t>
                    </m:r>
                    <m:r>
                      <a:rPr lang="en-US" altLang="zh-CN" sz="1800" b="0" i="0" smtClean="0">
                        <a:latin typeface="Cambria Math" panose="02040503050406030204" pitchFamily="18" charset="0"/>
                      </a:rPr>
                      <m:t>10</m:t>
                    </m:r>
                    <m:r>
                      <a:rPr lang="zh-CN" altLang="en-US" sz="1800" b="0">
                        <a:latin typeface="Cambria Math" panose="02040503050406030204" pitchFamily="18" charset="0"/>
                      </a:rPr>
                      <m:t>+</m:t>
                    </m:r>
                    <m:r>
                      <a:rPr lang="en-US" altLang="zh-CN" sz="1800" b="0" i="0" smtClean="0">
                        <a:latin typeface="Cambria Math" panose="02040503050406030204" pitchFamily="18" charset="0"/>
                      </a:rPr>
                      <m:t>10.95</m:t>
                    </m:r>
                    <m:r>
                      <a:rPr lang="zh-CN" altLang="en-US" sz="1800" b="0">
                        <a:latin typeface="Cambria Math" panose="02040503050406030204" pitchFamily="18" charset="0"/>
                      </a:rPr>
                      <m:t>×</m:t>
                    </m:r>
                    <m:r>
                      <a:rPr lang="en-US" altLang="zh-CN" sz="1800" b="0" i="0" smtClean="0">
                        <a:latin typeface="Cambria Math" panose="02040503050406030204" pitchFamily="18" charset="0"/>
                      </a:rPr>
                      <m:t>15</m:t>
                    </m:r>
                    <m:r>
                      <a:rPr lang="zh-CN" altLang="en-US" sz="1800" b="0">
                        <a:latin typeface="Cambria Math" panose="02040503050406030204" pitchFamily="18" charset="0"/>
                      </a:rPr>
                      <m:t>+</m:t>
                    </m:r>
                    <m:r>
                      <a:rPr lang="en-US" altLang="zh-CN" sz="1800" b="0" i="0" smtClean="0">
                        <a:latin typeface="Cambria Math" panose="02040503050406030204" pitchFamily="18" charset="0"/>
                      </a:rPr>
                      <m:t>11.25</m:t>
                    </m:r>
                    <m:r>
                      <a:rPr lang="zh-CN" altLang="en-US" sz="1800" b="0">
                        <a:latin typeface="Cambria Math" panose="02040503050406030204" pitchFamily="18" charset="0"/>
                      </a:rPr>
                      <m:t>×</m:t>
                    </m:r>
                    <m:r>
                      <a:rPr lang="en-US" altLang="zh-CN" sz="1800" b="0" i="0" smtClean="0">
                        <a:latin typeface="Cambria Math" panose="02040503050406030204" pitchFamily="18" charset="0"/>
                      </a:rPr>
                      <m:t>5</m:t>
                    </m:r>
                    <m:r>
                      <a:rPr lang="zh-CN" altLang="en-US" sz="1800" b="0">
                        <a:latin typeface="Cambria Math" panose="02040503050406030204" pitchFamily="18" charset="0"/>
                      </a:rPr>
                      <m:t>+1</m:t>
                    </m:r>
                    <m:r>
                      <a:rPr lang="en-US" altLang="zh-CN" sz="1800" b="0" i="0" smtClean="0">
                        <a:latin typeface="Cambria Math" panose="02040503050406030204" pitchFamily="18" charset="0"/>
                      </a:rPr>
                      <m:t>1</m:t>
                    </m:r>
                    <m:r>
                      <a:rPr lang="zh-CN" altLang="en-US" sz="1800" b="0">
                        <a:latin typeface="Cambria Math" panose="02040503050406030204" pitchFamily="18" charset="0"/>
                      </a:rPr>
                      <m:t>×</m:t>
                    </m:r>
                    <m:r>
                      <a:rPr lang="en-US" altLang="zh-CN" sz="1800" b="0" i="0" smtClean="0">
                        <a:latin typeface="Cambria Math" panose="02040503050406030204" pitchFamily="18" charset="0"/>
                      </a:rPr>
                      <m:t>20</m:t>
                    </m:r>
                    <m:r>
                      <a:rPr lang="zh-CN" altLang="en-US" sz="1800" b="0">
                        <a:latin typeface="Cambria Math" panose="02040503050406030204" pitchFamily="18" charset="0"/>
                      </a:rPr>
                      <m:t>+</m:t>
                    </m:r>
                    <m:r>
                      <a:rPr lang="en-US" altLang="zh-CN" sz="1800" b="0" i="0" smtClean="0">
                        <a:latin typeface="Cambria Math" panose="02040503050406030204" pitchFamily="18" charset="0"/>
                      </a:rPr>
                      <m:t>11.15</m:t>
                    </m:r>
                    <m:r>
                      <a:rPr lang="zh-CN" altLang="en-US" sz="1800" b="0">
                        <a:latin typeface="Cambria Math" panose="02040503050406030204" pitchFamily="18" charset="0"/>
                      </a:rPr>
                      <m:t>×</m:t>
                    </m:r>
                    <m:r>
                      <a:rPr lang="en-US" altLang="zh-CN" sz="1800" b="0" i="0" smtClean="0">
                        <a:latin typeface="Cambria Math" panose="02040503050406030204" pitchFamily="18" charset="0"/>
                      </a:rPr>
                      <m:t>10+11.30</m:t>
                    </m:r>
                    <m:r>
                      <a:rPr lang="zh-CN" altLang="en-US" sz="1800" b="0">
                        <a:latin typeface="Cambria Math" panose="02040503050406030204" pitchFamily="18" charset="0"/>
                      </a:rPr>
                      <m:t>×</m:t>
                    </m:r>
                    <m:r>
                      <a:rPr lang="en-US" altLang="zh-CN" sz="1800" b="0" i="0" smtClean="0">
                        <a:latin typeface="Cambria Math" panose="02040503050406030204" pitchFamily="18" charset="0"/>
                      </a:rPr>
                      <m:t>10</m:t>
                    </m:r>
                    <m:r>
                      <a:rPr lang="zh-CN" altLang="en-US" sz="1800" b="0">
                        <a:latin typeface="Cambria Math" panose="02040503050406030204" pitchFamily="18" charset="0"/>
                      </a:rPr>
                      <m:t>=</m:t>
                    </m:r>
                    <m:r>
                      <a:rPr lang="en-US" altLang="zh-CN" sz="1800" b="0" i="1" smtClean="0">
                        <a:latin typeface="Cambria Math" panose="02040503050406030204" pitchFamily="18" charset="0"/>
                      </a:rPr>
                      <m:t>773</m:t>
                    </m:r>
                    <m:r>
                      <a:rPr lang="zh-CN" altLang="en-US" sz="1800" b="0">
                        <a:latin typeface="Cambria Math" panose="02040503050406030204" pitchFamily="18" charset="0"/>
                      </a:rPr>
                      <m:t>（</m:t>
                    </m:r>
                    <m:r>
                      <a:rPr lang="zh-CN" altLang="en-US" sz="1800" b="0" i="1" smtClean="0">
                        <a:latin typeface="Cambria Math" panose="02040503050406030204" pitchFamily="18" charset="0"/>
                      </a:rPr>
                      <m:t>万</m:t>
                    </m:r>
                    <m:r>
                      <a:rPr lang="zh-CN" altLang="en-US" sz="1800" b="0">
                        <a:latin typeface="Cambria Math" panose="02040503050406030204" pitchFamily="18" charset="0"/>
                      </a:rPr>
                      <m:t>元）</m:t>
                    </m:r>
                  </m:oMath>
                </a14:m>
                <a:endParaRPr lang="zh-CN" altLang="en-US" sz="1800" b="0" dirty="0"/>
              </a:p>
            </p:txBody>
          </p:sp>
        </mc:Choice>
        <mc:Fallback xmlns="">
          <p:sp>
            <p:nvSpPr>
              <p:cNvPr id="10" name="矩形 9">
                <a:extLst>
                  <a:ext uri="{FF2B5EF4-FFF2-40B4-BE49-F238E27FC236}">
                    <a16:creationId xmlns:a16="http://schemas.microsoft.com/office/drawing/2014/main" id="{E090FDA5-ED8C-47DD-A6C5-C0B7541BCB3B}"/>
                  </a:ext>
                </a:extLst>
              </p:cNvPr>
              <p:cNvSpPr>
                <a:spLocks noRot="1" noChangeAspect="1" noMove="1" noResize="1" noEditPoints="1" noAdjustHandles="1" noChangeArrowheads="1" noChangeShapeType="1" noTextEdit="1"/>
              </p:cNvSpPr>
              <p:nvPr/>
            </p:nvSpPr>
            <p:spPr>
              <a:xfrm>
                <a:off x="6695438" y="4414837"/>
                <a:ext cx="2748399" cy="2116285"/>
              </a:xfrm>
              <a:prstGeom prst="rect">
                <a:avLst/>
              </a:prstGeom>
              <a:blipFill>
                <a:blip r:embed="rId7"/>
                <a:stretch>
                  <a:fillRect l="-12195" t="-7205" b="-2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089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30</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63447" y="1227848"/>
            <a:ext cx="8585017" cy="4114800"/>
          </a:xfrm>
        </p:spPr>
        <p:txBody>
          <a:bodyPr/>
          <a:lstStyle/>
          <a:p>
            <a:r>
              <a:rPr lang="zh-CN" altLang="en-US" dirty="0" smtClean="0">
                <a:solidFill>
                  <a:srgbClr val="FF0000"/>
                </a:solidFill>
              </a:rPr>
              <a:t>当销大于</a:t>
            </a:r>
            <a:r>
              <a:rPr lang="zh-CN" altLang="en-US" dirty="0">
                <a:solidFill>
                  <a:srgbClr val="FF0000"/>
                </a:solidFill>
              </a:rPr>
              <a:t>产</a:t>
            </a:r>
            <a:r>
              <a:rPr lang="zh-CN" altLang="en-US" dirty="0" smtClean="0">
                <a:solidFill>
                  <a:srgbClr val="FF0000"/>
                </a:solidFill>
              </a:rPr>
              <a:t>时</a:t>
            </a:r>
            <a:r>
              <a:rPr lang="en-US" altLang="zh-CN" dirty="0" smtClean="0">
                <a:solidFill>
                  <a:srgbClr val="FF0000"/>
                </a:solidFill>
              </a:rPr>
              <a:t>  </a:t>
            </a:r>
          </a:p>
          <a:p>
            <a:pPr lvl="1"/>
            <a:r>
              <a:rPr lang="zh-CN" altLang="en-US" sz="2000" dirty="0" smtClean="0"/>
              <a:t>可以</a:t>
            </a:r>
            <a:r>
              <a:rPr lang="zh-CN" altLang="en-US" sz="2000" dirty="0"/>
              <a:t>在产销平衡表中增加一个</a:t>
            </a:r>
            <a:r>
              <a:rPr lang="zh-CN" altLang="en-US" sz="2000" dirty="0">
                <a:solidFill>
                  <a:srgbClr val="FF0000"/>
                </a:solidFill>
              </a:rPr>
              <a:t>假想的产地</a:t>
            </a:r>
            <a:r>
              <a:rPr lang="en-US" altLang="zh-CN" sz="2000" i="1" dirty="0" err="1">
                <a:solidFill>
                  <a:srgbClr val="FF0000"/>
                </a:solidFill>
              </a:rPr>
              <a:t>i</a:t>
            </a:r>
            <a:r>
              <a:rPr lang="en-US" altLang="zh-CN" sz="2000" dirty="0">
                <a:solidFill>
                  <a:srgbClr val="FF0000"/>
                </a:solidFill>
              </a:rPr>
              <a:t>=</a:t>
            </a:r>
            <a:r>
              <a:rPr lang="en-US" altLang="zh-CN" sz="2000" i="1" dirty="0">
                <a:solidFill>
                  <a:srgbClr val="FF0000"/>
                </a:solidFill>
              </a:rPr>
              <a:t>m</a:t>
            </a:r>
            <a:r>
              <a:rPr lang="en-US" altLang="zh-CN" sz="2000" dirty="0">
                <a:solidFill>
                  <a:srgbClr val="FF0000"/>
                </a:solidFill>
              </a:rPr>
              <a:t>+1</a:t>
            </a:r>
            <a:r>
              <a:rPr lang="zh-CN" altLang="en-US" sz="2000" dirty="0"/>
              <a:t>，该地产量</a:t>
            </a:r>
            <a:r>
              <a:rPr lang="zh-CN" altLang="en-US" sz="2000" dirty="0" smtClean="0"/>
              <a:t>为</a:t>
            </a:r>
            <a:r>
              <a:rPr lang="en-US" altLang="zh-CN" sz="2000" dirty="0" smtClean="0"/>
              <a:t>:</a:t>
            </a:r>
          </a:p>
          <a:p>
            <a:pPr lvl="1"/>
            <a:endParaRPr lang="en-US" altLang="zh-CN" sz="2000" dirty="0">
              <a:ea typeface="楷体_GB2312" pitchFamily="1" charset="-122"/>
            </a:endParaRPr>
          </a:p>
          <a:p>
            <a:pPr lvl="1"/>
            <a:endParaRPr lang="en-US" altLang="zh-CN" sz="2000" dirty="0" smtClean="0"/>
          </a:p>
          <a:p>
            <a:pPr lvl="1"/>
            <a:r>
              <a:rPr lang="zh-CN" altLang="en-US" sz="2000" dirty="0" smtClean="0">
                <a:ea typeface="楷体_GB2312" pitchFamily="1" charset="-122"/>
              </a:rPr>
              <a:t>在单位</a:t>
            </a:r>
            <a:r>
              <a:rPr lang="zh-CN" altLang="en-US" sz="2000" dirty="0">
                <a:ea typeface="楷体_GB2312" pitchFamily="1" charset="-122"/>
              </a:rPr>
              <a:t>运价表上令从该假想产地到各销地的</a:t>
            </a:r>
            <a:r>
              <a:rPr lang="zh-CN" altLang="en-US" sz="2000" dirty="0" smtClean="0">
                <a:ea typeface="楷体_GB2312" pitchFamily="1" charset="-122"/>
              </a:rPr>
              <a:t>运价为</a:t>
            </a:r>
            <a:r>
              <a:rPr lang="en-US" altLang="zh-CN" sz="2000" dirty="0" smtClean="0">
                <a:ea typeface="楷体_GB2312" pitchFamily="1" charset="-122"/>
              </a:rPr>
              <a:t>0</a:t>
            </a:r>
            <a:r>
              <a:rPr lang="zh-CN" altLang="en-US" sz="2000" dirty="0" smtClean="0">
                <a:ea typeface="楷体_GB2312" pitchFamily="1" charset="-122"/>
              </a:rPr>
              <a:t>，同样</a:t>
            </a:r>
            <a:r>
              <a:rPr lang="zh-CN" altLang="en-US" sz="2000" dirty="0">
                <a:ea typeface="楷体_GB2312" pitchFamily="1" charset="-122"/>
              </a:rPr>
              <a:t>可以转化为一个产销平衡的运输问题。 </a:t>
            </a:r>
            <a:endParaRPr lang="en-US" altLang="zh-CN" sz="2000" dirty="0" smtClean="0">
              <a:ea typeface="楷体_GB2312" pitchFamily="1" charset="-122"/>
            </a:endParaRPr>
          </a:p>
          <a:p>
            <a:pPr lvl="1"/>
            <a:r>
              <a:rPr lang="zh-CN" altLang="en-US" sz="2000" dirty="0" smtClean="0"/>
              <a:t>此时运输模型为：</a:t>
            </a:r>
            <a:endParaRPr lang="zh-CN" altLang="en-US" sz="2000" dirty="0">
              <a:ea typeface="楷体_GB2312" pitchFamily="1" charset="-122"/>
            </a:endParaRPr>
          </a:p>
          <a:p>
            <a:pPr lvl="1"/>
            <a:endParaRPr lang="en-US" altLang="zh-CN" sz="2000" dirty="0"/>
          </a:p>
          <a:p>
            <a:pPr marL="857250" lvl="2" indent="0">
              <a:buNone/>
            </a:pPr>
            <a:r>
              <a:rPr lang="zh-CN" altLang="en-US" sz="1600" dirty="0" smtClean="0"/>
              <a:t>    </a:t>
            </a:r>
            <a:endParaRPr lang="zh-CN" altLang="en-US" dirty="0"/>
          </a:p>
        </p:txBody>
      </p:sp>
      <p:graphicFrame>
        <p:nvGraphicFramePr>
          <p:cNvPr id="11" name="Object 9">
            <a:extLst>
              <a:ext uri="{FF2B5EF4-FFF2-40B4-BE49-F238E27FC236}">
                <a16:creationId xmlns:a16="http://schemas.microsoft.com/office/drawing/2014/main" id="{B0F96C54-BD82-41FD-8B3F-1F937ECB185D}"/>
              </a:ext>
            </a:extLst>
          </p:cNvPr>
          <p:cNvGraphicFramePr>
            <a:graphicFrameLocks noChangeAspect="1"/>
          </p:cNvGraphicFramePr>
          <p:nvPr>
            <p:extLst>
              <p:ext uri="{D42A27DB-BD31-4B8C-83A1-F6EECF244321}">
                <p14:modId xmlns:p14="http://schemas.microsoft.com/office/powerpoint/2010/main" val="4037066799"/>
              </p:ext>
            </p:extLst>
          </p:nvPr>
        </p:nvGraphicFramePr>
        <p:xfrm>
          <a:off x="2555776" y="1988840"/>
          <a:ext cx="1368425" cy="817563"/>
        </p:xfrm>
        <a:graphic>
          <a:graphicData uri="http://schemas.openxmlformats.org/presentationml/2006/ole">
            <mc:AlternateContent xmlns:mc="http://schemas.openxmlformats.org/markup-compatibility/2006">
              <mc:Choice xmlns:v="urn:schemas-microsoft-com:vml" Requires="v">
                <p:oleObj spid="_x0000_s732290" name="Equation" r:id="rId3" imgW="914400" imgH="545760" progId="Equation.3">
                  <p:embed/>
                </p:oleObj>
              </mc:Choice>
              <mc:Fallback>
                <p:oleObj name="Equation" r:id="rId3" imgW="914400" imgH="545760" progId="Equation.3">
                  <p:embed/>
                  <p:pic>
                    <p:nvPicPr>
                      <p:cNvPr id="672777" name="Object 9">
                        <a:extLst>
                          <a:ext uri="{FF2B5EF4-FFF2-40B4-BE49-F238E27FC236}">
                            <a16:creationId xmlns:a16="http://schemas.microsoft.com/office/drawing/2014/main" id="{B0F96C54-BD82-41FD-8B3F-1F937ECB18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1988840"/>
                        <a:ext cx="1368425" cy="81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9">
            <a:extLst>
              <a:ext uri="{FF2B5EF4-FFF2-40B4-BE49-F238E27FC236}">
                <a16:creationId xmlns:a16="http://schemas.microsoft.com/office/drawing/2014/main" id="{BE74966B-8ED7-436B-A4D6-ED504516156A}"/>
              </a:ext>
            </a:extLst>
          </p:cNvPr>
          <p:cNvGraphicFramePr>
            <a:graphicFrameLocks noChangeAspect="1"/>
          </p:cNvGraphicFramePr>
          <p:nvPr>
            <p:extLst>
              <p:ext uri="{D42A27DB-BD31-4B8C-83A1-F6EECF244321}">
                <p14:modId xmlns:p14="http://schemas.microsoft.com/office/powerpoint/2010/main" val="4117396881"/>
              </p:ext>
            </p:extLst>
          </p:nvPr>
        </p:nvGraphicFramePr>
        <p:xfrm>
          <a:off x="899592" y="4165160"/>
          <a:ext cx="2695733" cy="914109"/>
        </p:xfrm>
        <a:graphic>
          <a:graphicData uri="http://schemas.openxmlformats.org/presentationml/2006/ole">
            <mc:AlternateContent xmlns:mc="http://schemas.openxmlformats.org/markup-compatibility/2006">
              <mc:Choice xmlns:v="urn:schemas-microsoft-com:vml" Requires="v">
                <p:oleObj spid="_x0000_s732291" name="Equation" r:id="rId5" imgW="1168200" imgH="444240" progId="Equation.DSMT4">
                  <p:embed/>
                </p:oleObj>
              </mc:Choice>
              <mc:Fallback>
                <p:oleObj name="Equation" r:id="rId5" imgW="1168200" imgH="444240" progId="Equation.DSMT4">
                  <p:embed/>
                  <p:pic>
                    <p:nvPicPr>
                      <p:cNvPr id="15" name="Object 9">
                        <a:extLst>
                          <a:ext uri="{FF2B5EF4-FFF2-40B4-BE49-F238E27FC236}">
                            <a16:creationId xmlns:a16="http://schemas.microsoft.com/office/drawing/2014/main" id="{BE74966B-8ED7-436B-A4D6-ED504516156A}"/>
                          </a:ext>
                        </a:extLst>
                      </p:cNvPr>
                      <p:cNvPicPr>
                        <a:picLocks noChangeAspect="1" noChangeArrowheads="1"/>
                      </p:cNvPicPr>
                      <p:nvPr/>
                    </p:nvPicPr>
                    <p:blipFill>
                      <a:blip r:embed="rId6"/>
                      <a:srcRect/>
                      <a:stretch>
                        <a:fillRect/>
                      </a:stretch>
                    </p:blipFill>
                    <p:spPr bwMode="auto">
                      <a:xfrm>
                        <a:off x="899592" y="4165160"/>
                        <a:ext cx="2695733" cy="914109"/>
                      </a:xfrm>
                      <a:prstGeom prst="rect">
                        <a:avLst/>
                      </a:prstGeom>
                      <a:noFill/>
                      <a:ln>
                        <a:noFill/>
                      </a:ln>
                      <a:effectLst/>
                      <a:extLst/>
                    </p:spPr>
                  </p:pic>
                </p:oleObj>
              </mc:Fallback>
            </mc:AlternateContent>
          </a:graphicData>
        </a:graphic>
      </p:graphicFrame>
      <mc:AlternateContent xmlns:mc="http://schemas.openxmlformats.org/markup-compatibility/2006" xmlns:a14="http://schemas.microsoft.com/office/drawing/2010/main">
        <mc:Choice Requires="a14">
          <p:sp>
            <p:nvSpPr>
              <p:cNvPr id="9" name="矩形 8"/>
              <p:cNvSpPr/>
              <p:nvPr/>
            </p:nvSpPr>
            <p:spPr>
              <a:xfrm>
                <a:off x="3928866" y="4079610"/>
                <a:ext cx="3600127" cy="1232004"/>
              </a:xfrm>
              <a:prstGeom prst="rect">
                <a:avLst/>
              </a:prstGeom>
            </p:spPr>
            <p:txBody>
              <a:bodyPr wrap="square">
                <a:spAutoFit/>
              </a:bodyPr>
              <a:lstStyle/>
              <a:p>
                <a14:m>
                  <m:oMath xmlns:m="http://schemas.openxmlformats.org/officeDocument/2006/math">
                    <m:r>
                      <a:rPr lang="zh-CN" altLang="en-US" sz="2000" b="0" i="1" smtClean="0">
                        <a:solidFill>
                          <a:srgbClr val="000000"/>
                        </a:solidFill>
                        <a:latin typeface="Cambria Math" panose="02040503050406030204" pitchFamily="18" charset="0"/>
                      </a:rPr>
                      <m:t>𝑠</m:t>
                    </m:r>
                    <m:r>
                      <a:rPr lang="zh-CN" altLang="en-US" sz="2000" b="0" i="1" smtClean="0">
                        <a:solidFill>
                          <a:srgbClr val="000000"/>
                        </a:solidFill>
                        <a:latin typeface="Cambria Math" panose="02040503050406030204" pitchFamily="18" charset="0"/>
                      </a:rPr>
                      <m:t>.</m:t>
                    </m:r>
                    <m:r>
                      <a:rPr lang="zh-CN" altLang="en-US" sz="2000" b="0" i="1" smtClean="0">
                        <a:solidFill>
                          <a:srgbClr val="000000"/>
                        </a:solidFill>
                        <a:latin typeface="Cambria Math" panose="02040503050406030204" pitchFamily="18" charset="0"/>
                      </a:rPr>
                      <m:t>𝑡</m:t>
                    </m:r>
                    <m:r>
                      <a:rPr lang="zh-CN" altLang="en-US" sz="2000" b="0" i="1" smtClean="0">
                        <a:solidFill>
                          <a:srgbClr val="000000"/>
                        </a:solidFill>
                        <a:latin typeface="Cambria Math" panose="02040503050406030204" pitchFamily="18" charset="0"/>
                      </a:rPr>
                      <m:t>.</m:t>
                    </m:r>
                    <m:d>
                      <m:dPr>
                        <m:begChr m:val="{"/>
                        <m:endChr m:val=""/>
                        <m:ctrlPr>
                          <a:rPr lang="zh-CN" altLang="en-US" sz="2000" b="0" i="1">
                            <a:solidFill>
                              <a:srgbClr val="000000"/>
                            </a:solidFill>
                            <a:latin typeface="Cambria Math" panose="02040503050406030204" pitchFamily="18" charset="0"/>
                          </a:rPr>
                        </m:ctrlPr>
                      </m:dPr>
                      <m:e>
                        <m:eqArr>
                          <m:eqArrPr>
                            <m:ctrlPr>
                              <a:rPr lang="zh-CN" altLang="en-US" sz="2000" b="0" i="1">
                                <a:solidFill>
                                  <a:srgbClr val="000000"/>
                                </a:solidFill>
                                <a:latin typeface="Cambria Math" panose="02040503050406030204" pitchFamily="18" charset="0"/>
                              </a:rPr>
                            </m:ctrlPr>
                          </m:eqArrPr>
                          <m:e>
                            <m:nary>
                              <m:naryPr>
                                <m:chr m:val="∑"/>
                                <m:ctrlPr>
                                  <a:rPr lang="zh-CN" altLang="en-US" sz="2000" b="0" i="1">
                                    <a:solidFill>
                                      <a:srgbClr val="000000"/>
                                    </a:solidFill>
                                    <a:latin typeface="Cambria Math" panose="02040503050406030204" pitchFamily="18" charset="0"/>
                                  </a:rPr>
                                </m:ctrlPr>
                              </m:naryPr>
                              <m:sub>
                                <m:r>
                                  <a:rPr lang="en-US" altLang="zh-CN" sz="2000" b="0" i="1" smtClean="0">
                                    <a:solidFill>
                                      <a:srgbClr val="000000"/>
                                    </a:solidFill>
                                    <a:latin typeface="Cambria Math" panose="02040503050406030204" pitchFamily="18" charset="0"/>
                                  </a:rPr>
                                  <m:t>𝑗</m:t>
                                </m:r>
                                <m:r>
                                  <a:rPr lang="en-US" altLang="zh-CN" sz="2000" b="0" i="1" smtClean="0">
                                    <a:solidFill>
                                      <a:srgbClr val="000000"/>
                                    </a:solidFill>
                                    <a:latin typeface="Cambria Math" panose="02040503050406030204" pitchFamily="18" charset="0"/>
                                  </a:rPr>
                                  <m:t>=1</m:t>
                                </m:r>
                              </m:sub>
                              <m:sup>
                                <m:r>
                                  <a:rPr lang="en-US" altLang="zh-CN" sz="2000" b="0" i="1" smtClean="0">
                                    <a:solidFill>
                                      <a:srgbClr val="000000"/>
                                    </a:solidFill>
                                    <a:latin typeface="Cambria Math" panose="02040503050406030204" pitchFamily="18" charset="0"/>
                                  </a:rPr>
                                  <m:t>𝑛</m:t>
                                </m:r>
                              </m:sup>
                              <m:e>
                                <m:sSub>
                                  <m:sSubPr>
                                    <m:ctrlPr>
                                      <a:rPr lang="zh-CN" altLang="en-US" sz="2000" b="0" i="1">
                                        <a:solidFill>
                                          <a:srgbClr val="000000"/>
                                        </a:solidFill>
                                        <a:latin typeface="Cambria Math" panose="02040503050406030204" pitchFamily="18" charset="0"/>
                                      </a:rPr>
                                    </m:ctrlPr>
                                  </m:sSubPr>
                                  <m:e>
                                    <m:r>
                                      <a:rPr lang="zh-CN" altLang="en-US" sz="2000" b="0" i="1">
                                        <a:solidFill>
                                          <a:srgbClr val="000000"/>
                                        </a:solidFill>
                                        <a:latin typeface="Cambria Math" panose="02040503050406030204" pitchFamily="18" charset="0"/>
                                      </a:rPr>
                                      <m:t>𝑥</m:t>
                                    </m:r>
                                  </m:e>
                                  <m:sub>
                                    <m:r>
                                      <a:rPr lang="zh-CN" altLang="en-US" sz="2000" b="0" i="1">
                                        <a:solidFill>
                                          <a:srgbClr val="000000"/>
                                        </a:solidFill>
                                        <a:latin typeface="Cambria Math" panose="02040503050406030204" pitchFamily="18" charset="0"/>
                                      </a:rPr>
                                      <m:t>𝑖𝑗</m:t>
                                    </m:r>
                                  </m:sub>
                                </m:sSub>
                                <m:r>
                                  <a:rPr lang="en-US" altLang="zh-CN" sz="2000" b="0" i="1" smtClean="0">
                                    <a:solidFill>
                                      <a:srgbClr val="000000"/>
                                    </a:solidFill>
                                    <a:latin typeface="Cambria Math" panose="02040503050406030204" pitchFamily="18" charset="0"/>
                                  </a:rPr>
                                  <m:t>=</m:t>
                                </m:r>
                                <m:sSub>
                                  <m:sSubPr>
                                    <m:ctrlPr>
                                      <a:rPr lang="zh-CN" altLang="en-US" sz="2000" b="0" i="1">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𝑎</m:t>
                                    </m:r>
                                  </m:e>
                                  <m:sub>
                                    <m:r>
                                      <a:rPr lang="en-US" altLang="zh-CN" sz="2000" b="0" i="1" smtClean="0">
                                        <a:solidFill>
                                          <a:srgbClr val="000000"/>
                                        </a:solidFill>
                                        <a:latin typeface="Cambria Math" panose="02040503050406030204" pitchFamily="18" charset="0"/>
                                      </a:rPr>
                                      <m:t>𝑖</m:t>
                                    </m:r>
                                  </m:sub>
                                </m:sSub>
                              </m:e>
                            </m:nary>
                          </m:e>
                          <m:e>
                            <m:nary>
                              <m:naryPr>
                                <m:chr m:val="∑"/>
                                <m:ctrlPr>
                                  <a:rPr lang="zh-CN" altLang="en-US" sz="2000" b="0" i="1" smtClean="0">
                                    <a:solidFill>
                                      <a:srgbClr val="000000"/>
                                    </a:solidFill>
                                    <a:latin typeface="Cambria Math" panose="02040503050406030204" pitchFamily="18" charset="0"/>
                                  </a:rPr>
                                </m:ctrlPr>
                              </m:naryPr>
                              <m:sub>
                                <m:r>
                                  <a:rPr lang="en-US" altLang="zh-CN" sz="2000" b="0" i="1" smtClean="0">
                                    <a:solidFill>
                                      <a:srgbClr val="000000"/>
                                    </a:solidFill>
                                    <a:latin typeface="Cambria Math" panose="02040503050406030204" pitchFamily="18" charset="0"/>
                                  </a:rPr>
                                  <m:t>𝑖</m:t>
                                </m:r>
                                <m:r>
                                  <a:rPr lang="zh-CN" altLang="en-US" sz="2000" b="0" i="1">
                                    <a:solidFill>
                                      <a:srgbClr val="000000"/>
                                    </a:solidFill>
                                    <a:latin typeface="Cambria Math" panose="02040503050406030204" pitchFamily="18" charset="0"/>
                                  </a:rPr>
                                  <m:t>=1</m:t>
                                </m:r>
                              </m:sub>
                              <m:sup>
                                <m:r>
                                  <a:rPr lang="en-US" altLang="zh-CN" sz="2000" b="0" i="1" smtClean="0">
                                    <a:solidFill>
                                      <a:srgbClr val="000000"/>
                                    </a:solidFill>
                                    <a:latin typeface="Cambria Math" panose="02040503050406030204" pitchFamily="18" charset="0"/>
                                  </a:rPr>
                                  <m:t>𝑚</m:t>
                                </m:r>
                                <m:r>
                                  <a:rPr lang="en-US" altLang="zh-CN" sz="2000" b="0" i="1" smtClean="0">
                                    <a:solidFill>
                                      <a:srgbClr val="000000"/>
                                    </a:solidFill>
                                    <a:latin typeface="Cambria Math" panose="02040503050406030204" pitchFamily="18" charset="0"/>
                                  </a:rPr>
                                  <m:t>+1</m:t>
                                </m:r>
                              </m:sup>
                              <m:e>
                                <m:sSub>
                                  <m:sSubPr>
                                    <m:ctrlPr>
                                      <a:rPr lang="zh-CN" altLang="en-US" sz="2000" b="0" i="1">
                                        <a:solidFill>
                                          <a:srgbClr val="000000"/>
                                        </a:solidFill>
                                        <a:latin typeface="Cambria Math" panose="02040503050406030204" pitchFamily="18" charset="0"/>
                                      </a:rPr>
                                    </m:ctrlPr>
                                  </m:sSubPr>
                                  <m:e>
                                    <m:r>
                                      <a:rPr lang="zh-CN" altLang="en-US" sz="2000" b="0" i="1">
                                        <a:solidFill>
                                          <a:srgbClr val="000000"/>
                                        </a:solidFill>
                                        <a:latin typeface="Cambria Math" panose="02040503050406030204" pitchFamily="18" charset="0"/>
                                      </a:rPr>
                                      <m:t>𝑥</m:t>
                                    </m:r>
                                  </m:e>
                                  <m:sub>
                                    <m:r>
                                      <a:rPr lang="zh-CN" altLang="en-US" sz="2000" b="0" i="1">
                                        <a:solidFill>
                                          <a:srgbClr val="000000"/>
                                        </a:solidFill>
                                        <a:latin typeface="Cambria Math" panose="02040503050406030204" pitchFamily="18" charset="0"/>
                                      </a:rPr>
                                      <m:t>𝑖𝑗</m:t>
                                    </m:r>
                                  </m:sub>
                                </m:sSub>
                                <m:r>
                                  <a:rPr lang="zh-CN" altLang="en-US" sz="2000" b="0" i="1">
                                    <a:solidFill>
                                      <a:srgbClr val="000000"/>
                                    </a:solidFill>
                                    <a:latin typeface="Cambria Math" panose="02040503050406030204" pitchFamily="18" charset="0"/>
                                  </a:rPr>
                                  <m:t>=</m:t>
                                </m:r>
                                <m:sSub>
                                  <m:sSubPr>
                                    <m:ctrlPr>
                                      <a:rPr lang="zh-CN" altLang="en-US" sz="2000" b="0" i="1">
                                        <a:solidFill>
                                          <a:srgbClr val="000000"/>
                                        </a:solidFill>
                                        <a:latin typeface="Cambria Math" panose="02040503050406030204" pitchFamily="18" charset="0"/>
                                      </a:rPr>
                                    </m:ctrlPr>
                                  </m:sSubPr>
                                  <m:e>
                                    <m:r>
                                      <a:rPr lang="en-US" altLang="zh-CN" sz="2000" b="0" i="1" smtClean="0">
                                        <a:solidFill>
                                          <a:srgbClr val="000000"/>
                                        </a:solidFill>
                                        <a:latin typeface="Cambria Math" panose="02040503050406030204" pitchFamily="18" charset="0"/>
                                      </a:rPr>
                                      <m:t>𝑏</m:t>
                                    </m:r>
                                  </m:e>
                                  <m:sub>
                                    <m:r>
                                      <a:rPr lang="en-US" altLang="zh-CN" sz="2000" b="0" i="1" smtClean="0">
                                        <a:solidFill>
                                          <a:srgbClr val="000000"/>
                                        </a:solidFill>
                                        <a:latin typeface="Cambria Math" panose="02040503050406030204" pitchFamily="18" charset="0"/>
                                      </a:rPr>
                                      <m:t>𝑗</m:t>
                                    </m:r>
                                  </m:sub>
                                </m:sSub>
                                <m:r>
                                  <a:rPr lang="zh-CN" altLang="en-US" sz="2000" b="0" i="1">
                                    <a:solidFill>
                                      <a:srgbClr val="000000"/>
                                    </a:solidFill>
                                    <a:latin typeface="Cambria Math" panose="02040503050406030204" pitchFamily="18" charset="0"/>
                                  </a:rPr>
                                  <m:t> </m:t>
                                </m:r>
                              </m:e>
                            </m:nary>
                          </m:e>
                          <m:e>
                            <m:sSub>
                              <m:sSubPr>
                                <m:ctrlPr>
                                  <a:rPr lang="zh-CN" altLang="en-US" sz="2000" b="0" i="1">
                                    <a:solidFill>
                                      <a:srgbClr val="000000"/>
                                    </a:solidFill>
                                    <a:latin typeface="Cambria Math" panose="02040503050406030204" pitchFamily="18" charset="0"/>
                                  </a:rPr>
                                </m:ctrlPr>
                              </m:sSubPr>
                              <m:e>
                                <m:r>
                                  <a:rPr lang="zh-CN" altLang="en-US" sz="2000" b="0" i="1">
                                    <a:solidFill>
                                      <a:srgbClr val="000000"/>
                                    </a:solidFill>
                                    <a:latin typeface="Cambria Math" panose="02040503050406030204" pitchFamily="18" charset="0"/>
                                  </a:rPr>
                                  <m:t>𝑥</m:t>
                                </m:r>
                              </m:e>
                              <m:sub>
                                <m:r>
                                  <a:rPr lang="zh-CN" altLang="en-US" sz="2000" b="0" i="1">
                                    <a:solidFill>
                                      <a:srgbClr val="000000"/>
                                    </a:solidFill>
                                    <a:latin typeface="Cambria Math" panose="02040503050406030204" pitchFamily="18" charset="0"/>
                                  </a:rPr>
                                  <m:t>𝑖𝑗</m:t>
                                </m:r>
                              </m:sub>
                            </m:sSub>
                            <m:r>
                              <a:rPr lang="zh-CN" altLang="en-US" sz="2000" b="0" i="1">
                                <a:solidFill>
                                  <a:srgbClr val="000000"/>
                                </a:solidFill>
                                <a:latin typeface="Cambria Math" panose="02040503050406030204" pitchFamily="18" charset="0"/>
                              </a:rPr>
                              <m:t>≥0</m:t>
                            </m:r>
                            <m:r>
                              <a:rPr lang="en-US" altLang="zh-CN" sz="2000" b="0" i="1" smtClean="0">
                                <a:solidFill>
                                  <a:srgbClr val="000000"/>
                                </a:solidFill>
                                <a:latin typeface="Cambria Math" panose="02040503050406030204" pitchFamily="18" charset="0"/>
                              </a:rPr>
                              <m:t>             </m:t>
                            </m:r>
                          </m:e>
                        </m:eqArr>
                      </m:e>
                    </m:d>
                  </m:oMath>
                </a14:m>
                <a:endParaRPr lang="zh-CN" altLang="en-US" sz="2000" b="0" dirty="0"/>
              </a:p>
            </p:txBody>
          </p:sp>
        </mc:Choice>
        <mc:Fallback xmlns="">
          <p:sp>
            <p:nvSpPr>
              <p:cNvPr id="9" name="矩形 8"/>
              <p:cNvSpPr>
                <a:spLocks noRot="1" noChangeAspect="1" noMove="1" noResize="1" noEditPoints="1" noAdjustHandles="1" noChangeArrowheads="1" noChangeShapeType="1" noTextEdit="1"/>
              </p:cNvSpPr>
              <p:nvPr/>
            </p:nvSpPr>
            <p:spPr>
              <a:xfrm>
                <a:off x="3928866" y="4079610"/>
                <a:ext cx="3600127" cy="1232004"/>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26024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31</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63447" y="1227848"/>
            <a:ext cx="8585017" cy="4114800"/>
          </a:xfrm>
        </p:spPr>
        <p:txBody>
          <a:bodyPr/>
          <a:lstStyle/>
          <a:p>
            <a:r>
              <a:rPr lang="zh-CN" altLang="en-US" dirty="0" smtClean="0">
                <a:solidFill>
                  <a:srgbClr val="FF0000"/>
                </a:solidFill>
              </a:rPr>
              <a:t>当销大于</a:t>
            </a:r>
            <a:r>
              <a:rPr lang="zh-CN" altLang="en-US" dirty="0">
                <a:solidFill>
                  <a:srgbClr val="FF0000"/>
                </a:solidFill>
              </a:rPr>
              <a:t>产</a:t>
            </a:r>
            <a:r>
              <a:rPr lang="zh-CN" altLang="en-US" dirty="0" smtClean="0">
                <a:solidFill>
                  <a:srgbClr val="FF0000"/>
                </a:solidFill>
              </a:rPr>
              <a:t>时</a:t>
            </a:r>
            <a:r>
              <a:rPr lang="en-US" altLang="zh-CN" dirty="0" smtClean="0">
                <a:solidFill>
                  <a:srgbClr val="FF0000"/>
                </a:solidFill>
              </a:rPr>
              <a:t>  </a:t>
            </a:r>
          </a:p>
          <a:p>
            <a:pPr lvl="1"/>
            <a:r>
              <a:rPr lang="zh-CN" altLang="en-US" sz="2000" dirty="0" smtClean="0"/>
              <a:t>例题</a:t>
            </a:r>
            <a:r>
              <a:rPr lang="en-US" altLang="zh-CN" sz="2000" dirty="0" smtClean="0"/>
              <a:t>4-2</a:t>
            </a:r>
            <a:r>
              <a:rPr lang="zh-CN" altLang="en-US" sz="2000" dirty="0" smtClean="0"/>
              <a:t>：有</a:t>
            </a:r>
            <a:r>
              <a:rPr lang="zh-CN" altLang="en-US" sz="2000" dirty="0"/>
              <a:t>三个化肥厂</a:t>
            </a:r>
            <a:r>
              <a:rPr lang="en-US" altLang="zh-CN" sz="2000" dirty="0"/>
              <a:t>(</a:t>
            </a:r>
            <a:r>
              <a:rPr lang="en-US" altLang="zh-CN" sz="2000" dirty="0" smtClean="0"/>
              <a:t>A,B,C</a:t>
            </a:r>
            <a:r>
              <a:rPr lang="en-US" altLang="zh-CN" sz="2000" dirty="0"/>
              <a:t>)</a:t>
            </a:r>
            <a:r>
              <a:rPr lang="zh-CN" altLang="en-US" sz="2000" dirty="0"/>
              <a:t>供应四个地区</a:t>
            </a:r>
            <a:r>
              <a:rPr lang="en-US" altLang="zh-CN" sz="2000" dirty="0"/>
              <a:t>(</a:t>
            </a:r>
            <a:r>
              <a:rPr lang="en-US" altLang="zh-CN" sz="2000" dirty="0" err="1" smtClean="0"/>
              <a:t>Ⅰ,Ⅱ,Ⅲ,Ⅳ</a:t>
            </a:r>
            <a:r>
              <a:rPr lang="en-US" altLang="zh-CN" sz="2000" dirty="0"/>
              <a:t>)</a:t>
            </a:r>
            <a:r>
              <a:rPr lang="zh-CN" altLang="en-US" sz="2000" dirty="0"/>
              <a:t>的农用化肥。假定等量的化肥在这些地区使用效果相同。各化肥厂年产量，各地区年</a:t>
            </a:r>
            <a:r>
              <a:rPr lang="zh-CN" altLang="en-US" sz="2000" dirty="0" smtClean="0"/>
              <a:t>需要量</a:t>
            </a:r>
            <a:r>
              <a:rPr lang="zh-CN" altLang="en-US" sz="2000" dirty="0"/>
              <a:t>，</a:t>
            </a:r>
            <a:r>
              <a:rPr lang="zh-CN" altLang="en-US" sz="2000" dirty="0" smtClean="0"/>
              <a:t>从</a:t>
            </a:r>
            <a:r>
              <a:rPr lang="zh-CN" altLang="en-US" sz="2000" dirty="0"/>
              <a:t>各化肥厂到各地区运送单位化肥的运价如表</a:t>
            </a:r>
            <a:r>
              <a:rPr lang="en-US" altLang="zh-CN" sz="2000" dirty="0"/>
              <a:t>4-26</a:t>
            </a:r>
            <a:r>
              <a:rPr lang="zh-CN" altLang="en-US" sz="2000" dirty="0"/>
              <a:t>所示。试求出总的运费最节省的化肥调拨方案。</a:t>
            </a:r>
          </a:p>
          <a:p>
            <a:pPr lvl="1"/>
            <a:endParaRPr lang="en-US" altLang="zh-CN" sz="2000" dirty="0">
              <a:ea typeface="楷体_GB2312" pitchFamily="1" charset="-122"/>
            </a:endParaRPr>
          </a:p>
        </p:txBody>
      </p:sp>
      <p:graphicFrame>
        <p:nvGraphicFramePr>
          <p:cNvPr id="8" name="Object 7">
            <a:extLst>
              <a:ext uri="{FF2B5EF4-FFF2-40B4-BE49-F238E27FC236}">
                <a16:creationId xmlns:a16="http://schemas.microsoft.com/office/drawing/2014/main" id="{7C4BD6DF-46E6-438A-80FD-7B082B221614}"/>
              </a:ext>
            </a:extLst>
          </p:cNvPr>
          <p:cNvGraphicFramePr>
            <a:graphicFrameLocks noChangeAspect="1"/>
          </p:cNvGraphicFramePr>
          <p:nvPr>
            <p:extLst>
              <p:ext uri="{D42A27DB-BD31-4B8C-83A1-F6EECF244321}">
                <p14:modId xmlns:p14="http://schemas.microsoft.com/office/powerpoint/2010/main" val="240211141"/>
              </p:ext>
            </p:extLst>
          </p:nvPr>
        </p:nvGraphicFramePr>
        <p:xfrm>
          <a:off x="1321070" y="3016160"/>
          <a:ext cx="6083075" cy="1820119"/>
        </p:xfrm>
        <a:graphic>
          <a:graphicData uri="http://schemas.openxmlformats.org/presentationml/2006/ole">
            <mc:AlternateContent xmlns:mc="http://schemas.openxmlformats.org/markup-compatibility/2006">
              <mc:Choice xmlns:v="urn:schemas-microsoft-com:vml" Requires="v">
                <p:oleObj spid="_x0000_s746559" name="文档" r:id="rId3" imgW="5428383" imgH="1624737" progId="Word.Document.8">
                  <p:embed/>
                </p:oleObj>
              </mc:Choice>
              <mc:Fallback>
                <p:oleObj name="文档" r:id="rId3" imgW="5428383" imgH="1624737" progId="Word.Document.8">
                  <p:embed/>
                  <p:pic>
                    <p:nvPicPr>
                      <p:cNvPr id="673799" name="Object 7">
                        <a:extLst>
                          <a:ext uri="{FF2B5EF4-FFF2-40B4-BE49-F238E27FC236}">
                            <a16:creationId xmlns:a16="http://schemas.microsoft.com/office/drawing/2014/main" id="{7C4BD6DF-46E6-438A-80FD-7B082B221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1070" y="3016160"/>
                        <a:ext cx="6083075" cy="1820119"/>
                      </a:xfrm>
                      <a:prstGeom prst="rect">
                        <a:avLst/>
                      </a:prstGeom>
                      <a:noFill/>
                      <a:ln>
                        <a:noFill/>
                      </a:ln>
                      <a:effectLst/>
                      <a:extLst/>
                    </p:spPr>
                  </p:pic>
                </p:oleObj>
              </mc:Fallback>
            </mc:AlternateContent>
          </a:graphicData>
        </a:graphic>
      </p:graphicFrame>
      <p:sp>
        <p:nvSpPr>
          <p:cNvPr id="9" name="Rectangle 5">
            <a:extLst>
              <a:ext uri="{FF2B5EF4-FFF2-40B4-BE49-F238E27FC236}">
                <a16:creationId xmlns:a16="http://schemas.microsoft.com/office/drawing/2014/main" id="{FACDF9DB-C128-4BD9-AF0C-DC1F12457B92}"/>
              </a:ext>
            </a:extLst>
          </p:cNvPr>
          <p:cNvSpPr>
            <a:spLocks noChangeArrowheads="1"/>
          </p:cNvSpPr>
          <p:nvPr/>
        </p:nvSpPr>
        <p:spPr bwMode="auto">
          <a:xfrm>
            <a:off x="107950" y="4509119"/>
            <a:ext cx="8534400" cy="1312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marL="0" indent="0" algn="just">
              <a:buNone/>
            </a:pPr>
            <a:r>
              <a:rPr lang="zh-CN" altLang="en-US" sz="1800" dirty="0">
                <a:latin typeface="宋体" panose="02010600030101010101" pitchFamily="2" charset="-122"/>
              </a:rPr>
              <a:t>解</a:t>
            </a:r>
            <a:r>
              <a:rPr lang="zh-CN" altLang="en-US" sz="1800" dirty="0" smtClean="0">
                <a:latin typeface="宋体" panose="02010600030101010101" pitchFamily="2" charset="-122"/>
              </a:rPr>
              <a:t>：</a:t>
            </a:r>
            <a:r>
              <a:rPr lang="zh-CN" altLang="en-US" sz="1800" b="0" dirty="0" smtClean="0">
                <a:latin typeface="宋体" panose="02010600030101010101" pitchFamily="2" charset="-122"/>
              </a:rPr>
              <a:t>根据</a:t>
            </a:r>
            <a:r>
              <a:rPr lang="zh-CN" altLang="en-US" sz="1800" b="0" dirty="0">
                <a:latin typeface="宋体" panose="02010600030101010101" pitchFamily="2" charset="-122"/>
              </a:rPr>
              <a:t>现有产量，第</a:t>
            </a:r>
            <a:r>
              <a:rPr lang="en-US" altLang="zh-CN" sz="1800" b="0" dirty="0">
                <a:latin typeface="宋体" panose="02010600030101010101" pitchFamily="2" charset="-122"/>
              </a:rPr>
              <a:t>Ⅳ</a:t>
            </a:r>
            <a:r>
              <a:rPr lang="zh-CN" altLang="en-US" sz="1800" b="0" dirty="0">
                <a:latin typeface="宋体" panose="02010600030101010101" pitchFamily="2" charset="-122"/>
              </a:rPr>
              <a:t>个地区每年最多能分配到</a:t>
            </a:r>
            <a:r>
              <a:rPr lang="en-US" altLang="zh-CN" sz="1800" b="0" dirty="0">
                <a:latin typeface="宋体" panose="02010600030101010101" pitchFamily="2" charset="-122"/>
              </a:rPr>
              <a:t>60</a:t>
            </a:r>
            <a:r>
              <a:rPr lang="zh-CN" altLang="en-US" sz="1800" b="0" dirty="0">
                <a:latin typeface="宋体" panose="02010600030101010101" pitchFamily="2" charset="-122"/>
              </a:rPr>
              <a:t>万吨，这样最高需求为</a:t>
            </a:r>
            <a:r>
              <a:rPr lang="en-US" altLang="zh-CN" sz="1800" b="0" dirty="0">
                <a:latin typeface="宋体" panose="02010600030101010101" pitchFamily="2" charset="-122"/>
              </a:rPr>
              <a:t>210</a:t>
            </a:r>
            <a:r>
              <a:rPr lang="zh-CN" altLang="en-US" sz="1800" b="0" dirty="0">
                <a:latin typeface="宋体" panose="02010600030101010101" pitchFamily="2" charset="-122"/>
              </a:rPr>
              <a:t>万吨，大于产量。为了求得平衡，在产销平衡表中增加一个假想的化肥厂</a:t>
            </a:r>
            <a:r>
              <a:rPr lang="en-US" altLang="zh-CN" sz="1800" b="0" dirty="0">
                <a:latin typeface="宋体" panose="02010600030101010101" pitchFamily="2" charset="-122"/>
              </a:rPr>
              <a:t>D</a:t>
            </a:r>
            <a:r>
              <a:rPr lang="zh-CN" altLang="en-US" sz="1800" b="0" dirty="0">
                <a:latin typeface="宋体" panose="02010600030101010101" pitchFamily="2" charset="-122"/>
              </a:rPr>
              <a:t>，其年产量为</a:t>
            </a:r>
            <a:r>
              <a:rPr lang="en-US" altLang="zh-CN" sz="1800" b="0" dirty="0">
                <a:latin typeface="宋体" panose="02010600030101010101" pitchFamily="2" charset="-122"/>
              </a:rPr>
              <a:t>50</a:t>
            </a:r>
            <a:r>
              <a:rPr lang="zh-CN" altLang="en-US" sz="1800" b="0" dirty="0">
                <a:latin typeface="宋体" panose="02010600030101010101" pitchFamily="2" charset="-122"/>
              </a:rPr>
              <a:t>万吨。由于各地区的需要量包含两部分，如地区</a:t>
            </a:r>
            <a:r>
              <a:rPr lang="en-US" altLang="zh-CN" sz="1800" b="0" dirty="0">
                <a:latin typeface="宋体" panose="02010600030101010101" pitchFamily="2" charset="-122"/>
              </a:rPr>
              <a:t>Ⅰ</a:t>
            </a:r>
            <a:r>
              <a:rPr lang="zh-CN" altLang="en-US" sz="1800" b="0" dirty="0">
                <a:latin typeface="宋体" panose="02010600030101010101" pitchFamily="2" charset="-122"/>
              </a:rPr>
              <a:t>，其中</a:t>
            </a:r>
            <a:r>
              <a:rPr lang="en-US" altLang="zh-CN" sz="1800" b="0" dirty="0">
                <a:latin typeface="宋体" panose="02010600030101010101" pitchFamily="2" charset="-122"/>
              </a:rPr>
              <a:t>30</a:t>
            </a:r>
            <a:r>
              <a:rPr lang="zh-CN" altLang="en-US" sz="1800" b="0" dirty="0">
                <a:latin typeface="宋体" panose="02010600030101010101" pitchFamily="2" charset="-122"/>
              </a:rPr>
              <a:t>万吨是最低需求，故不能由假想化肥厂</a:t>
            </a:r>
            <a:r>
              <a:rPr lang="en-US" altLang="zh-CN" sz="1800" b="0" dirty="0">
                <a:latin typeface="宋体" panose="02010600030101010101" pitchFamily="2" charset="-122"/>
              </a:rPr>
              <a:t>D</a:t>
            </a:r>
            <a:r>
              <a:rPr lang="zh-CN" altLang="en-US" sz="1800" b="0" dirty="0">
                <a:latin typeface="宋体" panose="02010600030101010101" pitchFamily="2" charset="-122"/>
              </a:rPr>
              <a:t>供给，令相应运价为</a:t>
            </a:r>
            <a:r>
              <a:rPr lang="en-US" altLang="zh-CN" sz="1800" b="0" dirty="0">
                <a:latin typeface="宋体" panose="02010600030101010101" pitchFamily="2" charset="-122"/>
              </a:rPr>
              <a:t>M(</a:t>
            </a:r>
            <a:r>
              <a:rPr lang="zh-CN" altLang="en-US" sz="1800" b="0" dirty="0">
                <a:latin typeface="宋体" panose="02010600030101010101" pitchFamily="2" charset="-122"/>
              </a:rPr>
              <a:t>任意大正数</a:t>
            </a:r>
            <a:r>
              <a:rPr lang="en-US" altLang="zh-CN" sz="1800" b="0" dirty="0">
                <a:latin typeface="宋体" panose="02010600030101010101" pitchFamily="2" charset="-122"/>
              </a:rPr>
              <a:t>)</a:t>
            </a:r>
            <a:r>
              <a:rPr lang="zh-CN" altLang="en-US" sz="1800" b="0" dirty="0">
                <a:latin typeface="宋体" panose="02010600030101010101" pitchFamily="2" charset="-122"/>
              </a:rPr>
              <a:t>，而另一部分</a:t>
            </a:r>
            <a:r>
              <a:rPr lang="en-US" altLang="zh-CN" sz="1800" b="0" dirty="0">
                <a:latin typeface="宋体" panose="02010600030101010101" pitchFamily="2" charset="-122"/>
              </a:rPr>
              <a:t>20</a:t>
            </a:r>
            <a:r>
              <a:rPr lang="zh-CN" altLang="en-US" sz="1800" b="0" dirty="0">
                <a:latin typeface="宋体" panose="02010600030101010101" pitchFamily="2" charset="-122"/>
              </a:rPr>
              <a:t>万吨满足或不满足均可以，因此可以由假想化肥厂</a:t>
            </a:r>
            <a:r>
              <a:rPr lang="en-US" altLang="zh-CN" sz="1800" b="0" dirty="0">
                <a:latin typeface="宋体" panose="02010600030101010101" pitchFamily="2" charset="-122"/>
              </a:rPr>
              <a:t>D</a:t>
            </a:r>
            <a:r>
              <a:rPr lang="zh-CN" altLang="en-US" sz="1800" b="0" dirty="0">
                <a:latin typeface="宋体" panose="02010600030101010101" pitchFamily="2" charset="-122"/>
              </a:rPr>
              <a:t>供给，按前面讲的，令相应运价为</a:t>
            </a:r>
            <a:r>
              <a:rPr lang="en-US" altLang="zh-CN" sz="1800" b="0" dirty="0">
                <a:latin typeface="宋体" panose="02010600030101010101" pitchFamily="2" charset="-122"/>
              </a:rPr>
              <a:t>0</a:t>
            </a:r>
            <a:r>
              <a:rPr lang="zh-CN" altLang="en-US" sz="1800" b="0" dirty="0">
                <a:latin typeface="宋体" panose="02010600030101010101" pitchFamily="2" charset="-122"/>
              </a:rPr>
              <a:t>。对凡是需求分两种情况的地区，实际上可按照两个地区看待。这样可以写出这个问题的产销平衡表</a:t>
            </a:r>
            <a:r>
              <a:rPr lang="en-US" altLang="zh-CN" sz="1800" b="0" dirty="0">
                <a:latin typeface="宋体" panose="02010600030101010101" pitchFamily="2" charset="-122"/>
              </a:rPr>
              <a:t>(</a:t>
            </a:r>
            <a:r>
              <a:rPr lang="zh-CN" altLang="en-US" sz="1800" b="0" dirty="0">
                <a:latin typeface="宋体" panose="02010600030101010101" pitchFamily="2" charset="-122"/>
              </a:rPr>
              <a:t>表</a:t>
            </a:r>
            <a:r>
              <a:rPr lang="en-US" altLang="zh-CN" sz="1800" b="0" dirty="0">
                <a:latin typeface="宋体" panose="02010600030101010101" pitchFamily="2" charset="-122"/>
              </a:rPr>
              <a:t>4-27)</a:t>
            </a:r>
            <a:r>
              <a:rPr lang="zh-CN" altLang="en-US" sz="1800" b="0" dirty="0">
                <a:latin typeface="宋体" panose="02010600030101010101" pitchFamily="2" charset="-122"/>
              </a:rPr>
              <a:t>和单位运价表</a:t>
            </a:r>
            <a:r>
              <a:rPr lang="en-US" altLang="zh-CN" sz="1800" b="0" dirty="0">
                <a:latin typeface="宋体" panose="02010600030101010101" pitchFamily="2" charset="-122"/>
              </a:rPr>
              <a:t>(</a:t>
            </a:r>
            <a:r>
              <a:rPr lang="zh-CN" altLang="en-US" sz="1800" b="0" dirty="0">
                <a:latin typeface="宋体" panose="02010600030101010101" pitchFamily="2" charset="-122"/>
              </a:rPr>
              <a:t>表</a:t>
            </a:r>
            <a:r>
              <a:rPr lang="en-US" altLang="zh-CN" sz="1800" b="0" dirty="0">
                <a:latin typeface="宋体" panose="02010600030101010101" pitchFamily="2" charset="-122"/>
              </a:rPr>
              <a:t>4-28)</a:t>
            </a:r>
            <a:r>
              <a:rPr lang="zh-CN" altLang="en-US" sz="1800" b="0" dirty="0">
                <a:latin typeface="宋体" panose="02010600030101010101" pitchFamily="2" charset="-122"/>
              </a:rPr>
              <a:t>。</a:t>
            </a:r>
            <a:endParaRPr lang="zh-CN" altLang="en-US" sz="1800" b="0" dirty="0"/>
          </a:p>
        </p:txBody>
      </p:sp>
      <p:sp>
        <p:nvSpPr>
          <p:cNvPr id="3" name="圆角矩形标注 2"/>
          <p:cNvSpPr/>
          <p:nvPr/>
        </p:nvSpPr>
        <p:spPr bwMode="auto">
          <a:xfrm>
            <a:off x="6340007" y="3169565"/>
            <a:ext cx="2304256" cy="323772"/>
          </a:xfrm>
          <a:prstGeom prst="wedgeRoundRectCallout">
            <a:avLst>
              <a:gd name="adj1" fmla="val -65341"/>
              <a:gd name="adj2" fmla="val 99213"/>
              <a:gd name="adj3" fmla="val 16667"/>
            </a:avLst>
          </a:prstGeom>
          <a:no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pPr>
              <a:spcBef>
                <a:spcPct val="0"/>
              </a:spcBef>
              <a:buClrTx/>
              <a:buSzTx/>
              <a:buNone/>
            </a:pPr>
            <a:r>
              <a:rPr lang="zh-CN" altLang="en-US" sz="2000" b="0" dirty="0">
                <a:latin typeface="Times New Roman" panose="02020603050405020304" pitchFamily="18" charset="0"/>
              </a:rPr>
              <a:t>总产量为</a:t>
            </a:r>
            <a:r>
              <a:rPr lang="en-US" altLang="zh-CN" sz="2000" b="0" dirty="0">
                <a:latin typeface="Times New Roman" panose="02020603050405020304" pitchFamily="18" charset="0"/>
              </a:rPr>
              <a:t>160</a:t>
            </a:r>
            <a:r>
              <a:rPr lang="zh-CN" altLang="en-US" sz="2000" b="0" dirty="0">
                <a:latin typeface="Times New Roman" panose="02020603050405020304" pitchFamily="18" charset="0"/>
              </a:rPr>
              <a:t>万吨</a:t>
            </a:r>
            <a:endParaRPr kumimoji="0" lang="zh-CN" altLang="en-US" sz="2000" b="0" i="0" u="none" strike="noStrike" cap="none" normalizeH="0" baseline="0" dirty="0" smtClean="0">
              <a:ln>
                <a:noFill/>
              </a:ln>
              <a:solidFill>
                <a:schemeClr val="tx1"/>
              </a:solidFill>
              <a:effectLst/>
              <a:latin typeface="Times New Roman" panose="02020603050405020304" pitchFamily="18" charset="0"/>
            </a:endParaRPr>
          </a:p>
        </p:txBody>
      </p:sp>
      <p:sp>
        <p:nvSpPr>
          <p:cNvPr id="13" name="圆角矩形标注 12"/>
          <p:cNvSpPr/>
          <p:nvPr/>
        </p:nvSpPr>
        <p:spPr bwMode="auto">
          <a:xfrm>
            <a:off x="6278156" y="3787916"/>
            <a:ext cx="2302024" cy="312215"/>
          </a:xfrm>
          <a:prstGeom prst="wedgeRoundRectCallout">
            <a:avLst>
              <a:gd name="adj1" fmla="val -68852"/>
              <a:gd name="adj2" fmla="val 108747"/>
              <a:gd name="adj3" fmla="val 16667"/>
            </a:avLst>
          </a:prstGeom>
          <a:no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pPr>
              <a:spcBef>
                <a:spcPct val="0"/>
              </a:spcBef>
              <a:buClrTx/>
              <a:buSzTx/>
              <a:buNone/>
            </a:pPr>
            <a:r>
              <a:rPr lang="zh-CN" altLang="en-US" sz="2000" b="0" dirty="0">
                <a:latin typeface="Times New Roman" panose="02020603050405020304" pitchFamily="18" charset="0"/>
              </a:rPr>
              <a:t>最低需求为</a:t>
            </a:r>
            <a:r>
              <a:rPr lang="en-US" altLang="zh-CN" sz="2000" b="0" dirty="0">
                <a:latin typeface="Times New Roman" panose="02020603050405020304" pitchFamily="18" charset="0"/>
              </a:rPr>
              <a:t>110</a:t>
            </a:r>
            <a:r>
              <a:rPr lang="zh-CN" altLang="en-US" sz="2000" b="0" dirty="0">
                <a:latin typeface="Times New Roman" panose="02020603050405020304" pitchFamily="18" charset="0"/>
              </a:rPr>
              <a:t>万吨</a:t>
            </a:r>
            <a:endParaRPr kumimoji="0" lang="zh-CN" altLang="en-US" sz="2000" b="0" i="0" u="none" strike="noStrike" cap="none" normalizeH="0" baseline="0" dirty="0" smtClean="0">
              <a:ln>
                <a:noFill/>
              </a:ln>
              <a:solidFill>
                <a:schemeClr val="tx1"/>
              </a:solidFill>
              <a:effectLst/>
              <a:latin typeface="Times New Roman" panose="02020603050405020304" pitchFamily="18" charset="0"/>
            </a:endParaRPr>
          </a:p>
        </p:txBody>
      </p:sp>
      <p:sp>
        <p:nvSpPr>
          <p:cNvPr id="14" name="圆角矩形标注 13"/>
          <p:cNvSpPr/>
          <p:nvPr/>
        </p:nvSpPr>
        <p:spPr bwMode="auto">
          <a:xfrm>
            <a:off x="6230416" y="4294285"/>
            <a:ext cx="2302024" cy="288032"/>
          </a:xfrm>
          <a:prstGeom prst="wedgeRoundRectCallout">
            <a:avLst>
              <a:gd name="adj1" fmla="val -67501"/>
              <a:gd name="adj2" fmla="val 22392"/>
              <a:gd name="adj3" fmla="val 16667"/>
            </a:avLst>
          </a:prstGeom>
          <a:noFill/>
          <a:ln w="9525" cap="flat" cmpd="sng" algn="ctr">
            <a:solidFill>
              <a:srgbClr val="366B7E"/>
            </a:solidFill>
            <a:prstDash val="solid"/>
            <a:round/>
            <a:headEnd type="none" w="med" len="med"/>
            <a:tailEnd type="none" w="med" len="med"/>
          </a:ln>
        </p:spPr>
        <p:txBody>
          <a:bodyPr vert="horz" wrap="none" lIns="91440" tIns="45720" rIns="91440" bIns="45720" numCol="1" rtlCol="0" anchor="ctr" anchorCtr="0" compatLnSpc="1"/>
          <a:lstStyle/>
          <a:p>
            <a:pPr>
              <a:spcBef>
                <a:spcPct val="0"/>
              </a:spcBef>
              <a:buClrTx/>
              <a:buSzTx/>
              <a:buNone/>
            </a:pPr>
            <a:r>
              <a:rPr lang="zh-CN" altLang="en-US" sz="2000" b="0" dirty="0" smtClean="0">
                <a:latin typeface="Times New Roman" panose="02020603050405020304" pitchFamily="18" charset="0"/>
              </a:rPr>
              <a:t>最高需求无限</a:t>
            </a:r>
            <a:endParaRPr kumimoji="0" lang="zh-CN" altLang="en-US" sz="2000" b="0" i="0" u="none" strike="noStrike" cap="none" normalizeH="0" baseline="0" dirty="0" smtClean="0">
              <a:ln>
                <a:noFill/>
              </a:ln>
              <a:solidFill>
                <a:schemeClr val="tx1"/>
              </a:solidFill>
              <a:effectLst/>
              <a:latin typeface="Times New Roman" panose="02020603050405020304" pitchFamily="18" charset="0"/>
            </a:endParaRPr>
          </a:p>
        </p:txBody>
      </p:sp>
      <p:sp>
        <p:nvSpPr>
          <p:cNvPr id="15" name="Rectangle 9">
            <a:extLst>
              <a:ext uri="{FF2B5EF4-FFF2-40B4-BE49-F238E27FC236}">
                <a16:creationId xmlns:a16="http://schemas.microsoft.com/office/drawing/2014/main" id="{5558B986-1AE2-488E-AC1C-F8491BCE15E4}"/>
              </a:ext>
            </a:extLst>
          </p:cNvPr>
          <p:cNvSpPr>
            <a:spLocks noChangeArrowheads="1"/>
          </p:cNvSpPr>
          <p:nvPr/>
        </p:nvSpPr>
        <p:spPr bwMode="auto">
          <a:xfrm>
            <a:off x="226199" y="3571280"/>
            <a:ext cx="10951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2000" b="0" dirty="0">
                <a:solidFill>
                  <a:schemeClr val="tx2"/>
                </a:solidFill>
              </a:rPr>
              <a:t>表  </a:t>
            </a:r>
            <a:r>
              <a:rPr lang="en-US" altLang="zh-CN" sz="2000" b="0" dirty="0" smtClean="0">
                <a:solidFill>
                  <a:schemeClr val="tx2"/>
                </a:solidFill>
              </a:rPr>
              <a:t>4-26</a:t>
            </a:r>
            <a:endParaRPr lang="en-US" altLang="zh-CN" sz="2000" b="0" dirty="0">
              <a:solidFill>
                <a:schemeClr val="tx2"/>
              </a:solidFill>
            </a:endParaRPr>
          </a:p>
        </p:txBody>
      </p:sp>
    </p:spTree>
    <p:extLst>
      <p:ext uri="{BB962C8B-B14F-4D97-AF65-F5344CB8AC3E}">
        <p14:creationId xmlns:p14="http://schemas.microsoft.com/office/powerpoint/2010/main" val="4096404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a:extLst>
              <a:ext uri="{FF2B5EF4-FFF2-40B4-BE49-F238E27FC236}">
                <a16:creationId xmlns:a16="http://schemas.microsoft.com/office/drawing/2014/main" id="{FEF512C8-80AC-4E7E-A648-C9E6400AA244}"/>
              </a:ext>
            </a:extLst>
          </p:cNvPr>
          <p:cNvSpPr>
            <a:spLocks noGrp="1" noChangeArrowheads="1"/>
          </p:cNvSpPr>
          <p:nvPr>
            <p:ph type="title"/>
          </p:nvPr>
        </p:nvSpPr>
        <p:spPr/>
        <p:txBody>
          <a:bodyPr/>
          <a:lstStyle/>
          <a:p>
            <a:pPr marL="163513" lvl="1" indent="0">
              <a:lnSpc>
                <a:spcPct val="150000"/>
              </a:lnSpc>
              <a:buNone/>
            </a:pPr>
            <a:r>
              <a:rPr lang="en-US" altLang="zh-CN" dirty="0">
                <a:latin typeface="+mn-ea"/>
              </a:rPr>
              <a:t>4.3 </a:t>
            </a:r>
            <a:r>
              <a:rPr lang="zh-CN" altLang="en-US" dirty="0">
                <a:latin typeface="+mn-ea"/>
              </a:rPr>
              <a:t>产销不平衡的运输问题</a:t>
            </a:r>
            <a:endParaRPr lang="en-US" altLang="zh-CN" dirty="0">
              <a:latin typeface="+mn-ea"/>
            </a:endParaRPr>
          </a:p>
        </p:txBody>
      </p:sp>
      <p:sp>
        <p:nvSpPr>
          <p:cNvPr id="7" name="灯片编号占位符 5">
            <a:extLst>
              <a:ext uri="{FF2B5EF4-FFF2-40B4-BE49-F238E27FC236}">
                <a16:creationId xmlns:a16="http://schemas.microsoft.com/office/drawing/2014/main" id="{E2CFECA2-114D-4B5D-8C0E-0EEFFFE5653D}"/>
              </a:ext>
            </a:extLst>
          </p:cNvPr>
          <p:cNvSpPr>
            <a:spLocks noGrp="1"/>
          </p:cNvSpPr>
          <p:nvPr>
            <p:ph type="sldNum" sz="quarter" idx="10"/>
          </p:nvPr>
        </p:nvSpPr>
        <p:spPr/>
        <p:txBody>
          <a:bodyPr/>
          <a:lstStyle/>
          <a:p>
            <a:fld id="{B9D23719-6ADD-4F48-9FD6-1F8A73DC960E}" type="slidenum">
              <a:rPr lang="en-US" altLang="zh-CN"/>
              <a:pPr/>
              <a:t>32</a:t>
            </a:fld>
            <a:endParaRPr lang="en-US" altLang="zh-CN"/>
          </a:p>
        </p:txBody>
      </p:sp>
      <p:sp>
        <p:nvSpPr>
          <p:cNvPr id="660483" name="Rectangle 3">
            <a:extLst>
              <a:ext uri="{FF2B5EF4-FFF2-40B4-BE49-F238E27FC236}">
                <a16:creationId xmlns:a16="http://schemas.microsoft.com/office/drawing/2014/main" id="{63EB9756-9B81-4021-A912-27F27510D8C0}"/>
              </a:ext>
            </a:extLst>
          </p:cNvPr>
          <p:cNvSpPr>
            <a:spLocks noChangeArrowheads="1"/>
          </p:cNvSpPr>
          <p:nvPr/>
        </p:nvSpPr>
        <p:spPr bwMode="auto">
          <a:xfrm>
            <a:off x="282575" y="1557338"/>
            <a:ext cx="8610600"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7675" indent="-447675">
              <a:buClr>
                <a:srgbClr val="553AF8"/>
              </a:buClr>
              <a:buSzPct val="70000"/>
              <a:buChar char="v"/>
              <a:defRPr sz="3200">
                <a:solidFill>
                  <a:schemeClr val="tx1"/>
                </a:solidFill>
                <a:latin typeface="Arial" panose="020B0604020202020204" pitchFamily="34" charset="0"/>
                <a:ea typeface="宋体" panose="02010600030101010101" pitchFamily="2" charset="-122"/>
              </a:defRPr>
            </a:lvl1pPr>
            <a:lvl2pPr marL="889000" indent="-439738">
              <a:buClr>
                <a:srgbClr val="0051C8"/>
              </a:buClr>
              <a:buSzPct val="65000"/>
              <a:buChar char="¢"/>
              <a:defRPr sz="2800">
                <a:solidFill>
                  <a:schemeClr val="tx1"/>
                </a:solidFill>
                <a:latin typeface="Arial" panose="020B0604020202020204" pitchFamily="34" charset="0"/>
                <a:ea typeface="宋体" panose="02010600030101010101" pitchFamily="2" charset="-122"/>
              </a:defRPr>
            </a:lvl2pPr>
            <a:lvl3pPr marL="1293813" indent="-403225">
              <a:buClr>
                <a:srgbClr val="0066FF"/>
              </a:buClr>
              <a:buSzPct val="70000"/>
              <a:buChar char="o"/>
              <a:defRPr sz="2400">
                <a:solidFill>
                  <a:schemeClr val="tx1"/>
                </a:solidFill>
                <a:latin typeface="Arial" panose="020B0604020202020204" pitchFamily="34" charset="0"/>
                <a:ea typeface="宋体" panose="02010600030101010101" pitchFamily="2" charset="-122"/>
              </a:defRPr>
            </a:lvl3pPr>
            <a:lvl4pPr marL="1681163" indent="-385763">
              <a:buClr>
                <a:srgbClr val="0051C8"/>
              </a:buClr>
              <a:buSzPct val="75000"/>
              <a:buChar char="±"/>
              <a:defRPr sz="2000">
                <a:solidFill>
                  <a:schemeClr val="tx1"/>
                </a:solidFill>
                <a:latin typeface="Arial" panose="020B0604020202020204" pitchFamily="34" charset="0"/>
                <a:ea typeface="宋体" panose="02010600030101010101" pitchFamily="2" charset="-122"/>
              </a:defRPr>
            </a:lvl4pPr>
            <a:lvl5pPr marL="2070100" indent="-387350">
              <a:buClr>
                <a:srgbClr val="0064F6"/>
              </a:buClr>
              <a:buSzPct val="70000"/>
              <a:buChar char="t"/>
              <a:defRPr sz="2000">
                <a:solidFill>
                  <a:schemeClr val="tx1"/>
                </a:solidFill>
                <a:latin typeface="Arial" panose="020B0604020202020204" pitchFamily="34" charset="0"/>
                <a:ea typeface="宋体" panose="02010600030101010101" pitchFamily="2" charset="-122"/>
              </a:defRPr>
            </a:lvl5pPr>
            <a:lvl6pPr marL="25273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6pPr>
            <a:lvl7pPr marL="29845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7pPr>
            <a:lvl8pPr marL="34417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8pPr>
            <a:lvl9pPr marL="3898900" indent="-387350" fontAlgn="base">
              <a:spcBef>
                <a:spcPct val="20000"/>
              </a:spcBef>
              <a:spcAft>
                <a:spcPct val="0"/>
              </a:spcAft>
              <a:buClr>
                <a:srgbClr val="0064F6"/>
              </a:buClr>
              <a:buSzPct val="70000"/>
              <a:buFont typeface="Wingdings" panose="05000000000000000000" pitchFamily="2" charset="2"/>
              <a:buChar char="t"/>
              <a:defRPr sz="2000">
                <a:solidFill>
                  <a:schemeClr val="tx1"/>
                </a:solidFill>
                <a:latin typeface="Arial" panose="020B0604020202020204" pitchFamily="34" charset="0"/>
                <a:ea typeface="宋体" panose="02010600030101010101" pitchFamily="2" charset="-122"/>
              </a:defRPr>
            </a:lvl9pPr>
          </a:lstStyle>
          <a:p>
            <a:pPr>
              <a:lnSpc>
                <a:spcPct val="120000"/>
              </a:lnSpc>
              <a:buFont typeface="Wingdings" panose="05000000000000000000" pitchFamily="2" charset="2"/>
              <a:buNone/>
            </a:pPr>
            <a:r>
              <a:rPr lang="zh-CN" altLang="en-US" sz="2400" b="0" dirty="0" smtClean="0">
                <a:latin typeface="宋体" panose="02010600030101010101" pitchFamily="2" charset="-122"/>
              </a:rPr>
              <a:t>   </a:t>
            </a:r>
            <a:endParaRPr lang="zh-CN" altLang="en-US" sz="2400" b="0" dirty="0">
              <a:latin typeface="宋体" panose="02010600030101010101" pitchFamily="2" charset="-122"/>
            </a:endParaRPr>
          </a:p>
        </p:txBody>
      </p:sp>
      <p:sp>
        <p:nvSpPr>
          <p:cNvPr id="2" name="内容占位符 1"/>
          <p:cNvSpPr>
            <a:spLocks noGrp="1"/>
          </p:cNvSpPr>
          <p:nvPr>
            <p:ph idx="1"/>
          </p:nvPr>
        </p:nvSpPr>
        <p:spPr>
          <a:xfrm>
            <a:off x="163447" y="1227848"/>
            <a:ext cx="8585017" cy="4114800"/>
          </a:xfrm>
        </p:spPr>
        <p:txBody>
          <a:bodyPr/>
          <a:lstStyle/>
          <a:p>
            <a:r>
              <a:rPr lang="zh-CN" altLang="en-US" dirty="0" smtClean="0">
                <a:solidFill>
                  <a:srgbClr val="FF0000"/>
                </a:solidFill>
              </a:rPr>
              <a:t>当销大于</a:t>
            </a:r>
            <a:r>
              <a:rPr lang="zh-CN" altLang="en-US" dirty="0">
                <a:solidFill>
                  <a:srgbClr val="FF0000"/>
                </a:solidFill>
              </a:rPr>
              <a:t>产</a:t>
            </a:r>
            <a:r>
              <a:rPr lang="zh-CN" altLang="en-US" dirty="0" smtClean="0">
                <a:solidFill>
                  <a:srgbClr val="FF0000"/>
                </a:solidFill>
              </a:rPr>
              <a:t>时</a:t>
            </a:r>
            <a:r>
              <a:rPr lang="en-US" altLang="zh-CN" dirty="0" smtClean="0">
                <a:solidFill>
                  <a:srgbClr val="FF0000"/>
                </a:solidFill>
              </a:rPr>
              <a:t>  </a:t>
            </a:r>
          </a:p>
          <a:p>
            <a:pPr lvl="1"/>
            <a:endParaRPr lang="en-US" altLang="zh-CN" sz="2000" dirty="0">
              <a:ea typeface="楷体_GB2312" pitchFamily="1" charset="-122"/>
            </a:endParaRPr>
          </a:p>
        </p:txBody>
      </p:sp>
      <p:graphicFrame>
        <p:nvGraphicFramePr>
          <p:cNvPr id="8" name="Object 7">
            <a:extLst>
              <a:ext uri="{FF2B5EF4-FFF2-40B4-BE49-F238E27FC236}">
                <a16:creationId xmlns:a16="http://schemas.microsoft.com/office/drawing/2014/main" id="{7C4BD6DF-46E6-438A-80FD-7B082B221614}"/>
              </a:ext>
            </a:extLst>
          </p:cNvPr>
          <p:cNvGraphicFramePr>
            <a:graphicFrameLocks noChangeAspect="1"/>
          </p:cNvGraphicFramePr>
          <p:nvPr>
            <p:extLst>
              <p:ext uri="{D42A27DB-BD31-4B8C-83A1-F6EECF244321}">
                <p14:modId xmlns:p14="http://schemas.microsoft.com/office/powerpoint/2010/main" val="3704166212"/>
              </p:ext>
            </p:extLst>
          </p:nvPr>
        </p:nvGraphicFramePr>
        <p:xfrm>
          <a:off x="1872305" y="1599197"/>
          <a:ext cx="6005815" cy="1797002"/>
        </p:xfrm>
        <a:graphic>
          <a:graphicData uri="http://schemas.openxmlformats.org/presentationml/2006/ole">
            <mc:AlternateContent xmlns:mc="http://schemas.openxmlformats.org/markup-compatibility/2006">
              <mc:Choice xmlns:v="urn:schemas-microsoft-com:vml" Requires="v">
                <p:oleObj spid="_x0000_s747765" name="文档" r:id="rId3" imgW="5428383" imgH="1624737" progId="Word.Document.8">
                  <p:embed/>
                </p:oleObj>
              </mc:Choice>
              <mc:Fallback>
                <p:oleObj name="文档" r:id="rId3" imgW="5428383" imgH="1624737" progId="Word.Document.8">
                  <p:embed/>
                  <p:pic>
                    <p:nvPicPr>
                      <p:cNvPr id="8" name="Object 7">
                        <a:extLst>
                          <a:ext uri="{FF2B5EF4-FFF2-40B4-BE49-F238E27FC236}">
                            <a16:creationId xmlns:a16="http://schemas.microsoft.com/office/drawing/2014/main" id="{7C4BD6DF-46E6-438A-80FD-7B082B2216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305" y="1599197"/>
                        <a:ext cx="6005815" cy="1797002"/>
                      </a:xfrm>
                      <a:prstGeom prst="rect">
                        <a:avLst/>
                      </a:prstGeom>
                      <a:noFill/>
                      <a:ln>
                        <a:noFill/>
                      </a:ln>
                      <a:effectLst/>
                      <a:extLst/>
                    </p:spPr>
                  </p:pic>
                </p:oleObj>
              </mc:Fallback>
            </mc:AlternateContent>
          </a:graphicData>
        </a:graphic>
      </p:graphicFrame>
      <p:sp>
        <p:nvSpPr>
          <p:cNvPr id="15" name="Rectangle 9">
            <a:extLst>
              <a:ext uri="{FF2B5EF4-FFF2-40B4-BE49-F238E27FC236}">
                <a16:creationId xmlns:a16="http://schemas.microsoft.com/office/drawing/2014/main" id="{5558B986-1AE2-488E-AC1C-F8491BCE15E4}"/>
              </a:ext>
            </a:extLst>
          </p:cNvPr>
          <p:cNvSpPr>
            <a:spLocks noChangeArrowheads="1"/>
          </p:cNvSpPr>
          <p:nvPr/>
        </p:nvSpPr>
        <p:spPr bwMode="auto">
          <a:xfrm>
            <a:off x="646951" y="2112704"/>
            <a:ext cx="10054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1800" b="0" dirty="0">
                <a:solidFill>
                  <a:schemeClr val="tx2"/>
                </a:solidFill>
              </a:rPr>
              <a:t>表  </a:t>
            </a:r>
            <a:r>
              <a:rPr lang="en-US" altLang="zh-CN" sz="1800" b="0" dirty="0" smtClean="0">
                <a:solidFill>
                  <a:schemeClr val="tx2"/>
                </a:solidFill>
              </a:rPr>
              <a:t>4-26</a:t>
            </a:r>
            <a:endParaRPr lang="en-US" altLang="zh-CN" sz="1800" b="0" dirty="0">
              <a:solidFill>
                <a:schemeClr val="tx2"/>
              </a:solidFill>
            </a:endParaRPr>
          </a:p>
        </p:txBody>
      </p:sp>
      <p:graphicFrame>
        <p:nvGraphicFramePr>
          <p:cNvPr id="12" name="Object 4">
            <a:extLst>
              <a:ext uri="{FF2B5EF4-FFF2-40B4-BE49-F238E27FC236}">
                <a16:creationId xmlns:a16="http://schemas.microsoft.com/office/drawing/2014/main" id="{D731A80F-0389-42C8-8786-999162628651}"/>
              </a:ext>
            </a:extLst>
          </p:cNvPr>
          <p:cNvGraphicFramePr>
            <a:graphicFrameLocks noChangeAspect="1"/>
          </p:cNvGraphicFramePr>
          <p:nvPr>
            <p:extLst>
              <p:ext uri="{D42A27DB-BD31-4B8C-83A1-F6EECF244321}">
                <p14:modId xmlns:p14="http://schemas.microsoft.com/office/powerpoint/2010/main" val="3049584436"/>
              </p:ext>
            </p:extLst>
          </p:nvPr>
        </p:nvGraphicFramePr>
        <p:xfrm>
          <a:off x="-527050" y="3602038"/>
          <a:ext cx="5321300" cy="1875536"/>
        </p:xfrm>
        <a:graphic>
          <a:graphicData uri="http://schemas.openxmlformats.org/presentationml/2006/ole">
            <mc:AlternateContent xmlns:mc="http://schemas.openxmlformats.org/markup-compatibility/2006">
              <mc:Choice xmlns:v="urn:schemas-microsoft-com:vml" Requires="v">
                <p:oleObj spid="_x0000_s747766" name="Document" r:id="rId5" imgW="5425226" imgH="1831007" progId="Word.Document.8">
                  <p:embed/>
                </p:oleObj>
              </mc:Choice>
              <mc:Fallback>
                <p:oleObj name="Document" r:id="rId5" imgW="5425226" imgH="1831007" progId="Word.Document.8">
                  <p:embed/>
                  <p:pic>
                    <p:nvPicPr>
                      <p:cNvPr id="676868" name="Object 4">
                        <a:extLst>
                          <a:ext uri="{FF2B5EF4-FFF2-40B4-BE49-F238E27FC236}">
                            <a16:creationId xmlns:a16="http://schemas.microsoft.com/office/drawing/2014/main" id="{D731A80F-0389-42C8-8786-999162628651}"/>
                          </a:ext>
                        </a:extLst>
                      </p:cNvPr>
                      <p:cNvPicPr>
                        <a:picLocks noChangeAspect="1" noChangeArrowheads="1"/>
                      </p:cNvPicPr>
                      <p:nvPr/>
                    </p:nvPicPr>
                    <p:blipFill>
                      <a:blip r:embed="rId6"/>
                      <a:srcRect/>
                      <a:stretch>
                        <a:fillRect/>
                      </a:stretch>
                    </p:blipFill>
                    <p:spPr bwMode="auto">
                      <a:xfrm>
                        <a:off x="-527050" y="3602038"/>
                        <a:ext cx="5321300" cy="1875536"/>
                      </a:xfrm>
                      <a:prstGeom prst="rect">
                        <a:avLst/>
                      </a:prstGeom>
                      <a:noFill/>
                      <a:ln>
                        <a:noFill/>
                      </a:ln>
                      <a:effectLst/>
                      <a:extLst/>
                    </p:spPr>
                  </p:pic>
                </p:oleObj>
              </mc:Fallback>
            </mc:AlternateContent>
          </a:graphicData>
        </a:graphic>
      </p:graphicFrame>
      <p:graphicFrame>
        <p:nvGraphicFramePr>
          <p:cNvPr id="16" name="Object 6">
            <a:extLst>
              <a:ext uri="{FF2B5EF4-FFF2-40B4-BE49-F238E27FC236}">
                <a16:creationId xmlns:a16="http://schemas.microsoft.com/office/drawing/2014/main" id="{1A1828C2-B931-4B78-B044-C64BBE055E76}"/>
              </a:ext>
            </a:extLst>
          </p:cNvPr>
          <p:cNvGraphicFramePr>
            <a:graphicFrameLocks noChangeAspect="1"/>
          </p:cNvGraphicFramePr>
          <p:nvPr>
            <p:extLst>
              <p:ext uri="{D42A27DB-BD31-4B8C-83A1-F6EECF244321}">
                <p14:modId xmlns:p14="http://schemas.microsoft.com/office/powerpoint/2010/main" val="547148772"/>
              </p:ext>
            </p:extLst>
          </p:nvPr>
        </p:nvGraphicFramePr>
        <p:xfrm>
          <a:off x="3563888" y="3602136"/>
          <a:ext cx="7056438" cy="1843088"/>
        </p:xfrm>
        <a:graphic>
          <a:graphicData uri="http://schemas.openxmlformats.org/presentationml/2006/ole">
            <mc:AlternateContent xmlns:mc="http://schemas.openxmlformats.org/markup-compatibility/2006">
              <mc:Choice xmlns:v="urn:schemas-microsoft-com:vml" Requires="v">
                <p:oleObj spid="_x0000_s747767" name="文档" r:id="rId7" imgW="5428383" imgH="1417769" progId="Word.Document.8">
                  <p:embed/>
                </p:oleObj>
              </mc:Choice>
              <mc:Fallback>
                <p:oleObj name="文档" r:id="rId7" imgW="5428383" imgH="1417769" progId="Word.Document.8">
                  <p:embed/>
                  <p:pic>
                    <p:nvPicPr>
                      <p:cNvPr id="676870" name="Object 6">
                        <a:extLst>
                          <a:ext uri="{FF2B5EF4-FFF2-40B4-BE49-F238E27FC236}">
                            <a16:creationId xmlns:a16="http://schemas.microsoft.com/office/drawing/2014/main" id="{1A1828C2-B931-4B78-B044-C64BBE055E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3888" y="3602136"/>
                        <a:ext cx="7056438" cy="184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Rectangle 9">
            <a:extLst>
              <a:ext uri="{FF2B5EF4-FFF2-40B4-BE49-F238E27FC236}">
                <a16:creationId xmlns:a16="http://schemas.microsoft.com/office/drawing/2014/main" id="{5558B986-1AE2-488E-AC1C-F8491BCE15E4}"/>
              </a:ext>
            </a:extLst>
          </p:cNvPr>
          <p:cNvSpPr>
            <a:spLocks noChangeArrowheads="1"/>
          </p:cNvSpPr>
          <p:nvPr/>
        </p:nvSpPr>
        <p:spPr bwMode="auto">
          <a:xfrm>
            <a:off x="1078115" y="3233575"/>
            <a:ext cx="22236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1800" b="0" dirty="0">
                <a:solidFill>
                  <a:schemeClr val="tx2"/>
                </a:solidFill>
              </a:rPr>
              <a:t>表  </a:t>
            </a:r>
            <a:r>
              <a:rPr lang="en-US" altLang="zh-CN" sz="1800" b="0" dirty="0" smtClean="0">
                <a:solidFill>
                  <a:schemeClr val="tx2"/>
                </a:solidFill>
              </a:rPr>
              <a:t>4-27 </a:t>
            </a:r>
            <a:r>
              <a:rPr lang="zh-CN" altLang="en-US" sz="1800" b="0" dirty="0" smtClean="0">
                <a:solidFill>
                  <a:schemeClr val="tx2"/>
                </a:solidFill>
              </a:rPr>
              <a:t>产销平衡表</a:t>
            </a:r>
            <a:endParaRPr lang="en-US" altLang="zh-CN" sz="1800" b="0" dirty="0">
              <a:solidFill>
                <a:schemeClr val="tx2"/>
              </a:solidFill>
            </a:endParaRPr>
          </a:p>
        </p:txBody>
      </p:sp>
      <p:sp>
        <p:nvSpPr>
          <p:cNvPr id="18" name="Rectangle 9">
            <a:extLst>
              <a:ext uri="{FF2B5EF4-FFF2-40B4-BE49-F238E27FC236}">
                <a16:creationId xmlns:a16="http://schemas.microsoft.com/office/drawing/2014/main" id="{5558B986-1AE2-488E-AC1C-F8491BCE15E4}"/>
              </a:ext>
            </a:extLst>
          </p:cNvPr>
          <p:cNvSpPr>
            <a:spLocks noChangeArrowheads="1"/>
          </p:cNvSpPr>
          <p:nvPr/>
        </p:nvSpPr>
        <p:spPr bwMode="auto">
          <a:xfrm>
            <a:off x="5868144" y="3255686"/>
            <a:ext cx="22236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1800" b="0" dirty="0">
                <a:solidFill>
                  <a:schemeClr val="tx2"/>
                </a:solidFill>
              </a:rPr>
              <a:t>表  </a:t>
            </a:r>
            <a:r>
              <a:rPr lang="en-US" altLang="zh-CN" sz="1800" b="0" dirty="0" smtClean="0">
                <a:solidFill>
                  <a:schemeClr val="tx2"/>
                </a:solidFill>
              </a:rPr>
              <a:t>4-28 </a:t>
            </a:r>
            <a:r>
              <a:rPr lang="zh-CN" altLang="en-US" sz="1800" b="0" dirty="0" smtClean="0">
                <a:solidFill>
                  <a:schemeClr val="tx2"/>
                </a:solidFill>
              </a:rPr>
              <a:t>单位运价表</a:t>
            </a:r>
            <a:endParaRPr lang="en-US" altLang="zh-CN" sz="1800" b="0" dirty="0">
              <a:solidFill>
                <a:schemeClr val="tx2"/>
              </a:solidFill>
            </a:endParaRPr>
          </a:p>
        </p:txBody>
      </p:sp>
      <p:graphicFrame>
        <p:nvGraphicFramePr>
          <p:cNvPr id="19" name="Object 8">
            <a:extLst>
              <a:ext uri="{FF2B5EF4-FFF2-40B4-BE49-F238E27FC236}">
                <a16:creationId xmlns:a16="http://schemas.microsoft.com/office/drawing/2014/main" id="{BACBF6DB-58D8-4C98-9D37-32D069A9447B}"/>
              </a:ext>
            </a:extLst>
          </p:cNvPr>
          <p:cNvGraphicFramePr>
            <a:graphicFrameLocks noChangeAspect="1"/>
          </p:cNvGraphicFramePr>
          <p:nvPr>
            <p:extLst>
              <p:ext uri="{D42A27DB-BD31-4B8C-83A1-F6EECF244321}">
                <p14:modId xmlns:p14="http://schemas.microsoft.com/office/powerpoint/2010/main" val="1217539366"/>
              </p:ext>
            </p:extLst>
          </p:nvPr>
        </p:nvGraphicFramePr>
        <p:xfrm>
          <a:off x="3759199" y="5084630"/>
          <a:ext cx="5421313" cy="1624013"/>
        </p:xfrm>
        <a:graphic>
          <a:graphicData uri="http://schemas.openxmlformats.org/presentationml/2006/ole">
            <mc:AlternateContent xmlns:mc="http://schemas.openxmlformats.org/markup-compatibility/2006">
              <mc:Choice xmlns:v="urn:schemas-microsoft-com:vml" Requires="v">
                <p:oleObj spid="_x0000_s747768" name="Document" r:id="rId9" imgW="5421071" imgH="1623903" progId="Word.Document.8">
                  <p:embed/>
                </p:oleObj>
              </mc:Choice>
              <mc:Fallback>
                <p:oleObj name="Document" r:id="rId9" imgW="5421071" imgH="1623903" progId="Word.Document.8">
                  <p:embed/>
                  <p:pic>
                    <p:nvPicPr>
                      <p:cNvPr id="678920" name="Object 8">
                        <a:extLst>
                          <a:ext uri="{FF2B5EF4-FFF2-40B4-BE49-F238E27FC236}">
                            <a16:creationId xmlns:a16="http://schemas.microsoft.com/office/drawing/2014/main" id="{BACBF6DB-58D8-4C98-9D37-32D069A9447B}"/>
                          </a:ext>
                        </a:extLst>
                      </p:cNvPr>
                      <p:cNvPicPr>
                        <a:picLocks noChangeAspect="1" noChangeArrowheads="1"/>
                      </p:cNvPicPr>
                      <p:nvPr/>
                    </p:nvPicPr>
                    <p:blipFill>
                      <a:blip r:embed="rId10"/>
                      <a:srcRect/>
                      <a:stretch>
                        <a:fillRect/>
                      </a:stretch>
                    </p:blipFill>
                    <p:spPr bwMode="auto">
                      <a:xfrm>
                        <a:off x="3759199" y="5084630"/>
                        <a:ext cx="5421313" cy="162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矩形 3"/>
          <p:cNvSpPr/>
          <p:nvPr/>
        </p:nvSpPr>
        <p:spPr>
          <a:xfrm>
            <a:off x="26194" y="5341208"/>
            <a:ext cx="3445668" cy="1015663"/>
          </a:xfrm>
          <a:prstGeom prst="rect">
            <a:avLst/>
          </a:prstGeom>
        </p:spPr>
        <p:txBody>
          <a:bodyPr wrap="square">
            <a:spAutoFit/>
          </a:bodyPr>
          <a:lstStyle/>
          <a:p>
            <a:pPr algn="just">
              <a:buNone/>
            </a:pPr>
            <a:r>
              <a:rPr lang="zh-CN" altLang="en-US" sz="2000" dirty="0">
                <a:latin typeface="宋体" panose="02010600030101010101" pitchFamily="2" charset="-122"/>
              </a:rPr>
              <a:t>根据表上作业法计算，可以求得这个问题的最优方案如表</a:t>
            </a:r>
            <a:r>
              <a:rPr lang="en-US" altLang="zh-CN" sz="2000" dirty="0">
                <a:latin typeface="宋体" panose="02010600030101010101" pitchFamily="2" charset="-122"/>
              </a:rPr>
              <a:t>4</a:t>
            </a:r>
            <a:r>
              <a:rPr lang="en-US" altLang="zh-CN" sz="2000" dirty="0"/>
              <a:t>-29</a:t>
            </a:r>
            <a:r>
              <a:rPr lang="zh-CN" altLang="en-US" sz="2000" dirty="0">
                <a:latin typeface="宋体" panose="02010600030101010101" pitchFamily="2" charset="-122"/>
              </a:rPr>
              <a:t>所示</a:t>
            </a:r>
            <a:r>
              <a:rPr lang="en-US" altLang="zh-CN" sz="2000" dirty="0">
                <a:latin typeface="宋体" panose="02010600030101010101" pitchFamily="2" charset="-122"/>
              </a:rPr>
              <a:t>)</a:t>
            </a:r>
          </a:p>
        </p:txBody>
      </p:sp>
      <p:sp>
        <p:nvSpPr>
          <p:cNvPr id="20" name="Rectangle 9">
            <a:extLst>
              <a:ext uri="{FF2B5EF4-FFF2-40B4-BE49-F238E27FC236}">
                <a16:creationId xmlns:a16="http://schemas.microsoft.com/office/drawing/2014/main" id="{5558B986-1AE2-488E-AC1C-F8491BCE15E4}"/>
              </a:ext>
            </a:extLst>
          </p:cNvPr>
          <p:cNvSpPr>
            <a:spLocks noChangeArrowheads="1"/>
          </p:cNvSpPr>
          <p:nvPr/>
        </p:nvSpPr>
        <p:spPr bwMode="auto">
          <a:xfrm>
            <a:off x="3494589" y="5637046"/>
            <a:ext cx="10054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 typeface="Wingdings" panose="05000000000000000000" pitchFamily="2" charset="2"/>
              <a:buNone/>
            </a:pPr>
            <a:r>
              <a:rPr lang="zh-CN" altLang="en-US" sz="1800" b="0" dirty="0">
                <a:solidFill>
                  <a:schemeClr val="tx2"/>
                </a:solidFill>
              </a:rPr>
              <a:t>表  </a:t>
            </a:r>
            <a:r>
              <a:rPr lang="en-US" altLang="zh-CN" sz="1800" b="0" dirty="0" smtClean="0">
                <a:solidFill>
                  <a:schemeClr val="tx2"/>
                </a:solidFill>
              </a:rPr>
              <a:t>4-29</a:t>
            </a:r>
            <a:endParaRPr lang="en-US" altLang="zh-CN" sz="1800" b="0" dirty="0">
              <a:solidFill>
                <a:schemeClr val="tx2"/>
              </a:solidFill>
            </a:endParaRPr>
          </a:p>
        </p:txBody>
      </p:sp>
    </p:spTree>
    <p:extLst>
      <p:ext uri="{BB962C8B-B14F-4D97-AF65-F5344CB8AC3E}">
        <p14:creationId xmlns:p14="http://schemas.microsoft.com/office/powerpoint/2010/main" val="12833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4"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本章练习题</a:t>
            </a:r>
            <a:endParaRPr lang="zh-CN" altLang="en-US" dirty="0"/>
          </a:p>
        </p:txBody>
      </p:sp>
      <p:sp>
        <p:nvSpPr>
          <p:cNvPr id="3" name="内容占位符 2"/>
          <p:cNvSpPr>
            <a:spLocks noGrp="1"/>
          </p:cNvSpPr>
          <p:nvPr>
            <p:ph idx="1"/>
          </p:nvPr>
        </p:nvSpPr>
        <p:spPr>
          <a:xfrm>
            <a:off x="609600" y="1524000"/>
            <a:ext cx="7772400" cy="4929336"/>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在</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个产地、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个销地的产销平衡运输问题中，</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是错误的。</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是线性规划</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问题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基变量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的个数是数字格的个数 </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基变量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的个数有</a:t>
            </a:r>
            <a:r>
              <a:rPr lang="en-US" altLang="zh-CN" sz="1200" dirty="0">
                <a:latin typeface="等线" panose="02010600030101010101" pitchFamily="2" charset="-122"/>
                <a:ea typeface="等线" panose="02010600030101010101" pitchFamily="2" charset="-122"/>
                <a:cs typeface="Times New Roman" panose="02020603050405020304" pitchFamily="18" charset="0"/>
              </a:rPr>
              <a:t>mn-n-m+1</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个</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一格在运输图中均有一闭合回路</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关于运输问题的说法不正确的是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它可用线性规划的单纯形表</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求解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它</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可用表上作业法求解</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它的约束方程数等于基变量的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数目</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它</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一定有最优解</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关于</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指派问题的决策变量的取值，下列说法正确的是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不一定为</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整数</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不是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就是</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只要</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非负就</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行</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不对</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求解</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运输问题中，当供大于求时，可增加一个</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虚拟</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产地</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虚拟</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销</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地</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都可</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不可</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产销</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不平衡的运输问题中，当供大于求时，增加的虚拟销地相当于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亏空</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原地库存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异地库存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不对</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的数学模型中包含</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个约束条件</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m*n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m+n-1	m*n-1</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是线性规划</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问题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不是</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线性规划</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问题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存在无</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无最优解</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平衡运输问题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即是指</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个供应地的总供应量</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个需求地的总需求量。</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大于</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大于等于</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小于</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等于</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平衡运输问题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一定存在</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整数</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无穷</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多</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以上</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都</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不对</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50337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本章练习题</a:t>
            </a:r>
          </a:p>
        </p:txBody>
      </p:sp>
      <p:sp>
        <p:nvSpPr>
          <p:cNvPr id="3" name="内容占位符 2"/>
          <p:cNvSpPr>
            <a:spLocks noGrp="1"/>
          </p:cNvSpPr>
          <p:nvPr>
            <p:ph idx="1"/>
          </p:nvPr>
        </p:nvSpPr>
        <p:spPr>
          <a:xfrm>
            <a:off x="539552" y="1196752"/>
            <a:ext cx="7772400" cy="4114800"/>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对</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个产地，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个销地的平衡运输问题，其基变量的个数为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m-n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m+n-1</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标准</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指派问题</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人，</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件事</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的规划模型中，有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个决策变量</a:t>
            </a:r>
          </a:p>
          <a:p>
            <a:pPr marL="0" indent="0" algn="just">
              <a:spcAft>
                <a:spcPts val="0"/>
              </a:spcAft>
              <a:buNone/>
            </a:pP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M	m*m	m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不对</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用</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闭回路法调整调运方案时，下列做法正确的是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奇点处加调整量，偶点处减调整</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奇点</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处减调整量，偶点处加调整量</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奇点偶点同时加或减一个调整</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都</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不对</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下列</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不是确定运输问题初始方案的方法</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西北角</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伏格尔法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元素</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闭</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回路法</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确定</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运输问题的初始调运方案的方法是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伏格尔法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单纯形法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匈牙利法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闭</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回路法</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一般来说</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，用伏格尔法与最小元素法求解初始调运方案时，目标函数的值</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一样</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前者</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后者</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优</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不</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好说</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的方案的确定最常用的方法是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最小元素</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闭合</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回路</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表上作业法</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以上</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都不是</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关于</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运输问题的说法不正确的是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运输问题一定有唯一</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如果</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供给与需求量均为整数，则运输问题的最优解也为整数</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当所有非基变量的检验数均大于等于零时，求最小化的运输问题有</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是特殊的线性规划</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平衡</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运输模型的约束方程的特点包括</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约束左边所有的系数都是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或</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约束方程左边的每一列中恰有两个系数是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，其他都是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m+n-1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个独立约束条件，该问题的基变量有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m+n-1</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个</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以上</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都正确</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en-US" dirty="0"/>
          </a:p>
        </p:txBody>
      </p:sp>
    </p:spTree>
    <p:extLst>
      <p:ext uri="{BB962C8B-B14F-4D97-AF65-F5344CB8AC3E}">
        <p14:creationId xmlns:p14="http://schemas.microsoft.com/office/powerpoint/2010/main" val="41006522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本章练习题</a:t>
            </a:r>
          </a:p>
        </p:txBody>
      </p:sp>
      <p:sp>
        <p:nvSpPr>
          <p:cNvPr id="3" name="内容占位符 2"/>
          <p:cNvSpPr>
            <a:spLocks noGrp="1"/>
          </p:cNvSpPr>
          <p:nvPr>
            <p:ph idx="1"/>
          </p:nvPr>
        </p:nvSpPr>
        <p:spPr>
          <a:xfrm>
            <a:off x="539552" y="1196752"/>
            <a:ext cx="7772400" cy="4114800"/>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一、选择题</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的数学模型属于</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0-1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规划</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模型</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整数规划模型</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网络模型</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以上</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模型都是</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在</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运输问题中，可以作为表上作业法的初始基可行解的调运方案应满足的条件是</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含有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m+n-1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基变量</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不构成闭回路</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含有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m+n-1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个基变量且不构成闭</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回路</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含有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m+n-1</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个非零的基变量且不构成闭回路</a:t>
            </a: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表上作业法</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的基本思想和步骤与单纯形法类似，因而初始调运方案的给出就相当于找到一个</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基</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初始基本可行解</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宋体" panose="02010600030101010101" pitchFamily="2" charset="-122"/>
                <a:ea typeface="等线" panose="02010600030101010101" pitchFamily="2" charset="-122"/>
                <a:cs typeface="Times New Roman" panose="02020603050405020304" pitchFamily="18" charset="0"/>
              </a:rPr>
              <a:t>在</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运输方案</a:t>
            </a:r>
            <a:r>
              <a:rPr lang="zh-CN" altLang="zh-CN" sz="1200" kern="100" dirty="0">
                <a:latin typeface="宋体" panose="02010600030101010101" pitchFamily="2" charset="-122"/>
                <a:ea typeface="等线" panose="02010600030101010101" pitchFamily="2" charset="-122"/>
                <a:cs typeface="Times New Roman" panose="02020603050405020304" pitchFamily="18" charset="0"/>
              </a:rPr>
              <a:t>中出现退化现象，是指数字格的数目（</a:t>
            </a:r>
            <a:r>
              <a:rPr lang="zh-CN" altLang="zh-CN" sz="1200" kern="100" dirty="0">
                <a:latin typeface="等线" panose="02010600030101010101" pitchFamily="2" charset="-122"/>
                <a:ea typeface="宋体" panose="02010600030101010101" pitchFamily="2" charset="-122"/>
                <a:cs typeface="Times New Roman" panose="02020603050405020304" pitchFamily="18" charset="0"/>
              </a:rPr>
              <a:t> </a:t>
            </a:r>
            <a:r>
              <a:rPr lang="zh-CN" altLang="zh-CN" sz="1200" kern="100" dirty="0">
                <a:latin typeface="宋体" panose="02010600030101010101" pitchFamily="2" charset="-122"/>
                <a:ea typeface="等线" panose="02010600030101010101" pitchFamily="2" charset="-122"/>
                <a:cs typeface="Times New Roman" panose="02020603050405020304" pitchFamily="18" charset="0"/>
              </a:rPr>
              <a:t>）</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等于</a:t>
            </a:r>
            <a:r>
              <a:rPr lang="en-US" altLang="zh-CN" sz="1200" kern="100" dirty="0">
                <a:latin typeface="宋体" panose="02010600030101010101" pitchFamily="2" charset="-122"/>
                <a:ea typeface="等线" panose="02010600030101010101" pitchFamily="2" charset="-122"/>
                <a:cs typeface="Times New Roman" panose="02020603050405020304" pitchFamily="18" charset="0"/>
              </a:rPr>
              <a:t> </a:t>
            </a:r>
            <a:r>
              <a:rPr lang="en-US" altLang="zh-CN" sz="1200" kern="100" dirty="0" err="1" smtClean="0">
                <a:latin typeface="宋体" panose="02010600030101010101" pitchFamily="2" charset="-122"/>
                <a:ea typeface="等线" panose="02010600030101010101" pitchFamily="2" charset="-122"/>
                <a:cs typeface="Times New Roman" panose="02020603050405020304" pitchFamily="18" charset="0"/>
              </a:rPr>
              <a:t>m+n</a:t>
            </a:r>
            <a:r>
              <a:rPr lang="en-US" altLang="zh-CN" sz="1200" kern="100" dirty="0" smtClean="0">
                <a:latin typeface="宋体"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宋体" panose="02010600030101010101" pitchFamily="2" charset="-122"/>
                <a:ea typeface="等线" panose="02010600030101010101" pitchFamily="2" charset="-122"/>
                <a:cs typeface="Times New Roman" panose="02020603050405020304" pitchFamily="18" charset="0"/>
              </a:rPr>
              <a:t>等于</a:t>
            </a:r>
            <a:r>
              <a:rPr lang="en-US" altLang="zh-CN" sz="1200" kern="100" dirty="0" smtClean="0">
                <a:latin typeface="宋体" panose="02010600030101010101" pitchFamily="2" charset="-122"/>
                <a:ea typeface="等线" panose="02010600030101010101" pitchFamily="2" charset="-122"/>
                <a:cs typeface="Times New Roman" panose="02020603050405020304" pitchFamily="18" charset="0"/>
              </a:rPr>
              <a:t>m+n-1	</a:t>
            </a:r>
            <a:r>
              <a:rPr lang="zh-CN" altLang="zh-CN" sz="1200" kern="100" dirty="0" smtClean="0">
                <a:latin typeface="宋体" panose="02010600030101010101" pitchFamily="2" charset="-122"/>
                <a:ea typeface="等线" panose="02010600030101010101" pitchFamily="2" charset="-122"/>
                <a:cs typeface="Times New Roman" panose="02020603050405020304" pitchFamily="18" charset="0"/>
              </a:rPr>
              <a:t>小于</a:t>
            </a:r>
            <a:r>
              <a:rPr lang="en-US" altLang="zh-CN" sz="1200" kern="100" dirty="0" smtClean="0">
                <a:latin typeface="宋体" panose="02010600030101010101" pitchFamily="2" charset="-122"/>
                <a:ea typeface="等线" panose="02010600030101010101" pitchFamily="2" charset="-122"/>
                <a:cs typeface="Times New Roman" panose="02020603050405020304" pitchFamily="18" charset="0"/>
              </a:rPr>
              <a:t>m+n-1	</a:t>
            </a:r>
            <a:r>
              <a:rPr lang="zh-CN" altLang="zh-CN" sz="1200" kern="100" dirty="0" smtClean="0">
                <a:latin typeface="宋体" panose="02010600030101010101" pitchFamily="2" charset="-122"/>
                <a:ea typeface="等线" panose="02010600030101010101" pitchFamily="2" charset="-122"/>
                <a:cs typeface="Times New Roman" panose="02020603050405020304" pitchFamily="18" charset="0"/>
              </a:rPr>
              <a:t>大于</a:t>
            </a:r>
            <a:r>
              <a:rPr lang="en-US" altLang="zh-CN" sz="1200" kern="100" dirty="0">
                <a:latin typeface="宋体" panose="02010600030101010101" pitchFamily="2" charset="-122"/>
                <a:ea typeface="等线" panose="02010600030101010101" pitchFamily="2" charset="-122"/>
                <a:cs typeface="Times New Roman" panose="02020603050405020304" pitchFamily="18" charset="0"/>
              </a:rPr>
              <a:t>m+n-1</a:t>
            </a:r>
            <a:endParaRPr lang="zh-CN" altLang="zh-CN" sz="1200" kern="100" dirty="0">
              <a:latin typeface="等线" panose="02010600030101010101" pitchFamily="2" charset="-122"/>
              <a:ea typeface="等线" panose="02010600030101010101" pitchFamily="2" charset="-122"/>
              <a:cs typeface="Times New Roman" panose="02020603050405020304" pitchFamily="18" charset="0"/>
            </a:endParaRPr>
          </a:p>
          <a:p>
            <a:pPr marL="0" indent="0" algn="just">
              <a:spcAft>
                <a:spcPts val="0"/>
              </a:spcAft>
              <a:buNone/>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5</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个产地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4</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个销地的</a:t>
            </a:r>
            <a:r>
              <a:rPr lang="zh-CN" altLang="zh-CN" sz="1200" kern="100" dirty="0">
                <a:latin typeface="宋体" panose="02010600030101010101" pitchFamily="2" charset="-122"/>
                <a:ea typeface="等线" panose="02010600030101010101" pitchFamily="2" charset="-122"/>
                <a:cs typeface="Times New Roman" panose="02020603050405020304" pitchFamily="18" charset="0"/>
              </a:rPr>
              <a:t>平衡运输问题</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（）模型。</a:t>
            </a:r>
          </a:p>
          <a:p>
            <a:pPr marL="0" lv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20</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约束</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7</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约束</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9</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变量</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8</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个基变量</a:t>
            </a:r>
          </a:p>
          <a:p>
            <a:pPr marL="0" indent="0" algn="just">
              <a:spcAft>
                <a:spcPts val="0"/>
              </a:spcAft>
              <a:buNone/>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通过什么方法或者技巧可以把产销不平衡运输问题转化为产销平衡运输问题</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非线性</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问题的线性化技巧</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静态</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问题的动态处理 </a:t>
            </a:r>
          </a:p>
          <a:p>
            <a:pPr marL="0" indent="0" algn="just">
              <a:spcAft>
                <a:spcPts val="0"/>
              </a:spcAft>
              <a:buNone/>
            </a:pP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引入</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虚拟产地或者销地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引入</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人工变量 </a:t>
            </a:r>
          </a:p>
          <a:p>
            <a:pPr marL="0" indent="0" algn="just">
              <a:spcAft>
                <a:spcPts val="0"/>
              </a:spcAft>
              <a:buNone/>
            </a:pPr>
            <a:r>
              <a:rPr lang="en-US" altLang="zh-CN" sz="1200" kern="100" dirty="0" err="1">
                <a:latin typeface="等线" panose="02010600030101010101" pitchFamily="2" charset="-122"/>
                <a:ea typeface="等线" panose="02010600030101010101" pitchFamily="2" charset="-122"/>
                <a:cs typeface="Times New Roman" panose="02020603050405020304" pitchFamily="18" charset="0"/>
              </a:rPr>
              <a:t>m+n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个变量构成一组基变量的充要条件是（ ） </a:t>
            </a:r>
          </a:p>
          <a:p>
            <a:pPr marL="0" indent="0" algn="just">
              <a:spcAft>
                <a:spcPts val="0"/>
              </a:spcAft>
              <a:buNone/>
            </a:pP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个变量恰好构成一个闭</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回路</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个变量不包含任何闭回路 </a:t>
            </a:r>
          </a:p>
          <a:p>
            <a:pPr marL="0" indent="0" algn="just">
              <a:spcAft>
                <a:spcPts val="0"/>
              </a:spcAft>
              <a:buNone/>
            </a:pP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个变量中部分变量构成一个闭</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回路</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r>
              <a:rPr lang="en-US" altLang="zh-CN" sz="1200" kern="100" dirty="0" err="1" smtClean="0">
                <a:latin typeface="等线" panose="02010600030101010101" pitchFamily="2" charset="-122"/>
                <a:ea typeface="等线" panose="02010600030101010101" pitchFamily="2" charset="-122"/>
                <a:cs typeface="Times New Roman" panose="02020603050405020304" pitchFamily="18" charset="0"/>
              </a:rPr>
              <a:t>m+n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1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个变量对应的系数列</a:t>
            </a:r>
          </a:p>
          <a:p>
            <a:endParaRPr lang="zh-CN" altLang="en-US" dirty="0"/>
          </a:p>
        </p:txBody>
      </p:sp>
    </p:spTree>
    <p:extLst>
      <p:ext uri="{BB962C8B-B14F-4D97-AF65-F5344CB8AC3E}">
        <p14:creationId xmlns:p14="http://schemas.microsoft.com/office/powerpoint/2010/main" val="1877767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本章练习题</a:t>
            </a:r>
          </a:p>
        </p:txBody>
      </p:sp>
      <p:sp>
        <p:nvSpPr>
          <p:cNvPr id="3" name="内容占位符 2"/>
          <p:cNvSpPr>
            <a:spLocks noGrp="1"/>
          </p:cNvSpPr>
          <p:nvPr>
            <p:ph idx="1"/>
          </p:nvPr>
        </p:nvSpPr>
        <p:spPr>
          <a:xfrm>
            <a:off x="539552" y="1196752"/>
            <a:ext cx="7772400" cy="4114800"/>
          </a:xfrm>
        </p:spPr>
        <p:txBody>
          <a:bodyPr/>
          <a:lstStyle/>
          <a:p>
            <a:pPr algn="just">
              <a:lnSpc>
                <a:spcPct val="173000"/>
              </a:lnSpc>
              <a:spcBef>
                <a:spcPts val="1300"/>
              </a:spcBef>
              <a:spcAft>
                <a:spcPts val="1300"/>
              </a:spcAft>
            </a:pPr>
            <a:r>
              <a:rPr lang="zh-CN" altLang="zh-CN" sz="1200" kern="100" dirty="0">
                <a:latin typeface="等线 Light" panose="02010600030101010101" pitchFamily="2" charset="-122"/>
                <a:ea typeface="宋体" panose="02010600030101010101" pitchFamily="2" charset="-122"/>
                <a:cs typeface="Times New Roman" panose="02020603050405020304" pitchFamily="18" charset="0"/>
              </a:rPr>
              <a:t>二、填空题</a:t>
            </a:r>
            <a:endParaRPr lang="zh-CN" altLang="zh-CN" sz="1600" kern="100" dirty="0">
              <a:latin typeface="等线 Light" panose="02010600030101010101" pitchFamily="2" charset="-122"/>
              <a:ea typeface="等线 Light" panose="02010600030101010101" pitchFamily="2" charset="-122"/>
              <a:cs typeface="Times New Roman" panose="02020603050405020304" pitchFamily="18" charset="0"/>
            </a:endParaRPr>
          </a:p>
          <a:p>
            <a:pPr marL="228600" indent="-228600" algn="just">
              <a:spcAft>
                <a:spcPts val="0"/>
              </a:spcAft>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求解不平衡的运输问题的基本思想是</a:t>
            </a:r>
            <a:r>
              <a:rPr lang="en-US" altLang="zh-CN" sz="1200" u="sng"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u="sng" kern="100" dirty="0" smtClean="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运输问题中求初始基本可行解的方法通常有</a:t>
            </a:r>
            <a:r>
              <a:rPr lang="en-US" altLang="zh-CN" sz="1200" u="sng"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u="sng" kern="100" dirty="0" smtClean="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a:t>
            </a:r>
            <a:r>
              <a:rPr lang="en-US" altLang="zh-CN" sz="1200" u="sng"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en-US" altLang="zh-CN" sz="1200" u="sng" kern="100" dirty="0" smtClean="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两种</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方法。</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运输问题中，求总利润最大时，当运输图所有空格的检验数</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，得最优解；求总运费最小时，当运输图所有空格的检验数</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，得最优解。</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运输问题中，当总供应量小于总需求量时，求解时需虚设一个</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点，此点的供应量应</a:t>
            </a:r>
            <a:r>
              <a:rPr lang="en-US" altLang="zh-CN" sz="1200" u="sng"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r>
              <a:rPr lang="en-US" altLang="zh-CN" sz="1200" kern="100" dirty="0" smtClean="0">
                <a:latin typeface="等线" panose="02010600030101010101" pitchFamily="2" charset="-122"/>
                <a:ea typeface="等线" panose="02010600030101010101" pitchFamily="2" charset="-122"/>
                <a:cs typeface="Times New Roman" panose="02020603050405020304" pitchFamily="18" charset="0"/>
              </a:rPr>
              <a:t>  </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运输问题中非基变量的闭回路</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有</a:t>
            </a:r>
            <a:r>
              <a:rPr lang="en-US" altLang="zh-CN" sz="12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条</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个产地，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个销地的产销不平衡运输问题中，基变量个数</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为</a:t>
            </a:r>
            <a:r>
              <a:rPr lang="en-US" altLang="zh-CN" sz="12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en-US" sz="1200" u="sng"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u="sng"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个产地，</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个销地的产销平衡运输问题中，基变量个数</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为</a:t>
            </a:r>
            <a:r>
              <a:rPr lang="en-US" altLang="zh-CN" sz="1200" u="sng" kern="100" dirty="0" smtClean="0">
                <a:latin typeface="等线" panose="02010600030101010101" pitchFamily="2" charset="-122"/>
                <a:ea typeface="等线" panose="02010600030101010101" pitchFamily="2" charset="-122"/>
                <a:cs typeface="Times New Roman" panose="02020603050405020304" pitchFamily="18" charset="0"/>
              </a:rPr>
              <a:t>      </a:t>
            </a:r>
            <a:r>
              <a:rPr lang="zh-CN" altLang="en-US"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2638960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本章练习题</a:t>
            </a:r>
          </a:p>
        </p:txBody>
      </p:sp>
      <p:sp>
        <p:nvSpPr>
          <p:cNvPr id="3" name="内容占位符 2"/>
          <p:cNvSpPr>
            <a:spLocks noGrp="1"/>
          </p:cNvSpPr>
          <p:nvPr>
            <p:ph idx="1"/>
          </p:nvPr>
        </p:nvSpPr>
        <p:spPr>
          <a:xfrm>
            <a:off x="539552" y="1196752"/>
            <a:ext cx="7772400" cy="4114800"/>
          </a:xfrm>
        </p:spPr>
        <p:txBody>
          <a:bodyPr/>
          <a:lstStyle/>
          <a:p>
            <a:pPr marL="0" indent="0" algn="just">
              <a:lnSpc>
                <a:spcPct val="173000"/>
              </a:lnSpc>
              <a:spcBef>
                <a:spcPts val="1300"/>
              </a:spcBef>
              <a:spcAft>
                <a:spcPts val="1300"/>
              </a:spcAft>
              <a:buNone/>
            </a:pPr>
            <a:r>
              <a:rPr lang="zh-CN" altLang="zh-CN" sz="1200" kern="100" dirty="0">
                <a:latin typeface="等线 Light" panose="02010600030101010101" pitchFamily="2" charset="-122"/>
                <a:ea typeface="等线 Light" panose="02010600030101010101" pitchFamily="2" charset="-122"/>
                <a:cs typeface="Times New Roman" panose="02020603050405020304" pitchFamily="18" charset="0"/>
              </a:rPr>
              <a:t>三、判断题</a:t>
            </a:r>
            <a:endParaRPr lang="zh-CN" altLang="zh-CN" sz="1600" kern="100" dirty="0">
              <a:latin typeface="等线 Light" panose="02010600030101010101" pitchFamily="2" charset="-122"/>
              <a:ea typeface="等线 Light" panose="02010600030101010101" pitchFamily="2" charset="-122"/>
              <a:cs typeface="Times New Roman" panose="02020603050405020304" pitchFamily="18" charset="0"/>
            </a:endParaRPr>
          </a:p>
          <a:p>
            <a:pPr marL="0" indent="0" algn="just">
              <a:spcAft>
                <a:spcPts val="0"/>
              </a:spcAft>
              <a:buNone/>
            </a:pP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对于求费用最小的运输问题，如果某个非基变量检验数小于零，则当前解不是最优解</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位势法是根据对偶理论提出的求检验数的方法</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个约束</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n</a:t>
            </a: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个决策变量的线性规划中基本可行解个数不超过</a:t>
            </a:r>
            <a:r>
              <a:rPr lang="en-US" altLang="zh-CN" sz="1200" kern="100" dirty="0">
                <a:latin typeface="等线" panose="02010600030101010101" pitchFamily="2" charset="-122"/>
                <a:ea typeface="等线" panose="02010600030101010101" pitchFamily="2" charset="-122"/>
                <a:cs typeface="Times New Roman" panose="02020603050405020304" pitchFamily="18" charset="0"/>
              </a:rPr>
              <a:t>m</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不平衡运输问题不一定有</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最优解</a:t>
            </a:r>
            <a:r>
              <a:rPr lang="zh-CN" altLang="en-US"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运输问题可用运输模型求解，但运输模型不仅可处理运输问题，还可以处理类似运输问题的线性规划问题</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zh-CN" altLang="zh-CN" sz="105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buFont typeface="+mj-lt"/>
              <a:buAutoNum type="arabicPeriod"/>
            </a:pPr>
            <a:r>
              <a:rPr lang="zh-CN" altLang="zh-CN" sz="1200" kern="100" dirty="0">
                <a:latin typeface="等线" panose="02010600030101010101" pitchFamily="2" charset="-122"/>
                <a:ea typeface="等线" panose="02010600030101010101" pitchFamily="2" charset="-122"/>
                <a:cs typeface="Times New Roman" panose="02020603050405020304" pitchFamily="18" charset="0"/>
              </a:rPr>
              <a:t>如果运输问题的运价和产销量均为整数，则一定存在整数最优解</a:t>
            </a:r>
            <a:r>
              <a:rPr lang="zh-CN" altLang="zh-CN" sz="1200" kern="100" dirty="0" smtClean="0">
                <a:latin typeface="等线" panose="02010600030101010101" pitchFamily="2" charset="-122"/>
                <a:ea typeface="等线" panose="02010600030101010101" pitchFamily="2" charset="-122"/>
                <a:cs typeface="Times New Roman" panose="02020603050405020304" pitchFamily="18" charset="0"/>
              </a:rPr>
              <a:t>。</a:t>
            </a:r>
            <a:endParaRPr lang="en-US" altLang="zh-CN" sz="1050" kern="100" dirty="0" smtClean="0">
              <a:latin typeface="等线" panose="02010600030101010101" pitchFamily="2" charset="-122"/>
              <a:ea typeface="等线" panose="02010600030101010101" pitchFamily="2" charset="-122"/>
              <a:cs typeface="Times New Roman" panose="02020603050405020304" pitchFamily="18" charset="0"/>
            </a:endParaRPr>
          </a:p>
          <a:p>
            <a:pPr marL="0" indent="0">
              <a:buNone/>
            </a:pPr>
            <a:r>
              <a:rPr lang="en-US" altLang="zh-CN" sz="1200" dirty="0" smtClean="0">
                <a:ea typeface="等线" panose="02010600030101010101" pitchFamily="2" charset="-122"/>
                <a:cs typeface="Times New Roman" panose="02020603050405020304" pitchFamily="18" charset="0"/>
              </a:rPr>
              <a:t>7.      </a:t>
            </a:r>
            <a:r>
              <a:rPr lang="zh-CN" altLang="zh-CN" sz="1200" dirty="0" smtClean="0">
                <a:ea typeface="等线" panose="02010600030101010101" pitchFamily="2" charset="-122"/>
                <a:cs typeface="Times New Roman" panose="02020603050405020304" pitchFamily="18" charset="0"/>
              </a:rPr>
              <a:t>产销</a:t>
            </a:r>
            <a:r>
              <a:rPr lang="zh-CN" altLang="zh-CN" sz="1200" dirty="0">
                <a:ea typeface="等线" panose="02010600030101010101" pitchFamily="2" charset="-122"/>
                <a:cs typeface="Times New Roman" panose="02020603050405020304" pitchFamily="18" charset="0"/>
              </a:rPr>
              <a:t>平衡的运输问题模型有</a:t>
            </a:r>
            <a:r>
              <a:rPr lang="en-US" altLang="zh-CN" sz="1200" dirty="0" err="1">
                <a:ea typeface="等线" panose="02010600030101010101" pitchFamily="2" charset="-122"/>
                <a:cs typeface="Times New Roman" panose="02020603050405020304" pitchFamily="18" charset="0"/>
              </a:rPr>
              <a:t>m+n</a:t>
            </a:r>
            <a:r>
              <a:rPr lang="zh-CN" altLang="zh-CN" sz="1200" dirty="0">
                <a:ea typeface="等线" panose="02010600030101010101" pitchFamily="2" charset="-122"/>
                <a:cs typeface="Times New Roman" panose="02020603050405020304" pitchFamily="18" charset="0"/>
              </a:rPr>
              <a:t>个等式约束和</a:t>
            </a:r>
            <a:r>
              <a:rPr lang="en-US" altLang="zh-CN" sz="1200" dirty="0" err="1">
                <a:ea typeface="等线" panose="02010600030101010101" pitchFamily="2" charset="-122"/>
                <a:cs typeface="Times New Roman" panose="02020603050405020304" pitchFamily="18" charset="0"/>
              </a:rPr>
              <a:t>mn</a:t>
            </a:r>
            <a:r>
              <a:rPr lang="zh-CN" altLang="zh-CN" sz="1200" dirty="0">
                <a:ea typeface="等线" panose="02010600030101010101" pitchFamily="2" charset="-122"/>
                <a:cs typeface="Times New Roman" panose="02020603050405020304" pitchFamily="18" charset="0"/>
              </a:rPr>
              <a:t>个变量。</a:t>
            </a:r>
            <a:endParaRPr lang="zh-CN" altLang="en-US" dirty="0"/>
          </a:p>
        </p:txBody>
      </p:sp>
    </p:spTree>
    <p:extLst>
      <p:ext uri="{BB962C8B-B14F-4D97-AF65-F5344CB8AC3E}">
        <p14:creationId xmlns:p14="http://schemas.microsoft.com/office/powerpoint/2010/main" val="3496277268"/>
      </p:ext>
    </p:extLst>
  </p:cSld>
  <p:clrMapOvr>
    <a:masterClrMapping/>
  </p:clrMapOvr>
</p:sld>
</file>

<file path=ppt/theme/theme1.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6CAAC0"/>
        </a:solidFill>
        <a:ln w="9525" cap="flat" cmpd="sng" algn="ctr">
          <a:solidFill>
            <a:srgbClr val="366B7E"/>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10067</TotalTime>
  <Words>5525</Words>
  <Application>Microsoft Office PowerPoint</Application>
  <PresentationFormat>全屏显示(4:3)</PresentationFormat>
  <Paragraphs>432</Paragraphs>
  <Slides>37</Slides>
  <Notes>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4</vt:i4>
      </vt:variant>
      <vt:variant>
        <vt:lpstr>幻灯片标题</vt:lpstr>
      </vt:variant>
      <vt:variant>
        <vt:i4>37</vt:i4>
      </vt:variant>
    </vt:vector>
  </HeadingPairs>
  <TitlesOfParts>
    <vt:vector size="51" baseType="lpstr">
      <vt:lpstr>等线</vt:lpstr>
      <vt:lpstr>等线 Light</vt:lpstr>
      <vt:lpstr>黑体</vt:lpstr>
      <vt:lpstr>楷体_GB2312</vt:lpstr>
      <vt:lpstr>宋体</vt:lpstr>
      <vt:lpstr>Arial</vt:lpstr>
      <vt:lpstr>Cambria Math</vt:lpstr>
      <vt:lpstr>Times New Roman</vt:lpstr>
      <vt:lpstr>Wingdings</vt:lpstr>
      <vt:lpstr>1_默认设计模板</vt:lpstr>
      <vt:lpstr>Equation</vt:lpstr>
      <vt:lpstr>Document</vt:lpstr>
      <vt:lpstr>Microsoft 公式 3.0</vt:lpstr>
      <vt:lpstr>文档</vt:lpstr>
      <vt:lpstr>4.1 运输问题的数学模型</vt:lpstr>
      <vt:lpstr>4.1 运输问题的数学模型</vt:lpstr>
      <vt:lpstr>4.1 运输问题的数学模型</vt:lpstr>
      <vt:lpstr>4.1 运输问题的数学模型</vt:lpstr>
      <vt:lpstr>4.2 表上作业法</vt:lpstr>
      <vt:lpstr>4.2 表上作业法</vt:lpstr>
      <vt:lpstr>4.2.1 确定初始基可行解</vt:lpstr>
      <vt:lpstr>4.2.1  确定初始基可行解</vt:lpstr>
      <vt:lpstr>4.2.1  确定初始基可行解</vt:lpstr>
      <vt:lpstr>4.2.1  确定初始基可行解</vt:lpstr>
      <vt:lpstr>4.2.1  确定初始基可行解</vt:lpstr>
      <vt:lpstr>4.2.1  确定初始基可行解</vt:lpstr>
      <vt:lpstr>4.2.1  确定初始基可行解</vt:lpstr>
      <vt:lpstr>4.2.1  确定初始基可行解</vt:lpstr>
      <vt:lpstr>4.2.1  确定初始基可行解</vt:lpstr>
      <vt:lpstr>4.2.2  最优解的判别</vt:lpstr>
      <vt:lpstr>4.2.2  最优解的判别</vt:lpstr>
      <vt:lpstr>4.2.2  最优解的判别</vt:lpstr>
      <vt:lpstr>4.2.2  最优解的判别</vt:lpstr>
      <vt:lpstr>4.2.3  改进的方法——闭回路调整法</vt:lpstr>
      <vt:lpstr>4.2.3  改进的方法——闭回路调整法</vt:lpstr>
      <vt:lpstr>4.2.4  表上作业法计算中的问题</vt:lpstr>
      <vt:lpstr>4.2.4  表上作业法计算中的问题</vt:lpstr>
      <vt:lpstr>4.2.4  表上作业法计算中的问题</vt:lpstr>
      <vt:lpstr>4.3 产销不平衡的运输问题</vt:lpstr>
      <vt:lpstr>4.3 产销不平衡的运输问题</vt:lpstr>
      <vt:lpstr>4.3 产销不平衡的运输问题</vt:lpstr>
      <vt:lpstr>4.3 产销不平衡的运输问题</vt:lpstr>
      <vt:lpstr>4.3 产销不平衡的运输问题</vt:lpstr>
      <vt:lpstr>4.3 产销不平衡的运输问题</vt:lpstr>
      <vt:lpstr>4.3 产销不平衡的运输问题</vt:lpstr>
      <vt:lpstr>4.3 产销不平衡的运输问题</vt:lpstr>
      <vt:lpstr>本章练习题</vt:lpstr>
      <vt:lpstr>本章练习题</vt:lpstr>
      <vt:lpstr>本章练习题</vt:lpstr>
      <vt:lpstr>本章练习题</vt:lpstr>
      <vt:lpstr>本章练习题</vt:lpstr>
    </vt:vector>
  </TitlesOfParts>
  <Company>Tsinghua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zoeyleo</dc:creator>
  <cp:lastModifiedBy>admin</cp:lastModifiedBy>
  <cp:revision>524</cp:revision>
  <dcterms:created xsi:type="dcterms:W3CDTF">2006-05-22T13:27:53Z</dcterms:created>
  <dcterms:modified xsi:type="dcterms:W3CDTF">2025-06-12T12:13:24Z</dcterms:modified>
</cp:coreProperties>
</file>