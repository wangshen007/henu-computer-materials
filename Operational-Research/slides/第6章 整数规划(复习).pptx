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2"/>
  </p:notesMasterIdLst>
  <p:sldIdLst>
    <p:sldId id="259" r:id="rId2"/>
    <p:sldId id="759" r:id="rId3"/>
    <p:sldId id="765" r:id="rId4"/>
    <p:sldId id="890" r:id="rId5"/>
    <p:sldId id="769" r:id="rId6"/>
    <p:sldId id="771" r:id="rId7"/>
    <p:sldId id="773" r:id="rId8"/>
    <p:sldId id="774" r:id="rId9"/>
    <p:sldId id="775" r:id="rId10"/>
    <p:sldId id="720" r:id="rId11"/>
    <p:sldId id="721" r:id="rId12"/>
    <p:sldId id="776" r:id="rId13"/>
    <p:sldId id="885" r:id="rId14"/>
    <p:sldId id="777" r:id="rId15"/>
    <p:sldId id="778" r:id="rId16"/>
    <p:sldId id="781" r:id="rId17"/>
    <p:sldId id="891" r:id="rId18"/>
    <p:sldId id="892" r:id="rId19"/>
    <p:sldId id="779" r:id="rId20"/>
    <p:sldId id="786" r:id="rId21"/>
    <p:sldId id="788" r:id="rId22"/>
    <p:sldId id="789" r:id="rId23"/>
    <p:sldId id="879" r:id="rId24"/>
    <p:sldId id="893" r:id="rId25"/>
    <p:sldId id="894" r:id="rId26"/>
    <p:sldId id="886" r:id="rId27"/>
    <p:sldId id="792" r:id="rId28"/>
    <p:sldId id="887" r:id="rId29"/>
    <p:sldId id="812" r:id="rId30"/>
    <p:sldId id="815" r:id="rId31"/>
    <p:sldId id="911" r:id="rId32"/>
    <p:sldId id="817" r:id="rId33"/>
    <p:sldId id="819" r:id="rId34"/>
    <p:sldId id="823" r:id="rId35"/>
    <p:sldId id="914" r:id="rId36"/>
    <p:sldId id="726" r:id="rId37"/>
    <p:sldId id="913" r:id="rId38"/>
    <p:sldId id="915" r:id="rId39"/>
    <p:sldId id="916" r:id="rId40"/>
    <p:sldId id="917" r:id="rId41"/>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3AF8"/>
    <a:srgbClr val="FF0000"/>
    <a:srgbClr val="00CC99"/>
    <a:srgbClr val="902834"/>
    <a:srgbClr val="BE3444"/>
    <a:srgbClr val="C00000"/>
    <a:srgbClr val="008000"/>
    <a:srgbClr val="3B8AFF"/>
    <a:srgbClr val="0046AC"/>
    <a:srgbClr val="0064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3" autoAdjust="0"/>
    <p:restoredTop sz="92764" autoAdjust="0"/>
  </p:normalViewPr>
  <p:slideViewPr>
    <p:cSldViewPr>
      <p:cViewPr varScale="1">
        <p:scale>
          <a:sx n="64" d="100"/>
          <a:sy n="64" d="100"/>
        </p:scale>
        <p:origin x="56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2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F52EA62E-1D32-448B-8E21-98E4654C5C90}"/>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b="0"/>
            </a:lvl1pPr>
          </a:lstStyle>
          <a:p>
            <a:pPr>
              <a:defRPr/>
            </a:pPr>
            <a:endParaRPr lang="en-US" altLang="zh-CN"/>
          </a:p>
        </p:txBody>
      </p:sp>
      <p:sp>
        <p:nvSpPr>
          <p:cNvPr id="434179" name="Rectangle 3">
            <a:extLst>
              <a:ext uri="{FF2B5EF4-FFF2-40B4-BE49-F238E27FC236}">
                <a16:creationId xmlns:a16="http://schemas.microsoft.com/office/drawing/2014/main" id="{A704D810-D0DC-43BD-BB67-19EFA344C618}"/>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b="0"/>
            </a:lvl1pPr>
          </a:lstStyle>
          <a:p>
            <a:pPr>
              <a:defRPr/>
            </a:pPr>
            <a:endParaRPr lang="en-US" altLang="zh-CN"/>
          </a:p>
        </p:txBody>
      </p:sp>
      <p:sp>
        <p:nvSpPr>
          <p:cNvPr id="5124" name="Rectangle 4">
            <a:extLst>
              <a:ext uri="{FF2B5EF4-FFF2-40B4-BE49-F238E27FC236}">
                <a16:creationId xmlns:a16="http://schemas.microsoft.com/office/drawing/2014/main" id="{3CE39F2E-E82D-4A43-AD42-5475E7188AD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4181" name="Rectangle 5">
            <a:extLst>
              <a:ext uri="{FF2B5EF4-FFF2-40B4-BE49-F238E27FC236}">
                <a16:creationId xmlns:a16="http://schemas.microsoft.com/office/drawing/2014/main" id="{76F40EC2-CC73-4676-A07C-E86902BB47BA}"/>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4182" name="Rectangle 6">
            <a:extLst>
              <a:ext uri="{FF2B5EF4-FFF2-40B4-BE49-F238E27FC236}">
                <a16:creationId xmlns:a16="http://schemas.microsoft.com/office/drawing/2014/main" id="{36E19A3C-AB93-421C-9AB0-5F1382E1FA8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b="0"/>
            </a:lvl1pPr>
          </a:lstStyle>
          <a:p>
            <a:pPr>
              <a:defRPr/>
            </a:pPr>
            <a:endParaRPr lang="en-US" altLang="zh-CN"/>
          </a:p>
        </p:txBody>
      </p:sp>
      <p:sp>
        <p:nvSpPr>
          <p:cNvPr id="434183" name="Rectangle 7">
            <a:extLst>
              <a:ext uri="{FF2B5EF4-FFF2-40B4-BE49-F238E27FC236}">
                <a16:creationId xmlns:a16="http://schemas.microsoft.com/office/drawing/2014/main" id="{95B30304-4298-4490-A3B9-B9C69B7A8230}"/>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b="0"/>
            </a:lvl1pPr>
          </a:lstStyle>
          <a:p>
            <a:pPr>
              <a:defRPr/>
            </a:pPr>
            <a:fld id="{9DF79DD5-CF60-4629-9EC1-009C4F339D4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DF79DD5-CF60-4629-9EC1-009C4F339D4D}" type="slidenum">
              <a:rPr lang="en-US" altLang="zh-CN" smtClean="0"/>
              <a:pPr>
                <a:defRPr/>
              </a:pPr>
              <a:t>3</a:t>
            </a:fld>
            <a:endParaRPr lang="en-US" altLang="zh-CN"/>
          </a:p>
        </p:txBody>
      </p:sp>
    </p:spTree>
    <p:extLst>
      <p:ext uri="{BB962C8B-B14F-4D97-AF65-F5344CB8AC3E}">
        <p14:creationId xmlns:p14="http://schemas.microsoft.com/office/powerpoint/2010/main" val="3601222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只考虑一式即可</a:t>
            </a:r>
            <a:r>
              <a:rPr lang="en-US" altLang="zh-CN" dirty="0">
                <a:latin typeface="Times New Roman" panose="02020603050405020304" pitchFamily="18" charset="0"/>
                <a:cs typeface="Times New Roman" panose="02020603050405020304" pitchFamily="18" charset="0"/>
              </a:rPr>
              <a:t>)</a:t>
            </a:r>
            <a:endParaRPr lang="zh-CN" altLang="en-US" dirty="0"/>
          </a:p>
        </p:txBody>
      </p:sp>
      <p:sp>
        <p:nvSpPr>
          <p:cNvPr id="4" name="灯片编号占位符 3"/>
          <p:cNvSpPr>
            <a:spLocks noGrp="1"/>
          </p:cNvSpPr>
          <p:nvPr>
            <p:ph type="sldNum" sz="quarter" idx="10"/>
          </p:nvPr>
        </p:nvSpPr>
        <p:spPr/>
        <p:txBody>
          <a:bodyPr/>
          <a:lstStyle/>
          <a:p>
            <a:pPr>
              <a:defRPr/>
            </a:pPr>
            <a:fld id="{9DF79DD5-CF60-4629-9EC1-009C4F339D4D}" type="slidenum">
              <a:rPr lang="en-US" altLang="zh-CN" smtClean="0"/>
              <a:pPr>
                <a:defRPr/>
              </a:pPr>
              <a:t>19</a:t>
            </a:fld>
            <a:endParaRPr lang="en-US" altLang="zh-CN"/>
          </a:p>
        </p:txBody>
      </p:sp>
    </p:spTree>
    <p:extLst>
      <p:ext uri="{BB962C8B-B14F-4D97-AF65-F5344CB8AC3E}">
        <p14:creationId xmlns:p14="http://schemas.microsoft.com/office/powerpoint/2010/main" val="351470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0" kern="1200" dirty="0">
                <a:solidFill>
                  <a:schemeClr val="tx2"/>
                </a:solidFill>
                <a:latin typeface="+mn-ea"/>
                <a:ea typeface="宋体" panose="02010600030101010101" pitchFamily="2" charset="-122"/>
                <a:cs typeface="Times New Roman" panose="02020603050405020304" pitchFamily="18" charset="0"/>
              </a:rPr>
              <a:t>显然，解矩阵</a:t>
            </a:r>
            <a:r>
              <a:rPr lang="en-US" altLang="zh-CN" sz="1200" b="0" kern="1200" dirty="0">
                <a:solidFill>
                  <a:schemeClr val="tx2"/>
                </a:solidFill>
                <a:latin typeface="+mn-ea"/>
                <a:ea typeface="宋体" panose="02010600030101010101" pitchFamily="2" charset="-122"/>
                <a:cs typeface="Times New Roman" panose="02020603050405020304" pitchFamily="18" charset="0"/>
              </a:rPr>
              <a:t>(</a:t>
            </a:r>
            <a:r>
              <a:rPr lang="en-US" altLang="zh-CN" sz="1200" b="0" i="1" kern="1200" dirty="0" err="1">
                <a:solidFill>
                  <a:schemeClr val="tx2"/>
                </a:solidFill>
                <a:latin typeface="+mn-ea"/>
                <a:ea typeface="宋体" panose="02010600030101010101" pitchFamily="2" charset="-122"/>
                <a:cs typeface="Times New Roman" panose="02020603050405020304" pitchFamily="18" charset="0"/>
              </a:rPr>
              <a:t>x</a:t>
            </a:r>
            <a:r>
              <a:rPr lang="en-US" altLang="zh-CN" sz="1200" b="0" i="1" kern="1200" baseline="-30000" dirty="0" err="1">
                <a:solidFill>
                  <a:schemeClr val="tx2"/>
                </a:solidFill>
                <a:latin typeface="+mn-ea"/>
                <a:ea typeface="宋体" panose="02010600030101010101" pitchFamily="2" charset="-122"/>
                <a:cs typeface="Times New Roman" panose="02020603050405020304" pitchFamily="18" charset="0"/>
              </a:rPr>
              <a:t>ij</a:t>
            </a:r>
            <a:r>
              <a:rPr lang="en-US" altLang="zh-CN" sz="1200" b="0" kern="1200" dirty="0">
                <a:solidFill>
                  <a:schemeClr val="tx2"/>
                </a:solidFill>
                <a:latin typeface="+mn-ea"/>
                <a:ea typeface="宋体" panose="02010600030101010101" pitchFamily="2" charset="-122"/>
                <a:cs typeface="Times New Roman" panose="02020603050405020304" pitchFamily="18" charset="0"/>
              </a:rPr>
              <a:t>)</a:t>
            </a:r>
            <a:r>
              <a:rPr lang="zh-CN" altLang="en-US" sz="1200" b="0" kern="1200" dirty="0">
                <a:solidFill>
                  <a:schemeClr val="tx2"/>
                </a:solidFill>
                <a:latin typeface="+mn-ea"/>
                <a:ea typeface="宋体" panose="02010600030101010101" pitchFamily="2" charset="-122"/>
                <a:cs typeface="Times New Roman" panose="02020603050405020304" pitchFamily="18" charset="0"/>
              </a:rPr>
              <a:t>中各行各列的元素之和都是</a:t>
            </a:r>
            <a:r>
              <a:rPr lang="en-US" altLang="zh-CN" sz="1200" b="0" kern="1200" dirty="0">
                <a:solidFill>
                  <a:schemeClr val="tx2"/>
                </a:solidFill>
                <a:latin typeface="+mn-ea"/>
                <a:ea typeface="宋体" panose="02010600030101010101" pitchFamily="2" charset="-122"/>
                <a:cs typeface="Times New Roman" panose="02020603050405020304" pitchFamily="18" charset="0"/>
              </a:rPr>
              <a:t>1</a:t>
            </a:r>
            <a:r>
              <a:rPr lang="zh-CN" altLang="en-US" sz="1200" b="0" kern="1200" dirty="0">
                <a:solidFill>
                  <a:schemeClr val="tx2"/>
                </a:solidFill>
                <a:latin typeface="+mn-ea"/>
                <a:ea typeface="宋体" panose="02010600030101010101" pitchFamily="2" charset="-122"/>
                <a:cs typeface="Times New Roman" panose="02020603050405020304" pitchFamily="18" charset="0"/>
              </a:rPr>
              <a:t>。但这不是最优解。</a:t>
            </a:r>
          </a:p>
          <a:p>
            <a:endParaRPr lang="zh-CN" altLang="en-US" dirty="0"/>
          </a:p>
        </p:txBody>
      </p:sp>
      <p:sp>
        <p:nvSpPr>
          <p:cNvPr id="4" name="灯片编号占位符 3"/>
          <p:cNvSpPr>
            <a:spLocks noGrp="1"/>
          </p:cNvSpPr>
          <p:nvPr>
            <p:ph type="sldNum" sz="quarter" idx="10"/>
          </p:nvPr>
        </p:nvSpPr>
        <p:spPr/>
        <p:txBody>
          <a:bodyPr/>
          <a:lstStyle/>
          <a:p>
            <a:pPr>
              <a:defRPr/>
            </a:pPr>
            <a:fld id="{9DF79DD5-CF60-4629-9EC1-009C4F339D4D}" type="slidenum">
              <a:rPr lang="en-US" altLang="zh-CN" smtClean="0"/>
              <a:pPr>
                <a:defRPr/>
              </a:pPr>
              <a:t>29</a:t>
            </a:fld>
            <a:endParaRPr lang="en-US" altLang="zh-CN"/>
          </a:p>
        </p:txBody>
      </p:sp>
    </p:spTree>
    <p:extLst>
      <p:ext uri="{BB962C8B-B14F-4D97-AF65-F5344CB8AC3E}">
        <p14:creationId xmlns:p14="http://schemas.microsoft.com/office/powerpoint/2010/main" val="2479583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b="0" dirty="0">
                <a:latin typeface="Times New Roman" panose="02020603050405020304" pitchFamily="18" charset="0"/>
                <a:cs typeface="Times New Roman" panose="02020603050405020304" pitchFamily="18" charset="0"/>
              </a:rPr>
              <a:t>指派问题是</a:t>
            </a:r>
            <a:r>
              <a:rPr lang="en-US" altLang="zh-CN" sz="1200" b="0" dirty="0">
                <a:latin typeface="Times New Roman" panose="02020603050405020304" pitchFamily="18" charset="0"/>
                <a:cs typeface="Times New Roman" panose="02020603050405020304" pitchFamily="18" charset="0"/>
              </a:rPr>
              <a:t>0-1</a:t>
            </a:r>
            <a:r>
              <a:rPr lang="zh-CN" altLang="en-US" sz="1200" b="0" dirty="0">
                <a:latin typeface="Times New Roman" panose="02020603050405020304" pitchFamily="18" charset="0"/>
                <a:cs typeface="Times New Roman" panose="02020603050405020304" pitchFamily="18" charset="0"/>
              </a:rPr>
              <a:t>规划的特例，也是运输问题的特例；即</a:t>
            </a:r>
            <a:r>
              <a:rPr lang="en-US" altLang="zh-CN" sz="1200" b="0" dirty="0">
                <a:latin typeface="Times New Roman" panose="02020603050405020304" pitchFamily="18" charset="0"/>
                <a:cs typeface="Times New Roman" panose="02020603050405020304" pitchFamily="18" charset="0"/>
              </a:rPr>
              <a:t>n=</a:t>
            </a:r>
            <a:r>
              <a:rPr lang="en-US" altLang="zh-CN" sz="1200" b="0" dirty="0" err="1">
                <a:latin typeface="Times New Roman" panose="02020603050405020304" pitchFamily="18" charset="0"/>
                <a:cs typeface="Times New Roman" panose="02020603050405020304" pitchFamily="18" charset="0"/>
              </a:rPr>
              <a:t>m,</a:t>
            </a:r>
            <a:r>
              <a:rPr lang="en-US" altLang="zh-CN" sz="1200" b="0" i="1" dirty="0" err="1">
                <a:latin typeface="Times New Roman" panose="02020603050405020304" pitchFamily="18" charset="0"/>
                <a:cs typeface="Times New Roman" panose="02020603050405020304" pitchFamily="18" charset="0"/>
              </a:rPr>
              <a:t>a</a:t>
            </a:r>
            <a:r>
              <a:rPr lang="en-US" altLang="zh-CN" sz="1200" b="0" i="1" baseline="-30000" dirty="0" err="1">
                <a:latin typeface="Times New Roman" panose="02020603050405020304" pitchFamily="18" charset="0"/>
                <a:cs typeface="Times New Roman" panose="02020603050405020304" pitchFamily="18" charset="0"/>
              </a:rPr>
              <a:t>j</a:t>
            </a:r>
            <a:r>
              <a:rPr lang="en-US" altLang="zh-CN" sz="1200" b="0" dirty="0">
                <a:latin typeface="Times New Roman" panose="02020603050405020304" pitchFamily="18" charset="0"/>
                <a:cs typeface="Times New Roman" panose="02020603050405020304" pitchFamily="18" charset="0"/>
              </a:rPr>
              <a:t>=</a:t>
            </a:r>
            <a:r>
              <a:rPr lang="en-US" altLang="zh-CN" sz="1200" b="0" i="1" dirty="0">
                <a:latin typeface="Times New Roman" panose="02020603050405020304" pitchFamily="18" charset="0"/>
                <a:cs typeface="Times New Roman" panose="02020603050405020304" pitchFamily="18" charset="0"/>
              </a:rPr>
              <a:t>b</a:t>
            </a:r>
            <a:r>
              <a:rPr lang="en-US" altLang="zh-CN" sz="1200" b="0" i="1" baseline="-30000" dirty="0">
                <a:latin typeface="Times New Roman" panose="02020603050405020304" pitchFamily="18" charset="0"/>
                <a:cs typeface="Times New Roman" panose="02020603050405020304" pitchFamily="18" charset="0"/>
              </a:rPr>
              <a:t>i</a:t>
            </a:r>
            <a:r>
              <a:rPr lang="en-US" altLang="zh-CN" sz="1200" b="0" dirty="0">
                <a:latin typeface="Times New Roman" panose="02020603050405020304" pitchFamily="18" charset="0"/>
                <a:cs typeface="Times New Roman" panose="02020603050405020304" pitchFamily="18" charset="0"/>
              </a:rPr>
              <a:t>=1 </a:t>
            </a:r>
          </a:p>
          <a:p>
            <a:pPr eaLnBrk="1" hangingPunct="1"/>
            <a:r>
              <a:rPr lang="zh-CN" altLang="en-US" sz="1200" b="0" dirty="0">
                <a:latin typeface="Times New Roman" panose="02020603050405020304" pitchFamily="18" charset="0"/>
                <a:cs typeface="Times New Roman" panose="02020603050405020304" pitchFamily="18" charset="0"/>
              </a:rPr>
              <a:t>可用整数线性规划，</a:t>
            </a:r>
            <a:r>
              <a:rPr lang="en-US" altLang="zh-CN" sz="1200" b="0" dirty="0">
                <a:latin typeface="Times New Roman" panose="02020603050405020304" pitchFamily="18" charset="0"/>
                <a:cs typeface="Times New Roman" panose="02020603050405020304" pitchFamily="18" charset="0"/>
              </a:rPr>
              <a:t>0-1</a:t>
            </a:r>
            <a:r>
              <a:rPr lang="zh-CN" altLang="en-US" sz="1200" b="0" dirty="0">
                <a:latin typeface="Times New Roman" panose="02020603050405020304" pitchFamily="18" charset="0"/>
                <a:cs typeface="Times New Roman" panose="02020603050405020304" pitchFamily="18" charset="0"/>
              </a:rPr>
              <a:t>规划或运输问题的解法去求解，这就如同用单纯形法求解运输问题一样是不合算的。利用指派问题的特点可有更简便的解法。</a:t>
            </a:r>
          </a:p>
          <a:p>
            <a:pPr eaLnBrk="1" hangingPunct="1"/>
            <a:r>
              <a:rPr lang="zh-CN" altLang="en-US" sz="1200" b="0" dirty="0">
                <a:latin typeface="Times New Roman" panose="02020603050405020304" pitchFamily="18" charset="0"/>
                <a:cs typeface="Times New Roman" panose="02020603050405020304" pitchFamily="18" charset="0"/>
              </a:rPr>
              <a:t>指派问题的最优解有这样性质，若从系数矩阵</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c</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的一行</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列</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各元素中分别减去该行</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列</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的最小元素，得到新矩阵</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b</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a:t>
            </a:r>
          </a:p>
          <a:p>
            <a:pPr eaLnBrk="1" hangingPunct="1"/>
            <a:r>
              <a:rPr lang="zh-CN" altLang="en-US" sz="1200" b="0" dirty="0">
                <a:latin typeface="Times New Roman" panose="02020603050405020304" pitchFamily="18" charset="0"/>
                <a:cs typeface="Times New Roman" panose="02020603050405020304" pitchFamily="18" charset="0"/>
              </a:rPr>
              <a:t>那么以</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b</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为系数矩阵求得的最优解和用原系数矩阵求得的最优解相同。</a:t>
            </a:r>
            <a:endParaRPr lang="en-US" altLang="zh-CN" sz="1200" b="0" dirty="0">
              <a:latin typeface="Times New Roman" panose="02020603050405020304" pitchFamily="18" charset="0"/>
              <a:cs typeface="Times New Roman" panose="02020603050405020304" pitchFamily="18" charset="0"/>
            </a:endParaRPr>
          </a:p>
          <a:p>
            <a:pPr eaLnBrk="1" hangingPunct="1"/>
            <a:endParaRPr lang="en-US" altLang="zh-CN" sz="1200" b="0" dirty="0">
              <a:latin typeface="Times New Roman" panose="02020603050405020304" pitchFamily="18" charset="0"/>
              <a:cs typeface="Times New Roman" panose="02020603050405020304" pitchFamily="18" charset="0"/>
            </a:endParaRPr>
          </a:p>
          <a:p>
            <a:pPr algn="just" eaLnBrk="1" hangingPunct="1"/>
            <a:r>
              <a:rPr lang="zh-CN" altLang="en-US" sz="1200" b="0" dirty="0">
                <a:latin typeface="Times New Roman" panose="02020603050405020304" pitchFamily="18" charset="0"/>
                <a:cs typeface="Times New Roman" panose="02020603050405020304" pitchFamily="18" charset="0"/>
              </a:rPr>
              <a:t>利用这个性质，可使原系数矩阵变换为含有很多</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元素的新系数矩阵，而最优解保持不变，在系数矩阵</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b</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中，我们关心位于不同行不同列的</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元素，以下简称为独立的</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元素。</a:t>
            </a:r>
          </a:p>
          <a:p>
            <a:pPr algn="just" eaLnBrk="1" hangingPunct="1"/>
            <a:r>
              <a:rPr lang="zh-CN" altLang="en-US" sz="1200" b="0" dirty="0">
                <a:latin typeface="Times New Roman" panose="02020603050405020304" pitchFamily="18" charset="0"/>
                <a:cs typeface="Times New Roman" panose="02020603050405020304" pitchFamily="18" charset="0"/>
              </a:rPr>
              <a:t>若能在系数矩阵</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b</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中找出</a:t>
            </a:r>
            <a:r>
              <a:rPr lang="en-US" altLang="zh-CN" sz="1200" b="0" dirty="0">
                <a:latin typeface="Times New Roman" panose="02020603050405020304" pitchFamily="18" charset="0"/>
                <a:cs typeface="Times New Roman" panose="02020603050405020304" pitchFamily="18" charset="0"/>
              </a:rPr>
              <a:t>n</a:t>
            </a:r>
            <a:r>
              <a:rPr lang="zh-CN" altLang="en-US" sz="1200" b="0" dirty="0">
                <a:latin typeface="Times New Roman" panose="02020603050405020304" pitchFamily="18" charset="0"/>
                <a:cs typeface="Times New Roman" panose="02020603050405020304" pitchFamily="18" charset="0"/>
              </a:rPr>
              <a:t>个独立的</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元素；则令解矩阵</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x</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中对应这</a:t>
            </a:r>
            <a:r>
              <a:rPr lang="en-US" altLang="zh-CN" sz="1200" b="0" dirty="0">
                <a:latin typeface="Times New Roman" panose="02020603050405020304" pitchFamily="18" charset="0"/>
                <a:cs typeface="Times New Roman" panose="02020603050405020304" pitchFamily="18" charset="0"/>
              </a:rPr>
              <a:t>n</a:t>
            </a:r>
            <a:r>
              <a:rPr lang="zh-CN" altLang="en-US" sz="1200" b="0" dirty="0">
                <a:latin typeface="Times New Roman" panose="02020603050405020304" pitchFamily="18" charset="0"/>
                <a:cs typeface="Times New Roman" panose="02020603050405020304" pitchFamily="18" charset="0"/>
              </a:rPr>
              <a:t>个独立的</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元素的元素取值为</a:t>
            </a:r>
            <a:r>
              <a:rPr lang="en-US" altLang="zh-CN" sz="1200" b="0" dirty="0">
                <a:latin typeface="Times New Roman" panose="02020603050405020304" pitchFamily="18" charset="0"/>
                <a:cs typeface="Times New Roman" panose="02020603050405020304" pitchFamily="18" charset="0"/>
              </a:rPr>
              <a:t>1</a:t>
            </a:r>
            <a:r>
              <a:rPr lang="zh-CN" altLang="en-US" sz="1200" b="0" dirty="0">
                <a:latin typeface="Times New Roman" panose="02020603050405020304" pitchFamily="18" charset="0"/>
                <a:cs typeface="Times New Roman" panose="02020603050405020304" pitchFamily="18" charset="0"/>
              </a:rPr>
              <a:t>，其他元素取值为</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。将其代入目标函数中得到</a:t>
            </a:r>
            <a:r>
              <a:rPr lang="en-US" altLang="zh-CN" sz="1200" b="0" i="1" dirty="0" err="1">
                <a:latin typeface="Times New Roman" panose="02020603050405020304" pitchFamily="18" charset="0"/>
                <a:cs typeface="Times New Roman" panose="02020603050405020304" pitchFamily="18" charset="0"/>
              </a:rPr>
              <a:t>z</a:t>
            </a:r>
            <a:r>
              <a:rPr lang="en-US" altLang="zh-CN" sz="1200" b="0" i="1" baseline="-30000" dirty="0" err="1">
                <a:latin typeface="Times New Roman" panose="02020603050405020304" pitchFamily="18" charset="0"/>
                <a:cs typeface="Times New Roman" panose="02020603050405020304" pitchFamily="18" charset="0"/>
              </a:rPr>
              <a:t>b</a:t>
            </a:r>
            <a:r>
              <a:rPr lang="en-US" altLang="zh-CN" sz="1200" b="0" dirty="0">
                <a:latin typeface="Times New Roman" panose="02020603050405020304" pitchFamily="18" charset="0"/>
                <a:cs typeface="Times New Roman" panose="02020603050405020304" pitchFamily="18" charset="0"/>
              </a:rPr>
              <a:t>=0</a:t>
            </a:r>
            <a:r>
              <a:rPr lang="zh-CN" altLang="en-US" sz="1200" b="0" dirty="0">
                <a:latin typeface="Times New Roman" panose="02020603050405020304" pitchFamily="18" charset="0"/>
                <a:cs typeface="Times New Roman" panose="02020603050405020304" pitchFamily="18" charset="0"/>
              </a:rPr>
              <a:t>，它一定是最小。</a:t>
            </a:r>
          </a:p>
          <a:p>
            <a:pPr algn="just" eaLnBrk="1" hangingPunct="1"/>
            <a:r>
              <a:rPr lang="zh-CN" altLang="en-US" sz="1200" b="0" dirty="0">
                <a:latin typeface="Times New Roman" panose="02020603050405020304" pitchFamily="18" charset="0"/>
                <a:cs typeface="Times New Roman" panose="02020603050405020304" pitchFamily="18" charset="0"/>
              </a:rPr>
              <a:t>这就是以</a:t>
            </a:r>
            <a:r>
              <a:rPr lang="en-US" altLang="zh-CN" sz="1200" b="0" dirty="0">
                <a:latin typeface="Times New Roman" panose="02020603050405020304" pitchFamily="18" charset="0"/>
                <a:cs typeface="Times New Roman" panose="02020603050405020304" pitchFamily="18" charset="0"/>
              </a:rPr>
              <a:t>(</a:t>
            </a:r>
            <a:r>
              <a:rPr lang="en-US" altLang="zh-CN" sz="1200" b="0" i="1" dirty="0" err="1">
                <a:latin typeface="Times New Roman" panose="02020603050405020304" pitchFamily="18" charset="0"/>
                <a:cs typeface="Times New Roman" panose="02020603050405020304" pitchFamily="18" charset="0"/>
              </a:rPr>
              <a:t>b</a:t>
            </a:r>
            <a:r>
              <a:rPr lang="en-US" altLang="zh-CN" sz="1200" b="0" i="1" baseline="-30000" dirty="0" err="1">
                <a:latin typeface="Times New Roman" panose="02020603050405020304" pitchFamily="18" charset="0"/>
                <a:cs typeface="Times New Roman" panose="02020603050405020304" pitchFamily="18" charset="0"/>
              </a:rPr>
              <a:t>ij</a:t>
            </a:r>
            <a:r>
              <a:rPr lang="en-US" altLang="zh-CN" sz="1200" b="0" dirty="0">
                <a:latin typeface="Times New Roman" panose="02020603050405020304" pitchFamily="18" charset="0"/>
                <a:cs typeface="Times New Roman" panose="02020603050405020304" pitchFamily="18" charset="0"/>
              </a:rPr>
              <a:t>)</a:t>
            </a:r>
            <a:r>
              <a:rPr lang="zh-CN" altLang="en-US" sz="1200" b="0" dirty="0">
                <a:latin typeface="Times New Roman" panose="02020603050405020304" pitchFamily="18" charset="0"/>
                <a:cs typeface="Times New Roman" panose="02020603050405020304" pitchFamily="18" charset="0"/>
              </a:rPr>
              <a:t>为系数矩阵的指派问题的最优解。也就得到了原问题的最优解。</a:t>
            </a:r>
          </a:p>
          <a:p>
            <a:endParaRPr lang="zh-CN" altLang="en-US" dirty="0"/>
          </a:p>
        </p:txBody>
      </p:sp>
      <p:sp>
        <p:nvSpPr>
          <p:cNvPr id="4" name="灯片编号占位符 3"/>
          <p:cNvSpPr>
            <a:spLocks noGrp="1"/>
          </p:cNvSpPr>
          <p:nvPr>
            <p:ph type="sldNum" sz="quarter" idx="10"/>
          </p:nvPr>
        </p:nvSpPr>
        <p:spPr/>
        <p:txBody>
          <a:bodyPr/>
          <a:lstStyle/>
          <a:p>
            <a:pPr>
              <a:defRPr/>
            </a:pPr>
            <a:fld id="{9DF79DD5-CF60-4629-9EC1-009C4F339D4D}" type="slidenum">
              <a:rPr lang="en-US" altLang="zh-CN" smtClean="0"/>
              <a:pPr>
                <a:defRPr/>
              </a:pPr>
              <a:t>30</a:t>
            </a:fld>
            <a:endParaRPr lang="en-US" altLang="zh-CN"/>
          </a:p>
        </p:txBody>
      </p:sp>
    </p:spTree>
    <p:extLst>
      <p:ext uri="{BB962C8B-B14F-4D97-AF65-F5344CB8AC3E}">
        <p14:creationId xmlns:p14="http://schemas.microsoft.com/office/powerpoint/2010/main" val="4115952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2000" b="0" dirty="0">
                <a:latin typeface="Times New Roman" panose="02020603050405020304" pitchFamily="18" charset="0"/>
                <a:cs typeface="Times New Roman" panose="02020603050405020304" pitchFamily="18" charset="0"/>
              </a:rPr>
              <a:t>经第一步变换后，系数矩阵中每行每列都已有了</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元素；但需找出</a:t>
            </a:r>
            <a:r>
              <a:rPr lang="en-US" altLang="zh-CN" sz="2000" b="0"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个独立的</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元素。若能找出，就以这些独立</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元素对应解矩阵</a:t>
            </a:r>
            <a:r>
              <a:rPr lang="en-US" altLang="zh-CN" sz="2000" b="0" dirty="0">
                <a:latin typeface="Times New Roman" panose="02020603050405020304" pitchFamily="18" charset="0"/>
                <a:cs typeface="Times New Roman" panose="02020603050405020304" pitchFamily="18" charset="0"/>
              </a:rPr>
              <a:t>(</a:t>
            </a:r>
            <a:r>
              <a:rPr lang="en-US" altLang="zh-CN" sz="2000" b="0" i="1" dirty="0" err="1">
                <a:latin typeface="Times New Roman" panose="02020603050405020304" pitchFamily="18" charset="0"/>
                <a:cs typeface="Times New Roman" panose="02020603050405020304" pitchFamily="18" charset="0"/>
              </a:rPr>
              <a:t>x</a:t>
            </a:r>
            <a:r>
              <a:rPr lang="en-US" altLang="zh-CN" sz="2000" b="0" i="1" baseline="-30000" dirty="0" err="1">
                <a:latin typeface="Times New Roman" panose="02020603050405020304" pitchFamily="18" charset="0"/>
                <a:cs typeface="Times New Roman" panose="02020603050405020304" pitchFamily="18" charset="0"/>
              </a:rPr>
              <a:t>ij</a:t>
            </a:r>
            <a:r>
              <a:rPr lang="en-US" altLang="zh-CN" sz="2000" b="0" dirty="0">
                <a:latin typeface="Times New Roman" panose="02020603050405020304" pitchFamily="18" charset="0"/>
                <a:cs typeface="Times New Roman" panose="02020603050405020304" pitchFamily="18" charset="0"/>
              </a:rPr>
              <a:t>)</a:t>
            </a:r>
            <a:r>
              <a:rPr lang="zh-CN" altLang="en-US" sz="2000" b="0" dirty="0">
                <a:latin typeface="Times New Roman" panose="02020603050405020304" pitchFamily="18" charset="0"/>
                <a:cs typeface="Times New Roman" panose="02020603050405020304" pitchFamily="18" charset="0"/>
              </a:rPr>
              <a:t>中的元素为</a:t>
            </a:r>
            <a:r>
              <a:rPr lang="en-US" altLang="zh-CN" sz="2000" b="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，其余为</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，这就得到最优解。当</a:t>
            </a:r>
            <a:r>
              <a:rPr lang="en-US" altLang="zh-CN" sz="2000" b="0"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较小时，可用观察法、试探法去找出</a:t>
            </a:r>
            <a:r>
              <a:rPr lang="en-US" altLang="zh-CN" sz="2000" b="0"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个独立</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元素。若</a:t>
            </a:r>
            <a:r>
              <a:rPr lang="en-US" altLang="zh-CN" sz="2000" b="0"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较大时，就必须按一定的步骤去找，常用的步骤为： </a:t>
            </a:r>
          </a:p>
          <a:p>
            <a:endParaRPr lang="zh-CN" altLang="en-US" dirty="0"/>
          </a:p>
        </p:txBody>
      </p:sp>
      <p:sp>
        <p:nvSpPr>
          <p:cNvPr id="4" name="灯片编号占位符 3"/>
          <p:cNvSpPr>
            <a:spLocks noGrp="1"/>
          </p:cNvSpPr>
          <p:nvPr>
            <p:ph type="sldNum" sz="quarter" idx="10"/>
          </p:nvPr>
        </p:nvSpPr>
        <p:spPr/>
        <p:txBody>
          <a:bodyPr/>
          <a:lstStyle/>
          <a:p>
            <a:pPr>
              <a:defRPr/>
            </a:pPr>
            <a:fld id="{9DF79DD5-CF60-4629-9EC1-009C4F339D4D}" type="slidenum">
              <a:rPr lang="en-US" altLang="zh-CN" smtClean="0"/>
              <a:pPr>
                <a:defRPr/>
              </a:pPr>
              <a:t>31</a:t>
            </a:fld>
            <a:endParaRPr lang="en-US" altLang="zh-CN"/>
          </a:p>
        </p:txBody>
      </p:sp>
    </p:spTree>
    <p:extLst>
      <p:ext uri="{BB962C8B-B14F-4D97-AF65-F5344CB8AC3E}">
        <p14:creationId xmlns:p14="http://schemas.microsoft.com/office/powerpoint/2010/main" val="1401734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10" name="矩形 9"/>
          <p:cNvSpPr/>
          <p:nvPr userDrawn="1"/>
        </p:nvSpPr>
        <p:spPr bwMode="auto">
          <a:xfrm>
            <a:off x="-12364" y="6534327"/>
            <a:ext cx="9144000" cy="332656"/>
          </a:xfrm>
          <a:prstGeom prst="rect">
            <a:avLst/>
          </a:prstGeom>
          <a:solidFill>
            <a:srgbClr val="902834"/>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266" name="Rectangle 2"/>
          <p:cNvSpPr>
            <a:spLocks noGrp="1" noChangeArrowheads="1"/>
          </p:cNvSpPr>
          <p:nvPr>
            <p:ph type="subTitle" idx="1"/>
          </p:nvPr>
        </p:nvSpPr>
        <p:spPr>
          <a:xfrm>
            <a:off x="1258888" y="2781300"/>
            <a:ext cx="5638800" cy="1831975"/>
          </a:xfrm>
        </p:spPr>
        <p:txBody>
          <a:bodyPr/>
          <a:lstStyle>
            <a:lvl1pPr marL="0" indent="0">
              <a:buFont typeface="Wingdings" panose="05000000000000000000" pitchFamily="2" charset="2"/>
              <a:buChar char="n"/>
              <a:defRPr/>
            </a:lvl1pPr>
          </a:lstStyle>
          <a:p>
            <a:pPr lvl="0"/>
            <a:r>
              <a:rPr lang="zh-CN" altLang="en-US" noProof="0"/>
              <a:t>单击此处编辑母版副标题样式</a:t>
            </a:r>
          </a:p>
        </p:txBody>
      </p:sp>
      <p:sp>
        <p:nvSpPr>
          <p:cNvPr id="9" name="Rectangle 5">
            <a:extLst>
              <a:ext uri="{FF2B5EF4-FFF2-40B4-BE49-F238E27FC236}">
                <a16:creationId xmlns:a16="http://schemas.microsoft.com/office/drawing/2014/main" id="{79ACD2FD-258D-4973-9F5D-34BC0FE0FC9D}"/>
              </a:ext>
            </a:extLst>
          </p:cNvPr>
          <p:cNvSpPr>
            <a:spLocks noGrp="1" noChangeArrowheads="1"/>
          </p:cNvSpPr>
          <p:nvPr>
            <p:ph type="sldNum" sz="quarter" idx="12"/>
          </p:nvPr>
        </p:nvSpPr>
        <p:spPr>
          <a:xfrm>
            <a:off x="6553200" y="6500192"/>
            <a:ext cx="1905000" cy="357808"/>
          </a:xfrm>
        </p:spPr>
        <p:txBody>
          <a:bodyPr/>
          <a:lstStyle>
            <a:lvl1pPr>
              <a:defRPr/>
            </a:lvl1pPr>
          </a:lstStyle>
          <a:p>
            <a:pPr>
              <a:defRPr/>
            </a:pPr>
            <a:fld id="{FC5A5C9B-D6AF-4621-AA71-61EEE167B9C6}" type="slidenum">
              <a:rPr lang="en-US" altLang="zh-CN"/>
              <a:pPr>
                <a:defRPr/>
              </a:pPr>
              <a:t>‹#›</a:t>
            </a:fld>
            <a:endParaRPr lang="en-US" altLang="zh-CN"/>
          </a:p>
        </p:txBody>
      </p:sp>
      <p:sp>
        <p:nvSpPr>
          <p:cNvPr id="11" name="Rectangle 4" descr="浅色横线"/>
          <p:cNvSpPr>
            <a:spLocks noChangeArrowheads="1"/>
          </p:cNvSpPr>
          <p:nvPr userDrawn="1"/>
        </p:nvSpPr>
        <p:spPr bwMode="auto">
          <a:xfrm>
            <a:off x="40704" y="1054894"/>
            <a:ext cx="9067800" cy="6985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525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1671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a:xfrm>
            <a:off x="494729" y="1196752"/>
            <a:ext cx="8469759" cy="5184576"/>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6" name="Rectangle 8">
            <a:extLst>
              <a:ext uri="{FF2B5EF4-FFF2-40B4-BE49-F238E27FC236}">
                <a16:creationId xmlns:a16="http://schemas.microsoft.com/office/drawing/2014/main" id="{1E2230EF-8B33-4C8A-8F5D-8B7FBDC58533}"/>
              </a:ext>
            </a:extLst>
          </p:cNvPr>
          <p:cNvSpPr>
            <a:spLocks noGrp="1" noChangeArrowheads="1"/>
          </p:cNvSpPr>
          <p:nvPr>
            <p:ph type="sldNum" sz="quarter" idx="12"/>
          </p:nvPr>
        </p:nvSpPr>
        <p:spPr>
          <a:ln/>
        </p:spPr>
        <p:txBody>
          <a:bodyPr/>
          <a:lstStyle>
            <a:lvl1pPr>
              <a:defRPr/>
            </a:lvl1pPr>
          </a:lstStyle>
          <a:p>
            <a:pPr>
              <a:defRPr/>
            </a:pPr>
            <a:fld id="{4B2531AE-03F7-4AC7-B414-2794D0F0706D}" type="slidenum">
              <a:rPr lang="en-US" altLang="zh-CN"/>
              <a:pPr>
                <a:defRPr/>
              </a:pPr>
              <a:t>‹#›</a:t>
            </a:fld>
            <a:endParaRPr lang="en-US" altLang="zh-CN"/>
          </a:p>
        </p:txBody>
      </p:sp>
    </p:spTree>
    <p:extLst>
      <p:ext uri="{BB962C8B-B14F-4D97-AF65-F5344CB8AC3E}">
        <p14:creationId xmlns:p14="http://schemas.microsoft.com/office/powerpoint/2010/main" val="593068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6" name="Rectangle 8">
            <a:extLst>
              <a:ext uri="{FF2B5EF4-FFF2-40B4-BE49-F238E27FC236}">
                <a16:creationId xmlns:a16="http://schemas.microsoft.com/office/drawing/2014/main" id="{0CCEFB31-DB5A-4673-8921-510093ED36BE}"/>
              </a:ext>
            </a:extLst>
          </p:cNvPr>
          <p:cNvSpPr>
            <a:spLocks noGrp="1" noChangeArrowheads="1"/>
          </p:cNvSpPr>
          <p:nvPr>
            <p:ph type="sldNum" sz="quarter" idx="12"/>
          </p:nvPr>
        </p:nvSpPr>
        <p:spPr>
          <a:ln/>
        </p:spPr>
        <p:txBody>
          <a:bodyPr/>
          <a:lstStyle>
            <a:lvl1pPr>
              <a:defRPr/>
            </a:lvl1pPr>
          </a:lstStyle>
          <a:p>
            <a:pPr>
              <a:defRPr/>
            </a:pPr>
            <a:fld id="{F57AFE75-1CEC-4683-B306-CF8AF46BFACB}" type="slidenum">
              <a:rPr lang="en-US" altLang="zh-CN"/>
              <a:pPr>
                <a:defRPr/>
              </a:pPr>
              <a:t>‹#›</a:t>
            </a:fld>
            <a:endParaRPr lang="en-US" altLang="zh-CN"/>
          </a:p>
        </p:txBody>
      </p:sp>
    </p:spTree>
    <p:extLst>
      <p:ext uri="{BB962C8B-B14F-4D97-AF65-F5344CB8AC3E}">
        <p14:creationId xmlns:p14="http://schemas.microsoft.com/office/powerpoint/2010/main" val="185419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125909" y="1124744"/>
            <a:ext cx="4446091" cy="1954430"/>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4" name="内容占位符 3"/>
          <p:cNvSpPr>
            <a:spLocks noGrp="1"/>
          </p:cNvSpPr>
          <p:nvPr>
            <p:ph sz="half" idx="2" hasCustomPrompt="1"/>
          </p:nvPr>
        </p:nvSpPr>
        <p:spPr>
          <a:xfrm>
            <a:off x="4572000" y="1124744"/>
            <a:ext cx="4446090" cy="1954430"/>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7" name="Rectangle 8">
            <a:extLst>
              <a:ext uri="{FF2B5EF4-FFF2-40B4-BE49-F238E27FC236}">
                <a16:creationId xmlns:a16="http://schemas.microsoft.com/office/drawing/2014/main" id="{2B8F64AF-D447-4319-A860-D8934E2DFBB1}"/>
              </a:ext>
            </a:extLst>
          </p:cNvPr>
          <p:cNvSpPr>
            <a:spLocks noGrp="1" noChangeArrowheads="1"/>
          </p:cNvSpPr>
          <p:nvPr>
            <p:ph type="sldNum" sz="quarter" idx="12"/>
          </p:nvPr>
        </p:nvSpPr>
        <p:spPr>
          <a:ln/>
        </p:spPr>
        <p:txBody>
          <a:bodyPr/>
          <a:lstStyle>
            <a:lvl1pPr>
              <a:defRPr/>
            </a:lvl1pPr>
          </a:lstStyle>
          <a:p>
            <a:pPr>
              <a:defRPr/>
            </a:pPr>
            <a:fld id="{89F72E47-4B97-4B0C-B6C6-543C1BD60A8F}" type="slidenum">
              <a:rPr lang="en-US" altLang="zh-CN"/>
              <a:pPr>
                <a:defRPr/>
              </a:pPr>
              <a:t>‹#›</a:t>
            </a:fld>
            <a:endParaRPr lang="en-US" altLang="zh-CN"/>
          </a:p>
        </p:txBody>
      </p:sp>
    </p:spTree>
    <p:extLst>
      <p:ext uri="{BB962C8B-B14F-4D97-AF65-F5344CB8AC3E}">
        <p14:creationId xmlns:p14="http://schemas.microsoft.com/office/powerpoint/2010/main" val="1748345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115616" y="365125"/>
            <a:ext cx="7401322" cy="543595"/>
          </a:xfrm>
        </p:spPr>
        <p:txBody>
          <a:bodyPr/>
          <a:lstStyle/>
          <a:p>
            <a:r>
              <a:rPr lang="zh-CN" altLang="en-US" dirty="0"/>
              <a:t>单击此处编辑母版标题样式</a:t>
            </a:r>
          </a:p>
        </p:txBody>
      </p:sp>
      <p:sp>
        <p:nvSpPr>
          <p:cNvPr id="3" name="文本占位符 2"/>
          <p:cNvSpPr>
            <a:spLocks noGrp="1"/>
          </p:cNvSpPr>
          <p:nvPr>
            <p:ph type="body" idx="1"/>
          </p:nvPr>
        </p:nvSpPr>
        <p:spPr>
          <a:xfrm>
            <a:off x="141040" y="1196752"/>
            <a:ext cx="4261025" cy="4230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hasCustomPrompt="1"/>
          </p:nvPr>
        </p:nvSpPr>
        <p:spPr>
          <a:xfrm>
            <a:off x="141040" y="1700808"/>
            <a:ext cx="4261025" cy="2056408"/>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5" name="文本占位符 4"/>
          <p:cNvSpPr>
            <a:spLocks noGrp="1"/>
          </p:cNvSpPr>
          <p:nvPr>
            <p:ph type="body" sz="quarter" idx="3"/>
          </p:nvPr>
        </p:nvSpPr>
        <p:spPr>
          <a:xfrm>
            <a:off x="4466456" y="1196752"/>
            <a:ext cx="4282008" cy="4230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hasCustomPrompt="1"/>
          </p:nvPr>
        </p:nvSpPr>
        <p:spPr>
          <a:xfrm>
            <a:off x="4466456" y="1700808"/>
            <a:ext cx="4282008" cy="2056408"/>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9" name="Rectangle 8">
            <a:extLst>
              <a:ext uri="{FF2B5EF4-FFF2-40B4-BE49-F238E27FC236}">
                <a16:creationId xmlns:a16="http://schemas.microsoft.com/office/drawing/2014/main" id="{5C6C46F1-60CB-4E73-AC89-DE5B6A151633}"/>
              </a:ext>
            </a:extLst>
          </p:cNvPr>
          <p:cNvSpPr>
            <a:spLocks noGrp="1" noChangeArrowheads="1"/>
          </p:cNvSpPr>
          <p:nvPr>
            <p:ph type="sldNum" sz="quarter" idx="12"/>
          </p:nvPr>
        </p:nvSpPr>
        <p:spPr>
          <a:ln/>
        </p:spPr>
        <p:txBody>
          <a:bodyPr/>
          <a:lstStyle>
            <a:lvl1pPr>
              <a:defRPr/>
            </a:lvl1pPr>
          </a:lstStyle>
          <a:p>
            <a:pPr>
              <a:defRPr/>
            </a:pPr>
            <a:fld id="{9D9414CA-ABA0-4F90-9A7D-646B5F63FA65}" type="slidenum">
              <a:rPr lang="en-US" altLang="zh-CN"/>
              <a:pPr>
                <a:defRPr/>
              </a:pPr>
              <a:t>‹#›</a:t>
            </a:fld>
            <a:endParaRPr lang="en-US" altLang="zh-CN"/>
          </a:p>
        </p:txBody>
      </p:sp>
    </p:spTree>
    <p:extLst>
      <p:ext uri="{BB962C8B-B14F-4D97-AF65-F5344CB8AC3E}">
        <p14:creationId xmlns:p14="http://schemas.microsoft.com/office/powerpoint/2010/main" val="965319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7A8A2710-86FC-4BF0-BB8A-C419D680EC17}"/>
              </a:ext>
            </a:extLst>
          </p:cNvPr>
          <p:cNvSpPr>
            <a:spLocks noGrp="1" noChangeArrowheads="1"/>
          </p:cNvSpPr>
          <p:nvPr>
            <p:ph type="sldNum" sz="quarter" idx="12"/>
          </p:nvPr>
        </p:nvSpPr>
        <p:spPr>
          <a:ln/>
        </p:spPr>
        <p:txBody>
          <a:bodyPr/>
          <a:lstStyle>
            <a:lvl1pPr>
              <a:defRPr/>
            </a:lvl1pPr>
          </a:lstStyle>
          <a:p>
            <a:pPr>
              <a:defRPr/>
            </a:pPr>
            <a:fld id="{873FC6F1-C91B-4914-8515-63C78A35E124}" type="slidenum">
              <a:rPr lang="en-US" altLang="zh-CN"/>
              <a:pPr>
                <a:defRPr/>
              </a:pPr>
              <a:t>‹#›</a:t>
            </a:fld>
            <a:endParaRPr lang="en-US" altLang="zh-CN"/>
          </a:p>
        </p:txBody>
      </p:sp>
    </p:spTree>
    <p:extLst>
      <p:ext uri="{BB962C8B-B14F-4D97-AF65-F5344CB8AC3E}">
        <p14:creationId xmlns:p14="http://schemas.microsoft.com/office/powerpoint/2010/main" val="553889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Rectangle 8">
            <a:extLst>
              <a:ext uri="{FF2B5EF4-FFF2-40B4-BE49-F238E27FC236}">
                <a16:creationId xmlns:a16="http://schemas.microsoft.com/office/drawing/2014/main" id="{A08B8D89-05AE-4F06-9451-CFC25F4BBDB7}"/>
              </a:ext>
            </a:extLst>
          </p:cNvPr>
          <p:cNvSpPr>
            <a:spLocks noGrp="1" noChangeArrowheads="1"/>
          </p:cNvSpPr>
          <p:nvPr>
            <p:ph type="sldNum" sz="quarter" idx="12"/>
          </p:nvPr>
        </p:nvSpPr>
        <p:spPr>
          <a:ln/>
        </p:spPr>
        <p:txBody>
          <a:bodyPr/>
          <a:lstStyle>
            <a:lvl1pPr>
              <a:defRPr/>
            </a:lvl1pPr>
          </a:lstStyle>
          <a:p>
            <a:pPr>
              <a:defRPr/>
            </a:pPr>
            <a:fld id="{81E82896-D06A-4FA1-B5DF-DA98E05FA8C2}" type="slidenum">
              <a:rPr lang="en-US" altLang="zh-CN"/>
              <a:pPr>
                <a:defRPr/>
              </a:pPr>
              <a:t>‹#›</a:t>
            </a:fld>
            <a:endParaRPr lang="en-US" altLang="zh-CN"/>
          </a:p>
        </p:txBody>
      </p:sp>
    </p:spTree>
    <p:extLst>
      <p:ext uri="{BB962C8B-B14F-4D97-AF65-F5344CB8AC3E}">
        <p14:creationId xmlns:p14="http://schemas.microsoft.com/office/powerpoint/2010/main" val="2766850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1268760"/>
            <a:ext cx="2949575" cy="788640"/>
          </a:xfrm>
        </p:spPr>
        <p:txBody>
          <a:bodyPr/>
          <a:lstStyle>
            <a:lvl1pPr>
              <a:defRPr sz="3200"/>
            </a:lvl1pPr>
          </a:lstStyle>
          <a:p>
            <a:r>
              <a:rPr lang="zh-CN" altLang="en-US" dirty="0"/>
              <a:t>单击此处编辑母版标题样式</a:t>
            </a:r>
          </a:p>
        </p:txBody>
      </p:sp>
      <p:sp>
        <p:nvSpPr>
          <p:cNvPr id="3" name="内容占位符 2"/>
          <p:cNvSpPr>
            <a:spLocks noGrp="1"/>
          </p:cNvSpPr>
          <p:nvPr>
            <p:ph idx="1" hasCustomPrompt="1"/>
          </p:nvPr>
        </p:nvSpPr>
        <p:spPr>
          <a:xfrm>
            <a:off x="3887788" y="987425"/>
            <a:ext cx="4629150" cy="203748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7" name="Rectangle 8">
            <a:extLst>
              <a:ext uri="{FF2B5EF4-FFF2-40B4-BE49-F238E27FC236}">
                <a16:creationId xmlns:a16="http://schemas.microsoft.com/office/drawing/2014/main" id="{0DF3E9A0-91F1-44A9-9391-DE01F6C9DF1A}"/>
              </a:ext>
            </a:extLst>
          </p:cNvPr>
          <p:cNvSpPr>
            <a:spLocks noGrp="1" noChangeArrowheads="1"/>
          </p:cNvSpPr>
          <p:nvPr>
            <p:ph type="sldNum" sz="quarter" idx="12"/>
          </p:nvPr>
        </p:nvSpPr>
        <p:spPr>
          <a:ln/>
        </p:spPr>
        <p:txBody>
          <a:bodyPr/>
          <a:lstStyle>
            <a:lvl1pPr>
              <a:defRPr/>
            </a:lvl1pPr>
          </a:lstStyle>
          <a:p>
            <a:pPr>
              <a:defRPr/>
            </a:pPr>
            <a:fld id="{7CDD17FA-F108-45B8-91F3-8805A3CE9BBD}" type="slidenum">
              <a:rPr lang="en-US" altLang="zh-CN"/>
              <a:pPr>
                <a:defRPr/>
              </a:pPr>
              <a:t>‹#›</a:t>
            </a:fld>
            <a:endParaRPr lang="en-US" altLang="zh-CN"/>
          </a:p>
        </p:txBody>
      </p:sp>
    </p:spTree>
    <p:extLst>
      <p:ext uri="{BB962C8B-B14F-4D97-AF65-F5344CB8AC3E}">
        <p14:creationId xmlns:p14="http://schemas.microsoft.com/office/powerpoint/2010/main" val="260419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13409595-382C-4D72-A3FF-325626298069}"/>
              </a:ext>
            </a:extLst>
          </p:cNvPr>
          <p:cNvSpPr>
            <a:spLocks noGrp="1" noChangeArrowheads="1"/>
          </p:cNvSpPr>
          <p:nvPr>
            <p:ph type="dt" sz="half" idx="10"/>
          </p:nvPr>
        </p:nvSpPr>
        <p:spPr>
          <a:xfrm>
            <a:off x="946150" y="6248400"/>
            <a:ext cx="1905000" cy="457200"/>
          </a:xfrm>
          <a:prstGeom prst="rect">
            <a:avLst/>
          </a:prstGeom>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C0452EC2-EE0B-44A4-BC5A-7E858EF7103A}"/>
              </a:ext>
            </a:extLst>
          </p:cNvPr>
          <p:cNvSpPr>
            <a:spLocks noGrp="1" noChangeArrowheads="1"/>
          </p:cNvSpPr>
          <p:nvPr>
            <p:ph type="sldNum" sz="quarter" idx="12"/>
          </p:nvPr>
        </p:nvSpPr>
        <p:spPr>
          <a:ln/>
        </p:spPr>
        <p:txBody>
          <a:bodyPr/>
          <a:lstStyle>
            <a:lvl1pPr>
              <a:defRPr/>
            </a:lvl1pPr>
          </a:lstStyle>
          <a:p>
            <a:pPr>
              <a:defRPr/>
            </a:pPr>
            <a:fld id="{166BD0A0-0551-43AD-9D8B-F3684697E8BC}" type="slidenum">
              <a:rPr lang="en-US" altLang="zh-CN"/>
              <a:pPr>
                <a:defRPr/>
              </a:pPr>
              <a:t>‹#›</a:t>
            </a:fld>
            <a:endParaRPr lang="en-US" altLang="zh-CN"/>
          </a:p>
        </p:txBody>
      </p:sp>
    </p:spTree>
    <p:extLst>
      <p:ext uri="{BB962C8B-B14F-4D97-AF65-F5344CB8AC3E}">
        <p14:creationId xmlns:p14="http://schemas.microsoft.com/office/powerpoint/2010/main" val="138560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124744" y="476395"/>
            <a:ext cx="7158037" cy="495430"/>
          </a:xfrm>
        </p:spPr>
        <p:txBody>
          <a:bodyPr/>
          <a:lstStyle/>
          <a:p>
            <a:r>
              <a:rPr lang="zh-CN" altLang="en-US"/>
              <a:t>单击此处编辑母版标题样式</a:t>
            </a:r>
          </a:p>
        </p:txBody>
      </p:sp>
      <p:sp>
        <p:nvSpPr>
          <p:cNvPr id="3" name="内容占位符 2"/>
          <p:cNvSpPr>
            <a:spLocks noGrp="1"/>
          </p:cNvSpPr>
          <p:nvPr>
            <p:ph sz="half" idx="1" hasCustomPrompt="1"/>
          </p:nvPr>
        </p:nvSpPr>
        <p:spPr>
          <a:xfrm>
            <a:off x="539552" y="1196752"/>
            <a:ext cx="4176465" cy="1812857"/>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4" name="内容占位符 3"/>
          <p:cNvSpPr>
            <a:spLocks noGrp="1"/>
          </p:cNvSpPr>
          <p:nvPr>
            <p:ph sz="quarter" idx="2" hasCustomPrompt="1"/>
          </p:nvPr>
        </p:nvSpPr>
        <p:spPr>
          <a:xfrm>
            <a:off x="4716016" y="1196752"/>
            <a:ext cx="4176464" cy="1812857"/>
          </a:xfrm>
        </p:spPr>
        <p:txBody>
          <a:bodyPr/>
          <a:lstStyle>
            <a:lvl5pPr marL="1682750" indent="0">
              <a:buNone/>
              <a:defRPr/>
            </a:lvl5pPr>
          </a:lstStyle>
          <a:p>
            <a:pPr lvl="0"/>
            <a:r>
              <a:rPr lang="zh-CN" altLang="en-US" dirty="0"/>
              <a:t>单击此处编辑母版文本样式</a:t>
            </a:r>
          </a:p>
          <a:p>
            <a:pPr lvl="1"/>
            <a:r>
              <a:rPr lang="zh-CN" altLang="en-US" dirty="0"/>
              <a:t>二级</a:t>
            </a:r>
          </a:p>
          <a:p>
            <a:pPr lvl="2"/>
            <a:r>
              <a:rPr lang="zh-CN" altLang="en-US" dirty="0"/>
              <a:t>三级</a:t>
            </a:r>
          </a:p>
        </p:txBody>
      </p:sp>
      <p:sp>
        <p:nvSpPr>
          <p:cNvPr id="5" name="内容占位符 4"/>
          <p:cNvSpPr>
            <a:spLocks noGrp="1"/>
          </p:cNvSpPr>
          <p:nvPr>
            <p:ph sz="quarter" idx="3" hasCustomPrompt="1"/>
          </p:nvPr>
        </p:nvSpPr>
        <p:spPr>
          <a:xfrm>
            <a:off x="4716016" y="2840279"/>
            <a:ext cx="4176464" cy="1812857"/>
          </a:xfrm>
        </p:spPr>
        <p:txBody>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8" name="Rectangle 8">
            <a:extLst>
              <a:ext uri="{FF2B5EF4-FFF2-40B4-BE49-F238E27FC236}">
                <a16:creationId xmlns:a16="http://schemas.microsoft.com/office/drawing/2014/main" id="{AB4CA484-2B1D-4367-BC7D-430D1524C5FB}"/>
              </a:ext>
            </a:extLst>
          </p:cNvPr>
          <p:cNvSpPr>
            <a:spLocks noGrp="1" noChangeArrowheads="1"/>
          </p:cNvSpPr>
          <p:nvPr>
            <p:ph type="sldNum" sz="quarter" idx="12"/>
          </p:nvPr>
        </p:nvSpPr>
        <p:spPr>
          <a:ln/>
        </p:spPr>
        <p:txBody>
          <a:bodyPr/>
          <a:lstStyle>
            <a:lvl1pPr>
              <a:defRPr/>
            </a:lvl1pPr>
          </a:lstStyle>
          <a:p>
            <a:pPr>
              <a:defRPr/>
            </a:pPr>
            <a:fld id="{09102D68-3369-472F-AD21-F497552A51CE}" type="slidenum">
              <a:rPr lang="en-US" altLang="zh-CN"/>
              <a:pPr>
                <a:defRPr/>
              </a:pPr>
              <a:t>‹#›</a:t>
            </a:fld>
            <a:endParaRPr lang="en-US" altLang="zh-CN"/>
          </a:p>
        </p:txBody>
      </p:sp>
    </p:spTree>
    <p:extLst>
      <p:ext uri="{BB962C8B-B14F-4D97-AF65-F5344CB8AC3E}">
        <p14:creationId xmlns:p14="http://schemas.microsoft.com/office/powerpoint/2010/main" val="786980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bwMode="auto">
          <a:xfrm>
            <a:off x="0" y="6525344"/>
            <a:ext cx="9144000" cy="332656"/>
          </a:xfrm>
          <a:prstGeom prst="rect">
            <a:avLst/>
          </a:prstGeom>
          <a:solidFill>
            <a:srgbClr val="902834"/>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28" name="Rectangle 4">
            <a:extLst>
              <a:ext uri="{FF2B5EF4-FFF2-40B4-BE49-F238E27FC236}">
                <a16:creationId xmlns:a16="http://schemas.microsoft.com/office/drawing/2014/main" id="{27A33608-44F0-4EEC-AB7F-D45CE244B92D}"/>
              </a:ext>
            </a:extLst>
          </p:cNvPr>
          <p:cNvSpPr>
            <a:spLocks noGrp="1" noChangeArrowheads="1"/>
          </p:cNvSpPr>
          <p:nvPr>
            <p:ph type="title"/>
          </p:nvPr>
        </p:nvSpPr>
        <p:spPr bwMode="auto">
          <a:xfrm>
            <a:off x="1115616" y="332656"/>
            <a:ext cx="7158037"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029" name="Rectangle 5">
            <a:extLst>
              <a:ext uri="{FF2B5EF4-FFF2-40B4-BE49-F238E27FC236}">
                <a16:creationId xmlns:a16="http://schemas.microsoft.com/office/drawing/2014/main" id="{4BAAA8E9-F9F4-41A4-856E-AC1504EE5F2D}"/>
              </a:ext>
            </a:extLst>
          </p:cNvPr>
          <p:cNvSpPr>
            <a:spLocks noGrp="1" noChangeArrowheads="1"/>
          </p:cNvSpPr>
          <p:nvPr>
            <p:ph type="body" idx="1"/>
          </p:nvPr>
        </p:nvSpPr>
        <p:spPr bwMode="auto">
          <a:xfrm>
            <a:off x="251520" y="1173276"/>
            <a:ext cx="8712968"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10248" name="Rectangle 8">
            <a:extLst>
              <a:ext uri="{FF2B5EF4-FFF2-40B4-BE49-F238E27FC236}">
                <a16:creationId xmlns:a16="http://schemas.microsoft.com/office/drawing/2014/main" id="{079FF105-7699-40B4-B35D-144E645ED427}"/>
              </a:ext>
            </a:extLst>
          </p:cNvPr>
          <p:cNvSpPr>
            <a:spLocks noGrp="1" noChangeArrowheads="1"/>
          </p:cNvSpPr>
          <p:nvPr>
            <p:ph type="sldNum" sz="quarter" idx="4"/>
          </p:nvPr>
        </p:nvSpPr>
        <p:spPr bwMode="auto">
          <a:xfrm>
            <a:off x="7203504" y="6525344"/>
            <a:ext cx="1905000" cy="36004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000" b="0"/>
            </a:lvl1pPr>
          </a:lstStyle>
          <a:p>
            <a:pPr>
              <a:defRPr/>
            </a:pPr>
            <a:fld id="{DCFC46B8-E51D-4C84-AF8C-5C4D2B783990}" type="slidenum">
              <a:rPr lang="en-US" altLang="zh-CN"/>
              <a:pPr>
                <a:defRPr/>
              </a:pPr>
              <a:t>‹#›</a:t>
            </a:fld>
            <a:endParaRPr lang="en-US" altLang="zh-CN" dirty="0"/>
          </a:p>
        </p:txBody>
      </p:sp>
      <p:sp>
        <p:nvSpPr>
          <p:cNvPr id="14" name="Rectangle 4" descr="浅色横线"/>
          <p:cNvSpPr>
            <a:spLocks noChangeArrowheads="1"/>
          </p:cNvSpPr>
          <p:nvPr userDrawn="1"/>
        </p:nvSpPr>
        <p:spPr bwMode="auto">
          <a:xfrm>
            <a:off x="40704" y="1054894"/>
            <a:ext cx="9067800" cy="69850"/>
          </a:xfrm>
          <a:prstGeom prst="rect">
            <a:avLst/>
          </a:prstGeom>
          <a:blipFill dpi="0" rotWithShape="0">
            <a:blip r:embed="rId1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16" name="图片 11"/>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2525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9"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7" r:id="rId10"/>
  </p:sldLayoutIdLst>
  <p:hf hdr="0" ftr="0" dt="0"/>
  <p:txStyles>
    <p:titleStyle>
      <a:lvl1pPr algn="l" rtl="0" eaLnBrk="0" fontAlgn="base" hangingPunct="0">
        <a:spcBef>
          <a:spcPct val="0"/>
        </a:spcBef>
        <a:spcAft>
          <a:spcPct val="0"/>
        </a:spcAft>
        <a:defRPr sz="2800" kern="1200">
          <a:solidFill>
            <a:schemeClr val="tx2"/>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defRPr>
      </a:lvl2pPr>
      <a:lvl3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defRPr>
      </a:lvl3pPr>
      <a:lvl4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defRPr>
      </a:lvl4pPr>
      <a:lvl5pPr algn="l" rtl="0" eaLnBrk="0" fontAlgn="base" hangingPunct="0">
        <a:spcBef>
          <a:spcPct val="0"/>
        </a:spcBef>
        <a:spcAft>
          <a:spcPct val="0"/>
        </a:spcAft>
        <a:defRPr sz="4000">
          <a:solidFill>
            <a:schemeClr val="tx2"/>
          </a:solidFill>
          <a:latin typeface="Verdana" panose="020B0604030504040204" pitchFamily="34" charset="0"/>
          <a:ea typeface="Arial Unicode MS" pitchFamily="34" charset="-122"/>
        </a:defRPr>
      </a:lvl5pPr>
      <a:lvl6pPr marL="457200" algn="l" rtl="0" fontAlgn="base">
        <a:spcBef>
          <a:spcPct val="0"/>
        </a:spcBef>
        <a:spcAft>
          <a:spcPct val="0"/>
        </a:spcAft>
        <a:defRPr sz="4000">
          <a:solidFill>
            <a:schemeClr val="tx2"/>
          </a:solidFill>
          <a:latin typeface="Verdana" panose="020B0604030504040204" pitchFamily="34" charset="0"/>
          <a:ea typeface="Arial Unicode MS" pitchFamily="34" charset="-122"/>
        </a:defRPr>
      </a:lvl6pPr>
      <a:lvl7pPr marL="914400" algn="l" rtl="0" fontAlgn="base">
        <a:spcBef>
          <a:spcPct val="0"/>
        </a:spcBef>
        <a:spcAft>
          <a:spcPct val="0"/>
        </a:spcAft>
        <a:defRPr sz="4000">
          <a:solidFill>
            <a:schemeClr val="tx2"/>
          </a:solidFill>
          <a:latin typeface="Verdana" panose="020B0604030504040204" pitchFamily="34" charset="0"/>
          <a:ea typeface="Arial Unicode MS" pitchFamily="34" charset="-122"/>
        </a:defRPr>
      </a:lvl7pPr>
      <a:lvl8pPr marL="1371600" algn="l" rtl="0" fontAlgn="base">
        <a:spcBef>
          <a:spcPct val="0"/>
        </a:spcBef>
        <a:spcAft>
          <a:spcPct val="0"/>
        </a:spcAft>
        <a:defRPr sz="4000">
          <a:solidFill>
            <a:schemeClr val="tx2"/>
          </a:solidFill>
          <a:latin typeface="Verdana" panose="020B0604030504040204" pitchFamily="34" charset="0"/>
          <a:ea typeface="Arial Unicode MS" pitchFamily="34" charset="-122"/>
        </a:defRPr>
      </a:lvl8pPr>
      <a:lvl9pPr marL="1828800" algn="l" rtl="0" fontAlgn="base">
        <a:spcBef>
          <a:spcPct val="0"/>
        </a:spcBef>
        <a:spcAft>
          <a:spcPct val="0"/>
        </a:spcAft>
        <a:defRPr sz="4000">
          <a:solidFill>
            <a:schemeClr val="tx2"/>
          </a:solidFill>
          <a:latin typeface="Verdana" panose="020B0604030504040204" pitchFamily="34" charset="0"/>
          <a:ea typeface="Arial Unicode MS" pitchFamily="34" charset="-122"/>
        </a:defRPr>
      </a:lvl9pPr>
    </p:titleStyle>
    <p:bodyStyle>
      <a:lvl1pPr marL="447675" indent="-447675" algn="l" rtl="0" eaLnBrk="0" fontAlgn="base" hangingPunct="0">
        <a:spcBef>
          <a:spcPct val="20000"/>
        </a:spcBef>
        <a:spcAft>
          <a:spcPct val="0"/>
        </a:spcAft>
        <a:buClr>
          <a:schemeClr val="tx1"/>
        </a:buClr>
        <a:buSzPct val="70000"/>
        <a:buFont typeface="Wingdings" panose="05000000000000000000" pitchFamily="2" charset="2"/>
        <a:buChar char="l"/>
        <a:defRPr sz="2400" b="1" kern="1200">
          <a:solidFill>
            <a:schemeClr val="tx1"/>
          </a:solidFill>
          <a:latin typeface="+mn-lt"/>
          <a:ea typeface="+mn-ea"/>
          <a:cs typeface="+mn-cs"/>
        </a:defRPr>
      </a:lvl1pPr>
      <a:lvl2pPr marL="792162" indent="-342900" algn="l" rtl="0" eaLnBrk="0" fontAlgn="base" hangingPunct="0">
        <a:spcBef>
          <a:spcPct val="20000"/>
        </a:spcBef>
        <a:spcAft>
          <a:spcPct val="0"/>
        </a:spcAft>
        <a:buClr>
          <a:schemeClr val="tx1"/>
        </a:buClr>
        <a:buSzPct val="65000"/>
        <a:buFont typeface="宋体" panose="02010600030101010101" pitchFamily="2" charset="-122"/>
        <a:buChar char="—"/>
        <a:defRPr sz="2400" b="1" kern="1200">
          <a:solidFill>
            <a:schemeClr val="tx1"/>
          </a:solidFill>
          <a:latin typeface="+mn-ea"/>
          <a:ea typeface="+mn-ea"/>
          <a:cs typeface="+mn-cs"/>
        </a:defRPr>
      </a:lvl2pPr>
      <a:lvl3pPr marL="1293813" indent="-403225" algn="l" rtl="0" eaLnBrk="0" fontAlgn="base" hangingPunct="0">
        <a:spcBef>
          <a:spcPct val="20000"/>
        </a:spcBef>
        <a:spcAft>
          <a:spcPct val="0"/>
        </a:spcAft>
        <a:buClr>
          <a:schemeClr val="tx1"/>
        </a:buClr>
        <a:buSzPct val="70000"/>
        <a:buFont typeface="Wingdings" panose="05000000000000000000" pitchFamily="2" charset="2"/>
        <a:buChar char="l"/>
        <a:defRPr sz="2000" kern="1200">
          <a:solidFill>
            <a:schemeClr val="tx1"/>
          </a:solidFill>
          <a:latin typeface="楷体" panose="02010609060101010101" pitchFamily="49" charset="-122"/>
          <a:ea typeface="楷体" panose="02010609060101010101" pitchFamily="49" charset="-122"/>
          <a:cs typeface="+mn-cs"/>
        </a:defRPr>
      </a:lvl3pPr>
      <a:lvl4pPr marL="1681163" indent="-385763" algn="l" rtl="0" eaLnBrk="0" fontAlgn="base" hangingPunct="0">
        <a:spcBef>
          <a:spcPct val="20000"/>
        </a:spcBef>
        <a:spcAft>
          <a:spcPct val="0"/>
        </a:spcAft>
        <a:buClr>
          <a:srgbClr val="0051C8"/>
        </a:buClr>
        <a:buSzPct val="75000"/>
        <a:buFont typeface="Wingdings" panose="05000000000000000000" pitchFamily="2" charset="2"/>
        <a:buChar char="±"/>
        <a:defRPr sz="2000" kern="1200">
          <a:solidFill>
            <a:schemeClr val="tx1"/>
          </a:solidFill>
          <a:latin typeface="+mn-lt"/>
          <a:ea typeface="+mn-ea"/>
          <a:cs typeface="+mn-cs"/>
        </a:defRPr>
      </a:lvl4pPr>
      <a:lvl5pPr marL="2070100" indent="-387350" algn="l" rtl="0" eaLnBrk="0" fontAlgn="base" hangingPunct="0">
        <a:spcBef>
          <a:spcPct val="20000"/>
        </a:spcBef>
        <a:spcAft>
          <a:spcPct val="0"/>
        </a:spcAft>
        <a:buClr>
          <a:srgbClr val="0064F6"/>
        </a:buClr>
        <a:buSzPct val="70000"/>
        <a:buFont typeface="Wingdings" panose="05000000000000000000" pitchFamily="2" charset="2"/>
        <a:buChar char="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png"/><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0.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4.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3.e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1.wmf"/><Relationship Id="rId5" Type="http://schemas.openxmlformats.org/officeDocument/2006/relationships/oleObject" Target="../embeddings/oleObject8.bin"/><Relationship Id="rId4" Type="http://schemas.openxmlformats.org/officeDocument/2006/relationships/image" Target="../media/image20.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2.xml"/><Relationship Id="rId7"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3.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12.bin"/><Relationship Id="rId4" Type="http://schemas.openxmlformats.org/officeDocument/2006/relationships/image" Target="../media/image2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7.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3.xml"/><Relationship Id="rId7" Type="http://schemas.openxmlformats.org/officeDocument/2006/relationships/image" Target="../media/image83.png"/><Relationship Id="rId2" Type="http://schemas.openxmlformats.org/officeDocument/2006/relationships/slideLayout" Target="../slideLayouts/slideLayout2.xml"/><Relationship Id="rId1" Type="http://schemas.openxmlformats.org/officeDocument/2006/relationships/vmlDrawing" Target="../drawings/vmlDrawing11.vml"/><Relationship Id="rId9" Type="http://schemas.openxmlformats.org/officeDocument/2006/relationships/image" Target="../media/image28.wmf"/></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0.wmf"/><Relationship Id="rId5" Type="http://schemas.openxmlformats.org/officeDocument/2006/relationships/oleObject" Target="../embeddings/oleObject17.bin"/><Relationship Id="rId4" Type="http://schemas.openxmlformats.org/officeDocument/2006/relationships/image" Target="../media/image29.emf"/></Relationships>
</file>

<file path=ppt/slides/_rels/slide33.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2.wmf"/><Relationship Id="rId5" Type="http://schemas.openxmlformats.org/officeDocument/2006/relationships/oleObject" Target="../embeddings/oleObject19.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1.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36.wmf"/><Relationship Id="rId5" Type="http://schemas.openxmlformats.org/officeDocument/2006/relationships/oleObject" Target="../embeddings/oleObject23.bin"/><Relationship Id="rId4" Type="http://schemas.openxmlformats.org/officeDocument/2006/relationships/image" Target="../media/image35.wmf"/></Relationships>
</file>

<file path=ppt/slides/_rels/slide35.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7.wmf"/><Relationship Id="rId5" Type="http://schemas.openxmlformats.org/officeDocument/2006/relationships/oleObject" Target="../embeddings/oleObject25.bin"/><Relationship Id="rId4" Type="http://schemas.openxmlformats.org/officeDocument/2006/relationships/image" Target="../media/image36.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0.wmf"/><Relationship Id="rId5" Type="http://schemas.openxmlformats.org/officeDocument/2006/relationships/oleObject" Target="../embeddings/oleObject28.bin"/><Relationship Id="rId4" Type="http://schemas.openxmlformats.org/officeDocument/2006/relationships/image" Target="../media/image39.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42.wmf"/><Relationship Id="rId5" Type="http://schemas.openxmlformats.org/officeDocument/2006/relationships/oleObject" Target="../embeddings/oleObject30.bin"/><Relationship Id="rId4" Type="http://schemas.openxmlformats.org/officeDocument/2006/relationships/image" Target="../media/image41.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9E26BB28-3E12-4803-A2A3-0F9800CC4FC7}"/>
              </a:ext>
            </a:extLst>
          </p:cNvPr>
          <p:cNvSpPr>
            <a:spLocks noGrp="1" noChangeArrowheads="1"/>
          </p:cNvSpPr>
          <p:nvPr>
            <p:ph type="title"/>
          </p:nvPr>
        </p:nvSpPr>
        <p:spPr/>
        <p:txBody>
          <a:bodyPr/>
          <a:lstStyle/>
          <a:p>
            <a:pPr eaLnBrk="1" hangingPunct="1"/>
            <a:r>
              <a:rPr lang="zh-CN" altLang="en-US" dirty="0"/>
              <a:t>第</a:t>
            </a:r>
            <a:r>
              <a:rPr lang="en-US" altLang="zh-CN" dirty="0"/>
              <a:t>6</a:t>
            </a:r>
            <a:r>
              <a:rPr lang="zh-CN" altLang="en-US" dirty="0"/>
              <a:t>章  整数规划</a:t>
            </a:r>
          </a:p>
        </p:txBody>
      </p:sp>
      <p:sp>
        <p:nvSpPr>
          <p:cNvPr id="6150" name="Rectangle 3">
            <a:extLst>
              <a:ext uri="{FF2B5EF4-FFF2-40B4-BE49-F238E27FC236}">
                <a16:creationId xmlns:a16="http://schemas.microsoft.com/office/drawing/2014/main" id="{F100E577-872C-4FFA-9444-4A450028B233}"/>
              </a:ext>
            </a:extLst>
          </p:cNvPr>
          <p:cNvSpPr>
            <a:spLocks noGrp="1" noChangeArrowheads="1"/>
          </p:cNvSpPr>
          <p:nvPr>
            <p:ph idx="1"/>
          </p:nvPr>
        </p:nvSpPr>
        <p:spPr>
          <a:xfrm>
            <a:off x="1403648" y="1628800"/>
            <a:ext cx="7560840" cy="4752528"/>
          </a:xfrm>
        </p:spPr>
        <p:txBody>
          <a:bodyPr/>
          <a:lstStyle/>
          <a:p>
            <a:pPr eaLnBrk="1" hangingPunct="1">
              <a:lnSpc>
                <a:spcPts val="2000"/>
              </a:lnSpc>
              <a:buNone/>
            </a:pPr>
            <a:r>
              <a:rPr lang="en-US" altLang="zh-CN" dirty="0">
                <a:latin typeface="宋体" panose="02010600030101010101" pitchFamily="2" charset="-122"/>
                <a:ea typeface="宋体" panose="02010600030101010101" pitchFamily="2" charset="-122"/>
              </a:rPr>
              <a:t>6.1 </a:t>
            </a:r>
            <a:r>
              <a:rPr lang="zh-CN" altLang="en-US" dirty="0">
                <a:latin typeface="宋体" panose="02010600030101010101" pitchFamily="2" charset="-122"/>
                <a:ea typeface="宋体" panose="02010600030101010101" pitchFamily="2" charset="-122"/>
              </a:rPr>
              <a:t>整数线性规划问题的提出</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6.2 </a:t>
            </a:r>
            <a:r>
              <a:rPr lang="zh-CN" altLang="en-US" dirty="0">
                <a:latin typeface="宋体" panose="02010600030101010101" pitchFamily="2" charset="-122"/>
                <a:ea typeface="宋体" panose="02010600030101010101" pitchFamily="2" charset="-122"/>
              </a:rPr>
              <a:t>分支定界解法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6.3 </a:t>
            </a:r>
            <a:r>
              <a:rPr lang="zh-CN" altLang="en-US" dirty="0">
                <a:latin typeface="宋体" panose="02010600030101010101" pitchFamily="2" charset="-122"/>
                <a:ea typeface="宋体" panose="02010600030101010101" pitchFamily="2" charset="-122"/>
              </a:rPr>
              <a:t>割平面解法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6.4 0-1</a:t>
            </a:r>
            <a:r>
              <a:rPr lang="zh-CN" altLang="en-US" dirty="0">
                <a:latin typeface="宋体" panose="02010600030101010101" pitchFamily="2" charset="-122"/>
                <a:ea typeface="宋体" panose="02010600030101010101" pitchFamily="2" charset="-122"/>
              </a:rPr>
              <a:t>型整数线性规划</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6.5 </a:t>
            </a:r>
            <a:r>
              <a:rPr lang="zh-CN" altLang="en-US" dirty="0">
                <a:latin typeface="宋体" panose="02010600030101010101" pitchFamily="2" charset="-122"/>
                <a:ea typeface="宋体" panose="02010600030101010101" pitchFamily="2" charset="-122"/>
              </a:rPr>
              <a:t>指派问题</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6.6 </a:t>
            </a:r>
            <a:r>
              <a:rPr lang="zh-CN" altLang="en-US" dirty="0">
                <a:latin typeface="宋体" panose="02010600030101010101" pitchFamily="2" charset="-122"/>
                <a:ea typeface="宋体" panose="02010600030101010101" pitchFamily="2" charset="-122"/>
              </a:rPr>
              <a:t>整数规划的建模和应用</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6.7 </a:t>
            </a:r>
            <a:r>
              <a:rPr lang="zh-CN" altLang="en-US" dirty="0">
                <a:latin typeface="宋体" panose="02010600030101010101" pitchFamily="2" charset="-122"/>
                <a:ea typeface="宋体" panose="02010600030101010101" pitchFamily="2" charset="-122"/>
              </a:rPr>
              <a:t>整数规划的 </a:t>
            </a:r>
            <a:r>
              <a:rPr lang="en-US" altLang="zh-CN" dirty="0">
                <a:latin typeface="宋体" panose="02010600030101010101" pitchFamily="2" charset="-122"/>
                <a:ea typeface="宋体" panose="02010600030101010101" pitchFamily="2" charset="-122"/>
              </a:rPr>
              <a:t>Excel Solver </a:t>
            </a:r>
            <a:r>
              <a:rPr lang="zh-CN" altLang="en-US" dirty="0">
                <a:latin typeface="宋体" panose="02010600030101010101" pitchFamily="2" charset="-122"/>
                <a:ea typeface="宋体" panose="02010600030101010101" pitchFamily="2" charset="-122"/>
              </a:rPr>
              <a:t>求解</a:t>
            </a:r>
          </a:p>
        </p:txBody>
      </p:sp>
      <p:sp>
        <p:nvSpPr>
          <p:cNvPr id="7" name="AutoShape 4"/>
          <p:cNvSpPr>
            <a:spLocks noChangeArrowheads="1"/>
          </p:cNvSpPr>
          <p:nvPr/>
        </p:nvSpPr>
        <p:spPr bwMode="auto">
          <a:xfrm>
            <a:off x="238125" y="1290638"/>
            <a:ext cx="935038" cy="5138737"/>
          </a:xfrm>
          <a:prstGeom prst="cube">
            <a:avLst>
              <a:gd name="adj" fmla="val 25000"/>
            </a:avLst>
          </a:prstGeom>
          <a:gradFill rotWithShape="1">
            <a:gsLst>
              <a:gs pos="0">
                <a:srgbClr val="411117"/>
              </a:gs>
              <a:gs pos="50000">
                <a:srgbClr val="8C2532"/>
              </a:gs>
              <a:gs pos="100000">
                <a:srgbClr val="411117"/>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t>第</a:t>
            </a:r>
          </a:p>
          <a:p>
            <a:pPr algn="ctr" eaLnBrk="1" hangingPunct="1"/>
            <a:r>
              <a:rPr lang="en-US" altLang="zh-CN" b="1" dirty="0"/>
              <a:t>6</a:t>
            </a:r>
          </a:p>
          <a:p>
            <a:pPr algn="ctr" eaLnBrk="1" hangingPunct="1"/>
            <a:r>
              <a:rPr lang="zh-CN" altLang="en-US" b="1" dirty="0"/>
              <a:t> 章 </a:t>
            </a:r>
          </a:p>
          <a:p>
            <a:pPr algn="ctr" eaLnBrk="1" hangingPunct="1"/>
            <a:endParaRPr lang="zh-CN" altLang="en-US" b="1" dirty="0"/>
          </a:p>
          <a:p>
            <a:pPr algn="ctr" eaLnBrk="1" hangingPunct="1"/>
            <a:r>
              <a:rPr lang="zh-CN" altLang="en-US" b="1" dirty="0"/>
              <a:t> 整</a:t>
            </a:r>
            <a:endParaRPr lang="en-US" altLang="zh-CN" b="1" dirty="0"/>
          </a:p>
          <a:p>
            <a:pPr algn="ctr" eaLnBrk="1" hangingPunct="1"/>
            <a:r>
              <a:rPr lang="zh-CN" altLang="en-US" b="1" dirty="0"/>
              <a:t>数</a:t>
            </a:r>
            <a:endParaRPr lang="en-US" altLang="zh-CN" b="1" dirty="0"/>
          </a:p>
          <a:p>
            <a:pPr algn="ctr" eaLnBrk="1" hangingPunct="1"/>
            <a:r>
              <a:rPr lang="zh-CN" altLang="en-US" b="1" dirty="0"/>
              <a:t>规</a:t>
            </a:r>
          </a:p>
          <a:p>
            <a:pPr algn="ctr" eaLnBrk="1" hangingPunct="1"/>
            <a:r>
              <a:rPr lang="zh-CN" altLang="en-US" b="1" dirty="0"/>
              <a:t>划</a:t>
            </a:r>
          </a:p>
        </p:txBody>
      </p:sp>
      <p:sp>
        <p:nvSpPr>
          <p:cNvPr id="9" name="AutoShape 6"/>
          <p:cNvSpPr>
            <a:spLocks noChangeArrowheads="1"/>
          </p:cNvSpPr>
          <p:nvPr/>
        </p:nvSpPr>
        <p:spPr bwMode="auto">
          <a:xfrm>
            <a:off x="5528417" y="1196752"/>
            <a:ext cx="3656012" cy="3571875"/>
          </a:xfrm>
          <a:prstGeom prst="wedgeRoundRectCallout">
            <a:avLst>
              <a:gd name="adj1" fmla="val -44774"/>
              <a:gd name="adj2" fmla="val 65966"/>
              <a:gd name="adj3" fmla="val 16667"/>
            </a:avLst>
          </a:prstGeom>
          <a:solidFill>
            <a:srgbClr val="00CC99"/>
          </a:solidFill>
          <a:ln w="9525">
            <a:solidFill>
              <a:schemeClr val="tx1"/>
            </a:solidFill>
            <a:miter lim="800000"/>
            <a:headEnd/>
            <a:tailEnd/>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sz="2000" b="1" dirty="0">
                <a:solidFill>
                  <a:srgbClr val="366B7E"/>
                </a:solidFill>
                <a:latin typeface="楷体_GB2312" pitchFamily="1" charset="-122"/>
                <a:ea typeface="楷体_GB2312" pitchFamily="1" charset="-122"/>
              </a:rPr>
              <a:t>1．理解整数规划的基本概念与分类；</a:t>
            </a:r>
          </a:p>
          <a:p>
            <a:r>
              <a:rPr lang="zh-CN" altLang="en-US" sz="2000" b="1" dirty="0">
                <a:solidFill>
                  <a:srgbClr val="366B7E"/>
                </a:solidFill>
                <a:latin typeface="楷体_GB2312" pitchFamily="1" charset="-122"/>
                <a:ea typeface="楷体_GB2312" pitchFamily="1" charset="-122"/>
              </a:rPr>
              <a:t>2．了解整数规划问题的建模与应用；</a:t>
            </a:r>
          </a:p>
          <a:p>
            <a:r>
              <a:rPr lang="zh-CN" altLang="en-US" sz="2000" b="1" dirty="0">
                <a:solidFill>
                  <a:srgbClr val="366B7E"/>
                </a:solidFill>
                <a:latin typeface="楷体_GB2312" pitchFamily="1" charset="-122"/>
                <a:ea typeface="楷体_GB2312" pitchFamily="1" charset="-122"/>
              </a:rPr>
              <a:t>3．掌握求解整数规划的分支定界法、割平面法的过程；</a:t>
            </a:r>
          </a:p>
          <a:p>
            <a:r>
              <a:rPr lang="zh-CN" altLang="en-US" sz="2000" b="1" dirty="0">
                <a:solidFill>
                  <a:srgbClr val="366B7E"/>
                </a:solidFill>
                <a:latin typeface="楷体_GB2312" pitchFamily="1" charset="-122"/>
                <a:ea typeface="楷体_GB2312" pitchFamily="1" charset="-122"/>
              </a:rPr>
              <a:t>4．理解求解0-1规划的隐枚举法；</a:t>
            </a:r>
          </a:p>
          <a:p>
            <a:r>
              <a:rPr lang="zh-CN" altLang="en-US" sz="2000" b="1" dirty="0">
                <a:solidFill>
                  <a:srgbClr val="366B7E"/>
                </a:solidFill>
                <a:latin typeface="楷体_GB2312" pitchFamily="1" charset="-122"/>
                <a:ea typeface="楷体_GB2312" pitchFamily="1" charset="-122"/>
              </a:rPr>
              <a:t>5．掌握指派匈牙利法和非标准指派问题的求解方法。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000" fill="hold"/>
                                        <p:tgtEl>
                                          <p:spTgt spid="9"/>
                                        </p:tgtEl>
                                        <p:attrNameLst>
                                          <p:attrName>ppt_x</p:attrName>
                                        </p:attrNameLst>
                                      </p:cBhvr>
                                      <p:tavLst>
                                        <p:tav tm="0">
                                          <p:val>
                                            <p:strVal val="1+#ppt_w/2"/>
                                          </p:val>
                                        </p:tav>
                                        <p:tav tm="100000">
                                          <p:val>
                                            <p:strVal val="#ppt_x"/>
                                          </p:val>
                                        </p:tav>
                                      </p:tavLst>
                                    </p:anim>
                                    <p:anim calcmode="lin" valueType="num">
                                      <p:cBhvr additive="base">
                                        <p:cTn id="8" dur="20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mph" presetSubtype="0" fill="hold" nodeType="clickEffect">
                                  <p:stCondLst>
                                    <p:cond delay="0"/>
                                  </p:stCondLst>
                                  <p:childTnLst>
                                    <p:animScale>
                                      <p:cBhvr>
                                        <p:cTn id="12" dur="2000" fill="hold"/>
                                        <p:tgtEl>
                                          <p:spTgt spid="6150">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DBC4D47C-3E1A-4827-8BBF-B09D4340617C}"/>
              </a:ext>
            </a:extLst>
          </p:cNvPr>
          <p:cNvSpPr>
            <a:spLocks noGrp="1" noChangeArrowheads="1"/>
          </p:cNvSpPr>
          <p:nvPr>
            <p:ph type="title"/>
          </p:nvPr>
        </p:nvSpPr>
        <p:spPr/>
        <p:txBody>
          <a:bodyPr/>
          <a:lstStyle/>
          <a:p>
            <a:pPr eaLnBrk="1" hangingPunct="1"/>
            <a:r>
              <a:rPr lang="en-US" altLang="zh-CN" dirty="0"/>
              <a:t>6.1 </a:t>
            </a:r>
            <a:r>
              <a:rPr lang="zh-CN" altLang="en-US" dirty="0"/>
              <a:t>整数线性规划问题的提出</a:t>
            </a:r>
            <a:endParaRPr lang="zh-CN" altLang="en-US" dirty="0">
              <a:latin typeface="Arial" panose="020B0604020202020204" pitchFamily="34" charset="0"/>
            </a:endParaRPr>
          </a:p>
        </p:txBody>
      </p:sp>
      <p:sp>
        <p:nvSpPr>
          <p:cNvPr id="2" name="内容占位符 1"/>
          <p:cNvSpPr>
            <a:spLocks noGrp="1"/>
          </p:cNvSpPr>
          <p:nvPr>
            <p:ph idx="1"/>
          </p:nvPr>
        </p:nvSpPr>
        <p:spPr>
          <a:xfrm>
            <a:off x="494729" y="1196752"/>
            <a:ext cx="8469759" cy="3539430"/>
          </a:xfrm>
        </p:spPr>
        <p:txBody>
          <a:bodyPr/>
          <a:lstStyle/>
          <a:p>
            <a:pPr eaLnBrk="1" hangingPunct="1"/>
            <a:r>
              <a:rPr lang="zh-CN" altLang="en-US" dirty="0"/>
              <a:t>整数线性规划的分类</a:t>
            </a:r>
          </a:p>
          <a:p>
            <a:pPr lvl="1" eaLnBrk="1" hangingPunct="1"/>
            <a:r>
              <a:rPr lang="zh-CN" altLang="en-US" sz="2000" dirty="0">
                <a:sym typeface="宋体" panose="02010600030101010101" pitchFamily="2" charset="-122"/>
              </a:rPr>
              <a:t>纯整数线性规划</a:t>
            </a:r>
            <a:r>
              <a:rPr lang="zh-CN" altLang="en-US" sz="2000" dirty="0">
                <a:latin typeface="Times New Roman" panose="02020603050405020304" pitchFamily="18" charset="0"/>
                <a:cs typeface="Times New Roman" panose="02020603050405020304" pitchFamily="18" charset="0"/>
                <a:sym typeface="宋体" panose="02010600030101010101" pitchFamily="2" charset="-122"/>
              </a:rPr>
              <a:t>（Pure integer linear programming）</a:t>
            </a:r>
            <a:r>
              <a:rPr lang="zh-CN" altLang="en-US" sz="2000" dirty="0">
                <a:sym typeface="宋体" panose="02010600030101010101" pitchFamily="2" charset="-122"/>
              </a:rPr>
              <a:t>：指</a:t>
            </a:r>
            <a:r>
              <a:rPr lang="zh-CN" altLang="en-US" sz="2000" dirty="0">
                <a:solidFill>
                  <a:srgbClr val="FF0000"/>
                </a:solidFill>
                <a:sym typeface="宋体" panose="02010600030101010101" pitchFamily="2" charset="-122"/>
              </a:rPr>
              <a:t>全部决策变量都必须取整数值</a:t>
            </a:r>
            <a:r>
              <a:rPr lang="zh-CN" altLang="en-US" sz="2000" dirty="0">
                <a:sym typeface="宋体" panose="02010600030101010101" pitchFamily="2" charset="-122"/>
              </a:rPr>
              <a:t>的整数线性规划。也称为全整数规划。</a:t>
            </a:r>
          </a:p>
          <a:p>
            <a:pPr lvl="1" eaLnBrk="1" hangingPunct="1"/>
            <a:r>
              <a:rPr lang="zh-CN" altLang="en-US" sz="2000" dirty="0">
                <a:sym typeface="宋体" panose="02010600030101010101" pitchFamily="2" charset="-122"/>
              </a:rPr>
              <a:t>混合整数线性规划</a:t>
            </a:r>
            <a:r>
              <a:rPr lang="zh-CN" altLang="en-US" sz="2000" dirty="0">
                <a:latin typeface="Times New Roman" panose="02020603050405020304" pitchFamily="18" charset="0"/>
                <a:cs typeface="Times New Roman" panose="02020603050405020304" pitchFamily="18" charset="0"/>
                <a:sym typeface="宋体" panose="02010600030101010101" pitchFamily="2" charset="-122"/>
              </a:rPr>
              <a:t>（Mixed integer linear programming）</a:t>
            </a:r>
            <a:r>
              <a:rPr lang="zh-CN" altLang="en-US" sz="2000" dirty="0">
                <a:sym typeface="宋体" panose="02010600030101010101" pitchFamily="2" charset="-122"/>
              </a:rPr>
              <a:t>：指决策变量中</a:t>
            </a:r>
            <a:r>
              <a:rPr lang="zh-CN" altLang="en-US" sz="2000" dirty="0">
                <a:solidFill>
                  <a:srgbClr val="FF0000"/>
                </a:solidFill>
                <a:sym typeface="宋体" panose="02010600030101010101" pitchFamily="2" charset="-122"/>
              </a:rPr>
              <a:t>有一部分必须取整数值</a:t>
            </a:r>
            <a:r>
              <a:rPr lang="zh-CN" altLang="en-US" sz="2000" dirty="0">
                <a:sym typeface="宋体" panose="02010600030101010101" pitchFamily="2" charset="-122"/>
              </a:rPr>
              <a:t>，另一部分可以不取整数值的整数线性规划。</a:t>
            </a:r>
          </a:p>
          <a:p>
            <a:pPr lvl="1" eaLnBrk="1" hangingPunct="1"/>
            <a:r>
              <a:rPr lang="zh-CN" altLang="en-US" sz="2000" dirty="0">
                <a:sym typeface="宋体" panose="02010600030101010101" pitchFamily="2" charset="-122"/>
              </a:rPr>
              <a:t>0-1型整数线性规划</a:t>
            </a:r>
            <a:r>
              <a:rPr lang="zh-CN" altLang="en-US" sz="2000" dirty="0">
                <a:latin typeface="Times New Roman" panose="02020603050405020304" pitchFamily="18" charset="0"/>
                <a:cs typeface="Times New Roman" panose="02020603050405020304" pitchFamily="18" charset="0"/>
                <a:sym typeface="宋体" panose="02010600030101010101" pitchFamily="2" charset="-122"/>
              </a:rPr>
              <a:t>（Zero-one  integer  linear  programming）</a:t>
            </a:r>
            <a:r>
              <a:rPr lang="zh-CN" altLang="en-US" sz="2000" dirty="0">
                <a:sym typeface="宋体" panose="02010600030101010101" pitchFamily="2" charset="-122"/>
              </a:rPr>
              <a:t>：指</a:t>
            </a:r>
            <a:r>
              <a:rPr lang="zh-CN" altLang="en-US" sz="2000" dirty="0">
                <a:solidFill>
                  <a:srgbClr val="FF0000"/>
                </a:solidFill>
                <a:sym typeface="宋体" panose="02010600030101010101" pitchFamily="2" charset="-122"/>
              </a:rPr>
              <a:t>决策变量只能取值为0或1</a:t>
            </a:r>
            <a:r>
              <a:rPr lang="zh-CN" altLang="en-US" sz="2000" dirty="0">
                <a:sym typeface="宋体" panose="02010600030101010101" pitchFamily="2" charset="-122"/>
              </a:rPr>
              <a:t>的整数线性规划。</a:t>
            </a:r>
            <a:endParaRPr lang="en-US" altLang="zh-CN" sz="2000" dirty="0">
              <a:sym typeface="宋体" panose="02010600030101010101" pitchFamily="2" charset="-122"/>
            </a:endParaRPr>
          </a:p>
          <a:p>
            <a:pPr eaLnBrk="1" hangingPunct="1"/>
            <a:r>
              <a:rPr lang="zh-CN" altLang="en-US" sz="2000" dirty="0">
                <a:latin typeface="宋体" panose="02010600030101010101" pitchFamily="2" charset="-122"/>
              </a:rPr>
              <a:t>整数线性规划数学模型的一般形式</a:t>
            </a:r>
            <a:endParaRPr lang="zh-CN" altLang="en-US" sz="2000" dirty="0"/>
          </a:p>
          <a:p>
            <a:pPr lvl="1" eaLnBrk="1" hangingPunct="1"/>
            <a:endParaRPr lang="zh-CN" altLang="en-US" sz="2000" dirty="0">
              <a:sym typeface="宋体" panose="02010600030101010101" pitchFamily="2" charset="-122"/>
            </a:endParaRPr>
          </a:p>
        </p:txBody>
      </p:sp>
      <p:sp>
        <p:nvSpPr>
          <p:cNvPr id="8195" name="灯片编号占位符 5">
            <a:extLst>
              <a:ext uri="{FF2B5EF4-FFF2-40B4-BE49-F238E27FC236}">
                <a16:creationId xmlns:a16="http://schemas.microsoft.com/office/drawing/2014/main" id="{9F41FF6D-639E-4AA1-AB92-6D1660E0E8A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4DBBE0B-718F-4F21-9869-DCBEBF602378}" type="slidenum">
              <a:rPr lang="en-US" altLang="zh-CN" sz="1000" smtClean="0"/>
              <a:pPr>
                <a:spcBef>
                  <a:spcPct val="0"/>
                </a:spcBef>
                <a:buClrTx/>
                <a:buSzTx/>
                <a:buFontTx/>
                <a:buNone/>
              </a:pPr>
              <a:t>2</a:t>
            </a:fld>
            <a:endParaRPr lang="en-US" altLang="zh-CN" sz="1000"/>
          </a:p>
        </p:txBody>
      </p:sp>
      <p:pic>
        <p:nvPicPr>
          <p:cNvPr id="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863" y="4150876"/>
            <a:ext cx="7667625"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085C8D61-496F-4EEF-AE21-135FCB3F6CF4}"/>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p:sp>
        <p:nvSpPr>
          <p:cNvPr id="2" name="内容占位符 1"/>
          <p:cNvSpPr>
            <a:spLocks noGrp="1"/>
          </p:cNvSpPr>
          <p:nvPr>
            <p:ph idx="1"/>
          </p:nvPr>
        </p:nvSpPr>
        <p:spPr>
          <a:xfrm>
            <a:off x="494729" y="1196752"/>
            <a:ext cx="8469759" cy="1348061"/>
          </a:xfrm>
        </p:spPr>
        <p:txBody>
          <a:bodyPr/>
          <a:lstStyle/>
          <a:p>
            <a:r>
              <a:rPr lang="zh-CN" altLang="en-US" dirty="0"/>
              <a:t>分支定界法的基本思想</a:t>
            </a:r>
          </a:p>
          <a:p>
            <a:r>
              <a:rPr lang="zh-CN" altLang="en-US" dirty="0"/>
              <a:t>分支定界法求解整数规划的步骤</a:t>
            </a:r>
          </a:p>
          <a:p>
            <a:endParaRPr lang="zh-CN" altLang="en-US" dirty="0"/>
          </a:p>
        </p:txBody>
      </p:sp>
      <p:sp>
        <p:nvSpPr>
          <p:cNvPr id="14339" name="灯片编号占位符 5">
            <a:extLst>
              <a:ext uri="{FF2B5EF4-FFF2-40B4-BE49-F238E27FC236}">
                <a16:creationId xmlns:a16="http://schemas.microsoft.com/office/drawing/2014/main" id="{176D4621-8053-45A1-9BF0-A0AFF5372B4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F412AF8-42C8-43F7-9C11-6C2E6D079E7B}" type="slidenum">
              <a:rPr lang="en-US" altLang="zh-CN" sz="1000" smtClean="0"/>
              <a:pPr>
                <a:spcBef>
                  <a:spcPct val="0"/>
                </a:spcBef>
                <a:buClrTx/>
                <a:buSzTx/>
                <a:buFontTx/>
                <a:buNone/>
              </a:pPr>
              <a:t>3</a:t>
            </a:fld>
            <a:endParaRPr lang="en-US" altLang="zh-CN" sz="1000"/>
          </a:p>
        </p:txBody>
      </p:sp>
      <p:sp>
        <p:nvSpPr>
          <p:cNvPr id="14341" name="Rectangle 4">
            <a:extLst>
              <a:ext uri="{FF2B5EF4-FFF2-40B4-BE49-F238E27FC236}">
                <a16:creationId xmlns:a16="http://schemas.microsoft.com/office/drawing/2014/main" id="{7B2AC3C1-44AA-4F00-A4D8-95B24F0B8C02}"/>
              </a:ext>
            </a:extLst>
          </p:cNvPr>
          <p:cNvSpPr>
            <a:spLocks noChangeArrowheads="1"/>
          </p:cNvSpPr>
          <p:nvPr/>
        </p:nvSpPr>
        <p:spPr bwMode="auto">
          <a:xfrm>
            <a:off x="323850" y="1700213"/>
            <a:ext cx="8142288"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pPr>
            <a:endParaRPr lang="zh-CN" altLang="en-US" sz="2400" b="0" dirty="0">
              <a:latin typeface="宋体" panose="02010600030101010101" pitchFamily="2" charset="-122"/>
            </a:endParaRP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215094519"/>
                  </p:ext>
                </p:extLst>
              </p:nvPr>
            </p:nvGraphicFramePr>
            <p:xfrm>
              <a:off x="323850" y="2544813"/>
              <a:ext cx="8640637" cy="3197325"/>
            </p:xfrm>
            <a:graphic>
              <a:graphicData uri="http://schemas.openxmlformats.org/drawingml/2006/table">
                <a:tbl>
                  <a:tblPr firstRow="1" bandRow="1">
                    <a:tableStyleId>{2D5ABB26-0587-4C30-8999-92F81FD0307C}</a:tableStyleId>
                  </a:tblPr>
                  <a:tblGrid>
                    <a:gridCol w="2591966">
                      <a:extLst>
                        <a:ext uri="{9D8B030D-6E8A-4147-A177-3AD203B41FA5}">
                          <a16:colId xmlns:a16="http://schemas.microsoft.com/office/drawing/2014/main" val="904969299"/>
                        </a:ext>
                      </a:extLst>
                    </a:gridCol>
                    <a:gridCol w="3168352">
                      <a:extLst>
                        <a:ext uri="{9D8B030D-6E8A-4147-A177-3AD203B41FA5}">
                          <a16:colId xmlns:a16="http://schemas.microsoft.com/office/drawing/2014/main" val="3588162254"/>
                        </a:ext>
                      </a:extLst>
                    </a:gridCol>
                    <a:gridCol w="2880319">
                      <a:extLst>
                        <a:ext uri="{9D8B030D-6E8A-4147-A177-3AD203B41FA5}">
                          <a16:colId xmlns:a16="http://schemas.microsoft.com/office/drawing/2014/main" val="2701928058"/>
                        </a:ext>
                      </a:extLst>
                    </a:gridCol>
                  </a:tblGrid>
                  <a:tr h="455492">
                    <a:tc>
                      <a:txBody>
                        <a:bodyPr/>
                        <a:lstStyle/>
                        <a:p>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dirty="0"/>
                            <a:t>整数规划问题</a:t>
                          </a:r>
                          <a:r>
                            <a:rPr lang="en-US" altLang="zh-CN" sz="2400" dirty="0"/>
                            <a:t>A</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dirty="0"/>
                            <a:t>线性规划问题</a:t>
                          </a:r>
                          <a:r>
                            <a:rPr lang="en-US" altLang="zh-CN" sz="2400" dirty="0"/>
                            <a:t>B</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4313838"/>
                      </a:ext>
                    </a:extLst>
                  </a:tr>
                  <a:tr h="1913066">
                    <a:tc>
                      <a:txBody>
                        <a:bodyPr/>
                        <a:lstStyle/>
                        <a:p>
                          <a:r>
                            <a:rPr lang="zh-CN" altLang="en-US" sz="2400" dirty="0"/>
                            <a:t>数学模型：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just" eaLnBrk="1" hangingPunct="1">
                            <a:buNone/>
                          </a:pPr>
                          <a:r>
                            <a:rPr lang="en-US" altLang="zh-CN" sz="2400" b="0" dirty="0">
                              <a:latin typeface="Times New Roman" panose="02020603050405020304" pitchFamily="18" charset="0"/>
                              <a:cs typeface="Times New Roman" panose="02020603050405020304" pitchFamily="18" charset="0"/>
                            </a:rPr>
                            <a:t>max z =40</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+90</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 </a:t>
                          </a:r>
                        </a:p>
                        <a:p>
                          <a:pPr marL="0" indent="0" algn="just" eaLnBrk="1" hangingPunct="1">
                            <a:buNone/>
                          </a:pPr>
                          <a:r>
                            <a:rPr lang="en-US" altLang="zh-CN" sz="2400" b="0" dirty="0">
                              <a:latin typeface="Times New Roman" panose="02020603050405020304" pitchFamily="18" charset="0"/>
                              <a:cs typeface="Times New Roman" panose="02020603050405020304" pitchFamily="18" charset="0"/>
                            </a:rPr>
                            <a:t>9</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+7</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≤56 </a:t>
                          </a:r>
                        </a:p>
                        <a:p>
                          <a:pPr eaLnBrk="1" hangingPunct="1">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7</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+20</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≤70 </a:t>
                          </a:r>
                        </a:p>
                        <a:p>
                          <a:pPr eaLnBrk="1" hangingPunct="1">
                            <a:buFont typeface="Wingdings" panose="05000000000000000000" pitchFamily="2" charset="2"/>
                            <a:buNone/>
                          </a:pP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≥0  </a:t>
                          </a:r>
                        </a:p>
                        <a:p>
                          <a:pPr eaLnBrk="1" hangingPunct="1">
                            <a:buNone/>
                          </a:pP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整数</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just" eaLnBrk="1" hangingPunct="1">
                            <a:buNone/>
                          </a:pPr>
                          <a:r>
                            <a:rPr lang="en-US" altLang="zh-CN" sz="2400" b="0" dirty="0">
                              <a:latin typeface="Times New Roman" panose="02020603050405020304" pitchFamily="18" charset="0"/>
                              <a:cs typeface="Times New Roman" panose="02020603050405020304" pitchFamily="18" charset="0"/>
                            </a:rPr>
                            <a:t>max z =40</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+90</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 </a:t>
                          </a:r>
                        </a:p>
                        <a:p>
                          <a:pPr marL="0" indent="0" algn="just" eaLnBrk="1" hangingPunct="1">
                            <a:buNone/>
                          </a:pPr>
                          <a:r>
                            <a:rPr lang="en-US" altLang="zh-CN" sz="2400" b="0" dirty="0">
                              <a:latin typeface="Times New Roman" panose="02020603050405020304" pitchFamily="18" charset="0"/>
                              <a:cs typeface="Times New Roman" panose="02020603050405020304" pitchFamily="18" charset="0"/>
                            </a:rPr>
                            <a:t>9</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+7</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≤56 </a:t>
                          </a:r>
                        </a:p>
                        <a:p>
                          <a:pPr eaLnBrk="1" hangingPunct="1">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7</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+20</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≤70 </a:t>
                          </a:r>
                        </a:p>
                        <a:p>
                          <a:pPr eaLnBrk="1" hangingPunct="1">
                            <a:buFont typeface="Wingdings" panose="05000000000000000000" pitchFamily="2" charset="2"/>
                            <a:buNone/>
                          </a:pP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a:t>
                          </a:r>
                          <a:r>
                            <a:rPr lang="en-US" altLang="zh-CN" sz="2400" b="0" i="1"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≥0  </a:t>
                          </a:r>
                        </a:p>
                        <a:p>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435503"/>
                      </a:ext>
                    </a:extLst>
                  </a:tr>
                  <a:tr h="819885">
                    <a:tc>
                      <a:txBody>
                        <a:bodyPr/>
                        <a:lstStyle/>
                        <a:p>
                          <a:r>
                            <a:rPr lang="zh-CN" altLang="en-US" sz="2400" dirty="0"/>
                            <a:t>最优目标函数值：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𝑧</m:t>
                                    </m:r>
                                  </m:e>
                                  <m:sup>
                                    <m:r>
                                      <a:rPr lang="en-US" altLang="zh-CN" sz="2400" b="0" i="1" smtClean="0">
                                        <a:latin typeface="Cambria Math" panose="02040503050406030204" pitchFamily="18" charset="0"/>
                                      </a:rPr>
                                      <m:t>∗</m:t>
                                    </m:r>
                                  </m:sup>
                                </m:sSup>
                              </m:oMath>
                            </m:oMathPara>
                          </a14:m>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0</m:t>
                                    </m:r>
                                  </m:sub>
                                </m:sSub>
                              </m:oMath>
                            </m:oMathPara>
                          </a14:m>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8518252"/>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215094519"/>
                  </p:ext>
                </p:extLst>
              </p:nvPr>
            </p:nvGraphicFramePr>
            <p:xfrm>
              <a:off x="323850" y="2544813"/>
              <a:ext cx="8640637" cy="3197325"/>
            </p:xfrm>
            <a:graphic>
              <a:graphicData uri="http://schemas.openxmlformats.org/drawingml/2006/table">
                <a:tbl>
                  <a:tblPr firstRow="1" bandRow="1">
                    <a:tableStyleId>{2D5ABB26-0587-4C30-8999-92F81FD0307C}</a:tableStyleId>
                  </a:tblPr>
                  <a:tblGrid>
                    <a:gridCol w="2591966">
                      <a:extLst>
                        <a:ext uri="{9D8B030D-6E8A-4147-A177-3AD203B41FA5}">
                          <a16:colId xmlns:a16="http://schemas.microsoft.com/office/drawing/2014/main" val="904969299"/>
                        </a:ext>
                      </a:extLst>
                    </a:gridCol>
                    <a:gridCol w="3168352">
                      <a:extLst>
                        <a:ext uri="{9D8B030D-6E8A-4147-A177-3AD203B41FA5}">
                          <a16:colId xmlns:a16="http://schemas.microsoft.com/office/drawing/2014/main" val="3588162254"/>
                        </a:ext>
                      </a:extLst>
                    </a:gridCol>
                    <a:gridCol w="2880319">
                      <a:extLst>
                        <a:ext uri="{9D8B030D-6E8A-4147-A177-3AD203B41FA5}">
                          <a16:colId xmlns:a16="http://schemas.microsoft.com/office/drawing/2014/main" val="2701928058"/>
                        </a:ext>
                      </a:extLst>
                    </a:gridCol>
                  </a:tblGrid>
                  <a:tr h="457200">
                    <a:tc>
                      <a:txBody>
                        <a:bodyPr/>
                        <a:lstStyle/>
                        <a:p>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dirty="0" smtClean="0"/>
                            <a:t>整数规划问题</a:t>
                          </a:r>
                          <a:r>
                            <a:rPr lang="en-US" altLang="zh-CN" sz="2400" dirty="0" smtClean="0"/>
                            <a:t>A</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dirty="0" smtClean="0"/>
                            <a:t>线性规划</a:t>
                          </a:r>
                          <a:r>
                            <a:rPr lang="zh-CN" altLang="en-US" sz="2400" dirty="0" smtClean="0"/>
                            <a:t>问题</a:t>
                          </a:r>
                          <a:r>
                            <a:rPr lang="en-US" altLang="zh-CN" sz="2400" dirty="0" smtClean="0"/>
                            <a:t>B</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4313838"/>
                      </a:ext>
                    </a:extLst>
                  </a:tr>
                  <a:tr h="1920240">
                    <a:tc>
                      <a:txBody>
                        <a:bodyPr/>
                        <a:lstStyle/>
                        <a:p>
                          <a:r>
                            <a:rPr lang="zh-CN" altLang="en-US" sz="2400" dirty="0" smtClean="0"/>
                            <a:t>数学模型</a:t>
                          </a:r>
                          <a:r>
                            <a:rPr lang="zh-CN" altLang="en-US" sz="2400" dirty="0" smtClean="0"/>
                            <a:t>：</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just" eaLnBrk="1" hangingPunct="1">
                            <a:buNone/>
                          </a:pPr>
                          <a:r>
                            <a:rPr lang="en-US" altLang="zh-CN" sz="2400" b="0" dirty="0" smtClean="0">
                              <a:latin typeface="Times New Roman" panose="02020603050405020304" pitchFamily="18" charset="0"/>
                              <a:cs typeface="Times New Roman" panose="02020603050405020304" pitchFamily="18" charset="0"/>
                            </a:rPr>
                            <a:t>max z =40</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en-US" altLang="zh-CN" sz="2400" b="0" dirty="0" smtClean="0">
                              <a:latin typeface="Times New Roman" panose="02020603050405020304" pitchFamily="18" charset="0"/>
                              <a:cs typeface="Times New Roman" panose="02020603050405020304" pitchFamily="18" charset="0"/>
                            </a:rPr>
                            <a:t>+90</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 </a:t>
                          </a:r>
                        </a:p>
                        <a:p>
                          <a:pPr marL="0" indent="0" algn="just" eaLnBrk="1" hangingPunct="1">
                            <a:buNone/>
                          </a:pPr>
                          <a:r>
                            <a:rPr lang="en-US" altLang="zh-CN" sz="2400" b="0" dirty="0" smtClean="0">
                              <a:latin typeface="Times New Roman" panose="02020603050405020304" pitchFamily="18" charset="0"/>
                              <a:cs typeface="Times New Roman" panose="02020603050405020304" pitchFamily="18" charset="0"/>
                            </a:rPr>
                            <a:t>9</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en-US" altLang="zh-CN" sz="2400" b="0" dirty="0" smtClean="0">
                              <a:latin typeface="Times New Roman" panose="02020603050405020304" pitchFamily="18" charset="0"/>
                              <a:cs typeface="Times New Roman" panose="02020603050405020304" pitchFamily="18" charset="0"/>
                            </a:rPr>
                            <a:t>+7</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≤56 </a:t>
                          </a:r>
                        </a:p>
                        <a:p>
                          <a:pPr eaLnBrk="1" hangingPunct="1">
                            <a:buFont typeface="Wingdings" panose="05000000000000000000" pitchFamily="2" charset="2"/>
                            <a:buNone/>
                          </a:pPr>
                          <a:r>
                            <a:rPr lang="en-US" altLang="zh-CN" sz="2400" b="0" dirty="0" smtClean="0">
                              <a:latin typeface="Times New Roman" panose="02020603050405020304" pitchFamily="18" charset="0"/>
                              <a:cs typeface="Times New Roman" panose="02020603050405020304" pitchFamily="18" charset="0"/>
                            </a:rPr>
                            <a:t>7</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en-US" altLang="zh-CN" sz="2400" b="0" dirty="0" smtClean="0">
                              <a:latin typeface="Times New Roman" panose="02020603050405020304" pitchFamily="18" charset="0"/>
                              <a:cs typeface="Times New Roman" panose="02020603050405020304" pitchFamily="18" charset="0"/>
                            </a:rPr>
                            <a:t>+20</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≤70 </a:t>
                          </a:r>
                        </a:p>
                        <a:p>
                          <a:pPr eaLnBrk="1" hangingPunct="1">
                            <a:buFont typeface="Wingdings" panose="05000000000000000000" pitchFamily="2" charset="2"/>
                            <a:buNone/>
                          </a:pP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zh-CN" altLang="en-US"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≥0  </a:t>
                          </a:r>
                        </a:p>
                        <a:p>
                          <a:pPr eaLnBrk="1" hangingPunct="1">
                            <a:buNone/>
                          </a:pP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zh-CN" altLang="en-US"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zh-CN" altLang="en-US" sz="2400" b="0" dirty="0" smtClean="0">
                              <a:latin typeface="Times New Roman" panose="02020603050405020304" pitchFamily="18" charset="0"/>
                              <a:cs typeface="Times New Roman" panose="02020603050405020304" pitchFamily="18" charset="0"/>
                            </a:rPr>
                            <a:t>整数</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just" eaLnBrk="1" hangingPunct="1">
                            <a:buNone/>
                          </a:pPr>
                          <a:r>
                            <a:rPr lang="en-US" altLang="zh-CN" sz="2400" b="0" dirty="0" smtClean="0">
                              <a:latin typeface="Times New Roman" panose="02020603050405020304" pitchFamily="18" charset="0"/>
                              <a:cs typeface="Times New Roman" panose="02020603050405020304" pitchFamily="18" charset="0"/>
                            </a:rPr>
                            <a:t>max z =40</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en-US" altLang="zh-CN" sz="2400" b="0" dirty="0" smtClean="0">
                              <a:latin typeface="Times New Roman" panose="02020603050405020304" pitchFamily="18" charset="0"/>
                              <a:cs typeface="Times New Roman" panose="02020603050405020304" pitchFamily="18" charset="0"/>
                            </a:rPr>
                            <a:t>+90</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 </a:t>
                          </a:r>
                        </a:p>
                        <a:p>
                          <a:pPr marL="0" indent="0" algn="just" eaLnBrk="1" hangingPunct="1">
                            <a:buNone/>
                          </a:pPr>
                          <a:r>
                            <a:rPr lang="en-US" altLang="zh-CN" sz="2400" b="0" dirty="0" smtClean="0">
                              <a:latin typeface="Times New Roman" panose="02020603050405020304" pitchFamily="18" charset="0"/>
                              <a:cs typeface="Times New Roman" panose="02020603050405020304" pitchFamily="18" charset="0"/>
                            </a:rPr>
                            <a:t>9</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en-US" altLang="zh-CN" sz="2400" b="0" dirty="0" smtClean="0">
                              <a:latin typeface="Times New Roman" panose="02020603050405020304" pitchFamily="18" charset="0"/>
                              <a:cs typeface="Times New Roman" panose="02020603050405020304" pitchFamily="18" charset="0"/>
                            </a:rPr>
                            <a:t>+7</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≤56 </a:t>
                          </a:r>
                        </a:p>
                        <a:p>
                          <a:pPr eaLnBrk="1" hangingPunct="1">
                            <a:buFont typeface="Wingdings" panose="05000000000000000000" pitchFamily="2" charset="2"/>
                            <a:buNone/>
                          </a:pPr>
                          <a:r>
                            <a:rPr lang="en-US" altLang="zh-CN" sz="2400" b="0" dirty="0" smtClean="0">
                              <a:latin typeface="Times New Roman" panose="02020603050405020304" pitchFamily="18" charset="0"/>
                              <a:cs typeface="Times New Roman" panose="02020603050405020304" pitchFamily="18" charset="0"/>
                            </a:rPr>
                            <a:t>7</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en-US" altLang="zh-CN" sz="2400" b="0" dirty="0" smtClean="0">
                              <a:latin typeface="Times New Roman" panose="02020603050405020304" pitchFamily="18" charset="0"/>
                              <a:cs typeface="Times New Roman" panose="02020603050405020304" pitchFamily="18" charset="0"/>
                            </a:rPr>
                            <a:t>+20</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≤70 </a:t>
                          </a:r>
                        </a:p>
                        <a:p>
                          <a:pPr eaLnBrk="1" hangingPunct="1">
                            <a:buFont typeface="Wingdings" panose="05000000000000000000" pitchFamily="2" charset="2"/>
                            <a:buNone/>
                          </a:pP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1</a:t>
                          </a:r>
                          <a:r>
                            <a:rPr lang="zh-CN" altLang="en-US"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x</a:t>
                          </a:r>
                          <a:r>
                            <a:rPr lang="en-US" altLang="zh-CN" sz="2400" b="0" baseline="-30000" dirty="0" smtClean="0">
                              <a:latin typeface="Times New Roman" panose="02020603050405020304" pitchFamily="18" charset="0"/>
                              <a:cs typeface="Times New Roman" panose="02020603050405020304" pitchFamily="18" charset="0"/>
                            </a:rPr>
                            <a:t>2</a:t>
                          </a:r>
                          <a:r>
                            <a:rPr lang="en-US" altLang="zh-CN" sz="2400" b="0" dirty="0" smtClean="0">
                              <a:latin typeface="Times New Roman" panose="02020603050405020304" pitchFamily="18" charset="0"/>
                              <a:cs typeface="Times New Roman" panose="02020603050405020304" pitchFamily="18" charset="0"/>
                            </a:rPr>
                            <a:t>≥0  </a:t>
                          </a:r>
                        </a:p>
                        <a:p>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435503"/>
                      </a:ext>
                    </a:extLst>
                  </a:tr>
                  <a:tr h="819885">
                    <a:tc>
                      <a:txBody>
                        <a:bodyPr/>
                        <a:lstStyle/>
                        <a:p>
                          <a:r>
                            <a:rPr lang="zh-CN" altLang="en-US" sz="2400" dirty="0" smtClean="0"/>
                            <a:t>最优目标函数值：</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1923" t="-297037" r="-91346" b="-2222"/>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297037" r="-423" b="-2222"/>
                          </a:stretch>
                        </a:blipFill>
                      </a:tcPr>
                    </a:tc>
                    <a:extLst>
                      <a:ext uri="{0D108BD9-81ED-4DB2-BD59-A6C34878D82A}">
                        <a16:rowId xmlns:a16="http://schemas.microsoft.com/office/drawing/2014/main" val="1938518252"/>
                      </a:ext>
                    </a:extLst>
                  </a:tr>
                </a:tbl>
              </a:graphicData>
            </a:graphic>
          </p:graphicFrame>
        </mc:Fallback>
      </mc:AlternateContent>
      <mc:AlternateContent xmlns:mc="http://schemas.openxmlformats.org/markup-compatibility/2006" xmlns:a14="http://schemas.microsoft.com/office/drawing/2010/main">
        <mc:Choice Requires="a14">
          <p:sp>
            <p:nvSpPr>
              <p:cNvPr id="5" name="文本框 4"/>
              <p:cNvSpPr txBox="1"/>
              <p:nvPr/>
            </p:nvSpPr>
            <p:spPr>
              <a:xfrm>
                <a:off x="2119731" y="5811343"/>
                <a:ext cx="5778377" cy="476669"/>
              </a:xfrm>
              <a:prstGeom prst="rect">
                <a:avLst/>
              </a:prstGeom>
              <a:noFill/>
            </p:spPr>
            <p:txBody>
              <a:bodyPr wrap="none" rtlCol="0">
                <a:spAutoFit/>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𝑧</m:t>
                        </m:r>
                      </m:e>
                      <m:sup>
                        <m:r>
                          <a:rPr lang="en-US" altLang="zh-CN" b="0" i="1">
                            <a:latin typeface="Cambria Math" panose="02040503050406030204" pitchFamily="18" charset="0"/>
                          </a:rPr>
                          <m:t>∗</m:t>
                        </m:r>
                      </m:sup>
                    </m:sSup>
                  </m:oMath>
                </a14:m>
                <a:r>
                  <a:rPr lang="zh-CN" altLang="en-US" dirty="0"/>
                  <a:t>的上界为</a:t>
                </a:r>
                <a14:m>
                  <m:oMath xmlns:m="http://schemas.openxmlformats.org/officeDocument/2006/math">
                    <m:bar>
                      <m:barPr>
                        <m:pos m:val="top"/>
                        <m:ctrlPr>
                          <a:rPr lang="en-US" altLang="zh-CN" i="1" smtClean="0">
                            <a:latin typeface="Cambria Math" panose="02040503050406030204" pitchFamily="18" charset="0"/>
                          </a:rPr>
                        </m:ctrlPr>
                      </m:barPr>
                      <m:e>
                        <m:r>
                          <a:rPr lang="en-US" altLang="zh-CN" b="1" i="1" smtClean="0">
                            <a:latin typeface="Cambria Math" panose="02040503050406030204" pitchFamily="18" charset="0"/>
                          </a:rPr>
                          <m:t>𝒛</m:t>
                        </m:r>
                      </m:e>
                    </m:bar>
                  </m:oMath>
                </a14:m>
                <a:r>
                  <a:rPr lang="zh-CN" altLang="en-US" dirty="0"/>
                  <a:t>，下界为</a:t>
                </a:r>
                <a14:m>
                  <m:oMath xmlns:m="http://schemas.openxmlformats.org/officeDocument/2006/math">
                    <m:bar>
                      <m:barPr>
                        <m:ctrlPr>
                          <a:rPr lang="zh-CN" altLang="en-US" i="1" smtClean="0">
                            <a:latin typeface="Cambria Math" panose="02040503050406030204" pitchFamily="18" charset="0"/>
                          </a:rPr>
                        </m:ctrlPr>
                      </m:barPr>
                      <m:e>
                        <m:r>
                          <a:rPr lang="en-US" altLang="zh-CN" b="1" i="1" smtClean="0">
                            <a:latin typeface="Cambria Math" panose="02040503050406030204" pitchFamily="18" charset="0"/>
                          </a:rPr>
                          <m:t>𝒛</m:t>
                        </m:r>
                      </m:e>
                    </m:bar>
                  </m:oMath>
                </a14:m>
                <a:r>
                  <a:rPr lang="zh-CN" altLang="en-US" dirty="0"/>
                  <a:t>，则有</a:t>
                </a:r>
                <a14:m>
                  <m:oMath xmlns:m="http://schemas.openxmlformats.org/officeDocument/2006/math">
                    <m:bar>
                      <m:barPr>
                        <m:ctrlPr>
                          <a:rPr lang="zh-CN" altLang="en-US" i="1">
                            <a:latin typeface="Cambria Math" panose="02040503050406030204" pitchFamily="18" charset="0"/>
                          </a:rPr>
                        </m:ctrlPr>
                      </m:barPr>
                      <m:e>
                        <m:r>
                          <a:rPr lang="en-US" altLang="zh-CN" i="1">
                            <a:latin typeface="Cambria Math" panose="02040503050406030204" pitchFamily="18" charset="0"/>
                          </a:rPr>
                          <m:t>𝒛</m:t>
                        </m:r>
                      </m:e>
                    </m:bar>
                    <m:r>
                      <a:rPr lang="en-US" altLang="zh-CN" b="0"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b="0" i="1">
                            <a:latin typeface="Cambria Math" panose="02040503050406030204" pitchFamily="18" charset="0"/>
                          </a:rPr>
                          <m:t>𝑧</m:t>
                        </m:r>
                      </m:e>
                      <m:sup>
                        <m:r>
                          <a:rPr lang="en-US" altLang="zh-CN" b="0" i="1">
                            <a:latin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bar>
                      <m:barPr>
                        <m:pos m:val="top"/>
                        <m:ctrlPr>
                          <a:rPr lang="en-US" altLang="zh-CN" i="1">
                            <a:latin typeface="Cambria Math" panose="02040503050406030204" pitchFamily="18" charset="0"/>
                          </a:rPr>
                        </m:ctrlPr>
                      </m:barPr>
                      <m:e>
                        <m:r>
                          <a:rPr lang="en-US" altLang="zh-CN" i="1">
                            <a:latin typeface="Cambria Math" panose="02040503050406030204" pitchFamily="18" charset="0"/>
                          </a:rPr>
                          <m:t>𝒛</m:t>
                        </m:r>
                      </m:e>
                    </m:bar>
                  </m:oMath>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119731" y="5811343"/>
                <a:ext cx="5778377" cy="476669"/>
              </a:xfrm>
              <a:prstGeom prst="rect">
                <a:avLst/>
              </a:prstGeom>
              <a:blipFill>
                <a:blip r:embed="rId4"/>
                <a:stretch>
                  <a:fillRect t="-15385" b="-2051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rPr>
              <a:t>6.2 </a:t>
            </a:r>
            <a:r>
              <a:rPr lang="zh-CN" altLang="en-US" dirty="0">
                <a:latin typeface="Arial" panose="020B0604020202020204" pitchFamily="34" charset="0"/>
              </a:rPr>
              <a:t>分支定界解法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94729" y="1196752"/>
                <a:ext cx="8469759" cy="4820037"/>
              </a:xfrm>
            </p:spPr>
            <p:txBody>
              <a:bodyPr/>
              <a:lstStyle/>
              <a:p>
                <a:pPr algn="just" eaLnBrk="1" hangingPunct="1"/>
                <a:r>
                  <a:rPr lang="zh-CN" altLang="en-US" dirty="0">
                    <a:latin typeface="Times New Roman" panose="02020603050405020304" pitchFamily="18" charset="0"/>
                    <a:cs typeface="Times New Roman" panose="02020603050405020304" pitchFamily="18" charset="0"/>
                  </a:rPr>
                  <a:t>分支定界法可用于解纯整数或混合整数线性规划问题。</a:t>
                </a:r>
              </a:p>
              <a:p>
                <a:pPr lvl="1" algn="just" eaLnBrk="1" hangingPunct="1"/>
                <a:r>
                  <a:rPr lang="en-US" altLang="zh-CN" sz="2000" dirty="0">
                    <a:latin typeface="Times New Roman" panose="02020603050405020304" pitchFamily="18" charset="0"/>
                    <a:cs typeface="Times New Roman" panose="02020603050405020304" pitchFamily="18" charset="0"/>
                  </a:rPr>
                  <a:t>20</a:t>
                </a:r>
                <a:r>
                  <a:rPr lang="zh-CN" altLang="en-US" sz="2000" dirty="0">
                    <a:latin typeface="Times New Roman" panose="02020603050405020304" pitchFamily="18" charset="0"/>
                    <a:cs typeface="Times New Roman" panose="02020603050405020304" pitchFamily="18" charset="0"/>
                  </a:rPr>
                  <a:t>世纪</a:t>
                </a:r>
                <a:r>
                  <a:rPr lang="en-US" altLang="zh-CN" sz="2000" dirty="0">
                    <a:latin typeface="Times New Roman" panose="02020603050405020304" pitchFamily="18" charset="0"/>
                    <a:cs typeface="Times New Roman" panose="02020603050405020304" pitchFamily="18" charset="0"/>
                  </a:rPr>
                  <a:t>60</a:t>
                </a:r>
                <a:r>
                  <a:rPr lang="zh-CN" altLang="en-US" sz="2000" dirty="0">
                    <a:latin typeface="Times New Roman" panose="02020603050405020304" pitchFamily="18" charset="0"/>
                    <a:cs typeface="Times New Roman" panose="02020603050405020304" pitchFamily="18" charset="0"/>
                  </a:rPr>
                  <a:t>年代初由</a:t>
                </a:r>
                <a:r>
                  <a:rPr lang="en-US" altLang="zh-CN" sz="2000" dirty="0">
                    <a:latin typeface="Times New Roman" panose="02020603050405020304" pitchFamily="18" charset="0"/>
                    <a:cs typeface="Times New Roman" panose="02020603050405020304" pitchFamily="18" charset="0"/>
                  </a:rPr>
                  <a:t>Land </a:t>
                </a:r>
                <a:r>
                  <a:rPr lang="en-US" altLang="zh-CN" sz="2000" dirty="0" err="1">
                    <a:latin typeface="Times New Roman" panose="02020603050405020304" pitchFamily="18" charset="0"/>
                    <a:cs typeface="Times New Roman" panose="02020603050405020304" pitchFamily="18" charset="0"/>
                  </a:rPr>
                  <a:t>Doig</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Dakin</a:t>
                </a:r>
                <a:r>
                  <a:rPr lang="zh-CN" altLang="en-US" sz="2000" dirty="0">
                    <a:latin typeface="Times New Roman" panose="02020603050405020304" pitchFamily="18" charset="0"/>
                    <a:cs typeface="Times New Roman" panose="02020603050405020304" pitchFamily="18" charset="0"/>
                  </a:rPr>
                  <a:t>等提出，是解整数线性规划的重要方法之一。</a:t>
                </a:r>
              </a:p>
              <a:p>
                <a:pPr algn="just" eaLnBrk="1" hangingPunct="1"/>
                <a:r>
                  <a:rPr lang="zh-CN" altLang="en-US" dirty="0">
                    <a:latin typeface="Times New Roman" panose="02020603050405020304" pitchFamily="18" charset="0"/>
                    <a:cs typeface="Times New Roman" panose="02020603050405020304" pitchFamily="18" charset="0"/>
                  </a:rPr>
                  <a:t>分支定界法的基本思想</a:t>
                </a:r>
              </a:p>
              <a:p>
                <a:pPr lvl="1" algn="just" eaLnBrk="1" hangingPunct="1"/>
                <a:r>
                  <a:rPr lang="zh-CN" altLang="en-US" sz="2000" dirty="0">
                    <a:latin typeface="Times New Roman" panose="02020603050405020304" pitchFamily="18" charset="0"/>
                    <a:cs typeface="Times New Roman" panose="02020603050405020304" pitchFamily="18" charset="0"/>
                  </a:rPr>
                  <a:t>最大化整数线性规划记为问题</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，与它相应的线性规划记为问题</a:t>
                </a:r>
                <a:r>
                  <a:rPr lang="en-US" altLang="zh-CN" sz="2000" dirty="0">
                    <a:latin typeface="Times New Roman" panose="02020603050405020304" pitchFamily="18" charset="0"/>
                    <a:cs typeface="Times New Roman" panose="02020603050405020304" pitchFamily="18" charset="0"/>
                  </a:rPr>
                  <a:t>B</a:t>
                </a:r>
              </a:p>
              <a:p>
                <a:pPr lvl="1" algn="just" eaLnBrk="1" hangingPunct="1"/>
                <a:r>
                  <a:rPr lang="zh-CN" altLang="en-US" sz="2000" dirty="0">
                    <a:latin typeface="Times New Roman" panose="02020603050405020304" pitchFamily="18" charset="0"/>
                    <a:cs typeface="Times New Roman" panose="02020603050405020304" pitchFamily="18" charset="0"/>
                  </a:rPr>
                  <a:t>从解问题</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开始，若其最优解不符合</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的整数条件，那么</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的最优目标函数必是</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的最优目标函数值</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的上界，记作</a:t>
                </a:r>
                <a14:m>
                  <m:oMath xmlns:m="http://schemas.openxmlformats.org/officeDocument/2006/math">
                    <m:bar>
                      <m:barPr>
                        <m:pos m:val="top"/>
                        <m:ctrlPr>
                          <a:rPr lang="en-US" altLang="zh-CN" sz="2000" i="1" dirty="0" smtClean="0">
                            <a:latin typeface="Cambria Math" panose="02040503050406030204" pitchFamily="18" charset="0"/>
                            <a:cs typeface="Times New Roman" panose="02020603050405020304" pitchFamily="18" charset="0"/>
                          </a:rPr>
                        </m:ctrlPr>
                      </m:barPr>
                      <m:e>
                        <m:r>
                          <a:rPr lang="en-US" altLang="zh-CN" sz="2000" b="1" i="1" dirty="0" smtClean="0">
                            <a:latin typeface="Cambria Math" panose="02040503050406030204" pitchFamily="18" charset="0"/>
                            <a:cs typeface="Times New Roman" panose="02020603050405020304" pitchFamily="18" charset="0"/>
                          </a:rPr>
                          <m:t>𝒛</m:t>
                        </m:r>
                      </m:e>
                    </m:bar>
                    <m:r>
                      <a:rPr lang="zh-CN" altLang="en-US" sz="2000" i="1" dirty="0" smtClean="0">
                        <a:latin typeface="Cambria Math" panose="02040503050406030204" pitchFamily="18" charset="0"/>
                        <a:cs typeface="Times New Roman" panose="02020603050405020304" pitchFamily="18" charset="0"/>
                      </a:rPr>
                      <m:t> </m:t>
                    </m:r>
                  </m:oMath>
                </a14:m>
                <a:r>
                  <a:rPr lang="zh-CN" altLang="en-US" sz="2000" dirty="0">
                    <a:latin typeface="Times New Roman" panose="02020603050405020304" pitchFamily="18" charset="0"/>
                    <a:cs typeface="Times New Roman" panose="02020603050405020304" pitchFamily="18" charset="0"/>
                  </a:rPr>
                  <a:t>；而</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的任意可行解的目标函数值将是</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的一个下界</a:t>
                </a:r>
                <a14:m>
                  <m:oMath xmlns:m="http://schemas.openxmlformats.org/officeDocument/2006/math">
                    <m:bar>
                      <m:barPr>
                        <m:ctrlPr>
                          <a:rPr lang="zh-CN" altLang="en-US" sz="2000" i="1" smtClean="0">
                            <a:latin typeface="Cambria Math" panose="02040503050406030204" pitchFamily="18" charset="0"/>
                            <a:cs typeface="Times New Roman" panose="02020603050405020304" pitchFamily="18" charset="0"/>
                          </a:rPr>
                        </m:ctrlPr>
                      </m:barPr>
                      <m:e>
                        <m:r>
                          <a:rPr lang="en-US" altLang="zh-CN" sz="2000" b="1" i="1" smtClean="0">
                            <a:latin typeface="Cambria Math" panose="02040503050406030204" pitchFamily="18" charset="0"/>
                            <a:cs typeface="Times New Roman" panose="02020603050405020304" pitchFamily="18" charset="0"/>
                          </a:rPr>
                          <m:t>𝒛</m:t>
                        </m:r>
                      </m:e>
                    </m:bar>
                  </m:oMath>
                </a14:m>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分支定界法就是</a:t>
                </a:r>
                <a:r>
                  <a:rPr lang="zh-CN" altLang="en-US" sz="2000" dirty="0">
                    <a:solidFill>
                      <a:srgbClr val="FF0000"/>
                    </a:solidFill>
                    <a:latin typeface="Times New Roman" panose="02020603050405020304" pitchFamily="18" charset="0"/>
                    <a:cs typeface="Times New Roman" panose="02020603050405020304" pitchFamily="18" charset="0"/>
                  </a:rPr>
                  <a:t>将</a:t>
                </a:r>
                <a:r>
                  <a:rPr lang="en-US" altLang="zh-CN" sz="2000" dirty="0">
                    <a:solidFill>
                      <a:srgbClr val="FF0000"/>
                    </a:solidFill>
                    <a:latin typeface="Times New Roman" panose="02020603050405020304" pitchFamily="18" charset="0"/>
                    <a:cs typeface="Times New Roman" panose="02020603050405020304" pitchFamily="18" charset="0"/>
                  </a:rPr>
                  <a:t>B</a:t>
                </a:r>
                <a:r>
                  <a:rPr lang="zh-CN" altLang="en-US" sz="2000" dirty="0">
                    <a:solidFill>
                      <a:srgbClr val="FF0000"/>
                    </a:solidFill>
                    <a:latin typeface="Times New Roman" panose="02020603050405020304" pitchFamily="18" charset="0"/>
                    <a:cs typeface="Times New Roman" panose="02020603050405020304" pitchFamily="18" charset="0"/>
                  </a:rPr>
                  <a:t>的可行域分成子区域</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称为分支</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的方法，</a:t>
                </a:r>
                <a:r>
                  <a:rPr lang="zh-CN" altLang="en-US" sz="2000" dirty="0">
                    <a:solidFill>
                      <a:srgbClr val="FF0000"/>
                    </a:solidFill>
                    <a:latin typeface="Times New Roman" panose="02020603050405020304" pitchFamily="18" charset="0"/>
                    <a:cs typeface="Times New Roman" panose="02020603050405020304" pitchFamily="18" charset="0"/>
                  </a:rPr>
                  <a:t>逐步减小</a:t>
                </a:r>
                <a14:m>
                  <m:oMath xmlns:m="http://schemas.openxmlformats.org/officeDocument/2006/math">
                    <m:bar>
                      <m:barPr>
                        <m:pos m:val="top"/>
                        <m:ctrlPr>
                          <a:rPr lang="en-US" altLang="zh-CN" sz="2000" i="1" dirty="0">
                            <a:solidFill>
                              <a:srgbClr val="FF0000"/>
                            </a:solidFill>
                            <a:latin typeface="Cambria Math" panose="02040503050406030204" pitchFamily="18" charset="0"/>
                            <a:cs typeface="Times New Roman" panose="02020603050405020304" pitchFamily="18" charset="0"/>
                          </a:rPr>
                        </m:ctrlPr>
                      </m:barPr>
                      <m:e>
                        <m:r>
                          <a:rPr lang="en-US" altLang="zh-CN" sz="2000" i="1" dirty="0">
                            <a:solidFill>
                              <a:srgbClr val="FF0000"/>
                            </a:solidFill>
                            <a:latin typeface="Cambria Math" panose="02040503050406030204" pitchFamily="18" charset="0"/>
                            <a:cs typeface="Times New Roman" panose="02020603050405020304" pitchFamily="18" charset="0"/>
                          </a:rPr>
                          <m:t>𝒛</m:t>
                        </m:r>
                      </m:e>
                    </m:bar>
                  </m:oMath>
                </a14:m>
                <a:r>
                  <a:rPr lang="zh-CN" altLang="en-US" sz="2000" dirty="0">
                    <a:solidFill>
                      <a:srgbClr val="FF0000"/>
                    </a:solidFill>
                    <a:latin typeface="Times New Roman" panose="02020603050405020304" pitchFamily="18" charset="0"/>
                    <a:cs typeface="Times New Roman" panose="02020603050405020304" pitchFamily="18" charset="0"/>
                  </a:rPr>
                  <a:t>和增大</a:t>
                </a:r>
                <a14:m>
                  <m:oMath xmlns:m="http://schemas.openxmlformats.org/officeDocument/2006/math">
                    <m:bar>
                      <m:barPr>
                        <m:ctrlPr>
                          <a:rPr lang="zh-CN" altLang="en-US" sz="2000" i="1">
                            <a:solidFill>
                              <a:srgbClr val="FF0000"/>
                            </a:solidFill>
                            <a:latin typeface="Cambria Math" panose="02040503050406030204" pitchFamily="18" charset="0"/>
                            <a:cs typeface="Times New Roman" panose="02020603050405020304" pitchFamily="18" charset="0"/>
                          </a:rPr>
                        </m:ctrlPr>
                      </m:barPr>
                      <m:e>
                        <m:r>
                          <a:rPr lang="en-US" altLang="zh-CN" sz="2000" i="1">
                            <a:solidFill>
                              <a:srgbClr val="FF0000"/>
                            </a:solidFill>
                            <a:latin typeface="Cambria Math" panose="02040503050406030204" pitchFamily="18" charset="0"/>
                            <a:cs typeface="Times New Roman" panose="02020603050405020304" pitchFamily="18" charset="0"/>
                          </a:rPr>
                          <m:t>𝒛</m:t>
                        </m:r>
                      </m:e>
                    </m:bar>
                    <m:r>
                      <a:rPr lang="en-US" altLang="zh-CN" sz="2000" i="1">
                        <a:solidFill>
                          <a:srgbClr val="FF0000"/>
                        </a:solidFill>
                        <a:latin typeface="Cambria Math" panose="02040503050406030204" pitchFamily="18" charset="0"/>
                        <a:cs typeface="Times New Roman" panose="02020603050405020304" pitchFamily="18" charset="0"/>
                      </a:rPr>
                      <m:t> </m:t>
                    </m:r>
                  </m:oMath>
                </a14:m>
                <a:r>
                  <a:rPr lang="zh-CN" altLang="en-US" sz="2000" dirty="0">
                    <a:solidFill>
                      <a:srgbClr val="FF0000"/>
                    </a:solidFill>
                    <a:latin typeface="Times New Roman" panose="02020603050405020304" pitchFamily="18" charset="0"/>
                    <a:cs typeface="Times New Roman" panose="02020603050405020304" pitchFamily="18" charset="0"/>
                  </a:rPr>
                  <a:t>，最终求到</a:t>
                </a:r>
                <a:r>
                  <a:rPr lang="en-US" altLang="zh-CN" sz="2000" dirty="0">
                    <a:solidFill>
                      <a:srgbClr val="FF0000"/>
                    </a:solidFill>
                    <a:latin typeface="Times New Roman" panose="02020603050405020304" pitchFamily="18" charset="0"/>
                    <a:cs typeface="Times New Roman" panose="02020603050405020304" pitchFamily="18" charset="0"/>
                  </a:rPr>
                  <a:t>z</a:t>
                </a:r>
                <a:r>
                  <a:rPr lang="en-US" altLang="zh-CN" sz="2000" baseline="30000" dirty="0">
                    <a:solidFill>
                      <a:srgbClr val="FF0000"/>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eaLnBrk="1" hangingPunct="1"/>
                <a:r>
                  <a:rPr lang="zh-CN" altLang="en-US" dirty="0">
                    <a:latin typeface="Times New Roman" panose="02020603050405020304" pitchFamily="18" charset="0"/>
                    <a:cs typeface="Times New Roman" panose="02020603050405020304" pitchFamily="18" charset="0"/>
                  </a:rPr>
                  <a:t>上下界更新</a:t>
                </a:r>
                <a:endParaRPr lang="en-US" altLang="zh-CN"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问题</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分支最优目标函数中的最大值作为新的上界；</a:t>
                </a:r>
                <a:endParaRPr lang="en-US" altLang="zh-CN" sz="2000"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在已求出整数条件的解中的最大者作为新的下界。</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94729" y="1196752"/>
                <a:ext cx="8469759" cy="4820037"/>
              </a:xfrm>
              <a:blipFill>
                <a:blip r:embed="rId2"/>
                <a:stretch>
                  <a:fillRect l="-288" t="-1391" r="-719" b="-126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4</a:t>
            </a:fld>
            <a:endParaRPr lang="en-US" altLang="zh-CN"/>
          </a:p>
        </p:txBody>
      </p:sp>
    </p:spTree>
    <p:extLst>
      <p:ext uri="{BB962C8B-B14F-4D97-AF65-F5344CB8AC3E}">
        <p14:creationId xmlns:p14="http://schemas.microsoft.com/office/powerpoint/2010/main" val="3952988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a:extLst>
              <a:ext uri="{FF2B5EF4-FFF2-40B4-BE49-F238E27FC236}">
                <a16:creationId xmlns:a16="http://schemas.microsoft.com/office/drawing/2014/main" id="{A1E5904C-CACE-4A0F-A4F7-1322310DF77C}"/>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p:sp>
        <p:nvSpPr>
          <p:cNvPr id="2" name="内容占位符 1"/>
          <p:cNvSpPr>
            <a:spLocks noGrp="1"/>
          </p:cNvSpPr>
          <p:nvPr>
            <p:ph idx="1"/>
          </p:nvPr>
        </p:nvSpPr>
        <p:spPr>
          <a:xfrm>
            <a:off x="494729" y="1196752"/>
            <a:ext cx="8469759" cy="2308324"/>
          </a:xfrm>
        </p:spPr>
        <p:txBody>
          <a:bodyPr/>
          <a:lstStyle/>
          <a:p>
            <a:pPr eaLnBrk="1" hangingPunct="1"/>
            <a:r>
              <a:rPr lang="zh-CN" altLang="en-US" dirty="0">
                <a:latin typeface="Times New Roman" panose="02020603050405020304" pitchFamily="18" charset="0"/>
                <a:cs typeface="Times New Roman" panose="02020603050405020304" pitchFamily="18" charset="0"/>
              </a:rPr>
              <a:t>例</a:t>
            </a:r>
            <a:r>
              <a:rPr lang="en-US" altLang="zh-CN" dirty="0">
                <a:latin typeface="Times New Roman" panose="02020603050405020304" pitchFamily="18" charset="0"/>
                <a:cs typeface="Times New Roman" panose="02020603050405020304" pitchFamily="18" charset="0"/>
              </a:rPr>
              <a:t>6-2 </a:t>
            </a:r>
            <a:r>
              <a:rPr lang="zh-CN" altLang="en-US" dirty="0">
                <a:latin typeface="Times New Roman" panose="02020603050405020304" pitchFamily="18" charset="0"/>
                <a:cs typeface="Times New Roman" panose="02020603050405020304" pitchFamily="18" charset="0"/>
              </a:rPr>
              <a:t>求解问题</a:t>
            </a:r>
            <a:r>
              <a:rPr lang="en-US" altLang="zh-CN" dirty="0">
                <a:latin typeface="Times New Roman" panose="02020603050405020304" pitchFamily="18" charset="0"/>
                <a:cs typeface="Times New Roman" panose="02020603050405020304" pitchFamily="18" charset="0"/>
              </a:rPr>
              <a:t>A</a:t>
            </a:r>
          </a:p>
          <a:p>
            <a:pPr algn="just" eaLnBrk="1" hangingPunct="1">
              <a:buNone/>
            </a:pPr>
            <a:r>
              <a:rPr lang="en-US" altLang="zh-CN" sz="2000" b="0" dirty="0">
                <a:latin typeface="Times New Roman" panose="02020603050405020304" pitchFamily="18" charset="0"/>
                <a:cs typeface="Times New Roman" panose="02020603050405020304" pitchFamily="18" charset="0"/>
              </a:rPr>
              <a:t>       max z=40x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+90x</a:t>
            </a:r>
            <a:r>
              <a:rPr lang="en-US" altLang="zh-CN" sz="2000" b="0" baseline="-30000" dirty="0">
                <a:latin typeface="Times New Roman" panose="02020603050405020304" pitchFamily="18" charset="0"/>
                <a:cs typeface="Times New Roman" panose="02020603050405020304" pitchFamily="18" charset="0"/>
              </a:rPr>
              <a:t>2</a:t>
            </a:r>
            <a:r>
              <a:rPr lang="en-US" altLang="zh-CN" sz="2000" b="0" dirty="0">
                <a:latin typeface="Times New Roman" panose="02020603050405020304" pitchFamily="18" charset="0"/>
                <a:cs typeface="Times New Roman" panose="02020603050405020304" pitchFamily="18" charset="0"/>
              </a:rPr>
              <a:t>     ①</a:t>
            </a:r>
          </a:p>
          <a:p>
            <a:pPr eaLnBrk="1" hangingPunct="1">
              <a:buNone/>
            </a:pPr>
            <a:r>
              <a:rPr lang="en-US" altLang="zh-CN" sz="2000" b="0" dirty="0">
                <a:latin typeface="Times New Roman" panose="02020603050405020304" pitchFamily="18" charset="0"/>
                <a:cs typeface="Times New Roman" panose="02020603050405020304" pitchFamily="18" charset="0"/>
              </a:rPr>
              <a:t>       9x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+7x</a:t>
            </a:r>
            <a:r>
              <a:rPr lang="en-US" altLang="zh-CN" sz="2000" b="0" baseline="-30000" dirty="0">
                <a:latin typeface="Times New Roman" panose="02020603050405020304" pitchFamily="18" charset="0"/>
                <a:cs typeface="Times New Roman" panose="02020603050405020304" pitchFamily="18" charset="0"/>
              </a:rPr>
              <a:t>2</a:t>
            </a:r>
            <a:r>
              <a:rPr lang="en-US" altLang="zh-CN" sz="2000" b="0" dirty="0">
                <a:latin typeface="Times New Roman" panose="02020603050405020304" pitchFamily="18" charset="0"/>
                <a:cs typeface="Times New Roman" panose="02020603050405020304" pitchFamily="18" charset="0"/>
              </a:rPr>
              <a:t>≤56               ②</a:t>
            </a:r>
          </a:p>
          <a:p>
            <a:pPr eaLnBrk="1" hangingPunct="1">
              <a:buNone/>
            </a:pPr>
            <a:r>
              <a:rPr lang="en-US" altLang="zh-CN" sz="2000" b="0" dirty="0">
                <a:latin typeface="Times New Roman" panose="02020603050405020304" pitchFamily="18" charset="0"/>
                <a:cs typeface="Times New Roman" panose="02020603050405020304" pitchFamily="18" charset="0"/>
              </a:rPr>
              <a:t>       7x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+20x</a:t>
            </a:r>
            <a:r>
              <a:rPr lang="en-US" altLang="zh-CN" sz="2000" b="0" baseline="-30000" dirty="0">
                <a:latin typeface="Times New Roman" panose="02020603050405020304" pitchFamily="18" charset="0"/>
                <a:cs typeface="Times New Roman" panose="02020603050405020304" pitchFamily="18" charset="0"/>
              </a:rPr>
              <a:t>2</a:t>
            </a:r>
            <a:r>
              <a:rPr lang="en-US" altLang="zh-CN" sz="2000" b="0" dirty="0">
                <a:latin typeface="Times New Roman" panose="02020603050405020304" pitchFamily="18" charset="0"/>
                <a:cs typeface="Times New Roman" panose="02020603050405020304" pitchFamily="18" charset="0"/>
              </a:rPr>
              <a:t>≤70             ③  (6.2)</a:t>
            </a:r>
          </a:p>
          <a:p>
            <a:pPr eaLnBrk="1" hangingPunct="1">
              <a:buNone/>
            </a:pPr>
            <a:r>
              <a:rPr lang="en-US" altLang="zh-CN" sz="2000" b="0" dirty="0">
                <a:latin typeface="Times New Roman" panose="02020603050405020304" pitchFamily="18" charset="0"/>
                <a:cs typeface="Times New Roman" panose="02020603050405020304" pitchFamily="18" charset="0"/>
              </a:rPr>
              <a:t>       x</a:t>
            </a:r>
            <a:r>
              <a:rPr lang="en-US" altLang="zh-CN" sz="2000" b="0" baseline="-3000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2</a:t>
            </a:r>
            <a:r>
              <a:rPr lang="en-US" altLang="zh-CN" sz="2000" b="0" dirty="0">
                <a:latin typeface="Times New Roman" panose="02020603050405020304" pitchFamily="18" charset="0"/>
                <a:cs typeface="Times New Roman" panose="02020603050405020304" pitchFamily="18" charset="0"/>
              </a:rPr>
              <a:t>≥0                   ④</a:t>
            </a:r>
          </a:p>
          <a:p>
            <a:pPr eaLnBrk="1" hangingPunct="1">
              <a:buNone/>
            </a:pPr>
            <a:r>
              <a:rPr lang="en-US" altLang="zh-CN" sz="2000" b="0" dirty="0">
                <a:latin typeface="Times New Roman" panose="02020603050405020304" pitchFamily="18" charset="0"/>
                <a:cs typeface="Times New Roman" panose="02020603050405020304" pitchFamily="18" charset="0"/>
              </a:rPr>
              <a:t>       x</a:t>
            </a:r>
            <a:r>
              <a:rPr lang="en-US" altLang="zh-CN" sz="2000" b="0" baseline="-3000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2</a:t>
            </a:r>
            <a:r>
              <a:rPr lang="zh-CN" altLang="en-US" sz="2000" b="0" dirty="0">
                <a:latin typeface="Times New Roman" panose="02020603050405020304" pitchFamily="18" charset="0"/>
                <a:cs typeface="Times New Roman" panose="02020603050405020304" pitchFamily="18" charset="0"/>
              </a:rPr>
              <a:t>整数               ⑤</a:t>
            </a:r>
            <a:endParaRPr lang="zh-CN" altLang="en-US" sz="2000" dirty="0"/>
          </a:p>
        </p:txBody>
      </p:sp>
      <p:graphicFrame>
        <p:nvGraphicFramePr>
          <p:cNvPr id="7" name="Object 4">
            <a:extLst>
              <a:ext uri="{FF2B5EF4-FFF2-40B4-BE49-F238E27FC236}">
                <a16:creationId xmlns:a16="http://schemas.microsoft.com/office/drawing/2014/main" id="{80FD0C9B-B3B2-4F68-A7AD-A2EB7EEF7B43}"/>
              </a:ext>
            </a:extLst>
          </p:cNvPr>
          <p:cNvGraphicFramePr>
            <a:graphicFrameLocks noChangeAspect="1"/>
          </p:cNvGraphicFramePr>
          <p:nvPr>
            <p:extLst>
              <p:ext uri="{D42A27DB-BD31-4B8C-83A1-F6EECF244321}">
                <p14:modId xmlns:p14="http://schemas.microsoft.com/office/powerpoint/2010/main" val="2881824570"/>
              </p:ext>
            </p:extLst>
          </p:nvPr>
        </p:nvGraphicFramePr>
        <p:xfrm>
          <a:off x="5066729" y="1124744"/>
          <a:ext cx="4073525" cy="3606800"/>
        </p:xfrm>
        <a:graphic>
          <a:graphicData uri="http://schemas.openxmlformats.org/presentationml/2006/ole">
            <mc:AlternateContent xmlns:mc="http://schemas.openxmlformats.org/markup-compatibility/2006">
              <mc:Choice xmlns:v="urn:schemas-microsoft-com:vml" Requires="v">
                <p:oleObj spid="_x0000_s41018" name="Document" r:id="rId3" imgW="2476500" imgH="1914525" progId="Word.Document.8">
                  <p:embed/>
                </p:oleObj>
              </mc:Choice>
              <mc:Fallback>
                <p:oleObj name="Document" r:id="rId3" imgW="2476500" imgH="1914525" progId="Word.Document.8">
                  <p:embed/>
                  <p:pic>
                    <p:nvPicPr>
                      <p:cNvPr id="18438" name="Object 4">
                        <a:extLst>
                          <a:ext uri="{FF2B5EF4-FFF2-40B4-BE49-F238E27FC236}">
                            <a16:creationId xmlns:a16="http://schemas.microsoft.com/office/drawing/2014/main" id="{80FD0C9B-B3B2-4F68-A7AD-A2EB7EEF7B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6729" y="1124744"/>
                        <a:ext cx="407352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166713" y="3689737"/>
            <a:ext cx="4572000" cy="1631216"/>
          </a:xfrm>
          <a:prstGeom prst="rect">
            <a:avLst/>
          </a:prstGeom>
        </p:spPr>
        <p:txBody>
          <a:bodyPr>
            <a:spAutoFit/>
          </a:bodyPr>
          <a:lstStyle/>
          <a:p>
            <a:pPr eaLnBrk="1" hangingPunct="1"/>
            <a:r>
              <a:rPr lang="zh-CN" altLang="en-US" sz="2000" dirty="0">
                <a:latin typeface="宋体" panose="02010600030101010101" pitchFamily="2" charset="-122"/>
              </a:rPr>
              <a:t>解：（</a:t>
            </a:r>
            <a:r>
              <a:rPr lang="en-US" altLang="zh-CN" sz="2000" dirty="0">
                <a:latin typeface="宋体" panose="02010600030101010101" pitchFamily="2" charset="-122"/>
              </a:rPr>
              <a:t>1</a:t>
            </a:r>
            <a:r>
              <a:rPr lang="zh-CN" altLang="en-US" sz="2000" dirty="0">
                <a:latin typeface="宋体" panose="02010600030101010101" pitchFamily="2" charset="-122"/>
              </a:rPr>
              <a:t>）</a:t>
            </a:r>
            <a:r>
              <a:rPr lang="zh-CN" altLang="en-US" sz="2000" dirty="0">
                <a:solidFill>
                  <a:srgbClr val="FF0000"/>
                </a:solidFill>
                <a:latin typeface="宋体" panose="02010600030101010101" pitchFamily="2" charset="-122"/>
              </a:rPr>
              <a:t>确定</a:t>
            </a:r>
            <a:r>
              <a:rPr kumimoji="1" lang="en-US" altLang="zh-CN" sz="2000" dirty="0">
                <a:solidFill>
                  <a:srgbClr val="FF0000"/>
                </a:solidFill>
                <a:latin typeface="宋体" panose="02010600030101010101" pitchFamily="2" charset="-122"/>
              </a:rPr>
              <a:t>z*</a:t>
            </a:r>
            <a:r>
              <a:rPr lang="zh-CN" altLang="en-US" sz="2000" dirty="0">
                <a:solidFill>
                  <a:srgbClr val="FF0000"/>
                </a:solidFill>
                <a:latin typeface="宋体" panose="02010600030101010101" pitchFamily="2" charset="-122"/>
              </a:rPr>
              <a:t>初始上下界</a:t>
            </a:r>
            <a:endParaRPr lang="en-US" altLang="zh-CN" sz="2000" dirty="0">
              <a:solidFill>
                <a:srgbClr val="FF0000"/>
              </a:solidFill>
              <a:latin typeface="宋体" panose="02010600030101010101" pitchFamily="2" charset="-122"/>
            </a:endParaRPr>
          </a:p>
          <a:p>
            <a:pPr eaLnBrk="1" hangingPunct="1"/>
            <a:r>
              <a:rPr lang="zh-CN" altLang="en-US" sz="2000" dirty="0">
                <a:latin typeface="宋体" panose="02010600030101010101" pitchFamily="2" charset="-122"/>
              </a:rPr>
              <a:t>先不考虑条件⑤，即解相应的线性规划</a:t>
            </a:r>
            <a:r>
              <a:rPr lang="en-US" altLang="zh-CN" sz="2000" dirty="0">
                <a:latin typeface="宋体" panose="02010600030101010101" pitchFamily="2" charset="-122"/>
              </a:rPr>
              <a:t>B,①</a:t>
            </a:r>
            <a:r>
              <a:rPr lang="zh-CN" altLang="en-US" sz="2000" dirty="0">
                <a:latin typeface="宋体" panose="02010600030101010101" pitchFamily="2" charset="-122"/>
              </a:rPr>
              <a:t>～④</a:t>
            </a:r>
            <a:r>
              <a:rPr lang="en-US" altLang="zh-CN" sz="2000" dirty="0">
                <a:latin typeface="宋体" panose="02010600030101010101" pitchFamily="2" charset="-122"/>
              </a:rPr>
              <a:t>(</a:t>
            </a:r>
            <a:r>
              <a:rPr lang="zh-CN" altLang="en-US" sz="2000" dirty="0">
                <a:latin typeface="宋体" panose="02010600030101010101" pitchFamily="2" charset="-122"/>
              </a:rPr>
              <a:t>见图</a:t>
            </a:r>
            <a:r>
              <a:rPr lang="en-US" altLang="zh-CN" sz="2000" dirty="0">
                <a:latin typeface="宋体" panose="02010600030101010101" pitchFamily="2" charset="-122"/>
              </a:rPr>
              <a:t>6-2)</a:t>
            </a:r>
            <a:r>
              <a:rPr lang="zh-CN" altLang="en-US" sz="2000" dirty="0">
                <a:latin typeface="宋体" panose="02010600030101010101" pitchFamily="2" charset="-122"/>
              </a:rPr>
              <a:t>，得最优解</a:t>
            </a:r>
            <a:r>
              <a:rPr lang="en-US" altLang="zh-CN" sz="2000" dirty="0">
                <a:latin typeface="宋体" panose="02010600030101010101" pitchFamily="2" charset="-122"/>
              </a:rPr>
              <a:t>x</a:t>
            </a:r>
            <a:r>
              <a:rPr lang="en-US" altLang="zh-CN" sz="2000" baseline="-30000" dirty="0">
                <a:latin typeface="宋体" panose="02010600030101010101" pitchFamily="2" charset="-122"/>
              </a:rPr>
              <a:t>1</a:t>
            </a:r>
            <a:r>
              <a:rPr lang="en-US" altLang="zh-CN" sz="2000" dirty="0">
                <a:latin typeface="宋体" panose="02010600030101010101" pitchFamily="2" charset="-122"/>
              </a:rPr>
              <a:t>=4.81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=1.82</a:t>
            </a:r>
            <a:r>
              <a:rPr lang="zh-CN" altLang="en-US" sz="2000" dirty="0">
                <a:latin typeface="宋体" panose="02010600030101010101" pitchFamily="2" charset="-122"/>
              </a:rPr>
              <a:t>，</a:t>
            </a:r>
            <a:r>
              <a:rPr lang="en-US" altLang="zh-CN" sz="2000" dirty="0">
                <a:latin typeface="宋体" panose="02010600030101010101" pitchFamily="2" charset="-122"/>
              </a:rPr>
              <a:t>z</a:t>
            </a:r>
            <a:r>
              <a:rPr lang="en-US" altLang="zh-CN" sz="2000" baseline="-30000" dirty="0">
                <a:latin typeface="宋体" panose="02010600030101010101" pitchFamily="2" charset="-122"/>
              </a:rPr>
              <a:t>0</a:t>
            </a:r>
            <a:r>
              <a:rPr lang="en-US" altLang="zh-CN" sz="2000" dirty="0">
                <a:latin typeface="宋体" panose="02010600030101010101" pitchFamily="2" charset="-122"/>
              </a:rPr>
              <a:t>=356 </a:t>
            </a:r>
            <a:br>
              <a:rPr lang="en-US" altLang="zh-CN" sz="2000" dirty="0">
                <a:latin typeface="宋体" panose="02010600030101010101" pitchFamily="2" charset="-122"/>
              </a:rPr>
            </a:br>
            <a:endParaRPr lang="en-US" altLang="zh-CN" sz="2000"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9" name="Rectangle 5">
                <a:extLst>
                  <a:ext uri="{FF2B5EF4-FFF2-40B4-BE49-F238E27FC236}">
                    <a16:creationId xmlns:a16="http://schemas.microsoft.com/office/drawing/2014/main" id="{2728A504-B8D8-4711-8D9D-33A6D080EF6D}"/>
                  </a:ext>
                </a:extLst>
              </p:cNvPr>
              <p:cNvSpPr>
                <a:spLocks noChangeArrowheads="1"/>
              </p:cNvSpPr>
              <p:nvPr/>
            </p:nvSpPr>
            <p:spPr bwMode="auto">
              <a:xfrm>
                <a:off x="203313" y="5569250"/>
                <a:ext cx="8762232" cy="102810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zh-CN" altLang="en-US" sz="2000" dirty="0">
                    <a:latin typeface="宋体" panose="02010600030101010101" pitchFamily="2" charset="-122"/>
                  </a:rPr>
                  <a:t>这时</a:t>
                </a:r>
                <a:r>
                  <a:rPr kumimoji="1" lang="en-US" altLang="zh-CN" sz="2000" dirty="0">
                    <a:solidFill>
                      <a:srgbClr val="FF0000"/>
                    </a:solidFill>
                    <a:latin typeface="宋体" panose="02010600030101010101" pitchFamily="2" charset="-122"/>
                  </a:rPr>
                  <a:t>z</a:t>
                </a:r>
                <a:r>
                  <a:rPr kumimoji="1" lang="en-US" altLang="zh-CN" sz="2000" baseline="-30000" dirty="0">
                    <a:solidFill>
                      <a:srgbClr val="FF0000"/>
                    </a:solidFill>
                    <a:latin typeface="宋体" panose="02010600030101010101" pitchFamily="2" charset="-122"/>
                  </a:rPr>
                  <a:t>0</a:t>
                </a:r>
                <a:r>
                  <a:rPr kumimoji="1" lang="zh-CN" altLang="en-US" sz="2000" dirty="0">
                    <a:solidFill>
                      <a:srgbClr val="FF0000"/>
                    </a:solidFill>
                    <a:latin typeface="宋体" panose="02010600030101010101" pitchFamily="2" charset="-122"/>
                  </a:rPr>
                  <a:t>是问题</a:t>
                </a:r>
                <a:r>
                  <a:rPr kumimoji="1" lang="en-US" altLang="zh-CN" sz="2000" dirty="0">
                    <a:solidFill>
                      <a:srgbClr val="FF0000"/>
                    </a:solidFill>
                    <a:latin typeface="宋体" panose="02010600030101010101" pitchFamily="2" charset="-122"/>
                  </a:rPr>
                  <a:t>A</a:t>
                </a:r>
                <a:r>
                  <a:rPr kumimoji="1" lang="zh-CN" altLang="en-US" sz="2000" dirty="0">
                    <a:solidFill>
                      <a:srgbClr val="FF0000"/>
                    </a:solidFill>
                    <a:latin typeface="宋体" panose="02010600030101010101" pitchFamily="2" charset="-122"/>
                  </a:rPr>
                  <a:t>的最优目标函数值</a:t>
                </a:r>
                <a:r>
                  <a:rPr kumimoji="1" lang="en-US" altLang="zh-CN" sz="2000" dirty="0">
                    <a:solidFill>
                      <a:srgbClr val="FF0000"/>
                    </a:solidFill>
                    <a:latin typeface="宋体" panose="02010600030101010101" pitchFamily="2" charset="-122"/>
                  </a:rPr>
                  <a:t>z*</a:t>
                </a:r>
                <a:r>
                  <a:rPr kumimoji="1" lang="zh-CN" altLang="en-US" sz="2000" dirty="0">
                    <a:solidFill>
                      <a:srgbClr val="FF0000"/>
                    </a:solidFill>
                    <a:latin typeface="宋体" panose="02010600030101010101" pitchFamily="2" charset="-122"/>
                  </a:rPr>
                  <a:t>的上界</a:t>
                </a:r>
                <a:r>
                  <a:rPr kumimoji="1" lang="zh-CN" altLang="en-US" sz="2000" dirty="0">
                    <a:latin typeface="宋体" panose="02010600030101010101" pitchFamily="2" charset="-122"/>
                  </a:rPr>
                  <a:t>，记作</a:t>
                </a:r>
                <a14:m>
                  <m:oMath xmlns:m="http://schemas.openxmlformats.org/officeDocument/2006/math">
                    <m:bar>
                      <m:barPr>
                        <m:pos m:val="top"/>
                        <m:ctrlPr>
                          <a:rPr lang="en-US" altLang="zh-CN" sz="2000" i="1" dirty="0">
                            <a:latin typeface="Cambria Math" panose="02040503050406030204" pitchFamily="18" charset="0"/>
                            <a:cs typeface="Times New Roman" panose="02020603050405020304" pitchFamily="18" charset="0"/>
                          </a:rPr>
                        </m:ctrlPr>
                      </m:barPr>
                      <m:e>
                        <m:r>
                          <a:rPr lang="en-US" altLang="zh-CN" sz="2000" b="1" i="1" dirty="0">
                            <a:latin typeface="Cambria Math" panose="02040503050406030204" pitchFamily="18" charset="0"/>
                            <a:cs typeface="Times New Roman" panose="02020603050405020304" pitchFamily="18" charset="0"/>
                          </a:rPr>
                          <m:t>𝒛</m:t>
                        </m:r>
                      </m:e>
                    </m:bar>
                  </m:oMath>
                </a14:m>
                <a:r>
                  <a:rPr kumimoji="1" lang="en-US" altLang="zh-CN" sz="2000" dirty="0">
                    <a:latin typeface="宋体" panose="02010600030101010101" pitchFamily="2" charset="-122"/>
                  </a:rPr>
                  <a:t>=z</a:t>
                </a:r>
                <a:r>
                  <a:rPr kumimoji="1" lang="en-US" altLang="zh-CN" sz="2000" baseline="-30000" dirty="0">
                    <a:latin typeface="宋体" panose="02010600030101010101" pitchFamily="2" charset="-122"/>
                  </a:rPr>
                  <a:t>0</a:t>
                </a:r>
                <a:r>
                  <a:rPr kumimoji="1" lang="zh-CN" altLang="en-US" sz="2000" dirty="0">
                    <a:latin typeface="宋体" panose="02010600030101010101" pitchFamily="2" charset="-122"/>
                  </a:rPr>
                  <a:t>。</a:t>
                </a:r>
              </a:p>
              <a:p>
                <a:pPr algn="just" eaLnBrk="1" hangingPunct="1">
                  <a:spcBef>
                    <a:spcPct val="0"/>
                  </a:spcBef>
                  <a:buClrTx/>
                  <a:buSzTx/>
                  <a:buFontTx/>
                  <a:buNone/>
                </a:pPr>
                <a:r>
                  <a:rPr kumimoji="1" lang="zh-CN" altLang="en-US" sz="2000" dirty="0">
                    <a:solidFill>
                      <a:srgbClr val="FF0000"/>
                    </a:solidFill>
                    <a:latin typeface="宋体" panose="02010600030101010101" pitchFamily="2" charset="-122"/>
                  </a:rPr>
                  <a:t>在可行域任意找一整数点，计算下界</a:t>
                </a:r>
                <a:r>
                  <a:rPr kumimoji="1" lang="zh-CN" altLang="en-US" sz="2000" dirty="0">
                    <a:latin typeface="宋体" panose="02010600030101010101" pitchFamily="2" charset="-122"/>
                  </a:rPr>
                  <a:t>。比如在</a:t>
                </a:r>
                <a:r>
                  <a:rPr kumimoji="1" lang="en-US" altLang="zh-CN" sz="2000" dirty="0">
                    <a:latin typeface="宋体" panose="02010600030101010101" pitchFamily="2" charset="-122"/>
                  </a:rPr>
                  <a:t>x</a:t>
                </a:r>
                <a:r>
                  <a:rPr kumimoji="1" lang="en-US" altLang="zh-CN" sz="2000" baseline="-30000" dirty="0">
                    <a:latin typeface="宋体" panose="02010600030101010101" pitchFamily="2" charset="-122"/>
                  </a:rPr>
                  <a:t>1</a:t>
                </a:r>
                <a:r>
                  <a:rPr kumimoji="1" lang="en-US" altLang="zh-CN" sz="2000" dirty="0">
                    <a:latin typeface="宋体" panose="02010600030101010101" pitchFamily="2" charset="-122"/>
                  </a:rPr>
                  <a:t>=0</a:t>
                </a:r>
                <a:r>
                  <a:rPr kumimoji="1" lang="zh-CN" altLang="en-US" sz="2000" dirty="0">
                    <a:latin typeface="宋体" panose="02010600030101010101" pitchFamily="2" charset="-122"/>
                  </a:rPr>
                  <a:t>，</a:t>
                </a:r>
                <a:r>
                  <a:rPr kumimoji="1" lang="en-US" altLang="zh-CN" sz="2000" dirty="0">
                    <a:latin typeface="宋体" panose="02010600030101010101" pitchFamily="2" charset="-122"/>
                  </a:rPr>
                  <a:t>x</a:t>
                </a:r>
                <a:r>
                  <a:rPr kumimoji="1" lang="en-US" altLang="zh-CN" sz="2000" baseline="-30000" dirty="0">
                    <a:latin typeface="宋体" panose="02010600030101010101" pitchFamily="2" charset="-122"/>
                  </a:rPr>
                  <a:t>2</a:t>
                </a:r>
                <a:r>
                  <a:rPr kumimoji="1" lang="en-US" altLang="zh-CN" sz="2000" dirty="0">
                    <a:latin typeface="宋体" panose="02010600030101010101" pitchFamily="2" charset="-122"/>
                  </a:rPr>
                  <a:t>=0</a:t>
                </a:r>
                <a:r>
                  <a:rPr kumimoji="1" lang="zh-CN" altLang="en-US" sz="2000" dirty="0">
                    <a:latin typeface="宋体" panose="02010600030101010101" pitchFamily="2" charset="-122"/>
                  </a:rPr>
                  <a:t>时，是问题</a:t>
                </a:r>
                <a:r>
                  <a:rPr kumimoji="1" lang="en-US" altLang="zh-CN" sz="2000" dirty="0">
                    <a:latin typeface="宋体" panose="02010600030101010101" pitchFamily="2" charset="-122"/>
                  </a:rPr>
                  <a:t>A</a:t>
                </a:r>
                <a:r>
                  <a:rPr kumimoji="1" lang="zh-CN" altLang="en-US" sz="2000" dirty="0">
                    <a:latin typeface="宋体" panose="02010600030101010101" pitchFamily="2" charset="-122"/>
                  </a:rPr>
                  <a:t>的一个整数可行解，这时</a:t>
                </a:r>
                <a:r>
                  <a:rPr kumimoji="1" lang="en-US" altLang="zh-CN" sz="2000" dirty="0">
                    <a:latin typeface="宋体" panose="02010600030101010101" pitchFamily="2" charset="-122"/>
                  </a:rPr>
                  <a:t>z=0</a:t>
                </a:r>
                <a:r>
                  <a:rPr kumimoji="1" lang="zh-CN" altLang="en-US" sz="2000" dirty="0">
                    <a:latin typeface="宋体" panose="02010600030101010101" pitchFamily="2" charset="-122"/>
                  </a:rPr>
                  <a:t>，是</a:t>
                </a:r>
                <a:r>
                  <a:rPr kumimoji="1" lang="en-US" altLang="zh-CN" sz="2000" dirty="0">
                    <a:latin typeface="宋体" panose="02010600030101010101" pitchFamily="2" charset="-122"/>
                  </a:rPr>
                  <a:t>z*</a:t>
                </a:r>
                <a:r>
                  <a:rPr kumimoji="1" lang="zh-CN" altLang="en-US" sz="2000" dirty="0">
                    <a:latin typeface="宋体" panose="02010600030101010101" pitchFamily="2" charset="-122"/>
                  </a:rPr>
                  <a:t>的一个下界，记作</a:t>
                </a:r>
                <a14:m>
                  <m:oMath xmlns:m="http://schemas.openxmlformats.org/officeDocument/2006/math">
                    <m:bar>
                      <m:barPr>
                        <m:ctrlPr>
                          <a:rPr lang="zh-CN" altLang="en-US" sz="2000" i="1">
                            <a:latin typeface="Cambria Math" panose="02040503050406030204" pitchFamily="18" charset="0"/>
                            <a:cs typeface="Times New Roman" panose="02020603050405020304" pitchFamily="18" charset="0"/>
                          </a:rPr>
                        </m:ctrlPr>
                      </m:barPr>
                      <m:e>
                        <m:r>
                          <a:rPr lang="en-US" altLang="zh-CN" sz="2000" i="1">
                            <a:latin typeface="Cambria Math" panose="02040503050406030204" pitchFamily="18" charset="0"/>
                            <a:cs typeface="Times New Roman" panose="02020603050405020304" pitchFamily="18" charset="0"/>
                          </a:rPr>
                          <m:t>𝒛</m:t>
                        </m:r>
                      </m:e>
                    </m:bar>
                  </m:oMath>
                </a14:m>
                <a:r>
                  <a:rPr kumimoji="1" lang="en-US" altLang="zh-CN" sz="2000" dirty="0">
                    <a:latin typeface="宋体" panose="02010600030101010101" pitchFamily="2" charset="-122"/>
                  </a:rPr>
                  <a:t>=0</a:t>
                </a:r>
                <a:r>
                  <a:rPr kumimoji="1" lang="zh-CN" altLang="en-US" sz="2000" dirty="0">
                    <a:latin typeface="宋体" panose="02010600030101010101" pitchFamily="2" charset="-122"/>
                  </a:rPr>
                  <a:t>，即</a:t>
                </a:r>
                <a:r>
                  <a:rPr kumimoji="1" lang="en-US" altLang="zh-CN" sz="2000" dirty="0">
                    <a:latin typeface="宋体" panose="02010600030101010101" pitchFamily="2" charset="-122"/>
                  </a:rPr>
                  <a:t>0≤z*≤356</a:t>
                </a:r>
                <a:r>
                  <a:rPr kumimoji="1" lang="zh-CN" altLang="en-US" sz="2000" dirty="0">
                    <a:latin typeface="宋体" panose="02010600030101010101" pitchFamily="2" charset="-122"/>
                  </a:rPr>
                  <a:t>。</a:t>
                </a:r>
                <a:endParaRPr kumimoji="1" lang="en-US" altLang="zh-CN" sz="2000" dirty="0">
                  <a:latin typeface="Times New Roman" panose="02020603050405020304" pitchFamily="18" charset="0"/>
                </a:endParaRPr>
              </a:p>
            </p:txBody>
          </p:sp>
        </mc:Choice>
        <mc:Fallback xmlns="">
          <p:sp>
            <p:nvSpPr>
              <p:cNvPr id="9" name="Rectangle 5">
                <a:extLst>
                  <a:ext uri="{FF2B5EF4-FFF2-40B4-BE49-F238E27FC236}">
                    <a16:creationId xmlns:a16="http://schemas.microsoft.com/office/drawing/2014/main" id="{2728A504-B8D8-4711-8D9D-33A6D080EF6D}"/>
                  </a:ext>
                </a:extLst>
              </p:cNvPr>
              <p:cNvSpPr>
                <a:spLocks noRot="1" noChangeAspect="1" noMove="1" noResize="1" noEditPoints="1" noAdjustHandles="1" noChangeArrowheads="1" noChangeShapeType="1" noTextEdit="1"/>
              </p:cNvSpPr>
              <p:nvPr/>
            </p:nvSpPr>
            <p:spPr bwMode="auto">
              <a:xfrm>
                <a:off x="203313" y="5569250"/>
                <a:ext cx="8762232" cy="1028102"/>
              </a:xfrm>
              <a:prstGeom prst="rect">
                <a:avLst/>
              </a:prstGeom>
              <a:blipFill>
                <a:blip r:embed="rId5"/>
                <a:stretch>
                  <a:fillRect l="-695" t="-4762" r="-695" b="-71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 name="Text Box 9">
            <a:extLst>
              <a:ext uri="{FF2B5EF4-FFF2-40B4-BE49-F238E27FC236}">
                <a16:creationId xmlns:a16="http://schemas.microsoft.com/office/drawing/2014/main" id="{F2E9AB55-5947-4C4B-A9D0-8C4C4384D5E5}"/>
              </a:ext>
            </a:extLst>
          </p:cNvPr>
          <p:cNvSpPr txBox="1">
            <a:spLocks noChangeArrowheads="1"/>
          </p:cNvSpPr>
          <p:nvPr/>
        </p:nvSpPr>
        <p:spPr bwMode="auto">
          <a:xfrm>
            <a:off x="6701516" y="4869160"/>
            <a:ext cx="8114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None/>
            </a:pPr>
            <a:r>
              <a:rPr lang="zh-CN" altLang="en-US" sz="2000" b="0" dirty="0"/>
              <a:t>图</a:t>
            </a:r>
            <a:r>
              <a:rPr lang="en-US" altLang="zh-CN" sz="2000" b="0" dirty="0"/>
              <a:t>6-2</a:t>
            </a:r>
          </a:p>
        </p:txBody>
      </p:sp>
      <p:sp>
        <p:nvSpPr>
          <p:cNvPr id="8" name="文本框 7"/>
          <p:cNvSpPr txBox="1"/>
          <p:nvPr/>
        </p:nvSpPr>
        <p:spPr>
          <a:xfrm>
            <a:off x="6859664" y="3429000"/>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4" name="矩形 3"/>
          <p:cNvSpPr/>
          <p:nvPr/>
        </p:nvSpPr>
        <p:spPr>
          <a:xfrm>
            <a:off x="203313" y="5117122"/>
            <a:ext cx="3281668" cy="400110"/>
          </a:xfrm>
          <a:prstGeom prst="rect">
            <a:avLst/>
          </a:prstGeom>
        </p:spPr>
        <p:txBody>
          <a:bodyPr wrap="none">
            <a:spAutoFit/>
          </a:bodyPr>
          <a:lstStyle/>
          <a:p>
            <a:pPr eaLnBrk="1" hangingPunct="1"/>
            <a:r>
              <a:rPr kumimoji="1" lang="zh-CN" altLang="en-US" sz="2000" dirty="0">
                <a:latin typeface="宋体" panose="02010600030101010101" pitchFamily="2" charset="-122"/>
              </a:rPr>
              <a:t>可见它不符合整数条件⑤。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8"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903C57CE-A033-4BD4-9C22-CB7203F73715}"/>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p:sp>
        <p:nvSpPr>
          <p:cNvPr id="2" name="内容占位符 1"/>
          <p:cNvSpPr>
            <a:spLocks noGrp="1"/>
          </p:cNvSpPr>
          <p:nvPr>
            <p:ph idx="1"/>
          </p:nvPr>
        </p:nvSpPr>
        <p:spPr>
          <a:xfrm>
            <a:off x="494729" y="1196752"/>
            <a:ext cx="8469759" cy="461665"/>
          </a:xfrm>
        </p:spPr>
        <p:txBody>
          <a:bodyPr/>
          <a:lstStyle/>
          <a:p>
            <a:r>
              <a:rPr lang="zh-CN" altLang="en-US" dirty="0"/>
              <a:t>例</a:t>
            </a:r>
            <a:r>
              <a:rPr lang="en-US" altLang="zh-CN" dirty="0"/>
              <a:t>6-2 </a:t>
            </a:r>
            <a:r>
              <a:rPr lang="zh-CN" altLang="en-US" dirty="0"/>
              <a:t>求解问题</a:t>
            </a:r>
            <a:r>
              <a:rPr lang="en-US" altLang="zh-CN" dirty="0"/>
              <a:t>A</a:t>
            </a:r>
          </a:p>
        </p:txBody>
      </p:sp>
      <p:sp>
        <p:nvSpPr>
          <p:cNvPr id="19459" name="灯片编号占位符 5">
            <a:extLst>
              <a:ext uri="{FF2B5EF4-FFF2-40B4-BE49-F238E27FC236}">
                <a16:creationId xmlns:a16="http://schemas.microsoft.com/office/drawing/2014/main" id="{93BC3E10-1AD1-4A34-88FC-78E0A14FED4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122F4D4-8E89-476B-8AE4-B01BE81F6A5A}" type="slidenum">
              <a:rPr lang="en-US" altLang="zh-CN" sz="1000" smtClean="0"/>
              <a:pPr>
                <a:spcBef>
                  <a:spcPct val="0"/>
                </a:spcBef>
                <a:buClrTx/>
                <a:buSzTx/>
                <a:buFontTx/>
                <a:buNone/>
              </a:pPr>
              <a:t>6</a:t>
            </a:fld>
            <a:endParaRPr lang="en-US" altLang="zh-CN" sz="1000"/>
          </a:p>
        </p:txBody>
      </p:sp>
      <p:pic>
        <p:nvPicPr>
          <p:cNvPr id="9" name="Picture 6">
            <a:extLst>
              <a:ext uri="{FF2B5EF4-FFF2-40B4-BE49-F238E27FC236}">
                <a16:creationId xmlns:a16="http://schemas.microsoft.com/office/drawing/2014/main" id="{69DF11B0-6828-4A45-83EA-BCA25C911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3" y="3746289"/>
            <a:ext cx="3669432" cy="277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7">
            <a:extLst>
              <a:ext uri="{FF2B5EF4-FFF2-40B4-BE49-F238E27FC236}">
                <a16:creationId xmlns:a16="http://schemas.microsoft.com/office/drawing/2014/main" id="{BEA3FE6F-B44B-4CEC-9F3C-7E491AE5D0A2}"/>
              </a:ext>
            </a:extLst>
          </p:cNvPr>
          <p:cNvSpPr>
            <a:spLocks noChangeShapeType="1"/>
          </p:cNvSpPr>
          <p:nvPr/>
        </p:nvSpPr>
        <p:spPr bwMode="auto">
          <a:xfrm flipH="1">
            <a:off x="5857633" y="4771485"/>
            <a:ext cx="298170" cy="24057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8">
            <a:extLst>
              <a:ext uri="{FF2B5EF4-FFF2-40B4-BE49-F238E27FC236}">
                <a16:creationId xmlns:a16="http://schemas.microsoft.com/office/drawing/2014/main" id="{A0C808D3-F4B8-41B7-9BCB-40D6F76D6E9E}"/>
              </a:ext>
            </a:extLst>
          </p:cNvPr>
          <p:cNvSpPr>
            <a:spLocks noChangeShapeType="1"/>
          </p:cNvSpPr>
          <p:nvPr/>
        </p:nvSpPr>
        <p:spPr bwMode="auto">
          <a:xfrm flipH="1">
            <a:off x="7956376" y="5852724"/>
            <a:ext cx="360040" cy="24057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 name="矩形 2"/>
          <p:cNvSpPr/>
          <p:nvPr/>
        </p:nvSpPr>
        <p:spPr>
          <a:xfrm>
            <a:off x="6155803" y="4512939"/>
            <a:ext cx="652743" cy="400110"/>
          </a:xfrm>
          <a:prstGeom prst="rect">
            <a:avLst/>
          </a:prstGeom>
        </p:spPr>
        <p:txBody>
          <a:bodyPr wrap="none">
            <a:spAutoFit/>
          </a:bodyPr>
          <a:lstStyle/>
          <a:p>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≤4</a:t>
            </a:r>
            <a:endParaRPr lang="zh-CN" altLang="en-US" sz="2000" dirty="0"/>
          </a:p>
        </p:txBody>
      </p:sp>
      <p:sp>
        <p:nvSpPr>
          <p:cNvPr id="4" name="矩形 3"/>
          <p:cNvSpPr/>
          <p:nvPr/>
        </p:nvSpPr>
        <p:spPr>
          <a:xfrm>
            <a:off x="8244408" y="5621178"/>
            <a:ext cx="652743" cy="400110"/>
          </a:xfrm>
          <a:prstGeom prst="rect">
            <a:avLst/>
          </a:prstGeom>
        </p:spPr>
        <p:txBody>
          <a:bodyPr wrap="none">
            <a:spAutoFit/>
          </a:bodyPr>
          <a:lstStyle/>
          <a:p>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≥5</a:t>
            </a:r>
            <a:endParaRPr lang="zh-CN" altLang="en-US" sz="2000" dirty="0"/>
          </a:p>
        </p:txBody>
      </p:sp>
      <p:sp>
        <p:nvSpPr>
          <p:cNvPr id="14" name="Text Box 9">
            <a:extLst>
              <a:ext uri="{FF2B5EF4-FFF2-40B4-BE49-F238E27FC236}">
                <a16:creationId xmlns:a16="http://schemas.microsoft.com/office/drawing/2014/main" id="{F2E9AB55-5947-4C4B-A9D0-8C4C4384D5E5}"/>
              </a:ext>
            </a:extLst>
          </p:cNvPr>
          <p:cNvSpPr txBox="1">
            <a:spLocks noChangeArrowheads="1"/>
          </p:cNvSpPr>
          <p:nvPr/>
        </p:nvSpPr>
        <p:spPr bwMode="auto">
          <a:xfrm>
            <a:off x="6700994" y="6466129"/>
            <a:ext cx="804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None/>
            </a:pPr>
            <a:r>
              <a:rPr lang="zh-CN" altLang="en-US" sz="2000" b="0" dirty="0"/>
              <a:t>图</a:t>
            </a:r>
            <a:r>
              <a:rPr lang="en-US" altLang="zh-CN" sz="2000" b="0" dirty="0"/>
              <a:t>6-3</a:t>
            </a:r>
          </a:p>
        </p:txBody>
      </p:sp>
      <p:sp>
        <p:nvSpPr>
          <p:cNvPr id="5" name="矩形 4"/>
          <p:cNvSpPr/>
          <p:nvPr/>
        </p:nvSpPr>
        <p:spPr>
          <a:xfrm>
            <a:off x="473631" y="1700392"/>
            <a:ext cx="8413054" cy="1938992"/>
          </a:xfrm>
          <a:prstGeom prst="rect">
            <a:avLst/>
          </a:prstGeom>
        </p:spPr>
        <p:txBody>
          <a:bodyPr wrap="square">
            <a:spAutoFit/>
          </a:bodyPr>
          <a:lstStyle/>
          <a:p>
            <a:pPr algn="just" eaLnBrk="1" hangingPunct="1"/>
            <a:r>
              <a:rPr lang="zh-CN" altLang="en-US" sz="2000" dirty="0">
                <a:latin typeface="宋体" panose="02010600030101010101" pitchFamily="2" charset="-122"/>
              </a:rPr>
              <a:t>解：（</a:t>
            </a:r>
            <a:r>
              <a:rPr lang="en-US" altLang="zh-CN" sz="2000" dirty="0">
                <a:latin typeface="宋体" panose="02010600030101010101" pitchFamily="2" charset="-122"/>
              </a:rPr>
              <a:t>2</a:t>
            </a:r>
            <a:r>
              <a:rPr lang="zh-CN" altLang="en-US" sz="2000" dirty="0">
                <a:latin typeface="宋体" panose="02010600030101010101" pitchFamily="2" charset="-122"/>
              </a:rPr>
              <a:t>）基于非整数变量的解分支，</a:t>
            </a:r>
            <a:r>
              <a:rPr lang="zh-CN" altLang="en-US" sz="2000" dirty="0">
                <a:solidFill>
                  <a:srgbClr val="FF0000"/>
                </a:solidFill>
                <a:latin typeface="Times New Roman" panose="02020603050405020304" pitchFamily="18" charset="0"/>
                <a:cs typeface="Times New Roman" panose="02020603050405020304" pitchFamily="18" charset="0"/>
              </a:rPr>
              <a:t>将原问题分解为两个子问题</a:t>
            </a:r>
            <a:r>
              <a:rPr lang="en-US" altLang="zh-CN" sz="2000" dirty="0">
                <a:solidFill>
                  <a:srgbClr val="FF0000"/>
                </a:solidFill>
                <a:latin typeface="Times New Roman" panose="02020603050405020304" pitchFamily="18" charset="0"/>
                <a:cs typeface="Times New Roman" panose="02020603050405020304" pitchFamily="18" charset="0"/>
              </a:rPr>
              <a:t>B</a:t>
            </a:r>
            <a:r>
              <a:rPr lang="en-US" altLang="zh-CN" sz="2000" baseline="-30000" dirty="0">
                <a:solidFill>
                  <a:srgbClr val="FF0000"/>
                </a:solidFill>
                <a:latin typeface="Times New Roman" panose="02020603050405020304" pitchFamily="18" charset="0"/>
                <a:cs typeface="Times New Roman" panose="02020603050405020304" pitchFamily="18" charset="0"/>
              </a:rPr>
              <a:t>1</a:t>
            </a:r>
            <a:r>
              <a:rPr lang="zh-CN" altLang="en-US" sz="2000" dirty="0">
                <a:solidFill>
                  <a:srgbClr val="FF0000"/>
                </a:solidFill>
                <a:latin typeface="Times New Roman" panose="02020603050405020304" pitchFamily="18" charset="0"/>
                <a:cs typeface="Times New Roman" panose="02020603050405020304" pitchFamily="18" charset="0"/>
              </a:rPr>
              <a:t>和</a:t>
            </a:r>
            <a:r>
              <a:rPr lang="en-US" altLang="zh-CN" sz="2000" dirty="0">
                <a:solidFill>
                  <a:srgbClr val="FF0000"/>
                </a:solidFill>
                <a:latin typeface="Times New Roman" panose="02020603050405020304" pitchFamily="18" charset="0"/>
                <a:cs typeface="Times New Roman" panose="02020603050405020304" pitchFamily="18" charset="0"/>
              </a:rPr>
              <a:t>B</a:t>
            </a:r>
            <a:r>
              <a:rPr lang="en-US" altLang="zh-CN" sz="2000" baseline="-30000" dirty="0">
                <a:solidFill>
                  <a:srgbClr val="FF0000"/>
                </a:solidFill>
                <a:latin typeface="Times New Roman" panose="02020603050405020304" pitchFamily="18" charset="0"/>
                <a:cs typeface="Times New Roman" panose="02020603050405020304" pitchFamily="18" charset="0"/>
              </a:rPr>
              <a:t>2</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即两支</a:t>
            </a:r>
            <a:r>
              <a:rPr lang="en-US" altLang="zh-CN" sz="2000" dirty="0">
                <a:solidFill>
                  <a:srgbClr val="FF0000"/>
                </a:solidFill>
                <a:latin typeface="Times New Roman" panose="02020603050405020304" pitchFamily="18" charset="0"/>
                <a:cs typeface="Times New Roman" panose="02020603050405020304" pitchFamily="18" charset="0"/>
              </a:rPr>
              <a:t>)</a:t>
            </a:r>
            <a:endParaRPr lang="en-US" altLang="zh-CN" sz="2000" dirty="0">
              <a:solidFill>
                <a:srgbClr val="FF0000"/>
              </a:solidFill>
              <a:latin typeface="宋体" panose="02010600030101010101" pitchFamily="2" charset="-122"/>
            </a:endParaRPr>
          </a:p>
          <a:p>
            <a:pPr algn="just" eaLnBrk="1" hangingPunct="1"/>
            <a:r>
              <a:rPr lang="zh-CN" altLang="en-US" sz="2000" dirty="0">
                <a:latin typeface="Times New Roman" panose="02020603050405020304" pitchFamily="18" charset="0"/>
                <a:cs typeface="Times New Roman" panose="02020603050405020304" pitchFamily="18" charset="0"/>
              </a:rPr>
              <a:t>注意问题</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的解中有一个非整数变量，如</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=4.81</a:t>
            </a:r>
            <a:r>
              <a:rPr lang="zh-CN" altLang="en-US" sz="2000" dirty="0">
                <a:latin typeface="Times New Roman" panose="02020603050405020304" pitchFamily="18" charset="0"/>
                <a:cs typeface="Times New Roman" panose="02020603050405020304" pitchFamily="18" charset="0"/>
              </a:rPr>
              <a:t>。</a:t>
            </a:r>
          </a:p>
          <a:p>
            <a:pPr algn="just" eaLnBrk="1" hangingPunct="1"/>
            <a:r>
              <a:rPr lang="zh-CN" altLang="en-US" sz="2000" dirty="0">
                <a:latin typeface="Times New Roman" panose="02020603050405020304" pitchFamily="18" charset="0"/>
                <a:cs typeface="Times New Roman" panose="02020603050405020304" pitchFamily="18" charset="0"/>
              </a:rPr>
              <a:t>于是，在原问题中</a:t>
            </a:r>
            <a:r>
              <a:rPr lang="zh-CN" altLang="en-US" sz="2000" dirty="0">
                <a:solidFill>
                  <a:srgbClr val="FF0000"/>
                </a:solidFill>
                <a:latin typeface="Times New Roman" panose="02020603050405020304" pitchFamily="18" charset="0"/>
                <a:cs typeface="Times New Roman" panose="02020603050405020304" pitchFamily="18" charset="0"/>
              </a:rPr>
              <a:t>增加两个约束条件：</a:t>
            </a:r>
            <a:r>
              <a:rPr lang="en-US" altLang="zh-CN" sz="2000" dirty="0">
                <a:solidFill>
                  <a:srgbClr val="FF0000"/>
                </a:solidFill>
                <a:latin typeface="Times New Roman" panose="02020603050405020304" pitchFamily="18" charset="0"/>
                <a:cs typeface="Times New Roman" panose="02020603050405020304" pitchFamily="18" charset="0"/>
              </a:rPr>
              <a:t>x</a:t>
            </a:r>
            <a:r>
              <a:rPr lang="en-US" altLang="zh-CN" sz="2000" baseline="-30000" dirty="0">
                <a:solidFill>
                  <a:srgbClr val="FF0000"/>
                </a:solidFill>
                <a:latin typeface="Times New Roman" panose="02020603050405020304" pitchFamily="18" charset="0"/>
                <a:cs typeface="Times New Roman" panose="02020603050405020304" pitchFamily="18" charset="0"/>
              </a:rPr>
              <a:t>1</a:t>
            </a:r>
            <a:r>
              <a:rPr lang="en-US" altLang="zh-CN" sz="2000" dirty="0">
                <a:solidFill>
                  <a:srgbClr val="FF0000"/>
                </a:solidFill>
                <a:latin typeface="Times New Roman" panose="02020603050405020304" pitchFamily="18" charset="0"/>
                <a:cs typeface="Times New Roman" panose="02020603050405020304" pitchFamily="18" charset="0"/>
              </a:rPr>
              <a:t>≤4</a:t>
            </a:r>
            <a:r>
              <a:rPr lang="zh-CN" altLang="en-US" sz="2000" dirty="0">
                <a:solidFill>
                  <a:srgbClr val="FF0000"/>
                </a:solidFill>
                <a:latin typeface="Times New Roman" panose="02020603050405020304" pitchFamily="18" charset="0"/>
                <a:cs typeface="Times New Roman" panose="02020603050405020304" pitchFamily="18" charset="0"/>
              </a:rPr>
              <a:t>和</a:t>
            </a:r>
            <a:r>
              <a:rPr lang="en-US" altLang="zh-CN" sz="2000" dirty="0">
                <a:solidFill>
                  <a:srgbClr val="FF0000"/>
                </a:solidFill>
                <a:latin typeface="Times New Roman" panose="02020603050405020304" pitchFamily="18" charset="0"/>
                <a:cs typeface="Times New Roman" panose="02020603050405020304" pitchFamily="18" charset="0"/>
              </a:rPr>
              <a:t>x</a:t>
            </a:r>
            <a:r>
              <a:rPr lang="en-US" altLang="zh-CN" sz="2000" baseline="-30000" dirty="0">
                <a:solidFill>
                  <a:srgbClr val="FF0000"/>
                </a:solidFill>
                <a:latin typeface="Times New Roman" panose="02020603050405020304" pitchFamily="18" charset="0"/>
                <a:cs typeface="Times New Roman" panose="02020603050405020304" pitchFamily="18" charset="0"/>
              </a:rPr>
              <a:t>1</a:t>
            </a:r>
            <a:r>
              <a:rPr lang="en-US" altLang="zh-CN" sz="2000" dirty="0">
                <a:solidFill>
                  <a:srgbClr val="FF0000"/>
                </a:solidFill>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a:t>
            </a:r>
          </a:p>
          <a:p>
            <a:pPr algn="just" eaLnBrk="1" hangingPunct="1"/>
            <a:r>
              <a:rPr lang="zh-CN" altLang="en-US" sz="2000" dirty="0">
                <a:latin typeface="Times New Roman" panose="02020603050405020304" pitchFamily="18" charset="0"/>
                <a:cs typeface="Times New Roman" panose="02020603050405020304" pitchFamily="18" charset="0"/>
              </a:rPr>
              <a:t>给每支增加一个约束条件后，如图</a:t>
            </a:r>
            <a:r>
              <a:rPr lang="en-US" altLang="zh-CN" sz="2000" dirty="0">
                <a:latin typeface="Times New Roman" panose="02020603050405020304" pitchFamily="18" charset="0"/>
                <a:cs typeface="Times New Roman" panose="02020603050405020304" pitchFamily="18" charset="0"/>
              </a:rPr>
              <a:t>6-3</a:t>
            </a:r>
            <a:r>
              <a:rPr lang="zh-CN" altLang="en-US" sz="2000" dirty="0">
                <a:latin typeface="Times New Roman" panose="02020603050405020304" pitchFamily="18" charset="0"/>
                <a:cs typeface="Times New Roman" panose="02020603050405020304" pitchFamily="18" charset="0"/>
              </a:rPr>
              <a:t>所示，并不影响问题</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的可行域。</a:t>
            </a:r>
          </a:p>
          <a:p>
            <a:pPr algn="just" eaLnBrk="1" hangingPunct="1"/>
            <a:r>
              <a:rPr lang="zh-CN" altLang="en-US" sz="2000" dirty="0">
                <a:latin typeface="宋体" panose="02010600030101010101" pitchFamily="2" charset="-122"/>
              </a:rPr>
              <a:t>（</a:t>
            </a:r>
            <a:r>
              <a:rPr lang="en-US" altLang="zh-CN" sz="2000" dirty="0">
                <a:latin typeface="宋体" panose="02010600030101010101" pitchFamily="2" charset="-122"/>
              </a:rPr>
              <a:t>3</a:t>
            </a:r>
            <a:r>
              <a:rPr lang="zh-CN" altLang="en-US" sz="2000" dirty="0">
                <a:latin typeface="宋体" panose="02010600030101010101" pitchFamily="2" charset="-122"/>
              </a:rPr>
              <a:t>）分别求解子问题基</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宋体" panose="02010600030101010101" pitchFamily="2" charset="-122"/>
              </a:rPr>
              <a:t>的最优解。（</a:t>
            </a:r>
            <a:r>
              <a:rPr lang="zh-CN" altLang="en-US" sz="2000" dirty="0">
                <a:latin typeface="Times New Roman" panose="02020603050405020304" pitchFamily="18" charset="0"/>
                <a:cs typeface="Times New Roman" panose="02020603050405020304" pitchFamily="18" charset="0"/>
              </a:rPr>
              <a:t>仍然不考虑整数条件约束</a:t>
            </a:r>
            <a:r>
              <a:rPr lang="zh-CN" altLang="en-US" sz="2000" dirty="0">
                <a:latin typeface="宋体" panose="02010600030101010101" pitchFamily="2" charset="-122"/>
              </a:rPr>
              <a:t>）</a:t>
            </a:r>
            <a:endParaRPr lang="zh-CN" altLang="en-US" sz="2000"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7221804" y="4958948"/>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15" name="文本框 14"/>
          <p:cNvSpPr txBox="1"/>
          <p:nvPr/>
        </p:nvSpPr>
        <p:spPr>
          <a:xfrm>
            <a:off x="7653852" y="5200800"/>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mc:AlternateContent xmlns:mc="http://schemas.openxmlformats.org/markup-compatibility/2006" xmlns:a14="http://schemas.microsoft.com/office/drawing/2010/main">
        <mc:Choice Requires="a14">
          <p:sp>
            <p:nvSpPr>
              <p:cNvPr id="6" name="矩形 5"/>
              <p:cNvSpPr/>
              <p:nvPr/>
            </p:nvSpPr>
            <p:spPr>
              <a:xfrm>
                <a:off x="467544" y="5229200"/>
                <a:ext cx="4572000" cy="1323439"/>
              </a:xfrm>
              <a:prstGeom prst="rect">
                <a:avLst/>
              </a:prstGeom>
            </p:spPr>
            <p:txBody>
              <a:bodyPr>
                <a:spAutoFit/>
              </a:bodyPr>
              <a:lstStyle/>
              <a:p>
                <a:pPr algn="just" eaLnBrk="1" hangingPunct="1"/>
                <a:r>
                  <a:rPr lang="zh-CN" altLang="en-US" sz="2000" dirty="0">
                    <a:latin typeface="Times New Roman" panose="02020603050405020304" pitchFamily="18" charset="0"/>
                    <a:cs typeface="Times New Roman" panose="02020603050405020304" pitchFamily="18" charset="0"/>
                  </a:rPr>
                  <a:t>显然，仍没有得到全部变量是整数的解。因</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，故将</a:t>
                </a:r>
                <a14:m>
                  <m:oMath xmlns:m="http://schemas.openxmlformats.org/officeDocument/2006/math">
                    <m:bar>
                      <m:barPr>
                        <m:pos m:val="top"/>
                        <m:ctrlPr>
                          <a:rPr lang="en-US" altLang="zh-CN" sz="2000" i="1" dirty="0">
                            <a:latin typeface="Cambria Math" panose="02040503050406030204" pitchFamily="18" charset="0"/>
                            <a:cs typeface="Times New Roman" panose="02020603050405020304" pitchFamily="18" charset="0"/>
                          </a:rPr>
                        </m:ctrlPr>
                      </m:barPr>
                      <m:e>
                        <m:r>
                          <a:rPr lang="en-US" altLang="zh-CN" sz="2000" i="1" dirty="0">
                            <a:latin typeface="Cambria Math" panose="02040503050406030204" pitchFamily="18" charset="0"/>
                            <a:cs typeface="Times New Roman" panose="02020603050405020304" pitchFamily="18" charset="0"/>
                          </a:rPr>
                          <m:t>𝒛</m:t>
                        </m:r>
                      </m:e>
                    </m:bar>
                  </m:oMath>
                </a14:m>
                <a:r>
                  <a:rPr lang="zh-CN" altLang="en-US" sz="2000" dirty="0">
                    <a:latin typeface="Times New Roman" panose="02020603050405020304" pitchFamily="18" charset="0"/>
                    <a:cs typeface="Times New Roman" panose="02020603050405020304" pitchFamily="18" charset="0"/>
                  </a:rPr>
                  <a:t>改为</a:t>
                </a:r>
                <a:r>
                  <a:rPr lang="en-US" altLang="zh-CN" sz="2000" dirty="0">
                    <a:latin typeface="Times New Roman" panose="02020603050405020304" pitchFamily="18" charset="0"/>
                    <a:cs typeface="Times New Roman" panose="02020603050405020304" pitchFamily="18" charset="0"/>
                  </a:rPr>
                  <a:t>349</a:t>
                </a:r>
                <a:r>
                  <a:rPr lang="zh-CN" altLang="en-US" sz="2000" dirty="0">
                    <a:latin typeface="Times New Roman" panose="02020603050405020304" pitchFamily="18" charset="0"/>
                    <a:cs typeface="Times New Roman" panose="02020603050405020304" pitchFamily="18" charset="0"/>
                  </a:rPr>
                  <a:t>，那么必存在最优整数解，得到</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，并且 </a:t>
                </a:r>
              </a:p>
              <a:p>
                <a:pPr algn="just" eaLnBrk="1" hangingPunct="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          0≤z*≤349</a:t>
                </a:r>
              </a:p>
            </p:txBody>
          </p:sp>
        </mc:Choice>
        <mc:Fallback xmlns="">
          <p:sp>
            <p:nvSpPr>
              <p:cNvPr id="6" name="矩形 5"/>
              <p:cNvSpPr>
                <a:spLocks noRot="1" noChangeAspect="1" noMove="1" noResize="1" noEditPoints="1" noAdjustHandles="1" noChangeArrowheads="1" noChangeShapeType="1" noTextEdit="1"/>
              </p:cNvSpPr>
              <p:nvPr/>
            </p:nvSpPr>
            <p:spPr>
              <a:xfrm>
                <a:off x="467544" y="5229200"/>
                <a:ext cx="4572000" cy="1323439"/>
              </a:xfrm>
              <a:prstGeom prst="rect">
                <a:avLst/>
              </a:prstGeom>
              <a:blipFill>
                <a:blip r:embed="rId4"/>
                <a:stretch>
                  <a:fillRect l="-1467" t="-2765" r="-6933" b="-7373"/>
                </a:stretch>
              </a:blipFill>
            </p:spPr>
            <p:txBody>
              <a:bodyPr/>
              <a:lstStyle/>
              <a:p>
                <a:r>
                  <a:rPr lang="zh-CN" altLang="en-US">
                    <a:noFill/>
                  </a:rPr>
                  <a:t> </a:t>
                </a:r>
              </a:p>
            </p:txBody>
          </p:sp>
        </mc:Fallback>
      </mc:AlternateContent>
      <p:graphicFrame>
        <p:nvGraphicFramePr>
          <p:cNvPr id="16" name="Object 8">
            <a:extLst>
              <a:ext uri="{FF2B5EF4-FFF2-40B4-BE49-F238E27FC236}">
                <a16:creationId xmlns:a16="http://schemas.microsoft.com/office/drawing/2014/main" id="{907B4656-D377-446A-82B4-C72396201CAC}"/>
              </a:ext>
            </a:extLst>
          </p:cNvPr>
          <p:cNvGraphicFramePr>
            <a:graphicFrameLocks noChangeAspect="1"/>
          </p:cNvGraphicFramePr>
          <p:nvPr>
            <p:extLst>
              <p:ext uri="{D42A27DB-BD31-4B8C-83A1-F6EECF244321}">
                <p14:modId xmlns:p14="http://schemas.microsoft.com/office/powerpoint/2010/main" val="1462390673"/>
              </p:ext>
            </p:extLst>
          </p:nvPr>
        </p:nvGraphicFramePr>
        <p:xfrm>
          <a:off x="-2431536" y="3676401"/>
          <a:ext cx="10085388" cy="1893888"/>
        </p:xfrm>
        <a:graphic>
          <a:graphicData uri="http://schemas.openxmlformats.org/presentationml/2006/ole">
            <mc:AlternateContent xmlns:mc="http://schemas.openxmlformats.org/markup-compatibility/2006">
              <mc:Choice xmlns:v="urn:schemas-microsoft-com:vml" Requires="v">
                <p:oleObj spid="_x0000_s5184" name="Document" r:id="rId5" imgW="5417036" imgH="1020390" progId="Word.Document.8">
                  <p:embed/>
                </p:oleObj>
              </mc:Choice>
              <mc:Fallback>
                <p:oleObj name="Document" r:id="rId5" imgW="5417036" imgH="1020390" progId="Word.Document.8">
                  <p:embed/>
                  <p:pic>
                    <p:nvPicPr>
                      <p:cNvPr id="8" name="Object 8">
                        <a:extLst>
                          <a:ext uri="{FF2B5EF4-FFF2-40B4-BE49-F238E27FC236}">
                            <a16:creationId xmlns:a16="http://schemas.microsoft.com/office/drawing/2014/main" id="{907B4656-D377-446A-82B4-C72396201CAC}"/>
                          </a:ext>
                        </a:extLst>
                      </p:cNvPr>
                      <p:cNvPicPr>
                        <a:picLocks noChangeAspect="1" noChangeArrowheads="1"/>
                      </p:cNvPicPr>
                      <p:nvPr/>
                    </p:nvPicPr>
                    <p:blipFill>
                      <a:blip r:embed="rId6"/>
                      <a:srcRect/>
                      <a:stretch>
                        <a:fillRect/>
                      </a:stretch>
                    </p:blipFill>
                    <p:spPr bwMode="auto">
                      <a:xfrm>
                        <a:off x="-2431536" y="3676401"/>
                        <a:ext cx="10085388" cy="189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F6F5EC42-B258-45B0-943D-F5482939AEC0}"/>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p:sp>
        <p:nvSpPr>
          <p:cNvPr id="2" name="内容占位符 1"/>
          <p:cNvSpPr>
            <a:spLocks noGrp="1"/>
          </p:cNvSpPr>
          <p:nvPr>
            <p:ph idx="1"/>
          </p:nvPr>
        </p:nvSpPr>
        <p:spPr>
          <a:xfrm>
            <a:off x="494729" y="1196752"/>
            <a:ext cx="8469759" cy="904863"/>
          </a:xfrm>
        </p:spPr>
        <p:txBody>
          <a:bodyPr/>
          <a:lstStyle/>
          <a:p>
            <a:r>
              <a:rPr lang="zh-CN" altLang="en-US" dirty="0"/>
              <a:t>例</a:t>
            </a:r>
            <a:r>
              <a:rPr lang="en-US" altLang="zh-CN" dirty="0"/>
              <a:t>6-2 </a:t>
            </a:r>
            <a:r>
              <a:rPr lang="zh-CN" altLang="en-US" dirty="0"/>
              <a:t>求解问题</a:t>
            </a:r>
            <a:r>
              <a:rPr lang="en-US" altLang="zh-CN" dirty="0"/>
              <a:t>A</a:t>
            </a:r>
          </a:p>
          <a:p>
            <a:endParaRPr lang="zh-CN" altLang="en-US" dirty="0"/>
          </a:p>
        </p:txBody>
      </p:sp>
      <p:sp>
        <p:nvSpPr>
          <p:cNvPr id="21507" name="灯片编号占位符 5">
            <a:extLst>
              <a:ext uri="{FF2B5EF4-FFF2-40B4-BE49-F238E27FC236}">
                <a16:creationId xmlns:a16="http://schemas.microsoft.com/office/drawing/2014/main" id="{55091B73-E6CB-489D-A6CE-C3C284F3FBF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905160F-99D5-40C8-A41D-FAD6E5B7C7C2}" type="slidenum">
              <a:rPr lang="en-US" altLang="zh-CN" sz="1000" smtClean="0"/>
              <a:pPr>
                <a:spcBef>
                  <a:spcPct val="0"/>
                </a:spcBef>
                <a:buClrTx/>
                <a:buSzTx/>
                <a:buFontTx/>
                <a:buNone/>
              </a:pPr>
              <a:t>7</a:t>
            </a:fld>
            <a:endParaRPr lang="en-US" altLang="zh-CN" sz="1000"/>
          </a:p>
        </p:txBody>
      </p:sp>
      <p:sp>
        <p:nvSpPr>
          <p:cNvPr id="21509" name="Rectangle 3">
            <a:extLst>
              <a:ext uri="{FF2B5EF4-FFF2-40B4-BE49-F238E27FC236}">
                <a16:creationId xmlns:a16="http://schemas.microsoft.com/office/drawing/2014/main" id="{45C2BDD7-6360-4728-800B-C5C708878DE5}"/>
              </a:ext>
            </a:extLst>
          </p:cNvPr>
          <p:cNvSpPr>
            <a:spLocks noChangeArrowheads="1"/>
          </p:cNvSpPr>
          <p:nvPr/>
        </p:nvSpPr>
        <p:spPr bwMode="auto">
          <a:xfrm>
            <a:off x="395288" y="1454150"/>
            <a:ext cx="7924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sz="2000" b="0" dirty="0">
              <a:latin typeface="Times New Roman" panose="02020603050405020304" pitchFamily="18" charset="0"/>
              <a:cs typeface="Times New Roman" panose="02020603050405020304" pitchFamily="18" charset="0"/>
            </a:endParaRPr>
          </a:p>
        </p:txBody>
      </p:sp>
      <p:pic>
        <p:nvPicPr>
          <p:cNvPr id="21511" name="Picture 8">
            <a:extLst>
              <a:ext uri="{FF2B5EF4-FFF2-40B4-BE49-F238E27FC236}">
                <a16:creationId xmlns:a16="http://schemas.microsoft.com/office/drawing/2014/main" id="{195994F8-191C-4129-9D75-ACDC0DB34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0301" y="3363181"/>
            <a:ext cx="4148203" cy="314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19696" y="1700808"/>
            <a:ext cx="4572000" cy="1938992"/>
          </a:xfrm>
          <a:prstGeom prst="rect">
            <a:avLst/>
          </a:prstGeom>
        </p:spPr>
        <p:txBody>
          <a:bodyPr>
            <a:spAutoFit/>
          </a:bodyPr>
          <a:lstStyle/>
          <a:p>
            <a:pPr algn="just" eaLnBrk="1" hangingPunct="1"/>
            <a:r>
              <a:rPr lang="zh-CN" altLang="en-US" sz="2000" dirty="0">
                <a:latin typeface="宋体" panose="02010600030101010101" pitchFamily="2" charset="-122"/>
              </a:rPr>
              <a:t>解：（</a:t>
            </a:r>
            <a:r>
              <a:rPr lang="en-US" altLang="zh-CN" sz="2000" dirty="0">
                <a:latin typeface="宋体" panose="02010600030101010101" pitchFamily="2" charset="-122"/>
              </a:rPr>
              <a:t>4</a:t>
            </a:r>
            <a:r>
              <a:rPr lang="zh-CN" altLang="en-US" sz="2000" dirty="0">
                <a:latin typeface="宋体" panose="02010600030101010101" pitchFamily="2" charset="-122"/>
              </a:rPr>
              <a:t>）再次分支</a:t>
            </a:r>
            <a:endParaRPr lang="en-US" altLang="zh-CN" sz="2000" dirty="0">
              <a:latin typeface="宋体" panose="02010600030101010101" pitchFamily="2" charset="-122"/>
            </a:endParaRPr>
          </a:p>
          <a:p>
            <a:pPr algn="just" eaLnBrk="1" hangingPunct="1"/>
            <a:r>
              <a:rPr lang="zh-CN" altLang="en-US" sz="2000" dirty="0">
                <a:latin typeface="Times New Roman" panose="02020603050405020304" pitchFamily="18" charset="0"/>
                <a:cs typeface="Times New Roman" panose="02020603050405020304" pitchFamily="18" charset="0"/>
              </a:rPr>
              <a:t>因</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，故先分解</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为两支。</a:t>
            </a:r>
            <a:endParaRPr lang="en-US" altLang="zh-CN" sz="2000" dirty="0">
              <a:latin typeface="Times New Roman" panose="02020603050405020304" pitchFamily="18" charset="0"/>
              <a:cs typeface="Times New Roman" panose="02020603050405020304" pitchFamily="18" charset="0"/>
            </a:endParaRPr>
          </a:p>
          <a:p>
            <a:pPr algn="just" eaLnBrk="1" hangingPunct="1"/>
            <a:r>
              <a:rPr lang="zh-CN" altLang="en-US" sz="2000" dirty="0">
                <a:latin typeface="Times New Roman" panose="02020603050405020304" pitchFamily="18" charset="0"/>
                <a:cs typeface="Times New Roman" panose="02020603050405020304" pitchFamily="18" charset="0"/>
              </a:rPr>
              <a:t>增加条件</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，称为问题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eaLnBrk="1" hangingPunct="1"/>
            <a:r>
              <a:rPr lang="zh-CN" altLang="en-US" sz="2000" dirty="0">
                <a:latin typeface="Times New Roman" panose="02020603050405020304" pitchFamily="18" charset="0"/>
                <a:cs typeface="Times New Roman" panose="02020603050405020304" pitchFamily="18" charset="0"/>
              </a:rPr>
              <a:t>增加条件</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，称为问题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eaLnBrk="1" hangingPunct="1"/>
            <a:r>
              <a:rPr lang="zh-CN" altLang="en-US" sz="2000" dirty="0">
                <a:latin typeface="Times New Roman" panose="02020603050405020304" pitchFamily="18" charset="0"/>
                <a:cs typeface="Times New Roman" panose="02020603050405020304" pitchFamily="18" charset="0"/>
              </a:rPr>
              <a:t>相当于在图</a:t>
            </a:r>
            <a:r>
              <a:rPr lang="en-US" altLang="zh-CN" sz="2000" dirty="0">
                <a:latin typeface="Times New Roman" panose="02020603050405020304" pitchFamily="18" charset="0"/>
                <a:cs typeface="Times New Roman" panose="02020603050405020304" pitchFamily="18" charset="0"/>
              </a:rPr>
              <a:t>6-3</a:t>
            </a:r>
            <a:r>
              <a:rPr lang="zh-CN" altLang="en-US" sz="2000" dirty="0">
                <a:latin typeface="Times New Roman" panose="02020603050405020304" pitchFamily="18" charset="0"/>
                <a:cs typeface="Times New Roman" panose="02020603050405020304" pitchFamily="18" charset="0"/>
              </a:rPr>
              <a:t>中再去掉</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与</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之间的区域，进行第二次迭代。</a:t>
            </a:r>
          </a:p>
        </p:txBody>
      </p:sp>
      <p:graphicFrame>
        <p:nvGraphicFramePr>
          <p:cNvPr id="8" name="Object 8">
            <a:extLst>
              <a:ext uri="{FF2B5EF4-FFF2-40B4-BE49-F238E27FC236}">
                <a16:creationId xmlns:a16="http://schemas.microsoft.com/office/drawing/2014/main" id="{907B4656-D377-446A-82B4-C72396201CAC}"/>
              </a:ext>
            </a:extLst>
          </p:cNvPr>
          <p:cNvGraphicFramePr>
            <a:graphicFrameLocks noChangeAspect="1"/>
          </p:cNvGraphicFramePr>
          <p:nvPr>
            <p:extLst>
              <p:ext uri="{D42A27DB-BD31-4B8C-83A1-F6EECF244321}">
                <p14:modId xmlns:p14="http://schemas.microsoft.com/office/powerpoint/2010/main" val="2727509547"/>
              </p:ext>
            </p:extLst>
          </p:nvPr>
        </p:nvGraphicFramePr>
        <p:xfrm>
          <a:off x="1828800" y="1511300"/>
          <a:ext cx="10085388" cy="1893888"/>
        </p:xfrm>
        <a:graphic>
          <a:graphicData uri="http://schemas.openxmlformats.org/presentationml/2006/ole">
            <mc:AlternateContent xmlns:mc="http://schemas.openxmlformats.org/markup-compatibility/2006">
              <mc:Choice xmlns:v="urn:schemas-microsoft-com:vml" Requires="v">
                <p:oleObj spid="_x0000_s51282" name="Document" r:id="rId4" imgW="5417036" imgH="1020390" progId="Word.Document.8">
                  <p:embed/>
                </p:oleObj>
              </mc:Choice>
              <mc:Fallback>
                <p:oleObj name="Document" r:id="rId4" imgW="5417036" imgH="1020390" progId="Word.Document.8">
                  <p:embed/>
                  <p:pic>
                    <p:nvPicPr>
                      <p:cNvPr id="19462" name="Object 8">
                        <a:extLst>
                          <a:ext uri="{FF2B5EF4-FFF2-40B4-BE49-F238E27FC236}">
                            <a16:creationId xmlns:a16="http://schemas.microsoft.com/office/drawing/2014/main" id="{907B4656-D377-446A-82B4-C72396201CAC}"/>
                          </a:ext>
                        </a:extLst>
                      </p:cNvPr>
                      <p:cNvPicPr>
                        <a:picLocks noChangeAspect="1" noChangeArrowheads="1"/>
                      </p:cNvPicPr>
                      <p:nvPr/>
                    </p:nvPicPr>
                    <p:blipFill>
                      <a:blip r:embed="rId5"/>
                      <a:srcRect/>
                      <a:stretch>
                        <a:fillRect/>
                      </a:stretch>
                    </p:blipFill>
                    <p:spPr bwMode="auto">
                      <a:xfrm>
                        <a:off x="1828800" y="1511300"/>
                        <a:ext cx="10085388" cy="189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8">
            <a:extLst>
              <a:ext uri="{FF2B5EF4-FFF2-40B4-BE49-F238E27FC236}">
                <a16:creationId xmlns:a16="http://schemas.microsoft.com/office/drawing/2014/main" id="{907B4656-D377-446A-82B4-C72396201CAC}"/>
              </a:ext>
            </a:extLst>
          </p:cNvPr>
          <p:cNvGraphicFramePr>
            <a:graphicFrameLocks noChangeAspect="1"/>
          </p:cNvGraphicFramePr>
          <p:nvPr>
            <p:extLst>
              <p:ext uri="{D42A27DB-BD31-4B8C-83A1-F6EECF244321}">
                <p14:modId xmlns:p14="http://schemas.microsoft.com/office/powerpoint/2010/main" val="3286028819"/>
              </p:ext>
            </p:extLst>
          </p:nvPr>
        </p:nvGraphicFramePr>
        <p:xfrm>
          <a:off x="-3049399" y="4053805"/>
          <a:ext cx="10083801" cy="1895475"/>
        </p:xfrm>
        <a:graphic>
          <a:graphicData uri="http://schemas.openxmlformats.org/presentationml/2006/ole">
            <mc:AlternateContent xmlns:mc="http://schemas.openxmlformats.org/markup-compatibility/2006">
              <mc:Choice xmlns:v="urn:schemas-microsoft-com:vml" Requires="v">
                <p:oleObj spid="_x0000_s51283" name="Document" r:id="rId6" imgW="5417036" imgH="1021832" progId="Word.Document.8">
                  <p:embed/>
                </p:oleObj>
              </mc:Choice>
              <mc:Fallback>
                <p:oleObj name="Document" r:id="rId6" imgW="5417036" imgH="1021832" progId="Word.Document.8">
                  <p:embed/>
                  <p:pic>
                    <p:nvPicPr>
                      <p:cNvPr id="8" name="Object 8">
                        <a:extLst>
                          <a:ext uri="{FF2B5EF4-FFF2-40B4-BE49-F238E27FC236}">
                            <a16:creationId xmlns:a16="http://schemas.microsoft.com/office/drawing/2014/main" id="{907B4656-D377-446A-82B4-C72396201CAC}"/>
                          </a:ext>
                        </a:extLst>
                      </p:cNvPr>
                      <p:cNvPicPr>
                        <a:picLocks noChangeAspect="1" noChangeArrowheads="1"/>
                      </p:cNvPicPr>
                      <p:nvPr/>
                    </p:nvPicPr>
                    <p:blipFill>
                      <a:blip r:embed="rId7"/>
                      <a:srcRect/>
                      <a:stretch>
                        <a:fillRect/>
                      </a:stretch>
                    </p:blipFill>
                    <p:spPr bwMode="auto">
                      <a:xfrm>
                        <a:off x="-3049399" y="4053805"/>
                        <a:ext cx="10083801"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矩形 9"/>
          <p:cNvSpPr/>
          <p:nvPr/>
        </p:nvSpPr>
        <p:spPr>
          <a:xfrm>
            <a:off x="-36512" y="5528183"/>
            <a:ext cx="4572000" cy="1015663"/>
          </a:xfrm>
          <a:prstGeom prst="rect">
            <a:avLst/>
          </a:prstGeom>
        </p:spPr>
        <p:txBody>
          <a:bodyPr>
            <a:spAutoFit/>
          </a:bodyPr>
          <a:lstStyle/>
          <a:p>
            <a:pPr algn="just" eaLnBrk="1" hangingPunct="1"/>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重新定界 </a:t>
            </a:r>
          </a:p>
          <a:p>
            <a:pPr algn="just" eaLnBrk="1" hangingPunct="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          340≤z*≤341</a:t>
            </a:r>
          </a:p>
          <a:p>
            <a:pPr algn="just" eaLnBrk="1" hangingPunct="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B</a:t>
            </a:r>
            <a:r>
              <a:rPr lang="en-US" altLang="zh-CN" sz="2000" baseline="-25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最优解小于</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下界，无需再分支</a:t>
            </a:r>
            <a:endParaRPr lang="en-US" altLang="zh-CN" sz="20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7240276" y="4859924"/>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12" name="文本框 11"/>
          <p:cNvSpPr txBox="1"/>
          <p:nvPr/>
        </p:nvSpPr>
        <p:spPr>
          <a:xfrm>
            <a:off x="6091524" y="4365104"/>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14" name="文本框 13"/>
          <p:cNvSpPr txBox="1"/>
          <p:nvPr/>
        </p:nvSpPr>
        <p:spPr>
          <a:xfrm>
            <a:off x="7725860" y="5039004"/>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15" name="矩形 14"/>
          <p:cNvSpPr/>
          <p:nvPr/>
        </p:nvSpPr>
        <p:spPr>
          <a:xfrm>
            <a:off x="0" y="3532946"/>
            <a:ext cx="4572000" cy="400110"/>
          </a:xfrm>
          <a:prstGeom prst="rect">
            <a:avLst/>
          </a:prstGeom>
        </p:spPr>
        <p:txBody>
          <a:bodyPr>
            <a:spAutoFit/>
          </a:bodyPr>
          <a:lstStyle/>
          <a:p>
            <a:pPr algn="just" eaLnBrk="1" hangingPunct="1"/>
            <a:r>
              <a:rPr lang="zh-CN" altLang="en-US" sz="2000" dirty="0">
                <a:latin typeface="宋体" panose="02010600030101010101" pitchFamily="2" charset="-122"/>
              </a:rPr>
              <a:t>（</a:t>
            </a:r>
            <a:r>
              <a:rPr lang="en-US" altLang="zh-CN" sz="2000" dirty="0">
                <a:latin typeface="宋体" panose="02010600030101010101" pitchFamily="2" charset="-122"/>
              </a:rPr>
              <a:t>5</a:t>
            </a:r>
            <a:r>
              <a:rPr lang="zh-CN" altLang="en-US" sz="2000" dirty="0">
                <a:latin typeface="宋体" panose="02010600030101010101" pitchFamily="2" charset="-122"/>
              </a:rPr>
              <a:t>）求解子问题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的最优解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2"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EC170196-3620-4FBA-B7A7-EA2836B4A3D5}"/>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p:sp>
        <p:nvSpPr>
          <p:cNvPr id="2" name="内容占位符 1"/>
          <p:cNvSpPr>
            <a:spLocks noGrp="1"/>
          </p:cNvSpPr>
          <p:nvPr>
            <p:ph idx="1"/>
          </p:nvPr>
        </p:nvSpPr>
        <p:spPr>
          <a:xfrm>
            <a:off x="494729" y="1196752"/>
            <a:ext cx="8469759" cy="904863"/>
          </a:xfrm>
        </p:spPr>
        <p:txBody>
          <a:bodyPr/>
          <a:lstStyle/>
          <a:p>
            <a:r>
              <a:rPr lang="zh-CN" altLang="en-US" dirty="0"/>
              <a:t>例</a:t>
            </a:r>
            <a:r>
              <a:rPr lang="en-US" altLang="zh-CN" dirty="0"/>
              <a:t>6-2 </a:t>
            </a:r>
            <a:r>
              <a:rPr lang="zh-CN" altLang="en-US" dirty="0"/>
              <a:t>求解问题</a:t>
            </a:r>
            <a:r>
              <a:rPr lang="en-US" altLang="zh-CN" dirty="0"/>
              <a:t>A</a:t>
            </a:r>
          </a:p>
          <a:p>
            <a:endParaRPr lang="zh-CN" altLang="en-US" dirty="0"/>
          </a:p>
        </p:txBody>
      </p:sp>
      <p:sp>
        <p:nvSpPr>
          <p:cNvPr id="22531" name="灯片编号占位符 5">
            <a:extLst>
              <a:ext uri="{FF2B5EF4-FFF2-40B4-BE49-F238E27FC236}">
                <a16:creationId xmlns:a16="http://schemas.microsoft.com/office/drawing/2014/main" id="{FF41290F-F26B-46EC-985A-3B325F58FCF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0EFB6E9-4F71-4868-B62F-156727F9D09C}" type="slidenum">
              <a:rPr lang="en-US" altLang="zh-CN" sz="1000" smtClean="0"/>
              <a:pPr>
                <a:spcBef>
                  <a:spcPct val="0"/>
                </a:spcBef>
                <a:buClrTx/>
                <a:buSzTx/>
                <a:buFontTx/>
                <a:buNone/>
              </a:pPr>
              <a:t>8</a:t>
            </a:fld>
            <a:endParaRPr lang="en-US" altLang="zh-CN" sz="1000"/>
          </a:p>
        </p:txBody>
      </p:sp>
      <p:sp>
        <p:nvSpPr>
          <p:cNvPr id="22533" name="Rectangle 3">
            <a:extLst>
              <a:ext uri="{FF2B5EF4-FFF2-40B4-BE49-F238E27FC236}">
                <a16:creationId xmlns:a16="http://schemas.microsoft.com/office/drawing/2014/main" id="{28E6C33D-2688-4F6D-B271-43F7E54D881A}"/>
              </a:ext>
            </a:extLst>
          </p:cNvPr>
          <p:cNvSpPr>
            <a:spLocks noChangeArrowheads="1"/>
          </p:cNvSpPr>
          <p:nvPr/>
        </p:nvSpPr>
        <p:spPr bwMode="auto">
          <a:xfrm>
            <a:off x="395288" y="1454150"/>
            <a:ext cx="7924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latin typeface="宋体" panose="02010600030101010101" pitchFamily="2" charset="-122"/>
            </a:endParaRPr>
          </a:p>
        </p:txBody>
      </p:sp>
      <p:pic>
        <p:nvPicPr>
          <p:cNvPr id="22534" name="Picture 6">
            <a:extLst>
              <a:ext uri="{FF2B5EF4-FFF2-40B4-BE49-F238E27FC236}">
                <a16:creationId xmlns:a16="http://schemas.microsoft.com/office/drawing/2014/main" id="{1AA99193-EA74-4911-BAD3-3ED9ABF56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8995" y="2933648"/>
            <a:ext cx="4679950" cy="354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94056" y="1763058"/>
            <a:ext cx="4572000" cy="1631216"/>
          </a:xfrm>
          <a:prstGeom prst="rect">
            <a:avLst/>
          </a:prstGeom>
        </p:spPr>
        <p:txBody>
          <a:bodyPr>
            <a:spAutoFit/>
          </a:bodyPr>
          <a:lstStyle/>
          <a:p>
            <a:pPr algn="just" eaLnBrk="1" hangingPunct="1"/>
            <a:r>
              <a:rPr lang="zh-CN" altLang="en-US" sz="2000" dirty="0">
                <a:latin typeface="宋体" panose="02010600030101010101" pitchFamily="2" charset="-122"/>
              </a:rPr>
              <a:t>解：（</a:t>
            </a:r>
            <a:r>
              <a:rPr lang="en-US" altLang="zh-CN" sz="2000" dirty="0">
                <a:latin typeface="宋体" panose="02010600030101010101" pitchFamily="2" charset="-122"/>
              </a:rPr>
              <a:t>6</a:t>
            </a:r>
            <a:r>
              <a:rPr lang="zh-CN" altLang="en-US" sz="2000" dirty="0">
                <a:latin typeface="宋体" panose="02010600030101010101" pitchFamily="2" charset="-122"/>
              </a:rPr>
              <a:t>）再次分支</a:t>
            </a:r>
            <a:endParaRPr lang="en-US" altLang="zh-CN" sz="2000" dirty="0">
              <a:latin typeface="宋体" panose="02010600030101010101" pitchFamily="2" charset="-122"/>
            </a:endParaRPr>
          </a:p>
          <a:p>
            <a:pPr algn="just" eaLnBrk="1" hangingPunct="1"/>
            <a:r>
              <a:rPr lang="zh-CN" altLang="en-US" sz="2000" dirty="0">
                <a:latin typeface="Times New Roman" panose="02020603050405020304" pitchFamily="18" charset="0"/>
                <a:cs typeface="Times New Roman" panose="02020603050405020304" pitchFamily="18" charset="0"/>
              </a:rPr>
              <a:t>因</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z</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，故先分解</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为两支。</a:t>
            </a:r>
            <a:endParaRPr lang="en-US" altLang="zh-CN" sz="2000" dirty="0">
              <a:latin typeface="Times New Roman" panose="02020603050405020304" pitchFamily="18" charset="0"/>
              <a:cs typeface="Times New Roman" panose="02020603050405020304" pitchFamily="18" charset="0"/>
            </a:endParaRPr>
          </a:p>
          <a:p>
            <a:pPr algn="just" eaLnBrk="1" hangingPunct="1"/>
            <a:r>
              <a:rPr lang="zh-CN" altLang="en-US" sz="2000" dirty="0">
                <a:latin typeface="Times New Roman" panose="02020603050405020304" pitchFamily="18" charset="0"/>
                <a:cs typeface="Times New Roman" panose="02020603050405020304" pitchFamily="18" charset="0"/>
              </a:rPr>
              <a:t>增加条件</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，称为问题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eaLnBrk="1" hangingPunct="1"/>
            <a:r>
              <a:rPr lang="zh-CN" altLang="en-US" sz="2000" dirty="0">
                <a:latin typeface="Times New Roman" panose="02020603050405020304" pitchFamily="18" charset="0"/>
                <a:cs typeface="Times New Roman" panose="02020603050405020304" pitchFamily="18" charset="0"/>
              </a:rPr>
              <a:t>增加条件</a:t>
            </a:r>
            <a:r>
              <a:rPr lang="en-US" altLang="zh-CN" sz="2000"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，称为问题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eaLnBrk="1" hangingPunct="1"/>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无可行解，停止计算。</a:t>
            </a:r>
          </a:p>
        </p:txBody>
      </p:sp>
      <p:graphicFrame>
        <p:nvGraphicFramePr>
          <p:cNvPr id="9" name="Object 8">
            <a:extLst>
              <a:ext uri="{FF2B5EF4-FFF2-40B4-BE49-F238E27FC236}">
                <a16:creationId xmlns:a16="http://schemas.microsoft.com/office/drawing/2014/main" id="{907B4656-D377-446A-82B4-C72396201CAC}"/>
              </a:ext>
            </a:extLst>
          </p:cNvPr>
          <p:cNvGraphicFramePr>
            <a:graphicFrameLocks noChangeAspect="1"/>
          </p:cNvGraphicFramePr>
          <p:nvPr>
            <p:extLst>
              <p:ext uri="{D42A27DB-BD31-4B8C-83A1-F6EECF244321}">
                <p14:modId xmlns:p14="http://schemas.microsoft.com/office/powerpoint/2010/main" val="3160115308"/>
              </p:ext>
            </p:extLst>
          </p:nvPr>
        </p:nvGraphicFramePr>
        <p:xfrm>
          <a:off x="2161603" y="1153877"/>
          <a:ext cx="10083801" cy="1895475"/>
        </p:xfrm>
        <a:graphic>
          <a:graphicData uri="http://schemas.openxmlformats.org/presentationml/2006/ole">
            <mc:AlternateContent xmlns:mc="http://schemas.openxmlformats.org/markup-compatibility/2006">
              <mc:Choice xmlns:v="urn:schemas-microsoft-com:vml" Requires="v">
                <p:oleObj spid="_x0000_s52306" name="Document" r:id="rId4" imgW="5417036" imgH="1023634" progId="Word.Document.8">
                  <p:embed/>
                </p:oleObj>
              </mc:Choice>
              <mc:Fallback>
                <p:oleObj name="Document" r:id="rId4" imgW="5417036" imgH="1023634" progId="Word.Document.8">
                  <p:embed/>
                  <p:pic>
                    <p:nvPicPr>
                      <p:cNvPr id="9" name="Object 8">
                        <a:extLst>
                          <a:ext uri="{FF2B5EF4-FFF2-40B4-BE49-F238E27FC236}">
                            <a16:creationId xmlns:a16="http://schemas.microsoft.com/office/drawing/2014/main" id="{907B4656-D377-446A-82B4-C72396201CAC}"/>
                          </a:ext>
                        </a:extLst>
                      </p:cNvPr>
                      <p:cNvPicPr>
                        <a:picLocks noChangeAspect="1" noChangeArrowheads="1"/>
                      </p:cNvPicPr>
                      <p:nvPr/>
                    </p:nvPicPr>
                    <p:blipFill>
                      <a:blip r:embed="rId5"/>
                      <a:srcRect/>
                      <a:stretch>
                        <a:fillRect/>
                      </a:stretch>
                    </p:blipFill>
                    <p:spPr bwMode="auto">
                      <a:xfrm>
                        <a:off x="2161603" y="1153877"/>
                        <a:ext cx="10083801"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8">
            <a:extLst>
              <a:ext uri="{FF2B5EF4-FFF2-40B4-BE49-F238E27FC236}">
                <a16:creationId xmlns:a16="http://schemas.microsoft.com/office/drawing/2014/main" id="{907B4656-D377-446A-82B4-C72396201CAC}"/>
              </a:ext>
            </a:extLst>
          </p:cNvPr>
          <p:cNvGraphicFramePr>
            <a:graphicFrameLocks noChangeAspect="1"/>
          </p:cNvGraphicFramePr>
          <p:nvPr>
            <p:extLst>
              <p:ext uri="{D42A27DB-BD31-4B8C-83A1-F6EECF244321}">
                <p14:modId xmlns:p14="http://schemas.microsoft.com/office/powerpoint/2010/main" val="2840643849"/>
              </p:ext>
            </p:extLst>
          </p:nvPr>
        </p:nvGraphicFramePr>
        <p:xfrm>
          <a:off x="-2285455" y="3758688"/>
          <a:ext cx="8894116" cy="1666790"/>
        </p:xfrm>
        <a:graphic>
          <a:graphicData uri="http://schemas.openxmlformats.org/presentationml/2006/ole">
            <mc:AlternateContent xmlns:mc="http://schemas.openxmlformats.org/markup-compatibility/2006">
              <mc:Choice xmlns:v="urn:schemas-microsoft-com:vml" Requires="v">
                <p:oleObj spid="_x0000_s52307" name="Document" r:id="rId6" imgW="5417036" imgH="1021832" progId="Word.Document.8">
                  <p:embed/>
                </p:oleObj>
              </mc:Choice>
              <mc:Fallback>
                <p:oleObj name="Document" r:id="rId6" imgW="5417036" imgH="1021832" progId="Word.Document.8">
                  <p:embed/>
                  <p:pic>
                    <p:nvPicPr>
                      <p:cNvPr id="9" name="Object 8">
                        <a:extLst>
                          <a:ext uri="{FF2B5EF4-FFF2-40B4-BE49-F238E27FC236}">
                            <a16:creationId xmlns:a16="http://schemas.microsoft.com/office/drawing/2014/main" id="{907B4656-D377-446A-82B4-C72396201CAC}"/>
                          </a:ext>
                        </a:extLst>
                      </p:cNvPr>
                      <p:cNvPicPr>
                        <a:picLocks noChangeAspect="1" noChangeArrowheads="1"/>
                      </p:cNvPicPr>
                      <p:nvPr/>
                    </p:nvPicPr>
                    <p:blipFill>
                      <a:blip r:embed="rId7"/>
                      <a:srcRect/>
                      <a:stretch>
                        <a:fillRect/>
                      </a:stretch>
                    </p:blipFill>
                    <p:spPr bwMode="auto">
                      <a:xfrm>
                        <a:off x="-2285455" y="3758688"/>
                        <a:ext cx="8894116" cy="1666790"/>
                      </a:xfrm>
                      <a:prstGeom prst="rect">
                        <a:avLst/>
                      </a:prstGeom>
                      <a:noFill/>
                      <a:ln>
                        <a:noFill/>
                      </a:ln>
                      <a:effectLst/>
                      <a:extLst/>
                    </p:spPr>
                  </p:pic>
                </p:oleObj>
              </mc:Fallback>
            </mc:AlternateContent>
          </a:graphicData>
        </a:graphic>
      </p:graphicFrame>
      <p:sp>
        <p:nvSpPr>
          <p:cNvPr id="11" name="文本框 10"/>
          <p:cNvSpPr txBox="1"/>
          <p:nvPr/>
        </p:nvSpPr>
        <p:spPr>
          <a:xfrm>
            <a:off x="7024252" y="4653136"/>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13" name="文本框 12"/>
          <p:cNvSpPr txBox="1"/>
          <p:nvPr/>
        </p:nvSpPr>
        <p:spPr>
          <a:xfrm>
            <a:off x="7600316" y="4869160"/>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
        <p:nvSpPr>
          <p:cNvPr id="14" name="矩形 13"/>
          <p:cNvSpPr/>
          <p:nvPr/>
        </p:nvSpPr>
        <p:spPr>
          <a:xfrm>
            <a:off x="122634" y="5174045"/>
            <a:ext cx="4572000" cy="400110"/>
          </a:xfrm>
          <a:prstGeom prst="rect">
            <a:avLst/>
          </a:prstGeom>
        </p:spPr>
        <p:txBody>
          <a:bodyPr>
            <a:spAutoFit/>
          </a:bodyPr>
          <a:lstStyle/>
          <a:p>
            <a:pPr algn="just" eaLnBrk="1" hangingPunct="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B</a:t>
            </a:r>
            <a:r>
              <a:rPr lang="en-US" altLang="zh-CN" sz="2000" baseline="-25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最优解小于</a:t>
            </a:r>
            <a:r>
              <a:rPr lang="en-US" altLang="zh-CN" sz="2000" dirty="0">
                <a:latin typeface="Times New Roman" panose="02020603050405020304" pitchFamily="18" charset="0"/>
                <a:cs typeface="Times New Roman" panose="02020603050405020304" pitchFamily="18" charset="0"/>
              </a:rPr>
              <a:t>z*</a:t>
            </a:r>
            <a:r>
              <a:rPr lang="zh-CN" altLang="en-US" sz="2000" dirty="0">
                <a:latin typeface="Times New Roman" panose="02020603050405020304" pitchFamily="18" charset="0"/>
                <a:cs typeface="Times New Roman" panose="02020603050405020304" pitchFamily="18" charset="0"/>
              </a:rPr>
              <a:t>下界，无需再分支</a:t>
            </a:r>
            <a:endParaRPr lang="en-US" altLang="zh-CN" sz="2000" dirty="0">
              <a:latin typeface="Times New Roman" panose="02020603050405020304" pitchFamily="18" charset="0"/>
              <a:cs typeface="Times New Roman" panose="02020603050405020304" pitchFamily="18" charset="0"/>
            </a:endParaRPr>
          </a:p>
        </p:txBody>
      </p:sp>
      <p:sp>
        <p:nvSpPr>
          <p:cNvPr id="15" name="矩形 14"/>
          <p:cNvSpPr/>
          <p:nvPr/>
        </p:nvSpPr>
        <p:spPr>
          <a:xfrm>
            <a:off x="0" y="5709736"/>
            <a:ext cx="4572000" cy="707886"/>
          </a:xfrm>
          <a:prstGeom prst="rect">
            <a:avLst/>
          </a:prstGeom>
        </p:spPr>
        <p:txBody>
          <a:bodyPr>
            <a:spAutoFit/>
          </a:bodyPr>
          <a:lstStyle/>
          <a:p>
            <a:pPr algn="just" eaLnBrk="1" hangingPunct="1"/>
            <a:r>
              <a:rPr lang="zh-CN" altLang="en-US" sz="2000" dirty="0">
                <a:latin typeface="宋体" panose="02010600030101010101" pitchFamily="2" charset="-122"/>
              </a:rPr>
              <a:t>（</a:t>
            </a:r>
            <a:r>
              <a:rPr lang="en-US" altLang="zh-CN" sz="2000" dirty="0">
                <a:latin typeface="宋体" panose="02010600030101010101" pitchFamily="2" charset="-122"/>
              </a:rPr>
              <a:t>8</a:t>
            </a:r>
            <a:r>
              <a:rPr lang="zh-CN" altLang="en-US" sz="2000" dirty="0">
                <a:latin typeface="宋体" panose="02010600030101010101" pitchFamily="2" charset="-122"/>
              </a:rPr>
              <a:t>）得出结论：问题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的最优解为该整数规划问题的最优解。</a:t>
            </a:r>
            <a:endParaRPr lang="en-US" altLang="zh-CN" sz="2000" dirty="0">
              <a:latin typeface="Times New Roman" panose="02020603050405020304" pitchFamily="18" charset="0"/>
              <a:cs typeface="Times New Roman" panose="02020603050405020304" pitchFamily="18" charset="0"/>
            </a:endParaRPr>
          </a:p>
        </p:txBody>
      </p:sp>
      <p:sp>
        <p:nvSpPr>
          <p:cNvPr id="16" name="矩形 15"/>
          <p:cNvSpPr/>
          <p:nvPr/>
        </p:nvSpPr>
        <p:spPr>
          <a:xfrm>
            <a:off x="0" y="3386765"/>
            <a:ext cx="4572000" cy="400110"/>
          </a:xfrm>
          <a:prstGeom prst="rect">
            <a:avLst/>
          </a:prstGeom>
        </p:spPr>
        <p:txBody>
          <a:bodyPr>
            <a:spAutoFit/>
          </a:bodyPr>
          <a:lstStyle/>
          <a:p>
            <a:pPr algn="just" eaLnBrk="1" hangingPunct="1"/>
            <a:r>
              <a:rPr lang="zh-CN" altLang="en-US" sz="2000" dirty="0">
                <a:latin typeface="宋体" panose="02010600030101010101" pitchFamily="2" charset="-122"/>
              </a:rPr>
              <a:t>（</a:t>
            </a:r>
            <a:r>
              <a:rPr lang="en-US" altLang="zh-CN" sz="2000" dirty="0">
                <a:latin typeface="宋体" panose="02010600030101010101" pitchFamily="2" charset="-122"/>
              </a:rPr>
              <a:t>7</a:t>
            </a:r>
            <a:r>
              <a:rPr lang="zh-CN" altLang="en-US" sz="2000" dirty="0">
                <a:latin typeface="宋体" panose="02010600030101010101" pitchFamily="2" charset="-122"/>
              </a:rPr>
              <a:t>）求解子问题</a:t>
            </a:r>
            <a:r>
              <a:rPr lang="en-US" altLang="zh-CN" sz="2000" dirty="0">
                <a:latin typeface="Times New Roman" panose="02020603050405020304" pitchFamily="18" charset="0"/>
                <a:cs typeface="Times New Roman" panose="02020603050405020304" pitchFamily="18" charset="0"/>
              </a:rPr>
              <a:t>B</a:t>
            </a:r>
            <a:r>
              <a:rPr lang="en-US" altLang="zh-CN" sz="2000" baseline="-30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的最优解</a:t>
            </a:r>
          </a:p>
        </p:txBody>
      </p:sp>
      <p:sp>
        <p:nvSpPr>
          <p:cNvPr id="17" name="文本框 16"/>
          <p:cNvSpPr txBox="1"/>
          <p:nvPr/>
        </p:nvSpPr>
        <p:spPr>
          <a:xfrm>
            <a:off x="7862126" y="5210036"/>
            <a:ext cx="28405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CCDC87E7-DAFC-4528-8FA3-BAB6B4DB8093}"/>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a:t>
            </a:r>
            <a:r>
              <a:rPr lang="zh-CN" altLang="en-US" dirty="0">
                <a:latin typeface="Arial" panose="020B0604020202020204" pitchFamily="34" charset="0"/>
              </a:rPr>
              <a:t> 分支定界解法</a:t>
            </a:r>
          </a:p>
        </p:txBody>
      </p:sp>
      <p:sp>
        <p:nvSpPr>
          <p:cNvPr id="2" name="内容占位符 1"/>
          <p:cNvSpPr>
            <a:spLocks noGrp="1"/>
          </p:cNvSpPr>
          <p:nvPr>
            <p:ph idx="1"/>
          </p:nvPr>
        </p:nvSpPr>
        <p:spPr>
          <a:xfrm>
            <a:off x="494729" y="1196752"/>
            <a:ext cx="1942083" cy="904863"/>
          </a:xfrm>
        </p:spPr>
        <p:txBody>
          <a:bodyPr/>
          <a:lstStyle/>
          <a:p>
            <a:r>
              <a:rPr lang="zh-CN" altLang="en-US" dirty="0"/>
              <a:t>例</a:t>
            </a:r>
            <a:r>
              <a:rPr lang="en-US" altLang="zh-CN" dirty="0"/>
              <a:t>6-2 </a:t>
            </a:r>
            <a:r>
              <a:rPr lang="zh-CN" altLang="en-US" dirty="0"/>
              <a:t>求解问题</a:t>
            </a:r>
            <a:r>
              <a:rPr lang="en-US" altLang="zh-CN" dirty="0"/>
              <a:t>A</a:t>
            </a:r>
          </a:p>
          <a:p>
            <a:endParaRPr lang="zh-CN" altLang="en-US" dirty="0"/>
          </a:p>
        </p:txBody>
      </p:sp>
      <p:sp>
        <p:nvSpPr>
          <p:cNvPr id="23555" name="灯片编号占位符 5">
            <a:extLst>
              <a:ext uri="{FF2B5EF4-FFF2-40B4-BE49-F238E27FC236}">
                <a16:creationId xmlns:a16="http://schemas.microsoft.com/office/drawing/2014/main" id="{C11007F0-14E5-4B57-8678-9FDC5762CDB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FC422EF-CF5F-47D8-B8D3-20EFE759D438}" type="slidenum">
              <a:rPr lang="en-US" altLang="zh-CN" sz="1000" smtClean="0"/>
              <a:pPr>
                <a:spcBef>
                  <a:spcPct val="0"/>
                </a:spcBef>
                <a:buClrTx/>
                <a:buSzTx/>
                <a:buFontTx/>
                <a:buNone/>
              </a:pPr>
              <a:t>9</a:t>
            </a:fld>
            <a:endParaRPr lang="en-US" altLang="zh-CN" sz="1000"/>
          </a:p>
        </p:txBody>
      </p:sp>
      <p:pic>
        <p:nvPicPr>
          <p:cNvPr id="23557" name="Picture 5">
            <a:extLst>
              <a:ext uri="{FF2B5EF4-FFF2-40B4-BE49-F238E27FC236}">
                <a16:creationId xmlns:a16="http://schemas.microsoft.com/office/drawing/2014/main" id="{E49DA394-10F6-48CD-BE3D-C2FD79744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6812" y="0"/>
            <a:ext cx="67071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64734" y="3591530"/>
            <a:ext cx="1678665" cy="400110"/>
          </a:xfrm>
          <a:prstGeom prst="rect">
            <a:avLst/>
          </a:prstGeom>
        </p:spPr>
        <p:txBody>
          <a:bodyPr wrap="none">
            <a:spAutoFit/>
          </a:bodyPr>
          <a:lstStyle/>
          <a:p>
            <a:pPr lvl="1"/>
            <a:r>
              <a:rPr lang="zh-CN" altLang="en-US" sz="2000" dirty="0"/>
              <a:t>解题过程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5914AFF5-F7FB-4CAF-B888-D05BB431509C}"/>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423750" y="1192667"/>
                <a:ext cx="8541767" cy="4293163"/>
              </a:xfrm>
            </p:spPr>
            <p:txBody>
              <a:bodyPr/>
              <a:lstStyle/>
              <a:p>
                <a:pPr eaLnBrk="1" hangingPunct="1"/>
                <a:r>
                  <a:rPr lang="zh-CN" altLang="en-US" dirty="0">
                    <a:latin typeface="Times New Roman" panose="02020603050405020304" pitchFamily="18" charset="0"/>
                    <a:cs typeface="Times New Roman" panose="02020603050405020304" pitchFamily="18" charset="0"/>
                  </a:rPr>
                  <a:t>分支定界法步骤</a:t>
                </a:r>
                <a:r>
                  <a:rPr lang="en-US" altLang="zh-CN" dirty="0">
                    <a:latin typeface="Times New Roman" panose="02020603050405020304" pitchFamily="18" charset="0"/>
                    <a:cs typeface="Times New Roman" panose="02020603050405020304" pitchFamily="18" charset="0"/>
                  </a:rPr>
                  <a:t>:</a:t>
                </a:r>
              </a:p>
              <a:p>
                <a:pPr marL="0" indent="0" eaLnBrk="1" hangingPunct="1">
                  <a:buNone/>
                </a:pPr>
                <a:r>
                  <a:rPr lang="zh-CN" altLang="en-US" sz="1600" dirty="0">
                    <a:latin typeface="Times New Roman" panose="02020603050405020304" pitchFamily="18" charset="0"/>
                    <a:cs typeface="Times New Roman" panose="02020603050405020304" pitchFamily="18" charset="0"/>
                  </a:rPr>
                  <a:t>（将要求解的整数线性规划问题称为问题</a:t>
                </a:r>
                <a:r>
                  <a:rPr lang="en-US" altLang="zh-CN" sz="1600" dirty="0">
                    <a:latin typeface="Times New Roman" panose="02020603050405020304" pitchFamily="18" charset="0"/>
                    <a:cs typeface="Times New Roman" panose="02020603050405020304" pitchFamily="18" charset="0"/>
                  </a:rPr>
                  <a:t>A</a:t>
                </a:r>
                <a:r>
                  <a:rPr lang="zh-CN" altLang="en-US" sz="1600" dirty="0">
                    <a:latin typeface="Times New Roman" panose="02020603050405020304" pitchFamily="18" charset="0"/>
                    <a:cs typeface="Times New Roman" panose="02020603050405020304" pitchFamily="18" charset="0"/>
                  </a:rPr>
                  <a:t>，将与它相应的线性规划问题称为问题</a:t>
                </a:r>
                <a:r>
                  <a:rPr lang="en-US" altLang="zh-CN" sz="1600" dirty="0">
                    <a:latin typeface="Times New Roman" panose="02020603050405020304" pitchFamily="18" charset="0"/>
                    <a:cs typeface="Times New Roman" panose="02020603050405020304" pitchFamily="18" charset="0"/>
                  </a:rPr>
                  <a:t>B</a:t>
                </a:r>
                <a:r>
                  <a:rPr lang="zh-CN" altLang="en-US" sz="1600" dirty="0">
                    <a:latin typeface="Times New Roman" panose="02020603050405020304" pitchFamily="18" charset="0"/>
                    <a:cs typeface="Times New Roman" panose="02020603050405020304" pitchFamily="18" charset="0"/>
                  </a:rPr>
                  <a:t>）</a:t>
                </a:r>
              </a:p>
              <a:p>
                <a:pPr lvl="1" algn="just" eaLnBrk="1" hangingPunct="1"/>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初始定界：</a:t>
                </a:r>
                <a:endParaRPr lang="en-US" altLang="zh-CN" sz="2000" dirty="0">
                  <a:latin typeface="Times New Roman" panose="02020603050405020304" pitchFamily="18" charset="0"/>
                  <a:cs typeface="Times New Roman" panose="02020603050405020304" pitchFamily="18" charset="0"/>
                </a:endParaRPr>
              </a:p>
              <a:p>
                <a:pPr lvl="2" algn="just" eaLnBrk="1" hangingPunct="1"/>
                <a:r>
                  <a:rPr lang="zh-CN" altLang="en-US" dirty="0">
                    <a:latin typeface="Times New Roman" panose="02020603050405020304" pitchFamily="18" charset="0"/>
                    <a:cs typeface="Times New Roman" panose="02020603050405020304" pitchFamily="18" charset="0"/>
                  </a:rPr>
                  <a:t>求解问题</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的最优解，可能得到以下情况之一：</a:t>
                </a:r>
              </a:p>
              <a:p>
                <a:pPr marL="1295400" lvl="3" indent="0" algn="just" eaLnBrk="1" hangingPunct="1">
                  <a:buNone/>
                </a:pPr>
                <a:r>
                  <a:rPr lang="zh-CN" altLang="en-US" dirty="0">
                    <a:latin typeface="楷体" panose="02010609060101010101" pitchFamily="49" charset="-122"/>
                    <a:ea typeface="楷体" panose="02010609060101010101" pitchFamily="49" charset="-122"/>
                    <a:cs typeface="Times New Roman" panose="02020603050405020304" pitchFamily="18" charset="0"/>
                  </a:rPr>
                  <a:t>① </a:t>
                </a:r>
                <a:r>
                  <a:rPr lang="en-US" altLang="zh-CN" dirty="0">
                    <a:latin typeface="楷体" panose="02010609060101010101" pitchFamily="49" charset="-122"/>
                    <a:ea typeface="楷体" panose="02010609060101010101" pitchFamily="49" charset="-122"/>
                    <a:cs typeface="Times New Roman" panose="02020603050405020304" pitchFamily="18" charset="0"/>
                  </a:rPr>
                  <a:t>B</a:t>
                </a:r>
                <a:r>
                  <a:rPr lang="zh-CN" altLang="en-US" dirty="0">
                    <a:latin typeface="楷体" panose="02010609060101010101" pitchFamily="49" charset="-122"/>
                    <a:ea typeface="楷体" panose="02010609060101010101" pitchFamily="49" charset="-122"/>
                    <a:cs typeface="Times New Roman" panose="02020603050405020304" pitchFamily="18" charset="0"/>
                  </a:rPr>
                  <a:t>没有可行解，这时</a:t>
                </a:r>
                <a:r>
                  <a:rPr lang="en-US" altLang="zh-CN" dirty="0">
                    <a:latin typeface="楷体" panose="02010609060101010101" pitchFamily="49" charset="-122"/>
                    <a:ea typeface="楷体" panose="02010609060101010101" pitchFamily="49" charset="-122"/>
                    <a:cs typeface="Times New Roman" panose="02020603050405020304" pitchFamily="18" charset="0"/>
                  </a:rPr>
                  <a:t>A</a:t>
                </a:r>
                <a:r>
                  <a:rPr lang="zh-CN" altLang="en-US" dirty="0">
                    <a:latin typeface="楷体" panose="02010609060101010101" pitchFamily="49" charset="-122"/>
                    <a:ea typeface="楷体" panose="02010609060101010101" pitchFamily="49" charset="-122"/>
                    <a:cs typeface="Times New Roman" panose="02020603050405020304" pitchFamily="18" charset="0"/>
                  </a:rPr>
                  <a:t>也没有可行解，则停止。</a:t>
                </a:r>
              </a:p>
              <a:p>
                <a:pPr marL="1295400" lvl="3" indent="0" eaLnBrk="1" hangingPunct="1">
                  <a:buNone/>
                </a:pPr>
                <a:r>
                  <a:rPr lang="zh-CN" altLang="en-US" dirty="0">
                    <a:latin typeface="楷体" panose="02010609060101010101" pitchFamily="49" charset="-122"/>
                    <a:ea typeface="楷体" panose="02010609060101010101" pitchFamily="49" charset="-122"/>
                    <a:cs typeface="Times New Roman" panose="02020603050405020304" pitchFamily="18" charset="0"/>
                  </a:rPr>
                  <a:t>② </a:t>
                </a:r>
                <a:r>
                  <a:rPr lang="en-US" altLang="zh-CN" dirty="0">
                    <a:latin typeface="楷体" panose="02010609060101010101" pitchFamily="49" charset="-122"/>
                    <a:ea typeface="楷体" panose="02010609060101010101" pitchFamily="49" charset="-122"/>
                    <a:cs typeface="Times New Roman" panose="02020603050405020304" pitchFamily="18" charset="0"/>
                  </a:rPr>
                  <a:t>B</a:t>
                </a:r>
                <a:r>
                  <a:rPr lang="zh-CN" altLang="en-US" dirty="0">
                    <a:latin typeface="楷体" panose="02010609060101010101" pitchFamily="49" charset="-122"/>
                    <a:ea typeface="楷体" panose="02010609060101010101" pitchFamily="49" charset="-122"/>
                    <a:cs typeface="Times New Roman" panose="02020603050405020304" pitchFamily="18" charset="0"/>
                  </a:rPr>
                  <a:t>有最优解，并符合问题</a:t>
                </a:r>
                <a:r>
                  <a:rPr lang="en-US" altLang="zh-CN" dirty="0">
                    <a:latin typeface="楷体" panose="02010609060101010101" pitchFamily="49" charset="-122"/>
                    <a:ea typeface="楷体" panose="02010609060101010101" pitchFamily="49" charset="-122"/>
                    <a:cs typeface="Times New Roman" panose="02020603050405020304" pitchFamily="18" charset="0"/>
                  </a:rPr>
                  <a:t>A</a:t>
                </a:r>
                <a:r>
                  <a:rPr lang="zh-CN" altLang="en-US" dirty="0">
                    <a:latin typeface="楷体" panose="02010609060101010101" pitchFamily="49" charset="-122"/>
                    <a:ea typeface="楷体" panose="02010609060101010101" pitchFamily="49" charset="-122"/>
                    <a:cs typeface="Times New Roman" panose="02020603050405020304" pitchFamily="18" charset="0"/>
                  </a:rPr>
                  <a:t>的整数条件，</a:t>
                </a:r>
                <a:r>
                  <a:rPr lang="en-US" altLang="zh-CN" dirty="0">
                    <a:latin typeface="楷体" panose="02010609060101010101" pitchFamily="49" charset="-122"/>
                    <a:ea typeface="楷体" panose="02010609060101010101" pitchFamily="49" charset="-122"/>
                    <a:cs typeface="Times New Roman" panose="02020603050405020304" pitchFamily="18" charset="0"/>
                  </a:rPr>
                  <a:t>B</a:t>
                </a:r>
                <a:r>
                  <a:rPr lang="zh-CN" altLang="en-US" dirty="0">
                    <a:latin typeface="楷体" panose="02010609060101010101" pitchFamily="49" charset="-122"/>
                    <a:ea typeface="楷体" panose="02010609060101010101" pitchFamily="49" charset="-122"/>
                    <a:cs typeface="Times New Roman" panose="02020603050405020304" pitchFamily="18" charset="0"/>
                  </a:rPr>
                  <a:t>的最优解即为</a:t>
                </a:r>
                <a:r>
                  <a:rPr lang="en-US" altLang="zh-CN" dirty="0">
                    <a:latin typeface="楷体" panose="02010609060101010101" pitchFamily="49" charset="-122"/>
                    <a:ea typeface="楷体" panose="02010609060101010101" pitchFamily="49" charset="-122"/>
                    <a:cs typeface="Times New Roman" panose="02020603050405020304" pitchFamily="18" charset="0"/>
                  </a:rPr>
                  <a:t>A</a:t>
                </a:r>
                <a:r>
                  <a:rPr lang="zh-CN" altLang="en-US" dirty="0">
                    <a:latin typeface="楷体" panose="02010609060101010101" pitchFamily="49" charset="-122"/>
                    <a:ea typeface="楷体" panose="02010609060101010101" pitchFamily="49" charset="-122"/>
                    <a:cs typeface="Times New Roman" panose="02020603050405020304" pitchFamily="18" charset="0"/>
                  </a:rPr>
                  <a:t>的最优解，则停止。</a:t>
                </a:r>
              </a:p>
              <a:p>
                <a:pPr marL="1295400" lvl="3" indent="0" algn="just" eaLnBrk="1" hangingPunct="1">
                  <a:buNone/>
                </a:pPr>
                <a:r>
                  <a:rPr lang="zh-CN" altLang="en-US" dirty="0">
                    <a:latin typeface="楷体" panose="02010609060101010101" pitchFamily="49" charset="-122"/>
                    <a:ea typeface="楷体" panose="02010609060101010101" pitchFamily="49" charset="-122"/>
                    <a:cs typeface="Times New Roman" panose="02020603050405020304" pitchFamily="18" charset="0"/>
                  </a:rPr>
                  <a:t>③ </a:t>
                </a:r>
                <a:r>
                  <a:rPr lang="en-US" altLang="zh-CN" dirty="0">
                    <a:latin typeface="楷体" panose="02010609060101010101" pitchFamily="49" charset="-122"/>
                    <a:ea typeface="楷体" panose="02010609060101010101" pitchFamily="49" charset="-122"/>
                    <a:cs typeface="Times New Roman" panose="02020603050405020304" pitchFamily="18" charset="0"/>
                  </a:rPr>
                  <a:t>B</a:t>
                </a:r>
                <a:r>
                  <a:rPr lang="zh-CN" altLang="en-US" dirty="0">
                    <a:latin typeface="楷体" panose="02010609060101010101" pitchFamily="49" charset="-122"/>
                    <a:ea typeface="楷体" panose="02010609060101010101" pitchFamily="49" charset="-122"/>
                    <a:cs typeface="Times New Roman" panose="02020603050405020304" pitchFamily="18" charset="0"/>
                  </a:rPr>
                  <a:t>有最优解，但不符合问题</a:t>
                </a:r>
                <a:r>
                  <a:rPr lang="en-US" altLang="zh-CN" dirty="0">
                    <a:latin typeface="楷体" panose="02010609060101010101" pitchFamily="49" charset="-122"/>
                    <a:ea typeface="楷体" panose="02010609060101010101" pitchFamily="49" charset="-122"/>
                    <a:cs typeface="Times New Roman" panose="02020603050405020304" pitchFamily="18" charset="0"/>
                  </a:rPr>
                  <a:t>A</a:t>
                </a:r>
                <a:r>
                  <a:rPr lang="zh-CN" altLang="en-US" dirty="0">
                    <a:latin typeface="楷体" panose="02010609060101010101" pitchFamily="49" charset="-122"/>
                    <a:ea typeface="楷体" panose="02010609060101010101" pitchFamily="49" charset="-122"/>
                    <a:cs typeface="Times New Roman" panose="02020603050405020304" pitchFamily="18" charset="0"/>
                  </a:rPr>
                  <a:t>的整数条件，记它的目标函数值为</a:t>
                </a:r>
                <a14:m>
                  <m:oMath xmlns:m="http://schemas.openxmlformats.org/officeDocument/2006/math">
                    <m:bar>
                      <m:barPr>
                        <m:pos m:val="top"/>
                        <m:ctrlPr>
                          <a:rPr lang="en-US" altLang="zh-CN" i="1" dirty="0">
                            <a:latin typeface="Cambria Math" panose="02040503050406030204" pitchFamily="18" charset="0"/>
                            <a:cs typeface="Times New Roman" panose="02020603050405020304" pitchFamily="18" charset="0"/>
                          </a:rPr>
                        </m:ctrlPr>
                      </m:barPr>
                      <m:e>
                        <m:r>
                          <a:rPr lang="en-US" altLang="zh-CN" i="1" dirty="0">
                            <a:latin typeface="Cambria Math" panose="02040503050406030204" pitchFamily="18" charset="0"/>
                            <a:cs typeface="Times New Roman" panose="02020603050405020304" pitchFamily="18" charset="0"/>
                          </a:rPr>
                          <m:t>𝒛</m:t>
                        </m:r>
                      </m:e>
                    </m:bar>
                  </m:oMath>
                </a14:m>
                <a:r>
                  <a:rPr lang="en-US" altLang="zh-CN" baseline="-25000" dirty="0">
                    <a:latin typeface="楷体" panose="02010609060101010101" pitchFamily="49" charset="-122"/>
                    <a:ea typeface="楷体" panose="02010609060101010101" pitchFamily="49" charset="-122"/>
                    <a:cs typeface="Times New Roman" panose="02020603050405020304" pitchFamily="18" charset="0"/>
                  </a:rPr>
                  <a:t>0</a:t>
                </a:r>
                <a:r>
                  <a:rPr lang="zh-CN" altLang="en-US" dirty="0">
                    <a:latin typeface="楷体" panose="02010609060101010101" pitchFamily="49" charset="-122"/>
                    <a:ea typeface="楷体" panose="02010609060101010101" pitchFamily="49" charset="-122"/>
                    <a:cs typeface="Times New Roman" panose="02020603050405020304" pitchFamily="18" charset="0"/>
                  </a:rPr>
                  <a:t>      </a:t>
                </a:r>
              </a:p>
              <a:p>
                <a:pPr lvl="2" algn="just" eaLnBrk="1" hangingPunct="1"/>
                <a:r>
                  <a:rPr lang="zh-CN" altLang="en-US" dirty="0">
                    <a:latin typeface="Times New Roman" panose="02020603050405020304" pitchFamily="18" charset="0"/>
                    <a:cs typeface="Times New Roman" panose="02020603050405020304" pitchFamily="18" charset="0"/>
                  </a:rPr>
                  <a:t>用观察法找问题</a:t>
                </a: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的一个整数可行解，一般可取</a:t>
                </a:r>
                <a:r>
                  <a:rPr lang="en-US" altLang="zh-CN" i="1" dirty="0" err="1">
                    <a:latin typeface="Times New Roman" panose="02020603050405020304" pitchFamily="18" charset="0"/>
                    <a:cs typeface="Times New Roman" panose="02020603050405020304" pitchFamily="18" charset="0"/>
                  </a:rPr>
                  <a:t>x</a:t>
                </a:r>
                <a:r>
                  <a:rPr lang="en-US" altLang="zh-CN" i="1" baseline="-30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，试探，求得其目标函数值，并记作</a:t>
                </a:r>
                <a14:m>
                  <m:oMath xmlns:m="http://schemas.openxmlformats.org/officeDocument/2006/math">
                    <m:bar>
                      <m:barPr>
                        <m:ctrlPr>
                          <a:rPr lang="zh-CN" altLang="en-US" i="1" smtClean="0">
                            <a:latin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cs typeface="Times New Roman" panose="02020603050405020304" pitchFamily="18" charset="0"/>
                          </a:rPr>
                          <m:t>𝒛</m:t>
                        </m:r>
                      </m:e>
                    </m:bar>
                  </m:oMath>
                </a14:m>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2" algn="just" eaLnBrk="1" hangingPunct="1"/>
                <a:r>
                  <a:rPr lang="zh-CN" altLang="en-US" dirty="0">
                    <a:latin typeface="Times New Roman" panose="02020603050405020304" pitchFamily="18" charset="0"/>
                    <a:cs typeface="Times New Roman" panose="02020603050405020304" pitchFamily="18" charset="0"/>
                  </a:rPr>
                  <a:t>以</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表示问题</a:t>
                </a: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的最优目标函数值；这时有：</a:t>
                </a:r>
                <a14:m>
                  <m:oMath xmlns:m="http://schemas.openxmlformats.org/officeDocument/2006/math">
                    <m:bar>
                      <m:barPr>
                        <m:ctrlPr>
                          <a:rPr lang="zh-CN" altLang="en-US" i="1">
                            <a:latin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cs typeface="Times New Roman" panose="02020603050405020304" pitchFamily="18" charset="0"/>
                          </a:rPr>
                          <m:t>𝒛</m:t>
                        </m:r>
                      </m:e>
                    </m:bar>
                    <m:r>
                      <a:rPr lang="en-US" altLang="zh-CN"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𝒛</m:t>
                        </m:r>
                      </m:e>
                      <m:sup>
                        <m: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i="1" smtClean="0">
                        <a:latin typeface="Cambria Math" panose="02040503050406030204" pitchFamily="18" charset="0"/>
                        <a:ea typeface="Cambria Math" panose="02040503050406030204" pitchFamily="18" charset="0"/>
                        <a:cs typeface="Times New Roman" panose="02020603050405020304" pitchFamily="18" charset="0"/>
                      </a:rPr>
                      <m:t>≤</m:t>
                    </m:r>
                    <m:bar>
                      <m:barPr>
                        <m:pos m:val="top"/>
                        <m:ctrlPr>
                          <a:rPr lang="en-US" altLang="zh-CN" i="1" dirty="0">
                            <a:latin typeface="Cambria Math" panose="02040503050406030204" pitchFamily="18" charset="0"/>
                            <a:cs typeface="Times New Roman" panose="02020603050405020304" pitchFamily="18" charset="0"/>
                          </a:rPr>
                        </m:ctrlPr>
                      </m:barPr>
                      <m:e>
                        <m:r>
                          <a:rPr lang="en-US" altLang="zh-CN" i="1" dirty="0">
                            <a:latin typeface="Cambria Math" panose="02040503050406030204" pitchFamily="18" charset="0"/>
                            <a:cs typeface="Times New Roman" panose="02020603050405020304" pitchFamily="18" charset="0"/>
                          </a:rPr>
                          <m:t>𝒛</m:t>
                        </m:r>
                      </m:e>
                    </m:bar>
                    <m:r>
                      <m:rPr>
                        <m:nor/>
                      </m:rPr>
                      <a:rPr lang="en-US" altLang="zh-CN" baseline="-25000" dirty="0">
                        <a:latin typeface="Times New Roman" panose="02020603050405020304" pitchFamily="18" charset="0"/>
                        <a:cs typeface="Times New Roman" panose="02020603050405020304" pitchFamily="18" charset="0"/>
                      </a:rPr>
                      <m:t>0</m:t>
                    </m:r>
                  </m:oMath>
                </a14:m>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423750" y="1192667"/>
                <a:ext cx="8541767" cy="4293163"/>
              </a:xfrm>
              <a:blipFill>
                <a:blip r:embed="rId2"/>
                <a:stretch>
                  <a:fillRect l="-428" t="-1563" r="-714" b="-1420"/>
                </a:stretch>
              </a:blipFill>
            </p:spPr>
            <p:txBody>
              <a:bodyPr/>
              <a:lstStyle/>
              <a:p>
                <a:r>
                  <a:rPr lang="zh-CN" altLang="en-US">
                    <a:noFill/>
                  </a:rPr>
                  <a:t> </a:t>
                </a:r>
              </a:p>
            </p:txBody>
          </p:sp>
        </mc:Fallback>
      </mc:AlternateContent>
      <p:sp>
        <p:nvSpPr>
          <p:cNvPr id="24579" name="灯片编号占位符 5">
            <a:extLst>
              <a:ext uri="{FF2B5EF4-FFF2-40B4-BE49-F238E27FC236}">
                <a16:creationId xmlns:a16="http://schemas.microsoft.com/office/drawing/2014/main" id="{1FF07765-200E-49FA-96ED-71F308613F9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9354513-A45E-4379-A60A-350D91DB417D}" type="slidenum">
              <a:rPr lang="en-US" altLang="zh-CN" sz="1000" smtClean="0"/>
              <a:pPr>
                <a:spcBef>
                  <a:spcPct val="0"/>
                </a:spcBef>
                <a:buClrTx/>
                <a:buSzTx/>
                <a:buFontTx/>
                <a:buNone/>
              </a:pPr>
              <a:t>10</a:t>
            </a:fld>
            <a:endParaRPr lang="en-US" altLang="zh-CN" sz="1000"/>
          </a:p>
        </p:txBody>
      </p:sp>
      <p:sp>
        <p:nvSpPr>
          <p:cNvPr id="24581" name="Rectangle 3">
            <a:extLst>
              <a:ext uri="{FF2B5EF4-FFF2-40B4-BE49-F238E27FC236}">
                <a16:creationId xmlns:a16="http://schemas.microsoft.com/office/drawing/2014/main" id="{83E68F8A-DB72-42BF-A973-245F1D8F8992}"/>
              </a:ext>
            </a:extLst>
          </p:cNvPr>
          <p:cNvSpPr>
            <a:spLocks noChangeArrowheads="1"/>
          </p:cNvSpPr>
          <p:nvPr/>
        </p:nvSpPr>
        <p:spPr bwMode="auto">
          <a:xfrm>
            <a:off x="28575" y="1563688"/>
            <a:ext cx="88201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latin typeface="Times New Roman" panose="02020603050405020304" pitchFamily="18" charset="0"/>
              <a:cs typeface="Times New Roman" panose="02020603050405020304" pitchFamily="18" charset="0"/>
            </a:endParaRPr>
          </a:p>
        </p:txBody>
      </p:sp>
      <p:sp>
        <p:nvSpPr>
          <p:cNvPr id="24582" name="Rectangle 9">
            <a:extLst>
              <a:ext uri="{FF2B5EF4-FFF2-40B4-BE49-F238E27FC236}">
                <a16:creationId xmlns:a16="http://schemas.microsoft.com/office/drawing/2014/main" id="{EFB4F3F4-D53B-471D-ADDA-DAF606AF523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14022318-EA9A-4340-A053-641891EE4048}"/>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494729" y="1196752"/>
                <a:ext cx="8469759" cy="3921202"/>
              </a:xfrm>
            </p:spPr>
            <p:txBody>
              <a:bodyPr/>
              <a:lstStyle/>
              <a:p>
                <a:pPr eaLnBrk="1" hangingPunct="1"/>
                <a:r>
                  <a:rPr lang="zh-CN" altLang="en-US" dirty="0">
                    <a:latin typeface="Times New Roman" panose="02020603050405020304" pitchFamily="18" charset="0"/>
                    <a:cs typeface="Times New Roman" panose="02020603050405020304" pitchFamily="18" charset="0"/>
                  </a:rPr>
                  <a:t>分支定界法步骤</a:t>
                </a:r>
                <a:r>
                  <a:rPr lang="en-US" altLang="zh-CN" dirty="0">
                    <a:latin typeface="Times New Roman" panose="02020603050405020304" pitchFamily="18" charset="0"/>
                    <a:cs typeface="Times New Roman" panose="02020603050405020304" pitchFamily="18" charset="0"/>
                  </a:rPr>
                  <a:t>:</a:t>
                </a:r>
              </a:p>
              <a:p>
                <a:pPr lvl="1" eaLnBrk="1" hangingPunct="1"/>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）分支</a:t>
                </a:r>
                <a:endParaRPr lang="en-US" altLang="zh-CN" sz="2000" dirty="0">
                  <a:latin typeface="Times New Roman" panose="02020603050405020304" pitchFamily="18" charset="0"/>
                  <a:cs typeface="Times New Roman" panose="02020603050405020304" pitchFamily="18" charset="0"/>
                </a:endParaRPr>
              </a:p>
              <a:p>
                <a:pPr lvl="2" eaLnBrk="1" hangingPunct="1"/>
                <a:r>
                  <a:rPr lang="zh-CN" altLang="en-US" dirty="0">
                    <a:latin typeface="Times New Roman" panose="02020603050405020304" pitchFamily="18" charset="0"/>
                    <a:cs typeface="Times New Roman" panose="02020603050405020304" pitchFamily="18" charset="0"/>
                  </a:rPr>
                  <a:t>问题</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最优解中</a:t>
                </a:r>
                <a:r>
                  <a:rPr lang="zh-CN" altLang="en-US" dirty="0">
                    <a:solidFill>
                      <a:srgbClr val="FF0000"/>
                    </a:solidFill>
                    <a:latin typeface="Times New Roman" panose="02020603050405020304" pitchFamily="18" charset="0"/>
                    <a:cs typeface="Times New Roman" panose="02020603050405020304" pitchFamily="18" charset="0"/>
                  </a:rPr>
                  <a:t>任选</a:t>
                </a:r>
                <a:r>
                  <a:rPr lang="zh-CN" altLang="en-US" dirty="0">
                    <a:latin typeface="Times New Roman" panose="02020603050405020304" pitchFamily="18" charset="0"/>
                    <a:cs typeface="Times New Roman" panose="02020603050405020304" pitchFamily="18" charset="0"/>
                  </a:rPr>
                  <a:t>一个不符合整数条件的变量</a:t>
                </a:r>
                <a:r>
                  <a:rPr lang="en-US" altLang="zh-CN" i="1" dirty="0" err="1">
                    <a:latin typeface="Times New Roman" panose="02020603050405020304" pitchFamily="18" charset="0"/>
                    <a:cs typeface="Times New Roman" panose="02020603050405020304" pitchFamily="18" charset="0"/>
                  </a:rPr>
                  <a:t>x</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，其值为</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，添加约束将</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分成两个子问题（</a:t>
                </a:r>
                <a:r>
                  <a:rPr lang="zh-CN" altLang="en-US" dirty="0">
                    <a:cs typeface="Times New Roman" panose="02020603050405020304" pitchFamily="18" charset="0"/>
                  </a:rPr>
                  <a:t>后继问题</a:t>
                </a:r>
                <a:r>
                  <a:rPr lang="zh-CN" altLang="en-US" dirty="0">
                    <a:latin typeface="Times New Roman" panose="02020603050405020304" pitchFamily="18" charset="0"/>
                    <a:cs typeface="Times New Roman" panose="02020603050405020304" pitchFamily="18" charset="0"/>
                  </a:rPr>
                  <a:t>）</a:t>
                </a:r>
                <a:r>
                  <a:rPr lang="en-US" altLang="zh-CN" dirty="0">
                    <a:cs typeface="Times New Roman" panose="02020603050405020304" pitchFamily="18" charset="0"/>
                  </a:rPr>
                  <a:t>B</a:t>
                </a:r>
                <a:r>
                  <a:rPr lang="en-US" altLang="zh-CN" baseline="-25000" dirty="0">
                    <a:cs typeface="Times New Roman" panose="02020603050405020304" pitchFamily="18" charset="0"/>
                  </a:rPr>
                  <a:t>1</a:t>
                </a:r>
                <a:r>
                  <a:rPr lang="zh-CN" altLang="en-US" dirty="0">
                    <a:cs typeface="Times New Roman" panose="02020603050405020304" pitchFamily="18" charset="0"/>
                  </a:rPr>
                  <a:t>和</a:t>
                </a:r>
                <a:r>
                  <a:rPr lang="en-US" altLang="zh-CN" dirty="0">
                    <a:cs typeface="Times New Roman" panose="02020603050405020304" pitchFamily="18" charset="0"/>
                  </a:rPr>
                  <a:t>B</a:t>
                </a:r>
                <a:r>
                  <a:rPr lang="en-US" altLang="zh-CN" baseline="-25000" dirty="0">
                    <a:cs typeface="Times New Roman" panose="02020603050405020304" pitchFamily="18" charset="0"/>
                  </a:rPr>
                  <a:t>2</a:t>
                </a:r>
                <a:r>
                  <a:rPr lang="zh-CN" altLang="en-US" dirty="0">
                    <a:cs typeface="Times New Roman" panose="02020603050405020304" pitchFamily="18" charset="0"/>
                  </a:rPr>
                  <a:t>，不考虑整数约束求解后继问题</a:t>
                </a:r>
                <a:r>
                  <a:rPr lang="en-US" altLang="zh-CN" dirty="0">
                    <a:cs typeface="Times New Roman" panose="02020603050405020304" pitchFamily="18" charset="0"/>
                  </a:rPr>
                  <a:t>B</a:t>
                </a:r>
                <a:r>
                  <a:rPr lang="en-US" altLang="zh-CN" baseline="-25000" dirty="0">
                    <a:cs typeface="Times New Roman" panose="02020603050405020304" pitchFamily="18" charset="0"/>
                  </a:rPr>
                  <a:t>1</a:t>
                </a:r>
                <a:r>
                  <a:rPr lang="zh-CN" altLang="en-US" dirty="0">
                    <a:cs typeface="Times New Roman" panose="02020603050405020304" pitchFamily="18" charset="0"/>
                  </a:rPr>
                  <a:t>和</a:t>
                </a:r>
                <a:r>
                  <a:rPr lang="en-US" altLang="zh-CN" dirty="0">
                    <a:cs typeface="Times New Roman" panose="02020603050405020304" pitchFamily="18" charset="0"/>
                  </a:rPr>
                  <a:t>B</a:t>
                </a:r>
                <a:r>
                  <a:rPr lang="en-US" altLang="zh-CN" baseline="-25000" dirty="0">
                    <a:cs typeface="Times New Roman" panose="02020603050405020304" pitchFamily="18" charset="0"/>
                  </a:rPr>
                  <a:t>2</a:t>
                </a:r>
                <a:r>
                  <a:rPr lang="zh-CN" altLang="en-US" dirty="0">
                    <a:cs typeface="Times New Roman" panose="02020603050405020304" pitchFamily="18" charset="0"/>
                  </a:rPr>
                  <a:t>的最优解。</a:t>
                </a:r>
                <a:endParaRPr lang="en-US" altLang="zh-CN" dirty="0">
                  <a:cs typeface="Times New Roman" panose="02020603050405020304" pitchFamily="18" charset="0"/>
                </a:endParaRPr>
              </a:p>
              <a:p>
                <a:pPr marL="890588" lvl="2" indent="0" eaLnBrk="1" hangingPunct="1">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以［</a:t>
                </a:r>
                <a:r>
                  <a:rPr lang="en-US" altLang="zh-CN" i="1" dirty="0" err="1">
                    <a:latin typeface="Times New Roman" panose="02020603050405020304" pitchFamily="18" charset="0"/>
                    <a:cs typeface="Times New Roman" panose="02020603050405020304" pitchFamily="18" charset="0"/>
                  </a:rPr>
                  <a:t>b</a:t>
                </a:r>
                <a:r>
                  <a:rPr lang="en-US" altLang="zh-CN" i="1" baseline="-30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］表示小于</a:t>
                </a:r>
                <a:r>
                  <a:rPr lang="en-US" altLang="zh-CN" i="1" dirty="0" err="1">
                    <a:latin typeface="Times New Roman" panose="02020603050405020304" pitchFamily="18" charset="0"/>
                    <a:cs typeface="Times New Roman" panose="02020603050405020304" pitchFamily="18" charset="0"/>
                  </a:rPr>
                  <a:t>b</a:t>
                </a:r>
                <a:r>
                  <a:rPr lang="en-US" altLang="zh-CN" i="1" baseline="-30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的最大整数。构造的两个约束条件为：</a:t>
                </a:r>
                <a:endParaRPr lang="en-US" altLang="zh-CN" dirty="0">
                  <a:latin typeface="Times New Roman" panose="02020603050405020304" pitchFamily="18" charset="0"/>
                  <a:cs typeface="Times New Roman" panose="02020603050405020304" pitchFamily="18" charset="0"/>
                </a:endParaRPr>
              </a:p>
              <a:p>
                <a:pPr marL="1277938" lvl="3" indent="0" algn="just" eaLnBrk="1" hangingPunct="1">
                  <a:buNone/>
                </a:pP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x</a:t>
                </a:r>
                <a:r>
                  <a:rPr lang="en-US" altLang="zh-CN" i="1" baseline="-30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b</a:t>
                </a:r>
                <a:r>
                  <a:rPr lang="en-US" altLang="zh-CN" i="1" baseline="-30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］和</a:t>
                </a:r>
                <a:r>
                  <a:rPr lang="en-US" altLang="zh-CN" i="1" dirty="0" err="1">
                    <a:latin typeface="Times New Roman" panose="02020603050405020304" pitchFamily="18" charset="0"/>
                    <a:cs typeface="Times New Roman" panose="02020603050405020304" pitchFamily="18" charset="0"/>
                  </a:rPr>
                  <a:t>x</a:t>
                </a:r>
                <a:r>
                  <a:rPr lang="en-US" altLang="zh-CN" i="1" baseline="-30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b</a:t>
                </a:r>
                <a:r>
                  <a:rPr lang="en-US" altLang="zh-CN" i="1" baseline="-30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p>
              <a:p>
                <a:pPr lvl="1" eaLnBrk="1" hangingPunct="1"/>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）定界</a:t>
                </a:r>
                <a:endParaRPr lang="en-US" altLang="zh-CN" sz="2000" dirty="0">
                  <a:latin typeface="Times New Roman" panose="02020603050405020304" pitchFamily="18" charset="0"/>
                  <a:cs typeface="Times New Roman" panose="02020603050405020304" pitchFamily="18" charset="0"/>
                </a:endParaRPr>
              </a:p>
              <a:p>
                <a:pPr lvl="2" algn="just" eaLnBrk="1" hangingPunct="1"/>
                <a:r>
                  <a:rPr lang="zh-CN" altLang="en-US" dirty="0">
                    <a:latin typeface="楷体" panose="02010609060101010101" pitchFamily="49" charset="-122"/>
                    <a:ea typeface="楷体" panose="02010609060101010101" pitchFamily="49" charset="-122"/>
                    <a:cs typeface="Times New Roman" panose="02020603050405020304" pitchFamily="18" charset="0"/>
                  </a:rPr>
                  <a:t>比较各个后继问题的解，将</a:t>
                </a:r>
                <a:r>
                  <a:rPr lang="zh-CN" altLang="en-US"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最优目标函数值的最大值</a:t>
                </a:r>
                <a:r>
                  <a:rPr lang="zh-CN" altLang="en-US" dirty="0">
                    <a:latin typeface="楷体" panose="02010609060101010101" pitchFamily="49" charset="-122"/>
                    <a:ea typeface="楷体" panose="02010609060101010101" pitchFamily="49" charset="-122"/>
                    <a:cs typeface="Times New Roman" panose="02020603050405020304" pitchFamily="18" charset="0"/>
                  </a:rPr>
                  <a:t>作为新的上界</a:t>
                </a:r>
                <a14:m>
                  <m:oMath xmlns:m="http://schemas.openxmlformats.org/officeDocument/2006/math">
                    <m:bar>
                      <m:barPr>
                        <m:pos m:val="top"/>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ea typeface="Cambria Math" panose="02040503050406030204" pitchFamily="18" charset="0"/>
                            <a:cs typeface="Times New Roman" panose="02020603050405020304" pitchFamily="18" charset="0"/>
                          </a:rPr>
                          <m:t>𝒛</m:t>
                        </m:r>
                      </m:e>
                    </m:bar>
                  </m:oMath>
                </a14:m>
                <a:r>
                  <a:rPr lang="zh-CN" altLang="en-US" dirty="0">
                    <a:latin typeface="楷体" panose="02010609060101010101" pitchFamily="49" charset="-122"/>
                    <a:ea typeface="楷体" panose="02010609060101010101" pitchFamily="49" charset="-122"/>
                    <a:cs typeface="Times New Roman" panose="02020603050405020304" pitchFamily="18" charset="0"/>
                  </a:rPr>
                  <a:t>。将各后继问题</a:t>
                </a:r>
                <a:r>
                  <a:rPr lang="zh-CN" altLang="en-US"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满足整数条件的解中的最大者</a:t>
                </a:r>
                <a:r>
                  <a:rPr lang="zh-CN" altLang="en-US" dirty="0">
                    <a:latin typeface="楷体" panose="02010609060101010101" pitchFamily="49" charset="-122"/>
                    <a:ea typeface="楷体" panose="02010609060101010101" pitchFamily="49" charset="-122"/>
                    <a:cs typeface="Times New Roman" panose="02020603050405020304" pitchFamily="18" charset="0"/>
                  </a:rPr>
                  <a:t>作为新的下界</a:t>
                </a:r>
                <a14:m>
                  <m:oMath xmlns:m="http://schemas.openxmlformats.org/officeDocument/2006/math">
                    <m:bar>
                      <m:barPr>
                        <m:ctrlPr>
                          <a:rPr lang="zh-CN" altLang="en-US" i="1">
                            <a:latin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cs typeface="Times New Roman" panose="02020603050405020304" pitchFamily="18" charset="0"/>
                          </a:rPr>
                          <m:t>𝒛</m:t>
                        </m:r>
                      </m:e>
                    </m:bar>
                  </m:oMath>
                </a14:m>
                <a:r>
                  <a:rPr lang="zh-CN" altLang="en-US" dirty="0">
                    <a:latin typeface="楷体" panose="02010609060101010101" pitchFamily="49" charset="-122"/>
                    <a:ea typeface="楷体" panose="02010609060101010101" pitchFamily="49" charset="-122"/>
                    <a:cs typeface="Times New Roman" panose="02020603050405020304" pitchFamily="18" charset="0"/>
                  </a:rPr>
                  <a:t>，若无可行解，</a:t>
                </a:r>
                <a14:m>
                  <m:oMath xmlns:m="http://schemas.openxmlformats.org/officeDocument/2006/math">
                    <m:bar>
                      <m:barPr>
                        <m:ctrlPr>
                          <a:rPr lang="zh-CN" altLang="en-US" i="1">
                            <a:latin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cs typeface="Times New Roman" panose="02020603050405020304" pitchFamily="18" charset="0"/>
                          </a:rPr>
                          <m:t>𝒛</m:t>
                        </m:r>
                      </m:e>
                    </m:bar>
                  </m:oMath>
                </a14:m>
                <a:r>
                  <a:rPr lang="en-US" altLang="zh-CN" dirty="0">
                    <a:latin typeface="楷体" panose="02010609060101010101" pitchFamily="49" charset="-122"/>
                    <a:ea typeface="楷体" panose="02010609060101010101" pitchFamily="49" charset="-122"/>
                    <a:cs typeface="Times New Roman" panose="02020603050405020304" pitchFamily="18" charset="0"/>
                  </a:rPr>
                  <a:t>=0</a:t>
                </a:r>
                <a:r>
                  <a:rPr lang="zh-CN" altLang="en-US" dirty="0">
                    <a:latin typeface="楷体" panose="02010609060101010101" pitchFamily="49" charset="-122"/>
                    <a:ea typeface="楷体" panose="02010609060101010101" pitchFamily="49" charset="-122"/>
                    <a:cs typeface="Times New Roman" panose="02020603050405020304" pitchFamily="18" charset="0"/>
                  </a:rPr>
                  <a:t>。</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494729" y="1196752"/>
                <a:ext cx="8469759" cy="3921202"/>
              </a:xfrm>
              <a:blipFill>
                <a:blip r:embed="rId2"/>
                <a:stretch>
                  <a:fillRect l="-288" t="-1708" r="-719" b="-932"/>
                </a:stretch>
              </a:blipFill>
            </p:spPr>
            <p:txBody>
              <a:bodyPr/>
              <a:lstStyle/>
              <a:p>
                <a:r>
                  <a:rPr lang="zh-CN" altLang="en-US">
                    <a:noFill/>
                  </a:rPr>
                  <a:t> </a:t>
                </a:r>
              </a:p>
            </p:txBody>
          </p:sp>
        </mc:Fallback>
      </mc:AlternateContent>
      <p:sp>
        <p:nvSpPr>
          <p:cNvPr id="25603" name="灯片编号占位符 5">
            <a:extLst>
              <a:ext uri="{FF2B5EF4-FFF2-40B4-BE49-F238E27FC236}">
                <a16:creationId xmlns:a16="http://schemas.microsoft.com/office/drawing/2014/main" id="{FC9B58E0-4DA7-494B-B307-E63D9E43860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ED76195-5BD1-4775-B226-7A49548E1B3B}" type="slidenum">
              <a:rPr lang="en-US" altLang="zh-CN" sz="1000" smtClean="0"/>
              <a:pPr>
                <a:spcBef>
                  <a:spcPct val="0"/>
                </a:spcBef>
                <a:buClrTx/>
                <a:buSzTx/>
                <a:buFontTx/>
                <a:buNone/>
              </a:pPr>
              <a:t>11</a:t>
            </a:fld>
            <a:endParaRPr lang="en-US" altLang="zh-CN" sz="1000"/>
          </a:p>
        </p:txBody>
      </p:sp>
      <p:sp>
        <p:nvSpPr>
          <p:cNvPr id="25605" name="Rectangle 3">
            <a:extLst>
              <a:ext uri="{FF2B5EF4-FFF2-40B4-BE49-F238E27FC236}">
                <a16:creationId xmlns:a16="http://schemas.microsoft.com/office/drawing/2014/main" id="{8D04FB1E-D667-4F2D-A702-4B416BA640F4}"/>
              </a:ext>
            </a:extLst>
          </p:cNvPr>
          <p:cNvSpPr>
            <a:spLocks noChangeArrowheads="1"/>
          </p:cNvSpPr>
          <p:nvPr/>
        </p:nvSpPr>
        <p:spPr bwMode="auto">
          <a:xfrm>
            <a:off x="142875" y="1557338"/>
            <a:ext cx="82089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latin typeface="Times New Roman" panose="02020603050405020304" pitchFamily="18" charset="0"/>
              <a:cs typeface="Times New Roman" panose="02020603050405020304" pitchFamily="18" charset="0"/>
            </a:endParaRPr>
          </a:p>
        </p:txBody>
      </p:sp>
      <p:sp>
        <p:nvSpPr>
          <p:cNvPr id="25607" name="Rectangle 26">
            <a:extLst>
              <a:ext uri="{FF2B5EF4-FFF2-40B4-BE49-F238E27FC236}">
                <a16:creationId xmlns:a16="http://schemas.microsoft.com/office/drawing/2014/main" id="{9F1DB665-789E-48A6-94D3-E7320E4D9BFA}"/>
              </a:ext>
            </a:extLst>
          </p:cNvPr>
          <p:cNvSpPr>
            <a:spLocks noChangeArrowheads="1"/>
          </p:cNvSpPr>
          <p:nvPr/>
        </p:nvSpPr>
        <p:spPr bwMode="auto">
          <a:xfrm>
            <a:off x="10795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25609" name="Rectangle 28">
            <a:extLst>
              <a:ext uri="{FF2B5EF4-FFF2-40B4-BE49-F238E27FC236}">
                <a16:creationId xmlns:a16="http://schemas.microsoft.com/office/drawing/2014/main" id="{1E217F2D-A276-4C29-BE78-5F0A14A02C4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62EA233F-15E1-4A6F-A7AB-81D34930EBE6}"/>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6.2 </a:t>
            </a:r>
            <a:r>
              <a:rPr lang="zh-CN" altLang="en-US" dirty="0">
                <a:latin typeface="Arial" panose="020B0604020202020204" pitchFamily="34" charset="0"/>
              </a:rPr>
              <a:t>分支定界解法</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494729" y="1196752"/>
                <a:ext cx="8469759" cy="4652684"/>
              </a:xfrm>
            </p:spPr>
            <p:txBody>
              <a:bodyPr/>
              <a:lstStyle/>
              <a:p>
                <a:pPr eaLnBrk="1" hangingPunct="1"/>
                <a:r>
                  <a:rPr lang="zh-CN" altLang="en-US" dirty="0">
                    <a:latin typeface="Times New Roman" panose="02020603050405020304" pitchFamily="18" charset="0"/>
                    <a:cs typeface="Times New Roman" panose="02020603050405020304" pitchFamily="18" charset="0"/>
                  </a:rPr>
                  <a:t>分支定界法步骤</a:t>
                </a:r>
                <a:r>
                  <a:rPr lang="en-US" altLang="zh-CN" dirty="0">
                    <a:latin typeface="Times New Roman" panose="02020603050405020304" pitchFamily="18" charset="0"/>
                    <a:cs typeface="Times New Roman" panose="02020603050405020304" pitchFamily="18" charset="0"/>
                  </a:rPr>
                  <a:t>:</a:t>
                </a:r>
              </a:p>
              <a:p>
                <a:pPr lvl="1" algn="just" eaLnBrk="1" hangingPunct="1"/>
                <a:r>
                  <a:rPr lang="zh-CN" altLang="en-US" sz="2000" dirty="0">
                    <a:cs typeface="Times New Roman" panose="02020603050405020304" pitchFamily="18" charset="0"/>
                  </a:rPr>
                  <a:t>（</a:t>
                </a:r>
                <a:r>
                  <a:rPr lang="en-US" altLang="zh-CN" sz="2000" dirty="0">
                    <a:cs typeface="Times New Roman" panose="02020603050405020304" pitchFamily="18" charset="0"/>
                  </a:rPr>
                  <a:t>4</a:t>
                </a:r>
                <a:r>
                  <a:rPr lang="zh-CN" altLang="en-US" sz="2000" dirty="0">
                    <a:cs typeface="Times New Roman" panose="02020603050405020304" pitchFamily="18" charset="0"/>
                  </a:rPr>
                  <a:t>）剪枝</a:t>
                </a:r>
                <a:endParaRPr lang="en-US" altLang="zh-CN" sz="2000" dirty="0">
                  <a:cs typeface="Times New Roman" panose="02020603050405020304" pitchFamily="18" charset="0"/>
                </a:endParaRPr>
              </a:p>
              <a:p>
                <a:pPr lvl="2" algn="just" eaLnBrk="1" hangingPunct="1"/>
                <a:r>
                  <a:rPr lang="zh-CN" altLang="en-US" dirty="0">
                    <a:cs typeface="Times New Roman" panose="02020603050405020304" pitchFamily="18" charset="0"/>
                  </a:rPr>
                  <a:t>比较各个后继问题的最优目标函数值，若小于</a:t>
                </a:r>
                <a14:m>
                  <m:oMath xmlns:m="http://schemas.openxmlformats.org/officeDocument/2006/math">
                    <m:bar>
                      <m:barPr>
                        <m:ctrlPr>
                          <a:rPr lang="zh-CN" altLang="en-US" i="1">
                            <a:latin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cs typeface="Times New Roman" panose="02020603050405020304" pitchFamily="18" charset="0"/>
                          </a:rPr>
                          <m:t>𝒛</m:t>
                        </m:r>
                      </m:e>
                    </m:bar>
                  </m:oMath>
                </a14:m>
                <a:r>
                  <a:rPr lang="zh-CN" altLang="en-US" dirty="0">
                    <a:cs typeface="Times New Roman" panose="02020603050405020304" pitchFamily="18" charset="0"/>
                  </a:rPr>
                  <a:t>，或无可行解，</a:t>
                </a:r>
                <a:r>
                  <a:rPr lang="zh-CN" altLang="en-US" dirty="0">
                    <a:latin typeface="Times New Roman" panose="02020603050405020304" pitchFamily="18" charset="0"/>
                    <a:cs typeface="Times New Roman" panose="02020603050405020304" pitchFamily="18" charset="0"/>
                  </a:rPr>
                  <a:t>则剪掉这支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用打</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表示</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，即以后不再考虑了。 </a:t>
                </a:r>
                <a:endParaRPr lang="en-US" altLang="zh-CN" dirty="0">
                  <a:latin typeface="Times New Roman" panose="02020603050405020304" pitchFamily="18" charset="0"/>
                  <a:cs typeface="Times New Roman" panose="02020603050405020304" pitchFamily="18" charset="0"/>
                </a:endParaRPr>
              </a:p>
              <a:p>
                <a:pPr lvl="2" algn="just" eaLnBrk="1" hangingPunct="1"/>
                <a:r>
                  <a:rPr lang="zh-CN" altLang="en-US" b="0" dirty="0">
                    <a:latin typeface="Times New Roman" panose="02020603050405020304" pitchFamily="18" charset="0"/>
                    <a:cs typeface="Times New Roman" panose="02020603050405020304" pitchFamily="18" charset="0"/>
                  </a:rPr>
                  <a:t>若大于</a:t>
                </a:r>
                <a14:m>
                  <m:oMath xmlns:m="http://schemas.openxmlformats.org/officeDocument/2006/math">
                    <m:bar>
                      <m:barPr>
                        <m:ctrlPr>
                          <a:rPr lang="zh-CN" altLang="en-US" i="1">
                            <a:latin typeface="Cambria Math" panose="02040503050406030204" pitchFamily="18" charset="0"/>
                            <a:cs typeface="Times New Roman" panose="02020603050405020304" pitchFamily="18" charset="0"/>
                          </a:rPr>
                        </m:ctrlPr>
                      </m:barPr>
                      <m:e>
                        <m:r>
                          <a:rPr lang="en-US" altLang="zh-CN" i="1">
                            <a:latin typeface="Cambria Math" panose="02040503050406030204" pitchFamily="18" charset="0"/>
                            <a:cs typeface="Times New Roman" panose="02020603050405020304" pitchFamily="18" charset="0"/>
                          </a:rPr>
                          <m:t>𝒛</m:t>
                        </m:r>
                      </m:e>
                    </m:bar>
                  </m:oMath>
                </a14:m>
                <a:r>
                  <a:rPr lang="zh-CN" altLang="en-US" b="0" dirty="0">
                    <a:latin typeface="Times New Roman" panose="02020603050405020304" pitchFamily="18" charset="0"/>
                    <a:cs typeface="Times New Roman" panose="02020603050405020304" pitchFamily="18" charset="0"/>
                  </a:rPr>
                  <a:t>，且不符合整数条件，则重复第一步骤。一直到最后得到</a:t>
                </a:r>
                <a:r>
                  <a:rPr lang="en-US" altLang="zh-CN" b="0" i="1" dirty="0">
                    <a:latin typeface="Times New Roman" panose="02020603050405020304" pitchFamily="18" charset="0"/>
                    <a:cs typeface="Times New Roman" panose="02020603050405020304" pitchFamily="18" charset="0"/>
                  </a:rPr>
                  <a:t>z</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为止，得最优整数解</a:t>
                </a:r>
                <a:r>
                  <a:rPr lang="en-US" altLang="zh-CN" b="0" i="1" dirty="0" err="1">
                    <a:latin typeface="Times New Roman" panose="02020603050405020304" pitchFamily="18" charset="0"/>
                    <a:cs typeface="Times New Roman" panose="02020603050405020304" pitchFamily="18" charset="0"/>
                  </a:rPr>
                  <a:t>x</a:t>
                </a:r>
                <a:r>
                  <a:rPr lang="en-US" altLang="zh-CN" b="0" i="1" baseline="-30000" dirty="0" err="1">
                    <a:latin typeface="Times New Roman" panose="02020603050405020304" pitchFamily="18" charset="0"/>
                    <a:cs typeface="Times New Roman" panose="02020603050405020304" pitchFamily="18" charset="0"/>
                  </a:rPr>
                  <a:t>j</a:t>
                </a:r>
                <a:r>
                  <a:rPr lang="en-US" altLang="zh-CN" b="0" i="1" baseline="3000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j</a:t>
                </a:r>
                <a:r>
                  <a:rPr lang="en-US" altLang="zh-CN" b="0" dirty="0">
                    <a:latin typeface="Times New Roman" panose="02020603050405020304" pitchFamily="18" charset="0"/>
                    <a:cs typeface="Times New Roman" panose="02020603050405020304" pitchFamily="18" charset="0"/>
                  </a:rPr>
                  <a:t>=1</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n</a:t>
                </a:r>
                <a:r>
                  <a:rPr lang="zh-CN" altLang="en-US" b="0" dirty="0">
                    <a:latin typeface="Times New Roman" panose="02020603050405020304" pitchFamily="18" charset="0"/>
                    <a:cs typeface="Times New Roman" panose="02020603050405020304" pitchFamily="18" charset="0"/>
                  </a:rPr>
                  <a:t>。</a:t>
                </a:r>
              </a:p>
              <a:p>
                <a:pPr algn="just" eaLnBrk="1" hangingPunct="1"/>
                <a:endParaRPr lang="en-US" altLang="zh-CN" b="0" dirty="0">
                  <a:latin typeface="Times New Roman" panose="02020603050405020304" pitchFamily="18" charset="0"/>
                  <a:cs typeface="Times New Roman" panose="02020603050405020304" pitchFamily="18" charset="0"/>
                </a:endParaRPr>
              </a:p>
              <a:p>
                <a:pPr algn="just" eaLnBrk="1" hangingPunct="1"/>
                <a:r>
                  <a:rPr lang="zh-CN" altLang="en-US" dirty="0">
                    <a:latin typeface="Times New Roman" panose="02020603050405020304" pitchFamily="18" charset="0"/>
                    <a:cs typeface="Times New Roman" panose="02020603050405020304" pitchFamily="18" charset="0"/>
                  </a:rPr>
                  <a:t>用分支定界法可解纯整数线性规划问题和混合整数线性规划问题。它比穷举法优越。</a:t>
                </a:r>
                <a:r>
                  <a:rPr lang="zh-CN" altLang="en-US" dirty="0">
                    <a:solidFill>
                      <a:srgbClr val="FF0000"/>
                    </a:solidFill>
                    <a:latin typeface="Times New Roman" panose="02020603050405020304" pitchFamily="18" charset="0"/>
                    <a:cs typeface="Times New Roman" panose="02020603050405020304" pitchFamily="18" charset="0"/>
                  </a:rPr>
                  <a:t>因为它仅在一部分可行解的整数解中寻求最优解，计算量比穷举法小。</a:t>
                </a:r>
                <a:r>
                  <a:rPr lang="zh-CN" altLang="en-US" dirty="0">
                    <a:latin typeface="Times New Roman" panose="02020603050405020304" pitchFamily="18" charset="0"/>
                    <a:cs typeface="Times New Roman" panose="02020603050405020304" pitchFamily="18" charset="0"/>
                  </a:rPr>
                  <a:t>若变量数目很大，其计算工作量也是相当可观的。</a:t>
                </a:r>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494729" y="1196752"/>
                <a:ext cx="8469759" cy="4652684"/>
              </a:xfrm>
              <a:blipFill>
                <a:blip r:embed="rId2"/>
                <a:stretch>
                  <a:fillRect l="-288" t="-1440" r="-4676"/>
                </a:stretch>
              </a:blipFill>
            </p:spPr>
            <p:txBody>
              <a:bodyPr/>
              <a:lstStyle/>
              <a:p>
                <a:r>
                  <a:rPr lang="zh-CN" altLang="en-US">
                    <a:noFill/>
                  </a:rPr>
                  <a:t> </a:t>
                </a:r>
              </a:p>
            </p:txBody>
          </p:sp>
        </mc:Fallback>
      </mc:AlternateContent>
      <p:sp>
        <p:nvSpPr>
          <p:cNvPr id="26627" name="灯片编号占位符 5">
            <a:extLst>
              <a:ext uri="{FF2B5EF4-FFF2-40B4-BE49-F238E27FC236}">
                <a16:creationId xmlns:a16="http://schemas.microsoft.com/office/drawing/2014/main" id="{79836071-83F4-47B3-8477-7C0BBBCEE5F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D61B909-4168-49E1-AFB5-AA5D0CED5D21}" type="slidenum">
              <a:rPr lang="en-US" altLang="zh-CN" sz="1000" smtClean="0"/>
              <a:pPr>
                <a:spcBef>
                  <a:spcPct val="0"/>
                </a:spcBef>
                <a:buClrTx/>
                <a:buSzTx/>
                <a:buFontTx/>
                <a:buNone/>
              </a:pPr>
              <a:t>12</a:t>
            </a:fld>
            <a:endParaRPr lang="en-US" altLang="zh-CN" sz="1000"/>
          </a:p>
        </p:txBody>
      </p:sp>
      <p:sp>
        <p:nvSpPr>
          <p:cNvPr id="26630" name="Rectangle 5">
            <a:extLst>
              <a:ext uri="{FF2B5EF4-FFF2-40B4-BE49-F238E27FC236}">
                <a16:creationId xmlns:a16="http://schemas.microsoft.com/office/drawing/2014/main" id="{E9407821-B34A-45D7-89E5-5BE614DE2A81}"/>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26631" name="Rectangle 7">
            <a:extLst>
              <a:ext uri="{FF2B5EF4-FFF2-40B4-BE49-F238E27FC236}">
                <a16:creationId xmlns:a16="http://schemas.microsoft.com/office/drawing/2014/main" id="{6C68FD9F-2EBA-4B72-9A40-17D18529586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9E26BB28-3E12-4803-A2A3-0F9800CC4FC7}"/>
              </a:ext>
            </a:extLst>
          </p:cNvPr>
          <p:cNvSpPr>
            <a:spLocks noGrp="1" noChangeArrowheads="1"/>
          </p:cNvSpPr>
          <p:nvPr>
            <p:ph type="title"/>
          </p:nvPr>
        </p:nvSpPr>
        <p:spPr/>
        <p:txBody>
          <a:bodyPr/>
          <a:lstStyle/>
          <a:p>
            <a:pPr eaLnBrk="1" hangingPunct="1"/>
            <a:r>
              <a:rPr lang="zh-CN" altLang="en-US" dirty="0"/>
              <a:t>第</a:t>
            </a:r>
            <a:r>
              <a:rPr lang="en-US" altLang="zh-CN" dirty="0"/>
              <a:t>6</a:t>
            </a:r>
            <a:r>
              <a:rPr lang="zh-CN" altLang="en-US" dirty="0"/>
              <a:t>章  整数规划</a:t>
            </a:r>
          </a:p>
        </p:txBody>
      </p:sp>
      <p:sp>
        <p:nvSpPr>
          <p:cNvPr id="6150" name="Rectangle 3">
            <a:extLst>
              <a:ext uri="{FF2B5EF4-FFF2-40B4-BE49-F238E27FC236}">
                <a16:creationId xmlns:a16="http://schemas.microsoft.com/office/drawing/2014/main" id="{F100E577-872C-4FFA-9444-4A450028B233}"/>
              </a:ext>
            </a:extLst>
          </p:cNvPr>
          <p:cNvSpPr>
            <a:spLocks noGrp="1" noChangeArrowheads="1"/>
          </p:cNvSpPr>
          <p:nvPr>
            <p:ph idx="1"/>
          </p:nvPr>
        </p:nvSpPr>
        <p:spPr>
          <a:xfrm>
            <a:off x="1403648" y="1628800"/>
            <a:ext cx="7560840" cy="4752528"/>
          </a:xfrm>
        </p:spPr>
        <p:txBody>
          <a:bodyPr/>
          <a:lstStyle/>
          <a:p>
            <a:pPr eaLnBrk="1" hangingPunct="1">
              <a:lnSpc>
                <a:spcPts val="2000"/>
              </a:lnSpc>
              <a:buNone/>
            </a:pPr>
            <a:r>
              <a:rPr lang="en-US" altLang="zh-CN" dirty="0">
                <a:latin typeface="宋体" panose="02010600030101010101" pitchFamily="2" charset="-122"/>
                <a:ea typeface="宋体" panose="02010600030101010101" pitchFamily="2" charset="-122"/>
              </a:rPr>
              <a:t>6.1 </a:t>
            </a:r>
            <a:r>
              <a:rPr lang="zh-CN" altLang="en-US" dirty="0">
                <a:latin typeface="宋体" panose="02010600030101010101" pitchFamily="2" charset="-122"/>
                <a:ea typeface="宋体" panose="02010600030101010101" pitchFamily="2" charset="-122"/>
              </a:rPr>
              <a:t>整数线性规划问题的提出</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6.2 </a:t>
            </a:r>
            <a:r>
              <a:rPr lang="zh-CN" altLang="en-US" dirty="0">
                <a:latin typeface="宋体" panose="02010600030101010101" pitchFamily="2" charset="-122"/>
                <a:ea typeface="宋体" panose="02010600030101010101" pitchFamily="2" charset="-122"/>
              </a:rPr>
              <a:t>分支定界解法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6.3 </a:t>
            </a:r>
            <a:r>
              <a:rPr lang="zh-CN" altLang="en-US" dirty="0">
                <a:latin typeface="宋体" panose="02010600030101010101" pitchFamily="2" charset="-122"/>
                <a:ea typeface="宋体" panose="02010600030101010101" pitchFamily="2" charset="-122"/>
              </a:rPr>
              <a:t>割平面解法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6.4 0-1</a:t>
            </a:r>
            <a:r>
              <a:rPr lang="zh-CN" altLang="en-US" dirty="0">
                <a:latin typeface="宋体" panose="02010600030101010101" pitchFamily="2" charset="-122"/>
                <a:ea typeface="宋体" panose="02010600030101010101" pitchFamily="2" charset="-122"/>
              </a:rPr>
              <a:t>型整数线性规划</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6.5 </a:t>
            </a:r>
            <a:r>
              <a:rPr lang="zh-CN" altLang="en-US" dirty="0">
                <a:latin typeface="宋体" panose="02010600030101010101" pitchFamily="2" charset="-122"/>
                <a:ea typeface="宋体" panose="02010600030101010101" pitchFamily="2" charset="-122"/>
              </a:rPr>
              <a:t>指派问题</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6.6 </a:t>
            </a:r>
            <a:r>
              <a:rPr lang="zh-CN" altLang="en-US" dirty="0">
                <a:latin typeface="宋体" panose="02010600030101010101" pitchFamily="2" charset="-122"/>
                <a:ea typeface="宋体" panose="02010600030101010101" pitchFamily="2" charset="-122"/>
              </a:rPr>
              <a:t>整数规划的建模和应用</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6.7 </a:t>
            </a:r>
            <a:r>
              <a:rPr lang="zh-CN" altLang="en-US" dirty="0">
                <a:latin typeface="宋体" panose="02010600030101010101" pitchFamily="2" charset="-122"/>
                <a:ea typeface="宋体" panose="02010600030101010101" pitchFamily="2" charset="-122"/>
              </a:rPr>
              <a:t>整数规划的 </a:t>
            </a:r>
            <a:r>
              <a:rPr lang="en-US" altLang="zh-CN" dirty="0">
                <a:latin typeface="宋体" panose="02010600030101010101" pitchFamily="2" charset="-122"/>
                <a:ea typeface="宋体" panose="02010600030101010101" pitchFamily="2" charset="-122"/>
              </a:rPr>
              <a:t>Excel Solver </a:t>
            </a:r>
            <a:r>
              <a:rPr lang="zh-CN" altLang="en-US" dirty="0">
                <a:latin typeface="宋体" panose="02010600030101010101" pitchFamily="2" charset="-122"/>
                <a:ea typeface="宋体" panose="02010600030101010101" pitchFamily="2" charset="-122"/>
              </a:rPr>
              <a:t>求解</a:t>
            </a:r>
          </a:p>
        </p:txBody>
      </p:sp>
      <p:sp>
        <p:nvSpPr>
          <p:cNvPr id="7" name="AutoShape 4"/>
          <p:cNvSpPr>
            <a:spLocks noChangeArrowheads="1"/>
          </p:cNvSpPr>
          <p:nvPr/>
        </p:nvSpPr>
        <p:spPr bwMode="auto">
          <a:xfrm>
            <a:off x="238125" y="1290638"/>
            <a:ext cx="935038" cy="5138737"/>
          </a:xfrm>
          <a:prstGeom prst="cube">
            <a:avLst>
              <a:gd name="adj" fmla="val 25000"/>
            </a:avLst>
          </a:prstGeom>
          <a:gradFill rotWithShape="1">
            <a:gsLst>
              <a:gs pos="0">
                <a:srgbClr val="411117"/>
              </a:gs>
              <a:gs pos="50000">
                <a:srgbClr val="8C2532"/>
              </a:gs>
              <a:gs pos="100000">
                <a:srgbClr val="411117"/>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t>第</a:t>
            </a:r>
          </a:p>
          <a:p>
            <a:pPr algn="ctr" eaLnBrk="1" hangingPunct="1"/>
            <a:r>
              <a:rPr lang="en-US" altLang="zh-CN" b="1" dirty="0"/>
              <a:t>6</a:t>
            </a:r>
          </a:p>
          <a:p>
            <a:pPr algn="ctr" eaLnBrk="1" hangingPunct="1"/>
            <a:r>
              <a:rPr lang="zh-CN" altLang="en-US" b="1" dirty="0"/>
              <a:t> 章 </a:t>
            </a:r>
          </a:p>
          <a:p>
            <a:pPr algn="ctr" eaLnBrk="1" hangingPunct="1"/>
            <a:endParaRPr lang="zh-CN" altLang="en-US" b="1" dirty="0"/>
          </a:p>
          <a:p>
            <a:pPr algn="ctr" eaLnBrk="1" hangingPunct="1"/>
            <a:r>
              <a:rPr lang="zh-CN" altLang="en-US" b="1" dirty="0"/>
              <a:t> 整</a:t>
            </a:r>
            <a:endParaRPr lang="en-US" altLang="zh-CN" b="1" dirty="0"/>
          </a:p>
          <a:p>
            <a:pPr algn="ctr" eaLnBrk="1" hangingPunct="1"/>
            <a:r>
              <a:rPr lang="zh-CN" altLang="en-US" b="1" dirty="0"/>
              <a:t>数</a:t>
            </a:r>
            <a:endParaRPr lang="en-US" altLang="zh-CN" b="1" dirty="0"/>
          </a:p>
          <a:p>
            <a:pPr algn="ctr" eaLnBrk="1" hangingPunct="1"/>
            <a:r>
              <a:rPr lang="zh-CN" altLang="en-US" b="1" dirty="0"/>
              <a:t>规</a:t>
            </a:r>
          </a:p>
          <a:p>
            <a:pPr algn="ctr" eaLnBrk="1" hangingPunct="1"/>
            <a:r>
              <a:rPr lang="zh-CN" altLang="en-US" b="1" dirty="0"/>
              <a:t>划</a:t>
            </a:r>
          </a:p>
        </p:txBody>
      </p:sp>
      <p:sp>
        <p:nvSpPr>
          <p:cNvPr id="9" name="AutoShape 6"/>
          <p:cNvSpPr>
            <a:spLocks noChangeArrowheads="1"/>
          </p:cNvSpPr>
          <p:nvPr/>
        </p:nvSpPr>
        <p:spPr bwMode="auto">
          <a:xfrm>
            <a:off x="5528417" y="1196752"/>
            <a:ext cx="3656012" cy="3571875"/>
          </a:xfrm>
          <a:prstGeom prst="wedgeRoundRectCallout">
            <a:avLst>
              <a:gd name="adj1" fmla="val -44774"/>
              <a:gd name="adj2" fmla="val 65966"/>
              <a:gd name="adj3" fmla="val 16667"/>
            </a:avLst>
          </a:prstGeom>
          <a:solidFill>
            <a:srgbClr val="00CC99"/>
          </a:solidFill>
          <a:ln w="9525">
            <a:solidFill>
              <a:schemeClr val="tx1"/>
            </a:solidFill>
            <a:miter lim="800000"/>
            <a:headEnd/>
            <a:tailEnd/>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sz="2000" b="1" dirty="0">
                <a:solidFill>
                  <a:srgbClr val="366B7E"/>
                </a:solidFill>
                <a:latin typeface="楷体_GB2312" pitchFamily="1" charset="-122"/>
                <a:ea typeface="楷体_GB2312" pitchFamily="1" charset="-122"/>
              </a:rPr>
              <a:t>1．理解整数规划的基本概念与分类；</a:t>
            </a:r>
          </a:p>
          <a:p>
            <a:r>
              <a:rPr lang="zh-CN" altLang="en-US" sz="2000" b="1" dirty="0">
                <a:solidFill>
                  <a:srgbClr val="366B7E"/>
                </a:solidFill>
                <a:latin typeface="楷体_GB2312" pitchFamily="1" charset="-122"/>
                <a:ea typeface="楷体_GB2312" pitchFamily="1" charset="-122"/>
              </a:rPr>
              <a:t>2．了解整数规划问题的建模与应用；</a:t>
            </a:r>
          </a:p>
          <a:p>
            <a:r>
              <a:rPr lang="zh-CN" altLang="en-US" sz="2000" b="1" dirty="0">
                <a:solidFill>
                  <a:srgbClr val="366B7E"/>
                </a:solidFill>
                <a:latin typeface="楷体_GB2312" pitchFamily="1" charset="-122"/>
                <a:ea typeface="楷体_GB2312" pitchFamily="1" charset="-122"/>
              </a:rPr>
              <a:t>3．掌握求解整数规划的分支定界法、割平面法的过程；</a:t>
            </a:r>
          </a:p>
          <a:p>
            <a:r>
              <a:rPr lang="zh-CN" altLang="en-US" sz="2000" b="1" dirty="0">
                <a:solidFill>
                  <a:srgbClr val="366B7E"/>
                </a:solidFill>
                <a:latin typeface="楷体_GB2312" pitchFamily="1" charset="-122"/>
                <a:ea typeface="楷体_GB2312" pitchFamily="1" charset="-122"/>
              </a:rPr>
              <a:t>4．理解求解0-1规划的隐枚举法；</a:t>
            </a:r>
          </a:p>
          <a:p>
            <a:r>
              <a:rPr lang="zh-CN" altLang="en-US" sz="2000" b="1" dirty="0">
                <a:solidFill>
                  <a:srgbClr val="366B7E"/>
                </a:solidFill>
                <a:latin typeface="楷体_GB2312" pitchFamily="1" charset="-122"/>
                <a:ea typeface="楷体_GB2312" pitchFamily="1" charset="-122"/>
              </a:rPr>
              <a:t>5．掌握指派匈牙利法和非标准指派问题的求解方法。</a:t>
            </a:r>
          </a:p>
        </p:txBody>
      </p:sp>
    </p:spTree>
    <p:extLst>
      <p:ext uri="{BB962C8B-B14F-4D97-AF65-F5344CB8AC3E}">
        <p14:creationId xmlns:p14="http://schemas.microsoft.com/office/powerpoint/2010/main" val="79640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150">
                                            <p:txEl>
                                              <p:pRg st="4" end="4"/>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BF5B786A-B79D-4239-8AE6-FE406A3756C7}"/>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96752"/>
            <a:ext cx="8469759" cy="3231654"/>
          </a:xfrm>
        </p:spPr>
        <p:txBody>
          <a:bodyPr/>
          <a:lstStyle/>
          <a:p>
            <a:pPr eaLnBrk="1" hangingPunct="1">
              <a:spcBef>
                <a:spcPct val="0"/>
              </a:spcBef>
            </a:pPr>
            <a:r>
              <a:rPr lang="zh-CN" altLang="en-US" dirty="0">
                <a:latin typeface="Times New Roman" panose="02020603050405020304" pitchFamily="18" charset="0"/>
                <a:cs typeface="Times New Roman" panose="02020603050405020304" pitchFamily="18" charset="0"/>
              </a:rPr>
              <a:t>割平面解法的思想</a:t>
            </a:r>
          </a:p>
          <a:p>
            <a:pPr lvl="1" eaLnBrk="1" hangingPunct="1">
              <a:spcBef>
                <a:spcPct val="0"/>
              </a:spcBef>
            </a:pPr>
            <a:r>
              <a:rPr lang="zh-CN" altLang="en-US" sz="2000" dirty="0">
                <a:latin typeface="Times New Roman" panose="02020603050405020304" pitchFamily="18" charset="0"/>
                <a:cs typeface="Times New Roman" panose="02020603050405020304" pitchFamily="18" charset="0"/>
              </a:rPr>
              <a:t>首先不考虑变量</a:t>
            </a:r>
            <a:r>
              <a:rPr lang="en-US" altLang="zh-CN" sz="2000" i="1" dirty="0">
                <a:latin typeface="Times New Roman" panose="02020603050405020304" pitchFamily="18" charset="0"/>
                <a:cs typeface="Times New Roman" panose="02020603050405020304" pitchFamily="18" charset="0"/>
              </a:rPr>
              <a:t>x</a:t>
            </a:r>
            <a:r>
              <a:rPr lang="en-US" altLang="zh-CN" sz="2000" i="1" baseline="-30000" dirty="0">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是整数这一条件，仍然是用解线性规划的方法去解整数线性规划问题。</a:t>
            </a:r>
          </a:p>
          <a:p>
            <a:pPr lvl="1" eaLnBrk="1" hangingPunct="1">
              <a:spcBef>
                <a:spcPct val="0"/>
              </a:spcBef>
            </a:pPr>
            <a:r>
              <a:rPr lang="zh-CN" altLang="en-US" sz="2000" dirty="0">
                <a:latin typeface="Times New Roman" panose="02020603050405020304" pitchFamily="18" charset="0"/>
                <a:cs typeface="Times New Roman" panose="02020603050405020304" pitchFamily="18" charset="0"/>
              </a:rPr>
              <a:t>若得到非整数的最优解，则</a:t>
            </a:r>
            <a:r>
              <a:rPr lang="zh-CN" altLang="en-US" sz="2000" dirty="0">
                <a:solidFill>
                  <a:srgbClr val="FF0000"/>
                </a:solidFill>
                <a:latin typeface="Times New Roman" panose="02020603050405020304" pitchFamily="18" charset="0"/>
                <a:cs typeface="Times New Roman" panose="02020603050405020304" pitchFamily="18" charset="0"/>
              </a:rPr>
              <a:t>增加能割去非整数解的线性约束条件</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或称为割平面</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，使得由原可行域被切割掉一部分，</a:t>
            </a:r>
            <a:r>
              <a:rPr lang="zh-CN" altLang="en-US" sz="2000" dirty="0">
                <a:solidFill>
                  <a:srgbClr val="553AF8"/>
                </a:solidFill>
                <a:latin typeface="Times New Roman" panose="02020603050405020304" pitchFamily="18" charset="0"/>
                <a:cs typeface="Times New Roman" panose="02020603050405020304" pitchFamily="18" charset="0"/>
              </a:rPr>
              <a:t>这部分只包含非整数解，但没有切割掉任何整数可行解</a:t>
            </a:r>
            <a:r>
              <a:rPr lang="zh-CN" altLang="en-US" sz="2000" dirty="0">
                <a:solidFill>
                  <a:srgbClr val="FF0000"/>
                </a:solidFill>
                <a:latin typeface="Times New Roman" panose="02020603050405020304" pitchFamily="18" charset="0"/>
                <a:cs typeface="Times New Roman" panose="02020603050405020304" pitchFamily="18" charset="0"/>
              </a:rPr>
              <a:t>。</a:t>
            </a:r>
          </a:p>
          <a:p>
            <a:pPr lvl="1" eaLnBrk="1" hangingPunct="1">
              <a:spcBef>
                <a:spcPct val="0"/>
              </a:spcBef>
            </a:pPr>
            <a:r>
              <a:rPr lang="zh-CN" altLang="en-US" sz="2000" dirty="0">
                <a:latin typeface="Times New Roman" panose="02020603050405020304" pitchFamily="18" charset="0"/>
                <a:cs typeface="Times New Roman" panose="02020603050405020304" pitchFamily="18" charset="0"/>
              </a:rPr>
              <a:t>割平面方法就是指出怎样找到</a:t>
            </a:r>
            <a:r>
              <a:rPr lang="zh-CN" altLang="en-US" sz="2000" dirty="0">
                <a:solidFill>
                  <a:srgbClr val="FF0000"/>
                </a:solidFill>
                <a:latin typeface="Times New Roman" panose="02020603050405020304" pitchFamily="18" charset="0"/>
                <a:cs typeface="Times New Roman" panose="02020603050405020304" pitchFamily="18" charset="0"/>
              </a:rPr>
              <a:t>适当的割平面</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不见得一次就找到</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，使</a:t>
            </a:r>
            <a:r>
              <a:rPr lang="zh-CN" altLang="en-US" sz="2000" dirty="0">
                <a:solidFill>
                  <a:srgbClr val="FF0000"/>
                </a:solidFill>
                <a:latin typeface="Times New Roman" panose="02020603050405020304" pitchFamily="18" charset="0"/>
                <a:cs typeface="Times New Roman" panose="02020603050405020304" pitchFamily="18" charset="0"/>
              </a:rPr>
              <a:t>切割后</a:t>
            </a:r>
            <a:r>
              <a:rPr lang="zh-CN" altLang="en-US" sz="2000" dirty="0">
                <a:latin typeface="Times New Roman" panose="02020603050405020304" pitchFamily="18" charset="0"/>
                <a:cs typeface="Times New Roman" panose="02020603050405020304" pitchFamily="18" charset="0"/>
              </a:rPr>
              <a:t>最终得到这样</a:t>
            </a:r>
            <a:r>
              <a:rPr lang="zh-CN" altLang="en-US" sz="2000" dirty="0">
                <a:solidFill>
                  <a:srgbClr val="FF0000"/>
                </a:solidFill>
                <a:latin typeface="Times New Roman" panose="02020603050405020304" pitchFamily="18" charset="0"/>
                <a:cs typeface="Times New Roman" panose="02020603050405020304" pitchFamily="18" charset="0"/>
              </a:rPr>
              <a:t>的可行域</a:t>
            </a:r>
            <a:r>
              <a:rPr lang="zh-CN" altLang="en-US" sz="2000" dirty="0">
                <a:latin typeface="Times New Roman" panose="02020603050405020304" pitchFamily="18" charset="0"/>
                <a:cs typeface="Times New Roman" panose="02020603050405020304" pitchFamily="18" charset="0"/>
              </a:rPr>
              <a:t>，它</a:t>
            </a:r>
            <a:r>
              <a:rPr lang="zh-CN" altLang="en-US" sz="2000" dirty="0">
                <a:solidFill>
                  <a:srgbClr val="FF0000"/>
                </a:solidFill>
                <a:latin typeface="Times New Roman" panose="02020603050405020304" pitchFamily="18" charset="0"/>
                <a:cs typeface="Times New Roman" panose="02020603050405020304" pitchFamily="18" charset="0"/>
              </a:rPr>
              <a:t>的一个整数极点恰好是问题的最优解</a:t>
            </a:r>
            <a:r>
              <a:rPr lang="zh-CN" altLang="en-US" sz="2000" dirty="0">
                <a:latin typeface="Times New Roman" panose="02020603050405020304" pitchFamily="18" charset="0"/>
                <a:cs typeface="Times New Roman" panose="02020603050405020304" pitchFamily="18" charset="0"/>
              </a:rPr>
              <a:t>。</a:t>
            </a:r>
          </a:p>
          <a:p>
            <a:pPr lvl="1" eaLnBrk="1" hangingPunct="1">
              <a:spcBef>
                <a:spcPct val="0"/>
              </a:spcBef>
            </a:pPr>
            <a:r>
              <a:rPr lang="zh-CN" altLang="en-US" sz="2000" dirty="0">
                <a:latin typeface="Times New Roman" panose="02020603050405020304" pitchFamily="18" charset="0"/>
                <a:cs typeface="Times New Roman" panose="02020603050405020304" pitchFamily="18" charset="0"/>
              </a:rPr>
              <a:t>以下仅讨论纯整数线性规划的情形。</a:t>
            </a:r>
            <a:endParaRPr lang="zh-CN" altLang="en-US" dirty="0"/>
          </a:p>
        </p:txBody>
      </p:sp>
      <p:sp>
        <p:nvSpPr>
          <p:cNvPr id="27651" name="灯片编号占位符 5">
            <a:extLst>
              <a:ext uri="{FF2B5EF4-FFF2-40B4-BE49-F238E27FC236}">
                <a16:creationId xmlns:a16="http://schemas.microsoft.com/office/drawing/2014/main" id="{92FBB881-2940-4153-BB53-FEA29ACB726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729E755-42BF-412F-9A1A-44E3514CF90C}" type="slidenum">
              <a:rPr lang="en-US" altLang="zh-CN" sz="1000" smtClean="0"/>
              <a:pPr>
                <a:spcBef>
                  <a:spcPct val="0"/>
                </a:spcBef>
                <a:buClrTx/>
                <a:buSzTx/>
                <a:buFontTx/>
                <a:buNone/>
              </a:pPr>
              <a:t>14</a:t>
            </a:fld>
            <a:endParaRPr lang="en-US" altLang="zh-CN" sz="1000"/>
          </a:p>
        </p:txBody>
      </p:sp>
      <p:sp>
        <p:nvSpPr>
          <p:cNvPr id="27654" name="Rectangle 4">
            <a:extLst>
              <a:ext uri="{FF2B5EF4-FFF2-40B4-BE49-F238E27FC236}">
                <a16:creationId xmlns:a16="http://schemas.microsoft.com/office/drawing/2014/main" id="{1EAC681E-2014-42E2-AFE6-9250D2D7580A}"/>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27655" name="Rectangle 5">
            <a:extLst>
              <a:ext uri="{FF2B5EF4-FFF2-40B4-BE49-F238E27FC236}">
                <a16:creationId xmlns:a16="http://schemas.microsoft.com/office/drawing/2014/main" id="{8EFEFD1F-F1DF-489F-AEA8-2A9CF5D150B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888F3001-AEFE-40C4-87CD-EFA8E1EDC13B}"/>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96752"/>
            <a:ext cx="4365303" cy="3637919"/>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pPr marL="0" indent="0" algn="just" eaLnBrk="1" hangingPunct="1">
              <a:buNone/>
            </a:pPr>
            <a:r>
              <a:rPr lang="en-US" altLang="zh-CN" sz="2000" b="0" dirty="0">
                <a:latin typeface="宋体" panose="02010600030101010101" pitchFamily="2" charset="-122"/>
              </a:rPr>
              <a:t>     </a:t>
            </a:r>
            <a:r>
              <a:rPr lang="en-US" altLang="zh-CN" sz="2000" dirty="0">
                <a:latin typeface="宋体" panose="02010600030101010101" pitchFamily="2" charset="-122"/>
              </a:rPr>
              <a:t>max z=x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     ①</a:t>
            </a:r>
          </a:p>
          <a:p>
            <a:pPr marL="0" indent="0" algn="just" eaLnBrk="1" hangingPunct="1">
              <a:buNone/>
            </a:pPr>
            <a:r>
              <a:rPr lang="en-US" altLang="zh-CN" sz="2000" b="0" dirty="0">
                <a:latin typeface="宋体" panose="02010600030101010101" pitchFamily="2" charset="-122"/>
              </a:rPr>
              <a:t>     </a:t>
            </a:r>
            <a:r>
              <a:rPr lang="en-US" altLang="zh-CN" sz="2000" dirty="0">
                <a:latin typeface="宋体" panose="02010600030101010101" pitchFamily="2" charset="-122"/>
              </a:rPr>
              <a:t>-x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≤1       ②</a:t>
            </a:r>
          </a:p>
          <a:p>
            <a:pPr marL="0" indent="0" algn="just" eaLnBrk="1" hangingPunct="1">
              <a:buNone/>
            </a:pPr>
            <a:r>
              <a:rPr lang="en-US" altLang="zh-CN" sz="2000" dirty="0">
                <a:latin typeface="宋体" panose="02010600030101010101" pitchFamily="2" charset="-122"/>
              </a:rPr>
              <a:t>     3x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≤4       ③ (6-3)</a:t>
            </a:r>
          </a:p>
          <a:p>
            <a:pPr marL="0" indent="0" algn="just" eaLnBrk="1" hangingPunct="1">
              <a:buNone/>
            </a:pPr>
            <a:r>
              <a:rPr lang="en-US" altLang="zh-CN" sz="2000" dirty="0">
                <a:latin typeface="宋体" panose="02010600030101010101" pitchFamily="2" charset="-122"/>
              </a:rPr>
              <a:t>     x</a:t>
            </a:r>
            <a:r>
              <a:rPr lang="en-US" altLang="zh-CN" sz="2000" baseline="-30000" dirty="0">
                <a:latin typeface="宋体" panose="02010600030101010101" pitchFamily="2" charset="-122"/>
              </a:rPr>
              <a:t>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≥0       ④</a:t>
            </a:r>
          </a:p>
          <a:p>
            <a:pPr marL="0" indent="0" algn="just" eaLnBrk="1" hangingPunct="1">
              <a:buNone/>
            </a:pPr>
            <a:r>
              <a:rPr lang="en-US" altLang="zh-CN" sz="2000" dirty="0">
                <a:latin typeface="宋体" panose="02010600030101010101" pitchFamily="2" charset="-122"/>
              </a:rPr>
              <a:t>     x</a:t>
            </a:r>
            <a:r>
              <a:rPr lang="en-US" altLang="zh-CN" sz="2000" baseline="-30000" dirty="0">
                <a:latin typeface="宋体" panose="02010600030101010101" pitchFamily="2" charset="-122"/>
              </a:rPr>
              <a:t>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 </a:t>
            </a:r>
            <a:r>
              <a:rPr lang="zh-CN" altLang="en-US" sz="2000" dirty="0">
                <a:latin typeface="宋体" panose="02010600030101010101" pitchFamily="2" charset="-122"/>
              </a:rPr>
              <a:t>整数     ⑤</a:t>
            </a:r>
          </a:p>
          <a:p>
            <a:pPr lvl="4" eaLnBrk="1" hangingPunct="1">
              <a:buNone/>
            </a:pPr>
            <a:endParaRPr lang="en-US" altLang="zh-CN" sz="2400" dirty="0">
              <a:latin typeface="宋体" panose="02010600030101010101" pitchFamily="2" charset="-122"/>
            </a:endParaRPr>
          </a:p>
          <a:p>
            <a:endParaRPr lang="zh-CN" altLang="en-US" b="0" dirty="0">
              <a:latin typeface="宋体" panose="02010600030101010101" pitchFamily="2" charset="-122"/>
            </a:endParaRPr>
          </a:p>
          <a:p>
            <a:endParaRPr lang="zh-CN" altLang="en-US" dirty="0"/>
          </a:p>
        </p:txBody>
      </p:sp>
      <p:sp>
        <p:nvSpPr>
          <p:cNvPr id="28675" name="灯片编号占位符 5">
            <a:extLst>
              <a:ext uri="{FF2B5EF4-FFF2-40B4-BE49-F238E27FC236}">
                <a16:creationId xmlns:a16="http://schemas.microsoft.com/office/drawing/2014/main" id="{9ECBBF56-85C4-4E6C-8EF0-6153CF3E456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A2B94E1-64B1-4166-AD9D-603459073A82}" type="slidenum">
              <a:rPr lang="en-US" altLang="zh-CN" sz="1000" smtClean="0"/>
              <a:pPr>
                <a:spcBef>
                  <a:spcPct val="0"/>
                </a:spcBef>
                <a:buClrTx/>
                <a:buSzTx/>
                <a:buFontTx/>
                <a:buNone/>
              </a:pPr>
              <a:t>15</a:t>
            </a:fld>
            <a:endParaRPr lang="en-US" altLang="zh-CN" sz="1000"/>
          </a:p>
        </p:txBody>
      </p:sp>
      <p:sp>
        <p:nvSpPr>
          <p:cNvPr id="28678" name="Rectangle 5">
            <a:extLst>
              <a:ext uri="{FF2B5EF4-FFF2-40B4-BE49-F238E27FC236}">
                <a16:creationId xmlns:a16="http://schemas.microsoft.com/office/drawing/2014/main" id="{DD585DA7-9B0C-4003-A407-E364BB0FBC5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 name="矩形 2"/>
          <p:cNvSpPr/>
          <p:nvPr/>
        </p:nvSpPr>
        <p:spPr>
          <a:xfrm>
            <a:off x="494728" y="4293096"/>
            <a:ext cx="5013375" cy="707886"/>
          </a:xfrm>
          <a:prstGeom prst="rect">
            <a:avLst/>
          </a:prstGeom>
        </p:spPr>
        <p:txBody>
          <a:bodyPr wrap="square">
            <a:spAutoFit/>
          </a:bodyPr>
          <a:lstStyle/>
          <a:p>
            <a:pPr eaLnBrk="1" hangingPunct="1"/>
            <a:r>
              <a:rPr lang="zh-CN" altLang="en-US" sz="2000" dirty="0">
                <a:latin typeface="Times New Roman" panose="02020603050405020304" pitchFamily="18" charset="0"/>
                <a:cs typeface="Times New Roman" panose="02020603050405020304" pitchFamily="18" charset="0"/>
              </a:rPr>
              <a:t>先不考虑条件⑤，求得相应的线性规划的最优解为： </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=3/4</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=7/4</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max </a:t>
            </a:r>
            <a:r>
              <a:rPr lang="en-US" altLang="zh-CN" sz="2000" i="1" dirty="0">
                <a:latin typeface="Times New Roman" panose="02020603050405020304" pitchFamily="18" charset="0"/>
                <a:cs typeface="Times New Roman" panose="02020603050405020304" pitchFamily="18" charset="0"/>
              </a:rPr>
              <a:t>z</a:t>
            </a:r>
            <a:r>
              <a:rPr lang="en-US" altLang="zh-CN" sz="2000" dirty="0">
                <a:latin typeface="Times New Roman" panose="02020603050405020304" pitchFamily="18" charset="0"/>
                <a:cs typeface="Times New Roman" panose="02020603050405020304" pitchFamily="18" charset="0"/>
              </a:rPr>
              <a:t>=104</a:t>
            </a:r>
          </a:p>
        </p:txBody>
      </p:sp>
      <p:pic>
        <p:nvPicPr>
          <p:cNvPr id="9" name="Picture 6">
            <a:extLst>
              <a:ext uri="{FF2B5EF4-FFF2-40B4-BE49-F238E27FC236}">
                <a16:creationId xmlns:a16="http://schemas.microsoft.com/office/drawing/2014/main" id="{1AC5B713-A1F8-40CB-AF09-B176F05D0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256" y="2333659"/>
            <a:ext cx="3861248" cy="3622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a:extLst>
              <a:ext uri="{FF2B5EF4-FFF2-40B4-BE49-F238E27FC236}">
                <a16:creationId xmlns:a16="http://schemas.microsoft.com/office/drawing/2014/main" id="{354FCF80-23B1-4A13-B935-B6F0F2CEA49D}"/>
              </a:ext>
            </a:extLst>
          </p:cNvPr>
          <p:cNvSpPr>
            <a:spLocks noChangeArrowheads="1"/>
          </p:cNvSpPr>
          <p:nvPr/>
        </p:nvSpPr>
        <p:spPr bwMode="auto">
          <a:xfrm>
            <a:off x="472181" y="5301059"/>
            <a:ext cx="4628681" cy="7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0" indent="0" eaLnBrk="1" hangingPunct="1">
              <a:buFont typeface="Wingdings" panose="05000000000000000000" pitchFamily="2" charset="2"/>
              <a:buNone/>
            </a:pPr>
            <a:r>
              <a:rPr lang="zh-CN" altLang="en-US" sz="2000" dirty="0"/>
              <a:t>最优解是图</a:t>
            </a:r>
            <a:r>
              <a:rPr lang="en-US" altLang="zh-CN" sz="2000" dirty="0"/>
              <a:t>6-5</a:t>
            </a:r>
            <a:r>
              <a:rPr lang="zh-CN" altLang="en-US" sz="2000" dirty="0"/>
              <a:t>中域</a:t>
            </a:r>
            <a:r>
              <a:rPr lang="en-US" altLang="zh-CN" sz="2000" dirty="0"/>
              <a:t>R</a:t>
            </a:r>
            <a:r>
              <a:rPr lang="zh-CN" altLang="en-US" sz="2000" dirty="0"/>
              <a:t>的极点</a:t>
            </a:r>
            <a:r>
              <a:rPr lang="en-US" altLang="zh-CN" sz="2000" dirty="0"/>
              <a:t>A</a:t>
            </a:r>
            <a:r>
              <a:rPr lang="zh-CN" altLang="en-US" sz="2000" dirty="0"/>
              <a:t>，但不符合整数约束条件。</a:t>
            </a:r>
          </a:p>
        </p:txBody>
      </p:sp>
      <p:sp>
        <p:nvSpPr>
          <p:cNvPr id="11" name="文本框 10"/>
          <p:cNvSpPr txBox="1"/>
          <p:nvPr/>
        </p:nvSpPr>
        <p:spPr>
          <a:xfrm>
            <a:off x="6983021" y="2158257"/>
            <a:ext cx="327334" cy="707886"/>
          </a:xfrm>
          <a:prstGeom prst="rect">
            <a:avLst/>
          </a:prstGeom>
          <a:noFill/>
        </p:spPr>
        <p:txBody>
          <a:bodyPr wrap="none" rtlCol="0">
            <a:spAutoFit/>
          </a:bodyPr>
          <a:lstStyle/>
          <a:p>
            <a:r>
              <a:rPr lang="en-US" altLang="zh-CN" sz="4000" dirty="0">
                <a:solidFill>
                  <a:srgbClr val="FF0000"/>
                </a:solidFill>
              </a:rPr>
              <a:t>.</a:t>
            </a:r>
            <a:endParaRPr lang="zh-CN" altLang="en-US" sz="4000" dirty="0">
              <a:solidFill>
                <a:srgbClr val="FF0000"/>
              </a:solidFill>
            </a:endParaRPr>
          </a:p>
        </p:txBody>
      </p:sp>
      <p:sp>
        <p:nvSpPr>
          <p:cNvPr id="4" name="矩形 3"/>
          <p:cNvSpPr/>
          <p:nvPr/>
        </p:nvSpPr>
        <p:spPr>
          <a:xfrm>
            <a:off x="6300192" y="2893340"/>
            <a:ext cx="417102" cy="369332"/>
          </a:xfrm>
          <a:prstGeom prst="rect">
            <a:avLst/>
          </a:prstGeom>
        </p:spPr>
        <p:txBody>
          <a:bodyPr wrap="none">
            <a:spAutoFit/>
          </a:bodyPr>
          <a:lstStyle/>
          <a:p>
            <a:r>
              <a:rPr lang="en-US" altLang="zh-CN" sz="1800" dirty="0">
                <a:latin typeface="宋体" panose="02010600030101010101" pitchFamily="2" charset="-122"/>
              </a:rPr>
              <a:t>②</a:t>
            </a:r>
            <a:endParaRPr lang="zh-CN" altLang="en-US" sz="1800" dirty="0"/>
          </a:p>
        </p:txBody>
      </p:sp>
      <p:sp>
        <p:nvSpPr>
          <p:cNvPr id="5" name="矩形 4"/>
          <p:cNvSpPr/>
          <p:nvPr/>
        </p:nvSpPr>
        <p:spPr>
          <a:xfrm>
            <a:off x="7203504" y="2856879"/>
            <a:ext cx="417102" cy="369332"/>
          </a:xfrm>
          <a:prstGeom prst="rect">
            <a:avLst/>
          </a:prstGeom>
        </p:spPr>
        <p:txBody>
          <a:bodyPr wrap="none">
            <a:spAutoFit/>
          </a:bodyPr>
          <a:lstStyle/>
          <a:p>
            <a:r>
              <a:rPr lang="en-US" altLang="zh-CN" sz="1800" dirty="0">
                <a:latin typeface="宋体" panose="02010600030101010101" pitchFamily="2" charset="-122"/>
              </a:rPr>
              <a:t>③</a:t>
            </a:r>
            <a:endParaRPr lang="zh-CN" altLang="en-US" sz="1800" dirty="0"/>
          </a:p>
        </p:txBody>
      </p:sp>
      <p:cxnSp>
        <p:nvCxnSpPr>
          <p:cNvPr id="17" name="直接连接符 16"/>
          <p:cNvCxnSpPr/>
          <p:nvPr/>
        </p:nvCxnSpPr>
        <p:spPr bwMode="auto">
          <a:xfrm>
            <a:off x="6300192" y="2564904"/>
            <a:ext cx="1728192" cy="1728192"/>
          </a:xfrm>
          <a:prstGeom prst="line">
            <a:avLst/>
          </a:prstGeom>
          <a:noFill/>
          <a:ln w="285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6228184" y="1755882"/>
            <a:ext cx="1728192" cy="1728192"/>
          </a:xfrm>
          <a:prstGeom prst="line">
            <a:avLst/>
          </a:prstGeom>
          <a:noFill/>
          <a:ln w="285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ADF9F261-899D-4EC2-9164-A2D03DE1256E}"/>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24744"/>
            <a:ext cx="8469759" cy="2382191"/>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pPr marL="0" indent="0" algn="just" eaLnBrk="1" hangingPunct="1">
              <a:buNone/>
            </a:pPr>
            <a:r>
              <a:rPr lang="en-US" altLang="zh-CN" b="0" dirty="0">
                <a:latin typeface="宋体" panose="02010600030101010101" pitchFamily="2" charset="-122"/>
              </a:rPr>
              <a:t>    </a:t>
            </a:r>
            <a:r>
              <a:rPr lang="en-US" altLang="zh-CN" sz="2000" dirty="0">
                <a:latin typeface="宋体" panose="02010600030101010101" pitchFamily="2" charset="-122"/>
              </a:rPr>
              <a:t>max z=x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     ①</a:t>
            </a:r>
          </a:p>
          <a:p>
            <a:pPr marL="0" indent="0" algn="just" eaLnBrk="1" hangingPunct="1">
              <a:buNone/>
            </a:pPr>
            <a:r>
              <a:rPr lang="en-US" altLang="zh-CN" sz="2000" b="0" dirty="0">
                <a:latin typeface="宋体" panose="02010600030101010101" pitchFamily="2" charset="-122"/>
              </a:rPr>
              <a:t>     </a:t>
            </a:r>
            <a:r>
              <a:rPr lang="en-US" altLang="zh-CN" sz="2000" dirty="0">
                <a:latin typeface="宋体" panose="02010600030101010101" pitchFamily="2" charset="-122"/>
              </a:rPr>
              <a:t>-x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≤1       ②</a:t>
            </a:r>
          </a:p>
          <a:p>
            <a:pPr marL="0" indent="0" algn="just" eaLnBrk="1" hangingPunct="1">
              <a:buNone/>
            </a:pPr>
            <a:r>
              <a:rPr lang="en-US" altLang="zh-CN" sz="2000" dirty="0">
                <a:latin typeface="宋体" panose="02010600030101010101" pitchFamily="2" charset="-122"/>
              </a:rPr>
              <a:t>     3x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≤4       ③ (6-3)</a:t>
            </a:r>
          </a:p>
          <a:p>
            <a:pPr marL="0" indent="0" algn="just" eaLnBrk="1" hangingPunct="1">
              <a:buNone/>
            </a:pPr>
            <a:r>
              <a:rPr lang="en-US" altLang="zh-CN" sz="2000" dirty="0">
                <a:latin typeface="宋体" panose="02010600030101010101" pitchFamily="2" charset="-122"/>
              </a:rPr>
              <a:t>     x</a:t>
            </a:r>
            <a:r>
              <a:rPr lang="en-US" altLang="zh-CN" sz="2000" baseline="-30000" dirty="0">
                <a:latin typeface="宋体" panose="02010600030101010101" pitchFamily="2" charset="-122"/>
              </a:rPr>
              <a:t>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≥0       ④</a:t>
            </a:r>
          </a:p>
          <a:p>
            <a:pPr marL="0" indent="0" algn="just" eaLnBrk="1" hangingPunct="1">
              <a:buNone/>
            </a:pPr>
            <a:r>
              <a:rPr lang="en-US" altLang="zh-CN" sz="2000" dirty="0">
                <a:latin typeface="宋体" panose="02010600030101010101" pitchFamily="2" charset="-122"/>
              </a:rPr>
              <a:t>     x</a:t>
            </a:r>
            <a:r>
              <a:rPr lang="en-US" altLang="zh-CN" sz="2000" baseline="-30000" dirty="0">
                <a:latin typeface="宋体" panose="02010600030101010101" pitchFamily="2" charset="-122"/>
              </a:rPr>
              <a:t>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 </a:t>
            </a:r>
            <a:r>
              <a:rPr lang="zh-CN" altLang="en-US" sz="2000" dirty="0">
                <a:latin typeface="宋体" panose="02010600030101010101" pitchFamily="2" charset="-122"/>
              </a:rPr>
              <a:t>整数     ⑤</a:t>
            </a:r>
            <a:endParaRPr lang="zh-CN" altLang="en-US" sz="2000" dirty="0"/>
          </a:p>
        </p:txBody>
      </p:sp>
      <p:sp>
        <p:nvSpPr>
          <p:cNvPr id="30723" name="灯片编号占位符 5">
            <a:extLst>
              <a:ext uri="{FF2B5EF4-FFF2-40B4-BE49-F238E27FC236}">
                <a16:creationId xmlns:a16="http://schemas.microsoft.com/office/drawing/2014/main" id="{DAD5F5CB-EFD8-429C-A1A6-511F095437D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4FE771-9B4A-45B0-865A-D0C00217110D}" type="slidenum">
              <a:rPr lang="en-US" altLang="zh-CN" sz="1000" smtClean="0"/>
              <a:pPr>
                <a:spcBef>
                  <a:spcPct val="0"/>
                </a:spcBef>
                <a:buClrTx/>
                <a:buSzTx/>
                <a:buFontTx/>
                <a:buNone/>
              </a:pPr>
              <a:t>16</a:t>
            </a:fld>
            <a:endParaRPr lang="en-US" altLang="zh-CN" sz="1000"/>
          </a:p>
        </p:txBody>
      </p:sp>
      <p:sp>
        <p:nvSpPr>
          <p:cNvPr id="30725" name="Rectangle 3">
            <a:extLst>
              <a:ext uri="{FF2B5EF4-FFF2-40B4-BE49-F238E27FC236}">
                <a16:creationId xmlns:a16="http://schemas.microsoft.com/office/drawing/2014/main" id="{2FD009EC-67B4-4653-9DB9-2A3E28F1155B}"/>
              </a:ext>
            </a:extLst>
          </p:cNvPr>
          <p:cNvSpPr>
            <a:spLocks noChangeArrowheads="1"/>
          </p:cNvSpPr>
          <p:nvPr/>
        </p:nvSpPr>
        <p:spPr bwMode="auto">
          <a:xfrm>
            <a:off x="223838" y="1550988"/>
            <a:ext cx="842486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p>
        </p:txBody>
      </p:sp>
      <p:sp>
        <p:nvSpPr>
          <p:cNvPr id="30726" name="Rectangle 4">
            <a:extLst>
              <a:ext uri="{FF2B5EF4-FFF2-40B4-BE49-F238E27FC236}">
                <a16:creationId xmlns:a16="http://schemas.microsoft.com/office/drawing/2014/main" id="{B58AA2EB-7B50-4A27-AC11-4CA5E438FA82}"/>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0727" name="Rectangle 5">
            <a:extLst>
              <a:ext uri="{FF2B5EF4-FFF2-40B4-BE49-F238E27FC236}">
                <a16:creationId xmlns:a16="http://schemas.microsoft.com/office/drawing/2014/main" id="{0CE06EBF-6F34-4FA5-A538-051D8CCA162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pic>
        <p:nvPicPr>
          <p:cNvPr id="30728" name="Picture 8">
            <a:extLst>
              <a:ext uri="{FF2B5EF4-FFF2-40B4-BE49-F238E27FC236}">
                <a16:creationId xmlns:a16="http://schemas.microsoft.com/office/drawing/2014/main" id="{7F354FDB-B824-41B8-AFB4-4927BED420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376" y="3506935"/>
            <a:ext cx="3455987"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9" name="Rectangle 9">
            <a:extLst>
              <a:ext uri="{FF2B5EF4-FFF2-40B4-BE49-F238E27FC236}">
                <a16:creationId xmlns:a16="http://schemas.microsoft.com/office/drawing/2014/main" id="{5AB64279-5FAF-4979-90A3-E52BB2EE6588}"/>
              </a:ext>
            </a:extLst>
          </p:cNvPr>
          <p:cNvSpPr>
            <a:spLocks noChangeArrowheads="1"/>
          </p:cNvSpPr>
          <p:nvPr/>
        </p:nvSpPr>
        <p:spPr bwMode="auto">
          <a:xfrm>
            <a:off x="5076056" y="4475692"/>
            <a:ext cx="3626755" cy="2055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90000"/>
              </a:lnSpc>
              <a:buFont typeface="Wingdings" panose="05000000000000000000" pitchFamily="2" charset="2"/>
              <a:buNone/>
            </a:pPr>
            <a:r>
              <a:rPr lang="zh-CN" altLang="en-US" sz="2000" dirty="0"/>
              <a:t>如在域</a:t>
            </a:r>
            <a:r>
              <a:rPr lang="en-US" altLang="zh-CN" sz="2000" dirty="0"/>
              <a:t>R′</a:t>
            </a:r>
            <a:r>
              <a:rPr lang="zh-CN" altLang="en-US" sz="2000" dirty="0"/>
              <a:t>上求解①～④，而得到的最优解又恰巧在</a:t>
            </a:r>
            <a:r>
              <a:rPr lang="en-US" altLang="zh-CN" sz="2000" dirty="0"/>
              <a:t>C</a:t>
            </a:r>
            <a:r>
              <a:rPr lang="zh-CN" altLang="en-US" sz="2000" dirty="0"/>
              <a:t>点就得到原问题的整数解，所以解法的关键是怎样构造一个这样的</a:t>
            </a:r>
            <a:r>
              <a:rPr lang="zh-CN" altLang="en-US" sz="2000" dirty="0">
                <a:latin typeface="Courier New" panose="02070309020205020404" pitchFamily="49" charset="0"/>
              </a:rPr>
              <a:t>“</a:t>
            </a:r>
            <a:r>
              <a:rPr lang="zh-CN" altLang="en-US" sz="2000" dirty="0"/>
              <a:t>割平面</a:t>
            </a:r>
            <a:r>
              <a:rPr lang="zh-CN" altLang="en-US" sz="2000" dirty="0">
                <a:latin typeface="Courier New" panose="02070309020205020404" pitchFamily="49" charset="0"/>
              </a:rPr>
              <a:t>”</a:t>
            </a:r>
            <a:r>
              <a:rPr lang="en-US" altLang="zh-CN" sz="2000" dirty="0"/>
              <a:t>CD</a:t>
            </a:r>
            <a:r>
              <a:rPr lang="zh-CN" altLang="en-US" sz="2000" dirty="0"/>
              <a:t>，尽管它可能不是唯一的，也可能不是一步能求到的。</a:t>
            </a:r>
          </a:p>
        </p:txBody>
      </p:sp>
      <p:sp>
        <p:nvSpPr>
          <p:cNvPr id="30730" name="Rectangle 10">
            <a:extLst>
              <a:ext uri="{FF2B5EF4-FFF2-40B4-BE49-F238E27FC236}">
                <a16:creationId xmlns:a16="http://schemas.microsoft.com/office/drawing/2014/main" id="{A971F0E3-897B-4E3B-AA25-D7C1317F16F1}"/>
              </a:ext>
            </a:extLst>
          </p:cNvPr>
          <p:cNvSpPr>
            <a:spLocks noChangeArrowheads="1"/>
          </p:cNvSpPr>
          <p:nvPr/>
        </p:nvSpPr>
        <p:spPr bwMode="auto">
          <a:xfrm>
            <a:off x="107197" y="5819969"/>
            <a:ext cx="8114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None/>
            </a:pPr>
            <a:r>
              <a:rPr lang="zh-CN" altLang="en-US" sz="2000" b="0" dirty="0"/>
              <a:t>图</a:t>
            </a:r>
            <a:r>
              <a:rPr lang="en-US" altLang="zh-CN" sz="2000" b="0" dirty="0"/>
              <a:t>6-6</a:t>
            </a:r>
          </a:p>
        </p:txBody>
      </p:sp>
      <p:sp>
        <p:nvSpPr>
          <p:cNvPr id="3" name="矩形 2"/>
          <p:cNvSpPr/>
          <p:nvPr/>
        </p:nvSpPr>
        <p:spPr>
          <a:xfrm>
            <a:off x="5138010" y="2387699"/>
            <a:ext cx="3510690" cy="1631216"/>
          </a:xfrm>
          <a:prstGeom prst="rect">
            <a:avLst/>
          </a:prstGeom>
        </p:spPr>
        <p:txBody>
          <a:bodyPr wrap="square">
            <a:spAutoFit/>
          </a:bodyPr>
          <a:lstStyle/>
          <a:p>
            <a:pPr eaLnBrk="1" hangingPunct="1"/>
            <a:r>
              <a:rPr lang="zh-CN" altLang="en-US" sz="2000" dirty="0"/>
              <a:t>现设想，如能找到像</a:t>
            </a:r>
            <a:r>
              <a:rPr lang="en-US" altLang="zh-CN" sz="2000" dirty="0"/>
              <a:t>CD</a:t>
            </a:r>
            <a:r>
              <a:rPr lang="zh-CN" altLang="en-US" sz="2000" dirty="0"/>
              <a:t>那样的直线去切割域</a:t>
            </a:r>
            <a:r>
              <a:rPr lang="en-US" altLang="zh-CN" sz="2000" dirty="0"/>
              <a:t>R(</a:t>
            </a:r>
            <a:r>
              <a:rPr lang="zh-CN" altLang="en-US" sz="2000" dirty="0"/>
              <a:t>图</a:t>
            </a:r>
            <a:r>
              <a:rPr lang="en-US" altLang="zh-CN" sz="2000" dirty="0"/>
              <a:t>6-6)</a:t>
            </a:r>
            <a:r>
              <a:rPr lang="zh-CN" altLang="en-US" sz="2000" dirty="0"/>
              <a:t>，去掉三角形域</a:t>
            </a:r>
            <a:r>
              <a:rPr lang="en-US" altLang="zh-CN" sz="2000" dirty="0"/>
              <a:t>ACD</a:t>
            </a:r>
            <a:r>
              <a:rPr lang="zh-CN" altLang="en-US" sz="2000" dirty="0"/>
              <a:t>，那么具有整数坐标的</a:t>
            </a:r>
            <a:r>
              <a:rPr lang="en-US" altLang="zh-CN" sz="2000" dirty="0"/>
              <a:t>C</a:t>
            </a:r>
            <a:r>
              <a:rPr lang="zh-CN" altLang="en-US" sz="2000" dirty="0"/>
              <a:t>点</a:t>
            </a:r>
            <a:r>
              <a:rPr lang="en-US" altLang="zh-CN" sz="2000" dirty="0"/>
              <a:t>(1</a:t>
            </a:r>
            <a:r>
              <a:rPr lang="zh-CN" altLang="en-US" sz="2000" dirty="0"/>
              <a:t>，</a:t>
            </a:r>
            <a:r>
              <a:rPr lang="en-US" altLang="zh-CN" sz="2000" dirty="0"/>
              <a:t>1)</a:t>
            </a:r>
            <a:r>
              <a:rPr lang="zh-CN" altLang="en-US" sz="2000" dirty="0"/>
              <a:t>就是域</a:t>
            </a:r>
            <a:r>
              <a:rPr lang="en-US" altLang="zh-CN" sz="2000" dirty="0"/>
              <a:t>R′</a:t>
            </a:r>
            <a:r>
              <a:rPr lang="zh-CN" altLang="en-US" sz="2000" dirty="0"/>
              <a:t>的一个极点。</a:t>
            </a:r>
          </a:p>
        </p:txBody>
      </p:sp>
      <p:cxnSp>
        <p:nvCxnSpPr>
          <p:cNvPr id="12" name="直接连接符 11"/>
          <p:cNvCxnSpPr/>
          <p:nvPr/>
        </p:nvCxnSpPr>
        <p:spPr bwMode="auto">
          <a:xfrm>
            <a:off x="1907704" y="3717032"/>
            <a:ext cx="1728192" cy="1728192"/>
          </a:xfrm>
          <a:prstGeom prst="line">
            <a:avLst/>
          </a:prstGeom>
          <a:noFill/>
          <a:ln w="285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a:off x="2555776" y="3556082"/>
            <a:ext cx="1728192" cy="1728192"/>
          </a:xfrm>
          <a:prstGeom prst="line">
            <a:avLst/>
          </a:prstGeom>
          <a:noFill/>
          <a:ln w="285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9"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ADF9F261-899D-4EC2-9164-A2D03DE1256E}"/>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24744"/>
            <a:ext cx="8469759" cy="2382191"/>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pPr marL="0" indent="0" algn="just" eaLnBrk="1" hangingPunct="1">
              <a:buNone/>
            </a:pPr>
            <a:r>
              <a:rPr lang="en-US" altLang="zh-CN" b="0" dirty="0">
                <a:latin typeface="宋体" panose="02010600030101010101" pitchFamily="2" charset="-122"/>
              </a:rPr>
              <a:t>    </a:t>
            </a:r>
            <a:r>
              <a:rPr lang="en-US" altLang="zh-CN" sz="2000" dirty="0">
                <a:latin typeface="宋体" panose="02010600030101010101" pitchFamily="2" charset="-122"/>
              </a:rPr>
              <a:t>max z=x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     ①</a:t>
            </a:r>
          </a:p>
          <a:p>
            <a:pPr marL="0" indent="0" algn="just" eaLnBrk="1" hangingPunct="1">
              <a:buNone/>
            </a:pPr>
            <a:r>
              <a:rPr lang="en-US" altLang="zh-CN" sz="2000" b="0" dirty="0">
                <a:latin typeface="宋体" panose="02010600030101010101" pitchFamily="2" charset="-122"/>
              </a:rPr>
              <a:t>     </a:t>
            </a:r>
            <a:r>
              <a:rPr lang="en-US" altLang="zh-CN" sz="2000" dirty="0">
                <a:latin typeface="宋体" panose="02010600030101010101" pitchFamily="2" charset="-122"/>
              </a:rPr>
              <a:t>-x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≤1       ②</a:t>
            </a:r>
          </a:p>
          <a:p>
            <a:pPr marL="0" indent="0" algn="just" eaLnBrk="1" hangingPunct="1">
              <a:buNone/>
            </a:pPr>
            <a:r>
              <a:rPr lang="en-US" altLang="zh-CN" sz="2000" dirty="0">
                <a:latin typeface="宋体" panose="02010600030101010101" pitchFamily="2" charset="-122"/>
              </a:rPr>
              <a:t>     3x</a:t>
            </a:r>
            <a:r>
              <a:rPr lang="en-US" altLang="zh-CN" sz="2000" baseline="-30000" dirty="0">
                <a:latin typeface="宋体" panose="02010600030101010101" pitchFamily="2" charset="-122"/>
              </a:rPr>
              <a:t>1</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≤4       ③ (6-3)</a:t>
            </a:r>
          </a:p>
          <a:p>
            <a:pPr marL="0" indent="0" algn="just" eaLnBrk="1" hangingPunct="1">
              <a:buNone/>
            </a:pPr>
            <a:r>
              <a:rPr lang="en-US" altLang="zh-CN" sz="2000" dirty="0">
                <a:latin typeface="宋体" panose="02010600030101010101" pitchFamily="2" charset="-122"/>
              </a:rPr>
              <a:t>     x</a:t>
            </a:r>
            <a:r>
              <a:rPr lang="en-US" altLang="zh-CN" sz="2000" baseline="-30000" dirty="0">
                <a:latin typeface="宋体" panose="02010600030101010101" pitchFamily="2" charset="-122"/>
              </a:rPr>
              <a:t>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≥0       ④</a:t>
            </a:r>
          </a:p>
          <a:p>
            <a:pPr marL="0" indent="0" algn="just" eaLnBrk="1" hangingPunct="1">
              <a:buNone/>
            </a:pPr>
            <a:r>
              <a:rPr lang="en-US" altLang="zh-CN" sz="2000" dirty="0">
                <a:latin typeface="宋体" panose="02010600030101010101" pitchFamily="2" charset="-122"/>
              </a:rPr>
              <a:t>     x</a:t>
            </a:r>
            <a:r>
              <a:rPr lang="en-US" altLang="zh-CN" sz="2000" baseline="-30000" dirty="0">
                <a:latin typeface="宋体" panose="02010600030101010101" pitchFamily="2" charset="-122"/>
              </a:rPr>
              <a:t>1</a:t>
            </a:r>
            <a:r>
              <a:rPr lang="zh-CN" altLang="en-US" sz="2000" dirty="0">
                <a:latin typeface="宋体" panose="02010600030101010101" pitchFamily="2" charset="-122"/>
              </a:rPr>
              <a:t>，</a:t>
            </a:r>
            <a:r>
              <a:rPr lang="en-US" altLang="zh-CN" sz="2000" dirty="0">
                <a:latin typeface="宋体" panose="02010600030101010101" pitchFamily="2" charset="-122"/>
              </a:rPr>
              <a:t>x</a:t>
            </a:r>
            <a:r>
              <a:rPr lang="en-US" altLang="zh-CN" sz="2000" baseline="-30000" dirty="0">
                <a:latin typeface="宋体" panose="02010600030101010101" pitchFamily="2" charset="-122"/>
              </a:rPr>
              <a:t>2</a:t>
            </a:r>
            <a:r>
              <a:rPr lang="en-US" altLang="zh-CN" sz="2000" dirty="0">
                <a:latin typeface="宋体" panose="02010600030101010101" pitchFamily="2" charset="-122"/>
              </a:rPr>
              <a:t> </a:t>
            </a:r>
            <a:r>
              <a:rPr lang="zh-CN" altLang="en-US" sz="2000" dirty="0">
                <a:latin typeface="宋体" panose="02010600030101010101" pitchFamily="2" charset="-122"/>
              </a:rPr>
              <a:t>整数     ⑤</a:t>
            </a:r>
            <a:endParaRPr lang="zh-CN" altLang="en-US" sz="2000" dirty="0"/>
          </a:p>
        </p:txBody>
      </p:sp>
      <p:sp>
        <p:nvSpPr>
          <p:cNvPr id="30723" name="灯片编号占位符 5">
            <a:extLst>
              <a:ext uri="{FF2B5EF4-FFF2-40B4-BE49-F238E27FC236}">
                <a16:creationId xmlns:a16="http://schemas.microsoft.com/office/drawing/2014/main" id="{DAD5F5CB-EFD8-429C-A1A6-511F095437D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4FE771-9B4A-45B0-865A-D0C00217110D}" type="slidenum">
              <a:rPr lang="en-US" altLang="zh-CN" sz="1000" smtClean="0"/>
              <a:pPr>
                <a:spcBef>
                  <a:spcPct val="0"/>
                </a:spcBef>
                <a:buClrTx/>
                <a:buSzTx/>
                <a:buFontTx/>
                <a:buNone/>
              </a:pPr>
              <a:t>17</a:t>
            </a:fld>
            <a:endParaRPr lang="en-US" altLang="zh-CN" sz="1000"/>
          </a:p>
        </p:txBody>
      </p:sp>
      <p:sp>
        <p:nvSpPr>
          <p:cNvPr id="30725" name="Rectangle 3">
            <a:extLst>
              <a:ext uri="{FF2B5EF4-FFF2-40B4-BE49-F238E27FC236}">
                <a16:creationId xmlns:a16="http://schemas.microsoft.com/office/drawing/2014/main" id="{2FD009EC-67B4-4653-9DB9-2A3E28F1155B}"/>
              </a:ext>
            </a:extLst>
          </p:cNvPr>
          <p:cNvSpPr>
            <a:spLocks noChangeArrowheads="1"/>
          </p:cNvSpPr>
          <p:nvPr/>
        </p:nvSpPr>
        <p:spPr bwMode="auto">
          <a:xfrm>
            <a:off x="223838" y="1550988"/>
            <a:ext cx="842486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p>
        </p:txBody>
      </p:sp>
      <p:sp>
        <p:nvSpPr>
          <p:cNvPr id="30726" name="Rectangle 4">
            <a:extLst>
              <a:ext uri="{FF2B5EF4-FFF2-40B4-BE49-F238E27FC236}">
                <a16:creationId xmlns:a16="http://schemas.microsoft.com/office/drawing/2014/main" id="{B58AA2EB-7B50-4A27-AC11-4CA5E438FA82}"/>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0727" name="Rectangle 5">
            <a:extLst>
              <a:ext uri="{FF2B5EF4-FFF2-40B4-BE49-F238E27FC236}">
                <a16:creationId xmlns:a16="http://schemas.microsoft.com/office/drawing/2014/main" id="{0CE06EBF-6F34-4FA5-A538-051D8CCA162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 name="矩形 2"/>
          <p:cNvSpPr/>
          <p:nvPr/>
        </p:nvSpPr>
        <p:spPr>
          <a:xfrm>
            <a:off x="4644008" y="1345992"/>
            <a:ext cx="4464496" cy="1938992"/>
          </a:xfrm>
          <a:prstGeom prst="rect">
            <a:avLst/>
          </a:prstGeom>
        </p:spPr>
        <p:txBody>
          <a:bodyPr wrap="square">
            <a:spAutoFit/>
          </a:bodyPr>
          <a:lstStyle/>
          <a:p>
            <a:pPr algn="just" eaLnBrk="1" hangingPunct="1"/>
            <a:r>
              <a:rPr lang="zh-CN" altLang="en-US" sz="2000" dirty="0">
                <a:latin typeface="Times New Roman" panose="02020603050405020304" pitchFamily="18" charset="0"/>
                <a:cs typeface="Times New Roman" panose="02020603050405020304" pitchFamily="18" charset="0"/>
              </a:rPr>
              <a:t>在原问题的前两个不等式中增加非负松弛变量</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，使两式变成等式约束：</a:t>
            </a:r>
          </a:p>
          <a:p>
            <a:pPr algn="ctr" eaLnBrk="1" hangingPunct="1">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3       </a:t>
            </a:r>
            <a:r>
              <a:rPr lang="en-US" altLang="zh-CN" sz="2000" dirty="0">
                <a:latin typeface="Times New Roman" panose="02020603050405020304" pitchFamily="18" charset="0"/>
                <a:cs typeface="Times New Roman" panose="02020603050405020304" pitchFamily="18" charset="0"/>
              </a:rPr>
              <a:t>=1           ⑥</a:t>
            </a:r>
          </a:p>
          <a:p>
            <a:pPr algn="ctr" eaLnBrk="1" hangingPunct="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3</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       </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4</a:t>
            </a:r>
            <a:r>
              <a:rPr lang="en-US" altLang="zh-CN" sz="2000" dirty="0">
                <a:latin typeface="Times New Roman" panose="02020603050405020304" pitchFamily="18" charset="0"/>
                <a:cs typeface="Times New Roman" panose="02020603050405020304" pitchFamily="18" charset="0"/>
              </a:rPr>
              <a:t>=4           ⑦</a:t>
            </a:r>
          </a:p>
          <a:p>
            <a:pPr algn="just" eaLnBrk="1" hangingPunct="1">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不考虑条件⑤，用单纯形表解题，见表</a:t>
            </a:r>
            <a:r>
              <a:rPr lang="en-US" altLang="zh-CN" sz="2000" dirty="0">
                <a:latin typeface="Times New Roman" panose="02020603050405020304" pitchFamily="18" charset="0"/>
                <a:cs typeface="Times New Roman" panose="02020603050405020304" pitchFamily="18" charset="0"/>
              </a:rPr>
              <a:t>6-3</a:t>
            </a:r>
            <a:r>
              <a:rPr lang="zh-CN" altLang="en-US" sz="2000" dirty="0">
                <a:latin typeface="Times New Roman" panose="02020603050405020304" pitchFamily="18" charset="0"/>
                <a:cs typeface="Times New Roman" panose="02020603050405020304" pitchFamily="18" charset="0"/>
              </a:rPr>
              <a:t>。</a:t>
            </a:r>
          </a:p>
        </p:txBody>
      </p:sp>
      <p:graphicFrame>
        <p:nvGraphicFramePr>
          <p:cNvPr id="12" name="Object 6">
            <a:extLst>
              <a:ext uri="{FF2B5EF4-FFF2-40B4-BE49-F238E27FC236}">
                <a16:creationId xmlns:a16="http://schemas.microsoft.com/office/drawing/2014/main" id="{EA44C109-DA65-47B1-B8C8-9D7CD9372E95}"/>
              </a:ext>
            </a:extLst>
          </p:cNvPr>
          <p:cNvGraphicFramePr>
            <a:graphicFrameLocks noChangeAspect="1"/>
          </p:cNvGraphicFramePr>
          <p:nvPr>
            <p:extLst>
              <p:ext uri="{D42A27DB-BD31-4B8C-83A1-F6EECF244321}">
                <p14:modId xmlns:p14="http://schemas.microsoft.com/office/powerpoint/2010/main" val="2548947924"/>
              </p:ext>
            </p:extLst>
          </p:nvPr>
        </p:nvGraphicFramePr>
        <p:xfrm>
          <a:off x="755576" y="3551898"/>
          <a:ext cx="7632848" cy="2755913"/>
        </p:xfrm>
        <a:graphic>
          <a:graphicData uri="http://schemas.openxmlformats.org/presentationml/2006/ole">
            <mc:AlternateContent xmlns:mc="http://schemas.openxmlformats.org/markup-compatibility/2006">
              <mc:Choice xmlns:v="urn:schemas-microsoft-com:vml" Requires="v">
                <p:oleObj spid="_x0000_s42035" name="文档" r:id="rId3" imgW="5428383" imgH="1851897" progId="Word.Document.8">
                  <p:embed/>
                </p:oleObj>
              </mc:Choice>
              <mc:Fallback>
                <p:oleObj name="文档" r:id="rId3" imgW="5428383" imgH="1851897" progId="Word.Document.8">
                  <p:embed/>
                  <p:pic>
                    <p:nvPicPr>
                      <p:cNvPr id="32775" name="Object 6">
                        <a:extLst>
                          <a:ext uri="{FF2B5EF4-FFF2-40B4-BE49-F238E27FC236}">
                            <a16:creationId xmlns:a16="http://schemas.microsoft.com/office/drawing/2014/main" id="{EA44C109-DA65-47B1-B8C8-9D7CD9372E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551898"/>
                        <a:ext cx="7632848" cy="2755913"/>
                      </a:xfrm>
                      <a:prstGeom prst="rect">
                        <a:avLst/>
                      </a:prstGeom>
                      <a:noFill/>
                      <a:ln>
                        <a:noFill/>
                      </a:ln>
                      <a:effectLst/>
                      <a:extLst/>
                    </p:spPr>
                  </p:pic>
                </p:oleObj>
              </mc:Fallback>
            </mc:AlternateContent>
          </a:graphicData>
        </a:graphic>
      </p:graphicFrame>
      <p:sp>
        <p:nvSpPr>
          <p:cNvPr id="13" name="Rectangle 7">
            <a:extLst>
              <a:ext uri="{FF2B5EF4-FFF2-40B4-BE49-F238E27FC236}">
                <a16:creationId xmlns:a16="http://schemas.microsoft.com/office/drawing/2014/main" id="{B4803AF5-624B-42C3-BCA8-06F8DB146092}"/>
              </a:ext>
            </a:extLst>
          </p:cNvPr>
          <p:cNvSpPr>
            <a:spLocks noChangeArrowheads="1"/>
          </p:cNvSpPr>
          <p:nvPr/>
        </p:nvSpPr>
        <p:spPr bwMode="auto">
          <a:xfrm>
            <a:off x="179512" y="6165304"/>
            <a:ext cx="91439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1800" dirty="0">
                <a:latin typeface="Times New Roman" panose="02020603050405020304" pitchFamily="18" charset="0"/>
                <a:cs typeface="Times New Roman" panose="02020603050405020304" pitchFamily="18" charset="0"/>
              </a:rPr>
              <a:t>从表</a:t>
            </a:r>
            <a:r>
              <a:rPr kumimoji="1" lang="en-US" altLang="zh-CN" sz="1800" dirty="0">
                <a:latin typeface="Times New Roman" panose="02020603050405020304" pitchFamily="18" charset="0"/>
                <a:cs typeface="Times New Roman" panose="02020603050405020304" pitchFamily="18" charset="0"/>
              </a:rPr>
              <a:t>6-3</a:t>
            </a:r>
            <a:r>
              <a:rPr kumimoji="1" lang="zh-CN" altLang="en-US" sz="1800" dirty="0">
                <a:latin typeface="Times New Roman" panose="02020603050405020304" pitchFamily="18" charset="0"/>
                <a:cs typeface="Times New Roman" panose="02020603050405020304" pitchFamily="18" charset="0"/>
              </a:rPr>
              <a:t>的最终计算表中，得到非整数的最优解： </a:t>
            </a:r>
            <a:r>
              <a:rPr kumimoji="1" lang="en-US" altLang="zh-CN" sz="1800" i="1" dirty="0">
                <a:latin typeface="Times New Roman" panose="02020603050405020304" pitchFamily="18" charset="0"/>
                <a:cs typeface="Times New Roman" panose="02020603050405020304" pitchFamily="18" charset="0"/>
              </a:rPr>
              <a:t>x</a:t>
            </a:r>
            <a:r>
              <a:rPr kumimoji="1" lang="en-US" altLang="zh-CN" sz="1800" baseline="-30000" dirty="0">
                <a:latin typeface="Times New Roman" panose="02020603050405020304" pitchFamily="18" charset="0"/>
                <a:cs typeface="Times New Roman" panose="02020603050405020304" pitchFamily="18" charset="0"/>
              </a:rPr>
              <a:t>1</a:t>
            </a:r>
            <a:r>
              <a:rPr kumimoji="1" lang="en-US" altLang="zh-CN" sz="1800" dirty="0">
                <a:latin typeface="Times New Roman" panose="02020603050405020304" pitchFamily="18" charset="0"/>
                <a:cs typeface="Times New Roman" panose="02020603050405020304" pitchFamily="18" charset="0"/>
              </a:rPr>
              <a:t>=3/4</a:t>
            </a:r>
            <a:r>
              <a:rPr kumimoji="1" lang="zh-CN" altLang="en-US" sz="1800" dirty="0">
                <a:latin typeface="Times New Roman" panose="02020603050405020304" pitchFamily="18" charset="0"/>
                <a:cs typeface="Times New Roman" panose="02020603050405020304" pitchFamily="18" charset="0"/>
              </a:rPr>
              <a:t>，</a:t>
            </a:r>
            <a:r>
              <a:rPr kumimoji="1" lang="en-US" altLang="zh-CN" sz="1800" i="1" dirty="0">
                <a:latin typeface="Times New Roman" panose="02020603050405020304" pitchFamily="18" charset="0"/>
                <a:cs typeface="Times New Roman" panose="02020603050405020304" pitchFamily="18" charset="0"/>
              </a:rPr>
              <a:t>x</a:t>
            </a:r>
            <a:r>
              <a:rPr kumimoji="1" lang="en-US" altLang="zh-CN" sz="1800" baseline="-30000" dirty="0">
                <a:latin typeface="Times New Roman" panose="02020603050405020304" pitchFamily="18" charset="0"/>
                <a:cs typeface="Times New Roman" panose="02020603050405020304" pitchFamily="18" charset="0"/>
              </a:rPr>
              <a:t>2</a:t>
            </a:r>
            <a:r>
              <a:rPr kumimoji="1" lang="en-US" altLang="zh-CN" sz="1800" dirty="0">
                <a:latin typeface="Times New Roman" panose="02020603050405020304" pitchFamily="18" charset="0"/>
                <a:cs typeface="Times New Roman" panose="02020603050405020304" pitchFamily="18" charset="0"/>
              </a:rPr>
              <a:t>=7/4</a:t>
            </a:r>
            <a:r>
              <a:rPr kumimoji="1" lang="zh-CN" altLang="en-US" sz="1800" dirty="0">
                <a:latin typeface="Times New Roman" panose="02020603050405020304" pitchFamily="18" charset="0"/>
                <a:cs typeface="Times New Roman" panose="02020603050405020304" pitchFamily="18" charset="0"/>
              </a:rPr>
              <a:t>，</a:t>
            </a:r>
            <a:r>
              <a:rPr kumimoji="1" lang="en-US" altLang="zh-CN" sz="1800" i="1" dirty="0">
                <a:latin typeface="Times New Roman" panose="02020603050405020304" pitchFamily="18" charset="0"/>
                <a:cs typeface="Times New Roman" panose="02020603050405020304" pitchFamily="18" charset="0"/>
              </a:rPr>
              <a:t>x</a:t>
            </a:r>
            <a:r>
              <a:rPr kumimoji="1" lang="en-US" altLang="zh-CN" sz="1800" baseline="-30000" dirty="0">
                <a:latin typeface="Times New Roman" panose="02020603050405020304" pitchFamily="18" charset="0"/>
                <a:cs typeface="Times New Roman" panose="02020603050405020304" pitchFamily="18" charset="0"/>
              </a:rPr>
              <a:t>3</a:t>
            </a:r>
            <a:r>
              <a:rPr kumimoji="1" lang="en-US" altLang="zh-CN" sz="1800" dirty="0">
                <a:latin typeface="Times New Roman" panose="02020603050405020304" pitchFamily="18" charset="0"/>
                <a:cs typeface="Times New Roman" panose="02020603050405020304" pitchFamily="18" charset="0"/>
              </a:rPr>
              <a:t>=</a:t>
            </a:r>
            <a:r>
              <a:rPr kumimoji="1" lang="en-US" altLang="zh-CN" sz="1800" i="1" dirty="0">
                <a:latin typeface="Times New Roman" panose="02020603050405020304" pitchFamily="18" charset="0"/>
                <a:cs typeface="Times New Roman" panose="02020603050405020304" pitchFamily="18" charset="0"/>
              </a:rPr>
              <a:t>x</a:t>
            </a:r>
            <a:r>
              <a:rPr kumimoji="1" lang="en-US" altLang="zh-CN" sz="1800" baseline="-30000" dirty="0">
                <a:latin typeface="Times New Roman" panose="02020603050405020304" pitchFamily="18" charset="0"/>
                <a:cs typeface="Times New Roman" panose="02020603050405020304" pitchFamily="18" charset="0"/>
              </a:rPr>
              <a:t>4</a:t>
            </a:r>
            <a:r>
              <a:rPr kumimoji="1" lang="en-US" altLang="zh-CN" sz="1800" dirty="0">
                <a:latin typeface="Times New Roman" panose="02020603050405020304" pitchFamily="18" charset="0"/>
                <a:cs typeface="Times New Roman" panose="02020603050405020304" pitchFamily="18" charset="0"/>
              </a:rPr>
              <a:t>=0</a:t>
            </a:r>
            <a:r>
              <a:rPr kumimoji="1" lang="zh-CN" altLang="en-US" sz="1800" dirty="0">
                <a:latin typeface="Times New Roman" panose="02020603050405020304" pitchFamily="18" charset="0"/>
                <a:cs typeface="Times New Roman" panose="02020603050405020304" pitchFamily="18" charset="0"/>
              </a:rPr>
              <a:t>，</a:t>
            </a:r>
            <a:r>
              <a:rPr kumimoji="1" lang="en-US" altLang="zh-CN" sz="1800" dirty="0">
                <a:latin typeface="Times New Roman" panose="02020603050405020304" pitchFamily="18" charset="0"/>
                <a:cs typeface="Times New Roman" panose="02020603050405020304" pitchFamily="18" charset="0"/>
              </a:rPr>
              <a:t>max </a:t>
            </a:r>
            <a:r>
              <a:rPr kumimoji="1" lang="en-US" altLang="zh-CN" sz="1800" i="1" dirty="0">
                <a:latin typeface="Times New Roman" panose="02020603050405020304" pitchFamily="18" charset="0"/>
                <a:cs typeface="Times New Roman" panose="02020603050405020304" pitchFamily="18" charset="0"/>
              </a:rPr>
              <a:t>z</a:t>
            </a:r>
            <a:r>
              <a:rPr kumimoji="1" lang="en-US" altLang="zh-CN" sz="1800" dirty="0">
                <a:latin typeface="Times New Roman" panose="02020603050405020304" pitchFamily="18" charset="0"/>
                <a:cs typeface="Times New Roman" panose="02020603050405020304" pitchFamily="18" charset="0"/>
              </a:rPr>
              <a:t>=5/2</a:t>
            </a:r>
          </a:p>
        </p:txBody>
      </p:sp>
    </p:spTree>
    <p:extLst>
      <p:ext uri="{BB962C8B-B14F-4D97-AF65-F5344CB8AC3E}">
        <p14:creationId xmlns:p14="http://schemas.microsoft.com/office/powerpoint/2010/main" val="159313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ADF9F261-899D-4EC2-9164-A2D03DE1256E}"/>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24744"/>
            <a:ext cx="8469759" cy="461665"/>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p:txBody>
      </p:sp>
      <p:sp>
        <p:nvSpPr>
          <p:cNvPr id="30723" name="灯片编号占位符 5">
            <a:extLst>
              <a:ext uri="{FF2B5EF4-FFF2-40B4-BE49-F238E27FC236}">
                <a16:creationId xmlns:a16="http://schemas.microsoft.com/office/drawing/2014/main" id="{DAD5F5CB-EFD8-429C-A1A6-511F095437D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4FE771-9B4A-45B0-865A-D0C00217110D}" type="slidenum">
              <a:rPr lang="en-US" altLang="zh-CN" sz="1000" smtClean="0"/>
              <a:pPr>
                <a:spcBef>
                  <a:spcPct val="0"/>
                </a:spcBef>
                <a:buClrTx/>
                <a:buSzTx/>
                <a:buFontTx/>
                <a:buNone/>
              </a:pPr>
              <a:t>18</a:t>
            </a:fld>
            <a:endParaRPr lang="en-US" altLang="zh-CN" sz="1000"/>
          </a:p>
        </p:txBody>
      </p:sp>
      <p:sp>
        <p:nvSpPr>
          <p:cNvPr id="30725" name="Rectangle 3">
            <a:extLst>
              <a:ext uri="{FF2B5EF4-FFF2-40B4-BE49-F238E27FC236}">
                <a16:creationId xmlns:a16="http://schemas.microsoft.com/office/drawing/2014/main" id="{2FD009EC-67B4-4653-9DB9-2A3E28F1155B}"/>
              </a:ext>
            </a:extLst>
          </p:cNvPr>
          <p:cNvSpPr>
            <a:spLocks noChangeArrowheads="1"/>
          </p:cNvSpPr>
          <p:nvPr/>
        </p:nvSpPr>
        <p:spPr bwMode="auto">
          <a:xfrm>
            <a:off x="223838" y="1550988"/>
            <a:ext cx="842486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p>
        </p:txBody>
      </p:sp>
      <p:sp>
        <p:nvSpPr>
          <p:cNvPr id="30726" name="Rectangle 4">
            <a:extLst>
              <a:ext uri="{FF2B5EF4-FFF2-40B4-BE49-F238E27FC236}">
                <a16:creationId xmlns:a16="http://schemas.microsoft.com/office/drawing/2014/main" id="{B58AA2EB-7B50-4A27-AC11-4CA5E438FA82}"/>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0727" name="Rectangle 5">
            <a:extLst>
              <a:ext uri="{FF2B5EF4-FFF2-40B4-BE49-F238E27FC236}">
                <a16:creationId xmlns:a16="http://schemas.microsoft.com/office/drawing/2014/main" id="{0CE06EBF-6F34-4FA5-A538-051D8CCA162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11" name="Rectangle 6">
            <a:extLst>
              <a:ext uri="{FF2B5EF4-FFF2-40B4-BE49-F238E27FC236}">
                <a16:creationId xmlns:a16="http://schemas.microsoft.com/office/drawing/2014/main" id="{4B38370C-1894-4BC6-AC3F-28F28EF0DF5D}"/>
              </a:ext>
            </a:extLst>
          </p:cNvPr>
          <p:cNvSpPr>
            <a:spLocks noChangeArrowheads="1"/>
          </p:cNvSpPr>
          <p:nvPr/>
        </p:nvSpPr>
        <p:spPr bwMode="auto">
          <a:xfrm>
            <a:off x="367780" y="4179020"/>
            <a:ext cx="850475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dirty="0"/>
              <a:t>由于目前得到的解不满足整数最优解要求，需要考虑</a:t>
            </a:r>
            <a:r>
              <a:rPr kumimoji="1" lang="zh-CN" altLang="en-US" sz="2000" dirty="0">
                <a:solidFill>
                  <a:srgbClr val="FF0000"/>
                </a:solidFill>
              </a:rPr>
              <a:t>将带有分数的最优解的可行域中分数部分割去，再求最优解</a:t>
            </a:r>
            <a:r>
              <a:rPr kumimoji="1" lang="zh-CN" altLang="en-US" sz="2000" dirty="0"/>
              <a:t>。</a:t>
            </a:r>
          </a:p>
          <a:p>
            <a:pPr eaLnBrk="1" hangingPunct="1">
              <a:spcBef>
                <a:spcPct val="0"/>
              </a:spcBef>
              <a:buClrTx/>
              <a:buSzTx/>
              <a:buFontTx/>
              <a:buNone/>
            </a:pPr>
            <a:r>
              <a:rPr kumimoji="1" lang="zh-CN" altLang="en-US" sz="2000" dirty="0"/>
              <a:t>可从最终计算表中得到非整数变量对应的关系式：</a:t>
            </a:r>
          </a:p>
        </p:txBody>
      </p:sp>
      <p:graphicFrame>
        <p:nvGraphicFramePr>
          <p:cNvPr id="14" name="Object 6">
            <a:extLst>
              <a:ext uri="{FF2B5EF4-FFF2-40B4-BE49-F238E27FC236}">
                <a16:creationId xmlns:a16="http://schemas.microsoft.com/office/drawing/2014/main" id="{EA44C109-DA65-47B1-B8C8-9D7CD9372E95}"/>
              </a:ext>
            </a:extLst>
          </p:cNvPr>
          <p:cNvGraphicFramePr>
            <a:graphicFrameLocks noChangeAspect="1"/>
          </p:cNvGraphicFramePr>
          <p:nvPr>
            <p:extLst>
              <p:ext uri="{D42A27DB-BD31-4B8C-83A1-F6EECF244321}">
                <p14:modId xmlns:p14="http://schemas.microsoft.com/office/powerpoint/2010/main" val="3755172704"/>
              </p:ext>
            </p:extLst>
          </p:nvPr>
        </p:nvGraphicFramePr>
        <p:xfrm>
          <a:off x="683568" y="1662675"/>
          <a:ext cx="7632848" cy="2755913"/>
        </p:xfrm>
        <a:graphic>
          <a:graphicData uri="http://schemas.openxmlformats.org/presentationml/2006/ole">
            <mc:AlternateContent xmlns:mc="http://schemas.openxmlformats.org/markup-compatibility/2006">
              <mc:Choice xmlns:v="urn:schemas-microsoft-com:vml" Requires="v">
                <p:oleObj spid="_x0000_s43110" name="文档" r:id="rId3" imgW="5428383" imgH="1851897" progId="Word.Document.8">
                  <p:embed/>
                </p:oleObj>
              </mc:Choice>
              <mc:Fallback>
                <p:oleObj name="文档" r:id="rId3" imgW="5428383" imgH="1851897" progId="Word.Document.8">
                  <p:embed/>
                  <p:pic>
                    <p:nvPicPr>
                      <p:cNvPr id="12" name="Object 6">
                        <a:extLst>
                          <a:ext uri="{FF2B5EF4-FFF2-40B4-BE49-F238E27FC236}">
                            <a16:creationId xmlns:a16="http://schemas.microsoft.com/office/drawing/2014/main" id="{EA44C109-DA65-47B1-B8C8-9D7CD9372E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662675"/>
                        <a:ext cx="7632848" cy="2755913"/>
                      </a:xfrm>
                      <a:prstGeom prst="rect">
                        <a:avLst/>
                      </a:prstGeom>
                      <a:noFill/>
                      <a:ln>
                        <a:noFill/>
                      </a:ln>
                      <a:effectLst/>
                      <a:extLst/>
                    </p:spPr>
                  </p:pic>
                </p:oleObj>
              </mc:Fallback>
            </mc:AlternateContent>
          </a:graphicData>
        </a:graphic>
      </p:graphicFrame>
      <p:graphicFrame>
        <p:nvGraphicFramePr>
          <p:cNvPr id="15" name="Object 7">
            <a:extLst>
              <a:ext uri="{FF2B5EF4-FFF2-40B4-BE49-F238E27FC236}">
                <a16:creationId xmlns:a16="http://schemas.microsoft.com/office/drawing/2014/main" id="{72D579BB-A460-4CAC-B243-F65B7D9FC7C2}"/>
              </a:ext>
            </a:extLst>
          </p:cNvPr>
          <p:cNvGraphicFramePr>
            <a:graphicFrameLocks noChangeAspect="1"/>
          </p:cNvGraphicFramePr>
          <p:nvPr>
            <p:extLst>
              <p:ext uri="{D42A27DB-BD31-4B8C-83A1-F6EECF244321}">
                <p14:modId xmlns:p14="http://schemas.microsoft.com/office/powerpoint/2010/main" val="2994531323"/>
              </p:ext>
            </p:extLst>
          </p:nvPr>
        </p:nvGraphicFramePr>
        <p:xfrm>
          <a:off x="3059113" y="5268913"/>
          <a:ext cx="1724025" cy="946150"/>
        </p:xfrm>
        <a:graphic>
          <a:graphicData uri="http://schemas.openxmlformats.org/presentationml/2006/ole">
            <mc:AlternateContent xmlns:mc="http://schemas.openxmlformats.org/markup-compatibility/2006">
              <mc:Choice xmlns:v="urn:schemas-microsoft-com:vml" Requires="v">
                <p:oleObj spid="_x0000_s43111" name="公式" r:id="rId5" imgW="1218960" imgH="812520" progId="Equation.3">
                  <p:embed/>
                </p:oleObj>
              </mc:Choice>
              <mc:Fallback>
                <p:oleObj name="公式" r:id="rId5" imgW="1218960" imgH="812520" progId="Equation.3">
                  <p:embed/>
                  <p:pic>
                    <p:nvPicPr>
                      <p:cNvPr id="33800" name="Object 7">
                        <a:extLst>
                          <a:ext uri="{FF2B5EF4-FFF2-40B4-BE49-F238E27FC236}">
                            <a16:creationId xmlns:a16="http://schemas.microsoft.com/office/drawing/2014/main" id="{72D579BB-A460-4CAC-B243-F65B7D9FC7C2}"/>
                          </a:ext>
                        </a:extLst>
                      </p:cNvPr>
                      <p:cNvPicPr>
                        <a:picLocks noChangeAspect="1" noChangeArrowheads="1"/>
                      </p:cNvPicPr>
                      <p:nvPr/>
                    </p:nvPicPr>
                    <p:blipFill>
                      <a:blip r:embed="rId6"/>
                      <a:srcRect/>
                      <a:stretch>
                        <a:fillRect/>
                      </a:stretch>
                    </p:blipFill>
                    <p:spPr bwMode="auto">
                      <a:xfrm>
                        <a:off x="3059113" y="5268913"/>
                        <a:ext cx="1724025" cy="946150"/>
                      </a:xfrm>
                      <a:prstGeom prst="rect">
                        <a:avLst/>
                      </a:prstGeom>
                      <a:noFill/>
                      <a:ln>
                        <a:noFill/>
                      </a:ln>
                      <a:effectLst/>
                      <a:extLst/>
                    </p:spPr>
                  </p:pic>
                </p:oleObj>
              </mc:Fallback>
            </mc:AlternateContent>
          </a:graphicData>
        </a:graphic>
      </p:graphicFrame>
      <p:sp>
        <p:nvSpPr>
          <p:cNvPr id="3" name="矩形 2"/>
          <p:cNvSpPr/>
          <p:nvPr/>
        </p:nvSpPr>
        <p:spPr bwMode="auto">
          <a:xfrm>
            <a:off x="5004048" y="3212976"/>
            <a:ext cx="2520280" cy="288032"/>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矩形 11"/>
          <p:cNvSpPr/>
          <p:nvPr/>
        </p:nvSpPr>
        <p:spPr bwMode="auto">
          <a:xfrm>
            <a:off x="5004048" y="3501008"/>
            <a:ext cx="2520280" cy="288032"/>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273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a:extLst>
              <a:ext uri="{FF2B5EF4-FFF2-40B4-BE49-F238E27FC236}">
                <a16:creationId xmlns:a16="http://schemas.microsoft.com/office/drawing/2014/main" id="{088DAA20-6E43-4368-9BFC-01971825E8ED}"/>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076538"/>
            <a:ext cx="8469759" cy="4770537"/>
          </a:xfrm>
        </p:spPr>
        <p:txBody>
          <a:bodyPr/>
          <a:lstStyle/>
          <a:p>
            <a:pPr eaLnBrk="1" hangingPunct="1">
              <a:spcBef>
                <a:spcPct val="0"/>
              </a:spcBef>
            </a:pPr>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pPr lvl="1" eaLnBrk="1" hangingPunct="1">
              <a:spcBef>
                <a:spcPct val="0"/>
              </a:spcBef>
            </a:pPr>
            <a:r>
              <a:rPr lang="zh-CN" altLang="en-US" sz="2000" dirty="0">
                <a:latin typeface="Times New Roman" panose="02020603050405020304" pitchFamily="18" charset="0"/>
                <a:cs typeface="Times New Roman" panose="02020603050405020304" pitchFamily="18" charset="0"/>
              </a:rPr>
              <a:t>为了得到整数最优解。将上式变量的系数和常数项都分解成</a:t>
            </a:r>
            <a:r>
              <a:rPr lang="zh-CN" altLang="en-US" sz="2000" dirty="0">
                <a:solidFill>
                  <a:srgbClr val="FF0000"/>
                </a:solidFill>
                <a:latin typeface="Times New Roman" panose="02020603050405020304" pitchFamily="18" charset="0"/>
                <a:cs typeface="Times New Roman" panose="02020603050405020304" pitchFamily="18" charset="0"/>
              </a:rPr>
              <a:t>整数</a:t>
            </a:r>
            <a:r>
              <a:rPr lang="zh-CN" altLang="en-US" sz="2000" dirty="0">
                <a:latin typeface="Times New Roman" panose="02020603050405020304" pitchFamily="18" charset="0"/>
                <a:cs typeface="Times New Roman" panose="02020603050405020304" pitchFamily="18" charset="0"/>
              </a:rPr>
              <a:t>和</a:t>
            </a:r>
            <a:r>
              <a:rPr lang="zh-CN" altLang="en-US" sz="2000" dirty="0">
                <a:solidFill>
                  <a:srgbClr val="FF0000"/>
                </a:solidFill>
                <a:latin typeface="Times New Roman" panose="02020603050405020304" pitchFamily="18" charset="0"/>
                <a:cs typeface="Times New Roman" panose="02020603050405020304" pitchFamily="18" charset="0"/>
              </a:rPr>
              <a:t>非负真分数</a:t>
            </a:r>
            <a:r>
              <a:rPr lang="zh-CN" altLang="en-US" sz="2000" dirty="0">
                <a:latin typeface="Times New Roman" panose="02020603050405020304" pitchFamily="18" charset="0"/>
                <a:cs typeface="Times New Roman" panose="02020603050405020304" pitchFamily="18" charset="0"/>
              </a:rPr>
              <a:t>两部分之和</a:t>
            </a:r>
          </a:p>
          <a:p>
            <a:pPr algn="just" eaLnBrk="1" hangingPunct="1">
              <a:buNone/>
            </a:pPr>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然后将</a:t>
            </a:r>
            <a:r>
              <a:rPr lang="zh-CN" altLang="en-US" sz="2000" dirty="0">
                <a:solidFill>
                  <a:srgbClr val="FF0000"/>
                </a:solidFill>
                <a:latin typeface="Times New Roman" panose="02020603050405020304" pitchFamily="18" charset="0"/>
                <a:cs typeface="Times New Roman" panose="02020603050405020304" pitchFamily="18" charset="0"/>
              </a:rPr>
              <a:t>整数部分与分数部分分开</a:t>
            </a:r>
            <a:r>
              <a:rPr lang="zh-CN" altLang="en-US" sz="2000" dirty="0">
                <a:latin typeface="Times New Roman" panose="02020603050405020304" pitchFamily="18" charset="0"/>
                <a:cs typeface="Times New Roman" panose="02020603050405020304" pitchFamily="18" charset="0"/>
              </a:rPr>
              <a:t>，移到等式左右两边，得到：</a:t>
            </a:r>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rPr>
              <a:t>分析：由约束方程⑤、⑥、⑦可知</a:t>
            </a:r>
            <a:r>
              <a:rPr lang="en-US" altLang="zh-CN" sz="2000" i="1" dirty="0">
                <a:solidFill>
                  <a:srgbClr val="FF0000"/>
                </a:solidFill>
                <a:latin typeface="Times New Roman" panose="02020603050405020304" pitchFamily="18" charset="0"/>
                <a:cs typeface="Times New Roman" panose="02020603050405020304" pitchFamily="18" charset="0"/>
              </a:rPr>
              <a:t>x</a:t>
            </a:r>
            <a:r>
              <a:rPr lang="en-US" altLang="zh-CN" sz="2000" baseline="-30000" dirty="0">
                <a:solidFill>
                  <a:srgbClr val="FF0000"/>
                </a:solidFill>
                <a:latin typeface="Times New Roman" panose="02020603050405020304" pitchFamily="18" charset="0"/>
                <a:cs typeface="Times New Roman" panose="02020603050405020304" pitchFamily="18" charset="0"/>
              </a:rPr>
              <a:t>1</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x</a:t>
            </a:r>
            <a:r>
              <a:rPr lang="en-US" altLang="zh-CN" sz="2000" baseline="-30000" dirty="0">
                <a:solidFill>
                  <a:srgbClr val="FF0000"/>
                </a:solidFill>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 </a:t>
            </a:r>
            <a:r>
              <a:rPr lang="zh-CN" altLang="en-US" sz="2000" dirty="0">
                <a:solidFill>
                  <a:srgbClr val="FF0000"/>
                </a:solidFill>
                <a:latin typeface="Times New Roman" panose="02020603050405020304" pitchFamily="18" charset="0"/>
                <a:cs typeface="Times New Roman" panose="02020603050405020304" pitchFamily="18" charset="0"/>
              </a:rPr>
              <a:t>、 </a:t>
            </a:r>
            <a:r>
              <a:rPr lang="en-US" altLang="zh-CN" sz="2000" i="1" dirty="0">
                <a:solidFill>
                  <a:srgbClr val="FF0000"/>
                </a:solidFill>
                <a:latin typeface="Times New Roman" panose="02020603050405020304" pitchFamily="18" charset="0"/>
                <a:cs typeface="Times New Roman" panose="02020603050405020304" pitchFamily="18" charset="0"/>
              </a:rPr>
              <a:t>x</a:t>
            </a:r>
            <a:r>
              <a:rPr lang="en-US" altLang="zh-CN" sz="2000" baseline="-30000" dirty="0">
                <a:solidFill>
                  <a:srgbClr val="FF0000"/>
                </a:solidFill>
                <a:latin typeface="Times New Roman" panose="02020603050405020304" pitchFamily="18" charset="0"/>
                <a:cs typeface="Times New Roman" panose="02020603050405020304" pitchFamily="18" charset="0"/>
              </a:rPr>
              <a:t>3</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x</a:t>
            </a:r>
            <a:r>
              <a:rPr lang="en-US" altLang="zh-CN" sz="2000" baseline="-30000" dirty="0">
                <a:solidFill>
                  <a:srgbClr val="FF0000"/>
                </a:solidFill>
                <a:latin typeface="Times New Roman" panose="02020603050405020304" pitchFamily="18" charset="0"/>
                <a:cs typeface="Times New Roman" panose="02020603050405020304" pitchFamily="18" charset="0"/>
              </a:rPr>
              <a:t>4</a:t>
            </a:r>
            <a:r>
              <a:rPr lang="zh-CN" altLang="en-US" sz="2000" dirty="0">
                <a:solidFill>
                  <a:srgbClr val="FF0000"/>
                </a:solidFill>
                <a:latin typeface="Times New Roman" panose="02020603050405020304" pitchFamily="18" charset="0"/>
                <a:cs typeface="Times New Roman" panose="02020603050405020304" pitchFamily="18" charset="0"/>
              </a:rPr>
              <a:t>都是非负整数</a:t>
            </a:r>
            <a:r>
              <a:rPr lang="en-US" altLang="zh-CN" sz="2000" dirty="0">
                <a:latin typeface="Times New Roman" panose="02020603050405020304" pitchFamily="18" charset="0"/>
                <a:cs typeface="Times New Roman" panose="02020603050405020304" pitchFamily="18" charset="0"/>
              </a:rPr>
              <a:t>;</a:t>
            </a:r>
          </a:p>
          <a:p>
            <a:pPr lvl="2" eaLnBrk="1" hangingPunct="1"/>
            <a:r>
              <a:rPr lang="zh-CN" altLang="en-US" dirty="0">
                <a:latin typeface="Times New Roman" panose="02020603050405020304" pitchFamily="18" charset="0"/>
                <a:cs typeface="Times New Roman" panose="02020603050405020304" pitchFamily="18" charset="0"/>
              </a:rPr>
              <a:t>上式中从等式</a:t>
            </a:r>
            <a:r>
              <a:rPr lang="zh-CN" altLang="en-US" dirty="0">
                <a:solidFill>
                  <a:srgbClr val="FF0000"/>
                </a:solidFill>
                <a:latin typeface="Times New Roman" panose="02020603050405020304" pitchFamily="18" charset="0"/>
                <a:cs typeface="Times New Roman" panose="02020603050405020304" pitchFamily="18" charset="0"/>
              </a:rPr>
              <a:t>左边看是整数</a:t>
            </a:r>
            <a:r>
              <a:rPr lang="zh-CN" altLang="en-US" dirty="0">
                <a:latin typeface="Times New Roman" panose="02020603050405020304" pitchFamily="18" charset="0"/>
                <a:cs typeface="Times New Roman" panose="02020603050405020304" pitchFamily="18" charset="0"/>
              </a:rPr>
              <a:t>；等式右边也应是整数。</a:t>
            </a:r>
            <a:endParaRPr lang="en-US" altLang="zh-CN" dirty="0">
              <a:latin typeface="Times New Roman" panose="02020603050405020304" pitchFamily="18" charset="0"/>
              <a:cs typeface="Times New Roman" panose="02020603050405020304" pitchFamily="18" charset="0"/>
            </a:endParaRPr>
          </a:p>
          <a:p>
            <a:pPr lvl="2" eaLnBrk="1" hangingPunct="1"/>
            <a:r>
              <a:rPr lang="zh-CN" altLang="en-US" dirty="0">
                <a:latin typeface="Times New Roman" panose="02020603050405020304" pitchFamily="18" charset="0"/>
                <a:cs typeface="Times New Roman" panose="02020603050405020304" pitchFamily="18" charset="0"/>
              </a:rPr>
              <a:t>但在等式</a:t>
            </a:r>
            <a:r>
              <a:rPr lang="zh-CN" altLang="en-US" dirty="0">
                <a:solidFill>
                  <a:srgbClr val="FF0000"/>
                </a:solidFill>
                <a:latin typeface="Times New Roman" panose="02020603050405020304" pitchFamily="18" charset="0"/>
                <a:cs typeface="Times New Roman" panose="02020603050405020304" pitchFamily="18" charset="0"/>
              </a:rPr>
              <a:t>右边的</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内是正数</a:t>
            </a:r>
            <a:r>
              <a:rPr lang="zh-CN" altLang="en-US" dirty="0">
                <a:latin typeface="Times New Roman" panose="02020603050405020304" pitchFamily="18" charset="0"/>
                <a:cs typeface="Times New Roman" panose="02020603050405020304" pitchFamily="18" charset="0"/>
              </a:rPr>
              <a:t>；所以等式</a:t>
            </a:r>
            <a:r>
              <a:rPr lang="zh-CN" altLang="en-US" dirty="0">
                <a:solidFill>
                  <a:srgbClr val="FF0000"/>
                </a:solidFill>
                <a:latin typeface="Times New Roman" panose="02020603050405020304" pitchFamily="18" charset="0"/>
                <a:cs typeface="Times New Roman" panose="02020603050405020304" pitchFamily="18" charset="0"/>
              </a:rPr>
              <a:t>右边必是非正数</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2" eaLnBrk="1" hangingPunct="1"/>
            <a:r>
              <a:rPr lang="zh-CN" altLang="en-US" dirty="0">
                <a:latin typeface="Times New Roman" panose="02020603050405020304" pitchFamily="18" charset="0"/>
                <a:cs typeface="Times New Roman" panose="02020603050405020304" pitchFamily="18" charset="0"/>
              </a:rPr>
              <a:t>即：</a:t>
            </a:r>
            <a:r>
              <a:rPr lang="zh-CN" altLang="en-US" dirty="0">
                <a:solidFill>
                  <a:srgbClr val="FF0000"/>
                </a:solidFill>
                <a:latin typeface="Times New Roman" panose="02020603050405020304" pitchFamily="18" charset="0"/>
                <a:cs typeface="Times New Roman" panose="02020603050405020304" pitchFamily="18" charset="0"/>
              </a:rPr>
              <a:t>右边的整数值最大是零</a:t>
            </a:r>
            <a:r>
              <a:rPr lang="zh-CN" altLang="en-US" dirty="0">
                <a:latin typeface="Times New Roman" panose="02020603050405020304" pitchFamily="18" charset="0"/>
                <a:cs typeface="Times New Roman" panose="02020603050405020304" pitchFamily="18" charset="0"/>
              </a:rPr>
              <a:t>。于是整数条件⑤可由下式所代替：</a:t>
            </a:r>
            <a:endParaRPr lang="zh-CN" altLang="en-US" dirty="0"/>
          </a:p>
        </p:txBody>
      </p:sp>
      <p:sp>
        <p:nvSpPr>
          <p:cNvPr id="34819" name="灯片编号占位符 5">
            <a:extLst>
              <a:ext uri="{FF2B5EF4-FFF2-40B4-BE49-F238E27FC236}">
                <a16:creationId xmlns:a16="http://schemas.microsoft.com/office/drawing/2014/main" id="{EB69FC45-C020-41DC-A365-BFE67D7D9F9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056A33-6B14-40B6-9A6C-9DD21BB1AE3C}" type="slidenum">
              <a:rPr lang="en-US" altLang="zh-CN" sz="1000" smtClean="0"/>
              <a:pPr>
                <a:spcBef>
                  <a:spcPct val="0"/>
                </a:spcBef>
                <a:buClrTx/>
                <a:buSzTx/>
                <a:buFontTx/>
                <a:buNone/>
              </a:pPr>
              <a:t>19</a:t>
            </a:fld>
            <a:endParaRPr lang="en-US" altLang="zh-CN" sz="1000"/>
          </a:p>
        </p:txBody>
      </p:sp>
      <p:sp>
        <p:nvSpPr>
          <p:cNvPr id="34821" name="Rectangle 3">
            <a:extLst>
              <a:ext uri="{FF2B5EF4-FFF2-40B4-BE49-F238E27FC236}">
                <a16:creationId xmlns:a16="http://schemas.microsoft.com/office/drawing/2014/main" id="{FBA5C400-CF8F-4DD0-A8CA-9B0CBBBB22CB}"/>
              </a:ext>
            </a:extLst>
          </p:cNvPr>
          <p:cNvSpPr>
            <a:spLocks noChangeArrowheads="1"/>
          </p:cNvSpPr>
          <p:nvPr/>
        </p:nvSpPr>
        <p:spPr bwMode="auto">
          <a:xfrm>
            <a:off x="468313" y="1628775"/>
            <a:ext cx="820896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2400" b="0" dirty="0">
              <a:latin typeface="Times New Roman" panose="02020603050405020304" pitchFamily="18" charset="0"/>
              <a:cs typeface="Times New Roman" panose="02020603050405020304" pitchFamily="18" charset="0"/>
            </a:endParaRPr>
          </a:p>
        </p:txBody>
      </p:sp>
      <p:sp>
        <p:nvSpPr>
          <p:cNvPr id="34822" name="Rectangle 4">
            <a:extLst>
              <a:ext uri="{FF2B5EF4-FFF2-40B4-BE49-F238E27FC236}">
                <a16:creationId xmlns:a16="http://schemas.microsoft.com/office/drawing/2014/main" id="{25F5C7C3-EAE2-4740-A8DF-E0609BAF6360}"/>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4823" name="Rectangle 5">
            <a:extLst>
              <a:ext uri="{FF2B5EF4-FFF2-40B4-BE49-F238E27FC236}">
                <a16:creationId xmlns:a16="http://schemas.microsoft.com/office/drawing/2014/main" id="{868E8F23-F72D-4A52-A186-21191FF47A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mc:AlternateContent xmlns:mc="http://schemas.openxmlformats.org/markup-compatibility/2006" xmlns:a14="http://schemas.microsoft.com/office/drawing/2010/main">
        <mc:Choice Requires="a14">
          <p:sp>
            <p:nvSpPr>
              <p:cNvPr id="34824" name="Object 6">
                <a:extLst>
                  <a:ext uri="{FF2B5EF4-FFF2-40B4-BE49-F238E27FC236}">
                    <a16:creationId xmlns:a16="http://schemas.microsoft.com/office/drawing/2014/main" id="{028A3C50-877E-4846-9C41-510E3B01652F}"/>
                  </a:ext>
                </a:extLst>
              </p:cNvPr>
              <p:cNvSpPr txBox="1"/>
              <p:nvPr/>
            </p:nvSpPr>
            <p:spPr bwMode="auto">
              <a:xfrm>
                <a:off x="1290638" y="3171825"/>
                <a:ext cx="4217466" cy="16729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1</m:t>
                          </m:r>
                        </m:sub>
                      </m:sSub>
                      <m:r>
                        <a:rPr lang="zh-CN" altLang="en-US" sz="1800" i="1">
                          <a:solidFill>
                            <a:srgbClr val="000000"/>
                          </a:solidFill>
                          <a:latin typeface="Cambria Math" panose="02040503050406030204" pitchFamily="18" charset="0"/>
                        </a:rPr>
                        <m:t>−</m:t>
                      </m:r>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3</m:t>
                          </m:r>
                        </m:sub>
                      </m:sSub>
                      <m:r>
                        <a:rPr lang="zh-CN" altLang="en-US" sz="1800" i="1">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zh-CN" altLang="en-US" sz="1800" i="1">
                              <a:solidFill>
                                <a:srgbClr val="000000"/>
                              </a:solidFill>
                              <a:latin typeface="Cambria Math" panose="02040503050406030204" pitchFamily="18" charset="0"/>
                            </a:rPr>
                            <m:t>3</m:t>
                          </m:r>
                        </m:num>
                        <m:den>
                          <m:r>
                            <a:rPr lang="zh-CN" altLang="en-US" sz="1800" i="1">
                              <a:solidFill>
                                <a:srgbClr val="000000"/>
                              </a:solidFill>
                              <a:latin typeface="Cambria Math" panose="02040503050406030204" pitchFamily="18" charset="0"/>
                            </a:rPr>
                            <m:t>4</m:t>
                          </m:r>
                        </m:den>
                      </m:f>
                      <m:r>
                        <a:rPr lang="zh-CN" altLang="en-US" sz="1800" i="1">
                          <a:solidFill>
                            <a:srgbClr val="000000"/>
                          </a:solidFill>
                          <a:latin typeface="Cambria Math" panose="02040503050406030204" pitchFamily="18" charset="0"/>
                        </a:rPr>
                        <m:t>−</m:t>
                      </m:r>
                      <m:d>
                        <m:dPr>
                          <m:ctrlPr>
                            <a:rPr lang="zh-CN" altLang="en-US" sz="1800" i="1">
                              <a:solidFill>
                                <a:srgbClr val="000000"/>
                              </a:solidFill>
                              <a:latin typeface="Cambria Math" panose="02040503050406030204" pitchFamily="18" charset="0"/>
                            </a:rPr>
                          </m:ctrlPr>
                        </m:dPr>
                        <m:e>
                          <m:f>
                            <m:fPr>
                              <m:ctrlPr>
                                <a:rPr lang="zh-CN" altLang="en-US" sz="1800" i="1">
                                  <a:solidFill>
                                    <a:srgbClr val="000000"/>
                                  </a:solidFill>
                                  <a:latin typeface="Cambria Math" panose="02040503050406030204" pitchFamily="18" charset="0"/>
                                </a:rPr>
                              </m:ctrlPr>
                            </m:fPr>
                            <m:num>
                              <m:r>
                                <a:rPr lang="zh-CN" altLang="en-US" sz="1800" i="1">
                                  <a:solidFill>
                                    <a:srgbClr val="000000"/>
                                  </a:solidFill>
                                  <a:latin typeface="Cambria Math" panose="02040503050406030204" pitchFamily="18" charset="0"/>
                                </a:rPr>
                                <m:t>3</m:t>
                              </m:r>
                            </m:num>
                            <m:den>
                              <m:r>
                                <a:rPr lang="zh-CN" altLang="en-US" sz="1800" i="1">
                                  <a:solidFill>
                                    <a:srgbClr val="000000"/>
                                  </a:solidFill>
                                  <a:latin typeface="Cambria Math" panose="02040503050406030204" pitchFamily="18" charset="0"/>
                                </a:rPr>
                                <m:t>4</m:t>
                              </m:r>
                            </m:den>
                          </m:f>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3</m:t>
                              </m:r>
                            </m:sub>
                          </m:sSub>
                          <m:r>
                            <a:rPr lang="zh-CN" altLang="en-US" sz="1800" i="1">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zh-CN" altLang="en-US" sz="1800" i="1">
                                  <a:solidFill>
                                    <a:srgbClr val="000000"/>
                                  </a:solidFill>
                                  <a:latin typeface="Cambria Math" panose="02040503050406030204" pitchFamily="18" charset="0"/>
                                </a:rPr>
                                <m:t>1</m:t>
                              </m:r>
                            </m:num>
                            <m:den>
                              <m:r>
                                <a:rPr lang="zh-CN" altLang="en-US" sz="1800" i="1">
                                  <a:solidFill>
                                    <a:srgbClr val="000000"/>
                                  </a:solidFill>
                                  <a:latin typeface="Cambria Math" panose="02040503050406030204" pitchFamily="18" charset="0"/>
                                </a:rPr>
                                <m:t>4</m:t>
                              </m:r>
                            </m:den>
                          </m:f>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4</m:t>
                              </m:r>
                            </m:sub>
                          </m:sSub>
                        </m:e>
                      </m:d>
                    </m:oMath>
                    <m:oMath xmlns:m="http://schemas.openxmlformats.org/officeDocument/2006/math">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2</m:t>
                          </m:r>
                        </m:sub>
                      </m:sSub>
                      <m:r>
                        <a:rPr lang="zh-CN" altLang="en-US" sz="1800" i="1">
                          <a:solidFill>
                            <a:srgbClr val="000000"/>
                          </a:solidFill>
                          <a:latin typeface="Cambria Math" panose="02040503050406030204" pitchFamily="18" charset="0"/>
                        </a:rPr>
                        <m:t>−  1=</m:t>
                      </m:r>
                      <m:f>
                        <m:fPr>
                          <m:ctrlPr>
                            <a:rPr lang="zh-CN" altLang="en-US" sz="1800" i="1">
                              <a:solidFill>
                                <a:srgbClr val="000000"/>
                              </a:solidFill>
                              <a:latin typeface="Cambria Math" panose="02040503050406030204" pitchFamily="18" charset="0"/>
                            </a:rPr>
                          </m:ctrlPr>
                        </m:fPr>
                        <m:num>
                          <m:r>
                            <a:rPr lang="zh-CN" altLang="en-US" sz="1800" i="1">
                              <a:solidFill>
                                <a:srgbClr val="000000"/>
                              </a:solidFill>
                              <a:latin typeface="Cambria Math" panose="02040503050406030204" pitchFamily="18" charset="0"/>
                            </a:rPr>
                            <m:t>3</m:t>
                          </m:r>
                        </m:num>
                        <m:den>
                          <m:r>
                            <a:rPr lang="zh-CN" altLang="en-US" sz="1800" i="1">
                              <a:solidFill>
                                <a:srgbClr val="000000"/>
                              </a:solidFill>
                              <a:latin typeface="Cambria Math" panose="02040503050406030204" pitchFamily="18" charset="0"/>
                            </a:rPr>
                            <m:t>4</m:t>
                          </m:r>
                        </m:den>
                      </m:f>
                      <m:r>
                        <a:rPr lang="zh-CN" altLang="en-US" sz="1800" i="1">
                          <a:solidFill>
                            <a:srgbClr val="000000"/>
                          </a:solidFill>
                          <a:latin typeface="Cambria Math" panose="02040503050406030204" pitchFamily="18" charset="0"/>
                        </a:rPr>
                        <m:t>−</m:t>
                      </m:r>
                      <m:d>
                        <m:dPr>
                          <m:ctrlPr>
                            <a:rPr lang="zh-CN" altLang="en-US" sz="1800" i="1">
                              <a:solidFill>
                                <a:srgbClr val="000000"/>
                              </a:solidFill>
                              <a:latin typeface="Cambria Math" panose="02040503050406030204" pitchFamily="18" charset="0"/>
                            </a:rPr>
                          </m:ctrlPr>
                        </m:dPr>
                        <m:e>
                          <m:f>
                            <m:fPr>
                              <m:ctrlPr>
                                <a:rPr lang="zh-CN" altLang="en-US" sz="1800" i="1">
                                  <a:solidFill>
                                    <a:srgbClr val="000000"/>
                                  </a:solidFill>
                                  <a:latin typeface="Cambria Math" panose="02040503050406030204" pitchFamily="18" charset="0"/>
                                </a:rPr>
                              </m:ctrlPr>
                            </m:fPr>
                            <m:num>
                              <m:r>
                                <a:rPr lang="zh-CN" altLang="en-US" sz="1800" i="1">
                                  <a:solidFill>
                                    <a:srgbClr val="000000"/>
                                  </a:solidFill>
                                  <a:latin typeface="Cambria Math" panose="02040503050406030204" pitchFamily="18" charset="0"/>
                                </a:rPr>
                                <m:t>3</m:t>
                              </m:r>
                            </m:num>
                            <m:den>
                              <m:r>
                                <a:rPr lang="zh-CN" altLang="en-US" sz="1800" i="1">
                                  <a:solidFill>
                                    <a:srgbClr val="000000"/>
                                  </a:solidFill>
                                  <a:latin typeface="Cambria Math" panose="02040503050406030204" pitchFamily="18" charset="0"/>
                                </a:rPr>
                                <m:t>4</m:t>
                              </m:r>
                            </m:den>
                          </m:f>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3</m:t>
                              </m:r>
                            </m:sub>
                          </m:sSub>
                          <m:r>
                            <a:rPr lang="zh-CN" altLang="en-US" sz="1800" i="1">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zh-CN" altLang="en-US" sz="1800" i="1">
                                  <a:solidFill>
                                    <a:srgbClr val="000000"/>
                                  </a:solidFill>
                                  <a:latin typeface="Cambria Math" panose="02040503050406030204" pitchFamily="18" charset="0"/>
                                </a:rPr>
                                <m:t>1</m:t>
                              </m:r>
                            </m:num>
                            <m:den>
                              <m:r>
                                <a:rPr lang="en-US" altLang="zh-CN" sz="1800" b="1" i="1" smtClean="0">
                                  <a:solidFill>
                                    <a:srgbClr val="000000"/>
                                  </a:solidFill>
                                  <a:latin typeface="Cambria Math" panose="02040503050406030204" pitchFamily="18" charset="0"/>
                                </a:rPr>
                                <m:t>𝟓</m:t>
                              </m:r>
                            </m:den>
                          </m:f>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𝑥</m:t>
                              </m:r>
                            </m:e>
                            <m:sub>
                              <m:r>
                                <a:rPr lang="zh-CN" altLang="en-US" sz="1800" i="1">
                                  <a:solidFill>
                                    <a:srgbClr val="000000"/>
                                  </a:solidFill>
                                  <a:latin typeface="Cambria Math" panose="02040503050406030204" pitchFamily="18" charset="0"/>
                                </a:rPr>
                                <m:t>4</m:t>
                              </m:r>
                            </m:sub>
                          </m:sSub>
                        </m:e>
                      </m:d>
                    </m:oMath>
                  </m:oMathPara>
                </a14:m>
                <a:endParaRPr lang="zh-CN" altLang="en-US" sz="1800" dirty="0"/>
              </a:p>
            </p:txBody>
          </p:sp>
        </mc:Choice>
        <mc:Fallback xmlns="">
          <p:sp>
            <p:nvSpPr>
              <p:cNvPr id="34824" name="Object 6">
                <a:extLst>
                  <a:ext uri="{FF2B5EF4-FFF2-40B4-BE49-F238E27FC236}">
                    <a16:creationId xmlns:a16="http://schemas.microsoft.com/office/drawing/2014/main" id="{028A3C50-877E-4846-9C41-510E3B01652F}"/>
                  </a:ext>
                </a:extLst>
              </p:cNvPr>
              <p:cNvSpPr txBox="1">
                <a:spLocks noRot="1" noChangeAspect="1" noMove="1" noResize="1" noEditPoints="1" noAdjustHandles="1" noChangeArrowheads="1" noChangeShapeType="1" noTextEdit="1"/>
              </p:cNvSpPr>
              <p:nvPr/>
            </p:nvSpPr>
            <p:spPr bwMode="auto">
              <a:xfrm>
                <a:off x="1290638" y="3171825"/>
                <a:ext cx="4217466" cy="1672912"/>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6">
                <a:extLst>
                  <a:ext uri="{FF2B5EF4-FFF2-40B4-BE49-F238E27FC236}">
                    <a16:creationId xmlns:a16="http://schemas.microsoft.com/office/drawing/2014/main" id="{028A3C50-877E-4846-9C41-510E3B01652F}"/>
                  </a:ext>
                </a:extLst>
              </p:cNvPr>
              <p:cNvSpPr txBox="1"/>
              <p:nvPr/>
            </p:nvSpPr>
            <p:spPr bwMode="auto">
              <a:xfrm>
                <a:off x="2483768" y="1916113"/>
                <a:ext cx="4759995" cy="1299850"/>
              </a:xfrm>
              <a:prstGeom prst="rect">
                <a:avLst/>
              </a:prstGeom>
              <a:noFill/>
              <a:ln>
                <a:noFill/>
              </a:ln>
              <a:effectLst/>
              <a:extLst/>
            </p:spPr>
            <p:txBody>
              <a:bodyPr>
                <a:noAutofit/>
              </a:bodyPr>
              <a:lstStyle/>
              <a:p>
                <a:pPr/>
                <a14:m>
                  <m:oMathPara xmlns:m="http://schemas.openxmlformats.org/officeDocument/2006/math">
                    <m:oMathParaPr>
                      <m:jc m:val="centerGroup"/>
                    </m:oMathParaPr>
                    <m:oMath xmlns:m="http://schemas.openxmlformats.org/officeDocument/2006/math">
                      <m:r>
                        <a:rPr lang="zh-CN" altLang="en-US" sz="1600" i="1" smtClean="0">
                          <a:solidFill>
                            <a:srgbClr val="000000"/>
                          </a:solidFill>
                          <a:latin typeface="Cambria Math" panose="02040503050406030204" pitchFamily="18" charset="0"/>
                        </a:rPr>
                        <m:t>(1+0)</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+(−1+</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3</m:t>
                          </m:r>
                        </m:num>
                        <m:den>
                          <m:r>
                            <a:rPr lang="zh-CN" altLang="en-US" sz="1600" i="1">
                              <a:solidFill>
                                <a:srgbClr val="000000"/>
                              </a:solidFill>
                              <a:latin typeface="Cambria Math" panose="02040503050406030204" pitchFamily="18" charset="0"/>
                            </a:rPr>
                            <m:t>4</m:t>
                          </m:r>
                        </m:den>
                      </m:f>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3</m:t>
                          </m:r>
                        </m:sub>
                      </m:sSub>
                      <m:r>
                        <a:rPr lang="zh-CN" altLang="en-US" sz="1600" i="1">
                          <a:solidFill>
                            <a:srgbClr val="000000"/>
                          </a:solidFill>
                          <a:latin typeface="Cambria Math" panose="02040503050406030204" pitchFamily="18" charset="0"/>
                        </a:rPr>
                        <m:t>+(0+</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1</m:t>
                          </m:r>
                        </m:num>
                        <m:den>
                          <m:r>
                            <a:rPr lang="zh-CN" altLang="en-US" sz="1600" i="1">
                              <a:solidFill>
                                <a:srgbClr val="000000"/>
                              </a:solidFill>
                              <a:latin typeface="Cambria Math" panose="02040503050406030204" pitchFamily="18" charset="0"/>
                            </a:rPr>
                            <m:t>4</m:t>
                          </m:r>
                        </m:den>
                      </m:f>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4</m:t>
                          </m:r>
                        </m:sub>
                      </m:sSub>
                      <m:r>
                        <a:rPr lang="zh-CN" altLang="en-US" sz="1600" i="1">
                          <a:solidFill>
                            <a:srgbClr val="000000"/>
                          </a:solidFill>
                          <a:latin typeface="Cambria Math" panose="02040503050406030204" pitchFamily="18" charset="0"/>
                        </a:rPr>
                        <m:t>=0+</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3</m:t>
                          </m:r>
                        </m:num>
                        <m:den>
                          <m:r>
                            <a:rPr lang="zh-CN" altLang="en-US" sz="1600" i="1">
                              <a:solidFill>
                                <a:srgbClr val="000000"/>
                              </a:solidFill>
                              <a:latin typeface="Cambria Math" panose="02040503050406030204" pitchFamily="18" charset="0"/>
                            </a:rPr>
                            <m:t>4</m:t>
                          </m:r>
                        </m:den>
                      </m:f>
                    </m:oMath>
                    <m:oMath xmlns:m="http://schemas.openxmlformats.org/officeDocument/2006/math">
                      <m:r>
                        <a:rPr lang="zh-CN" altLang="en-US" sz="1600" i="1">
                          <a:solidFill>
                            <a:srgbClr val="000000"/>
                          </a:solidFill>
                          <a:latin typeface="Cambria Math" panose="02040503050406030204" pitchFamily="18" charset="0"/>
                        </a:rPr>
                        <m:t>(1+0)</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+(0+</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3</m:t>
                          </m:r>
                        </m:num>
                        <m:den>
                          <m:r>
                            <a:rPr lang="zh-CN" altLang="en-US" sz="1600" i="1">
                              <a:solidFill>
                                <a:srgbClr val="000000"/>
                              </a:solidFill>
                              <a:latin typeface="Cambria Math" panose="02040503050406030204" pitchFamily="18" charset="0"/>
                            </a:rPr>
                            <m:t>4</m:t>
                          </m:r>
                        </m:den>
                      </m:f>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3</m:t>
                          </m:r>
                        </m:sub>
                      </m:sSub>
                      <m:r>
                        <a:rPr lang="zh-CN" altLang="en-US" sz="1600" i="1">
                          <a:solidFill>
                            <a:srgbClr val="000000"/>
                          </a:solidFill>
                          <a:latin typeface="Cambria Math" panose="02040503050406030204" pitchFamily="18" charset="0"/>
                        </a:rPr>
                        <m:t>+(0+</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1</m:t>
                          </m:r>
                        </m:num>
                        <m:den>
                          <m:r>
                            <a:rPr lang="en-US" altLang="zh-CN" sz="1600" b="1" i="1" smtClean="0">
                              <a:solidFill>
                                <a:srgbClr val="000000"/>
                              </a:solidFill>
                              <a:latin typeface="Cambria Math" panose="02040503050406030204" pitchFamily="18" charset="0"/>
                            </a:rPr>
                            <m:t>𝟓</m:t>
                          </m:r>
                        </m:den>
                      </m:f>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4</m:t>
                          </m:r>
                        </m:sub>
                      </m:sSub>
                      <m:r>
                        <a:rPr lang="zh-CN" altLang="en-US" sz="1600" i="1">
                          <a:solidFill>
                            <a:srgbClr val="000000"/>
                          </a:solidFill>
                          <a:latin typeface="Cambria Math" panose="02040503050406030204" pitchFamily="18" charset="0"/>
                        </a:rPr>
                        <m:t>=  1+</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3</m:t>
                          </m:r>
                        </m:num>
                        <m:den>
                          <m:r>
                            <a:rPr lang="zh-CN" altLang="en-US" sz="1600" i="1">
                              <a:solidFill>
                                <a:srgbClr val="000000"/>
                              </a:solidFill>
                              <a:latin typeface="Cambria Math" panose="02040503050406030204" pitchFamily="18" charset="0"/>
                            </a:rPr>
                            <m:t>4</m:t>
                          </m:r>
                        </m:den>
                      </m:f>
                    </m:oMath>
                  </m:oMathPara>
                </a14:m>
                <a:endParaRPr lang="zh-CN" altLang="en-US" sz="1600" dirty="0"/>
              </a:p>
            </p:txBody>
          </p:sp>
        </mc:Choice>
        <mc:Fallback xmlns="">
          <p:sp>
            <p:nvSpPr>
              <p:cNvPr id="9" name="Object 6">
                <a:extLst>
                  <a:ext uri="{FF2B5EF4-FFF2-40B4-BE49-F238E27FC236}">
                    <a16:creationId xmlns:a16="http://schemas.microsoft.com/office/drawing/2014/main" id="{028A3C50-877E-4846-9C41-510E3B01652F}"/>
                  </a:ext>
                </a:extLst>
              </p:cNvPr>
              <p:cNvSpPr txBox="1">
                <a:spLocks noRot="1" noChangeAspect="1" noMove="1" noResize="1" noEditPoints="1" noAdjustHandles="1" noChangeArrowheads="1" noChangeShapeType="1" noTextEdit="1"/>
              </p:cNvSpPr>
              <p:nvPr/>
            </p:nvSpPr>
            <p:spPr bwMode="auto">
              <a:xfrm>
                <a:off x="2483768" y="1916113"/>
                <a:ext cx="4759995" cy="1299850"/>
              </a:xfrm>
              <a:prstGeom prst="rect">
                <a:avLst/>
              </a:prstGeom>
              <a:blipFill>
                <a:blip r:embed="rId5"/>
                <a:stretch>
                  <a:fillRect/>
                </a:stretch>
              </a:blipFill>
              <a:ln>
                <a:noFill/>
              </a:ln>
              <a:effectLst/>
              <a:extLst/>
            </p:spPr>
            <p:txBody>
              <a:bodyPr/>
              <a:lstStyle/>
              <a:p>
                <a:r>
                  <a:rPr lang="zh-CN" altLang="en-US">
                    <a:noFill/>
                  </a:rPr>
                  <a:t> </a:t>
                </a:r>
              </a:p>
            </p:txBody>
          </p:sp>
        </mc:Fallback>
      </mc:AlternateContent>
      <p:graphicFrame>
        <p:nvGraphicFramePr>
          <p:cNvPr id="10" name="Object 7">
            <a:extLst>
              <a:ext uri="{FF2B5EF4-FFF2-40B4-BE49-F238E27FC236}">
                <a16:creationId xmlns:a16="http://schemas.microsoft.com/office/drawing/2014/main" id="{354A1A87-2B8F-4739-B501-174716522782}"/>
              </a:ext>
            </a:extLst>
          </p:cNvPr>
          <p:cNvGraphicFramePr>
            <a:graphicFrameLocks noChangeAspect="1"/>
          </p:cNvGraphicFramePr>
          <p:nvPr>
            <p:extLst>
              <p:ext uri="{D42A27DB-BD31-4B8C-83A1-F6EECF244321}">
                <p14:modId xmlns:p14="http://schemas.microsoft.com/office/powerpoint/2010/main" val="2458298697"/>
              </p:ext>
            </p:extLst>
          </p:nvPr>
        </p:nvGraphicFramePr>
        <p:xfrm>
          <a:off x="1303338" y="5815013"/>
          <a:ext cx="2200275" cy="727075"/>
        </p:xfrm>
        <a:graphic>
          <a:graphicData uri="http://schemas.openxmlformats.org/presentationml/2006/ole">
            <mc:AlternateContent xmlns:mc="http://schemas.openxmlformats.org/markup-compatibility/2006">
              <mc:Choice xmlns:v="urn:schemas-microsoft-com:vml" Requires="v">
                <p:oleObj spid="_x0000_s12445" name="Equation" r:id="rId6" imgW="1307880" imgH="431640" progId="Equation.DSMT4">
                  <p:embed/>
                </p:oleObj>
              </mc:Choice>
              <mc:Fallback>
                <p:oleObj name="Equation" r:id="rId6" imgW="1307880" imgH="431640" progId="Equation.DSMT4">
                  <p:embed/>
                  <p:pic>
                    <p:nvPicPr>
                      <p:cNvPr id="35848" name="Object 7">
                        <a:extLst>
                          <a:ext uri="{FF2B5EF4-FFF2-40B4-BE49-F238E27FC236}">
                            <a16:creationId xmlns:a16="http://schemas.microsoft.com/office/drawing/2014/main" id="{354A1A87-2B8F-4739-B501-174716522782}"/>
                          </a:ext>
                        </a:extLst>
                      </p:cNvPr>
                      <p:cNvPicPr>
                        <a:picLocks noChangeAspect="1" noChangeArrowheads="1"/>
                      </p:cNvPicPr>
                      <p:nvPr/>
                    </p:nvPicPr>
                    <p:blipFill>
                      <a:blip r:embed="rId7"/>
                      <a:srcRect/>
                      <a:stretch>
                        <a:fillRect/>
                      </a:stretch>
                    </p:blipFill>
                    <p:spPr bwMode="auto">
                      <a:xfrm>
                        <a:off x="1303338" y="5815013"/>
                        <a:ext cx="2200275" cy="727075"/>
                      </a:xfrm>
                      <a:prstGeom prst="rect">
                        <a:avLst/>
                      </a:prstGeom>
                      <a:noFill/>
                      <a:ln>
                        <a:noFill/>
                      </a:ln>
                      <a:effectLst/>
                      <a:extLst/>
                    </p:spPr>
                  </p:pic>
                </p:oleObj>
              </mc:Fallback>
            </mc:AlternateContent>
          </a:graphicData>
        </a:graphic>
      </p:graphicFrame>
      <p:sp>
        <p:nvSpPr>
          <p:cNvPr id="3" name="矩形 2"/>
          <p:cNvSpPr/>
          <p:nvPr/>
        </p:nvSpPr>
        <p:spPr>
          <a:xfrm>
            <a:off x="5076057" y="5957967"/>
            <a:ext cx="1656184" cy="400110"/>
          </a:xfrm>
          <a:prstGeom prst="rect">
            <a:avLst/>
          </a:prstGeom>
        </p:spPr>
        <p:txBody>
          <a:bodyPr wrap="square">
            <a:spAutoFit/>
          </a:bodyPr>
          <a:lstStyle/>
          <a:p>
            <a:r>
              <a:rPr lang="zh-CN" altLang="en-US" sz="2000" b="0" dirty="0">
                <a:latin typeface="Times New Roman" panose="02020603050405020304" pitchFamily="18" charset="0"/>
                <a:cs typeface="Times New Roman" panose="02020603050405020304" pitchFamily="18" charset="0"/>
              </a:rPr>
              <a:t>− </a:t>
            </a:r>
            <a:r>
              <a:rPr lang="en-US" altLang="zh-CN" sz="2000" b="0" dirty="0">
                <a:latin typeface="Times New Roman" panose="02020603050405020304" pitchFamily="18" charset="0"/>
                <a:cs typeface="Times New Roman" panose="02020603050405020304" pitchFamily="18" charset="0"/>
              </a:rPr>
              <a:t>3</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3</a:t>
            </a:r>
            <a:r>
              <a:rPr lang="en-US" altLang="zh-CN" sz="2000" b="0" dirty="0">
                <a:latin typeface="Times New Roman" panose="02020603050405020304" pitchFamily="18" charset="0"/>
                <a:cs typeface="Times New Roman" panose="02020603050405020304" pitchFamily="18" charset="0"/>
              </a:rPr>
              <a:t>− </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4</a:t>
            </a:r>
            <a:r>
              <a:rPr lang="en-US" altLang="zh-CN" sz="2000" b="0" dirty="0">
                <a:latin typeface="Times New Roman" panose="02020603050405020304" pitchFamily="18" charset="0"/>
                <a:cs typeface="Times New Roman" panose="02020603050405020304" pitchFamily="18" charset="0"/>
              </a:rPr>
              <a:t>≤ -3 </a:t>
            </a:r>
            <a:endParaRPr lang="zh-CN" altLang="en-US" sz="2000" dirty="0"/>
          </a:p>
        </p:txBody>
      </p:sp>
      <p:sp>
        <p:nvSpPr>
          <p:cNvPr id="4" name="矩形 3"/>
          <p:cNvSpPr/>
          <p:nvPr/>
        </p:nvSpPr>
        <p:spPr>
          <a:xfrm>
            <a:off x="7487967" y="2011642"/>
            <a:ext cx="1296144" cy="2308324"/>
          </a:xfrm>
          <a:prstGeom prst="rect">
            <a:avLst/>
          </a:prstGeom>
          <a:solidFill>
            <a:schemeClr val="bg2">
              <a:lumMod val="40000"/>
              <a:lumOff val="60000"/>
            </a:schemeClr>
          </a:solidFill>
        </p:spPr>
        <p:txBody>
          <a:bodyPr wrap="square">
            <a:spAutoFit/>
          </a:bodyPr>
          <a:lstStyle/>
          <a:p>
            <a:pPr algn="just" eaLnBrk="1" hangingPunct="1"/>
            <a:r>
              <a:rPr lang="zh-CN" altLang="en-US" sz="1800" b="0" dirty="0">
                <a:latin typeface="Times New Roman" panose="02020603050405020304" pitchFamily="18" charset="0"/>
                <a:cs typeface="Times New Roman" panose="02020603050405020304" pitchFamily="18" charset="0"/>
              </a:rPr>
              <a:t>这就得到一个切割方程</a:t>
            </a:r>
            <a:r>
              <a:rPr lang="en-US" altLang="zh-CN" sz="1800" b="0" dirty="0">
                <a:latin typeface="Times New Roman" panose="02020603050405020304" pitchFamily="18" charset="0"/>
                <a:cs typeface="Times New Roman" panose="02020603050405020304" pitchFamily="18" charset="0"/>
              </a:rPr>
              <a:t>(</a:t>
            </a:r>
            <a:r>
              <a:rPr lang="zh-CN" altLang="en-US" sz="1800" b="0" dirty="0">
                <a:latin typeface="Times New Roman" panose="02020603050405020304" pitchFamily="18" charset="0"/>
                <a:cs typeface="Times New Roman" panose="02020603050405020304" pitchFamily="18" charset="0"/>
              </a:rPr>
              <a:t>或称为切割约束</a:t>
            </a:r>
            <a:r>
              <a:rPr lang="en-US" altLang="zh-CN" sz="1800" b="0" dirty="0">
                <a:latin typeface="Times New Roman" panose="02020603050405020304" pitchFamily="18" charset="0"/>
                <a:cs typeface="Times New Roman" panose="02020603050405020304" pitchFamily="18" charset="0"/>
              </a:rPr>
              <a:t>)</a:t>
            </a:r>
            <a:r>
              <a:rPr lang="zh-CN" altLang="en-US" sz="1800" b="0" dirty="0">
                <a:latin typeface="Times New Roman" panose="02020603050405020304" pitchFamily="18" charset="0"/>
                <a:cs typeface="Times New Roman" panose="02020603050405020304" pitchFamily="18" charset="0"/>
              </a:rPr>
              <a:t>，将它作为增加约束条件，再解例</a:t>
            </a:r>
            <a:r>
              <a:rPr lang="en-US" altLang="zh-CN" sz="1800" b="0" dirty="0">
                <a:latin typeface="Times New Roman" panose="02020603050405020304" pitchFamily="18" charset="0"/>
                <a:cs typeface="Times New Roman" panose="02020603050405020304" pitchFamily="18" charset="0"/>
              </a:rPr>
              <a:t>6-3</a:t>
            </a:r>
            <a:r>
              <a:rPr lang="zh-CN" altLang="en-US" sz="1800" b="0" dirty="0">
                <a:latin typeface="Times New Roman" panose="02020603050405020304" pitchFamily="18" charset="0"/>
                <a:cs typeface="Times New Roman" panose="02020603050405020304" pitchFamily="18" charset="0"/>
              </a:rPr>
              <a:t>。</a:t>
            </a:r>
          </a:p>
        </p:txBody>
      </p:sp>
      <p:graphicFrame>
        <p:nvGraphicFramePr>
          <p:cNvPr id="13" name="Object 7">
            <a:extLst>
              <a:ext uri="{FF2B5EF4-FFF2-40B4-BE49-F238E27FC236}">
                <a16:creationId xmlns:a16="http://schemas.microsoft.com/office/drawing/2014/main" id="{72D579BB-A460-4CAC-B243-F65B7D9FC7C2}"/>
              </a:ext>
            </a:extLst>
          </p:cNvPr>
          <p:cNvGraphicFramePr>
            <a:graphicFrameLocks noChangeAspect="1"/>
          </p:cNvGraphicFramePr>
          <p:nvPr>
            <p:extLst>
              <p:ext uri="{D42A27DB-BD31-4B8C-83A1-F6EECF244321}">
                <p14:modId xmlns:p14="http://schemas.microsoft.com/office/powerpoint/2010/main" val="2828776390"/>
              </p:ext>
            </p:extLst>
          </p:nvPr>
        </p:nvGraphicFramePr>
        <p:xfrm>
          <a:off x="7248525" y="38100"/>
          <a:ext cx="1724025" cy="946150"/>
        </p:xfrm>
        <a:graphic>
          <a:graphicData uri="http://schemas.openxmlformats.org/presentationml/2006/ole">
            <mc:AlternateContent xmlns:mc="http://schemas.openxmlformats.org/markup-compatibility/2006">
              <mc:Choice xmlns:v="urn:schemas-microsoft-com:vml" Requires="v">
                <p:oleObj spid="_x0000_s12446" name="公式" r:id="rId8" imgW="1218960" imgH="812520" progId="Equation.3">
                  <p:embed/>
                </p:oleObj>
              </mc:Choice>
              <mc:Fallback>
                <p:oleObj name="公式" r:id="rId8" imgW="1218960" imgH="812520" progId="Equation.3">
                  <p:embed/>
                  <p:pic>
                    <p:nvPicPr>
                      <p:cNvPr id="15" name="Object 7">
                        <a:extLst>
                          <a:ext uri="{FF2B5EF4-FFF2-40B4-BE49-F238E27FC236}">
                            <a16:creationId xmlns:a16="http://schemas.microsoft.com/office/drawing/2014/main" id="{72D579BB-A460-4CAC-B243-F65B7D9FC7C2}"/>
                          </a:ext>
                        </a:extLst>
                      </p:cNvPr>
                      <p:cNvPicPr>
                        <a:picLocks noChangeAspect="1" noChangeArrowheads="1"/>
                      </p:cNvPicPr>
                      <p:nvPr/>
                    </p:nvPicPr>
                    <p:blipFill>
                      <a:blip r:embed="rId9"/>
                      <a:srcRect/>
                      <a:stretch>
                        <a:fillRect/>
                      </a:stretch>
                    </p:blipFill>
                    <p:spPr bwMode="auto">
                      <a:xfrm>
                        <a:off x="7248525" y="38100"/>
                        <a:ext cx="1724025" cy="946150"/>
                      </a:xfrm>
                      <a:prstGeom prst="rect">
                        <a:avLst/>
                      </a:prstGeom>
                      <a:noFill/>
                      <a:ln>
                        <a:noFill/>
                      </a:ln>
                      <a:effectLst/>
                      <a:extLst/>
                    </p:spPr>
                  </p:pic>
                </p:oleObj>
              </mc:Fallback>
            </mc:AlternateContent>
          </a:graphicData>
        </a:graphic>
      </p:graphicFrame>
      <p:sp>
        <p:nvSpPr>
          <p:cNvPr id="5" name="矩形 4"/>
          <p:cNvSpPr/>
          <p:nvPr/>
        </p:nvSpPr>
        <p:spPr>
          <a:xfrm>
            <a:off x="3131840" y="62758"/>
            <a:ext cx="4572000" cy="1015663"/>
          </a:xfrm>
          <a:prstGeom prst="rect">
            <a:avLst/>
          </a:prstGeom>
        </p:spPr>
        <p:txBody>
          <a:bodyPr>
            <a:spAutoFit/>
          </a:bodyPr>
          <a:lstStyle/>
          <a:p>
            <a:pPr algn="ctr" eaLnBrk="1" hangingPunct="1">
              <a:buFont typeface="Wingdings" panose="05000000000000000000" pitchFamily="2" charset="2"/>
              <a:buNone/>
            </a:pP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0</a:t>
            </a:r>
            <a:r>
              <a:rPr lang="zh-CN" altLang="en-US" sz="2000" b="0" baseline="-3000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2</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                   ⑤</a:t>
            </a:r>
            <a:endParaRPr lang="en-US" altLang="zh-CN" sz="2000" b="0" dirty="0">
              <a:latin typeface="Times New Roman" panose="02020603050405020304" pitchFamily="18" charset="0"/>
              <a:cs typeface="Times New Roman" panose="02020603050405020304" pitchFamily="18" charset="0"/>
            </a:endParaRPr>
          </a:p>
          <a:p>
            <a:pPr algn="ctr" eaLnBrk="1" hangingPunct="1">
              <a:buFont typeface="Wingdings" panose="05000000000000000000" pitchFamily="2" charset="2"/>
              <a:buNone/>
            </a:pPr>
            <a:r>
              <a:rPr lang="zh-CN" altLang="en-US"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2</a:t>
            </a:r>
            <a:r>
              <a:rPr lang="en-US" altLang="zh-CN"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3       </a:t>
            </a:r>
            <a:r>
              <a:rPr lang="en-US" altLang="zh-CN" sz="2000" b="0" dirty="0">
                <a:latin typeface="Times New Roman" panose="02020603050405020304" pitchFamily="18" charset="0"/>
                <a:cs typeface="Times New Roman" panose="02020603050405020304" pitchFamily="18" charset="0"/>
              </a:rPr>
              <a:t>=1           ⑥</a:t>
            </a:r>
          </a:p>
          <a:p>
            <a:pPr algn="ctr" eaLnBrk="1" hangingPunct="1">
              <a:buFont typeface="Wingdings" panose="05000000000000000000" pitchFamily="2" charset="2"/>
              <a:buNone/>
            </a:pPr>
            <a:r>
              <a:rPr lang="en-US" altLang="zh-CN" sz="2000" b="0" dirty="0">
                <a:latin typeface="Times New Roman" panose="02020603050405020304" pitchFamily="18" charset="0"/>
                <a:cs typeface="Times New Roman" panose="02020603050405020304" pitchFamily="18" charset="0"/>
              </a:rPr>
              <a:t>3</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1</a:t>
            </a:r>
            <a:r>
              <a:rPr lang="en-US" altLang="zh-CN"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2       </a:t>
            </a:r>
            <a:r>
              <a:rPr lang="en-US" altLang="zh-CN"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4</a:t>
            </a:r>
            <a:r>
              <a:rPr lang="en-US" altLang="zh-CN" sz="2000" b="0" dirty="0">
                <a:latin typeface="Times New Roman" panose="02020603050405020304" pitchFamily="18" charset="0"/>
                <a:cs typeface="Times New Roman" panose="02020603050405020304" pitchFamily="18" charset="0"/>
              </a:rPr>
              <a:t>=4           ⑦</a:t>
            </a:r>
          </a:p>
        </p:txBody>
      </p:sp>
      <p:sp>
        <p:nvSpPr>
          <p:cNvPr id="6" name="右箭头 5"/>
          <p:cNvSpPr/>
          <p:nvPr/>
        </p:nvSpPr>
        <p:spPr bwMode="auto">
          <a:xfrm>
            <a:off x="3851920" y="6093296"/>
            <a:ext cx="576064" cy="144016"/>
          </a:xfrm>
          <a:prstGeom prst="rightArrow">
            <a:avLst/>
          </a:prstGeom>
          <a:solidFill>
            <a:schemeClr val="tx1"/>
          </a:solidFill>
          <a:ln>
            <a:solidFill>
              <a:schemeClr val="tx1"/>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C3D7E4FD-9467-4585-B40E-068F5E1E0280}"/>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96752"/>
            <a:ext cx="8469759" cy="2456057"/>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pPr lvl="1" algn="just" eaLnBrk="1" hangingPunct="1"/>
            <a:r>
              <a:rPr lang="zh-CN" altLang="en-US" sz="2000" dirty="0">
                <a:latin typeface="Times New Roman" panose="02020603050405020304" pitchFamily="18" charset="0"/>
                <a:cs typeface="Times New Roman" panose="02020603050405020304" pitchFamily="18" charset="0"/>
              </a:rPr>
              <a:t>引入松弛变量</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，得到等式</a:t>
            </a:r>
          </a:p>
          <a:p>
            <a:pPr algn="ctr" eaLnBrk="1" hangingPunct="1">
              <a:buNone/>
            </a:pP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3</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3 </a:t>
            </a:r>
            <a:r>
              <a:rPr lang="en-US" altLang="zh-CN" sz="2000" dirty="0">
                <a:latin typeface="Times New Roman" panose="02020603050405020304" pitchFamily="18" charset="0"/>
                <a:cs typeface="Times New Roman" panose="02020603050405020304" pitchFamily="18" charset="0"/>
              </a:rPr>
              <a:t>−</a:t>
            </a:r>
            <a:r>
              <a:rPr lang="en-US" altLang="zh-CN" sz="2000" baseline="-30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4</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5</a:t>
            </a:r>
            <a:r>
              <a:rPr lang="en-US" altLang="zh-CN" sz="2000" dirty="0">
                <a:latin typeface="Times New Roman" panose="02020603050405020304" pitchFamily="18" charset="0"/>
                <a:cs typeface="Times New Roman" panose="02020603050405020304" pitchFamily="18" charset="0"/>
              </a:rPr>
              <a:t>= − 3</a:t>
            </a:r>
          </a:p>
          <a:p>
            <a:pPr eaLnBrk="1" hangingPunct="1">
              <a:buNone/>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将这新的约束方程加到表</a:t>
            </a:r>
            <a:r>
              <a:rPr lang="en-US" altLang="zh-CN" sz="2000" dirty="0">
                <a:latin typeface="Times New Roman" panose="02020603050405020304" pitchFamily="18" charset="0"/>
                <a:cs typeface="Times New Roman" panose="02020603050405020304" pitchFamily="18" charset="0"/>
              </a:rPr>
              <a:t>6-3</a:t>
            </a:r>
            <a:r>
              <a:rPr lang="zh-CN" altLang="en-US" sz="2000" dirty="0">
                <a:latin typeface="Times New Roman" panose="02020603050405020304" pitchFamily="18" charset="0"/>
                <a:cs typeface="Times New Roman" panose="02020603050405020304" pitchFamily="18" charset="0"/>
              </a:rPr>
              <a:t>的最终计算表，得表</a:t>
            </a:r>
            <a:r>
              <a:rPr lang="en-US" altLang="zh-CN" sz="2000" dirty="0">
                <a:latin typeface="Times New Roman" panose="02020603050405020304" pitchFamily="18" charset="0"/>
                <a:cs typeface="Times New Roman" panose="02020603050405020304" pitchFamily="18" charset="0"/>
              </a:rPr>
              <a:t>6-4</a:t>
            </a:r>
            <a:r>
              <a:rPr lang="zh-CN" altLang="en-US" sz="2000" dirty="0">
                <a:latin typeface="Times New Roman" panose="02020603050405020304" pitchFamily="18" charset="0"/>
                <a:cs typeface="Times New Roman" panose="02020603050405020304" pitchFamily="18" charset="0"/>
              </a:rPr>
              <a:t>。</a:t>
            </a:r>
          </a:p>
          <a:p>
            <a:endParaRPr lang="en-US" altLang="zh-CN" dirty="0">
              <a:latin typeface="+mn-ea"/>
            </a:endParaRPr>
          </a:p>
          <a:p>
            <a:endParaRPr lang="zh-CN" altLang="en-US" dirty="0"/>
          </a:p>
        </p:txBody>
      </p:sp>
      <p:graphicFrame>
        <p:nvGraphicFramePr>
          <p:cNvPr id="36872" name="Object 7">
            <a:extLst>
              <a:ext uri="{FF2B5EF4-FFF2-40B4-BE49-F238E27FC236}">
                <a16:creationId xmlns:a16="http://schemas.microsoft.com/office/drawing/2014/main" id="{CDB6467A-1A57-40A7-8DBC-F900E27EDF14}"/>
              </a:ext>
            </a:extLst>
          </p:cNvPr>
          <p:cNvGraphicFramePr>
            <a:graphicFrameLocks noChangeAspect="1"/>
          </p:cNvGraphicFramePr>
          <p:nvPr>
            <p:extLst>
              <p:ext uri="{D42A27DB-BD31-4B8C-83A1-F6EECF244321}">
                <p14:modId xmlns:p14="http://schemas.microsoft.com/office/powerpoint/2010/main" val="1817615467"/>
              </p:ext>
            </p:extLst>
          </p:nvPr>
        </p:nvGraphicFramePr>
        <p:xfrm>
          <a:off x="-468560" y="2753939"/>
          <a:ext cx="9536435" cy="2517819"/>
        </p:xfrm>
        <a:graphic>
          <a:graphicData uri="http://schemas.openxmlformats.org/presentationml/2006/ole">
            <mc:AlternateContent xmlns:mc="http://schemas.openxmlformats.org/markup-compatibility/2006">
              <mc:Choice xmlns:v="urn:schemas-microsoft-com:vml" Requires="v">
                <p:oleObj spid="_x0000_s14440" name="Document" r:id="rId3" imgW="5425226" imgH="1438494" progId="Word.Document.8">
                  <p:embed/>
                </p:oleObj>
              </mc:Choice>
              <mc:Fallback>
                <p:oleObj name="Document" r:id="rId3" imgW="5425226" imgH="1438494" progId="Word.Document.8">
                  <p:embed/>
                  <p:pic>
                    <p:nvPicPr>
                      <p:cNvPr id="0" name="Object 7"/>
                      <p:cNvPicPr>
                        <a:picLocks noChangeAspect="1" noChangeArrowheads="1"/>
                      </p:cNvPicPr>
                      <p:nvPr/>
                    </p:nvPicPr>
                    <p:blipFill>
                      <a:blip r:embed="rId4"/>
                      <a:srcRect/>
                      <a:stretch>
                        <a:fillRect/>
                      </a:stretch>
                    </p:blipFill>
                    <p:spPr bwMode="auto">
                      <a:xfrm>
                        <a:off x="-468560" y="2753939"/>
                        <a:ext cx="9536435" cy="2517819"/>
                      </a:xfrm>
                      <a:prstGeom prst="rect">
                        <a:avLst/>
                      </a:prstGeom>
                      <a:noFill/>
                      <a:ln>
                        <a:noFill/>
                      </a:ln>
                      <a:effectLst/>
                      <a:extLst/>
                    </p:spPr>
                  </p:pic>
                </p:oleObj>
              </mc:Fallback>
            </mc:AlternateContent>
          </a:graphicData>
        </a:graphic>
      </p:graphicFrame>
      <p:sp>
        <p:nvSpPr>
          <p:cNvPr id="3" name="矩形 2"/>
          <p:cNvSpPr/>
          <p:nvPr/>
        </p:nvSpPr>
        <p:spPr>
          <a:xfrm>
            <a:off x="827583" y="4869160"/>
            <a:ext cx="7446069" cy="1015663"/>
          </a:xfrm>
          <a:prstGeom prst="rect">
            <a:avLst/>
          </a:prstGeom>
        </p:spPr>
        <p:txBody>
          <a:bodyPr wrap="square">
            <a:spAutoFit/>
          </a:bodyPr>
          <a:lstStyle/>
          <a:p>
            <a:pPr algn="just" eaLnBrk="1" hangingPunct="1"/>
            <a:r>
              <a:rPr lang="zh-CN" altLang="en-US" sz="2000" dirty="0">
                <a:latin typeface="Times New Roman" panose="02020603050405020304" pitchFamily="18" charset="0"/>
                <a:cs typeface="Times New Roman" panose="02020603050405020304" pitchFamily="18" charset="0"/>
              </a:rPr>
              <a:t>这从表</a:t>
            </a:r>
            <a:r>
              <a:rPr lang="en-US" altLang="zh-CN" sz="2000" dirty="0">
                <a:latin typeface="Times New Roman" panose="02020603050405020304" pitchFamily="18" charset="0"/>
                <a:cs typeface="Times New Roman" panose="02020603050405020304" pitchFamily="18" charset="0"/>
              </a:rPr>
              <a:t>6-4</a:t>
            </a:r>
            <a:r>
              <a:rPr lang="zh-CN" altLang="en-US" sz="2000" dirty="0">
                <a:latin typeface="Times New Roman" panose="02020603050405020304" pitchFamily="18" charset="0"/>
                <a:cs typeface="Times New Roman" panose="02020603050405020304" pitchFamily="18" charset="0"/>
              </a:rPr>
              <a:t>的</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列中可看到，这时得到的是非可行解，于是需要用对偶单纯形法继续进行计算。</a:t>
            </a:r>
          </a:p>
          <a:p>
            <a:pPr algn="just" eaLnBrk="1" hangingPunct="1"/>
            <a:r>
              <a:rPr lang="zh-CN" altLang="en-US" sz="2000" dirty="0">
                <a:latin typeface="Times New Roman" panose="02020603050405020304" pitchFamily="18" charset="0"/>
                <a:cs typeface="Times New Roman" panose="02020603050405020304" pitchFamily="18" charset="0"/>
              </a:rPr>
              <a:t>选择</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为换出变量，计算</a:t>
            </a:r>
          </a:p>
        </p:txBody>
      </p:sp>
      <p:graphicFrame>
        <p:nvGraphicFramePr>
          <p:cNvPr id="10" name="Object 7">
            <a:extLst>
              <a:ext uri="{FF2B5EF4-FFF2-40B4-BE49-F238E27FC236}">
                <a16:creationId xmlns:a16="http://schemas.microsoft.com/office/drawing/2014/main" id="{C27DC2E4-04BF-4192-AA93-98EF8EBAFF58}"/>
              </a:ext>
            </a:extLst>
          </p:cNvPr>
          <p:cNvGraphicFramePr>
            <a:graphicFrameLocks noChangeAspect="1"/>
          </p:cNvGraphicFramePr>
          <p:nvPr>
            <p:extLst>
              <p:ext uri="{D42A27DB-BD31-4B8C-83A1-F6EECF244321}">
                <p14:modId xmlns:p14="http://schemas.microsoft.com/office/powerpoint/2010/main" val="2721279968"/>
              </p:ext>
            </p:extLst>
          </p:nvPr>
        </p:nvGraphicFramePr>
        <p:xfrm>
          <a:off x="4067943" y="5445223"/>
          <a:ext cx="3722512" cy="1015663"/>
        </p:xfrm>
        <a:graphic>
          <a:graphicData uri="http://schemas.openxmlformats.org/presentationml/2006/ole">
            <mc:AlternateContent xmlns:mc="http://schemas.openxmlformats.org/markup-compatibility/2006">
              <mc:Choice xmlns:v="urn:schemas-microsoft-com:vml" Requires="v">
                <p:oleObj spid="_x0000_s14441" name="Equation" r:id="rId5" imgW="3213100" imgH="876300" progId="Equation.3">
                  <p:embed/>
                </p:oleObj>
              </mc:Choice>
              <mc:Fallback>
                <p:oleObj name="Equation" r:id="rId5" imgW="3213100" imgH="876300" progId="Equation.3">
                  <p:embed/>
                  <p:pic>
                    <p:nvPicPr>
                      <p:cNvPr id="37896" name="Object 7">
                        <a:extLst>
                          <a:ext uri="{FF2B5EF4-FFF2-40B4-BE49-F238E27FC236}">
                            <a16:creationId xmlns:a16="http://schemas.microsoft.com/office/drawing/2014/main" id="{C27DC2E4-04BF-4192-AA93-98EF8EBAFF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943" y="5445223"/>
                        <a:ext cx="3722512" cy="1015663"/>
                      </a:xfrm>
                      <a:prstGeom prst="rect">
                        <a:avLst/>
                      </a:prstGeom>
                      <a:noFill/>
                      <a:ln>
                        <a:noFill/>
                      </a:ln>
                      <a:effectLst/>
                      <a:extLst/>
                    </p:spPr>
                  </p:pic>
                </p:oleObj>
              </mc:Fallback>
            </mc:AlternateContent>
          </a:graphicData>
        </a:graphic>
      </p:graphicFrame>
      <p:sp>
        <p:nvSpPr>
          <p:cNvPr id="7" name="矩形 6"/>
          <p:cNvSpPr/>
          <p:nvPr/>
        </p:nvSpPr>
        <p:spPr>
          <a:xfrm>
            <a:off x="7487816" y="18049"/>
            <a:ext cx="1656184" cy="400110"/>
          </a:xfrm>
          <a:prstGeom prst="rect">
            <a:avLst/>
          </a:prstGeom>
        </p:spPr>
        <p:txBody>
          <a:bodyPr wrap="square">
            <a:spAutoFit/>
          </a:bodyPr>
          <a:lstStyle/>
          <a:p>
            <a:r>
              <a:rPr lang="zh-CN" altLang="en-US" sz="2000" b="0" dirty="0">
                <a:latin typeface="Times New Roman" panose="02020603050405020304" pitchFamily="18" charset="0"/>
                <a:cs typeface="Times New Roman" panose="02020603050405020304" pitchFamily="18" charset="0"/>
              </a:rPr>
              <a:t>− </a:t>
            </a:r>
            <a:r>
              <a:rPr lang="en-US" altLang="zh-CN" sz="2000" b="0" dirty="0">
                <a:latin typeface="Times New Roman" panose="02020603050405020304" pitchFamily="18" charset="0"/>
                <a:cs typeface="Times New Roman" panose="02020603050405020304" pitchFamily="18" charset="0"/>
              </a:rPr>
              <a:t>3</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3</a:t>
            </a:r>
            <a:r>
              <a:rPr lang="en-US" altLang="zh-CN" sz="2000" b="0" dirty="0">
                <a:latin typeface="Times New Roman" panose="02020603050405020304" pitchFamily="18" charset="0"/>
                <a:cs typeface="Times New Roman" panose="02020603050405020304" pitchFamily="18" charset="0"/>
              </a:rPr>
              <a:t>− </a:t>
            </a:r>
            <a:r>
              <a:rPr lang="en-US" altLang="zh-CN" sz="2000" b="0" i="1" dirty="0">
                <a:latin typeface="Times New Roman" panose="02020603050405020304" pitchFamily="18" charset="0"/>
                <a:cs typeface="Times New Roman" panose="02020603050405020304" pitchFamily="18" charset="0"/>
              </a:rPr>
              <a:t>x</a:t>
            </a:r>
            <a:r>
              <a:rPr lang="en-US" altLang="zh-CN" sz="2000" b="0" baseline="-30000" dirty="0">
                <a:latin typeface="Times New Roman" panose="02020603050405020304" pitchFamily="18" charset="0"/>
                <a:cs typeface="Times New Roman" panose="02020603050405020304" pitchFamily="18" charset="0"/>
              </a:rPr>
              <a:t>4</a:t>
            </a:r>
            <a:r>
              <a:rPr lang="en-US" altLang="zh-CN" sz="2000" b="0" dirty="0">
                <a:latin typeface="Times New Roman" panose="02020603050405020304" pitchFamily="18" charset="0"/>
                <a:cs typeface="Times New Roman" panose="02020603050405020304" pitchFamily="18" charset="0"/>
              </a:rPr>
              <a:t>≤ -3 </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a:extLst>
              <a:ext uri="{FF2B5EF4-FFF2-40B4-BE49-F238E27FC236}">
                <a16:creationId xmlns:a16="http://schemas.microsoft.com/office/drawing/2014/main" id="{E7A24251-93BE-43BB-B739-95ADC93C3936}"/>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96752"/>
            <a:ext cx="8469759" cy="1717393"/>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pPr lvl="1"/>
            <a:r>
              <a:rPr lang="zh-CN" altLang="en-US" sz="2000" dirty="0">
                <a:latin typeface="Times New Roman" panose="02020603050405020304" pitchFamily="18" charset="0"/>
                <a:cs typeface="Times New Roman" panose="02020603050405020304" pitchFamily="18" charset="0"/>
              </a:rPr>
              <a:t>将</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做为换入变量，再按原单纯形法进行迭代，得表</a:t>
            </a:r>
            <a:r>
              <a:rPr lang="en-US" altLang="zh-CN" sz="2000" dirty="0">
                <a:latin typeface="Times New Roman" panose="02020603050405020304" pitchFamily="18" charset="0"/>
                <a:cs typeface="Times New Roman" panose="02020603050405020304" pitchFamily="18" charset="0"/>
              </a:rPr>
              <a:t>6-5</a:t>
            </a:r>
            <a:r>
              <a:rPr lang="zh-CN" altLang="en-US" sz="2000" dirty="0">
                <a:latin typeface="Times New Roman" panose="02020603050405020304" pitchFamily="18" charset="0"/>
                <a:cs typeface="Times New Roman" panose="02020603050405020304" pitchFamily="18" charset="0"/>
              </a:rPr>
              <a:t>。</a:t>
            </a:r>
          </a:p>
          <a:p>
            <a:endParaRPr lang="en-US" altLang="zh-CN" dirty="0">
              <a:latin typeface="+mn-ea"/>
            </a:endParaRPr>
          </a:p>
          <a:p>
            <a:endParaRPr lang="zh-CN" altLang="en-US" dirty="0"/>
          </a:p>
        </p:txBody>
      </p:sp>
      <p:sp>
        <p:nvSpPr>
          <p:cNvPr id="38915" name="灯片编号占位符 5">
            <a:extLst>
              <a:ext uri="{FF2B5EF4-FFF2-40B4-BE49-F238E27FC236}">
                <a16:creationId xmlns:a16="http://schemas.microsoft.com/office/drawing/2014/main" id="{8D088925-2475-497C-8065-B409D770751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F0BE5CF-FEE2-4080-AD8D-50C576144FF5}" type="slidenum">
              <a:rPr lang="en-US" altLang="zh-CN" sz="1000" smtClean="0"/>
              <a:pPr>
                <a:spcBef>
                  <a:spcPct val="0"/>
                </a:spcBef>
                <a:buClrTx/>
                <a:buSzTx/>
                <a:buFontTx/>
                <a:buNone/>
              </a:pPr>
              <a:t>21</a:t>
            </a:fld>
            <a:endParaRPr lang="en-US" altLang="zh-CN" sz="1000"/>
          </a:p>
        </p:txBody>
      </p:sp>
      <p:sp>
        <p:nvSpPr>
          <p:cNvPr id="38918" name="Rectangle 4">
            <a:extLst>
              <a:ext uri="{FF2B5EF4-FFF2-40B4-BE49-F238E27FC236}">
                <a16:creationId xmlns:a16="http://schemas.microsoft.com/office/drawing/2014/main" id="{803F2D4B-75A5-43D0-8DA0-CAB026082617}"/>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8919" name="Rectangle 5">
            <a:extLst>
              <a:ext uri="{FF2B5EF4-FFF2-40B4-BE49-F238E27FC236}">
                <a16:creationId xmlns:a16="http://schemas.microsoft.com/office/drawing/2014/main" id="{C0F66FA9-2115-4B21-BCC4-4983AD4A6A5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graphicFrame>
        <p:nvGraphicFramePr>
          <p:cNvPr id="38920" name="Object 7">
            <a:extLst>
              <a:ext uri="{FF2B5EF4-FFF2-40B4-BE49-F238E27FC236}">
                <a16:creationId xmlns:a16="http://schemas.microsoft.com/office/drawing/2014/main" id="{1B6565B1-7391-4312-B03C-A47DD189C1A4}"/>
              </a:ext>
            </a:extLst>
          </p:cNvPr>
          <p:cNvGraphicFramePr>
            <a:graphicFrameLocks noChangeAspect="1"/>
          </p:cNvGraphicFramePr>
          <p:nvPr>
            <p:extLst>
              <p:ext uri="{D42A27DB-BD31-4B8C-83A1-F6EECF244321}">
                <p14:modId xmlns:p14="http://schemas.microsoft.com/office/powerpoint/2010/main" val="1662473507"/>
              </p:ext>
            </p:extLst>
          </p:nvPr>
        </p:nvGraphicFramePr>
        <p:xfrm>
          <a:off x="-403623" y="2131219"/>
          <a:ext cx="10196513" cy="2376487"/>
        </p:xfrm>
        <a:graphic>
          <a:graphicData uri="http://schemas.openxmlformats.org/presentationml/2006/ole">
            <mc:AlternateContent xmlns:mc="http://schemas.openxmlformats.org/markup-compatibility/2006">
              <mc:Choice xmlns:v="urn:schemas-microsoft-com:vml" Requires="v">
                <p:oleObj spid="_x0000_s16447" name="文档" r:id="rId3" imgW="5428383" imgH="1436879" progId="Word.Document.8">
                  <p:embed/>
                </p:oleObj>
              </mc:Choice>
              <mc:Fallback>
                <p:oleObj name="文档" r:id="rId3" imgW="5428383" imgH="1436879" progId="Word.Document.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623" y="2131219"/>
                        <a:ext cx="10196513"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p:cNvSpPr/>
          <p:nvPr/>
        </p:nvSpPr>
        <p:spPr>
          <a:xfrm>
            <a:off x="1259632" y="4325561"/>
            <a:ext cx="7056784" cy="400110"/>
          </a:xfrm>
          <a:prstGeom prst="rect">
            <a:avLst/>
          </a:prstGeom>
        </p:spPr>
        <p:txBody>
          <a:bodyPr wrap="square">
            <a:spAutoFit/>
          </a:bodyPr>
          <a:lstStyle/>
          <a:p>
            <a:r>
              <a:rPr lang="zh-CN" altLang="zh-CN" sz="2000" kern="100" dirty="0">
                <a:cs typeface="Courier New" panose="02070309020205020404" pitchFamily="49" charset="0"/>
              </a:rPr>
              <a:t>由于</a:t>
            </a:r>
            <a:r>
              <a:rPr lang="en-US" altLang="zh-CN" sz="2000" i="1" kern="100" dirty="0">
                <a:latin typeface="Times New Roman" panose="02020603050405020304" pitchFamily="18" charset="0"/>
                <a:cs typeface="Times New Roman" panose="02020603050405020304" pitchFamily="18" charset="0"/>
              </a:rPr>
              <a:t>x</a:t>
            </a:r>
            <a:r>
              <a:rPr lang="en-US" altLang="zh-CN" sz="2000" kern="100" baseline="-25000" dirty="0">
                <a:cs typeface="Courier New" panose="02070309020205020404" pitchFamily="49" charset="0"/>
              </a:rPr>
              <a:t>1</a:t>
            </a:r>
            <a:r>
              <a:rPr lang="zh-CN" altLang="zh-CN" sz="2000" kern="100" dirty="0">
                <a:cs typeface="Courier New" panose="02070309020205020404" pitchFamily="49" charset="0"/>
              </a:rPr>
              <a:t>、</a:t>
            </a:r>
            <a:r>
              <a:rPr lang="en-US" altLang="zh-CN" sz="2000" i="1" kern="100" dirty="0">
                <a:latin typeface="Times New Roman" panose="02020603050405020304" pitchFamily="18" charset="0"/>
                <a:cs typeface="Times New Roman" panose="02020603050405020304" pitchFamily="18" charset="0"/>
              </a:rPr>
              <a:t>x</a:t>
            </a:r>
            <a:r>
              <a:rPr lang="en-US" altLang="zh-CN" sz="2000" kern="100" baseline="-25000" dirty="0">
                <a:cs typeface="Courier New" panose="02070309020205020404" pitchFamily="49" charset="0"/>
              </a:rPr>
              <a:t>2</a:t>
            </a:r>
            <a:r>
              <a:rPr lang="zh-CN" altLang="zh-CN" sz="2000" kern="100" dirty="0">
                <a:cs typeface="Courier New" panose="02070309020205020404" pitchFamily="49" charset="0"/>
              </a:rPr>
              <a:t>的值已都是整数，解题已完成。</a:t>
            </a:r>
            <a:endParaRPr lang="zh-CN" alt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4BAB366F-AB44-4AFC-A3A0-024D186F0A43}"/>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2" name="内容占位符 1"/>
          <p:cNvSpPr>
            <a:spLocks noGrp="1"/>
          </p:cNvSpPr>
          <p:nvPr>
            <p:ph idx="1"/>
          </p:nvPr>
        </p:nvSpPr>
        <p:spPr>
          <a:xfrm>
            <a:off x="494729" y="1196752"/>
            <a:ext cx="8469759" cy="904863"/>
          </a:xfrm>
        </p:spPr>
        <p:txBody>
          <a:bodyPr/>
          <a:lstStyle/>
          <a:p>
            <a:r>
              <a:rPr lang="zh-CN" altLang="en-US" dirty="0">
                <a:latin typeface="+mn-ea"/>
              </a:rPr>
              <a:t>例</a:t>
            </a:r>
            <a:r>
              <a:rPr lang="en-US" altLang="zh-CN" dirty="0">
                <a:latin typeface="+mn-ea"/>
              </a:rPr>
              <a:t>6-3  </a:t>
            </a:r>
            <a:r>
              <a:rPr lang="zh-CN" altLang="en-US" dirty="0">
                <a:latin typeface="+mn-ea"/>
              </a:rPr>
              <a:t>求解</a:t>
            </a:r>
            <a:endParaRPr lang="en-US" altLang="zh-CN" dirty="0">
              <a:latin typeface="+mn-ea"/>
            </a:endParaRPr>
          </a:p>
          <a:p>
            <a:endParaRPr lang="zh-CN" altLang="en-US" dirty="0"/>
          </a:p>
        </p:txBody>
      </p:sp>
      <p:sp>
        <p:nvSpPr>
          <p:cNvPr id="39939" name="灯片编号占位符 5">
            <a:extLst>
              <a:ext uri="{FF2B5EF4-FFF2-40B4-BE49-F238E27FC236}">
                <a16:creationId xmlns:a16="http://schemas.microsoft.com/office/drawing/2014/main" id="{56414B9E-DBF9-43A7-8F63-0911845763A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943ECB4-E0F3-4E6D-BAC5-0E0EF71BE9E6}" type="slidenum">
              <a:rPr lang="en-US" altLang="zh-CN" sz="1000" smtClean="0"/>
              <a:pPr>
                <a:spcBef>
                  <a:spcPct val="0"/>
                </a:spcBef>
                <a:buClrTx/>
                <a:buSzTx/>
                <a:buFontTx/>
                <a:buNone/>
              </a:pPr>
              <a:t>22</a:t>
            </a:fld>
            <a:endParaRPr lang="en-US" altLang="zh-CN" sz="1000"/>
          </a:p>
        </p:txBody>
      </p:sp>
      <p:sp>
        <p:nvSpPr>
          <p:cNvPr id="39941" name="Rectangle 3">
            <a:extLst>
              <a:ext uri="{FF2B5EF4-FFF2-40B4-BE49-F238E27FC236}">
                <a16:creationId xmlns:a16="http://schemas.microsoft.com/office/drawing/2014/main" id="{F6932959-6302-4BDB-AEDE-4617E111C9D4}"/>
              </a:ext>
            </a:extLst>
          </p:cNvPr>
          <p:cNvSpPr>
            <a:spLocks noChangeArrowheads="1"/>
          </p:cNvSpPr>
          <p:nvPr/>
        </p:nvSpPr>
        <p:spPr bwMode="auto">
          <a:xfrm>
            <a:off x="323850" y="1484313"/>
            <a:ext cx="439261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latin typeface="Times New Roman" panose="02020603050405020304" pitchFamily="18" charset="0"/>
              <a:cs typeface="Times New Roman" panose="02020603050405020304" pitchFamily="18" charset="0"/>
            </a:endParaRPr>
          </a:p>
        </p:txBody>
      </p:sp>
      <p:sp>
        <p:nvSpPr>
          <p:cNvPr id="39942" name="Rectangle 4">
            <a:extLst>
              <a:ext uri="{FF2B5EF4-FFF2-40B4-BE49-F238E27FC236}">
                <a16:creationId xmlns:a16="http://schemas.microsoft.com/office/drawing/2014/main" id="{CF39838F-F20A-457A-AF62-AF0CA5D30663}"/>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sp>
        <p:nvSpPr>
          <p:cNvPr id="39943" name="Rectangle 5">
            <a:extLst>
              <a:ext uri="{FF2B5EF4-FFF2-40B4-BE49-F238E27FC236}">
                <a16:creationId xmlns:a16="http://schemas.microsoft.com/office/drawing/2014/main" id="{13959F1F-670B-4764-8567-9BDC28AD65D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Clr>
                <a:schemeClr val="bg1"/>
              </a:buClr>
              <a:buSzPct val="100000"/>
              <a:buFont typeface="Wingdings" panose="05000000000000000000" pitchFamily="2" charset="2"/>
              <a:buChar char="•"/>
            </a:pPr>
            <a:endParaRPr lang="zh-CN" altLang="en-US" sz="2400"/>
          </a:p>
        </p:txBody>
      </p:sp>
      <p:graphicFrame>
        <p:nvGraphicFramePr>
          <p:cNvPr id="39944" name="Object 8">
            <a:extLst>
              <a:ext uri="{FF2B5EF4-FFF2-40B4-BE49-F238E27FC236}">
                <a16:creationId xmlns:a16="http://schemas.microsoft.com/office/drawing/2014/main" id="{29E0E587-AE83-45DB-AD72-1D296D3D5FFF}"/>
              </a:ext>
            </a:extLst>
          </p:cNvPr>
          <p:cNvGraphicFramePr>
            <a:graphicFrameLocks noChangeAspect="1"/>
          </p:cNvGraphicFramePr>
          <p:nvPr>
            <p:extLst>
              <p:ext uri="{D42A27DB-BD31-4B8C-83A1-F6EECF244321}">
                <p14:modId xmlns:p14="http://schemas.microsoft.com/office/powerpoint/2010/main" val="4014091814"/>
              </p:ext>
            </p:extLst>
          </p:nvPr>
        </p:nvGraphicFramePr>
        <p:xfrm>
          <a:off x="4570785" y="1332131"/>
          <a:ext cx="4285739" cy="4266982"/>
        </p:xfrm>
        <a:graphic>
          <a:graphicData uri="http://schemas.openxmlformats.org/presentationml/2006/ole">
            <mc:AlternateContent xmlns:mc="http://schemas.openxmlformats.org/markup-compatibility/2006">
              <mc:Choice xmlns:v="urn:schemas-microsoft-com:vml" Requires="v">
                <p:oleObj spid="_x0000_s17464" name="Document" r:id="rId3" imgW="1552575" imgH="1543050" progId="Word.Document.8">
                  <p:embed/>
                </p:oleObj>
              </mc:Choice>
              <mc:Fallback>
                <p:oleObj name="Document" r:id="rId3" imgW="1552575" imgH="1543050" progId="Word.Document.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0785" y="1332131"/>
                        <a:ext cx="4285739" cy="4266982"/>
                      </a:xfrm>
                      <a:prstGeom prst="rect">
                        <a:avLst/>
                      </a:prstGeom>
                      <a:noFill/>
                      <a:ln>
                        <a:noFill/>
                      </a:ln>
                      <a:effectLst/>
                      <a:extLst/>
                    </p:spPr>
                  </p:pic>
                </p:oleObj>
              </mc:Fallback>
            </mc:AlternateContent>
          </a:graphicData>
        </a:graphic>
      </p:graphicFrame>
      <p:sp>
        <p:nvSpPr>
          <p:cNvPr id="39945" name="Rectangle 9">
            <a:extLst>
              <a:ext uri="{FF2B5EF4-FFF2-40B4-BE49-F238E27FC236}">
                <a16:creationId xmlns:a16="http://schemas.microsoft.com/office/drawing/2014/main" id="{AF7B7911-C430-48C2-861C-FE0791B501E8}"/>
              </a:ext>
            </a:extLst>
          </p:cNvPr>
          <p:cNvSpPr>
            <a:spLocks noChangeArrowheads="1"/>
          </p:cNvSpPr>
          <p:nvPr/>
        </p:nvSpPr>
        <p:spPr bwMode="auto">
          <a:xfrm>
            <a:off x="6373813" y="5734050"/>
            <a:ext cx="1870075"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b="0">
                <a:solidFill>
                  <a:schemeClr val="tx2"/>
                </a:solidFill>
                <a:latin typeface="Verdana" panose="020B0604030504040204" pitchFamily="34" charset="0"/>
                <a:ea typeface="Arial Unicode MS" pitchFamily="34" charset="-122"/>
              </a:rPr>
              <a:t>图</a:t>
            </a:r>
            <a:r>
              <a:rPr lang="en-US" altLang="zh-CN" sz="2000" b="0">
                <a:solidFill>
                  <a:schemeClr val="tx2"/>
                </a:solidFill>
                <a:latin typeface="Verdana" panose="020B0604030504040204" pitchFamily="34" charset="0"/>
                <a:ea typeface="Arial Unicode MS" pitchFamily="34" charset="-122"/>
              </a:rPr>
              <a:t>6-7</a:t>
            </a:r>
          </a:p>
        </p:txBody>
      </p:sp>
      <p:sp>
        <p:nvSpPr>
          <p:cNvPr id="3" name="矩形 2"/>
          <p:cNvSpPr/>
          <p:nvPr/>
        </p:nvSpPr>
        <p:spPr>
          <a:xfrm>
            <a:off x="974230" y="1916832"/>
            <a:ext cx="3275149" cy="3477875"/>
          </a:xfrm>
          <a:prstGeom prst="rect">
            <a:avLst/>
          </a:prstGeom>
        </p:spPr>
        <p:txBody>
          <a:bodyPr wrap="square">
            <a:spAutoFit/>
          </a:bodyPr>
          <a:lstStyle/>
          <a:p>
            <a:pPr eaLnBrk="1" hangingPunct="1"/>
            <a:r>
              <a:rPr lang="zh-CN" altLang="en-US" sz="2000" dirty="0">
                <a:latin typeface="Times New Roman" panose="02020603050405020304" pitchFamily="18" charset="0"/>
                <a:cs typeface="Times New Roman" panose="02020603050405020304" pitchFamily="18" charset="0"/>
              </a:rPr>
              <a:t>注意：新得到的约束条件⑧ − </a:t>
            </a:r>
            <a:r>
              <a:rPr lang="en-US" altLang="zh-CN" sz="2000" dirty="0">
                <a:latin typeface="Times New Roman" panose="02020603050405020304" pitchFamily="18" charset="0"/>
                <a:cs typeface="Times New Roman" panose="02020603050405020304" pitchFamily="18" charset="0"/>
              </a:rPr>
              <a:t>3</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3</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4</a:t>
            </a:r>
            <a:r>
              <a:rPr lang="en-US" altLang="zh-CN" sz="2000" dirty="0">
                <a:latin typeface="Times New Roman" panose="02020603050405020304" pitchFamily="18" charset="0"/>
                <a:cs typeface="Times New Roman" panose="02020603050405020304" pitchFamily="18" charset="0"/>
              </a:rPr>
              <a:t>≤ − 3</a:t>
            </a:r>
          </a:p>
          <a:p>
            <a:pPr eaLnBrk="1" hangingPunct="1"/>
            <a:r>
              <a:rPr lang="zh-CN" altLang="en-US" sz="2000" dirty="0">
                <a:latin typeface="Times New Roman" panose="02020603050405020304" pitchFamily="18" charset="0"/>
                <a:cs typeface="Times New Roman" panose="02020603050405020304" pitchFamily="18" charset="0"/>
              </a:rPr>
              <a:t>如用</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表示，由⑥、⑦式得</a:t>
            </a:r>
          </a:p>
          <a:p>
            <a:pPr eaLnBrk="1" hangingPunct="1">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3(1+</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)+(4− 3</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)≥3</a:t>
            </a:r>
          </a:p>
          <a:p>
            <a:pPr eaLnBrk="1" hangingPunct="1">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也即</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≤1</a:t>
            </a:r>
          </a:p>
          <a:p>
            <a:pPr algn="just" eaLnBrk="1" hangingPunct="1">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这就是</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平面内形成的新的可行域，即包括平行于</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轴的直线</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和这直线下的可行区域，整数点也在其中，没有切割掉</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见图</a:t>
            </a:r>
            <a:r>
              <a:rPr lang="en-US" altLang="zh-CN" sz="2000" dirty="0">
                <a:latin typeface="Times New Roman" panose="02020603050405020304" pitchFamily="18" charset="0"/>
                <a:cs typeface="Times New Roman" panose="02020603050405020304" pitchFamily="18" charset="0"/>
              </a:rPr>
              <a:t>6-7</a:t>
            </a:r>
            <a:r>
              <a:rPr lang="zh-CN" altLang="en-US" sz="2000"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a:extLst>
              <a:ext uri="{FF2B5EF4-FFF2-40B4-BE49-F238E27FC236}">
                <a16:creationId xmlns:a16="http://schemas.microsoft.com/office/drawing/2014/main" id="{1604B7C4-C2CD-406A-9B6A-679AA48D6F8A}"/>
              </a:ext>
            </a:extLst>
          </p:cNvPr>
          <p:cNvSpPr>
            <a:spLocks noGrp="1" noChangeArrowheads="1"/>
          </p:cNvSpPr>
          <p:nvPr>
            <p:ph type="title"/>
          </p:nvPr>
        </p:nvSpPr>
        <p:spPr/>
        <p:txBody>
          <a:bodyPr/>
          <a:lstStyle/>
          <a:p>
            <a:r>
              <a:rPr lang="en-US" altLang="zh-CN" dirty="0">
                <a:latin typeface="Arial" panose="020B0604020202020204" pitchFamily="34" charset="0"/>
              </a:rPr>
              <a:t>6.3 </a:t>
            </a:r>
            <a:r>
              <a:rPr lang="zh-CN" altLang="en-US" dirty="0">
                <a:latin typeface="Arial" panose="020B0604020202020204" pitchFamily="34" charset="0"/>
              </a:rPr>
              <a:t>割平面解法</a:t>
            </a:r>
          </a:p>
        </p:txBody>
      </p:sp>
      <p:sp>
        <p:nvSpPr>
          <p:cNvPr id="703511" name="Object 23">
            <a:extLst>
              <a:ext uri="{FF2B5EF4-FFF2-40B4-BE49-F238E27FC236}">
                <a16:creationId xmlns:a16="http://schemas.microsoft.com/office/drawing/2014/main" id="{DF45EF6D-1439-41F7-A184-92A4FA9C219C}"/>
              </a:ext>
            </a:extLst>
          </p:cNvPr>
          <p:cNvSpPr txBox="1">
            <a:spLocks noGrp="1"/>
          </p:cNvSpPr>
          <p:nvPr>
            <p:ph idx="1"/>
          </p:nvPr>
        </p:nvSpPr>
        <p:spPr bwMode="auto">
          <a:xfrm>
            <a:off x="179512" y="1196752"/>
            <a:ext cx="8784977" cy="5184576"/>
          </a:xfrm>
          <a:prstGeom prst="rect">
            <a:avLst/>
          </a:prstGeom>
          <a:noFill/>
          <a:ln>
            <a:noFill/>
          </a:ln>
          <a:effectLst/>
        </p:spPr>
        <p:txBody>
          <a:bodyPr>
            <a:noAutofit/>
          </a:bodyPr>
          <a:lstStyle/>
          <a:p>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步骤一：</a:t>
            </a:r>
            <a:r>
              <a:rPr kumimoji="1"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将约束条件中所有系数和常数化为整数</a:t>
            </a:r>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，然后采用单纯形法求解不考虑整数约束的线性规划问题（</a:t>
            </a:r>
            <a:r>
              <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）的最优解</a:t>
            </a:r>
            <a:endPar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r>
              <a:rPr kumimoji="1" lang="zh-CN" altLang="en-US" sz="2000" dirty="0">
                <a:latin typeface="Times New Roman" panose="02020603050405020304" pitchFamily="18" charset="0"/>
                <a:ea typeface="宋体" panose="02010600030101010101" pitchFamily="2" charset="-122"/>
                <a:cs typeface="Times New Roman" panose="02020603050405020304" pitchFamily="18" charset="0"/>
              </a:rPr>
              <a:t>无最优解</a:t>
            </a:r>
            <a:endParaRPr kumimoji="1"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r>
              <a:rPr kumimoji="1" lang="zh-CN" altLang="en-US" sz="2000" dirty="0">
                <a:latin typeface="Times New Roman" panose="02020603050405020304" pitchFamily="18" charset="0"/>
                <a:ea typeface="宋体" panose="02010600030101010101" pitchFamily="2" charset="-122"/>
                <a:cs typeface="Times New Roman" panose="02020603050405020304" pitchFamily="18" charset="0"/>
              </a:rPr>
              <a:t>整数最优解</a:t>
            </a:r>
            <a:endParaRPr kumimoji="1"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r>
              <a:rPr kumimoji="1" lang="zh-CN" altLang="en-US" sz="2000" dirty="0">
                <a:latin typeface="Times New Roman" panose="02020603050405020304" pitchFamily="18" charset="0"/>
                <a:ea typeface="宋体" panose="02010600030101010101" pitchFamily="2" charset="-122"/>
                <a:cs typeface="Times New Roman" panose="02020603050405020304" pitchFamily="18" charset="0"/>
              </a:rPr>
              <a:t>非整数最优解</a:t>
            </a:r>
            <a:endParaRPr kumimoji="1"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步骤二：</a:t>
            </a:r>
            <a:r>
              <a:rPr kumimoji="1"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在最终单纯形法中选择一个非整数变量所在的约束等式，将该约束等式中的所有系数和常数分解成整数与非负真分数之和</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（具体操作见下页）</a:t>
            </a:r>
            <a:endParaRPr kumimoji="1"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步骤三</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将</a:t>
            </a:r>
            <a:r>
              <a:rPr kumimoji="1"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所有整数部分放到等式左边</a:t>
            </a:r>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所有分数部分放在等式右边</a:t>
            </a:r>
            <a:r>
              <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rPr>
              <a:t>，根据各变量的约束特点分析等式右边，得到切割方程。</a:t>
            </a:r>
            <a:endPar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步骤四：</a:t>
            </a:r>
            <a:r>
              <a:rPr kumimoji="1"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将切割方程带入到线性规划问题（</a:t>
            </a:r>
            <a:r>
              <a:rPr kumimoji="1"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）的最终表中继续解最优解</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；若仍未得到最优整数解，重复步骤二至四。</a:t>
            </a:r>
            <a:endPar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buNone/>
            </a:pPr>
            <a:endParaRPr kumimoji="1"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灯片编号占位符 5">
            <a:extLst>
              <a:ext uri="{FF2B5EF4-FFF2-40B4-BE49-F238E27FC236}">
                <a16:creationId xmlns:a16="http://schemas.microsoft.com/office/drawing/2014/main" id="{9187DAAD-A80A-4655-8A2B-D00154FD0F37}"/>
              </a:ext>
            </a:extLst>
          </p:cNvPr>
          <p:cNvSpPr>
            <a:spLocks noGrp="1"/>
          </p:cNvSpPr>
          <p:nvPr>
            <p:ph type="sldNum" sz="quarter" idx="12"/>
          </p:nvPr>
        </p:nvSpPr>
        <p:spPr/>
        <p:txBody>
          <a:bodyPr/>
          <a:lstStyle/>
          <a:p>
            <a:fld id="{48D2A248-789A-4179-90DC-67CADFBA78A8}" type="slidenum">
              <a:rPr lang="en-US" altLang="zh-CN"/>
              <a:pPr/>
              <a:t>23</a:t>
            </a:fld>
            <a:endParaRPr lang="en-US" altLang="zh-CN"/>
          </a:p>
        </p:txBody>
      </p:sp>
      <p:sp>
        <p:nvSpPr>
          <p:cNvPr id="703491" name="Rectangle 3">
            <a:extLst>
              <a:ext uri="{FF2B5EF4-FFF2-40B4-BE49-F238E27FC236}">
                <a16:creationId xmlns:a16="http://schemas.microsoft.com/office/drawing/2014/main" id="{9132A4AF-6A39-4F37-858A-0E5A5E3FB885}"/>
              </a:ext>
            </a:extLst>
          </p:cNvPr>
          <p:cNvSpPr>
            <a:spLocks noChangeArrowheads="1"/>
          </p:cNvSpPr>
          <p:nvPr/>
        </p:nvSpPr>
        <p:spPr bwMode="auto">
          <a:xfrm>
            <a:off x="884734" y="2204864"/>
            <a:ext cx="820896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endParaRPr lang="en-US" altLang="zh-CN" sz="24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rPr>
              <a:t>6.3 </a:t>
            </a:r>
            <a:r>
              <a:rPr lang="zh-CN" altLang="en-US" dirty="0">
                <a:latin typeface="Arial" panose="020B0604020202020204" pitchFamily="34" charset="0"/>
              </a:rPr>
              <a:t>割平面解法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94729" y="1196752"/>
                <a:ext cx="8469759" cy="5209696"/>
              </a:xfrm>
            </p:spPr>
            <p:txBody>
              <a:bodyPr/>
              <a:lstStyle/>
              <a:p>
                <a:r>
                  <a:rPr lang="zh-CN" altLang="en-US" dirty="0"/>
                  <a:t>求一个切割方程的步骤为：</a:t>
                </a:r>
              </a:p>
              <a:p>
                <a:pPr lvl="1"/>
                <a:r>
                  <a:rPr lang="en-US" altLang="zh-CN" sz="2000" dirty="0"/>
                  <a:t>(1) </a:t>
                </a:r>
                <a:r>
                  <a:rPr lang="zh-CN" altLang="en-US" sz="2000" dirty="0"/>
                  <a:t>令</a:t>
                </a:r>
                <a:r>
                  <a:rPr lang="en-US" altLang="zh-CN" sz="2000" i="1" dirty="0">
                    <a:latin typeface="Times New Roman" panose="02020603050405020304" pitchFamily="18" charset="0"/>
                    <a:cs typeface="Times New Roman" panose="02020603050405020304" pitchFamily="18" charset="0"/>
                  </a:rPr>
                  <a:t>x</a:t>
                </a:r>
                <a:r>
                  <a:rPr lang="en-US" altLang="zh-CN" sz="2000" i="1" baseline="-25000" dirty="0">
                    <a:latin typeface="Times New Roman" panose="02020603050405020304" pitchFamily="18" charset="0"/>
                    <a:cs typeface="Times New Roman" panose="02020603050405020304" pitchFamily="18" charset="0"/>
                  </a:rPr>
                  <a:t>i</a:t>
                </a:r>
                <a:r>
                  <a:rPr lang="zh-CN" altLang="en-US" sz="2000" dirty="0"/>
                  <a:t>是相应线性规划</a:t>
                </a:r>
                <a:r>
                  <a:rPr lang="zh-CN" altLang="en-US" sz="2000" dirty="0">
                    <a:solidFill>
                      <a:srgbClr val="FF0000"/>
                    </a:solidFill>
                  </a:rPr>
                  <a:t>最优解中为分数值的一个基变量</a:t>
                </a:r>
                <a:r>
                  <a:rPr lang="zh-CN" altLang="en-US" sz="2000" dirty="0"/>
                  <a:t>，由单纯形表的最终表得到</a:t>
                </a:r>
                <a:endParaRPr lang="en-US" altLang="zh-CN" sz="2000" dirty="0"/>
              </a:p>
              <a:p>
                <a:pPr marL="449262" lvl="1" indent="0">
                  <a:buNone/>
                </a:pPr>
                <a14:m>
                  <m:oMathPara xmlns:m="http://schemas.openxmlformats.org/officeDocument/2006/math">
                    <m:oMathParaPr>
                      <m:jc m:val="centerGroup"/>
                    </m:oMathParaPr>
                    <m:oMath xmlns:m="http://schemas.openxmlformats.org/officeDocument/2006/math">
                      <m:sSub>
                        <m:sSubPr>
                          <m:ctrlPr>
                            <a:rPr kumimoji="1" lang="zh-CN" altLang="en-US" sz="2000" i="1">
                              <a:latin typeface="Cambria Math" panose="02040503050406030204" pitchFamily="18" charset="0"/>
                              <a:ea typeface="宋体" panose="02010600030101010101" pitchFamily="2" charset="-122"/>
                              <a:cs typeface="Times New Roman" panose="02020603050405020304" pitchFamily="18" charset="0"/>
                            </a:rPr>
                          </m:ctrlPr>
                        </m:sSubPr>
                        <m:e>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𝑥</m:t>
                          </m:r>
                        </m:e>
                        <m: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𝑖</m:t>
                          </m:r>
                        </m:sub>
                      </m:s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m:t>
                      </m:r>
                      <m:nary>
                        <m:naryPr>
                          <m:chr m:val="∑"/>
                          <m:supHide m:val="on"/>
                          <m:ctrlPr>
                            <a:rPr kumimoji="1" lang="zh-CN" altLang="en-US" sz="2000" i="1">
                              <a:latin typeface="Cambria Math" panose="02040503050406030204" pitchFamily="18" charset="0"/>
                              <a:ea typeface="宋体" panose="02010600030101010101" pitchFamily="2" charset="-122"/>
                              <a:cs typeface="Times New Roman" panose="02020603050405020304" pitchFamily="18" charset="0"/>
                            </a:rPr>
                          </m:ctrlPr>
                        </m:naryPr>
                        <m: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𝑘</m:t>
                          </m:r>
                        </m:sub>
                        <m:sup/>
                        <m:e>
                          <m:sSub>
                            <m:sSubPr>
                              <m:ctrlPr>
                                <a:rPr kumimoji="1" lang="zh-CN" altLang="en-US" sz="2000" i="1">
                                  <a:latin typeface="Cambria Math" panose="02040503050406030204" pitchFamily="18" charset="0"/>
                                  <a:ea typeface="宋体" panose="02010600030101010101" pitchFamily="2" charset="-122"/>
                                  <a:cs typeface="Times New Roman" panose="02020603050405020304" pitchFamily="18" charset="0"/>
                                </a:rPr>
                              </m:ctrlPr>
                            </m:sSubPr>
                            <m:e>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𝑎</m:t>
                              </m:r>
                            </m:e>
                            <m: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𝑖𝑘</m:t>
                              </m:r>
                            </m:sub>
                          </m:sSub>
                          <m:sSub>
                            <m:sSubPr>
                              <m:ctrlPr>
                                <a:rPr kumimoji="1" lang="zh-CN" altLang="en-US" sz="2000" i="1">
                                  <a:latin typeface="Cambria Math" panose="02040503050406030204" pitchFamily="18" charset="0"/>
                                  <a:ea typeface="宋体" panose="02010600030101010101" pitchFamily="2" charset="-122"/>
                                  <a:cs typeface="Times New Roman" panose="02020603050405020304" pitchFamily="18" charset="0"/>
                                </a:rPr>
                              </m:ctrlPr>
                            </m:sSubPr>
                            <m:e>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𝑥</m:t>
                              </m:r>
                            </m:e>
                            <m: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𝑘</m:t>
                              </m:r>
                            </m:sub>
                          </m:s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m:t>
                          </m:r>
                          <m:sSub>
                            <m:sSubPr>
                              <m:ctrlPr>
                                <a:rPr kumimoji="1" lang="zh-CN" altLang="en-US" sz="2000" i="1">
                                  <a:latin typeface="Cambria Math" panose="02040503050406030204" pitchFamily="18" charset="0"/>
                                  <a:ea typeface="宋体" panose="02010600030101010101" pitchFamily="2" charset="-122"/>
                                  <a:cs typeface="Times New Roman" panose="02020603050405020304" pitchFamily="18" charset="0"/>
                                </a:rPr>
                              </m:ctrlPr>
                            </m:sSubPr>
                            <m:e>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𝑏</m:t>
                              </m:r>
                            </m:e>
                            <m: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𝑖</m:t>
                              </m:r>
                            </m:sub>
                          </m:sSub>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  (</m:t>
                          </m:r>
                          <m:r>
                            <a:rPr kumimoji="1" lang="en-US" altLang="zh-CN" sz="2000">
                              <a:latin typeface="Cambria Math" panose="02040503050406030204" pitchFamily="18" charset="0"/>
                              <a:ea typeface="宋体" panose="02010600030101010101" pitchFamily="2" charset="-122"/>
                              <a:cs typeface="Times New Roman" panose="02020603050405020304" pitchFamily="18" charset="0"/>
                            </a:rPr>
                            <m:t>6</m:t>
                          </m:r>
                          <m:r>
                            <a:rPr kumimoji="1" lang="zh-CN" altLang="en-US" sz="2000">
                              <a:latin typeface="Cambria Math" panose="02040503050406030204" pitchFamily="18" charset="0"/>
                              <a:ea typeface="宋体" panose="02010600030101010101" pitchFamily="2" charset="-122"/>
                              <a:cs typeface="Times New Roman" panose="02020603050405020304" pitchFamily="18" charset="0"/>
                            </a:rPr>
                            <m:t>−4)</m:t>
                          </m:r>
                        </m:e>
                      </m:nary>
                    </m:oMath>
                  </m:oMathPara>
                </a14:m>
                <a:endParaRPr lang="en-US" altLang="zh-CN" sz="2000" dirty="0"/>
              </a:p>
              <a:p>
                <a:pPr marL="890588" lvl="2" indent="0">
                  <a:buNone/>
                </a:pPr>
                <a:r>
                  <a:rPr kumimoji="1" lang="zh-CN" altLang="en-US" b="0" dirty="0">
                    <a:latin typeface="Times New Roman" panose="02020603050405020304" pitchFamily="18" charset="0"/>
                    <a:cs typeface="Times New Roman" panose="02020603050405020304" pitchFamily="18" charset="0"/>
                  </a:rPr>
                  <a:t>其中</a:t>
                </a:r>
                <a:r>
                  <a:rPr kumimoji="1" lang="en-US" altLang="zh-CN" b="0" i="1" dirty="0" err="1">
                    <a:latin typeface="Times New Roman" panose="02020603050405020304" pitchFamily="18" charset="0"/>
                    <a:cs typeface="Times New Roman" panose="02020603050405020304" pitchFamily="18" charset="0"/>
                  </a:rPr>
                  <a:t>i</a:t>
                </a:r>
                <a:r>
                  <a:rPr kumimoji="1" lang="en-US" altLang="zh-CN" b="0" dirty="0" err="1">
                    <a:latin typeface="Times New Roman" panose="02020603050405020304" pitchFamily="18" charset="0"/>
                    <a:cs typeface="Times New Roman" panose="02020603050405020304" pitchFamily="18" charset="0"/>
                  </a:rPr>
                  <a:t>∈</a:t>
                </a:r>
                <a:r>
                  <a:rPr kumimoji="1" lang="en-US" altLang="zh-CN" b="0" i="1" dirty="0" err="1">
                    <a:latin typeface="Times New Roman" panose="02020603050405020304" pitchFamily="18" charset="0"/>
                    <a:cs typeface="Times New Roman" panose="02020603050405020304" pitchFamily="18" charset="0"/>
                  </a:rPr>
                  <a:t>Q</a:t>
                </a:r>
                <a:r>
                  <a:rPr kumimoji="1" lang="en-US" altLang="zh-CN" b="0" dirty="0">
                    <a:latin typeface="Times New Roman" panose="02020603050405020304" pitchFamily="18" charset="0"/>
                    <a:cs typeface="Times New Roman" panose="02020603050405020304" pitchFamily="18" charset="0"/>
                  </a:rPr>
                  <a:t>  (</a:t>
                </a:r>
                <a:r>
                  <a:rPr kumimoji="1" lang="en-US" altLang="zh-CN" b="0" i="1" dirty="0">
                    <a:latin typeface="Times New Roman" panose="02020603050405020304" pitchFamily="18" charset="0"/>
                    <a:cs typeface="Times New Roman" panose="02020603050405020304" pitchFamily="18" charset="0"/>
                  </a:rPr>
                  <a:t>Q</a:t>
                </a:r>
                <a:r>
                  <a:rPr kumimoji="1" lang="zh-CN" altLang="en-US" b="0" dirty="0">
                    <a:latin typeface="Times New Roman" panose="02020603050405020304" pitchFamily="18" charset="0"/>
                    <a:cs typeface="Times New Roman" panose="02020603050405020304" pitchFamily="18" charset="0"/>
                  </a:rPr>
                  <a:t>指构成基变量号码的集合</a:t>
                </a:r>
                <a:r>
                  <a:rPr kumimoji="1" lang="en-US" altLang="zh-CN" b="0" dirty="0">
                    <a:latin typeface="Times New Roman" panose="02020603050405020304" pitchFamily="18" charset="0"/>
                    <a:cs typeface="Times New Roman" panose="02020603050405020304" pitchFamily="18" charset="0"/>
                  </a:rPr>
                  <a:t>)</a:t>
                </a:r>
              </a:p>
              <a:p>
                <a:pPr marL="890588" lvl="2" indent="0">
                  <a:buNone/>
                </a:pPr>
                <a:r>
                  <a:rPr kumimoji="1" lang="en-US" altLang="zh-CN" b="0" i="1" dirty="0" err="1">
                    <a:latin typeface="Times New Roman" panose="02020603050405020304" pitchFamily="18" charset="0"/>
                    <a:cs typeface="Times New Roman" panose="02020603050405020304" pitchFamily="18" charset="0"/>
                  </a:rPr>
                  <a:t>k</a:t>
                </a:r>
                <a:r>
                  <a:rPr kumimoji="1" lang="en-US" altLang="zh-CN" b="0" dirty="0" err="1">
                    <a:latin typeface="Times New Roman" panose="02020603050405020304" pitchFamily="18" charset="0"/>
                    <a:cs typeface="Times New Roman" panose="02020603050405020304" pitchFamily="18" charset="0"/>
                  </a:rPr>
                  <a:t>∈</a:t>
                </a:r>
                <a:r>
                  <a:rPr kumimoji="1" lang="en-US" altLang="zh-CN" b="0" i="1" dirty="0" err="1">
                    <a:latin typeface="Times New Roman" panose="02020603050405020304" pitchFamily="18" charset="0"/>
                    <a:cs typeface="Times New Roman" panose="02020603050405020304" pitchFamily="18" charset="0"/>
                  </a:rPr>
                  <a:t>K</a:t>
                </a:r>
                <a:r>
                  <a:rPr kumimoji="1" lang="en-US" altLang="zh-CN" b="0" dirty="0">
                    <a:latin typeface="Times New Roman" panose="02020603050405020304" pitchFamily="18" charset="0"/>
                    <a:cs typeface="Times New Roman" panose="02020603050405020304" pitchFamily="18" charset="0"/>
                  </a:rPr>
                  <a:t>  (</a:t>
                </a:r>
                <a:r>
                  <a:rPr kumimoji="1" lang="en-US" altLang="zh-CN" b="0" i="1" dirty="0">
                    <a:latin typeface="Times New Roman" panose="02020603050405020304" pitchFamily="18" charset="0"/>
                    <a:cs typeface="Times New Roman" panose="02020603050405020304" pitchFamily="18" charset="0"/>
                  </a:rPr>
                  <a:t>K</a:t>
                </a:r>
                <a:r>
                  <a:rPr kumimoji="1" lang="zh-CN" altLang="en-US" b="0" dirty="0">
                    <a:latin typeface="Times New Roman" panose="02020603050405020304" pitchFamily="18" charset="0"/>
                    <a:cs typeface="Times New Roman" panose="02020603050405020304" pitchFamily="18" charset="0"/>
                  </a:rPr>
                  <a:t>指构成非基变量号码的集合</a:t>
                </a:r>
                <a:r>
                  <a:rPr kumimoji="1" lang="en-US" altLang="zh-CN" b="0" dirty="0">
                    <a:latin typeface="Times New Roman" panose="02020603050405020304" pitchFamily="18" charset="0"/>
                    <a:cs typeface="Times New Roman" panose="02020603050405020304" pitchFamily="18" charset="0"/>
                  </a:rPr>
                  <a:t>)</a:t>
                </a:r>
              </a:p>
              <a:p>
                <a:pPr lvl="1"/>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将</a:t>
                </a:r>
                <a:r>
                  <a:rPr lang="en-US" altLang="zh-CN" sz="2000" i="1" dirty="0">
                    <a:latin typeface="Times New Roman" panose="02020603050405020304" pitchFamily="18" charset="0"/>
                    <a:cs typeface="Times New Roman" panose="02020603050405020304" pitchFamily="18" charset="0"/>
                  </a:rPr>
                  <a:t>b</a:t>
                </a:r>
                <a:r>
                  <a:rPr lang="en-US" altLang="zh-CN" sz="2000" i="1" baseline="-30000" dirty="0">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和</a:t>
                </a:r>
                <a:r>
                  <a:rPr lang="en-US" altLang="zh-CN" sz="2000" i="1" dirty="0">
                    <a:latin typeface="Times New Roman" panose="02020603050405020304" pitchFamily="18" charset="0"/>
                    <a:cs typeface="Times New Roman" panose="02020603050405020304" pitchFamily="18" charset="0"/>
                  </a:rPr>
                  <a:t>α</a:t>
                </a:r>
                <a:r>
                  <a:rPr lang="en-US" altLang="zh-CN" sz="2000" i="1" baseline="-30000" dirty="0" err="1">
                    <a:latin typeface="Times New Roman" panose="02020603050405020304" pitchFamily="18" charset="0"/>
                    <a:cs typeface="Times New Roman" panose="02020603050405020304" pitchFamily="18" charset="0"/>
                  </a:rPr>
                  <a:t>ik</a:t>
                </a:r>
                <a:r>
                  <a:rPr lang="zh-CN" altLang="en-US" sz="2000" dirty="0">
                    <a:latin typeface="Times New Roman" panose="02020603050405020304" pitchFamily="18" charset="0"/>
                    <a:cs typeface="Times New Roman" panose="02020603050405020304" pitchFamily="18" charset="0"/>
                  </a:rPr>
                  <a:t>都分解成整数部分</a:t>
                </a:r>
                <a:r>
                  <a:rPr lang="en-US" altLang="zh-CN" sz="2000" i="1"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与非负真分数</a:t>
                </a:r>
                <a:r>
                  <a:rPr lang="en-US" altLang="zh-CN"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之和，即</a:t>
                </a:r>
              </a:p>
              <a:p>
                <a:pPr algn="just">
                  <a:buNone/>
                </a:pPr>
                <a:r>
                  <a:rPr lang="zh-CN" altLang="en-US" sz="2000" b="0" dirty="0">
                    <a:latin typeface="Times New Roman" panose="02020603050405020304" pitchFamily="18" charset="0"/>
                    <a:cs typeface="Times New Roman" panose="02020603050405020304" pitchFamily="18" charset="0"/>
                  </a:rPr>
                  <a:t>              </a:t>
                </a:r>
                <a:r>
                  <a:rPr lang="en-US" altLang="zh-CN" sz="2000" b="0" i="1" dirty="0">
                    <a:latin typeface="Times New Roman" panose="02020603050405020304" pitchFamily="18" charset="0"/>
                    <a:cs typeface="Times New Roman" panose="02020603050405020304" pitchFamily="18" charset="0"/>
                  </a:rPr>
                  <a:t>b</a:t>
                </a:r>
                <a:r>
                  <a:rPr lang="en-US" altLang="zh-CN" sz="2000" b="0" i="1" baseline="-30000" dirty="0">
                    <a:latin typeface="Times New Roman" panose="02020603050405020304" pitchFamily="18" charset="0"/>
                    <a:cs typeface="Times New Roman" panose="02020603050405020304" pitchFamily="18" charset="0"/>
                  </a:rPr>
                  <a:t>i</a:t>
                </a:r>
                <a:r>
                  <a:rPr lang="en-US" altLang="zh-CN" sz="2000" b="0" dirty="0">
                    <a:latin typeface="Times New Roman" panose="02020603050405020304" pitchFamily="18" charset="0"/>
                    <a:cs typeface="Times New Roman" panose="02020603050405020304" pitchFamily="18" charset="0"/>
                  </a:rPr>
                  <a:t>=</a:t>
                </a:r>
                <a:r>
                  <a:rPr lang="en-US" altLang="zh-CN" sz="2000" b="0" i="1" dirty="0" err="1">
                    <a:latin typeface="Times New Roman" panose="02020603050405020304" pitchFamily="18" charset="0"/>
                    <a:cs typeface="Times New Roman" panose="02020603050405020304" pitchFamily="18" charset="0"/>
                  </a:rPr>
                  <a:t>N</a:t>
                </a:r>
                <a:r>
                  <a:rPr lang="en-US" altLang="zh-CN" sz="2000" b="0" i="1" baseline="-30000" dirty="0" err="1">
                    <a:latin typeface="Times New Roman" panose="02020603050405020304" pitchFamily="18" charset="0"/>
                    <a:cs typeface="Times New Roman" panose="02020603050405020304" pitchFamily="18" charset="0"/>
                  </a:rPr>
                  <a:t>i</a:t>
                </a:r>
                <a:r>
                  <a:rPr lang="en-US" altLang="zh-CN" sz="2000" b="0" dirty="0" err="1">
                    <a:latin typeface="Times New Roman" panose="02020603050405020304" pitchFamily="18" charset="0"/>
                    <a:cs typeface="Times New Roman" panose="02020603050405020304" pitchFamily="18" charset="0"/>
                  </a:rPr>
                  <a:t>+</a:t>
                </a:r>
                <a:r>
                  <a:rPr lang="en-US" altLang="zh-CN" sz="2000" b="0" i="1" dirty="0" err="1">
                    <a:latin typeface="Times New Roman" panose="02020603050405020304" pitchFamily="18" charset="0"/>
                    <a:cs typeface="Times New Roman" panose="02020603050405020304" pitchFamily="18" charset="0"/>
                  </a:rPr>
                  <a:t>f</a:t>
                </a:r>
                <a:r>
                  <a:rPr lang="en-US" altLang="zh-CN" sz="2000" b="0" i="1" baseline="-30000" dirty="0" err="1">
                    <a:latin typeface="Times New Roman" panose="02020603050405020304" pitchFamily="18" charset="0"/>
                    <a:cs typeface="Times New Roman" panose="02020603050405020304" pitchFamily="18" charset="0"/>
                  </a:rPr>
                  <a:t>i</a:t>
                </a:r>
                <a:r>
                  <a:rPr lang="zh-CN" altLang="en-US" sz="2000" b="0" dirty="0">
                    <a:latin typeface="Times New Roman" panose="02020603050405020304" pitchFamily="18" charset="0"/>
                    <a:cs typeface="Times New Roman" panose="02020603050405020304" pitchFamily="18" charset="0"/>
                  </a:rPr>
                  <a:t>，其中</a:t>
                </a:r>
                <a:r>
                  <a:rPr lang="en-US" altLang="zh-CN" sz="2000" b="0" dirty="0">
                    <a:latin typeface="Times New Roman" panose="02020603050405020304" pitchFamily="18" charset="0"/>
                    <a:cs typeface="Times New Roman" panose="02020603050405020304" pitchFamily="18" charset="0"/>
                  </a:rPr>
                  <a:t>0</a:t>
                </a:r>
                <a:r>
                  <a:rPr lang="zh-CN" altLang="en-US"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f</a:t>
                </a:r>
                <a:r>
                  <a:rPr lang="en-US" altLang="zh-CN" sz="2000" b="0" i="1" baseline="-30000" dirty="0">
                    <a:latin typeface="Times New Roman" panose="02020603050405020304" pitchFamily="18" charset="0"/>
                    <a:cs typeface="Times New Roman" panose="02020603050405020304" pitchFamily="18" charset="0"/>
                  </a:rPr>
                  <a:t>i</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1</a:t>
                </a:r>
              </a:p>
              <a:p>
                <a:pPr algn="just">
                  <a:buNone/>
                </a:pPr>
                <a:r>
                  <a:rPr lang="en-US" altLang="zh-CN" sz="2000" b="0" dirty="0">
                    <a:latin typeface="Times New Roman" panose="02020603050405020304" pitchFamily="18" charset="0"/>
                    <a:cs typeface="Times New Roman" panose="02020603050405020304" pitchFamily="18" charset="0"/>
                  </a:rPr>
                  <a:t>              </a:t>
                </a:r>
                <a:r>
                  <a:rPr lang="en-US" altLang="zh-CN" sz="2000" b="0" i="1" dirty="0">
                    <a:latin typeface="Times New Roman" panose="02020603050405020304" pitchFamily="18" charset="0"/>
                    <a:cs typeface="Times New Roman" panose="02020603050405020304" pitchFamily="18" charset="0"/>
                  </a:rPr>
                  <a:t>α</a:t>
                </a:r>
                <a:r>
                  <a:rPr lang="en-US" altLang="zh-CN" sz="2000" b="0" i="1" baseline="-30000" dirty="0" err="1">
                    <a:latin typeface="Times New Roman" panose="02020603050405020304" pitchFamily="18" charset="0"/>
                    <a:cs typeface="Times New Roman" panose="02020603050405020304" pitchFamily="18" charset="0"/>
                  </a:rPr>
                  <a:t>ik</a:t>
                </a:r>
                <a:r>
                  <a:rPr lang="en-US" altLang="zh-CN" sz="2000" b="0" dirty="0">
                    <a:latin typeface="Times New Roman" panose="02020603050405020304" pitchFamily="18" charset="0"/>
                    <a:cs typeface="Times New Roman" panose="02020603050405020304" pitchFamily="18" charset="0"/>
                  </a:rPr>
                  <a:t>=</a:t>
                </a:r>
                <a:r>
                  <a:rPr lang="en-US" altLang="zh-CN" sz="2000" b="0" i="1" dirty="0" err="1">
                    <a:latin typeface="Times New Roman" panose="02020603050405020304" pitchFamily="18" charset="0"/>
                    <a:cs typeface="Times New Roman" panose="02020603050405020304" pitchFamily="18" charset="0"/>
                  </a:rPr>
                  <a:t>N</a:t>
                </a:r>
                <a:r>
                  <a:rPr lang="en-US" altLang="zh-CN" sz="2000" b="0" i="1" baseline="-30000" dirty="0" err="1">
                    <a:latin typeface="Times New Roman" panose="02020603050405020304" pitchFamily="18" charset="0"/>
                    <a:cs typeface="Times New Roman" panose="02020603050405020304" pitchFamily="18" charset="0"/>
                  </a:rPr>
                  <a:t>ik</a:t>
                </a:r>
                <a:r>
                  <a:rPr lang="en-US" altLang="zh-CN" sz="2000" b="0" dirty="0" err="1">
                    <a:latin typeface="Times New Roman" panose="02020603050405020304" pitchFamily="18" charset="0"/>
                    <a:cs typeface="Times New Roman" panose="02020603050405020304" pitchFamily="18" charset="0"/>
                  </a:rPr>
                  <a:t>+</a:t>
                </a:r>
                <a:r>
                  <a:rPr lang="en-US" altLang="zh-CN" sz="2000" b="0" i="1" dirty="0" err="1">
                    <a:latin typeface="Times New Roman" panose="02020603050405020304" pitchFamily="18" charset="0"/>
                    <a:cs typeface="Times New Roman" panose="02020603050405020304" pitchFamily="18" charset="0"/>
                  </a:rPr>
                  <a:t>f</a:t>
                </a:r>
                <a:r>
                  <a:rPr lang="en-US" altLang="zh-CN" sz="2000" b="0" i="1" baseline="-30000" dirty="0" err="1">
                    <a:latin typeface="Times New Roman" panose="02020603050405020304" pitchFamily="18" charset="0"/>
                    <a:cs typeface="Times New Roman" panose="02020603050405020304" pitchFamily="18" charset="0"/>
                  </a:rPr>
                  <a:t>ik</a:t>
                </a:r>
                <a:r>
                  <a:rPr lang="zh-CN" altLang="en-US" sz="2000" b="0" dirty="0">
                    <a:latin typeface="Times New Roman" panose="02020603050405020304" pitchFamily="18" charset="0"/>
                    <a:cs typeface="Times New Roman" panose="02020603050405020304" pitchFamily="18" charset="0"/>
                  </a:rPr>
                  <a:t>，其中</a:t>
                </a:r>
                <a:r>
                  <a:rPr lang="en-US" altLang="zh-CN" sz="2000" b="0" dirty="0">
                    <a:latin typeface="Times New Roman" panose="02020603050405020304" pitchFamily="18" charset="0"/>
                    <a:cs typeface="Times New Roman" panose="02020603050405020304" pitchFamily="18" charset="0"/>
                  </a:rPr>
                  <a:t>0≤</a:t>
                </a:r>
                <a:r>
                  <a:rPr lang="en-US" altLang="zh-CN" sz="2000" b="0" i="1" dirty="0">
                    <a:latin typeface="Times New Roman" panose="02020603050405020304" pitchFamily="18" charset="0"/>
                    <a:cs typeface="Times New Roman" panose="02020603050405020304" pitchFamily="18" charset="0"/>
                  </a:rPr>
                  <a:t>f</a:t>
                </a:r>
                <a:r>
                  <a:rPr lang="en-US" altLang="zh-CN" sz="2000" b="0" i="1" baseline="-30000" dirty="0">
                    <a:latin typeface="Times New Roman" panose="02020603050405020304" pitchFamily="18" charset="0"/>
                    <a:cs typeface="Times New Roman" panose="02020603050405020304" pitchFamily="18" charset="0"/>
                  </a:rPr>
                  <a:t>ik</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1                           (6-5)</a:t>
                </a:r>
              </a:p>
              <a:p>
                <a:pPr algn="just">
                  <a:buNone/>
                </a:pPr>
                <a:r>
                  <a:rPr lang="zh-CN" altLang="en-US" sz="2000" b="0" dirty="0">
                    <a:latin typeface="Times New Roman" panose="02020603050405020304" pitchFamily="18" charset="0"/>
                    <a:cs typeface="Times New Roman" panose="02020603050405020304" pitchFamily="18" charset="0"/>
                  </a:rPr>
                  <a:t>             而</a:t>
                </a:r>
                <a:r>
                  <a:rPr lang="en-US" altLang="zh-CN" sz="2000" b="0" i="1" dirty="0">
                    <a:latin typeface="Times New Roman" panose="02020603050405020304" pitchFamily="18" charset="0"/>
                    <a:cs typeface="Times New Roman" panose="02020603050405020304" pitchFamily="18" charset="0"/>
                  </a:rPr>
                  <a:t>N</a:t>
                </a:r>
                <a:r>
                  <a:rPr lang="zh-CN" altLang="en-US" sz="2000" b="0" dirty="0">
                    <a:latin typeface="Times New Roman" panose="02020603050405020304" pitchFamily="18" charset="0"/>
                    <a:cs typeface="Times New Roman" panose="02020603050405020304" pitchFamily="18" charset="0"/>
                  </a:rPr>
                  <a:t>表示不超过</a:t>
                </a:r>
                <a:r>
                  <a:rPr lang="en-US" altLang="zh-CN" sz="2000" b="0" i="1" dirty="0">
                    <a:latin typeface="Times New Roman" panose="02020603050405020304" pitchFamily="18" charset="0"/>
                    <a:cs typeface="Times New Roman" panose="02020603050405020304" pitchFamily="18" charset="0"/>
                  </a:rPr>
                  <a:t>b</a:t>
                </a:r>
                <a:r>
                  <a:rPr lang="zh-CN" altLang="en-US" sz="2000" b="0" dirty="0">
                    <a:latin typeface="Times New Roman" panose="02020603050405020304" pitchFamily="18" charset="0"/>
                    <a:cs typeface="Times New Roman" panose="02020603050405020304" pitchFamily="18" charset="0"/>
                  </a:rPr>
                  <a:t>的最大整数。例如：</a:t>
                </a:r>
              </a:p>
              <a:p>
                <a:pPr lvl="1" algn="just">
                  <a:buFont typeface="Wingdings" panose="05000000000000000000" pitchFamily="2" charset="2"/>
                  <a:buNone/>
                </a:pPr>
                <a:r>
                  <a:rPr lang="zh-CN" altLang="en-US" sz="2000" b="0" dirty="0">
                    <a:latin typeface="Times New Roman" panose="02020603050405020304" pitchFamily="18" charset="0"/>
                    <a:cs typeface="Times New Roman" panose="02020603050405020304" pitchFamily="18" charset="0"/>
                  </a:rPr>
                  <a:t>      若</a:t>
                </a:r>
                <a:r>
                  <a:rPr lang="en-US" altLang="zh-CN" sz="2000" b="0" i="1" dirty="0">
                    <a:latin typeface="Times New Roman" panose="02020603050405020304" pitchFamily="18" charset="0"/>
                    <a:cs typeface="Times New Roman" panose="02020603050405020304" pitchFamily="18" charset="0"/>
                  </a:rPr>
                  <a:t>b</a:t>
                </a:r>
                <a:r>
                  <a:rPr lang="en-US" altLang="zh-CN" sz="2000" b="0" dirty="0">
                    <a:latin typeface="Times New Roman" panose="02020603050405020304" pitchFamily="18" charset="0"/>
                    <a:cs typeface="Times New Roman" panose="02020603050405020304" pitchFamily="18" charset="0"/>
                  </a:rPr>
                  <a:t>=2.35</a:t>
                </a:r>
                <a:r>
                  <a:rPr lang="zh-CN" altLang="en-US" sz="2000" b="0" dirty="0">
                    <a:latin typeface="Times New Roman" panose="02020603050405020304" pitchFamily="18" charset="0"/>
                    <a:cs typeface="Times New Roman" panose="02020603050405020304" pitchFamily="18" charset="0"/>
                  </a:rPr>
                  <a:t>，则</a:t>
                </a:r>
                <a:r>
                  <a:rPr lang="en-US" altLang="zh-CN" sz="2000" b="0" i="1" dirty="0">
                    <a:latin typeface="Times New Roman" panose="02020603050405020304" pitchFamily="18" charset="0"/>
                    <a:cs typeface="Times New Roman" panose="02020603050405020304" pitchFamily="18" charset="0"/>
                  </a:rPr>
                  <a:t>N</a:t>
                </a:r>
                <a:r>
                  <a:rPr lang="en-US" altLang="zh-CN" sz="2000" b="0" dirty="0">
                    <a:latin typeface="Times New Roman" panose="02020603050405020304" pitchFamily="18" charset="0"/>
                    <a:cs typeface="Times New Roman" panose="02020603050405020304" pitchFamily="18" charset="0"/>
                  </a:rPr>
                  <a:t>=2</a:t>
                </a:r>
                <a:r>
                  <a:rPr lang="zh-CN" altLang="en-US" sz="2000" b="0" dirty="0">
                    <a:latin typeface="Times New Roman" panose="02020603050405020304" pitchFamily="18" charset="0"/>
                    <a:cs typeface="Times New Roman" panose="02020603050405020304" pitchFamily="18" charset="0"/>
                  </a:rPr>
                  <a:t>，</a:t>
                </a:r>
                <a:r>
                  <a:rPr lang="en-US" altLang="zh-CN" sz="2000" b="0" i="1" dirty="0">
                    <a:latin typeface="Times New Roman" panose="02020603050405020304" pitchFamily="18" charset="0"/>
                    <a:cs typeface="Times New Roman" panose="02020603050405020304" pitchFamily="18" charset="0"/>
                  </a:rPr>
                  <a:t>f</a:t>
                </a:r>
                <a:r>
                  <a:rPr lang="en-US" altLang="zh-CN" sz="2000" b="0" dirty="0">
                    <a:latin typeface="Times New Roman" panose="02020603050405020304" pitchFamily="18" charset="0"/>
                    <a:cs typeface="Times New Roman" panose="02020603050405020304" pitchFamily="18" charset="0"/>
                  </a:rPr>
                  <a:t>=0.35</a:t>
                </a:r>
                <a:r>
                  <a:rPr lang="zh-CN" altLang="en-US" sz="2000" b="0" dirty="0">
                    <a:latin typeface="Times New Roman" panose="02020603050405020304" pitchFamily="18" charset="0"/>
                    <a:cs typeface="Times New Roman" panose="02020603050405020304" pitchFamily="18" charset="0"/>
                  </a:rPr>
                  <a:t>；</a:t>
                </a:r>
                <a:r>
                  <a:rPr lang="en-US" altLang="zh-CN" sz="2000" b="0" dirty="0">
                    <a:latin typeface="Times New Roman" panose="02020603050405020304" pitchFamily="18" charset="0"/>
                    <a:cs typeface="Times New Roman" panose="02020603050405020304" pitchFamily="18" charset="0"/>
                  </a:rPr>
                  <a:t>   </a:t>
                </a:r>
                <a:r>
                  <a:rPr lang="zh-CN" altLang="en-US" sz="2000" b="0" dirty="0">
                    <a:latin typeface="Times New Roman" panose="02020603050405020304" pitchFamily="18" charset="0"/>
                    <a:cs typeface="Times New Roman" panose="02020603050405020304" pitchFamily="18" charset="0"/>
                  </a:rPr>
                  <a:t>若</a:t>
                </a:r>
                <a:r>
                  <a:rPr lang="en-US" altLang="zh-CN" sz="2000" b="0" i="1" dirty="0">
                    <a:latin typeface="Times New Roman" panose="02020603050405020304" pitchFamily="18" charset="0"/>
                    <a:cs typeface="Times New Roman" panose="02020603050405020304" pitchFamily="18" charset="0"/>
                  </a:rPr>
                  <a:t>b</a:t>
                </a:r>
                <a:r>
                  <a:rPr lang="en-US" altLang="zh-CN" sz="2000" b="0" dirty="0">
                    <a:latin typeface="Times New Roman" panose="02020603050405020304" pitchFamily="18" charset="0"/>
                    <a:cs typeface="Times New Roman" panose="02020603050405020304" pitchFamily="18" charset="0"/>
                  </a:rPr>
                  <a:t>= − 0.45</a:t>
                </a:r>
                <a:r>
                  <a:rPr lang="zh-CN" altLang="en-US" sz="2000" b="0" dirty="0">
                    <a:latin typeface="Times New Roman" panose="02020603050405020304" pitchFamily="18" charset="0"/>
                    <a:cs typeface="Times New Roman" panose="02020603050405020304" pitchFamily="18" charset="0"/>
                  </a:rPr>
                  <a:t>，则</a:t>
                </a:r>
                <a:r>
                  <a:rPr lang="en-US" altLang="zh-CN" sz="2000" b="0" i="1" dirty="0">
                    <a:latin typeface="Times New Roman" panose="02020603050405020304" pitchFamily="18" charset="0"/>
                    <a:cs typeface="Times New Roman" panose="02020603050405020304" pitchFamily="18" charset="0"/>
                  </a:rPr>
                  <a:t>N</a:t>
                </a:r>
                <a:r>
                  <a:rPr lang="en-US" altLang="zh-CN" sz="2000" b="0" dirty="0">
                    <a:latin typeface="Times New Roman" panose="02020603050405020304" pitchFamily="18" charset="0"/>
                    <a:cs typeface="Times New Roman" panose="02020603050405020304" pitchFamily="18" charset="0"/>
                  </a:rPr>
                  <a:t>= − 1,</a:t>
                </a:r>
                <a:r>
                  <a:rPr lang="en-US" altLang="zh-CN" sz="2000" b="0" i="1" dirty="0">
                    <a:latin typeface="Times New Roman" panose="02020603050405020304" pitchFamily="18" charset="0"/>
                    <a:cs typeface="Times New Roman" panose="02020603050405020304" pitchFamily="18" charset="0"/>
                  </a:rPr>
                  <a:t>f</a:t>
                </a:r>
                <a:r>
                  <a:rPr lang="en-US" altLang="zh-CN" sz="2000" b="0" dirty="0">
                    <a:latin typeface="Times New Roman" panose="02020603050405020304" pitchFamily="18" charset="0"/>
                    <a:cs typeface="Times New Roman" panose="02020603050405020304" pitchFamily="18" charset="0"/>
                  </a:rPr>
                  <a:t>=0.55</a:t>
                </a:r>
                <a:endParaRPr lang="en-US" altLang="zh-CN" sz="2000" dirty="0"/>
              </a:p>
              <a:p>
                <a:pPr lvl="1"/>
                <a:r>
                  <a:rPr lang="zh-CN" altLang="en-US" sz="2000" b="0" dirty="0">
                    <a:latin typeface="Times New Roman" panose="02020603050405020304" pitchFamily="18" charset="0"/>
                    <a:cs typeface="Times New Roman" panose="02020603050405020304" pitchFamily="18" charset="0"/>
                  </a:rPr>
                  <a:t>代入</a:t>
                </a:r>
                <a:r>
                  <a:rPr lang="en-US" altLang="zh-CN" sz="2000" b="0" dirty="0">
                    <a:latin typeface="Times New Roman" panose="02020603050405020304" pitchFamily="18" charset="0"/>
                    <a:cs typeface="Times New Roman" panose="02020603050405020304" pitchFamily="18" charset="0"/>
                  </a:rPr>
                  <a:t>(6-4)</a:t>
                </a:r>
                <a:r>
                  <a:rPr lang="zh-CN" altLang="en-US" sz="2000" b="0" dirty="0">
                    <a:latin typeface="Times New Roman" panose="02020603050405020304" pitchFamily="18" charset="0"/>
                    <a:cs typeface="Times New Roman" panose="02020603050405020304" pitchFamily="18" charset="0"/>
                  </a:rPr>
                  <a:t>式得</a:t>
                </a:r>
              </a:p>
              <a:p>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94729" y="1196752"/>
                <a:ext cx="8469759" cy="5209696"/>
              </a:xfrm>
              <a:blipFill>
                <a:blip r:embed="rId2"/>
                <a:stretch>
                  <a:fillRect l="-288" t="-128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24</a:t>
            </a:fld>
            <a:endParaRPr lang="en-US" altLang="zh-CN"/>
          </a:p>
        </p:txBody>
      </p:sp>
      <mc:AlternateContent xmlns:mc="http://schemas.openxmlformats.org/markup-compatibility/2006" xmlns:a14="http://schemas.microsoft.com/office/drawing/2010/main">
        <mc:Choice Requires="a14">
          <p:sp>
            <p:nvSpPr>
              <p:cNvPr id="5" name="Object 6">
                <a:extLst>
                  <a:ext uri="{FF2B5EF4-FFF2-40B4-BE49-F238E27FC236}">
                    <a16:creationId xmlns:a16="http://schemas.microsoft.com/office/drawing/2014/main" id="{35ED0FDE-158E-406C-9330-DB04C70B2398}"/>
                  </a:ext>
                </a:extLst>
              </p:cNvPr>
              <p:cNvSpPr txBox="1"/>
              <p:nvPr/>
            </p:nvSpPr>
            <p:spPr bwMode="auto">
              <a:xfrm>
                <a:off x="3355438" y="5747594"/>
                <a:ext cx="4896544" cy="4680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𝑥</m:t>
                          </m:r>
                        </m:e>
                        <m:sub>
                          <m:r>
                            <a:rPr lang="zh-CN" altLang="en-US" sz="1800" b="0">
                              <a:latin typeface="Cambria Math" panose="02040503050406030204" pitchFamily="18" charset="0"/>
                              <a:cs typeface="Times New Roman" panose="02020603050405020304" pitchFamily="18" charset="0"/>
                            </a:rPr>
                            <m:t>𝑖</m:t>
                          </m:r>
                        </m:sub>
                      </m:sSub>
                      <m:r>
                        <a:rPr lang="zh-CN" altLang="en-US" sz="1800" b="0">
                          <a:latin typeface="Cambria Math" panose="02040503050406030204" pitchFamily="18" charset="0"/>
                          <a:cs typeface="Times New Roman" panose="02020603050405020304" pitchFamily="18" charset="0"/>
                        </a:rPr>
                        <m:t>+</m:t>
                      </m:r>
                      <m:nary>
                        <m:naryPr>
                          <m:chr m:val="∑"/>
                          <m:supHide m:val="on"/>
                          <m:ctrlPr>
                            <a:rPr lang="zh-CN" altLang="en-US" sz="1800" b="0" i="1">
                              <a:latin typeface="Cambria Math" panose="02040503050406030204" pitchFamily="18" charset="0"/>
                              <a:cs typeface="Times New Roman" panose="02020603050405020304" pitchFamily="18" charset="0"/>
                            </a:rPr>
                          </m:ctrlPr>
                        </m:naryPr>
                        <m:sub>
                          <m:r>
                            <a:rPr lang="zh-CN" altLang="en-US" sz="1800" b="0">
                              <a:latin typeface="Cambria Math" panose="02040503050406030204" pitchFamily="18" charset="0"/>
                              <a:cs typeface="Times New Roman" panose="02020603050405020304" pitchFamily="18" charset="0"/>
                            </a:rPr>
                            <m:t>𝑘</m:t>
                          </m:r>
                        </m:sub>
                        <m:sup/>
                        <m:e>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𝑁</m:t>
                              </m:r>
                            </m:e>
                            <m:sub>
                              <m:r>
                                <a:rPr lang="zh-CN" altLang="en-US" sz="1800" b="0">
                                  <a:latin typeface="Cambria Math" panose="02040503050406030204" pitchFamily="18" charset="0"/>
                                  <a:cs typeface="Times New Roman" panose="02020603050405020304" pitchFamily="18" charset="0"/>
                                </a:rPr>
                                <m:t>𝑖𝑘</m:t>
                              </m:r>
                            </m:sub>
                          </m:sSub>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𝑥</m:t>
                              </m:r>
                            </m:e>
                            <m:sub>
                              <m:r>
                                <a:rPr lang="zh-CN" altLang="en-US" sz="1800" b="0">
                                  <a:latin typeface="Cambria Math" panose="02040503050406030204" pitchFamily="18" charset="0"/>
                                  <a:cs typeface="Times New Roman" panose="02020603050405020304" pitchFamily="18" charset="0"/>
                                </a:rPr>
                                <m:t>𝑘</m:t>
                              </m:r>
                            </m:sub>
                          </m:sSub>
                          <m:r>
                            <a:rPr lang="zh-CN" altLang="en-US" sz="1800" b="0">
                              <a:latin typeface="Cambria Math" panose="02040503050406030204" pitchFamily="18" charset="0"/>
                              <a:cs typeface="Times New Roman" panose="02020603050405020304" pitchFamily="18" charset="0"/>
                            </a:rPr>
                            <m:t>−</m:t>
                          </m:r>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𝑁</m:t>
                              </m:r>
                            </m:e>
                            <m:sub>
                              <m:r>
                                <a:rPr lang="zh-CN" altLang="en-US" sz="1800" b="0">
                                  <a:latin typeface="Cambria Math" panose="02040503050406030204" pitchFamily="18" charset="0"/>
                                  <a:cs typeface="Times New Roman" panose="02020603050405020304" pitchFamily="18" charset="0"/>
                                </a:rPr>
                                <m:t>𝑖</m:t>
                              </m:r>
                            </m:sub>
                          </m:sSub>
                          <m:r>
                            <a:rPr lang="zh-CN" altLang="en-US" sz="1800" b="0">
                              <a:latin typeface="Cambria Math" panose="02040503050406030204" pitchFamily="18" charset="0"/>
                              <a:cs typeface="Times New Roman" panose="02020603050405020304" pitchFamily="18" charset="0"/>
                            </a:rPr>
                            <m:t>=</m:t>
                          </m:r>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𝑓</m:t>
                              </m:r>
                            </m:e>
                            <m:sub>
                              <m:r>
                                <a:rPr lang="zh-CN" altLang="en-US" sz="1800" b="0">
                                  <a:latin typeface="Cambria Math" panose="02040503050406030204" pitchFamily="18" charset="0"/>
                                  <a:cs typeface="Times New Roman" panose="02020603050405020304" pitchFamily="18" charset="0"/>
                                </a:rPr>
                                <m:t>𝑖</m:t>
                              </m:r>
                            </m:sub>
                          </m:sSub>
                          <m:r>
                            <a:rPr lang="zh-CN" altLang="en-US" sz="1800" b="0">
                              <a:latin typeface="Cambria Math" panose="02040503050406030204" pitchFamily="18" charset="0"/>
                              <a:cs typeface="Times New Roman" panose="02020603050405020304" pitchFamily="18" charset="0"/>
                            </a:rPr>
                            <m:t>−</m:t>
                          </m:r>
                          <m:nary>
                            <m:naryPr>
                              <m:chr m:val="∑"/>
                              <m:supHide m:val="on"/>
                              <m:ctrlPr>
                                <a:rPr lang="zh-CN" altLang="en-US" sz="1800" b="0" i="1">
                                  <a:latin typeface="Cambria Math" panose="02040503050406030204" pitchFamily="18" charset="0"/>
                                  <a:cs typeface="Times New Roman" panose="02020603050405020304" pitchFamily="18" charset="0"/>
                                </a:rPr>
                              </m:ctrlPr>
                            </m:naryPr>
                            <m:sub>
                              <m:r>
                                <a:rPr lang="zh-CN" altLang="en-US" sz="1800" b="0">
                                  <a:latin typeface="Cambria Math" panose="02040503050406030204" pitchFamily="18" charset="0"/>
                                  <a:cs typeface="Times New Roman" panose="02020603050405020304" pitchFamily="18" charset="0"/>
                                </a:rPr>
                                <m:t>𝑘</m:t>
                              </m:r>
                            </m:sub>
                            <m:sup/>
                            <m:e>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𝑓</m:t>
                                  </m:r>
                                </m:e>
                                <m:sub>
                                  <m:r>
                                    <a:rPr lang="zh-CN" altLang="en-US" sz="1800" b="0">
                                      <a:latin typeface="Cambria Math" panose="02040503050406030204" pitchFamily="18" charset="0"/>
                                      <a:cs typeface="Times New Roman" panose="02020603050405020304" pitchFamily="18" charset="0"/>
                                    </a:rPr>
                                    <m:t>𝑖𝑘</m:t>
                                  </m:r>
                                </m:sub>
                              </m:sSub>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𝑥</m:t>
                                  </m:r>
                                </m:e>
                                <m:sub>
                                  <m:r>
                                    <a:rPr lang="zh-CN" altLang="en-US" sz="1800" b="0">
                                      <a:latin typeface="Cambria Math" panose="02040503050406030204" pitchFamily="18" charset="0"/>
                                      <a:cs typeface="Times New Roman" panose="02020603050405020304" pitchFamily="18" charset="0"/>
                                    </a:rPr>
                                    <m:t>𝑘</m:t>
                                  </m:r>
                                </m:sub>
                              </m:sSub>
                            </m:e>
                          </m:nary>
                          <m:r>
                            <a:rPr lang="zh-CN" altLang="en-US" sz="1800" b="0">
                              <a:latin typeface="Cambria Math" panose="02040503050406030204" pitchFamily="18" charset="0"/>
                              <a:cs typeface="Times New Roman" panose="02020603050405020304" pitchFamily="18" charset="0"/>
                            </a:rPr>
                            <m:t>  (</m:t>
                          </m:r>
                          <m:r>
                            <a:rPr lang="en-US" altLang="zh-CN" sz="1800" b="0" i="1">
                              <a:latin typeface="Cambria Math" panose="02040503050406030204" pitchFamily="18" charset="0"/>
                              <a:cs typeface="Times New Roman" panose="02020603050405020304" pitchFamily="18" charset="0"/>
                            </a:rPr>
                            <m:t>6</m:t>
                          </m:r>
                          <m:r>
                            <a:rPr lang="zh-CN" altLang="en-US" sz="1800" b="0">
                              <a:latin typeface="Cambria Math" panose="02040503050406030204" pitchFamily="18" charset="0"/>
                              <a:cs typeface="Times New Roman" panose="02020603050405020304" pitchFamily="18" charset="0"/>
                            </a:rPr>
                            <m:t>−6)</m:t>
                          </m:r>
                        </m:e>
                      </m:nary>
                    </m:oMath>
                  </m:oMathPara>
                </a14:m>
                <a:endParaRPr lang="zh-CN" altLang="en-US" sz="1800" b="0" dirty="0">
                  <a:latin typeface="Times New Roman" panose="02020603050405020304" pitchFamily="18" charset="0"/>
                  <a:cs typeface="Times New Roman" panose="02020603050405020304" pitchFamily="18" charset="0"/>
                </a:endParaRPr>
              </a:p>
            </p:txBody>
          </p:sp>
        </mc:Choice>
        <mc:Fallback xmlns="">
          <p:sp>
            <p:nvSpPr>
              <p:cNvPr id="5" name="Object 6">
                <a:extLst>
                  <a:ext uri="{FF2B5EF4-FFF2-40B4-BE49-F238E27FC236}">
                    <a16:creationId xmlns:a16="http://schemas.microsoft.com/office/drawing/2014/main" id="{35ED0FDE-158E-406C-9330-DB04C70B2398}"/>
                  </a:ext>
                </a:extLst>
              </p:cNvPr>
              <p:cNvSpPr txBox="1">
                <a:spLocks noRot="1" noChangeAspect="1" noMove="1" noResize="1" noEditPoints="1" noAdjustHandles="1" noChangeArrowheads="1" noChangeShapeType="1" noTextEdit="1"/>
              </p:cNvSpPr>
              <p:nvPr/>
            </p:nvSpPr>
            <p:spPr bwMode="auto">
              <a:xfrm>
                <a:off x="3355438" y="5747594"/>
                <a:ext cx="4896544" cy="468052"/>
              </a:xfrm>
              <a:prstGeom prst="rect">
                <a:avLst/>
              </a:prstGeom>
              <a:blipFill>
                <a:blip r:embed="rId3"/>
                <a:stretch>
                  <a:fillRect b="-51948"/>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01367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rPr>
              <a:t>6.3 </a:t>
            </a:r>
            <a:r>
              <a:rPr lang="zh-CN" altLang="en-US" dirty="0">
                <a:latin typeface="Arial" panose="020B0604020202020204" pitchFamily="34" charset="0"/>
              </a:rPr>
              <a:t>割平面解法</a:t>
            </a:r>
            <a:endParaRPr lang="zh-CN" altLang="en-US" dirty="0"/>
          </a:p>
        </p:txBody>
      </p:sp>
      <p:sp>
        <p:nvSpPr>
          <p:cNvPr id="3" name="内容占位符 2"/>
          <p:cNvSpPr>
            <a:spLocks noGrp="1"/>
          </p:cNvSpPr>
          <p:nvPr>
            <p:ph idx="1"/>
          </p:nvPr>
        </p:nvSpPr>
        <p:spPr>
          <a:xfrm>
            <a:off x="494729" y="1196752"/>
            <a:ext cx="8469759" cy="4721292"/>
          </a:xfrm>
        </p:spPr>
        <p:txBody>
          <a:bodyPr/>
          <a:lstStyle/>
          <a:p>
            <a:r>
              <a:rPr lang="zh-CN" altLang="en-US" dirty="0"/>
              <a:t>求一个切割方程的步骤为：</a:t>
            </a:r>
            <a:endParaRPr lang="en-US" altLang="zh-CN" dirty="0"/>
          </a:p>
          <a:p>
            <a:pPr lvl="1"/>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现在提出变量</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包括松弛变量</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为整数的条件</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当然还有非负的条件</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。这时，上式由左边看必须是整数，但由右边看，因为</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f</a:t>
            </a:r>
            <a:r>
              <a:rPr lang="en-US" altLang="zh-CN" sz="2000" i="1" baseline="-30000" dirty="0">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，所以不能为正，即</a:t>
            </a:r>
            <a:endParaRPr lang="en-US" altLang="zh-CN" sz="2000" dirty="0">
              <a:latin typeface="Times New Roman" panose="02020603050405020304" pitchFamily="18" charset="0"/>
              <a:cs typeface="Times New Roman" panose="02020603050405020304" pitchFamily="18" charset="0"/>
            </a:endParaRPr>
          </a:p>
          <a:p>
            <a:pPr lvl="1"/>
            <a:endParaRPr kumimoji="1" lang="en-US" altLang="zh-CN" sz="2000" b="0" dirty="0">
              <a:latin typeface="Times New Roman" panose="02020603050405020304" pitchFamily="18" charset="0"/>
              <a:cs typeface="Times New Roman" panose="02020603050405020304" pitchFamily="18" charset="0"/>
            </a:endParaRPr>
          </a:p>
          <a:p>
            <a:pPr lvl="1"/>
            <a:endParaRPr kumimoji="1" lang="en-US" altLang="zh-CN" sz="2000" b="0" dirty="0">
              <a:latin typeface="Times New Roman" panose="02020603050405020304" pitchFamily="18" charset="0"/>
              <a:cs typeface="Times New Roman" panose="02020603050405020304" pitchFamily="18" charset="0"/>
            </a:endParaRPr>
          </a:p>
          <a:p>
            <a:pPr lvl="1"/>
            <a:r>
              <a:rPr kumimoji="1" lang="zh-CN" altLang="en-US" sz="2000" dirty="0">
                <a:latin typeface="Times New Roman" panose="02020603050405020304" pitchFamily="18" charset="0"/>
                <a:cs typeface="Times New Roman" panose="02020603050405020304" pitchFamily="18" charset="0"/>
              </a:rPr>
              <a:t>这就是一个切割方程。</a:t>
            </a:r>
            <a:endParaRPr kumimoji="1"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由</a:t>
            </a:r>
            <a:r>
              <a:rPr lang="en-US" altLang="zh-CN" sz="2000" dirty="0">
                <a:latin typeface="Times New Roman" panose="02020603050405020304" pitchFamily="18" charset="0"/>
                <a:cs typeface="Times New Roman" panose="02020603050405020304" pitchFamily="18" charset="0"/>
              </a:rPr>
              <a:t>(6-4)</a:t>
            </a:r>
            <a:r>
              <a:rPr lang="zh-CN" altLang="en-US" sz="2000" dirty="0">
                <a:latin typeface="Times New Roman" panose="02020603050405020304" pitchFamily="18" charset="0"/>
                <a:cs typeface="Times New Roman" panose="02020603050405020304" pitchFamily="18" charset="0"/>
              </a:rPr>
              <a:t>式，</a:t>
            </a:r>
            <a:r>
              <a:rPr lang="en-US" altLang="zh-CN" sz="2000" dirty="0">
                <a:latin typeface="Times New Roman" panose="02020603050405020304" pitchFamily="18" charset="0"/>
                <a:cs typeface="Times New Roman" panose="02020603050405020304" pitchFamily="18" charset="0"/>
              </a:rPr>
              <a:t>(6-6)</a:t>
            </a:r>
            <a:r>
              <a:rPr lang="zh-CN" altLang="en-US" sz="2000" dirty="0">
                <a:latin typeface="Times New Roman" panose="02020603050405020304" pitchFamily="18" charset="0"/>
                <a:cs typeface="Times New Roman" panose="02020603050405020304" pitchFamily="18" charset="0"/>
              </a:rPr>
              <a:t>式，</a:t>
            </a:r>
            <a:r>
              <a:rPr lang="en-US" altLang="zh-CN" sz="2000" dirty="0">
                <a:latin typeface="Times New Roman" panose="02020603050405020304" pitchFamily="18" charset="0"/>
                <a:cs typeface="Times New Roman" panose="02020603050405020304" pitchFamily="18" charset="0"/>
              </a:rPr>
              <a:t>(6-7)</a:t>
            </a:r>
            <a:r>
              <a:rPr lang="zh-CN" altLang="en-US" sz="2000" dirty="0">
                <a:latin typeface="Times New Roman" panose="02020603050405020304" pitchFamily="18" charset="0"/>
                <a:cs typeface="Times New Roman" panose="02020603050405020304" pitchFamily="18" charset="0"/>
              </a:rPr>
              <a:t>式可知：</a:t>
            </a:r>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① 切割方程</a:t>
            </a:r>
            <a:r>
              <a:rPr lang="en-US" altLang="zh-CN" sz="2000" dirty="0">
                <a:latin typeface="Times New Roman" panose="02020603050405020304" pitchFamily="18" charset="0"/>
                <a:cs typeface="Times New Roman" panose="02020603050405020304" pitchFamily="18" charset="0"/>
              </a:rPr>
              <a:t>(6-7)</a:t>
            </a:r>
            <a:r>
              <a:rPr lang="zh-CN" altLang="en-US" sz="2000" dirty="0">
                <a:latin typeface="Times New Roman" panose="02020603050405020304" pitchFamily="18" charset="0"/>
                <a:cs typeface="Times New Roman" panose="02020603050405020304" pitchFamily="18" charset="0"/>
              </a:rPr>
              <a:t>式真正进行了切割，至少把非整数最优解这一点割掉了。</a:t>
            </a:r>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② 没有割掉整数解，这是因为相应的</a:t>
            </a:r>
            <a:r>
              <a:rPr kumimoji="1" lang="zh-CN" altLang="en-US" sz="2000" dirty="0">
                <a:latin typeface="Times New Roman" panose="02020603050405020304" pitchFamily="18" charset="0"/>
                <a:cs typeface="Times New Roman" panose="02020603050405020304" pitchFamily="18" charset="0"/>
              </a:rPr>
              <a:t>线性规划</a:t>
            </a:r>
            <a:r>
              <a:rPr lang="zh-CN" altLang="en-US" sz="2000" dirty="0">
                <a:latin typeface="Times New Roman" panose="02020603050405020304" pitchFamily="18" charset="0"/>
                <a:cs typeface="Times New Roman" panose="02020603050405020304" pitchFamily="18" charset="0"/>
              </a:rPr>
              <a:t>的任意整数可行解都满足</a:t>
            </a:r>
            <a:r>
              <a:rPr lang="en-US" altLang="zh-CN" sz="2000" dirty="0">
                <a:latin typeface="Times New Roman" panose="02020603050405020304" pitchFamily="18" charset="0"/>
                <a:cs typeface="Times New Roman" panose="02020603050405020304" pitchFamily="18" charset="0"/>
              </a:rPr>
              <a:t>(6-7)</a:t>
            </a:r>
            <a:r>
              <a:rPr lang="zh-CN" altLang="en-US" sz="2000" dirty="0">
                <a:latin typeface="Times New Roman" panose="02020603050405020304" pitchFamily="18" charset="0"/>
                <a:cs typeface="Times New Roman" panose="02020603050405020304" pitchFamily="18" charset="0"/>
              </a:rPr>
              <a:t>式的缘故。</a:t>
            </a:r>
          </a:p>
          <a:p>
            <a:pPr lvl="1"/>
            <a:endParaRPr lang="zh-CN" altLang="en-US" dirty="0"/>
          </a:p>
        </p:txBody>
      </p:sp>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25</a:t>
            </a:fld>
            <a:endParaRPr lang="en-US" altLang="zh-CN"/>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A271EF26-5A4D-41FA-AB13-1C6D9EB3EEEA}"/>
                  </a:ext>
                </a:extLst>
              </p:cNvPr>
              <p:cNvSpPr txBox="1"/>
              <p:nvPr/>
            </p:nvSpPr>
            <p:spPr bwMode="auto">
              <a:xfrm>
                <a:off x="3779912" y="2492896"/>
                <a:ext cx="5184576" cy="864096"/>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kumimoji="1" lang="zh-CN" altLang="en-US" sz="3200" b="0" i="1">
                              <a:latin typeface="Cambria Math" panose="02040503050406030204" pitchFamily="18" charset="0"/>
                              <a:cs typeface="Times New Roman" panose="02020603050405020304" pitchFamily="18" charset="0"/>
                            </a:rPr>
                          </m:ctrlPr>
                        </m:sSubPr>
                        <m:e>
                          <m:r>
                            <a:rPr kumimoji="1" lang="zh-CN" altLang="en-US" sz="3200" b="0">
                              <a:latin typeface="Cambria Math" panose="02040503050406030204" pitchFamily="18" charset="0"/>
                              <a:cs typeface="Times New Roman" panose="02020603050405020304" pitchFamily="18" charset="0"/>
                            </a:rPr>
                            <m:t>𝑓</m:t>
                          </m:r>
                        </m:e>
                        <m:sub>
                          <m:r>
                            <a:rPr kumimoji="1" lang="zh-CN" altLang="en-US" sz="3200" b="0">
                              <a:latin typeface="Cambria Math" panose="02040503050406030204" pitchFamily="18" charset="0"/>
                              <a:cs typeface="Times New Roman" panose="02020603050405020304" pitchFamily="18" charset="0"/>
                            </a:rPr>
                            <m:t>𝑖</m:t>
                          </m:r>
                        </m:sub>
                      </m:sSub>
                      <m:r>
                        <a:rPr kumimoji="1" lang="zh-CN" altLang="en-US" sz="3200" b="0">
                          <a:latin typeface="Cambria Math" panose="02040503050406030204" pitchFamily="18" charset="0"/>
                          <a:cs typeface="Times New Roman" panose="02020603050405020304" pitchFamily="18" charset="0"/>
                        </a:rPr>
                        <m:t>−</m:t>
                      </m:r>
                      <m:nary>
                        <m:naryPr>
                          <m:chr m:val="∑"/>
                          <m:supHide m:val="on"/>
                          <m:ctrlPr>
                            <a:rPr kumimoji="1" lang="zh-CN" altLang="en-US" sz="3200" b="0" i="1">
                              <a:latin typeface="Cambria Math" panose="02040503050406030204" pitchFamily="18" charset="0"/>
                              <a:cs typeface="Times New Roman" panose="02020603050405020304" pitchFamily="18" charset="0"/>
                            </a:rPr>
                          </m:ctrlPr>
                        </m:naryPr>
                        <m:sub>
                          <m:r>
                            <a:rPr kumimoji="1" lang="zh-CN" altLang="en-US" sz="3200" b="0">
                              <a:latin typeface="Cambria Math" panose="02040503050406030204" pitchFamily="18" charset="0"/>
                              <a:cs typeface="Times New Roman" panose="02020603050405020304" pitchFamily="18" charset="0"/>
                            </a:rPr>
                            <m:t>𝑘</m:t>
                          </m:r>
                        </m:sub>
                        <m:sup/>
                        <m:e>
                          <m:sSub>
                            <m:sSubPr>
                              <m:ctrlPr>
                                <a:rPr kumimoji="1" lang="zh-CN" altLang="en-US" sz="3200" b="0" i="1">
                                  <a:latin typeface="Cambria Math" panose="02040503050406030204" pitchFamily="18" charset="0"/>
                                  <a:cs typeface="Times New Roman" panose="02020603050405020304" pitchFamily="18" charset="0"/>
                                </a:rPr>
                              </m:ctrlPr>
                            </m:sSubPr>
                            <m:e>
                              <m:r>
                                <a:rPr kumimoji="1" lang="zh-CN" altLang="en-US" sz="3200" b="0">
                                  <a:latin typeface="Cambria Math" panose="02040503050406030204" pitchFamily="18" charset="0"/>
                                  <a:cs typeface="Times New Roman" panose="02020603050405020304" pitchFamily="18" charset="0"/>
                                </a:rPr>
                                <m:t>𝑓</m:t>
                              </m:r>
                            </m:e>
                            <m:sub>
                              <m:r>
                                <a:rPr kumimoji="1" lang="zh-CN" altLang="en-US" sz="3200" b="0">
                                  <a:latin typeface="Cambria Math" panose="02040503050406030204" pitchFamily="18" charset="0"/>
                                  <a:cs typeface="Times New Roman" panose="02020603050405020304" pitchFamily="18" charset="0"/>
                                </a:rPr>
                                <m:t>𝑖𝑘</m:t>
                              </m:r>
                            </m:sub>
                          </m:sSub>
                          <m:sSub>
                            <m:sSubPr>
                              <m:ctrlPr>
                                <a:rPr kumimoji="1" lang="zh-CN" altLang="en-US" sz="3200" b="0" i="1">
                                  <a:latin typeface="Cambria Math" panose="02040503050406030204" pitchFamily="18" charset="0"/>
                                  <a:cs typeface="Times New Roman" panose="02020603050405020304" pitchFamily="18" charset="0"/>
                                </a:rPr>
                              </m:ctrlPr>
                            </m:sSubPr>
                            <m:e>
                              <m:r>
                                <a:rPr kumimoji="1" lang="zh-CN" altLang="en-US" sz="3200" b="0">
                                  <a:latin typeface="Cambria Math" panose="02040503050406030204" pitchFamily="18" charset="0"/>
                                  <a:cs typeface="Times New Roman" panose="02020603050405020304" pitchFamily="18" charset="0"/>
                                </a:rPr>
                                <m:t>𝑥</m:t>
                              </m:r>
                            </m:e>
                            <m:sub>
                              <m:r>
                                <a:rPr kumimoji="1" lang="zh-CN" altLang="en-US" sz="3200" b="0">
                                  <a:latin typeface="Cambria Math" panose="02040503050406030204" pitchFamily="18" charset="0"/>
                                  <a:cs typeface="Times New Roman" panose="02020603050405020304" pitchFamily="18" charset="0"/>
                                </a:rPr>
                                <m:t>𝑘</m:t>
                              </m:r>
                            </m:sub>
                          </m:sSub>
                          <m:r>
                            <a:rPr kumimoji="1" lang="zh-CN" altLang="en-US" sz="3200" b="0">
                              <a:latin typeface="Cambria Math" panose="02040503050406030204" pitchFamily="18" charset="0"/>
                              <a:cs typeface="Times New Roman" panose="02020603050405020304" pitchFamily="18" charset="0"/>
                            </a:rPr>
                            <m:t>≤0   (</m:t>
                          </m:r>
                          <m:r>
                            <a:rPr kumimoji="1" lang="en-US" altLang="zh-CN" sz="3200" b="0">
                              <a:latin typeface="Cambria Math" panose="02040503050406030204" pitchFamily="18" charset="0"/>
                              <a:cs typeface="Times New Roman" panose="02020603050405020304" pitchFamily="18" charset="0"/>
                            </a:rPr>
                            <m:t>𝟔</m:t>
                          </m:r>
                          <m:r>
                            <a:rPr kumimoji="1" lang="zh-CN" altLang="en-US" sz="3200" b="0">
                              <a:latin typeface="Cambria Math" panose="02040503050406030204" pitchFamily="18" charset="0"/>
                              <a:cs typeface="Times New Roman" panose="02020603050405020304" pitchFamily="18" charset="0"/>
                            </a:rPr>
                            <m:t>−7)</m:t>
                          </m:r>
                        </m:e>
                      </m:nary>
                    </m:oMath>
                  </m:oMathPara>
                </a14:m>
                <a:endParaRPr kumimoji="1" lang="zh-CN" altLang="en-US" b="0" dirty="0">
                  <a:latin typeface="Times New Roman" panose="02020603050405020304" pitchFamily="18" charset="0"/>
                  <a:cs typeface="Times New Roman" panose="02020603050405020304" pitchFamily="18" charset="0"/>
                </a:endParaRPr>
              </a:p>
            </p:txBody>
          </p:sp>
        </mc:Choice>
        <mc:Fallback xmlns="">
          <p:sp>
            <p:nvSpPr>
              <p:cNvPr id="6" name="Object 5">
                <a:extLst>
                  <a:ext uri="{FF2B5EF4-FFF2-40B4-BE49-F238E27FC236}">
                    <a16:creationId xmlns:a16="http://schemas.microsoft.com/office/drawing/2014/main" id="{A271EF26-5A4D-41FA-AB13-1C6D9EB3EEEA}"/>
                  </a:ext>
                </a:extLst>
              </p:cNvPr>
              <p:cNvSpPr txBox="1">
                <a:spLocks noRot="1" noChangeAspect="1" noMove="1" noResize="1" noEditPoints="1" noAdjustHandles="1" noChangeArrowheads="1" noChangeShapeType="1" noTextEdit="1"/>
              </p:cNvSpPr>
              <p:nvPr/>
            </p:nvSpPr>
            <p:spPr bwMode="auto">
              <a:xfrm>
                <a:off x="3779912" y="2492896"/>
                <a:ext cx="5184576" cy="864096"/>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35ED0FDE-158E-406C-9330-DB04C70B2398}"/>
                  </a:ext>
                </a:extLst>
              </p:cNvPr>
              <p:cNvSpPr txBox="1"/>
              <p:nvPr/>
            </p:nvSpPr>
            <p:spPr bwMode="auto">
              <a:xfrm>
                <a:off x="4067944" y="206642"/>
                <a:ext cx="4896544" cy="4680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𝑥</m:t>
                          </m:r>
                        </m:e>
                        <m:sub>
                          <m:r>
                            <a:rPr lang="zh-CN" altLang="en-US" sz="1800" b="0">
                              <a:latin typeface="Cambria Math" panose="02040503050406030204" pitchFamily="18" charset="0"/>
                              <a:cs typeface="Times New Roman" panose="02020603050405020304" pitchFamily="18" charset="0"/>
                            </a:rPr>
                            <m:t>𝑖</m:t>
                          </m:r>
                        </m:sub>
                      </m:sSub>
                      <m:r>
                        <a:rPr lang="zh-CN" altLang="en-US" sz="1800" b="0">
                          <a:latin typeface="Cambria Math" panose="02040503050406030204" pitchFamily="18" charset="0"/>
                          <a:cs typeface="Times New Roman" panose="02020603050405020304" pitchFamily="18" charset="0"/>
                        </a:rPr>
                        <m:t>+</m:t>
                      </m:r>
                      <m:nary>
                        <m:naryPr>
                          <m:chr m:val="∑"/>
                          <m:supHide m:val="on"/>
                          <m:ctrlPr>
                            <a:rPr lang="zh-CN" altLang="en-US" sz="1800" b="0" i="1">
                              <a:latin typeface="Cambria Math" panose="02040503050406030204" pitchFamily="18" charset="0"/>
                              <a:cs typeface="Times New Roman" panose="02020603050405020304" pitchFamily="18" charset="0"/>
                            </a:rPr>
                          </m:ctrlPr>
                        </m:naryPr>
                        <m:sub>
                          <m:r>
                            <a:rPr lang="zh-CN" altLang="en-US" sz="1800" b="0">
                              <a:latin typeface="Cambria Math" panose="02040503050406030204" pitchFamily="18" charset="0"/>
                              <a:cs typeface="Times New Roman" panose="02020603050405020304" pitchFamily="18" charset="0"/>
                            </a:rPr>
                            <m:t>𝑘</m:t>
                          </m:r>
                        </m:sub>
                        <m:sup/>
                        <m:e>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𝑁</m:t>
                              </m:r>
                            </m:e>
                            <m:sub>
                              <m:r>
                                <a:rPr lang="zh-CN" altLang="en-US" sz="1800" b="0">
                                  <a:latin typeface="Cambria Math" panose="02040503050406030204" pitchFamily="18" charset="0"/>
                                  <a:cs typeface="Times New Roman" panose="02020603050405020304" pitchFamily="18" charset="0"/>
                                </a:rPr>
                                <m:t>𝑖𝑘</m:t>
                              </m:r>
                            </m:sub>
                          </m:sSub>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𝑥</m:t>
                              </m:r>
                            </m:e>
                            <m:sub>
                              <m:r>
                                <a:rPr lang="zh-CN" altLang="en-US" sz="1800" b="0">
                                  <a:latin typeface="Cambria Math" panose="02040503050406030204" pitchFamily="18" charset="0"/>
                                  <a:cs typeface="Times New Roman" panose="02020603050405020304" pitchFamily="18" charset="0"/>
                                </a:rPr>
                                <m:t>𝑘</m:t>
                              </m:r>
                            </m:sub>
                          </m:sSub>
                          <m:r>
                            <a:rPr lang="zh-CN" altLang="en-US" sz="1800" b="0">
                              <a:latin typeface="Cambria Math" panose="02040503050406030204" pitchFamily="18" charset="0"/>
                              <a:cs typeface="Times New Roman" panose="02020603050405020304" pitchFamily="18" charset="0"/>
                            </a:rPr>
                            <m:t>−</m:t>
                          </m:r>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𝑁</m:t>
                              </m:r>
                            </m:e>
                            <m:sub>
                              <m:r>
                                <a:rPr lang="zh-CN" altLang="en-US" sz="1800" b="0">
                                  <a:latin typeface="Cambria Math" panose="02040503050406030204" pitchFamily="18" charset="0"/>
                                  <a:cs typeface="Times New Roman" panose="02020603050405020304" pitchFamily="18" charset="0"/>
                                </a:rPr>
                                <m:t>𝑖</m:t>
                              </m:r>
                            </m:sub>
                          </m:sSub>
                          <m:r>
                            <a:rPr lang="zh-CN" altLang="en-US" sz="1800" b="0">
                              <a:latin typeface="Cambria Math" panose="02040503050406030204" pitchFamily="18" charset="0"/>
                              <a:cs typeface="Times New Roman" panose="02020603050405020304" pitchFamily="18" charset="0"/>
                            </a:rPr>
                            <m:t>=</m:t>
                          </m:r>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𝑓</m:t>
                              </m:r>
                            </m:e>
                            <m:sub>
                              <m:r>
                                <a:rPr lang="zh-CN" altLang="en-US" sz="1800" b="0">
                                  <a:latin typeface="Cambria Math" panose="02040503050406030204" pitchFamily="18" charset="0"/>
                                  <a:cs typeface="Times New Roman" panose="02020603050405020304" pitchFamily="18" charset="0"/>
                                </a:rPr>
                                <m:t>𝑖</m:t>
                              </m:r>
                            </m:sub>
                          </m:sSub>
                          <m:r>
                            <a:rPr lang="zh-CN" altLang="en-US" sz="1800" b="0">
                              <a:latin typeface="Cambria Math" panose="02040503050406030204" pitchFamily="18" charset="0"/>
                              <a:cs typeface="Times New Roman" panose="02020603050405020304" pitchFamily="18" charset="0"/>
                            </a:rPr>
                            <m:t>−</m:t>
                          </m:r>
                          <m:nary>
                            <m:naryPr>
                              <m:chr m:val="∑"/>
                              <m:supHide m:val="on"/>
                              <m:ctrlPr>
                                <a:rPr lang="zh-CN" altLang="en-US" sz="1800" b="0" i="1">
                                  <a:latin typeface="Cambria Math" panose="02040503050406030204" pitchFamily="18" charset="0"/>
                                  <a:cs typeface="Times New Roman" panose="02020603050405020304" pitchFamily="18" charset="0"/>
                                </a:rPr>
                              </m:ctrlPr>
                            </m:naryPr>
                            <m:sub>
                              <m:r>
                                <a:rPr lang="zh-CN" altLang="en-US" sz="1800" b="0">
                                  <a:latin typeface="Cambria Math" panose="02040503050406030204" pitchFamily="18" charset="0"/>
                                  <a:cs typeface="Times New Roman" panose="02020603050405020304" pitchFamily="18" charset="0"/>
                                </a:rPr>
                                <m:t>𝑘</m:t>
                              </m:r>
                            </m:sub>
                            <m:sup/>
                            <m:e>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𝑓</m:t>
                                  </m:r>
                                </m:e>
                                <m:sub>
                                  <m:r>
                                    <a:rPr lang="zh-CN" altLang="en-US" sz="1800" b="0">
                                      <a:latin typeface="Cambria Math" panose="02040503050406030204" pitchFamily="18" charset="0"/>
                                      <a:cs typeface="Times New Roman" panose="02020603050405020304" pitchFamily="18" charset="0"/>
                                    </a:rPr>
                                    <m:t>𝑖𝑘</m:t>
                                  </m:r>
                                </m:sub>
                              </m:sSub>
                              <m:sSub>
                                <m:sSubPr>
                                  <m:ctrlPr>
                                    <a:rPr lang="zh-CN" altLang="en-US" sz="1800" b="0" i="1">
                                      <a:latin typeface="Cambria Math" panose="02040503050406030204" pitchFamily="18" charset="0"/>
                                      <a:cs typeface="Times New Roman" panose="02020603050405020304" pitchFamily="18" charset="0"/>
                                    </a:rPr>
                                  </m:ctrlPr>
                                </m:sSubPr>
                                <m:e>
                                  <m:r>
                                    <a:rPr lang="zh-CN" altLang="en-US" sz="1800" b="0">
                                      <a:latin typeface="Cambria Math" panose="02040503050406030204" pitchFamily="18" charset="0"/>
                                      <a:cs typeface="Times New Roman" panose="02020603050405020304" pitchFamily="18" charset="0"/>
                                    </a:rPr>
                                    <m:t>𝑥</m:t>
                                  </m:r>
                                </m:e>
                                <m:sub>
                                  <m:r>
                                    <a:rPr lang="zh-CN" altLang="en-US" sz="1800" b="0">
                                      <a:latin typeface="Cambria Math" panose="02040503050406030204" pitchFamily="18" charset="0"/>
                                      <a:cs typeface="Times New Roman" panose="02020603050405020304" pitchFamily="18" charset="0"/>
                                    </a:rPr>
                                    <m:t>𝑘</m:t>
                                  </m:r>
                                </m:sub>
                              </m:sSub>
                            </m:e>
                          </m:nary>
                          <m:r>
                            <a:rPr lang="zh-CN" altLang="en-US" sz="1800" b="0">
                              <a:latin typeface="Cambria Math" panose="02040503050406030204" pitchFamily="18" charset="0"/>
                              <a:cs typeface="Times New Roman" panose="02020603050405020304" pitchFamily="18" charset="0"/>
                            </a:rPr>
                            <m:t>  (</m:t>
                          </m:r>
                          <m:r>
                            <a:rPr lang="en-US" altLang="zh-CN" sz="1800" b="0" i="1">
                              <a:latin typeface="Cambria Math" panose="02040503050406030204" pitchFamily="18" charset="0"/>
                              <a:cs typeface="Times New Roman" panose="02020603050405020304" pitchFamily="18" charset="0"/>
                            </a:rPr>
                            <m:t>6</m:t>
                          </m:r>
                          <m:r>
                            <a:rPr lang="zh-CN" altLang="en-US" sz="1800" b="0">
                              <a:latin typeface="Cambria Math" panose="02040503050406030204" pitchFamily="18" charset="0"/>
                              <a:cs typeface="Times New Roman" panose="02020603050405020304" pitchFamily="18" charset="0"/>
                            </a:rPr>
                            <m:t>−6)</m:t>
                          </m:r>
                        </m:e>
                      </m:nary>
                    </m:oMath>
                  </m:oMathPara>
                </a14:m>
                <a:endParaRPr lang="zh-CN" altLang="en-US" sz="1800" b="0" dirty="0">
                  <a:latin typeface="Times New Roman" panose="02020603050405020304" pitchFamily="18" charset="0"/>
                  <a:cs typeface="Times New Roman" panose="02020603050405020304" pitchFamily="18" charset="0"/>
                </a:endParaRPr>
              </a:p>
            </p:txBody>
          </p:sp>
        </mc:Choice>
        <mc:Fallback xmlns="">
          <p:sp>
            <p:nvSpPr>
              <p:cNvPr id="7" name="Object 6">
                <a:extLst>
                  <a:ext uri="{FF2B5EF4-FFF2-40B4-BE49-F238E27FC236}">
                    <a16:creationId xmlns:a16="http://schemas.microsoft.com/office/drawing/2014/main" id="{35ED0FDE-158E-406C-9330-DB04C70B2398}"/>
                  </a:ext>
                </a:extLst>
              </p:cNvPr>
              <p:cNvSpPr txBox="1">
                <a:spLocks noRot="1" noChangeAspect="1" noMove="1" noResize="1" noEditPoints="1" noAdjustHandles="1" noChangeArrowheads="1" noChangeShapeType="1" noTextEdit="1"/>
              </p:cNvSpPr>
              <p:nvPr/>
            </p:nvSpPr>
            <p:spPr bwMode="auto">
              <a:xfrm>
                <a:off x="4067944" y="206642"/>
                <a:ext cx="4896544" cy="468052"/>
              </a:xfrm>
              <a:prstGeom prst="rect">
                <a:avLst/>
              </a:prstGeom>
              <a:blipFill>
                <a:blip r:embed="rId3"/>
                <a:stretch>
                  <a:fillRect b="-51948"/>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90342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9E26BB28-3E12-4803-A2A3-0F9800CC4FC7}"/>
              </a:ext>
            </a:extLst>
          </p:cNvPr>
          <p:cNvSpPr>
            <a:spLocks noGrp="1" noChangeArrowheads="1"/>
          </p:cNvSpPr>
          <p:nvPr>
            <p:ph type="title"/>
          </p:nvPr>
        </p:nvSpPr>
        <p:spPr/>
        <p:txBody>
          <a:bodyPr/>
          <a:lstStyle/>
          <a:p>
            <a:pPr eaLnBrk="1" hangingPunct="1"/>
            <a:r>
              <a:rPr lang="zh-CN" altLang="en-US" dirty="0"/>
              <a:t>第</a:t>
            </a:r>
            <a:r>
              <a:rPr lang="en-US" altLang="zh-CN" dirty="0"/>
              <a:t>6</a:t>
            </a:r>
            <a:r>
              <a:rPr lang="zh-CN" altLang="en-US" dirty="0"/>
              <a:t>章  整数规划</a:t>
            </a:r>
          </a:p>
        </p:txBody>
      </p:sp>
      <p:sp>
        <p:nvSpPr>
          <p:cNvPr id="6150" name="Rectangle 3">
            <a:extLst>
              <a:ext uri="{FF2B5EF4-FFF2-40B4-BE49-F238E27FC236}">
                <a16:creationId xmlns:a16="http://schemas.microsoft.com/office/drawing/2014/main" id="{F100E577-872C-4FFA-9444-4A450028B233}"/>
              </a:ext>
            </a:extLst>
          </p:cNvPr>
          <p:cNvSpPr>
            <a:spLocks noGrp="1" noChangeArrowheads="1"/>
          </p:cNvSpPr>
          <p:nvPr>
            <p:ph idx="1"/>
          </p:nvPr>
        </p:nvSpPr>
        <p:spPr>
          <a:xfrm>
            <a:off x="1403648" y="1628800"/>
            <a:ext cx="7560840" cy="4752528"/>
          </a:xfrm>
        </p:spPr>
        <p:txBody>
          <a:bodyPr/>
          <a:lstStyle/>
          <a:p>
            <a:pPr eaLnBrk="1" hangingPunct="1">
              <a:lnSpc>
                <a:spcPts val="2000"/>
              </a:lnSpc>
              <a:buNone/>
            </a:pPr>
            <a:r>
              <a:rPr lang="en-US" altLang="zh-CN" dirty="0">
                <a:latin typeface="宋体" panose="02010600030101010101" pitchFamily="2" charset="-122"/>
                <a:ea typeface="宋体" panose="02010600030101010101" pitchFamily="2" charset="-122"/>
              </a:rPr>
              <a:t>6.1 </a:t>
            </a:r>
            <a:r>
              <a:rPr lang="zh-CN" altLang="en-US" dirty="0">
                <a:latin typeface="宋体" panose="02010600030101010101" pitchFamily="2" charset="-122"/>
                <a:ea typeface="宋体" panose="02010600030101010101" pitchFamily="2" charset="-122"/>
              </a:rPr>
              <a:t>整数线性规划问题的提出</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6.2 </a:t>
            </a:r>
            <a:r>
              <a:rPr lang="zh-CN" altLang="en-US" dirty="0">
                <a:latin typeface="宋体" panose="02010600030101010101" pitchFamily="2" charset="-122"/>
                <a:ea typeface="宋体" panose="02010600030101010101" pitchFamily="2" charset="-122"/>
              </a:rPr>
              <a:t>分支定界解法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6.3 </a:t>
            </a:r>
            <a:r>
              <a:rPr lang="zh-CN" altLang="en-US" dirty="0">
                <a:latin typeface="宋体" panose="02010600030101010101" pitchFamily="2" charset="-122"/>
                <a:ea typeface="宋体" panose="02010600030101010101" pitchFamily="2" charset="-122"/>
              </a:rPr>
              <a:t>割平面解法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6.4 0-1</a:t>
            </a:r>
            <a:r>
              <a:rPr lang="zh-CN" altLang="en-US" dirty="0">
                <a:latin typeface="宋体" panose="02010600030101010101" pitchFamily="2" charset="-122"/>
                <a:ea typeface="宋体" panose="02010600030101010101" pitchFamily="2" charset="-122"/>
              </a:rPr>
              <a:t>型整数线性规划</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6.5 </a:t>
            </a:r>
            <a:r>
              <a:rPr lang="zh-CN" altLang="en-US" dirty="0">
                <a:latin typeface="宋体" panose="02010600030101010101" pitchFamily="2" charset="-122"/>
                <a:ea typeface="宋体" panose="02010600030101010101" pitchFamily="2" charset="-122"/>
              </a:rPr>
              <a:t>指派问题</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6.6 </a:t>
            </a:r>
            <a:r>
              <a:rPr lang="zh-CN" altLang="en-US" dirty="0">
                <a:latin typeface="宋体" panose="02010600030101010101" pitchFamily="2" charset="-122"/>
                <a:ea typeface="宋体" panose="02010600030101010101" pitchFamily="2" charset="-122"/>
              </a:rPr>
              <a:t>整数规划的建模和应用</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6.7 </a:t>
            </a:r>
            <a:r>
              <a:rPr lang="zh-CN" altLang="en-US" dirty="0">
                <a:latin typeface="宋体" panose="02010600030101010101" pitchFamily="2" charset="-122"/>
                <a:ea typeface="宋体" panose="02010600030101010101" pitchFamily="2" charset="-122"/>
              </a:rPr>
              <a:t>整数规划的 </a:t>
            </a:r>
            <a:r>
              <a:rPr lang="en-US" altLang="zh-CN" dirty="0">
                <a:latin typeface="宋体" panose="02010600030101010101" pitchFamily="2" charset="-122"/>
                <a:ea typeface="宋体" panose="02010600030101010101" pitchFamily="2" charset="-122"/>
              </a:rPr>
              <a:t>Excel Solver </a:t>
            </a:r>
            <a:r>
              <a:rPr lang="zh-CN" altLang="en-US" dirty="0">
                <a:latin typeface="宋体" panose="02010600030101010101" pitchFamily="2" charset="-122"/>
                <a:ea typeface="宋体" panose="02010600030101010101" pitchFamily="2" charset="-122"/>
              </a:rPr>
              <a:t>求解</a:t>
            </a:r>
          </a:p>
        </p:txBody>
      </p:sp>
      <p:sp>
        <p:nvSpPr>
          <p:cNvPr id="7" name="AutoShape 4"/>
          <p:cNvSpPr>
            <a:spLocks noChangeArrowheads="1"/>
          </p:cNvSpPr>
          <p:nvPr/>
        </p:nvSpPr>
        <p:spPr bwMode="auto">
          <a:xfrm>
            <a:off x="238125" y="1290638"/>
            <a:ext cx="935038" cy="5138737"/>
          </a:xfrm>
          <a:prstGeom prst="cube">
            <a:avLst>
              <a:gd name="adj" fmla="val 25000"/>
            </a:avLst>
          </a:prstGeom>
          <a:gradFill rotWithShape="1">
            <a:gsLst>
              <a:gs pos="0">
                <a:srgbClr val="411117"/>
              </a:gs>
              <a:gs pos="50000">
                <a:srgbClr val="8C2532"/>
              </a:gs>
              <a:gs pos="100000">
                <a:srgbClr val="411117"/>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t>第</a:t>
            </a:r>
          </a:p>
          <a:p>
            <a:pPr algn="ctr" eaLnBrk="1" hangingPunct="1"/>
            <a:r>
              <a:rPr lang="en-US" altLang="zh-CN" b="1" dirty="0"/>
              <a:t>6</a:t>
            </a:r>
          </a:p>
          <a:p>
            <a:pPr algn="ctr" eaLnBrk="1" hangingPunct="1"/>
            <a:r>
              <a:rPr lang="zh-CN" altLang="en-US" b="1" dirty="0"/>
              <a:t> 章 </a:t>
            </a:r>
          </a:p>
          <a:p>
            <a:pPr algn="ctr" eaLnBrk="1" hangingPunct="1"/>
            <a:endParaRPr lang="zh-CN" altLang="en-US" b="1" dirty="0"/>
          </a:p>
          <a:p>
            <a:pPr algn="ctr" eaLnBrk="1" hangingPunct="1"/>
            <a:r>
              <a:rPr lang="zh-CN" altLang="en-US" b="1" dirty="0"/>
              <a:t> 整</a:t>
            </a:r>
            <a:endParaRPr lang="en-US" altLang="zh-CN" b="1" dirty="0"/>
          </a:p>
          <a:p>
            <a:pPr algn="ctr" eaLnBrk="1" hangingPunct="1"/>
            <a:r>
              <a:rPr lang="zh-CN" altLang="en-US" b="1" dirty="0"/>
              <a:t>数</a:t>
            </a:r>
            <a:endParaRPr lang="en-US" altLang="zh-CN" b="1" dirty="0"/>
          </a:p>
          <a:p>
            <a:pPr algn="ctr" eaLnBrk="1" hangingPunct="1"/>
            <a:r>
              <a:rPr lang="zh-CN" altLang="en-US" b="1" dirty="0"/>
              <a:t>规</a:t>
            </a:r>
          </a:p>
          <a:p>
            <a:pPr algn="ctr" eaLnBrk="1" hangingPunct="1"/>
            <a:r>
              <a:rPr lang="zh-CN" altLang="en-US" b="1" dirty="0"/>
              <a:t>划</a:t>
            </a:r>
          </a:p>
        </p:txBody>
      </p:sp>
      <p:sp>
        <p:nvSpPr>
          <p:cNvPr id="9" name="AutoShape 6"/>
          <p:cNvSpPr>
            <a:spLocks noChangeArrowheads="1"/>
          </p:cNvSpPr>
          <p:nvPr/>
        </p:nvSpPr>
        <p:spPr bwMode="auto">
          <a:xfrm>
            <a:off x="5528417" y="1196752"/>
            <a:ext cx="3656012" cy="3571875"/>
          </a:xfrm>
          <a:prstGeom prst="wedgeRoundRectCallout">
            <a:avLst>
              <a:gd name="adj1" fmla="val -44774"/>
              <a:gd name="adj2" fmla="val 65966"/>
              <a:gd name="adj3" fmla="val 16667"/>
            </a:avLst>
          </a:prstGeom>
          <a:solidFill>
            <a:srgbClr val="00CC99"/>
          </a:solidFill>
          <a:ln w="9525">
            <a:solidFill>
              <a:schemeClr val="tx1"/>
            </a:solidFill>
            <a:miter lim="800000"/>
            <a:headEnd/>
            <a:tailEnd/>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sz="2000" b="1" dirty="0">
                <a:solidFill>
                  <a:srgbClr val="366B7E"/>
                </a:solidFill>
                <a:latin typeface="楷体_GB2312" pitchFamily="1" charset="-122"/>
                <a:ea typeface="楷体_GB2312" pitchFamily="1" charset="-122"/>
              </a:rPr>
              <a:t>1．理解整数规划的基本概念与分类；</a:t>
            </a:r>
          </a:p>
          <a:p>
            <a:r>
              <a:rPr lang="zh-CN" altLang="en-US" sz="2000" b="1" dirty="0">
                <a:solidFill>
                  <a:srgbClr val="366B7E"/>
                </a:solidFill>
                <a:latin typeface="楷体_GB2312" pitchFamily="1" charset="-122"/>
                <a:ea typeface="楷体_GB2312" pitchFamily="1" charset="-122"/>
              </a:rPr>
              <a:t>2．了解整数规划问题的建模与应用；</a:t>
            </a:r>
          </a:p>
          <a:p>
            <a:r>
              <a:rPr lang="zh-CN" altLang="en-US" sz="2000" b="1" dirty="0">
                <a:solidFill>
                  <a:srgbClr val="366B7E"/>
                </a:solidFill>
                <a:latin typeface="楷体_GB2312" pitchFamily="1" charset="-122"/>
                <a:ea typeface="楷体_GB2312" pitchFamily="1" charset="-122"/>
              </a:rPr>
              <a:t>3．掌握求解整数规划的分支定界法、割平面法的过程；</a:t>
            </a:r>
          </a:p>
          <a:p>
            <a:r>
              <a:rPr lang="zh-CN" altLang="en-US" sz="2000" b="1" dirty="0">
                <a:solidFill>
                  <a:srgbClr val="366B7E"/>
                </a:solidFill>
                <a:latin typeface="楷体_GB2312" pitchFamily="1" charset="-122"/>
                <a:ea typeface="楷体_GB2312" pitchFamily="1" charset="-122"/>
              </a:rPr>
              <a:t>4．理解求解0-1规划的隐枚举法；</a:t>
            </a:r>
          </a:p>
          <a:p>
            <a:r>
              <a:rPr lang="zh-CN" altLang="en-US" sz="2000" b="1" dirty="0">
                <a:solidFill>
                  <a:srgbClr val="366B7E"/>
                </a:solidFill>
                <a:latin typeface="楷体_GB2312" pitchFamily="1" charset="-122"/>
                <a:ea typeface="楷体_GB2312" pitchFamily="1" charset="-122"/>
              </a:rPr>
              <a:t>5．掌握指派匈牙利法和非标准指派问题的求解方法。</a:t>
            </a:r>
          </a:p>
        </p:txBody>
      </p:sp>
    </p:spTree>
    <p:extLst>
      <p:ext uri="{BB962C8B-B14F-4D97-AF65-F5344CB8AC3E}">
        <p14:creationId xmlns:p14="http://schemas.microsoft.com/office/powerpoint/2010/main" val="271775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150">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a:extLst>
              <a:ext uri="{FF2B5EF4-FFF2-40B4-BE49-F238E27FC236}">
                <a16:creationId xmlns:a16="http://schemas.microsoft.com/office/drawing/2014/main" id="{83D05B67-A749-4E33-B4D7-39B2D5225F6C}"/>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6.4 0-1</a:t>
            </a:r>
            <a:r>
              <a:rPr lang="zh-CN" altLang="en-US" dirty="0">
                <a:latin typeface="Arial" panose="020B0604020202020204" pitchFamily="34" charset="0"/>
              </a:rPr>
              <a:t>型整数线性规划</a:t>
            </a:r>
          </a:p>
        </p:txBody>
      </p:sp>
      <p:sp>
        <p:nvSpPr>
          <p:cNvPr id="2" name="内容占位符 1"/>
          <p:cNvSpPr>
            <a:spLocks noGrp="1"/>
          </p:cNvSpPr>
          <p:nvPr>
            <p:ph idx="1"/>
          </p:nvPr>
        </p:nvSpPr>
        <p:spPr>
          <a:xfrm>
            <a:off x="494729" y="1196752"/>
            <a:ext cx="8181727" cy="5115246"/>
          </a:xfrm>
        </p:spPr>
        <p:txBody>
          <a:bodyPr/>
          <a:lstStyle/>
          <a:p>
            <a:pPr algn="just" eaLnBrk="1" hangingPunct="1"/>
            <a:r>
              <a:rPr lang="en-US" altLang="zh-CN" dirty="0">
                <a:latin typeface="Times New Roman" panose="02020603050405020304" pitchFamily="18" charset="0"/>
                <a:cs typeface="Times New Roman" panose="02020603050405020304" pitchFamily="18" charset="0"/>
              </a:rPr>
              <a:t>0-1</a:t>
            </a:r>
            <a:r>
              <a:rPr lang="zh-CN" altLang="en-US" dirty="0">
                <a:latin typeface="Times New Roman" panose="02020603050405020304" pitchFamily="18" charset="0"/>
                <a:cs typeface="Times New Roman" panose="02020603050405020304" pitchFamily="18" charset="0"/>
              </a:rPr>
              <a:t>型整数线性规划是整数线性规划中的特殊情形，它的</a:t>
            </a:r>
            <a:r>
              <a:rPr lang="zh-CN" altLang="en-US" dirty="0">
                <a:solidFill>
                  <a:srgbClr val="FF0000"/>
                </a:solidFill>
                <a:latin typeface="Times New Roman" panose="02020603050405020304" pitchFamily="18" charset="0"/>
                <a:cs typeface="Times New Roman" panose="02020603050405020304" pitchFamily="18" charset="0"/>
              </a:rPr>
              <a:t>变量</a:t>
            </a:r>
            <a:r>
              <a:rPr lang="en-US" altLang="zh-CN" i="1" dirty="0">
                <a:solidFill>
                  <a:srgbClr val="FF0000"/>
                </a:solidFill>
                <a:latin typeface="Times New Roman" panose="02020603050405020304" pitchFamily="18" charset="0"/>
                <a:cs typeface="Times New Roman" panose="02020603050405020304" pitchFamily="18" charset="0"/>
              </a:rPr>
              <a:t>x</a:t>
            </a:r>
            <a:r>
              <a:rPr lang="en-US" altLang="zh-CN" i="1" baseline="-30000" dirty="0">
                <a:solidFill>
                  <a:srgbClr val="FF0000"/>
                </a:solidFill>
                <a:latin typeface="Times New Roman" panose="02020603050405020304" pitchFamily="18" charset="0"/>
                <a:cs typeface="Times New Roman" panose="02020603050405020304" pitchFamily="18" charset="0"/>
              </a:rPr>
              <a:t>i</a:t>
            </a:r>
            <a:r>
              <a:rPr lang="zh-CN" altLang="en-US" dirty="0">
                <a:solidFill>
                  <a:srgbClr val="FF0000"/>
                </a:solidFill>
                <a:latin typeface="Times New Roman" panose="02020603050405020304" pitchFamily="18" charset="0"/>
                <a:cs typeface="Times New Roman" panose="02020603050405020304" pitchFamily="18" charset="0"/>
              </a:rPr>
              <a:t>仅取值</a:t>
            </a:r>
            <a:r>
              <a:rPr lang="en-US" altLang="zh-CN" dirty="0">
                <a:solidFill>
                  <a:srgbClr val="FF0000"/>
                </a:solidFill>
                <a:latin typeface="Times New Roman" panose="02020603050405020304" pitchFamily="18" charset="0"/>
                <a:cs typeface="Times New Roman" panose="02020603050405020304" pitchFamily="18" charset="0"/>
              </a:rPr>
              <a:t>0</a:t>
            </a:r>
            <a:r>
              <a:rPr lang="zh-CN" altLang="en-US" dirty="0">
                <a:solidFill>
                  <a:srgbClr val="FF0000"/>
                </a:solidFill>
                <a:latin typeface="Times New Roman" panose="02020603050405020304" pitchFamily="18" charset="0"/>
                <a:cs typeface="Times New Roman" panose="02020603050405020304" pitchFamily="18" charset="0"/>
              </a:rPr>
              <a:t>或</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。这时</a:t>
            </a:r>
            <a:r>
              <a:rPr lang="en-US" altLang="zh-CN" i="1" dirty="0">
                <a:latin typeface="Times New Roman" panose="02020603050405020304" pitchFamily="18" charset="0"/>
                <a:cs typeface="Times New Roman" panose="02020603050405020304" pitchFamily="18" charset="0"/>
              </a:rPr>
              <a:t>x</a:t>
            </a:r>
            <a:r>
              <a:rPr lang="en-US" altLang="zh-CN" i="1" baseline="-30000" dirty="0">
                <a:latin typeface="Times New Roman" panose="02020603050405020304" pitchFamily="18" charset="0"/>
                <a:cs typeface="Times New Roman" panose="02020603050405020304" pitchFamily="18" charset="0"/>
              </a:rPr>
              <a:t>i</a:t>
            </a:r>
            <a:r>
              <a:rPr lang="zh-CN" altLang="en-US" dirty="0">
                <a:latin typeface="Times New Roman" panose="02020603050405020304" pitchFamily="18" charset="0"/>
                <a:cs typeface="Times New Roman" panose="02020603050405020304" pitchFamily="18" charset="0"/>
              </a:rPr>
              <a:t>称为</a:t>
            </a:r>
            <a:r>
              <a:rPr lang="en-US" altLang="zh-CN" dirty="0">
                <a:latin typeface="Times New Roman" panose="02020603050405020304" pitchFamily="18" charset="0"/>
                <a:cs typeface="Times New Roman" panose="02020603050405020304" pitchFamily="18" charset="0"/>
              </a:rPr>
              <a:t>0-1</a:t>
            </a:r>
            <a:r>
              <a:rPr lang="zh-CN" altLang="en-US" dirty="0">
                <a:latin typeface="Times New Roman" panose="02020603050405020304" pitchFamily="18" charset="0"/>
                <a:cs typeface="Times New Roman" panose="02020603050405020304" pitchFamily="18" charset="0"/>
              </a:rPr>
              <a:t>变量，或称二进制变量。</a:t>
            </a:r>
            <a:r>
              <a:rPr lang="en-US" altLang="zh-CN" i="1" dirty="0">
                <a:latin typeface="Times New Roman" panose="02020603050405020304" pitchFamily="18" charset="0"/>
                <a:cs typeface="Times New Roman" panose="02020603050405020304" pitchFamily="18" charset="0"/>
              </a:rPr>
              <a:t>x</a:t>
            </a:r>
            <a:r>
              <a:rPr lang="en-US" altLang="zh-CN" i="1" baseline="-30000" dirty="0">
                <a:latin typeface="Times New Roman" panose="02020603050405020304" pitchFamily="18" charset="0"/>
                <a:cs typeface="Times New Roman" panose="02020603050405020304" pitchFamily="18" charset="0"/>
              </a:rPr>
              <a:t>i</a:t>
            </a:r>
            <a:r>
              <a:rPr lang="zh-CN" altLang="en-US" dirty="0">
                <a:latin typeface="Times New Roman" panose="02020603050405020304" pitchFamily="18" charset="0"/>
                <a:cs typeface="Times New Roman" panose="02020603050405020304" pitchFamily="18" charset="0"/>
              </a:rPr>
              <a:t>仅取值</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或</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，这个条件可由下述约束条件所代替</a:t>
            </a:r>
            <a:r>
              <a:rPr lang="en-US" altLang="zh-CN" dirty="0">
                <a:latin typeface="Times New Roman" panose="02020603050405020304" pitchFamily="18" charset="0"/>
                <a:cs typeface="Times New Roman" panose="02020603050405020304" pitchFamily="18" charset="0"/>
              </a:rPr>
              <a:t>:</a:t>
            </a:r>
          </a:p>
          <a:p>
            <a:pPr algn="just" eaLnBrk="1" hangingPunct="1">
              <a:buNone/>
            </a:pPr>
            <a:r>
              <a:rPr lang="en-US" altLang="zh-CN" i="1" dirty="0">
                <a:latin typeface="Times New Roman" panose="02020603050405020304" pitchFamily="18" charset="0"/>
                <a:cs typeface="Times New Roman" panose="02020603050405020304" pitchFamily="18" charset="0"/>
              </a:rPr>
              <a:t>                                     x</a:t>
            </a:r>
            <a:r>
              <a:rPr lang="en-US" altLang="zh-CN" i="1" baseline="-3000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≤1,      </a:t>
            </a:r>
            <a:r>
              <a:rPr lang="en-US" altLang="zh-CN" i="1" dirty="0">
                <a:latin typeface="Times New Roman" panose="02020603050405020304" pitchFamily="18" charset="0"/>
                <a:cs typeface="Times New Roman" panose="02020603050405020304" pitchFamily="18" charset="0"/>
              </a:rPr>
              <a:t>x</a:t>
            </a:r>
            <a:r>
              <a:rPr lang="en-US" altLang="zh-CN" i="1" baseline="-3000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，整数</a:t>
            </a:r>
          </a:p>
          <a:p>
            <a:pPr algn="just" eaLnBrk="1" hangingPunct="1"/>
            <a:endParaRPr lang="en-US" altLang="zh-CN" dirty="0">
              <a:latin typeface="Times New Roman" panose="02020603050405020304" pitchFamily="18" charset="0"/>
              <a:cs typeface="Times New Roman" panose="02020603050405020304" pitchFamily="18" charset="0"/>
            </a:endParaRPr>
          </a:p>
          <a:p>
            <a:pPr algn="just" eaLnBrk="1" hangingPunct="1"/>
            <a:r>
              <a:rPr lang="zh-CN" altLang="en-US" dirty="0">
                <a:latin typeface="Times New Roman" panose="02020603050405020304" pitchFamily="18" charset="0"/>
                <a:cs typeface="Times New Roman" panose="02020603050405020304" pitchFamily="18" charset="0"/>
              </a:rPr>
              <a:t>它和一般整数线性规划的约束条件形式是一致的。</a:t>
            </a:r>
            <a:endParaRPr lang="en-US" altLang="zh-CN" dirty="0">
              <a:latin typeface="Times New Roman" panose="02020603050405020304" pitchFamily="18" charset="0"/>
              <a:cs typeface="Times New Roman" panose="02020603050405020304" pitchFamily="18" charset="0"/>
            </a:endParaRPr>
          </a:p>
          <a:p>
            <a:pPr algn="just" eaLnBrk="1" hangingPunct="1"/>
            <a:endParaRPr lang="en-US" altLang="zh-CN" dirty="0">
              <a:latin typeface="Times New Roman" panose="02020603050405020304" pitchFamily="18" charset="0"/>
              <a:cs typeface="Times New Roman" panose="02020603050405020304" pitchFamily="18" charset="0"/>
            </a:endParaRPr>
          </a:p>
          <a:p>
            <a:pPr algn="just" eaLnBrk="1" hangingPunct="1"/>
            <a:r>
              <a:rPr lang="zh-CN" altLang="en-US" dirty="0">
                <a:latin typeface="Times New Roman" panose="02020603050405020304" pitchFamily="18" charset="0"/>
                <a:cs typeface="Times New Roman" panose="02020603050405020304" pitchFamily="18" charset="0"/>
              </a:rPr>
              <a:t>在实际问题中，如果</a:t>
            </a:r>
            <a:r>
              <a:rPr lang="zh-CN" altLang="en-US" dirty="0">
                <a:solidFill>
                  <a:srgbClr val="FF0000"/>
                </a:solidFill>
                <a:latin typeface="Times New Roman" panose="02020603050405020304" pitchFamily="18" charset="0"/>
                <a:cs typeface="Times New Roman" panose="02020603050405020304" pitchFamily="18" charset="0"/>
              </a:rPr>
              <a:t>引入</a:t>
            </a:r>
            <a:r>
              <a:rPr lang="en-US" altLang="zh-CN" dirty="0">
                <a:solidFill>
                  <a:srgbClr val="FF0000"/>
                </a:solidFill>
                <a:latin typeface="Times New Roman" panose="02020603050405020304" pitchFamily="18" charset="0"/>
                <a:cs typeface="Times New Roman" panose="02020603050405020304" pitchFamily="18" charset="0"/>
              </a:rPr>
              <a:t>0-1</a:t>
            </a:r>
            <a:r>
              <a:rPr lang="zh-CN" altLang="en-US" dirty="0">
                <a:solidFill>
                  <a:srgbClr val="FF0000"/>
                </a:solidFill>
                <a:latin typeface="Times New Roman" panose="02020603050405020304" pitchFamily="18" charset="0"/>
                <a:cs typeface="Times New Roman" panose="02020603050405020304" pitchFamily="18" charset="0"/>
              </a:rPr>
              <a:t>变量，就可以把有各种情况需要分别讨论的线性规划问题统一在一个问题中讨论</a:t>
            </a:r>
            <a:r>
              <a:rPr lang="zh-CN" altLang="en-US" dirty="0">
                <a:latin typeface="Times New Roman" panose="02020603050405020304" pitchFamily="18" charset="0"/>
                <a:cs typeface="Times New Roman" panose="02020603050405020304" pitchFamily="18" charset="0"/>
              </a:rPr>
              <a:t>了。</a:t>
            </a:r>
            <a:endParaRPr lang="en-US" altLang="zh-CN" dirty="0">
              <a:latin typeface="Times New Roman" panose="02020603050405020304" pitchFamily="18" charset="0"/>
              <a:cs typeface="Times New Roman" panose="02020603050405020304" pitchFamily="18" charset="0"/>
            </a:endParaRPr>
          </a:p>
          <a:p>
            <a:pPr algn="just" eaLnBrk="1" hangingPunct="1"/>
            <a:endParaRPr lang="en-US" altLang="zh-CN" dirty="0">
              <a:latin typeface="Times New Roman" panose="02020603050405020304" pitchFamily="18" charset="0"/>
              <a:cs typeface="Times New Roman" panose="02020603050405020304" pitchFamily="18" charset="0"/>
            </a:endParaRPr>
          </a:p>
          <a:p>
            <a:pPr algn="just" eaLnBrk="1" hangingPunct="1"/>
            <a:r>
              <a:rPr lang="zh-CN" altLang="en-US" dirty="0">
                <a:latin typeface="Times New Roman" panose="02020603050405020304" pitchFamily="18" charset="0"/>
                <a:cs typeface="Times New Roman" panose="02020603050405020304" pitchFamily="18" charset="0"/>
              </a:rPr>
              <a:t>在本节我们先介绍引入</a:t>
            </a:r>
            <a:r>
              <a:rPr lang="en-US" altLang="zh-CN" dirty="0">
                <a:latin typeface="Times New Roman" panose="02020603050405020304" pitchFamily="18" charset="0"/>
                <a:cs typeface="Times New Roman" panose="02020603050405020304" pitchFamily="18" charset="0"/>
              </a:rPr>
              <a:t>0-1</a:t>
            </a:r>
            <a:r>
              <a:rPr lang="zh-CN" altLang="en-US" dirty="0">
                <a:latin typeface="Times New Roman" panose="02020603050405020304" pitchFamily="18" charset="0"/>
                <a:cs typeface="Times New Roman" panose="02020603050405020304" pitchFamily="18" charset="0"/>
              </a:rPr>
              <a:t>变量的实际问题，再研究解法。</a:t>
            </a:r>
            <a:endParaRPr lang="en-US" altLang="zh-CN" dirty="0">
              <a:latin typeface="Times New Roman" panose="02020603050405020304" pitchFamily="18" charset="0"/>
              <a:cs typeface="Times New Roman" panose="02020603050405020304" pitchFamily="18" charset="0"/>
            </a:endParaRPr>
          </a:p>
          <a:p>
            <a:pPr algn="just" eaLnBrk="1" hangingPunct="1"/>
            <a:endParaRPr lang="en-US" altLang="zh-CN" dirty="0">
              <a:latin typeface="Times New Roman" panose="02020603050405020304" pitchFamily="18" charset="0"/>
              <a:cs typeface="Times New Roman" panose="02020603050405020304" pitchFamily="18" charset="0"/>
            </a:endParaRPr>
          </a:p>
        </p:txBody>
      </p:sp>
      <p:sp>
        <p:nvSpPr>
          <p:cNvPr id="44035" name="灯片编号占位符 5">
            <a:extLst>
              <a:ext uri="{FF2B5EF4-FFF2-40B4-BE49-F238E27FC236}">
                <a16:creationId xmlns:a16="http://schemas.microsoft.com/office/drawing/2014/main" id="{FC52F74C-E990-4EAB-A034-A416E8E18C6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99E0F02-9D9D-4C76-98DF-39B56A54F20A}" type="slidenum">
              <a:rPr lang="en-US" altLang="zh-CN" sz="1000" smtClean="0"/>
              <a:pPr>
                <a:spcBef>
                  <a:spcPct val="0"/>
                </a:spcBef>
                <a:buClrTx/>
                <a:buSzTx/>
                <a:buFontTx/>
                <a:buNone/>
              </a:pPr>
              <a:t>27</a:t>
            </a:fld>
            <a:endParaRPr lang="en-US" altLang="zh-CN" sz="10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9E26BB28-3E12-4803-A2A3-0F9800CC4FC7}"/>
              </a:ext>
            </a:extLst>
          </p:cNvPr>
          <p:cNvSpPr>
            <a:spLocks noGrp="1" noChangeArrowheads="1"/>
          </p:cNvSpPr>
          <p:nvPr>
            <p:ph type="title"/>
          </p:nvPr>
        </p:nvSpPr>
        <p:spPr/>
        <p:txBody>
          <a:bodyPr/>
          <a:lstStyle/>
          <a:p>
            <a:pPr eaLnBrk="1" hangingPunct="1"/>
            <a:r>
              <a:rPr lang="zh-CN" altLang="en-US" dirty="0"/>
              <a:t>第</a:t>
            </a:r>
            <a:r>
              <a:rPr lang="en-US" altLang="zh-CN" dirty="0"/>
              <a:t>6</a:t>
            </a:r>
            <a:r>
              <a:rPr lang="zh-CN" altLang="en-US" dirty="0"/>
              <a:t>章  整数规划</a:t>
            </a:r>
          </a:p>
        </p:txBody>
      </p:sp>
      <p:sp>
        <p:nvSpPr>
          <p:cNvPr id="6150" name="Rectangle 3">
            <a:extLst>
              <a:ext uri="{FF2B5EF4-FFF2-40B4-BE49-F238E27FC236}">
                <a16:creationId xmlns:a16="http://schemas.microsoft.com/office/drawing/2014/main" id="{F100E577-872C-4FFA-9444-4A450028B233}"/>
              </a:ext>
            </a:extLst>
          </p:cNvPr>
          <p:cNvSpPr>
            <a:spLocks noGrp="1" noChangeArrowheads="1"/>
          </p:cNvSpPr>
          <p:nvPr>
            <p:ph idx="1"/>
          </p:nvPr>
        </p:nvSpPr>
        <p:spPr>
          <a:xfrm>
            <a:off x="1403648" y="1628800"/>
            <a:ext cx="7560840" cy="4752528"/>
          </a:xfrm>
        </p:spPr>
        <p:txBody>
          <a:bodyPr/>
          <a:lstStyle/>
          <a:p>
            <a:pPr eaLnBrk="1" hangingPunct="1">
              <a:lnSpc>
                <a:spcPts val="2000"/>
              </a:lnSpc>
              <a:buNone/>
            </a:pPr>
            <a:r>
              <a:rPr lang="en-US" altLang="zh-CN" dirty="0">
                <a:latin typeface="宋体" panose="02010600030101010101" pitchFamily="2" charset="-122"/>
                <a:ea typeface="宋体" panose="02010600030101010101" pitchFamily="2" charset="-122"/>
              </a:rPr>
              <a:t>6.1 </a:t>
            </a:r>
            <a:r>
              <a:rPr lang="zh-CN" altLang="en-US" dirty="0">
                <a:latin typeface="宋体" panose="02010600030101010101" pitchFamily="2" charset="-122"/>
                <a:ea typeface="宋体" panose="02010600030101010101" pitchFamily="2" charset="-122"/>
              </a:rPr>
              <a:t>整数线性规划问题的提出</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6.2 </a:t>
            </a:r>
            <a:r>
              <a:rPr lang="zh-CN" altLang="en-US" dirty="0">
                <a:latin typeface="宋体" panose="02010600030101010101" pitchFamily="2" charset="-122"/>
                <a:ea typeface="宋体" panose="02010600030101010101" pitchFamily="2" charset="-122"/>
              </a:rPr>
              <a:t>分支定界解法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6.3 </a:t>
            </a:r>
            <a:r>
              <a:rPr lang="zh-CN" altLang="en-US" dirty="0">
                <a:latin typeface="宋体" panose="02010600030101010101" pitchFamily="2" charset="-122"/>
                <a:ea typeface="宋体" panose="02010600030101010101" pitchFamily="2" charset="-122"/>
              </a:rPr>
              <a:t>割平面解法</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6.4 0-1</a:t>
            </a:r>
            <a:r>
              <a:rPr lang="zh-CN" altLang="en-US" dirty="0">
                <a:latin typeface="宋体" panose="02010600030101010101" pitchFamily="2" charset="-122"/>
                <a:ea typeface="宋体" panose="02010600030101010101" pitchFamily="2" charset="-122"/>
              </a:rPr>
              <a:t>型整数线性规划</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zh-CN" altLang="en-US"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6.5 </a:t>
            </a:r>
            <a:r>
              <a:rPr lang="zh-CN" altLang="en-US" dirty="0">
                <a:latin typeface="宋体" panose="02010600030101010101" pitchFamily="2" charset="-122"/>
                <a:ea typeface="宋体" panose="02010600030101010101" pitchFamily="2" charset="-122"/>
              </a:rPr>
              <a:t>指派问题</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6.6 </a:t>
            </a:r>
            <a:r>
              <a:rPr lang="zh-CN" altLang="en-US" dirty="0">
                <a:latin typeface="宋体" panose="02010600030101010101" pitchFamily="2" charset="-122"/>
                <a:ea typeface="宋体" panose="02010600030101010101" pitchFamily="2" charset="-122"/>
              </a:rPr>
              <a:t>整数规划的建模和应用</a:t>
            </a:r>
            <a:endParaRPr lang="en-US" altLang="zh-CN" dirty="0">
              <a:latin typeface="宋体" panose="02010600030101010101" pitchFamily="2" charset="-122"/>
              <a:ea typeface="宋体" panose="02010600030101010101" pitchFamily="2" charset="-122"/>
            </a:endParaRPr>
          </a:p>
          <a:p>
            <a:pPr eaLnBrk="1" hangingPunct="1">
              <a:lnSpc>
                <a:spcPts val="2000"/>
              </a:lnSpc>
              <a:buNone/>
            </a:pPr>
            <a:endParaRPr lang="en-US" altLang="zh-CN" dirty="0">
              <a:latin typeface="宋体" panose="02010600030101010101" pitchFamily="2" charset="-122"/>
              <a:ea typeface="宋体" panose="02010600030101010101" pitchFamily="2" charset="-122"/>
            </a:endParaRPr>
          </a:p>
          <a:p>
            <a:pPr eaLnBrk="1" hangingPunct="1">
              <a:lnSpc>
                <a:spcPts val="2000"/>
              </a:lnSpc>
              <a:buNone/>
            </a:pPr>
            <a:r>
              <a:rPr lang="en-US" altLang="zh-CN" dirty="0">
                <a:latin typeface="宋体" panose="02010600030101010101" pitchFamily="2" charset="-122"/>
                <a:ea typeface="宋体" panose="02010600030101010101" pitchFamily="2" charset="-122"/>
              </a:rPr>
              <a:t>6.7 </a:t>
            </a:r>
            <a:r>
              <a:rPr lang="zh-CN" altLang="en-US" dirty="0">
                <a:latin typeface="宋体" panose="02010600030101010101" pitchFamily="2" charset="-122"/>
                <a:ea typeface="宋体" panose="02010600030101010101" pitchFamily="2" charset="-122"/>
              </a:rPr>
              <a:t>整数规划的 </a:t>
            </a:r>
            <a:r>
              <a:rPr lang="en-US" altLang="zh-CN" dirty="0">
                <a:latin typeface="宋体" panose="02010600030101010101" pitchFamily="2" charset="-122"/>
                <a:ea typeface="宋体" panose="02010600030101010101" pitchFamily="2" charset="-122"/>
              </a:rPr>
              <a:t>Excel Solver </a:t>
            </a:r>
            <a:r>
              <a:rPr lang="zh-CN" altLang="en-US" dirty="0">
                <a:latin typeface="宋体" panose="02010600030101010101" pitchFamily="2" charset="-122"/>
                <a:ea typeface="宋体" panose="02010600030101010101" pitchFamily="2" charset="-122"/>
              </a:rPr>
              <a:t>求解</a:t>
            </a:r>
          </a:p>
        </p:txBody>
      </p:sp>
      <p:sp>
        <p:nvSpPr>
          <p:cNvPr id="7" name="AutoShape 4"/>
          <p:cNvSpPr>
            <a:spLocks noChangeArrowheads="1"/>
          </p:cNvSpPr>
          <p:nvPr/>
        </p:nvSpPr>
        <p:spPr bwMode="auto">
          <a:xfrm>
            <a:off x="238125" y="1290638"/>
            <a:ext cx="935038" cy="5138737"/>
          </a:xfrm>
          <a:prstGeom prst="cube">
            <a:avLst>
              <a:gd name="adj" fmla="val 25000"/>
            </a:avLst>
          </a:prstGeom>
          <a:gradFill rotWithShape="1">
            <a:gsLst>
              <a:gs pos="0">
                <a:srgbClr val="411117"/>
              </a:gs>
              <a:gs pos="50000">
                <a:srgbClr val="8C2532"/>
              </a:gs>
              <a:gs pos="100000">
                <a:srgbClr val="411117"/>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t>第</a:t>
            </a:r>
          </a:p>
          <a:p>
            <a:pPr algn="ctr" eaLnBrk="1" hangingPunct="1"/>
            <a:r>
              <a:rPr lang="en-US" altLang="zh-CN" b="1" dirty="0"/>
              <a:t>6</a:t>
            </a:r>
          </a:p>
          <a:p>
            <a:pPr algn="ctr" eaLnBrk="1" hangingPunct="1"/>
            <a:r>
              <a:rPr lang="zh-CN" altLang="en-US" b="1" dirty="0"/>
              <a:t> 章 </a:t>
            </a:r>
          </a:p>
          <a:p>
            <a:pPr algn="ctr" eaLnBrk="1" hangingPunct="1"/>
            <a:endParaRPr lang="zh-CN" altLang="en-US" b="1" dirty="0"/>
          </a:p>
          <a:p>
            <a:pPr algn="ctr" eaLnBrk="1" hangingPunct="1"/>
            <a:r>
              <a:rPr lang="zh-CN" altLang="en-US" b="1" dirty="0"/>
              <a:t> 整</a:t>
            </a:r>
            <a:endParaRPr lang="en-US" altLang="zh-CN" b="1" dirty="0"/>
          </a:p>
          <a:p>
            <a:pPr algn="ctr" eaLnBrk="1" hangingPunct="1"/>
            <a:r>
              <a:rPr lang="zh-CN" altLang="en-US" b="1" dirty="0"/>
              <a:t>数</a:t>
            </a:r>
            <a:endParaRPr lang="en-US" altLang="zh-CN" b="1" dirty="0"/>
          </a:p>
          <a:p>
            <a:pPr algn="ctr" eaLnBrk="1" hangingPunct="1"/>
            <a:r>
              <a:rPr lang="zh-CN" altLang="en-US" b="1" dirty="0"/>
              <a:t>规</a:t>
            </a:r>
          </a:p>
          <a:p>
            <a:pPr algn="ctr" eaLnBrk="1" hangingPunct="1"/>
            <a:r>
              <a:rPr lang="zh-CN" altLang="en-US" b="1" dirty="0"/>
              <a:t>划</a:t>
            </a:r>
          </a:p>
        </p:txBody>
      </p:sp>
      <p:sp>
        <p:nvSpPr>
          <p:cNvPr id="9" name="AutoShape 6"/>
          <p:cNvSpPr>
            <a:spLocks noChangeArrowheads="1"/>
          </p:cNvSpPr>
          <p:nvPr/>
        </p:nvSpPr>
        <p:spPr bwMode="auto">
          <a:xfrm>
            <a:off x="5528417" y="1196752"/>
            <a:ext cx="3656012" cy="3571875"/>
          </a:xfrm>
          <a:prstGeom prst="wedgeRoundRectCallout">
            <a:avLst>
              <a:gd name="adj1" fmla="val -44774"/>
              <a:gd name="adj2" fmla="val 65966"/>
              <a:gd name="adj3" fmla="val 16667"/>
            </a:avLst>
          </a:prstGeom>
          <a:solidFill>
            <a:srgbClr val="00CC99"/>
          </a:solidFill>
          <a:ln w="9525">
            <a:solidFill>
              <a:schemeClr val="tx1"/>
            </a:solidFill>
            <a:miter lim="800000"/>
            <a:headEnd/>
            <a:tailEnd/>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en-US" sz="2000" b="1" dirty="0">
                <a:solidFill>
                  <a:srgbClr val="366B7E"/>
                </a:solidFill>
                <a:latin typeface="楷体_GB2312" pitchFamily="1" charset="-122"/>
                <a:ea typeface="楷体_GB2312" pitchFamily="1" charset="-122"/>
              </a:rPr>
              <a:t>1．理解整数规划的基本概念与分类；</a:t>
            </a:r>
          </a:p>
          <a:p>
            <a:r>
              <a:rPr lang="zh-CN" altLang="en-US" sz="2000" b="1" dirty="0">
                <a:solidFill>
                  <a:srgbClr val="366B7E"/>
                </a:solidFill>
                <a:latin typeface="楷体_GB2312" pitchFamily="1" charset="-122"/>
                <a:ea typeface="楷体_GB2312" pitchFamily="1" charset="-122"/>
              </a:rPr>
              <a:t>2．了解整数规划问题的建模与应用；</a:t>
            </a:r>
          </a:p>
          <a:p>
            <a:r>
              <a:rPr lang="zh-CN" altLang="en-US" sz="2000" b="1" dirty="0">
                <a:solidFill>
                  <a:srgbClr val="366B7E"/>
                </a:solidFill>
                <a:latin typeface="楷体_GB2312" pitchFamily="1" charset="-122"/>
                <a:ea typeface="楷体_GB2312" pitchFamily="1" charset="-122"/>
              </a:rPr>
              <a:t>3．掌握求解整数规划的分支定界法、割平面法的过程；</a:t>
            </a:r>
          </a:p>
          <a:p>
            <a:r>
              <a:rPr lang="zh-CN" altLang="en-US" sz="2000" b="1" dirty="0">
                <a:solidFill>
                  <a:srgbClr val="366B7E"/>
                </a:solidFill>
                <a:latin typeface="楷体_GB2312" pitchFamily="1" charset="-122"/>
                <a:ea typeface="楷体_GB2312" pitchFamily="1" charset="-122"/>
              </a:rPr>
              <a:t>4．理解求解0-1规划的隐枚举法；</a:t>
            </a:r>
          </a:p>
          <a:p>
            <a:r>
              <a:rPr lang="zh-CN" altLang="en-US" sz="2000" b="1" dirty="0">
                <a:solidFill>
                  <a:srgbClr val="366B7E"/>
                </a:solidFill>
                <a:latin typeface="楷体_GB2312" pitchFamily="1" charset="-122"/>
                <a:ea typeface="楷体_GB2312" pitchFamily="1" charset="-122"/>
              </a:rPr>
              <a:t>5．掌握指派匈牙利法和非标准指派问题的求解方法。</a:t>
            </a:r>
          </a:p>
        </p:txBody>
      </p:sp>
    </p:spTree>
    <p:extLst>
      <p:ext uri="{BB962C8B-B14F-4D97-AF65-F5344CB8AC3E}">
        <p14:creationId xmlns:p14="http://schemas.microsoft.com/office/powerpoint/2010/main" val="58266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150">
                                            <p:txEl>
                                              <p:pRg st="8" end="8"/>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a:extLst>
              <a:ext uri="{FF2B5EF4-FFF2-40B4-BE49-F238E27FC236}">
                <a16:creationId xmlns:a16="http://schemas.microsoft.com/office/drawing/2014/main" id="{61BCDAD9-26E1-4D5F-B9ED-BAC73802D67B}"/>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494729" y="1196752"/>
                <a:ext cx="8469759" cy="4395049"/>
              </a:xfrm>
            </p:spPr>
            <p:txBody>
              <a:bodyPr/>
              <a:lstStyle/>
              <a:p>
                <a:r>
                  <a:rPr lang="zh-CN" altLang="en-US" dirty="0">
                    <a:latin typeface="宋体" panose="02010600030101010101" pitchFamily="2" charset="-122"/>
                  </a:rPr>
                  <a:t>指派问题的数学模型</a:t>
                </a:r>
                <a:r>
                  <a:rPr lang="zh-CN" altLang="en-US"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假设有</a:t>
                </a:r>
                <a:r>
                  <a:rPr lang="en-US" altLang="zh-CN" sz="2000" i="1"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个人恰好做</a:t>
                </a:r>
                <a:r>
                  <a:rPr lang="en-US" altLang="zh-CN" sz="2000" i="1"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项工作，第</a:t>
                </a:r>
                <a:r>
                  <a:rPr lang="en-US" altLang="zh-CN" sz="2000" i="1"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个人做第</a:t>
                </a:r>
                <a:r>
                  <a:rPr lang="en-US" altLang="zh-CN" sz="2000" i="1" dirty="0">
                    <a:latin typeface="Times New Roman" panose="02020603050405020304" pitchFamily="18" charset="0"/>
                    <a:cs typeface="Times New Roman" panose="02020603050405020304" pitchFamily="18" charset="0"/>
                  </a:rPr>
                  <a:t>j</a:t>
                </a:r>
                <a:r>
                  <a:rPr lang="zh-CN" altLang="en-US" sz="2000" dirty="0">
                    <a:latin typeface="Times New Roman" panose="02020603050405020304" pitchFamily="18" charset="0"/>
                    <a:cs typeface="Times New Roman" panose="02020603050405020304" pitchFamily="18" charset="0"/>
                  </a:rPr>
                  <a:t>项工作的效率为</a:t>
                </a:r>
                <a:r>
                  <a:rPr lang="en-US" altLang="zh-CN" sz="2000" i="1" dirty="0" err="1">
                    <a:latin typeface="Times New Roman" panose="02020603050405020304" pitchFamily="18" charset="0"/>
                    <a:cs typeface="Times New Roman" panose="02020603050405020304" pitchFamily="18" charset="0"/>
                  </a:rPr>
                  <a:t>c</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i="1" baseline="-30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，应指派哪个人完成哪项任务，使完成效率最高。</a:t>
                </a:r>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决策变量：</a:t>
                </a:r>
                <a:endParaRPr lang="en-US" altLang="zh-CN" sz="2000" dirty="0">
                  <a:latin typeface="Times New Roman" panose="02020603050405020304" pitchFamily="18" charset="0"/>
                  <a:cs typeface="Times New Roman" panose="02020603050405020304" pitchFamily="18" charset="0"/>
                </a:endParaRPr>
              </a:p>
              <a:p>
                <a:pPr lvl="1"/>
                <a:endParaRPr lang="en-US" altLang="zh-CN" sz="2000" dirty="0">
                  <a:latin typeface="Times New Roman" panose="02020603050405020304" pitchFamily="18" charset="0"/>
                  <a:cs typeface="Times New Roman" panose="02020603050405020304" pitchFamily="18" charset="0"/>
                </a:endParaRPr>
              </a:p>
              <a:p>
                <a:pPr lvl="1"/>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目标函数：</a:t>
                </a:r>
                <a14:m>
                  <m:oMath xmlns:m="http://schemas.openxmlformats.org/officeDocument/2006/math">
                    <m:r>
                      <a:rPr lang="en-US" altLang="zh-CN" sz="2000" b="1" i="0" smtClean="0">
                        <a:latin typeface="Cambria Math" panose="02040503050406030204" pitchFamily="18" charset="0"/>
                        <a:cs typeface="Times New Roman" panose="02020603050405020304" pitchFamily="18" charset="0"/>
                      </a:rPr>
                      <m:t>𝐦𝐢𝐧</m:t>
                    </m:r>
                    <m:r>
                      <a:rPr lang="en-US" altLang="zh-CN" sz="2000" b="1" i="0" smtClean="0">
                        <a:latin typeface="Cambria Math" panose="02040503050406030204" pitchFamily="18" charset="0"/>
                        <a:cs typeface="Times New Roman" panose="02020603050405020304" pitchFamily="18" charset="0"/>
                      </a:rPr>
                      <m:t> </m:t>
                    </m:r>
                    <m:r>
                      <a:rPr lang="en-US" altLang="zh-CN" sz="2000" b="1" i="0" smtClean="0">
                        <a:latin typeface="Cambria Math" panose="02040503050406030204" pitchFamily="18" charset="0"/>
                        <a:cs typeface="Times New Roman" panose="02020603050405020304" pitchFamily="18" charset="0"/>
                      </a:rPr>
                      <m:t>𝐳</m:t>
                    </m:r>
                    <m:r>
                      <a:rPr lang="en-US" altLang="zh-CN" sz="2000" b="1" i="0" smtClean="0">
                        <a:latin typeface="Cambria Math" panose="02040503050406030204" pitchFamily="18" charset="0"/>
                        <a:cs typeface="Times New Roman" panose="02020603050405020304" pitchFamily="18" charset="0"/>
                      </a:rPr>
                      <m:t>=</m:t>
                    </m:r>
                    <m:nary>
                      <m:naryPr>
                        <m:chr m:val="∑"/>
                        <m:supHide m:val="on"/>
                        <m:ctrlPr>
                          <a:rPr lang="zh-CN" altLang="en-US" sz="2000" i="1" smtClean="0">
                            <a:latin typeface="Cambria Math" panose="02040503050406030204" pitchFamily="18" charset="0"/>
                            <a:cs typeface="Times New Roman" panose="02020603050405020304" pitchFamily="18" charset="0"/>
                          </a:rPr>
                        </m:ctrlPr>
                      </m:naryPr>
                      <m:sub>
                        <m:r>
                          <m:rPr>
                            <m:brk m:alnAt="7"/>
                          </m:rPr>
                          <a:rPr lang="en-US" altLang="zh-CN" sz="2000" b="1" i="1" smtClean="0">
                            <a:latin typeface="Cambria Math" panose="02040503050406030204" pitchFamily="18" charset="0"/>
                            <a:cs typeface="Times New Roman" panose="02020603050405020304" pitchFamily="18" charset="0"/>
                          </a:rPr>
                          <m:t>𝒊</m:t>
                        </m:r>
                      </m:sub>
                      <m:sup/>
                      <m:e>
                        <m:nary>
                          <m:naryPr>
                            <m:chr m:val="∑"/>
                            <m:supHide m:val="on"/>
                            <m:ctrlPr>
                              <a:rPr lang="en-US" altLang="zh-CN" sz="2000" i="1" smtClean="0">
                                <a:latin typeface="Cambria Math" panose="02040503050406030204" pitchFamily="18" charset="0"/>
                                <a:cs typeface="Times New Roman" panose="02020603050405020304" pitchFamily="18" charset="0"/>
                              </a:rPr>
                            </m:ctrlPr>
                          </m:naryPr>
                          <m:sub>
                            <m:r>
                              <m:rPr>
                                <m:brk m:alnAt="7"/>
                              </m:rPr>
                              <a:rPr lang="en-US" altLang="zh-CN" sz="2000" b="1" i="1" smtClean="0">
                                <a:latin typeface="Cambria Math" panose="02040503050406030204" pitchFamily="18" charset="0"/>
                                <a:cs typeface="Times New Roman" panose="02020603050405020304" pitchFamily="18" charset="0"/>
                              </a:rPr>
                              <m:t>𝒋</m:t>
                            </m:r>
                          </m:sub>
                          <m:sup/>
                          <m:e>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1" i="1" smtClean="0">
                                    <a:latin typeface="Cambria Math" panose="02040503050406030204" pitchFamily="18" charset="0"/>
                                    <a:cs typeface="Times New Roman" panose="02020603050405020304" pitchFamily="18" charset="0"/>
                                  </a:rPr>
                                  <m:t>𝒄</m:t>
                                </m:r>
                              </m:e>
                              <m:sub>
                                <m:r>
                                  <a:rPr lang="en-US" altLang="zh-CN" sz="2000" b="1" i="1" smtClean="0">
                                    <a:latin typeface="Cambria Math" panose="02040503050406030204" pitchFamily="18" charset="0"/>
                                    <a:cs typeface="Times New Roman" panose="02020603050405020304" pitchFamily="18" charset="0"/>
                                  </a:rPr>
                                  <m:t>𝒊𝒋</m:t>
                                </m:r>
                              </m:sub>
                            </m:sSub>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1" i="1" smtClean="0">
                                    <a:latin typeface="Cambria Math" panose="02040503050406030204" pitchFamily="18" charset="0"/>
                                    <a:cs typeface="Times New Roman" panose="02020603050405020304" pitchFamily="18" charset="0"/>
                                  </a:rPr>
                                  <m:t>𝒙</m:t>
                                </m:r>
                              </m:e>
                              <m:sub>
                                <m:r>
                                  <a:rPr lang="en-US" altLang="zh-CN" sz="2000" b="1" i="1" smtClean="0">
                                    <a:latin typeface="Cambria Math" panose="02040503050406030204" pitchFamily="18" charset="0"/>
                                    <a:cs typeface="Times New Roman" panose="02020603050405020304" pitchFamily="18" charset="0"/>
                                  </a:rPr>
                                  <m:t>𝒊𝒋</m:t>
                                </m:r>
                              </m:sub>
                            </m:sSub>
                          </m:e>
                        </m:nary>
                      </m:e>
                    </m:nary>
                  </m:oMath>
                </a14:m>
                <a:endParaRPr lang="zh-CN" altLang="en-US" sz="2000" dirty="0">
                  <a:latin typeface="Times New Roman" panose="02020603050405020304" pitchFamily="18" charset="0"/>
                  <a:cs typeface="Times New Roman" panose="02020603050405020304" pitchFamily="18" charset="0"/>
                </a:endParaRPr>
              </a:p>
              <a:p>
                <a:pPr lvl="1"/>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约束条件：</a:t>
                </a:r>
                <a14:m>
                  <m:oMath xmlns:m="http://schemas.openxmlformats.org/officeDocument/2006/math">
                    <m:d>
                      <m:dPr>
                        <m:begChr m:val="{"/>
                        <m:endChr m:val=""/>
                        <m:ctrlPr>
                          <a:rPr lang="en-US" altLang="zh-CN" sz="2000" i="1" smtClean="0">
                            <a:latin typeface="Cambria Math" panose="02040503050406030204" pitchFamily="18" charset="0"/>
                            <a:cs typeface="Times New Roman" panose="02020603050405020304" pitchFamily="18" charset="0"/>
                          </a:rPr>
                        </m:ctrlPr>
                      </m:dPr>
                      <m:e>
                        <m:eqArr>
                          <m:eqArrPr>
                            <m:ctrlPr>
                              <a:rPr lang="en-US" altLang="zh-CN" sz="2000" i="1">
                                <a:latin typeface="Cambria Math" panose="02040503050406030204" pitchFamily="18" charset="0"/>
                                <a:cs typeface="Times New Roman" panose="02020603050405020304" pitchFamily="18" charset="0"/>
                              </a:rPr>
                            </m:ctrlPr>
                          </m:eqArrPr>
                          <m:e>
                            <m:nary>
                              <m:naryPr>
                                <m:chr m:val="∑"/>
                                <m:supHide m:val="on"/>
                                <m:ctrlPr>
                                  <a:rPr lang="en-US" altLang="zh-CN" sz="2000" i="1">
                                    <a:latin typeface="Cambria Math" panose="02040503050406030204" pitchFamily="18" charset="0"/>
                                    <a:cs typeface="Times New Roman" panose="02020603050405020304" pitchFamily="18" charset="0"/>
                                  </a:rPr>
                                </m:ctrlPr>
                              </m:naryPr>
                              <m:sub>
                                <m:r>
                                  <a:rPr lang="en-US" altLang="zh-CN" sz="2000" b="1" i="1" smtClean="0">
                                    <a:latin typeface="Cambria Math" panose="02040503050406030204" pitchFamily="18" charset="0"/>
                                    <a:cs typeface="Times New Roman" panose="02020603050405020304" pitchFamily="18" charset="0"/>
                                  </a:rPr>
                                  <m:t>𝒊</m:t>
                                </m:r>
                              </m:sub>
                              <m:sup/>
                              <m:e>
                                <m:sSub>
                                  <m:sSubPr>
                                    <m:ctrlPr>
                                      <a:rPr lang="en-US" altLang="zh-CN" sz="2000" i="1">
                                        <a:latin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cs typeface="Times New Roman" panose="02020603050405020304" pitchFamily="18" charset="0"/>
                                      </a:rPr>
                                      <m:t>𝒙</m:t>
                                    </m:r>
                                  </m:e>
                                  <m:sub>
                                    <m:r>
                                      <a:rPr lang="en-US" altLang="zh-CN" sz="2000" b="1" i="1">
                                        <a:latin typeface="Cambria Math" panose="02040503050406030204" pitchFamily="18" charset="0"/>
                                        <a:cs typeface="Times New Roman" panose="02020603050405020304" pitchFamily="18" charset="0"/>
                                      </a:rPr>
                                      <m:t>𝒊𝒋</m:t>
                                    </m:r>
                                  </m:sub>
                                </m:sSub>
                              </m:e>
                            </m:nary>
                            <m:r>
                              <a:rPr lang="en-US" altLang="zh-CN" sz="2000" b="1" i="1" smtClean="0">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cs typeface="Times New Roman" panose="02020603050405020304" pitchFamily="18" charset="0"/>
                              </a:rPr>
                              <m:t>𝟏</m:t>
                            </m:r>
                            <m:r>
                              <a:rPr lang="en-US" altLang="zh-CN" sz="2000" b="1" i="1" smtClean="0">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cs typeface="Times New Roman" panose="02020603050405020304" pitchFamily="18" charset="0"/>
                              </a:rPr>
                              <m:t>𝒋</m:t>
                            </m:r>
                            <m:r>
                              <a:rPr lang="en-US" altLang="zh-CN" sz="2000" b="1" i="1" smtClean="0">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cs typeface="Times New Roman" panose="02020603050405020304" pitchFamily="18" charset="0"/>
                              </a:rPr>
                              <m:t>𝟏</m:t>
                            </m:r>
                            <m:r>
                              <a:rPr lang="en-US" altLang="zh-CN" sz="2000" b="1" i="1" smtClean="0">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cs typeface="Times New Roman" panose="02020603050405020304" pitchFamily="18" charset="0"/>
                              </a:rPr>
                              <m:t>𝟐</m:t>
                            </m:r>
                            <m:r>
                              <a:rPr lang="en-US" altLang="zh-CN" sz="2000" b="1" i="1" smtClean="0">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ea typeface="Cambria Math" panose="02040503050406030204" pitchFamily="18" charset="0"/>
                                <a:cs typeface="Times New Roman" panose="02020603050405020304" pitchFamily="18" charset="0"/>
                              </a:rPr>
                              <m:t>𝒏</m:t>
                            </m:r>
                          </m:e>
                          <m:e>
                            <m:nary>
                              <m:naryPr>
                                <m:chr m:val="∑"/>
                                <m:supHide m:val="on"/>
                                <m:ctrlPr>
                                  <a:rPr lang="en-US" altLang="zh-CN" sz="2000" i="1">
                                    <a:latin typeface="Cambria Math" panose="02040503050406030204" pitchFamily="18" charset="0"/>
                                    <a:cs typeface="Times New Roman" panose="02020603050405020304" pitchFamily="18" charset="0"/>
                                  </a:rPr>
                                </m:ctrlPr>
                              </m:naryPr>
                              <m:sub>
                                <m:r>
                                  <a:rPr lang="en-US" altLang="zh-CN" sz="2000" b="1" i="1" smtClean="0">
                                    <a:latin typeface="Cambria Math" panose="02040503050406030204" pitchFamily="18" charset="0"/>
                                    <a:cs typeface="Times New Roman" panose="02020603050405020304" pitchFamily="18" charset="0"/>
                                  </a:rPr>
                                  <m:t>𝒋</m:t>
                                </m:r>
                              </m:sub>
                              <m:sup/>
                              <m:e>
                                <m:sSub>
                                  <m:sSubPr>
                                    <m:ctrlPr>
                                      <a:rPr lang="en-US" altLang="zh-CN" sz="2000" i="1">
                                        <a:latin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cs typeface="Times New Roman" panose="02020603050405020304" pitchFamily="18" charset="0"/>
                                      </a:rPr>
                                      <m:t>𝒙</m:t>
                                    </m:r>
                                  </m:e>
                                  <m:sub>
                                    <m:r>
                                      <a:rPr lang="en-US" altLang="zh-CN" sz="2000" b="1" i="1">
                                        <a:latin typeface="Cambria Math" panose="02040503050406030204" pitchFamily="18" charset="0"/>
                                        <a:cs typeface="Times New Roman" panose="02020603050405020304" pitchFamily="18" charset="0"/>
                                      </a:rPr>
                                      <m:t>𝒊𝒋</m:t>
                                    </m:r>
                                  </m:sub>
                                </m:sSub>
                              </m:e>
                            </m:nary>
                            <m:r>
                              <a:rPr lang="en-US" altLang="zh-CN" sz="2000" b="1" i="1">
                                <a:latin typeface="Cambria Math" panose="02040503050406030204" pitchFamily="18" charset="0"/>
                                <a:cs typeface="Times New Roman" panose="02020603050405020304" pitchFamily="18" charset="0"/>
                              </a:rPr>
                              <m:t>=</m:t>
                            </m:r>
                            <m:r>
                              <a:rPr lang="en-US" altLang="zh-CN" sz="2000" b="1" i="1">
                                <a:latin typeface="Cambria Math" panose="02040503050406030204" pitchFamily="18" charset="0"/>
                                <a:cs typeface="Times New Roman" panose="02020603050405020304" pitchFamily="18" charset="0"/>
                              </a:rPr>
                              <m:t>𝟏</m:t>
                            </m:r>
                            <m:r>
                              <a:rPr lang="en-US" altLang="zh-CN" sz="2000" b="1" i="1">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cs typeface="Times New Roman" panose="02020603050405020304" pitchFamily="18" charset="0"/>
                              </a:rPr>
                              <m:t>𝒊</m:t>
                            </m:r>
                            <m:r>
                              <a:rPr lang="en-US" altLang="zh-CN" sz="2000" b="1" i="1">
                                <a:latin typeface="Cambria Math" panose="02040503050406030204" pitchFamily="18" charset="0"/>
                                <a:cs typeface="Times New Roman" panose="02020603050405020304" pitchFamily="18" charset="0"/>
                              </a:rPr>
                              <m:t>=</m:t>
                            </m:r>
                            <m:r>
                              <a:rPr lang="en-US" altLang="zh-CN" sz="2000" b="1" i="1">
                                <a:latin typeface="Cambria Math" panose="02040503050406030204" pitchFamily="18" charset="0"/>
                                <a:cs typeface="Times New Roman" panose="02020603050405020304" pitchFamily="18" charset="0"/>
                              </a:rPr>
                              <m:t>𝟏</m:t>
                            </m:r>
                            <m:r>
                              <a:rPr lang="en-US" altLang="zh-CN" sz="2000" b="1" i="1">
                                <a:latin typeface="Cambria Math" panose="02040503050406030204" pitchFamily="18" charset="0"/>
                                <a:cs typeface="Times New Roman" panose="02020603050405020304" pitchFamily="18" charset="0"/>
                              </a:rPr>
                              <m:t>,</m:t>
                            </m:r>
                            <m:r>
                              <a:rPr lang="en-US" altLang="zh-CN" sz="2000" b="1" i="1">
                                <a:latin typeface="Cambria Math" panose="02040503050406030204" pitchFamily="18" charset="0"/>
                                <a:cs typeface="Times New Roman" panose="02020603050405020304" pitchFamily="18" charset="0"/>
                              </a:rPr>
                              <m:t>𝟐</m:t>
                            </m:r>
                            <m:r>
                              <a:rPr lang="en-US" altLang="zh-CN" sz="2000" b="1" i="1">
                                <a:latin typeface="Cambria Math" panose="02040503050406030204" pitchFamily="18" charset="0"/>
                                <a:cs typeface="Times New Roman" panose="02020603050405020304" pitchFamily="18" charset="0"/>
                              </a:rPr>
                              <m:t>,⋯</m:t>
                            </m:r>
                            <m:r>
                              <a:rPr lang="en-US" altLang="zh-CN" sz="2000" b="1" i="1">
                                <a:latin typeface="Cambria Math" panose="02040503050406030204" pitchFamily="18" charset="0"/>
                                <a:ea typeface="Cambria Math" panose="02040503050406030204" pitchFamily="18" charset="0"/>
                                <a:cs typeface="Times New Roman" panose="02020603050405020304" pitchFamily="18" charset="0"/>
                              </a:rPr>
                              <m:t>𝒏</m:t>
                            </m:r>
                          </m:e>
                          <m:e>
                            <m:sSub>
                              <m:sSubPr>
                                <m:ctrlPr>
                                  <a:rPr lang="en-US" altLang="zh-CN" sz="2000" i="1">
                                    <a:latin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cs typeface="Times New Roman" panose="02020603050405020304" pitchFamily="18" charset="0"/>
                                  </a:rPr>
                                  <m:t>𝒙</m:t>
                                </m:r>
                              </m:e>
                              <m:sub>
                                <m:r>
                                  <a:rPr lang="en-US" altLang="zh-CN" sz="2000" b="1" i="1">
                                    <a:latin typeface="Cambria Math" panose="02040503050406030204" pitchFamily="18" charset="0"/>
                                    <a:cs typeface="Times New Roman" panose="02020603050405020304" pitchFamily="18" charset="0"/>
                                  </a:rPr>
                                  <m:t>𝒊𝒋</m:t>
                                </m:r>
                              </m:sub>
                            </m:sSub>
                            <m:r>
                              <a:rPr lang="en-US" altLang="zh-CN" sz="2000" b="1" i="1" smtClean="0">
                                <a:latin typeface="Cambria Math" panose="02040503050406030204" pitchFamily="18" charset="0"/>
                                <a:cs typeface="Times New Roman" panose="02020603050405020304" pitchFamily="18" charset="0"/>
                              </a:rPr>
                              <m:t>=</m:t>
                            </m:r>
                            <m:r>
                              <a:rPr lang="en-US" altLang="zh-CN" sz="2000" b="1" i="1" smtClean="0">
                                <a:latin typeface="Cambria Math" panose="02040503050406030204" pitchFamily="18" charset="0"/>
                                <a:cs typeface="Times New Roman" panose="02020603050405020304" pitchFamily="18" charset="0"/>
                              </a:rPr>
                              <m:t>𝟏</m:t>
                            </m:r>
                            <m:r>
                              <a:rPr lang="zh-CN" altLang="en-US" sz="2000" b="1" i="1" smtClean="0">
                                <a:latin typeface="Cambria Math" panose="02040503050406030204" pitchFamily="18" charset="0"/>
                                <a:cs typeface="Times New Roman" panose="02020603050405020304" pitchFamily="18" charset="0"/>
                              </a:rPr>
                              <m:t>或</m:t>
                            </m:r>
                            <m:r>
                              <a:rPr lang="en-US" altLang="zh-CN" sz="2000" b="1" i="1" smtClean="0">
                                <a:latin typeface="Cambria Math" panose="02040503050406030204" pitchFamily="18" charset="0"/>
                                <a:cs typeface="Times New Roman" panose="02020603050405020304" pitchFamily="18" charset="0"/>
                              </a:rPr>
                              <m:t>𝟎</m:t>
                            </m:r>
                            <m:r>
                              <a:rPr lang="en-US" altLang="zh-CN" sz="2000" b="1" i="1" smtClean="0">
                                <a:latin typeface="Cambria Math" panose="02040503050406030204" pitchFamily="18" charset="0"/>
                                <a:cs typeface="Times New Roman" panose="02020603050405020304" pitchFamily="18" charset="0"/>
                              </a:rPr>
                              <m:t>                       </m:t>
                            </m:r>
                          </m:e>
                        </m:eqArr>
                      </m:e>
                    </m:d>
                  </m:oMath>
                </a14:m>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494729" y="1196752"/>
                <a:ext cx="8469759" cy="4395049"/>
              </a:xfrm>
              <a:blipFill>
                <a:blip r:embed="rId7"/>
                <a:stretch>
                  <a:fillRect l="-288" t="-1526"/>
                </a:stretch>
              </a:blipFill>
            </p:spPr>
            <p:txBody>
              <a:bodyPr/>
              <a:lstStyle/>
              <a:p>
                <a:r>
                  <a:rPr lang="zh-CN" altLang="en-US">
                    <a:noFill/>
                  </a:rPr>
                  <a:t> </a:t>
                </a:r>
              </a:p>
            </p:txBody>
          </p:sp>
        </mc:Fallback>
      </mc:AlternateContent>
      <p:sp>
        <p:nvSpPr>
          <p:cNvPr id="65539" name="灯片编号占位符 5">
            <a:extLst>
              <a:ext uri="{FF2B5EF4-FFF2-40B4-BE49-F238E27FC236}">
                <a16:creationId xmlns:a16="http://schemas.microsoft.com/office/drawing/2014/main" id="{839CF341-8C65-4E15-A076-237BA95AB89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7E2C2BA-7929-4C5B-AFCD-23911D50EC5D}" type="slidenum">
              <a:rPr lang="en-US" altLang="zh-CN" sz="1000" smtClean="0"/>
              <a:pPr>
                <a:spcBef>
                  <a:spcPct val="0"/>
                </a:spcBef>
                <a:buClrTx/>
                <a:buSzTx/>
                <a:buFontTx/>
                <a:buNone/>
              </a:pPr>
              <a:t>29</a:t>
            </a:fld>
            <a:endParaRPr lang="en-US" altLang="zh-CN" sz="1000"/>
          </a:p>
        </p:txBody>
      </p:sp>
      <p:graphicFrame>
        <p:nvGraphicFramePr>
          <p:cNvPr id="65542" name="Object 6">
            <a:extLst>
              <a:ext uri="{FF2B5EF4-FFF2-40B4-BE49-F238E27FC236}">
                <a16:creationId xmlns:a16="http://schemas.microsoft.com/office/drawing/2014/main" id="{653AD75C-76D4-437F-9F67-7BDA30F81021}"/>
              </a:ext>
            </a:extLst>
          </p:cNvPr>
          <p:cNvGraphicFramePr>
            <a:graphicFrameLocks noChangeAspect="1"/>
          </p:cNvGraphicFramePr>
          <p:nvPr>
            <p:extLst>
              <p:ext uri="{D42A27DB-BD31-4B8C-83A1-F6EECF244321}">
                <p14:modId xmlns:p14="http://schemas.microsoft.com/office/powerpoint/2010/main" val="4205207265"/>
              </p:ext>
            </p:extLst>
          </p:nvPr>
        </p:nvGraphicFramePr>
        <p:xfrm>
          <a:off x="3347864" y="2511426"/>
          <a:ext cx="3495675" cy="660400"/>
        </p:xfrm>
        <a:graphic>
          <a:graphicData uri="http://schemas.openxmlformats.org/presentationml/2006/ole">
            <mc:AlternateContent xmlns:mc="http://schemas.openxmlformats.org/markup-compatibility/2006">
              <mc:Choice xmlns:v="urn:schemas-microsoft-com:vml" Requires="v">
                <p:oleObj spid="_x0000_s25674" name="Equation" r:id="rId8" imgW="2552400" imgH="482400" progId="Equation.DSMT4">
                  <p:embed/>
                </p:oleObj>
              </mc:Choice>
              <mc:Fallback>
                <p:oleObj name="Equation" r:id="rId8" imgW="2552400" imgH="482400" progId="Equation.DSMT4">
                  <p:embed/>
                  <p:pic>
                    <p:nvPicPr>
                      <p:cNvPr id="0" name="Object 6"/>
                      <p:cNvPicPr>
                        <a:picLocks noChangeAspect="1" noChangeArrowheads="1"/>
                      </p:cNvPicPr>
                      <p:nvPr/>
                    </p:nvPicPr>
                    <p:blipFill>
                      <a:blip r:embed="rId9"/>
                      <a:srcRect/>
                      <a:stretch>
                        <a:fillRect/>
                      </a:stretch>
                    </p:blipFill>
                    <p:spPr bwMode="auto">
                      <a:xfrm>
                        <a:off x="3347864" y="2511426"/>
                        <a:ext cx="3495675" cy="660400"/>
                      </a:xfrm>
                      <a:prstGeom prst="rect">
                        <a:avLst/>
                      </a:prstGeom>
                      <a:noFill/>
                      <a:ln>
                        <a:noFill/>
                      </a:ln>
                      <a:effectLst/>
                      <a:extLst/>
                    </p:spPr>
                  </p:pic>
                </p:oleObj>
              </mc:Fallback>
            </mc:AlternateContent>
          </a:graphicData>
        </a:graphic>
      </p:graphicFrame>
      <p:sp>
        <p:nvSpPr>
          <p:cNvPr id="9" name="文本框 2">
            <a:extLst>
              <a:ext uri="{FF2B5EF4-FFF2-40B4-BE49-F238E27FC236}">
                <a16:creationId xmlns:a16="http://schemas.microsoft.com/office/drawing/2014/main" id="{A49ED846-2ECC-4F0A-B368-7ABBAB58A316}"/>
              </a:ext>
            </a:extLst>
          </p:cNvPr>
          <p:cNvSpPr txBox="1">
            <a:spLocks noChangeArrowheads="1"/>
          </p:cNvSpPr>
          <p:nvPr/>
        </p:nvSpPr>
        <p:spPr bwMode="auto">
          <a:xfrm>
            <a:off x="5004048" y="3456489"/>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en-US" altLang="zh-CN" sz="2000" b="0" dirty="0"/>
              <a:t>(6-19)</a:t>
            </a:r>
            <a:endParaRPr lang="zh-CN" altLang="en-US" sz="2000" b="0" dirty="0"/>
          </a:p>
        </p:txBody>
      </p:sp>
      <p:sp>
        <p:nvSpPr>
          <p:cNvPr id="3" name="矩形标注 2"/>
          <p:cNvSpPr/>
          <p:nvPr/>
        </p:nvSpPr>
        <p:spPr bwMode="auto">
          <a:xfrm>
            <a:off x="5878805" y="4205251"/>
            <a:ext cx="2889577" cy="417113"/>
          </a:xfrm>
          <a:prstGeom prst="wedgeRectCallout">
            <a:avLst>
              <a:gd name="adj1" fmla="val -65352"/>
              <a:gd name="adj2" fmla="val 33275"/>
            </a:avLst>
          </a:prstGeom>
          <a:solidFill>
            <a:schemeClr val="bg2">
              <a:lumMod val="20000"/>
              <a:lumOff val="8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lvl="1" eaLnBrk="1" hangingPunct="1">
              <a:spcBef>
                <a:spcPct val="20000"/>
              </a:spcBef>
              <a:buClr>
                <a:schemeClr val="bg1"/>
              </a:buClr>
              <a:buSzPct val="100000"/>
            </a:pPr>
            <a:r>
              <a:rPr lang="zh-CN" altLang="en-US" sz="2000" dirty="0">
                <a:latin typeface="Times New Roman" panose="02020603050405020304" pitchFamily="18" charset="0"/>
                <a:cs typeface="Times New Roman" panose="02020603050405020304" pitchFamily="18" charset="0"/>
              </a:rPr>
              <a:t>每项任务只能由</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人去做</a:t>
            </a:r>
            <a:endParaRPr kumimoji="0" lang="zh-CN" altLang="en-US" sz="2400" i="0" u="none" strike="noStrike" cap="none" normalizeH="0" baseline="0" dirty="0">
              <a:ln>
                <a:noFill/>
              </a:ln>
              <a:solidFill>
                <a:schemeClr val="tx1"/>
              </a:solidFill>
              <a:effectLst/>
            </a:endParaRPr>
          </a:p>
        </p:txBody>
      </p:sp>
      <p:sp>
        <p:nvSpPr>
          <p:cNvPr id="12" name="矩形标注 11"/>
          <p:cNvSpPr/>
          <p:nvPr/>
        </p:nvSpPr>
        <p:spPr bwMode="auto">
          <a:xfrm>
            <a:off x="5878805" y="4720014"/>
            <a:ext cx="2387903" cy="375722"/>
          </a:xfrm>
          <a:prstGeom prst="wedgeRectCallout">
            <a:avLst>
              <a:gd name="adj1" fmla="val -66770"/>
              <a:gd name="adj2" fmla="val 7266"/>
            </a:avLst>
          </a:prstGeom>
          <a:solidFill>
            <a:schemeClr val="bg2">
              <a:lumMod val="20000"/>
              <a:lumOff val="8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lvl="1" eaLnBrk="1" hangingPunct="1">
              <a:spcBef>
                <a:spcPct val="20000"/>
              </a:spcBef>
              <a:buClr>
                <a:schemeClr val="bg1"/>
              </a:buClr>
              <a:buSzPct val="100000"/>
            </a:pPr>
            <a:r>
              <a:rPr lang="zh-CN" altLang="en-US" sz="2000" dirty="0">
                <a:latin typeface="Times New Roman" panose="02020603050405020304" pitchFamily="18" charset="0"/>
                <a:cs typeface="Times New Roman" panose="02020603050405020304" pitchFamily="18" charset="0"/>
              </a:rPr>
              <a:t>每人只能做</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项任务</a:t>
            </a:r>
          </a:p>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a:extLst>
              <a:ext uri="{FF2B5EF4-FFF2-40B4-BE49-F238E27FC236}">
                <a16:creationId xmlns:a16="http://schemas.microsoft.com/office/drawing/2014/main" id="{913E1300-AC86-4E29-81AB-4A9D476C1F77}"/>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1" y="1052736"/>
                <a:ext cx="9144000" cy="5636287"/>
              </a:xfrm>
            </p:spPr>
            <p:txBody>
              <a:bodyPr/>
              <a:lstStyle/>
              <a:p>
                <a:pPr eaLnBrk="1" hangingPunct="1"/>
                <a:r>
                  <a:rPr lang="zh-CN" altLang="en-US" dirty="0">
                    <a:latin typeface="Times New Roman" panose="02020603050405020304" pitchFamily="18" charset="0"/>
                    <a:cs typeface="Times New Roman" panose="02020603050405020304" pitchFamily="18" charset="0"/>
                  </a:rPr>
                  <a:t>指派问题求解的理论基础：</a:t>
                </a:r>
                <a:endParaRPr lang="en-US" altLang="zh-CN" dirty="0">
                  <a:latin typeface="Times New Roman" panose="02020603050405020304" pitchFamily="18" charset="0"/>
                  <a:cs typeface="Times New Roman" panose="02020603050405020304" pitchFamily="18" charset="0"/>
                </a:endParaRPr>
              </a:p>
              <a:p>
                <a:pPr lvl="1" eaLnBrk="1" hangingPunct="1"/>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1</a:t>
                </a:r>
                <a:r>
                  <a:rPr lang="zh-CN" altLang="en-US" sz="2000" dirty="0">
                    <a:solidFill>
                      <a:srgbClr val="FF0000"/>
                    </a:solidFill>
                    <a:latin typeface="Times New Roman" panose="02020603050405020304" pitchFamily="18" charset="0"/>
                    <a:cs typeface="Times New Roman" panose="02020603050405020304" pitchFamily="18" charset="0"/>
                  </a:rPr>
                  <a:t>）最优解性质</a:t>
                </a:r>
                <a:r>
                  <a:rPr lang="zh-CN" altLang="en-US" sz="2000" dirty="0">
                    <a:latin typeface="Times New Roman" panose="02020603050405020304" pitchFamily="18" charset="0"/>
                    <a:cs typeface="Times New Roman" panose="02020603050405020304" pitchFamily="18" charset="0"/>
                  </a:rPr>
                  <a:t>：若从</a:t>
                </a:r>
                <a:r>
                  <a:rPr lang="zh-CN" altLang="en-US" sz="2000" dirty="0">
                    <a:solidFill>
                      <a:srgbClr val="FF0000"/>
                    </a:solidFill>
                    <a:latin typeface="Times New Roman" panose="02020603050405020304" pitchFamily="18" charset="0"/>
                    <a:cs typeface="Times New Roman" panose="02020603050405020304" pitchFamily="18" charset="0"/>
                  </a:rPr>
                  <a:t>系数矩阵</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c</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的一行</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列</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各元素中分别减去该行</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列</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的最小元素，得到新矩阵</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b</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，那么以</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b</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为系数矩阵求得的最优解和用原系数矩阵</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c</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求得的最优解相同。</a:t>
                </a:r>
                <a:endParaRPr lang="en-US" altLang="zh-CN" sz="2000"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证明：</a:t>
                </a:r>
                <a:endParaRPr lang="en-US" altLang="zh-CN" sz="2000" dirty="0">
                  <a:latin typeface="Times New Roman" panose="02020603050405020304" pitchFamily="18" charset="0"/>
                  <a:cs typeface="Times New Roman" panose="02020603050405020304" pitchFamily="18" charset="0"/>
                </a:endParaRPr>
              </a:p>
              <a:p>
                <a:pPr lvl="2"/>
                <a:r>
                  <a:rPr lang="zh-CN" altLang="en-US" sz="1600" dirty="0"/>
                  <a:t>设</a:t>
                </a:r>
                <a:r>
                  <a:rPr lang="en-US" altLang="zh-CN" sz="1600" b="1" i="1" dirty="0">
                    <a:latin typeface="Times New Roman" panose="02020603050405020304" pitchFamily="18" charset="0"/>
                    <a:cs typeface="Times New Roman" panose="02020603050405020304" pitchFamily="18" charset="0"/>
                  </a:rPr>
                  <a:t>C</a:t>
                </a:r>
                <a:r>
                  <a:rPr lang="zh-CN" altLang="en-US" sz="1600" dirty="0"/>
                  <a:t>的第</a:t>
                </a:r>
                <a:r>
                  <a:rPr lang="en-US" altLang="zh-CN" sz="1600" i="1" dirty="0" err="1">
                    <a:latin typeface="Times New Roman" panose="02020603050405020304" pitchFamily="18" charset="0"/>
                    <a:cs typeface="Times New Roman" panose="02020603050405020304" pitchFamily="18" charset="0"/>
                  </a:rPr>
                  <a:t>i</a:t>
                </a:r>
                <a:r>
                  <a:rPr lang="zh-CN" altLang="en-US" sz="1600" dirty="0"/>
                  <a:t>行元素都减去该行最小元素</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𝒂</m:t>
                        </m:r>
                      </m:e>
                      <m:sub>
                        <m:r>
                          <a:rPr lang="en-US" altLang="zh-CN" sz="1600" i="1">
                            <a:latin typeface="Cambria Math" panose="02040503050406030204" pitchFamily="18" charset="0"/>
                          </a:rPr>
                          <m:t>𝒊</m:t>
                        </m:r>
                      </m:sub>
                    </m:sSub>
                  </m:oMath>
                </a14:m>
                <a:r>
                  <a:rPr lang="zh-CN" altLang="en-US" sz="1600" dirty="0"/>
                  <a:t>，第</a:t>
                </a:r>
                <a:r>
                  <a:rPr lang="en-US" altLang="zh-CN" sz="1600" i="1" dirty="0">
                    <a:latin typeface="Times New Roman" panose="02020603050405020304" pitchFamily="18" charset="0"/>
                    <a:cs typeface="Times New Roman" panose="02020603050405020304" pitchFamily="18" charset="0"/>
                  </a:rPr>
                  <a:t>j</a:t>
                </a:r>
                <a:r>
                  <a:rPr lang="zh-CN" altLang="en-US" sz="1600" dirty="0"/>
                  <a:t>列元素都减去该列最小元素</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𝒃</m:t>
                        </m:r>
                      </m:e>
                      <m:sub>
                        <m:r>
                          <a:rPr lang="en-US" altLang="zh-CN" sz="1600" i="1">
                            <a:latin typeface="Cambria Math" panose="02040503050406030204" pitchFamily="18" charset="0"/>
                          </a:rPr>
                          <m:t>𝒋</m:t>
                        </m:r>
                      </m:sub>
                    </m:sSub>
                  </m:oMath>
                </a14:m>
                <a:r>
                  <a:rPr lang="zh-CN" altLang="en-US" sz="1600" dirty="0"/>
                  <a:t>，则新矩阵</a:t>
                </a:r>
                <a:r>
                  <a:rPr lang="en-US" altLang="zh-CN" sz="1600" b="1" i="1" dirty="0">
                    <a:latin typeface="Times New Roman" panose="02020603050405020304" pitchFamily="18" charset="0"/>
                    <a:cs typeface="Times New Roman" panose="02020603050405020304" pitchFamily="18" charset="0"/>
                  </a:rPr>
                  <a:t>C'</a:t>
                </a:r>
                <a:r>
                  <a:rPr lang="zh-CN" altLang="en-US" sz="1600" dirty="0"/>
                  <a:t>第</a:t>
                </a:r>
                <a:r>
                  <a:rPr lang="en-US" altLang="zh-CN" sz="1600" i="1" dirty="0">
                    <a:latin typeface="Times New Roman" panose="02020603050405020304" pitchFamily="18" charset="0"/>
                    <a:cs typeface="Times New Roman" panose="02020603050405020304" pitchFamily="18" charset="0"/>
                  </a:rPr>
                  <a:t>i</a:t>
                </a:r>
                <a:r>
                  <a:rPr lang="zh-CN" altLang="en-US" sz="1600" dirty="0"/>
                  <a:t>行第</a:t>
                </a:r>
                <a:r>
                  <a:rPr lang="en-US" altLang="zh-CN" sz="1600" i="1" dirty="0">
                    <a:latin typeface="Times New Roman" panose="02020603050405020304" pitchFamily="18" charset="0"/>
                    <a:cs typeface="Times New Roman" panose="02020603050405020304" pitchFamily="18" charset="0"/>
                  </a:rPr>
                  <a:t>j</a:t>
                </a:r>
                <a:r>
                  <a:rPr lang="zh-CN" altLang="en-US" sz="1600" dirty="0"/>
                  <a:t>列的元素为</a:t>
                </a:r>
                <a:r>
                  <a:rPr lang="en-US" altLang="zh-CN" sz="1600" b="1" i="1" dirty="0" err="1">
                    <a:latin typeface="Times New Roman" panose="02020603050405020304" pitchFamily="18" charset="0"/>
                    <a:cs typeface="Times New Roman" panose="02020603050405020304" pitchFamily="18" charset="0"/>
                  </a:rPr>
                  <a:t>C</a:t>
                </a:r>
                <a:r>
                  <a:rPr lang="en-US" altLang="zh-CN" sz="1600" b="1" i="1" baseline="-25000" dirty="0" err="1">
                    <a:latin typeface="Times New Roman" panose="02020603050405020304" pitchFamily="18" charset="0"/>
                    <a:cs typeface="Times New Roman" panose="02020603050405020304" pitchFamily="18" charset="0"/>
                  </a:rPr>
                  <a:t>ij</a:t>
                </a:r>
                <a:r>
                  <a:rPr lang="en-US" altLang="zh-CN" sz="1600" b="1" i="1" dirty="0">
                    <a:latin typeface="Times New Roman" panose="02020603050405020304" pitchFamily="18" charset="0"/>
                    <a:cs typeface="Times New Roman" panose="02020603050405020304" pitchFamily="18" charset="0"/>
                  </a:rPr>
                  <a:t>'</a:t>
                </a:r>
                <a:r>
                  <a:rPr lang="en-US" altLang="zh-CN" sz="1600" b="1" i="1" baseline="-25000" dirty="0">
                    <a:latin typeface="Times New Roman" panose="02020603050405020304" pitchFamily="18" charset="0"/>
                    <a:cs typeface="Times New Roman" panose="02020603050405020304" pitchFamily="18" charset="0"/>
                  </a:rPr>
                  <a:t> </a:t>
                </a:r>
                <a:r>
                  <a:rPr lang="en-US" altLang="zh-CN" sz="1600" dirty="0"/>
                  <a:t>=</a:t>
                </a:r>
                <a14:m>
                  <m:oMath xmlns:m="http://schemas.openxmlformats.org/officeDocument/2006/math">
                    <m:sSub>
                      <m:sSubPr>
                        <m:ctrlPr>
                          <a:rPr lang="en-US" altLang="zh-CN" sz="1600" i="1">
                            <a:latin typeface="Cambria Math" panose="02040503050406030204" pitchFamily="18" charset="0"/>
                          </a:rPr>
                        </m:ctrlPr>
                      </m:sSub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𝑪</m:t>
                            </m:r>
                          </m:e>
                          <m:sub>
                            <m:r>
                              <a:rPr lang="en-US" altLang="zh-CN" sz="1600" i="1">
                                <a:latin typeface="Cambria Math" panose="02040503050406030204" pitchFamily="18" charset="0"/>
                              </a:rPr>
                              <m:t>𝒊𝒋</m:t>
                            </m:r>
                          </m:sub>
                        </m:sSub>
                        <m:r>
                          <a:rPr lang="en-US" altLang="zh-CN" sz="1600" i="1">
                            <a:latin typeface="Cambria Math" panose="02040503050406030204" pitchFamily="18" charset="0"/>
                          </a:rPr>
                          <m:t>−</m:t>
                        </m:r>
                        <m:r>
                          <a:rPr lang="en-US" altLang="zh-CN" sz="1600" i="1">
                            <a:latin typeface="Cambria Math" panose="02040503050406030204" pitchFamily="18" charset="0"/>
                          </a:rPr>
                          <m:t>𝒂</m:t>
                        </m:r>
                      </m:e>
                      <m:sub>
                        <m:r>
                          <a:rPr lang="en-US" altLang="zh-CN" sz="1600" i="1">
                            <a:latin typeface="Cambria Math" panose="02040503050406030204" pitchFamily="18" charset="0"/>
                          </a:rPr>
                          <m:t>𝒊</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𝒃</m:t>
                        </m:r>
                      </m:e>
                      <m:sub>
                        <m:r>
                          <a:rPr lang="en-US" altLang="zh-CN" sz="1600" i="1">
                            <a:latin typeface="Cambria Math" panose="02040503050406030204" pitchFamily="18" charset="0"/>
                          </a:rPr>
                          <m:t>𝒋</m:t>
                        </m:r>
                      </m:sub>
                    </m:sSub>
                  </m:oMath>
                </a14:m>
                <a:endParaRPr lang="en-US" altLang="zh-CN" sz="1600" dirty="0"/>
              </a:p>
              <a:p>
                <a:pPr lvl="2"/>
                <a:r>
                  <a:rPr lang="zh-CN" altLang="en-US" sz="1600" dirty="0"/>
                  <a:t>以</a:t>
                </a:r>
                <a:r>
                  <a:rPr lang="en-US" altLang="zh-CN" sz="1600" i="1" dirty="0">
                    <a:latin typeface="Times New Roman" panose="02020603050405020304" pitchFamily="18" charset="0"/>
                    <a:cs typeface="Times New Roman" panose="02020603050405020304" pitchFamily="18" charset="0"/>
                  </a:rPr>
                  <a:t>C'</a:t>
                </a:r>
                <a:r>
                  <a:rPr lang="zh-CN" altLang="en-US" sz="1600" dirty="0"/>
                  <a:t>为效率矩阵的指派问题的目标函数为</a:t>
                </a:r>
                <a:r>
                  <a:rPr lang="en-US" altLang="zh-CN" sz="1600" i="1" dirty="0">
                    <a:latin typeface="Times New Roman" panose="02020603050405020304" pitchFamily="18" charset="0"/>
                    <a:cs typeface="Times New Roman" panose="02020603050405020304" pitchFamily="18" charset="0"/>
                  </a:rPr>
                  <a:t>Z'</a:t>
                </a:r>
                <a:r>
                  <a:rPr lang="en-US" altLang="zh-CN" sz="1600" i="1" baseline="-25000" dirty="0">
                    <a:latin typeface="Times New Roman" panose="02020603050405020304" pitchFamily="18" charset="0"/>
                    <a:cs typeface="Times New Roman" panose="02020603050405020304" pitchFamily="18" charset="0"/>
                  </a:rPr>
                  <a:t> </a:t>
                </a:r>
                <a:r>
                  <a:rPr lang="en-US" altLang="zh-CN" sz="1600" dirty="0"/>
                  <a:t>=</a:t>
                </a:r>
                <a14:m>
                  <m:oMath xmlns:m="http://schemas.openxmlformats.org/officeDocument/2006/math">
                    <m:nary>
                      <m:naryPr>
                        <m:chr m:val="∑"/>
                        <m:subHide m:val="on"/>
                        <m:supHide m:val="on"/>
                        <m:ctrlPr>
                          <a:rPr lang="en-US" altLang="zh-CN" sz="1600" i="1" dirty="0" smtClean="0">
                            <a:latin typeface="Cambria Math" panose="02040503050406030204" pitchFamily="18" charset="0"/>
                          </a:rPr>
                        </m:ctrlPr>
                      </m:naryPr>
                      <m:sub/>
                      <m:sup/>
                      <m:e>
                        <m:nary>
                          <m:naryPr>
                            <m:chr m:val="∑"/>
                            <m:subHide m:val="on"/>
                            <m:supHide m:val="on"/>
                            <m:ctrlPr>
                              <a:rPr lang="en-US" altLang="zh-CN" sz="1600" i="1" dirty="0" smtClean="0">
                                <a:latin typeface="Cambria Math" panose="02040503050406030204" pitchFamily="18" charset="0"/>
                              </a:rPr>
                            </m:ctrlPr>
                          </m:naryPr>
                          <m:sub/>
                          <m:sup/>
                          <m:e>
                            <m:r>
                              <m:rPr>
                                <m:nor/>
                              </m:rPr>
                              <a:rPr lang="en-US" altLang="zh-CN" sz="1600" b="1" i="1" dirty="0">
                                <a:latin typeface="Times New Roman" panose="02020603050405020304" pitchFamily="18" charset="0"/>
                                <a:cs typeface="Times New Roman" panose="02020603050405020304" pitchFamily="18" charset="0"/>
                              </a:rPr>
                              <m:t>C</m:t>
                            </m:r>
                            <m:r>
                              <m:rPr>
                                <m:nor/>
                              </m:rPr>
                              <a:rPr lang="en-US" altLang="zh-CN" sz="1600" b="1" i="1" baseline="-25000" dirty="0">
                                <a:latin typeface="Times New Roman" panose="02020603050405020304" pitchFamily="18" charset="0"/>
                                <a:cs typeface="Times New Roman" panose="02020603050405020304" pitchFamily="18" charset="0"/>
                              </a:rPr>
                              <m:t>ij</m:t>
                            </m:r>
                            <m:r>
                              <m:rPr>
                                <m:nor/>
                              </m:rPr>
                              <a:rPr lang="en-US" altLang="zh-CN" sz="1600" b="1" i="1" dirty="0">
                                <a:latin typeface="Times New Roman" panose="02020603050405020304" pitchFamily="18" charset="0"/>
                                <a:cs typeface="Times New Roman" panose="020206030504050203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𝒙</m:t>
                                </m:r>
                              </m:e>
                              <m:sub>
                                <m:r>
                                  <a:rPr lang="en-US" altLang="zh-CN" sz="1600" i="1">
                                    <a:latin typeface="Cambria Math" panose="02040503050406030204" pitchFamily="18" charset="0"/>
                                  </a:rPr>
                                  <m:t>𝒊𝒋</m:t>
                                </m:r>
                              </m:sub>
                            </m:sSub>
                          </m:e>
                        </m:nary>
                      </m:e>
                    </m:nary>
                  </m:oMath>
                </a14:m>
                <a:r>
                  <a:rPr lang="en-US" altLang="zh-CN" sz="1600" i="1" dirty="0">
                    <a:latin typeface="Times New Roman" panose="02020603050405020304" pitchFamily="18" charset="0"/>
                    <a:cs typeface="Times New Roman" panose="02020603050405020304" pitchFamily="18" charset="0"/>
                  </a:rPr>
                  <a:t> </a:t>
                </a:r>
                <a:r>
                  <a:rPr lang="en-US" altLang="zh-CN" sz="1600" dirty="0"/>
                  <a:t>=</a:t>
                </a:r>
                <a14:m>
                  <m:oMath xmlns:m="http://schemas.openxmlformats.org/officeDocument/2006/math">
                    <m:nary>
                      <m:naryPr>
                        <m:chr m:val="∑"/>
                        <m:subHide m:val="on"/>
                        <m:supHide m:val="on"/>
                        <m:ctrlPr>
                          <a:rPr lang="en-US" altLang="zh-CN" sz="1600" i="1" dirty="0">
                            <a:latin typeface="Cambria Math" panose="02040503050406030204" pitchFamily="18" charset="0"/>
                          </a:rPr>
                        </m:ctrlPr>
                      </m:naryPr>
                      <m:sub/>
                      <m:sup/>
                      <m:e>
                        <m:nary>
                          <m:naryPr>
                            <m:chr m:val="∑"/>
                            <m:subHide m:val="on"/>
                            <m:supHide m:val="on"/>
                            <m:ctrlPr>
                              <a:rPr lang="en-US" altLang="zh-CN" sz="1600" i="1" dirty="0">
                                <a:latin typeface="Cambria Math" panose="02040503050406030204" pitchFamily="18" charset="0"/>
                              </a:rPr>
                            </m:ctrlPr>
                          </m:naryPr>
                          <m:sub/>
                          <m:sup/>
                          <m:e>
                            <m:r>
                              <m:rPr>
                                <m:nor/>
                              </m:rPr>
                              <a:rPr lang="en-US" altLang="zh-CN" sz="1600" dirty="0"/>
                              <m:t>(</m:t>
                            </m:r>
                            <m:sSub>
                              <m:sSubPr>
                                <m:ctrlPr>
                                  <a:rPr lang="en-US" altLang="zh-CN" sz="1600" i="1">
                                    <a:latin typeface="Cambria Math" panose="02040503050406030204" pitchFamily="18" charset="0"/>
                                  </a:rPr>
                                </m:ctrlPr>
                              </m:sSub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𝑪</m:t>
                                    </m:r>
                                  </m:e>
                                  <m:sub>
                                    <m:r>
                                      <a:rPr lang="en-US" altLang="zh-CN" sz="1600" i="1">
                                        <a:latin typeface="Cambria Math" panose="02040503050406030204" pitchFamily="18" charset="0"/>
                                      </a:rPr>
                                      <m:t>𝒊𝒋</m:t>
                                    </m:r>
                                  </m:sub>
                                </m:sSub>
                                <m:r>
                                  <a:rPr lang="en-US" altLang="zh-CN" sz="1600" i="1">
                                    <a:latin typeface="Cambria Math" panose="02040503050406030204" pitchFamily="18" charset="0"/>
                                  </a:rPr>
                                  <m:t>−</m:t>
                                </m:r>
                                <m:r>
                                  <a:rPr lang="en-US" altLang="zh-CN" sz="1600" i="1">
                                    <a:latin typeface="Cambria Math" panose="02040503050406030204" pitchFamily="18" charset="0"/>
                                  </a:rPr>
                                  <m:t>𝒂</m:t>
                                </m:r>
                              </m:e>
                              <m:sub>
                                <m:r>
                                  <a:rPr lang="en-US" altLang="zh-CN" sz="1600" i="1">
                                    <a:latin typeface="Cambria Math" panose="02040503050406030204" pitchFamily="18" charset="0"/>
                                  </a:rPr>
                                  <m:t>𝒊</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𝒃</m:t>
                                </m:r>
                              </m:e>
                              <m:sub>
                                <m:r>
                                  <a:rPr lang="en-US" altLang="zh-CN" sz="1600" i="1">
                                    <a:latin typeface="Cambria Math" panose="02040503050406030204" pitchFamily="18" charset="0"/>
                                  </a:rPr>
                                  <m:t>𝒋</m:t>
                                </m:r>
                              </m:sub>
                            </m:sSub>
                            <m:r>
                              <m:rPr>
                                <m:nor/>
                              </m:rPr>
                              <a:rPr lang="en-US" altLang="zh-CN" sz="1600" dirty="0"/>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𝒙</m:t>
                                </m:r>
                              </m:e>
                              <m:sub>
                                <m:r>
                                  <a:rPr lang="en-US" altLang="zh-CN" sz="1600" i="1">
                                    <a:latin typeface="Cambria Math" panose="02040503050406030204" pitchFamily="18" charset="0"/>
                                  </a:rPr>
                                  <m:t>𝒊𝒋</m:t>
                                </m:r>
                              </m:sub>
                            </m:sSub>
                          </m:e>
                        </m:nary>
                      </m:e>
                    </m:nary>
                  </m:oMath>
                </a14:m>
                <a:r>
                  <a:rPr lang="en-US" altLang="zh-CN" sz="1600" dirty="0"/>
                  <a:t>=∑∑</a:t>
                </a:r>
                <a:r>
                  <a:rPr lang="en-US" altLang="zh-CN" sz="1600" i="1" dirty="0">
                    <a:latin typeface="Times New Roman" panose="02020603050405020304" pitchFamily="18" charset="0"/>
                    <a:cs typeface="Times New Roman" panose="02020603050405020304" pitchFamily="18" charset="0"/>
                  </a:rPr>
                  <a:t> </a:t>
                </a:r>
                <a:r>
                  <a:rPr lang="en-US" altLang="zh-CN" sz="1600" b="1" i="1" dirty="0" err="1">
                    <a:latin typeface="Times New Roman" panose="02020603050405020304" pitchFamily="18" charset="0"/>
                    <a:cs typeface="Times New Roman" panose="02020603050405020304" pitchFamily="18" charset="0"/>
                  </a:rPr>
                  <a:t>C</a:t>
                </a:r>
                <a:r>
                  <a:rPr lang="en-US" altLang="zh-CN" sz="1600" b="1" i="1" baseline="-25000" dirty="0" err="1">
                    <a:latin typeface="Times New Roman" panose="02020603050405020304" pitchFamily="18" charset="0"/>
                    <a:cs typeface="Times New Roman" panose="02020603050405020304" pitchFamily="18" charset="0"/>
                  </a:rPr>
                  <a:t>ij</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𝒙</m:t>
                        </m:r>
                      </m:e>
                      <m:sub>
                        <m:r>
                          <a:rPr lang="en-US" altLang="zh-CN" sz="1600" i="1">
                            <a:latin typeface="Cambria Math" panose="02040503050406030204" pitchFamily="18" charset="0"/>
                          </a:rPr>
                          <m:t>𝒊𝒋</m:t>
                        </m:r>
                      </m:sub>
                    </m:sSub>
                  </m:oMath>
                </a14:m>
                <a:r>
                  <a:rPr lang="en-US" altLang="zh-CN" sz="1600" dirty="0"/>
                  <a:t>-</a:t>
                </a:r>
                <a14:m>
                  <m:oMath xmlns:m="http://schemas.openxmlformats.org/officeDocument/2006/math">
                    <m:nary>
                      <m:naryPr>
                        <m:chr m:val="∑"/>
                        <m:subHide m:val="on"/>
                        <m:supHide m:val="on"/>
                        <m:ctrlPr>
                          <a:rPr lang="en-US" altLang="zh-CN" sz="1600" i="1" dirty="0">
                            <a:latin typeface="Cambria Math" panose="02040503050406030204" pitchFamily="18" charset="0"/>
                          </a:rPr>
                        </m:ctrlPr>
                      </m:naryPr>
                      <m:sub/>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𝒂</m:t>
                            </m:r>
                          </m:e>
                          <m:sub>
                            <m:r>
                              <a:rPr lang="en-US" altLang="zh-CN" sz="1600" i="1">
                                <a:latin typeface="Cambria Math" panose="02040503050406030204" pitchFamily="18" charset="0"/>
                              </a:rPr>
                              <m:t>𝒊</m:t>
                            </m:r>
                          </m:sub>
                        </m:sSub>
                      </m:e>
                    </m:nary>
                  </m:oMath>
                </a14:m>
                <a:r>
                  <a:rPr lang="en-US" altLang="zh-CN" sz="1600" dirty="0"/>
                  <a:t>-</a:t>
                </a:r>
                <a14:m>
                  <m:oMath xmlns:m="http://schemas.openxmlformats.org/officeDocument/2006/math">
                    <m:nary>
                      <m:naryPr>
                        <m:chr m:val="∑"/>
                        <m:subHide m:val="on"/>
                        <m:supHide m:val="on"/>
                        <m:ctrlPr>
                          <a:rPr lang="en-US" altLang="zh-CN" sz="1600" i="1" dirty="0">
                            <a:latin typeface="Cambria Math" panose="02040503050406030204" pitchFamily="18" charset="0"/>
                          </a:rPr>
                        </m:ctrlPr>
                      </m:naryPr>
                      <m:sub/>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𝒃</m:t>
                            </m:r>
                          </m:e>
                          <m:sub>
                            <m:r>
                              <a:rPr lang="en-US" altLang="zh-CN" sz="1600" i="1">
                                <a:latin typeface="Cambria Math" panose="02040503050406030204" pitchFamily="18" charset="0"/>
                              </a:rPr>
                              <m:t>𝒋</m:t>
                            </m:r>
                          </m:sub>
                        </m:sSub>
                      </m:e>
                    </m:nary>
                  </m:oMath>
                </a14:m>
                <a:r>
                  <a:rPr lang="en-US" altLang="zh-CN" sz="1600" dirty="0"/>
                  <a:t>=Z-</a:t>
                </a:r>
                <a14:m>
                  <m:oMath xmlns:m="http://schemas.openxmlformats.org/officeDocument/2006/math">
                    <m:nary>
                      <m:naryPr>
                        <m:chr m:val="∑"/>
                        <m:subHide m:val="on"/>
                        <m:supHide m:val="on"/>
                        <m:ctrlPr>
                          <a:rPr lang="en-US" altLang="zh-CN" sz="1600" i="1" dirty="0">
                            <a:latin typeface="Cambria Math" panose="02040503050406030204" pitchFamily="18" charset="0"/>
                          </a:rPr>
                        </m:ctrlPr>
                      </m:naryPr>
                      <m:sub/>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𝒂</m:t>
                            </m:r>
                          </m:e>
                          <m:sub>
                            <m:r>
                              <a:rPr lang="en-US" altLang="zh-CN" sz="1600" i="1">
                                <a:latin typeface="Cambria Math" panose="02040503050406030204" pitchFamily="18" charset="0"/>
                              </a:rPr>
                              <m:t>𝒊</m:t>
                            </m:r>
                          </m:sub>
                        </m:sSub>
                      </m:e>
                    </m:nary>
                  </m:oMath>
                </a14:m>
                <a:r>
                  <a:rPr lang="en-US" altLang="zh-CN" sz="1600" dirty="0"/>
                  <a:t>-</a:t>
                </a:r>
                <a14:m>
                  <m:oMath xmlns:m="http://schemas.openxmlformats.org/officeDocument/2006/math">
                    <m:nary>
                      <m:naryPr>
                        <m:chr m:val="∑"/>
                        <m:subHide m:val="on"/>
                        <m:supHide m:val="on"/>
                        <m:ctrlPr>
                          <a:rPr lang="en-US" altLang="zh-CN" sz="1600" i="1" dirty="0">
                            <a:latin typeface="Cambria Math" panose="02040503050406030204" pitchFamily="18" charset="0"/>
                          </a:rPr>
                        </m:ctrlPr>
                      </m:naryPr>
                      <m:sub/>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𝒃</m:t>
                            </m:r>
                          </m:e>
                          <m:sub>
                            <m:r>
                              <a:rPr lang="en-US" altLang="zh-CN" sz="1600" i="1">
                                <a:latin typeface="Cambria Math" panose="02040503050406030204" pitchFamily="18" charset="0"/>
                              </a:rPr>
                              <m:t>𝒋</m:t>
                            </m:r>
                          </m:sub>
                        </m:sSub>
                      </m:e>
                    </m:nary>
                  </m:oMath>
                </a14:m>
                <a:endParaRPr lang="en-US" altLang="zh-CN" sz="1600" dirty="0"/>
              </a:p>
              <a:p>
                <a:pPr lvl="2"/>
                <a:r>
                  <a:rPr lang="zh-CN" altLang="en-US" sz="1600" dirty="0"/>
                  <a:t>可见新问题的最优解与原问题的最优解相同，只是目标值相差一个常数。</a:t>
                </a:r>
                <a:endParaRPr lang="en-US" altLang="zh-CN" sz="1600"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在 </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b</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中每行和每列都至少含有一个</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元素，称</a:t>
                </a:r>
                <a:r>
                  <a:rPr lang="zh-CN" altLang="en-US" sz="2000" dirty="0">
                    <a:solidFill>
                      <a:srgbClr val="FF0000"/>
                    </a:solidFill>
                    <a:latin typeface="Times New Roman" panose="02020603050405020304" pitchFamily="18" charset="0"/>
                    <a:cs typeface="Times New Roman" panose="02020603050405020304" pitchFamily="18" charset="0"/>
                  </a:rPr>
                  <a:t>位于不同行不同列的</a:t>
                </a:r>
                <a:r>
                  <a:rPr lang="en-US" altLang="zh-CN" sz="2000" dirty="0">
                    <a:solidFill>
                      <a:srgbClr val="FF0000"/>
                    </a:solidFill>
                    <a:latin typeface="Times New Roman" panose="02020603050405020304" pitchFamily="18" charset="0"/>
                    <a:cs typeface="Times New Roman" panose="02020603050405020304" pitchFamily="18" charset="0"/>
                  </a:rPr>
                  <a:t>0</a:t>
                </a:r>
                <a:r>
                  <a:rPr lang="zh-CN" altLang="en-US" sz="2000" dirty="0">
                    <a:solidFill>
                      <a:srgbClr val="FF0000"/>
                    </a:solidFill>
                    <a:latin typeface="Times New Roman" panose="02020603050405020304" pitchFamily="18" charset="0"/>
                    <a:cs typeface="Times New Roman" panose="02020603050405020304" pitchFamily="18" charset="0"/>
                  </a:rPr>
                  <a:t>元素</a:t>
                </a:r>
                <a:r>
                  <a:rPr lang="zh-CN" altLang="en-US" sz="2000" dirty="0">
                    <a:latin typeface="Times New Roman" panose="02020603050405020304" pitchFamily="18" charset="0"/>
                    <a:cs typeface="Times New Roman" panose="02020603050405020304" pitchFamily="18" charset="0"/>
                  </a:rPr>
                  <a:t>为</a:t>
                </a:r>
                <a:r>
                  <a:rPr lang="zh-CN" altLang="en-US" sz="2000" dirty="0">
                    <a:solidFill>
                      <a:srgbClr val="FF0000"/>
                    </a:solidFill>
                    <a:latin typeface="Times New Roman" panose="02020603050405020304" pitchFamily="18" charset="0"/>
                    <a:cs typeface="Times New Roman" panose="02020603050405020304" pitchFamily="18" charset="0"/>
                  </a:rPr>
                  <a:t>独立的</a:t>
                </a:r>
                <a:r>
                  <a:rPr lang="en-US" altLang="zh-CN" sz="2000" dirty="0">
                    <a:solidFill>
                      <a:srgbClr val="FF0000"/>
                    </a:solidFill>
                    <a:latin typeface="Times New Roman" panose="02020603050405020304" pitchFamily="18" charset="0"/>
                    <a:cs typeface="Times New Roman" panose="02020603050405020304" pitchFamily="18" charset="0"/>
                  </a:rPr>
                  <a:t>0</a:t>
                </a:r>
                <a:r>
                  <a:rPr lang="zh-CN" altLang="en-US" sz="2000" dirty="0">
                    <a:solidFill>
                      <a:srgbClr val="FF0000"/>
                    </a:solidFill>
                    <a:latin typeface="Times New Roman" panose="02020603050405020304" pitchFamily="18" charset="0"/>
                    <a:cs typeface="Times New Roman" panose="02020603050405020304" pitchFamily="18" charset="0"/>
                  </a:rPr>
                  <a:t>元素</a:t>
                </a:r>
                <a:r>
                  <a:rPr lang="zh-CN" altLang="en-US" sz="2000" dirty="0">
                    <a:latin typeface="Times New Roman" panose="02020603050405020304" pitchFamily="18" charset="0"/>
                    <a:cs typeface="Times New Roman" panose="02020603050405020304" pitchFamily="18" charset="0"/>
                  </a:rPr>
                  <a:t>。</a:t>
                </a:r>
              </a:p>
              <a:p>
                <a:pPr lvl="1" algn="just" eaLnBrk="1" hangingPunct="1"/>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）若</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b</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中有</a:t>
                </a:r>
                <a:r>
                  <a:rPr lang="en-US" altLang="zh-CN" sz="2000"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个独立的</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元素；则令解矩阵</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x</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中对应这</a:t>
                </a:r>
                <a:r>
                  <a:rPr lang="en-US" altLang="zh-CN" sz="2000"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个独立的</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元素的元素取值为</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，其他元素取值为</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。将其代入目标函数中得到</a:t>
                </a:r>
                <a:r>
                  <a:rPr lang="en-US" altLang="zh-CN" sz="2000" i="1" dirty="0" err="1">
                    <a:latin typeface="Times New Roman" panose="02020603050405020304" pitchFamily="18" charset="0"/>
                    <a:cs typeface="Times New Roman" panose="02020603050405020304" pitchFamily="18" charset="0"/>
                  </a:rPr>
                  <a:t>z</a:t>
                </a:r>
                <a:r>
                  <a:rPr lang="en-US" altLang="zh-CN" sz="2000" i="1" baseline="-30000" dirty="0" err="1">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，它一定是最小。这就是以</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b</a:t>
                </a:r>
                <a:r>
                  <a:rPr lang="en-US" altLang="zh-CN" sz="2000" i="1" baseline="-30000" dirty="0" err="1">
                    <a:latin typeface="Times New Roman" panose="02020603050405020304" pitchFamily="18" charset="0"/>
                    <a:cs typeface="Times New Roman" panose="02020603050405020304" pitchFamily="18" charset="0"/>
                  </a:rPr>
                  <a:t>ij</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为系数矩阵的指派问题的最优解。也就得到了原问题的最优解。</a:t>
                </a:r>
                <a:endParaRPr lang="en-US" altLang="zh-CN" sz="2000" dirty="0">
                  <a:latin typeface="Times New Roman" panose="02020603050405020304" pitchFamily="18" charset="0"/>
                  <a:cs typeface="Times New Roman" panose="02020603050405020304" pitchFamily="18" charset="0"/>
                </a:endParaRPr>
              </a:p>
              <a:p>
                <a:pPr lvl="1" algn="just" eaLnBrk="1" hangingPunct="1"/>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）矩阵中独立</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元素的最多个数等于能覆盖所有</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元素的最少直线数。</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1" y="1052736"/>
                <a:ext cx="9144000" cy="5636287"/>
              </a:xfrm>
              <a:blipFill>
                <a:blip r:embed="rId3"/>
                <a:stretch>
                  <a:fillRect l="-267" t="-1190" r="-1533" b="-1082"/>
                </a:stretch>
              </a:blipFill>
            </p:spPr>
            <p:txBody>
              <a:bodyPr/>
              <a:lstStyle/>
              <a:p>
                <a:r>
                  <a:rPr lang="zh-CN" altLang="en-US">
                    <a:noFill/>
                  </a:rPr>
                  <a:t> </a:t>
                </a:r>
              </a:p>
            </p:txBody>
          </p:sp>
        </mc:Fallback>
      </mc:AlternateContent>
      <p:sp>
        <p:nvSpPr>
          <p:cNvPr id="68611" name="灯片编号占位符 5">
            <a:extLst>
              <a:ext uri="{FF2B5EF4-FFF2-40B4-BE49-F238E27FC236}">
                <a16:creationId xmlns:a16="http://schemas.microsoft.com/office/drawing/2014/main" id="{56E35E58-D678-4EBA-91A3-32A22B5A39B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95368C6-4F7A-4700-A9FE-A54114FC5808}" type="slidenum">
              <a:rPr lang="en-US" altLang="zh-CN" sz="1000" smtClean="0"/>
              <a:pPr>
                <a:spcBef>
                  <a:spcPct val="0"/>
                </a:spcBef>
                <a:buClrTx/>
                <a:buSzTx/>
                <a:buFontTx/>
                <a:buNone/>
              </a:pPr>
              <a:t>30</a:t>
            </a:fld>
            <a:endParaRPr lang="en-US" altLang="zh-CN" sz="1000"/>
          </a:p>
        </p:txBody>
      </p:sp>
      <mc:AlternateContent xmlns:mc="http://schemas.openxmlformats.org/markup-compatibility/2006" xmlns:a14="http://schemas.microsoft.com/office/drawing/2010/main">
        <mc:Choice Requires="a14">
          <p:sp>
            <p:nvSpPr>
              <p:cNvPr id="4" name="矩形 3"/>
              <p:cNvSpPr/>
              <p:nvPr/>
            </p:nvSpPr>
            <p:spPr>
              <a:xfrm>
                <a:off x="3851920" y="201602"/>
                <a:ext cx="2376265" cy="79983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cs typeface="Times New Roman" panose="02020603050405020304" pitchFamily="18" charset="0"/>
                        </a:rPr>
                        <m:t>𝐦𝐢𝐧</m:t>
                      </m:r>
                      <m:r>
                        <a:rPr lang="en-US" altLang="zh-CN" sz="1800">
                          <a:latin typeface="Cambria Math" panose="02040503050406030204" pitchFamily="18" charset="0"/>
                          <a:cs typeface="Times New Roman" panose="02020603050405020304" pitchFamily="18" charset="0"/>
                        </a:rPr>
                        <m:t> </m:t>
                      </m:r>
                      <m:r>
                        <a:rPr lang="en-US" altLang="zh-CN" sz="1800">
                          <a:latin typeface="Cambria Math" panose="02040503050406030204" pitchFamily="18" charset="0"/>
                          <a:cs typeface="Times New Roman" panose="02020603050405020304" pitchFamily="18" charset="0"/>
                        </a:rPr>
                        <m:t>𝐳</m:t>
                      </m:r>
                      <m:r>
                        <a:rPr lang="en-US" altLang="zh-CN" sz="1800">
                          <a:latin typeface="Cambria Math" panose="02040503050406030204" pitchFamily="18" charset="0"/>
                          <a:cs typeface="Times New Roman" panose="02020603050405020304" pitchFamily="18" charset="0"/>
                        </a:rPr>
                        <m:t>=</m:t>
                      </m:r>
                      <m:nary>
                        <m:naryPr>
                          <m:chr m:val="∑"/>
                          <m:supHide m:val="on"/>
                          <m:ctrlPr>
                            <a:rPr lang="zh-CN" altLang="en-US" sz="1800" i="1">
                              <a:latin typeface="Cambria Math" panose="02040503050406030204" pitchFamily="18" charset="0"/>
                              <a:cs typeface="Times New Roman" panose="02020603050405020304" pitchFamily="18" charset="0"/>
                            </a:rPr>
                          </m:ctrlPr>
                        </m:naryPr>
                        <m:sub>
                          <m:r>
                            <m:rPr>
                              <m:brk m:alnAt="7"/>
                            </m:rPr>
                            <a:rPr lang="en-US" altLang="zh-CN" sz="1800" i="1">
                              <a:latin typeface="Cambria Math" panose="02040503050406030204" pitchFamily="18" charset="0"/>
                              <a:cs typeface="Times New Roman" panose="02020603050405020304" pitchFamily="18" charset="0"/>
                            </a:rPr>
                            <m:t>𝒊</m:t>
                          </m:r>
                        </m:sub>
                        <m:sup/>
                        <m:e>
                          <m:nary>
                            <m:naryPr>
                              <m:chr m:val="∑"/>
                              <m:supHide m:val="on"/>
                              <m:ctrlPr>
                                <a:rPr lang="en-US" altLang="zh-CN" sz="1800" i="1">
                                  <a:latin typeface="Cambria Math" panose="02040503050406030204" pitchFamily="18" charset="0"/>
                                  <a:cs typeface="Times New Roman" panose="02020603050405020304" pitchFamily="18" charset="0"/>
                                </a:rPr>
                              </m:ctrlPr>
                            </m:naryPr>
                            <m:sub>
                              <m:r>
                                <m:rPr>
                                  <m:brk m:alnAt="7"/>
                                </m:rPr>
                                <a:rPr lang="en-US" altLang="zh-CN" sz="1800" i="1">
                                  <a:latin typeface="Cambria Math" panose="02040503050406030204" pitchFamily="18" charset="0"/>
                                  <a:cs typeface="Times New Roman" panose="02020603050405020304" pitchFamily="18" charset="0"/>
                                </a:rPr>
                                <m:t>𝒋</m:t>
                              </m:r>
                            </m:sub>
                            <m:sup/>
                            <m:e>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𝒄</m:t>
                                  </m:r>
                                </m:e>
                                <m:sub>
                                  <m:r>
                                    <a:rPr lang="en-US" altLang="zh-CN" sz="1800" i="1">
                                      <a:latin typeface="Cambria Math" panose="02040503050406030204" pitchFamily="18" charset="0"/>
                                      <a:cs typeface="Times New Roman" panose="02020603050405020304" pitchFamily="18" charset="0"/>
                                    </a:rPr>
                                    <m:t>𝒊𝒋</m:t>
                                  </m:r>
                                </m:sub>
                              </m:sSub>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𝒙</m:t>
                                  </m:r>
                                </m:e>
                                <m:sub>
                                  <m:r>
                                    <a:rPr lang="en-US" altLang="zh-CN" sz="1800" i="1">
                                      <a:latin typeface="Cambria Math" panose="02040503050406030204" pitchFamily="18" charset="0"/>
                                      <a:cs typeface="Times New Roman" panose="02020603050405020304" pitchFamily="18" charset="0"/>
                                    </a:rPr>
                                    <m:t>𝒊𝒋</m:t>
                                  </m:r>
                                </m:sub>
                              </m:sSub>
                            </m:e>
                          </m:nary>
                        </m:e>
                      </m:nary>
                    </m:oMath>
                  </m:oMathPara>
                </a14:m>
                <a:endParaRPr lang="zh-CN" altLang="en-US" sz="1800" dirty="0"/>
              </a:p>
            </p:txBody>
          </p:sp>
        </mc:Choice>
        <mc:Fallback xmlns="">
          <p:sp>
            <p:nvSpPr>
              <p:cNvPr id="4" name="矩形 3"/>
              <p:cNvSpPr>
                <a:spLocks noRot="1" noChangeAspect="1" noMove="1" noResize="1" noEditPoints="1" noAdjustHandles="1" noChangeArrowheads="1" noChangeShapeType="1" noTextEdit="1"/>
              </p:cNvSpPr>
              <p:nvPr/>
            </p:nvSpPr>
            <p:spPr>
              <a:xfrm>
                <a:off x="3851920" y="201602"/>
                <a:ext cx="2376265" cy="79983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6389645" y="-171400"/>
                <a:ext cx="2487348" cy="17108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1600" i="1">
                              <a:latin typeface="Cambria Math" panose="02040503050406030204" pitchFamily="18" charset="0"/>
                              <a:cs typeface="Times New Roman" panose="02020603050405020304" pitchFamily="18" charset="0"/>
                            </a:rPr>
                          </m:ctrlPr>
                        </m:dPr>
                        <m:e>
                          <m:eqArr>
                            <m:eqArrPr>
                              <m:ctrlPr>
                                <a:rPr lang="en-US" altLang="zh-CN" sz="1600" i="1">
                                  <a:latin typeface="Cambria Math" panose="02040503050406030204" pitchFamily="18" charset="0"/>
                                  <a:cs typeface="Times New Roman" panose="02020603050405020304" pitchFamily="18" charset="0"/>
                                </a:rPr>
                              </m:ctrlPr>
                            </m:eqArrPr>
                            <m:e>
                              <m:nary>
                                <m:naryPr>
                                  <m:chr m:val="∑"/>
                                  <m:supHide m:val="on"/>
                                  <m:ctrlPr>
                                    <a:rPr lang="en-US" altLang="zh-CN" sz="1600" i="1">
                                      <a:latin typeface="Cambria Math" panose="02040503050406030204" pitchFamily="18" charset="0"/>
                                      <a:cs typeface="Times New Roman" panose="02020603050405020304" pitchFamily="18" charset="0"/>
                                    </a:rPr>
                                  </m:ctrlPr>
                                </m:naryPr>
                                <m:sub>
                                  <m:r>
                                    <a:rPr lang="en-US" altLang="zh-CN" sz="1600" i="1">
                                      <a:latin typeface="Cambria Math" panose="02040503050406030204" pitchFamily="18" charset="0"/>
                                      <a:cs typeface="Times New Roman" panose="02020603050405020304" pitchFamily="18" charset="0"/>
                                    </a:rPr>
                                    <m:t>𝒊</m:t>
                                  </m:r>
                                </m:sub>
                                <m:sup/>
                                <m:e>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𝒙</m:t>
                                      </m:r>
                                    </m:e>
                                    <m:sub>
                                      <m:r>
                                        <a:rPr lang="en-US" altLang="zh-CN" sz="1600" i="1">
                                          <a:latin typeface="Cambria Math" panose="02040503050406030204" pitchFamily="18" charset="0"/>
                                          <a:cs typeface="Times New Roman" panose="02020603050405020304" pitchFamily="18" charset="0"/>
                                        </a:rPr>
                                        <m:t>𝒊𝒋</m:t>
                                      </m:r>
                                    </m:sub>
                                  </m:sSub>
                                </m:e>
                              </m:nary>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𝟏</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𝒋</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𝟏</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𝟐</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𝒏</m:t>
                              </m:r>
                            </m:e>
                            <m:e>
                              <m:nary>
                                <m:naryPr>
                                  <m:chr m:val="∑"/>
                                  <m:supHide m:val="on"/>
                                  <m:ctrlPr>
                                    <a:rPr lang="en-US" altLang="zh-CN" sz="1600" i="1">
                                      <a:latin typeface="Cambria Math" panose="02040503050406030204" pitchFamily="18" charset="0"/>
                                      <a:cs typeface="Times New Roman" panose="02020603050405020304" pitchFamily="18" charset="0"/>
                                    </a:rPr>
                                  </m:ctrlPr>
                                </m:naryPr>
                                <m:sub>
                                  <m:r>
                                    <a:rPr lang="en-US" altLang="zh-CN" sz="1600" i="1">
                                      <a:latin typeface="Cambria Math" panose="02040503050406030204" pitchFamily="18" charset="0"/>
                                      <a:cs typeface="Times New Roman" panose="02020603050405020304" pitchFamily="18" charset="0"/>
                                    </a:rPr>
                                    <m:t>𝒋</m:t>
                                  </m:r>
                                </m:sub>
                                <m:sup/>
                                <m:e>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𝒙</m:t>
                                      </m:r>
                                    </m:e>
                                    <m:sub>
                                      <m:r>
                                        <a:rPr lang="en-US" altLang="zh-CN" sz="1600" i="1">
                                          <a:latin typeface="Cambria Math" panose="02040503050406030204" pitchFamily="18" charset="0"/>
                                          <a:cs typeface="Times New Roman" panose="02020603050405020304" pitchFamily="18" charset="0"/>
                                        </a:rPr>
                                        <m:t>𝒊𝒋</m:t>
                                      </m:r>
                                    </m:sub>
                                  </m:sSub>
                                </m:e>
                              </m:nary>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𝟏</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𝒊</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𝟏</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𝟐</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𝒏</m:t>
                              </m:r>
                            </m:e>
                            <m:e>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𝒙</m:t>
                                  </m:r>
                                </m:e>
                                <m:sub>
                                  <m:r>
                                    <a:rPr lang="en-US" altLang="zh-CN" sz="1600" i="1">
                                      <a:latin typeface="Cambria Math" panose="02040503050406030204" pitchFamily="18" charset="0"/>
                                      <a:cs typeface="Times New Roman" panose="02020603050405020304" pitchFamily="18" charset="0"/>
                                    </a:rPr>
                                    <m:t>𝒊𝒋</m:t>
                                  </m:r>
                                </m:sub>
                              </m:sSub>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𝟏</m:t>
                              </m:r>
                              <m:r>
                                <a:rPr lang="zh-CN" altLang="en-US" sz="1600" i="1">
                                  <a:latin typeface="Cambria Math" panose="02040503050406030204" pitchFamily="18" charset="0"/>
                                  <a:cs typeface="Times New Roman" panose="02020603050405020304" pitchFamily="18" charset="0"/>
                                </a:rPr>
                                <m:t>或</m:t>
                              </m:r>
                              <m:r>
                                <a:rPr lang="en-US" altLang="zh-CN" sz="1600" i="1">
                                  <a:latin typeface="Cambria Math" panose="02040503050406030204" pitchFamily="18" charset="0"/>
                                  <a:cs typeface="Times New Roman" panose="02020603050405020304" pitchFamily="18" charset="0"/>
                                </a:rPr>
                                <m:t>𝟎</m:t>
                              </m:r>
                              <m:r>
                                <a:rPr lang="en-US" altLang="zh-CN" sz="1600" i="1">
                                  <a:latin typeface="Cambria Math" panose="02040503050406030204" pitchFamily="18" charset="0"/>
                                  <a:cs typeface="Times New Roman" panose="02020603050405020304" pitchFamily="18" charset="0"/>
                                </a:rPr>
                                <m:t>                       </m:t>
                              </m:r>
                            </m:e>
                          </m:eqArr>
                        </m:e>
                      </m:d>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6389645" y="-171400"/>
                <a:ext cx="2487348" cy="1710853"/>
              </a:xfrm>
              <a:prstGeom prst="rect">
                <a:avLst/>
              </a:prstGeom>
              <a:blipFill>
                <a:blip r:embed="rId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指派问题</a:t>
            </a:r>
            <a:r>
              <a:rPr lang="en-US" altLang="zh-CN" dirty="0"/>
              <a:t>——</a:t>
            </a:r>
            <a:r>
              <a:rPr lang="zh-CN" altLang="en-US" dirty="0"/>
              <a:t>匈牙利算法</a:t>
            </a:r>
          </a:p>
        </p:txBody>
      </p:sp>
      <p:sp>
        <p:nvSpPr>
          <p:cNvPr id="3" name="内容占位符 2"/>
          <p:cNvSpPr>
            <a:spLocks noGrp="1"/>
          </p:cNvSpPr>
          <p:nvPr>
            <p:ph idx="1"/>
          </p:nvPr>
        </p:nvSpPr>
        <p:spPr>
          <a:xfrm>
            <a:off x="0" y="1196752"/>
            <a:ext cx="9144000" cy="5975995"/>
          </a:xfrm>
        </p:spPr>
        <p:txBody>
          <a:bodyPr/>
          <a:lstStyle/>
          <a:p>
            <a:r>
              <a:rPr lang="zh-CN" altLang="en-US" dirty="0">
                <a:latin typeface="Times New Roman" panose="02020603050405020304" pitchFamily="18" charset="0"/>
                <a:cs typeface="Times New Roman" panose="02020603050405020304" pitchFamily="18" charset="0"/>
              </a:rPr>
              <a:t>指派问题求解步骤：</a:t>
            </a:r>
            <a:endParaRPr lang="en-US" altLang="zh-CN" sz="2000" dirty="0"/>
          </a:p>
          <a:p>
            <a:pPr lvl="1"/>
            <a:r>
              <a:rPr lang="zh-CN" altLang="en-US" sz="1800" dirty="0"/>
              <a:t>步骤一：</a:t>
            </a:r>
            <a:r>
              <a:rPr lang="zh-CN" altLang="en-US" sz="1800" dirty="0">
                <a:solidFill>
                  <a:srgbClr val="FF0000"/>
                </a:solidFill>
                <a:latin typeface="宋体" panose="02010600030101010101" pitchFamily="2" charset="-122"/>
              </a:rPr>
              <a:t>使系数矩阵经变换，在各行各列中都出现</a:t>
            </a:r>
            <a:r>
              <a:rPr lang="en-US" altLang="zh-CN" sz="1800" dirty="0">
                <a:solidFill>
                  <a:srgbClr val="FF0000"/>
                </a:solidFill>
                <a:latin typeface="宋体" panose="02010600030101010101" pitchFamily="2" charset="-122"/>
              </a:rPr>
              <a:t>0</a:t>
            </a:r>
            <a:r>
              <a:rPr lang="zh-CN" altLang="en-US" sz="1800" dirty="0">
                <a:solidFill>
                  <a:srgbClr val="FF0000"/>
                </a:solidFill>
                <a:latin typeface="宋体" panose="02010600030101010101" pitchFamily="2" charset="-122"/>
              </a:rPr>
              <a:t>元素。</a:t>
            </a:r>
            <a:endParaRPr lang="en-US" altLang="zh-CN" sz="1800" dirty="0">
              <a:solidFill>
                <a:srgbClr val="FF0000"/>
              </a:solidFill>
              <a:latin typeface="宋体" panose="02010600030101010101" pitchFamily="2" charset="-122"/>
            </a:endParaRPr>
          </a:p>
          <a:p>
            <a:pPr lvl="2">
              <a:spcBef>
                <a:spcPts val="200"/>
              </a:spcBef>
            </a:pPr>
            <a:r>
              <a:rPr lang="en-US" altLang="zh-CN" sz="1600" dirty="0"/>
              <a:t>(1)</a:t>
            </a:r>
            <a:r>
              <a:rPr lang="zh-CN" altLang="en-US" sz="1600" dirty="0">
                <a:latin typeface="宋体" panose="02010600030101010101" pitchFamily="2" charset="-122"/>
              </a:rPr>
              <a:t>从系数矩阵的每行元素减去该行的最小元素；</a:t>
            </a:r>
            <a:endParaRPr lang="en-US" altLang="zh-CN" sz="1600" dirty="0">
              <a:latin typeface="宋体" panose="02010600030101010101" pitchFamily="2" charset="-122"/>
            </a:endParaRPr>
          </a:p>
          <a:p>
            <a:pPr lvl="2">
              <a:spcBef>
                <a:spcPts val="200"/>
              </a:spcBef>
            </a:pPr>
            <a:r>
              <a:rPr lang="en-US" altLang="zh-CN" sz="1600" dirty="0"/>
              <a:t>(2)</a:t>
            </a:r>
            <a:r>
              <a:rPr lang="zh-CN" altLang="en-US" sz="1600" dirty="0">
                <a:latin typeface="宋体" panose="02010600030101010101" pitchFamily="2" charset="-122"/>
              </a:rPr>
              <a:t>再从所得系数矩阵的每列元素中减去该列的最小元素。</a:t>
            </a:r>
            <a:endParaRPr lang="en-US" altLang="zh-CN" sz="1600" dirty="0">
              <a:latin typeface="宋体" panose="02010600030101010101" pitchFamily="2" charset="-122"/>
            </a:endParaRPr>
          </a:p>
          <a:p>
            <a:pPr lvl="2">
              <a:spcBef>
                <a:spcPts val="200"/>
              </a:spcBef>
            </a:pPr>
            <a:r>
              <a:rPr lang="en-US" altLang="zh-CN" sz="1600" dirty="0"/>
              <a:t>(3)</a:t>
            </a:r>
            <a:r>
              <a:rPr lang="zh-CN" altLang="en-US" sz="1600" dirty="0">
                <a:latin typeface="宋体" panose="02010600030101010101" pitchFamily="2" charset="-122"/>
              </a:rPr>
              <a:t>若某行</a:t>
            </a:r>
            <a:r>
              <a:rPr lang="en-US" altLang="zh-CN" sz="1600" dirty="0">
                <a:latin typeface="宋体" panose="02010600030101010101" pitchFamily="2" charset="-122"/>
              </a:rPr>
              <a:t>(</a:t>
            </a:r>
            <a:r>
              <a:rPr lang="zh-CN" altLang="en-US" sz="1600" dirty="0">
                <a:latin typeface="宋体" panose="02010600030101010101" pitchFamily="2" charset="-122"/>
              </a:rPr>
              <a:t>列</a:t>
            </a:r>
            <a:r>
              <a:rPr lang="en-US" altLang="zh-CN" sz="1600" dirty="0">
                <a:latin typeface="宋体" panose="02010600030101010101" pitchFamily="2" charset="-122"/>
              </a:rPr>
              <a:t>)</a:t>
            </a:r>
            <a:r>
              <a:rPr lang="zh-CN" altLang="en-US" sz="1600" dirty="0">
                <a:latin typeface="宋体" panose="02010600030101010101" pitchFamily="2" charset="-122"/>
              </a:rPr>
              <a:t>已有</a:t>
            </a:r>
            <a:r>
              <a:rPr lang="en-US" altLang="zh-CN" sz="1600" dirty="0">
                <a:latin typeface="宋体" panose="02010600030101010101" pitchFamily="2" charset="-122"/>
              </a:rPr>
              <a:t>0</a:t>
            </a:r>
            <a:r>
              <a:rPr lang="zh-CN" altLang="en-US" sz="1600" dirty="0">
                <a:latin typeface="宋体" panose="02010600030101010101" pitchFamily="2" charset="-122"/>
              </a:rPr>
              <a:t>元素，那就不必再减了。</a:t>
            </a:r>
            <a:endParaRPr lang="en-US" altLang="zh-CN" sz="1200" dirty="0"/>
          </a:p>
          <a:p>
            <a:pPr lvl="1"/>
            <a:r>
              <a:rPr lang="zh-CN" altLang="en-US" sz="1800" dirty="0"/>
              <a:t>步骤二：</a:t>
            </a:r>
            <a:r>
              <a:rPr lang="zh-CN" altLang="en-US" sz="1800" dirty="0">
                <a:solidFill>
                  <a:srgbClr val="FF0000"/>
                </a:solidFill>
              </a:rPr>
              <a:t>试指派寻最优解</a:t>
            </a:r>
            <a:r>
              <a:rPr lang="zh-CN" altLang="en-US" sz="1800" dirty="0">
                <a:solidFill>
                  <a:srgbClr val="FF0000"/>
                </a:solidFill>
                <a:latin typeface="Times New Roman" panose="02020603050405020304" pitchFamily="18" charset="0"/>
                <a:cs typeface="Times New Roman" panose="02020603050405020304" pitchFamily="18" charset="0"/>
              </a:rPr>
              <a:t>。</a:t>
            </a:r>
            <a:endParaRPr lang="en-US" altLang="zh-CN" sz="1800" dirty="0">
              <a:solidFill>
                <a:srgbClr val="FF0000"/>
              </a:solidFill>
            </a:endParaRPr>
          </a:p>
          <a:p>
            <a:pPr lvl="2">
              <a:spcBef>
                <a:spcPts val="200"/>
              </a:spcBef>
            </a:pPr>
            <a:r>
              <a:rPr lang="en-US" altLang="zh-CN" sz="1600" dirty="0"/>
              <a:t>(1)</a:t>
            </a:r>
            <a:r>
              <a:rPr lang="zh-CN" altLang="en-US" sz="1600" dirty="0"/>
              <a:t>找只有一个</a:t>
            </a:r>
            <a:r>
              <a:rPr lang="en-US" altLang="zh-CN" sz="1600" dirty="0"/>
              <a:t>0</a:t>
            </a:r>
            <a:r>
              <a:rPr lang="zh-CN" altLang="en-US" sz="1600" dirty="0"/>
              <a:t>元素的</a:t>
            </a:r>
            <a:r>
              <a:rPr lang="zh-CN" altLang="en-US" sz="1600" dirty="0">
                <a:solidFill>
                  <a:srgbClr val="FF0000"/>
                </a:solidFill>
              </a:rPr>
              <a:t>行</a:t>
            </a:r>
            <a:r>
              <a:rPr lang="zh-CN" altLang="en-US" sz="1600" dirty="0"/>
              <a:t>，给这个</a:t>
            </a:r>
            <a:r>
              <a:rPr lang="en-US" altLang="zh-CN" sz="1600" dirty="0"/>
              <a:t>0</a:t>
            </a:r>
            <a:r>
              <a:rPr lang="zh-CN" altLang="en-US" sz="1600" dirty="0"/>
              <a:t>元素画圈，记作</a:t>
            </a:r>
            <a:r>
              <a:rPr lang="zh-CN" altLang="en-US" sz="1600" dirty="0">
                <a:latin typeface="Times New Roman" panose="02020603050405020304" pitchFamily="18" charset="0"/>
                <a:cs typeface="Times New Roman" panose="02020603050405020304" pitchFamily="18" charset="0"/>
              </a:rPr>
              <a:t>◎ </a:t>
            </a:r>
            <a:r>
              <a:rPr lang="zh-CN" altLang="en-US" sz="1600" dirty="0"/>
              <a:t>，同时直线划去该</a:t>
            </a:r>
            <a:r>
              <a:rPr lang="zh-CN" altLang="en-US" sz="1600" dirty="0">
                <a:solidFill>
                  <a:srgbClr val="FF0000"/>
                </a:solidFill>
              </a:rPr>
              <a:t>列</a:t>
            </a:r>
            <a:endParaRPr lang="en-US" altLang="zh-CN" sz="1600" dirty="0"/>
          </a:p>
          <a:p>
            <a:pPr lvl="2">
              <a:spcBef>
                <a:spcPts val="200"/>
              </a:spcBef>
            </a:pPr>
            <a:r>
              <a:rPr lang="en-US" altLang="zh-CN" sz="1600" dirty="0"/>
              <a:t>(2)</a:t>
            </a:r>
            <a:r>
              <a:rPr lang="zh-CN" altLang="en-US" sz="1600" dirty="0"/>
              <a:t>找只有一个</a:t>
            </a:r>
            <a:r>
              <a:rPr lang="en-US" altLang="zh-CN" sz="1600" dirty="0"/>
              <a:t>0</a:t>
            </a:r>
            <a:r>
              <a:rPr lang="zh-CN" altLang="en-US" sz="1600" dirty="0"/>
              <a:t>元素的</a:t>
            </a:r>
            <a:r>
              <a:rPr lang="zh-CN" altLang="en-US" sz="1600" dirty="0">
                <a:solidFill>
                  <a:srgbClr val="FF0000"/>
                </a:solidFill>
              </a:rPr>
              <a:t>列</a:t>
            </a:r>
            <a:r>
              <a:rPr lang="zh-CN" altLang="en-US" sz="1600" dirty="0"/>
              <a:t>，给这个</a:t>
            </a:r>
            <a:r>
              <a:rPr lang="en-US" altLang="zh-CN" sz="1600" dirty="0"/>
              <a:t>0</a:t>
            </a:r>
            <a:r>
              <a:rPr lang="zh-CN" altLang="en-US" sz="1600" dirty="0"/>
              <a:t>元素画圈，记作</a:t>
            </a:r>
            <a:r>
              <a:rPr lang="zh-CN" altLang="en-US" sz="1600" dirty="0">
                <a:latin typeface="Times New Roman" panose="02020603050405020304" pitchFamily="18" charset="0"/>
                <a:cs typeface="Times New Roman" panose="02020603050405020304" pitchFamily="18" charset="0"/>
              </a:rPr>
              <a:t>◎ </a:t>
            </a:r>
            <a:r>
              <a:rPr lang="zh-CN" altLang="en-US" sz="1600" dirty="0"/>
              <a:t>，同时直线划去该</a:t>
            </a:r>
            <a:r>
              <a:rPr lang="zh-CN" altLang="en-US" sz="1600" dirty="0">
                <a:solidFill>
                  <a:srgbClr val="FF0000"/>
                </a:solidFill>
              </a:rPr>
              <a:t>行</a:t>
            </a:r>
            <a:endParaRPr lang="en-US" altLang="zh-CN" sz="1600" dirty="0"/>
          </a:p>
          <a:p>
            <a:pPr lvl="2">
              <a:spcBef>
                <a:spcPts val="200"/>
              </a:spcBef>
            </a:pPr>
            <a:r>
              <a:rPr lang="en-US" altLang="zh-CN" sz="1600" dirty="0"/>
              <a:t>(3)</a:t>
            </a:r>
            <a:r>
              <a:rPr lang="zh-CN" altLang="en-US" sz="1600" dirty="0"/>
              <a:t>反复进行前两个小步骤，直到没有只有一个</a:t>
            </a:r>
            <a:r>
              <a:rPr lang="en-US" altLang="zh-CN" sz="1600" dirty="0"/>
              <a:t>0</a:t>
            </a:r>
            <a:r>
              <a:rPr lang="zh-CN" altLang="en-US" sz="1600" dirty="0"/>
              <a:t>元素的行或列。</a:t>
            </a:r>
            <a:endParaRPr lang="en-US" altLang="zh-CN" sz="1600" dirty="0"/>
          </a:p>
          <a:p>
            <a:pPr lvl="2">
              <a:spcBef>
                <a:spcPts val="200"/>
              </a:spcBef>
            </a:pPr>
            <a:r>
              <a:rPr lang="en-US" altLang="zh-CN" sz="1600" dirty="0"/>
              <a:t>(4)</a:t>
            </a:r>
            <a:r>
              <a:rPr lang="zh-CN" altLang="en-US" sz="1600" dirty="0"/>
              <a:t>若还存在没有划去的</a:t>
            </a:r>
            <a:r>
              <a:rPr lang="en-US" altLang="zh-CN" sz="1600" dirty="0"/>
              <a:t>0</a:t>
            </a:r>
            <a:r>
              <a:rPr lang="zh-CN" altLang="en-US" sz="1600" dirty="0"/>
              <a:t>元素，且同行（列）的</a:t>
            </a:r>
            <a:r>
              <a:rPr lang="en-US" altLang="zh-CN" sz="1600" dirty="0"/>
              <a:t>0</a:t>
            </a:r>
            <a:r>
              <a:rPr lang="zh-CN" altLang="en-US" sz="1600" dirty="0"/>
              <a:t>元素至少有两个，从剩余</a:t>
            </a:r>
            <a:r>
              <a:rPr lang="en-US" altLang="zh-CN" sz="1600" dirty="0"/>
              <a:t>0</a:t>
            </a:r>
            <a:r>
              <a:rPr lang="zh-CN" altLang="en-US" sz="1600" dirty="0"/>
              <a:t>元素最少得行（列）开始，比较这行（列）</a:t>
            </a:r>
            <a:r>
              <a:rPr lang="en-US" altLang="zh-CN" sz="1600" dirty="0"/>
              <a:t>0</a:t>
            </a:r>
            <a:r>
              <a:rPr lang="zh-CN" altLang="en-US" sz="1600" dirty="0"/>
              <a:t>元素所在列（行）中</a:t>
            </a:r>
            <a:r>
              <a:rPr lang="en-US" altLang="zh-CN" sz="1600" dirty="0"/>
              <a:t>0</a:t>
            </a:r>
            <a:r>
              <a:rPr lang="zh-CN" altLang="en-US" sz="1600" dirty="0"/>
              <a:t>元素的数目，选择</a:t>
            </a:r>
            <a:r>
              <a:rPr lang="en-US" altLang="zh-CN" sz="1600" dirty="0"/>
              <a:t>0</a:t>
            </a:r>
            <a:r>
              <a:rPr lang="zh-CN" altLang="en-US" sz="1600" dirty="0"/>
              <a:t>元素最少得那列（行）的这个</a:t>
            </a:r>
            <a:r>
              <a:rPr lang="en-US" altLang="zh-CN" sz="1600" dirty="0"/>
              <a:t>0</a:t>
            </a:r>
            <a:r>
              <a:rPr lang="zh-CN" altLang="en-US" sz="1600" dirty="0"/>
              <a:t>元素画圈，</a:t>
            </a:r>
            <a:r>
              <a:rPr lang="zh-CN" altLang="en-US" sz="1600" dirty="0">
                <a:solidFill>
                  <a:srgbClr val="FF0000"/>
                </a:solidFill>
              </a:rPr>
              <a:t>同时直线划去该行该列</a:t>
            </a:r>
            <a:r>
              <a:rPr lang="zh-CN" altLang="en-US" sz="1600" dirty="0"/>
              <a:t>。反复进行，直到所有</a:t>
            </a:r>
            <a:r>
              <a:rPr lang="en-US" altLang="zh-CN" sz="1600" dirty="0"/>
              <a:t>0</a:t>
            </a:r>
            <a:r>
              <a:rPr lang="zh-CN" altLang="en-US" sz="1600" dirty="0"/>
              <a:t>元素被划掉。</a:t>
            </a:r>
            <a:endParaRPr lang="en-US" altLang="zh-CN" sz="1600" dirty="0"/>
          </a:p>
          <a:p>
            <a:pPr lvl="2">
              <a:spcBef>
                <a:spcPts val="200"/>
              </a:spcBef>
            </a:pPr>
            <a:r>
              <a:rPr lang="en-US" altLang="zh-CN" sz="1600" dirty="0"/>
              <a:t>(5)</a:t>
            </a:r>
            <a:r>
              <a:rPr lang="zh-CN" altLang="en-US" sz="1600" dirty="0"/>
              <a:t>若画圈元素的数目</a:t>
            </a:r>
            <a:r>
              <a:rPr lang="en-US" altLang="zh-CN" sz="1600" dirty="0"/>
              <a:t>m</a:t>
            </a:r>
            <a:r>
              <a:rPr lang="zh-CN" altLang="en-US" sz="1600" dirty="0"/>
              <a:t>等于矩阵阶数</a:t>
            </a:r>
            <a:r>
              <a:rPr lang="en-US" altLang="zh-CN" sz="1600" dirty="0"/>
              <a:t>n</a:t>
            </a:r>
            <a:r>
              <a:rPr lang="zh-CN" altLang="en-US" sz="1600" dirty="0"/>
              <a:t>，指派问题最优解找到。否则进入步骤三。</a:t>
            </a:r>
            <a:endParaRPr lang="en-US" altLang="zh-CN" sz="1600" dirty="0"/>
          </a:p>
          <a:p>
            <a:pPr lvl="1" algn="just" eaLnBrk="1" hangingPunct="1"/>
            <a:r>
              <a:rPr lang="zh-CN" altLang="en-US" sz="1800" dirty="0">
                <a:latin typeface="宋体" panose="02010600030101010101" pitchFamily="2" charset="-122"/>
              </a:rPr>
              <a:t>步骤三：</a:t>
            </a:r>
            <a:r>
              <a:rPr lang="zh-CN" altLang="en-US" sz="1800" dirty="0">
                <a:solidFill>
                  <a:srgbClr val="FF0000"/>
                </a:solidFill>
                <a:latin typeface="宋体" panose="02010600030101010101" pitchFamily="2" charset="-122"/>
              </a:rPr>
              <a:t>增加</a:t>
            </a:r>
            <a:r>
              <a:rPr lang="en-US" altLang="zh-CN" sz="1800" dirty="0">
                <a:solidFill>
                  <a:srgbClr val="FF0000"/>
                </a:solidFill>
                <a:latin typeface="宋体" panose="02010600030101010101" pitchFamily="2" charset="-122"/>
              </a:rPr>
              <a:t>0</a:t>
            </a:r>
            <a:r>
              <a:rPr lang="zh-CN" altLang="en-US" sz="1800" dirty="0">
                <a:solidFill>
                  <a:srgbClr val="FF0000"/>
                </a:solidFill>
                <a:latin typeface="宋体" panose="02010600030101010101" pitchFamily="2" charset="-122"/>
              </a:rPr>
              <a:t>元素</a:t>
            </a:r>
            <a:r>
              <a:rPr lang="zh-CN" altLang="en-US" sz="1800" dirty="0">
                <a:latin typeface="宋体" panose="02010600030101010101" pitchFamily="2" charset="-122"/>
              </a:rPr>
              <a:t>。</a:t>
            </a:r>
            <a:endParaRPr lang="en-US" altLang="zh-CN" sz="1800" dirty="0">
              <a:latin typeface="宋体" panose="02010600030101010101" pitchFamily="2" charset="-122"/>
            </a:endParaRPr>
          </a:p>
          <a:p>
            <a:pPr lvl="2" algn="just" eaLnBrk="1" hangingPunct="1">
              <a:spcBef>
                <a:spcPts val="200"/>
              </a:spcBef>
            </a:pPr>
            <a:r>
              <a:rPr lang="en-US" altLang="zh-CN" sz="1600" dirty="0"/>
              <a:t>(1)</a:t>
            </a:r>
            <a:r>
              <a:rPr lang="zh-CN" altLang="en-US" sz="1600" dirty="0">
                <a:latin typeface="宋体" panose="02010600030101010101" pitchFamily="2" charset="-122"/>
              </a:rPr>
              <a:t>在没有被直线覆盖的部分中找出最小元素。</a:t>
            </a:r>
            <a:endParaRPr lang="en-US" altLang="zh-CN" sz="1600" dirty="0">
              <a:latin typeface="宋体" panose="02010600030101010101" pitchFamily="2" charset="-122"/>
            </a:endParaRPr>
          </a:p>
          <a:p>
            <a:pPr lvl="2" algn="just" eaLnBrk="1" hangingPunct="1">
              <a:spcBef>
                <a:spcPts val="200"/>
              </a:spcBef>
            </a:pPr>
            <a:r>
              <a:rPr lang="en-US" altLang="zh-CN" sz="1600" dirty="0"/>
              <a:t>(2)</a:t>
            </a:r>
            <a:r>
              <a:rPr lang="zh-CN" altLang="en-US" sz="1600" dirty="0">
                <a:latin typeface="宋体" panose="02010600030101010101" pitchFamily="2" charset="-122"/>
              </a:rPr>
              <a:t>在没有被直线覆盖的各元素中都减去这最小元素</a:t>
            </a:r>
            <a:endParaRPr lang="en-US" altLang="zh-CN" sz="1600" dirty="0">
              <a:latin typeface="宋体" panose="02010600030101010101" pitchFamily="2" charset="-122"/>
            </a:endParaRPr>
          </a:p>
          <a:p>
            <a:pPr lvl="2" algn="just" eaLnBrk="1" hangingPunct="1">
              <a:spcBef>
                <a:spcPts val="200"/>
              </a:spcBef>
            </a:pPr>
            <a:r>
              <a:rPr lang="en-US" altLang="zh-CN" sz="1600" dirty="0"/>
              <a:t>(3)</a:t>
            </a:r>
            <a:r>
              <a:rPr lang="zh-CN" altLang="en-US" sz="1600" dirty="0">
                <a:latin typeface="宋体" panose="02010600030101010101" pitchFamily="2" charset="-122"/>
              </a:rPr>
              <a:t>在双直线覆盖的各元素都加上这最小元素</a:t>
            </a:r>
            <a:endParaRPr lang="en-US" altLang="zh-CN" sz="1600" dirty="0">
              <a:latin typeface="宋体" panose="02010600030101010101" pitchFamily="2" charset="-122"/>
            </a:endParaRPr>
          </a:p>
          <a:p>
            <a:pPr lvl="2" algn="just" eaLnBrk="1" hangingPunct="1">
              <a:spcBef>
                <a:spcPts val="200"/>
              </a:spcBef>
            </a:pPr>
            <a:r>
              <a:rPr lang="zh-CN" altLang="en-US" sz="1600" dirty="0">
                <a:latin typeface="宋体" panose="02010600030101010101" pitchFamily="2" charset="-122"/>
              </a:rPr>
              <a:t>这样得到新系数矩阵</a:t>
            </a:r>
            <a:r>
              <a:rPr lang="en-US" altLang="zh-CN" sz="1600" dirty="0">
                <a:latin typeface="宋体" panose="02010600030101010101" pitchFamily="2" charset="-122"/>
              </a:rPr>
              <a:t>(</a:t>
            </a:r>
            <a:r>
              <a:rPr lang="zh-CN" altLang="en-US" sz="1600" dirty="0">
                <a:latin typeface="宋体" panose="02010600030101010101" pitchFamily="2" charset="-122"/>
              </a:rPr>
              <a:t>它的最优解和原问题相同</a:t>
            </a:r>
            <a:r>
              <a:rPr lang="en-US" altLang="zh-CN" sz="1600" dirty="0">
                <a:latin typeface="宋体" panose="02010600030101010101" pitchFamily="2" charset="-122"/>
              </a:rPr>
              <a:t>)</a:t>
            </a:r>
            <a:r>
              <a:rPr lang="zh-CN" altLang="en-US" sz="1600" dirty="0">
                <a:latin typeface="宋体" panose="02010600030101010101" pitchFamily="2" charset="-122"/>
              </a:rPr>
              <a:t>继续按步骤二求解。</a:t>
            </a:r>
          </a:p>
          <a:p>
            <a:pPr lvl="3"/>
            <a:endParaRPr lang="en-US" altLang="zh-CN" sz="1600" dirty="0"/>
          </a:p>
        </p:txBody>
      </p:sp>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31</a:t>
            </a:fld>
            <a:endParaRPr lang="en-US" altLang="zh-CN"/>
          </a:p>
        </p:txBody>
      </p:sp>
      <p:sp>
        <p:nvSpPr>
          <p:cNvPr id="5" name="矩形标注 4"/>
          <p:cNvSpPr/>
          <p:nvPr/>
        </p:nvSpPr>
        <p:spPr bwMode="auto">
          <a:xfrm>
            <a:off x="5148064" y="2564904"/>
            <a:ext cx="2889577" cy="561129"/>
          </a:xfrm>
          <a:prstGeom prst="wedgeRectCallout">
            <a:avLst>
              <a:gd name="adj1" fmla="val -58717"/>
              <a:gd name="adj2" fmla="val 77957"/>
            </a:avLst>
          </a:prstGeom>
          <a:solidFill>
            <a:schemeClr val="bg2">
              <a:lumMod val="20000"/>
              <a:lumOff val="8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lvl="1" eaLnBrk="1" hangingPunct="1">
              <a:spcBef>
                <a:spcPct val="20000"/>
              </a:spcBef>
              <a:buClr>
                <a:schemeClr val="bg1"/>
              </a:buClr>
              <a:buSzPct val="100000"/>
            </a:pPr>
            <a:r>
              <a:rPr lang="zh-CN" altLang="en-US" sz="1600" dirty="0">
                <a:latin typeface="Times New Roman" panose="02020603050405020304" pitchFamily="18" charset="0"/>
                <a:cs typeface="Times New Roman" panose="02020603050405020304" pitchFamily="18" charset="0"/>
              </a:rPr>
              <a:t>表示这行所代表的人只有一种任务可指派</a:t>
            </a:r>
            <a:endParaRPr kumimoji="0" lang="zh-CN" altLang="en-US" sz="1600" i="0" u="none" strike="noStrike" cap="none" normalizeH="0" baseline="0" dirty="0">
              <a:ln>
                <a:noFill/>
              </a:ln>
              <a:solidFill>
                <a:schemeClr val="tx1"/>
              </a:solidFill>
              <a:effectLst/>
            </a:endParaRPr>
          </a:p>
        </p:txBody>
      </p:sp>
      <p:sp>
        <p:nvSpPr>
          <p:cNvPr id="6" name="矩形标注 5"/>
          <p:cNvSpPr/>
          <p:nvPr/>
        </p:nvSpPr>
        <p:spPr bwMode="auto">
          <a:xfrm>
            <a:off x="5148064" y="2564904"/>
            <a:ext cx="2889577" cy="561129"/>
          </a:xfrm>
          <a:prstGeom prst="wedgeRectCallout">
            <a:avLst>
              <a:gd name="adj1" fmla="val -787"/>
              <a:gd name="adj2" fmla="val 72700"/>
            </a:avLst>
          </a:prstGeom>
          <a:solidFill>
            <a:schemeClr val="bg2">
              <a:lumMod val="20000"/>
              <a:lumOff val="8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lvl="1" eaLnBrk="1" hangingPunct="1">
              <a:spcBef>
                <a:spcPct val="20000"/>
              </a:spcBef>
              <a:buClr>
                <a:schemeClr val="bg1"/>
              </a:buClr>
              <a:buSzPct val="100000"/>
            </a:pPr>
            <a:r>
              <a:rPr lang="zh-CN" altLang="en-US" sz="1600" dirty="0">
                <a:latin typeface="Times New Roman" panose="02020603050405020304" pitchFamily="18" charset="0"/>
                <a:cs typeface="Times New Roman" panose="02020603050405020304" pitchFamily="18" charset="0"/>
              </a:rPr>
              <a:t>表示这列所代表的任务已经指派完，不必再考虑其他人</a:t>
            </a:r>
            <a:endParaRPr kumimoji="0" lang="zh-CN" altLang="en-US" sz="16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8181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a:extLst>
              <a:ext uri="{FF2B5EF4-FFF2-40B4-BE49-F238E27FC236}">
                <a16:creationId xmlns:a16="http://schemas.microsoft.com/office/drawing/2014/main" id="{0F137A31-FCDE-400F-96C4-59E2C90248E0}"/>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p:sp>
        <p:nvSpPr>
          <p:cNvPr id="2" name="内容占位符 1"/>
          <p:cNvSpPr>
            <a:spLocks noGrp="1"/>
          </p:cNvSpPr>
          <p:nvPr>
            <p:ph idx="1"/>
          </p:nvPr>
        </p:nvSpPr>
        <p:spPr>
          <a:xfrm>
            <a:off x="494729" y="1196752"/>
            <a:ext cx="8325743" cy="461665"/>
          </a:xfrm>
        </p:spPr>
        <p:txBody>
          <a:bodyPr/>
          <a:lstStyle/>
          <a:p>
            <a:pPr eaLnBrk="1" hangingPunct="1"/>
            <a:r>
              <a:rPr lang="zh-CN" altLang="en-US" dirty="0">
                <a:latin typeface="宋体" panose="02010600030101010101" pitchFamily="2" charset="-122"/>
              </a:rPr>
              <a:t>例</a:t>
            </a:r>
            <a:r>
              <a:rPr lang="en-US" altLang="zh-CN" dirty="0">
                <a:latin typeface="宋体" panose="02010600030101010101" pitchFamily="2" charset="-122"/>
              </a:rPr>
              <a:t>6-7</a:t>
            </a:r>
            <a:r>
              <a:rPr lang="zh-CN" altLang="en-US" dirty="0">
                <a:latin typeface="宋体" panose="02010600030101010101" pitchFamily="2" charset="-122"/>
              </a:rPr>
              <a:t>：</a:t>
            </a:r>
            <a:endParaRPr lang="en-US" altLang="zh-CN" sz="2000" dirty="0">
              <a:latin typeface="宋体" panose="02010600030101010101" pitchFamily="2" charset="-122"/>
            </a:endParaRPr>
          </a:p>
        </p:txBody>
      </p:sp>
      <p:sp>
        <p:nvSpPr>
          <p:cNvPr id="70659" name="灯片编号占位符 5">
            <a:extLst>
              <a:ext uri="{FF2B5EF4-FFF2-40B4-BE49-F238E27FC236}">
                <a16:creationId xmlns:a16="http://schemas.microsoft.com/office/drawing/2014/main" id="{9831445E-8A91-4E55-99C9-A7B62D62F39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48C66A8-3E23-4362-8B9C-56ED20BE48AE}" type="slidenum">
              <a:rPr lang="en-US" altLang="zh-CN" sz="1000" smtClean="0"/>
              <a:pPr>
                <a:spcBef>
                  <a:spcPct val="0"/>
                </a:spcBef>
                <a:buClrTx/>
                <a:buSzTx/>
                <a:buFontTx/>
                <a:buNone/>
              </a:pPr>
              <a:t>32</a:t>
            </a:fld>
            <a:endParaRPr lang="en-US" altLang="zh-CN" sz="1000"/>
          </a:p>
        </p:txBody>
      </p:sp>
      <p:graphicFrame>
        <p:nvGraphicFramePr>
          <p:cNvPr id="6" name="Object 4">
            <a:extLst>
              <a:ext uri="{FF2B5EF4-FFF2-40B4-BE49-F238E27FC236}">
                <a16:creationId xmlns:a16="http://schemas.microsoft.com/office/drawing/2014/main" id="{7223BF74-C417-4736-B175-7DC6A44C0CBF}"/>
              </a:ext>
            </a:extLst>
          </p:cNvPr>
          <p:cNvGraphicFramePr>
            <a:graphicFrameLocks noChangeAspect="1"/>
          </p:cNvGraphicFramePr>
          <p:nvPr>
            <p:extLst>
              <p:ext uri="{D42A27DB-BD31-4B8C-83A1-F6EECF244321}">
                <p14:modId xmlns:p14="http://schemas.microsoft.com/office/powerpoint/2010/main" val="1531131855"/>
              </p:ext>
            </p:extLst>
          </p:nvPr>
        </p:nvGraphicFramePr>
        <p:xfrm>
          <a:off x="611560" y="4252442"/>
          <a:ext cx="3565774" cy="1789949"/>
        </p:xfrm>
        <a:graphic>
          <a:graphicData uri="http://schemas.openxmlformats.org/presentationml/2006/ole">
            <mc:AlternateContent xmlns:mc="http://schemas.openxmlformats.org/markup-compatibility/2006">
              <mc:Choice xmlns:v="urn:schemas-microsoft-com:vml" Requires="v">
                <p:oleObj spid="_x0000_s49254" name="Document" r:id="rId3" imgW="2635231" imgH="1413624" progId="Word.Document.8">
                  <p:embed/>
                </p:oleObj>
              </mc:Choice>
              <mc:Fallback>
                <p:oleObj name="Document" r:id="rId3" imgW="2635231" imgH="1413624" progId="Word.Document.8">
                  <p:embed/>
                  <p:pic>
                    <p:nvPicPr>
                      <p:cNvPr id="64518" name="Object 4">
                        <a:extLst>
                          <a:ext uri="{FF2B5EF4-FFF2-40B4-BE49-F238E27FC236}">
                            <a16:creationId xmlns:a16="http://schemas.microsoft.com/office/drawing/2014/main" id="{7223BF74-C417-4736-B175-7DC6A44C0CBF}"/>
                          </a:ext>
                        </a:extLst>
                      </p:cNvPr>
                      <p:cNvPicPr>
                        <a:picLocks noChangeAspect="1" noChangeArrowheads="1"/>
                      </p:cNvPicPr>
                      <p:nvPr/>
                    </p:nvPicPr>
                    <p:blipFill>
                      <a:blip r:embed="rId4"/>
                      <a:srcRect/>
                      <a:stretch>
                        <a:fillRect/>
                      </a:stretch>
                    </p:blipFill>
                    <p:spPr bwMode="auto">
                      <a:xfrm>
                        <a:off x="611560" y="4252442"/>
                        <a:ext cx="3565774" cy="1789949"/>
                      </a:xfrm>
                      <a:prstGeom prst="rect">
                        <a:avLst/>
                      </a:prstGeom>
                      <a:noFill/>
                      <a:ln>
                        <a:noFill/>
                      </a:ln>
                      <a:effectLst/>
                      <a:extLst/>
                    </p:spPr>
                  </p:pic>
                </p:oleObj>
              </mc:Fallback>
            </mc:AlternateContent>
          </a:graphicData>
        </a:graphic>
      </p:graphicFrame>
      <p:graphicFrame>
        <p:nvGraphicFramePr>
          <p:cNvPr id="7" name="Object 4">
            <a:extLst>
              <a:ext uri="{FF2B5EF4-FFF2-40B4-BE49-F238E27FC236}">
                <a16:creationId xmlns:a16="http://schemas.microsoft.com/office/drawing/2014/main" id="{5E3B1AD1-D540-40F5-BFBB-8F371670656C}"/>
              </a:ext>
            </a:extLst>
          </p:cNvPr>
          <p:cNvGraphicFramePr>
            <a:graphicFrameLocks noChangeAspect="1"/>
          </p:cNvGraphicFramePr>
          <p:nvPr>
            <p:extLst>
              <p:ext uri="{D42A27DB-BD31-4B8C-83A1-F6EECF244321}">
                <p14:modId xmlns:p14="http://schemas.microsoft.com/office/powerpoint/2010/main" val="1040084992"/>
              </p:ext>
            </p:extLst>
          </p:nvPr>
        </p:nvGraphicFramePr>
        <p:xfrm>
          <a:off x="4294065" y="2104986"/>
          <a:ext cx="4881927" cy="3973789"/>
        </p:xfrm>
        <a:graphic>
          <a:graphicData uri="http://schemas.openxmlformats.org/presentationml/2006/ole">
            <mc:AlternateContent xmlns:mc="http://schemas.openxmlformats.org/markup-compatibility/2006">
              <mc:Choice xmlns:v="urn:schemas-microsoft-com:vml" Requires="v">
                <p:oleObj spid="_x0000_s49255" name="Equation" r:id="rId5" imgW="3619500" imgH="2946400" progId="Equation.DSMT4">
                  <p:embed/>
                </p:oleObj>
              </mc:Choice>
              <mc:Fallback>
                <p:oleObj name="Equation" r:id="rId5" imgW="3619500" imgH="2946400" progId="Equation.DSMT4">
                  <p:embed/>
                  <p:pic>
                    <p:nvPicPr>
                      <p:cNvPr id="71685" name="Object 4">
                        <a:extLst>
                          <a:ext uri="{FF2B5EF4-FFF2-40B4-BE49-F238E27FC236}">
                            <a16:creationId xmlns:a16="http://schemas.microsoft.com/office/drawing/2014/main" id="{5E3B1AD1-D540-40F5-BFBB-8F37167065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4065" y="2104986"/>
                        <a:ext cx="4881927" cy="3973789"/>
                      </a:xfrm>
                      <a:prstGeom prst="rect">
                        <a:avLst/>
                      </a:prstGeom>
                      <a:noFill/>
                      <a:ln>
                        <a:noFill/>
                      </a:ln>
                      <a:effectLst/>
                      <a:extLst/>
                    </p:spPr>
                  </p:pic>
                </p:oleObj>
              </mc:Fallback>
            </mc:AlternateContent>
          </a:graphicData>
        </a:graphic>
      </p:graphicFrame>
      <p:sp>
        <p:nvSpPr>
          <p:cNvPr id="3" name="矩形 2"/>
          <p:cNvSpPr/>
          <p:nvPr/>
        </p:nvSpPr>
        <p:spPr>
          <a:xfrm>
            <a:off x="107504" y="1710583"/>
            <a:ext cx="3816424" cy="2200602"/>
          </a:xfrm>
          <a:prstGeom prst="rect">
            <a:avLst/>
          </a:prstGeom>
        </p:spPr>
        <p:txBody>
          <a:bodyPr wrap="square">
            <a:spAutoFit/>
          </a:bodyPr>
          <a:lstStyle/>
          <a:p>
            <a:pPr lvl="1"/>
            <a:r>
              <a:rPr lang="zh-CN" altLang="en-US" sz="1800" dirty="0"/>
              <a:t>步骤一：</a:t>
            </a:r>
            <a:r>
              <a:rPr lang="zh-CN" altLang="en-US" sz="1800" dirty="0">
                <a:solidFill>
                  <a:srgbClr val="FF0000"/>
                </a:solidFill>
                <a:latin typeface="宋体" panose="02010600030101010101" pitchFamily="2" charset="-122"/>
              </a:rPr>
              <a:t>使系数矩阵经变换，在各行各列中都出现</a:t>
            </a:r>
            <a:r>
              <a:rPr lang="en-US" altLang="zh-CN" sz="1800" dirty="0">
                <a:solidFill>
                  <a:srgbClr val="FF0000"/>
                </a:solidFill>
                <a:latin typeface="宋体" panose="02010600030101010101" pitchFamily="2" charset="-122"/>
              </a:rPr>
              <a:t>0</a:t>
            </a:r>
            <a:r>
              <a:rPr lang="zh-CN" altLang="en-US" sz="1800" dirty="0">
                <a:solidFill>
                  <a:srgbClr val="FF0000"/>
                </a:solidFill>
                <a:latin typeface="宋体" panose="02010600030101010101" pitchFamily="2" charset="-122"/>
              </a:rPr>
              <a:t>元素。</a:t>
            </a:r>
            <a:endParaRPr lang="en-US" altLang="zh-CN" sz="1800" dirty="0">
              <a:solidFill>
                <a:srgbClr val="FF0000"/>
              </a:solidFill>
              <a:latin typeface="宋体" panose="02010600030101010101" pitchFamily="2" charset="-122"/>
            </a:endParaRPr>
          </a:p>
          <a:p>
            <a:pPr lvl="2">
              <a:spcBef>
                <a:spcPts val="200"/>
              </a:spcBef>
            </a:pPr>
            <a:r>
              <a:rPr lang="en-US" altLang="zh-CN" sz="1600" dirty="0"/>
              <a:t>(1)</a:t>
            </a:r>
            <a:r>
              <a:rPr lang="zh-CN" altLang="en-US" sz="1600" dirty="0">
                <a:latin typeface="宋体" panose="02010600030101010101" pitchFamily="2" charset="-122"/>
              </a:rPr>
              <a:t>从系数矩阵的每行元素减去该行的最小元素；</a:t>
            </a:r>
            <a:endParaRPr lang="en-US" altLang="zh-CN" sz="1600" dirty="0">
              <a:latin typeface="宋体" panose="02010600030101010101" pitchFamily="2" charset="-122"/>
            </a:endParaRPr>
          </a:p>
          <a:p>
            <a:pPr lvl="2">
              <a:spcBef>
                <a:spcPts val="200"/>
              </a:spcBef>
            </a:pPr>
            <a:r>
              <a:rPr lang="en-US" altLang="zh-CN" sz="1600" dirty="0"/>
              <a:t>(2)</a:t>
            </a:r>
            <a:r>
              <a:rPr lang="zh-CN" altLang="en-US" sz="1600" dirty="0">
                <a:latin typeface="宋体" panose="02010600030101010101" pitchFamily="2" charset="-122"/>
              </a:rPr>
              <a:t>再从所得系数矩阵的每列元素中减去该列的最小元素。</a:t>
            </a:r>
            <a:endParaRPr lang="en-US" altLang="zh-CN" sz="1600" dirty="0">
              <a:latin typeface="宋体" panose="02010600030101010101" pitchFamily="2" charset="-122"/>
            </a:endParaRPr>
          </a:p>
          <a:p>
            <a:pPr lvl="2">
              <a:spcBef>
                <a:spcPts val="200"/>
              </a:spcBef>
            </a:pPr>
            <a:r>
              <a:rPr lang="en-US" altLang="zh-CN" sz="1600" dirty="0"/>
              <a:t>(3)</a:t>
            </a:r>
            <a:r>
              <a:rPr lang="zh-CN" altLang="en-US" sz="1600" dirty="0">
                <a:latin typeface="宋体" panose="02010600030101010101" pitchFamily="2" charset="-122"/>
              </a:rPr>
              <a:t>若某行</a:t>
            </a:r>
            <a:r>
              <a:rPr lang="en-US" altLang="zh-CN" sz="1600" dirty="0">
                <a:latin typeface="宋体" panose="02010600030101010101" pitchFamily="2" charset="-122"/>
              </a:rPr>
              <a:t>(</a:t>
            </a:r>
            <a:r>
              <a:rPr lang="zh-CN" altLang="en-US" sz="1600" dirty="0">
                <a:latin typeface="宋体" panose="02010600030101010101" pitchFamily="2" charset="-122"/>
              </a:rPr>
              <a:t>列</a:t>
            </a:r>
            <a:r>
              <a:rPr lang="en-US" altLang="zh-CN" sz="1600" dirty="0">
                <a:latin typeface="宋体" panose="02010600030101010101" pitchFamily="2" charset="-122"/>
              </a:rPr>
              <a:t>)</a:t>
            </a:r>
            <a:r>
              <a:rPr lang="zh-CN" altLang="en-US" sz="1600" dirty="0">
                <a:latin typeface="宋体" panose="02010600030101010101" pitchFamily="2" charset="-122"/>
              </a:rPr>
              <a:t>已有</a:t>
            </a:r>
            <a:r>
              <a:rPr lang="en-US" altLang="zh-CN" sz="1600" dirty="0">
                <a:latin typeface="宋体" panose="02010600030101010101" pitchFamily="2" charset="-122"/>
              </a:rPr>
              <a:t>0</a:t>
            </a:r>
            <a:r>
              <a:rPr lang="zh-CN" altLang="en-US" sz="1600" dirty="0">
                <a:latin typeface="宋体" panose="02010600030101010101" pitchFamily="2" charset="-122"/>
              </a:rPr>
              <a:t>元素，那就不必再减了。</a:t>
            </a:r>
            <a:endParaRPr lang="zh-CN" altLang="en-US" sz="20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Object 4">
            <a:extLst>
              <a:ext uri="{FF2B5EF4-FFF2-40B4-BE49-F238E27FC236}">
                <a16:creationId xmlns:a16="http://schemas.microsoft.com/office/drawing/2014/main" id="{5E3B1AD1-D540-40F5-BFBB-8F371670656C}"/>
              </a:ext>
            </a:extLst>
          </p:cNvPr>
          <p:cNvGraphicFramePr>
            <a:graphicFrameLocks noChangeAspect="1"/>
          </p:cNvGraphicFramePr>
          <p:nvPr>
            <p:extLst>
              <p:ext uri="{D42A27DB-BD31-4B8C-83A1-F6EECF244321}">
                <p14:modId xmlns:p14="http://schemas.microsoft.com/office/powerpoint/2010/main" val="1263236"/>
              </p:ext>
            </p:extLst>
          </p:nvPr>
        </p:nvGraphicFramePr>
        <p:xfrm>
          <a:off x="6599334" y="4357779"/>
          <a:ext cx="1825625" cy="1682750"/>
        </p:xfrm>
        <a:graphic>
          <a:graphicData uri="http://schemas.openxmlformats.org/presentationml/2006/ole">
            <mc:AlternateContent xmlns:mc="http://schemas.openxmlformats.org/markup-compatibility/2006">
              <mc:Choice xmlns:v="urn:schemas-microsoft-com:vml" Requires="v">
                <p:oleObj spid="_x0000_s56418" name="Equation" r:id="rId3" imgW="990360" imgH="914400" progId="Equation.DSMT4">
                  <p:embed/>
                </p:oleObj>
              </mc:Choice>
              <mc:Fallback>
                <p:oleObj name="Equation" r:id="rId3" imgW="990360" imgH="914400" progId="Equation.DSMT4">
                  <p:embed/>
                  <p:pic>
                    <p:nvPicPr>
                      <p:cNvPr id="5" name="Object 4">
                        <a:extLst>
                          <a:ext uri="{FF2B5EF4-FFF2-40B4-BE49-F238E27FC236}">
                            <a16:creationId xmlns:a16="http://schemas.microsoft.com/office/drawing/2014/main" id="{5E3B1AD1-D540-40F5-BFBB-8F371670656C}"/>
                          </a:ext>
                        </a:extLst>
                      </p:cNvPr>
                      <p:cNvPicPr>
                        <a:picLocks noChangeAspect="1" noChangeArrowheads="1"/>
                      </p:cNvPicPr>
                      <p:nvPr/>
                    </p:nvPicPr>
                    <p:blipFill>
                      <a:blip r:embed="rId4"/>
                      <a:srcRect/>
                      <a:stretch>
                        <a:fillRect/>
                      </a:stretch>
                    </p:blipFill>
                    <p:spPr bwMode="auto">
                      <a:xfrm>
                        <a:off x="6599334" y="4357779"/>
                        <a:ext cx="1825625" cy="1682750"/>
                      </a:xfrm>
                      <a:prstGeom prst="rect">
                        <a:avLst/>
                      </a:prstGeom>
                      <a:solidFill>
                        <a:schemeClr val="bg1"/>
                      </a:solidFill>
                      <a:ln>
                        <a:noFill/>
                      </a:ln>
                      <a:effectLst/>
                      <a:extLst/>
                    </p:spPr>
                  </p:pic>
                </p:oleObj>
              </mc:Fallback>
            </mc:AlternateContent>
          </a:graphicData>
        </a:graphic>
      </p:graphicFrame>
      <p:sp>
        <p:nvSpPr>
          <p:cNvPr id="72708" name="Rectangle 2">
            <a:extLst>
              <a:ext uri="{FF2B5EF4-FFF2-40B4-BE49-F238E27FC236}">
                <a16:creationId xmlns:a16="http://schemas.microsoft.com/office/drawing/2014/main" id="{21BB3ABB-08C9-4097-A4F4-0A88EFED2D84}"/>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p:sp>
        <p:nvSpPr>
          <p:cNvPr id="2" name="内容占位符 1"/>
          <p:cNvSpPr>
            <a:spLocks noGrp="1"/>
          </p:cNvSpPr>
          <p:nvPr>
            <p:ph idx="1"/>
          </p:nvPr>
        </p:nvSpPr>
        <p:spPr>
          <a:xfrm>
            <a:off x="494729" y="1196752"/>
            <a:ext cx="8469759" cy="1938992"/>
          </a:xfrm>
        </p:spPr>
        <p:txBody>
          <a:bodyPr/>
          <a:lstStyle/>
          <a:p>
            <a:r>
              <a:rPr lang="zh-CN" altLang="en-US" dirty="0">
                <a:latin typeface="宋体" panose="02010600030101010101" pitchFamily="2" charset="-122"/>
              </a:rPr>
              <a:t>例</a:t>
            </a:r>
            <a:r>
              <a:rPr lang="en-US" altLang="zh-CN" dirty="0">
                <a:latin typeface="宋体" panose="02010600030101010101" pitchFamily="2" charset="-122"/>
              </a:rPr>
              <a:t>6-7</a:t>
            </a:r>
            <a:endParaRPr lang="zh-CN" altLang="en-US" dirty="0"/>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a:p>
            <a:pPr lvl="1" algn="just" eaLnBrk="1" hangingPunct="1"/>
            <a:endParaRPr lang="en-US" altLang="zh-CN" sz="2000" dirty="0">
              <a:latin typeface="Times New Roman" panose="02020603050405020304" pitchFamily="18" charset="0"/>
              <a:cs typeface="Times New Roman" panose="02020603050405020304" pitchFamily="18" charset="0"/>
            </a:endParaRPr>
          </a:p>
        </p:txBody>
      </p:sp>
      <p:sp>
        <p:nvSpPr>
          <p:cNvPr id="72707" name="灯片编号占位符 5">
            <a:extLst>
              <a:ext uri="{FF2B5EF4-FFF2-40B4-BE49-F238E27FC236}">
                <a16:creationId xmlns:a16="http://schemas.microsoft.com/office/drawing/2014/main" id="{233E9EF4-AB02-4565-9966-122CACDE0A9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CC8C0C6-5A67-4B64-9E84-2217F50A83C8}" type="slidenum">
              <a:rPr lang="en-US" altLang="zh-CN" sz="1000" smtClean="0"/>
              <a:pPr>
                <a:spcBef>
                  <a:spcPct val="0"/>
                </a:spcBef>
                <a:buClrTx/>
                <a:buSzTx/>
                <a:buFontTx/>
                <a:buNone/>
              </a:pPr>
              <a:t>33</a:t>
            </a:fld>
            <a:endParaRPr lang="en-US" altLang="zh-CN" sz="1000"/>
          </a:p>
        </p:txBody>
      </p:sp>
      <p:graphicFrame>
        <p:nvGraphicFramePr>
          <p:cNvPr id="5" name="Object 4">
            <a:extLst>
              <a:ext uri="{FF2B5EF4-FFF2-40B4-BE49-F238E27FC236}">
                <a16:creationId xmlns:a16="http://schemas.microsoft.com/office/drawing/2014/main" id="{5E3B1AD1-D540-40F5-BFBB-8F371670656C}"/>
              </a:ext>
            </a:extLst>
          </p:cNvPr>
          <p:cNvGraphicFramePr>
            <a:graphicFrameLocks noChangeAspect="1"/>
          </p:cNvGraphicFramePr>
          <p:nvPr>
            <p:extLst>
              <p:ext uri="{D42A27DB-BD31-4B8C-83A1-F6EECF244321}">
                <p14:modId xmlns:p14="http://schemas.microsoft.com/office/powerpoint/2010/main" val="1910744922"/>
              </p:ext>
            </p:extLst>
          </p:nvPr>
        </p:nvGraphicFramePr>
        <p:xfrm>
          <a:off x="755576" y="4432135"/>
          <a:ext cx="1801578" cy="1682341"/>
        </p:xfrm>
        <a:graphic>
          <a:graphicData uri="http://schemas.openxmlformats.org/presentationml/2006/ole">
            <mc:AlternateContent xmlns:mc="http://schemas.openxmlformats.org/markup-compatibility/2006">
              <mc:Choice xmlns:v="urn:schemas-microsoft-com:vml" Requires="v">
                <p:oleObj spid="_x0000_s56419" name="Equation" r:id="rId5" imgW="977760" imgH="914400" progId="Equation.DSMT4">
                  <p:embed/>
                </p:oleObj>
              </mc:Choice>
              <mc:Fallback>
                <p:oleObj name="Equation" r:id="rId5" imgW="977760" imgH="914400" progId="Equation.DSMT4">
                  <p:embed/>
                  <p:pic>
                    <p:nvPicPr>
                      <p:cNvPr id="7" name="Object 4">
                        <a:extLst>
                          <a:ext uri="{FF2B5EF4-FFF2-40B4-BE49-F238E27FC236}">
                            <a16:creationId xmlns:a16="http://schemas.microsoft.com/office/drawing/2014/main" id="{5E3B1AD1-D540-40F5-BFBB-8F371670656C}"/>
                          </a:ext>
                        </a:extLst>
                      </p:cNvPr>
                      <p:cNvPicPr>
                        <a:picLocks noChangeAspect="1" noChangeArrowheads="1"/>
                      </p:cNvPicPr>
                      <p:nvPr/>
                    </p:nvPicPr>
                    <p:blipFill>
                      <a:blip r:embed="rId6"/>
                      <a:srcRect/>
                      <a:stretch>
                        <a:fillRect/>
                      </a:stretch>
                    </p:blipFill>
                    <p:spPr bwMode="auto">
                      <a:xfrm>
                        <a:off x="755576" y="4432135"/>
                        <a:ext cx="1801578" cy="1682341"/>
                      </a:xfrm>
                      <a:prstGeom prst="rect">
                        <a:avLst/>
                      </a:prstGeom>
                      <a:solidFill>
                        <a:schemeClr val="bg1"/>
                      </a:solidFill>
                      <a:ln>
                        <a:noFill/>
                      </a:ln>
                      <a:effectLst/>
                      <a:extLst/>
                    </p:spPr>
                  </p:pic>
                </p:oleObj>
              </mc:Fallback>
            </mc:AlternateContent>
          </a:graphicData>
        </a:graphic>
      </p:graphicFrame>
      <p:sp>
        <p:nvSpPr>
          <p:cNvPr id="14" name="椭圆 13"/>
          <p:cNvSpPr/>
          <p:nvPr/>
        </p:nvSpPr>
        <p:spPr bwMode="auto">
          <a:xfrm>
            <a:off x="1321707" y="4895587"/>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3" name="矩形 2">
            <a:extLst>
              <a:ext uri="{FF2B5EF4-FFF2-40B4-BE49-F238E27FC236}">
                <a16:creationId xmlns:a16="http://schemas.microsoft.com/office/drawing/2014/main" id="{B94DCB73-D77E-4894-BEAF-B8B6A239BB0E}"/>
              </a:ext>
            </a:extLst>
          </p:cNvPr>
          <p:cNvSpPr/>
          <p:nvPr/>
        </p:nvSpPr>
        <p:spPr>
          <a:xfrm>
            <a:off x="395536" y="1562787"/>
            <a:ext cx="8568952" cy="2467342"/>
          </a:xfrm>
          <a:prstGeom prst="rect">
            <a:avLst/>
          </a:prstGeom>
        </p:spPr>
        <p:txBody>
          <a:bodyPr wrap="square">
            <a:spAutoFit/>
          </a:bodyPr>
          <a:lstStyle/>
          <a:p>
            <a:pPr lvl="1"/>
            <a:r>
              <a:rPr lang="zh-CN" altLang="en-US" sz="1800" dirty="0"/>
              <a:t>步骤二：</a:t>
            </a:r>
            <a:r>
              <a:rPr lang="zh-CN" altLang="en-US" sz="1800" dirty="0">
                <a:solidFill>
                  <a:srgbClr val="FF0000"/>
                </a:solidFill>
              </a:rPr>
              <a:t>试指派寻最优解</a:t>
            </a:r>
            <a:r>
              <a:rPr lang="zh-CN" altLang="en-US" sz="1800" dirty="0">
                <a:solidFill>
                  <a:srgbClr val="FF0000"/>
                </a:solidFill>
                <a:latin typeface="Times New Roman" panose="02020603050405020304" pitchFamily="18" charset="0"/>
                <a:cs typeface="Times New Roman" panose="02020603050405020304" pitchFamily="18" charset="0"/>
              </a:rPr>
              <a:t>。</a:t>
            </a:r>
            <a:endParaRPr lang="en-US" altLang="zh-CN" sz="1800" dirty="0">
              <a:solidFill>
                <a:srgbClr val="FF0000"/>
              </a:solidFill>
            </a:endParaRPr>
          </a:p>
          <a:p>
            <a:pPr lvl="2">
              <a:spcBef>
                <a:spcPts val="200"/>
              </a:spcBef>
            </a:pPr>
            <a:r>
              <a:rPr lang="en-US" altLang="zh-CN" sz="1600" dirty="0"/>
              <a:t>(1)</a:t>
            </a:r>
            <a:r>
              <a:rPr lang="zh-CN" altLang="en-US" sz="1600" dirty="0"/>
              <a:t>找只有一个</a:t>
            </a:r>
            <a:r>
              <a:rPr lang="en-US" altLang="zh-CN" sz="1600" dirty="0"/>
              <a:t>0</a:t>
            </a:r>
            <a:r>
              <a:rPr lang="zh-CN" altLang="en-US" sz="1600" dirty="0"/>
              <a:t>元素的</a:t>
            </a:r>
            <a:r>
              <a:rPr lang="zh-CN" altLang="en-US" sz="1600" dirty="0">
                <a:solidFill>
                  <a:srgbClr val="FF0000"/>
                </a:solidFill>
              </a:rPr>
              <a:t>行</a:t>
            </a:r>
            <a:r>
              <a:rPr lang="zh-CN" altLang="en-US" sz="1600" dirty="0"/>
              <a:t>，给这个</a:t>
            </a:r>
            <a:r>
              <a:rPr lang="en-US" altLang="zh-CN" sz="1600" dirty="0"/>
              <a:t>0</a:t>
            </a:r>
            <a:r>
              <a:rPr lang="zh-CN" altLang="en-US" sz="1600" dirty="0"/>
              <a:t>元素画圈，记作</a:t>
            </a:r>
            <a:r>
              <a:rPr lang="zh-CN" altLang="en-US" sz="1600" dirty="0">
                <a:latin typeface="Times New Roman" panose="02020603050405020304" pitchFamily="18" charset="0"/>
                <a:cs typeface="Times New Roman" panose="02020603050405020304" pitchFamily="18" charset="0"/>
              </a:rPr>
              <a:t>◎ </a:t>
            </a:r>
            <a:r>
              <a:rPr lang="zh-CN" altLang="en-US" sz="1600" dirty="0"/>
              <a:t>，同时直线划去该</a:t>
            </a:r>
            <a:r>
              <a:rPr lang="zh-CN" altLang="en-US" sz="1600" dirty="0">
                <a:solidFill>
                  <a:srgbClr val="FF0000"/>
                </a:solidFill>
              </a:rPr>
              <a:t>列</a:t>
            </a:r>
            <a:endParaRPr lang="en-US" altLang="zh-CN" sz="1600" dirty="0"/>
          </a:p>
          <a:p>
            <a:pPr lvl="2">
              <a:spcBef>
                <a:spcPts val="200"/>
              </a:spcBef>
            </a:pPr>
            <a:r>
              <a:rPr lang="en-US" altLang="zh-CN" sz="1600" dirty="0"/>
              <a:t>(2)</a:t>
            </a:r>
            <a:r>
              <a:rPr lang="zh-CN" altLang="en-US" sz="1600" dirty="0"/>
              <a:t>找只有一个</a:t>
            </a:r>
            <a:r>
              <a:rPr lang="en-US" altLang="zh-CN" sz="1600" dirty="0"/>
              <a:t>0</a:t>
            </a:r>
            <a:r>
              <a:rPr lang="zh-CN" altLang="en-US" sz="1600" dirty="0"/>
              <a:t>元素的</a:t>
            </a:r>
            <a:r>
              <a:rPr lang="zh-CN" altLang="en-US" sz="1600" dirty="0">
                <a:solidFill>
                  <a:srgbClr val="FF0000"/>
                </a:solidFill>
              </a:rPr>
              <a:t>列</a:t>
            </a:r>
            <a:r>
              <a:rPr lang="zh-CN" altLang="en-US" sz="1600" dirty="0"/>
              <a:t>，给这个</a:t>
            </a:r>
            <a:r>
              <a:rPr lang="en-US" altLang="zh-CN" sz="1600" dirty="0"/>
              <a:t>0</a:t>
            </a:r>
            <a:r>
              <a:rPr lang="zh-CN" altLang="en-US" sz="1600" dirty="0"/>
              <a:t>元素画圈，记作</a:t>
            </a:r>
            <a:r>
              <a:rPr lang="zh-CN" altLang="en-US" sz="1600" dirty="0">
                <a:latin typeface="Times New Roman" panose="02020603050405020304" pitchFamily="18" charset="0"/>
                <a:cs typeface="Times New Roman" panose="02020603050405020304" pitchFamily="18" charset="0"/>
              </a:rPr>
              <a:t>◎ </a:t>
            </a:r>
            <a:r>
              <a:rPr lang="zh-CN" altLang="en-US" sz="1600" dirty="0"/>
              <a:t>，同时直线划去该</a:t>
            </a:r>
            <a:r>
              <a:rPr lang="zh-CN" altLang="en-US" sz="1600" dirty="0">
                <a:solidFill>
                  <a:srgbClr val="FF0000"/>
                </a:solidFill>
              </a:rPr>
              <a:t>行</a:t>
            </a:r>
            <a:endParaRPr lang="en-US" altLang="zh-CN" sz="1600" dirty="0"/>
          </a:p>
          <a:p>
            <a:pPr lvl="2">
              <a:spcBef>
                <a:spcPts val="200"/>
              </a:spcBef>
            </a:pPr>
            <a:r>
              <a:rPr lang="en-US" altLang="zh-CN" sz="1600" dirty="0"/>
              <a:t>(3)</a:t>
            </a:r>
            <a:r>
              <a:rPr lang="zh-CN" altLang="en-US" sz="1600" dirty="0"/>
              <a:t>反复进行前两个小步骤，直到没有只有一个</a:t>
            </a:r>
            <a:r>
              <a:rPr lang="en-US" altLang="zh-CN" sz="1600" dirty="0"/>
              <a:t>0</a:t>
            </a:r>
            <a:r>
              <a:rPr lang="zh-CN" altLang="en-US" sz="1600" dirty="0"/>
              <a:t>元素的行或列。</a:t>
            </a:r>
            <a:endParaRPr lang="en-US" altLang="zh-CN" sz="1600" dirty="0"/>
          </a:p>
          <a:p>
            <a:pPr lvl="2">
              <a:spcBef>
                <a:spcPts val="200"/>
              </a:spcBef>
            </a:pPr>
            <a:r>
              <a:rPr lang="en-US" altLang="zh-CN" sz="1600" dirty="0"/>
              <a:t>(4)</a:t>
            </a:r>
            <a:r>
              <a:rPr lang="zh-CN" altLang="en-US" sz="1600" dirty="0"/>
              <a:t>若还存在没有划去的</a:t>
            </a:r>
            <a:r>
              <a:rPr lang="en-US" altLang="zh-CN" sz="1600" dirty="0"/>
              <a:t>0</a:t>
            </a:r>
            <a:r>
              <a:rPr lang="zh-CN" altLang="en-US" sz="1600" dirty="0"/>
              <a:t>元素，且同行（列）的</a:t>
            </a:r>
            <a:r>
              <a:rPr lang="en-US" altLang="zh-CN" sz="1600" dirty="0"/>
              <a:t>0</a:t>
            </a:r>
            <a:r>
              <a:rPr lang="zh-CN" altLang="en-US" sz="1600" dirty="0"/>
              <a:t>元素至少有两个，从剩余</a:t>
            </a:r>
            <a:r>
              <a:rPr lang="en-US" altLang="zh-CN" sz="1600" dirty="0"/>
              <a:t>0</a:t>
            </a:r>
            <a:r>
              <a:rPr lang="zh-CN" altLang="en-US" sz="1600" dirty="0"/>
              <a:t>元素最少得行（列）开始，比较这行（列）</a:t>
            </a:r>
            <a:r>
              <a:rPr lang="en-US" altLang="zh-CN" sz="1600" dirty="0"/>
              <a:t>0</a:t>
            </a:r>
            <a:r>
              <a:rPr lang="zh-CN" altLang="en-US" sz="1600" dirty="0"/>
              <a:t>元素所在列（行）中</a:t>
            </a:r>
            <a:r>
              <a:rPr lang="en-US" altLang="zh-CN" sz="1600" dirty="0"/>
              <a:t>0</a:t>
            </a:r>
            <a:r>
              <a:rPr lang="zh-CN" altLang="en-US" sz="1600" dirty="0"/>
              <a:t>元素的数目，选择</a:t>
            </a:r>
            <a:r>
              <a:rPr lang="en-US" altLang="zh-CN" sz="1600" dirty="0"/>
              <a:t>0</a:t>
            </a:r>
            <a:r>
              <a:rPr lang="zh-CN" altLang="en-US" sz="1600" dirty="0"/>
              <a:t>元素最少得那列（行）的这个</a:t>
            </a:r>
            <a:r>
              <a:rPr lang="en-US" altLang="zh-CN" sz="1600" dirty="0"/>
              <a:t>0</a:t>
            </a:r>
            <a:r>
              <a:rPr lang="zh-CN" altLang="en-US" sz="1600" dirty="0"/>
              <a:t>元素画圈，</a:t>
            </a:r>
            <a:r>
              <a:rPr lang="zh-CN" altLang="en-US" sz="1600" dirty="0">
                <a:solidFill>
                  <a:srgbClr val="FF0000"/>
                </a:solidFill>
              </a:rPr>
              <a:t>同时直线划去该行该列</a:t>
            </a:r>
            <a:r>
              <a:rPr lang="zh-CN" altLang="en-US" sz="1600" dirty="0"/>
              <a:t>。反复进行，直到所有</a:t>
            </a:r>
            <a:r>
              <a:rPr lang="en-US" altLang="zh-CN" sz="1600" dirty="0"/>
              <a:t>0</a:t>
            </a:r>
            <a:r>
              <a:rPr lang="zh-CN" altLang="en-US" sz="1600" dirty="0"/>
              <a:t>元素被划掉。</a:t>
            </a:r>
            <a:endParaRPr lang="en-US" altLang="zh-CN" sz="1600" dirty="0"/>
          </a:p>
          <a:p>
            <a:pPr lvl="2">
              <a:spcBef>
                <a:spcPts val="200"/>
              </a:spcBef>
            </a:pPr>
            <a:r>
              <a:rPr lang="en-US" altLang="zh-CN" sz="1600" dirty="0"/>
              <a:t>(5)</a:t>
            </a:r>
            <a:r>
              <a:rPr lang="zh-CN" altLang="en-US" sz="1600" dirty="0"/>
              <a:t>若画圈元素的数目</a:t>
            </a:r>
            <a:r>
              <a:rPr lang="en-US" altLang="zh-CN" sz="1600" dirty="0"/>
              <a:t>m</a:t>
            </a:r>
            <a:r>
              <a:rPr lang="zh-CN" altLang="en-US" sz="1600" dirty="0"/>
              <a:t>等于矩阵阶数</a:t>
            </a:r>
            <a:r>
              <a:rPr lang="en-US" altLang="zh-CN" sz="1600" dirty="0"/>
              <a:t>n</a:t>
            </a:r>
            <a:r>
              <a:rPr lang="zh-CN" altLang="en-US" sz="1600" dirty="0"/>
              <a:t>，指派问题最优解找到。否则进入步骤三。</a:t>
            </a:r>
            <a:endParaRPr lang="en-US" altLang="zh-CN" sz="1600" dirty="0"/>
          </a:p>
        </p:txBody>
      </p:sp>
      <p:cxnSp>
        <p:nvCxnSpPr>
          <p:cNvPr id="21" name="直接连接符 20">
            <a:extLst>
              <a:ext uri="{FF2B5EF4-FFF2-40B4-BE49-F238E27FC236}">
                <a16:creationId xmlns:a16="http://schemas.microsoft.com/office/drawing/2014/main" id="{F302A4EF-B36C-4D4E-906F-6760498A935F}"/>
              </a:ext>
            </a:extLst>
          </p:cNvPr>
          <p:cNvCxnSpPr>
            <a:cxnSpLocks/>
          </p:cNvCxnSpPr>
          <p:nvPr/>
        </p:nvCxnSpPr>
        <p:spPr bwMode="auto">
          <a:xfrm>
            <a:off x="1457368" y="4504143"/>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椭圆 21">
            <a:extLst>
              <a:ext uri="{FF2B5EF4-FFF2-40B4-BE49-F238E27FC236}">
                <a16:creationId xmlns:a16="http://schemas.microsoft.com/office/drawing/2014/main" id="{422C4B3F-F4D4-4A06-896E-1F5604858EF7}"/>
              </a:ext>
            </a:extLst>
          </p:cNvPr>
          <p:cNvSpPr/>
          <p:nvPr/>
        </p:nvSpPr>
        <p:spPr bwMode="auto">
          <a:xfrm>
            <a:off x="863016" y="5334155"/>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3" name="直接连接符 22">
            <a:extLst>
              <a:ext uri="{FF2B5EF4-FFF2-40B4-BE49-F238E27FC236}">
                <a16:creationId xmlns:a16="http://schemas.microsoft.com/office/drawing/2014/main" id="{AC04CCD5-1E61-4703-9AC6-06B11DD5DF64}"/>
              </a:ext>
            </a:extLst>
          </p:cNvPr>
          <p:cNvCxnSpPr>
            <a:cxnSpLocks/>
          </p:cNvCxnSpPr>
          <p:nvPr/>
        </p:nvCxnSpPr>
        <p:spPr bwMode="auto">
          <a:xfrm>
            <a:off x="989888" y="4504143"/>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椭圆 23">
            <a:extLst>
              <a:ext uri="{FF2B5EF4-FFF2-40B4-BE49-F238E27FC236}">
                <a16:creationId xmlns:a16="http://schemas.microsoft.com/office/drawing/2014/main" id="{9367A4BA-E74C-46D8-BC88-B7967A8C28AD}"/>
              </a:ext>
            </a:extLst>
          </p:cNvPr>
          <p:cNvSpPr/>
          <p:nvPr/>
        </p:nvSpPr>
        <p:spPr bwMode="auto">
          <a:xfrm>
            <a:off x="2160304" y="4476882"/>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5" name="直接连接符 24">
            <a:extLst>
              <a:ext uri="{FF2B5EF4-FFF2-40B4-BE49-F238E27FC236}">
                <a16:creationId xmlns:a16="http://schemas.microsoft.com/office/drawing/2014/main" id="{F38D14C0-D3A2-4EA2-9CB3-B917A88A951E}"/>
              </a:ext>
            </a:extLst>
          </p:cNvPr>
          <p:cNvCxnSpPr>
            <a:cxnSpLocks/>
          </p:cNvCxnSpPr>
          <p:nvPr/>
        </p:nvCxnSpPr>
        <p:spPr bwMode="auto">
          <a:xfrm>
            <a:off x="2290998" y="4476882"/>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椭圆 25">
            <a:extLst>
              <a:ext uri="{FF2B5EF4-FFF2-40B4-BE49-F238E27FC236}">
                <a16:creationId xmlns:a16="http://schemas.microsoft.com/office/drawing/2014/main" id="{D577309F-ED96-4AC8-A60E-73F6832D432E}"/>
              </a:ext>
            </a:extLst>
          </p:cNvPr>
          <p:cNvSpPr/>
          <p:nvPr/>
        </p:nvSpPr>
        <p:spPr bwMode="auto">
          <a:xfrm>
            <a:off x="1764043" y="5747915"/>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7" name="直接连接符 26">
            <a:extLst>
              <a:ext uri="{FF2B5EF4-FFF2-40B4-BE49-F238E27FC236}">
                <a16:creationId xmlns:a16="http://schemas.microsoft.com/office/drawing/2014/main" id="{C9E306E3-B4F7-4589-8369-E9C285F97D47}"/>
              </a:ext>
            </a:extLst>
          </p:cNvPr>
          <p:cNvCxnSpPr>
            <a:cxnSpLocks/>
          </p:cNvCxnSpPr>
          <p:nvPr/>
        </p:nvCxnSpPr>
        <p:spPr bwMode="auto">
          <a:xfrm>
            <a:off x="1899704" y="4482978"/>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8" name="Object 7">
            <a:extLst>
              <a:ext uri="{FF2B5EF4-FFF2-40B4-BE49-F238E27FC236}">
                <a16:creationId xmlns:a16="http://schemas.microsoft.com/office/drawing/2014/main" id="{C367FE61-AE49-42DA-9BF3-631B392C03E2}"/>
              </a:ext>
            </a:extLst>
          </p:cNvPr>
          <p:cNvGraphicFramePr>
            <a:graphicFrameLocks noChangeAspect="1"/>
          </p:cNvGraphicFramePr>
          <p:nvPr>
            <p:extLst>
              <p:ext uri="{D42A27DB-BD31-4B8C-83A1-F6EECF244321}">
                <p14:modId xmlns:p14="http://schemas.microsoft.com/office/powerpoint/2010/main" val="620780363"/>
              </p:ext>
            </p:extLst>
          </p:nvPr>
        </p:nvGraphicFramePr>
        <p:xfrm>
          <a:off x="3838494" y="4342196"/>
          <a:ext cx="2387668" cy="1651832"/>
        </p:xfrm>
        <a:graphic>
          <a:graphicData uri="http://schemas.openxmlformats.org/presentationml/2006/ole">
            <mc:AlternateContent xmlns:mc="http://schemas.openxmlformats.org/markup-compatibility/2006">
              <mc:Choice xmlns:v="urn:schemas-microsoft-com:vml" Requires="v">
                <p:oleObj spid="_x0000_s56420" name="Equation" r:id="rId7" imgW="1524000" imgH="1054100" progId="Equation.3">
                  <p:embed/>
                </p:oleObj>
              </mc:Choice>
              <mc:Fallback>
                <p:oleObj name="Equation" r:id="rId7" imgW="1524000" imgH="1054100" progId="Equation.3">
                  <p:embed/>
                  <p:pic>
                    <p:nvPicPr>
                      <p:cNvPr id="5" name="Object 7">
                        <a:extLst>
                          <a:ext uri="{FF2B5EF4-FFF2-40B4-BE49-F238E27FC236}">
                            <a16:creationId xmlns:a16="http://schemas.microsoft.com/office/drawing/2014/main" id="{EC1400E6-BAE7-4040-AAC0-69D980E0C1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8494" y="4342196"/>
                        <a:ext cx="2387668" cy="1651832"/>
                      </a:xfrm>
                      <a:prstGeom prst="rect">
                        <a:avLst/>
                      </a:prstGeom>
                      <a:noFill/>
                      <a:ln>
                        <a:noFill/>
                      </a:ln>
                      <a:effectLst/>
                      <a:extLst/>
                    </p:spPr>
                  </p:pic>
                </p:oleObj>
              </mc:Fallback>
            </mc:AlternateContent>
          </a:graphicData>
        </a:graphic>
      </p:graphicFrame>
      <p:sp>
        <p:nvSpPr>
          <p:cNvPr id="29" name="矩形 28">
            <a:extLst>
              <a:ext uri="{FF2B5EF4-FFF2-40B4-BE49-F238E27FC236}">
                <a16:creationId xmlns:a16="http://schemas.microsoft.com/office/drawing/2014/main" id="{45C25571-2E4F-4719-897A-70B189E33C92}"/>
              </a:ext>
            </a:extLst>
          </p:cNvPr>
          <p:cNvSpPr/>
          <p:nvPr/>
        </p:nvSpPr>
        <p:spPr>
          <a:xfrm>
            <a:off x="2494814" y="4520544"/>
            <a:ext cx="1467068" cy="707886"/>
          </a:xfrm>
          <a:prstGeom prst="rect">
            <a:avLst/>
          </a:prstGeom>
        </p:spPr>
        <p:txBody>
          <a:bodyPr wrap="none">
            <a:spAutoFit/>
          </a:bodyPr>
          <a:lstStyle/>
          <a:p>
            <a:r>
              <a:rPr lang="en-US" altLang="zh-CN" sz="2000" b="0" dirty="0">
                <a:latin typeface="宋体" panose="02010600030101010101" pitchFamily="2" charset="-122"/>
              </a:rPr>
              <a:t>m=n=4</a:t>
            </a:r>
          </a:p>
          <a:p>
            <a:r>
              <a:rPr lang="zh-CN" altLang="en-US" sz="2000" b="0" dirty="0">
                <a:latin typeface="宋体" panose="02010600030101010101" pitchFamily="2" charset="-122"/>
              </a:rPr>
              <a:t>得最优解为</a:t>
            </a:r>
            <a:endParaRPr lang="zh-CN" altLang="en-US" sz="2000" dirty="0"/>
          </a:p>
        </p:txBody>
      </p:sp>
      <p:graphicFrame>
        <p:nvGraphicFramePr>
          <p:cNvPr id="30" name="Object 8">
            <a:extLst>
              <a:ext uri="{FF2B5EF4-FFF2-40B4-BE49-F238E27FC236}">
                <a16:creationId xmlns:a16="http://schemas.microsoft.com/office/drawing/2014/main" id="{C7055DED-BF88-4446-8FAC-B63CDF37486B}"/>
              </a:ext>
            </a:extLst>
          </p:cNvPr>
          <p:cNvGraphicFramePr>
            <a:graphicFrameLocks noChangeAspect="1"/>
          </p:cNvGraphicFramePr>
          <p:nvPr>
            <p:extLst>
              <p:ext uri="{D42A27DB-BD31-4B8C-83A1-F6EECF244321}">
                <p14:modId xmlns:p14="http://schemas.microsoft.com/office/powerpoint/2010/main" val="2189022206"/>
              </p:ext>
            </p:extLst>
          </p:nvPr>
        </p:nvGraphicFramePr>
        <p:xfrm>
          <a:off x="2634665" y="5747915"/>
          <a:ext cx="3713756" cy="866913"/>
        </p:xfrm>
        <a:graphic>
          <a:graphicData uri="http://schemas.openxmlformats.org/presentationml/2006/ole">
            <mc:AlternateContent xmlns:mc="http://schemas.openxmlformats.org/markup-compatibility/2006">
              <mc:Choice xmlns:v="urn:schemas-microsoft-com:vml" Requires="v">
                <p:oleObj spid="_x0000_s56421" name="Equation" r:id="rId9" imgW="3644900" imgH="850900" progId="Equation.3">
                  <p:embed/>
                </p:oleObj>
              </mc:Choice>
              <mc:Fallback>
                <p:oleObj name="Equation" r:id="rId9" imgW="3644900" imgH="850900" progId="Equation.3">
                  <p:embed/>
                  <p:pic>
                    <p:nvPicPr>
                      <p:cNvPr id="15" name="Object 8">
                        <a:extLst>
                          <a:ext uri="{FF2B5EF4-FFF2-40B4-BE49-F238E27FC236}">
                            <a16:creationId xmlns:a16="http://schemas.microsoft.com/office/drawing/2014/main" id="{FD322FE8-60CF-4FDC-978F-EE6F3794230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4665" y="5747915"/>
                        <a:ext cx="3713756" cy="866913"/>
                      </a:xfrm>
                      <a:prstGeom prst="rect">
                        <a:avLst/>
                      </a:prstGeom>
                      <a:noFill/>
                      <a:ln>
                        <a:noFill/>
                      </a:ln>
                      <a:effectLst/>
                      <a:extLst/>
                    </p:spPr>
                  </p:pic>
                </p:oleObj>
              </mc:Fallback>
            </mc:AlternateContent>
          </a:graphicData>
        </a:graphic>
      </p:graphicFrame>
      <p:cxnSp>
        <p:nvCxnSpPr>
          <p:cNvPr id="31" name="直接箭头连接符 30">
            <a:extLst>
              <a:ext uri="{FF2B5EF4-FFF2-40B4-BE49-F238E27FC236}">
                <a16:creationId xmlns:a16="http://schemas.microsoft.com/office/drawing/2014/main" id="{DA7CF518-2C3F-4D96-91CE-05F1EEE52417}"/>
              </a:ext>
            </a:extLst>
          </p:cNvPr>
          <p:cNvCxnSpPr>
            <a:cxnSpLocks/>
          </p:cNvCxnSpPr>
          <p:nvPr/>
        </p:nvCxnSpPr>
        <p:spPr bwMode="auto">
          <a:xfrm>
            <a:off x="2527492" y="5228430"/>
            <a:ext cx="1324428" cy="0"/>
          </a:xfrm>
          <a:prstGeom prst="straightConnector1">
            <a:avLst/>
          </a:pr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椭圆 31">
            <a:extLst>
              <a:ext uri="{FF2B5EF4-FFF2-40B4-BE49-F238E27FC236}">
                <a16:creationId xmlns:a16="http://schemas.microsoft.com/office/drawing/2014/main" id="{06FD9FE9-EEAD-47BB-9901-766B3DADE15D}"/>
              </a:ext>
            </a:extLst>
          </p:cNvPr>
          <p:cNvSpPr/>
          <p:nvPr/>
        </p:nvSpPr>
        <p:spPr bwMode="auto">
          <a:xfrm>
            <a:off x="8012087" y="4401475"/>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33" name="直接连接符 32">
            <a:extLst>
              <a:ext uri="{FF2B5EF4-FFF2-40B4-BE49-F238E27FC236}">
                <a16:creationId xmlns:a16="http://schemas.microsoft.com/office/drawing/2014/main" id="{A7F5BA7B-ADA7-40B9-982B-BF5D2415AD70}"/>
              </a:ext>
            </a:extLst>
          </p:cNvPr>
          <p:cNvCxnSpPr>
            <a:cxnSpLocks/>
          </p:cNvCxnSpPr>
          <p:nvPr/>
        </p:nvCxnSpPr>
        <p:spPr bwMode="auto">
          <a:xfrm>
            <a:off x="8156004" y="4409539"/>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椭圆 33">
            <a:extLst>
              <a:ext uri="{FF2B5EF4-FFF2-40B4-BE49-F238E27FC236}">
                <a16:creationId xmlns:a16="http://schemas.microsoft.com/office/drawing/2014/main" id="{5661CB09-3BF1-4755-B166-6AE8D54AF324}"/>
              </a:ext>
            </a:extLst>
          </p:cNvPr>
          <p:cNvSpPr/>
          <p:nvPr/>
        </p:nvSpPr>
        <p:spPr bwMode="auto">
          <a:xfrm>
            <a:off x="7182659" y="5235454"/>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35" name="直接连接符 34">
            <a:extLst>
              <a:ext uri="{FF2B5EF4-FFF2-40B4-BE49-F238E27FC236}">
                <a16:creationId xmlns:a16="http://schemas.microsoft.com/office/drawing/2014/main" id="{43E16145-1751-4CC7-B0B4-0DE04F76E652}"/>
              </a:ext>
            </a:extLst>
          </p:cNvPr>
          <p:cNvCxnSpPr>
            <a:cxnSpLocks/>
          </p:cNvCxnSpPr>
          <p:nvPr/>
        </p:nvCxnSpPr>
        <p:spPr bwMode="auto">
          <a:xfrm>
            <a:off x="7313353" y="4440581"/>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a:extLst>
              <a:ext uri="{FF2B5EF4-FFF2-40B4-BE49-F238E27FC236}">
                <a16:creationId xmlns:a16="http://schemas.microsoft.com/office/drawing/2014/main" id="{A4CAD836-B6F6-4877-A968-B3ED10EA653D}"/>
              </a:ext>
            </a:extLst>
          </p:cNvPr>
          <p:cNvCxnSpPr>
            <a:cxnSpLocks/>
          </p:cNvCxnSpPr>
          <p:nvPr/>
        </p:nvCxnSpPr>
        <p:spPr bwMode="auto">
          <a:xfrm>
            <a:off x="6732240" y="5372140"/>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椭圆 37">
            <a:extLst>
              <a:ext uri="{FF2B5EF4-FFF2-40B4-BE49-F238E27FC236}">
                <a16:creationId xmlns:a16="http://schemas.microsoft.com/office/drawing/2014/main" id="{76949B36-2E45-40D4-AD25-A565F462DBB0}"/>
              </a:ext>
            </a:extLst>
          </p:cNvPr>
          <p:cNvSpPr/>
          <p:nvPr/>
        </p:nvSpPr>
        <p:spPr bwMode="auto">
          <a:xfrm>
            <a:off x="6732240" y="4823538"/>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39" name="直接连接符 38">
            <a:extLst>
              <a:ext uri="{FF2B5EF4-FFF2-40B4-BE49-F238E27FC236}">
                <a16:creationId xmlns:a16="http://schemas.microsoft.com/office/drawing/2014/main" id="{CE78C29B-6E7C-46C8-B10E-306815C943A6}"/>
              </a:ext>
            </a:extLst>
          </p:cNvPr>
          <p:cNvCxnSpPr>
            <a:cxnSpLocks/>
          </p:cNvCxnSpPr>
          <p:nvPr/>
        </p:nvCxnSpPr>
        <p:spPr bwMode="auto">
          <a:xfrm>
            <a:off x="6732240" y="4968953"/>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a:extLst>
              <a:ext uri="{FF2B5EF4-FFF2-40B4-BE49-F238E27FC236}">
                <a16:creationId xmlns:a16="http://schemas.microsoft.com/office/drawing/2014/main" id="{89F61A23-1654-4FBB-9CD5-8FC1C439A933}"/>
              </a:ext>
            </a:extLst>
          </p:cNvPr>
          <p:cNvCxnSpPr>
            <a:cxnSpLocks/>
          </p:cNvCxnSpPr>
          <p:nvPr/>
        </p:nvCxnSpPr>
        <p:spPr bwMode="auto">
          <a:xfrm>
            <a:off x="6867183" y="4469857"/>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椭圆 40">
            <a:extLst>
              <a:ext uri="{FF2B5EF4-FFF2-40B4-BE49-F238E27FC236}">
                <a16:creationId xmlns:a16="http://schemas.microsoft.com/office/drawing/2014/main" id="{A34F9290-2768-466A-8CFD-3EDB3FC0CAC4}"/>
              </a:ext>
            </a:extLst>
          </p:cNvPr>
          <p:cNvSpPr/>
          <p:nvPr/>
        </p:nvSpPr>
        <p:spPr bwMode="auto">
          <a:xfrm>
            <a:off x="7622979" y="5675907"/>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42" name="直接连接符 41">
            <a:extLst>
              <a:ext uri="{FF2B5EF4-FFF2-40B4-BE49-F238E27FC236}">
                <a16:creationId xmlns:a16="http://schemas.microsoft.com/office/drawing/2014/main" id="{6512DDF3-432A-47CF-9FBD-AC76A3464B12}"/>
              </a:ext>
            </a:extLst>
          </p:cNvPr>
          <p:cNvCxnSpPr>
            <a:cxnSpLocks/>
          </p:cNvCxnSpPr>
          <p:nvPr/>
        </p:nvCxnSpPr>
        <p:spPr bwMode="auto">
          <a:xfrm>
            <a:off x="6732240" y="5781463"/>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24" grpId="0" animBg="1"/>
      <p:bldP spid="26" grpId="0" animBg="1"/>
      <p:bldP spid="29" grpId="0"/>
      <p:bldP spid="32" grpId="0" animBg="1"/>
      <p:bldP spid="34" grpId="0" animBg="1"/>
      <p:bldP spid="38" grpId="0" animBg="1"/>
      <p:bldP spid="4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a:extLst>
              <a:ext uri="{FF2B5EF4-FFF2-40B4-BE49-F238E27FC236}">
                <a16:creationId xmlns:a16="http://schemas.microsoft.com/office/drawing/2014/main" id="{89B7DEBC-4D51-4372-A9CA-22596FBE7495}"/>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p:sp>
        <p:nvSpPr>
          <p:cNvPr id="2" name="内容占位符 1"/>
          <p:cNvSpPr>
            <a:spLocks noGrp="1"/>
          </p:cNvSpPr>
          <p:nvPr>
            <p:ph idx="1"/>
          </p:nvPr>
        </p:nvSpPr>
        <p:spPr>
          <a:xfrm>
            <a:off x="494729" y="1196752"/>
            <a:ext cx="8469759" cy="904863"/>
          </a:xfrm>
        </p:spPr>
        <p:txBody>
          <a:bodyPr/>
          <a:lstStyle/>
          <a:p>
            <a:r>
              <a:rPr lang="zh-CN" altLang="en-US" dirty="0"/>
              <a:t>例</a:t>
            </a:r>
            <a:r>
              <a:rPr lang="en-US" altLang="zh-CN" dirty="0"/>
              <a:t>6-8 </a:t>
            </a:r>
            <a:r>
              <a:rPr lang="zh-CN" altLang="en-US" dirty="0"/>
              <a:t>求表</a:t>
            </a:r>
            <a:r>
              <a:rPr lang="en-US" altLang="zh-CN" dirty="0"/>
              <a:t>6-9</a:t>
            </a:r>
            <a:r>
              <a:rPr lang="zh-CN" altLang="en-US" dirty="0"/>
              <a:t>所示效率矩阵的指派问题的最小解。</a:t>
            </a:r>
          </a:p>
          <a:p>
            <a:endParaRPr lang="zh-CN" altLang="en-US" dirty="0"/>
          </a:p>
        </p:txBody>
      </p:sp>
      <p:sp>
        <p:nvSpPr>
          <p:cNvPr id="76803" name="灯片编号占位符 5">
            <a:extLst>
              <a:ext uri="{FF2B5EF4-FFF2-40B4-BE49-F238E27FC236}">
                <a16:creationId xmlns:a16="http://schemas.microsoft.com/office/drawing/2014/main" id="{C02721D8-F40C-4AF8-91E7-5D0FEC897C9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1D710CB-64F6-497C-9938-0A4050C84C63}" type="slidenum">
              <a:rPr lang="en-US" altLang="zh-CN" sz="1000" smtClean="0"/>
              <a:pPr>
                <a:spcBef>
                  <a:spcPct val="0"/>
                </a:spcBef>
                <a:buClrTx/>
                <a:buSzTx/>
                <a:buFontTx/>
                <a:buNone/>
              </a:pPr>
              <a:t>34</a:t>
            </a:fld>
            <a:endParaRPr lang="en-US" altLang="zh-CN" sz="1000"/>
          </a:p>
        </p:txBody>
      </p:sp>
      <p:sp>
        <p:nvSpPr>
          <p:cNvPr id="76805" name="Rectangle 3">
            <a:extLst>
              <a:ext uri="{FF2B5EF4-FFF2-40B4-BE49-F238E27FC236}">
                <a16:creationId xmlns:a16="http://schemas.microsoft.com/office/drawing/2014/main" id="{845BA9D6-36D0-4DB8-A5DB-5D8F10CECFDB}"/>
              </a:ext>
            </a:extLst>
          </p:cNvPr>
          <p:cNvSpPr>
            <a:spLocks noChangeArrowheads="1"/>
          </p:cNvSpPr>
          <p:nvPr/>
        </p:nvSpPr>
        <p:spPr bwMode="auto">
          <a:xfrm>
            <a:off x="179388" y="1557338"/>
            <a:ext cx="8675687"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latin typeface="宋体" panose="02010600030101010101" pitchFamily="2" charset="-122"/>
            </a:endParaRPr>
          </a:p>
        </p:txBody>
      </p:sp>
      <p:graphicFrame>
        <p:nvGraphicFramePr>
          <p:cNvPr id="76806" name="Object 7">
            <a:extLst>
              <a:ext uri="{FF2B5EF4-FFF2-40B4-BE49-F238E27FC236}">
                <a16:creationId xmlns:a16="http://schemas.microsoft.com/office/drawing/2014/main" id="{1DE23074-87B2-4CBA-AE49-E1AB124D56A7}"/>
              </a:ext>
            </a:extLst>
          </p:cNvPr>
          <p:cNvGraphicFramePr>
            <a:graphicFrameLocks noChangeAspect="1"/>
          </p:cNvGraphicFramePr>
          <p:nvPr>
            <p:extLst>
              <p:ext uri="{D42A27DB-BD31-4B8C-83A1-F6EECF244321}">
                <p14:modId xmlns:p14="http://schemas.microsoft.com/office/powerpoint/2010/main" val="2879670860"/>
              </p:ext>
            </p:extLst>
          </p:nvPr>
        </p:nvGraphicFramePr>
        <p:xfrm>
          <a:off x="192995" y="1689918"/>
          <a:ext cx="8262983" cy="2459161"/>
        </p:xfrm>
        <a:graphic>
          <a:graphicData uri="http://schemas.openxmlformats.org/presentationml/2006/ole">
            <mc:AlternateContent xmlns:mc="http://schemas.openxmlformats.org/markup-compatibility/2006">
              <mc:Choice xmlns:v="urn:schemas-microsoft-com:vml" Requires="v">
                <p:oleObj spid="_x0000_s30821" name="Document" r:id="rId3" imgW="5419725" imgH="1609725" progId="Word.Document.8">
                  <p:embed/>
                </p:oleObj>
              </mc:Choice>
              <mc:Fallback>
                <p:oleObj name="Document" r:id="rId3" imgW="5419725" imgH="1609725" progId="Word.Document.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995" y="1689918"/>
                        <a:ext cx="8262983" cy="2459161"/>
                      </a:xfrm>
                      <a:prstGeom prst="rect">
                        <a:avLst/>
                      </a:prstGeom>
                      <a:noFill/>
                      <a:ln>
                        <a:noFill/>
                      </a:ln>
                      <a:effectLst/>
                      <a:extLst/>
                    </p:spPr>
                  </p:pic>
                </p:oleObj>
              </mc:Fallback>
            </mc:AlternateContent>
          </a:graphicData>
        </a:graphic>
      </p:graphicFrame>
      <p:sp>
        <p:nvSpPr>
          <p:cNvPr id="3" name="矩形 2"/>
          <p:cNvSpPr/>
          <p:nvPr/>
        </p:nvSpPr>
        <p:spPr>
          <a:xfrm>
            <a:off x="1259632" y="3820978"/>
            <a:ext cx="7595443" cy="400110"/>
          </a:xfrm>
          <a:prstGeom prst="rect">
            <a:avLst/>
          </a:prstGeom>
        </p:spPr>
        <p:txBody>
          <a:bodyPr wrap="square">
            <a:spAutoFit/>
          </a:bodyPr>
          <a:lstStyle/>
          <a:p>
            <a:pPr eaLnBrk="1" hangingPunct="1"/>
            <a:r>
              <a:rPr lang="zh-CN" altLang="en-US" sz="2000" dirty="0">
                <a:latin typeface="宋体" panose="02010600030101010101" pitchFamily="2" charset="-122"/>
              </a:rPr>
              <a:t>解  </a:t>
            </a:r>
            <a:r>
              <a:rPr lang="zh-CN" altLang="en-US" sz="2000" b="0" dirty="0">
                <a:latin typeface="宋体" panose="02010600030101010101" pitchFamily="2" charset="-122"/>
              </a:rPr>
              <a:t>按上述第一步，将这系数矩阵进行变换。</a:t>
            </a:r>
          </a:p>
        </p:txBody>
      </p:sp>
      <p:graphicFrame>
        <p:nvGraphicFramePr>
          <p:cNvPr id="8" name="Object 5">
            <a:extLst>
              <a:ext uri="{FF2B5EF4-FFF2-40B4-BE49-F238E27FC236}">
                <a16:creationId xmlns:a16="http://schemas.microsoft.com/office/drawing/2014/main" id="{FA2FF27E-43BB-45B8-B40A-D671EACFB657}"/>
              </a:ext>
            </a:extLst>
          </p:cNvPr>
          <p:cNvGraphicFramePr>
            <a:graphicFrameLocks noChangeAspect="1"/>
          </p:cNvGraphicFramePr>
          <p:nvPr>
            <p:extLst>
              <p:ext uri="{D42A27DB-BD31-4B8C-83A1-F6EECF244321}">
                <p14:modId xmlns:p14="http://schemas.microsoft.com/office/powerpoint/2010/main" val="1483776150"/>
              </p:ext>
            </p:extLst>
          </p:nvPr>
        </p:nvGraphicFramePr>
        <p:xfrm>
          <a:off x="1206928" y="4266787"/>
          <a:ext cx="4271963" cy="2003425"/>
        </p:xfrm>
        <a:graphic>
          <a:graphicData uri="http://schemas.openxmlformats.org/presentationml/2006/ole">
            <mc:AlternateContent xmlns:mc="http://schemas.openxmlformats.org/markup-compatibility/2006">
              <mc:Choice xmlns:v="urn:schemas-microsoft-com:vml" Requires="v">
                <p:oleObj spid="_x0000_s30822" name="公式" r:id="rId5" imgW="2920680" imgH="1371600" progId="Equation.3">
                  <p:embed/>
                </p:oleObj>
              </mc:Choice>
              <mc:Fallback>
                <p:oleObj name="公式" r:id="rId5" imgW="2920680" imgH="1371600" progId="Equation.3">
                  <p:embed/>
                  <p:pic>
                    <p:nvPicPr>
                      <p:cNvPr id="77830" name="Object 5">
                        <a:extLst>
                          <a:ext uri="{FF2B5EF4-FFF2-40B4-BE49-F238E27FC236}">
                            <a16:creationId xmlns:a16="http://schemas.microsoft.com/office/drawing/2014/main" id="{FA2FF27E-43BB-45B8-B40A-D671EACFB657}"/>
                          </a:ext>
                        </a:extLst>
                      </p:cNvPr>
                      <p:cNvPicPr>
                        <a:picLocks noChangeAspect="1" noChangeArrowheads="1"/>
                      </p:cNvPicPr>
                      <p:nvPr/>
                    </p:nvPicPr>
                    <p:blipFill>
                      <a:blip r:embed="rId6"/>
                      <a:srcRect/>
                      <a:stretch>
                        <a:fillRect/>
                      </a:stretch>
                    </p:blipFill>
                    <p:spPr bwMode="auto">
                      <a:xfrm>
                        <a:off x="1206928" y="4266787"/>
                        <a:ext cx="4271963" cy="2003425"/>
                      </a:xfrm>
                      <a:prstGeom prst="rect">
                        <a:avLst/>
                      </a:prstGeom>
                      <a:noFill/>
                      <a:ln>
                        <a:noFill/>
                      </a:ln>
                      <a:effectLst/>
                      <a:extLst/>
                    </p:spPr>
                  </p:pic>
                </p:oleObj>
              </mc:Fallback>
            </mc:AlternateContent>
          </a:graphicData>
        </a:graphic>
      </p:graphicFrame>
      <p:sp>
        <p:nvSpPr>
          <p:cNvPr id="10" name="椭圆 9">
            <a:extLst>
              <a:ext uri="{FF2B5EF4-FFF2-40B4-BE49-F238E27FC236}">
                <a16:creationId xmlns:a16="http://schemas.microsoft.com/office/drawing/2014/main" id="{E10C991B-B8C6-439D-95D7-656DD8D8A1E1}"/>
              </a:ext>
            </a:extLst>
          </p:cNvPr>
          <p:cNvSpPr/>
          <p:nvPr/>
        </p:nvSpPr>
        <p:spPr bwMode="auto">
          <a:xfrm>
            <a:off x="3751817" y="5270771"/>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1" name="直接连接符 10">
            <a:extLst>
              <a:ext uri="{FF2B5EF4-FFF2-40B4-BE49-F238E27FC236}">
                <a16:creationId xmlns:a16="http://schemas.microsoft.com/office/drawing/2014/main" id="{9D294837-FA21-49CC-9968-BC3F6F7141D8}"/>
              </a:ext>
            </a:extLst>
          </p:cNvPr>
          <p:cNvCxnSpPr>
            <a:cxnSpLocks/>
          </p:cNvCxnSpPr>
          <p:nvPr/>
        </p:nvCxnSpPr>
        <p:spPr bwMode="auto">
          <a:xfrm>
            <a:off x="3887893" y="4629481"/>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椭圆 11">
            <a:extLst>
              <a:ext uri="{FF2B5EF4-FFF2-40B4-BE49-F238E27FC236}">
                <a16:creationId xmlns:a16="http://schemas.microsoft.com/office/drawing/2014/main" id="{ED46E6D7-85CF-410C-B6FD-87444FA64A53}"/>
              </a:ext>
            </a:extLst>
          </p:cNvPr>
          <p:cNvSpPr/>
          <p:nvPr/>
        </p:nvSpPr>
        <p:spPr bwMode="auto">
          <a:xfrm>
            <a:off x="4130560" y="4626253"/>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3" name="直接连接符 12">
            <a:extLst>
              <a:ext uri="{FF2B5EF4-FFF2-40B4-BE49-F238E27FC236}">
                <a16:creationId xmlns:a16="http://schemas.microsoft.com/office/drawing/2014/main" id="{0B633588-3550-4169-9FB6-8CB8C5DC1835}"/>
              </a:ext>
            </a:extLst>
          </p:cNvPr>
          <p:cNvCxnSpPr>
            <a:cxnSpLocks/>
          </p:cNvCxnSpPr>
          <p:nvPr/>
        </p:nvCxnSpPr>
        <p:spPr bwMode="auto">
          <a:xfrm>
            <a:off x="3845484" y="4744990"/>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椭圆 13">
            <a:extLst>
              <a:ext uri="{FF2B5EF4-FFF2-40B4-BE49-F238E27FC236}">
                <a16:creationId xmlns:a16="http://schemas.microsoft.com/office/drawing/2014/main" id="{BD027412-FC75-46AE-9A32-4BAD59554BBB}"/>
              </a:ext>
            </a:extLst>
          </p:cNvPr>
          <p:cNvSpPr/>
          <p:nvPr/>
        </p:nvSpPr>
        <p:spPr bwMode="auto">
          <a:xfrm>
            <a:off x="5125874" y="4963853"/>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5" name="直接连接符 14">
            <a:extLst>
              <a:ext uri="{FF2B5EF4-FFF2-40B4-BE49-F238E27FC236}">
                <a16:creationId xmlns:a16="http://schemas.microsoft.com/office/drawing/2014/main" id="{DDA8E7D0-072D-42AD-B8BA-61547D22BD09}"/>
              </a:ext>
            </a:extLst>
          </p:cNvPr>
          <p:cNvCxnSpPr>
            <a:cxnSpLocks/>
          </p:cNvCxnSpPr>
          <p:nvPr/>
        </p:nvCxnSpPr>
        <p:spPr bwMode="auto">
          <a:xfrm>
            <a:off x="3861359" y="5050284"/>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椭圆 16">
            <a:extLst>
              <a:ext uri="{FF2B5EF4-FFF2-40B4-BE49-F238E27FC236}">
                <a16:creationId xmlns:a16="http://schemas.microsoft.com/office/drawing/2014/main" id="{E446FD5C-D2A5-41EE-868B-26551D08ED37}"/>
              </a:ext>
            </a:extLst>
          </p:cNvPr>
          <p:cNvSpPr/>
          <p:nvPr/>
        </p:nvSpPr>
        <p:spPr bwMode="auto">
          <a:xfrm>
            <a:off x="4504193" y="5602848"/>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8" name="直接连接符 17">
            <a:extLst>
              <a:ext uri="{FF2B5EF4-FFF2-40B4-BE49-F238E27FC236}">
                <a16:creationId xmlns:a16="http://schemas.microsoft.com/office/drawing/2014/main" id="{996EF87F-1FAF-419B-8919-1C4CACEE7769}"/>
              </a:ext>
            </a:extLst>
          </p:cNvPr>
          <p:cNvCxnSpPr>
            <a:cxnSpLocks/>
          </p:cNvCxnSpPr>
          <p:nvPr/>
        </p:nvCxnSpPr>
        <p:spPr bwMode="auto">
          <a:xfrm>
            <a:off x="3838519" y="5714979"/>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2" grpId="0" animBg="1"/>
      <p:bldP spid="14"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a:extLst>
              <a:ext uri="{FF2B5EF4-FFF2-40B4-BE49-F238E27FC236}">
                <a16:creationId xmlns:a16="http://schemas.microsoft.com/office/drawing/2014/main" id="{89B7DEBC-4D51-4372-A9CA-22596FBE7495}"/>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p:sp>
        <p:nvSpPr>
          <p:cNvPr id="2" name="内容占位符 1"/>
          <p:cNvSpPr>
            <a:spLocks noGrp="1"/>
          </p:cNvSpPr>
          <p:nvPr>
            <p:ph idx="1"/>
          </p:nvPr>
        </p:nvSpPr>
        <p:spPr>
          <a:xfrm>
            <a:off x="494729" y="1196752"/>
            <a:ext cx="8469759" cy="904863"/>
          </a:xfrm>
        </p:spPr>
        <p:txBody>
          <a:bodyPr/>
          <a:lstStyle/>
          <a:p>
            <a:r>
              <a:rPr lang="zh-CN" altLang="en-US" dirty="0"/>
              <a:t>例</a:t>
            </a:r>
            <a:r>
              <a:rPr lang="en-US" altLang="zh-CN" dirty="0"/>
              <a:t>6-8 </a:t>
            </a:r>
            <a:r>
              <a:rPr lang="zh-CN" altLang="en-US" dirty="0"/>
              <a:t>求表</a:t>
            </a:r>
            <a:r>
              <a:rPr lang="en-US" altLang="zh-CN" dirty="0"/>
              <a:t>6-9</a:t>
            </a:r>
            <a:r>
              <a:rPr lang="zh-CN" altLang="en-US" dirty="0"/>
              <a:t>所示效率矩阵的指派问题的最小解。</a:t>
            </a:r>
          </a:p>
          <a:p>
            <a:endParaRPr lang="zh-CN" altLang="en-US" dirty="0"/>
          </a:p>
        </p:txBody>
      </p:sp>
      <p:sp>
        <p:nvSpPr>
          <p:cNvPr id="76803" name="灯片编号占位符 5">
            <a:extLst>
              <a:ext uri="{FF2B5EF4-FFF2-40B4-BE49-F238E27FC236}">
                <a16:creationId xmlns:a16="http://schemas.microsoft.com/office/drawing/2014/main" id="{C02721D8-F40C-4AF8-91E7-5D0FEC897C9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1D710CB-64F6-497C-9938-0A4050C84C63}" type="slidenum">
              <a:rPr lang="en-US" altLang="zh-CN" sz="1000" smtClean="0"/>
              <a:pPr>
                <a:spcBef>
                  <a:spcPct val="0"/>
                </a:spcBef>
                <a:buClrTx/>
                <a:buSzTx/>
                <a:buFontTx/>
                <a:buNone/>
              </a:pPr>
              <a:t>35</a:t>
            </a:fld>
            <a:endParaRPr lang="en-US" altLang="zh-CN" sz="1000"/>
          </a:p>
        </p:txBody>
      </p:sp>
      <p:sp>
        <p:nvSpPr>
          <p:cNvPr id="76805" name="Rectangle 3">
            <a:extLst>
              <a:ext uri="{FF2B5EF4-FFF2-40B4-BE49-F238E27FC236}">
                <a16:creationId xmlns:a16="http://schemas.microsoft.com/office/drawing/2014/main" id="{845BA9D6-36D0-4DB8-A5DB-5D8F10CECFDB}"/>
              </a:ext>
            </a:extLst>
          </p:cNvPr>
          <p:cNvSpPr>
            <a:spLocks noChangeArrowheads="1"/>
          </p:cNvSpPr>
          <p:nvPr/>
        </p:nvSpPr>
        <p:spPr bwMode="auto">
          <a:xfrm>
            <a:off x="179388" y="1557338"/>
            <a:ext cx="8675687"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0" dirty="0">
              <a:latin typeface="宋体" panose="02010600030101010101" pitchFamily="2" charset="-122"/>
            </a:endParaRPr>
          </a:p>
        </p:txBody>
      </p:sp>
      <p:graphicFrame>
        <p:nvGraphicFramePr>
          <p:cNvPr id="8" name="Object 5">
            <a:extLst>
              <a:ext uri="{FF2B5EF4-FFF2-40B4-BE49-F238E27FC236}">
                <a16:creationId xmlns:a16="http://schemas.microsoft.com/office/drawing/2014/main" id="{FA2FF27E-43BB-45B8-B40A-D671EACFB657}"/>
              </a:ext>
            </a:extLst>
          </p:cNvPr>
          <p:cNvGraphicFramePr>
            <a:graphicFrameLocks noChangeAspect="1"/>
          </p:cNvGraphicFramePr>
          <p:nvPr>
            <p:extLst>
              <p:ext uri="{D42A27DB-BD31-4B8C-83A1-F6EECF244321}">
                <p14:modId xmlns:p14="http://schemas.microsoft.com/office/powerpoint/2010/main" val="262759795"/>
              </p:ext>
            </p:extLst>
          </p:nvPr>
        </p:nvGraphicFramePr>
        <p:xfrm>
          <a:off x="611560" y="3221905"/>
          <a:ext cx="4271963" cy="2003425"/>
        </p:xfrm>
        <a:graphic>
          <a:graphicData uri="http://schemas.openxmlformats.org/presentationml/2006/ole">
            <mc:AlternateContent xmlns:mc="http://schemas.openxmlformats.org/markup-compatibility/2006">
              <mc:Choice xmlns:v="urn:schemas-microsoft-com:vml" Requires="v">
                <p:oleObj spid="_x0000_s62502" name="公式" r:id="rId3" imgW="2920680" imgH="1371600" progId="Equation.3">
                  <p:embed/>
                </p:oleObj>
              </mc:Choice>
              <mc:Fallback>
                <p:oleObj name="公式" r:id="rId3" imgW="2920680" imgH="1371600" progId="Equation.3">
                  <p:embed/>
                  <p:pic>
                    <p:nvPicPr>
                      <p:cNvPr id="8" name="Object 5">
                        <a:extLst>
                          <a:ext uri="{FF2B5EF4-FFF2-40B4-BE49-F238E27FC236}">
                            <a16:creationId xmlns:a16="http://schemas.microsoft.com/office/drawing/2014/main" id="{FA2FF27E-43BB-45B8-B40A-D671EACFB657}"/>
                          </a:ext>
                        </a:extLst>
                      </p:cNvPr>
                      <p:cNvPicPr>
                        <a:picLocks noChangeAspect="1" noChangeArrowheads="1"/>
                      </p:cNvPicPr>
                      <p:nvPr/>
                    </p:nvPicPr>
                    <p:blipFill>
                      <a:blip r:embed="rId4"/>
                      <a:srcRect/>
                      <a:stretch>
                        <a:fillRect/>
                      </a:stretch>
                    </p:blipFill>
                    <p:spPr bwMode="auto">
                      <a:xfrm>
                        <a:off x="611560" y="3221905"/>
                        <a:ext cx="4271963" cy="2003425"/>
                      </a:xfrm>
                      <a:prstGeom prst="rect">
                        <a:avLst/>
                      </a:prstGeom>
                      <a:noFill/>
                      <a:ln>
                        <a:noFill/>
                      </a:ln>
                      <a:effectLst/>
                      <a:extLst/>
                    </p:spPr>
                  </p:pic>
                </p:oleObj>
              </mc:Fallback>
            </mc:AlternateContent>
          </a:graphicData>
        </a:graphic>
      </p:graphicFrame>
      <p:sp>
        <p:nvSpPr>
          <p:cNvPr id="10" name="椭圆 9">
            <a:extLst>
              <a:ext uri="{FF2B5EF4-FFF2-40B4-BE49-F238E27FC236}">
                <a16:creationId xmlns:a16="http://schemas.microsoft.com/office/drawing/2014/main" id="{E10C991B-B8C6-439D-95D7-656DD8D8A1E1}"/>
              </a:ext>
            </a:extLst>
          </p:cNvPr>
          <p:cNvSpPr/>
          <p:nvPr/>
        </p:nvSpPr>
        <p:spPr bwMode="auto">
          <a:xfrm>
            <a:off x="3156449" y="4225889"/>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1" name="直接连接符 10">
            <a:extLst>
              <a:ext uri="{FF2B5EF4-FFF2-40B4-BE49-F238E27FC236}">
                <a16:creationId xmlns:a16="http://schemas.microsoft.com/office/drawing/2014/main" id="{9D294837-FA21-49CC-9968-BC3F6F7141D8}"/>
              </a:ext>
            </a:extLst>
          </p:cNvPr>
          <p:cNvCxnSpPr>
            <a:cxnSpLocks/>
          </p:cNvCxnSpPr>
          <p:nvPr/>
        </p:nvCxnSpPr>
        <p:spPr bwMode="auto">
          <a:xfrm>
            <a:off x="3292525" y="3584599"/>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椭圆 11">
            <a:extLst>
              <a:ext uri="{FF2B5EF4-FFF2-40B4-BE49-F238E27FC236}">
                <a16:creationId xmlns:a16="http://schemas.microsoft.com/office/drawing/2014/main" id="{ED46E6D7-85CF-410C-B6FD-87444FA64A53}"/>
              </a:ext>
            </a:extLst>
          </p:cNvPr>
          <p:cNvSpPr/>
          <p:nvPr/>
        </p:nvSpPr>
        <p:spPr bwMode="auto">
          <a:xfrm>
            <a:off x="3535192" y="3581371"/>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3" name="直接连接符 12">
            <a:extLst>
              <a:ext uri="{FF2B5EF4-FFF2-40B4-BE49-F238E27FC236}">
                <a16:creationId xmlns:a16="http://schemas.microsoft.com/office/drawing/2014/main" id="{0B633588-3550-4169-9FB6-8CB8C5DC1835}"/>
              </a:ext>
            </a:extLst>
          </p:cNvPr>
          <p:cNvCxnSpPr>
            <a:cxnSpLocks/>
          </p:cNvCxnSpPr>
          <p:nvPr/>
        </p:nvCxnSpPr>
        <p:spPr bwMode="auto">
          <a:xfrm>
            <a:off x="3250116" y="3700108"/>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椭圆 13">
            <a:extLst>
              <a:ext uri="{FF2B5EF4-FFF2-40B4-BE49-F238E27FC236}">
                <a16:creationId xmlns:a16="http://schemas.microsoft.com/office/drawing/2014/main" id="{BD027412-FC75-46AE-9A32-4BAD59554BBB}"/>
              </a:ext>
            </a:extLst>
          </p:cNvPr>
          <p:cNvSpPr/>
          <p:nvPr/>
        </p:nvSpPr>
        <p:spPr bwMode="auto">
          <a:xfrm>
            <a:off x="4530506" y="3918971"/>
            <a:ext cx="261389" cy="273373"/>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5" name="直接连接符 14">
            <a:extLst>
              <a:ext uri="{FF2B5EF4-FFF2-40B4-BE49-F238E27FC236}">
                <a16:creationId xmlns:a16="http://schemas.microsoft.com/office/drawing/2014/main" id="{DDA8E7D0-072D-42AD-B8BA-61547D22BD09}"/>
              </a:ext>
            </a:extLst>
          </p:cNvPr>
          <p:cNvCxnSpPr>
            <a:cxnSpLocks/>
          </p:cNvCxnSpPr>
          <p:nvPr/>
        </p:nvCxnSpPr>
        <p:spPr bwMode="auto">
          <a:xfrm>
            <a:off x="3265991" y="4005402"/>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椭圆 16">
            <a:extLst>
              <a:ext uri="{FF2B5EF4-FFF2-40B4-BE49-F238E27FC236}">
                <a16:creationId xmlns:a16="http://schemas.microsoft.com/office/drawing/2014/main" id="{E446FD5C-D2A5-41EE-868B-26551D08ED37}"/>
              </a:ext>
            </a:extLst>
          </p:cNvPr>
          <p:cNvSpPr/>
          <p:nvPr/>
        </p:nvSpPr>
        <p:spPr bwMode="auto">
          <a:xfrm>
            <a:off x="3908825" y="4557966"/>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8" name="直接连接符 17">
            <a:extLst>
              <a:ext uri="{FF2B5EF4-FFF2-40B4-BE49-F238E27FC236}">
                <a16:creationId xmlns:a16="http://schemas.microsoft.com/office/drawing/2014/main" id="{996EF87F-1FAF-419B-8919-1C4CACEE7769}"/>
              </a:ext>
            </a:extLst>
          </p:cNvPr>
          <p:cNvCxnSpPr>
            <a:cxnSpLocks/>
          </p:cNvCxnSpPr>
          <p:nvPr/>
        </p:nvCxnSpPr>
        <p:spPr bwMode="auto">
          <a:xfrm>
            <a:off x="3243151" y="4670097"/>
            <a:ext cx="1548744" cy="335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9" name="Object 6">
            <a:extLst>
              <a:ext uri="{FF2B5EF4-FFF2-40B4-BE49-F238E27FC236}">
                <a16:creationId xmlns:a16="http://schemas.microsoft.com/office/drawing/2014/main" id="{7584B1FB-21CF-436C-806C-815AEA788B38}"/>
              </a:ext>
            </a:extLst>
          </p:cNvPr>
          <p:cNvGraphicFramePr>
            <a:graphicFrameLocks noChangeAspect="1"/>
          </p:cNvGraphicFramePr>
          <p:nvPr>
            <p:extLst>
              <p:ext uri="{D42A27DB-BD31-4B8C-83A1-F6EECF244321}">
                <p14:modId xmlns:p14="http://schemas.microsoft.com/office/powerpoint/2010/main" val="1826901192"/>
              </p:ext>
            </p:extLst>
          </p:nvPr>
        </p:nvGraphicFramePr>
        <p:xfrm>
          <a:off x="5148064" y="3525409"/>
          <a:ext cx="1809730" cy="1715555"/>
        </p:xfrm>
        <a:graphic>
          <a:graphicData uri="http://schemas.openxmlformats.org/presentationml/2006/ole">
            <mc:AlternateContent xmlns:mc="http://schemas.openxmlformats.org/markup-compatibility/2006">
              <mc:Choice xmlns:v="urn:schemas-microsoft-com:vml" Requires="v">
                <p:oleObj spid="_x0000_s62503" name="Equation" r:id="rId5" imgW="1206360" imgH="1143000" progId="Equation.DSMT4">
                  <p:embed/>
                </p:oleObj>
              </mc:Choice>
              <mc:Fallback>
                <p:oleObj name="Equation" r:id="rId5" imgW="1206360" imgH="1143000" progId="Equation.DSMT4">
                  <p:embed/>
                  <p:pic>
                    <p:nvPicPr>
                      <p:cNvPr id="19" name="Object 6">
                        <a:extLst>
                          <a:ext uri="{FF2B5EF4-FFF2-40B4-BE49-F238E27FC236}">
                            <a16:creationId xmlns:a16="http://schemas.microsoft.com/office/drawing/2014/main" id="{7584B1FB-21CF-436C-806C-815AEA788B38}"/>
                          </a:ext>
                        </a:extLst>
                      </p:cNvPr>
                      <p:cNvPicPr>
                        <a:picLocks noChangeAspect="1" noChangeArrowheads="1"/>
                      </p:cNvPicPr>
                      <p:nvPr/>
                    </p:nvPicPr>
                    <p:blipFill>
                      <a:blip r:embed="rId6"/>
                      <a:srcRect/>
                      <a:stretch>
                        <a:fillRect/>
                      </a:stretch>
                    </p:blipFill>
                    <p:spPr bwMode="auto">
                      <a:xfrm>
                        <a:off x="5148064" y="3525409"/>
                        <a:ext cx="1809730" cy="1715555"/>
                      </a:xfrm>
                      <a:prstGeom prst="rect">
                        <a:avLst/>
                      </a:prstGeom>
                      <a:noFill/>
                      <a:ln>
                        <a:noFill/>
                      </a:ln>
                      <a:effectLst/>
                      <a:extLst/>
                    </p:spPr>
                  </p:pic>
                </p:oleObj>
              </mc:Fallback>
            </mc:AlternateContent>
          </a:graphicData>
        </a:graphic>
      </p:graphicFrame>
      <p:sp>
        <p:nvSpPr>
          <p:cNvPr id="4" name="矩形 3">
            <a:extLst>
              <a:ext uri="{FF2B5EF4-FFF2-40B4-BE49-F238E27FC236}">
                <a16:creationId xmlns:a16="http://schemas.microsoft.com/office/drawing/2014/main" id="{C501BFF0-FE0D-492C-BD59-DCD256DF0619}"/>
              </a:ext>
            </a:extLst>
          </p:cNvPr>
          <p:cNvSpPr/>
          <p:nvPr/>
        </p:nvSpPr>
        <p:spPr>
          <a:xfrm>
            <a:off x="502752" y="1658937"/>
            <a:ext cx="7597639" cy="1456809"/>
          </a:xfrm>
          <a:prstGeom prst="rect">
            <a:avLst/>
          </a:prstGeom>
        </p:spPr>
        <p:txBody>
          <a:bodyPr wrap="square">
            <a:spAutoFit/>
          </a:bodyPr>
          <a:lstStyle/>
          <a:p>
            <a:pPr lvl="1" algn="just" eaLnBrk="1" hangingPunct="1"/>
            <a:r>
              <a:rPr lang="zh-CN" altLang="en-US" sz="1800" dirty="0">
                <a:latin typeface="宋体" panose="02010600030101010101" pitchFamily="2" charset="-122"/>
              </a:rPr>
              <a:t>步骤三：</a:t>
            </a:r>
            <a:r>
              <a:rPr lang="zh-CN" altLang="en-US" sz="1800" dirty="0">
                <a:solidFill>
                  <a:srgbClr val="FF0000"/>
                </a:solidFill>
                <a:latin typeface="宋体" panose="02010600030101010101" pitchFamily="2" charset="-122"/>
              </a:rPr>
              <a:t>增加</a:t>
            </a:r>
            <a:r>
              <a:rPr lang="en-US" altLang="zh-CN" sz="1800" dirty="0">
                <a:solidFill>
                  <a:srgbClr val="FF0000"/>
                </a:solidFill>
                <a:latin typeface="宋体" panose="02010600030101010101" pitchFamily="2" charset="-122"/>
              </a:rPr>
              <a:t>0</a:t>
            </a:r>
            <a:r>
              <a:rPr lang="zh-CN" altLang="en-US" sz="1800" dirty="0">
                <a:solidFill>
                  <a:srgbClr val="FF0000"/>
                </a:solidFill>
                <a:latin typeface="宋体" panose="02010600030101010101" pitchFamily="2" charset="-122"/>
              </a:rPr>
              <a:t>元素</a:t>
            </a:r>
            <a:r>
              <a:rPr lang="zh-CN" altLang="en-US" sz="1800" dirty="0">
                <a:latin typeface="宋体" panose="02010600030101010101" pitchFamily="2" charset="-122"/>
              </a:rPr>
              <a:t>。</a:t>
            </a:r>
            <a:endParaRPr lang="en-US" altLang="zh-CN" sz="1800" dirty="0">
              <a:latin typeface="宋体" panose="02010600030101010101" pitchFamily="2" charset="-122"/>
            </a:endParaRPr>
          </a:p>
          <a:p>
            <a:pPr lvl="2" algn="just" eaLnBrk="1" hangingPunct="1">
              <a:spcBef>
                <a:spcPts val="200"/>
              </a:spcBef>
            </a:pPr>
            <a:r>
              <a:rPr lang="en-US" altLang="zh-CN" sz="1600" dirty="0"/>
              <a:t>(1)</a:t>
            </a:r>
            <a:r>
              <a:rPr lang="zh-CN" altLang="en-US" sz="1600" dirty="0">
                <a:latin typeface="宋体" panose="02010600030101010101" pitchFamily="2" charset="-122"/>
              </a:rPr>
              <a:t>在没有被直线覆盖的部分中找出最小元素。</a:t>
            </a:r>
            <a:endParaRPr lang="en-US" altLang="zh-CN" sz="1600" dirty="0">
              <a:latin typeface="宋体" panose="02010600030101010101" pitchFamily="2" charset="-122"/>
            </a:endParaRPr>
          </a:p>
          <a:p>
            <a:pPr lvl="2" algn="just" eaLnBrk="1" hangingPunct="1">
              <a:spcBef>
                <a:spcPts val="200"/>
              </a:spcBef>
            </a:pPr>
            <a:r>
              <a:rPr lang="en-US" altLang="zh-CN" sz="1600" dirty="0"/>
              <a:t>(2)</a:t>
            </a:r>
            <a:r>
              <a:rPr lang="zh-CN" altLang="en-US" sz="1600" dirty="0">
                <a:latin typeface="宋体" panose="02010600030101010101" pitchFamily="2" charset="-122"/>
              </a:rPr>
              <a:t>在没有被直线覆盖的各元素中都减去这最小元素</a:t>
            </a:r>
            <a:endParaRPr lang="en-US" altLang="zh-CN" sz="1600" dirty="0">
              <a:latin typeface="宋体" panose="02010600030101010101" pitchFamily="2" charset="-122"/>
            </a:endParaRPr>
          </a:p>
          <a:p>
            <a:pPr lvl="2" algn="just" eaLnBrk="1" hangingPunct="1">
              <a:spcBef>
                <a:spcPts val="200"/>
              </a:spcBef>
            </a:pPr>
            <a:r>
              <a:rPr lang="en-US" altLang="zh-CN" sz="1600" dirty="0"/>
              <a:t>(3)</a:t>
            </a:r>
            <a:r>
              <a:rPr lang="zh-CN" altLang="en-US" sz="1600" dirty="0">
                <a:latin typeface="宋体" panose="02010600030101010101" pitchFamily="2" charset="-122"/>
              </a:rPr>
              <a:t>在双直线覆盖的各元素都加上这最小元素</a:t>
            </a:r>
            <a:endParaRPr lang="en-US" altLang="zh-CN" sz="1600" dirty="0">
              <a:latin typeface="宋体" panose="02010600030101010101" pitchFamily="2" charset="-122"/>
            </a:endParaRPr>
          </a:p>
          <a:p>
            <a:pPr lvl="2" algn="just" eaLnBrk="1" hangingPunct="1">
              <a:spcBef>
                <a:spcPts val="200"/>
              </a:spcBef>
            </a:pPr>
            <a:r>
              <a:rPr lang="zh-CN" altLang="en-US" sz="1600" dirty="0">
                <a:latin typeface="宋体" panose="02010600030101010101" pitchFamily="2" charset="-122"/>
              </a:rPr>
              <a:t>这样得到新系数矩阵</a:t>
            </a:r>
            <a:r>
              <a:rPr lang="en-US" altLang="zh-CN" sz="1600" dirty="0">
                <a:latin typeface="宋体" panose="02010600030101010101" pitchFamily="2" charset="-122"/>
              </a:rPr>
              <a:t>(</a:t>
            </a:r>
            <a:r>
              <a:rPr lang="zh-CN" altLang="en-US" sz="1600" dirty="0">
                <a:latin typeface="宋体" panose="02010600030101010101" pitchFamily="2" charset="-122"/>
              </a:rPr>
              <a:t>它的最优解和原问题相同</a:t>
            </a:r>
            <a:r>
              <a:rPr lang="en-US" altLang="zh-CN" sz="1600" dirty="0">
                <a:latin typeface="宋体" panose="02010600030101010101" pitchFamily="2" charset="-122"/>
              </a:rPr>
              <a:t>)</a:t>
            </a:r>
            <a:r>
              <a:rPr lang="zh-CN" altLang="en-US" sz="1600" dirty="0">
                <a:latin typeface="宋体" panose="02010600030101010101" pitchFamily="2" charset="-122"/>
              </a:rPr>
              <a:t>继续按步骤二求解。</a:t>
            </a:r>
          </a:p>
        </p:txBody>
      </p:sp>
      <p:sp>
        <p:nvSpPr>
          <p:cNvPr id="20" name="椭圆 19">
            <a:extLst>
              <a:ext uri="{FF2B5EF4-FFF2-40B4-BE49-F238E27FC236}">
                <a16:creationId xmlns:a16="http://schemas.microsoft.com/office/drawing/2014/main" id="{67BF72EE-21B8-4B26-96D5-74A98E733DA6}"/>
              </a:ext>
            </a:extLst>
          </p:cNvPr>
          <p:cNvSpPr/>
          <p:nvPr/>
        </p:nvSpPr>
        <p:spPr bwMode="auto">
          <a:xfrm>
            <a:off x="5258614" y="4941168"/>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1" name="直接连接符 20">
            <a:extLst>
              <a:ext uri="{FF2B5EF4-FFF2-40B4-BE49-F238E27FC236}">
                <a16:creationId xmlns:a16="http://schemas.microsoft.com/office/drawing/2014/main" id="{801D7DAA-091A-4E7F-A804-A11E0EA89560}"/>
              </a:ext>
            </a:extLst>
          </p:cNvPr>
          <p:cNvCxnSpPr>
            <a:cxnSpLocks/>
          </p:cNvCxnSpPr>
          <p:nvPr/>
        </p:nvCxnSpPr>
        <p:spPr bwMode="auto">
          <a:xfrm>
            <a:off x="5389308" y="3624613"/>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椭圆 21">
            <a:extLst>
              <a:ext uri="{FF2B5EF4-FFF2-40B4-BE49-F238E27FC236}">
                <a16:creationId xmlns:a16="http://schemas.microsoft.com/office/drawing/2014/main" id="{1635B304-F501-4CEE-8C64-4D9917FD354D}"/>
              </a:ext>
            </a:extLst>
          </p:cNvPr>
          <p:cNvSpPr/>
          <p:nvPr/>
        </p:nvSpPr>
        <p:spPr bwMode="auto">
          <a:xfrm>
            <a:off x="5618654" y="3573016"/>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3" name="直接连接符 22">
            <a:extLst>
              <a:ext uri="{FF2B5EF4-FFF2-40B4-BE49-F238E27FC236}">
                <a16:creationId xmlns:a16="http://schemas.microsoft.com/office/drawing/2014/main" id="{A209BF5E-5FA8-45CC-87AE-D584D6F4F9C0}"/>
              </a:ext>
            </a:extLst>
          </p:cNvPr>
          <p:cNvCxnSpPr>
            <a:cxnSpLocks/>
          </p:cNvCxnSpPr>
          <p:nvPr/>
        </p:nvCxnSpPr>
        <p:spPr bwMode="auto">
          <a:xfrm>
            <a:off x="5303979" y="3681600"/>
            <a:ext cx="1512168" cy="0"/>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椭圆 25">
            <a:extLst>
              <a:ext uri="{FF2B5EF4-FFF2-40B4-BE49-F238E27FC236}">
                <a16:creationId xmlns:a16="http://schemas.microsoft.com/office/drawing/2014/main" id="{B97639CA-7EE7-40D8-A372-9F53C4ACB4EA}"/>
              </a:ext>
            </a:extLst>
          </p:cNvPr>
          <p:cNvSpPr/>
          <p:nvPr/>
        </p:nvSpPr>
        <p:spPr bwMode="auto">
          <a:xfrm>
            <a:off x="6617622" y="4239376"/>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7" name="直接连接符 26">
            <a:extLst>
              <a:ext uri="{FF2B5EF4-FFF2-40B4-BE49-F238E27FC236}">
                <a16:creationId xmlns:a16="http://schemas.microsoft.com/office/drawing/2014/main" id="{83E18B5B-E1B5-47A9-9639-917CFE185FC9}"/>
              </a:ext>
            </a:extLst>
          </p:cNvPr>
          <p:cNvCxnSpPr>
            <a:cxnSpLocks/>
          </p:cNvCxnSpPr>
          <p:nvPr/>
        </p:nvCxnSpPr>
        <p:spPr bwMode="auto">
          <a:xfrm>
            <a:off x="6744139" y="3645024"/>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椭圆 27">
            <a:extLst>
              <a:ext uri="{FF2B5EF4-FFF2-40B4-BE49-F238E27FC236}">
                <a16:creationId xmlns:a16="http://schemas.microsoft.com/office/drawing/2014/main" id="{04438A55-D0C3-45A0-98DE-8BC5FDF83A20}"/>
              </a:ext>
            </a:extLst>
          </p:cNvPr>
          <p:cNvSpPr/>
          <p:nvPr/>
        </p:nvSpPr>
        <p:spPr bwMode="auto">
          <a:xfrm>
            <a:off x="5969195" y="3905624"/>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9" name="直接连接符 28">
            <a:extLst>
              <a:ext uri="{FF2B5EF4-FFF2-40B4-BE49-F238E27FC236}">
                <a16:creationId xmlns:a16="http://schemas.microsoft.com/office/drawing/2014/main" id="{32F48098-9E70-4E2B-9E14-3387D3F3450D}"/>
              </a:ext>
            </a:extLst>
          </p:cNvPr>
          <p:cNvCxnSpPr>
            <a:cxnSpLocks/>
          </p:cNvCxnSpPr>
          <p:nvPr/>
        </p:nvCxnSpPr>
        <p:spPr bwMode="auto">
          <a:xfrm>
            <a:off x="5231971" y="4032496"/>
            <a:ext cx="1512168" cy="0"/>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AC9C9E0B-6A19-43AA-B5C4-28B8BD70EB1E}"/>
              </a:ext>
            </a:extLst>
          </p:cNvPr>
          <p:cNvCxnSpPr>
            <a:cxnSpLocks/>
          </p:cNvCxnSpPr>
          <p:nvPr/>
        </p:nvCxnSpPr>
        <p:spPr bwMode="auto">
          <a:xfrm>
            <a:off x="6077779" y="3632832"/>
            <a:ext cx="0" cy="1517145"/>
          </a:xfrm>
          <a:prstGeom prst="line">
            <a:avLst/>
          </a:prstGeom>
          <a:noFill/>
          <a:ln w="28575"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椭圆 30">
            <a:extLst>
              <a:ext uri="{FF2B5EF4-FFF2-40B4-BE49-F238E27FC236}">
                <a16:creationId xmlns:a16="http://schemas.microsoft.com/office/drawing/2014/main" id="{B0C627BE-2DA4-4E93-B030-F926F0C5FA55}"/>
              </a:ext>
            </a:extLst>
          </p:cNvPr>
          <p:cNvSpPr/>
          <p:nvPr/>
        </p:nvSpPr>
        <p:spPr bwMode="auto">
          <a:xfrm>
            <a:off x="6293803" y="4583800"/>
            <a:ext cx="261389" cy="248570"/>
          </a:xfrm>
          <a:prstGeom prst="ellipse">
            <a:avLst/>
          </a:prstGeom>
          <a:noFill/>
          <a:ln>
            <a:solidFill>
              <a:srgbClr val="FF0000"/>
            </a:solid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aphicFrame>
        <p:nvGraphicFramePr>
          <p:cNvPr id="32" name="Object 4">
            <a:extLst>
              <a:ext uri="{FF2B5EF4-FFF2-40B4-BE49-F238E27FC236}">
                <a16:creationId xmlns:a16="http://schemas.microsoft.com/office/drawing/2014/main" id="{7DDBBA6C-7D6B-4F3C-ACEE-9161B45E1219}"/>
              </a:ext>
            </a:extLst>
          </p:cNvPr>
          <p:cNvGraphicFramePr>
            <a:graphicFrameLocks noChangeAspect="1"/>
          </p:cNvGraphicFramePr>
          <p:nvPr>
            <p:extLst>
              <p:ext uri="{D42A27DB-BD31-4B8C-83A1-F6EECF244321}">
                <p14:modId xmlns:p14="http://schemas.microsoft.com/office/powerpoint/2010/main" val="4224382240"/>
              </p:ext>
            </p:extLst>
          </p:nvPr>
        </p:nvGraphicFramePr>
        <p:xfrm>
          <a:off x="7281314" y="3570916"/>
          <a:ext cx="1630063" cy="1648025"/>
        </p:xfrm>
        <a:graphic>
          <a:graphicData uri="http://schemas.openxmlformats.org/presentationml/2006/ole">
            <mc:AlternateContent xmlns:mc="http://schemas.openxmlformats.org/markup-compatibility/2006">
              <mc:Choice xmlns:v="urn:schemas-microsoft-com:vml" Requires="v">
                <p:oleObj spid="_x0000_s62504" name="公式" r:id="rId7" imgW="1130040" imgH="1143000" progId="Equation.3">
                  <p:embed/>
                </p:oleObj>
              </mc:Choice>
              <mc:Fallback>
                <p:oleObj name="公式" r:id="rId7" imgW="1130040" imgH="1143000" progId="Equation.3">
                  <p:embed/>
                  <p:pic>
                    <p:nvPicPr>
                      <p:cNvPr id="51" name="Object 4">
                        <a:extLst>
                          <a:ext uri="{FF2B5EF4-FFF2-40B4-BE49-F238E27FC236}">
                            <a16:creationId xmlns:a16="http://schemas.microsoft.com/office/drawing/2014/main" id="{F9F6FC0D-C435-4CA9-821A-BFC7436153B0}"/>
                          </a:ext>
                        </a:extLst>
                      </p:cNvPr>
                      <p:cNvPicPr>
                        <a:picLocks noChangeAspect="1" noChangeArrowheads="1"/>
                      </p:cNvPicPr>
                      <p:nvPr/>
                    </p:nvPicPr>
                    <p:blipFill>
                      <a:blip r:embed="rId8"/>
                      <a:srcRect/>
                      <a:stretch>
                        <a:fillRect/>
                      </a:stretch>
                    </p:blipFill>
                    <p:spPr bwMode="auto">
                      <a:xfrm>
                        <a:off x="7281314" y="3570916"/>
                        <a:ext cx="1630063" cy="16480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28353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6" grpId="0" animBg="1"/>
      <p:bldP spid="28" grpId="0" animBg="1"/>
      <p:bldP spid="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a:extLst>
              <a:ext uri="{FF2B5EF4-FFF2-40B4-BE49-F238E27FC236}">
                <a16:creationId xmlns:a16="http://schemas.microsoft.com/office/drawing/2014/main" id="{F673C47D-02B4-49F0-8052-4E31543BC248}"/>
              </a:ext>
            </a:extLst>
          </p:cNvPr>
          <p:cNvSpPr>
            <a:spLocks noGrp="1" noChangeArrowheads="1"/>
          </p:cNvSpPr>
          <p:nvPr>
            <p:ph type="title"/>
          </p:nvPr>
        </p:nvSpPr>
        <p:spPr/>
        <p:txBody>
          <a:bodyPr/>
          <a:lstStyle/>
          <a:p>
            <a:pPr eaLnBrk="1" hangingPunct="1"/>
            <a:r>
              <a:rPr lang="en-US" altLang="zh-CN" dirty="0">
                <a:latin typeface="Arial" panose="020B0604020202020204" pitchFamily="34" charset="0"/>
              </a:rPr>
              <a:t>6.5 </a:t>
            </a:r>
            <a:r>
              <a:rPr lang="zh-CN" altLang="en-US" dirty="0">
                <a:latin typeface="Arial" panose="020B0604020202020204" pitchFamily="34" charset="0"/>
              </a:rPr>
              <a:t>指派问题</a:t>
            </a:r>
          </a:p>
        </p:txBody>
      </p:sp>
      <p:sp>
        <p:nvSpPr>
          <p:cNvPr id="2" name="内容占位符 1"/>
          <p:cNvSpPr>
            <a:spLocks noGrp="1"/>
          </p:cNvSpPr>
          <p:nvPr>
            <p:ph idx="1"/>
          </p:nvPr>
        </p:nvSpPr>
        <p:spPr>
          <a:xfrm>
            <a:off x="494729" y="1196752"/>
            <a:ext cx="8469759" cy="5262979"/>
          </a:xfrm>
        </p:spPr>
        <p:txBody>
          <a:bodyPr/>
          <a:lstStyle/>
          <a:p>
            <a:r>
              <a:rPr lang="zh-CN" altLang="en-US" dirty="0"/>
              <a:t>例</a:t>
            </a:r>
            <a:r>
              <a:rPr lang="en-US" altLang="zh-CN" dirty="0"/>
              <a:t>6-8 </a:t>
            </a:r>
            <a:r>
              <a:rPr lang="zh-CN" altLang="en-US" dirty="0"/>
              <a:t>求表</a:t>
            </a:r>
            <a:r>
              <a:rPr lang="en-US" altLang="zh-CN" dirty="0"/>
              <a:t>6-9</a:t>
            </a:r>
            <a:r>
              <a:rPr lang="zh-CN" altLang="en-US" dirty="0"/>
              <a:t>所示效率矩阵的指派问题的最小解。</a:t>
            </a:r>
            <a:endParaRPr lang="en-US" altLang="zh-CN" dirty="0"/>
          </a:p>
          <a:p>
            <a:pPr eaLnBrk="1" hangingPunct="1"/>
            <a:endParaRPr lang="zh-CN" altLang="en-US" sz="2000" dirty="0">
              <a:latin typeface="宋体" panose="02010600030101010101" pitchFamily="2" charset="-122"/>
            </a:endParaRPr>
          </a:p>
          <a:p>
            <a:pPr eaLnBrk="1" hangingPunct="1"/>
            <a:endParaRPr lang="zh-CN" altLang="en-US" sz="2000" dirty="0">
              <a:latin typeface="宋体" panose="02010600030101010101" pitchFamily="2" charset="-122"/>
            </a:endParaRPr>
          </a:p>
          <a:p>
            <a:pPr eaLnBrk="1" hangingPunct="1"/>
            <a:endParaRPr lang="zh-CN" altLang="en-US" sz="2000" dirty="0">
              <a:latin typeface="宋体" panose="02010600030101010101" pitchFamily="2" charset="-122"/>
            </a:endParaRPr>
          </a:p>
          <a:p>
            <a:pPr lvl="1" eaLnBrk="1" hangingPunct="1"/>
            <a:endParaRPr lang="en-US" altLang="zh-CN" sz="2000" dirty="0">
              <a:latin typeface="宋体" panose="02010600030101010101" pitchFamily="2" charset="-122"/>
            </a:endParaRPr>
          </a:p>
          <a:p>
            <a:pPr lvl="1" eaLnBrk="1" hangingPunct="1"/>
            <a:endParaRPr lang="en-US" altLang="zh-CN" sz="2000" dirty="0">
              <a:latin typeface="宋体" panose="02010600030101010101" pitchFamily="2" charset="-122"/>
            </a:endParaRPr>
          </a:p>
          <a:p>
            <a:pPr lvl="1" eaLnBrk="1" hangingPunct="1"/>
            <a:r>
              <a:rPr lang="zh-CN" altLang="en-US" sz="2000" dirty="0">
                <a:latin typeface="宋体" panose="02010600030101010101" pitchFamily="2" charset="-122"/>
              </a:rPr>
              <a:t>由解矩阵得最优指派方案：</a:t>
            </a:r>
          </a:p>
          <a:p>
            <a:pPr algn="ctr" eaLnBrk="1" hangingPunct="1">
              <a:buNone/>
            </a:pPr>
            <a:r>
              <a:rPr lang="zh-CN" altLang="en-US" sz="2000" dirty="0">
                <a:latin typeface="宋体" panose="02010600030101010101" pitchFamily="2" charset="-122"/>
              </a:rPr>
              <a:t>甲</a:t>
            </a:r>
            <a:r>
              <a:rPr lang="en-US" altLang="zh-CN" sz="2000" dirty="0">
                <a:latin typeface="Courier New" panose="02070309020205020404" pitchFamily="49" charset="0"/>
              </a:rPr>
              <a:t>—</a:t>
            </a:r>
            <a:r>
              <a:rPr lang="en-US" altLang="zh-CN" sz="2000" dirty="0">
                <a:latin typeface="宋体" panose="02010600030101010101" pitchFamily="2" charset="-122"/>
              </a:rPr>
              <a:t>B</a:t>
            </a:r>
            <a:r>
              <a:rPr lang="zh-CN" altLang="en-US" sz="2000" dirty="0">
                <a:latin typeface="宋体" panose="02010600030101010101" pitchFamily="2" charset="-122"/>
              </a:rPr>
              <a:t>，乙</a:t>
            </a:r>
            <a:r>
              <a:rPr lang="en-US" altLang="zh-CN" sz="2000" dirty="0">
                <a:latin typeface="Courier New" panose="02070309020205020404" pitchFamily="49" charset="0"/>
              </a:rPr>
              <a:t>—</a:t>
            </a:r>
            <a:r>
              <a:rPr lang="en-US" altLang="zh-CN" sz="2000" dirty="0">
                <a:latin typeface="宋体" panose="02010600030101010101" pitchFamily="2" charset="-122"/>
              </a:rPr>
              <a:t>D</a:t>
            </a:r>
            <a:r>
              <a:rPr lang="zh-CN" altLang="en-US" sz="2000" dirty="0">
                <a:latin typeface="宋体" panose="02010600030101010101" pitchFamily="2" charset="-122"/>
              </a:rPr>
              <a:t>，丙</a:t>
            </a:r>
            <a:r>
              <a:rPr lang="en-US" altLang="zh-CN" sz="2000" dirty="0">
                <a:latin typeface="Courier New" panose="02070309020205020404" pitchFamily="49" charset="0"/>
              </a:rPr>
              <a:t>—</a:t>
            </a:r>
            <a:r>
              <a:rPr lang="en-US" altLang="zh-CN" sz="2000" dirty="0">
                <a:latin typeface="宋体" panose="02010600030101010101" pitchFamily="2" charset="-122"/>
              </a:rPr>
              <a:t>E</a:t>
            </a:r>
            <a:r>
              <a:rPr lang="zh-CN" altLang="en-US" sz="2000" dirty="0">
                <a:latin typeface="宋体" panose="02010600030101010101" pitchFamily="2" charset="-122"/>
              </a:rPr>
              <a:t>，丁</a:t>
            </a:r>
            <a:r>
              <a:rPr lang="en-US" altLang="zh-CN" sz="2000" dirty="0">
                <a:latin typeface="Courier New" panose="02070309020205020404" pitchFamily="49" charset="0"/>
              </a:rPr>
              <a:t>—</a:t>
            </a:r>
            <a:r>
              <a:rPr lang="en-US" altLang="zh-CN" sz="2000" dirty="0">
                <a:latin typeface="宋体" panose="02010600030101010101" pitchFamily="2" charset="-122"/>
              </a:rPr>
              <a:t>C</a:t>
            </a:r>
            <a:r>
              <a:rPr lang="zh-CN" altLang="en-US" sz="2000" dirty="0">
                <a:latin typeface="宋体" panose="02010600030101010101" pitchFamily="2" charset="-122"/>
              </a:rPr>
              <a:t>，戊</a:t>
            </a:r>
            <a:r>
              <a:rPr lang="en-US" altLang="zh-CN" sz="2000" dirty="0">
                <a:latin typeface="Courier New" panose="02070309020205020404" pitchFamily="49" charset="0"/>
              </a:rPr>
              <a:t>—</a:t>
            </a:r>
            <a:r>
              <a:rPr lang="en-US" altLang="zh-CN" sz="2000" dirty="0">
                <a:latin typeface="宋体" panose="02010600030101010101" pitchFamily="2" charset="-122"/>
              </a:rPr>
              <a:t>A</a:t>
            </a:r>
          </a:p>
          <a:p>
            <a:pPr algn="just" eaLnBrk="1" hangingPunct="1">
              <a:buNone/>
            </a:pPr>
            <a:r>
              <a:rPr lang="zh-CN" altLang="en-US" sz="2000" dirty="0">
                <a:latin typeface="宋体" panose="02010600030101010101" pitchFamily="2" charset="-122"/>
              </a:rPr>
              <a:t>     </a:t>
            </a:r>
            <a:endParaRPr lang="en-US" altLang="zh-CN" sz="2000" dirty="0">
              <a:latin typeface="宋体" panose="02010600030101010101" pitchFamily="2" charset="-122"/>
            </a:endParaRPr>
          </a:p>
          <a:p>
            <a:pPr algn="just" eaLnBrk="1" hangingPunct="1">
              <a:buNone/>
            </a:pPr>
            <a:endParaRPr lang="en-US" altLang="zh-CN" sz="2000" dirty="0">
              <a:latin typeface="宋体" panose="02010600030101010101" pitchFamily="2" charset="-122"/>
            </a:endParaRPr>
          </a:p>
          <a:p>
            <a:pPr algn="just" eaLnBrk="1" hangingPunct="1">
              <a:buNone/>
            </a:pPr>
            <a:endParaRPr lang="en-US" altLang="zh-CN" sz="2000" dirty="0">
              <a:latin typeface="宋体" panose="02010600030101010101" pitchFamily="2" charset="-122"/>
            </a:endParaRPr>
          </a:p>
          <a:p>
            <a:pPr algn="just" eaLnBrk="1" hangingPunct="1">
              <a:buNone/>
            </a:pPr>
            <a:r>
              <a:rPr lang="zh-CN" altLang="en-US" sz="2000" dirty="0">
                <a:latin typeface="宋体" panose="02010600030101010101" pitchFamily="2" charset="-122"/>
              </a:rPr>
              <a:t>       本题另一最优指派方案</a:t>
            </a:r>
          </a:p>
          <a:p>
            <a:pPr algn="ctr" eaLnBrk="1" hangingPunct="1">
              <a:buNone/>
            </a:pPr>
            <a:r>
              <a:rPr lang="zh-CN" altLang="en-US" sz="2000" dirty="0">
                <a:latin typeface="宋体" panose="02010600030101010101" pitchFamily="2" charset="-122"/>
              </a:rPr>
              <a:t>甲</a:t>
            </a:r>
            <a:r>
              <a:rPr lang="en-US" altLang="zh-CN" sz="2000" dirty="0">
                <a:latin typeface="Courier New" panose="02070309020205020404" pitchFamily="49" charset="0"/>
              </a:rPr>
              <a:t>—</a:t>
            </a:r>
            <a:r>
              <a:rPr lang="en-US" altLang="zh-CN" sz="2000" dirty="0">
                <a:latin typeface="宋体" panose="02010600030101010101" pitchFamily="2" charset="-122"/>
              </a:rPr>
              <a:t>B</a:t>
            </a:r>
            <a:r>
              <a:rPr lang="zh-CN" altLang="en-US" sz="2000" dirty="0">
                <a:latin typeface="宋体" panose="02010600030101010101" pitchFamily="2" charset="-122"/>
              </a:rPr>
              <a:t>，乙</a:t>
            </a:r>
            <a:r>
              <a:rPr lang="en-US" altLang="zh-CN" sz="2000" dirty="0">
                <a:latin typeface="Courier New" panose="02070309020205020404" pitchFamily="49" charset="0"/>
              </a:rPr>
              <a:t>—</a:t>
            </a:r>
            <a:r>
              <a:rPr lang="en-US" altLang="zh-CN" sz="2000" dirty="0">
                <a:latin typeface="宋体" panose="02010600030101010101" pitchFamily="2" charset="-122"/>
              </a:rPr>
              <a:t>C</a:t>
            </a:r>
            <a:r>
              <a:rPr lang="zh-CN" altLang="en-US" sz="2000" dirty="0">
                <a:latin typeface="宋体" panose="02010600030101010101" pitchFamily="2" charset="-122"/>
              </a:rPr>
              <a:t>，丙</a:t>
            </a:r>
            <a:r>
              <a:rPr lang="en-US" altLang="zh-CN" sz="2000" dirty="0">
                <a:latin typeface="Courier New" panose="02070309020205020404" pitchFamily="49" charset="0"/>
              </a:rPr>
              <a:t>—</a:t>
            </a:r>
            <a:r>
              <a:rPr lang="en-US" altLang="zh-CN" sz="2000" dirty="0">
                <a:latin typeface="宋体" panose="02010600030101010101" pitchFamily="2" charset="-122"/>
              </a:rPr>
              <a:t>E</a:t>
            </a:r>
            <a:r>
              <a:rPr lang="zh-CN" altLang="en-US" sz="2000" dirty="0">
                <a:latin typeface="宋体" panose="02010600030101010101" pitchFamily="2" charset="-122"/>
              </a:rPr>
              <a:t>，丁</a:t>
            </a:r>
            <a:r>
              <a:rPr lang="en-US" altLang="zh-CN" sz="2000" dirty="0">
                <a:latin typeface="Courier New" panose="02070309020205020404" pitchFamily="49" charset="0"/>
              </a:rPr>
              <a:t>—</a:t>
            </a:r>
            <a:r>
              <a:rPr lang="en-US" altLang="zh-CN" sz="2000" dirty="0">
                <a:latin typeface="宋体" panose="02010600030101010101" pitchFamily="2" charset="-122"/>
              </a:rPr>
              <a:t>D</a:t>
            </a:r>
            <a:r>
              <a:rPr lang="zh-CN" altLang="en-US" sz="2000" dirty="0">
                <a:latin typeface="宋体" panose="02010600030101010101" pitchFamily="2" charset="-122"/>
              </a:rPr>
              <a:t>，戊</a:t>
            </a:r>
            <a:r>
              <a:rPr lang="en-US" altLang="zh-CN" sz="2000" dirty="0">
                <a:latin typeface="Courier New" panose="02070309020205020404" pitchFamily="49" charset="0"/>
              </a:rPr>
              <a:t>—</a:t>
            </a:r>
            <a:r>
              <a:rPr lang="en-US" altLang="zh-CN" sz="2000" dirty="0">
                <a:latin typeface="宋体" panose="02010600030101010101" pitchFamily="2" charset="-122"/>
              </a:rPr>
              <a:t>A</a:t>
            </a:r>
          </a:p>
          <a:p>
            <a:pPr algn="just" eaLnBrk="1" hangingPunct="1">
              <a:buNone/>
            </a:pPr>
            <a:r>
              <a:rPr lang="zh-CN" altLang="en-US" sz="2000" dirty="0">
                <a:latin typeface="宋体" panose="02010600030101010101" pitchFamily="2" charset="-122"/>
              </a:rPr>
              <a:t>     所需总时间为</a:t>
            </a:r>
            <a:r>
              <a:rPr lang="en-US" altLang="zh-CN" sz="2000" dirty="0">
                <a:latin typeface="宋体" panose="02010600030101010101" pitchFamily="2" charset="-122"/>
              </a:rPr>
              <a:t>min z=32</a:t>
            </a:r>
            <a:endParaRPr lang="zh-CN" altLang="en-US" sz="2000" dirty="0"/>
          </a:p>
        </p:txBody>
      </p:sp>
      <p:sp>
        <p:nvSpPr>
          <p:cNvPr id="84995" name="灯片编号占位符 5">
            <a:extLst>
              <a:ext uri="{FF2B5EF4-FFF2-40B4-BE49-F238E27FC236}">
                <a16:creationId xmlns:a16="http://schemas.microsoft.com/office/drawing/2014/main" id="{AD46168B-1303-4FDE-9CEA-380297F5FC3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1C1FB29-6969-4DFE-A647-2FCB83E43B78}" type="slidenum">
              <a:rPr lang="en-US" altLang="zh-CN" sz="1000" smtClean="0"/>
              <a:pPr>
                <a:spcBef>
                  <a:spcPct val="0"/>
                </a:spcBef>
                <a:buClrTx/>
                <a:buSzTx/>
                <a:buFontTx/>
                <a:buNone/>
              </a:pPr>
              <a:t>36</a:t>
            </a:fld>
            <a:endParaRPr lang="en-US" altLang="zh-CN" sz="1000"/>
          </a:p>
        </p:txBody>
      </p:sp>
      <p:sp>
        <p:nvSpPr>
          <p:cNvPr id="84997" name="Rectangle 3">
            <a:extLst>
              <a:ext uri="{FF2B5EF4-FFF2-40B4-BE49-F238E27FC236}">
                <a16:creationId xmlns:a16="http://schemas.microsoft.com/office/drawing/2014/main" id="{D01FEDF7-E99B-4647-B418-4B036A14AE98}"/>
              </a:ext>
            </a:extLst>
          </p:cNvPr>
          <p:cNvSpPr>
            <a:spLocks noChangeArrowheads="1"/>
          </p:cNvSpPr>
          <p:nvPr/>
        </p:nvSpPr>
        <p:spPr bwMode="auto">
          <a:xfrm>
            <a:off x="250825" y="1557338"/>
            <a:ext cx="82089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spcBef>
                <a:spcPct val="20000"/>
              </a:spcBef>
              <a:buClr>
                <a:srgbClr val="553AF8"/>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889000" indent="-439738">
              <a:spcBef>
                <a:spcPct val="20000"/>
              </a:spcBef>
              <a:buClr>
                <a:srgbClr val="0051C8"/>
              </a:buClr>
              <a:buSzPct val="6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293813" indent="-403225">
              <a:spcBef>
                <a:spcPct val="20000"/>
              </a:spcBef>
              <a:buClr>
                <a:srgbClr val="0066FF"/>
              </a:buClr>
              <a:buSzPct val="70000"/>
              <a:buFont typeface="Wingdings" panose="05000000000000000000" pitchFamily="2" charset="2"/>
              <a:buChar char="o"/>
              <a:defRPr sz="2400">
                <a:solidFill>
                  <a:schemeClr val="tx1"/>
                </a:solidFill>
                <a:latin typeface="Arial" panose="020B0604020202020204" pitchFamily="34" charset="0"/>
                <a:ea typeface="宋体" panose="02010600030101010101" pitchFamily="2" charset="-122"/>
              </a:defRPr>
            </a:lvl3pPr>
            <a:lvl4pPr marL="1681163" indent="-385763">
              <a:spcBef>
                <a:spcPct val="20000"/>
              </a:spcBef>
              <a:buClr>
                <a:srgbClr val="0051C8"/>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70100" indent="-387350">
              <a:spcBef>
                <a:spcPct val="20000"/>
              </a:spcBef>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5pPr>
            <a:lvl6pPr marL="25273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eaLnBrk="0" fontAlgn="base" hangingPunct="0">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en-US" altLang="zh-CN" sz="2400" b="0" dirty="0">
              <a:latin typeface="宋体" panose="02010600030101010101" pitchFamily="2" charset="-122"/>
            </a:endParaRPr>
          </a:p>
        </p:txBody>
      </p:sp>
      <p:graphicFrame>
        <p:nvGraphicFramePr>
          <p:cNvPr id="84998" name="Object 4">
            <a:extLst>
              <a:ext uri="{FF2B5EF4-FFF2-40B4-BE49-F238E27FC236}">
                <a16:creationId xmlns:a16="http://schemas.microsoft.com/office/drawing/2014/main" id="{F9F6FC0D-C435-4CA9-821A-BFC7436153B0}"/>
              </a:ext>
            </a:extLst>
          </p:cNvPr>
          <p:cNvGraphicFramePr>
            <a:graphicFrameLocks noChangeAspect="1"/>
          </p:cNvGraphicFramePr>
          <p:nvPr>
            <p:extLst>
              <p:ext uri="{D42A27DB-BD31-4B8C-83A1-F6EECF244321}">
                <p14:modId xmlns:p14="http://schemas.microsoft.com/office/powerpoint/2010/main" val="130388502"/>
              </p:ext>
            </p:extLst>
          </p:nvPr>
        </p:nvGraphicFramePr>
        <p:xfrm>
          <a:off x="2916238" y="1556793"/>
          <a:ext cx="1908175" cy="1944688"/>
        </p:xfrm>
        <a:graphic>
          <a:graphicData uri="http://schemas.openxmlformats.org/presentationml/2006/ole">
            <mc:AlternateContent xmlns:mc="http://schemas.openxmlformats.org/markup-compatibility/2006">
              <mc:Choice xmlns:v="urn:schemas-microsoft-com:vml" Requires="v">
                <p:oleObj spid="_x0000_s36953" name="Equation" r:id="rId3" imgW="1308100" imgH="1333500" progId="Equation.3">
                  <p:embed/>
                </p:oleObj>
              </mc:Choice>
              <mc:Fallback>
                <p:oleObj name="Equation" r:id="rId3" imgW="1308100" imgH="1333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1556793"/>
                        <a:ext cx="190817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FA2FF27E-43BB-45B8-B40A-D671EACFB657}"/>
              </a:ext>
            </a:extLst>
          </p:cNvPr>
          <p:cNvGraphicFramePr>
            <a:graphicFrameLocks noChangeAspect="1"/>
          </p:cNvGraphicFramePr>
          <p:nvPr>
            <p:extLst>
              <p:ext uri="{D42A27DB-BD31-4B8C-83A1-F6EECF244321}">
                <p14:modId xmlns:p14="http://schemas.microsoft.com/office/powerpoint/2010/main" val="40965960"/>
              </p:ext>
            </p:extLst>
          </p:nvPr>
        </p:nvGraphicFramePr>
        <p:xfrm>
          <a:off x="5085008" y="1556792"/>
          <a:ext cx="2511328" cy="1899293"/>
        </p:xfrm>
        <a:graphic>
          <a:graphicData uri="http://schemas.openxmlformats.org/presentationml/2006/ole">
            <mc:AlternateContent xmlns:mc="http://schemas.openxmlformats.org/markup-compatibility/2006">
              <mc:Choice xmlns:v="urn:schemas-microsoft-com:vml" Requires="v">
                <p:oleObj spid="_x0000_s36954" name="Equation" r:id="rId5" imgW="1511280" imgH="1143000" progId="Equation.DSMT4">
                  <p:embed/>
                </p:oleObj>
              </mc:Choice>
              <mc:Fallback>
                <p:oleObj name="Equation" r:id="rId5" imgW="1511280" imgH="1143000" progId="Equation.DSMT4">
                  <p:embed/>
                  <p:pic>
                    <p:nvPicPr>
                      <p:cNvPr id="8" name="Object 5">
                        <a:extLst>
                          <a:ext uri="{FF2B5EF4-FFF2-40B4-BE49-F238E27FC236}">
                            <a16:creationId xmlns:a16="http://schemas.microsoft.com/office/drawing/2014/main" id="{FA2FF27E-43BB-45B8-B40A-D671EACFB657}"/>
                          </a:ext>
                        </a:extLst>
                      </p:cNvPr>
                      <p:cNvPicPr>
                        <a:picLocks noChangeAspect="1" noChangeArrowheads="1"/>
                      </p:cNvPicPr>
                      <p:nvPr/>
                    </p:nvPicPr>
                    <p:blipFill>
                      <a:blip r:embed="rId6"/>
                      <a:srcRect/>
                      <a:stretch>
                        <a:fillRect/>
                      </a:stretch>
                    </p:blipFill>
                    <p:spPr bwMode="auto">
                      <a:xfrm>
                        <a:off x="5085008" y="1556792"/>
                        <a:ext cx="2511328" cy="1899293"/>
                      </a:xfrm>
                      <a:prstGeom prst="rect">
                        <a:avLst/>
                      </a:prstGeom>
                      <a:noFill/>
                      <a:ln>
                        <a:noFill/>
                      </a:ln>
                      <a:effectLst/>
                      <a:extLst/>
                    </p:spPr>
                  </p:pic>
                </p:oleObj>
              </mc:Fallback>
            </mc:AlternateContent>
          </a:graphicData>
        </a:graphic>
      </p:graphicFrame>
      <p:sp>
        <p:nvSpPr>
          <p:cNvPr id="3" name="矩形 2"/>
          <p:cNvSpPr/>
          <p:nvPr/>
        </p:nvSpPr>
        <p:spPr>
          <a:xfrm>
            <a:off x="107504" y="4221088"/>
            <a:ext cx="8640960" cy="1015663"/>
          </a:xfrm>
          <a:prstGeom prst="rect">
            <a:avLst/>
          </a:prstGeom>
        </p:spPr>
        <p:txBody>
          <a:bodyPr wrap="square">
            <a:spAutoFit/>
          </a:bodyPr>
          <a:lstStyle/>
          <a:p>
            <a:pPr lvl="1"/>
            <a:r>
              <a:rPr lang="zh-CN" altLang="en-US" sz="2000" dirty="0">
                <a:latin typeface="宋体" panose="02010600030101010101" pitchFamily="2" charset="-122"/>
              </a:rPr>
              <a:t>当指派问题的系数矩阵，经过变换得到了同行和同列中都有两个或两个以上</a:t>
            </a:r>
            <a:r>
              <a:rPr lang="en-US" altLang="zh-CN" sz="2000" dirty="0">
                <a:latin typeface="宋体" panose="02010600030101010101" pitchFamily="2" charset="-122"/>
              </a:rPr>
              <a:t>0</a:t>
            </a:r>
            <a:r>
              <a:rPr lang="zh-CN" altLang="en-US" sz="2000" dirty="0">
                <a:latin typeface="宋体" panose="02010600030101010101" pitchFamily="2" charset="-122"/>
              </a:rPr>
              <a:t>元素时。这时可以任选一行</a:t>
            </a:r>
            <a:r>
              <a:rPr lang="en-US" altLang="zh-CN" sz="2000" dirty="0">
                <a:latin typeface="宋体" panose="02010600030101010101" pitchFamily="2" charset="-122"/>
              </a:rPr>
              <a:t>(</a:t>
            </a:r>
            <a:r>
              <a:rPr lang="zh-CN" altLang="en-US" sz="2000" dirty="0">
                <a:latin typeface="宋体" panose="02010600030101010101" pitchFamily="2" charset="-122"/>
              </a:rPr>
              <a:t>列</a:t>
            </a:r>
            <a:r>
              <a:rPr lang="en-US" altLang="zh-CN" sz="2000" dirty="0">
                <a:latin typeface="宋体" panose="02010600030101010101" pitchFamily="2" charset="-122"/>
              </a:rPr>
              <a:t>)</a:t>
            </a:r>
            <a:r>
              <a:rPr lang="zh-CN" altLang="en-US" sz="2000" dirty="0">
                <a:latin typeface="宋体" panose="02010600030101010101" pitchFamily="2" charset="-122"/>
              </a:rPr>
              <a:t>中某一个</a:t>
            </a:r>
            <a:r>
              <a:rPr lang="en-US" altLang="zh-CN" sz="2000" dirty="0">
                <a:latin typeface="宋体" panose="02010600030101010101" pitchFamily="2" charset="-122"/>
              </a:rPr>
              <a:t>0</a:t>
            </a:r>
            <a:r>
              <a:rPr lang="zh-CN" altLang="en-US" sz="2000" dirty="0">
                <a:latin typeface="宋体" panose="02010600030101010101" pitchFamily="2" charset="-122"/>
              </a:rPr>
              <a:t>元素，再划去同行</a:t>
            </a:r>
            <a:r>
              <a:rPr lang="en-US" altLang="zh-CN" sz="2000" dirty="0">
                <a:latin typeface="宋体" panose="02010600030101010101" pitchFamily="2" charset="-122"/>
              </a:rPr>
              <a:t>(</a:t>
            </a:r>
            <a:r>
              <a:rPr lang="zh-CN" altLang="en-US" sz="2000" dirty="0">
                <a:latin typeface="宋体" panose="02010600030101010101" pitchFamily="2" charset="-122"/>
              </a:rPr>
              <a:t>列</a:t>
            </a:r>
            <a:r>
              <a:rPr lang="en-US" altLang="zh-CN" sz="2000" dirty="0">
                <a:latin typeface="宋体" panose="02010600030101010101" pitchFamily="2" charset="-122"/>
              </a:rPr>
              <a:t>)</a:t>
            </a:r>
            <a:r>
              <a:rPr lang="zh-CN" altLang="en-US" sz="2000" dirty="0">
                <a:latin typeface="宋体" panose="02010600030101010101" pitchFamily="2" charset="-122"/>
              </a:rPr>
              <a:t>的其他</a:t>
            </a:r>
            <a:r>
              <a:rPr lang="en-US" altLang="zh-CN" sz="2000" dirty="0">
                <a:latin typeface="宋体" panose="02010600030101010101" pitchFamily="2" charset="-122"/>
              </a:rPr>
              <a:t>0</a:t>
            </a:r>
            <a:r>
              <a:rPr lang="zh-CN" altLang="en-US" sz="2000" dirty="0">
                <a:latin typeface="宋体" panose="02010600030101010101" pitchFamily="2" charset="-122"/>
              </a:rPr>
              <a:t>元素。这时会出现多重解。</a:t>
            </a:r>
            <a:r>
              <a:rPr lang="zh-CN" altLang="en-US" sz="2000" dirty="0"/>
              <a:t> </a:t>
            </a:r>
            <a:endParaRPr lang="zh-CN" altLang="en-US" sz="20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rPr>
              <a:t>6.5 </a:t>
            </a:r>
            <a:r>
              <a:rPr lang="zh-CN" altLang="en-US" dirty="0">
                <a:latin typeface="Arial" panose="020B0604020202020204" pitchFamily="34" charset="0"/>
              </a:rPr>
              <a:t>指派问题</a:t>
            </a:r>
            <a:endParaRPr lang="zh-CN" altLang="en-US" dirty="0"/>
          </a:p>
        </p:txBody>
      </p:sp>
      <p:sp>
        <p:nvSpPr>
          <p:cNvPr id="3" name="内容占位符 2"/>
          <p:cNvSpPr>
            <a:spLocks noGrp="1"/>
          </p:cNvSpPr>
          <p:nvPr>
            <p:ph idx="1"/>
          </p:nvPr>
        </p:nvSpPr>
        <p:spPr>
          <a:xfrm>
            <a:off x="494729" y="1196752"/>
            <a:ext cx="8469759" cy="461665"/>
          </a:xfrm>
        </p:spPr>
        <p:txBody>
          <a:bodyPr/>
          <a:lstStyle/>
          <a:p>
            <a:r>
              <a:rPr lang="zh-CN" altLang="en-US" dirty="0"/>
              <a:t>练习</a:t>
            </a:r>
          </a:p>
        </p:txBody>
      </p:sp>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37</a:t>
            </a:fld>
            <a:endParaRPr lang="en-US" altLang="zh-CN"/>
          </a:p>
        </p:txBody>
      </p:sp>
      <p:graphicFrame>
        <p:nvGraphicFramePr>
          <p:cNvPr id="5" name="Object 4">
            <a:extLst>
              <a:ext uri="{FF2B5EF4-FFF2-40B4-BE49-F238E27FC236}">
                <a16:creationId xmlns:a16="http://schemas.microsoft.com/office/drawing/2014/main" id="{5E3B1AD1-D540-40F5-BFBB-8F371670656C}"/>
              </a:ext>
            </a:extLst>
          </p:cNvPr>
          <p:cNvGraphicFramePr>
            <a:graphicFrameLocks noChangeAspect="1"/>
          </p:cNvGraphicFramePr>
          <p:nvPr>
            <p:extLst>
              <p:ext uri="{D42A27DB-BD31-4B8C-83A1-F6EECF244321}">
                <p14:modId xmlns:p14="http://schemas.microsoft.com/office/powerpoint/2010/main" val="2250609057"/>
              </p:ext>
            </p:extLst>
          </p:nvPr>
        </p:nvGraphicFramePr>
        <p:xfrm>
          <a:off x="971600" y="1916832"/>
          <a:ext cx="2176463" cy="1682750"/>
        </p:xfrm>
        <a:graphic>
          <a:graphicData uri="http://schemas.openxmlformats.org/presentationml/2006/ole">
            <mc:AlternateContent xmlns:mc="http://schemas.openxmlformats.org/markup-compatibility/2006">
              <mc:Choice xmlns:v="urn:schemas-microsoft-com:vml" Requires="v">
                <p:oleObj spid="_x0000_s61486" name="Equation" r:id="rId3" imgW="1180800" imgH="914400" progId="Equation.DSMT4">
                  <p:embed/>
                </p:oleObj>
              </mc:Choice>
              <mc:Fallback>
                <p:oleObj name="Equation" r:id="rId3" imgW="1180800" imgH="914400" progId="Equation.DSMT4">
                  <p:embed/>
                  <p:pic>
                    <p:nvPicPr>
                      <p:cNvPr id="6" name="Object 4">
                        <a:extLst>
                          <a:ext uri="{FF2B5EF4-FFF2-40B4-BE49-F238E27FC236}">
                            <a16:creationId xmlns:a16="http://schemas.microsoft.com/office/drawing/2014/main" id="{5E3B1AD1-D540-40F5-BFBB-8F371670656C}"/>
                          </a:ext>
                        </a:extLst>
                      </p:cNvPr>
                      <p:cNvPicPr>
                        <a:picLocks noChangeAspect="1" noChangeArrowheads="1"/>
                      </p:cNvPicPr>
                      <p:nvPr/>
                    </p:nvPicPr>
                    <p:blipFill>
                      <a:blip r:embed="rId4"/>
                      <a:srcRect/>
                      <a:stretch>
                        <a:fillRect/>
                      </a:stretch>
                    </p:blipFill>
                    <p:spPr bwMode="auto">
                      <a:xfrm>
                        <a:off x="971600" y="1916832"/>
                        <a:ext cx="2176463" cy="1682750"/>
                      </a:xfrm>
                      <a:prstGeom prst="rect">
                        <a:avLst/>
                      </a:prstGeom>
                      <a:solidFill>
                        <a:schemeClr val="bg1"/>
                      </a:solidFill>
                      <a:ln>
                        <a:noFill/>
                      </a:ln>
                      <a:effectLst/>
                      <a:extLst/>
                    </p:spPr>
                  </p:pic>
                </p:oleObj>
              </mc:Fallback>
            </mc:AlternateContent>
          </a:graphicData>
        </a:graphic>
      </p:graphicFrame>
      <p:sp>
        <p:nvSpPr>
          <p:cNvPr id="6" name="文本框 5"/>
          <p:cNvSpPr txBox="1"/>
          <p:nvPr/>
        </p:nvSpPr>
        <p:spPr>
          <a:xfrm>
            <a:off x="3491880" y="2758207"/>
            <a:ext cx="894797" cy="461665"/>
          </a:xfrm>
          <a:prstGeom prst="rect">
            <a:avLst/>
          </a:prstGeom>
          <a:noFill/>
        </p:spPr>
        <p:txBody>
          <a:bodyPr wrap="none" rtlCol="0">
            <a:spAutoFit/>
          </a:bodyPr>
          <a:lstStyle/>
          <a:p>
            <a:r>
              <a:rPr lang="en-US" altLang="zh-CN" dirty="0"/>
              <a:t>Z=39</a:t>
            </a:r>
            <a:endParaRPr lang="zh-CN" altLang="en-US" dirty="0"/>
          </a:p>
        </p:txBody>
      </p:sp>
      <p:graphicFrame>
        <p:nvGraphicFramePr>
          <p:cNvPr id="7" name="Object 4">
            <a:extLst>
              <a:ext uri="{FF2B5EF4-FFF2-40B4-BE49-F238E27FC236}">
                <a16:creationId xmlns:a16="http://schemas.microsoft.com/office/drawing/2014/main" id="{5E3B1AD1-D540-40F5-BFBB-8F371670656C}"/>
              </a:ext>
            </a:extLst>
          </p:cNvPr>
          <p:cNvGraphicFramePr>
            <a:graphicFrameLocks noChangeAspect="1"/>
          </p:cNvGraphicFramePr>
          <p:nvPr>
            <p:extLst>
              <p:ext uri="{D42A27DB-BD31-4B8C-83A1-F6EECF244321}">
                <p14:modId xmlns:p14="http://schemas.microsoft.com/office/powerpoint/2010/main" val="3729823123"/>
              </p:ext>
            </p:extLst>
          </p:nvPr>
        </p:nvGraphicFramePr>
        <p:xfrm>
          <a:off x="925513" y="4221163"/>
          <a:ext cx="2270125" cy="1682750"/>
        </p:xfrm>
        <a:graphic>
          <a:graphicData uri="http://schemas.openxmlformats.org/presentationml/2006/ole">
            <mc:AlternateContent xmlns:mc="http://schemas.openxmlformats.org/markup-compatibility/2006">
              <mc:Choice xmlns:v="urn:schemas-microsoft-com:vml" Requires="v">
                <p:oleObj spid="_x0000_s61487" name="Equation" r:id="rId5" imgW="1231560" imgH="914400" progId="Equation.DSMT4">
                  <p:embed/>
                </p:oleObj>
              </mc:Choice>
              <mc:Fallback>
                <p:oleObj name="Equation" r:id="rId5" imgW="1231560" imgH="914400" progId="Equation.DSMT4">
                  <p:embed/>
                  <p:pic>
                    <p:nvPicPr>
                      <p:cNvPr id="5" name="Object 4">
                        <a:extLst>
                          <a:ext uri="{FF2B5EF4-FFF2-40B4-BE49-F238E27FC236}">
                            <a16:creationId xmlns:a16="http://schemas.microsoft.com/office/drawing/2014/main" id="{5E3B1AD1-D540-40F5-BFBB-8F371670656C}"/>
                          </a:ext>
                        </a:extLst>
                      </p:cNvPr>
                      <p:cNvPicPr>
                        <a:picLocks noChangeAspect="1" noChangeArrowheads="1"/>
                      </p:cNvPicPr>
                      <p:nvPr/>
                    </p:nvPicPr>
                    <p:blipFill>
                      <a:blip r:embed="rId6"/>
                      <a:srcRect/>
                      <a:stretch>
                        <a:fillRect/>
                      </a:stretch>
                    </p:blipFill>
                    <p:spPr bwMode="auto">
                      <a:xfrm>
                        <a:off x="925513" y="4221163"/>
                        <a:ext cx="2270125" cy="1682750"/>
                      </a:xfrm>
                      <a:prstGeom prst="rect">
                        <a:avLst/>
                      </a:prstGeom>
                      <a:solidFill>
                        <a:schemeClr val="bg1"/>
                      </a:solidFill>
                      <a:ln>
                        <a:noFill/>
                      </a:ln>
                      <a:effectLst/>
                      <a:extLst/>
                    </p:spPr>
                  </p:pic>
                </p:oleObj>
              </mc:Fallback>
            </mc:AlternateContent>
          </a:graphicData>
        </a:graphic>
      </p:graphicFrame>
      <p:sp>
        <p:nvSpPr>
          <p:cNvPr id="8" name="文本框 7">
            <a:extLst>
              <a:ext uri="{FF2B5EF4-FFF2-40B4-BE49-F238E27FC236}">
                <a16:creationId xmlns:a16="http://schemas.microsoft.com/office/drawing/2014/main" id="{D97C23DC-21FF-4F24-AE93-DA62275F7006}"/>
              </a:ext>
            </a:extLst>
          </p:cNvPr>
          <p:cNvSpPr txBox="1"/>
          <p:nvPr/>
        </p:nvSpPr>
        <p:spPr>
          <a:xfrm>
            <a:off x="3419872" y="4725144"/>
            <a:ext cx="894797" cy="461665"/>
          </a:xfrm>
          <a:prstGeom prst="rect">
            <a:avLst/>
          </a:prstGeom>
          <a:noFill/>
        </p:spPr>
        <p:txBody>
          <a:bodyPr wrap="none" rtlCol="0">
            <a:spAutoFit/>
          </a:bodyPr>
          <a:lstStyle/>
          <a:p>
            <a:r>
              <a:rPr lang="en-US" altLang="zh-CN" dirty="0"/>
              <a:t>Z=70</a:t>
            </a:r>
            <a:endParaRPr lang="zh-CN" altLang="en-US" dirty="0"/>
          </a:p>
        </p:txBody>
      </p:sp>
    </p:spTree>
    <p:extLst>
      <p:ext uri="{BB962C8B-B14F-4D97-AF65-F5344CB8AC3E}">
        <p14:creationId xmlns:p14="http://schemas.microsoft.com/office/powerpoint/2010/main" val="264158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chemeClr val="tx1"/>
                </a:solidFill>
              </a:rPr>
              <a:t>本章练习题</a:t>
            </a:r>
            <a:endParaRPr lang="zh-CN" altLang="en-US" dirty="0">
              <a:solidFill>
                <a:schemeClr val="tx1"/>
              </a:solidFill>
            </a:endParaRPr>
          </a:p>
        </p:txBody>
      </p:sp>
      <p:sp>
        <p:nvSpPr>
          <p:cNvPr id="3" name="内容占位符 2"/>
          <p:cNvSpPr>
            <a:spLocks noGrp="1"/>
          </p:cNvSpPr>
          <p:nvPr>
            <p:ph idx="1"/>
          </p:nvPr>
        </p:nvSpPr>
        <p:spPr>
          <a:xfrm>
            <a:off x="608693" y="764704"/>
            <a:ext cx="8469759" cy="6266203"/>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整数规划问题中，变量的取值可能是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整数</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或</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大于</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零的非</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整数</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以上</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三种都可能</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在</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下列整数规划问题中，分枝定界法和割平面法都可以采用的是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纯整数规划</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混合整数规划</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0-1</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规划</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下列</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方法中用于求解分配问题的是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单纯形表</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分枝</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定界</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表上作业法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匈牙利法</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下列</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说法正确的是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整数规划问题最优值优于其相应的线性规划问题的最优值</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用割平面法求解整数规划问题，构造的割平面有可能切去一些不属于最优解的整数解</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用分支定界法求解一个极大化的整数规划时，当得到多于一个可行解时，通常可任取其中一个作为下界，再进行比较剪枝</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分支定界法在处理整数规划问题时，借用线性规划单纯形法的基本思想，在求相应的线性模型解的同时，逐步加入对各变量的整数要求限制，从而把原整数规划问题通过分支迭代求出最优解</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分支定界法</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中</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i="1" kern="100" dirty="0">
                <a:latin typeface="Times New Roman" panose="02020603050405020304" pitchFamily="18" charset="0"/>
                <a:ea typeface="等线" panose="02010600030101010101" pitchFamily="2" charset="-122"/>
                <a:cs typeface="Times New Roman" panose="02020603050405020304" pitchFamily="18" charset="0"/>
              </a:rPr>
              <a:t>a.</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最大值问题的目标值是各分支的下界</a:t>
            </a:r>
            <a:r>
              <a:rPr lang="en-US" altLang="zh-CN" sz="1200" i="1" kern="100" dirty="0">
                <a:latin typeface="Times New Roman" panose="02020603050405020304" pitchFamily="18" charset="0"/>
                <a:ea typeface="等线" panose="02010600030101010101" pitchFamily="2" charset="-122"/>
                <a:cs typeface="Times New Roman" panose="02020603050405020304" pitchFamily="18" charset="0"/>
              </a:rPr>
              <a:t>b.</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最大值问题的目标值是各分支的上界</a:t>
            </a:r>
            <a:r>
              <a:rPr lang="en-US" altLang="zh-CN" sz="1200" i="1" kern="100" dirty="0">
                <a:latin typeface="Times New Roman" panose="02020603050405020304" pitchFamily="18" charset="0"/>
                <a:ea typeface="等线" panose="02010600030101010101" pitchFamily="2" charset="-122"/>
                <a:cs typeface="Times New Roman" panose="02020603050405020304" pitchFamily="18" charset="0"/>
              </a:rPr>
              <a:t>c.</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最小值问题的目标值是各分支的上界</a:t>
            </a:r>
            <a:r>
              <a:rPr lang="en-US" altLang="zh-CN" sz="1200" i="1" kern="100" dirty="0">
                <a:latin typeface="Times New Roman" panose="02020603050405020304" pitchFamily="18" charset="0"/>
                <a:ea typeface="等线" panose="02010600030101010101" pitchFamily="2" charset="-122"/>
                <a:cs typeface="Times New Roman" panose="02020603050405020304" pitchFamily="18" charset="0"/>
              </a:rPr>
              <a:t>d.</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最小值问题的目标值是各分支的下界</a:t>
            </a:r>
            <a:r>
              <a:rPr lang="en-US" altLang="zh-CN" sz="1200" i="1" kern="100" dirty="0">
                <a:latin typeface="Times New Roman" panose="02020603050405020304" pitchFamily="18" charset="0"/>
                <a:ea typeface="等线" panose="02010600030101010101" pitchFamily="2" charset="-122"/>
                <a:cs typeface="Times New Roman" panose="02020603050405020304" pitchFamily="18" charset="0"/>
              </a:rPr>
              <a:t>e.</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以上结论都不对</a:t>
            </a:r>
          </a:p>
          <a:p>
            <a:pPr marL="0" lvl="0" indent="0" algn="just">
              <a:spcAft>
                <a:spcPts val="0"/>
              </a:spcAft>
              <a:buNone/>
            </a:pP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a,b</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b,d</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c,d</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e</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资源</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数大于任务数的目标最小化分派问题需要</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增加任务数至等于资源数，并赋任意</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值</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增加</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任务数至等于资源数，并赋</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值</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增加任务数至等于资源数，并赋</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无限大</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值</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可以</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直接求解</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割平面法</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若达不到整数要求条件，则针对某个变量</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减少一条约束</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直线</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增加</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一条约束</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直线</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增加</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一个割</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平面</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增加</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两个对应割平面</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用分枝定界法求最大值的整数规划时（）</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分枝后子问题的最优目标函数值可能变</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大</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分枝</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后子问题的最优目标函数值可能不变</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若某个分枝的最优目标函数值大于其它分支，则该分支得到了</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以上</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说法均不对</a:t>
            </a:r>
          </a:p>
          <a:p>
            <a:pPr marL="0" indent="0">
              <a:buNone/>
            </a:pPr>
            <a:endParaRPr lang="zh-CN" altLang="en-US" sz="1200" dirty="0"/>
          </a:p>
        </p:txBody>
      </p:sp>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38</a:t>
            </a:fld>
            <a:endParaRPr lang="en-US" altLang="zh-CN"/>
          </a:p>
        </p:txBody>
      </p:sp>
    </p:spTree>
    <p:extLst>
      <p:ext uri="{BB962C8B-B14F-4D97-AF65-F5344CB8AC3E}">
        <p14:creationId xmlns:p14="http://schemas.microsoft.com/office/powerpoint/2010/main" val="30816125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a:xfrm>
            <a:off x="494729" y="1196752"/>
            <a:ext cx="8469759" cy="5082225"/>
          </a:xfrm>
        </p:spPr>
        <p:txBody>
          <a:bodyPr/>
          <a:lstStyle/>
          <a:p>
            <a:pPr marL="0" indent="0" algn="just">
              <a:lnSpc>
                <a:spcPct val="173000"/>
              </a:lnSpc>
              <a:spcBef>
                <a:spcPts val="1300"/>
              </a:spcBef>
              <a:spcAft>
                <a:spcPts val="1300"/>
              </a:spcAft>
              <a:buNone/>
            </a:pPr>
            <a:r>
              <a:rPr lang="zh-CN" altLang="zh-CN" sz="1400" kern="100" dirty="0">
                <a:latin typeface="等线 Light" panose="02010600030101010101" pitchFamily="2" charset="-122"/>
                <a:ea typeface="等线 Light" panose="02010600030101010101" pitchFamily="2" charset="-122"/>
                <a:cs typeface="Times New Roman" panose="02020603050405020304" pitchFamily="18" charset="0"/>
              </a:rPr>
              <a:t>二、判断题</a:t>
            </a: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整数规划解的日标函数值一般优于其相应的线性规划问题的解的目标函数值</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用分支定界法求解一个极大化的整数规划问题时，任何一个可行解的目标函数值是该问题目标函数值的下界；</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指派问题效率矩阵的每个元素都乘上同一个常数</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k</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，将不影响最优指派方案</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指派问题数学模型的形式同运输问题十分相似，故也可以用表上作业法求解</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求解</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0-1</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规划的隐枚举法是分支定界法的特例</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分支定界法在需要分支时必须满足</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一是分支后的各子问题必须容易求解</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二是各个子问题解的集合必须覆盖原问解。</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用割平面法求解整数规划时，构造的割平面有可能切去一些不属于最优解的整数解。</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分支定界法可用于解纯整数或混合的整数规划问题。</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0-1</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型整数规划是整数规划中的特殊情形，它的变量</a:t>
            </a:r>
            <a:r>
              <a:rPr lang="en-US" altLang="zh-CN" sz="1400" i="1" kern="100" dirty="0">
                <a:latin typeface="Times New Roman" panose="02020603050405020304" pitchFamily="18" charset="0"/>
                <a:ea typeface="等线" panose="02010600030101010101" pitchFamily="2" charset="-122"/>
                <a:cs typeface="Times New Roman" panose="02020603050405020304" pitchFamily="18" charset="0"/>
              </a:rPr>
              <a:t>x</a:t>
            </a:r>
            <a:r>
              <a:rPr lang="en-US" altLang="zh-CN" sz="1400" i="1" kern="100" baseline="-25000" dirty="0">
                <a:latin typeface="Times New Roman" panose="02020603050405020304" pitchFamily="18" charset="0"/>
                <a:ea typeface="等线" panose="02010600030101010101" pitchFamily="2" charset="-122"/>
                <a:cs typeface="Times New Roman" panose="02020603050405020304" pitchFamily="18" charset="0"/>
              </a:rPr>
              <a:t>i</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仅取值</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或</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1</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指派问题是</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整数规划</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指派问题可视为一类</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割平面的含义是增加约束方程以缩小整数规划问题</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A</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对应的线性规划</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问题的</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可行域</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分支定界法的分支思想是根据</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A</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问题的目标函数，在</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问题中从相应的两个区间加上约束组成新的线性规划</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B</a:t>
            </a:r>
            <a:r>
              <a:rPr lang="en-US" altLang="zh-CN" sz="1400" kern="100" baseline="-25000" dirty="0">
                <a:latin typeface="等线" panose="02010600030101010101" pitchFamily="2" charset="-122"/>
                <a:ea typeface="等线" panose="02010600030101010101" pitchFamily="2" charset="-122"/>
                <a:cs typeface="Times New Roman" panose="02020603050405020304" pitchFamily="18" charset="0"/>
              </a:rPr>
              <a:t>1</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与</a:t>
            </a:r>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B</a:t>
            </a:r>
            <a:r>
              <a:rPr lang="en-US" altLang="zh-CN" sz="1400" kern="100" baseline="-25000" dirty="0">
                <a:latin typeface="等线" panose="02010600030101010101" pitchFamily="2" charset="-122"/>
                <a:ea typeface="等线" panose="02010600030101010101" pitchFamily="2" charset="-122"/>
                <a:cs typeface="Times New Roman" panose="02020603050405020304" pitchFamily="18" charset="0"/>
              </a:rPr>
              <a:t>2</a:t>
            </a:r>
            <a:r>
              <a:rPr lang="zh-CN" altLang="zh-CN" sz="1400" kern="100" dirty="0">
                <a:latin typeface="等线" panose="02010600030101010101" pitchFamily="2" charset="-122"/>
                <a:ea typeface="等线" panose="02010600030101010101" pitchFamily="2" charset="-122"/>
                <a:cs typeface="Times New Roman" panose="02020603050405020304" pitchFamily="18" charset="0"/>
              </a:rPr>
              <a:t>问题</a:t>
            </a:r>
            <a:r>
              <a:rPr lang="zh-CN"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39</a:t>
            </a:fld>
            <a:endParaRPr lang="en-US" altLang="zh-CN"/>
          </a:p>
        </p:txBody>
      </p:sp>
    </p:spTree>
    <p:extLst>
      <p:ext uri="{BB962C8B-B14F-4D97-AF65-F5344CB8AC3E}">
        <p14:creationId xmlns:p14="http://schemas.microsoft.com/office/powerpoint/2010/main" val="28261418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本章练习题</a:t>
            </a:r>
          </a:p>
        </p:txBody>
      </p:sp>
      <p:sp>
        <p:nvSpPr>
          <p:cNvPr id="3" name="内容占位符 2"/>
          <p:cNvSpPr>
            <a:spLocks noGrp="1"/>
          </p:cNvSpPr>
          <p:nvPr>
            <p:ph idx="1"/>
          </p:nvPr>
        </p:nvSpPr>
        <p:spPr>
          <a:xfrm>
            <a:off x="494729" y="1196752"/>
            <a:ext cx="8469759" cy="1275927"/>
          </a:xfrm>
        </p:spPr>
        <p:txBody>
          <a:bodyPr/>
          <a:lstStyle/>
          <a:p>
            <a:pPr marL="0" indent="0" algn="just">
              <a:lnSpc>
                <a:spcPct val="173000"/>
              </a:lnSpc>
              <a:spcBef>
                <a:spcPts val="1300"/>
              </a:spcBef>
              <a:spcAft>
                <a:spcPts val="1300"/>
              </a:spcAft>
              <a:buNone/>
            </a:pPr>
            <a:r>
              <a:rPr lang="zh-CN" altLang="zh-CN" sz="1600" kern="100" dirty="0">
                <a:latin typeface="等线 Light" panose="02010600030101010101" pitchFamily="2" charset="-122"/>
                <a:ea typeface="宋体" panose="02010600030101010101" pitchFamily="2" charset="-122"/>
                <a:cs typeface="Times New Roman" panose="02020603050405020304" pitchFamily="18" charset="0"/>
              </a:rPr>
              <a:t>三、填空题</a:t>
            </a:r>
            <a:endParaRPr lang="zh-CN" altLang="zh-CN" sz="1600" kern="100" dirty="0">
              <a:latin typeface="等线 Light" panose="02010600030101010101" pitchFamily="2" charset="-122"/>
              <a:ea typeface="等线 Light" panose="02010600030101010101" pitchFamily="2" charset="-122"/>
              <a:cs typeface="Times New Roman" panose="02020603050405020304" pitchFamily="18" charset="0"/>
            </a:endParaRPr>
          </a:p>
          <a:p>
            <a:pPr marL="0" lvl="0" indent="0" algn="just">
              <a:spcAft>
                <a:spcPts val="0"/>
              </a:spcAft>
              <a:buNone/>
            </a:pP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若存在非整数解并且</a:t>
            </a:r>
            <a:r>
              <a:rPr lang="zh-CN" altLang="zh-CN" sz="1600" kern="100" dirty="0" smtClean="0">
                <a:latin typeface="等线" panose="02010600030101010101" pitchFamily="2" charset="-122"/>
                <a:ea typeface="等线" panose="02010600030101010101" pitchFamily="2" charset="-122"/>
                <a:cs typeface="Times New Roman" panose="02020603050405020304" pitchFamily="18" charset="0"/>
              </a:rPr>
              <a:t>目标值</a:t>
            </a:r>
            <a:r>
              <a:rPr lang="en-US" altLang="zh-CN" sz="16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smtClean="0">
                <a:latin typeface="等线" panose="02010600030101010101" pitchFamily="2" charset="-122"/>
                <a:ea typeface="等线" panose="02010600030101010101" pitchFamily="2" charset="-122"/>
                <a:cs typeface="Times New Roman" panose="02020603050405020304" pitchFamily="18" charset="0"/>
              </a:rPr>
              <a:t>一</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整数解的目标值，需要继续</a:t>
            </a:r>
            <a:r>
              <a:rPr lang="zh-CN" altLang="zh-CN" sz="1600" kern="100" dirty="0" smtClean="0">
                <a:latin typeface="等线" panose="02010600030101010101" pitchFamily="2" charset="-122"/>
                <a:ea typeface="等线" panose="02010600030101010101" pitchFamily="2" charset="-122"/>
                <a:cs typeface="Times New Roman" panose="02020603050405020304" pitchFamily="18" charset="0"/>
              </a:rPr>
              <a:t>分支</a:t>
            </a:r>
            <a:r>
              <a:rPr lang="zh-CN" altLang="en-US" sz="16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0" indent="0">
              <a:buNone/>
            </a:pPr>
            <a:r>
              <a:rPr lang="zh-CN" altLang="zh-CN" sz="1600" dirty="0">
                <a:ea typeface="等线" panose="02010600030101010101" pitchFamily="2" charset="-122"/>
                <a:cs typeface="Times New Roman" panose="02020603050405020304" pitchFamily="18" charset="0"/>
              </a:rPr>
              <a:t>当松弛问题最优解中某个</a:t>
            </a:r>
            <a:r>
              <a:rPr lang="zh-CN" altLang="zh-CN" sz="1600" dirty="0" smtClean="0">
                <a:ea typeface="等线" panose="02010600030101010101" pitchFamily="2" charset="-122"/>
                <a:cs typeface="Times New Roman" panose="02020603050405020304" pitchFamily="18" charset="0"/>
              </a:rPr>
              <a:t>变量</a:t>
            </a:r>
            <a:r>
              <a:rPr lang="en-US" altLang="zh-CN" sz="1600" u="sng" dirty="0" smtClean="0">
                <a:ea typeface="等线" panose="02010600030101010101" pitchFamily="2" charset="-122"/>
                <a:cs typeface="Times New Roman" panose="02020603050405020304" pitchFamily="18" charset="0"/>
              </a:rPr>
              <a:t>      </a:t>
            </a:r>
            <a:r>
              <a:rPr lang="zh-CN" altLang="en-US" sz="1600" dirty="0" smtClean="0">
                <a:ea typeface="等线" panose="02010600030101010101" pitchFamily="2" charset="-122"/>
                <a:cs typeface="Times New Roman" panose="02020603050405020304" pitchFamily="18" charset="0"/>
              </a:rPr>
              <a:t>整</a:t>
            </a:r>
            <a:r>
              <a:rPr lang="zh-CN" altLang="zh-CN" sz="1600" dirty="0" smtClean="0">
                <a:ea typeface="等线" panose="02010600030101010101" pitchFamily="2" charset="-122"/>
                <a:cs typeface="Times New Roman" panose="02020603050405020304" pitchFamily="18" charset="0"/>
              </a:rPr>
              <a:t>数</a:t>
            </a:r>
            <a:r>
              <a:rPr lang="zh-CN" altLang="zh-CN" sz="1600" dirty="0">
                <a:ea typeface="等线" panose="02010600030101010101" pitchFamily="2" charset="-122"/>
                <a:cs typeface="Times New Roman" panose="02020603050405020304" pitchFamily="18" charset="0"/>
              </a:rPr>
              <a:t>要求时，分支定界法和割平面法都需要添加</a:t>
            </a:r>
            <a:r>
              <a:rPr lang="zh-CN" altLang="zh-CN" sz="1600">
                <a:ea typeface="等线" panose="02010600030101010101" pitchFamily="2" charset="-122"/>
                <a:cs typeface="Times New Roman" panose="02020603050405020304" pitchFamily="18" charset="0"/>
              </a:rPr>
              <a:t>约束</a:t>
            </a:r>
            <a:r>
              <a:rPr lang="zh-CN" altLang="zh-CN" sz="1600" smtClean="0">
                <a:ea typeface="等线" panose="02010600030101010101" pitchFamily="2" charset="-122"/>
                <a:cs typeface="Times New Roman" panose="02020603050405020304" pitchFamily="18" charset="0"/>
              </a:rPr>
              <a:t>方程</a:t>
            </a:r>
            <a:r>
              <a:rPr lang="zh-CN" altLang="en-US" sz="1600" smtClean="0">
                <a:ea typeface="等线" panose="02010600030101010101" pitchFamily="2" charset="-122"/>
                <a:cs typeface="Times New Roman" panose="02020603050405020304" pitchFamily="18" charset="0"/>
              </a:rPr>
              <a:t>。</a:t>
            </a:r>
            <a:endParaRPr lang="zh-CN" altLang="en-US" sz="1600" dirty="0"/>
          </a:p>
        </p:txBody>
      </p:sp>
      <p:sp>
        <p:nvSpPr>
          <p:cNvPr id="4" name="灯片编号占位符 3"/>
          <p:cNvSpPr>
            <a:spLocks noGrp="1"/>
          </p:cNvSpPr>
          <p:nvPr>
            <p:ph type="sldNum" sz="quarter" idx="12"/>
          </p:nvPr>
        </p:nvSpPr>
        <p:spPr/>
        <p:txBody>
          <a:bodyPr/>
          <a:lstStyle/>
          <a:p>
            <a:pPr>
              <a:defRPr/>
            </a:pPr>
            <a:fld id="{4B2531AE-03F7-4AC7-B414-2794D0F0706D}" type="slidenum">
              <a:rPr lang="en-US" altLang="zh-CN" smtClean="0"/>
              <a:pPr>
                <a:defRPr/>
              </a:pPr>
              <a:t>40</a:t>
            </a:fld>
            <a:endParaRPr lang="en-US" altLang="zh-CN"/>
          </a:p>
        </p:txBody>
      </p:sp>
    </p:spTree>
    <p:extLst>
      <p:ext uri="{BB962C8B-B14F-4D97-AF65-F5344CB8AC3E}">
        <p14:creationId xmlns:p14="http://schemas.microsoft.com/office/powerpoint/2010/main" val="3899572876"/>
      </p:ext>
    </p:extLst>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Verdana"/>
        <a:ea typeface="Arial Unicode MS"/>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bg1"/>
          </a:buClr>
          <a:buSzPct val="100000"/>
          <a:buFont typeface="Wingdings" panose="05000000000000000000" pitchFamily="2" charset="2"/>
          <a:buChar char="•"/>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12242</TotalTime>
  <Words>6283</Words>
  <Application>Microsoft Office PowerPoint</Application>
  <PresentationFormat>全屏显示(4:3)</PresentationFormat>
  <Paragraphs>536</Paragraphs>
  <Slides>40</Slides>
  <Notes>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40</vt:i4>
      </vt:variant>
    </vt:vector>
  </HeadingPairs>
  <TitlesOfParts>
    <vt:vector size="58" baseType="lpstr">
      <vt:lpstr>Arial Unicode MS</vt:lpstr>
      <vt:lpstr>等线</vt:lpstr>
      <vt:lpstr>等线 Light</vt:lpstr>
      <vt:lpstr>黑体</vt:lpstr>
      <vt:lpstr>楷体</vt:lpstr>
      <vt:lpstr>楷体_GB2312</vt:lpstr>
      <vt:lpstr>宋体</vt:lpstr>
      <vt:lpstr>Arial</vt:lpstr>
      <vt:lpstr>Cambria Math</vt:lpstr>
      <vt:lpstr>Courier New</vt:lpstr>
      <vt:lpstr>Times New Roman</vt:lpstr>
      <vt:lpstr>Verdana</vt:lpstr>
      <vt:lpstr>Wingdings</vt:lpstr>
      <vt:lpstr>Axis</vt:lpstr>
      <vt:lpstr>Document</vt:lpstr>
      <vt:lpstr>文档</vt:lpstr>
      <vt:lpstr>公式</vt:lpstr>
      <vt:lpstr>Equation</vt:lpstr>
      <vt:lpstr>第6章  整数规划</vt:lpstr>
      <vt:lpstr>6.1 整数线性规划问题的提出</vt:lpstr>
      <vt:lpstr>6.2 分支定界解法</vt:lpstr>
      <vt:lpstr>6.2 分支定界解法</vt:lpstr>
      <vt:lpstr>6.2 分支定界解法</vt:lpstr>
      <vt:lpstr>6.2 分支定界解法</vt:lpstr>
      <vt:lpstr>6.2 分支定界解法</vt:lpstr>
      <vt:lpstr>6.2 分支定界解法</vt:lpstr>
      <vt:lpstr>6.2 分支定界解法</vt:lpstr>
      <vt:lpstr>6.2 分支定界解法</vt:lpstr>
      <vt:lpstr>6.2 分支定界解法</vt:lpstr>
      <vt:lpstr>6.2 分支定界解法</vt:lpstr>
      <vt:lpstr>第6章  整数规划</vt:lpstr>
      <vt:lpstr>6.3 割平面解法</vt:lpstr>
      <vt:lpstr>6.3 割平面解法</vt:lpstr>
      <vt:lpstr>6.3 割平面解法</vt:lpstr>
      <vt:lpstr>6.3 割平面解法</vt:lpstr>
      <vt:lpstr>6.3 割平面解法</vt:lpstr>
      <vt:lpstr>6.3 割平面解法</vt:lpstr>
      <vt:lpstr>6.3 割平面解法</vt:lpstr>
      <vt:lpstr>6.3 割平面解法</vt:lpstr>
      <vt:lpstr>6.3 割平面解法</vt:lpstr>
      <vt:lpstr>6.3 割平面解法</vt:lpstr>
      <vt:lpstr>6.3 割平面解法</vt:lpstr>
      <vt:lpstr>6.3 割平面解法</vt:lpstr>
      <vt:lpstr>第6章  整数规划</vt:lpstr>
      <vt:lpstr>6.4 0-1型整数线性规划</vt:lpstr>
      <vt:lpstr>第6章  整数规划</vt:lpstr>
      <vt:lpstr>6.5 指派问题</vt:lpstr>
      <vt:lpstr>6.5 指派问题</vt:lpstr>
      <vt:lpstr>6.5 指派问题——匈牙利算法</vt:lpstr>
      <vt:lpstr>6.5 指派问题</vt:lpstr>
      <vt:lpstr>6.5 指派问题</vt:lpstr>
      <vt:lpstr>6.5 指派问题</vt:lpstr>
      <vt:lpstr>6.5 指派问题</vt:lpstr>
      <vt:lpstr>6.5 指派问题</vt:lpstr>
      <vt:lpstr>6.5 指派问题</vt:lpstr>
      <vt:lpstr>本章练习题</vt:lpstr>
      <vt:lpstr>本章练习题</vt:lpstr>
      <vt:lpstr>本章练习题</vt:lpstr>
    </vt:vector>
  </TitlesOfParts>
  <Company>Tsinghua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zoeyleo</dc:creator>
  <cp:lastModifiedBy>admin</cp:lastModifiedBy>
  <cp:revision>544</cp:revision>
  <dcterms:created xsi:type="dcterms:W3CDTF">2006-05-22T13:27:53Z</dcterms:created>
  <dcterms:modified xsi:type="dcterms:W3CDTF">2025-06-13T06:07:03Z</dcterms:modified>
</cp:coreProperties>
</file>