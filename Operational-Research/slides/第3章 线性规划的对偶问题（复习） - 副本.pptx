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7"/>
  </p:notesMasterIdLst>
  <p:sldIdLst>
    <p:sldId id="1002" r:id="rId2"/>
    <p:sldId id="1003" r:id="rId3"/>
    <p:sldId id="1004" r:id="rId4"/>
    <p:sldId id="1005" r:id="rId5"/>
    <p:sldId id="1006" r:id="rId6"/>
  </p:sldIdLst>
  <p:sldSz cx="9144000" cy="6858000" type="screen4x3"/>
  <p:notesSz cx="6669088" cy="9918700"/>
  <p:kinsoku lang="zh-CN" invalStChars="!),.:;?]}、。—ˇ¨〃々～‖…’”〕〉》」』〗】∶！＂＇），．：；？］｀｜｝·" invalEndChars="([{‘“〔〈《「『〖【（［｛．·"/>
  <p:defaultTextStyle>
    <a:defPPr>
      <a:defRPr lang="zh-CN"/>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9">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181"/>
    <a:srgbClr val="FFCD2D"/>
    <a:srgbClr val="0000FF"/>
    <a:srgbClr val="0000CC"/>
    <a:srgbClr val="4003ED"/>
    <a:srgbClr val="8C2532"/>
    <a:srgbClr val="B2D2DE"/>
    <a:srgbClr val="366B7E"/>
    <a:srgbClr val="6CAAC0"/>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42" autoAdjust="0"/>
    <p:restoredTop sz="78338" autoAdjust="0"/>
  </p:normalViewPr>
  <p:slideViewPr>
    <p:cSldViewPr snapToGrid="0" snapToObjects="1">
      <p:cViewPr varScale="1">
        <p:scale>
          <a:sx n="72" d="100"/>
          <a:sy n="72" d="100"/>
        </p:scale>
        <p:origin x="1724" y="48"/>
      </p:cViewPr>
      <p:guideLst>
        <p:guide orient="horz" pos="2159"/>
        <p:guide pos="2880"/>
      </p:guideLst>
    </p:cSldViewPr>
  </p:slideViewPr>
  <p:outlineViewPr>
    <p:cViewPr>
      <p:scale>
        <a:sx n="33" d="100"/>
        <a:sy n="33" d="100"/>
      </p:scale>
      <p:origin x="0" y="-1467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889938" cy="495935"/>
          </a:xfrm>
          <a:prstGeom prst="rect">
            <a:avLst/>
          </a:prstGeom>
          <a:noFill/>
          <a:ln>
            <a:noFill/>
          </a:ln>
          <a:effec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a:defRPr/>
            </a:pPr>
            <a:endParaRPr lang="zh-CN" altLang="en-US"/>
          </a:p>
        </p:txBody>
      </p:sp>
      <p:sp>
        <p:nvSpPr>
          <p:cNvPr id="2051" name="Rectangle 3"/>
          <p:cNvSpPr>
            <a:spLocks noGrp="1" noChangeArrowheads="1"/>
          </p:cNvSpPr>
          <p:nvPr>
            <p:ph type="dt" idx="1"/>
          </p:nvPr>
        </p:nvSpPr>
        <p:spPr bwMode="auto">
          <a:xfrm>
            <a:off x="3779150" y="0"/>
            <a:ext cx="2889938" cy="495935"/>
          </a:xfrm>
          <a:prstGeom prst="rect">
            <a:avLst/>
          </a:prstGeom>
          <a:noFill/>
          <a:ln>
            <a:noFill/>
          </a:ln>
          <a:effectLst/>
        </p:spPr>
        <p:txBody>
          <a:bodyPr vert="horz" wrap="square" lIns="91440" tIns="45720" rIns="91440" bIns="45720" numCol="1" anchor="t" anchorCtr="0" compatLnSpc="1"/>
          <a:lstStyle>
            <a:lvl1pPr algn="r" eaLnBrk="1" hangingPunct="1">
              <a:buFont typeface="Arial" panose="020B0604020202020204" pitchFamily="34" charset="0"/>
              <a:buNone/>
              <a:defRPr sz="1200"/>
            </a:lvl1pPr>
          </a:lstStyle>
          <a:p>
            <a:pPr>
              <a:defRPr/>
            </a:pPr>
            <a:endParaRPr lang="en-US"/>
          </a:p>
        </p:txBody>
      </p:sp>
      <p:sp>
        <p:nvSpPr>
          <p:cNvPr id="3076" name="Rectangle 4"/>
          <p:cNvSpPr>
            <a:spLocks noGrp="1" noRot="1" noChangeAspect="1" noChangeArrowheads="1"/>
          </p:cNvSpPr>
          <p:nvPr>
            <p:ph type="sldImg" idx="4294967295"/>
          </p:nvPr>
        </p:nvSpPr>
        <p:spPr bwMode="auto">
          <a:xfrm>
            <a:off x="855663" y="744538"/>
            <a:ext cx="4957762" cy="371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p:cNvSpPr>
            <a:spLocks noGrp="1" noChangeArrowheads="1"/>
          </p:cNvSpPr>
          <p:nvPr>
            <p:ph type="body" sz="quarter" idx="3"/>
          </p:nvPr>
        </p:nvSpPr>
        <p:spPr bwMode="auto">
          <a:xfrm>
            <a:off x="889212" y="4711383"/>
            <a:ext cx="4890665" cy="4463415"/>
          </a:xfrm>
          <a:prstGeom prst="rect">
            <a:avLst/>
          </a:prstGeom>
          <a:noFill/>
          <a:ln>
            <a:noFill/>
          </a:ln>
          <a:effectLst/>
        </p:spPr>
        <p:txBody>
          <a:bodyPr vert="horz" wrap="square" lIns="91440" tIns="45720" rIns="91440" bIns="45720"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p:cNvSpPr>
            <a:spLocks noGrp="1" noChangeArrowheads="1"/>
          </p:cNvSpPr>
          <p:nvPr>
            <p:ph type="ftr" sz="quarter" idx="4"/>
          </p:nvPr>
        </p:nvSpPr>
        <p:spPr bwMode="auto">
          <a:xfrm>
            <a:off x="0" y="9422765"/>
            <a:ext cx="2889938" cy="495935"/>
          </a:xfrm>
          <a:prstGeom prst="rect">
            <a:avLst/>
          </a:prstGeom>
          <a:noFill/>
          <a:ln>
            <a:noFill/>
          </a:ln>
          <a:effec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a:defRPr/>
            </a:pPr>
            <a:endParaRPr lang="en-US"/>
          </a:p>
        </p:txBody>
      </p:sp>
      <p:sp>
        <p:nvSpPr>
          <p:cNvPr id="2055" name="Rectangle 7"/>
          <p:cNvSpPr>
            <a:spLocks noGrp="1" noChangeArrowheads="1"/>
          </p:cNvSpPr>
          <p:nvPr>
            <p:ph type="sldNum" sz="quarter" idx="5"/>
          </p:nvPr>
        </p:nvSpPr>
        <p:spPr bwMode="auto">
          <a:xfrm>
            <a:off x="3779150" y="9422765"/>
            <a:ext cx="2889938" cy="495935"/>
          </a:xfrm>
          <a:prstGeom prst="rect">
            <a:avLst/>
          </a:prstGeom>
          <a:noFill/>
          <a:ln>
            <a:noFill/>
          </a:ln>
          <a:effectLst/>
        </p:spPr>
        <p:txBody>
          <a:bodyPr vert="horz" wrap="square" lIns="91440" tIns="45720" rIns="91440" bIns="45720" numCol="1" anchor="b" anchorCtr="0" compatLnSpc="1"/>
          <a:lstStyle>
            <a:lvl1pPr algn="r" eaLnBrk="1" hangingPunct="1">
              <a:buFont typeface="Arial" panose="020B0604020202020204" pitchFamily="34" charset="0"/>
              <a:buNone/>
              <a:defRPr sz="1200" noProof="1"/>
            </a:lvl1pPr>
          </a:lstStyle>
          <a:p>
            <a:pPr>
              <a:defRPr/>
            </a:pPr>
            <a:fld id="{4D3E1848-F990-4B42-9E74-6F11BC526B9F}"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8502378D-79C1-4B39-8BA9-09CDF82B3B28}" type="slidenum">
              <a:rPr lang="zh-CN" altLang="en-US"/>
              <a:pPr>
                <a:defRPr/>
              </a:pPr>
              <a:t>‹#›</a:t>
            </a:fld>
            <a:endParaRPr lang="zh-CN" altLang="en-US"/>
          </a:p>
        </p:txBody>
      </p:sp>
    </p:spTree>
    <p:extLst>
      <p:ext uri="{BB962C8B-B14F-4D97-AF65-F5344CB8AC3E}">
        <p14:creationId xmlns:p14="http://schemas.microsoft.com/office/powerpoint/2010/main" val="483145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A7EAD786-EBC1-4925-B498-0CF6EACC5F89}" type="slidenum">
              <a:rPr lang="zh-CN" altLang="en-US"/>
              <a:pPr>
                <a:defRPr/>
              </a:pPr>
              <a:t>‹#›</a:t>
            </a:fld>
            <a:endParaRPr lang="zh-CN" altLang="en-US"/>
          </a:p>
        </p:txBody>
      </p:sp>
    </p:spTree>
    <p:extLst>
      <p:ext uri="{BB962C8B-B14F-4D97-AF65-F5344CB8AC3E}">
        <p14:creationId xmlns:p14="http://schemas.microsoft.com/office/powerpoint/2010/main" val="952661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196F17A8-7DAC-44C2-9B67-4CF98EB8D7B3}" type="slidenum">
              <a:rPr lang="zh-CN" altLang="en-US"/>
              <a:pPr>
                <a:defRPr/>
              </a:pPr>
              <a:t>‹#›</a:t>
            </a:fld>
            <a:endParaRPr lang="zh-CN" altLang="en-US"/>
          </a:p>
        </p:txBody>
      </p:sp>
    </p:spTree>
    <p:extLst>
      <p:ext uri="{BB962C8B-B14F-4D97-AF65-F5344CB8AC3E}">
        <p14:creationId xmlns:p14="http://schemas.microsoft.com/office/powerpoint/2010/main" val="3091694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09600" y="1524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572000" y="1524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6"/>
          <p:cNvSpPr>
            <a:spLocks noGrp="1" noChangeArrowheads="1"/>
          </p:cNvSpPr>
          <p:nvPr>
            <p:ph type="sldNum" sz="quarter" idx="10"/>
          </p:nvPr>
        </p:nvSpPr>
        <p:spPr>
          <a:ln/>
        </p:spPr>
        <p:txBody>
          <a:bodyPr/>
          <a:lstStyle>
            <a:lvl1pPr>
              <a:defRPr/>
            </a:lvl1pPr>
          </a:lstStyle>
          <a:p>
            <a:pPr>
              <a:defRPr/>
            </a:pPr>
            <a:fld id="{2D93FBE9-ECF1-4F32-9CFA-B4FC00FDD343}" type="slidenum">
              <a:rPr lang="zh-CN" altLang="en-US"/>
              <a:pPr>
                <a:defRPr/>
              </a:pPr>
              <a:t>‹#›</a:t>
            </a:fld>
            <a:endParaRPr lang="zh-CN" altLang="en-US"/>
          </a:p>
        </p:txBody>
      </p:sp>
    </p:spTree>
    <p:extLst>
      <p:ext uri="{BB962C8B-B14F-4D97-AF65-F5344CB8AC3E}">
        <p14:creationId xmlns:p14="http://schemas.microsoft.com/office/powerpoint/2010/main" val="787391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934656F0-B6D6-4E9A-ACEC-FE7F8F39617B}" type="slidenum">
              <a:rPr lang="zh-CN" altLang="en-US"/>
              <a:pPr>
                <a:defRPr/>
              </a:pPr>
              <a:t>‹#›</a:t>
            </a:fld>
            <a:endParaRPr lang="zh-CN" altLang="en-US"/>
          </a:p>
        </p:txBody>
      </p:sp>
    </p:spTree>
    <p:extLst>
      <p:ext uri="{BB962C8B-B14F-4D97-AF65-F5344CB8AC3E}">
        <p14:creationId xmlns:p14="http://schemas.microsoft.com/office/powerpoint/2010/main" val="662080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D3FE5B29-62CE-40ED-BEFE-4F8B0DBC911D}" type="slidenum">
              <a:rPr lang="zh-CN" altLang="en-US"/>
              <a:pPr>
                <a:defRPr/>
              </a:pPr>
              <a:t>‹#›</a:t>
            </a:fld>
            <a:endParaRPr lang="zh-CN" altLang="en-US"/>
          </a:p>
        </p:txBody>
      </p:sp>
    </p:spTree>
    <p:extLst>
      <p:ext uri="{BB962C8B-B14F-4D97-AF65-F5344CB8AC3E}">
        <p14:creationId xmlns:p14="http://schemas.microsoft.com/office/powerpoint/2010/main" val="1203009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A80BCD5B-D350-4B85-AFAC-565E073B5601}" type="slidenum">
              <a:rPr lang="zh-CN" altLang="en-US"/>
              <a:pPr>
                <a:defRPr/>
              </a:pPr>
              <a:t>‹#›</a:t>
            </a:fld>
            <a:endParaRPr lang="zh-CN" altLang="en-US"/>
          </a:p>
        </p:txBody>
      </p:sp>
    </p:spTree>
    <p:extLst>
      <p:ext uri="{BB962C8B-B14F-4D97-AF65-F5344CB8AC3E}">
        <p14:creationId xmlns:p14="http://schemas.microsoft.com/office/powerpoint/2010/main" val="4240748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C8D7B7CB-BCF4-4C8B-B44F-9A1CB692FD50}" type="slidenum">
              <a:rPr lang="zh-CN" altLang="en-US"/>
              <a:pPr>
                <a:defRPr/>
              </a:pPr>
              <a:t>‹#›</a:t>
            </a:fld>
            <a:endParaRPr lang="zh-CN" altLang="en-US"/>
          </a:p>
        </p:txBody>
      </p:sp>
    </p:spTree>
    <p:extLst>
      <p:ext uri="{BB962C8B-B14F-4D97-AF65-F5344CB8AC3E}">
        <p14:creationId xmlns:p14="http://schemas.microsoft.com/office/powerpoint/2010/main" val="1879924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462D1021-BFE4-4ED3-AC6D-D2891B5F0F58}" type="slidenum">
              <a:rPr lang="zh-CN" altLang="en-US"/>
              <a:pPr>
                <a:defRPr/>
              </a:pPr>
              <a:t>‹#›</a:t>
            </a:fld>
            <a:endParaRPr lang="zh-CN" altLang="en-US"/>
          </a:p>
        </p:txBody>
      </p:sp>
    </p:spTree>
    <p:extLst>
      <p:ext uri="{BB962C8B-B14F-4D97-AF65-F5344CB8AC3E}">
        <p14:creationId xmlns:p14="http://schemas.microsoft.com/office/powerpoint/2010/main" val="3771967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7B79C548-07F8-4952-AC40-A6B2DBAB7474}" type="slidenum">
              <a:rPr lang="zh-CN" altLang="en-US"/>
              <a:pPr>
                <a:defRPr/>
              </a:pPr>
              <a:t>‹#›</a:t>
            </a:fld>
            <a:endParaRPr lang="zh-CN" altLang="en-US"/>
          </a:p>
        </p:txBody>
      </p:sp>
    </p:spTree>
    <p:extLst>
      <p:ext uri="{BB962C8B-B14F-4D97-AF65-F5344CB8AC3E}">
        <p14:creationId xmlns:p14="http://schemas.microsoft.com/office/powerpoint/2010/main" val="120702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96050" y="476250"/>
            <a:ext cx="1962150" cy="516255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09600" y="476250"/>
            <a:ext cx="5734050" cy="516255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30FEAAB7-4B0A-4239-AD90-0C2502B6A452}" type="slidenum">
              <a:rPr lang="zh-CN" altLang="en-US"/>
              <a:pPr>
                <a:defRPr/>
              </a:pPr>
              <a:t>‹#›</a:t>
            </a:fld>
            <a:endParaRPr lang="zh-CN" altLang="en-US"/>
          </a:p>
        </p:txBody>
      </p:sp>
    </p:spTree>
    <p:extLst>
      <p:ext uri="{BB962C8B-B14F-4D97-AF65-F5344CB8AC3E}">
        <p14:creationId xmlns:p14="http://schemas.microsoft.com/office/powerpoint/2010/main" val="35016596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140C0732-B9EA-4B4E-AFD5-3E48394EE4E0}" type="slidenum">
              <a:rPr lang="zh-CN" altLang="en-US"/>
              <a:pPr>
                <a:defRPr/>
              </a:pPr>
              <a:t>‹#›</a:t>
            </a:fld>
            <a:endParaRPr lang="zh-CN" altLang="en-US"/>
          </a:p>
        </p:txBody>
      </p:sp>
    </p:spTree>
    <p:extLst>
      <p:ext uri="{BB962C8B-B14F-4D97-AF65-F5344CB8AC3E}">
        <p14:creationId xmlns:p14="http://schemas.microsoft.com/office/powerpoint/2010/main" val="1474745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6553200"/>
            <a:ext cx="9144000" cy="304800"/>
          </a:xfrm>
          <a:prstGeom prst="rect">
            <a:avLst/>
          </a:prstGeom>
          <a:solidFill>
            <a:srgbClr val="8C253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p>
        </p:txBody>
      </p:sp>
      <p:sp>
        <p:nvSpPr>
          <p:cNvPr id="1027" name="Rectangle 3"/>
          <p:cNvSpPr>
            <a:spLocks noGrp="1" noChangeArrowheads="1"/>
          </p:cNvSpPr>
          <p:nvPr>
            <p:ph type="title"/>
          </p:nvPr>
        </p:nvSpPr>
        <p:spPr bwMode="auto">
          <a:xfrm>
            <a:off x="1403350" y="476250"/>
            <a:ext cx="7054850" cy="457200"/>
          </a:xfrm>
          <a:prstGeom prst="rect">
            <a:avLst/>
          </a:prstGeom>
          <a:noFill/>
          <a:ln>
            <a:noFill/>
          </a:ln>
          <a:effectLst/>
        </p:spPr>
        <p:txBody>
          <a:bodyPr vert="horz" wrap="square" lIns="91440" tIns="45720" rIns="91440" bIns="45720" numCol="1" anchor="ctr" anchorCtr="0" compatLnSpc="1"/>
          <a:lstStyle/>
          <a:p>
            <a:pPr lvl="0"/>
            <a:r>
              <a:rPr lang="zh-CN" noProof="1"/>
              <a:t>单击此处编辑母版标题样式</a:t>
            </a:r>
          </a:p>
        </p:txBody>
      </p:sp>
      <p:sp>
        <p:nvSpPr>
          <p:cNvPr id="2052" name="Rectangle 4" descr="浅色横线"/>
          <p:cNvSpPr>
            <a:spLocks noChangeArrowheads="1"/>
          </p:cNvSpPr>
          <p:nvPr/>
        </p:nvSpPr>
        <p:spPr bwMode="auto">
          <a:xfrm>
            <a:off x="76200" y="1066800"/>
            <a:ext cx="9067800" cy="69850"/>
          </a:xfrm>
          <a:prstGeom prst="rect">
            <a:avLst/>
          </a:prstGeom>
          <a:blipFill dpi="0" rotWithShape="0">
            <a:blip r:embed="rId1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p>
        </p:txBody>
      </p:sp>
      <p:sp>
        <p:nvSpPr>
          <p:cNvPr id="2053" name="Rectangle 5"/>
          <p:cNvSpPr>
            <a:spLocks noGrp="1" noChangeArrowheads="1"/>
          </p:cNvSpPr>
          <p:nvPr>
            <p:ph type="body" idx="4294967295"/>
          </p:nvPr>
        </p:nvSpPr>
        <p:spPr bwMode="auto">
          <a:xfrm>
            <a:off x="609600" y="15240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p:txBody>
      </p:sp>
      <p:sp>
        <p:nvSpPr>
          <p:cNvPr id="2" name="Rectangle 6"/>
          <p:cNvSpPr>
            <a:spLocks noGrp="1" noChangeArrowheads="1"/>
          </p:cNvSpPr>
          <p:nvPr>
            <p:ph type="sldNum" sz="quarter" idx="4"/>
          </p:nvPr>
        </p:nvSpPr>
        <p:spPr bwMode="auto">
          <a:xfrm>
            <a:off x="7162800" y="6553200"/>
            <a:ext cx="1905000" cy="457200"/>
          </a:xfrm>
          <a:prstGeom prst="rect">
            <a:avLst/>
          </a:prstGeom>
          <a:noFill/>
          <a:ln>
            <a:noFill/>
          </a:ln>
          <a:effectLst/>
        </p:spPr>
        <p:txBody>
          <a:bodyPr vert="horz" wrap="square" lIns="91440" tIns="45720" rIns="91440" bIns="45720" numCol="1" anchor="t" anchorCtr="0" compatLnSpc="1"/>
          <a:lstStyle>
            <a:lvl1pPr algn="r" eaLnBrk="1" hangingPunct="1">
              <a:buFont typeface="Arial" panose="020B0604020202020204" pitchFamily="34" charset="0"/>
              <a:buNone/>
              <a:defRPr sz="1400" noProof="1">
                <a:solidFill>
                  <a:srgbClr val="FF3300"/>
                </a:solidFill>
              </a:defRPr>
            </a:lvl1pPr>
          </a:lstStyle>
          <a:p>
            <a:pPr>
              <a:defRPr/>
            </a:pPr>
            <a:fld id="{CA1BF80B-0899-4043-ADD8-2161F59573BA}" type="slidenum">
              <a:rPr lang="zh-CN" altLang="en-US"/>
              <a:pPr>
                <a:defRPr/>
              </a:pPr>
              <a:t>‹#›</a:t>
            </a:fld>
            <a:endParaRPr lang="zh-CN" altLang="en-US"/>
          </a:p>
        </p:txBody>
      </p:sp>
      <p:sp>
        <p:nvSpPr>
          <p:cNvPr id="2059" name="任意多边形 1024"/>
          <p:cNvSpPr>
            <a:spLocks noChangeArrowheads="1"/>
          </p:cNvSpPr>
          <p:nvPr/>
        </p:nvSpPr>
        <p:spPr bwMode="auto">
          <a:xfrm>
            <a:off x="0" y="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defRPr/>
            </a:pPr>
            <a:endParaRPr lang="zh-CN" altLang="en-US"/>
          </a:p>
        </p:txBody>
      </p:sp>
      <p:pic>
        <p:nvPicPr>
          <p:cNvPr id="2056" name="图片 2"/>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7938"/>
            <a:ext cx="1241425" cy="105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txStyles>
    <p:titleStyle>
      <a:lvl1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2pPr>
      <a:lvl3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3pPr>
      <a:lvl4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4pPr>
      <a:lvl5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5pPr>
      <a:lvl6pPr marL="4572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6pPr>
      <a:lvl7pPr marL="9144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7pPr>
      <a:lvl8pPr marL="13716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8pPr>
      <a:lvl9pPr marL="18288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9pPr>
    </p:titleStyle>
    <p:bodyStyle>
      <a:lvl1pPr marL="342900" indent="-342900" algn="l" rtl="0" eaLnBrk="0" fontAlgn="base" hangingPunct="0">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ea typeface="楷体_GB2312" pitchFamily="1" charset="-122"/>
          <a:cs typeface="楷体_GB2312"/>
        </a:defRPr>
      </a:lvl2pPr>
      <a:lvl3pPr marL="1143000" indent="-228600" algn="l" rtl="0" eaLnBrk="0" fontAlgn="base" hangingPunct="0">
        <a:spcBef>
          <a:spcPct val="20000"/>
        </a:spcBef>
        <a:spcAft>
          <a:spcPct val="0"/>
        </a:spcAft>
        <a:buChar char="•"/>
        <a:defRPr sz="2000" b="1">
          <a:solidFill>
            <a:schemeClr val="tx1"/>
          </a:solidFill>
          <a:latin typeface="+mn-lt"/>
          <a:ea typeface="楷体_GB2312" pitchFamily="1" charset="-122"/>
          <a:cs typeface="楷体_GB2312"/>
        </a:defRPr>
      </a:lvl3pPr>
      <a:lvl4pPr marL="1600200" indent="-228600" algn="l" rtl="0" eaLnBrk="0" fontAlgn="base" hangingPunct="0">
        <a:spcBef>
          <a:spcPct val="20000"/>
        </a:spcBef>
        <a:spcAft>
          <a:spcPct val="0"/>
        </a:spcAft>
        <a:buChar char="–"/>
        <a:defRPr sz="2000">
          <a:solidFill>
            <a:schemeClr val="tx1"/>
          </a:solidFill>
          <a:latin typeface="+mn-lt"/>
          <a:ea typeface="+mn-ea"/>
          <a:cs typeface="楷体_GB2312"/>
        </a:defRPr>
      </a:lvl4pPr>
      <a:lvl5pPr marL="2057400" indent="-228600" algn="l" rtl="0" eaLnBrk="0" fontAlgn="base" hangingPunct="0">
        <a:spcBef>
          <a:spcPct val="20000"/>
        </a:spcBef>
        <a:spcAft>
          <a:spcPct val="0"/>
        </a:spcAft>
        <a:buChar char="»"/>
        <a:defRPr sz="2000">
          <a:solidFill>
            <a:schemeClr val="tx1"/>
          </a:solidFill>
          <a:latin typeface="+mn-lt"/>
          <a:ea typeface="+mn-ea"/>
          <a:cs typeface="楷体_GB2312"/>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本章复习题</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48235" y="1136724"/>
                <a:ext cx="7772400" cy="5360896"/>
              </a:xfrm>
            </p:spPr>
            <p:txBody>
              <a:bodyPr/>
              <a:lstStyle/>
              <a:p>
                <a:pPr marL="0" indent="0" algn="just">
                  <a:lnSpc>
                    <a:spcPct val="173000"/>
                  </a:lnSpc>
                  <a:spcBef>
                    <a:spcPts val="1300"/>
                  </a:spcBef>
                  <a:spcAft>
                    <a:spcPts val="1300"/>
                  </a:spcAft>
                  <a:buNone/>
                </a:pPr>
                <a:r>
                  <a:rPr lang="zh-CN" altLang="zh-CN" sz="1200" kern="100" dirty="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一、选择题</a:t>
                </a: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使用人工变量法求解极大化的线性规划问题时，当所有的检验数</a:t>
                </a:r>
                <a14:m>
                  <m:oMath xmlns:m="http://schemas.openxmlformats.org/officeDocument/2006/math">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𝜆</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𝑗</m:t>
                        </m:r>
                      </m:sub>
                    </m:sSub>
                    <m:r>
                      <a:rPr lang="en-US" altLang="zh-CN" sz="1200"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≤0</m:t>
                    </m:r>
                  </m:oMath>
                </a14:m>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但在基变量中仍含有非零的人工变量，表明该线性规划问题</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有唯一的最优解</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有无穷多最优解</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为无界解</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无可行解</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对偶单纯形法解最小化线性规划问题时，每次迭代要求单纯形表中（）</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b</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列元素不小于零</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检验数都大于零</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检验数都不小于零</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检验数都不大于零</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如果决策变量数相等的两个线性规划的最优解相同，则两个线性规划</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约束条件相同</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模型相同</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最优目标函数值相等</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以上结论都不对</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对偶单纯形法的最小比值规划则是为了保证</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使原问题保持可行</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使对偶问题保持可行</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逐步消除原问题不可行性</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逐步消除对偶问题不可行性</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互为对偶的两个线性规划问题的解存在关系</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一个问题具有无界解，另一问题无可行解</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原问题无可行解，对偶问题也无可行解</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若最优解存在，则最优解相同</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一个问题无可行解，则另一个问题具有无界解</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原问题与对偶问题都有可行解，则</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原问题有最优解，对偶问题可能没有最优解</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原问题与对偶问题可能都没有最优解</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可能一个问题有最优解，另一个问题具有无界解</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原问题与对偶问题都有最优解</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互为对偶的两个线性规划问题的解存在关系</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原问题有可行解，对偶问题也有可行解</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一个有最优解，另一个也有最优解</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一个无最优解，另一个可能有最优解</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一个问题无可行解，则另一个问题具有无界解</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当基变量</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x</a:t>
                </a:r>
                <a:r>
                  <a:rPr lang="en-US" altLang="zh-CN" sz="1200" kern="100" baseline="-25000" dirty="0">
                    <a:solidFill>
                      <a:schemeClr val="tx1"/>
                    </a:solidFill>
                    <a:latin typeface="等线" panose="02010600030101010101" pitchFamily="2" charset="-122"/>
                    <a:ea typeface="等线" panose="02010600030101010101" pitchFamily="2" charset="-122"/>
                    <a:cs typeface="Times New Roman" panose="02020603050405020304" pitchFamily="18" charset="0"/>
                  </a:rPr>
                  <a:t>i</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的系数</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c</a:t>
                </a:r>
                <a:r>
                  <a:rPr lang="en-US" altLang="zh-CN" sz="1200" kern="100" baseline="-25000" dirty="0">
                    <a:solidFill>
                      <a:schemeClr val="tx1"/>
                    </a:solidFill>
                    <a:latin typeface="等线" panose="02010600030101010101" pitchFamily="2" charset="-122"/>
                    <a:ea typeface="等线" panose="02010600030101010101" pitchFamily="2" charset="-122"/>
                    <a:cs typeface="Times New Roman" panose="02020603050405020304" pitchFamily="18" charset="0"/>
                  </a:rPr>
                  <a:t>i</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波动时，最优表中引起变化的有</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最优基</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所有非基变量的检验数</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R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第</a:t>
                </a:r>
                <a:r>
                  <a:rPr lang="en-US" altLang="zh-CN" sz="1200" kern="100" dirty="0" err="1">
                    <a:solidFill>
                      <a:schemeClr val="tx1"/>
                    </a:solidFill>
                    <a:latin typeface="等线" panose="02010600030101010101" pitchFamily="2" charset="-122"/>
                    <a:ea typeface="等线" panose="02010600030101010101" pitchFamily="2" charset="-122"/>
                    <a:cs typeface="Times New Roman" panose="02020603050405020304" pitchFamily="18" charset="0"/>
                  </a:rPr>
                  <a:t>i</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列的系数</a:t>
                </a:r>
                <a14:m>
                  <m:oMath xmlns:m="http://schemas.openxmlformats.org/officeDocument/2006/math">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𝑁</m:t>
                            </m:r>
                          </m:e>
                        </m:acc>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𝑖</m:t>
                        </m:r>
                      </m:sub>
                    </m:sSub>
                  </m:oMath>
                </a14:m>
                <a:r>
                  <a:rPr lang="en-US"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基变量</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X</a:t>
                </a:r>
                <a:r>
                  <a:rPr lang="en-US" altLang="zh-CN" sz="1200" kern="100" baseline="-25000" dirty="0">
                    <a:solidFill>
                      <a:schemeClr val="tx1"/>
                    </a:solidFill>
                    <a:latin typeface="等线" panose="02010600030101010101" pitchFamily="2" charset="-122"/>
                    <a:ea typeface="等线" panose="02010600030101010101" pitchFamily="2" charset="-122"/>
                    <a:cs typeface="Times New Roman" panose="02020603050405020304" pitchFamily="18" charset="0"/>
                  </a:rPr>
                  <a:t>B</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当非基变量</a:t>
                </a:r>
                <a:r>
                  <a:rPr lang="en-US" altLang="zh-CN" sz="1200" kern="100" dirty="0" err="1">
                    <a:solidFill>
                      <a:schemeClr val="tx1"/>
                    </a:solidFill>
                    <a:latin typeface="等线" panose="02010600030101010101" pitchFamily="2" charset="-122"/>
                    <a:ea typeface="等线" panose="02010600030101010101" pitchFamily="2" charset="-122"/>
                    <a:cs typeface="Times New Roman" panose="02020603050405020304" pitchFamily="18" charset="0"/>
                  </a:rPr>
                  <a:t>x</a:t>
                </a:r>
                <a:r>
                  <a:rPr lang="en-US" altLang="zh-CN" sz="1200" kern="100" baseline="-25000" dirty="0" err="1">
                    <a:solidFill>
                      <a:schemeClr val="tx1"/>
                    </a:solidFill>
                    <a:latin typeface="等线" panose="02010600030101010101" pitchFamily="2" charset="-122"/>
                    <a:ea typeface="等线" panose="02010600030101010101" pitchFamily="2" charset="-122"/>
                    <a:cs typeface="Times New Roman" panose="02020603050405020304" pitchFamily="18" charset="0"/>
                  </a:rPr>
                  <a:t>j</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的系数</a:t>
                </a:r>
                <a:r>
                  <a:rPr lang="en-US" altLang="zh-CN" sz="1200" kern="100" dirty="0" err="1">
                    <a:solidFill>
                      <a:schemeClr val="tx1"/>
                    </a:solidFill>
                    <a:latin typeface="等线" panose="02010600030101010101" pitchFamily="2" charset="-122"/>
                    <a:ea typeface="等线" panose="02010600030101010101" pitchFamily="2" charset="-122"/>
                    <a:cs typeface="Times New Roman" panose="02020603050405020304" pitchFamily="18" charset="0"/>
                  </a:rPr>
                  <a:t>c</a:t>
                </a:r>
                <a:r>
                  <a:rPr lang="en-US" altLang="zh-CN" sz="1200" kern="100" baseline="-25000" dirty="0" err="1">
                    <a:solidFill>
                      <a:schemeClr val="tx1"/>
                    </a:solidFill>
                    <a:latin typeface="等线" panose="02010600030101010101" pitchFamily="2" charset="-122"/>
                    <a:ea typeface="等线" panose="02010600030101010101" pitchFamily="2" charset="-122"/>
                    <a:cs typeface="Times New Roman" panose="02020603050405020304" pitchFamily="18" charset="0"/>
                  </a:rPr>
                  <a:t>j</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波动时，最优表中引起变化的有</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单纯形乘子</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目标值</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非基变量的检验数</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常数项</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48235" y="1136724"/>
                <a:ext cx="7772400" cy="5360896"/>
              </a:xfrm>
              <a:blipFill>
                <a:blip r:embed="rId2"/>
                <a:stretch>
                  <a:fillRect l="-78" b="-12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31630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本章复习题</a:t>
            </a:r>
          </a:p>
        </p:txBody>
      </p:sp>
      <p:sp>
        <p:nvSpPr>
          <p:cNvPr id="3" name="内容占位符 2"/>
          <p:cNvSpPr>
            <a:spLocks noGrp="1"/>
          </p:cNvSpPr>
          <p:nvPr>
            <p:ph idx="1"/>
          </p:nvPr>
        </p:nvSpPr>
        <p:spPr>
          <a:xfrm>
            <a:off x="448235" y="1136723"/>
            <a:ext cx="7772400" cy="5844989"/>
          </a:xfrm>
        </p:spPr>
        <p:txBody>
          <a:bodyPr/>
          <a:lstStyle/>
          <a:p>
            <a:pPr marL="0" indent="0" algn="just">
              <a:lnSpc>
                <a:spcPct val="173000"/>
              </a:lnSpc>
              <a:spcBef>
                <a:spcPts val="1300"/>
              </a:spcBef>
              <a:spcAft>
                <a:spcPts val="1300"/>
              </a:spcAft>
              <a:buNone/>
            </a:pPr>
            <a:r>
              <a:rPr lang="zh-CN" altLang="zh-CN" sz="1200" kern="100" dirty="0">
                <a:latin typeface="等线 Light" panose="02010600030101010101" pitchFamily="2" charset="-122"/>
                <a:ea typeface="等线 Light" panose="02010600030101010101" pitchFamily="2" charset="-122"/>
                <a:cs typeface="Times New Roman" panose="02020603050405020304" pitchFamily="18" charset="0"/>
              </a:rPr>
              <a:t>一、选择题</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线性规划原问题的目标函数为求极小值型，若其某个变量小于等于</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0</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，则其对偶问题约束条件为</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形式</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&gt;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endParaRPr lang="en-US"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如果某种资源的影子价格大于其市场价格，则说明</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该资源过剩</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该资源稀缺</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企业应尽快处理该资源</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企业应充分利用该资源，开僻新的生产途径</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下列说法错误的是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任何线性规划问题都有一个与之对应的对偶问题</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对偶问题无可行解时，其原问题的目标函数无界</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若原问题为</a:t>
            </a:r>
            <a:r>
              <a:rPr lang="en-US" altLang="zh-CN" sz="1200" kern="100" dirty="0" err="1">
                <a:latin typeface="等线" panose="02010600030101010101" pitchFamily="2" charset="-122"/>
                <a:ea typeface="等线" panose="02010600030101010101" pitchFamily="2" charset="-122"/>
                <a:cs typeface="Times New Roman" panose="02020603050405020304" pitchFamily="18" charset="0"/>
              </a:rPr>
              <a:t>maxZ</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=CX</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AX</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b</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X</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0</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，则对偶问题为</a:t>
            </a:r>
            <a:r>
              <a:rPr lang="en-US" altLang="zh-CN" sz="1200" kern="100" dirty="0" err="1">
                <a:latin typeface="等线" panose="02010600030101010101" pitchFamily="2" charset="-122"/>
                <a:ea typeface="等线" panose="02010600030101010101" pitchFamily="2" charset="-122"/>
                <a:cs typeface="Times New Roman" panose="02020603050405020304" pitchFamily="18" charset="0"/>
              </a:rPr>
              <a:t>minW</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err="1">
                <a:latin typeface="等线" panose="02010600030101010101" pitchFamily="2" charset="-122"/>
                <a:ea typeface="等线" panose="02010600030101010101" pitchFamily="2" charset="-122"/>
                <a:cs typeface="Times New Roman" panose="02020603050405020304" pitchFamily="18" charset="0"/>
              </a:rPr>
              <a:t>Yb</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YA</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C</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Y</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0</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若原问题有可行解，但目标函数无界，其对偶问题无可行解</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若线性规划问题最优基中某个基变量的目标系数发生变化，则</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p>
          <a:p>
            <a:pPr mar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该基变量的检验数发生变化</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其他基变量的检验数发生变化</a:t>
            </a:r>
          </a:p>
          <a:p>
            <a:pPr mar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所有非基变量的检验数发生变化</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所有变量的检验数都发生变化线性规划灵敏度分析的主要功能是分析线性规划参数变化对</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的影响。</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正则性</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可行性</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可行解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最优解</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在线性规划的各项敏感性分析中，一定会引起最优目标函数值发生变化的是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p>
          <a:p>
            <a:pPr mar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目标系数</a:t>
            </a:r>
            <a:r>
              <a:rPr lang="en-US" altLang="zh-CN" sz="1200" kern="100" dirty="0" err="1">
                <a:latin typeface="等线" panose="02010600030101010101" pitchFamily="2" charset="-122"/>
                <a:ea typeface="等线" panose="02010600030101010101" pitchFamily="2" charset="-122"/>
                <a:cs typeface="Times New Roman" panose="02020603050405020304" pitchFamily="18" charset="0"/>
              </a:rPr>
              <a:t>c</a:t>
            </a:r>
            <a:r>
              <a:rPr lang="en-US" altLang="zh-CN" sz="1200" kern="100" baseline="-25000" dirty="0" err="1">
                <a:latin typeface="等线" panose="02010600030101010101" pitchFamily="2" charset="-122"/>
                <a:ea typeface="等线" panose="02010600030101010101" pitchFamily="2" charset="-122"/>
                <a:cs typeface="Times New Roman" panose="02020603050405020304" pitchFamily="18" charset="0"/>
              </a:rPr>
              <a:t>j</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的变化</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约束常数项</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b</a:t>
            </a:r>
            <a:r>
              <a:rPr lang="en-US" altLang="zh-CN" sz="1200" kern="100" baseline="-25000" dirty="0">
                <a:latin typeface="等线" panose="02010600030101010101" pitchFamily="2" charset="-122"/>
                <a:ea typeface="等线" panose="02010600030101010101" pitchFamily="2" charset="-122"/>
                <a:cs typeface="Times New Roman" panose="02020603050405020304" pitchFamily="18" charset="0"/>
              </a:rPr>
              <a:t>i</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变化</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增加新的变量</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增加新约束</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在线性规划问题的各种灵敏度分析中，</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的变化不能引起最优解的正则性变化。</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目标系数</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约束常数</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技术系数</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增加新的变量</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增加新的约束条件</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对于标准型的线性规划问题，下列说法错误的是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在新增变量的灵敏度分析中，若新变量可以进入基底，则目标函数将会得到进一步改善</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在增加新约束条件的灵敏度分析中，新的最优目标函数值不可能增加</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当某个约束常数</a:t>
            </a:r>
            <a:r>
              <a:rPr lang="en-US" altLang="zh-CN" sz="1200" kern="100" dirty="0" err="1">
                <a:latin typeface="等线" panose="02010600030101010101" pitchFamily="2" charset="-122"/>
                <a:ea typeface="等线" panose="02010600030101010101" pitchFamily="2" charset="-122"/>
                <a:cs typeface="Times New Roman" panose="02020603050405020304" pitchFamily="18" charset="0"/>
              </a:rPr>
              <a:t>bk</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增加时，目标函数值一定增加</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某基变量的目标系数增大，目标函数值将得到改善</a:t>
            </a:r>
          </a:p>
        </p:txBody>
      </p:sp>
    </p:spTree>
    <p:extLst>
      <p:ext uri="{BB962C8B-B14F-4D97-AF65-F5344CB8AC3E}">
        <p14:creationId xmlns:p14="http://schemas.microsoft.com/office/powerpoint/2010/main" val="3164160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本章复习题</a:t>
            </a:r>
          </a:p>
        </p:txBody>
      </p:sp>
      <p:sp>
        <p:nvSpPr>
          <p:cNvPr id="3" name="内容占位符 2"/>
          <p:cNvSpPr>
            <a:spLocks noGrp="1"/>
          </p:cNvSpPr>
          <p:nvPr>
            <p:ph idx="1"/>
          </p:nvPr>
        </p:nvSpPr>
        <p:spPr>
          <a:xfrm>
            <a:off x="448235" y="1136723"/>
            <a:ext cx="7772400" cy="5844989"/>
          </a:xfrm>
        </p:spPr>
        <p:txBody>
          <a:bodyPr/>
          <a:lstStyle/>
          <a:p>
            <a:pPr marL="0" indent="0" algn="just">
              <a:lnSpc>
                <a:spcPct val="173000"/>
              </a:lnSpc>
              <a:spcBef>
                <a:spcPts val="1300"/>
              </a:spcBef>
              <a:spcAft>
                <a:spcPts val="1300"/>
              </a:spcAft>
              <a:buNone/>
            </a:pPr>
            <a:r>
              <a:rPr lang="zh-CN" altLang="zh-CN" sz="1200" kern="100" dirty="0">
                <a:latin typeface="等线 Light" panose="02010600030101010101" pitchFamily="2" charset="-122"/>
                <a:ea typeface="等线 Light" panose="02010600030101010101" pitchFamily="2" charset="-122"/>
                <a:cs typeface="Times New Roman" panose="02020603050405020304" pitchFamily="18" charset="0"/>
              </a:rPr>
              <a:t>一、选择题</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灵敏度分析研究的是线性规划模型中最优解和</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之间的变化和影响</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基</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松弛变量</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原始数据</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条件系数</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对偶单纯形法</a:t>
            </a:r>
            <a:r>
              <a:rPr lang="zh-CN" altLang="zh-CN" sz="1200" kern="100" dirty="0">
                <a:latin typeface="宋体" panose="02010600030101010101" pitchFamily="2" charset="-122"/>
                <a:ea typeface="等线" panose="02010600030101010101" pitchFamily="2" charset="-122"/>
                <a:cs typeface="Times New Roman" panose="02020603050405020304" pitchFamily="18" charset="0"/>
              </a:rPr>
              <a:t>解最大化线性规划问题时，每次迭代要求单纯形表中</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b</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列元素不小于零</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检验数都大于零</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检验数都不小于零</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检验数都不大于零</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互为对偶的两个线性规划问题，求</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max</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的规划的最优目标函数值一定</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求</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min</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的规划的最优目标函数值</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大于等于</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小于等于</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等于</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以上皆有可能</a:t>
            </a: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在灵敏度分析中，若右端常数发生变化，则会影响（ ）。</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一个检验数</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所有检验数</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一个基变量的取值</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所有基变量的取值</a:t>
            </a:r>
          </a:p>
          <a:p>
            <a:pPr mar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影子价格是指（ ） </a:t>
            </a:r>
          </a:p>
          <a:p>
            <a:pPr mar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检验数</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对偶问题的基本解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解答列取值 </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对偶问题的最优解</a:t>
            </a:r>
          </a:p>
          <a:p>
            <a:pPr marL="0" lvl="0" indent="0" algn="just">
              <a:spcAft>
                <a:spcPts val="0"/>
              </a:spcAft>
              <a:buNone/>
            </a:pPr>
            <a:endParaRPr lang="zh-CN" altLang="en-US" dirty="0"/>
          </a:p>
        </p:txBody>
      </p:sp>
    </p:spTree>
    <p:extLst>
      <p:ext uri="{BB962C8B-B14F-4D97-AF65-F5344CB8AC3E}">
        <p14:creationId xmlns:p14="http://schemas.microsoft.com/office/powerpoint/2010/main" val="3764732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本章复习题</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48235" y="1136723"/>
                <a:ext cx="7772400" cy="5844989"/>
              </a:xfrm>
            </p:spPr>
            <p:txBody>
              <a:bodyPr/>
              <a:lstStyle/>
              <a:p>
                <a:pPr marL="0" indent="0" algn="just">
                  <a:lnSpc>
                    <a:spcPct val="173000"/>
                  </a:lnSpc>
                  <a:spcBef>
                    <a:spcPts val="1300"/>
                  </a:spcBef>
                  <a:spcAft>
                    <a:spcPts val="1300"/>
                  </a:spcAft>
                  <a:buNone/>
                </a:pPr>
                <a:r>
                  <a:rPr lang="zh-CN" altLang="en-US" sz="1200" kern="100" dirty="0">
                    <a:latin typeface="等线 Light" panose="02010600030101010101" pitchFamily="2" charset="-122"/>
                    <a:ea typeface="等线 Light" panose="02010600030101010101" pitchFamily="2" charset="-122"/>
                    <a:cs typeface="Times New Roman" panose="02020603050405020304" pitchFamily="18" charset="0"/>
                  </a:rPr>
                  <a:t>二</a:t>
                </a:r>
                <a:r>
                  <a:rPr lang="zh-CN" altLang="zh-CN" sz="1200" kern="100" dirty="0">
                    <a:latin typeface="等线 Light" panose="02010600030101010101" pitchFamily="2" charset="-122"/>
                    <a:ea typeface="等线 Light" panose="02010600030101010101" pitchFamily="2" charset="-122"/>
                    <a:cs typeface="Times New Roman" panose="02020603050405020304" pitchFamily="18" charset="0"/>
                  </a:rPr>
                  <a:t>、</a:t>
                </a:r>
                <a:r>
                  <a:rPr lang="zh-CN" altLang="en-US" sz="1200" kern="100" dirty="0">
                    <a:latin typeface="等线 Light" panose="02010600030101010101" pitchFamily="2" charset="-122"/>
                    <a:ea typeface="等线 Light" panose="02010600030101010101" pitchFamily="2" charset="-122"/>
                    <a:cs typeface="Times New Roman" panose="02020603050405020304" pitchFamily="18" charset="0"/>
                  </a:rPr>
                  <a:t>填空</a:t>
                </a:r>
                <a:r>
                  <a:rPr lang="zh-CN" altLang="zh-CN" sz="1200" kern="100" dirty="0">
                    <a:latin typeface="等线 Light" panose="02010600030101010101" pitchFamily="2" charset="-122"/>
                    <a:ea typeface="等线 Light" panose="02010600030101010101" pitchFamily="2" charset="-122"/>
                    <a:cs typeface="Times New Roman" panose="02020603050405020304" pitchFamily="18" charset="0"/>
                  </a:rPr>
                  <a:t>题</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已知线性规划问题的数学模型：</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0">
                  <a:spcAft>
                    <a:spcPts val="0"/>
                  </a:spcAft>
                  <a:buNone/>
                </a:pPr>
                <a14:m>
                  <m:oMathPara xmlns:m="http://schemas.openxmlformats.org/officeDocument/2006/math">
                    <m:oMathParaPr>
                      <m:jc m:val="centerGroup"/>
                    </m:oMathParaPr>
                    <m:oMath xmlns:m="http://schemas.openxmlformats.org/officeDocument/2006/math">
                      <m:func>
                        <m:func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200" kern="100">
                              <a:latin typeface="Cambria Math" panose="02040503050406030204" pitchFamily="18" charset="0"/>
                              <a:ea typeface="等线" panose="02010600030101010101" pitchFamily="2" charset="-122"/>
                              <a:cs typeface="Times New Roman" panose="02020603050405020304" pitchFamily="18" charset="0"/>
                            </a:rPr>
                            <m:t>min</m:t>
                          </m:r>
                        </m:fName>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𝑑</m:t>
                          </m:r>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 </m:t>
                          </m:r>
                          <m:nary>
                            <m:naryPr>
                              <m:chr m:val="∑"/>
                              <m:limLoc m:val="undOv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𝑗</m:t>
                              </m:r>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𝑚</m:t>
                              </m:r>
                            </m:sup>
                            <m:e>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𝑐</m:t>
                                  </m:r>
                                </m:e>
                                <m:sub>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𝑖</m:t>
                                  </m:r>
                                </m:sub>
                              </m:s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𝑗</m:t>
                                  </m:r>
                                </m:sub>
                              </m:sSub>
                            </m:e>
                          </m:nary>
                        </m:e>
                      </m:func>
                    </m:oMath>
                  </m:oMathPara>
                </a14:m>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0">
                  <a:spcAft>
                    <a:spcPts val="0"/>
                  </a:spcAft>
                  <a:buNone/>
                </a:pPr>
                <a14:m>
                  <m:oMathPara xmlns:m="http://schemas.openxmlformats.org/officeDocument/2006/math">
                    <m:oMathParaPr>
                      <m:jc m:val="centerGroup"/>
                    </m:oMathParaPr>
                    <m:oMath xmlns:m="http://schemas.openxmlformats.org/officeDocument/2006/math">
                      <m:nary>
                        <m:naryPr>
                          <m:chr m:val="∑"/>
                          <m:limLoc m:val="undOv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𝑗</m:t>
                          </m:r>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𝑚</m:t>
                          </m:r>
                        </m:sup>
                        <m:e>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𝑎</m:t>
                              </m:r>
                            </m:e>
                            <m:sub>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𝑖𝑗</m:t>
                              </m:r>
                            </m:sub>
                          </m:s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𝑗</m:t>
                              </m:r>
                            </m:sub>
                          </m:sSub>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𝑏</m:t>
                              </m:r>
                            </m:e>
                            <m:sub>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𝑖</m:t>
                              </m:r>
                            </m:sub>
                          </m:sSub>
                        </m:e>
                      </m:nary>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   </m:t>
                      </m:r>
                      <m:d>
                        <m:d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𝑖</m:t>
                          </m:r>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=1,2,…,</m:t>
                          </m:r>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𝑚</m:t>
                          </m:r>
                        </m:e>
                      </m:d>
                    </m:oMath>
                  </m:oMathPara>
                </a14:m>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0">
                  <a:spcAft>
                    <a:spcPts val="0"/>
                  </a:spcAft>
                  <a:buNone/>
                </a:pPr>
                <a14:m>
                  <m:oMathPara xmlns:m="http://schemas.openxmlformats.org/officeDocument/2006/math">
                    <m:oMathParaPr>
                      <m:jc m:val="centerGroup"/>
                    </m:oMathParaPr>
                    <m:oMath xmlns:m="http://schemas.openxmlformats.org/officeDocument/2006/math">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𝑗</m:t>
                          </m:r>
                        </m:sub>
                      </m:sSub>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≥0    </m:t>
                      </m:r>
                      <m:d>
                        <m:d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𝑗</m:t>
                          </m:r>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=1,2,…,</m:t>
                          </m:r>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𝑚</m:t>
                          </m:r>
                        </m:e>
                      </m:d>
                    </m:oMath>
                  </m:oMathPara>
                </a14:m>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0">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其对偶数学模型的最优解为</a:t>
                </a:r>
                <a14:m>
                  <m:oMath xmlns:m="http://schemas.openxmlformats.org/officeDocument/2006/math">
                    <m:sSup>
                      <m:sSup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𝑋</m:t>
                        </m:r>
                      </m:e>
                      <m:sup>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sz="1200" kern="100">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kern="100">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kern="100">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𝑛</m:t>
                        </m:r>
                      </m:sub>
                      <m:sup>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kern="100">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，则原数学模型的最优目标函数值为</a:t>
                </a:r>
                <a14:m>
                  <m:oMath xmlns:m="http://schemas.openxmlformats.org/officeDocument/2006/math">
                    <m:r>
                      <a:rPr lang="en-US" altLang="zh-CN" sz="1200" b="1" i="1" u="sng" kern="100"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endParaRPr lang="en-US"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在互为对偶的两个数学模型中，若其中一个数学模型有最优解，则另一个数学模型</a:t>
                </a:r>
                <a:r>
                  <a:rPr lang="en-US" altLang="zh-CN" sz="1200" u="sng"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（有</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没有</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不一定有）最优解。</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设线性规划问题数学模型如下，则其对偶数学模型为</a:t>
                </a:r>
                <a:r>
                  <a:rPr lang="en-US" altLang="zh-CN" sz="1200" u="sng" kern="1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kern="100" dirty="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0">
                  <a:spcAft>
                    <a:spcPts val="0"/>
                  </a:spcAft>
                  <a:buNone/>
                </a:pPr>
                <a14:m>
                  <m:oMathPara xmlns:m="http://schemas.openxmlformats.org/officeDocument/2006/math">
                    <m:oMathParaPr>
                      <m:jc m:val="centerGroup"/>
                    </m:oMathParaPr>
                    <m:oMath xmlns:m="http://schemas.openxmlformats.org/officeDocument/2006/math">
                      <m:func>
                        <m:func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200" kern="100">
                              <a:latin typeface="Cambria Math" panose="02040503050406030204" pitchFamily="18" charset="0"/>
                              <a:ea typeface="等线" panose="02010600030101010101" pitchFamily="2" charset="-122"/>
                              <a:cs typeface="Times New Roman" panose="02020603050405020304" pitchFamily="18" charset="0"/>
                            </a:rPr>
                            <m:t>max</m:t>
                          </m:r>
                        </m:fName>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𝑧</m:t>
                          </m:r>
                        </m:e>
                      </m:func>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 </m:t>
                      </m:r>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𝐶𝑋</m:t>
                      </m:r>
                    </m:oMath>
                  </m:oMathPara>
                </a14:m>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0">
                  <a:spcAft>
                    <a:spcPts val="0"/>
                  </a:spcAft>
                  <a:buNone/>
                </a:pPr>
                <a14:m>
                  <m:oMathPara xmlns:m="http://schemas.openxmlformats.org/officeDocument/2006/math">
                    <m:oMathParaPr>
                      <m:jc m:val="centerGroup"/>
                    </m:oMathParaPr>
                    <m:oMath xmlns:m="http://schemas.openxmlformats.org/officeDocument/2006/math">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𝐴𝑋</m:t>
                      </m:r>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𝑏</m:t>
                      </m:r>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  </m:t>
                      </m:r>
                    </m:oMath>
                  </m:oMathPara>
                </a14:m>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0">
                  <a:spcAft>
                    <a:spcPts val="0"/>
                  </a:spcAft>
                  <a:buNone/>
                </a:pPr>
                <a14:m>
                  <m:oMathPara xmlns:m="http://schemas.openxmlformats.org/officeDocument/2006/math">
                    <m:oMathParaPr>
                      <m:jc m:val="centerGroup"/>
                    </m:oMathParaPr>
                    <m:oMath xmlns:m="http://schemas.openxmlformats.org/officeDocument/2006/math">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𝑥</m:t>
                      </m:r>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≥0  </m:t>
                      </m:r>
                    </m:oMath>
                  </m:oMathPara>
                </a14:m>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228600" indent="0">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在单纯型法中，初始基可能由</a:t>
                </a:r>
                <a:r>
                  <a:rPr lang="en-US" altLang="zh-CN" sz="1200" u="sng"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三种类型的变量组成。</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若对偶问题为无界解，其原问题为</a:t>
                </a:r>
                <a:r>
                  <a:rPr lang="en-US" altLang="zh-CN" sz="1200" u="sng"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线性规划中的影子价格</a:t>
                </a:r>
                <a14:m>
                  <m:oMath xmlns:m="http://schemas.openxmlformats.org/officeDocument/2006/math">
                    <m:sSup>
                      <m:sSup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𝑌</m:t>
                        </m:r>
                      </m:e>
                      <m:sup>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𝐶</m:t>
                        </m:r>
                      </m:e>
                      <m:sub>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𝐵</m:t>
                        </m:r>
                      </m:sub>
                    </m:sSub>
                    <m:sSup>
                      <m:sSup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𝐵</m:t>
                        </m:r>
                      </m:e>
                      <m:sup>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−1</m:t>
                        </m:r>
                      </m:sup>
                    </m:sSup>
                  </m:oMath>
                </a14:m>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就是对偶问题的</a:t>
                </a:r>
                <a:r>
                  <a:rPr lang="en-US" altLang="zh-CN" sz="1200" u="sng"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0" lvl="0" indent="0">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原问题的第</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1</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个约束方程是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型，则对偶问题相应的变量是</a:t>
                </a:r>
                <a:r>
                  <a:rPr lang="en-US" altLang="zh-CN" sz="1200" u="sng"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变量。</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0" lvl="0" indent="0">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互为对偶的两个线性规划问题最优目标函数值</a:t>
                </a:r>
                <a:r>
                  <a:rPr lang="en-US" altLang="zh-CN" sz="1200" u="sng" kern="1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kern="100" dirty="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endParaRPr lang="zh-CN" altLang="en-US" sz="12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48235" y="1136723"/>
                <a:ext cx="7772400" cy="5844989"/>
              </a:xfrm>
              <a:blipFill>
                <a:blip r:embed="rId2"/>
                <a:stretch>
                  <a:fillRect l="-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42971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本章复习题</a:t>
            </a:r>
          </a:p>
        </p:txBody>
      </p:sp>
      <p:sp>
        <p:nvSpPr>
          <p:cNvPr id="3" name="内容占位符 2"/>
          <p:cNvSpPr>
            <a:spLocks noGrp="1"/>
          </p:cNvSpPr>
          <p:nvPr>
            <p:ph idx="1"/>
          </p:nvPr>
        </p:nvSpPr>
        <p:spPr>
          <a:xfrm>
            <a:off x="609600" y="1212028"/>
            <a:ext cx="7772400" cy="4114800"/>
          </a:xfrm>
        </p:spPr>
        <p:txBody>
          <a:bodyPr/>
          <a:lstStyle/>
          <a:p>
            <a:pPr algn="just">
              <a:lnSpc>
                <a:spcPct val="173000"/>
              </a:lnSpc>
              <a:spcBef>
                <a:spcPts val="1300"/>
              </a:spcBef>
              <a:spcAft>
                <a:spcPts val="1300"/>
              </a:spcAft>
            </a:pPr>
            <a:r>
              <a:rPr lang="zh-CN" altLang="zh-CN" sz="1200" kern="100" dirty="0">
                <a:latin typeface="等线 Light" panose="02010600030101010101" pitchFamily="2" charset="-122"/>
                <a:ea typeface="等线 Light" panose="02010600030101010101" pitchFamily="2" charset="-122"/>
                <a:cs typeface="Times New Roman" panose="02020603050405020304" pitchFamily="18" charset="0"/>
              </a:rPr>
              <a:t>三、判断题</a:t>
            </a:r>
          </a:p>
          <a:p>
            <a:pPr lvl="0">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如线性规划的原问题存在可行解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则其对偶问题也一定存在可行解。</a:t>
            </a:r>
          </a:p>
          <a:p>
            <a:pPr lvl="0">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如线性规划的对偶问题无可行解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则原问题也一定无可行解。</a:t>
            </a:r>
          </a:p>
          <a:p>
            <a:pPr lvl="0">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如线性规划的原问题和对偶问题都具有可行解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则该线性规划问题一定具有最优解。</a:t>
            </a: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资源限量的灵敏度分析主要是研究某一资源限量的变化对最优解的影响。</a:t>
            </a: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价值系数的灵敏度分析主要是研究某一决策变量价值系数的变化对最优解的影响。</a:t>
            </a:r>
            <a:endParaRPr lang="en-US" altLang="zh-CN" sz="1200" kern="100" dirty="0">
              <a:latin typeface="等线" panose="02010600030101010101" pitchFamily="2" charset="-122"/>
              <a:ea typeface="等线" panose="02010600030101010101" pitchFamily="2" charset="-122"/>
              <a:cs typeface="Times New Roman" panose="02020603050405020304" pitchFamily="18" charset="0"/>
            </a:endParaRP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原问题与其对偶问题的目标函数一致。</a:t>
            </a: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人工变量与决策变量的本质相同。</a:t>
            </a: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互补松弛性提供了已知一个问题的最优解时求解其对偶问题的最优解的方法。</a:t>
            </a: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原问题是求目标函数最大值，则其对偶问题的目标函数一定是求最小值。</a:t>
            </a: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互为对偶的两个线性规划问题中，原问题的检验数对应对偶问题的基本解。</a:t>
            </a: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互为对偶的两个问题</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或者同时都有最优解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或者同时都没有最优解</a:t>
            </a: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对偶问题有可行解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原问题不一定有可行解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因为对偶问题的可行解可能是无界解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原问题可能无可行解</a:t>
            </a:r>
            <a:endParaRPr lang="en-US" altLang="zh-CN" sz="1200" kern="100" dirty="0">
              <a:latin typeface="等线" panose="02010600030101010101" pitchFamily="2" charset="-122"/>
              <a:ea typeface="等线" panose="02010600030101010101" pitchFamily="2" charset="-122"/>
              <a:cs typeface="Times New Roman" panose="02020603050405020304" pitchFamily="18" charset="0"/>
            </a:endParaRP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原问题有多重解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对偶问题可能有多重解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也可能有唯一解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多重解是有无穷多最优解</a:t>
            </a: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对偶问题有可行解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原问题无可行解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则对偶问题有无界解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一对问题中</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一个有可行解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一个无可行解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则有可行解的是无界解</a:t>
            </a: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原问题没有最优解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对偶问题无法判断</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没有最优解有两种情况</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一种是无界解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一种是无可行解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如果原问题有无界解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则对偶问题无可行解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如果原问题无可行解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则对偶问题无可行解</a:t>
            </a: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如果对偶问题没有可行解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对偶问题无法判断</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无界解或无可行解两种情况都有可能</a:t>
            </a: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如果原问题与对偶问题都有可行解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则都有最优解</a:t>
            </a: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如果 原问题有最优解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对偶问题也有最优解</a:t>
            </a: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如果原问题有无界解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对偶问题无可行解</a:t>
            </a: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如果原问题无可行解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对偶问题无法判断</a:t>
            </a:r>
          </a:p>
          <a:p>
            <a:endParaRPr lang="zh-CN" altLang="en-US" dirty="0"/>
          </a:p>
        </p:txBody>
      </p:sp>
    </p:spTree>
    <p:extLst>
      <p:ext uri="{BB962C8B-B14F-4D97-AF65-F5344CB8AC3E}">
        <p14:creationId xmlns:p14="http://schemas.microsoft.com/office/powerpoint/2010/main" val="3582245125"/>
      </p:ext>
    </p:extLst>
  </p:cSld>
  <p:clrMapOvr>
    <a:masterClrMapping/>
  </p:clrMapOvr>
</p:sld>
</file>

<file path=ppt/theme/theme1.xml><?xml version="1.0" encoding="utf-8"?>
<a:theme xmlns:a="http://schemas.openxmlformats.org/drawingml/2006/main" name="1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AAC0"/>
        </a:solidFill>
        <a:ln w="9525" cap="flat" cmpd="sng" algn="ctr">
          <a:solidFill>
            <a:srgbClr val="366B7E"/>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rgbClr val="6CAAC0"/>
        </a:solidFill>
        <a:ln w="9525" cap="flat" cmpd="sng" algn="ctr">
          <a:solidFill>
            <a:srgbClr val="366B7E"/>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4974</TotalTime>
  <Words>1537</Words>
  <Application>Microsoft Office PowerPoint</Application>
  <PresentationFormat>全屏显示(4:3)</PresentationFormat>
  <Paragraphs>99</Paragraphs>
  <Slides>5</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vt:i4>
      </vt:variant>
    </vt:vector>
  </HeadingPairs>
  <TitlesOfParts>
    <vt:vector size="12" baseType="lpstr">
      <vt:lpstr>等线</vt:lpstr>
      <vt:lpstr>等线 Light</vt:lpstr>
      <vt:lpstr>宋体</vt:lpstr>
      <vt:lpstr>Arial</vt:lpstr>
      <vt:lpstr>Cambria Math</vt:lpstr>
      <vt:lpstr>Times New Roman</vt:lpstr>
      <vt:lpstr>1_默认设计模板</vt:lpstr>
      <vt:lpstr>本章复习题</vt:lpstr>
      <vt:lpstr>本章复习题</vt:lpstr>
      <vt:lpstr>本章复习题</vt:lpstr>
      <vt:lpstr>本章复习题</vt:lpstr>
      <vt:lpstr>本章复习题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企业的愿景、使命和战略目标</dc:title>
  <dc:creator>zhang</dc:creator>
  <cp:lastModifiedBy>Sonder Utopia</cp:lastModifiedBy>
  <cp:revision>248</cp:revision>
  <cp:lastPrinted>2025-06-20T10:01:05Z</cp:lastPrinted>
  <dcterms:created xsi:type="dcterms:W3CDTF">2017-11-16T13:39:33Z</dcterms:created>
  <dcterms:modified xsi:type="dcterms:W3CDTF">2025-06-20T10:01:44Z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2052-10.1.0.7245</vt:lpwstr>
  </property>
</Properties>
</file>