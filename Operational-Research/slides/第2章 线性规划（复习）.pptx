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2.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 id="2147483683" r:id="rId3"/>
    <p:sldMasterId id="2147483717" r:id="rId4"/>
  </p:sldMasterIdLst>
  <p:notesMasterIdLst>
    <p:notesMasterId r:id="rId39"/>
  </p:notesMasterIdLst>
  <p:handoutMasterIdLst>
    <p:handoutMasterId r:id="rId40"/>
  </p:handoutMasterIdLst>
  <p:sldIdLst>
    <p:sldId id="809" r:id="rId5"/>
    <p:sldId id="922" r:id="rId6"/>
    <p:sldId id="864" r:id="rId7"/>
    <p:sldId id="824" r:id="rId8"/>
    <p:sldId id="825" r:id="rId9"/>
    <p:sldId id="865" r:id="rId10"/>
    <p:sldId id="937" r:id="rId11"/>
    <p:sldId id="925" r:id="rId12"/>
    <p:sldId id="926" r:id="rId13"/>
    <p:sldId id="927" r:id="rId14"/>
    <p:sldId id="928" r:id="rId15"/>
    <p:sldId id="942" r:id="rId16"/>
    <p:sldId id="943" r:id="rId17"/>
    <p:sldId id="833" r:id="rId18"/>
    <p:sldId id="843" r:id="rId19"/>
    <p:sldId id="975" r:id="rId20"/>
    <p:sldId id="978" r:id="rId21"/>
    <p:sldId id="977" r:id="rId22"/>
    <p:sldId id="979" r:id="rId23"/>
    <p:sldId id="980" r:id="rId24"/>
    <p:sldId id="983" r:id="rId25"/>
    <p:sldId id="984" r:id="rId26"/>
    <p:sldId id="986" r:id="rId27"/>
    <p:sldId id="985" r:id="rId28"/>
    <p:sldId id="851" r:id="rId29"/>
    <p:sldId id="988" r:id="rId30"/>
    <p:sldId id="989" r:id="rId31"/>
    <p:sldId id="991" r:id="rId32"/>
    <p:sldId id="996" r:id="rId33"/>
    <p:sldId id="1021" r:id="rId34"/>
    <p:sldId id="1022" r:id="rId35"/>
    <p:sldId id="1023" r:id="rId36"/>
    <p:sldId id="1028" r:id="rId37"/>
    <p:sldId id="1025" r:id="rId38"/>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p15:clr>
            <a:srgbClr val="A4A3A4"/>
          </p15:clr>
        </p15:guide>
        <p15:guide id="2" pos="296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B2D2DE"/>
    <a:srgbClr val="8C2532"/>
    <a:srgbClr val="366B7E"/>
    <a:srgbClr val="6CAAC0"/>
    <a:srgbClr val="CCECFF"/>
    <a:srgbClr val="FFCC99"/>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6" autoAdjust="0"/>
    <p:restoredTop sz="73783" autoAdjust="0"/>
  </p:normalViewPr>
  <p:slideViewPr>
    <p:cSldViewPr snapToGrid="0" snapToObjects="1">
      <p:cViewPr varScale="1">
        <p:scale>
          <a:sx n="51" d="100"/>
          <a:sy n="51" d="100"/>
        </p:scale>
        <p:origin x="954" y="66"/>
      </p:cViewPr>
      <p:guideLst>
        <p:guide orient="horz" pos="2159"/>
        <p:guide pos="2963"/>
      </p:guideLst>
    </p:cSldViewPr>
  </p:slideViewPr>
  <p:notesTextViewPr>
    <p:cViewPr>
      <p:scale>
        <a:sx n="1" d="1"/>
        <a:sy n="1" d="1"/>
      </p:scale>
      <p:origin x="0" y="0"/>
    </p:cViewPr>
  </p:notesTextViewPr>
  <p:notesViewPr>
    <p:cSldViewPr snapToGrid="0" snapToObjects="1">
      <p:cViewPr varScale="1">
        <p:scale>
          <a:sx n="82" d="100"/>
          <a:sy n="82" d="100"/>
        </p:scale>
        <p:origin x="1445" y="5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fld id="{57140969-EA7C-4AED-B5F9-ED30DABE93A0}" type="datetimeFigureOut">
              <a:rPr lang="zh-CN" altLang="en-US"/>
              <a:pPr>
                <a:defRPr/>
              </a:pPr>
              <a:t>2025/6/13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hangingPunct="1">
              <a:buFont typeface="Arial" panose="020B0604020202020204" pitchFamily="34" charset="0"/>
              <a:buNone/>
              <a:defRPr sz="1200"/>
            </a:lvl1pPr>
          </a:lstStyle>
          <a:p>
            <a:pPr>
              <a:defRPr/>
            </a:pPr>
            <a:fld id="{E2CB5324-906E-49FD-95A9-BE44539F03CB}"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a:defRPr/>
            </a:pPr>
            <a:endParaRPr lang="en-US"/>
          </a:p>
        </p:txBody>
      </p:sp>
      <p:sp>
        <p:nvSpPr>
          <p:cNvPr id="5124" name="Rectangle 4"/>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ctr"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noProof="1"/>
            </a:lvl1pPr>
          </a:lstStyle>
          <a:p>
            <a:pPr>
              <a:defRPr/>
            </a:pPr>
            <a:fld id="{76E317ED-734E-435E-B67E-C2468E84BC1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t>通俗理解运筹学的单纯形法和单纯形表</a:t>
            </a:r>
          </a:p>
          <a:p>
            <a:r>
              <a:rPr lang="en-US" altLang="zh-CN" smtClean="0"/>
              <a:t>https://zhuanlan.zhihu.com/p/622997038?utm_id=0</a:t>
            </a:r>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1</a:t>
            </a:fld>
            <a:endParaRPr lang="zh-CN" altLang="en-US"/>
          </a:p>
        </p:txBody>
      </p:sp>
    </p:spTree>
    <p:extLst>
      <p:ext uri="{BB962C8B-B14F-4D97-AF65-F5344CB8AC3E}">
        <p14:creationId xmlns:p14="http://schemas.microsoft.com/office/powerpoint/2010/main" val="453621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3</a:t>
            </a:fld>
            <a:endParaRPr lang="zh-CN" altLang="en-US"/>
          </a:p>
        </p:txBody>
      </p:sp>
    </p:spTree>
    <p:extLst>
      <p:ext uri="{BB962C8B-B14F-4D97-AF65-F5344CB8AC3E}">
        <p14:creationId xmlns:p14="http://schemas.microsoft.com/office/powerpoint/2010/main" val="402391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2000" dirty="0" smtClean="0">
                <a:solidFill>
                  <a:schemeClr val="tx2"/>
                </a:solidFill>
              </a:rPr>
              <a:t>线性规划问题的标准型式</a:t>
            </a:r>
            <a:endParaRPr lang="en-US" altLang="zh-CN" sz="2000" dirty="0" smtClean="0">
              <a:solidFill>
                <a:schemeClr val="tx2"/>
              </a:solidFill>
            </a:endParaRPr>
          </a:p>
          <a:p>
            <a:pPr lvl="1"/>
            <a:r>
              <a:rPr lang="zh-CN" altLang="en-US" sz="2000" dirty="0" smtClean="0">
                <a:solidFill>
                  <a:schemeClr val="tx2"/>
                </a:solidFill>
              </a:rPr>
              <a:t>（</a:t>
            </a:r>
            <a:r>
              <a:rPr lang="en-US" altLang="zh-CN" sz="2000" dirty="0" smtClean="0">
                <a:solidFill>
                  <a:schemeClr val="tx2"/>
                </a:solidFill>
              </a:rPr>
              <a:t>1</a:t>
            </a:r>
            <a:r>
              <a:rPr lang="zh-CN" altLang="en-US" sz="2000" dirty="0" smtClean="0">
                <a:solidFill>
                  <a:schemeClr val="tx2"/>
                </a:solidFill>
              </a:rPr>
              <a:t>）目标函数极大化</a:t>
            </a:r>
          </a:p>
          <a:p>
            <a:pPr lvl="1"/>
            <a:r>
              <a:rPr lang="zh-CN" altLang="en-US" sz="2000" dirty="0" smtClean="0">
                <a:solidFill>
                  <a:schemeClr val="tx2"/>
                </a:solidFill>
              </a:rPr>
              <a:t>（</a:t>
            </a:r>
            <a:r>
              <a:rPr lang="en-US" altLang="zh-CN" sz="2000" dirty="0" smtClean="0">
                <a:solidFill>
                  <a:schemeClr val="tx2"/>
                </a:solidFill>
              </a:rPr>
              <a:t>2</a:t>
            </a:r>
            <a:r>
              <a:rPr lang="zh-CN" altLang="en-US" sz="2000" dirty="0" smtClean="0">
                <a:solidFill>
                  <a:schemeClr val="tx2"/>
                </a:solidFill>
              </a:rPr>
              <a:t>）约束条件为等式</a:t>
            </a:r>
          </a:p>
          <a:p>
            <a:pPr lvl="1"/>
            <a:r>
              <a:rPr lang="zh-CN" altLang="en-US" sz="2000" dirty="0" smtClean="0">
                <a:solidFill>
                  <a:schemeClr val="tx2"/>
                </a:solidFill>
              </a:rPr>
              <a:t>（</a:t>
            </a:r>
            <a:r>
              <a:rPr lang="en-US" altLang="zh-CN" sz="2000" dirty="0" smtClean="0">
                <a:solidFill>
                  <a:schemeClr val="tx2"/>
                </a:solidFill>
              </a:rPr>
              <a:t>3</a:t>
            </a:r>
            <a:r>
              <a:rPr lang="zh-CN" altLang="en-US" sz="2000" dirty="0" smtClean="0">
                <a:solidFill>
                  <a:schemeClr val="tx2"/>
                </a:solidFill>
              </a:rPr>
              <a:t>）决策变量为非负</a:t>
            </a:r>
          </a:p>
          <a:p>
            <a:pPr lvl="1"/>
            <a:r>
              <a:rPr lang="zh-CN" altLang="en-US" sz="2000" dirty="0" smtClean="0">
                <a:solidFill>
                  <a:schemeClr val="tx2"/>
                </a:solidFill>
              </a:rPr>
              <a:t>（</a:t>
            </a:r>
            <a:r>
              <a:rPr lang="en-US" altLang="zh-CN" sz="2000" dirty="0" smtClean="0">
                <a:solidFill>
                  <a:schemeClr val="tx2"/>
                </a:solidFill>
              </a:rPr>
              <a:t>4</a:t>
            </a:r>
            <a:r>
              <a:rPr lang="zh-CN" altLang="en-US" sz="2000" dirty="0" smtClean="0">
                <a:solidFill>
                  <a:schemeClr val="tx2"/>
                </a:solidFill>
              </a:rPr>
              <a:t>）约束条件右端常数项非负</a:t>
            </a:r>
            <a:endParaRPr lang="en-US" altLang="zh-CN" sz="2000" dirty="0" smtClean="0">
              <a:solidFill>
                <a:schemeClr val="tx2"/>
              </a:solidFill>
            </a:endParaRPr>
          </a:p>
          <a:p>
            <a:pPr lvl="1"/>
            <a:endParaRPr lang="en-US" altLang="zh-CN" sz="2000" dirty="0" smtClean="0">
              <a:solidFill>
                <a:schemeClr val="tx2"/>
              </a:solidFill>
            </a:endParaRPr>
          </a:p>
          <a:p>
            <a:pPr lvl="1"/>
            <a:r>
              <a:rPr lang="en-US" altLang="zh-CN" sz="2000" dirty="0" smtClean="0">
                <a:solidFill>
                  <a:schemeClr val="tx2"/>
                </a:solidFill>
              </a:rPr>
              <a:t>1</a:t>
            </a:r>
            <a:r>
              <a:rPr lang="zh-CN" altLang="en-US" sz="2000" dirty="0" smtClean="0">
                <a:solidFill>
                  <a:schemeClr val="tx2"/>
                </a:solidFill>
              </a:rPr>
              <a:t>、松弛变量：若所研究的线性规划模型的约束条件全是小于类型，那么可以通过标准化过程引入</a:t>
            </a:r>
            <a:r>
              <a:rPr lang="en-US" altLang="zh-CN" sz="2000" dirty="0" smtClean="0">
                <a:solidFill>
                  <a:schemeClr val="tx2"/>
                </a:solidFill>
              </a:rPr>
              <a:t>M</a:t>
            </a:r>
            <a:r>
              <a:rPr lang="zh-CN" altLang="en-US" sz="2000" dirty="0" smtClean="0">
                <a:solidFill>
                  <a:schemeClr val="tx2"/>
                </a:solidFill>
              </a:rPr>
              <a:t>个非负的松弛变量。松弛变量的引入常常是为了便于在更大的可行域内求解。若为</a:t>
            </a:r>
            <a:r>
              <a:rPr lang="en-US" altLang="zh-CN" sz="2000" dirty="0" smtClean="0">
                <a:solidFill>
                  <a:schemeClr val="tx2"/>
                </a:solidFill>
              </a:rPr>
              <a:t>0</a:t>
            </a:r>
            <a:r>
              <a:rPr lang="zh-CN" altLang="en-US" sz="2000" dirty="0" smtClean="0">
                <a:solidFill>
                  <a:schemeClr val="tx2"/>
                </a:solidFill>
              </a:rPr>
              <a:t>，则收敛到原有状态，若大于零，则约束松弛。</a:t>
            </a:r>
          </a:p>
          <a:p>
            <a:pPr lvl="1"/>
            <a:endParaRPr lang="zh-CN" altLang="en-US" sz="2000" dirty="0" smtClean="0">
              <a:solidFill>
                <a:schemeClr val="tx2"/>
              </a:solidFill>
            </a:endParaRPr>
          </a:p>
          <a:p>
            <a:pPr lvl="1"/>
            <a:r>
              <a:rPr lang="en-US" altLang="zh-CN" sz="2000" dirty="0" smtClean="0">
                <a:solidFill>
                  <a:schemeClr val="tx2"/>
                </a:solidFill>
              </a:rPr>
              <a:t>2</a:t>
            </a:r>
            <a:r>
              <a:rPr lang="zh-CN" altLang="en-US" sz="2000" dirty="0" smtClean="0">
                <a:solidFill>
                  <a:schemeClr val="tx2"/>
                </a:solidFill>
              </a:rPr>
              <a:t>、剩余变量：剩余变量是对于“≥”约束条件，可以增加的一些代表最低限约束的超过量。通过引入剩余变量，可以将“≥”约束条件变为等式约束条件。类似地，松弛变量的引入将“≤”的不等式约束化为等式约束。</a:t>
            </a:r>
          </a:p>
          <a:p>
            <a:pPr lvl="1"/>
            <a:endParaRPr lang="zh-CN" altLang="en-US" sz="2000" dirty="0" smtClean="0">
              <a:solidFill>
                <a:schemeClr val="tx2"/>
              </a:solidFill>
            </a:endParaRPr>
          </a:p>
          <a:p>
            <a:pPr lvl="1"/>
            <a:r>
              <a:rPr lang="en-US" altLang="zh-CN" sz="2000" dirty="0" smtClean="0">
                <a:solidFill>
                  <a:schemeClr val="tx2"/>
                </a:solidFill>
              </a:rPr>
              <a:t>3</a:t>
            </a:r>
            <a:r>
              <a:rPr lang="zh-CN" altLang="en-US" sz="2000" dirty="0" smtClean="0">
                <a:solidFill>
                  <a:schemeClr val="tx2"/>
                </a:solidFill>
              </a:rPr>
              <a:t>、人工变量</a:t>
            </a:r>
            <a:r>
              <a:rPr lang="en-US" altLang="zh-CN" sz="2000" dirty="0" smtClean="0">
                <a:solidFill>
                  <a:schemeClr val="tx2"/>
                </a:solidFill>
              </a:rPr>
              <a:t>(artificial variable)</a:t>
            </a:r>
            <a:r>
              <a:rPr lang="zh-CN" altLang="en-US" sz="2000" dirty="0" smtClean="0">
                <a:solidFill>
                  <a:schemeClr val="tx2"/>
                </a:solidFill>
              </a:rPr>
              <a:t>亦称人造变量</a:t>
            </a:r>
            <a:r>
              <a:rPr lang="en-US" altLang="zh-CN" sz="2000" dirty="0" smtClean="0">
                <a:solidFill>
                  <a:schemeClr val="tx2"/>
                </a:solidFill>
              </a:rPr>
              <a:t>.</a:t>
            </a:r>
            <a:r>
              <a:rPr lang="zh-CN" altLang="en-US" sz="2000" dirty="0" smtClean="0">
                <a:solidFill>
                  <a:schemeClr val="tx2"/>
                </a:solidFill>
              </a:rPr>
              <a:t>求解线性规划问题时人为加入的变量。人工变量</a:t>
            </a:r>
            <a:r>
              <a:rPr lang="en-US" altLang="zh-CN" sz="2000" dirty="0" smtClean="0">
                <a:solidFill>
                  <a:schemeClr val="tx2"/>
                </a:solidFill>
              </a:rPr>
              <a:t>(artificial variable)</a:t>
            </a:r>
            <a:r>
              <a:rPr lang="zh-CN" altLang="en-US" sz="2000" dirty="0" smtClean="0">
                <a:solidFill>
                  <a:schemeClr val="tx2"/>
                </a:solidFill>
              </a:rPr>
              <a:t>亦称人造变量</a:t>
            </a:r>
            <a:r>
              <a:rPr lang="en-US" altLang="zh-CN" sz="2000" dirty="0" smtClean="0">
                <a:solidFill>
                  <a:schemeClr val="tx2"/>
                </a:solidFill>
              </a:rPr>
              <a:t>.</a:t>
            </a:r>
            <a:r>
              <a:rPr lang="zh-CN" altLang="en-US" sz="2000" dirty="0" smtClean="0">
                <a:solidFill>
                  <a:schemeClr val="tx2"/>
                </a:solidFill>
              </a:rPr>
              <a:t>求解线性规划问题时人为加人的变量</a:t>
            </a:r>
            <a:r>
              <a:rPr lang="en-US" altLang="zh-CN" sz="2000" dirty="0" smtClean="0">
                <a:solidFill>
                  <a:schemeClr val="tx2"/>
                </a:solidFill>
              </a:rPr>
              <a:t>.</a:t>
            </a:r>
            <a:r>
              <a:rPr lang="zh-CN" altLang="en-US" sz="2000" dirty="0" smtClean="0">
                <a:solidFill>
                  <a:schemeClr val="tx2"/>
                </a:solidFill>
              </a:rPr>
              <a:t>用单纯形法求解线性规划问题，都是在具有初始可行基的条件下进行的，但约束方程组的系数矩阵</a:t>
            </a:r>
            <a:r>
              <a:rPr lang="en-US" altLang="zh-CN" sz="2000" dirty="0" smtClean="0">
                <a:solidFill>
                  <a:schemeClr val="tx2"/>
                </a:solidFill>
              </a:rPr>
              <a:t>A</a:t>
            </a:r>
            <a:r>
              <a:rPr lang="zh-CN" altLang="en-US" sz="2000" dirty="0" smtClean="0">
                <a:solidFill>
                  <a:schemeClr val="tx2"/>
                </a:solidFill>
              </a:rPr>
              <a:t>中所含的单位向量常常不足</a:t>
            </a:r>
            <a:r>
              <a:rPr lang="en-US" altLang="zh-CN" sz="2000" dirty="0" smtClean="0">
                <a:solidFill>
                  <a:schemeClr val="tx2"/>
                </a:solidFill>
              </a:rPr>
              <a:t>m</a:t>
            </a:r>
            <a:r>
              <a:rPr lang="zh-CN" altLang="en-US" sz="2000" dirty="0" smtClean="0">
                <a:solidFill>
                  <a:schemeClr val="tx2"/>
                </a:solidFill>
              </a:rPr>
              <a:t>个，此时可加人若干</a:t>
            </a:r>
            <a:r>
              <a:rPr lang="en-US" altLang="zh-CN" sz="2000" dirty="0" smtClean="0">
                <a:solidFill>
                  <a:schemeClr val="tx2"/>
                </a:solidFill>
              </a:rPr>
              <a:t>(</a:t>
            </a:r>
            <a:r>
              <a:rPr lang="zh-CN" altLang="en-US" sz="2000" dirty="0" smtClean="0">
                <a:solidFill>
                  <a:schemeClr val="tx2"/>
                </a:solidFill>
              </a:rPr>
              <a:t>至多</a:t>
            </a:r>
            <a:r>
              <a:rPr lang="en-US" altLang="zh-CN" sz="2000" dirty="0" smtClean="0">
                <a:solidFill>
                  <a:schemeClr val="tx2"/>
                </a:solidFill>
              </a:rPr>
              <a:t>m)</a:t>
            </a:r>
            <a:r>
              <a:rPr lang="zh-CN" altLang="en-US" sz="2000" dirty="0" smtClean="0">
                <a:solidFill>
                  <a:schemeClr val="tx2"/>
                </a:solidFill>
              </a:rPr>
              <a:t>个新变量，称这些新变量为人工变量。</a:t>
            </a:r>
          </a:p>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4</a:t>
            </a:fld>
            <a:endParaRPr lang="zh-CN" altLang="en-US"/>
          </a:p>
        </p:txBody>
      </p:sp>
    </p:spTree>
    <p:extLst>
      <p:ext uri="{BB962C8B-B14F-4D97-AF65-F5344CB8AC3E}">
        <p14:creationId xmlns:p14="http://schemas.microsoft.com/office/powerpoint/2010/main" val="7858959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spcBef>
                <a:spcPct val="20000"/>
              </a:spcBef>
              <a:buClr>
                <a:srgbClr val="553AF8"/>
              </a:buClr>
              <a:buSzPct val="70000"/>
              <a:buFont typeface="Wingdings" panose="05000000000000000000" pitchFamily="2" charset="2"/>
              <a:buNone/>
            </a:pPr>
            <a:r>
              <a:rPr lang="en-US" altLang="zh-CN" sz="1200" dirty="0" smtClean="0">
                <a:latin typeface="Times New Roman" panose="02020603050405020304" pitchFamily="18" charset="0"/>
                <a:cs typeface="Times New Roman" panose="02020603050405020304" pitchFamily="18" charset="0"/>
              </a:rPr>
              <a:t>(1) </a:t>
            </a:r>
            <a:r>
              <a:rPr lang="zh-CN" altLang="en-US" sz="1200" dirty="0" smtClean="0">
                <a:latin typeface="Times New Roman" panose="02020603050405020304" pitchFamily="18" charset="0"/>
                <a:cs typeface="Times New Roman" panose="02020603050405020304" pitchFamily="18" charset="0"/>
              </a:rPr>
              <a:t>用</a:t>
            </a:r>
            <a:r>
              <a:rPr lang="en-US" altLang="zh-CN" sz="1200" i="1" dirty="0" smtClean="0">
                <a:latin typeface="Times New Roman" panose="02020603050405020304" pitchFamily="18" charset="0"/>
                <a:cs typeface="Times New Roman" panose="02020603050405020304" pitchFamily="18" charset="0"/>
              </a:rPr>
              <a:t>x</a:t>
            </a:r>
            <a:r>
              <a:rPr lang="en-US" altLang="zh-CN" sz="1200" baseline="-30000" dirty="0" smtClean="0">
                <a:latin typeface="Times New Roman" panose="02020603050405020304" pitchFamily="18" charset="0"/>
                <a:cs typeface="Times New Roman" panose="02020603050405020304" pitchFamily="18" charset="0"/>
              </a:rPr>
              <a:t>4</a:t>
            </a:r>
            <a:r>
              <a:rPr lang="en-US" altLang="zh-CN" sz="1200" dirty="0" smtClean="0">
                <a:latin typeface="Times New Roman" panose="02020603050405020304" pitchFamily="18" charset="0"/>
                <a:cs typeface="Times New Roman" panose="02020603050405020304" pitchFamily="18" charset="0"/>
              </a:rPr>
              <a:t>−</a:t>
            </a:r>
            <a:r>
              <a:rPr lang="en-US" altLang="zh-CN" sz="1200" i="1" dirty="0" smtClean="0">
                <a:latin typeface="Times New Roman" panose="02020603050405020304" pitchFamily="18" charset="0"/>
                <a:cs typeface="Times New Roman" panose="02020603050405020304" pitchFamily="18" charset="0"/>
              </a:rPr>
              <a:t>x</a:t>
            </a:r>
            <a:r>
              <a:rPr lang="en-US" altLang="zh-CN" sz="1200" baseline="-30000" dirty="0" smtClean="0">
                <a:latin typeface="Times New Roman" panose="02020603050405020304" pitchFamily="18" charset="0"/>
                <a:cs typeface="Times New Roman" panose="02020603050405020304" pitchFamily="18" charset="0"/>
              </a:rPr>
              <a:t>5</a:t>
            </a:r>
            <a:r>
              <a:rPr lang="zh-CN" altLang="en-US" sz="1200" dirty="0" smtClean="0">
                <a:latin typeface="Times New Roman" panose="02020603050405020304" pitchFamily="18" charset="0"/>
                <a:cs typeface="Times New Roman" panose="02020603050405020304" pitchFamily="18" charset="0"/>
              </a:rPr>
              <a:t>替换</a:t>
            </a:r>
            <a:r>
              <a:rPr lang="en-US" altLang="zh-CN" sz="1200" i="1" dirty="0" smtClean="0">
                <a:latin typeface="Times New Roman" panose="02020603050405020304" pitchFamily="18" charset="0"/>
                <a:cs typeface="Times New Roman" panose="02020603050405020304" pitchFamily="18" charset="0"/>
              </a:rPr>
              <a:t>x</a:t>
            </a:r>
            <a:r>
              <a:rPr lang="en-US" altLang="zh-CN" sz="1200" baseline="-30000" dirty="0" smtClean="0">
                <a:latin typeface="Times New Roman" panose="02020603050405020304" pitchFamily="18" charset="0"/>
                <a:cs typeface="Times New Roman" panose="02020603050405020304" pitchFamily="18" charset="0"/>
              </a:rPr>
              <a:t>3</a:t>
            </a:r>
            <a:r>
              <a:rPr lang="zh-CN" altLang="en-US" sz="1200" dirty="0" smtClean="0">
                <a:latin typeface="Times New Roman" panose="02020603050405020304" pitchFamily="18" charset="0"/>
                <a:cs typeface="Times New Roman" panose="02020603050405020304" pitchFamily="18" charset="0"/>
              </a:rPr>
              <a:t>，其中</a:t>
            </a:r>
            <a:r>
              <a:rPr lang="en-US" altLang="zh-CN" sz="1200" i="1" dirty="0" smtClean="0">
                <a:latin typeface="Times New Roman" panose="02020603050405020304" pitchFamily="18" charset="0"/>
                <a:cs typeface="Times New Roman" panose="02020603050405020304" pitchFamily="18" charset="0"/>
              </a:rPr>
              <a:t>x</a:t>
            </a:r>
            <a:r>
              <a:rPr lang="en-US" altLang="zh-CN" sz="1200" baseline="-30000" dirty="0" smtClean="0">
                <a:latin typeface="Times New Roman" panose="02020603050405020304" pitchFamily="18" charset="0"/>
                <a:cs typeface="Times New Roman" panose="02020603050405020304" pitchFamily="18" charset="0"/>
              </a:rPr>
              <a:t>4</a:t>
            </a:r>
            <a:r>
              <a:rPr lang="zh-CN" altLang="en-US" sz="1200" dirty="0" smtClean="0">
                <a:latin typeface="Times New Roman" panose="02020603050405020304" pitchFamily="18" charset="0"/>
                <a:cs typeface="Times New Roman" panose="02020603050405020304" pitchFamily="18" charset="0"/>
              </a:rPr>
              <a:t>，</a:t>
            </a:r>
            <a:r>
              <a:rPr lang="en-US" altLang="zh-CN" sz="1200" i="1" dirty="0" smtClean="0">
                <a:latin typeface="Times New Roman" panose="02020603050405020304" pitchFamily="18" charset="0"/>
                <a:cs typeface="Times New Roman" panose="02020603050405020304" pitchFamily="18" charset="0"/>
              </a:rPr>
              <a:t>x</a:t>
            </a:r>
            <a:r>
              <a:rPr lang="en-US" altLang="zh-CN" sz="1200" baseline="-30000" dirty="0" smtClean="0">
                <a:latin typeface="Times New Roman" panose="02020603050405020304" pitchFamily="18" charset="0"/>
                <a:cs typeface="Times New Roman" panose="02020603050405020304" pitchFamily="18" charset="0"/>
              </a:rPr>
              <a:t>5</a:t>
            </a:r>
            <a:r>
              <a:rPr lang="en-US" altLang="zh-CN" sz="1200" dirty="0" smtClean="0">
                <a:latin typeface="Times New Roman" panose="02020603050405020304" pitchFamily="18" charset="0"/>
                <a:cs typeface="Times New Roman" panose="02020603050405020304" pitchFamily="18" charset="0"/>
              </a:rPr>
              <a:t>≥0</a:t>
            </a:r>
            <a:r>
              <a:rPr lang="zh-CN" altLang="en-US" sz="1200" dirty="0" smtClean="0">
                <a:latin typeface="Times New Roman" panose="02020603050405020304" pitchFamily="18" charset="0"/>
                <a:cs typeface="Times New Roman" panose="02020603050405020304" pitchFamily="18" charset="0"/>
              </a:rPr>
              <a:t>；</a:t>
            </a:r>
          </a:p>
          <a:p>
            <a:pPr algn="just" eaLnBrk="1" hangingPunct="1">
              <a:spcBef>
                <a:spcPct val="20000"/>
              </a:spcBef>
              <a:buClr>
                <a:srgbClr val="553AF8"/>
              </a:buClr>
              <a:buSzPct val="70000"/>
              <a:buFont typeface="Wingdings" panose="05000000000000000000" pitchFamily="2" charset="2"/>
              <a:buNone/>
            </a:pPr>
            <a:r>
              <a:rPr lang="en-US" altLang="zh-CN" sz="1200" dirty="0" smtClean="0">
                <a:latin typeface="Times New Roman" panose="02020603050405020304" pitchFamily="18" charset="0"/>
                <a:cs typeface="Times New Roman" panose="02020603050405020304" pitchFamily="18" charset="0"/>
              </a:rPr>
              <a:t>(2) </a:t>
            </a:r>
            <a:r>
              <a:rPr lang="zh-CN" altLang="en-US" sz="1200" dirty="0" smtClean="0">
                <a:latin typeface="Times New Roman" panose="02020603050405020304" pitchFamily="18" charset="0"/>
                <a:cs typeface="Times New Roman" panose="02020603050405020304" pitchFamily="18" charset="0"/>
              </a:rPr>
              <a:t>在第一个约束不等式左端加入松弛变量</a:t>
            </a:r>
            <a:r>
              <a:rPr lang="en-US" altLang="zh-CN" sz="1200" i="1" dirty="0" smtClean="0">
                <a:latin typeface="Times New Roman" panose="02020603050405020304" pitchFamily="18" charset="0"/>
                <a:cs typeface="Times New Roman" panose="02020603050405020304" pitchFamily="18" charset="0"/>
              </a:rPr>
              <a:t>x</a:t>
            </a:r>
            <a:r>
              <a:rPr lang="en-US" altLang="zh-CN" sz="1200" baseline="-30000" dirty="0" smtClean="0">
                <a:latin typeface="Times New Roman" panose="02020603050405020304" pitchFamily="18" charset="0"/>
                <a:cs typeface="Times New Roman" panose="02020603050405020304" pitchFamily="18" charset="0"/>
              </a:rPr>
              <a:t>6</a:t>
            </a:r>
            <a:r>
              <a:rPr lang="zh-CN" altLang="en-US" sz="1200" dirty="0" smtClean="0">
                <a:latin typeface="Times New Roman" panose="02020603050405020304" pitchFamily="18" charset="0"/>
                <a:cs typeface="Times New Roman" panose="02020603050405020304" pitchFamily="18" charset="0"/>
              </a:rPr>
              <a:t>；</a:t>
            </a:r>
          </a:p>
          <a:p>
            <a:pPr algn="just" eaLnBrk="1" hangingPunct="1">
              <a:spcBef>
                <a:spcPct val="20000"/>
              </a:spcBef>
              <a:buClr>
                <a:srgbClr val="553AF8"/>
              </a:buClr>
              <a:buSzPct val="70000"/>
              <a:buFont typeface="Wingdings" panose="05000000000000000000" pitchFamily="2" charset="2"/>
              <a:buNone/>
            </a:pPr>
            <a:r>
              <a:rPr lang="en-US" altLang="zh-CN" sz="1200" dirty="0" smtClean="0">
                <a:latin typeface="Times New Roman" panose="02020603050405020304" pitchFamily="18" charset="0"/>
                <a:cs typeface="Times New Roman" panose="02020603050405020304" pitchFamily="18" charset="0"/>
              </a:rPr>
              <a:t>(3) </a:t>
            </a:r>
            <a:r>
              <a:rPr lang="zh-CN" altLang="en-US" sz="1200" dirty="0" smtClean="0">
                <a:latin typeface="Times New Roman" panose="02020603050405020304" pitchFamily="18" charset="0"/>
                <a:cs typeface="Times New Roman" panose="02020603050405020304" pitchFamily="18" charset="0"/>
              </a:rPr>
              <a:t>在第二个约束不等式左端减去剩余变量</a:t>
            </a:r>
            <a:r>
              <a:rPr lang="en-US" altLang="zh-CN" sz="1200" i="1" dirty="0" smtClean="0">
                <a:latin typeface="Times New Roman" panose="02020603050405020304" pitchFamily="18" charset="0"/>
                <a:cs typeface="Times New Roman" panose="02020603050405020304" pitchFamily="18" charset="0"/>
              </a:rPr>
              <a:t>x</a:t>
            </a:r>
            <a:r>
              <a:rPr lang="en-US" altLang="zh-CN" sz="1200" baseline="-30000" dirty="0" smtClean="0">
                <a:latin typeface="Times New Roman" panose="02020603050405020304" pitchFamily="18" charset="0"/>
                <a:cs typeface="Times New Roman" panose="02020603050405020304" pitchFamily="18" charset="0"/>
              </a:rPr>
              <a:t>7</a:t>
            </a:r>
            <a:r>
              <a:rPr lang="zh-CN" altLang="en-US" sz="1200" dirty="0" smtClean="0">
                <a:latin typeface="Times New Roman" panose="02020603050405020304" pitchFamily="18" charset="0"/>
                <a:cs typeface="Times New Roman" panose="02020603050405020304" pitchFamily="18" charset="0"/>
              </a:rPr>
              <a:t>；</a:t>
            </a:r>
          </a:p>
          <a:p>
            <a:pPr algn="just" eaLnBrk="1" hangingPunct="1">
              <a:spcBef>
                <a:spcPct val="20000"/>
              </a:spcBef>
              <a:buClr>
                <a:srgbClr val="553AF8"/>
              </a:buClr>
              <a:buSzPct val="70000"/>
              <a:buFont typeface="Wingdings" panose="05000000000000000000" pitchFamily="2" charset="2"/>
              <a:buNone/>
            </a:pPr>
            <a:r>
              <a:rPr lang="en-US" altLang="zh-CN" sz="1200" dirty="0" smtClean="0">
                <a:latin typeface="Times New Roman" panose="02020603050405020304" pitchFamily="18" charset="0"/>
                <a:cs typeface="Times New Roman" panose="02020603050405020304" pitchFamily="18" charset="0"/>
              </a:rPr>
              <a:t>(4) </a:t>
            </a:r>
            <a:r>
              <a:rPr lang="zh-CN" altLang="en-US" sz="1200" dirty="0" smtClean="0">
                <a:latin typeface="Times New Roman" panose="02020603050405020304" pitchFamily="18" charset="0"/>
                <a:cs typeface="Times New Roman" panose="02020603050405020304" pitchFamily="18" charset="0"/>
              </a:rPr>
              <a:t>令</a:t>
            </a:r>
            <a:r>
              <a:rPr lang="en-US" altLang="zh-CN" sz="1200" i="1" dirty="0" smtClean="0">
                <a:latin typeface="Times New Roman" panose="02020603050405020304" pitchFamily="18" charset="0"/>
                <a:cs typeface="Times New Roman" panose="02020603050405020304" pitchFamily="18" charset="0"/>
              </a:rPr>
              <a:t>z</a:t>
            </a:r>
            <a:r>
              <a:rPr lang="en-US" altLang="zh-CN" sz="1200" dirty="0" smtClean="0">
                <a:latin typeface="Times New Roman" panose="02020603050405020304" pitchFamily="18" charset="0"/>
                <a:cs typeface="Times New Roman" panose="02020603050405020304" pitchFamily="18" charset="0"/>
              </a:rPr>
              <a:t>′= −</a:t>
            </a:r>
            <a:r>
              <a:rPr lang="en-US" altLang="zh-CN" sz="1200" i="1" dirty="0" smtClean="0">
                <a:latin typeface="Times New Roman" panose="02020603050405020304" pitchFamily="18" charset="0"/>
                <a:cs typeface="Times New Roman" panose="02020603050405020304" pitchFamily="18" charset="0"/>
              </a:rPr>
              <a:t>z</a:t>
            </a:r>
            <a:r>
              <a:rPr lang="zh-CN" altLang="en-US" sz="1200" dirty="0" smtClean="0">
                <a:latin typeface="Times New Roman" panose="02020603050405020304" pitchFamily="18" charset="0"/>
                <a:cs typeface="Times New Roman" panose="02020603050405020304" pitchFamily="18" charset="0"/>
              </a:rPr>
              <a:t>，将求</a:t>
            </a:r>
            <a:r>
              <a:rPr lang="en-US" altLang="zh-CN" sz="1200" dirty="0" smtClean="0">
                <a:latin typeface="Times New Roman" panose="02020603050405020304" pitchFamily="18" charset="0"/>
                <a:cs typeface="Times New Roman" panose="02020603050405020304" pitchFamily="18" charset="0"/>
              </a:rPr>
              <a:t>min </a:t>
            </a:r>
            <a:r>
              <a:rPr lang="en-US" altLang="zh-CN" sz="1200" i="1" dirty="0" smtClean="0">
                <a:latin typeface="Times New Roman" panose="02020603050405020304" pitchFamily="18" charset="0"/>
                <a:cs typeface="Times New Roman" panose="02020603050405020304" pitchFamily="18" charset="0"/>
              </a:rPr>
              <a:t>z</a:t>
            </a:r>
            <a:r>
              <a:rPr lang="en-US" altLang="zh-CN" sz="1200" dirty="0" smtClean="0">
                <a:latin typeface="Times New Roman" panose="02020603050405020304" pitchFamily="18" charset="0"/>
                <a:cs typeface="Times New Roman" panose="02020603050405020304" pitchFamily="18" charset="0"/>
              </a:rPr>
              <a:t> </a:t>
            </a:r>
            <a:r>
              <a:rPr lang="zh-CN" altLang="en-US" sz="1200" dirty="0" smtClean="0">
                <a:latin typeface="Times New Roman" panose="02020603050405020304" pitchFamily="18" charset="0"/>
                <a:cs typeface="Times New Roman" panose="02020603050405020304" pitchFamily="18" charset="0"/>
              </a:rPr>
              <a:t>改为求</a:t>
            </a:r>
            <a:r>
              <a:rPr lang="en-US" altLang="zh-CN" sz="1200" dirty="0" smtClean="0">
                <a:latin typeface="Times New Roman" panose="02020603050405020304" pitchFamily="18" charset="0"/>
                <a:cs typeface="Times New Roman" panose="02020603050405020304" pitchFamily="18" charset="0"/>
              </a:rPr>
              <a:t>max </a:t>
            </a:r>
            <a:r>
              <a:rPr lang="en-US" altLang="zh-CN" sz="1200" i="1" dirty="0" smtClean="0">
                <a:latin typeface="Times New Roman" panose="02020603050405020304" pitchFamily="18" charset="0"/>
                <a:cs typeface="Times New Roman" panose="02020603050405020304" pitchFamily="18" charset="0"/>
              </a:rPr>
              <a:t>z</a:t>
            </a:r>
            <a:r>
              <a:rPr lang="en-US" altLang="zh-CN" sz="1200" dirty="0" smtClean="0">
                <a:latin typeface="Times New Roman" panose="02020603050405020304" pitchFamily="18" charset="0"/>
                <a:cs typeface="Times New Roman" panose="02020603050405020304" pitchFamily="18" charset="0"/>
              </a:rPr>
              <a:t>′</a:t>
            </a:r>
          </a:p>
          <a:p>
            <a:pPr algn="just" eaLnBrk="1" hangingPunct="1">
              <a:spcBef>
                <a:spcPct val="20000"/>
              </a:spcBef>
              <a:buClr>
                <a:srgbClr val="553AF8"/>
              </a:buClr>
              <a:buSzPct val="70000"/>
              <a:buFont typeface="Wingdings" panose="05000000000000000000" pitchFamily="2" charset="2"/>
              <a:buNone/>
            </a:pPr>
            <a:r>
              <a:rPr lang="zh-CN" altLang="en-US" sz="1200" dirty="0" smtClean="0">
                <a:latin typeface="Times New Roman" panose="02020603050405020304" pitchFamily="18" charset="0"/>
                <a:cs typeface="Times New Roman" panose="02020603050405020304" pitchFamily="18" charset="0"/>
              </a:rPr>
              <a:t>即可得到该问题的标准型。</a:t>
            </a:r>
          </a:p>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5</a:t>
            </a:fld>
            <a:endParaRPr lang="zh-CN" altLang="en-US"/>
          </a:p>
        </p:txBody>
      </p:sp>
    </p:spTree>
    <p:extLst>
      <p:ext uri="{BB962C8B-B14F-4D97-AF65-F5344CB8AC3E}">
        <p14:creationId xmlns:p14="http://schemas.microsoft.com/office/powerpoint/2010/main" val="4071518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1</a:t>
            </a:r>
            <a:r>
              <a:rPr lang="zh-CN" altLang="en-US" sz="1200" b="0" dirty="0" smtClean="0">
                <a:latin typeface="宋体" panose="02010600030101010101" pitchFamily="2" charset="-122"/>
              </a:rPr>
              <a:t>）建立平面直角坐标系。取决策变量为坐标向量，标出坐标原点、坐标轴指向及单位长度。 </a:t>
            </a:r>
          </a:p>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2</a:t>
            </a:r>
            <a:r>
              <a:rPr lang="zh-CN" altLang="en-US" sz="1200" b="0" dirty="0" smtClean="0">
                <a:latin typeface="宋体" panose="02010600030101010101" pitchFamily="2" charset="-122"/>
              </a:rPr>
              <a:t>）确定线性规划解的可行域。</a:t>
            </a:r>
          </a:p>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3</a:t>
            </a:r>
            <a:r>
              <a:rPr lang="zh-CN" altLang="en-US" sz="1200" b="0" dirty="0" smtClean="0">
                <a:latin typeface="宋体" panose="02010600030101010101" pitchFamily="2" charset="-122"/>
              </a:rPr>
              <a:t>）绘制目标函数等值线（面）。</a:t>
            </a:r>
          </a:p>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4</a:t>
            </a:r>
            <a:r>
              <a:rPr lang="zh-CN" altLang="en-US" sz="1200" b="0" dirty="0" smtClean="0">
                <a:latin typeface="宋体" panose="02010600030101010101" pitchFamily="2" charset="-122"/>
              </a:rPr>
              <a:t>）寻找线性规划最优解</a:t>
            </a:r>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6</a:t>
            </a:fld>
            <a:endParaRPr lang="zh-CN" altLang="en-US"/>
          </a:p>
        </p:txBody>
      </p:sp>
    </p:spTree>
    <p:extLst>
      <p:ext uri="{BB962C8B-B14F-4D97-AF65-F5344CB8AC3E}">
        <p14:creationId xmlns:p14="http://schemas.microsoft.com/office/powerpoint/2010/main" val="2141812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7</a:t>
            </a:fld>
            <a:endParaRPr lang="zh-CN" altLang="en-US"/>
          </a:p>
        </p:txBody>
      </p:sp>
    </p:spTree>
    <p:extLst>
      <p:ext uri="{BB962C8B-B14F-4D97-AF65-F5344CB8AC3E}">
        <p14:creationId xmlns:p14="http://schemas.microsoft.com/office/powerpoint/2010/main" val="3919085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1</a:t>
            </a:r>
            <a:r>
              <a:rPr lang="zh-CN" altLang="en-US" sz="1200" b="0" dirty="0" smtClean="0">
                <a:latin typeface="宋体" panose="02010600030101010101" pitchFamily="2" charset="-122"/>
              </a:rPr>
              <a:t>）确定初始基本可行解。</a:t>
            </a:r>
            <a:r>
              <a:rPr lang="en-US" altLang="zh-CN" sz="1200" b="0" dirty="0" smtClean="0">
                <a:latin typeface="宋体" panose="02010600030101010101" pitchFamily="2" charset="-122"/>
              </a:rPr>
              <a:t>1)</a:t>
            </a:r>
            <a:r>
              <a:rPr lang="zh-CN" altLang="en-US" sz="1200" b="0" dirty="0" smtClean="0">
                <a:latin typeface="宋体" panose="02010600030101010101" pitchFamily="2" charset="-122"/>
              </a:rPr>
              <a:t>观察法</a:t>
            </a:r>
            <a:r>
              <a:rPr lang="en-US" altLang="zh-CN" sz="1200" b="0" dirty="0" smtClean="0">
                <a:latin typeface="宋体" panose="02010600030101010101" pitchFamily="2" charset="-122"/>
              </a:rPr>
              <a:t>:</a:t>
            </a:r>
            <a:r>
              <a:rPr lang="zh-CN" altLang="en-US" sz="1200" b="0" dirty="0" smtClean="0">
                <a:latin typeface="宋体" panose="02010600030101010101" pitchFamily="2" charset="-122"/>
              </a:rPr>
              <a:t>当约束条件中全部是“≤”类型的约束时</a:t>
            </a:r>
            <a:r>
              <a:rPr lang="en-US" altLang="zh-CN" sz="1200" b="0" dirty="0" smtClean="0">
                <a:latin typeface="宋体" panose="02010600030101010101" pitchFamily="2" charset="-122"/>
              </a:rPr>
              <a:t>3)</a:t>
            </a:r>
            <a:r>
              <a:rPr lang="zh-CN" altLang="en-US" sz="1200" b="0" dirty="0" smtClean="0">
                <a:latin typeface="宋体" panose="02010600030101010101" pitchFamily="2" charset="-122"/>
              </a:rPr>
              <a:t>当约束条件都是“</a:t>
            </a:r>
            <a:r>
              <a:rPr lang="en-US" altLang="zh-CN" sz="1200" b="0" dirty="0" smtClean="0">
                <a:latin typeface="宋体" panose="02010600030101010101" pitchFamily="2" charset="-122"/>
              </a:rPr>
              <a:t>&gt;”</a:t>
            </a:r>
            <a:r>
              <a:rPr lang="zh-CN" altLang="en-US" sz="1200" b="0" dirty="0" smtClean="0">
                <a:latin typeface="宋体" panose="02010600030101010101" pitchFamily="2" charset="-122"/>
              </a:rPr>
              <a:t>或“</a:t>
            </a:r>
            <a:r>
              <a:rPr lang="en-US" altLang="zh-CN" sz="1200" b="0" dirty="0" smtClean="0">
                <a:latin typeface="宋体" panose="02010600030101010101" pitchFamily="2" charset="-122"/>
              </a:rPr>
              <a:t>=”</a:t>
            </a:r>
            <a:r>
              <a:rPr lang="zh-CN" altLang="en-US" sz="1200" b="0" dirty="0" smtClean="0">
                <a:latin typeface="宋体" panose="02010600030101010101" pitchFamily="2" charset="-122"/>
              </a:rPr>
              <a:t>类型的约束时</a:t>
            </a:r>
            <a:endParaRPr lang="en-US" altLang="zh-CN" sz="1200" b="0" dirty="0" smtClean="0">
              <a:latin typeface="宋体" panose="02010600030101010101" pitchFamily="2" charset="-122"/>
            </a:endParaRPr>
          </a:p>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2</a:t>
            </a:r>
            <a:r>
              <a:rPr lang="zh-CN" altLang="en-US" sz="1200" b="0" dirty="0" smtClean="0">
                <a:latin typeface="宋体" panose="02010600030101010101" pitchFamily="2" charset="-122"/>
              </a:rPr>
              <a:t>）选择进基变量</a:t>
            </a:r>
          </a:p>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3</a:t>
            </a:r>
            <a:r>
              <a:rPr lang="zh-CN" altLang="en-US" sz="1200" b="0" dirty="0" smtClean="0">
                <a:latin typeface="宋体" panose="02010600030101010101" pitchFamily="2" charset="-122"/>
              </a:rPr>
              <a:t>）选择出基变量</a:t>
            </a:r>
          </a:p>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4</a:t>
            </a:r>
            <a:r>
              <a:rPr lang="zh-CN" altLang="en-US" sz="1200" b="0" dirty="0" smtClean="0">
                <a:latin typeface="宋体" panose="02010600030101010101" pitchFamily="2" charset="-122"/>
              </a:rPr>
              <a:t>）按照主元素进行矩阵的初等行变换</a:t>
            </a:r>
          </a:p>
          <a:p>
            <a:pPr eaLnBrk="1" hangingPunct="1">
              <a:spcBef>
                <a:spcPct val="0"/>
              </a:spcBef>
              <a:buFontTx/>
              <a:buNone/>
            </a:pPr>
            <a:r>
              <a:rPr lang="zh-CN" altLang="en-US" sz="1200" b="0" dirty="0" smtClean="0">
                <a:latin typeface="宋体" panose="02010600030101010101" pitchFamily="2" charset="-122"/>
              </a:rPr>
              <a:t>（</a:t>
            </a:r>
            <a:r>
              <a:rPr lang="en-US" altLang="zh-CN" sz="1200" b="0" dirty="0" smtClean="0"/>
              <a:t>5</a:t>
            </a:r>
            <a:r>
              <a:rPr lang="zh-CN" altLang="en-US" sz="1200" b="0" dirty="0" smtClean="0">
                <a:latin typeface="宋体" panose="02010600030101010101" pitchFamily="2" charset="-122"/>
              </a:rPr>
              <a:t>）单纯形法最优性判别</a:t>
            </a:r>
            <a:endParaRPr lang="en-US" altLang="zh-CN" sz="1200" b="0" dirty="0" smtClean="0">
              <a:latin typeface="宋体" panose="02010600030101010101" pitchFamily="2" charset="-122"/>
            </a:endParaRPr>
          </a:p>
          <a:p>
            <a:pPr eaLnBrk="1" hangingPunct="1">
              <a:spcBef>
                <a:spcPct val="0"/>
              </a:spcBef>
              <a:buFontTx/>
              <a:buNone/>
            </a:pPr>
            <a:endParaRPr lang="en-US" altLang="zh-CN" sz="1200" b="0" dirty="0" smtClean="0">
              <a:latin typeface="宋体" panose="02010600030101010101" pitchFamily="2" charset="-122"/>
            </a:endParaRPr>
          </a:p>
          <a:p>
            <a:pPr eaLnBrk="1" hangingPunct="1">
              <a:spcBef>
                <a:spcPct val="0"/>
              </a:spcBef>
              <a:buFontTx/>
              <a:buNone/>
            </a:pPr>
            <a:r>
              <a:rPr lang="zh-CN" altLang="en-US" sz="1200" b="0" dirty="0" smtClean="0"/>
              <a:t>重复</a:t>
            </a:r>
            <a:r>
              <a:rPr lang="en-US" altLang="zh-CN" sz="1200" b="0" dirty="0" smtClean="0"/>
              <a:t>(2)</a:t>
            </a:r>
            <a:r>
              <a:rPr lang="zh-CN" altLang="en-US" sz="1200" b="0" dirty="0" smtClean="0"/>
              <a:t>、</a:t>
            </a:r>
            <a:r>
              <a:rPr lang="en-US" altLang="zh-CN" sz="1200" b="0" dirty="0" smtClean="0"/>
              <a:t>(3)(4)</a:t>
            </a:r>
            <a:r>
              <a:rPr lang="zh-CN" altLang="en-US" sz="1200" b="0" dirty="0" smtClean="0"/>
              <a:t>、</a:t>
            </a:r>
            <a:r>
              <a:rPr lang="en-US" altLang="zh-CN" sz="1200" b="0" dirty="0" smtClean="0"/>
              <a:t>(5)</a:t>
            </a:r>
            <a:r>
              <a:rPr lang="zh-CN" altLang="en-US" sz="1200" b="0" dirty="0" smtClean="0"/>
              <a:t>，一直到计算结束为止。①最优性判别定理</a:t>
            </a:r>
            <a:r>
              <a:rPr lang="en-US" altLang="zh-CN" sz="1200" b="0" dirty="0" smtClean="0"/>
              <a:t>2)</a:t>
            </a:r>
            <a:r>
              <a:rPr lang="zh-CN" altLang="en-US" sz="1200" b="0" dirty="0" smtClean="0"/>
              <a:t>无“有限最优解”的判别定理</a:t>
            </a:r>
            <a:r>
              <a:rPr lang="en-US" altLang="zh-CN" sz="1200" b="0" dirty="0" smtClean="0"/>
              <a:t>3)</a:t>
            </a:r>
            <a:r>
              <a:rPr lang="zh-CN" altLang="en-US" sz="1200" b="0" dirty="0" smtClean="0"/>
              <a:t>若在最终单纯形表中，存在某个非基变量的检验数为零，且该问题的最优解是非退化解，则该问题存在无穷多个最优解，即最优解不唯一。</a:t>
            </a:r>
          </a:p>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15</a:t>
            </a:fld>
            <a:endParaRPr lang="zh-CN" altLang="en-US"/>
          </a:p>
        </p:txBody>
      </p:sp>
    </p:spTree>
    <p:extLst>
      <p:ext uri="{BB962C8B-B14F-4D97-AF65-F5344CB8AC3E}">
        <p14:creationId xmlns:p14="http://schemas.microsoft.com/office/powerpoint/2010/main" val="3248607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表的第</a:t>
            </a:r>
            <a:r>
              <a:rPr lang="en-US" altLang="zh-CN" dirty="0" smtClean="0"/>
              <a:t>1</a:t>
            </a:r>
            <a:r>
              <a:rPr lang="zh-CN" altLang="en-US" dirty="0" smtClean="0"/>
              <a:t>列为基变量在目标函数中的系数值</a:t>
            </a:r>
            <a:r>
              <a:rPr lang="en-US" altLang="zh-CN" dirty="0" smtClean="0"/>
              <a:t>C</a:t>
            </a:r>
            <a:r>
              <a:rPr lang="zh-CN" altLang="en-US" dirty="0" smtClean="0"/>
              <a:t>，第</a:t>
            </a:r>
            <a:r>
              <a:rPr lang="en-US" altLang="zh-CN" dirty="0" smtClean="0"/>
              <a:t>2</a:t>
            </a:r>
            <a:r>
              <a:rPr lang="zh-CN" altLang="en-US" dirty="0" smtClean="0"/>
              <a:t>列和</a:t>
            </a:r>
            <a:r>
              <a:rPr lang="en-US" altLang="zh-CN" dirty="0" smtClean="0"/>
              <a:t>3</a:t>
            </a:r>
            <a:r>
              <a:rPr lang="zh-CN" altLang="en-US" dirty="0" smtClean="0"/>
              <a:t>列为基可行解中的基变量</a:t>
            </a:r>
            <a:r>
              <a:rPr lang="en-US" altLang="zh-CN" dirty="0" smtClean="0"/>
              <a:t>X</a:t>
            </a:r>
            <a:r>
              <a:rPr lang="zh-CN" altLang="en-US" dirty="0" smtClean="0"/>
              <a:t>。及其取值</a:t>
            </a:r>
            <a:r>
              <a:rPr lang="en-US" altLang="zh-CN" dirty="0" smtClean="0"/>
              <a:t>b</a:t>
            </a:r>
            <a:r>
              <a:rPr lang="zh-CN" altLang="en-US" dirty="0" smtClean="0"/>
              <a:t>。接下来列出问题中所有变量，基变量下面列是单位矩阵，非基变量</a:t>
            </a:r>
            <a:r>
              <a:rPr lang="en-US" altLang="zh-CN" dirty="0" smtClean="0"/>
              <a:t>x</a:t>
            </a:r>
            <a:r>
              <a:rPr lang="zh-CN" altLang="en-US" dirty="0" smtClean="0"/>
              <a:t>，下面数字是该变量在约束方程的系数向量</a:t>
            </a:r>
            <a:r>
              <a:rPr lang="en-US" altLang="zh-CN" dirty="0" smtClean="0"/>
              <a:t>P</a:t>
            </a:r>
            <a:r>
              <a:rPr lang="zh-CN" altLang="en-US" dirty="0" smtClean="0"/>
              <a:t>表示成为基向量线性组合时的系数。</a:t>
            </a:r>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16</a:t>
            </a:fld>
            <a:endParaRPr lang="zh-CN" altLang="en-US"/>
          </a:p>
        </p:txBody>
      </p:sp>
    </p:spTree>
    <p:extLst>
      <p:ext uri="{BB962C8B-B14F-4D97-AF65-F5344CB8AC3E}">
        <p14:creationId xmlns:p14="http://schemas.microsoft.com/office/powerpoint/2010/main" val="9851476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𝒌</m:t>
                        </m:r>
                      </m:sub>
                    </m:sSub>
                  </m:oMath>
                </a14:m>
                <a:r>
                  <a:rPr lang="en-US" altLang="zh-CN" b="0" dirty="0"/>
                  <a:t>&gt;0</a:t>
                </a:r>
                <a:r>
                  <a:rPr lang="zh-CN" altLang="en-US" dirty="0"/>
                  <a:t>，检查变量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smtClean="0"/>
                  <a:t>所</a:t>
                </a:r>
                <a:r>
                  <a:rPr lang="zh-CN" altLang="en-US" dirty="0"/>
                  <a:t>对应的列向量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a:t>，根据最小</a:t>
                </a:r>
                <a14:m>
                  <m:oMath xmlns:m="http://schemas.openxmlformats.org/officeDocument/2006/math">
                    <m:r>
                      <a:rPr lang="en-US" altLang="zh-CN" b="0" i="1">
                        <a:latin typeface="Cambria Math" panose="02040503050406030204" pitchFamily="18" charset="0"/>
                      </a:rPr>
                      <m:t>𝜃</m:t>
                    </m:r>
                  </m:oMath>
                </a14:m>
                <a:r>
                  <a:rPr lang="zh-CN" altLang="en-US" dirty="0"/>
                  <a:t>值确定出基变量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𝒓</m:t>
                        </m:r>
                      </m:sub>
                    </m:sSub>
                  </m:oMath>
                </a14:m>
                <a:r>
                  <a:rPr lang="en-US" altLang="zh-CN" dirty="0"/>
                  <a:t>;</a:t>
                </a:r>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𝒓</m:t>
                        </m:r>
                        <m:r>
                          <a:rPr lang="en-US" altLang="zh-CN" i="1">
                            <a:latin typeface="Cambria Math" panose="02040503050406030204" pitchFamily="18" charset="0"/>
                          </a:rPr>
                          <m:t>𝒌</m:t>
                        </m:r>
                      </m:sub>
                    </m:sSub>
                  </m:oMath>
                </a14:m>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Choice>
        <mc:Fallback xmlns="">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r>
                  <a:rPr lang="en-US" altLang="zh-CN" i="0">
                    <a:latin typeface="Cambria Math" panose="02040503050406030204" pitchFamily="18" charset="0"/>
                  </a:rPr>
                  <a:t>𝜆_𝒌</a:t>
                </a:r>
                <a:r>
                  <a:rPr lang="en-US" altLang="zh-CN" b="0" dirty="0"/>
                  <a:t>&gt;0</a:t>
                </a:r>
                <a:r>
                  <a:rPr lang="zh-CN" altLang="en-US" dirty="0"/>
                  <a:t>，检查变量</a:t>
                </a:r>
                <a:r>
                  <a:rPr lang="en-US" altLang="zh-CN" b="1" i="0" smtClean="0">
                    <a:latin typeface="Cambria Math" panose="02040503050406030204" pitchFamily="18" charset="0"/>
                  </a:rPr>
                  <a:t>𝒙</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所</a:t>
                </a:r>
                <a:r>
                  <a:rPr lang="zh-CN" altLang="en-US" dirty="0"/>
                  <a:t>对应的列向量</a:t>
                </a:r>
                <a:r>
                  <a:rPr lang="en-US" altLang="zh-CN" b="1" i="0" smtClean="0">
                    <a:latin typeface="Cambria Math" panose="02040503050406030204" pitchFamily="18" charset="0"/>
                  </a:rPr>
                  <a:t>𝑷</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，如果</a:t>
                </a:r>
                <a:r>
                  <a:rPr lang="en-US" altLang="zh-CN" i="0">
                    <a:latin typeface="Cambria Math" panose="02040503050406030204" pitchFamily="18" charset="0"/>
                  </a:rPr>
                  <a:t>𝑷_𝒌</a:t>
                </a:r>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r>
                  <a:rPr lang="en-US" altLang="zh-CN" i="0">
                    <a:latin typeface="Cambria Math" panose="02040503050406030204" pitchFamily="18" charset="0"/>
                  </a:rPr>
                  <a:t>𝒙_𝒌</a:t>
                </a:r>
                <a:r>
                  <a:rPr lang="zh-CN" altLang="en-US" dirty="0"/>
                  <a:t>，根据最小</a:t>
                </a:r>
                <a:r>
                  <a:rPr lang="en-US" altLang="zh-CN" b="0" i="0">
                    <a:latin typeface="Cambria Math" panose="02040503050406030204" pitchFamily="18" charset="0"/>
                  </a:rPr>
                  <a:t>𝜃</a:t>
                </a:r>
                <a:r>
                  <a:rPr lang="zh-CN" altLang="en-US" dirty="0"/>
                  <a:t>值确定出基变量</a:t>
                </a:r>
                <a:r>
                  <a:rPr lang="en-US" altLang="zh-CN" i="0">
                    <a:latin typeface="Cambria Math" panose="02040503050406030204" pitchFamily="18" charset="0"/>
                  </a:rPr>
                  <a:t>𝒙_</a:t>
                </a:r>
                <a:r>
                  <a:rPr lang="en-US" altLang="zh-CN" b="1" i="0" smtClean="0">
                    <a:latin typeface="Cambria Math" panose="02040503050406030204" pitchFamily="18" charset="0"/>
                  </a:rPr>
                  <a:t>𝒓</a:t>
                </a:r>
                <a:r>
                  <a:rPr lang="en-US" altLang="zh-CN" dirty="0"/>
                  <a:t>;</a:t>
                </a:r>
                <a:r>
                  <a:rPr lang="zh-CN" altLang="en-US" dirty="0"/>
                  <a:t>以</a:t>
                </a:r>
                <a:r>
                  <a:rPr lang="en-US" altLang="zh-CN" b="1" i="0" smtClean="0">
                    <a:latin typeface="Cambria Math" panose="02040503050406030204" pitchFamily="18" charset="0"/>
                  </a:rPr>
                  <a:t>𝒂</a:t>
                </a:r>
                <a:r>
                  <a:rPr lang="en-US" altLang="zh-CN" b="1" i="0">
                    <a:latin typeface="Cambria Math" panose="02040503050406030204" pitchFamily="18" charset="0"/>
                  </a:rPr>
                  <a:t>_</a:t>
                </a:r>
                <a:r>
                  <a:rPr lang="en-US" altLang="zh-CN" b="1" i="0" smtClean="0">
                    <a:latin typeface="Cambria Math" panose="02040503050406030204" pitchFamily="18" charset="0"/>
                  </a:rPr>
                  <a:t>𝒓</a:t>
                </a:r>
                <a:r>
                  <a:rPr lang="en-US" altLang="zh-CN" i="0">
                    <a:latin typeface="Cambria Math" panose="02040503050406030204" pitchFamily="18" charset="0"/>
                  </a:rPr>
                  <a:t>𝒌</a:t>
                </a:r>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17</a:t>
            </a:fld>
            <a:endParaRPr lang="zh-CN" altLang="en-US"/>
          </a:p>
        </p:txBody>
      </p:sp>
    </p:spTree>
    <p:extLst>
      <p:ext uri="{BB962C8B-B14F-4D97-AF65-F5344CB8AC3E}">
        <p14:creationId xmlns:p14="http://schemas.microsoft.com/office/powerpoint/2010/main" val="2375539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𝒌</m:t>
                        </m:r>
                      </m:sub>
                    </m:sSub>
                  </m:oMath>
                </a14:m>
                <a:r>
                  <a:rPr lang="en-US" altLang="zh-CN" b="0" dirty="0"/>
                  <a:t>&gt;0</a:t>
                </a:r>
                <a:r>
                  <a:rPr lang="zh-CN" altLang="en-US" dirty="0"/>
                  <a:t>，检查变量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smtClean="0"/>
                  <a:t>所</a:t>
                </a:r>
                <a:r>
                  <a:rPr lang="zh-CN" altLang="en-US" dirty="0"/>
                  <a:t>对应的列向量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a:t>，根据最小</a:t>
                </a:r>
                <a14:m>
                  <m:oMath xmlns:m="http://schemas.openxmlformats.org/officeDocument/2006/math">
                    <m:r>
                      <a:rPr lang="en-US" altLang="zh-CN" b="0" i="1">
                        <a:latin typeface="Cambria Math" panose="02040503050406030204" pitchFamily="18" charset="0"/>
                      </a:rPr>
                      <m:t>𝜃</m:t>
                    </m:r>
                  </m:oMath>
                </a14:m>
                <a:r>
                  <a:rPr lang="zh-CN" altLang="en-US" dirty="0"/>
                  <a:t>值确定出基变量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𝒓</m:t>
                        </m:r>
                      </m:sub>
                    </m:sSub>
                  </m:oMath>
                </a14:m>
                <a:r>
                  <a:rPr lang="en-US" altLang="zh-CN" dirty="0"/>
                  <a:t>;</a:t>
                </a:r>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𝒓</m:t>
                        </m:r>
                        <m:r>
                          <a:rPr lang="en-US" altLang="zh-CN" i="1">
                            <a:latin typeface="Cambria Math" panose="02040503050406030204" pitchFamily="18" charset="0"/>
                          </a:rPr>
                          <m:t>𝒌</m:t>
                        </m:r>
                      </m:sub>
                    </m:sSub>
                  </m:oMath>
                </a14:m>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Choice>
        <mc:Fallback xmlns="">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r>
                  <a:rPr lang="en-US" altLang="zh-CN" i="0">
                    <a:latin typeface="Cambria Math" panose="02040503050406030204" pitchFamily="18" charset="0"/>
                  </a:rPr>
                  <a:t>𝜆_𝒌</a:t>
                </a:r>
                <a:r>
                  <a:rPr lang="en-US" altLang="zh-CN" b="0" dirty="0"/>
                  <a:t>&gt;0</a:t>
                </a:r>
                <a:r>
                  <a:rPr lang="zh-CN" altLang="en-US" dirty="0"/>
                  <a:t>，检查变量</a:t>
                </a:r>
                <a:r>
                  <a:rPr lang="en-US" altLang="zh-CN" b="1" i="0" smtClean="0">
                    <a:latin typeface="Cambria Math" panose="02040503050406030204" pitchFamily="18" charset="0"/>
                  </a:rPr>
                  <a:t>𝒙</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所</a:t>
                </a:r>
                <a:r>
                  <a:rPr lang="zh-CN" altLang="en-US" dirty="0"/>
                  <a:t>对应的列向量</a:t>
                </a:r>
                <a:r>
                  <a:rPr lang="en-US" altLang="zh-CN" b="1" i="0" smtClean="0">
                    <a:latin typeface="Cambria Math" panose="02040503050406030204" pitchFamily="18" charset="0"/>
                  </a:rPr>
                  <a:t>𝑷</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，如果</a:t>
                </a:r>
                <a:r>
                  <a:rPr lang="en-US" altLang="zh-CN" i="0">
                    <a:latin typeface="Cambria Math" panose="02040503050406030204" pitchFamily="18" charset="0"/>
                  </a:rPr>
                  <a:t>𝑷_𝒌</a:t>
                </a:r>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r>
                  <a:rPr lang="en-US" altLang="zh-CN" i="0">
                    <a:latin typeface="Cambria Math" panose="02040503050406030204" pitchFamily="18" charset="0"/>
                  </a:rPr>
                  <a:t>𝒙_𝒌</a:t>
                </a:r>
                <a:r>
                  <a:rPr lang="zh-CN" altLang="en-US" dirty="0"/>
                  <a:t>，根据最小</a:t>
                </a:r>
                <a:r>
                  <a:rPr lang="en-US" altLang="zh-CN" b="0" i="0">
                    <a:latin typeface="Cambria Math" panose="02040503050406030204" pitchFamily="18" charset="0"/>
                  </a:rPr>
                  <a:t>𝜃</a:t>
                </a:r>
                <a:r>
                  <a:rPr lang="zh-CN" altLang="en-US" dirty="0"/>
                  <a:t>值确定出基变量</a:t>
                </a:r>
                <a:r>
                  <a:rPr lang="en-US" altLang="zh-CN" i="0">
                    <a:latin typeface="Cambria Math" panose="02040503050406030204" pitchFamily="18" charset="0"/>
                  </a:rPr>
                  <a:t>𝒙_</a:t>
                </a:r>
                <a:r>
                  <a:rPr lang="en-US" altLang="zh-CN" b="1" i="0" smtClean="0">
                    <a:latin typeface="Cambria Math" panose="02040503050406030204" pitchFamily="18" charset="0"/>
                  </a:rPr>
                  <a:t>𝒓</a:t>
                </a:r>
                <a:r>
                  <a:rPr lang="en-US" altLang="zh-CN" dirty="0"/>
                  <a:t>;</a:t>
                </a:r>
                <a:r>
                  <a:rPr lang="zh-CN" altLang="en-US" dirty="0"/>
                  <a:t>以</a:t>
                </a:r>
                <a:r>
                  <a:rPr lang="en-US" altLang="zh-CN" b="1" i="0" smtClean="0">
                    <a:latin typeface="Cambria Math" panose="02040503050406030204" pitchFamily="18" charset="0"/>
                  </a:rPr>
                  <a:t>𝒂</a:t>
                </a:r>
                <a:r>
                  <a:rPr lang="en-US" altLang="zh-CN" b="1" i="0">
                    <a:latin typeface="Cambria Math" panose="02040503050406030204" pitchFamily="18" charset="0"/>
                  </a:rPr>
                  <a:t>_</a:t>
                </a:r>
                <a:r>
                  <a:rPr lang="en-US" altLang="zh-CN" b="1" i="0" smtClean="0">
                    <a:latin typeface="Cambria Math" panose="02040503050406030204" pitchFamily="18" charset="0"/>
                  </a:rPr>
                  <a:t>𝒓</a:t>
                </a:r>
                <a:r>
                  <a:rPr lang="en-US" altLang="zh-CN" i="0">
                    <a:latin typeface="Cambria Math" panose="02040503050406030204" pitchFamily="18" charset="0"/>
                  </a:rPr>
                  <a:t>𝒌</a:t>
                </a:r>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18</a:t>
            </a:fld>
            <a:endParaRPr lang="zh-CN" altLang="en-US"/>
          </a:p>
        </p:txBody>
      </p:sp>
    </p:spTree>
    <p:extLst>
      <p:ext uri="{BB962C8B-B14F-4D97-AF65-F5344CB8AC3E}">
        <p14:creationId xmlns:p14="http://schemas.microsoft.com/office/powerpoint/2010/main" val="3188997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𝒌</m:t>
                        </m:r>
                      </m:sub>
                    </m:sSub>
                  </m:oMath>
                </a14:m>
                <a:r>
                  <a:rPr lang="en-US" altLang="zh-CN" b="0" dirty="0"/>
                  <a:t>&gt;0</a:t>
                </a:r>
                <a:r>
                  <a:rPr lang="zh-CN" altLang="en-US" dirty="0"/>
                  <a:t>，检查变量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smtClean="0"/>
                  <a:t>所</a:t>
                </a:r>
                <a:r>
                  <a:rPr lang="zh-CN" altLang="en-US" dirty="0"/>
                  <a:t>对应的列向量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a:t>，根据最小</a:t>
                </a:r>
                <a14:m>
                  <m:oMath xmlns:m="http://schemas.openxmlformats.org/officeDocument/2006/math">
                    <m:r>
                      <a:rPr lang="en-US" altLang="zh-CN" b="0" i="1">
                        <a:latin typeface="Cambria Math" panose="02040503050406030204" pitchFamily="18" charset="0"/>
                      </a:rPr>
                      <m:t>𝜃</m:t>
                    </m:r>
                  </m:oMath>
                </a14:m>
                <a:r>
                  <a:rPr lang="zh-CN" altLang="en-US" dirty="0"/>
                  <a:t>值确定出基变量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𝒓</m:t>
                        </m:r>
                      </m:sub>
                    </m:sSub>
                  </m:oMath>
                </a14:m>
                <a:r>
                  <a:rPr lang="en-US" altLang="zh-CN" dirty="0"/>
                  <a:t>;</a:t>
                </a:r>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𝒓</m:t>
                        </m:r>
                        <m:r>
                          <a:rPr lang="en-US" altLang="zh-CN" i="1">
                            <a:latin typeface="Cambria Math" panose="02040503050406030204" pitchFamily="18" charset="0"/>
                          </a:rPr>
                          <m:t>𝒌</m:t>
                        </m:r>
                      </m:sub>
                    </m:sSub>
                  </m:oMath>
                </a14:m>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Choice>
        <mc:Fallback xmlns="">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r>
                  <a:rPr lang="en-US" altLang="zh-CN" i="0">
                    <a:latin typeface="Cambria Math" panose="02040503050406030204" pitchFamily="18" charset="0"/>
                  </a:rPr>
                  <a:t>𝜆_𝒌</a:t>
                </a:r>
                <a:r>
                  <a:rPr lang="en-US" altLang="zh-CN" b="0" dirty="0"/>
                  <a:t>&gt;0</a:t>
                </a:r>
                <a:r>
                  <a:rPr lang="zh-CN" altLang="en-US" dirty="0"/>
                  <a:t>，检查变量</a:t>
                </a:r>
                <a:r>
                  <a:rPr lang="en-US" altLang="zh-CN" b="1" i="0" smtClean="0">
                    <a:latin typeface="Cambria Math" panose="02040503050406030204" pitchFamily="18" charset="0"/>
                  </a:rPr>
                  <a:t>𝒙</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所</a:t>
                </a:r>
                <a:r>
                  <a:rPr lang="zh-CN" altLang="en-US" dirty="0"/>
                  <a:t>对应的列向量</a:t>
                </a:r>
                <a:r>
                  <a:rPr lang="en-US" altLang="zh-CN" b="1" i="0" smtClean="0">
                    <a:latin typeface="Cambria Math" panose="02040503050406030204" pitchFamily="18" charset="0"/>
                  </a:rPr>
                  <a:t>𝑷</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，如果</a:t>
                </a:r>
                <a:r>
                  <a:rPr lang="en-US" altLang="zh-CN" i="0">
                    <a:latin typeface="Cambria Math" panose="02040503050406030204" pitchFamily="18" charset="0"/>
                  </a:rPr>
                  <a:t>𝑷_𝒌</a:t>
                </a:r>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r>
                  <a:rPr lang="en-US" altLang="zh-CN" i="0">
                    <a:latin typeface="Cambria Math" panose="02040503050406030204" pitchFamily="18" charset="0"/>
                  </a:rPr>
                  <a:t>𝒙_𝒌</a:t>
                </a:r>
                <a:r>
                  <a:rPr lang="zh-CN" altLang="en-US" dirty="0"/>
                  <a:t>，根据最小</a:t>
                </a:r>
                <a:r>
                  <a:rPr lang="en-US" altLang="zh-CN" b="0" i="0">
                    <a:latin typeface="Cambria Math" panose="02040503050406030204" pitchFamily="18" charset="0"/>
                  </a:rPr>
                  <a:t>𝜃</a:t>
                </a:r>
                <a:r>
                  <a:rPr lang="zh-CN" altLang="en-US" dirty="0"/>
                  <a:t>值确定出基变量</a:t>
                </a:r>
                <a:r>
                  <a:rPr lang="en-US" altLang="zh-CN" i="0">
                    <a:latin typeface="Cambria Math" panose="02040503050406030204" pitchFamily="18" charset="0"/>
                  </a:rPr>
                  <a:t>𝒙_</a:t>
                </a:r>
                <a:r>
                  <a:rPr lang="en-US" altLang="zh-CN" b="1" i="0" smtClean="0">
                    <a:latin typeface="Cambria Math" panose="02040503050406030204" pitchFamily="18" charset="0"/>
                  </a:rPr>
                  <a:t>𝒓</a:t>
                </a:r>
                <a:r>
                  <a:rPr lang="en-US" altLang="zh-CN" dirty="0"/>
                  <a:t>;</a:t>
                </a:r>
                <a:r>
                  <a:rPr lang="zh-CN" altLang="en-US" dirty="0"/>
                  <a:t>以</a:t>
                </a:r>
                <a:r>
                  <a:rPr lang="en-US" altLang="zh-CN" b="1" i="0" smtClean="0">
                    <a:latin typeface="Cambria Math" panose="02040503050406030204" pitchFamily="18" charset="0"/>
                  </a:rPr>
                  <a:t>𝒂</a:t>
                </a:r>
                <a:r>
                  <a:rPr lang="en-US" altLang="zh-CN" b="1" i="0">
                    <a:latin typeface="Cambria Math" panose="02040503050406030204" pitchFamily="18" charset="0"/>
                  </a:rPr>
                  <a:t>_</a:t>
                </a:r>
                <a:r>
                  <a:rPr lang="en-US" altLang="zh-CN" b="1" i="0" smtClean="0">
                    <a:latin typeface="Cambria Math" panose="02040503050406030204" pitchFamily="18" charset="0"/>
                  </a:rPr>
                  <a:t>𝒓</a:t>
                </a:r>
                <a:r>
                  <a:rPr lang="en-US" altLang="zh-CN" i="0">
                    <a:latin typeface="Cambria Math" panose="02040503050406030204" pitchFamily="18" charset="0"/>
                  </a:rPr>
                  <a:t>𝒌</a:t>
                </a:r>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19</a:t>
            </a:fld>
            <a:endParaRPr lang="zh-CN" altLang="en-US"/>
          </a:p>
        </p:txBody>
      </p:sp>
    </p:spTree>
    <p:extLst>
      <p:ext uri="{BB962C8B-B14F-4D97-AF65-F5344CB8AC3E}">
        <p14:creationId xmlns:p14="http://schemas.microsoft.com/office/powerpoint/2010/main" val="2548955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𝒌</m:t>
                        </m:r>
                      </m:sub>
                    </m:sSub>
                  </m:oMath>
                </a14:m>
                <a:r>
                  <a:rPr lang="en-US" altLang="zh-CN" b="0" dirty="0"/>
                  <a:t>&gt;0</a:t>
                </a:r>
                <a:r>
                  <a:rPr lang="zh-CN" altLang="en-US" dirty="0"/>
                  <a:t>，检查变量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smtClean="0"/>
                  <a:t>所</a:t>
                </a:r>
                <a:r>
                  <a:rPr lang="zh-CN" altLang="en-US" dirty="0"/>
                  <a:t>对应的列向量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a:t>，根据最小</a:t>
                </a:r>
                <a14:m>
                  <m:oMath xmlns:m="http://schemas.openxmlformats.org/officeDocument/2006/math">
                    <m:r>
                      <a:rPr lang="en-US" altLang="zh-CN" b="0" i="1">
                        <a:latin typeface="Cambria Math" panose="02040503050406030204" pitchFamily="18" charset="0"/>
                      </a:rPr>
                      <m:t>𝜃</m:t>
                    </m:r>
                  </m:oMath>
                </a14:m>
                <a:r>
                  <a:rPr lang="zh-CN" altLang="en-US" dirty="0"/>
                  <a:t>值确定出基变量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𝒓</m:t>
                        </m:r>
                      </m:sub>
                    </m:sSub>
                  </m:oMath>
                </a14:m>
                <a:r>
                  <a:rPr lang="en-US" altLang="zh-CN" dirty="0"/>
                  <a:t>;</a:t>
                </a:r>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𝒓</m:t>
                        </m:r>
                        <m:r>
                          <a:rPr lang="en-US" altLang="zh-CN" i="1">
                            <a:latin typeface="Cambria Math" panose="02040503050406030204" pitchFamily="18" charset="0"/>
                          </a:rPr>
                          <m:t>𝒌</m:t>
                        </m:r>
                      </m:sub>
                    </m:sSub>
                  </m:oMath>
                </a14:m>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Choice>
        <mc:Fallback xmlns="">
          <p:sp>
            <p:nvSpPr>
              <p:cNvPr id="3" name="备注占位符 2"/>
              <p:cNvSpPr>
                <a:spLocks noGrp="1"/>
              </p:cNvSpPr>
              <p:nvPr>
                <p:ph type="body" idx="1"/>
              </p:nvPr>
            </p:nvSpPr>
            <p:spPr/>
            <p:txBody>
              <a:bodyPr/>
              <a:lstStyle/>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r>
                  <a:rPr lang="en-US" altLang="zh-CN" i="0">
                    <a:latin typeface="Cambria Math" panose="02040503050406030204" pitchFamily="18" charset="0"/>
                  </a:rPr>
                  <a:t>𝜆_𝒌</a:t>
                </a:r>
                <a:r>
                  <a:rPr lang="en-US" altLang="zh-CN" b="0" dirty="0"/>
                  <a:t>&gt;0</a:t>
                </a:r>
                <a:r>
                  <a:rPr lang="zh-CN" altLang="en-US" dirty="0"/>
                  <a:t>，检查变量</a:t>
                </a:r>
                <a:r>
                  <a:rPr lang="en-US" altLang="zh-CN" b="1" i="0" smtClean="0">
                    <a:latin typeface="Cambria Math" panose="02040503050406030204" pitchFamily="18" charset="0"/>
                  </a:rPr>
                  <a:t>𝒙</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所</a:t>
                </a:r>
                <a:r>
                  <a:rPr lang="zh-CN" altLang="en-US" dirty="0"/>
                  <a:t>对应的列向量</a:t>
                </a:r>
                <a:r>
                  <a:rPr lang="en-US" altLang="zh-CN" b="1" i="0" smtClean="0">
                    <a:latin typeface="Cambria Math" panose="02040503050406030204" pitchFamily="18" charset="0"/>
                  </a:rPr>
                  <a:t>𝑷</a:t>
                </a:r>
                <a:r>
                  <a:rPr lang="en-US" altLang="zh-CN" b="1" i="0">
                    <a:latin typeface="Cambria Math" panose="02040503050406030204" pitchFamily="18" charset="0"/>
                  </a:rPr>
                  <a:t>_</a:t>
                </a:r>
                <a:r>
                  <a:rPr lang="en-US" altLang="zh-CN" i="0">
                    <a:latin typeface="Cambria Math" panose="02040503050406030204" pitchFamily="18" charset="0"/>
                  </a:rPr>
                  <a:t>𝒌</a:t>
                </a:r>
                <a:r>
                  <a:rPr lang="zh-CN" altLang="en-US" dirty="0" smtClean="0"/>
                  <a:t>，如果</a:t>
                </a:r>
                <a:r>
                  <a:rPr lang="en-US" altLang="zh-CN" i="0">
                    <a:latin typeface="Cambria Math" panose="02040503050406030204" pitchFamily="18" charset="0"/>
                  </a:rPr>
                  <a:t>𝑷_𝒌</a:t>
                </a:r>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r>
                  <a:rPr lang="en-US" altLang="zh-CN" i="0">
                    <a:latin typeface="Cambria Math" panose="02040503050406030204" pitchFamily="18" charset="0"/>
                  </a:rPr>
                  <a:t>𝒙_𝒌</a:t>
                </a:r>
                <a:r>
                  <a:rPr lang="zh-CN" altLang="en-US" dirty="0"/>
                  <a:t>，根据最小</a:t>
                </a:r>
                <a:r>
                  <a:rPr lang="en-US" altLang="zh-CN" b="0" i="0">
                    <a:latin typeface="Cambria Math" panose="02040503050406030204" pitchFamily="18" charset="0"/>
                  </a:rPr>
                  <a:t>𝜃</a:t>
                </a:r>
                <a:r>
                  <a:rPr lang="zh-CN" altLang="en-US" dirty="0"/>
                  <a:t>值确定出基变量</a:t>
                </a:r>
                <a:r>
                  <a:rPr lang="en-US" altLang="zh-CN" i="0">
                    <a:latin typeface="Cambria Math" panose="02040503050406030204" pitchFamily="18" charset="0"/>
                  </a:rPr>
                  <a:t>𝒙_</a:t>
                </a:r>
                <a:r>
                  <a:rPr lang="en-US" altLang="zh-CN" b="1" i="0" smtClean="0">
                    <a:latin typeface="Cambria Math" panose="02040503050406030204" pitchFamily="18" charset="0"/>
                  </a:rPr>
                  <a:t>𝒓</a:t>
                </a:r>
                <a:r>
                  <a:rPr lang="en-US" altLang="zh-CN" dirty="0"/>
                  <a:t>;</a:t>
                </a:r>
                <a:r>
                  <a:rPr lang="zh-CN" altLang="en-US" dirty="0"/>
                  <a:t>以</a:t>
                </a:r>
                <a:r>
                  <a:rPr lang="en-US" altLang="zh-CN" b="1" i="0" smtClean="0">
                    <a:latin typeface="Cambria Math" panose="02040503050406030204" pitchFamily="18" charset="0"/>
                  </a:rPr>
                  <a:t>𝒂</a:t>
                </a:r>
                <a:r>
                  <a:rPr lang="en-US" altLang="zh-CN" b="1" i="0">
                    <a:latin typeface="Cambria Math" panose="02040503050406030204" pitchFamily="18" charset="0"/>
                  </a:rPr>
                  <a:t>_</a:t>
                </a:r>
                <a:r>
                  <a:rPr lang="en-US" altLang="zh-CN" b="1" i="0" smtClean="0">
                    <a:latin typeface="Cambria Math" panose="02040503050406030204" pitchFamily="18" charset="0"/>
                  </a:rPr>
                  <a:t>𝒓</a:t>
                </a:r>
                <a:r>
                  <a:rPr lang="en-US" altLang="zh-CN" i="0">
                    <a:latin typeface="Cambria Math" panose="02040503050406030204" pitchFamily="18" charset="0"/>
                  </a:rPr>
                  <a:t>𝒌</a:t>
                </a:r>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a:p>
                <a:endParaRPr lang="zh-CN" altLang="en-US" dirty="0"/>
              </a:p>
            </p:txBody>
          </p:sp>
        </mc:Fallback>
      </mc:AlternateContent>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20</a:t>
            </a:fld>
            <a:endParaRPr lang="zh-CN" altLang="en-US"/>
          </a:p>
        </p:txBody>
      </p:sp>
    </p:spTree>
    <p:extLst>
      <p:ext uri="{BB962C8B-B14F-4D97-AF65-F5344CB8AC3E}">
        <p14:creationId xmlns:p14="http://schemas.microsoft.com/office/powerpoint/2010/main" val="31680102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表的第</a:t>
            </a:r>
            <a:r>
              <a:rPr lang="en-US" altLang="zh-CN" dirty="0" smtClean="0"/>
              <a:t>1</a:t>
            </a:r>
            <a:r>
              <a:rPr lang="zh-CN" altLang="en-US" dirty="0" smtClean="0"/>
              <a:t>列为基变量在目标函数中的系数值</a:t>
            </a:r>
            <a:r>
              <a:rPr lang="en-US" altLang="zh-CN" dirty="0" smtClean="0"/>
              <a:t>C</a:t>
            </a:r>
            <a:r>
              <a:rPr lang="zh-CN" altLang="en-US" dirty="0" smtClean="0"/>
              <a:t>，第</a:t>
            </a:r>
            <a:r>
              <a:rPr lang="en-US" altLang="zh-CN" dirty="0" smtClean="0"/>
              <a:t>2</a:t>
            </a:r>
            <a:r>
              <a:rPr lang="zh-CN" altLang="en-US" dirty="0" smtClean="0"/>
              <a:t>列和</a:t>
            </a:r>
            <a:r>
              <a:rPr lang="en-US" altLang="zh-CN" dirty="0" smtClean="0"/>
              <a:t>3</a:t>
            </a:r>
            <a:r>
              <a:rPr lang="zh-CN" altLang="en-US" dirty="0" smtClean="0"/>
              <a:t>列为基可行解中的基变量</a:t>
            </a:r>
            <a:r>
              <a:rPr lang="en-US" altLang="zh-CN" dirty="0" smtClean="0"/>
              <a:t>X</a:t>
            </a:r>
            <a:r>
              <a:rPr lang="zh-CN" altLang="en-US" dirty="0" smtClean="0"/>
              <a:t>。及其取值</a:t>
            </a:r>
            <a:r>
              <a:rPr lang="en-US" altLang="zh-CN" dirty="0" smtClean="0"/>
              <a:t>b</a:t>
            </a:r>
            <a:r>
              <a:rPr lang="zh-CN" altLang="en-US" dirty="0" smtClean="0"/>
              <a:t>。接下来列出问题中所有变量，基变量下面列是单位矩阵，非基变量</a:t>
            </a:r>
            <a:r>
              <a:rPr lang="en-US" altLang="zh-CN" dirty="0" smtClean="0"/>
              <a:t>x</a:t>
            </a:r>
            <a:r>
              <a:rPr lang="zh-CN" altLang="en-US" dirty="0" smtClean="0"/>
              <a:t>，下面数字是该变量在约束方程的系数向量</a:t>
            </a:r>
            <a:r>
              <a:rPr lang="en-US" altLang="zh-CN" dirty="0" smtClean="0"/>
              <a:t>P</a:t>
            </a:r>
            <a:r>
              <a:rPr lang="zh-CN" altLang="en-US" dirty="0" smtClean="0"/>
              <a:t>表示成为基向量线性组合时的系数。</a:t>
            </a:r>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26</a:t>
            </a:fld>
            <a:endParaRPr lang="zh-CN" altLang="en-US"/>
          </a:p>
        </p:txBody>
      </p:sp>
    </p:spTree>
    <p:extLst>
      <p:ext uri="{BB962C8B-B14F-4D97-AF65-F5344CB8AC3E}">
        <p14:creationId xmlns:p14="http://schemas.microsoft.com/office/powerpoint/2010/main" val="2756012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大</a:t>
            </a:r>
            <a:r>
              <a:rPr lang="en-US" altLang="zh-CN" dirty="0" smtClean="0"/>
              <a:t>M</a:t>
            </a:r>
            <a:r>
              <a:rPr lang="zh-CN" altLang="en-US" dirty="0" smtClean="0"/>
              <a:t>法和单纯形法都是用于解决线性规划问题的算法，但它们的原理和适用情况有所不同。</a:t>
            </a:r>
          </a:p>
          <a:p>
            <a:r>
              <a:rPr lang="zh-CN" altLang="en-US" dirty="0" smtClean="0"/>
              <a:t>大</a:t>
            </a:r>
            <a:r>
              <a:rPr lang="en-US" altLang="zh-CN" dirty="0" smtClean="0"/>
              <a:t>M</a:t>
            </a:r>
            <a:r>
              <a:rPr lang="zh-CN" altLang="en-US" dirty="0" smtClean="0"/>
              <a:t>法的原理是将线性规划问题变换成标准型，然后在具有</a:t>
            </a:r>
            <a:r>
              <a:rPr lang="en-US" altLang="zh-CN" dirty="0" smtClean="0"/>
              <a:t>"="</a:t>
            </a:r>
            <a:r>
              <a:rPr lang="zh-CN" altLang="en-US" dirty="0" smtClean="0"/>
              <a:t>或者</a:t>
            </a:r>
            <a:r>
              <a:rPr lang="en-US" altLang="zh-CN" dirty="0" smtClean="0"/>
              <a:t>"≥"</a:t>
            </a:r>
            <a:r>
              <a:rPr lang="zh-CN" altLang="en-US" dirty="0" smtClean="0"/>
              <a:t>类型约束的方程的左端人为加入非负变量，这些新的变量被称为人工变量。这些人工变量并没有明确的物理意义，主要是用来构造一个初始可行基。在大</a:t>
            </a:r>
            <a:r>
              <a:rPr lang="en-US" altLang="zh-CN" dirty="0" smtClean="0"/>
              <a:t>M</a:t>
            </a:r>
            <a:r>
              <a:rPr lang="zh-CN" altLang="en-US" dirty="0" smtClean="0"/>
              <a:t>法中，人为添加的非负变量会使得目标函数在目标函数中对这些新变量取负值，从而达到逼近最大值的目的。由于目标函数的目标是最小化，所以这种方法也称为大</a:t>
            </a:r>
            <a:r>
              <a:rPr lang="en-US" altLang="zh-CN" dirty="0" smtClean="0"/>
              <a:t>M</a:t>
            </a:r>
            <a:r>
              <a:rPr lang="zh-CN" altLang="en-US" dirty="0" smtClean="0"/>
              <a:t>法。</a:t>
            </a:r>
            <a:r>
              <a:rPr lang="en-US" altLang="zh-CN" baseline="30000" dirty="0" smtClean="0">
                <a:effectLst/>
              </a:rPr>
              <a:t>1</a:t>
            </a:r>
            <a:endParaRPr lang="zh-CN" altLang="en-US" dirty="0" smtClean="0"/>
          </a:p>
          <a:p>
            <a:r>
              <a:rPr lang="zh-CN" altLang="en-US" dirty="0" smtClean="0"/>
              <a:t>相比之下，单纯形法则是基于立方体模型，该模型由各种小三角形组成，每个小三角形代表了一个可行解。单纯形法是通过一系列变形（称为单纯形变换）来寻找可行解中的最优解。这个过程可以看作是在不断地将一个小三角形变形成另一个小三角形的过程。在单纯形法过程中，还需要注意选择合适的起始点和处理特殊情况，以保证算法能够收敛。</a:t>
            </a:r>
            <a:r>
              <a:rPr lang="en-US" altLang="zh-CN" baseline="30000" dirty="0" smtClean="0">
                <a:effectLst/>
              </a:rPr>
              <a:t>2</a:t>
            </a:r>
            <a:endParaRPr lang="zh-CN" altLang="en-US" dirty="0" smtClean="0"/>
          </a:p>
          <a:p>
            <a:r>
              <a:rPr lang="zh-CN" altLang="en-US" dirty="0" smtClean="0"/>
              <a:t>总结起来，大</a:t>
            </a:r>
            <a:r>
              <a:rPr lang="en-US" altLang="zh-CN" dirty="0" smtClean="0"/>
              <a:t>M</a:t>
            </a:r>
            <a:r>
              <a:rPr lang="zh-CN" altLang="en-US" dirty="0" smtClean="0"/>
              <a:t>法的主要目的是最大化目标函数，而单纯形法则是为了找到线性规划问题的最优解。</a:t>
            </a:r>
          </a:p>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27</a:t>
            </a:fld>
            <a:endParaRPr lang="zh-CN" altLang="en-US"/>
          </a:p>
        </p:txBody>
      </p:sp>
    </p:spTree>
    <p:extLst>
      <p:ext uri="{BB962C8B-B14F-4D97-AF65-F5344CB8AC3E}">
        <p14:creationId xmlns:p14="http://schemas.microsoft.com/office/powerpoint/2010/main" val="931345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28</a:t>
            </a:fld>
            <a:endParaRPr lang="zh-CN" altLang="en-US"/>
          </a:p>
        </p:txBody>
      </p:sp>
    </p:spTree>
    <p:extLst>
      <p:ext uri="{BB962C8B-B14F-4D97-AF65-F5344CB8AC3E}">
        <p14:creationId xmlns:p14="http://schemas.microsoft.com/office/powerpoint/2010/main" val="3315259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6E317ED-734E-435E-B67E-C2468E84BC16}" type="slidenum">
              <a:rPr lang="zh-CN" altLang="en-US" smtClean="0"/>
              <a:pPr>
                <a:defRPr/>
              </a:pPr>
              <a:t>29</a:t>
            </a:fld>
            <a:endParaRPr lang="zh-CN" altLang="en-US"/>
          </a:p>
        </p:txBody>
      </p:sp>
    </p:spTree>
    <p:extLst>
      <p:ext uri="{BB962C8B-B14F-4D97-AF65-F5344CB8AC3E}">
        <p14:creationId xmlns:p14="http://schemas.microsoft.com/office/powerpoint/2010/main" val="11560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09692A6D-7059-4C48-B5E0-EB4879B79FC0}" type="slidenum">
              <a:rPr lang="zh-CN" altLang="en-US"/>
              <a:pPr>
                <a:defRPr/>
              </a:pPr>
              <a:t>‹#›</a:t>
            </a:fld>
            <a:endParaRPr lang="zh-CN" altLang="en-US"/>
          </a:p>
        </p:txBody>
      </p:sp>
    </p:spTree>
    <p:extLst>
      <p:ext uri="{BB962C8B-B14F-4D97-AF65-F5344CB8AC3E}">
        <p14:creationId xmlns:p14="http://schemas.microsoft.com/office/powerpoint/2010/main" val="214299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9011096A-74AF-4C47-8CE1-FCEC866F02EF}" type="slidenum">
              <a:rPr lang="zh-CN" altLang="en-US"/>
              <a:pPr>
                <a:defRPr/>
              </a:pPr>
              <a:t>‹#›</a:t>
            </a:fld>
            <a:endParaRPr lang="zh-CN" altLang="en-US"/>
          </a:p>
        </p:txBody>
      </p:sp>
    </p:spTree>
    <p:extLst>
      <p:ext uri="{BB962C8B-B14F-4D97-AF65-F5344CB8AC3E}">
        <p14:creationId xmlns:p14="http://schemas.microsoft.com/office/powerpoint/2010/main" val="915002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6693492F-8000-4860-9339-076800AA19F3}" type="slidenum">
              <a:rPr lang="zh-CN" altLang="en-US"/>
              <a:pPr>
                <a:defRPr/>
              </a:pPr>
              <a:t>‹#›</a:t>
            </a:fld>
            <a:endParaRPr lang="zh-CN" altLang="en-US"/>
          </a:p>
        </p:txBody>
      </p:sp>
    </p:spTree>
    <p:extLst>
      <p:ext uri="{BB962C8B-B14F-4D97-AF65-F5344CB8AC3E}">
        <p14:creationId xmlns:p14="http://schemas.microsoft.com/office/powerpoint/2010/main" val="425604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096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5720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a:ln/>
        </p:spPr>
        <p:txBody>
          <a:bodyPr/>
          <a:lstStyle>
            <a:lvl1pPr>
              <a:defRPr/>
            </a:lvl1pPr>
          </a:lstStyle>
          <a:p>
            <a:pPr>
              <a:defRPr/>
            </a:pPr>
            <a:fld id="{44379250-1E50-49FC-857A-1BCA5C5F7674}" type="slidenum">
              <a:rPr lang="zh-CN" altLang="en-US"/>
              <a:pPr>
                <a:defRPr/>
              </a:pPr>
              <a:t>‹#›</a:t>
            </a:fld>
            <a:endParaRPr lang="zh-CN" altLang="en-US"/>
          </a:p>
        </p:txBody>
      </p:sp>
    </p:spTree>
    <p:extLst>
      <p:ext uri="{BB962C8B-B14F-4D97-AF65-F5344CB8AC3E}">
        <p14:creationId xmlns:p14="http://schemas.microsoft.com/office/powerpoint/2010/main" val="308958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a:ln/>
        </p:spPr>
        <p:txBody>
          <a:bodyPr/>
          <a:lstStyle>
            <a:lvl1pPr>
              <a:defRPr/>
            </a:lvl1pPr>
          </a:lstStyle>
          <a:p>
            <a:pPr>
              <a:defRPr/>
            </a:pPr>
            <a:fld id="{D579C4B8-1CD3-4F6A-9BEF-1E612110866B}" type="slidenum">
              <a:rPr lang="zh-CN" altLang="en-US"/>
              <a:pPr>
                <a:defRPr/>
              </a:pPr>
              <a:t>‹#›</a:t>
            </a:fld>
            <a:endParaRPr lang="zh-CN" altLang="en-US"/>
          </a:p>
        </p:txBody>
      </p:sp>
    </p:spTree>
    <p:extLst>
      <p:ext uri="{BB962C8B-B14F-4D97-AF65-F5344CB8AC3E}">
        <p14:creationId xmlns:p14="http://schemas.microsoft.com/office/powerpoint/2010/main" val="851800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a:ln/>
        </p:spPr>
        <p:txBody>
          <a:bodyPr/>
          <a:lstStyle>
            <a:lvl1pPr>
              <a:defRPr/>
            </a:lvl1pPr>
          </a:lstStyle>
          <a:p>
            <a:pPr>
              <a:defRPr/>
            </a:pPr>
            <a:fld id="{E71C698C-04B4-4F94-80EB-6F1F8F775655}" type="slidenum">
              <a:rPr lang="zh-CN" altLang="en-US"/>
              <a:pPr>
                <a:defRPr/>
              </a:pPr>
              <a:t>‹#›</a:t>
            </a:fld>
            <a:endParaRPr lang="zh-CN" altLang="en-US"/>
          </a:p>
        </p:txBody>
      </p:sp>
    </p:spTree>
    <p:extLst>
      <p:ext uri="{BB962C8B-B14F-4D97-AF65-F5344CB8AC3E}">
        <p14:creationId xmlns:p14="http://schemas.microsoft.com/office/powerpoint/2010/main" val="2553275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67756667-0F60-4092-B897-C55C2D2DB1AA}" type="slidenum">
              <a:rPr lang="zh-CN" altLang="en-US"/>
              <a:pPr>
                <a:defRPr/>
              </a:pPr>
              <a:t>‹#›</a:t>
            </a:fld>
            <a:endParaRPr lang="zh-CN" altLang="en-US"/>
          </a:p>
        </p:txBody>
      </p:sp>
    </p:spTree>
    <p:extLst>
      <p:ext uri="{BB962C8B-B14F-4D97-AF65-F5344CB8AC3E}">
        <p14:creationId xmlns:p14="http://schemas.microsoft.com/office/powerpoint/2010/main" val="1024121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4D8B66B4-3420-4777-8547-AA46E9E5FF63}" type="slidenum">
              <a:rPr lang="zh-CN" altLang="en-US"/>
              <a:pPr>
                <a:defRPr/>
              </a:pPr>
              <a:t>‹#›</a:t>
            </a:fld>
            <a:endParaRPr lang="zh-CN" altLang="en-US"/>
          </a:p>
        </p:txBody>
      </p:sp>
    </p:spTree>
    <p:extLst>
      <p:ext uri="{BB962C8B-B14F-4D97-AF65-F5344CB8AC3E}">
        <p14:creationId xmlns:p14="http://schemas.microsoft.com/office/powerpoint/2010/main" val="1453426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B4A79005-313B-4B73-A14A-71849805373B}" type="slidenum">
              <a:rPr lang="zh-CN" altLang="en-US"/>
              <a:pPr>
                <a:defRPr/>
              </a:pPr>
              <a:t>‹#›</a:t>
            </a:fld>
            <a:endParaRPr lang="zh-CN" altLang="en-US"/>
          </a:p>
        </p:txBody>
      </p:sp>
    </p:spTree>
    <p:extLst>
      <p:ext uri="{BB962C8B-B14F-4D97-AF65-F5344CB8AC3E}">
        <p14:creationId xmlns:p14="http://schemas.microsoft.com/office/powerpoint/2010/main" val="2775944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147E4BFF-AAA1-4135-A5C2-D555F8CFE70B}" type="slidenum">
              <a:rPr lang="zh-CN" altLang="en-US"/>
              <a:pPr>
                <a:defRPr/>
              </a:pPr>
              <a:t>‹#›</a:t>
            </a:fld>
            <a:endParaRPr lang="zh-CN" altLang="en-US"/>
          </a:p>
        </p:txBody>
      </p:sp>
    </p:spTree>
    <p:extLst>
      <p:ext uri="{BB962C8B-B14F-4D97-AF65-F5344CB8AC3E}">
        <p14:creationId xmlns:p14="http://schemas.microsoft.com/office/powerpoint/2010/main" val="2615792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476250"/>
            <a:ext cx="1962150" cy="51625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09600" y="476250"/>
            <a:ext cx="5734050" cy="51625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3AA24082-8323-47A8-9B32-19F74063B154}" type="slidenum">
              <a:rPr lang="zh-CN" altLang="en-US"/>
              <a:pPr>
                <a:defRPr/>
              </a:pPr>
              <a:t>‹#›</a:t>
            </a:fld>
            <a:endParaRPr lang="zh-CN" altLang="en-US"/>
          </a:p>
        </p:txBody>
      </p:sp>
    </p:spTree>
    <p:extLst>
      <p:ext uri="{BB962C8B-B14F-4D97-AF65-F5344CB8AC3E}">
        <p14:creationId xmlns:p14="http://schemas.microsoft.com/office/powerpoint/2010/main" val="11496906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E3D53D0B-113A-4A70-A1C4-EAD0DD2E8437}" type="slidenum">
              <a:rPr lang="zh-CN" altLang="en-US"/>
              <a:pPr>
                <a:defRPr/>
              </a:pPr>
              <a:t>‹#›</a:t>
            </a:fld>
            <a:endParaRPr lang="zh-CN" altLang="en-US"/>
          </a:p>
        </p:txBody>
      </p:sp>
    </p:spTree>
    <p:extLst>
      <p:ext uri="{BB962C8B-B14F-4D97-AF65-F5344CB8AC3E}">
        <p14:creationId xmlns:p14="http://schemas.microsoft.com/office/powerpoint/2010/main" val="1533248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E47ADE26-413E-41C1-BEF8-E8CF25E486D6}" type="slidenum">
              <a:rPr lang="zh-CN" altLang="en-US"/>
              <a:pPr>
                <a:defRPr/>
              </a:pPr>
              <a:t>‹#›</a:t>
            </a:fld>
            <a:endParaRPr lang="zh-CN" altLang="en-US"/>
          </a:p>
        </p:txBody>
      </p:sp>
    </p:spTree>
    <p:extLst>
      <p:ext uri="{BB962C8B-B14F-4D97-AF65-F5344CB8AC3E}">
        <p14:creationId xmlns:p14="http://schemas.microsoft.com/office/powerpoint/2010/main" val="343294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4AE041CC-2E51-4D70-A229-5F7823700CF9}" type="slidenum">
              <a:rPr lang="zh-CN" altLang="en-US"/>
              <a:pPr>
                <a:defRPr/>
              </a:pPr>
              <a:t>‹#›</a:t>
            </a:fld>
            <a:endParaRPr lang="zh-CN" altLang="en-US"/>
          </a:p>
        </p:txBody>
      </p:sp>
    </p:spTree>
    <p:extLst>
      <p:ext uri="{BB962C8B-B14F-4D97-AF65-F5344CB8AC3E}">
        <p14:creationId xmlns:p14="http://schemas.microsoft.com/office/powerpoint/2010/main" val="1989303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096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5720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a:ln/>
        </p:spPr>
        <p:txBody>
          <a:bodyPr/>
          <a:lstStyle>
            <a:lvl1pPr>
              <a:defRPr/>
            </a:lvl1pPr>
          </a:lstStyle>
          <a:p>
            <a:pPr>
              <a:defRPr/>
            </a:pPr>
            <a:fld id="{72B10375-14CD-4952-B6C2-3756DD6147D4}" type="slidenum">
              <a:rPr lang="zh-CN" altLang="en-US"/>
              <a:pPr>
                <a:defRPr/>
              </a:pPr>
              <a:t>‹#›</a:t>
            </a:fld>
            <a:endParaRPr lang="zh-CN" altLang="en-US"/>
          </a:p>
        </p:txBody>
      </p:sp>
    </p:spTree>
    <p:extLst>
      <p:ext uri="{BB962C8B-B14F-4D97-AF65-F5344CB8AC3E}">
        <p14:creationId xmlns:p14="http://schemas.microsoft.com/office/powerpoint/2010/main" val="3036908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a:ln/>
        </p:spPr>
        <p:txBody>
          <a:bodyPr/>
          <a:lstStyle>
            <a:lvl1pPr>
              <a:defRPr/>
            </a:lvl1pPr>
          </a:lstStyle>
          <a:p>
            <a:pPr>
              <a:defRPr/>
            </a:pPr>
            <a:fld id="{0742BF9C-F5AF-4160-BB4E-2FE45E0BF8D8}" type="slidenum">
              <a:rPr lang="zh-CN" altLang="en-US"/>
              <a:pPr>
                <a:defRPr/>
              </a:pPr>
              <a:t>‹#›</a:t>
            </a:fld>
            <a:endParaRPr lang="zh-CN" altLang="en-US"/>
          </a:p>
        </p:txBody>
      </p:sp>
    </p:spTree>
    <p:extLst>
      <p:ext uri="{BB962C8B-B14F-4D97-AF65-F5344CB8AC3E}">
        <p14:creationId xmlns:p14="http://schemas.microsoft.com/office/powerpoint/2010/main" val="348392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a:ln/>
        </p:spPr>
        <p:txBody>
          <a:bodyPr/>
          <a:lstStyle>
            <a:lvl1pPr>
              <a:defRPr/>
            </a:lvl1pPr>
          </a:lstStyle>
          <a:p>
            <a:pPr>
              <a:defRPr/>
            </a:pPr>
            <a:fld id="{2D51FADD-80B8-4FCD-B4B6-931802FED48B}" type="slidenum">
              <a:rPr lang="zh-CN" altLang="en-US"/>
              <a:pPr>
                <a:defRPr/>
              </a:pPr>
              <a:t>‹#›</a:t>
            </a:fld>
            <a:endParaRPr lang="zh-CN" altLang="en-US"/>
          </a:p>
        </p:txBody>
      </p:sp>
    </p:spTree>
    <p:extLst>
      <p:ext uri="{BB962C8B-B14F-4D97-AF65-F5344CB8AC3E}">
        <p14:creationId xmlns:p14="http://schemas.microsoft.com/office/powerpoint/2010/main" val="3323228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9AA7DACF-2B12-48EE-8987-DF04C6D2B932}" type="slidenum">
              <a:rPr lang="zh-CN" altLang="en-US"/>
              <a:pPr>
                <a:defRPr/>
              </a:pPr>
              <a:t>‹#›</a:t>
            </a:fld>
            <a:endParaRPr lang="zh-CN" altLang="en-US"/>
          </a:p>
        </p:txBody>
      </p:sp>
    </p:spTree>
    <p:extLst>
      <p:ext uri="{BB962C8B-B14F-4D97-AF65-F5344CB8AC3E}">
        <p14:creationId xmlns:p14="http://schemas.microsoft.com/office/powerpoint/2010/main" val="30302644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E654C6A3-8C27-4580-A614-11BA817E4E4D}" type="slidenum">
              <a:rPr lang="zh-CN" altLang="en-US"/>
              <a:pPr>
                <a:defRPr/>
              </a:pPr>
              <a:t>‹#›</a:t>
            </a:fld>
            <a:endParaRPr lang="zh-CN" altLang="en-US"/>
          </a:p>
        </p:txBody>
      </p:sp>
    </p:spTree>
    <p:extLst>
      <p:ext uri="{BB962C8B-B14F-4D97-AF65-F5344CB8AC3E}">
        <p14:creationId xmlns:p14="http://schemas.microsoft.com/office/powerpoint/2010/main" val="2363285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E844F511-2622-4671-8C06-AABC4EA3AE16}" type="slidenum">
              <a:rPr lang="zh-CN" altLang="en-US"/>
              <a:pPr>
                <a:defRPr/>
              </a:pPr>
              <a:t>‹#›</a:t>
            </a:fld>
            <a:endParaRPr lang="zh-CN" altLang="en-US"/>
          </a:p>
        </p:txBody>
      </p:sp>
    </p:spTree>
    <p:extLst>
      <p:ext uri="{BB962C8B-B14F-4D97-AF65-F5344CB8AC3E}">
        <p14:creationId xmlns:p14="http://schemas.microsoft.com/office/powerpoint/2010/main" val="3133823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E7E14BFD-D39E-4474-8747-5B7ACCDB9801}" type="slidenum">
              <a:rPr lang="zh-CN" altLang="en-US"/>
              <a:pPr>
                <a:defRPr/>
              </a:pPr>
              <a:t>‹#›</a:t>
            </a:fld>
            <a:endParaRPr lang="zh-CN" altLang="en-US"/>
          </a:p>
        </p:txBody>
      </p:sp>
    </p:spTree>
    <p:extLst>
      <p:ext uri="{BB962C8B-B14F-4D97-AF65-F5344CB8AC3E}">
        <p14:creationId xmlns:p14="http://schemas.microsoft.com/office/powerpoint/2010/main" val="6212899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476250"/>
            <a:ext cx="1962150" cy="51625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09600" y="476250"/>
            <a:ext cx="5734050" cy="51625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EFBD00B7-4E44-4AF0-81CE-77E07D5D3C8C}" type="slidenum">
              <a:rPr lang="zh-CN" altLang="en-US"/>
              <a:pPr>
                <a:defRPr/>
              </a:pPr>
              <a:t>‹#›</a:t>
            </a:fld>
            <a:endParaRPr lang="zh-CN" altLang="en-US"/>
          </a:p>
        </p:txBody>
      </p:sp>
    </p:spTree>
    <p:extLst>
      <p:ext uri="{BB962C8B-B14F-4D97-AF65-F5344CB8AC3E}">
        <p14:creationId xmlns:p14="http://schemas.microsoft.com/office/powerpoint/2010/main" val="23719050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C2E5EA5C-5977-4FE7-BFB8-8D7FFA46A692}" type="slidenum">
              <a:rPr lang="zh-CN" altLang="en-US"/>
              <a:pPr>
                <a:defRPr/>
              </a:pPr>
              <a:t>‹#›</a:t>
            </a:fld>
            <a:endParaRPr lang="zh-CN" altLang="en-US"/>
          </a:p>
        </p:txBody>
      </p:sp>
    </p:spTree>
    <p:extLst>
      <p:ext uri="{BB962C8B-B14F-4D97-AF65-F5344CB8AC3E}">
        <p14:creationId xmlns:p14="http://schemas.microsoft.com/office/powerpoint/2010/main" val="39772553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927FD518-087A-40BD-A9F6-75BB19007D5D}" type="slidenum">
              <a:rPr lang="zh-CN" altLang="en-US"/>
              <a:pPr>
                <a:defRPr/>
              </a:pPr>
              <a:t>‹#›</a:t>
            </a:fld>
            <a:endParaRPr lang="zh-CN" altLang="en-US"/>
          </a:p>
        </p:txBody>
      </p:sp>
    </p:spTree>
    <p:extLst>
      <p:ext uri="{BB962C8B-B14F-4D97-AF65-F5344CB8AC3E}">
        <p14:creationId xmlns:p14="http://schemas.microsoft.com/office/powerpoint/2010/main" val="2744888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C6A21FD0-57D0-4801-B06F-37716B4B1262}" type="slidenum">
              <a:rPr lang="zh-CN" altLang="en-US"/>
              <a:pPr>
                <a:defRPr/>
              </a:pPr>
              <a:t>‹#›</a:t>
            </a:fld>
            <a:endParaRPr lang="zh-CN" altLang="en-US"/>
          </a:p>
        </p:txBody>
      </p:sp>
    </p:spTree>
    <p:extLst>
      <p:ext uri="{BB962C8B-B14F-4D97-AF65-F5344CB8AC3E}">
        <p14:creationId xmlns:p14="http://schemas.microsoft.com/office/powerpoint/2010/main" val="26099607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096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5720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a:ln/>
        </p:spPr>
        <p:txBody>
          <a:bodyPr/>
          <a:lstStyle>
            <a:lvl1pPr>
              <a:defRPr/>
            </a:lvl1pPr>
          </a:lstStyle>
          <a:p>
            <a:pPr>
              <a:defRPr/>
            </a:pPr>
            <a:fld id="{B64E52D4-0B36-4E4A-B213-C381E36B13CF}" type="slidenum">
              <a:rPr lang="zh-CN" altLang="en-US"/>
              <a:pPr>
                <a:defRPr/>
              </a:pPr>
              <a:t>‹#›</a:t>
            </a:fld>
            <a:endParaRPr lang="zh-CN" altLang="en-US"/>
          </a:p>
        </p:txBody>
      </p:sp>
    </p:spTree>
    <p:extLst>
      <p:ext uri="{BB962C8B-B14F-4D97-AF65-F5344CB8AC3E}">
        <p14:creationId xmlns:p14="http://schemas.microsoft.com/office/powerpoint/2010/main" val="42600421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a:ln/>
        </p:spPr>
        <p:txBody>
          <a:bodyPr/>
          <a:lstStyle>
            <a:lvl1pPr>
              <a:defRPr/>
            </a:lvl1pPr>
          </a:lstStyle>
          <a:p>
            <a:pPr>
              <a:defRPr/>
            </a:pPr>
            <a:fld id="{C46F7106-710C-4717-873E-D290DB3741CC}" type="slidenum">
              <a:rPr lang="zh-CN" altLang="en-US"/>
              <a:pPr>
                <a:defRPr/>
              </a:pPr>
              <a:t>‹#›</a:t>
            </a:fld>
            <a:endParaRPr lang="zh-CN" altLang="en-US"/>
          </a:p>
        </p:txBody>
      </p:sp>
    </p:spTree>
    <p:extLst>
      <p:ext uri="{BB962C8B-B14F-4D97-AF65-F5344CB8AC3E}">
        <p14:creationId xmlns:p14="http://schemas.microsoft.com/office/powerpoint/2010/main" val="20723452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a:ln/>
        </p:spPr>
        <p:txBody>
          <a:bodyPr/>
          <a:lstStyle>
            <a:lvl1pPr>
              <a:defRPr/>
            </a:lvl1pPr>
          </a:lstStyle>
          <a:p>
            <a:pPr>
              <a:defRPr/>
            </a:pPr>
            <a:fld id="{7CE51623-4E2E-4246-99D0-6F2F96B5E40A}" type="slidenum">
              <a:rPr lang="zh-CN" altLang="en-US"/>
              <a:pPr>
                <a:defRPr/>
              </a:pPr>
              <a:t>‹#›</a:t>
            </a:fld>
            <a:endParaRPr lang="zh-CN" altLang="en-US"/>
          </a:p>
        </p:txBody>
      </p:sp>
    </p:spTree>
    <p:extLst>
      <p:ext uri="{BB962C8B-B14F-4D97-AF65-F5344CB8AC3E}">
        <p14:creationId xmlns:p14="http://schemas.microsoft.com/office/powerpoint/2010/main" val="11445705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513F75B6-6222-48B3-85B5-E99A50E49A0F}" type="slidenum">
              <a:rPr lang="zh-CN" altLang="en-US"/>
              <a:pPr>
                <a:defRPr/>
              </a:pPr>
              <a:t>‹#›</a:t>
            </a:fld>
            <a:endParaRPr lang="zh-CN" altLang="en-US"/>
          </a:p>
        </p:txBody>
      </p:sp>
    </p:spTree>
    <p:extLst>
      <p:ext uri="{BB962C8B-B14F-4D97-AF65-F5344CB8AC3E}">
        <p14:creationId xmlns:p14="http://schemas.microsoft.com/office/powerpoint/2010/main" val="55489041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6F740355-4A68-446E-97BA-7232671E4221}" type="slidenum">
              <a:rPr lang="zh-CN" altLang="en-US"/>
              <a:pPr>
                <a:defRPr/>
              </a:pPr>
              <a:t>‹#›</a:t>
            </a:fld>
            <a:endParaRPr lang="zh-CN" altLang="en-US"/>
          </a:p>
        </p:txBody>
      </p:sp>
    </p:spTree>
    <p:extLst>
      <p:ext uri="{BB962C8B-B14F-4D97-AF65-F5344CB8AC3E}">
        <p14:creationId xmlns:p14="http://schemas.microsoft.com/office/powerpoint/2010/main" val="3186973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6BD3320D-DB92-4CD9-9B4C-608E4A9D835D}" type="slidenum">
              <a:rPr lang="zh-CN" altLang="en-US"/>
              <a:pPr>
                <a:defRPr/>
              </a:pPr>
              <a:t>‹#›</a:t>
            </a:fld>
            <a:endParaRPr lang="zh-CN" altLang="en-US"/>
          </a:p>
        </p:txBody>
      </p:sp>
    </p:spTree>
    <p:extLst>
      <p:ext uri="{BB962C8B-B14F-4D97-AF65-F5344CB8AC3E}">
        <p14:creationId xmlns:p14="http://schemas.microsoft.com/office/powerpoint/2010/main" val="23085807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FAE942DA-93ED-4DDA-9D87-BC4E133E6A3E}" type="slidenum">
              <a:rPr lang="zh-CN" altLang="en-US"/>
              <a:pPr>
                <a:defRPr/>
              </a:pPr>
              <a:t>‹#›</a:t>
            </a:fld>
            <a:endParaRPr lang="zh-CN" altLang="en-US"/>
          </a:p>
        </p:txBody>
      </p:sp>
    </p:spTree>
    <p:extLst>
      <p:ext uri="{BB962C8B-B14F-4D97-AF65-F5344CB8AC3E}">
        <p14:creationId xmlns:p14="http://schemas.microsoft.com/office/powerpoint/2010/main" val="1953920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476250"/>
            <a:ext cx="1962150" cy="51625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09600" y="476250"/>
            <a:ext cx="5734050" cy="51625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44A8377D-E4AA-4AFD-8B58-8DA9A9EE1E34}" type="slidenum">
              <a:rPr lang="zh-CN" altLang="en-US"/>
              <a:pPr>
                <a:defRPr/>
              </a:pPr>
              <a:t>‹#›</a:t>
            </a:fld>
            <a:endParaRPr lang="zh-CN" altLang="en-US"/>
          </a:p>
        </p:txBody>
      </p:sp>
    </p:spTree>
    <p:extLst>
      <p:ext uri="{BB962C8B-B14F-4D97-AF65-F5344CB8AC3E}">
        <p14:creationId xmlns:p14="http://schemas.microsoft.com/office/powerpoint/2010/main" val="25878776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46CFDCD0-A4D0-40FF-9169-7645B832D60D}" type="slidenum">
              <a:rPr lang="zh-CN" altLang="en-US"/>
              <a:pPr>
                <a:defRPr/>
              </a:pPr>
              <a:t>‹#›</a:t>
            </a:fld>
            <a:endParaRPr lang="zh-CN" altLang="en-US"/>
          </a:p>
        </p:txBody>
      </p:sp>
    </p:spTree>
    <p:extLst>
      <p:ext uri="{BB962C8B-B14F-4D97-AF65-F5344CB8AC3E}">
        <p14:creationId xmlns:p14="http://schemas.microsoft.com/office/powerpoint/2010/main" val="11102512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0880D2EA-495A-49FE-9C1B-6E50514431C9}" type="slidenum">
              <a:rPr lang="zh-CN" altLang="en-US"/>
              <a:pPr>
                <a:defRPr/>
              </a:pPr>
              <a:t>‹#›</a:t>
            </a:fld>
            <a:endParaRPr lang="zh-CN" altLang="en-US"/>
          </a:p>
        </p:txBody>
      </p:sp>
    </p:spTree>
    <p:extLst>
      <p:ext uri="{BB962C8B-B14F-4D97-AF65-F5344CB8AC3E}">
        <p14:creationId xmlns:p14="http://schemas.microsoft.com/office/powerpoint/2010/main" val="163789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8A9A5368-41B6-48B9-AD45-9FC017F9AB9D}" type="slidenum">
              <a:rPr lang="zh-CN" altLang="en-US"/>
              <a:pPr>
                <a:defRPr/>
              </a:pPr>
              <a:t>‹#›</a:t>
            </a:fld>
            <a:endParaRPr lang="zh-CN" altLang="en-US"/>
          </a:p>
        </p:txBody>
      </p:sp>
    </p:spTree>
    <p:extLst>
      <p:ext uri="{BB962C8B-B14F-4D97-AF65-F5344CB8AC3E}">
        <p14:creationId xmlns:p14="http://schemas.microsoft.com/office/powerpoint/2010/main" val="15940494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096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5720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6"/>
          <p:cNvSpPr>
            <a:spLocks noGrp="1" noChangeArrowheads="1"/>
          </p:cNvSpPr>
          <p:nvPr>
            <p:ph type="sldNum" sz="quarter" idx="10"/>
          </p:nvPr>
        </p:nvSpPr>
        <p:spPr>
          <a:ln/>
        </p:spPr>
        <p:txBody>
          <a:bodyPr/>
          <a:lstStyle>
            <a:lvl1pPr>
              <a:defRPr/>
            </a:lvl1pPr>
          </a:lstStyle>
          <a:p>
            <a:pPr>
              <a:defRPr/>
            </a:pPr>
            <a:fld id="{88025404-89BD-4897-9CC8-43D88D3AB4A5}" type="slidenum">
              <a:rPr lang="zh-CN" altLang="en-US"/>
              <a:pPr>
                <a:defRPr/>
              </a:pPr>
              <a:t>‹#›</a:t>
            </a:fld>
            <a:endParaRPr lang="zh-CN" altLang="en-US"/>
          </a:p>
        </p:txBody>
      </p:sp>
    </p:spTree>
    <p:extLst>
      <p:ext uri="{BB962C8B-B14F-4D97-AF65-F5344CB8AC3E}">
        <p14:creationId xmlns:p14="http://schemas.microsoft.com/office/powerpoint/2010/main" val="28418174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6"/>
          <p:cNvSpPr>
            <a:spLocks noGrp="1" noChangeArrowheads="1"/>
          </p:cNvSpPr>
          <p:nvPr>
            <p:ph type="sldNum" sz="quarter" idx="10"/>
          </p:nvPr>
        </p:nvSpPr>
        <p:spPr>
          <a:ln/>
        </p:spPr>
        <p:txBody>
          <a:bodyPr/>
          <a:lstStyle>
            <a:lvl1pPr>
              <a:defRPr/>
            </a:lvl1pPr>
          </a:lstStyle>
          <a:p>
            <a:pPr>
              <a:defRPr/>
            </a:pPr>
            <a:fld id="{82BCCD69-B13B-4689-A30B-F6A88EC83EB2}" type="slidenum">
              <a:rPr lang="zh-CN" altLang="en-US"/>
              <a:pPr>
                <a:defRPr/>
              </a:pPr>
              <a:t>‹#›</a:t>
            </a:fld>
            <a:endParaRPr lang="zh-CN" altLang="en-US"/>
          </a:p>
        </p:txBody>
      </p:sp>
    </p:spTree>
    <p:extLst>
      <p:ext uri="{BB962C8B-B14F-4D97-AF65-F5344CB8AC3E}">
        <p14:creationId xmlns:p14="http://schemas.microsoft.com/office/powerpoint/2010/main" val="10541972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6"/>
          <p:cNvSpPr>
            <a:spLocks noGrp="1" noChangeArrowheads="1"/>
          </p:cNvSpPr>
          <p:nvPr>
            <p:ph type="sldNum" sz="quarter" idx="10"/>
          </p:nvPr>
        </p:nvSpPr>
        <p:spPr>
          <a:ln/>
        </p:spPr>
        <p:txBody>
          <a:bodyPr/>
          <a:lstStyle>
            <a:lvl1pPr>
              <a:defRPr/>
            </a:lvl1pPr>
          </a:lstStyle>
          <a:p>
            <a:pPr>
              <a:defRPr/>
            </a:pPr>
            <a:fld id="{4E7478FE-95D7-4319-BAAE-8C8FC0D26E56}" type="slidenum">
              <a:rPr lang="zh-CN" altLang="en-US"/>
              <a:pPr>
                <a:defRPr/>
              </a:pPr>
              <a:t>‹#›</a:t>
            </a:fld>
            <a:endParaRPr lang="zh-CN" altLang="en-US"/>
          </a:p>
        </p:txBody>
      </p:sp>
    </p:spTree>
    <p:extLst>
      <p:ext uri="{BB962C8B-B14F-4D97-AF65-F5344CB8AC3E}">
        <p14:creationId xmlns:p14="http://schemas.microsoft.com/office/powerpoint/2010/main" val="27182627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5B3D80F9-320B-488D-BCE5-F3070C248F57}" type="slidenum">
              <a:rPr lang="zh-CN" altLang="en-US"/>
              <a:pPr>
                <a:defRPr/>
              </a:pPr>
              <a:t>‹#›</a:t>
            </a:fld>
            <a:endParaRPr lang="zh-CN" altLang="en-US"/>
          </a:p>
        </p:txBody>
      </p:sp>
    </p:spTree>
    <p:extLst>
      <p:ext uri="{BB962C8B-B14F-4D97-AF65-F5344CB8AC3E}">
        <p14:creationId xmlns:p14="http://schemas.microsoft.com/office/powerpoint/2010/main" val="21705155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EB67A78F-5878-4306-B378-29212E9638F6}" type="slidenum">
              <a:rPr lang="zh-CN" altLang="en-US"/>
              <a:pPr>
                <a:defRPr/>
              </a:pPr>
              <a:t>‹#›</a:t>
            </a:fld>
            <a:endParaRPr lang="zh-CN" altLang="en-US"/>
          </a:p>
        </p:txBody>
      </p:sp>
    </p:spTree>
    <p:extLst>
      <p:ext uri="{BB962C8B-B14F-4D97-AF65-F5344CB8AC3E}">
        <p14:creationId xmlns:p14="http://schemas.microsoft.com/office/powerpoint/2010/main" val="4530219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09E9F275-9BE2-4D5F-A2C6-37F3938E48AE}" type="slidenum">
              <a:rPr lang="zh-CN" altLang="en-US"/>
              <a:pPr>
                <a:defRPr/>
              </a:pPr>
              <a:t>‹#›</a:t>
            </a:fld>
            <a:endParaRPr lang="zh-CN" altLang="en-US"/>
          </a:p>
        </p:txBody>
      </p:sp>
    </p:spTree>
    <p:extLst>
      <p:ext uri="{BB962C8B-B14F-4D97-AF65-F5344CB8AC3E}">
        <p14:creationId xmlns:p14="http://schemas.microsoft.com/office/powerpoint/2010/main" val="41106791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3975FAB5-F6E8-4B7B-8442-19C9C5470F91}" type="slidenum">
              <a:rPr lang="zh-CN" altLang="en-US"/>
              <a:pPr>
                <a:defRPr/>
              </a:pPr>
              <a:t>‹#›</a:t>
            </a:fld>
            <a:endParaRPr lang="zh-CN" altLang="en-US"/>
          </a:p>
        </p:txBody>
      </p:sp>
    </p:spTree>
    <p:extLst>
      <p:ext uri="{BB962C8B-B14F-4D97-AF65-F5344CB8AC3E}">
        <p14:creationId xmlns:p14="http://schemas.microsoft.com/office/powerpoint/2010/main" val="28605461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476250"/>
            <a:ext cx="1962150" cy="516255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09600" y="476250"/>
            <a:ext cx="5734050" cy="516255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6"/>
          <p:cNvSpPr>
            <a:spLocks noGrp="1" noChangeArrowheads="1"/>
          </p:cNvSpPr>
          <p:nvPr>
            <p:ph type="sldNum" sz="quarter" idx="10"/>
          </p:nvPr>
        </p:nvSpPr>
        <p:spPr>
          <a:ln/>
        </p:spPr>
        <p:txBody>
          <a:bodyPr/>
          <a:lstStyle>
            <a:lvl1pPr>
              <a:defRPr/>
            </a:lvl1pPr>
          </a:lstStyle>
          <a:p>
            <a:pPr>
              <a:defRPr/>
            </a:pPr>
            <a:fld id="{6DC3AD09-D3C1-4596-9CC4-CC931472499D}" type="slidenum">
              <a:rPr lang="zh-CN" altLang="en-US"/>
              <a:pPr>
                <a:defRPr/>
              </a:pPr>
              <a:t>‹#›</a:t>
            </a:fld>
            <a:endParaRPr lang="zh-CN" altLang="en-US"/>
          </a:p>
        </p:txBody>
      </p:sp>
    </p:spTree>
    <p:extLst>
      <p:ext uri="{BB962C8B-B14F-4D97-AF65-F5344CB8AC3E}">
        <p14:creationId xmlns:p14="http://schemas.microsoft.com/office/powerpoint/2010/main" val="1805210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553200"/>
            <a:ext cx="9144000" cy="304800"/>
          </a:xfrm>
          <a:prstGeom prst="rect">
            <a:avLst/>
          </a:prstGeom>
          <a:solidFill>
            <a:srgbClr val="8C25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7" name="Rectangle 3"/>
          <p:cNvSpPr>
            <a:spLocks noGrp="1" noChangeArrowheads="1"/>
          </p:cNvSpPr>
          <p:nvPr>
            <p:ph type="title"/>
          </p:nvPr>
        </p:nvSpPr>
        <p:spPr bwMode="auto">
          <a:xfrm>
            <a:off x="1403350" y="476250"/>
            <a:ext cx="7054850" cy="457200"/>
          </a:xfrm>
          <a:prstGeom prst="rect">
            <a:avLst/>
          </a:prstGeom>
          <a:noFill/>
          <a:ln>
            <a:noFill/>
          </a:ln>
          <a:effectLst/>
        </p:spPr>
        <p:txBody>
          <a:bodyPr vert="horz" wrap="square" lIns="91440" tIns="45720" rIns="91440" bIns="45720" numCol="1" anchor="ctr" anchorCtr="0" compatLnSpc="1"/>
          <a:lstStyle/>
          <a:p>
            <a:pPr lvl="0"/>
            <a:r>
              <a:rPr lang="zh-CN" noProof="1" smtClean="0"/>
              <a:t>单击此处编辑母版标题样式</a:t>
            </a:r>
          </a:p>
        </p:txBody>
      </p:sp>
      <p:sp>
        <p:nvSpPr>
          <p:cNvPr id="1028" name="Rectangle 4" descr="浅色横线"/>
          <p:cNvSpPr>
            <a:spLocks noChangeArrowheads="1"/>
          </p:cNvSpPr>
          <p:nvPr/>
        </p:nvSpPr>
        <p:spPr bwMode="auto">
          <a:xfrm>
            <a:off x="76200" y="1066800"/>
            <a:ext cx="9067800" cy="69850"/>
          </a:xfrm>
          <a:prstGeom prst="rect">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9" name="Rectangle 5"/>
          <p:cNvSpPr>
            <a:spLocks noGrp="1" noChangeArrowheads="1"/>
          </p:cNvSpPr>
          <p:nvPr>
            <p:ph type="body" idx="4294967295"/>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p:txBody>
      </p:sp>
      <p:sp>
        <p:nvSpPr>
          <p:cNvPr id="2" name="Rectangle 6"/>
          <p:cNvSpPr>
            <a:spLocks noGrp="1" noChangeArrowheads="1"/>
          </p:cNvSpPr>
          <p:nvPr>
            <p:ph type="sldNum" sz="quarter" idx="4"/>
          </p:nvPr>
        </p:nvSpPr>
        <p:spPr bwMode="auto">
          <a:xfrm>
            <a:off x="7162800" y="6553200"/>
            <a:ext cx="19050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a:solidFill>
                  <a:srgbClr val="FF3300"/>
                </a:solidFill>
              </a:defRPr>
            </a:lvl1pPr>
          </a:lstStyle>
          <a:p>
            <a:pPr>
              <a:defRPr/>
            </a:pPr>
            <a:fld id="{FF1EE6D2-6A24-4D22-8C62-CC96E59F0434}" type="slidenum">
              <a:rPr lang="zh-CN" altLang="en-US"/>
              <a:pPr>
                <a:defRPr/>
              </a:pPr>
              <a:t>‹#›</a:t>
            </a:fld>
            <a:endParaRPr lang="zh-CN" altLang="en-US"/>
          </a:p>
        </p:txBody>
      </p:sp>
      <p:pic>
        <p:nvPicPr>
          <p:cNvPr id="1031" name="图片 11"/>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7938"/>
            <a:ext cx="1241425" cy="1057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xStyles>
    <p:titleStyle>
      <a:lvl1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6553200"/>
            <a:ext cx="9144000" cy="304800"/>
          </a:xfrm>
          <a:prstGeom prst="rect">
            <a:avLst/>
          </a:prstGeom>
          <a:solidFill>
            <a:srgbClr val="8C25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7" name="Rectangle 3"/>
          <p:cNvSpPr>
            <a:spLocks noGrp="1" noChangeArrowheads="1"/>
          </p:cNvSpPr>
          <p:nvPr>
            <p:ph type="title"/>
          </p:nvPr>
        </p:nvSpPr>
        <p:spPr bwMode="auto">
          <a:xfrm>
            <a:off x="1403350" y="476250"/>
            <a:ext cx="7054850" cy="457200"/>
          </a:xfrm>
          <a:prstGeom prst="rect">
            <a:avLst/>
          </a:prstGeom>
          <a:noFill/>
          <a:ln>
            <a:noFill/>
          </a:ln>
          <a:effectLst/>
        </p:spPr>
        <p:txBody>
          <a:bodyPr vert="horz" wrap="square" lIns="91440" tIns="45720" rIns="91440" bIns="45720" numCol="1" anchor="ctr" anchorCtr="0" compatLnSpc="1"/>
          <a:lstStyle/>
          <a:p>
            <a:pPr lvl="0"/>
            <a:r>
              <a:rPr lang="zh-CN" noProof="1" smtClean="0"/>
              <a:t>单击此处编辑母版标题样式</a:t>
            </a:r>
          </a:p>
        </p:txBody>
      </p:sp>
      <p:sp>
        <p:nvSpPr>
          <p:cNvPr id="2052" name="Rectangle 4" descr="浅色横线"/>
          <p:cNvSpPr>
            <a:spLocks noChangeArrowheads="1"/>
          </p:cNvSpPr>
          <p:nvPr/>
        </p:nvSpPr>
        <p:spPr bwMode="auto">
          <a:xfrm>
            <a:off x="76200" y="1066800"/>
            <a:ext cx="9067800" cy="69850"/>
          </a:xfrm>
          <a:prstGeom prst="rect">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2053" name="Rectangle 5"/>
          <p:cNvSpPr>
            <a:spLocks noGrp="1" noChangeArrowheads="1"/>
          </p:cNvSpPr>
          <p:nvPr>
            <p:ph type="body" idx="4294967295"/>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p:txBody>
      </p:sp>
      <p:sp>
        <p:nvSpPr>
          <p:cNvPr id="2" name="Rectangle 6"/>
          <p:cNvSpPr>
            <a:spLocks noGrp="1" noChangeArrowheads="1"/>
          </p:cNvSpPr>
          <p:nvPr>
            <p:ph type="sldNum" sz="quarter" idx="4"/>
          </p:nvPr>
        </p:nvSpPr>
        <p:spPr bwMode="auto">
          <a:xfrm>
            <a:off x="7162800" y="6553200"/>
            <a:ext cx="19050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a:solidFill>
                  <a:srgbClr val="FF3300"/>
                </a:solidFill>
              </a:defRPr>
            </a:lvl1pPr>
          </a:lstStyle>
          <a:p>
            <a:pPr>
              <a:defRPr/>
            </a:pPr>
            <a:fld id="{5F770C2C-5BC6-46FA-86D0-1D9F9369B135}" type="slidenum">
              <a:rPr lang="zh-CN" altLang="en-US"/>
              <a:pPr>
                <a:defRPr/>
              </a:pPr>
              <a:t>‹#›</a:t>
            </a:fld>
            <a:endParaRPr lang="zh-CN" altLang="en-US"/>
          </a:p>
        </p:txBody>
      </p:sp>
      <p:pic>
        <p:nvPicPr>
          <p:cNvPr id="2055" name="图片 11"/>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41425"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iming>
    <p:tnLst>
      <p:par>
        <p:cTn id="1" dur="indefinite" restart="never" nodeType="tmRoot"/>
      </p:par>
    </p:tnLst>
  </p:timing>
  <p:txStyles>
    <p:titleStyle>
      <a:lvl1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0" y="6553200"/>
            <a:ext cx="9144000" cy="304800"/>
          </a:xfrm>
          <a:prstGeom prst="rect">
            <a:avLst/>
          </a:prstGeom>
          <a:solidFill>
            <a:srgbClr val="8C25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7" name="Rectangle 3"/>
          <p:cNvSpPr>
            <a:spLocks noGrp="1" noChangeArrowheads="1"/>
          </p:cNvSpPr>
          <p:nvPr>
            <p:ph type="title"/>
          </p:nvPr>
        </p:nvSpPr>
        <p:spPr bwMode="auto">
          <a:xfrm>
            <a:off x="1403350" y="476250"/>
            <a:ext cx="7054850" cy="457200"/>
          </a:xfrm>
          <a:prstGeom prst="rect">
            <a:avLst/>
          </a:prstGeom>
          <a:noFill/>
          <a:ln>
            <a:noFill/>
          </a:ln>
          <a:effectLst/>
        </p:spPr>
        <p:txBody>
          <a:bodyPr vert="horz" wrap="square" lIns="91440" tIns="45720" rIns="91440" bIns="45720" numCol="1" anchor="ctr" anchorCtr="0" compatLnSpc="1"/>
          <a:lstStyle/>
          <a:p>
            <a:pPr lvl="0"/>
            <a:r>
              <a:rPr lang="zh-CN" noProof="1" smtClean="0"/>
              <a:t>单击此处编辑母版标题样式</a:t>
            </a:r>
          </a:p>
        </p:txBody>
      </p:sp>
      <p:sp>
        <p:nvSpPr>
          <p:cNvPr id="3076" name="Rectangle 4" descr="浅色横线"/>
          <p:cNvSpPr>
            <a:spLocks noChangeArrowheads="1"/>
          </p:cNvSpPr>
          <p:nvPr/>
        </p:nvSpPr>
        <p:spPr bwMode="auto">
          <a:xfrm>
            <a:off x="76200" y="1066800"/>
            <a:ext cx="9067800" cy="69850"/>
          </a:xfrm>
          <a:prstGeom prst="rect">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3077" name="Rectangle 5"/>
          <p:cNvSpPr>
            <a:spLocks noGrp="1" noChangeArrowheads="1"/>
          </p:cNvSpPr>
          <p:nvPr>
            <p:ph type="body" idx="4294967295"/>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p:txBody>
      </p:sp>
      <p:sp>
        <p:nvSpPr>
          <p:cNvPr id="2" name="Rectangle 6"/>
          <p:cNvSpPr>
            <a:spLocks noGrp="1" noChangeArrowheads="1"/>
          </p:cNvSpPr>
          <p:nvPr>
            <p:ph type="sldNum" sz="quarter" idx="4"/>
          </p:nvPr>
        </p:nvSpPr>
        <p:spPr bwMode="auto">
          <a:xfrm>
            <a:off x="7162800" y="6553200"/>
            <a:ext cx="19050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a:solidFill>
                  <a:srgbClr val="FF3300"/>
                </a:solidFill>
              </a:defRPr>
            </a:lvl1pPr>
          </a:lstStyle>
          <a:p>
            <a:pPr>
              <a:defRPr/>
            </a:pPr>
            <a:fld id="{7430C841-7966-4D8F-A5ED-CB51E40BE839}" type="slidenum">
              <a:rPr lang="zh-CN" altLang="en-US"/>
              <a:pPr>
                <a:defRPr/>
              </a:pPr>
              <a:t>‹#›</a:t>
            </a:fld>
            <a:endParaRPr lang="zh-CN" altLang="en-US"/>
          </a:p>
        </p:txBody>
      </p:sp>
      <p:pic>
        <p:nvPicPr>
          <p:cNvPr id="3079" name="图片 11"/>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41425"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Lst>
  <p:timing>
    <p:tnLst>
      <p:par>
        <p:cTn id="1" dur="indefinite" restart="never" nodeType="tmRoot"/>
      </p:par>
    </p:tnLst>
  </p:timing>
  <p:txStyles>
    <p:titleStyle>
      <a:lvl1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auto">
          <a:xfrm>
            <a:off x="0" y="6553200"/>
            <a:ext cx="9144000" cy="304800"/>
          </a:xfrm>
          <a:prstGeom prst="rect">
            <a:avLst/>
          </a:prstGeom>
          <a:solidFill>
            <a:srgbClr val="8C25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7" name="Rectangle 3"/>
          <p:cNvSpPr>
            <a:spLocks noGrp="1" noChangeArrowheads="1"/>
          </p:cNvSpPr>
          <p:nvPr>
            <p:ph type="title"/>
          </p:nvPr>
        </p:nvSpPr>
        <p:spPr bwMode="auto">
          <a:xfrm>
            <a:off x="1403350" y="476250"/>
            <a:ext cx="7054850" cy="457200"/>
          </a:xfrm>
          <a:prstGeom prst="rect">
            <a:avLst/>
          </a:prstGeom>
          <a:noFill/>
          <a:ln>
            <a:noFill/>
          </a:ln>
          <a:effectLst/>
        </p:spPr>
        <p:txBody>
          <a:bodyPr vert="horz" wrap="square" lIns="91440" tIns="45720" rIns="91440" bIns="45720" numCol="1" anchor="ctr" anchorCtr="0" compatLnSpc="1"/>
          <a:lstStyle/>
          <a:p>
            <a:pPr lvl="0"/>
            <a:r>
              <a:rPr lang="zh-CN" noProof="1" smtClean="0"/>
              <a:t>单击此处编辑母版标题样式</a:t>
            </a:r>
          </a:p>
        </p:txBody>
      </p:sp>
      <p:sp>
        <p:nvSpPr>
          <p:cNvPr id="4100" name="Rectangle 4" descr="浅色横线"/>
          <p:cNvSpPr>
            <a:spLocks noChangeArrowheads="1"/>
          </p:cNvSpPr>
          <p:nvPr/>
        </p:nvSpPr>
        <p:spPr bwMode="auto">
          <a:xfrm>
            <a:off x="76200" y="1066800"/>
            <a:ext cx="9067800" cy="69850"/>
          </a:xfrm>
          <a:prstGeom prst="rect">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4101" name="Rectangle 5"/>
          <p:cNvSpPr>
            <a:spLocks noGrp="1" noChangeArrowheads="1"/>
          </p:cNvSpPr>
          <p:nvPr>
            <p:ph type="body" idx="4294967295"/>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p:txBody>
      </p:sp>
      <p:sp>
        <p:nvSpPr>
          <p:cNvPr id="2" name="Rectangle 6"/>
          <p:cNvSpPr>
            <a:spLocks noGrp="1" noChangeArrowheads="1"/>
          </p:cNvSpPr>
          <p:nvPr>
            <p:ph type="sldNum" sz="quarter" idx="4"/>
          </p:nvPr>
        </p:nvSpPr>
        <p:spPr bwMode="auto">
          <a:xfrm>
            <a:off x="7162800" y="6553200"/>
            <a:ext cx="19050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smtClean="0">
                <a:solidFill>
                  <a:srgbClr val="FF3300"/>
                </a:solidFill>
              </a:defRPr>
            </a:lvl1pPr>
          </a:lstStyle>
          <a:p>
            <a:pPr>
              <a:defRPr/>
            </a:pPr>
            <a:fld id="{3142A598-6B90-4DE1-86DA-C878F2C04282}" type="slidenum">
              <a:rPr lang="zh-CN" altLang="en-US"/>
              <a:pPr>
                <a:defRPr/>
              </a:pPr>
              <a:t>‹#›</a:t>
            </a:fld>
            <a:endParaRPr lang="zh-CN" altLang="en-US"/>
          </a:p>
        </p:txBody>
      </p:sp>
      <p:pic>
        <p:nvPicPr>
          <p:cNvPr id="4103" name="图片 11"/>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41425"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iming>
    <p:tnLst>
      <p:par>
        <p:cTn id="1" dur="indefinite" restart="never" nodeType="tmRoot"/>
      </p:par>
    </p:tnLst>
  </p:timing>
  <p:txStyles>
    <p:titleStyle>
      <a:lvl1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image" Target="../media/image95.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4.xml"/><Relationship Id="rId1" Type="http://schemas.openxmlformats.org/officeDocument/2006/relationships/themeOverride" Target="../theme/themeOverride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4.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9.wmf"/><Relationship Id="rId4" Type="http://schemas.openxmlformats.org/officeDocument/2006/relationships/oleObject" Target="../embeddings/oleObject3.bin"/><Relationship Id="rId9" Type="http://schemas.openxmlformats.org/officeDocument/2006/relationships/image" Target="../media/image11.w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4.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4.xml"/><Relationship Id="rId1" Type="http://schemas.openxmlformats.org/officeDocument/2006/relationships/vmlDrawing" Target="../drawings/vmlDrawing3.vml"/><Relationship Id="rId6" Type="http://schemas.openxmlformats.org/officeDocument/2006/relationships/image" Target="../media/image39.png"/><Relationship Id="rId4" Type="http://schemas.openxmlformats.org/officeDocument/2006/relationships/image" Target="../media/image14.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wmf"/><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59.png"/></Relationships>
</file>

<file path=ppt/slides/_rels/slide16.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notesSlide" Target="../notesSlides/notesSlide8.xml"/><Relationship Id="rId7" Type="http://schemas.openxmlformats.org/officeDocument/2006/relationships/oleObject" Target="../embeddings/oleObject7.bin"/><Relationship Id="rId2" Type="http://schemas.openxmlformats.org/officeDocument/2006/relationships/slideLayout" Target="../slideLayouts/slideLayout26.xml"/><Relationship Id="rId1" Type="http://schemas.openxmlformats.org/officeDocument/2006/relationships/vmlDrawing" Target="../drawings/vmlDrawing4.vml"/><Relationship Id="rId6" Type="http://schemas.openxmlformats.org/officeDocument/2006/relationships/image" Target="../media/image168.png"/><Relationship Id="rId5" Type="http://schemas.openxmlformats.org/officeDocument/2006/relationships/image" Target="../media/image167.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6.xml"/><Relationship Id="rId4" Type="http://schemas.openxmlformats.org/officeDocument/2006/relationships/image" Target="../media/image21.emf"/></Relationships>
</file>

<file path=ppt/slides/_rels/slide18.xml.rels><?xml version="1.0" encoding="UTF-8" standalone="yes"?>
<Relationships xmlns="http://schemas.openxmlformats.org/package/2006/relationships"><Relationship Id="rId7" Type="http://schemas.openxmlformats.org/officeDocument/2006/relationships/image" Target="../media/image22.emf"/><Relationship Id="rId2" Type="http://schemas.openxmlformats.org/officeDocument/2006/relationships/notesSlide" Target="../notesSlides/notesSlide10.xml"/><Relationship Id="rId1" Type="http://schemas.openxmlformats.org/officeDocument/2006/relationships/slideLayout" Target="../slideLayouts/slideLayout26.xml"/><Relationship Id="rId6" Type="http://schemas.openxmlformats.org/officeDocument/2006/relationships/image" Target="../media/image20.png"/><Relationship Id="rId5" Type="http://schemas.openxmlformats.org/officeDocument/2006/relationships/image" Target="../media/image171.png"/></Relationships>
</file>

<file path=ppt/slides/_rels/slide19.xml.rels><?xml version="1.0" encoding="UTF-8" standalone="yes"?>
<Relationships xmlns="http://schemas.openxmlformats.org/package/2006/relationships"><Relationship Id="rId8" Type="http://schemas.openxmlformats.org/officeDocument/2006/relationships/image" Target="../media/image23.emf"/><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6.xml"/><Relationship Id="rId6" Type="http://schemas.openxmlformats.org/officeDocument/2006/relationships/image" Target="../media/image173.png"/></Relationships>
</file>

<file path=ppt/slides/_rels/slide20.xml.rels><?xml version="1.0" encoding="UTF-8" standalone="yes"?>
<Relationships xmlns="http://schemas.openxmlformats.org/package/2006/relationships"><Relationship Id="rId8" Type="http://schemas.openxmlformats.org/officeDocument/2006/relationships/image" Target="../media/image25.emf"/><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6.xml"/><Relationship Id="rId6" Type="http://schemas.openxmlformats.org/officeDocument/2006/relationships/image" Target="../media/image177.png"/></Relationships>
</file>

<file path=ppt/slides/_rels/slide2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26.emf"/><Relationship Id="rId1" Type="http://schemas.openxmlformats.org/officeDocument/2006/relationships/slideLayout" Target="../slideLayouts/slideLayout37.xml"/><Relationship Id="rId4" Type="http://schemas.openxmlformats.org/officeDocument/2006/relationships/image" Target="../media/image27.emf"/></Relationships>
</file>

<file path=ppt/slides/_rels/slide22.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37.xml"/><Relationship Id="rId4" Type="http://schemas.openxmlformats.org/officeDocument/2006/relationships/image" Target="../media/image184.png"/></Relationships>
</file>

<file path=ppt/slides/_rels/slide2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 Id="rId5" Type="http://schemas.openxmlformats.org/officeDocument/2006/relationships/image" Target="../media/image18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32.emf"/><Relationship Id="rId2" Type="http://schemas.openxmlformats.org/officeDocument/2006/relationships/slideLayout" Target="../slideLayouts/slideLayout26.xml"/><Relationship Id="rId1" Type="http://schemas.openxmlformats.org/officeDocument/2006/relationships/vmlDrawing" Target="../drawings/vmlDrawing5.vml"/><Relationship Id="rId6" Type="http://schemas.openxmlformats.org/officeDocument/2006/relationships/image" Target="../media/image30.wmf"/><Relationship Id="rId5" Type="http://schemas.openxmlformats.org/officeDocument/2006/relationships/oleObject" Target="../embeddings/oleObject8.bin"/><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33.emf"/><Relationship Id="rId2" Type="http://schemas.openxmlformats.org/officeDocument/2006/relationships/slideLayout" Target="../slideLayouts/slideLayout26.xml"/><Relationship Id="rId1" Type="http://schemas.openxmlformats.org/officeDocument/2006/relationships/vmlDrawing" Target="../drawings/vmlDrawing6.vml"/><Relationship Id="rId6" Type="http://schemas.openxmlformats.org/officeDocument/2006/relationships/image" Target="../media/image30.wmf"/><Relationship Id="rId5" Type="http://schemas.openxmlformats.org/officeDocument/2006/relationships/oleObject" Target="../embeddings/oleObject8.bin"/><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34.emf"/><Relationship Id="rId4" Type="http://schemas.openxmlformats.org/officeDocument/2006/relationships/oleObject" Target="../embeddings/oleObject9.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灯片编号占位符 3"/>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spcBef>
                <a:spcPct val="20000"/>
              </a:spcBef>
              <a:buChar char="•"/>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b="1">
                <a:solidFill>
                  <a:schemeClr val="tx1"/>
                </a:solidFill>
                <a:latin typeface="Times New Roman" panose="02020603050405020304" pitchFamily="18" charset="0"/>
                <a:ea typeface="楷体_GB2312" pitchFamily="1" charset="-122"/>
              </a:defRPr>
            </a:lvl2pPr>
            <a:lvl3pPr marL="1143000" indent="-228600">
              <a:spcBef>
                <a:spcPct val="20000"/>
              </a:spcBef>
              <a:buChar char="•"/>
              <a:defRPr sz="2000" b="1">
                <a:solidFill>
                  <a:schemeClr val="tx1"/>
                </a:solidFill>
                <a:latin typeface="Times New Roman" panose="02020603050405020304" pitchFamily="18" charset="0"/>
                <a:ea typeface="楷体_GB2312" pitchFamily="1"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D02E49D-8A81-457B-AFD8-4CF396BD46FF}" type="slidenum">
              <a:rPr altLang="en-US" sz="1400" b="0" smtClean="0">
                <a:solidFill>
                  <a:srgbClr val="FF3300"/>
                </a:solidFill>
              </a:rPr>
              <a:pPr>
                <a:spcBef>
                  <a:spcPct val="0"/>
                </a:spcBef>
                <a:buFontTx/>
                <a:buNone/>
              </a:pPr>
              <a:t>1</a:t>
            </a:fld>
            <a:endParaRPr lang="zh-CN" altLang="en-US" sz="1400" b="0" smtClean="0">
              <a:solidFill>
                <a:srgbClr val="FF3300"/>
              </a:solidFill>
            </a:endParaRPr>
          </a:p>
        </p:txBody>
      </p:sp>
      <p:sp>
        <p:nvSpPr>
          <p:cNvPr id="3074" name="Rectangle 2"/>
          <p:cNvSpPr>
            <a:spLocks noGrp="1" noChangeArrowheads="1"/>
          </p:cNvSpPr>
          <p:nvPr>
            <p:ph type="title"/>
          </p:nvPr>
        </p:nvSpPr>
        <p:spPr>
          <a:xfrm>
            <a:off x="955675" y="188913"/>
            <a:ext cx="7107238" cy="1143000"/>
          </a:xfrm>
        </p:spPr>
        <p:txBody>
          <a:bodyPr/>
          <a:lstStyle/>
          <a:p>
            <a:pPr algn="ctr" eaLnBrk="1" hangingPunct="1">
              <a:defRPr/>
            </a:pPr>
            <a:r>
              <a:rPr sz="3200" b="1" dirty="0" smtClean="0">
                <a:latin typeface="隶书" panose="02010509060101010101" pitchFamily="49" charset="-122"/>
                <a:ea typeface="隶书" panose="02010509060101010101" pitchFamily="49" charset="-122"/>
              </a:rPr>
              <a:t>第2章 </a:t>
            </a:r>
            <a:r>
              <a:rPr sz="3200" b="1" dirty="0" err="1" smtClean="0">
                <a:latin typeface="隶书" panose="02010509060101010101" pitchFamily="49" charset="-122"/>
                <a:ea typeface="隶书" panose="02010509060101010101" pitchFamily="49" charset="-122"/>
              </a:rPr>
              <a:t>线性规划</a:t>
            </a:r>
            <a:r>
              <a:rPr lang="zh-CN" altLang="en-US" sz="3200" b="1" dirty="0" smtClean="0">
                <a:latin typeface="隶书" panose="02010509060101010101" pitchFamily="49" charset="-122"/>
                <a:ea typeface="隶书" panose="02010509060101010101" pitchFamily="49" charset="-122"/>
              </a:rPr>
              <a:t>	</a:t>
            </a:r>
          </a:p>
        </p:txBody>
      </p:sp>
      <p:sp>
        <p:nvSpPr>
          <p:cNvPr id="7172" name="AutoShape 39">
            <a:hlinkClick r:id="rId3" action="ppaction://hlinksldjump"/>
          </p:cNvPr>
          <p:cNvSpPr>
            <a:spLocks noChangeArrowheads="1"/>
          </p:cNvSpPr>
          <p:nvPr/>
        </p:nvSpPr>
        <p:spPr bwMode="auto">
          <a:xfrm>
            <a:off x="8748713" y="6092825"/>
            <a:ext cx="215900" cy="431800"/>
          </a:xfrm>
          <a:prstGeom prst="curvedLeftArrow">
            <a:avLst>
              <a:gd name="adj1" fmla="val 21324"/>
              <a:gd name="adj2" fmla="val 96324"/>
              <a:gd name="adj3" fmla="val 36653"/>
            </a:avLst>
          </a:prstGeom>
          <a:solidFill>
            <a:srgbClr val="6CAAC0"/>
          </a:solidFill>
          <a:ln w="9525">
            <a:solidFill>
              <a:srgbClr val="366B7E"/>
            </a:solidFill>
            <a:miter lim="800000"/>
            <a:headEnd/>
            <a:tailEnd/>
          </a:ln>
        </p:spPr>
        <p:txBody>
          <a:bodyPr wrap="none" anchor="ctr"/>
          <a:lstStyle>
            <a:lvl1pPr>
              <a:spcBef>
                <a:spcPct val="20000"/>
              </a:spcBef>
              <a:buChar char="•"/>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b="1">
                <a:solidFill>
                  <a:schemeClr val="tx1"/>
                </a:solidFill>
                <a:latin typeface="Times New Roman" panose="02020603050405020304" pitchFamily="18" charset="0"/>
                <a:ea typeface="楷体_GB2312" pitchFamily="1" charset="-122"/>
              </a:defRPr>
            </a:lvl2pPr>
            <a:lvl3pPr marL="1143000" indent="-228600">
              <a:spcBef>
                <a:spcPct val="20000"/>
              </a:spcBef>
              <a:buChar char="•"/>
              <a:defRPr sz="2000" b="1">
                <a:solidFill>
                  <a:schemeClr val="tx1"/>
                </a:solidFill>
                <a:latin typeface="Times New Roman" panose="02020603050405020304" pitchFamily="18" charset="0"/>
                <a:ea typeface="楷体_GB2312" pitchFamily="1"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73" name="AutoShape 4"/>
          <p:cNvSpPr>
            <a:spLocks noChangeArrowheads="1"/>
          </p:cNvSpPr>
          <p:nvPr/>
        </p:nvSpPr>
        <p:spPr bwMode="auto">
          <a:xfrm>
            <a:off x="439738" y="1266825"/>
            <a:ext cx="935037" cy="5138738"/>
          </a:xfrm>
          <a:prstGeom prst="cube">
            <a:avLst>
              <a:gd name="adj" fmla="val 25000"/>
            </a:avLst>
          </a:prstGeom>
          <a:gradFill rotWithShape="1">
            <a:gsLst>
              <a:gs pos="0">
                <a:srgbClr val="411117"/>
              </a:gs>
              <a:gs pos="50000">
                <a:srgbClr val="8C2532"/>
              </a:gs>
              <a:gs pos="100000">
                <a:srgbClr val="411117"/>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b="1">
                <a:solidFill>
                  <a:schemeClr val="tx1"/>
                </a:solidFill>
                <a:latin typeface="Times New Roman" panose="02020603050405020304" pitchFamily="18" charset="0"/>
                <a:ea typeface="楷体_GB2312" pitchFamily="1" charset="-122"/>
              </a:defRPr>
            </a:lvl2pPr>
            <a:lvl3pPr marL="1143000" indent="-228600">
              <a:spcBef>
                <a:spcPct val="20000"/>
              </a:spcBef>
              <a:buChar char="•"/>
              <a:defRPr sz="2000" b="1">
                <a:solidFill>
                  <a:schemeClr val="tx1"/>
                </a:solidFill>
                <a:latin typeface="Times New Roman" panose="02020603050405020304" pitchFamily="18" charset="0"/>
                <a:ea typeface="楷体_GB2312" pitchFamily="1"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800">
                <a:solidFill>
                  <a:srgbClr val="000000"/>
                </a:solidFill>
              </a:rPr>
              <a:t>第</a:t>
            </a:r>
          </a:p>
          <a:p>
            <a:pPr algn="ctr" eaLnBrk="1" hangingPunct="1">
              <a:spcBef>
                <a:spcPct val="0"/>
              </a:spcBef>
              <a:buFontTx/>
              <a:buNone/>
            </a:pPr>
            <a:r>
              <a:rPr lang="zh-CN" altLang="en-US" sz="2800">
                <a:solidFill>
                  <a:srgbClr val="000000"/>
                </a:solidFill>
              </a:rPr>
              <a:t>2</a:t>
            </a:r>
          </a:p>
          <a:p>
            <a:pPr algn="ctr" eaLnBrk="1" hangingPunct="1">
              <a:spcBef>
                <a:spcPct val="0"/>
              </a:spcBef>
              <a:buFontTx/>
              <a:buNone/>
            </a:pPr>
            <a:r>
              <a:rPr lang="zh-CN" altLang="en-US" sz="2800">
                <a:solidFill>
                  <a:srgbClr val="000000"/>
                </a:solidFill>
              </a:rPr>
              <a:t> 章</a:t>
            </a:r>
            <a:endParaRPr lang="en-US" altLang="zh-CN" sz="2800">
              <a:solidFill>
                <a:srgbClr val="000000"/>
              </a:solidFill>
            </a:endParaRPr>
          </a:p>
          <a:p>
            <a:pPr algn="ctr" eaLnBrk="1" hangingPunct="1">
              <a:spcBef>
                <a:spcPct val="0"/>
              </a:spcBef>
              <a:buFontTx/>
              <a:buNone/>
            </a:pPr>
            <a:r>
              <a:rPr lang="zh-CN" altLang="en-US" sz="2800">
                <a:solidFill>
                  <a:srgbClr val="000000"/>
                </a:solidFill>
              </a:rPr>
              <a:t> </a:t>
            </a:r>
          </a:p>
          <a:p>
            <a:pPr algn="ctr" eaLnBrk="1" hangingPunct="1">
              <a:spcBef>
                <a:spcPct val="0"/>
              </a:spcBef>
              <a:buFontTx/>
              <a:buNone/>
            </a:pPr>
            <a:r>
              <a:rPr lang="zh-CN" altLang="en-US" sz="2800">
                <a:solidFill>
                  <a:srgbClr val="000000"/>
                </a:solidFill>
              </a:rPr>
              <a:t>线</a:t>
            </a:r>
            <a:endParaRPr lang="en-US" altLang="zh-CN" sz="2800">
              <a:solidFill>
                <a:srgbClr val="000000"/>
              </a:solidFill>
            </a:endParaRPr>
          </a:p>
          <a:p>
            <a:pPr algn="ctr" eaLnBrk="1" hangingPunct="1">
              <a:spcBef>
                <a:spcPct val="0"/>
              </a:spcBef>
              <a:buFontTx/>
              <a:buNone/>
            </a:pPr>
            <a:r>
              <a:rPr lang="zh-CN" altLang="en-US" sz="2800">
                <a:solidFill>
                  <a:srgbClr val="000000"/>
                </a:solidFill>
              </a:rPr>
              <a:t>性</a:t>
            </a:r>
            <a:endParaRPr lang="en-US" altLang="zh-CN" sz="2800">
              <a:solidFill>
                <a:srgbClr val="000000"/>
              </a:solidFill>
            </a:endParaRPr>
          </a:p>
          <a:p>
            <a:pPr algn="ctr" eaLnBrk="1" hangingPunct="1">
              <a:spcBef>
                <a:spcPct val="0"/>
              </a:spcBef>
              <a:buFontTx/>
              <a:buNone/>
            </a:pPr>
            <a:r>
              <a:rPr lang="zh-CN" altLang="en-US" sz="2800">
                <a:solidFill>
                  <a:srgbClr val="000000"/>
                </a:solidFill>
              </a:rPr>
              <a:t>规</a:t>
            </a:r>
          </a:p>
          <a:p>
            <a:pPr algn="ctr" eaLnBrk="1" hangingPunct="1">
              <a:spcBef>
                <a:spcPct val="0"/>
              </a:spcBef>
              <a:buFontTx/>
              <a:buNone/>
            </a:pPr>
            <a:r>
              <a:rPr lang="zh-CN" altLang="en-US" sz="2800">
                <a:solidFill>
                  <a:srgbClr val="000000"/>
                </a:solidFill>
              </a:rPr>
              <a:t>划</a:t>
            </a:r>
          </a:p>
        </p:txBody>
      </p:sp>
      <p:sp>
        <p:nvSpPr>
          <p:cNvPr id="3077" name="Rectangle 5"/>
          <p:cNvSpPr>
            <a:spLocks noChangeArrowheads="1"/>
          </p:cNvSpPr>
          <p:nvPr/>
        </p:nvSpPr>
        <p:spPr bwMode="auto">
          <a:xfrm>
            <a:off x="2135188" y="1449388"/>
            <a:ext cx="6103937"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b="1">
                <a:solidFill>
                  <a:schemeClr val="tx1"/>
                </a:solidFill>
                <a:latin typeface="Times New Roman" panose="02020603050405020304" pitchFamily="18" charset="0"/>
                <a:ea typeface="楷体_GB2312" pitchFamily="1" charset="-122"/>
              </a:defRPr>
            </a:lvl2pPr>
            <a:lvl3pPr marL="1143000" indent="-228600">
              <a:spcBef>
                <a:spcPct val="20000"/>
              </a:spcBef>
              <a:buChar char="•"/>
              <a:defRPr sz="2000" b="1">
                <a:solidFill>
                  <a:schemeClr val="tx1"/>
                </a:solidFill>
                <a:latin typeface="Times New Roman" panose="02020603050405020304" pitchFamily="18" charset="0"/>
                <a:ea typeface="楷体_GB2312" pitchFamily="1"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zh-CN" b="0" dirty="0"/>
              <a:t>2.1 线性规划</a:t>
            </a:r>
            <a:r>
              <a:rPr lang="zh-CN" altLang="en-US" b="0" dirty="0"/>
              <a:t>的数学模型</a:t>
            </a:r>
            <a:endParaRPr lang="en-US" altLang="zh-CN" b="0" dirty="0"/>
          </a:p>
          <a:p>
            <a:pPr eaLnBrk="1" hangingPunct="1">
              <a:lnSpc>
                <a:spcPct val="150000"/>
              </a:lnSpc>
              <a:spcBef>
                <a:spcPct val="0"/>
              </a:spcBef>
              <a:buFontTx/>
              <a:buNone/>
            </a:pPr>
            <a:r>
              <a:rPr lang="en-US" altLang="zh-CN" b="0" dirty="0"/>
              <a:t>2.2 </a:t>
            </a:r>
            <a:r>
              <a:rPr lang="zh-CN" altLang="en-US" b="0" dirty="0"/>
              <a:t>线性规划的标准型</a:t>
            </a:r>
            <a:endParaRPr lang="en-US" altLang="zh-CN" b="0" dirty="0"/>
          </a:p>
          <a:p>
            <a:pPr eaLnBrk="1" hangingPunct="1">
              <a:lnSpc>
                <a:spcPct val="150000"/>
              </a:lnSpc>
              <a:spcBef>
                <a:spcPct val="0"/>
              </a:spcBef>
              <a:buFontTx/>
              <a:buNone/>
            </a:pPr>
            <a:r>
              <a:rPr lang="zh-CN" altLang="zh-CN" b="0" dirty="0"/>
              <a:t>2.</a:t>
            </a:r>
            <a:r>
              <a:rPr lang="en-US" altLang="zh-CN" b="0" dirty="0"/>
              <a:t>3</a:t>
            </a:r>
            <a:r>
              <a:rPr lang="zh-CN" altLang="zh-CN" b="0" dirty="0"/>
              <a:t> 线性规划的图解法</a:t>
            </a:r>
            <a:endParaRPr lang="en-US" altLang="zh-CN" b="0" dirty="0"/>
          </a:p>
          <a:p>
            <a:pPr eaLnBrk="1" hangingPunct="1">
              <a:lnSpc>
                <a:spcPct val="150000"/>
              </a:lnSpc>
              <a:spcBef>
                <a:spcPct val="0"/>
              </a:spcBef>
              <a:buFontTx/>
              <a:buNone/>
            </a:pPr>
            <a:r>
              <a:rPr lang="en-US" altLang="zh-CN" b="0" dirty="0"/>
              <a:t>2.4 </a:t>
            </a:r>
            <a:r>
              <a:rPr lang="zh-CN" altLang="zh-CN" b="0" dirty="0"/>
              <a:t>线性规划</a:t>
            </a:r>
            <a:r>
              <a:rPr lang="zh-CN" altLang="en-US" b="0" dirty="0"/>
              <a:t>问题</a:t>
            </a:r>
            <a:r>
              <a:rPr lang="zh-CN" altLang="zh-CN" b="0" dirty="0"/>
              <a:t>解的性质</a:t>
            </a:r>
            <a:endParaRPr lang="en-US" altLang="zh-CN" b="0" dirty="0"/>
          </a:p>
          <a:p>
            <a:pPr eaLnBrk="1" hangingPunct="1">
              <a:lnSpc>
                <a:spcPct val="150000"/>
              </a:lnSpc>
              <a:spcBef>
                <a:spcPct val="0"/>
              </a:spcBef>
              <a:buFontTx/>
              <a:buNone/>
            </a:pPr>
            <a:r>
              <a:rPr lang="en-US" altLang="zh-CN" b="0" dirty="0"/>
              <a:t>2.5 </a:t>
            </a:r>
            <a:r>
              <a:rPr lang="zh-CN" altLang="en-US" b="0" dirty="0"/>
              <a:t>求解</a:t>
            </a:r>
            <a:r>
              <a:rPr lang="zh-CN" altLang="zh-CN" b="0" dirty="0"/>
              <a:t>线性规划</a:t>
            </a:r>
            <a:r>
              <a:rPr lang="zh-CN" altLang="en-US" b="0" dirty="0"/>
              <a:t>的</a:t>
            </a:r>
            <a:r>
              <a:rPr lang="en-US" altLang="zh-CN" b="0" dirty="0" err="1"/>
              <a:t>单纯形法</a:t>
            </a:r>
            <a:endParaRPr lang="en-US" altLang="zh-CN" b="0" dirty="0"/>
          </a:p>
          <a:p>
            <a:pPr eaLnBrk="1" hangingPunct="1">
              <a:lnSpc>
                <a:spcPct val="150000"/>
              </a:lnSpc>
              <a:spcBef>
                <a:spcPct val="0"/>
              </a:spcBef>
              <a:buFontTx/>
              <a:buNone/>
            </a:pPr>
            <a:r>
              <a:rPr lang="zh-CN" altLang="en-US" b="0" dirty="0"/>
              <a:t>2.</a:t>
            </a:r>
            <a:r>
              <a:rPr lang="en-US" altLang="zh-CN" b="0" dirty="0"/>
              <a:t>6</a:t>
            </a:r>
            <a:r>
              <a:rPr lang="zh-CN" altLang="en-US" b="0" dirty="0"/>
              <a:t>求解</a:t>
            </a:r>
            <a:r>
              <a:rPr lang="zh-CN" altLang="zh-CN" b="0" dirty="0"/>
              <a:t>线性规划</a:t>
            </a:r>
            <a:r>
              <a:rPr lang="zh-CN" altLang="en-US" b="0" dirty="0"/>
              <a:t>的人工变量法</a:t>
            </a:r>
            <a:endParaRPr lang="en-US" altLang="zh-CN" b="0" dirty="0"/>
          </a:p>
          <a:p>
            <a:pPr eaLnBrk="1" hangingPunct="1">
              <a:lnSpc>
                <a:spcPct val="150000"/>
              </a:lnSpc>
              <a:spcBef>
                <a:spcPct val="0"/>
              </a:spcBef>
              <a:buFontTx/>
              <a:buNone/>
            </a:pPr>
            <a:r>
              <a:rPr lang="en-US" altLang="zh-CN" b="0" dirty="0"/>
              <a:t>2.7 </a:t>
            </a:r>
            <a:r>
              <a:rPr lang="zh-CN" altLang="en-US" b="0" dirty="0"/>
              <a:t>利用</a:t>
            </a:r>
            <a:r>
              <a:rPr lang="en-US" altLang="zh-CN" b="0" dirty="0"/>
              <a:t>Excel</a:t>
            </a:r>
            <a:r>
              <a:rPr lang="zh-CN" altLang="en-US" b="0" dirty="0"/>
              <a:t>求解线性规划问题</a:t>
            </a:r>
            <a:endParaRPr lang="en-US" altLang="zh-CN" b="0" dirty="0"/>
          </a:p>
          <a:p>
            <a:pPr eaLnBrk="1" hangingPunct="1">
              <a:lnSpc>
                <a:spcPct val="150000"/>
              </a:lnSpc>
              <a:spcBef>
                <a:spcPct val="0"/>
              </a:spcBef>
              <a:buFontTx/>
              <a:buNone/>
            </a:pPr>
            <a:r>
              <a:rPr lang="en-US" altLang="zh-CN" b="0" dirty="0"/>
              <a:t>2.8 </a:t>
            </a:r>
            <a:r>
              <a:rPr lang="zh-CN" altLang="en-US" b="0" dirty="0"/>
              <a:t>线性规划在管理中的应用</a:t>
            </a:r>
            <a:endParaRPr lang="en-US" altLang="zh-CN" b="0" dirty="0"/>
          </a:p>
        </p:txBody>
      </p:sp>
      <p:sp>
        <p:nvSpPr>
          <p:cNvPr id="3078" name="AutoShape 6"/>
          <p:cNvSpPr>
            <a:spLocks noChangeArrowheads="1"/>
          </p:cNvSpPr>
          <p:nvPr/>
        </p:nvSpPr>
        <p:spPr bwMode="auto">
          <a:xfrm>
            <a:off x="6107112" y="1457325"/>
            <a:ext cx="3036888" cy="2990850"/>
          </a:xfrm>
          <a:prstGeom prst="wedgeRoundRectCallout">
            <a:avLst>
              <a:gd name="adj1" fmla="val -58169"/>
              <a:gd name="adj2" fmla="val 2325"/>
              <a:gd name="adj3" fmla="val 16667"/>
            </a:avLst>
          </a:prstGeom>
          <a:solidFill>
            <a:schemeClr val="accent1"/>
          </a:solidFill>
          <a:ln w="9525">
            <a:solidFill>
              <a:schemeClr val="tx1"/>
            </a:solidFill>
            <a:miter lim="800000"/>
            <a:headEnd/>
            <a:tailEnd/>
          </a:ln>
        </p:spPr>
        <p:txBody>
          <a:bodyPr/>
          <a:lstStyle>
            <a:lvl1pPr>
              <a:spcBef>
                <a:spcPct val="20000"/>
              </a:spcBef>
              <a:buChar char="•"/>
              <a:defRPr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400" b="1">
                <a:solidFill>
                  <a:schemeClr val="tx1"/>
                </a:solidFill>
                <a:latin typeface="Times New Roman" panose="02020603050405020304" pitchFamily="18" charset="0"/>
                <a:ea typeface="楷体_GB2312" pitchFamily="1" charset="-122"/>
              </a:defRPr>
            </a:lvl2pPr>
            <a:lvl3pPr marL="1143000" indent="-228600">
              <a:spcBef>
                <a:spcPct val="20000"/>
              </a:spcBef>
              <a:buChar char="•"/>
              <a:defRPr sz="2000" b="1">
                <a:solidFill>
                  <a:schemeClr val="tx1"/>
                </a:solidFill>
                <a:latin typeface="Times New Roman" panose="02020603050405020304" pitchFamily="18" charset="0"/>
                <a:ea typeface="楷体_GB2312" pitchFamily="1"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dirty="0">
                <a:solidFill>
                  <a:srgbClr val="366B7E"/>
                </a:solidFill>
                <a:latin typeface="楷体_GB2312" pitchFamily="1" charset="-122"/>
                <a:ea typeface="楷体_GB2312" pitchFamily="1" charset="-122"/>
              </a:rPr>
              <a:t>学习目标</a:t>
            </a:r>
          </a:p>
          <a:p>
            <a:pPr>
              <a:spcBef>
                <a:spcPct val="0"/>
              </a:spcBef>
              <a:buFontTx/>
              <a:buNone/>
            </a:pPr>
            <a:r>
              <a:rPr lang="zh-CN" altLang="en-US" sz="1400" dirty="0">
                <a:solidFill>
                  <a:srgbClr val="366B7E"/>
                </a:solidFill>
                <a:latin typeface="楷体_GB2312" pitchFamily="1" charset="-122"/>
                <a:ea typeface="楷体_GB2312" pitchFamily="1" charset="-122"/>
              </a:rPr>
              <a:t>1．</a:t>
            </a:r>
            <a:r>
              <a:rPr lang="zh-CN" altLang="en-US" sz="1400" dirty="0" smtClean="0">
                <a:solidFill>
                  <a:srgbClr val="366B7E"/>
                </a:solidFill>
                <a:latin typeface="楷体_GB2312" pitchFamily="1" charset="-122"/>
                <a:ea typeface="楷体_GB2312" pitchFamily="1" charset="-122"/>
              </a:rPr>
              <a:t>理解线性规划的数学模型和标准型</a:t>
            </a:r>
            <a:endParaRPr lang="en-US" altLang="zh-CN" sz="1400" dirty="0" smtClean="0">
              <a:solidFill>
                <a:srgbClr val="366B7E"/>
              </a:solidFill>
              <a:latin typeface="楷体_GB2312" pitchFamily="1" charset="-122"/>
              <a:ea typeface="楷体_GB2312" pitchFamily="1" charset="-122"/>
            </a:endParaRPr>
          </a:p>
          <a:p>
            <a:pPr>
              <a:spcBef>
                <a:spcPct val="0"/>
              </a:spcBef>
              <a:buFontTx/>
              <a:buNone/>
            </a:pPr>
            <a:r>
              <a:rPr lang="zh-CN" altLang="en-US" sz="1400" dirty="0" smtClean="0">
                <a:solidFill>
                  <a:srgbClr val="366B7E"/>
                </a:solidFill>
                <a:latin typeface="楷体_GB2312" pitchFamily="1" charset="-122"/>
                <a:ea typeface="楷体_GB2312" pitchFamily="1" charset="-122"/>
              </a:rPr>
              <a:t>2</a:t>
            </a:r>
            <a:r>
              <a:rPr lang="zh-CN" altLang="en-US" sz="1400" dirty="0">
                <a:solidFill>
                  <a:srgbClr val="366B7E"/>
                </a:solidFill>
                <a:latin typeface="楷体_GB2312" pitchFamily="1" charset="-122"/>
                <a:ea typeface="楷体_GB2312" pitchFamily="1" charset="-122"/>
              </a:rPr>
              <a:t>．掌握</a:t>
            </a:r>
            <a:r>
              <a:rPr lang="zh-CN" altLang="en-US" sz="1400" dirty="0" smtClean="0">
                <a:solidFill>
                  <a:srgbClr val="366B7E"/>
                </a:solidFill>
                <a:latin typeface="楷体_GB2312" pitchFamily="1" charset="-122"/>
                <a:ea typeface="楷体_GB2312" pitchFamily="1" charset="-122"/>
              </a:rPr>
              <a:t>线性规划的图解法及其几何意义；</a:t>
            </a:r>
            <a:endParaRPr lang="zh-CN" altLang="en-US" sz="1400" dirty="0">
              <a:solidFill>
                <a:srgbClr val="366B7E"/>
              </a:solidFill>
              <a:latin typeface="楷体_GB2312" pitchFamily="1" charset="-122"/>
              <a:ea typeface="楷体_GB2312" pitchFamily="1" charset="-122"/>
            </a:endParaRPr>
          </a:p>
          <a:p>
            <a:pPr>
              <a:spcBef>
                <a:spcPct val="0"/>
              </a:spcBef>
              <a:buFontTx/>
              <a:buNone/>
            </a:pPr>
            <a:r>
              <a:rPr lang="zh-CN" altLang="en-US" sz="1400" dirty="0">
                <a:solidFill>
                  <a:srgbClr val="366B7E"/>
                </a:solidFill>
                <a:latin typeface="楷体_GB2312" pitchFamily="1" charset="-122"/>
                <a:ea typeface="楷体_GB2312" pitchFamily="1" charset="-122"/>
              </a:rPr>
              <a:t>3</a:t>
            </a:r>
            <a:r>
              <a:rPr lang="zh-CN" altLang="en-US" sz="1400" dirty="0" smtClean="0">
                <a:solidFill>
                  <a:srgbClr val="366B7E"/>
                </a:solidFill>
                <a:latin typeface="楷体_GB2312" pitchFamily="1" charset="-122"/>
                <a:ea typeface="楷体_GB2312" pitchFamily="1" charset="-122"/>
              </a:rPr>
              <a:t>．熟练掌握线性规划的单纯形法</a:t>
            </a:r>
            <a:r>
              <a:rPr lang="zh-CN" altLang="en-US" sz="1400" dirty="0">
                <a:solidFill>
                  <a:srgbClr val="366B7E"/>
                </a:solidFill>
                <a:latin typeface="楷体_GB2312" pitchFamily="1" charset="-122"/>
                <a:ea typeface="楷体_GB2312" pitchFamily="1" charset="-122"/>
              </a:rPr>
              <a:t>的</a:t>
            </a:r>
            <a:r>
              <a:rPr lang="zh-CN" altLang="en-US" sz="1400" dirty="0" smtClean="0">
                <a:solidFill>
                  <a:srgbClr val="366B7E"/>
                </a:solidFill>
                <a:latin typeface="楷体_GB2312" pitchFamily="1" charset="-122"/>
                <a:ea typeface="楷体_GB2312" pitchFamily="1" charset="-122"/>
              </a:rPr>
              <a:t>基本原理；</a:t>
            </a:r>
            <a:endParaRPr lang="en-US" altLang="zh-CN" sz="1400" dirty="0" smtClean="0">
              <a:solidFill>
                <a:srgbClr val="366B7E"/>
              </a:solidFill>
              <a:latin typeface="楷体_GB2312" pitchFamily="1" charset="-122"/>
              <a:ea typeface="楷体_GB2312" pitchFamily="1" charset="-122"/>
            </a:endParaRPr>
          </a:p>
          <a:p>
            <a:pPr>
              <a:spcBef>
                <a:spcPct val="0"/>
              </a:spcBef>
              <a:buFontTx/>
              <a:buNone/>
            </a:pPr>
            <a:r>
              <a:rPr lang="en-US" altLang="zh-CN" sz="1400" dirty="0" smtClean="0">
                <a:solidFill>
                  <a:srgbClr val="366B7E"/>
                </a:solidFill>
                <a:latin typeface="楷体_GB2312" pitchFamily="1" charset="-122"/>
                <a:ea typeface="楷体_GB2312" pitchFamily="1" charset="-122"/>
              </a:rPr>
              <a:t>4.</a:t>
            </a:r>
            <a:r>
              <a:rPr lang="zh-CN" altLang="en-US" sz="1400" dirty="0" smtClean="0">
                <a:solidFill>
                  <a:srgbClr val="366B7E"/>
                </a:solidFill>
                <a:latin typeface="楷体_GB2312" pitchFamily="1" charset="-122"/>
                <a:ea typeface="楷体_GB2312" pitchFamily="1" charset="-122"/>
              </a:rPr>
              <a:t>熟练掌握运用单纯形表计算线性规划问题的步骤与解法；</a:t>
            </a:r>
            <a:endParaRPr lang="en-US" altLang="zh-CN" sz="1400" dirty="0" smtClean="0">
              <a:solidFill>
                <a:srgbClr val="366B7E"/>
              </a:solidFill>
              <a:latin typeface="楷体_GB2312" pitchFamily="1" charset="-122"/>
              <a:ea typeface="楷体_GB2312" pitchFamily="1" charset="-122"/>
            </a:endParaRPr>
          </a:p>
          <a:p>
            <a:pPr>
              <a:spcBef>
                <a:spcPct val="0"/>
              </a:spcBef>
              <a:buFontTx/>
              <a:buNone/>
            </a:pPr>
            <a:endParaRPr lang="zh-CN" altLang="en-US" sz="1400" dirty="0">
              <a:solidFill>
                <a:srgbClr val="366B7E"/>
              </a:solidFill>
              <a:latin typeface="楷体_GB2312" pitchFamily="1" charset="-122"/>
              <a:ea typeface="楷体_GB2312" pitchFamily="1" charset="-122"/>
            </a:endParaRPr>
          </a:p>
          <a:p>
            <a:pPr>
              <a:spcBef>
                <a:spcPct val="0"/>
              </a:spcBef>
              <a:buFontTx/>
              <a:buNone/>
            </a:pPr>
            <a:r>
              <a:rPr lang="zh-CN" altLang="en-US" sz="1400" dirty="0">
                <a:solidFill>
                  <a:srgbClr val="366B7E"/>
                </a:solidFill>
                <a:latin typeface="楷体_GB2312" pitchFamily="1" charset="-122"/>
                <a:ea typeface="楷体_GB2312" pitchFamily="1" charset="-122"/>
              </a:rPr>
              <a:t>5．掌握人工变量法和两阶段</a:t>
            </a:r>
            <a:r>
              <a:rPr lang="zh-CN" altLang="en-US" sz="1400" dirty="0" smtClean="0">
                <a:solidFill>
                  <a:srgbClr val="366B7E"/>
                </a:solidFill>
                <a:latin typeface="楷体_GB2312" pitchFamily="1" charset="-122"/>
                <a:ea typeface="楷体_GB2312" pitchFamily="1" charset="-122"/>
              </a:rPr>
              <a:t>法求解线性规划问题。</a:t>
            </a:r>
            <a:endParaRPr lang="zh-CN" altLang="en-US" sz="1400" dirty="0">
              <a:solidFill>
                <a:srgbClr val="366B7E"/>
              </a:solidFill>
              <a:latin typeface="楷体_GB2312" pitchFamily="1" charset="-122"/>
              <a:ea typeface="楷体_GB2312" pitchFamily="1" charset="-122"/>
            </a:endParaRPr>
          </a:p>
        </p:txBody>
      </p:sp>
    </p:spTree>
  </p:cSld>
  <p:clrMapOvr>
    <a:masterClrMapping/>
  </p:clrMapOvr>
  <p:transition advClick="0">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grpId="0" nodeType="clickEffect">
                                  <p:stCondLst>
                                    <p:cond delay="0"/>
                                  </p:stCondLst>
                                  <p:childTnLst>
                                    <p:set>
                                      <p:cBhvr>
                                        <p:cTn id="6" dur="1" fill="hold">
                                          <p:stCondLst>
                                            <p:cond delay="0"/>
                                          </p:stCondLst>
                                        </p:cTn>
                                        <p:tgtEl>
                                          <p:spTgt spid="3078"/>
                                        </p:tgtEl>
                                        <p:attrNameLst>
                                          <p:attrName>style.visibility</p:attrName>
                                        </p:attrNameLst>
                                      </p:cBhvr>
                                      <p:to>
                                        <p:strVal val="visible"/>
                                      </p:to>
                                    </p:set>
                                    <p:anim calcmode="lin" valueType="num">
                                      <p:cBhvr additive="base">
                                        <p:cTn id="7" dur="2000" fill="hold"/>
                                        <p:tgtEl>
                                          <p:spTgt spid="3078"/>
                                        </p:tgtEl>
                                        <p:attrNameLst>
                                          <p:attrName>ppt_x</p:attrName>
                                        </p:attrNameLst>
                                      </p:cBhvr>
                                      <p:tavLst>
                                        <p:tav tm="0">
                                          <p:val>
                                            <p:strVal val="1+#ppt_w/2"/>
                                          </p:val>
                                        </p:tav>
                                        <p:tav tm="100000">
                                          <p:val>
                                            <p:strVal val="#ppt_x"/>
                                          </p:val>
                                        </p:tav>
                                      </p:tavLst>
                                    </p:anim>
                                    <p:anim calcmode="lin" valueType="num">
                                      <p:cBhvr additive="base">
                                        <p:cTn id="8" dur="2000" fill="hold"/>
                                        <p:tgtEl>
                                          <p:spTgt spid="307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6" presetClass="emph" presetSubtype="0" fill="hold" nodeType="clickEffect">
                                  <p:stCondLst>
                                    <p:cond delay="0"/>
                                  </p:stCondLst>
                                  <p:childTnLst>
                                    <p:animScale>
                                      <p:cBhvr>
                                        <p:cTn id="12" dur="2000" fill="hold"/>
                                        <p:tgtEl>
                                          <p:spTgt spid="3077">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8"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defRPr/>
            </a:pPr>
            <a:r>
              <a:rPr lang="en-US" altLang="zh-CN" noProof="1">
                <a:latin typeface="+mj-ea"/>
                <a:sym typeface="+mn-ea"/>
              </a:rPr>
              <a:t>2.1 </a:t>
            </a:r>
            <a:r>
              <a:rPr lang="zh-CN" altLang="en-US" noProof="1">
                <a:latin typeface="+mj-ea"/>
                <a:sym typeface="+mn-ea"/>
              </a:rPr>
              <a:t>线性规划的数学模型</a:t>
            </a:r>
            <a:endParaRPr lang="zh-CN" altLang="en-US" dirty="0">
              <a:latin typeface="+mj-ea"/>
            </a:endParaRPr>
          </a:p>
        </p:txBody>
      </p:sp>
      <p:sp>
        <p:nvSpPr>
          <p:cNvPr id="12294" name="内容占位符 1"/>
          <p:cNvSpPr>
            <a:spLocks noGrp="1"/>
          </p:cNvSpPr>
          <p:nvPr>
            <p:ph idx="1"/>
          </p:nvPr>
        </p:nvSpPr>
        <p:spPr>
          <a:xfrm>
            <a:off x="661987" y="1334812"/>
            <a:ext cx="7941469" cy="5109883"/>
          </a:xfrm>
        </p:spPr>
        <p:txBody>
          <a:bodyPr/>
          <a:lstStyle/>
          <a:p>
            <a:r>
              <a:rPr lang="en-US" altLang="zh-CN" noProof="1" smtClean="0">
                <a:sym typeface="+mn-ea"/>
              </a:rPr>
              <a:t>线性规划</a:t>
            </a:r>
            <a:r>
              <a:rPr lang="zh-CN" altLang="en-US" noProof="1">
                <a:sym typeface="+mn-ea"/>
              </a:rPr>
              <a:t>模型的一般</a:t>
            </a:r>
            <a:r>
              <a:rPr lang="zh-CN" altLang="en-US" noProof="1" smtClean="0">
                <a:sym typeface="+mn-ea"/>
              </a:rPr>
              <a:t>形式</a:t>
            </a:r>
            <a:endParaRPr lang="en-US" altLang="zh-CN" noProof="1" smtClean="0">
              <a:sym typeface="+mn-ea"/>
            </a:endParaRPr>
          </a:p>
          <a:p>
            <a:endParaRPr lang="en-US" altLang="zh-CN" noProof="1">
              <a:sym typeface="+mn-ea"/>
            </a:endParaRPr>
          </a:p>
          <a:p>
            <a:endParaRPr lang="en-US" altLang="zh-CN" noProof="1" smtClean="0">
              <a:sym typeface="+mn-ea"/>
            </a:endParaRPr>
          </a:p>
          <a:p>
            <a:endParaRPr lang="en-US" altLang="zh-CN" noProof="1">
              <a:sym typeface="+mn-ea"/>
            </a:endParaRPr>
          </a:p>
          <a:p>
            <a:endParaRPr lang="en-US" altLang="zh-CN" noProof="1" smtClean="0">
              <a:sym typeface="+mn-ea"/>
            </a:endParaRPr>
          </a:p>
          <a:p>
            <a:r>
              <a:rPr lang="en-US" altLang="zh-CN" noProof="1" smtClean="0">
                <a:sym typeface="+mn-ea"/>
              </a:rPr>
              <a:t>线性规划</a:t>
            </a:r>
            <a:r>
              <a:rPr lang="zh-CN" altLang="en-US" noProof="1" smtClean="0">
                <a:sym typeface="+mn-ea"/>
              </a:rPr>
              <a:t>模型的矩阵形式</a:t>
            </a:r>
            <a:endParaRPr lang="en-US" altLang="zh-CN" noProof="1">
              <a:sym typeface="+mn-ea"/>
            </a:endParaRPr>
          </a:p>
        </p:txBody>
      </p:sp>
      <p:pic>
        <p:nvPicPr>
          <p:cNvPr id="2" name="图片 1"/>
          <p:cNvPicPr>
            <a:picLocks noChangeAspect="1"/>
          </p:cNvPicPr>
          <p:nvPr/>
        </p:nvPicPr>
        <p:blipFill rotWithShape="1">
          <a:blip r:embed="rId2"/>
          <a:srcRect l="9830"/>
          <a:stretch/>
        </p:blipFill>
        <p:spPr>
          <a:xfrm>
            <a:off x="1299882" y="1870423"/>
            <a:ext cx="4522671" cy="1577050"/>
          </a:xfrm>
          <a:prstGeom prst="rect">
            <a:avLst/>
          </a:prstGeom>
        </p:spPr>
      </p:pic>
      <p:pic>
        <p:nvPicPr>
          <p:cNvPr id="3" name="图片 2"/>
          <p:cNvPicPr>
            <a:picLocks noChangeAspect="1"/>
          </p:cNvPicPr>
          <p:nvPr/>
        </p:nvPicPr>
        <p:blipFill rotWithShape="1">
          <a:blip r:embed="rId3"/>
          <a:srcRect l="17630" r="14111"/>
          <a:stretch/>
        </p:blipFill>
        <p:spPr>
          <a:xfrm>
            <a:off x="1299882" y="4167553"/>
            <a:ext cx="2429436" cy="1248088"/>
          </a:xfrm>
          <a:prstGeom prst="rect">
            <a:avLst/>
          </a:prstGeom>
        </p:spPr>
      </p:pic>
      <p:pic>
        <p:nvPicPr>
          <p:cNvPr id="4" name="图片 3"/>
          <p:cNvPicPr>
            <a:picLocks noChangeAspect="1"/>
          </p:cNvPicPr>
          <p:nvPr/>
        </p:nvPicPr>
        <p:blipFill rotWithShape="1">
          <a:blip r:embed="rId4"/>
          <a:srcRect l="18437" r="14804"/>
          <a:stretch/>
        </p:blipFill>
        <p:spPr>
          <a:xfrm>
            <a:off x="1368135" y="5713253"/>
            <a:ext cx="1974973" cy="836220"/>
          </a:xfrm>
          <a:prstGeom prst="rect">
            <a:avLst/>
          </a:prstGeom>
        </p:spPr>
      </p:pic>
      <p:sp>
        <p:nvSpPr>
          <p:cNvPr id="5" name="矩形 4"/>
          <p:cNvSpPr/>
          <p:nvPr/>
        </p:nvSpPr>
        <p:spPr>
          <a:xfrm>
            <a:off x="1005904" y="5243582"/>
            <a:ext cx="492443" cy="461665"/>
          </a:xfrm>
          <a:prstGeom prst="rect">
            <a:avLst/>
          </a:prstGeom>
        </p:spPr>
        <p:txBody>
          <a:bodyPr wrap="none">
            <a:spAutoFit/>
          </a:bodyPr>
          <a:lstStyle/>
          <a:p>
            <a:pPr marL="0" indent="0" eaLnBrk="1" hangingPunct="1">
              <a:buFont typeface="Wingdings" panose="05000000000000000000" pitchFamily="2" charset="2"/>
              <a:buNone/>
            </a:pPr>
            <a:r>
              <a:rPr lang="zh-CN" altLang="en-US" dirty="0"/>
              <a:t>或</a:t>
            </a:r>
          </a:p>
        </p:txBody>
      </p:sp>
      <p:sp>
        <p:nvSpPr>
          <p:cNvPr id="10" name="线形标注 2 9"/>
          <p:cNvSpPr/>
          <p:nvPr/>
        </p:nvSpPr>
        <p:spPr bwMode="auto">
          <a:xfrm>
            <a:off x="3927158" y="4270249"/>
            <a:ext cx="2634335" cy="444307"/>
          </a:xfrm>
          <a:prstGeom prst="borderCallout2">
            <a:avLst>
              <a:gd name="adj1" fmla="val 51033"/>
              <a:gd name="adj2" fmla="val -506"/>
              <a:gd name="adj3" fmla="val 60309"/>
              <a:gd name="adj4" fmla="val -15638"/>
              <a:gd name="adj5" fmla="val 43898"/>
              <a:gd name="adj6" fmla="val -25569"/>
            </a:avLst>
          </a:prstGeom>
          <a:solidFill>
            <a:schemeClr val="bg1">
              <a:lumMod val="95000"/>
            </a:schemeClr>
          </a:solidFill>
          <a:ln w="9525" cap="flat" cmpd="sng" algn="ctr">
            <a:solidFill>
              <a:srgbClr val="366B7E"/>
            </a:solidFill>
            <a:prstDash val="solid"/>
            <a:round/>
            <a:headEnd type="none" w="med" len="med"/>
            <a:tailEnd type="none" w="med" len="med"/>
          </a:ln>
        </p:spPr>
        <p:txBody>
          <a:bodyPr vert="horz" wrap="none" lIns="91440" tIns="45720" rIns="91440" bIns="45720" numCol="1" rtlCol="0" anchor="ctr" anchorCtr="0" compatLnSpc="1"/>
          <a:lstStyle/>
          <a:p>
            <a:r>
              <a:rPr lang="zh-CN" altLang="en-US" sz="1600" dirty="0" smtClean="0"/>
              <a:t>目标函数系数</a:t>
            </a:r>
            <a:r>
              <a:rPr lang="en-US" altLang="zh-CN" sz="1600" i="1" dirty="0" smtClean="0"/>
              <a:t>C</a:t>
            </a:r>
            <a:r>
              <a:rPr lang="zh-CN" altLang="en-US" sz="1600" i="1" dirty="0"/>
              <a:t>=</a:t>
            </a:r>
            <a:r>
              <a:rPr lang="zh-CN" altLang="en-US" sz="1600" dirty="0"/>
              <a:t>(</a:t>
            </a:r>
            <a:r>
              <a:rPr lang="en-US" altLang="zh-CN" sz="1600" i="1" dirty="0"/>
              <a:t>c</a:t>
            </a:r>
            <a:r>
              <a:rPr lang="zh-CN" altLang="en-US" sz="1600" i="1" baseline="-25000" dirty="0"/>
              <a:t>1</a:t>
            </a:r>
            <a:r>
              <a:rPr lang="zh-CN" altLang="en-US" sz="1600" i="1" dirty="0"/>
              <a:t>,</a:t>
            </a:r>
            <a:r>
              <a:rPr lang="en-US" altLang="zh-CN" sz="1600" i="1" dirty="0"/>
              <a:t> c</a:t>
            </a:r>
            <a:r>
              <a:rPr lang="en-US" altLang="zh-CN" sz="1600" i="1" baseline="-25000" dirty="0"/>
              <a:t>2</a:t>
            </a:r>
            <a:r>
              <a:rPr lang="zh-CN" altLang="en-US" sz="1600" i="1" dirty="0"/>
              <a:t>,…</a:t>
            </a:r>
            <a:r>
              <a:rPr lang="en-US" altLang="zh-CN" sz="1600" i="1" dirty="0"/>
              <a:t>c</a:t>
            </a:r>
            <a:r>
              <a:rPr lang="zh-CN" altLang="en-US" sz="1600" i="1" baseline="-25000" dirty="0"/>
              <a:t>n</a:t>
            </a:r>
            <a:r>
              <a:rPr lang="zh-CN" altLang="en-US" sz="1600" dirty="0"/>
              <a:t>) </a:t>
            </a:r>
            <a:endParaRPr lang="en-US" altLang="zh-CN" sz="1600" dirty="0"/>
          </a:p>
          <a:p>
            <a:r>
              <a:rPr lang="zh-CN" altLang="en-US" sz="1600" dirty="0" smtClean="0"/>
              <a:t>决策变量</a:t>
            </a:r>
            <a:r>
              <a:rPr lang="zh-CN" altLang="en-US" sz="1600" i="1" dirty="0" smtClean="0"/>
              <a:t>X</a:t>
            </a:r>
            <a:r>
              <a:rPr lang="zh-CN" altLang="en-US" sz="1600" i="1" dirty="0"/>
              <a:t>=</a:t>
            </a:r>
            <a:r>
              <a:rPr lang="zh-CN" altLang="en-US" sz="1600" dirty="0"/>
              <a:t>(</a:t>
            </a:r>
            <a:r>
              <a:rPr lang="en-US" altLang="zh-CN" sz="1600" i="1" dirty="0"/>
              <a:t>x</a:t>
            </a:r>
            <a:r>
              <a:rPr lang="zh-CN" altLang="en-US" sz="1600" i="1" baseline="-25000" dirty="0"/>
              <a:t>1</a:t>
            </a:r>
            <a:r>
              <a:rPr lang="zh-CN" altLang="en-US" sz="1600" i="1" dirty="0"/>
              <a:t>,</a:t>
            </a:r>
            <a:r>
              <a:rPr lang="en-US" altLang="zh-CN" sz="1600" i="1" dirty="0"/>
              <a:t> x</a:t>
            </a:r>
            <a:r>
              <a:rPr lang="en-US" altLang="zh-CN" sz="1600" i="1" baseline="-25000" dirty="0"/>
              <a:t>2</a:t>
            </a:r>
            <a:r>
              <a:rPr lang="zh-CN" altLang="en-US" sz="1600" i="1" dirty="0"/>
              <a:t>,…x</a:t>
            </a:r>
            <a:r>
              <a:rPr lang="zh-CN" altLang="en-US" sz="1600" i="1" baseline="-25000" dirty="0"/>
              <a:t>n</a:t>
            </a:r>
            <a:r>
              <a:rPr lang="zh-CN" altLang="en-US" sz="1600" dirty="0"/>
              <a:t>)</a:t>
            </a:r>
            <a:r>
              <a:rPr lang="zh-CN" altLang="en-US" sz="1600" dirty="0" smtClean="0"/>
              <a:t>ˊ</a:t>
            </a:r>
            <a:endParaRPr lang="zh-CN" altLang="en-US" sz="1600" dirty="0"/>
          </a:p>
        </p:txBody>
      </p:sp>
      <p:sp>
        <p:nvSpPr>
          <p:cNvPr id="15" name="线形标注 2 14"/>
          <p:cNvSpPr/>
          <p:nvPr/>
        </p:nvSpPr>
        <p:spPr bwMode="auto">
          <a:xfrm>
            <a:off x="3927158" y="4880038"/>
            <a:ext cx="5140642" cy="444307"/>
          </a:xfrm>
          <a:prstGeom prst="borderCallout2">
            <a:avLst>
              <a:gd name="adj1" fmla="val 51033"/>
              <a:gd name="adj2" fmla="val 36"/>
              <a:gd name="adj3" fmla="val 56273"/>
              <a:gd name="adj4" fmla="val -6192"/>
              <a:gd name="adj5" fmla="val 35828"/>
              <a:gd name="adj6" fmla="val -11789"/>
            </a:avLst>
          </a:prstGeom>
          <a:solidFill>
            <a:schemeClr val="bg1">
              <a:lumMod val="95000"/>
            </a:schemeClr>
          </a:solidFill>
          <a:ln w="9525" cap="flat" cmpd="sng" algn="ctr">
            <a:solidFill>
              <a:srgbClr val="366B7E"/>
            </a:solidFill>
            <a:prstDash val="solid"/>
            <a:round/>
            <a:headEnd type="none" w="med" len="med"/>
            <a:tailEnd type="none" w="med" len="med"/>
          </a:ln>
        </p:spPr>
        <p:txBody>
          <a:bodyPr vert="horz" wrap="none" lIns="91440" tIns="45720" rIns="91440" bIns="45720" numCol="1" rtlCol="0" anchor="ctr" anchorCtr="0" compatLnSpc="1"/>
          <a:lstStyle/>
          <a:p>
            <a:r>
              <a:rPr lang="zh-CN" altLang="en-US" sz="1600" i="1" dirty="0" smtClean="0"/>
              <a:t>P</a:t>
            </a:r>
            <a:r>
              <a:rPr lang="zh-CN" altLang="en-US" sz="1600" dirty="0"/>
              <a:t>为</a:t>
            </a:r>
            <a:r>
              <a:rPr lang="zh-CN" altLang="en-US" sz="1600" dirty="0" smtClean="0"/>
              <a:t>系数矩阵中决策变量</a:t>
            </a:r>
            <a:r>
              <a:rPr lang="zh-CN" altLang="en-US" sz="1600" i="1" dirty="0" smtClean="0"/>
              <a:t>x</a:t>
            </a:r>
            <a:r>
              <a:rPr lang="en-US" altLang="zh-CN" sz="1600" i="1" baseline="-25000" dirty="0" smtClean="0"/>
              <a:t>j</a:t>
            </a:r>
            <a:r>
              <a:rPr lang="zh-CN" altLang="en-US" sz="1600" dirty="0" smtClean="0"/>
              <a:t>的“列向量”</a:t>
            </a:r>
            <a:r>
              <a:rPr lang="en-US" altLang="zh-CN" sz="1600" i="1" dirty="0" err="1" smtClean="0"/>
              <a:t>P</a:t>
            </a:r>
            <a:r>
              <a:rPr lang="en-US" altLang="zh-CN" sz="1600" i="1" baseline="-25000" dirty="0" err="1" smtClean="0"/>
              <a:t>j</a:t>
            </a:r>
            <a:r>
              <a:rPr lang="zh-CN" altLang="en-US" sz="1600" i="1" dirty="0" smtClean="0"/>
              <a:t>=</a:t>
            </a:r>
            <a:r>
              <a:rPr lang="zh-CN" altLang="en-US" sz="1600" dirty="0" smtClean="0"/>
              <a:t>(</a:t>
            </a:r>
            <a:r>
              <a:rPr lang="en-US" altLang="zh-CN" sz="1600" i="1" dirty="0" smtClean="0"/>
              <a:t>a</a:t>
            </a:r>
            <a:r>
              <a:rPr lang="zh-CN" altLang="en-US" sz="1600" i="1" baseline="-25000" dirty="0" smtClean="0"/>
              <a:t>1</a:t>
            </a:r>
            <a:r>
              <a:rPr lang="en-US" altLang="zh-CN" sz="1600" i="1" baseline="-25000" dirty="0" smtClean="0"/>
              <a:t>j</a:t>
            </a:r>
            <a:r>
              <a:rPr lang="zh-CN" altLang="en-US" sz="1600" i="1" dirty="0" smtClean="0"/>
              <a:t>,</a:t>
            </a:r>
            <a:r>
              <a:rPr lang="en-US" altLang="zh-CN" sz="1600" i="1" dirty="0" smtClean="0"/>
              <a:t> a</a:t>
            </a:r>
            <a:r>
              <a:rPr lang="en-US" altLang="zh-CN" sz="1600" i="1" baseline="-25000" dirty="0" smtClean="0"/>
              <a:t>2j</a:t>
            </a:r>
            <a:r>
              <a:rPr lang="zh-CN" altLang="en-US" sz="1600" i="1" dirty="0" smtClean="0"/>
              <a:t>,…</a:t>
            </a:r>
            <a:r>
              <a:rPr lang="en-US" altLang="zh-CN" sz="1600" i="1" dirty="0" err="1" smtClean="0"/>
              <a:t>a</a:t>
            </a:r>
            <a:r>
              <a:rPr lang="en-US" altLang="zh-CN" sz="1600" i="1" baseline="-25000" dirty="0" err="1" smtClean="0"/>
              <a:t>mj</a:t>
            </a:r>
            <a:r>
              <a:rPr lang="zh-CN" altLang="en-US" sz="1600" dirty="0" smtClean="0"/>
              <a:t>) ˊ</a:t>
            </a:r>
            <a:endParaRPr lang="en-US" altLang="zh-CN" sz="1600" dirty="0" smtClean="0"/>
          </a:p>
          <a:p>
            <a:r>
              <a:rPr lang="en-US" altLang="zh-CN" sz="1600" i="1" dirty="0" smtClean="0"/>
              <a:t>B</a:t>
            </a:r>
            <a:r>
              <a:rPr lang="zh-CN" altLang="en-US" sz="1600" dirty="0" smtClean="0"/>
              <a:t>为约束条件右边项</a:t>
            </a:r>
            <a:r>
              <a:rPr lang="en-US" altLang="zh-CN" sz="1600" i="1" dirty="0" smtClean="0"/>
              <a:t>b</a:t>
            </a:r>
            <a:r>
              <a:rPr lang="zh-CN" altLang="en-US" sz="1600" i="1" dirty="0" smtClean="0"/>
              <a:t>=</a:t>
            </a:r>
            <a:r>
              <a:rPr lang="zh-CN" altLang="en-US" sz="1600" dirty="0" smtClean="0"/>
              <a:t>(</a:t>
            </a:r>
            <a:r>
              <a:rPr lang="en-US" altLang="zh-CN" sz="1600" dirty="0" smtClean="0"/>
              <a:t>b</a:t>
            </a:r>
            <a:r>
              <a:rPr lang="zh-CN" altLang="en-US" sz="1600" i="1" baseline="-25000" dirty="0" smtClean="0"/>
              <a:t>1</a:t>
            </a:r>
            <a:r>
              <a:rPr lang="zh-CN" altLang="en-US" sz="1600" i="1" dirty="0" smtClean="0"/>
              <a:t>,</a:t>
            </a:r>
            <a:r>
              <a:rPr lang="en-US" altLang="zh-CN" sz="1600" i="1" dirty="0" smtClean="0"/>
              <a:t> b</a:t>
            </a:r>
            <a:r>
              <a:rPr lang="en-US" altLang="zh-CN" sz="1600" i="1" baseline="-25000" dirty="0" smtClean="0"/>
              <a:t>2</a:t>
            </a:r>
            <a:r>
              <a:rPr lang="zh-CN" altLang="en-US" sz="1600" i="1" dirty="0"/>
              <a:t>,</a:t>
            </a:r>
            <a:r>
              <a:rPr lang="zh-CN" altLang="en-US" sz="1600" i="1" dirty="0" smtClean="0"/>
              <a:t>…</a:t>
            </a:r>
            <a:r>
              <a:rPr lang="en-US" altLang="zh-CN" sz="1600" i="1" dirty="0" err="1" smtClean="0"/>
              <a:t>b</a:t>
            </a:r>
            <a:r>
              <a:rPr lang="en-US" altLang="zh-CN" sz="1600" i="1" baseline="-25000" dirty="0" err="1" smtClean="0"/>
              <a:t>m</a:t>
            </a:r>
            <a:r>
              <a:rPr lang="zh-CN" altLang="en-US" sz="1600" dirty="0" smtClean="0"/>
              <a:t>)ˊ</a:t>
            </a:r>
            <a:endParaRPr lang="zh-CN" altLang="en-US" sz="1600" dirty="0"/>
          </a:p>
        </p:txBody>
      </p:sp>
      <mc:AlternateContent xmlns:mc="http://schemas.openxmlformats.org/markup-compatibility/2006" xmlns:a14="http://schemas.microsoft.com/office/drawing/2010/main">
        <mc:Choice Requires="a14">
          <p:sp>
            <p:nvSpPr>
              <p:cNvPr id="17" name="线形标注 2 16"/>
              <p:cNvSpPr/>
              <p:nvPr/>
            </p:nvSpPr>
            <p:spPr bwMode="auto">
              <a:xfrm>
                <a:off x="3927158" y="5415641"/>
                <a:ext cx="4531042" cy="1137559"/>
              </a:xfrm>
              <a:prstGeom prst="borderCallout2">
                <a:avLst>
                  <a:gd name="adj1" fmla="val 51033"/>
                  <a:gd name="adj2" fmla="val 36"/>
                  <a:gd name="adj3" fmla="val 56273"/>
                  <a:gd name="adj4" fmla="val -6192"/>
                  <a:gd name="adj5" fmla="val 45473"/>
                  <a:gd name="adj6" fmla="val -13674"/>
                </a:avLst>
              </a:prstGeom>
              <a:solidFill>
                <a:schemeClr val="bg1">
                  <a:lumMod val="95000"/>
                </a:schemeClr>
              </a:solidFill>
              <a:ln w="9525" cap="flat" cmpd="sng" algn="ctr">
                <a:solidFill>
                  <a:srgbClr val="366B7E"/>
                </a:solidFill>
                <a:prstDash val="solid"/>
                <a:round/>
                <a:headEnd type="none" w="med" len="med"/>
                <a:tailEnd type="none" w="med" len="med"/>
              </a:ln>
            </p:spPr>
            <p:txBody>
              <a:bodyPr vert="horz" wrap="none" lIns="91440" tIns="45720" rIns="91440" bIns="45720" numCol="1" rtlCol="0" anchor="ctr" anchorCtr="0" compatLnSpc="1"/>
              <a:lstStyle/>
              <a:p>
                <a:r>
                  <a:rPr lang="en-US" altLang="zh-CN" sz="1600" i="1" dirty="0" smtClean="0"/>
                  <a:t>A</a:t>
                </a:r>
                <a:r>
                  <a:rPr lang="zh-CN" altLang="en-US" sz="1600" dirty="0" smtClean="0"/>
                  <a:t>为约束条件的“系数矩阵”或“技术系数矩阵” </a:t>
                </a:r>
                <a:endParaRPr lang="en-US" altLang="zh-CN" sz="1600" dirty="0" smtClean="0"/>
              </a:p>
              <a:p>
                <a:r>
                  <a:rPr lang="en-US" altLang="zh-CN" sz="1600" i="1" dirty="0" smtClean="0"/>
                  <a:t>A</a:t>
                </a:r>
                <a:r>
                  <a:rPr lang="zh-CN" altLang="en-US" sz="1600" i="1" dirty="0" smtClean="0"/>
                  <a:t>=</a:t>
                </a:r>
                <a14:m>
                  <m:oMath xmlns:m="http://schemas.openxmlformats.org/officeDocument/2006/math">
                    <m:d>
                      <m:dPr>
                        <m:begChr m:val="["/>
                        <m:endChr m:val="]"/>
                        <m:ctrlPr>
                          <a:rPr lang="en-US" altLang="zh-CN" sz="1600" i="1" smtClean="0">
                            <a:latin typeface="Cambria Math" panose="02040503050406030204" pitchFamily="18" charset="0"/>
                          </a:rPr>
                        </m:ctrlPr>
                      </m:dPr>
                      <m:e>
                        <m:eqArr>
                          <m:eqArrPr>
                            <m:ctrlPr>
                              <a:rPr lang="en-US" altLang="zh-CN" sz="1600" i="1" dirty="0" smtClean="0">
                                <a:latin typeface="Cambria Math" panose="02040503050406030204" pitchFamily="18" charset="0"/>
                              </a:rPr>
                            </m:ctrlPr>
                          </m:eqArrPr>
                          <m:e>
                            <m:r>
                              <m:rPr>
                                <m:nor/>
                              </m:rPr>
                              <a:rPr lang="en-US" altLang="zh-CN" sz="1600" i="1" dirty="0" smtClean="0"/>
                              <m:t>a</m:t>
                            </m:r>
                            <m:r>
                              <m:rPr>
                                <m:nor/>
                              </m:rPr>
                              <a:rPr lang="zh-CN" altLang="en-US" sz="1600" i="1" baseline="-25000" dirty="0" smtClean="0"/>
                              <m:t>1</m:t>
                            </m:r>
                            <m:r>
                              <m:rPr>
                                <m:nor/>
                              </m:rPr>
                              <a:rPr lang="en-US" altLang="zh-CN" sz="1600" b="0" i="1" baseline="-25000" dirty="0" smtClean="0"/>
                              <m:t>1</m:t>
                            </m:r>
                            <m:r>
                              <m:rPr>
                                <m:nor/>
                              </m:rPr>
                              <a:rPr lang="en-US" altLang="zh-CN" sz="1600" b="0" i="1" dirty="0" smtClean="0"/>
                              <m:t> </m:t>
                            </m:r>
                            <m:r>
                              <m:rPr>
                                <m:nor/>
                              </m:rPr>
                              <a:rPr lang="en-US" altLang="zh-CN" sz="1600" i="1" dirty="0" smtClean="0"/>
                              <m:t>a</m:t>
                            </m:r>
                            <m:r>
                              <m:rPr>
                                <m:nor/>
                              </m:rPr>
                              <a:rPr lang="en-US" altLang="zh-CN" sz="1600" b="0" i="1" baseline="-25000" dirty="0" smtClean="0"/>
                              <m:t>12</m:t>
                            </m:r>
                            <m:r>
                              <m:rPr>
                                <m:nor/>
                              </m:rPr>
                              <a:rPr lang="en-US" altLang="zh-CN" sz="1600" b="0" i="1" dirty="0" smtClean="0"/>
                              <m:t> </m:t>
                            </m:r>
                            <m:r>
                              <m:rPr>
                                <m:nor/>
                              </m:rPr>
                              <a:rPr lang="zh-CN" altLang="en-US" sz="1600" i="1" dirty="0" smtClean="0"/>
                              <m:t>…</m:t>
                            </m:r>
                            <m:r>
                              <m:rPr>
                                <m:nor/>
                              </m:rPr>
                              <a:rPr lang="en-US" altLang="zh-CN" sz="1600" b="0" i="1" dirty="0" smtClean="0"/>
                              <m:t> </m:t>
                            </m:r>
                            <m:r>
                              <m:rPr>
                                <m:nor/>
                              </m:rPr>
                              <a:rPr lang="en-US" altLang="zh-CN" sz="1600" i="1" dirty="0" smtClean="0"/>
                              <m:t>a</m:t>
                            </m:r>
                            <m:r>
                              <m:rPr>
                                <m:nor/>
                              </m:rPr>
                              <a:rPr lang="en-US" altLang="zh-CN" sz="1600" b="0" i="1" baseline="-25000" dirty="0" smtClean="0"/>
                              <m:t>1</m:t>
                            </m:r>
                            <m:r>
                              <m:rPr>
                                <m:nor/>
                              </m:rPr>
                              <a:rPr lang="en-US" altLang="zh-CN" sz="1600" b="0" i="1" baseline="-25000" dirty="0" smtClean="0"/>
                              <m:t>n</m:t>
                            </m:r>
                          </m:e>
                          <m:e>
                            <m:r>
                              <m:rPr>
                                <m:nor/>
                              </m:rPr>
                              <a:rPr lang="en-US" altLang="zh-CN" sz="1600" i="1" dirty="0" smtClean="0"/>
                              <m:t>a</m:t>
                            </m:r>
                            <m:r>
                              <m:rPr>
                                <m:nor/>
                              </m:rPr>
                              <a:rPr lang="en-US" altLang="zh-CN" sz="1600" b="0" i="1" baseline="-25000" dirty="0" smtClean="0"/>
                              <m:t>21</m:t>
                            </m:r>
                            <m:r>
                              <m:rPr>
                                <m:nor/>
                              </m:rPr>
                              <a:rPr lang="en-US" altLang="zh-CN" sz="1600" b="0" i="1" dirty="0" smtClean="0"/>
                              <m:t> </m:t>
                            </m:r>
                            <m:r>
                              <m:rPr>
                                <m:nor/>
                              </m:rPr>
                              <a:rPr lang="en-US" altLang="zh-CN" sz="1600" i="1" dirty="0" smtClean="0"/>
                              <m:t>a</m:t>
                            </m:r>
                            <m:r>
                              <m:rPr>
                                <m:nor/>
                              </m:rPr>
                              <a:rPr lang="en-US" altLang="zh-CN" sz="1600" i="1" baseline="-25000" dirty="0" smtClean="0"/>
                              <m:t>2</m:t>
                            </m:r>
                            <m:r>
                              <m:rPr>
                                <m:nor/>
                              </m:rPr>
                              <a:rPr lang="en-US" altLang="zh-CN" sz="1600" b="0" i="1" baseline="-25000" dirty="0" smtClean="0"/>
                              <m:t>1</m:t>
                            </m:r>
                            <m:r>
                              <m:rPr>
                                <m:nor/>
                              </m:rPr>
                              <a:rPr lang="en-US" altLang="zh-CN" sz="1600" b="0" i="1" dirty="0" smtClean="0"/>
                              <m:t> </m:t>
                            </m:r>
                            <m:r>
                              <m:rPr>
                                <m:nor/>
                              </m:rPr>
                              <a:rPr lang="zh-CN" altLang="en-US" sz="1600" i="1" dirty="0" smtClean="0"/>
                              <m:t>…</m:t>
                            </m:r>
                            <m:r>
                              <m:rPr>
                                <m:nor/>
                              </m:rPr>
                              <a:rPr lang="en-US" altLang="zh-CN" sz="1600" b="0" i="1" dirty="0" smtClean="0"/>
                              <m:t> </m:t>
                            </m:r>
                            <m:r>
                              <m:rPr>
                                <m:nor/>
                              </m:rPr>
                              <a:rPr lang="en-US" altLang="zh-CN" sz="1600" i="1" dirty="0" smtClean="0"/>
                              <m:t>a</m:t>
                            </m:r>
                            <m:r>
                              <m:rPr>
                                <m:nor/>
                              </m:rPr>
                              <a:rPr lang="en-US" altLang="zh-CN" sz="1600" b="0" i="1" baseline="-25000" dirty="0" smtClean="0"/>
                              <m:t>2</m:t>
                            </m:r>
                            <m:r>
                              <m:rPr>
                                <m:nor/>
                              </m:rPr>
                              <a:rPr lang="en-US" altLang="zh-CN" sz="1600" b="0" i="1" baseline="-25000" dirty="0" smtClean="0"/>
                              <m:t>n</m:t>
                            </m:r>
                          </m:e>
                          <m:e>
                            <m:r>
                              <m:rPr>
                                <m:nor/>
                              </m:rPr>
                              <a:rPr lang="zh-CN" altLang="en-US" sz="1600" i="1" dirty="0" smtClean="0"/>
                              <m:t>…</m:t>
                            </m:r>
                            <m:r>
                              <m:rPr>
                                <m:nor/>
                              </m:rPr>
                              <a:rPr lang="en-US" altLang="zh-CN" sz="1600" b="0" i="1" dirty="0" smtClean="0"/>
                              <m:t>   </m:t>
                            </m:r>
                            <m:r>
                              <m:rPr>
                                <m:nor/>
                              </m:rPr>
                              <a:rPr lang="zh-CN" altLang="en-US" sz="1600" i="1" dirty="0" smtClean="0"/>
                              <m:t>…</m:t>
                            </m:r>
                            <m:r>
                              <m:rPr>
                                <m:nor/>
                              </m:rPr>
                              <a:rPr lang="en-US" altLang="zh-CN" sz="1600" b="0" i="1" dirty="0" smtClean="0"/>
                              <m:t> </m:t>
                            </m:r>
                            <m:r>
                              <m:rPr>
                                <m:nor/>
                              </m:rPr>
                              <a:rPr lang="zh-CN" altLang="en-US" sz="1600" i="1" dirty="0" smtClean="0"/>
                              <m:t>…</m:t>
                            </m:r>
                            <m:r>
                              <m:rPr>
                                <m:nor/>
                              </m:rPr>
                              <a:rPr lang="en-US" altLang="zh-CN" sz="1600" b="0" i="1" dirty="0" smtClean="0"/>
                              <m:t>  </m:t>
                            </m:r>
                            <m:r>
                              <m:rPr>
                                <m:nor/>
                              </m:rPr>
                              <a:rPr lang="zh-CN" altLang="en-US" sz="1600" i="1" dirty="0" smtClean="0"/>
                              <m:t>…</m:t>
                            </m:r>
                          </m:e>
                          <m:e>
                            <m:r>
                              <m:rPr>
                                <m:nor/>
                              </m:rPr>
                              <a:rPr lang="en-US" altLang="zh-CN" sz="1600" i="1" dirty="0" smtClean="0"/>
                              <m:t>a</m:t>
                            </m:r>
                            <m:r>
                              <m:rPr>
                                <m:nor/>
                              </m:rPr>
                              <a:rPr lang="en-US" altLang="zh-CN" sz="1600" b="0" i="1" baseline="-25000" dirty="0" smtClean="0"/>
                              <m:t>m</m:t>
                            </m:r>
                            <m:r>
                              <m:rPr>
                                <m:nor/>
                              </m:rPr>
                              <a:rPr lang="en-US" altLang="zh-CN" sz="1600" b="0" i="1" baseline="-25000" dirty="0" smtClean="0"/>
                              <m:t>1 </m:t>
                            </m:r>
                            <m:r>
                              <m:rPr>
                                <m:nor/>
                              </m:rPr>
                              <a:rPr lang="en-US" altLang="zh-CN" sz="1600" i="1" dirty="0" smtClean="0"/>
                              <m:t>a</m:t>
                            </m:r>
                            <m:r>
                              <m:rPr>
                                <m:nor/>
                              </m:rPr>
                              <a:rPr lang="en-US" altLang="zh-CN" sz="1600" b="0" i="1" baseline="-25000" dirty="0" smtClean="0"/>
                              <m:t>m</m:t>
                            </m:r>
                            <m:r>
                              <m:rPr>
                                <m:nor/>
                              </m:rPr>
                              <a:rPr lang="en-US" altLang="zh-CN" sz="1600" b="0" i="1" baseline="-25000" dirty="0" smtClean="0"/>
                              <m:t>2 </m:t>
                            </m:r>
                            <m:r>
                              <m:rPr>
                                <m:nor/>
                              </m:rPr>
                              <a:rPr lang="zh-CN" altLang="en-US" sz="1600" i="1" dirty="0" smtClean="0"/>
                              <m:t>…</m:t>
                            </m:r>
                            <m:r>
                              <m:rPr>
                                <m:nor/>
                              </m:rPr>
                              <a:rPr lang="en-US" altLang="zh-CN" sz="1600" b="0" i="1" dirty="0" smtClean="0"/>
                              <m:t> </m:t>
                            </m:r>
                            <m:r>
                              <m:rPr>
                                <m:nor/>
                              </m:rPr>
                              <a:rPr lang="en-US" altLang="zh-CN" sz="1600" i="1" dirty="0" smtClean="0"/>
                              <m:t>a</m:t>
                            </m:r>
                            <m:r>
                              <m:rPr>
                                <m:nor/>
                              </m:rPr>
                              <a:rPr lang="en-US" altLang="zh-CN" sz="1600" b="0" i="1" baseline="-25000" dirty="0" smtClean="0"/>
                              <m:t>mn</m:t>
                            </m:r>
                          </m:e>
                        </m:eqArr>
                      </m:e>
                    </m:d>
                  </m:oMath>
                </a14:m>
                <a:r>
                  <a:rPr lang="en-US" altLang="zh-CN" sz="1600" dirty="0" smtClean="0"/>
                  <a:t>=</a:t>
                </a:r>
                <a:r>
                  <a:rPr lang="en-US" altLang="zh-CN" sz="1600" i="1" dirty="0" smtClean="0"/>
                  <a:t> </a:t>
                </a:r>
                <a:r>
                  <a:rPr lang="en-US" altLang="zh-CN" sz="1600" dirty="0" smtClean="0"/>
                  <a:t>(</a:t>
                </a:r>
                <a:r>
                  <a:rPr lang="en-US" altLang="zh-CN" sz="1600" i="1" dirty="0" smtClean="0"/>
                  <a:t>p</a:t>
                </a:r>
                <a:r>
                  <a:rPr lang="zh-CN" altLang="en-US" sz="1600" i="1" baseline="-25000" dirty="0" smtClean="0"/>
                  <a:t>1</a:t>
                </a:r>
                <a:r>
                  <a:rPr lang="zh-CN" altLang="en-US" sz="1600" i="1" dirty="0" smtClean="0"/>
                  <a:t>,</a:t>
                </a:r>
                <a:r>
                  <a:rPr lang="en-US" altLang="zh-CN" sz="1600" i="1" dirty="0" smtClean="0"/>
                  <a:t> p</a:t>
                </a:r>
                <a:r>
                  <a:rPr lang="en-US" altLang="zh-CN" sz="1600" i="1" baseline="-25000" dirty="0" smtClean="0"/>
                  <a:t>2</a:t>
                </a:r>
                <a:r>
                  <a:rPr lang="zh-CN" altLang="en-US" sz="1600" i="1" dirty="0" smtClean="0"/>
                  <a:t>,…</a:t>
                </a:r>
                <a:r>
                  <a:rPr lang="en-US" altLang="zh-CN" sz="1600" i="1" dirty="0" err="1" smtClean="0"/>
                  <a:t>p</a:t>
                </a:r>
                <a:r>
                  <a:rPr lang="en-US" altLang="zh-CN" sz="1600" i="1" baseline="-25000" dirty="0" err="1" smtClean="0"/>
                  <a:t>n</a:t>
                </a:r>
                <a:r>
                  <a:rPr lang="en-US" altLang="zh-CN" sz="1600" dirty="0" smtClean="0"/>
                  <a:t>)</a:t>
                </a:r>
                <a:endParaRPr lang="zh-CN" altLang="en-US" sz="1600" dirty="0"/>
              </a:p>
            </p:txBody>
          </p:sp>
        </mc:Choice>
        <mc:Fallback xmlns="">
          <p:sp>
            <p:nvSpPr>
              <p:cNvPr id="17" name="线形标注 2 16"/>
              <p:cNvSpPr>
                <a:spLocks noRot="1" noChangeAspect="1" noMove="1" noResize="1" noEditPoints="1" noAdjustHandles="1" noChangeArrowheads="1" noChangeShapeType="1" noTextEdit="1"/>
              </p:cNvSpPr>
              <p:nvPr/>
            </p:nvSpPr>
            <p:spPr bwMode="auto">
              <a:xfrm>
                <a:off x="3927158" y="5415641"/>
                <a:ext cx="4531042" cy="1137559"/>
              </a:xfrm>
              <a:prstGeom prst="borderCallout2">
                <a:avLst>
                  <a:gd name="adj1" fmla="val 51033"/>
                  <a:gd name="adj2" fmla="val 36"/>
                  <a:gd name="adj3" fmla="val 56273"/>
                  <a:gd name="adj4" fmla="val -6192"/>
                  <a:gd name="adj5" fmla="val 45473"/>
                  <a:gd name="adj6" fmla="val -13674"/>
                </a:avLst>
              </a:prstGeom>
              <a:blipFill>
                <a:blip r:embed="rId6"/>
                <a:stretch>
                  <a:fillRect t="-5291" r="-708" b="-1058"/>
                </a:stretch>
              </a:blipFill>
              <a:ln w="9525" cap="flat" cmpd="sng" algn="ctr">
                <a:solidFill>
                  <a:srgbClr val="366B7E"/>
                </a:solidFill>
                <a:prstDash val="solid"/>
                <a:round/>
                <a:headEnd type="none" w="med" len="med"/>
                <a:tailEnd type="none" w="med" len="med"/>
              </a:ln>
            </p:spPr>
            <p:txBody>
              <a:bodyPr/>
              <a:lstStyle/>
              <a:p>
                <a:r>
                  <a:rPr lang="zh-CN" altLang="en-US">
                    <a:noFill/>
                  </a:rPr>
                  <a:t> </a:t>
                </a:r>
              </a:p>
            </p:txBody>
          </p:sp>
        </mc:Fallback>
      </mc:AlternateContent>
    </p:spTree>
    <p:extLst>
      <p:ext uri="{BB962C8B-B14F-4D97-AF65-F5344CB8AC3E}">
        <p14:creationId xmlns:p14="http://schemas.microsoft.com/office/powerpoint/2010/main" val="2182990008"/>
      </p:ext>
    </p:extLst>
  </p:cSld>
  <p:clrMapOvr>
    <a:masterClrMapping/>
  </p:clrMapOvr>
  <p:transition advClick="0">
    <p:strips dir="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p:cTn id="7" dur="500" fill="hold"/>
                                        <p:tgtEl>
                                          <p:spTgt spid="8194"/>
                                        </p:tgtEl>
                                        <p:attrNameLst>
                                          <p:attrName>ppt_x</p:attrName>
                                        </p:attrNameLst>
                                      </p:cBhvr>
                                      <p:tavLst>
                                        <p:tav tm="0">
                                          <p:val>
                                            <p:strVal val="0-#ppt_w/2"/>
                                          </p:val>
                                        </p:tav>
                                        <p:tav tm="100000">
                                          <p:val>
                                            <p:strVal val="#ppt_x"/>
                                          </p:val>
                                        </p:tav>
                                      </p:tavLst>
                                    </p:anim>
                                    <p:anim calcmode="lin" valueType="num">
                                      <p:cBhvr>
                                        <p:cTn id="8" dur="500" fill="hold"/>
                                        <p:tgtEl>
                                          <p:spTgt spid="819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p:bldP spid="10" grpId="0" animBg="1"/>
      <p:bldP spid="15"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CN" noProof="1">
                <a:latin typeface="+mj-ea"/>
                <a:sym typeface="+mn-ea"/>
              </a:rPr>
              <a:t>2.2 </a:t>
            </a:r>
            <a:r>
              <a:rPr lang="zh-CN" altLang="en-US" noProof="1">
                <a:latin typeface="+mj-ea"/>
                <a:sym typeface="+mn-ea"/>
              </a:rPr>
              <a:t>线性规划的标准型</a:t>
            </a:r>
          </a:p>
        </p:txBody>
      </p:sp>
      <p:sp>
        <p:nvSpPr>
          <p:cNvPr id="2" name="内容占位符 1"/>
          <p:cNvSpPr>
            <a:spLocks noGrp="1"/>
          </p:cNvSpPr>
          <p:nvPr>
            <p:ph idx="1"/>
          </p:nvPr>
        </p:nvSpPr>
        <p:spPr/>
        <p:txBody>
          <a:bodyPr/>
          <a:lstStyle/>
          <a:p>
            <a:r>
              <a:rPr lang="zh-CN" altLang="en-US" dirty="0">
                <a:solidFill>
                  <a:schemeClr val="tx2"/>
                </a:solidFill>
              </a:rPr>
              <a:t>线性规划问题的标准型</a:t>
            </a:r>
            <a:r>
              <a:rPr lang="zh-CN" altLang="en-US" dirty="0" smtClean="0">
                <a:solidFill>
                  <a:schemeClr val="tx2"/>
                </a:solidFill>
              </a:rPr>
              <a:t>式</a:t>
            </a:r>
            <a:endParaRPr lang="en-US" altLang="zh-CN" dirty="0" smtClean="0">
              <a:solidFill>
                <a:schemeClr val="tx2"/>
              </a:solidFill>
            </a:endParaRPr>
          </a:p>
          <a:p>
            <a:pPr lvl="1"/>
            <a:r>
              <a:rPr lang="zh-CN" altLang="en-US" dirty="0" smtClean="0">
                <a:solidFill>
                  <a:schemeClr val="tx2"/>
                </a:solidFill>
              </a:rPr>
              <a:t>（</a:t>
            </a:r>
            <a:r>
              <a:rPr lang="en-US" altLang="zh-CN" dirty="0" smtClean="0">
                <a:solidFill>
                  <a:schemeClr val="tx2"/>
                </a:solidFill>
              </a:rPr>
              <a:t>1</a:t>
            </a:r>
            <a:r>
              <a:rPr lang="zh-CN" altLang="en-US" dirty="0" smtClean="0">
                <a:solidFill>
                  <a:schemeClr val="tx2"/>
                </a:solidFill>
              </a:rPr>
              <a:t>）目标函数极大化</a:t>
            </a:r>
          </a:p>
          <a:p>
            <a:pPr lvl="1"/>
            <a:r>
              <a:rPr lang="zh-CN" altLang="en-US" dirty="0" smtClean="0">
                <a:solidFill>
                  <a:schemeClr val="tx2"/>
                </a:solidFill>
              </a:rPr>
              <a:t>（</a:t>
            </a:r>
            <a:r>
              <a:rPr lang="en-US" altLang="zh-CN" dirty="0" smtClean="0">
                <a:solidFill>
                  <a:schemeClr val="tx2"/>
                </a:solidFill>
              </a:rPr>
              <a:t>2</a:t>
            </a:r>
            <a:r>
              <a:rPr lang="zh-CN" altLang="en-US" dirty="0" smtClean="0">
                <a:solidFill>
                  <a:schemeClr val="tx2"/>
                </a:solidFill>
              </a:rPr>
              <a:t>）约束条件为等式</a:t>
            </a:r>
          </a:p>
          <a:p>
            <a:pPr lvl="1"/>
            <a:r>
              <a:rPr lang="zh-CN" altLang="en-US" dirty="0" smtClean="0">
                <a:solidFill>
                  <a:schemeClr val="tx2"/>
                </a:solidFill>
              </a:rPr>
              <a:t>（</a:t>
            </a:r>
            <a:r>
              <a:rPr lang="en-US" altLang="zh-CN" dirty="0" smtClean="0">
                <a:solidFill>
                  <a:schemeClr val="tx2"/>
                </a:solidFill>
              </a:rPr>
              <a:t>3</a:t>
            </a:r>
            <a:r>
              <a:rPr lang="zh-CN" altLang="en-US" dirty="0" smtClean="0">
                <a:solidFill>
                  <a:schemeClr val="tx2"/>
                </a:solidFill>
              </a:rPr>
              <a:t>）决策变量为非负</a:t>
            </a:r>
          </a:p>
          <a:p>
            <a:pPr lvl="1"/>
            <a:r>
              <a:rPr lang="zh-CN" altLang="en-US" dirty="0" smtClean="0">
                <a:solidFill>
                  <a:schemeClr val="tx2"/>
                </a:solidFill>
              </a:rPr>
              <a:t>（</a:t>
            </a:r>
            <a:r>
              <a:rPr lang="en-US" altLang="zh-CN" dirty="0" smtClean="0">
                <a:solidFill>
                  <a:schemeClr val="tx2"/>
                </a:solidFill>
              </a:rPr>
              <a:t>4</a:t>
            </a:r>
            <a:r>
              <a:rPr lang="zh-CN" altLang="en-US" dirty="0" smtClean="0">
                <a:solidFill>
                  <a:schemeClr val="tx2"/>
                </a:solidFill>
              </a:rPr>
              <a:t>）约束条件右端常数项非负</a:t>
            </a:r>
          </a:p>
          <a:p>
            <a:endParaRPr lang="zh-CN" altLang="en-US" dirty="0" smtClean="0">
              <a:solidFill>
                <a:schemeClr val="tx2"/>
              </a:solidFill>
            </a:endParaRPr>
          </a:p>
          <a:p>
            <a:endParaRPr lang="zh-CN" altLang="en-US" dirty="0"/>
          </a:p>
        </p:txBody>
      </p:sp>
      <p:pic>
        <p:nvPicPr>
          <p:cNvPr id="3" name="图片 2"/>
          <p:cNvPicPr>
            <a:picLocks noChangeAspect="1"/>
          </p:cNvPicPr>
          <p:nvPr/>
        </p:nvPicPr>
        <p:blipFill rotWithShape="1">
          <a:blip r:embed="rId4"/>
          <a:srcRect l="7031" r="4364" b="8361"/>
          <a:stretch/>
        </p:blipFill>
        <p:spPr>
          <a:xfrm>
            <a:off x="1143064" y="3931921"/>
            <a:ext cx="5505431" cy="2693288"/>
          </a:xfrm>
          <a:prstGeom prst="rect">
            <a:avLst/>
          </a:prstGeom>
        </p:spPr>
      </p:pic>
    </p:spTree>
  </p:cSld>
  <p:clrMapOvr>
    <a:overrideClrMapping bg1="lt1" tx1="dk1" bg2="lt2" tx2="dk2" accent1="accent1" accent2="accent2" accent3="accent3" accent4="accent4" accent5="accent5" accent6="accent6" hlink="hlink" folHlink="folHlink"/>
  </p:clrMapOvr>
  <p:transition advClick="0">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2000" fill="hold"/>
                                        <p:tgtEl>
                                          <p:spTgt spid="4098"/>
                                        </p:tgtEl>
                                        <p:attrNameLst>
                                          <p:attrName>ppt_x</p:attrName>
                                        </p:attrNameLst>
                                      </p:cBhvr>
                                      <p:tavLst>
                                        <p:tav tm="0">
                                          <p:val>
                                            <p:strVal val="1+#ppt_w/2"/>
                                          </p:val>
                                        </p:tav>
                                        <p:tav tm="100000">
                                          <p:val>
                                            <p:strVal val="#ppt_x"/>
                                          </p:val>
                                        </p:tav>
                                      </p:tavLst>
                                    </p:anim>
                                    <p:anim calcmode="lin" valueType="num">
                                      <p:cBhvr>
                                        <p:cTn id="8" dur="2000" fill="hold"/>
                                        <p:tgtEl>
                                          <p:spTgt spid="40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latin typeface="+mj-ea"/>
                <a:sym typeface="+mn-ea"/>
              </a:rPr>
              <a:t>2.2 </a:t>
            </a:r>
            <a:r>
              <a:rPr lang="zh-CN" altLang="en-US" noProof="1">
                <a:latin typeface="+mj-ea"/>
                <a:sym typeface="+mn-ea"/>
              </a:rPr>
              <a:t>线性规划的标准型</a:t>
            </a:r>
            <a:endParaRPr lang="zh-CN" altLang="en-US" noProof="1">
              <a:latin typeface="+mj-ea"/>
            </a:endParaRPr>
          </a:p>
        </p:txBody>
      </p:sp>
      <p:sp>
        <p:nvSpPr>
          <p:cNvPr id="5" name="内容占位符 4"/>
          <p:cNvSpPr>
            <a:spLocks noGrp="1"/>
          </p:cNvSpPr>
          <p:nvPr>
            <p:ph idx="1"/>
          </p:nvPr>
        </p:nvSpPr>
        <p:spPr/>
        <p:txBody>
          <a:bodyPr/>
          <a:lstStyle/>
          <a:p>
            <a:r>
              <a:rPr lang="zh-CN" altLang="en-US" dirty="0" smtClean="0"/>
              <a:t>如何将一般线性规划转化为标准形式的线性规划</a:t>
            </a:r>
            <a:endParaRPr lang="en-US" altLang="zh-CN" dirty="0" smtClean="0"/>
          </a:p>
          <a:p>
            <a:pPr lvl="1"/>
            <a:r>
              <a:rPr kumimoji="1" lang="zh-CN" altLang="en-US" sz="2000" dirty="0" smtClean="0">
                <a:latin typeface="Times New Roman" panose="02020603050405020304" pitchFamily="18" charset="0"/>
                <a:ea typeface="楷体_GB2312"/>
              </a:rPr>
              <a:t>实现</a:t>
            </a:r>
            <a:r>
              <a:rPr lang="zh-CN" altLang="en-US" sz="2000" dirty="0">
                <a:solidFill>
                  <a:schemeClr val="tx2"/>
                </a:solidFill>
              </a:rPr>
              <a:t>目标函数</a:t>
            </a:r>
            <a:r>
              <a:rPr lang="zh-CN" altLang="en-US" sz="2000" dirty="0" smtClean="0">
                <a:solidFill>
                  <a:schemeClr val="tx2"/>
                </a:solidFill>
              </a:rPr>
              <a:t>极大化：</a:t>
            </a:r>
            <a:r>
              <a:rPr kumimoji="1" lang="zh-CN" altLang="en-US" sz="2000" dirty="0" smtClean="0">
                <a:latin typeface="Times New Roman" panose="02020603050405020304" pitchFamily="18" charset="0"/>
                <a:ea typeface="楷体_GB2312"/>
              </a:rPr>
              <a:t>若要求目标函数实现最小化，即</a:t>
            </a:r>
            <a:r>
              <a:rPr kumimoji="1" lang="en-US" altLang="zh-CN" sz="2000" dirty="0" smtClean="0">
                <a:latin typeface="Times New Roman" panose="02020603050405020304" pitchFamily="18" charset="0"/>
                <a:ea typeface="楷体_GB2312"/>
              </a:rPr>
              <a:t>min </a:t>
            </a:r>
            <a:r>
              <a:rPr kumimoji="1" lang="en-US" altLang="zh-CN" sz="2000" i="1" dirty="0" smtClean="0">
                <a:latin typeface="Times New Roman" panose="02020603050405020304" pitchFamily="18" charset="0"/>
                <a:ea typeface="楷体_GB2312"/>
              </a:rPr>
              <a:t>z </a:t>
            </a:r>
            <a:r>
              <a:rPr kumimoji="1" lang="en-US" altLang="zh-CN" sz="2000" dirty="0" smtClean="0">
                <a:latin typeface="Times New Roman" panose="02020603050405020304" pitchFamily="18" charset="0"/>
                <a:ea typeface="楷体_GB2312"/>
              </a:rPr>
              <a:t>=</a:t>
            </a:r>
            <a:r>
              <a:rPr kumimoji="1" lang="en-US" altLang="zh-CN" sz="2000" i="1" dirty="0" smtClean="0">
                <a:latin typeface="Times New Roman" panose="02020603050405020304" pitchFamily="18" charset="0"/>
                <a:ea typeface="楷体_GB2312"/>
              </a:rPr>
              <a:t>CX</a:t>
            </a:r>
            <a:r>
              <a:rPr kumimoji="1" lang="zh-CN" altLang="en-US" sz="2000" dirty="0" smtClean="0">
                <a:latin typeface="Times New Roman" panose="02020603050405020304" pitchFamily="18" charset="0"/>
                <a:ea typeface="楷体_GB2312"/>
              </a:rPr>
              <a:t>，则只需将目标函数最小化变换求目标函数最大化，即令</a:t>
            </a:r>
            <a:r>
              <a:rPr kumimoji="1" lang="en-US" altLang="zh-CN" sz="2000" i="1" dirty="0" smtClean="0">
                <a:latin typeface="Times New Roman" panose="02020603050405020304" pitchFamily="18" charset="0"/>
                <a:ea typeface="楷体_GB2312"/>
              </a:rPr>
              <a:t>z</a:t>
            </a:r>
            <a:r>
              <a:rPr kumimoji="1" lang="en-US" altLang="zh-CN" sz="2000" dirty="0" smtClean="0">
                <a:latin typeface="Times New Roman" panose="02020603050405020304" pitchFamily="18" charset="0"/>
                <a:ea typeface="楷体_GB2312"/>
              </a:rPr>
              <a:t>′= −</a:t>
            </a:r>
            <a:r>
              <a:rPr kumimoji="1" lang="en-US" altLang="zh-CN" sz="2000" i="1" dirty="0" smtClean="0">
                <a:latin typeface="Times New Roman" panose="02020603050405020304" pitchFamily="18" charset="0"/>
                <a:ea typeface="楷体_GB2312"/>
              </a:rPr>
              <a:t>z</a:t>
            </a:r>
            <a:r>
              <a:rPr kumimoji="1" lang="zh-CN" altLang="en-US" sz="2000" dirty="0" smtClean="0">
                <a:latin typeface="Times New Roman" panose="02020603050405020304" pitchFamily="18" charset="0"/>
                <a:ea typeface="楷体_GB2312"/>
              </a:rPr>
              <a:t>，于是得到</a:t>
            </a:r>
            <a:r>
              <a:rPr kumimoji="1" lang="en-US" altLang="zh-CN" sz="2000" dirty="0" smtClean="0">
                <a:latin typeface="Times New Roman" panose="02020603050405020304" pitchFamily="18" charset="0"/>
                <a:ea typeface="楷体_GB2312"/>
              </a:rPr>
              <a:t>max </a:t>
            </a:r>
            <a:r>
              <a:rPr kumimoji="1" lang="en-US" altLang="zh-CN" sz="2000" i="1" dirty="0" smtClean="0">
                <a:latin typeface="Times New Roman" panose="02020603050405020304" pitchFamily="18" charset="0"/>
                <a:ea typeface="楷体_GB2312"/>
              </a:rPr>
              <a:t>z</a:t>
            </a:r>
            <a:r>
              <a:rPr kumimoji="1" lang="en-US" altLang="zh-CN" sz="2000" dirty="0" smtClean="0">
                <a:latin typeface="Times New Roman" panose="02020603050405020304" pitchFamily="18" charset="0"/>
                <a:ea typeface="楷体_GB2312"/>
              </a:rPr>
              <a:t>′= −</a:t>
            </a:r>
            <a:r>
              <a:rPr kumimoji="1" lang="en-US" altLang="zh-CN" sz="2000" i="1" dirty="0" smtClean="0">
                <a:latin typeface="Times New Roman" panose="02020603050405020304" pitchFamily="18" charset="0"/>
                <a:ea typeface="楷体_GB2312"/>
              </a:rPr>
              <a:t>CX</a:t>
            </a:r>
            <a:r>
              <a:rPr kumimoji="1" lang="zh-CN" altLang="en-US" sz="2000" dirty="0" smtClean="0">
                <a:latin typeface="Times New Roman" panose="02020603050405020304" pitchFamily="18" charset="0"/>
                <a:ea typeface="楷体_GB2312"/>
              </a:rPr>
              <a:t>。</a:t>
            </a:r>
            <a:endParaRPr kumimoji="1" lang="en-US" altLang="zh-CN" sz="2000" dirty="0" smtClean="0">
              <a:latin typeface="Times New Roman" panose="02020603050405020304" pitchFamily="18" charset="0"/>
              <a:ea typeface="楷体_GB2312"/>
            </a:endParaRPr>
          </a:p>
          <a:p>
            <a:pPr lvl="1"/>
            <a:r>
              <a:rPr lang="zh-CN" altLang="en-US" sz="2000" dirty="0">
                <a:solidFill>
                  <a:schemeClr val="tx2"/>
                </a:solidFill>
              </a:rPr>
              <a:t>约束条件为</a:t>
            </a:r>
            <a:r>
              <a:rPr lang="zh-CN" altLang="en-US" sz="2000" dirty="0" smtClean="0">
                <a:solidFill>
                  <a:schemeClr val="tx2"/>
                </a:solidFill>
              </a:rPr>
              <a:t>等式：若</a:t>
            </a:r>
            <a:r>
              <a:rPr kumimoji="1" lang="zh-CN" altLang="en-US" sz="2000" dirty="0" smtClean="0">
                <a:latin typeface="Times New Roman" panose="02020603050405020304" pitchFamily="18" charset="0"/>
                <a:ea typeface="楷体_GB2312"/>
              </a:rPr>
              <a:t>约束条件为不等式。分两种情况讨论：</a:t>
            </a:r>
            <a:endParaRPr kumimoji="1" lang="en-US" altLang="zh-CN" sz="2000" dirty="0" smtClean="0">
              <a:latin typeface="Times New Roman" panose="02020603050405020304" pitchFamily="18" charset="0"/>
              <a:ea typeface="楷体_GB2312"/>
            </a:endParaRPr>
          </a:p>
          <a:p>
            <a:pPr lvl="2"/>
            <a:r>
              <a:rPr kumimoji="1" lang="zh-CN" altLang="en-US" sz="1800" dirty="0" smtClean="0">
                <a:latin typeface="Times New Roman" panose="02020603050405020304" pitchFamily="18" charset="0"/>
              </a:rPr>
              <a:t>若约束条件为“≤”型不等式，则可在不等式左端加入</a:t>
            </a:r>
            <a:r>
              <a:rPr kumimoji="1" lang="zh-CN" altLang="en-US" sz="1800" dirty="0" smtClean="0">
                <a:solidFill>
                  <a:srgbClr val="FF0000"/>
                </a:solidFill>
                <a:latin typeface="Times New Roman" panose="02020603050405020304" pitchFamily="18" charset="0"/>
              </a:rPr>
              <a:t>非负松弛变量</a:t>
            </a:r>
            <a:r>
              <a:rPr kumimoji="1" lang="zh-CN" altLang="en-US" sz="1800" dirty="0" smtClean="0">
                <a:latin typeface="Times New Roman" panose="02020603050405020304" pitchFamily="18" charset="0"/>
              </a:rPr>
              <a:t>，把原“≤”型不等式变为等式约束；</a:t>
            </a:r>
            <a:endParaRPr kumimoji="1" lang="en-US" altLang="zh-CN" sz="1800" dirty="0" smtClean="0">
              <a:latin typeface="Times New Roman" panose="02020603050405020304" pitchFamily="18" charset="0"/>
            </a:endParaRPr>
          </a:p>
          <a:p>
            <a:pPr lvl="2"/>
            <a:r>
              <a:rPr kumimoji="1" lang="zh-CN" altLang="en-US" sz="1800" dirty="0">
                <a:latin typeface="Times New Roman" panose="02020603050405020304" pitchFamily="18" charset="0"/>
              </a:rPr>
              <a:t>若约束条件为“≥”型不等式，则可在不等式左端减去一个</a:t>
            </a:r>
            <a:r>
              <a:rPr kumimoji="1" lang="zh-CN" altLang="en-US" sz="1800" dirty="0">
                <a:solidFill>
                  <a:srgbClr val="FF0000"/>
                </a:solidFill>
                <a:latin typeface="Times New Roman" panose="02020603050405020304" pitchFamily="18" charset="0"/>
              </a:rPr>
              <a:t>非负</a:t>
            </a:r>
            <a:r>
              <a:rPr kumimoji="1" lang="zh-CN" altLang="en-US" sz="1800" dirty="0" smtClean="0">
                <a:solidFill>
                  <a:srgbClr val="FF0000"/>
                </a:solidFill>
                <a:latin typeface="Times New Roman" panose="02020603050405020304" pitchFamily="18" charset="0"/>
              </a:rPr>
              <a:t>剩余变量</a:t>
            </a:r>
            <a:r>
              <a:rPr kumimoji="1" lang="zh-CN" altLang="en-US" sz="1800" dirty="0" smtClean="0">
                <a:latin typeface="Times New Roman" panose="02020603050405020304" pitchFamily="18" charset="0"/>
              </a:rPr>
              <a:t>，</a:t>
            </a:r>
            <a:r>
              <a:rPr kumimoji="1" lang="zh-CN" altLang="en-US" sz="1800" dirty="0">
                <a:latin typeface="Times New Roman" panose="02020603050405020304" pitchFamily="18" charset="0"/>
              </a:rPr>
              <a:t>把不等式约束条件变为等式约束</a:t>
            </a:r>
            <a:r>
              <a:rPr kumimoji="1" lang="zh-CN" altLang="en-US" sz="1800" dirty="0" smtClean="0">
                <a:latin typeface="Times New Roman" panose="02020603050405020304" pitchFamily="18" charset="0"/>
              </a:rPr>
              <a:t>。</a:t>
            </a:r>
            <a:endParaRPr kumimoji="1" lang="en-US" altLang="zh-CN" sz="1800" dirty="0" smtClean="0">
              <a:latin typeface="Times New Roman" panose="02020603050405020304" pitchFamily="18" charset="0"/>
            </a:endParaRPr>
          </a:p>
          <a:p>
            <a:pPr lvl="1"/>
            <a:r>
              <a:rPr lang="zh-CN" altLang="en-US" sz="2000" dirty="0">
                <a:solidFill>
                  <a:schemeClr val="tx2"/>
                </a:solidFill>
              </a:rPr>
              <a:t>决策变量为非</a:t>
            </a:r>
            <a:r>
              <a:rPr lang="zh-CN" altLang="en-US" sz="2000" dirty="0" smtClean="0">
                <a:solidFill>
                  <a:schemeClr val="tx2"/>
                </a:solidFill>
              </a:rPr>
              <a:t>负：</a:t>
            </a:r>
            <a:r>
              <a:rPr kumimoji="1" lang="zh-CN" altLang="en-US" sz="2000" dirty="0" smtClean="0">
                <a:solidFill>
                  <a:schemeClr val="tx2"/>
                </a:solidFill>
                <a:latin typeface="Times New Roman" panose="02020603050405020304" pitchFamily="18" charset="0"/>
                <a:ea typeface="楷体_GB2312"/>
              </a:rPr>
              <a:t>若存在取值无约束的变量</a:t>
            </a:r>
            <a:r>
              <a:rPr kumimoji="1" lang="en-US" altLang="zh-CN" sz="2000" i="1" dirty="0" err="1" smtClean="0">
                <a:solidFill>
                  <a:schemeClr val="tx2"/>
                </a:solidFill>
                <a:latin typeface="Times New Roman" panose="02020603050405020304" pitchFamily="18" charset="0"/>
                <a:ea typeface="楷体_GB2312"/>
              </a:rPr>
              <a:t>x</a:t>
            </a:r>
            <a:r>
              <a:rPr kumimoji="1" lang="en-US" altLang="zh-CN" sz="2000" i="1" baseline="-25000" dirty="0" err="1" smtClean="0">
                <a:solidFill>
                  <a:schemeClr val="tx2"/>
                </a:solidFill>
                <a:latin typeface="Times New Roman" panose="02020603050405020304" pitchFamily="18" charset="0"/>
                <a:ea typeface="楷体_GB2312"/>
              </a:rPr>
              <a:t>k</a:t>
            </a:r>
            <a:r>
              <a:rPr kumimoji="1" lang="en-US" altLang="zh-CN" sz="2000" dirty="0" smtClean="0">
                <a:solidFill>
                  <a:schemeClr val="tx2"/>
                </a:solidFill>
                <a:latin typeface="Times New Roman" panose="02020603050405020304" pitchFamily="18" charset="0"/>
                <a:ea typeface="楷体_GB2312"/>
              </a:rPr>
              <a:t>,</a:t>
            </a:r>
            <a:r>
              <a:rPr kumimoji="1" lang="zh-CN" altLang="en-US" sz="2000" dirty="0" smtClean="0">
                <a:solidFill>
                  <a:schemeClr val="tx2"/>
                </a:solidFill>
                <a:latin typeface="Times New Roman" panose="02020603050405020304" pitchFamily="18" charset="0"/>
                <a:ea typeface="楷体_GB2312"/>
              </a:rPr>
              <a:t>可令                        </a:t>
            </a:r>
          </a:p>
          <a:p>
            <a:pPr lvl="1"/>
            <a:endParaRPr lang="zh-CN" altLang="en-US" dirty="0"/>
          </a:p>
        </p:txBody>
      </p:sp>
      <p:graphicFrame>
        <p:nvGraphicFramePr>
          <p:cNvPr id="10" name="Object 7"/>
          <p:cNvGraphicFramePr>
            <a:graphicFrameLocks noChangeAspect="1"/>
          </p:cNvGraphicFramePr>
          <p:nvPr>
            <p:extLst>
              <p:ext uri="{D42A27DB-BD31-4B8C-83A1-F6EECF244321}">
                <p14:modId xmlns:p14="http://schemas.microsoft.com/office/powerpoint/2010/main" val="1011481632"/>
              </p:ext>
            </p:extLst>
          </p:nvPr>
        </p:nvGraphicFramePr>
        <p:xfrm>
          <a:off x="1821793" y="5010384"/>
          <a:ext cx="1439863" cy="442912"/>
        </p:xfrm>
        <a:graphic>
          <a:graphicData uri="http://schemas.openxmlformats.org/presentationml/2006/ole">
            <mc:AlternateContent xmlns:mc="http://schemas.openxmlformats.org/markup-compatibility/2006">
              <mc:Choice xmlns:v="urn:schemas-microsoft-com:vml" Requires="v">
                <p:oleObj spid="_x0000_s14465" r:id="rId4" imgW="787400" imgH="241300" progId="Equation.3">
                  <p:embed/>
                </p:oleObj>
              </mc:Choice>
              <mc:Fallback>
                <p:oleObj r:id="rId4" imgW="787400" imgH="241300" progId="Equation.3">
                  <p:embed/>
                  <p:pic>
                    <p:nvPicPr>
                      <p:cNvPr id="19461"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1793" y="5010384"/>
                        <a:ext cx="1439863"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9"/>
          <p:cNvGraphicFramePr>
            <a:graphicFrameLocks noChangeAspect="1"/>
          </p:cNvGraphicFramePr>
          <p:nvPr>
            <p:extLst>
              <p:ext uri="{D42A27DB-BD31-4B8C-83A1-F6EECF244321}">
                <p14:modId xmlns:p14="http://schemas.microsoft.com/office/powerpoint/2010/main" val="2234047433"/>
              </p:ext>
            </p:extLst>
          </p:nvPr>
        </p:nvGraphicFramePr>
        <p:xfrm>
          <a:off x="1821793" y="5453296"/>
          <a:ext cx="1223963" cy="430212"/>
        </p:xfrm>
        <a:graphic>
          <a:graphicData uri="http://schemas.openxmlformats.org/presentationml/2006/ole">
            <mc:AlternateContent xmlns:mc="http://schemas.openxmlformats.org/markup-compatibility/2006">
              <mc:Choice xmlns:v="urn:schemas-microsoft-com:vml" Requires="v">
                <p:oleObj spid="_x0000_s14466" r:id="rId6" imgW="685800" imgH="241300" progId="Equation.3">
                  <p:embed/>
                </p:oleObj>
              </mc:Choice>
              <mc:Fallback>
                <p:oleObj r:id="rId6" imgW="685800" imgH="241300" progId="Equation.3">
                  <p:embed/>
                  <p:pic>
                    <p:nvPicPr>
                      <p:cNvPr id="19463"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1793" y="5453296"/>
                        <a:ext cx="1223963"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pPr>
              <a:defRPr/>
            </a:pPr>
            <a:r>
              <a:rPr lang="en-US" altLang="zh-CN" noProof="1">
                <a:latin typeface="+mj-ea"/>
                <a:sym typeface="+mn-ea"/>
              </a:rPr>
              <a:t>2.2 </a:t>
            </a:r>
            <a:r>
              <a:rPr lang="zh-CN" altLang="en-US" noProof="1">
                <a:latin typeface="+mj-ea"/>
                <a:sym typeface="+mn-ea"/>
              </a:rPr>
              <a:t>线性规划的标准型</a:t>
            </a:r>
            <a:endParaRPr lang="zh-CN" altLang="en-US" noProof="1">
              <a:latin typeface="+mj-ea"/>
            </a:endParaRPr>
          </a:p>
        </p:txBody>
      </p:sp>
      <p:sp>
        <p:nvSpPr>
          <p:cNvPr id="4" name="内容占位符 3"/>
          <p:cNvSpPr>
            <a:spLocks noGrp="1"/>
          </p:cNvSpPr>
          <p:nvPr>
            <p:ph idx="1"/>
          </p:nvPr>
        </p:nvSpPr>
        <p:spPr/>
        <p:txBody>
          <a:bodyPr/>
          <a:lstStyle/>
          <a:p>
            <a:r>
              <a:rPr kumimoji="1" lang="zh-CN" altLang="en-US" dirty="0" smtClean="0">
                <a:solidFill>
                  <a:schemeClr val="tx2"/>
                </a:solidFill>
              </a:rPr>
              <a:t>举例：将</a:t>
            </a:r>
            <a:r>
              <a:rPr kumimoji="1" lang="zh-CN" altLang="en-US" dirty="0">
                <a:solidFill>
                  <a:schemeClr val="tx2"/>
                </a:solidFill>
              </a:rPr>
              <a:t>如下线性规划问题转换为标准</a:t>
            </a:r>
            <a:r>
              <a:rPr kumimoji="1" lang="zh-CN" altLang="en-US" dirty="0" smtClean="0">
                <a:solidFill>
                  <a:schemeClr val="tx2"/>
                </a:solidFill>
              </a:rPr>
              <a:t>型</a:t>
            </a:r>
            <a:endParaRPr kumimoji="1" lang="en-US" altLang="zh-CN" dirty="0" smtClean="0">
              <a:solidFill>
                <a:schemeClr val="tx2"/>
              </a:solidFill>
            </a:endParaRPr>
          </a:p>
          <a:p>
            <a:endParaRPr kumimoji="1" lang="en-US" altLang="zh-CN" dirty="0">
              <a:solidFill>
                <a:schemeClr val="tx2"/>
              </a:solidFill>
            </a:endParaRPr>
          </a:p>
          <a:p>
            <a:endParaRPr kumimoji="1" lang="en-US" altLang="zh-CN" dirty="0" smtClean="0">
              <a:solidFill>
                <a:schemeClr val="tx2"/>
              </a:solidFill>
            </a:endParaRPr>
          </a:p>
          <a:p>
            <a:endParaRPr kumimoji="1" lang="en-US" altLang="zh-CN" dirty="0">
              <a:solidFill>
                <a:schemeClr val="tx2"/>
              </a:solidFill>
            </a:endParaRPr>
          </a:p>
          <a:p>
            <a:endParaRPr kumimoji="1" lang="en-US" altLang="zh-CN" dirty="0" smtClean="0">
              <a:solidFill>
                <a:schemeClr val="tx2"/>
              </a:solidFill>
            </a:endParaRPr>
          </a:p>
          <a:p>
            <a:endParaRPr kumimoji="1" lang="en-US" altLang="zh-CN" dirty="0">
              <a:solidFill>
                <a:schemeClr val="tx2"/>
              </a:solidFill>
            </a:endParaRPr>
          </a:p>
          <a:p>
            <a:r>
              <a:rPr kumimoji="1" lang="zh-CN" altLang="en-US" dirty="0" smtClean="0">
                <a:solidFill>
                  <a:schemeClr val="tx2"/>
                </a:solidFill>
              </a:rPr>
              <a:t>练习：</a:t>
            </a:r>
            <a:endParaRPr kumimoji="1" lang="zh-CN" altLang="en-US" dirty="0">
              <a:solidFill>
                <a:schemeClr val="tx2"/>
              </a:solidFill>
            </a:endParaRPr>
          </a:p>
          <a:p>
            <a:endParaRPr lang="zh-CN" altLang="en-US" dirty="0"/>
          </a:p>
        </p:txBody>
      </p:sp>
      <p:graphicFrame>
        <p:nvGraphicFramePr>
          <p:cNvPr id="10" name="Object 4"/>
          <p:cNvGraphicFramePr>
            <a:graphicFrameLocks noChangeAspect="1"/>
          </p:cNvGraphicFramePr>
          <p:nvPr>
            <p:extLst>
              <p:ext uri="{D42A27DB-BD31-4B8C-83A1-F6EECF244321}">
                <p14:modId xmlns:p14="http://schemas.microsoft.com/office/powerpoint/2010/main" val="689066807"/>
              </p:ext>
            </p:extLst>
          </p:nvPr>
        </p:nvGraphicFramePr>
        <p:xfrm>
          <a:off x="1382824" y="2012252"/>
          <a:ext cx="5117876" cy="1882935"/>
        </p:xfrm>
        <a:graphic>
          <a:graphicData uri="http://schemas.openxmlformats.org/presentationml/2006/ole">
            <mc:AlternateContent xmlns:mc="http://schemas.openxmlformats.org/markup-compatibility/2006">
              <mc:Choice xmlns:v="urn:schemas-microsoft-com:vml" Requires="v">
                <p:oleObj spid="_x0000_s15550" name="Equation" r:id="rId4" imgW="3175000" imgH="1168400" progId="Equation.DSMT4">
                  <p:embed/>
                </p:oleObj>
              </mc:Choice>
              <mc:Fallback>
                <p:oleObj name="Equation" r:id="rId4" imgW="3175000" imgH="1168400" progId="Equation.DSMT4">
                  <p:embed/>
                  <p:pic>
                    <p:nvPicPr>
                      <p:cNvPr id="2048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2824" y="2012252"/>
                        <a:ext cx="5117876" cy="1882935"/>
                      </a:xfrm>
                      <a:prstGeom prst="rect">
                        <a:avLst/>
                      </a:prstGeom>
                      <a:noFill/>
                      <a:ln>
                        <a:noFill/>
                      </a:ln>
                      <a:effectLst/>
                    </p:spPr>
                  </p:pic>
                </p:oleObj>
              </mc:Fallback>
            </mc:AlternateContent>
          </a:graphicData>
        </a:graphic>
      </p:graphicFrame>
      <p:graphicFrame>
        <p:nvGraphicFramePr>
          <p:cNvPr id="12" name="Object 6"/>
          <p:cNvGraphicFramePr>
            <a:graphicFrameLocks noChangeAspect="1"/>
          </p:cNvGraphicFramePr>
          <p:nvPr>
            <p:extLst>
              <p:ext uri="{D42A27DB-BD31-4B8C-83A1-F6EECF244321}">
                <p14:modId xmlns:p14="http://schemas.microsoft.com/office/powerpoint/2010/main" val="150584040"/>
              </p:ext>
            </p:extLst>
          </p:nvPr>
        </p:nvGraphicFramePr>
        <p:xfrm>
          <a:off x="1572768" y="4701583"/>
          <a:ext cx="2186114" cy="1801938"/>
        </p:xfrm>
        <a:graphic>
          <a:graphicData uri="http://schemas.openxmlformats.org/presentationml/2006/ole">
            <mc:AlternateContent xmlns:mc="http://schemas.openxmlformats.org/markup-compatibility/2006">
              <mc:Choice xmlns:v="urn:schemas-microsoft-com:vml" Requires="v">
                <p:oleObj spid="_x0000_s15551" name="Equation" r:id="rId6" imgW="1447800" imgH="1193800" progId="Equation.DSMT4">
                  <p:embed/>
                </p:oleObj>
              </mc:Choice>
              <mc:Fallback>
                <p:oleObj name="Equation" r:id="rId6" imgW="1447800" imgH="1193800" progId="Equation.DSMT4">
                  <p:embed/>
                  <p:pic>
                    <p:nvPicPr>
                      <p:cNvPr id="2151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2768" y="4701583"/>
                        <a:ext cx="2186114" cy="1801938"/>
                      </a:xfrm>
                      <a:prstGeom prst="rect">
                        <a:avLst/>
                      </a:prstGeom>
                      <a:noFill/>
                      <a:ln>
                        <a:noFill/>
                      </a:ln>
                      <a:effectLst/>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3766610394"/>
              </p:ext>
            </p:extLst>
          </p:nvPr>
        </p:nvGraphicFramePr>
        <p:xfrm>
          <a:off x="5218113" y="4711700"/>
          <a:ext cx="3875087" cy="2135188"/>
        </p:xfrm>
        <a:graphic>
          <a:graphicData uri="http://schemas.openxmlformats.org/presentationml/2006/ole">
            <mc:AlternateContent xmlns:mc="http://schemas.openxmlformats.org/markup-compatibility/2006">
              <mc:Choice xmlns:v="urn:schemas-microsoft-com:vml" Requires="v">
                <p:oleObj spid="_x0000_s15552" name="Equation" r:id="rId8" imgW="2463480" imgH="1358640" progId="Equation.DSMT4">
                  <p:embed/>
                </p:oleObj>
              </mc:Choice>
              <mc:Fallback>
                <p:oleObj name="Equation" r:id="rId8" imgW="2463480" imgH="1358640" progId="Equation.DSMT4">
                  <p:embed/>
                  <p:pic>
                    <p:nvPicPr>
                      <p:cNvPr id="22534" name="Object 7"/>
                      <p:cNvPicPr>
                        <a:picLocks noChangeAspect="1" noChangeArrowheads="1"/>
                      </p:cNvPicPr>
                      <p:nvPr/>
                    </p:nvPicPr>
                    <p:blipFill>
                      <a:blip r:embed="rId9"/>
                      <a:srcRect/>
                      <a:stretch>
                        <a:fillRect/>
                      </a:stretch>
                    </p:blipFill>
                    <p:spPr bwMode="auto">
                      <a:xfrm>
                        <a:off x="5218113" y="4711700"/>
                        <a:ext cx="3875087" cy="2135188"/>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noProof="1" smtClean="0">
                <a:latin typeface="+mj-ea"/>
                <a:sym typeface="+mn-ea"/>
              </a:rPr>
              <a:t>2.</a:t>
            </a:r>
            <a:r>
              <a:rPr lang="en-US" noProof="1" smtClean="0">
                <a:latin typeface="+mj-ea"/>
                <a:sym typeface="+mn-ea"/>
              </a:rPr>
              <a:t>3</a:t>
            </a:r>
            <a:r>
              <a:rPr noProof="1" smtClean="0">
                <a:latin typeface="+mj-ea"/>
                <a:sym typeface="+mn-ea"/>
              </a:rPr>
              <a:t> </a:t>
            </a:r>
            <a:r>
              <a:rPr noProof="1">
                <a:latin typeface="+mj-ea"/>
                <a:sym typeface="+mn-ea"/>
              </a:rPr>
              <a:t>线性规划的</a:t>
            </a:r>
            <a:r>
              <a:rPr lang="zh-CN" altLang="en-US" noProof="1">
                <a:latin typeface="+mj-ea"/>
                <a:sym typeface="+mn-ea"/>
              </a:rPr>
              <a:t>图解法</a:t>
            </a:r>
            <a:endParaRPr lang="zh-CN" altLang="en-US" dirty="0">
              <a:latin typeface="+mj-ea"/>
              <a:sym typeface="Arial" panose="020B0604020202020204" pitchFamily="34" charset="0"/>
            </a:endParaRPr>
          </a:p>
        </p:txBody>
      </p:sp>
      <p:sp>
        <p:nvSpPr>
          <p:cNvPr id="2" name="内容占位符 1"/>
          <p:cNvSpPr>
            <a:spLocks noGrp="1"/>
          </p:cNvSpPr>
          <p:nvPr>
            <p:ph idx="1"/>
          </p:nvPr>
        </p:nvSpPr>
        <p:spPr>
          <a:xfrm>
            <a:off x="609599" y="1524000"/>
            <a:ext cx="8139113" cy="4114800"/>
          </a:xfrm>
        </p:spPr>
        <p:txBody>
          <a:bodyPr/>
          <a:lstStyle/>
          <a:p>
            <a:r>
              <a:rPr lang="zh-CN" altLang="en-US" dirty="0" smtClean="0"/>
              <a:t>图解法的一般步骤：</a:t>
            </a:r>
          </a:p>
          <a:p>
            <a:pPr lvl="1"/>
            <a:r>
              <a:rPr lang="zh-CN" altLang="en-US" sz="2000" dirty="0" smtClean="0"/>
              <a:t>第一步：画二维直角坐标系，非负约束构成坐标系的第一象限。</a:t>
            </a:r>
          </a:p>
          <a:p>
            <a:pPr lvl="1"/>
            <a:r>
              <a:rPr lang="zh-CN" altLang="en-US" sz="2000" dirty="0" smtClean="0"/>
              <a:t>第二步：画出每条约束所对应的区域（对不等式约束，首先画出等式线，再判明约束方向），并确定线性规划问题的可行域（即各条约束所对应区域的交集）。</a:t>
            </a:r>
          </a:p>
          <a:p>
            <a:pPr lvl="1"/>
            <a:r>
              <a:rPr lang="zh-CN" altLang="en-US" sz="2000" dirty="0" smtClean="0"/>
              <a:t>第三步：根据目标优化方向平移目标函数等值线，直到不能再平移为止，确定线性规划问题对应的最优点。</a:t>
            </a:r>
          </a:p>
          <a:p>
            <a:pPr lvl="1"/>
            <a:r>
              <a:rPr lang="zh-CN" altLang="en-US" sz="2000" dirty="0" smtClean="0"/>
              <a:t>第四步：根据最优点满足的等式构建联立方程组，从而求解出最优方案，并计算最优方案所对应的最优目标函数值。</a:t>
            </a:r>
          </a:p>
          <a:p>
            <a:pPr lvl="1"/>
            <a:endParaRPr lang="zh-CN" altLang="en-US" dirty="0"/>
          </a:p>
        </p:txBody>
      </p:sp>
    </p:spTree>
  </p:cSld>
  <p:clrMapOvr>
    <a:overrideClrMapping bg1="lt1" tx1="dk1" bg2="lt2" tx2="dk2" accent1="accent1" accent2="accent2" accent3="accent3" accent4="accent4" accent5="accent5" accent6="accent6" hlink="hlink" folHlink="folHlink"/>
  </p:clrMapOvr>
  <p:transition advClick="0">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2000" fill="hold"/>
                                        <p:tgtEl>
                                          <p:spTgt spid="4098"/>
                                        </p:tgtEl>
                                        <p:attrNameLst>
                                          <p:attrName>ppt_x</p:attrName>
                                        </p:attrNameLst>
                                      </p:cBhvr>
                                      <p:tavLst>
                                        <p:tav tm="0">
                                          <p:val>
                                            <p:strVal val="1+#ppt_w/2"/>
                                          </p:val>
                                        </p:tav>
                                        <p:tav tm="100000">
                                          <p:val>
                                            <p:strVal val="#ppt_x"/>
                                          </p:val>
                                        </p:tav>
                                      </p:tavLst>
                                    </p:anim>
                                    <p:anim calcmode="lin" valueType="num">
                                      <p:cBhvr>
                                        <p:cTn id="8" dur="2000" fill="hold"/>
                                        <p:tgtEl>
                                          <p:spTgt spid="40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noProof="1" smtClean="0">
                <a:latin typeface="+mj-ea"/>
                <a:sym typeface="+mn-ea"/>
              </a:rPr>
              <a:t>2.</a:t>
            </a:r>
            <a:r>
              <a:rPr lang="en-US" noProof="1" smtClean="0">
                <a:latin typeface="+mj-ea"/>
                <a:sym typeface="+mn-ea"/>
              </a:rPr>
              <a:t>3</a:t>
            </a:r>
            <a:r>
              <a:rPr noProof="1" smtClean="0">
                <a:latin typeface="+mj-ea"/>
                <a:sym typeface="+mn-ea"/>
              </a:rPr>
              <a:t> </a:t>
            </a:r>
            <a:r>
              <a:rPr noProof="1">
                <a:latin typeface="+mj-ea"/>
                <a:sym typeface="+mn-ea"/>
              </a:rPr>
              <a:t>线性规划的</a:t>
            </a:r>
            <a:r>
              <a:rPr lang="zh-CN" altLang="en-US" noProof="1">
                <a:latin typeface="+mj-ea"/>
                <a:sym typeface="+mn-ea"/>
              </a:rPr>
              <a:t>图解法</a:t>
            </a:r>
            <a:endParaRPr lang="zh-CN" altLang="en-US" dirty="0">
              <a:latin typeface="+mj-ea"/>
              <a:sym typeface="Arial" panose="020B0604020202020204" pitchFamily="34" charset="0"/>
            </a:endParaRPr>
          </a:p>
        </p:txBody>
      </p:sp>
      <p:sp>
        <p:nvSpPr>
          <p:cNvPr id="2" name="内容占位符 1"/>
          <p:cNvSpPr>
            <a:spLocks noGrp="1"/>
          </p:cNvSpPr>
          <p:nvPr>
            <p:ph idx="1"/>
          </p:nvPr>
        </p:nvSpPr>
        <p:spPr/>
        <p:txBody>
          <a:bodyPr/>
          <a:lstStyle/>
          <a:p>
            <a:r>
              <a:rPr lang="zh-CN" altLang="en-US" dirty="0">
                <a:solidFill>
                  <a:schemeClr val="tx2"/>
                </a:solidFill>
              </a:rPr>
              <a:t>线性规划的解可能出现的几种情况</a:t>
            </a:r>
            <a:r>
              <a:rPr lang="zh-CN" altLang="en-US" dirty="0" smtClean="0">
                <a:solidFill>
                  <a:schemeClr val="tx2"/>
                </a:solidFill>
              </a:rPr>
              <a:t>：</a:t>
            </a:r>
            <a:endParaRPr lang="en-US" altLang="zh-CN" dirty="0" smtClean="0">
              <a:solidFill>
                <a:schemeClr val="tx2"/>
              </a:solidFill>
            </a:endParaRPr>
          </a:p>
          <a:p>
            <a:endParaRPr lang="zh-CN" altLang="en-US" dirty="0" smtClean="0"/>
          </a:p>
          <a:p>
            <a:pPr lvl="1"/>
            <a:endParaRPr lang="zh-CN" altLang="en-US" dirty="0"/>
          </a:p>
        </p:txBody>
      </p:sp>
      <p:pic>
        <p:nvPicPr>
          <p:cNvPr id="8" name="内容占位符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77874" y="2271213"/>
            <a:ext cx="5634990" cy="395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1602573"/>
      </p:ext>
    </p:extLst>
  </p:cSld>
  <p:clrMapOvr>
    <a:masterClrMapping/>
  </p:clrMapOvr>
  <p:transition advClick="0">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p:cTn id="7" dur="2000" fill="hold"/>
                                        <p:tgtEl>
                                          <p:spTgt spid="4098"/>
                                        </p:tgtEl>
                                        <p:attrNameLst>
                                          <p:attrName>ppt_x</p:attrName>
                                        </p:attrNameLst>
                                      </p:cBhvr>
                                      <p:tavLst>
                                        <p:tav tm="0">
                                          <p:val>
                                            <p:strVal val="1+#ppt_w/2"/>
                                          </p:val>
                                        </p:tav>
                                        <p:tav tm="100000">
                                          <p:val>
                                            <p:strVal val="#ppt_x"/>
                                          </p:val>
                                        </p:tav>
                                      </p:tavLst>
                                    </p:anim>
                                    <p:anim calcmode="lin" valueType="num">
                                      <p:cBhvr>
                                        <p:cTn id="8" dur="2000" fill="hold"/>
                                        <p:tgtEl>
                                          <p:spTgt spid="40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CN" sz="3200" dirty="0" smtClean="0"/>
              <a:t>2.4.1 </a:t>
            </a:r>
            <a:r>
              <a:rPr lang="zh-CN" altLang="en-US" sz="3200" dirty="0"/>
              <a:t>几个基本概念</a:t>
            </a:r>
            <a:endParaRPr lang="zh-CN" altLang="en-US" sz="3200" noProof="1">
              <a:sym typeface="+mn-ea"/>
            </a:endParaRPr>
          </a:p>
        </p:txBody>
      </p:sp>
      <p:sp>
        <p:nvSpPr>
          <p:cNvPr id="2" name="内容占位符 1"/>
          <p:cNvSpPr>
            <a:spLocks noGrp="1"/>
          </p:cNvSpPr>
          <p:nvPr>
            <p:ph idx="1"/>
          </p:nvPr>
        </p:nvSpPr>
        <p:spPr>
          <a:xfrm>
            <a:off x="609599" y="1524000"/>
            <a:ext cx="8139113" cy="4114800"/>
          </a:xfrm>
        </p:spPr>
        <p:txBody>
          <a:bodyPr/>
          <a:lstStyle/>
          <a:p>
            <a:r>
              <a:rPr lang="zh-CN" altLang="en-US" dirty="0" smtClean="0"/>
              <a:t>（</a:t>
            </a:r>
            <a:r>
              <a:rPr lang="en-US" altLang="zh-CN" dirty="0" smtClean="0"/>
              <a:t>1</a:t>
            </a:r>
            <a:r>
              <a:rPr lang="zh-CN" altLang="en-US" dirty="0" smtClean="0"/>
              <a:t>）可行解与最优解</a:t>
            </a:r>
          </a:p>
          <a:p>
            <a:pPr lvl="1"/>
            <a:r>
              <a:rPr lang="zh-CN" altLang="en-US" sz="2000" dirty="0" smtClean="0"/>
              <a:t>满足线性规划模型约束条件的解，称为</a:t>
            </a:r>
            <a:r>
              <a:rPr lang="zh-CN" altLang="en-US" sz="2000" dirty="0" smtClean="0">
                <a:solidFill>
                  <a:srgbClr val="FF0000"/>
                </a:solidFill>
              </a:rPr>
              <a:t>“可行解”</a:t>
            </a:r>
            <a:r>
              <a:rPr lang="zh-CN" altLang="en-US" sz="2000" dirty="0" smtClean="0"/>
              <a:t>；</a:t>
            </a:r>
            <a:endParaRPr lang="en-US" altLang="zh-CN" sz="2000" dirty="0" smtClean="0"/>
          </a:p>
          <a:p>
            <a:pPr lvl="1"/>
            <a:r>
              <a:rPr lang="zh-CN" altLang="en-US" sz="2000" dirty="0" smtClean="0"/>
              <a:t>所有可行解构成的集合称为</a:t>
            </a:r>
            <a:r>
              <a:rPr lang="zh-CN" altLang="en-US" sz="2000" dirty="0" smtClean="0">
                <a:solidFill>
                  <a:srgbClr val="FF0000"/>
                </a:solidFill>
              </a:rPr>
              <a:t>“可行域”</a:t>
            </a:r>
            <a:r>
              <a:rPr lang="zh-CN" altLang="en-US" sz="2000" dirty="0" smtClean="0"/>
              <a:t>。</a:t>
            </a:r>
            <a:endParaRPr lang="en-US" altLang="zh-CN" sz="2000" dirty="0" smtClean="0"/>
          </a:p>
          <a:p>
            <a:pPr lvl="1"/>
            <a:r>
              <a:rPr lang="zh-CN" altLang="en-US" sz="2000" dirty="0" smtClean="0"/>
              <a:t>在可行域中，能使得目标函数达到最大的解称为</a:t>
            </a:r>
            <a:r>
              <a:rPr lang="zh-CN" altLang="en-US" sz="2000" dirty="0" smtClean="0">
                <a:solidFill>
                  <a:srgbClr val="FF0000"/>
                </a:solidFill>
              </a:rPr>
              <a:t>“最优解”</a:t>
            </a:r>
            <a:r>
              <a:rPr lang="zh-CN" altLang="en-US" sz="2000" dirty="0" smtClean="0"/>
              <a:t>。</a:t>
            </a:r>
          </a:p>
          <a:p>
            <a:endParaRPr lang="zh-CN" altLang="en-US" dirty="0"/>
          </a:p>
        </p:txBody>
      </p:sp>
      <p:pic>
        <p:nvPicPr>
          <p:cNvPr id="3" name="图片 2"/>
          <p:cNvPicPr>
            <a:picLocks noChangeAspect="1"/>
          </p:cNvPicPr>
          <p:nvPr/>
        </p:nvPicPr>
        <p:blipFill>
          <a:blip r:embed="rId2"/>
          <a:stretch>
            <a:fillRect/>
          </a:stretch>
        </p:blipFill>
        <p:spPr>
          <a:xfrm>
            <a:off x="1474515" y="3780801"/>
            <a:ext cx="4962271" cy="1508530"/>
          </a:xfrm>
          <a:prstGeom prst="rect">
            <a:avLst/>
          </a:prstGeom>
        </p:spPr>
      </p:pic>
    </p:spTree>
    <p:extLst>
      <p:ext uri="{BB962C8B-B14F-4D97-AF65-F5344CB8AC3E}">
        <p14:creationId xmlns:p14="http://schemas.microsoft.com/office/powerpoint/2010/main" val="3104732090"/>
      </p:ext>
    </p:extLst>
  </p:cSld>
  <p:clrMapOvr>
    <a:masterClrMapping/>
  </p:clrMapOvr>
  <p:transition advClick="0">
    <p:strips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CN" sz="3200" dirty="0" smtClean="0"/>
              <a:t>2.4.1 </a:t>
            </a:r>
            <a:r>
              <a:rPr lang="zh-CN" altLang="en-US" sz="3200" dirty="0"/>
              <a:t>几个基本概念</a:t>
            </a:r>
            <a:endParaRPr lang="zh-CN" altLang="en-US" sz="3200" noProof="1">
              <a:sym typeface="+mn-ea"/>
            </a:endParaRPr>
          </a:p>
        </p:txBody>
      </p:sp>
      <p:sp>
        <p:nvSpPr>
          <p:cNvPr id="2" name="内容占位符 1"/>
          <p:cNvSpPr>
            <a:spLocks noGrp="1"/>
          </p:cNvSpPr>
          <p:nvPr>
            <p:ph idx="1"/>
          </p:nvPr>
        </p:nvSpPr>
        <p:spPr/>
        <p:txBody>
          <a:bodyPr/>
          <a:lstStyle/>
          <a:p>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2</a:t>
            </a:r>
            <a:r>
              <a:rPr lang="zh-CN" altLang="en-US" dirty="0" smtClean="0">
                <a:latin typeface="Times New Roman" panose="02020603050405020304" pitchFamily="18" charset="0"/>
                <a:cs typeface="Times New Roman" panose="02020603050405020304" pitchFamily="18" charset="0"/>
              </a:rPr>
              <a:t>）基</a:t>
            </a:r>
            <a:r>
              <a:rPr lang="zh-CN" altLang="en-US" dirty="0">
                <a:latin typeface="Times New Roman" panose="02020603050405020304" pitchFamily="18" charset="0"/>
                <a:cs typeface="Times New Roman" panose="02020603050405020304" pitchFamily="18" charset="0"/>
              </a:rPr>
              <a:t>，基向量与</a:t>
            </a:r>
            <a:r>
              <a:rPr lang="zh-CN" altLang="en-US" dirty="0" smtClean="0">
                <a:latin typeface="Times New Roman" panose="02020603050405020304" pitchFamily="18" charset="0"/>
                <a:cs typeface="Times New Roman" panose="02020603050405020304" pitchFamily="18" charset="0"/>
              </a:rPr>
              <a:t>基变量</a:t>
            </a:r>
            <a:endParaRPr lang="en-US" altLang="zh-CN" dirty="0" smtClean="0">
              <a:latin typeface="Times New Roman" panose="02020603050405020304" pitchFamily="18" charset="0"/>
              <a:cs typeface="Times New Roman" panose="02020603050405020304" pitchFamily="18" charset="0"/>
            </a:endParaRPr>
          </a:p>
          <a:p>
            <a:pPr lvl="1"/>
            <a:r>
              <a:rPr lang="en-US" altLang="zh-CN" sz="2000" dirty="0" smtClean="0"/>
              <a:t>B</a:t>
            </a:r>
            <a:r>
              <a:rPr lang="zh-CN" altLang="en-US" sz="2000" dirty="0" smtClean="0"/>
              <a:t>是系数矩阵</a:t>
            </a:r>
            <a:r>
              <a:rPr lang="en-US" altLang="zh-CN" sz="2000" dirty="0" smtClean="0"/>
              <a:t>A</a:t>
            </a:r>
            <a:r>
              <a:rPr lang="zh-CN" altLang="en-US" sz="2000" dirty="0" smtClean="0"/>
              <a:t>中的</a:t>
            </a:r>
            <a:r>
              <a:rPr lang="en-US" altLang="zh-CN" sz="2000" b="0" i="1" dirty="0" err="1" smtClean="0"/>
              <a:t>m×m</a:t>
            </a:r>
            <a:r>
              <a:rPr lang="zh-CN" altLang="en-US" sz="2000" dirty="0" smtClean="0"/>
              <a:t>阶非奇异子矩阵                   ，称</a:t>
            </a:r>
            <a:r>
              <a:rPr lang="en-US" altLang="zh-CN" sz="2000" dirty="0" smtClean="0"/>
              <a:t>B</a:t>
            </a:r>
            <a:r>
              <a:rPr lang="zh-CN" altLang="en-US" sz="2000" dirty="0" smtClean="0"/>
              <a:t>为线性规划问题的</a:t>
            </a:r>
            <a:r>
              <a:rPr lang="zh-CN" altLang="en-US" sz="2000" dirty="0" smtClean="0">
                <a:solidFill>
                  <a:srgbClr val="FF0000"/>
                </a:solidFill>
              </a:rPr>
              <a:t>“基”</a:t>
            </a:r>
            <a:endParaRPr lang="en-US" altLang="zh-CN" sz="2000" dirty="0" smtClean="0">
              <a:solidFill>
                <a:srgbClr val="FF0000"/>
              </a:solidFill>
            </a:endParaRPr>
          </a:p>
          <a:p>
            <a:pPr lvl="1"/>
            <a:endParaRPr lang="en-US" altLang="zh-CN" sz="2000" b="0" i="1" dirty="0"/>
          </a:p>
          <a:p>
            <a:pPr lvl="1"/>
            <a:endParaRPr lang="en-US" altLang="zh-CN" sz="2000" b="0" i="1" dirty="0" smtClean="0"/>
          </a:p>
          <a:p>
            <a:pPr lvl="1"/>
            <a:endParaRPr lang="en-US" altLang="zh-CN" sz="2000" b="0" i="1" dirty="0"/>
          </a:p>
          <a:p>
            <a:pPr lvl="1"/>
            <a:endParaRPr lang="en-US" altLang="zh-CN" sz="2000" b="0" i="1" dirty="0" smtClean="0"/>
          </a:p>
          <a:p>
            <a:pPr lvl="1"/>
            <a:endParaRPr lang="en-US" altLang="zh-CN" sz="2000" b="0" i="1" dirty="0"/>
          </a:p>
          <a:p>
            <a:pPr lvl="1"/>
            <a:r>
              <a:rPr lang="en-US" altLang="zh-CN" sz="2000" i="1" dirty="0" err="1" smtClean="0">
                <a:ea typeface="楷体_GB2312"/>
              </a:rPr>
              <a:t>P</a:t>
            </a:r>
            <a:r>
              <a:rPr lang="en-US" altLang="zh-CN" sz="2000" i="1" baseline="-25000" dirty="0" err="1" smtClean="0">
                <a:ea typeface="楷体_GB2312"/>
              </a:rPr>
              <a:t>j</a:t>
            </a:r>
            <a:r>
              <a:rPr lang="zh-CN" altLang="en-US" sz="2000" dirty="0" smtClean="0">
                <a:ea typeface="楷体_GB2312"/>
              </a:rPr>
              <a:t>（</a:t>
            </a:r>
            <a:r>
              <a:rPr lang="en-US" altLang="zh-CN" sz="2000" i="1" dirty="0" smtClean="0">
                <a:ea typeface="楷体_GB2312"/>
              </a:rPr>
              <a:t>j=</a:t>
            </a:r>
            <a:r>
              <a:rPr lang="en-US" altLang="zh-CN" sz="2000" dirty="0" smtClean="0">
                <a:ea typeface="楷体_GB2312"/>
              </a:rPr>
              <a:t>1,2</a:t>
            </a:r>
            <a:r>
              <a:rPr lang="zh-CN" altLang="en-US" sz="2000" dirty="0" smtClean="0">
                <a:ea typeface="楷体_GB2312"/>
              </a:rPr>
              <a:t>，</a:t>
            </a:r>
            <a:r>
              <a:rPr lang="en-US" altLang="zh-CN" sz="2000" dirty="0" smtClean="0">
                <a:ea typeface="楷体_GB2312"/>
              </a:rPr>
              <a:t>…,</a:t>
            </a:r>
            <a:r>
              <a:rPr lang="en-US" altLang="zh-CN" sz="2000" i="1" dirty="0" smtClean="0">
                <a:ea typeface="楷体_GB2312"/>
              </a:rPr>
              <a:t>m</a:t>
            </a:r>
            <a:r>
              <a:rPr lang="zh-CN" altLang="en-US" sz="2000" dirty="0" smtClean="0">
                <a:ea typeface="楷体_GB2312"/>
              </a:rPr>
              <a:t>）为</a:t>
            </a:r>
            <a:r>
              <a:rPr lang="zh-CN" altLang="en-US" sz="2000" dirty="0" smtClean="0">
                <a:solidFill>
                  <a:srgbClr val="FF0000"/>
                </a:solidFill>
                <a:ea typeface="楷体_GB2312"/>
              </a:rPr>
              <a:t>“基向量”</a:t>
            </a:r>
            <a:endParaRPr lang="en-US" altLang="zh-CN" sz="2000" dirty="0" smtClean="0">
              <a:solidFill>
                <a:srgbClr val="FF0000"/>
              </a:solidFill>
              <a:ea typeface="楷体_GB2312"/>
            </a:endParaRPr>
          </a:p>
          <a:p>
            <a:pPr lvl="1"/>
            <a:r>
              <a:rPr lang="en-US" altLang="zh-CN" sz="2000" i="1" dirty="0" err="1">
                <a:ea typeface="楷体_GB2312"/>
              </a:rPr>
              <a:t>x</a:t>
            </a:r>
            <a:r>
              <a:rPr lang="en-US" altLang="zh-CN" sz="2000" i="1" baseline="-25000" dirty="0" err="1" smtClean="0">
                <a:ea typeface="楷体_GB2312"/>
              </a:rPr>
              <a:t>j</a:t>
            </a:r>
            <a:r>
              <a:rPr lang="zh-CN" altLang="en-US" sz="2000" dirty="0">
                <a:ea typeface="楷体_GB2312"/>
              </a:rPr>
              <a:t>（</a:t>
            </a:r>
            <a:r>
              <a:rPr lang="en-US" altLang="zh-CN" sz="2000" i="1" dirty="0">
                <a:ea typeface="楷体_GB2312"/>
              </a:rPr>
              <a:t>j=</a:t>
            </a:r>
            <a:r>
              <a:rPr lang="en-US" altLang="zh-CN" sz="2000" dirty="0">
                <a:ea typeface="楷体_GB2312"/>
              </a:rPr>
              <a:t>1,2</a:t>
            </a:r>
            <a:r>
              <a:rPr lang="zh-CN" altLang="en-US" sz="2000" dirty="0">
                <a:ea typeface="楷体_GB2312"/>
              </a:rPr>
              <a:t>，</a:t>
            </a:r>
            <a:r>
              <a:rPr lang="en-US" altLang="zh-CN" sz="2000" dirty="0">
                <a:ea typeface="楷体_GB2312"/>
              </a:rPr>
              <a:t>…,</a:t>
            </a:r>
            <a:r>
              <a:rPr lang="en-US" altLang="zh-CN" sz="2000" i="1" dirty="0">
                <a:ea typeface="楷体_GB2312"/>
              </a:rPr>
              <a:t>m</a:t>
            </a:r>
            <a:r>
              <a:rPr lang="zh-CN" altLang="en-US" sz="2000" dirty="0">
                <a:ea typeface="楷体_GB2312"/>
              </a:rPr>
              <a:t>）为</a:t>
            </a:r>
            <a:r>
              <a:rPr lang="zh-CN" altLang="en-US" sz="2000" dirty="0" smtClean="0">
                <a:solidFill>
                  <a:srgbClr val="FF0000"/>
                </a:solidFill>
                <a:ea typeface="楷体_GB2312"/>
              </a:rPr>
              <a:t>“基</a:t>
            </a:r>
            <a:r>
              <a:rPr lang="zh-CN" altLang="en-US" sz="2000" dirty="0">
                <a:solidFill>
                  <a:srgbClr val="FF0000"/>
                </a:solidFill>
                <a:ea typeface="楷体_GB2312"/>
              </a:rPr>
              <a:t>变</a:t>
            </a:r>
            <a:r>
              <a:rPr lang="zh-CN" altLang="en-US" sz="2000" dirty="0" smtClean="0">
                <a:solidFill>
                  <a:srgbClr val="FF0000"/>
                </a:solidFill>
                <a:ea typeface="楷体_GB2312"/>
              </a:rPr>
              <a:t>量”</a:t>
            </a:r>
            <a:endParaRPr lang="en-US" altLang="zh-CN" sz="2000" dirty="0">
              <a:solidFill>
                <a:srgbClr val="FF0000"/>
              </a:solidFill>
              <a:ea typeface="楷体_GB2312"/>
            </a:endParaRPr>
          </a:p>
          <a:p>
            <a:pPr lvl="1"/>
            <a:endParaRPr lang="en-US" altLang="zh-CN" sz="2000" dirty="0" smtClean="0">
              <a:ea typeface="楷体_GB2312"/>
            </a:endParaRPr>
          </a:p>
          <a:p>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762804796"/>
              </p:ext>
            </p:extLst>
          </p:nvPr>
        </p:nvGraphicFramePr>
        <p:xfrm>
          <a:off x="1496560" y="2831874"/>
          <a:ext cx="3608387" cy="1320800"/>
        </p:xfrm>
        <a:graphic>
          <a:graphicData uri="http://schemas.openxmlformats.org/presentationml/2006/ole">
            <mc:AlternateContent xmlns:mc="http://schemas.openxmlformats.org/markup-compatibility/2006">
              <mc:Choice xmlns:v="urn:schemas-microsoft-com:vml" Requires="v">
                <p:oleObj spid="_x0000_s110655" name="Equation" r:id="rId3" imgW="2565360" imgH="939600" progId="Equation.DSMT4">
                  <p:embed/>
                </p:oleObj>
              </mc:Choice>
              <mc:Fallback>
                <p:oleObj name="Equation" r:id="rId3" imgW="2565360" imgH="939600" progId="Equation.DSMT4">
                  <p:embed/>
                  <p:pic>
                    <p:nvPicPr>
                      <p:cNvPr id="0" name=""/>
                      <p:cNvPicPr/>
                      <p:nvPr/>
                    </p:nvPicPr>
                    <p:blipFill>
                      <a:blip r:embed="rId4"/>
                      <a:stretch>
                        <a:fillRect/>
                      </a:stretch>
                    </p:blipFill>
                    <p:spPr>
                      <a:xfrm>
                        <a:off x="1496560" y="2831874"/>
                        <a:ext cx="3608387" cy="132080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6" name="矩形 5"/>
              <p:cNvSpPr/>
              <p:nvPr/>
            </p:nvSpPr>
            <p:spPr>
              <a:xfrm>
                <a:off x="5869263" y="1919715"/>
                <a:ext cx="145464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ctrlPr>
                            <a:rPr lang="zh-CN" altLang="en-US" i="1">
                              <a:latin typeface="Cambria Math" panose="02040503050406030204" pitchFamily="18" charset="0"/>
                            </a:rPr>
                          </m:ctrlPr>
                        </m:dPr>
                        <m:e>
                          <m:r>
                            <a:rPr lang="zh-CN" altLang="en-US">
                              <a:latin typeface="Cambria Math" panose="02040503050406030204" pitchFamily="18" charset="0"/>
                            </a:rPr>
                            <m:t>|</m:t>
                          </m:r>
                          <m:r>
                            <m:rPr>
                              <m:nor/>
                            </m:rPr>
                            <a:rPr lang="zh-CN" altLang="en-US" i="1">
                              <a:latin typeface="Cambria Math" panose="02040503050406030204" pitchFamily="18" charset="0"/>
                            </a:rPr>
                            <m:t>B</m:t>
                          </m:r>
                          <m:r>
                            <a:rPr lang="zh-CN" altLang="en-US" i="0">
                              <a:latin typeface="Cambria Math" panose="02040503050406030204" pitchFamily="18" charset="0"/>
                            </a:rPr>
                            <m:t>|≠0</m:t>
                          </m:r>
                        </m:e>
                      </m:d>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5869263" y="1919715"/>
                <a:ext cx="1454646" cy="461665"/>
              </a:xfrm>
              <a:prstGeom prst="rect">
                <a:avLst/>
              </a:prstGeom>
              <a:blipFill>
                <a:blip r:embed="rId6"/>
                <a:stretch>
                  <a:fillRect b="-184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89011511"/>
      </p:ext>
    </p:extLst>
  </p:cSld>
  <p:clrMapOvr>
    <a:masterClrMapping/>
  </p:clrMapOvr>
  <p:transition advClick="0">
    <p:strips dir="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CN" sz="3200" dirty="0" smtClean="0"/>
              <a:t>2.4.1 </a:t>
            </a:r>
            <a:r>
              <a:rPr lang="zh-CN" altLang="en-US" sz="3200" dirty="0"/>
              <a:t>几个基本概念</a:t>
            </a:r>
            <a:endParaRPr lang="zh-CN" altLang="en-US" sz="3200" noProof="1">
              <a:sym typeface="+mn-ea"/>
            </a:endParaRPr>
          </a:p>
        </p:txBody>
      </p:sp>
      <p:sp>
        <p:nvSpPr>
          <p:cNvPr id="2" name="内容占位符 1"/>
          <p:cNvSpPr>
            <a:spLocks noGrp="1"/>
          </p:cNvSpPr>
          <p:nvPr>
            <p:ph idx="1"/>
          </p:nvPr>
        </p:nvSpPr>
        <p:spPr>
          <a:xfrm>
            <a:off x="609600" y="1524000"/>
            <a:ext cx="7848600" cy="4114800"/>
          </a:xfrm>
        </p:spPr>
        <p:txBody>
          <a:bodyPr/>
          <a:lstStyle/>
          <a:p>
            <a:r>
              <a:rPr lang="zh-CN" altLang="en-US" dirty="0" smtClean="0">
                <a:latin typeface="Times New Roman" panose="02020603050405020304" pitchFamily="18" charset="0"/>
                <a:cs typeface="Times New Roman" panose="02020603050405020304" pitchFamily="18" charset="0"/>
              </a:rPr>
              <a:t>（</a:t>
            </a:r>
            <a:r>
              <a:rPr lang="en-US" altLang="zh-CN" dirty="0" smtClean="0">
                <a:latin typeface="Times New Roman" panose="02020603050405020304" pitchFamily="18" charset="0"/>
                <a:cs typeface="Times New Roman" panose="02020603050405020304" pitchFamily="18" charset="0"/>
              </a:rPr>
              <a:t>3</a:t>
            </a:r>
            <a:r>
              <a:rPr lang="zh-CN" altLang="en-US" dirty="0" smtClean="0">
                <a:latin typeface="Times New Roman" panose="02020603050405020304" pitchFamily="18" charset="0"/>
                <a:cs typeface="Times New Roman" panose="02020603050405020304" pitchFamily="18" charset="0"/>
              </a:rPr>
              <a:t>）基</a:t>
            </a:r>
            <a:r>
              <a:rPr lang="zh-CN" altLang="en-US" dirty="0">
                <a:latin typeface="Times New Roman" panose="02020603050405020304" pitchFamily="18" charset="0"/>
                <a:cs typeface="Times New Roman" panose="02020603050405020304" pitchFamily="18" charset="0"/>
              </a:rPr>
              <a:t>解、基可行解与可行基</a:t>
            </a:r>
          </a:p>
          <a:p>
            <a:pPr lvl="1"/>
            <a:r>
              <a:rPr lang="zh-CN" altLang="en-US" sz="2000" dirty="0" smtClean="0"/>
              <a:t>将基变量</a:t>
            </a:r>
            <a:r>
              <a:rPr lang="en-US" altLang="zh-CN" sz="2000" i="1" dirty="0" smtClean="0"/>
              <a:t>X</a:t>
            </a:r>
            <a:r>
              <a:rPr lang="zh-CN" altLang="en-US" sz="2000" dirty="0" smtClean="0"/>
              <a:t>分为两部分</a:t>
            </a:r>
            <a:r>
              <a:rPr lang="en-US" altLang="zh-CN" sz="2000" i="1" dirty="0"/>
              <a:t>X=</a:t>
            </a:r>
            <a:r>
              <a:rPr lang="en-US" altLang="zh-CN" sz="2000" dirty="0"/>
              <a:t>(</a:t>
            </a:r>
            <a:r>
              <a:rPr lang="en-US" altLang="zh-CN" sz="2000" i="1" dirty="0"/>
              <a:t>X</a:t>
            </a:r>
            <a:r>
              <a:rPr lang="en-US" altLang="zh-CN" sz="2000" i="1" baseline="-25000" dirty="0"/>
              <a:t>B</a:t>
            </a:r>
            <a:r>
              <a:rPr lang="en-US" altLang="zh-CN" sz="2000" i="1" dirty="0"/>
              <a:t>,X</a:t>
            </a:r>
            <a:r>
              <a:rPr lang="en-US" altLang="zh-CN" sz="2000" i="1" baseline="-25000" dirty="0"/>
              <a:t>N</a:t>
            </a:r>
            <a:r>
              <a:rPr lang="en-US" altLang="zh-CN" sz="2000" dirty="0" smtClean="0"/>
              <a:t>)</a:t>
            </a:r>
            <a:r>
              <a:rPr lang="zh-CN" altLang="en-US" sz="2000" i="1" dirty="0" smtClean="0"/>
              <a:t> </a:t>
            </a:r>
            <a:r>
              <a:rPr lang="en-US" altLang="zh-CN" sz="2000" i="1" dirty="0" smtClean="0"/>
              <a:t>'</a:t>
            </a:r>
            <a:r>
              <a:rPr lang="zh-CN" altLang="en-US" sz="2000" dirty="0" smtClean="0"/>
              <a:t>，其中</a:t>
            </a:r>
            <a:r>
              <a:rPr lang="en-US" altLang="zh-CN" sz="2000" i="1" dirty="0"/>
              <a:t>X</a:t>
            </a:r>
            <a:r>
              <a:rPr lang="en-US" altLang="zh-CN" sz="2000" i="1" baseline="-25000" dirty="0"/>
              <a:t>B</a:t>
            </a:r>
            <a:r>
              <a:rPr lang="en-US" altLang="zh-CN" sz="2000" i="1" dirty="0" smtClean="0"/>
              <a:t>=</a:t>
            </a:r>
            <a:r>
              <a:rPr lang="en-US" altLang="zh-CN" sz="2000" dirty="0" smtClean="0"/>
              <a:t>(</a:t>
            </a:r>
            <a:r>
              <a:rPr lang="en-US" altLang="zh-CN" sz="2000" i="1" dirty="0" smtClean="0"/>
              <a:t>x</a:t>
            </a:r>
            <a:r>
              <a:rPr lang="en-US" altLang="zh-CN" sz="2000" i="1" baseline="-25000" dirty="0" smtClean="0"/>
              <a:t>1</a:t>
            </a:r>
            <a:r>
              <a:rPr lang="en-US" altLang="zh-CN" sz="2000" i="1" dirty="0" smtClean="0"/>
              <a:t>, x</a:t>
            </a:r>
            <a:r>
              <a:rPr lang="en-US" altLang="zh-CN" sz="2000" i="1" baseline="-25000" dirty="0" smtClean="0"/>
              <a:t>2</a:t>
            </a:r>
            <a:r>
              <a:rPr lang="en-US" altLang="zh-CN" sz="2000" i="1" dirty="0"/>
              <a:t> </a:t>
            </a:r>
            <a:r>
              <a:rPr lang="en-US" altLang="zh-CN" sz="2000" i="1" dirty="0" smtClean="0"/>
              <a:t>, …</a:t>
            </a:r>
            <a:r>
              <a:rPr lang="en-US" altLang="zh-CN" sz="2000" i="1" dirty="0"/>
              <a:t> </a:t>
            </a:r>
            <a:r>
              <a:rPr lang="en-US" altLang="zh-CN" sz="2000" i="1" dirty="0" err="1" smtClean="0"/>
              <a:t>x</a:t>
            </a:r>
            <a:r>
              <a:rPr lang="en-US" altLang="zh-CN" sz="2000" i="1" baseline="-25000" dirty="0" err="1" smtClean="0"/>
              <a:t>m</a:t>
            </a:r>
            <a:r>
              <a:rPr lang="en-US" altLang="zh-CN" sz="2000" i="1" dirty="0" smtClean="0"/>
              <a:t> </a:t>
            </a:r>
            <a:r>
              <a:rPr lang="en-US" altLang="zh-CN" sz="2000" dirty="0" smtClean="0"/>
              <a:t>)</a:t>
            </a:r>
            <a:r>
              <a:rPr lang="zh-CN" altLang="en-US" sz="2000" i="1" dirty="0" smtClean="0"/>
              <a:t> </a:t>
            </a:r>
            <a:r>
              <a:rPr lang="en-US" altLang="zh-CN" sz="2000" i="1" dirty="0"/>
              <a:t>' </a:t>
            </a:r>
            <a:r>
              <a:rPr lang="zh-CN" altLang="en-US" sz="2000" dirty="0" smtClean="0"/>
              <a:t>，</a:t>
            </a:r>
            <a:r>
              <a:rPr lang="en-US" altLang="zh-CN" sz="2000" i="1" dirty="0"/>
              <a:t> </a:t>
            </a:r>
            <a:r>
              <a:rPr lang="en-US" altLang="zh-CN" sz="2000" i="1" dirty="0" smtClean="0"/>
              <a:t>X</a:t>
            </a:r>
            <a:r>
              <a:rPr lang="en-US" altLang="zh-CN" sz="2000" i="1" baseline="-25000" dirty="0" smtClean="0"/>
              <a:t>N</a:t>
            </a:r>
            <a:r>
              <a:rPr lang="en-US" altLang="zh-CN" sz="2000" i="1" dirty="0" smtClean="0"/>
              <a:t>=</a:t>
            </a:r>
            <a:r>
              <a:rPr lang="en-US" altLang="zh-CN" sz="2000" dirty="0" smtClean="0"/>
              <a:t>(</a:t>
            </a:r>
            <a:r>
              <a:rPr lang="en-US" altLang="zh-CN" sz="2000" i="1" dirty="0" smtClean="0"/>
              <a:t>x</a:t>
            </a:r>
            <a:r>
              <a:rPr lang="en-US" altLang="zh-CN" sz="2000" i="1" baseline="-25000" dirty="0" smtClean="0"/>
              <a:t>m+1</a:t>
            </a:r>
            <a:r>
              <a:rPr lang="en-US" altLang="zh-CN" sz="2000" i="1" dirty="0" smtClean="0"/>
              <a:t>, x</a:t>
            </a:r>
            <a:r>
              <a:rPr lang="en-US" altLang="zh-CN" sz="2000" i="1" baseline="-25000" dirty="0" smtClean="0"/>
              <a:t>m+2</a:t>
            </a:r>
            <a:r>
              <a:rPr lang="en-US" altLang="zh-CN" sz="2000" i="1" dirty="0" smtClean="0"/>
              <a:t> </a:t>
            </a:r>
            <a:r>
              <a:rPr lang="en-US" altLang="zh-CN" sz="2000" i="1" dirty="0"/>
              <a:t>, … </a:t>
            </a:r>
            <a:r>
              <a:rPr lang="en-US" altLang="zh-CN" sz="2000" i="1" dirty="0" err="1" smtClean="0"/>
              <a:t>x</a:t>
            </a:r>
            <a:r>
              <a:rPr lang="en-US" altLang="zh-CN" sz="2000" i="1" baseline="-25000" dirty="0" err="1" smtClean="0"/>
              <a:t>n</a:t>
            </a:r>
            <a:r>
              <a:rPr lang="en-US" altLang="zh-CN" sz="2000" i="1" dirty="0" smtClean="0"/>
              <a:t> </a:t>
            </a:r>
            <a:r>
              <a:rPr lang="en-US" altLang="zh-CN" sz="2000" dirty="0"/>
              <a:t>)</a:t>
            </a:r>
            <a:r>
              <a:rPr lang="zh-CN" altLang="en-US" sz="2000" i="1" dirty="0"/>
              <a:t> </a:t>
            </a:r>
            <a:r>
              <a:rPr lang="en-US" altLang="zh-CN" sz="2000" i="1" dirty="0"/>
              <a:t>' </a:t>
            </a:r>
            <a:endParaRPr lang="en-US" altLang="zh-CN" sz="2000" dirty="0" smtClean="0"/>
          </a:p>
          <a:p>
            <a:pPr lvl="1"/>
            <a:r>
              <a:rPr lang="zh-CN" altLang="en-US" sz="2000" dirty="0"/>
              <a:t>对应</a:t>
            </a:r>
            <a:r>
              <a:rPr lang="zh-CN" altLang="en-US" sz="2000" dirty="0" smtClean="0"/>
              <a:t>于基</a:t>
            </a:r>
            <a:r>
              <a:rPr lang="en-US" altLang="zh-CN" sz="2000" dirty="0" smtClean="0"/>
              <a:t>B</a:t>
            </a:r>
            <a:r>
              <a:rPr lang="zh-CN" altLang="en-US" sz="2000" dirty="0" smtClean="0"/>
              <a:t>，如果另</a:t>
            </a:r>
            <a:r>
              <a:rPr lang="en-US" altLang="zh-CN" sz="2000" i="1" dirty="0" smtClean="0"/>
              <a:t>X</a:t>
            </a:r>
            <a:r>
              <a:rPr lang="en-US" altLang="zh-CN" sz="2000" i="1" baseline="-25000" dirty="0" smtClean="0"/>
              <a:t>N</a:t>
            </a:r>
            <a:r>
              <a:rPr lang="en-US" altLang="zh-CN" sz="2000" i="1" dirty="0" smtClean="0"/>
              <a:t>=</a:t>
            </a:r>
            <a:r>
              <a:rPr lang="en-US" altLang="zh-CN" sz="2000" dirty="0" smtClean="0"/>
              <a:t>0,</a:t>
            </a:r>
            <a:r>
              <a:rPr lang="zh-CN" altLang="en-US" sz="2000" dirty="0" smtClean="0"/>
              <a:t>可以得到一个解</a:t>
            </a:r>
            <a:r>
              <a:rPr lang="en-US" altLang="zh-CN" sz="2000" i="1" dirty="0"/>
              <a:t>X</a:t>
            </a:r>
            <a:r>
              <a:rPr lang="en-US" altLang="zh-CN" sz="2000" i="1" dirty="0" smtClean="0"/>
              <a:t>=</a:t>
            </a:r>
            <a:r>
              <a:rPr lang="en-US" altLang="zh-CN" sz="2000" dirty="0" smtClean="0"/>
              <a:t>(</a:t>
            </a:r>
            <a:r>
              <a:rPr lang="en-US" altLang="zh-CN" sz="2000" i="1" dirty="0" smtClean="0"/>
              <a:t>B</a:t>
            </a:r>
            <a:r>
              <a:rPr lang="en-US" altLang="zh-CN" sz="2000" i="1" baseline="30000" dirty="0" smtClean="0"/>
              <a:t>-1</a:t>
            </a:r>
            <a:r>
              <a:rPr lang="en-US" altLang="zh-CN" sz="2000" i="1" dirty="0" smtClean="0"/>
              <a:t>b,0</a:t>
            </a:r>
            <a:r>
              <a:rPr lang="en-US" altLang="zh-CN" sz="2000" dirty="0" smtClean="0"/>
              <a:t>)</a:t>
            </a:r>
            <a:r>
              <a:rPr lang="zh-CN" altLang="en-US" sz="2000" i="1" dirty="0" smtClean="0"/>
              <a:t> </a:t>
            </a:r>
            <a:r>
              <a:rPr lang="zh-CN" altLang="en-US" sz="2000" dirty="0" smtClean="0"/>
              <a:t>；称该解是对应于基</a:t>
            </a:r>
            <a:r>
              <a:rPr lang="en-US" altLang="zh-CN" sz="2000" dirty="0" smtClean="0"/>
              <a:t>B</a:t>
            </a:r>
            <a:r>
              <a:rPr lang="zh-CN" altLang="en-US" sz="2000" dirty="0" smtClean="0"/>
              <a:t>的</a:t>
            </a:r>
            <a:r>
              <a:rPr lang="zh-CN" altLang="en-US" sz="2000" dirty="0" smtClean="0">
                <a:solidFill>
                  <a:srgbClr val="FF0000"/>
                </a:solidFill>
              </a:rPr>
              <a:t>“基解”</a:t>
            </a:r>
            <a:r>
              <a:rPr lang="zh-CN" altLang="en-US" sz="2000" dirty="0" smtClean="0"/>
              <a:t>；</a:t>
            </a:r>
            <a:endParaRPr lang="en-US" altLang="zh-CN" sz="2000" dirty="0" smtClean="0"/>
          </a:p>
          <a:p>
            <a:pPr lvl="1"/>
            <a:r>
              <a:rPr lang="zh-CN" altLang="en-US" sz="2000" dirty="0" smtClean="0"/>
              <a:t>满足变量非负约束的</a:t>
            </a:r>
            <a:r>
              <a:rPr lang="en-US" altLang="zh-CN" sz="2000" dirty="0" smtClean="0"/>
              <a:t>(</a:t>
            </a:r>
            <a:r>
              <a:rPr lang="zh-CN" altLang="en-US" sz="2000" dirty="0" smtClean="0"/>
              <a:t>即</a:t>
            </a:r>
            <a:r>
              <a:rPr lang="en-US" altLang="zh-CN" sz="2000" i="1" dirty="0" smtClean="0"/>
              <a:t>B</a:t>
            </a:r>
            <a:r>
              <a:rPr lang="en-US" altLang="zh-CN" sz="2000" i="1" baseline="30000" dirty="0" smtClean="0"/>
              <a:t>-1</a:t>
            </a:r>
            <a:r>
              <a:rPr lang="en-US" altLang="zh-CN" sz="2000" i="1" dirty="0" smtClean="0"/>
              <a:t>b</a:t>
            </a:r>
            <a:r>
              <a:rPr lang="zh-CN" altLang="en-US" sz="2000" i="1" dirty="0" smtClean="0"/>
              <a:t>≥</a:t>
            </a:r>
            <a:r>
              <a:rPr lang="en-US" altLang="zh-CN" sz="2000" i="1" dirty="0" smtClean="0"/>
              <a:t>0</a:t>
            </a:r>
            <a:r>
              <a:rPr lang="en-US" altLang="zh-CN" sz="2000" dirty="0" smtClean="0"/>
              <a:t>)</a:t>
            </a:r>
            <a:r>
              <a:rPr lang="zh-CN" altLang="en-US" sz="2000" dirty="0" smtClean="0"/>
              <a:t>的基解称为</a:t>
            </a:r>
            <a:r>
              <a:rPr lang="zh-CN" altLang="en-US" sz="2000" dirty="0" smtClean="0">
                <a:solidFill>
                  <a:srgbClr val="FF0000"/>
                </a:solidFill>
              </a:rPr>
              <a:t>“基可行解”</a:t>
            </a:r>
            <a:r>
              <a:rPr lang="zh-CN" altLang="en-US" sz="2000" dirty="0" smtClean="0"/>
              <a:t>；</a:t>
            </a:r>
            <a:endParaRPr lang="en-US" altLang="zh-CN" sz="2000" dirty="0" smtClean="0"/>
          </a:p>
          <a:p>
            <a:pPr lvl="1"/>
            <a:r>
              <a:rPr lang="zh-CN" altLang="en-US" sz="2000" dirty="0"/>
              <a:t>对应</a:t>
            </a:r>
            <a:r>
              <a:rPr lang="zh-CN" altLang="en-US" sz="2000" dirty="0" smtClean="0"/>
              <a:t>于</a:t>
            </a:r>
            <a:r>
              <a:rPr lang="zh-CN" altLang="en-US" sz="2000" dirty="0"/>
              <a:t>基</a:t>
            </a:r>
            <a:r>
              <a:rPr lang="zh-CN" altLang="en-US" sz="2000" dirty="0" smtClean="0"/>
              <a:t>可行解的基阵称为一个</a:t>
            </a:r>
            <a:r>
              <a:rPr lang="zh-CN" altLang="en-US" sz="2000" dirty="0" smtClean="0">
                <a:solidFill>
                  <a:srgbClr val="FF0000"/>
                </a:solidFill>
              </a:rPr>
              <a:t>“可行基”</a:t>
            </a:r>
            <a:r>
              <a:rPr lang="zh-CN" altLang="en-US" sz="2000" dirty="0" smtClean="0"/>
              <a:t>。</a:t>
            </a:r>
            <a:endParaRPr lang="en-US" altLang="zh-CN" sz="2000" dirty="0" smtClean="0"/>
          </a:p>
          <a:p>
            <a:pPr lvl="1"/>
            <a:endParaRPr lang="en-US" altLang="zh-CN" sz="2000" dirty="0"/>
          </a:p>
        </p:txBody>
      </p:sp>
    </p:spTree>
    <p:extLst>
      <p:ext uri="{BB962C8B-B14F-4D97-AF65-F5344CB8AC3E}">
        <p14:creationId xmlns:p14="http://schemas.microsoft.com/office/powerpoint/2010/main" val="4167771803"/>
      </p:ext>
    </p:extLst>
  </p:cSld>
  <p:clrMapOvr>
    <a:masterClrMapping/>
  </p:clrMapOvr>
  <p:transition advClick="0">
    <p:strips dir="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CN" sz="3200" dirty="0" smtClean="0"/>
              <a:t>2.4.1 </a:t>
            </a:r>
            <a:r>
              <a:rPr lang="zh-CN" altLang="en-US" sz="3200" dirty="0"/>
              <a:t>几个基本概念</a:t>
            </a:r>
            <a:endParaRPr lang="zh-CN" altLang="en-US" sz="3200" noProof="1">
              <a:sym typeface="+mn-ea"/>
            </a:endParaRPr>
          </a:p>
        </p:txBody>
      </p:sp>
      <p:sp>
        <p:nvSpPr>
          <p:cNvPr id="2" name="内容占位符 1"/>
          <p:cNvSpPr>
            <a:spLocks noGrp="1"/>
          </p:cNvSpPr>
          <p:nvPr>
            <p:ph idx="1"/>
          </p:nvPr>
        </p:nvSpPr>
        <p:spPr/>
        <p:txBody>
          <a:bodyPr/>
          <a:lstStyle/>
          <a:p>
            <a:r>
              <a:rPr lang="zh-CN" altLang="en-US" dirty="0" smtClean="0"/>
              <a:t>（</a:t>
            </a:r>
            <a:r>
              <a:rPr lang="en-US" altLang="zh-CN" dirty="0" smtClean="0"/>
              <a:t>4</a:t>
            </a:r>
            <a:r>
              <a:rPr lang="zh-CN" altLang="en-US" dirty="0" smtClean="0"/>
              <a:t>）</a:t>
            </a:r>
            <a:r>
              <a:rPr lang="zh-CN" altLang="en-US" dirty="0">
                <a:latin typeface="Times New Roman" panose="02020603050405020304" pitchFamily="18" charset="0"/>
                <a:cs typeface="Times New Roman" panose="02020603050405020304" pitchFamily="18" charset="0"/>
              </a:rPr>
              <a:t>凸集与凸组合</a:t>
            </a:r>
          </a:p>
          <a:p>
            <a:pPr lvl="1"/>
            <a:r>
              <a:rPr lang="zh-CN" altLang="en-US" sz="2000" dirty="0" smtClean="0"/>
              <a:t>设</a:t>
            </a:r>
            <a:r>
              <a:rPr lang="en-US" altLang="zh-CN" sz="2000" i="1" dirty="0" smtClean="0"/>
              <a:t>D</a:t>
            </a:r>
            <a:r>
              <a:rPr lang="zh-CN" altLang="en-US" sz="2000" dirty="0" smtClean="0"/>
              <a:t>是</a:t>
            </a:r>
            <a:r>
              <a:rPr lang="en-US" altLang="zh-CN" sz="2000" i="1" dirty="0" smtClean="0"/>
              <a:t>n</a:t>
            </a:r>
            <a:r>
              <a:rPr lang="zh-CN" altLang="en-US" sz="2000" dirty="0" smtClean="0"/>
              <a:t>维欧式空间的一点集，若</a:t>
            </a:r>
            <a:r>
              <a:rPr lang="en-US" altLang="zh-CN" sz="2000" i="1" dirty="0"/>
              <a:t>D</a:t>
            </a:r>
            <a:r>
              <a:rPr lang="zh-CN" altLang="en-US" sz="2000" dirty="0" smtClean="0"/>
              <a:t>中任意两点</a:t>
            </a:r>
            <a:r>
              <a:rPr lang="en-US" altLang="zh-CN" sz="2000" i="1" dirty="0" smtClean="0"/>
              <a:t>X</a:t>
            </a:r>
            <a:r>
              <a:rPr lang="en-US" altLang="zh-CN" sz="2000" i="1" baseline="-25000" dirty="0" smtClean="0"/>
              <a:t>1</a:t>
            </a:r>
            <a:r>
              <a:rPr lang="zh-CN" altLang="en-US" sz="2000" dirty="0" smtClean="0"/>
              <a:t>和</a:t>
            </a:r>
            <a:r>
              <a:rPr lang="en-US" altLang="zh-CN" sz="2000" i="1" dirty="0" smtClean="0"/>
              <a:t>X</a:t>
            </a:r>
            <a:r>
              <a:rPr lang="en-US" altLang="zh-CN" sz="2000" i="1" baseline="-25000" dirty="0" smtClean="0"/>
              <a:t>2</a:t>
            </a:r>
            <a:r>
              <a:rPr lang="zh-CN" altLang="en-US" sz="2000" dirty="0" smtClean="0"/>
              <a:t>的连线上的所有点也属于集合</a:t>
            </a:r>
            <a:r>
              <a:rPr lang="en-US" altLang="zh-CN" sz="2000" i="1" dirty="0" smtClean="0"/>
              <a:t>D</a:t>
            </a:r>
            <a:r>
              <a:rPr lang="zh-CN" altLang="en-US" sz="2000" dirty="0" smtClean="0"/>
              <a:t>，则称集合</a:t>
            </a:r>
            <a:r>
              <a:rPr lang="en-US" altLang="zh-CN" sz="2000" i="1" dirty="0"/>
              <a:t>D</a:t>
            </a:r>
            <a:r>
              <a:rPr lang="zh-CN" altLang="en-US" sz="2000" dirty="0" smtClean="0"/>
              <a:t>为一个</a:t>
            </a:r>
            <a:r>
              <a:rPr lang="zh-CN" altLang="en-US" sz="2000" dirty="0" smtClean="0">
                <a:solidFill>
                  <a:srgbClr val="FF0000"/>
                </a:solidFill>
              </a:rPr>
              <a:t>“</a:t>
            </a:r>
            <a:r>
              <a:rPr lang="zh-CN" altLang="en-US" sz="2000" dirty="0">
                <a:solidFill>
                  <a:srgbClr val="FF0000"/>
                </a:solidFill>
              </a:rPr>
              <a:t>凸集</a:t>
            </a:r>
            <a:r>
              <a:rPr lang="zh-CN" altLang="en-US" sz="2000" dirty="0" smtClean="0">
                <a:solidFill>
                  <a:srgbClr val="FF0000"/>
                </a:solidFill>
              </a:rPr>
              <a:t>”</a:t>
            </a:r>
            <a:r>
              <a:rPr lang="zh-CN" altLang="en-US" sz="2000" dirty="0" smtClean="0"/>
              <a:t> 。</a:t>
            </a:r>
            <a:endParaRPr lang="en-US" altLang="zh-CN" sz="2000" dirty="0" smtClean="0"/>
          </a:p>
          <a:p>
            <a:pPr lvl="1"/>
            <a:r>
              <a:rPr lang="zh-CN" altLang="en-US" sz="2000" dirty="0" smtClean="0"/>
              <a:t>两点</a:t>
            </a:r>
            <a:r>
              <a:rPr lang="en-US" altLang="zh-CN" sz="2000" i="1" dirty="0"/>
              <a:t>X</a:t>
            </a:r>
            <a:r>
              <a:rPr lang="en-US" altLang="zh-CN" sz="2000" i="1" baseline="-25000" dirty="0"/>
              <a:t>1</a:t>
            </a:r>
            <a:r>
              <a:rPr lang="zh-CN" altLang="en-US" sz="2000" dirty="0"/>
              <a:t>和</a:t>
            </a:r>
            <a:r>
              <a:rPr lang="en-US" altLang="zh-CN" sz="2000" i="1" dirty="0"/>
              <a:t>X</a:t>
            </a:r>
            <a:r>
              <a:rPr lang="en-US" altLang="zh-CN" sz="2000" i="1" baseline="-25000" dirty="0"/>
              <a:t>2</a:t>
            </a:r>
            <a:r>
              <a:rPr lang="zh-CN" altLang="en-US" sz="2000" dirty="0" smtClean="0"/>
              <a:t>之间的连线可以表示为</a:t>
            </a:r>
            <a:r>
              <a:rPr lang="en-US" altLang="zh-CN" sz="2000" i="1" dirty="0" smtClean="0"/>
              <a:t>aX</a:t>
            </a:r>
            <a:r>
              <a:rPr lang="en-US" altLang="zh-CN" sz="2000" i="1" baseline="-25000" dirty="0" smtClean="0"/>
              <a:t>1</a:t>
            </a:r>
            <a:r>
              <a:rPr lang="en-US" altLang="zh-CN" sz="2000" dirty="0" smtClean="0"/>
              <a:t>+(1-</a:t>
            </a:r>
            <a:r>
              <a:rPr lang="en-US" altLang="zh-CN" sz="2000" i="1" dirty="0" smtClean="0"/>
              <a:t>a</a:t>
            </a:r>
            <a:r>
              <a:rPr lang="en-US" altLang="zh-CN" sz="2000" dirty="0" smtClean="0"/>
              <a:t>)</a:t>
            </a:r>
            <a:r>
              <a:rPr lang="en-US" altLang="zh-CN" sz="2000" i="1" dirty="0" smtClean="0"/>
              <a:t>X</a:t>
            </a:r>
            <a:r>
              <a:rPr lang="en-US" altLang="zh-CN" sz="2000" i="1" baseline="-25000" dirty="0" smtClean="0"/>
              <a:t>2 </a:t>
            </a:r>
            <a:r>
              <a:rPr lang="zh-CN" altLang="en-US" sz="2000" dirty="0" smtClean="0"/>
              <a:t>其中</a:t>
            </a:r>
            <a:r>
              <a:rPr lang="en-US" altLang="zh-CN" sz="2000" dirty="0" smtClean="0"/>
              <a:t>0&lt;</a:t>
            </a:r>
            <a:r>
              <a:rPr lang="en-US" altLang="zh-CN" sz="2000" i="1" dirty="0" smtClean="0"/>
              <a:t>a</a:t>
            </a:r>
            <a:r>
              <a:rPr lang="en-US" altLang="zh-CN" sz="2000" dirty="0" smtClean="0"/>
              <a:t>&lt;1</a:t>
            </a:r>
            <a:r>
              <a:rPr lang="zh-CN" altLang="en-US" sz="2000" dirty="0" smtClean="0"/>
              <a:t>。因此，凸集用数学语言描述为：对集合</a:t>
            </a:r>
            <a:r>
              <a:rPr lang="en-US" altLang="zh-CN" sz="2000" i="1" dirty="0"/>
              <a:t>D</a:t>
            </a:r>
            <a:r>
              <a:rPr lang="zh-CN" altLang="en-US" sz="2000" dirty="0" smtClean="0"/>
              <a:t>中任意两点</a:t>
            </a:r>
            <a:r>
              <a:rPr lang="en-US" altLang="zh-CN" sz="2000" i="1" dirty="0"/>
              <a:t>X</a:t>
            </a:r>
            <a:r>
              <a:rPr lang="en-US" altLang="zh-CN" sz="2000" i="1" baseline="-25000" dirty="0"/>
              <a:t>1</a:t>
            </a:r>
            <a:r>
              <a:rPr lang="zh-CN" altLang="en-US" sz="2000" dirty="0"/>
              <a:t>和</a:t>
            </a:r>
            <a:r>
              <a:rPr lang="en-US" altLang="zh-CN" sz="2000" i="1" dirty="0"/>
              <a:t>X</a:t>
            </a:r>
            <a:r>
              <a:rPr lang="en-US" altLang="zh-CN" sz="2000" i="1" baseline="-25000" dirty="0"/>
              <a:t>2 </a:t>
            </a:r>
            <a:r>
              <a:rPr lang="zh-CN" altLang="en-US" sz="2000" dirty="0" smtClean="0"/>
              <a:t>，如果</a:t>
            </a:r>
            <a:r>
              <a:rPr lang="en-US" altLang="zh-CN" sz="2000" i="1" dirty="0" smtClean="0"/>
              <a:t>a</a:t>
            </a:r>
            <a:r>
              <a:rPr lang="zh-CN" altLang="en-US" sz="2000" dirty="0" smtClean="0"/>
              <a:t>∈</a:t>
            </a:r>
            <a:r>
              <a:rPr lang="en-US" altLang="zh-CN" sz="2000" dirty="0" smtClean="0"/>
              <a:t>(0,1),</a:t>
            </a:r>
            <a:r>
              <a:rPr lang="zh-CN" altLang="en-US" sz="2000" dirty="0" smtClean="0"/>
              <a:t>均有</a:t>
            </a:r>
            <a:r>
              <a:rPr lang="en-US" altLang="zh-CN" sz="2000" i="1" dirty="0"/>
              <a:t>aX</a:t>
            </a:r>
            <a:r>
              <a:rPr lang="en-US" altLang="zh-CN" sz="2000" i="1" baseline="-25000" dirty="0"/>
              <a:t>1</a:t>
            </a:r>
            <a:r>
              <a:rPr lang="en-US" altLang="zh-CN" sz="2000" dirty="0"/>
              <a:t>+(1-</a:t>
            </a:r>
            <a:r>
              <a:rPr lang="en-US" altLang="zh-CN" sz="2000" i="1" dirty="0"/>
              <a:t>a</a:t>
            </a:r>
            <a:r>
              <a:rPr lang="en-US" altLang="zh-CN" sz="2000" dirty="0"/>
              <a:t>)</a:t>
            </a:r>
            <a:r>
              <a:rPr lang="en-US" altLang="zh-CN" sz="2000" i="1" dirty="0"/>
              <a:t>X</a:t>
            </a:r>
            <a:r>
              <a:rPr lang="en-US" altLang="zh-CN" sz="2000" i="1" baseline="-25000" dirty="0"/>
              <a:t>2 </a:t>
            </a:r>
            <a:r>
              <a:rPr lang="zh-CN" altLang="en-US" sz="2000" dirty="0" smtClean="0"/>
              <a:t>∈</a:t>
            </a:r>
            <a:r>
              <a:rPr lang="en-US" altLang="zh-CN" sz="2000" i="1" dirty="0" smtClean="0"/>
              <a:t>D</a:t>
            </a:r>
            <a:r>
              <a:rPr lang="zh-CN" altLang="en-US" sz="2000" dirty="0" smtClean="0"/>
              <a:t>，则称集合</a:t>
            </a:r>
            <a:r>
              <a:rPr lang="en-US" altLang="zh-CN" sz="2000" i="1" dirty="0"/>
              <a:t>D</a:t>
            </a:r>
            <a:r>
              <a:rPr lang="zh-CN" altLang="en-US" sz="2000" dirty="0" smtClean="0"/>
              <a:t>为</a:t>
            </a:r>
            <a:r>
              <a:rPr lang="zh-CN" altLang="en-US" sz="2000" dirty="0"/>
              <a:t>一个</a:t>
            </a:r>
            <a:r>
              <a:rPr lang="zh-CN" altLang="en-US" sz="2000" dirty="0">
                <a:solidFill>
                  <a:srgbClr val="FF0000"/>
                </a:solidFill>
              </a:rPr>
              <a:t>“凸集”</a:t>
            </a:r>
            <a:r>
              <a:rPr lang="zh-CN" altLang="en-US" sz="2000" dirty="0"/>
              <a:t> 。</a:t>
            </a:r>
          </a:p>
          <a:p>
            <a:pPr lvl="1"/>
            <a:endParaRPr lang="zh-CN" altLang="en-US" sz="2000" dirty="0"/>
          </a:p>
        </p:txBody>
      </p:sp>
      <p:pic>
        <p:nvPicPr>
          <p:cNvPr id="6" name="图片 8"/>
          <p:cNvPicPr>
            <a:picLocks noChangeAspect="1" noChangeArrowheads="1"/>
          </p:cNvPicPr>
          <p:nvPr/>
        </p:nvPicPr>
        <p:blipFill rotWithShape="1">
          <a:blip r:embed="rId2">
            <a:extLst>
              <a:ext uri="{28A0092B-C50C-407E-A947-70E740481C1C}">
                <a14:useLocalDpi xmlns:a14="http://schemas.microsoft.com/office/drawing/2010/main" val="0"/>
              </a:ext>
            </a:extLst>
          </a:blip>
          <a:srcRect b="25194"/>
          <a:stretch/>
        </p:blipFill>
        <p:spPr bwMode="auto">
          <a:xfrm>
            <a:off x="1403350" y="5457825"/>
            <a:ext cx="6152185" cy="955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8" descr="1g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0165" y="3956864"/>
            <a:ext cx="4898553" cy="1426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4403072"/>
      </p:ext>
    </p:extLst>
  </p:cSld>
  <p:clrMapOvr>
    <a:masterClrMapping/>
  </p:clrMapOvr>
  <p:transition advClick="0">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CN" sz="3200" dirty="0" smtClean="0"/>
              <a:t>2.4.1 </a:t>
            </a:r>
            <a:r>
              <a:rPr lang="zh-CN" altLang="en-US" sz="3200" dirty="0"/>
              <a:t>几个基本概念</a:t>
            </a:r>
            <a:endParaRPr lang="zh-CN" altLang="en-US" sz="3200" noProof="1">
              <a:sym typeface="+mn-ea"/>
            </a:endParaRPr>
          </a:p>
        </p:txBody>
      </p:sp>
      <p:sp>
        <p:nvSpPr>
          <p:cNvPr id="2" name="内容占位符 1"/>
          <p:cNvSpPr>
            <a:spLocks noGrp="1"/>
          </p:cNvSpPr>
          <p:nvPr>
            <p:ph idx="1"/>
          </p:nvPr>
        </p:nvSpPr>
        <p:spPr/>
        <p:txBody>
          <a:bodyPr/>
          <a:lstStyle/>
          <a:p>
            <a:r>
              <a:rPr lang="zh-CN" altLang="en-US" dirty="0" smtClean="0"/>
              <a:t>（</a:t>
            </a:r>
            <a:r>
              <a:rPr lang="en-US" altLang="zh-CN" dirty="0" smtClean="0"/>
              <a:t>4</a:t>
            </a:r>
            <a:r>
              <a:rPr lang="zh-CN" altLang="en-US" dirty="0" smtClean="0"/>
              <a:t>）</a:t>
            </a:r>
            <a:r>
              <a:rPr lang="zh-CN" altLang="en-US" dirty="0">
                <a:latin typeface="Times New Roman" panose="02020603050405020304" pitchFamily="18" charset="0"/>
                <a:cs typeface="Times New Roman" panose="02020603050405020304" pitchFamily="18" charset="0"/>
              </a:rPr>
              <a:t>凸集与凸组合</a:t>
            </a:r>
          </a:p>
          <a:p>
            <a:pPr lvl="1"/>
            <a:r>
              <a:rPr lang="zh-CN" altLang="en-US" sz="2000" dirty="0" smtClean="0"/>
              <a:t>设</a:t>
            </a:r>
            <a:r>
              <a:rPr lang="en-US" altLang="zh-CN" sz="2000" i="1" dirty="0" smtClean="0"/>
              <a:t>X</a:t>
            </a:r>
            <a:r>
              <a:rPr lang="en-US" altLang="zh-CN" sz="2000" i="1" baseline="-25000" dirty="0" smtClean="0"/>
              <a:t>i</a:t>
            </a:r>
            <a:r>
              <a:rPr lang="en-US" altLang="zh-CN" sz="2000" dirty="0" smtClean="0"/>
              <a:t>, </a:t>
            </a:r>
            <a:r>
              <a:rPr lang="en-US" altLang="zh-CN" sz="2000" i="1" dirty="0" err="1" smtClean="0"/>
              <a:t>i</a:t>
            </a:r>
            <a:r>
              <a:rPr lang="en-US" altLang="zh-CN" sz="2000" i="1" dirty="0" smtClean="0"/>
              <a:t>=1,2</a:t>
            </a:r>
            <a:r>
              <a:rPr lang="en-US" altLang="zh-CN" sz="2000" i="1" dirty="0"/>
              <a:t>, … k</a:t>
            </a:r>
            <a:r>
              <a:rPr lang="en-US" altLang="zh-CN" sz="2000" i="1" dirty="0" smtClean="0"/>
              <a:t>,</a:t>
            </a:r>
            <a:r>
              <a:rPr lang="zh-CN" altLang="en-US" sz="2000" dirty="0"/>
              <a:t>是</a:t>
            </a:r>
            <a:r>
              <a:rPr lang="en-US" altLang="zh-CN" sz="2000" i="1" dirty="0" smtClean="0"/>
              <a:t>n</a:t>
            </a:r>
            <a:r>
              <a:rPr lang="zh-CN" altLang="en-US" sz="2000" dirty="0" smtClean="0"/>
              <a:t>维欧式空间中的</a:t>
            </a:r>
            <a:r>
              <a:rPr lang="en-US" altLang="zh-CN" sz="2000" i="1" dirty="0"/>
              <a:t>k</a:t>
            </a:r>
            <a:r>
              <a:rPr lang="zh-CN" altLang="en-US" sz="2000" dirty="0" smtClean="0"/>
              <a:t>个点，若存在一组数</a:t>
            </a:r>
            <a:r>
              <a:rPr lang="en-US" altLang="zh-CN" sz="2000" i="1" dirty="0" err="1" smtClean="0"/>
              <a:t>μ</a:t>
            </a:r>
            <a:r>
              <a:rPr lang="en-US" altLang="zh-CN" sz="2000" i="1" baseline="-25000" dirty="0" err="1" smtClean="0"/>
              <a:t>i</a:t>
            </a:r>
            <a:r>
              <a:rPr lang="en-US" altLang="zh-CN" sz="2000" i="1" baseline="-25000" dirty="0" smtClean="0"/>
              <a:t> </a:t>
            </a:r>
            <a:r>
              <a:rPr lang="en-US" altLang="zh-CN" sz="2000" dirty="0"/>
              <a:t>, </a:t>
            </a:r>
            <a:r>
              <a:rPr lang="en-US" altLang="zh-CN" sz="2000" i="1" dirty="0" err="1"/>
              <a:t>i</a:t>
            </a:r>
            <a:r>
              <a:rPr lang="en-US" altLang="zh-CN" sz="2000" i="1" dirty="0"/>
              <a:t>=1,2, … k, </a:t>
            </a:r>
            <a:r>
              <a:rPr lang="zh-CN" altLang="en-US" sz="2000" dirty="0" smtClean="0"/>
              <a:t>满足</a:t>
            </a:r>
            <a:r>
              <a:rPr lang="en-US" altLang="zh-CN" sz="2000" i="1" dirty="0" err="1"/>
              <a:t>μ</a:t>
            </a:r>
            <a:r>
              <a:rPr lang="en-US" altLang="zh-CN" sz="2000" i="1" baseline="-25000" dirty="0" err="1"/>
              <a:t>i</a:t>
            </a:r>
            <a:r>
              <a:rPr lang="en-US" altLang="zh-CN" sz="2000" i="1" baseline="-25000" dirty="0"/>
              <a:t> </a:t>
            </a:r>
            <a:r>
              <a:rPr lang="zh-CN" altLang="en-US" sz="2000" dirty="0" smtClean="0"/>
              <a:t>∈</a:t>
            </a:r>
            <a:r>
              <a:rPr lang="en-US" altLang="zh-CN" sz="2000" dirty="0" smtClean="0"/>
              <a:t>[</a:t>
            </a:r>
            <a:r>
              <a:rPr lang="en-US" altLang="zh-CN" sz="2000" dirty="0"/>
              <a:t>0,1</a:t>
            </a:r>
            <a:r>
              <a:rPr lang="en-US" altLang="zh-CN" sz="2000" dirty="0" smtClean="0"/>
              <a:t>], </a:t>
            </a:r>
            <a:r>
              <a:rPr lang="zh-CN" altLang="en-US" sz="2000" dirty="0" smtClean="0"/>
              <a:t>而且</a:t>
            </a:r>
            <a:r>
              <a:rPr lang="en-US" altLang="zh-CN" sz="2000" i="1" dirty="0" smtClean="0"/>
              <a:t>μ</a:t>
            </a:r>
            <a:r>
              <a:rPr lang="en-US" altLang="zh-CN" sz="2000" i="1" baseline="-25000" dirty="0" smtClean="0"/>
              <a:t>1 </a:t>
            </a:r>
            <a:r>
              <a:rPr lang="en-US" altLang="zh-CN" sz="2000" dirty="0" smtClean="0"/>
              <a:t>+</a:t>
            </a:r>
            <a:r>
              <a:rPr lang="en-US" altLang="zh-CN" sz="2000" i="1" dirty="0"/>
              <a:t> </a:t>
            </a:r>
            <a:r>
              <a:rPr lang="en-US" altLang="zh-CN" sz="2000" i="1" dirty="0" smtClean="0"/>
              <a:t>μ</a:t>
            </a:r>
            <a:r>
              <a:rPr lang="en-US" altLang="zh-CN" sz="2000" i="1" baseline="-25000" dirty="0" smtClean="0"/>
              <a:t>2 </a:t>
            </a:r>
            <a:r>
              <a:rPr lang="en-US" altLang="zh-CN" sz="2000" dirty="0" smtClean="0"/>
              <a:t>+</a:t>
            </a:r>
            <a:r>
              <a:rPr lang="en-US" altLang="zh-CN" sz="2000" i="1" dirty="0"/>
              <a:t> … </a:t>
            </a:r>
            <a:r>
              <a:rPr lang="en-US" altLang="zh-CN" sz="2000" dirty="0" smtClean="0"/>
              <a:t>+</a:t>
            </a:r>
            <a:r>
              <a:rPr lang="en-US" altLang="zh-CN" sz="2000" i="1" dirty="0" smtClean="0"/>
              <a:t> </a:t>
            </a:r>
            <a:r>
              <a:rPr lang="en-US" altLang="zh-CN" sz="2000" i="1" dirty="0" err="1" smtClean="0"/>
              <a:t>μ</a:t>
            </a:r>
            <a:r>
              <a:rPr lang="en-US" altLang="zh-CN" sz="2000" i="1" baseline="-25000" dirty="0" err="1" smtClean="0"/>
              <a:t>k</a:t>
            </a:r>
            <a:r>
              <a:rPr lang="en-US" altLang="zh-CN" sz="2000" i="1" baseline="-25000" dirty="0" smtClean="0"/>
              <a:t> </a:t>
            </a:r>
            <a:r>
              <a:rPr lang="en-US" altLang="zh-CN" sz="2000" dirty="0" smtClean="0"/>
              <a:t>=1,</a:t>
            </a:r>
            <a:r>
              <a:rPr lang="zh-CN" altLang="en-US" sz="2000" dirty="0" smtClean="0"/>
              <a:t>那么</a:t>
            </a:r>
            <a:r>
              <a:rPr lang="en-US" altLang="zh-CN" sz="2000" i="1" dirty="0" smtClean="0"/>
              <a:t>X</a:t>
            </a:r>
            <a:r>
              <a:rPr lang="en-US" altLang="zh-CN" sz="2000" dirty="0" smtClean="0"/>
              <a:t>=</a:t>
            </a:r>
            <a:r>
              <a:rPr lang="en-US" altLang="zh-CN" sz="2000" i="1" dirty="0"/>
              <a:t> μ</a:t>
            </a:r>
            <a:r>
              <a:rPr lang="en-US" altLang="zh-CN" sz="2000" i="1" baseline="-25000" dirty="0"/>
              <a:t>1 </a:t>
            </a:r>
            <a:r>
              <a:rPr lang="en-US" altLang="zh-CN" sz="2000" i="1" dirty="0" smtClean="0"/>
              <a:t>X</a:t>
            </a:r>
            <a:r>
              <a:rPr lang="en-US" altLang="zh-CN" sz="2000" i="1" baseline="-25000" dirty="0" smtClean="0"/>
              <a:t>1 </a:t>
            </a:r>
            <a:r>
              <a:rPr lang="en-US" altLang="zh-CN" sz="2000" dirty="0" smtClean="0"/>
              <a:t>+</a:t>
            </a:r>
            <a:r>
              <a:rPr lang="en-US" altLang="zh-CN" sz="2000" i="1" dirty="0" smtClean="0"/>
              <a:t> </a:t>
            </a:r>
            <a:r>
              <a:rPr lang="en-US" altLang="zh-CN" sz="2000" i="1" dirty="0"/>
              <a:t>μ</a:t>
            </a:r>
            <a:r>
              <a:rPr lang="en-US" altLang="zh-CN" sz="2000" i="1" baseline="-25000" dirty="0"/>
              <a:t>2 </a:t>
            </a:r>
            <a:r>
              <a:rPr lang="en-US" altLang="zh-CN" sz="2000" i="1" dirty="0" smtClean="0"/>
              <a:t>X</a:t>
            </a:r>
            <a:r>
              <a:rPr lang="en-US" altLang="zh-CN" sz="2000" i="1" baseline="-25000" dirty="0"/>
              <a:t>2</a:t>
            </a:r>
            <a:r>
              <a:rPr lang="en-US" altLang="zh-CN" sz="2000" dirty="0" smtClean="0"/>
              <a:t>+</a:t>
            </a:r>
            <a:r>
              <a:rPr lang="en-US" altLang="zh-CN" sz="2000" i="1" dirty="0" smtClean="0"/>
              <a:t> </a:t>
            </a:r>
            <a:r>
              <a:rPr lang="en-US" altLang="zh-CN" sz="2000" i="1" dirty="0"/>
              <a:t>… </a:t>
            </a:r>
            <a:r>
              <a:rPr lang="en-US" altLang="zh-CN" sz="2000" dirty="0"/>
              <a:t>+</a:t>
            </a:r>
            <a:r>
              <a:rPr lang="en-US" altLang="zh-CN" sz="2000" i="1" dirty="0"/>
              <a:t> </a:t>
            </a:r>
            <a:r>
              <a:rPr lang="en-US" altLang="zh-CN" sz="2000" i="1" dirty="0" err="1" smtClean="0"/>
              <a:t>μ</a:t>
            </a:r>
            <a:r>
              <a:rPr lang="en-US" altLang="zh-CN" sz="2000" i="1" baseline="-25000" dirty="0" err="1" smtClean="0"/>
              <a:t>k</a:t>
            </a:r>
            <a:r>
              <a:rPr lang="en-US" altLang="zh-CN" sz="2000" i="1" dirty="0"/>
              <a:t> </a:t>
            </a:r>
            <a:r>
              <a:rPr lang="en-US" altLang="zh-CN" sz="2000" i="1" dirty="0" err="1" smtClean="0"/>
              <a:t>X</a:t>
            </a:r>
            <a:r>
              <a:rPr lang="en-US" altLang="zh-CN" sz="2000" i="1" baseline="-25000" dirty="0" err="1" smtClean="0"/>
              <a:t>k</a:t>
            </a:r>
            <a:r>
              <a:rPr lang="zh-CN" altLang="en-US" sz="2000" dirty="0" smtClean="0"/>
              <a:t>是点</a:t>
            </a:r>
            <a:r>
              <a:rPr lang="en-US" altLang="zh-CN" sz="2000" i="1" dirty="0" smtClean="0"/>
              <a:t>X</a:t>
            </a:r>
            <a:r>
              <a:rPr lang="en-US" altLang="zh-CN" sz="2000" i="1" baseline="-25000" dirty="0" smtClean="0"/>
              <a:t>1</a:t>
            </a:r>
            <a:r>
              <a:rPr lang="en-US" altLang="zh-CN" sz="2000" i="1" dirty="0"/>
              <a:t> </a:t>
            </a:r>
            <a:r>
              <a:rPr lang="en-US" altLang="zh-CN" sz="2000" i="1" dirty="0" smtClean="0"/>
              <a:t>,X</a:t>
            </a:r>
            <a:r>
              <a:rPr lang="en-US" altLang="zh-CN" sz="2000" i="1" baseline="-25000" dirty="0" smtClean="0"/>
              <a:t>2 </a:t>
            </a:r>
            <a:r>
              <a:rPr lang="en-US" altLang="zh-CN" sz="2000" dirty="0" smtClean="0"/>
              <a:t>,</a:t>
            </a:r>
            <a:r>
              <a:rPr lang="en-US" altLang="zh-CN" sz="2000" i="1" dirty="0" smtClean="0"/>
              <a:t> </a:t>
            </a:r>
            <a:r>
              <a:rPr lang="en-US" altLang="zh-CN" sz="2000" i="1" dirty="0"/>
              <a:t>… </a:t>
            </a:r>
            <a:r>
              <a:rPr lang="en-US" altLang="zh-CN" sz="2000" dirty="0" smtClean="0"/>
              <a:t>,</a:t>
            </a:r>
            <a:r>
              <a:rPr lang="en-US" altLang="zh-CN" sz="2000" i="1" dirty="0" smtClean="0"/>
              <a:t> </a:t>
            </a:r>
            <a:r>
              <a:rPr lang="en-US" altLang="zh-CN" sz="2000" i="1" dirty="0" err="1" smtClean="0"/>
              <a:t>X</a:t>
            </a:r>
            <a:r>
              <a:rPr lang="en-US" altLang="zh-CN" sz="2000" i="1" baseline="-25000" dirty="0" err="1" smtClean="0"/>
              <a:t>k</a:t>
            </a:r>
            <a:r>
              <a:rPr lang="zh-CN" altLang="en-US" sz="2000" dirty="0" smtClean="0"/>
              <a:t>的</a:t>
            </a:r>
            <a:r>
              <a:rPr lang="zh-CN" altLang="en-US" sz="2000" dirty="0" smtClean="0">
                <a:solidFill>
                  <a:srgbClr val="FF0000"/>
                </a:solidFill>
              </a:rPr>
              <a:t>“凸组合”</a:t>
            </a:r>
            <a:endParaRPr lang="en-US" altLang="zh-CN" sz="2000" dirty="0"/>
          </a:p>
          <a:p>
            <a:pPr lvl="1"/>
            <a:r>
              <a:rPr lang="zh-CN" altLang="en-US" sz="2000" dirty="0" smtClean="0"/>
              <a:t>相应地，对于一个凸集</a:t>
            </a:r>
            <a:r>
              <a:rPr lang="en-US" altLang="zh-CN" sz="2000" i="1" dirty="0" smtClean="0"/>
              <a:t>D</a:t>
            </a:r>
            <a:r>
              <a:rPr lang="zh-CN" altLang="en-US" sz="2000" dirty="0" smtClean="0"/>
              <a:t>中的点</a:t>
            </a:r>
            <a:r>
              <a:rPr lang="en-US" altLang="zh-CN" sz="2000" i="1" dirty="0" smtClean="0"/>
              <a:t>X</a:t>
            </a:r>
            <a:r>
              <a:rPr lang="zh-CN" altLang="en-US" sz="2000" dirty="0" smtClean="0"/>
              <a:t>，如果不存在</a:t>
            </a:r>
            <a:r>
              <a:rPr lang="en-US" altLang="zh-CN" sz="2000" i="1" dirty="0" smtClean="0"/>
              <a:t>X</a:t>
            </a:r>
            <a:r>
              <a:rPr lang="en-US" altLang="zh-CN" sz="2000" i="1" baseline="-25000" dirty="0" smtClean="0"/>
              <a:t>1</a:t>
            </a:r>
            <a:r>
              <a:rPr lang="zh-CN" altLang="en-US" sz="2000" dirty="0"/>
              <a:t> ∈</a:t>
            </a:r>
            <a:r>
              <a:rPr lang="en-US" altLang="zh-CN" sz="2000" i="1" dirty="0"/>
              <a:t>D</a:t>
            </a:r>
            <a:r>
              <a:rPr lang="zh-CN" altLang="en-US" sz="2000" dirty="0" smtClean="0"/>
              <a:t>和</a:t>
            </a:r>
            <a:r>
              <a:rPr lang="en-US" altLang="zh-CN" sz="2000" i="1" dirty="0" smtClean="0"/>
              <a:t>X</a:t>
            </a:r>
            <a:r>
              <a:rPr lang="en-US" altLang="zh-CN" sz="2000" i="1" baseline="-25000" dirty="0" smtClean="0"/>
              <a:t>2</a:t>
            </a:r>
            <a:r>
              <a:rPr lang="zh-CN" altLang="en-US" sz="2000" dirty="0"/>
              <a:t> ∈</a:t>
            </a:r>
            <a:r>
              <a:rPr lang="en-US" altLang="zh-CN" sz="2000" i="1" dirty="0" smtClean="0"/>
              <a:t>D</a:t>
            </a:r>
            <a:r>
              <a:rPr lang="zh-CN" altLang="en-US" sz="2000" dirty="0" smtClean="0"/>
              <a:t>使得</a:t>
            </a:r>
            <a:r>
              <a:rPr lang="en-US" altLang="zh-CN" sz="2000" i="1" dirty="0"/>
              <a:t>X</a:t>
            </a:r>
            <a:r>
              <a:rPr lang="zh-CN" altLang="en-US" sz="2000" dirty="0" smtClean="0"/>
              <a:t>成为这两点连线上的一个点，则称点</a:t>
            </a:r>
            <a:r>
              <a:rPr lang="en-US" altLang="zh-CN" sz="2000" i="1" dirty="0"/>
              <a:t>X</a:t>
            </a:r>
            <a:r>
              <a:rPr lang="zh-CN" altLang="en-US" sz="2000" dirty="0" smtClean="0"/>
              <a:t>为一个“</a:t>
            </a:r>
            <a:r>
              <a:rPr lang="zh-CN" altLang="en-US" sz="2000" dirty="0">
                <a:solidFill>
                  <a:srgbClr val="FF0000"/>
                </a:solidFill>
              </a:rPr>
              <a:t>顶点</a:t>
            </a:r>
            <a:r>
              <a:rPr lang="zh-CN" altLang="en-US" sz="2000" dirty="0" smtClean="0">
                <a:solidFill>
                  <a:srgbClr val="FF0000"/>
                </a:solidFill>
              </a:rPr>
              <a:t>”</a:t>
            </a:r>
            <a:r>
              <a:rPr lang="zh-CN" altLang="en-US" sz="2000" dirty="0" smtClean="0"/>
              <a:t> 。</a:t>
            </a:r>
            <a:endParaRPr lang="zh-CN" altLang="en-US" sz="2000" dirty="0"/>
          </a:p>
        </p:txBody>
      </p:sp>
    </p:spTree>
    <p:extLst>
      <p:ext uri="{BB962C8B-B14F-4D97-AF65-F5344CB8AC3E}">
        <p14:creationId xmlns:p14="http://schemas.microsoft.com/office/powerpoint/2010/main" val="3402672368"/>
      </p:ext>
    </p:extLst>
  </p:cSld>
  <p:clrMapOvr>
    <a:masterClrMapping/>
  </p:clrMapOvr>
  <p:transition advClick="0">
    <p:strips dir="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en-US" altLang="zh-CN" sz="3200" dirty="0" smtClean="0"/>
              <a:t>2.4.1 </a:t>
            </a:r>
            <a:r>
              <a:rPr lang="zh-CN" altLang="en-US" sz="3200" dirty="0"/>
              <a:t>几个基本概念</a:t>
            </a:r>
            <a:endParaRPr lang="zh-CN" altLang="en-US" sz="3200" noProof="1">
              <a:sym typeface="+mn-ea"/>
            </a:endParaRPr>
          </a:p>
        </p:txBody>
      </p:sp>
      <p:sp>
        <p:nvSpPr>
          <p:cNvPr id="2" name="内容占位符 1"/>
          <p:cNvSpPr>
            <a:spLocks noGrp="1"/>
          </p:cNvSpPr>
          <p:nvPr>
            <p:ph idx="1"/>
          </p:nvPr>
        </p:nvSpPr>
        <p:spPr/>
        <p:txBody>
          <a:bodyPr/>
          <a:lstStyle/>
          <a:p>
            <a:r>
              <a:rPr lang="zh-CN" altLang="en-US" dirty="0"/>
              <a:t>不同解之间的</a:t>
            </a:r>
            <a:r>
              <a:rPr lang="zh-CN" altLang="en-US" dirty="0" smtClean="0"/>
              <a:t>关系</a:t>
            </a:r>
            <a:endParaRPr lang="zh-CN" altLang="en-US" dirty="0"/>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79550" y="2376487"/>
            <a:ext cx="5683250" cy="3852863"/>
          </a:xfrm>
          <a:prstGeom prst="rect">
            <a:avLst/>
          </a:prstGeom>
          <a:noFill/>
        </p:spPr>
      </p:pic>
    </p:spTree>
    <p:extLst>
      <p:ext uri="{BB962C8B-B14F-4D97-AF65-F5344CB8AC3E}">
        <p14:creationId xmlns:p14="http://schemas.microsoft.com/office/powerpoint/2010/main" val="2623078234"/>
      </p:ext>
    </p:extLst>
  </p:cSld>
  <p:clrMapOvr>
    <a:masterClrMapping/>
  </p:clrMapOvr>
  <p:transition advClick="0">
    <p:strips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smtClean="0"/>
              <a:t>2.4.2 </a:t>
            </a:r>
            <a:r>
              <a:rPr lang="zh-CN" altLang="en-US" noProof="1"/>
              <a:t>几个基本定理</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sz="2000" dirty="0">
                    <a:solidFill>
                      <a:srgbClr val="FF0000"/>
                    </a:solidFill>
                  </a:rPr>
                  <a:t>定理</a:t>
                </a:r>
                <a:r>
                  <a:rPr lang="en-US" altLang="zh-CN" sz="2000" dirty="0" smtClean="0">
                    <a:solidFill>
                      <a:srgbClr val="FF0000"/>
                    </a:solidFill>
                  </a:rPr>
                  <a:t>1</a:t>
                </a:r>
                <a:r>
                  <a:rPr lang="zh-CN" altLang="en-US" sz="2000" dirty="0" smtClean="0"/>
                  <a:t>：若</a:t>
                </a:r>
                <a:r>
                  <a:rPr lang="zh-CN" altLang="en-US" sz="2000" dirty="0"/>
                  <a:t>线性规划问题存在</a:t>
                </a:r>
                <a:r>
                  <a:rPr lang="zh-CN" altLang="en-US" sz="2000" dirty="0" smtClean="0"/>
                  <a:t>可行</a:t>
                </a:r>
                <a:r>
                  <a:rPr lang="zh-CN" altLang="en-US" sz="2000" dirty="0"/>
                  <a:t>域</a:t>
                </a:r>
                <a:r>
                  <a:rPr lang="zh-CN" altLang="en-US" sz="2000" dirty="0" smtClean="0"/>
                  <a:t>，</a:t>
                </a:r>
                <a:r>
                  <a:rPr lang="zh-CN" altLang="en-US" sz="2000" dirty="0"/>
                  <a:t>则问题的可行域是凸集</a:t>
                </a:r>
                <a:r>
                  <a:rPr lang="zh-CN" altLang="en-US" sz="2000" dirty="0" smtClean="0"/>
                  <a:t>。</a:t>
                </a:r>
                <a:endParaRPr lang="en-US" altLang="zh-CN" sz="2000" dirty="0" smtClean="0"/>
              </a:p>
              <a:p>
                <a:r>
                  <a:rPr lang="zh-CN" altLang="en-US" sz="2000" dirty="0">
                    <a:solidFill>
                      <a:srgbClr val="FF0000"/>
                    </a:solidFill>
                  </a:rPr>
                  <a:t>引理</a:t>
                </a:r>
                <a:r>
                  <a:rPr lang="en-US" altLang="zh-CN" sz="2000" dirty="0">
                    <a:solidFill>
                      <a:srgbClr val="FF0000"/>
                    </a:solidFill>
                  </a:rPr>
                  <a:t>1</a:t>
                </a:r>
                <a:r>
                  <a:rPr lang="zh-CN" altLang="en-US" sz="2000" dirty="0"/>
                  <a:t>：</a:t>
                </a:r>
                <a:r>
                  <a:rPr lang="zh-CN" altLang="en-US" sz="2000" dirty="0">
                    <a:latin typeface="Times New Roman" panose="02020603050405020304" pitchFamily="18" charset="0"/>
                    <a:cs typeface="Times New Roman" panose="02020603050405020304" pitchFamily="18" charset="0"/>
                  </a:rPr>
                  <a:t>若</a:t>
                </a:r>
                <a:r>
                  <a:rPr lang="en-US" altLang="zh-CN" sz="2000" i="1"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是有界凸集，则任何一点</a:t>
                </a:r>
                <a:r>
                  <a:rPr lang="en-US" altLang="zh-CN" sz="2000" i="1" dirty="0">
                    <a:latin typeface="Times New Roman" panose="02020603050405020304" pitchFamily="18" charset="0"/>
                    <a:cs typeface="Times New Roman" panose="02020603050405020304" pitchFamily="18" charset="0"/>
                  </a:rPr>
                  <a:t>X</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可表示为</a:t>
                </a:r>
                <a:r>
                  <a:rPr lang="en-US" altLang="zh-CN" sz="2000" i="1"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的顶点的凸组合。 </a:t>
                </a:r>
                <a:endParaRPr lang="en-US" altLang="zh-CN" sz="2000" dirty="0">
                  <a:latin typeface="Times New Roman" panose="02020603050405020304" pitchFamily="18" charset="0"/>
                  <a:cs typeface="Times New Roman" panose="02020603050405020304" pitchFamily="18" charset="0"/>
                </a:endParaRPr>
              </a:p>
              <a:p>
                <a:r>
                  <a:rPr lang="zh-CN" altLang="en-US" sz="2000" dirty="0">
                    <a:solidFill>
                      <a:srgbClr val="FF0000"/>
                    </a:solidFill>
                  </a:rPr>
                  <a:t>定理</a:t>
                </a:r>
                <a:r>
                  <a:rPr lang="en-US" altLang="zh-CN" sz="2000" dirty="0">
                    <a:solidFill>
                      <a:srgbClr val="FF0000"/>
                    </a:solidFill>
                  </a:rPr>
                  <a:t>2</a:t>
                </a:r>
                <a:r>
                  <a:rPr lang="zh-CN" altLang="en-US" sz="2000" dirty="0"/>
                  <a:t>：</a:t>
                </a:r>
                <a:r>
                  <a:rPr lang="zh-CN" altLang="en-US" sz="2000" dirty="0">
                    <a:latin typeface="Times New Roman" panose="02020603050405020304" pitchFamily="18" charset="0"/>
                    <a:cs typeface="Times New Roman" panose="02020603050405020304" pitchFamily="18" charset="0"/>
                  </a:rPr>
                  <a:t>线性规划问题的基可行解</a:t>
                </a:r>
                <a:r>
                  <a:rPr lang="en-US" altLang="zh-CN" sz="2000" i="1"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对应于可行域</a:t>
                </a:r>
                <a:r>
                  <a:rPr lang="en-US" altLang="zh-CN" sz="2000" i="1" dirty="0">
                    <a:latin typeface="Times New Roman" panose="02020603050405020304" pitchFamily="18" charset="0"/>
                    <a:cs typeface="Times New Roman" panose="02020603050405020304" pitchFamily="18" charset="0"/>
                  </a:rPr>
                  <a:t>D</a:t>
                </a:r>
                <a:r>
                  <a:rPr lang="zh-CN" altLang="en-US" sz="2000" dirty="0">
                    <a:latin typeface="Times New Roman" panose="02020603050405020304" pitchFamily="18" charset="0"/>
                    <a:cs typeface="Times New Roman" panose="02020603050405020304" pitchFamily="18" charset="0"/>
                  </a:rPr>
                  <a:t>的顶点。 </a:t>
                </a:r>
                <a:endParaRPr lang="en-US" altLang="zh-CN" sz="2000" dirty="0" smtClean="0">
                  <a:latin typeface="Times New Roman" panose="02020603050405020304" pitchFamily="18" charset="0"/>
                  <a:cs typeface="Times New Roman" panose="02020603050405020304" pitchFamily="18" charset="0"/>
                </a:endParaRPr>
              </a:p>
              <a:p>
                <a:r>
                  <a:rPr lang="zh-CN" altLang="en-US" sz="2000" dirty="0">
                    <a:solidFill>
                      <a:srgbClr val="FF0000"/>
                    </a:solidFill>
                  </a:rPr>
                  <a:t>引理</a:t>
                </a:r>
                <a:r>
                  <a:rPr lang="en-US" altLang="zh-CN" sz="2000" dirty="0">
                    <a:solidFill>
                      <a:srgbClr val="FF0000"/>
                    </a:solidFill>
                  </a:rPr>
                  <a:t>2</a:t>
                </a:r>
                <a:r>
                  <a:rPr lang="zh-CN" altLang="en-US" sz="2000" dirty="0"/>
                  <a:t>：</a:t>
                </a:r>
                <a:r>
                  <a:rPr lang="zh-CN" altLang="en-US" sz="2000" dirty="0">
                    <a:latin typeface="Times New Roman" panose="02020603050405020304" pitchFamily="18" charset="0"/>
                    <a:cs typeface="Times New Roman" panose="02020603050405020304" pitchFamily="18" charset="0"/>
                  </a:rPr>
                  <a:t>线性规划问题的可行解</a:t>
                </a:r>
                <a:r>
                  <a:rPr lang="en-US" altLang="zh-CN" sz="2000" i="1" dirty="0">
                    <a:latin typeface="Times New Roman" panose="02020603050405020304" pitchFamily="18" charset="0"/>
                    <a:cs typeface="Times New Roman" panose="02020603050405020304" pitchFamily="18" charset="0"/>
                  </a:rPr>
                  <a:t>X</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x</a:t>
                </a:r>
                <a:r>
                  <a:rPr lang="en-US" altLang="zh-CN" sz="2000" baseline="-30000" dirty="0">
                    <a:latin typeface="Times New Roman" panose="02020603050405020304" pitchFamily="18" charset="0"/>
                    <a:cs typeface="Times New Roman" panose="02020603050405020304" pitchFamily="18" charset="0"/>
                  </a:rPr>
                  <a:t>2</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x</a:t>
                </a:r>
                <a:r>
                  <a:rPr lang="en-US" altLang="zh-CN" sz="2000" i="1" baseline="-30000" dirty="0" err="1">
                    <a:latin typeface="Times New Roman" panose="02020603050405020304" pitchFamily="18" charset="0"/>
                    <a:cs typeface="Times New Roman" panose="02020603050405020304" pitchFamily="18" charset="0"/>
                  </a:rPr>
                  <a:t>n</a:t>
                </a:r>
                <a:r>
                  <a:rPr lang="en-US" altLang="zh-CN" sz="2000" dirty="0">
                    <a:latin typeface="Times New Roman" panose="02020603050405020304" pitchFamily="18" charset="0"/>
                    <a:cs typeface="Times New Roman" panose="02020603050405020304" pitchFamily="18" charset="0"/>
                  </a:rPr>
                  <a:t>)</a:t>
                </a:r>
                <a:r>
                  <a:rPr lang="en-US" altLang="zh-CN" sz="2000" baseline="30000" dirty="0">
                    <a:latin typeface="Times New Roman" panose="02020603050405020304" pitchFamily="18" charset="0"/>
                    <a:cs typeface="Times New Roman" panose="02020603050405020304" pitchFamily="18" charset="0"/>
                  </a:rPr>
                  <a:t>T</a:t>
                </a:r>
                <a:r>
                  <a:rPr lang="zh-CN" altLang="en-US" sz="2000" dirty="0">
                    <a:latin typeface="Times New Roman" panose="02020603050405020304" pitchFamily="18" charset="0"/>
                    <a:cs typeface="Times New Roman" panose="02020603050405020304" pitchFamily="18" charset="0"/>
                  </a:rPr>
                  <a:t>为基可行解的充要条件是：</a:t>
                </a:r>
                <a:r>
                  <a:rPr lang="en-US" altLang="zh-CN" sz="2000" i="1"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的正分量所对应的系数列向量是线性独立的。</a:t>
                </a:r>
                <a:endParaRPr lang="en-US" altLang="zh-CN" sz="2000" dirty="0">
                  <a:latin typeface="Times New Roman" panose="02020603050405020304" pitchFamily="18" charset="0"/>
                  <a:cs typeface="Times New Roman" panose="02020603050405020304" pitchFamily="18" charset="0"/>
                </a:endParaRPr>
              </a:p>
              <a:p>
                <a:r>
                  <a:rPr lang="zh-CN" altLang="en-US" sz="2000" dirty="0">
                    <a:solidFill>
                      <a:srgbClr val="FF0000"/>
                    </a:solidFill>
                  </a:rPr>
                  <a:t>定理</a:t>
                </a:r>
                <a:r>
                  <a:rPr lang="en-US" altLang="zh-CN" sz="2000" dirty="0">
                    <a:solidFill>
                      <a:srgbClr val="FF0000"/>
                    </a:solidFill>
                  </a:rPr>
                  <a:t>3</a:t>
                </a:r>
                <a:r>
                  <a:rPr lang="zh-CN" altLang="en-US" sz="2000" dirty="0"/>
                  <a:t>：</a:t>
                </a:r>
                <a:r>
                  <a:rPr lang="zh-CN" altLang="en-US" sz="2000" dirty="0">
                    <a:latin typeface="Times New Roman" panose="02020603050405020304" pitchFamily="18" charset="0"/>
                    <a:cs typeface="Times New Roman" panose="02020603050405020304" pitchFamily="18" charset="0"/>
                  </a:rPr>
                  <a:t>线性规划问题的基可行解</a:t>
                </a:r>
                <a:r>
                  <a:rPr lang="en-US" altLang="zh-CN" sz="2000" i="1" dirty="0">
                    <a:latin typeface="Times New Roman" panose="02020603050405020304" pitchFamily="18" charset="0"/>
                    <a:cs typeface="Times New Roman" panose="02020603050405020304" pitchFamily="18" charset="0"/>
                  </a:rPr>
                  <a:t>X</a:t>
                </a:r>
                <a:r>
                  <a:rPr lang="zh-CN" altLang="en-US" sz="2000" dirty="0">
                    <a:latin typeface="Times New Roman" panose="02020603050405020304" pitchFamily="18" charset="0"/>
                    <a:cs typeface="Times New Roman" panose="02020603050405020304" pitchFamily="18" charset="0"/>
                  </a:rPr>
                  <a:t>刚好对应于可行域上的某个顶点。 </a:t>
                </a:r>
                <a:endParaRPr lang="en-US" altLang="zh-CN" sz="2000" dirty="0"/>
              </a:p>
              <a:p>
                <a:r>
                  <a:rPr lang="zh-CN" altLang="en-US" sz="2000" dirty="0">
                    <a:solidFill>
                      <a:srgbClr val="FF0000"/>
                    </a:solidFill>
                  </a:rPr>
                  <a:t>定理</a:t>
                </a:r>
                <a:r>
                  <a:rPr lang="en-US" altLang="zh-CN" sz="2000" dirty="0">
                    <a:solidFill>
                      <a:srgbClr val="FF0000"/>
                    </a:solidFill>
                  </a:rPr>
                  <a:t>4</a:t>
                </a:r>
                <a:r>
                  <a:rPr lang="zh-CN" altLang="en-US" sz="2000" dirty="0">
                    <a:solidFill>
                      <a:srgbClr val="FF0000"/>
                    </a:solidFill>
                  </a:rPr>
                  <a:t>：</a:t>
                </a:r>
                <a:r>
                  <a:rPr lang="zh-CN" altLang="en-US" sz="2000" dirty="0"/>
                  <a:t>对基可行解</a:t>
                </a:r>
                <a14:m>
                  <m:oMath xmlns:m="http://schemas.openxmlformats.org/officeDocument/2006/math">
                    <m:sSup>
                      <m:sSupPr>
                        <m:ctrlPr>
                          <a:rPr lang="en-US" altLang="zh-CN" sz="2000" b="0" i="1">
                            <a:latin typeface="Cambria Math" panose="02040503050406030204" pitchFamily="18" charset="0"/>
                          </a:rPr>
                        </m:ctrlPr>
                      </m:sSupPr>
                      <m:e>
                        <m:r>
                          <a:rPr lang="en-US" altLang="zh-CN" sz="2000" b="0" i="1">
                            <a:latin typeface="Cambria Math" panose="02040503050406030204" pitchFamily="18" charset="0"/>
                          </a:rPr>
                          <m:t>𝑋</m:t>
                        </m:r>
                      </m:e>
                      <m:sup>
                        <m:r>
                          <a:rPr lang="en-US" altLang="zh-CN" sz="2000" b="0" i="1">
                            <a:latin typeface="Cambria Math" panose="02040503050406030204" pitchFamily="18" charset="0"/>
                          </a:rPr>
                          <m:t>(0)</m:t>
                        </m:r>
                      </m:sup>
                    </m:sSup>
                  </m:oMath>
                </a14:m>
                <a:r>
                  <a:rPr lang="zh-CN" altLang="en-US" sz="2000" dirty="0"/>
                  <a:t>，如果所有检验系数</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𝜆</m:t>
                        </m:r>
                      </m:e>
                      <m:sub>
                        <m:r>
                          <a:rPr lang="en-US" altLang="zh-CN" sz="2000" i="1">
                            <a:latin typeface="Cambria Math" panose="02040503050406030204" pitchFamily="18" charset="0"/>
                          </a:rPr>
                          <m:t>𝒌</m:t>
                        </m:r>
                      </m:sub>
                    </m:sSub>
                  </m:oMath>
                </a14:m>
                <a:r>
                  <a:rPr lang="zh-CN" altLang="en-US" sz="2000" dirty="0"/>
                  <a:t>≤</a:t>
                </a:r>
                <a:r>
                  <a:rPr lang="en-US" altLang="zh-CN" sz="2000" dirty="0"/>
                  <a:t>0</a:t>
                </a:r>
                <a:r>
                  <a:rPr lang="zh-CN" altLang="en-US" sz="2000" dirty="0"/>
                  <a:t>，</a:t>
                </a:r>
                <a:r>
                  <a:rPr lang="en-US" altLang="zh-CN" sz="2000" i="1" dirty="0"/>
                  <a:t>k</a:t>
                </a:r>
                <a:r>
                  <a:rPr lang="en-US" altLang="zh-CN" sz="2000" dirty="0"/>
                  <a:t>=</a:t>
                </a:r>
                <a:r>
                  <a:rPr lang="en-US" altLang="zh-CN" sz="2000" i="1" dirty="0"/>
                  <a:t>m</a:t>
                </a:r>
                <a:r>
                  <a:rPr lang="en-US" altLang="zh-CN" sz="2000" dirty="0"/>
                  <a:t>+1,</a:t>
                </a:r>
                <a:r>
                  <a:rPr lang="zh-CN" altLang="en-US" sz="2000" dirty="0"/>
                  <a:t> </a:t>
                </a:r>
                <a:r>
                  <a:rPr lang="en-US" altLang="zh-CN" sz="2000" dirty="0"/>
                  <a:t>…</a:t>
                </a:r>
                <a:r>
                  <a:rPr lang="en-US" altLang="zh-CN" sz="2000" i="1" dirty="0"/>
                  <a:t>n</a:t>
                </a:r>
                <a:r>
                  <a:rPr lang="zh-CN" altLang="en-US" sz="2000" dirty="0"/>
                  <a:t>，则</a:t>
                </a:r>
                <a14:m>
                  <m:oMath xmlns:m="http://schemas.openxmlformats.org/officeDocument/2006/math">
                    <m:sSup>
                      <m:sSupPr>
                        <m:ctrlPr>
                          <a:rPr lang="en-US" altLang="zh-CN" sz="2000" b="0" i="1">
                            <a:latin typeface="Cambria Math" panose="02040503050406030204" pitchFamily="18" charset="0"/>
                          </a:rPr>
                        </m:ctrlPr>
                      </m:sSupPr>
                      <m:e>
                        <m:r>
                          <a:rPr lang="en-US" altLang="zh-CN" sz="2000" b="0" i="1">
                            <a:latin typeface="Cambria Math" panose="02040503050406030204" pitchFamily="18" charset="0"/>
                          </a:rPr>
                          <m:t>𝑋</m:t>
                        </m:r>
                      </m:e>
                      <m:sup>
                        <m:r>
                          <a:rPr lang="en-US" altLang="zh-CN" sz="2000" b="0" i="1">
                            <a:latin typeface="Cambria Math" panose="02040503050406030204" pitchFamily="18" charset="0"/>
                          </a:rPr>
                          <m:t>(0)</m:t>
                        </m:r>
                      </m:sup>
                    </m:sSup>
                  </m:oMath>
                </a14:m>
                <a:r>
                  <a:rPr lang="zh-CN" altLang="en-US" sz="2000" dirty="0"/>
                  <a:t>即为线性规划问题的最优解。</a:t>
                </a:r>
                <a:endParaRPr lang="en-US" altLang="zh-CN" sz="2000" dirty="0"/>
              </a:p>
              <a:p>
                <a:r>
                  <a:rPr lang="zh-CN" altLang="en-US" sz="2000" dirty="0">
                    <a:solidFill>
                      <a:srgbClr val="FF0000"/>
                    </a:solidFill>
                  </a:rPr>
                  <a:t>定理</a:t>
                </a:r>
                <a:r>
                  <a:rPr lang="en-US" altLang="zh-CN" sz="2000" dirty="0">
                    <a:solidFill>
                      <a:srgbClr val="FF0000"/>
                    </a:solidFill>
                  </a:rPr>
                  <a:t>5</a:t>
                </a:r>
                <a:r>
                  <a:rPr lang="zh-CN" altLang="en-US" sz="2000" dirty="0">
                    <a:solidFill>
                      <a:srgbClr val="FF0000"/>
                    </a:solidFill>
                  </a:rPr>
                  <a:t>：</a:t>
                </a:r>
                <a:r>
                  <a:rPr lang="zh-CN" altLang="en-US" sz="2000" dirty="0"/>
                  <a:t>如果某个非基变量</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𝒙</m:t>
                        </m:r>
                      </m:e>
                      <m:sub>
                        <m:r>
                          <a:rPr lang="en-US" altLang="zh-CN" sz="2000" i="1">
                            <a:latin typeface="Cambria Math" panose="02040503050406030204" pitchFamily="18" charset="0"/>
                          </a:rPr>
                          <m:t>𝒌</m:t>
                        </m:r>
                      </m:sub>
                    </m:sSub>
                  </m:oMath>
                </a14:m>
                <a:r>
                  <a:rPr lang="zh-CN" altLang="en-US" sz="2000" dirty="0"/>
                  <a:t>的检验系数为正，其对应的列向量</a:t>
                </a:r>
                <a:r>
                  <a:rPr lang="en-US" altLang="zh-CN" sz="2000" i="1" dirty="0" err="1"/>
                  <a:t>P</a:t>
                </a:r>
                <a:r>
                  <a:rPr lang="en-US" altLang="zh-CN" sz="2000" i="1" baseline="-25000" dirty="0" err="1"/>
                  <a:t>k</a:t>
                </a:r>
                <a:r>
                  <a:rPr lang="en-US" altLang="zh-CN" sz="2000" dirty="0"/>
                  <a:t>=(</a:t>
                </a:r>
                <a:r>
                  <a:rPr lang="en-US" altLang="zh-CN" sz="2000" i="1" dirty="0"/>
                  <a:t>a</a:t>
                </a:r>
                <a:r>
                  <a:rPr lang="en-US" altLang="zh-CN" sz="2000" i="1" baseline="-25000" dirty="0"/>
                  <a:t>1k</a:t>
                </a:r>
                <a:r>
                  <a:rPr lang="en-US" altLang="zh-CN" sz="2000" i="1" dirty="0"/>
                  <a:t>,a</a:t>
                </a:r>
                <a:r>
                  <a:rPr lang="en-US" altLang="zh-CN" sz="2000" i="1" baseline="-25000" dirty="0"/>
                  <a:t>2k</a:t>
                </a:r>
                <a:r>
                  <a:rPr lang="en-US" altLang="zh-CN" sz="2000" i="1" dirty="0"/>
                  <a:t>,…</a:t>
                </a:r>
                <a:r>
                  <a:rPr lang="en-US" altLang="zh-CN" sz="2000" i="1" dirty="0" err="1"/>
                  <a:t>a</a:t>
                </a:r>
                <a:r>
                  <a:rPr lang="en-US" altLang="zh-CN" sz="2000" i="1" baseline="-25000" dirty="0" err="1"/>
                  <a:t>mk</a:t>
                </a:r>
                <a:r>
                  <a:rPr lang="en-US" altLang="zh-CN" sz="2000" dirty="0"/>
                  <a:t>)'</a:t>
                </a:r>
                <a:r>
                  <a:rPr lang="zh-CN" altLang="en-US" sz="2000" dirty="0"/>
                  <a:t>所有元素均非正，那么线性规划问题无有界最优解。</a:t>
                </a:r>
                <a:endParaRPr lang="en-US" altLang="zh-CN" sz="2000" dirty="0"/>
              </a:p>
              <a:p>
                <a:r>
                  <a:rPr lang="zh-CN" altLang="en-US" sz="2000" dirty="0">
                    <a:solidFill>
                      <a:srgbClr val="FF0000"/>
                    </a:solidFill>
                  </a:rPr>
                  <a:t>定理</a:t>
                </a:r>
                <a:r>
                  <a:rPr lang="en-US" altLang="zh-CN" sz="2000" dirty="0">
                    <a:solidFill>
                      <a:srgbClr val="FF0000"/>
                    </a:solidFill>
                  </a:rPr>
                  <a:t>6</a:t>
                </a:r>
                <a:r>
                  <a:rPr lang="zh-CN" altLang="en-US" sz="2000" dirty="0">
                    <a:solidFill>
                      <a:srgbClr val="FF0000"/>
                    </a:solidFill>
                  </a:rPr>
                  <a:t>：</a:t>
                </a:r>
                <a:r>
                  <a:rPr lang="zh-CN" altLang="en-US" sz="2000" dirty="0"/>
                  <a:t>经过换基迭代得到的新解</a:t>
                </a:r>
                <a14:m>
                  <m:oMath xmlns:m="http://schemas.openxmlformats.org/officeDocument/2006/math">
                    <m:sSup>
                      <m:sSupPr>
                        <m:ctrlPr>
                          <a:rPr lang="en-US" altLang="zh-CN" sz="2000" b="0" i="1">
                            <a:latin typeface="Cambria Math" panose="02040503050406030204" pitchFamily="18" charset="0"/>
                          </a:rPr>
                        </m:ctrlPr>
                      </m:sSupPr>
                      <m:e>
                        <m:r>
                          <a:rPr lang="en-US" altLang="zh-CN" sz="2000" b="0" i="1">
                            <a:latin typeface="Cambria Math" panose="02040503050406030204" pitchFamily="18" charset="0"/>
                          </a:rPr>
                          <m:t>𝑋</m:t>
                        </m:r>
                      </m:e>
                      <m:sup>
                        <m:r>
                          <a:rPr lang="en-US" altLang="zh-CN" sz="2000" b="0" i="1">
                            <a:latin typeface="Cambria Math" panose="02040503050406030204" pitchFamily="18" charset="0"/>
                          </a:rPr>
                          <m:t>(1)</m:t>
                        </m:r>
                      </m:sup>
                    </m:sSup>
                  </m:oMath>
                </a14:m>
                <a:r>
                  <a:rPr lang="zh-CN" altLang="en-US" sz="2000" dirty="0"/>
                  <a:t>是一个基可行解</a:t>
                </a:r>
                <a:r>
                  <a:rPr lang="en-US" altLang="zh-CN" sz="2000" dirty="0"/>
                  <a:t>;</a:t>
                </a:r>
                <a:r>
                  <a:rPr lang="zh-CN" altLang="en-US" sz="2000" dirty="0"/>
                  <a:t>同时，它所对应的目标函数值相对</a:t>
                </a:r>
                <a14:m>
                  <m:oMath xmlns:m="http://schemas.openxmlformats.org/officeDocument/2006/math">
                    <m:sSup>
                      <m:sSupPr>
                        <m:ctrlPr>
                          <a:rPr lang="en-US" altLang="zh-CN" sz="2000" b="0" i="1">
                            <a:latin typeface="Cambria Math" panose="02040503050406030204" pitchFamily="18" charset="0"/>
                          </a:rPr>
                        </m:ctrlPr>
                      </m:sSupPr>
                      <m:e>
                        <m:r>
                          <a:rPr lang="en-US" altLang="zh-CN" sz="2000" b="0" i="1">
                            <a:latin typeface="Cambria Math" panose="02040503050406030204" pitchFamily="18" charset="0"/>
                          </a:rPr>
                          <m:t>𝑧</m:t>
                        </m:r>
                      </m:e>
                      <m:sup>
                        <m:r>
                          <a:rPr lang="en-US" altLang="zh-CN" sz="2000" b="0" i="1">
                            <a:latin typeface="Cambria Math" panose="02040503050406030204" pitchFamily="18" charset="0"/>
                          </a:rPr>
                          <m:t>(0)</m:t>
                        </m:r>
                      </m:sup>
                    </m:sSup>
                  </m:oMath>
                </a14:m>
                <a:r>
                  <a:rPr lang="zh-CN" altLang="en-US" sz="2000" dirty="0"/>
                  <a:t>是一个改进，即</a:t>
                </a:r>
                <a14:m>
                  <m:oMath xmlns:m="http://schemas.openxmlformats.org/officeDocument/2006/math">
                    <m:sSup>
                      <m:sSupPr>
                        <m:ctrlPr>
                          <a:rPr lang="en-US" altLang="zh-CN" sz="2000" b="0" i="1">
                            <a:latin typeface="Cambria Math" panose="02040503050406030204" pitchFamily="18" charset="0"/>
                          </a:rPr>
                        </m:ctrlPr>
                      </m:sSupPr>
                      <m:e>
                        <m:r>
                          <a:rPr lang="en-US" altLang="zh-CN" sz="2000" b="0" i="1">
                            <a:latin typeface="Cambria Math" panose="02040503050406030204" pitchFamily="18" charset="0"/>
                          </a:rPr>
                          <m:t>𝑧</m:t>
                        </m:r>
                      </m:e>
                      <m:sup>
                        <m:r>
                          <a:rPr lang="en-US" altLang="zh-CN" sz="2000" b="0" i="1">
                            <a:latin typeface="Cambria Math" panose="02040503050406030204" pitchFamily="18" charset="0"/>
                          </a:rPr>
                          <m:t>(1)</m:t>
                        </m:r>
                      </m:sup>
                    </m:sSup>
                  </m:oMath>
                </a14:m>
                <a:r>
                  <a:rPr lang="en-US" altLang="zh-CN" sz="2000" dirty="0"/>
                  <a:t>&gt;</a:t>
                </a:r>
                <a14:m>
                  <m:oMath xmlns:m="http://schemas.openxmlformats.org/officeDocument/2006/math">
                    <m:sSup>
                      <m:sSupPr>
                        <m:ctrlPr>
                          <a:rPr lang="en-US" altLang="zh-CN" sz="2000" b="0" i="1">
                            <a:latin typeface="Cambria Math" panose="02040503050406030204" pitchFamily="18" charset="0"/>
                          </a:rPr>
                        </m:ctrlPr>
                      </m:sSupPr>
                      <m:e>
                        <m:r>
                          <a:rPr lang="en-US" altLang="zh-CN" sz="2000" b="0" i="1">
                            <a:latin typeface="Cambria Math" panose="02040503050406030204" pitchFamily="18" charset="0"/>
                          </a:rPr>
                          <m:t>𝑧</m:t>
                        </m:r>
                      </m:e>
                      <m:sup>
                        <m:r>
                          <a:rPr lang="en-US" altLang="zh-CN" sz="2000" b="0" i="1">
                            <a:latin typeface="Cambria Math" panose="02040503050406030204" pitchFamily="18" charset="0"/>
                          </a:rPr>
                          <m:t>(0)</m:t>
                        </m:r>
                      </m:sup>
                    </m:sSup>
                  </m:oMath>
                </a14:m>
                <a:endParaRPr lang="en-US" altLang="zh-CN" sz="2000" dirty="0"/>
              </a:p>
              <a:p>
                <a:endParaRPr lang="en-US" altLang="zh-CN" sz="2000" dirty="0"/>
              </a:p>
              <a:p>
                <a:pPr lvl="1"/>
                <a:endParaRPr lang="en-US" altLang="zh-CN" sz="2000" dirty="0" smtClean="0">
                  <a:latin typeface="Times New Roman" panose="02020603050405020304" pitchFamily="18" charset="0"/>
                  <a:cs typeface="Times New Roman" panose="02020603050405020304" pitchFamily="18" charset="0"/>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27" t="-1037" r="-784" b="-27852"/>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标题 15"/>
          <p:cNvSpPr>
            <a:spLocks noGrp="1"/>
          </p:cNvSpPr>
          <p:nvPr>
            <p:ph type="title"/>
          </p:nvPr>
        </p:nvSpPr>
        <p:spPr>
          <a:xfrm>
            <a:off x="1411288" y="468313"/>
            <a:ext cx="7054850" cy="457200"/>
          </a:xfrm>
        </p:spPr>
        <p:txBody>
          <a:bodyPr/>
          <a:lstStyle/>
          <a:p>
            <a:pPr>
              <a:defRPr/>
            </a:pPr>
            <a:r>
              <a:rPr lang="en-US" altLang="zh-CN" dirty="0"/>
              <a:t>2.5.1</a:t>
            </a:r>
            <a:r>
              <a:rPr lang="en-US" altLang="zh-CN" dirty="0" smtClean="0"/>
              <a:t>单纯形法</a:t>
            </a:r>
            <a:r>
              <a:rPr lang="zh-CN" altLang="en-US" dirty="0" smtClean="0"/>
              <a:t>的</a:t>
            </a:r>
            <a:r>
              <a:rPr lang="en-US" altLang="zh-CN" dirty="0" err="1" smtClean="0"/>
              <a:t>原理</a:t>
            </a:r>
            <a:endParaRPr lang="zh-CN" altLang="en-US" noProof="1"/>
          </a:p>
        </p:txBody>
      </p:sp>
      <mc:AlternateContent xmlns:mc="http://schemas.openxmlformats.org/markup-compatibility/2006" xmlns:a14="http://schemas.microsoft.com/office/drawing/2010/main">
        <mc:Choice Requires="a14">
          <p:sp>
            <p:nvSpPr>
              <p:cNvPr id="2" name="内容占位符 1"/>
              <p:cNvSpPr>
                <a:spLocks noGrp="1"/>
              </p:cNvSpPr>
              <p:nvPr>
                <p:ph sz="half" idx="1"/>
              </p:nvPr>
            </p:nvSpPr>
            <p:spPr>
              <a:xfrm>
                <a:off x="609600" y="1524000"/>
                <a:ext cx="8327010" cy="4114800"/>
              </a:xfrm>
            </p:spPr>
            <p:txBody>
              <a:bodyPr/>
              <a:lstStyle/>
              <a:p>
                <a:r>
                  <a:rPr lang="zh-CN" altLang="en-US" dirty="0" smtClean="0"/>
                  <a:t>单纯形法的基本步骤可总结如下</a:t>
                </a:r>
                <a:r>
                  <a:rPr lang="en-US" altLang="zh-CN" dirty="0" smtClean="0"/>
                  <a:t>:</a:t>
                </a:r>
              </a:p>
              <a:p>
                <a:pPr lvl="1"/>
                <a:r>
                  <a:rPr lang="zh-CN" altLang="en-US" dirty="0" smtClean="0"/>
                  <a:t>（</a:t>
                </a:r>
                <a:r>
                  <a:rPr lang="en-US" altLang="zh-CN" dirty="0" smtClean="0"/>
                  <a:t>1</a:t>
                </a:r>
                <a:r>
                  <a:rPr lang="zh-CN" altLang="en-US" dirty="0" smtClean="0"/>
                  <a:t>）确定</a:t>
                </a:r>
                <a:r>
                  <a:rPr lang="zh-CN" altLang="en-US" dirty="0"/>
                  <a:t>初始基，得到初始的基</a:t>
                </a:r>
                <a:r>
                  <a:rPr lang="zh-CN" altLang="en-US" dirty="0" smtClean="0"/>
                  <a:t>可行解；</a:t>
                </a:r>
                <a:endParaRPr lang="en-US" altLang="zh-CN" dirty="0" smtClean="0"/>
              </a:p>
              <a:p>
                <a:pPr lvl="1"/>
                <a:r>
                  <a:rPr lang="zh-CN" altLang="en-US" dirty="0" smtClean="0"/>
                  <a:t>（</a:t>
                </a:r>
                <a:r>
                  <a:rPr lang="en-US" altLang="zh-CN" dirty="0" smtClean="0"/>
                  <a:t>2</a:t>
                </a:r>
                <a:r>
                  <a:rPr lang="zh-CN" altLang="en-US" dirty="0" smtClean="0"/>
                  <a:t>）检查</a:t>
                </a:r>
                <a:r>
                  <a:rPr lang="zh-CN" altLang="en-US" dirty="0"/>
                  <a:t>非基变量检验数是否全部非正</a:t>
                </a:r>
                <a:r>
                  <a:rPr lang="en-US" altLang="zh-CN" dirty="0"/>
                  <a:t>:</a:t>
                </a:r>
                <a:r>
                  <a:rPr lang="zh-CN" altLang="en-US" dirty="0"/>
                  <a:t>若是则已经得到最优解若否，则</a:t>
                </a:r>
                <a:r>
                  <a:rPr lang="zh-CN" altLang="en-US" dirty="0" smtClean="0"/>
                  <a:t>转（</a:t>
                </a:r>
                <a:r>
                  <a:rPr lang="en-US" altLang="zh-CN" dirty="0" smtClean="0"/>
                  <a:t>3</a:t>
                </a:r>
                <a:r>
                  <a:rPr lang="zh-CN" altLang="en-US" dirty="0" smtClean="0"/>
                  <a:t>）</a:t>
                </a:r>
                <a:r>
                  <a:rPr lang="en-US" altLang="zh-CN" dirty="0" smtClean="0"/>
                  <a:t>;</a:t>
                </a:r>
              </a:p>
              <a:p>
                <a:pPr lvl="1"/>
                <a:r>
                  <a:rPr lang="zh-CN" altLang="en-US" dirty="0" smtClean="0"/>
                  <a:t>（</a:t>
                </a:r>
                <a:r>
                  <a:rPr lang="en-US" altLang="zh-CN" dirty="0" smtClean="0"/>
                  <a:t>3</a:t>
                </a:r>
                <a:r>
                  <a:rPr lang="zh-CN" altLang="en-US" dirty="0" smtClean="0"/>
                  <a:t>）如果</a:t>
                </a:r>
                <a:r>
                  <a:rPr lang="zh-CN" altLang="en-US" dirty="0"/>
                  <a:t>存在某检验系数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𝒌</m:t>
                        </m:r>
                      </m:sub>
                    </m:sSub>
                  </m:oMath>
                </a14:m>
                <a:r>
                  <a:rPr lang="en-US" altLang="zh-CN" b="0" dirty="0"/>
                  <a:t>&gt;0</a:t>
                </a:r>
                <a:r>
                  <a:rPr lang="zh-CN" altLang="en-US" dirty="0"/>
                  <a:t>，检查变量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smtClean="0"/>
                  <a:t>所</a:t>
                </a:r>
                <a:r>
                  <a:rPr lang="zh-CN" altLang="en-US" dirty="0"/>
                  <a:t>对应的列向量</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𝑷</m:t>
                        </m:r>
                      </m:e>
                      <m:sub>
                        <m:r>
                          <a:rPr lang="en-US" altLang="zh-CN" i="1">
                            <a:latin typeface="Cambria Math" panose="02040503050406030204" pitchFamily="18" charset="0"/>
                          </a:rPr>
                          <m:t>𝒌</m:t>
                        </m:r>
                      </m:sub>
                    </m:sSub>
                  </m:oMath>
                </a14:m>
                <a:r>
                  <a:rPr lang="zh-CN" altLang="en-US" dirty="0" smtClean="0"/>
                  <a:t>的所有</a:t>
                </a:r>
                <a:r>
                  <a:rPr lang="zh-CN" altLang="en-US" dirty="0"/>
                  <a:t>元素非正，则线性规划问题无有界最优解，否则</a:t>
                </a:r>
                <a:r>
                  <a:rPr lang="zh-CN" altLang="en-US" dirty="0" smtClean="0"/>
                  <a:t>转（</a:t>
                </a:r>
                <a:r>
                  <a:rPr lang="en-US" altLang="zh-CN" dirty="0" smtClean="0"/>
                  <a:t>4</a:t>
                </a:r>
                <a:r>
                  <a:rPr lang="zh-CN" altLang="en-US" dirty="0" smtClean="0"/>
                  <a:t>）</a:t>
                </a:r>
                <a:r>
                  <a:rPr lang="en-US" altLang="zh-CN" dirty="0" smtClean="0"/>
                  <a:t>;</a:t>
                </a:r>
              </a:p>
              <a:p>
                <a:pPr lvl="1"/>
                <a:r>
                  <a:rPr lang="zh-CN" altLang="en-US" dirty="0" smtClean="0"/>
                  <a:t>（</a:t>
                </a:r>
                <a:r>
                  <a:rPr lang="en-US" altLang="zh-CN" dirty="0" smtClean="0"/>
                  <a:t>4</a:t>
                </a:r>
                <a:r>
                  <a:rPr lang="zh-CN" altLang="en-US" dirty="0" smtClean="0"/>
                  <a:t>）根据</a:t>
                </a:r>
                <a:r>
                  <a:rPr lang="zh-CN" altLang="en-US" dirty="0"/>
                  <a:t>最大非负检验系数确定入基变量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i="1">
                            <a:latin typeface="Cambria Math" panose="02040503050406030204" pitchFamily="18" charset="0"/>
                          </a:rPr>
                          <m:t>𝒌</m:t>
                        </m:r>
                      </m:sub>
                    </m:sSub>
                  </m:oMath>
                </a14:m>
                <a:r>
                  <a:rPr lang="zh-CN" altLang="en-US" dirty="0"/>
                  <a:t>，根据最小</a:t>
                </a:r>
                <a14:m>
                  <m:oMath xmlns:m="http://schemas.openxmlformats.org/officeDocument/2006/math">
                    <m:r>
                      <a:rPr lang="en-US" altLang="zh-CN" b="0" i="1">
                        <a:latin typeface="Cambria Math" panose="02040503050406030204" pitchFamily="18" charset="0"/>
                      </a:rPr>
                      <m:t>𝜃</m:t>
                    </m:r>
                  </m:oMath>
                </a14:m>
                <a:r>
                  <a:rPr lang="zh-CN" altLang="en-US" dirty="0"/>
                  <a:t>值确定出基变量</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𝒙</m:t>
                        </m:r>
                      </m:e>
                      <m:sub>
                        <m:r>
                          <a:rPr lang="en-US" altLang="zh-CN" b="1" i="1" smtClean="0">
                            <a:latin typeface="Cambria Math" panose="02040503050406030204" pitchFamily="18" charset="0"/>
                          </a:rPr>
                          <m:t>𝒓</m:t>
                        </m:r>
                      </m:sub>
                    </m:sSub>
                  </m:oMath>
                </a14:m>
                <a:r>
                  <a:rPr lang="en-US" altLang="zh-CN" dirty="0"/>
                  <a:t>;</a:t>
                </a:r>
                <a:r>
                  <a:rPr lang="zh-CN" altLang="en-US" dirty="0"/>
                  <a:t>以</a:t>
                </a:r>
                <a14:m>
                  <m:oMath xmlns:m="http://schemas.openxmlformats.org/officeDocument/2006/math">
                    <m:sSub>
                      <m:sSubPr>
                        <m:ctrlPr>
                          <a:rPr lang="en-US" altLang="zh-CN" i="1">
                            <a:latin typeface="Cambria Math" panose="02040503050406030204" pitchFamily="18" charset="0"/>
                          </a:rPr>
                        </m:ctrlPr>
                      </m:sSubPr>
                      <m:e>
                        <m:r>
                          <a:rPr lang="en-US" altLang="zh-CN" b="1" i="1" smtClean="0">
                            <a:latin typeface="Cambria Math" panose="02040503050406030204" pitchFamily="18" charset="0"/>
                          </a:rPr>
                          <m:t>𝒂</m:t>
                        </m:r>
                      </m:e>
                      <m:sub>
                        <m:r>
                          <a:rPr lang="en-US" altLang="zh-CN" b="1" i="1" smtClean="0">
                            <a:latin typeface="Cambria Math" panose="02040503050406030204" pitchFamily="18" charset="0"/>
                          </a:rPr>
                          <m:t>𝒓</m:t>
                        </m:r>
                        <m:r>
                          <a:rPr lang="en-US" altLang="zh-CN" i="1">
                            <a:latin typeface="Cambria Math" panose="02040503050406030204" pitchFamily="18" charset="0"/>
                          </a:rPr>
                          <m:t>𝒌</m:t>
                        </m:r>
                      </m:sub>
                    </m:sSub>
                  </m:oMath>
                </a14:m>
                <a:r>
                  <a:rPr lang="zh-CN" altLang="en-US" dirty="0"/>
                  <a:t>为中心换基迭代，然后</a:t>
                </a:r>
                <a:r>
                  <a:rPr lang="zh-CN" altLang="en-US" dirty="0" smtClean="0"/>
                  <a:t>转</a:t>
                </a:r>
                <a:r>
                  <a:rPr lang="en-US" altLang="zh-CN" dirty="0" smtClean="0"/>
                  <a:t>(2)</a:t>
                </a:r>
                <a:r>
                  <a:rPr lang="zh-CN" altLang="en-US" dirty="0" smtClean="0"/>
                  <a:t>。</a:t>
                </a:r>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sz="half" idx="1"/>
              </p:nvPr>
            </p:nvSpPr>
            <p:spPr>
              <a:xfrm>
                <a:off x="609600" y="1524000"/>
                <a:ext cx="8327010" cy="4114800"/>
              </a:xfrm>
              <a:blipFill>
                <a:blip r:embed="rId5"/>
                <a:stretch>
                  <a:fillRect l="-1318" t="-1926" r="-146" b="-3259"/>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2.5.2 </a:t>
            </a:r>
            <a:r>
              <a:rPr lang="zh-CN" altLang="en-US" noProof="1"/>
              <a:t>单纯形表 </a:t>
            </a:r>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a:xfrm>
                <a:off x="609600" y="1256144"/>
                <a:ext cx="7848600" cy="4729019"/>
              </a:xfrm>
            </p:spPr>
            <p:txBody>
              <a:bodyPr/>
              <a:lstStyle/>
              <a:p>
                <a:r>
                  <a:rPr lang="zh-CN" altLang="en-US" sz="2400" dirty="0" smtClean="0">
                    <a:latin typeface="宋体" panose="02010600030101010101" pitchFamily="2" charset="-122"/>
                  </a:rPr>
                  <a:t>单纯形表计算步骤</a:t>
                </a:r>
                <a:endParaRPr lang="en-US" altLang="zh-CN" sz="2400" dirty="0" smtClean="0">
                  <a:latin typeface="宋体" panose="02010600030101010101" pitchFamily="2" charset="-122"/>
                </a:endParaRPr>
              </a:p>
              <a:p>
                <a:pPr lvl="1" algn="just" eaLnBrk="1" hangingPunct="1"/>
                <a:r>
                  <a:rPr lang="en-US" altLang="zh-CN" sz="16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按数学模型确定初始可行基和初始基可行解，建立初始单纯形表。</a:t>
                </a:r>
              </a:p>
              <a:p>
                <a:pPr lvl="1" algn="just" eaLnBrk="1" hangingPunct="1"/>
                <a:r>
                  <a:rPr lang="en-US" altLang="zh-CN" sz="1600" dirty="0">
                    <a:latin typeface="Times New Roman" panose="02020603050405020304" pitchFamily="18" charset="0"/>
                    <a:cs typeface="Times New Roman" panose="02020603050405020304" pitchFamily="18" charset="0"/>
                  </a:rPr>
                  <a:t>(2) </a:t>
                </a:r>
                <a:r>
                  <a:rPr lang="zh-CN" altLang="en-US" sz="1600" dirty="0">
                    <a:latin typeface="Times New Roman" panose="02020603050405020304" pitchFamily="18" charset="0"/>
                    <a:cs typeface="Times New Roman" panose="02020603050405020304" pitchFamily="18" charset="0"/>
                  </a:rPr>
                  <a:t>计算各非基变量</a:t>
                </a:r>
                <a:r>
                  <a:rPr lang="en-US" altLang="zh-CN" sz="1600" i="1" dirty="0" err="1">
                    <a:latin typeface="Times New Roman" panose="02020603050405020304" pitchFamily="18" charset="0"/>
                    <a:cs typeface="Times New Roman" panose="02020603050405020304" pitchFamily="18" charset="0"/>
                  </a:rPr>
                  <a:t>x</a:t>
                </a:r>
                <a:r>
                  <a:rPr lang="en-US" altLang="zh-CN" sz="1600" i="1" baseline="-25000" dirty="0" err="1">
                    <a:latin typeface="Times New Roman" panose="02020603050405020304" pitchFamily="18" charset="0"/>
                    <a:cs typeface="Times New Roman" panose="02020603050405020304" pitchFamily="18" charset="0"/>
                  </a:rPr>
                  <a:t>j</a:t>
                </a:r>
                <a:r>
                  <a:rPr lang="zh-CN" altLang="en-US" sz="1600" dirty="0">
                    <a:latin typeface="Times New Roman" panose="02020603050405020304" pitchFamily="18" charset="0"/>
                    <a:cs typeface="Times New Roman" panose="02020603050405020304" pitchFamily="18" charset="0"/>
                  </a:rPr>
                  <a:t>的检验</a:t>
                </a:r>
                <a:r>
                  <a:rPr lang="zh-CN" altLang="en-US" sz="1600" dirty="0" smtClean="0">
                    <a:latin typeface="Times New Roman" panose="02020603050405020304" pitchFamily="18" charset="0"/>
                    <a:cs typeface="Times New Roman" panose="02020603050405020304" pitchFamily="18" charset="0"/>
                  </a:rPr>
                  <a:t>数，检查</a:t>
                </a:r>
                <a:r>
                  <a:rPr lang="zh-CN" altLang="en-US" sz="1600" dirty="0">
                    <a:latin typeface="Times New Roman" panose="02020603050405020304" pitchFamily="18" charset="0"/>
                    <a:cs typeface="Times New Roman" panose="02020603050405020304" pitchFamily="18" charset="0"/>
                  </a:rPr>
                  <a:t>检验数，若所有检验数均为非正，则已得到最优解，可停止计算。否则转入下一步。</a:t>
                </a:r>
              </a:p>
              <a:p>
                <a:pPr lvl="1"/>
                <a:r>
                  <a:rPr lang="en-US" altLang="zh-CN" sz="1600" dirty="0"/>
                  <a:t>(3)</a:t>
                </a:r>
                <a:r>
                  <a:rPr lang="zh-CN" altLang="en-US" sz="1600" dirty="0"/>
                  <a:t>在所有检验系数大于零的非基变量中，如果某个非</a:t>
                </a:r>
                <a:r>
                  <a:rPr lang="zh-CN" altLang="en-US" sz="1600" dirty="0" smtClean="0"/>
                  <a:t>基变量</a:t>
                </a:r>
                <a:r>
                  <a:rPr lang="en-US" altLang="zh-CN" sz="1600" i="1" dirty="0" err="1" smtClean="0">
                    <a:latin typeface="Times New Roman" panose="02020603050405020304" pitchFamily="18" charset="0"/>
                    <a:cs typeface="Times New Roman" panose="02020603050405020304" pitchFamily="18" charset="0"/>
                  </a:rPr>
                  <a:t>x</a:t>
                </a:r>
                <a:r>
                  <a:rPr lang="en-US" altLang="zh-CN" sz="1600" i="1" baseline="-25000" dirty="0" err="1" smtClean="0">
                    <a:latin typeface="Times New Roman" panose="02020603050405020304" pitchFamily="18" charset="0"/>
                    <a:cs typeface="Times New Roman" panose="02020603050405020304" pitchFamily="18" charset="0"/>
                  </a:rPr>
                  <a:t>k</a:t>
                </a:r>
                <a:r>
                  <a:rPr lang="zh-CN" altLang="en-US" sz="1600" dirty="0" smtClean="0"/>
                  <a:t>对应</a:t>
                </a:r>
                <a:r>
                  <a:rPr lang="zh-CN" altLang="en-US" sz="1600" dirty="0"/>
                  <a:t>的系数</a:t>
                </a:r>
                <a:r>
                  <a:rPr lang="zh-CN" altLang="en-US" sz="1600" dirty="0" smtClean="0"/>
                  <a:t>列向量</a:t>
                </a:r>
                <a:r>
                  <a:rPr lang="en-US" altLang="zh-CN" sz="1600" i="1" dirty="0" err="1" smtClean="0">
                    <a:latin typeface="Times New Roman" panose="02020603050405020304" pitchFamily="18" charset="0"/>
                    <a:cs typeface="Times New Roman" panose="02020603050405020304" pitchFamily="18" charset="0"/>
                  </a:rPr>
                  <a:t>P</a:t>
                </a:r>
                <a:r>
                  <a:rPr lang="en-US" altLang="zh-CN" sz="1600" i="1" baseline="-25000" dirty="0" err="1" smtClean="0">
                    <a:latin typeface="Times New Roman" panose="02020603050405020304" pitchFamily="18" charset="0"/>
                    <a:cs typeface="Times New Roman" panose="02020603050405020304" pitchFamily="18" charset="0"/>
                  </a:rPr>
                  <a:t>k</a:t>
                </a:r>
                <a:r>
                  <a:rPr lang="en-US" altLang="zh-CN" sz="1600" i="1" baseline="-25000" dirty="0" smtClean="0">
                    <a:latin typeface="Times New Roman" panose="02020603050405020304" pitchFamily="18" charset="0"/>
                    <a:cs typeface="Times New Roman" panose="02020603050405020304" pitchFamily="18" charset="0"/>
                  </a:rPr>
                  <a:t> </a:t>
                </a:r>
                <a:r>
                  <a:rPr lang="en-US" altLang="zh-CN" sz="1600" dirty="0" smtClean="0"/>
                  <a:t>≤</a:t>
                </a:r>
                <a:r>
                  <a:rPr lang="en-US" altLang="zh-CN" sz="1600" dirty="0"/>
                  <a:t>0</a:t>
                </a:r>
                <a:r>
                  <a:rPr lang="zh-CN" altLang="en-US" sz="1600" dirty="0"/>
                  <a:t>，则此问题无有界最优解，可终止计算</a:t>
                </a:r>
                <a:r>
                  <a:rPr lang="en-US" altLang="zh-CN" sz="1600" dirty="0"/>
                  <a:t>;</a:t>
                </a:r>
                <a:r>
                  <a:rPr lang="zh-CN" altLang="en-US" sz="1600" dirty="0"/>
                  <a:t>否则，转入下一步</a:t>
                </a:r>
                <a:r>
                  <a:rPr lang="zh-CN" altLang="en-US" sz="1600" dirty="0" smtClean="0"/>
                  <a:t>。</a:t>
                </a:r>
                <a:endParaRPr lang="en-US" altLang="zh-CN" sz="1600" dirty="0" smtClean="0"/>
              </a:p>
              <a:p>
                <a:pPr lvl="1"/>
                <a:r>
                  <a:rPr lang="en-US" altLang="zh-CN" sz="1600" dirty="0" smtClean="0"/>
                  <a:t>(</a:t>
                </a:r>
                <a:r>
                  <a:rPr lang="en-US" altLang="zh-CN" sz="1600" dirty="0"/>
                  <a:t>4)</a:t>
                </a:r>
                <a:r>
                  <a:rPr lang="zh-CN" altLang="en-US" sz="1600" dirty="0"/>
                  <a:t>在所有检验系数大于零的非基变量中，选择检验系数最大的非</a:t>
                </a:r>
                <a:r>
                  <a:rPr lang="zh-CN" altLang="en-US" sz="1600" dirty="0" smtClean="0"/>
                  <a:t>基变量</a:t>
                </a:r>
                <a:r>
                  <a:rPr lang="en-US" altLang="zh-CN" sz="1600" i="1" dirty="0" err="1">
                    <a:latin typeface="Times New Roman" panose="02020603050405020304" pitchFamily="18" charset="0"/>
                    <a:cs typeface="Times New Roman" panose="02020603050405020304" pitchFamily="18" charset="0"/>
                  </a:rPr>
                  <a:t>x</a:t>
                </a:r>
                <a:r>
                  <a:rPr lang="en-US" altLang="zh-CN" sz="1600" i="1" baseline="-25000" dirty="0" err="1">
                    <a:latin typeface="Times New Roman" panose="02020603050405020304" pitchFamily="18" charset="0"/>
                    <a:cs typeface="Times New Roman" panose="02020603050405020304" pitchFamily="18" charset="0"/>
                  </a:rPr>
                  <a:t>k</a:t>
                </a:r>
                <a:r>
                  <a:rPr lang="zh-CN" altLang="en-US" sz="1600" dirty="0" smtClean="0"/>
                  <a:t>作为</a:t>
                </a:r>
                <a:r>
                  <a:rPr lang="zh-CN" altLang="en-US" sz="1600" dirty="0"/>
                  <a:t>入基变量，按</a:t>
                </a:r>
                <a14:m>
                  <m:oMath xmlns:m="http://schemas.openxmlformats.org/officeDocument/2006/math">
                    <m:r>
                      <a:rPr lang="en-US" altLang="zh-CN" sz="1600" b="0" i="1">
                        <a:latin typeface="Cambria Math" panose="02040503050406030204" pitchFamily="18" charset="0"/>
                      </a:rPr>
                      <m:t>𝜃</m:t>
                    </m:r>
                  </m:oMath>
                </a14:m>
                <a:r>
                  <a:rPr lang="zh-CN" altLang="en-US" sz="1600" dirty="0"/>
                  <a:t>规则</a:t>
                </a:r>
                <a:r>
                  <a:rPr lang="zh-CN" altLang="en-US" sz="1600" dirty="0" smtClean="0"/>
                  <a:t>计算</a:t>
                </a:r>
                <a:r>
                  <a:rPr lang="en-US" altLang="zh-CN" sz="1600" dirty="0" smtClean="0"/>
                  <a:t>,</a:t>
                </a:r>
                <a:r>
                  <a:rPr lang="zh-CN" altLang="en-US" sz="1600" dirty="0" smtClean="0"/>
                  <a:t>确定</a:t>
                </a:r>
                <a:r>
                  <a:rPr lang="en-US" altLang="zh-CN" sz="1600" i="1" dirty="0" err="1" smtClean="0">
                    <a:latin typeface="Times New Roman" panose="02020603050405020304" pitchFamily="18" charset="0"/>
                    <a:cs typeface="Times New Roman" panose="02020603050405020304" pitchFamily="18" charset="0"/>
                  </a:rPr>
                  <a:t>x</a:t>
                </a:r>
                <a:r>
                  <a:rPr lang="en-US" altLang="zh-CN" sz="1600" i="1" baseline="-25000" dirty="0" err="1" smtClean="0">
                    <a:latin typeface="Times New Roman" panose="02020603050405020304" pitchFamily="18" charset="0"/>
                    <a:cs typeface="Times New Roman" panose="02020603050405020304" pitchFamily="18" charset="0"/>
                  </a:rPr>
                  <a:t>r</a:t>
                </a:r>
                <a:r>
                  <a:rPr lang="zh-CN" altLang="en-US" sz="1600" dirty="0" smtClean="0"/>
                  <a:t>为</a:t>
                </a:r>
                <a:r>
                  <a:rPr lang="zh-CN" altLang="en-US" sz="1600" dirty="0"/>
                  <a:t>出基变量，转入下一步</a:t>
                </a:r>
                <a:r>
                  <a:rPr lang="zh-CN" altLang="en-US" sz="1600" dirty="0" smtClean="0"/>
                  <a:t>。</a:t>
                </a:r>
                <a:endParaRPr lang="en-US" altLang="zh-CN" sz="1600" dirty="0" smtClean="0"/>
              </a:p>
              <a:p>
                <a:pPr lvl="1"/>
                <a:endParaRPr lang="en-US" altLang="zh-CN" sz="2000" dirty="0"/>
              </a:p>
              <a:p>
                <a:pPr lvl="1"/>
                <a:r>
                  <a:rPr lang="en-US" altLang="zh-CN" sz="1600" dirty="0" smtClean="0"/>
                  <a:t>(5)</a:t>
                </a:r>
                <a:r>
                  <a:rPr lang="zh-CN" altLang="en-US" sz="1600" dirty="0" smtClean="0"/>
                  <a:t>以</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𝒂</m:t>
                        </m:r>
                      </m:e>
                      <m:sub>
                        <m:r>
                          <a:rPr lang="en-US" altLang="zh-CN" sz="1600" i="1">
                            <a:latin typeface="Cambria Math" panose="02040503050406030204" pitchFamily="18" charset="0"/>
                          </a:rPr>
                          <m:t>𝒓𝒌</m:t>
                        </m:r>
                      </m:sub>
                    </m:sSub>
                  </m:oMath>
                </a14:m>
                <a:r>
                  <a:rPr lang="zh-CN" altLang="en-US" sz="1600" dirty="0"/>
                  <a:t>为中心换基</a:t>
                </a:r>
                <a:r>
                  <a:rPr lang="zh-CN" altLang="en-US" sz="1600" dirty="0" smtClean="0"/>
                  <a:t>迭代</a:t>
                </a:r>
                <a:r>
                  <a:rPr lang="en-US" altLang="zh-CN" sz="1600" dirty="0" smtClean="0"/>
                  <a:t>,</a:t>
                </a:r>
                <a:r>
                  <a:rPr lang="en-US" altLang="zh-CN" sz="1600" i="1"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把</a:t>
                </a:r>
                <a:r>
                  <a:rPr lang="en-US" altLang="zh-CN" sz="1600" i="1" dirty="0" err="1" smtClean="0">
                    <a:latin typeface="Times New Roman" panose="02020603050405020304" pitchFamily="18" charset="0"/>
                    <a:cs typeface="Times New Roman" panose="02020603050405020304" pitchFamily="18" charset="0"/>
                  </a:rPr>
                  <a:t>x</a:t>
                </a:r>
                <a:r>
                  <a:rPr lang="en-US" altLang="zh-CN" sz="1600" i="1" baseline="-25000" dirty="0" err="1" smtClean="0">
                    <a:latin typeface="Times New Roman" panose="02020603050405020304" pitchFamily="18" charset="0"/>
                    <a:cs typeface="Times New Roman" panose="02020603050405020304" pitchFamily="18" charset="0"/>
                  </a:rPr>
                  <a:t>k</a:t>
                </a:r>
                <a:r>
                  <a:rPr lang="zh-CN" altLang="en-US" sz="1600" dirty="0" smtClean="0"/>
                  <a:t>所对应的列向量</a:t>
                </a:r>
                <a:endParaRPr lang="en-US" altLang="zh-CN" sz="1600" dirty="0" smtClean="0"/>
              </a:p>
              <a:p>
                <a:pPr lvl="1"/>
                <a:endParaRPr lang="en-US" altLang="zh-CN" sz="1600" dirty="0"/>
              </a:p>
              <a:p>
                <a:pPr lvl="1"/>
                <a:endParaRPr lang="en-US" altLang="zh-CN" sz="1600" dirty="0" smtClean="0"/>
              </a:p>
              <a:p>
                <a:pPr marL="457200" lvl="1" indent="0">
                  <a:buNone/>
                </a:pPr>
                <a:endParaRPr lang="en-US" altLang="zh-CN" sz="2000" dirty="0" smtClean="0"/>
              </a:p>
              <a:p>
                <a:pPr lvl="1"/>
                <a:endParaRPr lang="en-US" altLang="zh-CN" sz="2000" dirty="0" smtClean="0"/>
              </a:p>
              <a:p>
                <a:pPr lvl="1"/>
                <a:endParaRPr lang="en-US" altLang="zh-CN" sz="1600" dirty="0" smtClean="0"/>
              </a:p>
              <a:p>
                <a:pPr marL="457200" lvl="1" indent="0">
                  <a:buNone/>
                </a:pPr>
                <a:r>
                  <a:rPr lang="zh-CN" altLang="en-US" sz="1600" dirty="0" smtClean="0"/>
                  <a:t>将</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B</a:t>
                </a:r>
                <a:r>
                  <a:rPr lang="zh-CN" altLang="en-US" sz="1600" dirty="0" smtClean="0"/>
                  <a:t>列中的</a:t>
                </a:r>
                <a:r>
                  <a:rPr lang="en-US" altLang="zh-CN" sz="1600" i="1" dirty="0" err="1" smtClean="0">
                    <a:latin typeface="Times New Roman" panose="02020603050405020304" pitchFamily="18" charset="0"/>
                    <a:cs typeface="Times New Roman" panose="02020603050405020304" pitchFamily="18" charset="0"/>
                  </a:rPr>
                  <a:t>x</a:t>
                </a:r>
                <a:r>
                  <a:rPr lang="en-US" altLang="zh-CN" sz="1600" i="1" baseline="-25000" dirty="0" err="1">
                    <a:latin typeface="Times New Roman" panose="02020603050405020304" pitchFamily="18" charset="0"/>
                    <a:cs typeface="Times New Roman" panose="02020603050405020304" pitchFamily="18" charset="0"/>
                  </a:rPr>
                  <a:t>r</a:t>
                </a:r>
                <a:r>
                  <a:rPr lang="zh-CN" altLang="en-US" sz="1600" dirty="0" smtClean="0"/>
                  <a:t>换为</a:t>
                </a:r>
                <a:r>
                  <a:rPr lang="en-US" altLang="zh-CN" sz="1600" i="1" dirty="0" err="1">
                    <a:latin typeface="Times New Roman" panose="02020603050405020304" pitchFamily="18" charset="0"/>
                    <a:cs typeface="Times New Roman" panose="02020603050405020304" pitchFamily="18" charset="0"/>
                  </a:rPr>
                  <a:t>x</a:t>
                </a:r>
                <a:r>
                  <a:rPr lang="en-US" altLang="zh-CN" sz="1600" i="1" baseline="-25000" dirty="0" err="1">
                    <a:latin typeface="Times New Roman" panose="02020603050405020304" pitchFamily="18" charset="0"/>
                    <a:cs typeface="Times New Roman" panose="02020603050405020304" pitchFamily="18" charset="0"/>
                  </a:rPr>
                  <a:t>k</a:t>
                </a:r>
                <a:r>
                  <a:rPr lang="en-US" altLang="zh-CN" sz="1600" i="1" baseline="-25000" dirty="0">
                    <a:latin typeface="Times New Roman" panose="02020603050405020304" pitchFamily="18" charset="0"/>
                    <a:cs typeface="Times New Roman" panose="02020603050405020304" pitchFamily="18" charset="0"/>
                  </a:rPr>
                  <a:t> </a:t>
                </a:r>
                <a:r>
                  <a:rPr lang="zh-CN" altLang="en-US" sz="1600" dirty="0" smtClean="0"/>
                  <a:t>，得到新的单纯形表。重复</a:t>
                </a:r>
                <a:r>
                  <a:rPr lang="en-US" altLang="zh-CN" sz="1600" dirty="0" smtClean="0"/>
                  <a:t>(2)~(5),</a:t>
                </a:r>
                <a:r>
                  <a:rPr lang="zh-CN" altLang="en-US" sz="1600" dirty="0" smtClean="0"/>
                  <a:t>直到终止。</a:t>
                </a:r>
                <a:endParaRPr lang="en-US" altLang="zh-CN" sz="1600" dirty="0" smtClean="0"/>
              </a:p>
              <a:p>
                <a:pPr lvl="1"/>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xfrm>
                <a:off x="609600" y="1256144"/>
                <a:ext cx="7848600" cy="4729019"/>
              </a:xfrm>
              <a:blipFill>
                <a:blip r:embed="rId5"/>
                <a:stretch>
                  <a:fillRect l="-776" t="-1031" r="-311" b="-579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p:cNvSpPr txBox="1"/>
              <p:nvPr/>
            </p:nvSpPr>
            <p:spPr>
              <a:xfrm>
                <a:off x="2728528" y="3557853"/>
                <a:ext cx="3441363" cy="439031"/>
              </a:xfrm>
              <a:prstGeom prst="rect">
                <a:avLst/>
              </a:prstGeom>
              <a:noFill/>
            </p:spPr>
            <p:txBody>
              <a:bodyPr wrap="square" lIns="0" tIns="0" rIns="0" bIns="0" rtlCol="0">
                <a:spAutoFit/>
              </a:bodyPr>
              <a:lstStyle/>
              <a:p>
                <a14:m>
                  <m:oMath xmlns:m="http://schemas.openxmlformats.org/officeDocument/2006/math">
                    <m:r>
                      <a:rPr lang="en-US" altLang="zh-CN" sz="1600" b="0" i="1" smtClean="0">
                        <a:latin typeface="Cambria Math" panose="02040503050406030204" pitchFamily="18" charset="0"/>
                      </a:rPr>
                      <m:t>𝜃</m:t>
                    </m:r>
                    <m:r>
                      <a:rPr lang="en-US" altLang="zh-CN" sz="1600" b="0" i="1" smtClean="0">
                        <a:latin typeface="Cambria Math" panose="02040503050406030204" pitchFamily="18" charset="0"/>
                      </a:rPr>
                      <m:t>=</m:t>
                    </m:r>
                    <m:func>
                      <m:funcPr>
                        <m:ctrlPr>
                          <a:rPr lang="en-US" altLang="zh-CN" sz="1600" i="1" smtClean="0">
                            <a:latin typeface="Cambria Math" panose="02040503050406030204" pitchFamily="18" charset="0"/>
                          </a:rPr>
                        </m:ctrlPr>
                      </m:funcPr>
                      <m:fName>
                        <m:limLow>
                          <m:limLowPr>
                            <m:ctrlPr>
                              <a:rPr lang="en-US" altLang="zh-CN" sz="1600" i="1" smtClean="0">
                                <a:latin typeface="Cambria Math" panose="02040503050406030204" pitchFamily="18" charset="0"/>
                              </a:rPr>
                            </m:ctrlPr>
                          </m:limLowPr>
                          <m:e>
                            <m:r>
                              <m:rPr>
                                <m:sty m:val="p"/>
                              </m:rPr>
                              <a:rPr lang="en-US" altLang="zh-CN" sz="1600" i="0" smtClean="0">
                                <a:latin typeface="Cambria Math" panose="02040503050406030204" pitchFamily="18" charset="0"/>
                              </a:rPr>
                              <m:t>min</m:t>
                            </m:r>
                          </m:e>
                          <m:lim>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=1,2,⋯,</m:t>
                            </m:r>
                            <m:r>
                              <a:rPr lang="en-US" altLang="zh-CN" sz="1600" b="0" i="1" smtClean="0">
                                <a:latin typeface="Cambria Math" panose="02040503050406030204" pitchFamily="18" charset="0"/>
                                <a:ea typeface="Cambria Math" panose="02040503050406030204" pitchFamily="18" charset="0"/>
                              </a:rPr>
                              <m:t>𝑚</m:t>
                            </m:r>
                          </m:lim>
                        </m:limLow>
                      </m:fName>
                      <m:e>
                        <m:d>
                          <m:dPr>
                            <m:begChr m:val="{"/>
                            <m:endChr m:val="}"/>
                            <m:ctrlPr>
                              <a:rPr lang="en-US" altLang="zh-CN" sz="1600" i="1" smtClean="0">
                                <a:latin typeface="Cambria Math" panose="02040503050406030204" pitchFamily="18" charset="0"/>
                              </a:rPr>
                            </m:ctrlPr>
                          </m:dPr>
                          <m:e>
                            <m:f>
                              <m:fPr>
                                <m:ctrlPr>
                                  <a:rPr lang="en-US" altLang="zh-CN" sz="1600" i="1" dirty="0">
                                    <a:latin typeface="Cambria Math" panose="02040503050406030204" pitchFamily="18" charset="0"/>
                                    <a:cs typeface="Times New Roman" panose="02020603050405020304" pitchFamily="18" charset="0"/>
                                  </a:rPr>
                                </m:ctrlPr>
                              </m:fPr>
                              <m:num>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𝑖</m:t>
                                    </m:r>
                                  </m:sub>
                                </m:sSub>
                              </m:num>
                              <m:den>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𝑖𝑘</m:t>
                                    </m:r>
                                  </m:sub>
                                </m:sSub>
                              </m:den>
                            </m:f>
                            <m:r>
                              <m:rPr>
                                <m:nor/>
                              </m:rPr>
                              <a:rPr lang="zh-CN" altLang="en-US" sz="1600" dirty="0"/>
                              <m:t> </m:t>
                            </m:r>
                            <m:r>
                              <a:rPr lang="en-US" altLang="zh-CN" sz="1600" b="0" i="1" dirty="0" smtClean="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𝑖𝑘</m:t>
                                </m:r>
                              </m:sub>
                            </m:sSub>
                            <m:r>
                              <a:rPr lang="en-US" altLang="zh-CN" sz="1600" i="1" smtClean="0">
                                <a:latin typeface="Cambria Math" panose="02040503050406030204" pitchFamily="18" charset="0"/>
                                <a:ea typeface="Cambria Math" panose="02040503050406030204" pitchFamily="18" charset="0"/>
                              </a:rPr>
                              <m:t>&gt;</m:t>
                            </m:r>
                            <m:r>
                              <a:rPr lang="en-US" altLang="zh-CN" sz="1600" b="0" i="1" smtClean="0">
                                <a:latin typeface="Cambria Math" panose="02040503050406030204" pitchFamily="18" charset="0"/>
                                <a:ea typeface="Cambria Math" panose="02040503050406030204" pitchFamily="18" charset="0"/>
                              </a:rPr>
                              <m:t>0</m:t>
                            </m:r>
                          </m:e>
                        </m:d>
                      </m:e>
                    </m:func>
                  </m:oMath>
                </a14:m>
                <a:r>
                  <a:rPr lang="en-US" altLang="zh-CN" sz="1600" dirty="0" smtClean="0"/>
                  <a:t>=</a:t>
                </a:r>
                <a14:m>
                  <m:oMath xmlns:m="http://schemas.openxmlformats.org/officeDocument/2006/math">
                    <m:f>
                      <m:fPr>
                        <m:ctrlPr>
                          <a:rPr lang="en-US" altLang="zh-CN" sz="1600" i="1" dirty="0">
                            <a:latin typeface="Cambria Math" panose="02040503050406030204" pitchFamily="18" charset="0"/>
                            <a:cs typeface="Times New Roman" panose="02020603050405020304" pitchFamily="18" charset="0"/>
                          </a:rPr>
                        </m:ctrlPr>
                      </m:fPr>
                      <m:num>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b="0" i="1" smtClean="0">
                                <a:latin typeface="Cambria Math" panose="02040503050406030204" pitchFamily="18" charset="0"/>
                              </a:rPr>
                              <m:t>𝑟</m:t>
                            </m:r>
                          </m:sub>
                        </m:sSub>
                      </m:num>
                      <m:den>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b="0" i="1" smtClean="0">
                                <a:latin typeface="Cambria Math" panose="02040503050406030204" pitchFamily="18" charset="0"/>
                              </a:rPr>
                              <m:t>𝑟</m:t>
                            </m:r>
                            <m:r>
                              <a:rPr lang="en-US" altLang="zh-CN" sz="1600" i="1">
                                <a:latin typeface="Cambria Math" panose="02040503050406030204" pitchFamily="18" charset="0"/>
                              </a:rPr>
                              <m:t>𝑘</m:t>
                            </m:r>
                          </m:sub>
                        </m:sSub>
                      </m:den>
                    </m:f>
                  </m:oMath>
                </a14:m>
                <a:endParaRPr lang="zh-CN" altLang="en-US" sz="1600" dirty="0"/>
              </a:p>
            </p:txBody>
          </p:sp>
        </mc:Choice>
        <mc:Fallback xmlns="">
          <p:sp>
            <p:nvSpPr>
              <p:cNvPr id="35" name="文本框 34"/>
              <p:cNvSpPr txBox="1">
                <a:spLocks noRot="1" noChangeAspect="1" noMove="1" noResize="1" noEditPoints="1" noAdjustHandles="1" noChangeArrowheads="1" noChangeShapeType="1" noTextEdit="1"/>
              </p:cNvSpPr>
              <p:nvPr/>
            </p:nvSpPr>
            <p:spPr>
              <a:xfrm>
                <a:off x="2728528" y="3557853"/>
                <a:ext cx="3441363" cy="439031"/>
              </a:xfrm>
              <a:prstGeom prst="rect">
                <a:avLst/>
              </a:prstGeom>
              <a:blipFill>
                <a:blip r:embed="rId6"/>
                <a:stretch>
                  <a:fillRect l="-2128" b="-6944"/>
                </a:stretch>
              </a:blipFill>
            </p:spPr>
            <p:txBody>
              <a:bodyPr/>
              <a:lstStyle/>
              <a:p>
                <a:r>
                  <a:rPr lang="zh-CN" altLang="en-US">
                    <a:noFill/>
                  </a:rPr>
                  <a:t> </a:t>
                </a:r>
              </a:p>
            </p:txBody>
          </p:sp>
        </mc:Fallback>
      </mc:AlternateContent>
      <p:graphicFrame>
        <p:nvGraphicFramePr>
          <p:cNvPr id="36" name="对象 7"/>
          <p:cNvGraphicFramePr>
            <a:graphicFrameLocks noChangeAspect="1"/>
          </p:cNvGraphicFramePr>
          <p:nvPr>
            <p:extLst>
              <p:ext uri="{D42A27DB-BD31-4B8C-83A1-F6EECF244321}">
                <p14:modId xmlns:p14="http://schemas.microsoft.com/office/powerpoint/2010/main" val="1945389928"/>
              </p:ext>
            </p:extLst>
          </p:nvPr>
        </p:nvGraphicFramePr>
        <p:xfrm>
          <a:off x="5430661" y="3996884"/>
          <a:ext cx="3381451" cy="1894959"/>
        </p:xfrm>
        <a:graphic>
          <a:graphicData uri="http://schemas.openxmlformats.org/presentationml/2006/ole">
            <mc:AlternateContent xmlns:mc="http://schemas.openxmlformats.org/markup-compatibility/2006">
              <mc:Choice xmlns:v="urn:schemas-microsoft-com:vml" Requires="v">
                <p:oleObj spid="_x0000_s138281" name="Equation" r:id="rId7" imgW="2692400" imgH="1498600" progId="Equation.DSMT4">
                  <p:embed/>
                </p:oleObj>
              </mc:Choice>
              <mc:Fallback>
                <p:oleObj name="Equation" r:id="rId7" imgW="2692400" imgH="1498600" progId="Equation.DSMT4">
                  <p:embed/>
                  <p:pic>
                    <p:nvPicPr>
                      <p:cNvPr id="87047" name="对象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30661" y="3996884"/>
                        <a:ext cx="3381451" cy="1894959"/>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26182372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2.5.2 </a:t>
            </a:r>
            <a:r>
              <a:rPr lang="zh-CN" altLang="en-US" noProof="1"/>
              <a:t>单纯形表 </a:t>
            </a:r>
          </a:p>
        </p:txBody>
      </p:sp>
      <p:sp>
        <p:nvSpPr>
          <p:cNvPr id="3" name="内容占位符 2"/>
          <p:cNvSpPr>
            <a:spLocks noGrp="1"/>
          </p:cNvSpPr>
          <p:nvPr>
            <p:ph sz="half" idx="1"/>
          </p:nvPr>
        </p:nvSpPr>
        <p:spPr>
          <a:xfrm>
            <a:off x="609600" y="1256144"/>
            <a:ext cx="7848600" cy="4729019"/>
          </a:xfrm>
        </p:spPr>
        <p:txBody>
          <a:bodyPr/>
          <a:lstStyle/>
          <a:p>
            <a:r>
              <a:rPr lang="zh-CN" altLang="en-US" sz="2400" dirty="0" smtClean="0"/>
              <a:t>例题：</a:t>
            </a:r>
            <a:r>
              <a:rPr lang="zh-CN" altLang="en-US" sz="2400" dirty="0"/>
              <a:t>利用单纯形法求解以下线性规划</a:t>
            </a:r>
            <a:r>
              <a:rPr lang="zh-CN" altLang="en-US" sz="2400" dirty="0" smtClean="0"/>
              <a:t>问题</a:t>
            </a:r>
            <a:endParaRPr lang="en-US" altLang="zh-CN" sz="2400" dirty="0" smtClean="0"/>
          </a:p>
          <a:p>
            <a:endParaRPr lang="en-US" altLang="zh-CN" sz="2400" dirty="0"/>
          </a:p>
          <a:p>
            <a:endParaRPr lang="en-US" altLang="zh-CN" sz="2400" dirty="0" smtClean="0"/>
          </a:p>
          <a:p>
            <a:endParaRPr lang="en-US" altLang="zh-CN" sz="2400" dirty="0"/>
          </a:p>
          <a:p>
            <a:pPr lvl="1"/>
            <a:endParaRPr lang="en-US" altLang="zh-CN" sz="1600" dirty="0" smtClean="0">
              <a:latin typeface="Times New Roman" panose="02020603050405020304" pitchFamily="18" charset="0"/>
              <a:cs typeface="Times New Roman" panose="02020603050405020304" pitchFamily="18" charset="0"/>
            </a:endParaRPr>
          </a:p>
          <a:p>
            <a:pPr lvl="1"/>
            <a:r>
              <a:rPr lang="en-US" altLang="zh-CN" sz="1600" dirty="0" smtClean="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 </a:t>
            </a:r>
            <a:r>
              <a:rPr lang="zh-CN" altLang="en-US" sz="1600" dirty="0">
                <a:latin typeface="Times New Roman" panose="02020603050405020304" pitchFamily="18" charset="0"/>
                <a:cs typeface="Times New Roman" panose="02020603050405020304" pitchFamily="18" charset="0"/>
              </a:rPr>
              <a:t>按数学模型确定初始可行基和初始基可行解，建立初始单纯形表</a:t>
            </a:r>
            <a:r>
              <a:rPr lang="zh-CN" altLang="en-US" sz="1600" dirty="0" smtClean="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此</a:t>
            </a:r>
            <a:r>
              <a:rPr lang="zh-CN" altLang="en-US" sz="1600" dirty="0" smtClean="0">
                <a:latin typeface="Times New Roman" panose="02020603050405020304" pitchFamily="18" charset="0"/>
                <a:cs typeface="Times New Roman" panose="02020603050405020304" pitchFamily="18" charset="0"/>
              </a:rPr>
              <a:t>例中，可以取</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x</a:t>
            </a:r>
            <a:r>
              <a:rPr lang="en-US" altLang="zh-CN" sz="1600" baseline="-30000" dirty="0" smtClean="0">
                <a:latin typeface="Times New Roman" panose="02020603050405020304" pitchFamily="18" charset="0"/>
                <a:cs typeface="Times New Roman" panose="02020603050405020304" pitchFamily="18" charset="0"/>
              </a:rPr>
              <a:t>3</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x</a:t>
            </a:r>
            <a:r>
              <a:rPr lang="en-US" altLang="zh-CN" sz="1600" baseline="-30000" dirty="0" smtClean="0">
                <a:latin typeface="Times New Roman" panose="02020603050405020304" pitchFamily="18" charset="0"/>
                <a:cs typeface="Times New Roman" panose="02020603050405020304" pitchFamily="18" charset="0"/>
              </a:rPr>
              <a:t>4</a:t>
            </a:r>
            <a:r>
              <a:rPr lang="en-US" altLang="zh-CN" sz="1600" dirty="0" smtClean="0">
                <a:latin typeface="Times New Roman" panose="02020603050405020304" pitchFamily="18" charset="0"/>
                <a:cs typeface="Times New Roman" panose="02020603050405020304" pitchFamily="18" charset="0"/>
              </a:rPr>
              <a:t>, </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30000" dirty="0" smtClean="0">
                <a:latin typeface="Times New Roman" panose="02020603050405020304" pitchFamily="18" charset="0"/>
                <a:cs typeface="Times New Roman" panose="02020603050405020304" pitchFamily="18" charset="0"/>
              </a:rPr>
              <a:t>5</a:t>
            </a:r>
            <a:r>
              <a:rPr lang="en-US" altLang="zh-CN" sz="1600" dirty="0" smtClean="0">
                <a:latin typeface="Times New Roman" panose="02020603050405020304" pitchFamily="18" charset="0"/>
                <a:cs typeface="Times New Roman" panose="02020603050405020304" pitchFamily="18" charset="0"/>
              </a:rPr>
              <a:t>)</a:t>
            </a:r>
            <a:r>
              <a:rPr lang="zh-CN" altLang="en-US" sz="1600" dirty="0" smtClean="0">
                <a:latin typeface="Times New Roman" panose="02020603050405020304" pitchFamily="18" charset="0"/>
                <a:cs typeface="Times New Roman" panose="02020603050405020304" pitchFamily="18" charset="0"/>
              </a:rPr>
              <a:t>作为初始基变量，因为它们所对应的系数矩阵中的列向量刚好构成一个单位阵，对应的初始单纯形表如下。</a:t>
            </a:r>
            <a:endParaRPr lang="zh-CN" altLang="en-US" sz="1600" dirty="0">
              <a:latin typeface="Times New Roman" panose="02020603050405020304" pitchFamily="18" charset="0"/>
              <a:cs typeface="Times New Roman" panose="02020603050405020304" pitchFamily="18" charset="0"/>
            </a:endParaRPr>
          </a:p>
          <a:p>
            <a:pPr marL="457200" lvl="1" indent="0">
              <a:buNone/>
            </a:pPr>
            <a:endParaRPr lang="en-US" altLang="zh-CN" sz="2000" dirty="0"/>
          </a:p>
          <a:p>
            <a:endParaRPr lang="zh-CN" altLang="en-US" sz="2400" dirty="0"/>
          </a:p>
        </p:txBody>
      </p:sp>
      <p:pic>
        <p:nvPicPr>
          <p:cNvPr id="4" name="图片 3"/>
          <p:cNvPicPr>
            <a:picLocks noChangeAspect="1"/>
          </p:cNvPicPr>
          <p:nvPr/>
        </p:nvPicPr>
        <p:blipFill rotWithShape="1">
          <a:blip r:embed="rId3"/>
          <a:srcRect l="23894" t="18051" r="22333"/>
          <a:stretch/>
        </p:blipFill>
        <p:spPr>
          <a:xfrm>
            <a:off x="1985819" y="1780409"/>
            <a:ext cx="3094182" cy="1420189"/>
          </a:xfrm>
          <a:prstGeom prst="rect">
            <a:avLst/>
          </a:prstGeom>
        </p:spPr>
      </p:pic>
      <p:pic>
        <p:nvPicPr>
          <p:cNvPr id="8" name="图片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9600" y="4533900"/>
            <a:ext cx="8475662"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形标注 4"/>
          <p:cNvSpPr/>
          <p:nvPr/>
        </p:nvSpPr>
        <p:spPr bwMode="auto">
          <a:xfrm>
            <a:off x="6142181" y="3768436"/>
            <a:ext cx="1496292" cy="341028"/>
          </a:xfrm>
          <a:prstGeom prst="wedgeEllipseCallout">
            <a:avLst>
              <a:gd name="adj1" fmla="val -4166"/>
              <a:gd name="adj2" fmla="val 138639"/>
            </a:avLst>
          </a:prstGeom>
          <a:solidFill>
            <a:schemeClr val="accent5">
              <a:lumMod val="40000"/>
              <a:lumOff val="60000"/>
            </a:schemeClr>
          </a:solidFill>
          <a:ln w="9525" cap="flat" cmpd="sng" algn="ctr">
            <a:solidFill>
              <a:srgbClr val="366B7E"/>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初始基变量</a:t>
            </a:r>
          </a:p>
        </p:txBody>
      </p:sp>
    </p:spTree>
    <p:extLst>
      <p:ext uri="{BB962C8B-B14F-4D97-AF65-F5344CB8AC3E}">
        <p14:creationId xmlns:p14="http://schemas.microsoft.com/office/powerpoint/2010/main" val="30981302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2.5.2 </a:t>
            </a:r>
            <a:r>
              <a:rPr lang="zh-CN" altLang="en-US" noProof="1"/>
              <a:t>单纯形表 </a:t>
            </a:r>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a:xfrm>
                <a:off x="609600" y="1256144"/>
                <a:ext cx="7848600" cy="4729019"/>
              </a:xfrm>
            </p:spPr>
            <p:txBody>
              <a:bodyPr/>
              <a:lstStyle/>
              <a:p>
                <a:r>
                  <a:rPr lang="zh-CN" altLang="en-US" sz="2400" dirty="0" smtClean="0"/>
                  <a:t>例题：</a:t>
                </a:r>
                <a:r>
                  <a:rPr lang="zh-CN" altLang="en-US" sz="2400" dirty="0"/>
                  <a:t>利用单纯形法求解以下线性规划</a:t>
                </a:r>
                <a:r>
                  <a:rPr lang="zh-CN" altLang="en-US" sz="2400" dirty="0" smtClean="0"/>
                  <a:t>问题</a:t>
                </a:r>
                <a:endParaRPr lang="en-US" altLang="zh-CN" sz="2400" dirty="0" smtClean="0"/>
              </a:p>
              <a:p>
                <a:endParaRPr lang="en-US" altLang="zh-CN" sz="2400" dirty="0"/>
              </a:p>
              <a:p>
                <a:endParaRPr lang="en-US" altLang="zh-CN" sz="2400" dirty="0" smtClean="0"/>
              </a:p>
              <a:p>
                <a:endParaRPr lang="en-US" altLang="zh-CN" sz="2400" dirty="0"/>
              </a:p>
              <a:p>
                <a:pPr lvl="1"/>
                <a:endParaRPr lang="en-US" altLang="zh-CN" sz="1600" dirty="0" smtClean="0">
                  <a:latin typeface="Times New Roman" panose="02020603050405020304" pitchFamily="18" charset="0"/>
                  <a:cs typeface="Times New Roman" panose="02020603050405020304" pitchFamily="18" charset="0"/>
                </a:endParaRPr>
              </a:p>
              <a:p>
                <a:pPr lvl="1"/>
                <a:r>
                  <a:rPr lang="en-US" altLang="zh-CN" sz="1600" dirty="0" smtClean="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 </a:t>
                </a:r>
                <a:r>
                  <a:rPr lang="zh-CN" altLang="en-US" sz="1600" dirty="0" smtClean="0">
                    <a:latin typeface="Times New Roman" panose="02020603050405020304" pitchFamily="18" charset="0"/>
                    <a:cs typeface="Times New Roman" panose="02020603050405020304" pitchFamily="18" charset="0"/>
                  </a:rPr>
                  <a:t>计算当前基可行解所对应的目标函数值、各</a:t>
                </a:r>
                <a:r>
                  <a:rPr lang="zh-CN" altLang="en-US" sz="1600" dirty="0">
                    <a:latin typeface="Times New Roman" panose="02020603050405020304" pitchFamily="18" charset="0"/>
                    <a:cs typeface="Times New Roman" panose="02020603050405020304" pitchFamily="18" charset="0"/>
                  </a:rPr>
                  <a:t>非基变量</a:t>
                </a:r>
                <a:r>
                  <a:rPr lang="en-US" altLang="zh-CN" sz="1600" i="1" dirty="0" err="1">
                    <a:latin typeface="Times New Roman" panose="02020603050405020304" pitchFamily="18" charset="0"/>
                    <a:cs typeface="Times New Roman" panose="02020603050405020304" pitchFamily="18" charset="0"/>
                  </a:rPr>
                  <a:t>x</a:t>
                </a:r>
                <a:r>
                  <a:rPr lang="en-US" altLang="zh-CN" sz="1600" i="1" baseline="-25000" dirty="0" err="1">
                    <a:latin typeface="Times New Roman" panose="02020603050405020304" pitchFamily="18" charset="0"/>
                    <a:cs typeface="Times New Roman" panose="02020603050405020304" pitchFamily="18" charset="0"/>
                  </a:rPr>
                  <a:t>j</a:t>
                </a:r>
                <a:r>
                  <a:rPr lang="zh-CN" altLang="en-US" sz="1600" dirty="0">
                    <a:latin typeface="Times New Roman" panose="02020603050405020304" pitchFamily="18" charset="0"/>
                    <a:cs typeface="Times New Roman" panose="02020603050405020304" pitchFamily="18" charset="0"/>
                  </a:rPr>
                  <a:t>的检验</a:t>
                </a:r>
                <a:r>
                  <a:rPr lang="zh-CN" altLang="en-US" sz="1600" dirty="0" smtClean="0">
                    <a:latin typeface="Times New Roman" panose="02020603050405020304" pitchFamily="18" charset="0"/>
                    <a:cs typeface="Times New Roman" panose="02020603050405020304" pitchFamily="18" charset="0"/>
                  </a:rPr>
                  <a:t>数并填入表中，</a:t>
                </a:r>
                <a:r>
                  <a:rPr lang="zh-CN" altLang="en-US" sz="1600" dirty="0">
                    <a:latin typeface="Times New Roman" panose="02020603050405020304" pitchFamily="18" charset="0"/>
                    <a:cs typeface="Times New Roman" panose="02020603050405020304" pitchFamily="18" charset="0"/>
                  </a:rPr>
                  <a:t>检查检验数</a:t>
                </a:r>
                <a:r>
                  <a:rPr lang="zh-CN" altLang="en-US" sz="1600" dirty="0" smtClean="0">
                    <a:latin typeface="Times New Roman" panose="02020603050405020304" pitchFamily="18" charset="0"/>
                    <a:cs typeface="Times New Roman" panose="02020603050405020304" pitchFamily="18" charset="0"/>
                  </a:rPr>
                  <a:t>，因为</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2</a:t>
                </a:r>
                <a:r>
                  <a:rPr lang="zh-CN" altLang="en-US" sz="1600" dirty="0" smtClean="0">
                    <a:latin typeface="Times New Roman" panose="02020603050405020304" pitchFamily="18" charset="0"/>
                    <a:cs typeface="Times New Roman" panose="02020603050405020304" pitchFamily="18" charset="0"/>
                  </a:rPr>
                  <a:t>的检验系数为正且最大，需要将它作为入基变量。计算每个基变量所对应的</a:t>
                </a:r>
                <a:r>
                  <a:rPr lang="en-US" altLang="zh-CN" sz="1600" i="1"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b="0" i="1">
                        <a:latin typeface="Cambria Math" panose="02040503050406030204" pitchFamily="18" charset="0"/>
                      </a:rPr>
                      <m:t>𝜃</m:t>
                    </m:r>
                  </m:oMath>
                </a14:m>
                <a:r>
                  <a:rPr lang="en-US" altLang="zh-CN" sz="1600" i="1" baseline="-25000" dirty="0" smtClean="0">
                    <a:latin typeface="Times New Roman" panose="02020603050405020304" pitchFamily="18" charset="0"/>
                    <a:cs typeface="Times New Roman" panose="02020603050405020304" pitchFamily="18" charset="0"/>
                  </a:rPr>
                  <a:t>i</a:t>
                </a:r>
                <a:r>
                  <a:rPr lang="zh-CN" altLang="en-US" sz="1600" dirty="0" smtClean="0">
                    <a:latin typeface="Times New Roman" panose="02020603050405020304" pitchFamily="18" charset="0"/>
                    <a:cs typeface="Times New Roman" panose="02020603050405020304" pitchFamily="18" charset="0"/>
                  </a:rPr>
                  <a:t>值，可知应将</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5</a:t>
                </a:r>
                <a:r>
                  <a:rPr lang="zh-CN" altLang="en-US" sz="1600" dirty="0" smtClean="0">
                    <a:latin typeface="Times New Roman" panose="02020603050405020304" pitchFamily="18" charset="0"/>
                    <a:cs typeface="Times New Roman" panose="02020603050405020304" pitchFamily="18" charset="0"/>
                  </a:rPr>
                  <a:t>出基。进行换基迭代，得到如下单纯形表。</a:t>
                </a:r>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xfrm>
                <a:off x="609600" y="1256144"/>
                <a:ext cx="7848600" cy="4729019"/>
              </a:xfrm>
              <a:blipFill>
                <a:blip r:embed="rId5"/>
                <a:stretch>
                  <a:fillRect l="-1009" t="-1418"/>
                </a:stretch>
              </a:blipFill>
            </p:spPr>
            <p:txBody>
              <a:bodyPr/>
              <a:lstStyle/>
              <a:p>
                <a:r>
                  <a:rPr lang="zh-CN" altLang="en-US">
                    <a:noFill/>
                  </a:rPr>
                  <a:t> </a:t>
                </a:r>
              </a:p>
            </p:txBody>
          </p:sp>
        </mc:Fallback>
      </mc:AlternateContent>
      <p:pic>
        <p:nvPicPr>
          <p:cNvPr id="4" name="图片 3"/>
          <p:cNvPicPr>
            <a:picLocks noChangeAspect="1"/>
          </p:cNvPicPr>
          <p:nvPr/>
        </p:nvPicPr>
        <p:blipFill rotWithShape="1">
          <a:blip r:embed="rId6"/>
          <a:srcRect l="23894" t="18051" r="22333"/>
          <a:stretch/>
        </p:blipFill>
        <p:spPr>
          <a:xfrm>
            <a:off x="1952518" y="1801092"/>
            <a:ext cx="2978257" cy="1366981"/>
          </a:xfrm>
          <a:prstGeom prst="rect">
            <a:avLst/>
          </a:prstGeom>
        </p:spPr>
      </p:pic>
      <p:pic>
        <p:nvPicPr>
          <p:cNvPr id="10" name="图片 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9600" y="4562475"/>
            <a:ext cx="8439150"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3392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2.5.2 </a:t>
            </a:r>
            <a:r>
              <a:rPr lang="zh-CN" altLang="en-US" noProof="1"/>
              <a:t>单纯形表 </a:t>
            </a:r>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a:xfrm>
                <a:off x="609600" y="1256144"/>
                <a:ext cx="7848600" cy="4729019"/>
              </a:xfrm>
            </p:spPr>
            <p:txBody>
              <a:bodyPr/>
              <a:lstStyle/>
              <a:p>
                <a:r>
                  <a:rPr lang="zh-CN" altLang="en-US" sz="2400" dirty="0" smtClean="0"/>
                  <a:t>例题：</a:t>
                </a:r>
                <a:r>
                  <a:rPr lang="zh-CN" altLang="en-US" sz="2400" dirty="0"/>
                  <a:t>利用单纯形法求解以下线性规划</a:t>
                </a:r>
                <a:r>
                  <a:rPr lang="zh-CN" altLang="en-US" sz="2400" dirty="0" smtClean="0"/>
                  <a:t>问题</a:t>
                </a:r>
                <a:endParaRPr lang="en-US" altLang="zh-CN" sz="2400" dirty="0" smtClean="0"/>
              </a:p>
              <a:p>
                <a:endParaRPr lang="en-US" altLang="zh-CN" sz="2400" dirty="0"/>
              </a:p>
              <a:p>
                <a:endParaRPr lang="en-US" altLang="zh-CN" sz="2400" dirty="0" smtClean="0"/>
              </a:p>
              <a:p>
                <a:endParaRPr lang="en-US" altLang="zh-CN" sz="2400" dirty="0"/>
              </a:p>
              <a:p>
                <a:pPr lvl="1"/>
                <a:endParaRPr lang="en-US" altLang="zh-CN" sz="1600" dirty="0" smtClean="0">
                  <a:latin typeface="Times New Roman" panose="02020603050405020304" pitchFamily="18" charset="0"/>
                  <a:cs typeface="Times New Roman" panose="02020603050405020304" pitchFamily="18" charset="0"/>
                </a:endParaRPr>
              </a:p>
              <a:p>
                <a:pPr lvl="1"/>
                <a:r>
                  <a:rPr lang="en-US" altLang="zh-CN" sz="1600" dirty="0" smtClean="0">
                    <a:latin typeface="Times New Roman" panose="02020603050405020304" pitchFamily="18" charset="0"/>
                    <a:cs typeface="Times New Roman" panose="02020603050405020304" pitchFamily="18" charset="0"/>
                  </a:rPr>
                  <a:t>(3) </a:t>
                </a:r>
                <a:r>
                  <a:rPr lang="zh-CN" altLang="en-US" sz="1600" dirty="0" smtClean="0">
                    <a:latin typeface="Times New Roman" panose="02020603050405020304" pitchFamily="18" charset="0"/>
                    <a:cs typeface="Times New Roman" panose="02020603050405020304" pitchFamily="18" charset="0"/>
                  </a:rPr>
                  <a:t>计算检验系数</a:t>
                </a:r>
                <a:r>
                  <a:rPr lang="zh-CN" altLang="en-US" sz="1600" dirty="0">
                    <a:latin typeface="Times New Roman" panose="02020603050405020304" pitchFamily="18" charset="0"/>
                    <a:cs typeface="Times New Roman" panose="02020603050405020304" pitchFamily="18" charset="0"/>
                  </a:rPr>
                  <a:t>和</a:t>
                </a:r>
                <a14:m>
                  <m:oMath xmlns:m="http://schemas.openxmlformats.org/officeDocument/2006/math">
                    <m:r>
                      <a:rPr lang="en-US" altLang="zh-CN" sz="1600" b="0" i="1">
                        <a:latin typeface="Cambria Math" panose="02040503050406030204" pitchFamily="18" charset="0"/>
                      </a:rPr>
                      <m:t>𝜃</m:t>
                    </m:r>
                  </m:oMath>
                </a14:m>
                <a:r>
                  <a:rPr lang="en-US" altLang="zh-CN" sz="1600" i="1" baseline="-25000" dirty="0" smtClean="0">
                    <a:latin typeface="Times New Roman" panose="02020603050405020304" pitchFamily="18" charset="0"/>
                    <a:cs typeface="Times New Roman" panose="02020603050405020304" pitchFamily="18" charset="0"/>
                  </a:rPr>
                  <a:t>i</a:t>
                </a:r>
                <a:r>
                  <a:rPr lang="zh-CN" altLang="en-US" sz="1600" dirty="0" smtClean="0">
                    <a:latin typeface="Times New Roman" panose="02020603050405020304" pitchFamily="18" charset="0"/>
                    <a:cs typeface="Times New Roman" panose="02020603050405020304" pitchFamily="18" charset="0"/>
                  </a:rPr>
                  <a:t>值，确定</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1</a:t>
                </a:r>
                <a:r>
                  <a:rPr lang="zh-CN" altLang="en-US" sz="1600" dirty="0" smtClean="0">
                    <a:latin typeface="Times New Roman" panose="02020603050405020304" pitchFamily="18" charset="0"/>
                    <a:cs typeface="Times New Roman" panose="02020603050405020304" pitchFamily="18" charset="0"/>
                  </a:rPr>
                  <a:t>入基，</a:t>
                </a:r>
                <a:r>
                  <a:rPr lang="en-US" altLang="zh-CN" sz="1600" i="1" dirty="0" smtClean="0">
                    <a:latin typeface="Times New Roman" panose="02020603050405020304" pitchFamily="18" charset="0"/>
                    <a:cs typeface="Times New Roman" panose="02020603050405020304" pitchFamily="18" charset="0"/>
                  </a:rPr>
                  <a:t>x</a:t>
                </a:r>
                <a:r>
                  <a:rPr lang="en-US" altLang="zh-CN" sz="1600" i="1" baseline="-25000" dirty="0" smtClean="0">
                    <a:latin typeface="Times New Roman" panose="02020603050405020304" pitchFamily="18" charset="0"/>
                    <a:cs typeface="Times New Roman" panose="02020603050405020304" pitchFamily="18" charset="0"/>
                  </a:rPr>
                  <a:t>4</a:t>
                </a:r>
                <a:r>
                  <a:rPr lang="zh-CN" altLang="en-US" sz="1600" dirty="0" smtClean="0">
                    <a:latin typeface="Times New Roman" panose="02020603050405020304" pitchFamily="18" charset="0"/>
                    <a:cs typeface="Times New Roman" panose="02020603050405020304" pitchFamily="18" charset="0"/>
                  </a:rPr>
                  <a:t>出基。进行换基迭代，得到如下单纯形表。</a:t>
                </a:r>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r>
                  <a:rPr lang="zh-CN" altLang="en-US" sz="1600" dirty="0" smtClean="0">
                    <a:latin typeface="Times New Roman" panose="02020603050405020304" pitchFamily="18" charset="0"/>
                    <a:cs typeface="Times New Roman" panose="02020603050405020304" pitchFamily="18" charset="0"/>
                  </a:rPr>
                  <a:t>计算检验系数，所有非基变量的检验系数均为非正。因此，当前基可行解即为线性规划问题的最优解。即</a:t>
                </a:r>
                <a14:m>
                  <m:oMath xmlns:m="http://schemas.openxmlformats.org/officeDocument/2006/math">
                    <m:sSup>
                      <m:sSupPr>
                        <m:ctrlPr>
                          <a:rPr lang="en-US" altLang="zh-CN" sz="1600" i="1" smtClean="0">
                            <a:latin typeface="Cambria Math" panose="02040503050406030204" pitchFamily="18" charset="0"/>
                            <a:cs typeface="Times New Roman" panose="02020603050405020304" pitchFamily="18" charset="0"/>
                          </a:rPr>
                        </m:ctrlPr>
                      </m:sSupPr>
                      <m:e>
                        <m:r>
                          <a:rPr lang="en-US" altLang="zh-CN" sz="1600" b="1" i="1" smtClean="0">
                            <a:latin typeface="Cambria Math" panose="02040503050406030204" pitchFamily="18" charset="0"/>
                            <a:cs typeface="Times New Roman" panose="02020603050405020304" pitchFamily="18" charset="0"/>
                          </a:rPr>
                          <m:t>𝑿</m:t>
                        </m:r>
                      </m:e>
                      <m:sup>
                        <m:r>
                          <a:rPr lang="zh-CN" altLang="en-US" sz="1600" b="1" i="1" smtClean="0">
                            <a:latin typeface="Cambria Math" panose="02040503050406030204" pitchFamily="18" charset="0"/>
                            <a:cs typeface="Times New Roman" panose="02020603050405020304" pitchFamily="18" charset="0"/>
                          </a:rPr>
                          <m:t>∗</m:t>
                        </m:r>
                      </m:sup>
                    </m:sSup>
                    <m:r>
                      <a:rPr lang="en-US" altLang="zh-CN" sz="1600" b="1" i="1" smtClean="0">
                        <a:latin typeface="Cambria Math" panose="02040503050406030204" pitchFamily="18" charset="0"/>
                        <a:cs typeface="Times New Roman" panose="02020603050405020304" pitchFamily="18" charset="0"/>
                      </a:rPr>
                      <m:t>=</m:t>
                    </m:r>
                    <m:sSup>
                      <m:sSupPr>
                        <m:ctrlPr>
                          <a:rPr lang="en-US" altLang="zh-CN" sz="1600" b="0" i="1">
                            <a:latin typeface="Cambria Math" panose="02040503050406030204" pitchFamily="18" charset="0"/>
                          </a:rPr>
                        </m:ctrlPr>
                      </m:sSupPr>
                      <m:e>
                        <m:r>
                          <a:rPr lang="en-US" altLang="zh-CN" sz="1600" b="0" i="1">
                            <a:latin typeface="Cambria Math" panose="02040503050406030204" pitchFamily="18" charset="0"/>
                          </a:rPr>
                          <m:t>(</m:t>
                        </m:r>
                        <m:r>
                          <a:rPr lang="en-US" altLang="zh-CN" sz="1600" b="0" i="1" smtClean="0">
                            <a:latin typeface="Cambria Math" panose="02040503050406030204" pitchFamily="18" charset="0"/>
                          </a:rPr>
                          <m:t>2,2.4,8.4,0,0</m:t>
                        </m:r>
                        <m:r>
                          <a:rPr lang="en-US" altLang="zh-CN" sz="1600" b="0" i="1">
                            <a:latin typeface="Cambria Math" panose="02040503050406030204" pitchFamily="18" charset="0"/>
                          </a:rPr>
                          <m:t>)</m:t>
                        </m:r>
                      </m:e>
                      <m:sup>
                        <m:r>
                          <a:rPr lang="en-US" altLang="zh-CN" sz="1600" b="0" i="1">
                            <a:latin typeface="Cambria Math" panose="02040503050406030204" pitchFamily="18" charset="0"/>
                          </a:rPr>
                          <m:t>′</m:t>
                        </m:r>
                      </m:sup>
                    </m:sSup>
                  </m:oMath>
                </a14:m>
                <a:r>
                  <a:rPr lang="en-US" altLang="zh-CN" sz="1600" dirty="0" smtClean="0">
                    <a:latin typeface="Times New Roman" panose="02020603050405020304" pitchFamily="18" charset="0"/>
                    <a:cs typeface="Times New Roman" panose="02020603050405020304" pitchFamily="18" charset="0"/>
                  </a:rPr>
                  <a:t>,</a:t>
                </a:r>
                <a:r>
                  <a:rPr lang="zh-CN" altLang="en-US" sz="1600" dirty="0" smtClean="0">
                    <a:latin typeface="Times New Roman" panose="02020603050405020304" pitchFamily="18" charset="0"/>
                    <a:cs typeface="Times New Roman" panose="02020603050405020304" pitchFamily="18" charset="0"/>
                  </a:rPr>
                  <a:t>对应的最优目标函数值为</a:t>
                </a:r>
                <a14:m>
                  <m:oMath xmlns:m="http://schemas.openxmlformats.org/officeDocument/2006/math">
                    <m:sSup>
                      <m:sSupPr>
                        <m:ctrlPr>
                          <a:rPr lang="en-US" altLang="zh-CN" sz="1600" i="1">
                            <a:latin typeface="Cambria Math" panose="02040503050406030204" pitchFamily="18" charset="0"/>
                            <a:cs typeface="Times New Roman" panose="02020603050405020304" pitchFamily="18" charset="0"/>
                          </a:rPr>
                        </m:ctrlPr>
                      </m:sSupPr>
                      <m:e>
                        <m:r>
                          <a:rPr lang="en-US" altLang="zh-CN" sz="1600" b="1" i="1" smtClean="0">
                            <a:latin typeface="Cambria Math" panose="02040503050406030204" pitchFamily="18" charset="0"/>
                            <a:cs typeface="Times New Roman" panose="02020603050405020304" pitchFamily="18" charset="0"/>
                          </a:rPr>
                          <m:t>𝒛</m:t>
                        </m:r>
                      </m:e>
                      <m:sup>
                        <m:r>
                          <a:rPr lang="zh-CN" altLang="en-US" sz="1600" i="1">
                            <a:latin typeface="Cambria Math" panose="02040503050406030204" pitchFamily="18" charset="0"/>
                            <a:cs typeface="Times New Roman" panose="02020603050405020304" pitchFamily="18" charset="0"/>
                          </a:rPr>
                          <m:t>∗</m:t>
                        </m:r>
                      </m:sup>
                    </m:sSup>
                    <m:r>
                      <a:rPr lang="en-US" altLang="zh-CN" sz="1600" i="1">
                        <a:latin typeface="Cambria Math" panose="02040503050406030204" pitchFamily="18" charset="0"/>
                        <a:cs typeface="Times New Roman" panose="02020603050405020304" pitchFamily="18" charset="0"/>
                      </a:rPr>
                      <m:t>=</m:t>
                    </m:r>
                  </m:oMath>
                </a14:m>
                <a:r>
                  <a:rPr lang="en-US" altLang="zh-CN" sz="1600" dirty="0" smtClean="0">
                    <a:latin typeface="Times New Roman" panose="02020603050405020304" pitchFamily="18" charset="0"/>
                    <a:cs typeface="Times New Roman" panose="02020603050405020304" pitchFamily="18" charset="0"/>
                  </a:rPr>
                  <a:t>42.8</a:t>
                </a:r>
              </a:p>
              <a:p>
                <a:pPr lvl="1"/>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xfrm>
                <a:off x="609600" y="1256144"/>
                <a:ext cx="7848600" cy="4729019"/>
              </a:xfrm>
              <a:blipFill>
                <a:blip r:embed="rId6"/>
                <a:stretch>
                  <a:fillRect l="-1009" t="-1418" b="-16495"/>
                </a:stretch>
              </a:blipFill>
            </p:spPr>
            <p:txBody>
              <a:bodyPr/>
              <a:lstStyle/>
              <a:p>
                <a:r>
                  <a:rPr lang="zh-CN" altLang="en-US">
                    <a:noFill/>
                  </a:rPr>
                  <a:t> </a:t>
                </a:r>
              </a:p>
            </p:txBody>
          </p:sp>
        </mc:Fallback>
      </mc:AlternateContent>
      <p:pic>
        <p:nvPicPr>
          <p:cNvPr id="4" name="图片 3"/>
          <p:cNvPicPr>
            <a:picLocks noChangeAspect="1"/>
          </p:cNvPicPr>
          <p:nvPr/>
        </p:nvPicPr>
        <p:blipFill rotWithShape="1">
          <a:blip r:embed="rId7"/>
          <a:srcRect l="23894" t="18051" r="22333"/>
          <a:stretch/>
        </p:blipFill>
        <p:spPr>
          <a:xfrm>
            <a:off x="1952518" y="1801092"/>
            <a:ext cx="2978257" cy="1366981"/>
          </a:xfrm>
          <a:prstGeom prst="rect">
            <a:avLst/>
          </a:prstGeom>
        </p:spPr>
      </p:pic>
      <p:pic>
        <p:nvPicPr>
          <p:cNvPr id="6" name="图片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2728" y="3947540"/>
            <a:ext cx="8160183" cy="221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22257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2.5.2 </a:t>
            </a:r>
            <a:r>
              <a:rPr lang="zh-CN" altLang="en-US" noProof="1"/>
              <a:t>单纯形表 </a:t>
            </a:r>
          </a:p>
        </p:txBody>
      </p:sp>
      <mc:AlternateContent xmlns:mc="http://schemas.openxmlformats.org/markup-compatibility/2006" xmlns:a14="http://schemas.microsoft.com/office/drawing/2010/main">
        <mc:Choice Requires="a14">
          <p:sp>
            <p:nvSpPr>
              <p:cNvPr id="3" name="内容占位符 2"/>
              <p:cNvSpPr>
                <a:spLocks noGrp="1"/>
              </p:cNvSpPr>
              <p:nvPr>
                <p:ph sz="half" idx="1"/>
              </p:nvPr>
            </p:nvSpPr>
            <p:spPr>
              <a:xfrm>
                <a:off x="609600" y="1256144"/>
                <a:ext cx="7848600" cy="4729019"/>
              </a:xfrm>
            </p:spPr>
            <p:txBody>
              <a:bodyPr/>
              <a:lstStyle/>
              <a:p>
                <a:r>
                  <a:rPr lang="zh-CN" altLang="en-US" sz="2000" dirty="0" smtClean="0"/>
                  <a:t>对于资源配置问题，将其转化为标准形式，通过引入松弛变量（记为</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𝒙</m:t>
                        </m:r>
                      </m:e>
                      <m:sub>
                        <m:r>
                          <a:rPr lang="en-US" altLang="zh-CN" sz="2000" b="1" i="1" smtClean="0">
                            <a:latin typeface="Cambria Math" panose="02040503050406030204" pitchFamily="18" charset="0"/>
                          </a:rPr>
                          <m:t>𝒔</m:t>
                        </m:r>
                      </m:sub>
                    </m:sSub>
                  </m:oMath>
                </a14:m>
                <a:r>
                  <a:rPr lang="zh-CN" altLang="en-US" sz="2000" dirty="0" smtClean="0"/>
                  <a:t>），然后直接将</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𝒙</m:t>
                        </m:r>
                      </m:e>
                      <m:sub>
                        <m:r>
                          <a:rPr lang="en-US" altLang="zh-CN" sz="2000" b="1" i="1" smtClean="0">
                            <a:latin typeface="Cambria Math" panose="02040503050406030204" pitchFamily="18" charset="0"/>
                          </a:rPr>
                          <m:t>𝒔</m:t>
                        </m:r>
                      </m:sub>
                    </m:sSub>
                  </m:oMath>
                </a14:m>
                <a:r>
                  <a:rPr lang="zh-CN" altLang="en-US" sz="2000" dirty="0" smtClean="0"/>
                  <a:t>作为初始基变量建立初始单纯形表。</a:t>
                </a:r>
                <a:endParaRPr lang="en-US" altLang="zh-CN" sz="2000" dirty="0"/>
              </a:p>
              <a:p>
                <a:endParaRPr lang="en-US" altLang="zh-CN" sz="2400" dirty="0" smtClean="0"/>
              </a:p>
              <a:p>
                <a:endParaRPr lang="en-US" altLang="zh-CN" sz="2400" dirty="0" smtClean="0"/>
              </a:p>
              <a:p>
                <a:endParaRPr lang="en-US" altLang="zh-CN" sz="2000" dirty="0" smtClean="0"/>
              </a:p>
              <a:p>
                <a:r>
                  <a:rPr lang="zh-CN" altLang="en-US" sz="2000" dirty="0" smtClean="0"/>
                  <a:t>最终</a:t>
                </a:r>
                <a:r>
                  <a:rPr lang="zh-CN" altLang="en-US" sz="2000" dirty="0"/>
                  <a:t>单纯形表</a:t>
                </a:r>
                <a:endParaRPr lang="en-US" altLang="zh-CN" sz="2000" dirty="0"/>
              </a:p>
              <a:p>
                <a:pPr lvl="1"/>
                <a:endParaRPr lang="en-US" altLang="zh-CN" sz="1600" dirty="0" smtClean="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half" idx="1"/>
              </p:nvPr>
            </p:nvSpPr>
            <p:spPr>
              <a:xfrm>
                <a:off x="609600" y="1256144"/>
                <a:ext cx="7848600" cy="4729019"/>
              </a:xfrm>
              <a:blipFill>
                <a:blip r:embed="rId6"/>
                <a:stretch>
                  <a:fillRect l="-621" t="-644"/>
                </a:stretch>
              </a:blipFill>
            </p:spPr>
            <p:txBody>
              <a:bodyPr/>
              <a:lstStyle/>
              <a:p>
                <a:r>
                  <a:rPr lang="zh-CN" altLang="en-US">
                    <a:noFill/>
                  </a:rPr>
                  <a:t> </a:t>
                </a:r>
              </a:p>
            </p:txBody>
          </p:sp>
        </mc:Fallback>
      </mc:AlternateContent>
      <p:pic>
        <p:nvPicPr>
          <p:cNvPr id="5" name="图片 4"/>
          <p:cNvPicPr>
            <a:picLocks noChangeAspect="1"/>
          </p:cNvPicPr>
          <p:nvPr/>
        </p:nvPicPr>
        <p:blipFill rotWithShape="1">
          <a:blip r:embed="rId7"/>
          <a:srcRect l="35404" t="9866" r="36522" b="58964"/>
          <a:stretch/>
        </p:blipFill>
        <p:spPr>
          <a:xfrm>
            <a:off x="1237673" y="2067138"/>
            <a:ext cx="1607128" cy="829972"/>
          </a:xfrm>
          <a:prstGeom prst="rect">
            <a:avLst/>
          </a:prstGeom>
        </p:spPr>
      </p:pic>
      <p:pic>
        <p:nvPicPr>
          <p:cNvPr id="8" name="图片 7"/>
          <p:cNvPicPr>
            <a:picLocks noChangeAspect="1"/>
          </p:cNvPicPr>
          <p:nvPr/>
        </p:nvPicPr>
        <p:blipFill rotWithShape="1">
          <a:blip r:embed="rId7"/>
          <a:srcRect l="31431" t="58093" r="37067" b="10454"/>
          <a:stretch/>
        </p:blipFill>
        <p:spPr>
          <a:xfrm>
            <a:off x="4322619" y="2057900"/>
            <a:ext cx="1806945" cy="839210"/>
          </a:xfrm>
          <a:prstGeom prst="rect">
            <a:avLst/>
          </a:prstGeom>
        </p:spPr>
      </p:pic>
      <p:sp>
        <p:nvSpPr>
          <p:cNvPr id="9" name="右箭头 8"/>
          <p:cNvSpPr/>
          <p:nvPr/>
        </p:nvSpPr>
        <p:spPr bwMode="auto">
          <a:xfrm>
            <a:off x="3011056" y="2364509"/>
            <a:ext cx="609600" cy="73891"/>
          </a:xfrm>
          <a:prstGeom prst="rightArrow">
            <a:avLst/>
          </a:prstGeom>
          <a:solidFill>
            <a:schemeClr val="tx1"/>
          </a:solid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pic>
        <p:nvPicPr>
          <p:cNvPr id="10" name="图片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3545" y="3537738"/>
            <a:ext cx="8372475"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26542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2.5.3 </a:t>
            </a:r>
            <a:r>
              <a:rPr lang="zh-CN" altLang="en-US" dirty="0"/>
              <a:t>几种特殊情形</a:t>
            </a:r>
            <a:endParaRPr lang="zh-CN" altLang="en-US" noProof="1"/>
          </a:p>
        </p:txBody>
      </p:sp>
      <p:sp>
        <p:nvSpPr>
          <p:cNvPr id="6" name="内容占位符 2"/>
          <p:cNvSpPr txBox="1">
            <a:spLocks/>
          </p:cNvSpPr>
          <p:nvPr/>
        </p:nvSpPr>
        <p:spPr bwMode="auto">
          <a:xfrm>
            <a:off x="458787" y="1270226"/>
            <a:ext cx="83153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1800">
                <a:solidFill>
                  <a:schemeClr val="tx1"/>
                </a:solidFill>
                <a:latin typeface="+mn-lt"/>
                <a:ea typeface="+mn-ea"/>
              </a:defRPr>
            </a:lvl6pPr>
            <a:lvl7pPr marL="2971800" indent="-228600" algn="l" rtl="0" fontAlgn="base">
              <a:spcBef>
                <a:spcPct val="20000"/>
              </a:spcBef>
              <a:spcAft>
                <a:spcPct val="0"/>
              </a:spcAft>
              <a:buChar char="»"/>
              <a:defRPr sz="1800">
                <a:solidFill>
                  <a:schemeClr val="tx1"/>
                </a:solidFill>
                <a:latin typeface="+mn-lt"/>
                <a:ea typeface="+mn-ea"/>
              </a:defRPr>
            </a:lvl7pPr>
            <a:lvl8pPr marL="3429000" indent="-228600" algn="l" rtl="0" fontAlgn="base">
              <a:spcBef>
                <a:spcPct val="20000"/>
              </a:spcBef>
              <a:spcAft>
                <a:spcPct val="0"/>
              </a:spcAft>
              <a:buChar char="»"/>
              <a:defRPr sz="1800">
                <a:solidFill>
                  <a:schemeClr val="tx1"/>
                </a:solidFill>
                <a:latin typeface="+mn-lt"/>
                <a:ea typeface="+mn-ea"/>
              </a:defRPr>
            </a:lvl8pPr>
            <a:lvl9pPr marL="3886200" indent="-228600" algn="l" rtl="0" fontAlgn="base">
              <a:spcBef>
                <a:spcPct val="20000"/>
              </a:spcBef>
              <a:spcAft>
                <a:spcPct val="0"/>
              </a:spcAft>
              <a:buChar char="»"/>
              <a:defRPr sz="1800">
                <a:solidFill>
                  <a:schemeClr val="tx1"/>
                </a:solidFill>
                <a:latin typeface="+mn-lt"/>
                <a:ea typeface="+mn-ea"/>
              </a:defRPr>
            </a:lvl9pPr>
          </a:lstStyle>
          <a:p>
            <a:r>
              <a:rPr lang="en-US" altLang="zh-CN" sz="2000" kern="0" dirty="0" smtClean="0"/>
              <a:t>(1) </a:t>
            </a:r>
            <a:r>
              <a:rPr lang="zh-CN" altLang="en-US" sz="2000" kern="0" dirty="0" smtClean="0"/>
              <a:t>无穷多最优解的情形</a:t>
            </a:r>
            <a:endParaRPr lang="zh-CN" altLang="en-US" sz="2000" kern="0" dirty="0"/>
          </a:p>
        </p:txBody>
      </p:sp>
      <p:pic>
        <p:nvPicPr>
          <p:cNvPr id="9"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718" y="1705408"/>
            <a:ext cx="7429645" cy="203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 name="矩形 4"/>
              <p:cNvSpPr/>
              <p:nvPr/>
            </p:nvSpPr>
            <p:spPr>
              <a:xfrm>
                <a:off x="651162" y="3456909"/>
                <a:ext cx="8382001" cy="1077218"/>
              </a:xfrm>
              <a:prstGeom prst="rect">
                <a:avLst/>
              </a:prstGeom>
            </p:spPr>
            <p:txBody>
              <a:bodyPr wrap="square">
                <a:spAutoFit/>
              </a:bodyPr>
              <a:lstStyle/>
              <a:p>
                <a:r>
                  <a:rPr lang="zh-CN" altLang="en-US" sz="1600" dirty="0"/>
                  <a:t>所有检验系数均为非正，所以</a:t>
                </a:r>
                <a:r>
                  <a:rPr lang="zh-CN" altLang="en-US" sz="1600" i="1" dirty="0"/>
                  <a:t>X</a:t>
                </a:r>
                <a:r>
                  <a:rPr lang="zh-CN" altLang="en-US" sz="1600" baseline="30000" dirty="0"/>
                  <a:t>(1)</a:t>
                </a:r>
                <a:r>
                  <a:rPr lang="zh-CN" altLang="en-US" sz="1600" dirty="0"/>
                  <a:t>=(4,2,0,0,4)'是该问题的最优解，对应的目标函数值为24</a:t>
                </a:r>
                <a:r>
                  <a:rPr lang="zh-CN" altLang="en-US" sz="1600" dirty="0" smtClean="0"/>
                  <a:t>。</a:t>
                </a:r>
                <a:endParaRPr lang="en-US" altLang="zh-CN" sz="1600" dirty="0" smtClean="0"/>
              </a:p>
              <a:p>
                <a:r>
                  <a:rPr lang="zh-CN" altLang="en-US" sz="1600" dirty="0"/>
                  <a:t>在上述结果中，非</a:t>
                </a:r>
                <a:r>
                  <a:rPr lang="zh-CN" altLang="en-US" sz="1600" dirty="0" smtClean="0"/>
                  <a:t>基变量</a:t>
                </a:r>
                <a:r>
                  <a:rPr lang="en-US" altLang="zh-CN" sz="1600" i="1" dirty="0" smtClean="0">
                    <a:cs typeface="Times New Roman" panose="02020603050405020304" pitchFamily="18" charset="0"/>
                  </a:rPr>
                  <a:t>x</a:t>
                </a:r>
                <a:r>
                  <a:rPr lang="en-US" altLang="zh-CN" sz="1600" i="1" baseline="-25000" dirty="0" smtClean="0">
                    <a:cs typeface="Times New Roman" panose="02020603050405020304" pitchFamily="18" charset="0"/>
                  </a:rPr>
                  <a:t>4</a:t>
                </a:r>
                <a:r>
                  <a:rPr lang="zh-CN" altLang="en-US" sz="1600" dirty="0" smtClean="0"/>
                  <a:t>的</a:t>
                </a:r>
                <a:r>
                  <a:rPr lang="zh-CN" altLang="en-US" sz="1600" dirty="0"/>
                  <a:t>检验系数为</a:t>
                </a:r>
                <a:r>
                  <a:rPr lang="en-US" altLang="zh-CN" sz="1600" dirty="0"/>
                  <a:t>0</a:t>
                </a:r>
                <a:r>
                  <a:rPr lang="zh-CN" altLang="en-US" sz="1600" dirty="0"/>
                  <a:t>。</a:t>
                </a:r>
                <a:r>
                  <a:rPr lang="zh-CN" altLang="en-US" sz="1600" dirty="0" smtClean="0"/>
                  <a:t>把</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4</a:t>
                </a:r>
                <a:r>
                  <a:rPr lang="zh-CN" altLang="en-US" sz="1600" dirty="0" smtClean="0"/>
                  <a:t>作为</a:t>
                </a:r>
                <a:r>
                  <a:rPr lang="zh-CN" altLang="en-US" sz="1600" dirty="0"/>
                  <a:t>入基变量，根据</a:t>
                </a:r>
                <a14:m>
                  <m:oMath xmlns:m="http://schemas.openxmlformats.org/officeDocument/2006/math">
                    <m:r>
                      <a:rPr lang="en-US" altLang="zh-CN" sz="1600" i="1">
                        <a:latin typeface="Cambria Math" panose="02040503050406030204" pitchFamily="18" charset="0"/>
                      </a:rPr>
                      <m:t>𝜃</m:t>
                    </m:r>
                  </m:oMath>
                </a14:m>
                <a:r>
                  <a:rPr lang="en-US" altLang="zh-CN" sz="1600" i="1" baseline="-25000" dirty="0">
                    <a:cs typeface="Times New Roman" panose="02020603050405020304" pitchFamily="18" charset="0"/>
                  </a:rPr>
                  <a:t>i</a:t>
                </a:r>
                <a:r>
                  <a:rPr lang="zh-CN" altLang="en-US" sz="1600" dirty="0"/>
                  <a:t>的最小值</a:t>
                </a:r>
                <a:r>
                  <a:rPr lang="zh-CN" altLang="en-US" sz="1600" dirty="0" smtClean="0"/>
                  <a:t>确定</a:t>
                </a:r>
                <a:r>
                  <a:rPr lang="en-US" altLang="zh-CN" sz="1600" i="1" dirty="0" smtClean="0">
                    <a:cs typeface="Times New Roman" panose="02020603050405020304" pitchFamily="18" charset="0"/>
                  </a:rPr>
                  <a:t>x</a:t>
                </a:r>
                <a:r>
                  <a:rPr lang="en-US" altLang="zh-CN" sz="1600" i="1" baseline="-25000" dirty="0" smtClean="0">
                    <a:cs typeface="Times New Roman" panose="02020603050405020304" pitchFamily="18" charset="0"/>
                  </a:rPr>
                  <a:t>5</a:t>
                </a:r>
                <a:r>
                  <a:rPr lang="zh-CN" altLang="en-US" sz="1600" dirty="0" smtClean="0"/>
                  <a:t>为</a:t>
                </a:r>
                <a:r>
                  <a:rPr lang="zh-CN" altLang="en-US" sz="1600" dirty="0"/>
                  <a:t>出基变量。换基迭代得得到一个新的基可行解</a:t>
                </a:r>
                <a:r>
                  <a:rPr lang="en-US" altLang="zh-CN" sz="1600" dirty="0"/>
                  <a:t>X(2)=(2,3,0,8,0)'</a:t>
                </a:r>
                <a:r>
                  <a:rPr lang="zh-CN" altLang="en-US" sz="1600" dirty="0"/>
                  <a:t>，它所对应的目标函数值也是</a:t>
                </a:r>
                <a:r>
                  <a:rPr lang="en-US" altLang="zh-CN" sz="1600" dirty="0"/>
                  <a:t>24</a:t>
                </a:r>
                <a:r>
                  <a:rPr lang="zh-CN" altLang="en-US" sz="1600" dirty="0"/>
                  <a:t>。两个顶点连线上的任一点都是该线性规划问题的最优解。</a:t>
                </a:r>
              </a:p>
            </p:txBody>
          </p:sp>
        </mc:Choice>
        <mc:Fallback xmlns="">
          <p:sp>
            <p:nvSpPr>
              <p:cNvPr id="5" name="矩形 4"/>
              <p:cNvSpPr>
                <a:spLocks noRot="1" noChangeAspect="1" noMove="1" noResize="1" noEditPoints="1" noAdjustHandles="1" noChangeArrowheads="1" noChangeShapeType="1" noTextEdit="1"/>
              </p:cNvSpPr>
              <p:nvPr/>
            </p:nvSpPr>
            <p:spPr>
              <a:xfrm>
                <a:off x="651162" y="3456909"/>
                <a:ext cx="8382001" cy="1077218"/>
              </a:xfrm>
              <a:prstGeom prst="rect">
                <a:avLst/>
              </a:prstGeom>
              <a:blipFill>
                <a:blip r:embed="rId3"/>
                <a:stretch>
                  <a:fillRect l="-436" t="-2260" b="-5650"/>
                </a:stretch>
              </a:blipFill>
            </p:spPr>
            <p:txBody>
              <a:bodyPr/>
              <a:lstStyle/>
              <a:p>
                <a:r>
                  <a:rPr lang="zh-CN" altLang="en-US">
                    <a:noFill/>
                  </a:rPr>
                  <a:t> </a:t>
                </a:r>
              </a:p>
            </p:txBody>
          </p:sp>
        </mc:Fallback>
      </mc:AlternateContent>
      <p:pic>
        <p:nvPicPr>
          <p:cNvPr id="11" name="图片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0718" y="4534127"/>
            <a:ext cx="7429645" cy="2036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725053" y="6285628"/>
            <a:ext cx="7569201" cy="584775"/>
          </a:xfrm>
          <a:prstGeom prst="rect">
            <a:avLst/>
          </a:prstGeom>
          <a:solidFill>
            <a:schemeClr val="bg1">
              <a:lumMod val="95000"/>
            </a:schemeClr>
          </a:solidFill>
        </p:spPr>
        <p:txBody>
          <a:bodyPr wrap="square">
            <a:spAutoFit/>
          </a:bodyPr>
          <a:lstStyle/>
          <a:p>
            <a:pPr algn="ctr" eaLnBrk="1" hangingPunct="1">
              <a:buFont typeface="Wingdings" panose="05000000000000000000" pitchFamily="2" charset="2"/>
              <a:buNone/>
            </a:pPr>
            <a:r>
              <a:rPr kumimoji="1" lang="zh-CN" altLang="en-US" sz="1600" b="1" dirty="0">
                <a:solidFill>
                  <a:srgbClr val="FF0000"/>
                </a:solidFill>
                <a:ea typeface="楷体" panose="02010609060101010101" pitchFamily="49" charset="-122"/>
              </a:rPr>
              <a:t>存在无穷多个最优解的判定条件是最终单纯形表中某个非基变量的检验系数为零。但是这只是一个必要条件而非充分条件。</a:t>
            </a:r>
          </a:p>
        </p:txBody>
      </p:sp>
    </p:spTree>
    <p:extLst>
      <p:ext uri="{BB962C8B-B14F-4D97-AF65-F5344CB8AC3E}">
        <p14:creationId xmlns:p14="http://schemas.microsoft.com/office/powerpoint/2010/main" val="23283983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2.5.3 </a:t>
            </a:r>
            <a:r>
              <a:rPr lang="zh-CN" altLang="en-US" dirty="0"/>
              <a:t>几种特殊情形</a:t>
            </a:r>
            <a:endParaRPr lang="zh-CN" altLang="en-US" noProof="1"/>
          </a:p>
        </p:txBody>
      </p:sp>
      <p:sp>
        <p:nvSpPr>
          <p:cNvPr id="6" name="内容占位符 2"/>
          <p:cNvSpPr txBox="1">
            <a:spLocks/>
          </p:cNvSpPr>
          <p:nvPr/>
        </p:nvSpPr>
        <p:spPr bwMode="auto">
          <a:xfrm>
            <a:off x="458787" y="1270226"/>
            <a:ext cx="83153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1800">
                <a:solidFill>
                  <a:schemeClr val="tx1"/>
                </a:solidFill>
                <a:latin typeface="+mn-lt"/>
                <a:ea typeface="+mn-ea"/>
              </a:defRPr>
            </a:lvl6pPr>
            <a:lvl7pPr marL="2971800" indent="-228600" algn="l" rtl="0" fontAlgn="base">
              <a:spcBef>
                <a:spcPct val="20000"/>
              </a:spcBef>
              <a:spcAft>
                <a:spcPct val="0"/>
              </a:spcAft>
              <a:buChar char="»"/>
              <a:defRPr sz="1800">
                <a:solidFill>
                  <a:schemeClr val="tx1"/>
                </a:solidFill>
                <a:latin typeface="+mn-lt"/>
                <a:ea typeface="+mn-ea"/>
              </a:defRPr>
            </a:lvl7pPr>
            <a:lvl8pPr marL="3429000" indent="-228600" algn="l" rtl="0" fontAlgn="base">
              <a:spcBef>
                <a:spcPct val="20000"/>
              </a:spcBef>
              <a:spcAft>
                <a:spcPct val="0"/>
              </a:spcAft>
              <a:buChar char="»"/>
              <a:defRPr sz="1800">
                <a:solidFill>
                  <a:schemeClr val="tx1"/>
                </a:solidFill>
                <a:latin typeface="+mn-lt"/>
                <a:ea typeface="+mn-ea"/>
              </a:defRPr>
            </a:lvl8pPr>
            <a:lvl9pPr marL="3886200" indent="-228600" algn="l" rtl="0" fontAlgn="base">
              <a:spcBef>
                <a:spcPct val="20000"/>
              </a:spcBef>
              <a:spcAft>
                <a:spcPct val="0"/>
              </a:spcAft>
              <a:buChar char="»"/>
              <a:defRPr sz="1800">
                <a:solidFill>
                  <a:schemeClr val="tx1"/>
                </a:solidFill>
                <a:latin typeface="+mn-lt"/>
                <a:ea typeface="+mn-ea"/>
              </a:defRPr>
            </a:lvl9pPr>
          </a:lstStyle>
          <a:p>
            <a:r>
              <a:rPr lang="en-US" altLang="zh-CN" sz="2000" kern="0" dirty="0" smtClean="0"/>
              <a:t>(2) </a:t>
            </a:r>
            <a:r>
              <a:rPr lang="zh-CN" altLang="en-US" sz="2000" kern="0" dirty="0" smtClean="0"/>
              <a:t>退化解的情形</a:t>
            </a:r>
            <a:endParaRPr lang="zh-CN" altLang="en-US" sz="2000" kern="0" dirty="0"/>
          </a:p>
        </p:txBody>
      </p:sp>
      <p:sp>
        <p:nvSpPr>
          <p:cNvPr id="5" name="矩形 4"/>
          <p:cNvSpPr/>
          <p:nvPr/>
        </p:nvSpPr>
        <p:spPr>
          <a:xfrm>
            <a:off x="725054" y="1748182"/>
            <a:ext cx="7495310" cy="338554"/>
          </a:xfrm>
          <a:prstGeom prst="rect">
            <a:avLst/>
          </a:prstGeom>
        </p:spPr>
        <p:txBody>
          <a:bodyPr wrap="square">
            <a:spAutoFit/>
          </a:bodyPr>
          <a:lstStyle/>
          <a:p>
            <a:r>
              <a:rPr lang="zh-CN" altLang="en-US" sz="1600" dirty="0"/>
              <a:t>如果某线性规划问题在求解过程中某一步的单纯形表如下</a:t>
            </a:r>
            <a:r>
              <a:rPr lang="en-US" altLang="zh-CN" sz="1600" dirty="0" smtClean="0"/>
              <a:t>:</a:t>
            </a:r>
          </a:p>
        </p:txBody>
      </p:sp>
      <p:pic>
        <p:nvPicPr>
          <p:cNvPr id="10"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718" y="2057342"/>
            <a:ext cx="7429645" cy="20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12" name="矩形 11"/>
              <p:cNvSpPr/>
              <p:nvPr/>
            </p:nvSpPr>
            <p:spPr>
              <a:xfrm>
                <a:off x="725052" y="3823144"/>
                <a:ext cx="8382001" cy="2308324"/>
              </a:xfrm>
              <a:prstGeom prst="rect">
                <a:avLst/>
              </a:prstGeom>
            </p:spPr>
            <p:txBody>
              <a:bodyPr wrap="square">
                <a:spAutoFit/>
              </a:bodyPr>
              <a:lstStyle/>
              <a:p>
                <a:r>
                  <a:rPr lang="zh-CN" altLang="en-US" sz="1600" dirty="0"/>
                  <a:t>非</a:t>
                </a:r>
                <a:r>
                  <a:rPr lang="zh-CN" altLang="en-US" sz="1600" dirty="0" smtClean="0"/>
                  <a:t>基变量</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4</a:t>
                </a:r>
                <a:r>
                  <a:rPr lang="zh-CN" altLang="en-US" sz="1600" dirty="0" smtClean="0"/>
                  <a:t>的</a:t>
                </a:r>
                <a:r>
                  <a:rPr lang="zh-CN" altLang="en-US" sz="1600" dirty="0"/>
                  <a:t>检验系数为正，因此入基。在计算</a:t>
                </a:r>
                <a14:m>
                  <m:oMath xmlns:m="http://schemas.openxmlformats.org/officeDocument/2006/math">
                    <m:r>
                      <a:rPr lang="en-US" altLang="zh-CN" sz="1600" i="1">
                        <a:latin typeface="Cambria Math" panose="02040503050406030204" pitchFamily="18" charset="0"/>
                      </a:rPr>
                      <m:t>𝜃</m:t>
                    </m:r>
                  </m:oMath>
                </a14:m>
                <a:r>
                  <a:rPr lang="en-US" altLang="zh-CN" sz="1600" i="1" baseline="-25000" dirty="0">
                    <a:cs typeface="Times New Roman" panose="02020603050405020304" pitchFamily="18" charset="0"/>
                  </a:rPr>
                  <a:t>i</a:t>
                </a:r>
                <a:r>
                  <a:rPr lang="zh-CN" altLang="en-US" sz="1600" dirty="0"/>
                  <a:t>时</a:t>
                </a:r>
                <a:r>
                  <a:rPr lang="zh-CN" altLang="en-US" sz="1600" dirty="0" smtClean="0"/>
                  <a:t>发现</a:t>
                </a:r>
                <a:r>
                  <a:rPr lang="en-US" altLang="zh-CN" sz="1600" i="1" dirty="0" smtClean="0">
                    <a:cs typeface="Times New Roman" panose="02020603050405020304" pitchFamily="18" charset="0"/>
                  </a:rPr>
                  <a:t>x</a:t>
                </a:r>
                <a:r>
                  <a:rPr lang="en-US" altLang="zh-CN" sz="1600" i="1" baseline="-25000" dirty="0" smtClean="0">
                    <a:cs typeface="Times New Roman" panose="02020603050405020304" pitchFamily="18" charset="0"/>
                  </a:rPr>
                  <a:t>1</a:t>
                </a:r>
                <a:r>
                  <a:rPr lang="zh-CN" altLang="en-US" sz="1600" dirty="0" smtClean="0"/>
                  <a:t>和</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5</a:t>
                </a:r>
                <a:r>
                  <a:rPr lang="zh-CN" altLang="en-US" sz="1600" dirty="0" smtClean="0"/>
                  <a:t>所</a:t>
                </a:r>
                <a:r>
                  <a:rPr lang="zh-CN" altLang="en-US" sz="1600" dirty="0"/>
                  <a:t>对应的</a:t>
                </a:r>
                <a14:m>
                  <m:oMath xmlns:m="http://schemas.openxmlformats.org/officeDocument/2006/math">
                    <m:r>
                      <a:rPr lang="en-US" altLang="zh-CN" sz="1600" i="1">
                        <a:latin typeface="Cambria Math" panose="02040503050406030204" pitchFamily="18" charset="0"/>
                      </a:rPr>
                      <m:t>𝜃</m:t>
                    </m:r>
                  </m:oMath>
                </a14:m>
                <a:r>
                  <a:rPr lang="en-US" altLang="zh-CN" sz="1600" i="1" baseline="-25000" dirty="0">
                    <a:cs typeface="Times New Roman" panose="02020603050405020304" pitchFamily="18" charset="0"/>
                  </a:rPr>
                  <a:t>i</a:t>
                </a:r>
                <a:r>
                  <a:rPr lang="zh-CN" altLang="en-US" sz="1600" dirty="0"/>
                  <a:t>值相等</a:t>
                </a:r>
                <a:r>
                  <a:rPr lang="en-US" altLang="zh-CN" sz="1600" dirty="0"/>
                  <a:t>;</a:t>
                </a:r>
                <a:r>
                  <a:rPr lang="zh-CN" altLang="en-US" sz="1600" dirty="0"/>
                  <a:t>因此可以</a:t>
                </a:r>
                <a:r>
                  <a:rPr lang="zh-CN" altLang="en-US" sz="1600" dirty="0" smtClean="0"/>
                  <a:t>考虑</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1</a:t>
                </a:r>
                <a:r>
                  <a:rPr lang="zh-CN" altLang="en-US" sz="1600" dirty="0" smtClean="0"/>
                  <a:t>或</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5</a:t>
                </a:r>
                <a:r>
                  <a:rPr lang="zh-CN" altLang="en-US" sz="1600" dirty="0" smtClean="0"/>
                  <a:t>出</a:t>
                </a:r>
                <a:r>
                  <a:rPr lang="zh-CN" altLang="en-US" sz="1600" dirty="0"/>
                  <a:t>基</a:t>
                </a:r>
                <a:r>
                  <a:rPr lang="zh-CN" altLang="en-US" sz="1600" dirty="0" smtClean="0"/>
                  <a:t>。</a:t>
                </a:r>
                <a:endParaRPr lang="en-US" altLang="zh-CN" sz="1600" dirty="0" smtClean="0"/>
              </a:p>
              <a:p>
                <a:r>
                  <a:rPr lang="zh-CN" altLang="en-US" sz="1600" dirty="0"/>
                  <a:t>如果</a:t>
                </a:r>
                <a:r>
                  <a:rPr lang="zh-CN" altLang="en-US" sz="1600" dirty="0" smtClean="0"/>
                  <a:t>选择</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1</a:t>
                </a:r>
                <a:r>
                  <a:rPr lang="zh-CN" altLang="en-US" sz="1600" dirty="0" smtClean="0"/>
                  <a:t>出</a:t>
                </a:r>
                <a:r>
                  <a:rPr lang="zh-CN" altLang="en-US" sz="1600" dirty="0"/>
                  <a:t>基，得到的最优基变量为</a:t>
                </a:r>
                <a:r>
                  <a:rPr lang="en-US" altLang="zh-CN" sz="1600" dirty="0" smtClean="0"/>
                  <a:t>(</a:t>
                </a:r>
                <a:r>
                  <a:rPr lang="en-US" altLang="zh-CN" sz="1600" i="1" dirty="0" smtClean="0">
                    <a:cs typeface="Times New Roman" panose="02020603050405020304" pitchFamily="18" charset="0"/>
                  </a:rPr>
                  <a:t>x</a:t>
                </a:r>
                <a:r>
                  <a:rPr lang="en-US" altLang="zh-CN" sz="1600" i="1" baseline="-25000" dirty="0" smtClean="0">
                    <a:cs typeface="Times New Roman" panose="02020603050405020304" pitchFamily="18" charset="0"/>
                  </a:rPr>
                  <a:t>4</a:t>
                </a:r>
                <a:r>
                  <a:rPr lang="en-US" altLang="zh-CN" sz="1600" dirty="0" smtClean="0"/>
                  <a:t>,</a:t>
                </a:r>
                <a:r>
                  <a:rPr lang="en-US" altLang="zh-CN" sz="1600" i="1" dirty="0" smtClean="0">
                    <a:cs typeface="Times New Roman" panose="02020603050405020304" pitchFamily="18" charset="0"/>
                  </a:rPr>
                  <a:t> x</a:t>
                </a:r>
                <a:r>
                  <a:rPr lang="en-US" altLang="zh-CN" sz="1600" i="1" baseline="-25000" dirty="0" smtClean="0">
                    <a:cs typeface="Times New Roman" panose="02020603050405020304" pitchFamily="18" charset="0"/>
                  </a:rPr>
                  <a:t>2</a:t>
                </a:r>
                <a:r>
                  <a:rPr lang="en-US" altLang="zh-CN" sz="1600" dirty="0" smtClean="0"/>
                  <a:t>,</a:t>
                </a:r>
                <a:r>
                  <a:rPr lang="en-US" altLang="zh-CN" sz="1600" i="1" dirty="0" smtClean="0">
                    <a:cs typeface="Times New Roman" panose="02020603050405020304" pitchFamily="18" charset="0"/>
                  </a:rPr>
                  <a:t> </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5</a:t>
                </a:r>
                <a:r>
                  <a:rPr lang="en-US" altLang="zh-CN" sz="1600" dirty="0" smtClean="0"/>
                  <a:t>)</a:t>
                </a:r>
                <a:r>
                  <a:rPr lang="zh-CN" altLang="en-US" sz="1600" dirty="0"/>
                  <a:t>，</a:t>
                </a:r>
                <a:r>
                  <a:rPr lang="zh-CN" altLang="en-US" sz="1600" dirty="0" smtClean="0"/>
                  <a:t>最优解</a:t>
                </a:r>
                <a:r>
                  <a:rPr lang="zh-CN" altLang="en-US" sz="1600" i="1" dirty="0"/>
                  <a:t>X</a:t>
                </a:r>
                <a:r>
                  <a:rPr lang="zh-CN" altLang="en-US" sz="1600" baseline="30000" dirty="0"/>
                  <a:t>(1</a:t>
                </a:r>
                <a:r>
                  <a:rPr lang="zh-CN" altLang="en-US" sz="1600" baseline="30000" dirty="0" smtClean="0"/>
                  <a:t>)</a:t>
                </a:r>
                <a:r>
                  <a:rPr lang="zh-CN" altLang="en-US" sz="1600" dirty="0" smtClean="0"/>
                  <a:t>=(</a:t>
                </a:r>
                <a:r>
                  <a:rPr lang="en-US" altLang="zh-CN" sz="1600" dirty="0" smtClean="0"/>
                  <a:t>0</a:t>
                </a:r>
                <a:r>
                  <a:rPr lang="zh-CN" altLang="en-US" sz="1600" dirty="0" smtClean="0"/>
                  <a:t>,</a:t>
                </a:r>
                <a:r>
                  <a:rPr lang="en-US" altLang="zh-CN" sz="1600" dirty="0" smtClean="0"/>
                  <a:t>1</a:t>
                </a:r>
                <a:r>
                  <a:rPr lang="zh-CN" altLang="en-US" sz="1600" dirty="0" smtClean="0"/>
                  <a:t>,</a:t>
                </a:r>
                <a:r>
                  <a:rPr lang="zh-CN" altLang="en-US" sz="1600" dirty="0"/>
                  <a:t>0</a:t>
                </a:r>
                <a:r>
                  <a:rPr lang="zh-CN" altLang="en-US" sz="1600" dirty="0" smtClean="0"/>
                  <a:t>,</a:t>
                </a:r>
                <a:r>
                  <a:rPr lang="en-US" altLang="zh-CN" sz="1600" dirty="0" smtClean="0"/>
                  <a:t>6</a:t>
                </a:r>
                <a:r>
                  <a:rPr lang="zh-CN" altLang="en-US" sz="1600" dirty="0" smtClean="0"/>
                  <a:t>,</a:t>
                </a:r>
                <a:r>
                  <a:rPr lang="en-US" altLang="zh-CN" sz="1600" dirty="0" smtClean="0"/>
                  <a:t>0</a:t>
                </a:r>
                <a:r>
                  <a:rPr lang="zh-CN" altLang="en-US" sz="1600" dirty="0" smtClean="0"/>
                  <a:t>)' ，</a:t>
                </a:r>
                <a:r>
                  <a:rPr lang="zh-CN" altLang="en-US" sz="1600" dirty="0"/>
                  <a:t>目标函数值</a:t>
                </a:r>
                <a:r>
                  <a:rPr lang="en-US" altLang="zh-CN" sz="1600" dirty="0" smtClean="0"/>
                  <a:t>z</a:t>
                </a:r>
                <a:r>
                  <a:rPr lang="en-US" altLang="zh-CN" sz="1600" baseline="30000" dirty="0" smtClean="0"/>
                  <a:t>(1</a:t>
                </a:r>
                <a:r>
                  <a:rPr lang="en-US" altLang="zh-CN" sz="1600" baseline="30000" dirty="0"/>
                  <a:t>)</a:t>
                </a:r>
                <a:r>
                  <a:rPr lang="en-US" altLang="zh-CN" sz="1600" dirty="0"/>
                  <a:t>= 27</a:t>
                </a:r>
                <a:r>
                  <a:rPr lang="en-US" altLang="zh-CN" sz="1600" dirty="0" smtClean="0"/>
                  <a:t>;</a:t>
                </a:r>
              </a:p>
              <a:p>
                <a:r>
                  <a:rPr lang="zh-CN" altLang="en-US" sz="1600" dirty="0" smtClean="0"/>
                  <a:t>如果选择</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5</a:t>
                </a:r>
                <a:r>
                  <a:rPr lang="zh-CN" altLang="en-US" sz="1600" dirty="0" smtClean="0"/>
                  <a:t>出</a:t>
                </a:r>
                <a:r>
                  <a:rPr lang="zh-CN" altLang="en-US" sz="1600" dirty="0"/>
                  <a:t>基，得到的最优基变量</a:t>
                </a:r>
                <a:r>
                  <a:rPr lang="zh-CN" altLang="en-US" sz="1600" dirty="0" smtClean="0"/>
                  <a:t>为</a:t>
                </a:r>
                <a:r>
                  <a:rPr lang="en-US" altLang="zh-CN" sz="1600" dirty="0"/>
                  <a:t>(</a:t>
                </a:r>
                <a:r>
                  <a:rPr lang="en-US" altLang="zh-CN" sz="1600" i="1" dirty="0" smtClean="0">
                    <a:cs typeface="Times New Roman" panose="02020603050405020304" pitchFamily="18" charset="0"/>
                  </a:rPr>
                  <a:t>x</a:t>
                </a:r>
                <a:r>
                  <a:rPr lang="en-US" altLang="zh-CN" sz="1600" i="1" baseline="-25000" dirty="0" smtClean="0">
                    <a:cs typeface="Times New Roman" panose="02020603050405020304" pitchFamily="18" charset="0"/>
                  </a:rPr>
                  <a:t>1</a:t>
                </a:r>
                <a:r>
                  <a:rPr lang="en-US" altLang="zh-CN" sz="1600" dirty="0" smtClean="0"/>
                  <a:t>,</a:t>
                </a:r>
                <a:r>
                  <a:rPr lang="en-US" altLang="zh-CN" sz="1600" i="1" dirty="0" smtClean="0">
                    <a:cs typeface="Times New Roman" panose="02020603050405020304" pitchFamily="18" charset="0"/>
                  </a:rPr>
                  <a:t> </a:t>
                </a:r>
                <a:r>
                  <a:rPr lang="en-US" altLang="zh-CN" sz="1600" i="1" dirty="0">
                    <a:cs typeface="Times New Roman" panose="02020603050405020304" pitchFamily="18" charset="0"/>
                  </a:rPr>
                  <a:t>x</a:t>
                </a:r>
                <a:r>
                  <a:rPr lang="en-US" altLang="zh-CN" sz="1600" i="1" baseline="-25000" dirty="0">
                    <a:cs typeface="Times New Roman" panose="02020603050405020304" pitchFamily="18" charset="0"/>
                  </a:rPr>
                  <a:t>2</a:t>
                </a:r>
                <a:r>
                  <a:rPr lang="en-US" altLang="zh-CN" sz="1600" dirty="0"/>
                  <a:t>,</a:t>
                </a:r>
                <a:r>
                  <a:rPr lang="en-US" altLang="zh-CN" sz="1600" i="1" dirty="0">
                    <a:cs typeface="Times New Roman" panose="02020603050405020304" pitchFamily="18" charset="0"/>
                  </a:rPr>
                  <a:t> </a:t>
                </a:r>
                <a:r>
                  <a:rPr lang="en-US" altLang="zh-CN" sz="1600" i="1" dirty="0" smtClean="0">
                    <a:cs typeface="Times New Roman" panose="02020603050405020304" pitchFamily="18" charset="0"/>
                  </a:rPr>
                  <a:t>x</a:t>
                </a:r>
                <a:r>
                  <a:rPr lang="en-US" altLang="zh-CN" sz="1600" i="1" baseline="-25000" dirty="0" smtClean="0">
                    <a:cs typeface="Times New Roman" panose="02020603050405020304" pitchFamily="18" charset="0"/>
                  </a:rPr>
                  <a:t>4</a:t>
                </a:r>
                <a:r>
                  <a:rPr lang="en-US" altLang="zh-CN" sz="1600" dirty="0" smtClean="0"/>
                  <a:t>) </a:t>
                </a:r>
                <a:r>
                  <a:rPr lang="zh-CN" altLang="en-US" sz="1600" dirty="0" smtClean="0"/>
                  <a:t>，最优解</a:t>
                </a:r>
                <a:r>
                  <a:rPr lang="zh-CN" altLang="en-US" sz="1600" i="1" dirty="0"/>
                  <a:t>X</a:t>
                </a:r>
                <a:r>
                  <a:rPr lang="zh-CN" altLang="en-US" sz="1600" baseline="30000" dirty="0" smtClean="0"/>
                  <a:t>(</a:t>
                </a:r>
                <a:r>
                  <a:rPr lang="en-US" altLang="zh-CN" sz="1600" baseline="30000" dirty="0" smtClean="0"/>
                  <a:t>2</a:t>
                </a:r>
                <a:r>
                  <a:rPr lang="zh-CN" altLang="en-US" sz="1600" baseline="30000" dirty="0" smtClean="0"/>
                  <a:t>)</a:t>
                </a:r>
                <a:r>
                  <a:rPr lang="zh-CN" altLang="en-US" sz="1600" dirty="0" smtClean="0"/>
                  <a:t>=(</a:t>
                </a:r>
                <a:r>
                  <a:rPr lang="en-US" altLang="zh-CN" sz="1600" dirty="0"/>
                  <a:t>0</a:t>
                </a:r>
                <a:r>
                  <a:rPr lang="zh-CN" altLang="en-US" sz="1600" dirty="0"/>
                  <a:t>,</a:t>
                </a:r>
                <a:r>
                  <a:rPr lang="en-US" altLang="zh-CN" sz="1600" dirty="0"/>
                  <a:t>1</a:t>
                </a:r>
                <a:r>
                  <a:rPr lang="zh-CN" altLang="en-US" sz="1600" dirty="0"/>
                  <a:t>,0,</a:t>
                </a:r>
                <a:r>
                  <a:rPr lang="en-US" altLang="zh-CN" sz="1600" dirty="0"/>
                  <a:t>6</a:t>
                </a:r>
                <a:r>
                  <a:rPr lang="zh-CN" altLang="en-US" sz="1600" dirty="0"/>
                  <a:t>,</a:t>
                </a:r>
                <a:r>
                  <a:rPr lang="en-US" altLang="zh-CN" sz="1600" dirty="0"/>
                  <a:t>0</a:t>
                </a:r>
                <a:r>
                  <a:rPr lang="zh-CN" altLang="en-US" sz="1600" dirty="0"/>
                  <a:t>)' </a:t>
                </a:r>
                <a:r>
                  <a:rPr lang="zh-CN" altLang="en-US" sz="1600" dirty="0" smtClean="0"/>
                  <a:t>，</a:t>
                </a:r>
                <a:r>
                  <a:rPr lang="zh-CN" altLang="en-US" sz="1600" dirty="0"/>
                  <a:t>目标函数</a:t>
                </a:r>
                <a:r>
                  <a:rPr lang="zh-CN" altLang="en-US" sz="1600" dirty="0" smtClean="0"/>
                  <a:t>值</a:t>
                </a:r>
                <a:r>
                  <a:rPr lang="en-US" altLang="zh-CN" sz="1600" dirty="0" smtClean="0"/>
                  <a:t>z</a:t>
                </a:r>
                <a:r>
                  <a:rPr lang="en-US" altLang="zh-CN" sz="1600" baseline="30000" dirty="0" smtClean="0"/>
                  <a:t>(2)</a:t>
                </a:r>
                <a:r>
                  <a:rPr lang="en-US" altLang="zh-CN" sz="1600" dirty="0" smtClean="0"/>
                  <a:t>= </a:t>
                </a:r>
                <a:r>
                  <a:rPr lang="en-US" altLang="zh-CN" sz="1600" dirty="0"/>
                  <a:t>27</a:t>
                </a:r>
                <a:r>
                  <a:rPr lang="zh-CN" altLang="en-US" sz="1600" dirty="0" smtClean="0"/>
                  <a:t>。</a:t>
                </a:r>
                <a:endParaRPr lang="en-US" altLang="zh-CN" sz="1600" dirty="0" smtClean="0"/>
              </a:p>
              <a:p>
                <a:r>
                  <a:rPr lang="zh-CN" altLang="en-US" sz="1600" dirty="0" smtClean="0"/>
                  <a:t>上面</a:t>
                </a:r>
                <a:r>
                  <a:rPr lang="zh-CN" altLang="en-US" sz="1600" dirty="0"/>
                  <a:t>两种换基迭代方式得到的基变量不同，但是最优解完全相同。也同样出现了两个不同的基对应同一个顶点的情形。我们称此时的最优解为一个“退化解”</a:t>
                </a:r>
                <a:endParaRPr lang="en-US" altLang="zh-CN" sz="1600" dirty="0"/>
              </a:p>
              <a:p>
                <a:endParaRPr lang="en-US" altLang="zh-CN" sz="1600" dirty="0" smtClean="0"/>
              </a:p>
            </p:txBody>
          </p:sp>
        </mc:Choice>
        <mc:Fallback xmlns="">
          <p:sp>
            <p:nvSpPr>
              <p:cNvPr id="12" name="矩形 11"/>
              <p:cNvSpPr>
                <a:spLocks noRot="1" noChangeAspect="1" noMove="1" noResize="1" noEditPoints="1" noAdjustHandles="1" noChangeArrowheads="1" noChangeShapeType="1" noTextEdit="1"/>
              </p:cNvSpPr>
              <p:nvPr/>
            </p:nvSpPr>
            <p:spPr>
              <a:xfrm>
                <a:off x="725052" y="3823144"/>
                <a:ext cx="8382001" cy="2308324"/>
              </a:xfrm>
              <a:prstGeom prst="rect">
                <a:avLst/>
              </a:prstGeom>
              <a:blipFill>
                <a:blip r:embed="rId4"/>
                <a:stretch>
                  <a:fillRect l="-436" t="-10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454942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2.5.3 </a:t>
            </a:r>
            <a:r>
              <a:rPr lang="zh-CN" altLang="en-US" dirty="0"/>
              <a:t>几种特殊情形</a:t>
            </a:r>
            <a:endParaRPr lang="zh-CN" altLang="en-US" noProof="1"/>
          </a:p>
        </p:txBody>
      </p:sp>
      <p:sp>
        <p:nvSpPr>
          <p:cNvPr id="6" name="内容占位符 2"/>
          <p:cNvSpPr txBox="1">
            <a:spLocks/>
          </p:cNvSpPr>
          <p:nvPr/>
        </p:nvSpPr>
        <p:spPr bwMode="auto">
          <a:xfrm>
            <a:off x="458787" y="1270226"/>
            <a:ext cx="83153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1800">
                <a:solidFill>
                  <a:schemeClr val="tx1"/>
                </a:solidFill>
                <a:latin typeface="+mn-lt"/>
                <a:ea typeface="+mn-ea"/>
              </a:defRPr>
            </a:lvl6pPr>
            <a:lvl7pPr marL="2971800" indent="-228600" algn="l" rtl="0" fontAlgn="base">
              <a:spcBef>
                <a:spcPct val="20000"/>
              </a:spcBef>
              <a:spcAft>
                <a:spcPct val="0"/>
              </a:spcAft>
              <a:buChar char="»"/>
              <a:defRPr sz="1800">
                <a:solidFill>
                  <a:schemeClr val="tx1"/>
                </a:solidFill>
                <a:latin typeface="+mn-lt"/>
                <a:ea typeface="+mn-ea"/>
              </a:defRPr>
            </a:lvl7pPr>
            <a:lvl8pPr marL="3429000" indent="-228600" algn="l" rtl="0" fontAlgn="base">
              <a:spcBef>
                <a:spcPct val="20000"/>
              </a:spcBef>
              <a:spcAft>
                <a:spcPct val="0"/>
              </a:spcAft>
              <a:buChar char="»"/>
              <a:defRPr sz="1800">
                <a:solidFill>
                  <a:schemeClr val="tx1"/>
                </a:solidFill>
                <a:latin typeface="+mn-lt"/>
                <a:ea typeface="+mn-ea"/>
              </a:defRPr>
            </a:lvl8pPr>
            <a:lvl9pPr marL="3886200" indent="-228600" algn="l" rtl="0" fontAlgn="base">
              <a:spcBef>
                <a:spcPct val="20000"/>
              </a:spcBef>
              <a:spcAft>
                <a:spcPct val="0"/>
              </a:spcAft>
              <a:buChar char="»"/>
              <a:defRPr sz="1800">
                <a:solidFill>
                  <a:schemeClr val="tx1"/>
                </a:solidFill>
                <a:latin typeface="+mn-lt"/>
                <a:ea typeface="+mn-ea"/>
              </a:defRPr>
            </a:lvl9pPr>
          </a:lstStyle>
          <a:p>
            <a:r>
              <a:rPr lang="en-US" altLang="zh-CN" sz="2000" kern="0" dirty="0" smtClean="0"/>
              <a:t>(2) </a:t>
            </a:r>
            <a:r>
              <a:rPr lang="zh-CN" altLang="en-US" sz="2000" kern="0" dirty="0" smtClean="0"/>
              <a:t>退化解的情形</a:t>
            </a:r>
            <a:endParaRPr lang="zh-CN" altLang="en-US" sz="2000" kern="0" dirty="0"/>
          </a:p>
        </p:txBody>
      </p:sp>
      <p:sp>
        <p:nvSpPr>
          <p:cNvPr id="5" name="矩形 4"/>
          <p:cNvSpPr/>
          <p:nvPr/>
        </p:nvSpPr>
        <p:spPr>
          <a:xfrm>
            <a:off x="725054" y="1748182"/>
            <a:ext cx="7495310" cy="338554"/>
          </a:xfrm>
          <a:prstGeom prst="rect">
            <a:avLst/>
          </a:prstGeom>
        </p:spPr>
        <p:txBody>
          <a:bodyPr wrap="square">
            <a:spAutoFit/>
          </a:bodyPr>
          <a:lstStyle/>
          <a:p>
            <a:r>
              <a:rPr lang="zh-CN" altLang="en-US" sz="1600" dirty="0"/>
              <a:t>如果某线性规划问题在求解过程中某一步的单纯形表如下</a:t>
            </a:r>
            <a:r>
              <a:rPr lang="en-US" altLang="zh-CN" sz="1600" dirty="0" smtClean="0"/>
              <a:t>:</a:t>
            </a:r>
          </a:p>
        </p:txBody>
      </p:sp>
      <p:pic>
        <p:nvPicPr>
          <p:cNvPr id="10"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90718" y="2057342"/>
            <a:ext cx="7429645" cy="203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725052" y="3823144"/>
            <a:ext cx="8382001" cy="338554"/>
          </a:xfrm>
          <a:prstGeom prst="rect">
            <a:avLst/>
          </a:prstGeom>
        </p:spPr>
        <p:txBody>
          <a:bodyPr wrap="square">
            <a:spAutoFit/>
          </a:bodyPr>
          <a:lstStyle/>
          <a:p>
            <a:r>
              <a:rPr lang="zh-CN" altLang="en-US" sz="1600" kern="100" dirty="0">
                <a:cs typeface="Times New Roman" panose="02020603050405020304" pitchFamily="18" charset="0"/>
              </a:rPr>
              <a:t>退化解的直观解释</a:t>
            </a:r>
            <a:r>
              <a:rPr lang="zh-CN" altLang="en-US" sz="1600" kern="100" dirty="0" smtClean="0">
                <a:cs typeface="Times New Roman" panose="02020603050405020304" pitchFamily="18" charset="0"/>
              </a:rPr>
              <a:t>：</a:t>
            </a:r>
            <a:endParaRPr lang="en-US" altLang="zh-CN" sz="1600" dirty="0" smtClean="0"/>
          </a:p>
        </p:txBody>
      </p:sp>
      <p:pic>
        <p:nvPicPr>
          <p:cNvPr id="7" name="图片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0121" y="3735642"/>
            <a:ext cx="5695518" cy="320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150936" y="4988130"/>
            <a:ext cx="2525137" cy="1569660"/>
          </a:xfrm>
          <a:prstGeom prst="rect">
            <a:avLst/>
          </a:prstGeom>
        </p:spPr>
        <p:txBody>
          <a:bodyPr wrap="square">
            <a:spAutoFit/>
          </a:bodyPr>
          <a:lstStyle/>
          <a:p>
            <a:pPr>
              <a:defRPr/>
            </a:pPr>
            <a:r>
              <a:rPr lang="zh-CN" altLang="zh-CN" sz="1600" kern="100" dirty="0">
                <a:cs typeface="Times New Roman" panose="02020603050405020304" pitchFamily="18" charset="0"/>
              </a:rPr>
              <a:t>在图中，最优解为顶点</a:t>
            </a:r>
            <a:r>
              <a:rPr lang="en-US" altLang="zh-CN" sz="1600" kern="100" dirty="0"/>
              <a:t>A</a:t>
            </a:r>
            <a:r>
              <a:rPr lang="zh-CN" altLang="zh-CN" sz="1600" kern="100" dirty="0">
                <a:cs typeface="Times New Roman" panose="02020603050405020304" pitchFamily="18" charset="0"/>
              </a:rPr>
              <a:t>，它刚好是三条约束直线对应的交点（一般情形下，三条直线有三个交点，这三个交点现在“退化”为同一个交点了）。</a:t>
            </a:r>
            <a:endParaRPr lang="zh-CN" altLang="en-US" sz="1600" dirty="0"/>
          </a:p>
        </p:txBody>
      </p:sp>
    </p:spTree>
    <p:extLst>
      <p:ext uri="{BB962C8B-B14F-4D97-AF65-F5344CB8AC3E}">
        <p14:creationId xmlns:p14="http://schemas.microsoft.com/office/powerpoint/2010/main" val="11978989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dirty="0"/>
              <a:t>2.5.3 </a:t>
            </a:r>
            <a:r>
              <a:rPr lang="zh-CN" altLang="en-US" dirty="0"/>
              <a:t>几种特殊情形</a:t>
            </a:r>
            <a:endParaRPr lang="zh-CN" altLang="en-US" noProof="1"/>
          </a:p>
        </p:txBody>
      </p:sp>
      <mc:AlternateContent xmlns:mc="http://schemas.openxmlformats.org/markup-compatibility/2006" xmlns:a14="http://schemas.microsoft.com/office/drawing/2010/main">
        <mc:Choice Requires="a14">
          <p:sp>
            <p:nvSpPr>
              <p:cNvPr id="6" name="内容占位符 2"/>
              <p:cNvSpPr txBox="1">
                <a:spLocks/>
              </p:cNvSpPr>
              <p:nvPr/>
            </p:nvSpPr>
            <p:spPr bwMode="auto">
              <a:xfrm>
                <a:off x="458787" y="1270225"/>
                <a:ext cx="8315325" cy="32648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1800">
                    <a:solidFill>
                      <a:schemeClr val="tx1"/>
                    </a:solidFill>
                    <a:latin typeface="+mn-lt"/>
                    <a:ea typeface="+mn-ea"/>
                  </a:defRPr>
                </a:lvl4pPr>
                <a:lvl5pPr marL="2057400" indent="-228600" algn="l" rtl="0" eaLnBrk="0" fontAlgn="base" hangingPunct="0">
                  <a:spcBef>
                    <a:spcPct val="20000"/>
                  </a:spcBef>
                  <a:spcAft>
                    <a:spcPct val="0"/>
                  </a:spcAft>
                  <a:buChar char="»"/>
                  <a:defRPr sz="1800">
                    <a:solidFill>
                      <a:schemeClr val="tx1"/>
                    </a:solidFill>
                    <a:latin typeface="+mn-lt"/>
                    <a:ea typeface="+mn-ea"/>
                  </a:defRPr>
                </a:lvl5pPr>
                <a:lvl6pPr marL="2514600" indent="-228600" algn="l" rtl="0" fontAlgn="base">
                  <a:spcBef>
                    <a:spcPct val="20000"/>
                  </a:spcBef>
                  <a:spcAft>
                    <a:spcPct val="0"/>
                  </a:spcAft>
                  <a:buChar char="»"/>
                  <a:defRPr sz="1800">
                    <a:solidFill>
                      <a:schemeClr val="tx1"/>
                    </a:solidFill>
                    <a:latin typeface="+mn-lt"/>
                    <a:ea typeface="+mn-ea"/>
                  </a:defRPr>
                </a:lvl6pPr>
                <a:lvl7pPr marL="2971800" indent="-228600" algn="l" rtl="0" fontAlgn="base">
                  <a:spcBef>
                    <a:spcPct val="20000"/>
                  </a:spcBef>
                  <a:spcAft>
                    <a:spcPct val="0"/>
                  </a:spcAft>
                  <a:buChar char="»"/>
                  <a:defRPr sz="1800">
                    <a:solidFill>
                      <a:schemeClr val="tx1"/>
                    </a:solidFill>
                    <a:latin typeface="+mn-lt"/>
                    <a:ea typeface="+mn-ea"/>
                  </a:defRPr>
                </a:lvl7pPr>
                <a:lvl8pPr marL="3429000" indent="-228600" algn="l" rtl="0" fontAlgn="base">
                  <a:spcBef>
                    <a:spcPct val="20000"/>
                  </a:spcBef>
                  <a:spcAft>
                    <a:spcPct val="0"/>
                  </a:spcAft>
                  <a:buChar char="»"/>
                  <a:defRPr sz="1800">
                    <a:solidFill>
                      <a:schemeClr val="tx1"/>
                    </a:solidFill>
                    <a:latin typeface="+mn-lt"/>
                    <a:ea typeface="+mn-ea"/>
                  </a:defRPr>
                </a:lvl8pPr>
                <a:lvl9pPr marL="3886200" indent="-228600" algn="l" rtl="0" fontAlgn="base">
                  <a:spcBef>
                    <a:spcPct val="20000"/>
                  </a:spcBef>
                  <a:spcAft>
                    <a:spcPct val="0"/>
                  </a:spcAft>
                  <a:buChar char="»"/>
                  <a:defRPr sz="1800">
                    <a:solidFill>
                      <a:schemeClr val="tx1"/>
                    </a:solidFill>
                    <a:latin typeface="+mn-lt"/>
                    <a:ea typeface="+mn-ea"/>
                  </a:defRPr>
                </a:lvl9pPr>
              </a:lstStyle>
              <a:p>
                <a:r>
                  <a:rPr lang="en-US" altLang="zh-CN" sz="2000" kern="0" dirty="0" smtClean="0"/>
                  <a:t>(3) </a:t>
                </a:r>
                <a:r>
                  <a:rPr lang="zh-CN" altLang="en-US" sz="2000" dirty="0" smtClean="0"/>
                  <a:t>求极小</a:t>
                </a:r>
                <a:r>
                  <a:rPr lang="zh-CN" altLang="en-US" sz="2000" dirty="0"/>
                  <a:t>的线性规划</a:t>
                </a:r>
                <a:r>
                  <a:rPr lang="zh-CN" altLang="en-US" sz="2000" dirty="0" smtClean="0"/>
                  <a:t>问题</a:t>
                </a:r>
                <a:endParaRPr lang="en-US" altLang="zh-CN" sz="2000" dirty="0" smtClean="0"/>
              </a:p>
              <a:p>
                <a:pPr lvl="1"/>
                <a:r>
                  <a:rPr lang="zh-CN" altLang="en-US" sz="1600" dirty="0"/>
                  <a:t>相对于求极大值的单纯形法而言，唯一需要调整的就是基可行解的最优性检验准则。即当且仅当所有非基变量的检验系数为正时，最优解已经找到</a:t>
                </a:r>
                <a:r>
                  <a:rPr lang="zh-CN" altLang="en-US" sz="1600" dirty="0" smtClean="0"/>
                  <a:t>。</a:t>
                </a:r>
                <a:endParaRPr lang="en-US" altLang="zh-CN" sz="1600" dirty="0" smtClean="0"/>
              </a:p>
              <a:p>
                <a:pPr lvl="1"/>
                <a:r>
                  <a:rPr lang="zh-CN" altLang="en-US" sz="1600" dirty="0" smtClean="0"/>
                  <a:t>如果</a:t>
                </a:r>
                <a:r>
                  <a:rPr lang="zh-CN" altLang="en-US" sz="1600" dirty="0"/>
                  <a:t>某个非基变量的检验系数为负，那么取检验系数为负、而且绝对值最大的非基变量作为入基变量。通过完全相同的方法根据</a:t>
                </a:r>
                <a14:m>
                  <m:oMath xmlns:m="http://schemas.openxmlformats.org/officeDocument/2006/math">
                    <m:r>
                      <a:rPr lang="en-US" altLang="zh-CN" sz="1600" i="1">
                        <a:latin typeface="Cambria Math" panose="02040503050406030204" pitchFamily="18" charset="0"/>
                      </a:rPr>
                      <m:t>𝜃</m:t>
                    </m:r>
                  </m:oMath>
                </a14:m>
                <a:r>
                  <a:rPr lang="en-US" altLang="zh-CN" sz="1600" i="1" baseline="-25000" dirty="0">
                    <a:cs typeface="Times New Roman" panose="02020603050405020304" pitchFamily="18" charset="0"/>
                  </a:rPr>
                  <a:t>i</a:t>
                </a:r>
                <a:r>
                  <a:rPr lang="zh-CN" altLang="en-US" sz="1600" dirty="0"/>
                  <a:t>值确定出基变量，然后换基迭代即可。基于类似的换基迭代原理，可知每次换基迭代目标函数的增量依然等于检验系数乘以</a:t>
                </a:r>
                <a14:m>
                  <m:oMath xmlns:m="http://schemas.openxmlformats.org/officeDocument/2006/math">
                    <m:r>
                      <a:rPr lang="en-US" altLang="zh-CN" sz="1600" i="1">
                        <a:latin typeface="Cambria Math" panose="02040503050406030204" pitchFamily="18" charset="0"/>
                      </a:rPr>
                      <m:t>𝜃</m:t>
                    </m:r>
                  </m:oMath>
                </a14:m>
                <a:r>
                  <a:rPr lang="zh-CN" altLang="en-US" sz="1600" dirty="0"/>
                  <a:t>值。</a:t>
                </a:r>
                <a:endParaRPr lang="en-US" altLang="zh-CN" sz="1600" dirty="0"/>
              </a:p>
              <a:p>
                <a:pPr lvl="1"/>
                <a:endParaRPr lang="zh-CN" altLang="en-US" sz="1600" kern="0" dirty="0"/>
              </a:p>
            </p:txBody>
          </p:sp>
        </mc:Choice>
        <mc:Fallback xmlns="">
          <p:sp>
            <p:nvSpPr>
              <p:cNvPr id="6" name="内容占位符 2"/>
              <p:cNvSpPr txBox="1">
                <a:spLocks noRot="1" noChangeAspect="1" noMove="1" noResize="1" noEditPoints="1" noAdjustHandles="1" noChangeArrowheads="1" noChangeShapeType="1" noTextEdit="1"/>
              </p:cNvSpPr>
              <p:nvPr/>
            </p:nvSpPr>
            <p:spPr bwMode="auto">
              <a:xfrm>
                <a:off x="458787" y="1270225"/>
                <a:ext cx="8315325" cy="3264829"/>
              </a:xfrm>
              <a:prstGeom prst="rect">
                <a:avLst/>
              </a:prstGeom>
              <a:blipFill>
                <a:blip r:embed="rId5"/>
                <a:stretch>
                  <a:fillRect l="-587" t="-1306" r="-29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4078116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lnSpc>
                <a:spcPct val="150000"/>
              </a:lnSpc>
            </a:pPr>
            <a:r>
              <a:rPr lang="zh-CN" altLang="en-US" dirty="0"/>
              <a:t>2.</a:t>
            </a:r>
            <a:r>
              <a:rPr lang="en-US" altLang="zh-CN" dirty="0" smtClean="0"/>
              <a:t>6 </a:t>
            </a:r>
            <a:r>
              <a:rPr lang="zh-CN" altLang="en-US" dirty="0" smtClean="0"/>
              <a:t>求解</a:t>
            </a:r>
            <a:r>
              <a:rPr lang="zh-CN" altLang="zh-CN" dirty="0"/>
              <a:t>线性规划</a:t>
            </a:r>
            <a:r>
              <a:rPr lang="zh-CN" altLang="en-US" dirty="0"/>
              <a:t>的人工变量法</a:t>
            </a:r>
            <a:endParaRPr lang="en-US" altLang="zh-CN" dirty="0"/>
          </a:p>
        </p:txBody>
      </p:sp>
      <p:sp>
        <p:nvSpPr>
          <p:cNvPr id="23554" name="内容占位符 2"/>
          <p:cNvSpPr>
            <a:spLocks noGrp="1" noChangeArrowheads="1"/>
          </p:cNvSpPr>
          <p:nvPr>
            <p:ph idx="1"/>
          </p:nvPr>
        </p:nvSpPr>
        <p:spPr>
          <a:xfrm>
            <a:off x="2352675" y="1470025"/>
            <a:ext cx="5535613" cy="2501900"/>
          </a:xfrm>
        </p:spPr>
        <p:txBody>
          <a:bodyPr/>
          <a:lstStyle/>
          <a:p>
            <a:pPr marL="0" eaLnBrk="1" hangingPunct="1">
              <a:lnSpc>
                <a:spcPct val="200000"/>
              </a:lnSpc>
              <a:buFontTx/>
              <a:buNone/>
            </a:pPr>
            <a:r>
              <a:rPr lang="en-US" altLang="zh-CN" b="0" dirty="0" smtClean="0"/>
              <a:t>2.6.1 </a:t>
            </a:r>
            <a:r>
              <a:rPr lang="en-US" altLang="zh-CN" b="0" dirty="0" err="1" smtClean="0"/>
              <a:t>大</a:t>
            </a:r>
            <a:r>
              <a:rPr lang="en-US" altLang="zh-CN" b="0" i="1" dirty="0" err="1" smtClean="0"/>
              <a:t>M</a:t>
            </a:r>
            <a:r>
              <a:rPr lang="en-US" altLang="zh-CN" b="0" dirty="0" err="1" smtClean="0"/>
              <a:t>法</a:t>
            </a:r>
            <a:endParaRPr lang="en-US" altLang="zh-CN" b="0" dirty="0" smtClean="0"/>
          </a:p>
          <a:p>
            <a:pPr marL="0" eaLnBrk="1" hangingPunct="1">
              <a:lnSpc>
                <a:spcPct val="200000"/>
              </a:lnSpc>
              <a:buFontTx/>
              <a:buNone/>
            </a:pPr>
            <a:r>
              <a:rPr lang="en-US" altLang="zh-CN" b="0" dirty="0" smtClean="0"/>
              <a:t>2.6.2 </a:t>
            </a:r>
            <a:r>
              <a:rPr lang="en-US" altLang="zh-CN" b="0" dirty="0" err="1" smtClean="0"/>
              <a:t>两阶段法</a:t>
            </a:r>
            <a:endParaRPr lang="en-US" altLang="zh-CN" b="0" dirty="0" smtClean="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23554">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2.6.1 </a:t>
            </a:r>
            <a:r>
              <a:rPr lang="zh-CN" altLang="en-US" noProof="1"/>
              <a:t>大</a:t>
            </a:r>
            <a:r>
              <a:rPr lang="en-US" altLang="zh-CN" noProof="1"/>
              <a:t>M</a:t>
            </a:r>
            <a:r>
              <a:rPr lang="zh-CN" altLang="en-US" noProof="1"/>
              <a:t>法</a:t>
            </a:r>
          </a:p>
        </p:txBody>
      </p:sp>
      <p:sp>
        <p:nvSpPr>
          <p:cNvPr id="3" name="内容占位符 2"/>
          <p:cNvSpPr>
            <a:spLocks noGrp="1"/>
          </p:cNvSpPr>
          <p:nvPr>
            <p:ph sz="half" idx="1"/>
          </p:nvPr>
        </p:nvSpPr>
        <p:spPr>
          <a:xfrm>
            <a:off x="609600" y="1256145"/>
            <a:ext cx="8423564" cy="4114800"/>
          </a:xfrm>
        </p:spPr>
        <p:txBody>
          <a:bodyPr/>
          <a:lstStyle/>
          <a:p>
            <a:r>
              <a:rPr lang="zh-CN" altLang="en-US" sz="2400" dirty="0" smtClean="0">
                <a:latin typeface="宋体" panose="02010600030101010101" pitchFamily="2" charset="-122"/>
              </a:rPr>
              <a:t>例：求解如下线性规划问题</a:t>
            </a:r>
            <a:endParaRPr lang="en-US" altLang="zh-CN" sz="2400" dirty="0">
              <a:latin typeface="宋体" panose="02010600030101010101" pitchFamily="2" charset="-122"/>
            </a:endParaRPr>
          </a:p>
          <a:p>
            <a:endParaRPr lang="en-US" altLang="zh-CN" dirty="0" smtClean="0">
              <a:latin typeface="宋体" panose="02010600030101010101" pitchFamily="2" charset="-122"/>
            </a:endParaRPr>
          </a:p>
          <a:p>
            <a:endParaRPr lang="en-US" altLang="zh-CN" dirty="0">
              <a:latin typeface="宋体" panose="02010600030101010101" pitchFamily="2" charset="-122"/>
            </a:endParaRPr>
          </a:p>
          <a:p>
            <a:pPr lvl="1"/>
            <a:r>
              <a:rPr lang="zh-CN" altLang="en-US" sz="1600" dirty="0" smtClean="0">
                <a:latin typeface="Times New Roman" panose="02020603050405020304" pitchFamily="18" charset="0"/>
                <a:cs typeface="Times New Roman" panose="02020603050405020304" pitchFamily="18" charset="0"/>
              </a:rPr>
              <a:t>解</a:t>
            </a:r>
            <a:r>
              <a:rPr lang="en-US" altLang="zh-CN" sz="1600" dirty="0" smtClean="0">
                <a:latin typeface="Times New Roman" panose="02020603050405020304" pitchFamily="18" charset="0"/>
                <a:cs typeface="Times New Roman" panose="02020603050405020304" pitchFamily="18" charset="0"/>
              </a:rPr>
              <a:t>:</a:t>
            </a:r>
            <a:r>
              <a:rPr lang="zh-CN" altLang="en-US" sz="1600" dirty="0" smtClean="0">
                <a:latin typeface="Times New Roman" panose="02020603050405020304" pitchFamily="18" charset="0"/>
                <a:cs typeface="Times New Roman" panose="02020603050405020304" pitchFamily="18" charset="0"/>
              </a:rPr>
              <a:t>在</a:t>
            </a:r>
            <a:r>
              <a:rPr lang="zh-CN" altLang="en-US" sz="1600" dirty="0">
                <a:latin typeface="Times New Roman" panose="02020603050405020304" pitchFamily="18" charset="0"/>
                <a:cs typeface="Times New Roman" panose="02020603050405020304" pitchFamily="18" charset="0"/>
              </a:rPr>
              <a:t>上述问题的约束条件中加入松弛变量</a:t>
            </a:r>
            <a:r>
              <a:rPr lang="en-US" altLang="zh-CN" sz="1600" i="1" dirty="0">
                <a:latin typeface="Times New Roman" panose="02020603050405020304" pitchFamily="18" charset="0"/>
                <a:cs typeface="Times New Roman" panose="02020603050405020304" pitchFamily="18" charset="0"/>
              </a:rPr>
              <a:t>x</a:t>
            </a:r>
            <a:r>
              <a:rPr lang="en-US" altLang="zh-CN" sz="1600" baseline="-30000" dirty="0">
                <a:latin typeface="Times New Roman" panose="02020603050405020304" pitchFamily="18" charset="0"/>
                <a:cs typeface="Times New Roman" panose="02020603050405020304" pitchFamily="18" charset="0"/>
              </a:rPr>
              <a:t>4</a:t>
            </a:r>
            <a:r>
              <a:rPr lang="zh-CN" altLang="en-US" sz="1600" dirty="0">
                <a:latin typeface="Times New Roman" panose="02020603050405020304" pitchFamily="18" charset="0"/>
                <a:cs typeface="Times New Roman" panose="02020603050405020304" pitchFamily="18" charset="0"/>
              </a:rPr>
              <a:t>，剩余变量</a:t>
            </a:r>
            <a:r>
              <a:rPr lang="en-US" altLang="zh-CN" sz="1600" i="1" dirty="0">
                <a:latin typeface="Times New Roman" panose="02020603050405020304" pitchFamily="18" charset="0"/>
                <a:cs typeface="Times New Roman" panose="02020603050405020304" pitchFamily="18" charset="0"/>
              </a:rPr>
              <a:t>x</a:t>
            </a:r>
            <a:r>
              <a:rPr lang="en-US" altLang="zh-CN" sz="1600" baseline="-30000" dirty="0">
                <a:latin typeface="Times New Roman" panose="02020603050405020304" pitchFamily="18" charset="0"/>
                <a:cs typeface="Times New Roman" panose="02020603050405020304" pitchFamily="18" charset="0"/>
              </a:rPr>
              <a:t>5</a:t>
            </a:r>
            <a:r>
              <a:rPr lang="zh-CN" altLang="en-US" sz="1600" dirty="0">
                <a:latin typeface="Times New Roman" panose="02020603050405020304" pitchFamily="18" charset="0"/>
                <a:cs typeface="Times New Roman" panose="02020603050405020304" pitchFamily="18" charset="0"/>
              </a:rPr>
              <a:t>，人工变量</a:t>
            </a:r>
            <a:r>
              <a:rPr lang="en-US" altLang="zh-CN" sz="1600" i="1" dirty="0">
                <a:latin typeface="Times New Roman" panose="02020603050405020304" pitchFamily="18" charset="0"/>
                <a:cs typeface="Times New Roman" panose="02020603050405020304" pitchFamily="18" charset="0"/>
              </a:rPr>
              <a:t>x</a:t>
            </a:r>
            <a:r>
              <a:rPr lang="en-US" altLang="zh-CN" sz="1600" baseline="-30000" dirty="0">
                <a:latin typeface="Times New Roman" panose="02020603050405020304" pitchFamily="18" charset="0"/>
                <a:cs typeface="Times New Roman" panose="02020603050405020304" pitchFamily="18" charset="0"/>
              </a:rPr>
              <a:t>6</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x</a:t>
            </a:r>
            <a:r>
              <a:rPr lang="en-US" altLang="zh-CN" sz="1600" baseline="-30000" dirty="0">
                <a:latin typeface="Times New Roman" panose="02020603050405020304" pitchFamily="18" charset="0"/>
                <a:cs typeface="Times New Roman" panose="02020603050405020304" pitchFamily="18" charset="0"/>
              </a:rPr>
              <a:t>7</a:t>
            </a:r>
            <a:r>
              <a:rPr lang="zh-CN" altLang="en-US" sz="1600" dirty="0">
                <a:latin typeface="Times New Roman" panose="02020603050405020304" pitchFamily="18" charset="0"/>
                <a:cs typeface="Times New Roman" panose="02020603050405020304" pitchFamily="18" charset="0"/>
              </a:rPr>
              <a:t>，</a:t>
            </a:r>
            <a:r>
              <a:rPr lang="zh-CN" altLang="en-US" sz="1600" dirty="0" smtClean="0">
                <a:latin typeface="Times New Roman" panose="02020603050405020304" pitchFamily="18" charset="0"/>
                <a:cs typeface="Times New Roman" panose="02020603050405020304" pitchFamily="18" charset="0"/>
              </a:rPr>
              <a:t>得到</a:t>
            </a:r>
            <a:r>
              <a:rPr lang="en-US" altLang="zh-CN" sz="1600" dirty="0" smtClean="0">
                <a:latin typeface="Times New Roman" panose="02020603050405020304" pitchFamily="18" charset="0"/>
                <a:cs typeface="Times New Roman" panose="02020603050405020304" pitchFamily="18" charset="0"/>
              </a:rPr>
              <a:t>:</a:t>
            </a: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r>
              <a:rPr lang="zh-CN" altLang="en-US" sz="1600" dirty="0" smtClean="0">
                <a:latin typeface="Times New Roman" panose="02020603050405020304" pitchFamily="18" charset="0"/>
                <a:cs typeface="Times New Roman" panose="02020603050405020304" pitchFamily="18" charset="0"/>
              </a:rPr>
              <a:t>将</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x</a:t>
            </a:r>
            <a:r>
              <a:rPr lang="en-US" altLang="zh-CN" sz="1600" baseline="-30000" dirty="0" smtClean="0">
                <a:latin typeface="Times New Roman" panose="02020603050405020304" pitchFamily="18" charset="0"/>
                <a:cs typeface="Times New Roman" panose="02020603050405020304" pitchFamily="18" charset="0"/>
              </a:rPr>
              <a:t>4</a:t>
            </a:r>
            <a:r>
              <a:rPr lang="en-US" altLang="zh-CN" sz="1600" i="1" dirty="0" smtClean="0">
                <a:latin typeface="Times New Roman" panose="02020603050405020304" pitchFamily="18" charset="0"/>
                <a:cs typeface="Times New Roman" panose="02020603050405020304" pitchFamily="18" charset="0"/>
              </a:rPr>
              <a:t>,x</a:t>
            </a:r>
            <a:r>
              <a:rPr lang="en-US" altLang="zh-CN" sz="1600" baseline="-30000" dirty="0" smtClean="0">
                <a:latin typeface="Times New Roman" panose="02020603050405020304" pitchFamily="18" charset="0"/>
                <a:cs typeface="Times New Roman" panose="02020603050405020304" pitchFamily="18" charset="0"/>
              </a:rPr>
              <a:t>6</a:t>
            </a:r>
            <a:r>
              <a:rPr lang="en-US" altLang="zh-CN" sz="1600" dirty="0" smtClean="0">
                <a:latin typeface="Times New Roman" panose="02020603050405020304" pitchFamily="18" charset="0"/>
                <a:cs typeface="Times New Roman" panose="02020603050405020304" pitchFamily="18" charset="0"/>
              </a:rPr>
              <a:t>,</a:t>
            </a:r>
            <a:r>
              <a:rPr lang="en-US" altLang="zh-CN" sz="1600" i="1" dirty="0" smtClean="0">
                <a:latin typeface="Times New Roman" panose="02020603050405020304" pitchFamily="18" charset="0"/>
                <a:cs typeface="Times New Roman" panose="02020603050405020304" pitchFamily="18" charset="0"/>
              </a:rPr>
              <a:t>x</a:t>
            </a:r>
            <a:r>
              <a:rPr lang="en-US" altLang="zh-CN" sz="1600" baseline="-30000" dirty="0" smtClean="0">
                <a:latin typeface="Times New Roman" panose="02020603050405020304" pitchFamily="18" charset="0"/>
                <a:cs typeface="Times New Roman" panose="02020603050405020304" pitchFamily="18" charset="0"/>
              </a:rPr>
              <a:t>7</a:t>
            </a:r>
            <a:r>
              <a:rPr lang="en-US" altLang="zh-CN" sz="1600" dirty="0" smtClean="0">
                <a:latin typeface="Times New Roman" panose="02020603050405020304" pitchFamily="18" charset="0"/>
                <a:cs typeface="Times New Roman" panose="02020603050405020304" pitchFamily="18" charset="0"/>
              </a:rPr>
              <a:t>)</a:t>
            </a:r>
            <a:r>
              <a:rPr lang="zh-CN" altLang="en-US" sz="1600" dirty="0" smtClean="0">
                <a:latin typeface="Times New Roman" panose="02020603050405020304" pitchFamily="18" charset="0"/>
                <a:cs typeface="Times New Roman" panose="02020603050405020304" pitchFamily="18" charset="0"/>
              </a:rPr>
              <a:t>作为基变量得到的初始单纯形表如下：</a:t>
            </a:r>
            <a:endParaRPr lang="zh-CN" altLang="en-US" dirty="0"/>
          </a:p>
        </p:txBody>
      </p:sp>
      <p:pic>
        <p:nvPicPr>
          <p:cNvPr id="4" name="图片 3"/>
          <p:cNvPicPr>
            <a:picLocks noChangeAspect="1"/>
          </p:cNvPicPr>
          <p:nvPr/>
        </p:nvPicPr>
        <p:blipFill rotWithShape="1">
          <a:blip r:embed="rId4"/>
          <a:srcRect l="28373" t="17391" r="25140"/>
          <a:stretch/>
        </p:blipFill>
        <p:spPr>
          <a:xfrm>
            <a:off x="5329381" y="1361920"/>
            <a:ext cx="2382983" cy="1277563"/>
          </a:xfrm>
          <a:prstGeom prst="rect">
            <a:avLst/>
          </a:prstGeom>
        </p:spPr>
      </p:pic>
      <p:graphicFrame>
        <p:nvGraphicFramePr>
          <p:cNvPr id="12" name="Object 12"/>
          <p:cNvGraphicFramePr>
            <a:graphicFrameLocks noChangeAspect="1"/>
          </p:cNvGraphicFramePr>
          <p:nvPr>
            <p:extLst>
              <p:ext uri="{D42A27DB-BD31-4B8C-83A1-F6EECF244321}">
                <p14:modId xmlns:p14="http://schemas.microsoft.com/office/powerpoint/2010/main" val="1665012044"/>
              </p:ext>
            </p:extLst>
          </p:nvPr>
        </p:nvGraphicFramePr>
        <p:xfrm>
          <a:off x="1819562" y="3052633"/>
          <a:ext cx="3509819" cy="1393128"/>
        </p:xfrm>
        <a:graphic>
          <a:graphicData uri="http://schemas.openxmlformats.org/presentationml/2006/ole">
            <mc:AlternateContent xmlns:mc="http://schemas.openxmlformats.org/markup-compatibility/2006">
              <mc:Choice xmlns:v="urn:schemas-microsoft-com:vml" Requires="v">
                <p:oleObj spid="_x0000_s139305" name="Equation" r:id="rId5" imgW="2463800" imgH="977900" progId="Equation.3">
                  <p:embed/>
                </p:oleObj>
              </mc:Choice>
              <mc:Fallback>
                <p:oleObj name="Equation" r:id="rId5" imgW="2463800" imgH="977900" progId="Equation.3">
                  <p:embed/>
                  <p:pic>
                    <p:nvPicPr>
                      <p:cNvPr id="10241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9562" y="3052633"/>
                        <a:ext cx="3509819" cy="1393128"/>
                      </a:xfrm>
                      <a:prstGeom prst="rect">
                        <a:avLst/>
                      </a:prstGeom>
                      <a:noFill/>
                      <a:ln w="9525">
                        <a:solidFill>
                          <a:schemeClr val="tx1"/>
                        </a:solidFill>
                        <a:miter lim="800000"/>
                        <a:headEnd/>
                        <a:tailEnd/>
                      </a:ln>
                      <a:effectLst/>
                      <a:extLst/>
                    </p:spPr>
                  </p:pic>
                </p:oleObj>
              </mc:Fallback>
            </mc:AlternateContent>
          </a:graphicData>
        </a:graphic>
      </p:graphicFrame>
      <p:sp>
        <p:nvSpPr>
          <p:cNvPr id="14" name="矩形 13"/>
          <p:cNvSpPr/>
          <p:nvPr/>
        </p:nvSpPr>
        <p:spPr>
          <a:xfrm>
            <a:off x="5288231" y="2994661"/>
            <a:ext cx="2880917" cy="338554"/>
          </a:xfrm>
          <a:prstGeom prst="rect">
            <a:avLst/>
          </a:prstGeom>
        </p:spPr>
        <p:txBody>
          <a:bodyPr wrap="none">
            <a:spAutoFit/>
          </a:bodyPr>
          <a:lstStyle/>
          <a:p>
            <a:r>
              <a:rPr kumimoji="1" lang="zh-CN" altLang="en-US" sz="1600" dirty="0">
                <a:latin typeface="宋体" panose="02010600030101010101" pitchFamily="2" charset="-122"/>
              </a:rPr>
              <a:t>这里</a:t>
            </a:r>
            <a:r>
              <a:rPr kumimoji="1" lang="en-US" altLang="zh-CN" sz="1600" dirty="0">
                <a:solidFill>
                  <a:srgbClr val="FF0000"/>
                </a:solidFill>
              </a:rPr>
              <a:t>M</a:t>
            </a:r>
            <a:r>
              <a:rPr kumimoji="1" lang="zh-CN" altLang="en-US" sz="1600" dirty="0">
                <a:latin typeface="宋体" panose="02010600030101010101" pitchFamily="2" charset="-122"/>
              </a:rPr>
              <a:t>是一个任意大的正数。</a:t>
            </a:r>
            <a:r>
              <a:rPr kumimoji="1" lang="zh-CN" altLang="en-US" sz="1600" dirty="0"/>
              <a:t> </a:t>
            </a:r>
            <a:endParaRPr lang="zh-CN" altLang="en-US" sz="1600" dirty="0"/>
          </a:p>
        </p:txBody>
      </p:sp>
      <p:pic>
        <p:nvPicPr>
          <p:cNvPr id="15" name="图片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99491" y="4861930"/>
            <a:ext cx="6758709" cy="185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9466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2.6.1 </a:t>
            </a:r>
            <a:r>
              <a:rPr lang="zh-CN" altLang="en-US" noProof="1"/>
              <a:t>大</a:t>
            </a:r>
            <a:r>
              <a:rPr lang="en-US" altLang="zh-CN" noProof="1"/>
              <a:t>M</a:t>
            </a:r>
            <a:r>
              <a:rPr lang="zh-CN" altLang="en-US" noProof="1"/>
              <a:t>法</a:t>
            </a:r>
          </a:p>
        </p:txBody>
      </p:sp>
      <p:sp>
        <p:nvSpPr>
          <p:cNvPr id="3" name="内容占位符 2"/>
          <p:cNvSpPr>
            <a:spLocks noGrp="1"/>
          </p:cNvSpPr>
          <p:nvPr>
            <p:ph sz="half" idx="1"/>
          </p:nvPr>
        </p:nvSpPr>
        <p:spPr>
          <a:xfrm>
            <a:off x="609600" y="1256145"/>
            <a:ext cx="8423564" cy="4114800"/>
          </a:xfrm>
        </p:spPr>
        <p:txBody>
          <a:bodyPr/>
          <a:lstStyle/>
          <a:p>
            <a:r>
              <a:rPr lang="zh-CN" altLang="en-US" sz="2400" dirty="0" smtClean="0">
                <a:latin typeface="宋体" panose="02010600030101010101" pitchFamily="2" charset="-122"/>
              </a:rPr>
              <a:t>例：求解如下线性规划问题</a:t>
            </a:r>
            <a:endParaRPr lang="en-US" altLang="zh-CN" sz="2400" dirty="0">
              <a:latin typeface="宋体" panose="02010600030101010101" pitchFamily="2" charset="-122"/>
            </a:endParaRPr>
          </a:p>
          <a:p>
            <a:endParaRPr lang="en-US" altLang="zh-CN" dirty="0" smtClean="0">
              <a:latin typeface="宋体" panose="02010600030101010101" pitchFamily="2" charset="-122"/>
            </a:endParaRPr>
          </a:p>
          <a:p>
            <a:endParaRPr lang="en-US" altLang="zh-CN" dirty="0">
              <a:latin typeface="宋体" panose="02010600030101010101" pitchFamily="2" charset="-122"/>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r>
              <a:rPr lang="zh-CN" altLang="en-US" sz="1600" dirty="0" smtClean="0">
                <a:latin typeface="Times New Roman" panose="02020603050405020304" pitchFamily="18" charset="0"/>
                <a:cs typeface="Times New Roman" panose="02020603050405020304" pitchFamily="18" charset="0"/>
              </a:rPr>
              <a:t>最终</a:t>
            </a:r>
            <a:r>
              <a:rPr lang="zh-CN" altLang="en-US" sz="1600" dirty="0">
                <a:latin typeface="Times New Roman" panose="02020603050405020304" pitchFamily="18" charset="0"/>
                <a:cs typeface="Times New Roman" panose="02020603050405020304" pitchFamily="18" charset="0"/>
              </a:rPr>
              <a:t>单纯形表如下。所有非基变量检验系数为负，因此当前基可行解就是最优解。即在原始问题中，最优解为</a:t>
            </a:r>
            <a:r>
              <a:rPr lang="en-US" altLang="zh-CN" sz="1600" i="1" dirty="0">
                <a:latin typeface="Times New Roman" panose="02020603050405020304" pitchFamily="18" charset="0"/>
                <a:cs typeface="Times New Roman" panose="02020603050405020304" pitchFamily="18" charset="0"/>
              </a:rPr>
              <a:t>X</a:t>
            </a:r>
            <a:r>
              <a:rPr lang="en-US" altLang="zh-CN" sz="1600" dirty="0">
                <a:latin typeface="Times New Roman" panose="02020603050405020304" pitchFamily="18" charset="0"/>
                <a:cs typeface="Times New Roman" panose="02020603050405020304" pitchFamily="18" charset="0"/>
              </a:rPr>
              <a:t>*=(4,1,9,0,0)'</a:t>
            </a:r>
            <a:r>
              <a:rPr lang="zh-CN" altLang="en-US" sz="1600" dirty="0">
                <a:latin typeface="Times New Roman" panose="02020603050405020304" pitchFamily="18" charset="0"/>
                <a:cs typeface="Times New Roman" panose="02020603050405020304" pitchFamily="18" charset="0"/>
              </a:rPr>
              <a:t>，目标函数值最小为</a:t>
            </a:r>
            <a:r>
              <a:rPr lang="en-US" altLang="zh-CN" sz="1600" i="1" dirty="0">
                <a:latin typeface="Times New Roman" panose="02020603050405020304" pitchFamily="18" charset="0"/>
                <a:cs typeface="Times New Roman" panose="02020603050405020304" pitchFamily="18" charset="0"/>
              </a:rPr>
              <a:t>w</a:t>
            </a:r>
            <a:r>
              <a:rPr lang="en-US" altLang="zh-CN" sz="16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a:t>
            </a:r>
            <a:r>
              <a:rPr lang="en-US" altLang="zh-CN" sz="1600" dirty="0" smtClean="0">
                <a:latin typeface="Times New Roman" panose="02020603050405020304" pitchFamily="18" charset="0"/>
                <a:cs typeface="Times New Roman" panose="02020603050405020304" pitchFamily="18" charset="0"/>
              </a:rPr>
              <a:t>:</a:t>
            </a: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a:p>
            <a:pPr lvl="1"/>
            <a:endParaRPr lang="en-US" altLang="zh-CN" sz="1600" dirty="0" smtClean="0">
              <a:latin typeface="Times New Roman" panose="02020603050405020304" pitchFamily="18" charset="0"/>
              <a:cs typeface="Times New Roman" panose="02020603050405020304" pitchFamily="18" charset="0"/>
            </a:endParaRPr>
          </a:p>
          <a:p>
            <a:pPr lvl="1"/>
            <a:endParaRPr lang="en-US" altLang="zh-CN" sz="16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rotWithShape="1">
          <a:blip r:embed="rId4"/>
          <a:srcRect l="28373" t="17391" r="25140"/>
          <a:stretch/>
        </p:blipFill>
        <p:spPr>
          <a:xfrm>
            <a:off x="1699491" y="2000701"/>
            <a:ext cx="2382983" cy="1277563"/>
          </a:xfrm>
          <a:prstGeom prst="rect">
            <a:avLst/>
          </a:prstGeom>
        </p:spPr>
      </p:pic>
      <p:graphicFrame>
        <p:nvGraphicFramePr>
          <p:cNvPr id="12" name="Object 12"/>
          <p:cNvGraphicFramePr>
            <a:graphicFrameLocks noChangeAspect="1"/>
          </p:cNvGraphicFramePr>
          <p:nvPr>
            <p:extLst>
              <p:ext uri="{D42A27DB-BD31-4B8C-83A1-F6EECF244321}">
                <p14:modId xmlns:p14="http://schemas.microsoft.com/office/powerpoint/2010/main" val="2540609494"/>
              </p:ext>
            </p:extLst>
          </p:nvPr>
        </p:nvGraphicFramePr>
        <p:xfrm>
          <a:off x="4821382" y="2000701"/>
          <a:ext cx="3509819" cy="1393128"/>
        </p:xfrm>
        <a:graphic>
          <a:graphicData uri="http://schemas.openxmlformats.org/presentationml/2006/ole">
            <mc:AlternateContent xmlns:mc="http://schemas.openxmlformats.org/markup-compatibility/2006">
              <mc:Choice xmlns:v="urn:schemas-microsoft-com:vml" Requires="v">
                <p:oleObj spid="_x0000_s140327" name="Equation" r:id="rId5" imgW="2463800" imgH="977900" progId="Equation.3">
                  <p:embed/>
                </p:oleObj>
              </mc:Choice>
              <mc:Fallback>
                <p:oleObj name="Equation" r:id="rId5" imgW="2463800" imgH="977900" progId="Equation.3">
                  <p:embed/>
                  <p:pic>
                    <p:nvPicPr>
                      <p:cNvPr id="1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1382" y="2000701"/>
                        <a:ext cx="3509819" cy="1393128"/>
                      </a:xfrm>
                      <a:prstGeom prst="rect">
                        <a:avLst/>
                      </a:prstGeom>
                      <a:noFill/>
                      <a:ln w="9525">
                        <a:solidFill>
                          <a:schemeClr val="tx1"/>
                        </a:solidFill>
                        <a:miter lim="800000"/>
                        <a:headEnd/>
                        <a:tailEnd/>
                      </a:ln>
                      <a:effectLst/>
                      <a:extLst/>
                    </p:spPr>
                  </p:pic>
                </p:oleObj>
              </mc:Fallback>
            </mc:AlternateContent>
          </a:graphicData>
        </a:graphic>
      </p:graphicFrame>
      <p:pic>
        <p:nvPicPr>
          <p:cNvPr id="8" name="图片 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99491" y="4680707"/>
            <a:ext cx="6758710" cy="185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84957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US" altLang="zh-CN" noProof="1"/>
              <a:t>2.6.2 </a:t>
            </a:r>
            <a:r>
              <a:rPr lang="zh-CN" altLang="en-US" noProof="1"/>
              <a:t>两阶段法</a:t>
            </a:r>
          </a:p>
        </p:txBody>
      </p:sp>
      <p:sp>
        <p:nvSpPr>
          <p:cNvPr id="3" name="内容占位符 2"/>
          <p:cNvSpPr>
            <a:spLocks noGrp="1"/>
          </p:cNvSpPr>
          <p:nvPr>
            <p:ph sz="half" idx="1"/>
          </p:nvPr>
        </p:nvSpPr>
        <p:spPr>
          <a:xfrm>
            <a:off x="609600" y="1256145"/>
            <a:ext cx="8118764" cy="4114800"/>
          </a:xfrm>
        </p:spPr>
        <p:txBody>
          <a:bodyPr/>
          <a:lstStyle/>
          <a:p>
            <a:r>
              <a:rPr lang="zh-CN" altLang="en-US" sz="2400" dirty="0">
                <a:latin typeface="宋体" panose="02010600030101010101" pitchFamily="2" charset="-122"/>
              </a:rPr>
              <a:t>以下介绍求解含有人工变量线性规划问题的两阶段法。</a:t>
            </a:r>
          </a:p>
          <a:p>
            <a:pPr lvl="1"/>
            <a:r>
              <a:rPr lang="zh-CN" altLang="en-US" sz="2000" dirty="0">
                <a:latin typeface="宋体" panose="02010600030101010101" pitchFamily="2" charset="-122"/>
              </a:rPr>
              <a:t>第一阶段，构造一个辅助的线性规划模型，其目标函数是人工变量之和，优化方向是最小化，约束条件是引入人工变量后的等式形式。利用单纯形法求解该辅助问题，如果最终的单纯形表中所有人工变量取值为零，则第一阶段的最优解便是原问题的一个基可行解，进入第二阶段计算。如果最终的单纯形表中某个人工变量取值为正，则说明原始问题可行域为空，无解。</a:t>
            </a:r>
          </a:p>
          <a:p>
            <a:pPr lvl="1"/>
            <a:r>
              <a:rPr lang="zh-CN" altLang="en-US" sz="2000" dirty="0">
                <a:latin typeface="宋体" panose="02010600030101010101" pitchFamily="2" charset="-122"/>
              </a:rPr>
              <a:t>第二阶段：在第一阶段的最终单纯形表中，删去人工变量，将目标函数系数替换为原始问题的目标函数系数，利用单纯形法继续求解</a:t>
            </a:r>
            <a:r>
              <a:rPr lang="zh-CN" altLang="en-US" sz="2000" dirty="0" smtClean="0">
                <a:latin typeface="宋体" panose="02010600030101010101" pitchFamily="2" charset="-122"/>
              </a:rPr>
              <a:t>。</a:t>
            </a:r>
            <a:endParaRPr lang="en-US" altLang="zh-C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7948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noProof="1" smtClean="0"/>
              <a:t>单纯形法总结</a:t>
            </a:r>
            <a:endParaRPr lang="zh-CN" altLang="en-US" noProof="1"/>
          </a:p>
        </p:txBody>
      </p:sp>
      <p:graphicFrame>
        <p:nvGraphicFramePr>
          <p:cNvPr id="6" name="Object 8"/>
          <p:cNvGraphicFramePr>
            <a:graphicFrameLocks noGrp="1" noChangeAspect="1"/>
          </p:cNvGraphicFramePr>
          <p:nvPr>
            <p:ph sz="half" idx="2"/>
            <p:extLst>
              <p:ext uri="{D42A27DB-BD31-4B8C-83A1-F6EECF244321}">
                <p14:modId xmlns:p14="http://schemas.microsoft.com/office/powerpoint/2010/main" val="624290625"/>
              </p:ext>
            </p:extLst>
          </p:nvPr>
        </p:nvGraphicFramePr>
        <p:xfrm>
          <a:off x="109057" y="1507717"/>
          <a:ext cx="7997825" cy="5013325"/>
        </p:xfrm>
        <a:graphic>
          <a:graphicData uri="http://schemas.openxmlformats.org/presentationml/2006/ole">
            <mc:AlternateContent xmlns:mc="http://schemas.openxmlformats.org/markup-compatibility/2006">
              <mc:Choice xmlns:v="urn:schemas-microsoft-com:vml" Requires="v">
                <p:oleObj spid="_x0000_s145444" name="文档" r:id="rId4" imgW="5677028" imgH="3205124" progId="Word.Document.8">
                  <p:embed/>
                </p:oleObj>
              </mc:Choice>
              <mc:Fallback>
                <p:oleObj name="文档" r:id="rId4" imgW="5677028" imgH="3205124" progId="Word.Document.8">
                  <p:embed/>
                  <p:pic>
                    <p:nvPicPr>
                      <p:cNvPr id="109579"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057" y="1507717"/>
                        <a:ext cx="7997825"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8898557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p:txBody>
          <a:bodyPr/>
          <a:lstStyle/>
          <a:p>
            <a:pPr marL="0" lvl="0" indent="0">
              <a:spcBef>
                <a:spcPct val="0"/>
              </a:spcBef>
              <a:buNone/>
            </a:pPr>
            <a:r>
              <a:rPr lang="zh-CN" altLang="zh-CN" sz="1200" kern="1200" dirty="0">
                <a:latin typeface="等线 Light" panose="02010600030101010101" pitchFamily="2" charset="-122"/>
                <a:ea typeface="等线 Light" panose="02010600030101010101" pitchFamily="2" charset="-122"/>
                <a:cs typeface="Times New Roman" panose="02020603050405020304" pitchFamily="18" charset="0"/>
              </a:rPr>
              <a:t>一、选择题</a:t>
            </a:r>
            <a:endParaRPr lang="zh-CN" altLang="zh-CN" sz="1600" kern="1200" dirty="0">
              <a:latin typeface="等线 Light" panose="02010600030101010101" pitchFamily="2" charset="-122"/>
              <a:ea typeface="等线 Light" panose="02010600030101010101" pitchFamily="2" charset="-122"/>
              <a:cs typeface="Times New Roman" panose="02020603050405020304" pitchFamily="18" charset="0"/>
            </a:endParaRPr>
          </a:p>
          <a:p>
            <a:pPr marL="0" lvl="0" indent="0">
              <a:spcBef>
                <a:spcPct val="0"/>
              </a:spcBef>
            </a:pPr>
            <a:r>
              <a:rPr lang="zh-CN" altLang="zh-CN" sz="1200" kern="1200" dirty="0">
                <a:latin typeface="等线" panose="02010600030101010101" pitchFamily="2" charset="-122"/>
                <a:ea typeface="等线" panose="02010600030101010101" pitchFamily="2" charset="-122"/>
                <a:cs typeface="Times New Roman" panose="02020603050405020304" pitchFamily="18" charset="0"/>
              </a:rPr>
              <a:t>如果一个线性规划问题有</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n</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个变量，</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m</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个约束方程</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(m&lt;n)</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，系数矩阵的数为</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m</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，则基可行解的个数最多为</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a:t>
            </a:r>
            <a:endParaRPr lang="zh-CN" altLang="en-US" sz="300" kern="1200" dirty="0">
              <a:latin typeface="Times New Roman" panose="02020603050405020304" pitchFamily="18" charset="0"/>
              <a:ea typeface="宋体" panose="02010600030101010101" pitchFamily="2" charset="-122"/>
            </a:endParaRPr>
          </a:p>
          <a:p>
            <a:pPr marL="0" lvl="0" indent="0">
              <a:spcBef>
                <a:spcPct val="0"/>
              </a:spcBef>
            </a:pP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m</a:t>
            </a:r>
            <a:r>
              <a:rPr lang="zh-CN" altLang="en-US" sz="1200" kern="1200" dirty="0" smtClean="0">
                <a:latin typeface="等线" panose="02010600030101010101" pitchFamily="2" charset="-122"/>
                <a:ea typeface="等线" panose="02010600030101010101" pitchFamily="2" charset="-122"/>
                <a:cs typeface="Times New Roman" panose="02020603050405020304" pitchFamily="18" charset="0"/>
              </a:rPr>
              <a:t>个</a:t>
            </a:r>
            <a:r>
              <a:rPr lang="en-US" altLang="zh-CN" sz="1200" kern="1200" dirty="0" smtClean="0">
                <a:latin typeface="等线" panose="02010600030101010101" pitchFamily="2" charset="-122"/>
                <a:ea typeface="等线" panose="02010600030101010101" pitchFamily="2" charset="-122"/>
                <a:cs typeface="Times New Roman" panose="02020603050405020304" pitchFamily="18" charset="0"/>
              </a:rPr>
              <a:t>	n</a:t>
            </a:r>
            <a:r>
              <a:rPr lang="zh-CN" altLang="en-US" sz="1200" kern="1200" dirty="0" smtClean="0">
                <a:latin typeface="等线" panose="02010600030101010101" pitchFamily="2" charset="-122"/>
                <a:ea typeface="等线" panose="02010600030101010101" pitchFamily="2" charset="-122"/>
                <a:cs typeface="Times New Roman" panose="02020603050405020304" pitchFamily="18" charset="0"/>
              </a:rPr>
              <a:t>个</a:t>
            </a:r>
            <a:r>
              <a:rPr lang="en-US" altLang="zh-CN" sz="1200" kern="1200" dirty="0" smtClean="0">
                <a:latin typeface="等线" panose="02010600030101010101" pitchFamily="2" charset="-122"/>
                <a:ea typeface="等线" panose="02010600030101010101" pitchFamily="2" charset="-122"/>
                <a:cs typeface="Times New Roman" panose="02020603050405020304" pitchFamily="18" charset="0"/>
              </a:rPr>
              <a:t>	</a:t>
            </a:r>
            <a:r>
              <a:rPr lang="en-US" altLang="zh-CN" sz="1200" i="1" kern="1200" dirty="0" err="1" smtClean="0">
                <a:latin typeface="Cambria Math" panose="02040503050406030204" pitchFamily="18" charset="0"/>
                <a:ea typeface="等线" panose="02010600030101010101" pitchFamily="2" charset="-122"/>
                <a:cs typeface="Times New Roman" panose="02020603050405020304" pitchFamily="18" charset="0"/>
              </a:rPr>
              <a:t>C</a:t>
            </a:r>
            <a:r>
              <a:rPr lang="en-US" altLang="zh-CN" sz="1200" i="1" kern="1200" baseline="-25000" dirty="0" err="1" smtClean="0">
                <a:latin typeface="Cambria Math" panose="02040503050406030204" pitchFamily="18" charset="0"/>
                <a:ea typeface="等线" panose="02010600030101010101" pitchFamily="2" charset="-122"/>
                <a:cs typeface="Times New Roman" panose="02020603050405020304" pitchFamily="18" charset="0"/>
              </a:rPr>
              <a:t>m</a:t>
            </a:r>
            <a:r>
              <a:rPr lang="en-US" altLang="zh-CN" sz="1200" i="1" kern="1200" baseline="30000" dirty="0" err="1" smtClean="0">
                <a:latin typeface="Cambria Math" panose="02040503050406030204" pitchFamily="18" charset="0"/>
                <a:ea typeface="等线" panose="02010600030101010101" pitchFamily="2" charset="-122"/>
                <a:cs typeface="Times New Roman" panose="02020603050405020304" pitchFamily="18" charset="0"/>
              </a:rPr>
              <a:t>n</a:t>
            </a:r>
            <a:r>
              <a:rPr lang="en-US" altLang="zh-CN" sz="1200" i="1" kern="1200" baseline="30000" dirty="0" smtClean="0">
                <a:latin typeface="Cambria Math" panose="02040503050406030204" pitchFamily="18" charset="0"/>
                <a:ea typeface="等线" panose="02010600030101010101" pitchFamily="2" charset="-122"/>
                <a:cs typeface="Times New Roman" panose="02020603050405020304" pitchFamily="18" charset="0"/>
              </a:rPr>
              <a:t>	</a:t>
            </a:r>
            <a:r>
              <a:rPr lang="en-US" altLang="zh-CN" sz="1200" i="1" kern="1200" dirty="0" err="1" smtClean="0">
                <a:latin typeface="Cambria Math" panose="02040503050406030204" pitchFamily="18" charset="0"/>
                <a:ea typeface="等线" panose="02010600030101010101" pitchFamily="2" charset="-122"/>
                <a:cs typeface="Times New Roman" panose="02020603050405020304" pitchFamily="18" charset="0"/>
              </a:rPr>
              <a:t>C</a:t>
            </a:r>
            <a:r>
              <a:rPr lang="en-US" altLang="zh-CN" sz="1200" i="1" kern="1200" baseline="-25000" dirty="0" err="1" smtClean="0">
                <a:latin typeface="Cambria Math" panose="02040503050406030204" pitchFamily="18" charset="0"/>
                <a:ea typeface="等线" panose="02010600030101010101" pitchFamily="2" charset="-122"/>
                <a:cs typeface="Times New Roman" panose="02020603050405020304" pitchFamily="18" charset="0"/>
              </a:rPr>
              <a:t>n</a:t>
            </a:r>
            <a:r>
              <a:rPr lang="en-US" altLang="zh-CN" sz="1200" i="1" kern="1200" baseline="30000" dirty="0" err="1" smtClean="0">
                <a:latin typeface="Cambria Math" panose="02040503050406030204" pitchFamily="18" charset="0"/>
                <a:ea typeface="等线" panose="02010600030101010101" pitchFamily="2" charset="-122"/>
                <a:cs typeface="Times New Roman" panose="02020603050405020304" pitchFamily="18" charset="0"/>
              </a:rPr>
              <a:t>m</a:t>
            </a:r>
            <a:endParaRPr lang="en-US" altLang="zh-CN" sz="300" kern="1200" baseline="30000" dirty="0">
              <a:latin typeface="Times New Roman" panose="02020603050405020304" pitchFamily="18" charset="0"/>
              <a:ea typeface="宋体" panose="02010600030101010101" pitchFamily="2" charset="-122"/>
            </a:endParaRPr>
          </a:p>
          <a:p>
            <a:pPr marL="0" lvl="0" indent="0">
              <a:spcBef>
                <a:spcPct val="0"/>
              </a:spcBef>
            </a:pPr>
            <a:r>
              <a:rPr lang="zh-CN" altLang="zh-CN" sz="1200" kern="1200" dirty="0">
                <a:latin typeface="等线" panose="02010600030101010101" pitchFamily="2" charset="-122"/>
                <a:ea typeface="等线" panose="02010600030101010101" pitchFamily="2" charset="-122"/>
                <a:cs typeface="Times New Roman" panose="02020603050405020304" pitchFamily="18" charset="0"/>
              </a:rPr>
              <a:t>下列图形所包含的区域不是凸集的是</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______</a:t>
            </a:r>
            <a:endParaRPr lang="en-US" altLang="zh-CN" sz="300" kern="1200" dirty="0">
              <a:latin typeface="Times New Roman" panose="02020603050405020304" pitchFamily="18" charset="0"/>
              <a:ea typeface="宋体" panose="02010600030101010101" pitchFamily="2" charset="-122"/>
            </a:endParaRPr>
          </a:p>
          <a:p>
            <a:pPr marL="0" lvl="0" indent="0">
              <a:spcBef>
                <a:spcPct val="0"/>
              </a:spcBef>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圆形</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三角形</a:t>
            </a:r>
            <a:endParaRPr lang="zh-CN" altLang="en-US" sz="300" kern="1200" dirty="0">
              <a:latin typeface="Times New Roman" panose="02020603050405020304" pitchFamily="18" charset="0"/>
              <a:ea typeface="宋体" panose="02010600030101010101" pitchFamily="2" charset="-122"/>
            </a:endParaRPr>
          </a:p>
          <a:p>
            <a:pPr marL="0" lvl="0" indent="0">
              <a:spcBef>
                <a:spcPct val="0"/>
              </a:spcBef>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圆环</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正方形</a:t>
            </a:r>
            <a:endParaRPr lang="zh-CN" altLang="en-US" sz="300" kern="1200" dirty="0">
              <a:latin typeface="Times New Roman" panose="02020603050405020304" pitchFamily="18" charset="0"/>
              <a:ea typeface="宋体" panose="02010600030101010101" pitchFamily="2" charset="-122"/>
            </a:endParaRPr>
          </a:p>
          <a:p>
            <a:pPr marL="0" lvl="0" indent="0">
              <a:spcBef>
                <a:spcPct val="0"/>
              </a:spcBef>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线性规划模型不包括下列</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要素。</a:t>
            </a:r>
            <a:endParaRPr lang="zh-CN" altLang="en-US" sz="300" kern="1200" dirty="0">
              <a:latin typeface="Times New Roman" panose="02020603050405020304" pitchFamily="18" charset="0"/>
              <a:ea typeface="宋体" panose="02010600030101010101" pitchFamily="2" charset="-122"/>
            </a:endParaRPr>
          </a:p>
          <a:p>
            <a:pPr marL="0" lvl="0" indent="0">
              <a:spcBef>
                <a:spcPct val="0"/>
              </a:spcBef>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目标函数</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约束条件</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决策变量</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状态变量</a:t>
            </a:r>
            <a:endParaRPr lang="zh-CN" altLang="en-US" sz="300" kern="1200" dirty="0">
              <a:latin typeface="Times New Roman" panose="02020603050405020304" pitchFamily="18" charset="0"/>
              <a:ea typeface="宋体" panose="02010600030101010101" pitchFamily="2" charset="-122"/>
            </a:endParaRPr>
          </a:p>
          <a:p>
            <a:pPr marL="0" lvl="0" indent="0">
              <a:spcBef>
                <a:spcPct val="0"/>
              </a:spcBef>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线性规划模型中增加一个约束条件，可行域的范围一般将</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a:t>
            </a:r>
            <a:endParaRPr lang="zh-CN" altLang="en-US" sz="300" kern="1200" dirty="0">
              <a:latin typeface="Times New Roman" panose="02020603050405020304" pitchFamily="18" charset="0"/>
              <a:ea typeface="宋体" panose="02010600030101010101" pitchFamily="2" charset="-122"/>
            </a:endParaRPr>
          </a:p>
          <a:p>
            <a:pPr marL="0" lvl="0" indent="0">
              <a:spcBef>
                <a:spcPct val="0"/>
              </a:spcBef>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增大</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缩小</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不变</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不定</a:t>
            </a:r>
            <a:endParaRPr lang="zh-CN" altLang="en-US" sz="300" kern="1200" dirty="0">
              <a:latin typeface="Times New Roman" panose="02020603050405020304" pitchFamily="18" charset="0"/>
              <a:ea typeface="宋体" panose="02010600030101010101" pitchFamily="2" charset="-122"/>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若针对实际问题建立的线性规划模型的解是无界的，不可能的原因是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出现矛盾的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条件</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缺乏</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必要的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条件</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多余的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条件</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相同的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条件</a:t>
            </a:r>
            <a:endPar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线性规划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可行域的顶点一定是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非基本解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非可行</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是</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最优解</a:t>
            </a: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为什么</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单纯形法迭代的每一个解都是可行解</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答</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因为遵循了下列规则</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按最小比值规则选择出</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基变量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先进</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基后出基规则</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标准型要求变量非负</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规则</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按</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检验数最大的变量进基规则</a:t>
            </a: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线性规划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标准型的系数矩阵</a:t>
            </a: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rPr>
              <a:t>A</a:t>
            </a:r>
            <a:r>
              <a:rPr lang="en-US" altLang="zh-CN" sz="1200" kern="100" baseline="-25000" dirty="0" err="1">
                <a:latin typeface="等线" panose="02010600030101010101" pitchFamily="2" charset="-122"/>
                <a:ea typeface="等线" panose="02010600030101010101" pitchFamily="2" charset="-122"/>
                <a:cs typeface="Times New Roman" panose="02020603050405020304" pitchFamily="18" charset="0"/>
              </a:rPr>
              <a:t>mxn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，要求</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秩</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并且</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m&lt;n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秩</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并且</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m&lt;=</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n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秩</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并且</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m=n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秩</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并且</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n&lt;m</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下例错误的结论是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检验数是用来检验可行解是否是最优解的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数</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检验</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数是目标函数用非基变量表达的系数</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不同检验数的定义其检验标准也</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不同</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检验</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数就是目标函数的系数</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线性规划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问题有可行解，则</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必有基</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必</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有唯一</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无</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基</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无</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唯一最优解</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1200" dirty="0"/>
          </a:p>
        </p:txBody>
      </p:sp>
    </p:spTree>
    <p:extLst>
      <p:ext uri="{BB962C8B-B14F-4D97-AF65-F5344CB8AC3E}">
        <p14:creationId xmlns:p14="http://schemas.microsoft.com/office/powerpoint/2010/main" val="28011693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p:txBody>
          <a:bodyPr/>
          <a:lstStyle/>
          <a:p>
            <a:pPr marL="0" lvl="0" indent="0">
              <a:spcBef>
                <a:spcPct val="0"/>
              </a:spcBef>
              <a:buNone/>
            </a:pPr>
            <a:r>
              <a:rPr lang="zh-CN" altLang="zh-CN" sz="1200" kern="12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rPr>
              <a:t>一、选择题</a:t>
            </a:r>
            <a:endParaRPr lang="zh-CN" altLang="zh-CN" sz="1600" kern="12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若目标函数为求</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max</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，一个基可行解比另一个基可行解更好的标志是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使</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Z</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更</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大</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使</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Z</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更</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绝对</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值更</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大</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Z</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绝对值更小</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如果</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线性规划问题存在目标函数为有限值的最优解，求解时只需在</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集合中进行搜索即可得到最优解。</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基本解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基可行解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可行域</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线性规划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问题是针对</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求极值问题</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约束</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决策变量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秩</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目标函数</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如果</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第</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K</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个约束条件是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情形，若化为标准形式，需要</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左边增加一个</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变量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右边</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增加一个</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变量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左边</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减去一个</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变量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右边</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减去一个变量</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若</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某个</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b</a:t>
            </a:r>
            <a:r>
              <a:rPr lang="en-US" altLang="zh-CN" sz="1200" kern="100" baseline="-25000" dirty="0">
                <a:latin typeface="等线" panose="02010600030101010101" pitchFamily="2" charset="-122"/>
                <a:ea typeface="等线" panose="02010600030101010101" pitchFamily="2" charset="-122"/>
                <a:cs typeface="Times New Roman" panose="02020603050405020304" pitchFamily="18" charset="0"/>
              </a:rPr>
              <a:t>K</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化为标准形式时原不等式</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A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左端</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右</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端乘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两边</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若</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线性规划问题没有可行解，可行解集是空集，则此问题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没有无穷多</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没有最优解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有无界解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无界解</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线性规划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具有唯一最优解是指</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最优表中非基变量检验数全部非</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零</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不</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加入人工变量就可进行单纯形法计算</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最优表中存在非基变量的检验数为</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零</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可行解</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集合有界</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线性规划</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具有多重最优解是指</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目标函数系数与某约束系数对应成</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比例</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最终</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表中存在非基变量的检验数为零</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可行解集合无</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界</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基变量</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全部大于零</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sz="1200" dirty="0"/>
          </a:p>
        </p:txBody>
      </p:sp>
    </p:spTree>
    <p:extLst>
      <p:ext uri="{BB962C8B-B14F-4D97-AF65-F5344CB8AC3E}">
        <p14:creationId xmlns:p14="http://schemas.microsoft.com/office/powerpoint/2010/main" val="225065072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a:xfrm>
            <a:off x="491067" y="1608666"/>
            <a:ext cx="7772400" cy="4114800"/>
          </a:xfrm>
        </p:spPr>
        <p:txBody>
          <a:bodyPr/>
          <a:lstStyle/>
          <a:p>
            <a:pPr marL="0" lvl="0" indent="0">
              <a:spcBef>
                <a:spcPct val="0"/>
              </a:spcBef>
              <a:buNone/>
            </a:pPr>
            <a:r>
              <a:rPr lang="zh-CN" altLang="zh-CN" sz="1200" kern="12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rPr>
              <a:t>一、选择题</a:t>
            </a:r>
            <a:endParaRPr lang="zh-CN" altLang="zh-CN" sz="1600" kern="12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endParaRPr>
          </a:p>
          <a:p>
            <a:pPr marL="0" indent="0">
              <a:spcBef>
                <a:spcPct val="0"/>
              </a:spcBef>
              <a:buNone/>
            </a:pPr>
            <a:r>
              <a:rPr lang="zh-CN" altLang="zh-CN" sz="1200" dirty="0" smtClean="0">
                <a:latin typeface="宋体" panose="02010600030101010101" pitchFamily="2" charset="-122"/>
                <a:ea typeface="等线" panose="02010600030101010101" pitchFamily="2" charset="-122"/>
                <a:cs typeface="Times New Roman" panose="02020603050405020304" pitchFamily="18" charset="0"/>
              </a:rPr>
              <a:t>使用</a:t>
            </a:r>
            <a:r>
              <a:rPr lang="zh-CN" altLang="zh-CN" sz="1200" dirty="0">
                <a:latin typeface="等线" panose="02010600030101010101" pitchFamily="2" charset="-122"/>
                <a:ea typeface="等线" panose="02010600030101010101" pitchFamily="2" charset="-122"/>
                <a:cs typeface="Times New Roman" panose="02020603050405020304" pitchFamily="18" charset="0"/>
              </a:rPr>
              <a:t>人工变量</a:t>
            </a:r>
            <a:r>
              <a:rPr lang="zh-CN" altLang="zh-CN" sz="1200" dirty="0">
                <a:latin typeface="宋体" panose="02010600030101010101" pitchFamily="2" charset="-122"/>
                <a:ea typeface="等线" panose="02010600030101010101" pitchFamily="2" charset="-122"/>
                <a:cs typeface="Times New Roman" panose="02020603050405020304" pitchFamily="18" charset="0"/>
              </a:rPr>
              <a:t>法求解极大化线性规划问题时，当所有的检验</a:t>
            </a:r>
            <a:r>
              <a:rPr lang="zh-CN" altLang="zh-CN" sz="1200" dirty="0" smtClean="0">
                <a:latin typeface="宋体" panose="02010600030101010101" pitchFamily="2" charset="-122"/>
                <a:ea typeface="等线" panose="02010600030101010101" pitchFamily="2" charset="-122"/>
                <a:cs typeface="Times New Roman" panose="02020603050405020304" pitchFamily="18" charset="0"/>
              </a:rPr>
              <a:t>数</a:t>
            </a:r>
            <a:r>
              <a:rPr lang="en-US" altLang="zh-CN" sz="1200" i="1" kern="1200" dirty="0" smtClean="0">
                <a:latin typeface="Cambria Math" panose="02040503050406030204" pitchFamily="18" charset="0"/>
                <a:ea typeface="等线" panose="02010600030101010101" pitchFamily="2" charset="-122"/>
                <a:cs typeface="Times New Roman" panose="02020603050405020304" pitchFamily="18" charset="0"/>
              </a:rPr>
              <a:t>λ</a:t>
            </a:r>
            <a:r>
              <a:rPr lang="en-US" altLang="zh-CN" sz="1200" i="1" kern="1200" baseline="-25000" dirty="0" smtClean="0">
                <a:latin typeface="Cambria Math" panose="02040503050406030204" pitchFamily="18" charset="0"/>
                <a:ea typeface="等线" panose="02010600030101010101" pitchFamily="2" charset="-122"/>
                <a:cs typeface="Times New Roman" panose="02020603050405020304" pitchFamily="18" charset="0"/>
              </a:rPr>
              <a:t>j</a:t>
            </a:r>
            <a:r>
              <a:rPr lang="en-US" altLang="zh-CN" sz="1200" kern="1200" dirty="0">
                <a:latin typeface="Cambria Math" panose="02040503050406030204" pitchFamily="18" charset="0"/>
                <a:ea typeface="等线" panose="02010600030101010101" pitchFamily="2" charset="-122"/>
                <a:cs typeface="Times New Roman" panose="02020603050405020304" pitchFamily="18" charset="0"/>
              </a:rPr>
              <a:t>≤0</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a:t>
            </a:r>
            <a:r>
              <a:rPr lang="zh-CN" altLang="en-US" sz="1200" kern="1200" dirty="0">
                <a:latin typeface="宋体" panose="02010600030101010101" pitchFamily="2" charset="-122"/>
                <a:ea typeface="等线" panose="02010600030101010101" pitchFamily="2" charset="-122"/>
                <a:cs typeface="Times New Roman" panose="02020603050405020304" pitchFamily="18" charset="0"/>
              </a:rPr>
              <a:t>在基变量中仍含有非零的人工变量，表明该线性规划问题</a:t>
            </a:r>
            <a:r>
              <a:rPr lang="en-US" altLang="zh-CN" sz="1200" kern="1200" dirty="0">
                <a:latin typeface="宋体" panose="02010600030101010101" pitchFamily="2" charset="-122"/>
                <a:ea typeface="宋体" panose="02010600030101010101" pitchFamily="2" charset="-122"/>
                <a:cs typeface="Times New Roman" panose="02020603050405020304" pitchFamily="18" charset="0"/>
              </a:rPr>
              <a:t>() </a:t>
            </a:r>
            <a:endParaRPr lang="en-US" altLang="zh-CN"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宋体" panose="02010600030101010101" pitchFamily="2" charset="-122"/>
                <a:ea typeface="等线" panose="02010600030101010101" pitchFamily="2" charset="-122"/>
                <a:cs typeface="Times New Roman" panose="02020603050405020304" pitchFamily="18" charset="0"/>
              </a:rPr>
              <a:t>有唯一的</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最优解</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宋体" panose="02010600030101010101" pitchFamily="2" charset="-122"/>
                <a:ea typeface="等线" panose="02010600030101010101" pitchFamily="2" charset="-122"/>
                <a:cs typeface="Times New Roman" panose="02020603050405020304" pitchFamily="18" charset="0"/>
              </a:rPr>
              <a:t>有无穷多</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最优解</a:t>
            </a:r>
            <a:endParaRPr lang="zh-CN" altLang="en-US"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宋体" panose="02010600030101010101" pitchFamily="2" charset="-122"/>
                <a:ea typeface="等线" panose="02010600030101010101" pitchFamily="2" charset="-122"/>
                <a:cs typeface="Times New Roman" panose="02020603050405020304" pitchFamily="18" charset="0"/>
              </a:rPr>
              <a:t>为</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无界解</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宋体" panose="02010600030101010101" pitchFamily="2" charset="-122"/>
                <a:ea typeface="等线" panose="02010600030101010101" pitchFamily="2" charset="-122"/>
                <a:cs typeface="Times New Roman" panose="02020603050405020304" pitchFamily="18" charset="0"/>
              </a:rPr>
              <a:t>无</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可行解</a:t>
            </a:r>
            <a:endParaRPr lang="zh-CN" altLang="en-US"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关于线性规划</a:t>
            </a:r>
            <a:r>
              <a:rPr lang="zh-CN" altLang="en-US" sz="1200" kern="1200" dirty="0">
                <a:latin typeface="宋体" panose="02010600030101010101" pitchFamily="2" charset="-122"/>
                <a:ea typeface="等线" panose="02010600030101010101" pitchFamily="2" charset="-122"/>
                <a:cs typeface="Times New Roman" panose="02020603050405020304" pitchFamily="18" charset="0"/>
              </a:rPr>
              <a:t>标准</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型的特征，哪一项不正确</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a:t>
            </a:r>
            <a:endParaRPr lang="en-US" altLang="zh-CN"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决策变量全部大于等于</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0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约束条件全为线性等式</a:t>
            </a:r>
            <a:endParaRPr lang="zh-CN" altLang="en-US"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约束条件右端常数无约束</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目标函数值求最大</a:t>
            </a:r>
            <a:endParaRPr lang="zh-CN" altLang="en-US"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线性规划可行解集合非空时一定</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a:t>
            </a:r>
            <a:endParaRPr lang="en-US" altLang="zh-CN"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包含原点</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有界</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无解</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是凸集</a:t>
            </a:r>
            <a:endParaRPr lang="zh-CN" altLang="en-US"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为什么单纯形法迭代的每一个解都是可行解？答：因为遵循了下列规则 </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 </a:t>
            </a:r>
            <a:endParaRPr lang="en-US" altLang="zh-CN"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按最小比值规则选择出基变量 </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先进基后出基规则 </a:t>
            </a:r>
            <a:endParaRPr lang="zh-CN" altLang="en-US" sz="1200" kern="1200" dirty="0">
              <a:latin typeface="Times New Roman" panose="02020603050405020304" pitchFamily="18" charset="0"/>
              <a:ea typeface="宋体" panose="02010600030101010101" pitchFamily="2" charset="-122"/>
            </a:endParaRPr>
          </a:p>
          <a:p>
            <a:pPr marL="0" lvl="0" indent="0">
              <a:spcBef>
                <a:spcPct val="0"/>
              </a:spcBef>
              <a:buNone/>
            </a:pP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标准型要求变量非负规则     </a:t>
            </a:r>
            <a:r>
              <a:rPr lang="en-US" altLang="zh-CN" sz="1200"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kern="1200" dirty="0">
                <a:latin typeface="等线" panose="02010600030101010101" pitchFamily="2" charset="-122"/>
                <a:ea typeface="等线" panose="02010600030101010101" pitchFamily="2" charset="-122"/>
                <a:cs typeface="Times New Roman" panose="02020603050405020304" pitchFamily="18" charset="0"/>
              </a:rPr>
              <a:t>按检验数最大的变量进基规则</a:t>
            </a:r>
            <a:endParaRPr lang="zh-CN" altLang="en-US" sz="1200" kern="1200" dirty="0">
              <a:latin typeface="Arial" panose="020B0604020202020204" pitchFamily="34" charset="0"/>
              <a:ea typeface="宋体" panose="02010600030101010101" pitchFamily="2" charset="-122"/>
            </a:endParaRPr>
          </a:p>
          <a:p>
            <a:pPr marL="0" indent="0">
              <a:buNone/>
            </a:pPr>
            <a:endParaRPr lang="zh-CN" altLang="en-US" sz="1050" dirty="0"/>
          </a:p>
        </p:txBody>
      </p:sp>
      <p:sp>
        <p:nvSpPr>
          <p:cNvPr id="11" name="任意多边形: 形状 30" hidden="1"/>
          <p:cNvSpPr>
            <a:spLocks noSelect="1" noChangeAspect="1" noChangeArrowheads="1"/>
          </p:cNvSpPr>
          <p:nvPr/>
        </p:nvSpPr>
        <p:spPr bwMode="auto">
          <a:xfrm>
            <a:off x="0" y="0"/>
            <a:ext cx="635000" cy="635000"/>
          </a:xfrm>
          <a:custGeom>
            <a:avLst/>
            <a:gdLst/>
            <a:ahLst/>
            <a:cxnLst/>
            <a:rect l="0" t="0" r="0" b="0"/>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zh-CN" altLang="en-US"/>
          </a:p>
        </p:txBody>
      </p:sp>
    </p:spTree>
    <p:extLst>
      <p:ext uri="{BB962C8B-B14F-4D97-AF65-F5344CB8AC3E}">
        <p14:creationId xmlns:p14="http://schemas.microsoft.com/office/powerpoint/2010/main" val="20785752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本章练习题</a:t>
            </a:r>
          </a:p>
        </p:txBody>
      </p:sp>
      <p:sp>
        <p:nvSpPr>
          <p:cNvPr id="3" name="内容占位符 2"/>
          <p:cNvSpPr>
            <a:spLocks noGrp="1"/>
          </p:cNvSpPr>
          <p:nvPr>
            <p:ph idx="1"/>
          </p:nvPr>
        </p:nvSpPr>
        <p:spPr/>
        <p:txBody>
          <a:bodyPr/>
          <a:lstStyle/>
          <a:p>
            <a:pPr marL="0" lvl="0" indent="0">
              <a:spcBef>
                <a:spcPct val="0"/>
              </a:spcBef>
              <a:buNone/>
            </a:pPr>
            <a:r>
              <a:rPr lang="zh-CN" altLang="zh-CN" sz="1200" kern="1200" dirty="0">
                <a:solidFill>
                  <a:srgbClr val="000000"/>
                </a:solidFill>
                <a:latin typeface="宋体" panose="02010600030101010101" pitchFamily="2" charset="-122"/>
                <a:ea typeface="宋体" panose="02010600030101010101" pitchFamily="2" charset="-122"/>
                <a:cs typeface="Times New Roman" panose="02020603050405020304" pitchFamily="18" charset="0"/>
              </a:rPr>
              <a:t>二、填空题</a:t>
            </a:r>
            <a:endParaRPr lang="zh-CN" altLang="zh-CN" sz="1600" kern="1200" dirty="0">
              <a:solidFill>
                <a:srgbClr val="000000"/>
              </a:solidFill>
              <a:latin typeface="等线 Light" panose="02010600030101010101" pitchFamily="2" charset="-122"/>
              <a:ea typeface="等线 Light" panose="02010600030101010101" pitchFamily="2" charset="-122"/>
              <a:cs typeface="Times New Roman" panose="02020603050405020304" pitchFamily="18" charset="0"/>
            </a:endParaRPr>
          </a:p>
          <a:p>
            <a:pPr marL="0" lvl="0" indent="0">
              <a:spcBef>
                <a:spcPct val="0"/>
              </a:spcBef>
            </a:pPr>
            <a:r>
              <a:rPr lang="zh-CN" altLang="zh-CN"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线性规划问题中，如果在约束条件中出现等式约束，我们通常用</a:t>
            </a:r>
            <a:r>
              <a:rPr lang="zh-CN" altLang="zh-CN"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增加</a:t>
            </a:r>
            <a:r>
              <a:rPr lang="en-US" altLang="zh-CN"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的</a:t>
            </a:r>
            <a:r>
              <a:rPr lang="zh-CN" altLang="zh-CN"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方法来产生初始可行基。</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   </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在线性规划问题中，称满足所有约束条件方程和非负限制的解为</a:t>
            </a:r>
            <a:r>
              <a:rPr lang="zh-CN" altLang="en-US" sz="1200" u="sng" kern="1200" dirty="0">
                <a:latin typeface="等线" panose="02010600030101010101" pitchFamily="2" charset="-122"/>
                <a:ea typeface="等线" panose="02010600030101010101" pitchFamily="2" charset="-122"/>
                <a:cs typeface="Times New Roman" panose="02020603050405020304" pitchFamily="18" charset="0"/>
              </a:rPr>
              <a:t>  </a:t>
            </a:r>
            <a:r>
              <a:rPr lang="zh-CN" altLang="en-US" sz="1200" b="0" u="sng" kern="1200" dirty="0" smtClean="0">
                <a:latin typeface="等线" panose="02010600030101010101" pitchFamily="2" charset="-122"/>
                <a:ea typeface="等线" panose="02010600030101010101" pitchFamily="2" charset="-122"/>
                <a:cs typeface="Times New Roman" panose="02020603050405020304" pitchFamily="18" charset="0"/>
              </a:rPr>
              <a:t>   </a:t>
            </a:r>
            <a:r>
              <a:rPr lang="zh-CN" altLang="en-US" sz="1200" u="sng" kern="1200" dirty="0" smtClean="0">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若线性规划问题的最优基为</a:t>
            </a:r>
            <a:r>
              <a:rPr lang="en-US" altLang="zh-CN"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B</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，则问题的最优值</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为</a:t>
            </a:r>
            <a:r>
              <a:rPr lang="en-US" altLang="zh-CN" sz="1200" b="0" i="1" u="sng" kern="1200" dirty="0" smtClean="0">
                <a:solidFill>
                  <a:srgbClr val="333333"/>
                </a:solidFill>
                <a:latin typeface="KaTeX_Math" charset="0"/>
                <a:ea typeface="KaTeX_Math" charset="0"/>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线性规划的对偶问题的最优解</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是</a:t>
            </a:r>
            <a:r>
              <a:rPr lang="en-US" altLang="zh-CN" sz="1200" b="0" i="1" u="sng" kern="1200" dirty="0" smtClean="0">
                <a:solidFill>
                  <a:srgbClr val="333333"/>
                </a:solidFill>
                <a:latin typeface="KaTeX_Math" charset="0"/>
                <a:ea typeface="KaTeX_Math" charset="0"/>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其中</a:t>
            </a:r>
            <a:r>
              <a:rPr lang="en-US" altLang="zh-CN" sz="1200" b="0" i="1" kern="1200" dirty="0">
                <a:solidFill>
                  <a:srgbClr val="333333"/>
                </a:solidFill>
                <a:latin typeface="KaTeX_Math" charset="0"/>
                <a:ea typeface="KaTeX_Math" charset="0"/>
                <a:cs typeface="Times New Roman" panose="02020603050405020304" pitchFamily="18" charset="0"/>
              </a:rPr>
              <a:t>C</a:t>
            </a:r>
            <a:r>
              <a:rPr lang="en-US" altLang="zh-CN" sz="1200" b="0" i="1" kern="1200" baseline="-30000" dirty="0">
                <a:solidFill>
                  <a:srgbClr val="333333"/>
                </a:solidFill>
                <a:latin typeface="KaTeX_Math" charset="0"/>
                <a:ea typeface="KaTeX_Math" charset="0"/>
                <a:cs typeface="Times New Roman" panose="02020603050405020304" pitchFamily="18" charset="0"/>
              </a:rPr>
              <a:t>B</a:t>
            </a:r>
            <a:r>
              <a:rPr lang="en-US" altLang="zh-CN" sz="1200" b="0" kern="1200" baseline="-30000" dirty="0">
                <a:solidFill>
                  <a:srgbClr val="333333"/>
                </a:solidFill>
                <a:latin typeface="Times New Roman" panose="02020603050405020304" pitchFamily="18" charset="0"/>
                <a:ea typeface="等线" panose="02010600030101010101" pitchFamily="2" charset="-122"/>
                <a:cs typeface="Times New Roman" panose="02020603050405020304" pitchFamily="18" charset="0"/>
              </a:rPr>
              <a:t>​</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是基</a:t>
            </a:r>
            <a:r>
              <a:rPr lang="en-US" altLang="zh-CN"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B</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所对应的基变量在目标函数中的系数向量，线性规划问题是： </a:t>
            </a:r>
            <a:endParaRPr lang="zh-CN" altLang="en-US" sz="1800" b="0" kern="1200" dirty="0">
              <a:solidFill>
                <a:srgbClr val="000000"/>
              </a:solidFill>
              <a:latin typeface="Arial" panose="020B0604020202020204" pitchFamily="34" charset="0"/>
              <a:ea typeface="宋体" panose="02010600030101010101" pitchFamily="2" charset="-122"/>
            </a:endParaRPr>
          </a:p>
          <a:p>
            <a:endParaRPr lang="en-US" altLang="zh-CN" dirty="0" smtClean="0"/>
          </a:p>
          <a:p>
            <a:pPr marL="0" lvl="0" indent="0">
              <a:spcBef>
                <a:spcPct val="0"/>
              </a:spcBef>
            </a:pPr>
            <a:r>
              <a:rPr lang="zh-CN" altLang="zh-CN"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在基本可行解中非基变量一定</a:t>
            </a:r>
            <a:r>
              <a:rPr lang="zh-CN" altLang="zh-CN"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为</a:t>
            </a:r>
            <a:r>
              <a:rPr lang="en-US" altLang="zh-CN"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en-US" altLang="zh-CN"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endParaRPr lang="en-US" altLang="zh-CN"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在线性规划问题中，图解法适合用于处理</a:t>
            </a:r>
            <a:r>
              <a:rPr lang="zh-CN" altLang="en-US" sz="1200" u="sng" kern="1200" dirty="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u="sng" kern="1200" dirty="0" smtClean="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为两个的线性规划问题</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线性规划模型有三种参数，其名称分别为价值系数</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和</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en-US" altLang="zh-CN"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marL="0" lvl="0" indent="0">
              <a:spcBef>
                <a:spcPct val="0"/>
              </a:spcBef>
            </a:pP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在</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单纯形法迭代中</a:t>
            </a:r>
            <a:r>
              <a:rPr lang="en-US" altLang="zh-CN"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任何从基变量中替换出来的变量在紧接着的下一次迭代</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中</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立即</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入基</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如果把约束方程</a:t>
            </a:r>
            <a:r>
              <a:rPr lang="en-US" altLang="zh-CN" sz="1200" b="0" i="1" kern="12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a:t>x1+3x2≤</a:t>
            </a:r>
            <a:r>
              <a:rPr lang="en-US" altLang="zh-CN" sz="1200" b="0" i="1" kern="1200" dirty="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a:t>4        2x1+5x2</a:t>
            </a:r>
            <a:r>
              <a:rPr lang="en-US" altLang="zh-CN" sz="1200" b="0" i="1" kern="12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a:t>≥5</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标准化为</a:t>
            </a:r>
            <a:r>
              <a:rPr lang="en-US" altLang="zh-CN" sz="1200" b="0" i="1" kern="12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a:t>x1+3x2+x3=4          2x1+5x2-x4+x5=5</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时</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en-US" altLang="zh-CN"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marL="0" lvl="0" indent="0">
              <a:spcBef>
                <a:spcPct val="0"/>
              </a:spcBef>
              <a:buNone/>
            </a:pPr>
            <a:r>
              <a:rPr lang="en-US" altLang="zh-CN" sz="1200" b="0" i="1" kern="1200" dirty="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a:t>x1</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是</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变量</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b="0" i="1" kern="12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a:t>x2</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是</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变量</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b="0" i="1" kern="12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a:t>x3</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是</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变量</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b="0" i="1" kern="12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a:t>x4</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是</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变量</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1200" b="0" i="1" kern="1200" dirty="0">
                <a:solidFill>
                  <a:srgbClr val="000000"/>
                </a:solidFill>
                <a:latin typeface="Cambria Math" panose="02040503050406030204" pitchFamily="18" charset="0"/>
                <a:ea typeface="等线" panose="02010600030101010101" pitchFamily="2" charset="-122"/>
                <a:cs typeface="Times New Roman" panose="02020603050405020304" pitchFamily="18" charset="0"/>
              </a:rPr>
              <a:t>x5</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是</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变量</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线性规划问题的基本可行解与基本解的区别是基本可行解的</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分量</a:t>
            </a:r>
            <a:r>
              <a:rPr lang="en-US" altLang="zh-CN" sz="1200" b="0" i="1" u="sng" kern="1200" dirty="0" smtClean="0">
                <a:solidFill>
                  <a:srgbClr val="000000"/>
                </a:solidFill>
                <a:latin typeface="Cambria Math" panose="02040503050406030204" pitchFamily="18" charset="0"/>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en-US" altLang="zh-CN"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求目标最大的</a:t>
            </a:r>
            <a:r>
              <a:rPr lang="en-US" altLang="zh-CN"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LP</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中，有无穷最优解的条件</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是</a:t>
            </a:r>
            <a:r>
              <a:rPr lang="en-US" altLang="zh-CN"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线性规划单纯形法中确定出基变量</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采用</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规则。</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原问题和对偶问题均存在可行解，则两者均</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存在</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pPr marL="0" lvl="0" indent="0">
              <a:spcBef>
                <a:spcPct val="0"/>
              </a:spcBef>
            </a:pP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对于平面中的某线性规划问题的约束集合，其可行解</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为</a:t>
            </a:r>
            <a:r>
              <a:rPr lang="en-US" altLang="zh-CN"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基本解</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为</a:t>
            </a:r>
            <a:r>
              <a:rPr lang="zh-CN" altLang="en-US"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1200" b="0" kern="1200" dirty="0">
                <a:solidFill>
                  <a:srgbClr val="000000"/>
                </a:solidFill>
                <a:latin typeface="等线" panose="02010600030101010101" pitchFamily="2" charset="-122"/>
                <a:ea typeface="等线" panose="02010600030101010101" pitchFamily="2" charset="-122"/>
                <a:cs typeface="Times New Roman" panose="02020603050405020304" pitchFamily="18" charset="0"/>
              </a:rPr>
              <a:t>基本可行解</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为</a:t>
            </a:r>
            <a:r>
              <a:rPr lang="en-US" altLang="zh-CN" sz="1200" b="0" u="sng"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1200" b="0" kern="1200" dirty="0" smtClean="0">
                <a:solidFill>
                  <a:srgbClr val="000000"/>
                </a:solidFill>
                <a:latin typeface="等线" panose="02010600030101010101" pitchFamily="2" charset="-122"/>
                <a:ea typeface="等线" panose="02010600030101010101" pitchFamily="2" charset="-122"/>
                <a:cs typeface="Times New Roman" panose="02020603050405020304" pitchFamily="18" charset="0"/>
              </a:rPr>
              <a:t>。</a:t>
            </a:r>
            <a:endParaRPr lang="zh-CN" altLang="en-US" sz="1200" b="0" kern="1200" dirty="0">
              <a:solidFill>
                <a:srgbClr val="000000"/>
              </a:solidFill>
              <a:latin typeface="Times New Roman" panose="02020603050405020304" pitchFamily="18" charset="0"/>
              <a:ea typeface="宋体" panose="02010600030101010101" pitchFamily="2" charset="-122"/>
              <a:cs typeface="宋体" panose="02010600030101010101" pitchFamily="2" charset="-122"/>
            </a:endParaRPr>
          </a:p>
          <a:p>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03965381"/>
              </p:ext>
            </p:extLst>
          </p:nvPr>
        </p:nvGraphicFramePr>
        <p:xfrm>
          <a:off x="4522787" y="2311400"/>
          <a:ext cx="815975" cy="685800"/>
        </p:xfrm>
        <a:graphic>
          <a:graphicData uri="http://schemas.openxmlformats.org/presentationml/2006/ole">
            <mc:AlternateContent xmlns:mc="http://schemas.openxmlformats.org/markup-compatibility/2006">
              <mc:Choice xmlns:v="urn:schemas-microsoft-com:vml" Requires="v">
                <p:oleObj spid="_x0000_s159752" name="Equation" r:id="rId3" imgW="812800" imgH="685800" progId="Equation.DSMT4">
                  <p:embed/>
                </p:oleObj>
              </mc:Choice>
              <mc:Fallback>
                <p:oleObj name="Equation" r:id="rId3" imgW="812800" imgH="685800" progId="Equation.DSMT4">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2787" y="2311400"/>
                        <a:ext cx="81597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画布 25"/>
          <p:cNvGrpSpPr/>
          <p:nvPr/>
        </p:nvGrpSpPr>
        <p:grpSpPr>
          <a:xfrm>
            <a:off x="6720011" y="4701872"/>
            <a:ext cx="2581274" cy="1735667"/>
            <a:chOff x="0" y="0"/>
            <a:chExt cx="3267075" cy="2076450"/>
          </a:xfrm>
        </p:grpSpPr>
        <p:sp>
          <p:nvSpPr>
            <p:cNvPr id="6" name="矩形 5"/>
            <p:cNvSpPr/>
            <p:nvPr/>
          </p:nvSpPr>
          <p:spPr>
            <a:xfrm>
              <a:off x="0" y="0"/>
              <a:ext cx="3267075" cy="2076450"/>
            </a:xfrm>
            <a:prstGeom prst="rect">
              <a:avLst/>
            </a:prstGeom>
            <a:ln>
              <a:noFill/>
            </a:ln>
          </p:spPr>
        </p:sp>
        <p:sp>
          <p:nvSpPr>
            <p:cNvPr id="7" name="文本框 17"/>
            <p:cNvSpPr txBox="1"/>
            <p:nvPr/>
          </p:nvSpPr>
          <p:spPr>
            <a:xfrm flipH="1">
              <a:off x="1458256" y="923924"/>
              <a:ext cx="281305" cy="276225"/>
            </a:xfrm>
            <a:prstGeom prst="rect">
              <a:avLst/>
            </a:prstGeom>
            <a:solidFill>
              <a:schemeClr val="lt1"/>
            </a:solid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just">
                <a:spcAft>
                  <a:spcPts val="0"/>
                </a:spcAft>
              </a:pPr>
              <a:r>
                <a:rPr lang="en-US" sz="1050">
                  <a:effectLst/>
                  <a:latin typeface="等线" panose="02010600030101010101" pitchFamily="2" charset="-122"/>
                  <a:ea typeface="宋体" panose="02010600030101010101" pitchFamily="2" charset="-122"/>
                  <a:cs typeface="Times New Roman" panose="02020603050405020304" pitchFamily="18" charset="0"/>
                </a:rPr>
                <a:t>D</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sp>
          <p:nvSpPr>
            <p:cNvPr id="8" name="文本框 17"/>
            <p:cNvSpPr txBox="1"/>
            <p:nvPr/>
          </p:nvSpPr>
          <p:spPr>
            <a:xfrm>
              <a:off x="579076" y="1666875"/>
              <a:ext cx="290830" cy="371475"/>
            </a:xfrm>
            <a:prstGeom prst="rect">
              <a:avLst/>
            </a:prstGeom>
            <a:solidFill>
              <a:schemeClr val="lt1"/>
            </a:solid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just">
                <a:spcAft>
                  <a:spcPts val="0"/>
                </a:spcAft>
              </a:pPr>
              <a:r>
                <a:rPr lang="en-US" sz="1050">
                  <a:effectLst/>
                  <a:latin typeface="等线" panose="02010600030101010101" pitchFamily="2" charset="-122"/>
                  <a:ea typeface="宋体" panose="02010600030101010101" pitchFamily="2" charset="-122"/>
                  <a:cs typeface="Times New Roman" panose="02020603050405020304" pitchFamily="18" charset="0"/>
                </a:rPr>
                <a:t>O</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17"/>
            <p:cNvSpPr txBox="1"/>
            <p:nvPr/>
          </p:nvSpPr>
          <p:spPr>
            <a:xfrm flipH="1">
              <a:off x="1637325" y="1676400"/>
              <a:ext cx="281940" cy="285750"/>
            </a:xfrm>
            <a:prstGeom prst="rect">
              <a:avLst/>
            </a:prstGeom>
            <a:solidFill>
              <a:schemeClr val="lt1"/>
            </a:solid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just">
                <a:spcAft>
                  <a:spcPts val="0"/>
                </a:spcAft>
              </a:pPr>
              <a:r>
                <a:rPr lang="en-US" sz="1050">
                  <a:effectLst/>
                  <a:latin typeface="等线" panose="02010600030101010101" pitchFamily="2" charset="-122"/>
                  <a:ea typeface="宋体" panose="02010600030101010101" pitchFamily="2" charset="-122"/>
                  <a:cs typeface="Times New Roman" panose="02020603050405020304" pitchFamily="18" charset="0"/>
                </a:rPr>
                <a:t>H</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sp>
          <p:nvSpPr>
            <p:cNvPr id="10" name="文本框 17"/>
            <p:cNvSpPr txBox="1"/>
            <p:nvPr/>
          </p:nvSpPr>
          <p:spPr>
            <a:xfrm>
              <a:off x="942000" y="551475"/>
              <a:ext cx="256540" cy="371475"/>
            </a:xfrm>
            <a:prstGeom prst="rect">
              <a:avLst/>
            </a:prstGeom>
            <a:solidFill>
              <a:schemeClr val="lt1"/>
            </a:solid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just">
                <a:spcAft>
                  <a:spcPts val="0"/>
                </a:spcAft>
              </a:pPr>
              <a:r>
                <a:rPr lang="en-US" sz="1050">
                  <a:effectLst/>
                  <a:latin typeface="等线" panose="02010600030101010101" pitchFamily="2" charset="-122"/>
                  <a:ea typeface="宋体" panose="02010600030101010101" pitchFamily="2" charset="-122"/>
                  <a:cs typeface="Times New Roman" panose="02020603050405020304" pitchFamily="18" charset="0"/>
                </a:rPr>
                <a:t>E</a:t>
              </a:r>
              <a:endParaRPr lang="zh-CN" sz="1200">
                <a:effectLst/>
                <a:latin typeface="宋体" panose="02010600030101010101" pitchFamily="2" charset="-122"/>
                <a:ea typeface="宋体" panose="02010600030101010101" pitchFamily="2" charset="-122"/>
                <a:cs typeface="宋体" panose="02010600030101010101" pitchFamily="2" charset="-122"/>
              </a:endParaRPr>
            </a:p>
          </p:txBody>
        </p:sp>
        <p:sp>
          <p:nvSpPr>
            <p:cNvPr id="11" name="文本框 9"/>
            <p:cNvSpPr txBox="1"/>
            <p:nvPr/>
          </p:nvSpPr>
          <p:spPr>
            <a:xfrm>
              <a:off x="521926" y="1037590"/>
              <a:ext cx="280035" cy="371475"/>
            </a:xfrm>
            <a:prstGeom prst="rect">
              <a:avLst/>
            </a:prstGeom>
            <a:solidFill>
              <a:schemeClr val="lt1"/>
            </a:solid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pPr algn="just">
                <a:spcAft>
                  <a:spcPts val="0"/>
                </a:spcAft>
              </a:pPr>
              <a:r>
                <a:rPr lang="en-US" sz="1050" kern="100">
                  <a:effectLst/>
                  <a:latin typeface="等线" panose="02010600030101010101" pitchFamily="2" charset="-122"/>
                  <a:ea typeface="等线" panose="02010600030101010101" pitchFamily="2" charset="-122"/>
                  <a:cs typeface="Times New Roman" panose="02020603050405020304" pitchFamily="18" charset="0"/>
                </a:rPr>
                <a:t>G</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2" name="直接箭头连接符 11"/>
            <p:cNvCxnSpPr/>
            <p:nvPr/>
          </p:nvCxnSpPr>
          <p:spPr>
            <a:xfrm flipV="1">
              <a:off x="238126" y="1752600"/>
              <a:ext cx="287655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808651" y="0"/>
              <a:ext cx="0" cy="19326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266702" y="419100"/>
              <a:ext cx="1104899" cy="15335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85801" y="552450"/>
              <a:ext cx="1933575" cy="13525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1181101" y="504825"/>
              <a:ext cx="781050" cy="15049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819151" y="885825"/>
              <a:ext cx="323850" cy="4000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837226" y="952500"/>
              <a:ext cx="391500" cy="47527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19151" y="1009650"/>
              <a:ext cx="504825" cy="616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885826" y="1076325"/>
              <a:ext cx="523876" cy="66675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1038226" y="1132500"/>
              <a:ext cx="475276" cy="61057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1190626" y="1246800"/>
              <a:ext cx="380027" cy="49627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1323976" y="1409065"/>
              <a:ext cx="284480" cy="33401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1428751" y="1494450"/>
              <a:ext cx="254930" cy="2772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1570653" y="1599225"/>
              <a:ext cx="168909" cy="17242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12422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a:xfrm>
            <a:off x="491067" y="1608666"/>
            <a:ext cx="7772400" cy="4114800"/>
          </a:xfrm>
        </p:spPr>
        <p:txBody>
          <a:bodyPr/>
          <a:lstStyle/>
          <a:p>
            <a:pPr algn="just">
              <a:lnSpc>
                <a:spcPct val="173000"/>
              </a:lnSpc>
              <a:spcBef>
                <a:spcPts val="1300"/>
              </a:spcBef>
              <a:spcAft>
                <a:spcPts val="1300"/>
              </a:spcAft>
            </a:pPr>
            <a:r>
              <a:rPr lang="zh-CN" altLang="zh-CN" sz="1200" kern="100" dirty="0">
                <a:latin typeface="等线 Light" panose="02010600030101010101" pitchFamily="2" charset="-122"/>
                <a:ea typeface="宋体" panose="02010600030101010101" pitchFamily="2" charset="-122"/>
                <a:cs typeface="Times New Roman" panose="02020603050405020304" pitchFamily="18" charset="0"/>
              </a:rPr>
              <a:t>三、判断题</a:t>
            </a:r>
            <a:endParaRPr lang="zh-CN" altLang="zh-CN" sz="1600" kern="100" dirty="0">
              <a:latin typeface="等线 Light" panose="02010600030101010101" pitchFamily="2" charset="-122"/>
              <a:ea typeface="等线 Light"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任何一个线性规划都可以转化为标准型</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单纯形法中采用最小比值规则确定出基变量</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两阶段法第一阶段的目标函数是原线性规划问题的目标函数</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对于求最小值线性规划问题，如果所有检验数小于等于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，得到最优解</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线性规划问题的标准型可以求最小值</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线性规划模型中减少一个约束条件，可行域的范围一定增大</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对于求最大值线性规划问题，如果某个非基变量检验数为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，则存在无穷个最优解</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单纯形法求解过程中，基变量个数和非基变量个数是变化的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需要求得所有非基变量的检验数才能判断当前解是否是最优解</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sz="1050" dirty="0"/>
          </a:p>
        </p:txBody>
      </p:sp>
      <p:sp>
        <p:nvSpPr>
          <p:cNvPr id="11" name="任意多边形: 形状 30" hidden="1"/>
          <p:cNvSpPr>
            <a:spLocks noSelect="1" noChangeAspect="1" noChangeArrowheads="1"/>
          </p:cNvSpPr>
          <p:nvPr/>
        </p:nvSpPr>
        <p:spPr bwMode="auto">
          <a:xfrm>
            <a:off x="0" y="0"/>
            <a:ext cx="635000" cy="635000"/>
          </a:xfrm>
          <a:custGeom>
            <a:avLst/>
            <a:gdLst/>
            <a:ahLst/>
            <a:cxnLst/>
            <a:rect l="0" t="0" r="0" b="0"/>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zh-CN" altLang="en-US"/>
          </a:p>
        </p:txBody>
      </p:sp>
    </p:spTree>
    <p:extLst>
      <p:ext uri="{BB962C8B-B14F-4D97-AF65-F5344CB8AC3E}">
        <p14:creationId xmlns:p14="http://schemas.microsoft.com/office/powerpoint/2010/main" val="4133115284"/>
      </p:ext>
    </p:extLst>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ppt/theme/themeOverride2.xml><?xml version="1.0" encoding="utf-8"?>
<a:themeOverride xmlns:a="http://schemas.openxmlformats.org/drawingml/2006/main">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7611</TotalTime>
  <Words>5438</Words>
  <Application>Microsoft Office PowerPoint</Application>
  <PresentationFormat>全屏显示(4:3)</PresentationFormat>
  <Paragraphs>377</Paragraphs>
  <Slides>34</Slides>
  <Notes>16</Notes>
  <HiddenSlides>0</HiddenSlides>
  <MMClips>0</MMClips>
  <ScaleCrop>false</ScaleCrop>
  <HeadingPairs>
    <vt:vector size="8" baseType="variant">
      <vt:variant>
        <vt:lpstr>已用的字体</vt:lpstr>
      </vt:variant>
      <vt:variant>
        <vt:i4>12</vt:i4>
      </vt:variant>
      <vt:variant>
        <vt:lpstr>主题</vt:lpstr>
      </vt:variant>
      <vt:variant>
        <vt:i4>4</vt:i4>
      </vt:variant>
      <vt:variant>
        <vt:lpstr>嵌入 OLE 服务器</vt:lpstr>
      </vt:variant>
      <vt:variant>
        <vt:i4>3</vt:i4>
      </vt:variant>
      <vt:variant>
        <vt:lpstr>幻灯片标题</vt:lpstr>
      </vt:variant>
      <vt:variant>
        <vt:i4>34</vt:i4>
      </vt:variant>
    </vt:vector>
  </HeadingPairs>
  <TitlesOfParts>
    <vt:vector size="53" baseType="lpstr">
      <vt:lpstr>KaTeX_Math</vt:lpstr>
      <vt:lpstr>等线</vt:lpstr>
      <vt:lpstr>等线 Light</vt:lpstr>
      <vt:lpstr>黑体</vt:lpstr>
      <vt:lpstr>楷体</vt:lpstr>
      <vt:lpstr>楷体_GB2312</vt:lpstr>
      <vt:lpstr>隶书</vt:lpstr>
      <vt:lpstr>宋体</vt:lpstr>
      <vt:lpstr>Arial</vt:lpstr>
      <vt:lpstr>Cambria Math</vt:lpstr>
      <vt:lpstr>Times New Roman</vt:lpstr>
      <vt:lpstr>Wingdings</vt:lpstr>
      <vt:lpstr>默认设计模板</vt:lpstr>
      <vt:lpstr>1_默认设计模板</vt:lpstr>
      <vt:lpstr>2_默认设计模板</vt:lpstr>
      <vt:lpstr>3_默认设计模板</vt:lpstr>
      <vt:lpstr>Microsoft 公式 3.0</vt:lpstr>
      <vt:lpstr>Equation</vt:lpstr>
      <vt:lpstr>文档</vt:lpstr>
      <vt:lpstr>第2章 线性规划 </vt:lpstr>
      <vt:lpstr>2.1 线性规划的数学模型</vt:lpstr>
      <vt:lpstr>2.2 线性规划的标准型</vt:lpstr>
      <vt:lpstr>2.2 线性规划的标准型</vt:lpstr>
      <vt:lpstr>2.2 线性规划的标准型</vt:lpstr>
      <vt:lpstr>2.3 线性规划的图解法</vt:lpstr>
      <vt:lpstr>2.3 线性规划的图解法</vt:lpstr>
      <vt:lpstr>2.4.1 几个基本概念</vt:lpstr>
      <vt:lpstr>2.4.1 几个基本概念</vt:lpstr>
      <vt:lpstr>2.4.1 几个基本概念</vt:lpstr>
      <vt:lpstr>2.4.1 几个基本概念</vt:lpstr>
      <vt:lpstr>2.4.1 几个基本概念</vt:lpstr>
      <vt:lpstr>2.4.1 几个基本概念</vt:lpstr>
      <vt:lpstr>2.4.2 几个基本定理</vt:lpstr>
      <vt:lpstr>2.5.1单纯形法的原理</vt:lpstr>
      <vt:lpstr>2.5.2 单纯形表 </vt:lpstr>
      <vt:lpstr>2.5.2 单纯形表 </vt:lpstr>
      <vt:lpstr>2.5.2 单纯形表 </vt:lpstr>
      <vt:lpstr>2.5.2 单纯形表 </vt:lpstr>
      <vt:lpstr>2.5.2 单纯形表 </vt:lpstr>
      <vt:lpstr>2.5.3 几种特殊情形</vt:lpstr>
      <vt:lpstr>2.5.3 几种特殊情形</vt:lpstr>
      <vt:lpstr>2.5.3 几种特殊情形</vt:lpstr>
      <vt:lpstr>2.5.3 几种特殊情形</vt:lpstr>
      <vt:lpstr>2.6 求解线性规划的人工变量法</vt:lpstr>
      <vt:lpstr>2.6.1 大M法</vt:lpstr>
      <vt:lpstr>2.6.1 大M法</vt:lpstr>
      <vt:lpstr>2.6.2 两阶段法</vt:lpstr>
      <vt:lpstr>单纯形法总结</vt:lpstr>
      <vt:lpstr>本章练习题</vt:lpstr>
      <vt:lpstr>本章练习题</vt:lpstr>
      <vt:lpstr>本章练习题</vt:lpstr>
      <vt:lpstr>本章练习题</vt:lpstr>
      <vt:lpstr>本章练习题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企业战略理论的演进和发展</dc:title>
  <dc:creator>zhang</dc:creator>
  <cp:lastModifiedBy>admin</cp:lastModifiedBy>
  <cp:revision>219</cp:revision>
  <dcterms:created xsi:type="dcterms:W3CDTF">2017-11-16T10:13:46Z</dcterms:created>
  <dcterms:modified xsi:type="dcterms:W3CDTF">2025-06-13T06:51:36Z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2052-10.1.0.7022</vt:lpwstr>
  </property>
</Properties>
</file>